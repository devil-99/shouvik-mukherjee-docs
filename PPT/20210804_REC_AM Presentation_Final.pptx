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4.xml" ContentType="application/vnd.openxmlformats-officedocument.theme+xml"/>
  <Override PartName="/ppt/tags/tag3.xml" ContentType="application/vnd.openxmlformats-officedocument.presentationml.tags+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media/image3.bin" ContentType="image/jpeg"/>
  <Override PartName="/ppt/tags/tag5.xml" ContentType="application/vnd.openxmlformats-officedocument.presentationml.tags+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theme/theme6.xml" ContentType="application/vnd.openxmlformats-officedocument.theme+xml"/>
  <Override PartName="/ppt/tags/tag6.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9" r:id="rId5"/>
    <p:sldMasterId id="2147483694" r:id="rId6"/>
    <p:sldMasterId id="2147483721" r:id="rId7"/>
    <p:sldMasterId id="2147483771" r:id="rId8"/>
    <p:sldMasterId id="2147483812" r:id="rId9"/>
  </p:sldMasterIdLst>
  <p:notesMasterIdLst>
    <p:notesMasterId r:id="rId44"/>
  </p:notesMasterIdLst>
  <p:sldIdLst>
    <p:sldId id="567" r:id="rId10"/>
    <p:sldId id="6081" r:id="rId11"/>
    <p:sldId id="453" r:id="rId12"/>
    <p:sldId id="6112" r:id="rId13"/>
    <p:sldId id="6100" r:id="rId14"/>
    <p:sldId id="6111" r:id="rId15"/>
    <p:sldId id="510" r:id="rId16"/>
    <p:sldId id="6088" r:id="rId17"/>
    <p:sldId id="6091" r:id="rId18"/>
    <p:sldId id="6113" r:id="rId19"/>
    <p:sldId id="6114" r:id="rId20"/>
    <p:sldId id="6110" r:id="rId21"/>
    <p:sldId id="6115" r:id="rId22"/>
    <p:sldId id="6102" r:id="rId23"/>
    <p:sldId id="6116" r:id="rId24"/>
    <p:sldId id="6101" r:id="rId25"/>
    <p:sldId id="6096" r:id="rId26"/>
    <p:sldId id="6099" r:id="rId27"/>
    <p:sldId id="457" r:id="rId28"/>
    <p:sldId id="6103" r:id="rId29"/>
    <p:sldId id="469" r:id="rId30"/>
    <p:sldId id="501" r:id="rId31"/>
    <p:sldId id="6071" r:id="rId32"/>
    <p:sldId id="504" r:id="rId33"/>
    <p:sldId id="5985" r:id="rId34"/>
    <p:sldId id="5987" r:id="rId35"/>
    <p:sldId id="398" r:id="rId36"/>
    <p:sldId id="494" r:id="rId37"/>
    <p:sldId id="585" r:id="rId38"/>
    <p:sldId id="423" r:id="rId39"/>
    <p:sldId id="6104" r:id="rId40"/>
    <p:sldId id="6105" r:id="rId41"/>
    <p:sldId id="6106" r:id="rId42"/>
    <p:sldId id="6109"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2260" userDrawn="1">
          <p15:clr>
            <a:srgbClr val="A4A3A4"/>
          </p15:clr>
        </p15:guide>
        <p15:guide id="4" pos="3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472"/>
    <a:srgbClr val="0D8390"/>
    <a:srgbClr val="26890D"/>
    <a:srgbClr val="EBFBFD"/>
    <a:srgbClr val="DDEFE8"/>
    <a:srgbClr val="00ABAB"/>
    <a:srgbClr val="86BC25"/>
    <a:srgbClr val="E2F0D9"/>
    <a:srgbClr val="80C342"/>
    <a:srgbClr val="FBF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2D6237-E91A-4A15-935C-F7A3486024C6}" v="56" dt="2023-08-08T12:28:28.3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3372" autoAdjust="0"/>
  </p:normalViewPr>
  <p:slideViewPr>
    <p:cSldViewPr snapToGrid="0" showGuides="1">
      <p:cViewPr varScale="1">
        <p:scale>
          <a:sx n="72" d="100"/>
          <a:sy n="72" d="100"/>
        </p:scale>
        <p:origin x="1147" y="67"/>
      </p:cViewPr>
      <p:guideLst>
        <p:guide orient="horz" pos="2160"/>
        <p:guide pos="3840"/>
        <p:guide orient="horz" pos="2260"/>
        <p:guide pos="3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microsoft.com/office/2016/11/relationships/changesInfo" Target="changesInfos/changesInfo1.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tableStyles" Target="tableStyles.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viewProps" Target="viewProps.xml"/><Relationship Id="rId20" Type="http://schemas.openxmlformats.org/officeDocument/2006/relationships/slide" Target="slides/slide11.xml"/><Relationship Id="rId41" Type="http://schemas.openxmlformats.org/officeDocument/2006/relationships/slide" Target="slides/slide32.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herjee, Shouvik" userId="8a0946e8-3a6b-4d5c-947d-73f4cd578335" providerId="ADAL" clId="{7D2D6237-E91A-4A15-935C-F7A3486024C6}"/>
    <pc:docChg chg="undo custSel addSld modSld">
      <pc:chgData name="Mukherjee, Shouvik" userId="8a0946e8-3a6b-4d5c-947d-73f4cd578335" providerId="ADAL" clId="{7D2D6237-E91A-4A15-935C-F7A3486024C6}" dt="2023-08-09T03:11:12.301" v="320" actId="20577"/>
      <pc:docMkLst>
        <pc:docMk/>
      </pc:docMkLst>
      <pc:sldChg chg="addSp delSp modSp add mod">
        <pc:chgData name="Mukherjee, Shouvik" userId="8a0946e8-3a6b-4d5c-947d-73f4cd578335" providerId="ADAL" clId="{7D2D6237-E91A-4A15-935C-F7A3486024C6}" dt="2023-08-09T03:11:12.301" v="320" actId="20577"/>
        <pc:sldMkLst>
          <pc:docMk/>
          <pc:sldMk cId="2135985127" sldId="6116"/>
        </pc:sldMkLst>
        <pc:spChg chg="mod">
          <ac:chgData name="Mukherjee, Shouvik" userId="8a0946e8-3a6b-4d5c-947d-73f4cd578335" providerId="ADAL" clId="{7D2D6237-E91A-4A15-935C-F7A3486024C6}" dt="2023-08-08T08:35:21.591" v="157" actId="1076"/>
          <ac:spMkLst>
            <pc:docMk/>
            <pc:sldMk cId="2135985127" sldId="6116"/>
            <ac:spMk id="117" creationId="{026FD8F7-ED5D-4DD0-8823-4640A85A54F7}"/>
          </ac:spMkLst>
        </pc:spChg>
        <pc:spChg chg="del mod">
          <ac:chgData name="Mukherjee, Shouvik" userId="8a0946e8-3a6b-4d5c-947d-73f4cd578335" providerId="ADAL" clId="{7D2D6237-E91A-4A15-935C-F7A3486024C6}" dt="2023-08-08T12:26:30.773" v="233" actId="478"/>
          <ac:spMkLst>
            <pc:docMk/>
            <pc:sldMk cId="2135985127" sldId="6116"/>
            <ac:spMk id="210" creationId="{06881899-B98A-441D-A9F6-DCC4FFB8576D}"/>
          </ac:spMkLst>
        </pc:spChg>
        <pc:spChg chg="mod">
          <ac:chgData name="Mukherjee, Shouvik" userId="8a0946e8-3a6b-4d5c-947d-73f4cd578335" providerId="ADAL" clId="{7D2D6237-E91A-4A15-935C-F7A3486024C6}" dt="2023-08-08T08:34:54.228" v="152" actId="14100"/>
          <ac:spMkLst>
            <pc:docMk/>
            <pc:sldMk cId="2135985127" sldId="6116"/>
            <ac:spMk id="216" creationId="{16E0917F-C6ED-434C-93C4-9B4803B3D5BA}"/>
          </ac:spMkLst>
        </pc:spChg>
        <pc:spChg chg="mod">
          <ac:chgData name="Mukherjee, Shouvik" userId="8a0946e8-3a6b-4d5c-947d-73f4cd578335" providerId="ADAL" clId="{7D2D6237-E91A-4A15-935C-F7A3486024C6}" dt="2023-08-08T08:34:57.176" v="153" actId="14100"/>
          <ac:spMkLst>
            <pc:docMk/>
            <pc:sldMk cId="2135985127" sldId="6116"/>
            <ac:spMk id="222" creationId="{D5F15548-C414-4703-A720-D86A1443CFFC}"/>
          </ac:spMkLst>
        </pc:spChg>
        <pc:spChg chg="mod">
          <ac:chgData name="Mukherjee, Shouvik" userId="8a0946e8-3a6b-4d5c-947d-73f4cd578335" providerId="ADAL" clId="{7D2D6237-E91A-4A15-935C-F7A3486024C6}" dt="2023-08-08T08:35:00.442" v="154" actId="14100"/>
          <ac:spMkLst>
            <pc:docMk/>
            <pc:sldMk cId="2135985127" sldId="6116"/>
            <ac:spMk id="227" creationId="{CCCD6799-7EE8-4131-83B3-C35A3E4C0562}"/>
          </ac:spMkLst>
        </pc:spChg>
        <pc:spChg chg="mod">
          <ac:chgData name="Mukherjee, Shouvik" userId="8a0946e8-3a6b-4d5c-947d-73f4cd578335" providerId="ADAL" clId="{7D2D6237-E91A-4A15-935C-F7A3486024C6}" dt="2023-08-08T08:36:32.221" v="192" actId="20577"/>
          <ac:spMkLst>
            <pc:docMk/>
            <pc:sldMk cId="2135985127" sldId="6116"/>
            <ac:spMk id="234" creationId="{399E5D4A-EE9E-446C-AC33-6625C60EFFDC}"/>
          </ac:spMkLst>
        </pc:spChg>
        <pc:spChg chg="del">
          <ac:chgData name="Mukherjee, Shouvik" userId="8a0946e8-3a6b-4d5c-947d-73f4cd578335" providerId="ADAL" clId="{7D2D6237-E91A-4A15-935C-F7A3486024C6}" dt="2023-08-08T08:33:40.370" v="16" actId="478"/>
          <ac:spMkLst>
            <pc:docMk/>
            <pc:sldMk cId="2135985127" sldId="6116"/>
            <ac:spMk id="255" creationId="{493A66BB-31B1-44D5-9C00-16F55B594EC7}"/>
          </ac:spMkLst>
        </pc:spChg>
        <pc:spChg chg="del">
          <ac:chgData name="Mukherjee, Shouvik" userId="8a0946e8-3a6b-4d5c-947d-73f4cd578335" providerId="ADAL" clId="{7D2D6237-E91A-4A15-935C-F7A3486024C6}" dt="2023-08-08T08:35:18.456" v="155" actId="478"/>
          <ac:spMkLst>
            <pc:docMk/>
            <pc:sldMk cId="2135985127" sldId="6116"/>
            <ac:spMk id="264" creationId="{B268749E-4B92-44D0-85EC-B318AC8A2902}"/>
          </ac:spMkLst>
        </pc:spChg>
        <pc:spChg chg="mod">
          <ac:chgData name="Mukherjee, Shouvik" userId="8a0946e8-3a6b-4d5c-947d-73f4cd578335" providerId="ADAL" clId="{7D2D6237-E91A-4A15-935C-F7A3486024C6}" dt="2023-08-08T10:04:35.863" v="205" actId="255"/>
          <ac:spMkLst>
            <pc:docMk/>
            <pc:sldMk cId="2135985127" sldId="6116"/>
            <ac:spMk id="468" creationId="{EF2D1533-D434-44DF-84EB-BE820F3FB3AC}"/>
          </ac:spMkLst>
        </pc:spChg>
        <pc:spChg chg="mod">
          <ac:chgData name="Mukherjee, Shouvik" userId="8a0946e8-3a6b-4d5c-947d-73f4cd578335" providerId="ADAL" clId="{7D2D6237-E91A-4A15-935C-F7A3486024C6}" dt="2023-08-08T10:04:35.863" v="205" actId="255"/>
          <ac:spMkLst>
            <pc:docMk/>
            <pc:sldMk cId="2135985127" sldId="6116"/>
            <ac:spMk id="469" creationId="{FD4DE2A7-A92C-41BE-8908-ADB6BD3854D1}"/>
          </ac:spMkLst>
        </pc:spChg>
        <pc:spChg chg="mod">
          <ac:chgData name="Mukherjee, Shouvik" userId="8a0946e8-3a6b-4d5c-947d-73f4cd578335" providerId="ADAL" clId="{7D2D6237-E91A-4A15-935C-F7A3486024C6}" dt="2023-08-08T10:04:35.863" v="205" actId="255"/>
          <ac:spMkLst>
            <pc:docMk/>
            <pc:sldMk cId="2135985127" sldId="6116"/>
            <ac:spMk id="470" creationId="{A8CA1508-694A-49B2-9D37-0315B5D859F9}"/>
          </ac:spMkLst>
        </pc:spChg>
        <pc:spChg chg="mod">
          <ac:chgData name="Mukherjee, Shouvik" userId="8a0946e8-3a6b-4d5c-947d-73f4cd578335" providerId="ADAL" clId="{7D2D6237-E91A-4A15-935C-F7A3486024C6}" dt="2023-08-09T03:11:12.301" v="320" actId="20577"/>
          <ac:spMkLst>
            <pc:docMk/>
            <pc:sldMk cId="2135985127" sldId="6116"/>
            <ac:spMk id="471" creationId="{2F172EDC-B614-40B6-B700-484F53D20EFB}"/>
          </ac:spMkLst>
        </pc:spChg>
        <pc:spChg chg="mod">
          <ac:chgData name="Mukherjee, Shouvik" userId="8a0946e8-3a6b-4d5c-947d-73f4cd578335" providerId="ADAL" clId="{7D2D6237-E91A-4A15-935C-F7A3486024C6}" dt="2023-08-08T10:04:55.635" v="230" actId="20577"/>
          <ac:spMkLst>
            <pc:docMk/>
            <pc:sldMk cId="2135985127" sldId="6116"/>
            <ac:spMk id="476" creationId="{0D0F3F40-5CEF-4343-867C-5ACA3D5DC84F}"/>
          </ac:spMkLst>
        </pc:spChg>
        <pc:picChg chg="add mod">
          <ac:chgData name="Mukherjee, Shouvik" userId="8a0946e8-3a6b-4d5c-947d-73f4cd578335" providerId="ADAL" clId="{7D2D6237-E91A-4A15-935C-F7A3486024C6}" dt="2023-08-08T12:28:28.310" v="282" actId="12788"/>
          <ac:picMkLst>
            <pc:docMk/>
            <pc:sldMk cId="2135985127" sldId="6116"/>
            <ac:picMk id="5" creationId="{1B18F174-96C7-00A2-C393-FBCFF6F04DBB}"/>
          </ac:picMkLst>
        </pc:picChg>
        <pc:picChg chg="del">
          <ac:chgData name="Mukherjee, Shouvik" userId="8a0946e8-3a6b-4d5c-947d-73f4cd578335" providerId="ADAL" clId="{7D2D6237-E91A-4A15-935C-F7A3486024C6}" dt="2023-08-08T08:33:11.435" v="10" actId="478"/>
          <ac:picMkLst>
            <pc:docMk/>
            <pc:sldMk cId="2135985127" sldId="6116"/>
            <ac:picMk id="236" creationId="{C659A68C-6B9A-437F-B5CA-5072CFFBCAF2}"/>
          </ac:picMkLst>
        </pc:picChg>
        <pc:picChg chg="del">
          <ac:chgData name="Mukherjee, Shouvik" userId="8a0946e8-3a6b-4d5c-947d-73f4cd578335" providerId="ADAL" clId="{7D2D6237-E91A-4A15-935C-F7A3486024C6}" dt="2023-08-08T08:33:27.769" v="11" actId="478"/>
          <ac:picMkLst>
            <pc:docMk/>
            <pc:sldMk cId="2135985127" sldId="6116"/>
            <ac:picMk id="237" creationId="{D5A8640B-F97F-420B-AD16-EE2E2ABE101F}"/>
          </ac:picMkLst>
        </pc:picChg>
        <pc:picChg chg="add mod">
          <ac:chgData name="Mukherjee, Shouvik" userId="8a0946e8-3a6b-4d5c-947d-73f4cd578335" providerId="ADAL" clId="{7D2D6237-E91A-4A15-935C-F7A3486024C6}" dt="2023-08-08T12:28:28.310" v="282" actId="12788"/>
          <ac:picMkLst>
            <pc:docMk/>
            <pc:sldMk cId="2135985127" sldId="6116"/>
            <ac:picMk id="1026" creationId="{9BBCB83B-B03F-E4B2-85AB-160DE5DEAE61}"/>
          </ac:picMkLst>
        </pc:picChg>
        <pc:picChg chg="add mod">
          <ac:chgData name="Mukherjee, Shouvik" userId="8a0946e8-3a6b-4d5c-947d-73f4cd578335" providerId="ADAL" clId="{7D2D6237-E91A-4A15-935C-F7A3486024C6}" dt="2023-08-08T12:28:28.310" v="282" actId="12788"/>
          <ac:picMkLst>
            <pc:docMk/>
            <pc:sldMk cId="2135985127" sldId="6116"/>
            <ac:picMk id="1028" creationId="{EFAE5AC6-E253-4E05-0A06-2577CAD7967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EA3C00-7203-42B1-833A-B6D2C9B924BB}" type="datetimeFigureOut">
              <a:rPr lang="en-US" smtClean="0"/>
              <a:t>8/9/2023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2DF522-535B-4A28-B1A3-15E2FAACB584}" type="slidenum">
              <a:rPr lang="en-US" smtClean="0"/>
              <a:t>‹#›</a:t>
            </a:fld>
            <a:endParaRPr lang="en-US" dirty="0"/>
          </a:p>
        </p:txBody>
      </p:sp>
    </p:spTree>
    <p:extLst>
      <p:ext uri="{BB962C8B-B14F-4D97-AF65-F5344CB8AC3E}">
        <p14:creationId xmlns:p14="http://schemas.microsoft.com/office/powerpoint/2010/main" val="2750207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0894024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rPr>
              <a:t>With multiple new interventions and reform measures being planned, REC wishes to better equip itself to continue shaping up the future of India’s power sector and explore new strategic areas for growth and expansion…</a:t>
            </a:r>
          </a:p>
          <a:p>
            <a:endParaRPr lang="en-US" dirty="0"/>
          </a:p>
        </p:txBody>
      </p:sp>
      <p:sp>
        <p:nvSpPr>
          <p:cNvPr id="4" name="Slide Number Placeholder 3"/>
          <p:cNvSpPr>
            <a:spLocks noGrp="1"/>
          </p:cNvSpPr>
          <p:nvPr>
            <p:ph type="sldNum" sz="quarter" idx="5"/>
          </p:nvPr>
        </p:nvSpPr>
        <p:spPr/>
        <p:txBody>
          <a:bodyPr/>
          <a:lstStyle/>
          <a:p>
            <a:fld id="{242DF522-535B-4A28-B1A3-15E2FAACB584}" type="slidenum">
              <a:rPr lang="en-US" smtClean="0"/>
              <a:t>5</a:t>
            </a:fld>
            <a:endParaRPr lang="en-US" dirty="0"/>
          </a:p>
        </p:txBody>
      </p:sp>
    </p:spTree>
    <p:extLst>
      <p:ext uri="{BB962C8B-B14F-4D97-AF65-F5344CB8AC3E}">
        <p14:creationId xmlns:p14="http://schemas.microsoft.com/office/powerpoint/2010/main" val="38279258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42DF522-535B-4A28-B1A3-15E2FAACB584}" type="slidenum">
              <a:rPr lang="en-US" smtClean="0"/>
              <a:t>10</a:t>
            </a:fld>
            <a:endParaRPr lang="en-US" dirty="0"/>
          </a:p>
        </p:txBody>
      </p:sp>
    </p:spTree>
    <p:extLst>
      <p:ext uri="{BB962C8B-B14F-4D97-AF65-F5344CB8AC3E}">
        <p14:creationId xmlns:p14="http://schemas.microsoft.com/office/powerpoint/2010/main" val="2365104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2DF522-535B-4A28-B1A3-15E2FAACB584}" type="slidenum">
              <a:rPr lang="en-US" smtClean="0"/>
              <a:t>17</a:t>
            </a:fld>
            <a:endParaRPr lang="en-US" dirty="0"/>
          </a:p>
        </p:txBody>
      </p:sp>
    </p:spTree>
    <p:extLst>
      <p:ext uri="{BB962C8B-B14F-4D97-AF65-F5344CB8AC3E}">
        <p14:creationId xmlns:p14="http://schemas.microsoft.com/office/powerpoint/2010/main" val="27909778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bin"/><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5.xml"/><Relationship Id="rId1" Type="http://schemas.openxmlformats.org/officeDocument/2006/relationships/tags" Target="../tags/tag5.xml"/><Relationship Id="rId4" Type="http://schemas.openxmlformats.org/officeDocument/2006/relationships/image" Target="../media/image6.emf"/></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bin"/><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0B9A3-72F2-4432-8776-1CD9D06602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57272C0-4CDF-4E59-A257-CB3B519DC4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B1DA94-E6BF-4D27-BA2F-45E248847393}"/>
              </a:ext>
            </a:extLst>
          </p:cNvPr>
          <p:cNvSpPr>
            <a:spLocks noGrp="1"/>
          </p:cNvSpPr>
          <p:nvPr>
            <p:ph type="dt" sz="half" idx="10"/>
          </p:nvPr>
        </p:nvSpPr>
        <p:spPr>
          <a:xfrm>
            <a:off x="838200" y="6356350"/>
            <a:ext cx="2743200" cy="365125"/>
          </a:xfrm>
          <a:prstGeom prst="rect">
            <a:avLst/>
          </a:prstGeom>
        </p:spPr>
        <p:txBody>
          <a:bodyPr/>
          <a:lstStyle/>
          <a:p>
            <a:fld id="{66624A40-B07A-438E-A1CE-B11082564930}" type="datetimeFigureOut">
              <a:rPr lang="en-US" smtClean="0"/>
              <a:t>8/9/2023</a:t>
            </a:fld>
            <a:endParaRPr lang="en-US" dirty="0"/>
          </a:p>
        </p:txBody>
      </p:sp>
      <p:sp>
        <p:nvSpPr>
          <p:cNvPr id="5" name="Footer Placeholder 4">
            <a:extLst>
              <a:ext uri="{FF2B5EF4-FFF2-40B4-BE49-F238E27FC236}">
                <a16:creationId xmlns:a16="http://schemas.microsoft.com/office/drawing/2014/main" id="{B9623484-8220-418C-87A0-39DB6998AB1C}"/>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F5D57080-23BB-415D-99C9-A04A959020B3}"/>
              </a:ext>
            </a:extLst>
          </p:cNvPr>
          <p:cNvSpPr>
            <a:spLocks noGrp="1"/>
          </p:cNvSpPr>
          <p:nvPr>
            <p:ph type="sldNum" sz="quarter" idx="12"/>
          </p:nvPr>
        </p:nvSpPr>
        <p:spPr>
          <a:xfrm>
            <a:off x="8610600" y="6356350"/>
            <a:ext cx="2743200" cy="365125"/>
          </a:xfrm>
          <a:prstGeom prst="rect">
            <a:avLst/>
          </a:prstGeom>
        </p:spPr>
        <p:txBody>
          <a:bodyPr/>
          <a:lstStyle/>
          <a:p>
            <a:fld id="{D974E15B-6979-49B5-B32D-F50FCACD2EC0}" type="slidenum">
              <a:rPr lang="en-US" smtClean="0"/>
              <a:t>‹#›</a:t>
            </a:fld>
            <a:endParaRPr lang="en-US" dirty="0"/>
          </a:p>
        </p:txBody>
      </p:sp>
    </p:spTree>
    <p:extLst>
      <p:ext uri="{BB962C8B-B14F-4D97-AF65-F5344CB8AC3E}">
        <p14:creationId xmlns:p14="http://schemas.microsoft.com/office/powerpoint/2010/main" val="3113647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AE4F5-EB14-4AC5-A9F1-5F9B1430C3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C40B33-EAFD-4878-900A-E12F31FCB4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D897AD-9E8E-461C-AFA4-21356A854F4D}"/>
              </a:ext>
            </a:extLst>
          </p:cNvPr>
          <p:cNvSpPr>
            <a:spLocks noGrp="1"/>
          </p:cNvSpPr>
          <p:nvPr>
            <p:ph type="dt" sz="half" idx="10"/>
          </p:nvPr>
        </p:nvSpPr>
        <p:spPr>
          <a:xfrm>
            <a:off x="838200" y="6356350"/>
            <a:ext cx="2743200" cy="365125"/>
          </a:xfrm>
          <a:prstGeom prst="rect">
            <a:avLst/>
          </a:prstGeom>
        </p:spPr>
        <p:txBody>
          <a:bodyPr/>
          <a:lstStyle/>
          <a:p>
            <a:fld id="{66624A40-B07A-438E-A1CE-B11082564930}" type="datetimeFigureOut">
              <a:rPr lang="en-US" smtClean="0"/>
              <a:t>8/9/2023</a:t>
            </a:fld>
            <a:endParaRPr lang="en-US" dirty="0"/>
          </a:p>
        </p:txBody>
      </p:sp>
      <p:sp>
        <p:nvSpPr>
          <p:cNvPr id="5" name="Footer Placeholder 4">
            <a:extLst>
              <a:ext uri="{FF2B5EF4-FFF2-40B4-BE49-F238E27FC236}">
                <a16:creationId xmlns:a16="http://schemas.microsoft.com/office/drawing/2014/main" id="{99F2560F-428A-4D89-8240-FA2E3D5E2DAA}"/>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3B7FBD94-9FDF-44BC-A4BA-2D0455590567}"/>
              </a:ext>
            </a:extLst>
          </p:cNvPr>
          <p:cNvSpPr>
            <a:spLocks noGrp="1"/>
          </p:cNvSpPr>
          <p:nvPr>
            <p:ph type="sldNum" sz="quarter" idx="12"/>
          </p:nvPr>
        </p:nvSpPr>
        <p:spPr>
          <a:xfrm>
            <a:off x="8610600" y="6356350"/>
            <a:ext cx="2743200" cy="365125"/>
          </a:xfrm>
          <a:prstGeom prst="rect">
            <a:avLst/>
          </a:prstGeom>
        </p:spPr>
        <p:txBody>
          <a:bodyPr/>
          <a:lstStyle/>
          <a:p>
            <a:fld id="{D974E15B-6979-49B5-B32D-F50FCACD2EC0}" type="slidenum">
              <a:rPr lang="en-US" smtClean="0"/>
              <a:t>‹#›</a:t>
            </a:fld>
            <a:endParaRPr lang="en-US" dirty="0"/>
          </a:p>
        </p:txBody>
      </p:sp>
    </p:spTree>
    <p:extLst>
      <p:ext uri="{BB962C8B-B14F-4D97-AF65-F5344CB8AC3E}">
        <p14:creationId xmlns:p14="http://schemas.microsoft.com/office/powerpoint/2010/main" val="2867201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2DD3D-29EB-4420-917A-2196FE0E4F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661B5B9-4FC0-4B95-AFA5-6AD6E74534D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E1E611-CFB7-4BCB-BDB4-9AFBBE106849}"/>
              </a:ext>
            </a:extLst>
          </p:cNvPr>
          <p:cNvSpPr>
            <a:spLocks noGrp="1"/>
          </p:cNvSpPr>
          <p:nvPr>
            <p:ph type="dt" sz="half" idx="10"/>
          </p:nvPr>
        </p:nvSpPr>
        <p:spPr>
          <a:xfrm>
            <a:off x="838200" y="6356350"/>
            <a:ext cx="2743200" cy="365125"/>
          </a:xfrm>
          <a:prstGeom prst="rect">
            <a:avLst/>
          </a:prstGeom>
        </p:spPr>
        <p:txBody>
          <a:bodyPr/>
          <a:lstStyle/>
          <a:p>
            <a:fld id="{66624A40-B07A-438E-A1CE-B11082564930}" type="datetimeFigureOut">
              <a:rPr lang="en-US" smtClean="0"/>
              <a:t>8/9/2023</a:t>
            </a:fld>
            <a:endParaRPr lang="en-US" dirty="0"/>
          </a:p>
        </p:txBody>
      </p:sp>
      <p:sp>
        <p:nvSpPr>
          <p:cNvPr id="5" name="Footer Placeholder 4">
            <a:extLst>
              <a:ext uri="{FF2B5EF4-FFF2-40B4-BE49-F238E27FC236}">
                <a16:creationId xmlns:a16="http://schemas.microsoft.com/office/drawing/2014/main" id="{086439B4-0CBD-4306-B965-A85FBD886362}"/>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D3C1DAE7-124A-4B55-B663-0D3351650419}"/>
              </a:ext>
            </a:extLst>
          </p:cNvPr>
          <p:cNvSpPr>
            <a:spLocks noGrp="1"/>
          </p:cNvSpPr>
          <p:nvPr>
            <p:ph type="sldNum" sz="quarter" idx="12"/>
          </p:nvPr>
        </p:nvSpPr>
        <p:spPr>
          <a:xfrm>
            <a:off x="8610600" y="6356350"/>
            <a:ext cx="2743200" cy="365125"/>
          </a:xfrm>
          <a:prstGeom prst="rect">
            <a:avLst/>
          </a:prstGeom>
        </p:spPr>
        <p:txBody>
          <a:bodyPr/>
          <a:lstStyle/>
          <a:p>
            <a:fld id="{D974E15B-6979-49B5-B32D-F50FCACD2EC0}" type="slidenum">
              <a:rPr lang="en-US" smtClean="0"/>
              <a:t>‹#›</a:t>
            </a:fld>
            <a:endParaRPr lang="en-US" dirty="0"/>
          </a:p>
        </p:txBody>
      </p:sp>
    </p:spTree>
    <p:extLst>
      <p:ext uri="{BB962C8B-B14F-4D97-AF65-F5344CB8AC3E}">
        <p14:creationId xmlns:p14="http://schemas.microsoft.com/office/powerpoint/2010/main" val="27332345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03D47-01AF-4E69-AB47-1D27A51FCB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088927-8F74-4263-AA00-8CECDDAB82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3A19C1-BBE1-4379-85D7-ECA353103D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ECDA25-FE2D-433F-AAEA-D6FCBA9F37F2}"/>
              </a:ext>
            </a:extLst>
          </p:cNvPr>
          <p:cNvSpPr>
            <a:spLocks noGrp="1"/>
          </p:cNvSpPr>
          <p:nvPr>
            <p:ph type="dt" sz="half" idx="10"/>
          </p:nvPr>
        </p:nvSpPr>
        <p:spPr>
          <a:xfrm>
            <a:off x="838200" y="6356350"/>
            <a:ext cx="2743200" cy="365125"/>
          </a:xfrm>
          <a:prstGeom prst="rect">
            <a:avLst/>
          </a:prstGeom>
        </p:spPr>
        <p:txBody>
          <a:bodyPr/>
          <a:lstStyle/>
          <a:p>
            <a:fld id="{66624A40-B07A-438E-A1CE-B11082564930}" type="datetimeFigureOut">
              <a:rPr lang="en-US" smtClean="0"/>
              <a:t>8/9/2023</a:t>
            </a:fld>
            <a:endParaRPr lang="en-US" dirty="0"/>
          </a:p>
        </p:txBody>
      </p:sp>
      <p:sp>
        <p:nvSpPr>
          <p:cNvPr id="6" name="Footer Placeholder 5">
            <a:extLst>
              <a:ext uri="{FF2B5EF4-FFF2-40B4-BE49-F238E27FC236}">
                <a16:creationId xmlns:a16="http://schemas.microsoft.com/office/drawing/2014/main" id="{12C03631-DBAF-4586-B522-9302C4F643C0}"/>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B7F6DB36-CD38-4FDB-A2BA-8467EF810C40}"/>
              </a:ext>
            </a:extLst>
          </p:cNvPr>
          <p:cNvSpPr>
            <a:spLocks noGrp="1"/>
          </p:cNvSpPr>
          <p:nvPr>
            <p:ph type="sldNum" sz="quarter" idx="12"/>
          </p:nvPr>
        </p:nvSpPr>
        <p:spPr>
          <a:xfrm>
            <a:off x="8610600" y="6356350"/>
            <a:ext cx="2743200" cy="365125"/>
          </a:xfrm>
          <a:prstGeom prst="rect">
            <a:avLst/>
          </a:prstGeom>
        </p:spPr>
        <p:txBody>
          <a:bodyPr/>
          <a:lstStyle/>
          <a:p>
            <a:fld id="{D974E15B-6979-49B5-B32D-F50FCACD2EC0}" type="slidenum">
              <a:rPr lang="en-US" smtClean="0"/>
              <a:t>‹#›</a:t>
            </a:fld>
            <a:endParaRPr lang="en-US" dirty="0"/>
          </a:p>
        </p:txBody>
      </p:sp>
    </p:spTree>
    <p:extLst>
      <p:ext uri="{BB962C8B-B14F-4D97-AF65-F5344CB8AC3E}">
        <p14:creationId xmlns:p14="http://schemas.microsoft.com/office/powerpoint/2010/main" val="589612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A093C-547B-40A5-B0C6-33A26C9015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45ED671-A621-46B2-8105-009E386BB6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E98324-0EFB-4936-8031-1159DE4CFE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3DB31C-C130-4E3C-9393-DCAB7928A8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E7B27C-E1AA-4EF4-978C-6653DD60B2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E74F57-CBB4-46AA-B79A-77060C70AFE4}"/>
              </a:ext>
            </a:extLst>
          </p:cNvPr>
          <p:cNvSpPr>
            <a:spLocks noGrp="1"/>
          </p:cNvSpPr>
          <p:nvPr>
            <p:ph type="dt" sz="half" idx="10"/>
          </p:nvPr>
        </p:nvSpPr>
        <p:spPr>
          <a:xfrm>
            <a:off x="838200" y="6356350"/>
            <a:ext cx="2743200" cy="365125"/>
          </a:xfrm>
          <a:prstGeom prst="rect">
            <a:avLst/>
          </a:prstGeom>
        </p:spPr>
        <p:txBody>
          <a:bodyPr/>
          <a:lstStyle/>
          <a:p>
            <a:fld id="{66624A40-B07A-438E-A1CE-B11082564930}" type="datetimeFigureOut">
              <a:rPr lang="en-US" smtClean="0"/>
              <a:t>8/9/2023</a:t>
            </a:fld>
            <a:endParaRPr lang="en-US" dirty="0"/>
          </a:p>
        </p:txBody>
      </p:sp>
      <p:sp>
        <p:nvSpPr>
          <p:cNvPr id="8" name="Footer Placeholder 7">
            <a:extLst>
              <a:ext uri="{FF2B5EF4-FFF2-40B4-BE49-F238E27FC236}">
                <a16:creationId xmlns:a16="http://schemas.microsoft.com/office/drawing/2014/main" id="{3A226483-36A6-46A6-AFDA-48D3EE51BD8C}"/>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E0D4DB7E-DC9F-4820-AD7B-5A2A69F3A135}"/>
              </a:ext>
            </a:extLst>
          </p:cNvPr>
          <p:cNvSpPr>
            <a:spLocks noGrp="1"/>
          </p:cNvSpPr>
          <p:nvPr>
            <p:ph type="sldNum" sz="quarter" idx="12"/>
          </p:nvPr>
        </p:nvSpPr>
        <p:spPr>
          <a:xfrm>
            <a:off x="8610600" y="6356350"/>
            <a:ext cx="2743200" cy="365125"/>
          </a:xfrm>
          <a:prstGeom prst="rect">
            <a:avLst/>
          </a:prstGeom>
        </p:spPr>
        <p:txBody>
          <a:bodyPr/>
          <a:lstStyle/>
          <a:p>
            <a:fld id="{D974E15B-6979-49B5-B32D-F50FCACD2EC0}" type="slidenum">
              <a:rPr lang="en-US" smtClean="0"/>
              <a:t>‹#›</a:t>
            </a:fld>
            <a:endParaRPr lang="en-US" dirty="0"/>
          </a:p>
        </p:txBody>
      </p:sp>
    </p:spTree>
    <p:extLst>
      <p:ext uri="{BB962C8B-B14F-4D97-AF65-F5344CB8AC3E}">
        <p14:creationId xmlns:p14="http://schemas.microsoft.com/office/powerpoint/2010/main" val="84528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17E05-A96C-41BF-A70D-CACC3224875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F10396-0480-4EA0-8414-A504CB35D71C}"/>
              </a:ext>
            </a:extLst>
          </p:cNvPr>
          <p:cNvSpPr>
            <a:spLocks noGrp="1"/>
          </p:cNvSpPr>
          <p:nvPr>
            <p:ph type="dt" sz="half" idx="10"/>
          </p:nvPr>
        </p:nvSpPr>
        <p:spPr>
          <a:xfrm>
            <a:off x="838200" y="6356350"/>
            <a:ext cx="2743200" cy="365125"/>
          </a:xfrm>
          <a:prstGeom prst="rect">
            <a:avLst/>
          </a:prstGeom>
        </p:spPr>
        <p:txBody>
          <a:bodyPr/>
          <a:lstStyle/>
          <a:p>
            <a:fld id="{66624A40-B07A-438E-A1CE-B11082564930}" type="datetimeFigureOut">
              <a:rPr lang="en-US" smtClean="0"/>
              <a:t>8/9/2023</a:t>
            </a:fld>
            <a:endParaRPr lang="en-US" dirty="0"/>
          </a:p>
        </p:txBody>
      </p:sp>
      <p:sp>
        <p:nvSpPr>
          <p:cNvPr id="4" name="Footer Placeholder 3">
            <a:extLst>
              <a:ext uri="{FF2B5EF4-FFF2-40B4-BE49-F238E27FC236}">
                <a16:creationId xmlns:a16="http://schemas.microsoft.com/office/drawing/2014/main" id="{EB2938AF-4B4D-45D3-A33A-2A810E246DC3}"/>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F1C6F4BE-5CC4-4922-9BE8-4684AFA55CC5}"/>
              </a:ext>
            </a:extLst>
          </p:cNvPr>
          <p:cNvSpPr>
            <a:spLocks noGrp="1"/>
          </p:cNvSpPr>
          <p:nvPr>
            <p:ph type="sldNum" sz="quarter" idx="12"/>
          </p:nvPr>
        </p:nvSpPr>
        <p:spPr>
          <a:xfrm>
            <a:off x="8610600" y="6356350"/>
            <a:ext cx="2743200" cy="365125"/>
          </a:xfrm>
          <a:prstGeom prst="rect">
            <a:avLst/>
          </a:prstGeom>
        </p:spPr>
        <p:txBody>
          <a:bodyPr/>
          <a:lstStyle/>
          <a:p>
            <a:fld id="{D974E15B-6979-49B5-B32D-F50FCACD2EC0}" type="slidenum">
              <a:rPr lang="en-US" smtClean="0"/>
              <a:t>‹#›</a:t>
            </a:fld>
            <a:endParaRPr lang="en-US" dirty="0"/>
          </a:p>
        </p:txBody>
      </p:sp>
    </p:spTree>
    <p:extLst>
      <p:ext uri="{BB962C8B-B14F-4D97-AF65-F5344CB8AC3E}">
        <p14:creationId xmlns:p14="http://schemas.microsoft.com/office/powerpoint/2010/main" val="3562479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0D565B-EC04-4C34-B25A-A76FEE46DF6F}"/>
              </a:ext>
            </a:extLst>
          </p:cNvPr>
          <p:cNvSpPr>
            <a:spLocks noGrp="1"/>
          </p:cNvSpPr>
          <p:nvPr>
            <p:ph type="dt" sz="half" idx="10"/>
          </p:nvPr>
        </p:nvSpPr>
        <p:spPr>
          <a:xfrm>
            <a:off x="838200" y="6356350"/>
            <a:ext cx="2743200" cy="365125"/>
          </a:xfrm>
          <a:prstGeom prst="rect">
            <a:avLst/>
          </a:prstGeom>
        </p:spPr>
        <p:txBody>
          <a:bodyPr/>
          <a:lstStyle/>
          <a:p>
            <a:fld id="{66624A40-B07A-438E-A1CE-B11082564930}" type="datetimeFigureOut">
              <a:rPr lang="en-US" smtClean="0"/>
              <a:t>8/9/2023</a:t>
            </a:fld>
            <a:endParaRPr lang="en-US" dirty="0"/>
          </a:p>
        </p:txBody>
      </p:sp>
      <p:sp>
        <p:nvSpPr>
          <p:cNvPr id="3" name="Footer Placeholder 2">
            <a:extLst>
              <a:ext uri="{FF2B5EF4-FFF2-40B4-BE49-F238E27FC236}">
                <a16:creationId xmlns:a16="http://schemas.microsoft.com/office/drawing/2014/main" id="{927846C0-98E7-4103-8DBA-11EF8454B50A}"/>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7B67DC35-5695-4D05-BE38-710E2AB7F114}"/>
              </a:ext>
            </a:extLst>
          </p:cNvPr>
          <p:cNvSpPr>
            <a:spLocks noGrp="1"/>
          </p:cNvSpPr>
          <p:nvPr>
            <p:ph type="sldNum" sz="quarter" idx="12"/>
          </p:nvPr>
        </p:nvSpPr>
        <p:spPr>
          <a:xfrm>
            <a:off x="8610600" y="6356350"/>
            <a:ext cx="2743200" cy="365125"/>
          </a:xfrm>
          <a:prstGeom prst="rect">
            <a:avLst/>
          </a:prstGeom>
        </p:spPr>
        <p:txBody>
          <a:bodyPr/>
          <a:lstStyle/>
          <a:p>
            <a:fld id="{D974E15B-6979-49B5-B32D-F50FCACD2EC0}" type="slidenum">
              <a:rPr lang="en-US" smtClean="0"/>
              <a:t>‹#›</a:t>
            </a:fld>
            <a:endParaRPr lang="en-US" dirty="0"/>
          </a:p>
        </p:txBody>
      </p:sp>
    </p:spTree>
    <p:extLst>
      <p:ext uri="{BB962C8B-B14F-4D97-AF65-F5344CB8AC3E}">
        <p14:creationId xmlns:p14="http://schemas.microsoft.com/office/powerpoint/2010/main" val="3946956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70F7E-3375-472A-B694-D5529B12FC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AE465A-BE0A-4F36-94EC-48AF36F068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3EC8C9-5DB7-4382-928B-EFF2ABA6CB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29D408-BA9F-4A02-881B-1DD178123483}"/>
              </a:ext>
            </a:extLst>
          </p:cNvPr>
          <p:cNvSpPr>
            <a:spLocks noGrp="1"/>
          </p:cNvSpPr>
          <p:nvPr>
            <p:ph type="dt" sz="half" idx="10"/>
          </p:nvPr>
        </p:nvSpPr>
        <p:spPr>
          <a:xfrm>
            <a:off x="838200" y="6356350"/>
            <a:ext cx="2743200" cy="365125"/>
          </a:xfrm>
          <a:prstGeom prst="rect">
            <a:avLst/>
          </a:prstGeom>
        </p:spPr>
        <p:txBody>
          <a:bodyPr/>
          <a:lstStyle/>
          <a:p>
            <a:fld id="{66624A40-B07A-438E-A1CE-B11082564930}" type="datetimeFigureOut">
              <a:rPr lang="en-US" smtClean="0"/>
              <a:t>8/9/2023</a:t>
            </a:fld>
            <a:endParaRPr lang="en-US" dirty="0"/>
          </a:p>
        </p:txBody>
      </p:sp>
      <p:sp>
        <p:nvSpPr>
          <p:cNvPr id="6" name="Footer Placeholder 5">
            <a:extLst>
              <a:ext uri="{FF2B5EF4-FFF2-40B4-BE49-F238E27FC236}">
                <a16:creationId xmlns:a16="http://schemas.microsoft.com/office/drawing/2014/main" id="{92E88EF3-3539-48B7-B80D-1ED5F69A04DE}"/>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9EEAD243-6BD9-408F-A8DA-0C3E44B35BCC}"/>
              </a:ext>
            </a:extLst>
          </p:cNvPr>
          <p:cNvSpPr>
            <a:spLocks noGrp="1"/>
          </p:cNvSpPr>
          <p:nvPr>
            <p:ph type="sldNum" sz="quarter" idx="12"/>
          </p:nvPr>
        </p:nvSpPr>
        <p:spPr>
          <a:xfrm>
            <a:off x="8610600" y="6356350"/>
            <a:ext cx="2743200" cy="365125"/>
          </a:xfrm>
          <a:prstGeom prst="rect">
            <a:avLst/>
          </a:prstGeom>
        </p:spPr>
        <p:txBody>
          <a:bodyPr/>
          <a:lstStyle/>
          <a:p>
            <a:fld id="{D974E15B-6979-49B5-B32D-F50FCACD2EC0}" type="slidenum">
              <a:rPr lang="en-US" smtClean="0"/>
              <a:t>‹#›</a:t>
            </a:fld>
            <a:endParaRPr lang="en-US" dirty="0"/>
          </a:p>
        </p:txBody>
      </p:sp>
    </p:spTree>
    <p:extLst>
      <p:ext uri="{BB962C8B-B14F-4D97-AF65-F5344CB8AC3E}">
        <p14:creationId xmlns:p14="http://schemas.microsoft.com/office/powerpoint/2010/main" val="36830241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8F059-F4EB-4525-AEC2-AB248B81E8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41C1C20-AF7A-4DA8-94AF-E786781142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DA3A929E-8A3B-4A0B-BF98-9440201B02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F517AE-F5E5-40A5-81EC-0A4476E25D5B}"/>
              </a:ext>
            </a:extLst>
          </p:cNvPr>
          <p:cNvSpPr>
            <a:spLocks noGrp="1"/>
          </p:cNvSpPr>
          <p:nvPr>
            <p:ph type="dt" sz="half" idx="10"/>
          </p:nvPr>
        </p:nvSpPr>
        <p:spPr>
          <a:xfrm>
            <a:off x="838200" y="6356350"/>
            <a:ext cx="2743200" cy="365125"/>
          </a:xfrm>
          <a:prstGeom prst="rect">
            <a:avLst/>
          </a:prstGeom>
        </p:spPr>
        <p:txBody>
          <a:bodyPr/>
          <a:lstStyle/>
          <a:p>
            <a:fld id="{66624A40-B07A-438E-A1CE-B11082564930}" type="datetimeFigureOut">
              <a:rPr lang="en-US" smtClean="0"/>
              <a:t>8/9/2023</a:t>
            </a:fld>
            <a:endParaRPr lang="en-US" dirty="0"/>
          </a:p>
        </p:txBody>
      </p:sp>
      <p:sp>
        <p:nvSpPr>
          <p:cNvPr id="6" name="Footer Placeholder 5">
            <a:extLst>
              <a:ext uri="{FF2B5EF4-FFF2-40B4-BE49-F238E27FC236}">
                <a16:creationId xmlns:a16="http://schemas.microsoft.com/office/drawing/2014/main" id="{D3BAFE9D-6783-4649-9326-346782E99245}"/>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77E7BA43-960E-430C-B622-B262BF893F30}"/>
              </a:ext>
            </a:extLst>
          </p:cNvPr>
          <p:cNvSpPr>
            <a:spLocks noGrp="1"/>
          </p:cNvSpPr>
          <p:nvPr>
            <p:ph type="sldNum" sz="quarter" idx="12"/>
          </p:nvPr>
        </p:nvSpPr>
        <p:spPr>
          <a:xfrm>
            <a:off x="8610600" y="6356350"/>
            <a:ext cx="2743200" cy="365125"/>
          </a:xfrm>
          <a:prstGeom prst="rect">
            <a:avLst/>
          </a:prstGeom>
        </p:spPr>
        <p:txBody>
          <a:bodyPr/>
          <a:lstStyle/>
          <a:p>
            <a:fld id="{D974E15B-6979-49B5-B32D-F50FCACD2EC0}" type="slidenum">
              <a:rPr lang="en-US" smtClean="0"/>
              <a:t>‹#›</a:t>
            </a:fld>
            <a:endParaRPr lang="en-US" dirty="0"/>
          </a:p>
        </p:txBody>
      </p:sp>
    </p:spTree>
    <p:extLst>
      <p:ext uri="{BB962C8B-B14F-4D97-AF65-F5344CB8AC3E}">
        <p14:creationId xmlns:p14="http://schemas.microsoft.com/office/powerpoint/2010/main" val="2355075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62A53-3A9E-44BF-91AB-3C021E7C0B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BF0E9E-3CFD-40DE-9610-F246947609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C6F17E-276A-41EC-853A-7DBFC5F7EE70}"/>
              </a:ext>
            </a:extLst>
          </p:cNvPr>
          <p:cNvSpPr>
            <a:spLocks noGrp="1"/>
          </p:cNvSpPr>
          <p:nvPr>
            <p:ph type="dt" sz="half" idx="10"/>
          </p:nvPr>
        </p:nvSpPr>
        <p:spPr>
          <a:xfrm>
            <a:off x="838200" y="6356350"/>
            <a:ext cx="2743200" cy="365125"/>
          </a:xfrm>
          <a:prstGeom prst="rect">
            <a:avLst/>
          </a:prstGeom>
        </p:spPr>
        <p:txBody>
          <a:bodyPr/>
          <a:lstStyle/>
          <a:p>
            <a:fld id="{66624A40-B07A-438E-A1CE-B11082564930}" type="datetimeFigureOut">
              <a:rPr lang="en-US" smtClean="0"/>
              <a:t>8/9/2023</a:t>
            </a:fld>
            <a:endParaRPr lang="en-US" dirty="0"/>
          </a:p>
        </p:txBody>
      </p:sp>
      <p:sp>
        <p:nvSpPr>
          <p:cNvPr id="5" name="Footer Placeholder 4">
            <a:extLst>
              <a:ext uri="{FF2B5EF4-FFF2-40B4-BE49-F238E27FC236}">
                <a16:creationId xmlns:a16="http://schemas.microsoft.com/office/drawing/2014/main" id="{2E05082A-FD0E-4698-8895-E059FEE257C0}"/>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6A9B4E32-96C6-443A-803A-21FDFF200186}"/>
              </a:ext>
            </a:extLst>
          </p:cNvPr>
          <p:cNvSpPr>
            <a:spLocks noGrp="1"/>
          </p:cNvSpPr>
          <p:nvPr>
            <p:ph type="sldNum" sz="quarter" idx="12"/>
          </p:nvPr>
        </p:nvSpPr>
        <p:spPr>
          <a:xfrm>
            <a:off x="8610600" y="6356350"/>
            <a:ext cx="2743200" cy="365125"/>
          </a:xfrm>
          <a:prstGeom prst="rect">
            <a:avLst/>
          </a:prstGeom>
        </p:spPr>
        <p:txBody>
          <a:bodyPr/>
          <a:lstStyle/>
          <a:p>
            <a:fld id="{D974E15B-6979-49B5-B32D-F50FCACD2EC0}" type="slidenum">
              <a:rPr lang="en-US" smtClean="0"/>
              <a:t>‹#›</a:t>
            </a:fld>
            <a:endParaRPr lang="en-US" dirty="0"/>
          </a:p>
        </p:txBody>
      </p:sp>
    </p:spTree>
    <p:extLst>
      <p:ext uri="{BB962C8B-B14F-4D97-AF65-F5344CB8AC3E}">
        <p14:creationId xmlns:p14="http://schemas.microsoft.com/office/powerpoint/2010/main" val="1914536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1531E4-9390-4FEE-BE23-CA7E24E8A9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BA4AC2-D142-49F8-AB3C-3BB4E054A0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6E4E3D-3EF9-40F2-8D93-3586202C1603}"/>
              </a:ext>
            </a:extLst>
          </p:cNvPr>
          <p:cNvSpPr>
            <a:spLocks noGrp="1"/>
          </p:cNvSpPr>
          <p:nvPr>
            <p:ph type="dt" sz="half" idx="10"/>
          </p:nvPr>
        </p:nvSpPr>
        <p:spPr>
          <a:xfrm>
            <a:off x="838200" y="6356350"/>
            <a:ext cx="2743200" cy="365125"/>
          </a:xfrm>
          <a:prstGeom prst="rect">
            <a:avLst/>
          </a:prstGeom>
        </p:spPr>
        <p:txBody>
          <a:bodyPr/>
          <a:lstStyle/>
          <a:p>
            <a:fld id="{66624A40-B07A-438E-A1CE-B11082564930}" type="datetimeFigureOut">
              <a:rPr lang="en-US" smtClean="0"/>
              <a:t>8/9/2023</a:t>
            </a:fld>
            <a:endParaRPr lang="en-US" dirty="0"/>
          </a:p>
        </p:txBody>
      </p:sp>
      <p:sp>
        <p:nvSpPr>
          <p:cNvPr id="5" name="Footer Placeholder 4">
            <a:extLst>
              <a:ext uri="{FF2B5EF4-FFF2-40B4-BE49-F238E27FC236}">
                <a16:creationId xmlns:a16="http://schemas.microsoft.com/office/drawing/2014/main" id="{F0B54F97-124D-49E8-8DAC-7CB5681C8672}"/>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517878C2-9162-4582-BB1A-85EB5EEE9F48}"/>
              </a:ext>
            </a:extLst>
          </p:cNvPr>
          <p:cNvSpPr>
            <a:spLocks noGrp="1"/>
          </p:cNvSpPr>
          <p:nvPr>
            <p:ph type="sldNum" sz="quarter" idx="12"/>
          </p:nvPr>
        </p:nvSpPr>
        <p:spPr>
          <a:xfrm>
            <a:off x="8610600" y="6356350"/>
            <a:ext cx="2743200" cy="365125"/>
          </a:xfrm>
          <a:prstGeom prst="rect">
            <a:avLst/>
          </a:prstGeom>
        </p:spPr>
        <p:txBody>
          <a:bodyPr/>
          <a:lstStyle/>
          <a:p>
            <a:fld id="{D974E15B-6979-49B5-B32D-F50FCACD2EC0}" type="slidenum">
              <a:rPr lang="en-US" smtClean="0"/>
              <a:t>‹#›</a:t>
            </a:fld>
            <a:endParaRPr lang="en-US" dirty="0"/>
          </a:p>
        </p:txBody>
      </p:sp>
    </p:spTree>
    <p:extLst>
      <p:ext uri="{BB962C8B-B14F-4D97-AF65-F5344CB8AC3E}">
        <p14:creationId xmlns:p14="http://schemas.microsoft.com/office/powerpoint/2010/main" val="2196715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ivider black">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7041892"/>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Divider - Deloitte green accent 4">
    <p:bg bwMode="gray">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2028506"/>
      </p:ext>
    </p:extLst>
  </p:cSld>
  <p:clrMapOvr>
    <a:masterClrMapping/>
  </p:clrMapOvr>
  <p:transition>
    <p:fade/>
  </p:transition>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Title Slide - Black">
    <p:bg bwMode="gray">
      <p:bgPr>
        <a:solidFill>
          <a:schemeClr val="tx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501651" y="304800"/>
            <a:ext cx="1998000" cy="374400"/>
            <a:chOff x="398463" y="404813"/>
            <a:chExt cx="1627187" cy="307976"/>
          </a:xfrm>
          <a:solidFill>
            <a:schemeClr val="bg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accent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869342" y="1203221"/>
            <a:ext cx="4448748" cy="4448748"/>
          </a:xfrm>
          <a:prstGeom prst="rect">
            <a:avLst/>
          </a:prstGeom>
        </p:spPr>
        <p:txBody>
          <a:bodyPr/>
          <a:lstStyle/>
          <a:p>
            <a:r>
              <a:rPr lang="en-US" noProof="0" dirty="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495299" y="5408938"/>
            <a:ext cx="6327774" cy="416140"/>
          </a:xfrm>
          <a:prstGeom prst="rect">
            <a:avLst/>
          </a:prstGeom>
        </p:spPr>
        <p:txBody>
          <a:bodyPr anchor="b" anchorCtr="0">
            <a:spAutoFit/>
          </a:bodyPr>
          <a:lstStyle>
            <a:lvl1pPr algn="l">
              <a:lnSpc>
                <a:spcPts val="3200"/>
              </a:lnSpc>
              <a:defRPr sz="3200" b="0">
                <a:solidFill>
                  <a:schemeClr val="accent1"/>
                </a:solidFill>
                <a:latin typeface="Calibri Light" panose="020F0302020204030204" pitchFamily="34" charset="0"/>
                <a:ea typeface="Calibri" panose="020F0502020204030204" pitchFamily="34" charset="0"/>
                <a:cs typeface="Calibri Light" panose="020F0302020204030204" pitchFamily="34" charset="0"/>
              </a:defRPr>
            </a:lvl1pPr>
          </a:lstStyle>
          <a:p>
            <a:r>
              <a:rPr lang="en-US" noProof="0" dirty="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95299" y="6435989"/>
            <a:ext cx="6327775" cy="215444"/>
          </a:xfrm>
          <a:prstGeom prst="rect">
            <a:avLst/>
          </a:prstGeom>
        </p:spPr>
        <p:txBody>
          <a:bodyPr anchor="b">
            <a:spAutoFit/>
          </a:bodyPr>
          <a:lstStyle>
            <a:lvl1pPr>
              <a:spcAft>
                <a:spcPts val="0"/>
              </a:spcAft>
              <a:defRPr sz="1400" b="1">
                <a:solidFill>
                  <a:schemeClr val="bg1"/>
                </a:solidFill>
                <a:latin typeface="+mj-lt"/>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Master text styles</a:t>
            </a:r>
          </a:p>
        </p:txBody>
      </p:sp>
      <p:sp>
        <p:nvSpPr>
          <p:cNvPr id="3" name="Text Placeholder 2"/>
          <p:cNvSpPr>
            <a:spLocks noGrp="1"/>
          </p:cNvSpPr>
          <p:nvPr>
            <p:ph type="body" sz="quarter" idx="12" hasCustomPrompt="1"/>
          </p:nvPr>
        </p:nvSpPr>
        <p:spPr>
          <a:xfrm>
            <a:off x="495299" y="5849179"/>
            <a:ext cx="6327775" cy="323165"/>
          </a:xfrm>
        </p:spPr>
        <p:txBody>
          <a:bodyPr wrap="square" anchor="b" anchorCtr="0">
            <a:spAutoFit/>
          </a:bodyPr>
          <a:lstStyle>
            <a:lvl1pPr>
              <a:defRPr sz="2100">
                <a:solidFill>
                  <a:schemeClr val="bg1"/>
                </a:solidFill>
                <a:latin typeface="Calibri Light" panose="020F0302020204030204" pitchFamily="34" charset="0"/>
                <a:cs typeface="Calibri Light" panose="020F03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Edit Master text styles</a:t>
            </a:r>
          </a:p>
        </p:txBody>
      </p:sp>
      <p:sp>
        <p:nvSpPr>
          <p:cNvPr id="4" name="Text Placeholder 3">
            <a:extLst>
              <a:ext uri="{FF2B5EF4-FFF2-40B4-BE49-F238E27FC236}">
                <a16:creationId xmlns:a16="http://schemas.microsoft.com/office/drawing/2014/main" id="{7D482699-9BC5-4D61-86B8-F23A48252BDF}"/>
              </a:ext>
            </a:extLst>
          </p:cNvPr>
          <p:cNvSpPr>
            <a:spLocks noGrp="1"/>
          </p:cNvSpPr>
          <p:nvPr>
            <p:ph type="body" sz="quarter" idx="13"/>
          </p:nvPr>
        </p:nvSpPr>
        <p:spPr>
          <a:xfrm>
            <a:off x="495299" y="6196445"/>
            <a:ext cx="5594350" cy="215444"/>
          </a:xfrm>
        </p:spPr>
        <p:txBody>
          <a:bodyPr>
            <a:spAutoFit/>
          </a:bodyPr>
          <a:lstStyle>
            <a:lvl1pPr>
              <a:defRPr sz="1400" b="1">
                <a:solidFill>
                  <a:schemeClr val="bg1"/>
                </a:solidFill>
                <a:latin typeface="+mj-lt"/>
              </a:defRPr>
            </a:lvl1pPr>
            <a:lvl2pPr>
              <a:defRPr sz="1400">
                <a:solidFill>
                  <a:schemeClr val="bg1"/>
                </a:solidFill>
                <a:latin typeface="+mj-lt"/>
              </a:defRPr>
            </a:lvl2pPr>
            <a:lvl3pPr>
              <a:defRPr sz="1400">
                <a:solidFill>
                  <a:schemeClr val="bg1"/>
                </a:solidFill>
                <a:latin typeface="+mj-lt"/>
              </a:defRPr>
            </a:lvl3pPr>
            <a:lvl4pPr>
              <a:defRPr sz="1400">
                <a:solidFill>
                  <a:schemeClr val="bg1"/>
                </a:solidFill>
                <a:latin typeface="+mj-lt"/>
              </a:defRPr>
            </a:lvl4pPr>
            <a:lvl5pPr>
              <a:defRPr sz="1400">
                <a:solidFill>
                  <a:schemeClr val="bg1"/>
                </a:solidFill>
                <a:latin typeface="+mj-lt"/>
              </a:defRPr>
            </a:lvl5pPr>
          </a:lstStyle>
          <a:p>
            <a:pPr lvl="0"/>
            <a:r>
              <a:rPr lang="en-US" dirty="0"/>
              <a:t>Click to edit Master text styles</a:t>
            </a:r>
            <a:endParaRPr lang="en-IN" dirty="0"/>
          </a:p>
        </p:txBody>
      </p:sp>
    </p:spTree>
    <p:extLst>
      <p:ext uri="{BB962C8B-B14F-4D97-AF65-F5344CB8AC3E}">
        <p14:creationId xmlns:p14="http://schemas.microsoft.com/office/powerpoint/2010/main" val="3817765468"/>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2014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2014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68246340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0"/>
            <a:ext cx="11201400"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2844159254"/>
      </p:ext>
    </p:extLst>
  </p:cSld>
  <p:clrMapOvr>
    <a:masterClrMapping/>
  </p:clrMapOvr>
  <p:transition>
    <p:fade/>
  </p:transition>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black">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033326"/>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End slide">
    <p:bg>
      <p:bgPr>
        <a:solidFill>
          <a:schemeClr val="bg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495300" y="4231004"/>
            <a:ext cx="11201400" cy="2169796"/>
          </a:xfrm>
        </p:spPr>
        <p:txBody>
          <a:bodyPr anchor="b" anchorCtr="0"/>
          <a:lstStyle>
            <a:lvl1pPr>
              <a:lnSpc>
                <a:spcPct val="100000"/>
              </a:lnSpc>
              <a:spcAft>
                <a:spcPts val="600"/>
              </a:spcAft>
              <a:defRPr sz="900">
                <a:solidFill>
                  <a:schemeClr val="bg1"/>
                </a:solidFill>
              </a:defRPr>
            </a:lvl1pPr>
          </a:lstStyle>
          <a:p>
            <a:pPr lvl="0"/>
            <a:r>
              <a:rPr lang="en-US"/>
              <a:t>Click to edit Master text styles</a:t>
            </a:r>
          </a:p>
        </p:txBody>
      </p:sp>
      <p:grpSp>
        <p:nvGrpSpPr>
          <p:cNvPr id="14" name="Group 13">
            <a:extLst>
              <a:ext uri="{FF2B5EF4-FFF2-40B4-BE49-F238E27FC236}">
                <a16:creationId xmlns:a16="http://schemas.microsoft.com/office/drawing/2014/main" id="{56FC3EA7-1721-423E-BD92-BF52C8E55ED3}"/>
              </a:ext>
            </a:extLst>
          </p:cNvPr>
          <p:cNvGrpSpPr>
            <a:grpSpLocks noChangeAspect="1"/>
          </p:cNvGrpSpPr>
          <p:nvPr userDrawn="1"/>
        </p:nvGrpSpPr>
        <p:grpSpPr>
          <a:xfrm>
            <a:off x="501652" y="307975"/>
            <a:ext cx="1998000" cy="374400"/>
            <a:chOff x="398463" y="404813"/>
            <a:chExt cx="1627187" cy="307976"/>
          </a:xfrm>
          <a:solidFill>
            <a:schemeClr val="tx1"/>
          </a:solidFill>
        </p:grpSpPr>
        <p:sp>
          <p:nvSpPr>
            <p:cNvPr id="15" name="Oval 5">
              <a:extLst>
                <a:ext uri="{FF2B5EF4-FFF2-40B4-BE49-F238E27FC236}">
                  <a16:creationId xmlns:a16="http://schemas.microsoft.com/office/drawing/2014/main" id="{E561C1C1-2B98-4CC9-8F98-D7A4B407B2E1}"/>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6" name="Freeform 6">
              <a:extLst>
                <a:ext uri="{FF2B5EF4-FFF2-40B4-BE49-F238E27FC236}">
                  <a16:creationId xmlns:a16="http://schemas.microsoft.com/office/drawing/2014/main" id="{B54708D0-C022-4036-985F-DC8A697DE0E5}"/>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7" name="Rectangle 16">
              <a:extLst>
                <a:ext uri="{FF2B5EF4-FFF2-40B4-BE49-F238E27FC236}">
                  <a16:creationId xmlns:a16="http://schemas.microsoft.com/office/drawing/2014/main" id="{7BFE37DE-F4EB-4923-848C-6A29C41CCEC4}"/>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8">
              <a:extLst>
                <a:ext uri="{FF2B5EF4-FFF2-40B4-BE49-F238E27FC236}">
                  <a16:creationId xmlns:a16="http://schemas.microsoft.com/office/drawing/2014/main" id="{A094F87C-0B97-448C-92EA-7E9861F0E722}"/>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18">
              <a:extLst>
                <a:ext uri="{FF2B5EF4-FFF2-40B4-BE49-F238E27FC236}">
                  <a16:creationId xmlns:a16="http://schemas.microsoft.com/office/drawing/2014/main" id="{2F949800-976D-4AF6-B49C-8ED71527CE65}"/>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Rectangle 30">
              <a:extLst>
                <a:ext uri="{FF2B5EF4-FFF2-40B4-BE49-F238E27FC236}">
                  <a16:creationId xmlns:a16="http://schemas.microsoft.com/office/drawing/2014/main" id="{B431FBA3-8BD7-494A-AB40-4F1160D440BE}"/>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1">
              <a:extLst>
                <a:ext uri="{FF2B5EF4-FFF2-40B4-BE49-F238E27FC236}">
                  <a16:creationId xmlns:a16="http://schemas.microsoft.com/office/drawing/2014/main" id="{68729F5B-D88D-4677-B7AE-7EC541EE5E92}"/>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Freeform 12">
              <a:extLst>
                <a:ext uri="{FF2B5EF4-FFF2-40B4-BE49-F238E27FC236}">
                  <a16:creationId xmlns:a16="http://schemas.microsoft.com/office/drawing/2014/main" id="{2482CA86-669E-4652-BD41-41145EFF2CE2}"/>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3">
              <a:extLst>
                <a:ext uri="{FF2B5EF4-FFF2-40B4-BE49-F238E27FC236}">
                  <a16:creationId xmlns:a16="http://schemas.microsoft.com/office/drawing/2014/main" id="{62A2206A-76FD-4C0E-96B4-23AA91BBDC91}"/>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4">
              <a:extLst>
                <a:ext uri="{FF2B5EF4-FFF2-40B4-BE49-F238E27FC236}">
                  <a16:creationId xmlns:a16="http://schemas.microsoft.com/office/drawing/2014/main" id="{EFBC7E22-7B38-44FB-A62F-4F39614B48A4}"/>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2035491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0" y="317500"/>
            <a:ext cx="11162350" cy="334101"/>
          </a:xfrm>
          <a:prstGeom prst="rect">
            <a:avLst/>
          </a:prstGeom>
        </p:spPr>
        <p:txBody>
          <a:bodyPr vert="horz" lIns="0" tIns="0" rIns="0" bIns="0" rtlCol="0" anchor="t" anchorCtr="0">
            <a:noAutofit/>
          </a:bodyPr>
          <a:lstStyle>
            <a:lvl1pPr>
              <a:defRPr/>
            </a:lvl1pPr>
          </a:lstStyle>
          <a:p>
            <a:r>
              <a:rPr lang="en-US" noProof="0" dirty="0"/>
              <a:t>Click to edit Master title style</a:t>
            </a:r>
          </a:p>
        </p:txBody>
      </p:sp>
      <p:sp>
        <p:nvSpPr>
          <p:cNvPr id="8" name="Text Placeholder 18"/>
          <p:cNvSpPr>
            <a:spLocks noGrp="1"/>
          </p:cNvSpPr>
          <p:nvPr>
            <p:ph idx="1"/>
          </p:nvPr>
        </p:nvSpPr>
        <p:spPr>
          <a:xfrm>
            <a:off x="501652" y="1700213"/>
            <a:ext cx="11165416" cy="4678986"/>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21690221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_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1" y="317502"/>
            <a:ext cx="11188700" cy="334099"/>
          </a:xfrm>
          <a:prstGeom prst="rect">
            <a:avLst/>
          </a:prstGeom>
        </p:spPr>
        <p:txBody>
          <a:bodyPr vert="horz" lIns="0" tIns="0" rIns="0" bIns="0" rtlCol="0" anchor="t" anchorCtr="0">
            <a:noAutofit/>
          </a:bodyPr>
          <a:lstStyle>
            <a:lvl1pPr>
              <a:defRPr sz="2100">
                <a:latin typeface="+mj-lt"/>
              </a:defRPr>
            </a:lvl1pPr>
          </a:lstStyle>
          <a:p>
            <a:r>
              <a:rPr lang="en-US" dirty="0"/>
              <a:t>Click to add title</a:t>
            </a:r>
          </a:p>
        </p:txBody>
      </p:sp>
    </p:spTree>
    <p:extLst>
      <p:ext uri="{BB962C8B-B14F-4D97-AF65-F5344CB8AC3E}">
        <p14:creationId xmlns:p14="http://schemas.microsoft.com/office/powerpoint/2010/main" val="208112467"/>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End slide">
    <p:spTree>
      <p:nvGrpSpPr>
        <p:cNvPr id="1" name=""/>
        <p:cNvGrpSpPr/>
        <p:nvPr/>
      </p:nvGrpSpPr>
      <p:grpSpPr>
        <a:xfrm>
          <a:off x="0" y="0"/>
          <a:ext cx="0" cy="0"/>
          <a:chOff x="0" y="0"/>
          <a:chExt cx="0" cy="0"/>
        </a:xfrm>
      </p:grpSpPr>
      <p:sp>
        <p:nvSpPr>
          <p:cNvPr id="3" name="Text Placeholder 18"/>
          <p:cNvSpPr>
            <a:spLocks noGrp="1"/>
          </p:cNvSpPr>
          <p:nvPr>
            <p:ph idx="1"/>
          </p:nvPr>
        </p:nvSpPr>
        <p:spPr>
          <a:xfrm>
            <a:off x="501651" y="1665290"/>
            <a:ext cx="11165416" cy="4716463"/>
          </a:xfrm>
          <a:prstGeom prst="rect">
            <a:avLst/>
          </a:prstGeom>
        </p:spPr>
        <p:txBody>
          <a:bodyPr vert="horz" lIns="0" tIns="0" rIns="0" bIns="0" rtlCol="0">
            <a:noAutofit/>
          </a:bodyPr>
          <a:lstStyle>
            <a:lvl1pPr marL="0" indent="0" algn="l">
              <a:buFontTx/>
              <a:buNone/>
              <a:defRPr sz="1200">
                <a:latin typeface="+mn-lt"/>
              </a:defRPr>
            </a:lvl1pPr>
            <a:lvl2pPr marL="139690" indent="-139690" algn="l">
              <a:buClrTx/>
              <a:buSzPct val="100000"/>
              <a:buFont typeface="Arial" panose="020B0604020202020204" pitchFamily="34" charset="0"/>
              <a:buChar char="•"/>
              <a:defRPr sz="1200">
                <a:latin typeface="+mj-lt"/>
              </a:defRPr>
            </a:lvl2pPr>
            <a:lvl3pPr marL="304778" indent="-139690" algn="l">
              <a:buClrTx/>
              <a:buSzPct val="100000"/>
              <a:buFont typeface="Arial" panose="020B0604020202020204" pitchFamily="34" charset="0"/>
              <a:buChar char="−"/>
              <a:defRPr sz="1200">
                <a:latin typeface="+mn-lt"/>
              </a:defRPr>
            </a:lvl3pPr>
            <a:lvl4pPr marL="469867" indent="-139690" algn="l">
              <a:buClrTx/>
              <a:buSzPct val="100000"/>
              <a:buFont typeface="Arial" panose="020B0604020202020204" pitchFamily="34" charset="0"/>
              <a:buChar char="◦"/>
              <a:defRPr sz="1200">
                <a:latin typeface="+mn-lt"/>
              </a:defRPr>
            </a:lvl4pPr>
            <a:lvl5pPr marL="634955" indent="-139690" algn="l">
              <a:buClrTx/>
              <a:buSzPct val="100000"/>
              <a:buFont typeface="Arial" panose="020B0604020202020204" pitchFamily="34" charset="0"/>
              <a:buChar char="−"/>
              <a:defRPr sz="12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US" noProof="0" dirty="0"/>
          </a:p>
        </p:txBody>
      </p:sp>
      <p:grpSp>
        <p:nvGrpSpPr>
          <p:cNvPr id="19" name="Group 18">
            <a:extLst>
              <a:ext uri="{FF2B5EF4-FFF2-40B4-BE49-F238E27FC236}">
                <a16:creationId xmlns:a16="http://schemas.microsoft.com/office/drawing/2014/main" id="{6864AC88-71A8-4E5D-B8F0-DE6A766FCAC4}"/>
              </a:ext>
            </a:extLst>
          </p:cNvPr>
          <p:cNvGrpSpPr>
            <a:grpSpLocks noChangeAspect="1"/>
          </p:cNvGrpSpPr>
          <p:nvPr userDrawn="1"/>
        </p:nvGrpSpPr>
        <p:grpSpPr>
          <a:xfrm>
            <a:off x="469900" y="350578"/>
            <a:ext cx="1998000" cy="374400"/>
            <a:chOff x="398463" y="404813"/>
            <a:chExt cx="1627187" cy="307976"/>
          </a:xfrm>
          <a:solidFill>
            <a:schemeClr val="tx1"/>
          </a:solidFill>
        </p:grpSpPr>
        <p:sp>
          <p:nvSpPr>
            <p:cNvPr id="20" name="Oval 5">
              <a:extLst>
                <a:ext uri="{FF2B5EF4-FFF2-40B4-BE49-F238E27FC236}">
                  <a16:creationId xmlns:a16="http://schemas.microsoft.com/office/drawing/2014/main" id="{8E63FCE9-1745-4F67-960F-88370CA226F6}"/>
                </a:ext>
              </a:extLst>
            </p:cNvPr>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6">
              <a:extLst>
                <a:ext uri="{FF2B5EF4-FFF2-40B4-BE49-F238E27FC236}">
                  <a16:creationId xmlns:a16="http://schemas.microsoft.com/office/drawing/2014/main" id="{A306FA2F-25EC-4135-BDA6-DAD246058373}"/>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7">
              <a:extLst>
                <a:ext uri="{FF2B5EF4-FFF2-40B4-BE49-F238E27FC236}">
                  <a16:creationId xmlns:a16="http://schemas.microsoft.com/office/drawing/2014/main" id="{56FEA82E-F8B5-44B7-8CD8-6FA416F414E4}"/>
                </a:ext>
              </a:extLst>
            </p:cNvPr>
            <p:cNvSpPr>
              <a:spLocks noChangeArrowheads="1"/>
            </p:cNvSpPr>
            <p:nvPr userDrawn="1"/>
          </p:nvSpPr>
          <p:spPr bwMode="auto">
            <a:xfrm>
              <a:off x="906463" y="404813"/>
              <a:ext cx="74612" cy="30321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8">
              <a:extLst>
                <a:ext uri="{FF2B5EF4-FFF2-40B4-BE49-F238E27FC236}">
                  <a16:creationId xmlns:a16="http://schemas.microsoft.com/office/drawing/2014/main" id="{768C150B-2388-4284-924A-962D8155598A}"/>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Rectangle 9">
              <a:extLst>
                <a:ext uri="{FF2B5EF4-FFF2-40B4-BE49-F238E27FC236}">
                  <a16:creationId xmlns:a16="http://schemas.microsoft.com/office/drawing/2014/main" id="{4233E59C-62D3-4506-BC18-FCA9C97A174A}"/>
                </a:ext>
              </a:extLst>
            </p:cNvPr>
            <p:cNvSpPr>
              <a:spLocks noChangeArrowheads="1"/>
            </p:cNvSpPr>
            <p:nvPr userDrawn="1"/>
          </p:nvSpPr>
          <p:spPr bwMode="auto">
            <a:xfrm>
              <a:off x="1257300" y="482601"/>
              <a:ext cx="74612" cy="2254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10">
              <a:extLst>
                <a:ext uri="{FF2B5EF4-FFF2-40B4-BE49-F238E27FC236}">
                  <a16:creationId xmlns:a16="http://schemas.microsoft.com/office/drawing/2014/main" id="{1F7C560D-BED9-47C3-BACF-4080521B3D69}"/>
                </a:ext>
              </a:extLst>
            </p:cNvPr>
            <p:cNvSpPr>
              <a:spLocks noChangeArrowheads="1"/>
            </p:cNvSpPr>
            <p:nvPr userDrawn="1"/>
          </p:nvSpPr>
          <p:spPr bwMode="auto">
            <a:xfrm>
              <a:off x="1257300" y="404813"/>
              <a:ext cx="74612" cy="50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1">
              <a:extLst>
                <a:ext uri="{FF2B5EF4-FFF2-40B4-BE49-F238E27FC236}">
                  <a16:creationId xmlns:a16="http://schemas.microsoft.com/office/drawing/2014/main" id="{CAED97FA-7F84-4484-99E2-54CA0A2C3B5B}"/>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2">
              <a:extLst>
                <a:ext uri="{FF2B5EF4-FFF2-40B4-BE49-F238E27FC236}">
                  <a16:creationId xmlns:a16="http://schemas.microsoft.com/office/drawing/2014/main" id="{77129045-66C6-44E5-92C9-034E4D5ADDA7}"/>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3">
              <a:extLst>
                <a:ext uri="{FF2B5EF4-FFF2-40B4-BE49-F238E27FC236}">
                  <a16:creationId xmlns:a16="http://schemas.microsoft.com/office/drawing/2014/main" id="{B51F1447-6DA3-404D-8048-E745EC5DD96A}"/>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4">
              <a:extLst>
                <a:ext uri="{FF2B5EF4-FFF2-40B4-BE49-F238E27FC236}">
                  <a16:creationId xmlns:a16="http://schemas.microsoft.com/office/drawing/2014/main" id="{0B0F1B7E-73B3-48C5-8571-856DECCDE293}"/>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2146522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1_Key statement teal">
    <p:bg>
      <p:bgPr>
        <a:solidFill>
          <a:schemeClr val="tx1"/>
        </a:solidFill>
        <a:effectLst/>
      </p:bgPr>
    </p:bg>
    <p:spTree>
      <p:nvGrpSpPr>
        <p:cNvPr id="1" name=""/>
        <p:cNvGrpSpPr/>
        <p:nvPr/>
      </p:nvGrpSpPr>
      <p:grpSpPr>
        <a:xfrm>
          <a:off x="0" y="0"/>
          <a:ext cx="0" cy="0"/>
          <a:chOff x="0" y="0"/>
          <a:chExt cx="0" cy="0"/>
        </a:xfrm>
      </p:grpSpPr>
      <p:sp>
        <p:nvSpPr>
          <p:cNvPr id="94" name="TextBox 93"/>
          <p:cNvSpPr txBox="1"/>
          <p:nvPr userDrawn="1"/>
        </p:nvSpPr>
        <p:spPr>
          <a:xfrm>
            <a:off x="11414619"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270" name="Title Placeholder 1"/>
          <p:cNvSpPr>
            <a:spLocks noGrp="1"/>
          </p:cNvSpPr>
          <p:nvPr>
            <p:ph type="title"/>
          </p:nvPr>
        </p:nvSpPr>
        <p:spPr>
          <a:xfrm>
            <a:off x="469899" y="395762"/>
            <a:ext cx="11251691" cy="334102"/>
          </a:xfrm>
          <a:prstGeom prst="rect">
            <a:avLst/>
          </a:prstGeom>
        </p:spPr>
        <p:txBody>
          <a:bodyPr vert="horz" lIns="0" tIns="0" rIns="0" bIns="0" rtlCol="0" anchor="t" anchorCtr="0">
            <a:noAutofit/>
          </a:bodyPr>
          <a:lstStyle>
            <a:lvl1pPr>
              <a:defRPr sz="2000" b="0">
                <a:solidFill>
                  <a:srgbClr val="C4D600"/>
                </a:solidFill>
              </a:defRPr>
            </a:lvl1pPr>
          </a:lstStyle>
          <a:p>
            <a:r>
              <a:rPr lang="en-US" noProof="0" dirty="0"/>
              <a:t>Click to edit Master title style</a:t>
            </a:r>
          </a:p>
        </p:txBody>
      </p:sp>
      <p:sp>
        <p:nvSpPr>
          <p:cNvPr id="271" name="Content Placeholder 7"/>
          <p:cNvSpPr>
            <a:spLocks noGrp="1"/>
          </p:cNvSpPr>
          <p:nvPr>
            <p:ph sz="quarter" idx="10"/>
          </p:nvPr>
        </p:nvSpPr>
        <p:spPr>
          <a:xfrm>
            <a:off x="469899" y="729864"/>
            <a:ext cx="11251691" cy="848111"/>
          </a:xfrm>
        </p:spPr>
        <p:txBody>
          <a:bodyPr/>
          <a:lstStyle>
            <a:lvl1pPr algn="l" defTabSz="1219170" rtl="0" eaLnBrk="1" latinLnBrk="0" hangingPunct="1">
              <a:spcBef>
                <a:spcPct val="0"/>
              </a:spcBef>
              <a:buNone/>
              <a:defRPr lang="en-US" sz="1800" kern="1200" dirty="0" smtClean="0">
                <a:solidFill>
                  <a:schemeClr val="bg1">
                    <a:lumMod val="85000"/>
                  </a:schemeClr>
                </a:solidFill>
                <a:latin typeface="+mj-lt"/>
                <a:ea typeface="+mj-ea"/>
                <a:cs typeface="+mj-cs"/>
              </a:defRPr>
            </a:lvl1pPr>
          </a:lstStyle>
          <a:p>
            <a:pPr lvl="0"/>
            <a:r>
              <a:rPr lang="en-US" dirty="0"/>
              <a:t>Edit Master text styles</a:t>
            </a:r>
          </a:p>
        </p:txBody>
      </p:sp>
    </p:spTree>
    <p:extLst>
      <p:ext uri="{BB962C8B-B14F-4D97-AF65-F5344CB8AC3E}">
        <p14:creationId xmlns:p14="http://schemas.microsoft.com/office/powerpoint/2010/main" val="4189258363"/>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subtitle &amp; chart">
    <p:spTree>
      <p:nvGrpSpPr>
        <p:cNvPr id="1" name=""/>
        <p:cNvGrpSpPr/>
        <p:nvPr/>
      </p:nvGrpSpPr>
      <p:grpSpPr>
        <a:xfrm>
          <a:off x="0" y="0"/>
          <a:ext cx="0" cy="0"/>
          <a:chOff x="0" y="0"/>
          <a:chExt cx="0" cy="0"/>
        </a:xfrm>
      </p:grpSpPr>
      <p:sp>
        <p:nvSpPr>
          <p:cNvPr id="8" name="Title Placeholder 1"/>
          <p:cNvSpPr>
            <a:spLocks noGrp="1"/>
          </p:cNvSpPr>
          <p:nvPr>
            <p:ph type="title"/>
          </p:nvPr>
        </p:nvSpPr>
        <p:spPr bwMode="gray">
          <a:xfrm>
            <a:off x="501651" y="307975"/>
            <a:ext cx="11192256" cy="365760"/>
          </a:xfrm>
          <a:prstGeom prst="rect">
            <a:avLst/>
          </a:prstGeom>
        </p:spPr>
        <p:txBody>
          <a:bodyPr vert="horz" lIns="0" tIns="0" rIns="0" bIns="0" rtlCol="0" anchor="t" anchorCtr="0">
            <a:noAutofit/>
          </a:bodyPr>
          <a:lstStyle/>
          <a:p>
            <a:r>
              <a:rPr lang="en-US" noProof="0" dirty="0"/>
              <a:t>Click to edit Master title style</a:t>
            </a:r>
          </a:p>
        </p:txBody>
      </p:sp>
      <p:sp>
        <p:nvSpPr>
          <p:cNvPr id="9" name="Text Placeholder 8"/>
          <p:cNvSpPr>
            <a:spLocks noGrp="1"/>
          </p:cNvSpPr>
          <p:nvPr>
            <p:ph type="body" sz="quarter" idx="13" hasCustomPrompt="1"/>
          </p:nvPr>
        </p:nvSpPr>
        <p:spPr>
          <a:xfrm>
            <a:off x="501651" y="669124"/>
            <a:ext cx="11192256" cy="626418"/>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2917127171"/>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2173717"/>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Divider - Deloitte green accent 4">
    <p:bg bwMode="gray">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992248"/>
      </p:ext>
    </p:extLst>
  </p:cSld>
  <p:clrMapOvr>
    <a:masterClrMapping/>
  </p:clrMapOvr>
  <p:transition>
    <p:fade/>
  </p:transition>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1_Title Slide - Black">
    <p:bg bwMode="gray">
      <p:bgPr>
        <a:solidFill>
          <a:schemeClr val="tx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501651" y="304800"/>
            <a:ext cx="1998000" cy="374400"/>
            <a:chOff x="398463" y="404813"/>
            <a:chExt cx="1627187" cy="307976"/>
          </a:xfrm>
          <a:solidFill>
            <a:schemeClr val="bg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accent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869342" y="1203221"/>
            <a:ext cx="4448748" cy="4448748"/>
          </a:xfrm>
          <a:prstGeom prst="rect">
            <a:avLst/>
          </a:prstGeom>
        </p:spPr>
        <p:txBody>
          <a:bodyPr/>
          <a:lstStyle/>
          <a:p>
            <a:r>
              <a:rPr lang="en-US" noProof="0" dirty="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495299" y="5408938"/>
            <a:ext cx="6327774" cy="416140"/>
          </a:xfrm>
          <a:prstGeom prst="rect">
            <a:avLst/>
          </a:prstGeom>
        </p:spPr>
        <p:txBody>
          <a:bodyPr anchor="b" anchorCtr="0">
            <a:spAutoFit/>
          </a:bodyPr>
          <a:lstStyle>
            <a:lvl1pPr algn="l">
              <a:lnSpc>
                <a:spcPts val="3200"/>
              </a:lnSpc>
              <a:defRPr sz="3200" b="0">
                <a:solidFill>
                  <a:schemeClr val="accent1"/>
                </a:solidFill>
                <a:latin typeface="Calibri Light" panose="020F0302020204030204" pitchFamily="34" charset="0"/>
                <a:ea typeface="Calibri" panose="020F0502020204030204" pitchFamily="34" charset="0"/>
                <a:cs typeface="Calibri Light" panose="020F0302020204030204" pitchFamily="34" charset="0"/>
              </a:defRPr>
            </a:lvl1pPr>
          </a:lstStyle>
          <a:p>
            <a:r>
              <a:rPr lang="en-US" noProof="0" dirty="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95299" y="6435989"/>
            <a:ext cx="6327775" cy="215444"/>
          </a:xfrm>
          <a:prstGeom prst="rect">
            <a:avLst/>
          </a:prstGeom>
        </p:spPr>
        <p:txBody>
          <a:bodyPr anchor="b">
            <a:spAutoFit/>
          </a:bodyPr>
          <a:lstStyle>
            <a:lvl1pPr>
              <a:spcAft>
                <a:spcPts val="0"/>
              </a:spcAft>
              <a:defRPr sz="1400" b="1">
                <a:solidFill>
                  <a:schemeClr val="bg1"/>
                </a:solidFill>
                <a:latin typeface="+mj-lt"/>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Master text styles</a:t>
            </a:r>
          </a:p>
        </p:txBody>
      </p:sp>
      <p:sp>
        <p:nvSpPr>
          <p:cNvPr id="3" name="Text Placeholder 2"/>
          <p:cNvSpPr>
            <a:spLocks noGrp="1"/>
          </p:cNvSpPr>
          <p:nvPr>
            <p:ph type="body" sz="quarter" idx="12" hasCustomPrompt="1"/>
          </p:nvPr>
        </p:nvSpPr>
        <p:spPr>
          <a:xfrm>
            <a:off x="495299" y="5849179"/>
            <a:ext cx="6327775" cy="323165"/>
          </a:xfrm>
        </p:spPr>
        <p:txBody>
          <a:bodyPr wrap="square" anchor="b" anchorCtr="0">
            <a:spAutoFit/>
          </a:bodyPr>
          <a:lstStyle>
            <a:lvl1pPr>
              <a:defRPr sz="2100">
                <a:solidFill>
                  <a:schemeClr val="bg1"/>
                </a:solidFill>
                <a:latin typeface="Calibri Light" panose="020F0302020204030204" pitchFamily="34" charset="0"/>
                <a:cs typeface="Calibri Light" panose="020F03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Edit Master text styles</a:t>
            </a:r>
          </a:p>
        </p:txBody>
      </p:sp>
      <p:sp>
        <p:nvSpPr>
          <p:cNvPr id="4" name="Text Placeholder 3">
            <a:extLst>
              <a:ext uri="{FF2B5EF4-FFF2-40B4-BE49-F238E27FC236}">
                <a16:creationId xmlns:a16="http://schemas.microsoft.com/office/drawing/2014/main" id="{7D482699-9BC5-4D61-86B8-F23A48252BDF}"/>
              </a:ext>
            </a:extLst>
          </p:cNvPr>
          <p:cNvSpPr>
            <a:spLocks noGrp="1"/>
          </p:cNvSpPr>
          <p:nvPr>
            <p:ph type="body" sz="quarter" idx="13"/>
          </p:nvPr>
        </p:nvSpPr>
        <p:spPr>
          <a:xfrm>
            <a:off x="495299" y="6196445"/>
            <a:ext cx="5594350" cy="215444"/>
          </a:xfrm>
        </p:spPr>
        <p:txBody>
          <a:bodyPr>
            <a:spAutoFit/>
          </a:bodyPr>
          <a:lstStyle>
            <a:lvl1pPr>
              <a:defRPr sz="1400" b="1">
                <a:solidFill>
                  <a:schemeClr val="bg1"/>
                </a:solidFill>
                <a:latin typeface="+mj-lt"/>
              </a:defRPr>
            </a:lvl1pPr>
            <a:lvl2pPr>
              <a:defRPr sz="1400">
                <a:solidFill>
                  <a:schemeClr val="bg1"/>
                </a:solidFill>
                <a:latin typeface="+mj-lt"/>
              </a:defRPr>
            </a:lvl2pPr>
            <a:lvl3pPr>
              <a:defRPr sz="1400">
                <a:solidFill>
                  <a:schemeClr val="bg1"/>
                </a:solidFill>
                <a:latin typeface="+mj-lt"/>
              </a:defRPr>
            </a:lvl3pPr>
            <a:lvl4pPr>
              <a:defRPr sz="1400">
                <a:solidFill>
                  <a:schemeClr val="bg1"/>
                </a:solidFill>
                <a:latin typeface="+mj-lt"/>
              </a:defRPr>
            </a:lvl4pPr>
            <a:lvl5pPr>
              <a:defRPr sz="1400">
                <a:solidFill>
                  <a:schemeClr val="bg1"/>
                </a:solidFill>
                <a:latin typeface="+mj-lt"/>
              </a:defRPr>
            </a:lvl5pPr>
          </a:lstStyle>
          <a:p>
            <a:pPr lvl="0"/>
            <a:r>
              <a:rPr lang="en-US" dirty="0"/>
              <a:t>Click to edit Master text styles</a:t>
            </a:r>
            <a:endParaRPr lang="en-IN" dirty="0"/>
          </a:p>
        </p:txBody>
      </p:sp>
    </p:spTree>
    <p:extLst>
      <p:ext uri="{BB962C8B-B14F-4D97-AF65-F5344CB8AC3E}">
        <p14:creationId xmlns:p14="http://schemas.microsoft.com/office/powerpoint/2010/main" val="2323296301"/>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2014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2014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417523794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0"/>
            <a:ext cx="11201400"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3744958525"/>
      </p:ext>
    </p:extLst>
  </p:cSld>
  <p:clrMapOvr>
    <a:masterClrMapping/>
  </p:clrMapOvr>
  <p:transition>
    <p:fade/>
  </p:transition>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black">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237719"/>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End slide">
    <p:bg>
      <p:bgPr>
        <a:solidFill>
          <a:schemeClr val="bg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495300" y="4231004"/>
            <a:ext cx="11201400" cy="2169796"/>
          </a:xfrm>
        </p:spPr>
        <p:txBody>
          <a:bodyPr anchor="b" anchorCtr="0"/>
          <a:lstStyle>
            <a:lvl1pPr>
              <a:lnSpc>
                <a:spcPct val="100000"/>
              </a:lnSpc>
              <a:spcAft>
                <a:spcPts val="600"/>
              </a:spcAft>
              <a:defRPr sz="900">
                <a:solidFill>
                  <a:schemeClr val="bg1"/>
                </a:solidFill>
              </a:defRPr>
            </a:lvl1pPr>
          </a:lstStyle>
          <a:p>
            <a:pPr lvl="0"/>
            <a:r>
              <a:rPr lang="en-US"/>
              <a:t>Click to edit Master text styles</a:t>
            </a:r>
          </a:p>
        </p:txBody>
      </p:sp>
      <p:grpSp>
        <p:nvGrpSpPr>
          <p:cNvPr id="14" name="Group 13">
            <a:extLst>
              <a:ext uri="{FF2B5EF4-FFF2-40B4-BE49-F238E27FC236}">
                <a16:creationId xmlns:a16="http://schemas.microsoft.com/office/drawing/2014/main" id="{56FC3EA7-1721-423E-BD92-BF52C8E55ED3}"/>
              </a:ext>
            </a:extLst>
          </p:cNvPr>
          <p:cNvGrpSpPr>
            <a:grpSpLocks noChangeAspect="1"/>
          </p:cNvGrpSpPr>
          <p:nvPr userDrawn="1"/>
        </p:nvGrpSpPr>
        <p:grpSpPr>
          <a:xfrm>
            <a:off x="501652" y="307975"/>
            <a:ext cx="1998000" cy="374400"/>
            <a:chOff x="398463" y="404813"/>
            <a:chExt cx="1627187" cy="307976"/>
          </a:xfrm>
          <a:solidFill>
            <a:schemeClr val="tx1"/>
          </a:solidFill>
        </p:grpSpPr>
        <p:sp>
          <p:nvSpPr>
            <p:cNvPr id="15" name="Oval 5">
              <a:extLst>
                <a:ext uri="{FF2B5EF4-FFF2-40B4-BE49-F238E27FC236}">
                  <a16:creationId xmlns:a16="http://schemas.microsoft.com/office/drawing/2014/main" id="{E561C1C1-2B98-4CC9-8F98-D7A4B407B2E1}"/>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6" name="Freeform 6">
              <a:extLst>
                <a:ext uri="{FF2B5EF4-FFF2-40B4-BE49-F238E27FC236}">
                  <a16:creationId xmlns:a16="http://schemas.microsoft.com/office/drawing/2014/main" id="{B54708D0-C022-4036-985F-DC8A697DE0E5}"/>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7" name="Rectangle 16">
              <a:extLst>
                <a:ext uri="{FF2B5EF4-FFF2-40B4-BE49-F238E27FC236}">
                  <a16:creationId xmlns:a16="http://schemas.microsoft.com/office/drawing/2014/main" id="{7BFE37DE-F4EB-4923-848C-6A29C41CCEC4}"/>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8">
              <a:extLst>
                <a:ext uri="{FF2B5EF4-FFF2-40B4-BE49-F238E27FC236}">
                  <a16:creationId xmlns:a16="http://schemas.microsoft.com/office/drawing/2014/main" id="{A094F87C-0B97-448C-92EA-7E9861F0E722}"/>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18">
              <a:extLst>
                <a:ext uri="{FF2B5EF4-FFF2-40B4-BE49-F238E27FC236}">
                  <a16:creationId xmlns:a16="http://schemas.microsoft.com/office/drawing/2014/main" id="{2F949800-976D-4AF6-B49C-8ED71527CE65}"/>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Rectangle 30">
              <a:extLst>
                <a:ext uri="{FF2B5EF4-FFF2-40B4-BE49-F238E27FC236}">
                  <a16:creationId xmlns:a16="http://schemas.microsoft.com/office/drawing/2014/main" id="{B431FBA3-8BD7-494A-AB40-4F1160D440BE}"/>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1">
              <a:extLst>
                <a:ext uri="{FF2B5EF4-FFF2-40B4-BE49-F238E27FC236}">
                  <a16:creationId xmlns:a16="http://schemas.microsoft.com/office/drawing/2014/main" id="{68729F5B-D88D-4677-B7AE-7EC541EE5E92}"/>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Freeform 12">
              <a:extLst>
                <a:ext uri="{FF2B5EF4-FFF2-40B4-BE49-F238E27FC236}">
                  <a16:creationId xmlns:a16="http://schemas.microsoft.com/office/drawing/2014/main" id="{2482CA86-669E-4652-BD41-41145EFF2CE2}"/>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3">
              <a:extLst>
                <a:ext uri="{FF2B5EF4-FFF2-40B4-BE49-F238E27FC236}">
                  <a16:creationId xmlns:a16="http://schemas.microsoft.com/office/drawing/2014/main" id="{62A2206A-76FD-4C0E-96B4-23AA91BBDC91}"/>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4">
              <a:extLst>
                <a:ext uri="{FF2B5EF4-FFF2-40B4-BE49-F238E27FC236}">
                  <a16:creationId xmlns:a16="http://schemas.microsoft.com/office/drawing/2014/main" id="{EFBC7E22-7B38-44FB-A62F-4F39614B48A4}"/>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9190229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lvl1pPr marL="0" indent="0" algn="l">
              <a:buFontTx/>
              <a:buNone/>
              <a:defRPr/>
            </a:lvl1pPr>
            <a:lvl2pPr marL="127000" indent="-127000" algn="l">
              <a:buClrTx/>
              <a:buSzPct val="100000"/>
              <a:buFont typeface="Arial" panose="020B0604020202020204" pitchFamily="34" charset="0"/>
              <a:buChar char="•"/>
              <a:defRPr/>
            </a:lvl2pPr>
            <a:lvl3pPr marL="279400" indent="-127000" algn="l">
              <a:buClrTx/>
              <a:buSzPct val="100000"/>
              <a:buFont typeface="Arial" panose="020B0604020202020204" pitchFamily="34" charset="0"/>
              <a:buChar char="−"/>
              <a:defRPr/>
            </a:lvl3pPr>
            <a:lvl4pPr marL="431800" indent="-127000" algn="l">
              <a:buClrTx/>
              <a:buSzPct val="100000"/>
              <a:buFont typeface="Arial" panose="020B0604020202020204" pitchFamily="34" charset="0"/>
              <a:buChar char="◦"/>
              <a:defRPr/>
            </a:lvl4pPr>
            <a:lvl5pPr marL="584200" indent="-127000" algn="l">
              <a:buClrTx/>
              <a:buSzPct val="100000"/>
              <a:buFont typeface="Arial" panose="020B0604020202020204" pitchFamily="34" charset="0"/>
              <a:buChar char="−"/>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652084991"/>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End slide">
    <p:spTree>
      <p:nvGrpSpPr>
        <p:cNvPr id="1" name=""/>
        <p:cNvGrpSpPr/>
        <p:nvPr/>
      </p:nvGrpSpPr>
      <p:grpSpPr>
        <a:xfrm>
          <a:off x="0" y="0"/>
          <a:ext cx="0" cy="0"/>
          <a:chOff x="0" y="0"/>
          <a:chExt cx="0" cy="0"/>
        </a:xfrm>
      </p:grpSpPr>
      <p:sp>
        <p:nvSpPr>
          <p:cNvPr id="3" name="Text Placeholder 18"/>
          <p:cNvSpPr>
            <a:spLocks noGrp="1"/>
          </p:cNvSpPr>
          <p:nvPr>
            <p:ph idx="1"/>
          </p:nvPr>
        </p:nvSpPr>
        <p:spPr>
          <a:xfrm>
            <a:off x="501651" y="1665290"/>
            <a:ext cx="11165416" cy="4716463"/>
          </a:xfrm>
          <a:prstGeom prst="rect">
            <a:avLst/>
          </a:prstGeom>
        </p:spPr>
        <p:txBody>
          <a:bodyPr vert="horz" lIns="0" tIns="0" rIns="0" bIns="0" rtlCol="0">
            <a:noAutofit/>
          </a:bodyPr>
          <a:lstStyle>
            <a:lvl1pPr marL="0" indent="0" algn="l">
              <a:buFontTx/>
              <a:buNone/>
              <a:defRPr sz="1200">
                <a:latin typeface="+mn-lt"/>
              </a:defRPr>
            </a:lvl1pPr>
            <a:lvl2pPr marL="139690" indent="-139690" algn="l">
              <a:buClrTx/>
              <a:buSzPct val="100000"/>
              <a:buFont typeface="Arial" panose="020B0604020202020204" pitchFamily="34" charset="0"/>
              <a:buChar char="•"/>
              <a:defRPr sz="1200">
                <a:latin typeface="+mj-lt"/>
              </a:defRPr>
            </a:lvl2pPr>
            <a:lvl3pPr marL="304778" indent="-139690" algn="l">
              <a:buClrTx/>
              <a:buSzPct val="100000"/>
              <a:buFont typeface="Arial" panose="020B0604020202020204" pitchFamily="34" charset="0"/>
              <a:buChar char="−"/>
              <a:defRPr sz="1200">
                <a:latin typeface="+mn-lt"/>
              </a:defRPr>
            </a:lvl3pPr>
            <a:lvl4pPr marL="469867" indent="-139690" algn="l">
              <a:buClrTx/>
              <a:buSzPct val="100000"/>
              <a:buFont typeface="Arial" panose="020B0604020202020204" pitchFamily="34" charset="0"/>
              <a:buChar char="◦"/>
              <a:defRPr sz="1200">
                <a:latin typeface="+mn-lt"/>
              </a:defRPr>
            </a:lvl4pPr>
            <a:lvl5pPr marL="634955" indent="-139690" algn="l">
              <a:buClrTx/>
              <a:buSzPct val="100000"/>
              <a:buFont typeface="Arial" panose="020B0604020202020204" pitchFamily="34" charset="0"/>
              <a:buChar char="−"/>
              <a:defRPr sz="12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US" noProof="0" dirty="0"/>
          </a:p>
        </p:txBody>
      </p:sp>
      <p:grpSp>
        <p:nvGrpSpPr>
          <p:cNvPr id="19" name="Group 18">
            <a:extLst>
              <a:ext uri="{FF2B5EF4-FFF2-40B4-BE49-F238E27FC236}">
                <a16:creationId xmlns:a16="http://schemas.microsoft.com/office/drawing/2014/main" id="{6864AC88-71A8-4E5D-B8F0-DE6A766FCAC4}"/>
              </a:ext>
            </a:extLst>
          </p:cNvPr>
          <p:cNvGrpSpPr>
            <a:grpSpLocks noChangeAspect="1"/>
          </p:cNvGrpSpPr>
          <p:nvPr userDrawn="1"/>
        </p:nvGrpSpPr>
        <p:grpSpPr>
          <a:xfrm>
            <a:off x="469900" y="350578"/>
            <a:ext cx="1998000" cy="374400"/>
            <a:chOff x="398463" y="404813"/>
            <a:chExt cx="1627187" cy="307976"/>
          </a:xfrm>
          <a:solidFill>
            <a:schemeClr val="tx1"/>
          </a:solidFill>
        </p:grpSpPr>
        <p:sp>
          <p:nvSpPr>
            <p:cNvPr id="20" name="Oval 5">
              <a:extLst>
                <a:ext uri="{FF2B5EF4-FFF2-40B4-BE49-F238E27FC236}">
                  <a16:creationId xmlns:a16="http://schemas.microsoft.com/office/drawing/2014/main" id="{8E63FCE9-1745-4F67-960F-88370CA226F6}"/>
                </a:ext>
              </a:extLst>
            </p:cNvPr>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6">
              <a:extLst>
                <a:ext uri="{FF2B5EF4-FFF2-40B4-BE49-F238E27FC236}">
                  <a16:creationId xmlns:a16="http://schemas.microsoft.com/office/drawing/2014/main" id="{A306FA2F-25EC-4135-BDA6-DAD246058373}"/>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7">
              <a:extLst>
                <a:ext uri="{FF2B5EF4-FFF2-40B4-BE49-F238E27FC236}">
                  <a16:creationId xmlns:a16="http://schemas.microsoft.com/office/drawing/2014/main" id="{56FEA82E-F8B5-44B7-8CD8-6FA416F414E4}"/>
                </a:ext>
              </a:extLst>
            </p:cNvPr>
            <p:cNvSpPr>
              <a:spLocks noChangeArrowheads="1"/>
            </p:cNvSpPr>
            <p:nvPr userDrawn="1"/>
          </p:nvSpPr>
          <p:spPr bwMode="auto">
            <a:xfrm>
              <a:off x="906463" y="404813"/>
              <a:ext cx="74612" cy="30321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8">
              <a:extLst>
                <a:ext uri="{FF2B5EF4-FFF2-40B4-BE49-F238E27FC236}">
                  <a16:creationId xmlns:a16="http://schemas.microsoft.com/office/drawing/2014/main" id="{768C150B-2388-4284-924A-962D8155598A}"/>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Rectangle 9">
              <a:extLst>
                <a:ext uri="{FF2B5EF4-FFF2-40B4-BE49-F238E27FC236}">
                  <a16:creationId xmlns:a16="http://schemas.microsoft.com/office/drawing/2014/main" id="{4233E59C-62D3-4506-BC18-FCA9C97A174A}"/>
                </a:ext>
              </a:extLst>
            </p:cNvPr>
            <p:cNvSpPr>
              <a:spLocks noChangeArrowheads="1"/>
            </p:cNvSpPr>
            <p:nvPr userDrawn="1"/>
          </p:nvSpPr>
          <p:spPr bwMode="auto">
            <a:xfrm>
              <a:off x="1257300" y="482601"/>
              <a:ext cx="74612" cy="2254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10">
              <a:extLst>
                <a:ext uri="{FF2B5EF4-FFF2-40B4-BE49-F238E27FC236}">
                  <a16:creationId xmlns:a16="http://schemas.microsoft.com/office/drawing/2014/main" id="{1F7C560D-BED9-47C3-BACF-4080521B3D69}"/>
                </a:ext>
              </a:extLst>
            </p:cNvPr>
            <p:cNvSpPr>
              <a:spLocks noChangeArrowheads="1"/>
            </p:cNvSpPr>
            <p:nvPr userDrawn="1"/>
          </p:nvSpPr>
          <p:spPr bwMode="auto">
            <a:xfrm>
              <a:off x="1257300" y="404813"/>
              <a:ext cx="74612" cy="50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1">
              <a:extLst>
                <a:ext uri="{FF2B5EF4-FFF2-40B4-BE49-F238E27FC236}">
                  <a16:creationId xmlns:a16="http://schemas.microsoft.com/office/drawing/2014/main" id="{CAED97FA-7F84-4484-99E2-54CA0A2C3B5B}"/>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2">
              <a:extLst>
                <a:ext uri="{FF2B5EF4-FFF2-40B4-BE49-F238E27FC236}">
                  <a16:creationId xmlns:a16="http://schemas.microsoft.com/office/drawing/2014/main" id="{77129045-66C6-44E5-92C9-034E4D5ADDA7}"/>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3">
              <a:extLst>
                <a:ext uri="{FF2B5EF4-FFF2-40B4-BE49-F238E27FC236}">
                  <a16:creationId xmlns:a16="http://schemas.microsoft.com/office/drawing/2014/main" id="{B51F1447-6DA3-404D-8048-E745EC5DD96A}"/>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4">
              <a:extLst>
                <a:ext uri="{FF2B5EF4-FFF2-40B4-BE49-F238E27FC236}">
                  <a16:creationId xmlns:a16="http://schemas.microsoft.com/office/drawing/2014/main" id="{0B0F1B7E-73B3-48C5-8571-856DECCDE293}"/>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51673265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Title, subtitle &amp; chart">
    <p:spTree>
      <p:nvGrpSpPr>
        <p:cNvPr id="1" name=""/>
        <p:cNvGrpSpPr/>
        <p:nvPr/>
      </p:nvGrpSpPr>
      <p:grpSpPr>
        <a:xfrm>
          <a:off x="0" y="0"/>
          <a:ext cx="0" cy="0"/>
          <a:chOff x="0" y="0"/>
          <a:chExt cx="0" cy="0"/>
        </a:xfrm>
      </p:grpSpPr>
      <p:sp>
        <p:nvSpPr>
          <p:cNvPr id="8" name="Title Placeholder 1"/>
          <p:cNvSpPr>
            <a:spLocks noGrp="1"/>
          </p:cNvSpPr>
          <p:nvPr>
            <p:ph type="title"/>
          </p:nvPr>
        </p:nvSpPr>
        <p:spPr bwMode="gray">
          <a:xfrm>
            <a:off x="501651" y="307975"/>
            <a:ext cx="11192256" cy="365760"/>
          </a:xfrm>
          <a:prstGeom prst="rect">
            <a:avLst/>
          </a:prstGeom>
        </p:spPr>
        <p:txBody>
          <a:bodyPr vert="horz" lIns="0" tIns="0" rIns="0" bIns="0" rtlCol="0" anchor="t" anchorCtr="0">
            <a:noAutofit/>
          </a:bodyPr>
          <a:lstStyle/>
          <a:p>
            <a:r>
              <a:rPr lang="en-US" noProof="0" dirty="0"/>
              <a:t>Click to edit Master title style</a:t>
            </a:r>
          </a:p>
        </p:txBody>
      </p:sp>
      <p:sp>
        <p:nvSpPr>
          <p:cNvPr id="9" name="Text Placeholder 8"/>
          <p:cNvSpPr>
            <a:spLocks noGrp="1"/>
          </p:cNvSpPr>
          <p:nvPr>
            <p:ph type="body" sz="quarter" idx="13" hasCustomPrompt="1"/>
          </p:nvPr>
        </p:nvSpPr>
        <p:spPr>
          <a:xfrm>
            <a:off x="501651" y="669124"/>
            <a:ext cx="11192256" cy="626418"/>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1544762563"/>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Title New">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3BBABC4F-611D-45AA-96CD-C45E11F22888}"/>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sp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236532515"/>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userDrawn="1">
  <p:cSld name="Divider - Deloitte green accent 4">
    <p:bg bwMode="gray">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9804978"/>
      </p:ext>
    </p:extLst>
  </p:cSld>
  <p:clrMapOvr>
    <a:masterClrMapping/>
  </p:clrMapOvr>
  <p:transition>
    <p:fade/>
  </p:transition>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1_Divider - Deloitte dark blue">
    <p:bg bwMode="gray">
      <p:bgPr>
        <a:solidFill>
          <a:schemeClr val="bg1"/>
        </a:solidFill>
        <a:effectLst/>
      </p:bgPr>
    </p:bg>
    <p:spTree>
      <p:nvGrpSpPr>
        <p:cNvPr id="1" name=""/>
        <p:cNvGrpSpPr/>
        <p:nvPr/>
      </p:nvGrpSpPr>
      <p:grpSpPr>
        <a:xfrm>
          <a:off x="0" y="0"/>
          <a:ext cx="0" cy="0"/>
          <a:chOff x="0" y="0"/>
          <a:chExt cx="0" cy="0"/>
        </a:xfrm>
      </p:grpSpPr>
      <p:sp>
        <p:nvSpPr>
          <p:cNvPr id="19" name="Text Placeholder 2"/>
          <p:cNvSpPr>
            <a:spLocks noGrp="1"/>
          </p:cNvSpPr>
          <p:nvPr>
            <p:ph type="body" idx="1"/>
          </p:nvPr>
        </p:nvSpPr>
        <p:spPr bwMode="gray">
          <a:xfrm>
            <a:off x="469900" y="3429000"/>
            <a:ext cx="10418233" cy="2870200"/>
          </a:xfrm>
        </p:spPr>
        <p:txBody>
          <a:bodyPr lIns="0" tIns="0" rIns="0" bIns="0">
            <a:noAutofit/>
          </a:bodyPr>
          <a:lstStyle>
            <a:lvl1pPr marL="0" indent="0">
              <a:lnSpc>
                <a:spcPct val="95000"/>
              </a:lnSpc>
              <a:spcAft>
                <a:spcPts val="0"/>
              </a:spcAft>
              <a:buNone/>
              <a:defRPr sz="90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grpSp>
        <p:nvGrpSpPr>
          <p:cNvPr id="5" name="Group 4"/>
          <p:cNvGrpSpPr>
            <a:grpSpLocks noChangeAspect="1"/>
          </p:cNvGrpSpPr>
          <p:nvPr userDrawn="1"/>
        </p:nvGrpSpPr>
        <p:grpSpPr>
          <a:xfrm>
            <a:off x="475325" y="457200"/>
            <a:ext cx="1998000" cy="374400"/>
            <a:chOff x="398463" y="404813"/>
            <a:chExt cx="1627187" cy="307976"/>
          </a:xfrm>
          <a:solidFill>
            <a:schemeClr val="tx1"/>
          </a:solidFill>
        </p:grpSpPr>
        <p:sp>
          <p:nvSpPr>
            <p:cNvPr id="6"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7"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8"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9"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0"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25238934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17"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dirty="0"/>
              <a:t>Click to edit Master title style</a:t>
            </a:r>
          </a:p>
          <a:p>
            <a:pPr marL="0" marR="0" lvl="1" indent="0" algn="l" defTabSz="914417"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38" name="Group 37">
            <a:extLst>
              <a:ext uri="{FF2B5EF4-FFF2-40B4-BE49-F238E27FC236}">
                <a16:creationId xmlns:a16="http://schemas.microsoft.com/office/drawing/2014/main" id="{0B587665-00C2-4C79-A92A-82CBD5C7C9BF}"/>
              </a:ext>
            </a:extLst>
          </p:cNvPr>
          <p:cNvGrpSpPr>
            <a:grpSpLocks noChangeAspect="1"/>
          </p:cNvGrpSpPr>
          <p:nvPr userDrawn="1"/>
        </p:nvGrpSpPr>
        <p:grpSpPr>
          <a:xfrm>
            <a:off x="476249" y="466901"/>
            <a:ext cx="1990726" cy="358908"/>
            <a:chOff x="398463" y="404813"/>
            <a:chExt cx="1627187" cy="307976"/>
          </a:xfrm>
          <a:solidFill>
            <a:schemeClr val="bg1"/>
          </a:solidFill>
        </p:grpSpPr>
        <p:sp>
          <p:nvSpPr>
            <p:cNvPr id="39" name="Oval 5">
              <a:extLst>
                <a:ext uri="{FF2B5EF4-FFF2-40B4-BE49-F238E27FC236}">
                  <a16:creationId xmlns:a16="http://schemas.microsoft.com/office/drawing/2014/main" id="{065F008B-E0E6-4AC7-A8F1-0E564CDB799E}"/>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40" name="Freeform 6">
              <a:extLst>
                <a:ext uri="{FF2B5EF4-FFF2-40B4-BE49-F238E27FC236}">
                  <a16:creationId xmlns:a16="http://schemas.microsoft.com/office/drawing/2014/main" id="{83E32528-82E9-4BAB-89E2-B4703C94D1AE}"/>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41" name="Rectangle 7">
              <a:extLst>
                <a:ext uri="{FF2B5EF4-FFF2-40B4-BE49-F238E27FC236}">
                  <a16:creationId xmlns:a16="http://schemas.microsoft.com/office/drawing/2014/main" id="{8749AD36-D52D-4EEA-A3BA-4343363EA553}"/>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42" name="Freeform 8">
              <a:extLst>
                <a:ext uri="{FF2B5EF4-FFF2-40B4-BE49-F238E27FC236}">
                  <a16:creationId xmlns:a16="http://schemas.microsoft.com/office/drawing/2014/main" id="{56B5C261-D81D-4AC3-8DDA-40C41C22B2AF}"/>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43" name="Rectangle 9">
              <a:extLst>
                <a:ext uri="{FF2B5EF4-FFF2-40B4-BE49-F238E27FC236}">
                  <a16:creationId xmlns:a16="http://schemas.microsoft.com/office/drawing/2014/main" id="{C5DDB237-162C-40DB-A737-60DC87134BC8}"/>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44" name="Rectangle 10">
              <a:extLst>
                <a:ext uri="{FF2B5EF4-FFF2-40B4-BE49-F238E27FC236}">
                  <a16:creationId xmlns:a16="http://schemas.microsoft.com/office/drawing/2014/main" id="{833EF528-E137-4933-A6E4-1563CCDECC9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45" name="Freeform 11">
              <a:extLst>
                <a:ext uri="{FF2B5EF4-FFF2-40B4-BE49-F238E27FC236}">
                  <a16:creationId xmlns:a16="http://schemas.microsoft.com/office/drawing/2014/main" id="{085678C0-68D6-4BA4-9CC4-743D39DAFA38}"/>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46" name="Freeform 12">
              <a:extLst>
                <a:ext uri="{FF2B5EF4-FFF2-40B4-BE49-F238E27FC236}">
                  <a16:creationId xmlns:a16="http://schemas.microsoft.com/office/drawing/2014/main" id="{9EB32AAC-F091-44A4-91CE-A240DC8CF25F}"/>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47" name="Freeform 13">
              <a:extLst>
                <a:ext uri="{FF2B5EF4-FFF2-40B4-BE49-F238E27FC236}">
                  <a16:creationId xmlns:a16="http://schemas.microsoft.com/office/drawing/2014/main" id="{AFD178A5-5C44-452D-BA69-BD24D7F17801}"/>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48" name="Freeform 14">
              <a:extLst>
                <a:ext uri="{FF2B5EF4-FFF2-40B4-BE49-F238E27FC236}">
                  <a16:creationId xmlns:a16="http://schemas.microsoft.com/office/drawing/2014/main" id="{6F77BC6E-F141-435A-AAAC-CACCFB69C410}"/>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grpSp>
    </p:spTree>
    <p:extLst>
      <p:ext uri="{BB962C8B-B14F-4D97-AF65-F5344CB8AC3E}">
        <p14:creationId xmlns:p14="http://schemas.microsoft.com/office/powerpoint/2010/main" val="273827009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p>
            <a:r>
              <a:rPr lang="en-US" noProof="0" dirty="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914417" indent="0" algn="ctr">
              <a:buNone/>
              <a:defRPr sz="1800"/>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p:nvPr userDrawn="1"/>
        </p:nvGrpSpPr>
        <p:grpSpPr>
          <a:xfrm>
            <a:off x="501649" y="378001"/>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grpSp>
    </p:spTree>
    <p:extLst>
      <p:ext uri="{BB962C8B-B14F-4D97-AF65-F5344CB8AC3E}">
        <p14:creationId xmlns:p14="http://schemas.microsoft.com/office/powerpoint/2010/main" val="3774665597"/>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457209" indent="0" algn="ctr">
              <a:buNone/>
              <a:defRPr sz="2000"/>
            </a:lvl2pPr>
            <a:lvl3pPr marL="914417" indent="0" algn="ctr">
              <a:buNone/>
              <a:defRPr sz="1800"/>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01649" y="378001"/>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grpSp>
    </p:spTree>
    <p:extLst>
      <p:ext uri="{BB962C8B-B14F-4D97-AF65-F5344CB8AC3E}">
        <p14:creationId xmlns:p14="http://schemas.microsoft.com/office/powerpoint/2010/main" val="269680144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457209" indent="0" algn="ctr">
              <a:buNone/>
              <a:defRPr sz="2000"/>
            </a:lvl2pPr>
            <a:lvl3pPr marL="914417" indent="0" algn="ctr">
              <a:buNone/>
              <a:defRPr sz="1800"/>
            </a:lvl3pPr>
            <a:lvl4pPr marL="1371626" indent="0" algn="ctr">
              <a:buNone/>
              <a:defRPr sz="1600"/>
            </a:lvl4pPr>
            <a:lvl5pPr marL="1828835" indent="0" algn="ctr">
              <a:buNone/>
              <a:defRPr sz="1600"/>
            </a:lvl5pPr>
            <a:lvl6pPr marL="2286044" indent="0" algn="ctr">
              <a:buNone/>
              <a:defRPr sz="1600"/>
            </a:lvl6pPr>
            <a:lvl7pPr marL="2743252" indent="0" algn="ctr">
              <a:buNone/>
              <a:defRPr sz="1600"/>
            </a:lvl7pPr>
            <a:lvl8pPr marL="3200461" indent="0" algn="ctr">
              <a:buNone/>
              <a:defRPr sz="1600"/>
            </a:lvl8pPr>
            <a:lvl9pPr marL="3657669" indent="0" algn="ctr">
              <a:buNone/>
              <a:defRPr sz="1600"/>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4" name="Group 3"/>
          <p:cNvGrpSpPr/>
          <p:nvPr userDrawn="1"/>
        </p:nvGrpSpPr>
        <p:grpSpPr>
          <a:xfrm>
            <a:off x="501649" y="378001"/>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176" noProof="0" dirty="0">
                <a:solidFill>
                  <a:schemeClr val="bg1"/>
                </a:solidFill>
              </a:endParaRPr>
            </a:p>
          </p:txBody>
        </p:sp>
      </p:grpSp>
    </p:spTree>
    <p:extLst>
      <p:ext uri="{BB962C8B-B14F-4D97-AF65-F5344CB8AC3E}">
        <p14:creationId xmlns:p14="http://schemas.microsoft.com/office/powerpoint/2010/main" val="3647709701"/>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537">
                <a:solidFill>
                  <a:schemeClr val="bg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dirty="0"/>
              <a:t>Click to edit Master text styles</a:t>
            </a:r>
          </a:p>
        </p:txBody>
      </p:sp>
      <p:sp>
        <p:nvSpPr>
          <p:cNvPr id="5" name="TextBox 4"/>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7" name="TextBox 6"/>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en-IN" sz="650" noProof="0" dirty="0">
                <a:solidFill>
                  <a:schemeClr val="bg1"/>
                </a:solidFill>
              </a:rPr>
              <a:t>©2016 Deloitte Shared Services India LLP</a:t>
            </a:r>
            <a:endParaRPr lang="fr-FR" sz="650" noProof="0" dirty="0">
              <a:solidFill>
                <a:schemeClr val="bg1"/>
              </a:solidFill>
            </a:endParaRPr>
          </a:p>
        </p:txBody>
      </p:sp>
      <p:sp>
        <p:nvSpPr>
          <p:cNvPr id="8" name="TextBox 7"/>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46358523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501651" y="3429001"/>
            <a:ext cx="10544067" cy="1566532"/>
          </a:xfrm>
        </p:spPr>
        <p:txBody>
          <a:bodyPr lIns="0" tIns="0" rIns="0" bIns="0">
            <a:noAutofit/>
          </a:bodyPr>
          <a:lstStyle>
            <a:lvl1pPr marL="0" indent="0">
              <a:lnSpc>
                <a:spcPct val="95000"/>
              </a:lnSpc>
              <a:spcAft>
                <a:spcPts val="0"/>
              </a:spcAft>
              <a:buNone/>
              <a:defRPr sz="3537">
                <a:solidFill>
                  <a:schemeClr val="bg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dirty="0"/>
              <a:t>Click to edit Master text styles</a:t>
            </a:r>
          </a:p>
        </p:txBody>
      </p:sp>
      <p:sp>
        <p:nvSpPr>
          <p:cNvPr id="13" name="TextBox 12"/>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en-IN" sz="650" noProof="0" dirty="0">
                <a:solidFill>
                  <a:schemeClr val="bg1"/>
                </a:solidFill>
              </a:rPr>
              <a:t>©2016 Deloitte Shared Services India LLP</a:t>
            </a:r>
            <a:endParaRPr lang="fr-FR" sz="650" noProof="0" dirty="0">
              <a:solidFill>
                <a:schemeClr val="bg1"/>
              </a:solidFill>
            </a:endParaRPr>
          </a:p>
        </p:txBody>
      </p:sp>
      <p:sp>
        <p:nvSpPr>
          <p:cNvPr id="15" name="TextBox 14"/>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14338328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537">
                <a:solidFill>
                  <a:schemeClr val="bg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dirty="0"/>
              <a:t>Click to edit Master text styles</a:t>
            </a:r>
          </a:p>
        </p:txBody>
      </p:sp>
      <p:sp>
        <p:nvSpPr>
          <p:cNvPr id="10" name="TextBox 9"/>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1" name="TextBox 10"/>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en-IN" sz="650" noProof="0" dirty="0">
                <a:solidFill>
                  <a:schemeClr val="bg1"/>
                </a:solidFill>
              </a:rPr>
              <a:t>©2016 Deloitte Shared Services India LLP</a:t>
            </a:r>
            <a:endParaRPr lang="fr-FR" sz="650" noProof="0" dirty="0">
              <a:solidFill>
                <a:schemeClr val="bg1"/>
              </a:solidFill>
            </a:endParaRP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608439840"/>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537">
                <a:solidFill>
                  <a:schemeClr val="bg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dirty="0"/>
              <a:t>Click to edit Master text styles</a:t>
            </a:r>
          </a:p>
        </p:txBody>
      </p:sp>
      <p:sp>
        <p:nvSpPr>
          <p:cNvPr id="10" name="TextBox 9"/>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1" name="TextBox 10"/>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en-IN" sz="650" noProof="0" dirty="0">
                <a:solidFill>
                  <a:schemeClr val="bg1"/>
                </a:solidFill>
              </a:rPr>
              <a:t>©2016 Deloitte Shared Services India LLP</a:t>
            </a:r>
            <a:endParaRPr lang="fr-FR" sz="650" noProof="0" dirty="0">
              <a:solidFill>
                <a:schemeClr val="bg1"/>
              </a:solidFill>
            </a:endParaRP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82758477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537">
                <a:solidFill>
                  <a:schemeClr val="bg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dirty="0"/>
              <a:t>Click to edit Master text styles</a:t>
            </a:r>
          </a:p>
        </p:txBody>
      </p:sp>
      <p:sp>
        <p:nvSpPr>
          <p:cNvPr id="10" name="TextBox 9"/>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1" name="TextBox 10"/>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en-IN" sz="650" noProof="0" dirty="0">
                <a:solidFill>
                  <a:schemeClr val="bg1"/>
                </a:solidFill>
              </a:rPr>
              <a:t>©2016 Deloitte Shared Services India LLP</a:t>
            </a:r>
            <a:endParaRPr lang="fr-FR" sz="650" noProof="0" dirty="0">
              <a:solidFill>
                <a:schemeClr val="bg1"/>
              </a:solidFill>
            </a:endParaRP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56909588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537" b="1">
                <a:solidFill>
                  <a:schemeClr val="tx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501651" y="3429001"/>
            <a:ext cx="10541000" cy="1566532"/>
          </a:xfrm>
        </p:spPr>
        <p:txBody>
          <a:bodyPr lIns="0" tIns="0" rIns="0" bIns="0">
            <a:noAutofit/>
          </a:bodyPr>
          <a:lstStyle>
            <a:lvl1pPr marL="0" indent="0">
              <a:lnSpc>
                <a:spcPct val="95000"/>
              </a:lnSpc>
              <a:spcAft>
                <a:spcPts val="0"/>
              </a:spcAft>
              <a:buNone/>
              <a:defRPr sz="3537">
                <a:solidFill>
                  <a:schemeClr val="tx1"/>
                </a:solidFill>
              </a:defRPr>
            </a:lvl1pPr>
            <a:lvl2pPr marL="457209" indent="0">
              <a:buNone/>
              <a:defRPr sz="2000">
                <a:solidFill>
                  <a:schemeClr val="tx1">
                    <a:tint val="75000"/>
                  </a:schemeClr>
                </a:solidFill>
              </a:defRPr>
            </a:lvl2pPr>
            <a:lvl3pPr marL="914417" indent="0">
              <a:buNone/>
              <a:defRPr sz="1800">
                <a:solidFill>
                  <a:schemeClr val="tx1">
                    <a:tint val="75000"/>
                  </a:schemeClr>
                </a:solidFill>
              </a:defRPr>
            </a:lvl3pPr>
            <a:lvl4pPr marL="1371626" indent="0">
              <a:buNone/>
              <a:defRPr sz="1600">
                <a:solidFill>
                  <a:schemeClr val="tx1">
                    <a:tint val="75000"/>
                  </a:schemeClr>
                </a:solidFill>
              </a:defRPr>
            </a:lvl4pPr>
            <a:lvl5pPr marL="1828835" indent="0">
              <a:buNone/>
              <a:defRPr sz="1600">
                <a:solidFill>
                  <a:schemeClr val="tx1">
                    <a:tint val="75000"/>
                  </a:schemeClr>
                </a:solidFill>
              </a:defRPr>
            </a:lvl5pPr>
            <a:lvl6pPr marL="2286044" indent="0">
              <a:buNone/>
              <a:defRPr sz="1600">
                <a:solidFill>
                  <a:schemeClr val="tx1">
                    <a:tint val="75000"/>
                  </a:schemeClr>
                </a:solidFill>
              </a:defRPr>
            </a:lvl6pPr>
            <a:lvl7pPr marL="2743252" indent="0">
              <a:buNone/>
              <a:defRPr sz="1600">
                <a:solidFill>
                  <a:schemeClr val="tx1">
                    <a:tint val="75000"/>
                  </a:schemeClr>
                </a:solidFill>
              </a:defRPr>
            </a:lvl7pPr>
            <a:lvl8pPr marL="3200461" indent="0">
              <a:buNone/>
              <a:defRPr sz="1600">
                <a:solidFill>
                  <a:schemeClr val="tx1">
                    <a:tint val="75000"/>
                  </a:schemeClr>
                </a:solidFill>
              </a:defRPr>
            </a:lvl8pPr>
            <a:lvl9pPr marL="3657669" indent="0">
              <a:buNone/>
              <a:defRPr sz="1600">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1199324760"/>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152370" cy="4752975"/>
          </a:xfrm>
          <a:prstGeom prst="rect">
            <a:avLst/>
          </a:prstGeom>
        </p:spPr>
        <p:txBody>
          <a:bodyPr>
            <a:noAutofit/>
          </a:bodyPr>
          <a:lstStyle>
            <a:lvl1pPr>
              <a:spcBef>
                <a:spcPts val="3600"/>
              </a:spcBef>
              <a:defRPr sz="2720">
                <a:solidFill>
                  <a:schemeClr val="bg1"/>
                </a:solidFill>
              </a:defRPr>
            </a:lvl1pPr>
            <a:lvl2pPr marL="457209" indent="-45720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dirty="0"/>
              <a:t>Click to edit Master text styles</a:t>
            </a:r>
          </a:p>
        </p:txBody>
      </p:sp>
      <p:sp>
        <p:nvSpPr>
          <p:cNvPr id="10" name="TextBox 9"/>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1" name="TextBox 10"/>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en-IN" sz="650" noProof="0" dirty="0">
                <a:solidFill>
                  <a:schemeClr val="bg1"/>
                </a:solidFill>
              </a:rPr>
              <a:t>©2016 Deloitte Shared Services India LLP</a:t>
            </a:r>
            <a:endParaRPr lang="fr-FR" sz="650" noProof="0" dirty="0">
              <a:solidFill>
                <a:schemeClr val="bg1"/>
              </a:solidFill>
            </a:endParaRP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464628556"/>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7200"/>
            <a:ext cx="9277349" cy="4759584"/>
          </a:xfrm>
          <a:prstGeom prst="rect">
            <a:avLst/>
          </a:prstGeom>
        </p:spPr>
        <p:txBody>
          <a:bodyPr>
            <a:noAutofit/>
          </a:bodyPr>
          <a:lstStyle>
            <a:lvl1pPr>
              <a:spcBef>
                <a:spcPts val="3600"/>
              </a:spcBef>
              <a:defRPr sz="2720">
                <a:solidFill>
                  <a:schemeClr val="bg1"/>
                </a:solidFill>
              </a:defRPr>
            </a:lvl1pPr>
            <a:lvl2pPr marL="457209" indent="-45720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dirty="0"/>
              <a:t>Click to edit Master text styles</a:t>
            </a:r>
          </a:p>
        </p:txBody>
      </p:sp>
      <p:sp>
        <p:nvSpPr>
          <p:cNvPr id="10" name="TextBox 9"/>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1" name="TextBox 10"/>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en-IN" sz="650" noProof="0" dirty="0">
                <a:solidFill>
                  <a:schemeClr val="bg1"/>
                </a:solidFill>
              </a:rPr>
              <a:t>©2016 Deloitte Shared Services India LLP</a:t>
            </a:r>
            <a:endParaRPr lang="fr-FR" sz="650" noProof="0" dirty="0">
              <a:solidFill>
                <a:schemeClr val="bg1"/>
              </a:solidFill>
            </a:endParaRP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4076517075"/>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277349" cy="4752975"/>
          </a:xfrm>
          <a:prstGeom prst="rect">
            <a:avLst/>
          </a:prstGeom>
        </p:spPr>
        <p:txBody>
          <a:bodyPr>
            <a:noAutofit/>
          </a:bodyPr>
          <a:lstStyle>
            <a:lvl1pPr>
              <a:spcBef>
                <a:spcPts val="3600"/>
              </a:spcBef>
              <a:defRPr sz="2720">
                <a:solidFill>
                  <a:schemeClr val="bg1"/>
                </a:solidFill>
              </a:defRPr>
            </a:lvl1pPr>
            <a:lvl2pPr marL="457209" indent="-45720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dirty="0"/>
              <a:t>Click to edit Master text styles</a:t>
            </a:r>
          </a:p>
        </p:txBody>
      </p:sp>
      <p:sp>
        <p:nvSpPr>
          <p:cNvPr id="10" name="TextBox 9"/>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1" name="TextBox 10"/>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en-IN" sz="650" noProof="0" dirty="0">
                <a:solidFill>
                  <a:schemeClr val="bg1"/>
                </a:solidFill>
              </a:rPr>
              <a:t>©2016 Deloitte Shared Services India LLP</a:t>
            </a:r>
            <a:endParaRPr lang="fr-FR" sz="650" noProof="0" dirty="0">
              <a:solidFill>
                <a:schemeClr val="bg1"/>
              </a:solidFill>
            </a:endParaRP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478639862"/>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277349" cy="4752975"/>
          </a:xfrm>
          <a:prstGeom prst="rect">
            <a:avLst/>
          </a:prstGeom>
        </p:spPr>
        <p:txBody>
          <a:bodyPr>
            <a:noAutofit/>
          </a:bodyPr>
          <a:lstStyle>
            <a:lvl1pPr>
              <a:spcBef>
                <a:spcPts val="3600"/>
              </a:spcBef>
              <a:defRPr sz="2720">
                <a:solidFill>
                  <a:schemeClr val="bg1"/>
                </a:solidFill>
              </a:defRPr>
            </a:lvl1pPr>
            <a:lvl2pPr marL="457209" indent="-45720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dirty="0"/>
              <a:t>Click to edit Master text styles</a:t>
            </a:r>
          </a:p>
        </p:txBody>
      </p:sp>
      <p:sp>
        <p:nvSpPr>
          <p:cNvPr id="10" name="TextBox 9"/>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1" name="TextBox 10"/>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en-IN" sz="650" noProof="0" dirty="0">
                <a:solidFill>
                  <a:schemeClr val="bg1"/>
                </a:solidFill>
              </a:rPr>
              <a:t>©2016 Deloitte Shared Services India LLP</a:t>
            </a:r>
            <a:endParaRPr lang="fr-FR" sz="650" noProof="0" dirty="0">
              <a:solidFill>
                <a:schemeClr val="bg1"/>
              </a:solidFill>
            </a:endParaRPr>
          </a:p>
        </p:txBody>
      </p:sp>
      <p:sp>
        <p:nvSpPr>
          <p:cNvPr id="12" name="TextBox 11"/>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320779686"/>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277349" cy="4752975"/>
          </a:xfrm>
          <a:prstGeom prst="rect">
            <a:avLst/>
          </a:prstGeom>
        </p:spPr>
        <p:txBody>
          <a:bodyPr>
            <a:noAutofit/>
          </a:bodyPr>
          <a:lstStyle>
            <a:lvl1pPr>
              <a:spcBef>
                <a:spcPts val="3600"/>
              </a:spcBef>
              <a:defRPr sz="2720">
                <a:solidFill>
                  <a:schemeClr val="tx1"/>
                </a:solidFill>
              </a:defRPr>
            </a:lvl1pPr>
            <a:lvl2pPr marL="457209" indent="-457209">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dirty="0"/>
              <a:t>Click to edit Master text styles</a:t>
            </a:r>
          </a:p>
        </p:txBody>
      </p:sp>
    </p:spTree>
    <p:extLst>
      <p:ext uri="{BB962C8B-B14F-4D97-AF65-F5344CB8AC3E}">
        <p14:creationId xmlns:p14="http://schemas.microsoft.com/office/powerpoint/2010/main" val="113713843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1" y="1665289"/>
            <a:ext cx="9277349" cy="4716463"/>
          </a:xfrm>
          <a:prstGeom prst="rect">
            <a:avLst/>
          </a:prstGeom>
        </p:spPr>
        <p:txBody>
          <a:bodyPr/>
          <a:lstStyle>
            <a:lvl1pPr>
              <a:tabLst>
                <a:tab pos="6729541" algn="r"/>
              </a:tabLst>
              <a:defRPr/>
            </a:lvl1pPr>
            <a:lvl2pPr>
              <a:tabLst>
                <a:tab pos="6729541" algn="r"/>
              </a:tabLst>
              <a:defRPr/>
            </a:lvl2pPr>
            <a:lvl3pPr>
              <a:tabLst>
                <a:tab pos="6729541" algn="r"/>
              </a:tabLst>
              <a:defRPr/>
            </a:lvl3pPr>
            <a:lvl4pPr>
              <a:tabLst>
                <a:tab pos="6729541" algn="r"/>
              </a:tabLst>
              <a:defRPr/>
            </a:lvl4pPr>
            <a:lvl5pPr>
              <a:tabLst>
                <a:tab pos="5029296" algn="r"/>
              </a:tabLst>
              <a:defRPr baseline="0"/>
            </a:lvl5pPr>
            <a:lvl6pPr>
              <a:tabLst>
                <a:tab pos="6729541" algn="r"/>
              </a:tabLst>
              <a:defRPr/>
            </a:lvl6pPr>
            <a:lvl7pPr>
              <a:tabLst>
                <a:tab pos="6729541" algn="r"/>
              </a:tabLst>
              <a:defRPr/>
            </a:lvl7pPr>
            <a:lvl8pPr>
              <a:tabLst>
                <a:tab pos="6729541" algn="r"/>
              </a:tabLst>
              <a:defRPr/>
            </a:lvl8pPr>
            <a:lvl9pPr>
              <a:tabLst>
                <a:tab pos="6729541"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4205375074"/>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701801"/>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2" y="1665289"/>
            <a:ext cx="4456429" cy="4716463"/>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847701803"/>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698500"/>
          </a:xfrm>
        </p:spPr>
        <p:txBody>
          <a:bodyPr/>
          <a:lstStyle/>
          <a:p>
            <a:r>
              <a:rPr lang="en-US" noProof="0"/>
              <a:t>Click to edit Master title style</a:t>
            </a:r>
            <a:endParaRPr lang="en-US" noProof="0" dirty="0"/>
          </a:p>
        </p:txBody>
      </p:sp>
      <p:sp>
        <p:nvSpPr>
          <p:cNvPr id="14" name="Text Placeholder 18"/>
          <p:cNvSpPr>
            <a:spLocks noGrp="1"/>
          </p:cNvSpPr>
          <p:nvPr>
            <p:ph idx="1"/>
          </p:nvPr>
        </p:nvSpPr>
        <p:spPr>
          <a:xfrm>
            <a:off x="501652" y="1665289"/>
            <a:ext cx="11165416"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097688457"/>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latin typeface="+mj-lt"/>
              </a:defRPr>
            </a:lvl1pPr>
          </a:lstStyle>
          <a:p>
            <a:pPr lvl="0"/>
            <a:r>
              <a:rPr lang="en-US" noProof="0" dirty="0"/>
              <a:t>Click to add subtitle</a:t>
            </a:r>
          </a:p>
        </p:txBody>
      </p:sp>
      <p:sp>
        <p:nvSpPr>
          <p:cNvPr id="14" name="Title Placeholder 1"/>
          <p:cNvSpPr>
            <a:spLocks noGrp="1"/>
          </p:cNvSpPr>
          <p:nvPr>
            <p:ph type="title"/>
          </p:nvPr>
        </p:nvSpPr>
        <p:spPr>
          <a:xfrm>
            <a:off x="501650" y="317500"/>
            <a:ext cx="11162350" cy="334101"/>
          </a:xfrm>
          <a:prstGeom prst="rect">
            <a:avLst/>
          </a:prstGeom>
        </p:spPr>
        <p:txBody>
          <a:bodyPr vert="horz" lIns="0" tIns="0" rIns="0" bIns="0" rtlCol="0" anchor="t" anchorCtr="0">
            <a:noAutofit/>
          </a:bodyPr>
          <a:lstStyle>
            <a:lvl1pPr>
              <a:defRPr>
                <a:latin typeface="+mj-lt"/>
              </a:defRPr>
            </a:lvl1pPr>
          </a:lstStyle>
          <a:p>
            <a:r>
              <a:rPr lang="en-US" noProof="0" dirty="0"/>
              <a:t>Click to edit Master title style</a:t>
            </a:r>
          </a:p>
        </p:txBody>
      </p:sp>
      <p:sp>
        <p:nvSpPr>
          <p:cNvPr id="8" name="Text Placeholder 18"/>
          <p:cNvSpPr>
            <a:spLocks noGrp="1"/>
          </p:cNvSpPr>
          <p:nvPr>
            <p:ph idx="1"/>
          </p:nvPr>
        </p:nvSpPr>
        <p:spPr>
          <a:xfrm>
            <a:off x="501652" y="1665288"/>
            <a:ext cx="11165416" cy="4713911"/>
          </a:xfrm>
          <a:prstGeom prst="rect">
            <a:avLst/>
          </a:prstGeom>
        </p:spPr>
        <p:txBody>
          <a:bodyPr vert="horz" lIns="0" tIns="0" rIns="0" bIns="0" rtlCol="0">
            <a:noAutofit/>
          </a:bodyPr>
          <a:lstStyle>
            <a:lvl1pPr>
              <a:spcAft>
                <a:spcPts val="907"/>
              </a:spcAft>
              <a:defRPr sz="1088"/>
            </a:lvl1pPr>
            <a:lvl2pPr>
              <a:spcAft>
                <a:spcPts val="907"/>
              </a:spcAft>
              <a:defRPr sz="1088"/>
            </a:lvl2pPr>
            <a:lvl3pPr>
              <a:spcAft>
                <a:spcPts val="907"/>
              </a:spcAft>
              <a:defRPr sz="1088"/>
            </a:lvl3pPr>
            <a:lvl4pPr>
              <a:spcAft>
                <a:spcPts val="907"/>
              </a:spcAft>
              <a:defRPr sz="1088"/>
            </a:lvl4pPr>
            <a:lvl5pPr>
              <a:spcAft>
                <a:spcPts val="907"/>
              </a:spcAft>
              <a:defRPr sz="1088"/>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397391806"/>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0" y="317500"/>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01652" y="1700213"/>
            <a:ext cx="11165416" cy="4678986"/>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595380978"/>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01653" y="2052000"/>
            <a:ext cx="11188699" cy="4069013"/>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501653" y="1665289"/>
            <a:ext cx="11188699" cy="392112"/>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501651" y="6121014"/>
            <a:ext cx="11188700" cy="260737"/>
          </a:xfrm>
        </p:spPr>
        <p:txBody>
          <a:bodyPr>
            <a:noAutofit/>
          </a:bodyPr>
          <a:lstStyle>
            <a:lvl1pPr>
              <a:spcAft>
                <a:spcPts val="0"/>
              </a:spcAft>
              <a:defRPr sz="907"/>
            </a:lvl1pPr>
          </a:lstStyle>
          <a:p>
            <a:pPr lvl="0"/>
            <a:r>
              <a:rPr lang="en-US" noProof="0"/>
              <a:t>Click to edit Master text styles</a:t>
            </a:r>
          </a:p>
        </p:txBody>
      </p:sp>
    </p:spTree>
    <p:extLst>
      <p:ext uri="{BB962C8B-B14F-4D97-AF65-F5344CB8AC3E}">
        <p14:creationId xmlns:p14="http://schemas.microsoft.com/office/powerpoint/2010/main" val="800150109"/>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dirty="0"/>
              <a:t>Click icon to add chart</a:t>
            </a:r>
          </a:p>
        </p:txBody>
      </p:sp>
      <p:sp>
        <p:nvSpPr>
          <p:cNvPr id="18" name="Text Placeholder 8"/>
          <p:cNvSpPr>
            <a:spLocks noGrp="1"/>
          </p:cNvSpPr>
          <p:nvPr>
            <p:ph type="body" sz="quarter" idx="18"/>
          </p:nvPr>
        </p:nvSpPr>
        <p:spPr>
          <a:xfrm>
            <a:off x="501650" y="1665289"/>
            <a:ext cx="3562351"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303184" y="2051999"/>
            <a:ext cx="3561616" cy="4069014"/>
          </a:xfrm>
          <a:prstGeom prst="rect">
            <a:avLst/>
          </a:prstGeom>
        </p:spPr>
        <p:txBody>
          <a:bodyPr/>
          <a:lstStyle/>
          <a:p>
            <a:r>
              <a:rPr lang="en-US" noProof="0" dirty="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dirty="0"/>
              <a:t>Click icon to add chart</a:t>
            </a:r>
          </a:p>
        </p:txBody>
      </p:sp>
      <p:sp>
        <p:nvSpPr>
          <p:cNvPr id="10" name="Text Placeholder 8"/>
          <p:cNvSpPr>
            <a:spLocks noGrp="1"/>
          </p:cNvSpPr>
          <p:nvPr>
            <p:ph type="body" sz="quarter" idx="22"/>
          </p:nvPr>
        </p:nvSpPr>
        <p:spPr>
          <a:xfrm>
            <a:off x="8126397" y="1659145"/>
            <a:ext cx="3563954" cy="398256"/>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Autofit/>
          </a:bodyPr>
          <a:lstStyle>
            <a:lvl1pPr>
              <a:spcAft>
                <a:spcPts val="0"/>
              </a:spcAft>
              <a:defRPr sz="907"/>
            </a:lvl1pPr>
          </a:lstStyle>
          <a:p>
            <a:pPr lvl="0"/>
            <a:r>
              <a:rPr lang="en-US" noProof="0"/>
              <a:t>Click to edit Master text styles</a:t>
            </a:r>
          </a:p>
        </p:txBody>
      </p:sp>
    </p:spTree>
    <p:extLst>
      <p:ext uri="{BB962C8B-B14F-4D97-AF65-F5344CB8AC3E}">
        <p14:creationId xmlns:p14="http://schemas.microsoft.com/office/powerpoint/2010/main" val="3717788398"/>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1" y="317500"/>
            <a:ext cx="1120266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9" name="Text Placeholder 8"/>
          <p:cNvSpPr>
            <a:spLocks noGrp="1"/>
          </p:cNvSpPr>
          <p:nvPr>
            <p:ph type="body" sz="quarter" idx="13" hasCustomPrompt="1"/>
          </p:nvPr>
        </p:nvSpPr>
        <p:spPr>
          <a:xfrm>
            <a:off x="501651" y="651601"/>
            <a:ext cx="1120266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8"/>
            <a:ext cx="5322782" cy="4716461"/>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205643451"/>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501650" y="317500"/>
            <a:ext cx="11188700"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1" name="Content Placeholder 3"/>
          <p:cNvSpPr>
            <a:spLocks noGrp="1"/>
          </p:cNvSpPr>
          <p:nvPr>
            <p:ph sz="quarter" idx="10"/>
          </p:nvPr>
        </p:nvSpPr>
        <p:spPr>
          <a:xfrm>
            <a:off x="501650" y="1665288"/>
            <a:ext cx="5305581" cy="4716461"/>
          </a:xfrm>
          <a:prstGeom prst="rect">
            <a:avLst/>
          </a:prstGeom>
        </p:spPr>
        <p:txBody>
          <a:bodyPr>
            <a:noAutofit/>
          </a:bodyPr>
          <a:lstStyle>
            <a:lvl1pPr>
              <a:tabLst>
                <a:tab pos="5029296" algn="r"/>
              </a:tabLst>
              <a:defRPr sz="1600"/>
            </a:lvl1pPr>
            <a:lvl2pPr>
              <a:tabLst>
                <a:tab pos="5029296" algn="r"/>
              </a:tabLst>
              <a:defRPr sz="1600"/>
            </a:lvl2pPr>
            <a:lvl3pPr>
              <a:tabLst>
                <a:tab pos="5029296" algn="r"/>
              </a:tabLst>
              <a:defRPr sz="1600"/>
            </a:lvl3pPr>
            <a:lvl4pPr>
              <a:tabLst>
                <a:tab pos="5029296" algn="r"/>
              </a:tabLst>
              <a:defRPr sz="1600"/>
            </a:lvl4pPr>
            <a:lvl5pPr>
              <a:tabLst>
                <a:tab pos="5029296"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4000" y="1665288"/>
            <a:ext cx="5306350" cy="4716461"/>
          </a:xfrm>
          <a:prstGeom prst="rect">
            <a:avLst/>
          </a:prstGeom>
        </p:spPr>
        <p:txBody>
          <a:bodyPr>
            <a:noAutofit/>
          </a:bodyPr>
          <a:lstStyle>
            <a:lvl1pPr>
              <a:tabLst>
                <a:tab pos="5029296" algn="r"/>
              </a:tabLst>
              <a:defRPr sz="1600"/>
            </a:lvl1pPr>
            <a:lvl2pPr>
              <a:tabLst>
                <a:tab pos="5029296" algn="r"/>
              </a:tabLst>
              <a:defRPr sz="1600"/>
            </a:lvl2pPr>
            <a:lvl3pPr>
              <a:tabLst>
                <a:tab pos="5029296" algn="r"/>
              </a:tabLst>
              <a:defRPr sz="1600"/>
            </a:lvl3pPr>
            <a:lvl4pPr>
              <a:tabLst>
                <a:tab pos="5029296" algn="r"/>
              </a:tabLst>
              <a:defRPr sz="1600"/>
            </a:lvl4pPr>
            <a:lvl5pPr>
              <a:tabLst>
                <a:tab pos="5029296"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028510419"/>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6" cy="4455725"/>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3" y="2125013"/>
            <a:ext cx="5349128" cy="3996000"/>
          </a:xfrm>
        </p:spPr>
        <p:txBody>
          <a:bodyPr/>
          <a:lstStyle/>
          <a:p>
            <a:r>
              <a:rPr lang="en-US" noProof="0" dirty="0"/>
              <a:t>Click icon to add chart</a:t>
            </a:r>
          </a:p>
        </p:txBody>
      </p:sp>
      <p:sp>
        <p:nvSpPr>
          <p:cNvPr id="6" name="Text Placeholder 5"/>
          <p:cNvSpPr>
            <a:spLocks noGrp="1"/>
          </p:cNvSpPr>
          <p:nvPr>
            <p:ph type="body" sz="quarter" idx="22"/>
          </p:nvPr>
        </p:nvSpPr>
        <p:spPr>
          <a:xfrm>
            <a:off x="6341223" y="1665288"/>
            <a:ext cx="5349128"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01650" y="6121014"/>
            <a:ext cx="11188700" cy="260737"/>
          </a:xfrm>
        </p:spPr>
        <p:txBody>
          <a:bodyPr>
            <a:normAutofit/>
          </a:bodyPr>
          <a:lstStyle>
            <a:lvl1pPr>
              <a:spcAft>
                <a:spcPts val="0"/>
              </a:spcAft>
              <a:defRPr sz="907"/>
            </a:lvl1pPr>
          </a:lstStyle>
          <a:p>
            <a:pPr lvl="0"/>
            <a:r>
              <a:rPr lang="en-US" noProof="0"/>
              <a:t>Click to edit Master text styles</a:t>
            </a:r>
          </a:p>
        </p:txBody>
      </p:sp>
    </p:spTree>
    <p:extLst>
      <p:ext uri="{BB962C8B-B14F-4D97-AF65-F5344CB8AC3E}">
        <p14:creationId xmlns:p14="http://schemas.microsoft.com/office/powerpoint/2010/main" val="1940791562"/>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lstStyle/>
          <a:p>
            <a:r>
              <a:rPr lang="en-US" noProof="0" dirty="0"/>
              <a:t>Click icon to add chart</a:t>
            </a:r>
          </a:p>
        </p:txBody>
      </p:sp>
      <p:sp>
        <p:nvSpPr>
          <p:cNvPr id="6" name="Text Placeholder 5"/>
          <p:cNvSpPr>
            <a:spLocks noGrp="1"/>
          </p:cNvSpPr>
          <p:nvPr>
            <p:ph type="body" sz="quarter" idx="22"/>
          </p:nvPr>
        </p:nvSpPr>
        <p:spPr>
          <a:xfrm>
            <a:off x="6341222" y="1665288"/>
            <a:ext cx="5349129"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01649" y="6121014"/>
            <a:ext cx="11165419" cy="260737"/>
          </a:xfrm>
        </p:spPr>
        <p:txBody>
          <a:bodyPr>
            <a:normAutofit/>
          </a:bodyPr>
          <a:lstStyle>
            <a:lvl1pPr>
              <a:spcAft>
                <a:spcPts val="0"/>
              </a:spcAft>
              <a:defRPr sz="907"/>
            </a:lvl1pPr>
          </a:lstStyle>
          <a:p>
            <a:pPr lvl="0"/>
            <a:r>
              <a:rPr lang="en-US" noProof="0"/>
              <a:t>Click to edit Master text styles</a:t>
            </a:r>
          </a:p>
        </p:txBody>
      </p:sp>
      <p:sp>
        <p:nvSpPr>
          <p:cNvPr id="9" name="Chart Placeholder 2"/>
          <p:cNvSpPr>
            <a:spLocks noGrp="1"/>
          </p:cNvSpPr>
          <p:nvPr>
            <p:ph type="chart" sz="quarter" idx="24"/>
          </p:nvPr>
        </p:nvSpPr>
        <p:spPr>
          <a:xfrm>
            <a:off x="501651" y="2125013"/>
            <a:ext cx="5339063" cy="3996000"/>
          </a:xfrm>
        </p:spPr>
        <p:txBody>
          <a:bodyPr/>
          <a:lstStyle/>
          <a:p>
            <a:r>
              <a:rPr lang="en-US" noProof="0" dirty="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Click to edit Master text styles</a:t>
            </a:r>
          </a:p>
        </p:txBody>
      </p:sp>
    </p:spTree>
    <p:extLst>
      <p:ext uri="{BB962C8B-B14F-4D97-AF65-F5344CB8AC3E}">
        <p14:creationId xmlns:p14="http://schemas.microsoft.com/office/powerpoint/2010/main" val="2724045335"/>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3" y="317500"/>
            <a:ext cx="11188699"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501651" y="1665289"/>
            <a:ext cx="4431857" cy="4716463"/>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50" y="1700214"/>
            <a:ext cx="6240000" cy="4681537"/>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158829967"/>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700" cy="3341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7577882" y="1658680"/>
            <a:ext cx="4112468" cy="4723072"/>
          </a:xfrm>
          <a:prstGeom prst="rect">
            <a:avLst/>
          </a:prstGeom>
        </p:spPr>
        <p:txBody>
          <a:bodyPr>
            <a:noAutofit/>
          </a:bodyPr>
          <a:lstStyle>
            <a:lvl1pPr>
              <a:tabLst>
                <a:tab pos="5029296" algn="r"/>
              </a:tabLst>
              <a:defRPr sz="2400">
                <a:solidFill>
                  <a:schemeClr val="accent3"/>
                </a:solidFill>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9"/>
            <a:ext cx="6506348" cy="4716462"/>
          </a:xfrm>
          <a:prstGeom prst="rect">
            <a:avLst/>
          </a:prstGeom>
        </p:spPr>
        <p:txBody>
          <a:bodyPr/>
          <a:lstStyle>
            <a:lvl1pPr>
              <a:tabLst>
                <a:tab pos="5029296" algn="r"/>
              </a:tabLst>
              <a:defRPr/>
            </a:lvl1pPr>
            <a:lvl2pPr>
              <a:tabLst>
                <a:tab pos="5029296" algn="r"/>
              </a:tabLst>
              <a:defRPr/>
            </a:lvl2pPr>
            <a:lvl3pPr>
              <a:tabLst>
                <a:tab pos="5029296" algn="r"/>
              </a:tabLst>
              <a:defRPr/>
            </a:lvl3pPr>
            <a:lvl4pPr>
              <a:tabLst>
                <a:tab pos="5029296" algn="r"/>
              </a:tabLst>
              <a:defRPr/>
            </a:lvl4pPr>
            <a:lvl5pPr>
              <a:tabLst>
                <a:tab pos="5029296"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3" y="651601"/>
            <a:ext cx="1118869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914141459"/>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334100"/>
          </a:xfrm>
        </p:spPr>
        <p:txBody>
          <a:bodyPr/>
          <a:lstStyle/>
          <a:p>
            <a:r>
              <a:rPr lang="en-US" noProof="0"/>
              <a:t>Click to edit Master title style</a:t>
            </a:r>
            <a:endParaRPr lang="en-US" noProof="0" dirty="0"/>
          </a:p>
        </p:txBody>
      </p:sp>
      <p:sp>
        <p:nvSpPr>
          <p:cNvPr id="4" name="Picture Placeholder 6"/>
          <p:cNvSpPr>
            <a:spLocks noGrp="1"/>
          </p:cNvSpPr>
          <p:nvPr>
            <p:ph type="pic" sz="quarter" idx="13"/>
          </p:nvPr>
        </p:nvSpPr>
        <p:spPr>
          <a:xfrm>
            <a:off x="501650" y="1700213"/>
            <a:ext cx="2712000" cy="1260000"/>
          </a:xfrm>
        </p:spPr>
        <p:txBody>
          <a:bodyPr lIns="0" tIns="0" rIns="0" bIns="0">
            <a:noAutofit/>
          </a:bodyPr>
          <a:lstStyle/>
          <a:p>
            <a:r>
              <a:rPr lang="en-US" noProof="0" dirty="0"/>
              <a:t>Click icon to add picture</a:t>
            </a:r>
          </a:p>
        </p:txBody>
      </p:sp>
      <p:sp>
        <p:nvSpPr>
          <p:cNvPr id="5" name="Picture Placeholder 6"/>
          <p:cNvSpPr>
            <a:spLocks noGrp="1"/>
          </p:cNvSpPr>
          <p:nvPr>
            <p:ph type="pic" sz="quarter" idx="14"/>
          </p:nvPr>
        </p:nvSpPr>
        <p:spPr>
          <a:xfrm>
            <a:off x="3327217" y="1700213"/>
            <a:ext cx="2712000" cy="1260000"/>
          </a:xfrm>
        </p:spPr>
        <p:txBody>
          <a:bodyPr lIns="0" tIns="0" rIns="0" bIns="0">
            <a:noAutofit/>
          </a:bodyPr>
          <a:lstStyle/>
          <a:p>
            <a:r>
              <a:rPr lang="en-US" noProof="0" dirty="0"/>
              <a:t>Click icon to add picture</a:t>
            </a:r>
          </a:p>
        </p:txBody>
      </p:sp>
      <p:sp>
        <p:nvSpPr>
          <p:cNvPr id="6" name="Picture Placeholder 6"/>
          <p:cNvSpPr>
            <a:spLocks noGrp="1"/>
          </p:cNvSpPr>
          <p:nvPr>
            <p:ph type="pic" sz="quarter" idx="15"/>
          </p:nvPr>
        </p:nvSpPr>
        <p:spPr>
          <a:xfrm>
            <a:off x="6152783" y="1700213"/>
            <a:ext cx="2712000" cy="1260000"/>
          </a:xfrm>
        </p:spPr>
        <p:txBody>
          <a:bodyPr lIns="0" tIns="0" rIns="0" bIns="0">
            <a:noAutofit/>
          </a:bodyPr>
          <a:lstStyle/>
          <a:p>
            <a:r>
              <a:rPr lang="en-US" noProof="0" dirty="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dirty="0"/>
              <a:t>Click icon to add picture</a:t>
            </a:r>
          </a:p>
        </p:txBody>
      </p:sp>
      <p:sp>
        <p:nvSpPr>
          <p:cNvPr id="9" name="Text Placeholder 8"/>
          <p:cNvSpPr>
            <a:spLocks noGrp="1"/>
          </p:cNvSpPr>
          <p:nvPr>
            <p:ph type="body" sz="quarter" idx="17"/>
          </p:nvPr>
        </p:nvSpPr>
        <p:spPr>
          <a:xfrm>
            <a:off x="501651"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49964"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30041" y="3124200"/>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8993169" y="3108508"/>
            <a:ext cx="2697182" cy="3273240"/>
          </a:xfrm>
        </p:spPr>
        <p:txBody>
          <a:bodyPr/>
          <a:lstStyle>
            <a:lvl1pPr>
              <a:defRPr b="1">
                <a:solidFill>
                  <a:schemeClr val="accent1"/>
                </a:solidFill>
              </a:defRPr>
            </a:lvl1pPr>
            <a:lvl2pPr>
              <a:spcAft>
                <a:spcPts val="0"/>
              </a:spcAft>
              <a:defRPr/>
            </a:lvl2pPr>
            <a:lvl3pPr marL="0" indent="0">
              <a:spcAft>
                <a:spcPts val="0"/>
              </a:spcAft>
              <a:buNone/>
              <a:defRPr/>
            </a:lvl3pPr>
            <a:lvl4pPr marL="176403" indent="-176403">
              <a:spcAft>
                <a:spcPts val="0"/>
              </a:spcAft>
              <a:buFont typeface="Arial" panose="020B0604020202020204" pitchFamily="34" charset="0"/>
              <a:buChar char="•"/>
              <a:defRPr/>
            </a:lvl4pPr>
            <a:lvl5pPr marL="356407" indent="-176403">
              <a:spcAft>
                <a:spcPts val="0"/>
              </a:spcAft>
              <a:defRPr baseline="0"/>
            </a:lvl5pPr>
            <a:lvl6pPr marL="356407" indent="-176403">
              <a:spcAft>
                <a:spcPts val="0"/>
              </a:spcAft>
              <a:buFont typeface="Verdana" panose="020B0604030504040204" pitchFamily="34" charset="0"/>
              <a:buChar char="−"/>
              <a:defRPr/>
            </a:lvl6pPr>
            <a:lvl7pPr marL="356407" indent="-176403">
              <a:spcAft>
                <a:spcPts val="0"/>
              </a:spcAft>
              <a:defRPr/>
            </a:lvl7pPr>
            <a:lvl8pPr marL="356407" indent="-176403">
              <a:spcAft>
                <a:spcPts val="0"/>
              </a:spcAft>
              <a:defRPr/>
            </a:lvl8pPr>
            <a:lvl9pPr marL="356407" indent="-176403">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8"/>
          <p:cNvSpPr>
            <a:spLocks noGrp="1"/>
          </p:cNvSpPr>
          <p:nvPr>
            <p:ph type="body" sz="quarter" idx="21" hasCustomPrompt="1"/>
          </p:nvPr>
        </p:nvSpPr>
        <p:spPr>
          <a:xfrm>
            <a:off x="501651" y="651601"/>
            <a:ext cx="11188701"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952028460"/>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334100"/>
          </a:xfrm>
        </p:spPr>
        <p:txBody>
          <a:bodyPr/>
          <a:lstStyle/>
          <a:p>
            <a:r>
              <a:rPr lang="en-US" noProof="0"/>
              <a:t>Click to edit Master title style</a:t>
            </a:r>
            <a:endParaRPr lang="en-US" noProof="0" dirty="0"/>
          </a:p>
        </p:txBody>
      </p:sp>
      <p:sp>
        <p:nvSpPr>
          <p:cNvPr id="4" name="Rectangle 3"/>
          <p:cNvSpPr/>
          <p:nvPr userDrawn="1"/>
        </p:nvSpPr>
        <p:spPr>
          <a:xfrm>
            <a:off x="504000"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userDrawn="1"/>
        </p:nvSpPr>
        <p:spPr>
          <a:xfrm>
            <a:off x="6224087" y="1700213"/>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userDrawn="1"/>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7" name="Rectangle 6"/>
          <p:cNvSpPr/>
          <p:nvPr userDrawn="1"/>
        </p:nvSpPr>
        <p:spPr>
          <a:xfrm>
            <a:off x="6224087"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8" name="Picture Placeholder 11"/>
          <p:cNvSpPr>
            <a:spLocks noGrp="1"/>
          </p:cNvSpPr>
          <p:nvPr>
            <p:ph type="pic" sz="quarter" idx="25"/>
          </p:nvPr>
        </p:nvSpPr>
        <p:spPr>
          <a:xfrm>
            <a:off x="504000" y="1880213"/>
            <a:ext cx="1968000" cy="1476000"/>
          </a:xfrm>
        </p:spPr>
        <p:txBody>
          <a:bodyPr/>
          <a:lstStyle>
            <a:lvl1pPr algn="ctr">
              <a:defRPr/>
            </a:lvl1pPr>
          </a:lstStyle>
          <a:p>
            <a:r>
              <a:rPr lang="en-US" noProof="0" dirty="0"/>
              <a:t>Click icon to add picture</a:t>
            </a:r>
          </a:p>
        </p:txBody>
      </p:sp>
      <p:sp>
        <p:nvSpPr>
          <p:cNvPr id="9" name="Picture Placeholder 11"/>
          <p:cNvSpPr>
            <a:spLocks noGrp="1"/>
          </p:cNvSpPr>
          <p:nvPr>
            <p:ph type="pic" sz="quarter" idx="27"/>
          </p:nvPr>
        </p:nvSpPr>
        <p:spPr>
          <a:xfrm>
            <a:off x="6224086" y="1880213"/>
            <a:ext cx="1968000" cy="1476000"/>
          </a:xfrm>
        </p:spPr>
        <p:txBody>
          <a:bodyPr/>
          <a:lstStyle>
            <a:lvl1pPr algn="ctr">
              <a:defRPr/>
            </a:lvl1pPr>
          </a:lstStyle>
          <a:p>
            <a:r>
              <a:rPr lang="en-US" noProof="0" dirty="0"/>
              <a:t>Click icon to add picture</a:t>
            </a:r>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noProof="0" dirty="0"/>
              <a:t>Click icon to add picture</a:t>
            </a:r>
          </a:p>
        </p:txBody>
      </p:sp>
      <p:sp>
        <p:nvSpPr>
          <p:cNvPr id="11" name="Picture Placeholder 11"/>
          <p:cNvSpPr>
            <a:spLocks noGrp="1"/>
          </p:cNvSpPr>
          <p:nvPr>
            <p:ph type="pic" sz="quarter" idx="31"/>
          </p:nvPr>
        </p:nvSpPr>
        <p:spPr>
          <a:xfrm>
            <a:off x="6224086" y="4256213"/>
            <a:ext cx="1968000" cy="1476000"/>
          </a:xfrm>
        </p:spPr>
        <p:txBody>
          <a:bodyPr/>
          <a:lstStyle>
            <a:lvl1pPr algn="ctr">
              <a:defRPr/>
            </a:lvl1pPr>
          </a:lstStyle>
          <a:p>
            <a:r>
              <a:rPr lang="en-US" noProof="0" dirty="0"/>
              <a:t>Click icon to add picture</a:t>
            </a:r>
          </a:p>
        </p:txBody>
      </p:sp>
      <p:sp>
        <p:nvSpPr>
          <p:cNvPr id="13" name="Text Placeholder 12"/>
          <p:cNvSpPr>
            <a:spLocks noGrp="1"/>
          </p:cNvSpPr>
          <p:nvPr>
            <p:ph type="body" sz="quarter" idx="32"/>
          </p:nvPr>
        </p:nvSpPr>
        <p:spPr>
          <a:xfrm>
            <a:off x="2683483" y="1880213"/>
            <a:ext cx="3288000" cy="1944000"/>
          </a:xfrm>
        </p:spPr>
        <p:txBody>
          <a:bodyPr/>
          <a:lstStyle>
            <a:lvl1pPr>
              <a:spcAft>
                <a:spcPts val="0"/>
              </a:spcAft>
              <a:defRPr b="1"/>
            </a:lvl1pPr>
            <a:lvl2pPr>
              <a:spcAft>
                <a:spcPts val="0"/>
              </a:spcAft>
              <a:defRPr b="0"/>
            </a:lvl2pPr>
          </a:lstStyle>
          <a:p>
            <a:pPr lvl="0"/>
            <a:r>
              <a:rPr lang="en-US" noProof="0" dirty="0"/>
              <a:t>Click to edit Master text styles</a:t>
            </a:r>
          </a:p>
          <a:p>
            <a:pPr lvl="1"/>
            <a:r>
              <a:rPr lang="en-US" noProof="0" dirty="0"/>
              <a:t>Second level</a:t>
            </a:r>
          </a:p>
        </p:txBody>
      </p:sp>
      <p:sp>
        <p:nvSpPr>
          <p:cNvPr id="14" name="Text Placeholder 12"/>
          <p:cNvSpPr>
            <a:spLocks noGrp="1"/>
          </p:cNvSpPr>
          <p:nvPr>
            <p:ph type="body" sz="quarter" idx="33"/>
          </p:nvPr>
        </p:nvSpPr>
        <p:spPr>
          <a:xfrm>
            <a:off x="8396561" y="1880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683483" y="4256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396561" y="4256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7"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814835278"/>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334099"/>
          </a:xfrm>
        </p:spPr>
        <p:txBody>
          <a:bodyPr/>
          <a:lstStyle/>
          <a:p>
            <a:r>
              <a:rPr lang="en-US" noProof="0"/>
              <a:t>Click to edit Master title style</a:t>
            </a:r>
            <a:endParaRPr lang="en-US" noProof="0" dirty="0"/>
          </a:p>
        </p:txBody>
      </p:sp>
      <p:sp>
        <p:nvSpPr>
          <p:cNvPr id="4" name="Picture Placeholder 7"/>
          <p:cNvSpPr>
            <a:spLocks noGrp="1"/>
          </p:cNvSpPr>
          <p:nvPr>
            <p:ph type="pic" sz="quarter" idx="13"/>
          </p:nvPr>
        </p:nvSpPr>
        <p:spPr>
          <a:xfrm>
            <a:off x="501652" y="1700214"/>
            <a:ext cx="3695700" cy="1971675"/>
          </a:xfrm>
        </p:spPr>
        <p:txBody>
          <a:bodyPr/>
          <a:lstStyle/>
          <a:p>
            <a:r>
              <a:rPr lang="en-US" noProof="0" dirty="0"/>
              <a:t>Click icon to add picture</a:t>
            </a:r>
          </a:p>
        </p:txBody>
      </p:sp>
      <p:sp>
        <p:nvSpPr>
          <p:cNvPr id="5" name="Picture Placeholder 7"/>
          <p:cNvSpPr>
            <a:spLocks noGrp="1"/>
          </p:cNvSpPr>
          <p:nvPr>
            <p:ph type="pic" sz="quarter" idx="14"/>
          </p:nvPr>
        </p:nvSpPr>
        <p:spPr>
          <a:xfrm>
            <a:off x="8006399" y="1700214"/>
            <a:ext cx="3683953" cy="1971675"/>
          </a:xfrm>
        </p:spPr>
        <p:txBody>
          <a:bodyPr/>
          <a:lstStyle/>
          <a:p>
            <a:r>
              <a:rPr lang="en-US" noProof="0" dirty="0"/>
              <a:t>Click icon to add picture</a:t>
            </a:r>
          </a:p>
        </p:txBody>
      </p:sp>
      <p:sp>
        <p:nvSpPr>
          <p:cNvPr id="6" name="Picture Placeholder 7"/>
          <p:cNvSpPr>
            <a:spLocks noGrp="1"/>
          </p:cNvSpPr>
          <p:nvPr>
            <p:ph type="pic" sz="quarter" idx="15"/>
          </p:nvPr>
        </p:nvSpPr>
        <p:spPr>
          <a:xfrm>
            <a:off x="4273075" y="1700214"/>
            <a:ext cx="3657600" cy="1971675"/>
          </a:xfrm>
        </p:spPr>
        <p:txBody>
          <a:bodyPr/>
          <a:lstStyle/>
          <a:p>
            <a:r>
              <a:rPr lang="en-US" noProof="0" dirty="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67201" y="3832225"/>
            <a:ext cx="3657600"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06399" y="3832225"/>
            <a:ext cx="3683953" cy="20952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048734323"/>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1"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2550487435"/>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3"/>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ext Placeholder 8"/>
          <p:cNvSpPr>
            <a:spLocks noGrp="1"/>
          </p:cNvSpPr>
          <p:nvPr>
            <p:ph type="body" sz="quarter" idx="21"/>
          </p:nvPr>
        </p:nvSpPr>
        <p:spPr>
          <a:xfrm>
            <a:off x="6246195" y="1857893"/>
            <a:ext cx="5444156"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2"/>
            <a:ext cx="11188700" cy="334099"/>
          </a:xfrm>
        </p:spPr>
        <p:txBody>
          <a:bodyPr/>
          <a:lstStyle/>
          <a:p>
            <a:r>
              <a:rPr lang="en-US" noProof="0"/>
              <a:t>Click to edit Master title style</a:t>
            </a:r>
            <a:endParaRPr lang="en-US" noProof="0" dirty="0"/>
          </a:p>
        </p:txBody>
      </p:sp>
      <p:sp>
        <p:nvSpPr>
          <p:cNvPr id="4" name="Rectangle 3"/>
          <p:cNvSpPr/>
          <p:nvPr userDrawn="1"/>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userDrawn="1"/>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6" name="Picture Placeholder 29"/>
          <p:cNvSpPr>
            <a:spLocks noGrp="1"/>
          </p:cNvSpPr>
          <p:nvPr>
            <p:ph type="pic" sz="quarter" idx="19" hasCustomPrompt="1"/>
          </p:nvPr>
        </p:nvSpPr>
        <p:spPr>
          <a:xfrm>
            <a:off x="4769493" y="1863917"/>
            <a:ext cx="1210206"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804594716"/>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3"/>
            <a:ext cx="5468941"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3"/>
            <a:ext cx="545466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2"/>
            <a:ext cx="11188700" cy="334099"/>
          </a:xfrm>
        </p:spPr>
        <p:txBody>
          <a:bodyPr/>
          <a:lstStyle/>
          <a:p>
            <a:r>
              <a:rPr lang="en-US" noProof="0"/>
              <a:t>Click to edit Master title style</a:t>
            </a:r>
            <a:endParaRPr lang="en-US" noProof="0" dirty="0"/>
          </a:p>
        </p:txBody>
      </p:sp>
      <p:sp>
        <p:nvSpPr>
          <p:cNvPr id="4" name="Rectangle 3"/>
          <p:cNvSpPr/>
          <p:nvPr userDrawn="1"/>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userDrawn="1"/>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504000" y="4249683"/>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246195" y="4249683"/>
            <a:ext cx="545295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13" name="Rectangle 12"/>
          <p:cNvSpPr/>
          <p:nvPr userDrawn="1"/>
        </p:nvSpPr>
        <p:spPr>
          <a:xfrm>
            <a:off x="6246195"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14" name="Picture Placeholder 29"/>
          <p:cNvSpPr>
            <a:spLocks noGrp="1"/>
          </p:cNvSpPr>
          <p:nvPr>
            <p:ph type="pic" sz="quarter" idx="24" hasCustomPrompt="1"/>
          </p:nvPr>
        </p:nvSpPr>
        <p:spPr>
          <a:xfrm>
            <a:off x="4754494" y="4255707"/>
            <a:ext cx="1239382"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4769493" y="1863917"/>
            <a:ext cx="1210206" cy="549275"/>
          </a:xfrm>
        </p:spPr>
        <p:txBody>
          <a:bodyPr/>
          <a:lstStyle>
            <a:lvl1pPr marL="0" marR="0" indent="0" algn="l" defTabSz="914417"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Tree>
    <p:extLst>
      <p:ext uri="{BB962C8B-B14F-4D97-AF65-F5344CB8AC3E}">
        <p14:creationId xmlns:p14="http://schemas.microsoft.com/office/powerpoint/2010/main" val="424293108"/>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334099"/>
          </a:xfrm>
        </p:spPr>
        <p:txBody>
          <a:bodyPr/>
          <a:lstStyle/>
          <a:p>
            <a:r>
              <a:rPr lang="en-US" noProof="0"/>
              <a:t>Click to edit Master title style</a:t>
            </a:r>
            <a:endParaRPr lang="en-US" noProof="0" dirty="0"/>
          </a:p>
        </p:txBody>
      </p:sp>
      <p:sp>
        <p:nvSpPr>
          <p:cNvPr id="4" name="Rectangle 3"/>
          <p:cNvSpPr/>
          <p:nvPr userDrawn="1"/>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127999" y="1851441"/>
            <a:ext cx="3571153"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500377430"/>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334099"/>
          </a:xfrm>
        </p:spPr>
        <p:txBody>
          <a:body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3" indent="-176403">
              <a:spcAft>
                <a:spcPts val="1000"/>
              </a:spcAft>
              <a:buFont typeface="Arial" panose="020B0604020202020204" pitchFamily="34" charset="0"/>
              <a:buChar char="•"/>
              <a:defRPr/>
            </a:lvl4pPr>
            <a:lvl5pPr marL="356407" indent="-176403">
              <a:spcAft>
                <a:spcPts val="1000"/>
              </a:spcAft>
              <a:defRPr baseline="0"/>
            </a:lvl5pPr>
            <a:lvl6pPr marL="356407" indent="-176403">
              <a:spcAft>
                <a:spcPts val="1000"/>
              </a:spcAft>
              <a:buFont typeface="Verdana" panose="020B0604030504040204" pitchFamily="34" charset="0"/>
              <a:buChar char="−"/>
              <a:defRPr/>
            </a:lvl6pPr>
            <a:lvl7pPr marL="356407" indent="-176403">
              <a:spcAft>
                <a:spcPts val="1000"/>
              </a:spcAft>
              <a:defRPr/>
            </a:lvl7pPr>
            <a:lvl8pPr marL="356407" indent="-176403">
              <a:spcAft>
                <a:spcPts val="1000"/>
              </a:spcAft>
              <a:defRPr/>
            </a:lvl8pPr>
            <a:lvl9pPr marL="356407" indent="-176403">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4235408146"/>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1" cy="370193"/>
          </a:xfrm>
        </p:spPr>
        <p:txBody>
          <a:bodyPr/>
          <a:lstStyle>
            <a:lvl1pPr>
              <a:defRPr>
                <a:solidFill>
                  <a:schemeClr val="bg1"/>
                </a:solidFill>
              </a:defRPr>
            </a:lvl1pPr>
          </a:lstStyle>
          <a:p>
            <a:r>
              <a:rPr lang="en-US" noProof="0" dirty="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3" indent="-176403">
              <a:spcAft>
                <a:spcPts val="1000"/>
              </a:spcAft>
              <a:buFont typeface="Arial" panose="020B0604020202020204" pitchFamily="34" charset="0"/>
              <a:buChar char="•"/>
              <a:defRPr>
                <a:solidFill>
                  <a:schemeClr val="bg1"/>
                </a:solidFill>
              </a:defRPr>
            </a:lvl4pPr>
            <a:lvl5pPr marL="356407" indent="-176403">
              <a:spcAft>
                <a:spcPts val="1000"/>
              </a:spcAft>
              <a:defRPr baseline="0">
                <a:solidFill>
                  <a:schemeClr val="bg1"/>
                </a:solidFill>
              </a:defRPr>
            </a:lvl5pPr>
            <a:lvl6pPr marL="356407" indent="-176403">
              <a:spcAft>
                <a:spcPts val="1000"/>
              </a:spcAft>
              <a:buFont typeface="Verdana" panose="020B0604030504040204" pitchFamily="34" charset="0"/>
              <a:buChar char="−"/>
              <a:defRPr>
                <a:solidFill>
                  <a:schemeClr val="bg1"/>
                </a:solidFill>
              </a:defRPr>
            </a:lvl6pPr>
            <a:lvl7pPr marL="356407" indent="-176403">
              <a:spcAft>
                <a:spcPts val="1000"/>
              </a:spcAft>
              <a:defRPr>
                <a:solidFill>
                  <a:schemeClr val="bg1"/>
                </a:solidFill>
              </a:defRPr>
            </a:lvl7pPr>
            <a:lvl8pPr marL="356407" indent="-176403">
              <a:spcAft>
                <a:spcPts val="1000"/>
              </a:spcAft>
              <a:defRPr>
                <a:solidFill>
                  <a:schemeClr val="bg1"/>
                </a:solidFill>
              </a:defRPr>
            </a:lvl8pPr>
            <a:lvl9pPr marL="356407" indent="-176403">
              <a:spcAft>
                <a:spcPts val="1000"/>
              </a:spcAft>
              <a:defRPr>
                <a:solidFill>
                  <a:schemeClr val="bg1"/>
                </a:solidFill>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3" indent="-176403">
              <a:spcAft>
                <a:spcPts val="1000"/>
              </a:spcAft>
              <a:buFont typeface="Arial" panose="020B0604020202020204" pitchFamily="34" charset="0"/>
              <a:buChar char="•"/>
              <a:defRPr>
                <a:solidFill>
                  <a:schemeClr val="bg1"/>
                </a:solidFill>
              </a:defRPr>
            </a:lvl4pPr>
            <a:lvl5pPr marL="356407" indent="-176403">
              <a:spcAft>
                <a:spcPts val="1000"/>
              </a:spcAft>
              <a:defRPr baseline="0">
                <a:solidFill>
                  <a:schemeClr val="bg1"/>
                </a:solidFill>
              </a:defRPr>
            </a:lvl5pPr>
            <a:lvl6pPr marL="356407" indent="-176403">
              <a:spcAft>
                <a:spcPts val="1000"/>
              </a:spcAft>
              <a:buFont typeface="Verdana" panose="020B0604030504040204" pitchFamily="34" charset="0"/>
              <a:buChar char="−"/>
              <a:defRPr>
                <a:solidFill>
                  <a:schemeClr val="bg1"/>
                </a:solidFill>
              </a:defRPr>
            </a:lvl6pPr>
            <a:lvl7pPr marL="356407" indent="-176403">
              <a:spcAft>
                <a:spcPts val="1000"/>
              </a:spcAft>
              <a:defRPr>
                <a:solidFill>
                  <a:schemeClr val="bg1"/>
                </a:solidFill>
              </a:defRPr>
            </a:lvl7pPr>
            <a:lvl8pPr marL="356407" indent="-176403">
              <a:spcAft>
                <a:spcPts val="1000"/>
              </a:spcAft>
              <a:defRPr>
                <a:solidFill>
                  <a:schemeClr val="bg1"/>
                </a:solidFill>
              </a:defRPr>
            </a:lvl8pPr>
            <a:lvl9pPr marL="356407" indent="-176403">
              <a:spcAft>
                <a:spcPts val="1000"/>
              </a:spcAft>
              <a:defRPr>
                <a:solidFill>
                  <a:schemeClr val="bg1"/>
                </a:solidFill>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3" indent="-176403">
              <a:spcAft>
                <a:spcPts val="1000"/>
              </a:spcAft>
              <a:buFont typeface="Arial" panose="020B0604020202020204" pitchFamily="34" charset="0"/>
              <a:buChar char="•"/>
              <a:defRPr>
                <a:solidFill>
                  <a:schemeClr val="bg1"/>
                </a:solidFill>
              </a:defRPr>
            </a:lvl4pPr>
            <a:lvl5pPr marL="356407" indent="-176403">
              <a:spcAft>
                <a:spcPts val="1000"/>
              </a:spcAft>
              <a:defRPr baseline="0">
                <a:solidFill>
                  <a:schemeClr val="bg1"/>
                </a:solidFill>
              </a:defRPr>
            </a:lvl5pPr>
            <a:lvl6pPr marL="356407" indent="-176403">
              <a:spcAft>
                <a:spcPts val="1000"/>
              </a:spcAft>
              <a:buFont typeface="Verdana" panose="020B0604030504040204" pitchFamily="34" charset="0"/>
              <a:buChar char="−"/>
              <a:defRPr>
                <a:solidFill>
                  <a:schemeClr val="bg1"/>
                </a:solidFill>
              </a:defRPr>
            </a:lvl6pPr>
            <a:lvl7pPr marL="356407" indent="-176403">
              <a:spcAft>
                <a:spcPts val="1000"/>
              </a:spcAft>
              <a:defRPr>
                <a:solidFill>
                  <a:schemeClr val="bg1"/>
                </a:solidFill>
              </a:defRPr>
            </a:lvl7pPr>
            <a:lvl8pPr marL="356407" indent="-176403">
              <a:spcAft>
                <a:spcPts val="1000"/>
              </a:spcAft>
              <a:defRPr>
                <a:solidFill>
                  <a:schemeClr val="bg1"/>
                </a:solidFill>
              </a:defRPr>
            </a:lvl8pPr>
            <a:lvl9pPr marL="356407" indent="-176403">
              <a:spcAft>
                <a:spcPts val="1000"/>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000"/>
              </a:spcAft>
              <a:defRPr>
                <a:solidFill>
                  <a:schemeClr val="bg1"/>
                </a:solidFill>
              </a:defRPr>
            </a:lvl2pPr>
            <a:lvl3pPr marL="0" indent="0">
              <a:spcAft>
                <a:spcPts val="1000"/>
              </a:spcAft>
              <a:buNone/>
              <a:defRPr>
                <a:solidFill>
                  <a:schemeClr val="bg1"/>
                </a:solidFill>
              </a:defRPr>
            </a:lvl3pPr>
            <a:lvl4pPr marL="176403" indent="-176403">
              <a:spcAft>
                <a:spcPts val="1000"/>
              </a:spcAft>
              <a:buFont typeface="Arial" panose="020B0604020202020204" pitchFamily="34" charset="0"/>
              <a:buChar char="•"/>
              <a:defRPr>
                <a:solidFill>
                  <a:schemeClr val="bg1"/>
                </a:solidFill>
              </a:defRPr>
            </a:lvl4pPr>
            <a:lvl5pPr marL="356407" indent="-176403">
              <a:spcAft>
                <a:spcPts val="1000"/>
              </a:spcAft>
              <a:defRPr baseline="0">
                <a:solidFill>
                  <a:schemeClr val="bg1"/>
                </a:solidFill>
              </a:defRPr>
            </a:lvl5pPr>
            <a:lvl6pPr marL="356407" indent="-176403">
              <a:spcAft>
                <a:spcPts val="1000"/>
              </a:spcAft>
              <a:buFont typeface="Verdana" panose="020B0604030504040204" pitchFamily="34" charset="0"/>
              <a:buChar char="−"/>
              <a:defRPr>
                <a:solidFill>
                  <a:schemeClr val="bg1"/>
                </a:solidFill>
              </a:defRPr>
            </a:lvl6pPr>
            <a:lvl7pPr marL="356407" indent="-176403">
              <a:spcAft>
                <a:spcPts val="1000"/>
              </a:spcAft>
              <a:defRPr>
                <a:solidFill>
                  <a:schemeClr val="bg1"/>
                </a:solidFill>
              </a:defRPr>
            </a:lvl7pPr>
            <a:lvl8pPr marL="356407" indent="-176403">
              <a:spcAft>
                <a:spcPts val="1000"/>
              </a:spcAft>
              <a:defRPr>
                <a:solidFill>
                  <a:schemeClr val="bg1"/>
                </a:solidFill>
              </a:defRPr>
            </a:lvl8pPr>
            <a:lvl9pPr marL="356407" indent="-176403">
              <a:spcAft>
                <a:spcPts val="1000"/>
              </a:spcAft>
              <a:defRPr>
                <a:solidFill>
                  <a:schemeClr val="bg1"/>
                </a:solidFill>
              </a:defRPr>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Text Placeholder 8"/>
          <p:cNvSpPr>
            <a:spLocks noGrp="1"/>
          </p:cNvSpPr>
          <p:nvPr>
            <p:ph type="body" sz="quarter" idx="13" hasCustomPrompt="1"/>
          </p:nvPr>
        </p:nvSpPr>
        <p:spPr>
          <a:xfrm>
            <a:off x="501651" y="687694"/>
            <a:ext cx="11188701" cy="757255"/>
          </a:xfrm>
          <a:prstGeom prst="rect">
            <a:avLst/>
          </a:prstGeom>
        </p:spPr>
        <p:txBody>
          <a:bodyPr lIns="0" tIns="0" rIns="0" bIns="0">
            <a:noAutofit/>
          </a:bodyPr>
          <a:lstStyle>
            <a:lvl1pPr marL="0" indent="0">
              <a:buNone/>
              <a:defRPr sz="1814" b="0">
                <a:solidFill>
                  <a:schemeClr val="bg1"/>
                </a:solidFill>
              </a:defRPr>
            </a:lvl1pPr>
          </a:lstStyle>
          <a:p>
            <a:pPr lvl="0"/>
            <a:r>
              <a:rPr lang="en-US" noProof="0" dirty="0"/>
              <a:t>Click to add subtitle</a:t>
            </a:r>
          </a:p>
        </p:txBody>
      </p:sp>
      <p:sp>
        <p:nvSpPr>
          <p:cNvPr id="13" name="TextBox 12"/>
          <p:cNvSpPr txBox="1"/>
          <p:nvPr userDrawn="1"/>
        </p:nvSpPr>
        <p:spPr>
          <a:xfrm>
            <a:off x="6335185" y="6477001"/>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501651" y="6477001"/>
            <a:ext cx="5355167" cy="100027"/>
          </a:xfrm>
          <a:prstGeom prst="rect">
            <a:avLst/>
          </a:prstGeom>
          <a:noFill/>
        </p:spPr>
        <p:txBody>
          <a:bodyPr wrap="square" lIns="0" tIns="0" rIns="0" bIns="0" rtlCol="0">
            <a:spAutoFit/>
          </a:bodyPr>
          <a:lstStyle/>
          <a:p>
            <a:pPr marL="0" indent="0">
              <a:spcBef>
                <a:spcPts val="600"/>
              </a:spcBef>
              <a:buSzPct val="100000"/>
              <a:buFont typeface="Arial"/>
              <a:buNone/>
            </a:pPr>
            <a:r>
              <a:rPr lang="en-IN" sz="650" noProof="0" dirty="0">
                <a:solidFill>
                  <a:schemeClr val="bg1"/>
                </a:solidFill>
              </a:rPr>
              <a:t>©2016 Deloitte Shared Services India LLP</a:t>
            </a:r>
            <a:endParaRPr lang="fr-FR" sz="650" noProof="0" dirty="0">
              <a:solidFill>
                <a:schemeClr val="bg1"/>
              </a:solidFill>
            </a:endParaRPr>
          </a:p>
        </p:txBody>
      </p:sp>
      <p:sp>
        <p:nvSpPr>
          <p:cNvPr id="15" name="TextBox 14"/>
          <p:cNvSpPr txBox="1"/>
          <p:nvPr userDrawn="1"/>
        </p:nvSpPr>
        <p:spPr>
          <a:xfrm>
            <a:off x="11382377" y="6477001"/>
            <a:ext cx="307974"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bg1"/>
                </a:solidFill>
              </a:rPr>
              <a:pPr marL="0" indent="0" algn="r">
                <a:spcBef>
                  <a:spcPts val="6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539604629"/>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0" y="651601"/>
            <a:ext cx="1118870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9" name="Title Placeholder 1"/>
          <p:cNvSpPr>
            <a:spLocks noGrp="1"/>
          </p:cNvSpPr>
          <p:nvPr>
            <p:ph type="title" hasCustomPrompt="1"/>
          </p:nvPr>
        </p:nvSpPr>
        <p:spPr>
          <a:xfrm>
            <a:off x="501650" y="317500"/>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0" name="Text Placeholder 18"/>
          <p:cNvSpPr>
            <a:spLocks noGrp="1"/>
          </p:cNvSpPr>
          <p:nvPr>
            <p:ph idx="1"/>
          </p:nvPr>
        </p:nvSpPr>
        <p:spPr>
          <a:xfrm>
            <a:off x="501651" y="1665289"/>
            <a:ext cx="5594351"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34062806"/>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Click to edit Master title style</a:t>
            </a:r>
          </a:p>
        </p:txBody>
      </p:sp>
    </p:spTree>
    <p:extLst>
      <p:ext uri="{BB962C8B-B14F-4D97-AF65-F5344CB8AC3E}">
        <p14:creationId xmlns:p14="http://schemas.microsoft.com/office/powerpoint/2010/main" val="2527957962"/>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1753114"/>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cSld name="MAIN LAYOUT 2016">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0" y="317500"/>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01652" y="1665288"/>
            <a:ext cx="11165416" cy="4713911"/>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513899287"/>
      </p:ext>
    </p:extLst>
  </p:cSld>
  <p:clrMapOvr>
    <a:masterClrMapping/>
  </p:clrMapOvr>
  <p:transition>
    <p:fade/>
  </p:transition>
  <p:hf hdr="0" dt="0"/>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MAIN LAYOUT DHSLLP1234567">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3" y="651602"/>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3" y="317505"/>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01653" y="1665288"/>
            <a:ext cx="11165416" cy="4734936"/>
          </a:xfrm>
          <a:prstGeom prst="rect">
            <a:avLst/>
          </a:prstGeom>
        </p:spPr>
        <p:txBody>
          <a:bodyPr vert="horz" lIns="0" tIns="0" rIns="0" bIns="0" rtlCol="0">
            <a:noAutofit/>
          </a:bodyPr>
          <a:lstStyle>
            <a:lvl1pPr algn="l">
              <a:defRPr/>
            </a:lvl1pPr>
            <a:lvl2pPr algn="l">
              <a:defRPr/>
            </a:lvl2pPr>
            <a:lvl3pPr algn="l">
              <a:defRPr/>
            </a:lvl3pPr>
            <a:lvl4pPr algn="l">
              <a:defRPr/>
            </a:lvl4pPr>
            <a:lvl5pPr algn="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86848838"/>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192505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_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Text Placeholder 8"/>
          <p:cNvSpPr>
            <a:spLocks noGrp="1"/>
          </p:cNvSpPr>
          <p:nvPr>
            <p:ph type="body" sz="quarter" idx="13" hasCustomPrompt="1"/>
          </p:nvPr>
        </p:nvSpPr>
        <p:spPr>
          <a:xfrm>
            <a:off x="469900" y="736689"/>
            <a:ext cx="11252200" cy="757255"/>
          </a:xfrm>
          <a:prstGeom prst="rect">
            <a:avLst/>
          </a:prstGeom>
        </p:spPr>
        <p:txBody>
          <a:bodyPr lIns="0" tIns="0" rIns="0" bIns="0">
            <a:noAutofit/>
          </a:bodyPr>
          <a:lstStyle>
            <a:lvl1pPr marL="0" indent="0">
              <a:buNone/>
              <a:defRPr sz="159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1590"/>
            </a:lvl1pPr>
          </a:lstStyle>
          <a:p>
            <a:r>
              <a:rPr lang="en-US" noProof="0"/>
              <a:t>Click to edit Master title style</a:t>
            </a:r>
            <a:endParaRPr lang="en-US" noProof="0" dirty="0"/>
          </a:p>
        </p:txBody>
      </p:sp>
    </p:spTree>
    <p:extLst>
      <p:ext uri="{BB962C8B-B14F-4D97-AF65-F5344CB8AC3E}">
        <p14:creationId xmlns:p14="http://schemas.microsoft.com/office/powerpoint/2010/main" val="275336992"/>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MAIN LAYOU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632"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0" y="317500"/>
            <a:ext cx="11162350" cy="334101"/>
          </a:xfrm>
          <a:prstGeom prst="rect">
            <a:avLst/>
          </a:prstGeom>
        </p:spPr>
        <p:txBody>
          <a:bodyPr vert="horz" lIns="0" tIns="0" rIns="0" bIns="0" rtlCol="0" anchor="t" anchorCtr="0">
            <a:noAutofit/>
          </a:bodyPr>
          <a:lstStyle>
            <a:lvl1pPr>
              <a:defRPr/>
            </a:lvl1pPr>
          </a:lstStyle>
          <a:p>
            <a:r>
              <a:rPr lang="en-US" noProof="0" dirty="0"/>
              <a:t>Click to edit Master title style</a:t>
            </a:r>
          </a:p>
        </p:txBody>
      </p:sp>
      <p:sp>
        <p:nvSpPr>
          <p:cNvPr id="8" name="Text Placeholder 18"/>
          <p:cNvSpPr>
            <a:spLocks noGrp="1"/>
          </p:cNvSpPr>
          <p:nvPr>
            <p:ph idx="1"/>
          </p:nvPr>
        </p:nvSpPr>
        <p:spPr>
          <a:xfrm>
            <a:off x="501652" y="1658358"/>
            <a:ext cx="11165416" cy="4678986"/>
          </a:xfrm>
          <a:prstGeom prst="rect">
            <a:avLst/>
          </a:prstGeom>
        </p:spPr>
        <p:txBody>
          <a:bodyPr vert="horz" lIns="0" tIns="0" rIns="0" bIns="0" rtlCol="0">
            <a:noAutofit/>
          </a:bodyPr>
          <a:lstStyle>
            <a:lvl1pPr algn="l">
              <a:defRPr sz="1270"/>
            </a:lvl1pPr>
            <a:lvl2pPr algn="l">
              <a:defRPr sz="1270"/>
            </a:lvl2pPr>
            <a:lvl3pPr algn="l">
              <a:defRPr sz="1270"/>
            </a:lvl3pPr>
            <a:lvl4pPr algn="l">
              <a:defRPr sz="1270"/>
            </a:lvl4pPr>
            <a:lvl5pPr algn="l">
              <a:defRPr sz="1270"/>
            </a:lvl5pPr>
            <a:lvl6pPr>
              <a:defRPr sz="1600"/>
            </a:lvl6pPr>
            <a:lvl7pPr>
              <a:defRPr sz="1600"/>
            </a:lvl7pPr>
            <a:lvl8pPr>
              <a:defRPr sz="1600"/>
            </a:lvl8pPr>
            <a:lvl9pPr>
              <a:defRPr sz="1600"/>
            </a:lvl9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Rectangle 1"/>
          <p:cNvSpPr/>
          <p:nvPr userDrawn="1"/>
        </p:nvSpPr>
        <p:spPr bwMode="gray">
          <a:xfrm>
            <a:off x="11845623" y="0"/>
            <a:ext cx="346378" cy="3951291"/>
          </a:xfrm>
          <a:prstGeom prst="rect">
            <a:avLst/>
          </a:prstGeom>
          <a:solidFill>
            <a:schemeClr val="accent3"/>
          </a:solidFill>
          <a:ln w="19050" algn="ctr">
            <a:noFill/>
            <a:miter lim="800000"/>
            <a:headEnd/>
            <a:tailEnd/>
          </a:ln>
        </p:spPr>
        <p:txBody>
          <a:bodyPr wrap="square" lIns="80615" tIns="80615" rIns="80615" bIns="80615" rtlCol="0" anchor="ctr"/>
          <a:lstStyle/>
          <a:p>
            <a:pPr algn="ctr">
              <a:lnSpc>
                <a:spcPct val="106000"/>
              </a:lnSpc>
              <a:buFont typeface="Wingdings 2" pitchFamily="18" charset="2"/>
              <a:buNone/>
            </a:pPr>
            <a:endParaRPr lang="en-GB" sz="1451" b="1" dirty="0">
              <a:solidFill>
                <a:schemeClr val="bg1"/>
              </a:solidFill>
            </a:endParaRPr>
          </a:p>
        </p:txBody>
      </p:sp>
    </p:spTree>
    <p:extLst>
      <p:ext uri="{BB962C8B-B14F-4D97-AF65-F5344CB8AC3E}">
        <p14:creationId xmlns:p14="http://schemas.microsoft.com/office/powerpoint/2010/main" val="3906883936"/>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Preface Layou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93484" y="295683"/>
            <a:ext cx="11184000" cy="990177"/>
          </a:xfrm>
          <a:prstGeom prst="rect">
            <a:avLst/>
          </a:prstGeom>
        </p:spPr>
        <p:txBody>
          <a:bodyPr vert="horz" lIns="0" tIns="0" rIns="0" bIns="0" rtlCol="0" anchor="t" anchorCtr="0">
            <a:noAutofit/>
          </a:bodyPr>
          <a:lstStyle/>
          <a:p>
            <a:r>
              <a:rPr lang="en-US"/>
              <a:t>Click to edit Master title style</a:t>
            </a:r>
            <a:endParaRPr lang="en-GB" dirty="0"/>
          </a:p>
        </p:txBody>
      </p:sp>
      <p:sp>
        <p:nvSpPr>
          <p:cNvPr id="20" name="Text Placeholder 19"/>
          <p:cNvSpPr>
            <a:spLocks noGrp="1"/>
          </p:cNvSpPr>
          <p:nvPr>
            <p:ph type="body" sz="quarter" idx="14"/>
          </p:nvPr>
        </p:nvSpPr>
        <p:spPr>
          <a:xfrm>
            <a:off x="494400" y="1805668"/>
            <a:ext cx="11184000" cy="4545033"/>
          </a:xfrm>
        </p:spPr>
        <p:txBody>
          <a:bodyPr/>
          <a:lstStyle>
            <a:lvl1pPr marL="0" indent="0" algn="l">
              <a:buNone/>
              <a:defRPr/>
            </a:lvl1pPr>
            <a:lvl2pPr marL="266705" indent="-266705">
              <a:buFont typeface="Arial" pitchFamily="34" charset="0"/>
              <a:buChar cha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p:cNvSpPr>
            <a:spLocks noGrp="1"/>
          </p:cNvSpPr>
          <p:nvPr>
            <p:ph type="ftr" sz="quarter" idx="3"/>
          </p:nvPr>
        </p:nvSpPr>
        <p:spPr>
          <a:xfrm>
            <a:off x="493485" y="6407835"/>
            <a:ext cx="10079297" cy="252000"/>
          </a:xfrm>
          <a:prstGeom prst="rect">
            <a:avLst/>
          </a:prstGeom>
        </p:spPr>
        <p:txBody>
          <a:bodyPr vert="horz" lIns="0" tIns="0" rIns="0" bIns="0" rtlCol="0" anchor="ctr" anchorCtr="0"/>
          <a:lstStyle>
            <a:lvl1pPr algn="l">
              <a:defRPr sz="800" b="0">
                <a:solidFill>
                  <a:srgbClr val="8C8C8C"/>
                </a:solidFill>
              </a:defRPr>
            </a:lvl1pPr>
          </a:lstStyle>
          <a:p>
            <a:endParaRPr lang="en-GB" dirty="0"/>
          </a:p>
        </p:txBody>
      </p:sp>
      <p:sp>
        <p:nvSpPr>
          <p:cNvPr id="6" name="Slide Number Placeholder 7"/>
          <p:cNvSpPr>
            <a:spLocks noGrp="1"/>
          </p:cNvSpPr>
          <p:nvPr>
            <p:ph type="sldNum" sz="quarter" idx="4"/>
          </p:nvPr>
        </p:nvSpPr>
        <p:spPr>
          <a:xfrm>
            <a:off x="10629328" y="6407835"/>
            <a:ext cx="1056117" cy="252000"/>
          </a:xfrm>
          <a:prstGeom prst="rect">
            <a:avLst/>
          </a:prstGeom>
        </p:spPr>
        <p:txBody>
          <a:bodyPr vert="horz" lIns="0" tIns="0" rIns="0" bIns="0" rtlCol="0" anchor="ctr" anchorCtr="0"/>
          <a:lstStyle>
            <a:lvl1pPr algn="r">
              <a:defRPr sz="800" b="0">
                <a:solidFill>
                  <a:srgbClr val="8C8C8C"/>
                </a:solidFill>
              </a:defRPr>
            </a:lvl1pPr>
          </a:lstStyle>
          <a:p>
            <a:fld id="{95CC1D26-A9BD-4BDE-BDD9-08EDBAE96860}" type="slidenum">
              <a:rPr lang="en-GB" smtClean="0"/>
              <a:pPr/>
              <a:t>‹#›</a:t>
            </a:fld>
            <a:endParaRPr lang="en-GB" dirty="0"/>
          </a:p>
        </p:txBody>
      </p:sp>
    </p:spTree>
    <p:extLst>
      <p:ext uri="{BB962C8B-B14F-4D97-AF65-F5344CB8AC3E}">
        <p14:creationId xmlns:p14="http://schemas.microsoft.com/office/powerpoint/2010/main" val="2946500440"/>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MAIN LAYOUT12345">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66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0" y="317500"/>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01652" y="1665288"/>
            <a:ext cx="11165416" cy="471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183975351"/>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Title and Content 1">
    <p:spTree>
      <p:nvGrpSpPr>
        <p:cNvPr id="1" name=""/>
        <p:cNvGrpSpPr/>
        <p:nvPr/>
      </p:nvGrpSpPr>
      <p:grpSpPr>
        <a:xfrm>
          <a:off x="0" y="0"/>
          <a:ext cx="0" cy="0"/>
          <a:chOff x="0" y="0"/>
          <a:chExt cx="0" cy="0"/>
        </a:xfrm>
      </p:grpSpPr>
      <p:sp>
        <p:nvSpPr>
          <p:cNvPr id="9" name="Text Placeholder 8"/>
          <p:cNvSpPr>
            <a:spLocks noGrp="1"/>
          </p:cNvSpPr>
          <p:nvPr>
            <p:ph type="body" sz="quarter" idx="13"/>
          </p:nvPr>
        </p:nvSpPr>
        <p:spPr>
          <a:xfrm>
            <a:off x="493484" y="765176"/>
            <a:ext cx="11184000" cy="969282"/>
          </a:xfrm>
        </p:spPr>
        <p:txBody>
          <a:bodyPr>
            <a:normAutofit/>
          </a:bodyPr>
          <a:lstStyle>
            <a:lvl1pPr marL="0" indent="0">
              <a:buNone/>
              <a:defRPr sz="3000" b="0">
                <a:solidFill>
                  <a:srgbClr val="575757"/>
                </a:solidFill>
              </a:defRPr>
            </a:lvl1pPr>
          </a:lstStyle>
          <a:p>
            <a:pPr lvl="0"/>
            <a:r>
              <a:rPr lang="en-US"/>
              <a:t>Click to edit Master text styles</a:t>
            </a:r>
          </a:p>
        </p:txBody>
      </p:sp>
      <p:sp>
        <p:nvSpPr>
          <p:cNvPr id="14" name="Title Placeholder 1"/>
          <p:cNvSpPr>
            <a:spLocks noGrp="1"/>
          </p:cNvSpPr>
          <p:nvPr>
            <p:ph type="title"/>
          </p:nvPr>
        </p:nvSpPr>
        <p:spPr>
          <a:xfrm>
            <a:off x="493484" y="295684"/>
            <a:ext cx="11184000" cy="469492"/>
          </a:xfrm>
          <a:prstGeom prst="rect">
            <a:avLst/>
          </a:prstGeom>
        </p:spPr>
        <p:txBody>
          <a:bodyPr vert="horz" lIns="0" tIns="0" rIns="0" bIns="0" rtlCol="0" anchor="t" anchorCtr="0">
            <a:noAutofit/>
          </a:bodyPr>
          <a:lstStyle/>
          <a:p>
            <a:r>
              <a:rPr lang="en-US"/>
              <a:t>Click to edit Master title style</a:t>
            </a:r>
            <a:endParaRPr lang="en-GB" dirty="0"/>
          </a:p>
        </p:txBody>
      </p:sp>
      <p:sp>
        <p:nvSpPr>
          <p:cNvPr id="20" name="Text Placeholder 19"/>
          <p:cNvSpPr>
            <a:spLocks noGrp="1"/>
          </p:cNvSpPr>
          <p:nvPr>
            <p:ph type="body" sz="quarter" idx="14"/>
          </p:nvPr>
        </p:nvSpPr>
        <p:spPr>
          <a:xfrm>
            <a:off x="494400" y="1810800"/>
            <a:ext cx="11184000" cy="453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762877541"/>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userDrawn="1">
  <p:cSld name="1_Divider - Deloitte dark blue">
    <p:bg bwMode="gray">
      <p:bgPr>
        <a:solidFill>
          <a:schemeClr val="accent4">
            <a:lumMod val="50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E62E03-E369-40CE-ABCD-21BC8181D9B0}"/>
              </a:ext>
            </a:extLst>
          </p:cNvPr>
          <p:cNvSpPr txBox="1"/>
          <p:nvPr userDrawn="1"/>
        </p:nvSpPr>
        <p:spPr>
          <a:xfrm>
            <a:off x="11410953" y="6477000"/>
            <a:ext cx="307975" cy="123111"/>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800" noProof="0" smtClean="0">
                <a:solidFill>
                  <a:schemeClr val="bg1"/>
                </a:solidFill>
                <a:latin typeface="Calibri" panose="020F0502020204030204" pitchFamily="34" charset="0"/>
                <a:cs typeface="Calibri" panose="020F0502020204030204" pitchFamily="34" charset="0"/>
              </a:rPr>
              <a:pPr marL="0" indent="0" algn="r">
                <a:spcBef>
                  <a:spcPts val="800"/>
                </a:spcBef>
                <a:buSzPct val="100000"/>
                <a:buFont typeface="Arial"/>
                <a:buNone/>
              </a:pPr>
              <a:t>‹#›</a:t>
            </a:fld>
            <a:endParaRPr lang="en-US" sz="800" noProof="0" dirty="0">
              <a:solidFill>
                <a:schemeClr val="bg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5B7DFED-AAE7-4EB2-B0F7-DDC853760184}"/>
              </a:ext>
            </a:extLst>
          </p:cNvPr>
          <p:cNvSpPr txBox="1"/>
          <p:nvPr userDrawn="1"/>
        </p:nvSpPr>
        <p:spPr>
          <a:xfrm>
            <a:off x="469900" y="6477000"/>
            <a:ext cx="3808413" cy="123111"/>
          </a:xfrm>
          <a:prstGeom prst="rect">
            <a:avLst/>
          </a:prstGeom>
          <a:noFill/>
        </p:spPr>
        <p:txBody>
          <a:bodyPr wrap="square" lIns="0" tIns="0" rIns="0" bIns="0" rtlCol="0">
            <a:spAutoFit/>
          </a:bodyPr>
          <a:lstStyle/>
          <a:p>
            <a:pPr marL="0" indent="0" algn="l">
              <a:spcBef>
                <a:spcPts val="800"/>
              </a:spcBef>
              <a:buSzPct val="100000"/>
              <a:buFont typeface="Arial"/>
              <a:buNone/>
            </a:pPr>
            <a:r>
              <a:rPr lang="fr-FR" sz="800" noProof="0" dirty="0">
                <a:solidFill>
                  <a:schemeClr val="bg1"/>
                </a:solidFill>
                <a:latin typeface="Calibri" panose="020F0502020204030204" pitchFamily="34" charset="0"/>
                <a:cs typeface="Calibri" panose="020F0502020204030204" pitchFamily="34" charset="0"/>
              </a:rPr>
              <a:t>© 2021 Deloitte Touche Tohmatsu India LLP</a:t>
            </a:r>
          </a:p>
        </p:txBody>
      </p:sp>
    </p:spTree>
    <p:extLst>
      <p:ext uri="{BB962C8B-B14F-4D97-AF65-F5344CB8AC3E}">
        <p14:creationId xmlns:p14="http://schemas.microsoft.com/office/powerpoint/2010/main" val="223060855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Ref idx="1001">
        <a:schemeClr val="bg1"/>
      </p:bgRef>
    </p:bg>
    <p:spTree>
      <p:nvGrpSpPr>
        <p:cNvPr id="1" name=""/>
        <p:cNvGrpSpPr/>
        <p:nvPr/>
      </p:nvGrpSpPr>
      <p:grpSpPr>
        <a:xfrm>
          <a:off x="0" y="0"/>
          <a:ext cx="0" cy="0"/>
          <a:chOff x="0" y="0"/>
          <a:chExt cx="0" cy="0"/>
        </a:xfrm>
      </p:grpSpPr>
      <p:pic>
        <p:nvPicPr>
          <p:cNvPr id="20" name="Background Picture 3"/>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0" y="0"/>
            <a:ext cx="12189600" cy="6858000"/>
          </a:xfrm>
          <a:prstGeom prst="rect">
            <a:avLst/>
          </a:prstGeom>
        </p:spPr>
      </p:pic>
      <p:sp>
        <p:nvSpPr>
          <p:cNvPr id="33" name="Picture Placeholder 8"/>
          <p:cNvSpPr>
            <a:spLocks noGrp="1"/>
          </p:cNvSpPr>
          <p:nvPr>
            <p:ph type="pic" sz="quarter" idx="11"/>
          </p:nvPr>
        </p:nvSpPr>
        <p:spPr>
          <a:xfrm>
            <a:off x="3393716" y="727595"/>
            <a:ext cx="5400000" cy="5400000"/>
          </a:xfrm>
          <a:prstGeom prst="rect">
            <a:avLst/>
          </a:prstGeom>
        </p:spPr>
        <p:txBody>
          <a:bodyPr/>
          <a:lstStyle>
            <a:lvl1pPr>
              <a:defRPr>
                <a:solidFill>
                  <a:schemeClr val="tx1"/>
                </a:solidFill>
              </a:defRPr>
            </a:lvl1pPr>
          </a:lstStyle>
          <a:p>
            <a:r>
              <a:rPr lang="en-GB" noProof="0"/>
              <a:t>Click icon to add picture</a:t>
            </a:r>
            <a:endParaRPr lang="en-GB" noProof="0" dirty="0"/>
          </a:p>
        </p:txBody>
      </p:sp>
      <p:sp>
        <p:nvSpPr>
          <p:cNvPr id="2" name="Title"/>
          <p:cNvSpPr>
            <a:spLocks noGrp="1"/>
          </p:cNvSpPr>
          <p:nvPr>
            <p:ph type="ctrTitle" hasCustomPrompt="1"/>
          </p:nvPr>
        </p:nvSpPr>
        <p:spPr bwMode="gray">
          <a:xfrm>
            <a:off x="475200" y="5480578"/>
            <a:ext cx="5620800" cy="324000"/>
          </a:xfrm>
        </p:spPr>
        <p:txBody>
          <a:bodyPr anchor="b" anchorCtr="0">
            <a:noAutofit/>
          </a:bodyPr>
          <a:lstStyle>
            <a:lvl1pPr algn="l">
              <a:lnSpc>
                <a:spcPct val="100000"/>
              </a:lnSpc>
              <a:defRPr sz="1800" b="1">
                <a:solidFill>
                  <a:schemeClr val="tx1"/>
                </a:solidFill>
                <a:latin typeface="+mj-lt"/>
                <a:ea typeface="Open Sans" panose="020B0606030504020204" pitchFamily="34" charset="0"/>
                <a:cs typeface="Open Sans" panose="020B0606030504020204" pitchFamily="34" charset="0"/>
              </a:defRPr>
            </a:lvl1pPr>
          </a:lstStyle>
          <a:p>
            <a:r>
              <a:rPr lang="en-GB" dirty="0"/>
              <a:t>Presentation  title runs here</a:t>
            </a:r>
            <a:endParaRPr lang="en-GB" noProof="0" dirty="0"/>
          </a:p>
        </p:txBody>
      </p:sp>
      <p:sp>
        <p:nvSpPr>
          <p:cNvPr id="3" name="Subtitle"/>
          <p:cNvSpPr>
            <a:spLocks noGrp="1"/>
          </p:cNvSpPr>
          <p:nvPr>
            <p:ph type="subTitle" idx="1" hasCustomPrompt="1"/>
          </p:nvPr>
        </p:nvSpPr>
        <p:spPr bwMode="gray">
          <a:xfrm>
            <a:off x="475200" y="5845180"/>
            <a:ext cx="5620800"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pPr lvl="0"/>
            <a:r>
              <a:rPr lang="en-GB" dirty="0"/>
              <a:t>Subtitle here two lines max</a:t>
            </a:r>
            <a:endParaRPr lang="en-GB"/>
          </a:p>
        </p:txBody>
      </p:sp>
      <p:sp>
        <p:nvSpPr>
          <p:cNvPr id="18" name="SD_ART_Logo_White"/>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94324979" name="LogoFrontSlide"/>
          <p:cNvPicPr>
            <a:picLocks noChangeAspect="1"/>
          </p:cNvPicPr>
          <p:nvPr/>
        </p:nvPicPr>
        <p:blipFill>
          <a:blip r:embed="rId3"/>
          <a:stretch>
            <a:fillRect/>
          </a:stretch>
        </p:blipFill>
        <p:spPr>
          <a:xfrm>
            <a:off x="413999" y="503999"/>
            <a:ext cx="1655999" cy="725867"/>
          </a:xfrm>
          <a:prstGeom prst="rect">
            <a:avLst/>
          </a:prstGeom>
        </p:spPr>
      </p:pic>
      <p:sp>
        <p:nvSpPr>
          <p:cNvPr id="4" name="Footer Placeholder 3" hidden="1"/>
          <p:cNvSpPr>
            <a:spLocks noGrp="1"/>
          </p:cNvSpPr>
          <p:nvPr>
            <p:ph type="ftr" sz="quarter" idx="12"/>
          </p:nvPr>
        </p:nvSpPr>
        <p:spPr>
          <a:xfrm>
            <a:off x="6184900" y="6476999"/>
            <a:ext cx="4536726"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9573032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4" name="Footer Placeholder 3"/>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93097330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88130230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Ref idx="1001">
        <a:schemeClr val="bg1"/>
      </p:bgRef>
    </p:bg>
    <p:spTree>
      <p:nvGrpSpPr>
        <p:cNvPr id="1" name=""/>
        <p:cNvGrpSpPr/>
        <p:nvPr/>
      </p:nvGrpSpPr>
      <p:grpSpPr>
        <a:xfrm>
          <a:off x="0" y="0"/>
          <a:ext cx="0" cy="0"/>
          <a:chOff x="0" y="0"/>
          <a:chExt cx="0" cy="0"/>
        </a:xfrm>
      </p:grpSpPr>
      <p:sp>
        <p:nvSpPr>
          <p:cNvPr id="10" name="Colored background"/>
          <p:cNvSpPr/>
          <p:nvPr userDrawn="1"/>
        </p:nvSpPr>
        <p:spPr bwMode="gray">
          <a:xfrm>
            <a:off x="0" y="0"/>
            <a:ext cx="12189600" cy="6858000"/>
          </a:xfrm>
          <a:prstGeom prst="rect">
            <a:avLst/>
          </a:prstGeom>
          <a:solidFill>
            <a:srgbClr val="62B5E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4" name="Footer Placeholder 3"/>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42496464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1216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23193162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0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5" y="667578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
        <p:nvSpPr>
          <p:cNvPr id="8" name="TextBox 7"/>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tx1"/>
                </a:solidFill>
              </a:rPr>
              <a:t>© 2019 Deloitte Touche Tohmatsu India LLP</a:t>
            </a:r>
          </a:p>
        </p:txBody>
      </p:sp>
    </p:spTree>
    <p:extLst>
      <p:ext uri="{BB962C8B-B14F-4D97-AF65-F5344CB8AC3E}">
        <p14:creationId xmlns:p14="http://schemas.microsoft.com/office/powerpoint/2010/main" val="11418197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4" name="Footer Placeholder 3"/>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8574100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4"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402378029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1216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3"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7110558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097A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7"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20" name="TextBox 19"/>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63792938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0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3"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49697439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45134550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marL="475188" indent="0">
              <a:buNone/>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GB"/>
              <a:t>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518841394"/>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5" name="Picture Placeholder 9"/>
          <p:cNvSpPr>
            <a:spLocks noGrp="1"/>
          </p:cNvSpPr>
          <p:nvPr>
            <p:ph type="pic" sz="quarter" idx="15"/>
          </p:nvPr>
        </p:nvSpPr>
        <p:spPr>
          <a:xfrm>
            <a:off x="5604867" y="1700213"/>
            <a:ext cx="6117233" cy="4598988"/>
          </a:xfrm>
        </p:spPr>
        <p:txBody>
          <a:bodyPr/>
          <a:lstStyle/>
          <a:p>
            <a:r>
              <a:rPr lang="en-GB" noProof="0"/>
              <a:t>Click icon to add picture</a:t>
            </a:r>
            <a:endParaRPr lang="en-GB" noProof="0" dirty="0"/>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6"/>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599073870"/>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
        <p:nvSpPr>
          <p:cNvPr id="6" name="TextBox 5"/>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tx1"/>
                </a:solidFill>
              </a:rPr>
              <a:t>© 2019 Deloitte Touche Tohmatsu India LLP</a:t>
            </a:r>
          </a:p>
        </p:txBody>
      </p:sp>
    </p:spTree>
    <p:extLst>
      <p:ext uri="{BB962C8B-B14F-4D97-AF65-F5344CB8AC3E}">
        <p14:creationId xmlns:p14="http://schemas.microsoft.com/office/powerpoint/2010/main" val="1725603850"/>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
        <p:nvSpPr>
          <p:cNvPr id="6" name="TextBox 5"/>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tx1"/>
                </a:solidFill>
              </a:rPr>
              <a:t>© 2019 Deloitte Touche Tohmatsu India LLP</a:t>
            </a:r>
          </a:p>
        </p:txBody>
      </p:sp>
    </p:spTree>
    <p:extLst>
      <p:ext uri="{BB962C8B-B14F-4D97-AF65-F5344CB8AC3E}">
        <p14:creationId xmlns:p14="http://schemas.microsoft.com/office/powerpoint/2010/main" val="2315167284"/>
      </p:ext>
    </p:extLst>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0" y="1676402"/>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917935694"/>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8" name="Text Placeholder 8"/>
          <p:cNvSpPr>
            <a:spLocks noGrp="1"/>
          </p:cNvSpPr>
          <p:nvPr>
            <p:ph type="body" sz="quarter" idx="18"/>
          </p:nvPr>
        </p:nvSpPr>
        <p:spPr>
          <a:xfrm>
            <a:off x="468000" y="1684868"/>
            <a:ext cx="11252200" cy="357187"/>
          </a:xfrm>
        </p:spPr>
        <p:txBody>
          <a:bodyPr/>
          <a:lstStyle/>
          <a:p>
            <a:pPr lvl="0"/>
            <a:r>
              <a:rPr lang="en-GB" noProof="0"/>
              <a:t>Edit Master text styles</a:t>
            </a:r>
            <a:endParaRPr lang="en-GB"/>
          </a:p>
        </p:txBody>
      </p:sp>
      <p:sp>
        <p:nvSpPr>
          <p:cNvPr id="19"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7" name="Chart Placeholder 3"/>
          <p:cNvSpPr>
            <a:spLocks noGrp="1"/>
          </p:cNvSpPr>
          <p:nvPr>
            <p:ph type="chart" sz="quarter" idx="15"/>
          </p:nvPr>
        </p:nvSpPr>
        <p:spPr>
          <a:xfrm>
            <a:off x="468000" y="2036656"/>
            <a:ext cx="11252200" cy="3946134"/>
          </a:xfrm>
          <a:prstGeom prst="rect">
            <a:avLst/>
          </a:prstGeom>
        </p:spPr>
        <p:txBody>
          <a:bodyPr/>
          <a:lstStyle/>
          <a:p>
            <a:r>
              <a:rPr lang="en-GB" noProof="0"/>
              <a:t>Click icon to add chart</a:t>
            </a:r>
            <a:endParaRPr lang="en-GB" noProof="0" dirty="0"/>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165407277"/>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8" name="Text Placeholder 8"/>
          <p:cNvSpPr>
            <a:spLocks noGrp="1"/>
          </p:cNvSpPr>
          <p:nvPr>
            <p:ph type="body" sz="quarter" idx="18"/>
          </p:nvPr>
        </p:nvSpPr>
        <p:spPr>
          <a:xfrm>
            <a:off x="468000" y="1665289"/>
            <a:ext cx="3600000" cy="392112"/>
          </a:xfrm>
        </p:spPr>
        <p:txBody>
          <a:bodyPr/>
          <a:lstStyle/>
          <a:p>
            <a:pPr lvl="0"/>
            <a:r>
              <a:rPr lang="en-GB" noProof="0"/>
              <a:t>Edit Master text styles</a:t>
            </a:r>
            <a:endParaRPr lang="en-GB"/>
          </a:p>
        </p:txBody>
      </p:sp>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GB" noProof="0"/>
              <a:t>Click icon to add chart</a:t>
            </a:r>
            <a:endParaRPr lang="en-GB" noProof="0" dirty="0"/>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GB" noProof="0"/>
              <a:t>Click icon to add chart</a:t>
            </a:r>
            <a:endParaRPr lang="en-GB" noProof="0" dirty="0"/>
          </a:p>
        </p:txBody>
      </p:sp>
      <p:sp>
        <p:nvSpPr>
          <p:cNvPr id="8" name="Text Placeholder 8"/>
          <p:cNvSpPr>
            <a:spLocks noGrp="1"/>
          </p:cNvSpPr>
          <p:nvPr>
            <p:ph type="body" sz="quarter" idx="20"/>
          </p:nvPr>
        </p:nvSpPr>
        <p:spPr>
          <a:xfrm>
            <a:off x="4296003" y="1665288"/>
            <a:ext cx="3600000" cy="392112"/>
          </a:xfrm>
        </p:spPr>
        <p:txBody>
          <a:bodyPr/>
          <a:lstStyle/>
          <a:p>
            <a:pPr lvl="0"/>
            <a:r>
              <a:rPr lang="en-GB" noProof="0"/>
              <a:t>Edit Master text styles</a:t>
            </a:r>
            <a:endParaRPr lang="en-GB"/>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GB" noProof="0"/>
              <a:t>Click icon to add chart</a:t>
            </a:r>
            <a:endParaRPr lang="en-GB" noProof="0" dirty="0"/>
          </a:p>
        </p:txBody>
      </p:sp>
      <p:sp>
        <p:nvSpPr>
          <p:cNvPr id="10" name="Text Placeholder 8"/>
          <p:cNvSpPr>
            <a:spLocks noGrp="1"/>
          </p:cNvSpPr>
          <p:nvPr>
            <p:ph type="body" sz="quarter" idx="22"/>
          </p:nvPr>
        </p:nvSpPr>
        <p:spPr>
          <a:xfrm>
            <a:off x="8086959" y="1659145"/>
            <a:ext cx="3600000" cy="398256"/>
          </a:xfrm>
        </p:spPr>
        <p:txBody>
          <a:bodyPr/>
          <a:lstStyle/>
          <a:p>
            <a:pPr lvl="0"/>
            <a:r>
              <a:rPr lang="en-GB" noProof="0"/>
              <a:t>Edit Master text styles</a:t>
            </a:r>
            <a:endParaRPr lang="en-GB"/>
          </a:p>
        </p:txBody>
      </p:sp>
      <p:sp>
        <p:nvSpPr>
          <p:cNvPr id="11"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762517951"/>
      </p:ext>
    </p:extLst>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51251926"/>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1000"/>
            </a:lvl6pPr>
            <a:lvl7pPr>
              <a:defRPr sz="1000"/>
            </a:lvl7pPr>
            <a:lvl8pPr>
              <a:defRPr sz="1000"/>
            </a:lvl8pPr>
            <a:lvl9pPr>
              <a:defRPr sz="1000"/>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1000"/>
            </a:lvl6pPr>
            <a:lvl7pPr>
              <a:defRPr sz="1000"/>
            </a:lvl7pPr>
            <a:lvl8pPr>
              <a:defRPr sz="1000"/>
            </a:lvl8pPr>
            <a:lvl9pPr>
              <a:defRPr sz="1000"/>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808568036"/>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vl6pPr marL="475188" indent="0">
              <a:buNone/>
              <a:defRPr/>
            </a:lvl6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GB" noProof="0"/>
              <a:t>Click icon to add chart</a:t>
            </a:r>
            <a:endParaRPr lang="en-GB" noProof="0" dirty="0"/>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GB" noProof="0"/>
              <a:t>Edit Master text styles</a:t>
            </a:r>
            <a:endParaRPr lang="en-GB"/>
          </a:p>
        </p:txBody>
      </p:sp>
      <p:sp>
        <p:nvSpPr>
          <p:cNvPr id="9"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639721031"/>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GB" noProof="0"/>
              <a:t>Click icon to add chart</a:t>
            </a:r>
            <a:endParaRPr lang="en-GB" noProof="0" dirty="0"/>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GB" noProof="0"/>
              <a:t>Edit Master text styles</a:t>
            </a:r>
            <a:endParaRPr lang="en-GB"/>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GB" noProof="0"/>
              <a:t>Click icon to add chart</a:t>
            </a:r>
            <a:endParaRPr lang="en-GB" noProof="0" dirty="0"/>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GB" noProof="0"/>
              <a:t>Edit Master text styles</a:t>
            </a:r>
            <a:endParaRPr lang="en-GB"/>
          </a:p>
        </p:txBody>
      </p:sp>
      <p:sp>
        <p:nvSpPr>
          <p:cNvPr id="14"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6"/>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971927891"/>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7"/>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678872817"/>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7"/>
          </p:nvPr>
        </p:nvSpPr>
        <p:spPr>
          <a:xfrm>
            <a:off x="6184900" y="6476999"/>
            <a:ext cx="4536726" cy="244476"/>
          </a:xfrm>
          <a:prstGeom prst="rect">
            <a:avLst/>
          </a:prstGeom>
        </p:spPr>
        <p:txBody>
          <a:bodyPr/>
          <a:lstStyle/>
          <a:p>
            <a:endParaRPr lang="en-GB" dirty="0"/>
          </a:p>
        </p:txBody>
      </p:sp>
      <p:sp>
        <p:nvSpPr>
          <p:cNvPr id="7" name="TextBox 6"/>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tx1"/>
                </a:solidFill>
              </a:rPr>
              <a:t>© 2019 Deloitte Touche Tohmatsu India LLP</a:t>
            </a:r>
          </a:p>
        </p:txBody>
      </p:sp>
    </p:spTree>
    <p:extLst>
      <p:ext uri="{BB962C8B-B14F-4D97-AF65-F5344CB8AC3E}">
        <p14:creationId xmlns:p14="http://schemas.microsoft.com/office/powerpoint/2010/main" val="1808032512"/>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GB" noProof="0"/>
              <a:t>Click icon to add picture</a:t>
            </a:r>
            <a:endParaRPr lang="en-GB" noProof="0" dirty="0"/>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GB" noProof="0"/>
              <a:t>Click icon to add picture</a:t>
            </a:r>
            <a:endParaRPr lang="en-GB" noProof="0" dirty="0"/>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GB" noProof="0"/>
              <a:t>Click icon to add picture</a:t>
            </a:r>
            <a:endParaRPr lang="en-GB" noProof="0" dirty="0"/>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GB" noProof="0"/>
              <a:t>Click icon to add picture</a:t>
            </a:r>
            <a:endParaRPr lang="en-GB" noProof="0" dirty="0"/>
          </a:p>
        </p:txBody>
      </p:sp>
      <p:sp>
        <p:nvSpPr>
          <p:cNvPr id="9" name="Text Placeholder 8"/>
          <p:cNvSpPr>
            <a:spLocks noGrp="1"/>
          </p:cNvSpPr>
          <p:nvPr>
            <p:ph type="body" sz="quarter" idx="17"/>
          </p:nvPr>
        </p:nvSpPr>
        <p:spPr>
          <a:xfrm>
            <a:off x="482363" y="3076573"/>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240006" indent="0">
              <a:spcAft>
                <a:spcPts val="0"/>
              </a:spcAft>
              <a:buFont typeface="Verdana" panose="020B0604030504040204" pitchFamily="34" charset="0"/>
              <a:buNone/>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0" name="Text Placeholder 8"/>
          <p:cNvSpPr>
            <a:spLocks noGrp="1"/>
          </p:cNvSpPr>
          <p:nvPr>
            <p:ph type="body" sz="quarter" idx="18"/>
          </p:nvPr>
        </p:nvSpPr>
        <p:spPr>
          <a:xfrm>
            <a:off x="6207211" y="3079742"/>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1" name="Text Placeholder 8"/>
          <p:cNvSpPr>
            <a:spLocks noGrp="1"/>
          </p:cNvSpPr>
          <p:nvPr>
            <p:ph type="body" sz="quarter" idx="19"/>
          </p:nvPr>
        </p:nvSpPr>
        <p:spPr>
          <a:xfrm>
            <a:off x="3344787" y="3076573"/>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Text Placeholder 8"/>
          <p:cNvSpPr>
            <a:spLocks noGrp="1"/>
          </p:cNvSpPr>
          <p:nvPr>
            <p:ph type="body" sz="quarter" idx="20"/>
          </p:nvPr>
        </p:nvSpPr>
        <p:spPr>
          <a:xfrm>
            <a:off x="9069636" y="3079742"/>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2"/>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015952724"/>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GB" noProof="0"/>
              <a:t>Click icon to add picture</a:t>
            </a:r>
            <a:endParaRPr lang="en-GB" noProof="0" dirty="0"/>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GB" noProof="0"/>
              <a:t>Click icon to add picture</a:t>
            </a:r>
            <a:endParaRPr lang="en-GB" noProof="0" dirty="0"/>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GB" noProof="0"/>
              <a:t>Click icon to add picture</a:t>
            </a:r>
            <a:endParaRPr lang="en-GB" noProof="0" dirty="0"/>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GB" noProof="0"/>
              <a:t>Click icon to add picture</a:t>
            </a:r>
            <a:endParaRPr lang="en-GB" noProof="0" dirty="0"/>
          </a:p>
        </p:txBody>
      </p:sp>
      <p:sp>
        <p:nvSpPr>
          <p:cNvPr id="13" name="Text Placeholder 12"/>
          <p:cNvSpPr>
            <a:spLocks noGrp="1"/>
          </p:cNvSpPr>
          <p:nvPr>
            <p:ph type="body" sz="quarter" idx="32"/>
          </p:nvPr>
        </p:nvSpPr>
        <p:spPr>
          <a:xfrm>
            <a:off x="2840780" y="1880213"/>
            <a:ext cx="3172800" cy="1944000"/>
          </a:xfrm>
        </p:spPr>
        <p:txBody>
          <a:bodyPr/>
          <a:lstStyle>
            <a:lvl1pPr>
              <a:spcAft>
                <a:spcPts val="0"/>
              </a:spcAft>
              <a:defRPr b="1"/>
            </a:lvl1pPr>
            <a:lvl2pPr>
              <a:spcAft>
                <a:spcPts val="0"/>
              </a:spcAft>
              <a:defRPr b="0"/>
            </a:lvl2pPr>
            <a:lvl3pPr marL="0" indent="0">
              <a:buNone/>
              <a:defRPr/>
            </a:lvl3pPr>
          </a:lstStyle>
          <a:p>
            <a:pPr lvl="0"/>
            <a:r>
              <a:rPr lang="en-GB" noProof="0"/>
              <a:t>Edit Master text styles</a:t>
            </a:r>
            <a:endParaRPr lang="en-GB"/>
          </a:p>
          <a:p>
            <a:pPr lvl="1"/>
            <a:r>
              <a:rPr lang="en-GB" noProof="0"/>
              <a:t>Second level</a:t>
            </a:r>
            <a:endParaRPr lang="en-GB"/>
          </a:p>
        </p:txBody>
      </p:sp>
      <p:sp>
        <p:nvSpPr>
          <p:cNvPr id="14" name="Text Placeholder 12"/>
          <p:cNvSpPr>
            <a:spLocks noGrp="1"/>
          </p:cNvSpPr>
          <p:nvPr>
            <p:ph type="body" sz="quarter" idx="33"/>
          </p:nvPr>
        </p:nvSpPr>
        <p:spPr>
          <a:xfrm>
            <a:off x="8550676" y="1880213"/>
            <a:ext cx="3171024" cy="1944000"/>
          </a:xfrm>
        </p:spPr>
        <p:txBody>
          <a:bodyPr/>
          <a:lstStyle>
            <a:lvl1pPr>
              <a:spcAft>
                <a:spcPts val="0"/>
              </a:spcAft>
              <a:defRPr b="1"/>
            </a:lvl1pPr>
            <a:lvl2pPr>
              <a:spcAft>
                <a:spcPts val="0"/>
              </a:spcAft>
              <a:defRPr b="0"/>
            </a:lvl2pPr>
          </a:lstStyle>
          <a:p>
            <a:pPr lvl="0"/>
            <a:r>
              <a:rPr lang="en-GB" noProof="0"/>
              <a:t>Edit Master text styles</a:t>
            </a:r>
            <a:endParaRPr lang="en-GB"/>
          </a:p>
          <a:p>
            <a:pPr lvl="1"/>
            <a:r>
              <a:rPr lang="en-GB" noProof="0"/>
              <a:t>Second level</a:t>
            </a:r>
            <a:endParaRPr lang="en-GB"/>
          </a:p>
        </p:txBody>
      </p:sp>
      <p:sp>
        <p:nvSpPr>
          <p:cNvPr id="15" name="Text Placeholder 12"/>
          <p:cNvSpPr>
            <a:spLocks noGrp="1"/>
          </p:cNvSpPr>
          <p:nvPr>
            <p:ph type="body" sz="quarter" idx="34"/>
          </p:nvPr>
        </p:nvSpPr>
        <p:spPr>
          <a:xfrm>
            <a:off x="2802551" y="4256213"/>
            <a:ext cx="3172800" cy="1944000"/>
          </a:xfrm>
        </p:spPr>
        <p:txBody>
          <a:bodyPr/>
          <a:lstStyle>
            <a:lvl1pPr>
              <a:spcAft>
                <a:spcPts val="0"/>
              </a:spcAft>
              <a:defRPr b="1"/>
            </a:lvl1pPr>
            <a:lvl2pPr>
              <a:spcAft>
                <a:spcPts val="0"/>
              </a:spcAft>
              <a:defRPr b="0"/>
            </a:lvl2pPr>
          </a:lstStyle>
          <a:p>
            <a:pPr lvl="0"/>
            <a:r>
              <a:rPr lang="en-GB" noProof="0"/>
              <a:t>Edit Master text styles</a:t>
            </a:r>
            <a:endParaRPr lang="en-GB"/>
          </a:p>
          <a:p>
            <a:pPr lvl="1"/>
            <a:r>
              <a:rPr lang="en-GB" noProof="0"/>
              <a:t>Second level</a:t>
            </a:r>
            <a:endParaRPr lang="en-GB"/>
          </a:p>
        </p:txBody>
      </p:sp>
      <p:sp>
        <p:nvSpPr>
          <p:cNvPr id="16" name="Text Placeholder 12"/>
          <p:cNvSpPr>
            <a:spLocks noGrp="1"/>
          </p:cNvSpPr>
          <p:nvPr>
            <p:ph type="body" sz="quarter" idx="35"/>
          </p:nvPr>
        </p:nvSpPr>
        <p:spPr>
          <a:xfrm>
            <a:off x="8548900" y="4256212"/>
            <a:ext cx="3172800" cy="1944000"/>
          </a:xfrm>
        </p:spPr>
        <p:txBody>
          <a:bodyPr/>
          <a:lstStyle>
            <a:lvl1pPr>
              <a:spcAft>
                <a:spcPts val="0"/>
              </a:spcAft>
              <a:defRPr b="1"/>
            </a:lvl1pPr>
            <a:lvl2pPr>
              <a:spcAft>
                <a:spcPts val="0"/>
              </a:spcAft>
              <a:defRPr b="0"/>
            </a:lvl2pPr>
          </a:lstStyle>
          <a:p>
            <a:pPr lvl="0"/>
            <a:r>
              <a:rPr lang="en-GB" noProof="0"/>
              <a:t>Edit Master text styles</a:t>
            </a:r>
            <a:endParaRPr lang="en-GB"/>
          </a:p>
          <a:p>
            <a:pPr lvl="1"/>
            <a:r>
              <a:rPr lang="en-GB" noProof="0"/>
              <a:t>Second level</a:t>
            </a:r>
            <a:endParaRPr lang="en-GB"/>
          </a:p>
        </p:txBody>
      </p:sp>
      <p:sp>
        <p:nvSpPr>
          <p:cNvPr id="1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36"/>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945973926"/>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3 picture &amp;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69900" y="1700213"/>
            <a:ext cx="3627438" cy="2052830"/>
          </a:xfrm>
        </p:spPr>
        <p:txBody>
          <a:bodyPr/>
          <a:lstStyle/>
          <a:p>
            <a:r>
              <a:rPr lang="en-GB" noProof="0"/>
              <a:t>Click icon to add picture</a:t>
            </a:r>
            <a:endParaRPr lang="en-GB" noProof="0" dirty="0"/>
          </a:p>
        </p:txBody>
      </p:sp>
      <p:sp>
        <p:nvSpPr>
          <p:cNvPr id="5" name="Picture Placeholder 7"/>
          <p:cNvSpPr>
            <a:spLocks noGrp="1"/>
          </p:cNvSpPr>
          <p:nvPr>
            <p:ph type="pic" sz="quarter" idx="14"/>
          </p:nvPr>
        </p:nvSpPr>
        <p:spPr>
          <a:xfrm>
            <a:off x="8082784" y="1700213"/>
            <a:ext cx="3639316" cy="2059099"/>
          </a:xfrm>
        </p:spPr>
        <p:txBody>
          <a:bodyPr/>
          <a:lstStyle/>
          <a:p>
            <a:r>
              <a:rPr lang="en-GB" noProof="0"/>
              <a:t>Click icon to add picture</a:t>
            </a:r>
            <a:endParaRPr lang="en-GB" noProof="0" dirty="0"/>
          </a:p>
        </p:txBody>
      </p:sp>
      <p:sp>
        <p:nvSpPr>
          <p:cNvPr id="6" name="Picture Placeholder 7"/>
          <p:cNvSpPr>
            <a:spLocks noGrp="1"/>
          </p:cNvSpPr>
          <p:nvPr>
            <p:ph type="pic" sz="quarter" idx="15"/>
          </p:nvPr>
        </p:nvSpPr>
        <p:spPr>
          <a:xfrm>
            <a:off x="4284188" y="1700212"/>
            <a:ext cx="3636962" cy="2057767"/>
          </a:xfrm>
        </p:spPr>
        <p:txBody>
          <a:bodyPr/>
          <a:lstStyle/>
          <a:p>
            <a:r>
              <a:rPr lang="en-GB" noProof="0"/>
              <a:t>Click icon to add picture</a:t>
            </a:r>
            <a:endParaRPr lang="en-GB" noProof="0" dirty="0"/>
          </a:p>
        </p:txBody>
      </p:sp>
      <p:sp>
        <p:nvSpPr>
          <p:cNvPr id="9" name="Text Placeholder 18"/>
          <p:cNvSpPr>
            <a:spLocks noGrp="1"/>
          </p:cNvSpPr>
          <p:nvPr>
            <p:ph idx="1" hasCustomPrompt="1"/>
          </p:nvPr>
        </p:nvSpPr>
        <p:spPr>
          <a:xfrm>
            <a:off x="469900" y="3832225"/>
            <a:ext cx="3627438" cy="2181440"/>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12"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9"/>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057179233"/>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1943089"/>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14" name="Text Placeholder 8"/>
          <p:cNvSpPr>
            <a:spLocks noGrp="1"/>
          </p:cNvSpPr>
          <p:nvPr>
            <p:ph type="body" sz="quarter" idx="17"/>
          </p:nvPr>
        </p:nvSpPr>
        <p:spPr>
          <a:xfrm>
            <a:off x="469899"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239994" indent="0">
              <a:spcAft>
                <a:spcPts val="1333"/>
              </a:spcAft>
              <a:buFont typeface="Verdana" panose="020B0604030504040204" pitchFamily="34" charset="0"/>
              <a:buNone/>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Content Placeholder 9"/>
          <p:cNvSpPr>
            <a:spLocks noGrp="1"/>
          </p:cNvSpPr>
          <p:nvPr>
            <p:ph sz="quarter" idx="22" hasCustomPrompt="1"/>
          </p:nvPr>
        </p:nvSpPr>
        <p:spPr>
          <a:xfrm>
            <a:off x="4734795" y="1857891"/>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15" name="Text Placeholder 8"/>
          <p:cNvSpPr>
            <a:spLocks noGrp="1"/>
          </p:cNvSpPr>
          <p:nvPr>
            <p:ph type="body" sz="quarter" idx="21"/>
          </p:nvPr>
        </p:nvSpPr>
        <p:spPr>
          <a:xfrm>
            <a:off x="6177462"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3" name="Content Placeholder 10"/>
          <p:cNvSpPr>
            <a:spLocks noGrp="1"/>
          </p:cNvSpPr>
          <p:nvPr>
            <p:ph sz="quarter" idx="23" hasCustomPrompt="1"/>
          </p:nvPr>
        </p:nvSpPr>
        <p:spPr>
          <a:xfrm>
            <a:off x="10451382" y="1857891"/>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GB" sz="1467" noProof="0" dirty="0">
              <a:solidFill>
                <a:schemeClr val="bg1"/>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GB" sz="1467" noProof="0" dirty="0">
              <a:solidFill>
                <a:schemeClr val="bg1"/>
              </a:solidFill>
            </a:endParaRPr>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4196935329"/>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1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8"/>
          <p:cNvSpPr>
            <a:spLocks noGrp="1"/>
          </p:cNvSpPr>
          <p:nvPr>
            <p:ph type="body" sz="quarter" idx="17"/>
          </p:nvPr>
        </p:nvSpPr>
        <p:spPr>
          <a:xfrm>
            <a:off x="469899" y="1857892"/>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6" name="Content Placeholder 9"/>
          <p:cNvSpPr>
            <a:spLocks noGrp="1"/>
          </p:cNvSpPr>
          <p:nvPr>
            <p:ph sz="quarter" idx="26" hasCustomPrompt="1"/>
          </p:nvPr>
        </p:nvSpPr>
        <p:spPr>
          <a:xfrm>
            <a:off x="4734795" y="1857891"/>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9" name="Text Placeholder 8"/>
          <p:cNvSpPr>
            <a:spLocks noGrp="1"/>
          </p:cNvSpPr>
          <p:nvPr>
            <p:ph type="body" sz="quarter" idx="21"/>
          </p:nvPr>
        </p:nvSpPr>
        <p:spPr>
          <a:xfrm>
            <a:off x="6177462" y="1857892"/>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0" name="Content Placeholder 10"/>
          <p:cNvSpPr>
            <a:spLocks noGrp="1"/>
          </p:cNvSpPr>
          <p:nvPr>
            <p:ph sz="quarter" idx="27" hasCustomPrompt="1"/>
          </p:nvPr>
        </p:nvSpPr>
        <p:spPr>
          <a:xfrm>
            <a:off x="10451382" y="1857891"/>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10" name="Text Placeholder 8"/>
          <p:cNvSpPr>
            <a:spLocks noGrp="1"/>
          </p:cNvSpPr>
          <p:nvPr>
            <p:ph type="body" sz="quarter" idx="22"/>
          </p:nvPr>
        </p:nvSpPr>
        <p:spPr>
          <a:xfrm>
            <a:off x="469899" y="4249681"/>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1" name="Content Placeholder 11"/>
          <p:cNvSpPr>
            <a:spLocks noGrp="1"/>
          </p:cNvSpPr>
          <p:nvPr>
            <p:ph sz="quarter" idx="28" hasCustomPrompt="1"/>
          </p:nvPr>
        </p:nvSpPr>
        <p:spPr>
          <a:xfrm>
            <a:off x="4742449" y="4248208"/>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11" name="Text Placeholder 8"/>
          <p:cNvSpPr>
            <a:spLocks noGrp="1"/>
          </p:cNvSpPr>
          <p:nvPr>
            <p:ph type="body" sz="quarter" idx="23"/>
          </p:nvPr>
        </p:nvSpPr>
        <p:spPr>
          <a:xfrm>
            <a:off x="6177460" y="4249681"/>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2" name="Content Placeholder 12"/>
          <p:cNvSpPr>
            <a:spLocks noGrp="1"/>
          </p:cNvSpPr>
          <p:nvPr>
            <p:ph sz="quarter" idx="29" hasCustomPrompt="1"/>
          </p:nvPr>
        </p:nvSpPr>
        <p:spPr>
          <a:xfrm>
            <a:off x="10451382" y="4248208"/>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dirty="0">
              <a:solidFill>
                <a:schemeClr val="bg1"/>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dirty="0">
              <a:solidFill>
                <a:schemeClr val="bg1"/>
              </a:solidFill>
            </a:endParaRPr>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dirty="0">
              <a:solidFill>
                <a:schemeClr val="bg1"/>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dirty="0">
              <a:solidFill>
                <a:schemeClr val="bg1"/>
              </a:solidFill>
            </a:endParaRPr>
          </a:p>
        </p:txBody>
      </p:sp>
      <p:sp>
        <p:nvSpPr>
          <p:cNvPr id="2" name="Footer Placeholder 1"/>
          <p:cNvSpPr>
            <a:spLocks noGrp="1"/>
          </p:cNvSpPr>
          <p:nvPr>
            <p:ph type="ftr" sz="quarter" idx="3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776620793"/>
      </p:ext>
    </p:extLst>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7" name="Text Placeholder 8"/>
          <p:cNvSpPr>
            <a:spLocks noGrp="1"/>
          </p:cNvSpPr>
          <p:nvPr>
            <p:ph type="body" sz="quarter" idx="17"/>
          </p:nvPr>
        </p:nvSpPr>
        <p:spPr>
          <a:xfrm>
            <a:off x="4278313" y="1851441"/>
            <a:ext cx="3636962" cy="3845755"/>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8" name="Text Placeholder 8"/>
          <p:cNvSpPr>
            <a:spLocks noGrp="1"/>
          </p:cNvSpPr>
          <p:nvPr>
            <p:ph type="body" sz="quarter" idx="18"/>
          </p:nvPr>
        </p:nvSpPr>
        <p:spPr>
          <a:xfrm>
            <a:off x="469900" y="1851441"/>
            <a:ext cx="3627438" cy="3845755"/>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9" name="Text Placeholder 8"/>
          <p:cNvSpPr>
            <a:spLocks noGrp="1"/>
          </p:cNvSpPr>
          <p:nvPr>
            <p:ph type="body" sz="quarter" idx="19"/>
          </p:nvPr>
        </p:nvSpPr>
        <p:spPr>
          <a:xfrm>
            <a:off x="8093075" y="1851441"/>
            <a:ext cx="3629025" cy="3845755"/>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837649152"/>
      </p:ext>
    </p:extLst>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0"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675717303"/>
      </p:ext>
    </p:extLst>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Ref idx="1001">
        <a:schemeClr val="bg1"/>
      </p:bgRef>
    </p:bg>
    <p:spTree>
      <p:nvGrpSpPr>
        <p:cNvPr id="1" name=""/>
        <p:cNvGrpSpPr/>
        <p:nvPr/>
      </p:nvGrpSpPr>
      <p:grpSpPr>
        <a:xfrm>
          <a:off x="0" y="0"/>
          <a:ext cx="0" cy="0"/>
          <a:chOff x="0" y="0"/>
          <a:chExt cx="0" cy="0"/>
        </a:xfrm>
      </p:grpSpPr>
      <p:sp>
        <p:nvSpPr>
          <p:cNvPr id="11" name="Colored background"/>
          <p:cNvSpPr/>
          <p:nvPr userDrawn="1"/>
        </p:nvSpPr>
        <p:spPr bwMode="gray">
          <a:xfrm>
            <a:off x="0" y="0"/>
            <a:ext cx="12189600" cy="6858000"/>
          </a:xfrm>
          <a:prstGeom prst="rect">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4" name="Text Placeholder 8"/>
          <p:cNvSpPr>
            <a:spLocks noGrp="1"/>
          </p:cNvSpPr>
          <p:nvPr>
            <p:ph type="body" sz="quarter" idx="17"/>
          </p:nvPr>
        </p:nvSpPr>
        <p:spPr>
          <a:xfrm>
            <a:off x="469903"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5" name="TextBox 14"/>
          <p:cNvSpPr txBox="1"/>
          <p:nvPr userDrawn="1"/>
        </p:nvSpPr>
        <p:spPr>
          <a:xfrm>
            <a:off x="11382378" y="647700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1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solidFill>
                  <a:schemeClr val="tx1"/>
                </a:solidFill>
              </a:defRPr>
            </a:lvl1pPr>
          </a:lstStyle>
          <a:p>
            <a:r>
              <a:rPr lang="en-GB" noProof="0"/>
              <a:t>Click to edit Master title style</a:t>
            </a:r>
            <a:endParaRPr lang="en-GB" noProof="0" dirty="0"/>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tx1"/>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86125557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67783" y="1665817"/>
            <a:ext cx="5537730" cy="4633383"/>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253700315"/>
      </p:ext>
    </p:extLst>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75597580"/>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729150704"/>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3" name="Picture Placeholder 2"/>
          <p:cNvSpPr>
            <a:spLocks noGrp="1"/>
          </p:cNvSpPr>
          <p:nvPr>
            <p:ph type="pic" sz="quarter" idx="14" hasCustomPrompt="1"/>
          </p:nvPr>
        </p:nvSpPr>
        <p:spPr>
          <a:xfrm>
            <a:off x="9402597" y="4102100"/>
            <a:ext cx="2319503" cy="1725448"/>
          </a:xfrm>
        </p:spPr>
        <p:txBody>
          <a:bodyPr anchor="ctr" anchorCtr="0"/>
          <a:lstStyle>
            <a:lvl1pPr algn="ctr">
              <a:defRPr sz="1200"/>
            </a:lvl1pPr>
          </a:lstStyle>
          <a:p>
            <a:r>
              <a:rPr lang="en-GB" sz="1200" noProof="0" dirty="0"/>
              <a:t>Insert sponsorship mark here</a:t>
            </a:r>
            <a:endParaRPr lang="en-GB" noProof="0" dirty="0"/>
          </a:p>
        </p:txBody>
      </p:sp>
      <p:sp>
        <p:nvSpPr>
          <p:cNvPr id="22" name="LEG_DisclaimerPowerPoint"/>
          <p:cNvSpPr>
            <a:spLocks/>
          </p:cNvSpPr>
          <p:nvPr userDrawn="1"/>
        </p:nvSpPr>
        <p:spPr bwMode="auto">
          <a:xfrm>
            <a:off x="474358" y="3429000"/>
            <a:ext cx="8556230" cy="2870201"/>
          </a:xfrm>
          <a:prstGeom prst="rect">
            <a:avLst/>
          </a:prstGeom>
          <a:noFill/>
          <a:ln w="9525">
            <a:noFill/>
            <a:miter lim="800000"/>
            <a:headEnd/>
            <a:tailEnd/>
          </a:ln>
        </p:spPr>
        <p:txBody>
          <a:bodyPr lIns="0" tIns="0" rIns="0" bIns="0" anchor="b"/>
          <a:lstStyle/>
          <a:p>
            <a:pPr defTabSz="1019175">
              <a:spcAft>
                <a:spcPts val="0"/>
              </a:spcAft>
              <a:buClr>
                <a:schemeClr val="tx1"/>
              </a:buClr>
              <a:buSzPct val="80000"/>
              <a:buFont typeface="Wingdings" pitchFamily="2" charset="2"/>
              <a:buNone/>
            </a:pPr>
            <a:r>
              <a:rPr lang="en-GB" sz="900" noProof="1">
                <a:solidFill>
                  <a:schemeClr val="tx1"/>
                </a:solidFill>
              </a:rPr>
              <a:t>Regd. Office: 12, Dr. Annie Besant Road, Opp. Shiv Sagar Estate, Worli, Mumbai - 400 018, India
Deloitte Touche Tohmatsu India Private Limited (U74140MH1995PTC093339), a private company limited by shares, was converted 
into Deloitte Touche Tohmatsu India LLP (LLP Identification No. AAE-8458), a limited liability partnership, with effect from October 1, 2015.</a:t>
            </a:r>
          </a:p>
        </p:txBody>
      </p:sp>
      <p:sp>
        <p:nvSpPr>
          <p:cNvPr id="8" name="Text Placeholder 7"/>
          <p:cNvSpPr>
            <a:spLocks noGrp="1"/>
          </p:cNvSpPr>
          <p:nvPr>
            <p:ph type="body" sz="quarter" idx="15"/>
          </p:nvPr>
        </p:nvSpPr>
        <p:spPr>
          <a:xfrm>
            <a:off x="9402598" y="5935479"/>
            <a:ext cx="2319501" cy="363723"/>
          </a:xfrm>
        </p:spPr>
        <p:txBody>
          <a:bodyPr anchor="b" anchorCtr="0"/>
          <a:lstStyle>
            <a:lvl1pPr>
              <a:lnSpc>
                <a:spcPct val="100000"/>
              </a:lnSpc>
              <a:defRPr sz="1267"/>
            </a:lvl1pPr>
          </a:lstStyle>
          <a:p>
            <a:pPr lvl="0"/>
            <a:r>
              <a:rPr lang="en-GB" noProof="0"/>
              <a:t>Edit Master text styles</a:t>
            </a:r>
            <a:endParaRPr lang="en-GB"/>
          </a:p>
        </p:txBody>
      </p:sp>
      <p:sp>
        <p:nvSpPr>
          <p:cNvPr id="20" name="SD_ART_Logo"/>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93251660" name="LogoDisclaimerPage"/>
          <p:cNvPicPr>
            <a:picLocks noChangeAspect="1"/>
          </p:cNvPicPr>
          <p:nvPr/>
        </p:nvPicPr>
        <p:blipFill>
          <a:blip r:embed="rId2"/>
          <a:stretch>
            <a:fillRect/>
          </a:stretch>
        </p:blipFill>
        <p:spPr>
          <a:xfrm>
            <a:off x="475200" y="464400"/>
            <a:ext cx="1655999" cy="725867"/>
          </a:xfrm>
          <a:prstGeom prst="rect">
            <a:avLst/>
          </a:prstGeom>
        </p:spPr>
      </p:pic>
      <p:sp>
        <p:nvSpPr>
          <p:cNvPr id="2" name="Footer Placeholder 1"/>
          <p:cNvSpPr>
            <a:spLocks noGrp="1"/>
          </p:cNvSpPr>
          <p:nvPr>
            <p:ph type="ftr" sz="quarter" idx="16"/>
          </p:nvPr>
        </p:nvSpPr>
        <p:spPr>
          <a:xfrm>
            <a:off x="6184900" y="6476999"/>
            <a:ext cx="4536726"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3647804921"/>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userDrawn="1">
  <p:cSld name="2_Divider - Deloitte black">
    <p:bg bwMode="gray">
      <p:bgPr>
        <a:solidFill>
          <a:schemeClr val="tx1">
            <a:lumMod val="65000"/>
            <a:lumOff val="35000"/>
          </a:schemeClr>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4" name="Object 3"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2" name="Title 1"/>
          <p:cNvSpPr>
            <a:spLocks noGrp="1"/>
          </p:cNvSpPr>
          <p:nvPr>
            <p:ph type="title"/>
          </p:nvPr>
        </p:nvSpPr>
        <p:spPr bwMode="gray">
          <a:xfrm>
            <a:off x="501651" y="1705671"/>
            <a:ext cx="10541001"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0"/>
            <a:ext cx="10541001" cy="1566532"/>
          </a:xfrm>
        </p:spPr>
        <p:txBody>
          <a:bodyPr lIns="0" tIns="0" rIns="0" bIns="0">
            <a:noAutofit/>
          </a:bodyPr>
          <a:lstStyle>
            <a:lvl1pPr marL="0" indent="0">
              <a:lnSpc>
                <a:spcPct val="95000"/>
              </a:lnSpc>
              <a:spcAft>
                <a:spcPts val="0"/>
              </a:spcAft>
              <a:buNone/>
              <a:defRPr sz="3850">
                <a:solidFill>
                  <a:schemeClr val="bg1"/>
                </a:solidFill>
              </a:defRPr>
            </a:lvl1pPr>
            <a:lvl2pPr marL="495285" indent="0">
              <a:buNone/>
              <a:defRPr sz="2167">
                <a:solidFill>
                  <a:schemeClr val="tx1">
                    <a:tint val="75000"/>
                  </a:schemeClr>
                </a:solidFill>
              </a:defRPr>
            </a:lvl2pPr>
            <a:lvl3pPr marL="990570" indent="0">
              <a:buNone/>
              <a:defRPr sz="1950">
                <a:solidFill>
                  <a:schemeClr val="tx1">
                    <a:tint val="75000"/>
                  </a:schemeClr>
                </a:solidFill>
              </a:defRPr>
            </a:lvl3pPr>
            <a:lvl4pPr marL="1485854" indent="0">
              <a:buNone/>
              <a:defRPr sz="1733">
                <a:solidFill>
                  <a:schemeClr val="tx1">
                    <a:tint val="75000"/>
                  </a:schemeClr>
                </a:solidFill>
              </a:defRPr>
            </a:lvl4pPr>
            <a:lvl5pPr marL="1981139" indent="0">
              <a:buNone/>
              <a:defRPr sz="1733">
                <a:solidFill>
                  <a:schemeClr val="tx1">
                    <a:tint val="75000"/>
                  </a:schemeClr>
                </a:solidFill>
              </a:defRPr>
            </a:lvl5pPr>
            <a:lvl6pPr marL="2476424" indent="0">
              <a:buNone/>
              <a:defRPr sz="1733">
                <a:solidFill>
                  <a:schemeClr val="tx1">
                    <a:tint val="75000"/>
                  </a:schemeClr>
                </a:solidFill>
              </a:defRPr>
            </a:lvl6pPr>
            <a:lvl7pPr marL="2971709" indent="0">
              <a:buNone/>
              <a:defRPr sz="1733">
                <a:solidFill>
                  <a:schemeClr val="tx1">
                    <a:tint val="75000"/>
                  </a:schemeClr>
                </a:solidFill>
              </a:defRPr>
            </a:lvl7pPr>
            <a:lvl8pPr marL="3466993" indent="0">
              <a:buNone/>
              <a:defRPr sz="1733">
                <a:solidFill>
                  <a:schemeClr val="tx1">
                    <a:tint val="75000"/>
                  </a:schemeClr>
                </a:solidFill>
              </a:defRPr>
            </a:lvl8pPr>
            <a:lvl9pPr marL="3962278" indent="0">
              <a:buNone/>
              <a:defRPr sz="1733">
                <a:solidFill>
                  <a:schemeClr val="tx1">
                    <a:tint val="75000"/>
                  </a:schemeClr>
                </a:solidFill>
              </a:defRPr>
            </a:lvl9pPr>
          </a:lstStyle>
          <a:p>
            <a:pPr lvl="0"/>
            <a:r>
              <a:rPr lang="en-US" noProof="0"/>
              <a:t>Click to edit Master text styles</a:t>
            </a:r>
          </a:p>
        </p:txBody>
      </p:sp>
      <p:sp>
        <p:nvSpPr>
          <p:cNvPr id="9" name="TextBox 8"/>
          <p:cNvSpPr txBox="1"/>
          <p:nvPr userDrawn="1"/>
        </p:nvSpPr>
        <p:spPr>
          <a:xfrm>
            <a:off x="11382377" y="6705604"/>
            <a:ext cx="307974" cy="100027"/>
          </a:xfrm>
          <a:prstGeom prst="rect">
            <a:avLst/>
          </a:prstGeom>
          <a:noFill/>
        </p:spPr>
        <p:txBody>
          <a:bodyPr wrap="square" lIns="0" tIns="0" rIns="0" bIns="0" rtlCol="0">
            <a:noAutofit/>
          </a:bodyPr>
          <a:lstStyle/>
          <a:p>
            <a:pPr marL="0" indent="0" algn="r">
              <a:spcBef>
                <a:spcPts val="650"/>
              </a:spcBef>
              <a:buSzPct val="100000"/>
              <a:buFont typeface="Arial"/>
              <a:buNone/>
            </a:pPr>
            <a:fld id="{C58DF478-B544-4ED8-9ED4-6A2648E2D233}" type="slidenum">
              <a:rPr lang="en-US" sz="704" noProof="0" smtClean="0">
                <a:solidFill>
                  <a:schemeClr val="bg1"/>
                </a:solidFill>
              </a:rPr>
              <a:pPr marL="0" indent="0" algn="r">
                <a:spcBef>
                  <a:spcPts val="650"/>
                </a:spcBef>
                <a:buSzPct val="100000"/>
                <a:buFont typeface="Arial"/>
                <a:buNone/>
              </a:pPr>
              <a:t>‹#›</a:t>
            </a:fld>
            <a:endParaRPr lang="en-US" sz="704" noProof="0" dirty="0">
              <a:solidFill>
                <a:schemeClr val="bg1"/>
              </a:solidFill>
            </a:endParaRPr>
          </a:p>
        </p:txBody>
      </p:sp>
      <p:sp>
        <p:nvSpPr>
          <p:cNvPr id="12" name="TextBox 11"/>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bg1"/>
                </a:solidFill>
              </a:rPr>
              <a:t>© 2019 Deloitte Touche Tohmatsu India LLP</a:t>
            </a:r>
          </a:p>
        </p:txBody>
      </p:sp>
    </p:spTree>
    <p:extLst>
      <p:ext uri="{BB962C8B-B14F-4D97-AF65-F5344CB8AC3E}">
        <p14:creationId xmlns:p14="http://schemas.microsoft.com/office/powerpoint/2010/main" val="358965846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71B85-5BB5-433D-A56B-D800F5D3B1E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51996E8-3308-42D5-AF34-F651D54681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FC7277-694C-45DD-A391-D4B1334705B9}"/>
              </a:ext>
            </a:extLst>
          </p:cNvPr>
          <p:cNvSpPr>
            <a:spLocks noGrp="1"/>
          </p:cNvSpPr>
          <p:nvPr>
            <p:ph type="dt" sz="half" idx="10"/>
          </p:nvPr>
        </p:nvSpPr>
        <p:spPr/>
        <p:txBody>
          <a:bodyPr/>
          <a:lstStyle/>
          <a:p>
            <a:fld id="{D04A9CBC-9484-48E7-9AB7-8CE7AE80B291}" type="datetimeFigureOut">
              <a:rPr lang="en-IN" smtClean="0"/>
              <a:t>09-08-2023</a:t>
            </a:fld>
            <a:endParaRPr lang="en-IN"/>
          </a:p>
        </p:txBody>
      </p:sp>
      <p:sp>
        <p:nvSpPr>
          <p:cNvPr id="5" name="Footer Placeholder 4">
            <a:extLst>
              <a:ext uri="{FF2B5EF4-FFF2-40B4-BE49-F238E27FC236}">
                <a16:creationId xmlns:a16="http://schemas.microsoft.com/office/drawing/2014/main" id="{D8858C05-6C87-48A1-9D56-7538244640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F6870E-C7A1-4D3E-8D05-DB47CC3EDBC7}"/>
              </a:ext>
            </a:extLst>
          </p:cNvPr>
          <p:cNvSpPr>
            <a:spLocks noGrp="1"/>
          </p:cNvSpPr>
          <p:nvPr>
            <p:ph type="sldNum" sz="quarter" idx="12"/>
          </p:nvPr>
        </p:nvSpPr>
        <p:spPr/>
        <p:txBody>
          <a:bodyPr/>
          <a:lstStyle/>
          <a:p>
            <a:fld id="{FE129A47-AFA3-4BCA-9F56-707F816FDABA}" type="slidenum">
              <a:rPr lang="en-IN" smtClean="0"/>
              <a:t>‹#›</a:t>
            </a:fld>
            <a:endParaRPr lang="en-IN"/>
          </a:p>
        </p:txBody>
      </p:sp>
    </p:spTree>
    <p:extLst>
      <p:ext uri="{BB962C8B-B14F-4D97-AF65-F5344CB8AC3E}">
        <p14:creationId xmlns:p14="http://schemas.microsoft.com/office/powerpoint/2010/main" val="3413554328"/>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Ref idx="1001">
        <a:schemeClr val="bg1"/>
      </p:bgRef>
    </p:bg>
    <p:spTree>
      <p:nvGrpSpPr>
        <p:cNvPr id="1" name=""/>
        <p:cNvGrpSpPr/>
        <p:nvPr/>
      </p:nvGrpSpPr>
      <p:grpSpPr>
        <a:xfrm>
          <a:off x="0" y="0"/>
          <a:ext cx="0" cy="0"/>
          <a:chOff x="0" y="0"/>
          <a:chExt cx="0" cy="0"/>
        </a:xfrm>
      </p:grpSpPr>
      <p:pic>
        <p:nvPicPr>
          <p:cNvPr id="20" name="Background Picture 3"/>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0" y="0"/>
            <a:ext cx="12189600" cy="6858000"/>
          </a:xfrm>
          <a:prstGeom prst="rect">
            <a:avLst/>
          </a:prstGeom>
        </p:spPr>
      </p:pic>
      <p:sp>
        <p:nvSpPr>
          <p:cNvPr id="33" name="Picture Placeholder 8"/>
          <p:cNvSpPr>
            <a:spLocks noGrp="1"/>
          </p:cNvSpPr>
          <p:nvPr>
            <p:ph type="pic" sz="quarter" idx="11"/>
          </p:nvPr>
        </p:nvSpPr>
        <p:spPr>
          <a:xfrm>
            <a:off x="3393716" y="727595"/>
            <a:ext cx="5400000" cy="5400000"/>
          </a:xfrm>
          <a:prstGeom prst="rect">
            <a:avLst/>
          </a:prstGeom>
        </p:spPr>
        <p:txBody>
          <a:bodyPr/>
          <a:lstStyle>
            <a:lvl1pPr>
              <a:defRPr>
                <a:solidFill>
                  <a:schemeClr val="tx1"/>
                </a:solidFill>
              </a:defRPr>
            </a:lvl1pPr>
          </a:lstStyle>
          <a:p>
            <a:r>
              <a:rPr lang="en-GB" noProof="0"/>
              <a:t>Click icon to add picture</a:t>
            </a:r>
            <a:endParaRPr lang="en-GB" noProof="0" dirty="0"/>
          </a:p>
        </p:txBody>
      </p:sp>
      <p:sp>
        <p:nvSpPr>
          <p:cNvPr id="2" name="Title"/>
          <p:cNvSpPr>
            <a:spLocks noGrp="1"/>
          </p:cNvSpPr>
          <p:nvPr>
            <p:ph type="ctrTitle" hasCustomPrompt="1"/>
          </p:nvPr>
        </p:nvSpPr>
        <p:spPr bwMode="gray">
          <a:xfrm>
            <a:off x="475200" y="5480578"/>
            <a:ext cx="5620800" cy="324000"/>
          </a:xfrm>
        </p:spPr>
        <p:txBody>
          <a:bodyPr anchor="b" anchorCtr="0">
            <a:noAutofit/>
          </a:bodyPr>
          <a:lstStyle>
            <a:lvl1pPr algn="l">
              <a:lnSpc>
                <a:spcPct val="100000"/>
              </a:lnSpc>
              <a:defRPr sz="1800" b="1">
                <a:solidFill>
                  <a:schemeClr val="tx1"/>
                </a:solidFill>
                <a:latin typeface="+mj-lt"/>
                <a:ea typeface="Open Sans" panose="020B0606030504020204" pitchFamily="34" charset="0"/>
                <a:cs typeface="Open Sans" panose="020B0606030504020204" pitchFamily="34" charset="0"/>
              </a:defRPr>
            </a:lvl1pPr>
          </a:lstStyle>
          <a:p>
            <a:r>
              <a:rPr lang="en-GB" dirty="0"/>
              <a:t>Presentation  title runs here</a:t>
            </a:r>
            <a:endParaRPr lang="en-GB" noProof="0" dirty="0"/>
          </a:p>
        </p:txBody>
      </p:sp>
      <p:sp>
        <p:nvSpPr>
          <p:cNvPr id="3" name="Subtitle"/>
          <p:cNvSpPr>
            <a:spLocks noGrp="1"/>
          </p:cNvSpPr>
          <p:nvPr>
            <p:ph type="subTitle" idx="1" hasCustomPrompt="1"/>
          </p:nvPr>
        </p:nvSpPr>
        <p:spPr bwMode="gray">
          <a:xfrm>
            <a:off x="475200" y="5845180"/>
            <a:ext cx="5620800"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pPr lvl="0"/>
            <a:r>
              <a:rPr lang="en-GB" dirty="0"/>
              <a:t>Subtitle here two lines max</a:t>
            </a:r>
            <a:endParaRPr lang="en-GB"/>
          </a:p>
        </p:txBody>
      </p:sp>
      <p:sp>
        <p:nvSpPr>
          <p:cNvPr id="18" name="SD_ART_Logo_White"/>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78483047" name="LogoFrontSlide"/>
          <p:cNvPicPr>
            <a:picLocks noChangeAspect="1"/>
          </p:cNvPicPr>
          <p:nvPr/>
        </p:nvPicPr>
        <p:blipFill>
          <a:blip r:embed="rId3"/>
          <a:stretch>
            <a:fillRect/>
          </a:stretch>
        </p:blipFill>
        <p:spPr>
          <a:xfrm>
            <a:off x="413999" y="503999"/>
            <a:ext cx="2790621" cy="1223201"/>
          </a:xfrm>
          <a:prstGeom prst="rect">
            <a:avLst/>
          </a:prstGeom>
        </p:spPr>
      </p:pic>
      <p:sp>
        <p:nvSpPr>
          <p:cNvPr id="4" name="Footer Placeholder 3" hidden="1"/>
          <p:cNvSpPr>
            <a:spLocks noGrp="1"/>
          </p:cNvSpPr>
          <p:nvPr>
            <p:ph type="ftr" sz="quarter" idx="12"/>
          </p:nvPr>
        </p:nvSpPr>
        <p:spPr>
          <a:xfrm>
            <a:off x="6184900" y="6476999"/>
            <a:ext cx="4536726"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119545048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4" name="Footer Placeholder 3"/>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119994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36511029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Ref idx="1001">
        <a:schemeClr val="bg1"/>
      </p:bgRef>
    </p:bg>
    <p:spTree>
      <p:nvGrpSpPr>
        <p:cNvPr id="1" name=""/>
        <p:cNvGrpSpPr/>
        <p:nvPr/>
      </p:nvGrpSpPr>
      <p:grpSpPr>
        <a:xfrm>
          <a:off x="0" y="0"/>
          <a:ext cx="0" cy="0"/>
          <a:chOff x="0" y="0"/>
          <a:chExt cx="0" cy="0"/>
        </a:xfrm>
      </p:grpSpPr>
      <p:sp>
        <p:nvSpPr>
          <p:cNvPr id="10" name="Colored background"/>
          <p:cNvSpPr/>
          <p:nvPr userDrawn="1"/>
        </p:nvSpPr>
        <p:spPr bwMode="gray">
          <a:xfrm>
            <a:off x="0" y="0"/>
            <a:ext cx="12189600" cy="6858000"/>
          </a:xfrm>
          <a:prstGeom prst="rect">
            <a:avLst/>
          </a:prstGeom>
          <a:solidFill>
            <a:srgbClr val="62B5E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4" name="Footer Placeholder 3"/>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57344347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1216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74582053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0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5" y="665988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
        <p:nvSpPr>
          <p:cNvPr id="8" name="TextBox 7"/>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tx1"/>
                </a:solidFill>
              </a:rPr>
              <a:t>© 2019 Deloitte Touche Tohmatsu India LLP</a:t>
            </a:r>
          </a:p>
        </p:txBody>
      </p:sp>
    </p:spTree>
    <p:extLst>
      <p:ext uri="{BB962C8B-B14F-4D97-AF65-F5344CB8AC3E}">
        <p14:creationId xmlns:p14="http://schemas.microsoft.com/office/powerpoint/2010/main" val="336965639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4" name="Footer Placeholder 3"/>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98289613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4"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44269150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1216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3"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42188526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097A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7"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20" name="TextBox 19"/>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78421352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0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3"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01640679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420506071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marL="475188" indent="0">
              <a:buNone/>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GB"/>
              <a:t>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946049405"/>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5" name="Picture Placeholder 9"/>
          <p:cNvSpPr>
            <a:spLocks noGrp="1"/>
          </p:cNvSpPr>
          <p:nvPr>
            <p:ph type="pic" sz="quarter" idx="15"/>
          </p:nvPr>
        </p:nvSpPr>
        <p:spPr>
          <a:xfrm>
            <a:off x="5604867" y="1700213"/>
            <a:ext cx="6117233" cy="4598988"/>
          </a:xfrm>
        </p:spPr>
        <p:txBody>
          <a:bodyPr/>
          <a:lstStyle/>
          <a:p>
            <a:r>
              <a:rPr lang="en-GB" noProof="0"/>
              <a:t>Click icon to add picture</a:t>
            </a:r>
            <a:endParaRPr lang="en-GB" noProof="0" dirty="0"/>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6"/>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886326259"/>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772622019"/>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966472127"/>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0" y="1676402"/>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510126023"/>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8" name="Text Placeholder 8"/>
          <p:cNvSpPr>
            <a:spLocks noGrp="1"/>
          </p:cNvSpPr>
          <p:nvPr>
            <p:ph type="body" sz="quarter" idx="18"/>
          </p:nvPr>
        </p:nvSpPr>
        <p:spPr>
          <a:xfrm>
            <a:off x="468000" y="1684868"/>
            <a:ext cx="11252200" cy="357187"/>
          </a:xfrm>
        </p:spPr>
        <p:txBody>
          <a:bodyPr/>
          <a:lstStyle/>
          <a:p>
            <a:pPr lvl="0"/>
            <a:r>
              <a:rPr lang="en-GB" noProof="0"/>
              <a:t>Edit Master text styles</a:t>
            </a:r>
            <a:endParaRPr lang="en-GB"/>
          </a:p>
        </p:txBody>
      </p:sp>
      <p:sp>
        <p:nvSpPr>
          <p:cNvPr id="19"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7" name="Chart Placeholder 3"/>
          <p:cNvSpPr>
            <a:spLocks noGrp="1"/>
          </p:cNvSpPr>
          <p:nvPr>
            <p:ph type="chart" sz="quarter" idx="15"/>
          </p:nvPr>
        </p:nvSpPr>
        <p:spPr>
          <a:xfrm>
            <a:off x="468000" y="2036656"/>
            <a:ext cx="11252200" cy="3946134"/>
          </a:xfrm>
          <a:prstGeom prst="rect">
            <a:avLst/>
          </a:prstGeom>
        </p:spPr>
        <p:txBody>
          <a:bodyPr/>
          <a:lstStyle/>
          <a:p>
            <a:r>
              <a:rPr lang="en-GB" noProof="0"/>
              <a:t>Click icon to add chart</a:t>
            </a:r>
            <a:endParaRPr lang="en-GB" noProof="0" dirty="0"/>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296887904"/>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8" name="Text Placeholder 8"/>
          <p:cNvSpPr>
            <a:spLocks noGrp="1"/>
          </p:cNvSpPr>
          <p:nvPr>
            <p:ph type="body" sz="quarter" idx="18"/>
          </p:nvPr>
        </p:nvSpPr>
        <p:spPr>
          <a:xfrm>
            <a:off x="468000" y="1665289"/>
            <a:ext cx="3600000" cy="392112"/>
          </a:xfrm>
        </p:spPr>
        <p:txBody>
          <a:bodyPr/>
          <a:lstStyle/>
          <a:p>
            <a:pPr lvl="0"/>
            <a:r>
              <a:rPr lang="en-GB" noProof="0"/>
              <a:t>Edit Master text styles</a:t>
            </a:r>
            <a:endParaRPr lang="en-GB"/>
          </a:p>
        </p:txBody>
      </p:sp>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GB" noProof="0"/>
              <a:t>Click icon to add chart</a:t>
            </a:r>
            <a:endParaRPr lang="en-GB" noProof="0" dirty="0"/>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GB" noProof="0"/>
              <a:t>Click icon to add chart</a:t>
            </a:r>
            <a:endParaRPr lang="en-GB" noProof="0" dirty="0"/>
          </a:p>
        </p:txBody>
      </p:sp>
      <p:sp>
        <p:nvSpPr>
          <p:cNvPr id="8" name="Text Placeholder 8"/>
          <p:cNvSpPr>
            <a:spLocks noGrp="1"/>
          </p:cNvSpPr>
          <p:nvPr>
            <p:ph type="body" sz="quarter" idx="20"/>
          </p:nvPr>
        </p:nvSpPr>
        <p:spPr>
          <a:xfrm>
            <a:off x="4296003" y="1665288"/>
            <a:ext cx="3600000" cy="392112"/>
          </a:xfrm>
        </p:spPr>
        <p:txBody>
          <a:bodyPr/>
          <a:lstStyle/>
          <a:p>
            <a:pPr lvl="0"/>
            <a:r>
              <a:rPr lang="en-GB" noProof="0"/>
              <a:t>Edit Master text styles</a:t>
            </a:r>
            <a:endParaRPr lang="en-GB"/>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GB" noProof="0"/>
              <a:t>Click icon to add chart</a:t>
            </a:r>
            <a:endParaRPr lang="en-GB" noProof="0" dirty="0"/>
          </a:p>
        </p:txBody>
      </p:sp>
      <p:sp>
        <p:nvSpPr>
          <p:cNvPr id="10" name="Text Placeholder 8"/>
          <p:cNvSpPr>
            <a:spLocks noGrp="1"/>
          </p:cNvSpPr>
          <p:nvPr>
            <p:ph type="body" sz="quarter" idx="22"/>
          </p:nvPr>
        </p:nvSpPr>
        <p:spPr>
          <a:xfrm>
            <a:off x="8086959" y="1659145"/>
            <a:ext cx="3600000" cy="398256"/>
          </a:xfrm>
        </p:spPr>
        <p:txBody>
          <a:bodyPr/>
          <a:lstStyle/>
          <a:p>
            <a:pPr lvl="0"/>
            <a:r>
              <a:rPr lang="en-GB" noProof="0"/>
              <a:t>Edit Master text styles</a:t>
            </a:r>
            <a:endParaRPr lang="en-GB"/>
          </a:p>
        </p:txBody>
      </p:sp>
      <p:sp>
        <p:nvSpPr>
          <p:cNvPr id="11"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431476686"/>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spcAft>
                <a:spcPts val="500"/>
              </a:spcAft>
              <a:tabLst>
                <a:tab pos="6705432" algn="r"/>
              </a:tabLst>
              <a:defRPr sz="1100"/>
            </a:lvl1pPr>
            <a:lvl2pPr>
              <a:spcAft>
                <a:spcPts val="500"/>
              </a:spcAft>
              <a:tabLst>
                <a:tab pos="6705432" algn="r"/>
              </a:tabLst>
              <a:defRPr sz="1100"/>
            </a:lvl2pPr>
            <a:lvl3pPr>
              <a:spcAft>
                <a:spcPts val="500"/>
              </a:spcAft>
              <a:tabLst>
                <a:tab pos="6705432" algn="r"/>
              </a:tabLst>
              <a:defRPr sz="1100"/>
            </a:lvl3pPr>
            <a:lvl4pPr>
              <a:spcAft>
                <a:spcPts val="500"/>
              </a:spcAft>
              <a:tabLst>
                <a:tab pos="6705432" algn="r"/>
              </a:tabLst>
              <a:defRPr sz="1100"/>
            </a:lvl4pPr>
            <a:lvl5pPr>
              <a:spcAft>
                <a:spcPts val="500"/>
              </a:spcAft>
              <a:tabLst>
                <a:tab pos="6705432" algn="r"/>
              </a:tabLst>
              <a:defRPr sz="1100" baseline="0"/>
            </a:lvl5pPr>
          </a:lstStyle>
          <a:p>
            <a:pPr lvl="0"/>
            <a:r>
              <a:rPr lang="en-GB" noProof="0" dirty="0"/>
              <a:t>Edit Master text styles</a:t>
            </a:r>
            <a:endParaRPr lang="en-GB" dirty="0"/>
          </a:p>
          <a:p>
            <a:pPr lvl="1"/>
            <a:r>
              <a:rPr lang="en-GB" noProof="0" dirty="0"/>
              <a:t>Second level</a:t>
            </a:r>
            <a:endParaRPr lang="en-GB" dirty="0"/>
          </a:p>
          <a:p>
            <a:pPr lvl="2"/>
            <a:r>
              <a:rPr lang="en-GB" noProof="0" dirty="0"/>
              <a:t>Third level</a:t>
            </a:r>
            <a:endParaRPr lang="en-GB" dirty="0"/>
          </a:p>
          <a:p>
            <a:pPr lvl="3"/>
            <a:r>
              <a:rPr lang="en-GB" noProof="0" dirty="0"/>
              <a:t>Fourth level</a:t>
            </a:r>
            <a:endParaRPr lang="en-GB" dirty="0"/>
          </a:p>
          <a:p>
            <a:pPr lvl="4"/>
            <a:r>
              <a:rPr lang="en-GB" noProof="0" dirty="0"/>
              <a:t>Fifth level</a:t>
            </a:r>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spcAft>
                <a:spcPts val="500"/>
              </a:spcAft>
              <a:tabLst>
                <a:tab pos="6705432" algn="r"/>
              </a:tabLst>
              <a:defRPr sz="1100"/>
            </a:lvl1pPr>
            <a:lvl2pPr>
              <a:spcAft>
                <a:spcPts val="500"/>
              </a:spcAft>
              <a:tabLst>
                <a:tab pos="6705432" algn="r"/>
              </a:tabLst>
              <a:defRPr sz="1100"/>
            </a:lvl2pPr>
            <a:lvl3pPr>
              <a:spcAft>
                <a:spcPts val="500"/>
              </a:spcAft>
              <a:tabLst>
                <a:tab pos="6705432" algn="r"/>
              </a:tabLst>
              <a:defRPr sz="1100"/>
            </a:lvl3pPr>
            <a:lvl4pPr>
              <a:spcAft>
                <a:spcPts val="500"/>
              </a:spcAft>
              <a:tabLst>
                <a:tab pos="6705432" algn="r"/>
              </a:tabLst>
              <a:defRPr sz="1100"/>
            </a:lvl4pPr>
            <a:lvl5pPr>
              <a:spcAft>
                <a:spcPts val="500"/>
              </a:spcAft>
              <a:tabLst>
                <a:tab pos="6705432" algn="r"/>
              </a:tabLst>
              <a:defRPr sz="1100" baseline="0"/>
            </a:lvl5pPr>
          </a:lstStyle>
          <a:p>
            <a:pPr lvl="0"/>
            <a:r>
              <a:rPr lang="en-GB" noProof="0" dirty="0"/>
              <a:t>Edit Master text styles</a:t>
            </a:r>
            <a:endParaRPr lang="en-GB" dirty="0"/>
          </a:p>
          <a:p>
            <a:pPr lvl="1"/>
            <a:r>
              <a:rPr lang="en-GB" noProof="0" dirty="0"/>
              <a:t>Second level</a:t>
            </a:r>
            <a:endParaRPr lang="en-GB" dirty="0"/>
          </a:p>
          <a:p>
            <a:pPr lvl="2"/>
            <a:r>
              <a:rPr lang="en-GB" noProof="0" dirty="0"/>
              <a:t>Third level</a:t>
            </a:r>
            <a:endParaRPr lang="en-GB" dirty="0"/>
          </a:p>
          <a:p>
            <a:pPr lvl="3"/>
            <a:r>
              <a:rPr lang="en-GB" noProof="0" dirty="0"/>
              <a:t>Fourth level</a:t>
            </a:r>
            <a:endParaRPr lang="en-GB" dirty="0"/>
          </a:p>
          <a:p>
            <a:pPr lvl="4"/>
            <a:r>
              <a:rPr lang="en-GB" noProof="0" dirty="0"/>
              <a:t>Fifth level</a:t>
            </a:r>
          </a:p>
        </p:txBody>
      </p:sp>
      <p:sp>
        <p:nvSpPr>
          <p:cNvPr id="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4191260863"/>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1000"/>
            </a:lvl6pPr>
            <a:lvl7pPr>
              <a:defRPr sz="1000"/>
            </a:lvl7pPr>
            <a:lvl8pPr>
              <a:defRPr sz="1000"/>
            </a:lvl8pPr>
            <a:lvl9pPr>
              <a:defRPr sz="1000"/>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1000"/>
            </a:lvl6pPr>
            <a:lvl7pPr>
              <a:defRPr sz="1000"/>
            </a:lvl7pPr>
            <a:lvl8pPr>
              <a:defRPr sz="1000"/>
            </a:lvl8pPr>
            <a:lvl9pPr>
              <a:defRPr sz="1000"/>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79673757"/>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vl6pPr marL="475188" indent="0">
              <a:buNone/>
              <a:defRPr/>
            </a:lvl6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GB" noProof="0"/>
              <a:t>Click icon to add chart</a:t>
            </a:r>
            <a:endParaRPr lang="en-GB" noProof="0" dirty="0"/>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GB" noProof="0"/>
              <a:t>Edit Master text styles</a:t>
            </a:r>
            <a:endParaRPr lang="en-GB"/>
          </a:p>
        </p:txBody>
      </p:sp>
      <p:sp>
        <p:nvSpPr>
          <p:cNvPr id="9"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524524863"/>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GB" noProof="0"/>
              <a:t>Click icon to add chart</a:t>
            </a:r>
            <a:endParaRPr lang="en-GB" noProof="0" dirty="0"/>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GB" noProof="0"/>
              <a:t>Edit Master text styles</a:t>
            </a:r>
            <a:endParaRPr lang="en-GB"/>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GB" noProof="0"/>
              <a:t>Click icon to add chart</a:t>
            </a:r>
            <a:endParaRPr lang="en-GB" noProof="0" dirty="0"/>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GB" noProof="0"/>
              <a:t>Edit Master text styles</a:t>
            </a:r>
            <a:endParaRPr lang="en-GB"/>
          </a:p>
        </p:txBody>
      </p:sp>
      <p:sp>
        <p:nvSpPr>
          <p:cNvPr id="14"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6"/>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647505500"/>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7"/>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754959494"/>
      </p:ext>
    </p:extLst>
  </p:cSld>
  <p:clrMapOvr>
    <a:masterClrMapping/>
  </p:clrMapOvr>
  <p:transition>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7"/>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404412999"/>
      </p:ext>
    </p:extLst>
  </p:cSld>
  <p:clrMapOvr>
    <a:masterClrMapping/>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GB" noProof="0"/>
              <a:t>Click icon to add picture</a:t>
            </a:r>
            <a:endParaRPr lang="en-GB" noProof="0" dirty="0"/>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GB" noProof="0"/>
              <a:t>Click icon to add picture</a:t>
            </a:r>
            <a:endParaRPr lang="en-GB" noProof="0" dirty="0"/>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GB" noProof="0"/>
              <a:t>Click icon to add picture</a:t>
            </a:r>
            <a:endParaRPr lang="en-GB" noProof="0" dirty="0"/>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GB" noProof="0"/>
              <a:t>Click icon to add picture</a:t>
            </a:r>
            <a:endParaRPr lang="en-GB" noProof="0" dirty="0"/>
          </a:p>
        </p:txBody>
      </p:sp>
      <p:sp>
        <p:nvSpPr>
          <p:cNvPr id="9" name="Text Placeholder 8"/>
          <p:cNvSpPr>
            <a:spLocks noGrp="1"/>
          </p:cNvSpPr>
          <p:nvPr>
            <p:ph type="body" sz="quarter" idx="17"/>
          </p:nvPr>
        </p:nvSpPr>
        <p:spPr>
          <a:xfrm>
            <a:off x="482363" y="3076573"/>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240006" indent="0">
              <a:spcAft>
                <a:spcPts val="0"/>
              </a:spcAft>
              <a:buFont typeface="Verdana" panose="020B0604030504040204" pitchFamily="34" charset="0"/>
              <a:buNone/>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0" name="Text Placeholder 8"/>
          <p:cNvSpPr>
            <a:spLocks noGrp="1"/>
          </p:cNvSpPr>
          <p:nvPr>
            <p:ph type="body" sz="quarter" idx="18"/>
          </p:nvPr>
        </p:nvSpPr>
        <p:spPr>
          <a:xfrm>
            <a:off x="6207211" y="3079742"/>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1" name="Text Placeholder 8"/>
          <p:cNvSpPr>
            <a:spLocks noGrp="1"/>
          </p:cNvSpPr>
          <p:nvPr>
            <p:ph type="body" sz="quarter" idx="19"/>
          </p:nvPr>
        </p:nvSpPr>
        <p:spPr>
          <a:xfrm>
            <a:off x="3344787" y="3076573"/>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Text Placeholder 8"/>
          <p:cNvSpPr>
            <a:spLocks noGrp="1"/>
          </p:cNvSpPr>
          <p:nvPr>
            <p:ph type="body" sz="quarter" idx="20"/>
          </p:nvPr>
        </p:nvSpPr>
        <p:spPr>
          <a:xfrm>
            <a:off x="9069636" y="3079742"/>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2"/>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122257595"/>
      </p:ext>
    </p:extLst>
  </p:cSld>
  <p:clrMapOvr>
    <a:masterClrMapping/>
  </p:clrMapOvr>
  <p:transition>
    <p:fade/>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GB" noProof="0"/>
              <a:t>Click icon to add picture</a:t>
            </a:r>
            <a:endParaRPr lang="en-GB" noProof="0" dirty="0"/>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GB" noProof="0"/>
              <a:t>Click icon to add picture</a:t>
            </a:r>
            <a:endParaRPr lang="en-GB" noProof="0" dirty="0"/>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GB" noProof="0"/>
              <a:t>Click icon to add picture</a:t>
            </a:r>
            <a:endParaRPr lang="en-GB" noProof="0" dirty="0"/>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GB" noProof="0"/>
              <a:t>Click icon to add picture</a:t>
            </a:r>
            <a:endParaRPr lang="en-GB" noProof="0" dirty="0"/>
          </a:p>
        </p:txBody>
      </p:sp>
      <p:sp>
        <p:nvSpPr>
          <p:cNvPr id="13" name="Text Placeholder 12"/>
          <p:cNvSpPr>
            <a:spLocks noGrp="1"/>
          </p:cNvSpPr>
          <p:nvPr>
            <p:ph type="body" sz="quarter" idx="32"/>
          </p:nvPr>
        </p:nvSpPr>
        <p:spPr>
          <a:xfrm>
            <a:off x="2840780" y="1880213"/>
            <a:ext cx="3172800" cy="1944000"/>
          </a:xfrm>
        </p:spPr>
        <p:txBody>
          <a:bodyPr/>
          <a:lstStyle>
            <a:lvl1pPr>
              <a:spcAft>
                <a:spcPts val="0"/>
              </a:spcAft>
              <a:defRPr b="1"/>
            </a:lvl1pPr>
            <a:lvl2pPr>
              <a:spcAft>
                <a:spcPts val="0"/>
              </a:spcAft>
              <a:defRPr b="0"/>
            </a:lvl2pPr>
            <a:lvl3pPr marL="0" indent="0">
              <a:buNone/>
              <a:defRPr/>
            </a:lvl3pPr>
          </a:lstStyle>
          <a:p>
            <a:pPr lvl="0"/>
            <a:r>
              <a:rPr lang="en-GB" noProof="0"/>
              <a:t>Edit Master text styles</a:t>
            </a:r>
            <a:endParaRPr lang="en-GB"/>
          </a:p>
          <a:p>
            <a:pPr lvl="1"/>
            <a:r>
              <a:rPr lang="en-GB" noProof="0"/>
              <a:t>Second level</a:t>
            </a:r>
            <a:endParaRPr lang="en-GB"/>
          </a:p>
        </p:txBody>
      </p:sp>
      <p:sp>
        <p:nvSpPr>
          <p:cNvPr id="14" name="Text Placeholder 12"/>
          <p:cNvSpPr>
            <a:spLocks noGrp="1"/>
          </p:cNvSpPr>
          <p:nvPr>
            <p:ph type="body" sz="quarter" idx="33"/>
          </p:nvPr>
        </p:nvSpPr>
        <p:spPr>
          <a:xfrm>
            <a:off x="8550676" y="1880213"/>
            <a:ext cx="3171024" cy="1944000"/>
          </a:xfrm>
        </p:spPr>
        <p:txBody>
          <a:bodyPr/>
          <a:lstStyle>
            <a:lvl1pPr>
              <a:spcAft>
                <a:spcPts val="0"/>
              </a:spcAft>
              <a:defRPr b="1"/>
            </a:lvl1pPr>
            <a:lvl2pPr>
              <a:spcAft>
                <a:spcPts val="0"/>
              </a:spcAft>
              <a:defRPr b="0"/>
            </a:lvl2pPr>
          </a:lstStyle>
          <a:p>
            <a:pPr lvl="0"/>
            <a:r>
              <a:rPr lang="en-GB" noProof="0"/>
              <a:t>Edit Master text styles</a:t>
            </a:r>
            <a:endParaRPr lang="en-GB"/>
          </a:p>
          <a:p>
            <a:pPr lvl="1"/>
            <a:r>
              <a:rPr lang="en-GB" noProof="0"/>
              <a:t>Second level</a:t>
            </a:r>
            <a:endParaRPr lang="en-GB"/>
          </a:p>
        </p:txBody>
      </p:sp>
      <p:sp>
        <p:nvSpPr>
          <p:cNvPr id="15" name="Text Placeholder 12"/>
          <p:cNvSpPr>
            <a:spLocks noGrp="1"/>
          </p:cNvSpPr>
          <p:nvPr>
            <p:ph type="body" sz="quarter" idx="34"/>
          </p:nvPr>
        </p:nvSpPr>
        <p:spPr>
          <a:xfrm>
            <a:off x="2802551" y="4256213"/>
            <a:ext cx="3172800" cy="1944000"/>
          </a:xfrm>
        </p:spPr>
        <p:txBody>
          <a:bodyPr/>
          <a:lstStyle>
            <a:lvl1pPr>
              <a:spcAft>
                <a:spcPts val="0"/>
              </a:spcAft>
              <a:defRPr b="1"/>
            </a:lvl1pPr>
            <a:lvl2pPr>
              <a:spcAft>
                <a:spcPts val="0"/>
              </a:spcAft>
              <a:defRPr b="0"/>
            </a:lvl2pPr>
          </a:lstStyle>
          <a:p>
            <a:pPr lvl="0"/>
            <a:r>
              <a:rPr lang="en-GB" noProof="0"/>
              <a:t>Edit Master text styles</a:t>
            </a:r>
            <a:endParaRPr lang="en-GB"/>
          </a:p>
          <a:p>
            <a:pPr lvl="1"/>
            <a:r>
              <a:rPr lang="en-GB" noProof="0"/>
              <a:t>Second level</a:t>
            </a:r>
            <a:endParaRPr lang="en-GB"/>
          </a:p>
        </p:txBody>
      </p:sp>
      <p:sp>
        <p:nvSpPr>
          <p:cNvPr id="16" name="Text Placeholder 12"/>
          <p:cNvSpPr>
            <a:spLocks noGrp="1"/>
          </p:cNvSpPr>
          <p:nvPr>
            <p:ph type="body" sz="quarter" idx="35"/>
          </p:nvPr>
        </p:nvSpPr>
        <p:spPr>
          <a:xfrm>
            <a:off x="8548900" y="4256212"/>
            <a:ext cx="3172800" cy="1944000"/>
          </a:xfrm>
        </p:spPr>
        <p:txBody>
          <a:bodyPr/>
          <a:lstStyle>
            <a:lvl1pPr>
              <a:spcAft>
                <a:spcPts val="0"/>
              </a:spcAft>
              <a:defRPr b="1"/>
            </a:lvl1pPr>
            <a:lvl2pPr>
              <a:spcAft>
                <a:spcPts val="0"/>
              </a:spcAft>
              <a:defRPr b="0"/>
            </a:lvl2pPr>
          </a:lstStyle>
          <a:p>
            <a:pPr lvl="0"/>
            <a:r>
              <a:rPr lang="en-GB" noProof="0"/>
              <a:t>Edit Master text styles</a:t>
            </a:r>
            <a:endParaRPr lang="en-GB"/>
          </a:p>
          <a:p>
            <a:pPr lvl="1"/>
            <a:r>
              <a:rPr lang="en-GB" noProof="0"/>
              <a:t>Second level</a:t>
            </a:r>
            <a:endParaRPr lang="en-GB"/>
          </a:p>
        </p:txBody>
      </p:sp>
      <p:sp>
        <p:nvSpPr>
          <p:cNvPr id="1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36"/>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4271493382"/>
      </p:ext>
    </p:extLst>
  </p:cSld>
  <p:clrMapOvr>
    <a:masterClrMapping/>
  </p:clrMapOvr>
  <p:transition>
    <p:fade/>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3 picture &amp;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69900" y="1700213"/>
            <a:ext cx="3627438" cy="2052830"/>
          </a:xfrm>
        </p:spPr>
        <p:txBody>
          <a:bodyPr/>
          <a:lstStyle/>
          <a:p>
            <a:r>
              <a:rPr lang="en-GB" noProof="0"/>
              <a:t>Click icon to add picture</a:t>
            </a:r>
            <a:endParaRPr lang="en-GB" noProof="0" dirty="0"/>
          </a:p>
        </p:txBody>
      </p:sp>
      <p:sp>
        <p:nvSpPr>
          <p:cNvPr id="5" name="Picture Placeholder 7"/>
          <p:cNvSpPr>
            <a:spLocks noGrp="1"/>
          </p:cNvSpPr>
          <p:nvPr>
            <p:ph type="pic" sz="quarter" idx="14"/>
          </p:nvPr>
        </p:nvSpPr>
        <p:spPr>
          <a:xfrm>
            <a:off x="8082784" y="1700213"/>
            <a:ext cx="3639316" cy="2059099"/>
          </a:xfrm>
        </p:spPr>
        <p:txBody>
          <a:bodyPr/>
          <a:lstStyle/>
          <a:p>
            <a:r>
              <a:rPr lang="en-GB" noProof="0"/>
              <a:t>Click icon to add picture</a:t>
            </a:r>
            <a:endParaRPr lang="en-GB" noProof="0" dirty="0"/>
          </a:p>
        </p:txBody>
      </p:sp>
      <p:sp>
        <p:nvSpPr>
          <p:cNvPr id="6" name="Picture Placeholder 7"/>
          <p:cNvSpPr>
            <a:spLocks noGrp="1"/>
          </p:cNvSpPr>
          <p:nvPr>
            <p:ph type="pic" sz="quarter" idx="15"/>
          </p:nvPr>
        </p:nvSpPr>
        <p:spPr>
          <a:xfrm>
            <a:off x="4284188" y="1700212"/>
            <a:ext cx="3636962" cy="2057767"/>
          </a:xfrm>
        </p:spPr>
        <p:txBody>
          <a:bodyPr/>
          <a:lstStyle/>
          <a:p>
            <a:r>
              <a:rPr lang="en-GB" noProof="0"/>
              <a:t>Click icon to add picture</a:t>
            </a:r>
            <a:endParaRPr lang="en-GB" noProof="0" dirty="0"/>
          </a:p>
        </p:txBody>
      </p:sp>
      <p:sp>
        <p:nvSpPr>
          <p:cNvPr id="9" name="Text Placeholder 18"/>
          <p:cNvSpPr>
            <a:spLocks noGrp="1"/>
          </p:cNvSpPr>
          <p:nvPr>
            <p:ph idx="1" hasCustomPrompt="1"/>
          </p:nvPr>
        </p:nvSpPr>
        <p:spPr>
          <a:xfrm>
            <a:off x="469900" y="3832225"/>
            <a:ext cx="3627438" cy="2181440"/>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12"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9"/>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757828940"/>
      </p:ext>
    </p:extLst>
  </p:cSld>
  <p:clrMapOvr>
    <a:masterClrMapping/>
  </p:clrMapOvr>
  <p:transition>
    <p:fade/>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85132039"/>
      </p:ext>
    </p:extLst>
  </p:cSld>
  <p:clrMapOvr>
    <a:masterClrMapping/>
  </p:clrMapOvr>
  <p:transition>
    <p:fade/>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14" name="Text Placeholder 8"/>
          <p:cNvSpPr>
            <a:spLocks noGrp="1"/>
          </p:cNvSpPr>
          <p:nvPr>
            <p:ph type="body" sz="quarter" idx="17"/>
          </p:nvPr>
        </p:nvSpPr>
        <p:spPr>
          <a:xfrm>
            <a:off x="469899"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239994" indent="0">
              <a:spcAft>
                <a:spcPts val="1333"/>
              </a:spcAft>
              <a:buFont typeface="Verdana" panose="020B0604030504040204" pitchFamily="34" charset="0"/>
              <a:buNone/>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Content Placeholder 9"/>
          <p:cNvSpPr>
            <a:spLocks noGrp="1"/>
          </p:cNvSpPr>
          <p:nvPr>
            <p:ph sz="quarter" idx="22" hasCustomPrompt="1"/>
          </p:nvPr>
        </p:nvSpPr>
        <p:spPr>
          <a:xfrm>
            <a:off x="4734795" y="1857891"/>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15" name="Text Placeholder 8"/>
          <p:cNvSpPr>
            <a:spLocks noGrp="1"/>
          </p:cNvSpPr>
          <p:nvPr>
            <p:ph type="body" sz="quarter" idx="21"/>
          </p:nvPr>
        </p:nvSpPr>
        <p:spPr>
          <a:xfrm>
            <a:off x="6177462"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3" name="Content Placeholder 10"/>
          <p:cNvSpPr>
            <a:spLocks noGrp="1"/>
          </p:cNvSpPr>
          <p:nvPr>
            <p:ph sz="quarter" idx="23" hasCustomPrompt="1"/>
          </p:nvPr>
        </p:nvSpPr>
        <p:spPr>
          <a:xfrm>
            <a:off x="10451382" y="1857891"/>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GB" sz="1467" noProof="0" dirty="0">
              <a:solidFill>
                <a:schemeClr val="bg1"/>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GB" sz="1467" noProof="0" dirty="0">
              <a:solidFill>
                <a:schemeClr val="bg1"/>
              </a:solidFill>
            </a:endParaRPr>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333157361"/>
      </p:ext>
    </p:extLst>
  </p:cSld>
  <p:clrMapOvr>
    <a:masterClrMapping/>
  </p:clrMapOvr>
  <p:transition>
    <p:fade/>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1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8"/>
          <p:cNvSpPr>
            <a:spLocks noGrp="1"/>
          </p:cNvSpPr>
          <p:nvPr>
            <p:ph type="body" sz="quarter" idx="17"/>
          </p:nvPr>
        </p:nvSpPr>
        <p:spPr>
          <a:xfrm>
            <a:off x="469899" y="1857892"/>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6" name="Content Placeholder 9"/>
          <p:cNvSpPr>
            <a:spLocks noGrp="1"/>
          </p:cNvSpPr>
          <p:nvPr>
            <p:ph sz="quarter" idx="26" hasCustomPrompt="1"/>
          </p:nvPr>
        </p:nvSpPr>
        <p:spPr>
          <a:xfrm>
            <a:off x="4734795" y="1857891"/>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9" name="Text Placeholder 8"/>
          <p:cNvSpPr>
            <a:spLocks noGrp="1"/>
          </p:cNvSpPr>
          <p:nvPr>
            <p:ph type="body" sz="quarter" idx="21"/>
          </p:nvPr>
        </p:nvSpPr>
        <p:spPr>
          <a:xfrm>
            <a:off x="6177462" y="1857892"/>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0" name="Content Placeholder 10"/>
          <p:cNvSpPr>
            <a:spLocks noGrp="1"/>
          </p:cNvSpPr>
          <p:nvPr>
            <p:ph sz="quarter" idx="27" hasCustomPrompt="1"/>
          </p:nvPr>
        </p:nvSpPr>
        <p:spPr>
          <a:xfrm>
            <a:off x="10451382" y="1857891"/>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10" name="Text Placeholder 8"/>
          <p:cNvSpPr>
            <a:spLocks noGrp="1"/>
          </p:cNvSpPr>
          <p:nvPr>
            <p:ph type="body" sz="quarter" idx="22"/>
          </p:nvPr>
        </p:nvSpPr>
        <p:spPr>
          <a:xfrm>
            <a:off x="469899" y="4249681"/>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1" name="Content Placeholder 11"/>
          <p:cNvSpPr>
            <a:spLocks noGrp="1"/>
          </p:cNvSpPr>
          <p:nvPr>
            <p:ph sz="quarter" idx="28" hasCustomPrompt="1"/>
          </p:nvPr>
        </p:nvSpPr>
        <p:spPr>
          <a:xfrm>
            <a:off x="4742449" y="4248208"/>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11" name="Text Placeholder 8"/>
          <p:cNvSpPr>
            <a:spLocks noGrp="1"/>
          </p:cNvSpPr>
          <p:nvPr>
            <p:ph type="body" sz="quarter" idx="23"/>
          </p:nvPr>
        </p:nvSpPr>
        <p:spPr>
          <a:xfrm>
            <a:off x="6177460" y="4249681"/>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2" name="Content Placeholder 12"/>
          <p:cNvSpPr>
            <a:spLocks noGrp="1"/>
          </p:cNvSpPr>
          <p:nvPr>
            <p:ph sz="quarter" idx="29" hasCustomPrompt="1"/>
          </p:nvPr>
        </p:nvSpPr>
        <p:spPr>
          <a:xfrm>
            <a:off x="10451382" y="4248208"/>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dirty="0">
              <a:solidFill>
                <a:schemeClr val="bg1"/>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dirty="0">
              <a:solidFill>
                <a:schemeClr val="bg1"/>
              </a:solidFill>
            </a:endParaRPr>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dirty="0">
              <a:solidFill>
                <a:schemeClr val="bg1"/>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dirty="0">
              <a:solidFill>
                <a:schemeClr val="bg1"/>
              </a:solidFill>
            </a:endParaRPr>
          </a:p>
        </p:txBody>
      </p:sp>
      <p:sp>
        <p:nvSpPr>
          <p:cNvPr id="2" name="Footer Placeholder 1"/>
          <p:cNvSpPr>
            <a:spLocks noGrp="1"/>
          </p:cNvSpPr>
          <p:nvPr>
            <p:ph type="ftr" sz="quarter" idx="3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280841308"/>
      </p:ext>
    </p:extLst>
  </p:cSld>
  <p:clrMapOvr>
    <a:masterClrMapping/>
  </p:clrMapOvr>
  <p:transition>
    <p:fade/>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7" name="Text Placeholder 8"/>
          <p:cNvSpPr>
            <a:spLocks noGrp="1"/>
          </p:cNvSpPr>
          <p:nvPr>
            <p:ph type="body" sz="quarter" idx="17"/>
          </p:nvPr>
        </p:nvSpPr>
        <p:spPr>
          <a:xfrm>
            <a:off x="4278313" y="1851441"/>
            <a:ext cx="3636962" cy="3845755"/>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8" name="Text Placeholder 8"/>
          <p:cNvSpPr>
            <a:spLocks noGrp="1"/>
          </p:cNvSpPr>
          <p:nvPr>
            <p:ph type="body" sz="quarter" idx="18"/>
          </p:nvPr>
        </p:nvSpPr>
        <p:spPr>
          <a:xfrm>
            <a:off x="469900" y="1851441"/>
            <a:ext cx="3627438" cy="3845755"/>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9" name="Text Placeholder 8"/>
          <p:cNvSpPr>
            <a:spLocks noGrp="1"/>
          </p:cNvSpPr>
          <p:nvPr>
            <p:ph type="body" sz="quarter" idx="19"/>
          </p:nvPr>
        </p:nvSpPr>
        <p:spPr>
          <a:xfrm>
            <a:off x="8093075" y="1851441"/>
            <a:ext cx="3629025" cy="3845755"/>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772761891"/>
      </p:ext>
    </p:extLst>
  </p:cSld>
  <p:clrMapOvr>
    <a:masterClrMapping/>
  </p:clrMapOvr>
  <p:transition>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0"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099192047"/>
      </p:ext>
    </p:extLst>
  </p:cSld>
  <p:clrMapOvr>
    <a:masterClrMapping/>
  </p:clrMapOvr>
  <p:transition>
    <p:fade/>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Ref idx="1001">
        <a:schemeClr val="bg1"/>
      </p:bgRef>
    </p:bg>
    <p:spTree>
      <p:nvGrpSpPr>
        <p:cNvPr id="1" name=""/>
        <p:cNvGrpSpPr/>
        <p:nvPr/>
      </p:nvGrpSpPr>
      <p:grpSpPr>
        <a:xfrm>
          <a:off x="0" y="0"/>
          <a:ext cx="0" cy="0"/>
          <a:chOff x="0" y="0"/>
          <a:chExt cx="0" cy="0"/>
        </a:xfrm>
      </p:grpSpPr>
      <p:sp>
        <p:nvSpPr>
          <p:cNvPr id="11" name="Colored background"/>
          <p:cNvSpPr/>
          <p:nvPr userDrawn="1"/>
        </p:nvSpPr>
        <p:spPr bwMode="gray">
          <a:xfrm>
            <a:off x="0" y="0"/>
            <a:ext cx="12189600" cy="6858000"/>
          </a:xfrm>
          <a:prstGeom prst="rect">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4" name="Text Placeholder 8"/>
          <p:cNvSpPr>
            <a:spLocks noGrp="1"/>
          </p:cNvSpPr>
          <p:nvPr>
            <p:ph type="body" sz="quarter" idx="17"/>
          </p:nvPr>
        </p:nvSpPr>
        <p:spPr>
          <a:xfrm>
            <a:off x="469903"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5" name="TextBox 14"/>
          <p:cNvSpPr txBox="1"/>
          <p:nvPr userDrawn="1"/>
        </p:nvSpPr>
        <p:spPr>
          <a:xfrm>
            <a:off x="11382378" y="647700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1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solidFill>
                  <a:schemeClr val="tx1"/>
                </a:solidFill>
              </a:defRPr>
            </a:lvl1pPr>
          </a:lstStyle>
          <a:p>
            <a:r>
              <a:rPr lang="en-GB" noProof="0"/>
              <a:t>Click to edit Master title style</a:t>
            </a:r>
            <a:endParaRPr lang="en-GB" noProof="0" dirty="0"/>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tx1"/>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62873470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67783" y="1665817"/>
            <a:ext cx="5537730" cy="4633383"/>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680848"/>
      </p:ext>
    </p:extLst>
  </p:cSld>
  <p:clrMapOvr>
    <a:masterClrMapping/>
  </p:clrMapOvr>
  <p:transition>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016410897"/>
      </p:ext>
    </p:extLst>
  </p:cSld>
  <p:clrMapOvr>
    <a:masterClrMapping/>
  </p:clrMapOvr>
  <p:transition>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660641858"/>
      </p:ext>
    </p:extLst>
  </p:cSld>
  <p:clrMapOvr>
    <a:masterClrMapping/>
  </p:clrMapOvr>
  <p:transition>
    <p:fad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3" name="Picture Placeholder 2"/>
          <p:cNvSpPr>
            <a:spLocks noGrp="1"/>
          </p:cNvSpPr>
          <p:nvPr>
            <p:ph type="pic" sz="quarter" idx="14" hasCustomPrompt="1"/>
          </p:nvPr>
        </p:nvSpPr>
        <p:spPr>
          <a:xfrm>
            <a:off x="9402597" y="4102100"/>
            <a:ext cx="2319503" cy="1725448"/>
          </a:xfrm>
        </p:spPr>
        <p:txBody>
          <a:bodyPr anchor="ctr" anchorCtr="0"/>
          <a:lstStyle>
            <a:lvl1pPr algn="ctr">
              <a:defRPr sz="1200"/>
            </a:lvl1pPr>
          </a:lstStyle>
          <a:p>
            <a:r>
              <a:rPr lang="en-GB" sz="1200" noProof="0" dirty="0"/>
              <a:t>Insert sponsorship mark here</a:t>
            </a:r>
            <a:endParaRPr lang="en-GB" noProof="0" dirty="0"/>
          </a:p>
        </p:txBody>
      </p:sp>
      <p:sp>
        <p:nvSpPr>
          <p:cNvPr id="8" name="Text Placeholder 7"/>
          <p:cNvSpPr>
            <a:spLocks noGrp="1"/>
          </p:cNvSpPr>
          <p:nvPr>
            <p:ph type="body" sz="quarter" idx="15"/>
          </p:nvPr>
        </p:nvSpPr>
        <p:spPr>
          <a:xfrm>
            <a:off x="9402598" y="5935479"/>
            <a:ext cx="2319501" cy="363723"/>
          </a:xfrm>
        </p:spPr>
        <p:txBody>
          <a:bodyPr anchor="b" anchorCtr="0"/>
          <a:lstStyle>
            <a:lvl1pPr>
              <a:lnSpc>
                <a:spcPct val="100000"/>
              </a:lnSpc>
              <a:defRPr sz="1267"/>
            </a:lvl1pPr>
          </a:lstStyle>
          <a:p>
            <a:pPr lvl="0"/>
            <a:r>
              <a:rPr lang="en-GB" noProof="0"/>
              <a:t>Edit Master text styles</a:t>
            </a:r>
            <a:endParaRPr lang="en-GB"/>
          </a:p>
        </p:txBody>
      </p:sp>
      <p:sp>
        <p:nvSpPr>
          <p:cNvPr id="20" name="SD_ART_Logo"/>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037916276" name="LogoDisclaimerPage"/>
          <p:cNvPicPr>
            <a:picLocks noChangeAspect="1"/>
          </p:cNvPicPr>
          <p:nvPr/>
        </p:nvPicPr>
        <p:blipFill>
          <a:blip r:embed="rId2"/>
          <a:stretch>
            <a:fillRect/>
          </a:stretch>
        </p:blipFill>
        <p:spPr>
          <a:xfrm>
            <a:off x="475200" y="464400"/>
            <a:ext cx="1655999" cy="725867"/>
          </a:xfrm>
          <a:prstGeom prst="rect">
            <a:avLst/>
          </a:prstGeom>
        </p:spPr>
      </p:pic>
      <p:sp>
        <p:nvSpPr>
          <p:cNvPr id="2" name="Footer Placeholder 1"/>
          <p:cNvSpPr>
            <a:spLocks noGrp="1"/>
          </p:cNvSpPr>
          <p:nvPr>
            <p:ph type="ftr" sz="quarter" idx="16"/>
          </p:nvPr>
        </p:nvSpPr>
        <p:spPr>
          <a:xfrm>
            <a:off x="6184900" y="6476999"/>
            <a:ext cx="4536726"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4240871270"/>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2014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2014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50350401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image" Target="../media/image1.emf"/><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oleObject" Target="../embeddings/oleObject1.bin"/><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ags" Target="../tags/tag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ags" Target="../tags/tag2.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image" Target="../media/image1.emf"/><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oleObject" Target="../embeddings/oleObject1.bin"/></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49.xml"/><Relationship Id="rId18" Type="http://schemas.openxmlformats.org/officeDocument/2006/relationships/slideLayout" Target="../slideLayouts/slideLayout54.xml"/><Relationship Id="rId26" Type="http://schemas.openxmlformats.org/officeDocument/2006/relationships/slideLayout" Target="../slideLayouts/slideLayout62.xml"/><Relationship Id="rId39" Type="http://schemas.openxmlformats.org/officeDocument/2006/relationships/slideLayout" Target="../slideLayouts/slideLayout75.xml"/><Relationship Id="rId21" Type="http://schemas.openxmlformats.org/officeDocument/2006/relationships/slideLayout" Target="../slideLayouts/slideLayout57.xml"/><Relationship Id="rId34" Type="http://schemas.openxmlformats.org/officeDocument/2006/relationships/slideLayout" Target="../slideLayouts/slideLayout70.xml"/><Relationship Id="rId42" Type="http://schemas.openxmlformats.org/officeDocument/2006/relationships/slideLayout" Target="../slideLayouts/slideLayout78.xml"/><Relationship Id="rId47" Type="http://schemas.openxmlformats.org/officeDocument/2006/relationships/slideLayout" Target="../slideLayouts/slideLayout83.xml"/><Relationship Id="rId50" Type="http://schemas.openxmlformats.org/officeDocument/2006/relationships/theme" Target="../theme/theme4.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6" Type="http://schemas.openxmlformats.org/officeDocument/2006/relationships/slideLayout" Target="../slideLayouts/slideLayout52.xml"/><Relationship Id="rId29" Type="http://schemas.openxmlformats.org/officeDocument/2006/relationships/slideLayout" Target="../slideLayouts/slideLayout65.xml"/><Relationship Id="rId11" Type="http://schemas.openxmlformats.org/officeDocument/2006/relationships/slideLayout" Target="../slideLayouts/slideLayout47.xml"/><Relationship Id="rId24" Type="http://schemas.openxmlformats.org/officeDocument/2006/relationships/slideLayout" Target="../slideLayouts/slideLayout60.xml"/><Relationship Id="rId32" Type="http://schemas.openxmlformats.org/officeDocument/2006/relationships/slideLayout" Target="../slideLayouts/slideLayout68.xml"/><Relationship Id="rId37" Type="http://schemas.openxmlformats.org/officeDocument/2006/relationships/slideLayout" Target="../slideLayouts/slideLayout73.xml"/><Relationship Id="rId40" Type="http://schemas.openxmlformats.org/officeDocument/2006/relationships/slideLayout" Target="../slideLayouts/slideLayout76.xml"/><Relationship Id="rId45" Type="http://schemas.openxmlformats.org/officeDocument/2006/relationships/slideLayout" Target="../slideLayouts/slideLayout81.xml"/><Relationship Id="rId53" Type="http://schemas.openxmlformats.org/officeDocument/2006/relationships/image" Target="../media/image1.emf"/><Relationship Id="rId5" Type="http://schemas.openxmlformats.org/officeDocument/2006/relationships/slideLayout" Target="../slideLayouts/slideLayout41.xml"/><Relationship Id="rId10" Type="http://schemas.openxmlformats.org/officeDocument/2006/relationships/slideLayout" Target="../slideLayouts/slideLayout46.xml"/><Relationship Id="rId19" Type="http://schemas.openxmlformats.org/officeDocument/2006/relationships/slideLayout" Target="../slideLayouts/slideLayout55.xml"/><Relationship Id="rId31" Type="http://schemas.openxmlformats.org/officeDocument/2006/relationships/slideLayout" Target="../slideLayouts/slideLayout67.xml"/><Relationship Id="rId44" Type="http://schemas.openxmlformats.org/officeDocument/2006/relationships/slideLayout" Target="../slideLayouts/slideLayout80.xml"/><Relationship Id="rId52" Type="http://schemas.openxmlformats.org/officeDocument/2006/relationships/oleObject" Target="../embeddings/oleObject2.bin"/><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 Id="rId22" Type="http://schemas.openxmlformats.org/officeDocument/2006/relationships/slideLayout" Target="../slideLayouts/slideLayout58.xml"/><Relationship Id="rId27" Type="http://schemas.openxmlformats.org/officeDocument/2006/relationships/slideLayout" Target="../slideLayouts/slideLayout63.xml"/><Relationship Id="rId30" Type="http://schemas.openxmlformats.org/officeDocument/2006/relationships/slideLayout" Target="../slideLayouts/slideLayout66.xml"/><Relationship Id="rId35" Type="http://schemas.openxmlformats.org/officeDocument/2006/relationships/slideLayout" Target="../slideLayouts/slideLayout71.xml"/><Relationship Id="rId43" Type="http://schemas.openxmlformats.org/officeDocument/2006/relationships/slideLayout" Target="../slideLayouts/slideLayout79.xml"/><Relationship Id="rId48" Type="http://schemas.openxmlformats.org/officeDocument/2006/relationships/slideLayout" Target="../slideLayouts/slideLayout84.xml"/><Relationship Id="rId8" Type="http://schemas.openxmlformats.org/officeDocument/2006/relationships/slideLayout" Target="../slideLayouts/slideLayout44.xml"/><Relationship Id="rId51" Type="http://schemas.openxmlformats.org/officeDocument/2006/relationships/tags" Target="../tags/tag3.xml"/><Relationship Id="rId3" Type="http://schemas.openxmlformats.org/officeDocument/2006/relationships/slideLayout" Target="../slideLayouts/slideLayout39.xml"/><Relationship Id="rId12" Type="http://schemas.openxmlformats.org/officeDocument/2006/relationships/slideLayout" Target="../slideLayouts/slideLayout48.xml"/><Relationship Id="rId17" Type="http://schemas.openxmlformats.org/officeDocument/2006/relationships/slideLayout" Target="../slideLayouts/slideLayout53.xml"/><Relationship Id="rId25" Type="http://schemas.openxmlformats.org/officeDocument/2006/relationships/slideLayout" Target="../slideLayouts/slideLayout61.xml"/><Relationship Id="rId33" Type="http://schemas.openxmlformats.org/officeDocument/2006/relationships/slideLayout" Target="../slideLayouts/slideLayout69.xml"/><Relationship Id="rId38" Type="http://schemas.openxmlformats.org/officeDocument/2006/relationships/slideLayout" Target="../slideLayouts/slideLayout74.xml"/><Relationship Id="rId46" Type="http://schemas.openxmlformats.org/officeDocument/2006/relationships/slideLayout" Target="../slideLayouts/slideLayout82.xml"/><Relationship Id="rId20" Type="http://schemas.openxmlformats.org/officeDocument/2006/relationships/slideLayout" Target="../slideLayouts/slideLayout56.xml"/><Relationship Id="rId41" Type="http://schemas.openxmlformats.org/officeDocument/2006/relationships/slideLayout" Target="../slideLayouts/slideLayout77.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5" Type="http://schemas.openxmlformats.org/officeDocument/2006/relationships/slideLayout" Target="../slideLayouts/slideLayout51.xml"/><Relationship Id="rId23" Type="http://schemas.openxmlformats.org/officeDocument/2006/relationships/slideLayout" Target="../slideLayouts/slideLayout59.xml"/><Relationship Id="rId28" Type="http://schemas.openxmlformats.org/officeDocument/2006/relationships/slideLayout" Target="../slideLayouts/slideLayout64.xml"/><Relationship Id="rId36" Type="http://schemas.openxmlformats.org/officeDocument/2006/relationships/slideLayout" Target="../slideLayouts/slideLayout72.xml"/><Relationship Id="rId49" Type="http://schemas.openxmlformats.org/officeDocument/2006/relationships/slideLayout" Target="../slideLayouts/slideLayout85.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98.xml"/><Relationship Id="rId18" Type="http://schemas.openxmlformats.org/officeDocument/2006/relationships/slideLayout" Target="../slideLayouts/slideLayout103.xml"/><Relationship Id="rId26" Type="http://schemas.openxmlformats.org/officeDocument/2006/relationships/slideLayout" Target="../slideLayouts/slideLayout111.xml"/><Relationship Id="rId39" Type="http://schemas.openxmlformats.org/officeDocument/2006/relationships/slideLayout" Target="../slideLayouts/slideLayout124.xml"/><Relationship Id="rId21" Type="http://schemas.openxmlformats.org/officeDocument/2006/relationships/slideLayout" Target="../slideLayouts/slideLayout106.xml"/><Relationship Id="rId34" Type="http://schemas.openxmlformats.org/officeDocument/2006/relationships/slideLayout" Target="../slideLayouts/slideLayout119.xml"/><Relationship Id="rId42" Type="http://schemas.openxmlformats.org/officeDocument/2006/relationships/tags" Target="../tags/tag4.xml"/><Relationship Id="rId7" Type="http://schemas.openxmlformats.org/officeDocument/2006/relationships/slideLayout" Target="../slideLayouts/slideLayout92.xml"/><Relationship Id="rId2" Type="http://schemas.openxmlformats.org/officeDocument/2006/relationships/slideLayout" Target="../slideLayouts/slideLayout87.xml"/><Relationship Id="rId16" Type="http://schemas.openxmlformats.org/officeDocument/2006/relationships/slideLayout" Target="../slideLayouts/slideLayout101.xml"/><Relationship Id="rId20" Type="http://schemas.openxmlformats.org/officeDocument/2006/relationships/slideLayout" Target="../slideLayouts/slideLayout105.xml"/><Relationship Id="rId29" Type="http://schemas.openxmlformats.org/officeDocument/2006/relationships/slideLayout" Target="../slideLayouts/slideLayout114.xml"/><Relationship Id="rId41" Type="http://schemas.openxmlformats.org/officeDocument/2006/relationships/theme" Target="../theme/theme5.xml"/><Relationship Id="rId1" Type="http://schemas.openxmlformats.org/officeDocument/2006/relationships/slideLayout" Target="../slideLayouts/slideLayout86.xml"/><Relationship Id="rId6" Type="http://schemas.openxmlformats.org/officeDocument/2006/relationships/slideLayout" Target="../slideLayouts/slideLayout91.xml"/><Relationship Id="rId11" Type="http://schemas.openxmlformats.org/officeDocument/2006/relationships/slideLayout" Target="../slideLayouts/slideLayout96.xml"/><Relationship Id="rId24" Type="http://schemas.openxmlformats.org/officeDocument/2006/relationships/slideLayout" Target="../slideLayouts/slideLayout109.xml"/><Relationship Id="rId32" Type="http://schemas.openxmlformats.org/officeDocument/2006/relationships/slideLayout" Target="../slideLayouts/slideLayout117.xml"/><Relationship Id="rId37" Type="http://schemas.openxmlformats.org/officeDocument/2006/relationships/slideLayout" Target="../slideLayouts/slideLayout122.xml"/><Relationship Id="rId40" Type="http://schemas.openxmlformats.org/officeDocument/2006/relationships/slideLayout" Target="../slideLayouts/slideLayout125.xml"/><Relationship Id="rId5" Type="http://schemas.openxmlformats.org/officeDocument/2006/relationships/slideLayout" Target="../slideLayouts/slideLayout90.xml"/><Relationship Id="rId15" Type="http://schemas.openxmlformats.org/officeDocument/2006/relationships/slideLayout" Target="../slideLayouts/slideLayout100.xml"/><Relationship Id="rId23" Type="http://schemas.openxmlformats.org/officeDocument/2006/relationships/slideLayout" Target="../slideLayouts/slideLayout108.xml"/><Relationship Id="rId28" Type="http://schemas.openxmlformats.org/officeDocument/2006/relationships/slideLayout" Target="../slideLayouts/slideLayout113.xml"/><Relationship Id="rId36" Type="http://schemas.openxmlformats.org/officeDocument/2006/relationships/slideLayout" Target="../slideLayouts/slideLayout121.xml"/><Relationship Id="rId10" Type="http://schemas.openxmlformats.org/officeDocument/2006/relationships/slideLayout" Target="../slideLayouts/slideLayout95.xml"/><Relationship Id="rId19" Type="http://schemas.openxmlformats.org/officeDocument/2006/relationships/slideLayout" Target="../slideLayouts/slideLayout104.xml"/><Relationship Id="rId31" Type="http://schemas.openxmlformats.org/officeDocument/2006/relationships/slideLayout" Target="../slideLayouts/slideLayout116.xml"/><Relationship Id="rId44" Type="http://schemas.openxmlformats.org/officeDocument/2006/relationships/image" Target="../media/image1.emf"/><Relationship Id="rId4" Type="http://schemas.openxmlformats.org/officeDocument/2006/relationships/slideLayout" Target="../slideLayouts/slideLayout89.xml"/><Relationship Id="rId9" Type="http://schemas.openxmlformats.org/officeDocument/2006/relationships/slideLayout" Target="../slideLayouts/slideLayout94.xml"/><Relationship Id="rId14" Type="http://schemas.openxmlformats.org/officeDocument/2006/relationships/slideLayout" Target="../slideLayouts/slideLayout99.xml"/><Relationship Id="rId22" Type="http://schemas.openxmlformats.org/officeDocument/2006/relationships/slideLayout" Target="../slideLayouts/slideLayout107.xml"/><Relationship Id="rId27" Type="http://schemas.openxmlformats.org/officeDocument/2006/relationships/slideLayout" Target="../slideLayouts/slideLayout112.xml"/><Relationship Id="rId30" Type="http://schemas.openxmlformats.org/officeDocument/2006/relationships/slideLayout" Target="../slideLayouts/slideLayout115.xml"/><Relationship Id="rId35" Type="http://schemas.openxmlformats.org/officeDocument/2006/relationships/slideLayout" Target="../slideLayouts/slideLayout120.xml"/><Relationship Id="rId43" Type="http://schemas.openxmlformats.org/officeDocument/2006/relationships/oleObject" Target="../embeddings/oleObject3.bin"/><Relationship Id="rId8" Type="http://schemas.openxmlformats.org/officeDocument/2006/relationships/slideLayout" Target="../slideLayouts/slideLayout93.xml"/><Relationship Id="rId3" Type="http://schemas.openxmlformats.org/officeDocument/2006/relationships/slideLayout" Target="../slideLayouts/slideLayout88.xml"/><Relationship Id="rId12" Type="http://schemas.openxmlformats.org/officeDocument/2006/relationships/slideLayout" Target="../slideLayouts/slideLayout97.xml"/><Relationship Id="rId17" Type="http://schemas.openxmlformats.org/officeDocument/2006/relationships/slideLayout" Target="../slideLayouts/slideLayout102.xml"/><Relationship Id="rId25" Type="http://schemas.openxmlformats.org/officeDocument/2006/relationships/slideLayout" Target="../slideLayouts/slideLayout110.xml"/><Relationship Id="rId33" Type="http://schemas.openxmlformats.org/officeDocument/2006/relationships/slideLayout" Target="../slideLayouts/slideLayout118.xml"/><Relationship Id="rId38" Type="http://schemas.openxmlformats.org/officeDocument/2006/relationships/slideLayout" Target="../slideLayouts/slideLayout123.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38.xml"/><Relationship Id="rId18" Type="http://schemas.openxmlformats.org/officeDocument/2006/relationships/slideLayout" Target="../slideLayouts/slideLayout143.xml"/><Relationship Id="rId26" Type="http://schemas.openxmlformats.org/officeDocument/2006/relationships/slideLayout" Target="../slideLayouts/slideLayout151.xml"/><Relationship Id="rId39" Type="http://schemas.openxmlformats.org/officeDocument/2006/relationships/slideLayout" Target="../slideLayouts/slideLayout164.xml"/><Relationship Id="rId21" Type="http://schemas.openxmlformats.org/officeDocument/2006/relationships/slideLayout" Target="../slideLayouts/slideLayout146.xml"/><Relationship Id="rId34" Type="http://schemas.openxmlformats.org/officeDocument/2006/relationships/slideLayout" Target="../slideLayouts/slideLayout159.xml"/><Relationship Id="rId42" Type="http://schemas.openxmlformats.org/officeDocument/2006/relationships/oleObject" Target="../embeddings/oleObject5.bin"/><Relationship Id="rId7" Type="http://schemas.openxmlformats.org/officeDocument/2006/relationships/slideLayout" Target="../slideLayouts/slideLayout132.xml"/><Relationship Id="rId2" Type="http://schemas.openxmlformats.org/officeDocument/2006/relationships/slideLayout" Target="../slideLayouts/slideLayout127.xml"/><Relationship Id="rId16" Type="http://schemas.openxmlformats.org/officeDocument/2006/relationships/slideLayout" Target="../slideLayouts/slideLayout141.xml"/><Relationship Id="rId20" Type="http://schemas.openxmlformats.org/officeDocument/2006/relationships/slideLayout" Target="../slideLayouts/slideLayout145.xml"/><Relationship Id="rId29" Type="http://schemas.openxmlformats.org/officeDocument/2006/relationships/slideLayout" Target="../slideLayouts/slideLayout154.xml"/><Relationship Id="rId41" Type="http://schemas.openxmlformats.org/officeDocument/2006/relationships/tags" Target="../tags/tag6.xml"/><Relationship Id="rId1" Type="http://schemas.openxmlformats.org/officeDocument/2006/relationships/slideLayout" Target="../slideLayouts/slideLayout126.xml"/><Relationship Id="rId6" Type="http://schemas.openxmlformats.org/officeDocument/2006/relationships/slideLayout" Target="../slideLayouts/slideLayout131.xml"/><Relationship Id="rId11" Type="http://schemas.openxmlformats.org/officeDocument/2006/relationships/slideLayout" Target="../slideLayouts/slideLayout136.xml"/><Relationship Id="rId24" Type="http://schemas.openxmlformats.org/officeDocument/2006/relationships/slideLayout" Target="../slideLayouts/slideLayout149.xml"/><Relationship Id="rId32" Type="http://schemas.openxmlformats.org/officeDocument/2006/relationships/slideLayout" Target="../slideLayouts/slideLayout157.xml"/><Relationship Id="rId37" Type="http://schemas.openxmlformats.org/officeDocument/2006/relationships/slideLayout" Target="../slideLayouts/slideLayout162.xml"/><Relationship Id="rId40" Type="http://schemas.openxmlformats.org/officeDocument/2006/relationships/theme" Target="../theme/theme6.xml"/><Relationship Id="rId5" Type="http://schemas.openxmlformats.org/officeDocument/2006/relationships/slideLayout" Target="../slideLayouts/slideLayout130.xml"/><Relationship Id="rId15" Type="http://schemas.openxmlformats.org/officeDocument/2006/relationships/slideLayout" Target="../slideLayouts/slideLayout140.xml"/><Relationship Id="rId23" Type="http://schemas.openxmlformats.org/officeDocument/2006/relationships/slideLayout" Target="../slideLayouts/slideLayout148.xml"/><Relationship Id="rId28" Type="http://schemas.openxmlformats.org/officeDocument/2006/relationships/slideLayout" Target="../slideLayouts/slideLayout153.xml"/><Relationship Id="rId36" Type="http://schemas.openxmlformats.org/officeDocument/2006/relationships/slideLayout" Target="../slideLayouts/slideLayout161.xml"/><Relationship Id="rId10" Type="http://schemas.openxmlformats.org/officeDocument/2006/relationships/slideLayout" Target="../slideLayouts/slideLayout135.xml"/><Relationship Id="rId19" Type="http://schemas.openxmlformats.org/officeDocument/2006/relationships/slideLayout" Target="../slideLayouts/slideLayout144.xml"/><Relationship Id="rId31" Type="http://schemas.openxmlformats.org/officeDocument/2006/relationships/slideLayout" Target="../slideLayouts/slideLayout156.xml"/><Relationship Id="rId4" Type="http://schemas.openxmlformats.org/officeDocument/2006/relationships/slideLayout" Target="../slideLayouts/slideLayout129.xml"/><Relationship Id="rId9" Type="http://schemas.openxmlformats.org/officeDocument/2006/relationships/slideLayout" Target="../slideLayouts/slideLayout134.xml"/><Relationship Id="rId14" Type="http://schemas.openxmlformats.org/officeDocument/2006/relationships/slideLayout" Target="../slideLayouts/slideLayout139.xml"/><Relationship Id="rId22" Type="http://schemas.openxmlformats.org/officeDocument/2006/relationships/slideLayout" Target="../slideLayouts/slideLayout147.xml"/><Relationship Id="rId27" Type="http://schemas.openxmlformats.org/officeDocument/2006/relationships/slideLayout" Target="../slideLayouts/slideLayout152.xml"/><Relationship Id="rId30" Type="http://schemas.openxmlformats.org/officeDocument/2006/relationships/slideLayout" Target="../slideLayouts/slideLayout155.xml"/><Relationship Id="rId35" Type="http://schemas.openxmlformats.org/officeDocument/2006/relationships/slideLayout" Target="../slideLayouts/slideLayout160.xml"/><Relationship Id="rId43" Type="http://schemas.openxmlformats.org/officeDocument/2006/relationships/image" Target="../media/image1.emf"/><Relationship Id="rId8" Type="http://schemas.openxmlformats.org/officeDocument/2006/relationships/slideLayout" Target="../slideLayouts/slideLayout133.xml"/><Relationship Id="rId3" Type="http://schemas.openxmlformats.org/officeDocument/2006/relationships/slideLayout" Target="../slideLayouts/slideLayout128.xml"/><Relationship Id="rId12" Type="http://schemas.openxmlformats.org/officeDocument/2006/relationships/slideLayout" Target="../slideLayouts/slideLayout137.xml"/><Relationship Id="rId17" Type="http://schemas.openxmlformats.org/officeDocument/2006/relationships/slideLayout" Target="../slideLayouts/slideLayout142.xml"/><Relationship Id="rId25" Type="http://schemas.openxmlformats.org/officeDocument/2006/relationships/slideLayout" Target="../slideLayouts/slideLayout150.xml"/><Relationship Id="rId33" Type="http://schemas.openxmlformats.org/officeDocument/2006/relationships/slideLayout" Target="../slideLayouts/slideLayout158.xml"/><Relationship Id="rId38" Type="http://schemas.openxmlformats.org/officeDocument/2006/relationships/slideLayout" Target="../slideLayouts/slideLayout16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9FAA80-1E0A-48DB-A32A-970BAC7F41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4BAE263-AE37-439B-B4FF-8745E45496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pyright">
            <a:extLst>
              <a:ext uri="{FF2B5EF4-FFF2-40B4-BE49-F238E27FC236}">
                <a16:creationId xmlns:a16="http://schemas.microsoft.com/office/drawing/2014/main" id="{4D2E90DA-9535-4B3E-AD43-C687CA7645AB}"/>
              </a:ext>
            </a:extLst>
          </p:cNvPr>
          <p:cNvSpPr txBox="1"/>
          <p:nvPr userDrawn="1"/>
        </p:nvSpPr>
        <p:spPr>
          <a:xfrm>
            <a:off x="501649" y="6543402"/>
            <a:ext cx="5355168" cy="123111"/>
          </a:xfrm>
          <a:prstGeom prst="rect">
            <a:avLst/>
          </a:prstGeom>
          <a:noFill/>
        </p:spPr>
        <p:txBody>
          <a:bodyPr wrap="square" lIns="0" tIns="0" rIns="0" bIns="0" rtlCol="0">
            <a:spAutoFit/>
          </a:bodyPr>
          <a:lstStyle/>
          <a:p>
            <a:pPr marL="0" indent="0">
              <a:spcBef>
                <a:spcPts val="600"/>
              </a:spcBef>
              <a:buSzPct val="100000"/>
              <a:buFont typeface="Arial"/>
              <a:buNone/>
            </a:pPr>
            <a:r>
              <a:rPr lang="fr-FR" sz="800" noProof="0" dirty="0">
                <a:solidFill>
                  <a:schemeClr val="tx1"/>
                </a:solidFill>
                <a:latin typeface="Calibri" panose="020F0502020204030204" pitchFamily="34" charset="0"/>
                <a:cs typeface="Calibri" panose="020F0502020204030204" pitchFamily="34" charset="0"/>
              </a:rPr>
              <a:t>© 2021 Deloitte Touche Tohmatsu India LLP. </a:t>
            </a:r>
          </a:p>
        </p:txBody>
      </p:sp>
      <p:sp>
        <p:nvSpPr>
          <p:cNvPr id="8" name="Rectangle 7">
            <a:extLst>
              <a:ext uri="{FF2B5EF4-FFF2-40B4-BE49-F238E27FC236}">
                <a16:creationId xmlns:a16="http://schemas.microsoft.com/office/drawing/2014/main" id="{F6A26349-1F9D-4FFD-9749-3EE24DA0298C}"/>
              </a:ext>
            </a:extLst>
          </p:cNvPr>
          <p:cNvSpPr/>
          <p:nvPr userDrawn="1"/>
        </p:nvSpPr>
        <p:spPr>
          <a:xfrm>
            <a:off x="11568522" y="6543402"/>
            <a:ext cx="121828" cy="123111"/>
          </a:xfrm>
          <a:prstGeom prst="rect">
            <a:avLst/>
          </a:prstGeom>
        </p:spPr>
        <p:txBody>
          <a:bodyPr wrap="none" lIns="0" tIns="0" rIns="0" bIns="0">
            <a:spAutoFit/>
          </a:bodyPr>
          <a:lstStyle/>
          <a:p>
            <a:fld id="{C58DF478-B544-4ED8-9ED4-6A2648E2D233}" type="slidenum">
              <a:rPr lang="en-US" sz="800" noProof="0" smtClean="0">
                <a:solidFill>
                  <a:schemeClr val="tx1"/>
                </a:solidFill>
                <a:latin typeface="Calibri" panose="020F0502020204030204" pitchFamily="34" charset="0"/>
                <a:cs typeface="Calibri" panose="020F0502020204030204" pitchFamily="34" charset="0"/>
              </a:rPr>
              <a:pPr/>
              <a:t>‹#›</a:t>
            </a:fld>
            <a:endParaRPr lang="en-US" sz="800" dirty="0"/>
          </a:p>
        </p:txBody>
      </p:sp>
    </p:spTree>
    <p:extLst>
      <p:ext uri="{BB962C8B-B14F-4D97-AF65-F5344CB8AC3E}">
        <p14:creationId xmlns:p14="http://schemas.microsoft.com/office/powerpoint/2010/main" val="93517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71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4"/>
            </p:custDataLst>
            <p:extLst>
              <p:ext uri="{D42A27DB-BD31-4B8C-83A1-F6EECF244321}">
                <p14:modId xmlns:p14="http://schemas.microsoft.com/office/powerpoint/2010/main" val="3226471940"/>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15" imgW="270" imgH="270" progId="TCLayout.ActiveDocument.1">
                  <p:embed/>
                </p:oleObj>
              </mc:Choice>
              <mc:Fallback>
                <p:oleObj name="think-cell Slide" r:id="rId15" imgW="270" imgH="270" progId="TCLayout.ActiveDocument.1">
                  <p:embed/>
                  <p:pic>
                    <p:nvPicPr>
                      <p:cNvPr id="4" name="Object 3" hidden="1"/>
                      <p:cNvPicPr/>
                      <p:nvPr/>
                    </p:nvPicPr>
                    <p:blipFill>
                      <a:blip r:embed="rId16"/>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8" name="Copyright"/>
          <p:cNvSpPr txBox="1"/>
          <p:nvPr/>
        </p:nvSpPr>
        <p:spPr>
          <a:xfrm>
            <a:off x="501649" y="6543402"/>
            <a:ext cx="5355168" cy="123111"/>
          </a:xfrm>
          <a:prstGeom prst="rect">
            <a:avLst/>
          </a:prstGeom>
          <a:noFill/>
        </p:spPr>
        <p:txBody>
          <a:bodyPr wrap="square" lIns="0" tIns="0" rIns="0" bIns="0" rtlCol="0">
            <a:spAutoFit/>
          </a:bodyPr>
          <a:lstStyle/>
          <a:p>
            <a:pPr marL="0" indent="0">
              <a:spcBef>
                <a:spcPts val="600"/>
              </a:spcBef>
              <a:buSzPct val="100000"/>
              <a:buFont typeface="Arial"/>
              <a:buNone/>
            </a:pPr>
            <a:r>
              <a:rPr lang="fr-FR" sz="800" noProof="0" dirty="0">
                <a:solidFill>
                  <a:schemeClr val="tx1"/>
                </a:solidFill>
                <a:latin typeface="Calibri" panose="020F0502020204030204" pitchFamily="34" charset="0"/>
                <a:cs typeface="Calibri" panose="020F0502020204030204" pitchFamily="34" charset="0"/>
              </a:rPr>
              <a:t>© 2021 Deloitte Touche Tohmatsu India LLP. </a:t>
            </a:r>
          </a:p>
        </p:txBody>
      </p:sp>
      <p:sp>
        <p:nvSpPr>
          <p:cNvPr id="19" name="Text Placeholder 18"/>
          <p:cNvSpPr>
            <a:spLocks noGrp="1"/>
          </p:cNvSpPr>
          <p:nvPr>
            <p:ph type="body" idx="1"/>
          </p:nvPr>
        </p:nvSpPr>
        <p:spPr>
          <a:xfrm>
            <a:off x="508000" y="1600200"/>
            <a:ext cx="11188700" cy="4800600"/>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Rectangle 2">
            <a:extLst>
              <a:ext uri="{FF2B5EF4-FFF2-40B4-BE49-F238E27FC236}">
                <a16:creationId xmlns:a16="http://schemas.microsoft.com/office/drawing/2014/main" id="{C69DBDC7-DF0D-40FE-8DE0-1C33F8DF42EC}"/>
              </a:ext>
            </a:extLst>
          </p:cNvPr>
          <p:cNvSpPr/>
          <p:nvPr userDrawn="1"/>
        </p:nvSpPr>
        <p:spPr>
          <a:xfrm>
            <a:off x="11568522" y="6543402"/>
            <a:ext cx="121828" cy="123111"/>
          </a:xfrm>
          <a:prstGeom prst="rect">
            <a:avLst/>
          </a:prstGeom>
        </p:spPr>
        <p:txBody>
          <a:bodyPr wrap="none" lIns="0" tIns="0" rIns="0" bIns="0">
            <a:spAutoFit/>
          </a:bodyPr>
          <a:lstStyle/>
          <a:p>
            <a:fld id="{C58DF478-B544-4ED8-9ED4-6A2648E2D233}" type="slidenum">
              <a:rPr lang="en-US" sz="800" noProof="0" smtClean="0">
                <a:solidFill>
                  <a:schemeClr val="tx1"/>
                </a:solidFill>
                <a:latin typeface="Calibri" panose="020F0502020204030204" pitchFamily="34" charset="0"/>
                <a:cs typeface="Calibri" panose="020F0502020204030204" pitchFamily="34" charset="0"/>
              </a:rPr>
              <a:pPr/>
              <a:t>‹#›</a:t>
            </a:fld>
            <a:endParaRPr lang="en-US" sz="800" dirty="0"/>
          </a:p>
        </p:txBody>
      </p:sp>
    </p:spTree>
    <p:extLst>
      <p:ext uri="{BB962C8B-B14F-4D97-AF65-F5344CB8AC3E}">
        <p14:creationId xmlns:p14="http://schemas.microsoft.com/office/powerpoint/2010/main" val="418085360"/>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7" r:id="rId7"/>
    <p:sldLayoutId id="2147483688" r:id="rId8"/>
    <p:sldLayoutId id="2147483689" r:id="rId9"/>
    <p:sldLayoutId id="2147483690" r:id="rId10"/>
    <p:sldLayoutId id="2147483693" r:id="rId11"/>
    <p:sldLayoutId id="2147483715" r:id="rId12"/>
  </p:sldLayoutIdLst>
  <p:transition>
    <p:fade/>
  </p:transition>
  <p:hf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12">
          <p15:clr>
            <a:srgbClr val="F26B43"/>
          </p15:clr>
        </p15:guide>
        <p15:guide id="8" pos="7368">
          <p15:clr>
            <a:srgbClr val="F26B43"/>
          </p15:clr>
        </p15:guide>
        <p15:guide id="14" orient="horz" pos="4104">
          <p15:clr>
            <a:srgbClr val="F26B43"/>
          </p15:clr>
        </p15:guide>
        <p15:guide id="15" orient="horz" pos="4032">
          <p15:clr>
            <a:srgbClr val="F26B43"/>
          </p15:clr>
        </p15:guide>
        <p15:guide id="18" orient="horz" pos="192">
          <p15:clr>
            <a:srgbClr val="F26B43"/>
          </p15:clr>
        </p15:guide>
        <p15:guide id="19" orient="horz" pos="1008">
          <p15:clr>
            <a:srgbClr val="F26B43"/>
          </p15:clr>
        </p15:guide>
        <p15:guide id="20" pos="3768">
          <p15:clr>
            <a:srgbClr val="F26B43"/>
          </p15:clr>
        </p15:guide>
        <p15:guide id="21" pos="3912">
          <p15:clr>
            <a:srgbClr val="F26B43"/>
          </p15:clr>
        </p15:guide>
        <p15:guide id="2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3"/>
            </p:custDataLst>
            <p:extLst>
              <p:ext uri="{D42A27DB-BD31-4B8C-83A1-F6EECF244321}">
                <p14:modId xmlns:p14="http://schemas.microsoft.com/office/powerpoint/2010/main" val="2420281601"/>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14" imgW="270" imgH="270" progId="TCLayout.ActiveDocument.1">
                  <p:embed/>
                </p:oleObj>
              </mc:Choice>
              <mc:Fallback>
                <p:oleObj name="think-cell Slide" r:id="rId14" imgW="270" imgH="270" progId="TCLayout.ActiveDocument.1">
                  <p:embed/>
                  <p:pic>
                    <p:nvPicPr>
                      <p:cNvPr id="4" name="Object 3" hidden="1"/>
                      <p:cNvPicPr/>
                      <p:nvPr/>
                    </p:nvPicPr>
                    <p:blipFill>
                      <a:blip r:embed="rId15"/>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8" name="Copyright"/>
          <p:cNvSpPr txBox="1"/>
          <p:nvPr/>
        </p:nvSpPr>
        <p:spPr>
          <a:xfrm>
            <a:off x="501649" y="6543402"/>
            <a:ext cx="5355168" cy="123111"/>
          </a:xfrm>
          <a:prstGeom prst="rect">
            <a:avLst/>
          </a:prstGeom>
          <a:noFill/>
        </p:spPr>
        <p:txBody>
          <a:bodyPr wrap="square" lIns="0" tIns="0" rIns="0" bIns="0" rtlCol="0">
            <a:spAutoFit/>
          </a:bodyPr>
          <a:lstStyle/>
          <a:p>
            <a:pPr marL="0" indent="0">
              <a:spcBef>
                <a:spcPts val="600"/>
              </a:spcBef>
              <a:buSzPct val="100000"/>
              <a:buFont typeface="Arial"/>
              <a:buNone/>
            </a:pPr>
            <a:r>
              <a:rPr lang="fr-FR" sz="800" noProof="0" dirty="0">
                <a:solidFill>
                  <a:schemeClr val="tx1"/>
                </a:solidFill>
                <a:latin typeface="Calibri" panose="020F0502020204030204" pitchFamily="34" charset="0"/>
                <a:cs typeface="Calibri" panose="020F0502020204030204" pitchFamily="34" charset="0"/>
              </a:rPr>
              <a:t>© 2021 Deloitte Touche Tohmatsu India LLP. </a:t>
            </a:r>
          </a:p>
        </p:txBody>
      </p:sp>
      <p:sp>
        <p:nvSpPr>
          <p:cNvPr id="19" name="Text Placeholder 18"/>
          <p:cNvSpPr>
            <a:spLocks noGrp="1"/>
          </p:cNvSpPr>
          <p:nvPr>
            <p:ph type="body" idx="1"/>
          </p:nvPr>
        </p:nvSpPr>
        <p:spPr>
          <a:xfrm>
            <a:off x="508000" y="1600200"/>
            <a:ext cx="11188700" cy="4800600"/>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Rectangle 2">
            <a:extLst>
              <a:ext uri="{FF2B5EF4-FFF2-40B4-BE49-F238E27FC236}">
                <a16:creationId xmlns:a16="http://schemas.microsoft.com/office/drawing/2014/main" id="{C69DBDC7-DF0D-40FE-8DE0-1C33F8DF42EC}"/>
              </a:ext>
            </a:extLst>
          </p:cNvPr>
          <p:cNvSpPr/>
          <p:nvPr userDrawn="1"/>
        </p:nvSpPr>
        <p:spPr>
          <a:xfrm>
            <a:off x="11568522" y="6543402"/>
            <a:ext cx="121828" cy="123111"/>
          </a:xfrm>
          <a:prstGeom prst="rect">
            <a:avLst/>
          </a:prstGeom>
        </p:spPr>
        <p:txBody>
          <a:bodyPr wrap="none" lIns="0" tIns="0" rIns="0" bIns="0">
            <a:spAutoFit/>
          </a:bodyPr>
          <a:lstStyle/>
          <a:p>
            <a:fld id="{C58DF478-B544-4ED8-9ED4-6A2648E2D233}" type="slidenum">
              <a:rPr lang="en-US" sz="800" noProof="0" smtClean="0">
                <a:solidFill>
                  <a:schemeClr val="tx1"/>
                </a:solidFill>
                <a:latin typeface="Calibri" panose="020F0502020204030204" pitchFamily="34" charset="0"/>
                <a:cs typeface="Calibri" panose="020F0502020204030204" pitchFamily="34" charset="0"/>
              </a:rPr>
              <a:pPr/>
              <a:t>‹#›</a:t>
            </a:fld>
            <a:endParaRPr lang="en-US" sz="800" dirty="0"/>
          </a:p>
        </p:txBody>
      </p:sp>
    </p:spTree>
    <p:extLst>
      <p:ext uri="{BB962C8B-B14F-4D97-AF65-F5344CB8AC3E}">
        <p14:creationId xmlns:p14="http://schemas.microsoft.com/office/powerpoint/2010/main" val="3590987815"/>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1" r:id="rId6"/>
    <p:sldLayoutId id="2147483703" r:id="rId7"/>
    <p:sldLayoutId id="2147483705" r:id="rId8"/>
    <p:sldLayoutId id="2147483707" r:id="rId9"/>
    <p:sldLayoutId id="2147483710" r:id="rId10"/>
    <p:sldLayoutId id="2147483851" r:id="rId11"/>
  </p:sldLayoutIdLst>
  <p:transition>
    <p:fade/>
  </p:transition>
  <p:hf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12">
          <p15:clr>
            <a:srgbClr val="F26B43"/>
          </p15:clr>
        </p15:guide>
        <p15:guide id="8" pos="7368">
          <p15:clr>
            <a:srgbClr val="F26B43"/>
          </p15:clr>
        </p15:guide>
        <p15:guide id="14" orient="horz" pos="4104">
          <p15:clr>
            <a:srgbClr val="F26B43"/>
          </p15:clr>
        </p15:guide>
        <p15:guide id="15" orient="horz" pos="4032">
          <p15:clr>
            <a:srgbClr val="F26B43"/>
          </p15:clr>
        </p15:guide>
        <p15:guide id="18" orient="horz" pos="192">
          <p15:clr>
            <a:srgbClr val="F26B43"/>
          </p15:clr>
        </p15:guide>
        <p15:guide id="19" orient="horz" pos="1008">
          <p15:clr>
            <a:srgbClr val="F26B43"/>
          </p15:clr>
        </p15:guide>
        <p15:guide id="20" pos="3768">
          <p15:clr>
            <a:srgbClr val="F26B43"/>
          </p15:clr>
        </p15:guide>
        <p15:guide id="21" pos="3912">
          <p15:clr>
            <a:srgbClr val="F26B43"/>
          </p15:clr>
        </p15:guide>
        <p15:guide id="2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51"/>
            </p:custDataLst>
            <p:extLst>
              <p:ext uri="{D42A27DB-BD31-4B8C-83A1-F6EECF244321}">
                <p14:modId xmlns:p14="http://schemas.microsoft.com/office/powerpoint/2010/main" val="1562763713"/>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52" imgW="270" imgH="270" progId="TCLayout.ActiveDocument.1">
                  <p:embed/>
                </p:oleObj>
              </mc:Choice>
              <mc:Fallback>
                <p:oleObj name="think-cell Slide" r:id="rId52" imgW="270" imgH="270" progId="TCLayout.ActiveDocument.1">
                  <p:embed/>
                  <p:pic>
                    <p:nvPicPr>
                      <p:cNvPr id="4" name="Object 3" hidden="1"/>
                      <p:cNvPicPr/>
                      <p:nvPr/>
                    </p:nvPicPr>
                    <p:blipFill>
                      <a:blip r:embed="rId53"/>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692150"/>
          </a:xfrm>
          <a:prstGeom prst="rect">
            <a:avLst/>
          </a:prstGeom>
        </p:spPr>
        <p:txBody>
          <a:bodyPr vert="horz" lIns="0" tIns="0" rIns="0" bIns="0" rtlCol="0" anchor="t" anchorCtr="0">
            <a:noAutofit/>
          </a:bodyPr>
          <a:lstStyle/>
          <a:p>
            <a:r>
              <a:rPr lang="en-US" noProof="0" dirty="0"/>
              <a:t>Click to edit Master title style</a:t>
            </a:r>
          </a:p>
        </p:txBody>
      </p:sp>
      <p:sp>
        <p:nvSpPr>
          <p:cNvPr id="19" name="Text Placeholder 18"/>
          <p:cNvSpPr>
            <a:spLocks noGrp="1"/>
          </p:cNvSpPr>
          <p:nvPr>
            <p:ph type="body" idx="1"/>
          </p:nvPr>
        </p:nvSpPr>
        <p:spPr>
          <a:xfrm>
            <a:off x="501650" y="1665290"/>
            <a:ext cx="11188700" cy="4716462"/>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TextBox 2"/>
          <p:cNvSpPr txBox="1"/>
          <p:nvPr userDrawn="1"/>
        </p:nvSpPr>
        <p:spPr>
          <a:xfrm>
            <a:off x="11382377" y="6477001"/>
            <a:ext cx="307974" cy="100027"/>
          </a:xfrm>
          <a:prstGeom prst="rect">
            <a:avLst/>
          </a:prstGeom>
          <a:noFill/>
        </p:spPr>
        <p:txBody>
          <a:bodyPr wrap="square" lIns="0" tIns="0" rIns="0" bIns="0" rtlCol="0">
            <a:noAutofit/>
          </a:bodyPr>
          <a:lstStyle/>
          <a:p>
            <a:pPr marL="0" indent="0" algn="r">
              <a:spcBef>
                <a:spcPts val="600"/>
              </a:spcBef>
              <a:buSzPct val="100000"/>
              <a:buFont typeface="Arial"/>
              <a:buNone/>
            </a:pPr>
            <a:fld id="{C58DF478-B544-4ED8-9ED4-6A2648E2D233}" type="slidenum">
              <a:rPr lang="en-US" sz="635" noProof="0" smtClean="0">
                <a:solidFill>
                  <a:schemeClr val="tx1"/>
                </a:solidFill>
              </a:rPr>
              <a:pPr marL="0" indent="0" algn="r">
                <a:spcBef>
                  <a:spcPts val="600"/>
                </a:spcBef>
                <a:buSzPct val="100000"/>
                <a:buFont typeface="Arial"/>
                <a:buNone/>
              </a:pPr>
              <a:t>‹#›</a:t>
            </a:fld>
            <a:endParaRPr lang="en-US" sz="635" noProof="0" dirty="0">
              <a:solidFill>
                <a:schemeClr val="tx1"/>
              </a:solidFill>
            </a:endParaRPr>
          </a:p>
        </p:txBody>
      </p:sp>
      <p:sp>
        <p:nvSpPr>
          <p:cNvPr id="8" name="TextBox 7">
            <a:extLst>
              <a:ext uri="{FF2B5EF4-FFF2-40B4-BE49-F238E27FC236}">
                <a16:creationId xmlns:a16="http://schemas.microsoft.com/office/drawing/2014/main" id="{BC5B7B7A-4192-46EE-BE6E-E2B424C0739A}"/>
              </a:ext>
            </a:extLst>
          </p:cNvPr>
          <p:cNvSpPr txBox="1"/>
          <p:nvPr userDrawn="1"/>
        </p:nvSpPr>
        <p:spPr>
          <a:xfrm>
            <a:off x="469900" y="6477000"/>
            <a:ext cx="3808413" cy="123111"/>
          </a:xfrm>
          <a:prstGeom prst="rect">
            <a:avLst/>
          </a:prstGeom>
          <a:noFill/>
        </p:spPr>
        <p:txBody>
          <a:bodyPr wrap="square" lIns="0" tIns="0" rIns="0" bIns="0" rtlCol="0">
            <a:spAutoFit/>
          </a:bodyPr>
          <a:lstStyle/>
          <a:p>
            <a:pPr marL="0" indent="0" algn="l">
              <a:spcBef>
                <a:spcPts val="800"/>
              </a:spcBef>
              <a:buSzPct val="100000"/>
              <a:buFont typeface="Arial"/>
              <a:buNone/>
            </a:pPr>
            <a:r>
              <a:rPr lang="fr-FR" sz="800" noProof="0" dirty="0">
                <a:solidFill>
                  <a:schemeClr val="tx1"/>
                </a:solidFill>
                <a:latin typeface="Calibri" panose="020F0502020204030204" pitchFamily="34" charset="0"/>
                <a:cs typeface="Calibri" panose="020F0502020204030204" pitchFamily="34" charset="0"/>
              </a:rPr>
              <a:t>© 2021 Deloitte Touche Tohmatsu India LLP</a:t>
            </a:r>
          </a:p>
        </p:txBody>
      </p:sp>
    </p:spTree>
    <p:extLst>
      <p:ext uri="{BB962C8B-B14F-4D97-AF65-F5344CB8AC3E}">
        <p14:creationId xmlns:p14="http://schemas.microsoft.com/office/powerpoint/2010/main" val="3739812454"/>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 id="2147483734" r:id="rId13"/>
    <p:sldLayoutId id="2147483735" r:id="rId14"/>
    <p:sldLayoutId id="2147483736" r:id="rId15"/>
    <p:sldLayoutId id="2147483737" r:id="rId16"/>
    <p:sldLayoutId id="2147483738" r:id="rId17"/>
    <p:sldLayoutId id="2147483739" r:id="rId18"/>
    <p:sldLayoutId id="2147483740" r:id="rId19"/>
    <p:sldLayoutId id="2147483741" r:id="rId20"/>
    <p:sldLayoutId id="2147483742" r:id="rId21"/>
    <p:sldLayoutId id="2147483743" r:id="rId22"/>
    <p:sldLayoutId id="2147483744" r:id="rId23"/>
    <p:sldLayoutId id="2147483745" r:id="rId24"/>
    <p:sldLayoutId id="2147483746" r:id="rId25"/>
    <p:sldLayoutId id="2147483747" r:id="rId26"/>
    <p:sldLayoutId id="2147483748" r:id="rId27"/>
    <p:sldLayoutId id="2147483749" r:id="rId28"/>
    <p:sldLayoutId id="2147483750" r:id="rId29"/>
    <p:sldLayoutId id="2147483751" r:id="rId30"/>
    <p:sldLayoutId id="2147483752" r:id="rId31"/>
    <p:sldLayoutId id="2147483753" r:id="rId32"/>
    <p:sldLayoutId id="2147483754" r:id="rId33"/>
    <p:sldLayoutId id="2147483755" r:id="rId34"/>
    <p:sldLayoutId id="2147483756" r:id="rId35"/>
    <p:sldLayoutId id="2147483757" r:id="rId36"/>
    <p:sldLayoutId id="2147483758" r:id="rId37"/>
    <p:sldLayoutId id="2147483759" r:id="rId38"/>
    <p:sldLayoutId id="2147483760" r:id="rId39"/>
    <p:sldLayoutId id="2147483761" r:id="rId40"/>
    <p:sldLayoutId id="2147483762" r:id="rId41"/>
    <p:sldLayoutId id="2147483763" r:id="rId42"/>
    <p:sldLayoutId id="2147483764" r:id="rId43"/>
    <p:sldLayoutId id="2147483765" r:id="rId44"/>
    <p:sldLayoutId id="2147483766" r:id="rId45"/>
    <p:sldLayoutId id="2147483767" r:id="rId46"/>
    <p:sldLayoutId id="2147483768" r:id="rId47"/>
    <p:sldLayoutId id="2147483769" r:id="rId48"/>
    <p:sldLayoutId id="2147483770" r:id="rId49"/>
  </p:sldLayoutIdLst>
  <p:transition>
    <p:fade/>
  </p:transition>
  <p:hf hdr="0" dt="0"/>
  <p:txStyles>
    <p:titleStyle>
      <a:lvl1pPr algn="l" defTabSz="914417" rtl="0" eaLnBrk="1" latinLnBrk="0" hangingPunct="1">
        <a:spcBef>
          <a:spcPct val="0"/>
        </a:spcBef>
        <a:buNone/>
        <a:defRPr sz="1814" kern="1200">
          <a:solidFill>
            <a:schemeClr val="tx1"/>
          </a:solidFill>
          <a:latin typeface="+mj-lt"/>
          <a:ea typeface="+mj-ea"/>
          <a:cs typeface="+mj-cs"/>
        </a:defRPr>
      </a:lvl1pPr>
    </p:titleStyle>
    <p:bodyStyle>
      <a:lvl1pPr marL="0" indent="0" algn="l" defTabSz="914417" rtl="0" eaLnBrk="1" latinLnBrk="0" hangingPunct="1">
        <a:spcBef>
          <a:spcPts val="0"/>
        </a:spcBef>
        <a:spcAft>
          <a:spcPts val="1000"/>
        </a:spcAft>
        <a:buSzPct val="100000"/>
        <a:buFont typeface="Arial" panose="020B0604020202020204" pitchFamily="34" charset="0"/>
        <a:buNone/>
        <a:defRPr sz="907" b="0" kern="1200">
          <a:solidFill>
            <a:schemeClr val="tx1"/>
          </a:solidFill>
          <a:latin typeface="+mn-lt"/>
          <a:ea typeface="+mn-ea"/>
          <a:cs typeface="+mn-cs"/>
        </a:defRPr>
      </a:lvl1pPr>
      <a:lvl2pPr marL="0" indent="0" algn="l" defTabSz="914417" rtl="0" eaLnBrk="1" latinLnBrk="0" hangingPunct="1">
        <a:spcBef>
          <a:spcPts val="0"/>
        </a:spcBef>
        <a:spcAft>
          <a:spcPts val="1000"/>
        </a:spcAft>
        <a:buClrTx/>
        <a:buSzPct val="100000"/>
        <a:buFont typeface="Arial"/>
        <a:buNone/>
        <a:defRPr lang="en-US" sz="907" b="1" kern="1200" dirty="0" smtClean="0">
          <a:solidFill>
            <a:schemeClr val="tx1"/>
          </a:solidFill>
          <a:latin typeface="+mn-lt"/>
          <a:ea typeface="+mn-ea"/>
          <a:cs typeface="+mn-cs"/>
        </a:defRPr>
      </a:lvl2pPr>
      <a:lvl3pPr marL="176403" indent="-176403" algn="l" defTabSz="914417" rtl="0" eaLnBrk="1" latinLnBrk="0" hangingPunct="1">
        <a:spcBef>
          <a:spcPts val="0"/>
        </a:spcBef>
        <a:spcAft>
          <a:spcPts val="1000"/>
        </a:spcAft>
        <a:buClrTx/>
        <a:buSzPct val="100000"/>
        <a:buFont typeface="Arial" panose="020B0604020202020204" pitchFamily="34" charset="0"/>
        <a:buChar char="•"/>
        <a:defRPr lang="en-US" sz="907" kern="1200" dirty="0" smtClean="0">
          <a:solidFill>
            <a:schemeClr val="tx1"/>
          </a:solidFill>
          <a:latin typeface="+mn-lt"/>
          <a:ea typeface="+mn-ea"/>
          <a:cs typeface="+mn-cs"/>
        </a:defRPr>
      </a:lvl3pPr>
      <a:lvl4pPr marL="356407" indent="-176403" algn="l" defTabSz="914417" rtl="0" eaLnBrk="1" latinLnBrk="0" hangingPunct="1">
        <a:spcBef>
          <a:spcPts val="0"/>
        </a:spcBef>
        <a:spcAft>
          <a:spcPts val="1000"/>
        </a:spcAft>
        <a:buClrTx/>
        <a:buSzPct val="100000"/>
        <a:buFont typeface="Verdana" panose="020B0604030504040204" pitchFamily="34" charset="0"/>
        <a:buChar char="−"/>
        <a:defRPr lang="en-US" sz="907" kern="1200" baseline="0" dirty="0" smtClean="0">
          <a:solidFill>
            <a:schemeClr val="tx1"/>
          </a:solidFill>
          <a:latin typeface="+mn-lt"/>
          <a:ea typeface="+mn-ea"/>
          <a:cs typeface="+mn-cs"/>
        </a:defRPr>
      </a:lvl4pPr>
      <a:lvl5pPr marL="532810" indent="-176403" algn="l" defTabSz="798528" rtl="0" eaLnBrk="1" latinLnBrk="0" hangingPunct="1">
        <a:spcBef>
          <a:spcPts val="0"/>
        </a:spcBef>
        <a:spcAft>
          <a:spcPts val="1000"/>
        </a:spcAft>
        <a:buClrTx/>
        <a:buSzPct val="100000"/>
        <a:buFont typeface="Verdana" panose="020B0604030504040204" pitchFamily="34" charset="0"/>
        <a:buChar char="−"/>
        <a:tabLst/>
        <a:defRPr lang="en-US" sz="907" kern="1200" baseline="0" dirty="0" smtClean="0">
          <a:solidFill>
            <a:schemeClr val="tx1"/>
          </a:solidFill>
          <a:latin typeface="+mn-lt"/>
          <a:ea typeface="+mn-ea"/>
          <a:cs typeface="+mn-cs"/>
        </a:defRPr>
      </a:lvl5pPr>
      <a:lvl6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10" indent="-176403" algn="l" defTabSz="914417"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10" indent="-176403" algn="l" defTabSz="914417"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17" rtl="0" eaLnBrk="1" latinLnBrk="0" hangingPunct="1">
        <a:defRPr sz="1800" kern="1200">
          <a:solidFill>
            <a:schemeClr val="tx1"/>
          </a:solidFill>
          <a:latin typeface="+mn-lt"/>
          <a:ea typeface="+mn-ea"/>
          <a:cs typeface="+mn-cs"/>
        </a:defRPr>
      </a:lvl1pPr>
      <a:lvl2pPr marL="457209" algn="l" defTabSz="914417" rtl="0" eaLnBrk="1" latinLnBrk="0" hangingPunct="1">
        <a:defRPr sz="1800" kern="1200">
          <a:solidFill>
            <a:schemeClr val="tx1"/>
          </a:solidFill>
          <a:latin typeface="+mn-lt"/>
          <a:ea typeface="+mn-ea"/>
          <a:cs typeface="+mn-cs"/>
        </a:defRPr>
      </a:lvl2pPr>
      <a:lvl3pPr marL="914417" algn="l" defTabSz="914417" rtl="0" eaLnBrk="1" latinLnBrk="0" hangingPunct="1">
        <a:defRPr sz="1800" kern="1200">
          <a:solidFill>
            <a:schemeClr val="tx1"/>
          </a:solidFill>
          <a:latin typeface="+mn-lt"/>
          <a:ea typeface="+mn-ea"/>
          <a:cs typeface="+mn-cs"/>
        </a:defRPr>
      </a:lvl3pPr>
      <a:lvl4pPr marL="1371626" algn="l" defTabSz="914417" rtl="0" eaLnBrk="1" latinLnBrk="0" hangingPunct="1">
        <a:defRPr sz="1800" kern="1200">
          <a:solidFill>
            <a:schemeClr val="tx1"/>
          </a:solidFill>
          <a:latin typeface="+mn-lt"/>
          <a:ea typeface="+mn-ea"/>
          <a:cs typeface="+mn-cs"/>
        </a:defRPr>
      </a:lvl4pPr>
      <a:lvl5pPr marL="1828835" algn="l" defTabSz="914417" rtl="0" eaLnBrk="1" latinLnBrk="0" hangingPunct="1">
        <a:defRPr sz="1800" kern="1200">
          <a:solidFill>
            <a:schemeClr val="tx1"/>
          </a:solidFill>
          <a:latin typeface="+mn-lt"/>
          <a:ea typeface="+mn-ea"/>
          <a:cs typeface="+mn-cs"/>
        </a:defRPr>
      </a:lvl5pPr>
      <a:lvl6pPr marL="2286044" algn="l" defTabSz="914417" rtl="0" eaLnBrk="1" latinLnBrk="0" hangingPunct="1">
        <a:defRPr sz="1800" kern="1200">
          <a:solidFill>
            <a:schemeClr val="tx1"/>
          </a:solidFill>
          <a:latin typeface="+mn-lt"/>
          <a:ea typeface="+mn-ea"/>
          <a:cs typeface="+mn-cs"/>
        </a:defRPr>
      </a:lvl6pPr>
      <a:lvl7pPr marL="2743252" algn="l" defTabSz="914417" rtl="0" eaLnBrk="1" latinLnBrk="0" hangingPunct="1">
        <a:defRPr sz="1800" kern="1200">
          <a:solidFill>
            <a:schemeClr val="tx1"/>
          </a:solidFill>
          <a:latin typeface="+mn-lt"/>
          <a:ea typeface="+mn-ea"/>
          <a:cs typeface="+mn-cs"/>
        </a:defRPr>
      </a:lvl7pPr>
      <a:lvl8pPr marL="3200461" algn="l" defTabSz="914417" rtl="0" eaLnBrk="1" latinLnBrk="0" hangingPunct="1">
        <a:defRPr sz="1800" kern="1200">
          <a:solidFill>
            <a:schemeClr val="tx1"/>
          </a:solidFill>
          <a:latin typeface="+mn-lt"/>
          <a:ea typeface="+mn-ea"/>
          <a:cs typeface="+mn-cs"/>
        </a:defRPr>
      </a:lvl8pPr>
      <a:lvl9pPr marL="3657669" algn="l" defTabSz="91441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4443">
          <p15:clr>
            <a:srgbClr val="F26B43"/>
          </p15:clr>
        </p15:guide>
        <p15:guide id="4" pos="277">
          <p15:clr>
            <a:srgbClr val="F26B43"/>
          </p15:clr>
        </p15:guide>
        <p15:guide id="5" pos="6464">
          <p15:clr>
            <a:srgbClr val="F26B43"/>
          </p15:clr>
        </p15:guide>
        <p15:guide id="11" orient="horz" pos="219">
          <p15:clr>
            <a:srgbClr val="F26B43"/>
          </p15:clr>
        </p15:guide>
        <p15:guide id="21" orient="horz" pos="1152">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2"/>
            </p:custData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43" imgW="270" imgH="270" progId="TCLayout.ActiveDocument.1">
                  <p:embed/>
                </p:oleObj>
              </mc:Choice>
              <mc:Fallback>
                <p:oleObj name="think-cell Slide" r:id="rId43" imgW="270" imgH="270" progId="TCLayout.ActiveDocument.1">
                  <p:embed/>
                  <p:pic>
                    <p:nvPicPr>
                      <p:cNvPr id="4" name="Object 3" hidden="1"/>
                      <p:cNvPicPr/>
                      <p:nvPr/>
                    </p:nvPicPr>
                    <p:blipFill>
                      <a:blip r:embed="rId44"/>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GB" noProof="0"/>
              <a:t>Click to edit Master title style</a:t>
            </a:r>
            <a:endParaRPr lang="en-GB" noProof="0" dirty="0"/>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TextBox 11"/>
          <p:cNvSpPr txBox="1"/>
          <p:nvPr userDrawn="1"/>
        </p:nvSpPr>
        <p:spPr>
          <a:xfrm>
            <a:off x="11410953" y="66802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7" name="TextBox 6"/>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tx1"/>
                </a:solidFill>
              </a:rPr>
              <a:t>© 2019 Deloitte Touche Tohmatsu India LLP</a:t>
            </a:r>
          </a:p>
        </p:txBody>
      </p:sp>
    </p:spTree>
    <p:extLst>
      <p:ext uri="{BB962C8B-B14F-4D97-AF65-F5344CB8AC3E}">
        <p14:creationId xmlns:p14="http://schemas.microsoft.com/office/powerpoint/2010/main" val="2712064083"/>
      </p:ext>
    </p:extLst>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 id="2147483783" r:id="rId12"/>
    <p:sldLayoutId id="2147483784" r:id="rId13"/>
    <p:sldLayoutId id="2147483785" r:id="rId14"/>
    <p:sldLayoutId id="2147483786" r:id="rId15"/>
    <p:sldLayoutId id="2147483787" r:id="rId16"/>
    <p:sldLayoutId id="2147483788" r:id="rId17"/>
    <p:sldLayoutId id="2147483789" r:id="rId18"/>
    <p:sldLayoutId id="2147483790" r:id="rId19"/>
    <p:sldLayoutId id="2147483791" r:id="rId20"/>
    <p:sldLayoutId id="2147483792" r:id="rId21"/>
    <p:sldLayoutId id="2147483793" r:id="rId22"/>
    <p:sldLayoutId id="2147483794" r:id="rId23"/>
    <p:sldLayoutId id="2147483795" r:id="rId24"/>
    <p:sldLayoutId id="2147483796" r:id="rId25"/>
    <p:sldLayoutId id="2147483797" r:id="rId26"/>
    <p:sldLayoutId id="2147483798" r:id="rId27"/>
    <p:sldLayoutId id="2147483799" r:id="rId28"/>
    <p:sldLayoutId id="2147483800" r:id="rId29"/>
    <p:sldLayoutId id="2147483801" r:id="rId30"/>
    <p:sldLayoutId id="2147483802" r:id="rId31"/>
    <p:sldLayoutId id="2147483803" r:id="rId32"/>
    <p:sldLayoutId id="2147483804" r:id="rId33"/>
    <p:sldLayoutId id="2147483805" r:id="rId34"/>
    <p:sldLayoutId id="2147483806" r:id="rId35"/>
    <p:sldLayoutId id="2147483807" r:id="rId36"/>
    <p:sldLayoutId id="2147483808" r:id="rId37"/>
    <p:sldLayoutId id="2147483809" r:id="rId38"/>
    <p:sldLayoutId id="2147483810" r:id="rId39"/>
    <p:sldLayoutId id="2147483811" r:id="rId40"/>
  </p:sldLayoutIdLst>
  <p:transition>
    <p:fade/>
  </p:transition>
  <p:hf sldNum="0"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ClrTx/>
        <a:buSzPct val="100000"/>
        <a:buFont typeface="Arial" panose="020B0604020202020204" pitchFamily="34" charset="0"/>
        <a:buChar char="​"/>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8">
          <p15:clr>
            <a:srgbClr val="F26B43"/>
          </p15:clr>
        </p15:guide>
        <p15:guide id="2" orient="horz" pos="2160">
          <p15:clr>
            <a:srgbClr val="F26B43"/>
          </p15:clr>
        </p15:guide>
        <p15:guide id="3" orient="horz" pos="3968">
          <p15:clr>
            <a:srgbClr val="F26B43"/>
          </p15:clr>
        </p15:guide>
        <p15:guide id="4" pos="296">
          <p15:clr>
            <a:srgbClr val="F26B43"/>
          </p15:clr>
        </p15:guide>
        <p15:guide id="5" pos="7384">
          <p15:clr>
            <a:srgbClr val="F26B43"/>
          </p15:clr>
        </p15:guide>
        <p15:guide id="6" orient="horz" pos="1071">
          <p15:clr>
            <a:srgbClr val="F26B43"/>
          </p15:clr>
        </p15:guide>
        <p15:guide id="7" orient="horz" pos="245">
          <p15:clr>
            <a:srgbClr val="F26B43"/>
          </p15:clr>
        </p15:guide>
        <p15:guide id="8" orient="horz" pos="4081">
          <p15:clr>
            <a:srgbClr val="F26B43"/>
          </p15:clr>
        </p15:guide>
        <p15:guide id="10" pos="4986">
          <p15:clr>
            <a:srgbClr val="F26B43"/>
          </p15:clr>
        </p15:guide>
        <p15:guide id="12" pos="1382">
          <p15:clr>
            <a:srgbClr val="F26B43"/>
          </p15:clr>
        </p15:guide>
        <p15:guide id="13" pos="1496">
          <p15:clr>
            <a:srgbClr val="F26B43"/>
          </p15:clr>
        </p15:guide>
        <p15:guide id="14" pos="2581">
          <p15:clr>
            <a:srgbClr val="F26B43"/>
          </p15:clr>
        </p15:guide>
        <p15:guide id="15" pos="2695">
          <p15:clr>
            <a:srgbClr val="F26B43"/>
          </p15:clr>
        </p15:guide>
        <p15:guide id="16" pos="6185">
          <p15:clr>
            <a:srgbClr val="F26B43"/>
          </p15:clr>
        </p15:guide>
        <p15:guide id="17" pos="3783">
          <p15:clr>
            <a:srgbClr val="F26B43"/>
          </p15:clr>
        </p15:guide>
        <p15:guide id="18" pos="3896">
          <p15:clr>
            <a:srgbClr val="F26B43"/>
          </p15:clr>
        </p15:guide>
        <p15:guide id="19" pos="3840">
          <p15:clr>
            <a:srgbClr val="F26B43"/>
          </p15:clr>
        </p15:guide>
        <p15:guide id="20" pos="6299">
          <p15:clr>
            <a:srgbClr val="F26B43"/>
          </p15:clr>
        </p15:guide>
        <p15:guide id="21" orient="horz" pos="1049">
          <p15:clr>
            <a:srgbClr val="F26B43"/>
          </p15:clr>
        </p15:guide>
        <p15:guide id="22" orient="horz" pos="641">
          <p15:clr>
            <a:srgbClr val="F26B43"/>
          </p15:clr>
        </p15:guide>
        <p15:guide id="23" orient="horz" pos="288">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1"/>
            </p:custDataLst>
            <p:extLst>
              <p:ext uri="{D42A27DB-BD31-4B8C-83A1-F6EECF244321}">
                <p14:modId xmlns:p14="http://schemas.microsoft.com/office/powerpoint/2010/main" val="2766207785"/>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42" imgW="270" imgH="270" progId="TCLayout.ActiveDocument.1">
                  <p:embed/>
                </p:oleObj>
              </mc:Choice>
              <mc:Fallback>
                <p:oleObj name="think-cell Slide" r:id="rId42" imgW="270" imgH="270" progId="TCLayout.ActiveDocument.1">
                  <p:embed/>
                  <p:pic>
                    <p:nvPicPr>
                      <p:cNvPr id="4" name="Object 3" hidden="1"/>
                      <p:cNvPicPr/>
                      <p:nvPr/>
                    </p:nvPicPr>
                    <p:blipFill>
                      <a:blip r:embed="rId43"/>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GB" noProof="0"/>
              <a:t>Click to edit Master title style</a:t>
            </a:r>
            <a:endParaRPr lang="en-GB" noProof="0" dirty="0"/>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TextBox 11"/>
          <p:cNvSpPr txBox="1"/>
          <p:nvPr userDrawn="1"/>
        </p:nvSpPr>
        <p:spPr>
          <a:xfrm>
            <a:off x="11410953" y="6656294"/>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8" name="TextBox 7"/>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tx1"/>
                </a:solidFill>
              </a:rPr>
              <a:t>© 2019 Deloitte Touche Tohmatsu India LLP</a:t>
            </a:r>
          </a:p>
        </p:txBody>
      </p:sp>
    </p:spTree>
    <p:extLst>
      <p:ext uri="{BB962C8B-B14F-4D97-AF65-F5344CB8AC3E}">
        <p14:creationId xmlns:p14="http://schemas.microsoft.com/office/powerpoint/2010/main" val="417703436"/>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5" r:id="rId13"/>
    <p:sldLayoutId id="2147483826" r:id="rId14"/>
    <p:sldLayoutId id="2147483827" r:id="rId15"/>
    <p:sldLayoutId id="2147483828" r:id="rId16"/>
    <p:sldLayoutId id="2147483829" r:id="rId17"/>
    <p:sldLayoutId id="2147483830" r:id="rId18"/>
    <p:sldLayoutId id="2147483831" r:id="rId19"/>
    <p:sldLayoutId id="2147483832" r:id="rId20"/>
    <p:sldLayoutId id="2147483833" r:id="rId21"/>
    <p:sldLayoutId id="2147483834" r:id="rId22"/>
    <p:sldLayoutId id="2147483835" r:id="rId23"/>
    <p:sldLayoutId id="2147483836" r:id="rId24"/>
    <p:sldLayoutId id="2147483837" r:id="rId25"/>
    <p:sldLayoutId id="2147483838" r:id="rId26"/>
    <p:sldLayoutId id="2147483839" r:id="rId27"/>
    <p:sldLayoutId id="2147483840" r:id="rId28"/>
    <p:sldLayoutId id="2147483841" r:id="rId29"/>
    <p:sldLayoutId id="2147483842" r:id="rId30"/>
    <p:sldLayoutId id="2147483843" r:id="rId31"/>
    <p:sldLayoutId id="2147483844" r:id="rId32"/>
    <p:sldLayoutId id="2147483845" r:id="rId33"/>
    <p:sldLayoutId id="2147483846" r:id="rId34"/>
    <p:sldLayoutId id="2147483847" r:id="rId35"/>
    <p:sldLayoutId id="2147483848" r:id="rId36"/>
    <p:sldLayoutId id="2147483849" r:id="rId37"/>
    <p:sldLayoutId id="2147483850" r:id="rId38"/>
    <p:sldLayoutId id="2147483852" r:id="rId39"/>
  </p:sldLayoutIdLst>
  <p:transition>
    <p:fade/>
  </p:transition>
  <p:hf sldNum="0"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ClrTx/>
        <a:buSzPct val="100000"/>
        <a:buFont typeface="Arial" panose="020B0604020202020204" pitchFamily="34" charset="0"/>
        <a:buChar char="​"/>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8">
          <p15:clr>
            <a:srgbClr val="F26B43"/>
          </p15:clr>
        </p15:guide>
        <p15:guide id="2" orient="horz" pos="2160">
          <p15:clr>
            <a:srgbClr val="F26B43"/>
          </p15:clr>
        </p15:guide>
        <p15:guide id="3" orient="horz" pos="3968">
          <p15:clr>
            <a:srgbClr val="F26B43"/>
          </p15:clr>
        </p15:guide>
        <p15:guide id="4" pos="296">
          <p15:clr>
            <a:srgbClr val="F26B43"/>
          </p15:clr>
        </p15:guide>
        <p15:guide id="5" pos="7384">
          <p15:clr>
            <a:srgbClr val="F26B43"/>
          </p15:clr>
        </p15:guide>
        <p15:guide id="6" orient="horz" pos="1071">
          <p15:clr>
            <a:srgbClr val="F26B43"/>
          </p15:clr>
        </p15:guide>
        <p15:guide id="7" orient="horz" pos="245">
          <p15:clr>
            <a:srgbClr val="F26B43"/>
          </p15:clr>
        </p15:guide>
        <p15:guide id="8" orient="horz" pos="4081">
          <p15:clr>
            <a:srgbClr val="F26B43"/>
          </p15:clr>
        </p15:guide>
        <p15:guide id="10" pos="4986">
          <p15:clr>
            <a:srgbClr val="F26B43"/>
          </p15:clr>
        </p15:guide>
        <p15:guide id="12" pos="1382">
          <p15:clr>
            <a:srgbClr val="F26B43"/>
          </p15:clr>
        </p15:guide>
        <p15:guide id="13" pos="1496">
          <p15:clr>
            <a:srgbClr val="F26B43"/>
          </p15:clr>
        </p15:guide>
        <p15:guide id="14" pos="2581">
          <p15:clr>
            <a:srgbClr val="F26B43"/>
          </p15:clr>
        </p15:guide>
        <p15:guide id="15" pos="2695">
          <p15:clr>
            <a:srgbClr val="F26B43"/>
          </p15:clr>
        </p15:guide>
        <p15:guide id="16" pos="6185">
          <p15:clr>
            <a:srgbClr val="F26B43"/>
          </p15:clr>
        </p15:guide>
        <p15:guide id="17" pos="3783">
          <p15:clr>
            <a:srgbClr val="F26B43"/>
          </p15:clr>
        </p15:guide>
        <p15:guide id="18" pos="3896">
          <p15:clr>
            <a:srgbClr val="F26B43"/>
          </p15:clr>
        </p15:guide>
        <p15:guide id="19" pos="3840">
          <p15:clr>
            <a:srgbClr val="F26B43"/>
          </p15:clr>
        </p15:guide>
        <p15:guide id="20" pos="6299">
          <p15:clr>
            <a:srgbClr val="F26B43"/>
          </p15:clr>
        </p15:guide>
        <p15:guide id="21" orient="horz" pos="1049">
          <p15:clr>
            <a:srgbClr val="F26B43"/>
          </p15:clr>
        </p15:guide>
        <p15:guide id="22" orient="horz" pos="641">
          <p15:clr>
            <a:srgbClr val="F26B43"/>
          </p15:clr>
        </p15:guide>
        <p15:guide id="23" orient="horz" pos="2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37.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tags" Target="../tags/tag9.xml"/><Relationship Id="rId7" Type="http://schemas.openxmlformats.org/officeDocument/2006/relationships/slideLayout" Target="../slideLayouts/slideLayout15.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5" Type="http://schemas.openxmlformats.org/officeDocument/2006/relationships/tags" Target="../tags/tag11.xml"/><Relationship Id="rId10" Type="http://schemas.openxmlformats.org/officeDocument/2006/relationships/image" Target="../media/image14.png"/><Relationship Id="rId4" Type="http://schemas.openxmlformats.org/officeDocument/2006/relationships/tags" Target="../tags/tag10.xml"/><Relationship Id="rId9" Type="http://schemas.openxmlformats.org/officeDocument/2006/relationships/image" Target="../media/image13.emf"/></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15.xml"/><Relationship Id="rId5" Type="http://schemas.openxmlformats.org/officeDocument/2006/relationships/image" Target="../media/image20.sv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1.xml"/></Relationships>
</file>

<file path=ppt/slides/_rels/slide2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4.xml"/></Relationships>
</file>

<file path=ppt/slides/_rels/slide34.xml.rels><?xml version="1.0" encoding="UTF-8" standalone="yes"?>
<Relationships xmlns="http://schemas.openxmlformats.org/package/2006/relationships"><Relationship Id="rId2" Type="http://schemas.openxmlformats.org/officeDocument/2006/relationships/slide" Target="slide12.xml"/><Relationship Id="rId1" Type="http://schemas.openxmlformats.org/officeDocument/2006/relationships/slideLayout" Target="../slideLayouts/slideLayout16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481094" y="5179779"/>
            <a:ext cx="9199152" cy="494253"/>
          </a:xfrm>
        </p:spPr>
        <p:txBody>
          <a:bodyPr/>
          <a:lstStyle/>
          <a:p>
            <a:r>
              <a:rPr lang="en-US" sz="2200" b="1" dirty="0">
                <a:solidFill>
                  <a:schemeClr val="accent1"/>
                </a:solidFill>
                <a:latin typeface="Calibri" panose="020F0502020204030204" pitchFamily="34" charset="0"/>
                <a:cs typeface="Calibri" panose="020F0502020204030204" pitchFamily="34" charset="0"/>
              </a:rPr>
              <a:t>Proposal for Consulting Services for REC Policy, Regulatory, Stressed Asset and Government Program Support for an initial period of 3 years</a:t>
            </a:r>
          </a:p>
          <a:p>
            <a:r>
              <a:rPr lang="en-US" sz="1800" b="1" dirty="0">
                <a:latin typeface="Calibri" panose="020F0502020204030204" pitchFamily="34" charset="0"/>
                <a:cs typeface="Calibri" panose="020F0502020204030204" pitchFamily="34" charset="0"/>
              </a:rPr>
              <a:t>REC Limited</a:t>
            </a:r>
          </a:p>
          <a:p>
            <a:r>
              <a:rPr lang="en-US" sz="1200" b="1" dirty="0">
                <a:latin typeface="Calibri" panose="020F0502020204030204" pitchFamily="34" charset="0"/>
                <a:cs typeface="Calibri" panose="020F0502020204030204" pitchFamily="34" charset="0"/>
              </a:rPr>
              <a:t>August 2021</a:t>
            </a:r>
          </a:p>
          <a:p>
            <a:pPr defTabSz="785202"/>
            <a:r>
              <a:rPr lang="en-US" sz="1200" b="1" dirty="0">
                <a:latin typeface="Calibri" panose="020F0502020204030204" pitchFamily="34" charset="0"/>
                <a:cs typeface="Calibri" panose="020F0502020204030204" pitchFamily="34" charset="0"/>
              </a:rPr>
              <a:t>Private and Confidential</a:t>
            </a:r>
          </a:p>
          <a:p>
            <a:endParaRPr lang="en-US" dirty="0">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863F1B39-123C-4BAA-B640-1EF91F983913}"/>
              </a:ext>
            </a:extLst>
          </p:cNvPr>
          <p:cNvPicPr>
            <a:picLocks noChangeAspect="1"/>
          </p:cNvPicPr>
          <p:nvPr/>
        </p:nvPicPr>
        <p:blipFill>
          <a:blip r:embed="rId3"/>
          <a:stretch>
            <a:fillRect/>
          </a:stretch>
        </p:blipFill>
        <p:spPr>
          <a:xfrm>
            <a:off x="9616966" y="5674032"/>
            <a:ext cx="2093940" cy="867813"/>
          </a:xfrm>
          <a:prstGeom prst="rect">
            <a:avLst/>
          </a:prstGeom>
        </p:spPr>
      </p:pic>
      <p:pic>
        <p:nvPicPr>
          <p:cNvPr id="7" name="Picture Placeholder 10" descr="A picture containing text, black, watch&#10;&#10;Description automatically generated">
            <a:extLst>
              <a:ext uri="{FF2B5EF4-FFF2-40B4-BE49-F238E27FC236}">
                <a16:creationId xmlns:a16="http://schemas.microsoft.com/office/drawing/2014/main" id="{4EA6F156-343F-443F-BAEF-E0AEC0F90780}"/>
              </a:ext>
            </a:extLst>
          </p:cNvPr>
          <p:cNvPicPr>
            <a:picLocks noChangeAspect="1"/>
          </p:cNvPicPr>
          <p:nvPr/>
        </p:nvPicPr>
        <p:blipFill>
          <a:blip r:embed="rId4"/>
          <a:srcRect l="72" r="72"/>
          <a:stretch>
            <a:fillRect/>
          </a:stretch>
        </p:blipFill>
        <p:spPr>
          <a:xfrm>
            <a:off x="3936000" y="859778"/>
            <a:ext cx="4320000" cy="4320000"/>
          </a:xfrm>
          <a:prstGeom prst="rect">
            <a:avLst/>
          </a:prstGeom>
        </p:spPr>
      </p:pic>
    </p:spTree>
    <p:extLst>
      <p:ext uri="{BB962C8B-B14F-4D97-AF65-F5344CB8AC3E}">
        <p14:creationId xmlns:p14="http://schemas.microsoft.com/office/powerpoint/2010/main" val="125793689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Picture 40" descr="A picture containing antenna, pylon&#10;&#10;Description automatically generated">
            <a:extLst>
              <a:ext uri="{FF2B5EF4-FFF2-40B4-BE49-F238E27FC236}">
                <a16:creationId xmlns:a16="http://schemas.microsoft.com/office/drawing/2014/main" id="{731CD458-1224-4D0E-8E1B-3AF98F7194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0" y="0"/>
            <a:ext cx="9144000" cy="6858000"/>
          </a:xfrm>
          <a:prstGeom prst="rect">
            <a:avLst/>
          </a:prstGeom>
        </p:spPr>
      </p:pic>
      <p:sp>
        <p:nvSpPr>
          <p:cNvPr id="30" name="Rectangle 29">
            <a:extLst>
              <a:ext uri="{FF2B5EF4-FFF2-40B4-BE49-F238E27FC236}">
                <a16:creationId xmlns:a16="http://schemas.microsoft.com/office/drawing/2014/main" id="{6D914D9A-066E-4964-AAA2-CA7103CB7365}"/>
              </a:ext>
            </a:extLst>
          </p:cNvPr>
          <p:cNvSpPr/>
          <p:nvPr/>
        </p:nvSpPr>
        <p:spPr bwMode="gray">
          <a:xfrm>
            <a:off x="160563" y="-4"/>
            <a:ext cx="12031437" cy="6858000"/>
          </a:xfrm>
          <a:prstGeom prst="rect">
            <a:avLst/>
          </a:prstGeom>
          <a:solidFill>
            <a:schemeClr val="tx1">
              <a:alpha val="6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 name="Rectangle 3">
            <a:extLst>
              <a:ext uri="{FF2B5EF4-FFF2-40B4-BE49-F238E27FC236}">
                <a16:creationId xmlns:a16="http://schemas.microsoft.com/office/drawing/2014/main" id="{6EF2BC32-647F-4AAC-AB43-9058BEB8FAEA}"/>
              </a:ext>
            </a:extLst>
          </p:cNvPr>
          <p:cNvSpPr/>
          <p:nvPr/>
        </p:nvSpPr>
        <p:spPr bwMode="gray">
          <a:xfrm>
            <a:off x="-9832" y="-2"/>
            <a:ext cx="5372100" cy="6858000"/>
          </a:xfrm>
          <a:prstGeom prst="rect">
            <a:avLst/>
          </a:prstGeom>
          <a:solidFill>
            <a:srgbClr val="00768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4" name="Rectangle 13">
            <a:extLst>
              <a:ext uri="{FF2B5EF4-FFF2-40B4-BE49-F238E27FC236}">
                <a16:creationId xmlns:a16="http://schemas.microsoft.com/office/drawing/2014/main" id="{B21D0B7B-D156-4E00-A1E3-0BF091C20387}"/>
              </a:ext>
            </a:extLst>
          </p:cNvPr>
          <p:cNvSpPr/>
          <p:nvPr/>
        </p:nvSpPr>
        <p:spPr bwMode="gray">
          <a:xfrm>
            <a:off x="501740" y="0"/>
            <a:ext cx="315084" cy="6858000"/>
          </a:xfrm>
          <a:prstGeom prst="rect">
            <a:avLst/>
          </a:prstGeom>
          <a:solidFill>
            <a:srgbClr val="9DD4CF"/>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 name="Rectangle 4">
            <a:extLst>
              <a:ext uri="{FF2B5EF4-FFF2-40B4-BE49-F238E27FC236}">
                <a16:creationId xmlns:a16="http://schemas.microsoft.com/office/drawing/2014/main" id="{15340809-7DCA-440B-A82C-A00B8A86F642}"/>
              </a:ext>
            </a:extLst>
          </p:cNvPr>
          <p:cNvSpPr/>
          <p:nvPr/>
        </p:nvSpPr>
        <p:spPr>
          <a:xfrm>
            <a:off x="956614" y="1015425"/>
            <a:ext cx="2633863" cy="584775"/>
          </a:xfrm>
          <a:prstGeom prst="rect">
            <a:avLst/>
          </a:prstGeom>
        </p:spPr>
        <p:txBody>
          <a:bodyPr wrap="none">
            <a:spAutoFit/>
          </a:bodyPr>
          <a:lstStyle/>
          <a:p>
            <a:pPr defTabSz="914378"/>
            <a:r>
              <a:rPr lang="en-US" sz="3200" b="1" spc="600" dirty="0">
                <a:solidFill>
                  <a:schemeClr val="bg1"/>
                </a:solidFill>
              </a:rPr>
              <a:t>CONTENTS</a:t>
            </a:r>
          </a:p>
        </p:txBody>
      </p:sp>
      <p:graphicFrame>
        <p:nvGraphicFramePr>
          <p:cNvPr id="51" name="Table 17">
            <a:extLst>
              <a:ext uri="{FF2B5EF4-FFF2-40B4-BE49-F238E27FC236}">
                <a16:creationId xmlns:a16="http://schemas.microsoft.com/office/drawing/2014/main" id="{B6A89B36-7A34-442D-AFC0-F3F40B1F087C}"/>
              </a:ext>
            </a:extLst>
          </p:cNvPr>
          <p:cNvGraphicFramePr>
            <a:graphicFrameLocks noGrp="1"/>
          </p:cNvGraphicFramePr>
          <p:nvPr>
            <p:extLst>
              <p:ext uri="{D42A27DB-BD31-4B8C-83A1-F6EECF244321}">
                <p14:modId xmlns:p14="http://schemas.microsoft.com/office/powerpoint/2010/main" val="3219259509"/>
              </p:ext>
            </p:extLst>
          </p:nvPr>
        </p:nvGraphicFramePr>
        <p:xfrm>
          <a:off x="1621615" y="2192182"/>
          <a:ext cx="4081829" cy="2667000"/>
        </p:xfrm>
        <a:graphic>
          <a:graphicData uri="http://schemas.openxmlformats.org/drawingml/2006/table">
            <a:tbl>
              <a:tblPr firstRow="1" bandRow="1">
                <a:tableStyleId>{5C22544A-7EE6-4342-B048-85BDC9FD1C3A}</a:tableStyleId>
              </a:tblPr>
              <a:tblGrid>
                <a:gridCol w="4081829">
                  <a:extLst>
                    <a:ext uri="{9D8B030D-6E8A-4147-A177-3AD203B41FA5}">
                      <a16:colId xmlns:a16="http://schemas.microsoft.com/office/drawing/2014/main" val="689362503"/>
                    </a:ext>
                  </a:extLst>
                </a:gridCol>
              </a:tblGrid>
              <a:tr h="533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spc="-4" dirty="0">
                          <a:solidFill>
                            <a:schemeClr val="bg1"/>
                          </a:solidFill>
                          <a:cs typeface="Calibri" panose="020F0502020204030204" pitchFamily="34" charset="0"/>
                        </a:rPr>
                        <a:t>Our Understanding of the Engagement</a:t>
                      </a:r>
                    </a:p>
                  </a:txBody>
                  <a:tcPr anchor="ctr">
                    <a:lnL w="12700" cmpd="sng">
                      <a:noFill/>
                    </a:lnL>
                    <a:lnR w="12700" cmpd="sng">
                      <a:noFill/>
                    </a:lnR>
                    <a:lnT w="19050" cap="flat" cmpd="sng" algn="ctr">
                      <a:solidFill>
                        <a:schemeClr val="bg1"/>
                      </a:solidFill>
                      <a:prstDash val="sysDot"/>
                      <a:round/>
                      <a:headEnd type="none" w="med" len="med"/>
                      <a:tailEnd type="none" w="med" len="med"/>
                    </a:lnT>
                    <a:lnB w="1905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44107078"/>
                  </a:ext>
                </a:extLst>
              </a:tr>
              <a:tr h="533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spc="-4" dirty="0">
                          <a:solidFill>
                            <a:schemeClr val="bg1"/>
                          </a:solidFill>
                          <a:cs typeface="Calibri" panose="020F0502020204030204" pitchFamily="34" charset="0"/>
                        </a:rPr>
                        <a:t>Approach &amp; Methodology</a:t>
                      </a:r>
                    </a:p>
                  </a:txBody>
                  <a:tcPr anchor="ctr">
                    <a:lnL w="12700" cmpd="sng">
                      <a:noFill/>
                    </a:lnL>
                    <a:lnR w="12700" cmpd="sng">
                      <a:noFill/>
                    </a:lnR>
                    <a:lnT w="19050" cap="flat" cmpd="sng" algn="ctr">
                      <a:solidFill>
                        <a:schemeClr val="bg1"/>
                      </a:solidFill>
                      <a:prstDash val="sysDot"/>
                      <a:round/>
                      <a:headEnd type="none" w="med" len="med"/>
                      <a:tailEnd type="none" w="med" len="med"/>
                    </a:lnT>
                    <a:lnB w="1905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0028832"/>
                  </a:ext>
                </a:extLst>
              </a:tr>
              <a:tr h="533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spc="-4" dirty="0">
                          <a:solidFill>
                            <a:schemeClr val="bg1"/>
                          </a:solidFill>
                          <a:cs typeface="Calibri" panose="020F0502020204030204" pitchFamily="34" charset="0"/>
                        </a:rPr>
                        <a:t>Meet the team</a:t>
                      </a:r>
                    </a:p>
                  </a:txBody>
                  <a:tcPr anchor="ctr">
                    <a:lnL w="12700" cmpd="sng">
                      <a:noFill/>
                    </a:lnL>
                    <a:lnR w="12700" cmpd="sng">
                      <a:noFill/>
                    </a:lnR>
                    <a:lnT w="19050" cap="flat" cmpd="sng" algn="ctr">
                      <a:solidFill>
                        <a:schemeClr val="bg1"/>
                      </a:solidFill>
                      <a:prstDash val="sysDot"/>
                      <a:round/>
                      <a:headEnd type="none" w="med" len="med"/>
                      <a:tailEnd type="none" w="med" len="med"/>
                    </a:lnT>
                    <a:lnB w="1905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347534"/>
                  </a:ext>
                </a:extLst>
              </a:tr>
              <a:tr h="533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spc="-4" dirty="0">
                          <a:solidFill>
                            <a:schemeClr val="bg1"/>
                          </a:solidFill>
                          <a:cs typeface="Calibri" panose="020F0502020204030204" pitchFamily="34" charset="0"/>
                        </a:rPr>
                        <a:t>About Deloitte</a:t>
                      </a:r>
                    </a:p>
                  </a:txBody>
                  <a:tcPr anchor="ctr">
                    <a:lnL w="12700" cmpd="sng">
                      <a:noFill/>
                    </a:lnL>
                    <a:lnR w="12700" cmpd="sng">
                      <a:noFill/>
                    </a:lnR>
                    <a:lnT w="19050" cap="flat" cmpd="sng" algn="ctr">
                      <a:solidFill>
                        <a:schemeClr val="bg1"/>
                      </a:solidFill>
                      <a:prstDash val="sysDot"/>
                      <a:round/>
                      <a:headEnd type="none" w="med" len="med"/>
                      <a:tailEnd type="none" w="med" len="med"/>
                    </a:lnT>
                    <a:lnB w="1905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731914"/>
                  </a:ext>
                </a:extLst>
              </a:tr>
              <a:tr h="5334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spc="-4" dirty="0">
                          <a:solidFill>
                            <a:schemeClr val="bg1"/>
                          </a:solidFill>
                          <a:cs typeface="Calibri" panose="020F0502020204030204" pitchFamily="34" charset="0"/>
                        </a:rPr>
                        <a:t>Select Credentials</a:t>
                      </a:r>
                    </a:p>
                  </a:txBody>
                  <a:tcPr anchor="ctr">
                    <a:lnL w="12700" cmpd="sng">
                      <a:noFill/>
                    </a:lnL>
                    <a:lnR w="12700" cmpd="sng">
                      <a:noFill/>
                    </a:lnR>
                    <a:lnT w="19050" cap="flat" cmpd="sng" algn="ctr">
                      <a:solidFill>
                        <a:schemeClr val="bg1"/>
                      </a:solidFill>
                      <a:prstDash val="sysDot"/>
                      <a:round/>
                      <a:headEnd type="none" w="med" len="med"/>
                      <a:tailEnd type="none" w="med" len="med"/>
                    </a:lnT>
                    <a:lnB w="19050" cap="flat" cmpd="sng" algn="ctr">
                      <a:solidFill>
                        <a:schemeClr val="bg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0485255"/>
                  </a:ext>
                </a:extLst>
              </a:tr>
            </a:tbl>
          </a:graphicData>
        </a:graphic>
      </p:graphicFrame>
      <p:grpSp>
        <p:nvGrpSpPr>
          <p:cNvPr id="71" name="Group 749">
            <a:extLst>
              <a:ext uri="{FF2B5EF4-FFF2-40B4-BE49-F238E27FC236}">
                <a16:creationId xmlns:a16="http://schemas.microsoft.com/office/drawing/2014/main" id="{A334ED2B-3214-4B0F-BECA-749CF9071B25}"/>
              </a:ext>
            </a:extLst>
          </p:cNvPr>
          <p:cNvGrpSpPr>
            <a:grpSpLocks noChangeAspect="1"/>
          </p:cNvGrpSpPr>
          <p:nvPr/>
        </p:nvGrpSpPr>
        <p:grpSpPr bwMode="auto">
          <a:xfrm>
            <a:off x="1029376" y="3275060"/>
            <a:ext cx="415638" cy="415636"/>
            <a:chOff x="3520" y="2686"/>
            <a:chExt cx="340" cy="340"/>
          </a:xfrm>
          <a:solidFill>
            <a:schemeClr val="bg1"/>
          </a:solidFill>
        </p:grpSpPr>
        <p:sp>
          <p:nvSpPr>
            <p:cNvPr id="72" name="Freeform 750">
              <a:extLst>
                <a:ext uri="{FF2B5EF4-FFF2-40B4-BE49-F238E27FC236}">
                  <a16:creationId xmlns:a16="http://schemas.microsoft.com/office/drawing/2014/main" id="{B97C5FA4-CB16-43B9-BA14-75C97326CD3F}"/>
                </a:ext>
              </a:extLst>
            </p:cNvPr>
            <p:cNvSpPr>
              <a:spLocks noEditPoints="1"/>
            </p:cNvSpPr>
            <p:nvPr/>
          </p:nvSpPr>
          <p:spPr bwMode="auto">
            <a:xfrm>
              <a:off x="3520" y="268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3" name="Freeform 751">
              <a:extLst>
                <a:ext uri="{FF2B5EF4-FFF2-40B4-BE49-F238E27FC236}">
                  <a16:creationId xmlns:a16="http://schemas.microsoft.com/office/drawing/2014/main" id="{DF272718-88D4-47C8-A4C6-4C3EA24BB8F0}"/>
                </a:ext>
              </a:extLst>
            </p:cNvPr>
            <p:cNvSpPr>
              <a:spLocks/>
            </p:cNvSpPr>
            <p:nvPr/>
          </p:nvSpPr>
          <p:spPr bwMode="auto">
            <a:xfrm>
              <a:off x="3582" y="2789"/>
              <a:ext cx="144" cy="137"/>
            </a:xfrm>
            <a:custGeom>
              <a:avLst/>
              <a:gdLst>
                <a:gd name="T0" fmla="*/ 209 w 216"/>
                <a:gd name="T1" fmla="*/ 187 h 207"/>
                <a:gd name="T2" fmla="*/ 171 w 216"/>
                <a:gd name="T3" fmla="*/ 179 h 207"/>
                <a:gd name="T4" fmla="*/ 156 w 216"/>
                <a:gd name="T5" fmla="*/ 177 h 207"/>
                <a:gd name="T6" fmla="*/ 145 w 216"/>
                <a:gd name="T7" fmla="*/ 147 h 207"/>
                <a:gd name="T8" fmla="*/ 167 w 216"/>
                <a:gd name="T9" fmla="*/ 96 h 207"/>
                <a:gd name="T10" fmla="*/ 157 w 216"/>
                <a:gd name="T11" fmla="*/ 22 h 207"/>
                <a:gd name="T12" fmla="*/ 108 w 216"/>
                <a:gd name="T13" fmla="*/ 0 h 207"/>
                <a:gd name="T14" fmla="*/ 59 w 216"/>
                <a:gd name="T15" fmla="*/ 22 h 207"/>
                <a:gd name="T16" fmla="*/ 50 w 216"/>
                <a:gd name="T17" fmla="*/ 96 h 207"/>
                <a:gd name="T18" fmla="*/ 72 w 216"/>
                <a:gd name="T19" fmla="*/ 147 h 207"/>
                <a:gd name="T20" fmla="*/ 61 w 216"/>
                <a:gd name="T21" fmla="*/ 177 h 207"/>
                <a:gd name="T22" fmla="*/ 45 w 216"/>
                <a:gd name="T23" fmla="*/ 179 h 207"/>
                <a:gd name="T24" fmla="*/ 8 w 216"/>
                <a:gd name="T25" fmla="*/ 187 h 207"/>
                <a:gd name="T26" fmla="*/ 3 w 216"/>
                <a:gd name="T27" fmla="*/ 201 h 207"/>
                <a:gd name="T28" fmla="*/ 12 w 216"/>
                <a:gd name="T29" fmla="*/ 207 h 207"/>
                <a:gd name="T30" fmla="*/ 17 w 216"/>
                <a:gd name="T31" fmla="*/ 206 h 207"/>
                <a:gd name="T32" fmla="*/ 46 w 216"/>
                <a:gd name="T33" fmla="*/ 200 h 207"/>
                <a:gd name="T34" fmla="*/ 71 w 216"/>
                <a:gd name="T35" fmla="*/ 195 h 207"/>
                <a:gd name="T36" fmla="*/ 91 w 216"/>
                <a:gd name="T37" fmla="*/ 162 h 207"/>
                <a:gd name="T38" fmla="*/ 90 w 216"/>
                <a:gd name="T39" fmla="*/ 135 h 207"/>
                <a:gd name="T40" fmla="*/ 71 w 216"/>
                <a:gd name="T41" fmla="*/ 91 h 207"/>
                <a:gd name="T42" fmla="*/ 76 w 216"/>
                <a:gd name="T43" fmla="*/ 36 h 207"/>
                <a:gd name="T44" fmla="*/ 108 w 216"/>
                <a:gd name="T45" fmla="*/ 22 h 207"/>
                <a:gd name="T46" fmla="*/ 108 w 216"/>
                <a:gd name="T47" fmla="*/ 21 h 207"/>
                <a:gd name="T48" fmla="*/ 109 w 216"/>
                <a:gd name="T49" fmla="*/ 22 h 207"/>
                <a:gd name="T50" fmla="*/ 141 w 216"/>
                <a:gd name="T51" fmla="*/ 36 h 207"/>
                <a:gd name="T52" fmla="*/ 146 w 216"/>
                <a:gd name="T53" fmla="*/ 91 h 207"/>
                <a:gd name="T54" fmla="*/ 127 w 216"/>
                <a:gd name="T55" fmla="*/ 135 h 207"/>
                <a:gd name="T56" fmla="*/ 125 w 216"/>
                <a:gd name="T57" fmla="*/ 162 h 207"/>
                <a:gd name="T58" fmla="*/ 146 w 216"/>
                <a:gd name="T59" fmla="*/ 195 h 207"/>
                <a:gd name="T60" fmla="*/ 170 w 216"/>
                <a:gd name="T61" fmla="*/ 200 h 207"/>
                <a:gd name="T62" fmla="*/ 200 w 216"/>
                <a:gd name="T63" fmla="*/ 206 h 207"/>
                <a:gd name="T64" fmla="*/ 204 w 216"/>
                <a:gd name="T65" fmla="*/ 207 h 207"/>
                <a:gd name="T66" fmla="*/ 214 w 216"/>
                <a:gd name="T67" fmla="*/ 201 h 207"/>
                <a:gd name="T68" fmla="*/ 209 w 216"/>
                <a:gd name="T69" fmla="*/ 187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6" h="207">
                  <a:moveTo>
                    <a:pt x="209" y="187"/>
                  </a:moveTo>
                  <a:cubicBezTo>
                    <a:pt x="194" y="180"/>
                    <a:pt x="182" y="180"/>
                    <a:pt x="171" y="179"/>
                  </a:cubicBezTo>
                  <a:cubicBezTo>
                    <a:pt x="165" y="179"/>
                    <a:pt x="159" y="179"/>
                    <a:pt x="156" y="177"/>
                  </a:cubicBezTo>
                  <a:cubicBezTo>
                    <a:pt x="149" y="173"/>
                    <a:pt x="143" y="153"/>
                    <a:pt x="145" y="147"/>
                  </a:cubicBezTo>
                  <a:cubicBezTo>
                    <a:pt x="153" y="134"/>
                    <a:pt x="162" y="114"/>
                    <a:pt x="167" y="96"/>
                  </a:cubicBezTo>
                  <a:cubicBezTo>
                    <a:pt x="174" y="64"/>
                    <a:pt x="171" y="39"/>
                    <a:pt x="157" y="22"/>
                  </a:cubicBezTo>
                  <a:cubicBezTo>
                    <a:pt x="139" y="0"/>
                    <a:pt x="111" y="0"/>
                    <a:pt x="108" y="0"/>
                  </a:cubicBezTo>
                  <a:cubicBezTo>
                    <a:pt x="106" y="0"/>
                    <a:pt x="77" y="0"/>
                    <a:pt x="59" y="22"/>
                  </a:cubicBezTo>
                  <a:cubicBezTo>
                    <a:pt x="45" y="39"/>
                    <a:pt x="42" y="64"/>
                    <a:pt x="50" y="96"/>
                  </a:cubicBezTo>
                  <a:cubicBezTo>
                    <a:pt x="54" y="114"/>
                    <a:pt x="63" y="134"/>
                    <a:pt x="72" y="147"/>
                  </a:cubicBezTo>
                  <a:cubicBezTo>
                    <a:pt x="73" y="153"/>
                    <a:pt x="67" y="173"/>
                    <a:pt x="61" y="177"/>
                  </a:cubicBezTo>
                  <a:cubicBezTo>
                    <a:pt x="57" y="179"/>
                    <a:pt x="52" y="179"/>
                    <a:pt x="45" y="179"/>
                  </a:cubicBezTo>
                  <a:cubicBezTo>
                    <a:pt x="35" y="180"/>
                    <a:pt x="22" y="180"/>
                    <a:pt x="8" y="187"/>
                  </a:cubicBezTo>
                  <a:cubicBezTo>
                    <a:pt x="2" y="189"/>
                    <a:pt x="0" y="196"/>
                    <a:pt x="3" y="201"/>
                  </a:cubicBezTo>
                  <a:cubicBezTo>
                    <a:pt x="4" y="205"/>
                    <a:pt x="8" y="207"/>
                    <a:pt x="12" y="207"/>
                  </a:cubicBezTo>
                  <a:cubicBezTo>
                    <a:pt x="14" y="207"/>
                    <a:pt x="15" y="207"/>
                    <a:pt x="17" y="206"/>
                  </a:cubicBezTo>
                  <a:cubicBezTo>
                    <a:pt x="28" y="201"/>
                    <a:pt x="37" y="201"/>
                    <a:pt x="46" y="200"/>
                  </a:cubicBezTo>
                  <a:cubicBezTo>
                    <a:pt x="55" y="200"/>
                    <a:pt x="63" y="200"/>
                    <a:pt x="71" y="195"/>
                  </a:cubicBezTo>
                  <a:cubicBezTo>
                    <a:pt x="85" y="188"/>
                    <a:pt x="90" y="168"/>
                    <a:pt x="91" y="162"/>
                  </a:cubicBezTo>
                  <a:cubicBezTo>
                    <a:pt x="93" y="153"/>
                    <a:pt x="95" y="142"/>
                    <a:pt x="90" y="135"/>
                  </a:cubicBezTo>
                  <a:cubicBezTo>
                    <a:pt x="82" y="125"/>
                    <a:pt x="74" y="106"/>
                    <a:pt x="71" y="91"/>
                  </a:cubicBezTo>
                  <a:cubicBezTo>
                    <a:pt x="65" y="66"/>
                    <a:pt x="66" y="47"/>
                    <a:pt x="76" y="36"/>
                  </a:cubicBezTo>
                  <a:cubicBezTo>
                    <a:pt x="87" y="21"/>
                    <a:pt x="108" y="22"/>
                    <a:pt x="108" y="22"/>
                  </a:cubicBezTo>
                  <a:cubicBezTo>
                    <a:pt x="108" y="22"/>
                    <a:pt x="108" y="21"/>
                    <a:pt x="108" y="21"/>
                  </a:cubicBezTo>
                  <a:cubicBezTo>
                    <a:pt x="108" y="21"/>
                    <a:pt x="108" y="22"/>
                    <a:pt x="109" y="22"/>
                  </a:cubicBezTo>
                  <a:cubicBezTo>
                    <a:pt x="109" y="22"/>
                    <a:pt x="129" y="21"/>
                    <a:pt x="141" y="36"/>
                  </a:cubicBezTo>
                  <a:cubicBezTo>
                    <a:pt x="150" y="47"/>
                    <a:pt x="152" y="66"/>
                    <a:pt x="146" y="91"/>
                  </a:cubicBezTo>
                  <a:cubicBezTo>
                    <a:pt x="142" y="106"/>
                    <a:pt x="134" y="125"/>
                    <a:pt x="127" y="135"/>
                  </a:cubicBezTo>
                  <a:cubicBezTo>
                    <a:pt x="122" y="142"/>
                    <a:pt x="123" y="153"/>
                    <a:pt x="125" y="162"/>
                  </a:cubicBezTo>
                  <a:cubicBezTo>
                    <a:pt x="126" y="168"/>
                    <a:pt x="132" y="188"/>
                    <a:pt x="146" y="195"/>
                  </a:cubicBezTo>
                  <a:cubicBezTo>
                    <a:pt x="154" y="200"/>
                    <a:pt x="162" y="200"/>
                    <a:pt x="170" y="200"/>
                  </a:cubicBezTo>
                  <a:cubicBezTo>
                    <a:pt x="179" y="201"/>
                    <a:pt x="189" y="201"/>
                    <a:pt x="200" y="206"/>
                  </a:cubicBezTo>
                  <a:cubicBezTo>
                    <a:pt x="201" y="207"/>
                    <a:pt x="203" y="207"/>
                    <a:pt x="204" y="207"/>
                  </a:cubicBezTo>
                  <a:cubicBezTo>
                    <a:pt x="208" y="207"/>
                    <a:pt x="212" y="205"/>
                    <a:pt x="214" y="201"/>
                  </a:cubicBezTo>
                  <a:cubicBezTo>
                    <a:pt x="216" y="196"/>
                    <a:pt x="214" y="189"/>
                    <a:pt x="209" y="18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74" name="Freeform 752">
              <a:extLst>
                <a:ext uri="{FF2B5EF4-FFF2-40B4-BE49-F238E27FC236}">
                  <a16:creationId xmlns:a16="http://schemas.microsoft.com/office/drawing/2014/main" id="{C55B4E99-28B1-4010-A57A-808B85041EC5}"/>
                </a:ext>
              </a:extLst>
            </p:cNvPr>
            <p:cNvSpPr>
              <a:spLocks/>
            </p:cNvSpPr>
            <p:nvPr/>
          </p:nvSpPr>
          <p:spPr bwMode="auto">
            <a:xfrm>
              <a:off x="3702" y="2802"/>
              <a:ext cx="95" cy="111"/>
            </a:xfrm>
            <a:custGeom>
              <a:avLst/>
              <a:gdLst>
                <a:gd name="T0" fmla="*/ 136 w 143"/>
                <a:gd name="T1" fmla="*/ 147 h 167"/>
                <a:gd name="T2" fmla="*/ 109 w 143"/>
                <a:gd name="T3" fmla="*/ 139 h 167"/>
                <a:gd name="T4" fmla="*/ 95 w 143"/>
                <a:gd name="T5" fmla="*/ 136 h 167"/>
                <a:gd name="T6" fmla="*/ 89 w 143"/>
                <a:gd name="T7" fmla="*/ 118 h 167"/>
                <a:gd name="T8" fmla="*/ 106 w 143"/>
                <a:gd name="T9" fmla="*/ 78 h 167"/>
                <a:gd name="T10" fmla="*/ 99 w 143"/>
                <a:gd name="T11" fmla="*/ 20 h 167"/>
                <a:gd name="T12" fmla="*/ 56 w 143"/>
                <a:gd name="T13" fmla="*/ 1 h 167"/>
                <a:gd name="T14" fmla="*/ 14 w 143"/>
                <a:gd name="T15" fmla="*/ 20 h 167"/>
                <a:gd name="T16" fmla="*/ 6 w 143"/>
                <a:gd name="T17" fmla="*/ 78 h 167"/>
                <a:gd name="T18" fmla="*/ 24 w 143"/>
                <a:gd name="T19" fmla="*/ 118 h 167"/>
                <a:gd name="T20" fmla="*/ 18 w 143"/>
                <a:gd name="T21" fmla="*/ 136 h 167"/>
                <a:gd name="T22" fmla="*/ 16 w 143"/>
                <a:gd name="T23" fmla="*/ 151 h 167"/>
                <a:gd name="T24" fmla="*/ 24 w 143"/>
                <a:gd name="T25" fmla="*/ 155 h 167"/>
                <a:gd name="T26" fmla="*/ 31 w 143"/>
                <a:gd name="T27" fmla="*/ 153 h 167"/>
                <a:gd name="T28" fmla="*/ 41 w 143"/>
                <a:gd name="T29" fmla="*/ 107 h 167"/>
                <a:gd name="T30" fmla="*/ 27 w 143"/>
                <a:gd name="T31" fmla="*/ 73 h 167"/>
                <a:gd name="T32" fmla="*/ 31 w 143"/>
                <a:gd name="T33" fmla="*/ 33 h 167"/>
                <a:gd name="T34" fmla="*/ 56 w 143"/>
                <a:gd name="T35" fmla="*/ 22 h 167"/>
                <a:gd name="T36" fmla="*/ 82 w 143"/>
                <a:gd name="T37" fmla="*/ 33 h 167"/>
                <a:gd name="T38" fmla="*/ 86 w 143"/>
                <a:gd name="T39" fmla="*/ 73 h 167"/>
                <a:gd name="T40" fmla="*/ 71 w 143"/>
                <a:gd name="T41" fmla="*/ 107 h 167"/>
                <a:gd name="T42" fmla="*/ 82 w 143"/>
                <a:gd name="T43" fmla="*/ 153 h 167"/>
                <a:gd name="T44" fmla="*/ 83 w 143"/>
                <a:gd name="T45" fmla="*/ 154 h 167"/>
                <a:gd name="T46" fmla="*/ 106 w 143"/>
                <a:gd name="T47" fmla="*/ 160 h 167"/>
                <a:gd name="T48" fmla="*/ 125 w 143"/>
                <a:gd name="T49" fmla="*/ 165 h 167"/>
                <a:gd name="T50" fmla="*/ 131 w 143"/>
                <a:gd name="T51" fmla="*/ 167 h 167"/>
                <a:gd name="T52" fmla="*/ 140 w 143"/>
                <a:gd name="T53" fmla="*/ 162 h 167"/>
                <a:gd name="T54" fmla="*/ 136 w 143"/>
                <a:gd name="T55" fmla="*/ 14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3" h="167">
                  <a:moveTo>
                    <a:pt x="136" y="147"/>
                  </a:moveTo>
                  <a:cubicBezTo>
                    <a:pt x="128" y="142"/>
                    <a:pt x="118" y="140"/>
                    <a:pt x="109" y="139"/>
                  </a:cubicBezTo>
                  <a:cubicBezTo>
                    <a:pt x="104" y="138"/>
                    <a:pt x="98" y="137"/>
                    <a:pt x="95" y="136"/>
                  </a:cubicBezTo>
                  <a:cubicBezTo>
                    <a:pt x="89" y="131"/>
                    <a:pt x="88" y="121"/>
                    <a:pt x="89" y="118"/>
                  </a:cubicBezTo>
                  <a:cubicBezTo>
                    <a:pt x="96" y="109"/>
                    <a:pt x="103" y="93"/>
                    <a:pt x="106" y="78"/>
                  </a:cubicBezTo>
                  <a:cubicBezTo>
                    <a:pt x="112" y="53"/>
                    <a:pt x="110" y="34"/>
                    <a:pt x="99" y="20"/>
                  </a:cubicBezTo>
                  <a:cubicBezTo>
                    <a:pt x="83" y="0"/>
                    <a:pt x="58" y="1"/>
                    <a:pt x="56" y="1"/>
                  </a:cubicBezTo>
                  <a:cubicBezTo>
                    <a:pt x="54" y="1"/>
                    <a:pt x="30" y="0"/>
                    <a:pt x="14" y="20"/>
                  </a:cubicBezTo>
                  <a:cubicBezTo>
                    <a:pt x="3" y="34"/>
                    <a:pt x="0" y="53"/>
                    <a:pt x="6" y="78"/>
                  </a:cubicBezTo>
                  <a:cubicBezTo>
                    <a:pt x="10" y="93"/>
                    <a:pt x="17" y="109"/>
                    <a:pt x="24" y="118"/>
                  </a:cubicBezTo>
                  <a:cubicBezTo>
                    <a:pt x="25" y="121"/>
                    <a:pt x="24" y="132"/>
                    <a:pt x="18" y="136"/>
                  </a:cubicBezTo>
                  <a:cubicBezTo>
                    <a:pt x="13" y="140"/>
                    <a:pt x="12" y="146"/>
                    <a:pt x="16" y="151"/>
                  </a:cubicBezTo>
                  <a:cubicBezTo>
                    <a:pt x="18" y="154"/>
                    <a:pt x="21" y="155"/>
                    <a:pt x="24" y="155"/>
                  </a:cubicBezTo>
                  <a:cubicBezTo>
                    <a:pt x="26" y="155"/>
                    <a:pt x="29" y="155"/>
                    <a:pt x="31" y="153"/>
                  </a:cubicBezTo>
                  <a:cubicBezTo>
                    <a:pt x="45" y="142"/>
                    <a:pt x="49" y="118"/>
                    <a:pt x="41" y="107"/>
                  </a:cubicBezTo>
                  <a:cubicBezTo>
                    <a:pt x="36" y="99"/>
                    <a:pt x="30" y="85"/>
                    <a:pt x="27" y="73"/>
                  </a:cubicBezTo>
                  <a:cubicBezTo>
                    <a:pt x="23" y="55"/>
                    <a:pt x="24" y="42"/>
                    <a:pt x="31" y="33"/>
                  </a:cubicBezTo>
                  <a:cubicBezTo>
                    <a:pt x="39" y="22"/>
                    <a:pt x="55" y="22"/>
                    <a:pt x="56" y="22"/>
                  </a:cubicBezTo>
                  <a:cubicBezTo>
                    <a:pt x="58" y="22"/>
                    <a:pt x="73" y="22"/>
                    <a:pt x="82" y="33"/>
                  </a:cubicBezTo>
                  <a:cubicBezTo>
                    <a:pt x="89" y="42"/>
                    <a:pt x="90" y="55"/>
                    <a:pt x="86" y="73"/>
                  </a:cubicBezTo>
                  <a:cubicBezTo>
                    <a:pt x="83" y="85"/>
                    <a:pt x="77" y="99"/>
                    <a:pt x="71" y="107"/>
                  </a:cubicBezTo>
                  <a:cubicBezTo>
                    <a:pt x="63" y="118"/>
                    <a:pt x="67" y="142"/>
                    <a:pt x="82" y="153"/>
                  </a:cubicBezTo>
                  <a:cubicBezTo>
                    <a:pt x="82" y="153"/>
                    <a:pt x="83" y="154"/>
                    <a:pt x="83" y="154"/>
                  </a:cubicBezTo>
                  <a:cubicBezTo>
                    <a:pt x="90" y="158"/>
                    <a:pt x="98" y="159"/>
                    <a:pt x="106" y="160"/>
                  </a:cubicBezTo>
                  <a:cubicBezTo>
                    <a:pt x="113" y="161"/>
                    <a:pt x="121" y="162"/>
                    <a:pt x="125" y="165"/>
                  </a:cubicBezTo>
                  <a:cubicBezTo>
                    <a:pt x="127" y="166"/>
                    <a:pt x="129" y="167"/>
                    <a:pt x="131" y="167"/>
                  </a:cubicBezTo>
                  <a:cubicBezTo>
                    <a:pt x="134" y="167"/>
                    <a:pt x="138" y="165"/>
                    <a:pt x="140" y="162"/>
                  </a:cubicBezTo>
                  <a:cubicBezTo>
                    <a:pt x="143" y="157"/>
                    <a:pt x="141" y="150"/>
                    <a:pt x="136" y="14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78" name="Group 675">
            <a:extLst>
              <a:ext uri="{FF2B5EF4-FFF2-40B4-BE49-F238E27FC236}">
                <a16:creationId xmlns:a16="http://schemas.microsoft.com/office/drawing/2014/main" id="{A8F121B3-2D06-419B-830C-2C9340633A97}"/>
              </a:ext>
            </a:extLst>
          </p:cNvPr>
          <p:cNvGrpSpPr>
            <a:grpSpLocks/>
          </p:cNvGrpSpPr>
          <p:nvPr/>
        </p:nvGrpSpPr>
        <p:grpSpPr bwMode="auto">
          <a:xfrm>
            <a:off x="1064404" y="4376011"/>
            <a:ext cx="420624" cy="420623"/>
            <a:chOff x="6583" y="2681"/>
            <a:chExt cx="340" cy="340"/>
          </a:xfrm>
          <a:solidFill>
            <a:schemeClr val="bg1"/>
          </a:solidFill>
        </p:grpSpPr>
        <p:sp>
          <p:nvSpPr>
            <p:cNvPr id="79" name="Freeform 676">
              <a:extLst>
                <a:ext uri="{FF2B5EF4-FFF2-40B4-BE49-F238E27FC236}">
                  <a16:creationId xmlns:a16="http://schemas.microsoft.com/office/drawing/2014/main" id="{33B1DC75-3A5E-43A3-8F8D-0A0C4A93E0E6}"/>
                </a:ext>
              </a:extLst>
            </p:cNvPr>
            <p:cNvSpPr>
              <a:spLocks noEditPoints="1"/>
            </p:cNvSpPr>
            <p:nvPr/>
          </p:nvSpPr>
          <p:spPr bwMode="auto">
            <a:xfrm>
              <a:off x="6583" y="268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0" name="Freeform 677">
              <a:extLst>
                <a:ext uri="{FF2B5EF4-FFF2-40B4-BE49-F238E27FC236}">
                  <a16:creationId xmlns:a16="http://schemas.microsoft.com/office/drawing/2014/main" id="{B91D4872-8794-40A7-81BA-44B82F726A16}"/>
                </a:ext>
              </a:extLst>
            </p:cNvPr>
            <p:cNvSpPr>
              <a:spLocks noEditPoints="1"/>
            </p:cNvSpPr>
            <p:nvPr/>
          </p:nvSpPr>
          <p:spPr bwMode="auto">
            <a:xfrm>
              <a:off x="6672" y="2741"/>
              <a:ext cx="162" cy="224"/>
            </a:xfrm>
            <a:custGeom>
              <a:avLst/>
              <a:gdLst>
                <a:gd name="T0" fmla="*/ 233 w 244"/>
                <a:gd name="T1" fmla="*/ 122 h 336"/>
                <a:gd name="T2" fmla="*/ 241 w 244"/>
                <a:gd name="T3" fmla="*/ 90 h 336"/>
                <a:gd name="T4" fmla="*/ 218 w 244"/>
                <a:gd name="T5" fmla="*/ 67 h 336"/>
                <a:gd name="T6" fmla="*/ 209 w 244"/>
                <a:gd name="T7" fmla="*/ 35 h 336"/>
                <a:gd name="T8" fmla="*/ 177 w 244"/>
                <a:gd name="T9" fmla="*/ 26 h 336"/>
                <a:gd name="T10" fmla="*/ 154 w 244"/>
                <a:gd name="T11" fmla="*/ 2 h 336"/>
                <a:gd name="T12" fmla="*/ 122 w 244"/>
                <a:gd name="T13" fmla="*/ 11 h 336"/>
                <a:gd name="T14" fmla="*/ 90 w 244"/>
                <a:gd name="T15" fmla="*/ 2 h 336"/>
                <a:gd name="T16" fmla="*/ 66 w 244"/>
                <a:gd name="T17" fmla="*/ 26 h 336"/>
                <a:gd name="T18" fmla="*/ 34 w 244"/>
                <a:gd name="T19" fmla="*/ 35 h 336"/>
                <a:gd name="T20" fmla="*/ 26 w 244"/>
                <a:gd name="T21" fmla="*/ 67 h 336"/>
                <a:gd name="T22" fmla="*/ 2 w 244"/>
                <a:gd name="T23" fmla="*/ 90 h 336"/>
                <a:gd name="T24" fmla="*/ 11 w 244"/>
                <a:gd name="T25" fmla="*/ 122 h 336"/>
                <a:gd name="T26" fmla="*/ 2 w 244"/>
                <a:gd name="T27" fmla="*/ 154 h 336"/>
                <a:gd name="T28" fmla="*/ 26 w 244"/>
                <a:gd name="T29" fmla="*/ 177 h 336"/>
                <a:gd name="T30" fmla="*/ 34 w 244"/>
                <a:gd name="T31" fmla="*/ 209 h 336"/>
                <a:gd name="T32" fmla="*/ 58 w 244"/>
                <a:gd name="T33" fmla="*/ 217 h 336"/>
                <a:gd name="T34" fmla="*/ 63 w 244"/>
                <a:gd name="T35" fmla="*/ 334 h 336"/>
                <a:gd name="T36" fmla="*/ 122 w 244"/>
                <a:gd name="T37" fmla="*/ 305 h 336"/>
                <a:gd name="T38" fmla="*/ 175 w 244"/>
                <a:gd name="T39" fmla="*/ 335 h 336"/>
                <a:gd name="T40" fmla="*/ 186 w 244"/>
                <a:gd name="T41" fmla="*/ 325 h 336"/>
                <a:gd name="T42" fmla="*/ 186 w 244"/>
                <a:gd name="T43" fmla="*/ 217 h 336"/>
                <a:gd name="T44" fmla="*/ 217 w 244"/>
                <a:gd name="T45" fmla="*/ 187 h 336"/>
                <a:gd name="T46" fmla="*/ 225 w 244"/>
                <a:gd name="T47" fmla="*/ 172 h 336"/>
                <a:gd name="T48" fmla="*/ 236 w 244"/>
                <a:gd name="T49" fmla="*/ 131 h 336"/>
                <a:gd name="T50" fmla="*/ 116 w 244"/>
                <a:gd name="T51" fmla="*/ 284 h 336"/>
                <a:gd name="T52" fmla="*/ 79 w 244"/>
                <a:gd name="T53" fmla="*/ 235 h 336"/>
                <a:gd name="T54" fmla="*/ 95 w 244"/>
                <a:gd name="T55" fmla="*/ 242 h 336"/>
                <a:gd name="T56" fmla="*/ 122 w 244"/>
                <a:gd name="T57" fmla="*/ 233 h 336"/>
                <a:gd name="T58" fmla="*/ 154 w 244"/>
                <a:gd name="T59" fmla="*/ 242 h 336"/>
                <a:gd name="T60" fmla="*/ 164 w 244"/>
                <a:gd name="T61" fmla="*/ 306 h 336"/>
                <a:gd name="T62" fmla="*/ 213 w 244"/>
                <a:gd name="T63" fmla="*/ 154 h 336"/>
                <a:gd name="T64" fmla="*/ 195 w 244"/>
                <a:gd name="T65" fmla="*/ 185 h 336"/>
                <a:gd name="T66" fmla="*/ 185 w 244"/>
                <a:gd name="T67" fmla="*/ 195 h 336"/>
                <a:gd name="T68" fmla="*/ 154 w 244"/>
                <a:gd name="T69" fmla="*/ 212 h 336"/>
                <a:gd name="T70" fmla="*/ 148 w 244"/>
                <a:gd name="T71" fmla="*/ 218 h 336"/>
                <a:gd name="T72" fmla="*/ 122 w 244"/>
                <a:gd name="T73" fmla="*/ 212 h 336"/>
                <a:gd name="T74" fmla="*/ 95 w 244"/>
                <a:gd name="T75" fmla="*/ 221 h 336"/>
                <a:gd name="T76" fmla="*/ 77 w 244"/>
                <a:gd name="T77" fmla="*/ 200 h 336"/>
                <a:gd name="T78" fmla="*/ 49 w 244"/>
                <a:gd name="T79" fmla="*/ 195 h 336"/>
                <a:gd name="T80" fmla="*/ 44 w 244"/>
                <a:gd name="T81" fmla="*/ 167 h 336"/>
                <a:gd name="T82" fmla="*/ 23 w 244"/>
                <a:gd name="T83" fmla="*/ 149 h 336"/>
                <a:gd name="T84" fmla="*/ 32 w 244"/>
                <a:gd name="T85" fmla="*/ 122 h 336"/>
                <a:gd name="T86" fmla="*/ 23 w 244"/>
                <a:gd name="T87" fmla="*/ 96 h 336"/>
                <a:gd name="T88" fmla="*/ 44 w 244"/>
                <a:gd name="T89" fmla="*/ 77 h 336"/>
                <a:gd name="T90" fmla="*/ 49 w 244"/>
                <a:gd name="T91" fmla="*/ 50 h 336"/>
                <a:gd name="T92" fmla="*/ 77 w 244"/>
                <a:gd name="T93" fmla="*/ 45 h 336"/>
                <a:gd name="T94" fmla="*/ 95 w 244"/>
                <a:gd name="T95" fmla="*/ 26 h 336"/>
                <a:gd name="T96" fmla="*/ 103 w 244"/>
                <a:gd name="T97" fmla="*/ 28 h 336"/>
                <a:gd name="T98" fmla="*/ 140 w 244"/>
                <a:gd name="T99" fmla="*/ 27 h 336"/>
                <a:gd name="T100" fmla="*/ 154 w 244"/>
                <a:gd name="T101" fmla="*/ 30 h 336"/>
                <a:gd name="T102" fmla="*/ 185 w 244"/>
                <a:gd name="T103" fmla="*/ 48 h 336"/>
                <a:gd name="T104" fmla="*/ 195 w 244"/>
                <a:gd name="T105" fmla="*/ 59 h 336"/>
                <a:gd name="T106" fmla="*/ 213 w 244"/>
                <a:gd name="T107" fmla="*/ 90 h 336"/>
                <a:gd name="T108" fmla="*/ 217 w 244"/>
                <a:gd name="T109" fmla="*/ 104 h 336"/>
                <a:gd name="T110" fmla="*/ 217 w 244"/>
                <a:gd name="T111" fmla="*/ 140 h 336"/>
                <a:gd name="T112" fmla="*/ 213 w 244"/>
                <a:gd name="T113" fmla="*/ 154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44" h="336">
                  <a:moveTo>
                    <a:pt x="236" y="131"/>
                  </a:moveTo>
                  <a:cubicBezTo>
                    <a:pt x="235" y="128"/>
                    <a:pt x="233" y="124"/>
                    <a:pt x="233" y="122"/>
                  </a:cubicBezTo>
                  <a:cubicBezTo>
                    <a:pt x="233" y="120"/>
                    <a:pt x="235" y="116"/>
                    <a:pt x="236" y="113"/>
                  </a:cubicBezTo>
                  <a:cubicBezTo>
                    <a:pt x="239" y="107"/>
                    <a:pt x="244" y="99"/>
                    <a:pt x="241" y="90"/>
                  </a:cubicBezTo>
                  <a:cubicBezTo>
                    <a:pt x="239" y="81"/>
                    <a:pt x="231" y="76"/>
                    <a:pt x="225" y="72"/>
                  </a:cubicBezTo>
                  <a:cubicBezTo>
                    <a:pt x="222" y="70"/>
                    <a:pt x="219" y="68"/>
                    <a:pt x="218" y="67"/>
                  </a:cubicBezTo>
                  <a:cubicBezTo>
                    <a:pt x="217" y="65"/>
                    <a:pt x="217" y="61"/>
                    <a:pt x="217" y="57"/>
                  </a:cubicBezTo>
                  <a:cubicBezTo>
                    <a:pt x="216" y="50"/>
                    <a:pt x="216" y="41"/>
                    <a:pt x="209" y="35"/>
                  </a:cubicBezTo>
                  <a:cubicBezTo>
                    <a:pt x="203" y="28"/>
                    <a:pt x="194" y="28"/>
                    <a:pt x="186" y="27"/>
                  </a:cubicBezTo>
                  <a:cubicBezTo>
                    <a:pt x="183" y="27"/>
                    <a:pt x="179" y="27"/>
                    <a:pt x="177" y="26"/>
                  </a:cubicBezTo>
                  <a:cubicBezTo>
                    <a:pt x="176" y="25"/>
                    <a:pt x="173" y="21"/>
                    <a:pt x="172" y="19"/>
                  </a:cubicBezTo>
                  <a:cubicBezTo>
                    <a:pt x="168" y="13"/>
                    <a:pt x="163" y="5"/>
                    <a:pt x="154" y="2"/>
                  </a:cubicBezTo>
                  <a:cubicBezTo>
                    <a:pt x="145" y="0"/>
                    <a:pt x="137" y="4"/>
                    <a:pt x="130" y="8"/>
                  </a:cubicBezTo>
                  <a:cubicBezTo>
                    <a:pt x="128" y="9"/>
                    <a:pt x="123" y="11"/>
                    <a:pt x="122" y="11"/>
                  </a:cubicBezTo>
                  <a:cubicBezTo>
                    <a:pt x="120" y="11"/>
                    <a:pt x="116" y="9"/>
                    <a:pt x="113" y="8"/>
                  </a:cubicBezTo>
                  <a:cubicBezTo>
                    <a:pt x="106" y="4"/>
                    <a:pt x="98" y="0"/>
                    <a:pt x="90" y="2"/>
                  </a:cubicBezTo>
                  <a:cubicBezTo>
                    <a:pt x="81" y="5"/>
                    <a:pt x="76" y="13"/>
                    <a:pt x="72" y="19"/>
                  </a:cubicBezTo>
                  <a:cubicBezTo>
                    <a:pt x="70" y="21"/>
                    <a:pt x="68" y="25"/>
                    <a:pt x="66" y="26"/>
                  </a:cubicBezTo>
                  <a:cubicBezTo>
                    <a:pt x="65" y="27"/>
                    <a:pt x="60" y="27"/>
                    <a:pt x="57" y="27"/>
                  </a:cubicBezTo>
                  <a:cubicBezTo>
                    <a:pt x="50" y="28"/>
                    <a:pt x="41" y="28"/>
                    <a:pt x="34" y="35"/>
                  </a:cubicBezTo>
                  <a:cubicBezTo>
                    <a:pt x="28" y="41"/>
                    <a:pt x="27" y="50"/>
                    <a:pt x="27" y="57"/>
                  </a:cubicBezTo>
                  <a:cubicBezTo>
                    <a:pt x="27" y="61"/>
                    <a:pt x="26" y="65"/>
                    <a:pt x="26" y="67"/>
                  </a:cubicBezTo>
                  <a:cubicBezTo>
                    <a:pt x="25" y="68"/>
                    <a:pt x="21" y="70"/>
                    <a:pt x="18" y="72"/>
                  </a:cubicBezTo>
                  <a:cubicBezTo>
                    <a:pt x="12" y="76"/>
                    <a:pt x="5" y="81"/>
                    <a:pt x="2" y="90"/>
                  </a:cubicBezTo>
                  <a:cubicBezTo>
                    <a:pt x="0" y="99"/>
                    <a:pt x="4" y="107"/>
                    <a:pt x="7" y="113"/>
                  </a:cubicBezTo>
                  <a:cubicBezTo>
                    <a:pt x="9" y="116"/>
                    <a:pt x="11" y="120"/>
                    <a:pt x="11" y="122"/>
                  </a:cubicBezTo>
                  <a:cubicBezTo>
                    <a:pt x="11" y="124"/>
                    <a:pt x="9" y="128"/>
                    <a:pt x="7" y="131"/>
                  </a:cubicBezTo>
                  <a:cubicBezTo>
                    <a:pt x="4" y="137"/>
                    <a:pt x="0" y="145"/>
                    <a:pt x="2" y="154"/>
                  </a:cubicBezTo>
                  <a:cubicBezTo>
                    <a:pt x="5" y="163"/>
                    <a:pt x="12" y="168"/>
                    <a:pt x="18" y="172"/>
                  </a:cubicBezTo>
                  <a:cubicBezTo>
                    <a:pt x="21" y="174"/>
                    <a:pt x="25" y="176"/>
                    <a:pt x="26" y="177"/>
                  </a:cubicBezTo>
                  <a:cubicBezTo>
                    <a:pt x="26" y="179"/>
                    <a:pt x="27" y="183"/>
                    <a:pt x="27" y="187"/>
                  </a:cubicBezTo>
                  <a:cubicBezTo>
                    <a:pt x="27" y="194"/>
                    <a:pt x="28" y="203"/>
                    <a:pt x="34" y="209"/>
                  </a:cubicBezTo>
                  <a:cubicBezTo>
                    <a:pt x="41" y="216"/>
                    <a:pt x="50" y="216"/>
                    <a:pt x="57" y="217"/>
                  </a:cubicBezTo>
                  <a:cubicBezTo>
                    <a:pt x="57" y="217"/>
                    <a:pt x="57" y="217"/>
                    <a:pt x="58" y="217"/>
                  </a:cubicBezTo>
                  <a:cubicBezTo>
                    <a:pt x="58" y="325"/>
                    <a:pt x="58" y="325"/>
                    <a:pt x="58" y="325"/>
                  </a:cubicBezTo>
                  <a:cubicBezTo>
                    <a:pt x="58" y="329"/>
                    <a:pt x="60" y="332"/>
                    <a:pt x="63" y="334"/>
                  </a:cubicBezTo>
                  <a:cubicBezTo>
                    <a:pt x="66" y="336"/>
                    <a:pt x="71" y="336"/>
                    <a:pt x="74" y="334"/>
                  </a:cubicBezTo>
                  <a:cubicBezTo>
                    <a:pt x="122" y="305"/>
                    <a:pt x="122" y="305"/>
                    <a:pt x="122" y="305"/>
                  </a:cubicBezTo>
                  <a:cubicBezTo>
                    <a:pt x="170" y="334"/>
                    <a:pt x="170" y="334"/>
                    <a:pt x="170" y="334"/>
                  </a:cubicBezTo>
                  <a:cubicBezTo>
                    <a:pt x="171" y="335"/>
                    <a:pt x="173" y="335"/>
                    <a:pt x="175" y="335"/>
                  </a:cubicBezTo>
                  <a:cubicBezTo>
                    <a:pt x="177" y="335"/>
                    <a:pt x="179" y="335"/>
                    <a:pt x="180" y="334"/>
                  </a:cubicBezTo>
                  <a:cubicBezTo>
                    <a:pt x="184" y="332"/>
                    <a:pt x="186" y="329"/>
                    <a:pt x="186" y="325"/>
                  </a:cubicBezTo>
                  <a:cubicBezTo>
                    <a:pt x="186" y="217"/>
                    <a:pt x="186" y="217"/>
                    <a:pt x="186" y="217"/>
                  </a:cubicBezTo>
                  <a:cubicBezTo>
                    <a:pt x="186" y="217"/>
                    <a:pt x="186" y="217"/>
                    <a:pt x="186" y="217"/>
                  </a:cubicBezTo>
                  <a:cubicBezTo>
                    <a:pt x="194" y="216"/>
                    <a:pt x="203" y="216"/>
                    <a:pt x="209" y="209"/>
                  </a:cubicBezTo>
                  <a:cubicBezTo>
                    <a:pt x="216" y="203"/>
                    <a:pt x="216" y="194"/>
                    <a:pt x="217" y="187"/>
                  </a:cubicBezTo>
                  <a:cubicBezTo>
                    <a:pt x="217" y="183"/>
                    <a:pt x="217" y="179"/>
                    <a:pt x="218" y="177"/>
                  </a:cubicBezTo>
                  <a:cubicBezTo>
                    <a:pt x="219" y="176"/>
                    <a:pt x="222" y="174"/>
                    <a:pt x="225" y="172"/>
                  </a:cubicBezTo>
                  <a:cubicBezTo>
                    <a:pt x="231" y="168"/>
                    <a:pt x="239" y="163"/>
                    <a:pt x="241" y="154"/>
                  </a:cubicBezTo>
                  <a:cubicBezTo>
                    <a:pt x="244" y="145"/>
                    <a:pt x="239" y="137"/>
                    <a:pt x="236" y="131"/>
                  </a:cubicBezTo>
                  <a:close/>
                  <a:moveTo>
                    <a:pt x="127" y="284"/>
                  </a:moveTo>
                  <a:cubicBezTo>
                    <a:pt x="124" y="282"/>
                    <a:pt x="120" y="282"/>
                    <a:pt x="116" y="284"/>
                  </a:cubicBezTo>
                  <a:cubicBezTo>
                    <a:pt x="79" y="306"/>
                    <a:pt x="79" y="306"/>
                    <a:pt x="79" y="306"/>
                  </a:cubicBezTo>
                  <a:cubicBezTo>
                    <a:pt x="79" y="235"/>
                    <a:pt x="79" y="235"/>
                    <a:pt x="79" y="235"/>
                  </a:cubicBezTo>
                  <a:cubicBezTo>
                    <a:pt x="82" y="238"/>
                    <a:pt x="85" y="240"/>
                    <a:pt x="90" y="242"/>
                  </a:cubicBezTo>
                  <a:cubicBezTo>
                    <a:pt x="91" y="242"/>
                    <a:pt x="93" y="242"/>
                    <a:pt x="95" y="242"/>
                  </a:cubicBezTo>
                  <a:cubicBezTo>
                    <a:pt x="102" y="242"/>
                    <a:pt x="108" y="239"/>
                    <a:pt x="113" y="236"/>
                  </a:cubicBezTo>
                  <a:cubicBezTo>
                    <a:pt x="116" y="235"/>
                    <a:pt x="120" y="233"/>
                    <a:pt x="122" y="233"/>
                  </a:cubicBezTo>
                  <a:cubicBezTo>
                    <a:pt x="123" y="233"/>
                    <a:pt x="128" y="235"/>
                    <a:pt x="130" y="236"/>
                  </a:cubicBezTo>
                  <a:cubicBezTo>
                    <a:pt x="137" y="240"/>
                    <a:pt x="145" y="244"/>
                    <a:pt x="154" y="242"/>
                  </a:cubicBezTo>
                  <a:cubicBezTo>
                    <a:pt x="158" y="240"/>
                    <a:pt x="161" y="238"/>
                    <a:pt x="164" y="235"/>
                  </a:cubicBezTo>
                  <a:cubicBezTo>
                    <a:pt x="164" y="306"/>
                    <a:pt x="164" y="306"/>
                    <a:pt x="164" y="306"/>
                  </a:cubicBezTo>
                  <a:lnTo>
                    <a:pt x="127" y="284"/>
                  </a:lnTo>
                  <a:close/>
                  <a:moveTo>
                    <a:pt x="213" y="154"/>
                  </a:moveTo>
                  <a:cubicBezTo>
                    <a:pt x="208" y="157"/>
                    <a:pt x="203" y="161"/>
                    <a:pt x="199" y="167"/>
                  </a:cubicBezTo>
                  <a:cubicBezTo>
                    <a:pt x="196" y="173"/>
                    <a:pt x="196" y="179"/>
                    <a:pt x="195" y="185"/>
                  </a:cubicBezTo>
                  <a:cubicBezTo>
                    <a:pt x="195" y="188"/>
                    <a:pt x="195" y="193"/>
                    <a:pt x="194" y="194"/>
                  </a:cubicBezTo>
                  <a:cubicBezTo>
                    <a:pt x="193" y="195"/>
                    <a:pt x="188" y="195"/>
                    <a:pt x="185" y="195"/>
                  </a:cubicBezTo>
                  <a:cubicBezTo>
                    <a:pt x="179" y="195"/>
                    <a:pt x="172" y="195"/>
                    <a:pt x="166" y="199"/>
                  </a:cubicBezTo>
                  <a:cubicBezTo>
                    <a:pt x="161" y="202"/>
                    <a:pt x="157" y="207"/>
                    <a:pt x="154" y="212"/>
                  </a:cubicBezTo>
                  <a:cubicBezTo>
                    <a:pt x="152" y="215"/>
                    <a:pt x="149" y="218"/>
                    <a:pt x="148" y="218"/>
                  </a:cubicBezTo>
                  <a:cubicBezTo>
                    <a:pt x="148" y="218"/>
                    <a:pt x="148" y="218"/>
                    <a:pt x="148" y="218"/>
                  </a:cubicBezTo>
                  <a:cubicBezTo>
                    <a:pt x="147" y="218"/>
                    <a:pt x="143" y="217"/>
                    <a:pt x="140" y="216"/>
                  </a:cubicBezTo>
                  <a:cubicBezTo>
                    <a:pt x="135" y="213"/>
                    <a:pt x="129" y="212"/>
                    <a:pt x="122" y="212"/>
                  </a:cubicBezTo>
                  <a:cubicBezTo>
                    <a:pt x="115" y="212"/>
                    <a:pt x="109" y="215"/>
                    <a:pt x="103" y="217"/>
                  </a:cubicBezTo>
                  <a:cubicBezTo>
                    <a:pt x="101" y="219"/>
                    <a:pt x="96" y="221"/>
                    <a:pt x="95" y="221"/>
                  </a:cubicBezTo>
                  <a:cubicBezTo>
                    <a:pt x="94" y="220"/>
                    <a:pt x="91" y="216"/>
                    <a:pt x="90" y="214"/>
                  </a:cubicBezTo>
                  <a:cubicBezTo>
                    <a:pt x="86" y="209"/>
                    <a:pt x="83" y="203"/>
                    <a:pt x="77" y="200"/>
                  </a:cubicBezTo>
                  <a:cubicBezTo>
                    <a:pt x="71" y="196"/>
                    <a:pt x="64" y="196"/>
                    <a:pt x="58" y="196"/>
                  </a:cubicBezTo>
                  <a:cubicBezTo>
                    <a:pt x="55" y="195"/>
                    <a:pt x="50" y="195"/>
                    <a:pt x="49" y="195"/>
                  </a:cubicBezTo>
                  <a:cubicBezTo>
                    <a:pt x="49" y="193"/>
                    <a:pt x="48" y="188"/>
                    <a:pt x="48" y="185"/>
                  </a:cubicBezTo>
                  <a:cubicBezTo>
                    <a:pt x="48" y="179"/>
                    <a:pt x="47" y="173"/>
                    <a:pt x="44" y="167"/>
                  </a:cubicBezTo>
                  <a:cubicBezTo>
                    <a:pt x="41" y="161"/>
                    <a:pt x="35" y="157"/>
                    <a:pt x="30" y="154"/>
                  </a:cubicBezTo>
                  <a:cubicBezTo>
                    <a:pt x="28" y="152"/>
                    <a:pt x="23" y="150"/>
                    <a:pt x="23" y="149"/>
                  </a:cubicBezTo>
                  <a:cubicBezTo>
                    <a:pt x="23" y="147"/>
                    <a:pt x="25" y="143"/>
                    <a:pt x="26" y="140"/>
                  </a:cubicBezTo>
                  <a:cubicBezTo>
                    <a:pt x="29" y="135"/>
                    <a:pt x="32" y="129"/>
                    <a:pt x="32" y="122"/>
                  </a:cubicBezTo>
                  <a:cubicBezTo>
                    <a:pt x="32" y="115"/>
                    <a:pt x="29" y="109"/>
                    <a:pt x="26" y="104"/>
                  </a:cubicBezTo>
                  <a:cubicBezTo>
                    <a:pt x="25" y="101"/>
                    <a:pt x="23" y="97"/>
                    <a:pt x="23" y="96"/>
                  </a:cubicBezTo>
                  <a:cubicBezTo>
                    <a:pt x="23" y="94"/>
                    <a:pt x="28" y="92"/>
                    <a:pt x="30" y="90"/>
                  </a:cubicBezTo>
                  <a:cubicBezTo>
                    <a:pt x="35" y="87"/>
                    <a:pt x="41" y="83"/>
                    <a:pt x="44" y="77"/>
                  </a:cubicBezTo>
                  <a:cubicBezTo>
                    <a:pt x="47" y="71"/>
                    <a:pt x="48" y="65"/>
                    <a:pt x="48" y="59"/>
                  </a:cubicBezTo>
                  <a:cubicBezTo>
                    <a:pt x="48" y="56"/>
                    <a:pt x="49" y="51"/>
                    <a:pt x="49" y="50"/>
                  </a:cubicBezTo>
                  <a:cubicBezTo>
                    <a:pt x="50" y="49"/>
                    <a:pt x="55" y="49"/>
                    <a:pt x="58" y="49"/>
                  </a:cubicBezTo>
                  <a:cubicBezTo>
                    <a:pt x="64" y="49"/>
                    <a:pt x="71" y="49"/>
                    <a:pt x="77" y="45"/>
                  </a:cubicBezTo>
                  <a:cubicBezTo>
                    <a:pt x="83" y="42"/>
                    <a:pt x="86" y="37"/>
                    <a:pt x="90" y="32"/>
                  </a:cubicBezTo>
                  <a:cubicBezTo>
                    <a:pt x="91" y="29"/>
                    <a:pt x="94" y="26"/>
                    <a:pt x="95" y="26"/>
                  </a:cubicBezTo>
                  <a:cubicBezTo>
                    <a:pt x="95" y="26"/>
                    <a:pt x="95" y="26"/>
                    <a:pt x="95" y="26"/>
                  </a:cubicBezTo>
                  <a:cubicBezTo>
                    <a:pt x="96" y="26"/>
                    <a:pt x="101" y="27"/>
                    <a:pt x="103" y="28"/>
                  </a:cubicBezTo>
                  <a:cubicBezTo>
                    <a:pt x="109" y="31"/>
                    <a:pt x="115" y="32"/>
                    <a:pt x="122" y="32"/>
                  </a:cubicBezTo>
                  <a:cubicBezTo>
                    <a:pt x="129" y="32"/>
                    <a:pt x="135" y="29"/>
                    <a:pt x="140" y="27"/>
                  </a:cubicBezTo>
                  <a:cubicBezTo>
                    <a:pt x="143" y="25"/>
                    <a:pt x="147" y="23"/>
                    <a:pt x="148" y="23"/>
                  </a:cubicBezTo>
                  <a:cubicBezTo>
                    <a:pt x="149" y="24"/>
                    <a:pt x="152" y="28"/>
                    <a:pt x="154" y="30"/>
                  </a:cubicBezTo>
                  <a:cubicBezTo>
                    <a:pt x="157" y="35"/>
                    <a:pt x="161" y="41"/>
                    <a:pt x="166" y="44"/>
                  </a:cubicBezTo>
                  <a:cubicBezTo>
                    <a:pt x="172" y="48"/>
                    <a:pt x="179" y="48"/>
                    <a:pt x="185" y="48"/>
                  </a:cubicBezTo>
                  <a:cubicBezTo>
                    <a:pt x="188" y="49"/>
                    <a:pt x="193" y="49"/>
                    <a:pt x="194" y="49"/>
                  </a:cubicBezTo>
                  <a:cubicBezTo>
                    <a:pt x="195" y="51"/>
                    <a:pt x="195" y="56"/>
                    <a:pt x="195" y="59"/>
                  </a:cubicBezTo>
                  <a:cubicBezTo>
                    <a:pt x="196" y="65"/>
                    <a:pt x="196" y="71"/>
                    <a:pt x="199" y="77"/>
                  </a:cubicBezTo>
                  <a:cubicBezTo>
                    <a:pt x="203" y="83"/>
                    <a:pt x="208" y="87"/>
                    <a:pt x="213" y="90"/>
                  </a:cubicBezTo>
                  <a:cubicBezTo>
                    <a:pt x="216" y="92"/>
                    <a:pt x="220" y="94"/>
                    <a:pt x="221" y="95"/>
                  </a:cubicBezTo>
                  <a:cubicBezTo>
                    <a:pt x="221" y="97"/>
                    <a:pt x="218" y="101"/>
                    <a:pt x="217" y="104"/>
                  </a:cubicBezTo>
                  <a:cubicBezTo>
                    <a:pt x="214" y="109"/>
                    <a:pt x="211" y="115"/>
                    <a:pt x="211" y="122"/>
                  </a:cubicBezTo>
                  <a:cubicBezTo>
                    <a:pt x="211" y="129"/>
                    <a:pt x="214" y="135"/>
                    <a:pt x="217" y="140"/>
                  </a:cubicBezTo>
                  <a:cubicBezTo>
                    <a:pt x="218" y="143"/>
                    <a:pt x="221" y="147"/>
                    <a:pt x="221" y="148"/>
                  </a:cubicBezTo>
                  <a:cubicBezTo>
                    <a:pt x="220" y="150"/>
                    <a:pt x="216" y="152"/>
                    <a:pt x="213" y="15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81" name="Freeform 678">
              <a:extLst>
                <a:ext uri="{FF2B5EF4-FFF2-40B4-BE49-F238E27FC236}">
                  <a16:creationId xmlns:a16="http://schemas.microsoft.com/office/drawing/2014/main" id="{3BA6AEF4-7C9B-4252-B88C-CD7BDBF5606E}"/>
                </a:ext>
              </a:extLst>
            </p:cNvPr>
            <p:cNvSpPr>
              <a:spLocks noEditPoints="1"/>
            </p:cNvSpPr>
            <p:nvPr/>
          </p:nvSpPr>
          <p:spPr bwMode="auto">
            <a:xfrm>
              <a:off x="6717" y="2787"/>
              <a:ext cx="71" cy="71"/>
            </a:xfrm>
            <a:custGeom>
              <a:avLst/>
              <a:gdLst>
                <a:gd name="T0" fmla="*/ 54 w 107"/>
                <a:gd name="T1" fmla="*/ 0 h 106"/>
                <a:gd name="T2" fmla="*/ 0 w 107"/>
                <a:gd name="T3" fmla="*/ 53 h 106"/>
                <a:gd name="T4" fmla="*/ 54 w 107"/>
                <a:gd name="T5" fmla="*/ 106 h 106"/>
                <a:gd name="T6" fmla="*/ 107 w 107"/>
                <a:gd name="T7" fmla="*/ 53 h 106"/>
                <a:gd name="T8" fmla="*/ 54 w 107"/>
                <a:gd name="T9" fmla="*/ 0 h 106"/>
                <a:gd name="T10" fmla="*/ 54 w 107"/>
                <a:gd name="T11" fmla="*/ 85 h 106"/>
                <a:gd name="T12" fmla="*/ 22 w 107"/>
                <a:gd name="T13" fmla="*/ 53 h 106"/>
                <a:gd name="T14" fmla="*/ 54 w 107"/>
                <a:gd name="T15" fmla="*/ 21 h 106"/>
                <a:gd name="T16" fmla="*/ 86 w 107"/>
                <a:gd name="T17" fmla="*/ 53 h 106"/>
                <a:gd name="T18" fmla="*/ 54 w 107"/>
                <a:gd name="T19" fmla="*/ 85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 h="106">
                  <a:moveTo>
                    <a:pt x="54" y="0"/>
                  </a:moveTo>
                  <a:cubicBezTo>
                    <a:pt x="24" y="0"/>
                    <a:pt x="0" y="24"/>
                    <a:pt x="0" y="53"/>
                  </a:cubicBezTo>
                  <a:cubicBezTo>
                    <a:pt x="0" y="82"/>
                    <a:pt x="24" y="106"/>
                    <a:pt x="54" y="106"/>
                  </a:cubicBezTo>
                  <a:cubicBezTo>
                    <a:pt x="83" y="106"/>
                    <a:pt x="107" y="82"/>
                    <a:pt x="107" y="53"/>
                  </a:cubicBezTo>
                  <a:cubicBezTo>
                    <a:pt x="107" y="24"/>
                    <a:pt x="83" y="0"/>
                    <a:pt x="54" y="0"/>
                  </a:cubicBezTo>
                  <a:close/>
                  <a:moveTo>
                    <a:pt x="54" y="85"/>
                  </a:moveTo>
                  <a:cubicBezTo>
                    <a:pt x="36" y="85"/>
                    <a:pt x="22" y="71"/>
                    <a:pt x="22" y="53"/>
                  </a:cubicBezTo>
                  <a:cubicBezTo>
                    <a:pt x="22" y="35"/>
                    <a:pt x="36" y="21"/>
                    <a:pt x="54" y="21"/>
                  </a:cubicBezTo>
                  <a:cubicBezTo>
                    <a:pt x="71" y="21"/>
                    <a:pt x="86" y="35"/>
                    <a:pt x="86" y="53"/>
                  </a:cubicBezTo>
                  <a:cubicBezTo>
                    <a:pt x="86" y="71"/>
                    <a:pt x="71" y="85"/>
                    <a:pt x="54" y="8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39" name="Group 336">
            <a:extLst>
              <a:ext uri="{FF2B5EF4-FFF2-40B4-BE49-F238E27FC236}">
                <a16:creationId xmlns:a16="http://schemas.microsoft.com/office/drawing/2014/main" id="{9D3D65E3-DE33-43AE-9429-4E573D4DD426}"/>
              </a:ext>
            </a:extLst>
          </p:cNvPr>
          <p:cNvGrpSpPr>
            <a:grpSpLocks noChangeAspect="1"/>
          </p:cNvGrpSpPr>
          <p:nvPr/>
        </p:nvGrpSpPr>
        <p:grpSpPr bwMode="auto">
          <a:xfrm>
            <a:off x="1029379" y="2746607"/>
            <a:ext cx="415635" cy="415624"/>
            <a:chOff x="4220" y="1197"/>
            <a:chExt cx="340" cy="340"/>
          </a:xfrm>
          <a:solidFill>
            <a:schemeClr val="bg1"/>
          </a:solidFill>
        </p:grpSpPr>
        <p:sp>
          <p:nvSpPr>
            <p:cNvPr id="40" name="Freeform 337">
              <a:extLst>
                <a:ext uri="{FF2B5EF4-FFF2-40B4-BE49-F238E27FC236}">
                  <a16:creationId xmlns:a16="http://schemas.microsoft.com/office/drawing/2014/main" id="{F847E214-8950-4233-9117-698ECA4DFF80}"/>
                </a:ext>
              </a:extLst>
            </p:cNvPr>
            <p:cNvSpPr>
              <a:spLocks noEditPoints="1"/>
            </p:cNvSpPr>
            <p:nvPr/>
          </p:nvSpPr>
          <p:spPr bwMode="auto">
            <a:xfrm>
              <a:off x="4220" y="1197"/>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2" name="Freeform 338">
              <a:extLst>
                <a:ext uri="{FF2B5EF4-FFF2-40B4-BE49-F238E27FC236}">
                  <a16:creationId xmlns:a16="http://schemas.microsoft.com/office/drawing/2014/main" id="{2BCA1ECD-7FE8-48A0-AAF0-3A46FB054D2A}"/>
                </a:ext>
              </a:extLst>
            </p:cNvPr>
            <p:cNvSpPr>
              <a:spLocks noEditPoints="1"/>
            </p:cNvSpPr>
            <p:nvPr/>
          </p:nvSpPr>
          <p:spPr bwMode="auto">
            <a:xfrm>
              <a:off x="4312" y="1261"/>
              <a:ext cx="156" cy="212"/>
            </a:xfrm>
            <a:custGeom>
              <a:avLst/>
              <a:gdLst>
                <a:gd name="T0" fmla="*/ 234 w 235"/>
                <a:gd name="T1" fmla="*/ 81 h 320"/>
                <a:gd name="T2" fmla="*/ 232 w 235"/>
                <a:gd name="T3" fmla="*/ 77 h 320"/>
                <a:gd name="T4" fmla="*/ 157 w 235"/>
                <a:gd name="T5" fmla="*/ 3 h 320"/>
                <a:gd name="T6" fmla="*/ 154 w 235"/>
                <a:gd name="T7" fmla="*/ 0 h 320"/>
                <a:gd name="T8" fmla="*/ 150 w 235"/>
                <a:gd name="T9" fmla="*/ 0 h 320"/>
                <a:gd name="T10" fmla="*/ 11 w 235"/>
                <a:gd name="T11" fmla="*/ 0 h 320"/>
                <a:gd name="T12" fmla="*/ 0 w 235"/>
                <a:gd name="T13" fmla="*/ 10 h 320"/>
                <a:gd name="T14" fmla="*/ 0 w 235"/>
                <a:gd name="T15" fmla="*/ 309 h 320"/>
                <a:gd name="T16" fmla="*/ 11 w 235"/>
                <a:gd name="T17" fmla="*/ 320 h 320"/>
                <a:gd name="T18" fmla="*/ 224 w 235"/>
                <a:gd name="T19" fmla="*/ 320 h 320"/>
                <a:gd name="T20" fmla="*/ 235 w 235"/>
                <a:gd name="T21" fmla="*/ 309 h 320"/>
                <a:gd name="T22" fmla="*/ 235 w 235"/>
                <a:gd name="T23" fmla="*/ 85 h 320"/>
                <a:gd name="T24" fmla="*/ 234 w 235"/>
                <a:gd name="T25" fmla="*/ 81 h 320"/>
                <a:gd name="T26" fmla="*/ 160 w 235"/>
                <a:gd name="T27" fmla="*/ 36 h 320"/>
                <a:gd name="T28" fmla="*/ 199 w 235"/>
                <a:gd name="T29" fmla="*/ 74 h 320"/>
                <a:gd name="T30" fmla="*/ 160 w 235"/>
                <a:gd name="T31" fmla="*/ 74 h 320"/>
                <a:gd name="T32" fmla="*/ 160 w 235"/>
                <a:gd name="T33" fmla="*/ 36 h 320"/>
                <a:gd name="T34" fmla="*/ 22 w 235"/>
                <a:gd name="T35" fmla="*/ 298 h 320"/>
                <a:gd name="T36" fmla="*/ 22 w 235"/>
                <a:gd name="T37" fmla="*/ 21 h 320"/>
                <a:gd name="T38" fmla="*/ 139 w 235"/>
                <a:gd name="T39" fmla="*/ 21 h 320"/>
                <a:gd name="T40" fmla="*/ 139 w 235"/>
                <a:gd name="T41" fmla="*/ 85 h 320"/>
                <a:gd name="T42" fmla="*/ 150 w 235"/>
                <a:gd name="T43" fmla="*/ 96 h 320"/>
                <a:gd name="T44" fmla="*/ 214 w 235"/>
                <a:gd name="T45" fmla="*/ 96 h 320"/>
                <a:gd name="T46" fmla="*/ 214 w 235"/>
                <a:gd name="T47" fmla="*/ 298 h 320"/>
                <a:gd name="T48" fmla="*/ 22 w 235"/>
                <a:gd name="T49" fmla="*/ 29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5" h="320">
                  <a:moveTo>
                    <a:pt x="234" y="81"/>
                  </a:moveTo>
                  <a:cubicBezTo>
                    <a:pt x="234" y="80"/>
                    <a:pt x="233" y="78"/>
                    <a:pt x="232" y="77"/>
                  </a:cubicBezTo>
                  <a:cubicBezTo>
                    <a:pt x="157" y="3"/>
                    <a:pt x="157" y="3"/>
                    <a:pt x="157" y="3"/>
                  </a:cubicBezTo>
                  <a:cubicBezTo>
                    <a:pt x="156" y="2"/>
                    <a:pt x="155" y="1"/>
                    <a:pt x="154" y="0"/>
                  </a:cubicBezTo>
                  <a:cubicBezTo>
                    <a:pt x="152" y="0"/>
                    <a:pt x="151" y="0"/>
                    <a:pt x="150" y="0"/>
                  </a:cubicBezTo>
                  <a:cubicBezTo>
                    <a:pt x="11" y="0"/>
                    <a:pt x="11" y="0"/>
                    <a:pt x="11" y="0"/>
                  </a:cubicBezTo>
                  <a:cubicBezTo>
                    <a:pt x="5" y="0"/>
                    <a:pt x="0" y="4"/>
                    <a:pt x="0" y="10"/>
                  </a:cubicBezTo>
                  <a:cubicBezTo>
                    <a:pt x="0" y="309"/>
                    <a:pt x="0" y="309"/>
                    <a:pt x="0" y="309"/>
                  </a:cubicBezTo>
                  <a:cubicBezTo>
                    <a:pt x="0" y="315"/>
                    <a:pt x="5" y="320"/>
                    <a:pt x="11" y="320"/>
                  </a:cubicBezTo>
                  <a:cubicBezTo>
                    <a:pt x="224" y="320"/>
                    <a:pt x="224" y="320"/>
                    <a:pt x="224" y="320"/>
                  </a:cubicBezTo>
                  <a:cubicBezTo>
                    <a:pt x="230" y="320"/>
                    <a:pt x="235" y="315"/>
                    <a:pt x="235" y="309"/>
                  </a:cubicBezTo>
                  <a:cubicBezTo>
                    <a:pt x="235" y="85"/>
                    <a:pt x="235" y="85"/>
                    <a:pt x="235" y="85"/>
                  </a:cubicBezTo>
                  <a:cubicBezTo>
                    <a:pt x="235" y="84"/>
                    <a:pt x="235" y="82"/>
                    <a:pt x="234" y="81"/>
                  </a:cubicBezTo>
                  <a:close/>
                  <a:moveTo>
                    <a:pt x="160" y="36"/>
                  </a:moveTo>
                  <a:cubicBezTo>
                    <a:pt x="199" y="74"/>
                    <a:pt x="199" y="74"/>
                    <a:pt x="199" y="74"/>
                  </a:cubicBezTo>
                  <a:cubicBezTo>
                    <a:pt x="160" y="74"/>
                    <a:pt x="160" y="74"/>
                    <a:pt x="160" y="74"/>
                  </a:cubicBezTo>
                  <a:lnTo>
                    <a:pt x="160" y="36"/>
                  </a:lnTo>
                  <a:close/>
                  <a:moveTo>
                    <a:pt x="22" y="298"/>
                  </a:moveTo>
                  <a:cubicBezTo>
                    <a:pt x="22" y="21"/>
                    <a:pt x="22" y="21"/>
                    <a:pt x="22" y="21"/>
                  </a:cubicBezTo>
                  <a:cubicBezTo>
                    <a:pt x="139" y="21"/>
                    <a:pt x="139" y="21"/>
                    <a:pt x="139" y="21"/>
                  </a:cubicBezTo>
                  <a:cubicBezTo>
                    <a:pt x="139" y="85"/>
                    <a:pt x="139" y="85"/>
                    <a:pt x="139" y="85"/>
                  </a:cubicBezTo>
                  <a:cubicBezTo>
                    <a:pt x="139" y="91"/>
                    <a:pt x="144" y="96"/>
                    <a:pt x="150" y="96"/>
                  </a:cubicBezTo>
                  <a:cubicBezTo>
                    <a:pt x="214" y="96"/>
                    <a:pt x="214" y="96"/>
                    <a:pt x="214" y="96"/>
                  </a:cubicBezTo>
                  <a:cubicBezTo>
                    <a:pt x="214" y="298"/>
                    <a:pt x="214" y="298"/>
                    <a:pt x="214" y="298"/>
                  </a:cubicBezTo>
                  <a:lnTo>
                    <a:pt x="22" y="2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3" name="Freeform 339">
              <a:extLst>
                <a:ext uri="{FF2B5EF4-FFF2-40B4-BE49-F238E27FC236}">
                  <a16:creationId xmlns:a16="http://schemas.microsoft.com/office/drawing/2014/main" id="{A46A51C7-2EE5-4190-8EB1-362C6C224403}"/>
                </a:ext>
              </a:extLst>
            </p:cNvPr>
            <p:cNvSpPr>
              <a:spLocks/>
            </p:cNvSpPr>
            <p:nvPr/>
          </p:nvSpPr>
          <p:spPr bwMode="auto">
            <a:xfrm>
              <a:off x="4340" y="1431"/>
              <a:ext cx="99" cy="14"/>
            </a:xfrm>
            <a:custGeom>
              <a:avLst/>
              <a:gdLst>
                <a:gd name="T0" fmla="*/ 139 w 149"/>
                <a:gd name="T1" fmla="*/ 0 h 21"/>
                <a:gd name="T2" fmla="*/ 11 w 149"/>
                <a:gd name="T3" fmla="*/ 0 h 21"/>
                <a:gd name="T4" fmla="*/ 0 w 149"/>
                <a:gd name="T5" fmla="*/ 10 h 21"/>
                <a:gd name="T6" fmla="*/ 11 w 149"/>
                <a:gd name="T7" fmla="*/ 21 h 21"/>
                <a:gd name="T8" fmla="*/ 139 w 149"/>
                <a:gd name="T9" fmla="*/ 21 h 21"/>
                <a:gd name="T10" fmla="*/ 149 w 149"/>
                <a:gd name="T11" fmla="*/ 10 h 21"/>
                <a:gd name="T12" fmla="*/ 139 w 149"/>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9" h="21">
                  <a:moveTo>
                    <a:pt x="139" y="0"/>
                  </a:moveTo>
                  <a:cubicBezTo>
                    <a:pt x="11" y="0"/>
                    <a:pt x="11" y="0"/>
                    <a:pt x="11" y="0"/>
                  </a:cubicBezTo>
                  <a:cubicBezTo>
                    <a:pt x="5" y="0"/>
                    <a:pt x="0" y="4"/>
                    <a:pt x="0" y="10"/>
                  </a:cubicBezTo>
                  <a:cubicBezTo>
                    <a:pt x="0" y="16"/>
                    <a:pt x="5" y="21"/>
                    <a:pt x="11" y="21"/>
                  </a:cubicBezTo>
                  <a:cubicBezTo>
                    <a:pt x="139" y="21"/>
                    <a:pt x="139" y="21"/>
                    <a:pt x="139" y="21"/>
                  </a:cubicBezTo>
                  <a:cubicBezTo>
                    <a:pt x="145" y="21"/>
                    <a:pt x="149" y="16"/>
                    <a:pt x="149" y="10"/>
                  </a:cubicBezTo>
                  <a:cubicBezTo>
                    <a:pt x="149" y="4"/>
                    <a:pt x="145" y="0"/>
                    <a:pt x="139"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4" name="Freeform 340">
              <a:extLst>
                <a:ext uri="{FF2B5EF4-FFF2-40B4-BE49-F238E27FC236}">
                  <a16:creationId xmlns:a16="http://schemas.microsoft.com/office/drawing/2014/main" id="{63AC7CD3-B20B-409F-8DA5-6255B351FF9E}"/>
                </a:ext>
              </a:extLst>
            </p:cNvPr>
            <p:cNvSpPr>
              <a:spLocks/>
            </p:cNvSpPr>
            <p:nvPr/>
          </p:nvSpPr>
          <p:spPr bwMode="auto">
            <a:xfrm>
              <a:off x="4340" y="1402"/>
              <a:ext cx="99" cy="14"/>
            </a:xfrm>
            <a:custGeom>
              <a:avLst/>
              <a:gdLst>
                <a:gd name="T0" fmla="*/ 139 w 149"/>
                <a:gd name="T1" fmla="*/ 0 h 21"/>
                <a:gd name="T2" fmla="*/ 11 w 149"/>
                <a:gd name="T3" fmla="*/ 0 h 21"/>
                <a:gd name="T4" fmla="*/ 0 w 149"/>
                <a:gd name="T5" fmla="*/ 11 h 21"/>
                <a:gd name="T6" fmla="*/ 11 w 149"/>
                <a:gd name="T7" fmla="*/ 21 h 21"/>
                <a:gd name="T8" fmla="*/ 139 w 149"/>
                <a:gd name="T9" fmla="*/ 21 h 21"/>
                <a:gd name="T10" fmla="*/ 149 w 149"/>
                <a:gd name="T11" fmla="*/ 11 h 21"/>
                <a:gd name="T12" fmla="*/ 139 w 149"/>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9" h="21">
                  <a:moveTo>
                    <a:pt x="139" y="0"/>
                  </a:moveTo>
                  <a:cubicBezTo>
                    <a:pt x="11" y="0"/>
                    <a:pt x="11" y="0"/>
                    <a:pt x="11" y="0"/>
                  </a:cubicBezTo>
                  <a:cubicBezTo>
                    <a:pt x="5" y="0"/>
                    <a:pt x="0" y="5"/>
                    <a:pt x="0" y="11"/>
                  </a:cubicBezTo>
                  <a:cubicBezTo>
                    <a:pt x="0" y="17"/>
                    <a:pt x="5" y="21"/>
                    <a:pt x="11" y="21"/>
                  </a:cubicBezTo>
                  <a:cubicBezTo>
                    <a:pt x="139" y="21"/>
                    <a:pt x="139" y="21"/>
                    <a:pt x="139" y="21"/>
                  </a:cubicBezTo>
                  <a:cubicBezTo>
                    <a:pt x="145" y="21"/>
                    <a:pt x="149" y="17"/>
                    <a:pt x="149" y="11"/>
                  </a:cubicBezTo>
                  <a:cubicBezTo>
                    <a:pt x="149" y="5"/>
                    <a:pt x="145" y="0"/>
                    <a:pt x="139"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5" name="Freeform 341">
              <a:extLst>
                <a:ext uri="{FF2B5EF4-FFF2-40B4-BE49-F238E27FC236}">
                  <a16:creationId xmlns:a16="http://schemas.microsoft.com/office/drawing/2014/main" id="{B54E2A50-02C4-4763-B5AB-C6752A44E760}"/>
                </a:ext>
              </a:extLst>
            </p:cNvPr>
            <p:cNvSpPr>
              <a:spLocks/>
            </p:cNvSpPr>
            <p:nvPr/>
          </p:nvSpPr>
          <p:spPr bwMode="auto">
            <a:xfrm>
              <a:off x="4340" y="1374"/>
              <a:ext cx="99" cy="14"/>
            </a:xfrm>
            <a:custGeom>
              <a:avLst/>
              <a:gdLst>
                <a:gd name="T0" fmla="*/ 139 w 149"/>
                <a:gd name="T1" fmla="*/ 0 h 22"/>
                <a:gd name="T2" fmla="*/ 11 w 149"/>
                <a:gd name="T3" fmla="*/ 0 h 22"/>
                <a:gd name="T4" fmla="*/ 0 w 149"/>
                <a:gd name="T5" fmla="*/ 11 h 22"/>
                <a:gd name="T6" fmla="*/ 11 w 149"/>
                <a:gd name="T7" fmla="*/ 22 h 22"/>
                <a:gd name="T8" fmla="*/ 139 w 149"/>
                <a:gd name="T9" fmla="*/ 22 h 22"/>
                <a:gd name="T10" fmla="*/ 149 w 149"/>
                <a:gd name="T11" fmla="*/ 11 h 22"/>
                <a:gd name="T12" fmla="*/ 139 w 149"/>
                <a:gd name="T13" fmla="*/ 0 h 22"/>
              </a:gdLst>
              <a:ahLst/>
              <a:cxnLst>
                <a:cxn ang="0">
                  <a:pos x="T0" y="T1"/>
                </a:cxn>
                <a:cxn ang="0">
                  <a:pos x="T2" y="T3"/>
                </a:cxn>
                <a:cxn ang="0">
                  <a:pos x="T4" y="T5"/>
                </a:cxn>
                <a:cxn ang="0">
                  <a:pos x="T6" y="T7"/>
                </a:cxn>
                <a:cxn ang="0">
                  <a:pos x="T8" y="T9"/>
                </a:cxn>
                <a:cxn ang="0">
                  <a:pos x="T10" y="T11"/>
                </a:cxn>
                <a:cxn ang="0">
                  <a:pos x="T12" y="T13"/>
                </a:cxn>
              </a:cxnLst>
              <a:rect l="0" t="0" r="r" b="b"/>
              <a:pathLst>
                <a:path w="149" h="22">
                  <a:moveTo>
                    <a:pt x="139" y="0"/>
                  </a:moveTo>
                  <a:cubicBezTo>
                    <a:pt x="11" y="0"/>
                    <a:pt x="11" y="0"/>
                    <a:pt x="11" y="0"/>
                  </a:cubicBezTo>
                  <a:cubicBezTo>
                    <a:pt x="5" y="0"/>
                    <a:pt x="0" y="5"/>
                    <a:pt x="0" y="11"/>
                  </a:cubicBezTo>
                  <a:cubicBezTo>
                    <a:pt x="0" y="17"/>
                    <a:pt x="5" y="22"/>
                    <a:pt x="11" y="22"/>
                  </a:cubicBezTo>
                  <a:cubicBezTo>
                    <a:pt x="139" y="22"/>
                    <a:pt x="139" y="22"/>
                    <a:pt x="139" y="22"/>
                  </a:cubicBezTo>
                  <a:cubicBezTo>
                    <a:pt x="145" y="22"/>
                    <a:pt x="149" y="17"/>
                    <a:pt x="149" y="11"/>
                  </a:cubicBezTo>
                  <a:cubicBezTo>
                    <a:pt x="149" y="5"/>
                    <a:pt x="145" y="0"/>
                    <a:pt x="139"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6" name="Freeform 342">
              <a:extLst>
                <a:ext uri="{FF2B5EF4-FFF2-40B4-BE49-F238E27FC236}">
                  <a16:creationId xmlns:a16="http://schemas.microsoft.com/office/drawing/2014/main" id="{CD273CE2-5373-41DF-ACD1-45C00C963F85}"/>
                </a:ext>
              </a:extLst>
            </p:cNvPr>
            <p:cNvSpPr>
              <a:spLocks/>
            </p:cNvSpPr>
            <p:nvPr/>
          </p:nvSpPr>
          <p:spPr bwMode="auto">
            <a:xfrm>
              <a:off x="4340" y="1346"/>
              <a:ext cx="99" cy="14"/>
            </a:xfrm>
            <a:custGeom>
              <a:avLst/>
              <a:gdLst>
                <a:gd name="T0" fmla="*/ 139 w 149"/>
                <a:gd name="T1" fmla="*/ 0 h 21"/>
                <a:gd name="T2" fmla="*/ 11 w 149"/>
                <a:gd name="T3" fmla="*/ 0 h 21"/>
                <a:gd name="T4" fmla="*/ 0 w 149"/>
                <a:gd name="T5" fmla="*/ 10 h 21"/>
                <a:gd name="T6" fmla="*/ 11 w 149"/>
                <a:gd name="T7" fmla="*/ 21 h 21"/>
                <a:gd name="T8" fmla="*/ 139 w 149"/>
                <a:gd name="T9" fmla="*/ 21 h 21"/>
                <a:gd name="T10" fmla="*/ 149 w 149"/>
                <a:gd name="T11" fmla="*/ 10 h 21"/>
                <a:gd name="T12" fmla="*/ 139 w 149"/>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9" h="21">
                  <a:moveTo>
                    <a:pt x="139" y="0"/>
                  </a:moveTo>
                  <a:cubicBezTo>
                    <a:pt x="11" y="0"/>
                    <a:pt x="11" y="0"/>
                    <a:pt x="11" y="0"/>
                  </a:cubicBezTo>
                  <a:cubicBezTo>
                    <a:pt x="5" y="0"/>
                    <a:pt x="0" y="4"/>
                    <a:pt x="0" y="10"/>
                  </a:cubicBezTo>
                  <a:cubicBezTo>
                    <a:pt x="0" y="16"/>
                    <a:pt x="5" y="21"/>
                    <a:pt x="11" y="21"/>
                  </a:cubicBezTo>
                  <a:cubicBezTo>
                    <a:pt x="139" y="21"/>
                    <a:pt x="139" y="21"/>
                    <a:pt x="139" y="21"/>
                  </a:cubicBezTo>
                  <a:cubicBezTo>
                    <a:pt x="145" y="21"/>
                    <a:pt x="149" y="16"/>
                    <a:pt x="149" y="10"/>
                  </a:cubicBezTo>
                  <a:cubicBezTo>
                    <a:pt x="149" y="4"/>
                    <a:pt x="145" y="0"/>
                    <a:pt x="139"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47" name="Group 777">
            <a:extLst>
              <a:ext uri="{FF2B5EF4-FFF2-40B4-BE49-F238E27FC236}">
                <a16:creationId xmlns:a16="http://schemas.microsoft.com/office/drawing/2014/main" id="{78048B26-1532-4D42-A4AE-FFD902ABD231}"/>
              </a:ext>
            </a:extLst>
          </p:cNvPr>
          <p:cNvGrpSpPr>
            <a:grpSpLocks noChangeAspect="1"/>
          </p:cNvGrpSpPr>
          <p:nvPr/>
        </p:nvGrpSpPr>
        <p:grpSpPr bwMode="auto">
          <a:xfrm>
            <a:off x="1053550" y="3817872"/>
            <a:ext cx="416859" cy="415636"/>
            <a:chOff x="5818" y="3070"/>
            <a:chExt cx="341" cy="340"/>
          </a:xfrm>
          <a:solidFill>
            <a:schemeClr val="bg1"/>
          </a:solidFill>
        </p:grpSpPr>
        <p:sp>
          <p:nvSpPr>
            <p:cNvPr id="48" name="Freeform 778">
              <a:extLst>
                <a:ext uri="{FF2B5EF4-FFF2-40B4-BE49-F238E27FC236}">
                  <a16:creationId xmlns:a16="http://schemas.microsoft.com/office/drawing/2014/main" id="{C12B186F-798B-47F9-878A-5C889DB01A6C}"/>
                </a:ext>
              </a:extLst>
            </p:cNvPr>
            <p:cNvSpPr>
              <a:spLocks noEditPoints="1"/>
            </p:cNvSpPr>
            <p:nvPr/>
          </p:nvSpPr>
          <p:spPr bwMode="auto">
            <a:xfrm>
              <a:off x="5882" y="3140"/>
              <a:ext cx="213" cy="185"/>
            </a:xfrm>
            <a:custGeom>
              <a:avLst/>
              <a:gdLst>
                <a:gd name="T0" fmla="*/ 309 w 320"/>
                <a:gd name="T1" fmla="*/ 43 h 278"/>
                <a:gd name="T2" fmla="*/ 213 w 320"/>
                <a:gd name="T3" fmla="*/ 43 h 278"/>
                <a:gd name="T4" fmla="*/ 213 w 320"/>
                <a:gd name="T5" fmla="*/ 11 h 278"/>
                <a:gd name="T6" fmla="*/ 202 w 320"/>
                <a:gd name="T7" fmla="*/ 0 h 278"/>
                <a:gd name="T8" fmla="*/ 117 w 320"/>
                <a:gd name="T9" fmla="*/ 0 h 278"/>
                <a:gd name="T10" fmla="*/ 106 w 320"/>
                <a:gd name="T11" fmla="*/ 11 h 278"/>
                <a:gd name="T12" fmla="*/ 106 w 320"/>
                <a:gd name="T13" fmla="*/ 43 h 278"/>
                <a:gd name="T14" fmla="*/ 10 w 320"/>
                <a:gd name="T15" fmla="*/ 43 h 278"/>
                <a:gd name="T16" fmla="*/ 0 w 320"/>
                <a:gd name="T17" fmla="*/ 54 h 278"/>
                <a:gd name="T18" fmla="*/ 0 w 320"/>
                <a:gd name="T19" fmla="*/ 160 h 278"/>
                <a:gd name="T20" fmla="*/ 10 w 320"/>
                <a:gd name="T21" fmla="*/ 171 h 278"/>
                <a:gd name="T22" fmla="*/ 21 w 320"/>
                <a:gd name="T23" fmla="*/ 171 h 278"/>
                <a:gd name="T24" fmla="*/ 21 w 320"/>
                <a:gd name="T25" fmla="*/ 267 h 278"/>
                <a:gd name="T26" fmla="*/ 32 w 320"/>
                <a:gd name="T27" fmla="*/ 278 h 278"/>
                <a:gd name="T28" fmla="*/ 288 w 320"/>
                <a:gd name="T29" fmla="*/ 278 h 278"/>
                <a:gd name="T30" fmla="*/ 298 w 320"/>
                <a:gd name="T31" fmla="*/ 267 h 278"/>
                <a:gd name="T32" fmla="*/ 298 w 320"/>
                <a:gd name="T33" fmla="*/ 171 h 278"/>
                <a:gd name="T34" fmla="*/ 309 w 320"/>
                <a:gd name="T35" fmla="*/ 171 h 278"/>
                <a:gd name="T36" fmla="*/ 320 w 320"/>
                <a:gd name="T37" fmla="*/ 160 h 278"/>
                <a:gd name="T38" fmla="*/ 320 w 320"/>
                <a:gd name="T39" fmla="*/ 54 h 278"/>
                <a:gd name="T40" fmla="*/ 309 w 320"/>
                <a:gd name="T41" fmla="*/ 43 h 278"/>
                <a:gd name="T42" fmla="*/ 128 w 320"/>
                <a:gd name="T43" fmla="*/ 22 h 278"/>
                <a:gd name="T44" fmla="*/ 192 w 320"/>
                <a:gd name="T45" fmla="*/ 22 h 278"/>
                <a:gd name="T46" fmla="*/ 192 w 320"/>
                <a:gd name="T47" fmla="*/ 43 h 278"/>
                <a:gd name="T48" fmla="*/ 128 w 320"/>
                <a:gd name="T49" fmla="*/ 43 h 278"/>
                <a:gd name="T50" fmla="*/ 128 w 320"/>
                <a:gd name="T51" fmla="*/ 22 h 278"/>
                <a:gd name="T52" fmla="*/ 277 w 320"/>
                <a:gd name="T53" fmla="*/ 256 h 278"/>
                <a:gd name="T54" fmla="*/ 42 w 320"/>
                <a:gd name="T55" fmla="*/ 256 h 278"/>
                <a:gd name="T56" fmla="*/ 42 w 320"/>
                <a:gd name="T57" fmla="*/ 171 h 278"/>
                <a:gd name="T58" fmla="*/ 85 w 320"/>
                <a:gd name="T59" fmla="*/ 171 h 278"/>
                <a:gd name="T60" fmla="*/ 85 w 320"/>
                <a:gd name="T61" fmla="*/ 182 h 278"/>
                <a:gd name="T62" fmla="*/ 96 w 320"/>
                <a:gd name="T63" fmla="*/ 192 h 278"/>
                <a:gd name="T64" fmla="*/ 106 w 320"/>
                <a:gd name="T65" fmla="*/ 182 h 278"/>
                <a:gd name="T66" fmla="*/ 106 w 320"/>
                <a:gd name="T67" fmla="*/ 171 h 278"/>
                <a:gd name="T68" fmla="*/ 213 w 320"/>
                <a:gd name="T69" fmla="*/ 171 h 278"/>
                <a:gd name="T70" fmla="*/ 213 w 320"/>
                <a:gd name="T71" fmla="*/ 182 h 278"/>
                <a:gd name="T72" fmla="*/ 224 w 320"/>
                <a:gd name="T73" fmla="*/ 192 h 278"/>
                <a:gd name="T74" fmla="*/ 234 w 320"/>
                <a:gd name="T75" fmla="*/ 182 h 278"/>
                <a:gd name="T76" fmla="*/ 234 w 320"/>
                <a:gd name="T77" fmla="*/ 171 h 278"/>
                <a:gd name="T78" fmla="*/ 277 w 320"/>
                <a:gd name="T79" fmla="*/ 171 h 278"/>
                <a:gd name="T80" fmla="*/ 277 w 320"/>
                <a:gd name="T81" fmla="*/ 256 h 278"/>
                <a:gd name="T82" fmla="*/ 298 w 320"/>
                <a:gd name="T83" fmla="*/ 150 h 278"/>
                <a:gd name="T84" fmla="*/ 234 w 320"/>
                <a:gd name="T85" fmla="*/ 150 h 278"/>
                <a:gd name="T86" fmla="*/ 234 w 320"/>
                <a:gd name="T87" fmla="*/ 139 h 278"/>
                <a:gd name="T88" fmla="*/ 224 w 320"/>
                <a:gd name="T89" fmla="*/ 128 h 278"/>
                <a:gd name="T90" fmla="*/ 213 w 320"/>
                <a:gd name="T91" fmla="*/ 139 h 278"/>
                <a:gd name="T92" fmla="*/ 213 w 320"/>
                <a:gd name="T93" fmla="*/ 150 h 278"/>
                <a:gd name="T94" fmla="*/ 106 w 320"/>
                <a:gd name="T95" fmla="*/ 150 h 278"/>
                <a:gd name="T96" fmla="*/ 106 w 320"/>
                <a:gd name="T97" fmla="*/ 139 h 278"/>
                <a:gd name="T98" fmla="*/ 96 w 320"/>
                <a:gd name="T99" fmla="*/ 128 h 278"/>
                <a:gd name="T100" fmla="*/ 85 w 320"/>
                <a:gd name="T101" fmla="*/ 139 h 278"/>
                <a:gd name="T102" fmla="*/ 85 w 320"/>
                <a:gd name="T103" fmla="*/ 150 h 278"/>
                <a:gd name="T104" fmla="*/ 21 w 320"/>
                <a:gd name="T105" fmla="*/ 150 h 278"/>
                <a:gd name="T106" fmla="*/ 21 w 320"/>
                <a:gd name="T107" fmla="*/ 64 h 278"/>
                <a:gd name="T108" fmla="*/ 298 w 320"/>
                <a:gd name="T109" fmla="*/ 64 h 278"/>
                <a:gd name="T110" fmla="*/ 298 w 320"/>
                <a:gd name="T111" fmla="*/ 150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20" h="278">
                  <a:moveTo>
                    <a:pt x="309" y="43"/>
                  </a:moveTo>
                  <a:cubicBezTo>
                    <a:pt x="213" y="43"/>
                    <a:pt x="213" y="43"/>
                    <a:pt x="213" y="43"/>
                  </a:cubicBezTo>
                  <a:cubicBezTo>
                    <a:pt x="213" y="11"/>
                    <a:pt x="213" y="11"/>
                    <a:pt x="213" y="11"/>
                  </a:cubicBezTo>
                  <a:cubicBezTo>
                    <a:pt x="213" y="5"/>
                    <a:pt x="208" y="0"/>
                    <a:pt x="202" y="0"/>
                  </a:cubicBezTo>
                  <a:cubicBezTo>
                    <a:pt x="117" y="0"/>
                    <a:pt x="117" y="0"/>
                    <a:pt x="117" y="0"/>
                  </a:cubicBezTo>
                  <a:cubicBezTo>
                    <a:pt x="111" y="0"/>
                    <a:pt x="106" y="5"/>
                    <a:pt x="106" y="11"/>
                  </a:cubicBezTo>
                  <a:cubicBezTo>
                    <a:pt x="106" y="43"/>
                    <a:pt x="106" y="43"/>
                    <a:pt x="106" y="43"/>
                  </a:cubicBezTo>
                  <a:cubicBezTo>
                    <a:pt x="10" y="43"/>
                    <a:pt x="10" y="43"/>
                    <a:pt x="10" y="43"/>
                  </a:cubicBezTo>
                  <a:cubicBezTo>
                    <a:pt x="4" y="43"/>
                    <a:pt x="0" y="48"/>
                    <a:pt x="0" y="54"/>
                  </a:cubicBezTo>
                  <a:cubicBezTo>
                    <a:pt x="0" y="160"/>
                    <a:pt x="0" y="160"/>
                    <a:pt x="0" y="160"/>
                  </a:cubicBezTo>
                  <a:cubicBezTo>
                    <a:pt x="0" y="166"/>
                    <a:pt x="4" y="171"/>
                    <a:pt x="10" y="171"/>
                  </a:cubicBezTo>
                  <a:cubicBezTo>
                    <a:pt x="21" y="171"/>
                    <a:pt x="21" y="171"/>
                    <a:pt x="21" y="171"/>
                  </a:cubicBezTo>
                  <a:cubicBezTo>
                    <a:pt x="21" y="267"/>
                    <a:pt x="21" y="267"/>
                    <a:pt x="21" y="267"/>
                  </a:cubicBezTo>
                  <a:cubicBezTo>
                    <a:pt x="21" y="273"/>
                    <a:pt x="26" y="278"/>
                    <a:pt x="32" y="278"/>
                  </a:cubicBezTo>
                  <a:cubicBezTo>
                    <a:pt x="288" y="278"/>
                    <a:pt x="288" y="278"/>
                    <a:pt x="288" y="278"/>
                  </a:cubicBezTo>
                  <a:cubicBezTo>
                    <a:pt x="294" y="278"/>
                    <a:pt x="298" y="273"/>
                    <a:pt x="298" y="267"/>
                  </a:cubicBezTo>
                  <a:cubicBezTo>
                    <a:pt x="298" y="171"/>
                    <a:pt x="298" y="171"/>
                    <a:pt x="298" y="171"/>
                  </a:cubicBezTo>
                  <a:cubicBezTo>
                    <a:pt x="309" y="171"/>
                    <a:pt x="309" y="171"/>
                    <a:pt x="309" y="171"/>
                  </a:cubicBezTo>
                  <a:cubicBezTo>
                    <a:pt x="315" y="171"/>
                    <a:pt x="320" y="166"/>
                    <a:pt x="320" y="160"/>
                  </a:cubicBezTo>
                  <a:cubicBezTo>
                    <a:pt x="320" y="54"/>
                    <a:pt x="320" y="54"/>
                    <a:pt x="320" y="54"/>
                  </a:cubicBezTo>
                  <a:cubicBezTo>
                    <a:pt x="320" y="48"/>
                    <a:pt x="315" y="43"/>
                    <a:pt x="309" y="43"/>
                  </a:cubicBezTo>
                  <a:close/>
                  <a:moveTo>
                    <a:pt x="128" y="22"/>
                  </a:moveTo>
                  <a:cubicBezTo>
                    <a:pt x="192" y="22"/>
                    <a:pt x="192" y="22"/>
                    <a:pt x="192" y="22"/>
                  </a:cubicBezTo>
                  <a:cubicBezTo>
                    <a:pt x="192" y="43"/>
                    <a:pt x="192" y="43"/>
                    <a:pt x="192" y="43"/>
                  </a:cubicBezTo>
                  <a:cubicBezTo>
                    <a:pt x="128" y="43"/>
                    <a:pt x="128" y="43"/>
                    <a:pt x="128" y="43"/>
                  </a:cubicBezTo>
                  <a:lnTo>
                    <a:pt x="128" y="22"/>
                  </a:lnTo>
                  <a:close/>
                  <a:moveTo>
                    <a:pt x="277" y="256"/>
                  </a:moveTo>
                  <a:cubicBezTo>
                    <a:pt x="42" y="256"/>
                    <a:pt x="42" y="256"/>
                    <a:pt x="42" y="256"/>
                  </a:cubicBezTo>
                  <a:cubicBezTo>
                    <a:pt x="42" y="171"/>
                    <a:pt x="42" y="171"/>
                    <a:pt x="42" y="171"/>
                  </a:cubicBezTo>
                  <a:cubicBezTo>
                    <a:pt x="85" y="171"/>
                    <a:pt x="85" y="171"/>
                    <a:pt x="85" y="171"/>
                  </a:cubicBezTo>
                  <a:cubicBezTo>
                    <a:pt x="85" y="182"/>
                    <a:pt x="85" y="182"/>
                    <a:pt x="85" y="182"/>
                  </a:cubicBezTo>
                  <a:cubicBezTo>
                    <a:pt x="85" y="188"/>
                    <a:pt x="90" y="192"/>
                    <a:pt x="96" y="192"/>
                  </a:cubicBezTo>
                  <a:cubicBezTo>
                    <a:pt x="102" y="192"/>
                    <a:pt x="106" y="188"/>
                    <a:pt x="106" y="182"/>
                  </a:cubicBezTo>
                  <a:cubicBezTo>
                    <a:pt x="106" y="171"/>
                    <a:pt x="106" y="171"/>
                    <a:pt x="106" y="171"/>
                  </a:cubicBezTo>
                  <a:cubicBezTo>
                    <a:pt x="213" y="171"/>
                    <a:pt x="213" y="171"/>
                    <a:pt x="213" y="171"/>
                  </a:cubicBezTo>
                  <a:cubicBezTo>
                    <a:pt x="213" y="182"/>
                    <a:pt x="213" y="182"/>
                    <a:pt x="213" y="182"/>
                  </a:cubicBezTo>
                  <a:cubicBezTo>
                    <a:pt x="213" y="188"/>
                    <a:pt x="218" y="192"/>
                    <a:pt x="224" y="192"/>
                  </a:cubicBezTo>
                  <a:cubicBezTo>
                    <a:pt x="230" y="192"/>
                    <a:pt x="234" y="188"/>
                    <a:pt x="234" y="182"/>
                  </a:cubicBezTo>
                  <a:cubicBezTo>
                    <a:pt x="234" y="171"/>
                    <a:pt x="234" y="171"/>
                    <a:pt x="234" y="171"/>
                  </a:cubicBezTo>
                  <a:cubicBezTo>
                    <a:pt x="277" y="171"/>
                    <a:pt x="277" y="171"/>
                    <a:pt x="277" y="171"/>
                  </a:cubicBezTo>
                  <a:lnTo>
                    <a:pt x="277" y="256"/>
                  </a:lnTo>
                  <a:close/>
                  <a:moveTo>
                    <a:pt x="298" y="150"/>
                  </a:moveTo>
                  <a:cubicBezTo>
                    <a:pt x="234" y="150"/>
                    <a:pt x="234" y="150"/>
                    <a:pt x="234" y="150"/>
                  </a:cubicBezTo>
                  <a:cubicBezTo>
                    <a:pt x="234" y="139"/>
                    <a:pt x="234" y="139"/>
                    <a:pt x="234" y="139"/>
                  </a:cubicBezTo>
                  <a:cubicBezTo>
                    <a:pt x="234" y="133"/>
                    <a:pt x="230" y="128"/>
                    <a:pt x="224" y="128"/>
                  </a:cubicBezTo>
                  <a:cubicBezTo>
                    <a:pt x="218" y="128"/>
                    <a:pt x="213" y="133"/>
                    <a:pt x="213" y="139"/>
                  </a:cubicBezTo>
                  <a:cubicBezTo>
                    <a:pt x="213" y="150"/>
                    <a:pt x="213" y="150"/>
                    <a:pt x="213" y="150"/>
                  </a:cubicBezTo>
                  <a:cubicBezTo>
                    <a:pt x="106" y="150"/>
                    <a:pt x="106" y="150"/>
                    <a:pt x="106" y="150"/>
                  </a:cubicBezTo>
                  <a:cubicBezTo>
                    <a:pt x="106" y="139"/>
                    <a:pt x="106" y="139"/>
                    <a:pt x="106" y="139"/>
                  </a:cubicBezTo>
                  <a:cubicBezTo>
                    <a:pt x="106" y="133"/>
                    <a:pt x="102" y="128"/>
                    <a:pt x="96" y="128"/>
                  </a:cubicBezTo>
                  <a:cubicBezTo>
                    <a:pt x="90" y="128"/>
                    <a:pt x="85" y="133"/>
                    <a:pt x="85" y="139"/>
                  </a:cubicBezTo>
                  <a:cubicBezTo>
                    <a:pt x="85" y="150"/>
                    <a:pt x="85" y="150"/>
                    <a:pt x="85" y="150"/>
                  </a:cubicBezTo>
                  <a:cubicBezTo>
                    <a:pt x="21" y="150"/>
                    <a:pt x="21" y="150"/>
                    <a:pt x="21" y="150"/>
                  </a:cubicBezTo>
                  <a:cubicBezTo>
                    <a:pt x="21" y="64"/>
                    <a:pt x="21" y="64"/>
                    <a:pt x="21" y="64"/>
                  </a:cubicBezTo>
                  <a:cubicBezTo>
                    <a:pt x="298" y="64"/>
                    <a:pt x="298" y="64"/>
                    <a:pt x="298" y="64"/>
                  </a:cubicBezTo>
                  <a:lnTo>
                    <a:pt x="298" y="15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49" name="Freeform 779">
              <a:extLst>
                <a:ext uri="{FF2B5EF4-FFF2-40B4-BE49-F238E27FC236}">
                  <a16:creationId xmlns:a16="http://schemas.microsoft.com/office/drawing/2014/main" id="{BD2CEC56-BB86-460F-878B-510B333FB815}"/>
                </a:ext>
              </a:extLst>
            </p:cNvPr>
            <p:cNvSpPr>
              <a:spLocks noEditPoints="1"/>
            </p:cNvSpPr>
            <p:nvPr/>
          </p:nvSpPr>
          <p:spPr bwMode="auto">
            <a:xfrm>
              <a:off x="5818" y="3070"/>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grpSp>
        <p:nvGrpSpPr>
          <p:cNvPr id="50" name="Group 892">
            <a:extLst>
              <a:ext uri="{FF2B5EF4-FFF2-40B4-BE49-F238E27FC236}">
                <a16:creationId xmlns:a16="http://schemas.microsoft.com/office/drawing/2014/main" id="{DC3D5900-9921-466B-9985-89DC1DE5D48A}"/>
              </a:ext>
            </a:extLst>
          </p:cNvPr>
          <p:cNvGrpSpPr>
            <a:grpSpLocks noChangeAspect="1"/>
          </p:cNvGrpSpPr>
          <p:nvPr/>
        </p:nvGrpSpPr>
        <p:grpSpPr bwMode="auto">
          <a:xfrm>
            <a:off x="1022679" y="2225874"/>
            <a:ext cx="419391" cy="420624"/>
            <a:chOff x="4270" y="3457"/>
            <a:chExt cx="340" cy="341"/>
          </a:xfrm>
          <a:solidFill>
            <a:schemeClr val="bg1"/>
          </a:solidFill>
        </p:grpSpPr>
        <p:sp>
          <p:nvSpPr>
            <p:cNvPr id="52" name="Freeform 893">
              <a:extLst>
                <a:ext uri="{FF2B5EF4-FFF2-40B4-BE49-F238E27FC236}">
                  <a16:creationId xmlns:a16="http://schemas.microsoft.com/office/drawing/2014/main" id="{498F0279-A8EF-4946-804B-414355417069}"/>
                </a:ext>
              </a:extLst>
            </p:cNvPr>
            <p:cNvSpPr>
              <a:spLocks noEditPoints="1"/>
            </p:cNvSpPr>
            <p:nvPr/>
          </p:nvSpPr>
          <p:spPr bwMode="auto">
            <a:xfrm>
              <a:off x="4334" y="3521"/>
              <a:ext cx="192" cy="192"/>
            </a:xfrm>
            <a:custGeom>
              <a:avLst/>
              <a:gdLst>
                <a:gd name="T0" fmla="*/ 285 w 289"/>
                <a:gd name="T1" fmla="*/ 269 h 288"/>
                <a:gd name="T2" fmla="*/ 189 w 289"/>
                <a:gd name="T3" fmla="*/ 174 h 288"/>
                <a:gd name="T4" fmla="*/ 213 w 289"/>
                <a:gd name="T5" fmla="*/ 106 h 288"/>
                <a:gd name="T6" fmla="*/ 106 w 289"/>
                <a:gd name="T7" fmla="*/ 0 h 288"/>
                <a:gd name="T8" fmla="*/ 0 w 289"/>
                <a:gd name="T9" fmla="*/ 106 h 288"/>
                <a:gd name="T10" fmla="*/ 106 w 289"/>
                <a:gd name="T11" fmla="*/ 213 h 288"/>
                <a:gd name="T12" fmla="*/ 174 w 289"/>
                <a:gd name="T13" fmla="*/ 189 h 288"/>
                <a:gd name="T14" fmla="*/ 269 w 289"/>
                <a:gd name="T15" fmla="*/ 285 h 288"/>
                <a:gd name="T16" fmla="*/ 277 w 289"/>
                <a:gd name="T17" fmla="*/ 288 h 288"/>
                <a:gd name="T18" fmla="*/ 285 w 289"/>
                <a:gd name="T19" fmla="*/ 285 h 288"/>
                <a:gd name="T20" fmla="*/ 285 w 289"/>
                <a:gd name="T21" fmla="*/ 269 h 288"/>
                <a:gd name="T22" fmla="*/ 106 w 289"/>
                <a:gd name="T23" fmla="*/ 192 h 288"/>
                <a:gd name="T24" fmla="*/ 21 w 289"/>
                <a:gd name="T25" fmla="*/ 106 h 288"/>
                <a:gd name="T26" fmla="*/ 106 w 289"/>
                <a:gd name="T27" fmla="*/ 21 h 288"/>
                <a:gd name="T28" fmla="*/ 192 w 289"/>
                <a:gd name="T29" fmla="*/ 106 h 288"/>
                <a:gd name="T30" fmla="*/ 106 w 289"/>
                <a:gd name="T31" fmla="*/ 19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9" h="288">
                  <a:moveTo>
                    <a:pt x="285" y="269"/>
                  </a:moveTo>
                  <a:cubicBezTo>
                    <a:pt x="189" y="174"/>
                    <a:pt x="189" y="174"/>
                    <a:pt x="189" y="174"/>
                  </a:cubicBezTo>
                  <a:cubicBezTo>
                    <a:pt x="204" y="155"/>
                    <a:pt x="213" y="132"/>
                    <a:pt x="213" y="106"/>
                  </a:cubicBezTo>
                  <a:cubicBezTo>
                    <a:pt x="213" y="48"/>
                    <a:pt x="165" y="0"/>
                    <a:pt x="106" y="0"/>
                  </a:cubicBezTo>
                  <a:cubicBezTo>
                    <a:pt x="48" y="0"/>
                    <a:pt x="0" y="48"/>
                    <a:pt x="0" y="106"/>
                  </a:cubicBezTo>
                  <a:cubicBezTo>
                    <a:pt x="0" y="165"/>
                    <a:pt x="48" y="213"/>
                    <a:pt x="106" y="213"/>
                  </a:cubicBezTo>
                  <a:cubicBezTo>
                    <a:pt x="132" y="213"/>
                    <a:pt x="155" y="204"/>
                    <a:pt x="174" y="189"/>
                  </a:cubicBezTo>
                  <a:cubicBezTo>
                    <a:pt x="269" y="285"/>
                    <a:pt x="269" y="285"/>
                    <a:pt x="269" y="285"/>
                  </a:cubicBezTo>
                  <a:cubicBezTo>
                    <a:pt x="272" y="287"/>
                    <a:pt x="274" y="288"/>
                    <a:pt x="277" y="288"/>
                  </a:cubicBezTo>
                  <a:cubicBezTo>
                    <a:pt x="280" y="288"/>
                    <a:pt x="282" y="287"/>
                    <a:pt x="285" y="285"/>
                  </a:cubicBezTo>
                  <a:cubicBezTo>
                    <a:pt x="289" y="280"/>
                    <a:pt x="289" y="274"/>
                    <a:pt x="285" y="269"/>
                  </a:cubicBezTo>
                  <a:close/>
                  <a:moveTo>
                    <a:pt x="106" y="192"/>
                  </a:moveTo>
                  <a:cubicBezTo>
                    <a:pt x="59" y="192"/>
                    <a:pt x="21" y="153"/>
                    <a:pt x="21" y="106"/>
                  </a:cubicBezTo>
                  <a:cubicBezTo>
                    <a:pt x="21" y="59"/>
                    <a:pt x="59" y="21"/>
                    <a:pt x="106" y="21"/>
                  </a:cubicBezTo>
                  <a:cubicBezTo>
                    <a:pt x="153" y="21"/>
                    <a:pt x="192" y="59"/>
                    <a:pt x="192" y="106"/>
                  </a:cubicBezTo>
                  <a:cubicBezTo>
                    <a:pt x="192" y="153"/>
                    <a:pt x="153" y="192"/>
                    <a:pt x="106" y="19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53" name="Freeform 894">
              <a:extLst>
                <a:ext uri="{FF2B5EF4-FFF2-40B4-BE49-F238E27FC236}">
                  <a16:creationId xmlns:a16="http://schemas.microsoft.com/office/drawing/2014/main" id="{EB4E23EB-445A-4D5E-A363-6A766F3A5A62}"/>
                </a:ext>
              </a:extLst>
            </p:cNvPr>
            <p:cNvSpPr>
              <a:spLocks noEditPoints="1"/>
            </p:cNvSpPr>
            <p:nvPr/>
          </p:nvSpPr>
          <p:spPr bwMode="auto">
            <a:xfrm>
              <a:off x="4270" y="3457"/>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205139187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sky, outdoor&#10;&#10;Description automatically generated">
            <a:extLst>
              <a:ext uri="{FF2B5EF4-FFF2-40B4-BE49-F238E27FC236}">
                <a16:creationId xmlns:a16="http://schemas.microsoft.com/office/drawing/2014/main" id="{A69A3CAA-FCA0-4EC4-B815-1FAE58B2FDC0}"/>
              </a:ext>
            </a:extLst>
          </p:cNvPr>
          <p:cNvPicPr>
            <a:picLocks noChangeAspect="1"/>
          </p:cNvPicPr>
          <p:nvPr/>
        </p:nvPicPr>
        <p:blipFill rotWithShape="1">
          <a:blip r:embed="rId2">
            <a:extLst>
              <a:ext uri="{28A0092B-C50C-407E-A947-70E740481C1C}">
                <a14:useLocalDpi xmlns:a14="http://schemas.microsoft.com/office/drawing/2010/main" val="0"/>
              </a:ext>
            </a:extLst>
          </a:blip>
          <a:srcRect t="25000"/>
          <a:stretch/>
        </p:blipFill>
        <p:spPr>
          <a:xfrm>
            <a:off x="0" y="0"/>
            <a:ext cx="12192000" cy="6858000"/>
          </a:xfrm>
          <a:prstGeom prst="rect">
            <a:avLst/>
          </a:prstGeom>
        </p:spPr>
      </p:pic>
      <p:sp>
        <p:nvSpPr>
          <p:cNvPr id="13" name="Rounded Rectangle 5">
            <a:extLst>
              <a:ext uri="{FF2B5EF4-FFF2-40B4-BE49-F238E27FC236}">
                <a16:creationId xmlns:a16="http://schemas.microsoft.com/office/drawing/2014/main" id="{2864358F-2308-40E4-8889-6E8631B5329B}"/>
              </a:ext>
            </a:extLst>
          </p:cNvPr>
          <p:cNvSpPr/>
          <p:nvPr/>
        </p:nvSpPr>
        <p:spPr bwMode="gray">
          <a:xfrm>
            <a:off x="469900" y="5100948"/>
            <a:ext cx="10426700" cy="792000"/>
          </a:xfrm>
          <a:prstGeom prst="roundRect">
            <a:avLst>
              <a:gd name="adj" fmla="val 50000"/>
            </a:avLst>
          </a:prstGeom>
          <a:solidFill>
            <a:srgbClr val="007680"/>
          </a:solidFill>
          <a:ln w="19050" algn="ctr">
            <a:noFill/>
            <a:miter lim="800000"/>
            <a:headEnd/>
            <a:tailEnd/>
          </a:ln>
        </p:spPr>
        <p:txBody>
          <a:bodyPr wrap="square" lIns="396000" tIns="88900" rIns="88900" bIns="88900" rtlCol="0" anchor="ctr"/>
          <a:lstStyle/>
          <a:p>
            <a:pPr>
              <a:buFont typeface="Wingdings 2" pitchFamily="18" charset="2"/>
              <a:buNone/>
            </a:pPr>
            <a:r>
              <a:rPr lang="en-US" sz="2800" b="1" dirty="0">
                <a:solidFill>
                  <a:schemeClr val="bg1"/>
                </a:solidFill>
                <a:latin typeface="Calibri Light" panose="020F0302020204030204" pitchFamily="34" charset="0"/>
                <a:cs typeface="Calibri Light" panose="020F0302020204030204" pitchFamily="34" charset="0"/>
              </a:rPr>
              <a:t>Our Understanding of the Engagement</a:t>
            </a:r>
          </a:p>
        </p:txBody>
      </p:sp>
      <p:sp>
        <p:nvSpPr>
          <p:cNvPr id="14" name="Oval 13">
            <a:extLst>
              <a:ext uri="{FF2B5EF4-FFF2-40B4-BE49-F238E27FC236}">
                <a16:creationId xmlns:a16="http://schemas.microsoft.com/office/drawing/2014/main" id="{385C0C78-E9F5-4A36-B46A-D1CC515D2891}"/>
              </a:ext>
            </a:extLst>
          </p:cNvPr>
          <p:cNvSpPr/>
          <p:nvPr/>
        </p:nvSpPr>
        <p:spPr bwMode="gray">
          <a:xfrm rot="2700000">
            <a:off x="9720589" y="4783959"/>
            <a:ext cx="1427128" cy="1427126"/>
          </a:xfrm>
          <a:prstGeom prst="ellipse">
            <a:avLst/>
          </a:prstGeom>
          <a:solidFill>
            <a:srgbClr val="007680"/>
          </a:solidFill>
          <a:ln w="25400" cap="rnd" algn="ctr">
            <a:solidFill>
              <a:schemeClr val="accent6">
                <a:alpha val="50000"/>
              </a:schemeClr>
            </a:solidFill>
            <a:prstDash val="sysDash"/>
            <a:round/>
            <a:headEnd/>
            <a:tailEnd/>
          </a:ln>
        </p:spPr>
        <p:txBody>
          <a:bodyPr wrap="square" lIns="77938" tIns="77938" rIns="77938" bIns="77938" rtlCol="0" anchor="ctr"/>
          <a:lstStyle/>
          <a:p>
            <a:pPr algn="ctr">
              <a:lnSpc>
                <a:spcPct val="106000"/>
              </a:lnSpc>
              <a:buFont typeface="Wingdings 2" pitchFamily="18" charset="2"/>
              <a:buNone/>
            </a:pPr>
            <a:endParaRPr lang="en-IN" sz="1403" b="1" dirty="0">
              <a:solidFill>
                <a:schemeClr val="bg1"/>
              </a:solidFill>
            </a:endParaRPr>
          </a:p>
        </p:txBody>
      </p:sp>
      <p:grpSp>
        <p:nvGrpSpPr>
          <p:cNvPr id="15" name="Group 14">
            <a:extLst>
              <a:ext uri="{FF2B5EF4-FFF2-40B4-BE49-F238E27FC236}">
                <a16:creationId xmlns:a16="http://schemas.microsoft.com/office/drawing/2014/main" id="{72018B98-2C34-4F1E-BF71-E77070241C80}"/>
              </a:ext>
            </a:extLst>
          </p:cNvPr>
          <p:cNvGrpSpPr/>
          <p:nvPr/>
        </p:nvGrpSpPr>
        <p:grpSpPr>
          <a:xfrm>
            <a:off x="9733457" y="4798696"/>
            <a:ext cx="1402578" cy="1397650"/>
            <a:chOff x="9718644" y="4783956"/>
            <a:chExt cx="1432160" cy="1427129"/>
          </a:xfrm>
        </p:grpSpPr>
        <p:sp>
          <p:nvSpPr>
            <p:cNvPr id="16" name="Pie 8">
              <a:extLst>
                <a:ext uri="{FF2B5EF4-FFF2-40B4-BE49-F238E27FC236}">
                  <a16:creationId xmlns:a16="http://schemas.microsoft.com/office/drawing/2014/main" id="{215DA20D-3A7D-42E9-8964-8F46CF65C1A0}"/>
                </a:ext>
              </a:extLst>
            </p:cNvPr>
            <p:cNvSpPr/>
            <p:nvPr/>
          </p:nvSpPr>
          <p:spPr bwMode="gray">
            <a:xfrm rot="13500000">
              <a:off x="9723677" y="4783959"/>
              <a:ext cx="1427127" cy="1427126"/>
            </a:xfrm>
            <a:prstGeom prst="pie">
              <a:avLst>
                <a:gd name="adj1" fmla="val 5389768"/>
                <a:gd name="adj2" fmla="val 10751584"/>
              </a:avLst>
            </a:prstGeom>
            <a:solidFill>
              <a:srgbClr val="00ABAB">
                <a:alpha val="50000"/>
              </a:srgbClr>
            </a:solidFill>
            <a:ln w="19050" algn="ctr">
              <a:noFill/>
              <a:miter lim="800000"/>
              <a:headEnd/>
              <a:tailEnd/>
            </a:ln>
          </p:spPr>
          <p:txBody>
            <a:bodyPr wrap="square" lIns="77938" tIns="77938" rIns="77938" bIns="77938" rtlCol="0" anchor="ctr"/>
            <a:lstStyle/>
            <a:p>
              <a:pPr algn="ctr">
                <a:lnSpc>
                  <a:spcPct val="106000"/>
                </a:lnSpc>
                <a:buFont typeface="Wingdings 2" pitchFamily="18" charset="2"/>
                <a:buNone/>
              </a:pPr>
              <a:endParaRPr lang="en-IN" sz="1403" b="1" dirty="0">
                <a:solidFill>
                  <a:schemeClr val="bg1"/>
                </a:solidFill>
              </a:endParaRPr>
            </a:p>
          </p:txBody>
        </p:sp>
        <p:sp>
          <p:nvSpPr>
            <p:cNvPr id="17" name="Pie 9">
              <a:extLst>
                <a:ext uri="{FF2B5EF4-FFF2-40B4-BE49-F238E27FC236}">
                  <a16:creationId xmlns:a16="http://schemas.microsoft.com/office/drawing/2014/main" id="{ACEF4BF5-608B-49CB-87F4-2C664250FAC9}"/>
                </a:ext>
              </a:extLst>
            </p:cNvPr>
            <p:cNvSpPr/>
            <p:nvPr/>
          </p:nvSpPr>
          <p:spPr bwMode="gray">
            <a:xfrm rot="2700000">
              <a:off x="9718642" y="4783958"/>
              <a:ext cx="1427129" cy="1427126"/>
            </a:xfrm>
            <a:prstGeom prst="pie">
              <a:avLst>
                <a:gd name="adj1" fmla="val 5389768"/>
                <a:gd name="adj2" fmla="val 10751584"/>
              </a:avLst>
            </a:prstGeom>
            <a:solidFill>
              <a:srgbClr val="00ABAB">
                <a:alpha val="50000"/>
              </a:srgbClr>
            </a:solidFill>
            <a:ln w="19050" algn="ctr">
              <a:noFill/>
              <a:miter lim="800000"/>
              <a:headEnd/>
              <a:tailEnd/>
            </a:ln>
          </p:spPr>
          <p:txBody>
            <a:bodyPr wrap="square" lIns="77938" tIns="77938" rIns="77938" bIns="77938" rtlCol="0" anchor="ctr"/>
            <a:lstStyle/>
            <a:p>
              <a:pPr algn="ctr">
                <a:lnSpc>
                  <a:spcPct val="106000"/>
                </a:lnSpc>
                <a:buFont typeface="Wingdings 2" pitchFamily="18" charset="2"/>
                <a:buNone/>
              </a:pPr>
              <a:endParaRPr lang="en-IN" sz="1403" b="1" dirty="0">
                <a:solidFill>
                  <a:schemeClr val="bg1"/>
                </a:solidFill>
              </a:endParaRPr>
            </a:p>
          </p:txBody>
        </p:sp>
      </p:grpSp>
      <p:sp>
        <p:nvSpPr>
          <p:cNvPr id="18" name="Oval 17">
            <a:extLst>
              <a:ext uri="{FF2B5EF4-FFF2-40B4-BE49-F238E27FC236}">
                <a16:creationId xmlns:a16="http://schemas.microsoft.com/office/drawing/2014/main" id="{BC4608E9-0BC3-44A7-953B-1D1D974F4A31}"/>
              </a:ext>
            </a:extLst>
          </p:cNvPr>
          <p:cNvSpPr/>
          <p:nvPr/>
        </p:nvSpPr>
        <p:spPr bwMode="gray">
          <a:xfrm rot="2700000">
            <a:off x="9990310" y="5053104"/>
            <a:ext cx="887686" cy="887685"/>
          </a:xfrm>
          <a:prstGeom prst="ellipse">
            <a:avLst/>
          </a:prstGeom>
          <a:solidFill>
            <a:srgbClr val="00ABAB"/>
          </a:solidFill>
          <a:ln w="25400" cap="rnd" algn="ctr">
            <a:solidFill>
              <a:schemeClr val="accent6">
                <a:lumMod val="60000"/>
                <a:lumOff val="40000"/>
              </a:schemeClr>
            </a:solidFill>
            <a:prstDash val="sysDash"/>
            <a:round/>
            <a:headEnd/>
            <a:tailEnd/>
          </a:ln>
          <a:effectLst/>
        </p:spPr>
        <p:txBody>
          <a:bodyPr wrap="square" lIns="77938" tIns="77938" rIns="77938" bIns="77938" rtlCol="0" anchor="ctr"/>
          <a:lstStyle/>
          <a:p>
            <a:pPr algn="ctr">
              <a:lnSpc>
                <a:spcPct val="106000"/>
              </a:lnSpc>
              <a:buFont typeface="Wingdings 2" pitchFamily="18" charset="2"/>
              <a:buNone/>
            </a:pPr>
            <a:endParaRPr lang="en-IN" sz="1403" b="1" dirty="0">
              <a:solidFill>
                <a:schemeClr val="bg1"/>
              </a:solidFill>
            </a:endParaRPr>
          </a:p>
        </p:txBody>
      </p:sp>
      <p:grpSp>
        <p:nvGrpSpPr>
          <p:cNvPr id="11" name="Group 892">
            <a:extLst>
              <a:ext uri="{FF2B5EF4-FFF2-40B4-BE49-F238E27FC236}">
                <a16:creationId xmlns:a16="http://schemas.microsoft.com/office/drawing/2014/main" id="{090EEE7F-5154-4E45-8572-16D9778A72C6}"/>
              </a:ext>
            </a:extLst>
          </p:cNvPr>
          <p:cNvGrpSpPr>
            <a:grpSpLocks noChangeAspect="1"/>
          </p:cNvGrpSpPr>
          <p:nvPr/>
        </p:nvGrpSpPr>
        <p:grpSpPr bwMode="auto">
          <a:xfrm>
            <a:off x="10222585" y="5272435"/>
            <a:ext cx="419391" cy="420624"/>
            <a:chOff x="4270" y="3457"/>
            <a:chExt cx="340" cy="341"/>
          </a:xfrm>
          <a:solidFill>
            <a:schemeClr val="bg1"/>
          </a:solidFill>
        </p:grpSpPr>
        <p:sp>
          <p:nvSpPr>
            <p:cNvPr id="12" name="Freeform 893">
              <a:extLst>
                <a:ext uri="{FF2B5EF4-FFF2-40B4-BE49-F238E27FC236}">
                  <a16:creationId xmlns:a16="http://schemas.microsoft.com/office/drawing/2014/main" id="{DB8C124C-8B85-47C2-AC38-23EECF7F46FF}"/>
                </a:ext>
              </a:extLst>
            </p:cNvPr>
            <p:cNvSpPr>
              <a:spLocks noEditPoints="1"/>
            </p:cNvSpPr>
            <p:nvPr/>
          </p:nvSpPr>
          <p:spPr bwMode="auto">
            <a:xfrm>
              <a:off x="4334" y="3521"/>
              <a:ext cx="192" cy="192"/>
            </a:xfrm>
            <a:custGeom>
              <a:avLst/>
              <a:gdLst>
                <a:gd name="T0" fmla="*/ 285 w 289"/>
                <a:gd name="T1" fmla="*/ 269 h 288"/>
                <a:gd name="T2" fmla="*/ 189 w 289"/>
                <a:gd name="T3" fmla="*/ 174 h 288"/>
                <a:gd name="T4" fmla="*/ 213 w 289"/>
                <a:gd name="T5" fmla="*/ 106 h 288"/>
                <a:gd name="T6" fmla="*/ 106 w 289"/>
                <a:gd name="T7" fmla="*/ 0 h 288"/>
                <a:gd name="T8" fmla="*/ 0 w 289"/>
                <a:gd name="T9" fmla="*/ 106 h 288"/>
                <a:gd name="T10" fmla="*/ 106 w 289"/>
                <a:gd name="T11" fmla="*/ 213 h 288"/>
                <a:gd name="T12" fmla="*/ 174 w 289"/>
                <a:gd name="T13" fmla="*/ 189 h 288"/>
                <a:gd name="T14" fmla="*/ 269 w 289"/>
                <a:gd name="T15" fmla="*/ 285 h 288"/>
                <a:gd name="T16" fmla="*/ 277 w 289"/>
                <a:gd name="T17" fmla="*/ 288 h 288"/>
                <a:gd name="T18" fmla="*/ 285 w 289"/>
                <a:gd name="T19" fmla="*/ 285 h 288"/>
                <a:gd name="T20" fmla="*/ 285 w 289"/>
                <a:gd name="T21" fmla="*/ 269 h 288"/>
                <a:gd name="T22" fmla="*/ 106 w 289"/>
                <a:gd name="T23" fmla="*/ 192 h 288"/>
                <a:gd name="T24" fmla="*/ 21 w 289"/>
                <a:gd name="T25" fmla="*/ 106 h 288"/>
                <a:gd name="T26" fmla="*/ 106 w 289"/>
                <a:gd name="T27" fmla="*/ 21 h 288"/>
                <a:gd name="T28" fmla="*/ 192 w 289"/>
                <a:gd name="T29" fmla="*/ 106 h 288"/>
                <a:gd name="T30" fmla="*/ 106 w 289"/>
                <a:gd name="T31" fmla="*/ 19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9" h="288">
                  <a:moveTo>
                    <a:pt x="285" y="269"/>
                  </a:moveTo>
                  <a:cubicBezTo>
                    <a:pt x="189" y="174"/>
                    <a:pt x="189" y="174"/>
                    <a:pt x="189" y="174"/>
                  </a:cubicBezTo>
                  <a:cubicBezTo>
                    <a:pt x="204" y="155"/>
                    <a:pt x="213" y="132"/>
                    <a:pt x="213" y="106"/>
                  </a:cubicBezTo>
                  <a:cubicBezTo>
                    <a:pt x="213" y="48"/>
                    <a:pt x="165" y="0"/>
                    <a:pt x="106" y="0"/>
                  </a:cubicBezTo>
                  <a:cubicBezTo>
                    <a:pt x="48" y="0"/>
                    <a:pt x="0" y="48"/>
                    <a:pt x="0" y="106"/>
                  </a:cubicBezTo>
                  <a:cubicBezTo>
                    <a:pt x="0" y="165"/>
                    <a:pt x="48" y="213"/>
                    <a:pt x="106" y="213"/>
                  </a:cubicBezTo>
                  <a:cubicBezTo>
                    <a:pt x="132" y="213"/>
                    <a:pt x="155" y="204"/>
                    <a:pt x="174" y="189"/>
                  </a:cubicBezTo>
                  <a:cubicBezTo>
                    <a:pt x="269" y="285"/>
                    <a:pt x="269" y="285"/>
                    <a:pt x="269" y="285"/>
                  </a:cubicBezTo>
                  <a:cubicBezTo>
                    <a:pt x="272" y="287"/>
                    <a:pt x="274" y="288"/>
                    <a:pt x="277" y="288"/>
                  </a:cubicBezTo>
                  <a:cubicBezTo>
                    <a:pt x="280" y="288"/>
                    <a:pt x="282" y="287"/>
                    <a:pt x="285" y="285"/>
                  </a:cubicBezTo>
                  <a:cubicBezTo>
                    <a:pt x="289" y="280"/>
                    <a:pt x="289" y="274"/>
                    <a:pt x="285" y="269"/>
                  </a:cubicBezTo>
                  <a:close/>
                  <a:moveTo>
                    <a:pt x="106" y="192"/>
                  </a:moveTo>
                  <a:cubicBezTo>
                    <a:pt x="59" y="192"/>
                    <a:pt x="21" y="153"/>
                    <a:pt x="21" y="106"/>
                  </a:cubicBezTo>
                  <a:cubicBezTo>
                    <a:pt x="21" y="59"/>
                    <a:pt x="59" y="21"/>
                    <a:pt x="106" y="21"/>
                  </a:cubicBezTo>
                  <a:cubicBezTo>
                    <a:pt x="153" y="21"/>
                    <a:pt x="192" y="59"/>
                    <a:pt x="192" y="106"/>
                  </a:cubicBezTo>
                  <a:cubicBezTo>
                    <a:pt x="192" y="153"/>
                    <a:pt x="153" y="192"/>
                    <a:pt x="106" y="19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9" name="Freeform 894">
              <a:extLst>
                <a:ext uri="{FF2B5EF4-FFF2-40B4-BE49-F238E27FC236}">
                  <a16:creationId xmlns:a16="http://schemas.microsoft.com/office/drawing/2014/main" id="{1A42B033-BCD1-4E93-BE4A-72D34D493C83}"/>
                </a:ext>
              </a:extLst>
            </p:cNvPr>
            <p:cNvSpPr>
              <a:spLocks noEditPoints="1"/>
            </p:cNvSpPr>
            <p:nvPr/>
          </p:nvSpPr>
          <p:spPr bwMode="auto">
            <a:xfrm>
              <a:off x="4270" y="3457"/>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192295595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CF576-4C33-4EBC-9A6D-D4B1C7FBBED3}"/>
              </a:ext>
            </a:extLst>
          </p:cNvPr>
          <p:cNvSpPr>
            <a:spLocks noGrp="1"/>
          </p:cNvSpPr>
          <p:nvPr>
            <p:ph type="title"/>
          </p:nvPr>
        </p:nvSpPr>
        <p:spPr/>
        <p:txBody>
          <a:bodyPr/>
          <a:lstStyle/>
          <a:p>
            <a:r>
              <a:rPr lang="en-US" sz="1800" dirty="0"/>
              <a:t>Changing </a:t>
            </a:r>
            <a:r>
              <a:rPr lang="en-US" sz="1800" b="1" dirty="0"/>
              <a:t>Industry trends </a:t>
            </a:r>
            <a:r>
              <a:rPr lang="en-US" sz="1800" dirty="0"/>
              <a:t>leading to sector evolution</a:t>
            </a:r>
            <a:endParaRPr lang="en-US" sz="1800" dirty="0">
              <a:solidFill>
                <a:srgbClr val="FF0000"/>
              </a:solidFill>
            </a:endParaRPr>
          </a:p>
        </p:txBody>
      </p:sp>
      <p:sp>
        <p:nvSpPr>
          <p:cNvPr id="4" name="Rectangle: Rounded Corners 3">
            <a:extLst>
              <a:ext uri="{FF2B5EF4-FFF2-40B4-BE49-F238E27FC236}">
                <a16:creationId xmlns:a16="http://schemas.microsoft.com/office/drawing/2014/main" id="{E2894AB6-1508-4001-9846-EC5F86920635}"/>
              </a:ext>
            </a:extLst>
          </p:cNvPr>
          <p:cNvSpPr/>
          <p:nvPr/>
        </p:nvSpPr>
        <p:spPr bwMode="gray">
          <a:xfrm>
            <a:off x="648796" y="1278469"/>
            <a:ext cx="10931314" cy="2043229"/>
          </a:xfrm>
          <a:prstGeom prst="roundRect">
            <a:avLst>
              <a:gd name="adj" fmla="val 4806"/>
            </a:avLst>
          </a:prstGeom>
          <a:noFill/>
          <a:ln w="19050" algn="ctr">
            <a:solidFill>
              <a:srgbClr val="26890D"/>
            </a:solidFill>
            <a:prstDash val="sysDot"/>
            <a:miter lim="800000"/>
            <a:headEnd/>
            <a:tailEnd/>
          </a:ln>
        </p:spPr>
        <p:txBody>
          <a:bodyPr wrap="square" lIns="88900" tIns="88900" rIns="88900" bIns="88900" rtlCol="0" anchor="ctr"/>
          <a:lstStyle/>
          <a:p>
            <a:pPr marL="0" marR="0" lvl="0" indent="0" algn="ctr" defTabSz="885893" eaLnBrk="1" fontAlgn="auto" latinLnBrk="0" hangingPunct="1">
              <a:lnSpc>
                <a:spcPct val="106000"/>
              </a:lnSpc>
              <a:spcBef>
                <a:spcPts val="0"/>
              </a:spcBef>
              <a:spcAft>
                <a:spcPts val="0"/>
              </a:spcAft>
              <a:buClrTx/>
              <a:buSzTx/>
              <a:buFontTx/>
              <a:buNone/>
              <a:tabLst/>
              <a:defRPr/>
            </a:pPr>
            <a:endParaRPr kumimoji="0" lang="en-IN" sz="1600" b="1" i="0" u="none" strike="noStrike" kern="0" cap="none" spc="0" normalizeH="0" baseline="0" noProof="0" dirty="0">
              <a:ln>
                <a:noFill/>
              </a:ln>
              <a:solidFill>
                <a:prstClr val="white"/>
              </a:solidFill>
              <a:effectLst/>
              <a:uLnTx/>
              <a:uFillTx/>
              <a:latin typeface="Calibri"/>
            </a:endParaRPr>
          </a:p>
        </p:txBody>
      </p:sp>
      <p:sp>
        <p:nvSpPr>
          <p:cNvPr id="5" name="Rectangle 4">
            <a:extLst>
              <a:ext uri="{FF2B5EF4-FFF2-40B4-BE49-F238E27FC236}">
                <a16:creationId xmlns:a16="http://schemas.microsoft.com/office/drawing/2014/main" id="{3B1995E9-2456-4381-B457-24F84C30155B}"/>
              </a:ext>
            </a:extLst>
          </p:cNvPr>
          <p:cNvSpPr/>
          <p:nvPr/>
        </p:nvSpPr>
        <p:spPr bwMode="gray">
          <a:xfrm>
            <a:off x="998375" y="1130386"/>
            <a:ext cx="6963046" cy="300635"/>
          </a:xfrm>
          <a:prstGeom prst="rect">
            <a:avLst/>
          </a:prstGeom>
          <a:solidFill>
            <a:srgbClr val="26890D"/>
          </a:solidFill>
          <a:ln w="57150" algn="ctr">
            <a:solidFill>
              <a:sysClr val="window" lastClr="FFFFFF"/>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0" cap="none" spc="0" normalizeH="0" baseline="0" noProof="0" dirty="0">
                <a:ln>
                  <a:noFill/>
                </a:ln>
                <a:solidFill>
                  <a:prstClr val="white"/>
                </a:solidFill>
                <a:effectLst/>
                <a:uLnTx/>
                <a:uFillTx/>
                <a:latin typeface="Calibri"/>
              </a:rPr>
              <a:t>Increasing focus towards technological improvements and modernization of utilities</a:t>
            </a:r>
          </a:p>
        </p:txBody>
      </p:sp>
      <p:sp>
        <p:nvSpPr>
          <p:cNvPr id="6" name="Rectangle: Rounded Corners 5">
            <a:extLst>
              <a:ext uri="{FF2B5EF4-FFF2-40B4-BE49-F238E27FC236}">
                <a16:creationId xmlns:a16="http://schemas.microsoft.com/office/drawing/2014/main" id="{159D1C88-55A9-4629-B14B-137110E071A3}"/>
              </a:ext>
            </a:extLst>
          </p:cNvPr>
          <p:cNvSpPr/>
          <p:nvPr/>
        </p:nvSpPr>
        <p:spPr bwMode="gray">
          <a:xfrm>
            <a:off x="648796" y="3621988"/>
            <a:ext cx="10931314" cy="2043229"/>
          </a:xfrm>
          <a:prstGeom prst="roundRect">
            <a:avLst>
              <a:gd name="adj" fmla="val 4806"/>
            </a:avLst>
          </a:prstGeom>
          <a:noFill/>
          <a:ln w="19050" algn="ctr">
            <a:solidFill>
              <a:srgbClr val="0D8390"/>
            </a:solidFill>
            <a:prstDash val="sysDot"/>
            <a:miter lim="800000"/>
            <a:headEnd/>
            <a:tailEnd/>
          </a:ln>
        </p:spPr>
        <p:txBody>
          <a:bodyPr wrap="square" lIns="88900" tIns="88900" rIns="88900" bIns="88900" rtlCol="0" anchor="ctr"/>
          <a:lstStyle/>
          <a:p>
            <a:pPr marL="0" marR="0" lvl="0" indent="0" algn="ctr" defTabSz="885893" eaLnBrk="1" fontAlgn="auto" latinLnBrk="0" hangingPunct="1">
              <a:lnSpc>
                <a:spcPct val="106000"/>
              </a:lnSpc>
              <a:spcBef>
                <a:spcPts val="0"/>
              </a:spcBef>
              <a:spcAft>
                <a:spcPts val="0"/>
              </a:spcAft>
              <a:buClrTx/>
              <a:buSzTx/>
              <a:buFontTx/>
              <a:buNone/>
              <a:tabLst/>
              <a:defRPr/>
            </a:pPr>
            <a:endParaRPr kumimoji="0" lang="en-IN" sz="1600" b="1" i="0" u="none" strike="noStrike" kern="0" cap="none" spc="0" normalizeH="0" baseline="0" noProof="0" dirty="0">
              <a:ln>
                <a:noFill/>
              </a:ln>
              <a:solidFill>
                <a:prstClr val="white"/>
              </a:solidFill>
              <a:effectLst/>
              <a:uLnTx/>
              <a:uFillTx/>
              <a:latin typeface="Calibri"/>
            </a:endParaRPr>
          </a:p>
        </p:txBody>
      </p:sp>
      <p:sp>
        <p:nvSpPr>
          <p:cNvPr id="7" name="Rectangle 6">
            <a:extLst>
              <a:ext uri="{FF2B5EF4-FFF2-40B4-BE49-F238E27FC236}">
                <a16:creationId xmlns:a16="http://schemas.microsoft.com/office/drawing/2014/main" id="{BBDECA81-2704-4B15-9981-5C613B6076E1}"/>
              </a:ext>
            </a:extLst>
          </p:cNvPr>
          <p:cNvSpPr/>
          <p:nvPr/>
        </p:nvSpPr>
        <p:spPr bwMode="gray">
          <a:xfrm>
            <a:off x="5587360" y="3475763"/>
            <a:ext cx="5578079" cy="321939"/>
          </a:xfrm>
          <a:prstGeom prst="rect">
            <a:avLst/>
          </a:prstGeom>
          <a:solidFill>
            <a:srgbClr val="0D8390"/>
          </a:solidFill>
          <a:ln w="57150" algn="ctr">
            <a:solidFill>
              <a:sysClr val="window" lastClr="FFFFFF"/>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lang="en-US" sz="1400" b="1" kern="0" dirty="0">
                <a:solidFill>
                  <a:prstClr val="white"/>
                </a:solidFill>
                <a:latin typeface="Calibri"/>
              </a:rPr>
              <a:t>Energy transition</a:t>
            </a:r>
            <a:r>
              <a:rPr kumimoji="0" lang="en-US" sz="1400" b="1" i="0" u="none" strike="noStrike" kern="0" cap="none" spc="0" normalizeH="0" baseline="0" noProof="0" dirty="0">
                <a:ln>
                  <a:noFill/>
                </a:ln>
                <a:solidFill>
                  <a:prstClr val="white"/>
                </a:solidFill>
                <a:effectLst/>
                <a:uLnTx/>
                <a:uFillTx/>
                <a:latin typeface="Calibri"/>
              </a:rPr>
              <a:t> and power market reforms to  support such transition</a:t>
            </a:r>
          </a:p>
        </p:txBody>
      </p:sp>
      <p:sp>
        <p:nvSpPr>
          <p:cNvPr id="8" name="Rectangle 7">
            <a:extLst>
              <a:ext uri="{FF2B5EF4-FFF2-40B4-BE49-F238E27FC236}">
                <a16:creationId xmlns:a16="http://schemas.microsoft.com/office/drawing/2014/main" id="{5C7D945A-E800-4AB7-83BC-18F81168CEC8}"/>
              </a:ext>
            </a:extLst>
          </p:cNvPr>
          <p:cNvSpPr/>
          <p:nvPr/>
        </p:nvSpPr>
        <p:spPr bwMode="gray">
          <a:xfrm>
            <a:off x="839756" y="3852535"/>
            <a:ext cx="1992637" cy="1685360"/>
          </a:xfrm>
          <a:prstGeom prst="rect">
            <a:avLst/>
          </a:prstGeom>
          <a:solidFill>
            <a:srgbClr val="DDEFE8">
              <a:alpha val="30000"/>
            </a:srgbClr>
          </a:solidFill>
          <a:ln w="19050" algn="ctr">
            <a:solidFill>
              <a:srgbClr val="0D8390"/>
            </a:solidFill>
            <a:prstDash val="sysDot"/>
            <a:miter lim="800000"/>
            <a:headEnd/>
            <a:tailEnd/>
          </a:ln>
        </p:spPr>
        <p:txBody>
          <a:bodyPr wrap="square" lIns="88900" tIns="88900" rIns="88900" bIns="88900" rtlCol="0" anchor="ctr"/>
          <a:lstStyle/>
          <a:p>
            <a:pPr marL="0" marR="0" lvl="0" indent="0" algn="ctr" defTabSz="885893" eaLnBrk="1" fontAlgn="auto" latinLnBrk="0" hangingPunct="1">
              <a:lnSpc>
                <a:spcPct val="106000"/>
              </a:lnSpc>
              <a:spcBef>
                <a:spcPts val="0"/>
              </a:spcBef>
              <a:spcAft>
                <a:spcPts val="0"/>
              </a:spcAft>
              <a:buClrTx/>
              <a:buSzTx/>
              <a:buFontTx/>
              <a:buNone/>
              <a:tabLst/>
              <a:defRPr/>
            </a:pPr>
            <a:endParaRPr kumimoji="0" lang="en-IN" sz="1600" b="1" i="0" u="none" strike="noStrike" kern="0" cap="none" spc="0" normalizeH="0" baseline="0" noProof="0" dirty="0">
              <a:ln>
                <a:noFill/>
              </a:ln>
              <a:solidFill>
                <a:prstClr val="white"/>
              </a:solidFill>
              <a:effectLst/>
              <a:uLnTx/>
              <a:uFillTx/>
              <a:latin typeface="Calibri"/>
            </a:endParaRPr>
          </a:p>
        </p:txBody>
      </p:sp>
      <p:grpSp>
        <p:nvGrpSpPr>
          <p:cNvPr id="9" name="Group 8">
            <a:extLst>
              <a:ext uri="{FF2B5EF4-FFF2-40B4-BE49-F238E27FC236}">
                <a16:creationId xmlns:a16="http://schemas.microsoft.com/office/drawing/2014/main" id="{2E2D1C46-E28A-4D90-B0E4-4D2D0BF49561}"/>
              </a:ext>
            </a:extLst>
          </p:cNvPr>
          <p:cNvGrpSpPr/>
          <p:nvPr/>
        </p:nvGrpSpPr>
        <p:grpSpPr>
          <a:xfrm>
            <a:off x="944642" y="4269252"/>
            <a:ext cx="902184" cy="672492"/>
            <a:chOff x="934006" y="4480894"/>
            <a:chExt cx="902184" cy="672492"/>
          </a:xfrm>
        </p:grpSpPr>
        <p:pic>
          <p:nvPicPr>
            <p:cNvPr id="10" name="Picture 9">
              <a:extLst>
                <a:ext uri="{FF2B5EF4-FFF2-40B4-BE49-F238E27FC236}">
                  <a16:creationId xmlns:a16="http://schemas.microsoft.com/office/drawing/2014/main" id="{69F7FE84-101A-4143-A887-874BE7C80EBA}"/>
                </a:ext>
              </a:extLst>
            </p:cNvPr>
            <p:cNvPicPr>
              <a:picLocks noChangeAspect="1"/>
            </p:cNvPicPr>
            <p:nvPr/>
          </p:nvPicPr>
          <p:blipFill>
            <a:blip r:embed="rId2" cstate="print">
              <a:duotone>
                <a:prstClr val="black"/>
                <a:srgbClr val="86BC25">
                  <a:tint val="45000"/>
                  <a:satMod val="400000"/>
                </a:srgbClr>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934006" y="4480894"/>
              <a:ext cx="600707" cy="672492"/>
            </a:xfrm>
            <a:prstGeom prst="rect">
              <a:avLst/>
            </a:prstGeom>
            <a:ln>
              <a:noFill/>
            </a:ln>
          </p:spPr>
        </p:pic>
        <p:sp>
          <p:nvSpPr>
            <p:cNvPr id="11" name="object 134">
              <a:extLst>
                <a:ext uri="{FF2B5EF4-FFF2-40B4-BE49-F238E27FC236}">
                  <a16:creationId xmlns:a16="http://schemas.microsoft.com/office/drawing/2014/main" id="{E575986E-F38E-4EF3-BE33-0795B57E4247}"/>
                </a:ext>
              </a:extLst>
            </p:cNvPr>
            <p:cNvSpPr/>
            <p:nvPr/>
          </p:nvSpPr>
          <p:spPr>
            <a:xfrm rot="161775">
              <a:off x="1394955" y="4806880"/>
              <a:ext cx="441235" cy="258296"/>
            </a:xfrm>
            <a:custGeom>
              <a:avLst/>
              <a:gdLst/>
              <a:ahLst/>
              <a:cxnLst/>
              <a:rect l="l" t="t" r="r" b="b"/>
              <a:pathLst>
                <a:path w="181610" h="97789">
                  <a:moveTo>
                    <a:pt x="28333" y="0"/>
                  </a:moveTo>
                  <a:lnTo>
                    <a:pt x="24333" y="139"/>
                  </a:lnTo>
                  <a:lnTo>
                    <a:pt x="22009" y="1955"/>
                  </a:lnTo>
                  <a:lnTo>
                    <a:pt x="3352" y="70332"/>
                  </a:lnTo>
                  <a:lnTo>
                    <a:pt x="1592" y="76504"/>
                  </a:lnTo>
                  <a:lnTo>
                    <a:pt x="0" y="82194"/>
                  </a:lnTo>
                  <a:lnTo>
                    <a:pt x="0" y="92100"/>
                  </a:lnTo>
                  <a:lnTo>
                    <a:pt x="444" y="92887"/>
                  </a:lnTo>
                  <a:lnTo>
                    <a:pt x="1879" y="95846"/>
                  </a:lnTo>
                  <a:lnTo>
                    <a:pt x="3860" y="97282"/>
                  </a:lnTo>
                  <a:lnTo>
                    <a:pt x="172681" y="97434"/>
                  </a:lnTo>
                  <a:lnTo>
                    <a:pt x="176809" y="97751"/>
                  </a:lnTo>
                  <a:lnTo>
                    <a:pt x="179781" y="96266"/>
                  </a:lnTo>
                  <a:lnTo>
                    <a:pt x="181051" y="92100"/>
                  </a:lnTo>
                  <a:lnTo>
                    <a:pt x="181051" y="81483"/>
                  </a:lnTo>
                  <a:lnTo>
                    <a:pt x="180784" y="80860"/>
                  </a:lnTo>
                  <a:lnTo>
                    <a:pt x="180428" y="80251"/>
                  </a:lnTo>
                  <a:lnTo>
                    <a:pt x="179401" y="76504"/>
                  </a:lnTo>
                  <a:lnTo>
                    <a:pt x="16116" y="76504"/>
                  </a:lnTo>
                  <a:lnTo>
                    <a:pt x="16649" y="74485"/>
                  </a:lnTo>
                  <a:lnTo>
                    <a:pt x="32994" y="14325"/>
                  </a:lnTo>
                  <a:lnTo>
                    <a:pt x="33604" y="13855"/>
                  </a:lnTo>
                  <a:lnTo>
                    <a:pt x="162300" y="13855"/>
                  </a:lnTo>
                  <a:lnTo>
                    <a:pt x="159423" y="3289"/>
                  </a:lnTo>
                  <a:lnTo>
                    <a:pt x="158064" y="1231"/>
                  </a:lnTo>
                  <a:lnTo>
                    <a:pt x="154139" y="50"/>
                  </a:lnTo>
                  <a:lnTo>
                    <a:pt x="28333" y="0"/>
                  </a:lnTo>
                  <a:close/>
                </a:path>
                <a:path w="181610" h="97789">
                  <a:moveTo>
                    <a:pt x="162300" y="13855"/>
                  </a:moveTo>
                  <a:lnTo>
                    <a:pt x="33604" y="13855"/>
                  </a:lnTo>
                  <a:lnTo>
                    <a:pt x="147434" y="13868"/>
                  </a:lnTo>
                  <a:lnTo>
                    <a:pt x="148031" y="14224"/>
                  </a:lnTo>
                  <a:lnTo>
                    <a:pt x="151084" y="25523"/>
                  </a:lnTo>
                  <a:lnTo>
                    <a:pt x="164617" y="75145"/>
                  </a:lnTo>
                  <a:lnTo>
                    <a:pt x="164719" y="75768"/>
                  </a:lnTo>
                  <a:lnTo>
                    <a:pt x="164896" y="76504"/>
                  </a:lnTo>
                  <a:lnTo>
                    <a:pt x="179401" y="76504"/>
                  </a:lnTo>
                  <a:lnTo>
                    <a:pt x="173588" y="55303"/>
                  </a:lnTo>
                  <a:lnTo>
                    <a:pt x="162300" y="13855"/>
                  </a:lnTo>
                  <a:close/>
                </a:path>
              </a:pathLst>
            </a:custGeom>
            <a:solidFill>
              <a:srgbClr val="007680"/>
            </a:solidFill>
            <a:scene3d>
              <a:camera prst="orthographicFront">
                <a:rot lat="0" lon="0" rev="0"/>
              </a:camera>
              <a:lightRig rig="threePt" dir="t"/>
            </a:scene3d>
          </p:spPr>
          <p:txBody>
            <a:bodyPr wrap="square" lIns="0" tIns="0" rIns="0" bIns="0" rtlCol="0"/>
            <a:lstStyle/>
            <a:p>
              <a:pPr defTabSz="424278">
                <a:defRPr/>
              </a:pPr>
              <a:endParaRPr sz="1851" kern="0" dirty="0">
                <a:solidFill>
                  <a:prstClr val="white"/>
                </a:solidFill>
                <a:latin typeface="Calibri"/>
              </a:endParaRPr>
            </a:p>
          </p:txBody>
        </p:sp>
        <p:sp>
          <p:nvSpPr>
            <p:cNvPr id="12" name="object 135">
              <a:extLst>
                <a:ext uri="{FF2B5EF4-FFF2-40B4-BE49-F238E27FC236}">
                  <a16:creationId xmlns:a16="http://schemas.microsoft.com/office/drawing/2014/main" id="{D4FFBE6D-9CB8-4779-B1D6-BD06383E4815}"/>
                </a:ext>
              </a:extLst>
            </p:cNvPr>
            <p:cNvSpPr/>
            <p:nvPr/>
          </p:nvSpPr>
          <p:spPr>
            <a:xfrm rot="161775">
              <a:off x="1521198" y="5083048"/>
              <a:ext cx="169706" cy="55349"/>
            </a:xfrm>
            <a:custGeom>
              <a:avLst/>
              <a:gdLst/>
              <a:ahLst/>
              <a:cxnLst/>
              <a:rect l="l" t="t" r="r" b="b"/>
              <a:pathLst>
                <a:path w="69850" h="20954">
                  <a:moveTo>
                    <a:pt x="10312" y="6794"/>
                  </a:moveTo>
                  <a:lnTo>
                    <a:pt x="2882" y="7086"/>
                  </a:lnTo>
                  <a:lnTo>
                    <a:pt x="558" y="9131"/>
                  </a:lnTo>
                  <a:lnTo>
                    <a:pt x="0" y="14935"/>
                  </a:lnTo>
                  <a:lnTo>
                    <a:pt x="190" y="17830"/>
                  </a:lnTo>
                  <a:lnTo>
                    <a:pt x="177" y="20700"/>
                  </a:lnTo>
                  <a:lnTo>
                    <a:pt x="69494" y="20700"/>
                  </a:lnTo>
                  <a:lnTo>
                    <a:pt x="69570" y="9512"/>
                  </a:lnTo>
                  <a:lnTo>
                    <a:pt x="66878" y="6857"/>
                  </a:lnTo>
                  <a:lnTo>
                    <a:pt x="49151" y="6845"/>
                  </a:lnTo>
                  <a:lnTo>
                    <a:pt x="20472" y="6845"/>
                  </a:lnTo>
                  <a:lnTo>
                    <a:pt x="10312" y="6794"/>
                  </a:lnTo>
                  <a:close/>
                </a:path>
                <a:path w="69850" h="20954">
                  <a:moveTo>
                    <a:pt x="48717" y="0"/>
                  </a:moveTo>
                  <a:lnTo>
                    <a:pt x="20942" y="0"/>
                  </a:lnTo>
                  <a:lnTo>
                    <a:pt x="20853" y="3428"/>
                  </a:lnTo>
                  <a:lnTo>
                    <a:pt x="21069" y="6527"/>
                  </a:lnTo>
                  <a:lnTo>
                    <a:pt x="20472" y="6845"/>
                  </a:lnTo>
                  <a:lnTo>
                    <a:pt x="49151" y="6845"/>
                  </a:lnTo>
                  <a:lnTo>
                    <a:pt x="48590" y="6527"/>
                  </a:lnTo>
                  <a:lnTo>
                    <a:pt x="48816" y="3428"/>
                  </a:lnTo>
                  <a:lnTo>
                    <a:pt x="48717" y="0"/>
                  </a:lnTo>
                  <a:close/>
                </a:path>
              </a:pathLst>
            </a:custGeom>
            <a:solidFill>
              <a:srgbClr val="007680"/>
            </a:solidFill>
            <a:scene3d>
              <a:camera prst="orthographicFront">
                <a:rot lat="0" lon="0" rev="0"/>
              </a:camera>
              <a:lightRig rig="threePt" dir="t"/>
            </a:scene3d>
          </p:spPr>
          <p:txBody>
            <a:bodyPr wrap="square" lIns="0" tIns="0" rIns="0" bIns="0" rtlCol="0"/>
            <a:lstStyle/>
            <a:p>
              <a:pPr defTabSz="424278">
                <a:defRPr/>
              </a:pPr>
              <a:endParaRPr sz="1851" kern="0" dirty="0">
                <a:solidFill>
                  <a:prstClr val="white"/>
                </a:solidFill>
                <a:latin typeface="Calibri"/>
              </a:endParaRPr>
            </a:p>
          </p:txBody>
        </p:sp>
        <p:sp>
          <p:nvSpPr>
            <p:cNvPr id="13" name="object 136">
              <a:extLst>
                <a:ext uri="{FF2B5EF4-FFF2-40B4-BE49-F238E27FC236}">
                  <a16:creationId xmlns:a16="http://schemas.microsoft.com/office/drawing/2014/main" id="{ED6731DA-F65C-4904-9A4C-772D298A6A67}"/>
                </a:ext>
              </a:extLst>
            </p:cNvPr>
            <p:cNvSpPr>
              <a:spLocks noChangeAspect="1"/>
            </p:cNvSpPr>
            <p:nvPr/>
          </p:nvSpPr>
          <p:spPr>
            <a:xfrm rot="161775">
              <a:off x="1469620" y="4631403"/>
              <a:ext cx="275770" cy="179886"/>
            </a:xfrm>
            <a:custGeom>
              <a:avLst/>
              <a:gdLst/>
              <a:ahLst/>
              <a:cxnLst/>
              <a:rect l="l" t="t" r="r" b="b"/>
              <a:pathLst>
                <a:path w="82550" h="49529">
                  <a:moveTo>
                    <a:pt x="67477" y="20414"/>
                  </a:moveTo>
                  <a:lnTo>
                    <a:pt x="43105" y="20414"/>
                  </a:lnTo>
                  <a:lnTo>
                    <a:pt x="55363" y="25656"/>
                  </a:lnTo>
                  <a:lnTo>
                    <a:pt x="61798" y="35798"/>
                  </a:lnTo>
                  <a:lnTo>
                    <a:pt x="61417" y="48386"/>
                  </a:lnTo>
                  <a:lnTo>
                    <a:pt x="65379" y="48640"/>
                  </a:lnTo>
                  <a:lnTo>
                    <a:pt x="69265" y="49060"/>
                  </a:lnTo>
                  <a:lnTo>
                    <a:pt x="72948" y="45821"/>
                  </a:lnTo>
                  <a:lnTo>
                    <a:pt x="73545" y="45618"/>
                  </a:lnTo>
                  <a:lnTo>
                    <a:pt x="82550" y="41541"/>
                  </a:lnTo>
                  <a:lnTo>
                    <a:pt x="81876" y="41274"/>
                  </a:lnTo>
                  <a:lnTo>
                    <a:pt x="81330" y="41084"/>
                  </a:lnTo>
                  <a:lnTo>
                    <a:pt x="77330" y="39281"/>
                  </a:lnTo>
                  <a:lnTo>
                    <a:pt x="73787" y="37845"/>
                  </a:lnTo>
                  <a:lnTo>
                    <a:pt x="67106" y="34289"/>
                  </a:lnTo>
                  <a:lnTo>
                    <a:pt x="65138" y="31508"/>
                  </a:lnTo>
                  <a:lnTo>
                    <a:pt x="66433" y="24637"/>
                  </a:lnTo>
                  <a:lnTo>
                    <a:pt x="67081" y="21767"/>
                  </a:lnTo>
                  <a:lnTo>
                    <a:pt x="67477" y="20414"/>
                  </a:lnTo>
                  <a:close/>
                </a:path>
                <a:path w="82550" h="49529">
                  <a:moveTo>
                    <a:pt x="11760" y="12191"/>
                  </a:moveTo>
                  <a:lnTo>
                    <a:pt x="12357" y="13563"/>
                  </a:lnTo>
                  <a:lnTo>
                    <a:pt x="14439" y="18999"/>
                  </a:lnTo>
                  <a:lnTo>
                    <a:pt x="16535" y="23812"/>
                  </a:lnTo>
                  <a:lnTo>
                    <a:pt x="17030" y="31191"/>
                  </a:lnTo>
                  <a:lnTo>
                    <a:pt x="16408" y="32880"/>
                  </a:lnTo>
                  <a:lnTo>
                    <a:pt x="12890" y="35255"/>
                  </a:lnTo>
                  <a:lnTo>
                    <a:pt x="11112" y="36537"/>
                  </a:lnTo>
                  <a:lnTo>
                    <a:pt x="6197" y="38950"/>
                  </a:lnTo>
                  <a:lnTo>
                    <a:pt x="3073" y="40157"/>
                  </a:lnTo>
                  <a:lnTo>
                    <a:pt x="0" y="41478"/>
                  </a:lnTo>
                  <a:lnTo>
                    <a:pt x="241" y="41770"/>
                  </a:lnTo>
                  <a:lnTo>
                    <a:pt x="13741" y="48183"/>
                  </a:lnTo>
                  <a:lnTo>
                    <a:pt x="14401" y="48475"/>
                  </a:lnTo>
                  <a:lnTo>
                    <a:pt x="18808" y="48488"/>
                  </a:lnTo>
                  <a:lnTo>
                    <a:pt x="22279" y="31940"/>
                  </a:lnTo>
                  <a:lnTo>
                    <a:pt x="31873" y="22276"/>
                  </a:lnTo>
                  <a:lnTo>
                    <a:pt x="43105" y="20414"/>
                  </a:lnTo>
                  <a:lnTo>
                    <a:pt x="67477" y="20414"/>
                  </a:lnTo>
                  <a:lnTo>
                    <a:pt x="68134" y="18173"/>
                  </a:lnTo>
                  <a:lnTo>
                    <a:pt x="54102" y="18173"/>
                  </a:lnTo>
                  <a:lnTo>
                    <a:pt x="51274" y="17513"/>
                  </a:lnTo>
                  <a:lnTo>
                    <a:pt x="30365" y="17513"/>
                  </a:lnTo>
                  <a:lnTo>
                    <a:pt x="22860" y="16776"/>
                  </a:lnTo>
                  <a:lnTo>
                    <a:pt x="17929" y="14592"/>
                  </a:lnTo>
                  <a:lnTo>
                    <a:pt x="13322" y="12776"/>
                  </a:lnTo>
                  <a:lnTo>
                    <a:pt x="11760" y="12191"/>
                  </a:lnTo>
                  <a:close/>
                </a:path>
                <a:path w="82550" h="49529">
                  <a:moveTo>
                    <a:pt x="70472" y="12204"/>
                  </a:moveTo>
                  <a:lnTo>
                    <a:pt x="69456" y="12687"/>
                  </a:lnTo>
                  <a:lnTo>
                    <a:pt x="65087" y="14325"/>
                  </a:lnTo>
                  <a:lnTo>
                    <a:pt x="61175" y="15963"/>
                  </a:lnTo>
                  <a:lnTo>
                    <a:pt x="54102" y="18173"/>
                  </a:lnTo>
                  <a:lnTo>
                    <a:pt x="68134" y="18173"/>
                  </a:lnTo>
                  <a:lnTo>
                    <a:pt x="68554" y="16738"/>
                  </a:lnTo>
                  <a:lnTo>
                    <a:pt x="69550" y="14592"/>
                  </a:lnTo>
                  <a:lnTo>
                    <a:pt x="70472" y="12204"/>
                  </a:lnTo>
                  <a:close/>
                </a:path>
                <a:path w="82550" h="49529">
                  <a:moveTo>
                    <a:pt x="41173" y="0"/>
                  </a:moveTo>
                  <a:lnTo>
                    <a:pt x="40843" y="800"/>
                  </a:lnTo>
                  <a:lnTo>
                    <a:pt x="40652" y="1320"/>
                  </a:lnTo>
                  <a:lnTo>
                    <a:pt x="38481" y="6438"/>
                  </a:lnTo>
                  <a:lnTo>
                    <a:pt x="36753" y="11150"/>
                  </a:lnTo>
                  <a:lnTo>
                    <a:pt x="32092" y="16840"/>
                  </a:lnTo>
                  <a:lnTo>
                    <a:pt x="30365" y="17513"/>
                  </a:lnTo>
                  <a:lnTo>
                    <a:pt x="51274" y="17513"/>
                  </a:lnTo>
                  <a:lnTo>
                    <a:pt x="45948" y="9143"/>
                  </a:lnTo>
                  <a:lnTo>
                    <a:pt x="43205" y="4381"/>
                  </a:lnTo>
                  <a:lnTo>
                    <a:pt x="42303" y="2298"/>
                  </a:lnTo>
                  <a:lnTo>
                    <a:pt x="41173" y="0"/>
                  </a:lnTo>
                  <a:close/>
                </a:path>
              </a:pathLst>
            </a:custGeom>
            <a:solidFill>
              <a:srgbClr val="007680"/>
            </a:solidFill>
            <a:scene3d>
              <a:camera prst="orthographicFront">
                <a:rot lat="0" lon="0" rev="0"/>
              </a:camera>
              <a:lightRig rig="threePt" dir="t"/>
            </a:scene3d>
          </p:spPr>
          <p:txBody>
            <a:bodyPr wrap="square" lIns="0" tIns="0" rIns="0" bIns="0" rtlCol="0"/>
            <a:lstStyle/>
            <a:p>
              <a:pPr defTabSz="424278">
                <a:defRPr/>
              </a:pPr>
              <a:endParaRPr sz="1851" kern="0" dirty="0">
                <a:solidFill>
                  <a:prstClr val="white"/>
                </a:solidFill>
                <a:latin typeface="Calibri"/>
              </a:endParaRPr>
            </a:p>
          </p:txBody>
        </p:sp>
        <p:sp>
          <p:nvSpPr>
            <p:cNvPr id="14" name="object 137">
              <a:extLst>
                <a:ext uri="{FF2B5EF4-FFF2-40B4-BE49-F238E27FC236}">
                  <a16:creationId xmlns:a16="http://schemas.microsoft.com/office/drawing/2014/main" id="{A85F1F27-008D-4D9B-81E0-03C5E8F1CCAB}"/>
                </a:ext>
              </a:extLst>
            </p:cNvPr>
            <p:cNvSpPr/>
            <p:nvPr/>
          </p:nvSpPr>
          <p:spPr>
            <a:xfrm rot="161775">
              <a:off x="1474794" y="4935480"/>
              <a:ext cx="72511" cy="55349"/>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solidFill>
              <a:srgbClr val="007680"/>
            </a:solidFill>
            <a:scene3d>
              <a:camera prst="orthographicFront">
                <a:rot lat="0" lon="0" rev="0"/>
              </a:camera>
              <a:lightRig rig="threePt" dir="t"/>
            </a:scene3d>
          </p:spPr>
          <p:txBody>
            <a:bodyPr wrap="square" lIns="0" tIns="0" rIns="0" bIns="0" rtlCol="0"/>
            <a:lstStyle/>
            <a:p>
              <a:pPr defTabSz="424278">
                <a:defRPr/>
              </a:pPr>
              <a:endParaRPr sz="1851" kern="0" dirty="0">
                <a:solidFill>
                  <a:prstClr val="white"/>
                </a:solidFill>
                <a:latin typeface="Calibri"/>
              </a:endParaRPr>
            </a:p>
          </p:txBody>
        </p:sp>
        <p:sp>
          <p:nvSpPr>
            <p:cNvPr id="15" name="object 138">
              <a:extLst>
                <a:ext uri="{FF2B5EF4-FFF2-40B4-BE49-F238E27FC236}">
                  <a16:creationId xmlns:a16="http://schemas.microsoft.com/office/drawing/2014/main" id="{8CA490A3-6AC6-4C2B-8493-A9C56FF9F0FE}"/>
                </a:ext>
              </a:extLst>
            </p:cNvPr>
            <p:cNvSpPr/>
            <p:nvPr/>
          </p:nvSpPr>
          <p:spPr>
            <a:xfrm rot="161775">
              <a:off x="1679321" y="4939881"/>
              <a:ext cx="78680" cy="57026"/>
            </a:xfrm>
            <a:custGeom>
              <a:avLst/>
              <a:gdLst/>
              <a:ahLst/>
              <a:cxnLst/>
              <a:rect l="l" t="t" r="r" b="b"/>
              <a:pathLst>
                <a:path w="32385" h="21589">
                  <a:moveTo>
                    <a:pt x="26568" y="0"/>
                  </a:moveTo>
                  <a:lnTo>
                    <a:pt x="0" y="152"/>
                  </a:lnTo>
                  <a:lnTo>
                    <a:pt x="215" y="2743"/>
                  </a:lnTo>
                  <a:lnTo>
                    <a:pt x="876" y="8178"/>
                  </a:lnTo>
                  <a:lnTo>
                    <a:pt x="1625" y="13601"/>
                  </a:lnTo>
                  <a:lnTo>
                    <a:pt x="2374" y="20510"/>
                  </a:lnTo>
                  <a:lnTo>
                    <a:pt x="2857" y="21005"/>
                  </a:lnTo>
                  <a:lnTo>
                    <a:pt x="32003" y="20853"/>
                  </a:lnTo>
                  <a:lnTo>
                    <a:pt x="31749" y="19202"/>
                  </a:lnTo>
                  <a:lnTo>
                    <a:pt x="30276" y="13322"/>
                  </a:lnTo>
                  <a:lnTo>
                    <a:pt x="28752" y="7467"/>
                  </a:lnTo>
                  <a:lnTo>
                    <a:pt x="27050" y="355"/>
                  </a:lnTo>
                  <a:lnTo>
                    <a:pt x="26568" y="0"/>
                  </a:lnTo>
                  <a:close/>
                </a:path>
              </a:pathLst>
            </a:custGeom>
            <a:solidFill>
              <a:srgbClr val="007680"/>
            </a:solidFill>
            <a:scene3d>
              <a:camera prst="orthographicFront">
                <a:rot lat="0" lon="0" rev="0"/>
              </a:camera>
              <a:lightRig rig="threePt" dir="t"/>
            </a:scene3d>
          </p:spPr>
          <p:txBody>
            <a:bodyPr wrap="square" lIns="0" tIns="0" rIns="0" bIns="0" rtlCol="0"/>
            <a:lstStyle/>
            <a:p>
              <a:pPr defTabSz="424278">
                <a:defRPr/>
              </a:pPr>
              <a:endParaRPr sz="1851" kern="0" dirty="0">
                <a:solidFill>
                  <a:prstClr val="white"/>
                </a:solidFill>
                <a:latin typeface="Calibri"/>
              </a:endParaRPr>
            </a:p>
          </p:txBody>
        </p:sp>
        <p:sp>
          <p:nvSpPr>
            <p:cNvPr id="16" name="object 139">
              <a:extLst>
                <a:ext uri="{FF2B5EF4-FFF2-40B4-BE49-F238E27FC236}">
                  <a16:creationId xmlns:a16="http://schemas.microsoft.com/office/drawing/2014/main" id="{6092BB05-771F-4307-97D1-7820413F5CA2}"/>
                </a:ext>
              </a:extLst>
            </p:cNvPr>
            <p:cNvSpPr/>
            <p:nvPr/>
          </p:nvSpPr>
          <p:spPr>
            <a:xfrm rot="161775">
              <a:off x="1469625" y="4930949"/>
              <a:ext cx="78680" cy="55349"/>
            </a:xfrm>
            <a:custGeom>
              <a:avLst/>
              <a:gdLst/>
              <a:ahLst/>
              <a:cxnLst/>
              <a:rect l="l" t="t" r="r" b="b"/>
              <a:pathLst>
                <a:path w="32385" h="20954">
                  <a:moveTo>
                    <a:pt x="5143" y="0"/>
                  </a:moveTo>
                  <a:lnTo>
                    <a:pt x="5041" y="673"/>
                  </a:lnTo>
                  <a:lnTo>
                    <a:pt x="1295" y="15430"/>
                  </a:lnTo>
                  <a:lnTo>
                    <a:pt x="0" y="20701"/>
                  </a:lnTo>
                  <a:lnTo>
                    <a:pt x="29552" y="20701"/>
                  </a:lnTo>
                  <a:lnTo>
                    <a:pt x="32130" y="368"/>
                  </a:lnTo>
                  <a:lnTo>
                    <a:pt x="31762" y="139"/>
                  </a:lnTo>
                  <a:lnTo>
                    <a:pt x="5143" y="0"/>
                  </a:lnTo>
                  <a:close/>
                </a:path>
              </a:pathLst>
            </a:custGeom>
            <a:solidFill>
              <a:srgbClr val="007680"/>
            </a:solidFill>
            <a:scene3d>
              <a:camera prst="orthographicFront">
                <a:rot lat="0" lon="0" rev="0"/>
              </a:camera>
              <a:lightRig rig="threePt" dir="t"/>
            </a:scene3d>
          </p:spPr>
          <p:txBody>
            <a:bodyPr wrap="square" lIns="0" tIns="0" rIns="0" bIns="0" rtlCol="0"/>
            <a:lstStyle/>
            <a:p>
              <a:pPr defTabSz="424278">
                <a:defRPr/>
              </a:pPr>
              <a:endParaRPr sz="1851" kern="0" dirty="0">
                <a:solidFill>
                  <a:prstClr val="white"/>
                </a:solidFill>
                <a:latin typeface="Calibri"/>
              </a:endParaRPr>
            </a:p>
          </p:txBody>
        </p:sp>
        <p:sp>
          <p:nvSpPr>
            <p:cNvPr id="17" name="object 140">
              <a:extLst>
                <a:ext uri="{FF2B5EF4-FFF2-40B4-BE49-F238E27FC236}">
                  <a16:creationId xmlns:a16="http://schemas.microsoft.com/office/drawing/2014/main" id="{6B63E628-2989-4C6B-AF7B-340B90BE219E}"/>
                </a:ext>
              </a:extLst>
            </p:cNvPr>
            <p:cNvSpPr/>
            <p:nvPr/>
          </p:nvSpPr>
          <p:spPr>
            <a:xfrm rot="161775">
              <a:off x="1674794" y="4866245"/>
              <a:ext cx="67882" cy="45285"/>
            </a:xfrm>
            <a:custGeom>
              <a:avLst/>
              <a:gdLst/>
              <a:ahLst/>
              <a:cxnLst/>
              <a:rect l="l" t="t" r="r" b="b"/>
              <a:pathLst>
                <a:path w="27939" h="17145">
                  <a:moveTo>
                    <a:pt x="23139" y="0"/>
                  </a:moveTo>
                  <a:lnTo>
                    <a:pt x="1079" y="50"/>
                  </a:lnTo>
                  <a:lnTo>
                    <a:pt x="0" y="177"/>
                  </a:lnTo>
                  <a:lnTo>
                    <a:pt x="2095" y="16891"/>
                  </a:lnTo>
                  <a:lnTo>
                    <a:pt x="27762" y="16891"/>
                  </a:lnTo>
                  <a:lnTo>
                    <a:pt x="26441" y="11582"/>
                  </a:lnTo>
                  <a:lnTo>
                    <a:pt x="25133" y="6527"/>
                  </a:lnTo>
                  <a:lnTo>
                    <a:pt x="23672" y="254"/>
                  </a:lnTo>
                  <a:lnTo>
                    <a:pt x="23139" y="0"/>
                  </a:lnTo>
                  <a:close/>
                </a:path>
              </a:pathLst>
            </a:custGeom>
            <a:solidFill>
              <a:srgbClr val="007680"/>
            </a:solidFill>
            <a:scene3d>
              <a:camera prst="orthographicFront">
                <a:rot lat="0" lon="0" rev="0"/>
              </a:camera>
              <a:lightRig rig="threePt" dir="t"/>
            </a:scene3d>
          </p:spPr>
          <p:txBody>
            <a:bodyPr wrap="square" lIns="0" tIns="0" rIns="0" bIns="0" rtlCol="0"/>
            <a:lstStyle/>
            <a:p>
              <a:pPr defTabSz="424278">
                <a:defRPr/>
              </a:pPr>
              <a:endParaRPr sz="1851" kern="0" dirty="0">
                <a:solidFill>
                  <a:prstClr val="white"/>
                </a:solidFill>
                <a:latin typeface="Calibri"/>
              </a:endParaRPr>
            </a:p>
          </p:txBody>
        </p:sp>
        <p:sp>
          <p:nvSpPr>
            <p:cNvPr id="18" name="object 142">
              <a:extLst>
                <a:ext uri="{FF2B5EF4-FFF2-40B4-BE49-F238E27FC236}">
                  <a16:creationId xmlns:a16="http://schemas.microsoft.com/office/drawing/2014/main" id="{3C4F6BE9-B71C-44CE-BDFD-91FD16A95AB6}"/>
                </a:ext>
              </a:extLst>
            </p:cNvPr>
            <p:cNvSpPr/>
            <p:nvPr/>
          </p:nvSpPr>
          <p:spPr>
            <a:xfrm rot="161775">
              <a:off x="1493349" y="4858467"/>
              <a:ext cx="67882" cy="45285"/>
            </a:xfrm>
            <a:custGeom>
              <a:avLst/>
              <a:gdLst/>
              <a:ahLst/>
              <a:cxnLst/>
              <a:rect l="l" t="t" r="r" b="b"/>
              <a:pathLst>
                <a:path w="27939" h="17145">
                  <a:moveTo>
                    <a:pt x="4584" y="0"/>
                  </a:moveTo>
                  <a:lnTo>
                    <a:pt x="3911" y="736"/>
                  </a:lnTo>
                  <a:lnTo>
                    <a:pt x="2514" y="6019"/>
                  </a:lnTo>
                  <a:lnTo>
                    <a:pt x="165" y="15620"/>
                  </a:lnTo>
                  <a:lnTo>
                    <a:pt x="0" y="16878"/>
                  </a:lnTo>
                  <a:lnTo>
                    <a:pt x="25412" y="16878"/>
                  </a:lnTo>
                  <a:lnTo>
                    <a:pt x="26428" y="9347"/>
                  </a:lnTo>
                  <a:lnTo>
                    <a:pt x="26949" y="4787"/>
                  </a:lnTo>
                  <a:lnTo>
                    <a:pt x="27508" y="279"/>
                  </a:lnTo>
                  <a:lnTo>
                    <a:pt x="27190" y="88"/>
                  </a:lnTo>
                  <a:lnTo>
                    <a:pt x="4584" y="0"/>
                  </a:lnTo>
                  <a:close/>
                </a:path>
              </a:pathLst>
            </a:custGeom>
            <a:solidFill>
              <a:srgbClr val="007680"/>
            </a:solidFill>
            <a:scene3d>
              <a:camera prst="orthographicFront">
                <a:rot lat="0" lon="0" rev="0"/>
              </a:camera>
              <a:lightRig rig="threePt" dir="t"/>
            </a:scene3d>
          </p:spPr>
          <p:txBody>
            <a:bodyPr wrap="square" lIns="0" tIns="0" rIns="0" bIns="0" rtlCol="0"/>
            <a:lstStyle/>
            <a:p>
              <a:pPr defTabSz="424278">
                <a:defRPr/>
              </a:pPr>
              <a:endParaRPr sz="1851" kern="0" dirty="0">
                <a:solidFill>
                  <a:prstClr val="white"/>
                </a:solidFill>
                <a:latin typeface="Calibri"/>
              </a:endParaRPr>
            </a:p>
          </p:txBody>
        </p:sp>
        <p:sp>
          <p:nvSpPr>
            <p:cNvPr id="19" name="object 137">
              <a:extLst>
                <a:ext uri="{FF2B5EF4-FFF2-40B4-BE49-F238E27FC236}">
                  <a16:creationId xmlns:a16="http://schemas.microsoft.com/office/drawing/2014/main" id="{6AEBD308-5F73-4B74-BEC3-A6CE4DDA1A0D}"/>
                </a:ext>
              </a:extLst>
            </p:cNvPr>
            <p:cNvSpPr/>
            <p:nvPr/>
          </p:nvSpPr>
          <p:spPr>
            <a:xfrm rot="161775">
              <a:off x="1581569" y="4860266"/>
              <a:ext cx="72511" cy="46373"/>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solidFill>
              <a:srgbClr val="007680"/>
            </a:solidFill>
            <a:scene3d>
              <a:camera prst="orthographicFront">
                <a:rot lat="0" lon="0" rev="0"/>
              </a:camera>
              <a:lightRig rig="threePt" dir="t"/>
            </a:scene3d>
          </p:spPr>
          <p:txBody>
            <a:bodyPr wrap="square" lIns="0" tIns="0" rIns="0" bIns="0" rtlCol="0"/>
            <a:lstStyle/>
            <a:p>
              <a:pPr defTabSz="424278">
                <a:defRPr/>
              </a:pPr>
              <a:endParaRPr sz="1851" kern="0" dirty="0">
                <a:solidFill>
                  <a:prstClr val="white"/>
                </a:solidFill>
                <a:latin typeface="Calibri"/>
              </a:endParaRPr>
            </a:p>
          </p:txBody>
        </p:sp>
      </p:grpSp>
      <p:sp>
        <p:nvSpPr>
          <p:cNvPr id="20" name="TextBox 19">
            <a:extLst>
              <a:ext uri="{FF2B5EF4-FFF2-40B4-BE49-F238E27FC236}">
                <a16:creationId xmlns:a16="http://schemas.microsoft.com/office/drawing/2014/main" id="{A21E2464-CDCE-4463-964C-415E63BEE704}"/>
              </a:ext>
            </a:extLst>
          </p:cNvPr>
          <p:cNvSpPr txBox="1"/>
          <p:nvPr/>
        </p:nvSpPr>
        <p:spPr>
          <a:xfrm>
            <a:off x="1929247" y="4167080"/>
            <a:ext cx="912731" cy="877163"/>
          </a:xfrm>
          <a:prstGeom prst="rect">
            <a:avLst/>
          </a:prstGeom>
          <a:noFill/>
        </p:spPr>
        <p:txBody>
          <a:bodyPr wrap="square" lIns="0" tIns="0" rIns="0" bIns="0" rtlCol="0">
            <a:spAutoFit/>
          </a:bodyPr>
          <a:lstStyle/>
          <a:p>
            <a:pPr defTabSz="885893">
              <a:spcBef>
                <a:spcPts val="600"/>
              </a:spcBef>
              <a:buSzPct val="100000"/>
              <a:defRPr/>
            </a:pPr>
            <a:r>
              <a:rPr lang="en-US" sz="1400" b="1" kern="0" dirty="0">
                <a:solidFill>
                  <a:srgbClr val="007680"/>
                </a:solidFill>
                <a:latin typeface="Calibri"/>
              </a:rPr>
              <a:t>175 GW </a:t>
            </a:r>
            <a:r>
              <a:rPr lang="en-US" sz="1200" b="1" kern="0" dirty="0">
                <a:solidFill>
                  <a:srgbClr val="007680"/>
                </a:solidFill>
                <a:latin typeface="Calibri"/>
              </a:rPr>
              <a:t>by 2022; </a:t>
            </a:r>
            <a:endParaRPr lang="en-US" sz="1050" kern="0" dirty="0">
              <a:solidFill>
                <a:prstClr val="black"/>
              </a:solidFill>
              <a:latin typeface="Calibri"/>
            </a:endParaRPr>
          </a:p>
          <a:p>
            <a:pPr defTabSz="885893">
              <a:spcBef>
                <a:spcPts val="600"/>
              </a:spcBef>
              <a:buSzPct val="100000"/>
              <a:defRPr/>
            </a:pPr>
            <a:r>
              <a:rPr lang="en-US" sz="1400" b="1" kern="0" dirty="0">
                <a:solidFill>
                  <a:srgbClr val="007680"/>
                </a:solidFill>
                <a:latin typeface="Calibri"/>
              </a:rPr>
              <a:t>450 GW </a:t>
            </a:r>
            <a:r>
              <a:rPr lang="en-US" sz="1200" b="1" kern="0" dirty="0">
                <a:solidFill>
                  <a:srgbClr val="007680"/>
                </a:solidFill>
                <a:latin typeface="Calibri"/>
              </a:rPr>
              <a:t>by 2030</a:t>
            </a:r>
          </a:p>
        </p:txBody>
      </p:sp>
      <p:sp>
        <p:nvSpPr>
          <p:cNvPr id="21" name="TextBox 20">
            <a:extLst>
              <a:ext uri="{FF2B5EF4-FFF2-40B4-BE49-F238E27FC236}">
                <a16:creationId xmlns:a16="http://schemas.microsoft.com/office/drawing/2014/main" id="{7D888D70-7410-49A7-B61A-884D7C5D91D7}"/>
              </a:ext>
            </a:extLst>
          </p:cNvPr>
          <p:cNvSpPr txBox="1"/>
          <p:nvPr/>
        </p:nvSpPr>
        <p:spPr>
          <a:xfrm>
            <a:off x="1022995" y="3892417"/>
            <a:ext cx="1750036" cy="215444"/>
          </a:xfrm>
          <a:prstGeom prst="rect">
            <a:avLst/>
          </a:prstGeom>
          <a:noFill/>
        </p:spPr>
        <p:txBody>
          <a:bodyPr wrap="square" lIns="0" tIns="0" rIns="0" bIns="0" rtlCol="0">
            <a:spAutoFit/>
          </a:bodyPr>
          <a:lstStyle/>
          <a:p>
            <a:pPr defTabSz="885893">
              <a:spcBef>
                <a:spcPts val="600"/>
              </a:spcBef>
              <a:buSzPct val="100000"/>
              <a:defRPr/>
            </a:pPr>
            <a:r>
              <a:rPr lang="en-US" sz="1400" b="1" kern="0" dirty="0">
                <a:solidFill>
                  <a:prstClr val="black"/>
                </a:solidFill>
                <a:latin typeface="Calibri"/>
              </a:rPr>
              <a:t>Ambitious RE Targets </a:t>
            </a:r>
            <a:endParaRPr lang="en-IN" sz="1400" b="1" kern="0" baseline="30000" dirty="0">
              <a:solidFill>
                <a:prstClr val="black"/>
              </a:solidFill>
              <a:latin typeface="Calibri"/>
            </a:endParaRPr>
          </a:p>
        </p:txBody>
      </p:sp>
      <p:sp>
        <p:nvSpPr>
          <p:cNvPr id="22" name="Rectangle 21">
            <a:extLst>
              <a:ext uri="{FF2B5EF4-FFF2-40B4-BE49-F238E27FC236}">
                <a16:creationId xmlns:a16="http://schemas.microsoft.com/office/drawing/2014/main" id="{BD58F163-FD45-475D-8C90-BF42A8D94AE6}"/>
              </a:ext>
            </a:extLst>
          </p:cNvPr>
          <p:cNvSpPr/>
          <p:nvPr/>
        </p:nvSpPr>
        <p:spPr bwMode="gray">
          <a:xfrm>
            <a:off x="7279440" y="3873000"/>
            <a:ext cx="1993392" cy="1682496"/>
          </a:xfrm>
          <a:prstGeom prst="rect">
            <a:avLst/>
          </a:prstGeom>
          <a:solidFill>
            <a:srgbClr val="DDEFE8">
              <a:alpha val="30000"/>
            </a:srgbClr>
          </a:solidFill>
          <a:ln w="19050" algn="ctr">
            <a:solidFill>
              <a:srgbClr val="0D8390"/>
            </a:solidFill>
            <a:prstDash val="sysDot"/>
            <a:miter lim="800000"/>
            <a:headEnd/>
            <a:tailEnd/>
          </a:ln>
        </p:spPr>
        <p:txBody>
          <a:bodyPr wrap="square" lIns="88900" tIns="88900" rIns="88900" bIns="88900" rtlCol="0" anchor="ctr"/>
          <a:lstStyle/>
          <a:p>
            <a:pPr marL="0" marR="0" lvl="0" indent="0" algn="ctr" defTabSz="885893" eaLnBrk="1" fontAlgn="auto" latinLnBrk="0" hangingPunct="1">
              <a:lnSpc>
                <a:spcPct val="106000"/>
              </a:lnSpc>
              <a:spcBef>
                <a:spcPts val="0"/>
              </a:spcBef>
              <a:spcAft>
                <a:spcPts val="0"/>
              </a:spcAft>
              <a:buClrTx/>
              <a:buSzTx/>
              <a:buFontTx/>
              <a:buNone/>
              <a:tabLst/>
              <a:defRPr/>
            </a:pPr>
            <a:endParaRPr kumimoji="0" lang="en-IN" sz="1600" b="1" i="0" u="none" strike="noStrike" kern="0" cap="none" spc="0" normalizeH="0" baseline="0" noProof="0" dirty="0">
              <a:ln>
                <a:noFill/>
              </a:ln>
              <a:solidFill>
                <a:prstClr val="white"/>
              </a:solidFill>
              <a:effectLst/>
              <a:uLnTx/>
              <a:uFillTx/>
              <a:latin typeface="Calibri"/>
            </a:endParaRPr>
          </a:p>
        </p:txBody>
      </p:sp>
      <p:sp>
        <p:nvSpPr>
          <p:cNvPr id="24" name="TextBox 23">
            <a:extLst>
              <a:ext uri="{FF2B5EF4-FFF2-40B4-BE49-F238E27FC236}">
                <a16:creationId xmlns:a16="http://schemas.microsoft.com/office/drawing/2014/main" id="{18418C0F-8A65-49BC-84EB-62BC1DBDBF35}"/>
              </a:ext>
            </a:extLst>
          </p:cNvPr>
          <p:cNvSpPr txBox="1"/>
          <p:nvPr/>
        </p:nvSpPr>
        <p:spPr>
          <a:xfrm>
            <a:off x="7383072" y="3898128"/>
            <a:ext cx="1759464" cy="646331"/>
          </a:xfrm>
          <a:prstGeom prst="rect">
            <a:avLst/>
          </a:prstGeom>
          <a:noFill/>
        </p:spPr>
        <p:txBody>
          <a:bodyPr wrap="square" lIns="0" tIns="0" rIns="0" bIns="0" rtlCol="0">
            <a:spAutoFit/>
          </a:bodyPr>
          <a:lstStyle/>
          <a:p>
            <a:pPr defTabSz="885893">
              <a:spcBef>
                <a:spcPts val="600"/>
              </a:spcBef>
              <a:buSzPct val="100000"/>
              <a:defRPr/>
            </a:pPr>
            <a:r>
              <a:rPr lang="en-US" sz="1400" b="1" kern="0" dirty="0">
                <a:solidFill>
                  <a:prstClr val="black"/>
                </a:solidFill>
                <a:latin typeface="Calibri"/>
              </a:rPr>
              <a:t>Cross convergence of electricity sector with transport sector</a:t>
            </a:r>
            <a:endParaRPr lang="en-IN" sz="1400" b="1" kern="0" dirty="0">
              <a:solidFill>
                <a:prstClr val="black"/>
              </a:solidFill>
              <a:latin typeface="Calibri"/>
            </a:endParaRPr>
          </a:p>
        </p:txBody>
      </p:sp>
      <p:sp>
        <p:nvSpPr>
          <p:cNvPr id="31" name="Rectangle 30">
            <a:extLst>
              <a:ext uri="{FF2B5EF4-FFF2-40B4-BE49-F238E27FC236}">
                <a16:creationId xmlns:a16="http://schemas.microsoft.com/office/drawing/2014/main" id="{3366DEF6-3323-4BAF-815E-E2C42B1D6186}"/>
              </a:ext>
            </a:extLst>
          </p:cNvPr>
          <p:cNvSpPr/>
          <p:nvPr/>
        </p:nvSpPr>
        <p:spPr bwMode="gray">
          <a:xfrm>
            <a:off x="2978771" y="3852535"/>
            <a:ext cx="1993392" cy="1682496"/>
          </a:xfrm>
          <a:prstGeom prst="rect">
            <a:avLst/>
          </a:prstGeom>
          <a:solidFill>
            <a:srgbClr val="DDEFE8">
              <a:alpha val="30000"/>
            </a:srgbClr>
          </a:solidFill>
          <a:ln w="19050" algn="ctr">
            <a:solidFill>
              <a:srgbClr val="0D8390"/>
            </a:solidFill>
            <a:prstDash val="sysDot"/>
            <a:miter lim="800000"/>
            <a:headEnd/>
            <a:tailEnd/>
          </a:ln>
        </p:spPr>
        <p:txBody>
          <a:bodyPr wrap="square" lIns="88900" tIns="88900" rIns="88900" bIns="88900" rtlCol="0" anchor="ctr"/>
          <a:lstStyle/>
          <a:p>
            <a:pPr marL="0" marR="0" lvl="0" indent="0" algn="ctr" defTabSz="885893" eaLnBrk="1" fontAlgn="auto" latinLnBrk="0" hangingPunct="1">
              <a:lnSpc>
                <a:spcPct val="106000"/>
              </a:lnSpc>
              <a:spcBef>
                <a:spcPts val="0"/>
              </a:spcBef>
              <a:spcAft>
                <a:spcPts val="0"/>
              </a:spcAft>
              <a:buClrTx/>
              <a:buSzTx/>
              <a:buFontTx/>
              <a:buNone/>
              <a:tabLst/>
              <a:defRPr/>
            </a:pPr>
            <a:endParaRPr kumimoji="0" lang="en-IN" sz="1600" b="1" i="0" u="none" strike="noStrike" kern="0" cap="none" spc="0" normalizeH="0" baseline="0" noProof="0" dirty="0">
              <a:ln>
                <a:noFill/>
              </a:ln>
              <a:solidFill>
                <a:prstClr val="white"/>
              </a:solidFill>
              <a:effectLst/>
              <a:uLnTx/>
              <a:uFillTx/>
              <a:latin typeface="Calibri"/>
            </a:endParaRPr>
          </a:p>
        </p:txBody>
      </p:sp>
      <p:sp>
        <p:nvSpPr>
          <p:cNvPr id="32" name="TextBox 31">
            <a:extLst>
              <a:ext uri="{FF2B5EF4-FFF2-40B4-BE49-F238E27FC236}">
                <a16:creationId xmlns:a16="http://schemas.microsoft.com/office/drawing/2014/main" id="{28994F3D-FD25-4752-8048-2B9D3A283BF2}"/>
              </a:ext>
            </a:extLst>
          </p:cNvPr>
          <p:cNvSpPr txBox="1"/>
          <p:nvPr/>
        </p:nvSpPr>
        <p:spPr>
          <a:xfrm>
            <a:off x="3153594" y="3897251"/>
            <a:ext cx="1707377" cy="215444"/>
          </a:xfrm>
          <a:prstGeom prst="rect">
            <a:avLst/>
          </a:prstGeom>
          <a:noFill/>
        </p:spPr>
        <p:txBody>
          <a:bodyPr wrap="square" lIns="0" tIns="0" rIns="0" bIns="0" rtlCol="0">
            <a:spAutoFit/>
          </a:bodyPr>
          <a:lstStyle/>
          <a:p>
            <a:pPr defTabSz="885893">
              <a:spcBef>
                <a:spcPts val="600"/>
              </a:spcBef>
              <a:buSzPct val="100000"/>
              <a:defRPr/>
            </a:pPr>
            <a:r>
              <a:rPr lang="en-US" sz="1400" b="1" kern="0" dirty="0">
                <a:solidFill>
                  <a:prstClr val="black"/>
                </a:solidFill>
                <a:latin typeface="Calibri"/>
              </a:rPr>
              <a:t>Falling RE tariffs</a:t>
            </a:r>
            <a:endParaRPr lang="en-IN" sz="1400" b="1" kern="0" dirty="0">
              <a:solidFill>
                <a:prstClr val="black"/>
              </a:solidFill>
              <a:latin typeface="Calibri"/>
            </a:endParaRPr>
          </a:p>
        </p:txBody>
      </p:sp>
      <p:sp>
        <p:nvSpPr>
          <p:cNvPr id="33" name="TextBox 32">
            <a:extLst>
              <a:ext uri="{FF2B5EF4-FFF2-40B4-BE49-F238E27FC236}">
                <a16:creationId xmlns:a16="http://schemas.microsoft.com/office/drawing/2014/main" id="{A80B20EE-B516-43E9-B706-389B7ABF2681}"/>
              </a:ext>
            </a:extLst>
          </p:cNvPr>
          <p:cNvSpPr txBox="1"/>
          <p:nvPr/>
        </p:nvSpPr>
        <p:spPr>
          <a:xfrm>
            <a:off x="3153594" y="4242416"/>
            <a:ext cx="974937" cy="600164"/>
          </a:xfrm>
          <a:prstGeom prst="rect">
            <a:avLst/>
          </a:prstGeom>
          <a:noFill/>
        </p:spPr>
        <p:txBody>
          <a:bodyPr wrap="square" lIns="0" tIns="0" rIns="0" bIns="0" rtlCol="0">
            <a:spAutoFit/>
          </a:bodyPr>
          <a:lstStyle/>
          <a:p>
            <a:pPr defTabSz="885893">
              <a:spcBef>
                <a:spcPts val="600"/>
              </a:spcBef>
              <a:buSzPct val="100000"/>
              <a:defRPr/>
            </a:pPr>
            <a:r>
              <a:rPr lang="en-US" sz="1100" kern="0" dirty="0">
                <a:solidFill>
                  <a:srgbClr val="007680"/>
                </a:solidFill>
                <a:latin typeface="Calibri"/>
              </a:rPr>
              <a:t>Tariffs fell by </a:t>
            </a:r>
            <a:r>
              <a:rPr lang="en-US" sz="1600" b="1" kern="0" dirty="0">
                <a:solidFill>
                  <a:srgbClr val="007680"/>
                </a:solidFill>
                <a:latin typeface="Calibri"/>
              </a:rPr>
              <a:t>85%</a:t>
            </a:r>
            <a:r>
              <a:rPr lang="en-US" sz="1400" b="1" kern="0" dirty="0">
                <a:solidFill>
                  <a:srgbClr val="007680"/>
                </a:solidFill>
                <a:latin typeface="Calibri"/>
              </a:rPr>
              <a:t> </a:t>
            </a:r>
            <a:r>
              <a:rPr lang="en-US" sz="1100" kern="0" dirty="0">
                <a:solidFill>
                  <a:srgbClr val="007680"/>
                </a:solidFill>
                <a:latin typeface="Calibri"/>
              </a:rPr>
              <a:t>in last 8 years</a:t>
            </a:r>
            <a:endParaRPr lang="en-IN" sz="1100" kern="0" dirty="0">
              <a:solidFill>
                <a:srgbClr val="007680"/>
              </a:solidFill>
              <a:latin typeface="Calibri"/>
            </a:endParaRPr>
          </a:p>
        </p:txBody>
      </p:sp>
      <p:sp>
        <p:nvSpPr>
          <p:cNvPr id="34" name="TextBox 33">
            <a:extLst>
              <a:ext uri="{FF2B5EF4-FFF2-40B4-BE49-F238E27FC236}">
                <a16:creationId xmlns:a16="http://schemas.microsoft.com/office/drawing/2014/main" id="{45552442-E13B-4D9E-AE20-B55BA8F06FC4}"/>
              </a:ext>
            </a:extLst>
          </p:cNvPr>
          <p:cNvSpPr txBox="1"/>
          <p:nvPr/>
        </p:nvSpPr>
        <p:spPr>
          <a:xfrm>
            <a:off x="3142532" y="4999786"/>
            <a:ext cx="1716822" cy="451406"/>
          </a:xfrm>
          <a:prstGeom prst="rect">
            <a:avLst/>
          </a:prstGeom>
          <a:noFill/>
        </p:spPr>
        <p:txBody>
          <a:bodyPr wrap="square" lIns="0" tIns="0" rIns="0" bIns="0" rtlCol="0">
            <a:spAutoFit/>
          </a:bodyPr>
          <a:lstStyle/>
          <a:p>
            <a:pPr defTabSz="885893">
              <a:spcBef>
                <a:spcPts val="600"/>
              </a:spcBef>
              <a:buSzPct val="100000"/>
              <a:defRPr/>
            </a:pPr>
            <a:r>
              <a:rPr lang="en-US" sz="1600" kern="0" baseline="30000" dirty="0">
                <a:solidFill>
                  <a:prstClr val="black"/>
                </a:solidFill>
                <a:latin typeface="Calibri"/>
              </a:rPr>
              <a:t>Lowest solar tariff achieved</a:t>
            </a:r>
            <a:r>
              <a:rPr lang="en-US" sz="2000" kern="0" baseline="30000" dirty="0">
                <a:solidFill>
                  <a:prstClr val="black"/>
                </a:solidFill>
                <a:latin typeface="Calibri"/>
              </a:rPr>
              <a:t> </a:t>
            </a:r>
            <a:r>
              <a:rPr lang="en-US" b="1" kern="0" baseline="30000" dirty="0">
                <a:solidFill>
                  <a:srgbClr val="007680"/>
                </a:solidFill>
                <a:latin typeface="Calibri"/>
              </a:rPr>
              <a:t>Rs. 1.99 per kWh</a:t>
            </a:r>
            <a:endParaRPr lang="en-IN" sz="2000" b="1" kern="0" baseline="30000" dirty="0">
              <a:solidFill>
                <a:srgbClr val="007680"/>
              </a:solidFill>
              <a:latin typeface="Calibri"/>
            </a:endParaRPr>
          </a:p>
        </p:txBody>
      </p:sp>
      <p:sp>
        <p:nvSpPr>
          <p:cNvPr id="35" name="Freeform 146">
            <a:extLst>
              <a:ext uri="{FF2B5EF4-FFF2-40B4-BE49-F238E27FC236}">
                <a16:creationId xmlns:a16="http://schemas.microsoft.com/office/drawing/2014/main" id="{AD555651-7680-4D08-88DC-138D29F7D920}"/>
              </a:ext>
            </a:extLst>
          </p:cNvPr>
          <p:cNvSpPr>
            <a:spLocks noEditPoints="1"/>
          </p:cNvSpPr>
          <p:nvPr/>
        </p:nvSpPr>
        <p:spPr bwMode="auto">
          <a:xfrm>
            <a:off x="4103056" y="4478522"/>
            <a:ext cx="623770" cy="373697"/>
          </a:xfrm>
          <a:custGeom>
            <a:avLst/>
            <a:gdLst>
              <a:gd name="T0" fmla="*/ 53 w 288"/>
              <a:gd name="T1" fmla="*/ 0 h 192"/>
              <a:gd name="T2" fmla="*/ 43 w 288"/>
              <a:gd name="T3" fmla="*/ 42 h 192"/>
              <a:gd name="T4" fmla="*/ 0 w 288"/>
              <a:gd name="T5" fmla="*/ 53 h 192"/>
              <a:gd name="T6" fmla="*/ 11 w 288"/>
              <a:gd name="T7" fmla="*/ 192 h 192"/>
              <a:gd name="T8" fmla="*/ 245 w 288"/>
              <a:gd name="T9" fmla="*/ 181 h 192"/>
              <a:gd name="T10" fmla="*/ 277 w 288"/>
              <a:gd name="T11" fmla="*/ 149 h 192"/>
              <a:gd name="T12" fmla="*/ 288 w 288"/>
              <a:gd name="T13" fmla="*/ 10 h 192"/>
              <a:gd name="T14" fmla="*/ 224 w 288"/>
              <a:gd name="T15" fmla="*/ 170 h 192"/>
              <a:gd name="T16" fmla="*/ 21 w 288"/>
              <a:gd name="T17" fmla="*/ 64 h 192"/>
              <a:gd name="T18" fmla="*/ 224 w 288"/>
              <a:gd name="T19" fmla="*/ 170 h 192"/>
              <a:gd name="T20" fmla="*/ 245 w 288"/>
              <a:gd name="T21" fmla="*/ 128 h 192"/>
              <a:gd name="T22" fmla="*/ 235 w 288"/>
              <a:gd name="T23" fmla="*/ 42 h 192"/>
              <a:gd name="T24" fmla="*/ 64 w 288"/>
              <a:gd name="T25" fmla="*/ 21 h 192"/>
              <a:gd name="T26" fmla="*/ 267 w 288"/>
              <a:gd name="T27" fmla="*/ 128 h 192"/>
              <a:gd name="T28" fmla="*/ 101 w 288"/>
              <a:gd name="T29" fmla="*/ 100 h 192"/>
              <a:gd name="T30" fmla="*/ 123 w 288"/>
              <a:gd name="T31" fmla="*/ 82 h 192"/>
              <a:gd name="T32" fmla="*/ 130 w 288"/>
              <a:gd name="T33" fmla="*/ 74 h 192"/>
              <a:gd name="T34" fmla="*/ 151 w 288"/>
              <a:gd name="T35" fmla="*/ 87 h 192"/>
              <a:gd name="T36" fmla="*/ 130 w 288"/>
              <a:gd name="T37" fmla="*/ 95 h 192"/>
              <a:gd name="T38" fmla="*/ 123 w 288"/>
              <a:gd name="T39" fmla="*/ 95 h 192"/>
              <a:gd name="T40" fmla="*/ 118 w 288"/>
              <a:gd name="T41" fmla="*/ 104 h 192"/>
              <a:gd name="T42" fmla="*/ 130 w 288"/>
              <a:gd name="T43" fmla="*/ 110 h 192"/>
              <a:gd name="T44" fmla="*/ 151 w 288"/>
              <a:gd name="T45" fmla="*/ 122 h 192"/>
              <a:gd name="T46" fmla="*/ 147 w 288"/>
              <a:gd name="T47" fmla="*/ 143 h 192"/>
              <a:gd name="T48" fmla="*/ 130 w 288"/>
              <a:gd name="T49" fmla="*/ 160 h 192"/>
              <a:gd name="T50" fmla="*/ 123 w 288"/>
              <a:gd name="T51" fmla="*/ 149 h 192"/>
              <a:gd name="T52" fmla="*/ 101 w 288"/>
              <a:gd name="T53" fmla="*/ 132 h 192"/>
              <a:gd name="T54" fmla="*/ 123 w 288"/>
              <a:gd name="T55" fmla="*/ 137 h 192"/>
              <a:gd name="T56" fmla="*/ 130 w 288"/>
              <a:gd name="T57" fmla="*/ 137 h 192"/>
              <a:gd name="T58" fmla="*/ 135 w 288"/>
              <a:gd name="T59" fmla="*/ 127 h 192"/>
              <a:gd name="T60" fmla="*/ 123 w 288"/>
              <a:gd name="T61" fmla="*/ 122 h 192"/>
              <a:gd name="T62" fmla="*/ 105 w 288"/>
              <a:gd name="T63" fmla="*/ 1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88" h="192">
                <a:moveTo>
                  <a:pt x="277" y="0"/>
                </a:moveTo>
                <a:cubicBezTo>
                  <a:pt x="53" y="0"/>
                  <a:pt x="53" y="0"/>
                  <a:pt x="53" y="0"/>
                </a:cubicBezTo>
                <a:cubicBezTo>
                  <a:pt x="47" y="0"/>
                  <a:pt x="43" y="4"/>
                  <a:pt x="43" y="10"/>
                </a:cubicBezTo>
                <a:cubicBezTo>
                  <a:pt x="43" y="42"/>
                  <a:pt x="43" y="42"/>
                  <a:pt x="43" y="42"/>
                </a:cubicBezTo>
                <a:cubicBezTo>
                  <a:pt x="11" y="42"/>
                  <a:pt x="11" y="42"/>
                  <a:pt x="11" y="42"/>
                </a:cubicBezTo>
                <a:cubicBezTo>
                  <a:pt x="5" y="42"/>
                  <a:pt x="0" y="47"/>
                  <a:pt x="0" y="53"/>
                </a:cubicBezTo>
                <a:cubicBezTo>
                  <a:pt x="0" y="181"/>
                  <a:pt x="0" y="181"/>
                  <a:pt x="0" y="181"/>
                </a:cubicBezTo>
                <a:cubicBezTo>
                  <a:pt x="0" y="187"/>
                  <a:pt x="5" y="192"/>
                  <a:pt x="11" y="192"/>
                </a:cubicBezTo>
                <a:cubicBezTo>
                  <a:pt x="235" y="192"/>
                  <a:pt x="235" y="192"/>
                  <a:pt x="235" y="192"/>
                </a:cubicBezTo>
                <a:cubicBezTo>
                  <a:pt x="241" y="192"/>
                  <a:pt x="245" y="187"/>
                  <a:pt x="245" y="181"/>
                </a:cubicBezTo>
                <a:cubicBezTo>
                  <a:pt x="245" y="149"/>
                  <a:pt x="245" y="149"/>
                  <a:pt x="245" y="149"/>
                </a:cubicBezTo>
                <a:cubicBezTo>
                  <a:pt x="277" y="149"/>
                  <a:pt x="277" y="149"/>
                  <a:pt x="277" y="149"/>
                </a:cubicBezTo>
                <a:cubicBezTo>
                  <a:pt x="283" y="149"/>
                  <a:pt x="288" y="144"/>
                  <a:pt x="288" y="138"/>
                </a:cubicBezTo>
                <a:cubicBezTo>
                  <a:pt x="288" y="10"/>
                  <a:pt x="288" y="10"/>
                  <a:pt x="288" y="10"/>
                </a:cubicBezTo>
                <a:cubicBezTo>
                  <a:pt x="288" y="4"/>
                  <a:pt x="283" y="0"/>
                  <a:pt x="277" y="0"/>
                </a:cubicBezTo>
                <a:close/>
                <a:moveTo>
                  <a:pt x="224" y="170"/>
                </a:moveTo>
                <a:cubicBezTo>
                  <a:pt x="21" y="170"/>
                  <a:pt x="21" y="170"/>
                  <a:pt x="21" y="170"/>
                </a:cubicBezTo>
                <a:cubicBezTo>
                  <a:pt x="21" y="64"/>
                  <a:pt x="21" y="64"/>
                  <a:pt x="21" y="64"/>
                </a:cubicBezTo>
                <a:cubicBezTo>
                  <a:pt x="224" y="64"/>
                  <a:pt x="224" y="64"/>
                  <a:pt x="224" y="64"/>
                </a:cubicBezTo>
                <a:lnTo>
                  <a:pt x="224" y="170"/>
                </a:lnTo>
                <a:close/>
                <a:moveTo>
                  <a:pt x="267" y="128"/>
                </a:moveTo>
                <a:cubicBezTo>
                  <a:pt x="245" y="128"/>
                  <a:pt x="245" y="128"/>
                  <a:pt x="245" y="128"/>
                </a:cubicBezTo>
                <a:cubicBezTo>
                  <a:pt x="245" y="53"/>
                  <a:pt x="245" y="53"/>
                  <a:pt x="245" y="53"/>
                </a:cubicBezTo>
                <a:cubicBezTo>
                  <a:pt x="245" y="47"/>
                  <a:pt x="241" y="42"/>
                  <a:pt x="235" y="42"/>
                </a:cubicBezTo>
                <a:cubicBezTo>
                  <a:pt x="64" y="42"/>
                  <a:pt x="64" y="42"/>
                  <a:pt x="64" y="42"/>
                </a:cubicBezTo>
                <a:cubicBezTo>
                  <a:pt x="64" y="21"/>
                  <a:pt x="64" y="21"/>
                  <a:pt x="64" y="21"/>
                </a:cubicBezTo>
                <a:cubicBezTo>
                  <a:pt x="267" y="21"/>
                  <a:pt x="267" y="21"/>
                  <a:pt x="267" y="21"/>
                </a:cubicBezTo>
                <a:lnTo>
                  <a:pt x="267" y="128"/>
                </a:lnTo>
                <a:close/>
                <a:moveTo>
                  <a:pt x="105" y="112"/>
                </a:moveTo>
                <a:cubicBezTo>
                  <a:pt x="103" y="109"/>
                  <a:pt x="101" y="105"/>
                  <a:pt x="101" y="100"/>
                </a:cubicBezTo>
                <a:cubicBezTo>
                  <a:pt x="101" y="95"/>
                  <a:pt x="103" y="91"/>
                  <a:pt x="107" y="88"/>
                </a:cubicBezTo>
                <a:cubicBezTo>
                  <a:pt x="111" y="85"/>
                  <a:pt x="116" y="83"/>
                  <a:pt x="123" y="82"/>
                </a:cubicBezTo>
                <a:cubicBezTo>
                  <a:pt x="123" y="74"/>
                  <a:pt x="123" y="74"/>
                  <a:pt x="123" y="74"/>
                </a:cubicBezTo>
                <a:cubicBezTo>
                  <a:pt x="130" y="74"/>
                  <a:pt x="130" y="74"/>
                  <a:pt x="130" y="74"/>
                </a:cubicBezTo>
                <a:cubicBezTo>
                  <a:pt x="130" y="82"/>
                  <a:pt x="130" y="82"/>
                  <a:pt x="130" y="82"/>
                </a:cubicBezTo>
                <a:cubicBezTo>
                  <a:pt x="138" y="82"/>
                  <a:pt x="145" y="84"/>
                  <a:pt x="151" y="87"/>
                </a:cubicBezTo>
                <a:cubicBezTo>
                  <a:pt x="147" y="99"/>
                  <a:pt x="147" y="99"/>
                  <a:pt x="147" y="99"/>
                </a:cubicBezTo>
                <a:cubicBezTo>
                  <a:pt x="141" y="96"/>
                  <a:pt x="136" y="95"/>
                  <a:pt x="130" y="95"/>
                </a:cubicBezTo>
                <a:cubicBezTo>
                  <a:pt x="130" y="95"/>
                  <a:pt x="129" y="94"/>
                  <a:pt x="127" y="94"/>
                </a:cubicBezTo>
                <a:cubicBezTo>
                  <a:pt x="125" y="94"/>
                  <a:pt x="123" y="95"/>
                  <a:pt x="123" y="95"/>
                </a:cubicBezTo>
                <a:cubicBezTo>
                  <a:pt x="119" y="95"/>
                  <a:pt x="117" y="97"/>
                  <a:pt x="117" y="100"/>
                </a:cubicBezTo>
                <a:cubicBezTo>
                  <a:pt x="117" y="102"/>
                  <a:pt x="117" y="103"/>
                  <a:pt x="118" y="104"/>
                </a:cubicBezTo>
                <a:cubicBezTo>
                  <a:pt x="119" y="105"/>
                  <a:pt x="121" y="106"/>
                  <a:pt x="123" y="107"/>
                </a:cubicBezTo>
                <a:cubicBezTo>
                  <a:pt x="130" y="110"/>
                  <a:pt x="130" y="110"/>
                  <a:pt x="130" y="110"/>
                </a:cubicBezTo>
                <a:cubicBezTo>
                  <a:pt x="137" y="112"/>
                  <a:pt x="142" y="114"/>
                  <a:pt x="144" y="116"/>
                </a:cubicBezTo>
                <a:cubicBezTo>
                  <a:pt x="147" y="118"/>
                  <a:pt x="149" y="120"/>
                  <a:pt x="151" y="122"/>
                </a:cubicBezTo>
                <a:cubicBezTo>
                  <a:pt x="152" y="125"/>
                  <a:pt x="152" y="127"/>
                  <a:pt x="152" y="130"/>
                </a:cubicBezTo>
                <a:cubicBezTo>
                  <a:pt x="152" y="136"/>
                  <a:pt x="151" y="140"/>
                  <a:pt x="147" y="143"/>
                </a:cubicBezTo>
                <a:cubicBezTo>
                  <a:pt x="143" y="147"/>
                  <a:pt x="137" y="149"/>
                  <a:pt x="130" y="149"/>
                </a:cubicBezTo>
                <a:cubicBezTo>
                  <a:pt x="130" y="160"/>
                  <a:pt x="130" y="160"/>
                  <a:pt x="130" y="160"/>
                </a:cubicBezTo>
                <a:cubicBezTo>
                  <a:pt x="123" y="160"/>
                  <a:pt x="123" y="160"/>
                  <a:pt x="123" y="160"/>
                </a:cubicBezTo>
                <a:cubicBezTo>
                  <a:pt x="123" y="149"/>
                  <a:pt x="123" y="149"/>
                  <a:pt x="123" y="149"/>
                </a:cubicBezTo>
                <a:cubicBezTo>
                  <a:pt x="115" y="149"/>
                  <a:pt x="108" y="148"/>
                  <a:pt x="101" y="145"/>
                </a:cubicBezTo>
                <a:cubicBezTo>
                  <a:pt x="101" y="132"/>
                  <a:pt x="101" y="132"/>
                  <a:pt x="101" y="132"/>
                </a:cubicBezTo>
                <a:cubicBezTo>
                  <a:pt x="104" y="133"/>
                  <a:pt x="108" y="134"/>
                  <a:pt x="112" y="135"/>
                </a:cubicBezTo>
                <a:cubicBezTo>
                  <a:pt x="116" y="137"/>
                  <a:pt x="120" y="137"/>
                  <a:pt x="123" y="137"/>
                </a:cubicBezTo>
                <a:cubicBezTo>
                  <a:pt x="123" y="137"/>
                  <a:pt x="125" y="137"/>
                  <a:pt x="127" y="137"/>
                </a:cubicBezTo>
                <a:cubicBezTo>
                  <a:pt x="129" y="137"/>
                  <a:pt x="130" y="137"/>
                  <a:pt x="130" y="137"/>
                </a:cubicBezTo>
                <a:cubicBezTo>
                  <a:pt x="135" y="136"/>
                  <a:pt x="137" y="134"/>
                  <a:pt x="137" y="131"/>
                </a:cubicBezTo>
                <a:cubicBezTo>
                  <a:pt x="137" y="130"/>
                  <a:pt x="137" y="128"/>
                  <a:pt x="135" y="127"/>
                </a:cubicBezTo>
                <a:cubicBezTo>
                  <a:pt x="134" y="126"/>
                  <a:pt x="133" y="125"/>
                  <a:pt x="130" y="124"/>
                </a:cubicBezTo>
                <a:cubicBezTo>
                  <a:pt x="123" y="122"/>
                  <a:pt x="123" y="122"/>
                  <a:pt x="123" y="122"/>
                </a:cubicBezTo>
                <a:cubicBezTo>
                  <a:pt x="120" y="120"/>
                  <a:pt x="120" y="120"/>
                  <a:pt x="120" y="120"/>
                </a:cubicBezTo>
                <a:cubicBezTo>
                  <a:pt x="113" y="118"/>
                  <a:pt x="108" y="115"/>
                  <a:pt x="105" y="112"/>
                </a:cubicBezTo>
                <a:close/>
              </a:path>
            </a:pathLst>
          </a:custGeom>
          <a:solidFill>
            <a:srgbClr val="004F5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GB" sz="1800" dirty="0">
              <a:solidFill>
                <a:prstClr val="black"/>
              </a:solidFill>
              <a:latin typeface="Calibri"/>
            </a:endParaRPr>
          </a:p>
        </p:txBody>
      </p:sp>
      <p:sp>
        <p:nvSpPr>
          <p:cNvPr id="36" name="Freeform 841">
            <a:extLst>
              <a:ext uri="{FF2B5EF4-FFF2-40B4-BE49-F238E27FC236}">
                <a16:creationId xmlns:a16="http://schemas.microsoft.com/office/drawing/2014/main" id="{4654D6AF-EC6C-4DFF-BBFD-CA34C7AC82CB}"/>
              </a:ext>
            </a:extLst>
          </p:cNvPr>
          <p:cNvSpPr>
            <a:spLocks noChangeAspect="1" noEditPoints="1"/>
          </p:cNvSpPr>
          <p:nvPr/>
        </p:nvSpPr>
        <p:spPr bwMode="auto">
          <a:xfrm>
            <a:off x="7502420" y="4702814"/>
            <a:ext cx="484569" cy="473558"/>
          </a:xfrm>
          <a:custGeom>
            <a:avLst/>
            <a:gdLst>
              <a:gd name="T0" fmla="*/ 160 w 512"/>
              <a:gd name="T1" fmla="*/ 334 h 512"/>
              <a:gd name="T2" fmla="*/ 128 w 512"/>
              <a:gd name="T3" fmla="*/ 352 h 512"/>
              <a:gd name="T4" fmla="*/ 352 w 512"/>
              <a:gd name="T5" fmla="*/ 352 h 512"/>
              <a:gd name="T6" fmla="*/ 384 w 512"/>
              <a:gd name="T7" fmla="*/ 329 h 512"/>
              <a:gd name="T8" fmla="*/ 352 w 512"/>
              <a:gd name="T9" fmla="*/ 352 h 512"/>
              <a:gd name="T10" fmla="*/ 394 w 512"/>
              <a:gd name="T11" fmla="*/ 300 h 512"/>
              <a:gd name="T12" fmla="*/ 117 w 512"/>
              <a:gd name="T13" fmla="*/ 297 h 512"/>
              <a:gd name="T14" fmla="*/ 158 w 512"/>
              <a:gd name="T15" fmla="*/ 224 h 512"/>
              <a:gd name="T16" fmla="*/ 394 w 512"/>
              <a:gd name="T17" fmla="*/ 266 h 512"/>
              <a:gd name="T18" fmla="*/ 181 w 512"/>
              <a:gd name="T19" fmla="*/ 266 h 512"/>
              <a:gd name="T20" fmla="*/ 138 w 512"/>
              <a:gd name="T21" fmla="*/ 266 h 512"/>
              <a:gd name="T22" fmla="*/ 181 w 512"/>
              <a:gd name="T23" fmla="*/ 266 h 512"/>
              <a:gd name="T24" fmla="*/ 288 w 512"/>
              <a:gd name="T25" fmla="*/ 256 h 512"/>
              <a:gd name="T26" fmla="*/ 213 w 512"/>
              <a:gd name="T27" fmla="*/ 266 h 512"/>
              <a:gd name="T28" fmla="*/ 288 w 512"/>
              <a:gd name="T29" fmla="*/ 277 h 512"/>
              <a:gd name="T30" fmla="*/ 373 w 512"/>
              <a:gd name="T31" fmla="*/ 266 h 512"/>
              <a:gd name="T32" fmla="*/ 330 w 512"/>
              <a:gd name="T33" fmla="*/ 266 h 512"/>
              <a:gd name="T34" fmla="*/ 373 w 512"/>
              <a:gd name="T35" fmla="*/ 266 h 512"/>
              <a:gd name="T36" fmla="*/ 256 w 512"/>
              <a:gd name="T37" fmla="*/ 512 h 512"/>
              <a:gd name="T38" fmla="*/ 256 w 512"/>
              <a:gd name="T39" fmla="*/ 0 h 512"/>
              <a:gd name="T40" fmla="*/ 416 w 512"/>
              <a:gd name="T41" fmla="*/ 266 h 512"/>
              <a:gd name="T42" fmla="*/ 370 w 512"/>
              <a:gd name="T43" fmla="*/ 202 h 512"/>
              <a:gd name="T44" fmla="*/ 394 w 512"/>
              <a:gd name="T45" fmla="*/ 192 h 512"/>
              <a:gd name="T46" fmla="*/ 363 w 512"/>
              <a:gd name="T47" fmla="*/ 181 h 512"/>
              <a:gd name="T48" fmla="*/ 350 w 512"/>
              <a:gd name="T49" fmla="*/ 144 h 512"/>
              <a:gd name="T50" fmla="*/ 202 w 512"/>
              <a:gd name="T51" fmla="*/ 117 h 512"/>
              <a:gd name="T52" fmla="*/ 160 w 512"/>
              <a:gd name="T53" fmla="*/ 146 h 512"/>
              <a:gd name="T54" fmla="*/ 128 w 512"/>
              <a:gd name="T55" fmla="*/ 181 h 512"/>
              <a:gd name="T56" fmla="*/ 128 w 512"/>
              <a:gd name="T57" fmla="*/ 202 h 512"/>
              <a:gd name="T58" fmla="*/ 140 w 512"/>
              <a:gd name="T59" fmla="*/ 205 h 512"/>
              <a:gd name="T60" fmla="*/ 96 w 512"/>
              <a:gd name="T61" fmla="*/ 298 h 512"/>
              <a:gd name="T62" fmla="*/ 106 w 512"/>
              <a:gd name="T63" fmla="*/ 316 h 512"/>
              <a:gd name="T64" fmla="*/ 106 w 512"/>
              <a:gd name="T65" fmla="*/ 320 h 512"/>
              <a:gd name="T66" fmla="*/ 106 w 512"/>
              <a:gd name="T67" fmla="*/ 320 h 512"/>
              <a:gd name="T68" fmla="*/ 117 w 512"/>
              <a:gd name="T69" fmla="*/ 373 h 512"/>
              <a:gd name="T70" fmla="*/ 181 w 512"/>
              <a:gd name="T71" fmla="*/ 362 h 512"/>
              <a:gd name="T72" fmla="*/ 261 w 512"/>
              <a:gd name="T73" fmla="*/ 341 h 512"/>
              <a:gd name="T74" fmla="*/ 330 w 512"/>
              <a:gd name="T75" fmla="*/ 362 h 512"/>
              <a:gd name="T76" fmla="*/ 394 w 512"/>
              <a:gd name="T77" fmla="*/ 373 h 512"/>
              <a:gd name="T78" fmla="*/ 405 w 512"/>
              <a:gd name="T79" fmla="*/ 319 h 512"/>
              <a:gd name="T80" fmla="*/ 416 w 512"/>
              <a:gd name="T81" fmla="*/ 297 h 512"/>
              <a:gd name="T82" fmla="*/ 331 w 512"/>
              <a:gd name="T83" fmla="*/ 153 h 512"/>
              <a:gd name="T84" fmla="*/ 202 w 512"/>
              <a:gd name="T85" fmla="*/ 138 h 512"/>
              <a:gd name="T86" fmla="*/ 164 w 512"/>
              <a:gd name="T87" fmla="*/ 202 h 512"/>
              <a:gd name="T88" fmla="*/ 331 w 512"/>
              <a:gd name="T89" fmla="*/ 15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12" h="512">
                <a:moveTo>
                  <a:pt x="128" y="327"/>
                </a:moveTo>
                <a:cubicBezTo>
                  <a:pt x="137" y="330"/>
                  <a:pt x="147" y="332"/>
                  <a:pt x="160" y="334"/>
                </a:cubicBezTo>
                <a:cubicBezTo>
                  <a:pt x="160" y="352"/>
                  <a:pt x="160" y="352"/>
                  <a:pt x="160" y="352"/>
                </a:cubicBezTo>
                <a:cubicBezTo>
                  <a:pt x="128" y="352"/>
                  <a:pt x="128" y="352"/>
                  <a:pt x="128" y="352"/>
                </a:cubicBezTo>
                <a:lnTo>
                  <a:pt x="128" y="327"/>
                </a:lnTo>
                <a:close/>
                <a:moveTo>
                  <a:pt x="352" y="352"/>
                </a:moveTo>
                <a:cubicBezTo>
                  <a:pt x="384" y="352"/>
                  <a:pt x="384" y="352"/>
                  <a:pt x="384" y="352"/>
                </a:cubicBezTo>
                <a:cubicBezTo>
                  <a:pt x="384" y="329"/>
                  <a:pt x="384" y="329"/>
                  <a:pt x="384" y="329"/>
                </a:cubicBezTo>
                <a:cubicBezTo>
                  <a:pt x="375" y="332"/>
                  <a:pt x="364" y="334"/>
                  <a:pt x="352" y="336"/>
                </a:cubicBezTo>
                <a:lnTo>
                  <a:pt x="352" y="352"/>
                </a:lnTo>
                <a:close/>
                <a:moveTo>
                  <a:pt x="394" y="298"/>
                </a:moveTo>
                <a:cubicBezTo>
                  <a:pt x="394" y="299"/>
                  <a:pt x="394" y="299"/>
                  <a:pt x="394" y="300"/>
                </a:cubicBezTo>
                <a:cubicBezTo>
                  <a:pt x="392" y="302"/>
                  <a:pt x="374" y="320"/>
                  <a:pt x="261" y="320"/>
                </a:cubicBezTo>
                <a:cubicBezTo>
                  <a:pt x="139" y="320"/>
                  <a:pt x="119" y="300"/>
                  <a:pt x="117" y="297"/>
                </a:cubicBezTo>
                <a:cubicBezTo>
                  <a:pt x="117" y="266"/>
                  <a:pt x="117" y="266"/>
                  <a:pt x="117" y="266"/>
                </a:cubicBezTo>
                <a:cubicBezTo>
                  <a:pt x="117" y="243"/>
                  <a:pt x="135" y="224"/>
                  <a:pt x="158" y="224"/>
                </a:cubicBezTo>
                <a:cubicBezTo>
                  <a:pt x="354" y="224"/>
                  <a:pt x="354" y="224"/>
                  <a:pt x="354" y="224"/>
                </a:cubicBezTo>
                <a:cubicBezTo>
                  <a:pt x="376" y="224"/>
                  <a:pt x="394" y="243"/>
                  <a:pt x="394" y="266"/>
                </a:cubicBezTo>
                <a:lnTo>
                  <a:pt x="394" y="298"/>
                </a:lnTo>
                <a:close/>
                <a:moveTo>
                  <a:pt x="181" y="266"/>
                </a:moveTo>
                <a:cubicBezTo>
                  <a:pt x="181" y="255"/>
                  <a:pt x="171" y="245"/>
                  <a:pt x="160" y="245"/>
                </a:cubicBezTo>
                <a:cubicBezTo>
                  <a:pt x="148" y="245"/>
                  <a:pt x="138" y="255"/>
                  <a:pt x="138" y="266"/>
                </a:cubicBezTo>
                <a:cubicBezTo>
                  <a:pt x="138" y="278"/>
                  <a:pt x="148" y="288"/>
                  <a:pt x="160" y="288"/>
                </a:cubicBezTo>
                <a:cubicBezTo>
                  <a:pt x="171" y="288"/>
                  <a:pt x="181" y="278"/>
                  <a:pt x="181" y="266"/>
                </a:cubicBezTo>
                <a:close/>
                <a:moveTo>
                  <a:pt x="298" y="266"/>
                </a:moveTo>
                <a:cubicBezTo>
                  <a:pt x="298" y="260"/>
                  <a:pt x="294" y="256"/>
                  <a:pt x="288" y="256"/>
                </a:cubicBezTo>
                <a:cubicBezTo>
                  <a:pt x="224" y="256"/>
                  <a:pt x="224" y="256"/>
                  <a:pt x="224" y="256"/>
                </a:cubicBezTo>
                <a:cubicBezTo>
                  <a:pt x="218" y="256"/>
                  <a:pt x="213" y="260"/>
                  <a:pt x="213" y="266"/>
                </a:cubicBezTo>
                <a:cubicBezTo>
                  <a:pt x="213" y="272"/>
                  <a:pt x="218" y="277"/>
                  <a:pt x="224" y="277"/>
                </a:cubicBezTo>
                <a:cubicBezTo>
                  <a:pt x="288" y="277"/>
                  <a:pt x="288" y="277"/>
                  <a:pt x="288" y="277"/>
                </a:cubicBezTo>
                <a:cubicBezTo>
                  <a:pt x="294" y="277"/>
                  <a:pt x="298" y="272"/>
                  <a:pt x="298" y="266"/>
                </a:cubicBezTo>
                <a:close/>
                <a:moveTo>
                  <a:pt x="373" y="266"/>
                </a:moveTo>
                <a:cubicBezTo>
                  <a:pt x="373" y="255"/>
                  <a:pt x="363" y="245"/>
                  <a:pt x="352" y="245"/>
                </a:cubicBezTo>
                <a:cubicBezTo>
                  <a:pt x="340" y="245"/>
                  <a:pt x="330" y="255"/>
                  <a:pt x="330" y="266"/>
                </a:cubicBezTo>
                <a:cubicBezTo>
                  <a:pt x="330" y="278"/>
                  <a:pt x="340" y="288"/>
                  <a:pt x="352" y="288"/>
                </a:cubicBezTo>
                <a:cubicBezTo>
                  <a:pt x="363" y="288"/>
                  <a:pt x="373" y="278"/>
                  <a:pt x="373" y="266"/>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266"/>
                </a:moveTo>
                <a:cubicBezTo>
                  <a:pt x="416" y="237"/>
                  <a:pt x="397" y="213"/>
                  <a:pt x="371" y="205"/>
                </a:cubicBezTo>
                <a:cubicBezTo>
                  <a:pt x="370" y="202"/>
                  <a:pt x="370" y="202"/>
                  <a:pt x="370" y="202"/>
                </a:cubicBezTo>
                <a:cubicBezTo>
                  <a:pt x="384" y="202"/>
                  <a:pt x="384" y="202"/>
                  <a:pt x="384" y="202"/>
                </a:cubicBezTo>
                <a:cubicBezTo>
                  <a:pt x="390" y="202"/>
                  <a:pt x="394" y="198"/>
                  <a:pt x="394" y="192"/>
                </a:cubicBezTo>
                <a:cubicBezTo>
                  <a:pt x="394" y="186"/>
                  <a:pt x="390" y="181"/>
                  <a:pt x="384" y="181"/>
                </a:cubicBezTo>
                <a:cubicBezTo>
                  <a:pt x="363" y="181"/>
                  <a:pt x="363" y="181"/>
                  <a:pt x="363" y="181"/>
                </a:cubicBezTo>
                <a:cubicBezTo>
                  <a:pt x="351" y="146"/>
                  <a:pt x="351" y="146"/>
                  <a:pt x="351" y="146"/>
                </a:cubicBezTo>
                <a:cubicBezTo>
                  <a:pt x="351" y="145"/>
                  <a:pt x="351" y="145"/>
                  <a:pt x="350" y="144"/>
                </a:cubicBezTo>
                <a:cubicBezTo>
                  <a:pt x="350" y="143"/>
                  <a:pt x="336" y="117"/>
                  <a:pt x="309" y="117"/>
                </a:cubicBezTo>
                <a:cubicBezTo>
                  <a:pt x="202" y="117"/>
                  <a:pt x="202" y="117"/>
                  <a:pt x="202" y="117"/>
                </a:cubicBezTo>
                <a:cubicBezTo>
                  <a:pt x="176" y="117"/>
                  <a:pt x="161" y="143"/>
                  <a:pt x="161" y="144"/>
                </a:cubicBezTo>
                <a:cubicBezTo>
                  <a:pt x="161" y="145"/>
                  <a:pt x="160" y="145"/>
                  <a:pt x="160" y="146"/>
                </a:cubicBezTo>
                <a:cubicBezTo>
                  <a:pt x="148" y="181"/>
                  <a:pt x="148" y="181"/>
                  <a:pt x="148" y="181"/>
                </a:cubicBezTo>
                <a:cubicBezTo>
                  <a:pt x="128" y="181"/>
                  <a:pt x="128" y="181"/>
                  <a:pt x="128" y="181"/>
                </a:cubicBezTo>
                <a:cubicBezTo>
                  <a:pt x="122" y="181"/>
                  <a:pt x="117" y="186"/>
                  <a:pt x="117" y="192"/>
                </a:cubicBezTo>
                <a:cubicBezTo>
                  <a:pt x="117" y="198"/>
                  <a:pt x="122" y="202"/>
                  <a:pt x="128" y="202"/>
                </a:cubicBezTo>
                <a:cubicBezTo>
                  <a:pt x="141" y="202"/>
                  <a:pt x="141" y="202"/>
                  <a:pt x="141" y="202"/>
                </a:cubicBezTo>
                <a:cubicBezTo>
                  <a:pt x="140" y="205"/>
                  <a:pt x="140" y="205"/>
                  <a:pt x="140" y="205"/>
                </a:cubicBezTo>
                <a:cubicBezTo>
                  <a:pt x="115" y="213"/>
                  <a:pt x="96" y="237"/>
                  <a:pt x="96" y="266"/>
                </a:cubicBezTo>
                <a:cubicBezTo>
                  <a:pt x="96" y="298"/>
                  <a:pt x="96" y="298"/>
                  <a:pt x="96" y="298"/>
                </a:cubicBezTo>
                <a:cubicBezTo>
                  <a:pt x="96" y="300"/>
                  <a:pt x="96" y="306"/>
                  <a:pt x="102" y="312"/>
                </a:cubicBezTo>
                <a:cubicBezTo>
                  <a:pt x="103" y="314"/>
                  <a:pt x="106" y="316"/>
                  <a:pt x="106" y="316"/>
                </a:cubicBezTo>
                <a:cubicBezTo>
                  <a:pt x="106" y="320"/>
                  <a:pt x="106" y="320"/>
                  <a:pt x="106" y="320"/>
                </a:cubicBezTo>
                <a:cubicBezTo>
                  <a:pt x="106" y="320"/>
                  <a:pt x="106" y="320"/>
                  <a:pt x="106" y="320"/>
                </a:cubicBezTo>
                <a:cubicBezTo>
                  <a:pt x="106" y="320"/>
                  <a:pt x="106" y="320"/>
                  <a:pt x="106" y="320"/>
                </a:cubicBezTo>
                <a:cubicBezTo>
                  <a:pt x="106" y="320"/>
                  <a:pt x="106" y="320"/>
                  <a:pt x="106" y="320"/>
                </a:cubicBezTo>
                <a:cubicBezTo>
                  <a:pt x="106" y="362"/>
                  <a:pt x="106" y="362"/>
                  <a:pt x="106" y="362"/>
                </a:cubicBezTo>
                <a:cubicBezTo>
                  <a:pt x="106" y="368"/>
                  <a:pt x="111" y="373"/>
                  <a:pt x="117" y="373"/>
                </a:cubicBezTo>
                <a:cubicBezTo>
                  <a:pt x="170" y="373"/>
                  <a:pt x="170" y="373"/>
                  <a:pt x="170" y="373"/>
                </a:cubicBezTo>
                <a:cubicBezTo>
                  <a:pt x="176" y="373"/>
                  <a:pt x="181" y="368"/>
                  <a:pt x="181" y="362"/>
                </a:cubicBezTo>
                <a:cubicBezTo>
                  <a:pt x="181" y="337"/>
                  <a:pt x="181" y="337"/>
                  <a:pt x="181" y="337"/>
                </a:cubicBezTo>
                <a:cubicBezTo>
                  <a:pt x="203" y="340"/>
                  <a:pt x="230" y="341"/>
                  <a:pt x="261" y="341"/>
                </a:cubicBezTo>
                <a:cubicBezTo>
                  <a:pt x="288" y="341"/>
                  <a:pt x="311" y="340"/>
                  <a:pt x="330" y="338"/>
                </a:cubicBezTo>
                <a:cubicBezTo>
                  <a:pt x="330" y="362"/>
                  <a:pt x="330" y="362"/>
                  <a:pt x="330" y="362"/>
                </a:cubicBezTo>
                <a:cubicBezTo>
                  <a:pt x="330" y="368"/>
                  <a:pt x="335" y="373"/>
                  <a:pt x="341" y="373"/>
                </a:cubicBezTo>
                <a:cubicBezTo>
                  <a:pt x="394" y="373"/>
                  <a:pt x="394" y="373"/>
                  <a:pt x="394" y="373"/>
                </a:cubicBezTo>
                <a:cubicBezTo>
                  <a:pt x="400" y="373"/>
                  <a:pt x="405" y="368"/>
                  <a:pt x="405" y="362"/>
                </a:cubicBezTo>
                <a:cubicBezTo>
                  <a:pt x="405" y="362"/>
                  <a:pt x="405" y="319"/>
                  <a:pt x="405" y="319"/>
                </a:cubicBezTo>
                <a:cubicBezTo>
                  <a:pt x="408" y="316"/>
                  <a:pt x="410" y="314"/>
                  <a:pt x="412" y="311"/>
                </a:cubicBezTo>
                <a:cubicBezTo>
                  <a:pt x="416" y="306"/>
                  <a:pt x="416" y="301"/>
                  <a:pt x="416" y="297"/>
                </a:cubicBezTo>
                <a:lnTo>
                  <a:pt x="416" y="266"/>
                </a:lnTo>
                <a:close/>
                <a:moveTo>
                  <a:pt x="331" y="153"/>
                </a:moveTo>
                <a:cubicBezTo>
                  <a:pt x="329" y="151"/>
                  <a:pt x="321" y="138"/>
                  <a:pt x="309" y="138"/>
                </a:cubicBezTo>
                <a:cubicBezTo>
                  <a:pt x="202" y="138"/>
                  <a:pt x="202" y="138"/>
                  <a:pt x="202" y="138"/>
                </a:cubicBezTo>
                <a:cubicBezTo>
                  <a:pt x="190" y="138"/>
                  <a:pt x="182" y="150"/>
                  <a:pt x="180" y="153"/>
                </a:cubicBezTo>
                <a:cubicBezTo>
                  <a:pt x="164" y="202"/>
                  <a:pt x="164" y="202"/>
                  <a:pt x="164" y="202"/>
                </a:cubicBezTo>
                <a:cubicBezTo>
                  <a:pt x="348" y="202"/>
                  <a:pt x="348" y="202"/>
                  <a:pt x="348" y="202"/>
                </a:cubicBezTo>
                <a:lnTo>
                  <a:pt x="331" y="153"/>
                </a:lnTo>
                <a:close/>
              </a:path>
            </a:pathLst>
          </a:custGeom>
          <a:solidFill>
            <a:srgbClr val="004F59"/>
          </a:solidFill>
          <a:ln>
            <a:noFill/>
          </a:ln>
        </p:spPr>
        <p:txBody>
          <a:bodyPr vert="horz" wrap="square" lIns="91440" tIns="45720" rIns="91440" bIns="45720" numCol="1" anchor="t" anchorCtr="0" compatLnSpc="1">
            <a:prstTxWarp prst="textNoShape">
              <a:avLst/>
            </a:prstTxWarp>
          </a:bodyPr>
          <a:lstStyle/>
          <a:p>
            <a:pPr defTabSz="914400"/>
            <a:endParaRPr lang="en-GB" sz="1800" dirty="0">
              <a:solidFill>
                <a:prstClr val="black"/>
              </a:solidFill>
              <a:latin typeface="Calibri"/>
            </a:endParaRPr>
          </a:p>
        </p:txBody>
      </p:sp>
      <p:sp>
        <p:nvSpPr>
          <p:cNvPr id="37" name="Rectangle 36">
            <a:extLst>
              <a:ext uri="{FF2B5EF4-FFF2-40B4-BE49-F238E27FC236}">
                <a16:creationId xmlns:a16="http://schemas.microsoft.com/office/drawing/2014/main" id="{155D6D33-CB43-4024-A149-FAF0021F3669}"/>
              </a:ext>
            </a:extLst>
          </p:cNvPr>
          <p:cNvSpPr/>
          <p:nvPr/>
        </p:nvSpPr>
        <p:spPr bwMode="gray">
          <a:xfrm>
            <a:off x="9381177" y="3869130"/>
            <a:ext cx="1993392" cy="1682496"/>
          </a:xfrm>
          <a:prstGeom prst="rect">
            <a:avLst/>
          </a:prstGeom>
          <a:solidFill>
            <a:srgbClr val="DDEFE8">
              <a:alpha val="30000"/>
            </a:srgbClr>
          </a:solidFill>
          <a:ln w="19050" algn="ctr">
            <a:solidFill>
              <a:srgbClr val="0D8390"/>
            </a:solidFill>
            <a:prstDash val="sysDot"/>
            <a:miter lim="800000"/>
            <a:headEnd/>
            <a:tailEnd/>
          </a:ln>
        </p:spPr>
        <p:txBody>
          <a:bodyPr wrap="square" lIns="88900" tIns="88900" rIns="88900" bIns="88900" rtlCol="0" anchor="ctr"/>
          <a:lstStyle/>
          <a:p>
            <a:pPr marL="0" marR="0" lvl="0" indent="0" algn="ctr" defTabSz="885893" eaLnBrk="1" fontAlgn="auto" latinLnBrk="0" hangingPunct="1">
              <a:lnSpc>
                <a:spcPct val="106000"/>
              </a:lnSpc>
              <a:spcBef>
                <a:spcPts val="0"/>
              </a:spcBef>
              <a:spcAft>
                <a:spcPts val="0"/>
              </a:spcAft>
              <a:buClrTx/>
              <a:buSzTx/>
              <a:buFontTx/>
              <a:buNone/>
              <a:tabLst/>
              <a:defRPr/>
            </a:pPr>
            <a:endParaRPr kumimoji="0" lang="en-IN" sz="1600" b="1" i="0" u="none" strike="noStrike" kern="0" cap="none" spc="0" normalizeH="0" baseline="0" noProof="0" dirty="0">
              <a:ln>
                <a:noFill/>
              </a:ln>
              <a:solidFill>
                <a:prstClr val="white"/>
              </a:solidFill>
              <a:effectLst/>
              <a:uLnTx/>
              <a:uFillTx/>
              <a:latin typeface="Calibri"/>
            </a:endParaRPr>
          </a:p>
        </p:txBody>
      </p:sp>
      <p:sp>
        <p:nvSpPr>
          <p:cNvPr id="38" name="TextBox 37">
            <a:extLst>
              <a:ext uri="{FF2B5EF4-FFF2-40B4-BE49-F238E27FC236}">
                <a16:creationId xmlns:a16="http://schemas.microsoft.com/office/drawing/2014/main" id="{4CCDBFAC-CF9A-4C7B-9E88-BA17638FE4AB}"/>
              </a:ext>
            </a:extLst>
          </p:cNvPr>
          <p:cNvSpPr txBox="1"/>
          <p:nvPr/>
        </p:nvSpPr>
        <p:spPr>
          <a:xfrm>
            <a:off x="9507673" y="3896714"/>
            <a:ext cx="1810924" cy="430887"/>
          </a:xfrm>
          <a:prstGeom prst="rect">
            <a:avLst/>
          </a:prstGeom>
          <a:noFill/>
          <a:ln>
            <a:noFill/>
          </a:ln>
        </p:spPr>
        <p:txBody>
          <a:bodyPr wrap="square" lIns="0" tIns="0" rIns="0" bIns="0" rtlCol="0">
            <a:spAutoFit/>
          </a:bodyPr>
          <a:lstStyle/>
          <a:p>
            <a:pPr defTabSz="885893">
              <a:spcBef>
                <a:spcPts val="600"/>
              </a:spcBef>
              <a:buSzPct val="100000"/>
              <a:defRPr/>
            </a:pPr>
            <a:r>
              <a:rPr lang="en-US" sz="1400" b="1" kern="0" dirty="0">
                <a:solidFill>
                  <a:prstClr val="black"/>
                </a:solidFill>
                <a:latin typeface="Calibri"/>
              </a:rPr>
              <a:t>Increasing focus on innovative technologies</a:t>
            </a:r>
            <a:endParaRPr lang="en-IN" sz="1400" b="1" kern="0" dirty="0">
              <a:solidFill>
                <a:prstClr val="black"/>
              </a:solidFill>
              <a:latin typeface="Calibri"/>
            </a:endParaRPr>
          </a:p>
        </p:txBody>
      </p:sp>
      <p:sp>
        <p:nvSpPr>
          <p:cNvPr id="39" name="TextBox 38">
            <a:extLst>
              <a:ext uri="{FF2B5EF4-FFF2-40B4-BE49-F238E27FC236}">
                <a16:creationId xmlns:a16="http://schemas.microsoft.com/office/drawing/2014/main" id="{5882EECC-0522-4D86-8AEC-C5C1EA1516B1}"/>
              </a:ext>
            </a:extLst>
          </p:cNvPr>
          <p:cNvSpPr txBox="1"/>
          <p:nvPr/>
        </p:nvSpPr>
        <p:spPr>
          <a:xfrm>
            <a:off x="10253562" y="4436221"/>
            <a:ext cx="1070673" cy="338554"/>
          </a:xfrm>
          <a:prstGeom prst="rect">
            <a:avLst/>
          </a:prstGeom>
          <a:noFill/>
          <a:ln>
            <a:noFill/>
          </a:ln>
        </p:spPr>
        <p:txBody>
          <a:bodyPr wrap="square" lIns="0" tIns="0" rIns="0" bIns="0" rtlCol="0">
            <a:spAutoFit/>
          </a:bodyPr>
          <a:lstStyle/>
          <a:p>
            <a:pPr defTabSz="885893">
              <a:spcBef>
                <a:spcPts val="600"/>
              </a:spcBef>
              <a:buSzPct val="100000"/>
              <a:defRPr/>
            </a:pPr>
            <a:r>
              <a:rPr lang="en-US" sz="1100" b="1" kern="0" dirty="0">
                <a:solidFill>
                  <a:srgbClr val="007680"/>
                </a:solidFill>
                <a:latin typeface="Calibri"/>
              </a:rPr>
              <a:t>National Green Hydrogen Mission</a:t>
            </a:r>
            <a:endParaRPr lang="en-IN" sz="1100" b="1" kern="0" baseline="30000" dirty="0">
              <a:solidFill>
                <a:srgbClr val="007680"/>
              </a:solidFill>
              <a:latin typeface="Calibri"/>
            </a:endParaRPr>
          </a:p>
        </p:txBody>
      </p:sp>
      <p:sp>
        <p:nvSpPr>
          <p:cNvPr id="40" name="TextBox 39">
            <a:extLst>
              <a:ext uri="{FF2B5EF4-FFF2-40B4-BE49-F238E27FC236}">
                <a16:creationId xmlns:a16="http://schemas.microsoft.com/office/drawing/2014/main" id="{BB79F760-4C2E-4434-B7A1-1E4F667CBEA6}"/>
              </a:ext>
            </a:extLst>
          </p:cNvPr>
          <p:cNvSpPr txBox="1"/>
          <p:nvPr/>
        </p:nvSpPr>
        <p:spPr>
          <a:xfrm>
            <a:off x="10253562" y="4879679"/>
            <a:ext cx="1070673" cy="507831"/>
          </a:xfrm>
          <a:prstGeom prst="rect">
            <a:avLst/>
          </a:prstGeom>
          <a:noFill/>
          <a:ln>
            <a:noFill/>
          </a:ln>
        </p:spPr>
        <p:txBody>
          <a:bodyPr wrap="square" lIns="0" tIns="0" rIns="0" bIns="0" rtlCol="0">
            <a:spAutoFit/>
          </a:bodyPr>
          <a:lstStyle/>
          <a:p>
            <a:pPr defTabSz="885893">
              <a:spcBef>
                <a:spcPts val="600"/>
              </a:spcBef>
              <a:buSzPct val="100000"/>
              <a:defRPr/>
            </a:pPr>
            <a:r>
              <a:rPr lang="en-US" sz="1100" b="1" kern="0" dirty="0">
                <a:solidFill>
                  <a:srgbClr val="007680"/>
                </a:solidFill>
                <a:latin typeface="Calibri"/>
              </a:rPr>
              <a:t>PLI for battery storage manufacturing</a:t>
            </a:r>
            <a:endParaRPr lang="en-IN" sz="1100" b="1" kern="0" baseline="30000" dirty="0">
              <a:solidFill>
                <a:srgbClr val="007680"/>
              </a:solidFill>
              <a:latin typeface="Calibri"/>
            </a:endParaRPr>
          </a:p>
        </p:txBody>
      </p:sp>
      <p:sp>
        <p:nvSpPr>
          <p:cNvPr id="41" name="Freeform 560">
            <a:extLst>
              <a:ext uri="{FF2B5EF4-FFF2-40B4-BE49-F238E27FC236}">
                <a16:creationId xmlns:a16="http://schemas.microsoft.com/office/drawing/2014/main" id="{26A95F17-D9EF-4760-94CB-E3A75BA5255C}"/>
              </a:ext>
            </a:extLst>
          </p:cNvPr>
          <p:cNvSpPr>
            <a:spLocks noEditPoints="1"/>
          </p:cNvSpPr>
          <p:nvPr/>
        </p:nvSpPr>
        <p:spPr bwMode="auto">
          <a:xfrm>
            <a:off x="9583702" y="4480092"/>
            <a:ext cx="263428" cy="402455"/>
          </a:xfrm>
          <a:custGeom>
            <a:avLst/>
            <a:gdLst>
              <a:gd name="T0" fmla="*/ 33 w 225"/>
              <a:gd name="T1" fmla="*/ 320 h 320"/>
              <a:gd name="T2" fmla="*/ 28 w 225"/>
              <a:gd name="T3" fmla="*/ 318 h 320"/>
              <a:gd name="T4" fmla="*/ 22 w 225"/>
              <a:gd name="T5" fmla="*/ 306 h 320"/>
              <a:gd name="T6" fmla="*/ 61 w 225"/>
              <a:gd name="T7" fmla="*/ 170 h 320"/>
              <a:gd name="T8" fmla="*/ 11 w 225"/>
              <a:gd name="T9" fmla="*/ 170 h 320"/>
              <a:gd name="T10" fmla="*/ 2 w 225"/>
              <a:gd name="T11" fmla="*/ 166 h 320"/>
              <a:gd name="T12" fmla="*/ 2 w 225"/>
              <a:gd name="T13" fmla="*/ 155 h 320"/>
              <a:gd name="T14" fmla="*/ 66 w 225"/>
              <a:gd name="T15" fmla="*/ 6 h 320"/>
              <a:gd name="T16" fmla="*/ 75 w 225"/>
              <a:gd name="T17" fmla="*/ 0 h 320"/>
              <a:gd name="T18" fmla="*/ 182 w 225"/>
              <a:gd name="T19" fmla="*/ 0 h 320"/>
              <a:gd name="T20" fmla="*/ 191 w 225"/>
              <a:gd name="T21" fmla="*/ 5 h 320"/>
              <a:gd name="T22" fmla="*/ 192 w 225"/>
              <a:gd name="T23" fmla="*/ 15 h 320"/>
              <a:gd name="T24" fmla="*/ 156 w 225"/>
              <a:gd name="T25" fmla="*/ 96 h 320"/>
              <a:gd name="T26" fmla="*/ 214 w 225"/>
              <a:gd name="T27" fmla="*/ 96 h 320"/>
              <a:gd name="T28" fmla="*/ 224 w 225"/>
              <a:gd name="T29" fmla="*/ 102 h 320"/>
              <a:gd name="T30" fmla="*/ 222 w 225"/>
              <a:gd name="T31" fmla="*/ 113 h 320"/>
              <a:gd name="T32" fmla="*/ 41 w 225"/>
              <a:gd name="T33" fmla="*/ 316 h 320"/>
              <a:gd name="T34" fmla="*/ 33 w 225"/>
              <a:gd name="T35" fmla="*/ 320 h 320"/>
              <a:gd name="T36" fmla="*/ 28 w 225"/>
              <a:gd name="T37" fmla="*/ 149 h 320"/>
              <a:gd name="T38" fmla="*/ 75 w 225"/>
              <a:gd name="T39" fmla="*/ 149 h 320"/>
              <a:gd name="T40" fmla="*/ 84 w 225"/>
              <a:gd name="T41" fmla="*/ 153 h 320"/>
              <a:gd name="T42" fmla="*/ 86 w 225"/>
              <a:gd name="T43" fmla="*/ 163 h 320"/>
              <a:gd name="T44" fmla="*/ 56 w 225"/>
              <a:gd name="T45" fmla="*/ 267 h 320"/>
              <a:gd name="T46" fmla="*/ 190 w 225"/>
              <a:gd name="T47" fmla="*/ 117 h 320"/>
              <a:gd name="T48" fmla="*/ 139 w 225"/>
              <a:gd name="T49" fmla="*/ 117 h 320"/>
              <a:gd name="T50" fmla="*/ 130 w 225"/>
              <a:gd name="T51" fmla="*/ 112 h 320"/>
              <a:gd name="T52" fmla="*/ 130 w 225"/>
              <a:gd name="T53" fmla="*/ 102 h 320"/>
              <a:gd name="T54" fmla="*/ 166 w 225"/>
              <a:gd name="T55" fmla="*/ 21 h 320"/>
              <a:gd name="T56" fmla="*/ 82 w 225"/>
              <a:gd name="T57" fmla="*/ 21 h 320"/>
              <a:gd name="T58" fmla="*/ 28 w 225"/>
              <a:gd name="T59" fmla="*/ 149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5" h="320">
                <a:moveTo>
                  <a:pt x="33" y="320"/>
                </a:moveTo>
                <a:cubicBezTo>
                  <a:pt x="31" y="320"/>
                  <a:pt x="29" y="319"/>
                  <a:pt x="28" y="318"/>
                </a:cubicBezTo>
                <a:cubicBezTo>
                  <a:pt x="23" y="316"/>
                  <a:pt x="21" y="311"/>
                  <a:pt x="22" y="306"/>
                </a:cubicBezTo>
                <a:cubicBezTo>
                  <a:pt x="61" y="170"/>
                  <a:pt x="61" y="170"/>
                  <a:pt x="61" y="170"/>
                </a:cubicBezTo>
                <a:cubicBezTo>
                  <a:pt x="11" y="170"/>
                  <a:pt x="11" y="170"/>
                  <a:pt x="11" y="170"/>
                </a:cubicBezTo>
                <a:cubicBezTo>
                  <a:pt x="8" y="170"/>
                  <a:pt x="4" y="169"/>
                  <a:pt x="2" y="166"/>
                </a:cubicBezTo>
                <a:cubicBezTo>
                  <a:pt x="0" y="163"/>
                  <a:pt x="0" y="159"/>
                  <a:pt x="2" y="155"/>
                </a:cubicBezTo>
                <a:cubicBezTo>
                  <a:pt x="66" y="6"/>
                  <a:pt x="66" y="6"/>
                  <a:pt x="66" y="6"/>
                </a:cubicBezTo>
                <a:cubicBezTo>
                  <a:pt x="67" y="2"/>
                  <a:pt x="71" y="0"/>
                  <a:pt x="75" y="0"/>
                </a:cubicBezTo>
                <a:cubicBezTo>
                  <a:pt x="182" y="0"/>
                  <a:pt x="182" y="0"/>
                  <a:pt x="182" y="0"/>
                </a:cubicBezTo>
                <a:cubicBezTo>
                  <a:pt x="186" y="0"/>
                  <a:pt x="189" y="1"/>
                  <a:pt x="191" y="5"/>
                </a:cubicBezTo>
                <a:cubicBezTo>
                  <a:pt x="193" y="8"/>
                  <a:pt x="193" y="11"/>
                  <a:pt x="192" y="15"/>
                </a:cubicBezTo>
                <a:cubicBezTo>
                  <a:pt x="156" y="96"/>
                  <a:pt x="156" y="96"/>
                  <a:pt x="156" y="96"/>
                </a:cubicBezTo>
                <a:cubicBezTo>
                  <a:pt x="214" y="96"/>
                  <a:pt x="214" y="96"/>
                  <a:pt x="214" y="96"/>
                </a:cubicBezTo>
                <a:cubicBezTo>
                  <a:pt x="218" y="96"/>
                  <a:pt x="222" y="98"/>
                  <a:pt x="224" y="102"/>
                </a:cubicBezTo>
                <a:cubicBezTo>
                  <a:pt x="225" y="106"/>
                  <a:pt x="225" y="110"/>
                  <a:pt x="222" y="113"/>
                </a:cubicBezTo>
                <a:cubicBezTo>
                  <a:pt x="41" y="316"/>
                  <a:pt x="41" y="316"/>
                  <a:pt x="41" y="316"/>
                </a:cubicBezTo>
                <a:cubicBezTo>
                  <a:pt x="39" y="318"/>
                  <a:pt x="36" y="320"/>
                  <a:pt x="33" y="320"/>
                </a:cubicBezTo>
                <a:close/>
                <a:moveTo>
                  <a:pt x="28" y="149"/>
                </a:moveTo>
                <a:cubicBezTo>
                  <a:pt x="75" y="149"/>
                  <a:pt x="75" y="149"/>
                  <a:pt x="75" y="149"/>
                </a:cubicBezTo>
                <a:cubicBezTo>
                  <a:pt x="79" y="149"/>
                  <a:pt x="82" y="151"/>
                  <a:pt x="84" y="153"/>
                </a:cubicBezTo>
                <a:cubicBezTo>
                  <a:pt x="86" y="156"/>
                  <a:pt x="87" y="159"/>
                  <a:pt x="86" y="163"/>
                </a:cubicBezTo>
                <a:cubicBezTo>
                  <a:pt x="56" y="267"/>
                  <a:pt x="56" y="267"/>
                  <a:pt x="56" y="267"/>
                </a:cubicBezTo>
                <a:cubicBezTo>
                  <a:pt x="190" y="117"/>
                  <a:pt x="190" y="117"/>
                  <a:pt x="190" y="117"/>
                </a:cubicBezTo>
                <a:cubicBezTo>
                  <a:pt x="139" y="117"/>
                  <a:pt x="139" y="117"/>
                  <a:pt x="139" y="117"/>
                </a:cubicBezTo>
                <a:cubicBezTo>
                  <a:pt x="136" y="117"/>
                  <a:pt x="132" y="115"/>
                  <a:pt x="130" y="112"/>
                </a:cubicBezTo>
                <a:cubicBezTo>
                  <a:pt x="128" y="109"/>
                  <a:pt x="128" y="105"/>
                  <a:pt x="130" y="102"/>
                </a:cubicBezTo>
                <a:cubicBezTo>
                  <a:pt x="166" y="21"/>
                  <a:pt x="166" y="21"/>
                  <a:pt x="166" y="21"/>
                </a:cubicBezTo>
                <a:cubicBezTo>
                  <a:pt x="82" y="21"/>
                  <a:pt x="82" y="21"/>
                  <a:pt x="82" y="21"/>
                </a:cubicBezTo>
                <a:lnTo>
                  <a:pt x="28" y="149"/>
                </a:lnTo>
                <a:close/>
              </a:path>
            </a:pathLst>
          </a:custGeom>
          <a:solidFill>
            <a:srgbClr val="004F5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defRPr/>
            </a:pPr>
            <a:endParaRPr lang="en-GB" sz="1800">
              <a:solidFill>
                <a:srgbClr val="000000"/>
              </a:solidFill>
              <a:latin typeface="Calibri"/>
            </a:endParaRPr>
          </a:p>
        </p:txBody>
      </p:sp>
      <p:sp>
        <p:nvSpPr>
          <p:cNvPr id="42" name="Freeform 439">
            <a:extLst>
              <a:ext uri="{FF2B5EF4-FFF2-40B4-BE49-F238E27FC236}">
                <a16:creationId xmlns:a16="http://schemas.microsoft.com/office/drawing/2014/main" id="{515F32EF-1DAB-454C-9E16-C832CD9E1072}"/>
              </a:ext>
            </a:extLst>
          </p:cNvPr>
          <p:cNvSpPr>
            <a:spLocks noEditPoints="1"/>
          </p:cNvSpPr>
          <p:nvPr/>
        </p:nvSpPr>
        <p:spPr bwMode="auto">
          <a:xfrm rot="16200000">
            <a:off x="9573917" y="4893519"/>
            <a:ext cx="510220" cy="296352"/>
          </a:xfrm>
          <a:custGeom>
            <a:avLst/>
            <a:gdLst>
              <a:gd name="T0" fmla="*/ 309 w 320"/>
              <a:gd name="T1" fmla="*/ 43 h 171"/>
              <a:gd name="T2" fmla="*/ 277 w 320"/>
              <a:gd name="T3" fmla="*/ 43 h 171"/>
              <a:gd name="T4" fmla="*/ 277 w 320"/>
              <a:gd name="T5" fmla="*/ 11 h 171"/>
              <a:gd name="T6" fmla="*/ 266 w 320"/>
              <a:gd name="T7" fmla="*/ 0 h 171"/>
              <a:gd name="T8" fmla="*/ 10 w 320"/>
              <a:gd name="T9" fmla="*/ 0 h 171"/>
              <a:gd name="T10" fmla="*/ 0 w 320"/>
              <a:gd name="T11" fmla="*/ 11 h 171"/>
              <a:gd name="T12" fmla="*/ 0 w 320"/>
              <a:gd name="T13" fmla="*/ 160 h 171"/>
              <a:gd name="T14" fmla="*/ 10 w 320"/>
              <a:gd name="T15" fmla="*/ 171 h 171"/>
              <a:gd name="T16" fmla="*/ 266 w 320"/>
              <a:gd name="T17" fmla="*/ 171 h 171"/>
              <a:gd name="T18" fmla="*/ 277 w 320"/>
              <a:gd name="T19" fmla="*/ 160 h 171"/>
              <a:gd name="T20" fmla="*/ 277 w 320"/>
              <a:gd name="T21" fmla="*/ 128 h 171"/>
              <a:gd name="T22" fmla="*/ 309 w 320"/>
              <a:gd name="T23" fmla="*/ 128 h 171"/>
              <a:gd name="T24" fmla="*/ 320 w 320"/>
              <a:gd name="T25" fmla="*/ 118 h 171"/>
              <a:gd name="T26" fmla="*/ 320 w 320"/>
              <a:gd name="T27" fmla="*/ 54 h 171"/>
              <a:gd name="T28" fmla="*/ 309 w 320"/>
              <a:gd name="T29" fmla="*/ 43 h 171"/>
              <a:gd name="T30" fmla="*/ 256 w 320"/>
              <a:gd name="T31" fmla="*/ 150 h 171"/>
              <a:gd name="T32" fmla="*/ 21 w 320"/>
              <a:gd name="T33" fmla="*/ 150 h 171"/>
              <a:gd name="T34" fmla="*/ 21 w 320"/>
              <a:gd name="T35" fmla="*/ 22 h 171"/>
              <a:gd name="T36" fmla="*/ 256 w 320"/>
              <a:gd name="T37" fmla="*/ 22 h 171"/>
              <a:gd name="T38" fmla="*/ 256 w 320"/>
              <a:gd name="T39" fmla="*/ 150 h 171"/>
              <a:gd name="T40" fmla="*/ 298 w 320"/>
              <a:gd name="T41" fmla="*/ 107 h 171"/>
              <a:gd name="T42" fmla="*/ 277 w 320"/>
              <a:gd name="T43" fmla="*/ 107 h 171"/>
              <a:gd name="T44" fmla="*/ 277 w 320"/>
              <a:gd name="T45" fmla="*/ 64 h 171"/>
              <a:gd name="T46" fmla="*/ 298 w 320"/>
              <a:gd name="T47" fmla="*/ 64 h 171"/>
              <a:gd name="T48" fmla="*/ 298 w 320"/>
              <a:gd name="T49" fmla="*/ 107 h 171"/>
              <a:gd name="T50" fmla="*/ 42 w 320"/>
              <a:gd name="T51" fmla="*/ 118 h 171"/>
              <a:gd name="T52" fmla="*/ 42 w 320"/>
              <a:gd name="T53" fmla="*/ 54 h 171"/>
              <a:gd name="T54" fmla="*/ 53 w 320"/>
              <a:gd name="T55" fmla="*/ 43 h 171"/>
              <a:gd name="T56" fmla="*/ 64 w 320"/>
              <a:gd name="T57" fmla="*/ 54 h 171"/>
              <a:gd name="T58" fmla="*/ 64 w 320"/>
              <a:gd name="T59" fmla="*/ 118 h 171"/>
              <a:gd name="T60" fmla="*/ 53 w 320"/>
              <a:gd name="T61" fmla="*/ 128 h 171"/>
              <a:gd name="T62" fmla="*/ 42 w 320"/>
              <a:gd name="T63" fmla="*/ 118 h 171"/>
              <a:gd name="T64" fmla="*/ 85 w 320"/>
              <a:gd name="T65" fmla="*/ 118 h 171"/>
              <a:gd name="T66" fmla="*/ 85 w 320"/>
              <a:gd name="T67" fmla="*/ 54 h 171"/>
              <a:gd name="T68" fmla="*/ 96 w 320"/>
              <a:gd name="T69" fmla="*/ 43 h 171"/>
              <a:gd name="T70" fmla="*/ 106 w 320"/>
              <a:gd name="T71" fmla="*/ 54 h 171"/>
              <a:gd name="T72" fmla="*/ 106 w 320"/>
              <a:gd name="T73" fmla="*/ 118 h 171"/>
              <a:gd name="T74" fmla="*/ 96 w 320"/>
              <a:gd name="T75" fmla="*/ 128 h 171"/>
              <a:gd name="T76" fmla="*/ 85 w 320"/>
              <a:gd name="T77" fmla="*/ 118 h 171"/>
              <a:gd name="T78" fmla="*/ 128 w 320"/>
              <a:gd name="T79" fmla="*/ 118 h 171"/>
              <a:gd name="T80" fmla="*/ 128 w 320"/>
              <a:gd name="T81" fmla="*/ 54 h 171"/>
              <a:gd name="T82" fmla="*/ 138 w 320"/>
              <a:gd name="T83" fmla="*/ 43 h 171"/>
              <a:gd name="T84" fmla="*/ 149 w 320"/>
              <a:gd name="T85" fmla="*/ 54 h 171"/>
              <a:gd name="T86" fmla="*/ 149 w 320"/>
              <a:gd name="T87" fmla="*/ 118 h 171"/>
              <a:gd name="T88" fmla="*/ 138 w 320"/>
              <a:gd name="T89" fmla="*/ 128 h 171"/>
              <a:gd name="T90" fmla="*/ 128 w 320"/>
              <a:gd name="T91" fmla="*/ 118 h 171"/>
              <a:gd name="T92" fmla="*/ 170 w 320"/>
              <a:gd name="T93" fmla="*/ 118 h 171"/>
              <a:gd name="T94" fmla="*/ 170 w 320"/>
              <a:gd name="T95" fmla="*/ 54 h 171"/>
              <a:gd name="T96" fmla="*/ 181 w 320"/>
              <a:gd name="T97" fmla="*/ 43 h 171"/>
              <a:gd name="T98" fmla="*/ 192 w 320"/>
              <a:gd name="T99" fmla="*/ 54 h 171"/>
              <a:gd name="T100" fmla="*/ 192 w 320"/>
              <a:gd name="T101" fmla="*/ 118 h 171"/>
              <a:gd name="T102" fmla="*/ 181 w 320"/>
              <a:gd name="T103" fmla="*/ 128 h 171"/>
              <a:gd name="T104" fmla="*/ 170 w 320"/>
              <a:gd name="T105" fmla="*/ 118 h 171"/>
              <a:gd name="T106" fmla="*/ 213 w 320"/>
              <a:gd name="T107" fmla="*/ 118 h 171"/>
              <a:gd name="T108" fmla="*/ 213 w 320"/>
              <a:gd name="T109" fmla="*/ 54 h 171"/>
              <a:gd name="T110" fmla="*/ 224 w 320"/>
              <a:gd name="T111" fmla="*/ 43 h 171"/>
              <a:gd name="T112" fmla="*/ 234 w 320"/>
              <a:gd name="T113" fmla="*/ 54 h 171"/>
              <a:gd name="T114" fmla="*/ 234 w 320"/>
              <a:gd name="T115" fmla="*/ 118 h 171"/>
              <a:gd name="T116" fmla="*/ 224 w 320"/>
              <a:gd name="T117" fmla="*/ 128 h 171"/>
              <a:gd name="T118" fmla="*/ 213 w 320"/>
              <a:gd name="T119" fmla="*/ 11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0" h="171">
                <a:moveTo>
                  <a:pt x="309" y="43"/>
                </a:moveTo>
                <a:cubicBezTo>
                  <a:pt x="277" y="43"/>
                  <a:pt x="277" y="43"/>
                  <a:pt x="277" y="43"/>
                </a:cubicBezTo>
                <a:cubicBezTo>
                  <a:pt x="277" y="11"/>
                  <a:pt x="277" y="11"/>
                  <a:pt x="277" y="11"/>
                </a:cubicBezTo>
                <a:cubicBezTo>
                  <a:pt x="277" y="5"/>
                  <a:pt x="272" y="0"/>
                  <a:pt x="266" y="0"/>
                </a:cubicBezTo>
                <a:cubicBezTo>
                  <a:pt x="10" y="0"/>
                  <a:pt x="10" y="0"/>
                  <a:pt x="10" y="0"/>
                </a:cubicBezTo>
                <a:cubicBezTo>
                  <a:pt x="4" y="0"/>
                  <a:pt x="0" y="5"/>
                  <a:pt x="0" y="11"/>
                </a:cubicBezTo>
                <a:cubicBezTo>
                  <a:pt x="0" y="160"/>
                  <a:pt x="0" y="160"/>
                  <a:pt x="0" y="160"/>
                </a:cubicBezTo>
                <a:cubicBezTo>
                  <a:pt x="0" y="166"/>
                  <a:pt x="4" y="171"/>
                  <a:pt x="10" y="171"/>
                </a:cubicBezTo>
                <a:cubicBezTo>
                  <a:pt x="266" y="171"/>
                  <a:pt x="266" y="171"/>
                  <a:pt x="266" y="171"/>
                </a:cubicBezTo>
                <a:cubicBezTo>
                  <a:pt x="272" y="171"/>
                  <a:pt x="277" y="166"/>
                  <a:pt x="277" y="160"/>
                </a:cubicBezTo>
                <a:cubicBezTo>
                  <a:pt x="277" y="128"/>
                  <a:pt x="277" y="128"/>
                  <a:pt x="277" y="128"/>
                </a:cubicBezTo>
                <a:cubicBezTo>
                  <a:pt x="309" y="128"/>
                  <a:pt x="309" y="128"/>
                  <a:pt x="309" y="128"/>
                </a:cubicBezTo>
                <a:cubicBezTo>
                  <a:pt x="315" y="128"/>
                  <a:pt x="320" y="124"/>
                  <a:pt x="320" y="118"/>
                </a:cubicBezTo>
                <a:cubicBezTo>
                  <a:pt x="320" y="54"/>
                  <a:pt x="320" y="54"/>
                  <a:pt x="320" y="54"/>
                </a:cubicBezTo>
                <a:cubicBezTo>
                  <a:pt x="320" y="48"/>
                  <a:pt x="315" y="43"/>
                  <a:pt x="309" y="43"/>
                </a:cubicBezTo>
                <a:close/>
                <a:moveTo>
                  <a:pt x="256" y="150"/>
                </a:moveTo>
                <a:cubicBezTo>
                  <a:pt x="21" y="150"/>
                  <a:pt x="21" y="150"/>
                  <a:pt x="21" y="150"/>
                </a:cubicBezTo>
                <a:cubicBezTo>
                  <a:pt x="21" y="22"/>
                  <a:pt x="21" y="22"/>
                  <a:pt x="21" y="22"/>
                </a:cubicBezTo>
                <a:cubicBezTo>
                  <a:pt x="256" y="22"/>
                  <a:pt x="256" y="22"/>
                  <a:pt x="256" y="22"/>
                </a:cubicBezTo>
                <a:lnTo>
                  <a:pt x="256" y="150"/>
                </a:lnTo>
                <a:close/>
                <a:moveTo>
                  <a:pt x="298" y="107"/>
                </a:moveTo>
                <a:cubicBezTo>
                  <a:pt x="277" y="107"/>
                  <a:pt x="277" y="107"/>
                  <a:pt x="277" y="107"/>
                </a:cubicBezTo>
                <a:cubicBezTo>
                  <a:pt x="277" y="64"/>
                  <a:pt x="277" y="64"/>
                  <a:pt x="277" y="64"/>
                </a:cubicBezTo>
                <a:cubicBezTo>
                  <a:pt x="298" y="64"/>
                  <a:pt x="298" y="64"/>
                  <a:pt x="298" y="64"/>
                </a:cubicBezTo>
                <a:lnTo>
                  <a:pt x="298" y="107"/>
                </a:lnTo>
                <a:close/>
                <a:moveTo>
                  <a:pt x="42" y="118"/>
                </a:moveTo>
                <a:cubicBezTo>
                  <a:pt x="42" y="54"/>
                  <a:pt x="42" y="54"/>
                  <a:pt x="42" y="54"/>
                </a:cubicBezTo>
                <a:cubicBezTo>
                  <a:pt x="42" y="48"/>
                  <a:pt x="47" y="43"/>
                  <a:pt x="53" y="43"/>
                </a:cubicBezTo>
                <a:cubicBezTo>
                  <a:pt x="59" y="43"/>
                  <a:pt x="64" y="48"/>
                  <a:pt x="64" y="54"/>
                </a:cubicBezTo>
                <a:cubicBezTo>
                  <a:pt x="64" y="118"/>
                  <a:pt x="64" y="118"/>
                  <a:pt x="64" y="118"/>
                </a:cubicBezTo>
                <a:cubicBezTo>
                  <a:pt x="64" y="124"/>
                  <a:pt x="59" y="128"/>
                  <a:pt x="53" y="128"/>
                </a:cubicBezTo>
                <a:cubicBezTo>
                  <a:pt x="47" y="128"/>
                  <a:pt x="42" y="124"/>
                  <a:pt x="42" y="118"/>
                </a:cubicBezTo>
                <a:close/>
                <a:moveTo>
                  <a:pt x="85" y="118"/>
                </a:moveTo>
                <a:cubicBezTo>
                  <a:pt x="85" y="54"/>
                  <a:pt x="85" y="54"/>
                  <a:pt x="85" y="54"/>
                </a:cubicBezTo>
                <a:cubicBezTo>
                  <a:pt x="85" y="48"/>
                  <a:pt x="90" y="43"/>
                  <a:pt x="96" y="43"/>
                </a:cubicBezTo>
                <a:cubicBezTo>
                  <a:pt x="102" y="43"/>
                  <a:pt x="106" y="48"/>
                  <a:pt x="106" y="54"/>
                </a:cubicBezTo>
                <a:cubicBezTo>
                  <a:pt x="106" y="118"/>
                  <a:pt x="106" y="118"/>
                  <a:pt x="106" y="118"/>
                </a:cubicBezTo>
                <a:cubicBezTo>
                  <a:pt x="106" y="124"/>
                  <a:pt x="102" y="128"/>
                  <a:pt x="96" y="128"/>
                </a:cubicBezTo>
                <a:cubicBezTo>
                  <a:pt x="90" y="128"/>
                  <a:pt x="85" y="124"/>
                  <a:pt x="85" y="118"/>
                </a:cubicBezTo>
                <a:close/>
                <a:moveTo>
                  <a:pt x="128" y="118"/>
                </a:moveTo>
                <a:cubicBezTo>
                  <a:pt x="128" y="54"/>
                  <a:pt x="128" y="54"/>
                  <a:pt x="128" y="54"/>
                </a:cubicBezTo>
                <a:cubicBezTo>
                  <a:pt x="128" y="48"/>
                  <a:pt x="132" y="43"/>
                  <a:pt x="138" y="43"/>
                </a:cubicBezTo>
                <a:cubicBezTo>
                  <a:pt x="144" y="43"/>
                  <a:pt x="149" y="48"/>
                  <a:pt x="149" y="54"/>
                </a:cubicBezTo>
                <a:cubicBezTo>
                  <a:pt x="149" y="118"/>
                  <a:pt x="149" y="118"/>
                  <a:pt x="149" y="118"/>
                </a:cubicBezTo>
                <a:cubicBezTo>
                  <a:pt x="149" y="124"/>
                  <a:pt x="144" y="128"/>
                  <a:pt x="138" y="128"/>
                </a:cubicBezTo>
                <a:cubicBezTo>
                  <a:pt x="132" y="128"/>
                  <a:pt x="128" y="124"/>
                  <a:pt x="128" y="118"/>
                </a:cubicBezTo>
                <a:close/>
                <a:moveTo>
                  <a:pt x="170" y="118"/>
                </a:moveTo>
                <a:cubicBezTo>
                  <a:pt x="170" y="54"/>
                  <a:pt x="170" y="54"/>
                  <a:pt x="170" y="54"/>
                </a:cubicBezTo>
                <a:cubicBezTo>
                  <a:pt x="170" y="48"/>
                  <a:pt x="175" y="43"/>
                  <a:pt x="181" y="43"/>
                </a:cubicBezTo>
                <a:cubicBezTo>
                  <a:pt x="187" y="43"/>
                  <a:pt x="192" y="48"/>
                  <a:pt x="192" y="54"/>
                </a:cubicBezTo>
                <a:cubicBezTo>
                  <a:pt x="192" y="118"/>
                  <a:pt x="192" y="118"/>
                  <a:pt x="192" y="118"/>
                </a:cubicBezTo>
                <a:cubicBezTo>
                  <a:pt x="192" y="124"/>
                  <a:pt x="187" y="128"/>
                  <a:pt x="181" y="128"/>
                </a:cubicBezTo>
                <a:cubicBezTo>
                  <a:pt x="175" y="128"/>
                  <a:pt x="170" y="124"/>
                  <a:pt x="170" y="118"/>
                </a:cubicBezTo>
                <a:close/>
                <a:moveTo>
                  <a:pt x="213" y="118"/>
                </a:moveTo>
                <a:cubicBezTo>
                  <a:pt x="213" y="54"/>
                  <a:pt x="213" y="54"/>
                  <a:pt x="213" y="54"/>
                </a:cubicBezTo>
                <a:cubicBezTo>
                  <a:pt x="213" y="48"/>
                  <a:pt x="218" y="43"/>
                  <a:pt x="224" y="43"/>
                </a:cubicBezTo>
                <a:cubicBezTo>
                  <a:pt x="230" y="43"/>
                  <a:pt x="234" y="48"/>
                  <a:pt x="234" y="54"/>
                </a:cubicBezTo>
                <a:cubicBezTo>
                  <a:pt x="234" y="118"/>
                  <a:pt x="234" y="118"/>
                  <a:pt x="234" y="118"/>
                </a:cubicBezTo>
                <a:cubicBezTo>
                  <a:pt x="234" y="124"/>
                  <a:pt x="230" y="128"/>
                  <a:pt x="224" y="128"/>
                </a:cubicBezTo>
                <a:cubicBezTo>
                  <a:pt x="218" y="128"/>
                  <a:pt x="213" y="124"/>
                  <a:pt x="213" y="118"/>
                </a:cubicBezTo>
                <a:close/>
              </a:path>
            </a:pathLst>
          </a:custGeom>
          <a:solidFill>
            <a:srgbClr val="007680"/>
          </a:solidFill>
          <a:ln>
            <a:noFill/>
          </a:ln>
          <a:scene3d>
            <a:camera prst="orthographicFront">
              <a:rot lat="0" lon="0" rev="0"/>
            </a:camera>
            <a:lightRig rig="threePt" dir="t"/>
          </a:scene3d>
          <a:extLst>
            <a:ext uri="{91240B29-F687-4f45-9708-019B960494DF}">
              <a14:hiddenLine xmlns="" xmlns:a14="http://schemas.microsoft.com/office/drawing/2010/main" w="9525">
                <a:solidFill>
                  <a:srgbClr val="000000"/>
                </a:solidFill>
                <a:round/>
                <a:headEnd/>
                <a:tailEnd/>
              </a14:hiddenLine>
            </a:ext>
          </a:extLst>
        </p:spPr>
        <p:txBody>
          <a:bodyPr vert="horz" wrap="square" lIns="84863" tIns="42431" rIns="84863" bIns="42431" numCol="1" anchor="t" anchorCtr="0" compatLnSpc="1">
            <a:prstTxWarp prst="textNoShape">
              <a:avLst/>
            </a:prstTxWarp>
          </a:bodyPr>
          <a:lstStyle/>
          <a:p>
            <a:pPr defTabSz="424278">
              <a:defRPr/>
            </a:pPr>
            <a:endParaRPr lang="en-GB" sz="1851" dirty="0">
              <a:solidFill>
                <a:prstClr val="black"/>
              </a:solidFill>
              <a:latin typeface="Calibri"/>
            </a:endParaRPr>
          </a:p>
        </p:txBody>
      </p:sp>
      <p:sp>
        <p:nvSpPr>
          <p:cNvPr id="73" name="Rectangle 72">
            <a:extLst>
              <a:ext uri="{FF2B5EF4-FFF2-40B4-BE49-F238E27FC236}">
                <a16:creationId xmlns:a16="http://schemas.microsoft.com/office/drawing/2014/main" id="{4AD9B144-636C-40FD-9A34-D089648707F7}"/>
              </a:ext>
            </a:extLst>
          </p:cNvPr>
          <p:cNvSpPr/>
          <p:nvPr/>
        </p:nvSpPr>
        <p:spPr bwMode="gray">
          <a:xfrm>
            <a:off x="806516" y="1508803"/>
            <a:ext cx="1993392" cy="1682496"/>
          </a:xfrm>
          <a:prstGeom prst="rect">
            <a:avLst/>
          </a:prstGeom>
          <a:solidFill>
            <a:srgbClr val="A1D794">
              <a:alpha val="30000"/>
            </a:srgbClr>
          </a:solidFill>
          <a:ln w="19050" algn="ctr">
            <a:solidFill>
              <a:srgbClr val="26890D"/>
            </a:solidFill>
            <a:prstDash val="sysDot"/>
            <a:miter lim="800000"/>
            <a:headEnd/>
            <a:tailEnd/>
          </a:ln>
        </p:spPr>
        <p:txBody>
          <a:bodyPr wrap="square" lIns="88900" tIns="88900" rIns="88900" bIns="88900" rtlCol="0" anchor="ctr"/>
          <a:lstStyle/>
          <a:p>
            <a:pPr marL="0" marR="0" lvl="0" indent="0" algn="ctr" defTabSz="885893" eaLnBrk="1" fontAlgn="auto" latinLnBrk="0" hangingPunct="1">
              <a:lnSpc>
                <a:spcPct val="106000"/>
              </a:lnSpc>
              <a:spcBef>
                <a:spcPts val="0"/>
              </a:spcBef>
              <a:spcAft>
                <a:spcPts val="0"/>
              </a:spcAft>
              <a:buClrTx/>
              <a:buSzTx/>
              <a:buFontTx/>
              <a:buNone/>
              <a:tabLst/>
              <a:defRPr/>
            </a:pPr>
            <a:endParaRPr kumimoji="0" lang="en-IN" sz="1600" b="1" i="0" u="none" strike="noStrike" kern="0" cap="none" spc="0" normalizeH="0" baseline="0" noProof="0" dirty="0">
              <a:ln>
                <a:noFill/>
              </a:ln>
              <a:solidFill>
                <a:prstClr val="white"/>
              </a:solidFill>
              <a:effectLst/>
              <a:uLnTx/>
              <a:uFillTx/>
              <a:latin typeface="Calibri"/>
            </a:endParaRPr>
          </a:p>
        </p:txBody>
      </p:sp>
      <p:sp>
        <p:nvSpPr>
          <p:cNvPr id="74" name="TextBox 73">
            <a:extLst>
              <a:ext uri="{FF2B5EF4-FFF2-40B4-BE49-F238E27FC236}">
                <a16:creationId xmlns:a16="http://schemas.microsoft.com/office/drawing/2014/main" id="{1788E6D4-D543-4103-B6B1-B87E2C791B3F}"/>
              </a:ext>
            </a:extLst>
          </p:cNvPr>
          <p:cNvSpPr txBox="1"/>
          <p:nvPr/>
        </p:nvSpPr>
        <p:spPr>
          <a:xfrm>
            <a:off x="895550" y="1552918"/>
            <a:ext cx="1904358" cy="430887"/>
          </a:xfrm>
          <a:prstGeom prst="rect">
            <a:avLst/>
          </a:prstGeom>
          <a:noFill/>
          <a:ln>
            <a:noFill/>
          </a:ln>
        </p:spPr>
        <p:txBody>
          <a:bodyPr wrap="square" lIns="0" tIns="0" rIns="0" bIns="0" rtlCol="0">
            <a:spAutoFit/>
          </a:bodyPr>
          <a:lstStyle/>
          <a:p>
            <a:pPr defTabSz="885893">
              <a:spcBef>
                <a:spcPts val="600"/>
              </a:spcBef>
              <a:buSzPct val="100000"/>
              <a:defRPr/>
            </a:pPr>
            <a:r>
              <a:rPr lang="en-US" sz="1400" b="1" kern="0" dirty="0">
                <a:solidFill>
                  <a:prstClr val="black"/>
                </a:solidFill>
                <a:latin typeface="Calibri"/>
              </a:rPr>
              <a:t>24x7 power supply, reliable grid</a:t>
            </a:r>
            <a:endParaRPr lang="en-IN" sz="1400" b="1" kern="0" dirty="0">
              <a:solidFill>
                <a:prstClr val="black"/>
              </a:solidFill>
              <a:latin typeface="Calibri"/>
            </a:endParaRPr>
          </a:p>
        </p:txBody>
      </p:sp>
      <p:sp>
        <p:nvSpPr>
          <p:cNvPr id="80" name="TextBox 79">
            <a:extLst>
              <a:ext uri="{FF2B5EF4-FFF2-40B4-BE49-F238E27FC236}">
                <a16:creationId xmlns:a16="http://schemas.microsoft.com/office/drawing/2014/main" id="{ACA08B8D-AE9D-47C7-A404-AAAFDA860E39}"/>
              </a:ext>
            </a:extLst>
          </p:cNvPr>
          <p:cNvSpPr txBox="1"/>
          <p:nvPr/>
        </p:nvSpPr>
        <p:spPr>
          <a:xfrm>
            <a:off x="1675522" y="1968518"/>
            <a:ext cx="1196159" cy="1000274"/>
          </a:xfrm>
          <a:prstGeom prst="rect">
            <a:avLst/>
          </a:prstGeom>
          <a:noFill/>
          <a:ln>
            <a:noFill/>
          </a:ln>
        </p:spPr>
        <p:txBody>
          <a:bodyPr wrap="square" lIns="0" tIns="0" rIns="0" bIns="0" rtlCol="0">
            <a:spAutoFit/>
          </a:bodyPr>
          <a:lstStyle/>
          <a:p>
            <a:pPr defTabSz="885893">
              <a:spcBef>
                <a:spcPts val="600"/>
              </a:spcBef>
              <a:buSzPct val="100000"/>
              <a:defRPr/>
            </a:pPr>
            <a:r>
              <a:rPr lang="en-US" sz="1200" b="1" kern="0" dirty="0">
                <a:solidFill>
                  <a:srgbClr val="046A38"/>
                </a:solidFill>
                <a:latin typeface="Calibri"/>
              </a:rPr>
              <a:t>One Nation One Grid</a:t>
            </a:r>
          </a:p>
          <a:p>
            <a:pPr defTabSz="885893">
              <a:spcBef>
                <a:spcPts val="600"/>
              </a:spcBef>
              <a:buSzPct val="100000"/>
              <a:defRPr/>
            </a:pPr>
            <a:r>
              <a:rPr lang="en-US" sz="1200" b="1" kern="0" dirty="0">
                <a:solidFill>
                  <a:srgbClr val="046A38"/>
                </a:solidFill>
                <a:latin typeface="Calibri"/>
              </a:rPr>
              <a:t>Target of 100% rural electrification</a:t>
            </a:r>
          </a:p>
        </p:txBody>
      </p:sp>
      <p:sp>
        <p:nvSpPr>
          <p:cNvPr id="98" name="TextBox 97">
            <a:extLst>
              <a:ext uri="{FF2B5EF4-FFF2-40B4-BE49-F238E27FC236}">
                <a16:creationId xmlns:a16="http://schemas.microsoft.com/office/drawing/2014/main" id="{5D44ED74-09E8-4FF8-AF34-69096BE08263}"/>
              </a:ext>
            </a:extLst>
          </p:cNvPr>
          <p:cNvSpPr txBox="1"/>
          <p:nvPr/>
        </p:nvSpPr>
        <p:spPr>
          <a:xfrm>
            <a:off x="928035" y="5036231"/>
            <a:ext cx="1854539" cy="507831"/>
          </a:xfrm>
          <a:prstGeom prst="rect">
            <a:avLst/>
          </a:prstGeom>
          <a:noFill/>
        </p:spPr>
        <p:txBody>
          <a:bodyPr wrap="square" lIns="0" tIns="0" rIns="0" bIns="0" rtlCol="0">
            <a:spAutoFit/>
          </a:bodyPr>
          <a:lstStyle/>
          <a:p>
            <a:pPr defTabSz="885893">
              <a:spcBef>
                <a:spcPts val="600"/>
              </a:spcBef>
              <a:buSzPct val="100000"/>
              <a:defRPr/>
            </a:pPr>
            <a:r>
              <a:rPr lang="en-US" sz="1100" b="1" kern="0" dirty="0">
                <a:solidFill>
                  <a:prstClr val="black"/>
                </a:solidFill>
                <a:latin typeface="Calibri"/>
              </a:rPr>
              <a:t>Increasing requirement of peak power due to flexible operation of base load plants</a:t>
            </a:r>
            <a:endParaRPr lang="en-IN" sz="1100" b="1" kern="0" dirty="0">
              <a:solidFill>
                <a:prstClr val="black"/>
              </a:solidFill>
              <a:latin typeface="Calibri"/>
            </a:endParaRPr>
          </a:p>
        </p:txBody>
      </p:sp>
      <p:sp>
        <p:nvSpPr>
          <p:cNvPr id="99" name="TextBox 98">
            <a:extLst>
              <a:ext uri="{FF2B5EF4-FFF2-40B4-BE49-F238E27FC236}">
                <a16:creationId xmlns:a16="http://schemas.microsoft.com/office/drawing/2014/main" id="{E8E95657-6FB5-4809-8F65-45320D7DAEE0}"/>
              </a:ext>
            </a:extLst>
          </p:cNvPr>
          <p:cNvSpPr txBox="1"/>
          <p:nvPr/>
        </p:nvSpPr>
        <p:spPr>
          <a:xfrm>
            <a:off x="8262804" y="4745425"/>
            <a:ext cx="989077" cy="415498"/>
          </a:xfrm>
          <a:prstGeom prst="rect">
            <a:avLst/>
          </a:prstGeom>
          <a:noFill/>
        </p:spPr>
        <p:txBody>
          <a:bodyPr wrap="square" lIns="0" tIns="0" rIns="0" bIns="0" rtlCol="0">
            <a:spAutoFit/>
          </a:bodyPr>
          <a:lstStyle/>
          <a:p>
            <a:pPr defTabSz="914400">
              <a:spcAft>
                <a:spcPts val="1333"/>
              </a:spcAft>
              <a:buSzPct val="100000"/>
            </a:pPr>
            <a:r>
              <a:rPr lang="en-US" sz="1600" b="1" dirty="0">
                <a:solidFill>
                  <a:srgbClr val="007680"/>
                </a:solidFill>
                <a:latin typeface="Calibri"/>
              </a:rPr>
              <a:t>30% EV </a:t>
            </a:r>
            <a:r>
              <a:rPr lang="en-US" sz="1100" b="1" dirty="0">
                <a:solidFill>
                  <a:srgbClr val="007680"/>
                </a:solidFill>
                <a:latin typeface="Calibri"/>
              </a:rPr>
              <a:t>by 2030</a:t>
            </a:r>
            <a:endParaRPr lang="en-US" sz="1100" dirty="0">
              <a:solidFill>
                <a:srgbClr val="007680"/>
              </a:solidFill>
              <a:latin typeface="Calibri"/>
            </a:endParaRPr>
          </a:p>
        </p:txBody>
      </p:sp>
      <p:sp>
        <p:nvSpPr>
          <p:cNvPr id="100" name="Rectangle 99">
            <a:extLst>
              <a:ext uri="{FF2B5EF4-FFF2-40B4-BE49-F238E27FC236}">
                <a16:creationId xmlns:a16="http://schemas.microsoft.com/office/drawing/2014/main" id="{548BA233-9CAC-45F8-8CE8-52FAFAA66843}"/>
              </a:ext>
            </a:extLst>
          </p:cNvPr>
          <p:cNvSpPr/>
          <p:nvPr/>
        </p:nvSpPr>
        <p:spPr bwMode="gray">
          <a:xfrm>
            <a:off x="5122243" y="3861566"/>
            <a:ext cx="1993392" cy="1682496"/>
          </a:xfrm>
          <a:prstGeom prst="rect">
            <a:avLst/>
          </a:prstGeom>
          <a:solidFill>
            <a:srgbClr val="DDEFE8">
              <a:alpha val="30000"/>
            </a:srgbClr>
          </a:solidFill>
          <a:ln w="19050" algn="ctr">
            <a:solidFill>
              <a:srgbClr val="0D8390"/>
            </a:solidFill>
            <a:prstDash val="sysDot"/>
            <a:miter lim="800000"/>
            <a:headEnd/>
            <a:tailEnd/>
          </a:ln>
        </p:spPr>
        <p:txBody>
          <a:bodyPr wrap="square" lIns="88900" tIns="88900" rIns="88900" bIns="88900" rtlCol="0" anchor="ctr"/>
          <a:lstStyle/>
          <a:p>
            <a:pPr marL="0" marR="0" lvl="0" indent="0" algn="ctr" defTabSz="885893" eaLnBrk="1" fontAlgn="auto" latinLnBrk="0" hangingPunct="1">
              <a:lnSpc>
                <a:spcPct val="106000"/>
              </a:lnSpc>
              <a:spcBef>
                <a:spcPts val="0"/>
              </a:spcBef>
              <a:spcAft>
                <a:spcPts val="0"/>
              </a:spcAft>
              <a:buClrTx/>
              <a:buSzTx/>
              <a:buFontTx/>
              <a:buNone/>
              <a:tabLst/>
              <a:defRPr/>
            </a:pPr>
            <a:endParaRPr kumimoji="0" lang="en-IN" sz="1600" b="1" i="0" u="none" strike="noStrike" kern="0" cap="none" spc="0" normalizeH="0" baseline="0" noProof="0" dirty="0">
              <a:ln>
                <a:noFill/>
              </a:ln>
              <a:solidFill>
                <a:prstClr val="white"/>
              </a:solidFill>
              <a:effectLst/>
              <a:uLnTx/>
              <a:uFillTx/>
              <a:latin typeface="Calibri"/>
            </a:endParaRPr>
          </a:p>
        </p:txBody>
      </p:sp>
      <p:grpSp>
        <p:nvGrpSpPr>
          <p:cNvPr id="101" name="Group 100">
            <a:extLst>
              <a:ext uri="{FF2B5EF4-FFF2-40B4-BE49-F238E27FC236}">
                <a16:creationId xmlns:a16="http://schemas.microsoft.com/office/drawing/2014/main" id="{217977E6-D4A9-4101-98F0-710C4E21FDFF}"/>
              </a:ext>
            </a:extLst>
          </p:cNvPr>
          <p:cNvGrpSpPr/>
          <p:nvPr/>
        </p:nvGrpSpPr>
        <p:grpSpPr>
          <a:xfrm>
            <a:off x="5259680" y="4476484"/>
            <a:ext cx="556855" cy="552987"/>
            <a:chOff x="782051" y="3410940"/>
            <a:chExt cx="691403" cy="677107"/>
          </a:xfrm>
          <a:solidFill>
            <a:srgbClr val="0D8390"/>
          </a:solidFill>
        </p:grpSpPr>
        <p:sp>
          <p:nvSpPr>
            <p:cNvPr id="102" name="Freeform 15">
              <a:extLst>
                <a:ext uri="{FF2B5EF4-FFF2-40B4-BE49-F238E27FC236}">
                  <a16:creationId xmlns:a16="http://schemas.microsoft.com/office/drawing/2014/main" id="{34CBC760-E25B-4576-B83D-EDC8C33D2757}"/>
                </a:ext>
              </a:extLst>
            </p:cNvPr>
            <p:cNvSpPr>
              <a:spLocks/>
            </p:cNvSpPr>
            <p:nvPr/>
          </p:nvSpPr>
          <p:spPr bwMode="auto">
            <a:xfrm>
              <a:off x="1067847" y="3686470"/>
              <a:ext cx="88609" cy="145768"/>
            </a:xfrm>
            <a:custGeom>
              <a:avLst/>
              <a:gdLst>
                <a:gd name="T0" fmla="*/ 30 w 82"/>
                <a:gd name="T1" fmla="*/ 0 h 147"/>
                <a:gd name="T2" fmla="*/ 29 w 82"/>
                <a:gd name="T3" fmla="*/ 7 h 147"/>
                <a:gd name="T4" fmla="*/ 54 w 82"/>
                <a:gd name="T5" fmla="*/ 24 h 147"/>
                <a:gd name="T6" fmla="*/ 74 w 82"/>
                <a:gd name="T7" fmla="*/ 71 h 147"/>
                <a:gd name="T8" fmla="*/ 54 w 82"/>
                <a:gd name="T9" fmla="*/ 119 h 147"/>
                <a:gd name="T10" fmla="*/ 7 w 82"/>
                <a:gd name="T11" fmla="*/ 139 h 147"/>
                <a:gd name="T12" fmla="*/ 4 w 82"/>
                <a:gd name="T13" fmla="*/ 139 h 147"/>
                <a:gd name="T14" fmla="*/ 0 w 82"/>
                <a:gd name="T15" fmla="*/ 146 h 147"/>
                <a:gd name="T16" fmla="*/ 7 w 82"/>
                <a:gd name="T17" fmla="*/ 147 h 147"/>
                <a:gd name="T18" fmla="*/ 82 w 82"/>
                <a:gd name="T19" fmla="*/ 71 h 147"/>
                <a:gd name="T20" fmla="*/ 30 w 82"/>
                <a:gd name="T21"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2" h="147">
                  <a:moveTo>
                    <a:pt x="30" y="0"/>
                  </a:moveTo>
                  <a:cubicBezTo>
                    <a:pt x="29" y="7"/>
                    <a:pt x="29" y="7"/>
                    <a:pt x="29" y="7"/>
                  </a:cubicBezTo>
                  <a:cubicBezTo>
                    <a:pt x="39" y="11"/>
                    <a:pt x="47" y="16"/>
                    <a:pt x="54" y="24"/>
                  </a:cubicBezTo>
                  <a:cubicBezTo>
                    <a:pt x="67" y="36"/>
                    <a:pt x="74" y="53"/>
                    <a:pt x="74" y="71"/>
                  </a:cubicBezTo>
                  <a:cubicBezTo>
                    <a:pt x="74" y="90"/>
                    <a:pt x="67" y="107"/>
                    <a:pt x="54" y="119"/>
                  </a:cubicBezTo>
                  <a:cubicBezTo>
                    <a:pt x="42" y="131"/>
                    <a:pt x="25" y="139"/>
                    <a:pt x="7" y="139"/>
                  </a:cubicBezTo>
                  <a:cubicBezTo>
                    <a:pt x="6" y="139"/>
                    <a:pt x="5" y="139"/>
                    <a:pt x="4" y="139"/>
                  </a:cubicBezTo>
                  <a:cubicBezTo>
                    <a:pt x="0" y="146"/>
                    <a:pt x="0" y="146"/>
                    <a:pt x="0" y="146"/>
                  </a:cubicBezTo>
                  <a:cubicBezTo>
                    <a:pt x="2" y="147"/>
                    <a:pt x="4" y="147"/>
                    <a:pt x="7" y="147"/>
                  </a:cubicBezTo>
                  <a:cubicBezTo>
                    <a:pt x="48" y="147"/>
                    <a:pt x="82" y="113"/>
                    <a:pt x="82" y="71"/>
                  </a:cubicBezTo>
                  <a:cubicBezTo>
                    <a:pt x="82" y="38"/>
                    <a:pt x="60" y="10"/>
                    <a:pt x="3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3" name="Freeform 16">
              <a:extLst>
                <a:ext uri="{FF2B5EF4-FFF2-40B4-BE49-F238E27FC236}">
                  <a16:creationId xmlns:a16="http://schemas.microsoft.com/office/drawing/2014/main" id="{873CF6E9-B61C-4099-93E4-98DBD87494C2}"/>
                </a:ext>
              </a:extLst>
            </p:cNvPr>
            <p:cNvSpPr>
              <a:spLocks/>
            </p:cNvSpPr>
            <p:nvPr/>
          </p:nvSpPr>
          <p:spPr bwMode="auto">
            <a:xfrm>
              <a:off x="1033215" y="3671608"/>
              <a:ext cx="83305" cy="170634"/>
            </a:xfrm>
            <a:custGeom>
              <a:avLst/>
              <a:gdLst>
                <a:gd name="T0" fmla="*/ 190 w 267"/>
                <a:gd name="T1" fmla="*/ 76 h 597"/>
                <a:gd name="T2" fmla="*/ 204 w 267"/>
                <a:gd name="T3" fmla="*/ 0 h 597"/>
                <a:gd name="T4" fmla="*/ 173 w 267"/>
                <a:gd name="T5" fmla="*/ 49 h 597"/>
                <a:gd name="T6" fmla="*/ 159 w 267"/>
                <a:gd name="T7" fmla="*/ 76 h 597"/>
                <a:gd name="T8" fmla="*/ 0 w 267"/>
                <a:gd name="T9" fmla="*/ 333 h 597"/>
                <a:gd name="T10" fmla="*/ 107 w 267"/>
                <a:gd name="T11" fmla="*/ 333 h 597"/>
                <a:gd name="T12" fmla="*/ 69 w 267"/>
                <a:gd name="T13" fmla="*/ 552 h 597"/>
                <a:gd name="T14" fmla="*/ 62 w 267"/>
                <a:gd name="T15" fmla="*/ 597 h 597"/>
                <a:gd name="T16" fmla="*/ 93 w 267"/>
                <a:gd name="T17" fmla="*/ 548 h 597"/>
                <a:gd name="T18" fmla="*/ 107 w 267"/>
                <a:gd name="T19" fmla="*/ 524 h 597"/>
                <a:gd name="T20" fmla="*/ 267 w 267"/>
                <a:gd name="T21" fmla="*/ 267 h 597"/>
                <a:gd name="T22" fmla="*/ 159 w 267"/>
                <a:gd name="T23" fmla="*/ 267 h 597"/>
                <a:gd name="T24" fmla="*/ 190 w 267"/>
                <a:gd name="T25" fmla="*/ 76 h 597"/>
                <a:gd name="T26" fmla="*/ 190 w 267"/>
                <a:gd name="T27" fmla="*/ 76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7" h="597">
                  <a:moveTo>
                    <a:pt x="190" y="76"/>
                  </a:moveTo>
                  <a:lnTo>
                    <a:pt x="204" y="0"/>
                  </a:lnTo>
                  <a:lnTo>
                    <a:pt x="173" y="49"/>
                  </a:lnTo>
                  <a:lnTo>
                    <a:pt x="159" y="76"/>
                  </a:lnTo>
                  <a:lnTo>
                    <a:pt x="0" y="333"/>
                  </a:lnTo>
                  <a:lnTo>
                    <a:pt x="107" y="333"/>
                  </a:lnTo>
                  <a:lnTo>
                    <a:pt x="69" y="552"/>
                  </a:lnTo>
                  <a:lnTo>
                    <a:pt x="62" y="597"/>
                  </a:lnTo>
                  <a:lnTo>
                    <a:pt x="93" y="548"/>
                  </a:lnTo>
                  <a:lnTo>
                    <a:pt x="107" y="524"/>
                  </a:lnTo>
                  <a:lnTo>
                    <a:pt x="267" y="267"/>
                  </a:lnTo>
                  <a:lnTo>
                    <a:pt x="159" y="267"/>
                  </a:lnTo>
                  <a:lnTo>
                    <a:pt x="190" y="76"/>
                  </a:lnTo>
                  <a:lnTo>
                    <a:pt x="190"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4" name="Freeform 17">
              <a:extLst>
                <a:ext uri="{FF2B5EF4-FFF2-40B4-BE49-F238E27FC236}">
                  <a16:creationId xmlns:a16="http://schemas.microsoft.com/office/drawing/2014/main" id="{9D33A32A-ABCE-42D2-B565-53F8A8786A12}"/>
                </a:ext>
              </a:extLst>
            </p:cNvPr>
            <p:cNvSpPr>
              <a:spLocks/>
            </p:cNvSpPr>
            <p:nvPr/>
          </p:nvSpPr>
          <p:spPr bwMode="auto">
            <a:xfrm>
              <a:off x="992966" y="3682469"/>
              <a:ext cx="89857" cy="145768"/>
            </a:xfrm>
            <a:custGeom>
              <a:avLst/>
              <a:gdLst>
                <a:gd name="T0" fmla="*/ 0 w 83"/>
                <a:gd name="T1" fmla="*/ 75 h 147"/>
                <a:gd name="T2" fmla="*/ 52 w 83"/>
                <a:gd name="T3" fmla="*/ 147 h 147"/>
                <a:gd name="T4" fmla="*/ 53 w 83"/>
                <a:gd name="T5" fmla="*/ 139 h 147"/>
                <a:gd name="T6" fmla="*/ 28 w 83"/>
                <a:gd name="T7" fmla="*/ 123 h 147"/>
                <a:gd name="T8" fmla="*/ 8 w 83"/>
                <a:gd name="T9" fmla="*/ 75 h 147"/>
                <a:gd name="T10" fmla="*/ 28 w 83"/>
                <a:gd name="T11" fmla="*/ 28 h 147"/>
                <a:gd name="T12" fmla="*/ 76 w 83"/>
                <a:gd name="T13" fmla="*/ 8 h 147"/>
                <a:gd name="T14" fmla="*/ 78 w 83"/>
                <a:gd name="T15" fmla="*/ 8 h 147"/>
                <a:gd name="T16" fmla="*/ 83 w 83"/>
                <a:gd name="T17" fmla="*/ 0 h 147"/>
                <a:gd name="T18" fmla="*/ 76 w 83"/>
                <a:gd name="T19" fmla="*/ 0 h 147"/>
                <a:gd name="T20" fmla="*/ 0 w 83"/>
                <a:gd name="T21" fmla="*/ 75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3" h="147">
                  <a:moveTo>
                    <a:pt x="0" y="75"/>
                  </a:moveTo>
                  <a:cubicBezTo>
                    <a:pt x="0" y="109"/>
                    <a:pt x="22" y="137"/>
                    <a:pt x="52" y="147"/>
                  </a:cubicBezTo>
                  <a:cubicBezTo>
                    <a:pt x="53" y="139"/>
                    <a:pt x="53" y="139"/>
                    <a:pt x="53" y="139"/>
                  </a:cubicBezTo>
                  <a:cubicBezTo>
                    <a:pt x="44" y="136"/>
                    <a:pt x="35" y="130"/>
                    <a:pt x="28" y="123"/>
                  </a:cubicBezTo>
                  <a:cubicBezTo>
                    <a:pt x="16" y="111"/>
                    <a:pt x="8" y="94"/>
                    <a:pt x="8" y="75"/>
                  </a:cubicBezTo>
                  <a:cubicBezTo>
                    <a:pt x="8" y="57"/>
                    <a:pt x="16" y="40"/>
                    <a:pt x="28" y="28"/>
                  </a:cubicBezTo>
                  <a:cubicBezTo>
                    <a:pt x="40" y="15"/>
                    <a:pt x="57" y="8"/>
                    <a:pt x="76" y="8"/>
                  </a:cubicBezTo>
                  <a:cubicBezTo>
                    <a:pt x="76" y="8"/>
                    <a:pt x="77" y="8"/>
                    <a:pt x="78" y="8"/>
                  </a:cubicBezTo>
                  <a:cubicBezTo>
                    <a:pt x="83" y="0"/>
                    <a:pt x="83" y="0"/>
                    <a:pt x="83" y="0"/>
                  </a:cubicBezTo>
                  <a:cubicBezTo>
                    <a:pt x="80" y="0"/>
                    <a:pt x="78" y="0"/>
                    <a:pt x="76" y="0"/>
                  </a:cubicBezTo>
                  <a:cubicBezTo>
                    <a:pt x="34" y="0"/>
                    <a:pt x="0" y="34"/>
                    <a:pt x="0" y="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5" name="Freeform 18">
              <a:extLst>
                <a:ext uri="{FF2B5EF4-FFF2-40B4-BE49-F238E27FC236}">
                  <a16:creationId xmlns:a16="http://schemas.microsoft.com/office/drawing/2014/main" id="{1C1D92D0-C20A-48A3-8434-50FB20047F23}"/>
                </a:ext>
              </a:extLst>
            </p:cNvPr>
            <p:cNvSpPr>
              <a:spLocks/>
            </p:cNvSpPr>
            <p:nvPr/>
          </p:nvSpPr>
          <p:spPr bwMode="auto">
            <a:xfrm>
              <a:off x="1166129" y="3541845"/>
              <a:ext cx="73633" cy="47446"/>
            </a:xfrm>
            <a:custGeom>
              <a:avLst/>
              <a:gdLst>
                <a:gd name="T0" fmla="*/ 27 w 68"/>
                <a:gd name="T1" fmla="*/ 24 h 48"/>
                <a:gd name="T2" fmla="*/ 48 w 68"/>
                <a:gd name="T3" fmla="*/ 46 h 48"/>
                <a:gd name="T4" fmla="*/ 68 w 68"/>
                <a:gd name="T5" fmla="*/ 48 h 48"/>
                <a:gd name="T6" fmla="*/ 36 w 68"/>
                <a:gd name="T7" fmla="*/ 9 h 48"/>
                <a:gd name="T8" fmla="*/ 0 w 68"/>
                <a:gd name="T9" fmla="*/ 0 h 48"/>
                <a:gd name="T10" fmla="*/ 0 w 68"/>
                <a:gd name="T11" fmla="*/ 17 h 48"/>
                <a:gd name="T12" fmla="*/ 27 w 68"/>
                <a:gd name="T13" fmla="*/ 24 h 48"/>
              </a:gdLst>
              <a:ahLst/>
              <a:cxnLst>
                <a:cxn ang="0">
                  <a:pos x="T0" y="T1"/>
                </a:cxn>
                <a:cxn ang="0">
                  <a:pos x="T2" y="T3"/>
                </a:cxn>
                <a:cxn ang="0">
                  <a:pos x="T4" y="T5"/>
                </a:cxn>
                <a:cxn ang="0">
                  <a:pos x="T6" y="T7"/>
                </a:cxn>
                <a:cxn ang="0">
                  <a:pos x="T8" y="T9"/>
                </a:cxn>
                <a:cxn ang="0">
                  <a:pos x="T10" y="T11"/>
                </a:cxn>
                <a:cxn ang="0">
                  <a:pos x="T12" y="T13"/>
                </a:cxn>
              </a:cxnLst>
              <a:rect l="0" t="0" r="r" b="b"/>
              <a:pathLst>
                <a:path w="68" h="48">
                  <a:moveTo>
                    <a:pt x="27" y="24"/>
                  </a:moveTo>
                  <a:cubicBezTo>
                    <a:pt x="36" y="29"/>
                    <a:pt x="43" y="36"/>
                    <a:pt x="48" y="46"/>
                  </a:cubicBezTo>
                  <a:cubicBezTo>
                    <a:pt x="55" y="47"/>
                    <a:pt x="61" y="47"/>
                    <a:pt x="68" y="48"/>
                  </a:cubicBezTo>
                  <a:cubicBezTo>
                    <a:pt x="61" y="30"/>
                    <a:pt x="50" y="17"/>
                    <a:pt x="36" y="9"/>
                  </a:cubicBezTo>
                  <a:cubicBezTo>
                    <a:pt x="25" y="3"/>
                    <a:pt x="13" y="0"/>
                    <a:pt x="0" y="0"/>
                  </a:cubicBezTo>
                  <a:cubicBezTo>
                    <a:pt x="0" y="17"/>
                    <a:pt x="0" y="17"/>
                    <a:pt x="0" y="17"/>
                  </a:cubicBezTo>
                  <a:cubicBezTo>
                    <a:pt x="10" y="17"/>
                    <a:pt x="20" y="19"/>
                    <a:pt x="27"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6" name="Freeform 19">
              <a:extLst>
                <a:ext uri="{FF2B5EF4-FFF2-40B4-BE49-F238E27FC236}">
                  <a16:creationId xmlns:a16="http://schemas.microsoft.com/office/drawing/2014/main" id="{0A65F4AA-91E4-4867-8C8D-BC0D8E9C7F56}"/>
                </a:ext>
              </a:extLst>
            </p:cNvPr>
            <p:cNvSpPr>
              <a:spLocks/>
            </p:cNvSpPr>
            <p:nvPr/>
          </p:nvSpPr>
          <p:spPr bwMode="auto">
            <a:xfrm>
              <a:off x="1014807" y="3905694"/>
              <a:ext cx="103898" cy="54592"/>
            </a:xfrm>
            <a:custGeom>
              <a:avLst/>
              <a:gdLst>
                <a:gd name="T0" fmla="*/ 85 w 96"/>
                <a:gd name="T1" fmla="*/ 55 h 55"/>
                <a:gd name="T2" fmla="*/ 96 w 96"/>
                <a:gd name="T3" fmla="*/ 41 h 55"/>
                <a:gd name="T4" fmla="*/ 40 w 96"/>
                <a:gd name="T5" fmla="*/ 10 h 55"/>
                <a:gd name="T6" fmla="*/ 0 w 96"/>
                <a:gd name="T7" fmla="*/ 0 h 55"/>
                <a:gd name="T8" fmla="*/ 85 w 96"/>
                <a:gd name="T9" fmla="*/ 55 h 55"/>
              </a:gdLst>
              <a:ahLst/>
              <a:cxnLst>
                <a:cxn ang="0">
                  <a:pos x="T0" y="T1"/>
                </a:cxn>
                <a:cxn ang="0">
                  <a:pos x="T2" y="T3"/>
                </a:cxn>
                <a:cxn ang="0">
                  <a:pos x="T4" y="T5"/>
                </a:cxn>
                <a:cxn ang="0">
                  <a:pos x="T6" y="T7"/>
                </a:cxn>
                <a:cxn ang="0">
                  <a:pos x="T8" y="T9"/>
                </a:cxn>
              </a:cxnLst>
              <a:rect l="0" t="0" r="r" b="b"/>
              <a:pathLst>
                <a:path w="96" h="55">
                  <a:moveTo>
                    <a:pt x="85" y="55"/>
                  </a:moveTo>
                  <a:cubicBezTo>
                    <a:pt x="89" y="50"/>
                    <a:pt x="92" y="46"/>
                    <a:pt x="96" y="41"/>
                  </a:cubicBezTo>
                  <a:cubicBezTo>
                    <a:pt x="78" y="34"/>
                    <a:pt x="60" y="23"/>
                    <a:pt x="40" y="10"/>
                  </a:cubicBezTo>
                  <a:cubicBezTo>
                    <a:pt x="27" y="7"/>
                    <a:pt x="13" y="4"/>
                    <a:pt x="0" y="0"/>
                  </a:cubicBezTo>
                  <a:cubicBezTo>
                    <a:pt x="28" y="24"/>
                    <a:pt x="58" y="43"/>
                    <a:pt x="85"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7" name="Freeform 20">
              <a:extLst>
                <a:ext uri="{FF2B5EF4-FFF2-40B4-BE49-F238E27FC236}">
                  <a16:creationId xmlns:a16="http://schemas.microsoft.com/office/drawing/2014/main" id="{A853B96B-7685-47A4-8DB7-DEE7BB1C62F8}"/>
                </a:ext>
              </a:extLst>
            </p:cNvPr>
            <p:cNvSpPr>
              <a:spLocks/>
            </p:cNvSpPr>
            <p:nvPr/>
          </p:nvSpPr>
          <p:spPr bwMode="auto">
            <a:xfrm>
              <a:off x="814500" y="3710193"/>
              <a:ext cx="401550" cy="206362"/>
            </a:xfrm>
            <a:custGeom>
              <a:avLst/>
              <a:gdLst>
                <a:gd name="T0" fmla="*/ 43 w 371"/>
                <a:gd name="T1" fmla="*/ 97 h 208"/>
                <a:gd name="T2" fmla="*/ 17 w 371"/>
                <a:gd name="T3" fmla="*/ 47 h 208"/>
                <a:gd name="T4" fmla="*/ 26 w 371"/>
                <a:gd name="T5" fmla="*/ 18 h 208"/>
                <a:gd name="T6" fmla="*/ 18 w 371"/>
                <a:gd name="T7" fmla="*/ 0 h 208"/>
                <a:gd name="T8" fmla="*/ 0 w 371"/>
                <a:gd name="T9" fmla="*/ 47 h 208"/>
                <a:gd name="T10" fmla="*/ 345 w 371"/>
                <a:gd name="T11" fmla="*/ 208 h 208"/>
                <a:gd name="T12" fmla="*/ 366 w 371"/>
                <a:gd name="T13" fmla="*/ 207 h 208"/>
                <a:gd name="T14" fmla="*/ 371 w 371"/>
                <a:gd name="T15" fmla="*/ 190 h 208"/>
                <a:gd name="T16" fmla="*/ 371 w 371"/>
                <a:gd name="T17" fmla="*/ 190 h 208"/>
                <a:gd name="T18" fmla="*/ 345 w 371"/>
                <a:gd name="T19" fmla="*/ 190 h 208"/>
                <a:gd name="T20" fmla="*/ 120 w 371"/>
                <a:gd name="T21" fmla="*/ 145 h 208"/>
                <a:gd name="T22" fmla="*/ 43 w 371"/>
                <a:gd name="T23" fmla="*/ 9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1" h="208">
                  <a:moveTo>
                    <a:pt x="43" y="97"/>
                  </a:moveTo>
                  <a:cubicBezTo>
                    <a:pt x="26" y="80"/>
                    <a:pt x="17" y="64"/>
                    <a:pt x="17" y="47"/>
                  </a:cubicBezTo>
                  <a:cubicBezTo>
                    <a:pt x="17" y="38"/>
                    <a:pt x="20" y="28"/>
                    <a:pt x="26" y="18"/>
                  </a:cubicBezTo>
                  <a:cubicBezTo>
                    <a:pt x="23" y="12"/>
                    <a:pt x="20" y="6"/>
                    <a:pt x="18" y="0"/>
                  </a:cubicBezTo>
                  <a:cubicBezTo>
                    <a:pt x="6" y="15"/>
                    <a:pt x="0" y="31"/>
                    <a:pt x="0" y="47"/>
                  </a:cubicBezTo>
                  <a:cubicBezTo>
                    <a:pt x="0" y="136"/>
                    <a:pt x="187" y="208"/>
                    <a:pt x="345" y="208"/>
                  </a:cubicBezTo>
                  <a:cubicBezTo>
                    <a:pt x="352" y="208"/>
                    <a:pt x="359" y="207"/>
                    <a:pt x="366" y="207"/>
                  </a:cubicBezTo>
                  <a:cubicBezTo>
                    <a:pt x="368" y="202"/>
                    <a:pt x="370" y="197"/>
                    <a:pt x="371" y="190"/>
                  </a:cubicBezTo>
                  <a:cubicBezTo>
                    <a:pt x="371" y="190"/>
                    <a:pt x="371" y="190"/>
                    <a:pt x="371" y="190"/>
                  </a:cubicBezTo>
                  <a:cubicBezTo>
                    <a:pt x="363" y="190"/>
                    <a:pt x="354" y="190"/>
                    <a:pt x="345" y="190"/>
                  </a:cubicBezTo>
                  <a:cubicBezTo>
                    <a:pt x="269" y="190"/>
                    <a:pt x="185" y="173"/>
                    <a:pt x="120" y="145"/>
                  </a:cubicBezTo>
                  <a:cubicBezTo>
                    <a:pt x="88" y="131"/>
                    <a:pt x="61" y="114"/>
                    <a:pt x="43" y="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8" name="Freeform 21">
              <a:extLst>
                <a:ext uri="{FF2B5EF4-FFF2-40B4-BE49-F238E27FC236}">
                  <a16:creationId xmlns:a16="http://schemas.microsoft.com/office/drawing/2014/main" id="{27605540-7E69-4799-8BE9-D18D9F4B3CFE}"/>
                </a:ext>
              </a:extLst>
            </p:cNvPr>
            <p:cNvSpPr>
              <a:spLocks/>
            </p:cNvSpPr>
            <p:nvPr/>
          </p:nvSpPr>
          <p:spPr bwMode="auto">
            <a:xfrm>
              <a:off x="1231026" y="3627877"/>
              <a:ext cx="24024" cy="103181"/>
            </a:xfrm>
            <a:custGeom>
              <a:avLst/>
              <a:gdLst>
                <a:gd name="T0" fmla="*/ 14 w 22"/>
                <a:gd name="T1" fmla="*/ 104 h 104"/>
                <a:gd name="T2" fmla="*/ 18 w 22"/>
                <a:gd name="T3" fmla="*/ 2 h 104"/>
                <a:gd name="T4" fmla="*/ 0 w 22"/>
                <a:gd name="T5" fmla="*/ 0 h 104"/>
                <a:gd name="T6" fmla="*/ 1 w 22"/>
                <a:gd name="T7" fmla="*/ 64 h 104"/>
                <a:gd name="T8" fmla="*/ 14 w 22"/>
                <a:gd name="T9" fmla="*/ 104 h 104"/>
              </a:gdLst>
              <a:ahLst/>
              <a:cxnLst>
                <a:cxn ang="0">
                  <a:pos x="T0" y="T1"/>
                </a:cxn>
                <a:cxn ang="0">
                  <a:pos x="T2" y="T3"/>
                </a:cxn>
                <a:cxn ang="0">
                  <a:pos x="T4" y="T5"/>
                </a:cxn>
                <a:cxn ang="0">
                  <a:pos x="T6" y="T7"/>
                </a:cxn>
                <a:cxn ang="0">
                  <a:pos x="T8" y="T9"/>
                </a:cxn>
              </a:cxnLst>
              <a:rect l="0" t="0" r="r" b="b"/>
              <a:pathLst>
                <a:path w="22" h="104">
                  <a:moveTo>
                    <a:pt x="14" y="104"/>
                  </a:moveTo>
                  <a:cubicBezTo>
                    <a:pt x="20" y="67"/>
                    <a:pt x="22" y="32"/>
                    <a:pt x="18" y="2"/>
                  </a:cubicBezTo>
                  <a:cubicBezTo>
                    <a:pt x="12" y="2"/>
                    <a:pt x="6" y="1"/>
                    <a:pt x="0" y="0"/>
                  </a:cubicBezTo>
                  <a:cubicBezTo>
                    <a:pt x="3" y="19"/>
                    <a:pt x="3" y="40"/>
                    <a:pt x="1" y="64"/>
                  </a:cubicBezTo>
                  <a:cubicBezTo>
                    <a:pt x="6" y="77"/>
                    <a:pt x="10" y="90"/>
                    <a:pt x="14" y="10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9" name="Freeform 22">
              <a:extLst>
                <a:ext uri="{FF2B5EF4-FFF2-40B4-BE49-F238E27FC236}">
                  <a16:creationId xmlns:a16="http://schemas.microsoft.com/office/drawing/2014/main" id="{7A499145-C813-4D99-B766-EBE17C291738}"/>
                </a:ext>
              </a:extLst>
            </p:cNvPr>
            <p:cNvSpPr>
              <a:spLocks/>
            </p:cNvSpPr>
            <p:nvPr/>
          </p:nvSpPr>
          <p:spPr bwMode="auto">
            <a:xfrm>
              <a:off x="1151153" y="3541845"/>
              <a:ext cx="14976" cy="16863"/>
            </a:xfrm>
            <a:custGeom>
              <a:avLst/>
              <a:gdLst>
                <a:gd name="T0" fmla="*/ 14 w 14"/>
                <a:gd name="T1" fmla="*/ 17 h 17"/>
                <a:gd name="T2" fmla="*/ 14 w 14"/>
                <a:gd name="T3" fmla="*/ 0 h 17"/>
                <a:gd name="T4" fmla="*/ 14 w 14"/>
                <a:gd name="T5" fmla="*/ 0 h 17"/>
                <a:gd name="T6" fmla="*/ 0 w 14"/>
                <a:gd name="T7" fmla="*/ 1 h 17"/>
                <a:gd name="T8" fmla="*/ 12 w 14"/>
                <a:gd name="T9" fmla="*/ 17 h 17"/>
                <a:gd name="T10" fmla="*/ 14 w 14"/>
                <a:gd name="T11" fmla="*/ 17 h 17"/>
              </a:gdLst>
              <a:ahLst/>
              <a:cxnLst>
                <a:cxn ang="0">
                  <a:pos x="T0" y="T1"/>
                </a:cxn>
                <a:cxn ang="0">
                  <a:pos x="T2" y="T3"/>
                </a:cxn>
                <a:cxn ang="0">
                  <a:pos x="T4" y="T5"/>
                </a:cxn>
                <a:cxn ang="0">
                  <a:pos x="T6" y="T7"/>
                </a:cxn>
                <a:cxn ang="0">
                  <a:pos x="T8" y="T9"/>
                </a:cxn>
                <a:cxn ang="0">
                  <a:pos x="T10" y="T11"/>
                </a:cxn>
              </a:cxnLst>
              <a:rect l="0" t="0" r="r" b="b"/>
              <a:pathLst>
                <a:path w="14" h="17">
                  <a:moveTo>
                    <a:pt x="14" y="17"/>
                  </a:moveTo>
                  <a:cubicBezTo>
                    <a:pt x="14" y="0"/>
                    <a:pt x="14" y="0"/>
                    <a:pt x="14" y="0"/>
                  </a:cubicBezTo>
                  <a:cubicBezTo>
                    <a:pt x="14" y="0"/>
                    <a:pt x="14" y="0"/>
                    <a:pt x="14" y="0"/>
                  </a:cubicBezTo>
                  <a:cubicBezTo>
                    <a:pt x="9" y="0"/>
                    <a:pt x="5" y="0"/>
                    <a:pt x="0" y="1"/>
                  </a:cubicBezTo>
                  <a:cubicBezTo>
                    <a:pt x="4" y="6"/>
                    <a:pt x="8" y="12"/>
                    <a:pt x="12" y="17"/>
                  </a:cubicBezTo>
                  <a:cubicBezTo>
                    <a:pt x="12" y="17"/>
                    <a:pt x="13" y="17"/>
                    <a:pt x="14"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0" name="Freeform 23">
              <a:extLst>
                <a:ext uri="{FF2B5EF4-FFF2-40B4-BE49-F238E27FC236}">
                  <a16:creationId xmlns:a16="http://schemas.microsoft.com/office/drawing/2014/main" id="{FD1216E5-1442-4171-95C4-840AD2593D09}"/>
                </a:ext>
              </a:extLst>
            </p:cNvPr>
            <p:cNvSpPr>
              <a:spLocks/>
            </p:cNvSpPr>
            <p:nvPr/>
          </p:nvSpPr>
          <p:spPr bwMode="auto">
            <a:xfrm>
              <a:off x="1170497" y="3782791"/>
              <a:ext cx="49921" cy="104896"/>
            </a:xfrm>
            <a:custGeom>
              <a:avLst/>
              <a:gdLst>
                <a:gd name="T0" fmla="*/ 19 w 46"/>
                <a:gd name="T1" fmla="*/ 106 h 106"/>
                <a:gd name="T2" fmla="*/ 46 w 46"/>
                <a:gd name="T3" fmla="*/ 40 h 106"/>
                <a:gd name="T4" fmla="*/ 45 w 46"/>
                <a:gd name="T5" fmla="*/ 31 h 106"/>
                <a:gd name="T6" fmla="*/ 40 w 46"/>
                <a:gd name="T7" fmla="*/ 0 h 106"/>
                <a:gd name="T8" fmla="*/ 0 w 46"/>
                <a:gd name="T9" fmla="*/ 106 h 106"/>
                <a:gd name="T10" fmla="*/ 16 w 46"/>
                <a:gd name="T11" fmla="*/ 106 h 106"/>
                <a:gd name="T12" fmla="*/ 19 w 46"/>
                <a:gd name="T13" fmla="*/ 106 h 106"/>
              </a:gdLst>
              <a:ahLst/>
              <a:cxnLst>
                <a:cxn ang="0">
                  <a:pos x="T0" y="T1"/>
                </a:cxn>
                <a:cxn ang="0">
                  <a:pos x="T2" y="T3"/>
                </a:cxn>
                <a:cxn ang="0">
                  <a:pos x="T4" y="T5"/>
                </a:cxn>
                <a:cxn ang="0">
                  <a:pos x="T6" y="T7"/>
                </a:cxn>
                <a:cxn ang="0">
                  <a:pos x="T8" y="T9"/>
                </a:cxn>
                <a:cxn ang="0">
                  <a:pos x="T10" y="T11"/>
                </a:cxn>
                <a:cxn ang="0">
                  <a:pos x="T12" y="T13"/>
                </a:cxn>
              </a:cxnLst>
              <a:rect l="0" t="0" r="r" b="b"/>
              <a:pathLst>
                <a:path w="46" h="106">
                  <a:moveTo>
                    <a:pt x="19" y="106"/>
                  </a:moveTo>
                  <a:cubicBezTo>
                    <a:pt x="29" y="84"/>
                    <a:pt x="38" y="62"/>
                    <a:pt x="46" y="40"/>
                  </a:cubicBezTo>
                  <a:cubicBezTo>
                    <a:pt x="46" y="37"/>
                    <a:pt x="45" y="34"/>
                    <a:pt x="45" y="31"/>
                  </a:cubicBezTo>
                  <a:cubicBezTo>
                    <a:pt x="44" y="21"/>
                    <a:pt x="42" y="10"/>
                    <a:pt x="40" y="0"/>
                  </a:cubicBezTo>
                  <a:cubicBezTo>
                    <a:pt x="30" y="36"/>
                    <a:pt x="16" y="72"/>
                    <a:pt x="0" y="106"/>
                  </a:cubicBezTo>
                  <a:cubicBezTo>
                    <a:pt x="5" y="106"/>
                    <a:pt x="11" y="106"/>
                    <a:pt x="16" y="106"/>
                  </a:cubicBezTo>
                  <a:cubicBezTo>
                    <a:pt x="17" y="106"/>
                    <a:pt x="18" y="106"/>
                    <a:pt x="19"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1" name="Freeform 24">
              <a:extLst>
                <a:ext uri="{FF2B5EF4-FFF2-40B4-BE49-F238E27FC236}">
                  <a16:creationId xmlns:a16="http://schemas.microsoft.com/office/drawing/2014/main" id="{A529287C-8BAC-4202-B3AE-AF81A50CD050}"/>
                </a:ext>
              </a:extLst>
            </p:cNvPr>
            <p:cNvSpPr>
              <a:spLocks/>
            </p:cNvSpPr>
            <p:nvPr/>
          </p:nvSpPr>
          <p:spPr bwMode="auto">
            <a:xfrm>
              <a:off x="1028847" y="3600153"/>
              <a:ext cx="121058" cy="33727"/>
            </a:xfrm>
            <a:custGeom>
              <a:avLst/>
              <a:gdLst>
                <a:gd name="T0" fmla="*/ 103 w 112"/>
                <a:gd name="T1" fmla="*/ 0 h 34"/>
                <a:gd name="T2" fmla="*/ 32 w 112"/>
                <a:gd name="T3" fmla="*/ 9 h 34"/>
                <a:gd name="T4" fmla="*/ 2 w 112"/>
                <a:gd name="T5" fmla="*/ 32 h 34"/>
                <a:gd name="T6" fmla="*/ 0 w 112"/>
                <a:gd name="T7" fmla="*/ 34 h 34"/>
                <a:gd name="T8" fmla="*/ 112 w 112"/>
                <a:gd name="T9" fmla="*/ 16 h 34"/>
                <a:gd name="T10" fmla="*/ 104 w 112"/>
                <a:gd name="T11" fmla="*/ 2 h 34"/>
                <a:gd name="T12" fmla="*/ 103 w 112"/>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112" h="34">
                  <a:moveTo>
                    <a:pt x="103" y="0"/>
                  </a:moveTo>
                  <a:cubicBezTo>
                    <a:pt x="79" y="2"/>
                    <a:pt x="55" y="5"/>
                    <a:pt x="32" y="9"/>
                  </a:cubicBezTo>
                  <a:cubicBezTo>
                    <a:pt x="22" y="16"/>
                    <a:pt x="12" y="24"/>
                    <a:pt x="2" y="32"/>
                  </a:cubicBezTo>
                  <a:cubicBezTo>
                    <a:pt x="2" y="33"/>
                    <a:pt x="1" y="34"/>
                    <a:pt x="0" y="34"/>
                  </a:cubicBezTo>
                  <a:cubicBezTo>
                    <a:pt x="37" y="25"/>
                    <a:pt x="75" y="19"/>
                    <a:pt x="112" y="16"/>
                  </a:cubicBezTo>
                  <a:cubicBezTo>
                    <a:pt x="110" y="12"/>
                    <a:pt x="107" y="7"/>
                    <a:pt x="104" y="2"/>
                  </a:cubicBezTo>
                  <a:cubicBezTo>
                    <a:pt x="104" y="1"/>
                    <a:pt x="103" y="1"/>
                    <a:pt x="10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2" name="Freeform 25">
              <a:extLst>
                <a:ext uri="{FF2B5EF4-FFF2-40B4-BE49-F238E27FC236}">
                  <a16:creationId xmlns:a16="http://schemas.microsoft.com/office/drawing/2014/main" id="{16E37441-EDAD-4CEA-BF16-AF6EDBD946A1}"/>
                </a:ext>
              </a:extLst>
            </p:cNvPr>
            <p:cNvSpPr>
              <a:spLocks/>
            </p:cNvSpPr>
            <p:nvPr/>
          </p:nvSpPr>
          <p:spPr bwMode="auto">
            <a:xfrm>
              <a:off x="867540" y="3635023"/>
              <a:ext cx="97346" cy="62309"/>
            </a:xfrm>
            <a:custGeom>
              <a:avLst/>
              <a:gdLst>
                <a:gd name="T0" fmla="*/ 7 w 90"/>
                <a:gd name="T1" fmla="*/ 63 h 63"/>
                <a:gd name="T2" fmla="*/ 61 w 90"/>
                <a:gd name="T3" fmla="*/ 30 h 63"/>
                <a:gd name="T4" fmla="*/ 90 w 90"/>
                <a:gd name="T5" fmla="*/ 0 h 63"/>
                <a:gd name="T6" fmla="*/ 0 w 90"/>
                <a:gd name="T7" fmla="*/ 46 h 63"/>
                <a:gd name="T8" fmla="*/ 7 w 90"/>
                <a:gd name="T9" fmla="*/ 63 h 63"/>
              </a:gdLst>
              <a:ahLst/>
              <a:cxnLst>
                <a:cxn ang="0">
                  <a:pos x="T0" y="T1"/>
                </a:cxn>
                <a:cxn ang="0">
                  <a:pos x="T2" y="T3"/>
                </a:cxn>
                <a:cxn ang="0">
                  <a:pos x="T4" y="T5"/>
                </a:cxn>
                <a:cxn ang="0">
                  <a:pos x="T6" y="T7"/>
                </a:cxn>
                <a:cxn ang="0">
                  <a:pos x="T8" y="T9"/>
                </a:cxn>
              </a:cxnLst>
              <a:rect l="0" t="0" r="r" b="b"/>
              <a:pathLst>
                <a:path w="90" h="63">
                  <a:moveTo>
                    <a:pt x="7" y="63"/>
                  </a:moveTo>
                  <a:cubicBezTo>
                    <a:pt x="21" y="51"/>
                    <a:pt x="40" y="40"/>
                    <a:pt x="61" y="30"/>
                  </a:cubicBezTo>
                  <a:cubicBezTo>
                    <a:pt x="70" y="20"/>
                    <a:pt x="80" y="9"/>
                    <a:pt x="90" y="0"/>
                  </a:cubicBezTo>
                  <a:cubicBezTo>
                    <a:pt x="54" y="13"/>
                    <a:pt x="23" y="29"/>
                    <a:pt x="0" y="46"/>
                  </a:cubicBezTo>
                  <a:cubicBezTo>
                    <a:pt x="2" y="52"/>
                    <a:pt x="4" y="57"/>
                    <a:pt x="7" y="6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3" name="Freeform 26">
              <a:extLst>
                <a:ext uri="{FF2B5EF4-FFF2-40B4-BE49-F238E27FC236}">
                  <a16:creationId xmlns:a16="http://schemas.microsoft.com/office/drawing/2014/main" id="{AA58A995-C2E3-41FC-9D52-FDF0B58F1B3E}"/>
                </a:ext>
              </a:extLst>
            </p:cNvPr>
            <p:cNvSpPr>
              <a:spLocks/>
            </p:cNvSpPr>
            <p:nvPr/>
          </p:nvSpPr>
          <p:spPr bwMode="auto">
            <a:xfrm>
              <a:off x="893437" y="3767929"/>
              <a:ext cx="87673" cy="87175"/>
            </a:xfrm>
            <a:custGeom>
              <a:avLst/>
              <a:gdLst>
                <a:gd name="T0" fmla="*/ 81 w 81"/>
                <a:gd name="T1" fmla="*/ 88 h 88"/>
                <a:gd name="T2" fmla="*/ 10 w 81"/>
                <a:gd name="T3" fmla="*/ 0 h 88"/>
                <a:gd name="T4" fmla="*/ 1 w 81"/>
                <a:gd name="T5" fmla="*/ 14 h 88"/>
                <a:gd name="T6" fmla="*/ 0 w 81"/>
                <a:gd name="T7" fmla="*/ 16 h 88"/>
                <a:gd name="T8" fmla="*/ 44 w 81"/>
                <a:gd name="T9" fmla="*/ 73 h 88"/>
                <a:gd name="T10" fmla="*/ 52 w 81"/>
                <a:gd name="T11" fmla="*/ 76 h 88"/>
                <a:gd name="T12" fmla="*/ 81 w 81"/>
                <a:gd name="T13" fmla="*/ 88 h 88"/>
              </a:gdLst>
              <a:ahLst/>
              <a:cxnLst>
                <a:cxn ang="0">
                  <a:pos x="T0" y="T1"/>
                </a:cxn>
                <a:cxn ang="0">
                  <a:pos x="T2" y="T3"/>
                </a:cxn>
                <a:cxn ang="0">
                  <a:pos x="T4" y="T5"/>
                </a:cxn>
                <a:cxn ang="0">
                  <a:pos x="T6" y="T7"/>
                </a:cxn>
                <a:cxn ang="0">
                  <a:pos x="T8" y="T9"/>
                </a:cxn>
                <a:cxn ang="0">
                  <a:pos x="T10" y="T11"/>
                </a:cxn>
                <a:cxn ang="0">
                  <a:pos x="T12" y="T13"/>
                </a:cxn>
              </a:cxnLst>
              <a:rect l="0" t="0" r="r" b="b"/>
              <a:pathLst>
                <a:path w="81" h="88">
                  <a:moveTo>
                    <a:pt x="81" y="88"/>
                  </a:moveTo>
                  <a:cubicBezTo>
                    <a:pt x="55" y="61"/>
                    <a:pt x="31" y="31"/>
                    <a:pt x="10" y="0"/>
                  </a:cubicBezTo>
                  <a:cubicBezTo>
                    <a:pt x="7" y="5"/>
                    <a:pt x="4" y="9"/>
                    <a:pt x="1" y="14"/>
                  </a:cubicBezTo>
                  <a:cubicBezTo>
                    <a:pt x="1" y="15"/>
                    <a:pt x="1" y="16"/>
                    <a:pt x="0" y="16"/>
                  </a:cubicBezTo>
                  <a:cubicBezTo>
                    <a:pt x="14" y="36"/>
                    <a:pt x="28" y="55"/>
                    <a:pt x="44" y="73"/>
                  </a:cubicBezTo>
                  <a:cubicBezTo>
                    <a:pt x="46" y="74"/>
                    <a:pt x="49" y="75"/>
                    <a:pt x="52" y="76"/>
                  </a:cubicBezTo>
                  <a:cubicBezTo>
                    <a:pt x="61" y="80"/>
                    <a:pt x="71" y="84"/>
                    <a:pt x="81"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4" name="Freeform 27">
              <a:extLst>
                <a:ext uri="{FF2B5EF4-FFF2-40B4-BE49-F238E27FC236}">
                  <a16:creationId xmlns:a16="http://schemas.microsoft.com/office/drawing/2014/main" id="{6CD5385E-404C-4D77-887A-503B2846411E}"/>
                </a:ext>
              </a:extLst>
            </p:cNvPr>
            <p:cNvSpPr>
              <a:spLocks/>
            </p:cNvSpPr>
            <p:nvPr/>
          </p:nvSpPr>
          <p:spPr bwMode="auto">
            <a:xfrm>
              <a:off x="857868" y="3554707"/>
              <a:ext cx="260836" cy="243804"/>
            </a:xfrm>
            <a:custGeom>
              <a:avLst/>
              <a:gdLst>
                <a:gd name="T0" fmla="*/ 10 w 241"/>
                <a:gd name="T1" fmla="*/ 215 h 246"/>
                <a:gd name="T2" fmla="*/ 0 w 241"/>
                <a:gd name="T3" fmla="*/ 233 h 246"/>
                <a:gd name="T4" fmla="*/ 11 w 241"/>
                <a:gd name="T5" fmla="*/ 246 h 246"/>
                <a:gd name="T6" fmla="*/ 12 w 241"/>
                <a:gd name="T7" fmla="*/ 246 h 246"/>
                <a:gd name="T8" fmla="*/ 24 w 241"/>
                <a:gd name="T9" fmla="*/ 223 h 246"/>
                <a:gd name="T10" fmla="*/ 153 w 241"/>
                <a:gd name="T11" fmla="*/ 70 h 246"/>
                <a:gd name="T12" fmla="*/ 241 w 241"/>
                <a:gd name="T13" fmla="*/ 14 h 246"/>
                <a:gd name="T14" fmla="*/ 230 w 241"/>
                <a:gd name="T15" fmla="*/ 0 h 246"/>
                <a:gd name="T16" fmla="*/ 10 w 241"/>
                <a:gd name="T17" fmla="*/ 215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1" h="246">
                  <a:moveTo>
                    <a:pt x="10" y="215"/>
                  </a:moveTo>
                  <a:cubicBezTo>
                    <a:pt x="6" y="221"/>
                    <a:pt x="3" y="227"/>
                    <a:pt x="0" y="233"/>
                  </a:cubicBezTo>
                  <a:cubicBezTo>
                    <a:pt x="3" y="237"/>
                    <a:pt x="7" y="241"/>
                    <a:pt x="11" y="246"/>
                  </a:cubicBezTo>
                  <a:cubicBezTo>
                    <a:pt x="12" y="246"/>
                    <a:pt x="12" y="246"/>
                    <a:pt x="12" y="246"/>
                  </a:cubicBezTo>
                  <a:cubicBezTo>
                    <a:pt x="16" y="239"/>
                    <a:pt x="20" y="231"/>
                    <a:pt x="24" y="223"/>
                  </a:cubicBezTo>
                  <a:cubicBezTo>
                    <a:pt x="57" y="167"/>
                    <a:pt x="104" y="111"/>
                    <a:pt x="153" y="70"/>
                  </a:cubicBezTo>
                  <a:cubicBezTo>
                    <a:pt x="184" y="44"/>
                    <a:pt x="214" y="25"/>
                    <a:pt x="241" y="14"/>
                  </a:cubicBezTo>
                  <a:cubicBezTo>
                    <a:pt x="237" y="9"/>
                    <a:pt x="234" y="4"/>
                    <a:pt x="230" y="0"/>
                  </a:cubicBezTo>
                  <a:cubicBezTo>
                    <a:pt x="154" y="32"/>
                    <a:pt x="64" y="120"/>
                    <a:pt x="10"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5" name="Freeform 28">
              <a:extLst>
                <a:ext uri="{FF2B5EF4-FFF2-40B4-BE49-F238E27FC236}">
                  <a16:creationId xmlns:a16="http://schemas.microsoft.com/office/drawing/2014/main" id="{F26071EC-6355-44DF-BC35-A7243CBE93C5}"/>
                </a:ext>
              </a:extLst>
            </p:cNvPr>
            <p:cNvSpPr>
              <a:spLocks/>
            </p:cNvSpPr>
            <p:nvPr/>
          </p:nvSpPr>
          <p:spPr bwMode="auto">
            <a:xfrm>
              <a:off x="1257235" y="3639882"/>
              <a:ext cx="216219" cy="271815"/>
            </a:xfrm>
            <a:custGeom>
              <a:avLst/>
              <a:gdLst>
                <a:gd name="T0" fmla="*/ 119 w 200"/>
                <a:gd name="T1" fmla="*/ 0 h 274"/>
                <a:gd name="T2" fmla="*/ 112 w 200"/>
                <a:gd name="T3" fmla="*/ 16 h 274"/>
                <a:gd name="T4" fmla="*/ 118 w 200"/>
                <a:gd name="T5" fmla="*/ 20 h 274"/>
                <a:gd name="T6" fmla="*/ 183 w 200"/>
                <a:gd name="T7" fmla="*/ 118 h 274"/>
                <a:gd name="T8" fmla="*/ 118 w 200"/>
                <a:gd name="T9" fmla="*/ 217 h 274"/>
                <a:gd name="T10" fmla="*/ 40 w 200"/>
                <a:gd name="T11" fmla="*/ 249 h 274"/>
                <a:gd name="T12" fmla="*/ 4 w 200"/>
                <a:gd name="T13" fmla="*/ 256 h 274"/>
                <a:gd name="T14" fmla="*/ 0 w 200"/>
                <a:gd name="T15" fmla="*/ 274 h 274"/>
                <a:gd name="T16" fmla="*/ 200 w 200"/>
                <a:gd name="T17" fmla="*/ 118 h 274"/>
                <a:gd name="T18" fmla="*/ 119 w 200"/>
                <a:gd name="T19" fmla="*/ 0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0" h="274">
                  <a:moveTo>
                    <a:pt x="119" y="0"/>
                  </a:moveTo>
                  <a:cubicBezTo>
                    <a:pt x="118" y="6"/>
                    <a:pt x="115" y="11"/>
                    <a:pt x="112" y="16"/>
                  </a:cubicBezTo>
                  <a:cubicBezTo>
                    <a:pt x="114" y="17"/>
                    <a:pt x="116" y="18"/>
                    <a:pt x="118" y="20"/>
                  </a:cubicBezTo>
                  <a:cubicBezTo>
                    <a:pt x="160" y="46"/>
                    <a:pt x="183" y="81"/>
                    <a:pt x="183" y="118"/>
                  </a:cubicBezTo>
                  <a:cubicBezTo>
                    <a:pt x="183" y="156"/>
                    <a:pt x="160" y="191"/>
                    <a:pt x="118" y="217"/>
                  </a:cubicBezTo>
                  <a:cubicBezTo>
                    <a:pt x="96" y="231"/>
                    <a:pt x="70" y="242"/>
                    <a:pt x="40" y="249"/>
                  </a:cubicBezTo>
                  <a:cubicBezTo>
                    <a:pt x="28" y="252"/>
                    <a:pt x="17" y="255"/>
                    <a:pt x="4" y="256"/>
                  </a:cubicBezTo>
                  <a:cubicBezTo>
                    <a:pt x="3" y="263"/>
                    <a:pt x="2" y="269"/>
                    <a:pt x="0" y="274"/>
                  </a:cubicBezTo>
                  <a:cubicBezTo>
                    <a:pt x="122" y="258"/>
                    <a:pt x="200" y="194"/>
                    <a:pt x="200" y="118"/>
                  </a:cubicBezTo>
                  <a:cubicBezTo>
                    <a:pt x="200" y="71"/>
                    <a:pt x="170" y="29"/>
                    <a:pt x="1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6" name="Freeform 29">
              <a:extLst>
                <a:ext uri="{FF2B5EF4-FFF2-40B4-BE49-F238E27FC236}">
                  <a16:creationId xmlns:a16="http://schemas.microsoft.com/office/drawing/2014/main" id="{BDE302DB-B4A5-4A45-84EE-618A221055FE}"/>
                </a:ext>
              </a:extLst>
            </p:cNvPr>
            <p:cNvSpPr>
              <a:spLocks/>
            </p:cNvSpPr>
            <p:nvPr/>
          </p:nvSpPr>
          <p:spPr bwMode="auto">
            <a:xfrm>
              <a:off x="1188905" y="3598152"/>
              <a:ext cx="126674" cy="30869"/>
            </a:xfrm>
            <a:custGeom>
              <a:avLst/>
              <a:gdLst>
                <a:gd name="T0" fmla="*/ 111 w 117"/>
                <a:gd name="T1" fmla="*/ 31 h 31"/>
                <a:gd name="T2" fmla="*/ 117 w 117"/>
                <a:gd name="T3" fmla="*/ 15 h 31"/>
                <a:gd name="T4" fmla="*/ 0 w 117"/>
                <a:gd name="T5" fmla="*/ 0 h 31"/>
                <a:gd name="T6" fmla="*/ 9 w 117"/>
                <a:gd name="T7" fmla="*/ 17 h 31"/>
                <a:gd name="T8" fmla="*/ 103 w 117"/>
                <a:gd name="T9" fmla="*/ 29 h 31"/>
                <a:gd name="T10" fmla="*/ 111 w 117"/>
                <a:gd name="T11" fmla="*/ 31 h 31"/>
              </a:gdLst>
              <a:ahLst/>
              <a:cxnLst>
                <a:cxn ang="0">
                  <a:pos x="T0" y="T1"/>
                </a:cxn>
                <a:cxn ang="0">
                  <a:pos x="T2" y="T3"/>
                </a:cxn>
                <a:cxn ang="0">
                  <a:pos x="T4" y="T5"/>
                </a:cxn>
                <a:cxn ang="0">
                  <a:pos x="T6" y="T7"/>
                </a:cxn>
                <a:cxn ang="0">
                  <a:pos x="T8" y="T9"/>
                </a:cxn>
                <a:cxn ang="0">
                  <a:pos x="T10" y="T11"/>
                </a:cxn>
              </a:cxnLst>
              <a:rect l="0" t="0" r="r" b="b"/>
              <a:pathLst>
                <a:path w="117" h="31">
                  <a:moveTo>
                    <a:pt x="111" y="31"/>
                  </a:moveTo>
                  <a:cubicBezTo>
                    <a:pt x="112" y="25"/>
                    <a:pt x="114" y="20"/>
                    <a:pt x="117" y="15"/>
                  </a:cubicBezTo>
                  <a:cubicBezTo>
                    <a:pt x="83" y="6"/>
                    <a:pt x="44" y="0"/>
                    <a:pt x="0" y="0"/>
                  </a:cubicBezTo>
                  <a:cubicBezTo>
                    <a:pt x="3" y="6"/>
                    <a:pt x="6" y="11"/>
                    <a:pt x="9" y="17"/>
                  </a:cubicBezTo>
                  <a:cubicBezTo>
                    <a:pt x="42" y="18"/>
                    <a:pt x="74" y="22"/>
                    <a:pt x="103" y="29"/>
                  </a:cubicBezTo>
                  <a:cubicBezTo>
                    <a:pt x="106" y="30"/>
                    <a:pt x="108" y="31"/>
                    <a:pt x="111"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7" name="Freeform 30">
              <a:extLst>
                <a:ext uri="{FF2B5EF4-FFF2-40B4-BE49-F238E27FC236}">
                  <a16:creationId xmlns:a16="http://schemas.microsoft.com/office/drawing/2014/main" id="{7D49261E-0C85-45F4-A768-12E707A46EA4}"/>
                </a:ext>
              </a:extLst>
            </p:cNvPr>
            <p:cNvSpPr>
              <a:spLocks/>
            </p:cNvSpPr>
            <p:nvPr/>
          </p:nvSpPr>
          <p:spPr bwMode="auto">
            <a:xfrm>
              <a:off x="973622" y="3430661"/>
              <a:ext cx="314813" cy="542486"/>
            </a:xfrm>
            <a:custGeom>
              <a:avLst/>
              <a:gdLst>
                <a:gd name="T0" fmla="*/ 3 w 291"/>
                <a:gd name="T1" fmla="*/ 0 h 547"/>
                <a:gd name="T2" fmla="*/ 3 w 291"/>
                <a:gd name="T3" fmla="*/ 4 h 547"/>
                <a:gd name="T4" fmla="*/ 0 w 291"/>
                <a:gd name="T5" fmla="*/ 17 h 547"/>
                <a:gd name="T6" fmla="*/ 66 w 291"/>
                <a:gd name="T7" fmla="*/ 51 h 547"/>
                <a:gd name="T8" fmla="*/ 127 w 291"/>
                <a:gd name="T9" fmla="*/ 111 h 547"/>
                <a:gd name="T10" fmla="*/ 127 w 291"/>
                <a:gd name="T11" fmla="*/ 111 h 547"/>
                <a:gd name="T12" fmla="*/ 131 w 291"/>
                <a:gd name="T13" fmla="*/ 116 h 547"/>
                <a:gd name="T14" fmla="*/ 143 w 291"/>
                <a:gd name="T15" fmla="*/ 133 h 547"/>
                <a:gd name="T16" fmla="*/ 151 w 291"/>
                <a:gd name="T17" fmla="*/ 144 h 547"/>
                <a:gd name="T18" fmla="*/ 151 w 291"/>
                <a:gd name="T19" fmla="*/ 144 h 547"/>
                <a:gd name="T20" fmla="*/ 165 w 291"/>
                <a:gd name="T21" fmla="*/ 167 h 547"/>
                <a:gd name="T22" fmla="*/ 238 w 291"/>
                <a:gd name="T23" fmla="*/ 385 h 547"/>
                <a:gd name="T24" fmla="*/ 235 w 291"/>
                <a:gd name="T25" fmla="*/ 475 h 547"/>
                <a:gd name="T26" fmla="*/ 205 w 291"/>
                <a:gd name="T27" fmla="*/ 523 h 547"/>
                <a:gd name="T28" fmla="*/ 178 w 291"/>
                <a:gd name="T29" fmla="*/ 530 h 547"/>
                <a:gd name="T30" fmla="*/ 176 w 291"/>
                <a:gd name="T31" fmla="*/ 529 h 547"/>
                <a:gd name="T32" fmla="*/ 164 w 291"/>
                <a:gd name="T33" fmla="*/ 546 h 547"/>
                <a:gd name="T34" fmla="*/ 178 w 291"/>
                <a:gd name="T35" fmla="*/ 547 h 547"/>
                <a:gd name="T36" fmla="*/ 214 w 291"/>
                <a:gd name="T37" fmla="*/ 538 h 547"/>
                <a:gd name="T38" fmla="*/ 180 w 291"/>
                <a:gd name="T39" fmla="*/ 159 h 547"/>
                <a:gd name="T40" fmla="*/ 3 w 291"/>
                <a:gd name="T41" fmla="*/ 0 h 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91" h="547">
                  <a:moveTo>
                    <a:pt x="3" y="0"/>
                  </a:moveTo>
                  <a:cubicBezTo>
                    <a:pt x="3" y="2"/>
                    <a:pt x="3" y="3"/>
                    <a:pt x="3" y="4"/>
                  </a:cubicBezTo>
                  <a:cubicBezTo>
                    <a:pt x="3" y="9"/>
                    <a:pt x="2" y="13"/>
                    <a:pt x="0" y="17"/>
                  </a:cubicBezTo>
                  <a:cubicBezTo>
                    <a:pt x="22" y="23"/>
                    <a:pt x="44" y="35"/>
                    <a:pt x="66" y="51"/>
                  </a:cubicBezTo>
                  <a:cubicBezTo>
                    <a:pt x="87" y="67"/>
                    <a:pt x="108" y="87"/>
                    <a:pt x="127" y="111"/>
                  </a:cubicBezTo>
                  <a:cubicBezTo>
                    <a:pt x="127" y="111"/>
                    <a:pt x="127" y="111"/>
                    <a:pt x="127" y="111"/>
                  </a:cubicBezTo>
                  <a:cubicBezTo>
                    <a:pt x="131" y="116"/>
                    <a:pt x="131" y="116"/>
                    <a:pt x="131" y="116"/>
                  </a:cubicBezTo>
                  <a:cubicBezTo>
                    <a:pt x="135" y="121"/>
                    <a:pt x="139" y="127"/>
                    <a:pt x="143" y="133"/>
                  </a:cubicBezTo>
                  <a:cubicBezTo>
                    <a:pt x="151" y="144"/>
                    <a:pt x="151" y="144"/>
                    <a:pt x="151" y="144"/>
                  </a:cubicBezTo>
                  <a:cubicBezTo>
                    <a:pt x="151" y="144"/>
                    <a:pt x="151" y="144"/>
                    <a:pt x="151" y="144"/>
                  </a:cubicBezTo>
                  <a:cubicBezTo>
                    <a:pt x="156" y="152"/>
                    <a:pt x="161" y="159"/>
                    <a:pt x="165" y="167"/>
                  </a:cubicBezTo>
                  <a:cubicBezTo>
                    <a:pt x="203" y="233"/>
                    <a:pt x="230" y="314"/>
                    <a:pt x="238" y="385"/>
                  </a:cubicBezTo>
                  <a:cubicBezTo>
                    <a:pt x="242" y="420"/>
                    <a:pt x="241" y="451"/>
                    <a:pt x="235" y="475"/>
                  </a:cubicBezTo>
                  <a:cubicBezTo>
                    <a:pt x="230" y="499"/>
                    <a:pt x="219" y="515"/>
                    <a:pt x="205" y="523"/>
                  </a:cubicBezTo>
                  <a:cubicBezTo>
                    <a:pt x="198" y="527"/>
                    <a:pt x="188" y="530"/>
                    <a:pt x="178" y="530"/>
                  </a:cubicBezTo>
                  <a:cubicBezTo>
                    <a:pt x="177" y="530"/>
                    <a:pt x="176" y="529"/>
                    <a:pt x="176" y="529"/>
                  </a:cubicBezTo>
                  <a:cubicBezTo>
                    <a:pt x="172" y="535"/>
                    <a:pt x="168" y="541"/>
                    <a:pt x="164" y="546"/>
                  </a:cubicBezTo>
                  <a:cubicBezTo>
                    <a:pt x="169" y="546"/>
                    <a:pt x="173" y="547"/>
                    <a:pt x="178" y="547"/>
                  </a:cubicBezTo>
                  <a:cubicBezTo>
                    <a:pt x="191" y="547"/>
                    <a:pt x="203" y="544"/>
                    <a:pt x="214" y="538"/>
                  </a:cubicBezTo>
                  <a:cubicBezTo>
                    <a:pt x="291" y="493"/>
                    <a:pt x="259" y="296"/>
                    <a:pt x="180" y="159"/>
                  </a:cubicBezTo>
                  <a:cubicBezTo>
                    <a:pt x="129" y="70"/>
                    <a:pt x="64" y="16"/>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8" name="Freeform 31">
              <a:extLst>
                <a:ext uri="{FF2B5EF4-FFF2-40B4-BE49-F238E27FC236}">
                  <a16:creationId xmlns:a16="http://schemas.microsoft.com/office/drawing/2014/main" id="{F29B8F39-60EC-4B3B-BFDD-5A6B11DEF606}"/>
                </a:ext>
              </a:extLst>
            </p:cNvPr>
            <p:cNvSpPr>
              <a:spLocks/>
            </p:cNvSpPr>
            <p:nvPr/>
          </p:nvSpPr>
          <p:spPr bwMode="auto">
            <a:xfrm>
              <a:off x="782051" y="3431519"/>
              <a:ext cx="120122" cy="314402"/>
            </a:xfrm>
            <a:custGeom>
              <a:avLst/>
              <a:gdLst>
                <a:gd name="T0" fmla="*/ 90 w 111"/>
                <a:gd name="T1" fmla="*/ 301 h 317"/>
                <a:gd name="T2" fmla="*/ 53 w 111"/>
                <a:gd name="T3" fmla="*/ 213 h 317"/>
                <a:gd name="T4" fmla="*/ 42 w 111"/>
                <a:gd name="T5" fmla="*/ 130 h 317"/>
                <a:gd name="T6" fmla="*/ 95 w 111"/>
                <a:gd name="T7" fmla="*/ 24 h 317"/>
                <a:gd name="T8" fmla="*/ 111 w 111"/>
                <a:gd name="T9" fmla="*/ 17 h 317"/>
                <a:gd name="T10" fmla="*/ 108 w 111"/>
                <a:gd name="T11" fmla="*/ 3 h 317"/>
                <a:gd name="T12" fmla="*/ 109 w 111"/>
                <a:gd name="T13" fmla="*/ 0 h 317"/>
                <a:gd name="T14" fmla="*/ 87 w 111"/>
                <a:gd name="T15" fmla="*/ 9 h 317"/>
                <a:gd name="T16" fmla="*/ 79 w 111"/>
                <a:gd name="T17" fmla="*/ 317 h 317"/>
                <a:gd name="T18" fmla="*/ 90 w 111"/>
                <a:gd name="T19" fmla="*/ 301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 h="317">
                  <a:moveTo>
                    <a:pt x="90" y="301"/>
                  </a:moveTo>
                  <a:cubicBezTo>
                    <a:pt x="73" y="271"/>
                    <a:pt x="61" y="242"/>
                    <a:pt x="53" y="213"/>
                  </a:cubicBezTo>
                  <a:cubicBezTo>
                    <a:pt x="45" y="184"/>
                    <a:pt x="41" y="155"/>
                    <a:pt x="42" y="130"/>
                  </a:cubicBezTo>
                  <a:cubicBezTo>
                    <a:pt x="44" y="81"/>
                    <a:pt x="63" y="43"/>
                    <a:pt x="95" y="24"/>
                  </a:cubicBezTo>
                  <a:cubicBezTo>
                    <a:pt x="100" y="21"/>
                    <a:pt x="106" y="19"/>
                    <a:pt x="111" y="17"/>
                  </a:cubicBezTo>
                  <a:cubicBezTo>
                    <a:pt x="109" y="13"/>
                    <a:pt x="108" y="8"/>
                    <a:pt x="108" y="3"/>
                  </a:cubicBezTo>
                  <a:cubicBezTo>
                    <a:pt x="108" y="2"/>
                    <a:pt x="108" y="1"/>
                    <a:pt x="109" y="0"/>
                  </a:cubicBezTo>
                  <a:cubicBezTo>
                    <a:pt x="101" y="2"/>
                    <a:pt x="94" y="5"/>
                    <a:pt x="87" y="9"/>
                  </a:cubicBezTo>
                  <a:cubicBezTo>
                    <a:pt x="10" y="54"/>
                    <a:pt x="0" y="180"/>
                    <a:pt x="79" y="317"/>
                  </a:cubicBezTo>
                  <a:cubicBezTo>
                    <a:pt x="82" y="312"/>
                    <a:pt x="86" y="306"/>
                    <a:pt x="90" y="3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9" name="Freeform 32">
              <a:extLst>
                <a:ext uri="{FF2B5EF4-FFF2-40B4-BE49-F238E27FC236}">
                  <a16:creationId xmlns:a16="http://schemas.microsoft.com/office/drawing/2014/main" id="{C08D9665-2B25-40E4-996B-EFE8A77E432E}"/>
                </a:ext>
              </a:extLst>
            </p:cNvPr>
            <p:cNvSpPr>
              <a:spLocks/>
            </p:cNvSpPr>
            <p:nvPr/>
          </p:nvSpPr>
          <p:spPr bwMode="auto">
            <a:xfrm>
              <a:off x="818868" y="3824235"/>
              <a:ext cx="33385" cy="55735"/>
            </a:xfrm>
            <a:custGeom>
              <a:avLst/>
              <a:gdLst>
                <a:gd name="T0" fmla="*/ 0 w 31"/>
                <a:gd name="T1" fmla="*/ 53 h 56"/>
                <a:gd name="T2" fmla="*/ 2 w 31"/>
                <a:gd name="T3" fmla="*/ 53 h 56"/>
                <a:gd name="T4" fmla="*/ 17 w 31"/>
                <a:gd name="T5" fmla="*/ 56 h 56"/>
                <a:gd name="T6" fmla="*/ 19 w 31"/>
                <a:gd name="T7" fmla="*/ 47 h 56"/>
                <a:gd name="T8" fmla="*/ 31 w 31"/>
                <a:gd name="T9" fmla="*/ 13 h 56"/>
                <a:gd name="T10" fmla="*/ 17 w 31"/>
                <a:gd name="T11" fmla="*/ 0 h 56"/>
                <a:gd name="T12" fmla="*/ 0 w 31"/>
                <a:gd name="T13" fmla="*/ 53 h 56"/>
              </a:gdLst>
              <a:ahLst/>
              <a:cxnLst>
                <a:cxn ang="0">
                  <a:pos x="T0" y="T1"/>
                </a:cxn>
                <a:cxn ang="0">
                  <a:pos x="T2" y="T3"/>
                </a:cxn>
                <a:cxn ang="0">
                  <a:pos x="T4" y="T5"/>
                </a:cxn>
                <a:cxn ang="0">
                  <a:pos x="T6" y="T7"/>
                </a:cxn>
                <a:cxn ang="0">
                  <a:pos x="T8" y="T9"/>
                </a:cxn>
                <a:cxn ang="0">
                  <a:pos x="T10" y="T11"/>
                </a:cxn>
                <a:cxn ang="0">
                  <a:pos x="T12" y="T13"/>
                </a:cxn>
              </a:cxnLst>
              <a:rect l="0" t="0" r="r" b="b"/>
              <a:pathLst>
                <a:path w="31" h="56">
                  <a:moveTo>
                    <a:pt x="0" y="53"/>
                  </a:moveTo>
                  <a:cubicBezTo>
                    <a:pt x="0" y="53"/>
                    <a:pt x="1" y="53"/>
                    <a:pt x="2" y="53"/>
                  </a:cubicBezTo>
                  <a:cubicBezTo>
                    <a:pt x="7" y="53"/>
                    <a:pt x="12" y="54"/>
                    <a:pt x="17" y="56"/>
                  </a:cubicBezTo>
                  <a:cubicBezTo>
                    <a:pt x="17" y="53"/>
                    <a:pt x="18" y="50"/>
                    <a:pt x="19" y="47"/>
                  </a:cubicBezTo>
                  <a:cubicBezTo>
                    <a:pt x="22" y="36"/>
                    <a:pt x="26" y="24"/>
                    <a:pt x="31" y="13"/>
                  </a:cubicBezTo>
                  <a:cubicBezTo>
                    <a:pt x="26" y="9"/>
                    <a:pt x="21" y="5"/>
                    <a:pt x="17" y="0"/>
                  </a:cubicBezTo>
                  <a:cubicBezTo>
                    <a:pt x="10" y="18"/>
                    <a:pt x="4" y="36"/>
                    <a:pt x="0"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20" name="Freeform 33">
              <a:extLst>
                <a:ext uri="{FF2B5EF4-FFF2-40B4-BE49-F238E27FC236}">
                  <a16:creationId xmlns:a16="http://schemas.microsoft.com/office/drawing/2014/main" id="{A8E6DB3E-6F5E-4E4D-9D70-78E25AFBF640}"/>
                </a:ext>
              </a:extLst>
            </p:cNvPr>
            <p:cNvSpPr>
              <a:spLocks/>
            </p:cNvSpPr>
            <p:nvPr/>
          </p:nvSpPr>
          <p:spPr bwMode="auto">
            <a:xfrm>
              <a:off x="807948" y="3926559"/>
              <a:ext cx="360366" cy="161488"/>
            </a:xfrm>
            <a:custGeom>
              <a:avLst/>
              <a:gdLst>
                <a:gd name="T0" fmla="*/ 313 w 333"/>
                <a:gd name="T1" fmla="*/ 0 h 163"/>
                <a:gd name="T2" fmla="*/ 219 w 333"/>
                <a:gd name="T3" fmla="*/ 107 h 163"/>
                <a:gd name="T4" fmla="*/ 120 w 333"/>
                <a:gd name="T5" fmla="*/ 146 h 163"/>
                <a:gd name="T6" fmla="*/ 71 w 333"/>
                <a:gd name="T7" fmla="*/ 133 h 163"/>
                <a:gd name="T8" fmla="*/ 18 w 333"/>
                <a:gd name="T9" fmla="*/ 28 h 163"/>
                <a:gd name="T10" fmla="*/ 18 w 333"/>
                <a:gd name="T11" fmla="*/ 21 h 163"/>
                <a:gd name="T12" fmla="*/ 12 w 333"/>
                <a:gd name="T13" fmla="*/ 21 h 163"/>
                <a:gd name="T14" fmla="*/ 0 w 333"/>
                <a:gd name="T15" fmla="*/ 19 h 163"/>
                <a:gd name="T16" fmla="*/ 63 w 333"/>
                <a:gd name="T17" fmla="*/ 148 h 163"/>
                <a:gd name="T18" fmla="*/ 120 w 333"/>
                <a:gd name="T19" fmla="*/ 163 h 163"/>
                <a:gd name="T20" fmla="*/ 333 w 333"/>
                <a:gd name="T21" fmla="*/ 1 h 163"/>
                <a:gd name="T22" fmla="*/ 313 w 333"/>
                <a:gd name="T23"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33" h="163">
                  <a:moveTo>
                    <a:pt x="313" y="0"/>
                  </a:moveTo>
                  <a:cubicBezTo>
                    <a:pt x="286" y="45"/>
                    <a:pt x="254" y="82"/>
                    <a:pt x="219" y="107"/>
                  </a:cubicBezTo>
                  <a:cubicBezTo>
                    <a:pt x="186" y="133"/>
                    <a:pt x="151" y="146"/>
                    <a:pt x="120" y="146"/>
                  </a:cubicBezTo>
                  <a:cubicBezTo>
                    <a:pt x="102" y="146"/>
                    <a:pt x="86" y="142"/>
                    <a:pt x="71" y="133"/>
                  </a:cubicBezTo>
                  <a:cubicBezTo>
                    <a:pt x="39" y="114"/>
                    <a:pt x="20" y="77"/>
                    <a:pt x="18" y="28"/>
                  </a:cubicBezTo>
                  <a:cubicBezTo>
                    <a:pt x="18" y="26"/>
                    <a:pt x="18" y="23"/>
                    <a:pt x="18" y="21"/>
                  </a:cubicBezTo>
                  <a:cubicBezTo>
                    <a:pt x="16" y="21"/>
                    <a:pt x="14" y="21"/>
                    <a:pt x="12" y="21"/>
                  </a:cubicBezTo>
                  <a:cubicBezTo>
                    <a:pt x="8" y="21"/>
                    <a:pt x="4" y="21"/>
                    <a:pt x="0" y="19"/>
                  </a:cubicBezTo>
                  <a:cubicBezTo>
                    <a:pt x="0" y="78"/>
                    <a:pt x="22" y="125"/>
                    <a:pt x="63" y="148"/>
                  </a:cubicBezTo>
                  <a:cubicBezTo>
                    <a:pt x="80" y="158"/>
                    <a:pt x="99" y="163"/>
                    <a:pt x="120" y="163"/>
                  </a:cubicBezTo>
                  <a:cubicBezTo>
                    <a:pt x="189" y="163"/>
                    <a:pt x="271" y="106"/>
                    <a:pt x="333" y="1"/>
                  </a:cubicBezTo>
                  <a:cubicBezTo>
                    <a:pt x="326" y="1"/>
                    <a:pt x="320" y="0"/>
                    <a:pt x="31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21" name="Freeform 34">
              <a:extLst>
                <a:ext uri="{FF2B5EF4-FFF2-40B4-BE49-F238E27FC236}">
                  <a16:creationId xmlns:a16="http://schemas.microsoft.com/office/drawing/2014/main" id="{4669BCF3-C0EE-4BFC-8CDC-2C9F07E51BEF}"/>
                </a:ext>
              </a:extLst>
            </p:cNvPr>
            <p:cNvSpPr>
              <a:spLocks noEditPoints="1"/>
            </p:cNvSpPr>
            <p:nvPr/>
          </p:nvSpPr>
          <p:spPr bwMode="auto">
            <a:xfrm>
              <a:off x="911845" y="3410940"/>
              <a:ext cx="53041" cy="48589"/>
            </a:xfrm>
            <a:custGeom>
              <a:avLst/>
              <a:gdLst>
                <a:gd name="T0" fmla="*/ 24 w 49"/>
                <a:gd name="T1" fmla="*/ 49 h 49"/>
                <a:gd name="T2" fmla="*/ 49 w 49"/>
                <a:gd name="T3" fmla="*/ 24 h 49"/>
                <a:gd name="T4" fmla="*/ 24 w 49"/>
                <a:gd name="T5" fmla="*/ 0 h 49"/>
                <a:gd name="T6" fmla="*/ 0 w 49"/>
                <a:gd name="T7" fmla="*/ 24 h 49"/>
                <a:gd name="T8" fmla="*/ 24 w 49"/>
                <a:gd name="T9" fmla="*/ 49 h 49"/>
                <a:gd name="T10" fmla="*/ 30 w 49"/>
                <a:gd name="T11" fmla="*/ 8 h 49"/>
                <a:gd name="T12" fmla="*/ 37 w 49"/>
                <a:gd name="T13" fmla="*/ 8 h 49"/>
                <a:gd name="T14" fmla="*/ 40 w 49"/>
                <a:gd name="T15" fmla="*/ 15 h 49"/>
                <a:gd name="T16" fmla="*/ 32 w 49"/>
                <a:gd name="T17" fmla="*/ 15 h 49"/>
                <a:gd name="T18" fmla="*/ 30 w 49"/>
                <a:gd name="T19"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 h="49">
                  <a:moveTo>
                    <a:pt x="24" y="49"/>
                  </a:moveTo>
                  <a:cubicBezTo>
                    <a:pt x="38" y="49"/>
                    <a:pt x="49" y="38"/>
                    <a:pt x="49" y="24"/>
                  </a:cubicBezTo>
                  <a:cubicBezTo>
                    <a:pt x="49" y="11"/>
                    <a:pt x="38" y="0"/>
                    <a:pt x="24" y="0"/>
                  </a:cubicBezTo>
                  <a:cubicBezTo>
                    <a:pt x="11" y="0"/>
                    <a:pt x="0" y="11"/>
                    <a:pt x="0" y="24"/>
                  </a:cubicBezTo>
                  <a:cubicBezTo>
                    <a:pt x="0" y="38"/>
                    <a:pt x="11" y="49"/>
                    <a:pt x="24" y="49"/>
                  </a:cubicBezTo>
                  <a:close/>
                  <a:moveTo>
                    <a:pt x="30" y="8"/>
                  </a:moveTo>
                  <a:cubicBezTo>
                    <a:pt x="31" y="6"/>
                    <a:pt x="35" y="6"/>
                    <a:pt x="37" y="8"/>
                  </a:cubicBezTo>
                  <a:cubicBezTo>
                    <a:pt x="40" y="10"/>
                    <a:pt x="41" y="14"/>
                    <a:pt x="40" y="15"/>
                  </a:cubicBezTo>
                  <a:cubicBezTo>
                    <a:pt x="39" y="17"/>
                    <a:pt x="35" y="17"/>
                    <a:pt x="32" y="15"/>
                  </a:cubicBezTo>
                  <a:cubicBezTo>
                    <a:pt x="30" y="12"/>
                    <a:pt x="29" y="9"/>
                    <a:pt x="3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22" name="Freeform 35">
              <a:extLst>
                <a:ext uri="{FF2B5EF4-FFF2-40B4-BE49-F238E27FC236}">
                  <a16:creationId xmlns:a16="http://schemas.microsoft.com/office/drawing/2014/main" id="{2E77B505-5B2E-4B92-AE7B-5986CABD7604}"/>
                </a:ext>
              </a:extLst>
            </p:cNvPr>
            <p:cNvSpPr>
              <a:spLocks noEditPoints="1"/>
            </p:cNvSpPr>
            <p:nvPr/>
          </p:nvSpPr>
          <p:spPr bwMode="auto">
            <a:xfrm>
              <a:off x="794843" y="3887687"/>
              <a:ext cx="52105" cy="48589"/>
            </a:xfrm>
            <a:custGeom>
              <a:avLst/>
              <a:gdLst>
                <a:gd name="T0" fmla="*/ 48 w 48"/>
                <a:gd name="T1" fmla="*/ 24 h 49"/>
                <a:gd name="T2" fmla="*/ 24 w 48"/>
                <a:gd name="T3" fmla="*/ 0 h 49"/>
                <a:gd name="T4" fmla="*/ 0 w 48"/>
                <a:gd name="T5" fmla="*/ 24 h 49"/>
                <a:gd name="T6" fmla="*/ 24 w 48"/>
                <a:gd name="T7" fmla="*/ 49 h 49"/>
                <a:gd name="T8" fmla="*/ 48 w 48"/>
                <a:gd name="T9" fmla="*/ 24 h 49"/>
                <a:gd name="T10" fmla="*/ 13 w 48"/>
                <a:gd name="T11" fmla="*/ 33 h 49"/>
                <a:gd name="T12" fmla="*/ 6 w 48"/>
                <a:gd name="T13" fmla="*/ 29 h 49"/>
                <a:gd name="T14" fmla="*/ 7 w 48"/>
                <a:gd name="T15" fmla="*/ 21 h 49"/>
                <a:gd name="T16" fmla="*/ 14 w 48"/>
                <a:gd name="T17" fmla="*/ 25 h 49"/>
                <a:gd name="T18" fmla="*/ 13 w 48"/>
                <a:gd name="T19" fmla="*/ 3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9">
                  <a:moveTo>
                    <a:pt x="48" y="24"/>
                  </a:moveTo>
                  <a:cubicBezTo>
                    <a:pt x="48" y="11"/>
                    <a:pt x="37" y="0"/>
                    <a:pt x="24" y="0"/>
                  </a:cubicBezTo>
                  <a:cubicBezTo>
                    <a:pt x="10" y="0"/>
                    <a:pt x="0" y="11"/>
                    <a:pt x="0" y="24"/>
                  </a:cubicBezTo>
                  <a:cubicBezTo>
                    <a:pt x="0" y="38"/>
                    <a:pt x="10" y="49"/>
                    <a:pt x="24" y="49"/>
                  </a:cubicBezTo>
                  <a:cubicBezTo>
                    <a:pt x="37" y="49"/>
                    <a:pt x="48" y="38"/>
                    <a:pt x="48" y="24"/>
                  </a:cubicBezTo>
                  <a:close/>
                  <a:moveTo>
                    <a:pt x="13" y="33"/>
                  </a:moveTo>
                  <a:cubicBezTo>
                    <a:pt x="11" y="34"/>
                    <a:pt x="8" y="32"/>
                    <a:pt x="6" y="29"/>
                  </a:cubicBezTo>
                  <a:cubicBezTo>
                    <a:pt x="5" y="26"/>
                    <a:pt x="5" y="22"/>
                    <a:pt x="7" y="21"/>
                  </a:cubicBezTo>
                  <a:cubicBezTo>
                    <a:pt x="9" y="20"/>
                    <a:pt x="12" y="22"/>
                    <a:pt x="14" y="25"/>
                  </a:cubicBezTo>
                  <a:cubicBezTo>
                    <a:pt x="15" y="28"/>
                    <a:pt x="15" y="32"/>
                    <a:pt x="13"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23" name="Freeform 36">
              <a:extLst>
                <a:ext uri="{FF2B5EF4-FFF2-40B4-BE49-F238E27FC236}">
                  <a16:creationId xmlns:a16="http://schemas.microsoft.com/office/drawing/2014/main" id="{C4CF8382-08A4-40ED-A8FF-593E3504A1E5}"/>
                </a:ext>
              </a:extLst>
            </p:cNvPr>
            <p:cNvSpPr>
              <a:spLocks noEditPoints="1"/>
            </p:cNvSpPr>
            <p:nvPr/>
          </p:nvSpPr>
          <p:spPr bwMode="auto">
            <a:xfrm>
              <a:off x="1320884" y="3610156"/>
              <a:ext cx="53041" cy="48589"/>
            </a:xfrm>
            <a:custGeom>
              <a:avLst/>
              <a:gdLst>
                <a:gd name="T0" fmla="*/ 24 w 49"/>
                <a:gd name="T1" fmla="*/ 49 h 49"/>
                <a:gd name="T2" fmla="*/ 49 w 49"/>
                <a:gd name="T3" fmla="*/ 24 h 49"/>
                <a:gd name="T4" fmla="*/ 24 w 49"/>
                <a:gd name="T5" fmla="*/ 0 h 49"/>
                <a:gd name="T6" fmla="*/ 0 w 49"/>
                <a:gd name="T7" fmla="*/ 24 h 49"/>
                <a:gd name="T8" fmla="*/ 24 w 49"/>
                <a:gd name="T9" fmla="*/ 49 h 49"/>
                <a:gd name="T10" fmla="*/ 38 w 49"/>
                <a:gd name="T11" fmla="*/ 13 h 49"/>
                <a:gd name="T12" fmla="*/ 45 w 49"/>
                <a:gd name="T13" fmla="*/ 17 h 49"/>
                <a:gd name="T14" fmla="*/ 44 w 49"/>
                <a:gd name="T15" fmla="*/ 24 h 49"/>
                <a:gd name="T16" fmla="*/ 38 w 49"/>
                <a:gd name="T17" fmla="*/ 20 h 49"/>
                <a:gd name="T18" fmla="*/ 38 w 49"/>
                <a:gd name="T19" fmla="*/ 1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 h="49">
                  <a:moveTo>
                    <a:pt x="24" y="49"/>
                  </a:moveTo>
                  <a:cubicBezTo>
                    <a:pt x="38" y="49"/>
                    <a:pt x="49" y="38"/>
                    <a:pt x="49" y="24"/>
                  </a:cubicBezTo>
                  <a:cubicBezTo>
                    <a:pt x="49" y="11"/>
                    <a:pt x="38" y="0"/>
                    <a:pt x="24" y="0"/>
                  </a:cubicBezTo>
                  <a:cubicBezTo>
                    <a:pt x="11" y="0"/>
                    <a:pt x="0" y="11"/>
                    <a:pt x="0" y="24"/>
                  </a:cubicBezTo>
                  <a:cubicBezTo>
                    <a:pt x="0" y="38"/>
                    <a:pt x="11" y="49"/>
                    <a:pt x="24" y="49"/>
                  </a:cubicBezTo>
                  <a:close/>
                  <a:moveTo>
                    <a:pt x="38" y="13"/>
                  </a:moveTo>
                  <a:cubicBezTo>
                    <a:pt x="40" y="12"/>
                    <a:pt x="43" y="14"/>
                    <a:pt x="45" y="17"/>
                  </a:cubicBezTo>
                  <a:cubicBezTo>
                    <a:pt x="46" y="20"/>
                    <a:pt x="46" y="23"/>
                    <a:pt x="44" y="24"/>
                  </a:cubicBezTo>
                  <a:cubicBezTo>
                    <a:pt x="42" y="25"/>
                    <a:pt x="39" y="23"/>
                    <a:pt x="38" y="20"/>
                  </a:cubicBezTo>
                  <a:cubicBezTo>
                    <a:pt x="36" y="17"/>
                    <a:pt x="36" y="14"/>
                    <a:pt x="38"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grpSp>
      <p:sp>
        <p:nvSpPr>
          <p:cNvPr id="124" name="Rectangle 123">
            <a:extLst>
              <a:ext uri="{FF2B5EF4-FFF2-40B4-BE49-F238E27FC236}">
                <a16:creationId xmlns:a16="http://schemas.microsoft.com/office/drawing/2014/main" id="{1C543E44-CDDB-4DB5-8999-1E1ADD1FF0F9}"/>
              </a:ext>
            </a:extLst>
          </p:cNvPr>
          <p:cNvSpPr/>
          <p:nvPr/>
        </p:nvSpPr>
        <p:spPr>
          <a:xfrm>
            <a:off x="5189231" y="3915514"/>
            <a:ext cx="1917797" cy="430887"/>
          </a:xfrm>
          <a:prstGeom prst="rect">
            <a:avLst/>
          </a:prstGeom>
          <a:noFill/>
        </p:spPr>
        <p:txBody>
          <a:bodyPr wrap="square" lIns="0" tIns="0" rIns="0" bIns="0" rtlCol="0">
            <a:spAutoFit/>
          </a:bodyPr>
          <a:lstStyle/>
          <a:p>
            <a:pPr defTabSz="885893">
              <a:spcBef>
                <a:spcPts val="600"/>
              </a:spcBef>
              <a:buSzPct val="100000"/>
            </a:pPr>
            <a:r>
              <a:rPr lang="en-US" sz="1400" b="1" kern="0" dirty="0">
                <a:solidFill>
                  <a:prstClr val="black"/>
                </a:solidFill>
                <a:latin typeface="Calibri"/>
              </a:rPr>
              <a:t>Transition towards a centralized power market</a:t>
            </a:r>
            <a:endParaRPr lang="en-IN" sz="1400" b="1" kern="0" dirty="0">
              <a:solidFill>
                <a:prstClr val="black"/>
              </a:solidFill>
              <a:latin typeface="Calibri"/>
            </a:endParaRPr>
          </a:p>
        </p:txBody>
      </p:sp>
      <p:sp>
        <p:nvSpPr>
          <p:cNvPr id="125" name="TextBox 124">
            <a:extLst>
              <a:ext uri="{FF2B5EF4-FFF2-40B4-BE49-F238E27FC236}">
                <a16:creationId xmlns:a16="http://schemas.microsoft.com/office/drawing/2014/main" id="{2B8F2FBB-AC7C-42B2-A7C4-581C1D5F8162}"/>
              </a:ext>
            </a:extLst>
          </p:cNvPr>
          <p:cNvSpPr txBox="1"/>
          <p:nvPr/>
        </p:nvSpPr>
        <p:spPr>
          <a:xfrm>
            <a:off x="5830066" y="4413374"/>
            <a:ext cx="1261816" cy="677108"/>
          </a:xfrm>
          <a:prstGeom prst="rect">
            <a:avLst/>
          </a:prstGeom>
          <a:noFill/>
        </p:spPr>
        <p:txBody>
          <a:bodyPr wrap="square" lIns="0" tIns="0" rIns="0" bIns="0" rtlCol="0">
            <a:spAutoFit/>
          </a:bodyPr>
          <a:lstStyle/>
          <a:p>
            <a:pPr marL="171450" indent="-171450" defTabSz="885893">
              <a:buSzPct val="100000"/>
              <a:buFont typeface="Arial" panose="020B0604020202020204" pitchFamily="34" charset="0"/>
              <a:buChar char="•"/>
              <a:defRPr/>
            </a:pPr>
            <a:r>
              <a:rPr lang="en-US" sz="1100" kern="0" dirty="0">
                <a:solidFill>
                  <a:srgbClr val="0D8390"/>
                </a:solidFill>
                <a:latin typeface="Calibri"/>
              </a:rPr>
              <a:t>Market Based Economic Dispatch</a:t>
            </a:r>
          </a:p>
          <a:p>
            <a:pPr marL="171450" indent="-171450" defTabSz="885893">
              <a:buSzPct val="100000"/>
              <a:buFont typeface="Arial" panose="020B0604020202020204" pitchFamily="34" charset="0"/>
              <a:buChar char="•"/>
              <a:defRPr/>
            </a:pPr>
            <a:r>
              <a:rPr lang="en-US" sz="1100" kern="0" dirty="0">
                <a:solidFill>
                  <a:srgbClr val="0D8390"/>
                </a:solidFill>
                <a:latin typeface="Calibri"/>
              </a:rPr>
              <a:t>Real Time Market</a:t>
            </a:r>
          </a:p>
          <a:p>
            <a:pPr marL="171450" indent="-171450" defTabSz="885893">
              <a:buSzPct val="100000"/>
              <a:buFont typeface="Arial" panose="020B0604020202020204" pitchFamily="34" charset="0"/>
              <a:buChar char="•"/>
              <a:defRPr/>
            </a:pPr>
            <a:r>
              <a:rPr lang="en-US" sz="1100" kern="0" dirty="0">
                <a:solidFill>
                  <a:srgbClr val="0D8390"/>
                </a:solidFill>
                <a:latin typeface="Calibri"/>
              </a:rPr>
              <a:t>Ancillary Market</a:t>
            </a:r>
            <a:endParaRPr lang="en-IN" sz="1100" kern="0" dirty="0">
              <a:solidFill>
                <a:srgbClr val="0D8390"/>
              </a:solidFill>
              <a:latin typeface="Calibri"/>
            </a:endParaRPr>
          </a:p>
        </p:txBody>
      </p:sp>
      <p:sp>
        <p:nvSpPr>
          <p:cNvPr id="126" name="TextBox 125">
            <a:extLst>
              <a:ext uri="{FF2B5EF4-FFF2-40B4-BE49-F238E27FC236}">
                <a16:creationId xmlns:a16="http://schemas.microsoft.com/office/drawing/2014/main" id="{A0938EEB-6918-4608-85BB-12118A8710A4}"/>
              </a:ext>
            </a:extLst>
          </p:cNvPr>
          <p:cNvSpPr txBox="1"/>
          <p:nvPr/>
        </p:nvSpPr>
        <p:spPr>
          <a:xfrm>
            <a:off x="5200419" y="5194653"/>
            <a:ext cx="1926404" cy="323165"/>
          </a:xfrm>
          <a:prstGeom prst="rect">
            <a:avLst/>
          </a:prstGeom>
          <a:noFill/>
        </p:spPr>
        <p:txBody>
          <a:bodyPr wrap="square" lIns="0" tIns="0" rIns="0" bIns="0" rtlCol="0">
            <a:spAutoFit/>
          </a:bodyPr>
          <a:lstStyle/>
          <a:p>
            <a:pPr defTabSz="885893">
              <a:spcBef>
                <a:spcPts val="600"/>
              </a:spcBef>
              <a:buSzPct val="100000"/>
              <a:defRPr/>
            </a:pPr>
            <a:r>
              <a:rPr lang="en-US" sz="1050" b="1" kern="0" dirty="0">
                <a:solidFill>
                  <a:prstClr val="black"/>
                </a:solidFill>
                <a:latin typeface="Calibri"/>
              </a:rPr>
              <a:t>Market based approach to bring efficiency in the power market</a:t>
            </a:r>
            <a:endParaRPr lang="en-IN" sz="1050" b="1" kern="0" dirty="0">
              <a:solidFill>
                <a:prstClr val="black"/>
              </a:solidFill>
              <a:latin typeface="Calibri"/>
            </a:endParaRPr>
          </a:p>
        </p:txBody>
      </p:sp>
      <p:sp>
        <p:nvSpPr>
          <p:cNvPr id="127" name="Freeform 28">
            <a:extLst>
              <a:ext uri="{FF2B5EF4-FFF2-40B4-BE49-F238E27FC236}">
                <a16:creationId xmlns:a16="http://schemas.microsoft.com/office/drawing/2014/main" id="{60F02D7F-9A36-448D-9B46-30DC61031EC5}"/>
              </a:ext>
            </a:extLst>
          </p:cNvPr>
          <p:cNvSpPr>
            <a:spLocks noEditPoints="1"/>
          </p:cNvSpPr>
          <p:nvPr/>
        </p:nvSpPr>
        <p:spPr bwMode="auto">
          <a:xfrm>
            <a:off x="996603" y="2168488"/>
            <a:ext cx="494910" cy="568456"/>
          </a:xfrm>
          <a:custGeom>
            <a:avLst/>
            <a:gdLst>
              <a:gd name="T0" fmla="*/ 355 w 387"/>
              <a:gd name="T1" fmla="*/ 152 h 573"/>
              <a:gd name="T2" fmla="*/ 382 w 387"/>
              <a:gd name="T3" fmla="*/ 138 h 573"/>
              <a:gd name="T4" fmla="*/ 255 w 387"/>
              <a:gd name="T5" fmla="*/ 82 h 573"/>
              <a:gd name="T6" fmla="*/ 189 w 387"/>
              <a:gd name="T7" fmla="*/ 3 h 573"/>
              <a:gd name="T8" fmla="*/ 132 w 387"/>
              <a:gd name="T9" fmla="*/ 82 h 573"/>
              <a:gd name="T10" fmla="*/ 0 w 387"/>
              <a:gd name="T11" fmla="*/ 147 h 573"/>
              <a:gd name="T12" fmla="*/ 27 w 387"/>
              <a:gd name="T13" fmla="*/ 163 h 573"/>
              <a:gd name="T14" fmla="*/ 51 w 387"/>
              <a:gd name="T15" fmla="*/ 152 h 573"/>
              <a:gd name="T16" fmla="*/ 5 w 387"/>
              <a:gd name="T17" fmla="*/ 264 h 573"/>
              <a:gd name="T18" fmla="*/ 27 w 387"/>
              <a:gd name="T19" fmla="*/ 280 h 573"/>
              <a:gd name="T20" fmla="*/ 51 w 387"/>
              <a:gd name="T21" fmla="*/ 287 h 573"/>
              <a:gd name="T22" fmla="*/ 131 w 387"/>
              <a:gd name="T23" fmla="*/ 305 h 573"/>
              <a:gd name="T24" fmla="*/ 89 w 387"/>
              <a:gd name="T25" fmla="*/ 573 h 573"/>
              <a:gd name="T26" fmla="*/ 96 w 387"/>
              <a:gd name="T27" fmla="*/ 571 h 573"/>
              <a:gd name="T28" fmla="*/ 294 w 387"/>
              <a:gd name="T29" fmla="*/ 573 h 573"/>
              <a:gd name="T30" fmla="*/ 297 w 387"/>
              <a:gd name="T31" fmla="*/ 573 h 573"/>
              <a:gd name="T32" fmla="*/ 255 w 387"/>
              <a:gd name="T33" fmla="*/ 305 h 573"/>
              <a:gd name="T34" fmla="*/ 335 w 387"/>
              <a:gd name="T35" fmla="*/ 287 h 573"/>
              <a:gd name="T36" fmla="*/ 355 w 387"/>
              <a:gd name="T37" fmla="*/ 280 h 573"/>
              <a:gd name="T38" fmla="*/ 381 w 387"/>
              <a:gd name="T39" fmla="*/ 264 h 573"/>
              <a:gd name="T40" fmla="*/ 335 w 387"/>
              <a:gd name="T41" fmla="*/ 152 h 573"/>
              <a:gd name="T42" fmla="*/ 240 w 387"/>
              <a:gd name="T43" fmla="*/ 307 h 573"/>
              <a:gd name="T44" fmla="*/ 239 w 387"/>
              <a:gd name="T45" fmla="*/ 259 h 573"/>
              <a:gd name="T46" fmla="*/ 240 w 387"/>
              <a:gd name="T47" fmla="*/ 307 h 573"/>
              <a:gd name="T48" fmla="*/ 145 w 387"/>
              <a:gd name="T49" fmla="*/ 337 h 573"/>
              <a:gd name="T50" fmla="*/ 218 w 387"/>
              <a:gd name="T51" fmla="*/ 136 h 573"/>
              <a:gd name="T52" fmla="*/ 218 w 387"/>
              <a:gd name="T53" fmla="*/ 136 h 573"/>
              <a:gd name="T54" fmla="*/ 193 w 387"/>
              <a:gd name="T55" fmla="*/ 108 h 573"/>
              <a:gd name="T56" fmla="*/ 193 w 387"/>
              <a:gd name="T57" fmla="*/ 185 h 573"/>
              <a:gd name="T58" fmla="*/ 239 w 387"/>
              <a:gd name="T59" fmla="*/ 162 h 573"/>
              <a:gd name="T60" fmla="*/ 239 w 387"/>
              <a:gd name="T61" fmla="*/ 162 h 573"/>
              <a:gd name="T62" fmla="*/ 239 w 387"/>
              <a:gd name="T63" fmla="*/ 136 h 573"/>
              <a:gd name="T64" fmla="*/ 233 w 387"/>
              <a:gd name="T65" fmla="*/ 76 h 573"/>
              <a:gd name="T66" fmla="*/ 147 w 387"/>
              <a:gd name="T67" fmla="*/ 99 h 573"/>
              <a:gd name="T68" fmla="*/ 147 w 387"/>
              <a:gd name="T69" fmla="*/ 99 h 573"/>
              <a:gd name="T70" fmla="*/ 147 w 387"/>
              <a:gd name="T71" fmla="*/ 227 h 573"/>
              <a:gd name="T72" fmla="*/ 240 w 387"/>
              <a:gd name="T73" fmla="*/ 243 h 573"/>
              <a:gd name="T74" fmla="*/ 193 w 387"/>
              <a:gd name="T75" fmla="*/ 203 h 573"/>
              <a:gd name="T76" fmla="*/ 147 w 387"/>
              <a:gd name="T77" fmla="*/ 306 h 573"/>
              <a:gd name="T78" fmla="*/ 144 w 387"/>
              <a:gd name="T79" fmla="*/ 321 h 573"/>
              <a:gd name="T80" fmla="*/ 131 w 387"/>
              <a:gd name="T81" fmla="*/ 100 h 573"/>
              <a:gd name="T82" fmla="*/ 45 w 387"/>
              <a:gd name="T83" fmla="*/ 264 h 573"/>
              <a:gd name="T84" fmla="*/ 45 w 387"/>
              <a:gd name="T85" fmla="*/ 264 h 573"/>
              <a:gd name="T86" fmla="*/ 140 w 387"/>
              <a:gd name="T87" fmla="*/ 349 h 573"/>
              <a:gd name="T88" fmla="*/ 130 w 387"/>
              <a:gd name="T89" fmla="*/ 414 h 573"/>
              <a:gd name="T90" fmla="*/ 183 w 387"/>
              <a:gd name="T91" fmla="*/ 485 h 573"/>
              <a:gd name="T92" fmla="*/ 193 w 387"/>
              <a:gd name="T93" fmla="*/ 389 h 573"/>
              <a:gd name="T94" fmla="*/ 137 w 387"/>
              <a:gd name="T95" fmla="*/ 432 h 573"/>
              <a:gd name="T96" fmla="*/ 261 w 387"/>
              <a:gd name="T97" fmla="*/ 439 h 573"/>
              <a:gd name="T98" fmla="*/ 256 w 387"/>
              <a:gd name="T99" fmla="*/ 416 h 573"/>
              <a:gd name="T100" fmla="*/ 247 w 387"/>
              <a:gd name="T101" fmla="*/ 349 h 573"/>
              <a:gd name="T102" fmla="*/ 255 w 387"/>
              <a:gd name="T103" fmla="*/ 264 h 573"/>
              <a:gd name="T104" fmla="*/ 255 w 387"/>
              <a:gd name="T105" fmla="*/ 136 h 573"/>
              <a:gd name="T106" fmla="*/ 255 w 387"/>
              <a:gd name="T107" fmla="*/ 136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87" h="573">
                <a:moveTo>
                  <a:pt x="345" y="173"/>
                </a:moveTo>
                <a:cubicBezTo>
                  <a:pt x="351" y="173"/>
                  <a:pt x="355" y="169"/>
                  <a:pt x="355" y="163"/>
                </a:cubicBezTo>
                <a:cubicBezTo>
                  <a:pt x="355" y="152"/>
                  <a:pt x="355" y="152"/>
                  <a:pt x="355" y="152"/>
                </a:cubicBezTo>
                <a:cubicBezTo>
                  <a:pt x="379" y="152"/>
                  <a:pt x="379" y="152"/>
                  <a:pt x="379" y="152"/>
                </a:cubicBezTo>
                <a:cubicBezTo>
                  <a:pt x="382" y="152"/>
                  <a:pt x="386" y="150"/>
                  <a:pt x="386" y="147"/>
                </a:cubicBezTo>
                <a:cubicBezTo>
                  <a:pt x="387" y="143"/>
                  <a:pt x="385" y="140"/>
                  <a:pt x="382" y="138"/>
                </a:cubicBezTo>
                <a:cubicBezTo>
                  <a:pt x="255" y="82"/>
                  <a:pt x="255" y="82"/>
                  <a:pt x="255" y="82"/>
                </a:cubicBezTo>
                <a:cubicBezTo>
                  <a:pt x="255" y="82"/>
                  <a:pt x="255" y="82"/>
                  <a:pt x="255" y="82"/>
                </a:cubicBezTo>
                <a:cubicBezTo>
                  <a:pt x="255" y="82"/>
                  <a:pt x="255" y="82"/>
                  <a:pt x="255" y="82"/>
                </a:cubicBezTo>
                <a:cubicBezTo>
                  <a:pt x="201" y="3"/>
                  <a:pt x="201" y="3"/>
                  <a:pt x="201" y="3"/>
                </a:cubicBezTo>
                <a:cubicBezTo>
                  <a:pt x="200" y="1"/>
                  <a:pt x="198" y="0"/>
                  <a:pt x="195" y="0"/>
                </a:cubicBezTo>
                <a:cubicBezTo>
                  <a:pt x="192" y="0"/>
                  <a:pt x="190" y="1"/>
                  <a:pt x="189" y="3"/>
                </a:cubicBezTo>
                <a:cubicBezTo>
                  <a:pt x="132" y="81"/>
                  <a:pt x="132" y="81"/>
                  <a:pt x="132" y="81"/>
                </a:cubicBezTo>
                <a:cubicBezTo>
                  <a:pt x="132" y="82"/>
                  <a:pt x="132" y="82"/>
                  <a:pt x="132" y="82"/>
                </a:cubicBezTo>
                <a:cubicBezTo>
                  <a:pt x="132" y="82"/>
                  <a:pt x="132" y="82"/>
                  <a:pt x="132" y="82"/>
                </a:cubicBezTo>
                <a:cubicBezTo>
                  <a:pt x="132" y="82"/>
                  <a:pt x="132" y="82"/>
                  <a:pt x="132" y="82"/>
                </a:cubicBezTo>
                <a:cubicBezTo>
                  <a:pt x="5" y="139"/>
                  <a:pt x="5" y="139"/>
                  <a:pt x="5" y="139"/>
                </a:cubicBezTo>
                <a:cubicBezTo>
                  <a:pt x="1" y="140"/>
                  <a:pt x="0" y="143"/>
                  <a:pt x="0" y="147"/>
                </a:cubicBezTo>
                <a:cubicBezTo>
                  <a:pt x="1" y="150"/>
                  <a:pt x="4" y="152"/>
                  <a:pt x="8" y="152"/>
                </a:cubicBezTo>
                <a:cubicBezTo>
                  <a:pt x="27" y="152"/>
                  <a:pt x="27" y="152"/>
                  <a:pt x="27" y="152"/>
                </a:cubicBezTo>
                <a:cubicBezTo>
                  <a:pt x="27" y="163"/>
                  <a:pt x="27" y="163"/>
                  <a:pt x="27" y="163"/>
                </a:cubicBezTo>
                <a:cubicBezTo>
                  <a:pt x="27" y="169"/>
                  <a:pt x="33" y="173"/>
                  <a:pt x="39" y="173"/>
                </a:cubicBezTo>
                <a:cubicBezTo>
                  <a:pt x="45" y="173"/>
                  <a:pt x="51" y="169"/>
                  <a:pt x="51" y="163"/>
                </a:cubicBezTo>
                <a:cubicBezTo>
                  <a:pt x="51" y="152"/>
                  <a:pt x="51" y="152"/>
                  <a:pt x="51" y="152"/>
                </a:cubicBezTo>
                <a:cubicBezTo>
                  <a:pt x="131" y="152"/>
                  <a:pt x="131" y="152"/>
                  <a:pt x="131" y="152"/>
                </a:cubicBezTo>
                <a:cubicBezTo>
                  <a:pt x="131" y="208"/>
                  <a:pt x="131" y="208"/>
                  <a:pt x="131" y="208"/>
                </a:cubicBezTo>
                <a:cubicBezTo>
                  <a:pt x="5" y="264"/>
                  <a:pt x="5" y="264"/>
                  <a:pt x="5" y="264"/>
                </a:cubicBezTo>
                <a:cubicBezTo>
                  <a:pt x="2" y="266"/>
                  <a:pt x="0" y="270"/>
                  <a:pt x="0" y="273"/>
                </a:cubicBezTo>
                <a:cubicBezTo>
                  <a:pt x="1" y="277"/>
                  <a:pt x="4" y="280"/>
                  <a:pt x="8" y="280"/>
                </a:cubicBezTo>
                <a:cubicBezTo>
                  <a:pt x="27" y="280"/>
                  <a:pt x="27" y="280"/>
                  <a:pt x="27" y="280"/>
                </a:cubicBezTo>
                <a:cubicBezTo>
                  <a:pt x="27" y="287"/>
                  <a:pt x="27" y="287"/>
                  <a:pt x="27" y="287"/>
                </a:cubicBezTo>
                <a:cubicBezTo>
                  <a:pt x="27" y="293"/>
                  <a:pt x="33" y="297"/>
                  <a:pt x="39" y="297"/>
                </a:cubicBezTo>
                <a:cubicBezTo>
                  <a:pt x="45" y="297"/>
                  <a:pt x="51" y="293"/>
                  <a:pt x="51" y="287"/>
                </a:cubicBezTo>
                <a:cubicBezTo>
                  <a:pt x="51" y="280"/>
                  <a:pt x="51" y="280"/>
                  <a:pt x="51" y="280"/>
                </a:cubicBezTo>
                <a:cubicBezTo>
                  <a:pt x="131" y="280"/>
                  <a:pt x="131" y="280"/>
                  <a:pt x="131" y="280"/>
                </a:cubicBezTo>
                <a:cubicBezTo>
                  <a:pt x="131" y="305"/>
                  <a:pt x="131" y="305"/>
                  <a:pt x="131" y="305"/>
                </a:cubicBezTo>
                <a:cubicBezTo>
                  <a:pt x="115" y="411"/>
                  <a:pt x="115" y="411"/>
                  <a:pt x="115" y="411"/>
                </a:cubicBezTo>
                <a:cubicBezTo>
                  <a:pt x="83" y="564"/>
                  <a:pt x="83" y="564"/>
                  <a:pt x="83" y="564"/>
                </a:cubicBezTo>
                <a:cubicBezTo>
                  <a:pt x="83" y="568"/>
                  <a:pt x="85" y="572"/>
                  <a:pt x="89" y="573"/>
                </a:cubicBezTo>
                <a:cubicBezTo>
                  <a:pt x="90" y="573"/>
                  <a:pt x="90" y="573"/>
                  <a:pt x="91" y="573"/>
                </a:cubicBezTo>
                <a:cubicBezTo>
                  <a:pt x="93" y="573"/>
                  <a:pt x="95" y="572"/>
                  <a:pt x="96" y="571"/>
                </a:cubicBezTo>
                <a:cubicBezTo>
                  <a:pt x="96" y="571"/>
                  <a:pt x="96" y="571"/>
                  <a:pt x="96" y="571"/>
                </a:cubicBezTo>
                <a:cubicBezTo>
                  <a:pt x="193" y="493"/>
                  <a:pt x="193" y="493"/>
                  <a:pt x="193" y="493"/>
                </a:cubicBezTo>
                <a:cubicBezTo>
                  <a:pt x="290" y="572"/>
                  <a:pt x="290" y="572"/>
                  <a:pt x="290" y="572"/>
                </a:cubicBezTo>
                <a:cubicBezTo>
                  <a:pt x="291" y="573"/>
                  <a:pt x="292" y="573"/>
                  <a:pt x="294" y="573"/>
                </a:cubicBezTo>
                <a:cubicBezTo>
                  <a:pt x="294" y="573"/>
                  <a:pt x="294" y="573"/>
                  <a:pt x="294" y="573"/>
                </a:cubicBezTo>
                <a:cubicBezTo>
                  <a:pt x="295" y="573"/>
                  <a:pt x="295" y="573"/>
                  <a:pt x="295" y="573"/>
                </a:cubicBezTo>
                <a:cubicBezTo>
                  <a:pt x="296" y="573"/>
                  <a:pt x="296" y="573"/>
                  <a:pt x="297" y="573"/>
                </a:cubicBezTo>
                <a:cubicBezTo>
                  <a:pt x="301" y="572"/>
                  <a:pt x="304" y="568"/>
                  <a:pt x="303" y="564"/>
                </a:cubicBezTo>
                <a:cubicBezTo>
                  <a:pt x="271" y="413"/>
                  <a:pt x="271" y="413"/>
                  <a:pt x="271" y="413"/>
                </a:cubicBezTo>
                <a:cubicBezTo>
                  <a:pt x="255" y="305"/>
                  <a:pt x="255" y="305"/>
                  <a:pt x="255" y="305"/>
                </a:cubicBezTo>
                <a:cubicBezTo>
                  <a:pt x="255" y="280"/>
                  <a:pt x="255" y="280"/>
                  <a:pt x="255" y="280"/>
                </a:cubicBezTo>
                <a:cubicBezTo>
                  <a:pt x="335" y="280"/>
                  <a:pt x="335" y="280"/>
                  <a:pt x="335" y="280"/>
                </a:cubicBezTo>
                <a:cubicBezTo>
                  <a:pt x="335" y="287"/>
                  <a:pt x="335" y="287"/>
                  <a:pt x="335" y="287"/>
                </a:cubicBezTo>
                <a:cubicBezTo>
                  <a:pt x="335" y="293"/>
                  <a:pt x="339" y="297"/>
                  <a:pt x="345" y="297"/>
                </a:cubicBezTo>
                <a:cubicBezTo>
                  <a:pt x="351" y="297"/>
                  <a:pt x="355" y="293"/>
                  <a:pt x="355" y="287"/>
                </a:cubicBezTo>
                <a:cubicBezTo>
                  <a:pt x="355" y="280"/>
                  <a:pt x="355" y="280"/>
                  <a:pt x="355" y="280"/>
                </a:cubicBezTo>
                <a:cubicBezTo>
                  <a:pt x="379" y="280"/>
                  <a:pt x="379" y="280"/>
                  <a:pt x="379" y="280"/>
                </a:cubicBezTo>
                <a:cubicBezTo>
                  <a:pt x="382" y="280"/>
                  <a:pt x="385" y="277"/>
                  <a:pt x="386" y="273"/>
                </a:cubicBezTo>
                <a:cubicBezTo>
                  <a:pt x="387" y="270"/>
                  <a:pt x="385" y="266"/>
                  <a:pt x="381" y="264"/>
                </a:cubicBezTo>
                <a:cubicBezTo>
                  <a:pt x="255" y="208"/>
                  <a:pt x="255" y="208"/>
                  <a:pt x="255" y="208"/>
                </a:cubicBezTo>
                <a:cubicBezTo>
                  <a:pt x="255" y="152"/>
                  <a:pt x="255" y="152"/>
                  <a:pt x="255" y="152"/>
                </a:cubicBezTo>
                <a:cubicBezTo>
                  <a:pt x="335" y="152"/>
                  <a:pt x="335" y="152"/>
                  <a:pt x="335" y="152"/>
                </a:cubicBezTo>
                <a:cubicBezTo>
                  <a:pt x="335" y="163"/>
                  <a:pt x="335" y="163"/>
                  <a:pt x="335" y="163"/>
                </a:cubicBezTo>
                <a:cubicBezTo>
                  <a:pt x="335" y="169"/>
                  <a:pt x="339" y="173"/>
                  <a:pt x="345" y="173"/>
                </a:cubicBezTo>
                <a:close/>
                <a:moveTo>
                  <a:pt x="240" y="307"/>
                </a:moveTo>
                <a:cubicBezTo>
                  <a:pt x="242" y="322"/>
                  <a:pt x="242" y="322"/>
                  <a:pt x="242" y="322"/>
                </a:cubicBezTo>
                <a:cubicBezTo>
                  <a:pt x="202" y="289"/>
                  <a:pt x="202" y="289"/>
                  <a:pt x="202" y="289"/>
                </a:cubicBezTo>
                <a:cubicBezTo>
                  <a:pt x="239" y="259"/>
                  <a:pt x="239" y="259"/>
                  <a:pt x="239" y="259"/>
                </a:cubicBezTo>
                <a:cubicBezTo>
                  <a:pt x="239" y="306"/>
                  <a:pt x="239" y="306"/>
                  <a:pt x="239" y="306"/>
                </a:cubicBezTo>
                <a:cubicBezTo>
                  <a:pt x="239" y="306"/>
                  <a:pt x="240" y="306"/>
                  <a:pt x="240" y="307"/>
                </a:cubicBezTo>
                <a:cubicBezTo>
                  <a:pt x="240" y="307"/>
                  <a:pt x="240" y="307"/>
                  <a:pt x="240" y="307"/>
                </a:cubicBezTo>
                <a:close/>
                <a:moveTo>
                  <a:pt x="242" y="337"/>
                </a:moveTo>
                <a:cubicBezTo>
                  <a:pt x="193" y="374"/>
                  <a:pt x="193" y="374"/>
                  <a:pt x="193" y="374"/>
                </a:cubicBezTo>
                <a:cubicBezTo>
                  <a:pt x="145" y="337"/>
                  <a:pt x="145" y="337"/>
                  <a:pt x="145" y="337"/>
                </a:cubicBezTo>
                <a:cubicBezTo>
                  <a:pt x="193" y="297"/>
                  <a:pt x="193" y="297"/>
                  <a:pt x="193" y="297"/>
                </a:cubicBezTo>
                <a:lnTo>
                  <a:pt x="242" y="337"/>
                </a:lnTo>
                <a:close/>
                <a:moveTo>
                  <a:pt x="218" y="136"/>
                </a:moveTo>
                <a:cubicBezTo>
                  <a:pt x="169" y="136"/>
                  <a:pt x="169" y="136"/>
                  <a:pt x="169" y="136"/>
                </a:cubicBezTo>
                <a:cubicBezTo>
                  <a:pt x="193" y="123"/>
                  <a:pt x="193" y="123"/>
                  <a:pt x="193" y="123"/>
                </a:cubicBezTo>
                <a:lnTo>
                  <a:pt x="218" y="136"/>
                </a:lnTo>
                <a:close/>
                <a:moveTo>
                  <a:pt x="163" y="92"/>
                </a:moveTo>
                <a:cubicBezTo>
                  <a:pt x="223" y="92"/>
                  <a:pt x="223" y="92"/>
                  <a:pt x="223" y="92"/>
                </a:cubicBezTo>
                <a:cubicBezTo>
                  <a:pt x="193" y="108"/>
                  <a:pt x="193" y="108"/>
                  <a:pt x="193" y="108"/>
                </a:cubicBezTo>
                <a:lnTo>
                  <a:pt x="163" y="92"/>
                </a:lnTo>
                <a:close/>
                <a:moveTo>
                  <a:pt x="231" y="152"/>
                </a:moveTo>
                <a:cubicBezTo>
                  <a:pt x="193" y="185"/>
                  <a:pt x="193" y="185"/>
                  <a:pt x="193" y="185"/>
                </a:cubicBezTo>
                <a:cubicBezTo>
                  <a:pt x="155" y="152"/>
                  <a:pt x="155" y="152"/>
                  <a:pt x="155" y="152"/>
                </a:cubicBezTo>
                <a:lnTo>
                  <a:pt x="231" y="152"/>
                </a:lnTo>
                <a:close/>
                <a:moveTo>
                  <a:pt x="239" y="162"/>
                </a:moveTo>
                <a:cubicBezTo>
                  <a:pt x="239" y="227"/>
                  <a:pt x="239" y="227"/>
                  <a:pt x="239" y="227"/>
                </a:cubicBezTo>
                <a:cubicBezTo>
                  <a:pt x="201" y="195"/>
                  <a:pt x="201" y="195"/>
                  <a:pt x="201" y="195"/>
                </a:cubicBezTo>
                <a:lnTo>
                  <a:pt x="239" y="162"/>
                </a:lnTo>
                <a:close/>
                <a:moveTo>
                  <a:pt x="205" y="117"/>
                </a:moveTo>
                <a:cubicBezTo>
                  <a:pt x="239" y="99"/>
                  <a:pt x="239" y="99"/>
                  <a:pt x="239" y="99"/>
                </a:cubicBezTo>
                <a:cubicBezTo>
                  <a:pt x="239" y="136"/>
                  <a:pt x="239" y="136"/>
                  <a:pt x="239" y="136"/>
                </a:cubicBezTo>
                <a:lnTo>
                  <a:pt x="205" y="117"/>
                </a:lnTo>
                <a:close/>
                <a:moveTo>
                  <a:pt x="195" y="19"/>
                </a:moveTo>
                <a:cubicBezTo>
                  <a:pt x="233" y="76"/>
                  <a:pt x="233" y="76"/>
                  <a:pt x="233" y="76"/>
                </a:cubicBezTo>
                <a:cubicBezTo>
                  <a:pt x="154" y="76"/>
                  <a:pt x="154" y="76"/>
                  <a:pt x="154" y="76"/>
                </a:cubicBezTo>
                <a:lnTo>
                  <a:pt x="195" y="19"/>
                </a:lnTo>
                <a:close/>
                <a:moveTo>
                  <a:pt x="147" y="99"/>
                </a:moveTo>
                <a:cubicBezTo>
                  <a:pt x="181" y="117"/>
                  <a:pt x="181" y="117"/>
                  <a:pt x="181" y="117"/>
                </a:cubicBezTo>
                <a:cubicBezTo>
                  <a:pt x="147" y="136"/>
                  <a:pt x="147" y="136"/>
                  <a:pt x="147" y="136"/>
                </a:cubicBezTo>
                <a:lnTo>
                  <a:pt x="147" y="99"/>
                </a:lnTo>
                <a:close/>
                <a:moveTo>
                  <a:pt x="147" y="162"/>
                </a:moveTo>
                <a:cubicBezTo>
                  <a:pt x="184" y="195"/>
                  <a:pt x="184" y="195"/>
                  <a:pt x="184" y="195"/>
                </a:cubicBezTo>
                <a:cubicBezTo>
                  <a:pt x="147" y="227"/>
                  <a:pt x="147" y="227"/>
                  <a:pt x="147" y="227"/>
                </a:cubicBezTo>
                <a:lnTo>
                  <a:pt x="147" y="162"/>
                </a:lnTo>
                <a:close/>
                <a:moveTo>
                  <a:pt x="193" y="203"/>
                </a:moveTo>
                <a:cubicBezTo>
                  <a:pt x="240" y="243"/>
                  <a:pt x="240" y="243"/>
                  <a:pt x="240" y="243"/>
                </a:cubicBezTo>
                <a:cubicBezTo>
                  <a:pt x="193" y="281"/>
                  <a:pt x="193" y="281"/>
                  <a:pt x="193" y="281"/>
                </a:cubicBezTo>
                <a:cubicBezTo>
                  <a:pt x="147" y="243"/>
                  <a:pt x="147" y="243"/>
                  <a:pt x="147" y="243"/>
                </a:cubicBezTo>
                <a:lnTo>
                  <a:pt x="193" y="203"/>
                </a:lnTo>
                <a:close/>
                <a:moveTo>
                  <a:pt x="146" y="307"/>
                </a:moveTo>
                <a:cubicBezTo>
                  <a:pt x="146" y="307"/>
                  <a:pt x="147" y="307"/>
                  <a:pt x="147" y="307"/>
                </a:cubicBezTo>
                <a:cubicBezTo>
                  <a:pt x="147" y="306"/>
                  <a:pt x="147" y="306"/>
                  <a:pt x="147" y="306"/>
                </a:cubicBezTo>
                <a:cubicBezTo>
                  <a:pt x="147" y="259"/>
                  <a:pt x="147" y="259"/>
                  <a:pt x="147" y="259"/>
                </a:cubicBezTo>
                <a:cubicBezTo>
                  <a:pt x="184" y="289"/>
                  <a:pt x="184" y="289"/>
                  <a:pt x="184" y="289"/>
                </a:cubicBezTo>
                <a:cubicBezTo>
                  <a:pt x="144" y="321"/>
                  <a:pt x="144" y="321"/>
                  <a:pt x="144" y="321"/>
                </a:cubicBezTo>
                <a:lnTo>
                  <a:pt x="146" y="307"/>
                </a:lnTo>
                <a:close/>
                <a:moveTo>
                  <a:pt x="45" y="136"/>
                </a:moveTo>
                <a:cubicBezTo>
                  <a:pt x="131" y="100"/>
                  <a:pt x="131" y="100"/>
                  <a:pt x="131" y="100"/>
                </a:cubicBezTo>
                <a:cubicBezTo>
                  <a:pt x="131" y="136"/>
                  <a:pt x="131" y="136"/>
                  <a:pt x="131" y="136"/>
                </a:cubicBezTo>
                <a:lnTo>
                  <a:pt x="45" y="136"/>
                </a:lnTo>
                <a:close/>
                <a:moveTo>
                  <a:pt x="45" y="264"/>
                </a:moveTo>
                <a:cubicBezTo>
                  <a:pt x="131" y="225"/>
                  <a:pt x="131" y="225"/>
                  <a:pt x="131" y="225"/>
                </a:cubicBezTo>
                <a:cubicBezTo>
                  <a:pt x="131" y="264"/>
                  <a:pt x="131" y="264"/>
                  <a:pt x="131" y="264"/>
                </a:cubicBezTo>
                <a:lnTo>
                  <a:pt x="45" y="264"/>
                </a:lnTo>
                <a:close/>
                <a:moveTo>
                  <a:pt x="130" y="414"/>
                </a:moveTo>
                <a:cubicBezTo>
                  <a:pt x="130" y="414"/>
                  <a:pt x="130" y="414"/>
                  <a:pt x="130" y="413"/>
                </a:cubicBezTo>
                <a:cubicBezTo>
                  <a:pt x="140" y="349"/>
                  <a:pt x="140" y="349"/>
                  <a:pt x="140" y="349"/>
                </a:cubicBezTo>
                <a:cubicBezTo>
                  <a:pt x="183" y="382"/>
                  <a:pt x="183" y="382"/>
                  <a:pt x="183" y="382"/>
                </a:cubicBezTo>
                <a:cubicBezTo>
                  <a:pt x="128" y="422"/>
                  <a:pt x="128" y="422"/>
                  <a:pt x="128" y="422"/>
                </a:cubicBezTo>
                <a:lnTo>
                  <a:pt x="130" y="414"/>
                </a:lnTo>
                <a:close/>
                <a:moveTo>
                  <a:pt x="102" y="550"/>
                </a:moveTo>
                <a:cubicBezTo>
                  <a:pt x="125" y="439"/>
                  <a:pt x="125" y="439"/>
                  <a:pt x="125" y="439"/>
                </a:cubicBezTo>
                <a:cubicBezTo>
                  <a:pt x="183" y="485"/>
                  <a:pt x="183" y="485"/>
                  <a:pt x="183" y="485"/>
                </a:cubicBezTo>
                <a:lnTo>
                  <a:pt x="102" y="550"/>
                </a:lnTo>
                <a:close/>
                <a:moveTo>
                  <a:pt x="137" y="432"/>
                </a:moveTo>
                <a:cubicBezTo>
                  <a:pt x="193" y="389"/>
                  <a:pt x="193" y="389"/>
                  <a:pt x="193" y="389"/>
                </a:cubicBezTo>
                <a:cubicBezTo>
                  <a:pt x="249" y="432"/>
                  <a:pt x="249" y="432"/>
                  <a:pt x="249" y="432"/>
                </a:cubicBezTo>
                <a:cubicBezTo>
                  <a:pt x="193" y="477"/>
                  <a:pt x="193" y="477"/>
                  <a:pt x="193" y="477"/>
                </a:cubicBezTo>
                <a:lnTo>
                  <a:pt x="137" y="432"/>
                </a:lnTo>
                <a:close/>
                <a:moveTo>
                  <a:pt x="284" y="551"/>
                </a:moveTo>
                <a:cubicBezTo>
                  <a:pt x="203" y="485"/>
                  <a:pt x="203" y="485"/>
                  <a:pt x="203" y="485"/>
                </a:cubicBezTo>
                <a:cubicBezTo>
                  <a:pt x="261" y="439"/>
                  <a:pt x="261" y="439"/>
                  <a:pt x="261" y="439"/>
                </a:cubicBezTo>
                <a:lnTo>
                  <a:pt x="284" y="551"/>
                </a:lnTo>
                <a:close/>
                <a:moveTo>
                  <a:pt x="256" y="415"/>
                </a:moveTo>
                <a:cubicBezTo>
                  <a:pt x="256" y="416"/>
                  <a:pt x="256" y="416"/>
                  <a:pt x="256" y="416"/>
                </a:cubicBezTo>
                <a:cubicBezTo>
                  <a:pt x="258" y="422"/>
                  <a:pt x="258" y="422"/>
                  <a:pt x="258" y="422"/>
                </a:cubicBezTo>
                <a:cubicBezTo>
                  <a:pt x="204" y="382"/>
                  <a:pt x="204" y="382"/>
                  <a:pt x="204" y="382"/>
                </a:cubicBezTo>
                <a:cubicBezTo>
                  <a:pt x="247" y="349"/>
                  <a:pt x="247" y="349"/>
                  <a:pt x="247" y="349"/>
                </a:cubicBezTo>
                <a:lnTo>
                  <a:pt x="256" y="415"/>
                </a:lnTo>
                <a:close/>
                <a:moveTo>
                  <a:pt x="342" y="264"/>
                </a:moveTo>
                <a:cubicBezTo>
                  <a:pt x="255" y="264"/>
                  <a:pt x="255" y="264"/>
                  <a:pt x="255" y="264"/>
                </a:cubicBezTo>
                <a:cubicBezTo>
                  <a:pt x="255" y="225"/>
                  <a:pt x="255" y="225"/>
                  <a:pt x="255" y="225"/>
                </a:cubicBezTo>
                <a:lnTo>
                  <a:pt x="342" y="264"/>
                </a:lnTo>
                <a:close/>
                <a:moveTo>
                  <a:pt x="255" y="136"/>
                </a:moveTo>
                <a:cubicBezTo>
                  <a:pt x="255" y="100"/>
                  <a:pt x="255" y="100"/>
                  <a:pt x="255" y="100"/>
                </a:cubicBezTo>
                <a:cubicBezTo>
                  <a:pt x="342" y="136"/>
                  <a:pt x="342" y="136"/>
                  <a:pt x="342" y="136"/>
                </a:cubicBezTo>
                <a:lnTo>
                  <a:pt x="255" y="136"/>
                </a:lnTo>
                <a:close/>
              </a:path>
            </a:pathLst>
          </a:custGeom>
          <a:solidFill>
            <a:srgbClr val="12486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6" name="Rectangle 225">
            <a:extLst>
              <a:ext uri="{FF2B5EF4-FFF2-40B4-BE49-F238E27FC236}">
                <a16:creationId xmlns:a16="http://schemas.microsoft.com/office/drawing/2014/main" id="{41138FAD-0BD8-40F7-BBAA-ABAAF9B44565}"/>
              </a:ext>
            </a:extLst>
          </p:cNvPr>
          <p:cNvSpPr/>
          <p:nvPr/>
        </p:nvSpPr>
        <p:spPr bwMode="gray">
          <a:xfrm>
            <a:off x="2944827" y="1509358"/>
            <a:ext cx="1993392" cy="1682496"/>
          </a:xfrm>
          <a:prstGeom prst="rect">
            <a:avLst/>
          </a:prstGeom>
          <a:solidFill>
            <a:srgbClr val="A1D794">
              <a:alpha val="30000"/>
            </a:srgbClr>
          </a:solidFill>
          <a:ln w="19050" algn="ctr">
            <a:solidFill>
              <a:srgbClr val="26890D"/>
            </a:solidFill>
            <a:prstDash val="sysDot"/>
            <a:miter lim="800000"/>
            <a:headEnd/>
            <a:tailEnd/>
          </a:ln>
        </p:spPr>
        <p:txBody>
          <a:bodyPr wrap="square" lIns="88900" tIns="88900" rIns="88900" bIns="88900" rtlCol="0" anchor="ctr"/>
          <a:lstStyle/>
          <a:p>
            <a:pPr marL="0" marR="0" lvl="0" indent="0" algn="ctr" defTabSz="885893" eaLnBrk="1" fontAlgn="auto" latinLnBrk="0" hangingPunct="1">
              <a:lnSpc>
                <a:spcPct val="106000"/>
              </a:lnSpc>
              <a:spcBef>
                <a:spcPts val="0"/>
              </a:spcBef>
              <a:spcAft>
                <a:spcPts val="0"/>
              </a:spcAft>
              <a:buClrTx/>
              <a:buSzTx/>
              <a:buFontTx/>
              <a:buNone/>
              <a:tabLst/>
              <a:defRPr/>
            </a:pPr>
            <a:endParaRPr kumimoji="0" lang="en-IN" sz="1600" b="1" i="0" u="none" strike="noStrike" kern="0" cap="none" spc="0" normalizeH="0" baseline="0" noProof="0" dirty="0">
              <a:ln>
                <a:noFill/>
              </a:ln>
              <a:solidFill>
                <a:prstClr val="white"/>
              </a:solidFill>
              <a:effectLst/>
              <a:uLnTx/>
              <a:uFillTx/>
              <a:latin typeface="Calibri"/>
            </a:endParaRPr>
          </a:p>
        </p:txBody>
      </p:sp>
      <p:sp>
        <p:nvSpPr>
          <p:cNvPr id="227" name="TextBox 226">
            <a:extLst>
              <a:ext uri="{FF2B5EF4-FFF2-40B4-BE49-F238E27FC236}">
                <a16:creationId xmlns:a16="http://schemas.microsoft.com/office/drawing/2014/main" id="{0E05E3B0-E2E1-41A7-9A14-163B27ADB71C}"/>
              </a:ext>
            </a:extLst>
          </p:cNvPr>
          <p:cNvSpPr txBox="1"/>
          <p:nvPr/>
        </p:nvSpPr>
        <p:spPr>
          <a:xfrm>
            <a:off x="3033861" y="1553473"/>
            <a:ext cx="1904358" cy="215444"/>
          </a:xfrm>
          <a:prstGeom prst="rect">
            <a:avLst/>
          </a:prstGeom>
          <a:noFill/>
          <a:ln>
            <a:noFill/>
          </a:ln>
        </p:spPr>
        <p:txBody>
          <a:bodyPr wrap="square" lIns="0" tIns="0" rIns="0" bIns="0" rtlCol="0">
            <a:spAutoFit/>
          </a:bodyPr>
          <a:lstStyle/>
          <a:p>
            <a:pPr defTabSz="885893">
              <a:spcBef>
                <a:spcPts val="600"/>
              </a:spcBef>
              <a:buSzPct val="100000"/>
              <a:defRPr/>
            </a:pPr>
            <a:r>
              <a:rPr lang="en-US" sz="1400" b="1" kern="0" dirty="0">
                <a:solidFill>
                  <a:prstClr val="black"/>
                </a:solidFill>
                <a:latin typeface="Calibri"/>
              </a:rPr>
              <a:t>Digitalization of utilities</a:t>
            </a:r>
            <a:endParaRPr lang="en-IN" sz="1400" b="1" kern="0" dirty="0">
              <a:solidFill>
                <a:prstClr val="black"/>
              </a:solidFill>
              <a:latin typeface="Calibri"/>
            </a:endParaRPr>
          </a:p>
        </p:txBody>
      </p:sp>
      <p:sp>
        <p:nvSpPr>
          <p:cNvPr id="231" name="TextBox 230">
            <a:extLst>
              <a:ext uri="{FF2B5EF4-FFF2-40B4-BE49-F238E27FC236}">
                <a16:creationId xmlns:a16="http://schemas.microsoft.com/office/drawing/2014/main" id="{08251A7D-0FEE-42F7-BE1D-0C9839EA6CD3}"/>
              </a:ext>
            </a:extLst>
          </p:cNvPr>
          <p:cNvSpPr txBox="1"/>
          <p:nvPr/>
        </p:nvSpPr>
        <p:spPr>
          <a:xfrm>
            <a:off x="3668915" y="1918316"/>
            <a:ext cx="1272302" cy="1184940"/>
          </a:xfrm>
          <a:prstGeom prst="rect">
            <a:avLst/>
          </a:prstGeom>
          <a:noFill/>
          <a:ln>
            <a:noFill/>
          </a:ln>
        </p:spPr>
        <p:txBody>
          <a:bodyPr wrap="square" lIns="0" tIns="0" rIns="0" bIns="0" rtlCol="0">
            <a:spAutoFit/>
          </a:bodyPr>
          <a:lstStyle/>
          <a:p>
            <a:pPr defTabSz="885893">
              <a:spcBef>
                <a:spcPts val="600"/>
              </a:spcBef>
              <a:buSzPct val="100000"/>
              <a:defRPr/>
            </a:pPr>
            <a:r>
              <a:rPr lang="en-US" sz="1100" b="1" kern="0" dirty="0">
                <a:solidFill>
                  <a:srgbClr val="046A38"/>
                </a:solidFill>
              </a:rPr>
              <a:t>Smart prepaid metering, communicable DT &amp; Feeder Metering with AMI/ NFMS, unified billing software, ERP, Load forecasting etc.</a:t>
            </a:r>
            <a:endParaRPr lang="en-US" sz="1100" b="1" kern="0" dirty="0">
              <a:solidFill>
                <a:srgbClr val="046A38"/>
              </a:solidFill>
              <a:latin typeface="Calibri"/>
            </a:endParaRPr>
          </a:p>
        </p:txBody>
      </p:sp>
      <p:sp>
        <p:nvSpPr>
          <p:cNvPr id="232" name="Freeform 13">
            <a:extLst>
              <a:ext uri="{FF2B5EF4-FFF2-40B4-BE49-F238E27FC236}">
                <a16:creationId xmlns:a16="http://schemas.microsoft.com/office/drawing/2014/main" id="{1D9BA996-46F0-4610-A196-200CCB736191}"/>
              </a:ext>
            </a:extLst>
          </p:cNvPr>
          <p:cNvSpPr>
            <a:spLocks noEditPoints="1"/>
          </p:cNvSpPr>
          <p:nvPr/>
        </p:nvSpPr>
        <p:spPr bwMode="auto">
          <a:xfrm>
            <a:off x="3104309" y="2192266"/>
            <a:ext cx="533642" cy="565715"/>
          </a:xfrm>
          <a:custGeom>
            <a:avLst/>
            <a:gdLst>
              <a:gd name="T0" fmla="*/ 93 w 429"/>
              <a:gd name="T1" fmla="*/ 139 h 444"/>
              <a:gd name="T2" fmla="*/ 151 w 429"/>
              <a:gd name="T3" fmla="*/ 68 h 444"/>
              <a:gd name="T4" fmla="*/ 154 w 429"/>
              <a:gd name="T5" fmla="*/ 101 h 444"/>
              <a:gd name="T6" fmla="*/ 154 w 429"/>
              <a:gd name="T7" fmla="*/ 177 h 444"/>
              <a:gd name="T8" fmla="*/ 118 w 429"/>
              <a:gd name="T9" fmla="*/ 207 h 444"/>
              <a:gd name="T10" fmla="*/ 83 w 429"/>
              <a:gd name="T11" fmla="*/ 236 h 444"/>
              <a:gd name="T12" fmla="*/ 83 w 429"/>
              <a:gd name="T13" fmla="*/ 41 h 444"/>
              <a:gd name="T14" fmla="*/ 80 w 429"/>
              <a:gd name="T15" fmla="*/ 8 h 444"/>
              <a:gd name="T16" fmla="*/ 0 w 429"/>
              <a:gd name="T17" fmla="*/ 139 h 444"/>
              <a:gd name="T18" fmla="*/ 80 w 429"/>
              <a:gd name="T19" fmla="*/ 269 h 444"/>
              <a:gd name="T20" fmla="*/ 275 w 429"/>
              <a:gd name="T21" fmla="*/ 177 h 444"/>
              <a:gd name="T22" fmla="*/ 311 w 429"/>
              <a:gd name="T23" fmla="*/ 207 h 444"/>
              <a:gd name="T24" fmla="*/ 311 w 429"/>
              <a:gd name="T25" fmla="*/ 71 h 444"/>
              <a:gd name="T26" fmla="*/ 270 w 429"/>
              <a:gd name="T27" fmla="*/ 86 h 444"/>
              <a:gd name="T28" fmla="*/ 289 w 429"/>
              <a:gd name="T29" fmla="*/ 139 h 444"/>
              <a:gd name="T30" fmla="*/ 349 w 429"/>
              <a:gd name="T31" fmla="*/ 8 h 444"/>
              <a:gd name="T32" fmla="*/ 346 w 429"/>
              <a:gd name="T33" fmla="*/ 41 h 444"/>
              <a:gd name="T34" fmla="*/ 346 w 429"/>
              <a:gd name="T35" fmla="*/ 236 h 444"/>
              <a:gd name="T36" fmla="*/ 382 w 429"/>
              <a:gd name="T37" fmla="*/ 266 h 444"/>
              <a:gd name="T38" fmla="*/ 382 w 429"/>
              <a:gd name="T39" fmla="*/ 11 h 444"/>
              <a:gd name="T40" fmla="*/ 247 w 429"/>
              <a:gd name="T41" fmla="*/ 139 h 444"/>
              <a:gd name="T42" fmla="*/ 182 w 429"/>
              <a:gd name="T43" fmla="*/ 139 h 444"/>
              <a:gd name="T44" fmla="*/ 362 w 429"/>
              <a:gd name="T45" fmla="*/ 415 h 444"/>
              <a:gd name="T46" fmla="*/ 348 w 429"/>
              <a:gd name="T47" fmla="*/ 442 h 444"/>
              <a:gd name="T48" fmla="*/ 302 w 429"/>
              <a:gd name="T49" fmla="*/ 389 h 444"/>
              <a:gd name="T50" fmla="*/ 95 w 429"/>
              <a:gd name="T51" fmla="*/ 435 h 444"/>
              <a:gd name="T52" fmla="*/ 67 w 429"/>
              <a:gd name="T53" fmla="*/ 415 h 444"/>
              <a:gd name="T54" fmla="*/ 215 w 429"/>
              <a:gd name="T55" fmla="*/ 217 h 444"/>
              <a:gd name="T56" fmla="*/ 362 w 429"/>
              <a:gd name="T57" fmla="*/ 415 h 444"/>
              <a:gd name="T58" fmla="*/ 234 w 429"/>
              <a:gd name="T59" fmla="*/ 339 h 444"/>
              <a:gd name="T60" fmla="*/ 260 w 429"/>
              <a:gd name="T61" fmla="*/ 328 h 444"/>
              <a:gd name="T62" fmla="*/ 179 w 429"/>
              <a:gd name="T63" fmla="*/ 315 h 444"/>
              <a:gd name="T64" fmla="*/ 214 w 429"/>
              <a:gd name="T65" fmla="*/ 331 h 444"/>
              <a:gd name="T66" fmla="*/ 250 w 429"/>
              <a:gd name="T67" fmla="*/ 315 h 444"/>
              <a:gd name="T68" fmla="*/ 194 w 429"/>
              <a:gd name="T69" fmla="*/ 339 h 444"/>
              <a:gd name="T70" fmla="*/ 149 w 429"/>
              <a:gd name="T71" fmla="*/ 358 h 444"/>
              <a:gd name="T72" fmla="*/ 276 w 429"/>
              <a:gd name="T73" fmla="*/ 374 h 444"/>
              <a:gd name="T74" fmla="*/ 149 w 429"/>
              <a:gd name="T75" fmla="*/ 374 h 444"/>
              <a:gd name="T76" fmla="*/ 240 w 429"/>
              <a:gd name="T77" fmla="*/ 300 h 444"/>
              <a:gd name="T78" fmla="*/ 189 w 429"/>
              <a:gd name="T79" fmla="*/ 300 h 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9" h="444">
                <a:moveTo>
                  <a:pt x="118" y="207"/>
                </a:moveTo>
                <a:cubicBezTo>
                  <a:pt x="102" y="188"/>
                  <a:pt x="93" y="164"/>
                  <a:pt x="93" y="139"/>
                </a:cubicBezTo>
                <a:cubicBezTo>
                  <a:pt x="93" y="114"/>
                  <a:pt x="102" y="90"/>
                  <a:pt x="118" y="71"/>
                </a:cubicBezTo>
                <a:cubicBezTo>
                  <a:pt x="126" y="61"/>
                  <a:pt x="141" y="60"/>
                  <a:pt x="151" y="68"/>
                </a:cubicBezTo>
                <a:cubicBezTo>
                  <a:pt x="156" y="72"/>
                  <a:pt x="159" y="79"/>
                  <a:pt x="159" y="86"/>
                </a:cubicBezTo>
                <a:cubicBezTo>
                  <a:pt x="159" y="91"/>
                  <a:pt x="157" y="96"/>
                  <a:pt x="154" y="101"/>
                </a:cubicBezTo>
                <a:cubicBezTo>
                  <a:pt x="145" y="111"/>
                  <a:pt x="140" y="125"/>
                  <a:pt x="140" y="139"/>
                </a:cubicBezTo>
                <a:cubicBezTo>
                  <a:pt x="140" y="153"/>
                  <a:pt x="145" y="166"/>
                  <a:pt x="154" y="177"/>
                </a:cubicBezTo>
                <a:cubicBezTo>
                  <a:pt x="162" y="187"/>
                  <a:pt x="161" y="201"/>
                  <a:pt x="151" y="210"/>
                </a:cubicBezTo>
                <a:cubicBezTo>
                  <a:pt x="141" y="218"/>
                  <a:pt x="126" y="217"/>
                  <a:pt x="118" y="207"/>
                </a:cubicBezTo>
                <a:moveTo>
                  <a:pt x="80" y="269"/>
                </a:moveTo>
                <a:cubicBezTo>
                  <a:pt x="90" y="261"/>
                  <a:pt x="91" y="246"/>
                  <a:pt x="83" y="236"/>
                </a:cubicBezTo>
                <a:cubicBezTo>
                  <a:pt x="60" y="209"/>
                  <a:pt x="47" y="174"/>
                  <a:pt x="47" y="139"/>
                </a:cubicBezTo>
                <a:cubicBezTo>
                  <a:pt x="47" y="103"/>
                  <a:pt x="60" y="68"/>
                  <a:pt x="83" y="41"/>
                </a:cubicBezTo>
                <a:cubicBezTo>
                  <a:pt x="86" y="37"/>
                  <a:pt x="88" y="32"/>
                  <a:pt x="88" y="26"/>
                </a:cubicBezTo>
                <a:cubicBezTo>
                  <a:pt x="88" y="20"/>
                  <a:pt x="85" y="13"/>
                  <a:pt x="80" y="8"/>
                </a:cubicBezTo>
                <a:cubicBezTo>
                  <a:pt x="70" y="0"/>
                  <a:pt x="55" y="1"/>
                  <a:pt x="47" y="11"/>
                </a:cubicBezTo>
                <a:cubicBezTo>
                  <a:pt x="17" y="47"/>
                  <a:pt x="0" y="92"/>
                  <a:pt x="0" y="139"/>
                </a:cubicBezTo>
                <a:cubicBezTo>
                  <a:pt x="0" y="185"/>
                  <a:pt x="17" y="231"/>
                  <a:pt x="47" y="266"/>
                </a:cubicBezTo>
                <a:cubicBezTo>
                  <a:pt x="55" y="276"/>
                  <a:pt x="70" y="277"/>
                  <a:pt x="80" y="269"/>
                </a:cubicBezTo>
                <a:moveTo>
                  <a:pt x="289" y="139"/>
                </a:moveTo>
                <a:cubicBezTo>
                  <a:pt x="289" y="153"/>
                  <a:pt x="284" y="166"/>
                  <a:pt x="275" y="177"/>
                </a:cubicBezTo>
                <a:cubicBezTo>
                  <a:pt x="267" y="187"/>
                  <a:pt x="268" y="201"/>
                  <a:pt x="278" y="210"/>
                </a:cubicBezTo>
                <a:cubicBezTo>
                  <a:pt x="288" y="218"/>
                  <a:pt x="303" y="217"/>
                  <a:pt x="311" y="207"/>
                </a:cubicBezTo>
                <a:cubicBezTo>
                  <a:pt x="327" y="188"/>
                  <a:pt x="336" y="164"/>
                  <a:pt x="336" y="139"/>
                </a:cubicBezTo>
                <a:cubicBezTo>
                  <a:pt x="336" y="114"/>
                  <a:pt x="327" y="90"/>
                  <a:pt x="311" y="71"/>
                </a:cubicBezTo>
                <a:cubicBezTo>
                  <a:pt x="303" y="61"/>
                  <a:pt x="288" y="60"/>
                  <a:pt x="278" y="68"/>
                </a:cubicBezTo>
                <a:cubicBezTo>
                  <a:pt x="273" y="72"/>
                  <a:pt x="270" y="79"/>
                  <a:pt x="270" y="86"/>
                </a:cubicBezTo>
                <a:cubicBezTo>
                  <a:pt x="270" y="91"/>
                  <a:pt x="272" y="96"/>
                  <a:pt x="275" y="101"/>
                </a:cubicBezTo>
                <a:cubicBezTo>
                  <a:pt x="284" y="111"/>
                  <a:pt x="289" y="125"/>
                  <a:pt x="289" y="139"/>
                </a:cubicBezTo>
                <a:moveTo>
                  <a:pt x="382" y="11"/>
                </a:moveTo>
                <a:cubicBezTo>
                  <a:pt x="374" y="1"/>
                  <a:pt x="359" y="0"/>
                  <a:pt x="349" y="8"/>
                </a:cubicBezTo>
                <a:cubicBezTo>
                  <a:pt x="344" y="13"/>
                  <a:pt x="341" y="20"/>
                  <a:pt x="341" y="26"/>
                </a:cubicBezTo>
                <a:cubicBezTo>
                  <a:pt x="341" y="32"/>
                  <a:pt x="343" y="37"/>
                  <a:pt x="346" y="41"/>
                </a:cubicBezTo>
                <a:cubicBezTo>
                  <a:pt x="369" y="68"/>
                  <a:pt x="382" y="103"/>
                  <a:pt x="382" y="139"/>
                </a:cubicBezTo>
                <a:cubicBezTo>
                  <a:pt x="382" y="174"/>
                  <a:pt x="369" y="209"/>
                  <a:pt x="346" y="236"/>
                </a:cubicBezTo>
                <a:cubicBezTo>
                  <a:pt x="338" y="246"/>
                  <a:pt x="339" y="261"/>
                  <a:pt x="349" y="269"/>
                </a:cubicBezTo>
                <a:cubicBezTo>
                  <a:pt x="359" y="277"/>
                  <a:pt x="374" y="276"/>
                  <a:pt x="382" y="266"/>
                </a:cubicBezTo>
                <a:cubicBezTo>
                  <a:pt x="412" y="231"/>
                  <a:pt x="429" y="185"/>
                  <a:pt x="429" y="139"/>
                </a:cubicBezTo>
                <a:cubicBezTo>
                  <a:pt x="429" y="92"/>
                  <a:pt x="412" y="47"/>
                  <a:pt x="382" y="11"/>
                </a:cubicBezTo>
                <a:moveTo>
                  <a:pt x="215" y="171"/>
                </a:moveTo>
                <a:cubicBezTo>
                  <a:pt x="232" y="171"/>
                  <a:pt x="247" y="156"/>
                  <a:pt x="247" y="139"/>
                </a:cubicBezTo>
                <a:cubicBezTo>
                  <a:pt x="247" y="121"/>
                  <a:pt x="232" y="107"/>
                  <a:pt x="215" y="107"/>
                </a:cubicBezTo>
                <a:cubicBezTo>
                  <a:pt x="197" y="107"/>
                  <a:pt x="182" y="121"/>
                  <a:pt x="182" y="139"/>
                </a:cubicBezTo>
                <a:cubicBezTo>
                  <a:pt x="182" y="156"/>
                  <a:pt x="197" y="171"/>
                  <a:pt x="215" y="171"/>
                </a:cubicBezTo>
                <a:moveTo>
                  <a:pt x="362" y="415"/>
                </a:moveTo>
                <a:cubicBezTo>
                  <a:pt x="368" y="423"/>
                  <a:pt x="366" y="434"/>
                  <a:pt x="358" y="439"/>
                </a:cubicBezTo>
                <a:cubicBezTo>
                  <a:pt x="355" y="441"/>
                  <a:pt x="352" y="442"/>
                  <a:pt x="348" y="442"/>
                </a:cubicBezTo>
                <a:cubicBezTo>
                  <a:pt x="343" y="442"/>
                  <a:pt x="337" y="439"/>
                  <a:pt x="334" y="435"/>
                </a:cubicBezTo>
                <a:cubicBezTo>
                  <a:pt x="302" y="389"/>
                  <a:pt x="302" y="389"/>
                  <a:pt x="302" y="389"/>
                </a:cubicBezTo>
                <a:cubicBezTo>
                  <a:pt x="127" y="389"/>
                  <a:pt x="127" y="389"/>
                  <a:pt x="127" y="389"/>
                </a:cubicBezTo>
                <a:cubicBezTo>
                  <a:pt x="95" y="435"/>
                  <a:pt x="95" y="435"/>
                  <a:pt x="95" y="435"/>
                </a:cubicBezTo>
                <a:cubicBezTo>
                  <a:pt x="89" y="442"/>
                  <a:pt x="79" y="444"/>
                  <a:pt x="71" y="439"/>
                </a:cubicBezTo>
                <a:cubicBezTo>
                  <a:pt x="63" y="434"/>
                  <a:pt x="61" y="423"/>
                  <a:pt x="67" y="415"/>
                </a:cubicBezTo>
                <a:cubicBezTo>
                  <a:pt x="200" y="224"/>
                  <a:pt x="200" y="224"/>
                  <a:pt x="200" y="224"/>
                </a:cubicBezTo>
                <a:cubicBezTo>
                  <a:pt x="204" y="219"/>
                  <a:pt x="209" y="217"/>
                  <a:pt x="215" y="217"/>
                </a:cubicBezTo>
                <a:cubicBezTo>
                  <a:pt x="220" y="217"/>
                  <a:pt x="225" y="219"/>
                  <a:pt x="229" y="224"/>
                </a:cubicBezTo>
                <a:lnTo>
                  <a:pt x="362" y="415"/>
                </a:lnTo>
                <a:close/>
                <a:moveTo>
                  <a:pt x="260" y="328"/>
                </a:moveTo>
                <a:cubicBezTo>
                  <a:pt x="234" y="339"/>
                  <a:pt x="234" y="339"/>
                  <a:pt x="234" y="339"/>
                </a:cubicBezTo>
                <a:cubicBezTo>
                  <a:pt x="282" y="360"/>
                  <a:pt x="282" y="360"/>
                  <a:pt x="282" y="360"/>
                </a:cubicBezTo>
                <a:lnTo>
                  <a:pt x="260" y="328"/>
                </a:lnTo>
                <a:close/>
                <a:moveTo>
                  <a:pt x="250" y="315"/>
                </a:moveTo>
                <a:cubicBezTo>
                  <a:pt x="179" y="315"/>
                  <a:pt x="179" y="315"/>
                  <a:pt x="179" y="315"/>
                </a:cubicBezTo>
                <a:cubicBezTo>
                  <a:pt x="178" y="316"/>
                  <a:pt x="178" y="316"/>
                  <a:pt x="178" y="316"/>
                </a:cubicBezTo>
                <a:cubicBezTo>
                  <a:pt x="214" y="331"/>
                  <a:pt x="214" y="331"/>
                  <a:pt x="214" y="331"/>
                </a:cubicBezTo>
                <a:cubicBezTo>
                  <a:pt x="251" y="316"/>
                  <a:pt x="251" y="316"/>
                  <a:pt x="251" y="316"/>
                </a:cubicBezTo>
                <a:lnTo>
                  <a:pt x="250" y="315"/>
                </a:lnTo>
                <a:close/>
                <a:moveTo>
                  <a:pt x="149" y="358"/>
                </a:moveTo>
                <a:cubicBezTo>
                  <a:pt x="194" y="339"/>
                  <a:pt x="194" y="339"/>
                  <a:pt x="194" y="339"/>
                </a:cubicBezTo>
                <a:cubicBezTo>
                  <a:pt x="169" y="328"/>
                  <a:pt x="169" y="328"/>
                  <a:pt x="169" y="328"/>
                </a:cubicBezTo>
                <a:lnTo>
                  <a:pt x="149" y="358"/>
                </a:lnTo>
                <a:close/>
                <a:moveTo>
                  <a:pt x="149" y="374"/>
                </a:moveTo>
                <a:cubicBezTo>
                  <a:pt x="276" y="374"/>
                  <a:pt x="276" y="374"/>
                  <a:pt x="276" y="374"/>
                </a:cubicBezTo>
                <a:cubicBezTo>
                  <a:pt x="214" y="347"/>
                  <a:pt x="214" y="347"/>
                  <a:pt x="214" y="347"/>
                </a:cubicBezTo>
                <a:lnTo>
                  <a:pt x="149" y="374"/>
                </a:lnTo>
                <a:close/>
                <a:moveTo>
                  <a:pt x="189" y="300"/>
                </a:moveTo>
                <a:cubicBezTo>
                  <a:pt x="240" y="300"/>
                  <a:pt x="240" y="300"/>
                  <a:pt x="240" y="300"/>
                </a:cubicBezTo>
                <a:cubicBezTo>
                  <a:pt x="215" y="264"/>
                  <a:pt x="215" y="264"/>
                  <a:pt x="215" y="264"/>
                </a:cubicBezTo>
                <a:lnTo>
                  <a:pt x="189" y="30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sz="1800">
              <a:solidFill>
                <a:prstClr val="black"/>
              </a:solidFill>
              <a:latin typeface="Calibri"/>
            </a:endParaRPr>
          </a:p>
        </p:txBody>
      </p:sp>
      <p:sp>
        <p:nvSpPr>
          <p:cNvPr id="295" name="Rectangle 294">
            <a:extLst>
              <a:ext uri="{FF2B5EF4-FFF2-40B4-BE49-F238E27FC236}">
                <a16:creationId xmlns:a16="http://schemas.microsoft.com/office/drawing/2014/main" id="{34898661-2BD4-49E1-8FA5-AB2E59E4B1D6}"/>
              </a:ext>
            </a:extLst>
          </p:cNvPr>
          <p:cNvSpPr/>
          <p:nvPr/>
        </p:nvSpPr>
        <p:spPr bwMode="gray">
          <a:xfrm>
            <a:off x="9362511" y="1514053"/>
            <a:ext cx="1993392" cy="1682496"/>
          </a:xfrm>
          <a:prstGeom prst="rect">
            <a:avLst/>
          </a:prstGeom>
          <a:solidFill>
            <a:srgbClr val="A1D794">
              <a:alpha val="30000"/>
            </a:srgbClr>
          </a:solidFill>
          <a:ln w="19050" algn="ctr">
            <a:solidFill>
              <a:srgbClr val="26890D"/>
            </a:solidFill>
            <a:prstDash val="sysDot"/>
            <a:miter lim="800000"/>
            <a:headEnd/>
            <a:tailEnd/>
          </a:ln>
        </p:spPr>
        <p:txBody>
          <a:bodyPr wrap="square" lIns="88900" tIns="88900" rIns="88900" bIns="88900" rtlCol="0" anchor="ctr"/>
          <a:lstStyle/>
          <a:p>
            <a:pPr marL="0" marR="0" lvl="0" indent="0" algn="ctr" defTabSz="885893" eaLnBrk="1" fontAlgn="auto" latinLnBrk="0" hangingPunct="1">
              <a:lnSpc>
                <a:spcPct val="106000"/>
              </a:lnSpc>
              <a:spcBef>
                <a:spcPts val="0"/>
              </a:spcBef>
              <a:spcAft>
                <a:spcPts val="0"/>
              </a:spcAft>
              <a:buClrTx/>
              <a:buSzTx/>
              <a:buFontTx/>
              <a:buNone/>
              <a:tabLst/>
              <a:defRPr/>
            </a:pPr>
            <a:endParaRPr kumimoji="0" lang="en-IN" sz="1600" b="1" i="0" u="none" strike="noStrike" kern="0" cap="none" spc="0" normalizeH="0" baseline="0" noProof="0" dirty="0">
              <a:ln>
                <a:noFill/>
              </a:ln>
              <a:solidFill>
                <a:prstClr val="white"/>
              </a:solidFill>
              <a:effectLst/>
              <a:uLnTx/>
              <a:uFillTx/>
              <a:latin typeface="Calibri"/>
            </a:endParaRPr>
          </a:p>
        </p:txBody>
      </p:sp>
      <p:sp>
        <p:nvSpPr>
          <p:cNvPr id="296" name="TextBox 295">
            <a:extLst>
              <a:ext uri="{FF2B5EF4-FFF2-40B4-BE49-F238E27FC236}">
                <a16:creationId xmlns:a16="http://schemas.microsoft.com/office/drawing/2014/main" id="{6D4A4697-EEC4-4C88-8DBA-B7958FDE2D45}"/>
              </a:ext>
            </a:extLst>
          </p:cNvPr>
          <p:cNvSpPr txBox="1"/>
          <p:nvPr/>
        </p:nvSpPr>
        <p:spPr>
          <a:xfrm>
            <a:off x="9451545" y="1558168"/>
            <a:ext cx="1904358" cy="218298"/>
          </a:xfrm>
          <a:prstGeom prst="rect">
            <a:avLst/>
          </a:prstGeom>
          <a:noFill/>
          <a:ln>
            <a:noFill/>
          </a:ln>
        </p:spPr>
        <p:txBody>
          <a:bodyPr wrap="square" lIns="0" tIns="0" rIns="0" bIns="0" rtlCol="0">
            <a:spAutoFit/>
          </a:bodyPr>
          <a:lstStyle/>
          <a:p>
            <a:pPr defTabSz="885893">
              <a:spcBef>
                <a:spcPts val="600"/>
              </a:spcBef>
              <a:buSzPct val="100000"/>
              <a:defRPr/>
            </a:pPr>
            <a:r>
              <a:rPr lang="en-US" sz="1400" b="1" kern="0" dirty="0">
                <a:solidFill>
                  <a:prstClr val="black"/>
                </a:solidFill>
                <a:latin typeface="Calibri"/>
              </a:rPr>
              <a:t>Structural Reforms</a:t>
            </a:r>
            <a:endParaRPr lang="en-IN" sz="1400" b="1" kern="0" dirty="0">
              <a:solidFill>
                <a:prstClr val="black"/>
              </a:solidFill>
              <a:latin typeface="Calibri"/>
            </a:endParaRPr>
          </a:p>
        </p:txBody>
      </p:sp>
      <p:sp>
        <p:nvSpPr>
          <p:cNvPr id="297" name="TextBox 296">
            <a:extLst>
              <a:ext uri="{FF2B5EF4-FFF2-40B4-BE49-F238E27FC236}">
                <a16:creationId xmlns:a16="http://schemas.microsoft.com/office/drawing/2014/main" id="{99BA4933-D0FC-499B-8452-95D44985ACA5}"/>
              </a:ext>
            </a:extLst>
          </p:cNvPr>
          <p:cNvSpPr txBox="1"/>
          <p:nvPr/>
        </p:nvSpPr>
        <p:spPr>
          <a:xfrm>
            <a:off x="10081143" y="1771813"/>
            <a:ext cx="1250908" cy="1092607"/>
          </a:xfrm>
          <a:prstGeom prst="rect">
            <a:avLst/>
          </a:prstGeom>
          <a:noFill/>
          <a:ln>
            <a:noFill/>
          </a:ln>
        </p:spPr>
        <p:txBody>
          <a:bodyPr wrap="square" lIns="0" tIns="0" rIns="0" bIns="0" rtlCol="0">
            <a:spAutoFit/>
          </a:bodyPr>
          <a:lstStyle/>
          <a:p>
            <a:pPr defTabSz="885893">
              <a:spcBef>
                <a:spcPts val="600"/>
              </a:spcBef>
              <a:buSzPct val="100000"/>
              <a:defRPr/>
            </a:pPr>
            <a:r>
              <a:rPr lang="en-US" sz="1100" b="1" kern="0" dirty="0">
                <a:solidFill>
                  <a:srgbClr val="046A38"/>
                </a:solidFill>
                <a:latin typeface="Calibri"/>
              </a:rPr>
              <a:t>Privatization for </a:t>
            </a:r>
            <a:r>
              <a:rPr lang="en-US" sz="1400" b="1" kern="0" dirty="0">
                <a:solidFill>
                  <a:srgbClr val="046A38"/>
                </a:solidFill>
                <a:latin typeface="Calibri"/>
              </a:rPr>
              <a:t>UT Discoms </a:t>
            </a:r>
            <a:r>
              <a:rPr lang="en-US" sz="1100" b="1" kern="0" dirty="0">
                <a:solidFill>
                  <a:srgbClr val="046A38"/>
                </a:solidFill>
                <a:latin typeface="Calibri"/>
              </a:rPr>
              <a:t>already initiated; </a:t>
            </a:r>
            <a:r>
              <a:rPr lang="en-US" sz="1400" b="1" kern="0" dirty="0">
                <a:solidFill>
                  <a:srgbClr val="046A38"/>
                </a:solidFill>
                <a:latin typeface="Calibri"/>
              </a:rPr>
              <a:t>state Discoms</a:t>
            </a:r>
            <a:r>
              <a:rPr lang="en-US" sz="1600" b="1" kern="0" dirty="0">
                <a:solidFill>
                  <a:srgbClr val="046A38"/>
                </a:solidFill>
                <a:latin typeface="Calibri"/>
              </a:rPr>
              <a:t> </a:t>
            </a:r>
            <a:r>
              <a:rPr lang="en-US" sz="1100" b="1" kern="0" dirty="0">
                <a:solidFill>
                  <a:srgbClr val="046A38"/>
                </a:solidFill>
                <a:latin typeface="Calibri"/>
              </a:rPr>
              <a:t>are next in line</a:t>
            </a:r>
          </a:p>
        </p:txBody>
      </p:sp>
      <p:sp>
        <p:nvSpPr>
          <p:cNvPr id="331" name="Rectangle 330">
            <a:extLst>
              <a:ext uri="{FF2B5EF4-FFF2-40B4-BE49-F238E27FC236}">
                <a16:creationId xmlns:a16="http://schemas.microsoft.com/office/drawing/2014/main" id="{F21960DB-71D5-4398-957B-B4E2B0B328BA}"/>
              </a:ext>
            </a:extLst>
          </p:cNvPr>
          <p:cNvSpPr/>
          <p:nvPr/>
        </p:nvSpPr>
        <p:spPr bwMode="gray">
          <a:xfrm>
            <a:off x="5068826" y="1513498"/>
            <a:ext cx="1993392" cy="1682496"/>
          </a:xfrm>
          <a:prstGeom prst="rect">
            <a:avLst/>
          </a:prstGeom>
          <a:solidFill>
            <a:srgbClr val="A1D794">
              <a:alpha val="30000"/>
            </a:srgbClr>
          </a:solidFill>
          <a:ln w="19050" algn="ctr">
            <a:solidFill>
              <a:srgbClr val="26890D"/>
            </a:solidFill>
            <a:prstDash val="sysDot"/>
            <a:miter lim="800000"/>
            <a:headEnd/>
            <a:tailEnd/>
          </a:ln>
        </p:spPr>
        <p:txBody>
          <a:bodyPr wrap="square" lIns="88900" tIns="88900" rIns="88900" bIns="88900" rtlCol="0" anchor="ctr"/>
          <a:lstStyle/>
          <a:p>
            <a:pPr marL="0" marR="0" lvl="0" indent="0" algn="ctr" defTabSz="885893" eaLnBrk="1" fontAlgn="auto" latinLnBrk="0" hangingPunct="1">
              <a:lnSpc>
                <a:spcPct val="106000"/>
              </a:lnSpc>
              <a:spcBef>
                <a:spcPts val="0"/>
              </a:spcBef>
              <a:spcAft>
                <a:spcPts val="0"/>
              </a:spcAft>
              <a:buClrTx/>
              <a:buSzTx/>
              <a:buFontTx/>
              <a:buNone/>
              <a:tabLst/>
              <a:defRPr/>
            </a:pPr>
            <a:endParaRPr kumimoji="0" lang="en-IN" sz="1600" b="1" i="0" u="none" strike="noStrike" kern="0" cap="none" spc="0" normalizeH="0" baseline="0" noProof="0" dirty="0">
              <a:ln>
                <a:noFill/>
              </a:ln>
              <a:solidFill>
                <a:prstClr val="white"/>
              </a:solidFill>
              <a:effectLst/>
              <a:uLnTx/>
              <a:uFillTx/>
              <a:latin typeface="Calibri"/>
            </a:endParaRPr>
          </a:p>
        </p:txBody>
      </p:sp>
      <p:sp>
        <p:nvSpPr>
          <p:cNvPr id="332" name="TextBox 331">
            <a:extLst>
              <a:ext uri="{FF2B5EF4-FFF2-40B4-BE49-F238E27FC236}">
                <a16:creationId xmlns:a16="http://schemas.microsoft.com/office/drawing/2014/main" id="{095ED999-A658-4E77-9EE8-E7B7BE6B6EE4}"/>
              </a:ext>
            </a:extLst>
          </p:cNvPr>
          <p:cNvSpPr txBox="1"/>
          <p:nvPr/>
        </p:nvSpPr>
        <p:spPr>
          <a:xfrm>
            <a:off x="5157860" y="1557613"/>
            <a:ext cx="1812053" cy="430887"/>
          </a:xfrm>
          <a:prstGeom prst="rect">
            <a:avLst/>
          </a:prstGeom>
          <a:noFill/>
          <a:ln>
            <a:noFill/>
          </a:ln>
        </p:spPr>
        <p:txBody>
          <a:bodyPr wrap="square" lIns="0" tIns="0" rIns="0" bIns="0" rtlCol="0">
            <a:spAutoFit/>
          </a:bodyPr>
          <a:lstStyle/>
          <a:p>
            <a:pPr defTabSz="885893">
              <a:spcBef>
                <a:spcPts val="600"/>
              </a:spcBef>
              <a:buSzPct val="100000"/>
              <a:defRPr/>
            </a:pPr>
            <a:r>
              <a:rPr lang="en-US" sz="1400" b="1" kern="0" dirty="0">
                <a:solidFill>
                  <a:prstClr val="black"/>
                </a:solidFill>
                <a:latin typeface="Calibri"/>
              </a:rPr>
              <a:t>Network automation &amp; upgradation</a:t>
            </a:r>
            <a:endParaRPr lang="en-IN" sz="1400" b="1" kern="0" dirty="0">
              <a:solidFill>
                <a:prstClr val="black"/>
              </a:solidFill>
              <a:latin typeface="Calibri"/>
            </a:endParaRPr>
          </a:p>
        </p:txBody>
      </p:sp>
      <p:sp>
        <p:nvSpPr>
          <p:cNvPr id="333" name="TextBox 332">
            <a:extLst>
              <a:ext uri="{FF2B5EF4-FFF2-40B4-BE49-F238E27FC236}">
                <a16:creationId xmlns:a16="http://schemas.microsoft.com/office/drawing/2014/main" id="{700FA142-4071-4891-B34E-D64868728CFF}"/>
              </a:ext>
            </a:extLst>
          </p:cNvPr>
          <p:cNvSpPr txBox="1"/>
          <p:nvPr/>
        </p:nvSpPr>
        <p:spPr>
          <a:xfrm>
            <a:off x="5381095" y="2684956"/>
            <a:ext cx="1686746" cy="338554"/>
          </a:xfrm>
          <a:prstGeom prst="rect">
            <a:avLst/>
          </a:prstGeom>
          <a:noFill/>
          <a:ln>
            <a:noFill/>
          </a:ln>
        </p:spPr>
        <p:txBody>
          <a:bodyPr wrap="square" lIns="0" tIns="0" rIns="0" bIns="0" rtlCol="0">
            <a:spAutoFit/>
          </a:bodyPr>
          <a:lstStyle/>
          <a:p>
            <a:pPr defTabSz="885893">
              <a:spcBef>
                <a:spcPts val="600"/>
              </a:spcBef>
              <a:buSzPct val="100000"/>
              <a:defRPr/>
            </a:pPr>
            <a:r>
              <a:rPr lang="en-US" sz="1100" b="1" kern="0" dirty="0">
                <a:solidFill>
                  <a:srgbClr val="046A38"/>
                </a:solidFill>
              </a:rPr>
              <a:t>segregation, SCADA, DMS, OMS, etc.</a:t>
            </a:r>
          </a:p>
        </p:txBody>
      </p:sp>
      <p:sp>
        <p:nvSpPr>
          <p:cNvPr id="334" name="TextBox 333">
            <a:extLst>
              <a:ext uri="{FF2B5EF4-FFF2-40B4-BE49-F238E27FC236}">
                <a16:creationId xmlns:a16="http://schemas.microsoft.com/office/drawing/2014/main" id="{A361BA3F-913B-4431-BA9B-35790877DBD9}"/>
              </a:ext>
            </a:extLst>
          </p:cNvPr>
          <p:cNvSpPr txBox="1"/>
          <p:nvPr/>
        </p:nvSpPr>
        <p:spPr>
          <a:xfrm>
            <a:off x="9515502" y="2811062"/>
            <a:ext cx="1756223" cy="415498"/>
          </a:xfrm>
          <a:prstGeom prst="rect">
            <a:avLst/>
          </a:prstGeom>
          <a:noFill/>
          <a:ln>
            <a:noFill/>
          </a:ln>
        </p:spPr>
        <p:txBody>
          <a:bodyPr wrap="square" lIns="0" tIns="0" rIns="0" bIns="0" rtlCol="0">
            <a:spAutoFit/>
          </a:bodyPr>
          <a:lstStyle/>
          <a:p>
            <a:pPr defTabSz="885893">
              <a:buSzPct val="100000"/>
              <a:defRPr/>
            </a:pPr>
            <a:r>
              <a:rPr lang="en-US" sz="1100" kern="0" dirty="0">
                <a:solidFill>
                  <a:prstClr val="black"/>
                </a:solidFill>
                <a:latin typeface="Calibri"/>
              </a:rPr>
              <a:t>Financial losses of Discoms have risen </a:t>
            </a:r>
            <a:r>
              <a:rPr lang="en-US" sz="1600" b="1" kern="0" dirty="0">
                <a:solidFill>
                  <a:srgbClr val="046A38"/>
                </a:solidFill>
                <a:latin typeface="Calibri"/>
              </a:rPr>
              <a:t>89% </a:t>
            </a:r>
            <a:r>
              <a:rPr lang="en-US" sz="1100" kern="0" dirty="0">
                <a:solidFill>
                  <a:prstClr val="black"/>
                </a:solidFill>
                <a:latin typeface="Calibri"/>
              </a:rPr>
              <a:t>y-o-y in FY19</a:t>
            </a:r>
          </a:p>
        </p:txBody>
      </p:sp>
      <p:grpSp>
        <p:nvGrpSpPr>
          <p:cNvPr id="359" name="Group 358">
            <a:extLst>
              <a:ext uri="{FF2B5EF4-FFF2-40B4-BE49-F238E27FC236}">
                <a16:creationId xmlns:a16="http://schemas.microsoft.com/office/drawing/2014/main" id="{C48CD1B0-C7AC-4D10-9C78-11406EB04AD5}"/>
              </a:ext>
            </a:extLst>
          </p:cNvPr>
          <p:cNvGrpSpPr/>
          <p:nvPr/>
        </p:nvGrpSpPr>
        <p:grpSpPr>
          <a:xfrm>
            <a:off x="5150328" y="2070533"/>
            <a:ext cx="493129" cy="602632"/>
            <a:chOff x="4439409" y="5154163"/>
            <a:chExt cx="666265" cy="924939"/>
          </a:xfrm>
          <a:solidFill>
            <a:srgbClr val="046A38"/>
          </a:solidFill>
        </p:grpSpPr>
        <p:sp>
          <p:nvSpPr>
            <p:cNvPr id="360" name="Freeform 96">
              <a:extLst>
                <a:ext uri="{FF2B5EF4-FFF2-40B4-BE49-F238E27FC236}">
                  <a16:creationId xmlns:a16="http://schemas.microsoft.com/office/drawing/2014/main" id="{EADD50C3-E5CC-498C-B005-2BE16B0197EB}"/>
                </a:ext>
              </a:extLst>
            </p:cNvPr>
            <p:cNvSpPr>
              <a:spLocks noEditPoints="1"/>
            </p:cNvSpPr>
            <p:nvPr/>
          </p:nvSpPr>
          <p:spPr bwMode="auto">
            <a:xfrm>
              <a:off x="4439409" y="5613120"/>
              <a:ext cx="666265" cy="465982"/>
            </a:xfrm>
            <a:custGeom>
              <a:avLst/>
              <a:gdLst>
                <a:gd name="T0" fmla="*/ 437 w 441"/>
                <a:gd name="T1" fmla="*/ 16 h 344"/>
                <a:gd name="T2" fmla="*/ 441 w 441"/>
                <a:gd name="T3" fmla="*/ 12 h 344"/>
                <a:gd name="T4" fmla="*/ 441 w 441"/>
                <a:gd name="T5" fmla="*/ 4 h 344"/>
                <a:gd name="T6" fmla="*/ 437 w 441"/>
                <a:gd name="T7" fmla="*/ 0 h 344"/>
                <a:gd name="T8" fmla="*/ 4 w 441"/>
                <a:gd name="T9" fmla="*/ 0 h 344"/>
                <a:gd name="T10" fmla="*/ 0 w 441"/>
                <a:gd name="T11" fmla="*/ 4 h 344"/>
                <a:gd name="T12" fmla="*/ 0 w 441"/>
                <a:gd name="T13" fmla="*/ 12 h 344"/>
                <a:gd name="T14" fmla="*/ 4 w 441"/>
                <a:gd name="T15" fmla="*/ 16 h 344"/>
                <a:gd name="T16" fmla="*/ 41 w 441"/>
                <a:gd name="T17" fmla="*/ 16 h 344"/>
                <a:gd name="T18" fmla="*/ 41 w 441"/>
                <a:gd name="T19" fmla="*/ 329 h 344"/>
                <a:gd name="T20" fmla="*/ 4 w 441"/>
                <a:gd name="T21" fmla="*/ 329 h 344"/>
                <a:gd name="T22" fmla="*/ 0 w 441"/>
                <a:gd name="T23" fmla="*/ 333 h 344"/>
                <a:gd name="T24" fmla="*/ 0 w 441"/>
                <a:gd name="T25" fmla="*/ 340 h 344"/>
                <a:gd name="T26" fmla="*/ 4 w 441"/>
                <a:gd name="T27" fmla="*/ 344 h 344"/>
                <a:gd name="T28" fmla="*/ 437 w 441"/>
                <a:gd name="T29" fmla="*/ 344 h 344"/>
                <a:gd name="T30" fmla="*/ 441 w 441"/>
                <a:gd name="T31" fmla="*/ 340 h 344"/>
                <a:gd name="T32" fmla="*/ 441 w 441"/>
                <a:gd name="T33" fmla="*/ 333 h 344"/>
                <a:gd name="T34" fmla="*/ 437 w 441"/>
                <a:gd name="T35" fmla="*/ 329 h 344"/>
                <a:gd name="T36" fmla="*/ 399 w 441"/>
                <a:gd name="T37" fmla="*/ 329 h 344"/>
                <a:gd name="T38" fmla="*/ 399 w 441"/>
                <a:gd name="T39" fmla="*/ 16 h 344"/>
                <a:gd name="T40" fmla="*/ 437 w 441"/>
                <a:gd name="T41" fmla="*/ 16 h 344"/>
                <a:gd name="T42" fmla="*/ 166 w 441"/>
                <a:gd name="T43" fmla="*/ 185 h 344"/>
                <a:gd name="T44" fmla="*/ 237 w 441"/>
                <a:gd name="T45" fmla="*/ 72 h 344"/>
                <a:gd name="T46" fmla="*/ 248 w 441"/>
                <a:gd name="T47" fmla="*/ 53 h 344"/>
                <a:gd name="T48" fmla="*/ 244 w 441"/>
                <a:gd name="T49" fmla="*/ 82 h 344"/>
                <a:gd name="T50" fmla="*/ 231 w 441"/>
                <a:gd name="T51" fmla="*/ 159 h 344"/>
                <a:gd name="T52" fmla="*/ 274 w 441"/>
                <a:gd name="T53" fmla="*/ 159 h 344"/>
                <a:gd name="T54" fmla="*/ 204 w 441"/>
                <a:gd name="T55" fmla="*/ 273 h 344"/>
                <a:gd name="T56" fmla="*/ 192 w 441"/>
                <a:gd name="T57" fmla="*/ 292 h 344"/>
                <a:gd name="T58" fmla="*/ 195 w 441"/>
                <a:gd name="T59" fmla="*/ 273 h 344"/>
                <a:gd name="T60" fmla="*/ 209 w 441"/>
                <a:gd name="T61" fmla="*/ 185 h 344"/>
                <a:gd name="T62" fmla="*/ 166 w 441"/>
                <a:gd name="T63" fmla="*/ 185 h 344"/>
                <a:gd name="T64" fmla="*/ 154 w 441"/>
                <a:gd name="T65" fmla="*/ 239 h 344"/>
                <a:gd name="T66" fmla="*/ 189 w 441"/>
                <a:gd name="T67" fmla="*/ 261 h 344"/>
                <a:gd name="T68" fmla="*/ 187 w 441"/>
                <a:gd name="T69" fmla="*/ 272 h 344"/>
                <a:gd name="T70" fmla="*/ 115 w 441"/>
                <a:gd name="T71" fmla="*/ 172 h 344"/>
                <a:gd name="T72" fmla="*/ 220 w 441"/>
                <a:gd name="T73" fmla="*/ 67 h 344"/>
                <a:gd name="T74" fmla="*/ 230 w 441"/>
                <a:gd name="T75" fmla="*/ 68 h 344"/>
                <a:gd name="T76" fmla="*/ 223 w 441"/>
                <a:gd name="T77" fmla="*/ 78 h 344"/>
                <a:gd name="T78" fmla="*/ 220 w 441"/>
                <a:gd name="T79" fmla="*/ 78 h 344"/>
                <a:gd name="T80" fmla="*/ 154 w 441"/>
                <a:gd name="T81" fmla="*/ 106 h 344"/>
                <a:gd name="T82" fmla="*/ 126 w 441"/>
                <a:gd name="T83" fmla="*/ 172 h 344"/>
                <a:gd name="T84" fmla="*/ 154 w 441"/>
                <a:gd name="T85" fmla="*/ 239 h 344"/>
                <a:gd name="T86" fmla="*/ 217 w 441"/>
                <a:gd name="T87" fmla="*/ 266 h 344"/>
                <a:gd name="T88" fmla="*/ 220 w 441"/>
                <a:gd name="T89" fmla="*/ 266 h 344"/>
                <a:gd name="T90" fmla="*/ 287 w 441"/>
                <a:gd name="T91" fmla="*/ 239 h 344"/>
                <a:gd name="T92" fmla="*/ 314 w 441"/>
                <a:gd name="T93" fmla="*/ 172 h 344"/>
                <a:gd name="T94" fmla="*/ 287 w 441"/>
                <a:gd name="T95" fmla="*/ 106 h 344"/>
                <a:gd name="T96" fmla="*/ 251 w 441"/>
                <a:gd name="T97" fmla="*/ 83 h 344"/>
                <a:gd name="T98" fmla="*/ 253 w 441"/>
                <a:gd name="T99" fmla="*/ 73 h 344"/>
                <a:gd name="T100" fmla="*/ 325 w 441"/>
                <a:gd name="T101" fmla="*/ 172 h 344"/>
                <a:gd name="T102" fmla="*/ 220 w 441"/>
                <a:gd name="T103" fmla="*/ 277 h 344"/>
                <a:gd name="T104" fmla="*/ 210 w 441"/>
                <a:gd name="T105" fmla="*/ 277 h 344"/>
                <a:gd name="T106" fmla="*/ 217 w 441"/>
                <a:gd name="T107" fmla="*/ 266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41" h="344">
                  <a:moveTo>
                    <a:pt x="437" y="16"/>
                  </a:moveTo>
                  <a:cubicBezTo>
                    <a:pt x="439" y="16"/>
                    <a:pt x="441" y="14"/>
                    <a:pt x="441" y="12"/>
                  </a:cubicBezTo>
                  <a:cubicBezTo>
                    <a:pt x="441" y="4"/>
                    <a:pt x="441" y="4"/>
                    <a:pt x="441" y="4"/>
                  </a:cubicBezTo>
                  <a:cubicBezTo>
                    <a:pt x="441" y="2"/>
                    <a:pt x="439" y="0"/>
                    <a:pt x="437" y="0"/>
                  </a:cubicBezTo>
                  <a:cubicBezTo>
                    <a:pt x="4" y="0"/>
                    <a:pt x="4" y="0"/>
                    <a:pt x="4" y="0"/>
                  </a:cubicBezTo>
                  <a:cubicBezTo>
                    <a:pt x="2" y="0"/>
                    <a:pt x="0" y="2"/>
                    <a:pt x="0" y="4"/>
                  </a:cubicBezTo>
                  <a:cubicBezTo>
                    <a:pt x="0" y="12"/>
                    <a:pt x="0" y="12"/>
                    <a:pt x="0" y="12"/>
                  </a:cubicBezTo>
                  <a:cubicBezTo>
                    <a:pt x="0" y="14"/>
                    <a:pt x="2" y="16"/>
                    <a:pt x="4" y="16"/>
                  </a:cubicBezTo>
                  <a:cubicBezTo>
                    <a:pt x="41" y="16"/>
                    <a:pt x="41" y="16"/>
                    <a:pt x="41" y="16"/>
                  </a:cubicBezTo>
                  <a:cubicBezTo>
                    <a:pt x="41" y="329"/>
                    <a:pt x="41" y="329"/>
                    <a:pt x="41" y="329"/>
                  </a:cubicBezTo>
                  <a:cubicBezTo>
                    <a:pt x="4" y="329"/>
                    <a:pt x="4" y="329"/>
                    <a:pt x="4" y="329"/>
                  </a:cubicBezTo>
                  <a:cubicBezTo>
                    <a:pt x="2" y="329"/>
                    <a:pt x="0" y="331"/>
                    <a:pt x="0" y="333"/>
                  </a:cubicBezTo>
                  <a:cubicBezTo>
                    <a:pt x="0" y="340"/>
                    <a:pt x="0" y="340"/>
                    <a:pt x="0" y="340"/>
                  </a:cubicBezTo>
                  <a:cubicBezTo>
                    <a:pt x="0" y="343"/>
                    <a:pt x="2" y="344"/>
                    <a:pt x="4" y="344"/>
                  </a:cubicBezTo>
                  <a:cubicBezTo>
                    <a:pt x="437" y="344"/>
                    <a:pt x="437" y="344"/>
                    <a:pt x="437" y="344"/>
                  </a:cubicBezTo>
                  <a:cubicBezTo>
                    <a:pt x="439" y="344"/>
                    <a:pt x="441" y="343"/>
                    <a:pt x="441" y="340"/>
                  </a:cubicBezTo>
                  <a:cubicBezTo>
                    <a:pt x="441" y="333"/>
                    <a:pt x="441" y="333"/>
                    <a:pt x="441" y="333"/>
                  </a:cubicBezTo>
                  <a:cubicBezTo>
                    <a:pt x="441" y="331"/>
                    <a:pt x="439" y="329"/>
                    <a:pt x="437" y="329"/>
                  </a:cubicBezTo>
                  <a:cubicBezTo>
                    <a:pt x="399" y="329"/>
                    <a:pt x="399" y="329"/>
                    <a:pt x="399" y="329"/>
                  </a:cubicBezTo>
                  <a:cubicBezTo>
                    <a:pt x="399" y="16"/>
                    <a:pt x="399" y="16"/>
                    <a:pt x="399" y="16"/>
                  </a:cubicBezTo>
                  <a:lnTo>
                    <a:pt x="437" y="16"/>
                  </a:lnTo>
                  <a:close/>
                  <a:moveTo>
                    <a:pt x="166" y="185"/>
                  </a:moveTo>
                  <a:cubicBezTo>
                    <a:pt x="237" y="72"/>
                    <a:pt x="237" y="72"/>
                    <a:pt x="237" y="72"/>
                  </a:cubicBezTo>
                  <a:cubicBezTo>
                    <a:pt x="248" y="53"/>
                    <a:pt x="248" y="53"/>
                    <a:pt x="248" y="53"/>
                  </a:cubicBezTo>
                  <a:cubicBezTo>
                    <a:pt x="244" y="82"/>
                    <a:pt x="244" y="82"/>
                    <a:pt x="244" y="82"/>
                  </a:cubicBezTo>
                  <a:cubicBezTo>
                    <a:pt x="231" y="159"/>
                    <a:pt x="231" y="159"/>
                    <a:pt x="231" y="159"/>
                  </a:cubicBezTo>
                  <a:cubicBezTo>
                    <a:pt x="274" y="159"/>
                    <a:pt x="274" y="159"/>
                    <a:pt x="274" y="159"/>
                  </a:cubicBezTo>
                  <a:cubicBezTo>
                    <a:pt x="204" y="273"/>
                    <a:pt x="204" y="273"/>
                    <a:pt x="204" y="273"/>
                  </a:cubicBezTo>
                  <a:cubicBezTo>
                    <a:pt x="192" y="292"/>
                    <a:pt x="192" y="292"/>
                    <a:pt x="192" y="292"/>
                  </a:cubicBezTo>
                  <a:cubicBezTo>
                    <a:pt x="195" y="273"/>
                    <a:pt x="195" y="273"/>
                    <a:pt x="195" y="273"/>
                  </a:cubicBezTo>
                  <a:cubicBezTo>
                    <a:pt x="209" y="185"/>
                    <a:pt x="209" y="185"/>
                    <a:pt x="209" y="185"/>
                  </a:cubicBezTo>
                  <a:lnTo>
                    <a:pt x="166" y="185"/>
                  </a:lnTo>
                  <a:close/>
                  <a:moveTo>
                    <a:pt x="154" y="239"/>
                  </a:moveTo>
                  <a:cubicBezTo>
                    <a:pt x="164" y="249"/>
                    <a:pt x="176" y="256"/>
                    <a:pt x="189" y="261"/>
                  </a:cubicBezTo>
                  <a:cubicBezTo>
                    <a:pt x="187" y="272"/>
                    <a:pt x="187" y="272"/>
                    <a:pt x="187" y="272"/>
                  </a:cubicBezTo>
                  <a:cubicBezTo>
                    <a:pt x="145" y="258"/>
                    <a:pt x="115" y="219"/>
                    <a:pt x="115" y="172"/>
                  </a:cubicBezTo>
                  <a:cubicBezTo>
                    <a:pt x="115" y="114"/>
                    <a:pt x="162" y="67"/>
                    <a:pt x="220" y="67"/>
                  </a:cubicBezTo>
                  <a:cubicBezTo>
                    <a:pt x="223" y="67"/>
                    <a:pt x="227" y="67"/>
                    <a:pt x="230" y="68"/>
                  </a:cubicBezTo>
                  <a:cubicBezTo>
                    <a:pt x="223" y="78"/>
                    <a:pt x="223" y="78"/>
                    <a:pt x="223" y="78"/>
                  </a:cubicBezTo>
                  <a:cubicBezTo>
                    <a:pt x="222" y="78"/>
                    <a:pt x="221" y="78"/>
                    <a:pt x="220" y="78"/>
                  </a:cubicBezTo>
                  <a:cubicBezTo>
                    <a:pt x="194" y="78"/>
                    <a:pt x="171" y="89"/>
                    <a:pt x="154" y="106"/>
                  </a:cubicBezTo>
                  <a:cubicBezTo>
                    <a:pt x="137" y="123"/>
                    <a:pt x="126" y="146"/>
                    <a:pt x="126" y="172"/>
                  </a:cubicBezTo>
                  <a:cubicBezTo>
                    <a:pt x="126" y="198"/>
                    <a:pt x="137" y="222"/>
                    <a:pt x="154" y="239"/>
                  </a:cubicBezTo>
                  <a:close/>
                  <a:moveTo>
                    <a:pt x="217" y="266"/>
                  </a:moveTo>
                  <a:cubicBezTo>
                    <a:pt x="218" y="266"/>
                    <a:pt x="219" y="266"/>
                    <a:pt x="220" y="266"/>
                  </a:cubicBezTo>
                  <a:cubicBezTo>
                    <a:pt x="246" y="266"/>
                    <a:pt x="270" y="256"/>
                    <a:pt x="287" y="239"/>
                  </a:cubicBezTo>
                  <a:cubicBezTo>
                    <a:pt x="304" y="222"/>
                    <a:pt x="314" y="198"/>
                    <a:pt x="314" y="172"/>
                  </a:cubicBezTo>
                  <a:cubicBezTo>
                    <a:pt x="314" y="146"/>
                    <a:pt x="304" y="123"/>
                    <a:pt x="287" y="106"/>
                  </a:cubicBezTo>
                  <a:cubicBezTo>
                    <a:pt x="277" y="96"/>
                    <a:pt x="265" y="88"/>
                    <a:pt x="251" y="83"/>
                  </a:cubicBezTo>
                  <a:cubicBezTo>
                    <a:pt x="253" y="73"/>
                    <a:pt x="253" y="73"/>
                    <a:pt x="253" y="73"/>
                  </a:cubicBezTo>
                  <a:cubicBezTo>
                    <a:pt x="295" y="86"/>
                    <a:pt x="325" y="126"/>
                    <a:pt x="325" y="172"/>
                  </a:cubicBezTo>
                  <a:cubicBezTo>
                    <a:pt x="325" y="230"/>
                    <a:pt x="278" y="277"/>
                    <a:pt x="220" y="277"/>
                  </a:cubicBezTo>
                  <a:cubicBezTo>
                    <a:pt x="217" y="277"/>
                    <a:pt x="214" y="277"/>
                    <a:pt x="210" y="277"/>
                  </a:cubicBezTo>
                  <a:lnTo>
                    <a:pt x="217" y="2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a:endParaRPr>
            </a:p>
          </p:txBody>
        </p:sp>
        <p:sp>
          <p:nvSpPr>
            <p:cNvPr id="361" name="Freeform 97">
              <a:extLst>
                <a:ext uri="{FF2B5EF4-FFF2-40B4-BE49-F238E27FC236}">
                  <a16:creationId xmlns:a16="http://schemas.microsoft.com/office/drawing/2014/main" id="{2F7B38CB-9FCD-4128-B1BC-F241F551F351}"/>
                </a:ext>
              </a:extLst>
            </p:cNvPr>
            <p:cNvSpPr>
              <a:spLocks/>
            </p:cNvSpPr>
            <p:nvPr/>
          </p:nvSpPr>
          <p:spPr bwMode="auto">
            <a:xfrm>
              <a:off x="4483391" y="5292318"/>
              <a:ext cx="157204" cy="309874"/>
            </a:xfrm>
            <a:custGeom>
              <a:avLst/>
              <a:gdLst>
                <a:gd name="T0" fmla="*/ 15 w 104"/>
                <a:gd name="T1" fmla="*/ 209 h 229"/>
                <a:gd name="T2" fmla="*/ 28 w 104"/>
                <a:gd name="T3" fmla="*/ 224 h 229"/>
                <a:gd name="T4" fmla="*/ 33 w 104"/>
                <a:gd name="T5" fmla="*/ 229 h 229"/>
                <a:gd name="T6" fmla="*/ 76 w 104"/>
                <a:gd name="T7" fmla="*/ 224 h 229"/>
                <a:gd name="T8" fmla="*/ 76 w 104"/>
                <a:gd name="T9" fmla="*/ 224 h 229"/>
                <a:gd name="T10" fmla="*/ 101 w 104"/>
                <a:gd name="T11" fmla="*/ 208 h 229"/>
                <a:gd name="T12" fmla="*/ 104 w 104"/>
                <a:gd name="T13" fmla="*/ 201 h 229"/>
                <a:gd name="T14" fmla="*/ 90 w 104"/>
                <a:gd name="T15" fmla="*/ 195 h 229"/>
                <a:gd name="T16" fmla="*/ 76 w 104"/>
                <a:gd name="T17" fmla="*/ 180 h 229"/>
                <a:gd name="T18" fmla="*/ 90 w 104"/>
                <a:gd name="T19" fmla="*/ 165 h 229"/>
                <a:gd name="T20" fmla="*/ 104 w 104"/>
                <a:gd name="T21" fmla="*/ 160 h 229"/>
                <a:gd name="T22" fmla="*/ 101 w 104"/>
                <a:gd name="T23" fmla="*/ 153 h 229"/>
                <a:gd name="T24" fmla="*/ 76 w 104"/>
                <a:gd name="T25" fmla="*/ 137 h 229"/>
                <a:gd name="T26" fmla="*/ 76 w 104"/>
                <a:gd name="T27" fmla="*/ 136 h 229"/>
                <a:gd name="T28" fmla="*/ 101 w 104"/>
                <a:gd name="T29" fmla="*/ 120 h 229"/>
                <a:gd name="T30" fmla="*/ 104 w 104"/>
                <a:gd name="T31" fmla="*/ 113 h 229"/>
                <a:gd name="T32" fmla="*/ 90 w 104"/>
                <a:gd name="T33" fmla="*/ 108 h 229"/>
                <a:gd name="T34" fmla="*/ 76 w 104"/>
                <a:gd name="T35" fmla="*/ 93 h 229"/>
                <a:gd name="T36" fmla="*/ 90 w 104"/>
                <a:gd name="T37" fmla="*/ 77 h 229"/>
                <a:gd name="T38" fmla="*/ 104 w 104"/>
                <a:gd name="T39" fmla="*/ 72 h 229"/>
                <a:gd name="T40" fmla="*/ 101 w 104"/>
                <a:gd name="T41" fmla="*/ 65 h 229"/>
                <a:gd name="T42" fmla="*/ 76 w 104"/>
                <a:gd name="T43" fmla="*/ 49 h 229"/>
                <a:gd name="T44" fmla="*/ 76 w 104"/>
                <a:gd name="T45" fmla="*/ 48 h 229"/>
                <a:gd name="T46" fmla="*/ 101 w 104"/>
                <a:gd name="T47" fmla="*/ 32 h 229"/>
                <a:gd name="T48" fmla="*/ 104 w 104"/>
                <a:gd name="T49" fmla="*/ 25 h 229"/>
                <a:gd name="T50" fmla="*/ 90 w 104"/>
                <a:gd name="T51" fmla="*/ 20 h 229"/>
                <a:gd name="T52" fmla="*/ 76 w 104"/>
                <a:gd name="T53" fmla="*/ 5 h 229"/>
                <a:gd name="T54" fmla="*/ 71 w 104"/>
                <a:gd name="T55" fmla="*/ 0 h 229"/>
                <a:gd name="T56" fmla="*/ 28 w 104"/>
                <a:gd name="T57" fmla="*/ 5 h 229"/>
                <a:gd name="T58" fmla="*/ 28 w 104"/>
                <a:gd name="T59" fmla="*/ 5 h 229"/>
                <a:gd name="T60" fmla="*/ 3 w 104"/>
                <a:gd name="T61" fmla="*/ 21 h 229"/>
                <a:gd name="T62" fmla="*/ 0 w 104"/>
                <a:gd name="T63" fmla="*/ 28 h 229"/>
                <a:gd name="T64" fmla="*/ 15 w 104"/>
                <a:gd name="T65" fmla="*/ 33 h 229"/>
                <a:gd name="T66" fmla="*/ 28 w 104"/>
                <a:gd name="T67" fmla="*/ 49 h 229"/>
                <a:gd name="T68" fmla="*/ 15 w 104"/>
                <a:gd name="T69" fmla="*/ 64 h 229"/>
                <a:gd name="T70" fmla="*/ 0 w 104"/>
                <a:gd name="T71" fmla="*/ 69 h 229"/>
                <a:gd name="T72" fmla="*/ 3 w 104"/>
                <a:gd name="T73" fmla="*/ 76 h 229"/>
                <a:gd name="T74" fmla="*/ 28 w 104"/>
                <a:gd name="T75" fmla="*/ 92 h 229"/>
                <a:gd name="T76" fmla="*/ 28 w 104"/>
                <a:gd name="T77" fmla="*/ 93 h 229"/>
                <a:gd name="T78" fmla="*/ 3 w 104"/>
                <a:gd name="T79" fmla="*/ 109 h 229"/>
                <a:gd name="T80" fmla="*/ 0 w 104"/>
                <a:gd name="T81" fmla="*/ 116 h 229"/>
                <a:gd name="T82" fmla="*/ 15 w 104"/>
                <a:gd name="T83" fmla="*/ 121 h 229"/>
                <a:gd name="T84" fmla="*/ 28 w 104"/>
                <a:gd name="T85" fmla="*/ 136 h 229"/>
                <a:gd name="T86" fmla="*/ 15 w 104"/>
                <a:gd name="T87" fmla="*/ 152 h 229"/>
                <a:gd name="T88" fmla="*/ 0 w 104"/>
                <a:gd name="T89" fmla="*/ 157 h 229"/>
                <a:gd name="T90" fmla="*/ 3 w 104"/>
                <a:gd name="T91" fmla="*/ 164 h 229"/>
                <a:gd name="T92" fmla="*/ 28 w 104"/>
                <a:gd name="T93" fmla="*/ 180 h 229"/>
                <a:gd name="T94" fmla="*/ 28 w 104"/>
                <a:gd name="T95" fmla="*/ 180 h 229"/>
                <a:gd name="T96" fmla="*/ 3 w 104"/>
                <a:gd name="T97" fmla="*/ 197 h 229"/>
                <a:gd name="T98" fmla="*/ 0 w 104"/>
                <a:gd name="T99" fmla="*/ 204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4" h="229">
                  <a:moveTo>
                    <a:pt x="3" y="208"/>
                  </a:moveTo>
                  <a:cubicBezTo>
                    <a:pt x="15" y="209"/>
                    <a:pt x="15" y="209"/>
                    <a:pt x="15" y="209"/>
                  </a:cubicBezTo>
                  <a:cubicBezTo>
                    <a:pt x="22" y="210"/>
                    <a:pt x="28" y="216"/>
                    <a:pt x="28" y="224"/>
                  </a:cubicBezTo>
                  <a:cubicBezTo>
                    <a:pt x="28" y="224"/>
                    <a:pt x="28" y="224"/>
                    <a:pt x="28" y="224"/>
                  </a:cubicBezTo>
                  <a:cubicBezTo>
                    <a:pt x="28" y="224"/>
                    <a:pt x="28" y="224"/>
                    <a:pt x="28" y="224"/>
                  </a:cubicBezTo>
                  <a:cubicBezTo>
                    <a:pt x="28" y="227"/>
                    <a:pt x="30" y="229"/>
                    <a:pt x="33" y="229"/>
                  </a:cubicBezTo>
                  <a:cubicBezTo>
                    <a:pt x="71" y="229"/>
                    <a:pt x="71" y="229"/>
                    <a:pt x="71" y="229"/>
                  </a:cubicBezTo>
                  <a:cubicBezTo>
                    <a:pt x="74" y="229"/>
                    <a:pt x="76" y="227"/>
                    <a:pt x="76" y="224"/>
                  </a:cubicBezTo>
                  <a:cubicBezTo>
                    <a:pt x="76" y="224"/>
                    <a:pt x="76" y="224"/>
                    <a:pt x="76" y="224"/>
                  </a:cubicBezTo>
                  <a:cubicBezTo>
                    <a:pt x="76" y="224"/>
                    <a:pt x="76" y="224"/>
                    <a:pt x="76" y="224"/>
                  </a:cubicBezTo>
                  <a:cubicBezTo>
                    <a:pt x="76" y="216"/>
                    <a:pt x="82" y="210"/>
                    <a:pt x="90" y="209"/>
                  </a:cubicBezTo>
                  <a:cubicBezTo>
                    <a:pt x="101" y="208"/>
                    <a:pt x="101" y="208"/>
                    <a:pt x="101" y="208"/>
                  </a:cubicBezTo>
                  <a:cubicBezTo>
                    <a:pt x="103" y="208"/>
                    <a:pt x="104" y="206"/>
                    <a:pt x="104" y="204"/>
                  </a:cubicBezTo>
                  <a:cubicBezTo>
                    <a:pt x="104" y="201"/>
                    <a:pt x="104" y="201"/>
                    <a:pt x="104" y="201"/>
                  </a:cubicBezTo>
                  <a:cubicBezTo>
                    <a:pt x="104" y="199"/>
                    <a:pt x="103" y="197"/>
                    <a:pt x="101" y="197"/>
                  </a:cubicBezTo>
                  <a:cubicBezTo>
                    <a:pt x="90" y="195"/>
                    <a:pt x="90" y="195"/>
                    <a:pt x="90" y="195"/>
                  </a:cubicBezTo>
                  <a:cubicBezTo>
                    <a:pt x="82" y="195"/>
                    <a:pt x="76" y="188"/>
                    <a:pt x="76" y="180"/>
                  </a:cubicBezTo>
                  <a:cubicBezTo>
                    <a:pt x="76" y="180"/>
                    <a:pt x="76" y="180"/>
                    <a:pt x="76" y="180"/>
                  </a:cubicBezTo>
                  <a:cubicBezTo>
                    <a:pt x="76" y="180"/>
                    <a:pt x="76" y="180"/>
                    <a:pt x="76" y="180"/>
                  </a:cubicBezTo>
                  <a:cubicBezTo>
                    <a:pt x="76" y="172"/>
                    <a:pt x="82" y="166"/>
                    <a:pt x="90" y="165"/>
                  </a:cubicBezTo>
                  <a:cubicBezTo>
                    <a:pt x="101" y="164"/>
                    <a:pt x="101" y="164"/>
                    <a:pt x="101" y="164"/>
                  </a:cubicBezTo>
                  <a:cubicBezTo>
                    <a:pt x="103" y="164"/>
                    <a:pt x="104" y="162"/>
                    <a:pt x="104" y="160"/>
                  </a:cubicBezTo>
                  <a:cubicBezTo>
                    <a:pt x="104" y="157"/>
                    <a:pt x="104" y="157"/>
                    <a:pt x="104" y="157"/>
                  </a:cubicBezTo>
                  <a:cubicBezTo>
                    <a:pt x="104" y="155"/>
                    <a:pt x="103" y="153"/>
                    <a:pt x="101" y="153"/>
                  </a:cubicBezTo>
                  <a:cubicBezTo>
                    <a:pt x="90" y="152"/>
                    <a:pt x="90" y="152"/>
                    <a:pt x="90" y="152"/>
                  </a:cubicBezTo>
                  <a:cubicBezTo>
                    <a:pt x="82" y="151"/>
                    <a:pt x="76" y="144"/>
                    <a:pt x="76" y="137"/>
                  </a:cubicBezTo>
                  <a:cubicBezTo>
                    <a:pt x="76" y="136"/>
                    <a:pt x="76" y="136"/>
                    <a:pt x="76" y="136"/>
                  </a:cubicBezTo>
                  <a:cubicBezTo>
                    <a:pt x="76" y="136"/>
                    <a:pt x="76" y="136"/>
                    <a:pt x="76" y="136"/>
                  </a:cubicBezTo>
                  <a:cubicBezTo>
                    <a:pt x="76" y="129"/>
                    <a:pt x="82" y="122"/>
                    <a:pt x="90" y="121"/>
                  </a:cubicBezTo>
                  <a:cubicBezTo>
                    <a:pt x="101" y="120"/>
                    <a:pt x="101" y="120"/>
                    <a:pt x="101" y="120"/>
                  </a:cubicBezTo>
                  <a:cubicBezTo>
                    <a:pt x="103" y="120"/>
                    <a:pt x="104" y="118"/>
                    <a:pt x="104" y="116"/>
                  </a:cubicBezTo>
                  <a:cubicBezTo>
                    <a:pt x="104" y="113"/>
                    <a:pt x="104" y="113"/>
                    <a:pt x="104" y="113"/>
                  </a:cubicBezTo>
                  <a:cubicBezTo>
                    <a:pt x="104" y="111"/>
                    <a:pt x="103" y="109"/>
                    <a:pt x="101" y="109"/>
                  </a:cubicBezTo>
                  <a:cubicBezTo>
                    <a:pt x="90" y="108"/>
                    <a:pt x="90" y="108"/>
                    <a:pt x="90" y="108"/>
                  </a:cubicBezTo>
                  <a:cubicBezTo>
                    <a:pt x="82" y="107"/>
                    <a:pt x="76" y="100"/>
                    <a:pt x="76" y="93"/>
                  </a:cubicBezTo>
                  <a:cubicBezTo>
                    <a:pt x="76" y="93"/>
                    <a:pt x="76" y="93"/>
                    <a:pt x="76" y="93"/>
                  </a:cubicBezTo>
                  <a:cubicBezTo>
                    <a:pt x="76" y="92"/>
                    <a:pt x="76" y="92"/>
                    <a:pt x="76" y="92"/>
                  </a:cubicBezTo>
                  <a:cubicBezTo>
                    <a:pt x="76" y="85"/>
                    <a:pt x="82" y="78"/>
                    <a:pt x="90" y="77"/>
                  </a:cubicBezTo>
                  <a:cubicBezTo>
                    <a:pt x="101" y="76"/>
                    <a:pt x="101" y="76"/>
                    <a:pt x="101" y="76"/>
                  </a:cubicBezTo>
                  <a:cubicBezTo>
                    <a:pt x="103" y="76"/>
                    <a:pt x="104" y="74"/>
                    <a:pt x="104" y="72"/>
                  </a:cubicBezTo>
                  <a:cubicBezTo>
                    <a:pt x="104" y="69"/>
                    <a:pt x="104" y="69"/>
                    <a:pt x="104" y="69"/>
                  </a:cubicBezTo>
                  <a:cubicBezTo>
                    <a:pt x="104" y="67"/>
                    <a:pt x="103" y="65"/>
                    <a:pt x="101" y="65"/>
                  </a:cubicBezTo>
                  <a:cubicBezTo>
                    <a:pt x="90" y="64"/>
                    <a:pt x="90" y="64"/>
                    <a:pt x="90" y="64"/>
                  </a:cubicBezTo>
                  <a:cubicBezTo>
                    <a:pt x="82" y="63"/>
                    <a:pt x="76" y="56"/>
                    <a:pt x="76" y="49"/>
                  </a:cubicBezTo>
                  <a:cubicBezTo>
                    <a:pt x="76" y="49"/>
                    <a:pt x="76" y="49"/>
                    <a:pt x="76" y="49"/>
                  </a:cubicBezTo>
                  <a:cubicBezTo>
                    <a:pt x="76" y="48"/>
                    <a:pt x="76" y="48"/>
                    <a:pt x="76" y="48"/>
                  </a:cubicBezTo>
                  <a:cubicBezTo>
                    <a:pt x="76" y="41"/>
                    <a:pt x="82" y="34"/>
                    <a:pt x="90" y="33"/>
                  </a:cubicBezTo>
                  <a:cubicBezTo>
                    <a:pt x="101" y="32"/>
                    <a:pt x="101" y="32"/>
                    <a:pt x="101" y="32"/>
                  </a:cubicBezTo>
                  <a:cubicBezTo>
                    <a:pt x="103" y="32"/>
                    <a:pt x="104" y="30"/>
                    <a:pt x="104" y="28"/>
                  </a:cubicBezTo>
                  <a:cubicBezTo>
                    <a:pt x="104" y="25"/>
                    <a:pt x="104" y="25"/>
                    <a:pt x="104" y="25"/>
                  </a:cubicBezTo>
                  <a:cubicBezTo>
                    <a:pt x="104" y="23"/>
                    <a:pt x="103" y="21"/>
                    <a:pt x="101" y="21"/>
                  </a:cubicBezTo>
                  <a:cubicBezTo>
                    <a:pt x="90" y="20"/>
                    <a:pt x="90" y="20"/>
                    <a:pt x="90" y="20"/>
                  </a:cubicBezTo>
                  <a:cubicBezTo>
                    <a:pt x="82" y="19"/>
                    <a:pt x="76" y="13"/>
                    <a:pt x="76" y="5"/>
                  </a:cubicBezTo>
                  <a:cubicBezTo>
                    <a:pt x="76" y="5"/>
                    <a:pt x="76" y="5"/>
                    <a:pt x="76" y="5"/>
                  </a:cubicBezTo>
                  <a:cubicBezTo>
                    <a:pt x="76" y="5"/>
                    <a:pt x="76" y="5"/>
                    <a:pt x="76" y="5"/>
                  </a:cubicBezTo>
                  <a:cubicBezTo>
                    <a:pt x="76" y="2"/>
                    <a:pt x="74" y="0"/>
                    <a:pt x="71" y="0"/>
                  </a:cubicBezTo>
                  <a:cubicBezTo>
                    <a:pt x="33" y="0"/>
                    <a:pt x="33" y="0"/>
                    <a:pt x="33" y="0"/>
                  </a:cubicBezTo>
                  <a:cubicBezTo>
                    <a:pt x="30" y="0"/>
                    <a:pt x="28" y="2"/>
                    <a:pt x="28" y="5"/>
                  </a:cubicBezTo>
                  <a:cubicBezTo>
                    <a:pt x="28" y="5"/>
                    <a:pt x="28" y="5"/>
                    <a:pt x="28" y="5"/>
                  </a:cubicBezTo>
                  <a:cubicBezTo>
                    <a:pt x="28" y="5"/>
                    <a:pt x="28" y="5"/>
                    <a:pt x="28" y="5"/>
                  </a:cubicBezTo>
                  <a:cubicBezTo>
                    <a:pt x="28" y="13"/>
                    <a:pt x="22" y="19"/>
                    <a:pt x="15" y="20"/>
                  </a:cubicBezTo>
                  <a:cubicBezTo>
                    <a:pt x="3" y="21"/>
                    <a:pt x="3" y="21"/>
                    <a:pt x="3" y="21"/>
                  </a:cubicBezTo>
                  <a:cubicBezTo>
                    <a:pt x="1" y="21"/>
                    <a:pt x="0" y="23"/>
                    <a:pt x="0" y="25"/>
                  </a:cubicBezTo>
                  <a:cubicBezTo>
                    <a:pt x="0" y="28"/>
                    <a:pt x="0" y="28"/>
                    <a:pt x="0" y="28"/>
                  </a:cubicBezTo>
                  <a:cubicBezTo>
                    <a:pt x="0" y="30"/>
                    <a:pt x="1" y="32"/>
                    <a:pt x="3" y="32"/>
                  </a:cubicBezTo>
                  <a:cubicBezTo>
                    <a:pt x="15" y="33"/>
                    <a:pt x="15" y="33"/>
                    <a:pt x="15" y="33"/>
                  </a:cubicBezTo>
                  <a:cubicBezTo>
                    <a:pt x="22" y="34"/>
                    <a:pt x="28" y="41"/>
                    <a:pt x="28" y="48"/>
                  </a:cubicBezTo>
                  <a:cubicBezTo>
                    <a:pt x="28" y="49"/>
                    <a:pt x="28" y="49"/>
                    <a:pt x="28" y="49"/>
                  </a:cubicBezTo>
                  <a:cubicBezTo>
                    <a:pt x="28" y="49"/>
                    <a:pt x="28" y="49"/>
                    <a:pt x="28" y="49"/>
                  </a:cubicBezTo>
                  <a:cubicBezTo>
                    <a:pt x="28" y="56"/>
                    <a:pt x="22" y="63"/>
                    <a:pt x="15" y="64"/>
                  </a:cubicBezTo>
                  <a:cubicBezTo>
                    <a:pt x="3" y="65"/>
                    <a:pt x="3" y="65"/>
                    <a:pt x="3" y="65"/>
                  </a:cubicBezTo>
                  <a:cubicBezTo>
                    <a:pt x="1" y="65"/>
                    <a:pt x="0" y="67"/>
                    <a:pt x="0" y="69"/>
                  </a:cubicBezTo>
                  <a:cubicBezTo>
                    <a:pt x="0" y="72"/>
                    <a:pt x="0" y="72"/>
                    <a:pt x="0" y="72"/>
                  </a:cubicBezTo>
                  <a:cubicBezTo>
                    <a:pt x="0" y="74"/>
                    <a:pt x="1" y="76"/>
                    <a:pt x="3" y="76"/>
                  </a:cubicBezTo>
                  <a:cubicBezTo>
                    <a:pt x="15" y="77"/>
                    <a:pt x="15" y="77"/>
                    <a:pt x="15" y="77"/>
                  </a:cubicBezTo>
                  <a:cubicBezTo>
                    <a:pt x="22" y="78"/>
                    <a:pt x="28" y="85"/>
                    <a:pt x="28" y="92"/>
                  </a:cubicBezTo>
                  <a:cubicBezTo>
                    <a:pt x="28" y="93"/>
                    <a:pt x="28" y="93"/>
                    <a:pt x="28" y="93"/>
                  </a:cubicBezTo>
                  <a:cubicBezTo>
                    <a:pt x="28" y="93"/>
                    <a:pt x="28" y="93"/>
                    <a:pt x="28" y="93"/>
                  </a:cubicBezTo>
                  <a:cubicBezTo>
                    <a:pt x="28" y="100"/>
                    <a:pt x="22" y="107"/>
                    <a:pt x="15" y="108"/>
                  </a:cubicBezTo>
                  <a:cubicBezTo>
                    <a:pt x="3" y="109"/>
                    <a:pt x="3" y="109"/>
                    <a:pt x="3" y="109"/>
                  </a:cubicBezTo>
                  <a:cubicBezTo>
                    <a:pt x="1" y="109"/>
                    <a:pt x="0" y="111"/>
                    <a:pt x="0" y="113"/>
                  </a:cubicBezTo>
                  <a:cubicBezTo>
                    <a:pt x="0" y="116"/>
                    <a:pt x="0" y="116"/>
                    <a:pt x="0" y="116"/>
                  </a:cubicBezTo>
                  <a:cubicBezTo>
                    <a:pt x="0" y="118"/>
                    <a:pt x="1" y="120"/>
                    <a:pt x="3" y="120"/>
                  </a:cubicBezTo>
                  <a:cubicBezTo>
                    <a:pt x="15" y="121"/>
                    <a:pt x="15" y="121"/>
                    <a:pt x="15" y="121"/>
                  </a:cubicBezTo>
                  <a:cubicBezTo>
                    <a:pt x="22" y="122"/>
                    <a:pt x="28" y="129"/>
                    <a:pt x="28" y="136"/>
                  </a:cubicBezTo>
                  <a:cubicBezTo>
                    <a:pt x="28" y="136"/>
                    <a:pt x="28" y="136"/>
                    <a:pt x="28" y="136"/>
                  </a:cubicBezTo>
                  <a:cubicBezTo>
                    <a:pt x="28" y="137"/>
                    <a:pt x="28" y="137"/>
                    <a:pt x="28" y="137"/>
                  </a:cubicBezTo>
                  <a:cubicBezTo>
                    <a:pt x="28" y="144"/>
                    <a:pt x="22" y="151"/>
                    <a:pt x="15" y="152"/>
                  </a:cubicBezTo>
                  <a:cubicBezTo>
                    <a:pt x="3" y="153"/>
                    <a:pt x="3" y="153"/>
                    <a:pt x="3" y="153"/>
                  </a:cubicBezTo>
                  <a:cubicBezTo>
                    <a:pt x="1" y="153"/>
                    <a:pt x="0" y="155"/>
                    <a:pt x="0" y="157"/>
                  </a:cubicBezTo>
                  <a:cubicBezTo>
                    <a:pt x="0" y="160"/>
                    <a:pt x="0" y="160"/>
                    <a:pt x="0" y="160"/>
                  </a:cubicBezTo>
                  <a:cubicBezTo>
                    <a:pt x="0" y="162"/>
                    <a:pt x="1" y="164"/>
                    <a:pt x="3" y="164"/>
                  </a:cubicBezTo>
                  <a:cubicBezTo>
                    <a:pt x="15" y="165"/>
                    <a:pt x="15" y="165"/>
                    <a:pt x="15" y="165"/>
                  </a:cubicBezTo>
                  <a:cubicBezTo>
                    <a:pt x="22" y="166"/>
                    <a:pt x="28" y="172"/>
                    <a:pt x="28" y="180"/>
                  </a:cubicBezTo>
                  <a:cubicBezTo>
                    <a:pt x="28" y="180"/>
                    <a:pt x="28" y="180"/>
                    <a:pt x="28" y="180"/>
                  </a:cubicBezTo>
                  <a:cubicBezTo>
                    <a:pt x="28" y="180"/>
                    <a:pt x="28" y="180"/>
                    <a:pt x="28" y="180"/>
                  </a:cubicBezTo>
                  <a:cubicBezTo>
                    <a:pt x="28" y="188"/>
                    <a:pt x="22" y="195"/>
                    <a:pt x="15" y="195"/>
                  </a:cubicBezTo>
                  <a:cubicBezTo>
                    <a:pt x="3" y="197"/>
                    <a:pt x="3" y="197"/>
                    <a:pt x="3" y="197"/>
                  </a:cubicBezTo>
                  <a:cubicBezTo>
                    <a:pt x="1" y="197"/>
                    <a:pt x="0" y="199"/>
                    <a:pt x="0" y="201"/>
                  </a:cubicBezTo>
                  <a:cubicBezTo>
                    <a:pt x="0" y="204"/>
                    <a:pt x="0" y="204"/>
                    <a:pt x="0" y="204"/>
                  </a:cubicBezTo>
                  <a:cubicBezTo>
                    <a:pt x="0" y="206"/>
                    <a:pt x="1" y="208"/>
                    <a:pt x="3" y="2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362" name="Freeform 98">
              <a:extLst>
                <a:ext uri="{FF2B5EF4-FFF2-40B4-BE49-F238E27FC236}">
                  <a16:creationId xmlns:a16="http://schemas.microsoft.com/office/drawing/2014/main" id="{12613BAA-234D-4E34-933E-410FD956AF97}"/>
                </a:ext>
              </a:extLst>
            </p:cNvPr>
            <p:cNvSpPr>
              <a:spLocks/>
            </p:cNvSpPr>
            <p:nvPr/>
          </p:nvSpPr>
          <p:spPr bwMode="auto">
            <a:xfrm>
              <a:off x="4546970" y="5232607"/>
              <a:ext cx="30047" cy="21855"/>
            </a:xfrm>
            <a:custGeom>
              <a:avLst/>
              <a:gdLst>
                <a:gd name="T0" fmla="*/ 20 w 20"/>
                <a:gd name="T1" fmla="*/ 13 h 16"/>
                <a:gd name="T2" fmla="*/ 20 w 20"/>
                <a:gd name="T3" fmla="*/ 8 h 16"/>
                <a:gd name="T4" fmla="*/ 20 w 20"/>
                <a:gd name="T5" fmla="*/ 2 h 16"/>
                <a:gd name="T6" fmla="*/ 10 w 20"/>
                <a:gd name="T7" fmla="*/ 0 h 16"/>
                <a:gd name="T8" fmla="*/ 0 w 20"/>
                <a:gd name="T9" fmla="*/ 2 h 16"/>
                <a:gd name="T10" fmla="*/ 0 w 20"/>
                <a:gd name="T11" fmla="*/ 8 h 16"/>
                <a:gd name="T12" fmla="*/ 0 w 20"/>
                <a:gd name="T13" fmla="*/ 13 h 16"/>
                <a:gd name="T14" fmla="*/ 10 w 20"/>
                <a:gd name="T15" fmla="*/ 15 h 16"/>
                <a:gd name="T16" fmla="*/ 20 w 20"/>
                <a:gd name="T17" fmla="*/ 1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16">
                  <a:moveTo>
                    <a:pt x="20" y="13"/>
                  </a:moveTo>
                  <a:cubicBezTo>
                    <a:pt x="20" y="8"/>
                    <a:pt x="20" y="8"/>
                    <a:pt x="20" y="8"/>
                  </a:cubicBezTo>
                  <a:cubicBezTo>
                    <a:pt x="20" y="2"/>
                    <a:pt x="20" y="2"/>
                    <a:pt x="20" y="2"/>
                  </a:cubicBezTo>
                  <a:cubicBezTo>
                    <a:pt x="16" y="0"/>
                    <a:pt x="13" y="0"/>
                    <a:pt x="10" y="0"/>
                  </a:cubicBezTo>
                  <a:cubicBezTo>
                    <a:pt x="7" y="0"/>
                    <a:pt x="4" y="0"/>
                    <a:pt x="0" y="2"/>
                  </a:cubicBezTo>
                  <a:cubicBezTo>
                    <a:pt x="0" y="8"/>
                    <a:pt x="0" y="8"/>
                    <a:pt x="0" y="8"/>
                  </a:cubicBezTo>
                  <a:cubicBezTo>
                    <a:pt x="0" y="13"/>
                    <a:pt x="0" y="13"/>
                    <a:pt x="0" y="13"/>
                  </a:cubicBezTo>
                  <a:cubicBezTo>
                    <a:pt x="4" y="15"/>
                    <a:pt x="7" y="16"/>
                    <a:pt x="10" y="15"/>
                  </a:cubicBezTo>
                  <a:cubicBezTo>
                    <a:pt x="13" y="16"/>
                    <a:pt x="16" y="15"/>
                    <a:pt x="2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363" name="Freeform 99">
              <a:extLst>
                <a:ext uri="{FF2B5EF4-FFF2-40B4-BE49-F238E27FC236}">
                  <a16:creationId xmlns:a16="http://schemas.microsoft.com/office/drawing/2014/main" id="{31E6A1B1-C34B-4AC0-9BF8-1EA3D16F833B}"/>
                </a:ext>
              </a:extLst>
            </p:cNvPr>
            <p:cNvSpPr>
              <a:spLocks noEditPoints="1"/>
            </p:cNvSpPr>
            <p:nvPr/>
          </p:nvSpPr>
          <p:spPr bwMode="auto">
            <a:xfrm>
              <a:off x="4531728" y="5227143"/>
              <a:ext cx="60530" cy="31222"/>
            </a:xfrm>
            <a:custGeom>
              <a:avLst/>
              <a:gdLst>
                <a:gd name="T0" fmla="*/ 5 w 40"/>
                <a:gd name="T1" fmla="*/ 23 h 23"/>
                <a:gd name="T2" fmla="*/ 35 w 40"/>
                <a:gd name="T3" fmla="*/ 23 h 23"/>
                <a:gd name="T4" fmla="*/ 40 w 40"/>
                <a:gd name="T5" fmla="*/ 18 h 23"/>
                <a:gd name="T6" fmla="*/ 40 w 40"/>
                <a:gd name="T7" fmla="*/ 5 h 23"/>
                <a:gd name="T8" fmla="*/ 35 w 40"/>
                <a:gd name="T9" fmla="*/ 0 h 23"/>
                <a:gd name="T10" fmla="*/ 5 w 40"/>
                <a:gd name="T11" fmla="*/ 0 h 23"/>
                <a:gd name="T12" fmla="*/ 0 w 40"/>
                <a:gd name="T13" fmla="*/ 5 h 23"/>
                <a:gd name="T14" fmla="*/ 0 w 40"/>
                <a:gd name="T15" fmla="*/ 18 h 23"/>
                <a:gd name="T16" fmla="*/ 5 w 40"/>
                <a:gd name="T17" fmla="*/ 23 h 23"/>
                <a:gd name="T18" fmla="*/ 5 w 40"/>
                <a:gd name="T19" fmla="*/ 1 h 23"/>
                <a:gd name="T20" fmla="*/ 7 w 40"/>
                <a:gd name="T21" fmla="*/ 1 h 23"/>
                <a:gd name="T22" fmla="*/ 10 w 40"/>
                <a:gd name="T23" fmla="*/ 5 h 23"/>
                <a:gd name="T24" fmla="*/ 20 w 40"/>
                <a:gd name="T25" fmla="*/ 3 h 23"/>
                <a:gd name="T26" fmla="*/ 30 w 40"/>
                <a:gd name="T27" fmla="*/ 5 h 23"/>
                <a:gd name="T28" fmla="*/ 33 w 40"/>
                <a:gd name="T29" fmla="*/ 1 h 23"/>
                <a:gd name="T30" fmla="*/ 35 w 40"/>
                <a:gd name="T31" fmla="*/ 1 h 23"/>
                <a:gd name="T32" fmla="*/ 31 w 40"/>
                <a:gd name="T33" fmla="*/ 6 h 23"/>
                <a:gd name="T34" fmla="*/ 31 w 40"/>
                <a:gd name="T35" fmla="*/ 12 h 23"/>
                <a:gd name="T36" fmla="*/ 31 w 40"/>
                <a:gd name="T37" fmla="*/ 17 h 23"/>
                <a:gd name="T38" fmla="*/ 35 w 40"/>
                <a:gd name="T39" fmla="*/ 22 h 23"/>
                <a:gd name="T40" fmla="*/ 33 w 40"/>
                <a:gd name="T41" fmla="*/ 22 h 23"/>
                <a:gd name="T42" fmla="*/ 30 w 40"/>
                <a:gd name="T43" fmla="*/ 18 h 23"/>
                <a:gd name="T44" fmla="*/ 20 w 40"/>
                <a:gd name="T45" fmla="*/ 21 h 23"/>
                <a:gd name="T46" fmla="*/ 10 w 40"/>
                <a:gd name="T47" fmla="*/ 18 h 23"/>
                <a:gd name="T48" fmla="*/ 7 w 40"/>
                <a:gd name="T49" fmla="*/ 22 h 23"/>
                <a:gd name="T50" fmla="*/ 5 w 40"/>
                <a:gd name="T51" fmla="*/ 22 h 23"/>
                <a:gd name="T52" fmla="*/ 9 w 40"/>
                <a:gd name="T53" fmla="*/ 17 h 23"/>
                <a:gd name="T54" fmla="*/ 9 w 40"/>
                <a:gd name="T55" fmla="*/ 12 h 23"/>
                <a:gd name="T56" fmla="*/ 9 w 40"/>
                <a:gd name="T57" fmla="*/ 6 h 23"/>
                <a:gd name="T58" fmla="*/ 5 w 40"/>
                <a:gd name="T59"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0" h="23">
                  <a:moveTo>
                    <a:pt x="5" y="23"/>
                  </a:moveTo>
                  <a:cubicBezTo>
                    <a:pt x="35" y="23"/>
                    <a:pt x="35" y="23"/>
                    <a:pt x="35" y="23"/>
                  </a:cubicBezTo>
                  <a:cubicBezTo>
                    <a:pt x="38" y="23"/>
                    <a:pt x="40" y="21"/>
                    <a:pt x="40" y="18"/>
                  </a:cubicBezTo>
                  <a:cubicBezTo>
                    <a:pt x="40" y="5"/>
                    <a:pt x="40" y="5"/>
                    <a:pt x="40" y="5"/>
                  </a:cubicBezTo>
                  <a:cubicBezTo>
                    <a:pt x="40" y="2"/>
                    <a:pt x="38" y="0"/>
                    <a:pt x="35" y="0"/>
                  </a:cubicBezTo>
                  <a:cubicBezTo>
                    <a:pt x="5" y="0"/>
                    <a:pt x="5" y="0"/>
                    <a:pt x="5" y="0"/>
                  </a:cubicBezTo>
                  <a:cubicBezTo>
                    <a:pt x="2" y="0"/>
                    <a:pt x="0" y="2"/>
                    <a:pt x="0" y="5"/>
                  </a:cubicBezTo>
                  <a:cubicBezTo>
                    <a:pt x="0" y="18"/>
                    <a:pt x="0" y="18"/>
                    <a:pt x="0" y="18"/>
                  </a:cubicBezTo>
                  <a:cubicBezTo>
                    <a:pt x="0" y="21"/>
                    <a:pt x="2" y="23"/>
                    <a:pt x="5" y="23"/>
                  </a:cubicBezTo>
                  <a:close/>
                  <a:moveTo>
                    <a:pt x="5" y="1"/>
                  </a:moveTo>
                  <a:cubicBezTo>
                    <a:pt x="7" y="1"/>
                    <a:pt x="7" y="1"/>
                    <a:pt x="7" y="1"/>
                  </a:cubicBezTo>
                  <a:cubicBezTo>
                    <a:pt x="8" y="2"/>
                    <a:pt x="9" y="4"/>
                    <a:pt x="10" y="5"/>
                  </a:cubicBezTo>
                  <a:cubicBezTo>
                    <a:pt x="14" y="3"/>
                    <a:pt x="17" y="2"/>
                    <a:pt x="20" y="3"/>
                  </a:cubicBezTo>
                  <a:cubicBezTo>
                    <a:pt x="23" y="2"/>
                    <a:pt x="26" y="3"/>
                    <a:pt x="30" y="5"/>
                  </a:cubicBezTo>
                  <a:cubicBezTo>
                    <a:pt x="31" y="4"/>
                    <a:pt x="32" y="2"/>
                    <a:pt x="33" y="1"/>
                  </a:cubicBezTo>
                  <a:cubicBezTo>
                    <a:pt x="35" y="1"/>
                    <a:pt x="35" y="1"/>
                    <a:pt x="35" y="1"/>
                  </a:cubicBezTo>
                  <a:cubicBezTo>
                    <a:pt x="33" y="2"/>
                    <a:pt x="32" y="4"/>
                    <a:pt x="31" y="6"/>
                  </a:cubicBezTo>
                  <a:cubicBezTo>
                    <a:pt x="31" y="12"/>
                    <a:pt x="31" y="12"/>
                    <a:pt x="31" y="12"/>
                  </a:cubicBezTo>
                  <a:cubicBezTo>
                    <a:pt x="31" y="17"/>
                    <a:pt x="31" y="17"/>
                    <a:pt x="31" y="17"/>
                  </a:cubicBezTo>
                  <a:cubicBezTo>
                    <a:pt x="32" y="19"/>
                    <a:pt x="33" y="21"/>
                    <a:pt x="35" y="22"/>
                  </a:cubicBezTo>
                  <a:cubicBezTo>
                    <a:pt x="33" y="22"/>
                    <a:pt x="33" y="22"/>
                    <a:pt x="33" y="22"/>
                  </a:cubicBezTo>
                  <a:cubicBezTo>
                    <a:pt x="32" y="21"/>
                    <a:pt x="31" y="19"/>
                    <a:pt x="30" y="18"/>
                  </a:cubicBezTo>
                  <a:cubicBezTo>
                    <a:pt x="26" y="20"/>
                    <a:pt x="23" y="21"/>
                    <a:pt x="20" y="21"/>
                  </a:cubicBezTo>
                  <a:cubicBezTo>
                    <a:pt x="17" y="21"/>
                    <a:pt x="14" y="20"/>
                    <a:pt x="10" y="18"/>
                  </a:cubicBezTo>
                  <a:cubicBezTo>
                    <a:pt x="9" y="19"/>
                    <a:pt x="8" y="21"/>
                    <a:pt x="7" y="22"/>
                  </a:cubicBezTo>
                  <a:cubicBezTo>
                    <a:pt x="5" y="22"/>
                    <a:pt x="5" y="22"/>
                    <a:pt x="5" y="22"/>
                  </a:cubicBezTo>
                  <a:cubicBezTo>
                    <a:pt x="7" y="21"/>
                    <a:pt x="8" y="19"/>
                    <a:pt x="9" y="17"/>
                  </a:cubicBezTo>
                  <a:cubicBezTo>
                    <a:pt x="9" y="12"/>
                    <a:pt x="9" y="12"/>
                    <a:pt x="9" y="12"/>
                  </a:cubicBezTo>
                  <a:cubicBezTo>
                    <a:pt x="9" y="6"/>
                    <a:pt x="9" y="6"/>
                    <a:pt x="9" y="6"/>
                  </a:cubicBezTo>
                  <a:cubicBezTo>
                    <a:pt x="8" y="4"/>
                    <a:pt x="7" y="2"/>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364" name="Freeform 100">
              <a:extLst>
                <a:ext uri="{FF2B5EF4-FFF2-40B4-BE49-F238E27FC236}">
                  <a16:creationId xmlns:a16="http://schemas.microsoft.com/office/drawing/2014/main" id="{60DDB85F-4795-4963-B7E7-7569AA7040DC}"/>
                </a:ext>
              </a:extLst>
            </p:cNvPr>
            <p:cNvSpPr>
              <a:spLocks/>
            </p:cNvSpPr>
            <p:nvPr/>
          </p:nvSpPr>
          <p:spPr bwMode="auto">
            <a:xfrm>
              <a:off x="4546970" y="5189287"/>
              <a:ext cx="30047" cy="21855"/>
            </a:xfrm>
            <a:custGeom>
              <a:avLst/>
              <a:gdLst>
                <a:gd name="T0" fmla="*/ 20 w 20"/>
                <a:gd name="T1" fmla="*/ 13 h 16"/>
                <a:gd name="T2" fmla="*/ 20 w 20"/>
                <a:gd name="T3" fmla="*/ 8 h 16"/>
                <a:gd name="T4" fmla="*/ 20 w 20"/>
                <a:gd name="T5" fmla="*/ 3 h 16"/>
                <a:gd name="T6" fmla="*/ 10 w 20"/>
                <a:gd name="T7" fmla="*/ 0 h 16"/>
                <a:gd name="T8" fmla="*/ 0 w 20"/>
                <a:gd name="T9" fmla="*/ 3 h 16"/>
                <a:gd name="T10" fmla="*/ 0 w 20"/>
                <a:gd name="T11" fmla="*/ 8 h 16"/>
                <a:gd name="T12" fmla="*/ 0 w 20"/>
                <a:gd name="T13" fmla="*/ 13 h 16"/>
                <a:gd name="T14" fmla="*/ 10 w 20"/>
                <a:gd name="T15" fmla="*/ 16 h 16"/>
                <a:gd name="T16" fmla="*/ 20 w 20"/>
                <a:gd name="T17" fmla="*/ 1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16">
                  <a:moveTo>
                    <a:pt x="20" y="13"/>
                  </a:moveTo>
                  <a:cubicBezTo>
                    <a:pt x="20" y="8"/>
                    <a:pt x="20" y="8"/>
                    <a:pt x="20" y="8"/>
                  </a:cubicBezTo>
                  <a:cubicBezTo>
                    <a:pt x="20" y="3"/>
                    <a:pt x="20" y="3"/>
                    <a:pt x="20" y="3"/>
                  </a:cubicBezTo>
                  <a:cubicBezTo>
                    <a:pt x="16" y="1"/>
                    <a:pt x="13" y="0"/>
                    <a:pt x="10" y="0"/>
                  </a:cubicBezTo>
                  <a:cubicBezTo>
                    <a:pt x="7" y="0"/>
                    <a:pt x="4" y="1"/>
                    <a:pt x="0" y="3"/>
                  </a:cubicBezTo>
                  <a:cubicBezTo>
                    <a:pt x="0" y="8"/>
                    <a:pt x="0" y="8"/>
                    <a:pt x="0" y="8"/>
                  </a:cubicBezTo>
                  <a:cubicBezTo>
                    <a:pt x="0" y="13"/>
                    <a:pt x="0" y="13"/>
                    <a:pt x="0" y="13"/>
                  </a:cubicBezTo>
                  <a:cubicBezTo>
                    <a:pt x="4" y="15"/>
                    <a:pt x="7" y="16"/>
                    <a:pt x="10" y="16"/>
                  </a:cubicBezTo>
                  <a:cubicBezTo>
                    <a:pt x="13" y="16"/>
                    <a:pt x="16" y="15"/>
                    <a:pt x="2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365" name="Freeform 101">
              <a:extLst>
                <a:ext uri="{FF2B5EF4-FFF2-40B4-BE49-F238E27FC236}">
                  <a16:creationId xmlns:a16="http://schemas.microsoft.com/office/drawing/2014/main" id="{9C37497B-F734-4DDF-B10D-B9A7879D325C}"/>
                </a:ext>
              </a:extLst>
            </p:cNvPr>
            <p:cNvSpPr>
              <a:spLocks/>
            </p:cNvSpPr>
            <p:nvPr/>
          </p:nvSpPr>
          <p:spPr bwMode="auto">
            <a:xfrm>
              <a:off x="4550018" y="5154163"/>
              <a:ext cx="23951" cy="19123"/>
            </a:xfrm>
            <a:custGeom>
              <a:avLst/>
              <a:gdLst>
                <a:gd name="T0" fmla="*/ 16 w 16"/>
                <a:gd name="T1" fmla="*/ 3 h 14"/>
                <a:gd name="T2" fmla="*/ 13 w 16"/>
                <a:gd name="T3" fmla="*/ 0 h 14"/>
                <a:gd name="T4" fmla="*/ 3 w 16"/>
                <a:gd name="T5" fmla="*/ 0 h 14"/>
                <a:gd name="T6" fmla="*/ 0 w 16"/>
                <a:gd name="T7" fmla="*/ 3 h 14"/>
                <a:gd name="T8" fmla="*/ 0 w 16"/>
                <a:gd name="T9" fmla="*/ 14 h 14"/>
                <a:gd name="T10" fmla="*/ 16 w 16"/>
                <a:gd name="T11" fmla="*/ 14 h 14"/>
                <a:gd name="T12" fmla="*/ 16 w 16"/>
                <a:gd name="T13" fmla="*/ 3 h 14"/>
              </a:gdLst>
              <a:ahLst/>
              <a:cxnLst>
                <a:cxn ang="0">
                  <a:pos x="T0" y="T1"/>
                </a:cxn>
                <a:cxn ang="0">
                  <a:pos x="T2" y="T3"/>
                </a:cxn>
                <a:cxn ang="0">
                  <a:pos x="T4" y="T5"/>
                </a:cxn>
                <a:cxn ang="0">
                  <a:pos x="T6" y="T7"/>
                </a:cxn>
                <a:cxn ang="0">
                  <a:pos x="T8" y="T9"/>
                </a:cxn>
                <a:cxn ang="0">
                  <a:pos x="T10" y="T11"/>
                </a:cxn>
                <a:cxn ang="0">
                  <a:pos x="T12" y="T13"/>
                </a:cxn>
              </a:cxnLst>
              <a:rect l="0" t="0" r="r" b="b"/>
              <a:pathLst>
                <a:path w="16" h="14">
                  <a:moveTo>
                    <a:pt x="16" y="3"/>
                  </a:moveTo>
                  <a:cubicBezTo>
                    <a:pt x="16" y="1"/>
                    <a:pt x="15" y="0"/>
                    <a:pt x="13" y="0"/>
                  </a:cubicBezTo>
                  <a:cubicBezTo>
                    <a:pt x="3" y="0"/>
                    <a:pt x="3" y="0"/>
                    <a:pt x="3" y="0"/>
                  </a:cubicBezTo>
                  <a:cubicBezTo>
                    <a:pt x="2" y="0"/>
                    <a:pt x="0" y="1"/>
                    <a:pt x="0" y="3"/>
                  </a:cubicBezTo>
                  <a:cubicBezTo>
                    <a:pt x="0" y="14"/>
                    <a:pt x="0" y="14"/>
                    <a:pt x="0" y="14"/>
                  </a:cubicBezTo>
                  <a:cubicBezTo>
                    <a:pt x="16" y="14"/>
                    <a:pt x="16" y="14"/>
                    <a:pt x="16" y="14"/>
                  </a:cubicBezTo>
                  <a:lnTo>
                    <a:pt x="16"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366" name="Rectangle 102">
              <a:extLst>
                <a:ext uri="{FF2B5EF4-FFF2-40B4-BE49-F238E27FC236}">
                  <a16:creationId xmlns:a16="http://schemas.microsoft.com/office/drawing/2014/main" id="{90B9DAD1-B44D-467A-A530-AE4E0AAB380E}"/>
                </a:ext>
              </a:extLst>
            </p:cNvPr>
            <p:cNvSpPr>
              <a:spLocks noChangeArrowheads="1"/>
            </p:cNvSpPr>
            <p:nvPr/>
          </p:nvSpPr>
          <p:spPr bwMode="auto">
            <a:xfrm>
              <a:off x="4550018" y="5269292"/>
              <a:ext cx="23951" cy="1209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367" name="Freeform 103">
              <a:extLst>
                <a:ext uri="{FF2B5EF4-FFF2-40B4-BE49-F238E27FC236}">
                  <a16:creationId xmlns:a16="http://schemas.microsoft.com/office/drawing/2014/main" id="{0ACE902C-EA17-475F-8EF0-2D28B3144626}"/>
                </a:ext>
              </a:extLst>
            </p:cNvPr>
            <p:cNvSpPr>
              <a:spLocks noEditPoints="1"/>
            </p:cNvSpPr>
            <p:nvPr/>
          </p:nvSpPr>
          <p:spPr bwMode="auto">
            <a:xfrm>
              <a:off x="4531728" y="5183823"/>
              <a:ext cx="60530" cy="32783"/>
            </a:xfrm>
            <a:custGeom>
              <a:avLst/>
              <a:gdLst>
                <a:gd name="T0" fmla="*/ 5 w 40"/>
                <a:gd name="T1" fmla="*/ 24 h 24"/>
                <a:gd name="T2" fmla="*/ 35 w 40"/>
                <a:gd name="T3" fmla="*/ 24 h 24"/>
                <a:gd name="T4" fmla="*/ 40 w 40"/>
                <a:gd name="T5" fmla="*/ 18 h 24"/>
                <a:gd name="T6" fmla="*/ 40 w 40"/>
                <a:gd name="T7" fmla="*/ 6 h 24"/>
                <a:gd name="T8" fmla="*/ 35 w 40"/>
                <a:gd name="T9" fmla="*/ 0 h 24"/>
                <a:gd name="T10" fmla="*/ 5 w 40"/>
                <a:gd name="T11" fmla="*/ 0 h 24"/>
                <a:gd name="T12" fmla="*/ 0 w 40"/>
                <a:gd name="T13" fmla="*/ 6 h 24"/>
                <a:gd name="T14" fmla="*/ 0 w 40"/>
                <a:gd name="T15" fmla="*/ 18 h 24"/>
                <a:gd name="T16" fmla="*/ 5 w 40"/>
                <a:gd name="T17" fmla="*/ 24 h 24"/>
                <a:gd name="T18" fmla="*/ 5 w 40"/>
                <a:gd name="T19" fmla="*/ 2 h 24"/>
                <a:gd name="T20" fmla="*/ 7 w 40"/>
                <a:gd name="T21" fmla="*/ 2 h 24"/>
                <a:gd name="T22" fmla="*/ 10 w 40"/>
                <a:gd name="T23" fmla="*/ 6 h 24"/>
                <a:gd name="T24" fmla="*/ 20 w 40"/>
                <a:gd name="T25" fmla="*/ 3 h 24"/>
                <a:gd name="T26" fmla="*/ 30 w 40"/>
                <a:gd name="T27" fmla="*/ 6 h 24"/>
                <a:gd name="T28" fmla="*/ 33 w 40"/>
                <a:gd name="T29" fmla="*/ 2 h 24"/>
                <a:gd name="T30" fmla="*/ 35 w 40"/>
                <a:gd name="T31" fmla="*/ 2 h 24"/>
                <a:gd name="T32" fmla="*/ 31 w 40"/>
                <a:gd name="T33" fmla="*/ 7 h 24"/>
                <a:gd name="T34" fmla="*/ 31 w 40"/>
                <a:gd name="T35" fmla="*/ 12 h 24"/>
                <a:gd name="T36" fmla="*/ 31 w 40"/>
                <a:gd name="T37" fmla="*/ 18 h 24"/>
                <a:gd name="T38" fmla="*/ 35 w 40"/>
                <a:gd name="T39" fmla="*/ 23 h 24"/>
                <a:gd name="T40" fmla="*/ 33 w 40"/>
                <a:gd name="T41" fmla="*/ 23 h 24"/>
                <a:gd name="T42" fmla="*/ 30 w 40"/>
                <a:gd name="T43" fmla="*/ 18 h 24"/>
                <a:gd name="T44" fmla="*/ 20 w 40"/>
                <a:gd name="T45" fmla="*/ 21 h 24"/>
                <a:gd name="T46" fmla="*/ 10 w 40"/>
                <a:gd name="T47" fmla="*/ 18 h 24"/>
                <a:gd name="T48" fmla="*/ 7 w 40"/>
                <a:gd name="T49" fmla="*/ 23 h 24"/>
                <a:gd name="T50" fmla="*/ 5 w 40"/>
                <a:gd name="T51" fmla="*/ 23 h 24"/>
                <a:gd name="T52" fmla="*/ 9 w 40"/>
                <a:gd name="T53" fmla="*/ 18 h 24"/>
                <a:gd name="T54" fmla="*/ 9 w 40"/>
                <a:gd name="T55" fmla="*/ 12 h 24"/>
                <a:gd name="T56" fmla="*/ 9 w 40"/>
                <a:gd name="T57" fmla="*/ 7 h 24"/>
                <a:gd name="T58" fmla="*/ 5 w 40"/>
                <a:gd name="T59" fmla="*/ 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0" h="24">
                  <a:moveTo>
                    <a:pt x="5" y="24"/>
                  </a:moveTo>
                  <a:cubicBezTo>
                    <a:pt x="35" y="24"/>
                    <a:pt x="35" y="24"/>
                    <a:pt x="35" y="24"/>
                  </a:cubicBezTo>
                  <a:cubicBezTo>
                    <a:pt x="38" y="24"/>
                    <a:pt x="40" y="21"/>
                    <a:pt x="40" y="18"/>
                  </a:cubicBezTo>
                  <a:cubicBezTo>
                    <a:pt x="40" y="6"/>
                    <a:pt x="40" y="6"/>
                    <a:pt x="40" y="6"/>
                  </a:cubicBezTo>
                  <a:cubicBezTo>
                    <a:pt x="40" y="3"/>
                    <a:pt x="38" y="0"/>
                    <a:pt x="35" y="0"/>
                  </a:cubicBezTo>
                  <a:cubicBezTo>
                    <a:pt x="5" y="0"/>
                    <a:pt x="5" y="0"/>
                    <a:pt x="5" y="0"/>
                  </a:cubicBezTo>
                  <a:cubicBezTo>
                    <a:pt x="2" y="0"/>
                    <a:pt x="0" y="3"/>
                    <a:pt x="0" y="6"/>
                  </a:cubicBezTo>
                  <a:cubicBezTo>
                    <a:pt x="0" y="18"/>
                    <a:pt x="0" y="18"/>
                    <a:pt x="0" y="18"/>
                  </a:cubicBezTo>
                  <a:cubicBezTo>
                    <a:pt x="0" y="21"/>
                    <a:pt x="2" y="24"/>
                    <a:pt x="5" y="24"/>
                  </a:cubicBezTo>
                  <a:close/>
                  <a:moveTo>
                    <a:pt x="5" y="2"/>
                  </a:moveTo>
                  <a:cubicBezTo>
                    <a:pt x="7" y="2"/>
                    <a:pt x="7" y="2"/>
                    <a:pt x="7" y="2"/>
                  </a:cubicBezTo>
                  <a:cubicBezTo>
                    <a:pt x="8" y="3"/>
                    <a:pt x="9" y="4"/>
                    <a:pt x="10" y="6"/>
                  </a:cubicBezTo>
                  <a:cubicBezTo>
                    <a:pt x="14" y="4"/>
                    <a:pt x="17" y="3"/>
                    <a:pt x="20" y="3"/>
                  </a:cubicBezTo>
                  <a:cubicBezTo>
                    <a:pt x="23" y="3"/>
                    <a:pt x="26" y="4"/>
                    <a:pt x="30" y="6"/>
                  </a:cubicBezTo>
                  <a:cubicBezTo>
                    <a:pt x="31" y="4"/>
                    <a:pt x="32" y="3"/>
                    <a:pt x="33" y="2"/>
                  </a:cubicBezTo>
                  <a:cubicBezTo>
                    <a:pt x="35" y="2"/>
                    <a:pt x="35" y="2"/>
                    <a:pt x="35" y="2"/>
                  </a:cubicBezTo>
                  <a:cubicBezTo>
                    <a:pt x="33" y="3"/>
                    <a:pt x="32" y="5"/>
                    <a:pt x="31" y="7"/>
                  </a:cubicBezTo>
                  <a:cubicBezTo>
                    <a:pt x="31" y="12"/>
                    <a:pt x="31" y="12"/>
                    <a:pt x="31" y="12"/>
                  </a:cubicBezTo>
                  <a:cubicBezTo>
                    <a:pt x="31" y="18"/>
                    <a:pt x="31" y="18"/>
                    <a:pt x="31" y="18"/>
                  </a:cubicBezTo>
                  <a:cubicBezTo>
                    <a:pt x="32" y="20"/>
                    <a:pt x="33" y="21"/>
                    <a:pt x="35" y="23"/>
                  </a:cubicBezTo>
                  <a:cubicBezTo>
                    <a:pt x="33" y="23"/>
                    <a:pt x="33" y="23"/>
                    <a:pt x="33" y="23"/>
                  </a:cubicBezTo>
                  <a:cubicBezTo>
                    <a:pt x="32" y="21"/>
                    <a:pt x="31" y="20"/>
                    <a:pt x="30" y="18"/>
                  </a:cubicBezTo>
                  <a:cubicBezTo>
                    <a:pt x="26" y="20"/>
                    <a:pt x="23" y="21"/>
                    <a:pt x="20" y="21"/>
                  </a:cubicBezTo>
                  <a:cubicBezTo>
                    <a:pt x="17" y="21"/>
                    <a:pt x="14" y="20"/>
                    <a:pt x="10" y="18"/>
                  </a:cubicBezTo>
                  <a:cubicBezTo>
                    <a:pt x="9" y="20"/>
                    <a:pt x="8" y="21"/>
                    <a:pt x="7" y="23"/>
                  </a:cubicBezTo>
                  <a:cubicBezTo>
                    <a:pt x="5" y="23"/>
                    <a:pt x="5" y="23"/>
                    <a:pt x="5" y="23"/>
                  </a:cubicBezTo>
                  <a:cubicBezTo>
                    <a:pt x="7" y="21"/>
                    <a:pt x="8" y="20"/>
                    <a:pt x="9" y="18"/>
                  </a:cubicBezTo>
                  <a:cubicBezTo>
                    <a:pt x="9" y="12"/>
                    <a:pt x="9" y="12"/>
                    <a:pt x="9" y="12"/>
                  </a:cubicBezTo>
                  <a:cubicBezTo>
                    <a:pt x="9" y="7"/>
                    <a:pt x="9" y="7"/>
                    <a:pt x="9" y="7"/>
                  </a:cubicBezTo>
                  <a:cubicBezTo>
                    <a:pt x="8" y="5"/>
                    <a:pt x="7" y="3"/>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368" name="Freeform 104">
              <a:extLst>
                <a:ext uri="{FF2B5EF4-FFF2-40B4-BE49-F238E27FC236}">
                  <a16:creationId xmlns:a16="http://schemas.microsoft.com/office/drawing/2014/main" id="{D43AF701-C32F-42E9-9775-7A98C9E10FB6}"/>
                </a:ext>
              </a:extLst>
            </p:cNvPr>
            <p:cNvSpPr>
              <a:spLocks/>
            </p:cNvSpPr>
            <p:nvPr/>
          </p:nvSpPr>
          <p:spPr bwMode="auto">
            <a:xfrm>
              <a:off x="4693287" y="5292318"/>
              <a:ext cx="158510" cy="309874"/>
            </a:xfrm>
            <a:custGeom>
              <a:avLst/>
              <a:gdLst>
                <a:gd name="T0" fmla="*/ 15 w 105"/>
                <a:gd name="T1" fmla="*/ 209 h 229"/>
                <a:gd name="T2" fmla="*/ 28 w 105"/>
                <a:gd name="T3" fmla="*/ 224 h 229"/>
                <a:gd name="T4" fmla="*/ 33 w 105"/>
                <a:gd name="T5" fmla="*/ 229 h 229"/>
                <a:gd name="T6" fmla="*/ 76 w 105"/>
                <a:gd name="T7" fmla="*/ 224 h 229"/>
                <a:gd name="T8" fmla="*/ 76 w 105"/>
                <a:gd name="T9" fmla="*/ 224 h 229"/>
                <a:gd name="T10" fmla="*/ 101 w 105"/>
                <a:gd name="T11" fmla="*/ 208 h 229"/>
                <a:gd name="T12" fmla="*/ 105 w 105"/>
                <a:gd name="T13" fmla="*/ 201 h 229"/>
                <a:gd name="T14" fmla="*/ 90 w 105"/>
                <a:gd name="T15" fmla="*/ 195 h 229"/>
                <a:gd name="T16" fmla="*/ 76 w 105"/>
                <a:gd name="T17" fmla="*/ 180 h 229"/>
                <a:gd name="T18" fmla="*/ 90 w 105"/>
                <a:gd name="T19" fmla="*/ 165 h 229"/>
                <a:gd name="T20" fmla="*/ 105 w 105"/>
                <a:gd name="T21" fmla="*/ 160 h 229"/>
                <a:gd name="T22" fmla="*/ 101 w 105"/>
                <a:gd name="T23" fmla="*/ 153 h 229"/>
                <a:gd name="T24" fmla="*/ 76 w 105"/>
                <a:gd name="T25" fmla="*/ 137 h 229"/>
                <a:gd name="T26" fmla="*/ 76 w 105"/>
                <a:gd name="T27" fmla="*/ 136 h 229"/>
                <a:gd name="T28" fmla="*/ 101 w 105"/>
                <a:gd name="T29" fmla="*/ 120 h 229"/>
                <a:gd name="T30" fmla="*/ 105 w 105"/>
                <a:gd name="T31" fmla="*/ 113 h 229"/>
                <a:gd name="T32" fmla="*/ 90 w 105"/>
                <a:gd name="T33" fmla="*/ 108 h 229"/>
                <a:gd name="T34" fmla="*/ 76 w 105"/>
                <a:gd name="T35" fmla="*/ 93 h 229"/>
                <a:gd name="T36" fmla="*/ 90 w 105"/>
                <a:gd name="T37" fmla="*/ 77 h 229"/>
                <a:gd name="T38" fmla="*/ 105 w 105"/>
                <a:gd name="T39" fmla="*/ 72 h 229"/>
                <a:gd name="T40" fmla="*/ 101 w 105"/>
                <a:gd name="T41" fmla="*/ 65 h 229"/>
                <a:gd name="T42" fmla="*/ 76 w 105"/>
                <a:gd name="T43" fmla="*/ 49 h 229"/>
                <a:gd name="T44" fmla="*/ 76 w 105"/>
                <a:gd name="T45" fmla="*/ 48 h 229"/>
                <a:gd name="T46" fmla="*/ 101 w 105"/>
                <a:gd name="T47" fmla="*/ 32 h 229"/>
                <a:gd name="T48" fmla="*/ 105 w 105"/>
                <a:gd name="T49" fmla="*/ 25 h 229"/>
                <a:gd name="T50" fmla="*/ 90 w 105"/>
                <a:gd name="T51" fmla="*/ 20 h 229"/>
                <a:gd name="T52" fmla="*/ 76 w 105"/>
                <a:gd name="T53" fmla="*/ 5 h 229"/>
                <a:gd name="T54" fmla="*/ 71 w 105"/>
                <a:gd name="T55" fmla="*/ 0 h 229"/>
                <a:gd name="T56" fmla="*/ 28 w 105"/>
                <a:gd name="T57" fmla="*/ 5 h 229"/>
                <a:gd name="T58" fmla="*/ 28 w 105"/>
                <a:gd name="T59" fmla="*/ 5 h 229"/>
                <a:gd name="T60" fmla="*/ 3 w 105"/>
                <a:gd name="T61" fmla="*/ 21 h 229"/>
                <a:gd name="T62" fmla="*/ 0 w 105"/>
                <a:gd name="T63" fmla="*/ 28 h 229"/>
                <a:gd name="T64" fmla="*/ 15 w 105"/>
                <a:gd name="T65" fmla="*/ 33 h 229"/>
                <a:gd name="T66" fmla="*/ 28 w 105"/>
                <a:gd name="T67" fmla="*/ 49 h 229"/>
                <a:gd name="T68" fmla="*/ 15 w 105"/>
                <a:gd name="T69" fmla="*/ 64 h 229"/>
                <a:gd name="T70" fmla="*/ 0 w 105"/>
                <a:gd name="T71" fmla="*/ 69 h 229"/>
                <a:gd name="T72" fmla="*/ 3 w 105"/>
                <a:gd name="T73" fmla="*/ 76 h 229"/>
                <a:gd name="T74" fmla="*/ 28 w 105"/>
                <a:gd name="T75" fmla="*/ 92 h 229"/>
                <a:gd name="T76" fmla="*/ 28 w 105"/>
                <a:gd name="T77" fmla="*/ 93 h 229"/>
                <a:gd name="T78" fmla="*/ 3 w 105"/>
                <a:gd name="T79" fmla="*/ 109 h 229"/>
                <a:gd name="T80" fmla="*/ 0 w 105"/>
                <a:gd name="T81" fmla="*/ 116 h 229"/>
                <a:gd name="T82" fmla="*/ 15 w 105"/>
                <a:gd name="T83" fmla="*/ 121 h 229"/>
                <a:gd name="T84" fmla="*/ 28 w 105"/>
                <a:gd name="T85" fmla="*/ 136 h 229"/>
                <a:gd name="T86" fmla="*/ 15 w 105"/>
                <a:gd name="T87" fmla="*/ 152 h 229"/>
                <a:gd name="T88" fmla="*/ 0 w 105"/>
                <a:gd name="T89" fmla="*/ 157 h 229"/>
                <a:gd name="T90" fmla="*/ 3 w 105"/>
                <a:gd name="T91" fmla="*/ 164 h 229"/>
                <a:gd name="T92" fmla="*/ 28 w 105"/>
                <a:gd name="T93" fmla="*/ 180 h 229"/>
                <a:gd name="T94" fmla="*/ 28 w 105"/>
                <a:gd name="T95" fmla="*/ 180 h 229"/>
                <a:gd name="T96" fmla="*/ 3 w 105"/>
                <a:gd name="T97" fmla="*/ 197 h 229"/>
                <a:gd name="T98" fmla="*/ 0 w 105"/>
                <a:gd name="T99" fmla="*/ 204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5" h="229">
                  <a:moveTo>
                    <a:pt x="3" y="208"/>
                  </a:moveTo>
                  <a:cubicBezTo>
                    <a:pt x="15" y="209"/>
                    <a:pt x="15" y="209"/>
                    <a:pt x="15" y="209"/>
                  </a:cubicBezTo>
                  <a:cubicBezTo>
                    <a:pt x="22" y="210"/>
                    <a:pt x="28" y="216"/>
                    <a:pt x="28" y="224"/>
                  </a:cubicBezTo>
                  <a:cubicBezTo>
                    <a:pt x="28" y="224"/>
                    <a:pt x="28" y="224"/>
                    <a:pt x="28" y="224"/>
                  </a:cubicBezTo>
                  <a:cubicBezTo>
                    <a:pt x="28" y="224"/>
                    <a:pt x="28" y="224"/>
                    <a:pt x="28" y="224"/>
                  </a:cubicBezTo>
                  <a:cubicBezTo>
                    <a:pt x="28" y="227"/>
                    <a:pt x="30" y="229"/>
                    <a:pt x="33" y="229"/>
                  </a:cubicBezTo>
                  <a:cubicBezTo>
                    <a:pt x="71" y="229"/>
                    <a:pt x="71" y="229"/>
                    <a:pt x="71" y="229"/>
                  </a:cubicBezTo>
                  <a:cubicBezTo>
                    <a:pt x="74" y="229"/>
                    <a:pt x="76" y="227"/>
                    <a:pt x="76" y="224"/>
                  </a:cubicBezTo>
                  <a:cubicBezTo>
                    <a:pt x="76" y="224"/>
                    <a:pt x="76" y="224"/>
                    <a:pt x="76" y="224"/>
                  </a:cubicBezTo>
                  <a:cubicBezTo>
                    <a:pt x="76" y="224"/>
                    <a:pt x="76" y="224"/>
                    <a:pt x="76" y="224"/>
                  </a:cubicBezTo>
                  <a:cubicBezTo>
                    <a:pt x="76" y="216"/>
                    <a:pt x="82" y="210"/>
                    <a:pt x="90" y="209"/>
                  </a:cubicBezTo>
                  <a:cubicBezTo>
                    <a:pt x="101" y="208"/>
                    <a:pt x="101" y="208"/>
                    <a:pt x="101" y="208"/>
                  </a:cubicBezTo>
                  <a:cubicBezTo>
                    <a:pt x="103" y="208"/>
                    <a:pt x="105" y="206"/>
                    <a:pt x="105" y="204"/>
                  </a:cubicBezTo>
                  <a:cubicBezTo>
                    <a:pt x="105" y="201"/>
                    <a:pt x="105" y="201"/>
                    <a:pt x="105" y="201"/>
                  </a:cubicBezTo>
                  <a:cubicBezTo>
                    <a:pt x="105" y="199"/>
                    <a:pt x="103" y="197"/>
                    <a:pt x="101" y="197"/>
                  </a:cubicBezTo>
                  <a:cubicBezTo>
                    <a:pt x="90" y="195"/>
                    <a:pt x="90" y="195"/>
                    <a:pt x="90" y="195"/>
                  </a:cubicBezTo>
                  <a:cubicBezTo>
                    <a:pt x="82" y="195"/>
                    <a:pt x="76" y="188"/>
                    <a:pt x="76" y="180"/>
                  </a:cubicBezTo>
                  <a:cubicBezTo>
                    <a:pt x="76" y="180"/>
                    <a:pt x="76" y="180"/>
                    <a:pt x="76" y="180"/>
                  </a:cubicBezTo>
                  <a:cubicBezTo>
                    <a:pt x="76" y="180"/>
                    <a:pt x="76" y="180"/>
                    <a:pt x="76" y="180"/>
                  </a:cubicBezTo>
                  <a:cubicBezTo>
                    <a:pt x="76" y="172"/>
                    <a:pt x="82" y="166"/>
                    <a:pt x="90" y="165"/>
                  </a:cubicBezTo>
                  <a:cubicBezTo>
                    <a:pt x="101" y="164"/>
                    <a:pt x="101" y="164"/>
                    <a:pt x="101" y="164"/>
                  </a:cubicBezTo>
                  <a:cubicBezTo>
                    <a:pt x="103" y="164"/>
                    <a:pt x="105" y="162"/>
                    <a:pt x="105" y="160"/>
                  </a:cubicBezTo>
                  <a:cubicBezTo>
                    <a:pt x="105" y="157"/>
                    <a:pt x="105" y="157"/>
                    <a:pt x="105" y="157"/>
                  </a:cubicBezTo>
                  <a:cubicBezTo>
                    <a:pt x="105" y="155"/>
                    <a:pt x="103" y="153"/>
                    <a:pt x="101" y="153"/>
                  </a:cubicBezTo>
                  <a:cubicBezTo>
                    <a:pt x="90" y="152"/>
                    <a:pt x="90" y="152"/>
                    <a:pt x="90" y="152"/>
                  </a:cubicBezTo>
                  <a:cubicBezTo>
                    <a:pt x="82" y="151"/>
                    <a:pt x="76" y="144"/>
                    <a:pt x="76" y="137"/>
                  </a:cubicBezTo>
                  <a:cubicBezTo>
                    <a:pt x="76" y="136"/>
                    <a:pt x="76" y="136"/>
                    <a:pt x="76" y="136"/>
                  </a:cubicBezTo>
                  <a:cubicBezTo>
                    <a:pt x="76" y="136"/>
                    <a:pt x="76" y="136"/>
                    <a:pt x="76" y="136"/>
                  </a:cubicBezTo>
                  <a:cubicBezTo>
                    <a:pt x="76" y="129"/>
                    <a:pt x="82" y="122"/>
                    <a:pt x="90" y="121"/>
                  </a:cubicBezTo>
                  <a:cubicBezTo>
                    <a:pt x="101" y="120"/>
                    <a:pt x="101" y="120"/>
                    <a:pt x="101" y="120"/>
                  </a:cubicBezTo>
                  <a:cubicBezTo>
                    <a:pt x="103" y="120"/>
                    <a:pt x="105" y="118"/>
                    <a:pt x="105" y="116"/>
                  </a:cubicBezTo>
                  <a:cubicBezTo>
                    <a:pt x="105" y="113"/>
                    <a:pt x="105" y="113"/>
                    <a:pt x="105" y="113"/>
                  </a:cubicBezTo>
                  <a:cubicBezTo>
                    <a:pt x="105" y="111"/>
                    <a:pt x="103" y="109"/>
                    <a:pt x="101" y="109"/>
                  </a:cubicBezTo>
                  <a:cubicBezTo>
                    <a:pt x="90" y="108"/>
                    <a:pt x="90" y="108"/>
                    <a:pt x="90" y="108"/>
                  </a:cubicBezTo>
                  <a:cubicBezTo>
                    <a:pt x="82" y="107"/>
                    <a:pt x="76" y="100"/>
                    <a:pt x="76" y="93"/>
                  </a:cubicBezTo>
                  <a:cubicBezTo>
                    <a:pt x="76" y="93"/>
                    <a:pt x="76" y="93"/>
                    <a:pt x="76" y="93"/>
                  </a:cubicBezTo>
                  <a:cubicBezTo>
                    <a:pt x="76" y="92"/>
                    <a:pt x="76" y="92"/>
                    <a:pt x="76" y="92"/>
                  </a:cubicBezTo>
                  <a:cubicBezTo>
                    <a:pt x="76" y="85"/>
                    <a:pt x="82" y="78"/>
                    <a:pt x="90" y="77"/>
                  </a:cubicBezTo>
                  <a:cubicBezTo>
                    <a:pt x="101" y="76"/>
                    <a:pt x="101" y="76"/>
                    <a:pt x="101" y="76"/>
                  </a:cubicBezTo>
                  <a:cubicBezTo>
                    <a:pt x="103" y="76"/>
                    <a:pt x="105" y="74"/>
                    <a:pt x="105" y="72"/>
                  </a:cubicBezTo>
                  <a:cubicBezTo>
                    <a:pt x="105" y="69"/>
                    <a:pt x="105" y="69"/>
                    <a:pt x="105" y="69"/>
                  </a:cubicBezTo>
                  <a:cubicBezTo>
                    <a:pt x="105" y="67"/>
                    <a:pt x="103" y="65"/>
                    <a:pt x="101" y="65"/>
                  </a:cubicBezTo>
                  <a:cubicBezTo>
                    <a:pt x="90" y="64"/>
                    <a:pt x="90" y="64"/>
                    <a:pt x="90" y="64"/>
                  </a:cubicBezTo>
                  <a:cubicBezTo>
                    <a:pt x="82" y="63"/>
                    <a:pt x="76" y="56"/>
                    <a:pt x="76" y="49"/>
                  </a:cubicBezTo>
                  <a:cubicBezTo>
                    <a:pt x="76" y="49"/>
                    <a:pt x="76" y="49"/>
                    <a:pt x="76" y="49"/>
                  </a:cubicBezTo>
                  <a:cubicBezTo>
                    <a:pt x="76" y="48"/>
                    <a:pt x="76" y="48"/>
                    <a:pt x="76" y="48"/>
                  </a:cubicBezTo>
                  <a:cubicBezTo>
                    <a:pt x="76" y="41"/>
                    <a:pt x="82" y="34"/>
                    <a:pt x="90" y="33"/>
                  </a:cubicBezTo>
                  <a:cubicBezTo>
                    <a:pt x="101" y="32"/>
                    <a:pt x="101" y="32"/>
                    <a:pt x="101" y="32"/>
                  </a:cubicBezTo>
                  <a:cubicBezTo>
                    <a:pt x="103" y="32"/>
                    <a:pt x="105" y="30"/>
                    <a:pt x="105" y="28"/>
                  </a:cubicBezTo>
                  <a:cubicBezTo>
                    <a:pt x="105" y="25"/>
                    <a:pt x="105" y="25"/>
                    <a:pt x="105" y="25"/>
                  </a:cubicBezTo>
                  <a:cubicBezTo>
                    <a:pt x="105" y="23"/>
                    <a:pt x="103" y="21"/>
                    <a:pt x="101" y="21"/>
                  </a:cubicBezTo>
                  <a:cubicBezTo>
                    <a:pt x="90" y="20"/>
                    <a:pt x="90" y="20"/>
                    <a:pt x="90" y="20"/>
                  </a:cubicBezTo>
                  <a:cubicBezTo>
                    <a:pt x="82" y="19"/>
                    <a:pt x="76" y="13"/>
                    <a:pt x="76" y="5"/>
                  </a:cubicBezTo>
                  <a:cubicBezTo>
                    <a:pt x="76" y="5"/>
                    <a:pt x="76" y="5"/>
                    <a:pt x="76" y="5"/>
                  </a:cubicBezTo>
                  <a:cubicBezTo>
                    <a:pt x="76" y="5"/>
                    <a:pt x="76" y="5"/>
                    <a:pt x="76" y="5"/>
                  </a:cubicBezTo>
                  <a:cubicBezTo>
                    <a:pt x="76" y="2"/>
                    <a:pt x="74" y="0"/>
                    <a:pt x="71" y="0"/>
                  </a:cubicBezTo>
                  <a:cubicBezTo>
                    <a:pt x="33" y="0"/>
                    <a:pt x="33" y="0"/>
                    <a:pt x="33" y="0"/>
                  </a:cubicBezTo>
                  <a:cubicBezTo>
                    <a:pt x="30" y="0"/>
                    <a:pt x="28" y="2"/>
                    <a:pt x="28" y="5"/>
                  </a:cubicBezTo>
                  <a:cubicBezTo>
                    <a:pt x="28" y="5"/>
                    <a:pt x="28" y="5"/>
                    <a:pt x="28" y="5"/>
                  </a:cubicBezTo>
                  <a:cubicBezTo>
                    <a:pt x="28" y="5"/>
                    <a:pt x="28" y="5"/>
                    <a:pt x="28" y="5"/>
                  </a:cubicBezTo>
                  <a:cubicBezTo>
                    <a:pt x="28" y="13"/>
                    <a:pt x="22" y="19"/>
                    <a:pt x="15" y="20"/>
                  </a:cubicBezTo>
                  <a:cubicBezTo>
                    <a:pt x="3" y="21"/>
                    <a:pt x="3" y="21"/>
                    <a:pt x="3" y="21"/>
                  </a:cubicBezTo>
                  <a:cubicBezTo>
                    <a:pt x="1" y="21"/>
                    <a:pt x="0" y="23"/>
                    <a:pt x="0" y="25"/>
                  </a:cubicBezTo>
                  <a:cubicBezTo>
                    <a:pt x="0" y="28"/>
                    <a:pt x="0" y="28"/>
                    <a:pt x="0" y="28"/>
                  </a:cubicBezTo>
                  <a:cubicBezTo>
                    <a:pt x="0" y="30"/>
                    <a:pt x="1" y="32"/>
                    <a:pt x="3" y="32"/>
                  </a:cubicBezTo>
                  <a:cubicBezTo>
                    <a:pt x="15" y="33"/>
                    <a:pt x="15" y="33"/>
                    <a:pt x="15" y="33"/>
                  </a:cubicBezTo>
                  <a:cubicBezTo>
                    <a:pt x="22" y="34"/>
                    <a:pt x="28" y="41"/>
                    <a:pt x="28" y="48"/>
                  </a:cubicBezTo>
                  <a:cubicBezTo>
                    <a:pt x="28" y="49"/>
                    <a:pt x="28" y="49"/>
                    <a:pt x="28" y="49"/>
                  </a:cubicBezTo>
                  <a:cubicBezTo>
                    <a:pt x="28" y="49"/>
                    <a:pt x="28" y="49"/>
                    <a:pt x="28" y="49"/>
                  </a:cubicBezTo>
                  <a:cubicBezTo>
                    <a:pt x="28" y="56"/>
                    <a:pt x="22" y="63"/>
                    <a:pt x="15" y="64"/>
                  </a:cubicBezTo>
                  <a:cubicBezTo>
                    <a:pt x="3" y="65"/>
                    <a:pt x="3" y="65"/>
                    <a:pt x="3" y="65"/>
                  </a:cubicBezTo>
                  <a:cubicBezTo>
                    <a:pt x="1" y="65"/>
                    <a:pt x="0" y="67"/>
                    <a:pt x="0" y="69"/>
                  </a:cubicBezTo>
                  <a:cubicBezTo>
                    <a:pt x="0" y="72"/>
                    <a:pt x="0" y="72"/>
                    <a:pt x="0" y="72"/>
                  </a:cubicBezTo>
                  <a:cubicBezTo>
                    <a:pt x="0" y="74"/>
                    <a:pt x="1" y="76"/>
                    <a:pt x="3" y="76"/>
                  </a:cubicBezTo>
                  <a:cubicBezTo>
                    <a:pt x="15" y="77"/>
                    <a:pt x="15" y="77"/>
                    <a:pt x="15" y="77"/>
                  </a:cubicBezTo>
                  <a:cubicBezTo>
                    <a:pt x="22" y="78"/>
                    <a:pt x="28" y="85"/>
                    <a:pt x="28" y="92"/>
                  </a:cubicBezTo>
                  <a:cubicBezTo>
                    <a:pt x="28" y="93"/>
                    <a:pt x="28" y="93"/>
                    <a:pt x="28" y="93"/>
                  </a:cubicBezTo>
                  <a:cubicBezTo>
                    <a:pt x="28" y="93"/>
                    <a:pt x="28" y="93"/>
                    <a:pt x="28" y="93"/>
                  </a:cubicBezTo>
                  <a:cubicBezTo>
                    <a:pt x="28" y="100"/>
                    <a:pt x="22" y="107"/>
                    <a:pt x="15" y="108"/>
                  </a:cubicBezTo>
                  <a:cubicBezTo>
                    <a:pt x="3" y="109"/>
                    <a:pt x="3" y="109"/>
                    <a:pt x="3" y="109"/>
                  </a:cubicBezTo>
                  <a:cubicBezTo>
                    <a:pt x="1" y="109"/>
                    <a:pt x="0" y="111"/>
                    <a:pt x="0" y="113"/>
                  </a:cubicBezTo>
                  <a:cubicBezTo>
                    <a:pt x="0" y="116"/>
                    <a:pt x="0" y="116"/>
                    <a:pt x="0" y="116"/>
                  </a:cubicBezTo>
                  <a:cubicBezTo>
                    <a:pt x="0" y="118"/>
                    <a:pt x="1" y="120"/>
                    <a:pt x="3" y="120"/>
                  </a:cubicBezTo>
                  <a:cubicBezTo>
                    <a:pt x="15" y="121"/>
                    <a:pt x="15" y="121"/>
                    <a:pt x="15" y="121"/>
                  </a:cubicBezTo>
                  <a:cubicBezTo>
                    <a:pt x="22" y="122"/>
                    <a:pt x="28" y="129"/>
                    <a:pt x="28" y="136"/>
                  </a:cubicBezTo>
                  <a:cubicBezTo>
                    <a:pt x="28" y="136"/>
                    <a:pt x="28" y="136"/>
                    <a:pt x="28" y="136"/>
                  </a:cubicBezTo>
                  <a:cubicBezTo>
                    <a:pt x="28" y="137"/>
                    <a:pt x="28" y="137"/>
                    <a:pt x="28" y="137"/>
                  </a:cubicBezTo>
                  <a:cubicBezTo>
                    <a:pt x="28" y="144"/>
                    <a:pt x="22" y="151"/>
                    <a:pt x="15" y="152"/>
                  </a:cubicBezTo>
                  <a:cubicBezTo>
                    <a:pt x="3" y="153"/>
                    <a:pt x="3" y="153"/>
                    <a:pt x="3" y="153"/>
                  </a:cubicBezTo>
                  <a:cubicBezTo>
                    <a:pt x="1" y="153"/>
                    <a:pt x="0" y="155"/>
                    <a:pt x="0" y="157"/>
                  </a:cubicBezTo>
                  <a:cubicBezTo>
                    <a:pt x="0" y="160"/>
                    <a:pt x="0" y="160"/>
                    <a:pt x="0" y="160"/>
                  </a:cubicBezTo>
                  <a:cubicBezTo>
                    <a:pt x="0" y="162"/>
                    <a:pt x="1" y="164"/>
                    <a:pt x="3" y="164"/>
                  </a:cubicBezTo>
                  <a:cubicBezTo>
                    <a:pt x="15" y="165"/>
                    <a:pt x="15" y="165"/>
                    <a:pt x="15" y="165"/>
                  </a:cubicBezTo>
                  <a:cubicBezTo>
                    <a:pt x="22" y="166"/>
                    <a:pt x="28" y="172"/>
                    <a:pt x="28" y="180"/>
                  </a:cubicBezTo>
                  <a:cubicBezTo>
                    <a:pt x="28" y="180"/>
                    <a:pt x="28" y="180"/>
                    <a:pt x="28" y="180"/>
                  </a:cubicBezTo>
                  <a:cubicBezTo>
                    <a:pt x="28" y="180"/>
                    <a:pt x="28" y="180"/>
                    <a:pt x="28" y="180"/>
                  </a:cubicBezTo>
                  <a:cubicBezTo>
                    <a:pt x="28" y="188"/>
                    <a:pt x="22" y="195"/>
                    <a:pt x="15" y="195"/>
                  </a:cubicBezTo>
                  <a:cubicBezTo>
                    <a:pt x="3" y="197"/>
                    <a:pt x="3" y="197"/>
                    <a:pt x="3" y="197"/>
                  </a:cubicBezTo>
                  <a:cubicBezTo>
                    <a:pt x="1" y="197"/>
                    <a:pt x="0" y="199"/>
                    <a:pt x="0" y="201"/>
                  </a:cubicBezTo>
                  <a:cubicBezTo>
                    <a:pt x="0" y="204"/>
                    <a:pt x="0" y="204"/>
                    <a:pt x="0" y="204"/>
                  </a:cubicBezTo>
                  <a:cubicBezTo>
                    <a:pt x="0" y="206"/>
                    <a:pt x="1" y="208"/>
                    <a:pt x="3" y="2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369" name="Freeform 105">
              <a:extLst>
                <a:ext uri="{FF2B5EF4-FFF2-40B4-BE49-F238E27FC236}">
                  <a16:creationId xmlns:a16="http://schemas.microsoft.com/office/drawing/2014/main" id="{69B33990-8B3C-44EB-BAA0-8455C64D071B}"/>
                </a:ext>
              </a:extLst>
            </p:cNvPr>
            <p:cNvSpPr>
              <a:spLocks/>
            </p:cNvSpPr>
            <p:nvPr/>
          </p:nvSpPr>
          <p:spPr bwMode="auto">
            <a:xfrm>
              <a:off x="4756865" y="5232607"/>
              <a:ext cx="30047" cy="21855"/>
            </a:xfrm>
            <a:custGeom>
              <a:avLst/>
              <a:gdLst>
                <a:gd name="T0" fmla="*/ 20 w 20"/>
                <a:gd name="T1" fmla="*/ 13 h 16"/>
                <a:gd name="T2" fmla="*/ 20 w 20"/>
                <a:gd name="T3" fmla="*/ 8 h 16"/>
                <a:gd name="T4" fmla="*/ 20 w 20"/>
                <a:gd name="T5" fmla="*/ 2 h 16"/>
                <a:gd name="T6" fmla="*/ 10 w 20"/>
                <a:gd name="T7" fmla="*/ 0 h 16"/>
                <a:gd name="T8" fmla="*/ 0 w 20"/>
                <a:gd name="T9" fmla="*/ 2 h 16"/>
                <a:gd name="T10" fmla="*/ 0 w 20"/>
                <a:gd name="T11" fmla="*/ 8 h 16"/>
                <a:gd name="T12" fmla="*/ 0 w 20"/>
                <a:gd name="T13" fmla="*/ 13 h 16"/>
                <a:gd name="T14" fmla="*/ 10 w 20"/>
                <a:gd name="T15" fmla="*/ 15 h 16"/>
                <a:gd name="T16" fmla="*/ 20 w 20"/>
                <a:gd name="T17" fmla="*/ 1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16">
                  <a:moveTo>
                    <a:pt x="20" y="13"/>
                  </a:moveTo>
                  <a:cubicBezTo>
                    <a:pt x="20" y="8"/>
                    <a:pt x="20" y="8"/>
                    <a:pt x="20" y="8"/>
                  </a:cubicBezTo>
                  <a:cubicBezTo>
                    <a:pt x="20" y="2"/>
                    <a:pt x="20" y="2"/>
                    <a:pt x="20" y="2"/>
                  </a:cubicBezTo>
                  <a:cubicBezTo>
                    <a:pt x="16" y="0"/>
                    <a:pt x="13" y="0"/>
                    <a:pt x="10" y="0"/>
                  </a:cubicBezTo>
                  <a:cubicBezTo>
                    <a:pt x="7" y="0"/>
                    <a:pt x="4" y="0"/>
                    <a:pt x="0" y="2"/>
                  </a:cubicBezTo>
                  <a:cubicBezTo>
                    <a:pt x="0" y="8"/>
                    <a:pt x="0" y="8"/>
                    <a:pt x="0" y="8"/>
                  </a:cubicBezTo>
                  <a:cubicBezTo>
                    <a:pt x="0" y="13"/>
                    <a:pt x="0" y="13"/>
                    <a:pt x="0" y="13"/>
                  </a:cubicBezTo>
                  <a:cubicBezTo>
                    <a:pt x="4" y="15"/>
                    <a:pt x="7" y="16"/>
                    <a:pt x="10" y="15"/>
                  </a:cubicBezTo>
                  <a:cubicBezTo>
                    <a:pt x="13" y="16"/>
                    <a:pt x="16" y="15"/>
                    <a:pt x="2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370" name="Freeform 106">
              <a:extLst>
                <a:ext uri="{FF2B5EF4-FFF2-40B4-BE49-F238E27FC236}">
                  <a16:creationId xmlns:a16="http://schemas.microsoft.com/office/drawing/2014/main" id="{DEDDEE0F-B646-4B71-A614-F9E94526A7AF}"/>
                </a:ext>
              </a:extLst>
            </p:cNvPr>
            <p:cNvSpPr>
              <a:spLocks noEditPoints="1"/>
            </p:cNvSpPr>
            <p:nvPr/>
          </p:nvSpPr>
          <p:spPr bwMode="auto">
            <a:xfrm>
              <a:off x="4741623" y="5227143"/>
              <a:ext cx="61836" cy="31222"/>
            </a:xfrm>
            <a:custGeom>
              <a:avLst/>
              <a:gdLst>
                <a:gd name="T0" fmla="*/ 6 w 41"/>
                <a:gd name="T1" fmla="*/ 23 h 23"/>
                <a:gd name="T2" fmla="*/ 35 w 41"/>
                <a:gd name="T3" fmla="*/ 23 h 23"/>
                <a:gd name="T4" fmla="*/ 41 w 41"/>
                <a:gd name="T5" fmla="*/ 18 h 23"/>
                <a:gd name="T6" fmla="*/ 41 w 41"/>
                <a:gd name="T7" fmla="*/ 5 h 23"/>
                <a:gd name="T8" fmla="*/ 35 w 41"/>
                <a:gd name="T9" fmla="*/ 0 h 23"/>
                <a:gd name="T10" fmla="*/ 6 w 41"/>
                <a:gd name="T11" fmla="*/ 0 h 23"/>
                <a:gd name="T12" fmla="*/ 0 w 41"/>
                <a:gd name="T13" fmla="*/ 5 h 23"/>
                <a:gd name="T14" fmla="*/ 0 w 41"/>
                <a:gd name="T15" fmla="*/ 18 h 23"/>
                <a:gd name="T16" fmla="*/ 6 w 41"/>
                <a:gd name="T17" fmla="*/ 23 h 23"/>
                <a:gd name="T18" fmla="*/ 5 w 41"/>
                <a:gd name="T19" fmla="*/ 1 h 23"/>
                <a:gd name="T20" fmla="*/ 7 w 41"/>
                <a:gd name="T21" fmla="*/ 1 h 23"/>
                <a:gd name="T22" fmla="*/ 10 w 41"/>
                <a:gd name="T23" fmla="*/ 5 h 23"/>
                <a:gd name="T24" fmla="*/ 20 w 41"/>
                <a:gd name="T25" fmla="*/ 3 h 23"/>
                <a:gd name="T26" fmla="*/ 30 w 41"/>
                <a:gd name="T27" fmla="*/ 5 h 23"/>
                <a:gd name="T28" fmla="*/ 33 w 41"/>
                <a:gd name="T29" fmla="*/ 1 h 23"/>
                <a:gd name="T30" fmla="*/ 35 w 41"/>
                <a:gd name="T31" fmla="*/ 1 h 23"/>
                <a:gd name="T32" fmla="*/ 31 w 41"/>
                <a:gd name="T33" fmla="*/ 6 h 23"/>
                <a:gd name="T34" fmla="*/ 31 w 41"/>
                <a:gd name="T35" fmla="*/ 12 h 23"/>
                <a:gd name="T36" fmla="*/ 31 w 41"/>
                <a:gd name="T37" fmla="*/ 17 h 23"/>
                <a:gd name="T38" fmla="*/ 35 w 41"/>
                <a:gd name="T39" fmla="*/ 22 h 23"/>
                <a:gd name="T40" fmla="*/ 33 w 41"/>
                <a:gd name="T41" fmla="*/ 22 h 23"/>
                <a:gd name="T42" fmla="*/ 30 w 41"/>
                <a:gd name="T43" fmla="*/ 18 h 23"/>
                <a:gd name="T44" fmla="*/ 20 w 41"/>
                <a:gd name="T45" fmla="*/ 21 h 23"/>
                <a:gd name="T46" fmla="*/ 10 w 41"/>
                <a:gd name="T47" fmla="*/ 18 h 23"/>
                <a:gd name="T48" fmla="*/ 7 w 41"/>
                <a:gd name="T49" fmla="*/ 22 h 23"/>
                <a:gd name="T50" fmla="*/ 5 w 41"/>
                <a:gd name="T51" fmla="*/ 22 h 23"/>
                <a:gd name="T52" fmla="*/ 9 w 41"/>
                <a:gd name="T53" fmla="*/ 17 h 23"/>
                <a:gd name="T54" fmla="*/ 9 w 41"/>
                <a:gd name="T55" fmla="*/ 12 h 23"/>
                <a:gd name="T56" fmla="*/ 9 w 41"/>
                <a:gd name="T57" fmla="*/ 6 h 23"/>
                <a:gd name="T58" fmla="*/ 5 w 41"/>
                <a:gd name="T59"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1" h="23">
                  <a:moveTo>
                    <a:pt x="6" y="23"/>
                  </a:moveTo>
                  <a:cubicBezTo>
                    <a:pt x="35" y="23"/>
                    <a:pt x="35" y="23"/>
                    <a:pt x="35" y="23"/>
                  </a:cubicBezTo>
                  <a:cubicBezTo>
                    <a:pt x="38" y="23"/>
                    <a:pt x="41" y="21"/>
                    <a:pt x="41" y="18"/>
                  </a:cubicBezTo>
                  <a:cubicBezTo>
                    <a:pt x="41" y="5"/>
                    <a:pt x="41" y="5"/>
                    <a:pt x="41" y="5"/>
                  </a:cubicBezTo>
                  <a:cubicBezTo>
                    <a:pt x="41" y="2"/>
                    <a:pt x="38" y="0"/>
                    <a:pt x="35" y="0"/>
                  </a:cubicBezTo>
                  <a:cubicBezTo>
                    <a:pt x="6" y="0"/>
                    <a:pt x="6" y="0"/>
                    <a:pt x="6" y="0"/>
                  </a:cubicBezTo>
                  <a:cubicBezTo>
                    <a:pt x="2" y="0"/>
                    <a:pt x="0" y="2"/>
                    <a:pt x="0" y="5"/>
                  </a:cubicBezTo>
                  <a:cubicBezTo>
                    <a:pt x="0" y="18"/>
                    <a:pt x="0" y="18"/>
                    <a:pt x="0" y="18"/>
                  </a:cubicBezTo>
                  <a:cubicBezTo>
                    <a:pt x="0" y="21"/>
                    <a:pt x="2" y="23"/>
                    <a:pt x="6" y="23"/>
                  </a:cubicBezTo>
                  <a:close/>
                  <a:moveTo>
                    <a:pt x="5" y="1"/>
                  </a:moveTo>
                  <a:cubicBezTo>
                    <a:pt x="7" y="1"/>
                    <a:pt x="7" y="1"/>
                    <a:pt x="7" y="1"/>
                  </a:cubicBezTo>
                  <a:cubicBezTo>
                    <a:pt x="8" y="2"/>
                    <a:pt x="9" y="4"/>
                    <a:pt x="10" y="5"/>
                  </a:cubicBezTo>
                  <a:cubicBezTo>
                    <a:pt x="14" y="3"/>
                    <a:pt x="17" y="2"/>
                    <a:pt x="20" y="3"/>
                  </a:cubicBezTo>
                  <a:cubicBezTo>
                    <a:pt x="23" y="2"/>
                    <a:pt x="26" y="3"/>
                    <a:pt x="30" y="5"/>
                  </a:cubicBezTo>
                  <a:cubicBezTo>
                    <a:pt x="31" y="4"/>
                    <a:pt x="32" y="2"/>
                    <a:pt x="33" y="1"/>
                  </a:cubicBezTo>
                  <a:cubicBezTo>
                    <a:pt x="35" y="1"/>
                    <a:pt x="35" y="1"/>
                    <a:pt x="35" y="1"/>
                  </a:cubicBezTo>
                  <a:cubicBezTo>
                    <a:pt x="33" y="2"/>
                    <a:pt x="32" y="4"/>
                    <a:pt x="31" y="6"/>
                  </a:cubicBezTo>
                  <a:cubicBezTo>
                    <a:pt x="31" y="12"/>
                    <a:pt x="31" y="12"/>
                    <a:pt x="31" y="12"/>
                  </a:cubicBezTo>
                  <a:cubicBezTo>
                    <a:pt x="31" y="17"/>
                    <a:pt x="31" y="17"/>
                    <a:pt x="31" y="17"/>
                  </a:cubicBezTo>
                  <a:cubicBezTo>
                    <a:pt x="32" y="19"/>
                    <a:pt x="33" y="21"/>
                    <a:pt x="35" y="22"/>
                  </a:cubicBezTo>
                  <a:cubicBezTo>
                    <a:pt x="33" y="22"/>
                    <a:pt x="33" y="22"/>
                    <a:pt x="33" y="22"/>
                  </a:cubicBezTo>
                  <a:cubicBezTo>
                    <a:pt x="32" y="21"/>
                    <a:pt x="31" y="19"/>
                    <a:pt x="30" y="18"/>
                  </a:cubicBezTo>
                  <a:cubicBezTo>
                    <a:pt x="26" y="20"/>
                    <a:pt x="23" y="21"/>
                    <a:pt x="20" y="21"/>
                  </a:cubicBezTo>
                  <a:cubicBezTo>
                    <a:pt x="17" y="21"/>
                    <a:pt x="14" y="20"/>
                    <a:pt x="10" y="18"/>
                  </a:cubicBezTo>
                  <a:cubicBezTo>
                    <a:pt x="9" y="19"/>
                    <a:pt x="8" y="21"/>
                    <a:pt x="7" y="22"/>
                  </a:cubicBezTo>
                  <a:cubicBezTo>
                    <a:pt x="5" y="22"/>
                    <a:pt x="5" y="22"/>
                    <a:pt x="5" y="22"/>
                  </a:cubicBezTo>
                  <a:cubicBezTo>
                    <a:pt x="7" y="21"/>
                    <a:pt x="8" y="19"/>
                    <a:pt x="9" y="17"/>
                  </a:cubicBezTo>
                  <a:cubicBezTo>
                    <a:pt x="9" y="12"/>
                    <a:pt x="9" y="12"/>
                    <a:pt x="9" y="12"/>
                  </a:cubicBezTo>
                  <a:cubicBezTo>
                    <a:pt x="9" y="6"/>
                    <a:pt x="9" y="6"/>
                    <a:pt x="9" y="6"/>
                  </a:cubicBezTo>
                  <a:cubicBezTo>
                    <a:pt x="8" y="4"/>
                    <a:pt x="7" y="2"/>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371" name="Freeform 107">
              <a:extLst>
                <a:ext uri="{FF2B5EF4-FFF2-40B4-BE49-F238E27FC236}">
                  <a16:creationId xmlns:a16="http://schemas.microsoft.com/office/drawing/2014/main" id="{7332263A-29DD-403B-8B2E-3841332A68B5}"/>
                </a:ext>
              </a:extLst>
            </p:cNvPr>
            <p:cNvSpPr>
              <a:spLocks/>
            </p:cNvSpPr>
            <p:nvPr/>
          </p:nvSpPr>
          <p:spPr bwMode="auto">
            <a:xfrm>
              <a:off x="4756865" y="5189287"/>
              <a:ext cx="30047" cy="21855"/>
            </a:xfrm>
            <a:custGeom>
              <a:avLst/>
              <a:gdLst>
                <a:gd name="T0" fmla="*/ 20 w 20"/>
                <a:gd name="T1" fmla="*/ 13 h 16"/>
                <a:gd name="T2" fmla="*/ 20 w 20"/>
                <a:gd name="T3" fmla="*/ 8 h 16"/>
                <a:gd name="T4" fmla="*/ 20 w 20"/>
                <a:gd name="T5" fmla="*/ 3 h 16"/>
                <a:gd name="T6" fmla="*/ 10 w 20"/>
                <a:gd name="T7" fmla="*/ 0 h 16"/>
                <a:gd name="T8" fmla="*/ 0 w 20"/>
                <a:gd name="T9" fmla="*/ 3 h 16"/>
                <a:gd name="T10" fmla="*/ 0 w 20"/>
                <a:gd name="T11" fmla="*/ 8 h 16"/>
                <a:gd name="T12" fmla="*/ 0 w 20"/>
                <a:gd name="T13" fmla="*/ 13 h 16"/>
                <a:gd name="T14" fmla="*/ 10 w 20"/>
                <a:gd name="T15" fmla="*/ 16 h 16"/>
                <a:gd name="T16" fmla="*/ 20 w 20"/>
                <a:gd name="T17" fmla="*/ 1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16">
                  <a:moveTo>
                    <a:pt x="20" y="13"/>
                  </a:moveTo>
                  <a:cubicBezTo>
                    <a:pt x="20" y="8"/>
                    <a:pt x="20" y="8"/>
                    <a:pt x="20" y="8"/>
                  </a:cubicBezTo>
                  <a:cubicBezTo>
                    <a:pt x="20" y="3"/>
                    <a:pt x="20" y="3"/>
                    <a:pt x="20" y="3"/>
                  </a:cubicBezTo>
                  <a:cubicBezTo>
                    <a:pt x="16" y="1"/>
                    <a:pt x="13" y="0"/>
                    <a:pt x="10" y="0"/>
                  </a:cubicBezTo>
                  <a:cubicBezTo>
                    <a:pt x="7" y="0"/>
                    <a:pt x="4" y="1"/>
                    <a:pt x="0" y="3"/>
                  </a:cubicBezTo>
                  <a:cubicBezTo>
                    <a:pt x="0" y="8"/>
                    <a:pt x="0" y="8"/>
                    <a:pt x="0" y="8"/>
                  </a:cubicBezTo>
                  <a:cubicBezTo>
                    <a:pt x="0" y="13"/>
                    <a:pt x="0" y="13"/>
                    <a:pt x="0" y="13"/>
                  </a:cubicBezTo>
                  <a:cubicBezTo>
                    <a:pt x="4" y="15"/>
                    <a:pt x="7" y="16"/>
                    <a:pt x="10" y="16"/>
                  </a:cubicBezTo>
                  <a:cubicBezTo>
                    <a:pt x="13" y="16"/>
                    <a:pt x="16" y="15"/>
                    <a:pt x="2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372" name="Freeform 108">
              <a:extLst>
                <a:ext uri="{FF2B5EF4-FFF2-40B4-BE49-F238E27FC236}">
                  <a16:creationId xmlns:a16="http://schemas.microsoft.com/office/drawing/2014/main" id="{01B56B52-0D76-4C6B-8967-27D6F15A777C}"/>
                </a:ext>
              </a:extLst>
            </p:cNvPr>
            <p:cNvSpPr>
              <a:spLocks/>
            </p:cNvSpPr>
            <p:nvPr/>
          </p:nvSpPr>
          <p:spPr bwMode="auto">
            <a:xfrm>
              <a:off x="4759913" y="5154163"/>
              <a:ext cx="23951" cy="19123"/>
            </a:xfrm>
            <a:custGeom>
              <a:avLst/>
              <a:gdLst>
                <a:gd name="T0" fmla="*/ 16 w 16"/>
                <a:gd name="T1" fmla="*/ 3 h 14"/>
                <a:gd name="T2" fmla="*/ 13 w 16"/>
                <a:gd name="T3" fmla="*/ 0 h 14"/>
                <a:gd name="T4" fmla="*/ 3 w 16"/>
                <a:gd name="T5" fmla="*/ 0 h 14"/>
                <a:gd name="T6" fmla="*/ 0 w 16"/>
                <a:gd name="T7" fmla="*/ 3 h 14"/>
                <a:gd name="T8" fmla="*/ 0 w 16"/>
                <a:gd name="T9" fmla="*/ 14 h 14"/>
                <a:gd name="T10" fmla="*/ 16 w 16"/>
                <a:gd name="T11" fmla="*/ 14 h 14"/>
                <a:gd name="T12" fmla="*/ 16 w 16"/>
                <a:gd name="T13" fmla="*/ 3 h 14"/>
              </a:gdLst>
              <a:ahLst/>
              <a:cxnLst>
                <a:cxn ang="0">
                  <a:pos x="T0" y="T1"/>
                </a:cxn>
                <a:cxn ang="0">
                  <a:pos x="T2" y="T3"/>
                </a:cxn>
                <a:cxn ang="0">
                  <a:pos x="T4" y="T5"/>
                </a:cxn>
                <a:cxn ang="0">
                  <a:pos x="T6" y="T7"/>
                </a:cxn>
                <a:cxn ang="0">
                  <a:pos x="T8" y="T9"/>
                </a:cxn>
                <a:cxn ang="0">
                  <a:pos x="T10" y="T11"/>
                </a:cxn>
                <a:cxn ang="0">
                  <a:pos x="T12" y="T13"/>
                </a:cxn>
              </a:cxnLst>
              <a:rect l="0" t="0" r="r" b="b"/>
              <a:pathLst>
                <a:path w="16" h="14">
                  <a:moveTo>
                    <a:pt x="16" y="3"/>
                  </a:moveTo>
                  <a:cubicBezTo>
                    <a:pt x="16" y="1"/>
                    <a:pt x="15" y="0"/>
                    <a:pt x="13" y="0"/>
                  </a:cubicBezTo>
                  <a:cubicBezTo>
                    <a:pt x="3" y="0"/>
                    <a:pt x="3" y="0"/>
                    <a:pt x="3" y="0"/>
                  </a:cubicBezTo>
                  <a:cubicBezTo>
                    <a:pt x="2" y="0"/>
                    <a:pt x="0" y="1"/>
                    <a:pt x="0" y="3"/>
                  </a:cubicBezTo>
                  <a:cubicBezTo>
                    <a:pt x="0" y="14"/>
                    <a:pt x="0" y="14"/>
                    <a:pt x="0" y="14"/>
                  </a:cubicBezTo>
                  <a:cubicBezTo>
                    <a:pt x="16" y="14"/>
                    <a:pt x="16" y="14"/>
                    <a:pt x="16" y="14"/>
                  </a:cubicBezTo>
                  <a:lnTo>
                    <a:pt x="16"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373" name="Rectangle 109">
              <a:extLst>
                <a:ext uri="{FF2B5EF4-FFF2-40B4-BE49-F238E27FC236}">
                  <a16:creationId xmlns:a16="http://schemas.microsoft.com/office/drawing/2014/main" id="{C308995F-2CB7-4DA0-8C5E-DB714A3001EC}"/>
                </a:ext>
              </a:extLst>
            </p:cNvPr>
            <p:cNvSpPr>
              <a:spLocks noChangeArrowheads="1"/>
            </p:cNvSpPr>
            <p:nvPr/>
          </p:nvSpPr>
          <p:spPr bwMode="auto">
            <a:xfrm>
              <a:off x="4759913" y="5269292"/>
              <a:ext cx="23951" cy="1209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374" name="Freeform 110">
              <a:extLst>
                <a:ext uri="{FF2B5EF4-FFF2-40B4-BE49-F238E27FC236}">
                  <a16:creationId xmlns:a16="http://schemas.microsoft.com/office/drawing/2014/main" id="{1CC15034-1892-4E3D-AE83-A834792F983E}"/>
                </a:ext>
              </a:extLst>
            </p:cNvPr>
            <p:cNvSpPr>
              <a:spLocks noEditPoints="1"/>
            </p:cNvSpPr>
            <p:nvPr/>
          </p:nvSpPr>
          <p:spPr bwMode="auto">
            <a:xfrm>
              <a:off x="4741623" y="5183823"/>
              <a:ext cx="61836" cy="32783"/>
            </a:xfrm>
            <a:custGeom>
              <a:avLst/>
              <a:gdLst>
                <a:gd name="T0" fmla="*/ 6 w 41"/>
                <a:gd name="T1" fmla="*/ 24 h 24"/>
                <a:gd name="T2" fmla="*/ 35 w 41"/>
                <a:gd name="T3" fmla="*/ 24 h 24"/>
                <a:gd name="T4" fmla="*/ 41 w 41"/>
                <a:gd name="T5" fmla="*/ 18 h 24"/>
                <a:gd name="T6" fmla="*/ 41 w 41"/>
                <a:gd name="T7" fmla="*/ 6 h 24"/>
                <a:gd name="T8" fmla="*/ 35 w 41"/>
                <a:gd name="T9" fmla="*/ 0 h 24"/>
                <a:gd name="T10" fmla="*/ 6 w 41"/>
                <a:gd name="T11" fmla="*/ 0 h 24"/>
                <a:gd name="T12" fmla="*/ 0 w 41"/>
                <a:gd name="T13" fmla="*/ 6 h 24"/>
                <a:gd name="T14" fmla="*/ 0 w 41"/>
                <a:gd name="T15" fmla="*/ 18 h 24"/>
                <a:gd name="T16" fmla="*/ 6 w 41"/>
                <a:gd name="T17" fmla="*/ 24 h 24"/>
                <a:gd name="T18" fmla="*/ 5 w 41"/>
                <a:gd name="T19" fmla="*/ 2 h 24"/>
                <a:gd name="T20" fmla="*/ 7 w 41"/>
                <a:gd name="T21" fmla="*/ 2 h 24"/>
                <a:gd name="T22" fmla="*/ 10 w 41"/>
                <a:gd name="T23" fmla="*/ 6 h 24"/>
                <a:gd name="T24" fmla="*/ 20 w 41"/>
                <a:gd name="T25" fmla="*/ 3 h 24"/>
                <a:gd name="T26" fmla="*/ 30 w 41"/>
                <a:gd name="T27" fmla="*/ 6 h 24"/>
                <a:gd name="T28" fmla="*/ 33 w 41"/>
                <a:gd name="T29" fmla="*/ 2 h 24"/>
                <a:gd name="T30" fmla="*/ 35 w 41"/>
                <a:gd name="T31" fmla="*/ 2 h 24"/>
                <a:gd name="T32" fmla="*/ 31 w 41"/>
                <a:gd name="T33" fmla="*/ 7 h 24"/>
                <a:gd name="T34" fmla="*/ 31 w 41"/>
                <a:gd name="T35" fmla="*/ 12 h 24"/>
                <a:gd name="T36" fmla="*/ 31 w 41"/>
                <a:gd name="T37" fmla="*/ 18 h 24"/>
                <a:gd name="T38" fmla="*/ 35 w 41"/>
                <a:gd name="T39" fmla="*/ 23 h 24"/>
                <a:gd name="T40" fmla="*/ 33 w 41"/>
                <a:gd name="T41" fmla="*/ 23 h 24"/>
                <a:gd name="T42" fmla="*/ 30 w 41"/>
                <a:gd name="T43" fmla="*/ 18 h 24"/>
                <a:gd name="T44" fmla="*/ 20 w 41"/>
                <a:gd name="T45" fmla="*/ 21 h 24"/>
                <a:gd name="T46" fmla="*/ 10 w 41"/>
                <a:gd name="T47" fmla="*/ 18 h 24"/>
                <a:gd name="T48" fmla="*/ 7 w 41"/>
                <a:gd name="T49" fmla="*/ 23 h 24"/>
                <a:gd name="T50" fmla="*/ 5 w 41"/>
                <a:gd name="T51" fmla="*/ 23 h 24"/>
                <a:gd name="T52" fmla="*/ 9 w 41"/>
                <a:gd name="T53" fmla="*/ 18 h 24"/>
                <a:gd name="T54" fmla="*/ 9 w 41"/>
                <a:gd name="T55" fmla="*/ 12 h 24"/>
                <a:gd name="T56" fmla="*/ 9 w 41"/>
                <a:gd name="T57" fmla="*/ 7 h 24"/>
                <a:gd name="T58" fmla="*/ 5 w 41"/>
                <a:gd name="T59" fmla="*/ 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1" h="24">
                  <a:moveTo>
                    <a:pt x="6" y="24"/>
                  </a:moveTo>
                  <a:cubicBezTo>
                    <a:pt x="35" y="24"/>
                    <a:pt x="35" y="24"/>
                    <a:pt x="35" y="24"/>
                  </a:cubicBezTo>
                  <a:cubicBezTo>
                    <a:pt x="38" y="24"/>
                    <a:pt x="41" y="21"/>
                    <a:pt x="41" y="18"/>
                  </a:cubicBezTo>
                  <a:cubicBezTo>
                    <a:pt x="41" y="6"/>
                    <a:pt x="41" y="6"/>
                    <a:pt x="41" y="6"/>
                  </a:cubicBezTo>
                  <a:cubicBezTo>
                    <a:pt x="41" y="3"/>
                    <a:pt x="38" y="0"/>
                    <a:pt x="35" y="0"/>
                  </a:cubicBezTo>
                  <a:cubicBezTo>
                    <a:pt x="6" y="0"/>
                    <a:pt x="6" y="0"/>
                    <a:pt x="6" y="0"/>
                  </a:cubicBezTo>
                  <a:cubicBezTo>
                    <a:pt x="2" y="0"/>
                    <a:pt x="0" y="3"/>
                    <a:pt x="0" y="6"/>
                  </a:cubicBezTo>
                  <a:cubicBezTo>
                    <a:pt x="0" y="18"/>
                    <a:pt x="0" y="18"/>
                    <a:pt x="0" y="18"/>
                  </a:cubicBezTo>
                  <a:cubicBezTo>
                    <a:pt x="0" y="21"/>
                    <a:pt x="2" y="24"/>
                    <a:pt x="6" y="24"/>
                  </a:cubicBezTo>
                  <a:close/>
                  <a:moveTo>
                    <a:pt x="5" y="2"/>
                  </a:moveTo>
                  <a:cubicBezTo>
                    <a:pt x="7" y="2"/>
                    <a:pt x="7" y="2"/>
                    <a:pt x="7" y="2"/>
                  </a:cubicBezTo>
                  <a:cubicBezTo>
                    <a:pt x="8" y="3"/>
                    <a:pt x="9" y="4"/>
                    <a:pt x="10" y="6"/>
                  </a:cubicBezTo>
                  <a:cubicBezTo>
                    <a:pt x="14" y="4"/>
                    <a:pt x="17" y="3"/>
                    <a:pt x="20" y="3"/>
                  </a:cubicBezTo>
                  <a:cubicBezTo>
                    <a:pt x="23" y="3"/>
                    <a:pt x="26" y="4"/>
                    <a:pt x="30" y="6"/>
                  </a:cubicBezTo>
                  <a:cubicBezTo>
                    <a:pt x="31" y="4"/>
                    <a:pt x="32" y="3"/>
                    <a:pt x="33" y="2"/>
                  </a:cubicBezTo>
                  <a:cubicBezTo>
                    <a:pt x="35" y="2"/>
                    <a:pt x="35" y="2"/>
                    <a:pt x="35" y="2"/>
                  </a:cubicBezTo>
                  <a:cubicBezTo>
                    <a:pt x="33" y="3"/>
                    <a:pt x="32" y="5"/>
                    <a:pt x="31" y="7"/>
                  </a:cubicBezTo>
                  <a:cubicBezTo>
                    <a:pt x="31" y="12"/>
                    <a:pt x="31" y="12"/>
                    <a:pt x="31" y="12"/>
                  </a:cubicBezTo>
                  <a:cubicBezTo>
                    <a:pt x="31" y="18"/>
                    <a:pt x="31" y="18"/>
                    <a:pt x="31" y="18"/>
                  </a:cubicBezTo>
                  <a:cubicBezTo>
                    <a:pt x="32" y="20"/>
                    <a:pt x="33" y="21"/>
                    <a:pt x="35" y="23"/>
                  </a:cubicBezTo>
                  <a:cubicBezTo>
                    <a:pt x="33" y="23"/>
                    <a:pt x="33" y="23"/>
                    <a:pt x="33" y="23"/>
                  </a:cubicBezTo>
                  <a:cubicBezTo>
                    <a:pt x="32" y="21"/>
                    <a:pt x="31" y="20"/>
                    <a:pt x="30" y="18"/>
                  </a:cubicBezTo>
                  <a:cubicBezTo>
                    <a:pt x="26" y="20"/>
                    <a:pt x="23" y="21"/>
                    <a:pt x="20" y="21"/>
                  </a:cubicBezTo>
                  <a:cubicBezTo>
                    <a:pt x="17" y="21"/>
                    <a:pt x="14" y="20"/>
                    <a:pt x="10" y="18"/>
                  </a:cubicBezTo>
                  <a:cubicBezTo>
                    <a:pt x="9" y="20"/>
                    <a:pt x="8" y="21"/>
                    <a:pt x="7" y="23"/>
                  </a:cubicBezTo>
                  <a:cubicBezTo>
                    <a:pt x="5" y="23"/>
                    <a:pt x="5" y="23"/>
                    <a:pt x="5" y="23"/>
                  </a:cubicBezTo>
                  <a:cubicBezTo>
                    <a:pt x="7" y="21"/>
                    <a:pt x="8" y="20"/>
                    <a:pt x="9" y="18"/>
                  </a:cubicBezTo>
                  <a:cubicBezTo>
                    <a:pt x="9" y="12"/>
                    <a:pt x="9" y="12"/>
                    <a:pt x="9" y="12"/>
                  </a:cubicBezTo>
                  <a:cubicBezTo>
                    <a:pt x="9" y="7"/>
                    <a:pt x="9" y="7"/>
                    <a:pt x="9" y="7"/>
                  </a:cubicBezTo>
                  <a:cubicBezTo>
                    <a:pt x="8" y="5"/>
                    <a:pt x="7" y="3"/>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375" name="Freeform 111">
              <a:extLst>
                <a:ext uri="{FF2B5EF4-FFF2-40B4-BE49-F238E27FC236}">
                  <a16:creationId xmlns:a16="http://schemas.microsoft.com/office/drawing/2014/main" id="{0ACE55D3-26D0-4193-943A-CECC50A55DC6}"/>
                </a:ext>
              </a:extLst>
            </p:cNvPr>
            <p:cNvSpPr>
              <a:spLocks/>
            </p:cNvSpPr>
            <p:nvPr/>
          </p:nvSpPr>
          <p:spPr bwMode="auto">
            <a:xfrm>
              <a:off x="4903182" y="5292318"/>
              <a:ext cx="158946" cy="309874"/>
            </a:xfrm>
            <a:custGeom>
              <a:avLst/>
              <a:gdLst>
                <a:gd name="T0" fmla="*/ 15 w 105"/>
                <a:gd name="T1" fmla="*/ 209 h 229"/>
                <a:gd name="T2" fmla="*/ 28 w 105"/>
                <a:gd name="T3" fmla="*/ 224 h 229"/>
                <a:gd name="T4" fmla="*/ 33 w 105"/>
                <a:gd name="T5" fmla="*/ 229 h 229"/>
                <a:gd name="T6" fmla="*/ 76 w 105"/>
                <a:gd name="T7" fmla="*/ 224 h 229"/>
                <a:gd name="T8" fmla="*/ 76 w 105"/>
                <a:gd name="T9" fmla="*/ 224 h 229"/>
                <a:gd name="T10" fmla="*/ 101 w 105"/>
                <a:gd name="T11" fmla="*/ 208 h 229"/>
                <a:gd name="T12" fmla="*/ 105 w 105"/>
                <a:gd name="T13" fmla="*/ 201 h 229"/>
                <a:gd name="T14" fmla="*/ 90 w 105"/>
                <a:gd name="T15" fmla="*/ 195 h 229"/>
                <a:gd name="T16" fmla="*/ 76 w 105"/>
                <a:gd name="T17" fmla="*/ 180 h 229"/>
                <a:gd name="T18" fmla="*/ 90 w 105"/>
                <a:gd name="T19" fmla="*/ 165 h 229"/>
                <a:gd name="T20" fmla="*/ 105 w 105"/>
                <a:gd name="T21" fmla="*/ 160 h 229"/>
                <a:gd name="T22" fmla="*/ 101 w 105"/>
                <a:gd name="T23" fmla="*/ 153 h 229"/>
                <a:gd name="T24" fmla="*/ 76 w 105"/>
                <a:gd name="T25" fmla="*/ 137 h 229"/>
                <a:gd name="T26" fmla="*/ 76 w 105"/>
                <a:gd name="T27" fmla="*/ 136 h 229"/>
                <a:gd name="T28" fmla="*/ 101 w 105"/>
                <a:gd name="T29" fmla="*/ 120 h 229"/>
                <a:gd name="T30" fmla="*/ 105 w 105"/>
                <a:gd name="T31" fmla="*/ 113 h 229"/>
                <a:gd name="T32" fmla="*/ 90 w 105"/>
                <a:gd name="T33" fmla="*/ 108 h 229"/>
                <a:gd name="T34" fmla="*/ 76 w 105"/>
                <a:gd name="T35" fmla="*/ 93 h 229"/>
                <a:gd name="T36" fmla="*/ 90 w 105"/>
                <a:gd name="T37" fmla="*/ 77 h 229"/>
                <a:gd name="T38" fmla="*/ 105 w 105"/>
                <a:gd name="T39" fmla="*/ 72 h 229"/>
                <a:gd name="T40" fmla="*/ 101 w 105"/>
                <a:gd name="T41" fmla="*/ 65 h 229"/>
                <a:gd name="T42" fmla="*/ 76 w 105"/>
                <a:gd name="T43" fmla="*/ 49 h 229"/>
                <a:gd name="T44" fmla="*/ 76 w 105"/>
                <a:gd name="T45" fmla="*/ 48 h 229"/>
                <a:gd name="T46" fmla="*/ 101 w 105"/>
                <a:gd name="T47" fmla="*/ 32 h 229"/>
                <a:gd name="T48" fmla="*/ 105 w 105"/>
                <a:gd name="T49" fmla="*/ 25 h 229"/>
                <a:gd name="T50" fmla="*/ 90 w 105"/>
                <a:gd name="T51" fmla="*/ 20 h 229"/>
                <a:gd name="T52" fmla="*/ 76 w 105"/>
                <a:gd name="T53" fmla="*/ 5 h 229"/>
                <a:gd name="T54" fmla="*/ 72 w 105"/>
                <a:gd name="T55" fmla="*/ 0 h 229"/>
                <a:gd name="T56" fmla="*/ 28 w 105"/>
                <a:gd name="T57" fmla="*/ 5 h 229"/>
                <a:gd name="T58" fmla="*/ 28 w 105"/>
                <a:gd name="T59" fmla="*/ 5 h 229"/>
                <a:gd name="T60" fmla="*/ 3 w 105"/>
                <a:gd name="T61" fmla="*/ 21 h 229"/>
                <a:gd name="T62" fmla="*/ 0 w 105"/>
                <a:gd name="T63" fmla="*/ 28 h 229"/>
                <a:gd name="T64" fmla="*/ 15 w 105"/>
                <a:gd name="T65" fmla="*/ 33 h 229"/>
                <a:gd name="T66" fmla="*/ 28 w 105"/>
                <a:gd name="T67" fmla="*/ 49 h 229"/>
                <a:gd name="T68" fmla="*/ 15 w 105"/>
                <a:gd name="T69" fmla="*/ 64 h 229"/>
                <a:gd name="T70" fmla="*/ 0 w 105"/>
                <a:gd name="T71" fmla="*/ 69 h 229"/>
                <a:gd name="T72" fmla="*/ 3 w 105"/>
                <a:gd name="T73" fmla="*/ 76 h 229"/>
                <a:gd name="T74" fmla="*/ 28 w 105"/>
                <a:gd name="T75" fmla="*/ 92 h 229"/>
                <a:gd name="T76" fmla="*/ 28 w 105"/>
                <a:gd name="T77" fmla="*/ 93 h 229"/>
                <a:gd name="T78" fmla="*/ 3 w 105"/>
                <a:gd name="T79" fmla="*/ 109 h 229"/>
                <a:gd name="T80" fmla="*/ 0 w 105"/>
                <a:gd name="T81" fmla="*/ 116 h 229"/>
                <a:gd name="T82" fmla="*/ 15 w 105"/>
                <a:gd name="T83" fmla="*/ 121 h 229"/>
                <a:gd name="T84" fmla="*/ 28 w 105"/>
                <a:gd name="T85" fmla="*/ 136 h 229"/>
                <a:gd name="T86" fmla="*/ 15 w 105"/>
                <a:gd name="T87" fmla="*/ 152 h 229"/>
                <a:gd name="T88" fmla="*/ 0 w 105"/>
                <a:gd name="T89" fmla="*/ 157 h 229"/>
                <a:gd name="T90" fmla="*/ 3 w 105"/>
                <a:gd name="T91" fmla="*/ 164 h 229"/>
                <a:gd name="T92" fmla="*/ 28 w 105"/>
                <a:gd name="T93" fmla="*/ 180 h 229"/>
                <a:gd name="T94" fmla="*/ 28 w 105"/>
                <a:gd name="T95" fmla="*/ 180 h 229"/>
                <a:gd name="T96" fmla="*/ 3 w 105"/>
                <a:gd name="T97" fmla="*/ 197 h 229"/>
                <a:gd name="T98" fmla="*/ 0 w 105"/>
                <a:gd name="T99" fmla="*/ 204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5" h="229">
                  <a:moveTo>
                    <a:pt x="3" y="208"/>
                  </a:moveTo>
                  <a:cubicBezTo>
                    <a:pt x="15" y="209"/>
                    <a:pt x="15" y="209"/>
                    <a:pt x="15" y="209"/>
                  </a:cubicBezTo>
                  <a:cubicBezTo>
                    <a:pt x="22" y="210"/>
                    <a:pt x="28" y="216"/>
                    <a:pt x="28" y="224"/>
                  </a:cubicBezTo>
                  <a:cubicBezTo>
                    <a:pt x="28" y="224"/>
                    <a:pt x="28" y="224"/>
                    <a:pt x="28" y="224"/>
                  </a:cubicBezTo>
                  <a:cubicBezTo>
                    <a:pt x="28" y="224"/>
                    <a:pt x="28" y="224"/>
                    <a:pt x="28" y="224"/>
                  </a:cubicBezTo>
                  <a:cubicBezTo>
                    <a:pt x="28" y="227"/>
                    <a:pt x="30" y="229"/>
                    <a:pt x="33" y="229"/>
                  </a:cubicBezTo>
                  <a:cubicBezTo>
                    <a:pt x="72" y="229"/>
                    <a:pt x="72" y="229"/>
                    <a:pt x="72" y="229"/>
                  </a:cubicBezTo>
                  <a:cubicBezTo>
                    <a:pt x="74" y="229"/>
                    <a:pt x="76" y="227"/>
                    <a:pt x="76" y="224"/>
                  </a:cubicBezTo>
                  <a:cubicBezTo>
                    <a:pt x="76" y="224"/>
                    <a:pt x="76" y="224"/>
                    <a:pt x="76" y="224"/>
                  </a:cubicBezTo>
                  <a:cubicBezTo>
                    <a:pt x="76" y="224"/>
                    <a:pt x="76" y="224"/>
                    <a:pt x="76" y="224"/>
                  </a:cubicBezTo>
                  <a:cubicBezTo>
                    <a:pt x="76" y="216"/>
                    <a:pt x="82" y="210"/>
                    <a:pt x="90" y="209"/>
                  </a:cubicBezTo>
                  <a:cubicBezTo>
                    <a:pt x="101" y="208"/>
                    <a:pt x="101" y="208"/>
                    <a:pt x="101" y="208"/>
                  </a:cubicBezTo>
                  <a:cubicBezTo>
                    <a:pt x="103" y="208"/>
                    <a:pt x="105" y="206"/>
                    <a:pt x="105" y="204"/>
                  </a:cubicBezTo>
                  <a:cubicBezTo>
                    <a:pt x="105" y="201"/>
                    <a:pt x="105" y="201"/>
                    <a:pt x="105" y="201"/>
                  </a:cubicBezTo>
                  <a:cubicBezTo>
                    <a:pt x="105" y="199"/>
                    <a:pt x="103" y="197"/>
                    <a:pt x="101" y="197"/>
                  </a:cubicBezTo>
                  <a:cubicBezTo>
                    <a:pt x="90" y="195"/>
                    <a:pt x="90" y="195"/>
                    <a:pt x="90" y="195"/>
                  </a:cubicBezTo>
                  <a:cubicBezTo>
                    <a:pt x="82" y="195"/>
                    <a:pt x="76" y="188"/>
                    <a:pt x="76" y="180"/>
                  </a:cubicBezTo>
                  <a:cubicBezTo>
                    <a:pt x="76" y="180"/>
                    <a:pt x="76" y="180"/>
                    <a:pt x="76" y="180"/>
                  </a:cubicBezTo>
                  <a:cubicBezTo>
                    <a:pt x="76" y="180"/>
                    <a:pt x="76" y="180"/>
                    <a:pt x="76" y="180"/>
                  </a:cubicBezTo>
                  <a:cubicBezTo>
                    <a:pt x="76" y="172"/>
                    <a:pt x="82" y="166"/>
                    <a:pt x="90" y="165"/>
                  </a:cubicBezTo>
                  <a:cubicBezTo>
                    <a:pt x="101" y="164"/>
                    <a:pt x="101" y="164"/>
                    <a:pt x="101" y="164"/>
                  </a:cubicBezTo>
                  <a:cubicBezTo>
                    <a:pt x="103" y="164"/>
                    <a:pt x="105" y="162"/>
                    <a:pt x="105" y="160"/>
                  </a:cubicBezTo>
                  <a:cubicBezTo>
                    <a:pt x="105" y="157"/>
                    <a:pt x="105" y="157"/>
                    <a:pt x="105" y="157"/>
                  </a:cubicBezTo>
                  <a:cubicBezTo>
                    <a:pt x="105" y="155"/>
                    <a:pt x="103" y="153"/>
                    <a:pt x="101" y="153"/>
                  </a:cubicBezTo>
                  <a:cubicBezTo>
                    <a:pt x="90" y="152"/>
                    <a:pt x="90" y="152"/>
                    <a:pt x="90" y="152"/>
                  </a:cubicBezTo>
                  <a:cubicBezTo>
                    <a:pt x="82" y="151"/>
                    <a:pt x="76" y="144"/>
                    <a:pt x="76" y="137"/>
                  </a:cubicBezTo>
                  <a:cubicBezTo>
                    <a:pt x="76" y="136"/>
                    <a:pt x="76" y="136"/>
                    <a:pt x="76" y="136"/>
                  </a:cubicBezTo>
                  <a:cubicBezTo>
                    <a:pt x="76" y="136"/>
                    <a:pt x="76" y="136"/>
                    <a:pt x="76" y="136"/>
                  </a:cubicBezTo>
                  <a:cubicBezTo>
                    <a:pt x="76" y="129"/>
                    <a:pt x="82" y="122"/>
                    <a:pt x="90" y="121"/>
                  </a:cubicBezTo>
                  <a:cubicBezTo>
                    <a:pt x="101" y="120"/>
                    <a:pt x="101" y="120"/>
                    <a:pt x="101" y="120"/>
                  </a:cubicBezTo>
                  <a:cubicBezTo>
                    <a:pt x="103" y="120"/>
                    <a:pt x="105" y="118"/>
                    <a:pt x="105" y="116"/>
                  </a:cubicBezTo>
                  <a:cubicBezTo>
                    <a:pt x="105" y="113"/>
                    <a:pt x="105" y="113"/>
                    <a:pt x="105" y="113"/>
                  </a:cubicBezTo>
                  <a:cubicBezTo>
                    <a:pt x="105" y="111"/>
                    <a:pt x="103" y="109"/>
                    <a:pt x="101" y="109"/>
                  </a:cubicBezTo>
                  <a:cubicBezTo>
                    <a:pt x="90" y="108"/>
                    <a:pt x="90" y="108"/>
                    <a:pt x="90" y="108"/>
                  </a:cubicBezTo>
                  <a:cubicBezTo>
                    <a:pt x="82" y="107"/>
                    <a:pt x="76" y="100"/>
                    <a:pt x="76" y="93"/>
                  </a:cubicBezTo>
                  <a:cubicBezTo>
                    <a:pt x="76" y="93"/>
                    <a:pt x="76" y="93"/>
                    <a:pt x="76" y="93"/>
                  </a:cubicBezTo>
                  <a:cubicBezTo>
                    <a:pt x="76" y="92"/>
                    <a:pt x="76" y="92"/>
                    <a:pt x="76" y="92"/>
                  </a:cubicBezTo>
                  <a:cubicBezTo>
                    <a:pt x="76" y="85"/>
                    <a:pt x="82" y="78"/>
                    <a:pt x="90" y="77"/>
                  </a:cubicBezTo>
                  <a:cubicBezTo>
                    <a:pt x="101" y="76"/>
                    <a:pt x="101" y="76"/>
                    <a:pt x="101" y="76"/>
                  </a:cubicBezTo>
                  <a:cubicBezTo>
                    <a:pt x="103" y="76"/>
                    <a:pt x="105" y="74"/>
                    <a:pt x="105" y="72"/>
                  </a:cubicBezTo>
                  <a:cubicBezTo>
                    <a:pt x="105" y="69"/>
                    <a:pt x="105" y="69"/>
                    <a:pt x="105" y="69"/>
                  </a:cubicBezTo>
                  <a:cubicBezTo>
                    <a:pt x="105" y="67"/>
                    <a:pt x="103" y="65"/>
                    <a:pt x="101" y="65"/>
                  </a:cubicBezTo>
                  <a:cubicBezTo>
                    <a:pt x="90" y="64"/>
                    <a:pt x="90" y="64"/>
                    <a:pt x="90" y="64"/>
                  </a:cubicBezTo>
                  <a:cubicBezTo>
                    <a:pt x="82" y="63"/>
                    <a:pt x="76" y="56"/>
                    <a:pt x="76" y="49"/>
                  </a:cubicBezTo>
                  <a:cubicBezTo>
                    <a:pt x="76" y="49"/>
                    <a:pt x="76" y="49"/>
                    <a:pt x="76" y="49"/>
                  </a:cubicBezTo>
                  <a:cubicBezTo>
                    <a:pt x="76" y="48"/>
                    <a:pt x="76" y="48"/>
                    <a:pt x="76" y="48"/>
                  </a:cubicBezTo>
                  <a:cubicBezTo>
                    <a:pt x="76" y="41"/>
                    <a:pt x="82" y="34"/>
                    <a:pt x="90" y="33"/>
                  </a:cubicBezTo>
                  <a:cubicBezTo>
                    <a:pt x="101" y="32"/>
                    <a:pt x="101" y="32"/>
                    <a:pt x="101" y="32"/>
                  </a:cubicBezTo>
                  <a:cubicBezTo>
                    <a:pt x="103" y="32"/>
                    <a:pt x="105" y="30"/>
                    <a:pt x="105" y="28"/>
                  </a:cubicBezTo>
                  <a:cubicBezTo>
                    <a:pt x="105" y="25"/>
                    <a:pt x="105" y="25"/>
                    <a:pt x="105" y="25"/>
                  </a:cubicBezTo>
                  <a:cubicBezTo>
                    <a:pt x="105" y="23"/>
                    <a:pt x="103" y="21"/>
                    <a:pt x="101" y="21"/>
                  </a:cubicBezTo>
                  <a:cubicBezTo>
                    <a:pt x="90" y="20"/>
                    <a:pt x="90" y="20"/>
                    <a:pt x="90" y="20"/>
                  </a:cubicBezTo>
                  <a:cubicBezTo>
                    <a:pt x="82" y="19"/>
                    <a:pt x="76" y="13"/>
                    <a:pt x="76" y="5"/>
                  </a:cubicBezTo>
                  <a:cubicBezTo>
                    <a:pt x="76" y="5"/>
                    <a:pt x="76" y="5"/>
                    <a:pt x="76" y="5"/>
                  </a:cubicBezTo>
                  <a:cubicBezTo>
                    <a:pt x="76" y="5"/>
                    <a:pt x="76" y="5"/>
                    <a:pt x="76" y="5"/>
                  </a:cubicBezTo>
                  <a:cubicBezTo>
                    <a:pt x="76" y="2"/>
                    <a:pt x="74" y="0"/>
                    <a:pt x="72" y="0"/>
                  </a:cubicBezTo>
                  <a:cubicBezTo>
                    <a:pt x="33" y="0"/>
                    <a:pt x="33" y="0"/>
                    <a:pt x="33" y="0"/>
                  </a:cubicBezTo>
                  <a:cubicBezTo>
                    <a:pt x="30" y="0"/>
                    <a:pt x="28" y="2"/>
                    <a:pt x="28" y="5"/>
                  </a:cubicBezTo>
                  <a:cubicBezTo>
                    <a:pt x="28" y="5"/>
                    <a:pt x="28" y="5"/>
                    <a:pt x="28" y="5"/>
                  </a:cubicBezTo>
                  <a:cubicBezTo>
                    <a:pt x="28" y="5"/>
                    <a:pt x="28" y="5"/>
                    <a:pt x="28" y="5"/>
                  </a:cubicBezTo>
                  <a:cubicBezTo>
                    <a:pt x="28" y="13"/>
                    <a:pt x="22" y="19"/>
                    <a:pt x="15" y="20"/>
                  </a:cubicBezTo>
                  <a:cubicBezTo>
                    <a:pt x="3" y="21"/>
                    <a:pt x="3" y="21"/>
                    <a:pt x="3" y="21"/>
                  </a:cubicBezTo>
                  <a:cubicBezTo>
                    <a:pt x="1" y="21"/>
                    <a:pt x="0" y="23"/>
                    <a:pt x="0" y="25"/>
                  </a:cubicBezTo>
                  <a:cubicBezTo>
                    <a:pt x="0" y="28"/>
                    <a:pt x="0" y="28"/>
                    <a:pt x="0" y="28"/>
                  </a:cubicBezTo>
                  <a:cubicBezTo>
                    <a:pt x="0" y="30"/>
                    <a:pt x="1" y="32"/>
                    <a:pt x="3" y="32"/>
                  </a:cubicBezTo>
                  <a:cubicBezTo>
                    <a:pt x="15" y="33"/>
                    <a:pt x="15" y="33"/>
                    <a:pt x="15" y="33"/>
                  </a:cubicBezTo>
                  <a:cubicBezTo>
                    <a:pt x="22" y="34"/>
                    <a:pt x="28" y="41"/>
                    <a:pt x="28" y="48"/>
                  </a:cubicBezTo>
                  <a:cubicBezTo>
                    <a:pt x="28" y="49"/>
                    <a:pt x="28" y="49"/>
                    <a:pt x="28" y="49"/>
                  </a:cubicBezTo>
                  <a:cubicBezTo>
                    <a:pt x="28" y="49"/>
                    <a:pt x="28" y="49"/>
                    <a:pt x="28" y="49"/>
                  </a:cubicBezTo>
                  <a:cubicBezTo>
                    <a:pt x="28" y="56"/>
                    <a:pt x="22" y="63"/>
                    <a:pt x="15" y="64"/>
                  </a:cubicBezTo>
                  <a:cubicBezTo>
                    <a:pt x="3" y="65"/>
                    <a:pt x="3" y="65"/>
                    <a:pt x="3" y="65"/>
                  </a:cubicBezTo>
                  <a:cubicBezTo>
                    <a:pt x="1" y="65"/>
                    <a:pt x="0" y="67"/>
                    <a:pt x="0" y="69"/>
                  </a:cubicBezTo>
                  <a:cubicBezTo>
                    <a:pt x="0" y="72"/>
                    <a:pt x="0" y="72"/>
                    <a:pt x="0" y="72"/>
                  </a:cubicBezTo>
                  <a:cubicBezTo>
                    <a:pt x="0" y="74"/>
                    <a:pt x="1" y="76"/>
                    <a:pt x="3" y="76"/>
                  </a:cubicBezTo>
                  <a:cubicBezTo>
                    <a:pt x="15" y="77"/>
                    <a:pt x="15" y="77"/>
                    <a:pt x="15" y="77"/>
                  </a:cubicBezTo>
                  <a:cubicBezTo>
                    <a:pt x="22" y="78"/>
                    <a:pt x="28" y="85"/>
                    <a:pt x="28" y="92"/>
                  </a:cubicBezTo>
                  <a:cubicBezTo>
                    <a:pt x="28" y="93"/>
                    <a:pt x="28" y="93"/>
                    <a:pt x="28" y="93"/>
                  </a:cubicBezTo>
                  <a:cubicBezTo>
                    <a:pt x="28" y="93"/>
                    <a:pt x="28" y="93"/>
                    <a:pt x="28" y="93"/>
                  </a:cubicBezTo>
                  <a:cubicBezTo>
                    <a:pt x="28" y="100"/>
                    <a:pt x="22" y="107"/>
                    <a:pt x="15" y="108"/>
                  </a:cubicBezTo>
                  <a:cubicBezTo>
                    <a:pt x="3" y="109"/>
                    <a:pt x="3" y="109"/>
                    <a:pt x="3" y="109"/>
                  </a:cubicBezTo>
                  <a:cubicBezTo>
                    <a:pt x="1" y="109"/>
                    <a:pt x="0" y="111"/>
                    <a:pt x="0" y="113"/>
                  </a:cubicBezTo>
                  <a:cubicBezTo>
                    <a:pt x="0" y="116"/>
                    <a:pt x="0" y="116"/>
                    <a:pt x="0" y="116"/>
                  </a:cubicBezTo>
                  <a:cubicBezTo>
                    <a:pt x="0" y="118"/>
                    <a:pt x="1" y="120"/>
                    <a:pt x="3" y="120"/>
                  </a:cubicBezTo>
                  <a:cubicBezTo>
                    <a:pt x="15" y="121"/>
                    <a:pt x="15" y="121"/>
                    <a:pt x="15" y="121"/>
                  </a:cubicBezTo>
                  <a:cubicBezTo>
                    <a:pt x="22" y="122"/>
                    <a:pt x="28" y="129"/>
                    <a:pt x="28" y="136"/>
                  </a:cubicBezTo>
                  <a:cubicBezTo>
                    <a:pt x="28" y="136"/>
                    <a:pt x="28" y="136"/>
                    <a:pt x="28" y="136"/>
                  </a:cubicBezTo>
                  <a:cubicBezTo>
                    <a:pt x="28" y="137"/>
                    <a:pt x="28" y="137"/>
                    <a:pt x="28" y="137"/>
                  </a:cubicBezTo>
                  <a:cubicBezTo>
                    <a:pt x="28" y="144"/>
                    <a:pt x="22" y="151"/>
                    <a:pt x="15" y="152"/>
                  </a:cubicBezTo>
                  <a:cubicBezTo>
                    <a:pt x="3" y="153"/>
                    <a:pt x="3" y="153"/>
                    <a:pt x="3" y="153"/>
                  </a:cubicBezTo>
                  <a:cubicBezTo>
                    <a:pt x="1" y="153"/>
                    <a:pt x="0" y="155"/>
                    <a:pt x="0" y="157"/>
                  </a:cubicBezTo>
                  <a:cubicBezTo>
                    <a:pt x="0" y="160"/>
                    <a:pt x="0" y="160"/>
                    <a:pt x="0" y="160"/>
                  </a:cubicBezTo>
                  <a:cubicBezTo>
                    <a:pt x="0" y="162"/>
                    <a:pt x="1" y="164"/>
                    <a:pt x="3" y="164"/>
                  </a:cubicBezTo>
                  <a:cubicBezTo>
                    <a:pt x="15" y="165"/>
                    <a:pt x="15" y="165"/>
                    <a:pt x="15" y="165"/>
                  </a:cubicBezTo>
                  <a:cubicBezTo>
                    <a:pt x="22" y="166"/>
                    <a:pt x="28" y="172"/>
                    <a:pt x="28" y="180"/>
                  </a:cubicBezTo>
                  <a:cubicBezTo>
                    <a:pt x="28" y="180"/>
                    <a:pt x="28" y="180"/>
                    <a:pt x="28" y="180"/>
                  </a:cubicBezTo>
                  <a:cubicBezTo>
                    <a:pt x="28" y="180"/>
                    <a:pt x="28" y="180"/>
                    <a:pt x="28" y="180"/>
                  </a:cubicBezTo>
                  <a:cubicBezTo>
                    <a:pt x="28" y="188"/>
                    <a:pt x="22" y="195"/>
                    <a:pt x="15" y="195"/>
                  </a:cubicBezTo>
                  <a:cubicBezTo>
                    <a:pt x="3" y="197"/>
                    <a:pt x="3" y="197"/>
                    <a:pt x="3" y="197"/>
                  </a:cubicBezTo>
                  <a:cubicBezTo>
                    <a:pt x="1" y="197"/>
                    <a:pt x="0" y="199"/>
                    <a:pt x="0" y="201"/>
                  </a:cubicBezTo>
                  <a:cubicBezTo>
                    <a:pt x="0" y="204"/>
                    <a:pt x="0" y="204"/>
                    <a:pt x="0" y="204"/>
                  </a:cubicBezTo>
                  <a:cubicBezTo>
                    <a:pt x="0" y="206"/>
                    <a:pt x="1" y="208"/>
                    <a:pt x="3" y="2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376" name="Freeform 112">
              <a:extLst>
                <a:ext uri="{FF2B5EF4-FFF2-40B4-BE49-F238E27FC236}">
                  <a16:creationId xmlns:a16="http://schemas.microsoft.com/office/drawing/2014/main" id="{CA2ABC7E-5D67-48DB-AC39-7DAC4F6124B8}"/>
                </a:ext>
              </a:extLst>
            </p:cNvPr>
            <p:cNvSpPr>
              <a:spLocks/>
            </p:cNvSpPr>
            <p:nvPr/>
          </p:nvSpPr>
          <p:spPr bwMode="auto">
            <a:xfrm>
              <a:off x="4966760" y="5232607"/>
              <a:ext cx="30047" cy="21855"/>
            </a:xfrm>
            <a:custGeom>
              <a:avLst/>
              <a:gdLst>
                <a:gd name="T0" fmla="*/ 20 w 20"/>
                <a:gd name="T1" fmla="*/ 13 h 16"/>
                <a:gd name="T2" fmla="*/ 20 w 20"/>
                <a:gd name="T3" fmla="*/ 8 h 16"/>
                <a:gd name="T4" fmla="*/ 20 w 20"/>
                <a:gd name="T5" fmla="*/ 2 h 16"/>
                <a:gd name="T6" fmla="*/ 10 w 20"/>
                <a:gd name="T7" fmla="*/ 0 h 16"/>
                <a:gd name="T8" fmla="*/ 0 w 20"/>
                <a:gd name="T9" fmla="*/ 2 h 16"/>
                <a:gd name="T10" fmla="*/ 0 w 20"/>
                <a:gd name="T11" fmla="*/ 8 h 16"/>
                <a:gd name="T12" fmla="*/ 0 w 20"/>
                <a:gd name="T13" fmla="*/ 13 h 16"/>
                <a:gd name="T14" fmla="*/ 10 w 20"/>
                <a:gd name="T15" fmla="*/ 15 h 16"/>
                <a:gd name="T16" fmla="*/ 20 w 20"/>
                <a:gd name="T17" fmla="*/ 1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16">
                  <a:moveTo>
                    <a:pt x="20" y="13"/>
                  </a:moveTo>
                  <a:cubicBezTo>
                    <a:pt x="20" y="8"/>
                    <a:pt x="20" y="8"/>
                    <a:pt x="20" y="8"/>
                  </a:cubicBezTo>
                  <a:cubicBezTo>
                    <a:pt x="20" y="2"/>
                    <a:pt x="20" y="2"/>
                    <a:pt x="20" y="2"/>
                  </a:cubicBezTo>
                  <a:cubicBezTo>
                    <a:pt x="16" y="0"/>
                    <a:pt x="13" y="0"/>
                    <a:pt x="10" y="0"/>
                  </a:cubicBezTo>
                  <a:cubicBezTo>
                    <a:pt x="7" y="0"/>
                    <a:pt x="4" y="0"/>
                    <a:pt x="0" y="2"/>
                  </a:cubicBezTo>
                  <a:cubicBezTo>
                    <a:pt x="0" y="8"/>
                    <a:pt x="0" y="8"/>
                    <a:pt x="0" y="8"/>
                  </a:cubicBezTo>
                  <a:cubicBezTo>
                    <a:pt x="0" y="13"/>
                    <a:pt x="0" y="13"/>
                    <a:pt x="0" y="13"/>
                  </a:cubicBezTo>
                  <a:cubicBezTo>
                    <a:pt x="4" y="15"/>
                    <a:pt x="7" y="16"/>
                    <a:pt x="10" y="15"/>
                  </a:cubicBezTo>
                  <a:cubicBezTo>
                    <a:pt x="13" y="16"/>
                    <a:pt x="16" y="15"/>
                    <a:pt x="2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377" name="Freeform 113">
              <a:extLst>
                <a:ext uri="{FF2B5EF4-FFF2-40B4-BE49-F238E27FC236}">
                  <a16:creationId xmlns:a16="http://schemas.microsoft.com/office/drawing/2014/main" id="{33F5E8A8-1215-47F9-BD36-C3EFD3E3D9A5}"/>
                </a:ext>
              </a:extLst>
            </p:cNvPr>
            <p:cNvSpPr>
              <a:spLocks noEditPoints="1"/>
            </p:cNvSpPr>
            <p:nvPr/>
          </p:nvSpPr>
          <p:spPr bwMode="auto">
            <a:xfrm>
              <a:off x="4951519" y="5227143"/>
              <a:ext cx="62272" cy="31222"/>
            </a:xfrm>
            <a:custGeom>
              <a:avLst/>
              <a:gdLst>
                <a:gd name="T0" fmla="*/ 6 w 41"/>
                <a:gd name="T1" fmla="*/ 23 h 23"/>
                <a:gd name="T2" fmla="*/ 35 w 41"/>
                <a:gd name="T3" fmla="*/ 23 h 23"/>
                <a:gd name="T4" fmla="*/ 41 w 41"/>
                <a:gd name="T5" fmla="*/ 18 h 23"/>
                <a:gd name="T6" fmla="*/ 41 w 41"/>
                <a:gd name="T7" fmla="*/ 5 h 23"/>
                <a:gd name="T8" fmla="*/ 35 w 41"/>
                <a:gd name="T9" fmla="*/ 0 h 23"/>
                <a:gd name="T10" fmla="*/ 6 w 41"/>
                <a:gd name="T11" fmla="*/ 0 h 23"/>
                <a:gd name="T12" fmla="*/ 0 w 41"/>
                <a:gd name="T13" fmla="*/ 5 h 23"/>
                <a:gd name="T14" fmla="*/ 0 w 41"/>
                <a:gd name="T15" fmla="*/ 18 h 23"/>
                <a:gd name="T16" fmla="*/ 6 w 41"/>
                <a:gd name="T17" fmla="*/ 23 h 23"/>
                <a:gd name="T18" fmla="*/ 5 w 41"/>
                <a:gd name="T19" fmla="*/ 1 h 23"/>
                <a:gd name="T20" fmla="*/ 7 w 41"/>
                <a:gd name="T21" fmla="*/ 1 h 23"/>
                <a:gd name="T22" fmla="*/ 10 w 41"/>
                <a:gd name="T23" fmla="*/ 5 h 23"/>
                <a:gd name="T24" fmla="*/ 20 w 41"/>
                <a:gd name="T25" fmla="*/ 3 h 23"/>
                <a:gd name="T26" fmla="*/ 30 w 41"/>
                <a:gd name="T27" fmla="*/ 5 h 23"/>
                <a:gd name="T28" fmla="*/ 33 w 41"/>
                <a:gd name="T29" fmla="*/ 1 h 23"/>
                <a:gd name="T30" fmla="*/ 35 w 41"/>
                <a:gd name="T31" fmla="*/ 1 h 23"/>
                <a:gd name="T32" fmla="*/ 31 w 41"/>
                <a:gd name="T33" fmla="*/ 6 h 23"/>
                <a:gd name="T34" fmla="*/ 31 w 41"/>
                <a:gd name="T35" fmla="*/ 12 h 23"/>
                <a:gd name="T36" fmla="*/ 31 w 41"/>
                <a:gd name="T37" fmla="*/ 17 h 23"/>
                <a:gd name="T38" fmla="*/ 35 w 41"/>
                <a:gd name="T39" fmla="*/ 22 h 23"/>
                <a:gd name="T40" fmla="*/ 33 w 41"/>
                <a:gd name="T41" fmla="*/ 22 h 23"/>
                <a:gd name="T42" fmla="*/ 30 w 41"/>
                <a:gd name="T43" fmla="*/ 18 h 23"/>
                <a:gd name="T44" fmla="*/ 20 w 41"/>
                <a:gd name="T45" fmla="*/ 21 h 23"/>
                <a:gd name="T46" fmla="*/ 10 w 41"/>
                <a:gd name="T47" fmla="*/ 18 h 23"/>
                <a:gd name="T48" fmla="*/ 7 w 41"/>
                <a:gd name="T49" fmla="*/ 22 h 23"/>
                <a:gd name="T50" fmla="*/ 5 w 41"/>
                <a:gd name="T51" fmla="*/ 22 h 23"/>
                <a:gd name="T52" fmla="*/ 9 w 41"/>
                <a:gd name="T53" fmla="*/ 17 h 23"/>
                <a:gd name="T54" fmla="*/ 9 w 41"/>
                <a:gd name="T55" fmla="*/ 12 h 23"/>
                <a:gd name="T56" fmla="*/ 9 w 41"/>
                <a:gd name="T57" fmla="*/ 6 h 23"/>
                <a:gd name="T58" fmla="*/ 5 w 41"/>
                <a:gd name="T59"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1" h="23">
                  <a:moveTo>
                    <a:pt x="6" y="23"/>
                  </a:moveTo>
                  <a:cubicBezTo>
                    <a:pt x="35" y="23"/>
                    <a:pt x="35" y="23"/>
                    <a:pt x="35" y="23"/>
                  </a:cubicBezTo>
                  <a:cubicBezTo>
                    <a:pt x="38" y="23"/>
                    <a:pt x="41" y="21"/>
                    <a:pt x="41" y="18"/>
                  </a:cubicBezTo>
                  <a:cubicBezTo>
                    <a:pt x="41" y="5"/>
                    <a:pt x="41" y="5"/>
                    <a:pt x="41" y="5"/>
                  </a:cubicBezTo>
                  <a:cubicBezTo>
                    <a:pt x="41" y="2"/>
                    <a:pt x="38" y="0"/>
                    <a:pt x="35" y="0"/>
                  </a:cubicBezTo>
                  <a:cubicBezTo>
                    <a:pt x="6" y="0"/>
                    <a:pt x="6" y="0"/>
                    <a:pt x="6" y="0"/>
                  </a:cubicBezTo>
                  <a:cubicBezTo>
                    <a:pt x="2" y="0"/>
                    <a:pt x="0" y="2"/>
                    <a:pt x="0" y="5"/>
                  </a:cubicBezTo>
                  <a:cubicBezTo>
                    <a:pt x="0" y="18"/>
                    <a:pt x="0" y="18"/>
                    <a:pt x="0" y="18"/>
                  </a:cubicBezTo>
                  <a:cubicBezTo>
                    <a:pt x="0" y="21"/>
                    <a:pt x="2" y="23"/>
                    <a:pt x="6" y="23"/>
                  </a:cubicBezTo>
                  <a:close/>
                  <a:moveTo>
                    <a:pt x="5" y="1"/>
                  </a:moveTo>
                  <a:cubicBezTo>
                    <a:pt x="7" y="1"/>
                    <a:pt x="7" y="1"/>
                    <a:pt x="7" y="1"/>
                  </a:cubicBezTo>
                  <a:cubicBezTo>
                    <a:pt x="8" y="2"/>
                    <a:pt x="9" y="4"/>
                    <a:pt x="10" y="5"/>
                  </a:cubicBezTo>
                  <a:cubicBezTo>
                    <a:pt x="14" y="3"/>
                    <a:pt x="17" y="2"/>
                    <a:pt x="20" y="3"/>
                  </a:cubicBezTo>
                  <a:cubicBezTo>
                    <a:pt x="23" y="2"/>
                    <a:pt x="27" y="3"/>
                    <a:pt x="30" y="5"/>
                  </a:cubicBezTo>
                  <a:cubicBezTo>
                    <a:pt x="31" y="4"/>
                    <a:pt x="32" y="2"/>
                    <a:pt x="33" y="1"/>
                  </a:cubicBezTo>
                  <a:cubicBezTo>
                    <a:pt x="35" y="1"/>
                    <a:pt x="35" y="1"/>
                    <a:pt x="35" y="1"/>
                  </a:cubicBezTo>
                  <a:cubicBezTo>
                    <a:pt x="33" y="2"/>
                    <a:pt x="32" y="4"/>
                    <a:pt x="31" y="6"/>
                  </a:cubicBezTo>
                  <a:cubicBezTo>
                    <a:pt x="31" y="12"/>
                    <a:pt x="31" y="12"/>
                    <a:pt x="31" y="12"/>
                  </a:cubicBezTo>
                  <a:cubicBezTo>
                    <a:pt x="31" y="17"/>
                    <a:pt x="31" y="17"/>
                    <a:pt x="31" y="17"/>
                  </a:cubicBezTo>
                  <a:cubicBezTo>
                    <a:pt x="32" y="19"/>
                    <a:pt x="33" y="21"/>
                    <a:pt x="35" y="22"/>
                  </a:cubicBezTo>
                  <a:cubicBezTo>
                    <a:pt x="33" y="22"/>
                    <a:pt x="33" y="22"/>
                    <a:pt x="33" y="22"/>
                  </a:cubicBezTo>
                  <a:cubicBezTo>
                    <a:pt x="32" y="21"/>
                    <a:pt x="31" y="19"/>
                    <a:pt x="30" y="18"/>
                  </a:cubicBezTo>
                  <a:cubicBezTo>
                    <a:pt x="27" y="20"/>
                    <a:pt x="23" y="21"/>
                    <a:pt x="20" y="21"/>
                  </a:cubicBezTo>
                  <a:cubicBezTo>
                    <a:pt x="17" y="21"/>
                    <a:pt x="14" y="20"/>
                    <a:pt x="10" y="18"/>
                  </a:cubicBezTo>
                  <a:cubicBezTo>
                    <a:pt x="9" y="19"/>
                    <a:pt x="8" y="21"/>
                    <a:pt x="7" y="22"/>
                  </a:cubicBezTo>
                  <a:cubicBezTo>
                    <a:pt x="5" y="22"/>
                    <a:pt x="5" y="22"/>
                    <a:pt x="5" y="22"/>
                  </a:cubicBezTo>
                  <a:cubicBezTo>
                    <a:pt x="7" y="21"/>
                    <a:pt x="9" y="19"/>
                    <a:pt x="9" y="17"/>
                  </a:cubicBezTo>
                  <a:cubicBezTo>
                    <a:pt x="9" y="12"/>
                    <a:pt x="9" y="12"/>
                    <a:pt x="9" y="12"/>
                  </a:cubicBezTo>
                  <a:cubicBezTo>
                    <a:pt x="9" y="6"/>
                    <a:pt x="9" y="6"/>
                    <a:pt x="9" y="6"/>
                  </a:cubicBezTo>
                  <a:cubicBezTo>
                    <a:pt x="9" y="4"/>
                    <a:pt x="7" y="2"/>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378" name="Freeform 114">
              <a:extLst>
                <a:ext uri="{FF2B5EF4-FFF2-40B4-BE49-F238E27FC236}">
                  <a16:creationId xmlns:a16="http://schemas.microsoft.com/office/drawing/2014/main" id="{E6C4CEEF-DA31-4F9C-9B92-D196E0F6C6B4}"/>
                </a:ext>
              </a:extLst>
            </p:cNvPr>
            <p:cNvSpPr>
              <a:spLocks/>
            </p:cNvSpPr>
            <p:nvPr/>
          </p:nvSpPr>
          <p:spPr bwMode="auto">
            <a:xfrm>
              <a:off x="4966760" y="5189287"/>
              <a:ext cx="30047" cy="21855"/>
            </a:xfrm>
            <a:custGeom>
              <a:avLst/>
              <a:gdLst>
                <a:gd name="T0" fmla="*/ 20 w 20"/>
                <a:gd name="T1" fmla="*/ 13 h 16"/>
                <a:gd name="T2" fmla="*/ 20 w 20"/>
                <a:gd name="T3" fmla="*/ 8 h 16"/>
                <a:gd name="T4" fmla="*/ 20 w 20"/>
                <a:gd name="T5" fmla="*/ 3 h 16"/>
                <a:gd name="T6" fmla="*/ 10 w 20"/>
                <a:gd name="T7" fmla="*/ 0 h 16"/>
                <a:gd name="T8" fmla="*/ 0 w 20"/>
                <a:gd name="T9" fmla="*/ 3 h 16"/>
                <a:gd name="T10" fmla="*/ 0 w 20"/>
                <a:gd name="T11" fmla="*/ 8 h 16"/>
                <a:gd name="T12" fmla="*/ 0 w 20"/>
                <a:gd name="T13" fmla="*/ 13 h 16"/>
                <a:gd name="T14" fmla="*/ 10 w 20"/>
                <a:gd name="T15" fmla="*/ 16 h 16"/>
                <a:gd name="T16" fmla="*/ 20 w 20"/>
                <a:gd name="T17" fmla="*/ 1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16">
                  <a:moveTo>
                    <a:pt x="20" y="13"/>
                  </a:moveTo>
                  <a:cubicBezTo>
                    <a:pt x="20" y="8"/>
                    <a:pt x="20" y="8"/>
                    <a:pt x="20" y="8"/>
                  </a:cubicBezTo>
                  <a:cubicBezTo>
                    <a:pt x="20" y="3"/>
                    <a:pt x="20" y="3"/>
                    <a:pt x="20" y="3"/>
                  </a:cubicBezTo>
                  <a:cubicBezTo>
                    <a:pt x="16" y="1"/>
                    <a:pt x="13" y="0"/>
                    <a:pt x="10" y="0"/>
                  </a:cubicBezTo>
                  <a:cubicBezTo>
                    <a:pt x="7" y="0"/>
                    <a:pt x="4" y="1"/>
                    <a:pt x="0" y="3"/>
                  </a:cubicBezTo>
                  <a:cubicBezTo>
                    <a:pt x="0" y="8"/>
                    <a:pt x="0" y="8"/>
                    <a:pt x="0" y="8"/>
                  </a:cubicBezTo>
                  <a:cubicBezTo>
                    <a:pt x="0" y="13"/>
                    <a:pt x="0" y="13"/>
                    <a:pt x="0" y="13"/>
                  </a:cubicBezTo>
                  <a:cubicBezTo>
                    <a:pt x="4" y="15"/>
                    <a:pt x="7" y="16"/>
                    <a:pt x="10" y="16"/>
                  </a:cubicBezTo>
                  <a:cubicBezTo>
                    <a:pt x="13" y="16"/>
                    <a:pt x="16" y="15"/>
                    <a:pt x="2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379" name="Freeform 115">
              <a:extLst>
                <a:ext uri="{FF2B5EF4-FFF2-40B4-BE49-F238E27FC236}">
                  <a16:creationId xmlns:a16="http://schemas.microsoft.com/office/drawing/2014/main" id="{F7DB8C8B-9FD5-464B-A082-51F235AFF847}"/>
                </a:ext>
              </a:extLst>
            </p:cNvPr>
            <p:cNvSpPr>
              <a:spLocks/>
            </p:cNvSpPr>
            <p:nvPr/>
          </p:nvSpPr>
          <p:spPr bwMode="auto">
            <a:xfrm>
              <a:off x="4969808" y="5154163"/>
              <a:ext cx="23951" cy="19123"/>
            </a:xfrm>
            <a:custGeom>
              <a:avLst/>
              <a:gdLst>
                <a:gd name="T0" fmla="*/ 16 w 16"/>
                <a:gd name="T1" fmla="*/ 3 h 14"/>
                <a:gd name="T2" fmla="*/ 13 w 16"/>
                <a:gd name="T3" fmla="*/ 0 h 14"/>
                <a:gd name="T4" fmla="*/ 3 w 16"/>
                <a:gd name="T5" fmla="*/ 0 h 14"/>
                <a:gd name="T6" fmla="*/ 0 w 16"/>
                <a:gd name="T7" fmla="*/ 3 h 14"/>
                <a:gd name="T8" fmla="*/ 0 w 16"/>
                <a:gd name="T9" fmla="*/ 14 h 14"/>
                <a:gd name="T10" fmla="*/ 16 w 16"/>
                <a:gd name="T11" fmla="*/ 14 h 14"/>
                <a:gd name="T12" fmla="*/ 16 w 16"/>
                <a:gd name="T13" fmla="*/ 3 h 14"/>
              </a:gdLst>
              <a:ahLst/>
              <a:cxnLst>
                <a:cxn ang="0">
                  <a:pos x="T0" y="T1"/>
                </a:cxn>
                <a:cxn ang="0">
                  <a:pos x="T2" y="T3"/>
                </a:cxn>
                <a:cxn ang="0">
                  <a:pos x="T4" y="T5"/>
                </a:cxn>
                <a:cxn ang="0">
                  <a:pos x="T6" y="T7"/>
                </a:cxn>
                <a:cxn ang="0">
                  <a:pos x="T8" y="T9"/>
                </a:cxn>
                <a:cxn ang="0">
                  <a:pos x="T10" y="T11"/>
                </a:cxn>
                <a:cxn ang="0">
                  <a:pos x="T12" y="T13"/>
                </a:cxn>
              </a:cxnLst>
              <a:rect l="0" t="0" r="r" b="b"/>
              <a:pathLst>
                <a:path w="16" h="14">
                  <a:moveTo>
                    <a:pt x="16" y="3"/>
                  </a:moveTo>
                  <a:cubicBezTo>
                    <a:pt x="16" y="1"/>
                    <a:pt x="15" y="0"/>
                    <a:pt x="13" y="0"/>
                  </a:cubicBezTo>
                  <a:cubicBezTo>
                    <a:pt x="3" y="0"/>
                    <a:pt x="3" y="0"/>
                    <a:pt x="3" y="0"/>
                  </a:cubicBezTo>
                  <a:cubicBezTo>
                    <a:pt x="2" y="0"/>
                    <a:pt x="0" y="1"/>
                    <a:pt x="0" y="3"/>
                  </a:cubicBezTo>
                  <a:cubicBezTo>
                    <a:pt x="0" y="14"/>
                    <a:pt x="0" y="14"/>
                    <a:pt x="0" y="14"/>
                  </a:cubicBezTo>
                  <a:cubicBezTo>
                    <a:pt x="16" y="14"/>
                    <a:pt x="16" y="14"/>
                    <a:pt x="16" y="14"/>
                  </a:cubicBezTo>
                  <a:lnTo>
                    <a:pt x="16"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380" name="Rectangle 116">
              <a:extLst>
                <a:ext uri="{FF2B5EF4-FFF2-40B4-BE49-F238E27FC236}">
                  <a16:creationId xmlns:a16="http://schemas.microsoft.com/office/drawing/2014/main" id="{9F2278E3-F679-4EE8-A90F-6241B8D538FA}"/>
                </a:ext>
              </a:extLst>
            </p:cNvPr>
            <p:cNvSpPr>
              <a:spLocks noChangeArrowheads="1"/>
            </p:cNvSpPr>
            <p:nvPr/>
          </p:nvSpPr>
          <p:spPr bwMode="auto">
            <a:xfrm>
              <a:off x="4969808" y="5269292"/>
              <a:ext cx="23951" cy="1209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381" name="Freeform 117">
              <a:extLst>
                <a:ext uri="{FF2B5EF4-FFF2-40B4-BE49-F238E27FC236}">
                  <a16:creationId xmlns:a16="http://schemas.microsoft.com/office/drawing/2014/main" id="{F03385D4-B61D-44B4-A8C5-6BCB4729BBB3}"/>
                </a:ext>
              </a:extLst>
            </p:cNvPr>
            <p:cNvSpPr>
              <a:spLocks noEditPoints="1"/>
            </p:cNvSpPr>
            <p:nvPr/>
          </p:nvSpPr>
          <p:spPr bwMode="auto">
            <a:xfrm>
              <a:off x="4951519" y="5183823"/>
              <a:ext cx="62272" cy="32783"/>
            </a:xfrm>
            <a:custGeom>
              <a:avLst/>
              <a:gdLst>
                <a:gd name="T0" fmla="*/ 6 w 41"/>
                <a:gd name="T1" fmla="*/ 24 h 24"/>
                <a:gd name="T2" fmla="*/ 35 w 41"/>
                <a:gd name="T3" fmla="*/ 24 h 24"/>
                <a:gd name="T4" fmla="*/ 41 w 41"/>
                <a:gd name="T5" fmla="*/ 18 h 24"/>
                <a:gd name="T6" fmla="*/ 41 w 41"/>
                <a:gd name="T7" fmla="*/ 6 h 24"/>
                <a:gd name="T8" fmla="*/ 35 w 41"/>
                <a:gd name="T9" fmla="*/ 0 h 24"/>
                <a:gd name="T10" fmla="*/ 6 w 41"/>
                <a:gd name="T11" fmla="*/ 0 h 24"/>
                <a:gd name="T12" fmla="*/ 0 w 41"/>
                <a:gd name="T13" fmla="*/ 6 h 24"/>
                <a:gd name="T14" fmla="*/ 0 w 41"/>
                <a:gd name="T15" fmla="*/ 18 h 24"/>
                <a:gd name="T16" fmla="*/ 6 w 41"/>
                <a:gd name="T17" fmla="*/ 24 h 24"/>
                <a:gd name="T18" fmla="*/ 5 w 41"/>
                <a:gd name="T19" fmla="*/ 2 h 24"/>
                <a:gd name="T20" fmla="*/ 7 w 41"/>
                <a:gd name="T21" fmla="*/ 2 h 24"/>
                <a:gd name="T22" fmla="*/ 10 w 41"/>
                <a:gd name="T23" fmla="*/ 6 h 24"/>
                <a:gd name="T24" fmla="*/ 20 w 41"/>
                <a:gd name="T25" fmla="*/ 3 h 24"/>
                <a:gd name="T26" fmla="*/ 30 w 41"/>
                <a:gd name="T27" fmla="*/ 6 h 24"/>
                <a:gd name="T28" fmla="*/ 33 w 41"/>
                <a:gd name="T29" fmla="*/ 2 h 24"/>
                <a:gd name="T30" fmla="*/ 35 w 41"/>
                <a:gd name="T31" fmla="*/ 2 h 24"/>
                <a:gd name="T32" fmla="*/ 31 w 41"/>
                <a:gd name="T33" fmla="*/ 7 h 24"/>
                <a:gd name="T34" fmla="*/ 31 w 41"/>
                <a:gd name="T35" fmla="*/ 12 h 24"/>
                <a:gd name="T36" fmla="*/ 31 w 41"/>
                <a:gd name="T37" fmla="*/ 18 h 24"/>
                <a:gd name="T38" fmla="*/ 35 w 41"/>
                <a:gd name="T39" fmla="*/ 23 h 24"/>
                <a:gd name="T40" fmla="*/ 33 w 41"/>
                <a:gd name="T41" fmla="*/ 23 h 24"/>
                <a:gd name="T42" fmla="*/ 30 w 41"/>
                <a:gd name="T43" fmla="*/ 18 h 24"/>
                <a:gd name="T44" fmla="*/ 20 w 41"/>
                <a:gd name="T45" fmla="*/ 21 h 24"/>
                <a:gd name="T46" fmla="*/ 10 w 41"/>
                <a:gd name="T47" fmla="*/ 18 h 24"/>
                <a:gd name="T48" fmla="*/ 7 w 41"/>
                <a:gd name="T49" fmla="*/ 23 h 24"/>
                <a:gd name="T50" fmla="*/ 5 w 41"/>
                <a:gd name="T51" fmla="*/ 23 h 24"/>
                <a:gd name="T52" fmla="*/ 9 w 41"/>
                <a:gd name="T53" fmla="*/ 18 h 24"/>
                <a:gd name="T54" fmla="*/ 9 w 41"/>
                <a:gd name="T55" fmla="*/ 12 h 24"/>
                <a:gd name="T56" fmla="*/ 9 w 41"/>
                <a:gd name="T57" fmla="*/ 7 h 24"/>
                <a:gd name="T58" fmla="*/ 5 w 41"/>
                <a:gd name="T59" fmla="*/ 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1" h="24">
                  <a:moveTo>
                    <a:pt x="6" y="24"/>
                  </a:moveTo>
                  <a:cubicBezTo>
                    <a:pt x="35" y="24"/>
                    <a:pt x="35" y="24"/>
                    <a:pt x="35" y="24"/>
                  </a:cubicBezTo>
                  <a:cubicBezTo>
                    <a:pt x="38" y="24"/>
                    <a:pt x="41" y="21"/>
                    <a:pt x="41" y="18"/>
                  </a:cubicBezTo>
                  <a:cubicBezTo>
                    <a:pt x="41" y="6"/>
                    <a:pt x="41" y="6"/>
                    <a:pt x="41" y="6"/>
                  </a:cubicBezTo>
                  <a:cubicBezTo>
                    <a:pt x="41" y="3"/>
                    <a:pt x="38" y="0"/>
                    <a:pt x="35" y="0"/>
                  </a:cubicBezTo>
                  <a:cubicBezTo>
                    <a:pt x="6" y="0"/>
                    <a:pt x="6" y="0"/>
                    <a:pt x="6" y="0"/>
                  </a:cubicBezTo>
                  <a:cubicBezTo>
                    <a:pt x="2" y="0"/>
                    <a:pt x="0" y="3"/>
                    <a:pt x="0" y="6"/>
                  </a:cubicBezTo>
                  <a:cubicBezTo>
                    <a:pt x="0" y="18"/>
                    <a:pt x="0" y="18"/>
                    <a:pt x="0" y="18"/>
                  </a:cubicBezTo>
                  <a:cubicBezTo>
                    <a:pt x="0" y="21"/>
                    <a:pt x="2" y="24"/>
                    <a:pt x="6" y="24"/>
                  </a:cubicBezTo>
                  <a:close/>
                  <a:moveTo>
                    <a:pt x="5" y="2"/>
                  </a:moveTo>
                  <a:cubicBezTo>
                    <a:pt x="7" y="2"/>
                    <a:pt x="7" y="2"/>
                    <a:pt x="7" y="2"/>
                  </a:cubicBezTo>
                  <a:cubicBezTo>
                    <a:pt x="8" y="3"/>
                    <a:pt x="9" y="4"/>
                    <a:pt x="10" y="6"/>
                  </a:cubicBezTo>
                  <a:cubicBezTo>
                    <a:pt x="14" y="4"/>
                    <a:pt x="17" y="3"/>
                    <a:pt x="20" y="3"/>
                  </a:cubicBezTo>
                  <a:cubicBezTo>
                    <a:pt x="23" y="3"/>
                    <a:pt x="27" y="4"/>
                    <a:pt x="30" y="6"/>
                  </a:cubicBezTo>
                  <a:cubicBezTo>
                    <a:pt x="31" y="4"/>
                    <a:pt x="32" y="3"/>
                    <a:pt x="33" y="2"/>
                  </a:cubicBezTo>
                  <a:cubicBezTo>
                    <a:pt x="35" y="2"/>
                    <a:pt x="35" y="2"/>
                    <a:pt x="35" y="2"/>
                  </a:cubicBezTo>
                  <a:cubicBezTo>
                    <a:pt x="33" y="3"/>
                    <a:pt x="32" y="5"/>
                    <a:pt x="31" y="7"/>
                  </a:cubicBezTo>
                  <a:cubicBezTo>
                    <a:pt x="31" y="12"/>
                    <a:pt x="31" y="12"/>
                    <a:pt x="31" y="12"/>
                  </a:cubicBezTo>
                  <a:cubicBezTo>
                    <a:pt x="31" y="18"/>
                    <a:pt x="31" y="18"/>
                    <a:pt x="31" y="18"/>
                  </a:cubicBezTo>
                  <a:cubicBezTo>
                    <a:pt x="32" y="20"/>
                    <a:pt x="33" y="21"/>
                    <a:pt x="35" y="23"/>
                  </a:cubicBezTo>
                  <a:cubicBezTo>
                    <a:pt x="33" y="23"/>
                    <a:pt x="33" y="23"/>
                    <a:pt x="33" y="23"/>
                  </a:cubicBezTo>
                  <a:cubicBezTo>
                    <a:pt x="32" y="21"/>
                    <a:pt x="31" y="20"/>
                    <a:pt x="30" y="18"/>
                  </a:cubicBezTo>
                  <a:cubicBezTo>
                    <a:pt x="27" y="20"/>
                    <a:pt x="23" y="21"/>
                    <a:pt x="20" y="21"/>
                  </a:cubicBezTo>
                  <a:cubicBezTo>
                    <a:pt x="17" y="21"/>
                    <a:pt x="14" y="20"/>
                    <a:pt x="10" y="18"/>
                  </a:cubicBezTo>
                  <a:cubicBezTo>
                    <a:pt x="9" y="20"/>
                    <a:pt x="8" y="21"/>
                    <a:pt x="7" y="23"/>
                  </a:cubicBezTo>
                  <a:cubicBezTo>
                    <a:pt x="5" y="23"/>
                    <a:pt x="5" y="23"/>
                    <a:pt x="5" y="23"/>
                  </a:cubicBezTo>
                  <a:cubicBezTo>
                    <a:pt x="7" y="21"/>
                    <a:pt x="9" y="20"/>
                    <a:pt x="9" y="18"/>
                  </a:cubicBezTo>
                  <a:cubicBezTo>
                    <a:pt x="9" y="12"/>
                    <a:pt x="9" y="12"/>
                    <a:pt x="9" y="12"/>
                  </a:cubicBezTo>
                  <a:cubicBezTo>
                    <a:pt x="9" y="7"/>
                    <a:pt x="9" y="7"/>
                    <a:pt x="9" y="7"/>
                  </a:cubicBezTo>
                  <a:cubicBezTo>
                    <a:pt x="9" y="5"/>
                    <a:pt x="7" y="3"/>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grpSp>
      <p:sp>
        <p:nvSpPr>
          <p:cNvPr id="382" name="Freeform 370">
            <a:extLst>
              <a:ext uri="{FF2B5EF4-FFF2-40B4-BE49-F238E27FC236}">
                <a16:creationId xmlns:a16="http://schemas.microsoft.com/office/drawing/2014/main" id="{4951F778-279E-4D4A-AFB6-FB74C20AAA44}"/>
              </a:ext>
            </a:extLst>
          </p:cNvPr>
          <p:cNvSpPr>
            <a:spLocks noChangeAspect="1" noEditPoints="1"/>
          </p:cNvSpPr>
          <p:nvPr/>
        </p:nvSpPr>
        <p:spPr bwMode="auto">
          <a:xfrm>
            <a:off x="9441767" y="2068992"/>
            <a:ext cx="562713" cy="562713"/>
          </a:xfrm>
          <a:custGeom>
            <a:avLst/>
            <a:gdLst>
              <a:gd name="T0" fmla="*/ 371 w 512"/>
              <a:gd name="T1" fmla="*/ 202 h 512"/>
              <a:gd name="T2" fmla="*/ 309 w 512"/>
              <a:gd name="T3" fmla="*/ 202 h 512"/>
              <a:gd name="T4" fmla="*/ 309 w 512"/>
              <a:gd name="T5" fmla="*/ 140 h 512"/>
              <a:gd name="T6" fmla="*/ 371 w 512"/>
              <a:gd name="T7" fmla="*/ 202 h 512"/>
              <a:gd name="T8" fmla="*/ 245 w 512"/>
              <a:gd name="T9" fmla="*/ 256 h 512"/>
              <a:gd name="T10" fmla="*/ 245 w 512"/>
              <a:gd name="T11" fmla="*/ 150 h 512"/>
              <a:gd name="T12" fmla="*/ 149 w 512"/>
              <a:gd name="T13" fmla="*/ 256 h 512"/>
              <a:gd name="T14" fmla="*/ 256 w 512"/>
              <a:gd name="T15" fmla="*/ 362 h 512"/>
              <a:gd name="T16" fmla="*/ 362 w 512"/>
              <a:gd name="T17" fmla="*/ 266 h 512"/>
              <a:gd name="T18" fmla="*/ 256 w 512"/>
              <a:gd name="T19" fmla="*/ 266 h 512"/>
              <a:gd name="T20" fmla="*/ 245 w 512"/>
              <a:gd name="T21" fmla="*/ 256 h 512"/>
              <a:gd name="T22" fmla="*/ 512 w 512"/>
              <a:gd name="T23" fmla="*/ 256 h 512"/>
              <a:gd name="T24" fmla="*/ 256 w 512"/>
              <a:gd name="T25" fmla="*/ 512 h 512"/>
              <a:gd name="T26" fmla="*/ 0 w 512"/>
              <a:gd name="T27" fmla="*/ 256 h 512"/>
              <a:gd name="T28" fmla="*/ 256 w 512"/>
              <a:gd name="T29" fmla="*/ 0 h 512"/>
              <a:gd name="T30" fmla="*/ 512 w 512"/>
              <a:gd name="T31" fmla="*/ 256 h 512"/>
              <a:gd name="T32" fmla="*/ 384 w 512"/>
              <a:gd name="T33" fmla="*/ 256 h 512"/>
              <a:gd name="T34" fmla="*/ 373 w 512"/>
              <a:gd name="T35" fmla="*/ 245 h 512"/>
              <a:gd name="T36" fmla="*/ 266 w 512"/>
              <a:gd name="T37" fmla="*/ 245 h 512"/>
              <a:gd name="T38" fmla="*/ 266 w 512"/>
              <a:gd name="T39" fmla="*/ 138 h 512"/>
              <a:gd name="T40" fmla="*/ 256 w 512"/>
              <a:gd name="T41" fmla="*/ 128 h 512"/>
              <a:gd name="T42" fmla="*/ 128 w 512"/>
              <a:gd name="T43" fmla="*/ 256 h 512"/>
              <a:gd name="T44" fmla="*/ 256 w 512"/>
              <a:gd name="T45" fmla="*/ 384 h 512"/>
              <a:gd name="T46" fmla="*/ 384 w 512"/>
              <a:gd name="T47" fmla="*/ 256 h 512"/>
              <a:gd name="T48" fmla="*/ 397 w 512"/>
              <a:gd name="T49" fmla="*/ 210 h 512"/>
              <a:gd name="T50" fmla="*/ 302 w 512"/>
              <a:gd name="T51" fmla="*/ 115 h 512"/>
              <a:gd name="T52" fmla="*/ 292 w 512"/>
              <a:gd name="T53" fmla="*/ 116 h 512"/>
              <a:gd name="T54" fmla="*/ 288 w 512"/>
              <a:gd name="T55" fmla="*/ 125 h 512"/>
              <a:gd name="T56" fmla="*/ 288 w 512"/>
              <a:gd name="T57" fmla="*/ 213 h 512"/>
              <a:gd name="T58" fmla="*/ 298 w 512"/>
              <a:gd name="T59" fmla="*/ 224 h 512"/>
              <a:gd name="T60" fmla="*/ 386 w 512"/>
              <a:gd name="T61" fmla="*/ 224 h 512"/>
              <a:gd name="T62" fmla="*/ 395 w 512"/>
              <a:gd name="T63" fmla="*/ 219 h 512"/>
              <a:gd name="T64" fmla="*/ 397 w 512"/>
              <a:gd name="T65" fmla="*/ 21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12" h="512">
                <a:moveTo>
                  <a:pt x="371" y="202"/>
                </a:moveTo>
                <a:cubicBezTo>
                  <a:pt x="309" y="202"/>
                  <a:pt x="309" y="202"/>
                  <a:pt x="309" y="202"/>
                </a:cubicBezTo>
                <a:cubicBezTo>
                  <a:pt x="309" y="140"/>
                  <a:pt x="309" y="140"/>
                  <a:pt x="309" y="140"/>
                </a:cubicBezTo>
                <a:cubicBezTo>
                  <a:pt x="336" y="153"/>
                  <a:pt x="358" y="175"/>
                  <a:pt x="371" y="202"/>
                </a:cubicBezTo>
                <a:close/>
                <a:moveTo>
                  <a:pt x="245" y="256"/>
                </a:moveTo>
                <a:cubicBezTo>
                  <a:pt x="245" y="150"/>
                  <a:pt x="245" y="150"/>
                  <a:pt x="245" y="150"/>
                </a:cubicBezTo>
                <a:cubicBezTo>
                  <a:pt x="191" y="155"/>
                  <a:pt x="149" y="200"/>
                  <a:pt x="149" y="256"/>
                </a:cubicBezTo>
                <a:cubicBezTo>
                  <a:pt x="149" y="314"/>
                  <a:pt x="197" y="362"/>
                  <a:pt x="256" y="362"/>
                </a:cubicBezTo>
                <a:cubicBezTo>
                  <a:pt x="311" y="362"/>
                  <a:pt x="356" y="320"/>
                  <a:pt x="362" y="266"/>
                </a:cubicBezTo>
                <a:cubicBezTo>
                  <a:pt x="256" y="266"/>
                  <a:pt x="256" y="266"/>
                  <a:pt x="256" y="266"/>
                </a:cubicBezTo>
                <a:cubicBezTo>
                  <a:pt x="250" y="266"/>
                  <a:pt x="245" y="262"/>
                  <a:pt x="245" y="256"/>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84" y="256"/>
                </a:moveTo>
                <a:cubicBezTo>
                  <a:pt x="384" y="250"/>
                  <a:pt x="379" y="245"/>
                  <a:pt x="373" y="245"/>
                </a:cubicBezTo>
                <a:cubicBezTo>
                  <a:pt x="266" y="245"/>
                  <a:pt x="266" y="245"/>
                  <a:pt x="266" y="245"/>
                </a:cubicBezTo>
                <a:cubicBezTo>
                  <a:pt x="266" y="138"/>
                  <a:pt x="266" y="138"/>
                  <a:pt x="266" y="138"/>
                </a:cubicBezTo>
                <a:cubicBezTo>
                  <a:pt x="266" y="132"/>
                  <a:pt x="262" y="128"/>
                  <a:pt x="256" y="128"/>
                </a:cubicBezTo>
                <a:cubicBezTo>
                  <a:pt x="185" y="128"/>
                  <a:pt x="128" y="185"/>
                  <a:pt x="128" y="256"/>
                </a:cubicBezTo>
                <a:cubicBezTo>
                  <a:pt x="128" y="326"/>
                  <a:pt x="185" y="384"/>
                  <a:pt x="256" y="384"/>
                </a:cubicBezTo>
                <a:cubicBezTo>
                  <a:pt x="326" y="384"/>
                  <a:pt x="384" y="326"/>
                  <a:pt x="384" y="256"/>
                </a:cubicBezTo>
                <a:close/>
                <a:moveTo>
                  <a:pt x="397" y="210"/>
                </a:moveTo>
                <a:cubicBezTo>
                  <a:pt x="382" y="165"/>
                  <a:pt x="347" y="129"/>
                  <a:pt x="302" y="115"/>
                </a:cubicBezTo>
                <a:cubicBezTo>
                  <a:pt x="298" y="114"/>
                  <a:pt x="295" y="114"/>
                  <a:pt x="292" y="116"/>
                </a:cubicBezTo>
                <a:cubicBezTo>
                  <a:pt x="289" y="118"/>
                  <a:pt x="288" y="122"/>
                  <a:pt x="288" y="125"/>
                </a:cubicBezTo>
                <a:cubicBezTo>
                  <a:pt x="288" y="213"/>
                  <a:pt x="288" y="213"/>
                  <a:pt x="288" y="213"/>
                </a:cubicBezTo>
                <a:cubicBezTo>
                  <a:pt x="288" y="219"/>
                  <a:pt x="292" y="224"/>
                  <a:pt x="298" y="224"/>
                </a:cubicBezTo>
                <a:cubicBezTo>
                  <a:pt x="386" y="224"/>
                  <a:pt x="386" y="224"/>
                  <a:pt x="386" y="224"/>
                </a:cubicBezTo>
                <a:cubicBezTo>
                  <a:pt x="390" y="224"/>
                  <a:pt x="393" y="222"/>
                  <a:pt x="395" y="219"/>
                </a:cubicBezTo>
                <a:cubicBezTo>
                  <a:pt x="397" y="217"/>
                  <a:pt x="398" y="213"/>
                  <a:pt x="397" y="210"/>
                </a:cubicBezTo>
                <a:close/>
              </a:path>
            </a:pathLst>
          </a:custGeom>
          <a:solidFill>
            <a:srgbClr val="046A38"/>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black"/>
              </a:solidFill>
              <a:effectLst/>
              <a:uLnTx/>
              <a:uFillTx/>
              <a:latin typeface="Calibri"/>
            </a:endParaRPr>
          </a:p>
        </p:txBody>
      </p:sp>
      <p:sp>
        <p:nvSpPr>
          <p:cNvPr id="383" name="Rectangle 382">
            <a:extLst>
              <a:ext uri="{FF2B5EF4-FFF2-40B4-BE49-F238E27FC236}">
                <a16:creationId xmlns:a16="http://schemas.microsoft.com/office/drawing/2014/main" id="{6EC82464-73EF-4483-9CC0-14495E20767D}"/>
              </a:ext>
            </a:extLst>
          </p:cNvPr>
          <p:cNvSpPr/>
          <p:nvPr/>
        </p:nvSpPr>
        <p:spPr bwMode="gray">
          <a:xfrm>
            <a:off x="7213037" y="1513498"/>
            <a:ext cx="1993392" cy="1682496"/>
          </a:xfrm>
          <a:prstGeom prst="rect">
            <a:avLst/>
          </a:prstGeom>
          <a:solidFill>
            <a:srgbClr val="A1D794">
              <a:alpha val="30000"/>
            </a:srgbClr>
          </a:solidFill>
          <a:ln w="19050" algn="ctr">
            <a:solidFill>
              <a:srgbClr val="26890D"/>
            </a:solidFill>
            <a:prstDash val="sysDot"/>
            <a:miter lim="800000"/>
            <a:headEnd/>
            <a:tailEnd/>
          </a:ln>
        </p:spPr>
        <p:txBody>
          <a:bodyPr wrap="square" lIns="88900" tIns="88900" rIns="88900" bIns="88900" rtlCol="0" anchor="ctr"/>
          <a:lstStyle/>
          <a:p>
            <a:pPr marL="0" marR="0" lvl="0" indent="0" algn="ctr" defTabSz="885893" eaLnBrk="1" fontAlgn="auto" latinLnBrk="0" hangingPunct="1">
              <a:lnSpc>
                <a:spcPct val="106000"/>
              </a:lnSpc>
              <a:spcBef>
                <a:spcPts val="0"/>
              </a:spcBef>
              <a:spcAft>
                <a:spcPts val="0"/>
              </a:spcAft>
              <a:buClrTx/>
              <a:buSzTx/>
              <a:buFontTx/>
              <a:buNone/>
              <a:tabLst/>
              <a:defRPr/>
            </a:pPr>
            <a:endParaRPr kumimoji="0" lang="en-IN" sz="1600" b="1" i="0" u="none" strike="noStrike" kern="0" cap="none" spc="0" normalizeH="0" baseline="0" noProof="0" dirty="0">
              <a:ln>
                <a:noFill/>
              </a:ln>
              <a:solidFill>
                <a:prstClr val="white"/>
              </a:solidFill>
              <a:effectLst/>
              <a:uLnTx/>
              <a:uFillTx/>
              <a:latin typeface="Calibri"/>
            </a:endParaRPr>
          </a:p>
        </p:txBody>
      </p:sp>
      <p:sp>
        <p:nvSpPr>
          <p:cNvPr id="384" name="TextBox 383">
            <a:extLst>
              <a:ext uri="{FF2B5EF4-FFF2-40B4-BE49-F238E27FC236}">
                <a16:creationId xmlns:a16="http://schemas.microsoft.com/office/drawing/2014/main" id="{35B49223-4DAC-499C-8AF4-0EBEE8A44A14}"/>
              </a:ext>
            </a:extLst>
          </p:cNvPr>
          <p:cNvSpPr txBox="1"/>
          <p:nvPr/>
        </p:nvSpPr>
        <p:spPr>
          <a:xfrm>
            <a:off x="7302071" y="1557613"/>
            <a:ext cx="1904358" cy="430887"/>
          </a:xfrm>
          <a:prstGeom prst="rect">
            <a:avLst/>
          </a:prstGeom>
          <a:noFill/>
          <a:ln>
            <a:noFill/>
          </a:ln>
        </p:spPr>
        <p:txBody>
          <a:bodyPr wrap="square" lIns="0" tIns="0" rIns="0" bIns="0" rtlCol="0">
            <a:spAutoFit/>
          </a:bodyPr>
          <a:lstStyle/>
          <a:p>
            <a:pPr defTabSz="885893">
              <a:spcBef>
                <a:spcPts val="600"/>
              </a:spcBef>
              <a:buSzPct val="100000"/>
              <a:defRPr/>
            </a:pPr>
            <a:r>
              <a:rPr lang="en-US" sz="1400" b="1" kern="0" dirty="0">
                <a:solidFill>
                  <a:prstClr val="black"/>
                </a:solidFill>
                <a:latin typeface="Calibri"/>
              </a:rPr>
              <a:t>Rise of Value-Added Services</a:t>
            </a:r>
            <a:endParaRPr lang="en-IN" sz="1400" b="1" kern="0" dirty="0">
              <a:solidFill>
                <a:prstClr val="black"/>
              </a:solidFill>
              <a:latin typeface="Calibri"/>
            </a:endParaRPr>
          </a:p>
        </p:txBody>
      </p:sp>
      <p:grpSp>
        <p:nvGrpSpPr>
          <p:cNvPr id="385" name="Group 384">
            <a:extLst>
              <a:ext uri="{FF2B5EF4-FFF2-40B4-BE49-F238E27FC236}">
                <a16:creationId xmlns:a16="http://schemas.microsoft.com/office/drawing/2014/main" id="{69E6BCA7-C366-4564-A177-78AE8B2ADDB8}"/>
              </a:ext>
            </a:extLst>
          </p:cNvPr>
          <p:cNvGrpSpPr/>
          <p:nvPr/>
        </p:nvGrpSpPr>
        <p:grpSpPr>
          <a:xfrm>
            <a:off x="7378688" y="2104324"/>
            <a:ext cx="626145" cy="686318"/>
            <a:chOff x="9558140" y="2198584"/>
            <a:chExt cx="626145" cy="686318"/>
          </a:xfrm>
        </p:grpSpPr>
        <p:grpSp>
          <p:nvGrpSpPr>
            <p:cNvPr id="386" name="Group 385">
              <a:extLst>
                <a:ext uri="{FF2B5EF4-FFF2-40B4-BE49-F238E27FC236}">
                  <a16:creationId xmlns:a16="http://schemas.microsoft.com/office/drawing/2014/main" id="{86DCE9C4-CD6F-445C-B0C1-BDE0DB44060C}"/>
                </a:ext>
              </a:extLst>
            </p:cNvPr>
            <p:cNvGrpSpPr>
              <a:grpSpLocks noChangeAspect="1"/>
            </p:cNvGrpSpPr>
            <p:nvPr/>
          </p:nvGrpSpPr>
          <p:grpSpPr>
            <a:xfrm>
              <a:off x="9558140" y="2198584"/>
              <a:ext cx="372673" cy="370800"/>
              <a:chOff x="5672138" y="4513263"/>
              <a:chExt cx="1579562" cy="1571625"/>
            </a:xfrm>
            <a:solidFill>
              <a:srgbClr val="43B02A"/>
            </a:solidFill>
          </p:grpSpPr>
          <p:sp>
            <p:nvSpPr>
              <p:cNvPr id="391" name="Rectangle 5">
                <a:extLst>
                  <a:ext uri="{FF2B5EF4-FFF2-40B4-BE49-F238E27FC236}">
                    <a16:creationId xmlns:a16="http://schemas.microsoft.com/office/drawing/2014/main" id="{7C9AEF54-050F-4702-A609-2C87F9081190}"/>
                  </a:ext>
                </a:extLst>
              </p:cNvPr>
              <p:cNvSpPr>
                <a:spLocks noChangeArrowheads="1"/>
              </p:cNvSpPr>
              <p:nvPr/>
            </p:nvSpPr>
            <p:spPr bwMode="auto">
              <a:xfrm>
                <a:off x="6067425" y="5135563"/>
                <a:ext cx="131762" cy="196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392" name="Oval 6">
                <a:extLst>
                  <a:ext uri="{FF2B5EF4-FFF2-40B4-BE49-F238E27FC236}">
                    <a16:creationId xmlns:a16="http://schemas.microsoft.com/office/drawing/2014/main" id="{14F1EAAC-3306-44A6-87F8-2DFB0FA7ACAC}"/>
                  </a:ext>
                </a:extLst>
              </p:cNvPr>
              <p:cNvSpPr>
                <a:spLocks noChangeArrowheads="1"/>
              </p:cNvSpPr>
              <p:nvPr/>
            </p:nvSpPr>
            <p:spPr bwMode="auto">
              <a:xfrm>
                <a:off x="6100763" y="4873626"/>
                <a:ext cx="65087"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393" name="Rectangle 7">
                <a:extLst>
                  <a:ext uri="{FF2B5EF4-FFF2-40B4-BE49-F238E27FC236}">
                    <a16:creationId xmlns:a16="http://schemas.microsoft.com/office/drawing/2014/main" id="{A28FA0F2-207A-421B-9CA7-696D68E3D25B}"/>
                  </a:ext>
                </a:extLst>
              </p:cNvPr>
              <p:cNvSpPr>
                <a:spLocks noChangeArrowheads="1"/>
              </p:cNvSpPr>
              <p:nvPr/>
            </p:nvSpPr>
            <p:spPr bwMode="auto">
              <a:xfrm>
                <a:off x="6396038" y="5135563"/>
                <a:ext cx="131762" cy="196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394" name="Oval 8">
                <a:extLst>
                  <a:ext uri="{FF2B5EF4-FFF2-40B4-BE49-F238E27FC236}">
                    <a16:creationId xmlns:a16="http://schemas.microsoft.com/office/drawing/2014/main" id="{4421001F-A1A8-498F-8FFE-233C2CEE13C5}"/>
                  </a:ext>
                </a:extLst>
              </p:cNvPr>
              <p:cNvSpPr>
                <a:spLocks noChangeArrowheads="1"/>
              </p:cNvSpPr>
              <p:nvPr/>
            </p:nvSpPr>
            <p:spPr bwMode="auto">
              <a:xfrm>
                <a:off x="6429375" y="4873626"/>
                <a:ext cx="65087"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395" name="Oval 9">
                <a:extLst>
                  <a:ext uri="{FF2B5EF4-FFF2-40B4-BE49-F238E27FC236}">
                    <a16:creationId xmlns:a16="http://schemas.microsoft.com/office/drawing/2014/main" id="{92C88A27-1428-4FAF-8DDD-35D8735EADA1}"/>
                  </a:ext>
                </a:extLst>
              </p:cNvPr>
              <p:cNvSpPr>
                <a:spLocks noChangeArrowheads="1"/>
              </p:cNvSpPr>
              <p:nvPr/>
            </p:nvSpPr>
            <p:spPr bwMode="auto">
              <a:xfrm>
                <a:off x="6757988" y="4873626"/>
                <a:ext cx="66675" cy="650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396" name="Freeform 10">
                <a:extLst>
                  <a:ext uri="{FF2B5EF4-FFF2-40B4-BE49-F238E27FC236}">
                    <a16:creationId xmlns:a16="http://schemas.microsoft.com/office/drawing/2014/main" id="{BD734525-E4B3-44C2-8A56-8CEB747B57E3}"/>
                  </a:ext>
                </a:extLst>
              </p:cNvPr>
              <p:cNvSpPr>
                <a:spLocks noEditPoints="1"/>
              </p:cNvSpPr>
              <p:nvPr/>
            </p:nvSpPr>
            <p:spPr bwMode="auto">
              <a:xfrm>
                <a:off x="5672138" y="4513263"/>
                <a:ext cx="1579562" cy="1571625"/>
              </a:xfrm>
              <a:custGeom>
                <a:avLst/>
                <a:gdLst>
                  <a:gd name="T0" fmla="*/ 0 w 384"/>
                  <a:gd name="T1" fmla="*/ 192 h 384"/>
                  <a:gd name="T2" fmla="*/ 384 w 384"/>
                  <a:gd name="T3" fmla="*/ 192 h 384"/>
                  <a:gd name="T4" fmla="*/ 272 w 384"/>
                  <a:gd name="T5" fmla="*/ 72 h 384"/>
                  <a:gd name="T6" fmla="*/ 272 w 384"/>
                  <a:gd name="T7" fmla="*/ 120 h 384"/>
                  <a:gd name="T8" fmla="*/ 272 w 384"/>
                  <a:gd name="T9" fmla="*/ 72 h 384"/>
                  <a:gd name="T10" fmla="*/ 216 w 384"/>
                  <a:gd name="T11" fmla="*/ 96 h 384"/>
                  <a:gd name="T12" fmla="*/ 168 w 384"/>
                  <a:gd name="T13" fmla="*/ 96 h 384"/>
                  <a:gd name="T14" fmla="*/ 112 w 384"/>
                  <a:gd name="T15" fmla="*/ 72 h 384"/>
                  <a:gd name="T16" fmla="*/ 112 w 384"/>
                  <a:gd name="T17" fmla="*/ 120 h 384"/>
                  <a:gd name="T18" fmla="*/ 112 w 384"/>
                  <a:gd name="T19" fmla="*/ 72 h 384"/>
                  <a:gd name="T20" fmla="*/ 136 w 384"/>
                  <a:gd name="T21" fmla="*/ 216 h 384"/>
                  <a:gd name="T22" fmla="*/ 128 w 384"/>
                  <a:gd name="T23" fmla="*/ 296 h 384"/>
                  <a:gd name="T24" fmla="*/ 120 w 384"/>
                  <a:gd name="T25" fmla="*/ 216 h 384"/>
                  <a:gd name="T26" fmla="*/ 104 w 384"/>
                  <a:gd name="T27" fmla="*/ 288 h 384"/>
                  <a:gd name="T28" fmla="*/ 88 w 384"/>
                  <a:gd name="T29" fmla="*/ 288 h 384"/>
                  <a:gd name="T30" fmla="*/ 80 w 384"/>
                  <a:gd name="T31" fmla="*/ 208 h 384"/>
                  <a:gd name="T32" fmla="*/ 88 w 384"/>
                  <a:gd name="T33" fmla="*/ 136 h 384"/>
                  <a:gd name="T34" fmla="*/ 144 w 384"/>
                  <a:gd name="T35" fmla="*/ 144 h 384"/>
                  <a:gd name="T36" fmla="*/ 224 w 384"/>
                  <a:gd name="T37" fmla="*/ 208 h 384"/>
                  <a:gd name="T38" fmla="*/ 216 w 384"/>
                  <a:gd name="T39" fmla="*/ 288 h 384"/>
                  <a:gd name="T40" fmla="*/ 200 w 384"/>
                  <a:gd name="T41" fmla="*/ 288 h 384"/>
                  <a:gd name="T42" fmla="*/ 184 w 384"/>
                  <a:gd name="T43" fmla="*/ 216 h 384"/>
                  <a:gd name="T44" fmla="*/ 176 w 384"/>
                  <a:gd name="T45" fmla="*/ 296 h 384"/>
                  <a:gd name="T46" fmla="*/ 168 w 384"/>
                  <a:gd name="T47" fmla="*/ 216 h 384"/>
                  <a:gd name="T48" fmla="*/ 160 w 384"/>
                  <a:gd name="T49" fmla="*/ 144 h 384"/>
                  <a:gd name="T50" fmla="*/ 216 w 384"/>
                  <a:gd name="T51" fmla="*/ 136 h 384"/>
                  <a:gd name="T52" fmla="*/ 224 w 384"/>
                  <a:gd name="T53" fmla="*/ 208 h 384"/>
                  <a:gd name="T54" fmla="*/ 296 w 384"/>
                  <a:gd name="T55" fmla="*/ 232 h 384"/>
                  <a:gd name="T56" fmla="*/ 288 w 384"/>
                  <a:gd name="T57" fmla="*/ 296 h 384"/>
                  <a:gd name="T58" fmla="*/ 280 w 384"/>
                  <a:gd name="T59" fmla="*/ 232 h 384"/>
                  <a:gd name="T60" fmla="*/ 264 w 384"/>
                  <a:gd name="T61" fmla="*/ 288 h 384"/>
                  <a:gd name="T62" fmla="*/ 248 w 384"/>
                  <a:gd name="T63" fmla="*/ 288 h 384"/>
                  <a:gd name="T64" fmla="*/ 241 w 384"/>
                  <a:gd name="T65" fmla="*/ 229 h 384"/>
                  <a:gd name="T66" fmla="*/ 256 w 384"/>
                  <a:gd name="T67" fmla="*/ 142 h 384"/>
                  <a:gd name="T68" fmla="*/ 280 w 384"/>
                  <a:gd name="T69" fmla="*/ 136 h 384"/>
                  <a:gd name="T70" fmla="*/ 304 w 384"/>
                  <a:gd name="T71" fmla="*/ 22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272" y="72"/>
                    </a:moveTo>
                    <a:cubicBezTo>
                      <a:pt x="285" y="72"/>
                      <a:pt x="296" y="82"/>
                      <a:pt x="296" y="96"/>
                    </a:cubicBezTo>
                    <a:cubicBezTo>
                      <a:pt x="296" y="109"/>
                      <a:pt x="285" y="120"/>
                      <a:pt x="272" y="120"/>
                    </a:cubicBezTo>
                    <a:cubicBezTo>
                      <a:pt x="258" y="120"/>
                      <a:pt x="248" y="109"/>
                      <a:pt x="248" y="96"/>
                    </a:cubicBezTo>
                    <a:cubicBezTo>
                      <a:pt x="248" y="82"/>
                      <a:pt x="258" y="72"/>
                      <a:pt x="272" y="72"/>
                    </a:cubicBezTo>
                    <a:close/>
                    <a:moveTo>
                      <a:pt x="192" y="72"/>
                    </a:moveTo>
                    <a:cubicBezTo>
                      <a:pt x="205" y="72"/>
                      <a:pt x="216" y="82"/>
                      <a:pt x="216" y="96"/>
                    </a:cubicBezTo>
                    <a:cubicBezTo>
                      <a:pt x="216" y="109"/>
                      <a:pt x="205" y="120"/>
                      <a:pt x="192" y="120"/>
                    </a:cubicBezTo>
                    <a:cubicBezTo>
                      <a:pt x="178" y="120"/>
                      <a:pt x="168" y="109"/>
                      <a:pt x="168" y="96"/>
                    </a:cubicBezTo>
                    <a:cubicBezTo>
                      <a:pt x="168" y="82"/>
                      <a:pt x="178" y="72"/>
                      <a:pt x="192" y="72"/>
                    </a:cubicBezTo>
                    <a:close/>
                    <a:moveTo>
                      <a:pt x="112" y="72"/>
                    </a:moveTo>
                    <a:cubicBezTo>
                      <a:pt x="125" y="72"/>
                      <a:pt x="136" y="82"/>
                      <a:pt x="136" y="96"/>
                    </a:cubicBezTo>
                    <a:cubicBezTo>
                      <a:pt x="136" y="109"/>
                      <a:pt x="125" y="120"/>
                      <a:pt x="112" y="120"/>
                    </a:cubicBezTo>
                    <a:cubicBezTo>
                      <a:pt x="98" y="120"/>
                      <a:pt x="88" y="109"/>
                      <a:pt x="88" y="96"/>
                    </a:cubicBezTo>
                    <a:cubicBezTo>
                      <a:pt x="88" y="82"/>
                      <a:pt x="98" y="72"/>
                      <a:pt x="112" y="72"/>
                    </a:cubicBezTo>
                    <a:close/>
                    <a:moveTo>
                      <a:pt x="144" y="208"/>
                    </a:moveTo>
                    <a:cubicBezTo>
                      <a:pt x="144" y="212"/>
                      <a:pt x="140" y="216"/>
                      <a:pt x="136" y="216"/>
                    </a:cubicBezTo>
                    <a:cubicBezTo>
                      <a:pt x="136" y="288"/>
                      <a:pt x="136" y="288"/>
                      <a:pt x="136" y="288"/>
                    </a:cubicBezTo>
                    <a:cubicBezTo>
                      <a:pt x="136" y="292"/>
                      <a:pt x="132" y="296"/>
                      <a:pt x="128" y="296"/>
                    </a:cubicBezTo>
                    <a:cubicBezTo>
                      <a:pt x="123" y="296"/>
                      <a:pt x="120" y="292"/>
                      <a:pt x="120" y="288"/>
                    </a:cubicBezTo>
                    <a:cubicBezTo>
                      <a:pt x="120" y="216"/>
                      <a:pt x="120" y="216"/>
                      <a:pt x="120" y="216"/>
                    </a:cubicBezTo>
                    <a:cubicBezTo>
                      <a:pt x="104" y="216"/>
                      <a:pt x="104" y="216"/>
                      <a:pt x="104" y="216"/>
                    </a:cubicBezTo>
                    <a:cubicBezTo>
                      <a:pt x="104" y="288"/>
                      <a:pt x="104" y="288"/>
                      <a:pt x="104" y="288"/>
                    </a:cubicBezTo>
                    <a:cubicBezTo>
                      <a:pt x="104" y="292"/>
                      <a:pt x="100" y="296"/>
                      <a:pt x="96" y="296"/>
                    </a:cubicBezTo>
                    <a:cubicBezTo>
                      <a:pt x="91" y="296"/>
                      <a:pt x="88" y="292"/>
                      <a:pt x="88" y="288"/>
                    </a:cubicBezTo>
                    <a:cubicBezTo>
                      <a:pt x="88" y="216"/>
                      <a:pt x="88" y="216"/>
                      <a:pt x="88" y="216"/>
                    </a:cubicBezTo>
                    <a:cubicBezTo>
                      <a:pt x="84" y="216"/>
                      <a:pt x="80" y="212"/>
                      <a:pt x="80" y="208"/>
                    </a:cubicBezTo>
                    <a:cubicBezTo>
                      <a:pt x="80" y="144"/>
                      <a:pt x="80" y="144"/>
                      <a:pt x="80" y="144"/>
                    </a:cubicBezTo>
                    <a:cubicBezTo>
                      <a:pt x="80" y="139"/>
                      <a:pt x="83" y="136"/>
                      <a:pt x="88" y="136"/>
                    </a:cubicBezTo>
                    <a:cubicBezTo>
                      <a:pt x="136" y="136"/>
                      <a:pt x="136" y="136"/>
                      <a:pt x="136" y="136"/>
                    </a:cubicBezTo>
                    <a:cubicBezTo>
                      <a:pt x="140" y="136"/>
                      <a:pt x="144" y="139"/>
                      <a:pt x="144" y="144"/>
                    </a:cubicBezTo>
                    <a:lnTo>
                      <a:pt x="144" y="208"/>
                    </a:lnTo>
                    <a:close/>
                    <a:moveTo>
                      <a:pt x="224" y="208"/>
                    </a:moveTo>
                    <a:cubicBezTo>
                      <a:pt x="224" y="212"/>
                      <a:pt x="224" y="216"/>
                      <a:pt x="216" y="216"/>
                    </a:cubicBezTo>
                    <a:cubicBezTo>
                      <a:pt x="216" y="288"/>
                      <a:pt x="216" y="288"/>
                      <a:pt x="216" y="288"/>
                    </a:cubicBezTo>
                    <a:cubicBezTo>
                      <a:pt x="216" y="292"/>
                      <a:pt x="212" y="296"/>
                      <a:pt x="208" y="296"/>
                    </a:cubicBezTo>
                    <a:cubicBezTo>
                      <a:pt x="203" y="296"/>
                      <a:pt x="200" y="292"/>
                      <a:pt x="200" y="288"/>
                    </a:cubicBezTo>
                    <a:cubicBezTo>
                      <a:pt x="200" y="216"/>
                      <a:pt x="200" y="216"/>
                      <a:pt x="200" y="216"/>
                    </a:cubicBezTo>
                    <a:cubicBezTo>
                      <a:pt x="184" y="216"/>
                      <a:pt x="184" y="216"/>
                      <a:pt x="184" y="216"/>
                    </a:cubicBezTo>
                    <a:cubicBezTo>
                      <a:pt x="184" y="288"/>
                      <a:pt x="184" y="288"/>
                      <a:pt x="184" y="288"/>
                    </a:cubicBezTo>
                    <a:cubicBezTo>
                      <a:pt x="184" y="292"/>
                      <a:pt x="180" y="296"/>
                      <a:pt x="176" y="296"/>
                    </a:cubicBezTo>
                    <a:cubicBezTo>
                      <a:pt x="171" y="296"/>
                      <a:pt x="168" y="292"/>
                      <a:pt x="168" y="288"/>
                    </a:cubicBezTo>
                    <a:cubicBezTo>
                      <a:pt x="168" y="216"/>
                      <a:pt x="168" y="216"/>
                      <a:pt x="168" y="216"/>
                    </a:cubicBezTo>
                    <a:cubicBezTo>
                      <a:pt x="160" y="216"/>
                      <a:pt x="160" y="212"/>
                      <a:pt x="160" y="208"/>
                    </a:cubicBezTo>
                    <a:cubicBezTo>
                      <a:pt x="160" y="144"/>
                      <a:pt x="160" y="144"/>
                      <a:pt x="160" y="144"/>
                    </a:cubicBezTo>
                    <a:cubicBezTo>
                      <a:pt x="160" y="139"/>
                      <a:pt x="163" y="136"/>
                      <a:pt x="168" y="136"/>
                    </a:cubicBezTo>
                    <a:cubicBezTo>
                      <a:pt x="216" y="136"/>
                      <a:pt x="216" y="136"/>
                      <a:pt x="216" y="136"/>
                    </a:cubicBezTo>
                    <a:cubicBezTo>
                      <a:pt x="220" y="136"/>
                      <a:pt x="224" y="139"/>
                      <a:pt x="224" y="144"/>
                    </a:cubicBezTo>
                    <a:lnTo>
                      <a:pt x="224" y="208"/>
                    </a:lnTo>
                    <a:close/>
                    <a:moveTo>
                      <a:pt x="302" y="229"/>
                    </a:moveTo>
                    <a:cubicBezTo>
                      <a:pt x="300" y="231"/>
                      <a:pt x="296" y="232"/>
                      <a:pt x="296" y="232"/>
                    </a:cubicBezTo>
                    <a:cubicBezTo>
                      <a:pt x="296" y="288"/>
                      <a:pt x="296" y="288"/>
                      <a:pt x="296" y="288"/>
                    </a:cubicBezTo>
                    <a:cubicBezTo>
                      <a:pt x="296" y="292"/>
                      <a:pt x="292" y="296"/>
                      <a:pt x="288" y="296"/>
                    </a:cubicBezTo>
                    <a:cubicBezTo>
                      <a:pt x="283" y="296"/>
                      <a:pt x="280" y="292"/>
                      <a:pt x="280" y="288"/>
                    </a:cubicBezTo>
                    <a:cubicBezTo>
                      <a:pt x="280" y="232"/>
                      <a:pt x="280" y="232"/>
                      <a:pt x="280" y="232"/>
                    </a:cubicBezTo>
                    <a:cubicBezTo>
                      <a:pt x="264" y="232"/>
                      <a:pt x="264" y="232"/>
                      <a:pt x="264" y="232"/>
                    </a:cubicBezTo>
                    <a:cubicBezTo>
                      <a:pt x="264" y="288"/>
                      <a:pt x="264" y="288"/>
                      <a:pt x="264" y="288"/>
                    </a:cubicBezTo>
                    <a:cubicBezTo>
                      <a:pt x="264" y="292"/>
                      <a:pt x="260" y="296"/>
                      <a:pt x="256" y="296"/>
                    </a:cubicBezTo>
                    <a:cubicBezTo>
                      <a:pt x="251" y="296"/>
                      <a:pt x="248" y="292"/>
                      <a:pt x="248" y="288"/>
                    </a:cubicBezTo>
                    <a:cubicBezTo>
                      <a:pt x="248" y="232"/>
                      <a:pt x="248" y="232"/>
                      <a:pt x="248" y="232"/>
                    </a:cubicBezTo>
                    <a:cubicBezTo>
                      <a:pt x="248" y="232"/>
                      <a:pt x="243" y="231"/>
                      <a:pt x="241" y="229"/>
                    </a:cubicBezTo>
                    <a:cubicBezTo>
                      <a:pt x="240" y="227"/>
                      <a:pt x="239" y="224"/>
                      <a:pt x="240" y="222"/>
                    </a:cubicBezTo>
                    <a:cubicBezTo>
                      <a:pt x="256" y="142"/>
                      <a:pt x="256" y="142"/>
                      <a:pt x="256" y="142"/>
                    </a:cubicBezTo>
                    <a:cubicBezTo>
                      <a:pt x="257" y="138"/>
                      <a:pt x="260" y="136"/>
                      <a:pt x="264" y="136"/>
                    </a:cubicBezTo>
                    <a:cubicBezTo>
                      <a:pt x="280" y="136"/>
                      <a:pt x="280" y="136"/>
                      <a:pt x="280" y="136"/>
                    </a:cubicBezTo>
                    <a:cubicBezTo>
                      <a:pt x="283" y="136"/>
                      <a:pt x="287" y="138"/>
                      <a:pt x="288" y="142"/>
                    </a:cubicBezTo>
                    <a:cubicBezTo>
                      <a:pt x="304" y="222"/>
                      <a:pt x="304" y="222"/>
                      <a:pt x="304" y="222"/>
                    </a:cubicBezTo>
                    <a:cubicBezTo>
                      <a:pt x="304" y="224"/>
                      <a:pt x="303" y="227"/>
                      <a:pt x="302"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397" name="Freeform 11">
                <a:extLst>
                  <a:ext uri="{FF2B5EF4-FFF2-40B4-BE49-F238E27FC236}">
                    <a16:creationId xmlns:a16="http://schemas.microsoft.com/office/drawing/2014/main" id="{C30A2122-F693-4876-8DDD-E07443728416}"/>
                  </a:ext>
                </a:extLst>
              </p:cNvPr>
              <p:cNvSpPr>
                <a:spLocks/>
              </p:cNvSpPr>
              <p:nvPr/>
            </p:nvSpPr>
            <p:spPr bwMode="auto">
              <a:xfrm>
                <a:off x="6729413" y="5135563"/>
                <a:ext cx="119062" cy="261938"/>
              </a:xfrm>
              <a:custGeom>
                <a:avLst/>
                <a:gdLst>
                  <a:gd name="T0" fmla="*/ 34 w 75"/>
                  <a:gd name="T1" fmla="*/ 0 h 165"/>
                  <a:gd name="T2" fmla="*/ 0 w 75"/>
                  <a:gd name="T3" fmla="*/ 165 h 165"/>
                  <a:gd name="T4" fmla="*/ 75 w 75"/>
                  <a:gd name="T5" fmla="*/ 165 h 165"/>
                  <a:gd name="T6" fmla="*/ 41 w 75"/>
                  <a:gd name="T7" fmla="*/ 0 h 165"/>
                  <a:gd name="T8" fmla="*/ 34 w 75"/>
                  <a:gd name="T9" fmla="*/ 0 h 165"/>
                </a:gdLst>
                <a:ahLst/>
                <a:cxnLst>
                  <a:cxn ang="0">
                    <a:pos x="T0" y="T1"/>
                  </a:cxn>
                  <a:cxn ang="0">
                    <a:pos x="T2" y="T3"/>
                  </a:cxn>
                  <a:cxn ang="0">
                    <a:pos x="T4" y="T5"/>
                  </a:cxn>
                  <a:cxn ang="0">
                    <a:pos x="T6" y="T7"/>
                  </a:cxn>
                  <a:cxn ang="0">
                    <a:pos x="T8" y="T9"/>
                  </a:cxn>
                </a:cxnLst>
                <a:rect l="0" t="0" r="r" b="b"/>
                <a:pathLst>
                  <a:path w="75" h="165">
                    <a:moveTo>
                      <a:pt x="34" y="0"/>
                    </a:moveTo>
                    <a:lnTo>
                      <a:pt x="0" y="165"/>
                    </a:lnTo>
                    <a:lnTo>
                      <a:pt x="75" y="165"/>
                    </a:lnTo>
                    <a:lnTo>
                      <a:pt x="41" y="0"/>
                    </a:lnTo>
                    <a:lnTo>
                      <a:pt x="3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grpSp>
        <p:sp>
          <p:nvSpPr>
            <p:cNvPr id="387" name="Freeform 806">
              <a:extLst>
                <a:ext uri="{FF2B5EF4-FFF2-40B4-BE49-F238E27FC236}">
                  <a16:creationId xmlns:a16="http://schemas.microsoft.com/office/drawing/2014/main" id="{759BA32D-A343-4D18-823C-C0F5F27204C2}"/>
                </a:ext>
              </a:extLst>
            </p:cNvPr>
            <p:cNvSpPr>
              <a:spLocks noChangeAspect="1" noEditPoints="1"/>
            </p:cNvSpPr>
            <p:nvPr/>
          </p:nvSpPr>
          <p:spPr bwMode="auto">
            <a:xfrm>
              <a:off x="9561137" y="2515226"/>
              <a:ext cx="369676" cy="369676"/>
            </a:xfrm>
            <a:custGeom>
              <a:avLst/>
              <a:gdLst>
                <a:gd name="T0" fmla="*/ 275 w 512"/>
                <a:gd name="T1" fmla="*/ 288 h 512"/>
                <a:gd name="T2" fmla="*/ 254 w 512"/>
                <a:gd name="T3" fmla="*/ 202 h 512"/>
                <a:gd name="T4" fmla="*/ 256 w 512"/>
                <a:gd name="T5" fmla="*/ 138 h 512"/>
                <a:gd name="T6" fmla="*/ 256 w 512"/>
                <a:gd name="T7" fmla="*/ 117 h 512"/>
                <a:gd name="T8" fmla="*/ 256 w 512"/>
                <a:gd name="T9" fmla="*/ 138 h 512"/>
                <a:gd name="T10" fmla="*/ 160 w 512"/>
                <a:gd name="T11" fmla="*/ 128 h 512"/>
                <a:gd name="T12" fmla="*/ 138 w 512"/>
                <a:gd name="T13" fmla="*/ 128 h 512"/>
                <a:gd name="T14" fmla="*/ 147 w 512"/>
                <a:gd name="T15" fmla="*/ 202 h 512"/>
                <a:gd name="T16" fmla="*/ 168 w 512"/>
                <a:gd name="T17" fmla="*/ 288 h 512"/>
                <a:gd name="T18" fmla="*/ 147 w 512"/>
                <a:gd name="T19" fmla="*/ 202 h 512"/>
                <a:gd name="T20" fmla="*/ 384 w 512"/>
                <a:gd name="T21" fmla="*/ 266 h 512"/>
                <a:gd name="T22" fmla="*/ 341 w 512"/>
                <a:gd name="T23" fmla="*/ 202 h 512"/>
                <a:gd name="T24" fmla="*/ 362 w 512"/>
                <a:gd name="T25" fmla="*/ 138 h 512"/>
                <a:gd name="T26" fmla="*/ 362 w 512"/>
                <a:gd name="T27" fmla="*/ 117 h 512"/>
                <a:gd name="T28" fmla="*/ 362 w 512"/>
                <a:gd name="T29" fmla="*/ 138 h 512"/>
                <a:gd name="T30" fmla="*/ 256 w 512"/>
                <a:gd name="T31" fmla="*/ 512 h 512"/>
                <a:gd name="T32" fmla="*/ 256 w 512"/>
                <a:gd name="T33" fmla="*/ 0 h 512"/>
                <a:gd name="T34" fmla="*/ 330 w 512"/>
                <a:gd name="T35" fmla="*/ 128 h 512"/>
                <a:gd name="T36" fmla="*/ 394 w 512"/>
                <a:gd name="T37" fmla="*/ 128 h 512"/>
                <a:gd name="T38" fmla="*/ 330 w 512"/>
                <a:gd name="T39" fmla="*/ 128 h 512"/>
                <a:gd name="T40" fmla="*/ 256 w 512"/>
                <a:gd name="T41" fmla="*/ 160 h 512"/>
                <a:gd name="T42" fmla="*/ 256 w 512"/>
                <a:gd name="T43" fmla="*/ 96 h 512"/>
                <a:gd name="T44" fmla="*/ 117 w 512"/>
                <a:gd name="T45" fmla="*/ 128 h 512"/>
                <a:gd name="T46" fmla="*/ 181 w 512"/>
                <a:gd name="T47" fmla="*/ 128 h 512"/>
                <a:gd name="T48" fmla="*/ 117 w 512"/>
                <a:gd name="T49" fmla="*/ 128 h 512"/>
                <a:gd name="T50" fmla="*/ 170 w 512"/>
                <a:gd name="T51" fmla="*/ 190 h 512"/>
                <a:gd name="T52" fmla="*/ 138 w 512"/>
                <a:gd name="T53" fmla="*/ 181 h 512"/>
                <a:gd name="T54" fmla="*/ 107 w 512"/>
                <a:gd name="T55" fmla="*/ 296 h 512"/>
                <a:gd name="T56" fmla="*/ 117 w 512"/>
                <a:gd name="T57" fmla="*/ 309 h 512"/>
                <a:gd name="T58" fmla="*/ 128 w 512"/>
                <a:gd name="T59" fmla="*/ 394 h 512"/>
                <a:gd name="T60" fmla="*/ 138 w 512"/>
                <a:gd name="T61" fmla="*/ 309 h 512"/>
                <a:gd name="T62" fmla="*/ 160 w 512"/>
                <a:gd name="T63" fmla="*/ 384 h 512"/>
                <a:gd name="T64" fmla="*/ 181 w 512"/>
                <a:gd name="T65" fmla="*/ 384 h 512"/>
                <a:gd name="T66" fmla="*/ 189 w 512"/>
                <a:gd name="T67" fmla="*/ 305 h 512"/>
                <a:gd name="T68" fmla="*/ 298 w 512"/>
                <a:gd name="T69" fmla="*/ 296 h 512"/>
                <a:gd name="T70" fmla="*/ 266 w 512"/>
                <a:gd name="T71" fmla="*/ 181 h 512"/>
                <a:gd name="T72" fmla="*/ 235 w 512"/>
                <a:gd name="T73" fmla="*/ 190 h 512"/>
                <a:gd name="T74" fmla="*/ 215 w 512"/>
                <a:gd name="T75" fmla="*/ 305 h 512"/>
                <a:gd name="T76" fmla="*/ 224 w 512"/>
                <a:gd name="T77" fmla="*/ 384 h 512"/>
                <a:gd name="T78" fmla="*/ 245 w 512"/>
                <a:gd name="T79" fmla="*/ 384 h 512"/>
                <a:gd name="T80" fmla="*/ 266 w 512"/>
                <a:gd name="T81" fmla="*/ 309 h 512"/>
                <a:gd name="T82" fmla="*/ 277 w 512"/>
                <a:gd name="T83" fmla="*/ 394 h 512"/>
                <a:gd name="T84" fmla="*/ 288 w 512"/>
                <a:gd name="T85" fmla="*/ 309 h 512"/>
                <a:gd name="T86" fmla="*/ 298 w 512"/>
                <a:gd name="T87" fmla="*/ 296 h 512"/>
                <a:gd name="T88" fmla="*/ 394 w 512"/>
                <a:gd name="T89" fmla="*/ 181 h 512"/>
                <a:gd name="T90" fmla="*/ 320 w 512"/>
                <a:gd name="T91" fmla="*/ 192 h 512"/>
                <a:gd name="T92" fmla="*/ 330 w 512"/>
                <a:gd name="T93" fmla="*/ 288 h 512"/>
                <a:gd name="T94" fmla="*/ 341 w 512"/>
                <a:gd name="T95" fmla="*/ 394 h 512"/>
                <a:gd name="T96" fmla="*/ 352 w 512"/>
                <a:gd name="T97" fmla="*/ 288 h 512"/>
                <a:gd name="T98" fmla="*/ 373 w 512"/>
                <a:gd name="T99" fmla="*/ 384 h 512"/>
                <a:gd name="T100" fmla="*/ 394 w 512"/>
                <a:gd name="T101" fmla="*/ 384 h 512"/>
                <a:gd name="T102" fmla="*/ 405 w 512"/>
                <a:gd name="T103" fmla="*/ 27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12" h="512">
                  <a:moveTo>
                    <a:pt x="258" y="202"/>
                  </a:moveTo>
                  <a:cubicBezTo>
                    <a:pt x="275" y="288"/>
                    <a:pt x="275" y="288"/>
                    <a:pt x="275" y="288"/>
                  </a:cubicBezTo>
                  <a:cubicBezTo>
                    <a:pt x="237" y="288"/>
                    <a:pt x="237" y="288"/>
                    <a:pt x="237" y="288"/>
                  </a:cubicBezTo>
                  <a:cubicBezTo>
                    <a:pt x="254" y="202"/>
                    <a:pt x="254" y="202"/>
                    <a:pt x="254" y="202"/>
                  </a:cubicBezTo>
                  <a:lnTo>
                    <a:pt x="258" y="202"/>
                  </a:lnTo>
                  <a:close/>
                  <a:moveTo>
                    <a:pt x="256" y="138"/>
                  </a:moveTo>
                  <a:cubicBezTo>
                    <a:pt x="262" y="138"/>
                    <a:pt x="266" y="134"/>
                    <a:pt x="266" y="128"/>
                  </a:cubicBezTo>
                  <a:cubicBezTo>
                    <a:pt x="266" y="122"/>
                    <a:pt x="262" y="117"/>
                    <a:pt x="256" y="117"/>
                  </a:cubicBezTo>
                  <a:cubicBezTo>
                    <a:pt x="250" y="117"/>
                    <a:pt x="245" y="122"/>
                    <a:pt x="245" y="128"/>
                  </a:cubicBezTo>
                  <a:cubicBezTo>
                    <a:pt x="245" y="134"/>
                    <a:pt x="250" y="138"/>
                    <a:pt x="256" y="138"/>
                  </a:cubicBezTo>
                  <a:close/>
                  <a:moveTo>
                    <a:pt x="149" y="138"/>
                  </a:moveTo>
                  <a:cubicBezTo>
                    <a:pt x="155" y="138"/>
                    <a:pt x="160" y="134"/>
                    <a:pt x="160" y="128"/>
                  </a:cubicBezTo>
                  <a:cubicBezTo>
                    <a:pt x="160" y="122"/>
                    <a:pt x="155" y="117"/>
                    <a:pt x="149" y="117"/>
                  </a:cubicBezTo>
                  <a:cubicBezTo>
                    <a:pt x="143" y="117"/>
                    <a:pt x="138" y="122"/>
                    <a:pt x="138" y="128"/>
                  </a:cubicBezTo>
                  <a:cubicBezTo>
                    <a:pt x="138" y="134"/>
                    <a:pt x="143" y="138"/>
                    <a:pt x="149" y="138"/>
                  </a:cubicBezTo>
                  <a:close/>
                  <a:moveTo>
                    <a:pt x="147" y="202"/>
                  </a:moveTo>
                  <a:cubicBezTo>
                    <a:pt x="130" y="288"/>
                    <a:pt x="130" y="288"/>
                    <a:pt x="130" y="288"/>
                  </a:cubicBezTo>
                  <a:cubicBezTo>
                    <a:pt x="168" y="288"/>
                    <a:pt x="168" y="288"/>
                    <a:pt x="168" y="288"/>
                  </a:cubicBezTo>
                  <a:cubicBezTo>
                    <a:pt x="151" y="202"/>
                    <a:pt x="151" y="202"/>
                    <a:pt x="151" y="202"/>
                  </a:cubicBezTo>
                  <a:lnTo>
                    <a:pt x="147" y="202"/>
                  </a:lnTo>
                  <a:close/>
                  <a:moveTo>
                    <a:pt x="341" y="266"/>
                  </a:moveTo>
                  <a:cubicBezTo>
                    <a:pt x="384" y="266"/>
                    <a:pt x="384" y="266"/>
                    <a:pt x="384" y="266"/>
                  </a:cubicBezTo>
                  <a:cubicBezTo>
                    <a:pt x="384" y="202"/>
                    <a:pt x="384" y="202"/>
                    <a:pt x="384" y="202"/>
                  </a:cubicBezTo>
                  <a:cubicBezTo>
                    <a:pt x="341" y="202"/>
                    <a:pt x="341" y="202"/>
                    <a:pt x="341" y="202"/>
                  </a:cubicBezTo>
                  <a:lnTo>
                    <a:pt x="341" y="266"/>
                  </a:lnTo>
                  <a:close/>
                  <a:moveTo>
                    <a:pt x="362" y="138"/>
                  </a:moveTo>
                  <a:cubicBezTo>
                    <a:pt x="368" y="138"/>
                    <a:pt x="373" y="134"/>
                    <a:pt x="373" y="128"/>
                  </a:cubicBezTo>
                  <a:cubicBezTo>
                    <a:pt x="373" y="122"/>
                    <a:pt x="368" y="117"/>
                    <a:pt x="362" y="117"/>
                  </a:cubicBezTo>
                  <a:cubicBezTo>
                    <a:pt x="356" y="117"/>
                    <a:pt x="352" y="122"/>
                    <a:pt x="352" y="128"/>
                  </a:cubicBezTo>
                  <a:cubicBezTo>
                    <a:pt x="352" y="134"/>
                    <a:pt x="356" y="138"/>
                    <a:pt x="362" y="138"/>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30" y="128"/>
                  </a:moveTo>
                  <a:cubicBezTo>
                    <a:pt x="330" y="145"/>
                    <a:pt x="345" y="160"/>
                    <a:pt x="362" y="160"/>
                  </a:cubicBezTo>
                  <a:cubicBezTo>
                    <a:pt x="380" y="160"/>
                    <a:pt x="394" y="145"/>
                    <a:pt x="394" y="128"/>
                  </a:cubicBezTo>
                  <a:cubicBezTo>
                    <a:pt x="394" y="110"/>
                    <a:pt x="380" y="96"/>
                    <a:pt x="362" y="96"/>
                  </a:cubicBezTo>
                  <a:cubicBezTo>
                    <a:pt x="345" y="96"/>
                    <a:pt x="330" y="110"/>
                    <a:pt x="330" y="128"/>
                  </a:cubicBezTo>
                  <a:close/>
                  <a:moveTo>
                    <a:pt x="224" y="128"/>
                  </a:moveTo>
                  <a:cubicBezTo>
                    <a:pt x="224" y="145"/>
                    <a:pt x="238" y="160"/>
                    <a:pt x="256" y="160"/>
                  </a:cubicBezTo>
                  <a:cubicBezTo>
                    <a:pt x="273" y="160"/>
                    <a:pt x="288" y="145"/>
                    <a:pt x="288" y="128"/>
                  </a:cubicBezTo>
                  <a:cubicBezTo>
                    <a:pt x="288" y="110"/>
                    <a:pt x="273" y="96"/>
                    <a:pt x="256" y="96"/>
                  </a:cubicBezTo>
                  <a:cubicBezTo>
                    <a:pt x="238" y="96"/>
                    <a:pt x="224" y="110"/>
                    <a:pt x="224" y="128"/>
                  </a:cubicBezTo>
                  <a:close/>
                  <a:moveTo>
                    <a:pt x="117" y="128"/>
                  </a:moveTo>
                  <a:cubicBezTo>
                    <a:pt x="117" y="145"/>
                    <a:pt x="131" y="160"/>
                    <a:pt x="149" y="160"/>
                  </a:cubicBezTo>
                  <a:cubicBezTo>
                    <a:pt x="167" y="160"/>
                    <a:pt x="181" y="145"/>
                    <a:pt x="181" y="128"/>
                  </a:cubicBezTo>
                  <a:cubicBezTo>
                    <a:pt x="181" y="110"/>
                    <a:pt x="167" y="96"/>
                    <a:pt x="149" y="96"/>
                  </a:cubicBezTo>
                  <a:cubicBezTo>
                    <a:pt x="131" y="96"/>
                    <a:pt x="117" y="110"/>
                    <a:pt x="117" y="128"/>
                  </a:cubicBezTo>
                  <a:close/>
                  <a:moveTo>
                    <a:pt x="191" y="296"/>
                  </a:moveTo>
                  <a:cubicBezTo>
                    <a:pt x="170" y="190"/>
                    <a:pt x="170" y="190"/>
                    <a:pt x="170" y="190"/>
                  </a:cubicBezTo>
                  <a:cubicBezTo>
                    <a:pt x="169" y="185"/>
                    <a:pt x="165" y="181"/>
                    <a:pt x="160" y="181"/>
                  </a:cubicBezTo>
                  <a:cubicBezTo>
                    <a:pt x="138" y="181"/>
                    <a:pt x="138" y="181"/>
                    <a:pt x="138" y="181"/>
                  </a:cubicBezTo>
                  <a:cubicBezTo>
                    <a:pt x="133" y="181"/>
                    <a:pt x="129" y="185"/>
                    <a:pt x="128" y="190"/>
                  </a:cubicBezTo>
                  <a:cubicBezTo>
                    <a:pt x="107" y="296"/>
                    <a:pt x="107" y="296"/>
                    <a:pt x="107" y="296"/>
                  </a:cubicBezTo>
                  <a:cubicBezTo>
                    <a:pt x="106" y="299"/>
                    <a:pt x="107" y="303"/>
                    <a:pt x="109" y="305"/>
                  </a:cubicBezTo>
                  <a:cubicBezTo>
                    <a:pt x="111" y="308"/>
                    <a:pt x="114" y="309"/>
                    <a:pt x="117" y="309"/>
                  </a:cubicBezTo>
                  <a:cubicBezTo>
                    <a:pt x="117" y="384"/>
                    <a:pt x="117" y="384"/>
                    <a:pt x="117" y="384"/>
                  </a:cubicBezTo>
                  <a:cubicBezTo>
                    <a:pt x="117" y="390"/>
                    <a:pt x="122" y="394"/>
                    <a:pt x="128" y="394"/>
                  </a:cubicBezTo>
                  <a:cubicBezTo>
                    <a:pt x="134" y="394"/>
                    <a:pt x="138" y="390"/>
                    <a:pt x="138" y="384"/>
                  </a:cubicBezTo>
                  <a:cubicBezTo>
                    <a:pt x="138" y="309"/>
                    <a:pt x="138" y="309"/>
                    <a:pt x="138" y="309"/>
                  </a:cubicBezTo>
                  <a:cubicBezTo>
                    <a:pt x="160" y="309"/>
                    <a:pt x="160" y="309"/>
                    <a:pt x="160" y="309"/>
                  </a:cubicBezTo>
                  <a:cubicBezTo>
                    <a:pt x="160" y="384"/>
                    <a:pt x="160" y="384"/>
                    <a:pt x="160" y="384"/>
                  </a:cubicBezTo>
                  <a:cubicBezTo>
                    <a:pt x="160" y="390"/>
                    <a:pt x="164" y="394"/>
                    <a:pt x="170" y="394"/>
                  </a:cubicBezTo>
                  <a:cubicBezTo>
                    <a:pt x="176" y="394"/>
                    <a:pt x="181" y="390"/>
                    <a:pt x="181" y="384"/>
                  </a:cubicBezTo>
                  <a:cubicBezTo>
                    <a:pt x="181" y="309"/>
                    <a:pt x="181" y="309"/>
                    <a:pt x="181" y="309"/>
                  </a:cubicBezTo>
                  <a:cubicBezTo>
                    <a:pt x="184" y="309"/>
                    <a:pt x="187" y="308"/>
                    <a:pt x="189" y="305"/>
                  </a:cubicBezTo>
                  <a:cubicBezTo>
                    <a:pt x="191" y="303"/>
                    <a:pt x="192" y="299"/>
                    <a:pt x="191" y="296"/>
                  </a:cubicBezTo>
                  <a:close/>
                  <a:moveTo>
                    <a:pt x="298" y="296"/>
                  </a:moveTo>
                  <a:cubicBezTo>
                    <a:pt x="277" y="190"/>
                    <a:pt x="277" y="190"/>
                    <a:pt x="277" y="190"/>
                  </a:cubicBezTo>
                  <a:cubicBezTo>
                    <a:pt x="276" y="185"/>
                    <a:pt x="271" y="181"/>
                    <a:pt x="266" y="181"/>
                  </a:cubicBezTo>
                  <a:cubicBezTo>
                    <a:pt x="245" y="181"/>
                    <a:pt x="245" y="181"/>
                    <a:pt x="245" y="181"/>
                  </a:cubicBezTo>
                  <a:cubicBezTo>
                    <a:pt x="240" y="181"/>
                    <a:pt x="236" y="185"/>
                    <a:pt x="235" y="190"/>
                  </a:cubicBezTo>
                  <a:cubicBezTo>
                    <a:pt x="213" y="296"/>
                    <a:pt x="213" y="296"/>
                    <a:pt x="213" y="296"/>
                  </a:cubicBezTo>
                  <a:cubicBezTo>
                    <a:pt x="213" y="299"/>
                    <a:pt x="213" y="303"/>
                    <a:pt x="215" y="305"/>
                  </a:cubicBezTo>
                  <a:cubicBezTo>
                    <a:pt x="217" y="308"/>
                    <a:pt x="220" y="309"/>
                    <a:pt x="224" y="309"/>
                  </a:cubicBezTo>
                  <a:cubicBezTo>
                    <a:pt x="224" y="384"/>
                    <a:pt x="224" y="384"/>
                    <a:pt x="224" y="384"/>
                  </a:cubicBezTo>
                  <a:cubicBezTo>
                    <a:pt x="224" y="390"/>
                    <a:pt x="228" y="394"/>
                    <a:pt x="234" y="394"/>
                  </a:cubicBezTo>
                  <a:cubicBezTo>
                    <a:pt x="240" y="394"/>
                    <a:pt x="245" y="390"/>
                    <a:pt x="245" y="384"/>
                  </a:cubicBezTo>
                  <a:cubicBezTo>
                    <a:pt x="245" y="309"/>
                    <a:pt x="245" y="309"/>
                    <a:pt x="245" y="309"/>
                  </a:cubicBezTo>
                  <a:cubicBezTo>
                    <a:pt x="266" y="309"/>
                    <a:pt x="266" y="309"/>
                    <a:pt x="266" y="309"/>
                  </a:cubicBezTo>
                  <a:cubicBezTo>
                    <a:pt x="266" y="384"/>
                    <a:pt x="266" y="384"/>
                    <a:pt x="266" y="384"/>
                  </a:cubicBezTo>
                  <a:cubicBezTo>
                    <a:pt x="266" y="390"/>
                    <a:pt x="271" y="394"/>
                    <a:pt x="277" y="394"/>
                  </a:cubicBezTo>
                  <a:cubicBezTo>
                    <a:pt x="283" y="394"/>
                    <a:pt x="288" y="390"/>
                    <a:pt x="288" y="384"/>
                  </a:cubicBezTo>
                  <a:cubicBezTo>
                    <a:pt x="288" y="309"/>
                    <a:pt x="288" y="309"/>
                    <a:pt x="288" y="309"/>
                  </a:cubicBezTo>
                  <a:cubicBezTo>
                    <a:pt x="291" y="309"/>
                    <a:pt x="294" y="308"/>
                    <a:pt x="296" y="305"/>
                  </a:cubicBezTo>
                  <a:cubicBezTo>
                    <a:pt x="298" y="303"/>
                    <a:pt x="299" y="299"/>
                    <a:pt x="298" y="296"/>
                  </a:cubicBezTo>
                  <a:close/>
                  <a:moveTo>
                    <a:pt x="405" y="192"/>
                  </a:moveTo>
                  <a:cubicBezTo>
                    <a:pt x="405" y="186"/>
                    <a:pt x="400" y="181"/>
                    <a:pt x="394" y="181"/>
                  </a:cubicBezTo>
                  <a:cubicBezTo>
                    <a:pt x="330" y="181"/>
                    <a:pt x="330" y="181"/>
                    <a:pt x="330" y="181"/>
                  </a:cubicBezTo>
                  <a:cubicBezTo>
                    <a:pt x="324" y="181"/>
                    <a:pt x="320" y="186"/>
                    <a:pt x="320" y="192"/>
                  </a:cubicBezTo>
                  <a:cubicBezTo>
                    <a:pt x="320" y="277"/>
                    <a:pt x="320" y="277"/>
                    <a:pt x="320" y="277"/>
                  </a:cubicBezTo>
                  <a:cubicBezTo>
                    <a:pt x="320" y="283"/>
                    <a:pt x="324" y="288"/>
                    <a:pt x="330" y="288"/>
                  </a:cubicBezTo>
                  <a:cubicBezTo>
                    <a:pt x="330" y="384"/>
                    <a:pt x="330" y="384"/>
                    <a:pt x="330" y="384"/>
                  </a:cubicBezTo>
                  <a:cubicBezTo>
                    <a:pt x="330" y="390"/>
                    <a:pt x="335" y="394"/>
                    <a:pt x="341" y="394"/>
                  </a:cubicBezTo>
                  <a:cubicBezTo>
                    <a:pt x="347" y="394"/>
                    <a:pt x="352" y="390"/>
                    <a:pt x="352" y="384"/>
                  </a:cubicBezTo>
                  <a:cubicBezTo>
                    <a:pt x="352" y="288"/>
                    <a:pt x="352" y="288"/>
                    <a:pt x="352" y="288"/>
                  </a:cubicBezTo>
                  <a:cubicBezTo>
                    <a:pt x="373" y="288"/>
                    <a:pt x="373" y="288"/>
                    <a:pt x="373" y="288"/>
                  </a:cubicBezTo>
                  <a:cubicBezTo>
                    <a:pt x="373" y="384"/>
                    <a:pt x="373" y="384"/>
                    <a:pt x="373" y="384"/>
                  </a:cubicBezTo>
                  <a:cubicBezTo>
                    <a:pt x="373" y="390"/>
                    <a:pt x="378" y="394"/>
                    <a:pt x="384" y="394"/>
                  </a:cubicBezTo>
                  <a:cubicBezTo>
                    <a:pt x="390" y="394"/>
                    <a:pt x="394" y="390"/>
                    <a:pt x="394" y="384"/>
                  </a:cubicBezTo>
                  <a:cubicBezTo>
                    <a:pt x="394" y="288"/>
                    <a:pt x="394" y="288"/>
                    <a:pt x="394" y="288"/>
                  </a:cubicBezTo>
                  <a:cubicBezTo>
                    <a:pt x="400" y="288"/>
                    <a:pt x="405" y="283"/>
                    <a:pt x="405" y="277"/>
                  </a:cubicBezTo>
                  <a:lnTo>
                    <a:pt x="405" y="192"/>
                  </a:lnTo>
                  <a:close/>
                </a:path>
              </a:pathLst>
            </a:custGeom>
            <a:solidFill>
              <a:srgbClr val="26890D"/>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grpSp>
          <p:nvGrpSpPr>
            <p:cNvPr id="388" name="Group 463">
              <a:extLst>
                <a:ext uri="{FF2B5EF4-FFF2-40B4-BE49-F238E27FC236}">
                  <a16:creationId xmlns:a16="http://schemas.microsoft.com/office/drawing/2014/main" id="{65A95680-F60D-48ED-AF4B-519E5B12C204}"/>
                </a:ext>
              </a:extLst>
            </p:cNvPr>
            <p:cNvGrpSpPr>
              <a:grpSpLocks noChangeAspect="1"/>
            </p:cNvGrpSpPr>
            <p:nvPr/>
          </p:nvGrpSpPr>
          <p:grpSpPr bwMode="auto">
            <a:xfrm>
              <a:off x="9815264" y="2375186"/>
              <a:ext cx="369021" cy="369021"/>
              <a:chOff x="1110" y="1564"/>
              <a:chExt cx="340" cy="340"/>
            </a:xfrm>
            <a:solidFill>
              <a:srgbClr val="046A38"/>
            </a:solidFill>
          </p:grpSpPr>
          <p:sp>
            <p:nvSpPr>
              <p:cNvPr id="389" name="Freeform 464">
                <a:extLst>
                  <a:ext uri="{FF2B5EF4-FFF2-40B4-BE49-F238E27FC236}">
                    <a16:creationId xmlns:a16="http://schemas.microsoft.com/office/drawing/2014/main" id="{CDC98DE7-25D7-41B6-B5B7-D0096BBD0A25}"/>
                  </a:ext>
                </a:extLst>
              </p:cNvPr>
              <p:cNvSpPr>
                <a:spLocks noEditPoints="1"/>
              </p:cNvSpPr>
              <p:nvPr/>
            </p:nvSpPr>
            <p:spPr bwMode="auto">
              <a:xfrm>
                <a:off x="1174" y="1656"/>
                <a:ext cx="212" cy="148"/>
              </a:xfrm>
              <a:custGeom>
                <a:avLst/>
                <a:gdLst>
                  <a:gd name="T0" fmla="*/ 277 w 320"/>
                  <a:gd name="T1" fmla="*/ 0 h 224"/>
                  <a:gd name="T2" fmla="*/ 234 w 320"/>
                  <a:gd name="T3" fmla="*/ 43 h 224"/>
                  <a:gd name="T4" fmla="*/ 246 w 320"/>
                  <a:gd name="T5" fmla="*/ 73 h 224"/>
                  <a:gd name="T6" fmla="*/ 204 w 320"/>
                  <a:gd name="T7" fmla="*/ 141 h 224"/>
                  <a:gd name="T8" fmla="*/ 192 w 320"/>
                  <a:gd name="T9" fmla="*/ 139 h 224"/>
                  <a:gd name="T10" fmla="*/ 182 w 320"/>
                  <a:gd name="T11" fmla="*/ 140 h 224"/>
                  <a:gd name="T12" fmla="*/ 146 w 320"/>
                  <a:gd name="T13" fmla="*/ 74 h 224"/>
                  <a:gd name="T14" fmla="*/ 160 w 320"/>
                  <a:gd name="T15" fmla="*/ 43 h 224"/>
                  <a:gd name="T16" fmla="*/ 117 w 320"/>
                  <a:gd name="T17" fmla="*/ 0 h 224"/>
                  <a:gd name="T18" fmla="*/ 74 w 320"/>
                  <a:gd name="T19" fmla="*/ 43 h 224"/>
                  <a:gd name="T20" fmla="*/ 88 w 320"/>
                  <a:gd name="T21" fmla="*/ 74 h 224"/>
                  <a:gd name="T22" fmla="*/ 52 w 320"/>
                  <a:gd name="T23" fmla="*/ 140 h 224"/>
                  <a:gd name="T24" fmla="*/ 42 w 320"/>
                  <a:gd name="T25" fmla="*/ 139 h 224"/>
                  <a:gd name="T26" fmla="*/ 0 w 320"/>
                  <a:gd name="T27" fmla="*/ 182 h 224"/>
                  <a:gd name="T28" fmla="*/ 42 w 320"/>
                  <a:gd name="T29" fmla="*/ 224 h 224"/>
                  <a:gd name="T30" fmla="*/ 85 w 320"/>
                  <a:gd name="T31" fmla="*/ 182 h 224"/>
                  <a:gd name="T32" fmla="*/ 71 w 320"/>
                  <a:gd name="T33" fmla="*/ 150 h 224"/>
                  <a:gd name="T34" fmla="*/ 107 w 320"/>
                  <a:gd name="T35" fmla="*/ 84 h 224"/>
                  <a:gd name="T36" fmla="*/ 117 w 320"/>
                  <a:gd name="T37" fmla="*/ 86 h 224"/>
                  <a:gd name="T38" fmla="*/ 127 w 320"/>
                  <a:gd name="T39" fmla="*/ 84 h 224"/>
                  <a:gd name="T40" fmla="*/ 163 w 320"/>
                  <a:gd name="T41" fmla="*/ 150 h 224"/>
                  <a:gd name="T42" fmla="*/ 149 w 320"/>
                  <a:gd name="T43" fmla="*/ 182 h 224"/>
                  <a:gd name="T44" fmla="*/ 192 w 320"/>
                  <a:gd name="T45" fmla="*/ 224 h 224"/>
                  <a:gd name="T46" fmla="*/ 234 w 320"/>
                  <a:gd name="T47" fmla="*/ 182 h 224"/>
                  <a:gd name="T48" fmla="*/ 222 w 320"/>
                  <a:gd name="T49" fmla="*/ 152 h 224"/>
                  <a:gd name="T50" fmla="*/ 265 w 320"/>
                  <a:gd name="T51" fmla="*/ 84 h 224"/>
                  <a:gd name="T52" fmla="*/ 277 w 320"/>
                  <a:gd name="T53" fmla="*/ 86 h 224"/>
                  <a:gd name="T54" fmla="*/ 320 w 320"/>
                  <a:gd name="T55" fmla="*/ 43 h 224"/>
                  <a:gd name="T56" fmla="*/ 277 w 320"/>
                  <a:gd name="T57" fmla="*/ 0 h 224"/>
                  <a:gd name="T58" fmla="*/ 42 w 320"/>
                  <a:gd name="T59" fmla="*/ 203 h 224"/>
                  <a:gd name="T60" fmla="*/ 21 w 320"/>
                  <a:gd name="T61" fmla="*/ 182 h 224"/>
                  <a:gd name="T62" fmla="*/ 42 w 320"/>
                  <a:gd name="T63" fmla="*/ 160 h 224"/>
                  <a:gd name="T64" fmla="*/ 64 w 320"/>
                  <a:gd name="T65" fmla="*/ 182 h 224"/>
                  <a:gd name="T66" fmla="*/ 42 w 320"/>
                  <a:gd name="T67" fmla="*/ 203 h 224"/>
                  <a:gd name="T68" fmla="*/ 96 w 320"/>
                  <a:gd name="T69" fmla="*/ 43 h 224"/>
                  <a:gd name="T70" fmla="*/ 117 w 320"/>
                  <a:gd name="T71" fmla="*/ 22 h 224"/>
                  <a:gd name="T72" fmla="*/ 138 w 320"/>
                  <a:gd name="T73" fmla="*/ 43 h 224"/>
                  <a:gd name="T74" fmla="*/ 117 w 320"/>
                  <a:gd name="T75" fmla="*/ 64 h 224"/>
                  <a:gd name="T76" fmla="*/ 96 w 320"/>
                  <a:gd name="T77" fmla="*/ 43 h 224"/>
                  <a:gd name="T78" fmla="*/ 192 w 320"/>
                  <a:gd name="T79" fmla="*/ 203 h 224"/>
                  <a:gd name="T80" fmla="*/ 170 w 320"/>
                  <a:gd name="T81" fmla="*/ 182 h 224"/>
                  <a:gd name="T82" fmla="*/ 192 w 320"/>
                  <a:gd name="T83" fmla="*/ 160 h 224"/>
                  <a:gd name="T84" fmla="*/ 213 w 320"/>
                  <a:gd name="T85" fmla="*/ 182 h 224"/>
                  <a:gd name="T86" fmla="*/ 192 w 320"/>
                  <a:gd name="T87" fmla="*/ 203 h 224"/>
                  <a:gd name="T88" fmla="*/ 277 w 320"/>
                  <a:gd name="T89" fmla="*/ 64 h 224"/>
                  <a:gd name="T90" fmla="*/ 256 w 320"/>
                  <a:gd name="T91" fmla="*/ 43 h 224"/>
                  <a:gd name="T92" fmla="*/ 277 w 320"/>
                  <a:gd name="T93" fmla="*/ 22 h 224"/>
                  <a:gd name="T94" fmla="*/ 298 w 320"/>
                  <a:gd name="T95" fmla="*/ 43 h 224"/>
                  <a:gd name="T96" fmla="*/ 277 w 320"/>
                  <a:gd name="T97" fmla="*/ 6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20" h="224">
                    <a:moveTo>
                      <a:pt x="277" y="0"/>
                    </a:moveTo>
                    <a:cubicBezTo>
                      <a:pt x="253" y="0"/>
                      <a:pt x="234" y="19"/>
                      <a:pt x="234" y="43"/>
                    </a:cubicBezTo>
                    <a:cubicBezTo>
                      <a:pt x="234" y="54"/>
                      <a:pt x="239" y="65"/>
                      <a:pt x="246" y="73"/>
                    </a:cubicBezTo>
                    <a:cubicBezTo>
                      <a:pt x="204" y="141"/>
                      <a:pt x="204" y="141"/>
                      <a:pt x="204" y="141"/>
                    </a:cubicBezTo>
                    <a:cubicBezTo>
                      <a:pt x="200" y="140"/>
                      <a:pt x="196" y="139"/>
                      <a:pt x="192" y="139"/>
                    </a:cubicBezTo>
                    <a:cubicBezTo>
                      <a:pt x="188" y="139"/>
                      <a:pt x="185" y="140"/>
                      <a:pt x="182" y="140"/>
                    </a:cubicBezTo>
                    <a:cubicBezTo>
                      <a:pt x="146" y="74"/>
                      <a:pt x="146" y="74"/>
                      <a:pt x="146" y="74"/>
                    </a:cubicBezTo>
                    <a:cubicBezTo>
                      <a:pt x="154" y="66"/>
                      <a:pt x="160" y="55"/>
                      <a:pt x="160" y="43"/>
                    </a:cubicBezTo>
                    <a:cubicBezTo>
                      <a:pt x="160" y="19"/>
                      <a:pt x="141" y="0"/>
                      <a:pt x="117" y="0"/>
                    </a:cubicBezTo>
                    <a:cubicBezTo>
                      <a:pt x="93" y="0"/>
                      <a:pt x="74" y="19"/>
                      <a:pt x="74" y="43"/>
                    </a:cubicBezTo>
                    <a:cubicBezTo>
                      <a:pt x="74" y="55"/>
                      <a:pt x="80" y="66"/>
                      <a:pt x="88" y="74"/>
                    </a:cubicBezTo>
                    <a:cubicBezTo>
                      <a:pt x="52" y="140"/>
                      <a:pt x="52" y="140"/>
                      <a:pt x="52" y="140"/>
                    </a:cubicBezTo>
                    <a:cubicBezTo>
                      <a:pt x="49" y="140"/>
                      <a:pt x="46" y="139"/>
                      <a:pt x="42" y="139"/>
                    </a:cubicBezTo>
                    <a:cubicBezTo>
                      <a:pt x="19" y="139"/>
                      <a:pt x="0" y="158"/>
                      <a:pt x="0" y="182"/>
                    </a:cubicBezTo>
                    <a:cubicBezTo>
                      <a:pt x="0" y="205"/>
                      <a:pt x="19" y="224"/>
                      <a:pt x="42" y="224"/>
                    </a:cubicBezTo>
                    <a:cubicBezTo>
                      <a:pt x="66" y="224"/>
                      <a:pt x="85" y="205"/>
                      <a:pt x="85" y="182"/>
                    </a:cubicBezTo>
                    <a:cubicBezTo>
                      <a:pt x="85" y="169"/>
                      <a:pt x="80" y="158"/>
                      <a:pt x="71" y="150"/>
                    </a:cubicBezTo>
                    <a:cubicBezTo>
                      <a:pt x="107" y="84"/>
                      <a:pt x="107" y="84"/>
                      <a:pt x="107" y="84"/>
                    </a:cubicBezTo>
                    <a:cubicBezTo>
                      <a:pt x="110" y="85"/>
                      <a:pt x="113" y="86"/>
                      <a:pt x="117" y="86"/>
                    </a:cubicBezTo>
                    <a:cubicBezTo>
                      <a:pt x="121" y="86"/>
                      <a:pt x="124" y="85"/>
                      <a:pt x="127" y="84"/>
                    </a:cubicBezTo>
                    <a:cubicBezTo>
                      <a:pt x="163" y="150"/>
                      <a:pt x="163" y="150"/>
                      <a:pt x="163" y="150"/>
                    </a:cubicBezTo>
                    <a:cubicBezTo>
                      <a:pt x="154" y="158"/>
                      <a:pt x="149" y="169"/>
                      <a:pt x="149" y="182"/>
                    </a:cubicBezTo>
                    <a:cubicBezTo>
                      <a:pt x="149" y="205"/>
                      <a:pt x="168" y="224"/>
                      <a:pt x="192" y="224"/>
                    </a:cubicBezTo>
                    <a:cubicBezTo>
                      <a:pt x="215" y="224"/>
                      <a:pt x="234" y="205"/>
                      <a:pt x="234" y="182"/>
                    </a:cubicBezTo>
                    <a:cubicBezTo>
                      <a:pt x="234" y="170"/>
                      <a:pt x="230" y="160"/>
                      <a:pt x="222" y="152"/>
                    </a:cubicBezTo>
                    <a:cubicBezTo>
                      <a:pt x="265" y="84"/>
                      <a:pt x="265" y="84"/>
                      <a:pt x="265" y="84"/>
                    </a:cubicBezTo>
                    <a:cubicBezTo>
                      <a:pt x="269" y="85"/>
                      <a:pt x="273" y="86"/>
                      <a:pt x="277" y="86"/>
                    </a:cubicBezTo>
                    <a:cubicBezTo>
                      <a:pt x="301" y="86"/>
                      <a:pt x="320" y="67"/>
                      <a:pt x="320" y="43"/>
                    </a:cubicBezTo>
                    <a:cubicBezTo>
                      <a:pt x="320" y="19"/>
                      <a:pt x="301" y="0"/>
                      <a:pt x="277" y="0"/>
                    </a:cubicBezTo>
                    <a:close/>
                    <a:moveTo>
                      <a:pt x="42" y="203"/>
                    </a:moveTo>
                    <a:cubicBezTo>
                      <a:pt x="31" y="203"/>
                      <a:pt x="21" y="193"/>
                      <a:pt x="21" y="182"/>
                    </a:cubicBezTo>
                    <a:cubicBezTo>
                      <a:pt x="21" y="170"/>
                      <a:pt x="31" y="160"/>
                      <a:pt x="42" y="160"/>
                    </a:cubicBezTo>
                    <a:cubicBezTo>
                      <a:pt x="54" y="160"/>
                      <a:pt x="64" y="170"/>
                      <a:pt x="64" y="182"/>
                    </a:cubicBezTo>
                    <a:cubicBezTo>
                      <a:pt x="64" y="193"/>
                      <a:pt x="54" y="203"/>
                      <a:pt x="42" y="203"/>
                    </a:cubicBezTo>
                    <a:close/>
                    <a:moveTo>
                      <a:pt x="96" y="43"/>
                    </a:moveTo>
                    <a:cubicBezTo>
                      <a:pt x="96" y="31"/>
                      <a:pt x="105" y="22"/>
                      <a:pt x="117" y="22"/>
                    </a:cubicBezTo>
                    <a:cubicBezTo>
                      <a:pt x="129" y="22"/>
                      <a:pt x="138" y="31"/>
                      <a:pt x="138" y="43"/>
                    </a:cubicBezTo>
                    <a:cubicBezTo>
                      <a:pt x="138" y="55"/>
                      <a:pt x="129" y="64"/>
                      <a:pt x="117" y="64"/>
                    </a:cubicBezTo>
                    <a:cubicBezTo>
                      <a:pt x="105" y="64"/>
                      <a:pt x="96" y="55"/>
                      <a:pt x="96" y="43"/>
                    </a:cubicBezTo>
                    <a:close/>
                    <a:moveTo>
                      <a:pt x="192" y="203"/>
                    </a:moveTo>
                    <a:cubicBezTo>
                      <a:pt x="180" y="203"/>
                      <a:pt x="170" y="193"/>
                      <a:pt x="170" y="182"/>
                    </a:cubicBezTo>
                    <a:cubicBezTo>
                      <a:pt x="170" y="170"/>
                      <a:pt x="180" y="160"/>
                      <a:pt x="192" y="160"/>
                    </a:cubicBezTo>
                    <a:cubicBezTo>
                      <a:pt x="203" y="160"/>
                      <a:pt x="213" y="170"/>
                      <a:pt x="213" y="182"/>
                    </a:cubicBezTo>
                    <a:cubicBezTo>
                      <a:pt x="213" y="193"/>
                      <a:pt x="203" y="203"/>
                      <a:pt x="192" y="203"/>
                    </a:cubicBezTo>
                    <a:close/>
                    <a:moveTo>
                      <a:pt x="277" y="64"/>
                    </a:moveTo>
                    <a:cubicBezTo>
                      <a:pt x="265" y="64"/>
                      <a:pt x="256" y="55"/>
                      <a:pt x="256" y="43"/>
                    </a:cubicBezTo>
                    <a:cubicBezTo>
                      <a:pt x="256" y="31"/>
                      <a:pt x="265" y="22"/>
                      <a:pt x="277" y="22"/>
                    </a:cubicBezTo>
                    <a:cubicBezTo>
                      <a:pt x="289" y="22"/>
                      <a:pt x="298" y="31"/>
                      <a:pt x="298" y="43"/>
                    </a:cubicBezTo>
                    <a:cubicBezTo>
                      <a:pt x="298" y="55"/>
                      <a:pt x="289" y="64"/>
                      <a:pt x="277" y="6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sp>
            <p:nvSpPr>
              <p:cNvPr id="390" name="Freeform 465">
                <a:extLst>
                  <a:ext uri="{FF2B5EF4-FFF2-40B4-BE49-F238E27FC236}">
                    <a16:creationId xmlns:a16="http://schemas.microsoft.com/office/drawing/2014/main" id="{6C70F151-6008-4943-B456-76E81D9767C6}"/>
                  </a:ext>
                </a:extLst>
              </p:cNvPr>
              <p:cNvSpPr>
                <a:spLocks noEditPoints="1"/>
              </p:cNvSpPr>
              <p:nvPr/>
            </p:nvSpPr>
            <p:spPr bwMode="auto">
              <a:xfrm>
                <a:off x="1110" y="156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a:endParaRPr>
              </a:p>
            </p:txBody>
          </p:sp>
        </p:grpSp>
      </p:grpSp>
      <p:sp>
        <p:nvSpPr>
          <p:cNvPr id="398" name="TextBox 397">
            <a:extLst>
              <a:ext uri="{FF2B5EF4-FFF2-40B4-BE49-F238E27FC236}">
                <a16:creationId xmlns:a16="http://schemas.microsoft.com/office/drawing/2014/main" id="{C87C3F48-3C8A-4100-A4C8-FB6F1A679731}"/>
              </a:ext>
            </a:extLst>
          </p:cNvPr>
          <p:cNvSpPr txBox="1"/>
          <p:nvPr/>
        </p:nvSpPr>
        <p:spPr>
          <a:xfrm>
            <a:off x="8124327" y="2086540"/>
            <a:ext cx="1028893" cy="507831"/>
          </a:xfrm>
          <a:prstGeom prst="rect">
            <a:avLst/>
          </a:prstGeom>
          <a:noFill/>
          <a:ln>
            <a:noFill/>
          </a:ln>
        </p:spPr>
        <p:txBody>
          <a:bodyPr wrap="square" lIns="0" tIns="0" rIns="0" bIns="0" rtlCol="0">
            <a:spAutoFit/>
          </a:bodyPr>
          <a:lstStyle/>
          <a:p>
            <a:pPr defTabSz="885893">
              <a:spcBef>
                <a:spcPts val="600"/>
              </a:spcBef>
              <a:buSzPct val="100000"/>
              <a:defRPr/>
            </a:pPr>
            <a:r>
              <a:rPr lang="en-US" sz="1100" b="1" kern="0" dirty="0">
                <a:solidFill>
                  <a:srgbClr val="046A38"/>
                </a:solidFill>
                <a:latin typeface="Calibri"/>
              </a:rPr>
              <a:t>Consumers are becoming aware and demanding</a:t>
            </a:r>
          </a:p>
        </p:txBody>
      </p:sp>
      <p:sp>
        <p:nvSpPr>
          <p:cNvPr id="399" name="TextBox 398">
            <a:extLst>
              <a:ext uri="{FF2B5EF4-FFF2-40B4-BE49-F238E27FC236}">
                <a16:creationId xmlns:a16="http://schemas.microsoft.com/office/drawing/2014/main" id="{3C6DF2E4-0D12-44C4-804F-94A3B6C3DF7B}"/>
              </a:ext>
            </a:extLst>
          </p:cNvPr>
          <p:cNvSpPr txBox="1"/>
          <p:nvPr/>
        </p:nvSpPr>
        <p:spPr>
          <a:xfrm>
            <a:off x="7368106" y="2808934"/>
            <a:ext cx="1772287" cy="338554"/>
          </a:xfrm>
          <a:prstGeom prst="rect">
            <a:avLst/>
          </a:prstGeom>
          <a:noFill/>
          <a:ln>
            <a:noFill/>
          </a:ln>
        </p:spPr>
        <p:txBody>
          <a:bodyPr wrap="square" lIns="0" tIns="0" rIns="0" bIns="0" rtlCol="0">
            <a:spAutoFit/>
          </a:bodyPr>
          <a:lstStyle/>
          <a:p>
            <a:pPr defTabSz="885893">
              <a:spcBef>
                <a:spcPts val="600"/>
              </a:spcBef>
              <a:buSzPct val="100000"/>
              <a:defRPr/>
            </a:pPr>
            <a:r>
              <a:rPr lang="en-US" sz="1100" kern="0" dirty="0">
                <a:solidFill>
                  <a:prstClr val="black"/>
                </a:solidFill>
                <a:latin typeface="Calibri"/>
              </a:rPr>
              <a:t>Business are moving towards </a:t>
            </a:r>
            <a:r>
              <a:rPr lang="en-US" sz="1100" b="1" kern="0" dirty="0">
                <a:solidFill>
                  <a:prstClr val="black"/>
                </a:solidFill>
                <a:latin typeface="Calibri"/>
              </a:rPr>
              <a:t>service-based models</a:t>
            </a:r>
          </a:p>
        </p:txBody>
      </p:sp>
      <p:sp>
        <p:nvSpPr>
          <p:cNvPr id="400" name="TextBox 399">
            <a:extLst>
              <a:ext uri="{FF2B5EF4-FFF2-40B4-BE49-F238E27FC236}">
                <a16:creationId xmlns:a16="http://schemas.microsoft.com/office/drawing/2014/main" id="{88783040-8F20-42F0-94CD-548B14F4EC9F}"/>
              </a:ext>
            </a:extLst>
          </p:cNvPr>
          <p:cNvSpPr txBox="1"/>
          <p:nvPr/>
        </p:nvSpPr>
        <p:spPr>
          <a:xfrm>
            <a:off x="5802233" y="2023886"/>
            <a:ext cx="1232951" cy="677108"/>
          </a:xfrm>
          <a:prstGeom prst="rect">
            <a:avLst/>
          </a:prstGeom>
          <a:noFill/>
          <a:ln>
            <a:noFill/>
          </a:ln>
        </p:spPr>
        <p:txBody>
          <a:bodyPr wrap="square" lIns="0" tIns="0" rIns="0" bIns="0" rtlCol="0">
            <a:spAutoFit/>
          </a:bodyPr>
          <a:lstStyle/>
          <a:p>
            <a:pPr defTabSz="885893">
              <a:spcBef>
                <a:spcPts val="600"/>
              </a:spcBef>
              <a:buSzPct val="100000"/>
              <a:defRPr/>
            </a:pPr>
            <a:r>
              <a:rPr lang="en-US" sz="1100" b="1" kern="0" dirty="0">
                <a:solidFill>
                  <a:srgbClr val="046A38"/>
                </a:solidFill>
                <a:latin typeface="Calibri"/>
              </a:rPr>
              <a:t>Reduce losses, improve service quality through infra works, Agri-feeder</a:t>
            </a:r>
          </a:p>
        </p:txBody>
      </p:sp>
    </p:spTree>
    <p:extLst>
      <p:ext uri="{BB962C8B-B14F-4D97-AF65-F5344CB8AC3E}">
        <p14:creationId xmlns:p14="http://schemas.microsoft.com/office/powerpoint/2010/main" val="87688446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Arrow Connector 23">
            <a:extLst>
              <a:ext uri="{FF2B5EF4-FFF2-40B4-BE49-F238E27FC236}">
                <a16:creationId xmlns:a16="http://schemas.microsoft.com/office/drawing/2014/main" id="{F2E3F7C6-1DE5-4D3F-8B4D-2092D5F0FC7D}"/>
              </a:ext>
            </a:extLst>
          </p:cNvPr>
          <p:cNvCxnSpPr>
            <a:cxnSpLocks/>
          </p:cNvCxnSpPr>
          <p:nvPr/>
        </p:nvCxnSpPr>
        <p:spPr>
          <a:xfrm>
            <a:off x="581680" y="1192035"/>
            <a:ext cx="10854107" cy="0"/>
          </a:xfrm>
          <a:prstGeom prst="straightConnector1">
            <a:avLst/>
          </a:prstGeom>
          <a:ln>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BCCF576-4C33-4EBC-9A6D-D4B1C7FBBED3}"/>
              </a:ext>
            </a:extLst>
          </p:cNvPr>
          <p:cNvSpPr>
            <a:spLocks noGrp="1"/>
          </p:cNvSpPr>
          <p:nvPr>
            <p:ph type="title"/>
          </p:nvPr>
        </p:nvSpPr>
        <p:spPr/>
        <p:txBody>
          <a:bodyPr/>
          <a:lstStyle/>
          <a:p>
            <a:r>
              <a:rPr lang="en-US" sz="1800" dirty="0"/>
              <a:t>Engagement </a:t>
            </a:r>
            <a:r>
              <a:rPr lang="en-US" sz="1800" b="1" dirty="0"/>
              <a:t>drivers</a:t>
            </a:r>
          </a:p>
        </p:txBody>
      </p:sp>
      <p:sp>
        <p:nvSpPr>
          <p:cNvPr id="5" name="Rectangle 4">
            <a:extLst>
              <a:ext uri="{FF2B5EF4-FFF2-40B4-BE49-F238E27FC236}">
                <a16:creationId xmlns:a16="http://schemas.microsoft.com/office/drawing/2014/main" id="{3F0EFCCB-832F-495C-B02B-EC1602C82856}"/>
              </a:ext>
            </a:extLst>
          </p:cNvPr>
          <p:cNvSpPr/>
          <p:nvPr/>
        </p:nvSpPr>
        <p:spPr bwMode="gray">
          <a:xfrm>
            <a:off x="492708" y="2872534"/>
            <a:ext cx="3338512" cy="3346207"/>
          </a:xfrm>
          <a:prstGeom prst="rect">
            <a:avLst/>
          </a:prstGeom>
          <a:solidFill>
            <a:srgbClr val="E2F0D9"/>
          </a:solidFill>
          <a:ln w="19050" algn="ctr">
            <a:noFill/>
            <a:miter lim="800000"/>
            <a:headEnd/>
            <a:tailEnd/>
          </a:ln>
        </p:spPr>
        <p:txBody>
          <a:bodyPr wrap="square" lIns="108000" tIns="72000" rIns="88900" bIns="88900" numCol="1" rtlCol="0" anchor="t">
            <a:noAutofit/>
          </a:bodyPr>
          <a:lstStyle/>
          <a:p>
            <a:pPr marL="144000" lvl="1" indent="-144000" defTabSz="1018538">
              <a:spcBef>
                <a:spcPts val="600"/>
              </a:spcBef>
              <a:spcAft>
                <a:spcPts val="200"/>
              </a:spcAft>
              <a:buFont typeface="Arial" panose="020B0604020202020204" pitchFamily="34" charset="0"/>
              <a:buChar char="•"/>
              <a:tabLst>
                <a:tab pos="109855" algn="l"/>
              </a:tabLst>
              <a:defRPr/>
            </a:pPr>
            <a:r>
              <a:rPr lang="en-US" sz="1600" b="1" kern="0" dirty="0">
                <a:solidFill>
                  <a:prstClr val="black"/>
                </a:solidFill>
                <a:ea typeface="Verdana" panose="020B0604030504040204" pitchFamily="34" charset="0"/>
                <a:cs typeface="Calibri" panose="020F0502020204030204" pitchFamily="34" charset="0"/>
              </a:rPr>
              <a:t>Revamped Reform based – Results linked Distribution Sector Scheme (Outlay of Rs 3.03 trillion)</a:t>
            </a:r>
          </a:p>
          <a:p>
            <a:pPr marL="466725" lvl="2" indent="-285750" defTabSz="1018538">
              <a:spcBef>
                <a:spcPts val="600"/>
              </a:spcBef>
              <a:spcAft>
                <a:spcPts val="200"/>
              </a:spcAft>
              <a:buFont typeface="Courier New" panose="02070309020205020404" pitchFamily="49" charset="0"/>
              <a:buChar char="­"/>
              <a:tabLst>
                <a:tab pos="109855" algn="l"/>
              </a:tabLst>
              <a:defRPr/>
            </a:pPr>
            <a:r>
              <a:rPr lang="en-US" sz="1600" kern="0" dirty="0">
                <a:solidFill>
                  <a:prstClr val="black"/>
                </a:solidFill>
                <a:ea typeface="Verdana" panose="020B0604030504040204" pitchFamily="34" charset="0"/>
                <a:cs typeface="Calibri" panose="020F0502020204030204" pitchFamily="34" charset="0"/>
              </a:rPr>
              <a:t>Part A – Metering &amp; Distribution infrastructure works (Smart Metering/ Agri feeder segregation, etc.)</a:t>
            </a:r>
          </a:p>
          <a:p>
            <a:pPr marL="466725" lvl="2" indent="-285750" defTabSz="1018538">
              <a:spcBef>
                <a:spcPts val="600"/>
              </a:spcBef>
              <a:spcAft>
                <a:spcPts val="200"/>
              </a:spcAft>
              <a:buFont typeface="Courier New" panose="02070309020205020404" pitchFamily="49" charset="0"/>
              <a:buChar char="­"/>
              <a:tabLst>
                <a:tab pos="109855" algn="l"/>
              </a:tabLst>
              <a:defRPr/>
            </a:pPr>
            <a:r>
              <a:rPr lang="en-US" sz="1600" kern="0" dirty="0">
                <a:solidFill>
                  <a:prstClr val="black"/>
                </a:solidFill>
                <a:ea typeface="Verdana" panose="020B0604030504040204" pitchFamily="34" charset="0"/>
                <a:cs typeface="Calibri" panose="020F0502020204030204" pitchFamily="34" charset="0"/>
              </a:rPr>
              <a:t>Part B – Training, Capacity Building and other enabling &amp; supporting activities</a:t>
            </a:r>
          </a:p>
          <a:p>
            <a:pPr marL="144000" lvl="1" indent="-144000" defTabSz="1018538">
              <a:spcBef>
                <a:spcPts val="600"/>
              </a:spcBef>
              <a:spcAft>
                <a:spcPts val="200"/>
              </a:spcAft>
              <a:buFont typeface="Arial" panose="020B0604020202020204" pitchFamily="34" charset="0"/>
              <a:buChar char="•"/>
              <a:tabLst>
                <a:tab pos="109855" algn="l"/>
              </a:tabLst>
              <a:defRPr/>
            </a:pPr>
            <a:r>
              <a:rPr lang="en-US" sz="1600" kern="0" dirty="0">
                <a:solidFill>
                  <a:prstClr val="black"/>
                </a:solidFill>
                <a:ea typeface="Verdana" panose="020B0604030504040204" pitchFamily="34" charset="0"/>
                <a:cs typeface="Calibri" panose="020F0502020204030204" pitchFamily="34" charset="0"/>
              </a:rPr>
              <a:t>Subsumed past schemes - DDUGJY, SAUBHAGYA, etc.</a:t>
            </a:r>
          </a:p>
        </p:txBody>
      </p:sp>
      <p:sp>
        <p:nvSpPr>
          <p:cNvPr id="6" name="Rectangle 5">
            <a:extLst>
              <a:ext uri="{FF2B5EF4-FFF2-40B4-BE49-F238E27FC236}">
                <a16:creationId xmlns:a16="http://schemas.microsoft.com/office/drawing/2014/main" id="{CD152E21-A7BF-4A3F-A348-9A2525FDFC73}"/>
              </a:ext>
            </a:extLst>
          </p:cNvPr>
          <p:cNvSpPr/>
          <p:nvPr/>
        </p:nvSpPr>
        <p:spPr bwMode="gray">
          <a:xfrm>
            <a:off x="581680" y="1604207"/>
            <a:ext cx="3249540" cy="500361"/>
          </a:xfrm>
          <a:prstGeom prst="rect">
            <a:avLst/>
          </a:prstGeom>
          <a:solidFill>
            <a:srgbClr val="046A38"/>
          </a:solidFill>
          <a:ln w="19050" algn="ctr">
            <a:noFill/>
            <a:miter lim="800000"/>
            <a:headEnd/>
            <a:tailEnd/>
          </a:ln>
        </p:spPr>
        <p:txBody>
          <a:bodyPr wrap="square" lIns="108000" tIns="0" rIns="88900" bIns="0" rtlCol="0" anchor="ctr" anchorCtr="0"/>
          <a:lstStyle/>
          <a:p>
            <a:pPr lvl="0" algn="ctr" defTabSz="1219170">
              <a:defRPr/>
            </a:pPr>
            <a:r>
              <a:rPr lang="en-IN" sz="1600" b="1" kern="0" dirty="0">
                <a:solidFill>
                  <a:prstClr val="white"/>
                </a:solidFill>
                <a:latin typeface="+mj-lt"/>
              </a:rPr>
              <a:t>Nodal Agency for </a:t>
            </a:r>
            <a:r>
              <a:rPr lang="en-IN" sz="1600" b="1" kern="0" dirty="0" err="1">
                <a:solidFill>
                  <a:prstClr val="white"/>
                </a:solidFill>
                <a:latin typeface="+mj-lt"/>
              </a:rPr>
              <a:t>GoI</a:t>
            </a:r>
            <a:r>
              <a:rPr lang="en-IN" sz="1600" b="1" kern="0" dirty="0">
                <a:solidFill>
                  <a:prstClr val="white"/>
                </a:solidFill>
                <a:latin typeface="+mj-lt"/>
              </a:rPr>
              <a:t> Schemes</a:t>
            </a:r>
          </a:p>
        </p:txBody>
      </p:sp>
      <p:sp>
        <p:nvSpPr>
          <p:cNvPr id="9" name="Rectangle 8">
            <a:extLst>
              <a:ext uri="{FF2B5EF4-FFF2-40B4-BE49-F238E27FC236}">
                <a16:creationId xmlns:a16="http://schemas.microsoft.com/office/drawing/2014/main" id="{94A43166-9E3F-4421-AE6C-0D793397FF55}"/>
              </a:ext>
            </a:extLst>
          </p:cNvPr>
          <p:cNvSpPr/>
          <p:nvPr/>
        </p:nvSpPr>
        <p:spPr bwMode="gray">
          <a:xfrm>
            <a:off x="4352082" y="2865407"/>
            <a:ext cx="3573142" cy="3346207"/>
          </a:xfrm>
          <a:prstGeom prst="rect">
            <a:avLst/>
          </a:prstGeom>
          <a:solidFill>
            <a:srgbClr val="0D8390">
              <a:lumMod val="20000"/>
              <a:lumOff val="80000"/>
              <a:alpha val="30000"/>
            </a:srgbClr>
          </a:solidFill>
          <a:ln w="19050" algn="ctr">
            <a:noFill/>
            <a:miter lim="800000"/>
            <a:headEnd/>
            <a:tailEnd/>
          </a:ln>
        </p:spPr>
        <p:txBody>
          <a:bodyPr wrap="square" lIns="108000" tIns="72000" rIns="88900" bIns="88900" numCol="1" rtlCol="0" anchor="t">
            <a:noAutofit/>
          </a:bodyPr>
          <a:lstStyle/>
          <a:p>
            <a:pPr marL="171450" lvl="1" indent="-171450" defTabSz="1018538">
              <a:spcBef>
                <a:spcPts val="600"/>
              </a:spcBef>
              <a:spcAft>
                <a:spcPts val="200"/>
              </a:spcAft>
              <a:buFont typeface="Arial" panose="020B0604020202020204" pitchFamily="34" charset="0"/>
              <a:buChar char="•"/>
              <a:tabLst>
                <a:tab pos="109855" algn="l"/>
              </a:tabLst>
              <a:defRPr/>
            </a:pPr>
            <a:r>
              <a:rPr lang="en-US" sz="1600" kern="0" dirty="0">
                <a:ea typeface="Verdana" panose="020B0604030504040204" pitchFamily="34" charset="0"/>
                <a:cs typeface="Calibri" panose="020F0502020204030204" pitchFamily="34" charset="0"/>
              </a:rPr>
              <a:t>Counterpart finance of GOI schemes / with Donor funds</a:t>
            </a:r>
          </a:p>
          <a:p>
            <a:pPr marL="171450" lvl="1" indent="-171450" defTabSz="1018538">
              <a:spcBef>
                <a:spcPts val="600"/>
              </a:spcBef>
              <a:spcAft>
                <a:spcPts val="200"/>
              </a:spcAft>
              <a:buFont typeface="Arial" panose="020B0604020202020204" pitchFamily="34" charset="0"/>
              <a:buChar char="•"/>
              <a:tabLst>
                <a:tab pos="109855" algn="l"/>
              </a:tabLst>
              <a:defRPr/>
            </a:pPr>
            <a:r>
              <a:rPr lang="en-US" sz="1600" kern="0" dirty="0">
                <a:ea typeface="Verdana" panose="020B0604030504040204" pitchFamily="34" charset="0"/>
                <a:cs typeface="Calibri" panose="020F0502020204030204" pitchFamily="34" charset="0"/>
              </a:rPr>
              <a:t>Consultancy and value-added services to utilities through subsidiaries</a:t>
            </a:r>
          </a:p>
          <a:p>
            <a:pPr marL="171450" lvl="1" indent="-171450" defTabSz="1018538">
              <a:spcBef>
                <a:spcPts val="600"/>
              </a:spcBef>
              <a:spcAft>
                <a:spcPts val="200"/>
              </a:spcAft>
              <a:buFont typeface="Arial" panose="020B0604020202020204" pitchFamily="34" charset="0"/>
              <a:buChar char="•"/>
              <a:tabLst>
                <a:tab pos="109855" algn="l"/>
              </a:tabLst>
              <a:defRPr/>
            </a:pPr>
            <a:r>
              <a:rPr lang="en-US" sz="1600" kern="0" dirty="0">
                <a:ea typeface="Verdana" panose="020B0604030504040204" pitchFamily="34" charset="0"/>
                <a:cs typeface="Calibri" panose="020F0502020204030204" pitchFamily="34" charset="0"/>
              </a:rPr>
              <a:t>Centralized Technology platforms – NFMS, Centralized Billing Engine, NMS, OMS, etc. </a:t>
            </a:r>
          </a:p>
          <a:p>
            <a:pPr marL="171450" lvl="1" indent="-171450" defTabSz="1018538">
              <a:spcBef>
                <a:spcPts val="600"/>
              </a:spcBef>
              <a:spcAft>
                <a:spcPts val="200"/>
              </a:spcAft>
              <a:buFont typeface="Arial" panose="020B0604020202020204" pitchFamily="34" charset="0"/>
              <a:buChar char="•"/>
              <a:tabLst>
                <a:tab pos="109855" algn="l"/>
              </a:tabLst>
              <a:defRPr/>
            </a:pPr>
            <a:r>
              <a:rPr lang="en-US" sz="1600" kern="0" dirty="0">
                <a:ea typeface="Verdana" panose="020B0604030504040204" pitchFamily="34" charset="0"/>
                <a:cs typeface="Calibri" panose="020F0502020204030204" pitchFamily="34" charset="0"/>
              </a:rPr>
              <a:t>Ownership / Investment in utilities (Privatization/ single source)</a:t>
            </a:r>
          </a:p>
          <a:p>
            <a:pPr marL="171450" lvl="1" indent="-171450" defTabSz="1018538">
              <a:spcBef>
                <a:spcPts val="600"/>
              </a:spcBef>
              <a:spcAft>
                <a:spcPts val="200"/>
              </a:spcAft>
              <a:buFont typeface="Arial" panose="020B0604020202020204" pitchFamily="34" charset="0"/>
              <a:buChar char="•"/>
              <a:tabLst>
                <a:tab pos="109855" algn="l"/>
              </a:tabLst>
              <a:defRPr/>
            </a:pPr>
            <a:r>
              <a:rPr lang="en-US" sz="1600" kern="0" dirty="0">
                <a:ea typeface="Verdana" panose="020B0604030504040204" pitchFamily="34" charset="0"/>
                <a:cs typeface="Calibri" panose="020F0502020204030204" pitchFamily="34" charset="0"/>
              </a:rPr>
              <a:t>Ride the green energy value chain (RE/Hydrogen/ EV/ BESS)</a:t>
            </a:r>
          </a:p>
        </p:txBody>
      </p:sp>
      <p:sp>
        <p:nvSpPr>
          <p:cNvPr id="10" name="Rectangle 9">
            <a:extLst>
              <a:ext uri="{FF2B5EF4-FFF2-40B4-BE49-F238E27FC236}">
                <a16:creationId xmlns:a16="http://schemas.microsoft.com/office/drawing/2014/main" id="{AE7D00EA-5203-475B-A59D-D3F94DAE3418}"/>
              </a:ext>
            </a:extLst>
          </p:cNvPr>
          <p:cNvSpPr/>
          <p:nvPr/>
        </p:nvSpPr>
        <p:spPr bwMode="gray">
          <a:xfrm>
            <a:off x="4352082" y="1611339"/>
            <a:ext cx="3573141" cy="500361"/>
          </a:xfrm>
          <a:prstGeom prst="rect">
            <a:avLst/>
          </a:prstGeom>
          <a:solidFill>
            <a:srgbClr val="0D8390"/>
          </a:solidFill>
          <a:ln w="19050" algn="ctr">
            <a:noFill/>
            <a:miter lim="800000"/>
            <a:headEnd/>
            <a:tailEnd/>
          </a:ln>
        </p:spPr>
        <p:txBody>
          <a:bodyPr wrap="square" lIns="108000" tIns="0" rIns="88900" bIns="0" rtlCol="0" anchor="ctr" anchorCtr="0"/>
          <a:lstStyle/>
          <a:p>
            <a:pPr lvl="0" algn="ctr" defTabSz="1219170">
              <a:defRPr/>
            </a:pPr>
            <a:r>
              <a:rPr lang="en-US" sz="1600" b="1" kern="0" dirty="0">
                <a:solidFill>
                  <a:prstClr val="white"/>
                </a:solidFill>
                <a:latin typeface="+mj-lt"/>
              </a:rPr>
              <a:t>Growth Areas</a:t>
            </a:r>
          </a:p>
        </p:txBody>
      </p:sp>
      <p:sp>
        <p:nvSpPr>
          <p:cNvPr id="11" name="Rectangle 10">
            <a:extLst>
              <a:ext uri="{FF2B5EF4-FFF2-40B4-BE49-F238E27FC236}">
                <a16:creationId xmlns:a16="http://schemas.microsoft.com/office/drawing/2014/main" id="{3F588339-9C2B-46DF-925B-D409C05C68EA}"/>
              </a:ext>
            </a:extLst>
          </p:cNvPr>
          <p:cNvSpPr/>
          <p:nvPr/>
        </p:nvSpPr>
        <p:spPr bwMode="gray">
          <a:xfrm>
            <a:off x="8560263" y="2853832"/>
            <a:ext cx="3338512" cy="3346207"/>
          </a:xfrm>
          <a:prstGeom prst="rect">
            <a:avLst/>
          </a:prstGeom>
          <a:solidFill>
            <a:srgbClr val="D7F4D0"/>
          </a:solidFill>
          <a:ln w="19050" algn="ctr">
            <a:noFill/>
            <a:miter lim="800000"/>
            <a:headEnd/>
            <a:tailEnd/>
          </a:ln>
        </p:spPr>
        <p:txBody>
          <a:bodyPr wrap="square" lIns="108000" tIns="72000" rIns="88900" bIns="88900" numCol="1" rtlCol="0" anchor="t">
            <a:noAutofit/>
          </a:bodyPr>
          <a:lstStyle/>
          <a:p>
            <a:pPr marL="171450" lvl="1" indent="-171450" defTabSz="1018538">
              <a:spcBef>
                <a:spcPts val="600"/>
              </a:spcBef>
              <a:spcAft>
                <a:spcPts val="200"/>
              </a:spcAft>
              <a:buFont typeface="Arial" panose="020B0604020202020204" pitchFamily="34" charset="0"/>
              <a:buChar char="•"/>
              <a:tabLst>
                <a:tab pos="109855" algn="l"/>
              </a:tabLst>
              <a:defRPr/>
            </a:pPr>
            <a:r>
              <a:rPr lang="en-US" sz="1600" kern="0" dirty="0">
                <a:ea typeface="Verdana" panose="020B0604030504040204" pitchFamily="34" charset="0"/>
                <a:cs typeface="Calibri" panose="020F0502020204030204" pitchFamily="34" charset="0"/>
              </a:rPr>
              <a:t>Gross credit impaired assets at 4.84% in FY20-21</a:t>
            </a:r>
          </a:p>
          <a:p>
            <a:pPr marL="171450" lvl="1" indent="-171450" defTabSz="1018538">
              <a:spcBef>
                <a:spcPts val="600"/>
              </a:spcBef>
              <a:spcAft>
                <a:spcPts val="200"/>
              </a:spcAft>
              <a:buFont typeface="Arial" panose="020B0604020202020204" pitchFamily="34" charset="0"/>
              <a:buChar char="•"/>
              <a:tabLst>
                <a:tab pos="109855" algn="l"/>
              </a:tabLst>
              <a:defRPr/>
            </a:pPr>
            <a:r>
              <a:rPr lang="en-US" sz="1600" kern="0" dirty="0">
                <a:ea typeface="Verdana" panose="020B0604030504040204" pitchFamily="34" charset="0"/>
                <a:cs typeface="Calibri" panose="020F0502020204030204" pitchFamily="34" charset="0"/>
              </a:rPr>
              <a:t>Continuance of sub-optimal performance of various state distribution utilities</a:t>
            </a:r>
          </a:p>
          <a:p>
            <a:pPr marL="171450" lvl="1" indent="-171450" defTabSz="1018538">
              <a:spcBef>
                <a:spcPts val="200"/>
              </a:spcBef>
              <a:spcAft>
                <a:spcPts val="200"/>
              </a:spcAft>
              <a:buFont typeface="Arial" panose="020B0604020202020204" pitchFamily="34" charset="0"/>
              <a:buChar char="•"/>
              <a:tabLst>
                <a:tab pos="109855" algn="l"/>
              </a:tabLst>
              <a:defRPr/>
            </a:pPr>
            <a:r>
              <a:rPr lang="en-US" sz="1600" kern="0" dirty="0">
                <a:ea typeface="Verdana" panose="020B0604030504040204" pitchFamily="34" charset="0"/>
                <a:cs typeface="Calibri" panose="020F0502020204030204" pitchFamily="34" charset="0"/>
              </a:rPr>
              <a:t>Deloitte advantage</a:t>
            </a:r>
          </a:p>
          <a:p>
            <a:pPr marL="517525" lvl="2" indent="-285750" defTabSz="1018538">
              <a:spcBef>
                <a:spcPts val="200"/>
              </a:spcBef>
              <a:spcAft>
                <a:spcPts val="200"/>
              </a:spcAft>
              <a:buFont typeface="Courier New" panose="02070309020205020404" pitchFamily="49" charset="0"/>
              <a:buChar char="­"/>
              <a:tabLst>
                <a:tab pos="109855" algn="l"/>
              </a:tabLst>
              <a:defRPr/>
            </a:pPr>
            <a:r>
              <a:rPr lang="en-US" sz="1400" kern="0" dirty="0">
                <a:ea typeface="Verdana" panose="020B0604030504040204" pitchFamily="34" charset="0"/>
                <a:cs typeface="Calibri" panose="020F0502020204030204" pitchFamily="34" charset="0"/>
              </a:rPr>
              <a:t>Leveraging learning from the past (Portfolio advisory and restructuring of infra-assets)</a:t>
            </a:r>
          </a:p>
          <a:p>
            <a:pPr marL="517525" lvl="2" indent="-285750" defTabSz="1018538">
              <a:spcBef>
                <a:spcPts val="200"/>
              </a:spcBef>
              <a:spcAft>
                <a:spcPts val="200"/>
              </a:spcAft>
              <a:buFont typeface="Courier New" panose="02070309020205020404" pitchFamily="49" charset="0"/>
              <a:buChar char="­"/>
              <a:tabLst>
                <a:tab pos="109855" algn="l"/>
              </a:tabLst>
              <a:defRPr/>
            </a:pPr>
            <a:r>
              <a:rPr lang="en-US" sz="1400" kern="0" dirty="0">
                <a:ea typeface="Verdana" panose="020B0604030504040204" pitchFamily="34" charset="0"/>
                <a:cs typeface="Calibri" panose="020F0502020204030204" pitchFamily="34" charset="0"/>
              </a:rPr>
              <a:t>Assist in monitoring of assets</a:t>
            </a:r>
          </a:p>
          <a:p>
            <a:pPr marL="517525" lvl="2" indent="-285750" defTabSz="1018538">
              <a:spcBef>
                <a:spcPts val="200"/>
              </a:spcBef>
              <a:spcAft>
                <a:spcPts val="200"/>
              </a:spcAft>
              <a:buFont typeface="Courier New" panose="02070309020205020404" pitchFamily="49" charset="0"/>
              <a:buChar char="­"/>
              <a:tabLst>
                <a:tab pos="109855" algn="l"/>
              </a:tabLst>
              <a:defRPr/>
            </a:pPr>
            <a:r>
              <a:rPr lang="en-US" sz="1400" kern="0" dirty="0">
                <a:ea typeface="Verdana" panose="020B0604030504040204" pitchFamily="34" charset="0"/>
                <a:cs typeface="Calibri" panose="020F0502020204030204" pitchFamily="34" charset="0"/>
              </a:rPr>
              <a:t>Assist with global and domestic investor connect</a:t>
            </a:r>
          </a:p>
        </p:txBody>
      </p:sp>
      <p:sp>
        <p:nvSpPr>
          <p:cNvPr id="12" name="Rectangle 11">
            <a:extLst>
              <a:ext uri="{FF2B5EF4-FFF2-40B4-BE49-F238E27FC236}">
                <a16:creationId xmlns:a16="http://schemas.microsoft.com/office/drawing/2014/main" id="{9971F80D-46BB-4205-820D-54CAB61829E0}"/>
              </a:ext>
            </a:extLst>
          </p:cNvPr>
          <p:cNvSpPr/>
          <p:nvPr/>
        </p:nvSpPr>
        <p:spPr bwMode="gray">
          <a:xfrm>
            <a:off x="8560263" y="1611339"/>
            <a:ext cx="3338512" cy="500361"/>
          </a:xfrm>
          <a:prstGeom prst="rect">
            <a:avLst/>
          </a:prstGeom>
          <a:solidFill>
            <a:srgbClr val="43B02A"/>
          </a:solidFill>
          <a:ln w="19050" algn="ctr">
            <a:noFill/>
            <a:miter lim="800000"/>
            <a:headEnd/>
            <a:tailEnd/>
          </a:ln>
        </p:spPr>
        <p:txBody>
          <a:bodyPr wrap="square" lIns="108000" tIns="0" rIns="88900" bIns="0" rtlCol="0" anchor="ctr" anchorCtr="0"/>
          <a:lstStyle/>
          <a:p>
            <a:pPr lvl="0" algn="ctr" defTabSz="1219170">
              <a:defRPr/>
            </a:pPr>
            <a:r>
              <a:rPr lang="en-US" sz="1600" b="1" kern="0" dirty="0">
                <a:solidFill>
                  <a:prstClr val="white"/>
                </a:solidFill>
                <a:latin typeface="+mj-lt"/>
              </a:rPr>
              <a:t>Managing Stressed Assets </a:t>
            </a:r>
          </a:p>
        </p:txBody>
      </p:sp>
      <p:sp>
        <p:nvSpPr>
          <p:cNvPr id="13" name="Rectangle 12">
            <a:extLst>
              <a:ext uri="{FF2B5EF4-FFF2-40B4-BE49-F238E27FC236}">
                <a16:creationId xmlns:a16="http://schemas.microsoft.com/office/drawing/2014/main" id="{145B73D8-499A-4A36-A877-7167D8D8CCA3}"/>
              </a:ext>
            </a:extLst>
          </p:cNvPr>
          <p:cNvSpPr/>
          <p:nvPr/>
        </p:nvSpPr>
        <p:spPr bwMode="gray">
          <a:xfrm flipV="1">
            <a:off x="492708" y="2833853"/>
            <a:ext cx="3338512" cy="88922"/>
          </a:xfrm>
          <a:prstGeom prst="rect">
            <a:avLst/>
          </a:prstGeom>
          <a:solidFill>
            <a:srgbClr val="046A38"/>
          </a:solidFill>
          <a:ln w="19050" algn="ctr">
            <a:noFill/>
            <a:miter lim="800000"/>
            <a:headEnd/>
            <a:tailEnd/>
          </a:ln>
        </p:spPr>
        <p:txBody>
          <a:bodyPr wrap="square" lIns="108000" tIns="0" rIns="88900" bIns="0" rtlCol="0" anchor="ctr" anchorCtr="0"/>
          <a:lstStyle/>
          <a:p>
            <a:pPr lvl="0" algn="ctr" defTabSz="1219170">
              <a:defRPr/>
            </a:pPr>
            <a:endParaRPr lang="en-IN" sz="1600" b="1" kern="0" dirty="0">
              <a:solidFill>
                <a:prstClr val="white"/>
              </a:solidFill>
              <a:latin typeface="+mj-lt"/>
            </a:endParaRPr>
          </a:p>
        </p:txBody>
      </p:sp>
      <p:sp>
        <p:nvSpPr>
          <p:cNvPr id="15" name="Rectangle 14">
            <a:extLst>
              <a:ext uri="{FF2B5EF4-FFF2-40B4-BE49-F238E27FC236}">
                <a16:creationId xmlns:a16="http://schemas.microsoft.com/office/drawing/2014/main" id="{613DE704-E1CE-4069-8E06-8E2AD578630D}"/>
              </a:ext>
            </a:extLst>
          </p:cNvPr>
          <p:cNvSpPr/>
          <p:nvPr/>
        </p:nvSpPr>
        <p:spPr bwMode="gray">
          <a:xfrm>
            <a:off x="4352082" y="2795266"/>
            <a:ext cx="3573142" cy="88923"/>
          </a:xfrm>
          <a:prstGeom prst="rect">
            <a:avLst/>
          </a:prstGeom>
          <a:solidFill>
            <a:srgbClr val="0D8390"/>
          </a:solidFill>
          <a:ln w="19050" algn="ctr">
            <a:noFill/>
            <a:miter lim="800000"/>
            <a:headEnd/>
            <a:tailEnd/>
          </a:ln>
        </p:spPr>
        <p:txBody>
          <a:bodyPr wrap="square" lIns="108000" tIns="0" rIns="88900" bIns="0" rtlCol="0" anchor="ctr" anchorCtr="0"/>
          <a:lstStyle/>
          <a:p>
            <a:pPr lvl="0" algn="ctr" defTabSz="1219170">
              <a:defRPr/>
            </a:pPr>
            <a:endParaRPr lang="en-US" sz="1600" b="1" kern="0" dirty="0">
              <a:solidFill>
                <a:prstClr val="white"/>
              </a:solidFill>
              <a:latin typeface="+mj-lt"/>
            </a:endParaRPr>
          </a:p>
        </p:txBody>
      </p:sp>
      <p:sp>
        <p:nvSpPr>
          <p:cNvPr id="16" name="Rectangle 15">
            <a:extLst>
              <a:ext uri="{FF2B5EF4-FFF2-40B4-BE49-F238E27FC236}">
                <a16:creationId xmlns:a16="http://schemas.microsoft.com/office/drawing/2014/main" id="{FFC50D8F-EF84-4BCD-9E0F-5D6C7CB15D2B}"/>
              </a:ext>
            </a:extLst>
          </p:cNvPr>
          <p:cNvSpPr/>
          <p:nvPr/>
        </p:nvSpPr>
        <p:spPr bwMode="gray">
          <a:xfrm flipV="1">
            <a:off x="8560263" y="2775795"/>
            <a:ext cx="3338512" cy="88922"/>
          </a:xfrm>
          <a:prstGeom prst="rect">
            <a:avLst/>
          </a:prstGeom>
          <a:solidFill>
            <a:srgbClr val="43B02A"/>
          </a:solidFill>
          <a:ln w="19050" algn="ctr">
            <a:noFill/>
            <a:miter lim="800000"/>
            <a:headEnd/>
            <a:tailEnd/>
          </a:ln>
        </p:spPr>
        <p:txBody>
          <a:bodyPr wrap="square" lIns="108000" tIns="0" rIns="88900" bIns="0" rtlCol="0" anchor="ctr" anchorCtr="0"/>
          <a:lstStyle/>
          <a:p>
            <a:pPr lvl="0" algn="ctr" defTabSz="1219170">
              <a:defRPr/>
            </a:pPr>
            <a:endParaRPr lang="en-US" sz="1600" b="1" kern="0" dirty="0">
              <a:solidFill>
                <a:prstClr val="white"/>
              </a:solidFill>
              <a:latin typeface="+mj-lt"/>
            </a:endParaRPr>
          </a:p>
        </p:txBody>
      </p:sp>
      <p:sp>
        <p:nvSpPr>
          <p:cNvPr id="17" name="Freeform 910">
            <a:extLst>
              <a:ext uri="{FF2B5EF4-FFF2-40B4-BE49-F238E27FC236}">
                <a16:creationId xmlns:a16="http://schemas.microsoft.com/office/drawing/2014/main" id="{2F7A9280-D3B3-4D55-A0CC-8FF3C686A74C}"/>
              </a:ext>
            </a:extLst>
          </p:cNvPr>
          <p:cNvSpPr>
            <a:spLocks noChangeAspect="1" noEditPoints="1"/>
          </p:cNvSpPr>
          <p:nvPr/>
        </p:nvSpPr>
        <p:spPr bwMode="auto">
          <a:xfrm>
            <a:off x="1951241" y="2224290"/>
            <a:ext cx="444120" cy="444120"/>
          </a:xfrm>
          <a:custGeom>
            <a:avLst/>
            <a:gdLst>
              <a:gd name="T0" fmla="*/ 207 w 512"/>
              <a:gd name="T1" fmla="*/ 107 h 512"/>
              <a:gd name="T2" fmla="*/ 260 w 512"/>
              <a:gd name="T3" fmla="*/ 116 h 512"/>
              <a:gd name="T4" fmla="*/ 305 w 512"/>
              <a:gd name="T5" fmla="*/ 106 h 512"/>
              <a:gd name="T6" fmla="*/ 237 w 512"/>
              <a:gd name="T7" fmla="*/ 138 h 512"/>
              <a:gd name="T8" fmla="*/ 346 w 512"/>
              <a:gd name="T9" fmla="*/ 373 h 512"/>
              <a:gd name="T10" fmla="*/ 181 w 512"/>
              <a:gd name="T11" fmla="*/ 320 h 512"/>
              <a:gd name="T12" fmla="*/ 236 w 512"/>
              <a:gd name="T13" fmla="*/ 160 h 512"/>
              <a:gd name="T14" fmla="*/ 331 w 512"/>
              <a:gd name="T15" fmla="*/ 315 h 512"/>
              <a:gd name="T16" fmla="*/ 294 w 512"/>
              <a:gd name="T17" fmla="*/ 297 h 512"/>
              <a:gd name="T18" fmla="*/ 282 w 512"/>
              <a:gd name="T19" fmla="*/ 276 h 512"/>
              <a:gd name="T20" fmla="*/ 250 w 512"/>
              <a:gd name="T21" fmla="*/ 262 h 512"/>
              <a:gd name="T22" fmla="*/ 240 w 512"/>
              <a:gd name="T23" fmla="*/ 252 h 512"/>
              <a:gd name="T24" fmla="*/ 256 w 512"/>
              <a:gd name="T25" fmla="*/ 243 h 512"/>
              <a:gd name="T26" fmla="*/ 285 w 512"/>
              <a:gd name="T27" fmla="*/ 249 h 512"/>
              <a:gd name="T28" fmla="*/ 261 w 512"/>
              <a:gd name="T29" fmla="*/ 224 h 512"/>
              <a:gd name="T30" fmla="*/ 250 w 512"/>
              <a:gd name="T31" fmla="*/ 213 h 512"/>
              <a:gd name="T32" fmla="*/ 226 w 512"/>
              <a:gd name="T33" fmla="*/ 233 h 512"/>
              <a:gd name="T34" fmla="*/ 223 w 512"/>
              <a:gd name="T35" fmla="*/ 269 h 512"/>
              <a:gd name="T36" fmla="*/ 250 w 512"/>
              <a:gd name="T37" fmla="*/ 284 h 512"/>
              <a:gd name="T38" fmla="*/ 268 w 512"/>
              <a:gd name="T39" fmla="*/ 293 h 512"/>
              <a:gd name="T40" fmla="*/ 261 w 512"/>
              <a:gd name="T41" fmla="*/ 307 h 512"/>
              <a:gd name="T42" fmla="*/ 250 w 512"/>
              <a:gd name="T43" fmla="*/ 308 h 512"/>
              <a:gd name="T44" fmla="*/ 217 w 512"/>
              <a:gd name="T45" fmla="*/ 299 h 512"/>
              <a:gd name="T46" fmla="*/ 250 w 512"/>
              <a:gd name="T47" fmla="*/ 326 h 512"/>
              <a:gd name="T48" fmla="*/ 261 w 512"/>
              <a:gd name="T49" fmla="*/ 341 h 512"/>
              <a:gd name="T50" fmla="*/ 285 w 512"/>
              <a:gd name="T51" fmla="*/ 316 h 512"/>
              <a:gd name="T52" fmla="*/ 512 w 512"/>
              <a:gd name="T53" fmla="*/ 256 h 512"/>
              <a:gd name="T54" fmla="*/ 0 w 512"/>
              <a:gd name="T55" fmla="*/ 256 h 512"/>
              <a:gd name="T56" fmla="*/ 512 w 512"/>
              <a:gd name="T57" fmla="*/ 256 h 512"/>
              <a:gd name="T58" fmla="*/ 352 w 512"/>
              <a:gd name="T59" fmla="*/ 322 h 512"/>
              <a:gd name="T60" fmla="*/ 327 w 512"/>
              <a:gd name="T61" fmla="*/ 114 h 512"/>
              <a:gd name="T62" fmla="*/ 316 w 512"/>
              <a:gd name="T63" fmla="*/ 88 h 512"/>
              <a:gd name="T64" fmla="*/ 195 w 512"/>
              <a:gd name="T65" fmla="*/ 88 h 512"/>
              <a:gd name="T66" fmla="*/ 184 w 512"/>
              <a:gd name="T67" fmla="*/ 114 h 512"/>
              <a:gd name="T68" fmla="*/ 160 w 512"/>
              <a:gd name="T69" fmla="*/ 322 h 512"/>
              <a:gd name="T70" fmla="*/ 140 w 512"/>
              <a:gd name="T71" fmla="*/ 389 h 512"/>
              <a:gd name="T72" fmla="*/ 362 w 512"/>
              <a:gd name="T73" fmla="*/ 394 h 512"/>
              <a:gd name="T74" fmla="*/ 372 w 512"/>
              <a:gd name="T75" fmla="*/ 37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12" h="512">
                <a:moveTo>
                  <a:pt x="237" y="138"/>
                </a:moveTo>
                <a:cubicBezTo>
                  <a:pt x="207" y="107"/>
                  <a:pt x="207" y="107"/>
                  <a:pt x="207" y="107"/>
                </a:cubicBezTo>
                <a:cubicBezTo>
                  <a:pt x="212" y="105"/>
                  <a:pt x="225" y="104"/>
                  <a:pt x="251" y="116"/>
                </a:cubicBezTo>
                <a:cubicBezTo>
                  <a:pt x="254" y="117"/>
                  <a:pt x="257" y="117"/>
                  <a:pt x="260" y="116"/>
                </a:cubicBezTo>
                <a:cubicBezTo>
                  <a:pt x="260" y="116"/>
                  <a:pt x="260" y="116"/>
                  <a:pt x="260" y="116"/>
                </a:cubicBezTo>
                <a:cubicBezTo>
                  <a:pt x="285" y="105"/>
                  <a:pt x="299" y="105"/>
                  <a:pt x="305" y="106"/>
                </a:cubicBezTo>
                <a:cubicBezTo>
                  <a:pt x="275" y="138"/>
                  <a:pt x="275" y="138"/>
                  <a:pt x="275" y="138"/>
                </a:cubicBezTo>
                <a:lnTo>
                  <a:pt x="237" y="138"/>
                </a:lnTo>
                <a:close/>
                <a:moveTo>
                  <a:pt x="330" y="320"/>
                </a:moveTo>
                <a:cubicBezTo>
                  <a:pt x="330" y="334"/>
                  <a:pt x="339" y="357"/>
                  <a:pt x="346" y="373"/>
                </a:cubicBezTo>
                <a:cubicBezTo>
                  <a:pt x="165" y="373"/>
                  <a:pt x="165" y="373"/>
                  <a:pt x="165" y="373"/>
                </a:cubicBezTo>
                <a:cubicBezTo>
                  <a:pt x="172" y="357"/>
                  <a:pt x="181" y="334"/>
                  <a:pt x="181" y="320"/>
                </a:cubicBezTo>
                <a:cubicBezTo>
                  <a:pt x="181" y="318"/>
                  <a:pt x="181" y="316"/>
                  <a:pt x="180" y="315"/>
                </a:cubicBezTo>
                <a:cubicBezTo>
                  <a:pt x="178" y="312"/>
                  <a:pt x="143" y="237"/>
                  <a:pt x="236" y="160"/>
                </a:cubicBezTo>
                <a:cubicBezTo>
                  <a:pt x="275" y="160"/>
                  <a:pt x="275" y="160"/>
                  <a:pt x="275" y="160"/>
                </a:cubicBezTo>
                <a:cubicBezTo>
                  <a:pt x="368" y="237"/>
                  <a:pt x="333" y="312"/>
                  <a:pt x="331" y="315"/>
                </a:cubicBezTo>
                <a:cubicBezTo>
                  <a:pt x="331" y="316"/>
                  <a:pt x="330" y="318"/>
                  <a:pt x="330" y="320"/>
                </a:cubicBezTo>
                <a:close/>
                <a:moveTo>
                  <a:pt x="294" y="297"/>
                </a:moveTo>
                <a:cubicBezTo>
                  <a:pt x="294" y="292"/>
                  <a:pt x="293" y="289"/>
                  <a:pt x="291" y="285"/>
                </a:cubicBezTo>
                <a:cubicBezTo>
                  <a:pt x="289" y="282"/>
                  <a:pt x="286" y="279"/>
                  <a:pt x="282" y="276"/>
                </a:cubicBezTo>
                <a:cubicBezTo>
                  <a:pt x="278" y="273"/>
                  <a:pt x="271" y="270"/>
                  <a:pt x="261" y="266"/>
                </a:cubicBezTo>
                <a:cubicBezTo>
                  <a:pt x="250" y="262"/>
                  <a:pt x="250" y="262"/>
                  <a:pt x="250" y="262"/>
                </a:cubicBezTo>
                <a:cubicBezTo>
                  <a:pt x="247" y="260"/>
                  <a:pt x="244" y="259"/>
                  <a:pt x="243" y="257"/>
                </a:cubicBezTo>
                <a:cubicBezTo>
                  <a:pt x="241" y="256"/>
                  <a:pt x="240" y="254"/>
                  <a:pt x="240" y="252"/>
                </a:cubicBezTo>
                <a:cubicBezTo>
                  <a:pt x="240" y="247"/>
                  <a:pt x="244" y="245"/>
                  <a:pt x="250" y="244"/>
                </a:cubicBezTo>
                <a:cubicBezTo>
                  <a:pt x="250" y="244"/>
                  <a:pt x="253" y="243"/>
                  <a:pt x="256" y="243"/>
                </a:cubicBezTo>
                <a:cubicBezTo>
                  <a:pt x="259" y="243"/>
                  <a:pt x="261" y="243"/>
                  <a:pt x="261" y="243"/>
                </a:cubicBezTo>
                <a:cubicBezTo>
                  <a:pt x="269" y="244"/>
                  <a:pt x="277" y="246"/>
                  <a:pt x="285" y="249"/>
                </a:cubicBezTo>
                <a:cubicBezTo>
                  <a:pt x="292" y="231"/>
                  <a:pt x="292" y="231"/>
                  <a:pt x="292" y="231"/>
                </a:cubicBezTo>
                <a:cubicBezTo>
                  <a:pt x="283" y="227"/>
                  <a:pt x="272" y="225"/>
                  <a:pt x="261" y="224"/>
                </a:cubicBezTo>
                <a:cubicBezTo>
                  <a:pt x="261" y="213"/>
                  <a:pt x="261" y="213"/>
                  <a:pt x="261" y="213"/>
                </a:cubicBezTo>
                <a:cubicBezTo>
                  <a:pt x="250" y="213"/>
                  <a:pt x="250" y="213"/>
                  <a:pt x="250" y="213"/>
                </a:cubicBezTo>
                <a:cubicBezTo>
                  <a:pt x="250" y="225"/>
                  <a:pt x="250" y="225"/>
                  <a:pt x="250" y="225"/>
                </a:cubicBezTo>
                <a:cubicBezTo>
                  <a:pt x="240" y="226"/>
                  <a:pt x="232" y="229"/>
                  <a:pt x="226" y="233"/>
                </a:cubicBezTo>
                <a:cubicBezTo>
                  <a:pt x="220" y="238"/>
                  <a:pt x="217" y="244"/>
                  <a:pt x="217" y="252"/>
                </a:cubicBezTo>
                <a:cubicBezTo>
                  <a:pt x="217" y="259"/>
                  <a:pt x="219" y="264"/>
                  <a:pt x="223" y="269"/>
                </a:cubicBezTo>
                <a:cubicBezTo>
                  <a:pt x="228" y="274"/>
                  <a:pt x="235" y="278"/>
                  <a:pt x="245" y="282"/>
                </a:cubicBezTo>
                <a:cubicBezTo>
                  <a:pt x="250" y="284"/>
                  <a:pt x="250" y="284"/>
                  <a:pt x="250" y="284"/>
                </a:cubicBezTo>
                <a:cubicBezTo>
                  <a:pt x="261" y="288"/>
                  <a:pt x="261" y="288"/>
                  <a:pt x="261" y="288"/>
                </a:cubicBezTo>
                <a:cubicBezTo>
                  <a:pt x="264" y="290"/>
                  <a:pt x="267" y="291"/>
                  <a:pt x="268" y="293"/>
                </a:cubicBezTo>
                <a:cubicBezTo>
                  <a:pt x="270" y="294"/>
                  <a:pt x="271" y="296"/>
                  <a:pt x="271" y="298"/>
                </a:cubicBezTo>
                <a:cubicBezTo>
                  <a:pt x="271" y="303"/>
                  <a:pt x="268" y="306"/>
                  <a:pt x="261" y="307"/>
                </a:cubicBezTo>
                <a:cubicBezTo>
                  <a:pt x="261" y="307"/>
                  <a:pt x="258" y="308"/>
                  <a:pt x="256" y="308"/>
                </a:cubicBezTo>
                <a:cubicBezTo>
                  <a:pt x="253" y="308"/>
                  <a:pt x="250" y="308"/>
                  <a:pt x="250" y="308"/>
                </a:cubicBezTo>
                <a:cubicBezTo>
                  <a:pt x="245" y="307"/>
                  <a:pt x="240" y="306"/>
                  <a:pt x="233" y="305"/>
                </a:cubicBezTo>
                <a:cubicBezTo>
                  <a:pt x="227" y="303"/>
                  <a:pt x="222" y="301"/>
                  <a:pt x="217" y="299"/>
                </a:cubicBezTo>
                <a:cubicBezTo>
                  <a:pt x="217" y="319"/>
                  <a:pt x="217" y="319"/>
                  <a:pt x="217" y="319"/>
                </a:cubicBezTo>
                <a:cubicBezTo>
                  <a:pt x="227" y="323"/>
                  <a:pt x="238" y="325"/>
                  <a:pt x="250" y="326"/>
                </a:cubicBezTo>
                <a:cubicBezTo>
                  <a:pt x="250" y="341"/>
                  <a:pt x="250" y="341"/>
                  <a:pt x="250" y="341"/>
                </a:cubicBezTo>
                <a:cubicBezTo>
                  <a:pt x="261" y="341"/>
                  <a:pt x="261" y="341"/>
                  <a:pt x="261" y="341"/>
                </a:cubicBezTo>
                <a:cubicBezTo>
                  <a:pt x="261" y="325"/>
                  <a:pt x="261" y="325"/>
                  <a:pt x="261" y="325"/>
                </a:cubicBezTo>
                <a:cubicBezTo>
                  <a:pt x="271" y="324"/>
                  <a:pt x="279" y="321"/>
                  <a:pt x="285" y="316"/>
                </a:cubicBezTo>
                <a:cubicBezTo>
                  <a:pt x="291" y="312"/>
                  <a:pt x="294" y="305"/>
                  <a:pt x="294" y="297"/>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2" y="379"/>
                </a:moveTo>
                <a:cubicBezTo>
                  <a:pt x="365" y="363"/>
                  <a:pt x="353" y="335"/>
                  <a:pt x="352" y="322"/>
                </a:cubicBezTo>
                <a:cubicBezTo>
                  <a:pt x="358" y="306"/>
                  <a:pt x="384" y="227"/>
                  <a:pt x="295" y="148"/>
                </a:cubicBezTo>
                <a:cubicBezTo>
                  <a:pt x="327" y="114"/>
                  <a:pt x="327" y="114"/>
                  <a:pt x="327" y="114"/>
                </a:cubicBezTo>
                <a:cubicBezTo>
                  <a:pt x="330" y="111"/>
                  <a:pt x="331" y="107"/>
                  <a:pt x="330" y="104"/>
                </a:cubicBezTo>
                <a:cubicBezTo>
                  <a:pt x="330" y="102"/>
                  <a:pt x="327" y="93"/>
                  <a:pt x="316" y="88"/>
                </a:cubicBezTo>
                <a:cubicBezTo>
                  <a:pt x="302" y="82"/>
                  <a:pt x="282" y="84"/>
                  <a:pt x="256" y="95"/>
                </a:cubicBezTo>
                <a:cubicBezTo>
                  <a:pt x="229" y="84"/>
                  <a:pt x="209" y="82"/>
                  <a:pt x="195" y="88"/>
                </a:cubicBezTo>
                <a:cubicBezTo>
                  <a:pt x="185" y="93"/>
                  <a:pt x="182" y="102"/>
                  <a:pt x="181" y="104"/>
                </a:cubicBezTo>
                <a:cubicBezTo>
                  <a:pt x="180" y="107"/>
                  <a:pt x="181" y="111"/>
                  <a:pt x="184" y="114"/>
                </a:cubicBezTo>
                <a:cubicBezTo>
                  <a:pt x="217" y="148"/>
                  <a:pt x="217" y="148"/>
                  <a:pt x="217" y="148"/>
                </a:cubicBezTo>
                <a:cubicBezTo>
                  <a:pt x="128" y="227"/>
                  <a:pt x="153" y="306"/>
                  <a:pt x="160" y="322"/>
                </a:cubicBezTo>
                <a:cubicBezTo>
                  <a:pt x="158" y="335"/>
                  <a:pt x="147" y="363"/>
                  <a:pt x="139" y="379"/>
                </a:cubicBezTo>
                <a:cubicBezTo>
                  <a:pt x="138" y="382"/>
                  <a:pt x="138" y="386"/>
                  <a:pt x="140" y="389"/>
                </a:cubicBezTo>
                <a:cubicBezTo>
                  <a:pt x="142" y="392"/>
                  <a:pt x="145" y="394"/>
                  <a:pt x="149" y="394"/>
                </a:cubicBezTo>
                <a:cubicBezTo>
                  <a:pt x="362" y="394"/>
                  <a:pt x="362" y="394"/>
                  <a:pt x="362" y="394"/>
                </a:cubicBezTo>
                <a:cubicBezTo>
                  <a:pt x="366" y="394"/>
                  <a:pt x="369" y="392"/>
                  <a:pt x="371" y="389"/>
                </a:cubicBezTo>
                <a:cubicBezTo>
                  <a:pt x="373" y="386"/>
                  <a:pt x="374" y="382"/>
                  <a:pt x="372" y="379"/>
                </a:cubicBezTo>
                <a:close/>
              </a:path>
            </a:pathLst>
          </a:custGeom>
          <a:solidFill>
            <a:srgbClr val="046A38"/>
          </a:solidFill>
          <a:ln>
            <a:noFill/>
          </a:ln>
        </p:spPr>
        <p:txBody>
          <a:bodyPr vert="horz" wrap="square" lIns="91440" tIns="45720" rIns="91440" bIns="45720" numCol="1" anchor="t" anchorCtr="0" compatLnSpc="1">
            <a:prstTxWarp prst="textNoShape">
              <a:avLst/>
            </a:prstTxWarp>
          </a:bodyPr>
          <a:lstStyle/>
          <a:p>
            <a:endParaRPr lang="en-GB" sz="2000" dirty="0"/>
          </a:p>
        </p:txBody>
      </p:sp>
      <p:sp>
        <p:nvSpPr>
          <p:cNvPr id="19" name="Freeform 584">
            <a:extLst>
              <a:ext uri="{FF2B5EF4-FFF2-40B4-BE49-F238E27FC236}">
                <a16:creationId xmlns:a16="http://schemas.microsoft.com/office/drawing/2014/main" id="{DE70A10B-5FC9-4CA9-BCFB-9CEE9D9B4B7C}"/>
              </a:ext>
            </a:extLst>
          </p:cNvPr>
          <p:cNvSpPr>
            <a:spLocks noChangeAspect="1" noEditPoints="1"/>
          </p:cNvSpPr>
          <p:nvPr/>
        </p:nvSpPr>
        <p:spPr bwMode="auto">
          <a:xfrm>
            <a:off x="6008743" y="2222048"/>
            <a:ext cx="444120" cy="44412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5 w 512"/>
              <a:gd name="T11" fmla="*/ 373 h 512"/>
              <a:gd name="T12" fmla="*/ 106 w 512"/>
              <a:gd name="T13" fmla="*/ 373 h 512"/>
              <a:gd name="T14" fmla="*/ 96 w 512"/>
              <a:gd name="T15" fmla="*/ 362 h 512"/>
              <a:gd name="T16" fmla="*/ 96 w 512"/>
              <a:gd name="T17" fmla="*/ 149 h 512"/>
              <a:gd name="T18" fmla="*/ 106 w 512"/>
              <a:gd name="T19" fmla="*/ 138 h 512"/>
              <a:gd name="T20" fmla="*/ 117 w 512"/>
              <a:gd name="T21" fmla="*/ 149 h 512"/>
              <a:gd name="T22" fmla="*/ 117 w 512"/>
              <a:gd name="T23" fmla="*/ 352 h 512"/>
              <a:gd name="T24" fmla="*/ 405 w 512"/>
              <a:gd name="T25" fmla="*/ 352 h 512"/>
              <a:gd name="T26" fmla="*/ 416 w 512"/>
              <a:gd name="T27" fmla="*/ 362 h 512"/>
              <a:gd name="T28" fmla="*/ 405 w 512"/>
              <a:gd name="T29" fmla="*/ 373 h 512"/>
              <a:gd name="T30" fmla="*/ 413 w 512"/>
              <a:gd name="T31" fmla="*/ 178 h 512"/>
              <a:gd name="T32" fmla="*/ 295 w 512"/>
              <a:gd name="T33" fmla="*/ 295 h 512"/>
              <a:gd name="T34" fmla="*/ 280 w 512"/>
              <a:gd name="T35" fmla="*/ 295 h 512"/>
              <a:gd name="T36" fmla="*/ 224 w 512"/>
              <a:gd name="T37" fmla="*/ 239 h 512"/>
              <a:gd name="T38" fmla="*/ 157 w 512"/>
              <a:gd name="T39" fmla="*/ 306 h 512"/>
              <a:gd name="T40" fmla="*/ 149 w 512"/>
              <a:gd name="T41" fmla="*/ 309 h 512"/>
              <a:gd name="T42" fmla="*/ 141 w 512"/>
              <a:gd name="T43" fmla="*/ 306 h 512"/>
              <a:gd name="T44" fmla="*/ 141 w 512"/>
              <a:gd name="T45" fmla="*/ 291 h 512"/>
              <a:gd name="T46" fmla="*/ 216 w 512"/>
              <a:gd name="T47" fmla="*/ 216 h 512"/>
              <a:gd name="T48" fmla="*/ 231 w 512"/>
              <a:gd name="T49" fmla="*/ 216 h 512"/>
              <a:gd name="T50" fmla="*/ 288 w 512"/>
              <a:gd name="T51" fmla="*/ 273 h 512"/>
              <a:gd name="T52" fmla="*/ 397 w 512"/>
              <a:gd name="T53" fmla="*/ 163 h 512"/>
              <a:gd name="T54" fmla="*/ 413 w 512"/>
              <a:gd name="T55" fmla="*/ 163 h 512"/>
              <a:gd name="T56" fmla="*/ 413 w 512"/>
              <a:gd name="T57" fmla="*/ 17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373"/>
                </a:moveTo>
                <a:cubicBezTo>
                  <a:pt x="106" y="373"/>
                  <a:pt x="106" y="373"/>
                  <a:pt x="106" y="373"/>
                </a:cubicBezTo>
                <a:cubicBezTo>
                  <a:pt x="100" y="373"/>
                  <a:pt x="96" y="368"/>
                  <a:pt x="96" y="362"/>
                </a:cubicBezTo>
                <a:cubicBezTo>
                  <a:pt x="96" y="149"/>
                  <a:pt x="96" y="149"/>
                  <a:pt x="96" y="149"/>
                </a:cubicBezTo>
                <a:cubicBezTo>
                  <a:pt x="96" y="143"/>
                  <a:pt x="100" y="138"/>
                  <a:pt x="106" y="138"/>
                </a:cubicBezTo>
                <a:cubicBezTo>
                  <a:pt x="112" y="138"/>
                  <a:pt x="117" y="143"/>
                  <a:pt x="117" y="149"/>
                </a:cubicBezTo>
                <a:cubicBezTo>
                  <a:pt x="117" y="352"/>
                  <a:pt x="117" y="352"/>
                  <a:pt x="117" y="352"/>
                </a:cubicBezTo>
                <a:cubicBezTo>
                  <a:pt x="405" y="352"/>
                  <a:pt x="405" y="352"/>
                  <a:pt x="405" y="352"/>
                </a:cubicBezTo>
                <a:cubicBezTo>
                  <a:pt x="411" y="352"/>
                  <a:pt x="416" y="356"/>
                  <a:pt x="416" y="362"/>
                </a:cubicBezTo>
                <a:cubicBezTo>
                  <a:pt x="416" y="368"/>
                  <a:pt x="411" y="373"/>
                  <a:pt x="405" y="373"/>
                </a:cubicBezTo>
                <a:close/>
                <a:moveTo>
                  <a:pt x="413" y="178"/>
                </a:moveTo>
                <a:cubicBezTo>
                  <a:pt x="295" y="295"/>
                  <a:pt x="295" y="295"/>
                  <a:pt x="295" y="295"/>
                </a:cubicBezTo>
                <a:cubicBezTo>
                  <a:pt x="291" y="299"/>
                  <a:pt x="284" y="299"/>
                  <a:pt x="280" y="295"/>
                </a:cubicBezTo>
                <a:cubicBezTo>
                  <a:pt x="224" y="239"/>
                  <a:pt x="224" y="239"/>
                  <a:pt x="224" y="239"/>
                </a:cubicBezTo>
                <a:cubicBezTo>
                  <a:pt x="157" y="306"/>
                  <a:pt x="157" y="306"/>
                  <a:pt x="157" y="306"/>
                </a:cubicBezTo>
                <a:cubicBezTo>
                  <a:pt x="154" y="308"/>
                  <a:pt x="152" y="309"/>
                  <a:pt x="149" y="309"/>
                </a:cubicBezTo>
                <a:cubicBezTo>
                  <a:pt x="146" y="309"/>
                  <a:pt x="144" y="308"/>
                  <a:pt x="141" y="306"/>
                </a:cubicBezTo>
                <a:cubicBezTo>
                  <a:pt x="137" y="302"/>
                  <a:pt x="137" y="295"/>
                  <a:pt x="141" y="291"/>
                </a:cubicBezTo>
                <a:cubicBezTo>
                  <a:pt x="216" y="216"/>
                  <a:pt x="216" y="216"/>
                  <a:pt x="216" y="216"/>
                </a:cubicBezTo>
                <a:cubicBezTo>
                  <a:pt x="220" y="212"/>
                  <a:pt x="227" y="212"/>
                  <a:pt x="231" y="216"/>
                </a:cubicBezTo>
                <a:cubicBezTo>
                  <a:pt x="288" y="273"/>
                  <a:pt x="288" y="273"/>
                  <a:pt x="288" y="273"/>
                </a:cubicBezTo>
                <a:cubicBezTo>
                  <a:pt x="397" y="163"/>
                  <a:pt x="397" y="163"/>
                  <a:pt x="397" y="163"/>
                </a:cubicBezTo>
                <a:cubicBezTo>
                  <a:pt x="402" y="159"/>
                  <a:pt x="408" y="159"/>
                  <a:pt x="413" y="163"/>
                </a:cubicBezTo>
                <a:cubicBezTo>
                  <a:pt x="417" y="167"/>
                  <a:pt x="417" y="174"/>
                  <a:pt x="413" y="178"/>
                </a:cubicBezTo>
                <a:close/>
              </a:path>
            </a:pathLst>
          </a:custGeom>
          <a:solidFill>
            <a:srgbClr val="0D8390"/>
          </a:solidFill>
          <a:ln>
            <a:noFill/>
          </a:ln>
        </p:spPr>
        <p:txBody>
          <a:bodyPr vert="horz" wrap="square" lIns="91440" tIns="45720" rIns="91440" bIns="45720" numCol="1" anchor="t" anchorCtr="0" compatLnSpc="1">
            <a:prstTxWarp prst="textNoShape">
              <a:avLst/>
            </a:prstTxWarp>
          </a:bodyPr>
          <a:lstStyle/>
          <a:p>
            <a:endParaRPr lang="en-GB" sz="2000" dirty="0"/>
          </a:p>
        </p:txBody>
      </p:sp>
      <p:sp>
        <p:nvSpPr>
          <p:cNvPr id="20" name="Freeform 141">
            <a:extLst>
              <a:ext uri="{FF2B5EF4-FFF2-40B4-BE49-F238E27FC236}">
                <a16:creationId xmlns:a16="http://schemas.microsoft.com/office/drawing/2014/main" id="{9A3C67C0-3361-45F9-809C-E50674B352FB}"/>
              </a:ext>
            </a:extLst>
          </p:cNvPr>
          <p:cNvSpPr>
            <a:spLocks noChangeAspect="1" noEditPoints="1"/>
          </p:cNvSpPr>
          <p:nvPr/>
        </p:nvSpPr>
        <p:spPr bwMode="auto">
          <a:xfrm>
            <a:off x="9929468" y="2221397"/>
            <a:ext cx="444833" cy="444833"/>
          </a:xfrm>
          <a:custGeom>
            <a:avLst/>
            <a:gdLst>
              <a:gd name="T0" fmla="*/ 341 w 512"/>
              <a:gd name="T1" fmla="*/ 330 h 512"/>
              <a:gd name="T2" fmla="*/ 138 w 512"/>
              <a:gd name="T3" fmla="*/ 224 h 512"/>
              <a:gd name="T4" fmla="*/ 224 w 512"/>
              <a:gd name="T5" fmla="*/ 248 h 512"/>
              <a:gd name="T6" fmla="*/ 240 w 512"/>
              <a:gd name="T7" fmla="*/ 234 h 512"/>
              <a:gd name="T8" fmla="*/ 247 w 512"/>
              <a:gd name="T9" fmla="*/ 242 h 512"/>
              <a:gd name="T10" fmla="*/ 264 w 512"/>
              <a:gd name="T11" fmla="*/ 259 h 512"/>
              <a:gd name="T12" fmla="*/ 244 w 512"/>
              <a:gd name="T13" fmla="*/ 254 h 512"/>
              <a:gd name="T14" fmla="*/ 234 w 512"/>
              <a:gd name="T15" fmla="*/ 260 h 512"/>
              <a:gd name="T16" fmla="*/ 240 w 512"/>
              <a:gd name="T17" fmla="*/ 267 h 512"/>
              <a:gd name="T18" fmla="*/ 261 w 512"/>
              <a:gd name="T19" fmla="*/ 276 h 512"/>
              <a:gd name="T20" fmla="*/ 269 w 512"/>
              <a:gd name="T21" fmla="*/ 290 h 512"/>
              <a:gd name="T22" fmla="*/ 247 w 512"/>
              <a:gd name="T23" fmla="*/ 309 h 512"/>
              <a:gd name="T24" fmla="*/ 240 w 512"/>
              <a:gd name="T25" fmla="*/ 320 h 512"/>
              <a:gd name="T26" fmla="*/ 218 w 512"/>
              <a:gd name="T27" fmla="*/ 305 h 512"/>
              <a:gd name="T28" fmla="*/ 229 w 512"/>
              <a:gd name="T29" fmla="*/ 295 h 512"/>
              <a:gd name="T30" fmla="*/ 244 w 512"/>
              <a:gd name="T31" fmla="*/ 297 h 512"/>
              <a:gd name="T32" fmla="*/ 254 w 512"/>
              <a:gd name="T33" fmla="*/ 291 h 512"/>
              <a:gd name="T34" fmla="*/ 247 w 512"/>
              <a:gd name="T35" fmla="*/ 284 h 512"/>
              <a:gd name="T36" fmla="*/ 237 w 512"/>
              <a:gd name="T37" fmla="*/ 280 h 512"/>
              <a:gd name="T38" fmla="*/ 218 w 512"/>
              <a:gd name="T39" fmla="*/ 260 h 512"/>
              <a:gd name="T40" fmla="*/ 181 w 512"/>
              <a:gd name="T41" fmla="*/ 181 h 512"/>
              <a:gd name="T42" fmla="*/ 384 w 512"/>
              <a:gd name="T43" fmla="*/ 288 h 512"/>
              <a:gd name="T44" fmla="*/ 362 w 512"/>
              <a:gd name="T45" fmla="*/ 213 h 512"/>
              <a:gd name="T46" fmla="*/ 181 w 512"/>
              <a:gd name="T47" fmla="*/ 202 h 512"/>
              <a:gd name="T48" fmla="*/ 256 w 512"/>
              <a:gd name="T49" fmla="*/ 0 h 512"/>
              <a:gd name="T50" fmla="*/ 256 w 512"/>
              <a:gd name="T51" fmla="*/ 512 h 512"/>
              <a:gd name="T52" fmla="*/ 256 w 512"/>
              <a:gd name="T53" fmla="*/ 0 h 512"/>
              <a:gd name="T54" fmla="*/ 394 w 512"/>
              <a:gd name="T55" fmla="*/ 309 h 512"/>
              <a:gd name="T56" fmla="*/ 362 w 512"/>
              <a:gd name="T57" fmla="*/ 341 h 512"/>
              <a:gd name="T58" fmla="*/ 128 w 512"/>
              <a:gd name="T59" fmla="*/ 352 h 512"/>
              <a:gd name="T60" fmla="*/ 117 w 512"/>
              <a:gd name="T61" fmla="*/ 213 h 512"/>
              <a:gd name="T62" fmla="*/ 160 w 512"/>
              <a:gd name="T63" fmla="*/ 202 h 512"/>
              <a:gd name="T64" fmla="*/ 170 w 512"/>
              <a:gd name="T65" fmla="*/ 160 h 512"/>
              <a:gd name="T66" fmla="*/ 405 w 512"/>
              <a:gd name="T67" fmla="*/ 17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2" h="512">
                <a:moveTo>
                  <a:pt x="138" y="330"/>
                </a:moveTo>
                <a:cubicBezTo>
                  <a:pt x="341" y="330"/>
                  <a:pt x="341" y="330"/>
                  <a:pt x="341" y="330"/>
                </a:cubicBezTo>
                <a:cubicBezTo>
                  <a:pt x="341" y="224"/>
                  <a:pt x="341" y="224"/>
                  <a:pt x="341" y="224"/>
                </a:cubicBezTo>
                <a:cubicBezTo>
                  <a:pt x="138" y="224"/>
                  <a:pt x="138" y="224"/>
                  <a:pt x="138" y="224"/>
                </a:cubicBezTo>
                <a:lnTo>
                  <a:pt x="138" y="330"/>
                </a:lnTo>
                <a:close/>
                <a:moveTo>
                  <a:pt x="224" y="248"/>
                </a:moveTo>
                <a:cubicBezTo>
                  <a:pt x="228" y="245"/>
                  <a:pt x="233" y="243"/>
                  <a:pt x="240" y="242"/>
                </a:cubicBezTo>
                <a:cubicBezTo>
                  <a:pt x="240" y="234"/>
                  <a:pt x="240" y="234"/>
                  <a:pt x="240" y="234"/>
                </a:cubicBezTo>
                <a:cubicBezTo>
                  <a:pt x="247" y="234"/>
                  <a:pt x="247" y="234"/>
                  <a:pt x="247" y="234"/>
                </a:cubicBezTo>
                <a:cubicBezTo>
                  <a:pt x="247" y="242"/>
                  <a:pt x="247" y="242"/>
                  <a:pt x="247" y="242"/>
                </a:cubicBezTo>
                <a:cubicBezTo>
                  <a:pt x="255" y="242"/>
                  <a:pt x="262" y="244"/>
                  <a:pt x="268" y="247"/>
                </a:cubicBezTo>
                <a:cubicBezTo>
                  <a:pt x="264" y="259"/>
                  <a:pt x="264" y="259"/>
                  <a:pt x="264" y="259"/>
                </a:cubicBezTo>
                <a:cubicBezTo>
                  <a:pt x="258" y="256"/>
                  <a:pt x="253" y="255"/>
                  <a:pt x="247" y="255"/>
                </a:cubicBezTo>
                <a:cubicBezTo>
                  <a:pt x="247" y="255"/>
                  <a:pt x="246" y="254"/>
                  <a:pt x="244" y="254"/>
                </a:cubicBezTo>
                <a:cubicBezTo>
                  <a:pt x="242" y="254"/>
                  <a:pt x="240" y="255"/>
                  <a:pt x="240" y="255"/>
                </a:cubicBezTo>
                <a:cubicBezTo>
                  <a:pt x="236" y="255"/>
                  <a:pt x="234" y="257"/>
                  <a:pt x="234" y="260"/>
                </a:cubicBezTo>
                <a:cubicBezTo>
                  <a:pt x="234" y="262"/>
                  <a:pt x="234" y="263"/>
                  <a:pt x="235" y="264"/>
                </a:cubicBezTo>
                <a:cubicBezTo>
                  <a:pt x="236" y="265"/>
                  <a:pt x="238" y="266"/>
                  <a:pt x="240" y="267"/>
                </a:cubicBezTo>
                <a:cubicBezTo>
                  <a:pt x="247" y="270"/>
                  <a:pt x="247" y="270"/>
                  <a:pt x="247" y="270"/>
                </a:cubicBezTo>
                <a:cubicBezTo>
                  <a:pt x="254" y="272"/>
                  <a:pt x="259" y="274"/>
                  <a:pt x="261" y="276"/>
                </a:cubicBezTo>
                <a:cubicBezTo>
                  <a:pt x="264" y="278"/>
                  <a:pt x="266" y="280"/>
                  <a:pt x="268" y="282"/>
                </a:cubicBezTo>
                <a:cubicBezTo>
                  <a:pt x="269" y="285"/>
                  <a:pt x="269" y="287"/>
                  <a:pt x="269" y="290"/>
                </a:cubicBezTo>
                <a:cubicBezTo>
                  <a:pt x="269" y="296"/>
                  <a:pt x="268" y="300"/>
                  <a:pt x="264" y="303"/>
                </a:cubicBezTo>
                <a:cubicBezTo>
                  <a:pt x="260" y="307"/>
                  <a:pt x="254" y="309"/>
                  <a:pt x="247" y="309"/>
                </a:cubicBezTo>
                <a:cubicBezTo>
                  <a:pt x="247" y="320"/>
                  <a:pt x="247" y="320"/>
                  <a:pt x="247" y="320"/>
                </a:cubicBezTo>
                <a:cubicBezTo>
                  <a:pt x="240" y="320"/>
                  <a:pt x="240" y="320"/>
                  <a:pt x="240" y="320"/>
                </a:cubicBezTo>
                <a:cubicBezTo>
                  <a:pt x="240" y="309"/>
                  <a:pt x="240" y="309"/>
                  <a:pt x="240" y="309"/>
                </a:cubicBezTo>
                <a:cubicBezTo>
                  <a:pt x="232" y="309"/>
                  <a:pt x="225" y="308"/>
                  <a:pt x="218" y="305"/>
                </a:cubicBezTo>
                <a:cubicBezTo>
                  <a:pt x="218" y="292"/>
                  <a:pt x="218" y="292"/>
                  <a:pt x="218" y="292"/>
                </a:cubicBezTo>
                <a:cubicBezTo>
                  <a:pt x="221" y="293"/>
                  <a:pt x="225" y="294"/>
                  <a:pt x="229" y="295"/>
                </a:cubicBezTo>
                <a:cubicBezTo>
                  <a:pt x="233" y="297"/>
                  <a:pt x="237" y="297"/>
                  <a:pt x="240" y="297"/>
                </a:cubicBezTo>
                <a:cubicBezTo>
                  <a:pt x="240" y="297"/>
                  <a:pt x="242" y="297"/>
                  <a:pt x="244" y="297"/>
                </a:cubicBezTo>
                <a:cubicBezTo>
                  <a:pt x="246" y="297"/>
                  <a:pt x="247" y="297"/>
                  <a:pt x="247" y="297"/>
                </a:cubicBezTo>
                <a:cubicBezTo>
                  <a:pt x="252" y="296"/>
                  <a:pt x="254" y="294"/>
                  <a:pt x="254" y="291"/>
                </a:cubicBezTo>
                <a:cubicBezTo>
                  <a:pt x="254" y="290"/>
                  <a:pt x="254" y="288"/>
                  <a:pt x="252" y="287"/>
                </a:cubicBezTo>
                <a:cubicBezTo>
                  <a:pt x="251" y="286"/>
                  <a:pt x="250" y="285"/>
                  <a:pt x="247" y="284"/>
                </a:cubicBezTo>
                <a:cubicBezTo>
                  <a:pt x="240" y="282"/>
                  <a:pt x="240" y="282"/>
                  <a:pt x="240" y="282"/>
                </a:cubicBezTo>
                <a:cubicBezTo>
                  <a:pt x="237" y="280"/>
                  <a:pt x="237" y="280"/>
                  <a:pt x="237" y="280"/>
                </a:cubicBezTo>
                <a:cubicBezTo>
                  <a:pt x="230" y="278"/>
                  <a:pt x="225" y="275"/>
                  <a:pt x="222" y="272"/>
                </a:cubicBezTo>
                <a:cubicBezTo>
                  <a:pt x="220" y="269"/>
                  <a:pt x="218" y="265"/>
                  <a:pt x="218" y="260"/>
                </a:cubicBezTo>
                <a:cubicBezTo>
                  <a:pt x="218" y="255"/>
                  <a:pt x="220" y="251"/>
                  <a:pt x="224" y="248"/>
                </a:cubicBezTo>
                <a:close/>
                <a:moveTo>
                  <a:pt x="181" y="181"/>
                </a:moveTo>
                <a:cubicBezTo>
                  <a:pt x="384" y="181"/>
                  <a:pt x="384" y="181"/>
                  <a:pt x="384" y="181"/>
                </a:cubicBezTo>
                <a:cubicBezTo>
                  <a:pt x="384" y="288"/>
                  <a:pt x="384" y="288"/>
                  <a:pt x="384" y="288"/>
                </a:cubicBezTo>
                <a:cubicBezTo>
                  <a:pt x="362" y="288"/>
                  <a:pt x="362" y="288"/>
                  <a:pt x="362" y="288"/>
                </a:cubicBezTo>
                <a:cubicBezTo>
                  <a:pt x="362" y="213"/>
                  <a:pt x="362" y="213"/>
                  <a:pt x="362" y="213"/>
                </a:cubicBezTo>
                <a:cubicBezTo>
                  <a:pt x="362" y="207"/>
                  <a:pt x="358" y="202"/>
                  <a:pt x="352" y="202"/>
                </a:cubicBezTo>
                <a:cubicBezTo>
                  <a:pt x="181" y="202"/>
                  <a:pt x="181" y="202"/>
                  <a:pt x="181" y="202"/>
                </a:cubicBezTo>
                <a:lnTo>
                  <a:pt x="181" y="181"/>
                </a:ln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98"/>
                </a:moveTo>
                <a:cubicBezTo>
                  <a:pt x="405" y="304"/>
                  <a:pt x="400" y="309"/>
                  <a:pt x="394" y="309"/>
                </a:cubicBezTo>
                <a:cubicBezTo>
                  <a:pt x="362" y="309"/>
                  <a:pt x="362" y="309"/>
                  <a:pt x="362" y="309"/>
                </a:cubicBezTo>
                <a:cubicBezTo>
                  <a:pt x="362" y="341"/>
                  <a:pt x="362" y="341"/>
                  <a:pt x="362" y="341"/>
                </a:cubicBezTo>
                <a:cubicBezTo>
                  <a:pt x="362" y="347"/>
                  <a:pt x="358" y="352"/>
                  <a:pt x="352" y="352"/>
                </a:cubicBezTo>
                <a:cubicBezTo>
                  <a:pt x="128" y="352"/>
                  <a:pt x="128" y="352"/>
                  <a:pt x="128" y="352"/>
                </a:cubicBezTo>
                <a:cubicBezTo>
                  <a:pt x="122" y="352"/>
                  <a:pt x="117" y="347"/>
                  <a:pt x="117" y="341"/>
                </a:cubicBezTo>
                <a:cubicBezTo>
                  <a:pt x="117" y="213"/>
                  <a:pt x="117" y="213"/>
                  <a:pt x="117" y="213"/>
                </a:cubicBezTo>
                <a:cubicBezTo>
                  <a:pt x="117" y="207"/>
                  <a:pt x="122" y="202"/>
                  <a:pt x="128" y="202"/>
                </a:cubicBezTo>
                <a:cubicBezTo>
                  <a:pt x="160" y="202"/>
                  <a:pt x="160" y="202"/>
                  <a:pt x="160" y="202"/>
                </a:cubicBezTo>
                <a:cubicBezTo>
                  <a:pt x="160" y="170"/>
                  <a:pt x="160" y="170"/>
                  <a:pt x="160" y="170"/>
                </a:cubicBezTo>
                <a:cubicBezTo>
                  <a:pt x="160" y="164"/>
                  <a:pt x="164" y="160"/>
                  <a:pt x="170" y="160"/>
                </a:cubicBezTo>
                <a:cubicBezTo>
                  <a:pt x="394" y="160"/>
                  <a:pt x="394" y="160"/>
                  <a:pt x="394" y="160"/>
                </a:cubicBezTo>
                <a:cubicBezTo>
                  <a:pt x="400" y="160"/>
                  <a:pt x="405" y="164"/>
                  <a:pt x="405" y="170"/>
                </a:cubicBezTo>
                <a:lnTo>
                  <a:pt x="405" y="298"/>
                </a:lnTo>
                <a:close/>
              </a:path>
            </a:pathLst>
          </a:custGeom>
          <a:solidFill>
            <a:srgbClr val="43B02A"/>
          </a:solidFill>
          <a:ln>
            <a:noFill/>
          </a:ln>
        </p:spPr>
        <p:txBody>
          <a:bodyPr vert="horz" wrap="square" lIns="91440" tIns="45720" rIns="91440" bIns="45720" numCol="1" anchor="t" anchorCtr="0" compatLnSpc="1">
            <a:prstTxWarp prst="textNoShape">
              <a:avLst/>
            </a:prstTxWarp>
          </a:bodyPr>
          <a:lstStyle/>
          <a:p>
            <a:endParaRPr lang="en-GB" sz="2000" dirty="0"/>
          </a:p>
        </p:txBody>
      </p:sp>
      <p:sp>
        <p:nvSpPr>
          <p:cNvPr id="3" name="TextBox 2">
            <a:extLst>
              <a:ext uri="{FF2B5EF4-FFF2-40B4-BE49-F238E27FC236}">
                <a16:creationId xmlns:a16="http://schemas.microsoft.com/office/drawing/2014/main" id="{5F609F12-3510-4728-82F1-F89F1E8907D6}"/>
              </a:ext>
            </a:extLst>
          </p:cNvPr>
          <p:cNvSpPr txBox="1"/>
          <p:nvPr/>
        </p:nvSpPr>
        <p:spPr>
          <a:xfrm>
            <a:off x="4176782" y="961202"/>
            <a:ext cx="3748441" cy="461665"/>
          </a:xfrm>
          <a:prstGeom prst="rect">
            <a:avLst/>
          </a:prstGeom>
          <a:solidFill>
            <a:schemeClr val="bg1"/>
          </a:solidFill>
        </p:spPr>
        <p:txBody>
          <a:bodyPr wrap="square" lIns="91440" tIns="91440" rIns="91440" bIns="91440" rtlCol="0">
            <a:spAutoFit/>
          </a:bodyPr>
          <a:lstStyle/>
          <a:p>
            <a:pPr algn="ctr">
              <a:spcBef>
                <a:spcPts val="600"/>
              </a:spcBef>
              <a:buSzPct val="100000"/>
            </a:pPr>
            <a:r>
              <a:rPr lang="en-US" b="1" dirty="0">
                <a:solidFill>
                  <a:schemeClr val="accent2"/>
                </a:solidFill>
              </a:rPr>
              <a:t>Key engagement drivers</a:t>
            </a:r>
          </a:p>
        </p:txBody>
      </p:sp>
    </p:spTree>
    <p:extLst>
      <p:ext uri="{BB962C8B-B14F-4D97-AF65-F5344CB8AC3E}">
        <p14:creationId xmlns:p14="http://schemas.microsoft.com/office/powerpoint/2010/main" val="23119077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CF576-4C33-4EBC-9A6D-D4B1C7FBBED3}"/>
              </a:ext>
            </a:extLst>
          </p:cNvPr>
          <p:cNvSpPr>
            <a:spLocks noGrp="1"/>
          </p:cNvSpPr>
          <p:nvPr>
            <p:ph type="title"/>
          </p:nvPr>
        </p:nvSpPr>
        <p:spPr/>
        <p:txBody>
          <a:bodyPr/>
          <a:lstStyle/>
          <a:p>
            <a:r>
              <a:rPr lang="en-US" sz="1800" b="1" dirty="0"/>
              <a:t>Scope</a:t>
            </a:r>
            <a:r>
              <a:rPr lang="en-US" sz="1800" dirty="0"/>
              <a:t> of Engagement</a:t>
            </a:r>
          </a:p>
        </p:txBody>
      </p:sp>
      <p:sp>
        <p:nvSpPr>
          <p:cNvPr id="4" name="Text Placeholder 3">
            <a:extLst>
              <a:ext uri="{FF2B5EF4-FFF2-40B4-BE49-F238E27FC236}">
                <a16:creationId xmlns:a16="http://schemas.microsoft.com/office/drawing/2014/main" id="{5241B352-2B78-4C06-90ED-CD09A63BE048}"/>
              </a:ext>
            </a:extLst>
          </p:cNvPr>
          <p:cNvSpPr>
            <a:spLocks noGrp="1"/>
          </p:cNvSpPr>
          <p:nvPr>
            <p:ph type="body" sz="quarter" idx="13"/>
          </p:nvPr>
        </p:nvSpPr>
        <p:spPr>
          <a:xfrm>
            <a:off x="501650" y="736632"/>
            <a:ext cx="11162350" cy="757255"/>
          </a:xfrm>
        </p:spPr>
        <p:txBody>
          <a:bodyPr/>
          <a:lstStyle/>
          <a:p>
            <a:r>
              <a:rPr lang="en-US" sz="2000" dirty="0">
                <a:solidFill>
                  <a:schemeClr val="tx1">
                    <a:lumMod val="50000"/>
                    <a:lumOff val="50000"/>
                  </a:schemeClr>
                </a:solidFill>
              </a:rPr>
              <a:t>A well conceived scope that identifies high impact areas where Deloitte can add value and support REC in its business endeavors…</a:t>
            </a:r>
          </a:p>
        </p:txBody>
      </p:sp>
      <p:sp>
        <p:nvSpPr>
          <p:cNvPr id="77" name="TextBox 76">
            <a:extLst>
              <a:ext uri="{FF2B5EF4-FFF2-40B4-BE49-F238E27FC236}">
                <a16:creationId xmlns:a16="http://schemas.microsoft.com/office/drawing/2014/main" id="{CC77CF24-12E3-48E0-A139-7F70506190D9}"/>
              </a:ext>
            </a:extLst>
          </p:cNvPr>
          <p:cNvSpPr txBox="1"/>
          <p:nvPr/>
        </p:nvSpPr>
        <p:spPr>
          <a:xfrm>
            <a:off x="2548271" y="1888828"/>
            <a:ext cx="2578899" cy="874757"/>
          </a:xfrm>
          <a:prstGeom prst="rect">
            <a:avLst/>
          </a:prstGeom>
          <a:noFill/>
        </p:spPr>
        <p:txBody>
          <a:bodyPr wrap="square" lIns="0" tIns="0" rIns="0" bIns="0" rtlCol="0">
            <a:noAutofit/>
          </a:bodyPr>
          <a:lstStyle/>
          <a:p>
            <a:r>
              <a:rPr lang="en-GB" sz="2000" b="1" dirty="0">
                <a:solidFill>
                  <a:schemeClr val="accent3"/>
                </a:solidFill>
              </a:rPr>
              <a:t>Policy Design &amp; Research Support</a:t>
            </a:r>
            <a:endParaRPr lang="en-GB" sz="2000" dirty="0">
              <a:solidFill>
                <a:srgbClr val="53565A"/>
              </a:solidFill>
            </a:endParaRPr>
          </a:p>
        </p:txBody>
      </p:sp>
      <p:sp>
        <p:nvSpPr>
          <p:cNvPr id="78" name="TextBox 77">
            <a:extLst>
              <a:ext uri="{FF2B5EF4-FFF2-40B4-BE49-F238E27FC236}">
                <a16:creationId xmlns:a16="http://schemas.microsoft.com/office/drawing/2014/main" id="{8B305342-5FAE-424F-9ABF-4972463B751B}"/>
              </a:ext>
            </a:extLst>
          </p:cNvPr>
          <p:cNvSpPr txBox="1"/>
          <p:nvPr/>
        </p:nvSpPr>
        <p:spPr>
          <a:xfrm>
            <a:off x="613464" y="2646437"/>
            <a:ext cx="2153518" cy="1354217"/>
          </a:xfrm>
          <a:prstGeom prst="rect">
            <a:avLst/>
          </a:prstGeom>
          <a:noFill/>
        </p:spPr>
        <p:txBody>
          <a:bodyPr wrap="square" lIns="0" tIns="0" rIns="0" bIns="0" rtlCol="0">
            <a:spAutoFit/>
          </a:bodyPr>
          <a:lstStyle/>
          <a:p>
            <a:pPr algn="ctr">
              <a:spcBef>
                <a:spcPts val="600"/>
              </a:spcBef>
              <a:buSzPct val="100000"/>
            </a:pPr>
            <a:r>
              <a:rPr lang="en-GB" sz="8800" dirty="0">
                <a:solidFill>
                  <a:schemeClr val="accent2"/>
                </a:solidFill>
              </a:rPr>
              <a:t>02</a:t>
            </a:r>
          </a:p>
        </p:txBody>
      </p:sp>
      <p:sp>
        <p:nvSpPr>
          <p:cNvPr id="79" name="TextBox 78">
            <a:extLst>
              <a:ext uri="{FF2B5EF4-FFF2-40B4-BE49-F238E27FC236}">
                <a16:creationId xmlns:a16="http://schemas.microsoft.com/office/drawing/2014/main" id="{0461FF2E-F460-40C0-99A9-7A84971499BC}"/>
              </a:ext>
            </a:extLst>
          </p:cNvPr>
          <p:cNvSpPr txBox="1"/>
          <p:nvPr/>
        </p:nvSpPr>
        <p:spPr>
          <a:xfrm>
            <a:off x="613464" y="1498676"/>
            <a:ext cx="2153518" cy="1354217"/>
          </a:xfrm>
          <a:prstGeom prst="rect">
            <a:avLst/>
          </a:prstGeom>
          <a:noFill/>
        </p:spPr>
        <p:txBody>
          <a:bodyPr wrap="square" lIns="0" tIns="0" rIns="0" bIns="0" rtlCol="0">
            <a:spAutoFit/>
          </a:bodyPr>
          <a:lstStyle/>
          <a:p>
            <a:pPr algn="ctr">
              <a:spcBef>
                <a:spcPts val="600"/>
              </a:spcBef>
              <a:buSzPct val="100000"/>
            </a:pPr>
            <a:r>
              <a:rPr lang="en-GB" sz="8800" dirty="0">
                <a:solidFill>
                  <a:schemeClr val="accent3"/>
                </a:solidFill>
              </a:rPr>
              <a:t>01</a:t>
            </a:r>
          </a:p>
        </p:txBody>
      </p:sp>
      <p:sp>
        <p:nvSpPr>
          <p:cNvPr id="80" name="TextBox 79">
            <a:extLst>
              <a:ext uri="{FF2B5EF4-FFF2-40B4-BE49-F238E27FC236}">
                <a16:creationId xmlns:a16="http://schemas.microsoft.com/office/drawing/2014/main" id="{A33AEA88-3E8B-4431-BC08-97218E0B60F6}"/>
              </a:ext>
            </a:extLst>
          </p:cNvPr>
          <p:cNvSpPr txBox="1"/>
          <p:nvPr/>
        </p:nvSpPr>
        <p:spPr>
          <a:xfrm>
            <a:off x="2548270" y="5300711"/>
            <a:ext cx="2882327" cy="912699"/>
          </a:xfrm>
          <a:prstGeom prst="rect">
            <a:avLst/>
          </a:prstGeom>
          <a:noFill/>
        </p:spPr>
        <p:txBody>
          <a:bodyPr wrap="square" lIns="0" tIns="0" rIns="0" bIns="0" rtlCol="0">
            <a:noAutofit/>
          </a:bodyPr>
          <a:lstStyle/>
          <a:p>
            <a:r>
              <a:rPr lang="en-US" sz="2000" b="1" dirty="0">
                <a:solidFill>
                  <a:schemeClr val="tx2">
                    <a:lumMod val="75000"/>
                  </a:schemeClr>
                </a:solidFill>
              </a:rPr>
              <a:t>Program Management &amp; Monitoring of New Govt. Schemes</a:t>
            </a:r>
          </a:p>
        </p:txBody>
      </p:sp>
      <p:sp>
        <p:nvSpPr>
          <p:cNvPr id="81" name="TextBox 80">
            <a:extLst>
              <a:ext uri="{FF2B5EF4-FFF2-40B4-BE49-F238E27FC236}">
                <a16:creationId xmlns:a16="http://schemas.microsoft.com/office/drawing/2014/main" id="{27B94251-DBDA-4B43-A704-01DF6947EF54}"/>
              </a:ext>
            </a:extLst>
          </p:cNvPr>
          <p:cNvSpPr txBox="1"/>
          <p:nvPr/>
        </p:nvSpPr>
        <p:spPr>
          <a:xfrm>
            <a:off x="613464" y="4941959"/>
            <a:ext cx="2153518" cy="1354217"/>
          </a:xfrm>
          <a:prstGeom prst="rect">
            <a:avLst/>
          </a:prstGeom>
          <a:noFill/>
        </p:spPr>
        <p:txBody>
          <a:bodyPr wrap="square" lIns="0" tIns="0" rIns="0" bIns="0" rtlCol="0">
            <a:spAutoFit/>
          </a:bodyPr>
          <a:lstStyle/>
          <a:p>
            <a:pPr algn="ctr">
              <a:spcBef>
                <a:spcPts val="600"/>
              </a:spcBef>
              <a:buSzPct val="100000"/>
            </a:pPr>
            <a:r>
              <a:rPr lang="en-GB" sz="8800" dirty="0">
                <a:solidFill>
                  <a:schemeClr val="tx2">
                    <a:lumMod val="75000"/>
                  </a:schemeClr>
                </a:solidFill>
              </a:rPr>
              <a:t>04</a:t>
            </a:r>
          </a:p>
        </p:txBody>
      </p:sp>
      <p:sp>
        <p:nvSpPr>
          <p:cNvPr id="82" name="TextBox 81">
            <a:extLst>
              <a:ext uri="{FF2B5EF4-FFF2-40B4-BE49-F238E27FC236}">
                <a16:creationId xmlns:a16="http://schemas.microsoft.com/office/drawing/2014/main" id="{99C389EB-D328-4936-9C05-1BD7467B66E9}"/>
              </a:ext>
            </a:extLst>
          </p:cNvPr>
          <p:cNvSpPr txBox="1"/>
          <p:nvPr/>
        </p:nvSpPr>
        <p:spPr>
          <a:xfrm>
            <a:off x="613464" y="3794198"/>
            <a:ext cx="2153518" cy="1354217"/>
          </a:xfrm>
          <a:prstGeom prst="rect">
            <a:avLst/>
          </a:prstGeom>
          <a:noFill/>
        </p:spPr>
        <p:txBody>
          <a:bodyPr wrap="square" lIns="0" tIns="0" rIns="0" bIns="0" rtlCol="0">
            <a:spAutoFit/>
          </a:bodyPr>
          <a:lstStyle/>
          <a:p>
            <a:pPr algn="ctr">
              <a:spcBef>
                <a:spcPts val="600"/>
              </a:spcBef>
              <a:buSzPct val="100000"/>
            </a:pPr>
            <a:r>
              <a:rPr lang="en-GB" sz="8800" dirty="0">
                <a:solidFill>
                  <a:schemeClr val="accent1"/>
                </a:solidFill>
              </a:rPr>
              <a:t>03</a:t>
            </a:r>
          </a:p>
        </p:txBody>
      </p:sp>
      <p:sp>
        <p:nvSpPr>
          <p:cNvPr id="83" name="TextBox 82">
            <a:extLst>
              <a:ext uri="{FF2B5EF4-FFF2-40B4-BE49-F238E27FC236}">
                <a16:creationId xmlns:a16="http://schemas.microsoft.com/office/drawing/2014/main" id="{03E32B7F-D21A-4DC5-A51B-85EC325F1244}"/>
              </a:ext>
            </a:extLst>
          </p:cNvPr>
          <p:cNvSpPr txBox="1"/>
          <p:nvPr/>
        </p:nvSpPr>
        <p:spPr>
          <a:xfrm>
            <a:off x="6288559" y="1493887"/>
            <a:ext cx="2153518" cy="1354217"/>
          </a:xfrm>
          <a:prstGeom prst="rect">
            <a:avLst/>
          </a:prstGeom>
          <a:noFill/>
        </p:spPr>
        <p:txBody>
          <a:bodyPr wrap="square" lIns="0" tIns="0" rIns="0" bIns="0" rtlCol="0">
            <a:spAutoFit/>
          </a:bodyPr>
          <a:lstStyle/>
          <a:p>
            <a:pPr algn="ctr">
              <a:spcBef>
                <a:spcPts val="600"/>
              </a:spcBef>
              <a:buSzPct val="100000"/>
            </a:pPr>
            <a:r>
              <a:rPr lang="en-GB" sz="8800" dirty="0">
                <a:solidFill>
                  <a:schemeClr val="accent5"/>
                </a:solidFill>
              </a:rPr>
              <a:t>05</a:t>
            </a:r>
          </a:p>
        </p:txBody>
      </p:sp>
      <p:sp>
        <p:nvSpPr>
          <p:cNvPr id="84" name="TextBox 83">
            <a:extLst>
              <a:ext uri="{FF2B5EF4-FFF2-40B4-BE49-F238E27FC236}">
                <a16:creationId xmlns:a16="http://schemas.microsoft.com/office/drawing/2014/main" id="{2EAEC892-67BD-4DF9-A687-B53B8A6895BD}"/>
              </a:ext>
            </a:extLst>
          </p:cNvPr>
          <p:cNvSpPr txBox="1"/>
          <p:nvPr/>
        </p:nvSpPr>
        <p:spPr>
          <a:xfrm>
            <a:off x="6295220" y="2636760"/>
            <a:ext cx="2153518" cy="1354217"/>
          </a:xfrm>
          <a:prstGeom prst="rect">
            <a:avLst/>
          </a:prstGeom>
          <a:noFill/>
        </p:spPr>
        <p:txBody>
          <a:bodyPr wrap="square" lIns="0" tIns="0" rIns="0" bIns="0" rtlCol="0">
            <a:spAutoFit/>
          </a:bodyPr>
          <a:lstStyle/>
          <a:p>
            <a:pPr algn="ctr">
              <a:spcBef>
                <a:spcPts val="600"/>
              </a:spcBef>
              <a:buSzPct val="100000"/>
            </a:pPr>
            <a:r>
              <a:rPr lang="en-GB" sz="8800" dirty="0">
                <a:solidFill>
                  <a:schemeClr val="accent3"/>
                </a:solidFill>
              </a:rPr>
              <a:t>06</a:t>
            </a:r>
          </a:p>
        </p:txBody>
      </p:sp>
      <p:sp>
        <p:nvSpPr>
          <p:cNvPr id="85" name="TextBox 84">
            <a:extLst>
              <a:ext uri="{FF2B5EF4-FFF2-40B4-BE49-F238E27FC236}">
                <a16:creationId xmlns:a16="http://schemas.microsoft.com/office/drawing/2014/main" id="{C617434B-B9F9-47C5-ACDD-66133EE590B4}"/>
              </a:ext>
            </a:extLst>
          </p:cNvPr>
          <p:cNvSpPr txBox="1"/>
          <p:nvPr/>
        </p:nvSpPr>
        <p:spPr>
          <a:xfrm>
            <a:off x="2548270" y="3060360"/>
            <a:ext cx="2882327" cy="886965"/>
          </a:xfrm>
          <a:prstGeom prst="rect">
            <a:avLst/>
          </a:prstGeom>
          <a:noFill/>
        </p:spPr>
        <p:txBody>
          <a:bodyPr wrap="square" lIns="0" tIns="0" rIns="0" bIns="0" rtlCol="0">
            <a:noAutofit/>
          </a:bodyPr>
          <a:lstStyle/>
          <a:p>
            <a:r>
              <a:rPr lang="en-GB" sz="2000" b="1" dirty="0">
                <a:solidFill>
                  <a:schemeClr val="accent2"/>
                </a:solidFill>
              </a:rPr>
              <a:t>Assistance in Management of Stressed Assets</a:t>
            </a:r>
            <a:endParaRPr lang="en-GB" sz="2000" dirty="0">
              <a:solidFill>
                <a:srgbClr val="53565A"/>
              </a:solidFill>
            </a:endParaRPr>
          </a:p>
        </p:txBody>
      </p:sp>
      <p:sp>
        <p:nvSpPr>
          <p:cNvPr id="86" name="TextBox 85">
            <a:extLst>
              <a:ext uri="{FF2B5EF4-FFF2-40B4-BE49-F238E27FC236}">
                <a16:creationId xmlns:a16="http://schemas.microsoft.com/office/drawing/2014/main" id="{5FD0D7B8-58BF-4E28-AE77-0F1A6A28C216}"/>
              </a:ext>
            </a:extLst>
          </p:cNvPr>
          <p:cNvSpPr txBox="1"/>
          <p:nvPr/>
        </p:nvSpPr>
        <p:spPr>
          <a:xfrm>
            <a:off x="8232009" y="1884845"/>
            <a:ext cx="2468648" cy="918935"/>
          </a:xfrm>
          <a:prstGeom prst="rect">
            <a:avLst/>
          </a:prstGeom>
          <a:noFill/>
        </p:spPr>
        <p:txBody>
          <a:bodyPr wrap="square" lIns="0" tIns="0" rIns="0" bIns="0" rtlCol="0">
            <a:noAutofit/>
          </a:bodyPr>
          <a:lstStyle/>
          <a:p>
            <a:r>
              <a:rPr lang="en-GB" sz="2000" b="1" dirty="0">
                <a:solidFill>
                  <a:schemeClr val="accent5"/>
                </a:solidFill>
              </a:rPr>
              <a:t>Regulatory Research &amp; Monitoring</a:t>
            </a:r>
            <a:endParaRPr lang="en-GB" sz="2000" dirty="0">
              <a:solidFill>
                <a:srgbClr val="53565A"/>
              </a:solidFill>
            </a:endParaRPr>
          </a:p>
        </p:txBody>
      </p:sp>
      <p:sp>
        <p:nvSpPr>
          <p:cNvPr id="87" name="TextBox 86">
            <a:extLst>
              <a:ext uri="{FF2B5EF4-FFF2-40B4-BE49-F238E27FC236}">
                <a16:creationId xmlns:a16="http://schemas.microsoft.com/office/drawing/2014/main" id="{0474850D-2F52-4B1F-B88F-6EBB3161E199}"/>
              </a:ext>
            </a:extLst>
          </p:cNvPr>
          <p:cNvSpPr txBox="1"/>
          <p:nvPr/>
        </p:nvSpPr>
        <p:spPr>
          <a:xfrm>
            <a:off x="2548272" y="4152950"/>
            <a:ext cx="3622980" cy="925934"/>
          </a:xfrm>
          <a:prstGeom prst="rect">
            <a:avLst/>
          </a:prstGeom>
          <a:noFill/>
        </p:spPr>
        <p:txBody>
          <a:bodyPr wrap="square" lIns="0" tIns="0" rIns="0" bIns="0" rtlCol="0">
            <a:noAutofit/>
          </a:bodyPr>
          <a:lstStyle/>
          <a:p>
            <a:r>
              <a:rPr lang="en-US" sz="2000" b="1" dirty="0">
                <a:solidFill>
                  <a:schemeClr val="accent1"/>
                </a:solidFill>
              </a:rPr>
              <a:t>Strategy Support for Business Expansion</a:t>
            </a:r>
          </a:p>
        </p:txBody>
      </p:sp>
      <p:sp>
        <p:nvSpPr>
          <p:cNvPr id="88" name="TextBox 87">
            <a:extLst>
              <a:ext uri="{FF2B5EF4-FFF2-40B4-BE49-F238E27FC236}">
                <a16:creationId xmlns:a16="http://schemas.microsoft.com/office/drawing/2014/main" id="{D9A5CCF1-36CB-4360-9AEE-5A7FEC7C015B}"/>
              </a:ext>
            </a:extLst>
          </p:cNvPr>
          <p:cNvSpPr txBox="1"/>
          <p:nvPr/>
        </p:nvSpPr>
        <p:spPr>
          <a:xfrm>
            <a:off x="8232008" y="3004397"/>
            <a:ext cx="2956493" cy="874611"/>
          </a:xfrm>
          <a:prstGeom prst="rect">
            <a:avLst/>
          </a:prstGeom>
          <a:noFill/>
        </p:spPr>
        <p:txBody>
          <a:bodyPr wrap="square" lIns="0" tIns="0" rIns="0" bIns="0" rtlCol="0">
            <a:noAutofit/>
          </a:bodyPr>
          <a:lstStyle/>
          <a:p>
            <a:r>
              <a:rPr lang="en-GB" sz="2000" b="1" dirty="0">
                <a:solidFill>
                  <a:schemeClr val="accent3"/>
                </a:solidFill>
              </a:rPr>
              <a:t>Procurement &amp; Bid Process Management Support</a:t>
            </a:r>
            <a:endParaRPr lang="en-GB" sz="2000" dirty="0">
              <a:solidFill>
                <a:srgbClr val="53565A"/>
              </a:solidFill>
            </a:endParaRPr>
          </a:p>
        </p:txBody>
      </p:sp>
      <p:sp>
        <p:nvSpPr>
          <p:cNvPr id="91" name="TextBox 90">
            <a:extLst>
              <a:ext uri="{FF2B5EF4-FFF2-40B4-BE49-F238E27FC236}">
                <a16:creationId xmlns:a16="http://schemas.microsoft.com/office/drawing/2014/main" id="{F20BF7F0-4F28-4B64-9904-D884A7818EF4}"/>
              </a:ext>
            </a:extLst>
          </p:cNvPr>
          <p:cNvSpPr txBox="1"/>
          <p:nvPr/>
        </p:nvSpPr>
        <p:spPr>
          <a:xfrm>
            <a:off x="6301881" y="3794198"/>
            <a:ext cx="2153518" cy="1354217"/>
          </a:xfrm>
          <a:prstGeom prst="rect">
            <a:avLst/>
          </a:prstGeom>
          <a:noFill/>
        </p:spPr>
        <p:txBody>
          <a:bodyPr wrap="square" lIns="0" tIns="0" rIns="0" bIns="0" rtlCol="0">
            <a:spAutoFit/>
          </a:bodyPr>
          <a:lstStyle/>
          <a:p>
            <a:pPr algn="ctr">
              <a:spcBef>
                <a:spcPts val="600"/>
              </a:spcBef>
              <a:buSzPct val="100000"/>
            </a:pPr>
            <a:r>
              <a:rPr lang="en-GB" sz="8800" dirty="0">
                <a:solidFill>
                  <a:schemeClr val="accent6"/>
                </a:solidFill>
              </a:rPr>
              <a:t>07</a:t>
            </a:r>
          </a:p>
        </p:txBody>
      </p:sp>
      <p:sp>
        <p:nvSpPr>
          <p:cNvPr id="92" name="TextBox 91">
            <a:extLst>
              <a:ext uri="{FF2B5EF4-FFF2-40B4-BE49-F238E27FC236}">
                <a16:creationId xmlns:a16="http://schemas.microsoft.com/office/drawing/2014/main" id="{722BE8DE-C96B-43A6-9A24-D37E910C2A00}"/>
              </a:ext>
            </a:extLst>
          </p:cNvPr>
          <p:cNvSpPr txBox="1"/>
          <p:nvPr/>
        </p:nvSpPr>
        <p:spPr>
          <a:xfrm>
            <a:off x="8228259" y="4314290"/>
            <a:ext cx="2956493" cy="750986"/>
          </a:xfrm>
          <a:prstGeom prst="rect">
            <a:avLst/>
          </a:prstGeom>
          <a:noFill/>
        </p:spPr>
        <p:txBody>
          <a:bodyPr wrap="square" lIns="0" tIns="0" rIns="0" bIns="0" rtlCol="0">
            <a:noAutofit/>
          </a:bodyPr>
          <a:lstStyle/>
          <a:p>
            <a:r>
              <a:rPr lang="en-GB" sz="2000" b="1" dirty="0">
                <a:solidFill>
                  <a:schemeClr val="accent6"/>
                </a:solidFill>
              </a:rPr>
              <a:t>Other Support Areas</a:t>
            </a:r>
            <a:endParaRPr lang="en-GB" sz="2000" dirty="0">
              <a:solidFill>
                <a:schemeClr val="accent6"/>
              </a:solidFill>
            </a:endParaRPr>
          </a:p>
        </p:txBody>
      </p:sp>
    </p:spTree>
    <p:extLst>
      <p:ext uri="{BB962C8B-B14F-4D97-AF65-F5344CB8AC3E}">
        <p14:creationId xmlns:p14="http://schemas.microsoft.com/office/powerpoint/2010/main" val="395602642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70FB4AC-EEE5-4737-AFC4-131B6008B33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Rounded Rectangle 5">
            <a:extLst>
              <a:ext uri="{FF2B5EF4-FFF2-40B4-BE49-F238E27FC236}">
                <a16:creationId xmlns:a16="http://schemas.microsoft.com/office/drawing/2014/main" id="{D4A387F1-EA8E-4E7F-B8A9-23B600B6A2B9}"/>
              </a:ext>
            </a:extLst>
          </p:cNvPr>
          <p:cNvSpPr/>
          <p:nvPr/>
        </p:nvSpPr>
        <p:spPr bwMode="gray">
          <a:xfrm>
            <a:off x="469900" y="5100948"/>
            <a:ext cx="10426700" cy="792000"/>
          </a:xfrm>
          <a:prstGeom prst="roundRect">
            <a:avLst>
              <a:gd name="adj" fmla="val 50000"/>
            </a:avLst>
          </a:prstGeom>
          <a:solidFill>
            <a:srgbClr val="007680"/>
          </a:solidFill>
          <a:ln w="19050" algn="ctr">
            <a:noFill/>
            <a:miter lim="800000"/>
            <a:headEnd/>
            <a:tailEnd/>
          </a:ln>
        </p:spPr>
        <p:txBody>
          <a:bodyPr wrap="square" lIns="396000" tIns="88900" rIns="88900" bIns="88900" rtlCol="0" anchor="ctr"/>
          <a:lstStyle/>
          <a:p>
            <a:pPr>
              <a:buFont typeface="Wingdings 2" pitchFamily="18" charset="2"/>
              <a:buNone/>
            </a:pPr>
            <a:r>
              <a:rPr lang="en-US" sz="2800" b="1" dirty="0">
                <a:solidFill>
                  <a:schemeClr val="bg1"/>
                </a:solidFill>
                <a:latin typeface="Calibri Light" panose="020F0302020204030204" pitchFamily="34" charset="0"/>
                <a:cs typeface="Calibri Light" panose="020F0302020204030204" pitchFamily="34" charset="0"/>
              </a:rPr>
              <a:t>Our Approach &amp; Methodology</a:t>
            </a:r>
          </a:p>
        </p:txBody>
      </p:sp>
      <p:grpSp>
        <p:nvGrpSpPr>
          <p:cNvPr id="5" name="Group 4">
            <a:extLst>
              <a:ext uri="{FF2B5EF4-FFF2-40B4-BE49-F238E27FC236}">
                <a16:creationId xmlns:a16="http://schemas.microsoft.com/office/drawing/2014/main" id="{FCF8A8CB-7327-45F8-9DD0-161329CA244F}"/>
              </a:ext>
            </a:extLst>
          </p:cNvPr>
          <p:cNvGrpSpPr/>
          <p:nvPr/>
        </p:nvGrpSpPr>
        <p:grpSpPr>
          <a:xfrm>
            <a:off x="9733457" y="4798696"/>
            <a:ext cx="1402578" cy="1397650"/>
            <a:chOff x="9718644" y="4783956"/>
            <a:chExt cx="1432160" cy="1427129"/>
          </a:xfrm>
        </p:grpSpPr>
        <p:sp>
          <p:nvSpPr>
            <p:cNvPr id="6" name="Pie 8">
              <a:extLst>
                <a:ext uri="{FF2B5EF4-FFF2-40B4-BE49-F238E27FC236}">
                  <a16:creationId xmlns:a16="http://schemas.microsoft.com/office/drawing/2014/main" id="{97A007AE-E67C-428B-B7B9-9E5D28B5169C}"/>
                </a:ext>
              </a:extLst>
            </p:cNvPr>
            <p:cNvSpPr/>
            <p:nvPr/>
          </p:nvSpPr>
          <p:spPr bwMode="gray">
            <a:xfrm rot="13500000">
              <a:off x="9723677" y="4783959"/>
              <a:ext cx="1427127" cy="1427126"/>
            </a:xfrm>
            <a:prstGeom prst="pie">
              <a:avLst>
                <a:gd name="adj1" fmla="val 5389768"/>
                <a:gd name="adj2" fmla="val 10751584"/>
              </a:avLst>
            </a:prstGeom>
            <a:solidFill>
              <a:srgbClr val="00ABAB">
                <a:alpha val="50000"/>
              </a:srgbClr>
            </a:solidFill>
            <a:ln w="19050" algn="ctr">
              <a:noFill/>
              <a:miter lim="800000"/>
              <a:headEnd/>
              <a:tailEnd/>
            </a:ln>
          </p:spPr>
          <p:txBody>
            <a:bodyPr wrap="square" lIns="77938" tIns="77938" rIns="77938" bIns="77938" rtlCol="0" anchor="ctr"/>
            <a:lstStyle/>
            <a:p>
              <a:pPr algn="ctr">
                <a:lnSpc>
                  <a:spcPct val="106000"/>
                </a:lnSpc>
                <a:buFont typeface="Wingdings 2" pitchFamily="18" charset="2"/>
                <a:buNone/>
              </a:pPr>
              <a:endParaRPr lang="en-IN" sz="1403" b="1" dirty="0">
                <a:solidFill>
                  <a:schemeClr val="bg1"/>
                </a:solidFill>
              </a:endParaRPr>
            </a:p>
          </p:txBody>
        </p:sp>
        <p:sp>
          <p:nvSpPr>
            <p:cNvPr id="7" name="Pie 9">
              <a:extLst>
                <a:ext uri="{FF2B5EF4-FFF2-40B4-BE49-F238E27FC236}">
                  <a16:creationId xmlns:a16="http://schemas.microsoft.com/office/drawing/2014/main" id="{79410807-BF7F-4DDD-8C32-94926876177D}"/>
                </a:ext>
              </a:extLst>
            </p:cNvPr>
            <p:cNvSpPr/>
            <p:nvPr/>
          </p:nvSpPr>
          <p:spPr bwMode="gray">
            <a:xfrm rot="2700000">
              <a:off x="9718642" y="4783958"/>
              <a:ext cx="1427129" cy="1427126"/>
            </a:xfrm>
            <a:prstGeom prst="pie">
              <a:avLst>
                <a:gd name="adj1" fmla="val 5389768"/>
                <a:gd name="adj2" fmla="val 10751584"/>
              </a:avLst>
            </a:prstGeom>
            <a:solidFill>
              <a:srgbClr val="00ABAB">
                <a:alpha val="50000"/>
              </a:srgbClr>
            </a:solidFill>
            <a:ln w="19050" algn="ctr">
              <a:noFill/>
              <a:miter lim="800000"/>
              <a:headEnd/>
              <a:tailEnd/>
            </a:ln>
          </p:spPr>
          <p:txBody>
            <a:bodyPr wrap="square" lIns="77938" tIns="77938" rIns="77938" bIns="77938" rtlCol="0" anchor="ctr"/>
            <a:lstStyle/>
            <a:p>
              <a:pPr algn="ctr">
                <a:lnSpc>
                  <a:spcPct val="106000"/>
                </a:lnSpc>
                <a:buFont typeface="Wingdings 2" pitchFamily="18" charset="2"/>
                <a:buNone/>
              </a:pPr>
              <a:endParaRPr lang="en-IN" sz="1403" b="1" dirty="0">
                <a:solidFill>
                  <a:schemeClr val="bg1"/>
                </a:solidFill>
              </a:endParaRPr>
            </a:p>
          </p:txBody>
        </p:sp>
      </p:grpSp>
      <p:sp>
        <p:nvSpPr>
          <p:cNvPr id="8" name="Oval 7">
            <a:extLst>
              <a:ext uri="{FF2B5EF4-FFF2-40B4-BE49-F238E27FC236}">
                <a16:creationId xmlns:a16="http://schemas.microsoft.com/office/drawing/2014/main" id="{F80C2722-EEE4-4BF0-B0B7-1135E3A8E630}"/>
              </a:ext>
            </a:extLst>
          </p:cNvPr>
          <p:cNvSpPr/>
          <p:nvPr/>
        </p:nvSpPr>
        <p:spPr bwMode="gray">
          <a:xfrm rot="2700000">
            <a:off x="9990310" y="5053104"/>
            <a:ext cx="887686" cy="887685"/>
          </a:xfrm>
          <a:prstGeom prst="ellipse">
            <a:avLst/>
          </a:prstGeom>
          <a:solidFill>
            <a:srgbClr val="00ABAB"/>
          </a:solidFill>
          <a:ln w="25400" cap="rnd" algn="ctr">
            <a:solidFill>
              <a:schemeClr val="accent6">
                <a:lumMod val="60000"/>
                <a:lumOff val="40000"/>
              </a:schemeClr>
            </a:solidFill>
            <a:prstDash val="sysDash"/>
            <a:round/>
            <a:headEnd/>
            <a:tailEnd/>
          </a:ln>
          <a:effectLst/>
        </p:spPr>
        <p:txBody>
          <a:bodyPr wrap="square" lIns="77938" tIns="77938" rIns="77938" bIns="77938" rtlCol="0" anchor="ctr"/>
          <a:lstStyle/>
          <a:p>
            <a:pPr algn="ctr">
              <a:lnSpc>
                <a:spcPct val="106000"/>
              </a:lnSpc>
              <a:buFont typeface="Wingdings 2" pitchFamily="18" charset="2"/>
              <a:buNone/>
            </a:pPr>
            <a:endParaRPr lang="en-IN" sz="1403" b="1" dirty="0">
              <a:solidFill>
                <a:schemeClr val="bg1"/>
              </a:solidFill>
            </a:endParaRPr>
          </a:p>
        </p:txBody>
      </p:sp>
      <p:grpSp>
        <p:nvGrpSpPr>
          <p:cNvPr id="14" name="Group 13">
            <a:extLst>
              <a:ext uri="{FF2B5EF4-FFF2-40B4-BE49-F238E27FC236}">
                <a16:creationId xmlns:a16="http://schemas.microsoft.com/office/drawing/2014/main" id="{0E79B68E-EAED-48FE-B1F4-03358A1ED1CB}"/>
              </a:ext>
            </a:extLst>
          </p:cNvPr>
          <p:cNvGrpSpPr>
            <a:grpSpLocks noChangeAspect="1"/>
          </p:cNvGrpSpPr>
          <p:nvPr/>
        </p:nvGrpSpPr>
        <p:grpSpPr bwMode="auto">
          <a:xfrm>
            <a:off x="10136258" y="5181173"/>
            <a:ext cx="672137" cy="672137"/>
            <a:chOff x="4220" y="1197"/>
            <a:chExt cx="340" cy="340"/>
          </a:xfrm>
          <a:solidFill>
            <a:schemeClr val="bg1"/>
          </a:solidFill>
        </p:grpSpPr>
        <p:sp>
          <p:nvSpPr>
            <p:cNvPr id="15" name="Freeform 337">
              <a:extLst>
                <a:ext uri="{FF2B5EF4-FFF2-40B4-BE49-F238E27FC236}">
                  <a16:creationId xmlns:a16="http://schemas.microsoft.com/office/drawing/2014/main" id="{99D5C235-65AD-409F-8173-6F1F3555704C}"/>
                </a:ext>
              </a:extLst>
            </p:cNvPr>
            <p:cNvSpPr>
              <a:spLocks noEditPoints="1"/>
            </p:cNvSpPr>
            <p:nvPr/>
          </p:nvSpPr>
          <p:spPr bwMode="auto">
            <a:xfrm>
              <a:off x="4220" y="1197"/>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lc="http://schemas.openxmlformats.org/drawingml/2006/lockedCanvas"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dirty="0"/>
            </a:p>
          </p:txBody>
        </p:sp>
        <p:sp>
          <p:nvSpPr>
            <p:cNvPr id="16" name="Freeform 338">
              <a:extLst>
                <a:ext uri="{FF2B5EF4-FFF2-40B4-BE49-F238E27FC236}">
                  <a16:creationId xmlns:a16="http://schemas.microsoft.com/office/drawing/2014/main" id="{DD7189B2-1A34-4A8C-A7BE-B10A3BD47C2D}"/>
                </a:ext>
              </a:extLst>
            </p:cNvPr>
            <p:cNvSpPr>
              <a:spLocks noEditPoints="1"/>
            </p:cNvSpPr>
            <p:nvPr/>
          </p:nvSpPr>
          <p:spPr bwMode="auto">
            <a:xfrm>
              <a:off x="4312" y="1261"/>
              <a:ext cx="156" cy="212"/>
            </a:xfrm>
            <a:custGeom>
              <a:avLst/>
              <a:gdLst>
                <a:gd name="T0" fmla="*/ 234 w 235"/>
                <a:gd name="T1" fmla="*/ 81 h 320"/>
                <a:gd name="T2" fmla="*/ 232 w 235"/>
                <a:gd name="T3" fmla="*/ 77 h 320"/>
                <a:gd name="T4" fmla="*/ 157 w 235"/>
                <a:gd name="T5" fmla="*/ 3 h 320"/>
                <a:gd name="T6" fmla="*/ 154 w 235"/>
                <a:gd name="T7" fmla="*/ 0 h 320"/>
                <a:gd name="T8" fmla="*/ 150 w 235"/>
                <a:gd name="T9" fmla="*/ 0 h 320"/>
                <a:gd name="T10" fmla="*/ 11 w 235"/>
                <a:gd name="T11" fmla="*/ 0 h 320"/>
                <a:gd name="T12" fmla="*/ 0 w 235"/>
                <a:gd name="T13" fmla="*/ 10 h 320"/>
                <a:gd name="T14" fmla="*/ 0 w 235"/>
                <a:gd name="T15" fmla="*/ 309 h 320"/>
                <a:gd name="T16" fmla="*/ 11 w 235"/>
                <a:gd name="T17" fmla="*/ 320 h 320"/>
                <a:gd name="T18" fmla="*/ 224 w 235"/>
                <a:gd name="T19" fmla="*/ 320 h 320"/>
                <a:gd name="T20" fmla="*/ 235 w 235"/>
                <a:gd name="T21" fmla="*/ 309 h 320"/>
                <a:gd name="T22" fmla="*/ 235 w 235"/>
                <a:gd name="T23" fmla="*/ 85 h 320"/>
                <a:gd name="T24" fmla="*/ 234 w 235"/>
                <a:gd name="T25" fmla="*/ 81 h 320"/>
                <a:gd name="T26" fmla="*/ 160 w 235"/>
                <a:gd name="T27" fmla="*/ 36 h 320"/>
                <a:gd name="T28" fmla="*/ 199 w 235"/>
                <a:gd name="T29" fmla="*/ 74 h 320"/>
                <a:gd name="T30" fmla="*/ 160 w 235"/>
                <a:gd name="T31" fmla="*/ 74 h 320"/>
                <a:gd name="T32" fmla="*/ 160 w 235"/>
                <a:gd name="T33" fmla="*/ 36 h 320"/>
                <a:gd name="T34" fmla="*/ 22 w 235"/>
                <a:gd name="T35" fmla="*/ 298 h 320"/>
                <a:gd name="T36" fmla="*/ 22 w 235"/>
                <a:gd name="T37" fmla="*/ 21 h 320"/>
                <a:gd name="T38" fmla="*/ 139 w 235"/>
                <a:gd name="T39" fmla="*/ 21 h 320"/>
                <a:gd name="T40" fmla="*/ 139 w 235"/>
                <a:gd name="T41" fmla="*/ 85 h 320"/>
                <a:gd name="T42" fmla="*/ 150 w 235"/>
                <a:gd name="T43" fmla="*/ 96 h 320"/>
                <a:gd name="T44" fmla="*/ 214 w 235"/>
                <a:gd name="T45" fmla="*/ 96 h 320"/>
                <a:gd name="T46" fmla="*/ 214 w 235"/>
                <a:gd name="T47" fmla="*/ 298 h 320"/>
                <a:gd name="T48" fmla="*/ 22 w 235"/>
                <a:gd name="T49" fmla="*/ 29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5" h="320">
                  <a:moveTo>
                    <a:pt x="234" y="81"/>
                  </a:moveTo>
                  <a:cubicBezTo>
                    <a:pt x="234" y="80"/>
                    <a:pt x="233" y="78"/>
                    <a:pt x="232" y="77"/>
                  </a:cubicBezTo>
                  <a:cubicBezTo>
                    <a:pt x="157" y="3"/>
                    <a:pt x="157" y="3"/>
                    <a:pt x="157" y="3"/>
                  </a:cubicBezTo>
                  <a:cubicBezTo>
                    <a:pt x="156" y="2"/>
                    <a:pt x="155" y="1"/>
                    <a:pt x="154" y="0"/>
                  </a:cubicBezTo>
                  <a:cubicBezTo>
                    <a:pt x="152" y="0"/>
                    <a:pt x="151" y="0"/>
                    <a:pt x="150" y="0"/>
                  </a:cubicBezTo>
                  <a:cubicBezTo>
                    <a:pt x="11" y="0"/>
                    <a:pt x="11" y="0"/>
                    <a:pt x="11" y="0"/>
                  </a:cubicBezTo>
                  <a:cubicBezTo>
                    <a:pt x="5" y="0"/>
                    <a:pt x="0" y="4"/>
                    <a:pt x="0" y="10"/>
                  </a:cubicBezTo>
                  <a:cubicBezTo>
                    <a:pt x="0" y="309"/>
                    <a:pt x="0" y="309"/>
                    <a:pt x="0" y="309"/>
                  </a:cubicBezTo>
                  <a:cubicBezTo>
                    <a:pt x="0" y="315"/>
                    <a:pt x="5" y="320"/>
                    <a:pt x="11" y="320"/>
                  </a:cubicBezTo>
                  <a:cubicBezTo>
                    <a:pt x="224" y="320"/>
                    <a:pt x="224" y="320"/>
                    <a:pt x="224" y="320"/>
                  </a:cubicBezTo>
                  <a:cubicBezTo>
                    <a:pt x="230" y="320"/>
                    <a:pt x="235" y="315"/>
                    <a:pt x="235" y="309"/>
                  </a:cubicBezTo>
                  <a:cubicBezTo>
                    <a:pt x="235" y="85"/>
                    <a:pt x="235" y="85"/>
                    <a:pt x="235" y="85"/>
                  </a:cubicBezTo>
                  <a:cubicBezTo>
                    <a:pt x="235" y="84"/>
                    <a:pt x="235" y="82"/>
                    <a:pt x="234" y="81"/>
                  </a:cubicBezTo>
                  <a:close/>
                  <a:moveTo>
                    <a:pt x="160" y="36"/>
                  </a:moveTo>
                  <a:cubicBezTo>
                    <a:pt x="199" y="74"/>
                    <a:pt x="199" y="74"/>
                    <a:pt x="199" y="74"/>
                  </a:cubicBezTo>
                  <a:cubicBezTo>
                    <a:pt x="160" y="74"/>
                    <a:pt x="160" y="74"/>
                    <a:pt x="160" y="74"/>
                  </a:cubicBezTo>
                  <a:lnTo>
                    <a:pt x="160" y="36"/>
                  </a:lnTo>
                  <a:close/>
                  <a:moveTo>
                    <a:pt x="22" y="298"/>
                  </a:moveTo>
                  <a:cubicBezTo>
                    <a:pt x="22" y="21"/>
                    <a:pt x="22" y="21"/>
                    <a:pt x="22" y="21"/>
                  </a:cubicBezTo>
                  <a:cubicBezTo>
                    <a:pt x="139" y="21"/>
                    <a:pt x="139" y="21"/>
                    <a:pt x="139" y="21"/>
                  </a:cubicBezTo>
                  <a:cubicBezTo>
                    <a:pt x="139" y="85"/>
                    <a:pt x="139" y="85"/>
                    <a:pt x="139" y="85"/>
                  </a:cubicBezTo>
                  <a:cubicBezTo>
                    <a:pt x="139" y="91"/>
                    <a:pt x="144" y="96"/>
                    <a:pt x="150" y="96"/>
                  </a:cubicBezTo>
                  <a:cubicBezTo>
                    <a:pt x="214" y="96"/>
                    <a:pt x="214" y="96"/>
                    <a:pt x="214" y="96"/>
                  </a:cubicBezTo>
                  <a:cubicBezTo>
                    <a:pt x="214" y="298"/>
                    <a:pt x="214" y="298"/>
                    <a:pt x="214" y="298"/>
                  </a:cubicBezTo>
                  <a:lnTo>
                    <a:pt x="22" y="298"/>
                  </a:lnTo>
                  <a:close/>
                </a:path>
              </a:pathLst>
            </a:custGeom>
            <a:grpFill/>
            <a:ln>
              <a:noFill/>
            </a:ln>
            <a:extLst>
              <a:ext uri="{91240B29-F687-4f45-9708-019B960494DF}">
                <a14:hiddenLine xmlns:lc="http://schemas.openxmlformats.org/drawingml/2006/lockedCanvas"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dirty="0"/>
            </a:p>
          </p:txBody>
        </p:sp>
        <p:sp>
          <p:nvSpPr>
            <p:cNvPr id="17" name="Freeform 339">
              <a:extLst>
                <a:ext uri="{FF2B5EF4-FFF2-40B4-BE49-F238E27FC236}">
                  <a16:creationId xmlns:a16="http://schemas.microsoft.com/office/drawing/2014/main" id="{80159D63-0F5A-49FC-8AD5-9E10424D96D4}"/>
                </a:ext>
              </a:extLst>
            </p:cNvPr>
            <p:cNvSpPr>
              <a:spLocks/>
            </p:cNvSpPr>
            <p:nvPr/>
          </p:nvSpPr>
          <p:spPr bwMode="auto">
            <a:xfrm>
              <a:off x="4340" y="1431"/>
              <a:ext cx="99" cy="14"/>
            </a:xfrm>
            <a:custGeom>
              <a:avLst/>
              <a:gdLst>
                <a:gd name="T0" fmla="*/ 139 w 149"/>
                <a:gd name="T1" fmla="*/ 0 h 21"/>
                <a:gd name="T2" fmla="*/ 11 w 149"/>
                <a:gd name="T3" fmla="*/ 0 h 21"/>
                <a:gd name="T4" fmla="*/ 0 w 149"/>
                <a:gd name="T5" fmla="*/ 10 h 21"/>
                <a:gd name="T6" fmla="*/ 11 w 149"/>
                <a:gd name="T7" fmla="*/ 21 h 21"/>
                <a:gd name="T8" fmla="*/ 139 w 149"/>
                <a:gd name="T9" fmla="*/ 21 h 21"/>
                <a:gd name="T10" fmla="*/ 149 w 149"/>
                <a:gd name="T11" fmla="*/ 10 h 21"/>
                <a:gd name="T12" fmla="*/ 139 w 149"/>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9" h="21">
                  <a:moveTo>
                    <a:pt x="139" y="0"/>
                  </a:moveTo>
                  <a:cubicBezTo>
                    <a:pt x="11" y="0"/>
                    <a:pt x="11" y="0"/>
                    <a:pt x="11" y="0"/>
                  </a:cubicBezTo>
                  <a:cubicBezTo>
                    <a:pt x="5" y="0"/>
                    <a:pt x="0" y="4"/>
                    <a:pt x="0" y="10"/>
                  </a:cubicBezTo>
                  <a:cubicBezTo>
                    <a:pt x="0" y="16"/>
                    <a:pt x="5" y="21"/>
                    <a:pt x="11" y="21"/>
                  </a:cubicBezTo>
                  <a:cubicBezTo>
                    <a:pt x="139" y="21"/>
                    <a:pt x="139" y="21"/>
                    <a:pt x="139" y="21"/>
                  </a:cubicBezTo>
                  <a:cubicBezTo>
                    <a:pt x="145" y="21"/>
                    <a:pt x="149" y="16"/>
                    <a:pt x="149" y="10"/>
                  </a:cubicBezTo>
                  <a:cubicBezTo>
                    <a:pt x="149" y="4"/>
                    <a:pt x="145" y="0"/>
                    <a:pt x="139" y="0"/>
                  </a:cubicBezTo>
                  <a:close/>
                </a:path>
              </a:pathLst>
            </a:custGeom>
            <a:grpFill/>
            <a:ln>
              <a:noFill/>
            </a:ln>
            <a:extLst>
              <a:ext uri="{91240B29-F687-4f45-9708-019B960494DF}">
                <a14:hiddenLine xmlns:lc="http://schemas.openxmlformats.org/drawingml/2006/lockedCanvas"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dirty="0"/>
            </a:p>
          </p:txBody>
        </p:sp>
        <p:sp>
          <p:nvSpPr>
            <p:cNvPr id="18" name="Freeform 340">
              <a:extLst>
                <a:ext uri="{FF2B5EF4-FFF2-40B4-BE49-F238E27FC236}">
                  <a16:creationId xmlns:a16="http://schemas.microsoft.com/office/drawing/2014/main" id="{FE91FB91-3A6D-4961-B3F1-69C6A64D321F}"/>
                </a:ext>
              </a:extLst>
            </p:cNvPr>
            <p:cNvSpPr>
              <a:spLocks/>
            </p:cNvSpPr>
            <p:nvPr/>
          </p:nvSpPr>
          <p:spPr bwMode="auto">
            <a:xfrm>
              <a:off x="4340" y="1402"/>
              <a:ext cx="99" cy="14"/>
            </a:xfrm>
            <a:custGeom>
              <a:avLst/>
              <a:gdLst>
                <a:gd name="T0" fmla="*/ 139 w 149"/>
                <a:gd name="T1" fmla="*/ 0 h 21"/>
                <a:gd name="T2" fmla="*/ 11 w 149"/>
                <a:gd name="T3" fmla="*/ 0 h 21"/>
                <a:gd name="T4" fmla="*/ 0 w 149"/>
                <a:gd name="T5" fmla="*/ 11 h 21"/>
                <a:gd name="T6" fmla="*/ 11 w 149"/>
                <a:gd name="T7" fmla="*/ 21 h 21"/>
                <a:gd name="T8" fmla="*/ 139 w 149"/>
                <a:gd name="T9" fmla="*/ 21 h 21"/>
                <a:gd name="T10" fmla="*/ 149 w 149"/>
                <a:gd name="T11" fmla="*/ 11 h 21"/>
                <a:gd name="T12" fmla="*/ 139 w 149"/>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9" h="21">
                  <a:moveTo>
                    <a:pt x="139" y="0"/>
                  </a:moveTo>
                  <a:cubicBezTo>
                    <a:pt x="11" y="0"/>
                    <a:pt x="11" y="0"/>
                    <a:pt x="11" y="0"/>
                  </a:cubicBezTo>
                  <a:cubicBezTo>
                    <a:pt x="5" y="0"/>
                    <a:pt x="0" y="5"/>
                    <a:pt x="0" y="11"/>
                  </a:cubicBezTo>
                  <a:cubicBezTo>
                    <a:pt x="0" y="17"/>
                    <a:pt x="5" y="21"/>
                    <a:pt x="11" y="21"/>
                  </a:cubicBezTo>
                  <a:cubicBezTo>
                    <a:pt x="139" y="21"/>
                    <a:pt x="139" y="21"/>
                    <a:pt x="139" y="21"/>
                  </a:cubicBezTo>
                  <a:cubicBezTo>
                    <a:pt x="145" y="21"/>
                    <a:pt x="149" y="17"/>
                    <a:pt x="149" y="11"/>
                  </a:cubicBezTo>
                  <a:cubicBezTo>
                    <a:pt x="149" y="5"/>
                    <a:pt x="145" y="0"/>
                    <a:pt x="139" y="0"/>
                  </a:cubicBezTo>
                  <a:close/>
                </a:path>
              </a:pathLst>
            </a:custGeom>
            <a:grpFill/>
            <a:ln>
              <a:noFill/>
            </a:ln>
            <a:extLst>
              <a:ext uri="{91240B29-F687-4f45-9708-019B960494DF}">
                <a14:hiddenLine xmlns:lc="http://schemas.openxmlformats.org/drawingml/2006/lockedCanvas"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dirty="0"/>
            </a:p>
          </p:txBody>
        </p:sp>
        <p:sp>
          <p:nvSpPr>
            <p:cNvPr id="19" name="Freeform 341">
              <a:extLst>
                <a:ext uri="{FF2B5EF4-FFF2-40B4-BE49-F238E27FC236}">
                  <a16:creationId xmlns:a16="http://schemas.microsoft.com/office/drawing/2014/main" id="{277AFBE8-E7FC-4DEB-A654-EC5B8FA093B6}"/>
                </a:ext>
              </a:extLst>
            </p:cNvPr>
            <p:cNvSpPr>
              <a:spLocks/>
            </p:cNvSpPr>
            <p:nvPr/>
          </p:nvSpPr>
          <p:spPr bwMode="auto">
            <a:xfrm>
              <a:off x="4340" y="1374"/>
              <a:ext cx="99" cy="14"/>
            </a:xfrm>
            <a:custGeom>
              <a:avLst/>
              <a:gdLst>
                <a:gd name="T0" fmla="*/ 139 w 149"/>
                <a:gd name="T1" fmla="*/ 0 h 22"/>
                <a:gd name="T2" fmla="*/ 11 w 149"/>
                <a:gd name="T3" fmla="*/ 0 h 22"/>
                <a:gd name="T4" fmla="*/ 0 w 149"/>
                <a:gd name="T5" fmla="*/ 11 h 22"/>
                <a:gd name="T6" fmla="*/ 11 w 149"/>
                <a:gd name="T7" fmla="*/ 22 h 22"/>
                <a:gd name="T8" fmla="*/ 139 w 149"/>
                <a:gd name="T9" fmla="*/ 22 h 22"/>
                <a:gd name="T10" fmla="*/ 149 w 149"/>
                <a:gd name="T11" fmla="*/ 11 h 22"/>
                <a:gd name="T12" fmla="*/ 139 w 149"/>
                <a:gd name="T13" fmla="*/ 0 h 22"/>
              </a:gdLst>
              <a:ahLst/>
              <a:cxnLst>
                <a:cxn ang="0">
                  <a:pos x="T0" y="T1"/>
                </a:cxn>
                <a:cxn ang="0">
                  <a:pos x="T2" y="T3"/>
                </a:cxn>
                <a:cxn ang="0">
                  <a:pos x="T4" y="T5"/>
                </a:cxn>
                <a:cxn ang="0">
                  <a:pos x="T6" y="T7"/>
                </a:cxn>
                <a:cxn ang="0">
                  <a:pos x="T8" y="T9"/>
                </a:cxn>
                <a:cxn ang="0">
                  <a:pos x="T10" y="T11"/>
                </a:cxn>
                <a:cxn ang="0">
                  <a:pos x="T12" y="T13"/>
                </a:cxn>
              </a:cxnLst>
              <a:rect l="0" t="0" r="r" b="b"/>
              <a:pathLst>
                <a:path w="149" h="22">
                  <a:moveTo>
                    <a:pt x="139" y="0"/>
                  </a:moveTo>
                  <a:cubicBezTo>
                    <a:pt x="11" y="0"/>
                    <a:pt x="11" y="0"/>
                    <a:pt x="11" y="0"/>
                  </a:cubicBezTo>
                  <a:cubicBezTo>
                    <a:pt x="5" y="0"/>
                    <a:pt x="0" y="5"/>
                    <a:pt x="0" y="11"/>
                  </a:cubicBezTo>
                  <a:cubicBezTo>
                    <a:pt x="0" y="17"/>
                    <a:pt x="5" y="22"/>
                    <a:pt x="11" y="22"/>
                  </a:cubicBezTo>
                  <a:cubicBezTo>
                    <a:pt x="139" y="22"/>
                    <a:pt x="139" y="22"/>
                    <a:pt x="139" y="22"/>
                  </a:cubicBezTo>
                  <a:cubicBezTo>
                    <a:pt x="145" y="22"/>
                    <a:pt x="149" y="17"/>
                    <a:pt x="149" y="11"/>
                  </a:cubicBezTo>
                  <a:cubicBezTo>
                    <a:pt x="149" y="5"/>
                    <a:pt x="145" y="0"/>
                    <a:pt x="139" y="0"/>
                  </a:cubicBezTo>
                  <a:close/>
                </a:path>
              </a:pathLst>
            </a:custGeom>
            <a:grpFill/>
            <a:ln>
              <a:noFill/>
            </a:ln>
            <a:extLst>
              <a:ext uri="{91240B29-F687-4f45-9708-019B960494DF}">
                <a14:hiddenLine xmlns:lc="http://schemas.openxmlformats.org/drawingml/2006/lockedCanvas"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dirty="0"/>
            </a:p>
          </p:txBody>
        </p:sp>
        <p:sp>
          <p:nvSpPr>
            <p:cNvPr id="20" name="Freeform 342">
              <a:extLst>
                <a:ext uri="{FF2B5EF4-FFF2-40B4-BE49-F238E27FC236}">
                  <a16:creationId xmlns:a16="http://schemas.microsoft.com/office/drawing/2014/main" id="{E60371E4-18C3-4197-B7E0-44CCEA67A378}"/>
                </a:ext>
              </a:extLst>
            </p:cNvPr>
            <p:cNvSpPr>
              <a:spLocks/>
            </p:cNvSpPr>
            <p:nvPr/>
          </p:nvSpPr>
          <p:spPr bwMode="auto">
            <a:xfrm>
              <a:off x="4340" y="1346"/>
              <a:ext cx="99" cy="14"/>
            </a:xfrm>
            <a:custGeom>
              <a:avLst/>
              <a:gdLst>
                <a:gd name="T0" fmla="*/ 139 w 149"/>
                <a:gd name="T1" fmla="*/ 0 h 21"/>
                <a:gd name="T2" fmla="*/ 11 w 149"/>
                <a:gd name="T3" fmla="*/ 0 h 21"/>
                <a:gd name="T4" fmla="*/ 0 w 149"/>
                <a:gd name="T5" fmla="*/ 10 h 21"/>
                <a:gd name="T6" fmla="*/ 11 w 149"/>
                <a:gd name="T7" fmla="*/ 21 h 21"/>
                <a:gd name="T8" fmla="*/ 139 w 149"/>
                <a:gd name="T9" fmla="*/ 21 h 21"/>
                <a:gd name="T10" fmla="*/ 149 w 149"/>
                <a:gd name="T11" fmla="*/ 10 h 21"/>
                <a:gd name="T12" fmla="*/ 139 w 149"/>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149" h="21">
                  <a:moveTo>
                    <a:pt x="139" y="0"/>
                  </a:moveTo>
                  <a:cubicBezTo>
                    <a:pt x="11" y="0"/>
                    <a:pt x="11" y="0"/>
                    <a:pt x="11" y="0"/>
                  </a:cubicBezTo>
                  <a:cubicBezTo>
                    <a:pt x="5" y="0"/>
                    <a:pt x="0" y="4"/>
                    <a:pt x="0" y="10"/>
                  </a:cubicBezTo>
                  <a:cubicBezTo>
                    <a:pt x="0" y="16"/>
                    <a:pt x="5" y="21"/>
                    <a:pt x="11" y="21"/>
                  </a:cubicBezTo>
                  <a:cubicBezTo>
                    <a:pt x="139" y="21"/>
                    <a:pt x="139" y="21"/>
                    <a:pt x="139" y="21"/>
                  </a:cubicBezTo>
                  <a:cubicBezTo>
                    <a:pt x="145" y="21"/>
                    <a:pt x="149" y="16"/>
                    <a:pt x="149" y="10"/>
                  </a:cubicBezTo>
                  <a:cubicBezTo>
                    <a:pt x="149" y="4"/>
                    <a:pt x="145" y="0"/>
                    <a:pt x="139" y="0"/>
                  </a:cubicBezTo>
                  <a:close/>
                </a:path>
              </a:pathLst>
            </a:custGeom>
            <a:grpFill/>
            <a:ln>
              <a:noFill/>
            </a:ln>
            <a:extLst>
              <a:ext uri="{91240B29-F687-4f45-9708-019B960494DF}">
                <a14:hiddenLine xmlns:lc="http://schemas.openxmlformats.org/drawingml/2006/lockedCanvas"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dirty="0"/>
            </a:p>
          </p:txBody>
        </p:sp>
      </p:grpSp>
    </p:spTree>
    <p:extLst>
      <p:ext uri="{BB962C8B-B14F-4D97-AF65-F5344CB8AC3E}">
        <p14:creationId xmlns:p14="http://schemas.microsoft.com/office/powerpoint/2010/main" val="10958106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9FE2A-EC0B-4EBB-91D9-CA37432B4834}"/>
              </a:ext>
            </a:extLst>
          </p:cNvPr>
          <p:cNvSpPr>
            <a:spLocks noGrp="1"/>
          </p:cNvSpPr>
          <p:nvPr>
            <p:ph type="title"/>
          </p:nvPr>
        </p:nvSpPr>
        <p:spPr/>
        <p:txBody>
          <a:bodyPr/>
          <a:lstStyle/>
          <a:p>
            <a:r>
              <a:rPr lang="en-US" sz="1600" dirty="0"/>
              <a:t>Our </a:t>
            </a:r>
            <a:r>
              <a:rPr lang="en-US" sz="1600" b="1" dirty="0"/>
              <a:t>Approach</a:t>
            </a:r>
            <a:r>
              <a:rPr lang="en-US" sz="1600" dirty="0"/>
              <a:t> &amp; Methodology </a:t>
            </a:r>
          </a:p>
        </p:txBody>
      </p:sp>
      <p:sp>
        <p:nvSpPr>
          <p:cNvPr id="3" name="Text Placeholder 2">
            <a:extLst>
              <a:ext uri="{FF2B5EF4-FFF2-40B4-BE49-F238E27FC236}">
                <a16:creationId xmlns:a16="http://schemas.microsoft.com/office/drawing/2014/main" id="{AF55AF75-6519-4763-AAFD-E9DBF8672EA9}"/>
              </a:ext>
            </a:extLst>
          </p:cNvPr>
          <p:cNvSpPr>
            <a:spLocks noGrp="1"/>
          </p:cNvSpPr>
          <p:nvPr>
            <p:ph type="body" sz="quarter" idx="13"/>
          </p:nvPr>
        </p:nvSpPr>
        <p:spPr/>
        <p:txBody>
          <a:bodyPr/>
          <a:lstStyle/>
          <a:p>
            <a:r>
              <a:rPr lang="en-US" sz="2000" dirty="0">
                <a:solidFill>
                  <a:schemeClr val="tx1">
                    <a:lumMod val="50000"/>
                    <a:lumOff val="50000"/>
                  </a:schemeClr>
                </a:solidFill>
              </a:rPr>
              <a:t>Module 1: Policy Design and Research </a:t>
            </a:r>
          </a:p>
        </p:txBody>
      </p:sp>
      <p:sp>
        <p:nvSpPr>
          <p:cNvPr id="7" name="Rectangle 6">
            <a:extLst>
              <a:ext uri="{FF2B5EF4-FFF2-40B4-BE49-F238E27FC236}">
                <a16:creationId xmlns:a16="http://schemas.microsoft.com/office/drawing/2014/main" id="{708E0265-10E3-4935-BE5D-5617DB595906}"/>
              </a:ext>
            </a:extLst>
          </p:cNvPr>
          <p:cNvSpPr/>
          <p:nvPr/>
        </p:nvSpPr>
        <p:spPr bwMode="gray">
          <a:xfrm>
            <a:off x="582675" y="1266374"/>
            <a:ext cx="7203053" cy="309376"/>
          </a:xfrm>
          <a:prstGeom prst="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Approach &amp; Methodology</a:t>
            </a:r>
            <a:endParaRPr lang="en-US" sz="1600" b="1" noProof="0" dirty="0">
              <a:solidFill>
                <a:schemeClr val="bg1"/>
              </a:solidFill>
            </a:endParaRPr>
          </a:p>
        </p:txBody>
      </p:sp>
      <p:grpSp>
        <p:nvGrpSpPr>
          <p:cNvPr id="30" name="Group 29">
            <a:extLst>
              <a:ext uri="{FF2B5EF4-FFF2-40B4-BE49-F238E27FC236}">
                <a16:creationId xmlns:a16="http://schemas.microsoft.com/office/drawing/2014/main" id="{7FE4A4E3-74F8-41BB-9033-504A62C7804B}"/>
              </a:ext>
            </a:extLst>
          </p:cNvPr>
          <p:cNvGrpSpPr/>
          <p:nvPr/>
        </p:nvGrpSpPr>
        <p:grpSpPr>
          <a:xfrm>
            <a:off x="588778" y="1611727"/>
            <a:ext cx="7196951" cy="900425"/>
            <a:chOff x="1441457" y="1582186"/>
            <a:chExt cx="7196951" cy="900425"/>
          </a:xfrm>
        </p:grpSpPr>
        <p:sp>
          <p:nvSpPr>
            <p:cNvPr id="42" name="Rectangle 41">
              <a:extLst>
                <a:ext uri="{FF2B5EF4-FFF2-40B4-BE49-F238E27FC236}">
                  <a16:creationId xmlns:a16="http://schemas.microsoft.com/office/drawing/2014/main" id="{ED9F39A8-F312-4B9F-A829-6A9C93B55189}"/>
                </a:ext>
              </a:extLst>
            </p:cNvPr>
            <p:cNvSpPr/>
            <p:nvPr/>
          </p:nvSpPr>
          <p:spPr bwMode="gray">
            <a:xfrm>
              <a:off x="1441457" y="1582186"/>
              <a:ext cx="1628910" cy="900425"/>
            </a:xfrm>
            <a:prstGeom prst="rect">
              <a:avLst/>
            </a:prstGeom>
            <a:solidFill>
              <a:srgbClr val="00ABAB"/>
            </a:solidFill>
            <a:ln w="19050" algn="ctr">
              <a:solidFill>
                <a:schemeClr val="bg1"/>
              </a:solidFill>
              <a:prstDash val="solid"/>
              <a:miter lim="800000"/>
              <a:headEnd/>
              <a:tailEnd/>
            </a:ln>
          </p:spPr>
          <p:txBody>
            <a:bodyPr wrap="square" lIns="36000" tIns="36000" rIns="36000" bIns="36000" rtlCol="0" anchor="ctr"/>
            <a:lstStyle/>
            <a:p>
              <a:pPr algn="ctr">
                <a:lnSpc>
                  <a:spcPct val="106000"/>
                </a:lnSpc>
                <a:buFont typeface="Wingdings 2" pitchFamily="18" charset="2"/>
                <a:buNone/>
              </a:pPr>
              <a:r>
                <a:rPr lang="en-US" sz="1600" b="1" dirty="0">
                  <a:solidFill>
                    <a:schemeClr val="bg1"/>
                  </a:solidFill>
                </a:rPr>
                <a:t>1. Sector Analysis &amp; Research</a:t>
              </a:r>
              <a:endParaRPr lang="en-IN" sz="1600" b="1" dirty="0" err="1">
                <a:solidFill>
                  <a:schemeClr val="bg1"/>
                </a:solidFill>
              </a:endParaRPr>
            </a:p>
          </p:txBody>
        </p:sp>
        <p:sp>
          <p:nvSpPr>
            <p:cNvPr id="40" name="Rectangle 39">
              <a:extLst>
                <a:ext uri="{FF2B5EF4-FFF2-40B4-BE49-F238E27FC236}">
                  <a16:creationId xmlns:a16="http://schemas.microsoft.com/office/drawing/2014/main" id="{CC50D20A-ECB1-4A83-8F45-A2309DE96DF7}"/>
                </a:ext>
              </a:extLst>
            </p:cNvPr>
            <p:cNvSpPr/>
            <p:nvPr/>
          </p:nvSpPr>
          <p:spPr bwMode="gray">
            <a:xfrm>
              <a:off x="4994569" y="1605116"/>
              <a:ext cx="1862813" cy="873181"/>
            </a:xfrm>
            <a:prstGeom prst="rect">
              <a:avLst/>
            </a:prstGeom>
            <a:solidFill>
              <a:schemeClr val="accent3"/>
            </a:solidFill>
            <a:ln w="19050" algn="ctr">
              <a:solidFill>
                <a:schemeClr val="bg1"/>
              </a:solidFill>
              <a:prstDash val="solid"/>
              <a:miter lim="800000"/>
              <a:headEnd/>
              <a:tailEnd/>
            </a:ln>
          </p:spPr>
          <p:txBody>
            <a:bodyPr wrap="square" lIns="88900" tIns="88900" rIns="88900" bIns="88900" rtlCol="0" anchor="ctr"/>
            <a:lstStyle/>
            <a:p>
              <a:pPr algn="ctr">
                <a:lnSpc>
                  <a:spcPct val="106000"/>
                </a:lnSpc>
              </a:pPr>
              <a:r>
                <a:rPr lang="en-US" sz="1600" b="1" dirty="0">
                  <a:solidFill>
                    <a:schemeClr val="bg1"/>
                  </a:solidFill>
                </a:rPr>
                <a:t>3. Assistance in Designing Policies</a:t>
              </a:r>
              <a:endParaRPr lang="en-US" sz="1600" b="1" spc="300" dirty="0">
                <a:solidFill>
                  <a:schemeClr val="bg1"/>
                </a:solidFill>
                <a:cs typeface="Calibri" panose="020F0502020204030204" pitchFamily="34" charset="0"/>
              </a:endParaRPr>
            </a:p>
          </p:txBody>
        </p:sp>
        <p:sp>
          <p:nvSpPr>
            <p:cNvPr id="38" name="Rectangle 37">
              <a:extLst>
                <a:ext uri="{FF2B5EF4-FFF2-40B4-BE49-F238E27FC236}">
                  <a16:creationId xmlns:a16="http://schemas.microsoft.com/office/drawing/2014/main" id="{E2BD57D2-5342-406E-992F-A9B786958813}"/>
                </a:ext>
              </a:extLst>
            </p:cNvPr>
            <p:cNvSpPr/>
            <p:nvPr/>
          </p:nvSpPr>
          <p:spPr bwMode="gray">
            <a:xfrm>
              <a:off x="3163328" y="1609430"/>
              <a:ext cx="1738280" cy="873181"/>
            </a:xfrm>
            <a:prstGeom prst="rect">
              <a:avLst/>
            </a:prstGeom>
            <a:solidFill>
              <a:schemeClr val="tx1">
                <a:lumMod val="50000"/>
                <a:lumOff val="50000"/>
              </a:schemeClr>
            </a:solidFill>
            <a:ln w="19050" algn="ctr">
              <a:solidFill>
                <a:schemeClr val="bg1"/>
              </a:solidFill>
              <a:prstDash val="solid"/>
              <a:miter lim="800000"/>
              <a:headEnd/>
              <a:tailEnd/>
            </a:ln>
          </p:spPr>
          <p:txBody>
            <a:bodyPr wrap="square" lIns="88900" tIns="88900" rIns="88900" bIns="88900" rtlCol="0" anchor="ctr"/>
            <a:lstStyle/>
            <a:p>
              <a:pPr algn="ctr">
                <a:lnSpc>
                  <a:spcPct val="106000"/>
                </a:lnSpc>
              </a:pPr>
              <a:r>
                <a:rPr lang="en-US" sz="1600" b="1" dirty="0">
                  <a:solidFill>
                    <a:schemeClr val="bg1"/>
                  </a:solidFill>
                </a:rPr>
                <a:t>2. Benchmarking with International policies</a:t>
              </a:r>
              <a:endParaRPr lang="en-US" sz="1600" b="1" spc="300" dirty="0">
                <a:solidFill>
                  <a:schemeClr val="bg1"/>
                </a:solidFill>
                <a:cs typeface="Calibri" panose="020F0502020204030204" pitchFamily="34" charset="0"/>
              </a:endParaRPr>
            </a:p>
          </p:txBody>
        </p:sp>
        <p:sp>
          <p:nvSpPr>
            <p:cNvPr id="36" name="Rectangle 35">
              <a:extLst>
                <a:ext uri="{FF2B5EF4-FFF2-40B4-BE49-F238E27FC236}">
                  <a16:creationId xmlns:a16="http://schemas.microsoft.com/office/drawing/2014/main" id="{44BEF053-238C-4F9C-B1B2-5E72D8F539ED}"/>
                </a:ext>
              </a:extLst>
            </p:cNvPr>
            <p:cNvSpPr/>
            <p:nvPr/>
          </p:nvSpPr>
          <p:spPr bwMode="gray">
            <a:xfrm>
              <a:off x="6950343" y="1618422"/>
              <a:ext cx="1688065" cy="859875"/>
            </a:xfrm>
            <a:prstGeom prst="rect">
              <a:avLst/>
            </a:prstGeom>
            <a:solidFill>
              <a:schemeClr val="accent5"/>
            </a:solidFill>
            <a:ln w="19050" algn="ctr">
              <a:solidFill>
                <a:schemeClr val="bg1"/>
              </a:solidFill>
              <a:prstDash val="solid"/>
              <a:miter lim="800000"/>
              <a:headEnd/>
              <a:tailEnd/>
            </a:ln>
          </p:spPr>
          <p:txBody>
            <a:bodyPr wrap="square" lIns="88900" tIns="88900" rIns="88900" bIns="88900" rtlCol="0" anchor="ctr"/>
            <a:lstStyle/>
            <a:p>
              <a:pPr algn="ctr">
                <a:lnSpc>
                  <a:spcPct val="106000"/>
                </a:lnSpc>
              </a:pPr>
              <a:r>
                <a:rPr lang="en-US" sz="1600" b="1" dirty="0">
                  <a:solidFill>
                    <a:schemeClr val="bg1"/>
                  </a:solidFill>
                </a:rPr>
                <a:t>4. Assistance to REC on decision making</a:t>
              </a:r>
              <a:endParaRPr lang="en-IN" sz="1600" b="1" dirty="0">
                <a:solidFill>
                  <a:schemeClr val="bg1"/>
                </a:solidFill>
              </a:endParaRPr>
            </a:p>
          </p:txBody>
        </p:sp>
      </p:grpSp>
      <p:grpSp>
        <p:nvGrpSpPr>
          <p:cNvPr id="4" name="Group 3">
            <a:extLst>
              <a:ext uri="{FF2B5EF4-FFF2-40B4-BE49-F238E27FC236}">
                <a16:creationId xmlns:a16="http://schemas.microsoft.com/office/drawing/2014/main" id="{01ED832E-59C4-43A6-A37F-AFCEB0FAA1B1}"/>
              </a:ext>
            </a:extLst>
          </p:cNvPr>
          <p:cNvGrpSpPr/>
          <p:nvPr/>
        </p:nvGrpSpPr>
        <p:grpSpPr>
          <a:xfrm>
            <a:off x="582675" y="2918048"/>
            <a:ext cx="7203053" cy="3432346"/>
            <a:chOff x="501650" y="4691376"/>
            <a:chExt cx="11401092" cy="1224000"/>
          </a:xfrm>
        </p:grpSpPr>
        <p:sp>
          <p:nvSpPr>
            <p:cNvPr id="43" name="Rectangle 42">
              <a:extLst>
                <a:ext uri="{FF2B5EF4-FFF2-40B4-BE49-F238E27FC236}">
                  <a16:creationId xmlns:a16="http://schemas.microsoft.com/office/drawing/2014/main" id="{A5CCC217-4E3D-40D3-9900-F6560EA20D36}"/>
                </a:ext>
              </a:extLst>
            </p:cNvPr>
            <p:cNvSpPr/>
            <p:nvPr/>
          </p:nvSpPr>
          <p:spPr bwMode="gray">
            <a:xfrm>
              <a:off x="501650" y="4691376"/>
              <a:ext cx="11401092" cy="1224000"/>
            </a:xfrm>
            <a:prstGeom prst="rect">
              <a:avLst/>
            </a:prstGeom>
            <a:noFill/>
            <a:ln w="63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dirty="0" err="1">
                <a:solidFill>
                  <a:schemeClr val="bg1"/>
                </a:solidFill>
              </a:endParaRPr>
            </a:p>
          </p:txBody>
        </p:sp>
        <p:sp>
          <p:nvSpPr>
            <p:cNvPr id="49" name="TextBox 48">
              <a:extLst>
                <a:ext uri="{FF2B5EF4-FFF2-40B4-BE49-F238E27FC236}">
                  <a16:creationId xmlns:a16="http://schemas.microsoft.com/office/drawing/2014/main" id="{422CD08D-D877-473D-8F40-7EE228844CF3}"/>
                </a:ext>
              </a:extLst>
            </p:cNvPr>
            <p:cNvSpPr txBox="1"/>
            <p:nvPr/>
          </p:nvSpPr>
          <p:spPr>
            <a:xfrm>
              <a:off x="969500" y="4815638"/>
              <a:ext cx="4517577" cy="899994"/>
            </a:xfrm>
            <a:prstGeom prst="rect">
              <a:avLst/>
            </a:prstGeom>
            <a:noFill/>
          </p:spPr>
          <p:txBody>
            <a:bodyPr wrap="square" lIns="0" tIns="0" rIns="0" bIns="0" rtlCol="0">
              <a:spAutoFit/>
            </a:bodyPr>
            <a:lstStyle/>
            <a:p>
              <a:pPr marL="171450" indent="-171450">
                <a:spcBef>
                  <a:spcPts val="600"/>
                </a:spcBef>
                <a:spcAft>
                  <a:spcPts val="600"/>
                </a:spcAft>
                <a:buSzPct val="100000"/>
                <a:buFont typeface="Arial" panose="020B0604020202020204" pitchFamily="34" charset="0"/>
                <a:buChar char="•"/>
              </a:pPr>
              <a:r>
                <a:rPr lang="en-US" dirty="0"/>
                <a:t>Policy recommendations (Central + State) to improve overall sectoral performance</a:t>
              </a:r>
            </a:p>
            <a:p>
              <a:pPr marL="171450" indent="-171450">
                <a:spcBef>
                  <a:spcPts val="600"/>
                </a:spcBef>
                <a:spcAft>
                  <a:spcPts val="600"/>
                </a:spcAft>
                <a:buSzPct val="100000"/>
                <a:buFont typeface="Arial" panose="020B0604020202020204" pitchFamily="34" charset="0"/>
                <a:buChar char="•"/>
              </a:pPr>
              <a:r>
                <a:rPr lang="en-US" dirty="0"/>
                <a:t>Periodical generation of reports, analysis on sectoral trends and thought papers</a:t>
              </a:r>
            </a:p>
            <a:p>
              <a:pPr marL="171450" indent="-171450">
                <a:spcBef>
                  <a:spcPts val="600"/>
                </a:spcBef>
                <a:spcAft>
                  <a:spcPts val="600"/>
                </a:spcAft>
                <a:buSzPct val="100000"/>
                <a:buFont typeface="Arial" panose="020B0604020202020204" pitchFamily="34" charset="0"/>
                <a:buChar char="•"/>
              </a:pPr>
              <a:r>
                <a:rPr lang="en-US" dirty="0"/>
                <a:t>Strategic framework to prioritize policy initiatives</a:t>
              </a:r>
            </a:p>
          </p:txBody>
        </p:sp>
        <p:sp>
          <p:nvSpPr>
            <p:cNvPr id="50" name="TextBox 49">
              <a:extLst>
                <a:ext uri="{FF2B5EF4-FFF2-40B4-BE49-F238E27FC236}">
                  <a16:creationId xmlns:a16="http://schemas.microsoft.com/office/drawing/2014/main" id="{50ABB1E9-43BF-4EE2-9624-04D3C602D6C1}"/>
                </a:ext>
              </a:extLst>
            </p:cNvPr>
            <p:cNvSpPr txBox="1"/>
            <p:nvPr/>
          </p:nvSpPr>
          <p:spPr>
            <a:xfrm>
              <a:off x="6843555" y="4815638"/>
              <a:ext cx="4348117" cy="899994"/>
            </a:xfrm>
            <a:prstGeom prst="rect">
              <a:avLst/>
            </a:prstGeom>
            <a:noFill/>
          </p:spPr>
          <p:txBody>
            <a:bodyPr wrap="square" lIns="0" tIns="0" rIns="0" bIns="0" rtlCol="0">
              <a:spAutoFit/>
            </a:bodyPr>
            <a:lstStyle/>
            <a:p>
              <a:pPr marL="171450" indent="-171450">
                <a:spcBef>
                  <a:spcPts val="600"/>
                </a:spcBef>
                <a:spcAft>
                  <a:spcPts val="600"/>
                </a:spcAft>
                <a:buSzPct val="100000"/>
                <a:buFont typeface="Arial" panose="020B0604020202020204" pitchFamily="34" charset="0"/>
                <a:buChar char="•"/>
              </a:pPr>
              <a:r>
                <a:rPr lang="en-US" dirty="0"/>
                <a:t>Workshop driven stakeholders’ consultations</a:t>
              </a:r>
            </a:p>
            <a:p>
              <a:pPr marL="171450" indent="-171450">
                <a:spcBef>
                  <a:spcPts val="600"/>
                </a:spcBef>
                <a:spcAft>
                  <a:spcPts val="600"/>
                </a:spcAft>
                <a:buSzPct val="100000"/>
                <a:buFont typeface="Arial" panose="020B0604020202020204" pitchFamily="34" charset="0"/>
                <a:buChar char="•"/>
              </a:pPr>
              <a:r>
                <a:rPr lang="en-US" dirty="0"/>
                <a:t>Data driven insights generation</a:t>
              </a:r>
            </a:p>
            <a:p>
              <a:pPr marL="171450" indent="-171450">
                <a:spcBef>
                  <a:spcPts val="600"/>
                </a:spcBef>
                <a:spcAft>
                  <a:spcPts val="600"/>
                </a:spcAft>
                <a:buSzPct val="100000"/>
                <a:buFont typeface="Arial" panose="020B0604020202020204" pitchFamily="34" charset="0"/>
                <a:buChar char="•"/>
              </a:pPr>
              <a:r>
                <a:rPr lang="en-US" dirty="0"/>
                <a:t>Data repository on key performance metrics of the sector</a:t>
              </a:r>
              <a:endParaRPr lang="en-US" sz="1600" dirty="0"/>
            </a:p>
          </p:txBody>
        </p:sp>
      </p:grpSp>
      <p:sp>
        <p:nvSpPr>
          <p:cNvPr id="46" name="Rectangle 45">
            <a:extLst>
              <a:ext uri="{FF2B5EF4-FFF2-40B4-BE49-F238E27FC236}">
                <a16:creationId xmlns:a16="http://schemas.microsoft.com/office/drawing/2014/main" id="{F2380224-8629-4E6E-96B9-29CDE032E1CA}"/>
              </a:ext>
            </a:extLst>
          </p:cNvPr>
          <p:cNvSpPr/>
          <p:nvPr/>
        </p:nvSpPr>
        <p:spPr bwMode="gray">
          <a:xfrm>
            <a:off x="2944509" y="2809912"/>
            <a:ext cx="2046739" cy="204028"/>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2000" b="1" noProof="0" dirty="0">
                <a:solidFill>
                  <a:schemeClr val="accent1"/>
                </a:solidFill>
              </a:rPr>
              <a:t>Key outputs</a:t>
            </a:r>
          </a:p>
        </p:txBody>
      </p:sp>
      <p:sp>
        <p:nvSpPr>
          <p:cNvPr id="25" name="Rectangle 24">
            <a:extLst>
              <a:ext uri="{FF2B5EF4-FFF2-40B4-BE49-F238E27FC236}">
                <a16:creationId xmlns:a16="http://schemas.microsoft.com/office/drawing/2014/main" id="{50F02B7B-2B97-4B9E-B36C-EC11E660936B}"/>
              </a:ext>
            </a:extLst>
          </p:cNvPr>
          <p:cNvSpPr/>
          <p:nvPr/>
        </p:nvSpPr>
        <p:spPr bwMode="gray">
          <a:xfrm>
            <a:off x="8243839" y="1946882"/>
            <a:ext cx="3531082" cy="4403512"/>
          </a:xfrm>
          <a:prstGeom prst="rect">
            <a:avLst/>
          </a:prstGeom>
          <a:solidFill>
            <a:schemeClr val="bg1">
              <a:lumMod val="95000"/>
            </a:schemeClr>
          </a:solidFill>
          <a:ln w="6350" algn="ctr">
            <a:noFill/>
            <a:miter lim="800000"/>
            <a:headEnd/>
            <a:tailEnd/>
          </a:ln>
        </p:spPr>
        <p:txBody>
          <a:bodyPr wrap="square" lIns="88900" tIns="88900" rIns="88900" bIns="88900" rtlCol="0" anchor="ctr"/>
          <a:lstStyle/>
          <a:p>
            <a:pPr marL="171450" indent="-171450">
              <a:spcBef>
                <a:spcPts val="0"/>
              </a:spcBef>
              <a:buSzPct val="100000"/>
              <a:buFont typeface="Arial" panose="020B0604020202020204" pitchFamily="34" charset="0"/>
              <a:buChar char="•"/>
            </a:pPr>
            <a:r>
              <a:rPr lang="en-US" sz="1600" b="1" i="1" dirty="0"/>
              <a:t>Energy transition labs</a:t>
            </a:r>
          </a:p>
          <a:p>
            <a:pPr marL="680862" lvl="1" indent="-171450">
              <a:lnSpc>
                <a:spcPct val="106000"/>
              </a:lnSpc>
              <a:spcBef>
                <a:spcPts val="300"/>
              </a:spcBef>
              <a:buFont typeface="Arial" panose="020B0604020202020204" pitchFamily="34" charset="0"/>
              <a:buChar char="•"/>
            </a:pPr>
            <a:r>
              <a:rPr lang="en-US" sz="1600" dirty="0"/>
              <a:t>Energy transition and decarbonization strategy</a:t>
            </a:r>
          </a:p>
          <a:p>
            <a:pPr marL="680862" lvl="1" indent="-171450">
              <a:lnSpc>
                <a:spcPct val="106000"/>
              </a:lnSpc>
              <a:spcBef>
                <a:spcPts val="300"/>
              </a:spcBef>
              <a:buFont typeface="Arial" panose="020B0604020202020204" pitchFamily="34" charset="0"/>
              <a:buChar char="•"/>
            </a:pPr>
            <a:r>
              <a:rPr lang="en-US" sz="1600" dirty="0"/>
              <a:t>Power Market Reforms</a:t>
            </a:r>
          </a:p>
          <a:p>
            <a:pPr marL="680862" lvl="1" indent="-171450">
              <a:lnSpc>
                <a:spcPct val="106000"/>
              </a:lnSpc>
              <a:spcBef>
                <a:spcPts val="300"/>
              </a:spcBef>
              <a:buFont typeface="Arial" panose="020B0604020202020204" pitchFamily="34" charset="0"/>
              <a:buChar char="•"/>
            </a:pPr>
            <a:r>
              <a:rPr lang="en-US" sz="1600" dirty="0"/>
              <a:t>Battery Storage, Hydrogen, EVs, Dispatchable RE, etc.</a:t>
            </a:r>
          </a:p>
          <a:p>
            <a:pPr marL="680862" lvl="1" indent="-171450">
              <a:lnSpc>
                <a:spcPct val="106000"/>
              </a:lnSpc>
              <a:spcBef>
                <a:spcPts val="300"/>
              </a:spcBef>
              <a:buFont typeface="Arial" panose="020B0604020202020204" pitchFamily="34" charset="0"/>
              <a:buChar char="•"/>
            </a:pPr>
            <a:r>
              <a:rPr lang="en-US" sz="1600" dirty="0"/>
              <a:t>Flexible coal operations</a:t>
            </a:r>
          </a:p>
          <a:p>
            <a:pPr marL="171450" indent="-171450">
              <a:spcBef>
                <a:spcPts val="0"/>
              </a:spcBef>
              <a:buSzPct val="100000"/>
              <a:buFont typeface="Arial" panose="020B0604020202020204" pitchFamily="34" charset="0"/>
              <a:buChar char="•"/>
            </a:pPr>
            <a:r>
              <a:rPr lang="en-US" sz="1600" b="1" i="1" dirty="0"/>
              <a:t>Feasibility studies and program management</a:t>
            </a:r>
          </a:p>
          <a:p>
            <a:pPr marL="628650" lvl="1" indent="-171450">
              <a:spcBef>
                <a:spcPts val="300"/>
              </a:spcBef>
              <a:buSzPct val="100000"/>
              <a:buFont typeface="Arial" panose="020B0604020202020204" pitchFamily="34" charset="0"/>
              <a:buChar char="•"/>
            </a:pPr>
            <a:r>
              <a:rPr lang="en-US" sz="1600" dirty="0"/>
              <a:t>Utility modernization </a:t>
            </a:r>
          </a:p>
          <a:p>
            <a:pPr marL="628650" lvl="1" indent="-171450">
              <a:spcBef>
                <a:spcPts val="300"/>
              </a:spcBef>
              <a:buSzPct val="100000"/>
              <a:buFont typeface="Arial" panose="020B0604020202020204" pitchFamily="34" charset="0"/>
              <a:buChar char="•"/>
            </a:pPr>
            <a:r>
              <a:rPr lang="en-US" sz="1600" dirty="0"/>
              <a:t>Battery Storage</a:t>
            </a:r>
          </a:p>
          <a:p>
            <a:pPr marL="628650" lvl="1" indent="-171450">
              <a:spcBef>
                <a:spcPts val="300"/>
              </a:spcBef>
              <a:buSzPct val="100000"/>
              <a:buFont typeface="Arial" panose="020B0604020202020204" pitchFamily="34" charset="0"/>
              <a:buChar char="•"/>
            </a:pPr>
            <a:r>
              <a:rPr lang="en-US" sz="1600" dirty="0"/>
              <a:t>PP Cost reduction through optimal scheduling and dispatch</a:t>
            </a:r>
          </a:p>
          <a:p>
            <a:pPr marL="628650" lvl="1" indent="-171450">
              <a:spcBef>
                <a:spcPts val="300"/>
              </a:spcBef>
              <a:buSzPct val="100000"/>
              <a:buFont typeface="Arial" panose="020B0604020202020204" pitchFamily="34" charset="0"/>
              <a:buChar char="•"/>
            </a:pPr>
            <a:r>
              <a:rPr lang="en-US" sz="1600" dirty="0"/>
              <a:t>Resource adequacy and integrated resource planning</a:t>
            </a:r>
          </a:p>
        </p:txBody>
      </p:sp>
      <p:sp>
        <p:nvSpPr>
          <p:cNvPr id="29" name="Rectangle 28">
            <a:extLst>
              <a:ext uri="{FF2B5EF4-FFF2-40B4-BE49-F238E27FC236}">
                <a16:creationId xmlns:a16="http://schemas.microsoft.com/office/drawing/2014/main" id="{9A8FAF3D-2A96-42E3-A1CB-E75BDA731471}"/>
              </a:ext>
            </a:extLst>
          </p:cNvPr>
          <p:cNvSpPr/>
          <p:nvPr/>
        </p:nvSpPr>
        <p:spPr bwMode="gray">
          <a:xfrm>
            <a:off x="8243839" y="1266374"/>
            <a:ext cx="3527614" cy="627595"/>
          </a:xfrm>
          <a:prstGeom prst="rect">
            <a:avLst/>
          </a:prstGeom>
          <a:solidFill>
            <a:schemeClr val="tx1">
              <a:lumMod val="65000"/>
              <a:lumOff val="3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noProof="0" dirty="0">
                <a:solidFill>
                  <a:schemeClr val="bg1"/>
                </a:solidFill>
              </a:rPr>
              <a:t>Deloitte’ sectoral insights to drive policy design</a:t>
            </a:r>
          </a:p>
        </p:txBody>
      </p:sp>
    </p:spTree>
    <p:extLst>
      <p:ext uri="{BB962C8B-B14F-4D97-AF65-F5344CB8AC3E}">
        <p14:creationId xmlns:p14="http://schemas.microsoft.com/office/powerpoint/2010/main" val="144578195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9FE2A-EC0B-4EBB-91D9-CA37432B4834}"/>
              </a:ext>
            </a:extLst>
          </p:cNvPr>
          <p:cNvSpPr>
            <a:spLocks noGrp="1"/>
          </p:cNvSpPr>
          <p:nvPr>
            <p:ph type="title"/>
          </p:nvPr>
        </p:nvSpPr>
        <p:spPr/>
        <p:txBody>
          <a:bodyPr/>
          <a:lstStyle/>
          <a:p>
            <a:r>
              <a:rPr lang="en-US" sz="1800" dirty="0">
                <a:latin typeface="+mn-lt"/>
              </a:rPr>
              <a:t>Brief Overview </a:t>
            </a:r>
          </a:p>
        </p:txBody>
      </p:sp>
      <p:sp>
        <p:nvSpPr>
          <p:cNvPr id="3" name="Text Placeholder 2">
            <a:extLst>
              <a:ext uri="{FF2B5EF4-FFF2-40B4-BE49-F238E27FC236}">
                <a16:creationId xmlns:a16="http://schemas.microsoft.com/office/drawing/2014/main" id="{AF55AF75-6519-4763-AAFD-E9DBF8672EA9}"/>
              </a:ext>
            </a:extLst>
          </p:cNvPr>
          <p:cNvSpPr>
            <a:spLocks noGrp="1"/>
          </p:cNvSpPr>
          <p:nvPr>
            <p:ph type="body" sz="quarter" idx="13"/>
          </p:nvPr>
        </p:nvSpPr>
        <p:spPr>
          <a:xfrm>
            <a:off x="501650" y="616876"/>
            <a:ext cx="11201400" cy="757255"/>
          </a:xfrm>
        </p:spPr>
        <p:txBody>
          <a:bodyPr/>
          <a:lstStyle/>
          <a:p>
            <a:r>
              <a:rPr lang="en-US" sz="2000" dirty="0">
                <a:solidFill>
                  <a:schemeClr val="tx1">
                    <a:lumMod val="50000"/>
                    <a:lumOff val="50000"/>
                  </a:schemeClr>
                </a:solidFill>
              </a:rPr>
              <a:t>Stressed power sector assets in India</a:t>
            </a:r>
          </a:p>
        </p:txBody>
      </p:sp>
      <p:graphicFrame>
        <p:nvGraphicFramePr>
          <p:cNvPr id="5" name="Table 4">
            <a:extLst>
              <a:ext uri="{FF2B5EF4-FFF2-40B4-BE49-F238E27FC236}">
                <a16:creationId xmlns:a16="http://schemas.microsoft.com/office/drawing/2014/main" id="{017631B4-7B0E-4FA2-BF9C-6FEC986A576D}"/>
              </a:ext>
            </a:extLst>
          </p:cNvPr>
          <p:cNvGraphicFramePr>
            <a:graphicFrameLocks noGrp="1"/>
          </p:cNvGraphicFramePr>
          <p:nvPr/>
        </p:nvGraphicFramePr>
        <p:xfrm>
          <a:off x="395376" y="1853961"/>
          <a:ext cx="5529886" cy="3519052"/>
        </p:xfrm>
        <a:graphic>
          <a:graphicData uri="http://schemas.openxmlformats.org/drawingml/2006/table">
            <a:tbl>
              <a:tblPr firstRow="1" bandRow="1"/>
              <a:tblGrid>
                <a:gridCol w="837844">
                  <a:extLst>
                    <a:ext uri="{9D8B030D-6E8A-4147-A177-3AD203B41FA5}">
                      <a16:colId xmlns:a16="http://schemas.microsoft.com/office/drawing/2014/main" val="1519637469"/>
                    </a:ext>
                  </a:extLst>
                </a:gridCol>
                <a:gridCol w="522292">
                  <a:extLst>
                    <a:ext uri="{9D8B030D-6E8A-4147-A177-3AD203B41FA5}">
                      <a16:colId xmlns:a16="http://schemas.microsoft.com/office/drawing/2014/main" val="679067988"/>
                    </a:ext>
                  </a:extLst>
                </a:gridCol>
                <a:gridCol w="729033">
                  <a:extLst>
                    <a:ext uri="{9D8B030D-6E8A-4147-A177-3AD203B41FA5}">
                      <a16:colId xmlns:a16="http://schemas.microsoft.com/office/drawing/2014/main" val="2807693579"/>
                    </a:ext>
                  </a:extLst>
                </a:gridCol>
                <a:gridCol w="975309">
                  <a:extLst>
                    <a:ext uri="{9D8B030D-6E8A-4147-A177-3AD203B41FA5}">
                      <a16:colId xmlns:a16="http://schemas.microsoft.com/office/drawing/2014/main" val="3644694350"/>
                    </a:ext>
                  </a:extLst>
                </a:gridCol>
                <a:gridCol w="1145894">
                  <a:extLst>
                    <a:ext uri="{9D8B030D-6E8A-4147-A177-3AD203B41FA5}">
                      <a16:colId xmlns:a16="http://schemas.microsoft.com/office/drawing/2014/main" val="3542053691"/>
                    </a:ext>
                  </a:extLst>
                </a:gridCol>
                <a:gridCol w="578734">
                  <a:extLst>
                    <a:ext uri="{9D8B030D-6E8A-4147-A177-3AD203B41FA5}">
                      <a16:colId xmlns:a16="http://schemas.microsoft.com/office/drawing/2014/main" val="458610973"/>
                    </a:ext>
                  </a:extLst>
                </a:gridCol>
                <a:gridCol w="740780">
                  <a:extLst>
                    <a:ext uri="{9D8B030D-6E8A-4147-A177-3AD203B41FA5}">
                      <a16:colId xmlns:a16="http://schemas.microsoft.com/office/drawing/2014/main" val="1183133914"/>
                    </a:ext>
                  </a:extLst>
                </a:gridCol>
              </a:tblGrid>
              <a:tr h="518592">
                <a:tc>
                  <a:txBody>
                    <a:bodyPr/>
                    <a:lstStyle/>
                    <a:p>
                      <a:pPr marL="91440" marR="0" algn="just">
                        <a:lnSpc>
                          <a:spcPts val="1200"/>
                        </a:lnSpc>
                        <a:spcBef>
                          <a:spcPts val="300"/>
                        </a:spcBef>
                        <a:spcAft>
                          <a:spcPts val="300"/>
                        </a:spcAft>
                      </a:pPr>
                      <a:r>
                        <a:rPr lang="en-US" sz="1100" b="1" dirty="0">
                          <a:solidFill>
                            <a:schemeClr val="accent4"/>
                          </a:solidFill>
                          <a:effectLst/>
                          <a:latin typeface="+mn-lt"/>
                          <a:ea typeface="Verdana" panose="020B0604030504040204" pitchFamily="34" charset="0"/>
                          <a:cs typeface="Times New Roman" panose="02020603050405020304" pitchFamily="18" charset="0"/>
                        </a:rPr>
                        <a:t>State</a:t>
                      </a:r>
                      <a:endParaRPr lang="en-US" sz="1100" dirty="0">
                        <a:solidFill>
                          <a:schemeClr val="accent4"/>
                        </a:solidFill>
                        <a:effectLst/>
                        <a:latin typeface="+mn-lt"/>
                        <a:ea typeface="Verdana" panose="020B0604030504040204" pitchFamily="34" charset="0"/>
                        <a:cs typeface="Times New Roman" panose="02020603050405020304" pitchFamily="18" charset="0"/>
                      </a:endParaRP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b="1" dirty="0">
                          <a:solidFill>
                            <a:schemeClr val="accent4"/>
                          </a:solidFill>
                          <a:effectLst/>
                          <a:latin typeface="+mn-lt"/>
                          <a:ea typeface="Verdana" panose="020B0604030504040204" pitchFamily="34" charset="0"/>
                          <a:cs typeface="Times New Roman" panose="02020603050405020304" pitchFamily="18" charset="0"/>
                        </a:rPr>
                        <a:t>Assets</a:t>
                      </a:r>
                      <a:endParaRPr lang="en-US" sz="1100" dirty="0">
                        <a:solidFill>
                          <a:schemeClr val="accent4"/>
                        </a:solidFill>
                        <a:effectLst/>
                        <a:latin typeface="+mn-lt"/>
                        <a:ea typeface="Verdana" panose="020B0604030504040204" pitchFamily="34" charset="0"/>
                        <a:cs typeface="Times New Roman" panose="02020603050405020304" pitchFamily="18" charset="0"/>
                      </a:endParaRP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b="1" dirty="0">
                          <a:solidFill>
                            <a:schemeClr val="accent4"/>
                          </a:solidFill>
                          <a:effectLst/>
                          <a:latin typeface="+mn-lt"/>
                          <a:ea typeface="Verdana" panose="020B0604030504040204" pitchFamily="34" charset="0"/>
                          <a:cs typeface="Times New Roman" panose="02020603050405020304" pitchFamily="18" charset="0"/>
                        </a:rPr>
                        <a:t>Capacity (MW)</a:t>
                      </a:r>
                      <a:endParaRPr lang="en-US" sz="1100" dirty="0">
                        <a:solidFill>
                          <a:schemeClr val="accent4"/>
                        </a:solidFill>
                        <a:effectLst/>
                        <a:latin typeface="+mn-lt"/>
                        <a:ea typeface="Verdana" panose="020B0604030504040204" pitchFamily="34" charset="0"/>
                        <a:cs typeface="Times New Roman" panose="02020603050405020304" pitchFamily="18" charset="0"/>
                      </a:endParaRP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b="1" dirty="0">
                          <a:solidFill>
                            <a:schemeClr val="accent4"/>
                          </a:solidFill>
                          <a:effectLst/>
                          <a:latin typeface="+mn-lt"/>
                          <a:ea typeface="Verdana" panose="020B0604030504040204" pitchFamily="34" charset="0"/>
                          <a:cs typeface="Times New Roman" panose="02020603050405020304" pitchFamily="18" charset="0"/>
                        </a:rPr>
                        <a:t>Commissioned (MW)</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b="1" dirty="0">
                          <a:solidFill>
                            <a:schemeClr val="accent4"/>
                          </a:solidFill>
                          <a:effectLst/>
                          <a:latin typeface="+mn-lt"/>
                          <a:ea typeface="Verdana" panose="020B0604030504040204" pitchFamily="34" charset="0"/>
                          <a:cs typeface="Times New Roman" panose="02020603050405020304" pitchFamily="18" charset="0"/>
                        </a:rPr>
                        <a:t>Debt outstanding (INR Cr)</a:t>
                      </a:r>
                      <a:endParaRPr lang="en-US" sz="1100" dirty="0">
                        <a:solidFill>
                          <a:schemeClr val="accent4"/>
                        </a:solidFill>
                        <a:effectLst/>
                        <a:latin typeface="+mn-lt"/>
                        <a:ea typeface="Verdana" panose="020B0604030504040204" pitchFamily="34" charset="0"/>
                        <a:cs typeface="Times New Roman" panose="02020603050405020304" pitchFamily="18" charset="0"/>
                      </a:endParaRP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b="1" dirty="0">
                          <a:solidFill>
                            <a:schemeClr val="accent4"/>
                          </a:solidFill>
                          <a:effectLst/>
                          <a:latin typeface="+mn-lt"/>
                          <a:ea typeface="Verdana" panose="020B0604030504040204" pitchFamily="34" charset="0"/>
                          <a:cs typeface="Times New Roman" panose="02020603050405020304" pitchFamily="18" charset="0"/>
                        </a:rPr>
                        <a:t>With PPA (MW)</a:t>
                      </a:r>
                      <a:endParaRPr lang="en-US" sz="1100" dirty="0">
                        <a:solidFill>
                          <a:schemeClr val="accent4"/>
                        </a:solidFill>
                        <a:effectLst/>
                        <a:latin typeface="+mn-lt"/>
                        <a:ea typeface="Verdana" panose="020B0604030504040204" pitchFamily="34" charset="0"/>
                        <a:cs typeface="Times New Roman" panose="02020603050405020304" pitchFamily="18" charset="0"/>
                      </a:endParaRP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b="1" dirty="0">
                          <a:solidFill>
                            <a:schemeClr val="accent4"/>
                          </a:solidFill>
                          <a:effectLst/>
                          <a:latin typeface="+mn-lt"/>
                          <a:ea typeface="Verdana" panose="020B0604030504040204" pitchFamily="34" charset="0"/>
                          <a:cs typeface="Times New Roman" panose="02020603050405020304" pitchFamily="18" charset="0"/>
                        </a:rPr>
                        <a:t>U/C (MW)</a:t>
                      </a:r>
                      <a:endParaRPr lang="en-US" sz="1100" dirty="0">
                        <a:solidFill>
                          <a:schemeClr val="accent4"/>
                        </a:solidFill>
                        <a:effectLst/>
                        <a:latin typeface="+mn-lt"/>
                        <a:ea typeface="Verdana" panose="020B0604030504040204" pitchFamily="34" charset="0"/>
                        <a:cs typeface="Times New Roman" panose="02020603050405020304" pitchFamily="18" charset="0"/>
                      </a:endParaRP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697429570"/>
                  </a:ext>
                </a:extLst>
              </a:tr>
              <a:tr h="369078">
                <a:tc>
                  <a:txBody>
                    <a:bodyPr/>
                    <a:lstStyle/>
                    <a:p>
                      <a:pPr marL="91440" marR="0" algn="just">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Andhra Pradesh</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2</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1,920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600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7,514</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1320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824672536"/>
                  </a:ext>
                </a:extLst>
              </a:tr>
              <a:tr h="219565">
                <a:tc>
                  <a:txBody>
                    <a:bodyPr/>
                    <a:lstStyle/>
                    <a:p>
                      <a:pPr marL="91440" marR="0" algn="just">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Bihar</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a:solidFill>
                            <a:schemeClr val="tx1">
                              <a:lumMod val="65000"/>
                              <a:lumOff val="35000"/>
                            </a:schemeClr>
                          </a:solidFill>
                          <a:effectLst/>
                          <a:latin typeface="+mn-lt"/>
                          <a:ea typeface="Verdana" panose="020B0604030504040204" pitchFamily="34" charset="0"/>
                          <a:cs typeface="Times New Roman" panose="02020603050405020304" pitchFamily="18" charset="0"/>
                        </a:rPr>
                        <a:t>1</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390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390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2,181</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390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136803219"/>
                  </a:ext>
                </a:extLst>
              </a:tr>
              <a:tr h="219565">
                <a:tc>
                  <a:txBody>
                    <a:bodyPr/>
                    <a:lstStyle/>
                    <a:p>
                      <a:pPr marL="91440" marR="0" algn="just">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CG</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10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13,400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7,145</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71,707</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4,503</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6,255</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103905046"/>
                  </a:ext>
                </a:extLst>
              </a:tr>
              <a:tr h="219565">
                <a:tc>
                  <a:txBody>
                    <a:bodyPr/>
                    <a:lstStyle/>
                    <a:p>
                      <a:pPr marL="91440" marR="0" algn="just">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Jharkhand</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a:solidFill>
                            <a:schemeClr val="tx1">
                              <a:lumMod val="65000"/>
                              <a:lumOff val="35000"/>
                            </a:schemeClr>
                          </a:solidFill>
                          <a:effectLst/>
                          <a:latin typeface="+mn-lt"/>
                          <a:ea typeface="Verdana" panose="020B0604030504040204" pitchFamily="34" charset="0"/>
                          <a:cs typeface="Times New Roman" panose="02020603050405020304" pitchFamily="18" charset="0"/>
                        </a:rPr>
                        <a:t>2</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1,740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540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7,027</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1,489</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1,200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045499454"/>
                  </a:ext>
                </a:extLst>
              </a:tr>
              <a:tr h="369078">
                <a:tc>
                  <a:txBody>
                    <a:bodyPr/>
                    <a:lstStyle/>
                    <a:p>
                      <a:pPr marL="91440" marR="0" algn="just">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Madhya Pradesh</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a:solidFill>
                            <a:schemeClr val="tx1">
                              <a:lumMod val="65000"/>
                              <a:lumOff val="35000"/>
                            </a:schemeClr>
                          </a:solidFill>
                          <a:effectLst/>
                          <a:latin typeface="+mn-lt"/>
                          <a:ea typeface="Verdana" panose="020B0604030504040204" pitchFamily="34" charset="0"/>
                          <a:cs typeface="Times New Roman" panose="02020603050405020304" pitchFamily="18" charset="0"/>
                        </a:rPr>
                        <a:t>4</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3,620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3,620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18,943</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1,470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87536094"/>
                  </a:ext>
                </a:extLst>
              </a:tr>
              <a:tr h="219565">
                <a:tc>
                  <a:txBody>
                    <a:bodyPr/>
                    <a:lstStyle/>
                    <a:p>
                      <a:pPr marL="91440" marR="0" algn="just">
                        <a:lnSpc>
                          <a:spcPts val="1200"/>
                        </a:lnSpc>
                        <a:spcBef>
                          <a:spcPts val="300"/>
                        </a:spcBef>
                        <a:spcAft>
                          <a:spcPts val="300"/>
                        </a:spcAft>
                      </a:pPr>
                      <a:r>
                        <a:rPr lang="en-US" sz="1100">
                          <a:solidFill>
                            <a:schemeClr val="tx1">
                              <a:lumMod val="65000"/>
                              <a:lumOff val="35000"/>
                            </a:schemeClr>
                          </a:solidFill>
                          <a:effectLst/>
                          <a:latin typeface="+mn-lt"/>
                          <a:ea typeface="Verdana" panose="020B0604030504040204" pitchFamily="34" charset="0"/>
                          <a:cs typeface="Times New Roman" panose="02020603050405020304" pitchFamily="18" charset="0"/>
                        </a:rPr>
                        <a:t>Maharashtra</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a:solidFill>
                            <a:schemeClr val="tx1">
                              <a:lumMod val="65000"/>
                              <a:lumOff val="35000"/>
                            </a:schemeClr>
                          </a:solidFill>
                          <a:effectLst/>
                          <a:latin typeface="+mn-lt"/>
                          <a:ea typeface="Verdana" panose="020B0604030504040204" pitchFamily="34" charset="0"/>
                          <a:cs typeface="Times New Roman" panose="02020603050405020304" pitchFamily="18" charset="0"/>
                        </a:rPr>
                        <a:t>4</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6,570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5,250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24,805</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3,900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1320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713494180"/>
                  </a:ext>
                </a:extLst>
              </a:tr>
              <a:tr h="219565">
                <a:tc>
                  <a:txBody>
                    <a:bodyPr/>
                    <a:lstStyle/>
                    <a:p>
                      <a:pPr marL="91440" marR="0" algn="just">
                        <a:lnSpc>
                          <a:spcPts val="1200"/>
                        </a:lnSpc>
                        <a:spcBef>
                          <a:spcPts val="300"/>
                        </a:spcBef>
                        <a:spcAft>
                          <a:spcPts val="300"/>
                        </a:spcAft>
                      </a:pPr>
                      <a:r>
                        <a:rPr lang="en-US" sz="1100">
                          <a:solidFill>
                            <a:schemeClr val="tx1">
                              <a:lumMod val="65000"/>
                              <a:lumOff val="35000"/>
                            </a:schemeClr>
                          </a:solidFill>
                          <a:effectLst/>
                          <a:latin typeface="+mn-lt"/>
                          <a:ea typeface="Verdana" panose="020B0604030504040204" pitchFamily="34" charset="0"/>
                          <a:cs typeface="Times New Roman" panose="02020603050405020304" pitchFamily="18" charset="0"/>
                        </a:rPr>
                        <a:t>Odisha</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a:solidFill>
                            <a:schemeClr val="tx1">
                              <a:lumMod val="65000"/>
                              <a:lumOff val="35000"/>
                            </a:schemeClr>
                          </a:solidFill>
                          <a:effectLst/>
                          <a:latin typeface="+mn-lt"/>
                          <a:ea typeface="Verdana" panose="020B0604030504040204" pitchFamily="34" charset="0"/>
                          <a:cs typeface="Times New Roman" panose="02020603050405020304" pitchFamily="18" charset="0"/>
                        </a:rPr>
                        <a:t>6</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6,370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2,589</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29,504</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2,722</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3,781</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408883389"/>
                  </a:ext>
                </a:extLst>
              </a:tr>
              <a:tr h="219565">
                <a:tc>
                  <a:txBody>
                    <a:bodyPr/>
                    <a:lstStyle/>
                    <a:p>
                      <a:pPr marL="91440" marR="0" algn="just">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Punjab</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a:solidFill>
                            <a:schemeClr val="tx1">
                              <a:lumMod val="65000"/>
                              <a:lumOff val="35000"/>
                            </a:schemeClr>
                          </a:solidFill>
                          <a:effectLst/>
                          <a:latin typeface="+mn-lt"/>
                          <a:ea typeface="Verdana" panose="020B0604030504040204" pitchFamily="34" charset="0"/>
                          <a:cs typeface="Times New Roman" panose="02020603050405020304" pitchFamily="18" charset="0"/>
                        </a:rPr>
                        <a:t>1</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540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540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4,346</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540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953965648"/>
                  </a:ext>
                </a:extLst>
              </a:tr>
              <a:tr h="219565">
                <a:tc>
                  <a:txBody>
                    <a:bodyPr/>
                    <a:lstStyle/>
                    <a:p>
                      <a:pPr marL="91440" marR="0" algn="just">
                        <a:lnSpc>
                          <a:spcPts val="1200"/>
                        </a:lnSpc>
                        <a:spcBef>
                          <a:spcPts val="300"/>
                        </a:spcBef>
                        <a:spcAft>
                          <a:spcPts val="300"/>
                        </a:spcAft>
                      </a:pPr>
                      <a:r>
                        <a:rPr lang="en-US" sz="1100">
                          <a:solidFill>
                            <a:schemeClr val="tx1">
                              <a:lumMod val="65000"/>
                              <a:lumOff val="35000"/>
                            </a:schemeClr>
                          </a:solidFill>
                          <a:effectLst/>
                          <a:latin typeface="+mn-lt"/>
                          <a:ea typeface="Verdana" panose="020B0604030504040204" pitchFamily="34" charset="0"/>
                          <a:cs typeface="Times New Roman" panose="02020603050405020304" pitchFamily="18" charset="0"/>
                        </a:rPr>
                        <a:t>Tamil Nadu</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a:solidFill>
                            <a:schemeClr val="tx1">
                              <a:lumMod val="65000"/>
                              <a:lumOff val="35000"/>
                            </a:schemeClr>
                          </a:solidFill>
                          <a:effectLst/>
                          <a:latin typeface="+mn-lt"/>
                          <a:ea typeface="Verdana" panose="020B0604030504040204" pitchFamily="34" charset="0"/>
                          <a:cs typeface="Times New Roman" panose="02020603050405020304" pitchFamily="18" charset="0"/>
                        </a:rPr>
                        <a:t>1</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1,200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1,200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6,483</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558</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881713929"/>
                  </a:ext>
                </a:extLst>
              </a:tr>
              <a:tr h="219565">
                <a:tc>
                  <a:txBody>
                    <a:bodyPr/>
                    <a:lstStyle/>
                    <a:p>
                      <a:pPr marL="91440" marR="0" algn="just">
                        <a:lnSpc>
                          <a:spcPts val="1200"/>
                        </a:lnSpc>
                        <a:spcBef>
                          <a:spcPts val="300"/>
                        </a:spcBef>
                        <a:spcAft>
                          <a:spcPts val="300"/>
                        </a:spcAft>
                      </a:pPr>
                      <a:r>
                        <a:rPr lang="en-US" sz="1100">
                          <a:solidFill>
                            <a:schemeClr val="tx1">
                              <a:lumMod val="65000"/>
                              <a:lumOff val="35000"/>
                            </a:schemeClr>
                          </a:solidFill>
                          <a:effectLst/>
                          <a:latin typeface="+mn-lt"/>
                          <a:ea typeface="Verdana" panose="020B0604030504040204" pitchFamily="34" charset="0"/>
                          <a:cs typeface="Times New Roman" panose="02020603050405020304" pitchFamily="18" charset="0"/>
                        </a:rPr>
                        <a:t>UP</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a:solidFill>
                            <a:schemeClr val="tx1">
                              <a:lumMod val="65000"/>
                              <a:lumOff val="35000"/>
                            </a:schemeClr>
                          </a:solidFill>
                          <a:effectLst/>
                          <a:latin typeface="+mn-lt"/>
                          <a:ea typeface="Verdana" panose="020B0604030504040204" pitchFamily="34" charset="0"/>
                          <a:cs typeface="Times New Roman" panose="02020603050405020304" pitchFamily="18" charset="0"/>
                        </a:rPr>
                        <a:t>2</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3,180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3,180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13,540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2,782</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901990586"/>
                  </a:ext>
                </a:extLst>
              </a:tr>
              <a:tr h="219565">
                <a:tc>
                  <a:txBody>
                    <a:bodyPr/>
                    <a:lstStyle/>
                    <a:p>
                      <a:pPr marL="91440" marR="0" algn="just">
                        <a:lnSpc>
                          <a:spcPts val="1200"/>
                        </a:lnSpc>
                        <a:spcBef>
                          <a:spcPts val="300"/>
                        </a:spcBef>
                        <a:spcAft>
                          <a:spcPts val="300"/>
                        </a:spcAft>
                      </a:pPr>
                      <a:r>
                        <a:rPr lang="en-US" sz="1100">
                          <a:solidFill>
                            <a:schemeClr val="tx1">
                              <a:lumMod val="65000"/>
                              <a:lumOff val="35000"/>
                            </a:schemeClr>
                          </a:solidFill>
                          <a:effectLst/>
                          <a:latin typeface="+mn-lt"/>
                          <a:ea typeface="Verdana" panose="020B0604030504040204" pitchFamily="34" charset="0"/>
                          <a:cs typeface="Times New Roman" panose="02020603050405020304" pitchFamily="18" charset="0"/>
                        </a:rPr>
                        <a:t>West Bengal</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a:solidFill>
                            <a:schemeClr val="tx1">
                              <a:lumMod val="65000"/>
                              <a:lumOff val="35000"/>
                            </a:schemeClr>
                          </a:solidFill>
                          <a:effectLst/>
                          <a:latin typeface="+mn-lt"/>
                          <a:ea typeface="Verdana" panose="020B0604030504040204" pitchFamily="34" charset="0"/>
                          <a:cs typeface="Times New Roman" panose="02020603050405020304" pitchFamily="18" charset="0"/>
                        </a:rPr>
                        <a:t>1</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1,200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1,200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1,724</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654</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rPr>
                        <a:t>-</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639710682"/>
                  </a:ext>
                </a:extLst>
              </a:tr>
              <a:tr h="219565">
                <a:tc>
                  <a:txBody>
                    <a:bodyPr/>
                    <a:lstStyle/>
                    <a:p>
                      <a:pPr marL="91440" marR="0" algn="just">
                        <a:lnSpc>
                          <a:spcPts val="1200"/>
                        </a:lnSpc>
                        <a:spcBef>
                          <a:spcPts val="300"/>
                        </a:spcBef>
                        <a:spcAft>
                          <a:spcPts val="300"/>
                        </a:spcAft>
                      </a:pPr>
                      <a:r>
                        <a:rPr lang="en-US" sz="1100" b="1">
                          <a:solidFill>
                            <a:schemeClr val="tx1">
                              <a:lumMod val="65000"/>
                              <a:lumOff val="35000"/>
                            </a:schemeClr>
                          </a:solidFill>
                          <a:effectLst/>
                          <a:latin typeface="+mn-lt"/>
                          <a:ea typeface="Verdana" panose="020B0604030504040204" pitchFamily="34" charset="0"/>
                          <a:cs typeface="Times New Roman" panose="02020603050405020304" pitchFamily="18" charset="0"/>
                        </a:rPr>
                        <a:t>Total</a:t>
                      </a:r>
                      <a:endParaRPr lang="en-US" sz="1100">
                        <a:solidFill>
                          <a:schemeClr val="tx1">
                            <a:lumMod val="65000"/>
                            <a:lumOff val="35000"/>
                          </a:schemeClr>
                        </a:solidFill>
                        <a:effectLst/>
                        <a:latin typeface="+mn-lt"/>
                        <a:ea typeface="Verdana" panose="020B0604030504040204" pitchFamily="34" charset="0"/>
                        <a:cs typeface="Times New Roman" panose="02020603050405020304" pitchFamily="18" charset="0"/>
                      </a:endParaRP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b="1">
                          <a:solidFill>
                            <a:schemeClr val="tx1">
                              <a:lumMod val="65000"/>
                              <a:lumOff val="35000"/>
                            </a:schemeClr>
                          </a:solidFill>
                          <a:effectLst/>
                          <a:latin typeface="+mn-lt"/>
                          <a:ea typeface="Verdana" panose="020B0604030504040204" pitchFamily="34" charset="0"/>
                          <a:cs typeface="Times New Roman" panose="02020603050405020304" pitchFamily="18" charset="0"/>
                        </a:rPr>
                        <a:t>34</a:t>
                      </a:r>
                      <a:endParaRPr lang="en-US" sz="1100">
                        <a:solidFill>
                          <a:schemeClr val="tx1">
                            <a:lumMod val="65000"/>
                            <a:lumOff val="35000"/>
                          </a:schemeClr>
                        </a:solidFill>
                        <a:effectLst/>
                        <a:latin typeface="+mn-lt"/>
                        <a:ea typeface="Verdana" panose="020B0604030504040204" pitchFamily="34" charset="0"/>
                        <a:cs typeface="Times New Roman" panose="02020603050405020304" pitchFamily="18" charset="0"/>
                      </a:endParaRP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b="1" dirty="0">
                          <a:solidFill>
                            <a:schemeClr val="tx1">
                              <a:lumMod val="65000"/>
                              <a:lumOff val="35000"/>
                            </a:schemeClr>
                          </a:solidFill>
                          <a:effectLst/>
                          <a:latin typeface="+mn-lt"/>
                          <a:ea typeface="Verdana" panose="020B0604030504040204" pitchFamily="34" charset="0"/>
                          <a:cs typeface="Times New Roman" panose="02020603050405020304" pitchFamily="18" charset="0"/>
                        </a:rPr>
                        <a:t>40,130</a:t>
                      </a:r>
                      <a:endPar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endParaRP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b="1" dirty="0">
                          <a:solidFill>
                            <a:schemeClr val="tx1">
                              <a:lumMod val="65000"/>
                              <a:lumOff val="35000"/>
                            </a:schemeClr>
                          </a:solidFill>
                          <a:effectLst/>
                          <a:latin typeface="+mn-lt"/>
                          <a:ea typeface="Verdana" panose="020B0604030504040204" pitchFamily="34" charset="0"/>
                          <a:cs typeface="Times New Roman" panose="02020603050405020304" pitchFamily="18" charset="0"/>
                        </a:rPr>
                        <a:t>26,254</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b="1" dirty="0">
                          <a:solidFill>
                            <a:schemeClr val="tx1">
                              <a:lumMod val="65000"/>
                              <a:lumOff val="35000"/>
                            </a:schemeClr>
                          </a:solidFill>
                          <a:effectLst/>
                          <a:latin typeface="+mn-lt"/>
                          <a:ea typeface="Verdana" panose="020B0604030504040204" pitchFamily="34" charset="0"/>
                          <a:cs typeface="Times New Roman" panose="02020603050405020304" pitchFamily="18" charset="0"/>
                        </a:rPr>
                        <a:t>187,774</a:t>
                      </a:r>
                      <a:endPar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endParaRP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b="1" dirty="0">
                          <a:solidFill>
                            <a:schemeClr val="tx1">
                              <a:lumMod val="65000"/>
                              <a:lumOff val="35000"/>
                            </a:schemeClr>
                          </a:solidFill>
                          <a:effectLst/>
                          <a:latin typeface="+mn-lt"/>
                          <a:ea typeface="Verdana" panose="020B0604030504040204" pitchFamily="34" charset="0"/>
                          <a:cs typeface="Times New Roman" panose="02020603050405020304" pitchFamily="18" charset="0"/>
                        </a:rPr>
                        <a:t>19,008</a:t>
                      </a:r>
                      <a:endPar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endParaRP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100" b="1" dirty="0">
                          <a:solidFill>
                            <a:schemeClr val="tx1">
                              <a:lumMod val="65000"/>
                              <a:lumOff val="35000"/>
                            </a:schemeClr>
                          </a:solidFill>
                          <a:effectLst/>
                          <a:latin typeface="+mn-lt"/>
                          <a:ea typeface="Verdana" panose="020B0604030504040204" pitchFamily="34" charset="0"/>
                          <a:cs typeface="Times New Roman" panose="02020603050405020304" pitchFamily="18" charset="0"/>
                        </a:rPr>
                        <a:t>13,876</a:t>
                      </a:r>
                      <a:endParaRPr lang="en-US" sz="1100" dirty="0">
                        <a:solidFill>
                          <a:schemeClr val="tx1">
                            <a:lumMod val="65000"/>
                            <a:lumOff val="35000"/>
                          </a:schemeClr>
                        </a:solidFill>
                        <a:effectLst/>
                        <a:latin typeface="+mn-lt"/>
                        <a:ea typeface="Verdana" panose="020B0604030504040204" pitchFamily="34" charset="0"/>
                        <a:cs typeface="Times New Roman" panose="02020603050405020304" pitchFamily="18" charset="0"/>
                      </a:endParaRP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96614247"/>
                  </a:ext>
                </a:extLst>
              </a:tr>
            </a:tbl>
          </a:graphicData>
        </a:graphic>
      </p:graphicFrame>
      <p:sp>
        <p:nvSpPr>
          <p:cNvPr id="30" name="Text Placeholder 1">
            <a:extLst>
              <a:ext uri="{FF2B5EF4-FFF2-40B4-BE49-F238E27FC236}">
                <a16:creationId xmlns:a16="http://schemas.microsoft.com/office/drawing/2014/main" id="{938EA827-3341-4687-B167-4BBB38229212}"/>
              </a:ext>
            </a:extLst>
          </p:cNvPr>
          <p:cNvSpPr txBox="1">
            <a:spLocks/>
          </p:cNvSpPr>
          <p:nvPr/>
        </p:nvSpPr>
        <p:spPr>
          <a:xfrm>
            <a:off x="488949" y="1223658"/>
            <a:ext cx="10652705" cy="616718"/>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1700" dirty="0">
                <a:solidFill>
                  <a:schemeClr val="accent3"/>
                </a:solidFill>
              </a:rPr>
              <a:t>34 coal-based assets with capacity totaling ~40 GW were under stress, which requires lenders to continuously monitor, identify key issues and carefully analyze the resolution plans</a:t>
            </a:r>
          </a:p>
        </p:txBody>
      </p:sp>
      <p:cxnSp>
        <p:nvCxnSpPr>
          <p:cNvPr id="7" name="Straight Connector 6">
            <a:extLst>
              <a:ext uri="{FF2B5EF4-FFF2-40B4-BE49-F238E27FC236}">
                <a16:creationId xmlns:a16="http://schemas.microsoft.com/office/drawing/2014/main" id="{10F1F4FA-70C7-4794-A640-7D2DEF362248}"/>
              </a:ext>
            </a:extLst>
          </p:cNvPr>
          <p:cNvCxnSpPr>
            <a:cxnSpLocks/>
          </p:cNvCxnSpPr>
          <p:nvPr/>
        </p:nvCxnSpPr>
        <p:spPr>
          <a:xfrm>
            <a:off x="6125499" y="1532017"/>
            <a:ext cx="0" cy="3840996"/>
          </a:xfrm>
          <a:prstGeom prst="line">
            <a:avLst/>
          </a:prstGeom>
          <a:ln w="19050">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10" name="Text Placeholder 1">
            <a:extLst>
              <a:ext uri="{FF2B5EF4-FFF2-40B4-BE49-F238E27FC236}">
                <a16:creationId xmlns:a16="http://schemas.microsoft.com/office/drawing/2014/main" id="{86C670E7-7B3B-47FA-874E-A4D5A9A9149D}"/>
              </a:ext>
            </a:extLst>
          </p:cNvPr>
          <p:cNvSpPr txBox="1">
            <a:spLocks/>
          </p:cNvSpPr>
          <p:nvPr/>
        </p:nvSpPr>
        <p:spPr>
          <a:xfrm>
            <a:off x="395376" y="5436610"/>
            <a:ext cx="4787176" cy="1421390"/>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spcAft>
                <a:spcPts val="400"/>
              </a:spcAft>
            </a:pPr>
            <a:r>
              <a:rPr lang="en-US" sz="1400" dirty="0">
                <a:solidFill>
                  <a:schemeClr val="tx1"/>
                </a:solidFill>
              </a:rPr>
              <a:t>Out of the 34 stressed power sector assets – </a:t>
            </a:r>
          </a:p>
          <a:p>
            <a:pPr marL="285750" indent="-285750">
              <a:spcAft>
                <a:spcPts val="400"/>
              </a:spcAft>
              <a:buFont typeface="Wingdings" panose="05000000000000000000" pitchFamily="2" charset="2"/>
              <a:buChar char="q"/>
            </a:pPr>
            <a:r>
              <a:rPr lang="en-US" sz="1400" dirty="0">
                <a:solidFill>
                  <a:schemeClr val="tx1"/>
                </a:solidFill>
              </a:rPr>
              <a:t>~~ 16 - 19 GW* of capacity have been resolved / standard</a:t>
            </a:r>
          </a:p>
          <a:p>
            <a:pPr marL="285750" indent="-285750">
              <a:spcAft>
                <a:spcPts val="400"/>
              </a:spcAft>
              <a:buFont typeface="Wingdings" panose="05000000000000000000" pitchFamily="2" charset="2"/>
              <a:buChar char="q"/>
            </a:pPr>
            <a:r>
              <a:rPr lang="en-US" sz="1400" dirty="0">
                <a:solidFill>
                  <a:schemeClr val="tx1"/>
                </a:solidFill>
              </a:rPr>
              <a:t>~ 12 - 16 GW are under various stages of resolution</a:t>
            </a:r>
          </a:p>
          <a:p>
            <a:pPr marL="285750" indent="-285750">
              <a:spcAft>
                <a:spcPts val="400"/>
              </a:spcAft>
              <a:buFont typeface="Wingdings" panose="05000000000000000000" pitchFamily="2" charset="2"/>
              <a:buChar char="q"/>
            </a:pPr>
            <a:r>
              <a:rPr lang="en-US" sz="1400" dirty="0">
                <a:solidFill>
                  <a:schemeClr val="tx1"/>
                </a:solidFill>
              </a:rPr>
              <a:t>~ 7 – 8 GW of capacity may undergo liquidation proces</a:t>
            </a:r>
            <a:r>
              <a:rPr lang="en-US" sz="1400" i="1" dirty="0">
                <a:solidFill>
                  <a:schemeClr val="tx1"/>
                </a:solidFill>
              </a:rPr>
              <a:t>s</a:t>
            </a:r>
          </a:p>
        </p:txBody>
      </p:sp>
      <p:sp>
        <p:nvSpPr>
          <p:cNvPr id="12" name="Text Placeholder 1">
            <a:extLst>
              <a:ext uri="{FF2B5EF4-FFF2-40B4-BE49-F238E27FC236}">
                <a16:creationId xmlns:a16="http://schemas.microsoft.com/office/drawing/2014/main" id="{16093A4B-9654-40B4-9ECB-B279BFB335A8}"/>
              </a:ext>
            </a:extLst>
          </p:cNvPr>
          <p:cNvSpPr txBox="1">
            <a:spLocks/>
          </p:cNvSpPr>
          <p:nvPr/>
        </p:nvSpPr>
        <p:spPr>
          <a:xfrm>
            <a:off x="6355548" y="6257313"/>
            <a:ext cx="5347502" cy="283187"/>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1200" dirty="0">
                <a:solidFill>
                  <a:schemeClr val="tx1"/>
                </a:solidFill>
              </a:rPr>
              <a:t>* Few of the resolved projects require further deliberations based on performance</a:t>
            </a:r>
            <a:r>
              <a:rPr lang="en-US" sz="1200" i="1" dirty="0">
                <a:solidFill>
                  <a:schemeClr val="tx1"/>
                </a:solidFill>
              </a:rPr>
              <a:t>. </a:t>
            </a:r>
          </a:p>
          <a:p>
            <a:endParaRPr lang="en-US" sz="1700" i="1" dirty="0">
              <a:solidFill>
                <a:schemeClr val="accent3"/>
              </a:solidFill>
            </a:endParaRPr>
          </a:p>
        </p:txBody>
      </p:sp>
      <p:sp>
        <p:nvSpPr>
          <p:cNvPr id="6" name="TextBox 5">
            <a:extLst>
              <a:ext uri="{FF2B5EF4-FFF2-40B4-BE49-F238E27FC236}">
                <a16:creationId xmlns:a16="http://schemas.microsoft.com/office/drawing/2014/main" id="{B3F78893-3779-40AF-B0FF-1110D7EABE5F}"/>
              </a:ext>
            </a:extLst>
          </p:cNvPr>
          <p:cNvSpPr txBox="1"/>
          <p:nvPr/>
        </p:nvSpPr>
        <p:spPr>
          <a:xfrm>
            <a:off x="6459728" y="6017484"/>
            <a:ext cx="4097428" cy="184666"/>
          </a:xfrm>
          <a:prstGeom prst="rect">
            <a:avLst/>
          </a:prstGeom>
          <a:noFill/>
        </p:spPr>
        <p:txBody>
          <a:bodyPr wrap="square" lIns="0" tIns="0" rIns="0" bIns="0" rtlCol="0">
            <a:spAutoFit/>
          </a:bodyPr>
          <a:lstStyle/>
          <a:p>
            <a:pPr>
              <a:spcBef>
                <a:spcPts val="600"/>
              </a:spcBef>
              <a:buSzPct val="100000"/>
            </a:pPr>
            <a:r>
              <a:rPr lang="en-US" sz="1200" dirty="0">
                <a:solidFill>
                  <a:srgbClr val="313131"/>
                </a:solidFill>
              </a:rPr>
              <a:t>Source – Ministry of Power report and secondary research</a:t>
            </a:r>
          </a:p>
        </p:txBody>
      </p:sp>
      <p:sp>
        <p:nvSpPr>
          <p:cNvPr id="19" name="Rectangle 18">
            <a:extLst>
              <a:ext uri="{FF2B5EF4-FFF2-40B4-BE49-F238E27FC236}">
                <a16:creationId xmlns:a16="http://schemas.microsoft.com/office/drawing/2014/main" id="{97C14DE4-C382-402C-9D55-351818B0800C}"/>
              </a:ext>
            </a:extLst>
          </p:cNvPr>
          <p:cNvSpPr/>
          <p:nvPr/>
        </p:nvSpPr>
        <p:spPr bwMode="gray">
          <a:xfrm>
            <a:off x="6266739" y="2208054"/>
            <a:ext cx="5295051" cy="3030670"/>
          </a:xfrm>
          <a:prstGeom prst="rect">
            <a:avLst/>
          </a:prstGeom>
          <a:solidFill>
            <a:srgbClr val="0D8390">
              <a:lumMod val="20000"/>
              <a:lumOff val="80000"/>
              <a:alpha val="30000"/>
            </a:srgbClr>
          </a:solidFill>
          <a:ln w="19050" algn="ctr">
            <a:noFill/>
            <a:miter lim="800000"/>
            <a:headEnd/>
            <a:tailEnd/>
          </a:ln>
        </p:spPr>
        <p:txBody>
          <a:bodyPr wrap="square" lIns="108000" tIns="72000" rIns="88900" bIns="88900" numCol="1" rtlCol="0" anchor="t">
            <a:noAutofit/>
          </a:bodyPr>
          <a:lstStyle/>
          <a:p>
            <a:pPr marL="171450" lvl="1" indent="-171450" defTabSz="1018538">
              <a:spcBef>
                <a:spcPts val="600"/>
              </a:spcBef>
              <a:spcAft>
                <a:spcPts val="200"/>
              </a:spcAft>
              <a:buFont typeface="Arial" panose="020B0604020202020204" pitchFamily="34" charset="0"/>
              <a:buChar char="•"/>
              <a:tabLst>
                <a:tab pos="109855" algn="l"/>
              </a:tabLst>
              <a:defRPr/>
            </a:pPr>
            <a:r>
              <a:rPr lang="en-US" sz="1400" kern="0" dirty="0">
                <a:ea typeface="Verdana" panose="020B0604030504040204" pitchFamily="34" charset="0"/>
                <a:cs typeface="Calibri" panose="020F0502020204030204" pitchFamily="34" charset="0"/>
              </a:rPr>
              <a:t>Delay in commissioning of projects causing time and cost over run</a:t>
            </a:r>
          </a:p>
          <a:p>
            <a:pPr marL="171450" lvl="1" indent="-171450" defTabSz="1018538">
              <a:spcBef>
                <a:spcPts val="600"/>
              </a:spcBef>
              <a:spcAft>
                <a:spcPts val="200"/>
              </a:spcAft>
              <a:buFont typeface="Arial" panose="020B0604020202020204" pitchFamily="34" charset="0"/>
              <a:buChar char="•"/>
              <a:tabLst>
                <a:tab pos="109855" algn="l"/>
              </a:tabLst>
              <a:defRPr/>
            </a:pPr>
            <a:r>
              <a:rPr lang="en-US" sz="1400" kern="0" dirty="0">
                <a:ea typeface="Verdana" panose="020B0604030504040204" pitchFamily="34" charset="0"/>
                <a:cs typeface="Calibri" panose="020F0502020204030204" pitchFamily="34" charset="0"/>
              </a:rPr>
              <a:t>Inability of the promoter to infuse equity </a:t>
            </a:r>
          </a:p>
          <a:p>
            <a:pPr marL="171450" lvl="1" indent="-171450" defTabSz="1018538">
              <a:spcBef>
                <a:spcPts val="600"/>
              </a:spcBef>
              <a:spcAft>
                <a:spcPts val="200"/>
              </a:spcAft>
              <a:buFont typeface="Arial" panose="020B0604020202020204" pitchFamily="34" charset="0"/>
              <a:buChar char="•"/>
              <a:tabLst>
                <a:tab pos="109855" algn="l"/>
              </a:tabLst>
              <a:defRPr/>
            </a:pPr>
            <a:r>
              <a:rPr lang="en-US" sz="1400" kern="0" dirty="0">
                <a:ea typeface="Verdana" panose="020B0604030504040204" pitchFamily="34" charset="0"/>
                <a:cs typeface="Calibri" panose="020F0502020204030204" pitchFamily="34" charset="0"/>
              </a:rPr>
              <a:t>Inadequate supply of coal under FSA leading to procurement of high-cost coal from e-auction and open market resulting in increased cost of generation</a:t>
            </a:r>
          </a:p>
          <a:p>
            <a:pPr marL="171450" lvl="1" indent="-171450" defTabSz="1018538">
              <a:spcBef>
                <a:spcPts val="600"/>
              </a:spcBef>
              <a:spcAft>
                <a:spcPts val="200"/>
              </a:spcAft>
              <a:buFont typeface="Arial" panose="020B0604020202020204" pitchFamily="34" charset="0"/>
              <a:buChar char="•"/>
              <a:tabLst>
                <a:tab pos="109855" algn="l"/>
              </a:tabLst>
              <a:defRPr/>
            </a:pPr>
            <a:r>
              <a:rPr lang="en-US" sz="1400" kern="0" dirty="0">
                <a:ea typeface="Verdana" panose="020B0604030504040204" pitchFamily="34" charset="0"/>
                <a:cs typeface="Calibri" panose="020F0502020204030204" pitchFamily="34" charset="0"/>
              </a:rPr>
              <a:t>Delay in receipt of dues from DISCOMs</a:t>
            </a:r>
          </a:p>
          <a:p>
            <a:pPr marL="171450" lvl="1" indent="-171450" defTabSz="1018538">
              <a:spcBef>
                <a:spcPts val="600"/>
              </a:spcBef>
              <a:spcAft>
                <a:spcPts val="200"/>
              </a:spcAft>
              <a:buFont typeface="Arial" panose="020B0604020202020204" pitchFamily="34" charset="0"/>
              <a:buChar char="•"/>
              <a:tabLst>
                <a:tab pos="109855" algn="l"/>
              </a:tabLst>
              <a:defRPr/>
            </a:pPr>
            <a:r>
              <a:rPr lang="en-US" sz="1400" kern="0" dirty="0">
                <a:ea typeface="Verdana" panose="020B0604030504040204" pitchFamily="34" charset="0"/>
                <a:cs typeface="Calibri" panose="020F0502020204030204" pitchFamily="34" charset="0"/>
              </a:rPr>
              <a:t>Delay in recovery of proceeds attributable to change in law events</a:t>
            </a:r>
          </a:p>
          <a:p>
            <a:pPr marL="171450" lvl="1" indent="-171450" defTabSz="1018538">
              <a:spcBef>
                <a:spcPts val="600"/>
              </a:spcBef>
              <a:spcAft>
                <a:spcPts val="200"/>
              </a:spcAft>
              <a:buFont typeface="Arial" panose="020B0604020202020204" pitchFamily="34" charset="0"/>
              <a:buChar char="•"/>
              <a:tabLst>
                <a:tab pos="109855" algn="l"/>
              </a:tabLst>
              <a:defRPr/>
            </a:pPr>
            <a:r>
              <a:rPr lang="en-US" sz="1400" kern="0" dirty="0">
                <a:ea typeface="Verdana" panose="020B0604030504040204" pitchFamily="34" charset="0"/>
                <a:cs typeface="Calibri" panose="020F0502020204030204" pitchFamily="34" charset="0"/>
              </a:rPr>
              <a:t>Working capital issues</a:t>
            </a:r>
          </a:p>
          <a:p>
            <a:pPr marL="171450" lvl="1" indent="-171450" defTabSz="1018538">
              <a:spcBef>
                <a:spcPts val="600"/>
              </a:spcBef>
              <a:spcAft>
                <a:spcPts val="200"/>
              </a:spcAft>
              <a:buFont typeface="Arial" panose="020B0604020202020204" pitchFamily="34" charset="0"/>
              <a:buChar char="•"/>
              <a:tabLst>
                <a:tab pos="109855" algn="l"/>
              </a:tabLst>
              <a:defRPr/>
            </a:pPr>
            <a:r>
              <a:rPr lang="en-US" sz="1400" kern="0" dirty="0">
                <a:ea typeface="Verdana" panose="020B0604030504040204" pitchFamily="34" charset="0"/>
                <a:cs typeface="Calibri" panose="020F0502020204030204" pitchFamily="34" charset="0"/>
              </a:rPr>
              <a:t>Locational challenges – floods causing operational inefficiencies, local disturbance – R&amp;R issues, etc.</a:t>
            </a:r>
          </a:p>
          <a:p>
            <a:pPr marL="171450" lvl="1" indent="-171450" defTabSz="1018538">
              <a:spcBef>
                <a:spcPts val="600"/>
              </a:spcBef>
              <a:spcAft>
                <a:spcPts val="200"/>
              </a:spcAft>
              <a:buFont typeface="Arial" panose="020B0604020202020204" pitchFamily="34" charset="0"/>
              <a:buChar char="•"/>
              <a:tabLst>
                <a:tab pos="109855" algn="l"/>
              </a:tabLst>
              <a:defRPr/>
            </a:pPr>
            <a:endParaRPr lang="en-US" sz="1400" kern="0" dirty="0">
              <a:ea typeface="Verdana" panose="020B0604030504040204" pitchFamily="34" charset="0"/>
              <a:cs typeface="Calibri" panose="020F0502020204030204" pitchFamily="34" charset="0"/>
            </a:endParaRPr>
          </a:p>
        </p:txBody>
      </p:sp>
      <p:sp>
        <p:nvSpPr>
          <p:cNvPr id="20" name="Rectangle 19">
            <a:extLst>
              <a:ext uri="{FF2B5EF4-FFF2-40B4-BE49-F238E27FC236}">
                <a16:creationId xmlns:a16="http://schemas.microsoft.com/office/drawing/2014/main" id="{90202310-7666-40B5-A6C5-900F47EDD9AD}"/>
              </a:ext>
            </a:extLst>
          </p:cNvPr>
          <p:cNvSpPr/>
          <p:nvPr/>
        </p:nvSpPr>
        <p:spPr bwMode="gray">
          <a:xfrm>
            <a:off x="6266739" y="1730732"/>
            <a:ext cx="5295051" cy="422159"/>
          </a:xfrm>
          <a:prstGeom prst="rect">
            <a:avLst/>
          </a:prstGeom>
          <a:solidFill>
            <a:srgbClr val="0D8390"/>
          </a:solidFill>
          <a:ln w="19050" algn="ctr">
            <a:noFill/>
            <a:miter lim="800000"/>
            <a:headEnd/>
            <a:tailEnd/>
          </a:ln>
        </p:spPr>
        <p:txBody>
          <a:bodyPr wrap="square" lIns="108000" tIns="0" rIns="88900" bIns="0" rtlCol="0" anchor="ctr" anchorCtr="0"/>
          <a:lstStyle/>
          <a:p>
            <a:pPr lvl="0" algn="ctr" defTabSz="1219170">
              <a:defRPr/>
            </a:pPr>
            <a:r>
              <a:rPr lang="en-US" sz="1400" b="1" kern="0" dirty="0">
                <a:solidFill>
                  <a:prstClr val="white"/>
                </a:solidFill>
                <a:latin typeface="+mj-lt"/>
              </a:rPr>
              <a:t>Few Key Issues in Power Sector</a:t>
            </a:r>
          </a:p>
        </p:txBody>
      </p:sp>
    </p:spTree>
    <p:extLst>
      <p:ext uri="{BB962C8B-B14F-4D97-AF65-F5344CB8AC3E}">
        <p14:creationId xmlns:p14="http://schemas.microsoft.com/office/powerpoint/2010/main" val="274804422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9FE2A-EC0B-4EBB-91D9-CA37432B4834}"/>
              </a:ext>
            </a:extLst>
          </p:cNvPr>
          <p:cNvSpPr>
            <a:spLocks noGrp="1"/>
          </p:cNvSpPr>
          <p:nvPr>
            <p:ph type="title"/>
          </p:nvPr>
        </p:nvSpPr>
        <p:spPr>
          <a:xfrm>
            <a:off x="501650" y="282776"/>
            <a:ext cx="11201400" cy="334099"/>
          </a:xfrm>
        </p:spPr>
        <p:txBody>
          <a:bodyPr/>
          <a:lstStyle/>
          <a:p>
            <a:r>
              <a:rPr lang="en-US" sz="1800" dirty="0">
                <a:latin typeface="+mn-lt"/>
              </a:rPr>
              <a:t>Brief Overview </a:t>
            </a:r>
          </a:p>
        </p:txBody>
      </p:sp>
      <p:sp>
        <p:nvSpPr>
          <p:cNvPr id="3" name="Text Placeholder 2">
            <a:extLst>
              <a:ext uri="{FF2B5EF4-FFF2-40B4-BE49-F238E27FC236}">
                <a16:creationId xmlns:a16="http://schemas.microsoft.com/office/drawing/2014/main" id="{AF55AF75-6519-4763-AAFD-E9DBF8672EA9}"/>
              </a:ext>
            </a:extLst>
          </p:cNvPr>
          <p:cNvSpPr>
            <a:spLocks noGrp="1"/>
          </p:cNvSpPr>
          <p:nvPr>
            <p:ph type="body" sz="quarter" idx="13"/>
          </p:nvPr>
        </p:nvSpPr>
        <p:spPr>
          <a:xfrm>
            <a:off x="501650" y="616877"/>
            <a:ext cx="11201400" cy="343082"/>
          </a:xfrm>
        </p:spPr>
        <p:txBody>
          <a:bodyPr/>
          <a:lstStyle/>
          <a:p>
            <a:r>
              <a:rPr lang="en-US" sz="2000" dirty="0">
                <a:solidFill>
                  <a:schemeClr val="tx1">
                    <a:lumMod val="50000"/>
                    <a:lumOff val="50000"/>
                  </a:schemeClr>
                </a:solidFill>
              </a:rPr>
              <a:t>Stressed Asset Space in India</a:t>
            </a:r>
          </a:p>
        </p:txBody>
      </p:sp>
      <p:sp>
        <p:nvSpPr>
          <p:cNvPr id="30" name="Text Placeholder 1">
            <a:extLst>
              <a:ext uri="{FF2B5EF4-FFF2-40B4-BE49-F238E27FC236}">
                <a16:creationId xmlns:a16="http://schemas.microsoft.com/office/drawing/2014/main" id="{938EA827-3341-4687-B167-4BBB38229212}"/>
              </a:ext>
            </a:extLst>
          </p:cNvPr>
          <p:cNvSpPr txBox="1">
            <a:spLocks/>
          </p:cNvSpPr>
          <p:nvPr/>
        </p:nvSpPr>
        <p:spPr>
          <a:xfrm>
            <a:off x="2870522" y="1032301"/>
            <a:ext cx="8715736" cy="713102"/>
          </a:xfrm>
          <a:prstGeom prst="rect">
            <a:avLst/>
          </a:prstGeom>
          <a:ln w="12700">
            <a:solidFill>
              <a:schemeClr val="tx1"/>
            </a:solidFill>
          </a:ln>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509588" indent="-336550">
              <a:spcAft>
                <a:spcPts val="600"/>
              </a:spcAft>
              <a:buFont typeface="Arial" panose="020B0604020202020204" pitchFamily="34" charset="0"/>
              <a:buChar char="•"/>
            </a:pPr>
            <a:r>
              <a:rPr lang="en-US" sz="1400" dirty="0">
                <a:solidFill>
                  <a:schemeClr val="tx1"/>
                </a:solidFill>
              </a:rPr>
              <a:t>Total stressed assets (NPAs) in India rose to more than INR 10,00,000 crore as on March 2018. This amount reduced to ~ INR 8,00,000 in September 2020</a:t>
            </a:r>
          </a:p>
          <a:p>
            <a:pPr marL="509588" indent="-336550">
              <a:spcAft>
                <a:spcPts val="600"/>
              </a:spcAft>
              <a:buFont typeface="Arial" panose="020B0604020202020204" pitchFamily="34" charset="0"/>
              <a:buChar char="•"/>
            </a:pPr>
            <a:r>
              <a:rPr lang="en-US" sz="1400" dirty="0">
                <a:solidFill>
                  <a:schemeClr val="tx1"/>
                </a:solidFill>
              </a:rPr>
              <a:t>Stress attributable by power sector comprises of ~ 24% of the total portfolio of stressed assets in the country</a:t>
            </a:r>
            <a:endParaRPr lang="en-US" sz="1400" i="1" dirty="0">
              <a:solidFill>
                <a:schemeClr val="accent3"/>
              </a:solidFill>
            </a:endParaRPr>
          </a:p>
          <a:p>
            <a:endParaRPr lang="en-US" sz="1600" i="1" dirty="0">
              <a:solidFill>
                <a:schemeClr val="accent3"/>
              </a:solidFill>
            </a:endParaRPr>
          </a:p>
        </p:txBody>
      </p:sp>
      <p:sp>
        <p:nvSpPr>
          <p:cNvPr id="9" name="Rectangle 8">
            <a:extLst>
              <a:ext uri="{FF2B5EF4-FFF2-40B4-BE49-F238E27FC236}">
                <a16:creationId xmlns:a16="http://schemas.microsoft.com/office/drawing/2014/main" id="{7E334F3A-12EC-4AC9-8A0D-01C3EEAFC7C4}"/>
              </a:ext>
            </a:extLst>
          </p:cNvPr>
          <p:cNvSpPr/>
          <p:nvPr/>
        </p:nvSpPr>
        <p:spPr bwMode="gray">
          <a:xfrm>
            <a:off x="501650" y="1032300"/>
            <a:ext cx="2130158" cy="797399"/>
          </a:xfrm>
          <a:prstGeom prst="rect">
            <a:avLst/>
          </a:prstGeom>
          <a:solidFill>
            <a:srgbClr val="0D8390"/>
          </a:solidFill>
          <a:ln w="19050" algn="ctr">
            <a:noFill/>
            <a:miter lim="800000"/>
            <a:headEnd/>
            <a:tailEnd/>
          </a:ln>
        </p:spPr>
        <p:txBody>
          <a:bodyPr wrap="square" lIns="108000" tIns="0" rIns="88900" bIns="0" rtlCol="0" anchor="ctr" anchorCtr="0"/>
          <a:lstStyle/>
          <a:p>
            <a:pPr lvl="0" algn="ctr" defTabSz="1219170">
              <a:defRPr/>
            </a:pPr>
            <a:r>
              <a:rPr lang="en-US" sz="1400" b="1" kern="0" dirty="0">
                <a:solidFill>
                  <a:prstClr val="white"/>
                </a:solidFill>
                <a:latin typeface="+mj-lt"/>
              </a:rPr>
              <a:t>Total stressed assets &amp; contribution by power sector</a:t>
            </a:r>
          </a:p>
        </p:txBody>
      </p:sp>
      <p:sp>
        <p:nvSpPr>
          <p:cNvPr id="11" name="Text Placeholder 1">
            <a:extLst>
              <a:ext uri="{FF2B5EF4-FFF2-40B4-BE49-F238E27FC236}">
                <a16:creationId xmlns:a16="http://schemas.microsoft.com/office/drawing/2014/main" id="{2F543AF4-C2D5-408F-8DF5-06F8F7A0482F}"/>
              </a:ext>
            </a:extLst>
          </p:cNvPr>
          <p:cNvSpPr txBox="1">
            <a:spLocks/>
          </p:cNvSpPr>
          <p:nvPr/>
        </p:nvSpPr>
        <p:spPr>
          <a:xfrm>
            <a:off x="2870522" y="1796230"/>
            <a:ext cx="8715736" cy="1450387"/>
          </a:xfrm>
          <a:prstGeom prst="rect">
            <a:avLst/>
          </a:prstGeom>
          <a:ln w="12700">
            <a:solidFill>
              <a:schemeClr val="tx1"/>
            </a:solidFill>
          </a:ln>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509588" indent="-336550">
              <a:spcAft>
                <a:spcPts val="600"/>
              </a:spcAft>
              <a:buFont typeface="Arial" panose="020B0604020202020204" pitchFamily="34" charset="0"/>
              <a:buChar char="•"/>
            </a:pPr>
            <a:r>
              <a:rPr lang="en-US" sz="1400" dirty="0">
                <a:solidFill>
                  <a:schemeClr val="tx1"/>
                </a:solidFill>
              </a:rPr>
              <a:t>Resolution  mechanism for projects already resolved mostly include resolution by way of IBC / restructuring / change in ownership outside IBC</a:t>
            </a:r>
          </a:p>
          <a:p>
            <a:pPr marL="509588" indent="-336550">
              <a:spcAft>
                <a:spcPts val="600"/>
              </a:spcAft>
              <a:buFont typeface="Arial" panose="020B0604020202020204" pitchFamily="34" charset="0"/>
              <a:buChar char="•"/>
            </a:pPr>
            <a:r>
              <a:rPr lang="en-US" sz="1400" dirty="0">
                <a:solidFill>
                  <a:schemeClr val="tx1"/>
                </a:solidFill>
              </a:rPr>
              <a:t>Deloitte provided professional advisory services to Resolution Professional of Korba West Power Company Limited during CIR process  - </a:t>
            </a:r>
            <a:r>
              <a:rPr lang="en-US" sz="1400" u="sng" dirty="0">
                <a:solidFill>
                  <a:schemeClr val="tx1"/>
                </a:solidFill>
              </a:rPr>
              <a:t>power asset resolved through IBC route</a:t>
            </a:r>
          </a:p>
          <a:p>
            <a:pPr marL="509588" indent="-336550">
              <a:spcAft>
                <a:spcPts val="600"/>
              </a:spcAft>
              <a:buFont typeface="Arial" panose="020B0604020202020204" pitchFamily="34" charset="0"/>
              <a:buChar char="•"/>
            </a:pPr>
            <a:r>
              <a:rPr lang="en-US" sz="1400" dirty="0">
                <a:solidFill>
                  <a:schemeClr val="tx1"/>
                </a:solidFill>
              </a:rPr>
              <a:t>~ 75% of the total projects which are likely to be resolved are currently under various stages of NCLT. Apart from these projects, ~14% have been referred to NCLT</a:t>
            </a:r>
            <a:endParaRPr lang="en-US" sz="1400" i="1" dirty="0">
              <a:solidFill>
                <a:schemeClr val="accent3"/>
              </a:solidFill>
            </a:endParaRPr>
          </a:p>
        </p:txBody>
      </p:sp>
      <p:sp>
        <p:nvSpPr>
          <p:cNvPr id="13" name="Rectangle 12">
            <a:extLst>
              <a:ext uri="{FF2B5EF4-FFF2-40B4-BE49-F238E27FC236}">
                <a16:creationId xmlns:a16="http://schemas.microsoft.com/office/drawing/2014/main" id="{381EDD6F-26C3-4D8C-B2C6-A6B9F4A44C52}"/>
              </a:ext>
            </a:extLst>
          </p:cNvPr>
          <p:cNvSpPr/>
          <p:nvPr/>
        </p:nvSpPr>
        <p:spPr bwMode="gray">
          <a:xfrm>
            <a:off x="501650" y="1863160"/>
            <a:ext cx="2130158" cy="1383101"/>
          </a:xfrm>
          <a:prstGeom prst="rect">
            <a:avLst/>
          </a:prstGeom>
          <a:solidFill>
            <a:srgbClr val="0D8390"/>
          </a:solidFill>
          <a:ln w="19050" algn="ctr">
            <a:noFill/>
            <a:miter lim="800000"/>
            <a:headEnd/>
            <a:tailEnd/>
          </a:ln>
        </p:spPr>
        <p:txBody>
          <a:bodyPr wrap="square" lIns="108000" tIns="0" rIns="88900" bIns="0" rtlCol="0" anchor="ctr" anchorCtr="0"/>
          <a:lstStyle/>
          <a:p>
            <a:pPr lvl="0" algn="ctr" defTabSz="1219170">
              <a:defRPr/>
            </a:pPr>
            <a:r>
              <a:rPr lang="en-US" sz="1400" b="1" kern="0" dirty="0">
                <a:solidFill>
                  <a:prstClr val="white"/>
                </a:solidFill>
                <a:latin typeface="+mj-lt"/>
              </a:rPr>
              <a:t>Resolution Mechanism being followed for stressed assets</a:t>
            </a:r>
          </a:p>
        </p:txBody>
      </p:sp>
      <p:sp>
        <p:nvSpPr>
          <p:cNvPr id="14" name="Text Placeholder 1">
            <a:extLst>
              <a:ext uri="{FF2B5EF4-FFF2-40B4-BE49-F238E27FC236}">
                <a16:creationId xmlns:a16="http://schemas.microsoft.com/office/drawing/2014/main" id="{8EC020C9-7C5E-4FA1-B1BC-FDDEC523E5FA}"/>
              </a:ext>
            </a:extLst>
          </p:cNvPr>
          <p:cNvSpPr txBox="1">
            <a:spLocks/>
          </p:cNvSpPr>
          <p:nvPr/>
        </p:nvSpPr>
        <p:spPr>
          <a:xfrm>
            <a:off x="2870522" y="3293530"/>
            <a:ext cx="8715736" cy="3281694"/>
          </a:xfrm>
          <a:prstGeom prst="rect">
            <a:avLst/>
          </a:prstGeom>
          <a:ln w="12700">
            <a:solidFill>
              <a:schemeClr val="tx1"/>
            </a:solidFill>
          </a:ln>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509588" indent="-336550">
              <a:spcAft>
                <a:spcPts val="200"/>
              </a:spcAft>
              <a:buFont typeface="Arial" panose="020B0604020202020204" pitchFamily="34" charset="0"/>
              <a:buChar char="•"/>
            </a:pPr>
            <a:r>
              <a:rPr lang="en-US" sz="1400" dirty="0">
                <a:solidFill>
                  <a:schemeClr val="tx1"/>
                </a:solidFill>
              </a:rPr>
              <a:t>50+ successful M&amp;A transactions in last 5 years (Agg. value – over USD 20 Bn). Illustrative list of key power sector credentials by Deloitte include –</a:t>
            </a:r>
          </a:p>
          <a:p>
            <a:pPr marL="649288" lvl="1" indent="-336550">
              <a:spcAft>
                <a:spcPts val="100"/>
              </a:spcAft>
              <a:buFont typeface="Courier New" panose="02070309020205020404" pitchFamily="49" charset="0"/>
              <a:buChar char="o"/>
            </a:pPr>
            <a:r>
              <a:rPr lang="en-US" sz="1400" b="0" dirty="0"/>
              <a:t>Deloitte provided professional advisory services to RP during CIRP of Korba West (Taken over by Adani Power for INR 2,700 crore)</a:t>
            </a:r>
          </a:p>
          <a:p>
            <a:pPr marL="649288" lvl="1" indent="-336550">
              <a:spcAft>
                <a:spcPts val="100"/>
              </a:spcAft>
              <a:buFont typeface="Courier New" panose="02070309020205020404" pitchFamily="49" charset="0"/>
              <a:buChar char="o"/>
            </a:pPr>
            <a:r>
              <a:rPr lang="en-US" sz="1400" b="0" dirty="0"/>
              <a:t>Portfolio advisory services on resolution of stressed assets to Power Finance Corporation (PFC)</a:t>
            </a:r>
          </a:p>
          <a:p>
            <a:pPr marL="649288" lvl="1" indent="-336550">
              <a:spcAft>
                <a:spcPts val="100"/>
              </a:spcAft>
              <a:buFont typeface="Courier New" panose="02070309020205020404" pitchFamily="49" charset="0"/>
              <a:buChar char="o"/>
            </a:pPr>
            <a:r>
              <a:rPr lang="en-US" sz="1400" b="0" dirty="0"/>
              <a:t>Assisted PFC  in acquisition of 52.63% stake in REC Ltd held by Government of India for INR 14,500 crore.</a:t>
            </a:r>
          </a:p>
          <a:p>
            <a:pPr marL="649288" lvl="1" indent="-336550">
              <a:spcAft>
                <a:spcPts val="100"/>
              </a:spcAft>
              <a:buFont typeface="Courier New" panose="02070309020205020404" pitchFamily="49" charset="0"/>
              <a:buChar char="o"/>
            </a:pPr>
            <a:r>
              <a:rPr lang="en-US" sz="1400" b="0" dirty="0"/>
              <a:t>Process advisor to CoC of Jal Power Corp</a:t>
            </a:r>
          </a:p>
          <a:p>
            <a:pPr marL="649288" lvl="1" indent="-336550">
              <a:spcAft>
                <a:spcPts val="600"/>
              </a:spcAft>
              <a:buFont typeface="Courier New" panose="02070309020205020404" pitchFamily="49" charset="0"/>
              <a:buChar char="o"/>
            </a:pPr>
            <a:r>
              <a:rPr lang="en-US" sz="1400" b="0" dirty="0"/>
              <a:t>Assisted DIPAM in strategic sale of GoI's existing total paid up equity shareholding i.e., c. 74.49% in THDC India Limited to NTPC Limited</a:t>
            </a:r>
          </a:p>
          <a:p>
            <a:pPr marL="509588" indent="-336550">
              <a:spcAft>
                <a:spcPts val="200"/>
              </a:spcAft>
              <a:buFont typeface="Arial" panose="020B0604020202020204" pitchFamily="34" charset="0"/>
              <a:buChar char="•"/>
            </a:pPr>
            <a:r>
              <a:rPr lang="en-US" sz="1400" dirty="0">
                <a:solidFill>
                  <a:schemeClr val="tx1"/>
                </a:solidFill>
              </a:rPr>
              <a:t>Deloitte provided professional advisory services to RP during CIRP of a few other power assets like Simhapuri, Corporate Power, Ind-Barath Gencom, Maa Durga</a:t>
            </a:r>
          </a:p>
          <a:p>
            <a:pPr marL="509588" indent="-336550">
              <a:spcAft>
                <a:spcPts val="200"/>
              </a:spcAft>
              <a:buFont typeface="Arial" panose="020B0604020202020204" pitchFamily="34" charset="0"/>
              <a:buChar char="•"/>
            </a:pPr>
            <a:r>
              <a:rPr lang="en-US" sz="1400" dirty="0">
                <a:solidFill>
                  <a:schemeClr val="tx1"/>
                </a:solidFill>
              </a:rPr>
              <a:t>Further, Deloitte is assisting in restructuring of a few projects under RBI June 07 circular</a:t>
            </a:r>
          </a:p>
          <a:p>
            <a:pPr marL="509588" indent="-336550">
              <a:spcAft>
                <a:spcPts val="200"/>
              </a:spcAft>
              <a:buFont typeface="Arial" panose="020B0604020202020204" pitchFamily="34" charset="0"/>
              <a:buChar char="•"/>
            </a:pPr>
            <a:r>
              <a:rPr lang="en-US" sz="1400" dirty="0">
                <a:solidFill>
                  <a:schemeClr val="tx1"/>
                </a:solidFill>
              </a:rPr>
              <a:t>Providing professional advisory services to resolution professional of a stressed transmission sector asset</a:t>
            </a:r>
          </a:p>
          <a:p>
            <a:pPr marL="509588" indent="-336550">
              <a:spcAft>
                <a:spcPts val="200"/>
              </a:spcAft>
              <a:buFont typeface="Arial" panose="020B0604020202020204" pitchFamily="34" charset="0"/>
              <a:buChar char="•"/>
            </a:pPr>
            <a:r>
              <a:rPr lang="en-US" sz="1400" dirty="0">
                <a:solidFill>
                  <a:schemeClr val="tx1"/>
                </a:solidFill>
              </a:rPr>
              <a:t>Deal team has an extensive experience of working in power sector space in the current and previous employment</a:t>
            </a:r>
          </a:p>
        </p:txBody>
      </p:sp>
      <p:sp>
        <p:nvSpPr>
          <p:cNvPr id="15" name="Rectangle 14">
            <a:extLst>
              <a:ext uri="{FF2B5EF4-FFF2-40B4-BE49-F238E27FC236}">
                <a16:creationId xmlns:a16="http://schemas.microsoft.com/office/drawing/2014/main" id="{6C4F77D2-4CDB-497E-AF1F-7B0E210CF740}"/>
              </a:ext>
            </a:extLst>
          </p:cNvPr>
          <p:cNvSpPr/>
          <p:nvPr/>
        </p:nvSpPr>
        <p:spPr bwMode="gray">
          <a:xfrm>
            <a:off x="501650" y="3293529"/>
            <a:ext cx="2130158" cy="3130420"/>
          </a:xfrm>
          <a:prstGeom prst="rect">
            <a:avLst/>
          </a:prstGeom>
          <a:solidFill>
            <a:srgbClr val="0D8390"/>
          </a:solidFill>
          <a:ln w="19050" algn="ctr">
            <a:noFill/>
            <a:miter lim="800000"/>
            <a:headEnd/>
            <a:tailEnd/>
          </a:ln>
        </p:spPr>
        <p:txBody>
          <a:bodyPr wrap="square" lIns="108000" tIns="0" rIns="88900" bIns="0" rtlCol="0" anchor="ctr" anchorCtr="0"/>
          <a:lstStyle/>
          <a:p>
            <a:pPr lvl="0" algn="ctr" defTabSz="1219170">
              <a:defRPr/>
            </a:pPr>
            <a:r>
              <a:rPr lang="en-US" sz="1400" b="1" kern="0" dirty="0">
                <a:solidFill>
                  <a:prstClr val="white"/>
                </a:solidFill>
                <a:latin typeface="+mj-lt"/>
              </a:rPr>
              <a:t>Why Deloitte and Why this team ?</a:t>
            </a:r>
          </a:p>
        </p:txBody>
      </p:sp>
    </p:spTree>
    <p:extLst>
      <p:ext uri="{BB962C8B-B14F-4D97-AF65-F5344CB8AC3E}">
        <p14:creationId xmlns:p14="http://schemas.microsoft.com/office/powerpoint/2010/main" val="403339578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9FE2A-EC0B-4EBB-91D9-CA37432B4834}"/>
              </a:ext>
            </a:extLst>
          </p:cNvPr>
          <p:cNvSpPr>
            <a:spLocks noGrp="1"/>
          </p:cNvSpPr>
          <p:nvPr>
            <p:ph type="title"/>
          </p:nvPr>
        </p:nvSpPr>
        <p:spPr/>
        <p:txBody>
          <a:bodyPr/>
          <a:lstStyle/>
          <a:p>
            <a:r>
              <a:rPr lang="en-US" sz="1600" dirty="0"/>
              <a:t>Our </a:t>
            </a:r>
            <a:r>
              <a:rPr lang="en-US" sz="1600" b="1" dirty="0"/>
              <a:t>Approach</a:t>
            </a:r>
            <a:r>
              <a:rPr lang="en-US" sz="1600" dirty="0"/>
              <a:t> &amp; Methodology </a:t>
            </a:r>
          </a:p>
        </p:txBody>
      </p:sp>
      <p:sp>
        <p:nvSpPr>
          <p:cNvPr id="3" name="Text Placeholder 2">
            <a:extLst>
              <a:ext uri="{FF2B5EF4-FFF2-40B4-BE49-F238E27FC236}">
                <a16:creationId xmlns:a16="http://schemas.microsoft.com/office/drawing/2014/main" id="{AF55AF75-6519-4763-AAFD-E9DBF8672EA9}"/>
              </a:ext>
            </a:extLst>
          </p:cNvPr>
          <p:cNvSpPr>
            <a:spLocks noGrp="1"/>
          </p:cNvSpPr>
          <p:nvPr>
            <p:ph type="body" sz="quarter" idx="13"/>
          </p:nvPr>
        </p:nvSpPr>
        <p:spPr/>
        <p:txBody>
          <a:bodyPr/>
          <a:lstStyle/>
          <a:p>
            <a:r>
              <a:rPr lang="en-US" sz="2000" dirty="0">
                <a:solidFill>
                  <a:schemeClr val="tx1">
                    <a:lumMod val="50000"/>
                    <a:lumOff val="50000"/>
                  </a:schemeClr>
                </a:solidFill>
              </a:rPr>
              <a:t>Module 2: Assistance in Management of stressed assets</a:t>
            </a:r>
          </a:p>
        </p:txBody>
      </p:sp>
      <p:graphicFrame>
        <p:nvGraphicFramePr>
          <p:cNvPr id="5" name="Table 4">
            <a:extLst>
              <a:ext uri="{FF2B5EF4-FFF2-40B4-BE49-F238E27FC236}">
                <a16:creationId xmlns:a16="http://schemas.microsoft.com/office/drawing/2014/main" id="{017631B4-7B0E-4FA2-BF9C-6FEC986A576D}"/>
              </a:ext>
            </a:extLst>
          </p:cNvPr>
          <p:cNvGraphicFramePr>
            <a:graphicFrameLocks noGrp="1"/>
          </p:cNvGraphicFramePr>
          <p:nvPr/>
        </p:nvGraphicFramePr>
        <p:xfrm>
          <a:off x="5885532" y="2640154"/>
          <a:ext cx="5817518" cy="1670527"/>
        </p:xfrm>
        <a:graphic>
          <a:graphicData uri="http://schemas.openxmlformats.org/drawingml/2006/table">
            <a:tbl>
              <a:tblPr firstRow="1" bandRow="1"/>
              <a:tblGrid>
                <a:gridCol w="1506254">
                  <a:extLst>
                    <a:ext uri="{9D8B030D-6E8A-4147-A177-3AD203B41FA5}">
                      <a16:colId xmlns:a16="http://schemas.microsoft.com/office/drawing/2014/main" val="1519637469"/>
                    </a:ext>
                  </a:extLst>
                </a:gridCol>
                <a:gridCol w="1018572">
                  <a:extLst>
                    <a:ext uri="{9D8B030D-6E8A-4147-A177-3AD203B41FA5}">
                      <a16:colId xmlns:a16="http://schemas.microsoft.com/office/drawing/2014/main" val="679067988"/>
                    </a:ext>
                  </a:extLst>
                </a:gridCol>
                <a:gridCol w="1377387">
                  <a:extLst>
                    <a:ext uri="{9D8B030D-6E8A-4147-A177-3AD203B41FA5}">
                      <a16:colId xmlns:a16="http://schemas.microsoft.com/office/drawing/2014/main" val="2807693579"/>
                    </a:ext>
                  </a:extLst>
                </a:gridCol>
                <a:gridCol w="1915305">
                  <a:extLst>
                    <a:ext uri="{9D8B030D-6E8A-4147-A177-3AD203B41FA5}">
                      <a16:colId xmlns:a16="http://schemas.microsoft.com/office/drawing/2014/main" val="3542053691"/>
                    </a:ext>
                  </a:extLst>
                </a:gridCol>
              </a:tblGrid>
              <a:tr h="300155">
                <a:tc>
                  <a:txBody>
                    <a:bodyPr/>
                    <a:lstStyle/>
                    <a:p>
                      <a:pPr marL="91440" marR="0" algn="just">
                        <a:lnSpc>
                          <a:spcPts val="1200"/>
                        </a:lnSpc>
                        <a:spcBef>
                          <a:spcPts val="300"/>
                        </a:spcBef>
                        <a:spcAft>
                          <a:spcPts val="300"/>
                        </a:spcAft>
                      </a:pPr>
                      <a:r>
                        <a:rPr lang="en-US" sz="1400" b="1" dirty="0">
                          <a:solidFill>
                            <a:schemeClr val="accent4"/>
                          </a:solidFill>
                          <a:effectLst/>
                          <a:latin typeface="+mn-lt"/>
                          <a:ea typeface="Verdana" panose="020B0604030504040204" pitchFamily="34" charset="0"/>
                          <a:cs typeface="Times New Roman" panose="02020603050405020304" pitchFamily="18" charset="0"/>
                        </a:rPr>
                        <a:t>State</a:t>
                      </a:r>
                      <a:endParaRPr lang="en-US" sz="1400" dirty="0">
                        <a:solidFill>
                          <a:schemeClr val="accent4"/>
                        </a:solidFill>
                        <a:effectLst/>
                        <a:latin typeface="+mn-lt"/>
                        <a:ea typeface="Verdana" panose="020B0604030504040204" pitchFamily="34" charset="0"/>
                        <a:cs typeface="Times New Roman" panose="02020603050405020304" pitchFamily="18" charset="0"/>
                      </a:endParaRP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400" b="1" dirty="0">
                          <a:solidFill>
                            <a:schemeClr val="accent4"/>
                          </a:solidFill>
                          <a:effectLst/>
                          <a:latin typeface="+mn-lt"/>
                          <a:ea typeface="Verdana" panose="020B0604030504040204" pitchFamily="34" charset="0"/>
                          <a:cs typeface="Times New Roman" panose="02020603050405020304" pitchFamily="18" charset="0"/>
                        </a:rPr>
                        <a:t>O/s Loan</a:t>
                      </a:r>
                      <a:endParaRPr lang="en-US" sz="1400" dirty="0">
                        <a:solidFill>
                          <a:schemeClr val="accent4"/>
                        </a:solidFill>
                        <a:effectLst/>
                        <a:latin typeface="+mn-lt"/>
                        <a:ea typeface="Verdana" panose="020B0604030504040204" pitchFamily="34" charset="0"/>
                        <a:cs typeface="Times New Roman" panose="02020603050405020304" pitchFamily="18" charset="0"/>
                      </a:endParaRP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400" b="1" dirty="0">
                          <a:solidFill>
                            <a:schemeClr val="accent4"/>
                          </a:solidFill>
                          <a:effectLst/>
                          <a:latin typeface="+mn-lt"/>
                          <a:ea typeface="Verdana" panose="020B0604030504040204" pitchFamily="34" charset="0"/>
                          <a:cs typeface="Times New Roman" panose="02020603050405020304" pitchFamily="18" charset="0"/>
                        </a:rPr>
                        <a:t>ECL</a:t>
                      </a:r>
                      <a:endParaRPr lang="en-US" sz="1400" dirty="0">
                        <a:solidFill>
                          <a:schemeClr val="accent4"/>
                        </a:solidFill>
                        <a:effectLst/>
                        <a:latin typeface="+mn-lt"/>
                        <a:ea typeface="Verdana" panose="020B0604030504040204" pitchFamily="34" charset="0"/>
                        <a:cs typeface="Times New Roman" panose="02020603050405020304" pitchFamily="18" charset="0"/>
                      </a:endParaRP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400" b="1" dirty="0">
                          <a:solidFill>
                            <a:schemeClr val="accent4"/>
                          </a:solidFill>
                          <a:effectLst/>
                          <a:latin typeface="+mn-lt"/>
                          <a:ea typeface="Verdana" panose="020B0604030504040204" pitchFamily="34" charset="0"/>
                          <a:cs typeface="Times New Roman" panose="02020603050405020304" pitchFamily="18" charset="0"/>
                        </a:rPr>
                        <a:t>Provision Coverage Ratio (%)</a:t>
                      </a:r>
                      <a:endParaRPr lang="en-US" sz="1400" dirty="0">
                        <a:solidFill>
                          <a:schemeClr val="accent4"/>
                        </a:solidFill>
                        <a:effectLst/>
                        <a:latin typeface="+mn-lt"/>
                        <a:ea typeface="Verdana" panose="020B0604030504040204" pitchFamily="34" charset="0"/>
                        <a:cs typeface="Times New Roman" panose="02020603050405020304" pitchFamily="18" charset="0"/>
                      </a:endParaRP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697429570"/>
                  </a:ext>
                </a:extLst>
              </a:tr>
              <a:tr h="300155">
                <a:tc>
                  <a:txBody>
                    <a:bodyPr/>
                    <a:lstStyle/>
                    <a:p>
                      <a:pPr marL="91440" marR="0" algn="just">
                        <a:lnSpc>
                          <a:spcPts val="1200"/>
                        </a:lnSpc>
                        <a:spcBef>
                          <a:spcPts val="300"/>
                        </a:spcBef>
                        <a:spcAft>
                          <a:spcPts val="300"/>
                        </a:spcAft>
                      </a:pPr>
                      <a:r>
                        <a:rPr lang="en-US" sz="1400" dirty="0">
                          <a:solidFill>
                            <a:schemeClr val="tx1"/>
                          </a:solidFill>
                          <a:effectLst/>
                          <a:latin typeface="+mn-lt"/>
                          <a:ea typeface="Verdana" panose="020B0604030504040204" pitchFamily="34" charset="0"/>
                          <a:cs typeface="Times New Roman" panose="02020603050405020304" pitchFamily="18" charset="0"/>
                        </a:rPr>
                        <a:t>Gencos.</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400" dirty="0">
                          <a:solidFill>
                            <a:schemeClr val="tx1"/>
                          </a:solidFill>
                          <a:effectLst/>
                          <a:latin typeface="+mn-lt"/>
                          <a:ea typeface="Verdana" panose="020B0604030504040204" pitchFamily="34" charset="0"/>
                          <a:cs typeface="Times New Roman" panose="02020603050405020304" pitchFamily="18" charset="0"/>
                        </a:rPr>
                        <a:t>17,277</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400" dirty="0">
                          <a:solidFill>
                            <a:schemeClr val="tx1"/>
                          </a:solidFill>
                          <a:effectLst/>
                          <a:latin typeface="+mn-lt"/>
                          <a:ea typeface="Verdana" panose="020B0604030504040204" pitchFamily="34" charset="0"/>
                          <a:cs typeface="Times New Roman" panose="02020603050405020304" pitchFamily="18" charset="0"/>
                        </a:rPr>
                        <a:t>11,307</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400" dirty="0">
                          <a:solidFill>
                            <a:schemeClr val="tx1"/>
                          </a:solidFill>
                          <a:effectLst/>
                          <a:latin typeface="+mn-lt"/>
                          <a:ea typeface="Verdana" panose="020B0604030504040204" pitchFamily="34" charset="0"/>
                          <a:cs typeface="Times New Roman" panose="02020603050405020304" pitchFamily="18" charset="0"/>
                        </a:rPr>
                        <a:t>65.45%</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824672536"/>
                  </a:ext>
                </a:extLst>
              </a:tr>
              <a:tr h="300155">
                <a:tc>
                  <a:txBody>
                    <a:bodyPr/>
                    <a:lstStyle/>
                    <a:p>
                      <a:pPr marL="91440" marR="0" algn="just">
                        <a:lnSpc>
                          <a:spcPts val="1200"/>
                        </a:lnSpc>
                        <a:spcBef>
                          <a:spcPts val="300"/>
                        </a:spcBef>
                        <a:spcAft>
                          <a:spcPts val="300"/>
                        </a:spcAft>
                      </a:pPr>
                      <a:r>
                        <a:rPr lang="en-US" sz="1400" dirty="0">
                          <a:solidFill>
                            <a:schemeClr val="tx1"/>
                          </a:solidFill>
                          <a:effectLst/>
                          <a:latin typeface="+mn-lt"/>
                          <a:ea typeface="Verdana" panose="020B0604030504040204" pitchFamily="34" charset="0"/>
                          <a:cs typeface="Times New Roman" panose="02020603050405020304" pitchFamily="18" charset="0"/>
                        </a:rPr>
                        <a:t>Transcos.</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400" dirty="0">
                          <a:solidFill>
                            <a:schemeClr val="tx1"/>
                          </a:solidFill>
                          <a:effectLst/>
                          <a:latin typeface="+mn-lt"/>
                          <a:ea typeface="Verdana" panose="020B0604030504040204" pitchFamily="34" charset="0"/>
                          <a:cs typeface="Times New Roman" panose="02020603050405020304" pitchFamily="18" charset="0"/>
                        </a:rPr>
                        <a:t>922</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400" dirty="0">
                          <a:solidFill>
                            <a:schemeClr val="tx1"/>
                          </a:solidFill>
                          <a:effectLst/>
                          <a:latin typeface="+mn-lt"/>
                          <a:ea typeface="Verdana" panose="020B0604030504040204" pitchFamily="34" charset="0"/>
                          <a:cs typeface="Times New Roman" panose="02020603050405020304" pitchFamily="18" charset="0"/>
                        </a:rPr>
                        <a:t>461</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400" dirty="0">
                          <a:solidFill>
                            <a:schemeClr val="tx1"/>
                          </a:solidFill>
                          <a:effectLst/>
                          <a:latin typeface="+mn-lt"/>
                          <a:ea typeface="Verdana" panose="020B0604030504040204" pitchFamily="34" charset="0"/>
                          <a:cs typeface="Times New Roman" panose="02020603050405020304" pitchFamily="18" charset="0"/>
                        </a:rPr>
                        <a:t>50.00%</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136803219"/>
                  </a:ext>
                </a:extLst>
              </a:tr>
              <a:tr h="300155">
                <a:tc>
                  <a:txBody>
                    <a:bodyPr/>
                    <a:lstStyle/>
                    <a:p>
                      <a:pPr marL="91440" marR="0" algn="just">
                        <a:lnSpc>
                          <a:spcPts val="1200"/>
                        </a:lnSpc>
                        <a:spcBef>
                          <a:spcPts val="300"/>
                        </a:spcBef>
                        <a:spcAft>
                          <a:spcPts val="300"/>
                        </a:spcAft>
                      </a:pPr>
                      <a:r>
                        <a:rPr lang="en-US" sz="1400" dirty="0">
                          <a:solidFill>
                            <a:schemeClr val="tx1"/>
                          </a:solidFill>
                          <a:effectLst/>
                          <a:latin typeface="+mn-lt"/>
                          <a:ea typeface="Verdana" panose="020B0604030504040204" pitchFamily="34" charset="0"/>
                          <a:cs typeface="Times New Roman" panose="02020603050405020304" pitchFamily="18" charset="0"/>
                        </a:rPr>
                        <a:t>Renewables</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400" dirty="0">
                          <a:solidFill>
                            <a:schemeClr val="tx1"/>
                          </a:solidFill>
                          <a:effectLst/>
                          <a:latin typeface="+mn-lt"/>
                          <a:ea typeface="Verdana" panose="020B0604030504040204" pitchFamily="34" charset="0"/>
                          <a:cs typeface="Times New Roman" panose="02020603050405020304" pitchFamily="18" charset="0"/>
                        </a:rPr>
                        <a:t>58</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400" dirty="0">
                          <a:solidFill>
                            <a:schemeClr val="tx1"/>
                          </a:solidFill>
                          <a:effectLst/>
                          <a:latin typeface="+mn-lt"/>
                          <a:ea typeface="Verdana" panose="020B0604030504040204" pitchFamily="34" charset="0"/>
                          <a:cs typeface="Times New Roman" panose="02020603050405020304" pitchFamily="18" charset="0"/>
                        </a:rPr>
                        <a:t>23</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400" dirty="0">
                          <a:solidFill>
                            <a:schemeClr val="tx1"/>
                          </a:solidFill>
                          <a:effectLst/>
                          <a:latin typeface="+mn-lt"/>
                          <a:ea typeface="Verdana" panose="020B0604030504040204" pitchFamily="34" charset="0"/>
                          <a:cs typeface="Times New Roman" panose="02020603050405020304" pitchFamily="18" charset="0"/>
                        </a:rPr>
                        <a:t>39.66%</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103905046"/>
                  </a:ext>
                </a:extLst>
              </a:tr>
              <a:tr h="300155">
                <a:tc>
                  <a:txBody>
                    <a:bodyPr/>
                    <a:lstStyle/>
                    <a:p>
                      <a:pPr marL="91440" marR="0" algn="just">
                        <a:lnSpc>
                          <a:spcPts val="1200"/>
                        </a:lnSpc>
                        <a:spcBef>
                          <a:spcPts val="300"/>
                        </a:spcBef>
                        <a:spcAft>
                          <a:spcPts val="300"/>
                        </a:spcAft>
                      </a:pPr>
                      <a:r>
                        <a:rPr lang="en-US" sz="1400" b="1" dirty="0">
                          <a:solidFill>
                            <a:schemeClr val="tx1"/>
                          </a:solidFill>
                          <a:effectLst/>
                          <a:latin typeface="+mn-lt"/>
                          <a:ea typeface="Verdana" panose="020B0604030504040204" pitchFamily="34" charset="0"/>
                          <a:cs typeface="Times New Roman" panose="02020603050405020304" pitchFamily="18" charset="0"/>
                        </a:rPr>
                        <a:t>Total Private Sector</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400" b="1" dirty="0">
                          <a:solidFill>
                            <a:schemeClr val="tx1"/>
                          </a:solidFill>
                          <a:effectLst/>
                          <a:latin typeface="+mn-lt"/>
                          <a:ea typeface="Verdana" panose="020B0604030504040204" pitchFamily="34" charset="0"/>
                          <a:cs typeface="Times New Roman" panose="02020603050405020304" pitchFamily="18" charset="0"/>
                        </a:rPr>
                        <a:t>18,257</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400" b="1" dirty="0">
                          <a:solidFill>
                            <a:schemeClr val="tx1"/>
                          </a:solidFill>
                          <a:effectLst/>
                          <a:latin typeface="+mn-lt"/>
                          <a:ea typeface="Verdana" panose="020B0604030504040204" pitchFamily="34" charset="0"/>
                          <a:cs typeface="Times New Roman" panose="02020603050405020304" pitchFamily="18" charset="0"/>
                        </a:rPr>
                        <a:t>11,791</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400" b="1" dirty="0">
                          <a:solidFill>
                            <a:schemeClr val="tx1"/>
                          </a:solidFill>
                          <a:effectLst/>
                          <a:latin typeface="+mn-lt"/>
                          <a:ea typeface="Verdana" panose="020B0604030504040204" pitchFamily="34" charset="0"/>
                          <a:cs typeface="Times New Roman" panose="02020603050405020304" pitchFamily="18" charset="0"/>
                        </a:rPr>
                        <a:t>64.59%</a:t>
                      </a:r>
                    </a:p>
                  </a:txBody>
                  <a:tcPr marL="0" marR="0" marT="35702" marB="35702">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045499454"/>
                  </a:ext>
                </a:extLst>
              </a:tr>
            </a:tbl>
          </a:graphicData>
        </a:graphic>
      </p:graphicFrame>
      <p:sp>
        <p:nvSpPr>
          <p:cNvPr id="30" name="Text Placeholder 1">
            <a:extLst>
              <a:ext uri="{FF2B5EF4-FFF2-40B4-BE49-F238E27FC236}">
                <a16:creationId xmlns:a16="http://schemas.microsoft.com/office/drawing/2014/main" id="{938EA827-3341-4687-B167-4BBB38229212}"/>
              </a:ext>
            </a:extLst>
          </p:cNvPr>
          <p:cNvSpPr txBox="1">
            <a:spLocks/>
          </p:cNvSpPr>
          <p:nvPr/>
        </p:nvSpPr>
        <p:spPr>
          <a:xfrm>
            <a:off x="5821129" y="1382443"/>
            <a:ext cx="5817518" cy="851471"/>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285750" indent="-285750" algn="just">
              <a:buFont typeface="Arial" panose="020B0604020202020204" pitchFamily="34" charset="0"/>
              <a:buChar char="•"/>
            </a:pPr>
            <a:r>
              <a:rPr lang="en-US" sz="1400" dirty="0">
                <a:solidFill>
                  <a:schemeClr val="accent3"/>
                </a:solidFill>
              </a:rPr>
              <a:t>As on March 31, 2021 , total loan portfolio of REC is INR 377,418 crore </a:t>
            </a:r>
          </a:p>
          <a:p>
            <a:pPr marL="285750" indent="-285750" algn="just">
              <a:buFont typeface="Arial" panose="020B0604020202020204" pitchFamily="34" charset="0"/>
              <a:buChar char="•"/>
            </a:pPr>
            <a:r>
              <a:rPr lang="en-US" sz="1400" dirty="0">
                <a:solidFill>
                  <a:schemeClr val="accent3"/>
                </a:solidFill>
              </a:rPr>
              <a:t>Sector wise distribution of Stage III – Credit Impaired Assets (NPAs) of REC is mentioned hereunder. </a:t>
            </a:r>
          </a:p>
        </p:txBody>
      </p:sp>
      <p:sp>
        <p:nvSpPr>
          <p:cNvPr id="6" name="Rectangle 5">
            <a:extLst>
              <a:ext uri="{FF2B5EF4-FFF2-40B4-BE49-F238E27FC236}">
                <a16:creationId xmlns:a16="http://schemas.microsoft.com/office/drawing/2014/main" id="{857388D3-86AD-4FE8-BD66-4BBC9BD08F1F}"/>
              </a:ext>
            </a:extLst>
          </p:cNvPr>
          <p:cNvSpPr/>
          <p:nvPr/>
        </p:nvSpPr>
        <p:spPr>
          <a:xfrm>
            <a:off x="501650" y="1408852"/>
            <a:ext cx="4941207" cy="4824000"/>
          </a:xfrm>
          <a:prstGeom prst="rect">
            <a:avLst/>
          </a:prstGeom>
          <a:solidFill>
            <a:schemeClr val="bg1">
              <a:lumMod val="95000"/>
            </a:schemeClr>
          </a:solidFill>
          <a:ln>
            <a:solidFill>
              <a:srgbClr val="26890D"/>
            </a:solidFill>
            <a:prstDash val="dash"/>
          </a:ln>
        </p:spPr>
        <p:txBody>
          <a:bodyPr wrap="square" lIns="91440" tIns="91440" rIns="0" bIns="0">
            <a:noAutofit/>
          </a:bodyPr>
          <a:lstStyle/>
          <a:p>
            <a:pPr marL="228600" marR="316865" lvl="0" indent="-228600">
              <a:lnSpc>
                <a:spcPct val="110000"/>
              </a:lnSpc>
              <a:spcBef>
                <a:spcPts val="300"/>
              </a:spcBef>
              <a:spcAft>
                <a:spcPts val="300"/>
              </a:spcAft>
              <a:buFont typeface="Symbol" panose="05050102010706020507" pitchFamily="18" charset="2"/>
              <a:buChar char=""/>
              <a:tabLst>
                <a:tab pos="5148263" algn="l"/>
              </a:tabLst>
            </a:pPr>
            <a:r>
              <a:rPr lang="en-IN" sz="1400" dirty="0">
                <a:solidFill>
                  <a:srgbClr val="000000"/>
                </a:solidFill>
                <a:ea typeface="Times New Roman" panose="02020603050405020304" pitchFamily="18" charset="0"/>
                <a:cs typeface="Times New Roman" panose="02020603050405020304" pitchFamily="18" charset="0"/>
              </a:rPr>
              <a:t>Identification of key parameters causing stress in Indian power sector</a:t>
            </a:r>
            <a:endParaRPr lang="en-US" sz="1400" dirty="0">
              <a:ea typeface="Times New Roman" panose="02020603050405020304" pitchFamily="18" charset="0"/>
              <a:cs typeface="Times New Roman" panose="02020603050405020304" pitchFamily="18" charset="0"/>
            </a:endParaRPr>
          </a:p>
          <a:p>
            <a:pPr marL="228600" marR="316865" lvl="0" indent="-228600">
              <a:lnSpc>
                <a:spcPct val="110000"/>
              </a:lnSpc>
              <a:spcBef>
                <a:spcPts val="300"/>
              </a:spcBef>
              <a:spcAft>
                <a:spcPts val="300"/>
              </a:spcAft>
              <a:buFont typeface="Symbol" panose="05050102010706020507" pitchFamily="18" charset="2"/>
              <a:buChar char=""/>
              <a:tabLst>
                <a:tab pos="5148263" algn="l"/>
              </a:tabLst>
            </a:pPr>
            <a:r>
              <a:rPr lang="en-IN" sz="1400" dirty="0">
                <a:solidFill>
                  <a:srgbClr val="000000"/>
                </a:solidFill>
                <a:ea typeface="Times New Roman" panose="02020603050405020304" pitchFamily="18" charset="0"/>
                <a:cs typeface="Times New Roman" panose="02020603050405020304" pitchFamily="18" charset="0"/>
              </a:rPr>
              <a:t>Categorization of REC’s loan portfolio in power generation and transmission on the basis of key issues identified</a:t>
            </a:r>
            <a:endParaRPr lang="en-US" sz="1400" dirty="0">
              <a:ea typeface="Times New Roman" panose="02020603050405020304" pitchFamily="18" charset="0"/>
              <a:cs typeface="Times New Roman" panose="02020603050405020304" pitchFamily="18" charset="0"/>
            </a:endParaRPr>
          </a:p>
          <a:p>
            <a:pPr marL="228600" marR="316865" lvl="0" indent="-228600">
              <a:lnSpc>
                <a:spcPct val="110000"/>
              </a:lnSpc>
              <a:spcBef>
                <a:spcPts val="300"/>
              </a:spcBef>
              <a:spcAft>
                <a:spcPts val="300"/>
              </a:spcAft>
              <a:buFont typeface="Symbol" panose="05050102010706020507" pitchFamily="18" charset="2"/>
              <a:buChar char=""/>
              <a:tabLst>
                <a:tab pos="5148263" algn="l"/>
              </a:tabLst>
            </a:pPr>
            <a:r>
              <a:rPr lang="en-IN" sz="1400" dirty="0">
                <a:solidFill>
                  <a:srgbClr val="000000"/>
                </a:solidFill>
                <a:ea typeface="Times New Roman" panose="02020603050405020304" pitchFamily="18" charset="0"/>
                <a:cs typeface="Times New Roman" panose="02020603050405020304" pitchFamily="18" charset="0"/>
              </a:rPr>
              <a:t>Propose a targeted and custom approach for each category of assets, based on the timing of resolution </a:t>
            </a:r>
            <a:endParaRPr lang="en-US" sz="1400" dirty="0">
              <a:ea typeface="Times New Roman" panose="02020603050405020304" pitchFamily="18" charset="0"/>
              <a:cs typeface="Times New Roman" panose="02020603050405020304" pitchFamily="18" charset="0"/>
            </a:endParaRPr>
          </a:p>
          <a:p>
            <a:pPr marL="228600" marR="316865" lvl="0" indent="-228600">
              <a:lnSpc>
                <a:spcPct val="110000"/>
              </a:lnSpc>
              <a:spcBef>
                <a:spcPts val="300"/>
              </a:spcBef>
              <a:spcAft>
                <a:spcPts val="300"/>
              </a:spcAft>
              <a:buFont typeface="Symbol" panose="05050102010706020507" pitchFamily="18" charset="2"/>
              <a:buChar char=""/>
              <a:tabLst>
                <a:tab pos="5148263" algn="l"/>
              </a:tabLst>
            </a:pPr>
            <a:r>
              <a:rPr lang="en-IN" sz="1400" dirty="0">
                <a:solidFill>
                  <a:srgbClr val="000000"/>
                </a:solidFill>
                <a:ea typeface="Times New Roman" panose="02020603050405020304" pitchFamily="18" charset="0"/>
                <a:cs typeface="Times New Roman" panose="02020603050405020304" pitchFamily="18" charset="0"/>
              </a:rPr>
              <a:t>Analyse various resolution plans submitted by borrower and recommend suitability of the plan from REC’s perspective</a:t>
            </a:r>
            <a:endParaRPr lang="en-US" sz="1400" dirty="0">
              <a:ea typeface="Times New Roman" panose="02020603050405020304" pitchFamily="18" charset="0"/>
              <a:cs typeface="Times New Roman" panose="02020603050405020304" pitchFamily="18" charset="0"/>
            </a:endParaRPr>
          </a:p>
          <a:p>
            <a:pPr marL="228600" marR="316865" lvl="0" indent="-228600">
              <a:lnSpc>
                <a:spcPct val="110000"/>
              </a:lnSpc>
              <a:spcBef>
                <a:spcPts val="300"/>
              </a:spcBef>
              <a:spcAft>
                <a:spcPts val="300"/>
              </a:spcAft>
              <a:buFont typeface="Symbol" panose="05050102010706020507" pitchFamily="18" charset="2"/>
              <a:buChar char=""/>
              <a:tabLst>
                <a:tab pos="5148263" algn="l"/>
              </a:tabLst>
            </a:pPr>
            <a:r>
              <a:rPr lang="en-IN" sz="1400" dirty="0">
                <a:solidFill>
                  <a:srgbClr val="000000"/>
                </a:solidFill>
                <a:ea typeface="Times New Roman" panose="02020603050405020304" pitchFamily="18" charset="0"/>
                <a:cs typeface="Times New Roman" panose="02020603050405020304" pitchFamily="18" charset="0"/>
              </a:rPr>
              <a:t>Participate in lenders meetings (wherever relevant and as advised by REC), </a:t>
            </a:r>
            <a:r>
              <a:rPr lang="en-IN" sz="1400" b="1" dirty="0">
                <a:solidFill>
                  <a:srgbClr val="000000"/>
                </a:solidFill>
                <a:ea typeface="Times New Roman" panose="02020603050405020304" pitchFamily="18" charset="0"/>
                <a:cs typeface="Times New Roman" panose="02020603050405020304" pitchFamily="18" charset="0"/>
              </a:rPr>
              <a:t>until such time as a preferable resolution option has been identified</a:t>
            </a:r>
            <a:r>
              <a:rPr lang="en-IN" sz="1400" dirty="0">
                <a:solidFill>
                  <a:srgbClr val="000000"/>
                </a:solidFill>
                <a:ea typeface="Times New Roman" panose="02020603050405020304" pitchFamily="18" charset="0"/>
                <a:cs typeface="Times New Roman" panose="02020603050405020304" pitchFamily="18" charset="0"/>
              </a:rPr>
              <a:t> </a:t>
            </a:r>
            <a:endParaRPr lang="en-US" sz="1400" dirty="0">
              <a:ea typeface="Times New Roman" panose="02020603050405020304" pitchFamily="18" charset="0"/>
              <a:cs typeface="Times New Roman" panose="02020603050405020304" pitchFamily="18" charset="0"/>
            </a:endParaRPr>
          </a:p>
          <a:p>
            <a:pPr marL="228600" marR="316865" lvl="0" indent="-228600">
              <a:lnSpc>
                <a:spcPct val="107000"/>
              </a:lnSpc>
              <a:spcBef>
                <a:spcPts val="300"/>
              </a:spcBef>
              <a:spcAft>
                <a:spcPts val="300"/>
              </a:spcAft>
              <a:buFont typeface="Symbol" panose="05050102010706020507" pitchFamily="18" charset="2"/>
              <a:buChar char=""/>
              <a:tabLst>
                <a:tab pos="5148263" algn="l"/>
              </a:tabLst>
            </a:pPr>
            <a:r>
              <a:rPr lang="en-IN" sz="1400" dirty="0">
                <a:solidFill>
                  <a:srgbClr val="000000"/>
                </a:solidFill>
                <a:ea typeface="Times New Roman" panose="02020603050405020304" pitchFamily="18" charset="0"/>
                <a:cs typeface="Times New Roman" panose="02020603050405020304" pitchFamily="18" charset="0"/>
              </a:rPr>
              <a:t>Assist REC in meetings with stakeholders (</a:t>
            </a:r>
            <a:r>
              <a:rPr lang="en-IN" sz="1400" dirty="0" err="1">
                <a:solidFill>
                  <a:srgbClr val="000000"/>
                </a:solidFill>
                <a:ea typeface="Times New Roman" panose="02020603050405020304" pitchFamily="18" charset="0"/>
                <a:cs typeface="Times New Roman" panose="02020603050405020304" pitchFamily="18" charset="0"/>
              </a:rPr>
              <a:t>MoP</a:t>
            </a:r>
            <a:r>
              <a:rPr lang="en-IN" sz="1400" dirty="0">
                <a:solidFill>
                  <a:srgbClr val="000000"/>
                </a:solidFill>
                <a:ea typeface="Times New Roman" panose="02020603050405020304" pitchFamily="18" charset="0"/>
                <a:cs typeface="Times New Roman" panose="02020603050405020304" pitchFamily="18" charset="0"/>
              </a:rPr>
              <a:t>, RBI, Central &amp; State Utilities) in connection with the Resolution Plan </a:t>
            </a:r>
            <a:endParaRPr lang="en-US" sz="1400" dirty="0">
              <a:ea typeface="Times New Roman" panose="02020603050405020304" pitchFamily="18" charset="0"/>
              <a:cs typeface="Times New Roman" panose="02020603050405020304" pitchFamily="18" charset="0"/>
            </a:endParaRPr>
          </a:p>
          <a:p>
            <a:pPr marL="228600" marR="316865" lvl="0" indent="-228600">
              <a:lnSpc>
                <a:spcPct val="107000"/>
              </a:lnSpc>
              <a:spcBef>
                <a:spcPts val="300"/>
              </a:spcBef>
              <a:spcAft>
                <a:spcPts val="300"/>
              </a:spcAft>
              <a:buFont typeface="Symbol" panose="05050102010706020507" pitchFamily="18" charset="2"/>
              <a:buChar char=""/>
              <a:tabLst>
                <a:tab pos="5148263" algn="l"/>
              </a:tabLst>
            </a:pPr>
            <a:r>
              <a:rPr lang="en-IN" sz="1400" dirty="0">
                <a:solidFill>
                  <a:srgbClr val="000000"/>
                </a:solidFill>
                <a:ea typeface="Times New Roman" panose="02020603050405020304" pitchFamily="18" charset="0"/>
                <a:cs typeface="Times New Roman" panose="02020603050405020304" pitchFamily="18" charset="0"/>
              </a:rPr>
              <a:t>Assist REC in preparation of replies to various questionnaire/ queries in relation to stressed projects </a:t>
            </a:r>
            <a:endParaRPr lang="en-US" sz="1400" dirty="0">
              <a:ea typeface="Times New Roman" panose="02020603050405020304" pitchFamily="18" charset="0"/>
              <a:cs typeface="Times New Roman" panose="02020603050405020304" pitchFamily="18" charset="0"/>
            </a:endParaRPr>
          </a:p>
          <a:p>
            <a:pPr marL="228600" marR="316865" lvl="0" indent="-228600">
              <a:lnSpc>
                <a:spcPct val="107000"/>
              </a:lnSpc>
              <a:spcBef>
                <a:spcPts val="300"/>
              </a:spcBef>
              <a:spcAft>
                <a:spcPts val="300"/>
              </a:spcAft>
              <a:buFont typeface="Symbol" panose="05050102010706020507" pitchFamily="18" charset="2"/>
              <a:buChar char=""/>
              <a:tabLst>
                <a:tab pos="5148263" algn="l"/>
              </a:tabLst>
            </a:pPr>
            <a:r>
              <a:rPr lang="en-IN" sz="1400" dirty="0">
                <a:solidFill>
                  <a:srgbClr val="000000"/>
                </a:solidFill>
                <a:ea typeface="Times New Roman" panose="02020603050405020304" pitchFamily="18" charset="0"/>
                <a:cs typeface="Times New Roman" panose="02020603050405020304" pitchFamily="18" charset="0"/>
              </a:rPr>
              <a:t>Support, to the extent possible, REC team in IBC proceedings</a:t>
            </a:r>
            <a:endParaRPr lang="en-US" sz="1400" dirty="0">
              <a:effectLst/>
              <a:ea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52A05DDF-E891-4706-8730-FBFD3F4B7BF9}"/>
              </a:ext>
            </a:extLst>
          </p:cNvPr>
          <p:cNvSpPr txBox="1"/>
          <p:nvPr/>
        </p:nvSpPr>
        <p:spPr>
          <a:xfrm>
            <a:off x="1948996" y="1285742"/>
            <a:ext cx="2252890" cy="246221"/>
          </a:xfrm>
          <a:prstGeom prst="rect">
            <a:avLst/>
          </a:prstGeom>
          <a:solidFill>
            <a:schemeClr val="bg1">
              <a:lumMod val="95000"/>
            </a:schemeClr>
          </a:solidFill>
        </p:spPr>
        <p:txBody>
          <a:bodyPr wrap="square" lIns="91440" tIns="0" rIns="0" bIns="0" rtlCol="0">
            <a:spAutoFit/>
          </a:bodyPr>
          <a:lstStyle/>
          <a:p>
            <a:pPr>
              <a:spcBef>
                <a:spcPts val="600"/>
              </a:spcBef>
              <a:buSzPct val="100000"/>
            </a:pPr>
            <a:r>
              <a:rPr lang="en-US" sz="1600" b="1" dirty="0">
                <a:solidFill>
                  <a:schemeClr val="accent3"/>
                </a:solidFill>
              </a:rPr>
              <a:t>Indicative Support Areas</a:t>
            </a:r>
          </a:p>
        </p:txBody>
      </p:sp>
      <p:sp>
        <p:nvSpPr>
          <p:cNvPr id="8" name="Text Placeholder 1">
            <a:extLst>
              <a:ext uri="{FF2B5EF4-FFF2-40B4-BE49-F238E27FC236}">
                <a16:creationId xmlns:a16="http://schemas.microsoft.com/office/drawing/2014/main" id="{B3595E2F-B04E-484D-9890-9FE0D888C9EA}"/>
              </a:ext>
            </a:extLst>
          </p:cNvPr>
          <p:cNvSpPr txBox="1">
            <a:spLocks/>
          </p:cNvSpPr>
          <p:nvPr/>
        </p:nvSpPr>
        <p:spPr>
          <a:xfrm>
            <a:off x="10890917" y="2303362"/>
            <a:ext cx="1009647" cy="245596"/>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gn="just"/>
            <a:r>
              <a:rPr lang="en-US" sz="1400" b="1" i="1" dirty="0">
                <a:solidFill>
                  <a:schemeClr val="tx1"/>
                </a:solidFill>
              </a:rPr>
              <a:t>INR Crore</a:t>
            </a:r>
          </a:p>
        </p:txBody>
      </p:sp>
      <p:sp>
        <p:nvSpPr>
          <p:cNvPr id="4" name="Rectangle 3">
            <a:extLst>
              <a:ext uri="{FF2B5EF4-FFF2-40B4-BE49-F238E27FC236}">
                <a16:creationId xmlns:a16="http://schemas.microsoft.com/office/drawing/2014/main" id="{4EC44637-3760-435F-9796-742983F9934E}"/>
              </a:ext>
            </a:extLst>
          </p:cNvPr>
          <p:cNvSpPr/>
          <p:nvPr/>
        </p:nvSpPr>
        <p:spPr>
          <a:xfrm>
            <a:off x="5681888" y="4519934"/>
            <a:ext cx="6096000" cy="1082348"/>
          </a:xfrm>
          <a:prstGeom prst="rect">
            <a:avLst/>
          </a:prstGeom>
        </p:spPr>
        <p:txBody>
          <a:bodyPr>
            <a:spAutoFit/>
          </a:bodyPr>
          <a:lstStyle/>
          <a:p>
            <a:pPr marL="285750" indent="-285750" algn="just">
              <a:spcAft>
                <a:spcPts val="1000"/>
              </a:spcAft>
              <a:buSzPct val="100000"/>
              <a:buFont typeface="Arial" panose="020B0604020202020204" pitchFamily="34" charset="0"/>
              <a:buChar char="•"/>
            </a:pPr>
            <a:r>
              <a:rPr lang="en-US" sz="1400" dirty="0">
                <a:solidFill>
                  <a:schemeClr val="accent3"/>
                </a:solidFill>
                <a:cs typeface="Calibri Light" panose="020F0302020204030204" pitchFamily="34" charset="0"/>
              </a:rPr>
              <a:t>These stressed assets require lenders to continuously monitor, identify key issues and carefully analyze the resolution plans.</a:t>
            </a:r>
          </a:p>
          <a:p>
            <a:pPr marL="285750" indent="-285750" algn="just">
              <a:spcAft>
                <a:spcPts val="1000"/>
              </a:spcAft>
              <a:buSzPct val="100000"/>
              <a:buFont typeface="Arial" panose="020B0604020202020204" pitchFamily="34" charset="0"/>
              <a:buChar char="•"/>
            </a:pPr>
            <a:r>
              <a:rPr lang="en-US" sz="1400" dirty="0">
                <a:solidFill>
                  <a:schemeClr val="accent3"/>
                </a:solidFill>
                <a:cs typeface="Calibri Light" panose="020F0302020204030204" pitchFamily="34" charset="0"/>
              </a:rPr>
              <a:t>Deloitte shall provide end-to-end support to REC leveraging our similar portfolio advisory experience </a:t>
            </a:r>
          </a:p>
        </p:txBody>
      </p:sp>
    </p:spTree>
    <p:extLst>
      <p:ext uri="{BB962C8B-B14F-4D97-AF65-F5344CB8AC3E}">
        <p14:creationId xmlns:p14="http://schemas.microsoft.com/office/powerpoint/2010/main" val="236526917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C1D00F1-63B5-4B81-AA23-A050E892D1B1}"/>
              </a:ext>
            </a:extLst>
          </p:cNvPr>
          <p:cNvSpPr>
            <a:spLocks noGrp="1"/>
          </p:cNvSpPr>
          <p:nvPr>
            <p:ph type="title"/>
          </p:nvPr>
        </p:nvSpPr>
        <p:spPr>
          <a:xfrm>
            <a:off x="501650" y="317500"/>
            <a:ext cx="11201400" cy="334099"/>
          </a:xfrm>
        </p:spPr>
        <p:txBody>
          <a:bodyPr/>
          <a:lstStyle/>
          <a:p>
            <a:r>
              <a:rPr lang="en-US" sz="1600" dirty="0"/>
              <a:t>Our </a:t>
            </a:r>
            <a:r>
              <a:rPr lang="en-US" sz="1600" b="1" dirty="0"/>
              <a:t>Approach</a:t>
            </a:r>
            <a:r>
              <a:rPr lang="en-US" sz="1600" dirty="0"/>
              <a:t> &amp; Methodology </a:t>
            </a:r>
          </a:p>
        </p:txBody>
      </p:sp>
      <p:sp>
        <p:nvSpPr>
          <p:cNvPr id="5" name="Text Placeholder 2">
            <a:extLst>
              <a:ext uri="{FF2B5EF4-FFF2-40B4-BE49-F238E27FC236}">
                <a16:creationId xmlns:a16="http://schemas.microsoft.com/office/drawing/2014/main" id="{51CB1705-1DC7-4E26-9569-C45DA22FB541}"/>
              </a:ext>
            </a:extLst>
          </p:cNvPr>
          <p:cNvSpPr>
            <a:spLocks noGrp="1"/>
          </p:cNvSpPr>
          <p:nvPr>
            <p:ph type="body" sz="quarter" idx="13"/>
          </p:nvPr>
        </p:nvSpPr>
        <p:spPr>
          <a:xfrm>
            <a:off x="501650" y="651600"/>
            <a:ext cx="11201400" cy="757255"/>
          </a:xfrm>
        </p:spPr>
        <p:txBody>
          <a:bodyPr/>
          <a:lstStyle/>
          <a:p>
            <a:r>
              <a:rPr lang="en-US" sz="2000" dirty="0">
                <a:solidFill>
                  <a:schemeClr val="tx1">
                    <a:lumMod val="50000"/>
                    <a:lumOff val="50000"/>
                  </a:schemeClr>
                </a:solidFill>
              </a:rPr>
              <a:t>Module 3: Strategy Support for business expansion</a:t>
            </a:r>
          </a:p>
        </p:txBody>
      </p:sp>
      <p:sp>
        <p:nvSpPr>
          <p:cNvPr id="6" name="Title 2">
            <a:extLst>
              <a:ext uri="{FF2B5EF4-FFF2-40B4-BE49-F238E27FC236}">
                <a16:creationId xmlns:a16="http://schemas.microsoft.com/office/drawing/2014/main" id="{B0F1E749-29BB-4FD0-A0F9-D48CF1D79AF1}"/>
              </a:ext>
            </a:extLst>
          </p:cNvPr>
          <p:cNvSpPr txBox="1">
            <a:spLocks/>
          </p:cNvSpPr>
          <p:nvPr/>
        </p:nvSpPr>
        <p:spPr bwMode="gray">
          <a:xfrm>
            <a:off x="450082" y="1118484"/>
            <a:ext cx="10716356" cy="295075"/>
          </a:xfrm>
          <a:prstGeom prst="rect">
            <a:avLst/>
          </a:prstGeom>
          <a:solidFill>
            <a:schemeClr val="bg1">
              <a:lumMod val="95000"/>
            </a:schemeClr>
          </a:solidFill>
        </p:spPr>
        <p:txBody>
          <a:bodyPr vert="horz" lIns="0" tIns="0" rIns="0" bIns="0" rtlCol="0" anchor="ctr" anchorCtr="0">
            <a:noAutofit/>
          </a:bodyPr>
          <a:lstStyle>
            <a:lvl1pPr algn="l" defTabSz="914400" rtl="0" eaLnBrk="1" latinLnBrk="0" hangingPunct="1">
              <a:spcBef>
                <a:spcPct val="0"/>
              </a:spcBef>
              <a:buNone/>
              <a:defRPr sz="2100" kern="1200">
                <a:solidFill>
                  <a:schemeClr val="tx1"/>
                </a:solidFill>
                <a:latin typeface="+mj-lt"/>
                <a:ea typeface="+mj-ea"/>
                <a:cs typeface="Calibri Light" panose="020F0302020204030204" pitchFamily="34" charset="0"/>
              </a:defRPr>
            </a:lvl1pPr>
          </a:lstStyle>
          <a:p>
            <a:pPr>
              <a:lnSpc>
                <a:spcPct val="90000"/>
              </a:lnSpc>
            </a:pPr>
            <a:r>
              <a:rPr lang="en-US" sz="1600" i="1" dirty="0">
                <a:solidFill>
                  <a:schemeClr val="tx2"/>
                </a:solidFill>
                <a:latin typeface="+mn-lt"/>
              </a:rPr>
              <a:t>Deloitte will use its proprietary </a:t>
            </a:r>
            <a:r>
              <a:rPr lang="en-US" sz="1600" i="1" dirty="0">
                <a:solidFill>
                  <a:schemeClr val="accent3"/>
                </a:solidFill>
                <a:latin typeface="+mn-lt"/>
              </a:rPr>
              <a:t>“Play to Win“ </a:t>
            </a:r>
            <a:r>
              <a:rPr lang="en-US" sz="1600" i="1" dirty="0">
                <a:solidFill>
                  <a:schemeClr val="tx2"/>
                </a:solidFill>
                <a:latin typeface="+mn-lt"/>
              </a:rPr>
              <a:t>framework to provide strategy support to REC on business expansion</a:t>
            </a:r>
          </a:p>
        </p:txBody>
      </p:sp>
      <p:sp>
        <p:nvSpPr>
          <p:cNvPr id="7" name="Text Box 37">
            <a:extLst>
              <a:ext uri="{FF2B5EF4-FFF2-40B4-BE49-F238E27FC236}">
                <a16:creationId xmlns:a16="http://schemas.microsoft.com/office/drawing/2014/main" id="{4DAD45B4-6F24-4D61-B59D-B388B56E7A38}"/>
              </a:ext>
            </a:extLst>
          </p:cNvPr>
          <p:cNvSpPr txBox="1">
            <a:spLocks noChangeArrowheads="1"/>
          </p:cNvSpPr>
          <p:nvPr/>
        </p:nvSpPr>
        <p:spPr bwMode="gray">
          <a:xfrm>
            <a:off x="3049232" y="4136472"/>
            <a:ext cx="1663165" cy="3108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288" tIns="9144" rIns="18288" bIns="9144" anchor="ctr">
            <a:spAutoFit/>
          </a:bodyPr>
          <a:lstStyle>
            <a:lvl1pPr>
              <a:defRPr sz="700" b="1">
                <a:solidFill>
                  <a:schemeClr val="tx1"/>
                </a:solidFill>
                <a:latin typeface="Arial" charset="0"/>
                <a:cs typeface="Arial" charset="0"/>
              </a:defRPr>
            </a:lvl1pPr>
            <a:lvl2pPr marL="742950" indent="-285750">
              <a:defRPr sz="700" b="1">
                <a:solidFill>
                  <a:schemeClr val="tx1"/>
                </a:solidFill>
                <a:latin typeface="Arial" charset="0"/>
                <a:cs typeface="Arial" charset="0"/>
              </a:defRPr>
            </a:lvl2pPr>
            <a:lvl3pPr marL="1143000" indent="-228600">
              <a:defRPr sz="700" b="1">
                <a:solidFill>
                  <a:schemeClr val="tx1"/>
                </a:solidFill>
                <a:latin typeface="Arial" charset="0"/>
                <a:cs typeface="Arial" charset="0"/>
              </a:defRPr>
            </a:lvl3pPr>
            <a:lvl4pPr marL="1600200" indent="-228600">
              <a:defRPr sz="700" b="1">
                <a:solidFill>
                  <a:schemeClr val="tx1"/>
                </a:solidFill>
                <a:latin typeface="Arial" charset="0"/>
                <a:cs typeface="Arial" charset="0"/>
              </a:defRPr>
            </a:lvl4pPr>
            <a:lvl5pPr marL="2057400" indent="-228600">
              <a:defRPr sz="700" b="1">
                <a:solidFill>
                  <a:schemeClr val="tx1"/>
                </a:solidFill>
                <a:latin typeface="Arial" charset="0"/>
                <a:cs typeface="Arial" charset="0"/>
              </a:defRPr>
            </a:lvl5pPr>
            <a:lvl6pPr marL="2514600" indent="-228600" algn="ctr" eaLnBrk="0" fontAlgn="base" hangingPunct="0">
              <a:spcBef>
                <a:spcPct val="50000"/>
              </a:spcBef>
              <a:spcAft>
                <a:spcPct val="0"/>
              </a:spcAft>
              <a:defRPr sz="700" b="1">
                <a:solidFill>
                  <a:schemeClr val="tx1"/>
                </a:solidFill>
                <a:latin typeface="Arial" charset="0"/>
                <a:cs typeface="Arial" charset="0"/>
              </a:defRPr>
            </a:lvl6pPr>
            <a:lvl7pPr marL="2971800" indent="-228600" algn="ctr" eaLnBrk="0" fontAlgn="base" hangingPunct="0">
              <a:spcBef>
                <a:spcPct val="50000"/>
              </a:spcBef>
              <a:spcAft>
                <a:spcPct val="0"/>
              </a:spcAft>
              <a:defRPr sz="700" b="1">
                <a:solidFill>
                  <a:schemeClr val="tx1"/>
                </a:solidFill>
                <a:latin typeface="Arial" charset="0"/>
                <a:cs typeface="Arial" charset="0"/>
              </a:defRPr>
            </a:lvl7pPr>
            <a:lvl8pPr marL="3429000" indent="-228600" algn="ctr" eaLnBrk="0" fontAlgn="base" hangingPunct="0">
              <a:spcBef>
                <a:spcPct val="50000"/>
              </a:spcBef>
              <a:spcAft>
                <a:spcPct val="0"/>
              </a:spcAft>
              <a:defRPr sz="700" b="1">
                <a:solidFill>
                  <a:schemeClr val="tx1"/>
                </a:solidFill>
                <a:latin typeface="Arial" charset="0"/>
                <a:cs typeface="Arial" charset="0"/>
              </a:defRPr>
            </a:lvl8pPr>
            <a:lvl9pPr marL="3886200" indent="-228600" algn="ctr" eaLnBrk="0" fontAlgn="base" hangingPunct="0">
              <a:spcBef>
                <a:spcPct val="50000"/>
              </a:spcBef>
              <a:spcAft>
                <a:spcPct val="0"/>
              </a:spcAft>
              <a:defRPr sz="700" b="1">
                <a:solidFill>
                  <a:schemeClr val="tx1"/>
                </a:solidFill>
                <a:latin typeface="Arial" charset="0"/>
                <a:cs typeface="Arial" charset="0"/>
              </a:defRPr>
            </a:lvl9pPr>
          </a:lstStyle>
          <a:p>
            <a:pPr algn="l"/>
            <a:r>
              <a:rPr lang="en-US" sz="950" b="0" dirty="0">
                <a:latin typeface="Calibri" pitchFamily="34" charset="0"/>
                <a:cs typeface="Calibri" pitchFamily="34" charset="0"/>
              </a:rPr>
              <a:t>Increase share by Consortium Participation/ Collaborations</a:t>
            </a:r>
          </a:p>
        </p:txBody>
      </p:sp>
      <p:sp>
        <p:nvSpPr>
          <p:cNvPr id="8" name="Line 6">
            <a:extLst>
              <a:ext uri="{FF2B5EF4-FFF2-40B4-BE49-F238E27FC236}">
                <a16:creationId xmlns:a16="http://schemas.microsoft.com/office/drawing/2014/main" id="{6AF63E0C-3DAC-4416-8B50-DFD7A1A0EB89}"/>
              </a:ext>
            </a:extLst>
          </p:cNvPr>
          <p:cNvSpPr>
            <a:spLocks noChangeShapeType="1"/>
          </p:cNvSpPr>
          <p:nvPr>
            <p:custDataLst>
              <p:tags r:id="rId1"/>
            </p:custDataLst>
          </p:nvPr>
        </p:nvSpPr>
        <p:spPr bwMode="gray">
          <a:xfrm>
            <a:off x="3036223" y="4079322"/>
            <a:ext cx="485775" cy="0"/>
          </a:xfrm>
          <a:prstGeom prst="line">
            <a:avLst/>
          </a:prstGeom>
          <a:noFill/>
          <a:ln w="3175">
            <a:solidFill>
              <a:schemeClr val="tx1"/>
            </a:solidFill>
            <a:prstDash val="lgDash"/>
            <a:round/>
            <a:headEnd/>
            <a:tailEnd/>
          </a:ln>
          <a:extLst>
            <a:ext uri="{909E8E84-426E-40DD-AFC4-6F175D3DCCD1}">
              <a14:hiddenFill xmlns:a14="http://schemas.microsoft.com/office/drawing/2010/main">
                <a:noFill/>
              </a14:hiddenFill>
            </a:ext>
          </a:extLst>
        </p:spPr>
        <p:txBody>
          <a:bodyPr wrap="none" lIns="45720" rIns="45720" anchor="ctr"/>
          <a:lstStyle/>
          <a:p>
            <a:endParaRPr lang="en-US" dirty="0"/>
          </a:p>
        </p:txBody>
      </p:sp>
      <p:sp>
        <p:nvSpPr>
          <p:cNvPr id="9" name="Line 5">
            <a:extLst>
              <a:ext uri="{FF2B5EF4-FFF2-40B4-BE49-F238E27FC236}">
                <a16:creationId xmlns:a16="http://schemas.microsoft.com/office/drawing/2014/main" id="{7154450A-C1D3-4C44-8DCD-C3F371BAC22D}"/>
              </a:ext>
            </a:extLst>
          </p:cNvPr>
          <p:cNvSpPr>
            <a:spLocks noChangeShapeType="1"/>
          </p:cNvSpPr>
          <p:nvPr>
            <p:custDataLst>
              <p:tags r:id="rId2"/>
            </p:custDataLst>
          </p:nvPr>
        </p:nvSpPr>
        <p:spPr bwMode="gray">
          <a:xfrm>
            <a:off x="2055148" y="5736672"/>
            <a:ext cx="485775" cy="0"/>
          </a:xfrm>
          <a:prstGeom prst="line">
            <a:avLst/>
          </a:prstGeom>
          <a:noFill/>
          <a:ln w="3175">
            <a:solidFill>
              <a:schemeClr val="tx1"/>
            </a:solidFill>
            <a:prstDash val="lgDash"/>
            <a:round/>
            <a:headEnd/>
            <a:tailEnd/>
          </a:ln>
          <a:extLst>
            <a:ext uri="{909E8E84-426E-40DD-AFC4-6F175D3DCCD1}">
              <a14:hiddenFill xmlns:a14="http://schemas.microsoft.com/office/drawing/2010/main">
                <a:noFill/>
              </a14:hiddenFill>
            </a:ext>
          </a:extLst>
        </p:spPr>
        <p:txBody>
          <a:bodyPr wrap="none" lIns="45720" rIns="45720" anchor="ctr"/>
          <a:lstStyle/>
          <a:p>
            <a:endParaRPr lang="en-US" dirty="0"/>
          </a:p>
        </p:txBody>
      </p:sp>
      <p:graphicFrame>
        <p:nvGraphicFramePr>
          <p:cNvPr id="10" name="Object 7">
            <a:extLst>
              <a:ext uri="{FF2B5EF4-FFF2-40B4-BE49-F238E27FC236}">
                <a16:creationId xmlns:a16="http://schemas.microsoft.com/office/drawing/2014/main" id="{C3B93CE5-126C-4455-B1B0-5E499B6E7A2C}"/>
              </a:ext>
            </a:extLst>
          </p:cNvPr>
          <p:cNvGraphicFramePr>
            <a:graphicFrameLocks/>
          </p:cNvGraphicFramePr>
          <p:nvPr>
            <p:custDataLst>
              <p:tags r:id="rId3"/>
            </p:custDataLst>
          </p:nvPr>
        </p:nvGraphicFramePr>
        <p:xfrm>
          <a:off x="1207423" y="1888572"/>
          <a:ext cx="3143234" cy="4362397"/>
        </p:xfrm>
        <a:graphic>
          <a:graphicData uri="http://schemas.openxmlformats.org/presentationml/2006/ole">
            <mc:AlternateContent xmlns:mc="http://schemas.openxmlformats.org/markup-compatibility/2006">
              <mc:Choice xmlns:v="urn:schemas-microsoft-com:vml" Requires="v">
                <p:oleObj name="Chart" r:id="rId8" imgW="3143418" imgH="4362219" progId="MSGraph.Chart.8">
                  <p:embed followColorScheme="full"/>
                </p:oleObj>
              </mc:Choice>
              <mc:Fallback>
                <p:oleObj name="Chart" r:id="rId8" imgW="3143418" imgH="4362219" progId="MSGraph.Chart.8">
                  <p:embed followColorScheme="full"/>
                  <p:pic>
                    <p:nvPicPr>
                      <p:cNvPr id="10" name="Object 7">
                        <a:extLst>
                          <a:ext uri="{FF2B5EF4-FFF2-40B4-BE49-F238E27FC236}">
                            <a16:creationId xmlns:a16="http://schemas.microsoft.com/office/drawing/2014/main" id="{C3B93CE5-126C-4455-B1B0-5E499B6E7A2C}"/>
                          </a:ext>
                        </a:extLst>
                      </p:cNvPr>
                      <p:cNvPicPr>
                        <a:picLocks noChangeArrowheads="1"/>
                      </p:cNvPicPr>
                      <p:nvPr/>
                    </p:nvPicPr>
                    <p:blipFill>
                      <a:blip r:embed="rId9"/>
                      <a:srcRect/>
                      <a:stretch>
                        <a:fillRect/>
                      </a:stretch>
                    </p:blipFill>
                    <p:spPr bwMode="gray">
                      <a:xfrm>
                        <a:off x="1207423" y="1888572"/>
                        <a:ext cx="3143234" cy="43623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Rectangle 9">
            <a:extLst>
              <a:ext uri="{FF2B5EF4-FFF2-40B4-BE49-F238E27FC236}">
                <a16:creationId xmlns:a16="http://schemas.microsoft.com/office/drawing/2014/main" id="{5D752343-30BB-446D-B403-4BD38E2D0F54}"/>
              </a:ext>
            </a:extLst>
          </p:cNvPr>
          <p:cNvSpPr>
            <a:spLocks noChangeArrowheads="1"/>
          </p:cNvSpPr>
          <p:nvPr>
            <p:custDataLst>
              <p:tags r:id="rId4"/>
            </p:custDataLst>
          </p:nvPr>
        </p:nvSpPr>
        <p:spPr bwMode="gray">
          <a:xfrm>
            <a:off x="3387061" y="6238322"/>
            <a:ext cx="755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lstStyle/>
          <a:p>
            <a:pPr algn="ctr" defTabSz="684213">
              <a:spcBef>
                <a:spcPct val="0"/>
              </a:spcBef>
              <a:buSzPct val="25000"/>
            </a:pPr>
            <a:fld id="{6A6C8294-0237-40CC-98B3-B58C46B0F8CD}" type="datetime'Growth by ''''Dev''''elop''in''g'' N''ew ''''Capabilit''ies'">
              <a:rPr lang="en-US" sz="800">
                <a:sym typeface="+mn-lt"/>
              </a:rPr>
              <a:pPr/>
              <a:t>Growth by Developing New Capabilities</a:t>
            </a:fld>
            <a:endParaRPr lang="en-US" sz="800" dirty="0">
              <a:sym typeface="+mn-lt"/>
            </a:endParaRPr>
          </a:p>
        </p:txBody>
      </p:sp>
      <p:sp>
        <p:nvSpPr>
          <p:cNvPr id="12" name="Rectangle 10">
            <a:extLst>
              <a:ext uri="{FF2B5EF4-FFF2-40B4-BE49-F238E27FC236}">
                <a16:creationId xmlns:a16="http://schemas.microsoft.com/office/drawing/2014/main" id="{54BF1C40-4B63-48AF-AB00-CAE040B844E3}"/>
              </a:ext>
            </a:extLst>
          </p:cNvPr>
          <p:cNvSpPr>
            <a:spLocks noChangeArrowheads="1"/>
          </p:cNvSpPr>
          <p:nvPr>
            <p:custDataLst>
              <p:tags r:id="rId5"/>
            </p:custDataLst>
          </p:nvPr>
        </p:nvSpPr>
        <p:spPr bwMode="gray">
          <a:xfrm>
            <a:off x="2345661" y="6238322"/>
            <a:ext cx="8874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lstStyle/>
          <a:p>
            <a:pPr algn="ctr" defTabSz="684213">
              <a:spcBef>
                <a:spcPct val="0"/>
              </a:spcBef>
              <a:buSzPct val="25000"/>
            </a:pPr>
            <a:fld id="{6323CD87-3D76-424E-8D70-B7E8E3798EF2}" type="datetime'G''''''''row''th'' by Leveragin''''g Curre''nt Capabili''ties'">
              <a:rPr lang="en-US" sz="800">
                <a:sym typeface="+mn-lt"/>
              </a:rPr>
              <a:pPr/>
              <a:t>Growth by Leveraging Current Capabilities</a:t>
            </a:fld>
            <a:endParaRPr lang="en-US" sz="800" dirty="0">
              <a:sym typeface="+mn-lt"/>
            </a:endParaRPr>
          </a:p>
        </p:txBody>
      </p:sp>
      <p:sp>
        <p:nvSpPr>
          <p:cNvPr id="13" name="Rectangle 8">
            <a:extLst>
              <a:ext uri="{FF2B5EF4-FFF2-40B4-BE49-F238E27FC236}">
                <a16:creationId xmlns:a16="http://schemas.microsoft.com/office/drawing/2014/main" id="{E3142247-6C6F-4605-A10A-62587A4ADD96}"/>
              </a:ext>
            </a:extLst>
          </p:cNvPr>
          <p:cNvSpPr>
            <a:spLocks noChangeArrowheads="1"/>
          </p:cNvSpPr>
          <p:nvPr>
            <p:custDataLst>
              <p:tags r:id="rId6"/>
            </p:custDataLst>
          </p:nvPr>
        </p:nvSpPr>
        <p:spPr bwMode="gray">
          <a:xfrm>
            <a:off x="1470948" y="6238322"/>
            <a:ext cx="6826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lstStyle/>
          <a:p>
            <a:pPr algn="ctr" defTabSz="684213">
              <a:spcBef>
                <a:spcPct val="0"/>
              </a:spcBef>
              <a:buSzPct val="25000"/>
            </a:pPr>
            <a:r>
              <a:rPr lang="en-US" sz="800" dirty="0">
                <a:sym typeface="+mn-lt"/>
              </a:rPr>
              <a:t>REC’s Business Today</a:t>
            </a:r>
          </a:p>
        </p:txBody>
      </p:sp>
      <p:sp>
        <p:nvSpPr>
          <p:cNvPr id="14" name="Text Box 32">
            <a:extLst>
              <a:ext uri="{FF2B5EF4-FFF2-40B4-BE49-F238E27FC236}">
                <a16:creationId xmlns:a16="http://schemas.microsoft.com/office/drawing/2014/main" id="{76D77789-A262-469F-916B-5569E332E7AB}"/>
              </a:ext>
            </a:extLst>
          </p:cNvPr>
          <p:cNvSpPr txBox="1">
            <a:spLocks noChangeArrowheads="1"/>
          </p:cNvSpPr>
          <p:nvPr/>
        </p:nvSpPr>
        <p:spPr bwMode="gray">
          <a:xfrm>
            <a:off x="3021936" y="5323922"/>
            <a:ext cx="2299554"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20" rIns="45720">
            <a:spAutoFit/>
          </a:bodyPr>
          <a:lstStyle>
            <a:lvl1pPr>
              <a:defRPr sz="700" b="1">
                <a:solidFill>
                  <a:schemeClr val="tx1"/>
                </a:solidFill>
                <a:latin typeface="Arial" charset="0"/>
                <a:cs typeface="Arial" charset="0"/>
              </a:defRPr>
            </a:lvl1pPr>
            <a:lvl2pPr marL="742950" indent="-285750">
              <a:defRPr sz="700" b="1">
                <a:solidFill>
                  <a:schemeClr val="tx1"/>
                </a:solidFill>
                <a:latin typeface="Arial" charset="0"/>
                <a:cs typeface="Arial" charset="0"/>
              </a:defRPr>
            </a:lvl2pPr>
            <a:lvl3pPr marL="1143000" indent="-228600">
              <a:defRPr sz="700" b="1">
                <a:solidFill>
                  <a:schemeClr val="tx1"/>
                </a:solidFill>
                <a:latin typeface="Arial" charset="0"/>
                <a:cs typeface="Arial" charset="0"/>
              </a:defRPr>
            </a:lvl3pPr>
            <a:lvl4pPr marL="1600200" indent="-228600">
              <a:defRPr sz="700" b="1">
                <a:solidFill>
                  <a:schemeClr val="tx1"/>
                </a:solidFill>
                <a:latin typeface="Arial" charset="0"/>
                <a:cs typeface="Arial" charset="0"/>
              </a:defRPr>
            </a:lvl4pPr>
            <a:lvl5pPr marL="2057400" indent="-228600">
              <a:defRPr sz="700" b="1">
                <a:solidFill>
                  <a:schemeClr val="tx1"/>
                </a:solidFill>
                <a:latin typeface="Arial" charset="0"/>
                <a:cs typeface="Arial" charset="0"/>
              </a:defRPr>
            </a:lvl5pPr>
            <a:lvl6pPr marL="2514600" indent="-228600" algn="ctr" eaLnBrk="0" fontAlgn="base" hangingPunct="0">
              <a:spcBef>
                <a:spcPct val="50000"/>
              </a:spcBef>
              <a:spcAft>
                <a:spcPct val="0"/>
              </a:spcAft>
              <a:defRPr sz="700" b="1">
                <a:solidFill>
                  <a:schemeClr val="tx1"/>
                </a:solidFill>
                <a:latin typeface="Arial" charset="0"/>
                <a:cs typeface="Arial" charset="0"/>
              </a:defRPr>
            </a:lvl6pPr>
            <a:lvl7pPr marL="2971800" indent="-228600" algn="ctr" eaLnBrk="0" fontAlgn="base" hangingPunct="0">
              <a:spcBef>
                <a:spcPct val="50000"/>
              </a:spcBef>
              <a:spcAft>
                <a:spcPct val="0"/>
              </a:spcAft>
              <a:defRPr sz="700" b="1">
                <a:solidFill>
                  <a:schemeClr val="tx1"/>
                </a:solidFill>
                <a:latin typeface="Arial" charset="0"/>
                <a:cs typeface="Arial" charset="0"/>
              </a:defRPr>
            </a:lvl7pPr>
            <a:lvl8pPr marL="3429000" indent="-228600" algn="ctr" eaLnBrk="0" fontAlgn="base" hangingPunct="0">
              <a:spcBef>
                <a:spcPct val="50000"/>
              </a:spcBef>
              <a:spcAft>
                <a:spcPct val="0"/>
              </a:spcAft>
              <a:defRPr sz="700" b="1">
                <a:solidFill>
                  <a:schemeClr val="tx1"/>
                </a:solidFill>
                <a:latin typeface="Arial" charset="0"/>
                <a:cs typeface="Arial" charset="0"/>
              </a:defRPr>
            </a:lvl8pPr>
            <a:lvl9pPr marL="3886200" indent="-228600" algn="ctr" eaLnBrk="0" fontAlgn="base" hangingPunct="0">
              <a:spcBef>
                <a:spcPct val="50000"/>
              </a:spcBef>
              <a:spcAft>
                <a:spcPct val="0"/>
              </a:spcAft>
              <a:defRPr sz="700" b="1">
                <a:solidFill>
                  <a:schemeClr val="tx1"/>
                </a:solidFill>
                <a:latin typeface="Arial" charset="0"/>
                <a:cs typeface="Arial" charset="0"/>
              </a:defRPr>
            </a:lvl9pPr>
          </a:lstStyle>
          <a:p>
            <a:pPr algn="l"/>
            <a:r>
              <a:rPr lang="en-US" sz="950" b="0" dirty="0">
                <a:latin typeface="Calibri" pitchFamily="34" charset="0"/>
                <a:cs typeface="Calibri" pitchFamily="34" charset="0"/>
              </a:rPr>
              <a:t>Increased share in Nodal Agency / non-compete business segments</a:t>
            </a:r>
          </a:p>
        </p:txBody>
      </p:sp>
      <p:sp>
        <p:nvSpPr>
          <p:cNvPr id="15" name="Text Box 33">
            <a:extLst>
              <a:ext uri="{FF2B5EF4-FFF2-40B4-BE49-F238E27FC236}">
                <a16:creationId xmlns:a16="http://schemas.microsoft.com/office/drawing/2014/main" id="{58AE198B-9DDF-44F6-A689-227B57FB1AFF}"/>
              </a:ext>
            </a:extLst>
          </p:cNvPr>
          <p:cNvSpPr txBox="1">
            <a:spLocks noChangeArrowheads="1"/>
          </p:cNvSpPr>
          <p:nvPr/>
        </p:nvSpPr>
        <p:spPr bwMode="gray">
          <a:xfrm>
            <a:off x="3021936" y="4938160"/>
            <a:ext cx="3010531"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20" rIns="45720">
            <a:spAutoFit/>
          </a:bodyPr>
          <a:lstStyle>
            <a:lvl1pPr>
              <a:defRPr sz="700" b="1">
                <a:solidFill>
                  <a:schemeClr val="tx1"/>
                </a:solidFill>
                <a:latin typeface="Arial" charset="0"/>
                <a:cs typeface="Arial" charset="0"/>
              </a:defRPr>
            </a:lvl1pPr>
            <a:lvl2pPr marL="742950" indent="-285750">
              <a:defRPr sz="700" b="1">
                <a:solidFill>
                  <a:schemeClr val="tx1"/>
                </a:solidFill>
                <a:latin typeface="Arial" charset="0"/>
                <a:cs typeface="Arial" charset="0"/>
              </a:defRPr>
            </a:lvl2pPr>
            <a:lvl3pPr marL="1143000" indent="-228600">
              <a:defRPr sz="700" b="1">
                <a:solidFill>
                  <a:schemeClr val="tx1"/>
                </a:solidFill>
                <a:latin typeface="Arial" charset="0"/>
                <a:cs typeface="Arial" charset="0"/>
              </a:defRPr>
            </a:lvl3pPr>
            <a:lvl4pPr marL="1600200" indent="-228600">
              <a:defRPr sz="700" b="1">
                <a:solidFill>
                  <a:schemeClr val="tx1"/>
                </a:solidFill>
                <a:latin typeface="Arial" charset="0"/>
                <a:cs typeface="Arial" charset="0"/>
              </a:defRPr>
            </a:lvl4pPr>
            <a:lvl5pPr marL="2057400" indent="-228600">
              <a:defRPr sz="700" b="1">
                <a:solidFill>
                  <a:schemeClr val="tx1"/>
                </a:solidFill>
                <a:latin typeface="Arial" charset="0"/>
                <a:cs typeface="Arial" charset="0"/>
              </a:defRPr>
            </a:lvl5pPr>
            <a:lvl6pPr marL="2514600" indent="-228600" algn="ctr" eaLnBrk="0" fontAlgn="base" hangingPunct="0">
              <a:spcBef>
                <a:spcPct val="50000"/>
              </a:spcBef>
              <a:spcAft>
                <a:spcPct val="0"/>
              </a:spcAft>
              <a:defRPr sz="700" b="1">
                <a:solidFill>
                  <a:schemeClr val="tx1"/>
                </a:solidFill>
                <a:latin typeface="Arial" charset="0"/>
                <a:cs typeface="Arial" charset="0"/>
              </a:defRPr>
            </a:lvl6pPr>
            <a:lvl7pPr marL="2971800" indent="-228600" algn="ctr" eaLnBrk="0" fontAlgn="base" hangingPunct="0">
              <a:spcBef>
                <a:spcPct val="50000"/>
              </a:spcBef>
              <a:spcAft>
                <a:spcPct val="0"/>
              </a:spcAft>
              <a:defRPr sz="700" b="1">
                <a:solidFill>
                  <a:schemeClr val="tx1"/>
                </a:solidFill>
                <a:latin typeface="Arial" charset="0"/>
                <a:cs typeface="Arial" charset="0"/>
              </a:defRPr>
            </a:lvl7pPr>
            <a:lvl8pPr marL="3429000" indent="-228600" algn="ctr" eaLnBrk="0" fontAlgn="base" hangingPunct="0">
              <a:spcBef>
                <a:spcPct val="50000"/>
              </a:spcBef>
              <a:spcAft>
                <a:spcPct val="0"/>
              </a:spcAft>
              <a:defRPr sz="700" b="1">
                <a:solidFill>
                  <a:schemeClr val="tx1"/>
                </a:solidFill>
                <a:latin typeface="Arial" charset="0"/>
                <a:cs typeface="Arial" charset="0"/>
              </a:defRPr>
            </a:lvl8pPr>
            <a:lvl9pPr marL="3886200" indent="-228600" algn="ctr" eaLnBrk="0" fontAlgn="base" hangingPunct="0">
              <a:spcBef>
                <a:spcPct val="50000"/>
              </a:spcBef>
              <a:spcAft>
                <a:spcPct val="0"/>
              </a:spcAft>
              <a:defRPr sz="700" b="1">
                <a:solidFill>
                  <a:schemeClr val="tx1"/>
                </a:solidFill>
                <a:latin typeface="Arial" charset="0"/>
                <a:cs typeface="Arial" charset="0"/>
              </a:defRPr>
            </a:lvl9pPr>
          </a:lstStyle>
          <a:p>
            <a:pPr algn="l"/>
            <a:r>
              <a:rPr lang="en-US" sz="950" b="0" dirty="0">
                <a:latin typeface="Calibri" pitchFamily="34" charset="0"/>
                <a:cs typeface="Calibri" pitchFamily="34" charset="0"/>
              </a:rPr>
              <a:t>Expand Current Capabilities</a:t>
            </a:r>
            <a:br>
              <a:rPr lang="en-US" sz="950" b="0" dirty="0">
                <a:latin typeface="Calibri" pitchFamily="34" charset="0"/>
                <a:cs typeface="Calibri" pitchFamily="34" charset="0"/>
              </a:rPr>
            </a:br>
            <a:r>
              <a:rPr lang="en-US" sz="950" b="0" dirty="0">
                <a:latin typeface="Calibri" pitchFamily="34" charset="0"/>
                <a:cs typeface="Calibri" pitchFamily="34" charset="0"/>
              </a:rPr>
              <a:t>to Allied Industries (Equipment, Storage, EVs, Smart Cities) </a:t>
            </a:r>
          </a:p>
        </p:txBody>
      </p:sp>
      <p:sp>
        <p:nvSpPr>
          <p:cNvPr id="16" name="Text Box 34">
            <a:extLst>
              <a:ext uri="{FF2B5EF4-FFF2-40B4-BE49-F238E27FC236}">
                <a16:creationId xmlns:a16="http://schemas.microsoft.com/office/drawing/2014/main" id="{008E4D28-9F12-48D6-A775-7FDD01959DE6}"/>
              </a:ext>
            </a:extLst>
          </p:cNvPr>
          <p:cNvSpPr txBox="1">
            <a:spLocks noChangeArrowheads="1"/>
          </p:cNvSpPr>
          <p:nvPr/>
        </p:nvSpPr>
        <p:spPr bwMode="gray">
          <a:xfrm>
            <a:off x="3021936" y="4539079"/>
            <a:ext cx="1733550"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spAutoFit/>
          </a:bodyPr>
          <a:lstStyle>
            <a:lvl1pPr>
              <a:defRPr sz="700" b="1">
                <a:solidFill>
                  <a:schemeClr val="tx1"/>
                </a:solidFill>
                <a:latin typeface="Arial" charset="0"/>
                <a:cs typeface="Arial" charset="0"/>
              </a:defRPr>
            </a:lvl1pPr>
            <a:lvl2pPr marL="742950" indent="-285750">
              <a:defRPr sz="700" b="1">
                <a:solidFill>
                  <a:schemeClr val="tx1"/>
                </a:solidFill>
                <a:latin typeface="Arial" charset="0"/>
                <a:cs typeface="Arial" charset="0"/>
              </a:defRPr>
            </a:lvl2pPr>
            <a:lvl3pPr marL="1143000" indent="-228600">
              <a:defRPr sz="700" b="1">
                <a:solidFill>
                  <a:schemeClr val="tx1"/>
                </a:solidFill>
                <a:latin typeface="Arial" charset="0"/>
                <a:cs typeface="Arial" charset="0"/>
              </a:defRPr>
            </a:lvl3pPr>
            <a:lvl4pPr marL="1600200" indent="-228600">
              <a:defRPr sz="700" b="1">
                <a:solidFill>
                  <a:schemeClr val="tx1"/>
                </a:solidFill>
                <a:latin typeface="Arial" charset="0"/>
                <a:cs typeface="Arial" charset="0"/>
              </a:defRPr>
            </a:lvl4pPr>
            <a:lvl5pPr marL="2057400" indent="-228600">
              <a:defRPr sz="700" b="1">
                <a:solidFill>
                  <a:schemeClr val="tx1"/>
                </a:solidFill>
                <a:latin typeface="Arial" charset="0"/>
                <a:cs typeface="Arial" charset="0"/>
              </a:defRPr>
            </a:lvl5pPr>
            <a:lvl6pPr marL="2514600" indent="-228600" algn="ctr" eaLnBrk="0" fontAlgn="base" hangingPunct="0">
              <a:spcBef>
                <a:spcPct val="50000"/>
              </a:spcBef>
              <a:spcAft>
                <a:spcPct val="0"/>
              </a:spcAft>
              <a:defRPr sz="700" b="1">
                <a:solidFill>
                  <a:schemeClr val="tx1"/>
                </a:solidFill>
                <a:latin typeface="Arial" charset="0"/>
                <a:cs typeface="Arial" charset="0"/>
              </a:defRPr>
            </a:lvl6pPr>
            <a:lvl7pPr marL="2971800" indent="-228600" algn="ctr" eaLnBrk="0" fontAlgn="base" hangingPunct="0">
              <a:spcBef>
                <a:spcPct val="50000"/>
              </a:spcBef>
              <a:spcAft>
                <a:spcPct val="0"/>
              </a:spcAft>
              <a:defRPr sz="700" b="1">
                <a:solidFill>
                  <a:schemeClr val="tx1"/>
                </a:solidFill>
                <a:latin typeface="Arial" charset="0"/>
                <a:cs typeface="Arial" charset="0"/>
              </a:defRPr>
            </a:lvl7pPr>
            <a:lvl8pPr marL="3429000" indent="-228600" algn="ctr" eaLnBrk="0" fontAlgn="base" hangingPunct="0">
              <a:spcBef>
                <a:spcPct val="50000"/>
              </a:spcBef>
              <a:spcAft>
                <a:spcPct val="0"/>
              </a:spcAft>
              <a:defRPr sz="700" b="1">
                <a:solidFill>
                  <a:schemeClr val="tx1"/>
                </a:solidFill>
                <a:latin typeface="Arial" charset="0"/>
                <a:cs typeface="Arial" charset="0"/>
              </a:defRPr>
            </a:lvl8pPr>
            <a:lvl9pPr marL="3886200" indent="-228600" algn="ctr" eaLnBrk="0" fontAlgn="base" hangingPunct="0">
              <a:spcBef>
                <a:spcPct val="50000"/>
              </a:spcBef>
              <a:spcAft>
                <a:spcPct val="0"/>
              </a:spcAft>
              <a:defRPr sz="700" b="1">
                <a:solidFill>
                  <a:schemeClr val="tx1"/>
                </a:solidFill>
                <a:latin typeface="Arial" charset="0"/>
                <a:cs typeface="Arial" charset="0"/>
              </a:defRPr>
            </a:lvl9pPr>
          </a:lstStyle>
          <a:p>
            <a:pPr algn="l"/>
            <a:r>
              <a:rPr lang="en-US" sz="950" b="0" dirty="0">
                <a:latin typeface="Calibri" pitchFamily="34" charset="0"/>
                <a:cs typeface="Calibri" pitchFamily="34" charset="0"/>
              </a:rPr>
              <a:t>Expand Current Capabilities  to Other Geographies (</a:t>
            </a:r>
            <a:r>
              <a:rPr lang="en-US" sz="950" b="0" dirty="0">
                <a:latin typeface="Calibri" pitchFamily="34" charset="0"/>
                <a:cs typeface="Calibri" pitchFamily="34" charset="0"/>
                <a:hlinkClick r:id="" action="ppaction://noaction"/>
              </a:rPr>
              <a:t>SEA, SA</a:t>
            </a:r>
            <a:r>
              <a:rPr lang="en-US" sz="950" b="0" dirty="0">
                <a:latin typeface="Calibri" pitchFamily="34" charset="0"/>
                <a:cs typeface="Calibri" pitchFamily="34" charset="0"/>
              </a:rPr>
              <a:t>)</a:t>
            </a:r>
          </a:p>
        </p:txBody>
      </p:sp>
      <p:sp>
        <p:nvSpPr>
          <p:cNvPr id="17" name="Text Box 35">
            <a:extLst>
              <a:ext uri="{FF2B5EF4-FFF2-40B4-BE49-F238E27FC236}">
                <a16:creationId xmlns:a16="http://schemas.microsoft.com/office/drawing/2014/main" id="{27FD830D-B7BE-4AFE-AAF2-E1DB57DAC14C}"/>
              </a:ext>
            </a:extLst>
          </p:cNvPr>
          <p:cNvSpPr txBox="1">
            <a:spLocks noChangeArrowheads="1"/>
          </p:cNvSpPr>
          <p:nvPr/>
        </p:nvSpPr>
        <p:spPr bwMode="gray">
          <a:xfrm>
            <a:off x="4063322" y="3736350"/>
            <a:ext cx="1790549" cy="3108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288" tIns="9144" rIns="18288" bIns="9144" anchor="ctr">
            <a:spAutoFit/>
          </a:bodyPr>
          <a:lstStyle>
            <a:lvl1pPr>
              <a:defRPr sz="700" b="1">
                <a:solidFill>
                  <a:schemeClr val="tx1"/>
                </a:solidFill>
                <a:latin typeface="Arial" charset="0"/>
                <a:cs typeface="Arial" charset="0"/>
              </a:defRPr>
            </a:lvl1pPr>
            <a:lvl2pPr marL="742950" indent="-285750">
              <a:defRPr sz="700" b="1">
                <a:solidFill>
                  <a:schemeClr val="tx1"/>
                </a:solidFill>
                <a:latin typeface="Arial" charset="0"/>
                <a:cs typeface="Arial" charset="0"/>
              </a:defRPr>
            </a:lvl2pPr>
            <a:lvl3pPr marL="1143000" indent="-228600">
              <a:defRPr sz="700" b="1">
                <a:solidFill>
                  <a:schemeClr val="tx1"/>
                </a:solidFill>
                <a:latin typeface="Arial" charset="0"/>
                <a:cs typeface="Arial" charset="0"/>
              </a:defRPr>
            </a:lvl3pPr>
            <a:lvl4pPr marL="1600200" indent="-228600">
              <a:defRPr sz="700" b="1">
                <a:solidFill>
                  <a:schemeClr val="tx1"/>
                </a:solidFill>
                <a:latin typeface="Arial" charset="0"/>
                <a:cs typeface="Arial" charset="0"/>
              </a:defRPr>
            </a:lvl4pPr>
            <a:lvl5pPr marL="2057400" indent="-228600">
              <a:defRPr sz="700" b="1">
                <a:solidFill>
                  <a:schemeClr val="tx1"/>
                </a:solidFill>
                <a:latin typeface="Arial" charset="0"/>
                <a:cs typeface="Arial" charset="0"/>
              </a:defRPr>
            </a:lvl5pPr>
            <a:lvl6pPr marL="2514600" indent="-228600" algn="ctr" eaLnBrk="0" fontAlgn="base" hangingPunct="0">
              <a:spcBef>
                <a:spcPct val="50000"/>
              </a:spcBef>
              <a:spcAft>
                <a:spcPct val="0"/>
              </a:spcAft>
              <a:defRPr sz="700" b="1">
                <a:solidFill>
                  <a:schemeClr val="tx1"/>
                </a:solidFill>
                <a:latin typeface="Arial" charset="0"/>
                <a:cs typeface="Arial" charset="0"/>
              </a:defRPr>
            </a:lvl6pPr>
            <a:lvl7pPr marL="2971800" indent="-228600" algn="ctr" eaLnBrk="0" fontAlgn="base" hangingPunct="0">
              <a:spcBef>
                <a:spcPct val="50000"/>
              </a:spcBef>
              <a:spcAft>
                <a:spcPct val="0"/>
              </a:spcAft>
              <a:defRPr sz="700" b="1">
                <a:solidFill>
                  <a:schemeClr val="tx1"/>
                </a:solidFill>
                <a:latin typeface="Arial" charset="0"/>
                <a:cs typeface="Arial" charset="0"/>
              </a:defRPr>
            </a:lvl7pPr>
            <a:lvl8pPr marL="3429000" indent="-228600" algn="ctr" eaLnBrk="0" fontAlgn="base" hangingPunct="0">
              <a:spcBef>
                <a:spcPct val="50000"/>
              </a:spcBef>
              <a:spcAft>
                <a:spcPct val="0"/>
              </a:spcAft>
              <a:defRPr sz="700" b="1">
                <a:solidFill>
                  <a:schemeClr val="tx1"/>
                </a:solidFill>
                <a:latin typeface="Arial" charset="0"/>
                <a:cs typeface="Arial" charset="0"/>
              </a:defRPr>
            </a:lvl8pPr>
            <a:lvl9pPr marL="3886200" indent="-228600" algn="ctr" eaLnBrk="0" fontAlgn="base" hangingPunct="0">
              <a:spcBef>
                <a:spcPct val="50000"/>
              </a:spcBef>
              <a:spcAft>
                <a:spcPct val="0"/>
              </a:spcAft>
              <a:defRPr sz="700" b="1">
                <a:solidFill>
                  <a:schemeClr val="tx1"/>
                </a:solidFill>
                <a:latin typeface="Arial" charset="0"/>
                <a:cs typeface="Arial" charset="0"/>
              </a:defRPr>
            </a:lvl9pPr>
          </a:lstStyle>
          <a:p>
            <a:pPr algn="l"/>
            <a:r>
              <a:rPr lang="en-US" sz="950" b="0" dirty="0">
                <a:latin typeface="Calibri" pitchFamily="34" charset="0"/>
                <a:cs typeface="Calibri" pitchFamily="34" charset="0"/>
              </a:rPr>
              <a:t>Offer New Capabilities/ Products for Core Industries</a:t>
            </a:r>
          </a:p>
        </p:txBody>
      </p:sp>
      <p:sp>
        <p:nvSpPr>
          <p:cNvPr id="18" name="Text Box 36">
            <a:extLst>
              <a:ext uri="{FF2B5EF4-FFF2-40B4-BE49-F238E27FC236}">
                <a16:creationId xmlns:a16="http://schemas.microsoft.com/office/drawing/2014/main" id="{45EB37CC-A45B-43F8-9CEA-7CC0CAD11A3D}"/>
              </a:ext>
            </a:extLst>
          </p:cNvPr>
          <p:cNvSpPr txBox="1">
            <a:spLocks noChangeArrowheads="1"/>
          </p:cNvSpPr>
          <p:nvPr/>
        </p:nvSpPr>
        <p:spPr bwMode="gray">
          <a:xfrm>
            <a:off x="4040437" y="3298272"/>
            <a:ext cx="1779784" cy="3108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288" tIns="9144" rIns="18288" bIns="9144" anchor="ctr">
            <a:spAutoFit/>
          </a:bodyPr>
          <a:lstStyle>
            <a:lvl1pPr>
              <a:defRPr sz="700" b="1">
                <a:solidFill>
                  <a:schemeClr val="tx1"/>
                </a:solidFill>
                <a:latin typeface="Arial" charset="0"/>
                <a:cs typeface="Arial" charset="0"/>
              </a:defRPr>
            </a:lvl1pPr>
            <a:lvl2pPr marL="742950" indent="-285750">
              <a:defRPr sz="700" b="1">
                <a:solidFill>
                  <a:schemeClr val="tx1"/>
                </a:solidFill>
                <a:latin typeface="Arial" charset="0"/>
                <a:cs typeface="Arial" charset="0"/>
              </a:defRPr>
            </a:lvl2pPr>
            <a:lvl3pPr marL="1143000" indent="-228600">
              <a:defRPr sz="700" b="1">
                <a:solidFill>
                  <a:schemeClr val="tx1"/>
                </a:solidFill>
                <a:latin typeface="Arial" charset="0"/>
                <a:cs typeface="Arial" charset="0"/>
              </a:defRPr>
            </a:lvl3pPr>
            <a:lvl4pPr marL="1600200" indent="-228600">
              <a:defRPr sz="700" b="1">
                <a:solidFill>
                  <a:schemeClr val="tx1"/>
                </a:solidFill>
                <a:latin typeface="Arial" charset="0"/>
                <a:cs typeface="Arial" charset="0"/>
              </a:defRPr>
            </a:lvl4pPr>
            <a:lvl5pPr marL="2057400" indent="-228600">
              <a:defRPr sz="700" b="1">
                <a:solidFill>
                  <a:schemeClr val="tx1"/>
                </a:solidFill>
                <a:latin typeface="Arial" charset="0"/>
                <a:cs typeface="Arial" charset="0"/>
              </a:defRPr>
            </a:lvl5pPr>
            <a:lvl6pPr marL="2514600" indent="-228600" algn="ctr" eaLnBrk="0" fontAlgn="base" hangingPunct="0">
              <a:spcBef>
                <a:spcPct val="50000"/>
              </a:spcBef>
              <a:spcAft>
                <a:spcPct val="0"/>
              </a:spcAft>
              <a:defRPr sz="700" b="1">
                <a:solidFill>
                  <a:schemeClr val="tx1"/>
                </a:solidFill>
                <a:latin typeface="Arial" charset="0"/>
                <a:cs typeface="Arial" charset="0"/>
              </a:defRPr>
            </a:lvl6pPr>
            <a:lvl7pPr marL="2971800" indent="-228600" algn="ctr" eaLnBrk="0" fontAlgn="base" hangingPunct="0">
              <a:spcBef>
                <a:spcPct val="50000"/>
              </a:spcBef>
              <a:spcAft>
                <a:spcPct val="0"/>
              </a:spcAft>
              <a:defRPr sz="700" b="1">
                <a:solidFill>
                  <a:schemeClr val="tx1"/>
                </a:solidFill>
                <a:latin typeface="Arial" charset="0"/>
                <a:cs typeface="Arial" charset="0"/>
              </a:defRPr>
            </a:lvl7pPr>
            <a:lvl8pPr marL="3429000" indent="-228600" algn="ctr" eaLnBrk="0" fontAlgn="base" hangingPunct="0">
              <a:spcBef>
                <a:spcPct val="50000"/>
              </a:spcBef>
              <a:spcAft>
                <a:spcPct val="0"/>
              </a:spcAft>
              <a:defRPr sz="700" b="1">
                <a:solidFill>
                  <a:schemeClr val="tx1"/>
                </a:solidFill>
                <a:latin typeface="Arial" charset="0"/>
                <a:cs typeface="Arial" charset="0"/>
              </a:defRPr>
            </a:lvl8pPr>
            <a:lvl9pPr marL="3886200" indent="-228600" algn="ctr" eaLnBrk="0" fontAlgn="base" hangingPunct="0">
              <a:spcBef>
                <a:spcPct val="50000"/>
              </a:spcBef>
              <a:spcAft>
                <a:spcPct val="0"/>
              </a:spcAft>
              <a:defRPr sz="700" b="1">
                <a:solidFill>
                  <a:schemeClr val="tx1"/>
                </a:solidFill>
                <a:latin typeface="Arial" charset="0"/>
                <a:cs typeface="Arial" charset="0"/>
              </a:defRPr>
            </a:lvl9pPr>
          </a:lstStyle>
          <a:p>
            <a:pPr algn="l"/>
            <a:r>
              <a:rPr lang="en-US" sz="950" b="0" dirty="0">
                <a:latin typeface="Calibri" pitchFamily="34" charset="0"/>
                <a:cs typeface="Calibri" pitchFamily="34" charset="0"/>
              </a:rPr>
              <a:t>Expand Industry Play in Extended Capability/ Product Set</a:t>
            </a:r>
          </a:p>
        </p:txBody>
      </p:sp>
      <p:sp>
        <p:nvSpPr>
          <p:cNvPr id="19" name="Text Box 38">
            <a:extLst>
              <a:ext uri="{FF2B5EF4-FFF2-40B4-BE49-F238E27FC236}">
                <a16:creationId xmlns:a16="http://schemas.microsoft.com/office/drawing/2014/main" id="{271C7178-D632-459B-B1A3-20A67228A2F0}"/>
              </a:ext>
            </a:extLst>
          </p:cNvPr>
          <p:cNvSpPr txBox="1">
            <a:spLocks noChangeArrowheads="1"/>
          </p:cNvSpPr>
          <p:nvPr/>
        </p:nvSpPr>
        <p:spPr bwMode="gray">
          <a:xfrm>
            <a:off x="4040437" y="2465803"/>
            <a:ext cx="2083868" cy="3108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288" tIns="9144" rIns="18288" bIns="9144" anchor="ctr">
            <a:spAutoFit/>
          </a:bodyPr>
          <a:lstStyle>
            <a:lvl1pPr>
              <a:defRPr sz="700" b="1">
                <a:solidFill>
                  <a:schemeClr val="tx1"/>
                </a:solidFill>
                <a:latin typeface="Arial" charset="0"/>
                <a:cs typeface="Arial" charset="0"/>
              </a:defRPr>
            </a:lvl1pPr>
            <a:lvl2pPr marL="742950" indent="-285750">
              <a:defRPr sz="700" b="1">
                <a:solidFill>
                  <a:schemeClr val="tx1"/>
                </a:solidFill>
                <a:latin typeface="Arial" charset="0"/>
                <a:cs typeface="Arial" charset="0"/>
              </a:defRPr>
            </a:lvl2pPr>
            <a:lvl3pPr marL="1143000" indent="-228600">
              <a:defRPr sz="700" b="1">
                <a:solidFill>
                  <a:schemeClr val="tx1"/>
                </a:solidFill>
                <a:latin typeface="Arial" charset="0"/>
                <a:cs typeface="Arial" charset="0"/>
              </a:defRPr>
            </a:lvl3pPr>
            <a:lvl4pPr marL="1600200" indent="-228600">
              <a:defRPr sz="700" b="1">
                <a:solidFill>
                  <a:schemeClr val="tx1"/>
                </a:solidFill>
                <a:latin typeface="Arial" charset="0"/>
                <a:cs typeface="Arial" charset="0"/>
              </a:defRPr>
            </a:lvl4pPr>
            <a:lvl5pPr marL="2057400" indent="-228600">
              <a:defRPr sz="700" b="1">
                <a:solidFill>
                  <a:schemeClr val="tx1"/>
                </a:solidFill>
                <a:latin typeface="Arial" charset="0"/>
                <a:cs typeface="Arial" charset="0"/>
              </a:defRPr>
            </a:lvl5pPr>
            <a:lvl6pPr marL="2514600" indent="-228600" algn="ctr" eaLnBrk="0" fontAlgn="base" hangingPunct="0">
              <a:spcBef>
                <a:spcPct val="50000"/>
              </a:spcBef>
              <a:spcAft>
                <a:spcPct val="0"/>
              </a:spcAft>
              <a:defRPr sz="700" b="1">
                <a:solidFill>
                  <a:schemeClr val="tx1"/>
                </a:solidFill>
                <a:latin typeface="Arial" charset="0"/>
                <a:cs typeface="Arial" charset="0"/>
              </a:defRPr>
            </a:lvl6pPr>
            <a:lvl7pPr marL="2971800" indent="-228600" algn="ctr" eaLnBrk="0" fontAlgn="base" hangingPunct="0">
              <a:spcBef>
                <a:spcPct val="50000"/>
              </a:spcBef>
              <a:spcAft>
                <a:spcPct val="0"/>
              </a:spcAft>
              <a:defRPr sz="700" b="1">
                <a:solidFill>
                  <a:schemeClr val="tx1"/>
                </a:solidFill>
                <a:latin typeface="Arial" charset="0"/>
                <a:cs typeface="Arial" charset="0"/>
              </a:defRPr>
            </a:lvl7pPr>
            <a:lvl8pPr marL="3429000" indent="-228600" algn="ctr" eaLnBrk="0" fontAlgn="base" hangingPunct="0">
              <a:spcBef>
                <a:spcPct val="50000"/>
              </a:spcBef>
              <a:spcAft>
                <a:spcPct val="0"/>
              </a:spcAft>
              <a:defRPr sz="700" b="1">
                <a:solidFill>
                  <a:schemeClr val="tx1"/>
                </a:solidFill>
                <a:latin typeface="Arial" charset="0"/>
                <a:cs typeface="Arial" charset="0"/>
              </a:defRPr>
            </a:lvl8pPr>
            <a:lvl9pPr marL="3886200" indent="-228600" algn="ctr" eaLnBrk="0" fontAlgn="base" hangingPunct="0">
              <a:spcBef>
                <a:spcPct val="50000"/>
              </a:spcBef>
              <a:spcAft>
                <a:spcPct val="0"/>
              </a:spcAft>
              <a:defRPr sz="700" b="1">
                <a:solidFill>
                  <a:schemeClr val="tx1"/>
                </a:solidFill>
                <a:latin typeface="Arial" charset="0"/>
                <a:cs typeface="Arial" charset="0"/>
              </a:defRPr>
            </a:lvl9pPr>
          </a:lstStyle>
          <a:p>
            <a:r>
              <a:rPr lang="en-US" sz="950" b="0" dirty="0">
                <a:latin typeface="Calibri" pitchFamily="34" charset="0"/>
                <a:cs typeface="Calibri" pitchFamily="34" charset="0"/>
              </a:rPr>
              <a:t>Increase share in extended capabilities by Consortium Participation/ Collaborations</a:t>
            </a:r>
          </a:p>
        </p:txBody>
      </p:sp>
      <p:sp>
        <p:nvSpPr>
          <p:cNvPr id="20" name="Text Box 41">
            <a:extLst>
              <a:ext uri="{FF2B5EF4-FFF2-40B4-BE49-F238E27FC236}">
                <a16:creationId xmlns:a16="http://schemas.microsoft.com/office/drawing/2014/main" id="{84EE0CCF-1E5C-48D1-813F-2912803EC6D7}"/>
              </a:ext>
            </a:extLst>
          </p:cNvPr>
          <p:cNvSpPr txBox="1">
            <a:spLocks noChangeArrowheads="1"/>
          </p:cNvSpPr>
          <p:nvPr/>
        </p:nvSpPr>
        <p:spPr bwMode="gray">
          <a:xfrm>
            <a:off x="4040437" y="2878006"/>
            <a:ext cx="1578841" cy="3108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18288" tIns="9144" rIns="18288" bIns="9144" anchor="ctr">
            <a:spAutoFit/>
          </a:bodyPr>
          <a:lstStyle>
            <a:lvl1pPr>
              <a:defRPr sz="700" b="1">
                <a:solidFill>
                  <a:schemeClr val="tx1"/>
                </a:solidFill>
                <a:latin typeface="Arial" charset="0"/>
                <a:cs typeface="Arial" charset="0"/>
              </a:defRPr>
            </a:lvl1pPr>
            <a:lvl2pPr marL="742950" indent="-285750">
              <a:defRPr sz="700" b="1">
                <a:solidFill>
                  <a:schemeClr val="tx1"/>
                </a:solidFill>
                <a:latin typeface="Arial" charset="0"/>
                <a:cs typeface="Arial" charset="0"/>
              </a:defRPr>
            </a:lvl2pPr>
            <a:lvl3pPr marL="1143000" indent="-228600">
              <a:defRPr sz="700" b="1">
                <a:solidFill>
                  <a:schemeClr val="tx1"/>
                </a:solidFill>
                <a:latin typeface="Arial" charset="0"/>
                <a:cs typeface="Arial" charset="0"/>
              </a:defRPr>
            </a:lvl3pPr>
            <a:lvl4pPr marL="1600200" indent="-228600">
              <a:defRPr sz="700" b="1">
                <a:solidFill>
                  <a:schemeClr val="tx1"/>
                </a:solidFill>
                <a:latin typeface="Arial" charset="0"/>
                <a:cs typeface="Arial" charset="0"/>
              </a:defRPr>
            </a:lvl4pPr>
            <a:lvl5pPr marL="2057400" indent="-228600">
              <a:defRPr sz="700" b="1">
                <a:solidFill>
                  <a:schemeClr val="tx1"/>
                </a:solidFill>
                <a:latin typeface="Arial" charset="0"/>
                <a:cs typeface="Arial" charset="0"/>
              </a:defRPr>
            </a:lvl5pPr>
            <a:lvl6pPr marL="2514600" indent="-228600" algn="ctr" eaLnBrk="0" fontAlgn="base" hangingPunct="0">
              <a:spcBef>
                <a:spcPct val="50000"/>
              </a:spcBef>
              <a:spcAft>
                <a:spcPct val="0"/>
              </a:spcAft>
              <a:defRPr sz="700" b="1">
                <a:solidFill>
                  <a:schemeClr val="tx1"/>
                </a:solidFill>
                <a:latin typeface="Arial" charset="0"/>
                <a:cs typeface="Arial" charset="0"/>
              </a:defRPr>
            </a:lvl6pPr>
            <a:lvl7pPr marL="2971800" indent="-228600" algn="ctr" eaLnBrk="0" fontAlgn="base" hangingPunct="0">
              <a:spcBef>
                <a:spcPct val="50000"/>
              </a:spcBef>
              <a:spcAft>
                <a:spcPct val="0"/>
              </a:spcAft>
              <a:defRPr sz="700" b="1">
                <a:solidFill>
                  <a:schemeClr val="tx1"/>
                </a:solidFill>
                <a:latin typeface="Arial" charset="0"/>
                <a:cs typeface="Arial" charset="0"/>
              </a:defRPr>
            </a:lvl7pPr>
            <a:lvl8pPr marL="3429000" indent="-228600" algn="ctr" eaLnBrk="0" fontAlgn="base" hangingPunct="0">
              <a:spcBef>
                <a:spcPct val="50000"/>
              </a:spcBef>
              <a:spcAft>
                <a:spcPct val="0"/>
              </a:spcAft>
              <a:defRPr sz="700" b="1">
                <a:solidFill>
                  <a:schemeClr val="tx1"/>
                </a:solidFill>
                <a:latin typeface="Arial" charset="0"/>
                <a:cs typeface="Arial" charset="0"/>
              </a:defRPr>
            </a:lvl8pPr>
            <a:lvl9pPr marL="3886200" indent="-228600" algn="ctr" eaLnBrk="0" fontAlgn="base" hangingPunct="0">
              <a:spcBef>
                <a:spcPct val="50000"/>
              </a:spcBef>
              <a:spcAft>
                <a:spcPct val="0"/>
              </a:spcAft>
              <a:defRPr sz="700" b="1">
                <a:solidFill>
                  <a:schemeClr val="tx1"/>
                </a:solidFill>
                <a:latin typeface="Arial" charset="0"/>
                <a:cs typeface="Arial" charset="0"/>
              </a:defRPr>
            </a:lvl9pPr>
          </a:lstStyle>
          <a:p>
            <a:pPr algn="l"/>
            <a:r>
              <a:rPr lang="en-US" sz="950" b="0" dirty="0">
                <a:latin typeface="Calibri" pitchFamily="34" charset="0"/>
                <a:cs typeface="Calibri" pitchFamily="34" charset="0"/>
              </a:rPr>
              <a:t>Expand Extended Capabilities to Other Geographies</a:t>
            </a:r>
          </a:p>
        </p:txBody>
      </p:sp>
      <p:sp>
        <p:nvSpPr>
          <p:cNvPr id="21" name="Text Box 42">
            <a:extLst>
              <a:ext uri="{FF2B5EF4-FFF2-40B4-BE49-F238E27FC236}">
                <a16:creationId xmlns:a16="http://schemas.microsoft.com/office/drawing/2014/main" id="{167E655E-F468-4ED7-94B5-9AF4767F3E08}"/>
              </a:ext>
            </a:extLst>
          </p:cNvPr>
          <p:cNvSpPr txBox="1">
            <a:spLocks noChangeArrowheads="1"/>
          </p:cNvSpPr>
          <p:nvPr/>
        </p:nvSpPr>
        <p:spPr bwMode="gray">
          <a:xfrm rot="16200000">
            <a:off x="804198" y="3992010"/>
            <a:ext cx="698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spAutoFit/>
          </a:bodyPr>
          <a:lstStyle>
            <a:lvl1pPr>
              <a:defRPr sz="700" b="1">
                <a:solidFill>
                  <a:schemeClr val="tx1"/>
                </a:solidFill>
                <a:latin typeface="Arial" charset="0"/>
                <a:cs typeface="Arial" charset="0"/>
              </a:defRPr>
            </a:lvl1pPr>
            <a:lvl2pPr marL="742950" indent="-285750">
              <a:defRPr sz="700" b="1">
                <a:solidFill>
                  <a:schemeClr val="tx1"/>
                </a:solidFill>
                <a:latin typeface="Arial" charset="0"/>
                <a:cs typeface="Arial" charset="0"/>
              </a:defRPr>
            </a:lvl2pPr>
            <a:lvl3pPr marL="1143000" indent="-228600">
              <a:defRPr sz="700" b="1">
                <a:solidFill>
                  <a:schemeClr val="tx1"/>
                </a:solidFill>
                <a:latin typeface="Arial" charset="0"/>
                <a:cs typeface="Arial" charset="0"/>
              </a:defRPr>
            </a:lvl3pPr>
            <a:lvl4pPr marL="1600200" indent="-228600">
              <a:defRPr sz="700" b="1">
                <a:solidFill>
                  <a:schemeClr val="tx1"/>
                </a:solidFill>
                <a:latin typeface="Arial" charset="0"/>
                <a:cs typeface="Arial" charset="0"/>
              </a:defRPr>
            </a:lvl4pPr>
            <a:lvl5pPr marL="2057400" indent="-228600">
              <a:defRPr sz="700" b="1">
                <a:solidFill>
                  <a:schemeClr val="tx1"/>
                </a:solidFill>
                <a:latin typeface="Arial" charset="0"/>
                <a:cs typeface="Arial" charset="0"/>
              </a:defRPr>
            </a:lvl5pPr>
            <a:lvl6pPr marL="2514600" indent="-228600" algn="ctr" eaLnBrk="0" fontAlgn="base" hangingPunct="0">
              <a:spcBef>
                <a:spcPct val="50000"/>
              </a:spcBef>
              <a:spcAft>
                <a:spcPct val="0"/>
              </a:spcAft>
              <a:defRPr sz="700" b="1">
                <a:solidFill>
                  <a:schemeClr val="tx1"/>
                </a:solidFill>
                <a:latin typeface="Arial" charset="0"/>
                <a:cs typeface="Arial" charset="0"/>
              </a:defRPr>
            </a:lvl6pPr>
            <a:lvl7pPr marL="2971800" indent="-228600" algn="ctr" eaLnBrk="0" fontAlgn="base" hangingPunct="0">
              <a:spcBef>
                <a:spcPct val="50000"/>
              </a:spcBef>
              <a:spcAft>
                <a:spcPct val="0"/>
              </a:spcAft>
              <a:defRPr sz="700" b="1">
                <a:solidFill>
                  <a:schemeClr val="tx1"/>
                </a:solidFill>
                <a:latin typeface="Arial" charset="0"/>
                <a:cs typeface="Arial" charset="0"/>
              </a:defRPr>
            </a:lvl7pPr>
            <a:lvl8pPr marL="3429000" indent="-228600" algn="ctr" eaLnBrk="0" fontAlgn="base" hangingPunct="0">
              <a:spcBef>
                <a:spcPct val="50000"/>
              </a:spcBef>
              <a:spcAft>
                <a:spcPct val="0"/>
              </a:spcAft>
              <a:defRPr sz="700" b="1">
                <a:solidFill>
                  <a:schemeClr val="tx1"/>
                </a:solidFill>
                <a:latin typeface="Arial" charset="0"/>
                <a:cs typeface="Arial" charset="0"/>
              </a:defRPr>
            </a:lvl8pPr>
            <a:lvl9pPr marL="3886200" indent="-228600" algn="ctr" eaLnBrk="0" fontAlgn="base" hangingPunct="0">
              <a:spcBef>
                <a:spcPct val="50000"/>
              </a:spcBef>
              <a:spcAft>
                <a:spcPct val="0"/>
              </a:spcAft>
              <a:defRPr sz="700" b="1">
                <a:solidFill>
                  <a:schemeClr val="tx1"/>
                </a:solidFill>
                <a:latin typeface="Arial" charset="0"/>
                <a:cs typeface="Arial" charset="0"/>
              </a:defRPr>
            </a:lvl9pPr>
          </a:lstStyle>
          <a:p>
            <a:r>
              <a:rPr lang="en-US" sz="1200" b="0" dirty="0"/>
              <a:t>Revenue</a:t>
            </a:r>
          </a:p>
        </p:txBody>
      </p:sp>
      <p:sp>
        <p:nvSpPr>
          <p:cNvPr id="22" name="Text Box 43">
            <a:extLst>
              <a:ext uri="{FF2B5EF4-FFF2-40B4-BE49-F238E27FC236}">
                <a16:creationId xmlns:a16="http://schemas.microsoft.com/office/drawing/2014/main" id="{094B7EBE-8707-4C6B-B1E8-A30726FCF942}"/>
              </a:ext>
            </a:extLst>
          </p:cNvPr>
          <p:cNvSpPr txBox="1">
            <a:spLocks noChangeArrowheads="1"/>
          </p:cNvSpPr>
          <p:nvPr/>
        </p:nvSpPr>
        <p:spPr bwMode="auto">
          <a:xfrm>
            <a:off x="1396336" y="5254072"/>
            <a:ext cx="992187" cy="400110"/>
          </a:xfrm>
          <a:prstGeom prst="rect">
            <a:avLst/>
          </a:prstGeom>
          <a:noFill/>
          <a:ln>
            <a:noFill/>
          </a:ln>
        </p:spPr>
        <p:txBody>
          <a:bodyPr lIns="45720" rIns="45720">
            <a:spAutoFit/>
          </a:bodyPr>
          <a:lstStyle>
            <a:lvl1pPr>
              <a:defRPr sz="700" b="1">
                <a:solidFill>
                  <a:schemeClr val="tx1"/>
                </a:solidFill>
                <a:latin typeface="Arial" charset="0"/>
                <a:cs typeface="Arial" charset="0"/>
              </a:defRPr>
            </a:lvl1pPr>
            <a:lvl2pPr marL="742950" indent="-285750">
              <a:defRPr sz="700" b="1">
                <a:solidFill>
                  <a:schemeClr val="tx1"/>
                </a:solidFill>
                <a:latin typeface="Arial" charset="0"/>
                <a:cs typeface="Arial" charset="0"/>
              </a:defRPr>
            </a:lvl2pPr>
            <a:lvl3pPr marL="1143000" indent="-228600">
              <a:defRPr sz="700" b="1">
                <a:solidFill>
                  <a:schemeClr val="tx1"/>
                </a:solidFill>
                <a:latin typeface="Arial" charset="0"/>
                <a:cs typeface="Arial" charset="0"/>
              </a:defRPr>
            </a:lvl3pPr>
            <a:lvl4pPr marL="1600200" indent="-228600">
              <a:defRPr sz="700" b="1">
                <a:solidFill>
                  <a:schemeClr val="tx1"/>
                </a:solidFill>
                <a:latin typeface="Arial" charset="0"/>
                <a:cs typeface="Arial" charset="0"/>
              </a:defRPr>
            </a:lvl4pPr>
            <a:lvl5pPr marL="2057400" indent="-228600">
              <a:defRPr sz="700" b="1">
                <a:solidFill>
                  <a:schemeClr val="tx1"/>
                </a:solidFill>
                <a:latin typeface="Arial" charset="0"/>
                <a:cs typeface="Arial" charset="0"/>
              </a:defRPr>
            </a:lvl5pPr>
            <a:lvl6pPr marL="2514600" indent="-228600" algn="ctr" eaLnBrk="0" fontAlgn="base" hangingPunct="0">
              <a:spcBef>
                <a:spcPct val="50000"/>
              </a:spcBef>
              <a:spcAft>
                <a:spcPct val="0"/>
              </a:spcAft>
              <a:defRPr sz="700" b="1">
                <a:solidFill>
                  <a:schemeClr val="tx1"/>
                </a:solidFill>
                <a:latin typeface="Arial" charset="0"/>
                <a:cs typeface="Arial" charset="0"/>
              </a:defRPr>
            </a:lvl6pPr>
            <a:lvl7pPr marL="2971800" indent="-228600" algn="ctr" eaLnBrk="0" fontAlgn="base" hangingPunct="0">
              <a:spcBef>
                <a:spcPct val="50000"/>
              </a:spcBef>
              <a:spcAft>
                <a:spcPct val="0"/>
              </a:spcAft>
              <a:defRPr sz="700" b="1">
                <a:solidFill>
                  <a:schemeClr val="tx1"/>
                </a:solidFill>
                <a:latin typeface="Arial" charset="0"/>
                <a:cs typeface="Arial" charset="0"/>
              </a:defRPr>
            </a:lvl7pPr>
            <a:lvl8pPr marL="3429000" indent="-228600" algn="ctr" eaLnBrk="0" fontAlgn="base" hangingPunct="0">
              <a:spcBef>
                <a:spcPct val="50000"/>
              </a:spcBef>
              <a:spcAft>
                <a:spcPct val="0"/>
              </a:spcAft>
              <a:defRPr sz="700" b="1">
                <a:solidFill>
                  <a:schemeClr val="tx1"/>
                </a:solidFill>
                <a:latin typeface="Arial" charset="0"/>
                <a:cs typeface="Arial" charset="0"/>
              </a:defRPr>
            </a:lvl8pPr>
            <a:lvl9pPr marL="3886200" indent="-228600" algn="ctr" eaLnBrk="0" fontAlgn="base" hangingPunct="0">
              <a:spcBef>
                <a:spcPct val="50000"/>
              </a:spcBef>
              <a:spcAft>
                <a:spcPct val="0"/>
              </a:spcAft>
              <a:defRPr sz="700" b="1">
                <a:solidFill>
                  <a:schemeClr val="tx1"/>
                </a:solidFill>
                <a:latin typeface="Arial" charset="0"/>
                <a:cs typeface="Arial" charset="0"/>
              </a:defRPr>
            </a:lvl9pPr>
          </a:lstStyle>
          <a:p>
            <a:pPr algn="ctr"/>
            <a:r>
              <a:rPr lang="en-US" sz="1000" dirty="0">
                <a:latin typeface="Calibri" pitchFamily="34" charset="0"/>
                <a:cs typeface="Calibri" pitchFamily="34" charset="0"/>
              </a:rPr>
              <a:t>INR 29855 Crore  (FY20)</a:t>
            </a:r>
          </a:p>
        </p:txBody>
      </p:sp>
      <p:sp>
        <p:nvSpPr>
          <p:cNvPr id="23" name="Rectangle 47">
            <a:extLst>
              <a:ext uri="{FF2B5EF4-FFF2-40B4-BE49-F238E27FC236}">
                <a16:creationId xmlns:a16="http://schemas.microsoft.com/office/drawing/2014/main" id="{09693672-6CE3-4247-8F1E-DACC6557C854}"/>
              </a:ext>
            </a:extLst>
          </p:cNvPr>
          <p:cNvSpPr>
            <a:spLocks noChangeArrowheads="1"/>
          </p:cNvSpPr>
          <p:nvPr/>
        </p:nvSpPr>
        <p:spPr bwMode="gray">
          <a:xfrm>
            <a:off x="1339186" y="1621872"/>
            <a:ext cx="2897188"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rIns="45720" anchor="ctr"/>
          <a:lstStyle/>
          <a:p>
            <a:pPr algn="ctr"/>
            <a:r>
              <a:rPr lang="en-US" sz="1400" b="1" dirty="0">
                <a:latin typeface="Calibri" pitchFamily="34" charset="0"/>
                <a:cs typeface="Calibri" pitchFamily="34" charset="0"/>
              </a:rPr>
              <a:t>Strategic Choices</a:t>
            </a:r>
          </a:p>
        </p:txBody>
      </p:sp>
      <p:grpSp>
        <p:nvGrpSpPr>
          <p:cNvPr id="24" name="Group 52">
            <a:extLst>
              <a:ext uri="{FF2B5EF4-FFF2-40B4-BE49-F238E27FC236}">
                <a16:creationId xmlns:a16="http://schemas.microsoft.com/office/drawing/2014/main" id="{F85C3D1A-CCC4-4F1C-A63C-D79879BDA936}"/>
              </a:ext>
            </a:extLst>
          </p:cNvPr>
          <p:cNvGrpSpPr>
            <a:grpSpLocks/>
          </p:cNvGrpSpPr>
          <p:nvPr/>
        </p:nvGrpSpPr>
        <p:grpSpPr bwMode="auto">
          <a:xfrm rot="19887519">
            <a:off x="1045498" y="2069547"/>
            <a:ext cx="919163" cy="304800"/>
            <a:chOff x="4631" y="262"/>
            <a:chExt cx="579" cy="192"/>
          </a:xfrm>
        </p:grpSpPr>
        <p:sp>
          <p:nvSpPr>
            <p:cNvPr id="25" name="Text Box 49">
              <a:extLst>
                <a:ext uri="{FF2B5EF4-FFF2-40B4-BE49-F238E27FC236}">
                  <a16:creationId xmlns:a16="http://schemas.microsoft.com/office/drawing/2014/main" id="{5F910697-8F8A-4F5B-8394-34536470339A}"/>
                </a:ext>
              </a:extLst>
            </p:cNvPr>
            <p:cNvSpPr txBox="1">
              <a:spLocks noChangeAspect="1" noChangeArrowheads="1"/>
            </p:cNvSpPr>
            <p:nvPr/>
          </p:nvSpPr>
          <p:spPr bwMode="gray">
            <a:xfrm>
              <a:off x="4631" y="262"/>
              <a:ext cx="579"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5720" rIns="45720"/>
            <a:lstStyle>
              <a:lvl1pPr>
                <a:defRPr sz="700" b="1">
                  <a:solidFill>
                    <a:schemeClr val="tx1"/>
                  </a:solidFill>
                  <a:latin typeface="Arial" charset="0"/>
                  <a:cs typeface="Arial" charset="0"/>
                </a:defRPr>
              </a:lvl1pPr>
              <a:lvl2pPr marL="742950" indent="-285750">
                <a:defRPr sz="700" b="1">
                  <a:solidFill>
                    <a:schemeClr val="tx1"/>
                  </a:solidFill>
                  <a:latin typeface="Arial" charset="0"/>
                  <a:cs typeface="Arial" charset="0"/>
                </a:defRPr>
              </a:lvl2pPr>
              <a:lvl3pPr marL="1143000" indent="-228600">
                <a:defRPr sz="700" b="1">
                  <a:solidFill>
                    <a:schemeClr val="tx1"/>
                  </a:solidFill>
                  <a:latin typeface="Arial" charset="0"/>
                  <a:cs typeface="Arial" charset="0"/>
                </a:defRPr>
              </a:lvl3pPr>
              <a:lvl4pPr marL="1600200" indent="-228600">
                <a:defRPr sz="700" b="1">
                  <a:solidFill>
                    <a:schemeClr val="tx1"/>
                  </a:solidFill>
                  <a:latin typeface="Arial" charset="0"/>
                  <a:cs typeface="Arial" charset="0"/>
                </a:defRPr>
              </a:lvl4pPr>
              <a:lvl5pPr marL="2057400" indent="-228600">
                <a:defRPr sz="700" b="1">
                  <a:solidFill>
                    <a:schemeClr val="tx1"/>
                  </a:solidFill>
                  <a:latin typeface="Arial" charset="0"/>
                  <a:cs typeface="Arial" charset="0"/>
                </a:defRPr>
              </a:lvl5pPr>
              <a:lvl6pPr marL="2514600" indent="-228600" algn="ctr" eaLnBrk="0" fontAlgn="base" hangingPunct="0">
                <a:spcBef>
                  <a:spcPct val="50000"/>
                </a:spcBef>
                <a:spcAft>
                  <a:spcPct val="0"/>
                </a:spcAft>
                <a:defRPr sz="700" b="1">
                  <a:solidFill>
                    <a:schemeClr val="tx1"/>
                  </a:solidFill>
                  <a:latin typeface="Arial" charset="0"/>
                  <a:cs typeface="Arial" charset="0"/>
                </a:defRPr>
              </a:lvl6pPr>
              <a:lvl7pPr marL="2971800" indent="-228600" algn="ctr" eaLnBrk="0" fontAlgn="base" hangingPunct="0">
                <a:spcBef>
                  <a:spcPct val="50000"/>
                </a:spcBef>
                <a:spcAft>
                  <a:spcPct val="0"/>
                </a:spcAft>
                <a:defRPr sz="700" b="1">
                  <a:solidFill>
                    <a:schemeClr val="tx1"/>
                  </a:solidFill>
                  <a:latin typeface="Arial" charset="0"/>
                  <a:cs typeface="Arial" charset="0"/>
                </a:defRPr>
              </a:lvl7pPr>
              <a:lvl8pPr marL="3429000" indent="-228600" algn="ctr" eaLnBrk="0" fontAlgn="base" hangingPunct="0">
                <a:spcBef>
                  <a:spcPct val="50000"/>
                </a:spcBef>
                <a:spcAft>
                  <a:spcPct val="0"/>
                </a:spcAft>
                <a:defRPr sz="700" b="1">
                  <a:solidFill>
                    <a:schemeClr val="tx1"/>
                  </a:solidFill>
                  <a:latin typeface="Arial" charset="0"/>
                  <a:cs typeface="Arial" charset="0"/>
                </a:defRPr>
              </a:lvl8pPr>
              <a:lvl9pPr marL="3886200" indent="-228600" algn="ctr" eaLnBrk="0" fontAlgn="base" hangingPunct="0">
                <a:spcBef>
                  <a:spcPct val="50000"/>
                </a:spcBef>
                <a:spcAft>
                  <a:spcPct val="0"/>
                </a:spcAft>
                <a:defRPr sz="700" b="1">
                  <a:solidFill>
                    <a:schemeClr val="tx1"/>
                  </a:solidFill>
                  <a:latin typeface="Arial" charset="0"/>
                  <a:cs typeface="Arial" charset="0"/>
                </a:defRPr>
              </a:lvl9pPr>
            </a:lstStyle>
            <a:p>
              <a:r>
                <a:rPr lang="en-US" sz="800" i="1" dirty="0">
                  <a:solidFill>
                    <a:srgbClr val="FF0000"/>
                  </a:solidFill>
                </a:rPr>
                <a:t>ILLUSTRATIVE</a:t>
              </a:r>
            </a:p>
          </p:txBody>
        </p:sp>
        <p:sp>
          <p:nvSpPr>
            <p:cNvPr id="26" name="Line 50">
              <a:extLst>
                <a:ext uri="{FF2B5EF4-FFF2-40B4-BE49-F238E27FC236}">
                  <a16:creationId xmlns:a16="http://schemas.microsoft.com/office/drawing/2014/main" id="{3F0D2201-E5B0-4FBD-86FA-E8BD5C2C6F19}"/>
                </a:ext>
              </a:extLst>
            </p:cNvPr>
            <p:cNvSpPr>
              <a:spLocks noChangeAspect="1" noChangeShapeType="1"/>
            </p:cNvSpPr>
            <p:nvPr/>
          </p:nvSpPr>
          <p:spPr bwMode="gray">
            <a:xfrm>
              <a:off x="4699" y="262"/>
              <a:ext cx="472"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45720" rIns="45720" anchor="ctr"/>
            <a:lstStyle/>
            <a:p>
              <a:endParaRPr lang="en-US"/>
            </a:p>
          </p:txBody>
        </p:sp>
        <p:sp>
          <p:nvSpPr>
            <p:cNvPr id="27" name="Line 51">
              <a:extLst>
                <a:ext uri="{FF2B5EF4-FFF2-40B4-BE49-F238E27FC236}">
                  <a16:creationId xmlns:a16="http://schemas.microsoft.com/office/drawing/2014/main" id="{9D44E706-8F33-4B5C-8152-6AA983A90885}"/>
                </a:ext>
              </a:extLst>
            </p:cNvPr>
            <p:cNvSpPr>
              <a:spLocks noChangeAspect="1" noChangeShapeType="1"/>
            </p:cNvSpPr>
            <p:nvPr/>
          </p:nvSpPr>
          <p:spPr bwMode="gray">
            <a:xfrm>
              <a:off x="4699" y="394"/>
              <a:ext cx="472"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45720" rIns="45720" anchor="ctr"/>
            <a:lstStyle/>
            <a:p>
              <a:endParaRPr lang="en-US"/>
            </a:p>
          </p:txBody>
        </p:sp>
      </p:grpSp>
      <p:grpSp>
        <p:nvGrpSpPr>
          <p:cNvPr id="28" name="Group 27">
            <a:extLst>
              <a:ext uri="{FF2B5EF4-FFF2-40B4-BE49-F238E27FC236}">
                <a16:creationId xmlns:a16="http://schemas.microsoft.com/office/drawing/2014/main" id="{10CF3FED-5A02-451B-A137-6FBF886631C7}"/>
              </a:ext>
            </a:extLst>
          </p:cNvPr>
          <p:cNvGrpSpPr/>
          <p:nvPr/>
        </p:nvGrpSpPr>
        <p:grpSpPr>
          <a:xfrm>
            <a:off x="1375018" y="2144527"/>
            <a:ext cx="1921238" cy="1376065"/>
            <a:chOff x="2078693" y="1555858"/>
            <a:chExt cx="3747835" cy="2689802"/>
          </a:xfrm>
        </p:grpSpPr>
        <p:grpSp>
          <p:nvGrpSpPr>
            <p:cNvPr id="29" name="Group 28">
              <a:extLst>
                <a:ext uri="{FF2B5EF4-FFF2-40B4-BE49-F238E27FC236}">
                  <a16:creationId xmlns:a16="http://schemas.microsoft.com/office/drawing/2014/main" id="{19B87B43-FAA0-4A80-AAD4-525E198BBC21}"/>
                </a:ext>
              </a:extLst>
            </p:cNvPr>
            <p:cNvGrpSpPr/>
            <p:nvPr/>
          </p:nvGrpSpPr>
          <p:grpSpPr>
            <a:xfrm>
              <a:off x="3179551" y="2123238"/>
              <a:ext cx="1910328" cy="1167999"/>
              <a:chOff x="1997231" y="1323216"/>
              <a:chExt cx="5111209" cy="3401154"/>
            </a:xfrm>
          </p:grpSpPr>
          <p:cxnSp>
            <p:nvCxnSpPr>
              <p:cNvPr id="33" name="Straight Connector 32">
                <a:extLst>
                  <a:ext uri="{FF2B5EF4-FFF2-40B4-BE49-F238E27FC236}">
                    <a16:creationId xmlns:a16="http://schemas.microsoft.com/office/drawing/2014/main" id="{25C4DEB5-A631-4E7A-94F5-B5BD1FC085D3}"/>
                  </a:ext>
                </a:extLst>
              </p:cNvPr>
              <p:cNvCxnSpPr/>
              <p:nvPr/>
            </p:nvCxnSpPr>
            <p:spPr>
              <a:xfrm rot="12600000" flipH="1">
                <a:off x="4365240" y="4724370"/>
                <a:ext cx="2743200" cy="0"/>
              </a:xfrm>
              <a:prstGeom prst="line">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2CF2EBE-7B6A-48F0-BE91-63D87E38B9EA}"/>
                  </a:ext>
                </a:extLst>
              </p:cNvPr>
              <p:cNvCxnSpPr/>
              <p:nvPr/>
            </p:nvCxnSpPr>
            <p:spPr>
              <a:xfrm rot="5400000" flipH="1">
                <a:off x="3183732" y="2694816"/>
                <a:ext cx="2743200" cy="0"/>
              </a:xfrm>
              <a:prstGeom prst="line">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620546E-8AF1-4B7F-BAFC-3E73FBEC7296}"/>
                  </a:ext>
                </a:extLst>
              </p:cNvPr>
              <p:cNvCxnSpPr/>
              <p:nvPr/>
            </p:nvCxnSpPr>
            <p:spPr>
              <a:xfrm rot="19800000" flipH="1">
                <a:off x="1997231" y="4724369"/>
                <a:ext cx="2743200" cy="0"/>
              </a:xfrm>
              <a:prstGeom prst="line">
                <a:avLst/>
              </a:prstGeom>
              <a:ln w="254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sp>
          <p:nvSpPr>
            <p:cNvPr id="30" name="Text Box 173">
              <a:extLst>
                <a:ext uri="{FF2B5EF4-FFF2-40B4-BE49-F238E27FC236}">
                  <a16:creationId xmlns:a16="http://schemas.microsoft.com/office/drawing/2014/main" id="{146C5993-B43F-455F-8261-6D67C0409C4D}"/>
                </a:ext>
              </a:extLst>
            </p:cNvPr>
            <p:cNvSpPr txBox="1">
              <a:spLocks noChangeArrowheads="1"/>
            </p:cNvSpPr>
            <p:nvPr/>
          </p:nvSpPr>
          <p:spPr bwMode="auto">
            <a:xfrm>
              <a:off x="4817822" y="3343241"/>
              <a:ext cx="1008706" cy="902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20" rIns="45720">
              <a:spAutoFit/>
            </a:bodyPr>
            <a:lstStyle>
              <a:lvl1pPr>
                <a:defRPr sz="700" b="1">
                  <a:solidFill>
                    <a:schemeClr val="tx1"/>
                  </a:solidFill>
                  <a:latin typeface="Arial" charset="0"/>
                  <a:cs typeface="Arial" charset="0"/>
                </a:defRPr>
              </a:lvl1pPr>
              <a:lvl2pPr marL="742950" indent="-285750">
                <a:defRPr sz="700" b="1">
                  <a:solidFill>
                    <a:schemeClr val="tx1"/>
                  </a:solidFill>
                  <a:latin typeface="Arial" charset="0"/>
                  <a:cs typeface="Arial" charset="0"/>
                </a:defRPr>
              </a:lvl2pPr>
              <a:lvl3pPr marL="1143000" indent="-228600">
                <a:defRPr sz="700" b="1">
                  <a:solidFill>
                    <a:schemeClr val="tx1"/>
                  </a:solidFill>
                  <a:latin typeface="Arial" charset="0"/>
                  <a:cs typeface="Arial" charset="0"/>
                </a:defRPr>
              </a:lvl3pPr>
              <a:lvl4pPr marL="1600200" indent="-228600">
                <a:defRPr sz="700" b="1">
                  <a:solidFill>
                    <a:schemeClr val="tx1"/>
                  </a:solidFill>
                  <a:latin typeface="Arial" charset="0"/>
                  <a:cs typeface="Arial" charset="0"/>
                </a:defRPr>
              </a:lvl4pPr>
              <a:lvl5pPr marL="2057400" indent="-228600">
                <a:defRPr sz="700" b="1">
                  <a:solidFill>
                    <a:schemeClr val="tx1"/>
                  </a:solidFill>
                  <a:latin typeface="Arial" charset="0"/>
                  <a:cs typeface="Arial" charset="0"/>
                </a:defRPr>
              </a:lvl5pPr>
              <a:lvl6pPr marL="2514600" indent="-228600" algn="ctr" eaLnBrk="0" fontAlgn="base" hangingPunct="0">
                <a:spcBef>
                  <a:spcPct val="50000"/>
                </a:spcBef>
                <a:spcAft>
                  <a:spcPct val="0"/>
                </a:spcAft>
                <a:defRPr sz="700" b="1">
                  <a:solidFill>
                    <a:schemeClr val="tx1"/>
                  </a:solidFill>
                  <a:latin typeface="Arial" charset="0"/>
                  <a:cs typeface="Arial" charset="0"/>
                </a:defRPr>
              </a:lvl6pPr>
              <a:lvl7pPr marL="2971800" indent="-228600" algn="ctr" eaLnBrk="0" fontAlgn="base" hangingPunct="0">
                <a:spcBef>
                  <a:spcPct val="50000"/>
                </a:spcBef>
                <a:spcAft>
                  <a:spcPct val="0"/>
                </a:spcAft>
                <a:defRPr sz="700" b="1">
                  <a:solidFill>
                    <a:schemeClr val="tx1"/>
                  </a:solidFill>
                  <a:latin typeface="Arial" charset="0"/>
                  <a:cs typeface="Arial" charset="0"/>
                </a:defRPr>
              </a:lvl7pPr>
              <a:lvl8pPr marL="3429000" indent="-228600" algn="ctr" eaLnBrk="0" fontAlgn="base" hangingPunct="0">
                <a:spcBef>
                  <a:spcPct val="50000"/>
                </a:spcBef>
                <a:spcAft>
                  <a:spcPct val="0"/>
                </a:spcAft>
                <a:defRPr sz="700" b="1">
                  <a:solidFill>
                    <a:schemeClr val="tx1"/>
                  </a:solidFill>
                  <a:latin typeface="Arial" charset="0"/>
                  <a:cs typeface="Arial" charset="0"/>
                </a:defRPr>
              </a:lvl8pPr>
              <a:lvl9pPr marL="3886200" indent="-228600" algn="ctr" eaLnBrk="0" fontAlgn="base" hangingPunct="0">
                <a:spcBef>
                  <a:spcPct val="50000"/>
                </a:spcBef>
                <a:spcAft>
                  <a:spcPct val="0"/>
                </a:spcAft>
                <a:defRPr sz="700" b="1">
                  <a:solidFill>
                    <a:schemeClr val="tx1"/>
                  </a:solidFill>
                  <a:latin typeface="Arial" charset="0"/>
                  <a:cs typeface="Arial" charset="0"/>
                </a:defRPr>
              </a:lvl9pPr>
            </a:lstStyle>
            <a:p>
              <a:pPr algn="ctr"/>
              <a:r>
                <a:rPr lang="en-US" sz="800" b="0" dirty="0">
                  <a:latin typeface="Calibri" pitchFamily="34" charset="0"/>
                  <a:cs typeface="Calibri" pitchFamily="34" charset="0"/>
                </a:rPr>
                <a:t>Value Chain Presence</a:t>
              </a:r>
            </a:p>
          </p:txBody>
        </p:sp>
        <p:sp>
          <p:nvSpPr>
            <p:cNvPr id="31" name="Text Box 173">
              <a:extLst>
                <a:ext uri="{FF2B5EF4-FFF2-40B4-BE49-F238E27FC236}">
                  <a16:creationId xmlns:a16="http://schemas.microsoft.com/office/drawing/2014/main" id="{4C9E9837-8C18-4DF6-9E95-CBF71C4108FB}"/>
                </a:ext>
              </a:extLst>
            </p:cNvPr>
            <p:cNvSpPr txBox="1">
              <a:spLocks noChangeArrowheads="1"/>
            </p:cNvSpPr>
            <p:nvPr/>
          </p:nvSpPr>
          <p:spPr bwMode="auto">
            <a:xfrm>
              <a:off x="2078693" y="3407891"/>
              <a:ext cx="1252665" cy="6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20" rIns="45720">
              <a:spAutoFit/>
            </a:bodyPr>
            <a:lstStyle>
              <a:lvl1pPr>
                <a:defRPr sz="700" b="1">
                  <a:solidFill>
                    <a:schemeClr val="tx1"/>
                  </a:solidFill>
                  <a:latin typeface="Arial" charset="0"/>
                  <a:cs typeface="Arial" charset="0"/>
                </a:defRPr>
              </a:lvl1pPr>
              <a:lvl2pPr marL="742950" indent="-285750">
                <a:defRPr sz="700" b="1">
                  <a:solidFill>
                    <a:schemeClr val="tx1"/>
                  </a:solidFill>
                  <a:latin typeface="Arial" charset="0"/>
                  <a:cs typeface="Arial" charset="0"/>
                </a:defRPr>
              </a:lvl2pPr>
              <a:lvl3pPr marL="1143000" indent="-228600">
                <a:defRPr sz="700" b="1">
                  <a:solidFill>
                    <a:schemeClr val="tx1"/>
                  </a:solidFill>
                  <a:latin typeface="Arial" charset="0"/>
                  <a:cs typeface="Arial" charset="0"/>
                </a:defRPr>
              </a:lvl3pPr>
              <a:lvl4pPr marL="1600200" indent="-228600">
                <a:defRPr sz="700" b="1">
                  <a:solidFill>
                    <a:schemeClr val="tx1"/>
                  </a:solidFill>
                  <a:latin typeface="Arial" charset="0"/>
                  <a:cs typeface="Arial" charset="0"/>
                </a:defRPr>
              </a:lvl4pPr>
              <a:lvl5pPr marL="2057400" indent="-228600">
                <a:defRPr sz="700" b="1">
                  <a:solidFill>
                    <a:schemeClr val="tx1"/>
                  </a:solidFill>
                  <a:latin typeface="Arial" charset="0"/>
                  <a:cs typeface="Arial" charset="0"/>
                </a:defRPr>
              </a:lvl5pPr>
              <a:lvl6pPr marL="2514600" indent="-228600" algn="ctr" eaLnBrk="0" fontAlgn="base" hangingPunct="0">
                <a:spcBef>
                  <a:spcPct val="50000"/>
                </a:spcBef>
                <a:spcAft>
                  <a:spcPct val="0"/>
                </a:spcAft>
                <a:defRPr sz="700" b="1">
                  <a:solidFill>
                    <a:schemeClr val="tx1"/>
                  </a:solidFill>
                  <a:latin typeface="Arial" charset="0"/>
                  <a:cs typeface="Arial" charset="0"/>
                </a:defRPr>
              </a:lvl6pPr>
              <a:lvl7pPr marL="2971800" indent="-228600" algn="ctr" eaLnBrk="0" fontAlgn="base" hangingPunct="0">
                <a:spcBef>
                  <a:spcPct val="50000"/>
                </a:spcBef>
                <a:spcAft>
                  <a:spcPct val="0"/>
                </a:spcAft>
                <a:defRPr sz="700" b="1">
                  <a:solidFill>
                    <a:schemeClr val="tx1"/>
                  </a:solidFill>
                  <a:latin typeface="Arial" charset="0"/>
                  <a:cs typeface="Arial" charset="0"/>
                </a:defRPr>
              </a:lvl7pPr>
              <a:lvl8pPr marL="3429000" indent="-228600" algn="ctr" eaLnBrk="0" fontAlgn="base" hangingPunct="0">
                <a:spcBef>
                  <a:spcPct val="50000"/>
                </a:spcBef>
                <a:spcAft>
                  <a:spcPct val="0"/>
                </a:spcAft>
                <a:defRPr sz="700" b="1">
                  <a:solidFill>
                    <a:schemeClr val="tx1"/>
                  </a:solidFill>
                  <a:latin typeface="Arial" charset="0"/>
                  <a:cs typeface="Arial" charset="0"/>
                </a:defRPr>
              </a:lvl8pPr>
              <a:lvl9pPr marL="3886200" indent="-228600" algn="ctr" eaLnBrk="0" fontAlgn="base" hangingPunct="0">
                <a:spcBef>
                  <a:spcPct val="50000"/>
                </a:spcBef>
                <a:spcAft>
                  <a:spcPct val="0"/>
                </a:spcAft>
                <a:defRPr sz="700" b="1">
                  <a:solidFill>
                    <a:schemeClr val="tx1"/>
                  </a:solidFill>
                  <a:latin typeface="Arial" charset="0"/>
                  <a:cs typeface="Arial" charset="0"/>
                </a:defRPr>
              </a:lvl9pPr>
            </a:lstStyle>
            <a:p>
              <a:pPr algn="ctr"/>
              <a:r>
                <a:rPr lang="en-US" sz="800" b="0" dirty="0">
                  <a:latin typeface="Calibri" pitchFamily="34" charset="0"/>
                  <a:cs typeface="Calibri" pitchFamily="34" charset="0"/>
                </a:rPr>
                <a:t>Geographic Spread</a:t>
              </a:r>
            </a:p>
          </p:txBody>
        </p:sp>
        <p:sp>
          <p:nvSpPr>
            <p:cNvPr id="32" name="Text Box 173">
              <a:extLst>
                <a:ext uri="{FF2B5EF4-FFF2-40B4-BE49-F238E27FC236}">
                  <a16:creationId xmlns:a16="http://schemas.microsoft.com/office/drawing/2014/main" id="{88502117-A683-425A-9283-1A84EDBD15A9}"/>
                </a:ext>
              </a:extLst>
            </p:cNvPr>
            <p:cNvSpPr txBox="1">
              <a:spLocks noChangeArrowheads="1"/>
            </p:cNvSpPr>
            <p:nvPr/>
          </p:nvSpPr>
          <p:spPr bwMode="auto">
            <a:xfrm>
              <a:off x="3653309" y="1555858"/>
              <a:ext cx="962819" cy="6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20" rIns="45720">
              <a:spAutoFit/>
            </a:bodyPr>
            <a:lstStyle>
              <a:lvl1pPr>
                <a:defRPr sz="700" b="1">
                  <a:solidFill>
                    <a:schemeClr val="tx1"/>
                  </a:solidFill>
                  <a:latin typeface="Arial" charset="0"/>
                  <a:cs typeface="Arial" charset="0"/>
                </a:defRPr>
              </a:lvl1pPr>
              <a:lvl2pPr marL="742950" indent="-285750">
                <a:defRPr sz="700" b="1">
                  <a:solidFill>
                    <a:schemeClr val="tx1"/>
                  </a:solidFill>
                  <a:latin typeface="Arial" charset="0"/>
                  <a:cs typeface="Arial" charset="0"/>
                </a:defRPr>
              </a:lvl2pPr>
              <a:lvl3pPr marL="1143000" indent="-228600">
                <a:defRPr sz="700" b="1">
                  <a:solidFill>
                    <a:schemeClr val="tx1"/>
                  </a:solidFill>
                  <a:latin typeface="Arial" charset="0"/>
                  <a:cs typeface="Arial" charset="0"/>
                </a:defRPr>
              </a:lvl3pPr>
              <a:lvl4pPr marL="1600200" indent="-228600">
                <a:defRPr sz="700" b="1">
                  <a:solidFill>
                    <a:schemeClr val="tx1"/>
                  </a:solidFill>
                  <a:latin typeface="Arial" charset="0"/>
                  <a:cs typeface="Arial" charset="0"/>
                </a:defRPr>
              </a:lvl4pPr>
              <a:lvl5pPr marL="2057400" indent="-228600">
                <a:defRPr sz="700" b="1">
                  <a:solidFill>
                    <a:schemeClr val="tx1"/>
                  </a:solidFill>
                  <a:latin typeface="Arial" charset="0"/>
                  <a:cs typeface="Arial" charset="0"/>
                </a:defRPr>
              </a:lvl5pPr>
              <a:lvl6pPr marL="2514600" indent="-228600" algn="ctr" eaLnBrk="0" fontAlgn="base" hangingPunct="0">
                <a:spcBef>
                  <a:spcPct val="50000"/>
                </a:spcBef>
                <a:spcAft>
                  <a:spcPct val="0"/>
                </a:spcAft>
                <a:defRPr sz="700" b="1">
                  <a:solidFill>
                    <a:schemeClr val="tx1"/>
                  </a:solidFill>
                  <a:latin typeface="Arial" charset="0"/>
                  <a:cs typeface="Arial" charset="0"/>
                </a:defRPr>
              </a:lvl6pPr>
              <a:lvl7pPr marL="2971800" indent="-228600" algn="ctr" eaLnBrk="0" fontAlgn="base" hangingPunct="0">
                <a:spcBef>
                  <a:spcPct val="50000"/>
                </a:spcBef>
                <a:spcAft>
                  <a:spcPct val="0"/>
                </a:spcAft>
                <a:defRPr sz="700" b="1">
                  <a:solidFill>
                    <a:schemeClr val="tx1"/>
                  </a:solidFill>
                  <a:latin typeface="Arial" charset="0"/>
                  <a:cs typeface="Arial" charset="0"/>
                </a:defRPr>
              </a:lvl7pPr>
              <a:lvl8pPr marL="3429000" indent="-228600" algn="ctr" eaLnBrk="0" fontAlgn="base" hangingPunct="0">
                <a:spcBef>
                  <a:spcPct val="50000"/>
                </a:spcBef>
                <a:spcAft>
                  <a:spcPct val="0"/>
                </a:spcAft>
                <a:defRPr sz="700" b="1">
                  <a:solidFill>
                    <a:schemeClr val="tx1"/>
                  </a:solidFill>
                  <a:latin typeface="Arial" charset="0"/>
                  <a:cs typeface="Arial" charset="0"/>
                </a:defRPr>
              </a:lvl8pPr>
              <a:lvl9pPr marL="3886200" indent="-228600" algn="ctr" eaLnBrk="0" fontAlgn="base" hangingPunct="0">
                <a:spcBef>
                  <a:spcPct val="50000"/>
                </a:spcBef>
                <a:spcAft>
                  <a:spcPct val="0"/>
                </a:spcAft>
                <a:defRPr sz="700" b="1">
                  <a:solidFill>
                    <a:schemeClr val="tx1"/>
                  </a:solidFill>
                  <a:latin typeface="Arial" charset="0"/>
                  <a:cs typeface="Arial" charset="0"/>
                </a:defRPr>
              </a:lvl9pPr>
            </a:lstStyle>
            <a:p>
              <a:pPr algn="ctr"/>
              <a:r>
                <a:rPr lang="en-US" sz="800" b="0" dirty="0">
                  <a:latin typeface="Calibri" pitchFamily="34" charset="0"/>
                  <a:cs typeface="Calibri" pitchFamily="34" charset="0"/>
                </a:rPr>
                <a:t>Industry Focus</a:t>
              </a:r>
            </a:p>
          </p:txBody>
        </p:sp>
      </p:grpSp>
      <p:sp>
        <p:nvSpPr>
          <p:cNvPr id="36" name="Text Box 6">
            <a:extLst>
              <a:ext uri="{FF2B5EF4-FFF2-40B4-BE49-F238E27FC236}">
                <a16:creationId xmlns:a16="http://schemas.microsoft.com/office/drawing/2014/main" id="{2D69059E-8373-4ED9-9347-660ED07B0BF5}"/>
              </a:ext>
            </a:extLst>
          </p:cNvPr>
          <p:cNvSpPr txBox="1">
            <a:spLocks noChangeArrowheads="1"/>
          </p:cNvSpPr>
          <p:nvPr/>
        </p:nvSpPr>
        <p:spPr bwMode="gray">
          <a:xfrm>
            <a:off x="450082" y="6316730"/>
            <a:ext cx="105737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5720" rIns="45720" anchor="b">
            <a:spAutoFit/>
          </a:bodyPr>
          <a:lstStyle>
            <a:defPPr>
              <a:defRPr lang="en-US"/>
            </a:defPPr>
            <a:lvl1pPr marL="466725" indent="-466725">
              <a:spcBef>
                <a:spcPct val="0"/>
              </a:spcBef>
              <a:tabLst>
                <a:tab pos="479425" algn="l"/>
              </a:tabLst>
              <a:defRPr sz="1100" b="0">
                <a:latin typeface="Calibri" pitchFamily="34" charset="0"/>
                <a:cs typeface="Calibri" pitchFamily="34" charset="0"/>
              </a:defRPr>
            </a:lvl1pPr>
            <a:lvl2pPr marL="742950" indent="-285750">
              <a:tabLst>
                <a:tab pos="479425" algn="l"/>
              </a:tabLst>
              <a:defRPr sz="700" b="1">
                <a:latin typeface="Arial" charset="0"/>
                <a:cs typeface="Arial" charset="0"/>
              </a:defRPr>
            </a:lvl2pPr>
            <a:lvl3pPr marL="1143000" indent="-228600">
              <a:tabLst>
                <a:tab pos="479425" algn="l"/>
              </a:tabLst>
              <a:defRPr sz="700" b="1">
                <a:latin typeface="Arial" charset="0"/>
                <a:cs typeface="Arial" charset="0"/>
              </a:defRPr>
            </a:lvl3pPr>
            <a:lvl4pPr marL="1600200" indent="-228600">
              <a:tabLst>
                <a:tab pos="479425" algn="l"/>
              </a:tabLst>
              <a:defRPr sz="700" b="1">
                <a:latin typeface="Arial" charset="0"/>
                <a:cs typeface="Arial" charset="0"/>
              </a:defRPr>
            </a:lvl4pPr>
            <a:lvl5pPr marL="2057400" indent="-228600">
              <a:tabLst>
                <a:tab pos="479425" algn="l"/>
              </a:tabLst>
              <a:defRPr sz="700" b="1">
                <a:latin typeface="Arial" charset="0"/>
                <a:cs typeface="Arial" charset="0"/>
              </a:defRPr>
            </a:lvl5pPr>
            <a:lvl6pPr marL="2514600" indent="-228600" algn="ctr" eaLnBrk="0" fontAlgn="base" hangingPunct="0">
              <a:spcBef>
                <a:spcPct val="50000"/>
              </a:spcBef>
              <a:spcAft>
                <a:spcPct val="0"/>
              </a:spcAft>
              <a:tabLst>
                <a:tab pos="479425" algn="l"/>
              </a:tabLst>
              <a:defRPr sz="700" b="1">
                <a:latin typeface="Arial" charset="0"/>
                <a:cs typeface="Arial" charset="0"/>
              </a:defRPr>
            </a:lvl6pPr>
            <a:lvl7pPr marL="2971800" indent="-228600" algn="ctr" eaLnBrk="0" fontAlgn="base" hangingPunct="0">
              <a:spcBef>
                <a:spcPct val="50000"/>
              </a:spcBef>
              <a:spcAft>
                <a:spcPct val="0"/>
              </a:spcAft>
              <a:tabLst>
                <a:tab pos="479425" algn="l"/>
              </a:tabLst>
              <a:defRPr sz="700" b="1">
                <a:latin typeface="Arial" charset="0"/>
                <a:cs typeface="Arial" charset="0"/>
              </a:defRPr>
            </a:lvl7pPr>
            <a:lvl8pPr marL="3429000" indent="-228600" algn="ctr" eaLnBrk="0" fontAlgn="base" hangingPunct="0">
              <a:spcBef>
                <a:spcPct val="50000"/>
              </a:spcBef>
              <a:spcAft>
                <a:spcPct val="0"/>
              </a:spcAft>
              <a:tabLst>
                <a:tab pos="479425" algn="l"/>
              </a:tabLst>
              <a:defRPr sz="700" b="1">
                <a:latin typeface="Arial" charset="0"/>
                <a:cs typeface="Arial" charset="0"/>
              </a:defRPr>
            </a:lvl8pPr>
            <a:lvl9pPr marL="3886200" indent="-228600" algn="ctr" eaLnBrk="0" fontAlgn="base" hangingPunct="0">
              <a:spcBef>
                <a:spcPct val="50000"/>
              </a:spcBef>
              <a:spcAft>
                <a:spcPct val="0"/>
              </a:spcAft>
              <a:tabLst>
                <a:tab pos="479425" algn="l"/>
              </a:tabLst>
              <a:defRPr sz="700" b="1">
                <a:latin typeface="Arial" charset="0"/>
                <a:cs typeface="Arial" charset="0"/>
              </a:defRPr>
            </a:lvl9pPr>
          </a:lstStyle>
          <a:p>
            <a:r>
              <a:rPr lang="en-US" sz="800" baseline="30000" dirty="0">
                <a:latin typeface="+mj-lt"/>
              </a:rPr>
              <a:t>1 </a:t>
            </a:r>
            <a:r>
              <a:rPr lang="en-US" sz="800" dirty="0">
                <a:latin typeface="+mj-lt"/>
              </a:rPr>
              <a:t>1 USD = 65 INR</a:t>
            </a:r>
          </a:p>
        </p:txBody>
      </p:sp>
      <p:sp>
        <p:nvSpPr>
          <p:cNvPr id="37" name="Rectangle 46">
            <a:extLst>
              <a:ext uri="{FF2B5EF4-FFF2-40B4-BE49-F238E27FC236}">
                <a16:creationId xmlns:a16="http://schemas.microsoft.com/office/drawing/2014/main" id="{6B474E3D-A58E-43FD-B2CA-86FAD4C4FB14}"/>
              </a:ext>
            </a:extLst>
          </p:cNvPr>
          <p:cNvSpPr>
            <a:spLocks noChangeArrowheads="1"/>
          </p:cNvSpPr>
          <p:nvPr/>
        </p:nvSpPr>
        <p:spPr bwMode="gray">
          <a:xfrm>
            <a:off x="6824704" y="1725213"/>
            <a:ext cx="4160381" cy="377440"/>
          </a:xfrm>
          <a:prstGeom prst="rect">
            <a:avLst/>
          </a:prstGeom>
          <a:solidFill>
            <a:schemeClr val="tx1"/>
          </a:solidFill>
          <a:ln w="9525">
            <a:solidFill>
              <a:schemeClr val="tx1"/>
            </a:solidFill>
            <a:miter lim="800000"/>
            <a:headEnd/>
            <a:tailEnd/>
          </a:ln>
          <a:effectLst>
            <a:outerShdw dist="35921" dir="2700000" algn="ctr" rotWithShape="0">
              <a:schemeClr val="tx1"/>
            </a:outerShdw>
          </a:effectLst>
        </p:spPr>
        <p:txBody>
          <a:bodyPr wrap="none" lIns="45720" rIns="45720" anchor="ctr"/>
          <a:lstStyle/>
          <a:p>
            <a:pPr algn="ctr">
              <a:defRPr/>
            </a:pPr>
            <a:r>
              <a:rPr lang="en-US" sz="1600" b="1" dirty="0">
                <a:solidFill>
                  <a:schemeClr val="bg1"/>
                </a:solidFill>
                <a:effectLst>
                  <a:outerShdw blurRad="38100" dist="38100" dir="2700000" algn="tl">
                    <a:srgbClr val="000000"/>
                  </a:outerShdw>
                </a:effectLst>
                <a:latin typeface="Calibri" pitchFamily="34" charset="0"/>
                <a:cs typeface="Calibri" pitchFamily="34" charset="0"/>
              </a:rPr>
              <a:t>Key Questions</a:t>
            </a:r>
          </a:p>
        </p:txBody>
      </p:sp>
      <p:sp>
        <p:nvSpPr>
          <p:cNvPr id="38" name="Rectangle 3">
            <a:extLst>
              <a:ext uri="{FF2B5EF4-FFF2-40B4-BE49-F238E27FC236}">
                <a16:creationId xmlns:a16="http://schemas.microsoft.com/office/drawing/2014/main" id="{BDC64230-3FDA-43A8-9931-F7EED437ED06}"/>
              </a:ext>
            </a:extLst>
          </p:cNvPr>
          <p:cNvSpPr txBox="1">
            <a:spLocks noChangeArrowheads="1"/>
          </p:cNvSpPr>
          <p:nvPr/>
        </p:nvSpPr>
        <p:spPr>
          <a:xfrm>
            <a:off x="6824704" y="2099862"/>
            <a:ext cx="4160381" cy="4362397"/>
          </a:xfrm>
          <a:prstGeom prst="rect">
            <a:avLst/>
          </a:prstGeom>
          <a:solidFill>
            <a:schemeClr val="bg1"/>
          </a:solidFill>
          <a:ln>
            <a:solidFill>
              <a:schemeClr val="tx1"/>
            </a:solidFill>
            <a:miter lim="800000"/>
            <a:headEnd/>
            <a:tailEnd/>
          </a:ln>
          <a:effectLst>
            <a:outerShdw dist="35921" dir="2700000" algn="ctr" rotWithShape="0">
              <a:schemeClr val="tx1"/>
            </a:outerShdw>
          </a:effectLst>
        </p:spPr>
        <p:txBody>
          <a:bodyPr rIns="137160" anchor="ctr"/>
          <a:lstStyle>
            <a:lvl1pPr marL="0" indent="0" algn="l" defTabSz="1008400" rtl="0" eaLnBrk="1" latinLnBrk="0" hangingPunct="1">
              <a:spcBef>
                <a:spcPts val="0"/>
              </a:spcBef>
              <a:spcAft>
                <a:spcPts val="1103"/>
              </a:spcAft>
              <a:buSzPct val="100000"/>
              <a:buFont typeface="Arial" panose="020B0604020202020204" pitchFamily="34" charset="0"/>
              <a:buNone/>
              <a:defRPr sz="1213" b="0" kern="1200">
                <a:solidFill>
                  <a:schemeClr val="tx1"/>
                </a:solidFill>
                <a:latin typeface="+mn-lt"/>
                <a:ea typeface="+mn-ea"/>
                <a:cs typeface="+mn-cs"/>
              </a:defRPr>
            </a:lvl1pPr>
            <a:lvl2pPr marL="0" indent="0" algn="l" defTabSz="1008400" rtl="0" eaLnBrk="1" latinLnBrk="0" hangingPunct="1">
              <a:spcBef>
                <a:spcPts val="0"/>
              </a:spcBef>
              <a:spcAft>
                <a:spcPts val="1103"/>
              </a:spcAft>
              <a:buClrTx/>
              <a:buSzPct val="100000"/>
              <a:buFont typeface="Arial"/>
              <a:buNone/>
              <a:defRPr lang="en-US" sz="1213" b="1" kern="1200" dirty="0" smtClean="0">
                <a:solidFill>
                  <a:schemeClr val="tx1"/>
                </a:solidFill>
                <a:latin typeface="+mn-lt"/>
                <a:ea typeface="+mn-ea"/>
                <a:cs typeface="+mn-cs"/>
              </a:defRPr>
            </a:lvl2pPr>
            <a:lvl3pPr marL="194534" indent="-194534" algn="l" defTabSz="1008400" rtl="0" eaLnBrk="1" latinLnBrk="0" hangingPunct="1">
              <a:spcBef>
                <a:spcPts val="0"/>
              </a:spcBef>
              <a:spcAft>
                <a:spcPts val="1103"/>
              </a:spcAft>
              <a:buClrTx/>
              <a:buSzPct val="100000"/>
              <a:buFont typeface="Arial" panose="020B0604020202020204" pitchFamily="34" charset="0"/>
              <a:buChar char="•"/>
              <a:defRPr lang="en-US" sz="1213" kern="1200" dirty="0" smtClean="0">
                <a:solidFill>
                  <a:schemeClr val="tx1"/>
                </a:solidFill>
                <a:latin typeface="+mn-lt"/>
                <a:ea typeface="+mn-ea"/>
                <a:cs typeface="+mn-cs"/>
              </a:defRPr>
            </a:lvl3pPr>
            <a:lvl4pPr marL="393038" indent="-194534" algn="l" defTabSz="1008400" rtl="0" eaLnBrk="1" latinLnBrk="0" hangingPunct="1">
              <a:spcBef>
                <a:spcPts val="0"/>
              </a:spcBef>
              <a:spcAft>
                <a:spcPts val="1103"/>
              </a:spcAft>
              <a:buClrTx/>
              <a:buSzPct val="100000"/>
              <a:buFont typeface="Verdana" panose="020B0604030504040204" pitchFamily="34" charset="0"/>
              <a:buChar char="−"/>
              <a:defRPr lang="en-US" sz="1213" kern="1200" baseline="0" dirty="0" smtClean="0">
                <a:solidFill>
                  <a:schemeClr val="tx1"/>
                </a:solidFill>
                <a:latin typeface="+mn-lt"/>
                <a:ea typeface="+mn-ea"/>
                <a:cs typeface="+mn-cs"/>
              </a:defRPr>
            </a:lvl4pPr>
            <a:lvl5pPr marL="587572" indent="-194534" algn="l" defTabSz="880600" rtl="0" eaLnBrk="1" latinLnBrk="0" hangingPunct="1">
              <a:spcBef>
                <a:spcPts val="0"/>
              </a:spcBef>
              <a:spcAft>
                <a:spcPts val="1103"/>
              </a:spcAft>
              <a:buClrTx/>
              <a:buSzPct val="100000"/>
              <a:buFont typeface="Verdana" panose="020B0604030504040204" pitchFamily="34" charset="0"/>
              <a:buChar char="−"/>
              <a:tabLst/>
              <a:defRPr lang="en-US" sz="1213" kern="1200" baseline="0" dirty="0" smtClean="0">
                <a:solidFill>
                  <a:schemeClr val="tx1"/>
                </a:solidFill>
                <a:latin typeface="+mn-lt"/>
                <a:ea typeface="+mn-ea"/>
                <a:cs typeface="+mn-cs"/>
              </a:defRPr>
            </a:lvl5pPr>
            <a:lvl6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6pPr>
            <a:lvl7pPr marL="587572" indent="-194534" algn="l" defTabSz="1008400" rtl="0" eaLnBrk="1" latinLnBrk="0" hangingPunct="1">
              <a:spcBef>
                <a:spcPts val="0"/>
              </a:spcBef>
              <a:spcAft>
                <a:spcPts val="1103"/>
              </a:spcAft>
              <a:buFont typeface="Verdana" panose="020B0604030504040204" pitchFamily="34" charset="0"/>
              <a:buChar char="−"/>
              <a:defRPr sz="1323" kern="1200">
                <a:solidFill>
                  <a:schemeClr val="tx1"/>
                </a:solidFill>
                <a:latin typeface="+mn-lt"/>
                <a:ea typeface="+mn-ea"/>
                <a:cs typeface="+mn-cs"/>
              </a:defRPr>
            </a:lvl7pPr>
            <a:lvl8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8pPr>
            <a:lvl9pPr marL="587572" indent="-194534" algn="l" defTabSz="1008400" rtl="0" eaLnBrk="1" latinLnBrk="0" hangingPunct="1">
              <a:spcBef>
                <a:spcPts val="0"/>
              </a:spcBef>
              <a:spcAft>
                <a:spcPts val="1103"/>
              </a:spcAft>
              <a:buFont typeface="Verdana" panose="020B0604030504040204" pitchFamily="34" charset="0"/>
              <a:buChar char="−"/>
              <a:defRPr sz="1323" kern="1200" baseline="0">
                <a:solidFill>
                  <a:schemeClr val="tx1"/>
                </a:solidFill>
                <a:latin typeface="+mn-lt"/>
                <a:ea typeface="+mn-ea"/>
                <a:cs typeface="+mn-cs"/>
              </a:defRPr>
            </a:lvl9pPr>
          </a:lstStyle>
          <a:p>
            <a:pPr marL="374650" lvl="1" indent="-285750">
              <a:spcBef>
                <a:spcPct val="50000"/>
              </a:spcBef>
              <a:buFont typeface="Arial" panose="020B0604020202020204" pitchFamily="34" charset="0"/>
              <a:buChar char="•"/>
            </a:pPr>
            <a:r>
              <a:rPr lang="en-US" sz="1500" dirty="0">
                <a:latin typeface="Calibri" pitchFamily="34" charset="0"/>
                <a:cs typeface="Calibri" pitchFamily="34" charset="0"/>
              </a:rPr>
              <a:t>How is the power sector &amp; allied industries likely to evolve in the next 5-10 years? How prepared is REC to leverage these changes?</a:t>
            </a:r>
          </a:p>
          <a:p>
            <a:pPr marL="374650" lvl="1" indent="-285750">
              <a:spcBef>
                <a:spcPct val="50000"/>
              </a:spcBef>
              <a:buFont typeface="Arial" panose="020B0604020202020204" pitchFamily="34" charset="0"/>
              <a:buChar char="•"/>
            </a:pPr>
            <a:r>
              <a:rPr lang="en-US" sz="1500" dirty="0">
                <a:latin typeface="Calibri" pitchFamily="34" charset="0"/>
                <a:cs typeface="Calibri" pitchFamily="34" charset="0"/>
              </a:rPr>
              <a:t>How can REC best leverage its existing assets / capabilities to generate additional revenue, while not losing out in its core market?</a:t>
            </a:r>
          </a:p>
          <a:p>
            <a:pPr marL="374650" lvl="1" indent="-285750">
              <a:spcBef>
                <a:spcPct val="50000"/>
              </a:spcBef>
              <a:buFont typeface="Arial" panose="020B0604020202020204" pitchFamily="34" charset="0"/>
              <a:buChar char="•"/>
            </a:pPr>
            <a:r>
              <a:rPr lang="en-US" sz="1500" dirty="0">
                <a:latin typeface="Calibri" pitchFamily="34" charset="0"/>
                <a:cs typeface="Calibri" pitchFamily="34" charset="0"/>
              </a:rPr>
              <a:t>What are the most attractive “where to play” choices (value chain, geographies, industries) for REC?</a:t>
            </a:r>
          </a:p>
          <a:p>
            <a:pPr marL="641350" lvl="2" indent="-285750">
              <a:spcBef>
                <a:spcPct val="50000"/>
              </a:spcBef>
              <a:buFont typeface="Courier New" panose="02070309020205020404" pitchFamily="49" charset="0"/>
              <a:buChar char="­"/>
            </a:pPr>
            <a:r>
              <a:rPr lang="en-US" sz="1500" dirty="0">
                <a:latin typeface="Calibri" pitchFamily="34" charset="0"/>
                <a:cs typeface="Calibri" pitchFamily="34" charset="0"/>
              </a:rPr>
              <a:t>Which ones are the most attractive?</a:t>
            </a:r>
          </a:p>
          <a:p>
            <a:pPr marL="641350" lvl="2" indent="-285750">
              <a:spcBef>
                <a:spcPct val="50000"/>
              </a:spcBef>
              <a:buFont typeface="Courier New" panose="02070309020205020404" pitchFamily="49" charset="0"/>
              <a:buChar char="­"/>
            </a:pPr>
            <a:r>
              <a:rPr lang="en-US" sz="1500" dirty="0">
                <a:latin typeface="Calibri" pitchFamily="34" charset="0"/>
                <a:cs typeface="Calibri" pitchFamily="34" charset="0"/>
              </a:rPr>
              <a:t>Which ones should REC target?</a:t>
            </a:r>
          </a:p>
          <a:p>
            <a:pPr marL="641350" lvl="2" indent="-285750">
              <a:spcBef>
                <a:spcPct val="50000"/>
              </a:spcBef>
              <a:buFont typeface="Courier New" panose="02070309020205020404" pitchFamily="49" charset="0"/>
              <a:buChar char="­"/>
            </a:pPr>
            <a:r>
              <a:rPr lang="en-US" sz="1500" dirty="0">
                <a:latin typeface="Calibri" pitchFamily="34" charset="0"/>
                <a:cs typeface="Calibri" pitchFamily="34" charset="0"/>
              </a:rPr>
              <a:t>What assets / capabilities does REC need to develop / acquire?</a:t>
            </a:r>
          </a:p>
        </p:txBody>
      </p:sp>
      <p:pic>
        <p:nvPicPr>
          <p:cNvPr id="39" name="Picture 38">
            <a:extLst>
              <a:ext uri="{FF2B5EF4-FFF2-40B4-BE49-F238E27FC236}">
                <a16:creationId xmlns:a16="http://schemas.microsoft.com/office/drawing/2014/main" id="{4E095902-6F52-474F-A178-251772A68137}"/>
              </a:ext>
            </a:extLst>
          </p:cNvPr>
          <p:cNvPicPr>
            <a:picLocks noChangeAspect="1"/>
          </p:cNvPicPr>
          <p:nvPr/>
        </p:nvPicPr>
        <p:blipFill>
          <a:blip r:embed="rId10"/>
          <a:stretch>
            <a:fillRect/>
          </a:stretch>
        </p:blipFill>
        <p:spPr>
          <a:xfrm>
            <a:off x="6032467" y="42279"/>
            <a:ext cx="6052298" cy="997073"/>
          </a:xfrm>
          <a:prstGeom prst="rect">
            <a:avLst/>
          </a:prstGeom>
        </p:spPr>
      </p:pic>
    </p:spTree>
    <p:extLst>
      <p:ext uri="{BB962C8B-B14F-4D97-AF65-F5344CB8AC3E}">
        <p14:creationId xmlns:p14="http://schemas.microsoft.com/office/powerpoint/2010/main" val="284076319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C1D00F1-63B5-4B81-AA23-A050E892D1B1}"/>
              </a:ext>
            </a:extLst>
          </p:cNvPr>
          <p:cNvSpPr>
            <a:spLocks noGrp="1"/>
          </p:cNvSpPr>
          <p:nvPr>
            <p:ph type="title"/>
          </p:nvPr>
        </p:nvSpPr>
        <p:spPr>
          <a:xfrm>
            <a:off x="501650" y="317500"/>
            <a:ext cx="11201400" cy="334099"/>
          </a:xfrm>
        </p:spPr>
        <p:txBody>
          <a:bodyPr/>
          <a:lstStyle/>
          <a:p>
            <a:r>
              <a:rPr lang="en-US" sz="1600" dirty="0"/>
              <a:t>Our </a:t>
            </a:r>
            <a:r>
              <a:rPr lang="en-US" sz="1600" b="1" dirty="0"/>
              <a:t>Approach</a:t>
            </a:r>
            <a:r>
              <a:rPr lang="en-US" sz="1600" dirty="0"/>
              <a:t> &amp; Methodology </a:t>
            </a:r>
          </a:p>
        </p:txBody>
      </p:sp>
      <p:sp>
        <p:nvSpPr>
          <p:cNvPr id="5" name="Text Placeholder 2">
            <a:extLst>
              <a:ext uri="{FF2B5EF4-FFF2-40B4-BE49-F238E27FC236}">
                <a16:creationId xmlns:a16="http://schemas.microsoft.com/office/drawing/2014/main" id="{51CB1705-1DC7-4E26-9569-C45DA22FB541}"/>
              </a:ext>
            </a:extLst>
          </p:cNvPr>
          <p:cNvSpPr>
            <a:spLocks noGrp="1"/>
          </p:cNvSpPr>
          <p:nvPr>
            <p:ph type="body" sz="quarter" idx="13"/>
          </p:nvPr>
        </p:nvSpPr>
        <p:spPr>
          <a:xfrm>
            <a:off x="501650" y="651600"/>
            <a:ext cx="11201400" cy="757255"/>
          </a:xfrm>
        </p:spPr>
        <p:txBody>
          <a:bodyPr/>
          <a:lstStyle/>
          <a:p>
            <a:r>
              <a:rPr lang="en-US" sz="2000" dirty="0">
                <a:solidFill>
                  <a:schemeClr val="tx1">
                    <a:lumMod val="50000"/>
                    <a:lumOff val="50000"/>
                  </a:schemeClr>
                </a:solidFill>
              </a:rPr>
              <a:t>Module 3: Strategy Support for business expansion</a:t>
            </a:r>
          </a:p>
        </p:txBody>
      </p:sp>
      <p:sp>
        <p:nvSpPr>
          <p:cNvPr id="6" name="Title 2">
            <a:extLst>
              <a:ext uri="{FF2B5EF4-FFF2-40B4-BE49-F238E27FC236}">
                <a16:creationId xmlns:a16="http://schemas.microsoft.com/office/drawing/2014/main" id="{B0F1E749-29BB-4FD0-A0F9-D48CF1D79AF1}"/>
              </a:ext>
            </a:extLst>
          </p:cNvPr>
          <p:cNvSpPr txBox="1">
            <a:spLocks/>
          </p:cNvSpPr>
          <p:nvPr/>
        </p:nvSpPr>
        <p:spPr bwMode="gray">
          <a:xfrm>
            <a:off x="450082" y="1118484"/>
            <a:ext cx="10716356" cy="295075"/>
          </a:xfrm>
          <a:prstGeom prst="rect">
            <a:avLst/>
          </a:prstGeom>
          <a:solidFill>
            <a:schemeClr val="bg1">
              <a:lumMod val="95000"/>
            </a:schemeClr>
          </a:solidFill>
        </p:spPr>
        <p:txBody>
          <a:bodyPr vert="horz" lIns="0" tIns="0" rIns="0" bIns="0" rtlCol="0" anchor="ctr" anchorCtr="0">
            <a:noAutofit/>
          </a:bodyPr>
          <a:lstStyle>
            <a:lvl1pPr algn="l" defTabSz="914400" rtl="0" eaLnBrk="1" latinLnBrk="0" hangingPunct="1">
              <a:spcBef>
                <a:spcPct val="0"/>
              </a:spcBef>
              <a:buNone/>
              <a:defRPr sz="2100" kern="1200">
                <a:solidFill>
                  <a:schemeClr val="tx1"/>
                </a:solidFill>
                <a:latin typeface="+mj-lt"/>
                <a:ea typeface="+mj-ea"/>
                <a:cs typeface="Calibri Light" panose="020F0302020204030204" pitchFamily="34" charset="0"/>
              </a:defRPr>
            </a:lvl1pPr>
          </a:lstStyle>
          <a:p>
            <a:pPr>
              <a:lnSpc>
                <a:spcPct val="90000"/>
              </a:lnSpc>
            </a:pPr>
            <a:r>
              <a:rPr lang="en-US" sz="1600" i="1" dirty="0">
                <a:solidFill>
                  <a:schemeClr val="tx2"/>
                </a:solidFill>
                <a:latin typeface="+mn-lt"/>
              </a:rPr>
              <a:t>Illustrative Additional/ Incremental Ideas</a:t>
            </a:r>
          </a:p>
        </p:txBody>
      </p:sp>
      <p:pic>
        <p:nvPicPr>
          <p:cNvPr id="39" name="Picture 38">
            <a:extLst>
              <a:ext uri="{FF2B5EF4-FFF2-40B4-BE49-F238E27FC236}">
                <a16:creationId xmlns:a16="http://schemas.microsoft.com/office/drawing/2014/main" id="{4E095902-6F52-474F-A178-251772A68137}"/>
              </a:ext>
            </a:extLst>
          </p:cNvPr>
          <p:cNvPicPr>
            <a:picLocks noChangeAspect="1"/>
          </p:cNvPicPr>
          <p:nvPr/>
        </p:nvPicPr>
        <p:blipFill>
          <a:blip r:embed="rId2"/>
          <a:stretch>
            <a:fillRect/>
          </a:stretch>
        </p:blipFill>
        <p:spPr>
          <a:xfrm>
            <a:off x="6032467" y="42279"/>
            <a:ext cx="6052298" cy="997073"/>
          </a:xfrm>
          <a:prstGeom prst="rect">
            <a:avLst/>
          </a:prstGeom>
        </p:spPr>
      </p:pic>
      <p:sp>
        <p:nvSpPr>
          <p:cNvPr id="2" name="Rectangle 1">
            <a:extLst>
              <a:ext uri="{FF2B5EF4-FFF2-40B4-BE49-F238E27FC236}">
                <a16:creationId xmlns:a16="http://schemas.microsoft.com/office/drawing/2014/main" id="{A168609D-827B-4D2B-BD15-21FA1271065A}"/>
              </a:ext>
            </a:extLst>
          </p:cNvPr>
          <p:cNvSpPr/>
          <p:nvPr/>
        </p:nvSpPr>
        <p:spPr bwMode="gray">
          <a:xfrm>
            <a:off x="1868438" y="1694046"/>
            <a:ext cx="2521819" cy="808523"/>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REC VOICE Initiative</a:t>
            </a:r>
          </a:p>
          <a:p>
            <a:pPr algn="ctr">
              <a:lnSpc>
                <a:spcPct val="106000"/>
              </a:lnSpc>
              <a:buFont typeface="Wingdings 2" pitchFamily="18" charset="2"/>
              <a:buNone/>
            </a:pPr>
            <a:r>
              <a:rPr lang="en-US" sz="1400" dirty="0">
                <a:solidFill>
                  <a:schemeClr val="bg1"/>
                </a:solidFill>
              </a:rPr>
              <a:t>(Voice of India Consumers of Electricity)</a:t>
            </a:r>
          </a:p>
        </p:txBody>
      </p:sp>
      <p:sp>
        <p:nvSpPr>
          <p:cNvPr id="3" name="Rectangle 2">
            <a:extLst>
              <a:ext uri="{FF2B5EF4-FFF2-40B4-BE49-F238E27FC236}">
                <a16:creationId xmlns:a16="http://schemas.microsoft.com/office/drawing/2014/main" id="{44F4E594-1D5C-4D8C-85C1-19D12658D125}"/>
              </a:ext>
            </a:extLst>
          </p:cNvPr>
          <p:cNvSpPr/>
          <p:nvPr/>
        </p:nvSpPr>
        <p:spPr bwMode="gray">
          <a:xfrm>
            <a:off x="1868438" y="2502569"/>
            <a:ext cx="2521819" cy="3051208"/>
          </a:xfrm>
          <a:prstGeom prst="rect">
            <a:avLst/>
          </a:prstGeom>
          <a:solidFill>
            <a:schemeClr val="bg1">
              <a:lumMod val="95000"/>
            </a:schemeClr>
          </a:solidFill>
          <a:ln w="19050" algn="ctr">
            <a:noFill/>
            <a:miter lim="800000"/>
            <a:headEnd/>
            <a:tailEnd/>
          </a:ln>
        </p:spPr>
        <p:txBody>
          <a:bodyPr wrap="square" lIns="88900" tIns="88900" rIns="88900" bIns="88900" rtlCol="0" anchor="t"/>
          <a:lstStyle/>
          <a:p>
            <a:pPr marL="171450" indent="-171450">
              <a:lnSpc>
                <a:spcPct val="106000"/>
              </a:lnSpc>
              <a:spcAft>
                <a:spcPts val="1200"/>
              </a:spcAft>
              <a:buFont typeface="Arial" panose="020B0604020202020204" pitchFamily="34" charset="0"/>
              <a:buChar char="•"/>
            </a:pPr>
            <a:r>
              <a:rPr lang="en-US" sz="1200" dirty="0"/>
              <a:t>District Level Customer Feedback on Reliability, Quality, Infrastructure and Services</a:t>
            </a:r>
          </a:p>
          <a:p>
            <a:pPr marL="171450" indent="-171450">
              <a:lnSpc>
                <a:spcPct val="106000"/>
              </a:lnSpc>
              <a:spcAft>
                <a:spcPts val="1200"/>
              </a:spcAft>
              <a:buFont typeface="Arial" panose="020B0604020202020204" pitchFamily="34" charset="0"/>
              <a:buChar char="•"/>
            </a:pPr>
            <a:r>
              <a:rPr lang="en-US" sz="1200" dirty="0"/>
              <a:t>Direct consumer surveys + Digital means of gathering insights</a:t>
            </a:r>
          </a:p>
          <a:p>
            <a:pPr marL="171450" indent="-171450">
              <a:lnSpc>
                <a:spcPct val="106000"/>
              </a:lnSpc>
              <a:spcAft>
                <a:spcPts val="1200"/>
              </a:spcAft>
              <a:buFont typeface="Arial" panose="020B0604020202020204" pitchFamily="34" charset="0"/>
              <a:buChar char="•"/>
            </a:pPr>
            <a:r>
              <a:rPr lang="en-US" sz="1200" dirty="0"/>
              <a:t>Propagate end use by Regulators/ FOR, State Governments, Utilities and Policy Makers</a:t>
            </a:r>
          </a:p>
          <a:p>
            <a:pPr marL="171450" indent="-171450">
              <a:lnSpc>
                <a:spcPct val="106000"/>
              </a:lnSpc>
              <a:spcAft>
                <a:spcPts val="1200"/>
              </a:spcAft>
              <a:buFont typeface="Arial" panose="020B0604020202020204" pitchFamily="34" charset="0"/>
              <a:buChar char="•"/>
            </a:pPr>
            <a:r>
              <a:rPr lang="en-US" sz="1200" dirty="0"/>
              <a:t>Self-sustaining business model</a:t>
            </a:r>
          </a:p>
          <a:p>
            <a:pPr>
              <a:lnSpc>
                <a:spcPct val="106000"/>
              </a:lnSpc>
            </a:pPr>
            <a:endParaRPr lang="en-US" sz="1200" dirty="0"/>
          </a:p>
          <a:p>
            <a:pPr>
              <a:lnSpc>
                <a:spcPct val="106000"/>
              </a:lnSpc>
              <a:buFont typeface="Wingdings 2" pitchFamily="18" charset="2"/>
              <a:buNone/>
            </a:pPr>
            <a:r>
              <a:rPr lang="en-US" sz="1200" b="1" dirty="0"/>
              <a:t>Customer Feedback essential in monopolized set-up</a:t>
            </a:r>
          </a:p>
        </p:txBody>
      </p:sp>
      <p:sp>
        <p:nvSpPr>
          <p:cNvPr id="40" name="Rectangle 39">
            <a:extLst>
              <a:ext uri="{FF2B5EF4-FFF2-40B4-BE49-F238E27FC236}">
                <a16:creationId xmlns:a16="http://schemas.microsoft.com/office/drawing/2014/main" id="{9FCAE4A0-3FE6-4DD0-9A3C-77C791AD20C7}"/>
              </a:ext>
            </a:extLst>
          </p:cNvPr>
          <p:cNvSpPr/>
          <p:nvPr/>
        </p:nvSpPr>
        <p:spPr bwMode="gray">
          <a:xfrm>
            <a:off x="4695057" y="1694046"/>
            <a:ext cx="2521819" cy="808523"/>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REC National Electricity App</a:t>
            </a:r>
          </a:p>
          <a:p>
            <a:pPr algn="ctr">
              <a:lnSpc>
                <a:spcPct val="106000"/>
              </a:lnSpc>
              <a:buFont typeface="Wingdings 2" pitchFamily="18" charset="2"/>
              <a:buNone/>
            </a:pPr>
            <a:r>
              <a:rPr lang="en-US" sz="1400" dirty="0">
                <a:solidFill>
                  <a:schemeClr val="bg1"/>
                </a:solidFill>
              </a:rPr>
              <a:t>(Integrated Platform Play)</a:t>
            </a:r>
          </a:p>
        </p:txBody>
      </p:sp>
      <p:sp>
        <p:nvSpPr>
          <p:cNvPr id="41" name="Rectangle 40">
            <a:extLst>
              <a:ext uri="{FF2B5EF4-FFF2-40B4-BE49-F238E27FC236}">
                <a16:creationId xmlns:a16="http://schemas.microsoft.com/office/drawing/2014/main" id="{C7CBE248-B823-4E7A-95D1-C46F6F42CC7E}"/>
              </a:ext>
            </a:extLst>
          </p:cNvPr>
          <p:cNvSpPr/>
          <p:nvPr/>
        </p:nvSpPr>
        <p:spPr bwMode="gray">
          <a:xfrm>
            <a:off x="4695057" y="2502569"/>
            <a:ext cx="2521819" cy="3051208"/>
          </a:xfrm>
          <a:prstGeom prst="rect">
            <a:avLst/>
          </a:prstGeom>
          <a:solidFill>
            <a:schemeClr val="bg1">
              <a:lumMod val="95000"/>
            </a:schemeClr>
          </a:solidFill>
          <a:ln w="19050" algn="ctr">
            <a:noFill/>
            <a:miter lim="800000"/>
            <a:headEnd/>
            <a:tailEnd/>
          </a:ln>
        </p:spPr>
        <p:txBody>
          <a:bodyPr wrap="square" lIns="88900" tIns="88900" rIns="88900" bIns="88900" rtlCol="0" anchor="t"/>
          <a:lstStyle/>
          <a:p>
            <a:pPr marL="171450" indent="-171450">
              <a:lnSpc>
                <a:spcPct val="106000"/>
              </a:lnSpc>
              <a:spcAft>
                <a:spcPts val="1200"/>
              </a:spcAft>
              <a:buFont typeface="Arial" panose="020B0604020202020204" pitchFamily="34" charset="0"/>
              <a:buChar char="•"/>
            </a:pPr>
            <a:r>
              <a:rPr lang="en-US" sz="1200" dirty="0"/>
              <a:t>Free National App for Billing, Payments, Complaints tracking etc.</a:t>
            </a:r>
          </a:p>
          <a:p>
            <a:pPr marL="171450" indent="-171450">
              <a:lnSpc>
                <a:spcPct val="106000"/>
              </a:lnSpc>
              <a:spcAft>
                <a:spcPts val="1200"/>
              </a:spcAft>
              <a:buFont typeface="Arial" panose="020B0604020202020204" pitchFamily="34" charset="0"/>
              <a:buChar char="•"/>
            </a:pPr>
            <a:r>
              <a:rPr lang="en-US" sz="1200" dirty="0"/>
              <a:t>Facilitate DBT in electricity</a:t>
            </a:r>
          </a:p>
          <a:p>
            <a:pPr marL="171450" indent="-171450">
              <a:lnSpc>
                <a:spcPct val="106000"/>
              </a:lnSpc>
              <a:spcAft>
                <a:spcPts val="1200"/>
              </a:spcAft>
              <a:buFont typeface="Arial" panose="020B0604020202020204" pitchFamily="34" charset="0"/>
              <a:buChar char="•"/>
            </a:pPr>
            <a:r>
              <a:rPr lang="en-US" sz="1200" dirty="0"/>
              <a:t>Platform to enable ecosystem for Electricity/ Electrical Market place – (for equipment, prosumers, energy efficiency)</a:t>
            </a:r>
          </a:p>
          <a:p>
            <a:pPr>
              <a:lnSpc>
                <a:spcPct val="106000"/>
              </a:lnSpc>
            </a:pPr>
            <a:endParaRPr lang="en-US" sz="1200" dirty="0"/>
          </a:p>
          <a:p>
            <a:pPr>
              <a:lnSpc>
                <a:spcPct val="106000"/>
              </a:lnSpc>
            </a:pPr>
            <a:endParaRPr lang="en-US" sz="1200" dirty="0"/>
          </a:p>
          <a:p>
            <a:pPr>
              <a:lnSpc>
                <a:spcPct val="106000"/>
              </a:lnSpc>
            </a:pPr>
            <a:endParaRPr lang="en-US" sz="1200" dirty="0"/>
          </a:p>
          <a:p>
            <a:pPr>
              <a:lnSpc>
                <a:spcPct val="106000"/>
              </a:lnSpc>
            </a:pPr>
            <a:endParaRPr lang="en-US" sz="1200" dirty="0"/>
          </a:p>
          <a:p>
            <a:pPr>
              <a:lnSpc>
                <a:spcPct val="106000"/>
              </a:lnSpc>
              <a:buFont typeface="Wingdings 2" pitchFamily="18" charset="2"/>
              <a:buNone/>
            </a:pPr>
            <a:r>
              <a:rPr lang="en-US" sz="1200" b="1" dirty="0"/>
              <a:t>25 Cr. user base can create huge value for  the App as a market place</a:t>
            </a:r>
          </a:p>
        </p:txBody>
      </p:sp>
      <p:sp>
        <p:nvSpPr>
          <p:cNvPr id="42" name="Rectangle 41">
            <a:extLst>
              <a:ext uri="{FF2B5EF4-FFF2-40B4-BE49-F238E27FC236}">
                <a16:creationId xmlns:a16="http://schemas.microsoft.com/office/drawing/2014/main" id="{BA109E4B-669E-47FE-80E9-92F0D419B8E2}"/>
              </a:ext>
            </a:extLst>
          </p:cNvPr>
          <p:cNvSpPr/>
          <p:nvPr/>
        </p:nvSpPr>
        <p:spPr bwMode="gray">
          <a:xfrm>
            <a:off x="7609908" y="1694046"/>
            <a:ext cx="2521819" cy="808523"/>
          </a:xfrm>
          <a:prstGeom prst="rect">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Lending + Reforms Support to States</a:t>
            </a:r>
            <a:endParaRPr lang="en-US" sz="1400" dirty="0">
              <a:solidFill>
                <a:schemeClr val="bg1"/>
              </a:solidFill>
            </a:endParaRPr>
          </a:p>
        </p:txBody>
      </p:sp>
      <p:sp>
        <p:nvSpPr>
          <p:cNvPr id="43" name="Rectangle 42">
            <a:extLst>
              <a:ext uri="{FF2B5EF4-FFF2-40B4-BE49-F238E27FC236}">
                <a16:creationId xmlns:a16="http://schemas.microsoft.com/office/drawing/2014/main" id="{721B588E-15B8-4735-A2AF-F9A3A0000CC1}"/>
              </a:ext>
            </a:extLst>
          </p:cNvPr>
          <p:cNvSpPr/>
          <p:nvPr/>
        </p:nvSpPr>
        <p:spPr bwMode="gray">
          <a:xfrm>
            <a:off x="7609908" y="2502569"/>
            <a:ext cx="2521819" cy="3051208"/>
          </a:xfrm>
          <a:prstGeom prst="rect">
            <a:avLst/>
          </a:prstGeom>
          <a:solidFill>
            <a:schemeClr val="bg1">
              <a:lumMod val="95000"/>
            </a:schemeClr>
          </a:solidFill>
          <a:ln w="19050" algn="ctr">
            <a:noFill/>
            <a:miter lim="800000"/>
            <a:headEnd/>
            <a:tailEnd/>
          </a:ln>
        </p:spPr>
        <p:txBody>
          <a:bodyPr wrap="square" lIns="88900" tIns="88900" rIns="88900" bIns="88900" rtlCol="0" anchor="t"/>
          <a:lstStyle/>
          <a:p>
            <a:pPr marL="171450" indent="-171450">
              <a:lnSpc>
                <a:spcPct val="106000"/>
              </a:lnSpc>
              <a:spcAft>
                <a:spcPts val="1200"/>
              </a:spcAft>
              <a:buFont typeface="Arial" panose="020B0604020202020204" pitchFamily="34" charset="0"/>
              <a:buChar char="•"/>
            </a:pPr>
            <a:r>
              <a:rPr lang="en-US" sz="1200" dirty="0"/>
              <a:t>Support reforms in addition to lending infrastructure creation</a:t>
            </a:r>
          </a:p>
          <a:p>
            <a:pPr marL="171450" indent="-171450">
              <a:lnSpc>
                <a:spcPct val="106000"/>
              </a:lnSpc>
              <a:spcAft>
                <a:spcPts val="1200"/>
              </a:spcAft>
              <a:buFont typeface="Arial" panose="020B0604020202020204" pitchFamily="34" charset="0"/>
              <a:buChar char="•"/>
            </a:pPr>
            <a:r>
              <a:rPr lang="en-US" sz="1200" dirty="0"/>
              <a:t>MOU for  transformation, driving profitability, Governance;</a:t>
            </a:r>
          </a:p>
          <a:p>
            <a:pPr marL="171450" indent="-171450">
              <a:lnSpc>
                <a:spcPct val="106000"/>
              </a:lnSpc>
              <a:spcAft>
                <a:spcPts val="1200"/>
              </a:spcAft>
              <a:buFont typeface="Arial" panose="020B0604020202020204" pitchFamily="34" charset="0"/>
              <a:buChar char="•"/>
            </a:pPr>
            <a:r>
              <a:rPr lang="en-US" sz="1200" dirty="0"/>
              <a:t>Potential Equity holding in State Utilities</a:t>
            </a:r>
          </a:p>
          <a:p>
            <a:pPr marL="171450" indent="-171450">
              <a:lnSpc>
                <a:spcPct val="106000"/>
              </a:lnSpc>
              <a:spcAft>
                <a:spcPts val="1200"/>
              </a:spcAft>
              <a:buFont typeface="Arial" panose="020B0604020202020204" pitchFamily="34" charset="0"/>
              <a:buChar char="•"/>
            </a:pPr>
            <a:r>
              <a:rPr lang="en-US" sz="1200" dirty="0"/>
              <a:t>Support in listing readiness as an alternative to privatization</a:t>
            </a:r>
          </a:p>
          <a:p>
            <a:pPr>
              <a:lnSpc>
                <a:spcPct val="106000"/>
              </a:lnSpc>
            </a:pPr>
            <a:endParaRPr lang="en-US" sz="1200" dirty="0"/>
          </a:p>
          <a:p>
            <a:pPr>
              <a:lnSpc>
                <a:spcPct val="106000"/>
              </a:lnSpc>
            </a:pPr>
            <a:endParaRPr lang="en-US" sz="1200" dirty="0"/>
          </a:p>
          <a:p>
            <a:pPr>
              <a:lnSpc>
                <a:spcPct val="106000"/>
              </a:lnSpc>
              <a:buFont typeface="Wingdings 2" pitchFamily="18" charset="2"/>
              <a:buNone/>
            </a:pPr>
            <a:r>
              <a:rPr lang="en-US" sz="1200" b="1" dirty="0"/>
              <a:t>REC could play increased role in reforms process, akin to MDBs</a:t>
            </a:r>
          </a:p>
        </p:txBody>
      </p:sp>
      <p:sp>
        <p:nvSpPr>
          <p:cNvPr id="44" name="Rectangle 43">
            <a:extLst>
              <a:ext uri="{FF2B5EF4-FFF2-40B4-BE49-F238E27FC236}">
                <a16:creationId xmlns:a16="http://schemas.microsoft.com/office/drawing/2014/main" id="{46B8BD15-CEEF-41CC-96C5-068589999B13}"/>
              </a:ext>
            </a:extLst>
          </p:cNvPr>
          <p:cNvSpPr/>
          <p:nvPr/>
        </p:nvSpPr>
        <p:spPr bwMode="gray">
          <a:xfrm rot="19991932">
            <a:off x="-1166962" y="3027958"/>
            <a:ext cx="4401051" cy="1164657"/>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rgbClr val="DA291C"/>
                </a:solidFill>
              </a:rPr>
              <a:t>Illustrative Ideas</a:t>
            </a:r>
          </a:p>
        </p:txBody>
      </p:sp>
      <p:sp>
        <p:nvSpPr>
          <p:cNvPr id="45" name="Rectangle 44">
            <a:extLst>
              <a:ext uri="{FF2B5EF4-FFF2-40B4-BE49-F238E27FC236}">
                <a16:creationId xmlns:a16="http://schemas.microsoft.com/office/drawing/2014/main" id="{4B804CDE-59F8-4CB2-8429-7BBC00A7C913}"/>
              </a:ext>
            </a:extLst>
          </p:cNvPr>
          <p:cNvSpPr/>
          <p:nvPr/>
        </p:nvSpPr>
        <p:spPr bwMode="gray">
          <a:xfrm rot="19991932">
            <a:off x="8822457" y="2846671"/>
            <a:ext cx="4401051" cy="1164657"/>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rgbClr val="DA291C"/>
                </a:solidFill>
              </a:rPr>
              <a:t>Illustrative Ideas</a:t>
            </a:r>
          </a:p>
        </p:txBody>
      </p:sp>
    </p:spTree>
    <p:extLst>
      <p:ext uri="{BB962C8B-B14F-4D97-AF65-F5344CB8AC3E}">
        <p14:creationId xmlns:p14="http://schemas.microsoft.com/office/powerpoint/2010/main" val="214467722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9FE2A-EC0B-4EBB-91D9-CA37432B4834}"/>
              </a:ext>
            </a:extLst>
          </p:cNvPr>
          <p:cNvSpPr>
            <a:spLocks noGrp="1"/>
          </p:cNvSpPr>
          <p:nvPr>
            <p:ph type="title"/>
          </p:nvPr>
        </p:nvSpPr>
        <p:spPr/>
        <p:txBody>
          <a:bodyPr/>
          <a:lstStyle/>
          <a:p>
            <a:r>
              <a:rPr lang="en-US" sz="1600" dirty="0"/>
              <a:t>Our </a:t>
            </a:r>
            <a:r>
              <a:rPr lang="en-US" sz="1600" b="1" dirty="0"/>
              <a:t>Approach</a:t>
            </a:r>
            <a:r>
              <a:rPr lang="en-US" sz="1600" dirty="0"/>
              <a:t> &amp; Methodology </a:t>
            </a:r>
          </a:p>
        </p:txBody>
      </p:sp>
      <p:grpSp>
        <p:nvGrpSpPr>
          <p:cNvPr id="4" name="Group 3">
            <a:extLst>
              <a:ext uri="{FF2B5EF4-FFF2-40B4-BE49-F238E27FC236}">
                <a16:creationId xmlns:a16="http://schemas.microsoft.com/office/drawing/2014/main" id="{A06802CE-CDAD-416E-9C78-4368FCFBA23D}"/>
              </a:ext>
            </a:extLst>
          </p:cNvPr>
          <p:cNvGrpSpPr/>
          <p:nvPr/>
        </p:nvGrpSpPr>
        <p:grpSpPr>
          <a:xfrm>
            <a:off x="542162" y="5791896"/>
            <a:ext cx="11107676" cy="620203"/>
            <a:chOff x="1774616" y="4917845"/>
            <a:chExt cx="9412580" cy="620203"/>
          </a:xfrm>
        </p:grpSpPr>
        <p:sp>
          <p:nvSpPr>
            <p:cNvPr id="468" name="AutoShape 3">
              <a:extLst>
                <a:ext uri="{FF2B5EF4-FFF2-40B4-BE49-F238E27FC236}">
                  <a16:creationId xmlns:a16="http://schemas.microsoft.com/office/drawing/2014/main" id="{EF2D1533-D434-44DF-84EB-BE820F3FB3AC}"/>
                </a:ext>
              </a:extLst>
            </p:cNvPr>
            <p:cNvSpPr>
              <a:spLocks noChangeArrowheads="1"/>
            </p:cNvSpPr>
            <p:nvPr/>
          </p:nvSpPr>
          <p:spPr bwMode="gray">
            <a:xfrm>
              <a:off x="1774616" y="4917845"/>
              <a:ext cx="1980000" cy="612000"/>
            </a:xfrm>
            <a:prstGeom prst="chevron">
              <a:avLst>
                <a:gd name="adj" fmla="val 34952"/>
              </a:avLst>
            </a:prstGeom>
            <a:solidFill>
              <a:schemeClr val="accent1">
                <a:lumMod val="60000"/>
                <a:lumOff val="40000"/>
              </a:schemeClr>
            </a:solidFill>
            <a:ln w="12700" cap="rnd" algn="ctr">
              <a:noFill/>
              <a:miter lim="800000"/>
              <a:headEnd/>
              <a:tailEnd/>
            </a:ln>
          </p:spPr>
          <p:txBody>
            <a:bodyPr lIns="88900" tIns="88900" rIns="88900" bIns="88900" anchor="ctr" anchorCtr="0"/>
            <a:lstStyle/>
            <a:p>
              <a:pPr algn="ctr">
                <a:lnSpc>
                  <a:spcPct val="106000"/>
                </a:lnSpc>
                <a:defRPr/>
              </a:pPr>
              <a:r>
                <a:rPr lang="en-US" sz="1200" b="1" dirty="0"/>
                <a:t>Setting up of CPMU Cell</a:t>
              </a:r>
            </a:p>
          </p:txBody>
        </p:sp>
        <p:sp>
          <p:nvSpPr>
            <p:cNvPr id="469" name="AutoShape 4">
              <a:extLst>
                <a:ext uri="{FF2B5EF4-FFF2-40B4-BE49-F238E27FC236}">
                  <a16:creationId xmlns:a16="http://schemas.microsoft.com/office/drawing/2014/main" id="{FD4DE2A7-A92C-41BE-8908-ADB6BD3854D1}"/>
                </a:ext>
              </a:extLst>
            </p:cNvPr>
            <p:cNvSpPr>
              <a:spLocks noChangeArrowheads="1"/>
            </p:cNvSpPr>
            <p:nvPr/>
          </p:nvSpPr>
          <p:spPr bwMode="gray">
            <a:xfrm>
              <a:off x="3632030" y="4923959"/>
              <a:ext cx="1980000" cy="612000"/>
            </a:xfrm>
            <a:prstGeom prst="chevron">
              <a:avLst>
                <a:gd name="adj" fmla="val 34975"/>
              </a:avLst>
            </a:prstGeom>
            <a:solidFill>
              <a:schemeClr val="accent2"/>
            </a:solidFill>
            <a:ln w="12700" cap="rnd" algn="ctr">
              <a:noFill/>
              <a:miter lim="800000"/>
              <a:headEnd/>
              <a:tailEnd/>
            </a:ln>
          </p:spPr>
          <p:txBody>
            <a:bodyPr lIns="88900" tIns="88900" rIns="88900" bIns="88900" anchor="ctr" anchorCtr="0"/>
            <a:lstStyle/>
            <a:p>
              <a:pPr algn="ctr">
                <a:lnSpc>
                  <a:spcPct val="106000"/>
                </a:lnSpc>
                <a:defRPr/>
              </a:pPr>
              <a:r>
                <a:rPr lang="en-US" sz="1200" b="1" dirty="0">
                  <a:solidFill>
                    <a:schemeClr val="bg1"/>
                  </a:solidFill>
                </a:rPr>
                <a:t>Finalizing data &amp; information collection plan</a:t>
              </a:r>
            </a:p>
          </p:txBody>
        </p:sp>
        <p:sp>
          <p:nvSpPr>
            <p:cNvPr id="470" name="AutoShape 5">
              <a:extLst>
                <a:ext uri="{FF2B5EF4-FFF2-40B4-BE49-F238E27FC236}">
                  <a16:creationId xmlns:a16="http://schemas.microsoft.com/office/drawing/2014/main" id="{A8CA1508-694A-49B2-9D37-0315B5D859F9}"/>
                </a:ext>
              </a:extLst>
            </p:cNvPr>
            <p:cNvSpPr>
              <a:spLocks noChangeArrowheads="1"/>
            </p:cNvSpPr>
            <p:nvPr/>
          </p:nvSpPr>
          <p:spPr bwMode="gray">
            <a:xfrm>
              <a:off x="5482362" y="4926048"/>
              <a:ext cx="1980000" cy="612000"/>
            </a:xfrm>
            <a:prstGeom prst="chevron">
              <a:avLst>
                <a:gd name="adj" fmla="val 34975"/>
              </a:avLst>
            </a:prstGeom>
            <a:solidFill>
              <a:schemeClr val="accent3"/>
            </a:solidFill>
            <a:ln w="12700" cap="rnd" algn="ctr">
              <a:noFill/>
              <a:miter lim="800000"/>
              <a:headEnd/>
              <a:tailEnd/>
            </a:ln>
          </p:spPr>
          <p:txBody>
            <a:bodyPr lIns="88900" tIns="88900" rIns="88900" bIns="88900" anchor="ctr" anchorCtr="0"/>
            <a:lstStyle/>
            <a:p>
              <a:pPr algn="ctr">
                <a:lnSpc>
                  <a:spcPct val="106000"/>
                </a:lnSpc>
                <a:defRPr/>
              </a:pPr>
              <a:r>
                <a:rPr lang="en-US" sz="1200" b="1" dirty="0">
                  <a:solidFill>
                    <a:schemeClr val="bg1"/>
                  </a:solidFill>
                </a:rPr>
                <a:t>Setting up Review &amp; Monitoring Mechanism</a:t>
              </a:r>
            </a:p>
          </p:txBody>
        </p:sp>
        <p:sp>
          <p:nvSpPr>
            <p:cNvPr id="471" name="AutoShape 6">
              <a:extLst>
                <a:ext uri="{FF2B5EF4-FFF2-40B4-BE49-F238E27FC236}">
                  <a16:creationId xmlns:a16="http://schemas.microsoft.com/office/drawing/2014/main" id="{2F172EDC-B614-40B6-B700-484F53D20EFB}"/>
                </a:ext>
              </a:extLst>
            </p:cNvPr>
            <p:cNvSpPr>
              <a:spLocks noChangeArrowheads="1"/>
            </p:cNvSpPr>
            <p:nvPr/>
          </p:nvSpPr>
          <p:spPr bwMode="gray">
            <a:xfrm>
              <a:off x="7339975" y="4925452"/>
              <a:ext cx="1980000" cy="612000"/>
            </a:xfrm>
            <a:prstGeom prst="chevron">
              <a:avLst>
                <a:gd name="adj" fmla="val 34975"/>
              </a:avLst>
            </a:prstGeom>
            <a:solidFill>
              <a:schemeClr val="accent3">
                <a:lumMod val="75000"/>
              </a:schemeClr>
            </a:solidFill>
            <a:ln w="12700" cap="rnd" algn="ctr">
              <a:noFill/>
              <a:miter lim="800000"/>
              <a:headEnd/>
              <a:tailEnd/>
            </a:ln>
          </p:spPr>
          <p:txBody>
            <a:bodyPr lIns="88900" tIns="88900" rIns="88900" bIns="88900" anchor="ctr" anchorCtr="0"/>
            <a:lstStyle/>
            <a:p>
              <a:pPr algn="ctr">
                <a:lnSpc>
                  <a:spcPct val="106000"/>
                </a:lnSpc>
                <a:defRPr/>
              </a:pPr>
              <a:r>
                <a:rPr lang="en-US" sz="1200" b="1" dirty="0">
                  <a:solidFill>
                    <a:schemeClr val="bg1"/>
                  </a:solidFill>
                </a:rPr>
                <a:t>Developing a ‘Risk Management’ framework</a:t>
              </a:r>
            </a:p>
          </p:txBody>
        </p:sp>
        <p:sp>
          <p:nvSpPr>
            <p:cNvPr id="476" name="AutoShape 6">
              <a:extLst>
                <a:ext uri="{FF2B5EF4-FFF2-40B4-BE49-F238E27FC236}">
                  <a16:creationId xmlns:a16="http://schemas.microsoft.com/office/drawing/2014/main" id="{0D0F3F40-5CEF-4343-867C-5ACA3D5DC84F}"/>
                </a:ext>
              </a:extLst>
            </p:cNvPr>
            <p:cNvSpPr>
              <a:spLocks noChangeArrowheads="1"/>
            </p:cNvSpPr>
            <p:nvPr/>
          </p:nvSpPr>
          <p:spPr bwMode="gray">
            <a:xfrm>
              <a:off x="9207196" y="4925452"/>
              <a:ext cx="1980000" cy="612000"/>
            </a:xfrm>
            <a:prstGeom prst="chevron">
              <a:avLst>
                <a:gd name="adj" fmla="val 34975"/>
              </a:avLst>
            </a:prstGeom>
            <a:solidFill>
              <a:schemeClr val="accent3">
                <a:lumMod val="50000"/>
              </a:schemeClr>
            </a:solidFill>
            <a:ln w="12700" cap="rnd" algn="ctr">
              <a:noFill/>
              <a:miter lim="800000"/>
              <a:headEnd/>
              <a:tailEnd/>
            </a:ln>
          </p:spPr>
          <p:txBody>
            <a:bodyPr lIns="88900" tIns="88900" rIns="88900" bIns="88900" anchor="ctr" anchorCtr="0"/>
            <a:lstStyle/>
            <a:p>
              <a:pPr algn="ctr">
                <a:lnSpc>
                  <a:spcPct val="106000"/>
                </a:lnSpc>
                <a:defRPr/>
              </a:pPr>
              <a:r>
                <a:rPr lang="en-US" sz="1200" b="1" dirty="0">
                  <a:solidFill>
                    <a:schemeClr val="bg1"/>
                  </a:solidFill>
                </a:rPr>
                <a:t>Deployment of Analytics</a:t>
              </a:r>
            </a:p>
          </p:txBody>
        </p:sp>
      </p:grpSp>
      <p:grpSp>
        <p:nvGrpSpPr>
          <p:cNvPr id="211" name="Group 210">
            <a:extLst>
              <a:ext uri="{FF2B5EF4-FFF2-40B4-BE49-F238E27FC236}">
                <a16:creationId xmlns:a16="http://schemas.microsoft.com/office/drawing/2014/main" id="{9AE9059E-7302-435F-9644-9E68F789CB7B}"/>
              </a:ext>
            </a:extLst>
          </p:cNvPr>
          <p:cNvGrpSpPr/>
          <p:nvPr/>
        </p:nvGrpSpPr>
        <p:grpSpPr>
          <a:xfrm>
            <a:off x="3871569" y="1918055"/>
            <a:ext cx="526733" cy="526733"/>
            <a:chOff x="3172994" y="1557937"/>
            <a:chExt cx="1136224" cy="1136224"/>
          </a:xfrm>
        </p:grpSpPr>
        <p:sp>
          <p:nvSpPr>
            <p:cNvPr id="212" name="Freeform 538">
              <a:extLst>
                <a:ext uri="{FF2B5EF4-FFF2-40B4-BE49-F238E27FC236}">
                  <a16:creationId xmlns:a16="http://schemas.microsoft.com/office/drawing/2014/main" id="{CFA47FC9-EA81-48F5-8D46-2E0BC2AE7697}"/>
                </a:ext>
              </a:extLst>
            </p:cNvPr>
            <p:cNvSpPr>
              <a:spLocks noChangeAspect="1" noEditPoints="1"/>
            </p:cNvSpPr>
            <p:nvPr/>
          </p:nvSpPr>
          <p:spPr bwMode="auto">
            <a:xfrm>
              <a:off x="3246748" y="1635153"/>
              <a:ext cx="981795" cy="981795"/>
            </a:xfrm>
            <a:custGeom>
              <a:avLst/>
              <a:gdLst>
                <a:gd name="T0" fmla="*/ 226 w 512"/>
                <a:gd name="T1" fmla="*/ 352 h 512"/>
                <a:gd name="T2" fmla="*/ 286 w 512"/>
                <a:gd name="T3" fmla="*/ 352 h 512"/>
                <a:gd name="T4" fmla="*/ 279 w 512"/>
                <a:gd name="T5" fmla="*/ 394 h 512"/>
                <a:gd name="T6" fmla="*/ 233 w 512"/>
                <a:gd name="T7" fmla="*/ 394 h 512"/>
                <a:gd name="T8" fmla="*/ 226 w 512"/>
                <a:gd name="T9" fmla="*/ 352 h 512"/>
                <a:gd name="T10" fmla="*/ 256 w 512"/>
                <a:gd name="T11" fmla="*/ 117 h 512"/>
                <a:gd name="T12" fmla="*/ 178 w 512"/>
                <a:gd name="T13" fmla="*/ 191 h 512"/>
                <a:gd name="T14" fmla="*/ 194 w 512"/>
                <a:gd name="T15" fmla="*/ 242 h 512"/>
                <a:gd name="T16" fmla="*/ 224 w 512"/>
                <a:gd name="T17" fmla="*/ 309 h 512"/>
                <a:gd name="T18" fmla="*/ 224 w 512"/>
                <a:gd name="T19" fmla="*/ 330 h 512"/>
                <a:gd name="T20" fmla="*/ 245 w 512"/>
                <a:gd name="T21" fmla="*/ 330 h 512"/>
                <a:gd name="T22" fmla="*/ 245 w 512"/>
                <a:gd name="T23" fmla="*/ 249 h 512"/>
                <a:gd name="T24" fmla="*/ 227 w 512"/>
                <a:gd name="T25" fmla="*/ 231 h 512"/>
                <a:gd name="T26" fmla="*/ 227 w 512"/>
                <a:gd name="T27" fmla="*/ 216 h 512"/>
                <a:gd name="T28" fmla="*/ 242 w 512"/>
                <a:gd name="T29" fmla="*/ 216 h 512"/>
                <a:gd name="T30" fmla="*/ 256 w 512"/>
                <a:gd name="T31" fmla="*/ 230 h 512"/>
                <a:gd name="T32" fmla="*/ 269 w 512"/>
                <a:gd name="T33" fmla="*/ 216 h 512"/>
                <a:gd name="T34" fmla="*/ 285 w 512"/>
                <a:gd name="T35" fmla="*/ 216 h 512"/>
                <a:gd name="T36" fmla="*/ 285 w 512"/>
                <a:gd name="T37" fmla="*/ 231 h 512"/>
                <a:gd name="T38" fmla="*/ 266 w 512"/>
                <a:gd name="T39" fmla="*/ 249 h 512"/>
                <a:gd name="T40" fmla="*/ 266 w 512"/>
                <a:gd name="T41" fmla="*/ 330 h 512"/>
                <a:gd name="T42" fmla="*/ 288 w 512"/>
                <a:gd name="T43" fmla="*/ 330 h 512"/>
                <a:gd name="T44" fmla="*/ 288 w 512"/>
                <a:gd name="T45" fmla="*/ 309 h 512"/>
                <a:gd name="T46" fmla="*/ 318 w 512"/>
                <a:gd name="T47" fmla="*/ 243 h 512"/>
                <a:gd name="T48" fmla="*/ 334 w 512"/>
                <a:gd name="T49" fmla="*/ 191 h 512"/>
                <a:gd name="T50" fmla="*/ 256 w 512"/>
                <a:gd name="T51" fmla="*/ 117 h 512"/>
                <a:gd name="T52" fmla="*/ 512 w 512"/>
                <a:gd name="T53" fmla="*/ 256 h 512"/>
                <a:gd name="T54" fmla="*/ 256 w 512"/>
                <a:gd name="T55" fmla="*/ 512 h 512"/>
                <a:gd name="T56" fmla="*/ 0 w 512"/>
                <a:gd name="T57" fmla="*/ 256 h 512"/>
                <a:gd name="T58" fmla="*/ 256 w 512"/>
                <a:gd name="T59" fmla="*/ 0 h 512"/>
                <a:gd name="T60" fmla="*/ 512 w 512"/>
                <a:gd name="T61" fmla="*/ 256 h 512"/>
                <a:gd name="T62" fmla="*/ 356 w 512"/>
                <a:gd name="T63" fmla="*/ 191 h 512"/>
                <a:gd name="T64" fmla="*/ 256 w 512"/>
                <a:gd name="T65" fmla="*/ 96 h 512"/>
                <a:gd name="T66" fmla="*/ 256 w 512"/>
                <a:gd name="T67" fmla="*/ 96 h 512"/>
                <a:gd name="T68" fmla="*/ 256 w 512"/>
                <a:gd name="T69" fmla="*/ 96 h 512"/>
                <a:gd name="T70" fmla="*/ 256 w 512"/>
                <a:gd name="T71" fmla="*/ 96 h 512"/>
                <a:gd name="T72" fmla="*/ 255 w 512"/>
                <a:gd name="T73" fmla="*/ 96 h 512"/>
                <a:gd name="T74" fmla="*/ 157 w 512"/>
                <a:gd name="T75" fmla="*/ 191 h 512"/>
                <a:gd name="T76" fmla="*/ 176 w 512"/>
                <a:gd name="T77" fmla="*/ 254 h 512"/>
                <a:gd name="T78" fmla="*/ 202 w 512"/>
                <a:gd name="T79" fmla="*/ 309 h 512"/>
                <a:gd name="T80" fmla="*/ 202 w 512"/>
                <a:gd name="T81" fmla="*/ 341 h 512"/>
                <a:gd name="T82" fmla="*/ 203 w 512"/>
                <a:gd name="T83" fmla="*/ 342 h 512"/>
                <a:gd name="T84" fmla="*/ 202 w 512"/>
                <a:gd name="T85" fmla="*/ 343 h 512"/>
                <a:gd name="T86" fmla="*/ 213 w 512"/>
                <a:gd name="T87" fmla="*/ 407 h 512"/>
                <a:gd name="T88" fmla="*/ 224 w 512"/>
                <a:gd name="T89" fmla="*/ 416 h 512"/>
                <a:gd name="T90" fmla="*/ 288 w 512"/>
                <a:gd name="T91" fmla="*/ 416 h 512"/>
                <a:gd name="T92" fmla="*/ 298 w 512"/>
                <a:gd name="T93" fmla="*/ 407 h 512"/>
                <a:gd name="T94" fmla="*/ 309 w 512"/>
                <a:gd name="T95" fmla="*/ 343 h 512"/>
                <a:gd name="T96" fmla="*/ 309 w 512"/>
                <a:gd name="T97" fmla="*/ 342 h 512"/>
                <a:gd name="T98" fmla="*/ 309 w 512"/>
                <a:gd name="T99" fmla="*/ 341 h 512"/>
                <a:gd name="T100" fmla="*/ 309 w 512"/>
                <a:gd name="T101" fmla="*/ 309 h 512"/>
                <a:gd name="T102" fmla="*/ 336 w 512"/>
                <a:gd name="T103" fmla="*/ 254 h 512"/>
                <a:gd name="T104" fmla="*/ 356 w 512"/>
                <a:gd name="T105" fmla="*/ 19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26" y="352"/>
                  </a:moveTo>
                  <a:cubicBezTo>
                    <a:pt x="286" y="352"/>
                    <a:pt x="286" y="352"/>
                    <a:pt x="286" y="352"/>
                  </a:cubicBezTo>
                  <a:cubicBezTo>
                    <a:pt x="279" y="394"/>
                    <a:pt x="279" y="394"/>
                    <a:pt x="279" y="394"/>
                  </a:cubicBezTo>
                  <a:cubicBezTo>
                    <a:pt x="233" y="394"/>
                    <a:pt x="233" y="394"/>
                    <a:pt x="233" y="394"/>
                  </a:cubicBezTo>
                  <a:lnTo>
                    <a:pt x="226" y="352"/>
                  </a:lnTo>
                  <a:close/>
                  <a:moveTo>
                    <a:pt x="256" y="117"/>
                  </a:moveTo>
                  <a:cubicBezTo>
                    <a:pt x="214" y="117"/>
                    <a:pt x="178" y="151"/>
                    <a:pt x="178" y="191"/>
                  </a:cubicBezTo>
                  <a:cubicBezTo>
                    <a:pt x="178" y="219"/>
                    <a:pt x="194" y="242"/>
                    <a:pt x="194" y="242"/>
                  </a:cubicBezTo>
                  <a:cubicBezTo>
                    <a:pt x="201" y="254"/>
                    <a:pt x="224" y="292"/>
                    <a:pt x="224" y="309"/>
                  </a:cubicBezTo>
                  <a:cubicBezTo>
                    <a:pt x="224" y="330"/>
                    <a:pt x="224" y="330"/>
                    <a:pt x="224" y="330"/>
                  </a:cubicBezTo>
                  <a:cubicBezTo>
                    <a:pt x="245" y="330"/>
                    <a:pt x="245" y="330"/>
                    <a:pt x="245" y="330"/>
                  </a:cubicBezTo>
                  <a:cubicBezTo>
                    <a:pt x="245" y="249"/>
                    <a:pt x="245" y="249"/>
                    <a:pt x="245" y="249"/>
                  </a:cubicBezTo>
                  <a:cubicBezTo>
                    <a:pt x="227" y="231"/>
                    <a:pt x="227" y="231"/>
                    <a:pt x="227" y="231"/>
                  </a:cubicBezTo>
                  <a:cubicBezTo>
                    <a:pt x="223" y="227"/>
                    <a:pt x="223" y="220"/>
                    <a:pt x="227" y="216"/>
                  </a:cubicBezTo>
                  <a:cubicBezTo>
                    <a:pt x="231" y="212"/>
                    <a:pt x="238" y="212"/>
                    <a:pt x="242" y="216"/>
                  </a:cubicBezTo>
                  <a:cubicBezTo>
                    <a:pt x="256" y="230"/>
                    <a:pt x="256" y="230"/>
                    <a:pt x="256" y="230"/>
                  </a:cubicBezTo>
                  <a:cubicBezTo>
                    <a:pt x="269" y="216"/>
                    <a:pt x="269" y="216"/>
                    <a:pt x="269" y="216"/>
                  </a:cubicBezTo>
                  <a:cubicBezTo>
                    <a:pt x="274" y="212"/>
                    <a:pt x="280" y="212"/>
                    <a:pt x="285" y="216"/>
                  </a:cubicBezTo>
                  <a:cubicBezTo>
                    <a:pt x="289" y="220"/>
                    <a:pt x="289" y="227"/>
                    <a:pt x="285" y="231"/>
                  </a:cubicBezTo>
                  <a:cubicBezTo>
                    <a:pt x="266" y="249"/>
                    <a:pt x="266" y="249"/>
                    <a:pt x="266" y="249"/>
                  </a:cubicBezTo>
                  <a:cubicBezTo>
                    <a:pt x="266" y="330"/>
                    <a:pt x="266" y="330"/>
                    <a:pt x="266" y="330"/>
                  </a:cubicBezTo>
                  <a:cubicBezTo>
                    <a:pt x="288" y="330"/>
                    <a:pt x="288" y="330"/>
                    <a:pt x="288" y="330"/>
                  </a:cubicBezTo>
                  <a:cubicBezTo>
                    <a:pt x="288" y="309"/>
                    <a:pt x="288" y="309"/>
                    <a:pt x="288" y="309"/>
                  </a:cubicBezTo>
                  <a:cubicBezTo>
                    <a:pt x="288" y="292"/>
                    <a:pt x="311" y="254"/>
                    <a:pt x="318" y="243"/>
                  </a:cubicBezTo>
                  <a:cubicBezTo>
                    <a:pt x="318" y="242"/>
                    <a:pt x="334" y="218"/>
                    <a:pt x="334" y="191"/>
                  </a:cubicBezTo>
                  <a:cubicBezTo>
                    <a:pt x="334" y="151"/>
                    <a:pt x="298" y="117"/>
                    <a:pt x="256" y="117"/>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56" y="191"/>
                  </a:moveTo>
                  <a:cubicBezTo>
                    <a:pt x="356" y="140"/>
                    <a:pt x="310" y="96"/>
                    <a:pt x="256" y="96"/>
                  </a:cubicBezTo>
                  <a:cubicBezTo>
                    <a:pt x="256" y="96"/>
                    <a:pt x="256" y="96"/>
                    <a:pt x="256" y="96"/>
                  </a:cubicBezTo>
                  <a:cubicBezTo>
                    <a:pt x="256" y="96"/>
                    <a:pt x="256" y="96"/>
                    <a:pt x="256" y="96"/>
                  </a:cubicBezTo>
                  <a:cubicBezTo>
                    <a:pt x="256" y="96"/>
                    <a:pt x="256" y="96"/>
                    <a:pt x="256" y="96"/>
                  </a:cubicBezTo>
                  <a:cubicBezTo>
                    <a:pt x="256" y="96"/>
                    <a:pt x="256" y="96"/>
                    <a:pt x="255" y="96"/>
                  </a:cubicBezTo>
                  <a:cubicBezTo>
                    <a:pt x="202" y="96"/>
                    <a:pt x="157" y="140"/>
                    <a:pt x="157" y="191"/>
                  </a:cubicBezTo>
                  <a:cubicBezTo>
                    <a:pt x="157" y="225"/>
                    <a:pt x="175" y="253"/>
                    <a:pt x="176" y="254"/>
                  </a:cubicBezTo>
                  <a:cubicBezTo>
                    <a:pt x="189" y="275"/>
                    <a:pt x="202" y="302"/>
                    <a:pt x="202" y="309"/>
                  </a:cubicBezTo>
                  <a:cubicBezTo>
                    <a:pt x="202" y="341"/>
                    <a:pt x="202" y="341"/>
                    <a:pt x="202" y="341"/>
                  </a:cubicBezTo>
                  <a:cubicBezTo>
                    <a:pt x="202" y="341"/>
                    <a:pt x="202" y="342"/>
                    <a:pt x="203" y="342"/>
                  </a:cubicBezTo>
                  <a:cubicBezTo>
                    <a:pt x="203" y="342"/>
                    <a:pt x="202" y="342"/>
                    <a:pt x="202" y="343"/>
                  </a:cubicBezTo>
                  <a:cubicBezTo>
                    <a:pt x="213" y="407"/>
                    <a:pt x="213" y="407"/>
                    <a:pt x="213" y="407"/>
                  </a:cubicBezTo>
                  <a:cubicBezTo>
                    <a:pt x="214" y="412"/>
                    <a:pt x="218" y="416"/>
                    <a:pt x="224" y="416"/>
                  </a:cubicBezTo>
                  <a:cubicBezTo>
                    <a:pt x="288" y="416"/>
                    <a:pt x="288" y="416"/>
                    <a:pt x="288" y="416"/>
                  </a:cubicBezTo>
                  <a:cubicBezTo>
                    <a:pt x="293" y="416"/>
                    <a:pt x="297" y="412"/>
                    <a:pt x="298" y="407"/>
                  </a:cubicBezTo>
                  <a:cubicBezTo>
                    <a:pt x="309" y="343"/>
                    <a:pt x="309" y="343"/>
                    <a:pt x="309" y="343"/>
                  </a:cubicBezTo>
                  <a:cubicBezTo>
                    <a:pt x="309" y="342"/>
                    <a:pt x="309" y="342"/>
                    <a:pt x="309" y="342"/>
                  </a:cubicBezTo>
                  <a:cubicBezTo>
                    <a:pt x="309" y="342"/>
                    <a:pt x="309" y="341"/>
                    <a:pt x="309" y="341"/>
                  </a:cubicBezTo>
                  <a:cubicBezTo>
                    <a:pt x="309" y="309"/>
                    <a:pt x="309" y="309"/>
                    <a:pt x="309" y="309"/>
                  </a:cubicBezTo>
                  <a:cubicBezTo>
                    <a:pt x="309" y="302"/>
                    <a:pt x="323" y="275"/>
                    <a:pt x="336" y="254"/>
                  </a:cubicBezTo>
                  <a:cubicBezTo>
                    <a:pt x="337" y="253"/>
                    <a:pt x="356" y="225"/>
                    <a:pt x="356" y="191"/>
                  </a:cubicBezTo>
                  <a:close/>
                </a:path>
              </a:pathLst>
            </a:custGeom>
            <a:solidFill>
              <a:srgbClr val="004F59"/>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Light"/>
              </a:endParaRPr>
            </a:p>
          </p:txBody>
        </p:sp>
        <p:sp>
          <p:nvSpPr>
            <p:cNvPr id="213" name="Oval 212">
              <a:extLst>
                <a:ext uri="{FF2B5EF4-FFF2-40B4-BE49-F238E27FC236}">
                  <a16:creationId xmlns:a16="http://schemas.microsoft.com/office/drawing/2014/main" id="{4BFE912D-1F6C-459C-A702-CA08AD1CC88B}"/>
                </a:ext>
              </a:extLst>
            </p:cNvPr>
            <p:cNvSpPr/>
            <p:nvPr/>
          </p:nvSpPr>
          <p:spPr bwMode="gray">
            <a:xfrm>
              <a:off x="3172994" y="1557937"/>
              <a:ext cx="1136224" cy="1136224"/>
            </a:xfrm>
            <a:prstGeom prst="ellipse">
              <a:avLst/>
            </a:prstGeom>
            <a:noFill/>
            <a:ln w="22225" algn="ctr">
              <a:solidFill>
                <a:srgbClr val="000000">
                  <a:lumMod val="50000"/>
                  <a:lumOff val="50000"/>
                </a:srgbClr>
              </a:solidFill>
              <a:prstDash val="sysDot"/>
              <a:miter lim="800000"/>
              <a:headEnd/>
              <a:tailEnd/>
            </a:ln>
          </p:spPr>
          <p:txBody>
            <a:bodyPr wrap="square" lIns="88900" tIns="88900" rIns="88900" bIns="88900" rtlCol="0" anchor="ctr"/>
            <a:lstStyle/>
            <a:p>
              <a:pPr marL="0" marR="0" lvl="0" indent="0"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latin typeface="Calibri Light"/>
              </a:endParaRPr>
            </a:p>
          </p:txBody>
        </p:sp>
      </p:grpSp>
      <p:cxnSp>
        <p:nvCxnSpPr>
          <p:cNvPr id="214" name="Straight Connector 213">
            <a:extLst>
              <a:ext uri="{FF2B5EF4-FFF2-40B4-BE49-F238E27FC236}">
                <a16:creationId xmlns:a16="http://schemas.microsoft.com/office/drawing/2014/main" id="{4524FCCC-075D-4476-BAE0-F4CA06218507}"/>
              </a:ext>
            </a:extLst>
          </p:cNvPr>
          <p:cNvCxnSpPr>
            <a:cxnSpLocks/>
            <a:stCxn id="215" idx="6"/>
            <a:endCxn id="213" idx="2"/>
          </p:cNvCxnSpPr>
          <p:nvPr/>
        </p:nvCxnSpPr>
        <p:spPr>
          <a:xfrm flipV="1">
            <a:off x="2902640" y="2181422"/>
            <a:ext cx="968929" cy="116"/>
          </a:xfrm>
          <a:prstGeom prst="line">
            <a:avLst/>
          </a:prstGeom>
          <a:noFill/>
          <a:ln w="22225" algn="ctr">
            <a:solidFill>
              <a:srgbClr val="000000">
                <a:lumMod val="50000"/>
                <a:lumOff val="50000"/>
              </a:srgbClr>
            </a:solidFill>
            <a:prstDash val="sysDot"/>
            <a:miter lim="800000"/>
            <a:headEnd/>
            <a:tailEnd/>
          </a:ln>
        </p:spPr>
      </p:cxnSp>
      <p:sp>
        <p:nvSpPr>
          <p:cNvPr id="216" name="Rectangle 215">
            <a:extLst>
              <a:ext uri="{FF2B5EF4-FFF2-40B4-BE49-F238E27FC236}">
                <a16:creationId xmlns:a16="http://schemas.microsoft.com/office/drawing/2014/main" id="{16E0917F-C6ED-434C-93C4-9B4803B3D5BA}"/>
              </a:ext>
            </a:extLst>
          </p:cNvPr>
          <p:cNvSpPr/>
          <p:nvPr/>
        </p:nvSpPr>
        <p:spPr>
          <a:xfrm>
            <a:off x="4394857" y="1785705"/>
            <a:ext cx="2646000" cy="767839"/>
          </a:xfrm>
          <a:prstGeom prst="rect">
            <a:avLst/>
          </a:prstGeom>
        </p:spPr>
        <p:txBody>
          <a:bodyPr wrap="square">
            <a:spAutoFit/>
          </a:bodyPr>
          <a:lstStyle/>
          <a:p>
            <a:pPr defTabSz="1219170">
              <a:buFont typeface="Wingdings 2" pitchFamily="18" charset="2"/>
              <a:buNone/>
            </a:pPr>
            <a:r>
              <a:rPr lang="en-US" sz="1400" b="1" dirty="0">
                <a:solidFill>
                  <a:srgbClr val="004F59"/>
                </a:solidFill>
                <a:latin typeface="+mj-lt"/>
              </a:rPr>
              <a:t>Prepare scheme functional documents (SBDs, DPRs, Grant/Loan approval)</a:t>
            </a:r>
            <a:endParaRPr lang="en-US" sz="1400" b="1" dirty="0">
              <a:solidFill>
                <a:srgbClr val="000000"/>
              </a:solidFill>
              <a:latin typeface="+mj-lt"/>
            </a:endParaRPr>
          </a:p>
        </p:txBody>
      </p:sp>
      <p:cxnSp>
        <p:nvCxnSpPr>
          <p:cNvPr id="217" name="Straight Connector 216">
            <a:extLst>
              <a:ext uri="{FF2B5EF4-FFF2-40B4-BE49-F238E27FC236}">
                <a16:creationId xmlns:a16="http://schemas.microsoft.com/office/drawing/2014/main" id="{7F4E11FE-50A8-4248-B180-6ECE2D7F18A9}"/>
              </a:ext>
            </a:extLst>
          </p:cNvPr>
          <p:cNvCxnSpPr>
            <a:cxnSpLocks/>
            <a:endCxn id="221" idx="24"/>
          </p:cNvCxnSpPr>
          <p:nvPr/>
        </p:nvCxnSpPr>
        <p:spPr>
          <a:xfrm>
            <a:off x="3566522" y="3081653"/>
            <a:ext cx="331745" cy="5189"/>
          </a:xfrm>
          <a:prstGeom prst="line">
            <a:avLst/>
          </a:prstGeom>
          <a:noFill/>
          <a:ln w="22225" algn="ctr">
            <a:solidFill>
              <a:srgbClr val="000000">
                <a:lumMod val="50000"/>
                <a:lumOff val="50000"/>
              </a:srgbClr>
            </a:solidFill>
            <a:prstDash val="sysDot"/>
            <a:miter lim="800000"/>
            <a:headEnd/>
            <a:tailEnd/>
          </a:ln>
        </p:spPr>
      </p:cxnSp>
      <p:grpSp>
        <p:nvGrpSpPr>
          <p:cNvPr id="219" name="Group 218">
            <a:extLst>
              <a:ext uri="{FF2B5EF4-FFF2-40B4-BE49-F238E27FC236}">
                <a16:creationId xmlns:a16="http://schemas.microsoft.com/office/drawing/2014/main" id="{D7C271EB-CFEF-4A78-959E-F0F6E6CE9411}"/>
              </a:ext>
            </a:extLst>
          </p:cNvPr>
          <p:cNvGrpSpPr/>
          <p:nvPr/>
        </p:nvGrpSpPr>
        <p:grpSpPr>
          <a:xfrm>
            <a:off x="3862354" y="2821169"/>
            <a:ext cx="531346" cy="531346"/>
            <a:chOff x="6262417" y="2938689"/>
            <a:chExt cx="919874" cy="919874"/>
          </a:xfrm>
        </p:grpSpPr>
        <p:sp>
          <p:nvSpPr>
            <p:cNvPr id="220" name="Oval 219">
              <a:extLst>
                <a:ext uri="{FF2B5EF4-FFF2-40B4-BE49-F238E27FC236}">
                  <a16:creationId xmlns:a16="http://schemas.microsoft.com/office/drawing/2014/main" id="{B9E2B10C-F2C4-4BF2-8701-24C94A5F7A45}"/>
                </a:ext>
              </a:extLst>
            </p:cNvPr>
            <p:cNvSpPr/>
            <p:nvPr/>
          </p:nvSpPr>
          <p:spPr bwMode="gray">
            <a:xfrm>
              <a:off x="6262417" y="2938689"/>
              <a:ext cx="919874" cy="919874"/>
            </a:xfrm>
            <a:prstGeom prst="ellipse">
              <a:avLst/>
            </a:prstGeom>
            <a:noFill/>
            <a:ln w="22225" algn="ctr">
              <a:solidFill>
                <a:srgbClr val="000000">
                  <a:lumMod val="50000"/>
                  <a:lumOff val="50000"/>
                </a:srgbClr>
              </a:solidFill>
              <a:prstDash val="sysDot"/>
              <a:miter lim="800000"/>
              <a:headEnd/>
              <a:tailEnd/>
            </a:ln>
          </p:spPr>
          <p:txBody>
            <a:bodyPr wrap="square" lIns="88900" tIns="88900" rIns="88900" bIns="88900" rtlCol="0" anchor="ctr"/>
            <a:lstStyle/>
            <a:p>
              <a:pPr marL="0" marR="0" lvl="0" indent="0"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latin typeface="Verdana"/>
              </a:endParaRPr>
            </a:p>
          </p:txBody>
        </p:sp>
        <p:sp>
          <p:nvSpPr>
            <p:cNvPr id="221" name="Freeform 917">
              <a:extLst>
                <a:ext uri="{FF2B5EF4-FFF2-40B4-BE49-F238E27FC236}">
                  <a16:creationId xmlns:a16="http://schemas.microsoft.com/office/drawing/2014/main" id="{E23289E9-1328-4D01-8AB0-CF9D785D4E80}"/>
                </a:ext>
              </a:extLst>
            </p:cNvPr>
            <p:cNvSpPr>
              <a:spLocks noChangeAspect="1" noEditPoints="1"/>
            </p:cNvSpPr>
            <p:nvPr/>
          </p:nvSpPr>
          <p:spPr bwMode="auto">
            <a:xfrm>
              <a:off x="6324590" y="3000862"/>
              <a:ext cx="795528" cy="795528"/>
            </a:xfrm>
            <a:custGeom>
              <a:avLst/>
              <a:gdLst>
                <a:gd name="T0" fmla="*/ 245 w 512"/>
                <a:gd name="T1" fmla="*/ 128 h 512"/>
                <a:gd name="T2" fmla="*/ 256 w 512"/>
                <a:gd name="T3" fmla="*/ 117 h 512"/>
                <a:gd name="T4" fmla="*/ 266 w 512"/>
                <a:gd name="T5" fmla="*/ 128 h 512"/>
                <a:gd name="T6" fmla="*/ 256 w 512"/>
                <a:gd name="T7" fmla="*/ 138 h 512"/>
                <a:gd name="T8" fmla="*/ 245 w 512"/>
                <a:gd name="T9" fmla="*/ 128 h 512"/>
                <a:gd name="T10" fmla="*/ 269 w 512"/>
                <a:gd name="T11" fmla="*/ 245 h 512"/>
                <a:gd name="T12" fmla="*/ 243 w 512"/>
                <a:gd name="T13" fmla="*/ 245 h 512"/>
                <a:gd name="T14" fmla="*/ 216 w 512"/>
                <a:gd name="T15" fmla="*/ 352 h 512"/>
                <a:gd name="T16" fmla="*/ 295 w 512"/>
                <a:gd name="T17" fmla="*/ 352 h 512"/>
                <a:gd name="T18" fmla="*/ 269 w 512"/>
                <a:gd name="T19" fmla="*/ 245 h 512"/>
                <a:gd name="T20" fmla="*/ 238 w 512"/>
                <a:gd name="T21" fmla="*/ 224 h 512"/>
                <a:gd name="T22" fmla="*/ 273 w 512"/>
                <a:gd name="T23" fmla="*/ 224 h 512"/>
                <a:gd name="T24" fmla="*/ 288 w 512"/>
                <a:gd name="T25" fmla="*/ 192 h 512"/>
                <a:gd name="T26" fmla="*/ 287 w 512"/>
                <a:gd name="T27" fmla="*/ 186 h 512"/>
                <a:gd name="T28" fmla="*/ 274 w 512"/>
                <a:gd name="T29" fmla="*/ 199 h 512"/>
                <a:gd name="T30" fmla="*/ 266 w 512"/>
                <a:gd name="T31" fmla="*/ 202 h 512"/>
                <a:gd name="T32" fmla="*/ 259 w 512"/>
                <a:gd name="T33" fmla="*/ 199 h 512"/>
                <a:gd name="T34" fmla="*/ 259 w 512"/>
                <a:gd name="T35" fmla="*/ 184 h 512"/>
                <a:gd name="T36" fmla="*/ 273 w 512"/>
                <a:gd name="T37" fmla="*/ 170 h 512"/>
                <a:gd name="T38" fmla="*/ 256 w 512"/>
                <a:gd name="T39" fmla="*/ 160 h 512"/>
                <a:gd name="T40" fmla="*/ 224 w 512"/>
                <a:gd name="T41" fmla="*/ 192 h 512"/>
                <a:gd name="T42" fmla="*/ 238 w 512"/>
                <a:gd name="T43" fmla="*/ 224 h 512"/>
                <a:gd name="T44" fmla="*/ 512 w 512"/>
                <a:gd name="T45" fmla="*/ 256 h 512"/>
                <a:gd name="T46" fmla="*/ 256 w 512"/>
                <a:gd name="T47" fmla="*/ 512 h 512"/>
                <a:gd name="T48" fmla="*/ 0 w 512"/>
                <a:gd name="T49" fmla="*/ 256 h 512"/>
                <a:gd name="T50" fmla="*/ 256 w 512"/>
                <a:gd name="T51" fmla="*/ 0 h 512"/>
                <a:gd name="T52" fmla="*/ 512 w 512"/>
                <a:gd name="T53" fmla="*/ 256 h 512"/>
                <a:gd name="T54" fmla="*/ 330 w 512"/>
                <a:gd name="T55" fmla="*/ 362 h 512"/>
                <a:gd name="T56" fmla="*/ 320 w 512"/>
                <a:gd name="T57" fmla="*/ 352 h 512"/>
                <a:gd name="T58" fmla="*/ 317 w 512"/>
                <a:gd name="T59" fmla="*/ 352 h 512"/>
                <a:gd name="T60" fmla="*/ 289 w 512"/>
                <a:gd name="T61" fmla="*/ 238 h 512"/>
                <a:gd name="T62" fmla="*/ 309 w 512"/>
                <a:gd name="T63" fmla="*/ 192 h 512"/>
                <a:gd name="T64" fmla="*/ 279 w 512"/>
                <a:gd name="T65" fmla="*/ 149 h 512"/>
                <a:gd name="T66" fmla="*/ 288 w 512"/>
                <a:gd name="T67" fmla="*/ 128 h 512"/>
                <a:gd name="T68" fmla="*/ 256 w 512"/>
                <a:gd name="T69" fmla="*/ 96 h 512"/>
                <a:gd name="T70" fmla="*/ 224 w 512"/>
                <a:gd name="T71" fmla="*/ 128 h 512"/>
                <a:gd name="T72" fmla="*/ 232 w 512"/>
                <a:gd name="T73" fmla="*/ 149 h 512"/>
                <a:gd name="T74" fmla="*/ 202 w 512"/>
                <a:gd name="T75" fmla="*/ 192 h 512"/>
                <a:gd name="T76" fmla="*/ 222 w 512"/>
                <a:gd name="T77" fmla="*/ 238 h 512"/>
                <a:gd name="T78" fmla="*/ 194 w 512"/>
                <a:gd name="T79" fmla="*/ 352 h 512"/>
                <a:gd name="T80" fmla="*/ 192 w 512"/>
                <a:gd name="T81" fmla="*/ 352 h 512"/>
                <a:gd name="T82" fmla="*/ 181 w 512"/>
                <a:gd name="T83" fmla="*/ 362 h 512"/>
                <a:gd name="T84" fmla="*/ 181 w 512"/>
                <a:gd name="T85" fmla="*/ 405 h 512"/>
                <a:gd name="T86" fmla="*/ 192 w 512"/>
                <a:gd name="T87" fmla="*/ 416 h 512"/>
                <a:gd name="T88" fmla="*/ 320 w 512"/>
                <a:gd name="T89" fmla="*/ 416 h 512"/>
                <a:gd name="T90" fmla="*/ 330 w 512"/>
                <a:gd name="T91" fmla="*/ 405 h 512"/>
                <a:gd name="T92" fmla="*/ 330 w 512"/>
                <a:gd name="T93" fmla="*/ 362 h 512"/>
                <a:gd name="T94" fmla="*/ 202 w 512"/>
                <a:gd name="T95" fmla="*/ 394 h 512"/>
                <a:gd name="T96" fmla="*/ 309 w 512"/>
                <a:gd name="T97" fmla="*/ 394 h 512"/>
                <a:gd name="T98" fmla="*/ 309 w 512"/>
                <a:gd name="T99" fmla="*/ 373 h 512"/>
                <a:gd name="T100" fmla="*/ 202 w 512"/>
                <a:gd name="T101" fmla="*/ 373 h 512"/>
                <a:gd name="T102" fmla="*/ 202 w 512"/>
                <a:gd name="T103" fmla="*/ 39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12" h="512">
                  <a:moveTo>
                    <a:pt x="245" y="128"/>
                  </a:moveTo>
                  <a:cubicBezTo>
                    <a:pt x="245" y="122"/>
                    <a:pt x="250" y="117"/>
                    <a:pt x="256" y="117"/>
                  </a:cubicBezTo>
                  <a:cubicBezTo>
                    <a:pt x="262" y="117"/>
                    <a:pt x="266" y="122"/>
                    <a:pt x="266" y="128"/>
                  </a:cubicBezTo>
                  <a:cubicBezTo>
                    <a:pt x="266" y="134"/>
                    <a:pt x="262" y="138"/>
                    <a:pt x="256" y="138"/>
                  </a:cubicBezTo>
                  <a:cubicBezTo>
                    <a:pt x="250" y="138"/>
                    <a:pt x="245" y="134"/>
                    <a:pt x="245" y="128"/>
                  </a:cubicBezTo>
                  <a:close/>
                  <a:moveTo>
                    <a:pt x="269" y="245"/>
                  </a:moveTo>
                  <a:cubicBezTo>
                    <a:pt x="243" y="245"/>
                    <a:pt x="243" y="245"/>
                    <a:pt x="243" y="245"/>
                  </a:cubicBezTo>
                  <a:cubicBezTo>
                    <a:pt x="216" y="352"/>
                    <a:pt x="216" y="352"/>
                    <a:pt x="216" y="352"/>
                  </a:cubicBezTo>
                  <a:cubicBezTo>
                    <a:pt x="295" y="352"/>
                    <a:pt x="295" y="352"/>
                    <a:pt x="295" y="352"/>
                  </a:cubicBezTo>
                  <a:lnTo>
                    <a:pt x="269" y="245"/>
                  </a:lnTo>
                  <a:close/>
                  <a:moveTo>
                    <a:pt x="238" y="224"/>
                  </a:moveTo>
                  <a:cubicBezTo>
                    <a:pt x="273" y="224"/>
                    <a:pt x="273" y="224"/>
                    <a:pt x="273" y="224"/>
                  </a:cubicBezTo>
                  <a:cubicBezTo>
                    <a:pt x="278" y="219"/>
                    <a:pt x="288" y="209"/>
                    <a:pt x="288" y="192"/>
                  </a:cubicBezTo>
                  <a:cubicBezTo>
                    <a:pt x="288" y="190"/>
                    <a:pt x="287" y="188"/>
                    <a:pt x="287" y="186"/>
                  </a:cubicBezTo>
                  <a:cubicBezTo>
                    <a:pt x="274" y="199"/>
                    <a:pt x="274" y="199"/>
                    <a:pt x="274" y="199"/>
                  </a:cubicBezTo>
                  <a:cubicBezTo>
                    <a:pt x="272" y="201"/>
                    <a:pt x="269" y="202"/>
                    <a:pt x="266" y="202"/>
                  </a:cubicBezTo>
                  <a:cubicBezTo>
                    <a:pt x="264" y="202"/>
                    <a:pt x="261" y="201"/>
                    <a:pt x="259" y="199"/>
                  </a:cubicBezTo>
                  <a:cubicBezTo>
                    <a:pt x="255" y="195"/>
                    <a:pt x="255" y="188"/>
                    <a:pt x="259" y="184"/>
                  </a:cubicBezTo>
                  <a:cubicBezTo>
                    <a:pt x="273" y="170"/>
                    <a:pt x="273" y="170"/>
                    <a:pt x="273" y="170"/>
                  </a:cubicBezTo>
                  <a:cubicBezTo>
                    <a:pt x="267" y="166"/>
                    <a:pt x="260" y="163"/>
                    <a:pt x="256" y="160"/>
                  </a:cubicBezTo>
                  <a:cubicBezTo>
                    <a:pt x="245" y="165"/>
                    <a:pt x="224" y="177"/>
                    <a:pt x="224" y="192"/>
                  </a:cubicBezTo>
                  <a:cubicBezTo>
                    <a:pt x="224" y="208"/>
                    <a:pt x="234" y="219"/>
                    <a:pt x="238" y="224"/>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30" y="362"/>
                  </a:moveTo>
                  <a:cubicBezTo>
                    <a:pt x="330" y="356"/>
                    <a:pt x="326" y="352"/>
                    <a:pt x="320" y="352"/>
                  </a:cubicBezTo>
                  <a:cubicBezTo>
                    <a:pt x="317" y="352"/>
                    <a:pt x="317" y="352"/>
                    <a:pt x="317" y="352"/>
                  </a:cubicBezTo>
                  <a:cubicBezTo>
                    <a:pt x="289" y="238"/>
                    <a:pt x="289" y="238"/>
                    <a:pt x="289" y="238"/>
                  </a:cubicBezTo>
                  <a:cubicBezTo>
                    <a:pt x="297" y="231"/>
                    <a:pt x="309" y="215"/>
                    <a:pt x="309" y="192"/>
                  </a:cubicBezTo>
                  <a:cubicBezTo>
                    <a:pt x="309" y="172"/>
                    <a:pt x="293" y="158"/>
                    <a:pt x="279" y="149"/>
                  </a:cubicBezTo>
                  <a:cubicBezTo>
                    <a:pt x="284" y="143"/>
                    <a:pt x="288" y="136"/>
                    <a:pt x="288" y="128"/>
                  </a:cubicBezTo>
                  <a:cubicBezTo>
                    <a:pt x="288" y="110"/>
                    <a:pt x="273" y="96"/>
                    <a:pt x="256" y="96"/>
                  </a:cubicBezTo>
                  <a:cubicBezTo>
                    <a:pt x="238" y="96"/>
                    <a:pt x="224" y="110"/>
                    <a:pt x="224" y="128"/>
                  </a:cubicBezTo>
                  <a:cubicBezTo>
                    <a:pt x="224" y="136"/>
                    <a:pt x="227" y="143"/>
                    <a:pt x="232" y="149"/>
                  </a:cubicBezTo>
                  <a:cubicBezTo>
                    <a:pt x="218" y="158"/>
                    <a:pt x="202" y="172"/>
                    <a:pt x="202" y="192"/>
                  </a:cubicBezTo>
                  <a:cubicBezTo>
                    <a:pt x="202" y="215"/>
                    <a:pt x="215" y="231"/>
                    <a:pt x="222" y="238"/>
                  </a:cubicBezTo>
                  <a:cubicBezTo>
                    <a:pt x="194" y="352"/>
                    <a:pt x="194" y="352"/>
                    <a:pt x="194" y="352"/>
                  </a:cubicBezTo>
                  <a:cubicBezTo>
                    <a:pt x="192" y="352"/>
                    <a:pt x="192" y="352"/>
                    <a:pt x="192" y="352"/>
                  </a:cubicBezTo>
                  <a:cubicBezTo>
                    <a:pt x="186" y="352"/>
                    <a:pt x="181" y="356"/>
                    <a:pt x="181" y="362"/>
                  </a:cubicBezTo>
                  <a:cubicBezTo>
                    <a:pt x="181" y="405"/>
                    <a:pt x="181" y="405"/>
                    <a:pt x="181" y="405"/>
                  </a:cubicBezTo>
                  <a:cubicBezTo>
                    <a:pt x="181" y="411"/>
                    <a:pt x="186" y="416"/>
                    <a:pt x="192" y="416"/>
                  </a:cubicBezTo>
                  <a:cubicBezTo>
                    <a:pt x="320" y="416"/>
                    <a:pt x="320" y="416"/>
                    <a:pt x="320" y="416"/>
                  </a:cubicBezTo>
                  <a:cubicBezTo>
                    <a:pt x="326" y="416"/>
                    <a:pt x="330" y="411"/>
                    <a:pt x="330" y="405"/>
                  </a:cubicBezTo>
                  <a:lnTo>
                    <a:pt x="330" y="362"/>
                  </a:lnTo>
                  <a:close/>
                  <a:moveTo>
                    <a:pt x="202" y="394"/>
                  </a:moveTo>
                  <a:cubicBezTo>
                    <a:pt x="309" y="394"/>
                    <a:pt x="309" y="394"/>
                    <a:pt x="309" y="394"/>
                  </a:cubicBezTo>
                  <a:cubicBezTo>
                    <a:pt x="309" y="373"/>
                    <a:pt x="309" y="373"/>
                    <a:pt x="309" y="373"/>
                  </a:cubicBezTo>
                  <a:cubicBezTo>
                    <a:pt x="202" y="373"/>
                    <a:pt x="202" y="373"/>
                    <a:pt x="202" y="373"/>
                  </a:cubicBezTo>
                  <a:lnTo>
                    <a:pt x="202" y="394"/>
                  </a:lnTo>
                  <a:close/>
                </a:path>
              </a:pathLst>
            </a:custGeom>
            <a:solidFill>
              <a:srgbClr val="046A38"/>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Verdana"/>
              </a:endParaRPr>
            </a:p>
          </p:txBody>
        </p:sp>
      </p:grpSp>
      <p:sp>
        <p:nvSpPr>
          <p:cNvPr id="222" name="Rectangle 221">
            <a:extLst>
              <a:ext uri="{FF2B5EF4-FFF2-40B4-BE49-F238E27FC236}">
                <a16:creationId xmlns:a16="http://schemas.microsoft.com/office/drawing/2014/main" id="{D5F15548-C414-4703-A720-D86A1443CFFC}"/>
              </a:ext>
            </a:extLst>
          </p:cNvPr>
          <p:cNvSpPr/>
          <p:nvPr/>
        </p:nvSpPr>
        <p:spPr>
          <a:xfrm>
            <a:off x="4355376" y="2713175"/>
            <a:ext cx="2347822" cy="738664"/>
          </a:xfrm>
          <a:prstGeom prst="rect">
            <a:avLst/>
          </a:prstGeom>
        </p:spPr>
        <p:txBody>
          <a:bodyPr wrap="square">
            <a:spAutoFit/>
          </a:bodyPr>
          <a:lstStyle/>
          <a:p>
            <a:pPr>
              <a:defRPr/>
            </a:pPr>
            <a:r>
              <a:rPr lang="en-US" sz="1400" b="1" dirty="0">
                <a:solidFill>
                  <a:srgbClr val="046A38"/>
                </a:solidFill>
                <a:latin typeface="+mj-lt"/>
              </a:rPr>
              <a:t>Progress monitoring framework (identify slippages, issues, tracking)</a:t>
            </a:r>
            <a:endParaRPr lang="en-US" sz="1400" b="1" dirty="0">
              <a:solidFill>
                <a:srgbClr val="000000"/>
              </a:solidFill>
              <a:latin typeface="+mj-lt"/>
            </a:endParaRPr>
          </a:p>
        </p:txBody>
      </p:sp>
      <p:cxnSp>
        <p:nvCxnSpPr>
          <p:cNvPr id="223" name="Straight Connector 222">
            <a:extLst>
              <a:ext uri="{FF2B5EF4-FFF2-40B4-BE49-F238E27FC236}">
                <a16:creationId xmlns:a16="http://schemas.microsoft.com/office/drawing/2014/main" id="{C8746878-1F91-4B9F-BE89-6AEC5911C781}"/>
              </a:ext>
            </a:extLst>
          </p:cNvPr>
          <p:cNvCxnSpPr>
            <a:cxnSpLocks/>
            <a:endCxn id="258" idx="2"/>
          </p:cNvCxnSpPr>
          <p:nvPr/>
        </p:nvCxnSpPr>
        <p:spPr>
          <a:xfrm flipV="1">
            <a:off x="3568755" y="3970157"/>
            <a:ext cx="271852" cy="9693"/>
          </a:xfrm>
          <a:prstGeom prst="line">
            <a:avLst/>
          </a:prstGeom>
          <a:noFill/>
          <a:ln w="22225" algn="ctr">
            <a:solidFill>
              <a:srgbClr val="000000">
                <a:lumMod val="50000"/>
                <a:lumOff val="50000"/>
              </a:srgbClr>
            </a:solidFill>
            <a:prstDash val="sysDot"/>
            <a:miter lim="800000"/>
            <a:headEnd/>
            <a:tailEnd/>
          </a:ln>
        </p:spPr>
      </p:cxnSp>
      <p:sp>
        <p:nvSpPr>
          <p:cNvPr id="227" name="Rectangle 226">
            <a:extLst>
              <a:ext uri="{FF2B5EF4-FFF2-40B4-BE49-F238E27FC236}">
                <a16:creationId xmlns:a16="http://schemas.microsoft.com/office/drawing/2014/main" id="{CCCD6799-7EE8-4131-83B3-C35A3E4C0562}"/>
              </a:ext>
            </a:extLst>
          </p:cNvPr>
          <p:cNvSpPr/>
          <p:nvPr/>
        </p:nvSpPr>
        <p:spPr>
          <a:xfrm>
            <a:off x="4337952" y="3609699"/>
            <a:ext cx="2338559" cy="738664"/>
          </a:xfrm>
          <a:prstGeom prst="rect">
            <a:avLst/>
          </a:prstGeom>
        </p:spPr>
        <p:txBody>
          <a:bodyPr wrap="square">
            <a:spAutoFit/>
          </a:bodyPr>
          <a:lstStyle/>
          <a:p>
            <a:pPr>
              <a:defRPr/>
            </a:pPr>
            <a:r>
              <a:rPr lang="en-US" sz="1400" b="1" dirty="0">
                <a:solidFill>
                  <a:srgbClr val="012169"/>
                </a:solidFill>
                <a:latin typeface="+mj-lt"/>
              </a:rPr>
              <a:t>Risk management and governance (risk identification &amp; mitigation)</a:t>
            </a:r>
            <a:endParaRPr lang="en-US" sz="1400" b="1" dirty="0">
              <a:solidFill>
                <a:srgbClr val="000000"/>
              </a:solidFill>
              <a:latin typeface="+mj-lt"/>
            </a:endParaRPr>
          </a:p>
        </p:txBody>
      </p:sp>
      <p:cxnSp>
        <p:nvCxnSpPr>
          <p:cNvPr id="229" name="Straight Connector 228">
            <a:extLst>
              <a:ext uri="{FF2B5EF4-FFF2-40B4-BE49-F238E27FC236}">
                <a16:creationId xmlns:a16="http://schemas.microsoft.com/office/drawing/2014/main" id="{AD3B1B1C-2984-434B-A3C7-922964EAEB9C}"/>
              </a:ext>
            </a:extLst>
          </p:cNvPr>
          <p:cNvCxnSpPr>
            <a:cxnSpLocks/>
            <a:stCxn id="230" idx="6"/>
            <a:endCxn id="233" idx="13"/>
          </p:cNvCxnSpPr>
          <p:nvPr/>
        </p:nvCxnSpPr>
        <p:spPr>
          <a:xfrm>
            <a:off x="3037623" y="4885456"/>
            <a:ext cx="858715" cy="5026"/>
          </a:xfrm>
          <a:prstGeom prst="line">
            <a:avLst/>
          </a:prstGeom>
          <a:noFill/>
          <a:ln w="22225" algn="ctr">
            <a:solidFill>
              <a:srgbClr val="000000">
                <a:lumMod val="50000"/>
                <a:lumOff val="50000"/>
              </a:srgbClr>
            </a:solidFill>
            <a:prstDash val="sysDot"/>
            <a:miter lim="800000"/>
            <a:headEnd/>
            <a:tailEnd/>
          </a:ln>
        </p:spPr>
      </p:cxnSp>
      <p:grpSp>
        <p:nvGrpSpPr>
          <p:cNvPr id="10" name="Group 9">
            <a:extLst>
              <a:ext uri="{FF2B5EF4-FFF2-40B4-BE49-F238E27FC236}">
                <a16:creationId xmlns:a16="http://schemas.microsoft.com/office/drawing/2014/main" id="{9B96A9DC-316E-426D-AB33-8502C443A32B}"/>
              </a:ext>
            </a:extLst>
          </p:cNvPr>
          <p:cNvGrpSpPr/>
          <p:nvPr/>
        </p:nvGrpSpPr>
        <p:grpSpPr>
          <a:xfrm>
            <a:off x="413819" y="1949531"/>
            <a:ext cx="3240000" cy="3240000"/>
            <a:chOff x="501651" y="1250537"/>
            <a:chExt cx="4875007" cy="4893636"/>
          </a:xfrm>
        </p:grpSpPr>
        <p:sp>
          <p:nvSpPr>
            <p:cNvPr id="206" name="Oval 205">
              <a:extLst>
                <a:ext uri="{FF2B5EF4-FFF2-40B4-BE49-F238E27FC236}">
                  <a16:creationId xmlns:a16="http://schemas.microsoft.com/office/drawing/2014/main" id="{972ECD96-2B52-4855-8995-42D4219B3D56}"/>
                </a:ext>
              </a:extLst>
            </p:cNvPr>
            <p:cNvSpPr/>
            <p:nvPr/>
          </p:nvSpPr>
          <p:spPr bwMode="gray">
            <a:xfrm>
              <a:off x="501651" y="1263107"/>
              <a:ext cx="4871646" cy="4871646"/>
            </a:xfrm>
            <a:prstGeom prst="ellipse">
              <a:avLst/>
            </a:prstGeom>
            <a:noFill/>
            <a:ln w="22225" algn="ctr">
              <a:solidFill>
                <a:srgbClr val="000000">
                  <a:lumMod val="50000"/>
                  <a:lumOff val="50000"/>
                </a:srgbClr>
              </a:solidFill>
              <a:prstDash val="sysDot"/>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latin typeface="Calibri Light"/>
              </a:endParaRPr>
            </a:p>
          </p:txBody>
        </p:sp>
        <p:sp>
          <p:nvSpPr>
            <p:cNvPr id="208" name="Oval 207">
              <a:extLst>
                <a:ext uri="{FF2B5EF4-FFF2-40B4-BE49-F238E27FC236}">
                  <a16:creationId xmlns:a16="http://schemas.microsoft.com/office/drawing/2014/main" id="{1B6CE023-90BE-4E2D-92D6-B788A3E269E0}"/>
                </a:ext>
              </a:extLst>
            </p:cNvPr>
            <p:cNvSpPr/>
            <p:nvPr/>
          </p:nvSpPr>
          <p:spPr bwMode="gray">
            <a:xfrm>
              <a:off x="2177780" y="1250537"/>
              <a:ext cx="184815" cy="184815"/>
            </a:xfrm>
            <a:prstGeom prst="ellipse">
              <a:avLst/>
            </a:prstGeom>
            <a:solidFill>
              <a:srgbClr val="000000">
                <a:lumMod val="50000"/>
                <a:lumOff val="50000"/>
              </a:srgbClr>
            </a:solidFill>
            <a:ln w="19050" algn="ctr">
              <a:solidFill>
                <a:srgbClr val="000000">
                  <a:lumMod val="50000"/>
                  <a:lumOff val="50000"/>
                </a:srgbClr>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latin typeface="Calibri Light"/>
              </a:endParaRPr>
            </a:p>
          </p:txBody>
        </p:sp>
        <p:sp>
          <p:nvSpPr>
            <p:cNvPr id="209" name="Oval 208">
              <a:extLst>
                <a:ext uri="{FF2B5EF4-FFF2-40B4-BE49-F238E27FC236}">
                  <a16:creationId xmlns:a16="http://schemas.microsoft.com/office/drawing/2014/main" id="{EB93A2A8-6A74-4AFD-86ED-B1FD68F6CBF8}"/>
                </a:ext>
              </a:extLst>
            </p:cNvPr>
            <p:cNvSpPr/>
            <p:nvPr/>
          </p:nvSpPr>
          <p:spPr bwMode="gray">
            <a:xfrm>
              <a:off x="2176742" y="5959358"/>
              <a:ext cx="184815" cy="184815"/>
            </a:xfrm>
            <a:prstGeom prst="ellipse">
              <a:avLst/>
            </a:prstGeom>
            <a:solidFill>
              <a:srgbClr val="000000">
                <a:lumMod val="50000"/>
                <a:lumOff val="50000"/>
              </a:srgbClr>
            </a:solidFill>
            <a:ln w="19050" algn="ctr">
              <a:solidFill>
                <a:srgbClr val="000000">
                  <a:lumMod val="50000"/>
                  <a:lumOff val="50000"/>
                </a:srgbClr>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latin typeface="Calibri Light"/>
              </a:endParaRPr>
            </a:p>
          </p:txBody>
        </p:sp>
        <p:sp>
          <p:nvSpPr>
            <p:cNvPr id="215" name="Oval 214">
              <a:extLst>
                <a:ext uri="{FF2B5EF4-FFF2-40B4-BE49-F238E27FC236}">
                  <a16:creationId xmlns:a16="http://schemas.microsoft.com/office/drawing/2014/main" id="{06CD5852-8F24-494A-B1EA-8572C079D165}"/>
                </a:ext>
              </a:extLst>
            </p:cNvPr>
            <p:cNvSpPr/>
            <p:nvPr/>
          </p:nvSpPr>
          <p:spPr bwMode="gray">
            <a:xfrm>
              <a:off x="4061595" y="1508548"/>
              <a:ext cx="184815" cy="184815"/>
            </a:xfrm>
            <a:prstGeom prst="ellipse">
              <a:avLst/>
            </a:prstGeom>
            <a:solidFill>
              <a:srgbClr val="FFFFFF"/>
            </a:solidFill>
            <a:ln w="34925" algn="ctr">
              <a:solidFill>
                <a:srgbClr val="004F59"/>
              </a:solidFill>
              <a:miter lim="800000"/>
              <a:headEnd/>
              <a:tailEnd/>
            </a:ln>
          </p:spPr>
          <p:txBody>
            <a:bodyPr wrap="square" lIns="88900" tIns="88900" rIns="88900" bIns="88900" rtlCol="0" anchor="ctr"/>
            <a:lstStyle/>
            <a:p>
              <a:pPr marL="0" marR="0" lvl="0" indent="0"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latin typeface="Calibri Light"/>
              </a:endParaRPr>
            </a:p>
          </p:txBody>
        </p:sp>
        <p:sp>
          <p:nvSpPr>
            <p:cNvPr id="218" name="Oval 217">
              <a:extLst>
                <a:ext uri="{FF2B5EF4-FFF2-40B4-BE49-F238E27FC236}">
                  <a16:creationId xmlns:a16="http://schemas.microsoft.com/office/drawing/2014/main" id="{B23B078F-3ABB-4865-A426-262F4E6D60FA}"/>
                </a:ext>
              </a:extLst>
            </p:cNvPr>
            <p:cNvSpPr/>
            <p:nvPr/>
          </p:nvSpPr>
          <p:spPr bwMode="gray">
            <a:xfrm>
              <a:off x="5188483" y="2868065"/>
              <a:ext cx="184815" cy="184815"/>
            </a:xfrm>
            <a:prstGeom prst="ellipse">
              <a:avLst/>
            </a:prstGeom>
            <a:solidFill>
              <a:srgbClr val="FFFFFF"/>
            </a:solidFill>
            <a:ln w="34925" algn="ctr">
              <a:solidFill>
                <a:srgbClr val="046A38"/>
              </a:solidFill>
              <a:miter lim="800000"/>
              <a:headEnd/>
              <a:tailEnd/>
            </a:ln>
          </p:spPr>
          <p:txBody>
            <a:bodyPr wrap="square" lIns="88900" tIns="88900" rIns="88900" bIns="88900" rtlCol="0" anchor="ctr"/>
            <a:lstStyle/>
            <a:p>
              <a:pPr marL="0" marR="0" lvl="0" indent="0"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latin typeface="Verdana"/>
              </a:endParaRPr>
            </a:p>
          </p:txBody>
        </p:sp>
        <p:sp>
          <p:nvSpPr>
            <p:cNvPr id="228" name="Oval 227">
              <a:extLst>
                <a:ext uri="{FF2B5EF4-FFF2-40B4-BE49-F238E27FC236}">
                  <a16:creationId xmlns:a16="http://schemas.microsoft.com/office/drawing/2014/main" id="{8406ADEC-C322-4E86-A8DB-A0FF390DCCC9}"/>
                </a:ext>
              </a:extLst>
            </p:cNvPr>
            <p:cNvSpPr/>
            <p:nvPr/>
          </p:nvSpPr>
          <p:spPr bwMode="gray">
            <a:xfrm>
              <a:off x="5191843" y="4224685"/>
              <a:ext cx="184815" cy="184815"/>
            </a:xfrm>
            <a:prstGeom prst="ellipse">
              <a:avLst/>
            </a:prstGeom>
            <a:solidFill>
              <a:srgbClr val="FFFFFF"/>
            </a:solidFill>
            <a:ln w="34925" algn="ctr">
              <a:solidFill>
                <a:srgbClr val="012169"/>
              </a:solidFill>
              <a:miter lim="800000"/>
              <a:headEnd/>
              <a:tailEnd/>
            </a:ln>
          </p:spPr>
          <p:txBody>
            <a:bodyPr wrap="square" lIns="88900" tIns="88900" rIns="88900" bIns="88900" rtlCol="0" anchor="ctr"/>
            <a:lstStyle/>
            <a:p>
              <a:pPr marL="0" marR="0" lvl="0" indent="0"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latin typeface="Verdana"/>
              </a:endParaRPr>
            </a:p>
          </p:txBody>
        </p:sp>
        <p:sp>
          <p:nvSpPr>
            <p:cNvPr id="230" name="Oval 229">
              <a:extLst>
                <a:ext uri="{FF2B5EF4-FFF2-40B4-BE49-F238E27FC236}">
                  <a16:creationId xmlns:a16="http://schemas.microsoft.com/office/drawing/2014/main" id="{7A70D1D2-DF7C-4AA2-B60C-B17AE2C1A7A1}"/>
                </a:ext>
              </a:extLst>
            </p:cNvPr>
            <p:cNvSpPr/>
            <p:nvPr/>
          </p:nvSpPr>
          <p:spPr bwMode="gray">
            <a:xfrm>
              <a:off x="4264695" y="5592495"/>
              <a:ext cx="184815" cy="184815"/>
            </a:xfrm>
            <a:prstGeom prst="ellipse">
              <a:avLst/>
            </a:prstGeom>
            <a:solidFill>
              <a:srgbClr val="FFFFFF"/>
            </a:solidFill>
            <a:ln w="34925" algn="ctr">
              <a:solidFill>
                <a:srgbClr val="2C5234"/>
              </a:solidFill>
              <a:miter lim="800000"/>
              <a:headEnd/>
              <a:tailEnd/>
            </a:ln>
          </p:spPr>
          <p:txBody>
            <a:bodyPr wrap="square" lIns="88900" tIns="88900" rIns="88900" bIns="88900" rtlCol="0" anchor="ctr"/>
            <a:lstStyle/>
            <a:p>
              <a:pPr marL="0" marR="0" lvl="0" indent="0"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latin typeface="Verdana"/>
              </a:endParaRPr>
            </a:p>
          </p:txBody>
        </p:sp>
      </p:grpSp>
      <p:grpSp>
        <p:nvGrpSpPr>
          <p:cNvPr id="231" name="Group 230">
            <a:extLst>
              <a:ext uri="{FF2B5EF4-FFF2-40B4-BE49-F238E27FC236}">
                <a16:creationId xmlns:a16="http://schemas.microsoft.com/office/drawing/2014/main" id="{5C535698-7B39-4B2B-86BE-259D2E0F7BBF}"/>
              </a:ext>
            </a:extLst>
          </p:cNvPr>
          <p:cNvGrpSpPr/>
          <p:nvPr/>
        </p:nvGrpSpPr>
        <p:grpSpPr>
          <a:xfrm>
            <a:off x="3860463" y="4625088"/>
            <a:ext cx="530788" cy="530788"/>
            <a:chOff x="4198572" y="4459099"/>
            <a:chExt cx="919874" cy="919874"/>
          </a:xfrm>
        </p:grpSpPr>
        <p:sp>
          <p:nvSpPr>
            <p:cNvPr id="232" name="Oval 231">
              <a:extLst>
                <a:ext uri="{FF2B5EF4-FFF2-40B4-BE49-F238E27FC236}">
                  <a16:creationId xmlns:a16="http://schemas.microsoft.com/office/drawing/2014/main" id="{A7D590A9-3F45-4FC7-B4AE-DB3D2255BD05}"/>
                </a:ext>
              </a:extLst>
            </p:cNvPr>
            <p:cNvSpPr/>
            <p:nvPr/>
          </p:nvSpPr>
          <p:spPr bwMode="gray">
            <a:xfrm>
              <a:off x="4198572" y="4459099"/>
              <a:ext cx="919874" cy="919874"/>
            </a:xfrm>
            <a:prstGeom prst="ellipse">
              <a:avLst/>
            </a:prstGeom>
            <a:noFill/>
            <a:ln w="22225" algn="ctr">
              <a:solidFill>
                <a:srgbClr val="000000">
                  <a:lumMod val="50000"/>
                  <a:lumOff val="50000"/>
                </a:srgbClr>
              </a:solidFill>
              <a:prstDash val="sysDot"/>
              <a:miter lim="800000"/>
              <a:headEnd/>
              <a:tailEnd/>
            </a:ln>
          </p:spPr>
          <p:txBody>
            <a:bodyPr wrap="square" lIns="88900" tIns="88900" rIns="88900" bIns="88900" rtlCol="0" anchor="ctr"/>
            <a:lstStyle/>
            <a:p>
              <a:pPr marL="0" marR="0" lvl="0" indent="0"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latin typeface="Verdana"/>
              </a:endParaRPr>
            </a:p>
          </p:txBody>
        </p:sp>
        <p:sp>
          <p:nvSpPr>
            <p:cNvPr id="233" name="Freeform 627">
              <a:extLst>
                <a:ext uri="{FF2B5EF4-FFF2-40B4-BE49-F238E27FC236}">
                  <a16:creationId xmlns:a16="http://schemas.microsoft.com/office/drawing/2014/main" id="{E5A11AEF-D66E-4A06-9A8F-3911B534023F}"/>
                </a:ext>
              </a:extLst>
            </p:cNvPr>
            <p:cNvSpPr>
              <a:spLocks noChangeAspect="1" noEditPoints="1"/>
            </p:cNvSpPr>
            <p:nvPr/>
          </p:nvSpPr>
          <p:spPr bwMode="auto">
            <a:xfrm>
              <a:off x="4260744" y="4521271"/>
              <a:ext cx="795528" cy="795528"/>
            </a:xfrm>
            <a:custGeom>
              <a:avLst/>
              <a:gdLst>
                <a:gd name="T0" fmla="*/ 330 w 512"/>
                <a:gd name="T1" fmla="*/ 245 h 512"/>
                <a:gd name="T2" fmla="*/ 181 w 512"/>
                <a:gd name="T3" fmla="*/ 245 h 512"/>
                <a:gd name="T4" fmla="*/ 181 w 512"/>
                <a:gd name="T5" fmla="*/ 192 h 512"/>
                <a:gd name="T6" fmla="*/ 256 w 512"/>
                <a:gd name="T7" fmla="*/ 117 h 512"/>
                <a:gd name="T8" fmla="*/ 330 w 512"/>
                <a:gd name="T9" fmla="*/ 192 h 512"/>
                <a:gd name="T10" fmla="*/ 330 w 512"/>
                <a:gd name="T11" fmla="*/ 245 h 512"/>
                <a:gd name="T12" fmla="*/ 160 w 512"/>
                <a:gd name="T13" fmla="*/ 394 h 512"/>
                <a:gd name="T14" fmla="*/ 352 w 512"/>
                <a:gd name="T15" fmla="*/ 394 h 512"/>
                <a:gd name="T16" fmla="*/ 352 w 512"/>
                <a:gd name="T17" fmla="*/ 266 h 512"/>
                <a:gd name="T18" fmla="*/ 160 w 512"/>
                <a:gd name="T19" fmla="*/ 266 h 512"/>
                <a:gd name="T20" fmla="*/ 160 w 512"/>
                <a:gd name="T21" fmla="*/ 394 h 512"/>
                <a:gd name="T22" fmla="*/ 512 w 512"/>
                <a:gd name="T23" fmla="*/ 256 h 512"/>
                <a:gd name="T24" fmla="*/ 256 w 512"/>
                <a:gd name="T25" fmla="*/ 512 h 512"/>
                <a:gd name="T26" fmla="*/ 0 w 512"/>
                <a:gd name="T27" fmla="*/ 256 h 512"/>
                <a:gd name="T28" fmla="*/ 256 w 512"/>
                <a:gd name="T29" fmla="*/ 0 h 512"/>
                <a:gd name="T30" fmla="*/ 512 w 512"/>
                <a:gd name="T31" fmla="*/ 256 h 512"/>
                <a:gd name="T32" fmla="*/ 373 w 512"/>
                <a:gd name="T33" fmla="*/ 256 h 512"/>
                <a:gd name="T34" fmla="*/ 362 w 512"/>
                <a:gd name="T35" fmla="*/ 245 h 512"/>
                <a:gd name="T36" fmla="*/ 352 w 512"/>
                <a:gd name="T37" fmla="*/ 245 h 512"/>
                <a:gd name="T38" fmla="*/ 352 w 512"/>
                <a:gd name="T39" fmla="*/ 192 h 512"/>
                <a:gd name="T40" fmla="*/ 256 w 512"/>
                <a:gd name="T41" fmla="*/ 96 h 512"/>
                <a:gd name="T42" fmla="*/ 160 w 512"/>
                <a:gd name="T43" fmla="*/ 192 h 512"/>
                <a:gd name="T44" fmla="*/ 160 w 512"/>
                <a:gd name="T45" fmla="*/ 245 h 512"/>
                <a:gd name="T46" fmla="*/ 149 w 512"/>
                <a:gd name="T47" fmla="*/ 245 h 512"/>
                <a:gd name="T48" fmla="*/ 138 w 512"/>
                <a:gd name="T49" fmla="*/ 256 h 512"/>
                <a:gd name="T50" fmla="*/ 138 w 512"/>
                <a:gd name="T51" fmla="*/ 405 h 512"/>
                <a:gd name="T52" fmla="*/ 149 w 512"/>
                <a:gd name="T53" fmla="*/ 416 h 512"/>
                <a:gd name="T54" fmla="*/ 362 w 512"/>
                <a:gd name="T55" fmla="*/ 416 h 512"/>
                <a:gd name="T56" fmla="*/ 373 w 512"/>
                <a:gd name="T57" fmla="*/ 405 h 512"/>
                <a:gd name="T58" fmla="*/ 373 w 512"/>
                <a:gd name="T59" fmla="*/ 25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330" y="245"/>
                  </a:moveTo>
                  <a:cubicBezTo>
                    <a:pt x="181" y="245"/>
                    <a:pt x="181" y="245"/>
                    <a:pt x="181" y="245"/>
                  </a:cubicBezTo>
                  <a:cubicBezTo>
                    <a:pt x="181" y="192"/>
                    <a:pt x="181" y="192"/>
                    <a:pt x="181" y="192"/>
                  </a:cubicBezTo>
                  <a:cubicBezTo>
                    <a:pt x="181" y="150"/>
                    <a:pt x="214" y="117"/>
                    <a:pt x="256" y="117"/>
                  </a:cubicBezTo>
                  <a:cubicBezTo>
                    <a:pt x="297" y="117"/>
                    <a:pt x="330" y="150"/>
                    <a:pt x="330" y="192"/>
                  </a:cubicBezTo>
                  <a:lnTo>
                    <a:pt x="330" y="245"/>
                  </a:lnTo>
                  <a:close/>
                  <a:moveTo>
                    <a:pt x="160" y="394"/>
                  </a:moveTo>
                  <a:cubicBezTo>
                    <a:pt x="352" y="394"/>
                    <a:pt x="352" y="394"/>
                    <a:pt x="352" y="394"/>
                  </a:cubicBezTo>
                  <a:cubicBezTo>
                    <a:pt x="352" y="266"/>
                    <a:pt x="352" y="266"/>
                    <a:pt x="352" y="266"/>
                  </a:cubicBezTo>
                  <a:cubicBezTo>
                    <a:pt x="160" y="266"/>
                    <a:pt x="160" y="266"/>
                    <a:pt x="160" y="266"/>
                  </a:cubicBezTo>
                  <a:lnTo>
                    <a:pt x="160" y="394"/>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56"/>
                  </a:moveTo>
                  <a:cubicBezTo>
                    <a:pt x="373" y="250"/>
                    <a:pt x="368" y="245"/>
                    <a:pt x="362" y="245"/>
                  </a:cubicBezTo>
                  <a:cubicBezTo>
                    <a:pt x="352" y="245"/>
                    <a:pt x="352" y="245"/>
                    <a:pt x="352" y="245"/>
                  </a:cubicBezTo>
                  <a:cubicBezTo>
                    <a:pt x="352" y="192"/>
                    <a:pt x="352" y="192"/>
                    <a:pt x="352" y="192"/>
                  </a:cubicBezTo>
                  <a:cubicBezTo>
                    <a:pt x="352" y="139"/>
                    <a:pt x="309" y="96"/>
                    <a:pt x="256" y="96"/>
                  </a:cubicBezTo>
                  <a:cubicBezTo>
                    <a:pt x="203" y="96"/>
                    <a:pt x="160" y="139"/>
                    <a:pt x="160" y="192"/>
                  </a:cubicBezTo>
                  <a:cubicBezTo>
                    <a:pt x="160" y="245"/>
                    <a:pt x="160" y="245"/>
                    <a:pt x="160" y="245"/>
                  </a:cubicBezTo>
                  <a:cubicBezTo>
                    <a:pt x="149" y="245"/>
                    <a:pt x="149" y="245"/>
                    <a:pt x="149" y="245"/>
                  </a:cubicBezTo>
                  <a:cubicBezTo>
                    <a:pt x="143" y="245"/>
                    <a:pt x="138" y="250"/>
                    <a:pt x="138" y="256"/>
                  </a:cubicBezTo>
                  <a:cubicBezTo>
                    <a:pt x="138" y="405"/>
                    <a:pt x="138" y="405"/>
                    <a:pt x="138" y="405"/>
                  </a:cubicBezTo>
                  <a:cubicBezTo>
                    <a:pt x="138" y="411"/>
                    <a:pt x="143" y="416"/>
                    <a:pt x="149" y="416"/>
                  </a:cubicBezTo>
                  <a:cubicBezTo>
                    <a:pt x="362" y="416"/>
                    <a:pt x="362" y="416"/>
                    <a:pt x="362" y="416"/>
                  </a:cubicBezTo>
                  <a:cubicBezTo>
                    <a:pt x="368" y="416"/>
                    <a:pt x="373" y="411"/>
                    <a:pt x="373" y="405"/>
                  </a:cubicBezTo>
                  <a:lnTo>
                    <a:pt x="373" y="256"/>
                  </a:lnTo>
                  <a:close/>
                </a:path>
              </a:pathLst>
            </a:custGeom>
            <a:solidFill>
              <a:srgbClr val="2C5234"/>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Verdana"/>
              </a:endParaRPr>
            </a:p>
          </p:txBody>
        </p:sp>
      </p:grpSp>
      <p:sp>
        <p:nvSpPr>
          <p:cNvPr id="234" name="Rectangle 233">
            <a:extLst>
              <a:ext uri="{FF2B5EF4-FFF2-40B4-BE49-F238E27FC236}">
                <a16:creationId xmlns:a16="http://schemas.microsoft.com/office/drawing/2014/main" id="{399E5D4A-EE9E-446C-AC33-6625C60EFFDC}"/>
              </a:ext>
            </a:extLst>
          </p:cNvPr>
          <p:cNvSpPr/>
          <p:nvPr/>
        </p:nvSpPr>
        <p:spPr>
          <a:xfrm>
            <a:off x="4362615" y="4588251"/>
            <a:ext cx="2418983" cy="738664"/>
          </a:xfrm>
          <a:prstGeom prst="rect">
            <a:avLst/>
          </a:prstGeom>
        </p:spPr>
        <p:txBody>
          <a:bodyPr wrap="square">
            <a:spAutoFit/>
          </a:bodyPr>
          <a:lstStyle/>
          <a:p>
            <a:pPr>
              <a:defRPr/>
            </a:pPr>
            <a:r>
              <a:rPr lang="en-US" sz="1400" b="1" dirty="0">
                <a:solidFill>
                  <a:srgbClr val="2C5234"/>
                </a:solidFill>
                <a:latin typeface="+mj-lt"/>
              </a:rPr>
              <a:t>MIS &amp; Analytics (Inputs for MIS framework and web portal)</a:t>
            </a:r>
            <a:endParaRPr lang="en-US" sz="1400" b="1" dirty="0">
              <a:solidFill>
                <a:srgbClr val="000000"/>
              </a:solidFill>
              <a:latin typeface="+mj-lt"/>
            </a:endParaRPr>
          </a:p>
        </p:txBody>
      </p:sp>
      <p:sp>
        <p:nvSpPr>
          <p:cNvPr id="255" name="Flowchart: Process 254">
            <a:extLst>
              <a:ext uri="{FF2B5EF4-FFF2-40B4-BE49-F238E27FC236}">
                <a16:creationId xmlns:a16="http://schemas.microsoft.com/office/drawing/2014/main" id="{493A66BB-31B1-44D5-9C00-16F55B594EC7}"/>
              </a:ext>
            </a:extLst>
          </p:cNvPr>
          <p:cNvSpPr/>
          <p:nvPr/>
        </p:nvSpPr>
        <p:spPr bwMode="gray">
          <a:xfrm>
            <a:off x="1310105" y="1213538"/>
            <a:ext cx="340533" cy="4382350"/>
          </a:xfrm>
          <a:prstGeom prst="flowChartProcess">
            <a:avLst/>
          </a:prstGeom>
          <a:solidFill>
            <a:schemeClr val="bg1"/>
          </a:solidFill>
          <a:ln w="19050" algn="ctr">
            <a:solidFill>
              <a:schemeClr val="bg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Light"/>
              <a:ea typeface="+mn-ea"/>
              <a:cs typeface="+mn-cs"/>
            </a:endParaRPr>
          </a:p>
        </p:txBody>
      </p:sp>
      <p:sp>
        <p:nvSpPr>
          <p:cNvPr id="210" name="Rectangle 209">
            <a:extLst>
              <a:ext uri="{FF2B5EF4-FFF2-40B4-BE49-F238E27FC236}">
                <a16:creationId xmlns:a16="http://schemas.microsoft.com/office/drawing/2014/main" id="{06881899-B98A-441D-A9F6-DCC4FFB8576D}"/>
              </a:ext>
            </a:extLst>
          </p:cNvPr>
          <p:cNvSpPr/>
          <p:nvPr/>
        </p:nvSpPr>
        <p:spPr>
          <a:xfrm>
            <a:off x="1250314" y="2421757"/>
            <a:ext cx="1580901" cy="756000"/>
          </a:xfrm>
          <a:prstGeom prst="rect">
            <a:avLst/>
          </a:prstGeom>
        </p:spPr>
        <p:style>
          <a:lnRef idx="2">
            <a:schemeClr val="accent5"/>
          </a:lnRef>
          <a:fillRef idx="1">
            <a:schemeClr val="lt1"/>
          </a:fillRef>
          <a:effectRef idx="0">
            <a:schemeClr val="accent5"/>
          </a:effectRef>
          <a:fontRef idx="minor">
            <a:schemeClr val="dk1"/>
          </a:fontRef>
        </p:style>
        <p:txBody>
          <a:bodyPr wrap="square" anchor="ctr">
            <a:spAutoFit/>
          </a:bodyPr>
          <a:lstStyle/>
          <a:p>
            <a:pPr algn="ctr">
              <a:defRPr/>
            </a:pPr>
            <a:r>
              <a:rPr lang="en-US" sz="2400" b="1" dirty="0">
                <a:solidFill>
                  <a:srgbClr val="000000"/>
                </a:solidFill>
              </a:rPr>
              <a:t>Central PMU Cell</a:t>
            </a:r>
          </a:p>
        </p:txBody>
      </p:sp>
      <p:pic>
        <p:nvPicPr>
          <p:cNvPr id="236" name="Picture 5">
            <a:extLst>
              <a:ext uri="{FF2B5EF4-FFF2-40B4-BE49-F238E27FC236}">
                <a16:creationId xmlns:a16="http://schemas.microsoft.com/office/drawing/2014/main" id="{C659A68C-6B9A-437F-B5CA-5072CFFBCA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3186" y="4368928"/>
            <a:ext cx="1417054" cy="305754"/>
          </a:xfrm>
          <a:prstGeom prst="rect">
            <a:avLst/>
          </a:prstGeom>
          <a:noFill/>
          <a:extLst>
            <a:ext uri="{909E8E84-426E-40DD-AFC4-6F175D3DCCD1}">
              <a14:hiddenFill xmlns:a14="http://schemas.microsoft.com/office/drawing/2010/main">
                <a:solidFill>
                  <a:srgbClr val="FFFFFF"/>
                </a:solidFill>
              </a14:hiddenFill>
            </a:ext>
          </a:extLst>
        </p:spPr>
      </p:pic>
      <p:pic>
        <p:nvPicPr>
          <p:cNvPr id="237" name="Picture 8" descr="REC Limited - Wikipedia">
            <a:extLst>
              <a:ext uri="{FF2B5EF4-FFF2-40B4-BE49-F238E27FC236}">
                <a16:creationId xmlns:a16="http://schemas.microsoft.com/office/drawing/2014/main" id="{D5A8640B-F97F-420B-AD16-EE2E2ABE10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563" y="3478971"/>
            <a:ext cx="1163769" cy="655590"/>
          </a:xfrm>
          <a:prstGeom prst="rect">
            <a:avLst/>
          </a:prstGeom>
          <a:noFill/>
          <a:extLst>
            <a:ext uri="{909E8E84-426E-40DD-AFC4-6F175D3DCCD1}">
              <a14:hiddenFill xmlns:a14="http://schemas.microsoft.com/office/drawing/2010/main">
                <a:solidFill>
                  <a:srgbClr val="FFFFFF"/>
                </a:solidFill>
              </a14:hiddenFill>
            </a:ext>
          </a:extLst>
        </p:spPr>
      </p:pic>
      <p:grpSp>
        <p:nvGrpSpPr>
          <p:cNvPr id="257" name="Group 256">
            <a:extLst>
              <a:ext uri="{FF2B5EF4-FFF2-40B4-BE49-F238E27FC236}">
                <a16:creationId xmlns:a16="http://schemas.microsoft.com/office/drawing/2014/main" id="{745B55E0-AD66-45F7-B6FF-1187E61C3598}"/>
              </a:ext>
            </a:extLst>
          </p:cNvPr>
          <p:cNvGrpSpPr/>
          <p:nvPr/>
        </p:nvGrpSpPr>
        <p:grpSpPr>
          <a:xfrm>
            <a:off x="3840607" y="3705398"/>
            <a:ext cx="529517" cy="529517"/>
            <a:chOff x="5548829" y="3384543"/>
            <a:chExt cx="919874" cy="919874"/>
          </a:xfrm>
        </p:grpSpPr>
        <p:sp>
          <p:nvSpPr>
            <p:cNvPr id="258" name="Oval 257">
              <a:extLst>
                <a:ext uri="{FF2B5EF4-FFF2-40B4-BE49-F238E27FC236}">
                  <a16:creationId xmlns:a16="http://schemas.microsoft.com/office/drawing/2014/main" id="{B73D64B2-3C13-408B-9A07-A3F48D64ADF5}"/>
                </a:ext>
              </a:extLst>
            </p:cNvPr>
            <p:cNvSpPr/>
            <p:nvPr/>
          </p:nvSpPr>
          <p:spPr bwMode="gray">
            <a:xfrm>
              <a:off x="5548829" y="3384543"/>
              <a:ext cx="919874" cy="919874"/>
            </a:xfrm>
            <a:prstGeom prst="ellipse">
              <a:avLst/>
            </a:prstGeom>
            <a:noFill/>
            <a:ln w="22225" algn="ctr">
              <a:solidFill>
                <a:srgbClr val="000000">
                  <a:lumMod val="50000"/>
                  <a:lumOff val="50000"/>
                </a:srgbClr>
              </a:solidFill>
              <a:prstDash val="sysDot"/>
              <a:miter lim="800000"/>
              <a:headEnd/>
              <a:tailEnd/>
            </a:ln>
          </p:spPr>
          <p:txBody>
            <a:bodyPr wrap="square" lIns="88900" tIns="88900" rIns="88900" bIns="88900" rtlCol="0" anchor="ctr"/>
            <a:lstStyle/>
            <a:p>
              <a:pPr marL="0" marR="0" lvl="0" indent="0"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latin typeface="Verdana"/>
              </a:endParaRPr>
            </a:p>
          </p:txBody>
        </p:sp>
        <p:sp>
          <p:nvSpPr>
            <p:cNvPr id="259" name="Freeform 375">
              <a:extLst>
                <a:ext uri="{FF2B5EF4-FFF2-40B4-BE49-F238E27FC236}">
                  <a16:creationId xmlns:a16="http://schemas.microsoft.com/office/drawing/2014/main" id="{DDD77E56-F5E4-4BB3-86C1-3469246B039D}"/>
                </a:ext>
              </a:extLst>
            </p:cNvPr>
            <p:cNvSpPr>
              <a:spLocks noChangeAspect="1" noEditPoints="1"/>
            </p:cNvSpPr>
            <p:nvPr/>
          </p:nvSpPr>
          <p:spPr bwMode="auto">
            <a:xfrm>
              <a:off x="5611002" y="3446716"/>
              <a:ext cx="795528" cy="795528"/>
            </a:xfrm>
            <a:custGeom>
              <a:avLst/>
              <a:gdLst>
                <a:gd name="T0" fmla="*/ 297 w 512"/>
                <a:gd name="T1" fmla="*/ 213 h 512"/>
                <a:gd name="T2" fmla="*/ 382 w 512"/>
                <a:gd name="T3" fmla="*/ 221 h 512"/>
                <a:gd name="T4" fmla="*/ 323 w 512"/>
                <a:gd name="T5" fmla="*/ 280 h 512"/>
                <a:gd name="T6" fmla="*/ 320 w 512"/>
                <a:gd name="T7" fmla="*/ 290 h 512"/>
                <a:gd name="T8" fmla="*/ 337 w 512"/>
                <a:gd name="T9" fmla="*/ 374 h 512"/>
                <a:gd name="T10" fmla="*/ 261 w 512"/>
                <a:gd name="T11" fmla="*/ 332 h 512"/>
                <a:gd name="T12" fmla="*/ 256 w 512"/>
                <a:gd name="T13" fmla="*/ 330 h 512"/>
                <a:gd name="T14" fmla="*/ 250 w 512"/>
                <a:gd name="T15" fmla="*/ 332 h 512"/>
                <a:gd name="T16" fmla="*/ 175 w 512"/>
                <a:gd name="T17" fmla="*/ 374 h 512"/>
                <a:gd name="T18" fmla="*/ 191 w 512"/>
                <a:gd name="T19" fmla="*/ 290 h 512"/>
                <a:gd name="T20" fmla="*/ 189 w 512"/>
                <a:gd name="T21" fmla="*/ 280 h 512"/>
                <a:gd name="T22" fmla="*/ 130 w 512"/>
                <a:gd name="T23" fmla="*/ 221 h 512"/>
                <a:gd name="T24" fmla="*/ 214 w 512"/>
                <a:gd name="T25" fmla="*/ 213 h 512"/>
                <a:gd name="T26" fmla="*/ 223 w 512"/>
                <a:gd name="T27" fmla="*/ 207 h 512"/>
                <a:gd name="T28" fmla="*/ 256 w 512"/>
                <a:gd name="T29" fmla="*/ 133 h 512"/>
                <a:gd name="T30" fmla="*/ 289 w 512"/>
                <a:gd name="T31" fmla="*/ 207 h 512"/>
                <a:gd name="T32" fmla="*/ 297 w 512"/>
                <a:gd name="T33" fmla="*/ 213 h 512"/>
                <a:gd name="T34" fmla="*/ 512 w 512"/>
                <a:gd name="T35" fmla="*/ 256 h 512"/>
                <a:gd name="T36" fmla="*/ 256 w 512"/>
                <a:gd name="T37" fmla="*/ 512 h 512"/>
                <a:gd name="T38" fmla="*/ 0 w 512"/>
                <a:gd name="T39" fmla="*/ 256 h 512"/>
                <a:gd name="T40" fmla="*/ 256 w 512"/>
                <a:gd name="T41" fmla="*/ 0 h 512"/>
                <a:gd name="T42" fmla="*/ 512 w 512"/>
                <a:gd name="T43" fmla="*/ 256 h 512"/>
                <a:gd name="T44" fmla="*/ 415 w 512"/>
                <a:gd name="T45" fmla="*/ 209 h 512"/>
                <a:gd name="T46" fmla="*/ 406 w 512"/>
                <a:gd name="T47" fmla="*/ 202 h 512"/>
                <a:gd name="T48" fmla="*/ 306 w 512"/>
                <a:gd name="T49" fmla="*/ 192 h 512"/>
                <a:gd name="T50" fmla="*/ 265 w 512"/>
                <a:gd name="T51" fmla="*/ 102 h 512"/>
                <a:gd name="T52" fmla="*/ 256 w 512"/>
                <a:gd name="T53" fmla="*/ 96 h 512"/>
                <a:gd name="T54" fmla="*/ 246 w 512"/>
                <a:gd name="T55" fmla="*/ 102 h 512"/>
                <a:gd name="T56" fmla="*/ 206 w 512"/>
                <a:gd name="T57" fmla="*/ 192 h 512"/>
                <a:gd name="T58" fmla="*/ 105 w 512"/>
                <a:gd name="T59" fmla="*/ 202 h 512"/>
                <a:gd name="T60" fmla="*/ 96 w 512"/>
                <a:gd name="T61" fmla="*/ 209 h 512"/>
                <a:gd name="T62" fmla="*/ 99 w 512"/>
                <a:gd name="T63" fmla="*/ 221 h 512"/>
                <a:gd name="T64" fmla="*/ 169 w 512"/>
                <a:gd name="T65" fmla="*/ 291 h 512"/>
                <a:gd name="T66" fmla="*/ 149 w 512"/>
                <a:gd name="T67" fmla="*/ 392 h 512"/>
                <a:gd name="T68" fmla="*/ 153 w 512"/>
                <a:gd name="T69" fmla="*/ 403 h 512"/>
                <a:gd name="T70" fmla="*/ 165 w 512"/>
                <a:gd name="T71" fmla="*/ 404 h 512"/>
                <a:gd name="T72" fmla="*/ 256 w 512"/>
                <a:gd name="T73" fmla="*/ 353 h 512"/>
                <a:gd name="T74" fmla="*/ 346 w 512"/>
                <a:gd name="T75" fmla="*/ 404 h 512"/>
                <a:gd name="T76" fmla="*/ 352 w 512"/>
                <a:gd name="T77" fmla="*/ 405 h 512"/>
                <a:gd name="T78" fmla="*/ 358 w 512"/>
                <a:gd name="T79" fmla="*/ 403 h 512"/>
                <a:gd name="T80" fmla="*/ 362 w 512"/>
                <a:gd name="T81" fmla="*/ 392 h 512"/>
                <a:gd name="T82" fmla="*/ 342 w 512"/>
                <a:gd name="T83" fmla="*/ 291 h 512"/>
                <a:gd name="T84" fmla="*/ 413 w 512"/>
                <a:gd name="T85" fmla="*/ 221 h 512"/>
                <a:gd name="T86" fmla="*/ 415 w 512"/>
                <a:gd name="T87" fmla="*/ 2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97" y="213"/>
                  </a:moveTo>
                  <a:cubicBezTo>
                    <a:pt x="382" y="221"/>
                    <a:pt x="382" y="221"/>
                    <a:pt x="382" y="221"/>
                  </a:cubicBezTo>
                  <a:cubicBezTo>
                    <a:pt x="323" y="280"/>
                    <a:pt x="323" y="280"/>
                    <a:pt x="323" y="280"/>
                  </a:cubicBezTo>
                  <a:cubicBezTo>
                    <a:pt x="320" y="283"/>
                    <a:pt x="319" y="286"/>
                    <a:pt x="320" y="290"/>
                  </a:cubicBezTo>
                  <a:cubicBezTo>
                    <a:pt x="337" y="374"/>
                    <a:pt x="337" y="374"/>
                    <a:pt x="337" y="374"/>
                  </a:cubicBezTo>
                  <a:cubicBezTo>
                    <a:pt x="261" y="332"/>
                    <a:pt x="261" y="332"/>
                    <a:pt x="261" y="332"/>
                  </a:cubicBezTo>
                  <a:cubicBezTo>
                    <a:pt x="259" y="331"/>
                    <a:pt x="257" y="330"/>
                    <a:pt x="256" y="330"/>
                  </a:cubicBezTo>
                  <a:cubicBezTo>
                    <a:pt x="254" y="330"/>
                    <a:pt x="252" y="331"/>
                    <a:pt x="250" y="332"/>
                  </a:cubicBezTo>
                  <a:cubicBezTo>
                    <a:pt x="175" y="374"/>
                    <a:pt x="175" y="374"/>
                    <a:pt x="175" y="374"/>
                  </a:cubicBezTo>
                  <a:cubicBezTo>
                    <a:pt x="191" y="290"/>
                    <a:pt x="191" y="290"/>
                    <a:pt x="191" y="290"/>
                  </a:cubicBezTo>
                  <a:cubicBezTo>
                    <a:pt x="192" y="286"/>
                    <a:pt x="191" y="283"/>
                    <a:pt x="189" y="280"/>
                  </a:cubicBezTo>
                  <a:cubicBezTo>
                    <a:pt x="130" y="221"/>
                    <a:pt x="130" y="221"/>
                    <a:pt x="130" y="221"/>
                  </a:cubicBezTo>
                  <a:cubicBezTo>
                    <a:pt x="214" y="213"/>
                    <a:pt x="214" y="213"/>
                    <a:pt x="214" y="213"/>
                  </a:cubicBezTo>
                  <a:cubicBezTo>
                    <a:pt x="218" y="213"/>
                    <a:pt x="221" y="210"/>
                    <a:pt x="223" y="207"/>
                  </a:cubicBezTo>
                  <a:cubicBezTo>
                    <a:pt x="256" y="133"/>
                    <a:pt x="256" y="133"/>
                    <a:pt x="256" y="133"/>
                  </a:cubicBezTo>
                  <a:cubicBezTo>
                    <a:pt x="289" y="207"/>
                    <a:pt x="289" y="207"/>
                    <a:pt x="289" y="207"/>
                  </a:cubicBezTo>
                  <a:cubicBezTo>
                    <a:pt x="290" y="210"/>
                    <a:pt x="293" y="213"/>
                    <a:pt x="297"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5" y="209"/>
                  </a:moveTo>
                  <a:cubicBezTo>
                    <a:pt x="414" y="206"/>
                    <a:pt x="410" y="203"/>
                    <a:pt x="406" y="202"/>
                  </a:cubicBezTo>
                  <a:cubicBezTo>
                    <a:pt x="306" y="192"/>
                    <a:pt x="306" y="192"/>
                    <a:pt x="306" y="192"/>
                  </a:cubicBezTo>
                  <a:cubicBezTo>
                    <a:pt x="265" y="102"/>
                    <a:pt x="265" y="102"/>
                    <a:pt x="265" y="102"/>
                  </a:cubicBezTo>
                  <a:cubicBezTo>
                    <a:pt x="264" y="98"/>
                    <a:pt x="260" y="96"/>
                    <a:pt x="256" y="96"/>
                  </a:cubicBezTo>
                  <a:cubicBezTo>
                    <a:pt x="251" y="96"/>
                    <a:pt x="248" y="98"/>
                    <a:pt x="246" y="102"/>
                  </a:cubicBezTo>
                  <a:cubicBezTo>
                    <a:pt x="206" y="192"/>
                    <a:pt x="206" y="192"/>
                    <a:pt x="206" y="192"/>
                  </a:cubicBezTo>
                  <a:cubicBezTo>
                    <a:pt x="105" y="202"/>
                    <a:pt x="105" y="202"/>
                    <a:pt x="105" y="202"/>
                  </a:cubicBezTo>
                  <a:cubicBezTo>
                    <a:pt x="101" y="203"/>
                    <a:pt x="98" y="206"/>
                    <a:pt x="96" y="209"/>
                  </a:cubicBezTo>
                  <a:cubicBezTo>
                    <a:pt x="95" y="213"/>
                    <a:pt x="96" y="218"/>
                    <a:pt x="99" y="221"/>
                  </a:cubicBezTo>
                  <a:cubicBezTo>
                    <a:pt x="169" y="291"/>
                    <a:pt x="169" y="291"/>
                    <a:pt x="169" y="291"/>
                  </a:cubicBezTo>
                  <a:cubicBezTo>
                    <a:pt x="149" y="392"/>
                    <a:pt x="149" y="392"/>
                    <a:pt x="149" y="392"/>
                  </a:cubicBezTo>
                  <a:cubicBezTo>
                    <a:pt x="148" y="396"/>
                    <a:pt x="150" y="401"/>
                    <a:pt x="153" y="403"/>
                  </a:cubicBezTo>
                  <a:cubicBezTo>
                    <a:pt x="157" y="405"/>
                    <a:pt x="161" y="406"/>
                    <a:pt x="165" y="404"/>
                  </a:cubicBezTo>
                  <a:cubicBezTo>
                    <a:pt x="256" y="353"/>
                    <a:pt x="256" y="353"/>
                    <a:pt x="256" y="353"/>
                  </a:cubicBezTo>
                  <a:cubicBezTo>
                    <a:pt x="346" y="404"/>
                    <a:pt x="346" y="404"/>
                    <a:pt x="346" y="404"/>
                  </a:cubicBezTo>
                  <a:cubicBezTo>
                    <a:pt x="348" y="405"/>
                    <a:pt x="350" y="405"/>
                    <a:pt x="352" y="405"/>
                  </a:cubicBezTo>
                  <a:cubicBezTo>
                    <a:pt x="354" y="405"/>
                    <a:pt x="356" y="404"/>
                    <a:pt x="358" y="403"/>
                  </a:cubicBezTo>
                  <a:cubicBezTo>
                    <a:pt x="361" y="401"/>
                    <a:pt x="363" y="396"/>
                    <a:pt x="362" y="392"/>
                  </a:cubicBezTo>
                  <a:cubicBezTo>
                    <a:pt x="342" y="291"/>
                    <a:pt x="342" y="291"/>
                    <a:pt x="342" y="291"/>
                  </a:cubicBezTo>
                  <a:cubicBezTo>
                    <a:pt x="413" y="221"/>
                    <a:pt x="413" y="221"/>
                    <a:pt x="413" y="221"/>
                  </a:cubicBezTo>
                  <a:cubicBezTo>
                    <a:pt x="415" y="218"/>
                    <a:pt x="416" y="213"/>
                    <a:pt x="415" y="209"/>
                  </a:cubicBezTo>
                  <a:close/>
                </a:path>
              </a:pathLst>
            </a:custGeom>
            <a:solidFill>
              <a:srgbClr val="041E42"/>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Verdana"/>
              </a:endParaRPr>
            </a:p>
          </p:txBody>
        </p:sp>
      </p:grpSp>
      <p:sp>
        <p:nvSpPr>
          <p:cNvPr id="264" name="Rectangle 263">
            <a:extLst>
              <a:ext uri="{FF2B5EF4-FFF2-40B4-BE49-F238E27FC236}">
                <a16:creationId xmlns:a16="http://schemas.microsoft.com/office/drawing/2014/main" id="{B268749E-4B92-44D0-85EC-B318AC8A2902}"/>
              </a:ext>
            </a:extLst>
          </p:cNvPr>
          <p:cNvSpPr/>
          <p:nvPr/>
        </p:nvSpPr>
        <p:spPr bwMode="gray">
          <a:xfrm>
            <a:off x="344001" y="1411347"/>
            <a:ext cx="6431028" cy="4157935"/>
          </a:xfrm>
          <a:prstGeom prst="rect">
            <a:avLst/>
          </a:prstGeom>
          <a:noFill/>
          <a:ln w="6350" algn="ctr">
            <a:solidFill>
              <a:srgbClr val="62B5E5"/>
            </a:solid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err="1">
              <a:ln>
                <a:noFill/>
              </a:ln>
              <a:solidFill>
                <a:srgbClr val="FFFFFF"/>
              </a:solidFill>
              <a:effectLst/>
              <a:uLnTx/>
              <a:uFillTx/>
              <a:latin typeface="Verdana"/>
            </a:endParaRPr>
          </a:p>
        </p:txBody>
      </p:sp>
      <p:cxnSp>
        <p:nvCxnSpPr>
          <p:cNvPr id="43" name="Straight Arrow Connector 42">
            <a:extLst>
              <a:ext uri="{FF2B5EF4-FFF2-40B4-BE49-F238E27FC236}">
                <a16:creationId xmlns:a16="http://schemas.microsoft.com/office/drawing/2014/main" id="{A1DCFF33-0921-4184-B942-74318CB41E2D}"/>
              </a:ext>
            </a:extLst>
          </p:cNvPr>
          <p:cNvCxnSpPr>
            <a:cxnSpLocks/>
          </p:cNvCxnSpPr>
          <p:nvPr/>
        </p:nvCxnSpPr>
        <p:spPr>
          <a:xfrm>
            <a:off x="8281220" y="2915417"/>
            <a:ext cx="0" cy="2035133"/>
          </a:xfrm>
          <a:prstGeom prst="straightConnector1">
            <a:avLst/>
          </a:prstGeom>
          <a:noFill/>
          <a:ln w="19050" cap="flat" cmpd="sng" algn="ctr">
            <a:solidFill>
              <a:srgbClr val="62B5E5"/>
            </a:solidFill>
            <a:prstDash val="solid"/>
            <a:tailEnd type="triangle"/>
          </a:ln>
          <a:effectLst/>
        </p:spPr>
      </p:cxnSp>
      <p:cxnSp>
        <p:nvCxnSpPr>
          <p:cNvPr id="44" name="Straight Arrow Connector 43">
            <a:extLst>
              <a:ext uri="{FF2B5EF4-FFF2-40B4-BE49-F238E27FC236}">
                <a16:creationId xmlns:a16="http://schemas.microsoft.com/office/drawing/2014/main" id="{4B80FF2D-864C-4E63-80E1-75574BAE196C}"/>
              </a:ext>
            </a:extLst>
          </p:cNvPr>
          <p:cNvCxnSpPr>
            <a:cxnSpLocks/>
          </p:cNvCxnSpPr>
          <p:nvPr/>
        </p:nvCxnSpPr>
        <p:spPr>
          <a:xfrm>
            <a:off x="11007989" y="2915417"/>
            <a:ext cx="13450" cy="2035133"/>
          </a:xfrm>
          <a:prstGeom prst="straightConnector1">
            <a:avLst/>
          </a:prstGeom>
          <a:noFill/>
          <a:ln w="19050" cap="flat" cmpd="sng" algn="ctr">
            <a:solidFill>
              <a:srgbClr val="62B5E5"/>
            </a:solidFill>
            <a:prstDash val="solid"/>
            <a:tailEnd type="triangle"/>
          </a:ln>
          <a:effectLst/>
        </p:spPr>
      </p:cxnSp>
      <p:sp>
        <p:nvSpPr>
          <p:cNvPr id="45" name="TextBox 44">
            <a:extLst>
              <a:ext uri="{FF2B5EF4-FFF2-40B4-BE49-F238E27FC236}">
                <a16:creationId xmlns:a16="http://schemas.microsoft.com/office/drawing/2014/main" id="{41637A47-8770-4C25-A05C-4D061FB973E9}"/>
              </a:ext>
            </a:extLst>
          </p:cNvPr>
          <p:cNvSpPr txBox="1"/>
          <p:nvPr/>
        </p:nvSpPr>
        <p:spPr>
          <a:xfrm>
            <a:off x="7062209" y="1411347"/>
            <a:ext cx="4919093" cy="292326"/>
          </a:xfrm>
          <a:prstGeom prst="rect">
            <a:avLst/>
          </a:prstGeom>
          <a:solidFill>
            <a:srgbClr val="012169"/>
          </a:solidFill>
        </p:spPr>
        <p:txBody>
          <a:bodyPr wrap="square" lIns="91440" tIns="0" rIns="0" bIns="0" rtlCol="0">
            <a:noAutofit/>
          </a:bodyPr>
          <a:lstStyle/>
          <a:p>
            <a:pPr algn="ctr">
              <a:spcBef>
                <a:spcPts val="600"/>
              </a:spcBef>
              <a:buSzPct val="100000"/>
            </a:pPr>
            <a:r>
              <a:rPr lang="en-US" b="1" dirty="0">
                <a:solidFill>
                  <a:schemeClr val="bg1"/>
                </a:solidFill>
              </a:rPr>
              <a:t>CPMU Project Governance Structure</a:t>
            </a:r>
          </a:p>
        </p:txBody>
      </p:sp>
      <p:sp>
        <p:nvSpPr>
          <p:cNvPr id="46" name="Rectangle 45">
            <a:extLst>
              <a:ext uri="{FF2B5EF4-FFF2-40B4-BE49-F238E27FC236}">
                <a16:creationId xmlns:a16="http://schemas.microsoft.com/office/drawing/2014/main" id="{09F970E3-A465-40CA-A5A0-35B2FC848936}"/>
              </a:ext>
            </a:extLst>
          </p:cNvPr>
          <p:cNvSpPr/>
          <p:nvPr/>
        </p:nvSpPr>
        <p:spPr bwMode="gray">
          <a:xfrm>
            <a:off x="7504877" y="1765450"/>
            <a:ext cx="3975154" cy="1192606"/>
          </a:xfrm>
          <a:prstGeom prst="rect">
            <a:avLst/>
          </a:prstGeom>
          <a:solidFill>
            <a:srgbClr val="62B5E5">
              <a:lumMod val="20000"/>
              <a:lumOff val="80000"/>
            </a:srgbClr>
          </a:solidFill>
          <a:ln w="19050" algn="ctr">
            <a:no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US" b="1" i="0" u="none" strike="noStrike" kern="0" cap="none" spc="0" normalizeH="0" baseline="0" noProof="0" dirty="0" err="1">
              <a:ln>
                <a:noFill/>
              </a:ln>
              <a:solidFill>
                <a:srgbClr val="FFFFFF"/>
              </a:solidFill>
              <a:effectLst/>
              <a:uLnTx/>
              <a:uFillTx/>
            </a:endParaRPr>
          </a:p>
        </p:txBody>
      </p:sp>
      <p:grpSp>
        <p:nvGrpSpPr>
          <p:cNvPr id="47" name="Group 46">
            <a:extLst>
              <a:ext uri="{FF2B5EF4-FFF2-40B4-BE49-F238E27FC236}">
                <a16:creationId xmlns:a16="http://schemas.microsoft.com/office/drawing/2014/main" id="{EC8D9BF9-6CEC-456B-8377-81537F05C57F}"/>
              </a:ext>
            </a:extLst>
          </p:cNvPr>
          <p:cNvGrpSpPr/>
          <p:nvPr/>
        </p:nvGrpSpPr>
        <p:grpSpPr>
          <a:xfrm>
            <a:off x="8260200" y="2084933"/>
            <a:ext cx="620659" cy="523700"/>
            <a:chOff x="2925363" y="2996024"/>
            <a:chExt cx="620659" cy="523700"/>
          </a:xfrm>
          <a:solidFill>
            <a:srgbClr val="012169">
              <a:lumMod val="75000"/>
            </a:srgbClr>
          </a:solidFill>
        </p:grpSpPr>
        <p:sp>
          <p:nvSpPr>
            <p:cNvPr id="48" name="Freeform 93">
              <a:extLst>
                <a:ext uri="{FF2B5EF4-FFF2-40B4-BE49-F238E27FC236}">
                  <a16:creationId xmlns:a16="http://schemas.microsoft.com/office/drawing/2014/main" id="{A0B529C6-5EEC-417D-AA3D-BEFF7626BC7C}"/>
                </a:ext>
              </a:extLst>
            </p:cNvPr>
            <p:cNvSpPr>
              <a:spLocks/>
            </p:cNvSpPr>
            <p:nvPr/>
          </p:nvSpPr>
          <p:spPr bwMode="auto">
            <a:xfrm>
              <a:off x="3096735" y="3395705"/>
              <a:ext cx="277916" cy="94142"/>
            </a:xfrm>
            <a:custGeom>
              <a:avLst/>
              <a:gdLst>
                <a:gd name="T0" fmla="*/ 362 w 493"/>
                <a:gd name="T1" fmla="*/ 0 h 167"/>
                <a:gd name="T2" fmla="*/ 362 w 493"/>
                <a:gd name="T3" fmla="*/ 15 h 167"/>
                <a:gd name="T4" fmla="*/ 362 w 493"/>
                <a:gd name="T5" fmla="*/ 15 h 167"/>
                <a:gd name="T6" fmla="*/ 393 w 493"/>
                <a:gd name="T7" fmla="*/ 20 h 167"/>
                <a:gd name="T8" fmla="*/ 419 w 493"/>
                <a:gd name="T9" fmla="*/ 31 h 167"/>
                <a:gd name="T10" fmla="*/ 440 w 493"/>
                <a:gd name="T11" fmla="*/ 47 h 167"/>
                <a:gd name="T12" fmla="*/ 446 w 493"/>
                <a:gd name="T13" fmla="*/ 57 h 167"/>
                <a:gd name="T14" fmla="*/ 446 w 493"/>
                <a:gd name="T15" fmla="*/ 57 h 167"/>
                <a:gd name="T16" fmla="*/ 440 w 493"/>
                <a:gd name="T17" fmla="*/ 68 h 167"/>
                <a:gd name="T18" fmla="*/ 430 w 493"/>
                <a:gd name="T19" fmla="*/ 78 h 167"/>
                <a:gd name="T20" fmla="*/ 409 w 493"/>
                <a:gd name="T21" fmla="*/ 89 h 167"/>
                <a:gd name="T22" fmla="*/ 388 w 493"/>
                <a:gd name="T23" fmla="*/ 99 h 167"/>
                <a:gd name="T24" fmla="*/ 325 w 493"/>
                <a:gd name="T25" fmla="*/ 110 h 167"/>
                <a:gd name="T26" fmla="*/ 246 w 493"/>
                <a:gd name="T27" fmla="*/ 115 h 167"/>
                <a:gd name="T28" fmla="*/ 246 w 493"/>
                <a:gd name="T29" fmla="*/ 115 h 167"/>
                <a:gd name="T30" fmla="*/ 168 w 493"/>
                <a:gd name="T31" fmla="*/ 110 h 167"/>
                <a:gd name="T32" fmla="*/ 105 w 493"/>
                <a:gd name="T33" fmla="*/ 99 h 167"/>
                <a:gd name="T34" fmla="*/ 78 w 493"/>
                <a:gd name="T35" fmla="*/ 89 h 167"/>
                <a:gd name="T36" fmla="*/ 63 w 493"/>
                <a:gd name="T37" fmla="*/ 78 h 167"/>
                <a:gd name="T38" fmla="*/ 52 w 493"/>
                <a:gd name="T39" fmla="*/ 68 h 167"/>
                <a:gd name="T40" fmla="*/ 47 w 493"/>
                <a:gd name="T41" fmla="*/ 57 h 167"/>
                <a:gd name="T42" fmla="*/ 47 w 493"/>
                <a:gd name="T43" fmla="*/ 57 h 167"/>
                <a:gd name="T44" fmla="*/ 52 w 493"/>
                <a:gd name="T45" fmla="*/ 47 h 167"/>
                <a:gd name="T46" fmla="*/ 68 w 493"/>
                <a:gd name="T47" fmla="*/ 31 h 167"/>
                <a:gd name="T48" fmla="*/ 94 w 493"/>
                <a:gd name="T49" fmla="*/ 20 h 167"/>
                <a:gd name="T50" fmla="*/ 131 w 493"/>
                <a:gd name="T51" fmla="*/ 15 h 167"/>
                <a:gd name="T52" fmla="*/ 131 w 493"/>
                <a:gd name="T53" fmla="*/ 0 h 167"/>
                <a:gd name="T54" fmla="*/ 131 w 493"/>
                <a:gd name="T55" fmla="*/ 0 h 167"/>
                <a:gd name="T56" fmla="*/ 78 w 493"/>
                <a:gd name="T57" fmla="*/ 15 h 167"/>
                <a:gd name="T58" fmla="*/ 36 w 493"/>
                <a:gd name="T59" fmla="*/ 31 h 167"/>
                <a:gd name="T60" fmla="*/ 10 w 493"/>
                <a:gd name="T61" fmla="*/ 52 h 167"/>
                <a:gd name="T62" fmla="*/ 5 w 493"/>
                <a:gd name="T63" fmla="*/ 68 h 167"/>
                <a:gd name="T64" fmla="*/ 0 w 493"/>
                <a:gd name="T65" fmla="*/ 78 h 167"/>
                <a:gd name="T66" fmla="*/ 0 w 493"/>
                <a:gd name="T67" fmla="*/ 78 h 167"/>
                <a:gd name="T68" fmla="*/ 5 w 493"/>
                <a:gd name="T69" fmla="*/ 94 h 167"/>
                <a:gd name="T70" fmla="*/ 21 w 493"/>
                <a:gd name="T71" fmla="*/ 110 h 167"/>
                <a:gd name="T72" fmla="*/ 42 w 493"/>
                <a:gd name="T73" fmla="*/ 125 h 167"/>
                <a:gd name="T74" fmla="*/ 73 w 493"/>
                <a:gd name="T75" fmla="*/ 141 h 167"/>
                <a:gd name="T76" fmla="*/ 110 w 493"/>
                <a:gd name="T77" fmla="*/ 152 h 167"/>
                <a:gd name="T78" fmla="*/ 152 w 493"/>
                <a:gd name="T79" fmla="*/ 157 h 167"/>
                <a:gd name="T80" fmla="*/ 194 w 493"/>
                <a:gd name="T81" fmla="*/ 162 h 167"/>
                <a:gd name="T82" fmla="*/ 246 w 493"/>
                <a:gd name="T83" fmla="*/ 167 h 167"/>
                <a:gd name="T84" fmla="*/ 246 w 493"/>
                <a:gd name="T85" fmla="*/ 167 h 167"/>
                <a:gd name="T86" fmla="*/ 293 w 493"/>
                <a:gd name="T87" fmla="*/ 162 h 167"/>
                <a:gd name="T88" fmla="*/ 341 w 493"/>
                <a:gd name="T89" fmla="*/ 157 h 167"/>
                <a:gd name="T90" fmla="*/ 383 w 493"/>
                <a:gd name="T91" fmla="*/ 152 h 167"/>
                <a:gd name="T92" fmla="*/ 419 w 493"/>
                <a:gd name="T93" fmla="*/ 141 h 167"/>
                <a:gd name="T94" fmla="*/ 451 w 493"/>
                <a:gd name="T95" fmla="*/ 125 h 167"/>
                <a:gd name="T96" fmla="*/ 472 w 493"/>
                <a:gd name="T97" fmla="*/ 110 h 167"/>
                <a:gd name="T98" fmla="*/ 488 w 493"/>
                <a:gd name="T99" fmla="*/ 94 h 167"/>
                <a:gd name="T100" fmla="*/ 493 w 493"/>
                <a:gd name="T101" fmla="*/ 78 h 167"/>
                <a:gd name="T102" fmla="*/ 493 w 493"/>
                <a:gd name="T103" fmla="*/ 78 h 167"/>
                <a:gd name="T104" fmla="*/ 488 w 493"/>
                <a:gd name="T105" fmla="*/ 68 h 167"/>
                <a:gd name="T106" fmla="*/ 482 w 493"/>
                <a:gd name="T107" fmla="*/ 52 h 167"/>
                <a:gd name="T108" fmla="*/ 456 w 493"/>
                <a:gd name="T109" fmla="*/ 31 h 167"/>
                <a:gd name="T110" fmla="*/ 414 w 493"/>
                <a:gd name="T111" fmla="*/ 15 h 167"/>
                <a:gd name="T112" fmla="*/ 362 w 493"/>
                <a:gd name="T113" fmla="*/ 0 h 167"/>
                <a:gd name="T114" fmla="*/ 362 w 493"/>
                <a:gd name="T115"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93" h="167">
                  <a:moveTo>
                    <a:pt x="362" y="0"/>
                  </a:moveTo>
                  <a:lnTo>
                    <a:pt x="362" y="15"/>
                  </a:lnTo>
                  <a:lnTo>
                    <a:pt x="362" y="15"/>
                  </a:lnTo>
                  <a:lnTo>
                    <a:pt x="393" y="20"/>
                  </a:lnTo>
                  <a:lnTo>
                    <a:pt x="419" y="31"/>
                  </a:lnTo>
                  <a:lnTo>
                    <a:pt x="440" y="47"/>
                  </a:lnTo>
                  <a:lnTo>
                    <a:pt x="446" y="57"/>
                  </a:lnTo>
                  <a:lnTo>
                    <a:pt x="446" y="57"/>
                  </a:lnTo>
                  <a:lnTo>
                    <a:pt x="440" y="68"/>
                  </a:lnTo>
                  <a:lnTo>
                    <a:pt x="430" y="78"/>
                  </a:lnTo>
                  <a:lnTo>
                    <a:pt x="409" y="89"/>
                  </a:lnTo>
                  <a:lnTo>
                    <a:pt x="388" y="99"/>
                  </a:lnTo>
                  <a:lnTo>
                    <a:pt x="325" y="110"/>
                  </a:lnTo>
                  <a:lnTo>
                    <a:pt x="246" y="115"/>
                  </a:lnTo>
                  <a:lnTo>
                    <a:pt x="246" y="115"/>
                  </a:lnTo>
                  <a:lnTo>
                    <a:pt x="168" y="110"/>
                  </a:lnTo>
                  <a:lnTo>
                    <a:pt x="105" y="99"/>
                  </a:lnTo>
                  <a:lnTo>
                    <a:pt x="78" y="89"/>
                  </a:lnTo>
                  <a:lnTo>
                    <a:pt x="63" y="78"/>
                  </a:lnTo>
                  <a:lnTo>
                    <a:pt x="52" y="68"/>
                  </a:lnTo>
                  <a:lnTo>
                    <a:pt x="47" y="57"/>
                  </a:lnTo>
                  <a:lnTo>
                    <a:pt x="47" y="57"/>
                  </a:lnTo>
                  <a:lnTo>
                    <a:pt x="52" y="47"/>
                  </a:lnTo>
                  <a:lnTo>
                    <a:pt x="68" y="31"/>
                  </a:lnTo>
                  <a:lnTo>
                    <a:pt x="94" y="20"/>
                  </a:lnTo>
                  <a:lnTo>
                    <a:pt x="131" y="15"/>
                  </a:lnTo>
                  <a:lnTo>
                    <a:pt x="131" y="0"/>
                  </a:lnTo>
                  <a:lnTo>
                    <a:pt x="131" y="0"/>
                  </a:lnTo>
                  <a:lnTo>
                    <a:pt x="78" y="15"/>
                  </a:lnTo>
                  <a:lnTo>
                    <a:pt x="36" y="31"/>
                  </a:lnTo>
                  <a:lnTo>
                    <a:pt x="10" y="52"/>
                  </a:lnTo>
                  <a:lnTo>
                    <a:pt x="5" y="68"/>
                  </a:lnTo>
                  <a:lnTo>
                    <a:pt x="0" y="78"/>
                  </a:lnTo>
                  <a:lnTo>
                    <a:pt x="0" y="78"/>
                  </a:lnTo>
                  <a:lnTo>
                    <a:pt x="5" y="94"/>
                  </a:lnTo>
                  <a:lnTo>
                    <a:pt x="21" y="110"/>
                  </a:lnTo>
                  <a:lnTo>
                    <a:pt x="42" y="125"/>
                  </a:lnTo>
                  <a:lnTo>
                    <a:pt x="73" y="141"/>
                  </a:lnTo>
                  <a:lnTo>
                    <a:pt x="110" y="152"/>
                  </a:lnTo>
                  <a:lnTo>
                    <a:pt x="152" y="157"/>
                  </a:lnTo>
                  <a:lnTo>
                    <a:pt x="194" y="162"/>
                  </a:lnTo>
                  <a:lnTo>
                    <a:pt x="246" y="167"/>
                  </a:lnTo>
                  <a:lnTo>
                    <a:pt x="246" y="167"/>
                  </a:lnTo>
                  <a:lnTo>
                    <a:pt x="293" y="162"/>
                  </a:lnTo>
                  <a:lnTo>
                    <a:pt x="341" y="157"/>
                  </a:lnTo>
                  <a:lnTo>
                    <a:pt x="383" y="152"/>
                  </a:lnTo>
                  <a:lnTo>
                    <a:pt x="419" y="141"/>
                  </a:lnTo>
                  <a:lnTo>
                    <a:pt x="451" y="125"/>
                  </a:lnTo>
                  <a:lnTo>
                    <a:pt x="472" y="110"/>
                  </a:lnTo>
                  <a:lnTo>
                    <a:pt x="488" y="94"/>
                  </a:lnTo>
                  <a:lnTo>
                    <a:pt x="493" y="78"/>
                  </a:lnTo>
                  <a:lnTo>
                    <a:pt x="493" y="78"/>
                  </a:lnTo>
                  <a:lnTo>
                    <a:pt x="488" y="68"/>
                  </a:lnTo>
                  <a:lnTo>
                    <a:pt x="482" y="52"/>
                  </a:lnTo>
                  <a:lnTo>
                    <a:pt x="456" y="31"/>
                  </a:lnTo>
                  <a:lnTo>
                    <a:pt x="414" y="15"/>
                  </a:lnTo>
                  <a:lnTo>
                    <a:pt x="362" y="0"/>
                  </a:lnTo>
                  <a:lnTo>
                    <a:pt x="3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49" name="Freeform 94">
              <a:extLst>
                <a:ext uri="{FF2B5EF4-FFF2-40B4-BE49-F238E27FC236}">
                  <a16:creationId xmlns:a16="http://schemas.microsoft.com/office/drawing/2014/main" id="{3EBFD692-C2B9-4B35-98EE-41E3B62940B0}"/>
                </a:ext>
              </a:extLst>
            </p:cNvPr>
            <p:cNvSpPr>
              <a:spLocks noEditPoints="1"/>
            </p:cNvSpPr>
            <p:nvPr/>
          </p:nvSpPr>
          <p:spPr bwMode="auto">
            <a:xfrm>
              <a:off x="3155926" y="2996024"/>
              <a:ext cx="159534" cy="446469"/>
            </a:xfrm>
            <a:custGeom>
              <a:avLst/>
              <a:gdLst>
                <a:gd name="T0" fmla="*/ 84 w 283"/>
                <a:gd name="T1" fmla="*/ 116 h 792"/>
                <a:gd name="T2" fmla="*/ 89 w 283"/>
                <a:gd name="T3" fmla="*/ 132 h 792"/>
                <a:gd name="T4" fmla="*/ 115 w 283"/>
                <a:gd name="T5" fmla="*/ 168 h 792"/>
                <a:gd name="T6" fmla="*/ 141 w 283"/>
                <a:gd name="T7" fmla="*/ 179 h 792"/>
                <a:gd name="T8" fmla="*/ 167 w 283"/>
                <a:gd name="T9" fmla="*/ 168 h 792"/>
                <a:gd name="T10" fmla="*/ 194 w 283"/>
                <a:gd name="T11" fmla="*/ 132 h 792"/>
                <a:gd name="T12" fmla="*/ 199 w 283"/>
                <a:gd name="T13" fmla="*/ 116 h 792"/>
                <a:gd name="T14" fmla="*/ 204 w 283"/>
                <a:gd name="T15" fmla="*/ 116 h 792"/>
                <a:gd name="T16" fmla="*/ 209 w 283"/>
                <a:gd name="T17" fmla="*/ 105 h 792"/>
                <a:gd name="T18" fmla="*/ 209 w 283"/>
                <a:gd name="T19" fmla="*/ 84 h 792"/>
                <a:gd name="T20" fmla="*/ 209 w 283"/>
                <a:gd name="T21" fmla="*/ 79 h 792"/>
                <a:gd name="T22" fmla="*/ 209 w 283"/>
                <a:gd name="T23" fmla="*/ 79 h 792"/>
                <a:gd name="T24" fmla="*/ 204 w 283"/>
                <a:gd name="T25" fmla="*/ 48 h 792"/>
                <a:gd name="T26" fmla="*/ 183 w 283"/>
                <a:gd name="T27" fmla="*/ 11 h 792"/>
                <a:gd name="T28" fmla="*/ 157 w 283"/>
                <a:gd name="T29" fmla="*/ 0 h 792"/>
                <a:gd name="T30" fmla="*/ 141 w 283"/>
                <a:gd name="T31" fmla="*/ 0 h 792"/>
                <a:gd name="T32" fmla="*/ 110 w 283"/>
                <a:gd name="T33" fmla="*/ 6 h 792"/>
                <a:gd name="T34" fmla="*/ 89 w 283"/>
                <a:gd name="T35" fmla="*/ 21 h 792"/>
                <a:gd name="T36" fmla="*/ 73 w 283"/>
                <a:gd name="T37" fmla="*/ 79 h 792"/>
                <a:gd name="T38" fmla="*/ 73 w 283"/>
                <a:gd name="T39" fmla="*/ 79 h 792"/>
                <a:gd name="T40" fmla="*/ 73 w 283"/>
                <a:gd name="T41" fmla="*/ 84 h 792"/>
                <a:gd name="T42" fmla="*/ 68 w 283"/>
                <a:gd name="T43" fmla="*/ 84 h 792"/>
                <a:gd name="T44" fmla="*/ 78 w 283"/>
                <a:gd name="T45" fmla="*/ 116 h 792"/>
                <a:gd name="T46" fmla="*/ 84 w 283"/>
                <a:gd name="T47" fmla="*/ 116 h 792"/>
                <a:gd name="T48" fmla="*/ 272 w 283"/>
                <a:gd name="T49" fmla="*/ 221 h 792"/>
                <a:gd name="T50" fmla="*/ 215 w 283"/>
                <a:gd name="T51" fmla="*/ 189 h 792"/>
                <a:gd name="T52" fmla="*/ 194 w 283"/>
                <a:gd name="T53" fmla="*/ 174 h 792"/>
                <a:gd name="T54" fmla="*/ 152 w 283"/>
                <a:gd name="T55" fmla="*/ 215 h 792"/>
                <a:gd name="T56" fmla="*/ 157 w 283"/>
                <a:gd name="T57" fmla="*/ 189 h 792"/>
                <a:gd name="T58" fmla="*/ 141 w 283"/>
                <a:gd name="T59" fmla="*/ 189 h 792"/>
                <a:gd name="T60" fmla="*/ 126 w 283"/>
                <a:gd name="T61" fmla="*/ 189 h 792"/>
                <a:gd name="T62" fmla="*/ 131 w 283"/>
                <a:gd name="T63" fmla="*/ 215 h 792"/>
                <a:gd name="T64" fmla="*/ 89 w 283"/>
                <a:gd name="T65" fmla="*/ 174 h 792"/>
                <a:gd name="T66" fmla="*/ 84 w 283"/>
                <a:gd name="T67" fmla="*/ 184 h 792"/>
                <a:gd name="T68" fmla="*/ 10 w 283"/>
                <a:gd name="T69" fmla="*/ 221 h 792"/>
                <a:gd name="T70" fmla="*/ 0 w 283"/>
                <a:gd name="T71" fmla="*/ 226 h 792"/>
                <a:gd name="T72" fmla="*/ 0 w 283"/>
                <a:gd name="T73" fmla="*/ 452 h 792"/>
                <a:gd name="T74" fmla="*/ 5 w 283"/>
                <a:gd name="T75" fmla="*/ 472 h 792"/>
                <a:gd name="T76" fmla="*/ 31 w 283"/>
                <a:gd name="T77" fmla="*/ 499 h 792"/>
                <a:gd name="T78" fmla="*/ 52 w 283"/>
                <a:gd name="T79" fmla="*/ 509 h 792"/>
                <a:gd name="T80" fmla="*/ 52 w 283"/>
                <a:gd name="T81" fmla="*/ 750 h 792"/>
                <a:gd name="T82" fmla="*/ 63 w 283"/>
                <a:gd name="T83" fmla="*/ 782 h 792"/>
                <a:gd name="T84" fmla="*/ 94 w 283"/>
                <a:gd name="T85" fmla="*/ 792 h 792"/>
                <a:gd name="T86" fmla="*/ 115 w 283"/>
                <a:gd name="T87" fmla="*/ 792 h 792"/>
                <a:gd name="T88" fmla="*/ 136 w 283"/>
                <a:gd name="T89" fmla="*/ 766 h 792"/>
                <a:gd name="T90" fmla="*/ 141 w 283"/>
                <a:gd name="T91" fmla="*/ 750 h 792"/>
                <a:gd name="T92" fmla="*/ 152 w 283"/>
                <a:gd name="T93" fmla="*/ 782 h 792"/>
                <a:gd name="T94" fmla="*/ 183 w 283"/>
                <a:gd name="T95" fmla="*/ 792 h 792"/>
                <a:gd name="T96" fmla="*/ 204 w 283"/>
                <a:gd name="T97" fmla="*/ 792 h 792"/>
                <a:gd name="T98" fmla="*/ 225 w 283"/>
                <a:gd name="T99" fmla="*/ 766 h 792"/>
                <a:gd name="T100" fmla="*/ 230 w 283"/>
                <a:gd name="T101" fmla="*/ 509 h 792"/>
                <a:gd name="T102" fmla="*/ 230 w 283"/>
                <a:gd name="T103" fmla="*/ 509 h 792"/>
                <a:gd name="T104" fmla="*/ 267 w 283"/>
                <a:gd name="T105" fmla="*/ 488 h 792"/>
                <a:gd name="T106" fmla="*/ 283 w 283"/>
                <a:gd name="T107" fmla="*/ 452 h 792"/>
                <a:gd name="T108" fmla="*/ 283 w 283"/>
                <a:gd name="T109" fmla="*/ 236 h 792"/>
                <a:gd name="T110" fmla="*/ 272 w 283"/>
                <a:gd name="T111" fmla="*/ 221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3" h="792">
                  <a:moveTo>
                    <a:pt x="84" y="116"/>
                  </a:moveTo>
                  <a:lnTo>
                    <a:pt x="84" y="116"/>
                  </a:lnTo>
                  <a:lnTo>
                    <a:pt x="89" y="132"/>
                  </a:lnTo>
                  <a:lnTo>
                    <a:pt x="89" y="132"/>
                  </a:lnTo>
                  <a:lnTo>
                    <a:pt x="99" y="153"/>
                  </a:lnTo>
                  <a:lnTo>
                    <a:pt x="115" y="168"/>
                  </a:lnTo>
                  <a:lnTo>
                    <a:pt x="126" y="174"/>
                  </a:lnTo>
                  <a:lnTo>
                    <a:pt x="141" y="179"/>
                  </a:lnTo>
                  <a:lnTo>
                    <a:pt x="157" y="174"/>
                  </a:lnTo>
                  <a:lnTo>
                    <a:pt x="167" y="168"/>
                  </a:lnTo>
                  <a:lnTo>
                    <a:pt x="183" y="153"/>
                  </a:lnTo>
                  <a:lnTo>
                    <a:pt x="194" y="132"/>
                  </a:lnTo>
                  <a:lnTo>
                    <a:pt x="194" y="132"/>
                  </a:lnTo>
                  <a:lnTo>
                    <a:pt x="199" y="116"/>
                  </a:lnTo>
                  <a:lnTo>
                    <a:pt x="199" y="116"/>
                  </a:lnTo>
                  <a:lnTo>
                    <a:pt x="204" y="116"/>
                  </a:lnTo>
                  <a:lnTo>
                    <a:pt x="204" y="116"/>
                  </a:lnTo>
                  <a:lnTo>
                    <a:pt x="209" y="105"/>
                  </a:lnTo>
                  <a:lnTo>
                    <a:pt x="209" y="84"/>
                  </a:lnTo>
                  <a:lnTo>
                    <a:pt x="209" y="84"/>
                  </a:lnTo>
                  <a:lnTo>
                    <a:pt x="209" y="84"/>
                  </a:lnTo>
                  <a:lnTo>
                    <a:pt x="209" y="79"/>
                  </a:lnTo>
                  <a:lnTo>
                    <a:pt x="209" y="79"/>
                  </a:lnTo>
                  <a:lnTo>
                    <a:pt x="209" y="79"/>
                  </a:lnTo>
                  <a:lnTo>
                    <a:pt x="209" y="79"/>
                  </a:lnTo>
                  <a:lnTo>
                    <a:pt x="204" y="48"/>
                  </a:lnTo>
                  <a:lnTo>
                    <a:pt x="194" y="21"/>
                  </a:lnTo>
                  <a:lnTo>
                    <a:pt x="183" y="11"/>
                  </a:lnTo>
                  <a:lnTo>
                    <a:pt x="173" y="6"/>
                  </a:lnTo>
                  <a:lnTo>
                    <a:pt x="157" y="0"/>
                  </a:lnTo>
                  <a:lnTo>
                    <a:pt x="141" y="0"/>
                  </a:lnTo>
                  <a:lnTo>
                    <a:pt x="141" y="0"/>
                  </a:lnTo>
                  <a:lnTo>
                    <a:pt x="126" y="0"/>
                  </a:lnTo>
                  <a:lnTo>
                    <a:pt x="110" y="6"/>
                  </a:lnTo>
                  <a:lnTo>
                    <a:pt x="99" y="11"/>
                  </a:lnTo>
                  <a:lnTo>
                    <a:pt x="89" y="21"/>
                  </a:lnTo>
                  <a:lnTo>
                    <a:pt x="78" y="48"/>
                  </a:lnTo>
                  <a:lnTo>
                    <a:pt x="73" y="79"/>
                  </a:lnTo>
                  <a:lnTo>
                    <a:pt x="73" y="79"/>
                  </a:lnTo>
                  <a:lnTo>
                    <a:pt x="73" y="79"/>
                  </a:lnTo>
                  <a:lnTo>
                    <a:pt x="73" y="79"/>
                  </a:lnTo>
                  <a:lnTo>
                    <a:pt x="73" y="84"/>
                  </a:lnTo>
                  <a:lnTo>
                    <a:pt x="68" y="84"/>
                  </a:lnTo>
                  <a:lnTo>
                    <a:pt x="68" y="84"/>
                  </a:lnTo>
                  <a:lnTo>
                    <a:pt x="68" y="105"/>
                  </a:lnTo>
                  <a:lnTo>
                    <a:pt x="78" y="116"/>
                  </a:lnTo>
                  <a:lnTo>
                    <a:pt x="78" y="116"/>
                  </a:lnTo>
                  <a:lnTo>
                    <a:pt x="84" y="116"/>
                  </a:lnTo>
                  <a:lnTo>
                    <a:pt x="84" y="116"/>
                  </a:lnTo>
                  <a:close/>
                  <a:moveTo>
                    <a:pt x="272" y="221"/>
                  </a:moveTo>
                  <a:lnTo>
                    <a:pt x="215" y="189"/>
                  </a:lnTo>
                  <a:lnTo>
                    <a:pt x="215" y="189"/>
                  </a:lnTo>
                  <a:lnTo>
                    <a:pt x="199" y="184"/>
                  </a:lnTo>
                  <a:lnTo>
                    <a:pt x="194" y="174"/>
                  </a:lnTo>
                  <a:lnTo>
                    <a:pt x="178" y="195"/>
                  </a:lnTo>
                  <a:lnTo>
                    <a:pt x="152" y="215"/>
                  </a:lnTo>
                  <a:lnTo>
                    <a:pt x="152" y="200"/>
                  </a:lnTo>
                  <a:lnTo>
                    <a:pt x="157" y="189"/>
                  </a:lnTo>
                  <a:lnTo>
                    <a:pt x="157" y="189"/>
                  </a:lnTo>
                  <a:lnTo>
                    <a:pt x="141" y="189"/>
                  </a:lnTo>
                  <a:lnTo>
                    <a:pt x="141" y="189"/>
                  </a:lnTo>
                  <a:lnTo>
                    <a:pt x="126" y="189"/>
                  </a:lnTo>
                  <a:lnTo>
                    <a:pt x="131" y="200"/>
                  </a:lnTo>
                  <a:lnTo>
                    <a:pt x="131" y="215"/>
                  </a:lnTo>
                  <a:lnTo>
                    <a:pt x="105" y="195"/>
                  </a:lnTo>
                  <a:lnTo>
                    <a:pt x="89" y="174"/>
                  </a:lnTo>
                  <a:lnTo>
                    <a:pt x="89" y="174"/>
                  </a:lnTo>
                  <a:lnTo>
                    <a:pt x="84" y="184"/>
                  </a:lnTo>
                  <a:lnTo>
                    <a:pt x="68" y="189"/>
                  </a:lnTo>
                  <a:lnTo>
                    <a:pt x="10" y="221"/>
                  </a:lnTo>
                  <a:lnTo>
                    <a:pt x="10" y="221"/>
                  </a:lnTo>
                  <a:lnTo>
                    <a:pt x="0" y="226"/>
                  </a:lnTo>
                  <a:lnTo>
                    <a:pt x="0" y="236"/>
                  </a:lnTo>
                  <a:lnTo>
                    <a:pt x="0" y="452"/>
                  </a:lnTo>
                  <a:lnTo>
                    <a:pt x="0" y="452"/>
                  </a:lnTo>
                  <a:lnTo>
                    <a:pt x="5" y="472"/>
                  </a:lnTo>
                  <a:lnTo>
                    <a:pt x="15" y="488"/>
                  </a:lnTo>
                  <a:lnTo>
                    <a:pt x="31" y="499"/>
                  </a:lnTo>
                  <a:lnTo>
                    <a:pt x="52" y="509"/>
                  </a:lnTo>
                  <a:lnTo>
                    <a:pt x="52" y="509"/>
                  </a:lnTo>
                  <a:lnTo>
                    <a:pt x="52" y="750"/>
                  </a:lnTo>
                  <a:lnTo>
                    <a:pt x="52" y="750"/>
                  </a:lnTo>
                  <a:lnTo>
                    <a:pt x="52" y="766"/>
                  </a:lnTo>
                  <a:lnTo>
                    <a:pt x="63" y="782"/>
                  </a:lnTo>
                  <a:lnTo>
                    <a:pt x="78" y="792"/>
                  </a:lnTo>
                  <a:lnTo>
                    <a:pt x="94" y="792"/>
                  </a:lnTo>
                  <a:lnTo>
                    <a:pt x="94" y="792"/>
                  </a:lnTo>
                  <a:lnTo>
                    <a:pt x="115" y="792"/>
                  </a:lnTo>
                  <a:lnTo>
                    <a:pt x="126" y="782"/>
                  </a:lnTo>
                  <a:lnTo>
                    <a:pt x="136" y="766"/>
                  </a:lnTo>
                  <a:lnTo>
                    <a:pt x="141" y="750"/>
                  </a:lnTo>
                  <a:lnTo>
                    <a:pt x="141" y="750"/>
                  </a:lnTo>
                  <a:lnTo>
                    <a:pt x="146" y="766"/>
                  </a:lnTo>
                  <a:lnTo>
                    <a:pt x="152" y="782"/>
                  </a:lnTo>
                  <a:lnTo>
                    <a:pt x="167" y="792"/>
                  </a:lnTo>
                  <a:lnTo>
                    <a:pt x="183" y="792"/>
                  </a:lnTo>
                  <a:lnTo>
                    <a:pt x="183" y="792"/>
                  </a:lnTo>
                  <a:lnTo>
                    <a:pt x="204" y="792"/>
                  </a:lnTo>
                  <a:lnTo>
                    <a:pt x="215" y="782"/>
                  </a:lnTo>
                  <a:lnTo>
                    <a:pt x="225" y="766"/>
                  </a:lnTo>
                  <a:lnTo>
                    <a:pt x="230" y="750"/>
                  </a:lnTo>
                  <a:lnTo>
                    <a:pt x="230" y="509"/>
                  </a:lnTo>
                  <a:lnTo>
                    <a:pt x="230" y="509"/>
                  </a:lnTo>
                  <a:lnTo>
                    <a:pt x="230" y="509"/>
                  </a:lnTo>
                  <a:lnTo>
                    <a:pt x="251" y="499"/>
                  </a:lnTo>
                  <a:lnTo>
                    <a:pt x="267" y="488"/>
                  </a:lnTo>
                  <a:lnTo>
                    <a:pt x="278" y="472"/>
                  </a:lnTo>
                  <a:lnTo>
                    <a:pt x="283" y="452"/>
                  </a:lnTo>
                  <a:lnTo>
                    <a:pt x="283" y="236"/>
                  </a:lnTo>
                  <a:lnTo>
                    <a:pt x="283" y="236"/>
                  </a:lnTo>
                  <a:lnTo>
                    <a:pt x="278" y="226"/>
                  </a:lnTo>
                  <a:lnTo>
                    <a:pt x="272" y="221"/>
                  </a:lnTo>
                  <a:lnTo>
                    <a:pt x="272" y="2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50" name="Freeform 95">
              <a:extLst>
                <a:ext uri="{FF2B5EF4-FFF2-40B4-BE49-F238E27FC236}">
                  <a16:creationId xmlns:a16="http://schemas.microsoft.com/office/drawing/2014/main" id="{4E50BE63-D9D9-42C7-B3FE-BAA4A47F6E51}"/>
                </a:ext>
              </a:extLst>
            </p:cNvPr>
            <p:cNvSpPr>
              <a:spLocks/>
            </p:cNvSpPr>
            <p:nvPr/>
          </p:nvSpPr>
          <p:spPr bwMode="auto">
            <a:xfrm>
              <a:off x="2925363" y="3445876"/>
              <a:ext cx="215343" cy="73848"/>
            </a:xfrm>
            <a:custGeom>
              <a:avLst/>
              <a:gdLst>
                <a:gd name="T0" fmla="*/ 330 w 382"/>
                <a:gd name="T1" fmla="*/ 68 h 131"/>
                <a:gd name="T2" fmla="*/ 330 w 382"/>
                <a:gd name="T3" fmla="*/ 68 h 131"/>
                <a:gd name="T4" fmla="*/ 304 w 382"/>
                <a:gd name="T5" fmla="*/ 78 h 131"/>
                <a:gd name="T6" fmla="*/ 272 w 382"/>
                <a:gd name="T7" fmla="*/ 84 h 131"/>
                <a:gd name="T8" fmla="*/ 199 w 382"/>
                <a:gd name="T9" fmla="*/ 89 h 131"/>
                <a:gd name="T10" fmla="*/ 199 w 382"/>
                <a:gd name="T11" fmla="*/ 89 h 131"/>
                <a:gd name="T12" fmla="*/ 136 w 382"/>
                <a:gd name="T13" fmla="*/ 84 h 131"/>
                <a:gd name="T14" fmla="*/ 83 w 382"/>
                <a:gd name="T15" fmla="*/ 78 h 131"/>
                <a:gd name="T16" fmla="*/ 52 w 382"/>
                <a:gd name="T17" fmla="*/ 63 h 131"/>
                <a:gd name="T18" fmla="*/ 41 w 382"/>
                <a:gd name="T19" fmla="*/ 52 h 131"/>
                <a:gd name="T20" fmla="*/ 36 w 382"/>
                <a:gd name="T21" fmla="*/ 47 h 131"/>
                <a:gd name="T22" fmla="*/ 36 w 382"/>
                <a:gd name="T23" fmla="*/ 47 h 131"/>
                <a:gd name="T24" fmla="*/ 41 w 382"/>
                <a:gd name="T25" fmla="*/ 36 h 131"/>
                <a:gd name="T26" fmla="*/ 57 w 382"/>
                <a:gd name="T27" fmla="*/ 26 h 131"/>
                <a:gd name="T28" fmla="*/ 78 w 382"/>
                <a:gd name="T29" fmla="*/ 15 h 131"/>
                <a:gd name="T30" fmla="*/ 104 w 382"/>
                <a:gd name="T31" fmla="*/ 10 h 131"/>
                <a:gd name="T32" fmla="*/ 104 w 382"/>
                <a:gd name="T33" fmla="*/ 0 h 131"/>
                <a:gd name="T34" fmla="*/ 104 w 382"/>
                <a:gd name="T35" fmla="*/ 0 h 131"/>
                <a:gd name="T36" fmla="*/ 62 w 382"/>
                <a:gd name="T37" fmla="*/ 10 h 131"/>
                <a:gd name="T38" fmla="*/ 31 w 382"/>
                <a:gd name="T39" fmla="*/ 21 h 131"/>
                <a:gd name="T40" fmla="*/ 5 w 382"/>
                <a:gd name="T41" fmla="*/ 42 h 131"/>
                <a:gd name="T42" fmla="*/ 0 w 382"/>
                <a:gd name="T43" fmla="*/ 52 h 131"/>
                <a:gd name="T44" fmla="*/ 0 w 382"/>
                <a:gd name="T45" fmla="*/ 63 h 131"/>
                <a:gd name="T46" fmla="*/ 0 w 382"/>
                <a:gd name="T47" fmla="*/ 63 h 131"/>
                <a:gd name="T48" fmla="*/ 5 w 382"/>
                <a:gd name="T49" fmla="*/ 73 h 131"/>
                <a:gd name="T50" fmla="*/ 15 w 382"/>
                <a:gd name="T51" fmla="*/ 89 h 131"/>
                <a:gd name="T52" fmla="*/ 31 w 382"/>
                <a:gd name="T53" fmla="*/ 99 h 131"/>
                <a:gd name="T54" fmla="*/ 57 w 382"/>
                <a:gd name="T55" fmla="*/ 110 h 131"/>
                <a:gd name="T56" fmla="*/ 120 w 382"/>
                <a:gd name="T57" fmla="*/ 126 h 131"/>
                <a:gd name="T58" fmla="*/ 199 w 382"/>
                <a:gd name="T59" fmla="*/ 131 h 131"/>
                <a:gd name="T60" fmla="*/ 199 w 382"/>
                <a:gd name="T61" fmla="*/ 131 h 131"/>
                <a:gd name="T62" fmla="*/ 257 w 382"/>
                <a:gd name="T63" fmla="*/ 131 h 131"/>
                <a:gd name="T64" fmla="*/ 309 w 382"/>
                <a:gd name="T65" fmla="*/ 120 h 131"/>
                <a:gd name="T66" fmla="*/ 351 w 382"/>
                <a:gd name="T67" fmla="*/ 105 h 131"/>
                <a:gd name="T68" fmla="*/ 382 w 382"/>
                <a:gd name="T69" fmla="*/ 89 h 131"/>
                <a:gd name="T70" fmla="*/ 382 w 382"/>
                <a:gd name="T71" fmla="*/ 89 h 131"/>
                <a:gd name="T72" fmla="*/ 330 w 382"/>
                <a:gd name="T73" fmla="*/ 68 h 131"/>
                <a:gd name="T74" fmla="*/ 330 w 382"/>
                <a:gd name="T75" fmla="*/ 68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2" h="131">
                  <a:moveTo>
                    <a:pt x="330" y="68"/>
                  </a:moveTo>
                  <a:lnTo>
                    <a:pt x="330" y="68"/>
                  </a:lnTo>
                  <a:lnTo>
                    <a:pt x="304" y="78"/>
                  </a:lnTo>
                  <a:lnTo>
                    <a:pt x="272" y="84"/>
                  </a:lnTo>
                  <a:lnTo>
                    <a:pt x="199" y="89"/>
                  </a:lnTo>
                  <a:lnTo>
                    <a:pt x="199" y="89"/>
                  </a:lnTo>
                  <a:lnTo>
                    <a:pt x="136" y="84"/>
                  </a:lnTo>
                  <a:lnTo>
                    <a:pt x="83" y="78"/>
                  </a:lnTo>
                  <a:lnTo>
                    <a:pt x="52" y="63"/>
                  </a:lnTo>
                  <a:lnTo>
                    <a:pt x="41" y="52"/>
                  </a:lnTo>
                  <a:lnTo>
                    <a:pt x="36" y="47"/>
                  </a:lnTo>
                  <a:lnTo>
                    <a:pt x="36" y="47"/>
                  </a:lnTo>
                  <a:lnTo>
                    <a:pt x="41" y="36"/>
                  </a:lnTo>
                  <a:lnTo>
                    <a:pt x="57" y="26"/>
                  </a:lnTo>
                  <a:lnTo>
                    <a:pt x="78" y="15"/>
                  </a:lnTo>
                  <a:lnTo>
                    <a:pt x="104" y="10"/>
                  </a:lnTo>
                  <a:lnTo>
                    <a:pt x="104" y="0"/>
                  </a:lnTo>
                  <a:lnTo>
                    <a:pt x="104" y="0"/>
                  </a:lnTo>
                  <a:lnTo>
                    <a:pt x="62" y="10"/>
                  </a:lnTo>
                  <a:lnTo>
                    <a:pt x="31" y="21"/>
                  </a:lnTo>
                  <a:lnTo>
                    <a:pt x="5" y="42"/>
                  </a:lnTo>
                  <a:lnTo>
                    <a:pt x="0" y="52"/>
                  </a:lnTo>
                  <a:lnTo>
                    <a:pt x="0" y="63"/>
                  </a:lnTo>
                  <a:lnTo>
                    <a:pt x="0" y="63"/>
                  </a:lnTo>
                  <a:lnTo>
                    <a:pt x="5" y="73"/>
                  </a:lnTo>
                  <a:lnTo>
                    <a:pt x="15" y="89"/>
                  </a:lnTo>
                  <a:lnTo>
                    <a:pt x="31" y="99"/>
                  </a:lnTo>
                  <a:lnTo>
                    <a:pt x="57" y="110"/>
                  </a:lnTo>
                  <a:lnTo>
                    <a:pt x="120" y="126"/>
                  </a:lnTo>
                  <a:lnTo>
                    <a:pt x="199" y="131"/>
                  </a:lnTo>
                  <a:lnTo>
                    <a:pt x="199" y="131"/>
                  </a:lnTo>
                  <a:lnTo>
                    <a:pt x="257" y="131"/>
                  </a:lnTo>
                  <a:lnTo>
                    <a:pt x="309" y="120"/>
                  </a:lnTo>
                  <a:lnTo>
                    <a:pt x="351" y="105"/>
                  </a:lnTo>
                  <a:lnTo>
                    <a:pt x="382" y="89"/>
                  </a:lnTo>
                  <a:lnTo>
                    <a:pt x="382" y="89"/>
                  </a:lnTo>
                  <a:lnTo>
                    <a:pt x="330" y="68"/>
                  </a:lnTo>
                  <a:lnTo>
                    <a:pt x="330" y="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51" name="Freeform 96">
              <a:extLst>
                <a:ext uri="{FF2B5EF4-FFF2-40B4-BE49-F238E27FC236}">
                  <a16:creationId xmlns:a16="http://schemas.microsoft.com/office/drawing/2014/main" id="{C9AF1AEA-ECB0-4516-AC84-7576451A40BA}"/>
                </a:ext>
              </a:extLst>
            </p:cNvPr>
            <p:cNvSpPr>
              <a:spLocks noEditPoints="1"/>
            </p:cNvSpPr>
            <p:nvPr/>
          </p:nvSpPr>
          <p:spPr bwMode="auto">
            <a:xfrm>
              <a:off x="2972152" y="3120607"/>
              <a:ext cx="130220" cy="363602"/>
            </a:xfrm>
            <a:custGeom>
              <a:avLst/>
              <a:gdLst>
                <a:gd name="T0" fmla="*/ 69 w 231"/>
                <a:gd name="T1" fmla="*/ 94 h 645"/>
                <a:gd name="T2" fmla="*/ 74 w 231"/>
                <a:gd name="T3" fmla="*/ 105 h 645"/>
                <a:gd name="T4" fmla="*/ 95 w 231"/>
                <a:gd name="T5" fmla="*/ 136 h 645"/>
                <a:gd name="T6" fmla="*/ 116 w 231"/>
                <a:gd name="T7" fmla="*/ 141 h 645"/>
                <a:gd name="T8" fmla="*/ 137 w 231"/>
                <a:gd name="T9" fmla="*/ 136 h 645"/>
                <a:gd name="T10" fmla="*/ 158 w 231"/>
                <a:gd name="T11" fmla="*/ 105 h 645"/>
                <a:gd name="T12" fmla="*/ 163 w 231"/>
                <a:gd name="T13" fmla="*/ 94 h 645"/>
                <a:gd name="T14" fmla="*/ 168 w 231"/>
                <a:gd name="T15" fmla="*/ 94 h 645"/>
                <a:gd name="T16" fmla="*/ 174 w 231"/>
                <a:gd name="T17" fmla="*/ 84 h 645"/>
                <a:gd name="T18" fmla="*/ 174 w 231"/>
                <a:gd name="T19" fmla="*/ 68 h 645"/>
                <a:gd name="T20" fmla="*/ 168 w 231"/>
                <a:gd name="T21" fmla="*/ 63 h 645"/>
                <a:gd name="T22" fmla="*/ 168 w 231"/>
                <a:gd name="T23" fmla="*/ 63 h 645"/>
                <a:gd name="T24" fmla="*/ 168 w 231"/>
                <a:gd name="T25" fmla="*/ 36 h 645"/>
                <a:gd name="T26" fmla="*/ 142 w 231"/>
                <a:gd name="T27" fmla="*/ 5 h 645"/>
                <a:gd name="T28" fmla="*/ 116 w 231"/>
                <a:gd name="T29" fmla="*/ 0 h 645"/>
                <a:gd name="T30" fmla="*/ 74 w 231"/>
                <a:gd name="T31" fmla="*/ 15 h 645"/>
                <a:gd name="T32" fmla="*/ 58 w 231"/>
                <a:gd name="T33" fmla="*/ 63 h 645"/>
                <a:gd name="T34" fmla="*/ 63 w 231"/>
                <a:gd name="T35" fmla="*/ 63 h 645"/>
                <a:gd name="T36" fmla="*/ 58 w 231"/>
                <a:gd name="T37" fmla="*/ 68 h 645"/>
                <a:gd name="T38" fmla="*/ 58 w 231"/>
                <a:gd name="T39" fmla="*/ 68 h 645"/>
                <a:gd name="T40" fmla="*/ 63 w 231"/>
                <a:gd name="T41" fmla="*/ 94 h 645"/>
                <a:gd name="T42" fmla="*/ 69 w 231"/>
                <a:gd name="T43" fmla="*/ 94 h 645"/>
                <a:gd name="T44" fmla="*/ 221 w 231"/>
                <a:gd name="T45" fmla="*/ 178 h 645"/>
                <a:gd name="T46" fmla="*/ 174 w 231"/>
                <a:gd name="T47" fmla="*/ 152 h 645"/>
                <a:gd name="T48" fmla="*/ 147 w 231"/>
                <a:gd name="T49" fmla="*/ 157 h 645"/>
                <a:gd name="T50" fmla="*/ 121 w 231"/>
                <a:gd name="T51" fmla="*/ 162 h 645"/>
                <a:gd name="T52" fmla="*/ 126 w 231"/>
                <a:gd name="T53" fmla="*/ 152 h 645"/>
                <a:gd name="T54" fmla="*/ 116 w 231"/>
                <a:gd name="T55" fmla="*/ 157 h 645"/>
                <a:gd name="T56" fmla="*/ 105 w 231"/>
                <a:gd name="T57" fmla="*/ 162 h 645"/>
                <a:gd name="T58" fmla="*/ 84 w 231"/>
                <a:gd name="T59" fmla="*/ 157 h 645"/>
                <a:gd name="T60" fmla="*/ 74 w 231"/>
                <a:gd name="T61" fmla="*/ 141 h 645"/>
                <a:gd name="T62" fmla="*/ 11 w 231"/>
                <a:gd name="T63" fmla="*/ 178 h 645"/>
                <a:gd name="T64" fmla="*/ 0 w 231"/>
                <a:gd name="T65" fmla="*/ 183 h 645"/>
                <a:gd name="T66" fmla="*/ 0 w 231"/>
                <a:gd name="T67" fmla="*/ 362 h 645"/>
                <a:gd name="T68" fmla="*/ 6 w 231"/>
                <a:gd name="T69" fmla="*/ 383 h 645"/>
                <a:gd name="T70" fmla="*/ 27 w 231"/>
                <a:gd name="T71" fmla="*/ 404 h 645"/>
                <a:gd name="T72" fmla="*/ 42 w 231"/>
                <a:gd name="T73" fmla="*/ 409 h 645"/>
                <a:gd name="T74" fmla="*/ 42 w 231"/>
                <a:gd name="T75" fmla="*/ 608 h 645"/>
                <a:gd name="T76" fmla="*/ 53 w 231"/>
                <a:gd name="T77" fmla="*/ 634 h 645"/>
                <a:gd name="T78" fmla="*/ 79 w 231"/>
                <a:gd name="T79" fmla="*/ 645 h 645"/>
                <a:gd name="T80" fmla="*/ 95 w 231"/>
                <a:gd name="T81" fmla="*/ 640 h 645"/>
                <a:gd name="T82" fmla="*/ 111 w 231"/>
                <a:gd name="T83" fmla="*/ 624 h 645"/>
                <a:gd name="T84" fmla="*/ 116 w 231"/>
                <a:gd name="T85" fmla="*/ 608 h 645"/>
                <a:gd name="T86" fmla="*/ 126 w 231"/>
                <a:gd name="T87" fmla="*/ 634 h 645"/>
                <a:gd name="T88" fmla="*/ 153 w 231"/>
                <a:gd name="T89" fmla="*/ 645 h 645"/>
                <a:gd name="T90" fmla="*/ 163 w 231"/>
                <a:gd name="T91" fmla="*/ 640 h 645"/>
                <a:gd name="T92" fmla="*/ 184 w 231"/>
                <a:gd name="T93" fmla="*/ 624 h 645"/>
                <a:gd name="T94" fmla="*/ 189 w 231"/>
                <a:gd name="T95" fmla="*/ 409 h 645"/>
                <a:gd name="T96" fmla="*/ 189 w 231"/>
                <a:gd name="T97" fmla="*/ 409 h 645"/>
                <a:gd name="T98" fmla="*/ 215 w 231"/>
                <a:gd name="T99" fmla="*/ 393 h 645"/>
                <a:gd name="T100" fmla="*/ 231 w 231"/>
                <a:gd name="T101" fmla="*/ 362 h 645"/>
                <a:gd name="T102" fmla="*/ 231 w 231"/>
                <a:gd name="T103" fmla="*/ 194 h 645"/>
                <a:gd name="T104" fmla="*/ 221 w 231"/>
                <a:gd name="T105" fmla="*/ 178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31" h="645">
                  <a:moveTo>
                    <a:pt x="69" y="94"/>
                  </a:moveTo>
                  <a:lnTo>
                    <a:pt x="69" y="94"/>
                  </a:lnTo>
                  <a:lnTo>
                    <a:pt x="74" y="105"/>
                  </a:lnTo>
                  <a:lnTo>
                    <a:pt x="74" y="105"/>
                  </a:lnTo>
                  <a:lnTo>
                    <a:pt x="84" y="120"/>
                  </a:lnTo>
                  <a:lnTo>
                    <a:pt x="95" y="136"/>
                  </a:lnTo>
                  <a:lnTo>
                    <a:pt x="105" y="141"/>
                  </a:lnTo>
                  <a:lnTo>
                    <a:pt x="116" y="141"/>
                  </a:lnTo>
                  <a:lnTo>
                    <a:pt x="126" y="141"/>
                  </a:lnTo>
                  <a:lnTo>
                    <a:pt x="137" y="136"/>
                  </a:lnTo>
                  <a:lnTo>
                    <a:pt x="147" y="120"/>
                  </a:lnTo>
                  <a:lnTo>
                    <a:pt x="158" y="105"/>
                  </a:lnTo>
                  <a:lnTo>
                    <a:pt x="158" y="105"/>
                  </a:lnTo>
                  <a:lnTo>
                    <a:pt x="163" y="94"/>
                  </a:lnTo>
                  <a:lnTo>
                    <a:pt x="163" y="94"/>
                  </a:lnTo>
                  <a:lnTo>
                    <a:pt x="168" y="94"/>
                  </a:lnTo>
                  <a:lnTo>
                    <a:pt x="168" y="94"/>
                  </a:lnTo>
                  <a:lnTo>
                    <a:pt x="174" y="84"/>
                  </a:lnTo>
                  <a:lnTo>
                    <a:pt x="174" y="68"/>
                  </a:lnTo>
                  <a:lnTo>
                    <a:pt x="174" y="68"/>
                  </a:lnTo>
                  <a:lnTo>
                    <a:pt x="168" y="68"/>
                  </a:lnTo>
                  <a:lnTo>
                    <a:pt x="168" y="63"/>
                  </a:lnTo>
                  <a:lnTo>
                    <a:pt x="168" y="63"/>
                  </a:lnTo>
                  <a:lnTo>
                    <a:pt x="168" y="63"/>
                  </a:lnTo>
                  <a:lnTo>
                    <a:pt x="168" y="63"/>
                  </a:lnTo>
                  <a:lnTo>
                    <a:pt x="168" y="36"/>
                  </a:lnTo>
                  <a:lnTo>
                    <a:pt x="158" y="15"/>
                  </a:lnTo>
                  <a:lnTo>
                    <a:pt x="142" y="5"/>
                  </a:lnTo>
                  <a:lnTo>
                    <a:pt x="116" y="0"/>
                  </a:lnTo>
                  <a:lnTo>
                    <a:pt x="116" y="0"/>
                  </a:lnTo>
                  <a:lnTo>
                    <a:pt x="90" y="5"/>
                  </a:lnTo>
                  <a:lnTo>
                    <a:pt x="74" y="15"/>
                  </a:lnTo>
                  <a:lnTo>
                    <a:pt x="63" y="36"/>
                  </a:lnTo>
                  <a:lnTo>
                    <a:pt x="58" y="63"/>
                  </a:lnTo>
                  <a:lnTo>
                    <a:pt x="58" y="63"/>
                  </a:lnTo>
                  <a:lnTo>
                    <a:pt x="63" y="63"/>
                  </a:lnTo>
                  <a:lnTo>
                    <a:pt x="63" y="63"/>
                  </a:lnTo>
                  <a:lnTo>
                    <a:pt x="58" y="68"/>
                  </a:lnTo>
                  <a:lnTo>
                    <a:pt x="58" y="68"/>
                  </a:lnTo>
                  <a:lnTo>
                    <a:pt x="58" y="68"/>
                  </a:lnTo>
                  <a:lnTo>
                    <a:pt x="58" y="84"/>
                  </a:lnTo>
                  <a:lnTo>
                    <a:pt x="63" y="94"/>
                  </a:lnTo>
                  <a:lnTo>
                    <a:pt x="63" y="94"/>
                  </a:lnTo>
                  <a:lnTo>
                    <a:pt x="69" y="94"/>
                  </a:lnTo>
                  <a:lnTo>
                    <a:pt x="69" y="94"/>
                  </a:lnTo>
                  <a:close/>
                  <a:moveTo>
                    <a:pt x="221" y="178"/>
                  </a:moveTo>
                  <a:lnTo>
                    <a:pt x="174" y="152"/>
                  </a:lnTo>
                  <a:lnTo>
                    <a:pt x="174" y="152"/>
                  </a:lnTo>
                  <a:lnTo>
                    <a:pt x="158" y="141"/>
                  </a:lnTo>
                  <a:lnTo>
                    <a:pt x="147" y="157"/>
                  </a:lnTo>
                  <a:lnTo>
                    <a:pt x="126" y="178"/>
                  </a:lnTo>
                  <a:lnTo>
                    <a:pt x="121" y="162"/>
                  </a:lnTo>
                  <a:lnTo>
                    <a:pt x="126" y="152"/>
                  </a:lnTo>
                  <a:lnTo>
                    <a:pt x="126" y="152"/>
                  </a:lnTo>
                  <a:lnTo>
                    <a:pt x="116" y="157"/>
                  </a:lnTo>
                  <a:lnTo>
                    <a:pt x="116" y="157"/>
                  </a:lnTo>
                  <a:lnTo>
                    <a:pt x="100" y="152"/>
                  </a:lnTo>
                  <a:lnTo>
                    <a:pt x="105" y="162"/>
                  </a:lnTo>
                  <a:lnTo>
                    <a:pt x="105" y="178"/>
                  </a:lnTo>
                  <a:lnTo>
                    <a:pt x="84" y="157"/>
                  </a:lnTo>
                  <a:lnTo>
                    <a:pt x="74" y="141"/>
                  </a:lnTo>
                  <a:lnTo>
                    <a:pt x="74" y="141"/>
                  </a:lnTo>
                  <a:lnTo>
                    <a:pt x="58" y="152"/>
                  </a:lnTo>
                  <a:lnTo>
                    <a:pt x="11" y="178"/>
                  </a:lnTo>
                  <a:lnTo>
                    <a:pt x="11" y="178"/>
                  </a:lnTo>
                  <a:lnTo>
                    <a:pt x="0" y="183"/>
                  </a:lnTo>
                  <a:lnTo>
                    <a:pt x="0" y="194"/>
                  </a:lnTo>
                  <a:lnTo>
                    <a:pt x="0" y="362"/>
                  </a:lnTo>
                  <a:lnTo>
                    <a:pt x="0" y="362"/>
                  </a:lnTo>
                  <a:lnTo>
                    <a:pt x="6" y="383"/>
                  </a:lnTo>
                  <a:lnTo>
                    <a:pt x="11" y="393"/>
                  </a:lnTo>
                  <a:lnTo>
                    <a:pt x="27" y="404"/>
                  </a:lnTo>
                  <a:lnTo>
                    <a:pt x="42" y="409"/>
                  </a:lnTo>
                  <a:lnTo>
                    <a:pt x="42" y="409"/>
                  </a:lnTo>
                  <a:lnTo>
                    <a:pt x="42" y="608"/>
                  </a:lnTo>
                  <a:lnTo>
                    <a:pt x="42" y="608"/>
                  </a:lnTo>
                  <a:lnTo>
                    <a:pt x="48" y="624"/>
                  </a:lnTo>
                  <a:lnTo>
                    <a:pt x="53" y="634"/>
                  </a:lnTo>
                  <a:lnTo>
                    <a:pt x="63" y="640"/>
                  </a:lnTo>
                  <a:lnTo>
                    <a:pt x="79" y="645"/>
                  </a:lnTo>
                  <a:lnTo>
                    <a:pt x="79" y="645"/>
                  </a:lnTo>
                  <a:lnTo>
                    <a:pt x="95" y="640"/>
                  </a:lnTo>
                  <a:lnTo>
                    <a:pt x="105" y="634"/>
                  </a:lnTo>
                  <a:lnTo>
                    <a:pt x="111" y="624"/>
                  </a:lnTo>
                  <a:lnTo>
                    <a:pt x="116" y="608"/>
                  </a:lnTo>
                  <a:lnTo>
                    <a:pt x="116" y="608"/>
                  </a:lnTo>
                  <a:lnTo>
                    <a:pt x="116" y="624"/>
                  </a:lnTo>
                  <a:lnTo>
                    <a:pt x="126" y="634"/>
                  </a:lnTo>
                  <a:lnTo>
                    <a:pt x="137" y="640"/>
                  </a:lnTo>
                  <a:lnTo>
                    <a:pt x="153" y="645"/>
                  </a:lnTo>
                  <a:lnTo>
                    <a:pt x="153" y="645"/>
                  </a:lnTo>
                  <a:lnTo>
                    <a:pt x="163" y="640"/>
                  </a:lnTo>
                  <a:lnTo>
                    <a:pt x="179" y="634"/>
                  </a:lnTo>
                  <a:lnTo>
                    <a:pt x="184" y="624"/>
                  </a:lnTo>
                  <a:lnTo>
                    <a:pt x="189" y="608"/>
                  </a:lnTo>
                  <a:lnTo>
                    <a:pt x="189" y="409"/>
                  </a:lnTo>
                  <a:lnTo>
                    <a:pt x="189" y="409"/>
                  </a:lnTo>
                  <a:lnTo>
                    <a:pt x="189" y="409"/>
                  </a:lnTo>
                  <a:lnTo>
                    <a:pt x="205" y="404"/>
                  </a:lnTo>
                  <a:lnTo>
                    <a:pt x="215" y="393"/>
                  </a:lnTo>
                  <a:lnTo>
                    <a:pt x="226" y="383"/>
                  </a:lnTo>
                  <a:lnTo>
                    <a:pt x="231" y="362"/>
                  </a:lnTo>
                  <a:lnTo>
                    <a:pt x="231" y="194"/>
                  </a:lnTo>
                  <a:lnTo>
                    <a:pt x="231" y="194"/>
                  </a:lnTo>
                  <a:lnTo>
                    <a:pt x="226" y="183"/>
                  </a:lnTo>
                  <a:lnTo>
                    <a:pt x="221" y="178"/>
                  </a:lnTo>
                  <a:lnTo>
                    <a:pt x="221" y="1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52" name="Freeform 97">
              <a:extLst>
                <a:ext uri="{FF2B5EF4-FFF2-40B4-BE49-F238E27FC236}">
                  <a16:creationId xmlns:a16="http://schemas.microsoft.com/office/drawing/2014/main" id="{0D2FC3EA-BC0D-41D2-AA07-55497389675A}"/>
                </a:ext>
              </a:extLst>
            </p:cNvPr>
            <p:cNvSpPr>
              <a:spLocks/>
            </p:cNvSpPr>
            <p:nvPr/>
          </p:nvSpPr>
          <p:spPr bwMode="auto">
            <a:xfrm>
              <a:off x="3330116" y="3445876"/>
              <a:ext cx="215906" cy="73848"/>
            </a:xfrm>
            <a:custGeom>
              <a:avLst/>
              <a:gdLst>
                <a:gd name="T0" fmla="*/ 53 w 383"/>
                <a:gd name="T1" fmla="*/ 68 h 131"/>
                <a:gd name="T2" fmla="*/ 53 w 383"/>
                <a:gd name="T3" fmla="*/ 68 h 131"/>
                <a:gd name="T4" fmla="*/ 79 w 383"/>
                <a:gd name="T5" fmla="*/ 78 h 131"/>
                <a:gd name="T6" fmla="*/ 105 w 383"/>
                <a:gd name="T7" fmla="*/ 84 h 131"/>
                <a:gd name="T8" fmla="*/ 184 w 383"/>
                <a:gd name="T9" fmla="*/ 89 h 131"/>
                <a:gd name="T10" fmla="*/ 184 w 383"/>
                <a:gd name="T11" fmla="*/ 89 h 131"/>
                <a:gd name="T12" fmla="*/ 247 w 383"/>
                <a:gd name="T13" fmla="*/ 84 h 131"/>
                <a:gd name="T14" fmla="*/ 299 w 383"/>
                <a:gd name="T15" fmla="*/ 78 h 131"/>
                <a:gd name="T16" fmla="*/ 331 w 383"/>
                <a:gd name="T17" fmla="*/ 63 h 131"/>
                <a:gd name="T18" fmla="*/ 341 w 383"/>
                <a:gd name="T19" fmla="*/ 52 h 131"/>
                <a:gd name="T20" fmla="*/ 346 w 383"/>
                <a:gd name="T21" fmla="*/ 47 h 131"/>
                <a:gd name="T22" fmla="*/ 346 w 383"/>
                <a:gd name="T23" fmla="*/ 47 h 131"/>
                <a:gd name="T24" fmla="*/ 341 w 383"/>
                <a:gd name="T25" fmla="*/ 36 h 131"/>
                <a:gd name="T26" fmla="*/ 325 w 383"/>
                <a:gd name="T27" fmla="*/ 26 h 131"/>
                <a:gd name="T28" fmla="*/ 304 w 383"/>
                <a:gd name="T29" fmla="*/ 15 h 131"/>
                <a:gd name="T30" fmla="*/ 278 w 383"/>
                <a:gd name="T31" fmla="*/ 10 h 131"/>
                <a:gd name="T32" fmla="*/ 278 w 383"/>
                <a:gd name="T33" fmla="*/ 0 h 131"/>
                <a:gd name="T34" fmla="*/ 278 w 383"/>
                <a:gd name="T35" fmla="*/ 0 h 131"/>
                <a:gd name="T36" fmla="*/ 320 w 383"/>
                <a:gd name="T37" fmla="*/ 10 h 131"/>
                <a:gd name="T38" fmla="*/ 352 w 383"/>
                <a:gd name="T39" fmla="*/ 21 h 131"/>
                <a:gd name="T40" fmla="*/ 372 w 383"/>
                <a:gd name="T41" fmla="*/ 42 h 131"/>
                <a:gd name="T42" fmla="*/ 378 w 383"/>
                <a:gd name="T43" fmla="*/ 52 h 131"/>
                <a:gd name="T44" fmla="*/ 383 w 383"/>
                <a:gd name="T45" fmla="*/ 63 h 131"/>
                <a:gd name="T46" fmla="*/ 383 w 383"/>
                <a:gd name="T47" fmla="*/ 63 h 131"/>
                <a:gd name="T48" fmla="*/ 378 w 383"/>
                <a:gd name="T49" fmla="*/ 73 h 131"/>
                <a:gd name="T50" fmla="*/ 367 w 383"/>
                <a:gd name="T51" fmla="*/ 89 h 131"/>
                <a:gd name="T52" fmla="*/ 346 w 383"/>
                <a:gd name="T53" fmla="*/ 99 h 131"/>
                <a:gd name="T54" fmla="*/ 325 w 383"/>
                <a:gd name="T55" fmla="*/ 110 h 131"/>
                <a:gd name="T56" fmla="*/ 262 w 383"/>
                <a:gd name="T57" fmla="*/ 126 h 131"/>
                <a:gd name="T58" fmla="*/ 184 w 383"/>
                <a:gd name="T59" fmla="*/ 131 h 131"/>
                <a:gd name="T60" fmla="*/ 184 w 383"/>
                <a:gd name="T61" fmla="*/ 131 h 131"/>
                <a:gd name="T62" fmla="*/ 126 w 383"/>
                <a:gd name="T63" fmla="*/ 131 h 131"/>
                <a:gd name="T64" fmla="*/ 74 w 383"/>
                <a:gd name="T65" fmla="*/ 120 h 131"/>
                <a:gd name="T66" fmla="*/ 32 w 383"/>
                <a:gd name="T67" fmla="*/ 105 h 131"/>
                <a:gd name="T68" fmla="*/ 0 w 383"/>
                <a:gd name="T69" fmla="*/ 89 h 131"/>
                <a:gd name="T70" fmla="*/ 0 w 383"/>
                <a:gd name="T71" fmla="*/ 89 h 131"/>
                <a:gd name="T72" fmla="*/ 53 w 383"/>
                <a:gd name="T73" fmla="*/ 68 h 131"/>
                <a:gd name="T74" fmla="*/ 53 w 383"/>
                <a:gd name="T75" fmla="*/ 68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3" h="131">
                  <a:moveTo>
                    <a:pt x="53" y="68"/>
                  </a:moveTo>
                  <a:lnTo>
                    <a:pt x="53" y="68"/>
                  </a:lnTo>
                  <a:lnTo>
                    <a:pt x="79" y="78"/>
                  </a:lnTo>
                  <a:lnTo>
                    <a:pt x="105" y="84"/>
                  </a:lnTo>
                  <a:lnTo>
                    <a:pt x="184" y="89"/>
                  </a:lnTo>
                  <a:lnTo>
                    <a:pt x="184" y="89"/>
                  </a:lnTo>
                  <a:lnTo>
                    <a:pt x="247" y="84"/>
                  </a:lnTo>
                  <a:lnTo>
                    <a:pt x="299" y="78"/>
                  </a:lnTo>
                  <a:lnTo>
                    <a:pt x="331" y="63"/>
                  </a:lnTo>
                  <a:lnTo>
                    <a:pt x="341" y="52"/>
                  </a:lnTo>
                  <a:lnTo>
                    <a:pt x="346" y="47"/>
                  </a:lnTo>
                  <a:lnTo>
                    <a:pt x="346" y="47"/>
                  </a:lnTo>
                  <a:lnTo>
                    <a:pt x="341" y="36"/>
                  </a:lnTo>
                  <a:lnTo>
                    <a:pt x="325" y="26"/>
                  </a:lnTo>
                  <a:lnTo>
                    <a:pt x="304" y="15"/>
                  </a:lnTo>
                  <a:lnTo>
                    <a:pt x="278" y="10"/>
                  </a:lnTo>
                  <a:lnTo>
                    <a:pt x="278" y="0"/>
                  </a:lnTo>
                  <a:lnTo>
                    <a:pt x="278" y="0"/>
                  </a:lnTo>
                  <a:lnTo>
                    <a:pt x="320" y="10"/>
                  </a:lnTo>
                  <a:lnTo>
                    <a:pt x="352" y="21"/>
                  </a:lnTo>
                  <a:lnTo>
                    <a:pt x="372" y="42"/>
                  </a:lnTo>
                  <a:lnTo>
                    <a:pt x="378" y="52"/>
                  </a:lnTo>
                  <a:lnTo>
                    <a:pt x="383" y="63"/>
                  </a:lnTo>
                  <a:lnTo>
                    <a:pt x="383" y="63"/>
                  </a:lnTo>
                  <a:lnTo>
                    <a:pt x="378" y="73"/>
                  </a:lnTo>
                  <a:lnTo>
                    <a:pt x="367" y="89"/>
                  </a:lnTo>
                  <a:lnTo>
                    <a:pt x="346" y="99"/>
                  </a:lnTo>
                  <a:lnTo>
                    <a:pt x="325" y="110"/>
                  </a:lnTo>
                  <a:lnTo>
                    <a:pt x="262" y="126"/>
                  </a:lnTo>
                  <a:lnTo>
                    <a:pt x="184" y="131"/>
                  </a:lnTo>
                  <a:lnTo>
                    <a:pt x="184" y="131"/>
                  </a:lnTo>
                  <a:lnTo>
                    <a:pt x="126" y="131"/>
                  </a:lnTo>
                  <a:lnTo>
                    <a:pt x="74" y="120"/>
                  </a:lnTo>
                  <a:lnTo>
                    <a:pt x="32" y="105"/>
                  </a:lnTo>
                  <a:lnTo>
                    <a:pt x="0" y="89"/>
                  </a:lnTo>
                  <a:lnTo>
                    <a:pt x="0" y="89"/>
                  </a:lnTo>
                  <a:lnTo>
                    <a:pt x="53" y="68"/>
                  </a:lnTo>
                  <a:lnTo>
                    <a:pt x="53" y="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53" name="Freeform 98">
              <a:extLst>
                <a:ext uri="{FF2B5EF4-FFF2-40B4-BE49-F238E27FC236}">
                  <a16:creationId xmlns:a16="http://schemas.microsoft.com/office/drawing/2014/main" id="{003B0AB8-B8EB-4B30-9B79-6ADB8860BA28}"/>
                </a:ext>
              </a:extLst>
            </p:cNvPr>
            <p:cNvSpPr>
              <a:spLocks noEditPoints="1"/>
            </p:cNvSpPr>
            <p:nvPr/>
          </p:nvSpPr>
          <p:spPr bwMode="auto">
            <a:xfrm>
              <a:off x="3368450" y="3120607"/>
              <a:ext cx="130220" cy="363602"/>
            </a:xfrm>
            <a:custGeom>
              <a:avLst/>
              <a:gdLst>
                <a:gd name="T0" fmla="*/ 168 w 231"/>
                <a:gd name="T1" fmla="*/ 94 h 645"/>
                <a:gd name="T2" fmla="*/ 173 w 231"/>
                <a:gd name="T3" fmla="*/ 68 h 645"/>
                <a:gd name="T4" fmla="*/ 168 w 231"/>
                <a:gd name="T5" fmla="*/ 68 h 645"/>
                <a:gd name="T6" fmla="*/ 168 w 231"/>
                <a:gd name="T7" fmla="*/ 63 h 645"/>
                <a:gd name="T8" fmla="*/ 168 w 231"/>
                <a:gd name="T9" fmla="*/ 63 h 645"/>
                <a:gd name="T10" fmla="*/ 158 w 231"/>
                <a:gd name="T11" fmla="*/ 15 h 645"/>
                <a:gd name="T12" fmla="*/ 116 w 231"/>
                <a:gd name="T13" fmla="*/ 0 h 645"/>
                <a:gd name="T14" fmla="*/ 89 w 231"/>
                <a:gd name="T15" fmla="*/ 5 h 645"/>
                <a:gd name="T16" fmla="*/ 63 w 231"/>
                <a:gd name="T17" fmla="*/ 36 h 645"/>
                <a:gd name="T18" fmla="*/ 63 w 231"/>
                <a:gd name="T19" fmla="*/ 63 h 645"/>
                <a:gd name="T20" fmla="*/ 63 w 231"/>
                <a:gd name="T21" fmla="*/ 63 h 645"/>
                <a:gd name="T22" fmla="*/ 58 w 231"/>
                <a:gd name="T23" fmla="*/ 68 h 645"/>
                <a:gd name="T24" fmla="*/ 58 w 231"/>
                <a:gd name="T25" fmla="*/ 84 h 645"/>
                <a:gd name="T26" fmla="*/ 63 w 231"/>
                <a:gd name="T27" fmla="*/ 94 h 645"/>
                <a:gd name="T28" fmla="*/ 68 w 231"/>
                <a:gd name="T29" fmla="*/ 94 h 645"/>
                <a:gd name="T30" fmla="*/ 74 w 231"/>
                <a:gd name="T31" fmla="*/ 105 h 645"/>
                <a:gd name="T32" fmla="*/ 95 w 231"/>
                <a:gd name="T33" fmla="*/ 136 h 645"/>
                <a:gd name="T34" fmla="*/ 116 w 231"/>
                <a:gd name="T35" fmla="*/ 141 h 645"/>
                <a:gd name="T36" fmla="*/ 137 w 231"/>
                <a:gd name="T37" fmla="*/ 136 h 645"/>
                <a:gd name="T38" fmla="*/ 158 w 231"/>
                <a:gd name="T39" fmla="*/ 105 h 645"/>
                <a:gd name="T40" fmla="*/ 163 w 231"/>
                <a:gd name="T41" fmla="*/ 94 h 645"/>
                <a:gd name="T42" fmla="*/ 168 w 231"/>
                <a:gd name="T43" fmla="*/ 94 h 645"/>
                <a:gd name="T44" fmla="*/ 0 w 231"/>
                <a:gd name="T45" fmla="*/ 194 h 645"/>
                <a:gd name="T46" fmla="*/ 0 w 231"/>
                <a:gd name="T47" fmla="*/ 362 h 645"/>
                <a:gd name="T48" fmla="*/ 11 w 231"/>
                <a:gd name="T49" fmla="*/ 393 h 645"/>
                <a:gd name="T50" fmla="*/ 42 w 231"/>
                <a:gd name="T51" fmla="*/ 409 h 645"/>
                <a:gd name="T52" fmla="*/ 42 w 231"/>
                <a:gd name="T53" fmla="*/ 608 h 645"/>
                <a:gd name="T54" fmla="*/ 47 w 231"/>
                <a:gd name="T55" fmla="*/ 624 h 645"/>
                <a:gd name="T56" fmla="*/ 63 w 231"/>
                <a:gd name="T57" fmla="*/ 640 h 645"/>
                <a:gd name="T58" fmla="*/ 79 w 231"/>
                <a:gd name="T59" fmla="*/ 645 h 645"/>
                <a:gd name="T60" fmla="*/ 105 w 231"/>
                <a:gd name="T61" fmla="*/ 634 h 645"/>
                <a:gd name="T62" fmla="*/ 116 w 231"/>
                <a:gd name="T63" fmla="*/ 608 h 645"/>
                <a:gd name="T64" fmla="*/ 116 w 231"/>
                <a:gd name="T65" fmla="*/ 624 h 645"/>
                <a:gd name="T66" fmla="*/ 137 w 231"/>
                <a:gd name="T67" fmla="*/ 640 h 645"/>
                <a:gd name="T68" fmla="*/ 152 w 231"/>
                <a:gd name="T69" fmla="*/ 645 h 645"/>
                <a:gd name="T70" fmla="*/ 179 w 231"/>
                <a:gd name="T71" fmla="*/ 634 h 645"/>
                <a:gd name="T72" fmla="*/ 189 w 231"/>
                <a:gd name="T73" fmla="*/ 608 h 645"/>
                <a:gd name="T74" fmla="*/ 189 w 231"/>
                <a:gd name="T75" fmla="*/ 409 h 645"/>
                <a:gd name="T76" fmla="*/ 205 w 231"/>
                <a:gd name="T77" fmla="*/ 404 h 645"/>
                <a:gd name="T78" fmla="*/ 226 w 231"/>
                <a:gd name="T79" fmla="*/ 383 h 645"/>
                <a:gd name="T80" fmla="*/ 231 w 231"/>
                <a:gd name="T81" fmla="*/ 194 h 645"/>
                <a:gd name="T82" fmla="*/ 226 w 231"/>
                <a:gd name="T83" fmla="*/ 183 h 645"/>
                <a:gd name="T84" fmla="*/ 173 w 231"/>
                <a:gd name="T85" fmla="*/ 152 h 645"/>
                <a:gd name="T86" fmla="*/ 158 w 231"/>
                <a:gd name="T87" fmla="*/ 141 h 645"/>
                <a:gd name="T88" fmla="*/ 126 w 231"/>
                <a:gd name="T89" fmla="*/ 178 h 645"/>
                <a:gd name="T90" fmla="*/ 126 w 231"/>
                <a:gd name="T91" fmla="*/ 152 h 645"/>
                <a:gd name="T92" fmla="*/ 116 w 231"/>
                <a:gd name="T93" fmla="*/ 157 h 645"/>
                <a:gd name="T94" fmla="*/ 100 w 231"/>
                <a:gd name="T95" fmla="*/ 152 h 645"/>
                <a:gd name="T96" fmla="*/ 105 w 231"/>
                <a:gd name="T97" fmla="*/ 178 h 645"/>
                <a:gd name="T98" fmla="*/ 74 w 231"/>
                <a:gd name="T99" fmla="*/ 141 h 645"/>
                <a:gd name="T100" fmla="*/ 58 w 231"/>
                <a:gd name="T101" fmla="*/ 152 h 645"/>
                <a:gd name="T102" fmla="*/ 11 w 231"/>
                <a:gd name="T103" fmla="*/ 178 h 645"/>
                <a:gd name="T104" fmla="*/ 0 w 231"/>
                <a:gd name="T105" fmla="*/ 194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31" h="645">
                  <a:moveTo>
                    <a:pt x="168" y="94"/>
                  </a:moveTo>
                  <a:lnTo>
                    <a:pt x="168" y="94"/>
                  </a:lnTo>
                  <a:lnTo>
                    <a:pt x="173" y="84"/>
                  </a:lnTo>
                  <a:lnTo>
                    <a:pt x="173" y="68"/>
                  </a:lnTo>
                  <a:lnTo>
                    <a:pt x="173" y="68"/>
                  </a:lnTo>
                  <a:lnTo>
                    <a:pt x="168" y="68"/>
                  </a:lnTo>
                  <a:lnTo>
                    <a:pt x="168" y="63"/>
                  </a:lnTo>
                  <a:lnTo>
                    <a:pt x="168" y="63"/>
                  </a:lnTo>
                  <a:lnTo>
                    <a:pt x="168" y="63"/>
                  </a:lnTo>
                  <a:lnTo>
                    <a:pt x="168" y="63"/>
                  </a:lnTo>
                  <a:lnTo>
                    <a:pt x="168" y="36"/>
                  </a:lnTo>
                  <a:lnTo>
                    <a:pt x="158" y="15"/>
                  </a:lnTo>
                  <a:lnTo>
                    <a:pt x="142" y="5"/>
                  </a:lnTo>
                  <a:lnTo>
                    <a:pt x="116" y="0"/>
                  </a:lnTo>
                  <a:lnTo>
                    <a:pt x="116" y="0"/>
                  </a:lnTo>
                  <a:lnTo>
                    <a:pt x="89" y="5"/>
                  </a:lnTo>
                  <a:lnTo>
                    <a:pt x="74" y="15"/>
                  </a:lnTo>
                  <a:lnTo>
                    <a:pt x="63" y="36"/>
                  </a:lnTo>
                  <a:lnTo>
                    <a:pt x="63" y="63"/>
                  </a:lnTo>
                  <a:lnTo>
                    <a:pt x="63" y="63"/>
                  </a:lnTo>
                  <a:lnTo>
                    <a:pt x="63" y="63"/>
                  </a:lnTo>
                  <a:lnTo>
                    <a:pt x="63" y="63"/>
                  </a:lnTo>
                  <a:lnTo>
                    <a:pt x="58" y="68"/>
                  </a:lnTo>
                  <a:lnTo>
                    <a:pt x="58" y="68"/>
                  </a:lnTo>
                  <a:lnTo>
                    <a:pt x="58" y="68"/>
                  </a:lnTo>
                  <a:lnTo>
                    <a:pt x="58" y="84"/>
                  </a:lnTo>
                  <a:lnTo>
                    <a:pt x="63" y="94"/>
                  </a:lnTo>
                  <a:lnTo>
                    <a:pt x="63" y="94"/>
                  </a:lnTo>
                  <a:lnTo>
                    <a:pt x="68" y="94"/>
                  </a:lnTo>
                  <a:lnTo>
                    <a:pt x="68" y="94"/>
                  </a:lnTo>
                  <a:lnTo>
                    <a:pt x="74" y="105"/>
                  </a:lnTo>
                  <a:lnTo>
                    <a:pt x="74" y="105"/>
                  </a:lnTo>
                  <a:lnTo>
                    <a:pt x="84" y="120"/>
                  </a:lnTo>
                  <a:lnTo>
                    <a:pt x="95" y="136"/>
                  </a:lnTo>
                  <a:lnTo>
                    <a:pt x="105" y="141"/>
                  </a:lnTo>
                  <a:lnTo>
                    <a:pt x="116" y="141"/>
                  </a:lnTo>
                  <a:lnTo>
                    <a:pt x="126" y="141"/>
                  </a:lnTo>
                  <a:lnTo>
                    <a:pt x="137" y="136"/>
                  </a:lnTo>
                  <a:lnTo>
                    <a:pt x="147" y="120"/>
                  </a:lnTo>
                  <a:lnTo>
                    <a:pt x="158" y="105"/>
                  </a:lnTo>
                  <a:lnTo>
                    <a:pt x="158" y="105"/>
                  </a:lnTo>
                  <a:lnTo>
                    <a:pt x="163" y="94"/>
                  </a:lnTo>
                  <a:lnTo>
                    <a:pt x="163" y="94"/>
                  </a:lnTo>
                  <a:lnTo>
                    <a:pt x="168" y="94"/>
                  </a:lnTo>
                  <a:lnTo>
                    <a:pt x="168" y="94"/>
                  </a:lnTo>
                  <a:close/>
                  <a:moveTo>
                    <a:pt x="0" y="194"/>
                  </a:moveTo>
                  <a:lnTo>
                    <a:pt x="0" y="362"/>
                  </a:lnTo>
                  <a:lnTo>
                    <a:pt x="0" y="362"/>
                  </a:lnTo>
                  <a:lnTo>
                    <a:pt x="6" y="383"/>
                  </a:lnTo>
                  <a:lnTo>
                    <a:pt x="11" y="393"/>
                  </a:lnTo>
                  <a:lnTo>
                    <a:pt x="26" y="404"/>
                  </a:lnTo>
                  <a:lnTo>
                    <a:pt x="42" y="409"/>
                  </a:lnTo>
                  <a:lnTo>
                    <a:pt x="42" y="409"/>
                  </a:lnTo>
                  <a:lnTo>
                    <a:pt x="42" y="608"/>
                  </a:lnTo>
                  <a:lnTo>
                    <a:pt x="42" y="608"/>
                  </a:lnTo>
                  <a:lnTo>
                    <a:pt x="47" y="624"/>
                  </a:lnTo>
                  <a:lnTo>
                    <a:pt x="53" y="634"/>
                  </a:lnTo>
                  <a:lnTo>
                    <a:pt x="63" y="640"/>
                  </a:lnTo>
                  <a:lnTo>
                    <a:pt x="79" y="645"/>
                  </a:lnTo>
                  <a:lnTo>
                    <a:pt x="79" y="645"/>
                  </a:lnTo>
                  <a:lnTo>
                    <a:pt x="95" y="640"/>
                  </a:lnTo>
                  <a:lnTo>
                    <a:pt x="105" y="634"/>
                  </a:lnTo>
                  <a:lnTo>
                    <a:pt x="110" y="624"/>
                  </a:lnTo>
                  <a:lnTo>
                    <a:pt x="116" y="608"/>
                  </a:lnTo>
                  <a:lnTo>
                    <a:pt x="116" y="608"/>
                  </a:lnTo>
                  <a:lnTo>
                    <a:pt x="116" y="624"/>
                  </a:lnTo>
                  <a:lnTo>
                    <a:pt x="126" y="634"/>
                  </a:lnTo>
                  <a:lnTo>
                    <a:pt x="137" y="640"/>
                  </a:lnTo>
                  <a:lnTo>
                    <a:pt x="152" y="645"/>
                  </a:lnTo>
                  <a:lnTo>
                    <a:pt x="152" y="645"/>
                  </a:lnTo>
                  <a:lnTo>
                    <a:pt x="168" y="640"/>
                  </a:lnTo>
                  <a:lnTo>
                    <a:pt x="179" y="634"/>
                  </a:lnTo>
                  <a:lnTo>
                    <a:pt x="184" y="624"/>
                  </a:lnTo>
                  <a:lnTo>
                    <a:pt x="189" y="608"/>
                  </a:lnTo>
                  <a:lnTo>
                    <a:pt x="189" y="409"/>
                  </a:lnTo>
                  <a:lnTo>
                    <a:pt x="189" y="409"/>
                  </a:lnTo>
                  <a:lnTo>
                    <a:pt x="189" y="409"/>
                  </a:lnTo>
                  <a:lnTo>
                    <a:pt x="205" y="404"/>
                  </a:lnTo>
                  <a:lnTo>
                    <a:pt x="215" y="393"/>
                  </a:lnTo>
                  <a:lnTo>
                    <a:pt x="226" y="383"/>
                  </a:lnTo>
                  <a:lnTo>
                    <a:pt x="231" y="362"/>
                  </a:lnTo>
                  <a:lnTo>
                    <a:pt x="231" y="194"/>
                  </a:lnTo>
                  <a:lnTo>
                    <a:pt x="231" y="194"/>
                  </a:lnTo>
                  <a:lnTo>
                    <a:pt x="226" y="183"/>
                  </a:lnTo>
                  <a:lnTo>
                    <a:pt x="221" y="178"/>
                  </a:lnTo>
                  <a:lnTo>
                    <a:pt x="173" y="152"/>
                  </a:lnTo>
                  <a:lnTo>
                    <a:pt x="173" y="152"/>
                  </a:lnTo>
                  <a:lnTo>
                    <a:pt x="158" y="141"/>
                  </a:lnTo>
                  <a:lnTo>
                    <a:pt x="147" y="157"/>
                  </a:lnTo>
                  <a:lnTo>
                    <a:pt x="126" y="178"/>
                  </a:lnTo>
                  <a:lnTo>
                    <a:pt x="121" y="162"/>
                  </a:lnTo>
                  <a:lnTo>
                    <a:pt x="126" y="152"/>
                  </a:lnTo>
                  <a:lnTo>
                    <a:pt x="126" y="152"/>
                  </a:lnTo>
                  <a:lnTo>
                    <a:pt x="116" y="157"/>
                  </a:lnTo>
                  <a:lnTo>
                    <a:pt x="116" y="157"/>
                  </a:lnTo>
                  <a:lnTo>
                    <a:pt x="100" y="152"/>
                  </a:lnTo>
                  <a:lnTo>
                    <a:pt x="105" y="162"/>
                  </a:lnTo>
                  <a:lnTo>
                    <a:pt x="105" y="178"/>
                  </a:lnTo>
                  <a:lnTo>
                    <a:pt x="84" y="157"/>
                  </a:lnTo>
                  <a:lnTo>
                    <a:pt x="74" y="141"/>
                  </a:lnTo>
                  <a:lnTo>
                    <a:pt x="74" y="141"/>
                  </a:lnTo>
                  <a:lnTo>
                    <a:pt x="58" y="152"/>
                  </a:lnTo>
                  <a:lnTo>
                    <a:pt x="11" y="178"/>
                  </a:lnTo>
                  <a:lnTo>
                    <a:pt x="11" y="178"/>
                  </a:lnTo>
                  <a:lnTo>
                    <a:pt x="6" y="183"/>
                  </a:lnTo>
                  <a:lnTo>
                    <a:pt x="0" y="194"/>
                  </a:lnTo>
                  <a:lnTo>
                    <a:pt x="0"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grpSp>
      <p:grpSp>
        <p:nvGrpSpPr>
          <p:cNvPr id="54" name="Group 53">
            <a:extLst>
              <a:ext uri="{FF2B5EF4-FFF2-40B4-BE49-F238E27FC236}">
                <a16:creationId xmlns:a16="http://schemas.microsoft.com/office/drawing/2014/main" id="{62076089-DB3D-4E1F-BD84-58C90081AD3A}"/>
              </a:ext>
            </a:extLst>
          </p:cNvPr>
          <p:cNvGrpSpPr/>
          <p:nvPr/>
        </p:nvGrpSpPr>
        <p:grpSpPr>
          <a:xfrm>
            <a:off x="10648738" y="2098499"/>
            <a:ext cx="441443" cy="510134"/>
            <a:chOff x="2025656" y="2066723"/>
            <a:chExt cx="441443" cy="510134"/>
          </a:xfrm>
          <a:solidFill>
            <a:srgbClr val="012169">
              <a:lumMod val="75000"/>
            </a:srgbClr>
          </a:solidFill>
        </p:grpSpPr>
        <p:sp>
          <p:nvSpPr>
            <p:cNvPr id="55" name="Freeform 72">
              <a:extLst>
                <a:ext uri="{FF2B5EF4-FFF2-40B4-BE49-F238E27FC236}">
                  <a16:creationId xmlns:a16="http://schemas.microsoft.com/office/drawing/2014/main" id="{5D574B68-AB97-4532-9E4D-E45D2D31380E}"/>
                </a:ext>
              </a:extLst>
            </p:cNvPr>
            <p:cNvSpPr>
              <a:spLocks noEditPoints="1"/>
            </p:cNvSpPr>
            <p:nvPr/>
          </p:nvSpPr>
          <p:spPr bwMode="auto">
            <a:xfrm>
              <a:off x="2025656" y="2066723"/>
              <a:ext cx="441443" cy="510134"/>
            </a:xfrm>
            <a:custGeom>
              <a:avLst/>
              <a:gdLst>
                <a:gd name="T0" fmla="*/ 125 w 129"/>
                <a:gd name="T1" fmla="*/ 74 h 149"/>
                <a:gd name="T2" fmla="*/ 109 w 129"/>
                <a:gd name="T3" fmla="*/ 52 h 149"/>
                <a:gd name="T4" fmla="*/ 109 w 129"/>
                <a:gd name="T5" fmla="*/ 51 h 149"/>
                <a:gd name="T6" fmla="*/ 110 w 129"/>
                <a:gd name="T7" fmla="*/ 50 h 149"/>
                <a:gd name="T8" fmla="*/ 110 w 129"/>
                <a:gd name="T9" fmla="*/ 47 h 149"/>
                <a:gd name="T10" fmla="*/ 101 w 129"/>
                <a:gd name="T11" fmla="*/ 21 h 149"/>
                <a:gd name="T12" fmla="*/ 56 w 129"/>
                <a:gd name="T13" fmla="*/ 0 h 149"/>
                <a:gd name="T14" fmla="*/ 1 w 129"/>
                <a:gd name="T15" fmla="*/ 59 h 149"/>
                <a:gd name="T16" fmla="*/ 24 w 129"/>
                <a:gd name="T17" fmla="*/ 115 h 149"/>
                <a:gd name="T18" fmla="*/ 25 w 129"/>
                <a:gd name="T19" fmla="*/ 149 h 149"/>
                <a:gd name="T20" fmla="*/ 82 w 129"/>
                <a:gd name="T21" fmla="*/ 149 h 149"/>
                <a:gd name="T22" fmla="*/ 91 w 129"/>
                <a:gd name="T23" fmla="*/ 121 h 149"/>
                <a:gd name="T24" fmla="*/ 112 w 129"/>
                <a:gd name="T25" fmla="*/ 111 h 149"/>
                <a:gd name="T26" fmla="*/ 113 w 129"/>
                <a:gd name="T27" fmla="*/ 100 h 149"/>
                <a:gd name="T28" fmla="*/ 113 w 129"/>
                <a:gd name="T29" fmla="*/ 93 h 149"/>
                <a:gd name="T30" fmla="*/ 113 w 129"/>
                <a:gd name="T31" fmla="*/ 82 h 149"/>
                <a:gd name="T32" fmla="*/ 125 w 129"/>
                <a:gd name="T33" fmla="*/ 74 h 149"/>
                <a:gd name="T34" fmla="*/ 55 w 129"/>
                <a:gd name="T35" fmla="*/ 102 h 149"/>
                <a:gd name="T36" fmla="*/ 8 w 129"/>
                <a:gd name="T37" fmla="*/ 55 h 149"/>
                <a:gd name="T38" fmla="*/ 55 w 129"/>
                <a:gd name="T39" fmla="*/ 8 h 149"/>
                <a:gd name="T40" fmla="*/ 102 w 129"/>
                <a:gd name="T41" fmla="*/ 55 h 149"/>
                <a:gd name="T42" fmla="*/ 55 w 129"/>
                <a:gd name="T43" fmla="*/ 10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9" h="149">
                  <a:moveTo>
                    <a:pt x="125" y="74"/>
                  </a:moveTo>
                  <a:cubicBezTo>
                    <a:pt x="121" y="69"/>
                    <a:pt x="111" y="55"/>
                    <a:pt x="109" y="52"/>
                  </a:cubicBezTo>
                  <a:cubicBezTo>
                    <a:pt x="109" y="52"/>
                    <a:pt x="109" y="52"/>
                    <a:pt x="109" y="51"/>
                  </a:cubicBezTo>
                  <a:cubicBezTo>
                    <a:pt x="109" y="51"/>
                    <a:pt x="109" y="51"/>
                    <a:pt x="110" y="50"/>
                  </a:cubicBezTo>
                  <a:cubicBezTo>
                    <a:pt x="110" y="49"/>
                    <a:pt x="110" y="48"/>
                    <a:pt x="110" y="47"/>
                  </a:cubicBezTo>
                  <a:cubicBezTo>
                    <a:pt x="110" y="37"/>
                    <a:pt x="107" y="28"/>
                    <a:pt x="101" y="21"/>
                  </a:cubicBezTo>
                  <a:cubicBezTo>
                    <a:pt x="90" y="6"/>
                    <a:pt x="72" y="0"/>
                    <a:pt x="56" y="0"/>
                  </a:cubicBezTo>
                  <a:cubicBezTo>
                    <a:pt x="23" y="0"/>
                    <a:pt x="0" y="22"/>
                    <a:pt x="1" y="59"/>
                  </a:cubicBezTo>
                  <a:cubicBezTo>
                    <a:pt x="2" y="100"/>
                    <a:pt x="24" y="115"/>
                    <a:pt x="24" y="115"/>
                  </a:cubicBezTo>
                  <a:cubicBezTo>
                    <a:pt x="25" y="149"/>
                    <a:pt x="25" y="149"/>
                    <a:pt x="25" y="149"/>
                  </a:cubicBezTo>
                  <a:cubicBezTo>
                    <a:pt x="31" y="149"/>
                    <a:pt x="82" y="149"/>
                    <a:pt x="82" y="149"/>
                  </a:cubicBezTo>
                  <a:cubicBezTo>
                    <a:pt x="82" y="149"/>
                    <a:pt x="77" y="120"/>
                    <a:pt x="91" y="121"/>
                  </a:cubicBezTo>
                  <a:cubicBezTo>
                    <a:pt x="107" y="122"/>
                    <a:pt x="113" y="119"/>
                    <a:pt x="112" y="111"/>
                  </a:cubicBezTo>
                  <a:cubicBezTo>
                    <a:pt x="111" y="104"/>
                    <a:pt x="110" y="102"/>
                    <a:pt x="113" y="100"/>
                  </a:cubicBezTo>
                  <a:cubicBezTo>
                    <a:pt x="118" y="97"/>
                    <a:pt x="113" y="93"/>
                    <a:pt x="113" y="93"/>
                  </a:cubicBezTo>
                  <a:cubicBezTo>
                    <a:pt x="120" y="89"/>
                    <a:pt x="110" y="85"/>
                    <a:pt x="113" y="82"/>
                  </a:cubicBezTo>
                  <a:cubicBezTo>
                    <a:pt x="114" y="80"/>
                    <a:pt x="129" y="80"/>
                    <a:pt x="125" y="74"/>
                  </a:cubicBezTo>
                  <a:close/>
                  <a:moveTo>
                    <a:pt x="55" y="102"/>
                  </a:moveTo>
                  <a:cubicBezTo>
                    <a:pt x="29" y="102"/>
                    <a:pt x="8" y="81"/>
                    <a:pt x="8" y="55"/>
                  </a:cubicBezTo>
                  <a:cubicBezTo>
                    <a:pt x="8" y="29"/>
                    <a:pt x="29" y="8"/>
                    <a:pt x="55" y="8"/>
                  </a:cubicBezTo>
                  <a:cubicBezTo>
                    <a:pt x="81" y="8"/>
                    <a:pt x="102" y="29"/>
                    <a:pt x="102" y="55"/>
                  </a:cubicBezTo>
                  <a:cubicBezTo>
                    <a:pt x="102" y="81"/>
                    <a:pt x="81" y="102"/>
                    <a:pt x="55" y="10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a:ln>
                  <a:noFill/>
                </a:ln>
                <a:solidFill>
                  <a:srgbClr val="000000"/>
                </a:solidFill>
                <a:effectLst/>
                <a:uLnTx/>
                <a:uFillTx/>
              </a:endParaRPr>
            </a:p>
          </p:txBody>
        </p:sp>
        <p:sp>
          <p:nvSpPr>
            <p:cNvPr id="56" name="Freeform 73">
              <a:extLst>
                <a:ext uri="{FF2B5EF4-FFF2-40B4-BE49-F238E27FC236}">
                  <a16:creationId xmlns:a16="http://schemas.microsoft.com/office/drawing/2014/main" id="{61FBA5D7-786C-47BD-9F2A-5E34A0731A5F}"/>
                </a:ext>
              </a:extLst>
            </p:cNvPr>
            <p:cNvSpPr>
              <a:spLocks noEditPoints="1"/>
            </p:cNvSpPr>
            <p:nvPr/>
          </p:nvSpPr>
          <p:spPr bwMode="auto">
            <a:xfrm>
              <a:off x="2139019" y="2156069"/>
              <a:ext cx="136420" cy="140263"/>
            </a:xfrm>
            <a:custGeom>
              <a:avLst/>
              <a:gdLst>
                <a:gd name="T0" fmla="*/ 20 w 40"/>
                <a:gd name="T1" fmla="*/ 0 h 41"/>
                <a:gd name="T2" fmla="*/ 7 w 40"/>
                <a:gd name="T3" fmla="*/ 30 h 41"/>
                <a:gd name="T4" fmla="*/ 12 w 40"/>
                <a:gd name="T5" fmla="*/ 41 h 41"/>
                <a:gd name="T6" fmla="*/ 20 w 40"/>
                <a:gd name="T7" fmla="*/ 41 h 41"/>
                <a:gd name="T8" fmla="*/ 29 w 40"/>
                <a:gd name="T9" fmla="*/ 41 h 41"/>
                <a:gd name="T10" fmla="*/ 33 w 40"/>
                <a:gd name="T11" fmla="*/ 30 h 41"/>
                <a:gd name="T12" fmla="*/ 20 w 40"/>
                <a:gd name="T13" fmla="*/ 0 h 41"/>
                <a:gd name="T14" fmla="*/ 26 w 40"/>
                <a:gd name="T15" fmla="*/ 37 h 41"/>
                <a:gd name="T16" fmla="*/ 20 w 40"/>
                <a:gd name="T17" fmla="*/ 37 h 41"/>
                <a:gd name="T18" fmla="*/ 20 w 40"/>
                <a:gd name="T19" fmla="*/ 37 h 41"/>
                <a:gd name="T20" fmla="*/ 20 w 40"/>
                <a:gd name="T21" fmla="*/ 37 h 41"/>
                <a:gd name="T22" fmla="*/ 15 w 40"/>
                <a:gd name="T23" fmla="*/ 37 h 41"/>
                <a:gd name="T24" fmla="*/ 10 w 40"/>
                <a:gd name="T25" fmla="*/ 27 h 41"/>
                <a:gd name="T26" fmla="*/ 8 w 40"/>
                <a:gd name="T27" fmla="*/ 11 h 41"/>
                <a:gd name="T28" fmla="*/ 20 w 40"/>
                <a:gd name="T29" fmla="*/ 4 h 41"/>
                <a:gd name="T30" fmla="*/ 33 w 40"/>
                <a:gd name="T31" fmla="*/ 11 h 41"/>
                <a:gd name="T32" fmla="*/ 31 w 40"/>
                <a:gd name="T33" fmla="*/ 27 h 41"/>
                <a:gd name="T34" fmla="*/ 26 w 40"/>
                <a:gd name="T35" fmla="*/ 3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 h="41">
                  <a:moveTo>
                    <a:pt x="20" y="0"/>
                  </a:moveTo>
                  <a:cubicBezTo>
                    <a:pt x="0" y="0"/>
                    <a:pt x="0" y="22"/>
                    <a:pt x="7" y="30"/>
                  </a:cubicBezTo>
                  <a:cubicBezTo>
                    <a:pt x="12" y="35"/>
                    <a:pt x="12" y="41"/>
                    <a:pt x="12" y="41"/>
                  </a:cubicBezTo>
                  <a:cubicBezTo>
                    <a:pt x="20" y="41"/>
                    <a:pt x="20" y="41"/>
                    <a:pt x="20" y="41"/>
                  </a:cubicBezTo>
                  <a:cubicBezTo>
                    <a:pt x="29" y="41"/>
                    <a:pt x="29" y="41"/>
                    <a:pt x="29" y="41"/>
                  </a:cubicBezTo>
                  <a:cubicBezTo>
                    <a:pt x="29" y="41"/>
                    <a:pt x="29" y="35"/>
                    <a:pt x="33" y="30"/>
                  </a:cubicBezTo>
                  <a:cubicBezTo>
                    <a:pt x="40" y="22"/>
                    <a:pt x="40" y="0"/>
                    <a:pt x="20" y="0"/>
                  </a:cubicBezTo>
                  <a:close/>
                  <a:moveTo>
                    <a:pt x="26" y="37"/>
                  </a:moveTo>
                  <a:cubicBezTo>
                    <a:pt x="20" y="37"/>
                    <a:pt x="20" y="37"/>
                    <a:pt x="20" y="37"/>
                  </a:cubicBezTo>
                  <a:cubicBezTo>
                    <a:pt x="20" y="37"/>
                    <a:pt x="20" y="37"/>
                    <a:pt x="20" y="37"/>
                  </a:cubicBezTo>
                  <a:cubicBezTo>
                    <a:pt x="20" y="37"/>
                    <a:pt x="20" y="37"/>
                    <a:pt x="20" y="37"/>
                  </a:cubicBezTo>
                  <a:cubicBezTo>
                    <a:pt x="15" y="37"/>
                    <a:pt x="15" y="37"/>
                    <a:pt x="15" y="37"/>
                  </a:cubicBezTo>
                  <a:cubicBezTo>
                    <a:pt x="14" y="34"/>
                    <a:pt x="13" y="31"/>
                    <a:pt x="10" y="27"/>
                  </a:cubicBezTo>
                  <a:cubicBezTo>
                    <a:pt x="7" y="24"/>
                    <a:pt x="5" y="17"/>
                    <a:pt x="8" y="11"/>
                  </a:cubicBezTo>
                  <a:cubicBezTo>
                    <a:pt x="10" y="6"/>
                    <a:pt x="14" y="4"/>
                    <a:pt x="20" y="4"/>
                  </a:cubicBezTo>
                  <a:cubicBezTo>
                    <a:pt x="27" y="4"/>
                    <a:pt x="31" y="6"/>
                    <a:pt x="33" y="11"/>
                  </a:cubicBezTo>
                  <a:cubicBezTo>
                    <a:pt x="35" y="17"/>
                    <a:pt x="34" y="24"/>
                    <a:pt x="31" y="27"/>
                  </a:cubicBezTo>
                  <a:cubicBezTo>
                    <a:pt x="28" y="31"/>
                    <a:pt x="26" y="35"/>
                    <a:pt x="26"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a:ln>
                  <a:noFill/>
                </a:ln>
                <a:solidFill>
                  <a:srgbClr val="000000"/>
                </a:solidFill>
                <a:effectLst/>
                <a:uLnTx/>
                <a:uFillTx/>
              </a:endParaRPr>
            </a:p>
          </p:txBody>
        </p:sp>
        <p:sp>
          <p:nvSpPr>
            <p:cNvPr id="57" name="Freeform 74">
              <a:extLst>
                <a:ext uri="{FF2B5EF4-FFF2-40B4-BE49-F238E27FC236}">
                  <a16:creationId xmlns:a16="http://schemas.microsoft.com/office/drawing/2014/main" id="{A19FE196-5052-4E9F-8512-00D13CDE22A2}"/>
                </a:ext>
              </a:extLst>
            </p:cNvPr>
            <p:cNvSpPr>
              <a:spLocks/>
            </p:cNvSpPr>
            <p:nvPr/>
          </p:nvSpPr>
          <p:spPr bwMode="auto">
            <a:xfrm>
              <a:off x="2162556" y="2169518"/>
              <a:ext cx="68690" cy="88865"/>
            </a:xfrm>
            <a:custGeom>
              <a:avLst/>
              <a:gdLst>
                <a:gd name="T0" fmla="*/ 7 w 20"/>
                <a:gd name="T1" fmla="*/ 7 h 26"/>
                <a:gd name="T2" fmla="*/ 20 w 20"/>
                <a:gd name="T3" fmla="*/ 4 h 26"/>
                <a:gd name="T4" fmla="*/ 5 w 20"/>
                <a:gd name="T5" fmla="*/ 5 h 26"/>
                <a:gd name="T6" fmla="*/ 5 w 20"/>
                <a:gd name="T7" fmla="*/ 24 h 26"/>
                <a:gd name="T8" fmla="*/ 8 w 20"/>
                <a:gd name="T9" fmla="*/ 26 h 26"/>
                <a:gd name="T10" fmla="*/ 6 w 20"/>
                <a:gd name="T11" fmla="*/ 25 h 26"/>
                <a:gd name="T12" fmla="*/ 7 w 20"/>
                <a:gd name="T13" fmla="*/ 7 h 26"/>
              </a:gdLst>
              <a:ahLst/>
              <a:cxnLst>
                <a:cxn ang="0">
                  <a:pos x="T0" y="T1"/>
                </a:cxn>
                <a:cxn ang="0">
                  <a:pos x="T2" y="T3"/>
                </a:cxn>
                <a:cxn ang="0">
                  <a:pos x="T4" y="T5"/>
                </a:cxn>
                <a:cxn ang="0">
                  <a:pos x="T6" y="T7"/>
                </a:cxn>
                <a:cxn ang="0">
                  <a:pos x="T8" y="T9"/>
                </a:cxn>
                <a:cxn ang="0">
                  <a:pos x="T10" y="T11"/>
                </a:cxn>
                <a:cxn ang="0">
                  <a:pos x="T12" y="T13"/>
                </a:cxn>
              </a:cxnLst>
              <a:rect l="0" t="0" r="r" b="b"/>
              <a:pathLst>
                <a:path w="20" h="26">
                  <a:moveTo>
                    <a:pt x="7" y="7"/>
                  </a:moveTo>
                  <a:cubicBezTo>
                    <a:pt x="10" y="4"/>
                    <a:pt x="15" y="2"/>
                    <a:pt x="20" y="4"/>
                  </a:cubicBezTo>
                  <a:cubicBezTo>
                    <a:pt x="15" y="0"/>
                    <a:pt x="9" y="0"/>
                    <a:pt x="5" y="5"/>
                  </a:cubicBezTo>
                  <a:cubicBezTo>
                    <a:pt x="0" y="10"/>
                    <a:pt x="0" y="18"/>
                    <a:pt x="5" y="24"/>
                  </a:cubicBezTo>
                  <a:cubicBezTo>
                    <a:pt x="6" y="25"/>
                    <a:pt x="7" y="25"/>
                    <a:pt x="8" y="26"/>
                  </a:cubicBezTo>
                  <a:cubicBezTo>
                    <a:pt x="7" y="26"/>
                    <a:pt x="7" y="25"/>
                    <a:pt x="6" y="25"/>
                  </a:cubicBezTo>
                  <a:cubicBezTo>
                    <a:pt x="4" y="20"/>
                    <a:pt x="3" y="11"/>
                    <a:pt x="7"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a:ln>
                  <a:noFill/>
                </a:ln>
                <a:solidFill>
                  <a:srgbClr val="000000"/>
                </a:solidFill>
                <a:effectLst/>
                <a:uLnTx/>
                <a:uFillTx/>
              </a:endParaRPr>
            </a:p>
          </p:txBody>
        </p:sp>
        <p:sp>
          <p:nvSpPr>
            <p:cNvPr id="58" name="Freeform 75">
              <a:extLst>
                <a:ext uri="{FF2B5EF4-FFF2-40B4-BE49-F238E27FC236}">
                  <a16:creationId xmlns:a16="http://schemas.microsoft.com/office/drawing/2014/main" id="{F44728BA-D8E2-4948-8D89-E8E6EDE30D7E}"/>
                </a:ext>
              </a:extLst>
            </p:cNvPr>
            <p:cNvSpPr>
              <a:spLocks/>
            </p:cNvSpPr>
            <p:nvPr/>
          </p:nvSpPr>
          <p:spPr bwMode="auto">
            <a:xfrm>
              <a:off x="2173124" y="2303056"/>
              <a:ext cx="68210" cy="17293"/>
            </a:xfrm>
            <a:custGeom>
              <a:avLst/>
              <a:gdLst>
                <a:gd name="T0" fmla="*/ 20 w 20"/>
                <a:gd name="T1" fmla="*/ 4 h 5"/>
                <a:gd name="T2" fmla="*/ 19 w 20"/>
                <a:gd name="T3" fmla="*/ 5 h 5"/>
                <a:gd name="T4" fmla="*/ 1 w 20"/>
                <a:gd name="T5" fmla="*/ 5 h 5"/>
                <a:gd name="T6" fmla="*/ 0 w 20"/>
                <a:gd name="T7" fmla="*/ 4 h 5"/>
                <a:gd name="T8" fmla="*/ 0 w 20"/>
                <a:gd name="T9" fmla="*/ 1 h 5"/>
                <a:gd name="T10" fmla="*/ 1 w 20"/>
                <a:gd name="T11" fmla="*/ 0 h 5"/>
                <a:gd name="T12" fmla="*/ 19 w 20"/>
                <a:gd name="T13" fmla="*/ 0 h 5"/>
                <a:gd name="T14" fmla="*/ 20 w 20"/>
                <a:gd name="T15" fmla="*/ 1 h 5"/>
                <a:gd name="T16" fmla="*/ 20 w 20"/>
                <a:gd name="T17"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5">
                  <a:moveTo>
                    <a:pt x="20" y="4"/>
                  </a:moveTo>
                  <a:cubicBezTo>
                    <a:pt x="20" y="5"/>
                    <a:pt x="20" y="5"/>
                    <a:pt x="19" y="5"/>
                  </a:cubicBezTo>
                  <a:cubicBezTo>
                    <a:pt x="1" y="5"/>
                    <a:pt x="1" y="5"/>
                    <a:pt x="1" y="5"/>
                  </a:cubicBezTo>
                  <a:cubicBezTo>
                    <a:pt x="1" y="5"/>
                    <a:pt x="0" y="5"/>
                    <a:pt x="0" y="4"/>
                  </a:cubicBezTo>
                  <a:cubicBezTo>
                    <a:pt x="0" y="1"/>
                    <a:pt x="0" y="1"/>
                    <a:pt x="0" y="1"/>
                  </a:cubicBezTo>
                  <a:cubicBezTo>
                    <a:pt x="0" y="0"/>
                    <a:pt x="1" y="0"/>
                    <a:pt x="1" y="0"/>
                  </a:cubicBezTo>
                  <a:cubicBezTo>
                    <a:pt x="19" y="0"/>
                    <a:pt x="19" y="0"/>
                    <a:pt x="19" y="0"/>
                  </a:cubicBezTo>
                  <a:cubicBezTo>
                    <a:pt x="20" y="0"/>
                    <a:pt x="20" y="0"/>
                    <a:pt x="20" y="1"/>
                  </a:cubicBezTo>
                  <a:lnTo>
                    <a:pt x="20" y="4"/>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a:ln>
                  <a:noFill/>
                </a:ln>
                <a:solidFill>
                  <a:srgbClr val="000000"/>
                </a:solidFill>
                <a:effectLst/>
                <a:uLnTx/>
                <a:uFillTx/>
              </a:endParaRPr>
            </a:p>
          </p:txBody>
        </p:sp>
        <p:sp>
          <p:nvSpPr>
            <p:cNvPr id="59" name="Freeform 76">
              <a:extLst>
                <a:ext uri="{FF2B5EF4-FFF2-40B4-BE49-F238E27FC236}">
                  <a16:creationId xmlns:a16="http://schemas.microsoft.com/office/drawing/2014/main" id="{D74D56DA-117B-49E4-9E07-4E0A8F5ABE0F}"/>
                </a:ext>
              </a:extLst>
            </p:cNvPr>
            <p:cNvSpPr>
              <a:spLocks/>
            </p:cNvSpPr>
            <p:nvPr/>
          </p:nvSpPr>
          <p:spPr bwMode="auto">
            <a:xfrm>
              <a:off x="2179849" y="2327074"/>
              <a:ext cx="54760" cy="27380"/>
            </a:xfrm>
            <a:custGeom>
              <a:avLst/>
              <a:gdLst>
                <a:gd name="T0" fmla="*/ 8 w 16"/>
                <a:gd name="T1" fmla="*/ 8 h 8"/>
                <a:gd name="T2" fmla="*/ 16 w 16"/>
                <a:gd name="T3" fmla="*/ 0 h 8"/>
                <a:gd name="T4" fmla="*/ 0 w 16"/>
                <a:gd name="T5" fmla="*/ 0 h 8"/>
                <a:gd name="T6" fmla="*/ 8 w 16"/>
                <a:gd name="T7" fmla="*/ 8 h 8"/>
              </a:gdLst>
              <a:ahLst/>
              <a:cxnLst>
                <a:cxn ang="0">
                  <a:pos x="T0" y="T1"/>
                </a:cxn>
                <a:cxn ang="0">
                  <a:pos x="T2" y="T3"/>
                </a:cxn>
                <a:cxn ang="0">
                  <a:pos x="T4" y="T5"/>
                </a:cxn>
                <a:cxn ang="0">
                  <a:pos x="T6" y="T7"/>
                </a:cxn>
              </a:cxnLst>
              <a:rect l="0" t="0" r="r" b="b"/>
              <a:pathLst>
                <a:path w="16" h="8">
                  <a:moveTo>
                    <a:pt x="8" y="8"/>
                  </a:moveTo>
                  <a:cubicBezTo>
                    <a:pt x="13" y="8"/>
                    <a:pt x="16" y="4"/>
                    <a:pt x="16" y="0"/>
                  </a:cubicBezTo>
                  <a:cubicBezTo>
                    <a:pt x="0" y="0"/>
                    <a:pt x="0" y="0"/>
                    <a:pt x="0" y="0"/>
                  </a:cubicBezTo>
                  <a:cubicBezTo>
                    <a:pt x="0" y="4"/>
                    <a:pt x="4" y="8"/>
                    <a:pt x="8"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a:ln>
                  <a:noFill/>
                </a:ln>
                <a:solidFill>
                  <a:srgbClr val="000000"/>
                </a:solidFill>
                <a:effectLst/>
                <a:uLnTx/>
                <a:uFillTx/>
              </a:endParaRPr>
            </a:p>
          </p:txBody>
        </p:sp>
        <p:sp>
          <p:nvSpPr>
            <p:cNvPr id="60" name="Freeform 77">
              <a:extLst>
                <a:ext uri="{FF2B5EF4-FFF2-40B4-BE49-F238E27FC236}">
                  <a16:creationId xmlns:a16="http://schemas.microsoft.com/office/drawing/2014/main" id="{FDD5CB05-3DE4-4818-9994-D517B9F027B2}"/>
                </a:ext>
              </a:extLst>
            </p:cNvPr>
            <p:cNvSpPr>
              <a:spLocks/>
            </p:cNvSpPr>
            <p:nvPr/>
          </p:nvSpPr>
          <p:spPr bwMode="auto">
            <a:xfrm>
              <a:off x="2080416" y="2248296"/>
              <a:ext cx="24018" cy="10088"/>
            </a:xfrm>
            <a:custGeom>
              <a:avLst/>
              <a:gdLst>
                <a:gd name="T0" fmla="*/ 6 w 7"/>
                <a:gd name="T1" fmla="*/ 1 h 3"/>
                <a:gd name="T2" fmla="*/ 6 w 7"/>
                <a:gd name="T3" fmla="*/ 2 h 3"/>
                <a:gd name="T4" fmla="*/ 1 w 7"/>
                <a:gd name="T5" fmla="*/ 3 h 3"/>
                <a:gd name="T6" fmla="*/ 0 w 7"/>
                <a:gd name="T7" fmla="*/ 2 h 3"/>
                <a:gd name="T8" fmla="*/ 0 w 7"/>
                <a:gd name="T9" fmla="*/ 2 h 3"/>
                <a:gd name="T10" fmla="*/ 1 w 7"/>
                <a:gd name="T11" fmla="*/ 1 h 3"/>
                <a:gd name="T12" fmla="*/ 6 w 7"/>
                <a:gd name="T13" fmla="*/ 1 h 3"/>
                <a:gd name="T14" fmla="*/ 6 w 7"/>
                <a:gd name="T15" fmla="*/ 1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3">
                  <a:moveTo>
                    <a:pt x="6" y="1"/>
                  </a:moveTo>
                  <a:cubicBezTo>
                    <a:pt x="7" y="2"/>
                    <a:pt x="6" y="2"/>
                    <a:pt x="6" y="2"/>
                  </a:cubicBezTo>
                  <a:cubicBezTo>
                    <a:pt x="1" y="3"/>
                    <a:pt x="1" y="3"/>
                    <a:pt x="1" y="3"/>
                  </a:cubicBezTo>
                  <a:cubicBezTo>
                    <a:pt x="1" y="3"/>
                    <a:pt x="0" y="3"/>
                    <a:pt x="0" y="2"/>
                  </a:cubicBezTo>
                  <a:cubicBezTo>
                    <a:pt x="0" y="2"/>
                    <a:pt x="0" y="2"/>
                    <a:pt x="0" y="2"/>
                  </a:cubicBezTo>
                  <a:cubicBezTo>
                    <a:pt x="0" y="2"/>
                    <a:pt x="0" y="1"/>
                    <a:pt x="1" y="1"/>
                  </a:cubicBezTo>
                  <a:cubicBezTo>
                    <a:pt x="6" y="1"/>
                    <a:pt x="6" y="1"/>
                    <a:pt x="6" y="1"/>
                  </a:cubicBezTo>
                  <a:cubicBezTo>
                    <a:pt x="6" y="0"/>
                    <a:pt x="6" y="1"/>
                    <a:pt x="6" y="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a:ln>
                  <a:noFill/>
                </a:ln>
                <a:solidFill>
                  <a:srgbClr val="000000"/>
                </a:solidFill>
                <a:effectLst/>
                <a:uLnTx/>
                <a:uFillTx/>
              </a:endParaRPr>
            </a:p>
          </p:txBody>
        </p:sp>
        <p:sp>
          <p:nvSpPr>
            <p:cNvPr id="61" name="Freeform 78">
              <a:extLst>
                <a:ext uri="{FF2B5EF4-FFF2-40B4-BE49-F238E27FC236}">
                  <a16:creationId xmlns:a16="http://schemas.microsoft.com/office/drawing/2014/main" id="{1C31C712-0D47-4EFA-9BFB-19241C05CECF}"/>
                </a:ext>
              </a:extLst>
            </p:cNvPr>
            <p:cNvSpPr>
              <a:spLocks/>
            </p:cNvSpPr>
            <p:nvPr/>
          </p:nvSpPr>
          <p:spPr bwMode="auto">
            <a:xfrm>
              <a:off x="2090984" y="2193536"/>
              <a:ext cx="20655" cy="13930"/>
            </a:xfrm>
            <a:custGeom>
              <a:avLst/>
              <a:gdLst>
                <a:gd name="T0" fmla="*/ 6 w 6"/>
                <a:gd name="T1" fmla="*/ 3 h 4"/>
                <a:gd name="T2" fmla="*/ 5 w 6"/>
                <a:gd name="T3" fmla="*/ 3 h 4"/>
                <a:gd name="T4" fmla="*/ 0 w 6"/>
                <a:gd name="T5" fmla="*/ 2 h 4"/>
                <a:gd name="T6" fmla="*/ 0 w 6"/>
                <a:gd name="T7" fmla="*/ 1 h 4"/>
                <a:gd name="T8" fmla="*/ 0 w 6"/>
                <a:gd name="T9" fmla="*/ 1 h 4"/>
                <a:gd name="T10" fmla="*/ 1 w 6"/>
                <a:gd name="T11" fmla="*/ 1 h 4"/>
                <a:gd name="T12" fmla="*/ 6 w 6"/>
                <a:gd name="T13" fmla="*/ 2 h 4"/>
                <a:gd name="T14" fmla="*/ 6 w 6"/>
                <a:gd name="T15" fmla="*/ 3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4">
                  <a:moveTo>
                    <a:pt x="6" y="3"/>
                  </a:moveTo>
                  <a:cubicBezTo>
                    <a:pt x="6" y="3"/>
                    <a:pt x="5" y="4"/>
                    <a:pt x="5" y="3"/>
                  </a:cubicBezTo>
                  <a:cubicBezTo>
                    <a:pt x="0" y="2"/>
                    <a:pt x="0" y="2"/>
                    <a:pt x="0" y="2"/>
                  </a:cubicBezTo>
                  <a:cubicBezTo>
                    <a:pt x="0" y="2"/>
                    <a:pt x="0" y="1"/>
                    <a:pt x="0" y="1"/>
                  </a:cubicBezTo>
                  <a:cubicBezTo>
                    <a:pt x="0" y="1"/>
                    <a:pt x="0" y="1"/>
                    <a:pt x="0" y="1"/>
                  </a:cubicBezTo>
                  <a:cubicBezTo>
                    <a:pt x="0" y="1"/>
                    <a:pt x="0" y="0"/>
                    <a:pt x="1" y="1"/>
                  </a:cubicBezTo>
                  <a:cubicBezTo>
                    <a:pt x="6" y="2"/>
                    <a:pt x="6" y="2"/>
                    <a:pt x="6" y="2"/>
                  </a:cubicBezTo>
                  <a:cubicBezTo>
                    <a:pt x="6" y="2"/>
                    <a:pt x="6" y="3"/>
                    <a:pt x="6" y="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a:ln>
                  <a:noFill/>
                </a:ln>
                <a:solidFill>
                  <a:srgbClr val="000000"/>
                </a:solidFill>
                <a:effectLst/>
                <a:uLnTx/>
                <a:uFillTx/>
              </a:endParaRPr>
            </a:p>
          </p:txBody>
        </p:sp>
        <p:sp>
          <p:nvSpPr>
            <p:cNvPr id="62" name="Freeform 79">
              <a:extLst>
                <a:ext uri="{FF2B5EF4-FFF2-40B4-BE49-F238E27FC236}">
                  <a16:creationId xmlns:a16="http://schemas.microsoft.com/office/drawing/2014/main" id="{BECDD2FC-881E-48EB-8969-9B5E5F336E16}"/>
                </a:ext>
              </a:extLst>
            </p:cNvPr>
            <p:cNvSpPr>
              <a:spLocks/>
            </p:cNvSpPr>
            <p:nvPr/>
          </p:nvSpPr>
          <p:spPr bwMode="auto">
            <a:xfrm>
              <a:off x="2125089" y="2148864"/>
              <a:ext cx="17293" cy="17293"/>
            </a:xfrm>
            <a:custGeom>
              <a:avLst/>
              <a:gdLst>
                <a:gd name="T0" fmla="*/ 5 w 5"/>
                <a:gd name="T1" fmla="*/ 5 h 5"/>
                <a:gd name="T2" fmla="*/ 4 w 5"/>
                <a:gd name="T3" fmla="*/ 5 h 5"/>
                <a:gd name="T4" fmla="*/ 0 w 5"/>
                <a:gd name="T5" fmla="*/ 1 h 5"/>
                <a:gd name="T6" fmla="*/ 0 w 5"/>
                <a:gd name="T7" fmla="*/ 0 h 5"/>
                <a:gd name="T8" fmla="*/ 0 w 5"/>
                <a:gd name="T9" fmla="*/ 0 h 5"/>
                <a:gd name="T10" fmla="*/ 1 w 5"/>
                <a:gd name="T11" fmla="*/ 0 h 5"/>
                <a:gd name="T12" fmla="*/ 5 w 5"/>
                <a:gd name="T13" fmla="*/ 3 h 5"/>
                <a:gd name="T14" fmla="*/ 5 w 5"/>
                <a:gd name="T15" fmla="*/ 5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5">
                  <a:moveTo>
                    <a:pt x="5" y="5"/>
                  </a:moveTo>
                  <a:cubicBezTo>
                    <a:pt x="4" y="5"/>
                    <a:pt x="4" y="5"/>
                    <a:pt x="4" y="5"/>
                  </a:cubicBezTo>
                  <a:cubicBezTo>
                    <a:pt x="0" y="1"/>
                    <a:pt x="0" y="1"/>
                    <a:pt x="0" y="1"/>
                  </a:cubicBezTo>
                  <a:cubicBezTo>
                    <a:pt x="0" y="1"/>
                    <a:pt x="0" y="0"/>
                    <a:pt x="0" y="0"/>
                  </a:cubicBezTo>
                  <a:cubicBezTo>
                    <a:pt x="0" y="0"/>
                    <a:pt x="0" y="0"/>
                    <a:pt x="0" y="0"/>
                  </a:cubicBezTo>
                  <a:cubicBezTo>
                    <a:pt x="0" y="0"/>
                    <a:pt x="1" y="0"/>
                    <a:pt x="1" y="0"/>
                  </a:cubicBezTo>
                  <a:cubicBezTo>
                    <a:pt x="5" y="3"/>
                    <a:pt x="5" y="3"/>
                    <a:pt x="5" y="3"/>
                  </a:cubicBezTo>
                  <a:cubicBezTo>
                    <a:pt x="5" y="4"/>
                    <a:pt x="5" y="4"/>
                    <a:pt x="5" y="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a:ln>
                  <a:noFill/>
                </a:ln>
                <a:solidFill>
                  <a:srgbClr val="000000"/>
                </a:solidFill>
                <a:effectLst/>
                <a:uLnTx/>
                <a:uFillTx/>
              </a:endParaRPr>
            </a:p>
          </p:txBody>
        </p:sp>
        <p:sp>
          <p:nvSpPr>
            <p:cNvPr id="63" name="Freeform 80">
              <a:extLst>
                <a:ext uri="{FF2B5EF4-FFF2-40B4-BE49-F238E27FC236}">
                  <a16:creationId xmlns:a16="http://schemas.microsoft.com/office/drawing/2014/main" id="{6CD58727-57DF-46E5-AE17-84E36415F571}"/>
                </a:ext>
              </a:extLst>
            </p:cNvPr>
            <p:cNvSpPr>
              <a:spLocks/>
            </p:cNvSpPr>
            <p:nvPr/>
          </p:nvSpPr>
          <p:spPr bwMode="auto">
            <a:xfrm>
              <a:off x="2176486" y="2121483"/>
              <a:ext cx="10088" cy="20655"/>
            </a:xfrm>
            <a:custGeom>
              <a:avLst/>
              <a:gdLst>
                <a:gd name="T0" fmla="*/ 3 w 3"/>
                <a:gd name="T1" fmla="*/ 6 h 6"/>
                <a:gd name="T2" fmla="*/ 2 w 3"/>
                <a:gd name="T3" fmla="*/ 6 h 6"/>
                <a:gd name="T4" fmla="*/ 0 w 3"/>
                <a:gd name="T5" fmla="*/ 1 h 6"/>
                <a:gd name="T6" fmla="*/ 1 w 3"/>
                <a:gd name="T7" fmla="*/ 0 h 6"/>
                <a:gd name="T8" fmla="*/ 1 w 3"/>
                <a:gd name="T9" fmla="*/ 0 h 6"/>
                <a:gd name="T10" fmla="*/ 2 w 3"/>
                <a:gd name="T11" fmla="*/ 1 h 6"/>
                <a:gd name="T12" fmla="*/ 3 w 3"/>
                <a:gd name="T13" fmla="*/ 5 h 6"/>
                <a:gd name="T14" fmla="*/ 3 w 3"/>
                <a:gd name="T15" fmla="*/ 6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6">
                  <a:moveTo>
                    <a:pt x="3" y="6"/>
                  </a:moveTo>
                  <a:cubicBezTo>
                    <a:pt x="2" y="6"/>
                    <a:pt x="2" y="6"/>
                    <a:pt x="2" y="6"/>
                  </a:cubicBezTo>
                  <a:cubicBezTo>
                    <a:pt x="0" y="1"/>
                    <a:pt x="0" y="1"/>
                    <a:pt x="0" y="1"/>
                  </a:cubicBezTo>
                  <a:cubicBezTo>
                    <a:pt x="0" y="1"/>
                    <a:pt x="0" y="0"/>
                    <a:pt x="1" y="0"/>
                  </a:cubicBezTo>
                  <a:cubicBezTo>
                    <a:pt x="1" y="0"/>
                    <a:pt x="1" y="0"/>
                    <a:pt x="1" y="0"/>
                  </a:cubicBezTo>
                  <a:cubicBezTo>
                    <a:pt x="1" y="0"/>
                    <a:pt x="2" y="0"/>
                    <a:pt x="2" y="1"/>
                  </a:cubicBezTo>
                  <a:cubicBezTo>
                    <a:pt x="3" y="5"/>
                    <a:pt x="3" y="5"/>
                    <a:pt x="3" y="5"/>
                  </a:cubicBezTo>
                  <a:cubicBezTo>
                    <a:pt x="3" y="6"/>
                    <a:pt x="3" y="6"/>
                    <a:pt x="3" y="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a:ln>
                  <a:noFill/>
                </a:ln>
                <a:solidFill>
                  <a:srgbClr val="000000"/>
                </a:solidFill>
                <a:effectLst/>
                <a:uLnTx/>
                <a:uFillTx/>
              </a:endParaRPr>
            </a:p>
          </p:txBody>
        </p:sp>
        <p:sp>
          <p:nvSpPr>
            <p:cNvPr id="64" name="Freeform 81">
              <a:extLst>
                <a:ext uri="{FF2B5EF4-FFF2-40B4-BE49-F238E27FC236}">
                  <a16:creationId xmlns:a16="http://schemas.microsoft.com/office/drawing/2014/main" id="{8F443FB1-7D67-486E-82D4-F3E4A8E6FC09}"/>
                </a:ext>
              </a:extLst>
            </p:cNvPr>
            <p:cNvSpPr>
              <a:spLocks/>
            </p:cNvSpPr>
            <p:nvPr/>
          </p:nvSpPr>
          <p:spPr bwMode="auto">
            <a:xfrm>
              <a:off x="2231246" y="2121483"/>
              <a:ext cx="10088" cy="24018"/>
            </a:xfrm>
            <a:custGeom>
              <a:avLst/>
              <a:gdLst>
                <a:gd name="T0" fmla="*/ 1 w 3"/>
                <a:gd name="T1" fmla="*/ 7 h 7"/>
                <a:gd name="T2" fmla="*/ 1 w 3"/>
                <a:gd name="T3" fmla="*/ 6 h 7"/>
                <a:gd name="T4" fmla="*/ 1 w 3"/>
                <a:gd name="T5" fmla="*/ 1 h 7"/>
                <a:gd name="T6" fmla="*/ 2 w 3"/>
                <a:gd name="T7" fmla="*/ 0 h 7"/>
                <a:gd name="T8" fmla="*/ 2 w 3"/>
                <a:gd name="T9" fmla="*/ 0 h 7"/>
                <a:gd name="T10" fmla="*/ 3 w 3"/>
                <a:gd name="T11" fmla="*/ 1 h 7"/>
                <a:gd name="T12" fmla="*/ 2 w 3"/>
                <a:gd name="T13" fmla="*/ 6 h 7"/>
                <a:gd name="T14" fmla="*/ 1 w 3"/>
                <a:gd name="T15" fmla="*/ 7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7">
                  <a:moveTo>
                    <a:pt x="1" y="7"/>
                  </a:moveTo>
                  <a:cubicBezTo>
                    <a:pt x="1" y="7"/>
                    <a:pt x="0" y="6"/>
                    <a:pt x="1" y="6"/>
                  </a:cubicBezTo>
                  <a:cubicBezTo>
                    <a:pt x="1" y="1"/>
                    <a:pt x="1" y="1"/>
                    <a:pt x="1" y="1"/>
                  </a:cubicBezTo>
                  <a:cubicBezTo>
                    <a:pt x="1" y="1"/>
                    <a:pt x="2" y="0"/>
                    <a:pt x="2" y="0"/>
                  </a:cubicBezTo>
                  <a:cubicBezTo>
                    <a:pt x="2" y="0"/>
                    <a:pt x="2" y="0"/>
                    <a:pt x="2" y="0"/>
                  </a:cubicBezTo>
                  <a:cubicBezTo>
                    <a:pt x="3" y="0"/>
                    <a:pt x="3" y="1"/>
                    <a:pt x="3" y="1"/>
                  </a:cubicBezTo>
                  <a:cubicBezTo>
                    <a:pt x="2" y="6"/>
                    <a:pt x="2" y="6"/>
                    <a:pt x="2" y="6"/>
                  </a:cubicBezTo>
                  <a:cubicBezTo>
                    <a:pt x="2" y="6"/>
                    <a:pt x="2" y="7"/>
                    <a:pt x="1"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a:ln>
                  <a:noFill/>
                </a:ln>
                <a:solidFill>
                  <a:srgbClr val="000000"/>
                </a:solidFill>
                <a:effectLst/>
                <a:uLnTx/>
                <a:uFillTx/>
              </a:endParaRPr>
            </a:p>
          </p:txBody>
        </p:sp>
        <p:sp>
          <p:nvSpPr>
            <p:cNvPr id="65" name="Freeform 82">
              <a:extLst>
                <a:ext uri="{FF2B5EF4-FFF2-40B4-BE49-F238E27FC236}">
                  <a16:creationId xmlns:a16="http://schemas.microsoft.com/office/drawing/2014/main" id="{4B6D0B16-67BF-46E6-8397-648C9E2C977B}"/>
                </a:ext>
              </a:extLst>
            </p:cNvPr>
            <p:cNvSpPr>
              <a:spLocks/>
            </p:cNvSpPr>
            <p:nvPr/>
          </p:nvSpPr>
          <p:spPr bwMode="auto">
            <a:xfrm>
              <a:off x="2275439" y="2148864"/>
              <a:ext cx="17293" cy="20655"/>
            </a:xfrm>
            <a:custGeom>
              <a:avLst/>
              <a:gdLst>
                <a:gd name="T0" fmla="*/ 1 w 5"/>
                <a:gd name="T1" fmla="*/ 5 h 6"/>
                <a:gd name="T2" fmla="*/ 1 w 5"/>
                <a:gd name="T3" fmla="*/ 4 h 6"/>
                <a:gd name="T4" fmla="*/ 3 w 5"/>
                <a:gd name="T5" fmla="*/ 0 h 6"/>
                <a:gd name="T6" fmla="*/ 5 w 5"/>
                <a:gd name="T7" fmla="*/ 0 h 6"/>
                <a:gd name="T8" fmla="*/ 5 w 5"/>
                <a:gd name="T9" fmla="*/ 0 h 6"/>
                <a:gd name="T10" fmla="*/ 5 w 5"/>
                <a:gd name="T11" fmla="*/ 1 h 6"/>
                <a:gd name="T12" fmla="*/ 2 w 5"/>
                <a:gd name="T13" fmla="*/ 5 h 6"/>
                <a:gd name="T14" fmla="*/ 1 w 5"/>
                <a:gd name="T15" fmla="*/ 5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6">
                  <a:moveTo>
                    <a:pt x="1" y="5"/>
                  </a:moveTo>
                  <a:cubicBezTo>
                    <a:pt x="1" y="5"/>
                    <a:pt x="0" y="5"/>
                    <a:pt x="1" y="4"/>
                  </a:cubicBezTo>
                  <a:cubicBezTo>
                    <a:pt x="3" y="0"/>
                    <a:pt x="3" y="0"/>
                    <a:pt x="3" y="0"/>
                  </a:cubicBezTo>
                  <a:cubicBezTo>
                    <a:pt x="4" y="0"/>
                    <a:pt x="4" y="0"/>
                    <a:pt x="5" y="0"/>
                  </a:cubicBezTo>
                  <a:cubicBezTo>
                    <a:pt x="5" y="0"/>
                    <a:pt x="5" y="0"/>
                    <a:pt x="5" y="0"/>
                  </a:cubicBezTo>
                  <a:cubicBezTo>
                    <a:pt x="5" y="0"/>
                    <a:pt x="5" y="1"/>
                    <a:pt x="5" y="1"/>
                  </a:cubicBezTo>
                  <a:cubicBezTo>
                    <a:pt x="2" y="5"/>
                    <a:pt x="2" y="5"/>
                    <a:pt x="2" y="5"/>
                  </a:cubicBezTo>
                  <a:cubicBezTo>
                    <a:pt x="2" y="6"/>
                    <a:pt x="1" y="6"/>
                    <a:pt x="1" y="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a:ln>
                  <a:noFill/>
                </a:ln>
                <a:solidFill>
                  <a:srgbClr val="000000"/>
                </a:solidFill>
                <a:effectLst/>
                <a:uLnTx/>
                <a:uFillTx/>
              </a:endParaRPr>
            </a:p>
          </p:txBody>
        </p:sp>
        <p:sp>
          <p:nvSpPr>
            <p:cNvPr id="66" name="Freeform 83">
              <a:extLst>
                <a:ext uri="{FF2B5EF4-FFF2-40B4-BE49-F238E27FC236}">
                  <a16:creationId xmlns:a16="http://schemas.microsoft.com/office/drawing/2014/main" id="{F584B6CC-E7AE-43D0-BE45-2252614952CB}"/>
                </a:ext>
              </a:extLst>
            </p:cNvPr>
            <p:cNvSpPr>
              <a:spLocks/>
            </p:cNvSpPr>
            <p:nvPr/>
          </p:nvSpPr>
          <p:spPr bwMode="auto">
            <a:xfrm>
              <a:off x="2306662" y="2196899"/>
              <a:ext cx="20175" cy="13930"/>
            </a:xfrm>
            <a:custGeom>
              <a:avLst/>
              <a:gdLst>
                <a:gd name="T0" fmla="*/ 0 w 6"/>
                <a:gd name="T1" fmla="*/ 3 h 4"/>
                <a:gd name="T2" fmla="*/ 0 w 6"/>
                <a:gd name="T3" fmla="*/ 2 h 4"/>
                <a:gd name="T4" fmla="*/ 5 w 6"/>
                <a:gd name="T5" fmla="*/ 0 h 4"/>
                <a:gd name="T6" fmla="*/ 6 w 6"/>
                <a:gd name="T7" fmla="*/ 0 h 4"/>
                <a:gd name="T8" fmla="*/ 6 w 6"/>
                <a:gd name="T9" fmla="*/ 0 h 4"/>
                <a:gd name="T10" fmla="*/ 5 w 6"/>
                <a:gd name="T11" fmla="*/ 1 h 4"/>
                <a:gd name="T12" fmla="*/ 1 w 6"/>
                <a:gd name="T13" fmla="*/ 4 h 4"/>
                <a:gd name="T14" fmla="*/ 0 w 6"/>
                <a:gd name="T15" fmla="*/ 3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4">
                  <a:moveTo>
                    <a:pt x="0" y="3"/>
                  </a:moveTo>
                  <a:cubicBezTo>
                    <a:pt x="0" y="3"/>
                    <a:pt x="0" y="2"/>
                    <a:pt x="0" y="2"/>
                  </a:cubicBezTo>
                  <a:cubicBezTo>
                    <a:pt x="5" y="0"/>
                    <a:pt x="5" y="0"/>
                    <a:pt x="5" y="0"/>
                  </a:cubicBezTo>
                  <a:cubicBezTo>
                    <a:pt x="5" y="0"/>
                    <a:pt x="6" y="0"/>
                    <a:pt x="6" y="0"/>
                  </a:cubicBezTo>
                  <a:cubicBezTo>
                    <a:pt x="6" y="0"/>
                    <a:pt x="6" y="0"/>
                    <a:pt x="6" y="0"/>
                  </a:cubicBezTo>
                  <a:cubicBezTo>
                    <a:pt x="6" y="1"/>
                    <a:pt x="6" y="1"/>
                    <a:pt x="5" y="1"/>
                  </a:cubicBezTo>
                  <a:cubicBezTo>
                    <a:pt x="1" y="4"/>
                    <a:pt x="1" y="4"/>
                    <a:pt x="1" y="4"/>
                  </a:cubicBezTo>
                  <a:cubicBezTo>
                    <a:pt x="1" y="4"/>
                    <a:pt x="0" y="4"/>
                    <a:pt x="0" y="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a:ln>
                  <a:noFill/>
                </a:ln>
                <a:solidFill>
                  <a:srgbClr val="000000"/>
                </a:solidFill>
                <a:effectLst/>
                <a:uLnTx/>
                <a:uFillTx/>
              </a:endParaRPr>
            </a:p>
          </p:txBody>
        </p:sp>
        <p:sp>
          <p:nvSpPr>
            <p:cNvPr id="67" name="Freeform 84">
              <a:extLst>
                <a:ext uri="{FF2B5EF4-FFF2-40B4-BE49-F238E27FC236}">
                  <a16:creationId xmlns:a16="http://schemas.microsoft.com/office/drawing/2014/main" id="{1662CECF-A6EF-42F0-8A51-413FDA23EB3A}"/>
                </a:ext>
              </a:extLst>
            </p:cNvPr>
            <p:cNvSpPr>
              <a:spLocks/>
            </p:cNvSpPr>
            <p:nvPr/>
          </p:nvSpPr>
          <p:spPr bwMode="auto">
            <a:xfrm>
              <a:off x="2313386" y="2255021"/>
              <a:ext cx="20655" cy="3363"/>
            </a:xfrm>
            <a:custGeom>
              <a:avLst/>
              <a:gdLst>
                <a:gd name="T0" fmla="*/ 0 w 6"/>
                <a:gd name="T1" fmla="*/ 1 h 1"/>
                <a:gd name="T2" fmla="*/ 1 w 6"/>
                <a:gd name="T3" fmla="*/ 0 h 1"/>
                <a:gd name="T4" fmla="*/ 6 w 6"/>
                <a:gd name="T5" fmla="*/ 0 h 1"/>
                <a:gd name="T6" fmla="*/ 6 w 6"/>
                <a:gd name="T7" fmla="*/ 1 h 1"/>
                <a:gd name="T8" fmla="*/ 6 w 6"/>
                <a:gd name="T9" fmla="*/ 1 h 1"/>
                <a:gd name="T10" fmla="*/ 6 w 6"/>
                <a:gd name="T11" fmla="*/ 1 h 1"/>
                <a:gd name="T12" fmla="*/ 1 w 6"/>
                <a:gd name="T13" fmla="*/ 1 h 1"/>
                <a:gd name="T14" fmla="*/ 0 w 6"/>
                <a:gd name="T15" fmla="*/ 1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1">
                  <a:moveTo>
                    <a:pt x="0" y="1"/>
                  </a:moveTo>
                  <a:cubicBezTo>
                    <a:pt x="0" y="0"/>
                    <a:pt x="0" y="0"/>
                    <a:pt x="1" y="0"/>
                  </a:cubicBezTo>
                  <a:cubicBezTo>
                    <a:pt x="6" y="0"/>
                    <a:pt x="6" y="0"/>
                    <a:pt x="6" y="0"/>
                  </a:cubicBezTo>
                  <a:cubicBezTo>
                    <a:pt x="6" y="0"/>
                    <a:pt x="6" y="0"/>
                    <a:pt x="6" y="1"/>
                  </a:cubicBezTo>
                  <a:cubicBezTo>
                    <a:pt x="6" y="1"/>
                    <a:pt x="6" y="1"/>
                    <a:pt x="6" y="1"/>
                  </a:cubicBezTo>
                  <a:cubicBezTo>
                    <a:pt x="6" y="1"/>
                    <a:pt x="6" y="1"/>
                    <a:pt x="6" y="1"/>
                  </a:cubicBezTo>
                  <a:cubicBezTo>
                    <a:pt x="1" y="1"/>
                    <a:pt x="1" y="1"/>
                    <a:pt x="1" y="1"/>
                  </a:cubicBezTo>
                  <a:cubicBezTo>
                    <a:pt x="0" y="1"/>
                    <a:pt x="0" y="1"/>
                    <a:pt x="0" y="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a:ln>
                  <a:noFill/>
                </a:ln>
                <a:solidFill>
                  <a:srgbClr val="000000"/>
                </a:solidFill>
                <a:effectLst/>
                <a:uLnTx/>
                <a:uFillTx/>
              </a:endParaRPr>
            </a:p>
          </p:txBody>
        </p:sp>
      </p:grpSp>
      <p:grpSp>
        <p:nvGrpSpPr>
          <p:cNvPr id="68" name="Group 67">
            <a:extLst>
              <a:ext uri="{FF2B5EF4-FFF2-40B4-BE49-F238E27FC236}">
                <a16:creationId xmlns:a16="http://schemas.microsoft.com/office/drawing/2014/main" id="{5EE665D3-6E6C-488F-8BEC-8F1EF89AD6A0}"/>
              </a:ext>
            </a:extLst>
          </p:cNvPr>
          <p:cNvGrpSpPr/>
          <p:nvPr/>
        </p:nvGrpSpPr>
        <p:grpSpPr>
          <a:xfrm>
            <a:off x="9385156" y="2063176"/>
            <a:ext cx="449288" cy="591347"/>
            <a:chOff x="6573784" y="4743568"/>
            <a:chExt cx="449288" cy="591347"/>
          </a:xfrm>
          <a:solidFill>
            <a:srgbClr val="012169">
              <a:lumMod val="75000"/>
            </a:srgbClr>
          </a:solidFill>
        </p:grpSpPr>
        <p:sp>
          <p:nvSpPr>
            <p:cNvPr id="69" name="Freeform 178">
              <a:extLst>
                <a:ext uri="{FF2B5EF4-FFF2-40B4-BE49-F238E27FC236}">
                  <a16:creationId xmlns:a16="http://schemas.microsoft.com/office/drawing/2014/main" id="{ECB51EB8-4343-48D2-B83A-39E1DE3604CA}"/>
                </a:ext>
              </a:extLst>
            </p:cNvPr>
            <p:cNvSpPr>
              <a:spLocks/>
            </p:cNvSpPr>
            <p:nvPr/>
          </p:nvSpPr>
          <p:spPr bwMode="auto">
            <a:xfrm>
              <a:off x="6650450" y="4838274"/>
              <a:ext cx="139240" cy="177573"/>
            </a:xfrm>
            <a:custGeom>
              <a:avLst/>
              <a:gdLst>
                <a:gd name="T0" fmla="*/ 21 w 247"/>
                <a:gd name="T1" fmla="*/ 205 h 315"/>
                <a:gd name="T2" fmla="*/ 21 w 247"/>
                <a:gd name="T3" fmla="*/ 205 h 315"/>
                <a:gd name="T4" fmla="*/ 32 w 247"/>
                <a:gd name="T5" fmla="*/ 231 h 315"/>
                <a:gd name="T6" fmla="*/ 32 w 247"/>
                <a:gd name="T7" fmla="*/ 231 h 315"/>
                <a:gd name="T8" fmla="*/ 53 w 247"/>
                <a:gd name="T9" fmla="*/ 268 h 315"/>
                <a:gd name="T10" fmla="*/ 79 w 247"/>
                <a:gd name="T11" fmla="*/ 294 h 315"/>
                <a:gd name="T12" fmla="*/ 100 w 247"/>
                <a:gd name="T13" fmla="*/ 310 h 315"/>
                <a:gd name="T14" fmla="*/ 126 w 247"/>
                <a:gd name="T15" fmla="*/ 315 h 315"/>
                <a:gd name="T16" fmla="*/ 147 w 247"/>
                <a:gd name="T17" fmla="*/ 310 h 315"/>
                <a:gd name="T18" fmla="*/ 173 w 247"/>
                <a:gd name="T19" fmla="*/ 294 h 315"/>
                <a:gd name="T20" fmla="*/ 194 w 247"/>
                <a:gd name="T21" fmla="*/ 268 h 315"/>
                <a:gd name="T22" fmla="*/ 215 w 247"/>
                <a:gd name="T23" fmla="*/ 231 h 315"/>
                <a:gd name="T24" fmla="*/ 215 w 247"/>
                <a:gd name="T25" fmla="*/ 231 h 315"/>
                <a:gd name="T26" fmla="*/ 226 w 247"/>
                <a:gd name="T27" fmla="*/ 205 h 315"/>
                <a:gd name="T28" fmla="*/ 226 w 247"/>
                <a:gd name="T29" fmla="*/ 205 h 315"/>
                <a:gd name="T30" fmla="*/ 226 w 247"/>
                <a:gd name="T31" fmla="*/ 205 h 315"/>
                <a:gd name="T32" fmla="*/ 236 w 247"/>
                <a:gd name="T33" fmla="*/ 205 h 315"/>
                <a:gd name="T34" fmla="*/ 236 w 247"/>
                <a:gd name="T35" fmla="*/ 205 h 315"/>
                <a:gd name="T36" fmla="*/ 247 w 247"/>
                <a:gd name="T37" fmla="*/ 184 h 315"/>
                <a:gd name="T38" fmla="*/ 247 w 247"/>
                <a:gd name="T39" fmla="*/ 168 h 315"/>
                <a:gd name="T40" fmla="*/ 247 w 247"/>
                <a:gd name="T41" fmla="*/ 152 h 315"/>
                <a:gd name="T42" fmla="*/ 247 w 247"/>
                <a:gd name="T43" fmla="*/ 152 h 315"/>
                <a:gd name="T44" fmla="*/ 242 w 247"/>
                <a:gd name="T45" fmla="*/ 152 h 315"/>
                <a:gd name="T46" fmla="*/ 242 w 247"/>
                <a:gd name="T47" fmla="*/ 152 h 315"/>
                <a:gd name="T48" fmla="*/ 242 w 247"/>
                <a:gd name="T49" fmla="*/ 147 h 315"/>
                <a:gd name="T50" fmla="*/ 242 w 247"/>
                <a:gd name="T51" fmla="*/ 142 h 315"/>
                <a:gd name="T52" fmla="*/ 242 w 247"/>
                <a:gd name="T53" fmla="*/ 142 h 315"/>
                <a:gd name="T54" fmla="*/ 242 w 247"/>
                <a:gd name="T55" fmla="*/ 136 h 315"/>
                <a:gd name="T56" fmla="*/ 242 w 247"/>
                <a:gd name="T57" fmla="*/ 136 h 315"/>
                <a:gd name="T58" fmla="*/ 236 w 247"/>
                <a:gd name="T59" fmla="*/ 110 h 315"/>
                <a:gd name="T60" fmla="*/ 236 w 247"/>
                <a:gd name="T61" fmla="*/ 84 h 315"/>
                <a:gd name="T62" fmla="*/ 226 w 247"/>
                <a:gd name="T63" fmla="*/ 63 h 315"/>
                <a:gd name="T64" fmla="*/ 215 w 247"/>
                <a:gd name="T65" fmla="*/ 42 h 315"/>
                <a:gd name="T66" fmla="*/ 200 w 247"/>
                <a:gd name="T67" fmla="*/ 26 h 315"/>
                <a:gd name="T68" fmla="*/ 179 w 247"/>
                <a:gd name="T69" fmla="*/ 11 h 315"/>
                <a:gd name="T70" fmla="*/ 152 w 247"/>
                <a:gd name="T71" fmla="*/ 5 h 315"/>
                <a:gd name="T72" fmla="*/ 126 w 247"/>
                <a:gd name="T73" fmla="*/ 0 h 315"/>
                <a:gd name="T74" fmla="*/ 126 w 247"/>
                <a:gd name="T75" fmla="*/ 0 h 315"/>
                <a:gd name="T76" fmla="*/ 95 w 247"/>
                <a:gd name="T77" fmla="*/ 5 h 315"/>
                <a:gd name="T78" fmla="*/ 68 w 247"/>
                <a:gd name="T79" fmla="*/ 11 h 315"/>
                <a:gd name="T80" fmla="*/ 47 w 247"/>
                <a:gd name="T81" fmla="*/ 26 h 315"/>
                <a:gd name="T82" fmla="*/ 32 w 247"/>
                <a:gd name="T83" fmla="*/ 42 h 315"/>
                <a:gd name="T84" fmla="*/ 21 w 247"/>
                <a:gd name="T85" fmla="*/ 63 h 315"/>
                <a:gd name="T86" fmla="*/ 16 w 247"/>
                <a:gd name="T87" fmla="*/ 84 h 315"/>
                <a:gd name="T88" fmla="*/ 11 w 247"/>
                <a:gd name="T89" fmla="*/ 110 h 315"/>
                <a:gd name="T90" fmla="*/ 6 w 247"/>
                <a:gd name="T91" fmla="*/ 136 h 315"/>
                <a:gd name="T92" fmla="*/ 6 w 247"/>
                <a:gd name="T93" fmla="*/ 136 h 315"/>
                <a:gd name="T94" fmla="*/ 11 w 247"/>
                <a:gd name="T95" fmla="*/ 142 h 315"/>
                <a:gd name="T96" fmla="*/ 11 w 247"/>
                <a:gd name="T97" fmla="*/ 142 h 315"/>
                <a:gd name="T98" fmla="*/ 6 w 247"/>
                <a:gd name="T99" fmla="*/ 147 h 315"/>
                <a:gd name="T100" fmla="*/ 6 w 247"/>
                <a:gd name="T101" fmla="*/ 152 h 315"/>
                <a:gd name="T102" fmla="*/ 6 w 247"/>
                <a:gd name="T103" fmla="*/ 152 h 315"/>
                <a:gd name="T104" fmla="*/ 0 w 247"/>
                <a:gd name="T105" fmla="*/ 152 h 315"/>
                <a:gd name="T106" fmla="*/ 0 w 247"/>
                <a:gd name="T107" fmla="*/ 152 h 315"/>
                <a:gd name="T108" fmla="*/ 0 w 247"/>
                <a:gd name="T109" fmla="*/ 168 h 315"/>
                <a:gd name="T110" fmla="*/ 0 w 247"/>
                <a:gd name="T111" fmla="*/ 184 h 315"/>
                <a:gd name="T112" fmla="*/ 11 w 247"/>
                <a:gd name="T113" fmla="*/ 205 h 315"/>
                <a:gd name="T114" fmla="*/ 11 w 247"/>
                <a:gd name="T115" fmla="*/ 205 h 315"/>
                <a:gd name="T116" fmla="*/ 21 w 247"/>
                <a:gd name="T117" fmla="*/ 205 h 315"/>
                <a:gd name="T118" fmla="*/ 21 w 247"/>
                <a:gd name="T119" fmla="*/ 205 h 315"/>
                <a:gd name="T120" fmla="*/ 21 w 247"/>
                <a:gd name="T121" fmla="*/ 20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47" h="315">
                  <a:moveTo>
                    <a:pt x="21" y="205"/>
                  </a:moveTo>
                  <a:lnTo>
                    <a:pt x="21" y="205"/>
                  </a:lnTo>
                  <a:lnTo>
                    <a:pt x="32" y="231"/>
                  </a:lnTo>
                  <a:lnTo>
                    <a:pt x="32" y="231"/>
                  </a:lnTo>
                  <a:lnTo>
                    <a:pt x="53" y="268"/>
                  </a:lnTo>
                  <a:lnTo>
                    <a:pt x="79" y="294"/>
                  </a:lnTo>
                  <a:lnTo>
                    <a:pt x="100" y="310"/>
                  </a:lnTo>
                  <a:lnTo>
                    <a:pt x="126" y="315"/>
                  </a:lnTo>
                  <a:lnTo>
                    <a:pt x="147" y="310"/>
                  </a:lnTo>
                  <a:lnTo>
                    <a:pt x="173" y="294"/>
                  </a:lnTo>
                  <a:lnTo>
                    <a:pt x="194" y="268"/>
                  </a:lnTo>
                  <a:lnTo>
                    <a:pt x="215" y="231"/>
                  </a:lnTo>
                  <a:lnTo>
                    <a:pt x="215" y="231"/>
                  </a:lnTo>
                  <a:lnTo>
                    <a:pt x="226" y="205"/>
                  </a:lnTo>
                  <a:lnTo>
                    <a:pt x="226" y="205"/>
                  </a:lnTo>
                  <a:lnTo>
                    <a:pt x="226" y="205"/>
                  </a:lnTo>
                  <a:lnTo>
                    <a:pt x="236" y="205"/>
                  </a:lnTo>
                  <a:lnTo>
                    <a:pt x="236" y="205"/>
                  </a:lnTo>
                  <a:lnTo>
                    <a:pt x="247" y="184"/>
                  </a:lnTo>
                  <a:lnTo>
                    <a:pt x="247" y="168"/>
                  </a:lnTo>
                  <a:lnTo>
                    <a:pt x="247" y="152"/>
                  </a:lnTo>
                  <a:lnTo>
                    <a:pt x="247" y="152"/>
                  </a:lnTo>
                  <a:lnTo>
                    <a:pt x="242" y="152"/>
                  </a:lnTo>
                  <a:lnTo>
                    <a:pt x="242" y="152"/>
                  </a:lnTo>
                  <a:lnTo>
                    <a:pt x="242" y="147"/>
                  </a:lnTo>
                  <a:lnTo>
                    <a:pt x="242" y="142"/>
                  </a:lnTo>
                  <a:lnTo>
                    <a:pt x="242" y="142"/>
                  </a:lnTo>
                  <a:lnTo>
                    <a:pt x="242" y="136"/>
                  </a:lnTo>
                  <a:lnTo>
                    <a:pt x="242" y="136"/>
                  </a:lnTo>
                  <a:lnTo>
                    <a:pt x="236" y="110"/>
                  </a:lnTo>
                  <a:lnTo>
                    <a:pt x="236" y="84"/>
                  </a:lnTo>
                  <a:lnTo>
                    <a:pt x="226" y="63"/>
                  </a:lnTo>
                  <a:lnTo>
                    <a:pt x="215" y="42"/>
                  </a:lnTo>
                  <a:lnTo>
                    <a:pt x="200" y="26"/>
                  </a:lnTo>
                  <a:lnTo>
                    <a:pt x="179" y="11"/>
                  </a:lnTo>
                  <a:lnTo>
                    <a:pt x="152" y="5"/>
                  </a:lnTo>
                  <a:lnTo>
                    <a:pt x="126" y="0"/>
                  </a:lnTo>
                  <a:lnTo>
                    <a:pt x="126" y="0"/>
                  </a:lnTo>
                  <a:lnTo>
                    <a:pt x="95" y="5"/>
                  </a:lnTo>
                  <a:lnTo>
                    <a:pt x="68" y="11"/>
                  </a:lnTo>
                  <a:lnTo>
                    <a:pt x="47" y="26"/>
                  </a:lnTo>
                  <a:lnTo>
                    <a:pt x="32" y="42"/>
                  </a:lnTo>
                  <a:lnTo>
                    <a:pt x="21" y="63"/>
                  </a:lnTo>
                  <a:lnTo>
                    <a:pt x="16" y="84"/>
                  </a:lnTo>
                  <a:lnTo>
                    <a:pt x="11" y="110"/>
                  </a:lnTo>
                  <a:lnTo>
                    <a:pt x="6" y="136"/>
                  </a:lnTo>
                  <a:lnTo>
                    <a:pt x="6" y="136"/>
                  </a:lnTo>
                  <a:lnTo>
                    <a:pt x="11" y="142"/>
                  </a:lnTo>
                  <a:lnTo>
                    <a:pt x="11" y="142"/>
                  </a:lnTo>
                  <a:lnTo>
                    <a:pt x="6" y="147"/>
                  </a:lnTo>
                  <a:lnTo>
                    <a:pt x="6" y="152"/>
                  </a:lnTo>
                  <a:lnTo>
                    <a:pt x="6" y="152"/>
                  </a:lnTo>
                  <a:lnTo>
                    <a:pt x="0" y="152"/>
                  </a:lnTo>
                  <a:lnTo>
                    <a:pt x="0" y="152"/>
                  </a:lnTo>
                  <a:lnTo>
                    <a:pt x="0" y="168"/>
                  </a:lnTo>
                  <a:lnTo>
                    <a:pt x="0" y="184"/>
                  </a:lnTo>
                  <a:lnTo>
                    <a:pt x="11" y="205"/>
                  </a:lnTo>
                  <a:lnTo>
                    <a:pt x="11" y="205"/>
                  </a:lnTo>
                  <a:lnTo>
                    <a:pt x="21" y="205"/>
                  </a:lnTo>
                  <a:lnTo>
                    <a:pt x="21" y="205"/>
                  </a:lnTo>
                  <a:lnTo>
                    <a:pt x="21" y="2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70" name="Freeform 179">
              <a:extLst>
                <a:ext uri="{FF2B5EF4-FFF2-40B4-BE49-F238E27FC236}">
                  <a16:creationId xmlns:a16="http://schemas.microsoft.com/office/drawing/2014/main" id="{EB4FFE25-4DF1-420C-8A19-7F19A7EEEFE1}"/>
                </a:ext>
              </a:extLst>
            </p:cNvPr>
            <p:cNvSpPr>
              <a:spLocks/>
            </p:cNvSpPr>
            <p:nvPr/>
          </p:nvSpPr>
          <p:spPr bwMode="auto">
            <a:xfrm>
              <a:off x="6582803" y="5009646"/>
              <a:ext cx="274534" cy="115564"/>
            </a:xfrm>
            <a:custGeom>
              <a:avLst/>
              <a:gdLst>
                <a:gd name="T0" fmla="*/ 487 w 487"/>
                <a:gd name="T1" fmla="*/ 205 h 205"/>
                <a:gd name="T2" fmla="*/ 487 w 487"/>
                <a:gd name="T3" fmla="*/ 110 h 205"/>
                <a:gd name="T4" fmla="*/ 487 w 487"/>
                <a:gd name="T5" fmla="*/ 110 h 205"/>
                <a:gd name="T6" fmla="*/ 482 w 487"/>
                <a:gd name="T7" fmla="*/ 95 h 205"/>
                <a:gd name="T8" fmla="*/ 466 w 487"/>
                <a:gd name="T9" fmla="*/ 79 h 205"/>
                <a:gd name="T10" fmla="*/ 367 w 487"/>
                <a:gd name="T11" fmla="*/ 32 h 205"/>
                <a:gd name="T12" fmla="*/ 367 w 487"/>
                <a:gd name="T13" fmla="*/ 32 h 205"/>
                <a:gd name="T14" fmla="*/ 346 w 487"/>
                <a:gd name="T15" fmla="*/ 16 h 205"/>
                <a:gd name="T16" fmla="*/ 330 w 487"/>
                <a:gd name="T17" fmla="*/ 0 h 205"/>
                <a:gd name="T18" fmla="*/ 309 w 487"/>
                <a:gd name="T19" fmla="*/ 37 h 205"/>
                <a:gd name="T20" fmla="*/ 272 w 487"/>
                <a:gd name="T21" fmla="*/ 131 h 205"/>
                <a:gd name="T22" fmla="*/ 262 w 487"/>
                <a:gd name="T23" fmla="*/ 42 h 205"/>
                <a:gd name="T24" fmla="*/ 272 w 487"/>
                <a:gd name="T25" fmla="*/ 27 h 205"/>
                <a:gd name="T26" fmla="*/ 272 w 487"/>
                <a:gd name="T27" fmla="*/ 27 h 205"/>
                <a:gd name="T28" fmla="*/ 246 w 487"/>
                <a:gd name="T29" fmla="*/ 32 h 205"/>
                <a:gd name="T30" fmla="*/ 246 w 487"/>
                <a:gd name="T31" fmla="*/ 32 h 205"/>
                <a:gd name="T32" fmla="*/ 215 w 487"/>
                <a:gd name="T33" fmla="*/ 27 h 205"/>
                <a:gd name="T34" fmla="*/ 225 w 487"/>
                <a:gd name="T35" fmla="*/ 42 h 205"/>
                <a:gd name="T36" fmla="*/ 215 w 487"/>
                <a:gd name="T37" fmla="*/ 126 h 205"/>
                <a:gd name="T38" fmla="*/ 178 w 487"/>
                <a:gd name="T39" fmla="*/ 37 h 205"/>
                <a:gd name="T40" fmla="*/ 157 w 487"/>
                <a:gd name="T41" fmla="*/ 0 h 205"/>
                <a:gd name="T42" fmla="*/ 157 w 487"/>
                <a:gd name="T43" fmla="*/ 0 h 205"/>
                <a:gd name="T44" fmla="*/ 141 w 487"/>
                <a:gd name="T45" fmla="*/ 16 h 205"/>
                <a:gd name="T46" fmla="*/ 120 w 487"/>
                <a:gd name="T47" fmla="*/ 32 h 205"/>
                <a:gd name="T48" fmla="*/ 21 w 487"/>
                <a:gd name="T49" fmla="*/ 79 h 205"/>
                <a:gd name="T50" fmla="*/ 21 w 487"/>
                <a:gd name="T51" fmla="*/ 79 h 205"/>
                <a:gd name="T52" fmla="*/ 5 w 487"/>
                <a:gd name="T53" fmla="*/ 95 h 205"/>
                <a:gd name="T54" fmla="*/ 0 w 487"/>
                <a:gd name="T55" fmla="*/ 110 h 205"/>
                <a:gd name="T56" fmla="*/ 0 w 487"/>
                <a:gd name="T57" fmla="*/ 205 h 205"/>
                <a:gd name="T58" fmla="*/ 487 w 487"/>
                <a:gd name="T59" fmla="*/ 205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87" h="205">
                  <a:moveTo>
                    <a:pt x="487" y="205"/>
                  </a:moveTo>
                  <a:lnTo>
                    <a:pt x="487" y="110"/>
                  </a:lnTo>
                  <a:lnTo>
                    <a:pt x="487" y="110"/>
                  </a:lnTo>
                  <a:lnTo>
                    <a:pt x="482" y="95"/>
                  </a:lnTo>
                  <a:lnTo>
                    <a:pt x="466" y="79"/>
                  </a:lnTo>
                  <a:lnTo>
                    <a:pt x="367" y="32"/>
                  </a:lnTo>
                  <a:lnTo>
                    <a:pt x="367" y="32"/>
                  </a:lnTo>
                  <a:lnTo>
                    <a:pt x="346" y="16"/>
                  </a:lnTo>
                  <a:lnTo>
                    <a:pt x="330" y="0"/>
                  </a:lnTo>
                  <a:lnTo>
                    <a:pt x="309" y="37"/>
                  </a:lnTo>
                  <a:lnTo>
                    <a:pt x="272" y="131"/>
                  </a:lnTo>
                  <a:lnTo>
                    <a:pt x="262" y="42"/>
                  </a:lnTo>
                  <a:lnTo>
                    <a:pt x="272" y="27"/>
                  </a:lnTo>
                  <a:lnTo>
                    <a:pt x="272" y="27"/>
                  </a:lnTo>
                  <a:lnTo>
                    <a:pt x="246" y="32"/>
                  </a:lnTo>
                  <a:lnTo>
                    <a:pt x="246" y="32"/>
                  </a:lnTo>
                  <a:lnTo>
                    <a:pt x="215" y="27"/>
                  </a:lnTo>
                  <a:lnTo>
                    <a:pt x="225" y="42"/>
                  </a:lnTo>
                  <a:lnTo>
                    <a:pt x="215" y="126"/>
                  </a:lnTo>
                  <a:lnTo>
                    <a:pt x="178" y="37"/>
                  </a:lnTo>
                  <a:lnTo>
                    <a:pt x="157" y="0"/>
                  </a:lnTo>
                  <a:lnTo>
                    <a:pt x="157" y="0"/>
                  </a:lnTo>
                  <a:lnTo>
                    <a:pt x="141" y="16"/>
                  </a:lnTo>
                  <a:lnTo>
                    <a:pt x="120" y="32"/>
                  </a:lnTo>
                  <a:lnTo>
                    <a:pt x="21" y="79"/>
                  </a:lnTo>
                  <a:lnTo>
                    <a:pt x="21" y="79"/>
                  </a:lnTo>
                  <a:lnTo>
                    <a:pt x="5" y="95"/>
                  </a:lnTo>
                  <a:lnTo>
                    <a:pt x="0" y="110"/>
                  </a:lnTo>
                  <a:lnTo>
                    <a:pt x="0" y="205"/>
                  </a:lnTo>
                  <a:lnTo>
                    <a:pt x="487" y="2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71" name="Freeform 180">
              <a:extLst>
                <a:ext uri="{FF2B5EF4-FFF2-40B4-BE49-F238E27FC236}">
                  <a16:creationId xmlns:a16="http://schemas.microsoft.com/office/drawing/2014/main" id="{6ECB54CF-BBF4-481F-89CE-EA1707FFC0CC}"/>
                </a:ext>
              </a:extLst>
            </p:cNvPr>
            <p:cNvSpPr>
              <a:spLocks/>
            </p:cNvSpPr>
            <p:nvPr/>
          </p:nvSpPr>
          <p:spPr bwMode="auto">
            <a:xfrm>
              <a:off x="6644813" y="5178200"/>
              <a:ext cx="150514" cy="156715"/>
            </a:xfrm>
            <a:custGeom>
              <a:avLst/>
              <a:gdLst>
                <a:gd name="T0" fmla="*/ 16 w 267"/>
                <a:gd name="T1" fmla="*/ 278 h 278"/>
                <a:gd name="T2" fmla="*/ 252 w 267"/>
                <a:gd name="T3" fmla="*/ 278 h 278"/>
                <a:gd name="T4" fmla="*/ 252 w 267"/>
                <a:gd name="T5" fmla="*/ 278 h 278"/>
                <a:gd name="T6" fmla="*/ 262 w 267"/>
                <a:gd name="T7" fmla="*/ 273 h 278"/>
                <a:gd name="T8" fmla="*/ 267 w 267"/>
                <a:gd name="T9" fmla="*/ 263 h 278"/>
                <a:gd name="T10" fmla="*/ 267 w 267"/>
                <a:gd name="T11" fmla="*/ 16 h 278"/>
                <a:gd name="T12" fmla="*/ 267 w 267"/>
                <a:gd name="T13" fmla="*/ 16 h 278"/>
                <a:gd name="T14" fmla="*/ 262 w 267"/>
                <a:gd name="T15" fmla="*/ 6 h 278"/>
                <a:gd name="T16" fmla="*/ 252 w 267"/>
                <a:gd name="T17" fmla="*/ 0 h 278"/>
                <a:gd name="T18" fmla="*/ 16 w 267"/>
                <a:gd name="T19" fmla="*/ 0 h 278"/>
                <a:gd name="T20" fmla="*/ 16 w 267"/>
                <a:gd name="T21" fmla="*/ 0 h 278"/>
                <a:gd name="T22" fmla="*/ 5 w 267"/>
                <a:gd name="T23" fmla="*/ 6 h 278"/>
                <a:gd name="T24" fmla="*/ 0 w 267"/>
                <a:gd name="T25" fmla="*/ 16 h 278"/>
                <a:gd name="T26" fmla="*/ 0 w 267"/>
                <a:gd name="T27" fmla="*/ 263 h 278"/>
                <a:gd name="T28" fmla="*/ 0 w 267"/>
                <a:gd name="T29" fmla="*/ 263 h 278"/>
                <a:gd name="T30" fmla="*/ 5 w 267"/>
                <a:gd name="T31" fmla="*/ 273 h 278"/>
                <a:gd name="T32" fmla="*/ 16 w 267"/>
                <a:gd name="T33" fmla="*/ 278 h 278"/>
                <a:gd name="T34" fmla="*/ 16 w 267"/>
                <a:gd name="T35" fmla="*/ 278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278">
                  <a:moveTo>
                    <a:pt x="16" y="278"/>
                  </a:moveTo>
                  <a:lnTo>
                    <a:pt x="252" y="278"/>
                  </a:lnTo>
                  <a:lnTo>
                    <a:pt x="252" y="278"/>
                  </a:lnTo>
                  <a:lnTo>
                    <a:pt x="262" y="273"/>
                  </a:lnTo>
                  <a:lnTo>
                    <a:pt x="267" y="263"/>
                  </a:lnTo>
                  <a:lnTo>
                    <a:pt x="267" y="16"/>
                  </a:lnTo>
                  <a:lnTo>
                    <a:pt x="267" y="16"/>
                  </a:lnTo>
                  <a:lnTo>
                    <a:pt x="262" y="6"/>
                  </a:lnTo>
                  <a:lnTo>
                    <a:pt x="252" y="0"/>
                  </a:lnTo>
                  <a:lnTo>
                    <a:pt x="16" y="0"/>
                  </a:lnTo>
                  <a:lnTo>
                    <a:pt x="16" y="0"/>
                  </a:lnTo>
                  <a:lnTo>
                    <a:pt x="5" y="6"/>
                  </a:lnTo>
                  <a:lnTo>
                    <a:pt x="0" y="16"/>
                  </a:lnTo>
                  <a:lnTo>
                    <a:pt x="0" y="263"/>
                  </a:lnTo>
                  <a:lnTo>
                    <a:pt x="0" y="263"/>
                  </a:lnTo>
                  <a:lnTo>
                    <a:pt x="5" y="273"/>
                  </a:lnTo>
                  <a:lnTo>
                    <a:pt x="16" y="278"/>
                  </a:lnTo>
                  <a:lnTo>
                    <a:pt x="16" y="2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72" name="Freeform 181">
              <a:extLst>
                <a:ext uri="{FF2B5EF4-FFF2-40B4-BE49-F238E27FC236}">
                  <a16:creationId xmlns:a16="http://schemas.microsoft.com/office/drawing/2014/main" id="{7ADB6F1C-24EE-40F4-A9E4-8BE653C33224}"/>
                </a:ext>
              </a:extLst>
            </p:cNvPr>
            <p:cNvSpPr>
              <a:spLocks/>
            </p:cNvSpPr>
            <p:nvPr/>
          </p:nvSpPr>
          <p:spPr bwMode="auto">
            <a:xfrm>
              <a:off x="6644813" y="5178200"/>
              <a:ext cx="150514" cy="89068"/>
            </a:xfrm>
            <a:custGeom>
              <a:avLst/>
              <a:gdLst>
                <a:gd name="T0" fmla="*/ 252 w 267"/>
                <a:gd name="T1" fmla="*/ 0 h 158"/>
                <a:gd name="T2" fmla="*/ 16 w 267"/>
                <a:gd name="T3" fmla="*/ 0 h 158"/>
                <a:gd name="T4" fmla="*/ 16 w 267"/>
                <a:gd name="T5" fmla="*/ 0 h 158"/>
                <a:gd name="T6" fmla="*/ 5 w 267"/>
                <a:gd name="T7" fmla="*/ 6 h 158"/>
                <a:gd name="T8" fmla="*/ 0 w 267"/>
                <a:gd name="T9" fmla="*/ 16 h 158"/>
                <a:gd name="T10" fmla="*/ 0 w 267"/>
                <a:gd name="T11" fmla="*/ 158 h 158"/>
                <a:gd name="T12" fmla="*/ 267 w 267"/>
                <a:gd name="T13" fmla="*/ 158 h 158"/>
                <a:gd name="T14" fmla="*/ 267 w 267"/>
                <a:gd name="T15" fmla="*/ 16 h 158"/>
                <a:gd name="T16" fmla="*/ 267 w 267"/>
                <a:gd name="T17" fmla="*/ 16 h 158"/>
                <a:gd name="T18" fmla="*/ 262 w 267"/>
                <a:gd name="T19" fmla="*/ 6 h 158"/>
                <a:gd name="T20" fmla="*/ 252 w 267"/>
                <a:gd name="T21" fmla="*/ 0 h 158"/>
                <a:gd name="T22" fmla="*/ 252 w 267"/>
                <a:gd name="T23" fmla="*/ 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7" h="158">
                  <a:moveTo>
                    <a:pt x="252" y="0"/>
                  </a:moveTo>
                  <a:lnTo>
                    <a:pt x="16" y="0"/>
                  </a:lnTo>
                  <a:lnTo>
                    <a:pt x="16" y="0"/>
                  </a:lnTo>
                  <a:lnTo>
                    <a:pt x="5" y="6"/>
                  </a:lnTo>
                  <a:lnTo>
                    <a:pt x="0" y="16"/>
                  </a:lnTo>
                  <a:lnTo>
                    <a:pt x="0" y="158"/>
                  </a:lnTo>
                  <a:lnTo>
                    <a:pt x="267" y="158"/>
                  </a:lnTo>
                  <a:lnTo>
                    <a:pt x="267" y="16"/>
                  </a:lnTo>
                  <a:lnTo>
                    <a:pt x="267" y="16"/>
                  </a:lnTo>
                  <a:lnTo>
                    <a:pt x="262" y="6"/>
                  </a:lnTo>
                  <a:lnTo>
                    <a:pt x="252" y="0"/>
                  </a:lnTo>
                  <a:lnTo>
                    <a:pt x="25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73" name="Freeform 182">
              <a:extLst>
                <a:ext uri="{FF2B5EF4-FFF2-40B4-BE49-F238E27FC236}">
                  <a16:creationId xmlns:a16="http://schemas.microsoft.com/office/drawing/2014/main" id="{FF7B8479-DAED-43B9-804E-64AFC59490DB}"/>
                </a:ext>
              </a:extLst>
            </p:cNvPr>
            <p:cNvSpPr>
              <a:spLocks/>
            </p:cNvSpPr>
            <p:nvPr/>
          </p:nvSpPr>
          <p:spPr bwMode="auto">
            <a:xfrm>
              <a:off x="6573784" y="5142685"/>
              <a:ext cx="292573" cy="124583"/>
            </a:xfrm>
            <a:custGeom>
              <a:avLst/>
              <a:gdLst>
                <a:gd name="T0" fmla="*/ 488 w 519"/>
                <a:gd name="T1" fmla="*/ 0 h 221"/>
                <a:gd name="T2" fmla="*/ 31 w 519"/>
                <a:gd name="T3" fmla="*/ 0 h 221"/>
                <a:gd name="T4" fmla="*/ 31 w 519"/>
                <a:gd name="T5" fmla="*/ 0 h 221"/>
                <a:gd name="T6" fmla="*/ 21 w 519"/>
                <a:gd name="T7" fmla="*/ 6 h 221"/>
                <a:gd name="T8" fmla="*/ 10 w 519"/>
                <a:gd name="T9" fmla="*/ 11 h 221"/>
                <a:gd name="T10" fmla="*/ 5 w 519"/>
                <a:gd name="T11" fmla="*/ 21 h 221"/>
                <a:gd name="T12" fmla="*/ 0 w 519"/>
                <a:gd name="T13" fmla="*/ 32 h 221"/>
                <a:gd name="T14" fmla="*/ 42 w 519"/>
                <a:gd name="T15" fmla="*/ 189 h 221"/>
                <a:gd name="T16" fmla="*/ 42 w 519"/>
                <a:gd name="T17" fmla="*/ 189 h 221"/>
                <a:gd name="T18" fmla="*/ 47 w 519"/>
                <a:gd name="T19" fmla="*/ 200 h 221"/>
                <a:gd name="T20" fmla="*/ 52 w 519"/>
                <a:gd name="T21" fmla="*/ 210 h 221"/>
                <a:gd name="T22" fmla="*/ 63 w 519"/>
                <a:gd name="T23" fmla="*/ 215 h 221"/>
                <a:gd name="T24" fmla="*/ 73 w 519"/>
                <a:gd name="T25" fmla="*/ 221 h 221"/>
                <a:gd name="T26" fmla="*/ 105 w 519"/>
                <a:gd name="T27" fmla="*/ 221 h 221"/>
                <a:gd name="T28" fmla="*/ 105 w 519"/>
                <a:gd name="T29" fmla="*/ 79 h 221"/>
                <a:gd name="T30" fmla="*/ 105 w 519"/>
                <a:gd name="T31" fmla="*/ 79 h 221"/>
                <a:gd name="T32" fmla="*/ 105 w 519"/>
                <a:gd name="T33" fmla="*/ 63 h 221"/>
                <a:gd name="T34" fmla="*/ 115 w 519"/>
                <a:gd name="T35" fmla="*/ 53 h 221"/>
                <a:gd name="T36" fmla="*/ 126 w 519"/>
                <a:gd name="T37" fmla="*/ 42 h 221"/>
                <a:gd name="T38" fmla="*/ 142 w 519"/>
                <a:gd name="T39" fmla="*/ 42 h 221"/>
                <a:gd name="T40" fmla="*/ 378 w 519"/>
                <a:gd name="T41" fmla="*/ 42 h 221"/>
                <a:gd name="T42" fmla="*/ 378 w 519"/>
                <a:gd name="T43" fmla="*/ 42 h 221"/>
                <a:gd name="T44" fmla="*/ 393 w 519"/>
                <a:gd name="T45" fmla="*/ 42 h 221"/>
                <a:gd name="T46" fmla="*/ 404 w 519"/>
                <a:gd name="T47" fmla="*/ 53 h 221"/>
                <a:gd name="T48" fmla="*/ 414 w 519"/>
                <a:gd name="T49" fmla="*/ 63 h 221"/>
                <a:gd name="T50" fmla="*/ 414 w 519"/>
                <a:gd name="T51" fmla="*/ 79 h 221"/>
                <a:gd name="T52" fmla="*/ 414 w 519"/>
                <a:gd name="T53" fmla="*/ 221 h 221"/>
                <a:gd name="T54" fmla="*/ 446 w 519"/>
                <a:gd name="T55" fmla="*/ 221 h 221"/>
                <a:gd name="T56" fmla="*/ 446 w 519"/>
                <a:gd name="T57" fmla="*/ 221 h 221"/>
                <a:gd name="T58" fmla="*/ 456 w 519"/>
                <a:gd name="T59" fmla="*/ 215 h 221"/>
                <a:gd name="T60" fmla="*/ 467 w 519"/>
                <a:gd name="T61" fmla="*/ 210 h 221"/>
                <a:gd name="T62" fmla="*/ 477 w 519"/>
                <a:gd name="T63" fmla="*/ 200 h 221"/>
                <a:gd name="T64" fmla="*/ 477 w 519"/>
                <a:gd name="T65" fmla="*/ 189 h 221"/>
                <a:gd name="T66" fmla="*/ 519 w 519"/>
                <a:gd name="T67" fmla="*/ 32 h 221"/>
                <a:gd name="T68" fmla="*/ 519 w 519"/>
                <a:gd name="T69" fmla="*/ 32 h 221"/>
                <a:gd name="T70" fmla="*/ 519 w 519"/>
                <a:gd name="T71" fmla="*/ 21 h 221"/>
                <a:gd name="T72" fmla="*/ 509 w 519"/>
                <a:gd name="T73" fmla="*/ 11 h 221"/>
                <a:gd name="T74" fmla="*/ 498 w 519"/>
                <a:gd name="T75" fmla="*/ 6 h 221"/>
                <a:gd name="T76" fmla="*/ 488 w 519"/>
                <a:gd name="T77" fmla="*/ 0 h 221"/>
                <a:gd name="T78" fmla="*/ 488 w 519"/>
                <a:gd name="T79"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9" h="221">
                  <a:moveTo>
                    <a:pt x="488" y="0"/>
                  </a:moveTo>
                  <a:lnTo>
                    <a:pt x="31" y="0"/>
                  </a:lnTo>
                  <a:lnTo>
                    <a:pt x="31" y="0"/>
                  </a:lnTo>
                  <a:lnTo>
                    <a:pt x="21" y="6"/>
                  </a:lnTo>
                  <a:lnTo>
                    <a:pt x="10" y="11"/>
                  </a:lnTo>
                  <a:lnTo>
                    <a:pt x="5" y="21"/>
                  </a:lnTo>
                  <a:lnTo>
                    <a:pt x="0" y="32"/>
                  </a:lnTo>
                  <a:lnTo>
                    <a:pt x="42" y="189"/>
                  </a:lnTo>
                  <a:lnTo>
                    <a:pt x="42" y="189"/>
                  </a:lnTo>
                  <a:lnTo>
                    <a:pt x="47" y="200"/>
                  </a:lnTo>
                  <a:lnTo>
                    <a:pt x="52" y="210"/>
                  </a:lnTo>
                  <a:lnTo>
                    <a:pt x="63" y="215"/>
                  </a:lnTo>
                  <a:lnTo>
                    <a:pt x="73" y="221"/>
                  </a:lnTo>
                  <a:lnTo>
                    <a:pt x="105" y="221"/>
                  </a:lnTo>
                  <a:lnTo>
                    <a:pt x="105" y="79"/>
                  </a:lnTo>
                  <a:lnTo>
                    <a:pt x="105" y="79"/>
                  </a:lnTo>
                  <a:lnTo>
                    <a:pt x="105" y="63"/>
                  </a:lnTo>
                  <a:lnTo>
                    <a:pt x="115" y="53"/>
                  </a:lnTo>
                  <a:lnTo>
                    <a:pt x="126" y="42"/>
                  </a:lnTo>
                  <a:lnTo>
                    <a:pt x="142" y="42"/>
                  </a:lnTo>
                  <a:lnTo>
                    <a:pt x="378" y="42"/>
                  </a:lnTo>
                  <a:lnTo>
                    <a:pt x="378" y="42"/>
                  </a:lnTo>
                  <a:lnTo>
                    <a:pt x="393" y="42"/>
                  </a:lnTo>
                  <a:lnTo>
                    <a:pt x="404" y="53"/>
                  </a:lnTo>
                  <a:lnTo>
                    <a:pt x="414" y="63"/>
                  </a:lnTo>
                  <a:lnTo>
                    <a:pt x="414" y="79"/>
                  </a:lnTo>
                  <a:lnTo>
                    <a:pt x="414" y="221"/>
                  </a:lnTo>
                  <a:lnTo>
                    <a:pt x="446" y="221"/>
                  </a:lnTo>
                  <a:lnTo>
                    <a:pt x="446" y="221"/>
                  </a:lnTo>
                  <a:lnTo>
                    <a:pt x="456" y="215"/>
                  </a:lnTo>
                  <a:lnTo>
                    <a:pt x="467" y="210"/>
                  </a:lnTo>
                  <a:lnTo>
                    <a:pt x="477" y="200"/>
                  </a:lnTo>
                  <a:lnTo>
                    <a:pt x="477" y="189"/>
                  </a:lnTo>
                  <a:lnTo>
                    <a:pt x="519" y="32"/>
                  </a:lnTo>
                  <a:lnTo>
                    <a:pt x="519" y="32"/>
                  </a:lnTo>
                  <a:lnTo>
                    <a:pt x="519" y="21"/>
                  </a:lnTo>
                  <a:lnTo>
                    <a:pt x="509" y="11"/>
                  </a:lnTo>
                  <a:lnTo>
                    <a:pt x="498" y="6"/>
                  </a:lnTo>
                  <a:lnTo>
                    <a:pt x="488" y="0"/>
                  </a:lnTo>
                  <a:lnTo>
                    <a:pt x="4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74" name="Freeform 183">
              <a:extLst>
                <a:ext uri="{FF2B5EF4-FFF2-40B4-BE49-F238E27FC236}">
                  <a16:creationId xmlns:a16="http://schemas.microsoft.com/office/drawing/2014/main" id="{E716381C-D189-4F56-ABD7-731252C70D2F}"/>
                </a:ext>
              </a:extLst>
            </p:cNvPr>
            <p:cNvSpPr>
              <a:spLocks noEditPoints="1"/>
            </p:cNvSpPr>
            <p:nvPr/>
          </p:nvSpPr>
          <p:spPr bwMode="auto">
            <a:xfrm>
              <a:off x="6801528" y="4743568"/>
              <a:ext cx="221544" cy="213088"/>
            </a:xfrm>
            <a:custGeom>
              <a:avLst/>
              <a:gdLst>
                <a:gd name="T0" fmla="*/ 42 w 393"/>
                <a:gd name="T1" fmla="*/ 273 h 378"/>
                <a:gd name="T2" fmla="*/ 15 w 393"/>
                <a:gd name="T3" fmla="*/ 226 h 378"/>
                <a:gd name="T4" fmla="*/ 0 w 393"/>
                <a:gd name="T5" fmla="*/ 179 h 378"/>
                <a:gd name="T6" fmla="*/ 5 w 393"/>
                <a:gd name="T7" fmla="*/ 116 h 378"/>
                <a:gd name="T8" fmla="*/ 63 w 393"/>
                <a:gd name="T9" fmla="*/ 37 h 378"/>
                <a:gd name="T10" fmla="*/ 131 w 393"/>
                <a:gd name="T11" fmla="*/ 5 h 378"/>
                <a:gd name="T12" fmla="*/ 210 w 393"/>
                <a:gd name="T13" fmla="*/ 0 h 378"/>
                <a:gd name="T14" fmla="*/ 314 w 393"/>
                <a:gd name="T15" fmla="*/ 26 h 378"/>
                <a:gd name="T16" fmla="*/ 362 w 393"/>
                <a:gd name="T17" fmla="*/ 63 h 378"/>
                <a:gd name="T18" fmla="*/ 393 w 393"/>
                <a:gd name="T19" fmla="*/ 147 h 378"/>
                <a:gd name="T20" fmla="*/ 383 w 393"/>
                <a:gd name="T21" fmla="*/ 210 h 378"/>
                <a:gd name="T22" fmla="*/ 346 w 393"/>
                <a:gd name="T23" fmla="*/ 263 h 378"/>
                <a:gd name="T24" fmla="*/ 278 w 393"/>
                <a:gd name="T25" fmla="*/ 304 h 378"/>
                <a:gd name="T26" fmla="*/ 199 w 393"/>
                <a:gd name="T27" fmla="*/ 320 h 378"/>
                <a:gd name="T28" fmla="*/ 131 w 393"/>
                <a:gd name="T29" fmla="*/ 331 h 378"/>
                <a:gd name="T30" fmla="*/ 57 w 393"/>
                <a:gd name="T31" fmla="*/ 373 h 378"/>
                <a:gd name="T32" fmla="*/ 15 w 393"/>
                <a:gd name="T33" fmla="*/ 378 h 378"/>
                <a:gd name="T34" fmla="*/ 47 w 393"/>
                <a:gd name="T35" fmla="*/ 299 h 378"/>
                <a:gd name="T36" fmla="*/ 199 w 393"/>
                <a:gd name="T37" fmla="*/ 126 h 378"/>
                <a:gd name="T38" fmla="*/ 178 w 393"/>
                <a:gd name="T39" fmla="*/ 147 h 378"/>
                <a:gd name="T40" fmla="*/ 178 w 393"/>
                <a:gd name="T41" fmla="*/ 163 h 378"/>
                <a:gd name="T42" fmla="*/ 199 w 393"/>
                <a:gd name="T43" fmla="*/ 184 h 378"/>
                <a:gd name="T44" fmla="*/ 220 w 393"/>
                <a:gd name="T45" fmla="*/ 173 h 378"/>
                <a:gd name="T46" fmla="*/ 225 w 393"/>
                <a:gd name="T47" fmla="*/ 152 h 378"/>
                <a:gd name="T48" fmla="*/ 210 w 393"/>
                <a:gd name="T49" fmla="*/ 131 h 378"/>
                <a:gd name="T50" fmla="*/ 126 w 393"/>
                <a:gd name="T51" fmla="*/ 126 h 378"/>
                <a:gd name="T52" fmla="*/ 105 w 393"/>
                <a:gd name="T53" fmla="*/ 137 h 378"/>
                <a:gd name="T54" fmla="*/ 99 w 393"/>
                <a:gd name="T55" fmla="*/ 152 h 378"/>
                <a:gd name="T56" fmla="*/ 115 w 393"/>
                <a:gd name="T57" fmla="*/ 179 h 378"/>
                <a:gd name="T58" fmla="*/ 136 w 393"/>
                <a:gd name="T59" fmla="*/ 179 h 378"/>
                <a:gd name="T60" fmla="*/ 152 w 393"/>
                <a:gd name="T61" fmla="*/ 152 h 378"/>
                <a:gd name="T62" fmla="*/ 141 w 393"/>
                <a:gd name="T63" fmla="*/ 137 h 378"/>
                <a:gd name="T64" fmla="*/ 126 w 393"/>
                <a:gd name="T65" fmla="*/ 126 h 378"/>
                <a:gd name="T66" fmla="*/ 267 w 393"/>
                <a:gd name="T67" fmla="*/ 131 h 378"/>
                <a:gd name="T68" fmla="*/ 246 w 393"/>
                <a:gd name="T69" fmla="*/ 152 h 378"/>
                <a:gd name="T70" fmla="*/ 257 w 393"/>
                <a:gd name="T71" fmla="*/ 173 h 378"/>
                <a:gd name="T72" fmla="*/ 278 w 393"/>
                <a:gd name="T73" fmla="*/ 184 h 378"/>
                <a:gd name="T74" fmla="*/ 299 w 393"/>
                <a:gd name="T75" fmla="*/ 163 h 378"/>
                <a:gd name="T76" fmla="*/ 299 w 393"/>
                <a:gd name="T77" fmla="*/ 147 h 378"/>
                <a:gd name="T78" fmla="*/ 278 w 393"/>
                <a:gd name="T79" fmla="*/ 126 h 378"/>
                <a:gd name="T80" fmla="*/ 84 w 393"/>
                <a:gd name="T81" fmla="*/ 304 h 378"/>
                <a:gd name="T82" fmla="*/ 115 w 393"/>
                <a:gd name="T83" fmla="*/ 299 h 378"/>
                <a:gd name="T84" fmla="*/ 199 w 393"/>
                <a:gd name="T85" fmla="*/ 283 h 378"/>
                <a:gd name="T86" fmla="*/ 262 w 393"/>
                <a:gd name="T87" fmla="*/ 273 h 378"/>
                <a:gd name="T88" fmla="*/ 325 w 393"/>
                <a:gd name="T89" fmla="*/ 242 h 378"/>
                <a:gd name="T90" fmla="*/ 351 w 393"/>
                <a:gd name="T91" fmla="*/ 194 h 378"/>
                <a:gd name="T92" fmla="*/ 362 w 393"/>
                <a:gd name="T93" fmla="*/ 147 h 378"/>
                <a:gd name="T94" fmla="*/ 335 w 393"/>
                <a:gd name="T95" fmla="*/ 84 h 378"/>
                <a:gd name="T96" fmla="*/ 299 w 393"/>
                <a:gd name="T97" fmla="*/ 53 h 378"/>
                <a:gd name="T98" fmla="*/ 210 w 393"/>
                <a:gd name="T99" fmla="*/ 32 h 378"/>
                <a:gd name="T100" fmla="*/ 141 w 393"/>
                <a:gd name="T101" fmla="*/ 42 h 378"/>
                <a:gd name="T102" fmla="*/ 84 w 393"/>
                <a:gd name="T103" fmla="*/ 68 h 378"/>
                <a:gd name="T104" fmla="*/ 42 w 393"/>
                <a:gd name="T105" fmla="*/ 126 h 378"/>
                <a:gd name="T106" fmla="*/ 36 w 393"/>
                <a:gd name="T107" fmla="*/ 173 h 378"/>
                <a:gd name="T108" fmla="*/ 47 w 393"/>
                <a:gd name="T109" fmla="*/ 210 h 378"/>
                <a:gd name="T110" fmla="*/ 68 w 393"/>
                <a:gd name="T111" fmla="*/ 247 h 378"/>
                <a:gd name="T112" fmla="*/ 84 w 393"/>
                <a:gd name="T113" fmla="*/ 304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93" h="378">
                  <a:moveTo>
                    <a:pt x="47" y="299"/>
                  </a:moveTo>
                  <a:lnTo>
                    <a:pt x="47" y="299"/>
                  </a:lnTo>
                  <a:lnTo>
                    <a:pt x="42" y="273"/>
                  </a:lnTo>
                  <a:lnTo>
                    <a:pt x="26" y="247"/>
                  </a:lnTo>
                  <a:lnTo>
                    <a:pt x="26" y="247"/>
                  </a:lnTo>
                  <a:lnTo>
                    <a:pt x="15" y="226"/>
                  </a:lnTo>
                  <a:lnTo>
                    <a:pt x="5" y="200"/>
                  </a:lnTo>
                  <a:lnTo>
                    <a:pt x="5" y="200"/>
                  </a:lnTo>
                  <a:lnTo>
                    <a:pt x="0" y="179"/>
                  </a:lnTo>
                  <a:lnTo>
                    <a:pt x="0" y="152"/>
                  </a:lnTo>
                  <a:lnTo>
                    <a:pt x="0" y="152"/>
                  </a:lnTo>
                  <a:lnTo>
                    <a:pt x="5" y="116"/>
                  </a:lnTo>
                  <a:lnTo>
                    <a:pt x="21" y="84"/>
                  </a:lnTo>
                  <a:lnTo>
                    <a:pt x="42" y="58"/>
                  </a:lnTo>
                  <a:lnTo>
                    <a:pt x="63" y="37"/>
                  </a:lnTo>
                  <a:lnTo>
                    <a:pt x="63" y="37"/>
                  </a:lnTo>
                  <a:lnTo>
                    <a:pt x="94" y="21"/>
                  </a:lnTo>
                  <a:lnTo>
                    <a:pt x="131" y="5"/>
                  </a:lnTo>
                  <a:lnTo>
                    <a:pt x="168" y="0"/>
                  </a:lnTo>
                  <a:lnTo>
                    <a:pt x="210" y="0"/>
                  </a:lnTo>
                  <a:lnTo>
                    <a:pt x="210" y="0"/>
                  </a:lnTo>
                  <a:lnTo>
                    <a:pt x="246" y="5"/>
                  </a:lnTo>
                  <a:lnTo>
                    <a:pt x="283" y="11"/>
                  </a:lnTo>
                  <a:lnTo>
                    <a:pt x="314" y="26"/>
                  </a:lnTo>
                  <a:lnTo>
                    <a:pt x="341" y="42"/>
                  </a:lnTo>
                  <a:lnTo>
                    <a:pt x="341" y="42"/>
                  </a:lnTo>
                  <a:lnTo>
                    <a:pt x="362" y="63"/>
                  </a:lnTo>
                  <a:lnTo>
                    <a:pt x="377" y="84"/>
                  </a:lnTo>
                  <a:lnTo>
                    <a:pt x="388" y="116"/>
                  </a:lnTo>
                  <a:lnTo>
                    <a:pt x="393" y="147"/>
                  </a:lnTo>
                  <a:lnTo>
                    <a:pt x="393" y="147"/>
                  </a:lnTo>
                  <a:lnTo>
                    <a:pt x="393" y="179"/>
                  </a:lnTo>
                  <a:lnTo>
                    <a:pt x="383" y="210"/>
                  </a:lnTo>
                  <a:lnTo>
                    <a:pt x="383" y="210"/>
                  </a:lnTo>
                  <a:lnTo>
                    <a:pt x="367" y="236"/>
                  </a:lnTo>
                  <a:lnTo>
                    <a:pt x="346" y="263"/>
                  </a:lnTo>
                  <a:lnTo>
                    <a:pt x="346" y="263"/>
                  </a:lnTo>
                  <a:lnTo>
                    <a:pt x="314" y="289"/>
                  </a:lnTo>
                  <a:lnTo>
                    <a:pt x="278" y="304"/>
                  </a:lnTo>
                  <a:lnTo>
                    <a:pt x="241" y="315"/>
                  </a:lnTo>
                  <a:lnTo>
                    <a:pt x="199" y="320"/>
                  </a:lnTo>
                  <a:lnTo>
                    <a:pt x="199" y="320"/>
                  </a:lnTo>
                  <a:lnTo>
                    <a:pt x="162" y="320"/>
                  </a:lnTo>
                  <a:lnTo>
                    <a:pt x="162" y="320"/>
                  </a:lnTo>
                  <a:lnTo>
                    <a:pt x="131" y="331"/>
                  </a:lnTo>
                  <a:lnTo>
                    <a:pt x="99" y="346"/>
                  </a:lnTo>
                  <a:lnTo>
                    <a:pt x="99" y="346"/>
                  </a:lnTo>
                  <a:lnTo>
                    <a:pt x="57" y="373"/>
                  </a:lnTo>
                  <a:lnTo>
                    <a:pt x="36" y="378"/>
                  </a:lnTo>
                  <a:lnTo>
                    <a:pt x="15" y="378"/>
                  </a:lnTo>
                  <a:lnTo>
                    <a:pt x="15" y="378"/>
                  </a:lnTo>
                  <a:lnTo>
                    <a:pt x="36" y="341"/>
                  </a:lnTo>
                  <a:lnTo>
                    <a:pt x="42" y="320"/>
                  </a:lnTo>
                  <a:lnTo>
                    <a:pt x="47" y="299"/>
                  </a:lnTo>
                  <a:lnTo>
                    <a:pt x="47" y="299"/>
                  </a:lnTo>
                  <a:close/>
                  <a:moveTo>
                    <a:pt x="199" y="126"/>
                  </a:moveTo>
                  <a:lnTo>
                    <a:pt x="199" y="126"/>
                  </a:lnTo>
                  <a:lnTo>
                    <a:pt x="189" y="131"/>
                  </a:lnTo>
                  <a:lnTo>
                    <a:pt x="183" y="137"/>
                  </a:lnTo>
                  <a:lnTo>
                    <a:pt x="178" y="147"/>
                  </a:lnTo>
                  <a:lnTo>
                    <a:pt x="173" y="152"/>
                  </a:lnTo>
                  <a:lnTo>
                    <a:pt x="173" y="152"/>
                  </a:lnTo>
                  <a:lnTo>
                    <a:pt x="178" y="163"/>
                  </a:lnTo>
                  <a:lnTo>
                    <a:pt x="183" y="173"/>
                  </a:lnTo>
                  <a:lnTo>
                    <a:pt x="189" y="179"/>
                  </a:lnTo>
                  <a:lnTo>
                    <a:pt x="199" y="184"/>
                  </a:lnTo>
                  <a:lnTo>
                    <a:pt x="199" y="184"/>
                  </a:lnTo>
                  <a:lnTo>
                    <a:pt x="210" y="179"/>
                  </a:lnTo>
                  <a:lnTo>
                    <a:pt x="220" y="173"/>
                  </a:lnTo>
                  <a:lnTo>
                    <a:pt x="225" y="163"/>
                  </a:lnTo>
                  <a:lnTo>
                    <a:pt x="225" y="152"/>
                  </a:lnTo>
                  <a:lnTo>
                    <a:pt x="225" y="152"/>
                  </a:lnTo>
                  <a:lnTo>
                    <a:pt x="225" y="147"/>
                  </a:lnTo>
                  <a:lnTo>
                    <a:pt x="220" y="137"/>
                  </a:lnTo>
                  <a:lnTo>
                    <a:pt x="210" y="131"/>
                  </a:lnTo>
                  <a:lnTo>
                    <a:pt x="199" y="126"/>
                  </a:lnTo>
                  <a:lnTo>
                    <a:pt x="199" y="126"/>
                  </a:lnTo>
                  <a:close/>
                  <a:moveTo>
                    <a:pt x="126" y="126"/>
                  </a:moveTo>
                  <a:lnTo>
                    <a:pt x="126" y="126"/>
                  </a:lnTo>
                  <a:lnTo>
                    <a:pt x="115" y="131"/>
                  </a:lnTo>
                  <a:lnTo>
                    <a:pt x="105" y="137"/>
                  </a:lnTo>
                  <a:lnTo>
                    <a:pt x="99" y="147"/>
                  </a:lnTo>
                  <a:lnTo>
                    <a:pt x="99" y="152"/>
                  </a:lnTo>
                  <a:lnTo>
                    <a:pt x="99" y="152"/>
                  </a:lnTo>
                  <a:lnTo>
                    <a:pt x="99" y="163"/>
                  </a:lnTo>
                  <a:lnTo>
                    <a:pt x="105" y="173"/>
                  </a:lnTo>
                  <a:lnTo>
                    <a:pt x="115" y="179"/>
                  </a:lnTo>
                  <a:lnTo>
                    <a:pt x="126" y="184"/>
                  </a:lnTo>
                  <a:lnTo>
                    <a:pt x="126" y="184"/>
                  </a:lnTo>
                  <a:lnTo>
                    <a:pt x="136" y="179"/>
                  </a:lnTo>
                  <a:lnTo>
                    <a:pt x="141" y="173"/>
                  </a:lnTo>
                  <a:lnTo>
                    <a:pt x="152" y="163"/>
                  </a:lnTo>
                  <a:lnTo>
                    <a:pt x="152" y="152"/>
                  </a:lnTo>
                  <a:lnTo>
                    <a:pt x="152" y="152"/>
                  </a:lnTo>
                  <a:lnTo>
                    <a:pt x="152" y="147"/>
                  </a:lnTo>
                  <a:lnTo>
                    <a:pt x="141" y="137"/>
                  </a:lnTo>
                  <a:lnTo>
                    <a:pt x="136" y="131"/>
                  </a:lnTo>
                  <a:lnTo>
                    <a:pt x="126" y="126"/>
                  </a:lnTo>
                  <a:lnTo>
                    <a:pt x="126" y="126"/>
                  </a:lnTo>
                  <a:close/>
                  <a:moveTo>
                    <a:pt x="278" y="126"/>
                  </a:moveTo>
                  <a:lnTo>
                    <a:pt x="278" y="126"/>
                  </a:lnTo>
                  <a:lnTo>
                    <a:pt x="267" y="131"/>
                  </a:lnTo>
                  <a:lnTo>
                    <a:pt x="257" y="137"/>
                  </a:lnTo>
                  <a:lnTo>
                    <a:pt x="252" y="147"/>
                  </a:lnTo>
                  <a:lnTo>
                    <a:pt x="246" y="152"/>
                  </a:lnTo>
                  <a:lnTo>
                    <a:pt x="246" y="152"/>
                  </a:lnTo>
                  <a:lnTo>
                    <a:pt x="252" y="163"/>
                  </a:lnTo>
                  <a:lnTo>
                    <a:pt x="257" y="173"/>
                  </a:lnTo>
                  <a:lnTo>
                    <a:pt x="267" y="179"/>
                  </a:lnTo>
                  <a:lnTo>
                    <a:pt x="278" y="184"/>
                  </a:lnTo>
                  <a:lnTo>
                    <a:pt x="278" y="184"/>
                  </a:lnTo>
                  <a:lnTo>
                    <a:pt x="288" y="179"/>
                  </a:lnTo>
                  <a:lnTo>
                    <a:pt x="293" y="173"/>
                  </a:lnTo>
                  <a:lnTo>
                    <a:pt x="299" y="163"/>
                  </a:lnTo>
                  <a:lnTo>
                    <a:pt x="304" y="152"/>
                  </a:lnTo>
                  <a:lnTo>
                    <a:pt x="304" y="152"/>
                  </a:lnTo>
                  <a:lnTo>
                    <a:pt x="299" y="147"/>
                  </a:lnTo>
                  <a:lnTo>
                    <a:pt x="293" y="137"/>
                  </a:lnTo>
                  <a:lnTo>
                    <a:pt x="288" y="131"/>
                  </a:lnTo>
                  <a:lnTo>
                    <a:pt x="278" y="126"/>
                  </a:lnTo>
                  <a:lnTo>
                    <a:pt x="278" y="126"/>
                  </a:lnTo>
                  <a:close/>
                  <a:moveTo>
                    <a:pt x="84" y="304"/>
                  </a:moveTo>
                  <a:lnTo>
                    <a:pt x="84" y="304"/>
                  </a:lnTo>
                  <a:lnTo>
                    <a:pt x="78" y="315"/>
                  </a:lnTo>
                  <a:lnTo>
                    <a:pt x="78" y="315"/>
                  </a:lnTo>
                  <a:lnTo>
                    <a:pt x="115" y="299"/>
                  </a:lnTo>
                  <a:lnTo>
                    <a:pt x="157" y="289"/>
                  </a:lnTo>
                  <a:lnTo>
                    <a:pt x="157" y="289"/>
                  </a:lnTo>
                  <a:lnTo>
                    <a:pt x="199" y="283"/>
                  </a:lnTo>
                  <a:lnTo>
                    <a:pt x="199" y="283"/>
                  </a:lnTo>
                  <a:lnTo>
                    <a:pt x="231" y="278"/>
                  </a:lnTo>
                  <a:lnTo>
                    <a:pt x="262" y="273"/>
                  </a:lnTo>
                  <a:lnTo>
                    <a:pt x="293" y="257"/>
                  </a:lnTo>
                  <a:lnTo>
                    <a:pt x="325" y="242"/>
                  </a:lnTo>
                  <a:lnTo>
                    <a:pt x="325" y="242"/>
                  </a:lnTo>
                  <a:lnTo>
                    <a:pt x="341" y="221"/>
                  </a:lnTo>
                  <a:lnTo>
                    <a:pt x="351" y="194"/>
                  </a:lnTo>
                  <a:lnTo>
                    <a:pt x="351" y="194"/>
                  </a:lnTo>
                  <a:lnTo>
                    <a:pt x="362" y="173"/>
                  </a:lnTo>
                  <a:lnTo>
                    <a:pt x="362" y="147"/>
                  </a:lnTo>
                  <a:lnTo>
                    <a:pt x="362" y="147"/>
                  </a:lnTo>
                  <a:lnTo>
                    <a:pt x="356" y="126"/>
                  </a:lnTo>
                  <a:lnTo>
                    <a:pt x="346" y="105"/>
                  </a:lnTo>
                  <a:lnTo>
                    <a:pt x="335" y="84"/>
                  </a:lnTo>
                  <a:lnTo>
                    <a:pt x="320" y="68"/>
                  </a:lnTo>
                  <a:lnTo>
                    <a:pt x="320" y="68"/>
                  </a:lnTo>
                  <a:lnTo>
                    <a:pt x="299" y="53"/>
                  </a:lnTo>
                  <a:lnTo>
                    <a:pt x="272" y="42"/>
                  </a:lnTo>
                  <a:lnTo>
                    <a:pt x="241" y="37"/>
                  </a:lnTo>
                  <a:lnTo>
                    <a:pt x="210" y="32"/>
                  </a:lnTo>
                  <a:lnTo>
                    <a:pt x="210" y="32"/>
                  </a:lnTo>
                  <a:lnTo>
                    <a:pt x="173" y="37"/>
                  </a:lnTo>
                  <a:lnTo>
                    <a:pt x="141" y="42"/>
                  </a:lnTo>
                  <a:lnTo>
                    <a:pt x="110" y="53"/>
                  </a:lnTo>
                  <a:lnTo>
                    <a:pt x="84" y="68"/>
                  </a:lnTo>
                  <a:lnTo>
                    <a:pt x="84" y="68"/>
                  </a:lnTo>
                  <a:lnTo>
                    <a:pt x="63" y="84"/>
                  </a:lnTo>
                  <a:lnTo>
                    <a:pt x="52" y="105"/>
                  </a:lnTo>
                  <a:lnTo>
                    <a:pt x="42" y="126"/>
                  </a:lnTo>
                  <a:lnTo>
                    <a:pt x="36" y="152"/>
                  </a:lnTo>
                  <a:lnTo>
                    <a:pt x="36" y="152"/>
                  </a:lnTo>
                  <a:lnTo>
                    <a:pt x="36" y="173"/>
                  </a:lnTo>
                  <a:lnTo>
                    <a:pt x="36" y="189"/>
                  </a:lnTo>
                  <a:lnTo>
                    <a:pt x="36" y="189"/>
                  </a:lnTo>
                  <a:lnTo>
                    <a:pt x="47" y="210"/>
                  </a:lnTo>
                  <a:lnTo>
                    <a:pt x="57" y="226"/>
                  </a:lnTo>
                  <a:lnTo>
                    <a:pt x="57" y="226"/>
                  </a:lnTo>
                  <a:lnTo>
                    <a:pt x="68" y="247"/>
                  </a:lnTo>
                  <a:lnTo>
                    <a:pt x="78" y="268"/>
                  </a:lnTo>
                  <a:lnTo>
                    <a:pt x="78" y="283"/>
                  </a:lnTo>
                  <a:lnTo>
                    <a:pt x="84" y="304"/>
                  </a:lnTo>
                  <a:lnTo>
                    <a:pt x="84" y="3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grpSp>
      <p:cxnSp>
        <p:nvCxnSpPr>
          <p:cNvPr id="75" name="Straight Arrow Connector 74">
            <a:extLst>
              <a:ext uri="{FF2B5EF4-FFF2-40B4-BE49-F238E27FC236}">
                <a16:creationId xmlns:a16="http://schemas.microsoft.com/office/drawing/2014/main" id="{85C80D66-B22C-464F-84F3-5D96D98830AD}"/>
              </a:ext>
            </a:extLst>
          </p:cNvPr>
          <p:cNvCxnSpPr/>
          <p:nvPr/>
        </p:nvCxnSpPr>
        <p:spPr>
          <a:xfrm flipV="1">
            <a:off x="8982277" y="2383128"/>
            <a:ext cx="538480" cy="0"/>
          </a:xfrm>
          <a:prstGeom prst="straightConnector1">
            <a:avLst/>
          </a:prstGeom>
          <a:noFill/>
          <a:ln w="9525" cap="flat" cmpd="sng" algn="ctr">
            <a:solidFill>
              <a:srgbClr val="44546A"/>
            </a:solidFill>
            <a:prstDash val="solid"/>
            <a:tailEnd type="triangle"/>
          </a:ln>
          <a:effectLst/>
        </p:spPr>
      </p:cxnSp>
      <p:cxnSp>
        <p:nvCxnSpPr>
          <p:cNvPr id="76" name="Straight Arrow Connector 75">
            <a:extLst>
              <a:ext uri="{FF2B5EF4-FFF2-40B4-BE49-F238E27FC236}">
                <a16:creationId xmlns:a16="http://schemas.microsoft.com/office/drawing/2014/main" id="{794AB89A-B87D-469F-B08D-4D59C07800B3}"/>
              </a:ext>
            </a:extLst>
          </p:cNvPr>
          <p:cNvCxnSpPr/>
          <p:nvPr/>
        </p:nvCxnSpPr>
        <p:spPr>
          <a:xfrm flipH="1">
            <a:off x="9955889" y="2372540"/>
            <a:ext cx="589280" cy="0"/>
          </a:xfrm>
          <a:prstGeom prst="straightConnector1">
            <a:avLst/>
          </a:prstGeom>
          <a:noFill/>
          <a:ln w="9525" cap="flat" cmpd="sng" algn="ctr">
            <a:solidFill>
              <a:srgbClr val="44546A"/>
            </a:solidFill>
            <a:prstDash val="solid"/>
            <a:tailEnd type="triangle"/>
          </a:ln>
          <a:effectLst/>
        </p:spPr>
      </p:cxnSp>
      <p:grpSp>
        <p:nvGrpSpPr>
          <p:cNvPr id="77" name="Group 76">
            <a:extLst>
              <a:ext uri="{FF2B5EF4-FFF2-40B4-BE49-F238E27FC236}">
                <a16:creationId xmlns:a16="http://schemas.microsoft.com/office/drawing/2014/main" id="{8A2D0C24-BA2C-4987-89EE-FA766A5DBB3D}"/>
              </a:ext>
            </a:extLst>
          </p:cNvPr>
          <p:cNvGrpSpPr/>
          <p:nvPr/>
        </p:nvGrpSpPr>
        <p:grpSpPr>
          <a:xfrm>
            <a:off x="8978394" y="3958187"/>
            <a:ext cx="1123626" cy="655246"/>
            <a:chOff x="1871493" y="3227147"/>
            <a:chExt cx="1123626" cy="655246"/>
          </a:xfrm>
        </p:grpSpPr>
        <p:sp>
          <p:nvSpPr>
            <p:cNvPr id="78" name="Freeform 73">
              <a:extLst>
                <a:ext uri="{FF2B5EF4-FFF2-40B4-BE49-F238E27FC236}">
                  <a16:creationId xmlns:a16="http://schemas.microsoft.com/office/drawing/2014/main" id="{A461142D-0C08-4F7C-AAE3-4DB1AFC3DF85}"/>
                </a:ext>
              </a:extLst>
            </p:cNvPr>
            <p:cNvSpPr>
              <a:spLocks/>
            </p:cNvSpPr>
            <p:nvPr/>
          </p:nvSpPr>
          <p:spPr bwMode="auto">
            <a:xfrm>
              <a:off x="2152521" y="3227147"/>
              <a:ext cx="107825" cy="107825"/>
            </a:xfrm>
            <a:custGeom>
              <a:avLst/>
              <a:gdLst>
                <a:gd name="T0" fmla="*/ 443 w 443"/>
                <a:gd name="T1" fmla="*/ 222 h 443"/>
                <a:gd name="T2" fmla="*/ 439 w 443"/>
                <a:gd name="T3" fmla="*/ 177 h 443"/>
                <a:gd name="T4" fmla="*/ 425 w 443"/>
                <a:gd name="T5" fmla="*/ 136 h 443"/>
                <a:gd name="T6" fmla="*/ 404 w 443"/>
                <a:gd name="T7" fmla="*/ 98 h 443"/>
                <a:gd name="T8" fmla="*/ 378 w 443"/>
                <a:gd name="T9" fmla="*/ 65 h 443"/>
                <a:gd name="T10" fmla="*/ 346 w 443"/>
                <a:gd name="T11" fmla="*/ 38 h 443"/>
                <a:gd name="T12" fmla="*/ 308 w 443"/>
                <a:gd name="T13" fmla="*/ 18 h 443"/>
                <a:gd name="T14" fmla="*/ 266 w 443"/>
                <a:gd name="T15" fmla="*/ 5 h 443"/>
                <a:gd name="T16" fmla="*/ 222 w 443"/>
                <a:gd name="T17" fmla="*/ 0 h 443"/>
                <a:gd name="T18" fmla="*/ 198 w 443"/>
                <a:gd name="T19" fmla="*/ 1 h 443"/>
                <a:gd name="T20" fmla="*/ 155 w 443"/>
                <a:gd name="T21" fmla="*/ 10 h 443"/>
                <a:gd name="T22" fmla="*/ 116 w 443"/>
                <a:gd name="T23" fmla="*/ 27 h 443"/>
                <a:gd name="T24" fmla="*/ 81 w 443"/>
                <a:gd name="T25" fmla="*/ 51 h 443"/>
                <a:gd name="T26" fmla="*/ 50 w 443"/>
                <a:gd name="T27" fmla="*/ 81 h 443"/>
                <a:gd name="T28" fmla="*/ 27 w 443"/>
                <a:gd name="T29" fmla="*/ 116 h 443"/>
                <a:gd name="T30" fmla="*/ 9 w 443"/>
                <a:gd name="T31" fmla="*/ 156 h 443"/>
                <a:gd name="T32" fmla="*/ 1 w 443"/>
                <a:gd name="T33" fmla="*/ 199 h 443"/>
                <a:gd name="T34" fmla="*/ 0 w 443"/>
                <a:gd name="T35" fmla="*/ 222 h 443"/>
                <a:gd name="T36" fmla="*/ 5 w 443"/>
                <a:gd name="T37" fmla="*/ 266 h 443"/>
                <a:gd name="T38" fmla="*/ 17 w 443"/>
                <a:gd name="T39" fmla="*/ 308 h 443"/>
                <a:gd name="T40" fmla="*/ 38 w 443"/>
                <a:gd name="T41" fmla="*/ 346 h 443"/>
                <a:gd name="T42" fmla="*/ 65 w 443"/>
                <a:gd name="T43" fmla="*/ 378 h 443"/>
                <a:gd name="T44" fmla="*/ 98 w 443"/>
                <a:gd name="T45" fmla="*/ 406 h 443"/>
                <a:gd name="T46" fmla="*/ 136 w 443"/>
                <a:gd name="T47" fmla="*/ 426 h 443"/>
                <a:gd name="T48" fmla="*/ 176 w 443"/>
                <a:gd name="T49" fmla="*/ 439 h 443"/>
                <a:gd name="T50" fmla="*/ 222 w 443"/>
                <a:gd name="T51" fmla="*/ 443 h 443"/>
                <a:gd name="T52" fmla="*/ 244 w 443"/>
                <a:gd name="T53" fmla="*/ 442 h 443"/>
                <a:gd name="T54" fmla="*/ 287 w 443"/>
                <a:gd name="T55" fmla="*/ 433 h 443"/>
                <a:gd name="T56" fmla="*/ 327 w 443"/>
                <a:gd name="T57" fmla="*/ 417 h 443"/>
                <a:gd name="T58" fmla="*/ 363 w 443"/>
                <a:gd name="T59" fmla="*/ 393 h 443"/>
                <a:gd name="T60" fmla="*/ 392 w 443"/>
                <a:gd name="T61" fmla="*/ 363 h 443"/>
                <a:gd name="T62" fmla="*/ 416 w 443"/>
                <a:gd name="T63" fmla="*/ 328 h 443"/>
                <a:gd name="T64" fmla="*/ 433 w 443"/>
                <a:gd name="T65" fmla="*/ 288 h 443"/>
                <a:gd name="T66" fmla="*/ 441 w 443"/>
                <a:gd name="T67" fmla="*/ 244 h 443"/>
                <a:gd name="T68" fmla="*/ 443 w 443"/>
                <a:gd name="T69" fmla="*/ 222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43" h="443">
                  <a:moveTo>
                    <a:pt x="443" y="222"/>
                  </a:moveTo>
                  <a:lnTo>
                    <a:pt x="443" y="222"/>
                  </a:lnTo>
                  <a:lnTo>
                    <a:pt x="441" y="199"/>
                  </a:lnTo>
                  <a:lnTo>
                    <a:pt x="439" y="177"/>
                  </a:lnTo>
                  <a:lnTo>
                    <a:pt x="433" y="156"/>
                  </a:lnTo>
                  <a:lnTo>
                    <a:pt x="425" y="136"/>
                  </a:lnTo>
                  <a:lnTo>
                    <a:pt x="416" y="116"/>
                  </a:lnTo>
                  <a:lnTo>
                    <a:pt x="404" y="98"/>
                  </a:lnTo>
                  <a:lnTo>
                    <a:pt x="392" y="81"/>
                  </a:lnTo>
                  <a:lnTo>
                    <a:pt x="378" y="65"/>
                  </a:lnTo>
                  <a:lnTo>
                    <a:pt x="363" y="51"/>
                  </a:lnTo>
                  <a:lnTo>
                    <a:pt x="346" y="38"/>
                  </a:lnTo>
                  <a:lnTo>
                    <a:pt x="327" y="27"/>
                  </a:lnTo>
                  <a:lnTo>
                    <a:pt x="308" y="18"/>
                  </a:lnTo>
                  <a:lnTo>
                    <a:pt x="287" y="10"/>
                  </a:lnTo>
                  <a:lnTo>
                    <a:pt x="266" y="5"/>
                  </a:lnTo>
                  <a:lnTo>
                    <a:pt x="244" y="1"/>
                  </a:lnTo>
                  <a:lnTo>
                    <a:pt x="222" y="0"/>
                  </a:lnTo>
                  <a:lnTo>
                    <a:pt x="222" y="0"/>
                  </a:lnTo>
                  <a:lnTo>
                    <a:pt x="198" y="1"/>
                  </a:lnTo>
                  <a:lnTo>
                    <a:pt x="176" y="5"/>
                  </a:lnTo>
                  <a:lnTo>
                    <a:pt x="155" y="10"/>
                  </a:lnTo>
                  <a:lnTo>
                    <a:pt x="136" y="18"/>
                  </a:lnTo>
                  <a:lnTo>
                    <a:pt x="116" y="27"/>
                  </a:lnTo>
                  <a:lnTo>
                    <a:pt x="98" y="38"/>
                  </a:lnTo>
                  <a:lnTo>
                    <a:pt x="81" y="51"/>
                  </a:lnTo>
                  <a:lnTo>
                    <a:pt x="65" y="65"/>
                  </a:lnTo>
                  <a:lnTo>
                    <a:pt x="50" y="81"/>
                  </a:lnTo>
                  <a:lnTo>
                    <a:pt x="38" y="98"/>
                  </a:lnTo>
                  <a:lnTo>
                    <a:pt x="27" y="116"/>
                  </a:lnTo>
                  <a:lnTo>
                    <a:pt x="17" y="136"/>
                  </a:lnTo>
                  <a:lnTo>
                    <a:pt x="9" y="156"/>
                  </a:lnTo>
                  <a:lnTo>
                    <a:pt x="5" y="177"/>
                  </a:lnTo>
                  <a:lnTo>
                    <a:pt x="1" y="199"/>
                  </a:lnTo>
                  <a:lnTo>
                    <a:pt x="0" y="222"/>
                  </a:lnTo>
                  <a:lnTo>
                    <a:pt x="0" y="222"/>
                  </a:lnTo>
                  <a:lnTo>
                    <a:pt x="1" y="244"/>
                  </a:lnTo>
                  <a:lnTo>
                    <a:pt x="5" y="266"/>
                  </a:lnTo>
                  <a:lnTo>
                    <a:pt x="9" y="288"/>
                  </a:lnTo>
                  <a:lnTo>
                    <a:pt x="17" y="308"/>
                  </a:lnTo>
                  <a:lnTo>
                    <a:pt x="27" y="328"/>
                  </a:lnTo>
                  <a:lnTo>
                    <a:pt x="38" y="346"/>
                  </a:lnTo>
                  <a:lnTo>
                    <a:pt x="50" y="363"/>
                  </a:lnTo>
                  <a:lnTo>
                    <a:pt x="65" y="378"/>
                  </a:lnTo>
                  <a:lnTo>
                    <a:pt x="81" y="393"/>
                  </a:lnTo>
                  <a:lnTo>
                    <a:pt x="98" y="406"/>
                  </a:lnTo>
                  <a:lnTo>
                    <a:pt x="116" y="417"/>
                  </a:lnTo>
                  <a:lnTo>
                    <a:pt x="136" y="426"/>
                  </a:lnTo>
                  <a:lnTo>
                    <a:pt x="155" y="433"/>
                  </a:lnTo>
                  <a:lnTo>
                    <a:pt x="176" y="439"/>
                  </a:lnTo>
                  <a:lnTo>
                    <a:pt x="198" y="442"/>
                  </a:lnTo>
                  <a:lnTo>
                    <a:pt x="222" y="443"/>
                  </a:lnTo>
                  <a:lnTo>
                    <a:pt x="222" y="443"/>
                  </a:lnTo>
                  <a:lnTo>
                    <a:pt x="244" y="442"/>
                  </a:lnTo>
                  <a:lnTo>
                    <a:pt x="266" y="439"/>
                  </a:lnTo>
                  <a:lnTo>
                    <a:pt x="287" y="433"/>
                  </a:lnTo>
                  <a:lnTo>
                    <a:pt x="308" y="426"/>
                  </a:lnTo>
                  <a:lnTo>
                    <a:pt x="327" y="417"/>
                  </a:lnTo>
                  <a:lnTo>
                    <a:pt x="346" y="406"/>
                  </a:lnTo>
                  <a:lnTo>
                    <a:pt x="363" y="393"/>
                  </a:lnTo>
                  <a:lnTo>
                    <a:pt x="378" y="378"/>
                  </a:lnTo>
                  <a:lnTo>
                    <a:pt x="392" y="363"/>
                  </a:lnTo>
                  <a:lnTo>
                    <a:pt x="404" y="346"/>
                  </a:lnTo>
                  <a:lnTo>
                    <a:pt x="416" y="328"/>
                  </a:lnTo>
                  <a:lnTo>
                    <a:pt x="425" y="308"/>
                  </a:lnTo>
                  <a:lnTo>
                    <a:pt x="433" y="288"/>
                  </a:lnTo>
                  <a:lnTo>
                    <a:pt x="439" y="266"/>
                  </a:lnTo>
                  <a:lnTo>
                    <a:pt x="441" y="244"/>
                  </a:lnTo>
                  <a:lnTo>
                    <a:pt x="443" y="222"/>
                  </a:lnTo>
                  <a:lnTo>
                    <a:pt x="443" y="222"/>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79" name="Freeform 74">
              <a:extLst>
                <a:ext uri="{FF2B5EF4-FFF2-40B4-BE49-F238E27FC236}">
                  <a16:creationId xmlns:a16="http://schemas.microsoft.com/office/drawing/2014/main" id="{A32384E5-DFB6-428C-AF87-6472D420AFA8}"/>
                </a:ext>
              </a:extLst>
            </p:cNvPr>
            <p:cNvSpPr>
              <a:spLocks/>
            </p:cNvSpPr>
            <p:nvPr/>
          </p:nvSpPr>
          <p:spPr bwMode="auto">
            <a:xfrm>
              <a:off x="2102268" y="3339852"/>
              <a:ext cx="208332" cy="109777"/>
            </a:xfrm>
            <a:custGeom>
              <a:avLst/>
              <a:gdLst>
                <a:gd name="T0" fmla="*/ 855 w 855"/>
                <a:gd name="T1" fmla="*/ 380 h 451"/>
                <a:gd name="T2" fmla="*/ 855 w 855"/>
                <a:gd name="T3" fmla="*/ 240 h 451"/>
                <a:gd name="T4" fmla="*/ 855 w 855"/>
                <a:gd name="T5" fmla="*/ 124 h 451"/>
                <a:gd name="T6" fmla="*/ 855 w 855"/>
                <a:gd name="T7" fmla="*/ 124 h 451"/>
                <a:gd name="T8" fmla="*/ 853 w 855"/>
                <a:gd name="T9" fmla="*/ 112 h 451"/>
                <a:gd name="T10" fmla="*/ 851 w 855"/>
                <a:gd name="T11" fmla="*/ 100 h 451"/>
                <a:gd name="T12" fmla="*/ 848 w 855"/>
                <a:gd name="T13" fmla="*/ 88 h 451"/>
                <a:gd name="T14" fmla="*/ 845 w 855"/>
                <a:gd name="T15" fmla="*/ 77 h 451"/>
                <a:gd name="T16" fmla="*/ 839 w 855"/>
                <a:gd name="T17" fmla="*/ 65 h 451"/>
                <a:gd name="T18" fmla="*/ 833 w 855"/>
                <a:gd name="T19" fmla="*/ 56 h 451"/>
                <a:gd name="T20" fmla="*/ 825 w 855"/>
                <a:gd name="T21" fmla="*/ 46 h 451"/>
                <a:gd name="T22" fmla="*/ 818 w 855"/>
                <a:gd name="T23" fmla="*/ 37 h 451"/>
                <a:gd name="T24" fmla="*/ 809 w 855"/>
                <a:gd name="T25" fmla="*/ 29 h 451"/>
                <a:gd name="T26" fmla="*/ 799 w 855"/>
                <a:gd name="T27" fmla="*/ 21 h 451"/>
                <a:gd name="T28" fmla="*/ 788 w 855"/>
                <a:gd name="T29" fmla="*/ 15 h 451"/>
                <a:gd name="T30" fmla="*/ 779 w 855"/>
                <a:gd name="T31" fmla="*/ 10 h 451"/>
                <a:gd name="T32" fmla="*/ 766 w 855"/>
                <a:gd name="T33" fmla="*/ 5 h 451"/>
                <a:gd name="T34" fmla="*/ 754 w 855"/>
                <a:gd name="T35" fmla="*/ 3 h 451"/>
                <a:gd name="T36" fmla="*/ 742 w 855"/>
                <a:gd name="T37" fmla="*/ 0 h 451"/>
                <a:gd name="T38" fmla="*/ 729 w 855"/>
                <a:gd name="T39" fmla="*/ 0 h 451"/>
                <a:gd name="T40" fmla="*/ 729 w 855"/>
                <a:gd name="T41" fmla="*/ 0 h 451"/>
                <a:gd name="T42" fmla="*/ 729 w 855"/>
                <a:gd name="T43" fmla="*/ 0 h 451"/>
                <a:gd name="T44" fmla="*/ 729 w 855"/>
                <a:gd name="T45" fmla="*/ 0 h 451"/>
                <a:gd name="T46" fmla="*/ 595 w 855"/>
                <a:gd name="T47" fmla="*/ 0 h 451"/>
                <a:gd name="T48" fmla="*/ 511 w 855"/>
                <a:gd name="T49" fmla="*/ 135 h 451"/>
                <a:gd name="T50" fmla="*/ 456 w 855"/>
                <a:gd name="T51" fmla="*/ 46 h 451"/>
                <a:gd name="T52" fmla="*/ 426 w 855"/>
                <a:gd name="T53" fmla="*/ 0 h 451"/>
                <a:gd name="T54" fmla="*/ 426 w 855"/>
                <a:gd name="T55" fmla="*/ 0 h 451"/>
                <a:gd name="T56" fmla="*/ 398 w 855"/>
                <a:gd name="T57" fmla="*/ 46 h 451"/>
                <a:gd name="T58" fmla="*/ 343 w 855"/>
                <a:gd name="T59" fmla="*/ 135 h 451"/>
                <a:gd name="T60" fmla="*/ 258 w 855"/>
                <a:gd name="T61" fmla="*/ 0 h 451"/>
                <a:gd name="T62" fmla="*/ 126 w 855"/>
                <a:gd name="T63" fmla="*/ 0 h 451"/>
                <a:gd name="T64" fmla="*/ 126 w 855"/>
                <a:gd name="T65" fmla="*/ 0 h 451"/>
                <a:gd name="T66" fmla="*/ 126 w 855"/>
                <a:gd name="T67" fmla="*/ 0 h 451"/>
                <a:gd name="T68" fmla="*/ 125 w 855"/>
                <a:gd name="T69" fmla="*/ 0 h 451"/>
                <a:gd name="T70" fmla="*/ 125 w 855"/>
                <a:gd name="T71" fmla="*/ 0 h 451"/>
                <a:gd name="T72" fmla="*/ 112 w 855"/>
                <a:gd name="T73" fmla="*/ 0 h 451"/>
                <a:gd name="T74" fmla="*/ 99 w 855"/>
                <a:gd name="T75" fmla="*/ 3 h 451"/>
                <a:gd name="T76" fmla="*/ 88 w 855"/>
                <a:gd name="T77" fmla="*/ 5 h 451"/>
                <a:gd name="T78" fmla="*/ 76 w 855"/>
                <a:gd name="T79" fmla="*/ 10 h 451"/>
                <a:gd name="T80" fmla="*/ 66 w 855"/>
                <a:gd name="T81" fmla="*/ 15 h 451"/>
                <a:gd name="T82" fmla="*/ 55 w 855"/>
                <a:gd name="T83" fmla="*/ 21 h 451"/>
                <a:gd name="T84" fmla="*/ 45 w 855"/>
                <a:gd name="T85" fmla="*/ 29 h 451"/>
                <a:gd name="T86" fmla="*/ 36 w 855"/>
                <a:gd name="T87" fmla="*/ 37 h 451"/>
                <a:gd name="T88" fmla="*/ 29 w 855"/>
                <a:gd name="T89" fmla="*/ 46 h 451"/>
                <a:gd name="T90" fmla="*/ 22 w 855"/>
                <a:gd name="T91" fmla="*/ 56 h 451"/>
                <a:gd name="T92" fmla="*/ 15 w 855"/>
                <a:gd name="T93" fmla="*/ 65 h 451"/>
                <a:gd name="T94" fmla="*/ 9 w 855"/>
                <a:gd name="T95" fmla="*/ 77 h 451"/>
                <a:gd name="T96" fmla="*/ 6 w 855"/>
                <a:gd name="T97" fmla="*/ 88 h 451"/>
                <a:gd name="T98" fmla="*/ 2 w 855"/>
                <a:gd name="T99" fmla="*/ 100 h 451"/>
                <a:gd name="T100" fmla="*/ 1 w 855"/>
                <a:gd name="T101" fmla="*/ 112 h 451"/>
                <a:gd name="T102" fmla="*/ 0 w 855"/>
                <a:gd name="T103" fmla="*/ 124 h 451"/>
                <a:gd name="T104" fmla="*/ 0 w 855"/>
                <a:gd name="T105" fmla="*/ 240 h 451"/>
                <a:gd name="T106" fmla="*/ 0 w 855"/>
                <a:gd name="T107" fmla="*/ 380 h 451"/>
                <a:gd name="T108" fmla="*/ 0 w 855"/>
                <a:gd name="T109" fmla="*/ 451 h 451"/>
                <a:gd name="T110" fmla="*/ 855 w 855"/>
                <a:gd name="T111" fmla="*/ 451 h 451"/>
                <a:gd name="T112" fmla="*/ 855 w 855"/>
                <a:gd name="T113" fmla="*/ 380 h 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55" h="451">
                  <a:moveTo>
                    <a:pt x="855" y="380"/>
                  </a:moveTo>
                  <a:lnTo>
                    <a:pt x="855" y="240"/>
                  </a:lnTo>
                  <a:lnTo>
                    <a:pt x="855" y="124"/>
                  </a:lnTo>
                  <a:lnTo>
                    <a:pt x="855" y="124"/>
                  </a:lnTo>
                  <a:lnTo>
                    <a:pt x="853" y="112"/>
                  </a:lnTo>
                  <a:lnTo>
                    <a:pt x="851" y="100"/>
                  </a:lnTo>
                  <a:lnTo>
                    <a:pt x="848" y="88"/>
                  </a:lnTo>
                  <a:lnTo>
                    <a:pt x="845" y="77"/>
                  </a:lnTo>
                  <a:lnTo>
                    <a:pt x="839" y="65"/>
                  </a:lnTo>
                  <a:lnTo>
                    <a:pt x="833" y="56"/>
                  </a:lnTo>
                  <a:lnTo>
                    <a:pt x="825" y="46"/>
                  </a:lnTo>
                  <a:lnTo>
                    <a:pt x="818" y="37"/>
                  </a:lnTo>
                  <a:lnTo>
                    <a:pt x="809" y="29"/>
                  </a:lnTo>
                  <a:lnTo>
                    <a:pt x="799" y="21"/>
                  </a:lnTo>
                  <a:lnTo>
                    <a:pt x="788" y="15"/>
                  </a:lnTo>
                  <a:lnTo>
                    <a:pt x="779" y="10"/>
                  </a:lnTo>
                  <a:lnTo>
                    <a:pt x="766" y="5"/>
                  </a:lnTo>
                  <a:lnTo>
                    <a:pt x="754" y="3"/>
                  </a:lnTo>
                  <a:lnTo>
                    <a:pt x="742" y="0"/>
                  </a:lnTo>
                  <a:lnTo>
                    <a:pt x="729" y="0"/>
                  </a:lnTo>
                  <a:lnTo>
                    <a:pt x="729" y="0"/>
                  </a:lnTo>
                  <a:lnTo>
                    <a:pt x="729" y="0"/>
                  </a:lnTo>
                  <a:lnTo>
                    <a:pt x="729" y="0"/>
                  </a:lnTo>
                  <a:lnTo>
                    <a:pt x="595" y="0"/>
                  </a:lnTo>
                  <a:lnTo>
                    <a:pt x="511" y="135"/>
                  </a:lnTo>
                  <a:lnTo>
                    <a:pt x="456" y="46"/>
                  </a:lnTo>
                  <a:lnTo>
                    <a:pt x="426" y="0"/>
                  </a:lnTo>
                  <a:lnTo>
                    <a:pt x="426" y="0"/>
                  </a:lnTo>
                  <a:lnTo>
                    <a:pt x="398" y="46"/>
                  </a:lnTo>
                  <a:lnTo>
                    <a:pt x="343" y="135"/>
                  </a:lnTo>
                  <a:lnTo>
                    <a:pt x="258" y="0"/>
                  </a:lnTo>
                  <a:lnTo>
                    <a:pt x="126" y="0"/>
                  </a:lnTo>
                  <a:lnTo>
                    <a:pt x="126" y="0"/>
                  </a:lnTo>
                  <a:lnTo>
                    <a:pt x="126" y="0"/>
                  </a:lnTo>
                  <a:lnTo>
                    <a:pt x="125" y="0"/>
                  </a:lnTo>
                  <a:lnTo>
                    <a:pt x="125" y="0"/>
                  </a:lnTo>
                  <a:lnTo>
                    <a:pt x="112" y="0"/>
                  </a:lnTo>
                  <a:lnTo>
                    <a:pt x="99" y="3"/>
                  </a:lnTo>
                  <a:lnTo>
                    <a:pt x="88" y="5"/>
                  </a:lnTo>
                  <a:lnTo>
                    <a:pt x="76" y="10"/>
                  </a:lnTo>
                  <a:lnTo>
                    <a:pt x="66" y="15"/>
                  </a:lnTo>
                  <a:lnTo>
                    <a:pt x="55" y="21"/>
                  </a:lnTo>
                  <a:lnTo>
                    <a:pt x="45" y="29"/>
                  </a:lnTo>
                  <a:lnTo>
                    <a:pt x="36" y="37"/>
                  </a:lnTo>
                  <a:lnTo>
                    <a:pt x="29" y="46"/>
                  </a:lnTo>
                  <a:lnTo>
                    <a:pt x="22" y="56"/>
                  </a:lnTo>
                  <a:lnTo>
                    <a:pt x="15" y="65"/>
                  </a:lnTo>
                  <a:lnTo>
                    <a:pt x="9" y="77"/>
                  </a:lnTo>
                  <a:lnTo>
                    <a:pt x="6" y="88"/>
                  </a:lnTo>
                  <a:lnTo>
                    <a:pt x="2" y="100"/>
                  </a:lnTo>
                  <a:lnTo>
                    <a:pt x="1" y="112"/>
                  </a:lnTo>
                  <a:lnTo>
                    <a:pt x="0" y="124"/>
                  </a:lnTo>
                  <a:lnTo>
                    <a:pt x="0" y="240"/>
                  </a:lnTo>
                  <a:lnTo>
                    <a:pt x="0" y="380"/>
                  </a:lnTo>
                  <a:lnTo>
                    <a:pt x="0" y="451"/>
                  </a:lnTo>
                  <a:lnTo>
                    <a:pt x="855" y="451"/>
                  </a:lnTo>
                  <a:lnTo>
                    <a:pt x="855" y="380"/>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80" name="Freeform 75">
              <a:extLst>
                <a:ext uri="{FF2B5EF4-FFF2-40B4-BE49-F238E27FC236}">
                  <a16:creationId xmlns:a16="http://schemas.microsoft.com/office/drawing/2014/main" id="{1400909B-B7CE-4AD4-8911-CA067E6F3B66}"/>
                </a:ext>
              </a:extLst>
            </p:cNvPr>
            <p:cNvSpPr>
              <a:spLocks/>
            </p:cNvSpPr>
            <p:nvPr/>
          </p:nvSpPr>
          <p:spPr bwMode="auto">
            <a:xfrm>
              <a:off x="2379393" y="3227147"/>
              <a:ext cx="107825" cy="107825"/>
            </a:xfrm>
            <a:custGeom>
              <a:avLst/>
              <a:gdLst>
                <a:gd name="T0" fmla="*/ 442 w 442"/>
                <a:gd name="T1" fmla="*/ 222 h 443"/>
                <a:gd name="T2" fmla="*/ 438 w 442"/>
                <a:gd name="T3" fmla="*/ 177 h 443"/>
                <a:gd name="T4" fmla="*/ 424 w 442"/>
                <a:gd name="T5" fmla="*/ 136 h 443"/>
                <a:gd name="T6" fmla="*/ 404 w 442"/>
                <a:gd name="T7" fmla="*/ 98 h 443"/>
                <a:gd name="T8" fmla="*/ 377 w 442"/>
                <a:gd name="T9" fmla="*/ 65 h 443"/>
                <a:gd name="T10" fmla="*/ 344 w 442"/>
                <a:gd name="T11" fmla="*/ 38 h 443"/>
                <a:gd name="T12" fmla="*/ 306 w 442"/>
                <a:gd name="T13" fmla="*/ 18 h 443"/>
                <a:gd name="T14" fmla="*/ 265 w 442"/>
                <a:gd name="T15" fmla="*/ 5 h 443"/>
                <a:gd name="T16" fmla="*/ 220 w 442"/>
                <a:gd name="T17" fmla="*/ 0 h 443"/>
                <a:gd name="T18" fmla="*/ 198 w 442"/>
                <a:gd name="T19" fmla="*/ 1 h 443"/>
                <a:gd name="T20" fmla="*/ 154 w 442"/>
                <a:gd name="T21" fmla="*/ 10 h 443"/>
                <a:gd name="T22" fmla="*/ 115 w 442"/>
                <a:gd name="T23" fmla="*/ 27 h 443"/>
                <a:gd name="T24" fmla="*/ 79 w 442"/>
                <a:gd name="T25" fmla="*/ 51 h 443"/>
                <a:gd name="T26" fmla="*/ 50 w 442"/>
                <a:gd name="T27" fmla="*/ 81 h 443"/>
                <a:gd name="T28" fmla="*/ 25 w 442"/>
                <a:gd name="T29" fmla="*/ 116 h 443"/>
                <a:gd name="T30" fmla="*/ 9 w 442"/>
                <a:gd name="T31" fmla="*/ 156 h 443"/>
                <a:gd name="T32" fmla="*/ 1 w 442"/>
                <a:gd name="T33" fmla="*/ 199 h 443"/>
                <a:gd name="T34" fmla="*/ 0 w 442"/>
                <a:gd name="T35" fmla="*/ 222 h 443"/>
                <a:gd name="T36" fmla="*/ 3 w 442"/>
                <a:gd name="T37" fmla="*/ 266 h 443"/>
                <a:gd name="T38" fmla="*/ 17 w 442"/>
                <a:gd name="T39" fmla="*/ 308 h 443"/>
                <a:gd name="T40" fmla="*/ 36 w 442"/>
                <a:gd name="T41" fmla="*/ 346 h 443"/>
                <a:gd name="T42" fmla="*/ 63 w 442"/>
                <a:gd name="T43" fmla="*/ 378 h 443"/>
                <a:gd name="T44" fmla="*/ 96 w 442"/>
                <a:gd name="T45" fmla="*/ 406 h 443"/>
                <a:gd name="T46" fmla="*/ 135 w 442"/>
                <a:gd name="T47" fmla="*/ 426 h 443"/>
                <a:gd name="T48" fmla="*/ 176 w 442"/>
                <a:gd name="T49" fmla="*/ 439 h 443"/>
                <a:gd name="T50" fmla="*/ 220 w 442"/>
                <a:gd name="T51" fmla="*/ 443 h 443"/>
                <a:gd name="T52" fmla="*/ 244 w 442"/>
                <a:gd name="T53" fmla="*/ 442 h 443"/>
                <a:gd name="T54" fmla="*/ 287 w 442"/>
                <a:gd name="T55" fmla="*/ 433 h 443"/>
                <a:gd name="T56" fmla="*/ 326 w 442"/>
                <a:gd name="T57" fmla="*/ 417 h 443"/>
                <a:gd name="T58" fmla="*/ 361 w 442"/>
                <a:gd name="T59" fmla="*/ 393 h 443"/>
                <a:gd name="T60" fmla="*/ 391 w 442"/>
                <a:gd name="T61" fmla="*/ 363 h 443"/>
                <a:gd name="T62" fmla="*/ 415 w 442"/>
                <a:gd name="T63" fmla="*/ 328 h 443"/>
                <a:gd name="T64" fmla="*/ 431 w 442"/>
                <a:gd name="T65" fmla="*/ 288 h 443"/>
                <a:gd name="T66" fmla="*/ 441 w 442"/>
                <a:gd name="T67" fmla="*/ 244 h 443"/>
                <a:gd name="T68" fmla="*/ 442 w 442"/>
                <a:gd name="T69" fmla="*/ 222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42" h="443">
                  <a:moveTo>
                    <a:pt x="442" y="222"/>
                  </a:moveTo>
                  <a:lnTo>
                    <a:pt x="442" y="222"/>
                  </a:lnTo>
                  <a:lnTo>
                    <a:pt x="441" y="199"/>
                  </a:lnTo>
                  <a:lnTo>
                    <a:pt x="438" y="177"/>
                  </a:lnTo>
                  <a:lnTo>
                    <a:pt x="431" y="156"/>
                  </a:lnTo>
                  <a:lnTo>
                    <a:pt x="424" y="136"/>
                  </a:lnTo>
                  <a:lnTo>
                    <a:pt x="415" y="116"/>
                  </a:lnTo>
                  <a:lnTo>
                    <a:pt x="404" y="98"/>
                  </a:lnTo>
                  <a:lnTo>
                    <a:pt x="391" y="81"/>
                  </a:lnTo>
                  <a:lnTo>
                    <a:pt x="377" y="65"/>
                  </a:lnTo>
                  <a:lnTo>
                    <a:pt x="361" y="51"/>
                  </a:lnTo>
                  <a:lnTo>
                    <a:pt x="344" y="38"/>
                  </a:lnTo>
                  <a:lnTo>
                    <a:pt x="326" y="27"/>
                  </a:lnTo>
                  <a:lnTo>
                    <a:pt x="306" y="18"/>
                  </a:lnTo>
                  <a:lnTo>
                    <a:pt x="287" y="10"/>
                  </a:lnTo>
                  <a:lnTo>
                    <a:pt x="265" y="5"/>
                  </a:lnTo>
                  <a:lnTo>
                    <a:pt x="244" y="1"/>
                  </a:lnTo>
                  <a:lnTo>
                    <a:pt x="220" y="0"/>
                  </a:lnTo>
                  <a:lnTo>
                    <a:pt x="220" y="0"/>
                  </a:lnTo>
                  <a:lnTo>
                    <a:pt x="198" y="1"/>
                  </a:lnTo>
                  <a:lnTo>
                    <a:pt x="176" y="5"/>
                  </a:lnTo>
                  <a:lnTo>
                    <a:pt x="154" y="10"/>
                  </a:lnTo>
                  <a:lnTo>
                    <a:pt x="135" y="18"/>
                  </a:lnTo>
                  <a:lnTo>
                    <a:pt x="115" y="27"/>
                  </a:lnTo>
                  <a:lnTo>
                    <a:pt x="96" y="38"/>
                  </a:lnTo>
                  <a:lnTo>
                    <a:pt x="79" y="51"/>
                  </a:lnTo>
                  <a:lnTo>
                    <a:pt x="63" y="65"/>
                  </a:lnTo>
                  <a:lnTo>
                    <a:pt x="50" y="81"/>
                  </a:lnTo>
                  <a:lnTo>
                    <a:pt x="36" y="98"/>
                  </a:lnTo>
                  <a:lnTo>
                    <a:pt x="25" y="116"/>
                  </a:lnTo>
                  <a:lnTo>
                    <a:pt x="17" y="136"/>
                  </a:lnTo>
                  <a:lnTo>
                    <a:pt x="9" y="156"/>
                  </a:lnTo>
                  <a:lnTo>
                    <a:pt x="3" y="177"/>
                  </a:lnTo>
                  <a:lnTo>
                    <a:pt x="1" y="199"/>
                  </a:lnTo>
                  <a:lnTo>
                    <a:pt x="0" y="222"/>
                  </a:lnTo>
                  <a:lnTo>
                    <a:pt x="0" y="222"/>
                  </a:lnTo>
                  <a:lnTo>
                    <a:pt x="1" y="244"/>
                  </a:lnTo>
                  <a:lnTo>
                    <a:pt x="3" y="266"/>
                  </a:lnTo>
                  <a:lnTo>
                    <a:pt x="9" y="288"/>
                  </a:lnTo>
                  <a:lnTo>
                    <a:pt x="17" y="308"/>
                  </a:lnTo>
                  <a:lnTo>
                    <a:pt x="25" y="328"/>
                  </a:lnTo>
                  <a:lnTo>
                    <a:pt x="36" y="346"/>
                  </a:lnTo>
                  <a:lnTo>
                    <a:pt x="50" y="363"/>
                  </a:lnTo>
                  <a:lnTo>
                    <a:pt x="63" y="378"/>
                  </a:lnTo>
                  <a:lnTo>
                    <a:pt x="79" y="393"/>
                  </a:lnTo>
                  <a:lnTo>
                    <a:pt x="96" y="406"/>
                  </a:lnTo>
                  <a:lnTo>
                    <a:pt x="115" y="417"/>
                  </a:lnTo>
                  <a:lnTo>
                    <a:pt x="135" y="426"/>
                  </a:lnTo>
                  <a:lnTo>
                    <a:pt x="154" y="433"/>
                  </a:lnTo>
                  <a:lnTo>
                    <a:pt x="176" y="439"/>
                  </a:lnTo>
                  <a:lnTo>
                    <a:pt x="198" y="442"/>
                  </a:lnTo>
                  <a:lnTo>
                    <a:pt x="220" y="443"/>
                  </a:lnTo>
                  <a:lnTo>
                    <a:pt x="220" y="443"/>
                  </a:lnTo>
                  <a:lnTo>
                    <a:pt x="244" y="442"/>
                  </a:lnTo>
                  <a:lnTo>
                    <a:pt x="265" y="439"/>
                  </a:lnTo>
                  <a:lnTo>
                    <a:pt x="287" y="433"/>
                  </a:lnTo>
                  <a:lnTo>
                    <a:pt x="306" y="426"/>
                  </a:lnTo>
                  <a:lnTo>
                    <a:pt x="326" y="417"/>
                  </a:lnTo>
                  <a:lnTo>
                    <a:pt x="344" y="406"/>
                  </a:lnTo>
                  <a:lnTo>
                    <a:pt x="361" y="393"/>
                  </a:lnTo>
                  <a:lnTo>
                    <a:pt x="377" y="378"/>
                  </a:lnTo>
                  <a:lnTo>
                    <a:pt x="391" y="363"/>
                  </a:lnTo>
                  <a:lnTo>
                    <a:pt x="404" y="346"/>
                  </a:lnTo>
                  <a:lnTo>
                    <a:pt x="415" y="328"/>
                  </a:lnTo>
                  <a:lnTo>
                    <a:pt x="424" y="308"/>
                  </a:lnTo>
                  <a:lnTo>
                    <a:pt x="431" y="288"/>
                  </a:lnTo>
                  <a:lnTo>
                    <a:pt x="438" y="266"/>
                  </a:lnTo>
                  <a:lnTo>
                    <a:pt x="441" y="244"/>
                  </a:lnTo>
                  <a:lnTo>
                    <a:pt x="442" y="222"/>
                  </a:lnTo>
                  <a:lnTo>
                    <a:pt x="442" y="222"/>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81" name="Freeform 76">
              <a:extLst>
                <a:ext uri="{FF2B5EF4-FFF2-40B4-BE49-F238E27FC236}">
                  <a16:creationId xmlns:a16="http://schemas.microsoft.com/office/drawing/2014/main" id="{CC3986E4-F722-4210-9693-2C986E084041}"/>
                </a:ext>
              </a:extLst>
            </p:cNvPr>
            <p:cNvSpPr>
              <a:spLocks/>
            </p:cNvSpPr>
            <p:nvPr/>
          </p:nvSpPr>
          <p:spPr bwMode="auto">
            <a:xfrm>
              <a:off x="2329140" y="3339852"/>
              <a:ext cx="208332" cy="109777"/>
            </a:xfrm>
            <a:custGeom>
              <a:avLst/>
              <a:gdLst>
                <a:gd name="T0" fmla="*/ 854 w 854"/>
                <a:gd name="T1" fmla="*/ 380 h 451"/>
                <a:gd name="T2" fmla="*/ 854 w 854"/>
                <a:gd name="T3" fmla="*/ 240 h 451"/>
                <a:gd name="T4" fmla="*/ 854 w 854"/>
                <a:gd name="T5" fmla="*/ 124 h 451"/>
                <a:gd name="T6" fmla="*/ 854 w 854"/>
                <a:gd name="T7" fmla="*/ 124 h 451"/>
                <a:gd name="T8" fmla="*/ 853 w 854"/>
                <a:gd name="T9" fmla="*/ 112 h 451"/>
                <a:gd name="T10" fmla="*/ 852 w 854"/>
                <a:gd name="T11" fmla="*/ 100 h 451"/>
                <a:gd name="T12" fmla="*/ 848 w 854"/>
                <a:gd name="T13" fmla="*/ 88 h 451"/>
                <a:gd name="T14" fmla="*/ 845 w 854"/>
                <a:gd name="T15" fmla="*/ 77 h 451"/>
                <a:gd name="T16" fmla="*/ 840 w 854"/>
                <a:gd name="T17" fmla="*/ 65 h 451"/>
                <a:gd name="T18" fmla="*/ 833 w 854"/>
                <a:gd name="T19" fmla="*/ 56 h 451"/>
                <a:gd name="T20" fmla="*/ 826 w 854"/>
                <a:gd name="T21" fmla="*/ 46 h 451"/>
                <a:gd name="T22" fmla="*/ 818 w 854"/>
                <a:gd name="T23" fmla="*/ 37 h 451"/>
                <a:gd name="T24" fmla="*/ 809 w 854"/>
                <a:gd name="T25" fmla="*/ 29 h 451"/>
                <a:gd name="T26" fmla="*/ 799 w 854"/>
                <a:gd name="T27" fmla="*/ 21 h 451"/>
                <a:gd name="T28" fmla="*/ 789 w 854"/>
                <a:gd name="T29" fmla="*/ 15 h 451"/>
                <a:gd name="T30" fmla="*/ 778 w 854"/>
                <a:gd name="T31" fmla="*/ 10 h 451"/>
                <a:gd name="T32" fmla="*/ 767 w 854"/>
                <a:gd name="T33" fmla="*/ 5 h 451"/>
                <a:gd name="T34" fmla="*/ 755 w 854"/>
                <a:gd name="T35" fmla="*/ 3 h 451"/>
                <a:gd name="T36" fmla="*/ 743 w 854"/>
                <a:gd name="T37" fmla="*/ 0 h 451"/>
                <a:gd name="T38" fmla="*/ 729 w 854"/>
                <a:gd name="T39" fmla="*/ 0 h 451"/>
                <a:gd name="T40" fmla="*/ 729 w 854"/>
                <a:gd name="T41" fmla="*/ 0 h 451"/>
                <a:gd name="T42" fmla="*/ 729 w 854"/>
                <a:gd name="T43" fmla="*/ 0 h 451"/>
                <a:gd name="T44" fmla="*/ 729 w 854"/>
                <a:gd name="T45" fmla="*/ 0 h 451"/>
                <a:gd name="T46" fmla="*/ 594 w 854"/>
                <a:gd name="T47" fmla="*/ 0 h 451"/>
                <a:gd name="T48" fmla="*/ 511 w 854"/>
                <a:gd name="T49" fmla="*/ 135 h 451"/>
                <a:gd name="T50" fmla="*/ 456 w 854"/>
                <a:gd name="T51" fmla="*/ 46 h 451"/>
                <a:gd name="T52" fmla="*/ 427 w 854"/>
                <a:gd name="T53" fmla="*/ 0 h 451"/>
                <a:gd name="T54" fmla="*/ 426 w 854"/>
                <a:gd name="T55" fmla="*/ 0 h 451"/>
                <a:gd name="T56" fmla="*/ 398 w 854"/>
                <a:gd name="T57" fmla="*/ 46 h 451"/>
                <a:gd name="T58" fmla="*/ 343 w 854"/>
                <a:gd name="T59" fmla="*/ 135 h 451"/>
                <a:gd name="T60" fmla="*/ 259 w 854"/>
                <a:gd name="T61" fmla="*/ 0 h 451"/>
                <a:gd name="T62" fmla="*/ 126 w 854"/>
                <a:gd name="T63" fmla="*/ 0 h 451"/>
                <a:gd name="T64" fmla="*/ 126 w 854"/>
                <a:gd name="T65" fmla="*/ 0 h 451"/>
                <a:gd name="T66" fmla="*/ 126 w 854"/>
                <a:gd name="T67" fmla="*/ 0 h 451"/>
                <a:gd name="T68" fmla="*/ 124 w 854"/>
                <a:gd name="T69" fmla="*/ 0 h 451"/>
                <a:gd name="T70" fmla="*/ 124 w 854"/>
                <a:gd name="T71" fmla="*/ 0 h 451"/>
                <a:gd name="T72" fmla="*/ 112 w 854"/>
                <a:gd name="T73" fmla="*/ 0 h 451"/>
                <a:gd name="T74" fmla="*/ 100 w 854"/>
                <a:gd name="T75" fmla="*/ 3 h 451"/>
                <a:gd name="T76" fmla="*/ 88 w 854"/>
                <a:gd name="T77" fmla="*/ 5 h 451"/>
                <a:gd name="T78" fmla="*/ 77 w 854"/>
                <a:gd name="T79" fmla="*/ 10 h 451"/>
                <a:gd name="T80" fmla="*/ 65 w 854"/>
                <a:gd name="T81" fmla="*/ 15 h 451"/>
                <a:gd name="T82" fmla="*/ 54 w 854"/>
                <a:gd name="T83" fmla="*/ 21 h 451"/>
                <a:gd name="T84" fmla="*/ 46 w 854"/>
                <a:gd name="T85" fmla="*/ 29 h 451"/>
                <a:gd name="T86" fmla="*/ 36 w 854"/>
                <a:gd name="T87" fmla="*/ 37 h 451"/>
                <a:gd name="T88" fmla="*/ 29 w 854"/>
                <a:gd name="T89" fmla="*/ 46 h 451"/>
                <a:gd name="T90" fmla="*/ 21 w 854"/>
                <a:gd name="T91" fmla="*/ 56 h 451"/>
                <a:gd name="T92" fmla="*/ 15 w 854"/>
                <a:gd name="T93" fmla="*/ 65 h 451"/>
                <a:gd name="T94" fmla="*/ 10 w 854"/>
                <a:gd name="T95" fmla="*/ 77 h 451"/>
                <a:gd name="T96" fmla="*/ 5 w 854"/>
                <a:gd name="T97" fmla="*/ 88 h 451"/>
                <a:gd name="T98" fmla="*/ 3 w 854"/>
                <a:gd name="T99" fmla="*/ 100 h 451"/>
                <a:gd name="T100" fmla="*/ 0 w 854"/>
                <a:gd name="T101" fmla="*/ 112 h 451"/>
                <a:gd name="T102" fmla="*/ 0 w 854"/>
                <a:gd name="T103" fmla="*/ 124 h 451"/>
                <a:gd name="T104" fmla="*/ 0 w 854"/>
                <a:gd name="T105" fmla="*/ 240 h 451"/>
                <a:gd name="T106" fmla="*/ 0 w 854"/>
                <a:gd name="T107" fmla="*/ 380 h 451"/>
                <a:gd name="T108" fmla="*/ 0 w 854"/>
                <a:gd name="T109" fmla="*/ 451 h 451"/>
                <a:gd name="T110" fmla="*/ 854 w 854"/>
                <a:gd name="T111" fmla="*/ 451 h 451"/>
                <a:gd name="T112" fmla="*/ 854 w 854"/>
                <a:gd name="T113" fmla="*/ 380 h 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54" h="451">
                  <a:moveTo>
                    <a:pt x="854" y="380"/>
                  </a:moveTo>
                  <a:lnTo>
                    <a:pt x="854" y="240"/>
                  </a:lnTo>
                  <a:lnTo>
                    <a:pt x="854" y="124"/>
                  </a:lnTo>
                  <a:lnTo>
                    <a:pt x="854" y="124"/>
                  </a:lnTo>
                  <a:lnTo>
                    <a:pt x="853" y="112"/>
                  </a:lnTo>
                  <a:lnTo>
                    <a:pt x="852" y="100"/>
                  </a:lnTo>
                  <a:lnTo>
                    <a:pt x="848" y="88"/>
                  </a:lnTo>
                  <a:lnTo>
                    <a:pt x="845" y="77"/>
                  </a:lnTo>
                  <a:lnTo>
                    <a:pt x="840" y="65"/>
                  </a:lnTo>
                  <a:lnTo>
                    <a:pt x="833" y="56"/>
                  </a:lnTo>
                  <a:lnTo>
                    <a:pt x="826" y="46"/>
                  </a:lnTo>
                  <a:lnTo>
                    <a:pt x="818" y="37"/>
                  </a:lnTo>
                  <a:lnTo>
                    <a:pt x="809" y="29"/>
                  </a:lnTo>
                  <a:lnTo>
                    <a:pt x="799" y="21"/>
                  </a:lnTo>
                  <a:lnTo>
                    <a:pt x="789" y="15"/>
                  </a:lnTo>
                  <a:lnTo>
                    <a:pt x="778" y="10"/>
                  </a:lnTo>
                  <a:lnTo>
                    <a:pt x="767" y="5"/>
                  </a:lnTo>
                  <a:lnTo>
                    <a:pt x="755" y="3"/>
                  </a:lnTo>
                  <a:lnTo>
                    <a:pt x="743" y="0"/>
                  </a:lnTo>
                  <a:lnTo>
                    <a:pt x="729" y="0"/>
                  </a:lnTo>
                  <a:lnTo>
                    <a:pt x="729" y="0"/>
                  </a:lnTo>
                  <a:lnTo>
                    <a:pt x="729" y="0"/>
                  </a:lnTo>
                  <a:lnTo>
                    <a:pt x="729" y="0"/>
                  </a:lnTo>
                  <a:lnTo>
                    <a:pt x="594" y="0"/>
                  </a:lnTo>
                  <a:lnTo>
                    <a:pt x="511" y="135"/>
                  </a:lnTo>
                  <a:lnTo>
                    <a:pt x="456" y="46"/>
                  </a:lnTo>
                  <a:lnTo>
                    <a:pt x="427" y="0"/>
                  </a:lnTo>
                  <a:lnTo>
                    <a:pt x="426" y="0"/>
                  </a:lnTo>
                  <a:lnTo>
                    <a:pt x="398" y="46"/>
                  </a:lnTo>
                  <a:lnTo>
                    <a:pt x="343" y="135"/>
                  </a:lnTo>
                  <a:lnTo>
                    <a:pt x="259" y="0"/>
                  </a:lnTo>
                  <a:lnTo>
                    <a:pt x="126" y="0"/>
                  </a:lnTo>
                  <a:lnTo>
                    <a:pt x="126" y="0"/>
                  </a:lnTo>
                  <a:lnTo>
                    <a:pt x="126" y="0"/>
                  </a:lnTo>
                  <a:lnTo>
                    <a:pt x="124" y="0"/>
                  </a:lnTo>
                  <a:lnTo>
                    <a:pt x="124" y="0"/>
                  </a:lnTo>
                  <a:lnTo>
                    <a:pt x="112" y="0"/>
                  </a:lnTo>
                  <a:lnTo>
                    <a:pt x="100" y="3"/>
                  </a:lnTo>
                  <a:lnTo>
                    <a:pt x="88" y="5"/>
                  </a:lnTo>
                  <a:lnTo>
                    <a:pt x="77" y="10"/>
                  </a:lnTo>
                  <a:lnTo>
                    <a:pt x="65" y="15"/>
                  </a:lnTo>
                  <a:lnTo>
                    <a:pt x="54" y="21"/>
                  </a:lnTo>
                  <a:lnTo>
                    <a:pt x="46" y="29"/>
                  </a:lnTo>
                  <a:lnTo>
                    <a:pt x="36" y="37"/>
                  </a:lnTo>
                  <a:lnTo>
                    <a:pt x="29" y="46"/>
                  </a:lnTo>
                  <a:lnTo>
                    <a:pt x="21" y="56"/>
                  </a:lnTo>
                  <a:lnTo>
                    <a:pt x="15" y="65"/>
                  </a:lnTo>
                  <a:lnTo>
                    <a:pt x="10" y="77"/>
                  </a:lnTo>
                  <a:lnTo>
                    <a:pt x="5" y="88"/>
                  </a:lnTo>
                  <a:lnTo>
                    <a:pt x="3" y="100"/>
                  </a:lnTo>
                  <a:lnTo>
                    <a:pt x="0" y="112"/>
                  </a:lnTo>
                  <a:lnTo>
                    <a:pt x="0" y="124"/>
                  </a:lnTo>
                  <a:lnTo>
                    <a:pt x="0" y="240"/>
                  </a:lnTo>
                  <a:lnTo>
                    <a:pt x="0" y="380"/>
                  </a:lnTo>
                  <a:lnTo>
                    <a:pt x="0" y="451"/>
                  </a:lnTo>
                  <a:lnTo>
                    <a:pt x="854" y="451"/>
                  </a:lnTo>
                  <a:lnTo>
                    <a:pt x="854" y="380"/>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82" name="Freeform 77">
              <a:extLst>
                <a:ext uri="{FF2B5EF4-FFF2-40B4-BE49-F238E27FC236}">
                  <a16:creationId xmlns:a16="http://schemas.microsoft.com/office/drawing/2014/main" id="{50587150-6871-427B-9900-B62F3E2B98CE}"/>
                </a:ext>
              </a:extLst>
            </p:cNvPr>
            <p:cNvSpPr>
              <a:spLocks/>
            </p:cNvSpPr>
            <p:nvPr/>
          </p:nvSpPr>
          <p:spPr bwMode="auto">
            <a:xfrm>
              <a:off x="2605777" y="3227147"/>
              <a:ext cx="108313" cy="107825"/>
            </a:xfrm>
            <a:custGeom>
              <a:avLst/>
              <a:gdLst>
                <a:gd name="T0" fmla="*/ 443 w 443"/>
                <a:gd name="T1" fmla="*/ 222 h 443"/>
                <a:gd name="T2" fmla="*/ 438 w 443"/>
                <a:gd name="T3" fmla="*/ 177 h 443"/>
                <a:gd name="T4" fmla="*/ 426 w 443"/>
                <a:gd name="T5" fmla="*/ 136 h 443"/>
                <a:gd name="T6" fmla="*/ 405 w 443"/>
                <a:gd name="T7" fmla="*/ 98 h 443"/>
                <a:gd name="T8" fmla="*/ 378 w 443"/>
                <a:gd name="T9" fmla="*/ 65 h 443"/>
                <a:gd name="T10" fmla="*/ 345 w 443"/>
                <a:gd name="T11" fmla="*/ 38 h 443"/>
                <a:gd name="T12" fmla="*/ 308 w 443"/>
                <a:gd name="T13" fmla="*/ 18 h 443"/>
                <a:gd name="T14" fmla="*/ 267 w 443"/>
                <a:gd name="T15" fmla="*/ 5 h 443"/>
                <a:gd name="T16" fmla="*/ 221 w 443"/>
                <a:gd name="T17" fmla="*/ 0 h 443"/>
                <a:gd name="T18" fmla="*/ 199 w 443"/>
                <a:gd name="T19" fmla="*/ 1 h 443"/>
                <a:gd name="T20" fmla="*/ 156 w 443"/>
                <a:gd name="T21" fmla="*/ 10 h 443"/>
                <a:gd name="T22" fmla="*/ 116 w 443"/>
                <a:gd name="T23" fmla="*/ 27 h 443"/>
                <a:gd name="T24" fmla="*/ 81 w 443"/>
                <a:gd name="T25" fmla="*/ 51 h 443"/>
                <a:gd name="T26" fmla="*/ 51 w 443"/>
                <a:gd name="T27" fmla="*/ 81 h 443"/>
                <a:gd name="T28" fmla="*/ 27 w 443"/>
                <a:gd name="T29" fmla="*/ 116 h 443"/>
                <a:gd name="T30" fmla="*/ 10 w 443"/>
                <a:gd name="T31" fmla="*/ 156 h 443"/>
                <a:gd name="T32" fmla="*/ 2 w 443"/>
                <a:gd name="T33" fmla="*/ 199 h 443"/>
                <a:gd name="T34" fmla="*/ 0 w 443"/>
                <a:gd name="T35" fmla="*/ 222 h 443"/>
                <a:gd name="T36" fmla="*/ 5 w 443"/>
                <a:gd name="T37" fmla="*/ 266 h 443"/>
                <a:gd name="T38" fmla="*/ 17 w 443"/>
                <a:gd name="T39" fmla="*/ 308 h 443"/>
                <a:gd name="T40" fmla="*/ 38 w 443"/>
                <a:gd name="T41" fmla="*/ 346 h 443"/>
                <a:gd name="T42" fmla="*/ 65 w 443"/>
                <a:gd name="T43" fmla="*/ 378 h 443"/>
                <a:gd name="T44" fmla="*/ 98 w 443"/>
                <a:gd name="T45" fmla="*/ 406 h 443"/>
                <a:gd name="T46" fmla="*/ 135 w 443"/>
                <a:gd name="T47" fmla="*/ 426 h 443"/>
                <a:gd name="T48" fmla="*/ 177 w 443"/>
                <a:gd name="T49" fmla="*/ 439 h 443"/>
                <a:gd name="T50" fmla="*/ 221 w 443"/>
                <a:gd name="T51" fmla="*/ 443 h 443"/>
                <a:gd name="T52" fmla="*/ 244 w 443"/>
                <a:gd name="T53" fmla="*/ 442 h 443"/>
                <a:gd name="T54" fmla="*/ 287 w 443"/>
                <a:gd name="T55" fmla="*/ 433 h 443"/>
                <a:gd name="T56" fmla="*/ 328 w 443"/>
                <a:gd name="T57" fmla="*/ 417 h 443"/>
                <a:gd name="T58" fmla="*/ 362 w 443"/>
                <a:gd name="T59" fmla="*/ 393 h 443"/>
                <a:gd name="T60" fmla="*/ 393 w 443"/>
                <a:gd name="T61" fmla="*/ 363 h 443"/>
                <a:gd name="T62" fmla="*/ 416 w 443"/>
                <a:gd name="T63" fmla="*/ 328 h 443"/>
                <a:gd name="T64" fmla="*/ 433 w 443"/>
                <a:gd name="T65" fmla="*/ 288 h 443"/>
                <a:gd name="T66" fmla="*/ 442 w 443"/>
                <a:gd name="T67" fmla="*/ 244 h 443"/>
                <a:gd name="T68" fmla="*/ 443 w 443"/>
                <a:gd name="T69" fmla="*/ 222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43" h="443">
                  <a:moveTo>
                    <a:pt x="443" y="222"/>
                  </a:moveTo>
                  <a:lnTo>
                    <a:pt x="443" y="222"/>
                  </a:lnTo>
                  <a:lnTo>
                    <a:pt x="442" y="199"/>
                  </a:lnTo>
                  <a:lnTo>
                    <a:pt x="438" y="177"/>
                  </a:lnTo>
                  <a:lnTo>
                    <a:pt x="433" y="156"/>
                  </a:lnTo>
                  <a:lnTo>
                    <a:pt x="426" y="136"/>
                  </a:lnTo>
                  <a:lnTo>
                    <a:pt x="416" y="116"/>
                  </a:lnTo>
                  <a:lnTo>
                    <a:pt x="405" y="98"/>
                  </a:lnTo>
                  <a:lnTo>
                    <a:pt x="393" y="81"/>
                  </a:lnTo>
                  <a:lnTo>
                    <a:pt x="378" y="65"/>
                  </a:lnTo>
                  <a:lnTo>
                    <a:pt x="362" y="51"/>
                  </a:lnTo>
                  <a:lnTo>
                    <a:pt x="345" y="38"/>
                  </a:lnTo>
                  <a:lnTo>
                    <a:pt x="328" y="27"/>
                  </a:lnTo>
                  <a:lnTo>
                    <a:pt x="308" y="18"/>
                  </a:lnTo>
                  <a:lnTo>
                    <a:pt x="287" y="10"/>
                  </a:lnTo>
                  <a:lnTo>
                    <a:pt x="267" y="5"/>
                  </a:lnTo>
                  <a:lnTo>
                    <a:pt x="244" y="1"/>
                  </a:lnTo>
                  <a:lnTo>
                    <a:pt x="221" y="0"/>
                  </a:lnTo>
                  <a:lnTo>
                    <a:pt x="221" y="0"/>
                  </a:lnTo>
                  <a:lnTo>
                    <a:pt x="199" y="1"/>
                  </a:lnTo>
                  <a:lnTo>
                    <a:pt x="177" y="5"/>
                  </a:lnTo>
                  <a:lnTo>
                    <a:pt x="156" y="10"/>
                  </a:lnTo>
                  <a:lnTo>
                    <a:pt x="135" y="18"/>
                  </a:lnTo>
                  <a:lnTo>
                    <a:pt x="116" y="27"/>
                  </a:lnTo>
                  <a:lnTo>
                    <a:pt x="98" y="38"/>
                  </a:lnTo>
                  <a:lnTo>
                    <a:pt x="81" y="51"/>
                  </a:lnTo>
                  <a:lnTo>
                    <a:pt x="65" y="65"/>
                  </a:lnTo>
                  <a:lnTo>
                    <a:pt x="51" y="81"/>
                  </a:lnTo>
                  <a:lnTo>
                    <a:pt x="38" y="98"/>
                  </a:lnTo>
                  <a:lnTo>
                    <a:pt x="27" y="116"/>
                  </a:lnTo>
                  <a:lnTo>
                    <a:pt x="17" y="136"/>
                  </a:lnTo>
                  <a:lnTo>
                    <a:pt x="10" y="156"/>
                  </a:lnTo>
                  <a:lnTo>
                    <a:pt x="5" y="177"/>
                  </a:lnTo>
                  <a:lnTo>
                    <a:pt x="2" y="199"/>
                  </a:lnTo>
                  <a:lnTo>
                    <a:pt x="0" y="222"/>
                  </a:lnTo>
                  <a:lnTo>
                    <a:pt x="0" y="222"/>
                  </a:lnTo>
                  <a:lnTo>
                    <a:pt x="2" y="244"/>
                  </a:lnTo>
                  <a:lnTo>
                    <a:pt x="5" y="266"/>
                  </a:lnTo>
                  <a:lnTo>
                    <a:pt x="10" y="288"/>
                  </a:lnTo>
                  <a:lnTo>
                    <a:pt x="17" y="308"/>
                  </a:lnTo>
                  <a:lnTo>
                    <a:pt x="27" y="328"/>
                  </a:lnTo>
                  <a:lnTo>
                    <a:pt x="38" y="346"/>
                  </a:lnTo>
                  <a:lnTo>
                    <a:pt x="51" y="363"/>
                  </a:lnTo>
                  <a:lnTo>
                    <a:pt x="65" y="378"/>
                  </a:lnTo>
                  <a:lnTo>
                    <a:pt x="81" y="393"/>
                  </a:lnTo>
                  <a:lnTo>
                    <a:pt x="98" y="406"/>
                  </a:lnTo>
                  <a:lnTo>
                    <a:pt x="116" y="417"/>
                  </a:lnTo>
                  <a:lnTo>
                    <a:pt x="135" y="426"/>
                  </a:lnTo>
                  <a:lnTo>
                    <a:pt x="156" y="433"/>
                  </a:lnTo>
                  <a:lnTo>
                    <a:pt x="177" y="439"/>
                  </a:lnTo>
                  <a:lnTo>
                    <a:pt x="199" y="442"/>
                  </a:lnTo>
                  <a:lnTo>
                    <a:pt x="221" y="443"/>
                  </a:lnTo>
                  <a:lnTo>
                    <a:pt x="221" y="443"/>
                  </a:lnTo>
                  <a:lnTo>
                    <a:pt x="244" y="442"/>
                  </a:lnTo>
                  <a:lnTo>
                    <a:pt x="267" y="439"/>
                  </a:lnTo>
                  <a:lnTo>
                    <a:pt x="287" y="433"/>
                  </a:lnTo>
                  <a:lnTo>
                    <a:pt x="308" y="426"/>
                  </a:lnTo>
                  <a:lnTo>
                    <a:pt x="328" y="417"/>
                  </a:lnTo>
                  <a:lnTo>
                    <a:pt x="345" y="406"/>
                  </a:lnTo>
                  <a:lnTo>
                    <a:pt x="362" y="393"/>
                  </a:lnTo>
                  <a:lnTo>
                    <a:pt x="378" y="378"/>
                  </a:lnTo>
                  <a:lnTo>
                    <a:pt x="393" y="363"/>
                  </a:lnTo>
                  <a:lnTo>
                    <a:pt x="405" y="346"/>
                  </a:lnTo>
                  <a:lnTo>
                    <a:pt x="416" y="328"/>
                  </a:lnTo>
                  <a:lnTo>
                    <a:pt x="426" y="308"/>
                  </a:lnTo>
                  <a:lnTo>
                    <a:pt x="433" y="288"/>
                  </a:lnTo>
                  <a:lnTo>
                    <a:pt x="438" y="266"/>
                  </a:lnTo>
                  <a:lnTo>
                    <a:pt x="442" y="244"/>
                  </a:lnTo>
                  <a:lnTo>
                    <a:pt x="443" y="222"/>
                  </a:lnTo>
                  <a:lnTo>
                    <a:pt x="443" y="222"/>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83" name="Freeform 78">
              <a:extLst>
                <a:ext uri="{FF2B5EF4-FFF2-40B4-BE49-F238E27FC236}">
                  <a16:creationId xmlns:a16="http://schemas.microsoft.com/office/drawing/2014/main" id="{982861AF-94BE-4762-8638-EA9904BBFDDD}"/>
                </a:ext>
              </a:extLst>
            </p:cNvPr>
            <p:cNvSpPr>
              <a:spLocks/>
            </p:cNvSpPr>
            <p:nvPr/>
          </p:nvSpPr>
          <p:spPr bwMode="auto">
            <a:xfrm>
              <a:off x="2555524" y="3339852"/>
              <a:ext cx="208332" cy="109777"/>
            </a:xfrm>
            <a:custGeom>
              <a:avLst/>
              <a:gdLst>
                <a:gd name="T0" fmla="*/ 854 w 854"/>
                <a:gd name="T1" fmla="*/ 380 h 451"/>
                <a:gd name="T2" fmla="*/ 854 w 854"/>
                <a:gd name="T3" fmla="*/ 240 h 451"/>
                <a:gd name="T4" fmla="*/ 854 w 854"/>
                <a:gd name="T5" fmla="*/ 124 h 451"/>
                <a:gd name="T6" fmla="*/ 854 w 854"/>
                <a:gd name="T7" fmla="*/ 124 h 451"/>
                <a:gd name="T8" fmla="*/ 854 w 854"/>
                <a:gd name="T9" fmla="*/ 112 h 451"/>
                <a:gd name="T10" fmla="*/ 852 w 854"/>
                <a:gd name="T11" fmla="*/ 100 h 451"/>
                <a:gd name="T12" fmla="*/ 849 w 854"/>
                <a:gd name="T13" fmla="*/ 88 h 451"/>
                <a:gd name="T14" fmla="*/ 844 w 854"/>
                <a:gd name="T15" fmla="*/ 77 h 451"/>
                <a:gd name="T16" fmla="*/ 839 w 854"/>
                <a:gd name="T17" fmla="*/ 65 h 451"/>
                <a:gd name="T18" fmla="*/ 833 w 854"/>
                <a:gd name="T19" fmla="*/ 56 h 451"/>
                <a:gd name="T20" fmla="*/ 826 w 854"/>
                <a:gd name="T21" fmla="*/ 46 h 451"/>
                <a:gd name="T22" fmla="*/ 818 w 854"/>
                <a:gd name="T23" fmla="*/ 37 h 451"/>
                <a:gd name="T24" fmla="*/ 809 w 854"/>
                <a:gd name="T25" fmla="*/ 29 h 451"/>
                <a:gd name="T26" fmla="*/ 799 w 854"/>
                <a:gd name="T27" fmla="*/ 21 h 451"/>
                <a:gd name="T28" fmla="*/ 789 w 854"/>
                <a:gd name="T29" fmla="*/ 15 h 451"/>
                <a:gd name="T30" fmla="*/ 778 w 854"/>
                <a:gd name="T31" fmla="*/ 10 h 451"/>
                <a:gd name="T32" fmla="*/ 767 w 854"/>
                <a:gd name="T33" fmla="*/ 5 h 451"/>
                <a:gd name="T34" fmla="*/ 755 w 854"/>
                <a:gd name="T35" fmla="*/ 3 h 451"/>
                <a:gd name="T36" fmla="*/ 742 w 854"/>
                <a:gd name="T37" fmla="*/ 0 h 451"/>
                <a:gd name="T38" fmla="*/ 730 w 854"/>
                <a:gd name="T39" fmla="*/ 0 h 451"/>
                <a:gd name="T40" fmla="*/ 730 w 854"/>
                <a:gd name="T41" fmla="*/ 0 h 451"/>
                <a:gd name="T42" fmla="*/ 729 w 854"/>
                <a:gd name="T43" fmla="*/ 0 h 451"/>
                <a:gd name="T44" fmla="*/ 729 w 854"/>
                <a:gd name="T45" fmla="*/ 0 h 451"/>
                <a:gd name="T46" fmla="*/ 595 w 854"/>
                <a:gd name="T47" fmla="*/ 0 h 451"/>
                <a:gd name="T48" fmla="*/ 511 w 854"/>
                <a:gd name="T49" fmla="*/ 135 h 451"/>
                <a:gd name="T50" fmla="*/ 455 w 854"/>
                <a:gd name="T51" fmla="*/ 46 h 451"/>
                <a:gd name="T52" fmla="*/ 427 w 854"/>
                <a:gd name="T53" fmla="*/ 0 h 451"/>
                <a:gd name="T54" fmla="*/ 427 w 854"/>
                <a:gd name="T55" fmla="*/ 0 h 451"/>
                <a:gd name="T56" fmla="*/ 398 w 854"/>
                <a:gd name="T57" fmla="*/ 46 h 451"/>
                <a:gd name="T58" fmla="*/ 342 w 854"/>
                <a:gd name="T59" fmla="*/ 135 h 451"/>
                <a:gd name="T60" fmla="*/ 259 w 854"/>
                <a:gd name="T61" fmla="*/ 0 h 451"/>
                <a:gd name="T62" fmla="*/ 127 w 854"/>
                <a:gd name="T63" fmla="*/ 0 h 451"/>
                <a:gd name="T64" fmla="*/ 127 w 854"/>
                <a:gd name="T65" fmla="*/ 0 h 451"/>
                <a:gd name="T66" fmla="*/ 127 w 854"/>
                <a:gd name="T67" fmla="*/ 0 h 451"/>
                <a:gd name="T68" fmla="*/ 125 w 854"/>
                <a:gd name="T69" fmla="*/ 0 h 451"/>
                <a:gd name="T70" fmla="*/ 125 w 854"/>
                <a:gd name="T71" fmla="*/ 0 h 451"/>
                <a:gd name="T72" fmla="*/ 112 w 854"/>
                <a:gd name="T73" fmla="*/ 0 h 451"/>
                <a:gd name="T74" fmla="*/ 100 w 854"/>
                <a:gd name="T75" fmla="*/ 3 h 451"/>
                <a:gd name="T76" fmla="*/ 87 w 854"/>
                <a:gd name="T77" fmla="*/ 5 h 451"/>
                <a:gd name="T78" fmla="*/ 76 w 854"/>
                <a:gd name="T79" fmla="*/ 10 h 451"/>
                <a:gd name="T80" fmla="*/ 65 w 854"/>
                <a:gd name="T81" fmla="*/ 15 h 451"/>
                <a:gd name="T82" fmla="*/ 55 w 854"/>
                <a:gd name="T83" fmla="*/ 21 h 451"/>
                <a:gd name="T84" fmla="*/ 46 w 854"/>
                <a:gd name="T85" fmla="*/ 29 h 451"/>
                <a:gd name="T86" fmla="*/ 37 w 854"/>
                <a:gd name="T87" fmla="*/ 37 h 451"/>
                <a:gd name="T88" fmla="*/ 28 w 854"/>
                <a:gd name="T89" fmla="*/ 46 h 451"/>
                <a:gd name="T90" fmla="*/ 21 w 854"/>
                <a:gd name="T91" fmla="*/ 56 h 451"/>
                <a:gd name="T92" fmla="*/ 15 w 854"/>
                <a:gd name="T93" fmla="*/ 65 h 451"/>
                <a:gd name="T94" fmla="*/ 10 w 854"/>
                <a:gd name="T95" fmla="*/ 77 h 451"/>
                <a:gd name="T96" fmla="*/ 6 w 854"/>
                <a:gd name="T97" fmla="*/ 88 h 451"/>
                <a:gd name="T98" fmla="*/ 3 w 854"/>
                <a:gd name="T99" fmla="*/ 100 h 451"/>
                <a:gd name="T100" fmla="*/ 1 w 854"/>
                <a:gd name="T101" fmla="*/ 112 h 451"/>
                <a:gd name="T102" fmla="*/ 0 w 854"/>
                <a:gd name="T103" fmla="*/ 124 h 451"/>
                <a:gd name="T104" fmla="*/ 0 w 854"/>
                <a:gd name="T105" fmla="*/ 240 h 451"/>
                <a:gd name="T106" fmla="*/ 0 w 854"/>
                <a:gd name="T107" fmla="*/ 380 h 451"/>
                <a:gd name="T108" fmla="*/ 0 w 854"/>
                <a:gd name="T109" fmla="*/ 451 h 451"/>
                <a:gd name="T110" fmla="*/ 854 w 854"/>
                <a:gd name="T111" fmla="*/ 451 h 451"/>
                <a:gd name="T112" fmla="*/ 854 w 854"/>
                <a:gd name="T113" fmla="*/ 380 h 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54" h="451">
                  <a:moveTo>
                    <a:pt x="854" y="380"/>
                  </a:moveTo>
                  <a:lnTo>
                    <a:pt x="854" y="240"/>
                  </a:lnTo>
                  <a:lnTo>
                    <a:pt x="854" y="124"/>
                  </a:lnTo>
                  <a:lnTo>
                    <a:pt x="854" y="124"/>
                  </a:lnTo>
                  <a:lnTo>
                    <a:pt x="854" y="112"/>
                  </a:lnTo>
                  <a:lnTo>
                    <a:pt x="852" y="100"/>
                  </a:lnTo>
                  <a:lnTo>
                    <a:pt x="849" y="88"/>
                  </a:lnTo>
                  <a:lnTo>
                    <a:pt x="844" y="77"/>
                  </a:lnTo>
                  <a:lnTo>
                    <a:pt x="839" y="65"/>
                  </a:lnTo>
                  <a:lnTo>
                    <a:pt x="833" y="56"/>
                  </a:lnTo>
                  <a:lnTo>
                    <a:pt x="826" y="46"/>
                  </a:lnTo>
                  <a:lnTo>
                    <a:pt x="818" y="37"/>
                  </a:lnTo>
                  <a:lnTo>
                    <a:pt x="809" y="29"/>
                  </a:lnTo>
                  <a:lnTo>
                    <a:pt x="799" y="21"/>
                  </a:lnTo>
                  <a:lnTo>
                    <a:pt x="789" y="15"/>
                  </a:lnTo>
                  <a:lnTo>
                    <a:pt x="778" y="10"/>
                  </a:lnTo>
                  <a:lnTo>
                    <a:pt x="767" y="5"/>
                  </a:lnTo>
                  <a:lnTo>
                    <a:pt x="755" y="3"/>
                  </a:lnTo>
                  <a:lnTo>
                    <a:pt x="742" y="0"/>
                  </a:lnTo>
                  <a:lnTo>
                    <a:pt x="730" y="0"/>
                  </a:lnTo>
                  <a:lnTo>
                    <a:pt x="730" y="0"/>
                  </a:lnTo>
                  <a:lnTo>
                    <a:pt x="729" y="0"/>
                  </a:lnTo>
                  <a:lnTo>
                    <a:pt x="729" y="0"/>
                  </a:lnTo>
                  <a:lnTo>
                    <a:pt x="595" y="0"/>
                  </a:lnTo>
                  <a:lnTo>
                    <a:pt x="511" y="135"/>
                  </a:lnTo>
                  <a:lnTo>
                    <a:pt x="455" y="46"/>
                  </a:lnTo>
                  <a:lnTo>
                    <a:pt x="427" y="0"/>
                  </a:lnTo>
                  <a:lnTo>
                    <a:pt x="427" y="0"/>
                  </a:lnTo>
                  <a:lnTo>
                    <a:pt x="398" y="46"/>
                  </a:lnTo>
                  <a:lnTo>
                    <a:pt x="342" y="135"/>
                  </a:lnTo>
                  <a:lnTo>
                    <a:pt x="259" y="0"/>
                  </a:lnTo>
                  <a:lnTo>
                    <a:pt x="127" y="0"/>
                  </a:lnTo>
                  <a:lnTo>
                    <a:pt x="127" y="0"/>
                  </a:lnTo>
                  <a:lnTo>
                    <a:pt x="127" y="0"/>
                  </a:lnTo>
                  <a:lnTo>
                    <a:pt x="125" y="0"/>
                  </a:lnTo>
                  <a:lnTo>
                    <a:pt x="125" y="0"/>
                  </a:lnTo>
                  <a:lnTo>
                    <a:pt x="112" y="0"/>
                  </a:lnTo>
                  <a:lnTo>
                    <a:pt x="100" y="3"/>
                  </a:lnTo>
                  <a:lnTo>
                    <a:pt x="87" y="5"/>
                  </a:lnTo>
                  <a:lnTo>
                    <a:pt x="76" y="10"/>
                  </a:lnTo>
                  <a:lnTo>
                    <a:pt x="65" y="15"/>
                  </a:lnTo>
                  <a:lnTo>
                    <a:pt x="55" y="21"/>
                  </a:lnTo>
                  <a:lnTo>
                    <a:pt x="46" y="29"/>
                  </a:lnTo>
                  <a:lnTo>
                    <a:pt x="37" y="37"/>
                  </a:lnTo>
                  <a:lnTo>
                    <a:pt x="28" y="46"/>
                  </a:lnTo>
                  <a:lnTo>
                    <a:pt x="21" y="56"/>
                  </a:lnTo>
                  <a:lnTo>
                    <a:pt x="15" y="65"/>
                  </a:lnTo>
                  <a:lnTo>
                    <a:pt x="10" y="77"/>
                  </a:lnTo>
                  <a:lnTo>
                    <a:pt x="6" y="88"/>
                  </a:lnTo>
                  <a:lnTo>
                    <a:pt x="3" y="100"/>
                  </a:lnTo>
                  <a:lnTo>
                    <a:pt x="1" y="112"/>
                  </a:lnTo>
                  <a:lnTo>
                    <a:pt x="0" y="124"/>
                  </a:lnTo>
                  <a:lnTo>
                    <a:pt x="0" y="240"/>
                  </a:lnTo>
                  <a:lnTo>
                    <a:pt x="0" y="380"/>
                  </a:lnTo>
                  <a:lnTo>
                    <a:pt x="0" y="451"/>
                  </a:lnTo>
                  <a:lnTo>
                    <a:pt x="854" y="451"/>
                  </a:lnTo>
                  <a:lnTo>
                    <a:pt x="854" y="380"/>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84" name="Freeform 79">
              <a:extLst>
                <a:ext uri="{FF2B5EF4-FFF2-40B4-BE49-F238E27FC236}">
                  <a16:creationId xmlns:a16="http://schemas.microsoft.com/office/drawing/2014/main" id="{E493A898-AA25-40C4-BDAF-1A7448A48E9B}"/>
                </a:ext>
              </a:extLst>
            </p:cNvPr>
            <p:cNvSpPr>
              <a:spLocks/>
            </p:cNvSpPr>
            <p:nvPr/>
          </p:nvSpPr>
          <p:spPr bwMode="auto">
            <a:xfrm>
              <a:off x="1871493" y="3467681"/>
              <a:ext cx="1123626" cy="316157"/>
            </a:xfrm>
            <a:custGeom>
              <a:avLst/>
              <a:gdLst>
                <a:gd name="T0" fmla="*/ 4589 w 4605"/>
                <a:gd name="T1" fmla="*/ 1231 h 1297"/>
                <a:gd name="T2" fmla="*/ 4602 w 4605"/>
                <a:gd name="T3" fmla="*/ 1199 h 1297"/>
                <a:gd name="T4" fmla="*/ 4605 w 4605"/>
                <a:gd name="T5" fmla="*/ 1166 h 1297"/>
                <a:gd name="T6" fmla="*/ 4599 w 4605"/>
                <a:gd name="T7" fmla="*/ 1134 h 1297"/>
                <a:gd name="T8" fmla="*/ 4584 w 4605"/>
                <a:gd name="T9" fmla="*/ 1102 h 1297"/>
                <a:gd name="T10" fmla="*/ 3883 w 4605"/>
                <a:gd name="T11" fmla="*/ 48 h 1297"/>
                <a:gd name="T12" fmla="*/ 3867 w 4605"/>
                <a:gd name="T13" fmla="*/ 27 h 1297"/>
                <a:gd name="T14" fmla="*/ 3846 w 4605"/>
                <a:gd name="T15" fmla="*/ 12 h 1297"/>
                <a:gd name="T16" fmla="*/ 3822 w 4605"/>
                <a:gd name="T17" fmla="*/ 4 h 1297"/>
                <a:gd name="T18" fmla="*/ 3797 w 4605"/>
                <a:gd name="T19" fmla="*/ 0 h 1297"/>
                <a:gd name="T20" fmla="*/ 808 w 4605"/>
                <a:gd name="T21" fmla="*/ 0 h 1297"/>
                <a:gd name="T22" fmla="*/ 782 w 4605"/>
                <a:gd name="T23" fmla="*/ 4 h 1297"/>
                <a:gd name="T24" fmla="*/ 759 w 4605"/>
                <a:gd name="T25" fmla="*/ 12 h 1297"/>
                <a:gd name="T26" fmla="*/ 738 w 4605"/>
                <a:gd name="T27" fmla="*/ 27 h 1297"/>
                <a:gd name="T28" fmla="*/ 722 w 4605"/>
                <a:gd name="T29" fmla="*/ 48 h 1297"/>
                <a:gd name="T30" fmla="*/ 19 w 4605"/>
                <a:gd name="T31" fmla="*/ 1102 h 1297"/>
                <a:gd name="T32" fmla="*/ 6 w 4605"/>
                <a:gd name="T33" fmla="*/ 1134 h 1297"/>
                <a:gd name="T34" fmla="*/ 0 w 4605"/>
                <a:gd name="T35" fmla="*/ 1166 h 1297"/>
                <a:gd name="T36" fmla="*/ 3 w 4605"/>
                <a:gd name="T37" fmla="*/ 1199 h 1297"/>
                <a:gd name="T38" fmla="*/ 14 w 4605"/>
                <a:gd name="T39" fmla="*/ 1231 h 1297"/>
                <a:gd name="T40" fmla="*/ 24 w 4605"/>
                <a:gd name="T41" fmla="*/ 1245 h 1297"/>
                <a:gd name="T42" fmla="*/ 47 w 4605"/>
                <a:gd name="T43" fmla="*/ 1270 h 1297"/>
                <a:gd name="T44" fmla="*/ 76 w 4605"/>
                <a:gd name="T45" fmla="*/ 1287 h 1297"/>
                <a:gd name="T46" fmla="*/ 109 w 4605"/>
                <a:gd name="T47" fmla="*/ 1296 h 1297"/>
                <a:gd name="T48" fmla="*/ 397 w 4605"/>
                <a:gd name="T49" fmla="*/ 1297 h 1297"/>
                <a:gd name="T50" fmla="*/ 262 w 4605"/>
                <a:gd name="T51" fmla="*/ 1121 h 1297"/>
                <a:gd name="T52" fmla="*/ 254 w 4605"/>
                <a:gd name="T53" fmla="*/ 1120 h 1297"/>
                <a:gd name="T54" fmla="*/ 239 w 4605"/>
                <a:gd name="T55" fmla="*/ 1112 h 1297"/>
                <a:gd name="T56" fmla="*/ 234 w 4605"/>
                <a:gd name="T57" fmla="*/ 1104 h 1297"/>
                <a:gd name="T58" fmla="*/ 229 w 4605"/>
                <a:gd name="T59" fmla="*/ 1087 h 1297"/>
                <a:gd name="T60" fmla="*/ 235 w 4605"/>
                <a:gd name="T61" fmla="*/ 1071 h 1297"/>
                <a:gd name="T62" fmla="*/ 820 w 4605"/>
                <a:gd name="T63" fmla="*/ 162 h 1297"/>
                <a:gd name="T64" fmla="*/ 836 w 4605"/>
                <a:gd name="T65" fmla="*/ 146 h 1297"/>
                <a:gd name="T66" fmla="*/ 858 w 4605"/>
                <a:gd name="T67" fmla="*/ 141 h 1297"/>
                <a:gd name="T68" fmla="*/ 3746 w 4605"/>
                <a:gd name="T69" fmla="*/ 141 h 1297"/>
                <a:gd name="T70" fmla="*/ 3767 w 4605"/>
                <a:gd name="T71" fmla="*/ 146 h 1297"/>
                <a:gd name="T72" fmla="*/ 3783 w 4605"/>
                <a:gd name="T73" fmla="*/ 162 h 1297"/>
                <a:gd name="T74" fmla="*/ 4378 w 4605"/>
                <a:gd name="T75" fmla="*/ 1085 h 1297"/>
                <a:gd name="T76" fmla="*/ 4382 w 4605"/>
                <a:gd name="T77" fmla="*/ 1097 h 1297"/>
                <a:gd name="T78" fmla="*/ 4379 w 4605"/>
                <a:gd name="T79" fmla="*/ 1109 h 1297"/>
                <a:gd name="T80" fmla="*/ 4376 w 4605"/>
                <a:gd name="T81" fmla="*/ 1114 h 1297"/>
                <a:gd name="T82" fmla="*/ 4365 w 4605"/>
                <a:gd name="T83" fmla="*/ 1120 h 1297"/>
                <a:gd name="T84" fmla="*/ 4208 w 4605"/>
                <a:gd name="T85" fmla="*/ 1121 h 1297"/>
                <a:gd name="T86" fmla="*/ 4479 w 4605"/>
                <a:gd name="T87" fmla="*/ 1297 h 1297"/>
                <a:gd name="T88" fmla="*/ 4496 w 4605"/>
                <a:gd name="T89" fmla="*/ 1296 h 1297"/>
                <a:gd name="T90" fmla="*/ 4528 w 4605"/>
                <a:gd name="T91" fmla="*/ 1287 h 1297"/>
                <a:gd name="T92" fmla="*/ 4557 w 4605"/>
                <a:gd name="T93" fmla="*/ 1270 h 1297"/>
                <a:gd name="T94" fmla="*/ 4581 w 4605"/>
                <a:gd name="T95" fmla="*/ 1245 h 1297"/>
                <a:gd name="T96" fmla="*/ 4589 w 4605"/>
                <a:gd name="T97" fmla="*/ 1231 h 1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605" h="1297">
                  <a:moveTo>
                    <a:pt x="4589" y="1231"/>
                  </a:moveTo>
                  <a:lnTo>
                    <a:pt x="4589" y="1231"/>
                  </a:lnTo>
                  <a:lnTo>
                    <a:pt x="4597" y="1216"/>
                  </a:lnTo>
                  <a:lnTo>
                    <a:pt x="4602" y="1199"/>
                  </a:lnTo>
                  <a:lnTo>
                    <a:pt x="4604" y="1183"/>
                  </a:lnTo>
                  <a:lnTo>
                    <a:pt x="4605" y="1166"/>
                  </a:lnTo>
                  <a:lnTo>
                    <a:pt x="4603" y="1150"/>
                  </a:lnTo>
                  <a:lnTo>
                    <a:pt x="4599" y="1134"/>
                  </a:lnTo>
                  <a:lnTo>
                    <a:pt x="4593" y="1118"/>
                  </a:lnTo>
                  <a:lnTo>
                    <a:pt x="4584" y="1102"/>
                  </a:lnTo>
                  <a:lnTo>
                    <a:pt x="3883" y="48"/>
                  </a:lnTo>
                  <a:lnTo>
                    <a:pt x="3883" y="48"/>
                  </a:lnTo>
                  <a:lnTo>
                    <a:pt x="3875" y="37"/>
                  </a:lnTo>
                  <a:lnTo>
                    <a:pt x="3867" y="27"/>
                  </a:lnTo>
                  <a:lnTo>
                    <a:pt x="3856" y="20"/>
                  </a:lnTo>
                  <a:lnTo>
                    <a:pt x="3846" y="12"/>
                  </a:lnTo>
                  <a:lnTo>
                    <a:pt x="3834" y="7"/>
                  </a:lnTo>
                  <a:lnTo>
                    <a:pt x="3822" y="4"/>
                  </a:lnTo>
                  <a:lnTo>
                    <a:pt x="3809" y="1"/>
                  </a:lnTo>
                  <a:lnTo>
                    <a:pt x="3797" y="0"/>
                  </a:lnTo>
                  <a:lnTo>
                    <a:pt x="808" y="0"/>
                  </a:lnTo>
                  <a:lnTo>
                    <a:pt x="808" y="0"/>
                  </a:lnTo>
                  <a:lnTo>
                    <a:pt x="795" y="1"/>
                  </a:lnTo>
                  <a:lnTo>
                    <a:pt x="782" y="4"/>
                  </a:lnTo>
                  <a:lnTo>
                    <a:pt x="770" y="7"/>
                  </a:lnTo>
                  <a:lnTo>
                    <a:pt x="759" y="12"/>
                  </a:lnTo>
                  <a:lnTo>
                    <a:pt x="748" y="20"/>
                  </a:lnTo>
                  <a:lnTo>
                    <a:pt x="738" y="27"/>
                  </a:lnTo>
                  <a:lnTo>
                    <a:pt x="730" y="37"/>
                  </a:lnTo>
                  <a:lnTo>
                    <a:pt x="722" y="48"/>
                  </a:lnTo>
                  <a:lnTo>
                    <a:pt x="19" y="1102"/>
                  </a:lnTo>
                  <a:lnTo>
                    <a:pt x="19" y="1102"/>
                  </a:lnTo>
                  <a:lnTo>
                    <a:pt x="12" y="1118"/>
                  </a:lnTo>
                  <a:lnTo>
                    <a:pt x="6" y="1134"/>
                  </a:lnTo>
                  <a:lnTo>
                    <a:pt x="1" y="1150"/>
                  </a:lnTo>
                  <a:lnTo>
                    <a:pt x="0" y="1166"/>
                  </a:lnTo>
                  <a:lnTo>
                    <a:pt x="0" y="1183"/>
                  </a:lnTo>
                  <a:lnTo>
                    <a:pt x="3" y="1199"/>
                  </a:lnTo>
                  <a:lnTo>
                    <a:pt x="8" y="1216"/>
                  </a:lnTo>
                  <a:lnTo>
                    <a:pt x="14" y="1231"/>
                  </a:lnTo>
                  <a:lnTo>
                    <a:pt x="14" y="1231"/>
                  </a:lnTo>
                  <a:lnTo>
                    <a:pt x="24" y="1245"/>
                  </a:lnTo>
                  <a:lnTo>
                    <a:pt x="35" y="1259"/>
                  </a:lnTo>
                  <a:lnTo>
                    <a:pt x="47" y="1270"/>
                  </a:lnTo>
                  <a:lnTo>
                    <a:pt x="61" y="1278"/>
                  </a:lnTo>
                  <a:lnTo>
                    <a:pt x="76" y="1287"/>
                  </a:lnTo>
                  <a:lnTo>
                    <a:pt x="92" y="1292"/>
                  </a:lnTo>
                  <a:lnTo>
                    <a:pt x="109" y="1296"/>
                  </a:lnTo>
                  <a:lnTo>
                    <a:pt x="126" y="1297"/>
                  </a:lnTo>
                  <a:lnTo>
                    <a:pt x="397" y="1297"/>
                  </a:lnTo>
                  <a:lnTo>
                    <a:pt x="397" y="1121"/>
                  </a:lnTo>
                  <a:lnTo>
                    <a:pt x="262" y="1121"/>
                  </a:lnTo>
                  <a:lnTo>
                    <a:pt x="262" y="1121"/>
                  </a:lnTo>
                  <a:lnTo>
                    <a:pt x="254" y="1120"/>
                  </a:lnTo>
                  <a:lnTo>
                    <a:pt x="245" y="1117"/>
                  </a:lnTo>
                  <a:lnTo>
                    <a:pt x="239" y="1112"/>
                  </a:lnTo>
                  <a:lnTo>
                    <a:pt x="234" y="1104"/>
                  </a:lnTo>
                  <a:lnTo>
                    <a:pt x="234" y="1104"/>
                  </a:lnTo>
                  <a:lnTo>
                    <a:pt x="230" y="1096"/>
                  </a:lnTo>
                  <a:lnTo>
                    <a:pt x="229" y="1087"/>
                  </a:lnTo>
                  <a:lnTo>
                    <a:pt x="232" y="1079"/>
                  </a:lnTo>
                  <a:lnTo>
                    <a:pt x="235" y="1071"/>
                  </a:lnTo>
                  <a:lnTo>
                    <a:pt x="820" y="162"/>
                  </a:lnTo>
                  <a:lnTo>
                    <a:pt x="820" y="162"/>
                  </a:lnTo>
                  <a:lnTo>
                    <a:pt x="828" y="153"/>
                  </a:lnTo>
                  <a:lnTo>
                    <a:pt x="836" y="146"/>
                  </a:lnTo>
                  <a:lnTo>
                    <a:pt x="847" y="142"/>
                  </a:lnTo>
                  <a:lnTo>
                    <a:pt x="858" y="141"/>
                  </a:lnTo>
                  <a:lnTo>
                    <a:pt x="3746" y="141"/>
                  </a:lnTo>
                  <a:lnTo>
                    <a:pt x="3746" y="141"/>
                  </a:lnTo>
                  <a:lnTo>
                    <a:pt x="3757" y="142"/>
                  </a:lnTo>
                  <a:lnTo>
                    <a:pt x="3767" y="146"/>
                  </a:lnTo>
                  <a:lnTo>
                    <a:pt x="3777" y="153"/>
                  </a:lnTo>
                  <a:lnTo>
                    <a:pt x="3783" y="162"/>
                  </a:lnTo>
                  <a:lnTo>
                    <a:pt x="4378" y="1085"/>
                  </a:lnTo>
                  <a:lnTo>
                    <a:pt x="4378" y="1085"/>
                  </a:lnTo>
                  <a:lnTo>
                    <a:pt x="4382" y="1091"/>
                  </a:lnTo>
                  <a:lnTo>
                    <a:pt x="4382" y="1097"/>
                  </a:lnTo>
                  <a:lnTo>
                    <a:pt x="4382" y="1103"/>
                  </a:lnTo>
                  <a:lnTo>
                    <a:pt x="4379" y="1109"/>
                  </a:lnTo>
                  <a:lnTo>
                    <a:pt x="4379" y="1109"/>
                  </a:lnTo>
                  <a:lnTo>
                    <a:pt x="4376" y="1114"/>
                  </a:lnTo>
                  <a:lnTo>
                    <a:pt x="4371" y="1118"/>
                  </a:lnTo>
                  <a:lnTo>
                    <a:pt x="4365" y="1120"/>
                  </a:lnTo>
                  <a:lnTo>
                    <a:pt x="4359" y="1121"/>
                  </a:lnTo>
                  <a:lnTo>
                    <a:pt x="4208" y="1121"/>
                  </a:lnTo>
                  <a:lnTo>
                    <a:pt x="4208" y="1297"/>
                  </a:lnTo>
                  <a:lnTo>
                    <a:pt x="4479" y="1297"/>
                  </a:lnTo>
                  <a:lnTo>
                    <a:pt x="4479" y="1297"/>
                  </a:lnTo>
                  <a:lnTo>
                    <a:pt x="4496" y="1296"/>
                  </a:lnTo>
                  <a:lnTo>
                    <a:pt x="4512" y="1292"/>
                  </a:lnTo>
                  <a:lnTo>
                    <a:pt x="4528" y="1287"/>
                  </a:lnTo>
                  <a:lnTo>
                    <a:pt x="4543" y="1278"/>
                  </a:lnTo>
                  <a:lnTo>
                    <a:pt x="4557" y="1270"/>
                  </a:lnTo>
                  <a:lnTo>
                    <a:pt x="4570" y="1259"/>
                  </a:lnTo>
                  <a:lnTo>
                    <a:pt x="4581" y="1245"/>
                  </a:lnTo>
                  <a:lnTo>
                    <a:pt x="4589" y="1231"/>
                  </a:lnTo>
                  <a:lnTo>
                    <a:pt x="4589" y="1231"/>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85" name="Freeform 80">
              <a:extLst>
                <a:ext uri="{FF2B5EF4-FFF2-40B4-BE49-F238E27FC236}">
                  <a16:creationId xmlns:a16="http://schemas.microsoft.com/office/drawing/2014/main" id="{24480FD5-73A8-4614-96D5-4A47E29799B5}"/>
                </a:ext>
              </a:extLst>
            </p:cNvPr>
            <p:cNvSpPr>
              <a:spLocks/>
            </p:cNvSpPr>
            <p:nvPr/>
          </p:nvSpPr>
          <p:spPr bwMode="auto">
            <a:xfrm>
              <a:off x="2059821" y="3533547"/>
              <a:ext cx="142954" cy="142954"/>
            </a:xfrm>
            <a:custGeom>
              <a:avLst/>
              <a:gdLst>
                <a:gd name="T0" fmla="*/ 293 w 586"/>
                <a:gd name="T1" fmla="*/ 586 h 586"/>
                <a:gd name="T2" fmla="*/ 322 w 586"/>
                <a:gd name="T3" fmla="*/ 584 h 586"/>
                <a:gd name="T4" fmla="*/ 352 w 586"/>
                <a:gd name="T5" fmla="*/ 580 h 586"/>
                <a:gd name="T6" fmla="*/ 407 w 586"/>
                <a:gd name="T7" fmla="*/ 563 h 586"/>
                <a:gd name="T8" fmla="*/ 456 w 586"/>
                <a:gd name="T9" fmla="*/ 536 h 586"/>
                <a:gd name="T10" fmla="*/ 500 w 586"/>
                <a:gd name="T11" fmla="*/ 501 h 586"/>
                <a:gd name="T12" fmla="*/ 536 w 586"/>
                <a:gd name="T13" fmla="*/ 456 h 586"/>
                <a:gd name="T14" fmla="*/ 563 w 586"/>
                <a:gd name="T15" fmla="*/ 407 h 586"/>
                <a:gd name="T16" fmla="*/ 580 w 586"/>
                <a:gd name="T17" fmla="*/ 352 h 586"/>
                <a:gd name="T18" fmla="*/ 585 w 586"/>
                <a:gd name="T19" fmla="*/ 323 h 586"/>
                <a:gd name="T20" fmla="*/ 586 w 586"/>
                <a:gd name="T21" fmla="*/ 293 h 586"/>
                <a:gd name="T22" fmla="*/ 585 w 586"/>
                <a:gd name="T23" fmla="*/ 277 h 586"/>
                <a:gd name="T24" fmla="*/ 582 w 586"/>
                <a:gd name="T25" fmla="*/ 248 h 586"/>
                <a:gd name="T26" fmla="*/ 572 w 586"/>
                <a:gd name="T27" fmla="*/ 206 h 586"/>
                <a:gd name="T28" fmla="*/ 550 w 586"/>
                <a:gd name="T29" fmla="*/ 153 h 586"/>
                <a:gd name="T30" fmla="*/ 518 w 586"/>
                <a:gd name="T31" fmla="*/ 107 h 586"/>
                <a:gd name="T32" fmla="*/ 479 w 586"/>
                <a:gd name="T33" fmla="*/ 66 h 586"/>
                <a:gd name="T34" fmla="*/ 433 w 586"/>
                <a:gd name="T35" fmla="*/ 36 h 586"/>
                <a:gd name="T36" fmla="*/ 380 w 586"/>
                <a:gd name="T37" fmla="*/ 14 h 586"/>
                <a:gd name="T38" fmla="*/ 337 w 586"/>
                <a:gd name="T39" fmla="*/ 4 h 586"/>
                <a:gd name="T40" fmla="*/ 307 w 586"/>
                <a:gd name="T41" fmla="*/ 0 h 586"/>
                <a:gd name="T42" fmla="*/ 293 w 586"/>
                <a:gd name="T43" fmla="*/ 0 h 586"/>
                <a:gd name="T44" fmla="*/ 262 w 586"/>
                <a:gd name="T45" fmla="*/ 1 h 586"/>
                <a:gd name="T46" fmla="*/ 234 w 586"/>
                <a:gd name="T47" fmla="*/ 6 h 586"/>
                <a:gd name="T48" fmla="*/ 179 w 586"/>
                <a:gd name="T49" fmla="*/ 23 h 586"/>
                <a:gd name="T50" fmla="*/ 128 w 586"/>
                <a:gd name="T51" fmla="*/ 50 h 586"/>
                <a:gd name="T52" fmla="*/ 85 w 586"/>
                <a:gd name="T53" fmla="*/ 86 h 586"/>
                <a:gd name="T54" fmla="*/ 50 w 586"/>
                <a:gd name="T55" fmla="*/ 129 h 586"/>
                <a:gd name="T56" fmla="*/ 23 w 586"/>
                <a:gd name="T57" fmla="*/ 179 h 586"/>
                <a:gd name="T58" fmla="*/ 6 w 586"/>
                <a:gd name="T59" fmla="*/ 234 h 586"/>
                <a:gd name="T60" fmla="*/ 1 w 586"/>
                <a:gd name="T61" fmla="*/ 263 h 586"/>
                <a:gd name="T62" fmla="*/ 0 w 586"/>
                <a:gd name="T63" fmla="*/ 293 h 586"/>
                <a:gd name="T64" fmla="*/ 0 w 586"/>
                <a:gd name="T65" fmla="*/ 308 h 586"/>
                <a:gd name="T66" fmla="*/ 3 w 586"/>
                <a:gd name="T67" fmla="*/ 337 h 586"/>
                <a:gd name="T68" fmla="*/ 13 w 586"/>
                <a:gd name="T69" fmla="*/ 380 h 586"/>
                <a:gd name="T70" fmla="*/ 35 w 586"/>
                <a:gd name="T71" fmla="*/ 433 h 586"/>
                <a:gd name="T72" fmla="*/ 67 w 586"/>
                <a:gd name="T73" fmla="*/ 480 h 586"/>
                <a:gd name="T74" fmla="*/ 106 w 586"/>
                <a:gd name="T75" fmla="*/ 519 h 586"/>
                <a:gd name="T76" fmla="*/ 153 w 586"/>
                <a:gd name="T77" fmla="*/ 551 h 586"/>
                <a:gd name="T78" fmla="*/ 206 w 586"/>
                <a:gd name="T79" fmla="*/ 573 h 586"/>
                <a:gd name="T80" fmla="*/ 249 w 586"/>
                <a:gd name="T81" fmla="*/ 583 h 586"/>
                <a:gd name="T82" fmla="*/ 278 w 586"/>
                <a:gd name="T83" fmla="*/ 585 h 586"/>
                <a:gd name="T84" fmla="*/ 293 w 586"/>
                <a:gd name="T85" fmla="*/ 586 h 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86" h="586">
                  <a:moveTo>
                    <a:pt x="293" y="586"/>
                  </a:moveTo>
                  <a:lnTo>
                    <a:pt x="293" y="586"/>
                  </a:lnTo>
                  <a:lnTo>
                    <a:pt x="307" y="585"/>
                  </a:lnTo>
                  <a:lnTo>
                    <a:pt x="322" y="584"/>
                  </a:lnTo>
                  <a:lnTo>
                    <a:pt x="337" y="583"/>
                  </a:lnTo>
                  <a:lnTo>
                    <a:pt x="352" y="580"/>
                  </a:lnTo>
                  <a:lnTo>
                    <a:pt x="380" y="573"/>
                  </a:lnTo>
                  <a:lnTo>
                    <a:pt x="407" y="563"/>
                  </a:lnTo>
                  <a:lnTo>
                    <a:pt x="433" y="551"/>
                  </a:lnTo>
                  <a:lnTo>
                    <a:pt x="456" y="536"/>
                  </a:lnTo>
                  <a:lnTo>
                    <a:pt x="479" y="519"/>
                  </a:lnTo>
                  <a:lnTo>
                    <a:pt x="500" y="501"/>
                  </a:lnTo>
                  <a:lnTo>
                    <a:pt x="518" y="480"/>
                  </a:lnTo>
                  <a:lnTo>
                    <a:pt x="536" y="456"/>
                  </a:lnTo>
                  <a:lnTo>
                    <a:pt x="550" y="433"/>
                  </a:lnTo>
                  <a:lnTo>
                    <a:pt x="563" y="407"/>
                  </a:lnTo>
                  <a:lnTo>
                    <a:pt x="572" y="380"/>
                  </a:lnTo>
                  <a:lnTo>
                    <a:pt x="580" y="352"/>
                  </a:lnTo>
                  <a:lnTo>
                    <a:pt x="582" y="337"/>
                  </a:lnTo>
                  <a:lnTo>
                    <a:pt x="585" y="323"/>
                  </a:lnTo>
                  <a:lnTo>
                    <a:pt x="585" y="308"/>
                  </a:lnTo>
                  <a:lnTo>
                    <a:pt x="586" y="293"/>
                  </a:lnTo>
                  <a:lnTo>
                    <a:pt x="586" y="293"/>
                  </a:lnTo>
                  <a:lnTo>
                    <a:pt x="585" y="277"/>
                  </a:lnTo>
                  <a:lnTo>
                    <a:pt x="585" y="263"/>
                  </a:lnTo>
                  <a:lnTo>
                    <a:pt x="582" y="248"/>
                  </a:lnTo>
                  <a:lnTo>
                    <a:pt x="580" y="234"/>
                  </a:lnTo>
                  <a:lnTo>
                    <a:pt x="572" y="206"/>
                  </a:lnTo>
                  <a:lnTo>
                    <a:pt x="563" y="179"/>
                  </a:lnTo>
                  <a:lnTo>
                    <a:pt x="550" y="153"/>
                  </a:lnTo>
                  <a:lnTo>
                    <a:pt x="536" y="129"/>
                  </a:lnTo>
                  <a:lnTo>
                    <a:pt x="518" y="107"/>
                  </a:lnTo>
                  <a:lnTo>
                    <a:pt x="500" y="86"/>
                  </a:lnTo>
                  <a:lnTo>
                    <a:pt x="479" y="66"/>
                  </a:lnTo>
                  <a:lnTo>
                    <a:pt x="456" y="50"/>
                  </a:lnTo>
                  <a:lnTo>
                    <a:pt x="433" y="36"/>
                  </a:lnTo>
                  <a:lnTo>
                    <a:pt x="407" y="23"/>
                  </a:lnTo>
                  <a:lnTo>
                    <a:pt x="380" y="14"/>
                  </a:lnTo>
                  <a:lnTo>
                    <a:pt x="352" y="6"/>
                  </a:lnTo>
                  <a:lnTo>
                    <a:pt x="337" y="4"/>
                  </a:lnTo>
                  <a:lnTo>
                    <a:pt x="322" y="1"/>
                  </a:lnTo>
                  <a:lnTo>
                    <a:pt x="307" y="0"/>
                  </a:lnTo>
                  <a:lnTo>
                    <a:pt x="293" y="0"/>
                  </a:lnTo>
                  <a:lnTo>
                    <a:pt x="293" y="0"/>
                  </a:lnTo>
                  <a:lnTo>
                    <a:pt x="278" y="0"/>
                  </a:lnTo>
                  <a:lnTo>
                    <a:pt x="262" y="1"/>
                  </a:lnTo>
                  <a:lnTo>
                    <a:pt x="249" y="4"/>
                  </a:lnTo>
                  <a:lnTo>
                    <a:pt x="234" y="6"/>
                  </a:lnTo>
                  <a:lnTo>
                    <a:pt x="206" y="14"/>
                  </a:lnTo>
                  <a:lnTo>
                    <a:pt x="179" y="23"/>
                  </a:lnTo>
                  <a:lnTo>
                    <a:pt x="153" y="36"/>
                  </a:lnTo>
                  <a:lnTo>
                    <a:pt x="128" y="50"/>
                  </a:lnTo>
                  <a:lnTo>
                    <a:pt x="106" y="66"/>
                  </a:lnTo>
                  <a:lnTo>
                    <a:pt x="85" y="86"/>
                  </a:lnTo>
                  <a:lnTo>
                    <a:pt x="67" y="107"/>
                  </a:lnTo>
                  <a:lnTo>
                    <a:pt x="50" y="129"/>
                  </a:lnTo>
                  <a:lnTo>
                    <a:pt x="35" y="153"/>
                  </a:lnTo>
                  <a:lnTo>
                    <a:pt x="23" y="179"/>
                  </a:lnTo>
                  <a:lnTo>
                    <a:pt x="13" y="206"/>
                  </a:lnTo>
                  <a:lnTo>
                    <a:pt x="6" y="234"/>
                  </a:lnTo>
                  <a:lnTo>
                    <a:pt x="3" y="248"/>
                  </a:lnTo>
                  <a:lnTo>
                    <a:pt x="1" y="263"/>
                  </a:lnTo>
                  <a:lnTo>
                    <a:pt x="0" y="277"/>
                  </a:lnTo>
                  <a:lnTo>
                    <a:pt x="0" y="293"/>
                  </a:lnTo>
                  <a:lnTo>
                    <a:pt x="0" y="293"/>
                  </a:lnTo>
                  <a:lnTo>
                    <a:pt x="0" y="308"/>
                  </a:lnTo>
                  <a:lnTo>
                    <a:pt x="1" y="323"/>
                  </a:lnTo>
                  <a:lnTo>
                    <a:pt x="3" y="337"/>
                  </a:lnTo>
                  <a:lnTo>
                    <a:pt x="6" y="352"/>
                  </a:lnTo>
                  <a:lnTo>
                    <a:pt x="13" y="380"/>
                  </a:lnTo>
                  <a:lnTo>
                    <a:pt x="23" y="407"/>
                  </a:lnTo>
                  <a:lnTo>
                    <a:pt x="35" y="433"/>
                  </a:lnTo>
                  <a:lnTo>
                    <a:pt x="50" y="456"/>
                  </a:lnTo>
                  <a:lnTo>
                    <a:pt x="67" y="480"/>
                  </a:lnTo>
                  <a:lnTo>
                    <a:pt x="85" y="501"/>
                  </a:lnTo>
                  <a:lnTo>
                    <a:pt x="106" y="519"/>
                  </a:lnTo>
                  <a:lnTo>
                    <a:pt x="128" y="536"/>
                  </a:lnTo>
                  <a:lnTo>
                    <a:pt x="153" y="551"/>
                  </a:lnTo>
                  <a:lnTo>
                    <a:pt x="179" y="563"/>
                  </a:lnTo>
                  <a:lnTo>
                    <a:pt x="206" y="573"/>
                  </a:lnTo>
                  <a:lnTo>
                    <a:pt x="234" y="580"/>
                  </a:lnTo>
                  <a:lnTo>
                    <a:pt x="249" y="583"/>
                  </a:lnTo>
                  <a:lnTo>
                    <a:pt x="262" y="584"/>
                  </a:lnTo>
                  <a:lnTo>
                    <a:pt x="278" y="585"/>
                  </a:lnTo>
                  <a:lnTo>
                    <a:pt x="293" y="586"/>
                  </a:lnTo>
                  <a:lnTo>
                    <a:pt x="293" y="586"/>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86" name="Freeform 81">
              <a:extLst>
                <a:ext uri="{FF2B5EF4-FFF2-40B4-BE49-F238E27FC236}">
                  <a16:creationId xmlns:a16="http://schemas.microsoft.com/office/drawing/2014/main" id="{EE354A8A-7C14-49FD-A24F-A62EA0BE8EEC}"/>
                </a:ext>
              </a:extLst>
            </p:cNvPr>
            <p:cNvSpPr>
              <a:spLocks/>
            </p:cNvSpPr>
            <p:nvPr/>
          </p:nvSpPr>
          <p:spPr bwMode="auto">
            <a:xfrm>
              <a:off x="1993467" y="3682355"/>
              <a:ext cx="275662" cy="200038"/>
            </a:xfrm>
            <a:custGeom>
              <a:avLst/>
              <a:gdLst>
                <a:gd name="T0" fmla="*/ 1130 w 1130"/>
                <a:gd name="T1" fmla="*/ 164 h 820"/>
                <a:gd name="T2" fmla="*/ 1130 w 1130"/>
                <a:gd name="T3" fmla="*/ 162 h 820"/>
                <a:gd name="T4" fmla="*/ 1129 w 1130"/>
                <a:gd name="T5" fmla="*/ 146 h 820"/>
                <a:gd name="T6" fmla="*/ 1122 w 1130"/>
                <a:gd name="T7" fmla="*/ 114 h 820"/>
                <a:gd name="T8" fmla="*/ 1109 w 1130"/>
                <a:gd name="T9" fmla="*/ 85 h 820"/>
                <a:gd name="T10" fmla="*/ 1092 w 1130"/>
                <a:gd name="T11" fmla="*/ 59 h 820"/>
                <a:gd name="T12" fmla="*/ 1069 w 1130"/>
                <a:gd name="T13" fmla="*/ 37 h 820"/>
                <a:gd name="T14" fmla="*/ 1043 w 1130"/>
                <a:gd name="T15" fmla="*/ 20 h 820"/>
                <a:gd name="T16" fmla="*/ 1014 w 1130"/>
                <a:gd name="T17" fmla="*/ 7 h 820"/>
                <a:gd name="T18" fmla="*/ 982 w 1130"/>
                <a:gd name="T19" fmla="*/ 1 h 820"/>
                <a:gd name="T20" fmla="*/ 966 w 1130"/>
                <a:gd name="T21" fmla="*/ 0 h 820"/>
                <a:gd name="T22" fmla="*/ 964 w 1130"/>
                <a:gd name="T23" fmla="*/ 0 h 820"/>
                <a:gd name="T24" fmla="*/ 167 w 1130"/>
                <a:gd name="T25" fmla="*/ 0 h 820"/>
                <a:gd name="T26" fmla="*/ 165 w 1130"/>
                <a:gd name="T27" fmla="*/ 0 h 820"/>
                <a:gd name="T28" fmla="*/ 149 w 1130"/>
                <a:gd name="T29" fmla="*/ 1 h 820"/>
                <a:gd name="T30" fmla="*/ 117 w 1130"/>
                <a:gd name="T31" fmla="*/ 7 h 820"/>
                <a:gd name="T32" fmla="*/ 87 w 1130"/>
                <a:gd name="T33" fmla="*/ 20 h 820"/>
                <a:gd name="T34" fmla="*/ 62 w 1130"/>
                <a:gd name="T35" fmla="*/ 37 h 820"/>
                <a:gd name="T36" fmla="*/ 38 w 1130"/>
                <a:gd name="T37" fmla="*/ 59 h 820"/>
                <a:gd name="T38" fmla="*/ 21 w 1130"/>
                <a:gd name="T39" fmla="*/ 85 h 820"/>
                <a:gd name="T40" fmla="*/ 9 w 1130"/>
                <a:gd name="T41" fmla="*/ 114 h 820"/>
                <a:gd name="T42" fmla="*/ 1 w 1130"/>
                <a:gd name="T43" fmla="*/ 146 h 820"/>
                <a:gd name="T44" fmla="*/ 0 w 1130"/>
                <a:gd name="T45" fmla="*/ 162 h 820"/>
                <a:gd name="T46" fmla="*/ 0 w 1130"/>
                <a:gd name="T47" fmla="*/ 318 h 820"/>
                <a:gd name="T48" fmla="*/ 0 w 1130"/>
                <a:gd name="T49" fmla="*/ 550 h 820"/>
                <a:gd name="T50" fmla="*/ 0 w 1130"/>
                <a:gd name="T51" fmla="*/ 655 h 820"/>
                <a:gd name="T52" fmla="*/ 4 w 1130"/>
                <a:gd name="T53" fmla="*/ 688 h 820"/>
                <a:gd name="T54" fmla="*/ 12 w 1130"/>
                <a:gd name="T55" fmla="*/ 719 h 820"/>
                <a:gd name="T56" fmla="*/ 28 w 1130"/>
                <a:gd name="T57" fmla="*/ 747 h 820"/>
                <a:gd name="T58" fmla="*/ 48 w 1130"/>
                <a:gd name="T59" fmla="*/ 772 h 820"/>
                <a:gd name="T60" fmla="*/ 73 w 1130"/>
                <a:gd name="T61" fmla="*/ 791 h 820"/>
                <a:gd name="T62" fmla="*/ 101 w 1130"/>
                <a:gd name="T63" fmla="*/ 806 h 820"/>
                <a:gd name="T64" fmla="*/ 131 w 1130"/>
                <a:gd name="T65" fmla="*/ 816 h 820"/>
                <a:gd name="T66" fmla="*/ 165 w 1130"/>
                <a:gd name="T67" fmla="*/ 820 h 820"/>
                <a:gd name="T68" fmla="*/ 167 w 1130"/>
                <a:gd name="T69" fmla="*/ 820 h 820"/>
                <a:gd name="T70" fmla="*/ 964 w 1130"/>
                <a:gd name="T71" fmla="*/ 820 h 820"/>
                <a:gd name="T72" fmla="*/ 964 w 1130"/>
                <a:gd name="T73" fmla="*/ 820 h 820"/>
                <a:gd name="T74" fmla="*/ 966 w 1130"/>
                <a:gd name="T75" fmla="*/ 820 h 820"/>
                <a:gd name="T76" fmla="*/ 999 w 1130"/>
                <a:gd name="T77" fmla="*/ 816 h 820"/>
                <a:gd name="T78" fmla="*/ 1030 w 1130"/>
                <a:gd name="T79" fmla="*/ 806 h 820"/>
                <a:gd name="T80" fmla="*/ 1058 w 1130"/>
                <a:gd name="T81" fmla="*/ 791 h 820"/>
                <a:gd name="T82" fmla="*/ 1082 w 1130"/>
                <a:gd name="T83" fmla="*/ 772 h 820"/>
                <a:gd name="T84" fmla="*/ 1102 w 1130"/>
                <a:gd name="T85" fmla="*/ 747 h 820"/>
                <a:gd name="T86" fmla="*/ 1118 w 1130"/>
                <a:gd name="T87" fmla="*/ 719 h 820"/>
                <a:gd name="T88" fmla="*/ 1126 w 1130"/>
                <a:gd name="T89" fmla="*/ 688 h 820"/>
                <a:gd name="T90" fmla="*/ 1130 w 1130"/>
                <a:gd name="T91" fmla="*/ 655 h 820"/>
                <a:gd name="T92" fmla="*/ 1130 w 1130"/>
                <a:gd name="T93" fmla="*/ 502 h 8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130" h="820">
                  <a:moveTo>
                    <a:pt x="1130" y="318"/>
                  </a:moveTo>
                  <a:lnTo>
                    <a:pt x="1130" y="164"/>
                  </a:lnTo>
                  <a:lnTo>
                    <a:pt x="1130" y="164"/>
                  </a:lnTo>
                  <a:lnTo>
                    <a:pt x="1130" y="162"/>
                  </a:lnTo>
                  <a:lnTo>
                    <a:pt x="1130" y="162"/>
                  </a:lnTo>
                  <a:lnTo>
                    <a:pt x="1129" y="146"/>
                  </a:lnTo>
                  <a:lnTo>
                    <a:pt x="1126" y="130"/>
                  </a:lnTo>
                  <a:lnTo>
                    <a:pt x="1122" y="114"/>
                  </a:lnTo>
                  <a:lnTo>
                    <a:pt x="1117" y="99"/>
                  </a:lnTo>
                  <a:lnTo>
                    <a:pt x="1109" y="85"/>
                  </a:lnTo>
                  <a:lnTo>
                    <a:pt x="1101" y="71"/>
                  </a:lnTo>
                  <a:lnTo>
                    <a:pt x="1092" y="59"/>
                  </a:lnTo>
                  <a:lnTo>
                    <a:pt x="1081" y="48"/>
                  </a:lnTo>
                  <a:lnTo>
                    <a:pt x="1069" y="37"/>
                  </a:lnTo>
                  <a:lnTo>
                    <a:pt x="1056" y="28"/>
                  </a:lnTo>
                  <a:lnTo>
                    <a:pt x="1043" y="20"/>
                  </a:lnTo>
                  <a:lnTo>
                    <a:pt x="1030" y="12"/>
                  </a:lnTo>
                  <a:lnTo>
                    <a:pt x="1014" y="7"/>
                  </a:lnTo>
                  <a:lnTo>
                    <a:pt x="999" y="4"/>
                  </a:lnTo>
                  <a:lnTo>
                    <a:pt x="982" y="1"/>
                  </a:lnTo>
                  <a:lnTo>
                    <a:pt x="966" y="0"/>
                  </a:lnTo>
                  <a:lnTo>
                    <a:pt x="966" y="0"/>
                  </a:lnTo>
                  <a:lnTo>
                    <a:pt x="964" y="0"/>
                  </a:lnTo>
                  <a:lnTo>
                    <a:pt x="964" y="0"/>
                  </a:lnTo>
                  <a:lnTo>
                    <a:pt x="167" y="0"/>
                  </a:lnTo>
                  <a:lnTo>
                    <a:pt x="167" y="0"/>
                  </a:lnTo>
                  <a:lnTo>
                    <a:pt x="167" y="0"/>
                  </a:lnTo>
                  <a:lnTo>
                    <a:pt x="165" y="0"/>
                  </a:lnTo>
                  <a:lnTo>
                    <a:pt x="165" y="0"/>
                  </a:lnTo>
                  <a:lnTo>
                    <a:pt x="149" y="1"/>
                  </a:lnTo>
                  <a:lnTo>
                    <a:pt x="131" y="4"/>
                  </a:lnTo>
                  <a:lnTo>
                    <a:pt x="117" y="7"/>
                  </a:lnTo>
                  <a:lnTo>
                    <a:pt x="102" y="12"/>
                  </a:lnTo>
                  <a:lnTo>
                    <a:pt x="87" y="20"/>
                  </a:lnTo>
                  <a:lnTo>
                    <a:pt x="74" y="28"/>
                  </a:lnTo>
                  <a:lnTo>
                    <a:pt x="62" y="37"/>
                  </a:lnTo>
                  <a:lnTo>
                    <a:pt x="49" y="48"/>
                  </a:lnTo>
                  <a:lnTo>
                    <a:pt x="38" y="59"/>
                  </a:lnTo>
                  <a:lnTo>
                    <a:pt x="30" y="71"/>
                  </a:lnTo>
                  <a:lnTo>
                    <a:pt x="21" y="85"/>
                  </a:lnTo>
                  <a:lnTo>
                    <a:pt x="14" y="99"/>
                  </a:lnTo>
                  <a:lnTo>
                    <a:pt x="9" y="114"/>
                  </a:lnTo>
                  <a:lnTo>
                    <a:pt x="4" y="130"/>
                  </a:lnTo>
                  <a:lnTo>
                    <a:pt x="1" y="146"/>
                  </a:lnTo>
                  <a:lnTo>
                    <a:pt x="0" y="162"/>
                  </a:lnTo>
                  <a:lnTo>
                    <a:pt x="0" y="162"/>
                  </a:lnTo>
                  <a:lnTo>
                    <a:pt x="0" y="164"/>
                  </a:lnTo>
                  <a:lnTo>
                    <a:pt x="0" y="318"/>
                  </a:lnTo>
                  <a:lnTo>
                    <a:pt x="0" y="502"/>
                  </a:lnTo>
                  <a:lnTo>
                    <a:pt x="0" y="550"/>
                  </a:lnTo>
                  <a:lnTo>
                    <a:pt x="0" y="655"/>
                  </a:lnTo>
                  <a:lnTo>
                    <a:pt x="0" y="655"/>
                  </a:lnTo>
                  <a:lnTo>
                    <a:pt x="1" y="671"/>
                  </a:lnTo>
                  <a:lnTo>
                    <a:pt x="4" y="688"/>
                  </a:lnTo>
                  <a:lnTo>
                    <a:pt x="8" y="704"/>
                  </a:lnTo>
                  <a:lnTo>
                    <a:pt x="12" y="719"/>
                  </a:lnTo>
                  <a:lnTo>
                    <a:pt x="20" y="734"/>
                  </a:lnTo>
                  <a:lnTo>
                    <a:pt x="28" y="747"/>
                  </a:lnTo>
                  <a:lnTo>
                    <a:pt x="38" y="759"/>
                  </a:lnTo>
                  <a:lnTo>
                    <a:pt x="48" y="772"/>
                  </a:lnTo>
                  <a:lnTo>
                    <a:pt x="60" y="781"/>
                  </a:lnTo>
                  <a:lnTo>
                    <a:pt x="73" y="791"/>
                  </a:lnTo>
                  <a:lnTo>
                    <a:pt x="86" y="800"/>
                  </a:lnTo>
                  <a:lnTo>
                    <a:pt x="101" y="806"/>
                  </a:lnTo>
                  <a:lnTo>
                    <a:pt x="116" y="812"/>
                  </a:lnTo>
                  <a:lnTo>
                    <a:pt x="131" y="816"/>
                  </a:lnTo>
                  <a:lnTo>
                    <a:pt x="149" y="818"/>
                  </a:lnTo>
                  <a:lnTo>
                    <a:pt x="165" y="820"/>
                  </a:lnTo>
                  <a:lnTo>
                    <a:pt x="165" y="820"/>
                  </a:lnTo>
                  <a:lnTo>
                    <a:pt x="167" y="820"/>
                  </a:lnTo>
                  <a:lnTo>
                    <a:pt x="167" y="820"/>
                  </a:lnTo>
                  <a:lnTo>
                    <a:pt x="964" y="820"/>
                  </a:lnTo>
                  <a:lnTo>
                    <a:pt x="964" y="820"/>
                  </a:lnTo>
                  <a:lnTo>
                    <a:pt x="964" y="820"/>
                  </a:lnTo>
                  <a:lnTo>
                    <a:pt x="966" y="820"/>
                  </a:lnTo>
                  <a:lnTo>
                    <a:pt x="966" y="820"/>
                  </a:lnTo>
                  <a:lnTo>
                    <a:pt x="983" y="818"/>
                  </a:lnTo>
                  <a:lnTo>
                    <a:pt x="999" y="816"/>
                  </a:lnTo>
                  <a:lnTo>
                    <a:pt x="1015" y="812"/>
                  </a:lnTo>
                  <a:lnTo>
                    <a:pt x="1030" y="806"/>
                  </a:lnTo>
                  <a:lnTo>
                    <a:pt x="1044" y="800"/>
                  </a:lnTo>
                  <a:lnTo>
                    <a:pt x="1058" y="791"/>
                  </a:lnTo>
                  <a:lnTo>
                    <a:pt x="1070" y="781"/>
                  </a:lnTo>
                  <a:lnTo>
                    <a:pt x="1082" y="772"/>
                  </a:lnTo>
                  <a:lnTo>
                    <a:pt x="1092" y="759"/>
                  </a:lnTo>
                  <a:lnTo>
                    <a:pt x="1102" y="747"/>
                  </a:lnTo>
                  <a:lnTo>
                    <a:pt x="1110" y="734"/>
                  </a:lnTo>
                  <a:lnTo>
                    <a:pt x="1118" y="719"/>
                  </a:lnTo>
                  <a:lnTo>
                    <a:pt x="1123" y="704"/>
                  </a:lnTo>
                  <a:lnTo>
                    <a:pt x="1126" y="688"/>
                  </a:lnTo>
                  <a:lnTo>
                    <a:pt x="1129" y="671"/>
                  </a:lnTo>
                  <a:lnTo>
                    <a:pt x="1130" y="655"/>
                  </a:lnTo>
                  <a:lnTo>
                    <a:pt x="1130" y="550"/>
                  </a:lnTo>
                  <a:lnTo>
                    <a:pt x="1130" y="502"/>
                  </a:lnTo>
                  <a:lnTo>
                    <a:pt x="1130" y="318"/>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87" name="Freeform 82">
              <a:extLst>
                <a:ext uri="{FF2B5EF4-FFF2-40B4-BE49-F238E27FC236}">
                  <a16:creationId xmlns:a16="http://schemas.microsoft.com/office/drawing/2014/main" id="{6052A0CD-08A2-4D38-9569-A0FE0B8A7588}"/>
                </a:ext>
              </a:extLst>
            </p:cNvPr>
            <p:cNvSpPr>
              <a:spLocks/>
            </p:cNvSpPr>
            <p:nvPr/>
          </p:nvSpPr>
          <p:spPr bwMode="auto">
            <a:xfrm>
              <a:off x="2359877" y="3533547"/>
              <a:ext cx="142954" cy="142954"/>
            </a:xfrm>
            <a:custGeom>
              <a:avLst/>
              <a:gdLst>
                <a:gd name="T0" fmla="*/ 293 w 586"/>
                <a:gd name="T1" fmla="*/ 586 h 586"/>
                <a:gd name="T2" fmla="*/ 324 w 586"/>
                <a:gd name="T3" fmla="*/ 584 h 586"/>
                <a:gd name="T4" fmla="*/ 352 w 586"/>
                <a:gd name="T5" fmla="*/ 580 h 586"/>
                <a:gd name="T6" fmla="*/ 407 w 586"/>
                <a:gd name="T7" fmla="*/ 563 h 586"/>
                <a:gd name="T8" fmla="*/ 457 w 586"/>
                <a:gd name="T9" fmla="*/ 536 h 586"/>
                <a:gd name="T10" fmla="*/ 500 w 586"/>
                <a:gd name="T11" fmla="*/ 501 h 586"/>
                <a:gd name="T12" fmla="*/ 536 w 586"/>
                <a:gd name="T13" fmla="*/ 456 h 586"/>
                <a:gd name="T14" fmla="*/ 563 w 586"/>
                <a:gd name="T15" fmla="*/ 407 h 586"/>
                <a:gd name="T16" fmla="*/ 580 w 586"/>
                <a:gd name="T17" fmla="*/ 352 h 586"/>
                <a:gd name="T18" fmla="*/ 585 w 586"/>
                <a:gd name="T19" fmla="*/ 323 h 586"/>
                <a:gd name="T20" fmla="*/ 586 w 586"/>
                <a:gd name="T21" fmla="*/ 293 h 586"/>
                <a:gd name="T22" fmla="*/ 586 w 586"/>
                <a:gd name="T23" fmla="*/ 277 h 586"/>
                <a:gd name="T24" fmla="*/ 583 w 586"/>
                <a:gd name="T25" fmla="*/ 248 h 586"/>
                <a:gd name="T26" fmla="*/ 573 w 586"/>
                <a:gd name="T27" fmla="*/ 206 h 586"/>
                <a:gd name="T28" fmla="*/ 551 w 586"/>
                <a:gd name="T29" fmla="*/ 153 h 586"/>
                <a:gd name="T30" fmla="*/ 519 w 586"/>
                <a:gd name="T31" fmla="*/ 107 h 586"/>
                <a:gd name="T32" fmla="*/ 480 w 586"/>
                <a:gd name="T33" fmla="*/ 66 h 586"/>
                <a:gd name="T34" fmla="*/ 433 w 586"/>
                <a:gd name="T35" fmla="*/ 36 h 586"/>
                <a:gd name="T36" fmla="*/ 380 w 586"/>
                <a:gd name="T37" fmla="*/ 14 h 586"/>
                <a:gd name="T38" fmla="*/ 338 w 586"/>
                <a:gd name="T39" fmla="*/ 4 h 586"/>
                <a:gd name="T40" fmla="*/ 308 w 586"/>
                <a:gd name="T41" fmla="*/ 0 h 586"/>
                <a:gd name="T42" fmla="*/ 293 w 586"/>
                <a:gd name="T43" fmla="*/ 0 h 586"/>
                <a:gd name="T44" fmla="*/ 264 w 586"/>
                <a:gd name="T45" fmla="*/ 1 h 586"/>
                <a:gd name="T46" fmla="*/ 234 w 586"/>
                <a:gd name="T47" fmla="*/ 6 h 586"/>
                <a:gd name="T48" fmla="*/ 179 w 586"/>
                <a:gd name="T49" fmla="*/ 23 h 586"/>
                <a:gd name="T50" fmla="*/ 130 w 586"/>
                <a:gd name="T51" fmla="*/ 50 h 586"/>
                <a:gd name="T52" fmla="*/ 86 w 586"/>
                <a:gd name="T53" fmla="*/ 86 h 586"/>
                <a:gd name="T54" fmla="*/ 50 w 586"/>
                <a:gd name="T55" fmla="*/ 129 h 586"/>
                <a:gd name="T56" fmla="*/ 23 w 586"/>
                <a:gd name="T57" fmla="*/ 179 h 586"/>
                <a:gd name="T58" fmla="*/ 6 w 586"/>
                <a:gd name="T59" fmla="*/ 234 h 586"/>
                <a:gd name="T60" fmla="*/ 2 w 586"/>
                <a:gd name="T61" fmla="*/ 263 h 586"/>
                <a:gd name="T62" fmla="*/ 0 w 586"/>
                <a:gd name="T63" fmla="*/ 293 h 586"/>
                <a:gd name="T64" fmla="*/ 1 w 586"/>
                <a:gd name="T65" fmla="*/ 308 h 586"/>
                <a:gd name="T66" fmla="*/ 4 w 586"/>
                <a:gd name="T67" fmla="*/ 337 h 586"/>
                <a:gd name="T68" fmla="*/ 13 w 586"/>
                <a:gd name="T69" fmla="*/ 380 h 586"/>
                <a:gd name="T70" fmla="*/ 35 w 586"/>
                <a:gd name="T71" fmla="*/ 433 h 586"/>
                <a:gd name="T72" fmla="*/ 67 w 586"/>
                <a:gd name="T73" fmla="*/ 480 h 586"/>
                <a:gd name="T74" fmla="*/ 107 w 586"/>
                <a:gd name="T75" fmla="*/ 519 h 586"/>
                <a:gd name="T76" fmla="*/ 153 w 586"/>
                <a:gd name="T77" fmla="*/ 551 h 586"/>
                <a:gd name="T78" fmla="*/ 206 w 586"/>
                <a:gd name="T79" fmla="*/ 573 h 586"/>
                <a:gd name="T80" fmla="*/ 249 w 586"/>
                <a:gd name="T81" fmla="*/ 583 h 586"/>
                <a:gd name="T82" fmla="*/ 278 w 586"/>
                <a:gd name="T83" fmla="*/ 585 h 586"/>
                <a:gd name="T84" fmla="*/ 293 w 586"/>
                <a:gd name="T85" fmla="*/ 586 h 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86" h="586">
                  <a:moveTo>
                    <a:pt x="293" y="586"/>
                  </a:moveTo>
                  <a:lnTo>
                    <a:pt x="293" y="586"/>
                  </a:lnTo>
                  <a:lnTo>
                    <a:pt x="308" y="585"/>
                  </a:lnTo>
                  <a:lnTo>
                    <a:pt x="324" y="584"/>
                  </a:lnTo>
                  <a:lnTo>
                    <a:pt x="338" y="583"/>
                  </a:lnTo>
                  <a:lnTo>
                    <a:pt x="352" y="580"/>
                  </a:lnTo>
                  <a:lnTo>
                    <a:pt x="380" y="573"/>
                  </a:lnTo>
                  <a:lnTo>
                    <a:pt x="407" y="563"/>
                  </a:lnTo>
                  <a:lnTo>
                    <a:pt x="433" y="551"/>
                  </a:lnTo>
                  <a:lnTo>
                    <a:pt x="457" y="536"/>
                  </a:lnTo>
                  <a:lnTo>
                    <a:pt x="480" y="519"/>
                  </a:lnTo>
                  <a:lnTo>
                    <a:pt x="500" y="501"/>
                  </a:lnTo>
                  <a:lnTo>
                    <a:pt x="519" y="480"/>
                  </a:lnTo>
                  <a:lnTo>
                    <a:pt x="536" y="456"/>
                  </a:lnTo>
                  <a:lnTo>
                    <a:pt x="551" y="433"/>
                  </a:lnTo>
                  <a:lnTo>
                    <a:pt x="563" y="407"/>
                  </a:lnTo>
                  <a:lnTo>
                    <a:pt x="573" y="380"/>
                  </a:lnTo>
                  <a:lnTo>
                    <a:pt x="580" y="352"/>
                  </a:lnTo>
                  <a:lnTo>
                    <a:pt x="583" y="337"/>
                  </a:lnTo>
                  <a:lnTo>
                    <a:pt x="585" y="323"/>
                  </a:lnTo>
                  <a:lnTo>
                    <a:pt x="586" y="308"/>
                  </a:lnTo>
                  <a:lnTo>
                    <a:pt x="586" y="293"/>
                  </a:lnTo>
                  <a:lnTo>
                    <a:pt x="586" y="293"/>
                  </a:lnTo>
                  <a:lnTo>
                    <a:pt x="586" y="277"/>
                  </a:lnTo>
                  <a:lnTo>
                    <a:pt x="585" y="263"/>
                  </a:lnTo>
                  <a:lnTo>
                    <a:pt x="583" y="248"/>
                  </a:lnTo>
                  <a:lnTo>
                    <a:pt x="580" y="234"/>
                  </a:lnTo>
                  <a:lnTo>
                    <a:pt x="573" y="206"/>
                  </a:lnTo>
                  <a:lnTo>
                    <a:pt x="563" y="179"/>
                  </a:lnTo>
                  <a:lnTo>
                    <a:pt x="551" y="153"/>
                  </a:lnTo>
                  <a:lnTo>
                    <a:pt x="536" y="129"/>
                  </a:lnTo>
                  <a:lnTo>
                    <a:pt x="519" y="107"/>
                  </a:lnTo>
                  <a:lnTo>
                    <a:pt x="500" y="86"/>
                  </a:lnTo>
                  <a:lnTo>
                    <a:pt x="480" y="66"/>
                  </a:lnTo>
                  <a:lnTo>
                    <a:pt x="457" y="50"/>
                  </a:lnTo>
                  <a:lnTo>
                    <a:pt x="433" y="36"/>
                  </a:lnTo>
                  <a:lnTo>
                    <a:pt x="407" y="23"/>
                  </a:lnTo>
                  <a:lnTo>
                    <a:pt x="380" y="14"/>
                  </a:lnTo>
                  <a:lnTo>
                    <a:pt x="352" y="6"/>
                  </a:lnTo>
                  <a:lnTo>
                    <a:pt x="338" y="4"/>
                  </a:lnTo>
                  <a:lnTo>
                    <a:pt x="324" y="1"/>
                  </a:lnTo>
                  <a:lnTo>
                    <a:pt x="308" y="0"/>
                  </a:lnTo>
                  <a:lnTo>
                    <a:pt x="293" y="0"/>
                  </a:lnTo>
                  <a:lnTo>
                    <a:pt x="293" y="0"/>
                  </a:lnTo>
                  <a:lnTo>
                    <a:pt x="278" y="0"/>
                  </a:lnTo>
                  <a:lnTo>
                    <a:pt x="264" y="1"/>
                  </a:lnTo>
                  <a:lnTo>
                    <a:pt x="249" y="4"/>
                  </a:lnTo>
                  <a:lnTo>
                    <a:pt x="234" y="6"/>
                  </a:lnTo>
                  <a:lnTo>
                    <a:pt x="206" y="14"/>
                  </a:lnTo>
                  <a:lnTo>
                    <a:pt x="179" y="23"/>
                  </a:lnTo>
                  <a:lnTo>
                    <a:pt x="153" y="36"/>
                  </a:lnTo>
                  <a:lnTo>
                    <a:pt x="130" y="50"/>
                  </a:lnTo>
                  <a:lnTo>
                    <a:pt x="107" y="66"/>
                  </a:lnTo>
                  <a:lnTo>
                    <a:pt x="86" y="86"/>
                  </a:lnTo>
                  <a:lnTo>
                    <a:pt x="67" y="107"/>
                  </a:lnTo>
                  <a:lnTo>
                    <a:pt x="50" y="129"/>
                  </a:lnTo>
                  <a:lnTo>
                    <a:pt x="35" y="153"/>
                  </a:lnTo>
                  <a:lnTo>
                    <a:pt x="23" y="179"/>
                  </a:lnTo>
                  <a:lnTo>
                    <a:pt x="13" y="206"/>
                  </a:lnTo>
                  <a:lnTo>
                    <a:pt x="6" y="234"/>
                  </a:lnTo>
                  <a:lnTo>
                    <a:pt x="4" y="248"/>
                  </a:lnTo>
                  <a:lnTo>
                    <a:pt x="2" y="263"/>
                  </a:lnTo>
                  <a:lnTo>
                    <a:pt x="1" y="277"/>
                  </a:lnTo>
                  <a:lnTo>
                    <a:pt x="0" y="293"/>
                  </a:lnTo>
                  <a:lnTo>
                    <a:pt x="0" y="293"/>
                  </a:lnTo>
                  <a:lnTo>
                    <a:pt x="1" y="308"/>
                  </a:lnTo>
                  <a:lnTo>
                    <a:pt x="2" y="323"/>
                  </a:lnTo>
                  <a:lnTo>
                    <a:pt x="4" y="337"/>
                  </a:lnTo>
                  <a:lnTo>
                    <a:pt x="6" y="352"/>
                  </a:lnTo>
                  <a:lnTo>
                    <a:pt x="13" y="380"/>
                  </a:lnTo>
                  <a:lnTo>
                    <a:pt x="23" y="407"/>
                  </a:lnTo>
                  <a:lnTo>
                    <a:pt x="35" y="433"/>
                  </a:lnTo>
                  <a:lnTo>
                    <a:pt x="50" y="456"/>
                  </a:lnTo>
                  <a:lnTo>
                    <a:pt x="67" y="480"/>
                  </a:lnTo>
                  <a:lnTo>
                    <a:pt x="86" y="501"/>
                  </a:lnTo>
                  <a:lnTo>
                    <a:pt x="107" y="519"/>
                  </a:lnTo>
                  <a:lnTo>
                    <a:pt x="130" y="536"/>
                  </a:lnTo>
                  <a:lnTo>
                    <a:pt x="153" y="551"/>
                  </a:lnTo>
                  <a:lnTo>
                    <a:pt x="179" y="563"/>
                  </a:lnTo>
                  <a:lnTo>
                    <a:pt x="206" y="573"/>
                  </a:lnTo>
                  <a:lnTo>
                    <a:pt x="234" y="580"/>
                  </a:lnTo>
                  <a:lnTo>
                    <a:pt x="249" y="583"/>
                  </a:lnTo>
                  <a:lnTo>
                    <a:pt x="264" y="584"/>
                  </a:lnTo>
                  <a:lnTo>
                    <a:pt x="278" y="585"/>
                  </a:lnTo>
                  <a:lnTo>
                    <a:pt x="293" y="586"/>
                  </a:lnTo>
                  <a:lnTo>
                    <a:pt x="293" y="586"/>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88" name="Freeform 83">
              <a:extLst>
                <a:ext uri="{FF2B5EF4-FFF2-40B4-BE49-F238E27FC236}">
                  <a16:creationId xmlns:a16="http://schemas.microsoft.com/office/drawing/2014/main" id="{D66B9CB9-2FAA-4612-814C-2579D813D3C4}"/>
                </a:ext>
              </a:extLst>
            </p:cNvPr>
            <p:cNvSpPr>
              <a:spLocks/>
            </p:cNvSpPr>
            <p:nvPr/>
          </p:nvSpPr>
          <p:spPr bwMode="auto">
            <a:xfrm>
              <a:off x="2293523" y="3682355"/>
              <a:ext cx="275662" cy="200038"/>
            </a:xfrm>
            <a:custGeom>
              <a:avLst/>
              <a:gdLst>
                <a:gd name="T0" fmla="*/ 1130 w 1130"/>
                <a:gd name="T1" fmla="*/ 164 h 820"/>
                <a:gd name="T2" fmla="*/ 1130 w 1130"/>
                <a:gd name="T3" fmla="*/ 162 h 820"/>
                <a:gd name="T4" fmla="*/ 1129 w 1130"/>
                <a:gd name="T5" fmla="*/ 146 h 820"/>
                <a:gd name="T6" fmla="*/ 1123 w 1130"/>
                <a:gd name="T7" fmla="*/ 114 h 820"/>
                <a:gd name="T8" fmla="*/ 1110 w 1130"/>
                <a:gd name="T9" fmla="*/ 85 h 820"/>
                <a:gd name="T10" fmla="*/ 1092 w 1130"/>
                <a:gd name="T11" fmla="*/ 59 h 820"/>
                <a:gd name="T12" fmla="*/ 1070 w 1130"/>
                <a:gd name="T13" fmla="*/ 37 h 820"/>
                <a:gd name="T14" fmla="*/ 1043 w 1130"/>
                <a:gd name="T15" fmla="*/ 20 h 820"/>
                <a:gd name="T16" fmla="*/ 1015 w 1130"/>
                <a:gd name="T17" fmla="*/ 7 h 820"/>
                <a:gd name="T18" fmla="*/ 983 w 1130"/>
                <a:gd name="T19" fmla="*/ 1 h 820"/>
                <a:gd name="T20" fmla="*/ 966 w 1130"/>
                <a:gd name="T21" fmla="*/ 0 h 820"/>
                <a:gd name="T22" fmla="*/ 966 w 1130"/>
                <a:gd name="T23" fmla="*/ 0 h 820"/>
                <a:gd name="T24" fmla="*/ 167 w 1130"/>
                <a:gd name="T25" fmla="*/ 0 h 820"/>
                <a:gd name="T26" fmla="*/ 165 w 1130"/>
                <a:gd name="T27" fmla="*/ 0 h 820"/>
                <a:gd name="T28" fmla="*/ 149 w 1130"/>
                <a:gd name="T29" fmla="*/ 1 h 820"/>
                <a:gd name="T30" fmla="*/ 117 w 1130"/>
                <a:gd name="T31" fmla="*/ 7 h 820"/>
                <a:gd name="T32" fmla="*/ 88 w 1130"/>
                <a:gd name="T33" fmla="*/ 20 h 820"/>
                <a:gd name="T34" fmla="*/ 62 w 1130"/>
                <a:gd name="T35" fmla="*/ 37 h 820"/>
                <a:gd name="T36" fmla="*/ 40 w 1130"/>
                <a:gd name="T37" fmla="*/ 59 h 820"/>
                <a:gd name="T38" fmla="*/ 21 w 1130"/>
                <a:gd name="T39" fmla="*/ 85 h 820"/>
                <a:gd name="T40" fmla="*/ 9 w 1130"/>
                <a:gd name="T41" fmla="*/ 114 h 820"/>
                <a:gd name="T42" fmla="*/ 2 w 1130"/>
                <a:gd name="T43" fmla="*/ 146 h 820"/>
                <a:gd name="T44" fmla="*/ 0 w 1130"/>
                <a:gd name="T45" fmla="*/ 162 h 820"/>
                <a:gd name="T46" fmla="*/ 0 w 1130"/>
                <a:gd name="T47" fmla="*/ 318 h 820"/>
                <a:gd name="T48" fmla="*/ 0 w 1130"/>
                <a:gd name="T49" fmla="*/ 550 h 820"/>
                <a:gd name="T50" fmla="*/ 0 w 1130"/>
                <a:gd name="T51" fmla="*/ 655 h 820"/>
                <a:gd name="T52" fmla="*/ 4 w 1130"/>
                <a:gd name="T53" fmla="*/ 688 h 820"/>
                <a:gd name="T54" fmla="*/ 14 w 1130"/>
                <a:gd name="T55" fmla="*/ 719 h 820"/>
                <a:gd name="T56" fmla="*/ 29 w 1130"/>
                <a:gd name="T57" fmla="*/ 747 h 820"/>
                <a:gd name="T58" fmla="*/ 48 w 1130"/>
                <a:gd name="T59" fmla="*/ 772 h 820"/>
                <a:gd name="T60" fmla="*/ 73 w 1130"/>
                <a:gd name="T61" fmla="*/ 791 h 820"/>
                <a:gd name="T62" fmla="*/ 101 w 1130"/>
                <a:gd name="T63" fmla="*/ 806 h 820"/>
                <a:gd name="T64" fmla="*/ 132 w 1130"/>
                <a:gd name="T65" fmla="*/ 816 h 820"/>
                <a:gd name="T66" fmla="*/ 165 w 1130"/>
                <a:gd name="T67" fmla="*/ 820 h 820"/>
                <a:gd name="T68" fmla="*/ 167 w 1130"/>
                <a:gd name="T69" fmla="*/ 820 h 820"/>
                <a:gd name="T70" fmla="*/ 966 w 1130"/>
                <a:gd name="T71" fmla="*/ 820 h 820"/>
                <a:gd name="T72" fmla="*/ 966 w 1130"/>
                <a:gd name="T73" fmla="*/ 820 h 820"/>
                <a:gd name="T74" fmla="*/ 966 w 1130"/>
                <a:gd name="T75" fmla="*/ 820 h 820"/>
                <a:gd name="T76" fmla="*/ 999 w 1130"/>
                <a:gd name="T77" fmla="*/ 816 h 820"/>
                <a:gd name="T78" fmla="*/ 1030 w 1130"/>
                <a:gd name="T79" fmla="*/ 806 h 820"/>
                <a:gd name="T80" fmla="*/ 1058 w 1130"/>
                <a:gd name="T81" fmla="*/ 791 h 820"/>
                <a:gd name="T82" fmla="*/ 1083 w 1130"/>
                <a:gd name="T83" fmla="*/ 772 h 820"/>
                <a:gd name="T84" fmla="*/ 1102 w 1130"/>
                <a:gd name="T85" fmla="*/ 747 h 820"/>
                <a:gd name="T86" fmla="*/ 1118 w 1130"/>
                <a:gd name="T87" fmla="*/ 719 h 820"/>
                <a:gd name="T88" fmla="*/ 1128 w 1130"/>
                <a:gd name="T89" fmla="*/ 688 h 820"/>
                <a:gd name="T90" fmla="*/ 1130 w 1130"/>
                <a:gd name="T91" fmla="*/ 655 h 820"/>
                <a:gd name="T92" fmla="*/ 1130 w 1130"/>
                <a:gd name="T93" fmla="*/ 502 h 8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130" h="820">
                  <a:moveTo>
                    <a:pt x="1130" y="318"/>
                  </a:moveTo>
                  <a:lnTo>
                    <a:pt x="1130" y="164"/>
                  </a:lnTo>
                  <a:lnTo>
                    <a:pt x="1130" y="164"/>
                  </a:lnTo>
                  <a:lnTo>
                    <a:pt x="1130" y="162"/>
                  </a:lnTo>
                  <a:lnTo>
                    <a:pt x="1130" y="162"/>
                  </a:lnTo>
                  <a:lnTo>
                    <a:pt x="1129" y="146"/>
                  </a:lnTo>
                  <a:lnTo>
                    <a:pt x="1127" y="130"/>
                  </a:lnTo>
                  <a:lnTo>
                    <a:pt x="1123" y="114"/>
                  </a:lnTo>
                  <a:lnTo>
                    <a:pt x="1117" y="99"/>
                  </a:lnTo>
                  <a:lnTo>
                    <a:pt x="1110" y="85"/>
                  </a:lnTo>
                  <a:lnTo>
                    <a:pt x="1101" y="71"/>
                  </a:lnTo>
                  <a:lnTo>
                    <a:pt x="1092" y="59"/>
                  </a:lnTo>
                  <a:lnTo>
                    <a:pt x="1081" y="48"/>
                  </a:lnTo>
                  <a:lnTo>
                    <a:pt x="1070" y="37"/>
                  </a:lnTo>
                  <a:lnTo>
                    <a:pt x="1057" y="28"/>
                  </a:lnTo>
                  <a:lnTo>
                    <a:pt x="1043" y="20"/>
                  </a:lnTo>
                  <a:lnTo>
                    <a:pt x="1030" y="12"/>
                  </a:lnTo>
                  <a:lnTo>
                    <a:pt x="1015" y="7"/>
                  </a:lnTo>
                  <a:lnTo>
                    <a:pt x="999" y="4"/>
                  </a:lnTo>
                  <a:lnTo>
                    <a:pt x="983" y="1"/>
                  </a:lnTo>
                  <a:lnTo>
                    <a:pt x="966" y="0"/>
                  </a:lnTo>
                  <a:lnTo>
                    <a:pt x="966" y="0"/>
                  </a:lnTo>
                  <a:lnTo>
                    <a:pt x="966" y="0"/>
                  </a:lnTo>
                  <a:lnTo>
                    <a:pt x="966" y="0"/>
                  </a:lnTo>
                  <a:lnTo>
                    <a:pt x="167" y="0"/>
                  </a:lnTo>
                  <a:lnTo>
                    <a:pt x="167" y="0"/>
                  </a:lnTo>
                  <a:lnTo>
                    <a:pt x="167" y="0"/>
                  </a:lnTo>
                  <a:lnTo>
                    <a:pt x="165" y="0"/>
                  </a:lnTo>
                  <a:lnTo>
                    <a:pt x="165" y="0"/>
                  </a:lnTo>
                  <a:lnTo>
                    <a:pt x="149" y="1"/>
                  </a:lnTo>
                  <a:lnTo>
                    <a:pt x="133" y="4"/>
                  </a:lnTo>
                  <a:lnTo>
                    <a:pt x="117" y="7"/>
                  </a:lnTo>
                  <a:lnTo>
                    <a:pt x="102" y="12"/>
                  </a:lnTo>
                  <a:lnTo>
                    <a:pt x="88" y="20"/>
                  </a:lnTo>
                  <a:lnTo>
                    <a:pt x="74" y="28"/>
                  </a:lnTo>
                  <a:lnTo>
                    <a:pt x="62" y="37"/>
                  </a:lnTo>
                  <a:lnTo>
                    <a:pt x="50" y="48"/>
                  </a:lnTo>
                  <a:lnTo>
                    <a:pt x="40" y="59"/>
                  </a:lnTo>
                  <a:lnTo>
                    <a:pt x="30" y="71"/>
                  </a:lnTo>
                  <a:lnTo>
                    <a:pt x="21" y="85"/>
                  </a:lnTo>
                  <a:lnTo>
                    <a:pt x="14" y="99"/>
                  </a:lnTo>
                  <a:lnTo>
                    <a:pt x="9" y="114"/>
                  </a:lnTo>
                  <a:lnTo>
                    <a:pt x="4" y="130"/>
                  </a:lnTo>
                  <a:lnTo>
                    <a:pt x="2" y="146"/>
                  </a:lnTo>
                  <a:lnTo>
                    <a:pt x="0" y="162"/>
                  </a:lnTo>
                  <a:lnTo>
                    <a:pt x="0" y="162"/>
                  </a:lnTo>
                  <a:lnTo>
                    <a:pt x="0" y="164"/>
                  </a:lnTo>
                  <a:lnTo>
                    <a:pt x="0" y="318"/>
                  </a:lnTo>
                  <a:lnTo>
                    <a:pt x="0" y="502"/>
                  </a:lnTo>
                  <a:lnTo>
                    <a:pt x="0" y="550"/>
                  </a:lnTo>
                  <a:lnTo>
                    <a:pt x="0" y="655"/>
                  </a:lnTo>
                  <a:lnTo>
                    <a:pt x="0" y="655"/>
                  </a:lnTo>
                  <a:lnTo>
                    <a:pt x="2" y="671"/>
                  </a:lnTo>
                  <a:lnTo>
                    <a:pt x="4" y="688"/>
                  </a:lnTo>
                  <a:lnTo>
                    <a:pt x="8" y="704"/>
                  </a:lnTo>
                  <a:lnTo>
                    <a:pt x="14" y="719"/>
                  </a:lnTo>
                  <a:lnTo>
                    <a:pt x="20" y="734"/>
                  </a:lnTo>
                  <a:lnTo>
                    <a:pt x="29" y="747"/>
                  </a:lnTo>
                  <a:lnTo>
                    <a:pt x="39" y="759"/>
                  </a:lnTo>
                  <a:lnTo>
                    <a:pt x="48" y="772"/>
                  </a:lnTo>
                  <a:lnTo>
                    <a:pt x="61" y="781"/>
                  </a:lnTo>
                  <a:lnTo>
                    <a:pt x="73" y="791"/>
                  </a:lnTo>
                  <a:lnTo>
                    <a:pt x="86" y="800"/>
                  </a:lnTo>
                  <a:lnTo>
                    <a:pt x="101" y="806"/>
                  </a:lnTo>
                  <a:lnTo>
                    <a:pt x="117" y="812"/>
                  </a:lnTo>
                  <a:lnTo>
                    <a:pt x="132" y="816"/>
                  </a:lnTo>
                  <a:lnTo>
                    <a:pt x="149" y="818"/>
                  </a:lnTo>
                  <a:lnTo>
                    <a:pt x="165" y="820"/>
                  </a:lnTo>
                  <a:lnTo>
                    <a:pt x="165" y="820"/>
                  </a:lnTo>
                  <a:lnTo>
                    <a:pt x="167" y="820"/>
                  </a:lnTo>
                  <a:lnTo>
                    <a:pt x="167" y="820"/>
                  </a:lnTo>
                  <a:lnTo>
                    <a:pt x="966" y="820"/>
                  </a:lnTo>
                  <a:lnTo>
                    <a:pt x="966" y="820"/>
                  </a:lnTo>
                  <a:lnTo>
                    <a:pt x="966" y="820"/>
                  </a:lnTo>
                  <a:lnTo>
                    <a:pt x="966" y="820"/>
                  </a:lnTo>
                  <a:lnTo>
                    <a:pt x="966" y="820"/>
                  </a:lnTo>
                  <a:lnTo>
                    <a:pt x="983" y="818"/>
                  </a:lnTo>
                  <a:lnTo>
                    <a:pt x="999" y="816"/>
                  </a:lnTo>
                  <a:lnTo>
                    <a:pt x="1015" y="812"/>
                  </a:lnTo>
                  <a:lnTo>
                    <a:pt x="1030" y="806"/>
                  </a:lnTo>
                  <a:lnTo>
                    <a:pt x="1045" y="800"/>
                  </a:lnTo>
                  <a:lnTo>
                    <a:pt x="1058" y="791"/>
                  </a:lnTo>
                  <a:lnTo>
                    <a:pt x="1070" y="781"/>
                  </a:lnTo>
                  <a:lnTo>
                    <a:pt x="1083" y="772"/>
                  </a:lnTo>
                  <a:lnTo>
                    <a:pt x="1094" y="759"/>
                  </a:lnTo>
                  <a:lnTo>
                    <a:pt x="1102" y="747"/>
                  </a:lnTo>
                  <a:lnTo>
                    <a:pt x="1111" y="734"/>
                  </a:lnTo>
                  <a:lnTo>
                    <a:pt x="1118" y="719"/>
                  </a:lnTo>
                  <a:lnTo>
                    <a:pt x="1123" y="704"/>
                  </a:lnTo>
                  <a:lnTo>
                    <a:pt x="1128" y="688"/>
                  </a:lnTo>
                  <a:lnTo>
                    <a:pt x="1130" y="671"/>
                  </a:lnTo>
                  <a:lnTo>
                    <a:pt x="1130" y="655"/>
                  </a:lnTo>
                  <a:lnTo>
                    <a:pt x="1130" y="550"/>
                  </a:lnTo>
                  <a:lnTo>
                    <a:pt x="1130" y="502"/>
                  </a:lnTo>
                  <a:lnTo>
                    <a:pt x="1130" y="318"/>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89" name="Freeform 84">
              <a:extLst>
                <a:ext uri="{FF2B5EF4-FFF2-40B4-BE49-F238E27FC236}">
                  <a16:creationId xmlns:a16="http://schemas.microsoft.com/office/drawing/2014/main" id="{C76C7D6D-BB75-45C1-A2E1-E0C71AE2E786}"/>
                </a:ext>
              </a:extLst>
            </p:cNvPr>
            <p:cNvSpPr>
              <a:spLocks/>
            </p:cNvSpPr>
            <p:nvPr/>
          </p:nvSpPr>
          <p:spPr bwMode="auto">
            <a:xfrm>
              <a:off x="2659934" y="3533547"/>
              <a:ext cx="142954" cy="142954"/>
            </a:xfrm>
            <a:custGeom>
              <a:avLst/>
              <a:gdLst>
                <a:gd name="T0" fmla="*/ 293 w 587"/>
                <a:gd name="T1" fmla="*/ 586 h 586"/>
                <a:gd name="T2" fmla="*/ 324 w 587"/>
                <a:gd name="T3" fmla="*/ 584 h 586"/>
                <a:gd name="T4" fmla="*/ 352 w 587"/>
                <a:gd name="T5" fmla="*/ 580 h 586"/>
                <a:gd name="T6" fmla="*/ 407 w 587"/>
                <a:gd name="T7" fmla="*/ 563 h 586"/>
                <a:gd name="T8" fmla="*/ 458 w 587"/>
                <a:gd name="T9" fmla="*/ 536 h 586"/>
                <a:gd name="T10" fmla="*/ 501 w 587"/>
                <a:gd name="T11" fmla="*/ 501 h 586"/>
                <a:gd name="T12" fmla="*/ 536 w 587"/>
                <a:gd name="T13" fmla="*/ 456 h 586"/>
                <a:gd name="T14" fmla="*/ 563 w 587"/>
                <a:gd name="T15" fmla="*/ 407 h 586"/>
                <a:gd name="T16" fmla="*/ 580 w 587"/>
                <a:gd name="T17" fmla="*/ 352 h 586"/>
                <a:gd name="T18" fmla="*/ 585 w 587"/>
                <a:gd name="T19" fmla="*/ 323 h 586"/>
                <a:gd name="T20" fmla="*/ 587 w 587"/>
                <a:gd name="T21" fmla="*/ 293 h 586"/>
                <a:gd name="T22" fmla="*/ 587 w 587"/>
                <a:gd name="T23" fmla="*/ 277 h 586"/>
                <a:gd name="T24" fmla="*/ 583 w 587"/>
                <a:gd name="T25" fmla="*/ 248 h 586"/>
                <a:gd name="T26" fmla="*/ 573 w 587"/>
                <a:gd name="T27" fmla="*/ 206 h 586"/>
                <a:gd name="T28" fmla="*/ 551 w 587"/>
                <a:gd name="T29" fmla="*/ 153 h 586"/>
                <a:gd name="T30" fmla="*/ 520 w 587"/>
                <a:gd name="T31" fmla="*/ 107 h 586"/>
                <a:gd name="T32" fmla="*/ 480 w 587"/>
                <a:gd name="T33" fmla="*/ 66 h 586"/>
                <a:gd name="T34" fmla="*/ 433 w 587"/>
                <a:gd name="T35" fmla="*/ 36 h 586"/>
                <a:gd name="T36" fmla="*/ 380 w 587"/>
                <a:gd name="T37" fmla="*/ 14 h 586"/>
                <a:gd name="T38" fmla="*/ 339 w 587"/>
                <a:gd name="T39" fmla="*/ 4 h 586"/>
                <a:gd name="T40" fmla="*/ 309 w 587"/>
                <a:gd name="T41" fmla="*/ 0 h 586"/>
                <a:gd name="T42" fmla="*/ 293 w 587"/>
                <a:gd name="T43" fmla="*/ 0 h 586"/>
                <a:gd name="T44" fmla="*/ 264 w 587"/>
                <a:gd name="T45" fmla="*/ 1 h 586"/>
                <a:gd name="T46" fmla="*/ 234 w 587"/>
                <a:gd name="T47" fmla="*/ 6 h 586"/>
                <a:gd name="T48" fmla="*/ 179 w 587"/>
                <a:gd name="T49" fmla="*/ 23 h 586"/>
                <a:gd name="T50" fmla="*/ 130 w 587"/>
                <a:gd name="T51" fmla="*/ 50 h 586"/>
                <a:gd name="T52" fmla="*/ 86 w 587"/>
                <a:gd name="T53" fmla="*/ 86 h 586"/>
                <a:gd name="T54" fmla="*/ 50 w 587"/>
                <a:gd name="T55" fmla="*/ 129 h 586"/>
                <a:gd name="T56" fmla="*/ 23 w 587"/>
                <a:gd name="T57" fmla="*/ 179 h 586"/>
                <a:gd name="T58" fmla="*/ 6 w 587"/>
                <a:gd name="T59" fmla="*/ 234 h 586"/>
                <a:gd name="T60" fmla="*/ 3 w 587"/>
                <a:gd name="T61" fmla="*/ 263 h 586"/>
                <a:gd name="T62" fmla="*/ 0 w 587"/>
                <a:gd name="T63" fmla="*/ 293 h 586"/>
                <a:gd name="T64" fmla="*/ 1 w 587"/>
                <a:gd name="T65" fmla="*/ 308 h 586"/>
                <a:gd name="T66" fmla="*/ 4 w 587"/>
                <a:gd name="T67" fmla="*/ 337 h 586"/>
                <a:gd name="T68" fmla="*/ 14 w 587"/>
                <a:gd name="T69" fmla="*/ 380 h 586"/>
                <a:gd name="T70" fmla="*/ 36 w 587"/>
                <a:gd name="T71" fmla="*/ 433 h 586"/>
                <a:gd name="T72" fmla="*/ 68 w 587"/>
                <a:gd name="T73" fmla="*/ 480 h 586"/>
                <a:gd name="T74" fmla="*/ 107 w 587"/>
                <a:gd name="T75" fmla="*/ 519 h 586"/>
                <a:gd name="T76" fmla="*/ 153 w 587"/>
                <a:gd name="T77" fmla="*/ 551 h 586"/>
                <a:gd name="T78" fmla="*/ 206 w 587"/>
                <a:gd name="T79" fmla="*/ 573 h 586"/>
                <a:gd name="T80" fmla="*/ 249 w 587"/>
                <a:gd name="T81" fmla="*/ 583 h 586"/>
                <a:gd name="T82" fmla="*/ 279 w 587"/>
                <a:gd name="T83" fmla="*/ 585 h 586"/>
                <a:gd name="T84" fmla="*/ 293 w 587"/>
                <a:gd name="T85" fmla="*/ 586 h 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87" h="586">
                  <a:moveTo>
                    <a:pt x="293" y="586"/>
                  </a:moveTo>
                  <a:lnTo>
                    <a:pt x="293" y="586"/>
                  </a:lnTo>
                  <a:lnTo>
                    <a:pt x="309" y="585"/>
                  </a:lnTo>
                  <a:lnTo>
                    <a:pt x="324" y="584"/>
                  </a:lnTo>
                  <a:lnTo>
                    <a:pt x="339" y="583"/>
                  </a:lnTo>
                  <a:lnTo>
                    <a:pt x="352" y="580"/>
                  </a:lnTo>
                  <a:lnTo>
                    <a:pt x="380" y="573"/>
                  </a:lnTo>
                  <a:lnTo>
                    <a:pt x="407" y="563"/>
                  </a:lnTo>
                  <a:lnTo>
                    <a:pt x="433" y="551"/>
                  </a:lnTo>
                  <a:lnTo>
                    <a:pt x="458" y="536"/>
                  </a:lnTo>
                  <a:lnTo>
                    <a:pt x="480" y="519"/>
                  </a:lnTo>
                  <a:lnTo>
                    <a:pt x="501" y="501"/>
                  </a:lnTo>
                  <a:lnTo>
                    <a:pt x="520" y="480"/>
                  </a:lnTo>
                  <a:lnTo>
                    <a:pt x="536" y="456"/>
                  </a:lnTo>
                  <a:lnTo>
                    <a:pt x="551" y="433"/>
                  </a:lnTo>
                  <a:lnTo>
                    <a:pt x="563" y="407"/>
                  </a:lnTo>
                  <a:lnTo>
                    <a:pt x="573" y="380"/>
                  </a:lnTo>
                  <a:lnTo>
                    <a:pt x="580" y="352"/>
                  </a:lnTo>
                  <a:lnTo>
                    <a:pt x="583" y="337"/>
                  </a:lnTo>
                  <a:lnTo>
                    <a:pt x="585" y="323"/>
                  </a:lnTo>
                  <a:lnTo>
                    <a:pt x="587" y="308"/>
                  </a:lnTo>
                  <a:lnTo>
                    <a:pt x="587" y="293"/>
                  </a:lnTo>
                  <a:lnTo>
                    <a:pt x="587" y="293"/>
                  </a:lnTo>
                  <a:lnTo>
                    <a:pt x="587" y="277"/>
                  </a:lnTo>
                  <a:lnTo>
                    <a:pt x="585" y="263"/>
                  </a:lnTo>
                  <a:lnTo>
                    <a:pt x="583" y="248"/>
                  </a:lnTo>
                  <a:lnTo>
                    <a:pt x="580" y="234"/>
                  </a:lnTo>
                  <a:lnTo>
                    <a:pt x="573" y="206"/>
                  </a:lnTo>
                  <a:lnTo>
                    <a:pt x="563" y="179"/>
                  </a:lnTo>
                  <a:lnTo>
                    <a:pt x="551" y="153"/>
                  </a:lnTo>
                  <a:lnTo>
                    <a:pt x="536" y="129"/>
                  </a:lnTo>
                  <a:lnTo>
                    <a:pt x="520" y="107"/>
                  </a:lnTo>
                  <a:lnTo>
                    <a:pt x="501" y="86"/>
                  </a:lnTo>
                  <a:lnTo>
                    <a:pt x="480" y="66"/>
                  </a:lnTo>
                  <a:lnTo>
                    <a:pt x="458" y="50"/>
                  </a:lnTo>
                  <a:lnTo>
                    <a:pt x="433" y="36"/>
                  </a:lnTo>
                  <a:lnTo>
                    <a:pt x="407" y="23"/>
                  </a:lnTo>
                  <a:lnTo>
                    <a:pt x="380" y="14"/>
                  </a:lnTo>
                  <a:lnTo>
                    <a:pt x="352" y="6"/>
                  </a:lnTo>
                  <a:lnTo>
                    <a:pt x="339" y="4"/>
                  </a:lnTo>
                  <a:lnTo>
                    <a:pt x="324" y="1"/>
                  </a:lnTo>
                  <a:lnTo>
                    <a:pt x="309" y="0"/>
                  </a:lnTo>
                  <a:lnTo>
                    <a:pt x="293" y="0"/>
                  </a:lnTo>
                  <a:lnTo>
                    <a:pt x="293" y="0"/>
                  </a:lnTo>
                  <a:lnTo>
                    <a:pt x="279" y="0"/>
                  </a:lnTo>
                  <a:lnTo>
                    <a:pt x="264" y="1"/>
                  </a:lnTo>
                  <a:lnTo>
                    <a:pt x="249" y="4"/>
                  </a:lnTo>
                  <a:lnTo>
                    <a:pt x="234" y="6"/>
                  </a:lnTo>
                  <a:lnTo>
                    <a:pt x="206" y="14"/>
                  </a:lnTo>
                  <a:lnTo>
                    <a:pt x="179" y="23"/>
                  </a:lnTo>
                  <a:lnTo>
                    <a:pt x="153" y="36"/>
                  </a:lnTo>
                  <a:lnTo>
                    <a:pt x="130" y="50"/>
                  </a:lnTo>
                  <a:lnTo>
                    <a:pt x="107" y="66"/>
                  </a:lnTo>
                  <a:lnTo>
                    <a:pt x="86" y="86"/>
                  </a:lnTo>
                  <a:lnTo>
                    <a:pt x="68" y="107"/>
                  </a:lnTo>
                  <a:lnTo>
                    <a:pt x="50" y="129"/>
                  </a:lnTo>
                  <a:lnTo>
                    <a:pt x="36" y="153"/>
                  </a:lnTo>
                  <a:lnTo>
                    <a:pt x="23" y="179"/>
                  </a:lnTo>
                  <a:lnTo>
                    <a:pt x="14" y="206"/>
                  </a:lnTo>
                  <a:lnTo>
                    <a:pt x="6" y="234"/>
                  </a:lnTo>
                  <a:lnTo>
                    <a:pt x="4" y="248"/>
                  </a:lnTo>
                  <a:lnTo>
                    <a:pt x="3" y="263"/>
                  </a:lnTo>
                  <a:lnTo>
                    <a:pt x="1" y="277"/>
                  </a:lnTo>
                  <a:lnTo>
                    <a:pt x="0" y="293"/>
                  </a:lnTo>
                  <a:lnTo>
                    <a:pt x="0" y="293"/>
                  </a:lnTo>
                  <a:lnTo>
                    <a:pt x="1" y="308"/>
                  </a:lnTo>
                  <a:lnTo>
                    <a:pt x="3" y="323"/>
                  </a:lnTo>
                  <a:lnTo>
                    <a:pt x="4" y="337"/>
                  </a:lnTo>
                  <a:lnTo>
                    <a:pt x="6" y="352"/>
                  </a:lnTo>
                  <a:lnTo>
                    <a:pt x="14" y="380"/>
                  </a:lnTo>
                  <a:lnTo>
                    <a:pt x="23" y="407"/>
                  </a:lnTo>
                  <a:lnTo>
                    <a:pt x="36" y="433"/>
                  </a:lnTo>
                  <a:lnTo>
                    <a:pt x="50" y="456"/>
                  </a:lnTo>
                  <a:lnTo>
                    <a:pt x="68" y="480"/>
                  </a:lnTo>
                  <a:lnTo>
                    <a:pt x="86" y="501"/>
                  </a:lnTo>
                  <a:lnTo>
                    <a:pt x="107" y="519"/>
                  </a:lnTo>
                  <a:lnTo>
                    <a:pt x="130" y="536"/>
                  </a:lnTo>
                  <a:lnTo>
                    <a:pt x="153" y="551"/>
                  </a:lnTo>
                  <a:lnTo>
                    <a:pt x="179" y="563"/>
                  </a:lnTo>
                  <a:lnTo>
                    <a:pt x="206" y="573"/>
                  </a:lnTo>
                  <a:lnTo>
                    <a:pt x="234" y="580"/>
                  </a:lnTo>
                  <a:lnTo>
                    <a:pt x="249" y="583"/>
                  </a:lnTo>
                  <a:lnTo>
                    <a:pt x="264" y="584"/>
                  </a:lnTo>
                  <a:lnTo>
                    <a:pt x="279" y="585"/>
                  </a:lnTo>
                  <a:lnTo>
                    <a:pt x="293" y="586"/>
                  </a:lnTo>
                  <a:lnTo>
                    <a:pt x="293" y="586"/>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90" name="Freeform 85">
              <a:extLst>
                <a:ext uri="{FF2B5EF4-FFF2-40B4-BE49-F238E27FC236}">
                  <a16:creationId xmlns:a16="http://schemas.microsoft.com/office/drawing/2014/main" id="{F851BD04-0F69-4B57-A893-B27CC5C7DD1F}"/>
                </a:ext>
              </a:extLst>
            </p:cNvPr>
            <p:cNvSpPr>
              <a:spLocks/>
            </p:cNvSpPr>
            <p:nvPr/>
          </p:nvSpPr>
          <p:spPr bwMode="auto">
            <a:xfrm>
              <a:off x="2593092" y="3682355"/>
              <a:ext cx="275662" cy="200038"/>
            </a:xfrm>
            <a:custGeom>
              <a:avLst/>
              <a:gdLst>
                <a:gd name="T0" fmla="*/ 1130 w 1130"/>
                <a:gd name="T1" fmla="*/ 164 h 820"/>
                <a:gd name="T2" fmla="*/ 1130 w 1130"/>
                <a:gd name="T3" fmla="*/ 162 h 820"/>
                <a:gd name="T4" fmla="*/ 1128 w 1130"/>
                <a:gd name="T5" fmla="*/ 146 h 820"/>
                <a:gd name="T6" fmla="*/ 1122 w 1130"/>
                <a:gd name="T7" fmla="*/ 114 h 820"/>
                <a:gd name="T8" fmla="*/ 1109 w 1130"/>
                <a:gd name="T9" fmla="*/ 85 h 820"/>
                <a:gd name="T10" fmla="*/ 1092 w 1130"/>
                <a:gd name="T11" fmla="*/ 59 h 820"/>
                <a:gd name="T12" fmla="*/ 1070 w 1130"/>
                <a:gd name="T13" fmla="*/ 37 h 820"/>
                <a:gd name="T14" fmla="*/ 1044 w 1130"/>
                <a:gd name="T15" fmla="*/ 20 h 820"/>
                <a:gd name="T16" fmla="*/ 1014 w 1130"/>
                <a:gd name="T17" fmla="*/ 7 h 820"/>
                <a:gd name="T18" fmla="*/ 982 w 1130"/>
                <a:gd name="T19" fmla="*/ 1 h 820"/>
                <a:gd name="T20" fmla="*/ 965 w 1130"/>
                <a:gd name="T21" fmla="*/ 0 h 820"/>
                <a:gd name="T22" fmla="*/ 965 w 1130"/>
                <a:gd name="T23" fmla="*/ 0 h 820"/>
                <a:gd name="T24" fmla="*/ 167 w 1130"/>
                <a:gd name="T25" fmla="*/ 0 h 820"/>
                <a:gd name="T26" fmla="*/ 165 w 1130"/>
                <a:gd name="T27" fmla="*/ 0 h 820"/>
                <a:gd name="T28" fmla="*/ 148 w 1130"/>
                <a:gd name="T29" fmla="*/ 1 h 820"/>
                <a:gd name="T30" fmla="*/ 116 w 1130"/>
                <a:gd name="T31" fmla="*/ 7 h 820"/>
                <a:gd name="T32" fmla="*/ 87 w 1130"/>
                <a:gd name="T33" fmla="*/ 20 h 820"/>
                <a:gd name="T34" fmla="*/ 61 w 1130"/>
                <a:gd name="T35" fmla="*/ 37 h 820"/>
                <a:gd name="T36" fmla="*/ 39 w 1130"/>
                <a:gd name="T37" fmla="*/ 59 h 820"/>
                <a:gd name="T38" fmla="*/ 21 w 1130"/>
                <a:gd name="T39" fmla="*/ 85 h 820"/>
                <a:gd name="T40" fmla="*/ 8 w 1130"/>
                <a:gd name="T41" fmla="*/ 114 h 820"/>
                <a:gd name="T42" fmla="*/ 1 w 1130"/>
                <a:gd name="T43" fmla="*/ 146 h 820"/>
                <a:gd name="T44" fmla="*/ 0 w 1130"/>
                <a:gd name="T45" fmla="*/ 162 h 820"/>
                <a:gd name="T46" fmla="*/ 0 w 1130"/>
                <a:gd name="T47" fmla="*/ 318 h 820"/>
                <a:gd name="T48" fmla="*/ 0 w 1130"/>
                <a:gd name="T49" fmla="*/ 550 h 820"/>
                <a:gd name="T50" fmla="*/ 0 w 1130"/>
                <a:gd name="T51" fmla="*/ 655 h 820"/>
                <a:gd name="T52" fmla="*/ 3 w 1130"/>
                <a:gd name="T53" fmla="*/ 688 h 820"/>
                <a:gd name="T54" fmla="*/ 13 w 1130"/>
                <a:gd name="T55" fmla="*/ 719 h 820"/>
                <a:gd name="T56" fmla="*/ 28 w 1130"/>
                <a:gd name="T57" fmla="*/ 747 h 820"/>
                <a:gd name="T58" fmla="*/ 49 w 1130"/>
                <a:gd name="T59" fmla="*/ 772 h 820"/>
                <a:gd name="T60" fmla="*/ 73 w 1130"/>
                <a:gd name="T61" fmla="*/ 791 h 820"/>
                <a:gd name="T62" fmla="*/ 100 w 1130"/>
                <a:gd name="T63" fmla="*/ 806 h 820"/>
                <a:gd name="T64" fmla="*/ 132 w 1130"/>
                <a:gd name="T65" fmla="*/ 816 h 820"/>
                <a:gd name="T66" fmla="*/ 165 w 1130"/>
                <a:gd name="T67" fmla="*/ 820 h 820"/>
                <a:gd name="T68" fmla="*/ 167 w 1130"/>
                <a:gd name="T69" fmla="*/ 820 h 820"/>
                <a:gd name="T70" fmla="*/ 965 w 1130"/>
                <a:gd name="T71" fmla="*/ 820 h 820"/>
                <a:gd name="T72" fmla="*/ 965 w 1130"/>
                <a:gd name="T73" fmla="*/ 820 h 820"/>
                <a:gd name="T74" fmla="*/ 965 w 1130"/>
                <a:gd name="T75" fmla="*/ 820 h 820"/>
                <a:gd name="T76" fmla="*/ 998 w 1130"/>
                <a:gd name="T77" fmla="*/ 816 h 820"/>
                <a:gd name="T78" fmla="*/ 1029 w 1130"/>
                <a:gd name="T79" fmla="*/ 806 h 820"/>
                <a:gd name="T80" fmla="*/ 1057 w 1130"/>
                <a:gd name="T81" fmla="*/ 791 h 820"/>
                <a:gd name="T82" fmla="*/ 1082 w 1130"/>
                <a:gd name="T83" fmla="*/ 772 h 820"/>
                <a:gd name="T84" fmla="*/ 1103 w 1130"/>
                <a:gd name="T85" fmla="*/ 747 h 820"/>
                <a:gd name="T86" fmla="*/ 1117 w 1130"/>
                <a:gd name="T87" fmla="*/ 719 h 820"/>
                <a:gd name="T88" fmla="*/ 1127 w 1130"/>
                <a:gd name="T89" fmla="*/ 688 h 820"/>
                <a:gd name="T90" fmla="*/ 1130 w 1130"/>
                <a:gd name="T91" fmla="*/ 655 h 820"/>
                <a:gd name="T92" fmla="*/ 1130 w 1130"/>
                <a:gd name="T93" fmla="*/ 502 h 8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130" h="820">
                  <a:moveTo>
                    <a:pt x="1130" y="318"/>
                  </a:moveTo>
                  <a:lnTo>
                    <a:pt x="1130" y="164"/>
                  </a:lnTo>
                  <a:lnTo>
                    <a:pt x="1130" y="164"/>
                  </a:lnTo>
                  <a:lnTo>
                    <a:pt x="1130" y="162"/>
                  </a:lnTo>
                  <a:lnTo>
                    <a:pt x="1130" y="162"/>
                  </a:lnTo>
                  <a:lnTo>
                    <a:pt x="1128" y="146"/>
                  </a:lnTo>
                  <a:lnTo>
                    <a:pt x="1126" y="130"/>
                  </a:lnTo>
                  <a:lnTo>
                    <a:pt x="1122" y="114"/>
                  </a:lnTo>
                  <a:lnTo>
                    <a:pt x="1116" y="99"/>
                  </a:lnTo>
                  <a:lnTo>
                    <a:pt x="1109" y="85"/>
                  </a:lnTo>
                  <a:lnTo>
                    <a:pt x="1101" y="71"/>
                  </a:lnTo>
                  <a:lnTo>
                    <a:pt x="1092" y="59"/>
                  </a:lnTo>
                  <a:lnTo>
                    <a:pt x="1081" y="48"/>
                  </a:lnTo>
                  <a:lnTo>
                    <a:pt x="1070" y="37"/>
                  </a:lnTo>
                  <a:lnTo>
                    <a:pt x="1057" y="28"/>
                  </a:lnTo>
                  <a:lnTo>
                    <a:pt x="1044" y="20"/>
                  </a:lnTo>
                  <a:lnTo>
                    <a:pt x="1029" y="12"/>
                  </a:lnTo>
                  <a:lnTo>
                    <a:pt x="1014" y="7"/>
                  </a:lnTo>
                  <a:lnTo>
                    <a:pt x="998" y="4"/>
                  </a:lnTo>
                  <a:lnTo>
                    <a:pt x="982" y="1"/>
                  </a:lnTo>
                  <a:lnTo>
                    <a:pt x="965" y="0"/>
                  </a:lnTo>
                  <a:lnTo>
                    <a:pt x="965" y="0"/>
                  </a:lnTo>
                  <a:lnTo>
                    <a:pt x="965" y="0"/>
                  </a:lnTo>
                  <a:lnTo>
                    <a:pt x="965" y="0"/>
                  </a:lnTo>
                  <a:lnTo>
                    <a:pt x="167" y="0"/>
                  </a:lnTo>
                  <a:lnTo>
                    <a:pt x="167" y="0"/>
                  </a:lnTo>
                  <a:lnTo>
                    <a:pt x="167" y="0"/>
                  </a:lnTo>
                  <a:lnTo>
                    <a:pt x="165" y="0"/>
                  </a:lnTo>
                  <a:lnTo>
                    <a:pt x="165" y="0"/>
                  </a:lnTo>
                  <a:lnTo>
                    <a:pt x="148" y="1"/>
                  </a:lnTo>
                  <a:lnTo>
                    <a:pt x="132" y="4"/>
                  </a:lnTo>
                  <a:lnTo>
                    <a:pt x="116" y="7"/>
                  </a:lnTo>
                  <a:lnTo>
                    <a:pt x="102" y="12"/>
                  </a:lnTo>
                  <a:lnTo>
                    <a:pt x="87" y="20"/>
                  </a:lnTo>
                  <a:lnTo>
                    <a:pt x="73" y="28"/>
                  </a:lnTo>
                  <a:lnTo>
                    <a:pt x="61" y="37"/>
                  </a:lnTo>
                  <a:lnTo>
                    <a:pt x="49" y="48"/>
                  </a:lnTo>
                  <a:lnTo>
                    <a:pt x="39" y="59"/>
                  </a:lnTo>
                  <a:lnTo>
                    <a:pt x="29" y="71"/>
                  </a:lnTo>
                  <a:lnTo>
                    <a:pt x="21" y="85"/>
                  </a:lnTo>
                  <a:lnTo>
                    <a:pt x="14" y="99"/>
                  </a:lnTo>
                  <a:lnTo>
                    <a:pt x="8" y="114"/>
                  </a:lnTo>
                  <a:lnTo>
                    <a:pt x="5" y="130"/>
                  </a:lnTo>
                  <a:lnTo>
                    <a:pt x="1" y="146"/>
                  </a:lnTo>
                  <a:lnTo>
                    <a:pt x="0" y="162"/>
                  </a:lnTo>
                  <a:lnTo>
                    <a:pt x="0" y="162"/>
                  </a:lnTo>
                  <a:lnTo>
                    <a:pt x="0" y="164"/>
                  </a:lnTo>
                  <a:lnTo>
                    <a:pt x="0" y="318"/>
                  </a:lnTo>
                  <a:lnTo>
                    <a:pt x="0" y="502"/>
                  </a:lnTo>
                  <a:lnTo>
                    <a:pt x="0" y="550"/>
                  </a:lnTo>
                  <a:lnTo>
                    <a:pt x="0" y="655"/>
                  </a:lnTo>
                  <a:lnTo>
                    <a:pt x="0" y="655"/>
                  </a:lnTo>
                  <a:lnTo>
                    <a:pt x="1" y="671"/>
                  </a:lnTo>
                  <a:lnTo>
                    <a:pt x="3" y="688"/>
                  </a:lnTo>
                  <a:lnTo>
                    <a:pt x="7" y="704"/>
                  </a:lnTo>
                  <a:lnTo>
                    <a:pt x="13" y="719"/>
                  </a:lnTo>
                  <a:lnTo>
                    <a:pt x="19" y="734"/>
                  </a:lnTo>
                  <a:lnTo>
                    <a:pt x="28" y="747"/>
                  </a:lnTo>
                  <a:lnTo>
                    <a:pt x="38" y="759"/>
                  </a:lnTo>
                  <a:lnTo>
                    <a:pt x="49" y="772"/>
                  </a:lnTo>
                  <a:lnTo>
                    <a:pt x="60" y="781"/>
                  </a:lnTo>
                  <a:lnTo>
                    <a:pt x="73" y="791"/>
                  </a:lnTo>
                  <a:lnTo>
                    <a:pt x="87" y="800"/>
                  </a:lnTo>
                  <a:lnTo>
                    <a:pt x="100" y="806"/>
                  </a:lnTo>
                  <a:lnTo>
                    <a:pt x="116" y="812"/>
                  </a:lnTo>
                  <a:lnTo>
                    <a:pt x="132" y="816"/>
                  </a:lnTo>
                  <a:lnTo>
                    <a:pt x="148" y="818"/>
                  </a:lnTo>
                  <a:lnTo>
                    <a:pt x="165" y="820"/>
                  </a:lnTo>
                  <a:lnTo>
                    <a:pt x="165" y="820"/>
                  </a:lnTo>
                  <a:lnTo>
                    <a:pt x="167" y="820"/>
                  </a:lnTo>
                  <a:lnTo>
                    <a:pt x="167" y="820"/>
                  </a:lnTo>
                  <a:lnTo>
                    <a:pt x="965" y="820"/>
                  </a:lnTo>
                  <a:lnTo>
                    <a:pt x="965" y="820"/>
                  </a:lnTo>
                  <a:lnTo>
                    <a:pt x="965" y="820"/>
                  </a:lnTo>
                  <a:lnTo>
                    <a:pt x="965" y="820"/>
                  </a:lnTo>
                  <a:lnTo>
                    <a:pt x="965" y="820"/>
                  </a:lnTo>
                  <a:lnTo>
                    <a:pt x="982" y="818"/>
                  </a:lnTo>
                  <a:lnTo>
                    <a:pt x="998" y="816"/>
                  </a:lnTo>
                  <a:lnTo>
                    <a:pt x="1014" y="812"/>
                  </a:lnTo>
                  <a:lnTo>
                    <a:pt x="1029" y="806"/>
                  </a:lnTo>
                  <a:lnTo>
                    <a:pt x="1044" y="800"/>
                  </a:lnTo>
                  <a:lnTo>
                    <a:pt x="1057" y="791"/>
                  </a:lnTo>
                  <a:lnTo>
                    <a:pt x="1071" y="781"/>
                  </a:lnTo>
                  <a:lnTo>
                    <a:pt x="1082" y="772"/>
                  </a:lnTo>
                  <a:lnTo>
                    <a:pt x="1093" y="759"/>
                  </a:lnTo>
                  <a:lnTo>
                    <a:pt x="1103" y="747"/>
                  </a:lnTo>
                  <a:lnTo>
                    <a:pt x="1110" y="734"/>
                  </a:lnTo>
                  <a:lnTo>
                    <a:pt x="1117" y="719"/>
                  </a:lnTo>
                  <a:lnTo>
                    <a:pt x="1122" y="704"/>
                  </a:lnTo>
                  <a:lnTo>
                    <a:pt x="1127" y="688"/>
                  </a:lnTo>
                  <a:lnTo>
                    <a:pt x="1130" y="671"/>
                  </a:lnTo>
                  <a:lnTo>
                    <a:pt x="1130" y="655"/>
                  </a:lnTo>
                  <a:lnTo>
                    <a:pt x="1130" y="550"/>
                  </a:lnTo>
                  <a:lnTo>
                    <a:pt x="1130" y="502"/>
                  </a:lnTo>
                  <a:lnTo>
                    <a:pt x="1130" y="318"/>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grpSp>
      <p:sp>
        <p:nvSpPr>
          <p:cNvPr id="91" name="Rectangle 90">
            <a:extLst>
              <a:ext uri="{FF2B5EF4-FFF2-40B4-BE49-F238E27FC236}">
                <a16:creationId xmlns:a16="http://schemas.microsoft.com/office/drawing/2014/main" id="{14A609F3-47A5-4B1B-BE08-764572008532}"/>
              </a:ext>
            </a:extLst>
          </p:cNvPr>
          <p:cNvSpPr/>
          <p:nvPr/>
        </p:nvSpPr>
        <p:spPr bwMode="gray">
          <a:xfrm>
            <a:off x="8724777" y="3238231"/>
            <a:ext cx="1778000" cy="482600"/>
          </a:xfrm>
          <a:prstGeom prst="rect">
            <a:avLst/>
          </a:prstGeom>
          <a:solidFill>
            <a:srgbClr val="012169">
              <a:lumMod val="75000"/>
            </a:srgbClr>
          </a:solidFill>
          <a:ln w="19050" algn="ctr">
            <a:no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0" cap="none" spc="0" normalizeH="0" baseline="0" noProof="0" dirty="0">
                <a:ln>
                  <a:noFill/>
                </a:ln>
                <a:solidFill>
                  <a:srgbClr val="FFFFFF"/>
                </a:solidFill>
                <a:effectLst/>
                <a:uLnTx/>
                <a:uFillTx/>
              </a:rPr>
              <a:t>Monthly Project progress review meeting</a:t>
            </a:r>
          </a:p>
        </p:txBody>
      </p:sp>
      <p:sp>
        <p:nvSpPr>
          <p:cNvPr id="92" name="Rectangle 91">
            <a:extLst>
              <a:ext uri="{FF2B5EF4-FFF2-40B4-BE49-F238E27FC236}">
                <a16:creationId xmlns:a16="http://schemas.microsoft.com/office/drawing/2014/main" id="{0F190251-6DDE-490D-82A7-AC983A87DDFA}"/>
              </a:ext>
            </a:extLst>
          </p:cNvPr>
          <p:cNvSpPr/>
          <p:nvPr/>
        </p:nvSpPr>
        <p:spPr bwMode="gray">
          <a:xfrm>
            <a:off x="7543131" y="4939326"/>
            <a:ext cx="3928371" cy="632134"/>
          </a:xfrm>
          <a:prstGeom prst="rect">
            <a:avLst/>
          </a:prstGeom>
          <a:solidFill>
            <a:srgbClr val="86BC25">
              <a:lumMod val="20000"/>
              <a:lumOff val="80000"/>
            </a:srgbClr>
          </a:solidFill>
          <a:ln w="19050" algn="ctr">
            <a:no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0" cap="none" spc="0" normalizeH="0" baseline="0" noProof="0" dirty="0" err="1">
              <a:ln>
                <a:noFill/>
              </a:ln>
              <a:solidFill>
                <a:srgbClr val="FFFFFF"/>
              </a:solidFill>
              <a:effectLst/>
              <a:uLnTx/>
              <a:uFillTx/>
            </a:endParaRPr>
          </a:p>
        </p:txBody>
      </p:sp>
      <p:sp>
        <p:nvSpPr>
          <p:cNvPr id="101" name="TextBox 100">
            <a:extLst>
              <a:ext uri="{FF2B5EF4-FFF2-40B4-BE49-F238E27FC236}">
                <a16:creationId xmlns:a16="http://schemas.microsoft.com/office/drawing/2014/main" id="{9EC3DBD2-7787-454F-A1DD-F45D4FBA3976}"/>
              </a:ext>
            </a:extLst>
          </p:cNvPr>
          <p:cNvSpPr txBox="1"/>
          <p:nvPr/>
        </p:nvSpPr>
        <p:spPr>
          <a:xfrm>
            <a:off x="7652017" y="5138893"/>
            <a:ext cx="4175760" cy="276999"/>
          </a:xfrm>
          <a:prstGeom prst="rect">
            <a:avLst/>
          </a:prstGeom>
          <a:noFill/>
        </p:spPr>
        <p:txBody>
          <a:bodyPr wrap="square" lIns="0" tIns="0" rIns="0" bIns="0" rtlCol="0">
            <a:spAutoFit/>
          </a:bodyPr>
          <a:lstStyle/>
          <a:p>
            <a:pPr algn="ctr" defTabSz="1219170">
              <a:spcAft>
                <a:spcPts val="1333"/>
              </a:spcAft>
              <a:buSzPct val="100000"/>
            </a:pPr>
            <a:r>
              <a:rPr lang="en-US" b="1" dirty="0">
                <a:solidFill>
                  <a:srgbClr val="000000"/>
                </a:solidFill>
              </a:rPr>
              <a:t>REC counterpart team</a:t>
            </a:r>
          </a:p>
        </p:txBody>
      </p:sp>
      <p:cxnSp>
        <p:nvCxnSpPr>
          <p:cNvPr id="104" name="Straight Arrow Connector 103">
            <a:extLst>
              <a:ext uri="{FF2B5EF4-FFF2-40B4-BE49-F238E27FC236}">
                <a16:creationId xmlns:a16="http://schemas.microsoft.com/office/drawing/2014/main" id="{1D59C4E5-1F0F-4B48-8FDF-1D1C189AD0C8}"/>
              </a:ext>
            </a:extLst>
          </p:cNvPr>
          <p:cNvCxnSpPr>
            <a:cxnSpLocks/>
          </p:cNvCxnSpPr>
          <p:nvPr/>
        </p:nvCxnSpPr>
        <p:spPr>
          <a:xfrm>
            <a:off x="9558228" y="4589742"/>
            <a:ext cx="0" cy="380661"/>
          </a:xfrm>
          <a:prstGeom prst="straightConnector1">
            <a:avLst/>
          </a:prstGeom>
          <a:noFill/>
          <a:ln w="19050" cap="flat" cmpd="sng" algn="ctr">
            <a:solidFill>
              <a:srgbClr val="62B5E5"/>
            </a:solidFill>
            <a:prstDash val="solid"/>
            <a:tailEnd type="triangle"/>
          </a:ln>
          <a:effectLst/>
        </p:spPr>
      </p:cxnSp>
      <p:sp>
        <p:nvSpPr>
          <p:cNvPr id="105" name="TextBox 104">
            <a:extLst>
              <a:ext uri="{FF2B5EF4-FFF2-40B4-BE49-F238E27FC236}">
                <a16:creationId xmlns:a16="http://schemas.microsoft.com/office/drawing/2014/main" id="{B88D62A7-D658-4940-A289-DED0B2EFCFE9}"/>
              </a:ext>
            </a:extLst>
          </p:cNvPr>
          <p:cNvSpPr txBox="1"/>
          <p:nvPr/>
        </p:nvSpPr>
        <p:spPr>
          <a:xfrm>
            <a:off x="8708065" y="1832316"/>
            <a:ext cx="1797267" cy="184666"/>
          </a:xfrm>
          <a:prstGeom prst="rect">
            <a:avLst/>
          </a:prstGeom>
          <a:noFill/>
        </p:spPr>
        <p:txBody>
          <a:bodyPr wrap="square" lIns="0" tIns="0" rIns="0" bIns="0" rtlCol="0">
            <a:spAutoFit/>
          </a:bodyPr>
          <a:lstStyle/>
          <a:p>
            <a:pPr algn="ctr" defTabSz="1219170">
              <a:spcAft>
                <a:spcPts val="1333"/>
              </a:spcAft>
              <a:buSzPct val="100000"/>
            </a:pPr>
            <a:r>
              <a:rPr lang="en-US" sz="1200" dirty="0">
                <a:solidFill>
                  <a:srgbClr val="000000"/>
                </a:solidFill>
              </a:rPr>
              <a:t>Engagement Partner</a:t>
            </a:r>
          </a:p>
        </p:txBody>
      </p:sp>
      <p:sp>
        <p:nvSpPr>
          <p:cNvPr id="106" name="TextBox 105">
            <a:extLst>
              <a:ext uri="{FF2B5EF4-FFF2-40B4-BE49-F238E27FC236}">
                <a16:creationId xmlns:a16="http://schemas.microsoft.com/office/drawing/2014/main" id="{0A7ED002-D057-42A4-A439-C40ADB688D82}"/>
              </a:ext>
            </a:extLst>
          </p:cNvPr>
          <p:cNvSpPr txBox="1"/>
          <p:nvPr/>
        </p:nvSpPr>
        <p:spPr>
          <a:xfrm>
            <a:off x="7691079" y="2705803"/>
            <a:ext cx="1797267" cy="184666"/>
          </a:xfrm>
          <a:prstGeom prst="rect">
            <a:avLst/>
          </a:prstGeom>
          <a:noFill/>
        </p:spPr>
        <p:txBody>
          <a:bodyPr wrap="square" lIns="0" tIns="0" rIns="0" bIns="0" rtlCol="0">
            <a:spAutoFit/>
          </a:bodyPr>
          <a:lstStyle/>
          <a:p>
            <a:pPr algn="ctr" defTabSz="1219170">
              <a:spcAft>
                <a:spcPts val="1333"/>
              </a:spcAft>
              <a:buSzPct val="100000"/>
            </a:pPr>
            <a:r>
              <a:rPr lang="en-US" sz="1200" dirty="0">
                <a:solidFill>
                  <a:srgbClr val="000000"/>
                </a:solidFill>
              </a:rPr>
              <a:t>Subject Matter Experts</a:t>
            </a:r>
          </a:p>
        </p:txBody>
      </p:sp>
      <p:sp>
        <p:nvSpPr>
          <p:cNvPr id="107" name="TextBox 106">
            <a:extLst>
              <a:ext uri="{FF2B5EF4-FFF2-40B4-BE49-F238E27FC236}">
                <a16:creationId xmlns:a16="http://schemas.microsoft.com/office/drawing/2014/main" id="{3F2C41D7-7E1B-4EE3-8780-2F81F1BBE84A}"/>
              </a:ext>
            </a:extLst>
          </p:cNvPr>
          <p:cNvSpPr txBox="1"/>
          <p:nvPr/>
        </p:nvSpPr>
        <p:spPr>
          <a:xfrm>
            <a:off x="10089166" y="2700486"/>
            <a:ext cx="1382336" cy="184666"/>
          </a:xfrm>
          <a:prstGeom prst="rect">
            <a:avLst/>
          </a:prstGeom>
          <a:noFill/>
        </p:spPr>
        <p:txBody>
          <a:bodyPr wrap="square" lIns="0" tIns="0" rIns="0" bIns="0" rtlCol="0">
            <a:spAutoFit/>
          </a:bodyPr>
          <a:lstStyle/>
          <a:p>
            <a:pPr algn="ctr" defTabSz="1219170">
              <a:spcAft>
                <a:spcPts val="1333"/>
              </a:spcAft>
              <a:buSzPct val="100000"/>
            </a:pPr>
            <a:r>
              <a:rPr lang="en-US" sz="1200" dirty="0">
                <a:solidFill>
                  <a:srgbClr val="000000"/>
                </a:solidFill>
              </a:rPr>
              <a:t>Think Tank</a:t>
            </a:r>
          </a:p>
        </p:txBody>
      </p:sp>
      <p:sp>
        <p:nvSpPr>
          <p:cNvPr id="108" name="TextBox 107">
            <a:extLst>
              <a:ext uri="{FF2B5EF4-FFF2-40B4-BE49-F238E27FC236}">
                <a16:creationId xmlns:a16="http://schemas.microsoft.com/office/drawing/2014/main" id="{8BB30AD3-8333-4C76-8BE8-68CB17E65924}"/>
              </a:ext>
            </a:extLst>
          </p:cNvPr>
          <p:cNvSpPr txBox="1"/>
          <p:nvPr/>
        </p:nvSpPr>
        <p:spPr>
          <a:xfrm>
            <a:off x="8469114" y="3741116"/>
            <a:ext cx="2142184" cy="184666"/>
          </a:xfrm>
          <a:prstGeom prst="rect">
            <a:avLst/>
          </a:prstGeom>
          <a:noFill/>
        </p:spPr>
        <p:txBody>
          <a:bodyPr wrap="square" lIns="0" tIns="0" rIns="0" bIns="0" rtlCol="0">
            <a:spAutoFit/>
          </a:bodyPr>
          <a:lstStyle/>
          <a:p>
            <a:pPr algn="ctr" defTabSz="1219170">
              <a:spcAft>
                <a:spcPts val="1333"/>
              </a:spcAft>
              <a:buSzPct val="100000"/>
            </a:pPr>
            <a:r>
              <a:rPr lang="en-US" sz="1200" dirty="0">
                <a:solidFill>
                  <a:srgbClr val="000000"/>
                </a:solidFill>
              </a:rPr>
              <a:t>Led by Engagement Manager</a:t>
            </a:r>
          </a:p>
        </p:txBody>
      </p:sp>
      <p:sp>
        <p:nvSpPr>
          <p:cNvPr id="109" name="TextBox 108">
            <a:extLst>
              <a:ext uri="{FF2B5EF4-FFF2-40B4-BE49-F238E27FC236}">
                <a16:creationId xmlns:a16="http://schemas.microsoft.com/office/drawing/2014/main" id="{CA11A23B-857E-41F3-AB5B-225ECDBE47C9}"/>
              </a:ext>
            </a:extLst>
          </p:cNvPr>
          <p:cNvSpPr txBox="1"/>
          <p:nvPr/>
        </p:nvSpPr>
        <p:spPr>
          <a:xfrm rot="16200000">
            <a:off x="7328613" y="3692556"/>
            <a:ext cx="1528646" cy="369332"/>
          </a:xfrm>
          <a:prstGeom prst="rect">
            <a:avLst/>
          </a:prstGeom>
          <a:noFill/>
        </p:spPr>
        <p:txBody>
          <a:bodyPr wrap="square" lIns="0" tIns="0" rIns="0" bIns="0" rtlCol="0">
            <a:spAutoFit/>
          </a:bodyPr>
          <a:lstStyle/>
          <a:p>
            <a:pPr algn="ctr" defTabSz="1219170">
              <a:spcAft>
                <a:spcPts val="1333"/>
              </a:spcAft>
              <a:buSzPct val="100000"/>
            </a:pPr>
            <a:r>
              <a:rPr lang="en-US" sz="1200" dirty="0">
                <a:solidFill>
                  <a:srgbClr val="000000"/>
                </a:solidFill>
              </a:rPr>
              <a:t>Support to REC in all modules</a:t>
            </a:r>
          </a:p>
        </p:txBody>
      </p:sp>
      <p:sp>
        <p:nvSpPr>
          <p:cNvPr id="110" name="TextBox 109">
            <a:extLst>
              <a:ext uri="{FF2B5EF4-FFF2-40B4-BE49-F238E27FC236}">
                <a16:creationId xmlns:a16="http://schemas.microsoft.com/office/drawing/2014/main" id="{1EC69478-7376-4D1D-BE52-F8A38475CE6C}"/>
              </a:ext>
            </a:extLst>
          </p:cNvPr>
          <p:cNvSpPr txBox="1"/>
          <p:nvPr/>
        </p:nvSpPr>
        <p:spPr>
          <a:xfrm rot="16200000">
            <a:off x="10475034" y="3741130"/>
            <a:ext cx="1626307" cy="369332"/>
          </a:xfrm>
          <a:prstGeom prst="rect">
            <a:avLst/>
          </a:prstGeom>
          <a:noFill/>
        </p:spPr>
        <p:txBody>
          <a:bodyPr wrap="square" lIns="0" tIns="0" rIns="0" bIns="0" rtlCol="0">
            <a:spAutoFit/>
          </a:bodyPr>
          <a:lstStyle/>
          <a:p>
            <a:pPr algn="ctr" defTabSz="1219170">
              <a:spcAft>
                <a:spcPts val="1333"/>
              </a:spcAft>
              <a:buSzPct val="100000"/>
            </a:pPr>
            <a:r>
              <a:rPr lang="en-US" sz="1200" dirty="0">
                <a:solidFill>
                  <a:srgbClr val="000000"/>
                </a:solidFill>
              </a:rPr>
              <a:t>Support to REC on key strategic areas</a:t>
            </a:r>
          </a:p>
        </p:txBody>
      </p:sp>
      <p:sp>
        <p:nvSpPr>
          <p:cNvPr id="111" name="TextBox 110">
            <a:extLst>
              <a:ext uri="{FF2B5EF4-FFF2-40B4-BE49-F238E27FC236}">
                <a16:creationId xmlns:a16="http://schemas.microsoft.com/office/drawing/2014/main" id="{A1BA1467-A020-407C-8AA0-20150F9DE473}"/>
              </a:ext>
            </a:extLst>
          </p:cNvPr>
          <p:cNvSpPr txBox="1"/>
          <p:nvPr/>
        </p:nvSpPr>
        <p:spPr>
          <a:xfrm>
            <a:off x="9706562" y="4600252"/>
            <a:ext cx="1307401" cy="369332"/>
          </a:xfrm>
          <a:prstGeom prst="rect">
            <a:avLst/>
          </a:prstGeom>
          <a:noFill/>
        </p:spPr>
        <p:txBody>
          <a:bodyPr wrap="square" lIns="0" tIns="0" rIns="0" bIns="0" rtlCol="0">
            <a:spAutoFit/>
          </a:bodyPr>
          <a:lstStyle/>
          <a:p>
            <a:pPr algn="ctr" defTabSz="1219170">
              <a:spcAft>
                <a:spcPts val="1333"/>
              </a:spcAft>
              <a:buSzPct val="100000"/>
            </a:pPr>
            <a:r>
              <a:rPr lang="en-US" sz="1200" dirty="0">
                <a:solidFill>
                  <a:srgbClr val="000000"/>
                </a:solidFill>
              </a:rPr>
              <a:t>Continuous field support</a:t>
            </a:r>
          </a:p>
        </p:txBody>
      </p:sp>
      <p:sp>
        <p:nvSpPr>
          <p:cNvPr id="112" name="Rectangle 111">
            <a:extLst>
              <a:ext uri="{FF2B5EF4-FFF2-40B4-BE49-F238E27FC236}">
                <a16:creationId xmlns:a16="http://schemas.microsoft.com/office/drawing/2014/main" id="{5D5CE67D-551A-454C-A499-308DE3E4A780}"/>
              </a:ext>
            </a:extLst>
          </p:cNvPr>
          <p:cNvSpPr/>
          <p:nvPr/>
        </p:nvSpPr>
        <p:spPr bwMode="gray">
          <a:xfrm rot="16200000">
            <a:off x="5365442" y="3455490"/>
            <a:ext cx="3821552" cy="406031"/>
          </a:xfrm>
          <a:prstGeom prst="rect">
            <a:avLst/>
          </a:prstGeom>
          <a:solidFill>
            <a:srgbClr val="FFFFFF">
              <a:lumMod val="85000"/>
            </a:srgbClr>
          </a:solidFill>
          <a:ln w="19050" algn="ctr">
            <a:no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0" cap="none" spc="0" normalizeH="0" baseline="0" noProof="0" dirty="0">
                <a:ln>
                  <a:noFill/>
                </a:ln>
                <a:solidFill>
                  <a:srgbClr val="000000"/>
                </a:solidFill>
                <a:effectLst/>
                <a:uLnTx/>
                <a:uFillTx/>
              </a:rPr>
              <a:t>Project Governance and Monitoring</a:t>
            </a:r>
          </a:p>
        </p:txBody>
      </p:sp>
      <p:sp>
        <p:nvSpPr>
          <p:cNvPr id="113" name="Rectangle 112">
            <a:extLst>
              <a:ext uri="{FF2B5EF4-FFF2-40B4-BE49-F238E27FC236}">
                <a16:creationId xmlns:a16="http://schemas.microsoft.com/office/drawing/2014/main" id="{309B75DA-8DC3-46CE-BBB7-51963A47EEB7}"/>
              </a:ext>
            </a:extLst>
          </p:cNvPr>
          <p:cNvSpPr/>
          <p:nvPr/>
        </p:nvSpPr>
        <p:spPr bwMode="gray">
          <a:xfrm rot="16200000">
            <a:off x="9853416" y="3441396"/>
            <a:ext cx="3803832" cy="451940"/>
          </a:xfrm>
          <a:prstGeom prst="rect">
            <a:avLst/>
          </a:prstGeom>
          <a:solidFill>
            <a:srgbClr val="FFFFFF">
              <a:lumMod val="85000"/>
            </a:srgbClr>
          </a:solidFill>
          <a:ln w="19050" algn="ctr">
            <a:no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0" cap="none" spc="0" normalizeH="0" baseline="0" noProof="0" dirty="0">
                <a:ln>
                  <a:noFill/>
                </a:ln>
                <a:solidFill>
                  <a:srgbClr val="000000"/>
                </a:solidFill>
                <a:effectLst/>
                <a:uLnTx/>
                <a:uFillTx/>
              </a:rPr>
              <a:t>Project Execution &amp; Support</a:t>
            </a:r>
          </a:p>
        </p:txBody>
      </p:sp>
      <p:grpSp>
        <p:nvGrpSpPr>
          <p:cNvPr id="131" name="Group 130">
            <a:extLst>
              <a:ext uri="{FF2B5EF4-FFF2-40B4-BE49-F238E27FC236}">
                <a16:creationId xmlns:a16="http://schemas.microsoft.com/office/drawing/2014/main" id="{92E3E55F-4D64-48DB-9F52-53E3535A4F4C}"/>
              </a:ext>
            </a:extLst>
          </p:cNvPr>
          <p:cNvGrpSpPr/>
          <p:nvPr/>
        </p:nvGrpSpPr>
        <p:grpSpPr>
          <a:xfrm>
            <a:off x="7902300" y="2083766"/>
            <a:ext cx="620659" cy="523700"/>
            <a:chOff x="2925363" y="2996024"/>
            <a:chExt cx="620659" cy="523700"/>
          </a:xfrm>
          <a:solidFill>
            <a:srgbClr val="012169">
              <a:lumMod val="75000"/>
            </a:srgbClr>
          </a:solidFill>
        </p:grpSpPr>
        <p:sp>
          <p:nvSpPr>
            <p:cNvPr id="132" name="Freeform 93">
              <a:extLst>
                <a:ext uri="{FF2B5EF4-FFF2-40B4-BE49-F238E27FC236}">
                  <a16:creationId xmlns:a16="http://schemas.microsoft.com/office/drawing/2014/main" id="{0785D931-ADB8-4229-B83D-AB29B34A8E89}"/>
                </a:ext>
              </a:extLst>
            </p:cNvPr>
            <p:cNvSpPr>
              <a:spLocks/>
            </p:cNvSpPr>
            <p:nvPr/>
          </p:nvSpPr>
          <p:spPr bwMode="auto">
            <a:xfrm>
              <a:off x="3096735" y="3395705"/>
              <a:ext cx="277916" cy="94142"/>
            </a:xfrm>
            <a:custGeom>
              <a:avLst/>
              <a:gdLst>
                <a:gd name="T0" fmla="*/ 362 w 493"/>
                <a:gd name="T1" fmla="*/ 0 h 167"/>
                <a:gd name="T2" fmla="*/ 362 w 493"/>
                <a:gd name="T3" fmla="*/ 15 h 167"/>
                <a:gd name="T4" fmla="*/ 362 w 493"/>
                <a:gd name="T5" fmla="*/ 15 h 167"/>
                <a:gd name="T6" fmla="*/ 393 w 493"/>
                <a:gd name="T7" fmla="*/ 20 h 167"/>
                <a:gd name="T8" fmla="*/ 419 w 493"/>
                <a:gd name="T9" fmla="*/ 31 h 167"/>
                <a:gd name="T10" fmla="*/ 440 w 493"/>
                <a:gd name="T11" fmla="*/ 47 h 167"/>
                <a:gd name="T12" fmla="*/ 446 w 493"/>
                <a:gd name="T13" fmla="*/ 57 h 167"/>
                <a:gd name="T14" fmla="*/ 446 w 493"/>
                <a:gd name="T15" fmla="*/ 57 h 167"/>
                <a:gd name="T16" fmla="*/ 440 w 493"/>
                <a:gd name="T17" fmla="*/ 68 h 167"/>
                <a:gd name="T18" fmla="*/ 430 w 493"/>
                <a:gd name="T19" fmla="*/ 78 h 167"/>
                <a:gd name="T20" fmla="*/ 409 w 493"/>
                <a:gd name="T21" fmla="*/ 89 h 167"/>
                <a:gd name="T22" fmla="*/ 388 w 493"/>
                <a:gd name="T23" fmla="*/ 99 h 167"/>
                <a:gd name="T24" fmla="*/ 325 w 493"/>
                <a:gd name="T25" fmla="*/ 110 h 167"/>
                <a:gd name="T26" fmla="*/ 246 w 493"/>
                <a:gd name="T27" fmla="*/ 115 h 167"/>
                <a:gd name="T28" fmla="*/ 246 w 493"/>
                <a:gd name="T29" fmla="*/ 115 h 167"/>
                <a:gd name="T30" fmla="*/ 168 w 493"/>
                <a:gd name="T31" fmla="*/ 110 h 167"/>
                <a:gd name="T32" fmla="*/ 105 w 493"/>
                <a:gd name="T33" fmla="*/ 99 h 167"/>
                <a:gd name="T34" fmla="*/ 78 w 493"/>
                <a:gd name="T35" fmla="*/ 89 h 167"/>
                <a:gd name="T36" fmla="*/ 63 w 493"/>
                <a:gd name="T37" fmla="*/ 78 h 167"/>
                <a:gd name="T38" fmla="*/ 52 w 493"/>
                <a:gd name="T39" fmla="*/ 68 h 167"/>
                <a:gd name="T40" fmla="*/ 47 w 493"/>
                <a:gd name="T41" fmla="*/ 57 h 167"/>
                <a:gd name="T42" fmla="*/ 47 w 493"/>
                <a:gd name="T43" fmla="*/ 57 h 167"/>
                <a:gd name="T44" fmla="*/ 52 w 493"/>
                <a:gd name="T45" fmla="*/ 47 h 167"/>
                <a:gd name="T46" fmla="*/ 68 w 493"/>
                <a:gd name="T47" fmla="*/ 31 h 167"/>
                <a:gd name="T48" fmla="*/ 94 w 493"/>
                <a:gd name="T49" fmla="*/ 20 h 167"/>
                <a:gd name="T50" fmla="*/ 131 w 493"/>
                <a:gd name="T51" fmla="*/ 15 h 167"/>
                <a:gd name="T52" fmla="*/ 131 w 493"/>
                <a:gd name="T53" fmla="*/ 0 h 167"/>
                <a:gd name="T54" fmla="*/ 131 w 493"/>
                <a:gd name="T55" fmla="*/ 0 h 167"/>
                <a:gd name="T56" fmla="*/ 78 w 493"/>
                <a:gd name="T57" fmla="*/ 15 h 167"/>
                <a:gd name="T58" fmla="*/ 36 w 493"/>
                <a:gd name="T59" fmla="*/ 31 h 167"/>
                <a:gd name="T60" fmla="*/ 10 w 493"/>
                <a:gd name="T61" fmla="*/ 52 h 167"/>
                <a:gd name="T62" fmla="*/ 5 w 493"/>
                <a:gd name="T63" fmla="*/ 68 h 167"/>
                <a:gd name="T64" fmla="*/ 0 w 493"/>
                <a:gd name="T65" fmla="*/ 78 h 167"/>
                <a:gd name="T66" fmla="*/ 0 w 493"/>
                <a:gd name="T67" fmla="*/ 78 h 167"/>
                <a:gd name="T68" fmla="*/ 5 w 493"/>
                <a:gd name="T69" fmla="*/ 94 h 167"/>
                <a:gd name="T70" fmla="*/ 21 w 493"/>
                <a:gd name="T71" fmla="*/ 110 h 167"/>
                <a:gd name="T72" fmla="*/ 42 w 493"/>
                <a:gd name="T73" fmla="*/ 125 h 167"/>
                <a:gd name="T74" fmla="*/ 73 w 493"/>
                <a:gd name="T75" fmla="*/ 141 h 167"/>
                <a:gd name="T76" fmla="*/ 110 w 493"/>
                <a:gd name="T77" fmla="*/ 152 h 167"/>
                <a:gd name="T78" fmla="*/ 152 w 493"/>
                <a:gd name="T79" fmla="*/ 157 h 167"/>
                <a:gd name="T80" fmla="*/ 194 w 493"/>
                <a:gd name="T81" fmla="*/ 162 h 167"/>
                <a:gd name="T82" fmla="*/ 246 w 493"/>
                <a:gd name="T83" fmla="*/ 167 h 167"/>
                <a:gd name="T84" fmla="*/ 246 w 493"/>
                <a:gd name="T85" fmla="*/ 167 h 167"/>
                <a:gd name="T86" fmla="*/ 293 w 493"/>
                <a:gd name="T87" fmla="*/ 162 h 167"/>
                <a:gd name="T88" fmla="*/ 341 w 493"/>
                <a:gd name="T89" fmla="*/ 157 h 167"/>
                <a:gd name="T90" fmla="*/ 383 w 493"/>
                <a:gd name="T91" fmla="*/ 152 h 167"/>
                <a:gd name="T92" fmla="*/ 419 w 493"/>
                <a:gd name="T93" fmla="*/ 141 h 167"/>
                <a:gd name="T94" fmla="*/ 451 w 493"/>
                <a:gd name="T95" fmla="*/ 125 h 167"/>
                <a:gd name="T96" fmla="*/ 472 w 493"/>
                <a:gd name="T97" fmla="*/ 110 h 167"/>
                <a:gd name="T98" fmla="*/ 488 w 493"/>
                <a:gd name="T99" fmla="*/ 94 h 167"/>
                <a:gd name="T100" fmla="*/ 493 w 493"/>
                <a:gd name="T101" fmla="*/ 78 h 167"/>
                <a:gd name="T102" fmla="*/ 493 w 493"/>
                <a:gd name="T103" fmla="*/ 78 h 167"/>
                <a:gd name="T104" fmla="*/ 488 w 493"/>
                <a:gd name="T105" fmla="*/ 68 h 167"/>
                <a:gd name="T106" fmla="*/ 482 w 493"/>
                <a:gd name="T107" fmla="*/ 52 h 167"/>
                <a:gd name="T108" fmla="*/ 456 w 493"/>
                <a:gd name="T109" fmla="*/ 31 h 167"/>
                <a:gd name="T110" fmla="*/ 414 w 493"/>
                <a:gd name="T111" fmla="*/ 15 h 167"/>
                <a:gd name="T112" fmla="*/ 362 w 493"/>
                <a:gd name="T113" fmla="*/ 0 h 167"/>
                <a:gd name="T114" fmla="*/ 362 w 493"/>
                <a:gd name="T115"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93" h="167">
                  <a:moveTo>
                    <a:pt x="362" y="0"/>
                  </a:moveTo>
                  <a:lnTo>
                    <a:pt x="362" y="15"/>
                  </a:lnTo>
                  <a:lnTo>
                    <a:pt x="362" y="15"/>
                  </a:lnTo>
                  <a:lnTo>
                    <a:pt x="393" y="20"/>
                  </a:lnTo>
                  <a:lnTo>
                    <a:pt x="419" y="31"/>
                  </a:lnTo>
                  <a:lnTo>
                    <a:pt x="440" y="47"/>
                  </a:lnTo>
                  <a:lnTo>
                    <a:pt x="446" y="57"/>
                  </a:lnTo>
                  <a:lnTo>
                    <a:pt x="446" y="57"/>
                  </a:lnTo>
                  <a:lnTo>
                    <a:pt x="440" y="68"/>
                  </a:lnTo>
                  <a:lnTo>
                    <a:pt x="430" y="78"/>
                  </a:lnTo>
                  <a:lnTo>
                    <a:pt x="409" y="89"/>
                  </a:lnTo>
                  <a:lnTo>
                    <a:pt x="388" y="99"/>
                  </a:lnTo>
                  <a:lnTo>
                    <a:pt x="325" y="110"/>
                  </a:lnTo>
                  <a:lnTo>
                    <a:pt x="246" y="115"/>
                  </a:lnTo>
                  <a:lnTo>
                    <a:pt x="246" y="115"/>
                  </a:lnTo>
                  <a:lnTo>
                    <a:pt x="168" y="110"/>
                  </a:lnTo>
                  <a:lnTo>
                    <a:pt x="105" y="99"/>
                  </a:lnTo>
                  <a:lnTo>
                    <a:pt x="78" y="89"/>
                  </a:lnTo>
                  <a:lnTo>
                    <a:pt x="63" y="78"/>
                  </a:lnTo>
                  <a:lnTo>
                    <a:pt x="52" y="68"/>
                  </a:lnTo>
                  <a:lnTo>
                    <a:pt x="47" y="57"/>
                  </a:lnTo>
                  <a:lnTo>
                    <a:pt x="47" y="57"/>
                  </a:lnTo>
                  <a:lnTo>
                    <a:pt x="52" y="47"/>
                  </a:lnTo>
                  <a:lnTo>
                    <a:pt x="68" y="31"/>
                  </a:lnTo>
                  <a:lnTo>
                    <a:pt x="94" y="20"/>
                  </a:lnTo>
                  <a:lnTo>
                    <a:pt x="131" y="15"/>
                  </a:lnTo>
                  <a:lnTo>
                    <a:pt x="131" y="0"/>
                  </a:lnTo>
                  <a:lnTo>
                    <a:pt x="131" y="0"/>
                  </a:lnTo>
                  <a:lnTo>
                    <a:pt x="78" y="15"/>
                  </a:lnTo>
                  <a:lnTo>
                    <a:pt x="36" y="31"/>
                  </a:lnTo>
                  <a:lnTo>
                    <a:pt x="10" y="52"/>
                  </a:lnTo>
                  <a:lnTo>
                    <a:pt x="5" y="68"/>
                  </a:lnTo>
                  <a:lnTo>
                    <a:pt x="0" y="78"/>
                  </a:lnTo>
                  <a:lnTo>
                    <a:pt x="0" y="78"/>
                  </a:lnTo>
                  <a:lnTo>
                    <a:pt x="5" y="94"/>
                  </a:lnTo>
                  <a:lnTo>
                    <a:pt x="21" y="110"/>
                  </a:lnTo>
                  <a:lnTo>
                    <a:pt x="42" y="125"/>
                  </a:lnTo>
                  <a:lnTo>
                    <a:pt x="73" y="141"/>
                  </a:lnTo>
                  <a:lnTo>
                    <a:pt x="110" y="152"/>
                  </a:lnTo>
                  <a:lnTo>
                    <a:pt x="152" y="157"/>
                  </a:lnTo>
                  <a:lnTo>
                    <a:pt x="194" y="162"/>
                  </a:lnTo>
                  <a:lnTo>
                    <a:pt x="246" y="167"/>
                  </a:lnTo>
                  <a:lnTo>
                    <a:pt x="246" y="167"/>
                  </a:lnTo>
                  <a:lnTo>
                    <a:pt x="293" y="162"/>
                  </a:lnTo>
                  <a:lnTo>
                    <a:pt x="341" y="157"/>
                  </a:lnTo>
                  <a:lnTo>
                    <a:pt x="383" y="152"/>
                  </a:lnTo>
                  <a:lnTo>
                    <a:pt x="419" y="141"/>
                  </a:lnTo>
                  <a:lnTo>
                    <a:pt x="451" y="125"/>
                  </a:lnTo>
                  <a:lnTo>
                    <a:pt x="472" y="110"/>
                  </a:lnTo>
                  <a:lnTo>
                    <a:pt x="488" y="94"/>
                  </a:lnTo>
                  <a:lnTo>
                    <a:pt x="493" y="78"/>
                  </a:lnTo>
                  <a:lnTo>
                    <a:pt x="493" y="78"/>
                  </a:lnTo>
                  <a:lnTo>
                    <a:pt x="488" y="68"/>
                  </a:lnTo>
                  <a:lnTo>
                    <a:pt x="482" y="52"/>
                  </a:lnTo>
                  <a:lnTo>
                    <a:pt x="456" y="31"/>
                  </a:lnTo>
                  <a:lnTo>
                    <a:pt x="414" y="15"/>
                  </a:lnTo>
                  <a:lnTo>
                    <a:pt x="362" y="0"/>
                  </a:lnTo>
                  <a:lnTo>
                    <a:pt x="3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133" name="Freeform 94">
              <a:extLst>
                <a:ext uri="{FF2B5EF4-FFF2-40B4-BE49-F238E27FC236}">
                  <a16:creationId xmlns:a16="http://schemas.microsoft.com/office/drawing/2014/main" id="{514D556A-F7EC-48DF-9FE7-6866D6987EA4}"/>
                </a:ext>
              </a:extLst>
            </p:cNvPr>
            <p:cNvSpPr>
              <a:spLocks noEditPoints="1"/>
            </p:cNvSpPr>
            <p:nvPr/>
          </p:nvSpPr>
          <p:spPr bwMode="auto">
            <a:xfrm>
              <a:off x="3155926" y="2996024"/>
              <a:ext cx="159534" cy="446469"/>
            </a:xfrm>
            <a:custGeom>
              <a:avLst/>
              <a:gdLst>
                <a:gd name="T0" fmla="*/ 84 w 283"/>
                <a:gd name="T1" fmla="*/ 116 h 792"/>
                <a:gd name="T2" fmla="*/ 89 w 283"/>
                <a:gd name="T3" fmla="*/ 132 h 792"/>
                <a:gd name="T4" fmla="*/ 115 w 283"/>
                <a:gd name="T5" fmla="*/ 168 h 792"/>
                <a:gd name="T6" fmla="*/ 141 w 283"/>
                <a:gd name="T7" fmla="*/ 179 h 792"/>
                <a:gd name="T8" fmla="*/ 167 w 283"/>
                <a:gd name="T9" fmla="*/ 168 h 792"/>
                <a:gd name="T10" fmla="*/ 194 w 283"/>
                <a:gd name="T11" fmla="*/ 132 h 792"/>
                <a:gd name="T12" fmla="*/ 199 w 283"/>
                <a:gd name="T13" fmla="*/ 116 h 792"/>
                <a:gd name="T14" fmla="*/ 204 w 283"/>
                <a:gd name="T15" fmla="*/ 116 h 792"/>
                <a:gd name="T16" fmla="*/ 209 w 283"/>
                <a:gd name="T17" fmla="*/ 105 h 792"/>
                <a:gd name="T18" fmla="*/ 209 w 283"/>
                <a:gd name="T19" fmla="*/ 84 h 792"/>
                <a:gd name="T20" fmla="*/ 209 w 283"/>
                <a:gd name="T21" fmla="*/ 79 h 792"/>
                <a:gd name="T22" fmla="*/ 209 w 283"/>
                <a:gd name="T23" fmla="*/ 79 h 792"/>
                <a:gd name="T24" fmla="*/ 204 w 283"/>
                <a:gd name="T25" fmla="*/ 48 h 792"/>
                <a:gd name="T26" fmla="*/ 183 w 283"/>
                <a:gd name="T27" fmla="*/ 11 h 792"/>
                <a:gd name="T28" fmla="*/ 157 w 283"/>
                <a:gd name="T29" fmla="*/ 0 h 792"/>
                <a:gd name="T30" fmla="*/ 141 w 283"/>
                <a:gd name="T31" fmla="*/ 0 h 792"/>
                <a:gd name="T32" fmla="*/ 110 w 283"/>
                <a:gd name="T33" fmla="*/ 6 h 792"/>
                <a:gd name="T34" fmla="*/ 89 w 283"/>
                <a:gd name="T35" fmla="*/ 21 h 792"/>
                <a:gd name="T36" fmla="*/ 73 w 283"/>
                <a:gd name="T37" fmla="*/ 79 h 792"/>
                <a:gd name="T38" fmla="*/ 73 w 283"/>
                <a:gd name="T39" fmla="*/ 79 h 792"/>
                <a:gd name="T40" fmla="*/ 73 w 283"/>
                <a:gd name="T41" fmla="*/ 84 h 792"/>
                <a:gd name="T42" fmla="*/ 68 w 283"/>
                <a:gd name="T43" fmla="*/ 84 h 792"/>
                <a:gd name="T44" fmla="*/ 78 w 283"/>
                <a:gd name="T45" fmla="*/ 116 h 792"/>
                <a:gd name="T46" fmla="*/ 84 w 283"/>
                <a:gd name="T47" fmla="*/ 116 h 792"/>
                <a:gd name="T48" fmla="*/ 272 w 283"/>
                <a:gd name="T49" fmla="*/ 221 h 792"/>
                <a:gd name="T50" fmla="*/ 215 w 283"/>
                <a:gd name="T51" fmla="*/ 189 h 792"/>
                <a:gd name="T52" fmla="*/ 194 w 283"/>
                <a:gd name="T53" fmla="*/ 174 h 792"/>
                <a:gd name="T54" fmla="*/ 152 w 283"/>
                <a:gd name="T55" fmla="*/ 215 h 792"/>
                <a:gd name="T56" fmla="*/ 157 w 283"/>
                <a:gd name="T57" fmla="*/ 189 h 792"/>
                <a:gd name="T58" fmla="*/ 141 w 283"/>
                <a:gd name="T59" fmla="*/ 189 h 792"/>
                <a:gd name="T60" fmla="*/ 126 w 283"/>
                <a:gd name="T61" fmla="*/ 189 h 792"/>
                <a:gd name="T62" fmla="*/ 131 w 283"/>
                <a:gd name="T63" fmla="*/ 215 h 792"/>
                <a:gd name="T64" fmla="*/ 89 w 283"/>
                <a:gd name="T65" fmla="*/ 174 h 792"/>
                <a:gd name="T66" fmla="*/ 84 w 283"/>
                <a:gd name="T67" fmla="*/ 184 h 792"/>
                <a:gd name="T68" fmla="*/ 10 w 283"/>
                <a:gd name="T69" fmla="*/ 221 h 792"/>
                <a:gd name="T70" fmla="*/ 0 w 283"/>
                <a:gd name="T71" fmla="*/ 226 h 792"/>
                <a:gd name="T72" fmla="*/ 0 w 283"/>
                <a:gd name="T73" fmla="*/ 452 h 792"/>
                <a:gd name="T74" fmla="*/ 5 w 283"/>
                <a:gd name="T75" fmla="*/ 472 h 792"/>
                <a:gd name="T76" fmla="*/ 31 w 283"/>
                <a:gd name="T77" fmla="*/ 499 h 792"/>
                <a:gd name="T78" fmla="*/ 52 w 283"/>
                <a:gd name="T79" fmla="*/ 509 h 792"/>
                <a:gd name="T80" fmla="*/ 52 w 283"/>
                <a:gd name="T81" fmla="*/ 750 h 792"/>
                <a:gd name="T82" fmla="*/ 63 w 283"/>
                <a:gd name="T83" fmla="*/ 782 h 792"/>
                <a:gd name="T84" fmla="*/ 94 w 283"/>
                <a:gd name="T85" fmla="*/ 792 h 792"/>
                <a:gd name="T86" fmla="*/ 115 w 283"/>
                <a:gd name="T87" fmla="*/ 792 h 792"/>
                <a:gd name="T88" fmla="*/ 136 w 283"/>
                <a:gd name="T89" fmla="*/ 766 h 792"/>
                <a:gd name="T90" fmla="*/ 141 w 283"/>
                <a:gd name="T91" fmla="*/ 750 h 792"/>
                <a:gd name="T92" fmla="*/ 152 w 283"/>
                <a:gd name="T93" fmla="*/ 782 h 792"/>
                <a:gd name="T94" fmla="*/ 183 w 283"/>
                <a:gd name="T95" fmla="*/ 792 h 792"/>
                <a:gd name="T96" fmla="*/ 204 w 283"/>
                <a:gd name="T97" fmla="*/ 792 h 792"/>
                <a:gd name="T98" fmla="*/ 225 w 283"/>
                <a:gd name="T99" fmla="*/ 766 h 792"/>
                <a:gd name="T100" fmla="*/ 230 w 283"/>
                <a:gd name="T101" fmla="*/ 509 h 792"/>
                <a:gd name="T102" fmla="*/ 230 w 283"/>
                <a:gd name="T103" fmla="*/ 509 h 792"/>
                <a:gd name="T104" fmla="*/ 267 w 283"/>
                <a:gd name="T105" fmla="*/ 488 h 792"/>
                <a:gd name="T106" fmla="*/ 283 w 283"/>
                <a:gd name="T107" fmla="*/ 452 h 792"/>
                <a:gd name="T108" fmla="*/ 283 w 283"/>
                <a:gd name="T109" fmla="*/ 236 h 792"/>
                <a:gd name="T110" fmla="*/ 272 w 283"/>
                <a:gd name="T111" fmla="*/ 221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3" h="792">
                  <a:moveTo>
                    <a:pt x="84" y="116"/>
                  </a:moveTo>
                  <a:lnTo>
                    <a:pt x="84" y="116"/>
                  </a:lnTo>
                  <a:lnTo>
                    <a:pt x="89" y="132"/>
                  </a:lnTo>
                  <a:lnTo>
                    <a:pt x="89" y="132"/>
                  </a:lnTo>
                  <a:lnTo>
                    <a:pt x="99" y="153"/>
                  </a:lnTo>
                  <a:lnTo>
                    <a:pt x="115" y="168"/>
                  </a:lnTo>
                  <a:lnTo>
                    <a:pt x="126" y="174"/>
                  </a:lnTo>
                  <a:lnTo>
                    <a:pt x="141" y="179"/>
                  </a:lnTo>
                  <a:lnTo>
                    <a:pt x="157" y="174"/>
                  </a:lnTo>
                  <a:lnTo>
                    <a:pt x="167" y="168"/>
                  </a:lnTo>
                  <a:lnTo>
                    <a:pt x="183" y="153"/>
                  </a:lnTo>
                  <a:lnTo>
                    <a:pt x="194" y="132"/>
                  </a:lnTo>
                  <a:lnTo>
                    <a:pt x="194" y="132"/>
                  </a:lnTo>
                  <a:lnTo>
                    <a:pt x="199" y="116"/>
                  </a:lnTo>
                  <a:lnTo>
                    <a:pt x="199" y="116"/>
                  </a:lnTo>
                  <a:lnTo>
                    <a:pt x="204" y="116"/>
                  </a:lnTo>
                  <a:lnTo>
                    <a:pt x="204" y="116"/>
                  </a:lnTo>
                  <a:lnTo>
                    <a:pt x="209" y="105"/>
                  </a:lnTo>
                  <a:lnTo>
                    <a:pt x="209" y="84"/>
                  </a:lnTo>
                  <a:lnTo>
                    <a:pt x="209" y="84"/>
                  </a:lnTo>
                  <a:lnTo>
                    <a:pt x="209" y="84"/>
                  </a:lnTo>
                  <a:lnTo>
                    <a:pt x="209" y="79"/>
                  </a:lnTo>
                  <a:lnTo>
                    <a:pt x="209" y="79"/>
                  </a:lnTo>
                  <a:lnTo>
                    <a:pt x="209" y="79"/>
                  </a:lnTo>
                  <a:lnTo>
                    <a:pt x="209" y="79"/>
                  </a:lnTo>
                  <a:lnTo>
                    <a:pt x="204" y="48"/>
                  </a:lnTo>
                  <a:lnTo>
                    <a:pt x="194" y="21"/>
                  </a:lnTo>
                  <a:lnTo>
                    <a:pt x="183" y="11"/>
                  </a:lnTo>
                  <a:lnTo>
                    <a:pt x="173" y="6"/>
                  </a:lnTo>
                  <a:lnTo>
                    <a:pt x="157" y="0"/>
                  </a:lnTo>
                  <a:lnTo>
                    <a:pt x="141" y="0"/>
                  </a:lnTo>
                  <a:lnTo>
                    <a:pt x="141" y="0"/>
                  </a:lnTo>
                  <a:lnTo>
                    <a:pt x="126" y="0"/>
                  </a:lnTo>
                  <a:lnTo>
                    <a:pt x="110" y="6"/>
                  </a:lnTo>
                  <a:lnTo>
                    <a:pt x="99" y="11"/>
                  </a:lnTo>
                  <a:lnTo>
                    <a:pt x="89" y="21"/>
                  </a:lnTo>
                  <a:lnTo>
                    <a:pt x="78" y="48"/>
                  </a:lnTo>
                  <a:lnTo>
                    <a:pt x="73" y="79"/>
                  </a:lnTo>
                  <a:lnTo>
                    <a:pt x="73" y="79"/>
                  </a:lnTo>
                  <a:lnTo>
                    <a:pt x="73" y="79"/>
                  </a:lnTo>
                  <a:lnTo>
                    <a:pt x="73" y="79"/>
                  </a:lnTo>
                  <a:lnTo>
                    <a:pt x="73" y="84"/>
                  </a:lnTo>
                  <a:lnTo>
                    <a:pt x="68" y="84"/>
                  </a:lnTo>
                  <a:lnTo>
                    <a:pt x="68" y="84"/>
                  </a:lnTo>
                  <a:lnTo>
                    <a:pt x="68" y="105"/>
                  </a:lnTo>
                  <a:lnTo>
                    <a:pt x="78" y="116"/>
                  </a:lnTo>
                  <a:lnTo>
                    <a:pt x="78" y="116"/>
                  </a:lnTo>
                  <a:lnTo>
                    <a:pt x="84" y="116"/>
                  </a:lnTo>
                  <a:lnTo>
                    <a:pt x="84" y="116"/>
                  </a:lnTo>
                  <a:close/>
                  <a:moveTo>
                    <a:pt x="272" y="221"/>
                  </a:moveTo>
                  <a:lnTo>
                    <a:pt x="215" y="189"/>
                  </a:lnTo>
                  <a:lnTo>
                    <a:pt x="215" y="189"/>
                  </a:lnTo>
                  <a:lnTo>
                    <a:pt x="199" y="184"/>
                  </a:lnTo>
                  <a:lnTo>
                    <a:pt x="194" y="174"/>
                  </a:lnTo>
                  <a:lnTo>
                    <a:pt x="178" y="195"/>
                  </a:lnTo>
                  <a:lnTo>
                    <a:pt x="152" y="215"/>
                  </a:lnTo>
                  <a:lnTo>
                    <a:pt x="152" y="200"/>
                  </a:lnTo>
                  <a:lnTo>
                    <a:pt x="157" y="189"/>
                  </a:lnTo>
                  <a:lnTo>
                    <a:pt x="157" y="189"/>
                  </a:lnTo>
                  <a:lnTo>
                    <a:pt x="141" y="189"/>
                  </a:lnTo>
                  <a:lnTo>
                    <a:pt x="141" y="189"/>
                  </a:lnTo>
                  <a:lnTo>
                    <a:pt x="126" y="189"/>
                  </a:lnTo>
                  <a:lnTo>
                    <a:pt x="131" y="200"/>
                  </a:lnTo>
                  <a:lnTo>
                    <a:pt x="131" y="215"/>
                  </a:lnTo>
                  <a:lnTo>
                    <a:pt x="105" y="195"/>
                  </a:lnTo>
                  <a:lnTo>
                    <a:pt x="89" y="174"/>
                  </a:lnTo>
                  <a:lnTo>
                    <a:pt x="89" y="174"/>
                  </a:lnTo>
                  <a:lnTo>
                    <a:pt x="84" y="184"/>
                  </a:lnTo>
                  <a:lnTo>
                    <a:pt x="68" y="189"/>
                  </a:lnTo>
                  <a:lnTo>
                    <a:pt x="10" y="221"/>
                  </a:lnTo>
                  <a:lnTo>
                    <a:pt x="10" y="221"/>
                  </a:lnTo>
                  <a:lnTo>
                    <a:pt x="0" y="226"/>
                  </a:lnTo>
                  <a:lnTo>
                    <a:pt x="0" y="236"/>
                  </a:lnTo>
                  <a:lnTo>
                    <a:pt x="0" y="452"/>
                  </a:lnTo>
                  <a:lnTo>
                    <a:pt x="0" y="452"/>
                  </a:lnTo>
                  <a:lnTo>
                    <a:pt x="5" y="472"/>
                  </a:lnTo>
                  <a:lnTo>
                    <a:pt x="15" y="488"/>
                  </a:lnTo>
                  <a:lnTo>
                    <a:pt x="31" y="499"/>
                  </a:lnTo>
                  <a:lnTo>
                    <a:pt x="52" y="509"/>
                  </a:lnTo>
                  <a:lnTo>
                    <a:pt x="52" y="509"/>
                  </a:lnTo>
                  <a:lnTo>
                    <a:pt x="52" y="750"/>
                  </a:lnTo>
                  <a:lnTo>
                    <a:pt x="52" y="750"/>
                  </a:lnTo>
                  <a:lnTo>
                    <a:pt x="52" y="766"/>
                  </a:lnTo>
                  <a:lnTo>
                    <a:pt x="63" y="782"/>
                  </a:lnTo>
                  <a:lnTo>
                    <a:pt x="78" y="792"/>
                  </a:lnTo>
                  <a:lnTo>
                    <a:pt x="94" y="792"/>
                  </a:lnTo>
                  <a:lnTo>
                    <a:pt x="94" y="792"/>
                  </a:lnTo>
                  <a:lnTo>
                    <a:pt x="115" y="792"/>
                  </a:lnTo>
                  <a:lnTo>
                    <a:pt x="126" y="782"/>
                  </a:lnTo>
                  <a:lnTo>
                    <a:pt x="136" y="766"/>
                  </a:lnTo>
                  <a:lnTo>
                    <a:pt x="141" y="750"/>
                  </a:lnTo>
                  <a:lnTo>
                    <a:pt x="141" y="750"/>
                  </a:lnTo>
                  <a:lnTo>
                    <a:pt x="146" y="766"/>
                  </a:lnTo>
                  <a:lnTo>
                    <a:pt x="152" y="782"/>
                  </a:lnTo>
                  <a:lnTo>
                    <a:pt x="167" y="792"/>
                  </a:lnTo>
                  <a:lnTo>
                    <a:pt x="183" y="792"/>
                  </a:lnTo>
                  <a:lnTo>
                    <a:pt x="183" y="792"/>
                  </a:lnTo>
                  <a:lnTo>
                    <a:pt x="204" y="792"/>
                  </a:lnTo>
                  <a:lnTo>
                    <a:pt x="215" y="782"/>
                  </a:lnTo>
                  <a:lnTo>
                    <a:pt x="225" y="766"/>
                  </a:lnTo>
                  <a:lnTo>
                    <a:pt x="230" y="750"/>
                  </a:lnTo>
                  <a:lnTo>
                    <a:pt x="230" y="509"/>
                  </a:lnTo>
                  <a:lnTo>
                    <a:pt x="230" y="509"/>
                  </a:lnTo>
                  <a:lnTo>
                    <a:pt x="230" y="509"/>
                  </a:lnTo>
                  <a:lnTo>
                    <a:pt x="251" y="499"/>
                  </a:lnTo>
                  <a:lnTo>
                    <a:pt x="267" y="488"/>
                  </a:lnTo>
                  <a:lnTo>
                    <a:pt x="278" y="472"/>
                  </a:lnTo>
                  <a:lnTo>
                    <a:pt x="283" y="452"/>
                  </a:lnTo>
                  <a:lnTo>
                    <a:pt x="283" y="236"/>
                  </a:lnTo>
                  <a:lnTo>
                    <a:pt x="283" y="236"/>
                  </a:lnTo>
                  <a:lnTo>
                    <a:pt x="278" y="226"/>
                  </a:lnTo>
                  <a:lnTo>
                    <a:pt x="272" y="221"/>
                  </a:lnTo>
                  <a:lnTo>
                    <a:pt x="272" y="2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134" name="Freeform 95">
              <a:extLst>
                <a:ext uri="{FF2B5EF4-FFF2-40B4-BE49-F238E27FC236}">
                  <a16:creationId xmlns:a16="http://schemas.microsoft.com/office/drawing/2014/main" id="{F65A98B8-5B81-4371-A7EC-F21ACEA6D1AD}"/>
                </a:ext>
              </a:extLst>
            </p:cNvPr>
            <p:cNvSpPr>
              <a:spLocks/>
            </p:cNvSpPr>
            <p:nvPr/>
          </p:nvSpPr>
          <p:spPr bwMode="auto">
            <a:xfrm>
              <a:off x="2925363" y="3445876"/>
              <a:ext cx="215343" cy="73848"/>
            </a:xfrm>
            <a:custGeom>
              <a:avLst/>
              <a:gdLst>
                <a:gd name="T0" fmla="*/ 330 w 382"/>
                <a:gd name="T1" fmla="*/ 68 h 131"/>
                <a:gd name="T2" fmla="*/ 330 w 382"/>
                <a:gd name="T3" fmla="*/ 68 h 131"/>
                <a:gd name="T4" fmla="*/ 304 w 382"/>
                <a:gd name="T5" fmla="*/ 78 h 131"/>
                <a:gd name="T6" fmla="*/ 272 w 382"/>
                <a:gd name="T7" fmla="*/ 84 h 131"/>
                <a:gd name="T8" fmla="*/ 199 w 382"/>
                <a:gd name="T9" fmla="*/ 89 h 131"/>
                <a:gd name="T10" fmla="*/ 199 w 382"/>
                <a:gd name="T11" fmla="*/ 89 h 131"/>
                <a:gd name="T12" fmla="*/ 136 w 382"/>
                <a:gd name="T13" fmla="*/ 84 h 131"/>
                <a:gd name="T14" fmla="*/ 83 w 382"/>
                <a:gd name="T15" fmla="*/ 78 h 131"/>
                <a:gd name="T16" fmla="*/ 52 w 382"/>
                <a:gd name="T17" fmla="*/ 63 h 131"/>
                <a:gd name="T18" fmla="*/ 41 w 382"/>
                <a:gd name="T19" fmla="*/ 52 h 131"/>
                <a:gd name="T20" fmla="*/ 36 w 382"/>
                <a:gd name="T21" fmla="*/ 47 h 131"/>
                <a:gd name="T22" fmla="*/ 36 w 382"/>
                <a:gd name="T23" fmla="*/ 47 h 131"/>
                <a:gd name="T24" fmla="*/ 41 w 382"/>
                <a:gd name="T25" fmla="*/ 36 h 131"/>
                <a:gd name="T26" fmla="*/ 57 w 382"/>
                <a:gd name="T27" fmla="*/ 26 h 131"/>
                <a:gd name="T28" fmla="*/ 78 w 382"/>
                <a:gd name="T29" fmla="*/ 15 h 131"/>
                <a:gd name="T30" fmla="*/ 104 w 382"/>
                <a:gd name="T31" fmla="*/ 10 h 131"/>
                <a:gd name="T32" fmla="*/ 104 w 382"/>
                <a:gd name="T33" fmla="*/ 0 h 131"/>
                <a:gd name="T34" fmla="*/ 104 w 382"/>
                <a:gd name="T35" fmla="*/ 0 h 131"/>
                <a:gd name="T36" fmla="*/ 62 w 382"/>
                <a:gd name="T37" fmla="*/ 10 h 131"/>
                <a:gd name="T38" fmla="*/ 31 w 382"/>
                <a:gd name="T39" fmla="*/ 21 h 131"/>
                <a:gd name="T40" fmla="*/ 5 w 382"/>
                <a:gd name="T41" fmla="*/ 42 h 131"/>
                <a:gd name="T42" fmla="*/ 0 w 382"/>
                <a:gd name="T43" fmla="*/ 52 h 131"/>
                <a:gd name="T44" fmla="*/ 0 w 382"/>
                <a:gd name="T45" fmla="*/ 63 h 131"/>
                <a:gd name="T46" fmla="*/ 0 w 382"/>
                <a:gd name="T47" fmla="*/ 63 h 131"/>
                <a:gd name="T48" fmla="*/ 5 w 382"/>
                <a:gd name="T49" fmla="*/ 73 h 131"/>
                <a:gd name="T50" fmla="*/ 15 w 382"/>
                <a:gd name="T51" fmla="*/ 89 h 131"/>
                <a:gd name="T52" fmla="*/ 31 w 382"/>
                <a:gd name="T53" fmla="*/ 99 h 131"/>
                <a:gd name="T54" fmla="*/ 57 w 382"/>
                <a:gd name="T55" fmla="*/ 110 h 131"/>
                <a:gd name="T56" fmla="*/ 120 w 382"/>
                <a:gd name="T57" fmla="*/ 126 h 131"/>
                <a:gd name="T58" fmla="*/ 199 w 382"/>
                <a:gd name="T59" fmla="*/ 131 h 131"/>
                <a:gd name="T60" fmla="*/ 199 w 382"/>
                <a:gd name="T61" fmla="*/ 131 h 131"/>
                <a:gd name="T62" fmla="*/ 257 w 382"/>
                <a:gd name="T63" fmla="*/ 131 h 131"/>
                <a:gd name="T64" fmla="*/ 309 w 382"/>
                <a:gd name="T65" fmla="*/ 120 h 131"/>
                <a:gd name="T66" fmla="*/ 351 w 382"/>
                <a:gd name="T67" fmla="*/ 105 h 131"/>
                <a:gd name="T68" fmla="*/ 382 w 382"/>
                <a:gd name="T69" fmla="*/ 89 h 131"/>
                <a:gd name="T70" fmla="*/ 382 w 382"/>
                <a:gd name="T71" fmla="*/ 89 h 131"/>
                <a:gd name="T72" fmla="*/ 330 w 382"/>
                <a:gd name="T73" fmla="*/ 68 h 131"/>
                <a:gd name="T74" fmla="*/ 330 w 382"/>
                <a:gd name="T75" fmla="*/ 68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2" h="131">
                  <a:moveTo>
                    <a:pt x="330" y="68"/>
                  </a:moveTo>
                  <a:lnTo>
                    <a:pt x="330" y="68"/>
                  </a:lnTo>
                  <a:lnTo>
                    <a:pt x="304" y="78"/>
                  </a:lnTo>
                  <a:lnTo>
                    <a:pt x="272" y="84"/>
                  </a:lnTo>
                  <a:lnTo>
                    <a:pt x="199" y="89"/>
                  </a:lnTo>
                  <a:lnTo>
                    <a:pt x="199" y="89"/>
                  </a:lnTo>
                  <a:lnTo>
                    <a:pt x="136" y="84"/>
                  </a:lnTo>
                  <a:lnTo>
                    <a:pt x="83" y="78"/>
                  </a:lnTo>
                  <a:lnTo>
                    <a:pt x="52" y="63"/>
                  </a:lnTo>
                  <a:lnTo>
                    <a:pt x="41" y="52"/>
                  </a:lnTo>
                  <a:lnTo>
                    <a:pt x="36" y="47"/>
                  </a:lnTo>
                  <a:lnTo>
                    <a:pt x="36" y="47"/>
                  </a:lnTo>
                  <a:lnTo>
                    <a:pt x="41" y="36"/>
                  </a:lnTo>
                  <a:lnTo>
                    <a:pt x="57" y="26"/>
                  </a:lnTo>
                  <a:lnTo>
                    <a:pt x="78" y="15"/>
                  </a:lnTo>
                  <a:lnTo>
                    <a:pt x="104" y="10"/>
                  </a:lnTo>
                  <a:lnTo>
                    <a:pt x="104" y="0"/>
                  </a:lnTo>
                  <a:lnTo>
                    <a:pt x="104" y="0"/>
                  </a:lnTo>
                  <a:lnTo>
                    <a:pt x="62" y="10"/>
                  </a:lnTo>
                  <a:lnTo>
                    <a:pt x="31" y="21"/>
                  </a:lnTo>
                  <a:lnTo>
                    <a:pt x="5" y="42"/>
                  </a:lnTo>
                  <a:lnTo>
                    <a:pt x="0" y="52"/>
                  </a:lnTo>
                  <a:lnTo>
                    <a:pt x="0" y="63"/>
                  </a:lnTo>
                  <a:lnTo>
                    <a:pt x="0" y="63"/>
                  </a:lnTo>
                  <a:lnTo>
                    <a:pt x="5" y="73"/>
                  </a:lnTo>
                  <a:lnTo>
                    <a:pt x="15" y="89"/>
                  </a:lnTo>
                  <a:lnTo>
                    <a:pt x="31" y="99"/>
                  </a:lnTo>
                  <a:lnTo>
                    <a:pt x="57" y="110"/>
                  </a:lnTo>
                  <a:lnTo>
                    <a:pt x="120" y="126"/>
                  </a:lnTo>
                  <a:lnTo>
                    <a:pt x="199" y="131"/>
                  </a:lnTo>
                  <a:lnTo>
                    <a:pt x="199" y="131"/>
                  </a:lnTo>
                  <a:lnTo>
                    <a:pt x="257" y="131"/>
                  </a:lnTo>
                  <a:lnTo>
                    <a:pt x="309" y="120"/>
                  </a:lnTo>
                  <a:lnTo>
                    <a:pt x="351" y="105"/>
                  </a:lnTo>
                  <a:lnTo>
                    <a:pt x="382" y="89"/>
                  </a:lnTo>
                  <a:lnTo>
                    <a:pt x="382" y="89"/>
                  </a:lnTo>
                  <a:lnTo>
                    <a:pt x="330" y="68"/>
                  </a:lnTo>
                  <a:lnTo>
                    <a:pt x="330" y="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135" name="Freeform 96">
              <a:extLst>
                <a:ext uri="{FF2B5EF4-FFF2-40B4-BE49-F238E27FC236}">
                  <a16:creationId xmlns:a16="http://schemas.microsoft.com/office/drawing/2014/main" id="{AB4A9200-2DC0-43E9-93C6-7813B26D42A1}"/>
                </a:ext>
              </a:extLst>
            </p:cNvPr>
            <p:cNvSpPr>
              <a:spLocks noEditPoints="1"/>
            </p:cNvSpPr>
            <p:nvPr/>
          </p:nvSpPr>
          <p:spPr bwMode="auto">
            <a:xfrm>
              <a:off x="2972152" y="3120607"/>
              <a:ext cx="130220" cy="363602"/>
            </a:xfrm>
            <a:custGeom>
              <a:avLst/>
              <a:gdLst>
                <a:gd name="T0" fmla="*/ 69 w 231"/>
                <a:gd name="T1" fmla="*/ 94 h 645"/>
                <a:gd name="T2" fmla="*/ 74 w 231"/>
                <a:gd name="T3" fmla="*/ 105 h 645"/>
                <a:gd name="T4" fmla="*/ 95 w 231"/>
                <a:gd name="T5" fmla="*/ 136 h 645"/>
                <a:gd name="T6" fmla="*/ 116 w 231"/>
                <a:gd name="T7" fmla="*/ 141 h 645"/>
                <a:gd name="T8" fmla="*/ 137 w 231"/>
                <a:gd name="T9" fmla="*/ 136 h 645"/>
                <a:gd name="T10" fmla="*/ 158 w 231"/>
                <a:gd name="T11" fmla="*/ 105 h 645"/>
                <a:gd name="T12" fmla="*/ 163 w 231"/>
                <a:gd name="T13" fmla="*/ 94 h 645"/>
                <a:gd name="T14" fmla="*/ 168 w 231"/>
                <a:gd name="T15" fmla="*/ 94 h 645"/>
                <a:gd name="T16" fmla="*/ 174 w 231"/>
                <a:gd name="T17" fmla="*/ 84 h 645"/>
                <a:gd name="T18" fmla="*/ 174 w 231"/>
                <a:gd name="T19" fmla="*/ 68 h 645"/>
                <a:gd name="T20" fmla="*/ 168 w 231"/>
                <a:gd name="T21" fmla="*/ 63 h 645"/>
                <a:gd name="T22" fmla="*/ 168 w 231"/>
                <a:gd name="T23" fmla="*/ 63 h 645"/>
                <a:gd name="T24" fmla="*/ 168 w 231"/>
                <a:gd name="T25" fmla="*/ 36 h 645"/>
                <a:gd name="T26" fmla="*/ 142 w 231"/>
                <a:gd name="T27" fmla="*/ 5 h 645"/>
                <a:gd name="T28" fmla="*/ 116 w 231"/>
                <a:gd name="T29" fmla="*/ 0 h 645"/>
                <a:gd name="T30" fmla="*/ 74 w 231"/>
                <a:gd name="T31" fmla="*/ 15 h 645"/>
                <a:gd name="T32" fmla="*/ 58 w 231"/>
                <a:gd name="T33" fmla="*/ 63 h 645"/>
                <a:gd name="T34" fmla="*/ 63 w 231"/>
                <a:gd name="T35" fmla="*/ 63 h 645"/>
                <a:gd name="T36" fmla="*/ 58 w 231"/>
                <a:gd name="T37" fmla="*/ 68 h 645"/>
                <a:gd name="T38" fmla="*/ 58 w 231"/>
                <a:gd name="T39" fmla="*/ 68 h 645"/>
                <a:gd name="T40" fmla="*/ 63 w 231"/>
                <a:gd name="T41" fmla="*/ 94 h 645"/>
                <a:gd name="T42" fmla="*/ 69 w 231"/>
                <a:gd name="T43" fmla="*/ 94 h 645"/>
                <a:gd name="T44" fmla="*/ 221 w 231"/>
                <a:gd name="T45" fmla="*/ 178 h 645"/>
                <a:gd name="T46" fmla="*/ 174 w 231"/>
                <a:gd name="T47" fmla="*/ 152 h 645"/>
                <a:gd name="T48" fmla="*/ 147 w 231"/>
                <a:gd name="T49" fmla="*/ 157 h 645"/>
                <a:gd name="T50" fmla="*/ 121 w 231"/>
                <a:gd name="T51" fmla="*/ 162 h 645"/>
                <a:gd name="T52" fmla="*/ 126 w 231"/>
                <a:gd name="T53" fmla="*/ 152 h 645"/>
                <a:gd name="T54" fmla="*/ 116 w 231"/>
                <a:gd name="T55" fmla="*/ 157 h 645"/>
                <a:gd name="T56" fmla="*/ 105 w 231"/>
                <a:gd name="T57" fmla="*/ 162 h 645"/>
                <a:gd name="T58" fmla="*/ 84 w 231"/>
                <a:gd name="T59" fmla="*/ 157 h 645"/>
                <a:gd name="T60" fmla="*/ 74 w 231"/>
                <a:gd name="T61" fmla="*/ 141 h 645"/>
                <a:gd name="T62" fmla="*/ 11 w 231"/>
                <a:gd name="T63" fmla="*/ 178 h 645"/>
                <a:gd name="T64" fmla="*/ 0 w 231"/>
                <a:gd name="T65" fmla="*/ 183 h 645"/>
                <a:gd name="T66" fmla="*/ 0 w 231"/>
                <a:gd name="T67" fmla="*/ 362 h 645"/>
                <a:gd name="T68" fmla="*/ 6 w 231"/>
                <a:gd name="T69" fmla="*/ 383 h 645"/>
                <a:gd name="T70" fmla="*/ 27 w 231"/>
                <a:gd name="T71" fmla="*/ 404 h 645"/>
                <a:gd name="T72" fmla="*/ 42 w 231"/>
                <a:gd name="T73" fmla="*/ 409 h 645"/>
                <a:gd name="T74" fmla="*/ 42 w 231"/>
                <a:gd name="T75" fmla="*/ 608 h 645"/>
                <a:gd name="T76" fmla="*/ 53 w 231"/>
                <a:gd name="T77" fmla="*/ 634 h 645"/>
                <a:gd name="T78" fmla="*/ 79 w 231"/>
                <a:gd name="T79" fmla="*/ 645 h 645"/>
                <a:gd name="T80" fmla="*/ 95 w 231"/>
                <a:gd name="T81" fmla="*/ 640 h 645"/>
                <a:gd name="T82" fmla="*/ 111 w 231"/>
                <a:gd name="T83" fmla="*/ 624 h 645"/>
                <a:gd name="T84" fmla="*/ 116 w 231"/>
                <a:gd name="T85" fmla="*/ 608 h 645"/>
                <a:gd name="T86" fmla="*/ 126 w 231"/>
                <a:gd name="T87" fmla="*/ 634 h 645"/>
                <a:gd name="T88" fmla="*/ 153 w 231"/>
                <a:gd name="T89" fmla="*/ 645 h 645"/>
                <a:gd name="T90" fmla="*/ 163 w 231"/>
                <a:gd name="T91" fmla="*/ 640 h 645"/>
                <a:gd name="T92" fmla="*/ 184 w 231"/>
                <a:gd name="T93" fmla="*/ 624 h 645"/>
                <a:gd name="T94" fmla="*/ 189 w 231"/>
                <a:gd name="T95" fmla="*/ 409 h 645"/>
                <a:gd name="T96" fmla="*/ 189 w 231"/>
                <a:gd name="T97" fmla="*/ 409 h 645"/>
                <a:gd name="T98" fmla="*/ 215 w 231"/>
                <a:gd name="T99" fmla="*/ 393 h 645"/>
                <a:gd name="T100" fmla="*/ 231 w 231"/>
                <a:gd name="T101" fmla="*/ 362 h 645"/>
                <a:gd name="T102" fmla="*/ 231 w 231"/>
                <a:gd name="T103" fmla="*/ 194 h 645"/>
                <a:gd name="T104" fmla="*/ 221 w 231"/>
                <a:gd name="T105" fmla="*/ 178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31" h="645">
                  <a:moveTo>
                    <a:pt x="69" y="94"/>
                  </a:moveTo>
                  <a:lnTo>
                    <a:pt x="69" y="94"/>
                  </a:lnTo>
                  <a:lnTo>
                    <a:pt x="74" y="105"/>
                  </a:lnTo>
                  <a:lnTo>
                    <a:pt x="74" y="105"/>
                  </a:lnTo>
                  <a:lnTo>
                    <a:pt x="84" y="120"/>
                  </a:lnTo>
                  <a:lnTo>
                    <a:pt x="95" y="136"/>
                  </a:lnTo>
                  <a:lnTo>
                    <a:pt x="105" y="141"/>
                  </a:lnTo>
                  <a:lnTo>
                    <a:pt x="116" y="141"/>
                  </a:lnTo>
                  <a:lnTo>
                    <a:pt x="126" y="141"/>
                  </a:lnTo>
                  <a:lnTo>
                    <a:pt x="137" y="136"/>
                  </a:lnTo>
                  <a:lnTo>
                    <a:pt x="147" y="120"/>
                  </a:lnTo>
                  <a:lnTo>
                    <a:pt x="158" y="105"/>
                  </a:lnTo>
                  <a:lnTo>
                    <a:pt x="158" y="105"/>
                  </a:lnTo>
                  <a:lnTo>
                    <a:pt x="163" y="94"/>
                  </a:lnTo>
                  <a:lnTo>
                    <a:pt x="163" y="94"/>
                  </a:lnTo>
                  <a:lnTo>
                    <a:pt x="168" y="94"/>
                  </a:lnTo>
                  <a:lnTo>
                    <a:pt x="168" y="94"/>
                  </a:lnTo>
                  <a:lnTo>
                    <a:pt x="174" y="84"/>
                  </a:lnTo>
                  <a:lnTo>
                    <a:pt x="174" y="68"/>
                  </a:lnTo>
                  <a:lnTo>
                    <a:pt x="174" y="68"/>
                  </a:lnTo>
                  <a:lnTo>
                    <a:pt x="168" y="68"/>
                  </a:lnTo>
                  <a:lnTo>
                    <a:pt x="168" y="63"/>
                  </a:lnTo>
                  <a:lnTo>
                    <a:pt x="168" y="63"/>
                  </a:lnTo>
                  <a:lnTo>
                    <a:pt x="168" y="63"/>
                  </a:lnTo>
                  <a:lnTo>
                    <a:pt x="168" y="63"/>
                  </a:lnTo>
                  <a:lnTo>
                    <a:pt x="168" y="36"/>
                  </a:lnTo>
                  <a:lnTo>
                    <a:pt x="158" y="15"/>
                  </a:lnTo>
                  <a:lnTo>
                    <a:pt x="142" y="5"/>
                  </a:lnTo>
                  <a:lnTo>
                    <a:pt x="116" y="0"/>
                  </a:lnTo>
                  <a:lnTo>
                    <a:pt x="116" y="0"/>
                  </a:lnTo>
                  <a:lnTo>
                    <a:pt x="90" y="5"/>
                  </a:lnTo>
                  <a:lnTo>
                    <a:pt x="74" y="15"/>
                  </a:lnTo>
                  <a:lnTo>
                    <a:pt x="63" y="36"/>
                  </a:lnTo>
                  <a:lnTo>
                    <a:pt x="58" y="63"/>
                  </a:lnTo>
                  <a:lnTo>
                    <a:pt x="58" y="63"/>
                  </a:lnTo>
                  <a:lnTo>
                    <a:pt x="63" y="63"/>
                  </a:lnTo>
                  <a:lnTo>
                    <a:pt x="63" y="63"/>
                  </a:lnTo>
                  <a:lnTo>
                    <a:pt x="58" y="68"/>
                  </a:lnTo>
                  <a:lnTo>
                    <a:pt x="58" y="68"/>
                  </a:lnTo>
                  <a:lnTo>
                    <a:pt x="58" y="68"/>
                  </a:lnTo>
                  <a:lnTo>
                    <a:pt x="58" y="84"/>
                  </a:lnTo>
                  <a:lnTo>
                    <a:pt x="63" y="94"/>
                  </a:lnTo>
                  <a:lnTo>
                    <a:pt x="63" y="94"/>
                  </a:lnTo>
                  <a:lnTo>
                    <a:pt x="69" y="94"/>
                  </a:lnTo>
                  <a:lnTo>
                    <a:pt x="69" y="94"/>
                  </a:lnTo>
                  <a:close/>
                  <a:moveTo>
                    <a:pt x="221" y="178"/>
                  </a:moveTo>
                  <a:lnTo>
                    <a:pt x="174" y="152"/>
                  </a:lnTo>
                  <a:lnTo>
                    <a:pt x="174" y="152"/>
                  </a:lnTo>
                  <a:lnTo>
                    <a:pt x="158" y="141"/>
                  </a:lnTo>
                  <a:lnTo>
                    <a:pt x="147" y="157"/>
                  </a:lnTo>
                  <a:lnTo>
                    <a:pt x="126" y="178"/>
                  </a:lnTo>
                  <a:lnTo>
                    <a:pt x="121" y="162"/>
                  </a:lnTo>
                  <a:lnTo>
                    <a:pt x="126" y="152"/>
                  </a:lnTo>
                  <a:lnTo>
                    <a:pt x="126" y="152"/>
                  </a:lnTo>
                  <a:lnTo>
                    <a:pt x="116" y="157"/>
                  </a:lnTo>
                  <a:lnTo>
                    <a:pt x="116" y="157"/>
                  </a:lnTo>
                  <a:lnTo>
                    <a:pt x="100" y="152"/>
                  </a:lnTo>
                  <a:lnTo>
                    <a:pt x="105" y="162"/>
                  </a:lnTo>
                  <a:lnTo>
                    <a:pt x="105" y="178"/>
                  </a:lnTo>
                  <a:lnTo>
                    <a:pt x="84" y="157"/>
                  </a:lnTo>
                  <a:lnTo>
                    <a:pt x="74" y="141"/>
                  </a:lnTo>
                  <a:lnTo>
                    <a:pt x="74" y="141"/>
                  </a:lnTo>
                  <a:lnTo>
                    <a:pt x="58" y="152"/>
                  </a:lnTo>
                  <a:lnTo>
                    <a:pt x="11" y="178"/>
                  </a:lnTo>
                  <a:lnTo>
                    <a:pt x="11" y="178"/>
                  </a:lnTo>
                  <a:lnTo>
                    <a:pt x="0" y="183"/>
                  </a:lnTo>
                  <a:lnTo>
                    <a:pt x="0" y="194"/>
                  </a:lnTo>
                  <a:lnTo>
                    <a:pt x="0" y="362"/>
                  </a:lnTo>
                  <a:lnTo>
                    <a:pt x="0" y="362"/>
                  </a:lnTo>
                  <a:lnTo>
                    <a:pt x="6" y="383"/>
                  </a:lnTo>
                  <a:lnTo>
                    <a:pt x="11" y="393"/>
                  </a:lnTo>
                  <a:lnTo>
                    <a:pt x="27" y="404"/>
                  </a:lnTo>
                  <a:lnTo>
                    <a:pt x="42" y="409"/>
                  </a:lnTo>
                  <a:lnTo>
                    <a:pt x="42" y="409"/>
                  </a:lnTo>
                  <a:lnTo>
                    <a:pt x="42" y="608"/>
                  </a:lnTo>
                  <a:lnTo>
                    <a:pt x="42" y="608"/>
                  </a:lnTo>
                  <a:lnTo>
                    <a:pt x="48" y="624"/>
                  </a:lnTo>
                  <a:lnTo>
                    <a:pt x="53" y="634"/>
                  </a:lnTo>
                  <a:lnTo>
                    <a:pt x="63" y="640"/>
                  </a:lnTo>
                  <a:lnTo>
                    <a:pt x="79" y="645"/>
                  </a:lnTo>
                  <a:lnTo>
                    <a:pt x="79" y="645"/>
                  </a:lnTo>
                  <a:lnTo>
                    <a:pt x="95" y="640"/>
                  </a:lnTo>
                  <a:lnTo>
                    <a:pt x="105" y="634"/>
                  </a:lnTo>
                  <a:lnTo>
                    <a:pt x="111" y="624"/>
                  </a:lnTo>
                  <a:lnTo>
                    <a:pt x="116" y="608"/>
                  </a:lnTo>
                  <a:lnTo>
                    <a:pt x="116" y="608"/>
                  </a:lnTo>
                  <a:lnTo>
                    <a:pt x="116" y="624"/>
                  </a:lnTo>
                  <a:lnTo>
                    <a:pt x="126" y="634"/>
                  </a:lnTo>
                  <a:lnTo>
                    <a:pt x="137" y="640"/>
                  </a:lnTo>
                  <a:lnTo>
                    <a:pt x="153" y="645"/>
                  </a:lnTo>
                  <a:lnTo>
                    <a:pt x="153" y="645"/>
                  </a:lnTo>
                  <a:lnTo>
                    <a:pt x="163" y="640"/>
                  </a:lnTo>
                  <a:lnTo>
                    <a:pt x="179" y="634"/>
                  </a:lnTo>
                  <a:lnTo>
                    <a:pt x="184" y="624"/>
                  </a:lnTo>
                  <a:lnTo>
                    <a:pt x="189" y="608"/>
                  </a:lnTo>
                  <a:lnTo>
                    <a:pt x="189" y="409"/>
                  </a:lnTo>
                  <a:lnTo>
                    <a:pt x="189" y="409"/>
                  </a:lnTo>
                  <a:lnTo>
                    <a:pt x="189" y="409"/>
                  </a:lnTo>
                  <a:lnTo>
                    <a:pt x="205" y="404"/>
                  </a:lnTo>
                  <a:lnTo>
                    <a:pt x="215" y="393"/>
                  </a:lnTo>
                  <a:lnTo>
                    <a:pt x="226" y="383"/>
                  </a:lnTo>
                  <a:lnTo>
                    <a:pt x="231" y="362"/>
                  </a:lnTo>
                  <a:lnTo>
                    <a:pt x="231" y="194"/>
                  </a:lnTo>
                  <a:lnTo>
                    <a:pt x="231" y="194"/>
                  </a:lnTo>
                  <a:lnTo>
                    <a:pt x="226" y="183"/>
                  </a:lnTo>
                  <a:lnTo>
                    <a:pt x="221" y="178"/>
                  </a:lnTo>
                  <a:lnTo>
                    <a:pt x="221" y="1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136" name="Freeform 97">
              <a:extLst>
                <a:ext uri="{FF2B5EF4-FFF2-40B4-BE49-F238E27FC236}">
                  <a16:creationId xmlns:a16="http://schemas.microsoft.com/office/drawing/2014/main" id="{F0DDE509-1C52-44E8-BA92-D85FA08EA5BC}"/>
                </a:ext>
              </a:extLst>
            </p:cNvPr>
            <p:cNvSpPr>
              <a:spLocks/>
            </p:cNvSpPr>
            <p:nvPr/>
          </p:nvSpPr>
          <p:spPr bwMode="auto">
            <a:xfrm>
              <a:off x="3330116" y="3445876"/>
              <a:ext cx="215906" cy="73848"/>
            </a:xfrm>
            <a:custGeom>
              <a:avLst/>
              <a:gdLst>
                <a:gd name="T0" fmla="*/ 53 w 383"/>
                <a:gd name="T1" fmla="*/ 68 h 131"/>
                <a:gd name="T2" fmla="*/ 53 w 383"/>
                <a:gd name="T3" fmla="*/ 68 h 131"/>
                <a:gd name="T4" fmla="*/ 79 w 383"/>
                <a:gd name="T5" fmla="*/ 78 h 131"/>
                <a:gd name="T6" fmla="*/ 105 w 383"/>
                <a:gd name="T7" fmla="*/ 84 h 131"/>
                <a:gd name="T8" fmla="*/ 184 w 383"/>
                <a:gd name="T9" fmla="*/ 89 h 131"/>
                <a:gd name="T10" fmla="*/ 184 w 383"/>
                <a:gd name="T11" fmla="*/ 89 h 131"/>
                <a:gd name="T12" fmla="*/ 247 w 383"/>
                <a:gd name="T13" fmla="*/ 84 h 131"/>
                <a:gd name="T14" fmla="*/ 299 w 383"/>
                <a:gd name="T15" fmla="*/ 78 h 131"/>
                <a:gd name="T16" fmla="*/ 331 w 383"/>
                <a:gd name="T17" fmla="*/ 63 h 131"/>
                <a:gd name="T18" fmla="*/ 341 w 383"/>
                <a:gd name="T19" fmla="*/ 52 h 131"/>
                <a:gd name="T20" fmla="*/ 346 w 383"/>
                <a:gd name="T21" fmla="*/ 47 h 131"/>
                <a:gd name="T22" fmla="*/ 346 w 383"/>
                <a:gd name="T23" fmla="*/ 47 h 131"/>
                <a:gd name="T24" fmla="*/ 341 w 383"/>
                <a:gd name="T25" fmla="*/ 36 h 131"/>
                <a:gd name="T26" fmla="*/ 325 w 383"/>
                <a:gd name="T27" fmla="*/ 26 h 131"/>
                <a:gd name="T28" fmla="*/ 304 w 383"/>
                <a:gd name="T29" fmla="*/ 15 h 131"/>
                <a:gd name="T30" fmla="*/ 278 w 383"/>
                <a:gd name="T31" fmla="*/ 10 h 131"/>
                <a:gd name="T32" fmla="*/ 278 w 383"/>
                <a:gd name="T33" fmla="*/ 0 h 131"/>
                <a:gd name="T34" fmla="*/ 278 w 383"/>
                <a:gd name="T35" fmla="*/ 0 h 131"/>
                <a:gd name="T36" fmla="*/ 320 w 383"/>
                <a:gd name="T37" fmla="*/ 10 h 131"/>
                <a:gd name="T38" fmla="*/ 352 w 383"/>
                <a:gd name="T39" fmla="*/ 21 h 131"/>
                <a:gd name="T40" fmla="*/ 372 w 383"/>
                <a:gd name="T41" fmla="*/ 42 h 131"/>
                <a:gd name="T42" fmla="*/ 378 w 383"/>
                <a:gd name="T43" fmla="*/ 52 h 131"/>
                <a:gd name="T44" fmla="*/ 383 w 383"/>
                <a:gd name="T45" fmla="*/ 63 h 131"/>
                <a:gd name="T46" fmla="*/ 383 w 383"/>
                <a:gd name="T47" fmla="*/ 63 h 131"/>
                <a:gd name="T48" fmla="*/ 378 w 383"/>
                <a:gd name="T49" fmla="*/ 73 h 131"/>
                <a:gd name="T50" fmla="*/ 367 w 383"/>
                <a:gd name="T51" fmla="*/ 89 h 131"/>
                <a:gd name="T52" fmla="*/ 346 w 383"/>
                <a:gd name="T53" fmla="*/ 99 h 131"/>
                <a:gd name="T54" fmla="*/ 325 w 383"/>
                <a:gd name="T55" fmla="*/ 110 h 131"/>
                <a:gd name="T56" fmla="*/ 262 w 383"/>
                <a:gd name="T57" fmla="*/ 126 h 131"/>
                <a:gd name="T58" fmla="*/ 184 w 383"/>
                <a:gd name="T59" fmla="*/ 131 h 131"/>
                <a:gd name="T60" fmla="*/ 184 w 383"/>
                <a:gd name="T61" fmla="*/ 131 h 131"/>
                <a:gd name="T62" fmla="*/ 126 w 383"/>
                <a:gd name="T63" fmla="*/ 131 h 131"/>
                <a:gd name="T64" fmla="*/ 74 w 383"/>
                <a:gd name="T65" fmla="*/ 120 h 131"/>
                <a:gd name="T66" fmla="*/ 32 w 383"/>
                <a:gd name="T67" fmla="*/ 105 h 131"/>
                <a:gd name="T68" fmla="*/ 0 w 383"/>
                <a:gd name="T69" fmla="*/ 89 h 131"/>
                <a:gd name="T70" fmla="*/ 0 w 383"/>
                <a:gd name="T71" fmla="*/ 89 h 131"/>
                <a:gd name="T72" fmla="*/ 53 w 383"/>
                <a:gd name="T73" fmla="*/ 68 h 131"/>
                <a:gd name="T74" fmla="*/ 53 w 383"/>
                <a:gd name="T75" fmla="*/ 68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3" h="131">
                  <a:moveTo>
                    <a:pt x="53" y="68"/>
                  </a:moveTo>
                  <a:lnTo>
                    <a:pt x="53" y="68"/>
                  </a:lnTo>
                  <a:lnTo>
                    <a:pt x="79" y="78"/>
                  </a:lnTo>
                  <a:lnTo>
                    <a:pt x="105" y="84"/>
                  </a:lnTo>
                  <a:lnTo>
                    <a:pt x="184" y="89"/>
                  </a:lnTo>
                  <a:lnTo>
                    <a:pt x="184" y="89"/>
                  </a:lnTo>
                  <a:lnTo>
                    <a:pt x="247" y="84"/>
                  </a:lnTo>
                  <a:lnTo>
                    <a:pt x="299" y="78"/>
                  </a:lnTo>
                  <a:lnTo>
                    <a:pt x="331" y="63"/>
                  </a:lnTo>
                  <a:lnTo>
                    <a:pt x="341" y="52"/>
                  </a:lnTo>
                  <a:lnTo>
                    <a:pt x="346" y="47"/>
                  </a:lnTo>
                  <a:lnTo>
                    <a:pt x="346" y="47"/>
                  </a:lnTo>
                  <a:lnTo>
                    <a:pt x="341" y="36"/>
                  </a:lnTo>
                  <a:lnTo>
                    <a:pt x="325" y="26"/>
                  </a:lnTo>
                  <a:lnTo>
                    <a:pt x="304" y="15"/>
                  </a:lnTo>
                  <a:lnTo>
                    <a:pt x="278" y="10"/>
                  </a:lnTo>
                  <a:lnTo>
                    <a:pt x="278" y="0"/>
                  </a:lnTo>
                  <a:lnTo>
                    <a:pt x="278" y="0"/>
                  </a:lnTo>
                  <a:lnTo>
                    <a:pt x="320" y="10"/>
                  </a:lnTo>
                  <a:lnTo>
                    <a:pt x="352" y="21"/>
                  </a:lnTo>
                  <a:lnTo>
                    <a:pt x="372" y="42"/>
                  </a:lnTo>
                  <a:lnTo>
                    <a:pt x="378" y="52"/>
                  </a:lnTo>
                  <a:lnTo>
                    <a:pt x="383" y="63"/>
                  </a:lnTo>
                  <a:lnTo>
                    <a:pt x="383" y="63"/>
                  </a:lnTo>
                  <a:lnTo>
                    <a:pt x="378" y="73"/>
                  </a:lnTo>
                  <a:lnTo>
                    <a:pt x="367" y="89"/>
                  </a:lnTo>
                  <a:lnTo>
                    <a:pt x="346" y="99"/>
                  </a:lnTo>
                  <a:lnTo>
                    <a:pt x="325" y="110"/>
                  </a:lnTo>
                  <a:lnTo>
                    <a:pt x="262" y="126"/>
                  </a:lnTo>
                  <a:lnTo>
                    <a:pt x="184" y="131"/>
                  </a:lnTo>
                  <a:lnTo>
                    <a:pt x="184" y="131"/>
                  </a:lnTo>
                  <a:lnTo>
                    <a:pt x="126" y="131"/>
                  </a:lnTo>
                  <a:lnTo>
                    <a:pt x="74" y="120"/>
                  </a:lnTo>
                  <a:lnTo>
                    <a:pt x="32" y="105"/>
                  </a:lnTo>
                  <a:lnTo>
                    <a:pt x="0" y="89"/>
                  </a:lnTo>
                  <a:lnTo>
                    <a:pt x="0" y="89"/>
                  </a:lnTo>
                  <a:lnTo>
                    <a:pt x="53" y="68"/>
                  </a:lnTo>
                  <a:lnTo>
                    <a:pt x="53" y="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137" name="Freeform 98">
              <a:extLst>
                <a:ext uri="{FF2B5EF4-FFF2-40B4-BE49-F238E27FC236}">
                  <a16:creationId xmlns:a16="http://schemas.microsoft.com/office/drawing/2014/main" id="{65E86C79-EF2B-4C11-AB73-31CBD902F86A}"/>
                </a:ext>
              </a:extLst>
            </p:cNvPr>
            <p:cNvSpPr>
              <a:spLocks noEditPoints="1"/>
            </p:cNvSpPr>
            <p:nvPr/>
          </p:nvSpPr>
          <p:spPr bwMode="auto">
            <a:xfrm>
              <a:off x="3368450" y="3120607"/>
              <a:ext cx="130220" cy="363602"/>
            </a:xfrm>
            <a:custGeom>
              <a:avLst/>
              <a:gdLst>
                <a:gd name="T0" fmla="*/ 168 w 231"/>
                <a:gd name="T1" fmla="*/ 94 h 645"/>
                <a:gd name="T2" fmla="*/ 173 w 231"/>
                <a:gd name="T3" fmla="*/ 68 h 645"/>
                <a:gd name="T4" fmla="*/ 168 w 231"/>
                <a:gd name="T5" fmla="*/ 68 h 645"/>
                <a:gd name="T6" fmla="*/ 168 w 231"/>
                <a:gd name="T7" fmla="*/ 63 h 645"/>
                <a:gd name="T8" fmla="*/ 168 w 231"/>
                <a:gd name="T9" fmla="*/ 63 h 645"/>
                <a:gd name="T10" fmla="*/ 158 w 231"/>
                <a:gd name="T11" fmla="*/ 15 h 645"/>
                <a:gd name="T12" fmla="*/ 116 w 231"/>
                <a:gd name="T13" fmla="*/ 0 h 645"/>
                <a:gd name="T14" fmla="*/ 89 w 231"/>
                <a:gd name="T15" fmla="*/ 5 h 645"/>
                <a:gd name="T16" fmla="*/ 63 w 231"/>
                <a:gd name="T17" fmla="*/ 36 h 645"/>
                <a:gd name="T18" fmla="*/ 63 w 231"/>
                <a:gd name="T19" fmla="*/ 63 h 645"/>
                <a:gd name="T20" fmla="*/ 63 w 231"/>
                <a:gd name="T21" fmla="*/ 63 h 645"/>
                <a:gd name="T22" fmla="*/ 58 w 231"/>
                <a:gd name="T23" fmla="*/ 68 h 645"/>
                <a:gd name="T24" fmla="*/ 58 w 231"/>
                <a:gd name="T25" fmla="*/ 84 h 645"/>
                <a:gd name="T26" fmla="*/ 63 w 231"/>
                <a:gd name="T27" fmla="*/ 94 h 645"/>
                <a:gd name="T28" fmla="*/ 68 w 231"/>
                <a:gd name="T29" fmla="*/ 94 h 645"/>
                <a:gd name="T30" fmla="*/ 74 w 231"/>
                <a:gd name="T31" fmla="*/ 105 h 645"/>
                <a:gd name="T32" fmla="*/ 95 w 231"/>
                <a:gd name="T33" fmla="*/ 136 h 645"/>
                <a:gd name="T34" fmla="*/ 116 w 231"/>
                <a:gd name="T35" fmla="*/ 141 h 645"/>
                <a:gd name="T36" fmla="*/ 137 w 231"/>
                <a:gd name="T37" fmla="*/ 136 h 645"/>
                <a:gd name="T38" fmla="*/ 158 w 231"/>
                <a:gd name="T39" fmla="*/ 105 h 645"/>
                <a:gd name="T40" fmla="*/ 163 w 231"/>
                <a:gd name="T41" fmla="*/ 94 h 645"/>
                <a:gd name="T42" fmla="*/ 168 w 231"/>
                <a:gd name="T43" fmla="*/ 94 h 645"/>
                <a:gd name="T44" fmla="*/ 0 w 231"/>
                <a:gd name="T45" fmla="*/ 194 h 645"/>
                <a:gd name="T46" fmla="*/ 0 w 231"/>
                <a:gd name="T47" fmla="*/ 362 h 645"/>
                <a:gd name="T48" fmla="*/ 11 w 231"/>
                <a:gd name="T49" fmla="*/ 393 h 645"/>
                <a:gd name="T50" fmla="*/ 42 w 231"/>
                <a:gd name="T51" fmla="*/ 409 h 645"/>
                <a:gd name="T52" fmla="*/ 42 w 231"/>
                <a:gd name="T53" fmla="*/ 608 h 645"/>
                <a:gd name="T54" fmla="*/ 47 w 231"/>
                <a:gd name="T55" fmla="*/ 624 h 645"/>
                <a:gd name="T56" fmla="*/ 63 w 231"/>
                <a:gd name="T57" fmla="*/ 640 h 645"/>
                <a:gd name="T58" fmla="*/ 79 w 231"/>
                <a:gd name="T59" fmla="*/ 645 h 645"/>
                <a:gd name="T60" fmla="*/ 105 w 231"/>
                <a:gd name="T61" fmla="*/ 634 h 645"/>
                <a:gd name="T62" fmla="*/ 116 w 231"/>
                <a:gd name="T63" fmla="*/ 608 h 645"/>
                <a:gd name="T64" fmla="*/ 116 w 231"/>
                <a:gd name="T65" fmla="*/ 624 h 645"/>
                <a:gd name="T66" fmla="*/ 137 w 231"/>
                <a:gd name="T67" fmla="*/ 640 h 645"/>
                <a:gd name="T68" fmla="*/ 152 w 231"/>
                <a:gd name="T69" fmla="*/ 645 h 645"/>
                <a:gd name="T70" fmla="*/ 179 w 231"/>
                <a:gd name="T71" fmla="*/ 634 h 645"/>
                <a:gd name="T72" fmla="*/ 189 w 231"/>
                <a:gd name="T73" fmla="*/ 608 h 645"/>
                <a:gd name="T74" fmla="*/ 189 w 231"/>
                <a:gd name="T75" fmla="*/ 409 h 645"/>
                <a:gd name="T76" fmla="*/ 205 w 231"/>
                <a:gd name="T77" fmla="*/ 404 h 645"/>
                <a:gd name="T78" fmla="*/ 226 w 231"/>
                <a:gd name="T79" fmla="*/ 383 h 645"/>
                <a:gd name="T80" fmla="*/ 231 w 231"/>
                <a:gd name="T81" fmla="*/ 194 h 645"/>
                <a:gd name="T82" fmla="*/ 226 w 231"/>
                <a:gd name="T83" fmla="*/ 183 h 645"/>
                <a:gd name="T84" fmla="*/ 173 w 231"/>
                <a:gd name="T85" fmla="*/ 152 h 645"/>
                <a:gd name="T86" fmla="*/ 158 w 231"/>
                <a:gd name="T87" fmla="*/ 141 h 645"/>
                <a:gd name="T88" fmla="*/ 126 w 231"/>
                <a:gd name="T89" fmla="*/ 178 h 645"/>
                <a:gd name="T90" fmla="*/ 126 w 231"/>
                <a:gd name="T91" fmla="*/ 152 h 645"/>
                <a:gd name="T92" fmla="*/ 116 w 231"/>
                <a:gd name="T93" fmla="*/ 157 h 645"/>
                <a:gd name="T94" fmla="*/ 100 w 231"/>
                <a:gd name="T95" fmla="*/ 152 h 645"/>
                <a:gd name="T96" fmla="*/ 105 w 231"/>
                <a:gd name="T97" fmla="*/ 178 h 645"/>
                <a:gd name="T98" fmla="*/ 74 w 231"/>
                <a:gd name="T99" fmla="*/ 141 h 645"/>
                <a:gd name="T100" fmla="*/ 58 w 231"/>
                <a:gd name="T101" fmla="*/ 152 h 645"/>
                <a:gd name="T102" fmla="*/ 11 w 231"/>
                <a:gd name="T103" fmla="*/ 178 h 645"/>
                <a:gd name="T104" fmla="*/ 0 w 231"/>
                <a:gd name="T105" fmla="*/ 194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31" h="645">
                  <a:moveTo>
                    <a:pt x="168" y="94"/>
                  </a:moveTo>
                  <a:lnTo>
                    <a:pt x="168" y="94"/>
                  </a:lnTo>
                  <a:lnTo>
                    <a:pt x="173" y="84"/>
                  </a:lnTo>
                  <a:lnTo>
                    <a:pt x="173" y="68"/>
                  </a:lnTo>
                  <a:lnTo>
                    <a:pt x="173" y="68"/>
                  </a:lnTo>
                  <a:lnTo>
                    <a:pt x="168" y="68"/>
                  </a:lnTo>
                  <a:lnTo>
                    <a:pt x="168" y="63"/>
                  </a:lnTo>
                  <a:lnTo>
                    <a:pt x="168" y="63"/>
                  </a:lnTo>
                  <a:lnTo>
                    <a:pt x="168" y="63"/>
                  </a:lnTo>
                  <a:lnTo>
                    <a:pt x="168" y="63"/>
                  </a:lnTo>
                  <a:lnTo>
                    <a:pt x="168" y="36"/>
                  </a:lnTo>
                  <a:lnTo>
                    <a:pt x="158" y="15"/>
                  </a:lnTo>
                  <a:lnTo>
                    <a:pt x="142" y="5"/>
                  </a:lnTo>
                  <a:lnTo>
                    <a:pt x="116" y="0"/>
                  </a:lnTo>
                  <a:lnTo>
                    <a:pt x="116" y="0"/>
                  </a:lnTo>
                  <a:lnTo>
                    <a:pt x="89" y="5"/>
                  </a:lnTo>
                  <a:lnTo>
                    <a:pt x="74" y="15"/>
                  </a:lnTo>
                  <a:lnTo>
                    <a:pt x="63" y="36"/>
                  </a:lnTo>
                  <a:lnTo>
                    <a:pt x="63" y="63"/>
                  </a:lnTo>
                  <a:lnTo>
                    <a:pt x="63" y="63"/>
                  </a:lnTo>
                  <a:lnTo>
                    <a:pt x="63" y="63"/>
                  </a:lnTo>
                  <a:lnTo>
                    <a:pt x="63" y="63"/>
                  </a:lnTo>
                  <a:lnTo>
                    <a:pt x="58" y="68"/>
                  </a:lnTo>
                  <a:lnTo>
                    <a:pt x="58" y="68"/>
                  </a:lnTo>
                  <a:lnTo>
                    <a:pt x="58" y="68"/>
                  </a:lnTo>
                  <a:lnTo>
                    <a:pt x="58" y="84"/>
                  </a:lnTo>
                  <a:lnTo>
                    <a:pt x="63" y="94"/>
                  </a:lnTo>
                  <a:lnTo>
                    <a:pt x="63" y="94"/>
                  </a:lnTo>
                  <a:lnTo>
                    <a:pt x="68" y="94"/>
                  </a:lnTo>
                  <a:lnTo>
                    <a:pt x="68" y="94"/>
                  </a:lnTo>
                  <a:lnTo>
                    <a:pt x="74" y="105"/>
                  </a:lnTo>
                  <a:lnTo>
                    <a:pt x="74" y="105"/>
                  </a:lnTo>
                  <a:lnTo>
                    <a:pt x="84" y="120"/>
                  </a:lnTo>
                  <a:lnTo>
                    <a:pt x="95" y="136"/>
                  </a:lnTo>
                  <a:lnTo>
                    <a:pt x="105" y="141"/>
                  </a:lnTo>
                  <a:lnTo>
                    <a:pt x="116" y="141"/>
                  </a:lnTo>
                  <a:lnTo>
                    <a:pt x="126" y="141"/>
                  </a:lnTo>
                  <a:lnTo>
                    <a:pt x="137" y="136"/>
                  </a:lnTo>
                  <a:lnTo>
                    <a:pt x="147" y="120"/>
                  </a:lnTo>
                  <a:lnTo>
                    <a:pt x="158" y="105"/>
                  </a:lnTo>
                  <a:lnTo>
                    <a:pt x="158" y="105"/>
                  </a:lnTo>
                  <a:lnTo>
                    <a:pt x="163" y="94"/>
                  </a:lnTo>
                  <a:lnTo>
                    <a:pt x="163" y="94"/>
                  </a:lnTo>
                  <a:lnTo>
                    <a:pt x="168" y="94"/>
                  </a:lnTo>
                  <a:lnTo>
                    <a:pt x="168" y="94"/>
                  </a:lnTo>
                  <a:close/>
                  <a:moveTo>
                    <a:pt x="0" y="194"/>
                  </a:moveTo>
                  <a:lnTo>
                    <a:pt x="0" y="362"/>
                  </a:lnTo>
                  <a:lnTo>
                    <a:pt x="0" y="362"/>
                  </a:lnTo>
                  <a:lnTo>
                    <a:pt x="6" y="383"/>
                  </a:lnTo>
                  <a:lnTo>
                    <a:pt x="11" y="393"/>
                  </a:lnTo>
                  <a:lnTo>
                    <a:pt x="26" y="404"/>
                  </a:lnTo>
                  <a:lnTo>
                    <a:pt x="42" y="409"/>
                  </a:lnTo>
                  <a:lnTo>
                    <a:pt x="42" y="409"/>
                  </a:lnTo>
                  <a:lnTo>
                    <a:pt x="42" y="608"/>
                  </a:lnTo>
                  <a:lnTo>
                    <a:pt x="42" y="608"/>
                  </a:lnTo>
                  <a:lnTo>
                    <a:pt x="47" y="624"/>
                  </a:lnTo>
                  <a:lnTo>
                    <a:pt x="53" y="634"/>
                  </a:lnTo>
                  <a:lnTo>
                    <a:pt x="63" y="640"/>
                  </a:lnTo>
                  <a:lnTo>
                    <a:pt x="79" y="645"/>
                  </a:lnTo>
                  <a:lnTo>
                    <a:pt x="79" y="645"/>
                  </a:lnTo>
                  <a:lnTo>
                    <a:pt x="95" y="640"/>
                  </a:lnTo>
                  <a:lnTo>
                    <a:pt x="105" y="634"/>
                  </a:lnTo>
                  <a:lnTo>
                    <a:pt x="110" y="624"/>
                  </a:lnTo>
                  <a:lnTo>
                    <a:pt x="116" y="608"/>
                  </a:lnTo>
                  <a:lnTo>
                    <a:pt x="116" y="608"/>
                  </a:lnTo>
                  <a:lnTo>
                    <a:pt x="116" y="624"/>
                  </a:lnTo>
                  <a:lnTo>
                    <a:pt x="126" y="634"/>
                  </a:lnTo>
                  <a:lnTo>
                    <a:pt x="137" y="640"/>
                  </a:lnTo>
                  <a:lnTo>
                    <a:pt x="152" y="645"/>
                  </a:lnTo>
                  <a:lnTo>
                    <a:pt x="152" y="645"/>
                  </a:lnTo>
                  <a:lnTo>
                    <a:pt x="168" y="640"/>
                  </a:lnTo>
                  <a:lnTo>
                    <a:pt x="179" y="634"/>
                  </a:lnTo>
                  <a:lnTo>
                    <a:pt x="184" y="624"/>
                  </a:lnTo>
                  <a:lnTo>
                    <a:pt x="189" y="608"/>
                  </a:lnTo>
                  <a:lnTo>
                    <a:pt x="189" y="409"/>
                  </a:lnTo>
                  <a:lnTo>
                    <a:pt x="189" y="409"/>
                  </a:lnTo>
                  <a:lnTo>
                    <a:pt x="189" y="409"/>
                  </a:lnTo>
                  <a:lnTo>
                    <a:pt x="205" y="404"/>
                  </a:lnTo>
                  <a:lnTo>
                    <a:pt x="215" y="393"/>
                  </a:lnTo>
                  <a:lnTo>
                    <a:pt x="226" y="383"/>
                  </a:lnTo>
                  <a:lnTo>
                    <a:pt x="231" y="362"/>
                  </a:lnTo>
                  <a:lnTo>
                    <a:pt x="231" y="194"/>
                  </a:lnTo>
                  <a:lnTo>
                    <a:pt x="231" y="194"/>
                  </a:lnTo>
                  <a:lnTo>
                    <a:pt x="226" y="183"/>
                  </a:lnTo>
                  <a:lnTo>
                    <a:pt x="221" y="178"/>
                  </a:lnTo>
                  <a:lnTo>
                    <a:pt x="173" y="152"/>
                  </a:lnTo>
                  <a:lnTo>
                    <a:pt x="173" y="152"/>
                  </a:lnTo>
                  <a:lnTo>
                    <a:pt x="158" y="141"/>
                  </a:lnTo>
                  <a:lnTo>
                    <a:pt x="147" y="157"/>
                  </a:lnTo>
                  <a:lnTo>
                    <a:pt x="126" y="178"/>
                  </a:lnTo>
                  <a:lnTo>
                    <a:pt x="121" y="162"/>
                  </a:lnTo>
                  <a:lnTo>
                    <a:pt x="126" y="152"/>
                  </a:lnTo>
                  <a:lnTo>
                    <a:pt x="126" y="152"/>
                  </a:lnTo>
                  <a:lnTo>
                    <a:pt x="116" y="157"/>
                  </a:lnTo>
                  <a:lnTo>
                    <a:pt x="116" y="157"/>
                  </a:lnTo>
                  <a:lnTo>
                    <a:pt x="100" y="152"/>
                  </a:lnTo>
                  <a:lnTo>
                    <a:pt x="105" y="162"/>
                  </a:lnTo>
                  <a:lnTo>
                    <a:pt x="105" y="178"/>
                  </a:lnTo>
                  <a:lnTo>
                    <a:pt x="84" y="157"/>
                  </a:lnTo>
                  <a:lnTo>
                    <a:pt x="74" y="141"/>
                  </a:lnTo>
                  <a:lnTo>
                    <a:pt x="74" y="141"/>
                  </a:lnTo>
                  <a:lnTo>
                    <a:pt x="58" y="152"/>
                  </a:lnTo>
                  <a:lnTo>
                    <a:pt x="11" y="178"/>
                  </a:lnTo>
                  <a:lnTo>
                    <a:pt x="11" y="178"/>
                  </a:lnTo>
                  <a:lnTo>
                    <a:pt x="6" y="183"/>
                  </a:lnTo>
                  <a:lnTo>
                    <a:pt x="0" y="194"/>
                  </a:lnTo>
                  <a:lnTo>
                    <a:pt x="0"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grpSp>
      <p:cxnSp>
        <p:nvCxnSpPr>
          <p:cNvPr id="138" name="Straight Arrow Connector 137">
            <a:extLst>
              <a:ext uri="{FF2B5EF4-FFF2-40B4-BE49-F238E27FC236}">
                <a16:creationId xmlns:a16="http://schemas.microsoft.com/office/drawing/2014/main" id="{11A72917-AA8D-4008-9A6C-90C427A36200}"/>
              </a:ext>
            </a:extLst>
          </p:cNvPr>
          <p:cNvCxnSpPr/>
          <p:nvPr/>
        </p:nvCxnSpPr>
        <p:spPr>
          <a:xfrm flipV="1">
            <a:off x="8624377" y="2381961"/>
            <a:ext cx="538480" cy="0"/>
          </a:xfrm>
          <a:prstGeom prst="straightConnector1">
            <a:avLst/>
          </a:prstGeom>
          <a:noFill/>
          <a:ln w="9525" cap="flat" cmpd="sng" algn="ctr">
            <a:solidFill>
              <a:srgbClr val="44546A"/>
            </a:solidFill>
            <a:prstDash val="solid"/>
            <a:tailEnd type="triangle"/>
          </a:ln>
          <a:effectLst/>
        </p:spPr>
      </p:cxnSp>
      <p:cxnSp>
        <p:nvCxnSpPr>
          <p:cNvPr id="144" name="Straight Arrow Connector 143">
            <a:extLst>
              <a:ext uri="{FF2B5EF4-FFF2-40B4-BE49-F238E27FC236}">
                <a16:creationId xmlns:a16="http://schemas.microsoft.com/office/drawing/2014/main" id="{1FBA6C84-58C5-4DF5-9520-63D5341F8639}"/>
              </a:ext>
            </a:extLst>
          </p:cNvPr>
          <p:cNvCxnSpPr>
            <a:cxnSpLocks/>
          </p:cNvCxnSpPr>
          <p:nvPr/>
        </p:nvCxnSpPr>
        <p:spPr>
          <a:xfrm>
            <a:off x="9584507" y="2965890"/>
            <a:ext cx="0" cy="252000"/>
          </a:xfrm>
          <a:prstGeom prst="straightConnector1">
            <a:avLst/>
          </a:prstGeom>
          <a:noFill/>
          <a:ln w="19050" cap="flat" cmpd="sng" algn="ctr">
            <a:solidFill>
              <a:srgbClr val="62B5E5"/>
            </a:solidFill>
            <a:prstDash val="solid"/>
            <a:tailEnd type="triangle"/>
          </a:ln>
          <a:effectLst/>
        </p:spPr>
      </p:cxnSp>
      <p:sp>
        <p:nvSpPr>
          <p:cNvPr id="117" name="Text Placeholder 2">
            <a:extLst>
              <a:ext uri="{FF2B5EF4-FFF2-40B4-BE49-F238E27FC236}">
                <a16:creationId xmlns:a16="http://schemas.microsoft.com/office/drawing/2014/main" id="{026FD8F7-ED5D-4DD0-8823-4640A85A54F7}"/>
              </a:ext>
            </a:extLst>
          </p:cNvPr>
          <p:cNvSpPr>
            <a:spLocks noGrp="1"/>
          </p:cNvSpPr>
          <p:nvPr>
            <p:ph type="body" sz="quarter" idx="13"/>
          </p:nvPr>
        </p:nvSpPr>
        <p:spPr>
          <a:xfrm>
            <a:off x="501650" y="651600"/>
            <a:ext cx="11201400" cy="757255"/>
          </a:xfrm>
        </p:spPr>
        <p:txBody>
          <a:bodyPr/>
          <a:lstStyle/>
          <a:p>
            <a:r>
              <a:rPr lang="en-US" sz="2000" dirty="0"/>
              <a:t>Module 4: Support in program management and monitoring of New Govt. schemes</a:t>
            </a:r>
          </a:p>
        </p:txBody>
      </p:sp>
    </p:spTree>
    <p:extLst>
      <p:ext uri="{BB962C8B-B14F-4D97-AF65-F5344CB8AC3E}">
        <p14:creationId xmlns:p14="http://schemas.microsoft.com/office/powerpoint/2010/main" val="211165877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9FE2A-EC0B-4EBB-91D9-CA37432B4834}"/>
              </a:ext>
            </a:extLst>
          </p:cNvPr>
          <p:cNvSpPr>
            <a:spLocks noGrp="1"/>
          </p:cNvSpPr>
          <p:nvPr>
            <p:ph type="title"/>
          </p:nvPr>
        </p:nvSpPr>
        <p:spPr/>
        <p:txBody>
          <a:bodyPr/>
          <a:lstStyle/>
          <a:p>
            <a:r>
              <a:rPr lang="en-US" sz="1600" dirty="0"/>
              <a:t>Our </a:t>
            </a:r>
            <a:r>
              <a:rPr lang="en-US" sz="1600" b="1" dirty="0"/>
              <a:t>Approach</a:t>
            </a:r>
            <a:r>
              <a:rPr lang="en-US" sz="1600" dirty="0"/>
              <a:t> &amp; Methodology </a:t>
            </a:r>
          </a:p>
        </p:txBody>
      </p:sp>
      <p:grpSp>
        <p:nvGrpSpPr>
          <p:cNvPr id="4" name="Group 3">
            <a:extLst>
              <a:ext uri="{FF2B5EF4-FFF2-40B4-BE49-F238E27FC236}">
                <a16:creationId xmlns:a16="http://schemas.microsoft.com/office/drawing/2014/main" id="{A06802CE-CDAD-416E-9C78-4368FCFBA23D}"/>
              </a:ext>
            </a:extLst>
          </p:cNvPr>
          <p:cNvGrpSpPr/>
          <p:nvPr/>
        </p:nvGrpSpPr>
        <p:grpSpPr>
          <a:xfrm>
            <a:off x="542162" y="5791896"/>
            <a:ext cx="11107676" cy="620203"/>
            <a:chOff x="1774616" y="4917845"/>
            <a:chExt cx="9412580" cy="620203"/>
          </a:xfrm>
        </p:grpSpPr>
        <p:sp>
          <p:nvSpPr>
            <p:cNvPr id="468" name="AutoShape 3">
              <a:extLst>
                <a:ext uri="{FF2B5EF4-FFF2-40B4-BE49-F238E27FC236}">
                  <a16:creationId xmlns:a16="http://schemas.microsoft.com/office/drawing/2014/main" id="{EF2D1533-D434-44DF-84EB-BE820F3FB3AC}"/>
                </a:ext>
              </a:extLst>
            </p:cNvPr>
            <p:cNvSpPr>
              <a:spLocks noChangeArrowheads="1"/>
            </p:cNvSpPr>
            <p:nvPr/>
          </p:nvSpPr>
          <p:spPr bwMode="gray">
            <a:xfrm>
              <a:off x="1774616" y="4917845"/>
              <a:ext cx="1980000" cy="612000"/>
            </a:xfrm>
            <a:prstGeom prst="chevron">
              <a:avLst>
                <a:gd name="adj" fmla="val 34952"/>
              </a:avLst>
            </a:prstGeom>
            <a:solidFill>
              <a:schemeClr val="accent1">
                <a:lumMod val="60000"/>
                <a:lumOff val="40000"/>
              </a:schemeClr>
            </a:solidFill>
            <a:ln w="12700" cap="rnd" algn="ctr">
              <a:noFill/>
              <a:miter lim="800000"/>
              <a:headEnd/>
              <a:tailEnd/>
            </a:ln>
          </p:spPr>
          <p:txBody>
            <a:bodyPr lIns="88900" tIns="88900" rIns="88900" bIns="88900" anchor="ctr" anchorCtr="0"/>
            <a:lstStyle/>
            <a:p>
              <a:pPr algn="ctr">
                <a:lnSpc>
                  <a:spcPct val="106000"/>
                </a:lnSpc>
                <a:defRPr/>
              </a:pPr>
              <a:r>
                <a:rPr lang="en-US" sz="1100" b="1" dirty="0">
                  <a:latin typeface="Verdana" panose="020B0604030504040204" pitchFamily="34" charset="0"/>
                  <a:ea typeface="Verdana" panose="020B0604030504040204" pitchFamily="34" charset="0"/>
                </a:rPr>
                <a:t>Setting up of AMI-PMA Cell</a:t>
              </a:r>
            </a:p>
          </p:txBody>
        </p:sp>
        <p:sp>
          <p:nvSpPr>
            <p:cNvPr id="469" name="AutoShape 4">
              <a:extLst>
                <a:ext uri="{FF2B5EF4-FFF2-40B4-BE49-F238E27FC236}">
                  <a16:creationId xmlns:a16="http://schemas.microsoft.com/office/drawing/2014/main" id="{FD4DE2A7-A92C-41BE-8908-ADB6BD3854D1}"/>
                </a:ext>
              </a:extLst>
            </p:cNvPr>
            <p:cNvSpPr>
              <a:spLocks noChangeArrowheads="1"/>
            </p:cNvSpPr>
            <p:nvPr/>
          </p:nvSpPr>
          <p:spPr bwMode="gray">
            <a:xfrm>
              <a:off x="3632030" y="4923959"/>
              <a:ext cx="1980000" cy="612000"/>
            </a:xfrm>
            <a:prstGeom prst="chevron">
              <a:avLst>
                <a:gd name="adj" fmla="val 34975"/>
              </a:avLst>
            </a:prstGeom>
            <a:solidFill>
              <a:schemeClr val="accent2"/>
            </a:solidFill>
            <a:ln w="12700" cap="rnd" algn="ctr">
              <a:noFill/>
              <a:miter lim="800000"/>
              <a:headEnd/>
              <a:tailEnd/>
            </a:ln>
          </p:spPr>
          <p:txBody>
            <a:bodyPr lIns="88900" tIns="88900" rIns="88900" bIns="88900" anchor="ctr" anchorCtr="0"/>
            <a:lstStyle/>
            <a:p>
              <a:pPr algn="ctr">
                <a:lnSpc>
                  <a:spcPct val="106000"/>
                </a:lnSpc>
                <a:defRPr/>
              </a:pPr>
              <a:r>
                <a:rPr lang="en-US" sz="1100" b="1" dirty="0">
                  <a:solidFill>
                    <a:schemeClr val="bg1"/>
                  </a:solidFill>
                  <a:latin typeface="Verdana" panose="020B0604030504040204" pitchFamily="34" charset="0"/>
                  <a:ea typeface="Verdana" panose="020B0604030504040204" pitchFamily="34" charset="0"/>
                </a:rPr>
                <a:t>Finalizing data &amp; information collection plan</a:t>
              </a:r>
            </a:p>
          </p:txBody>
        </p:sp>
        <p:sp>
          <p:nvSpPr>
            <p:cNvPr id="470" name="AutoShape 5">
              <a:extLst>
                <a:ext uri="{FF2B5EF4-FFF2-40B4-BE49-F238E27FC236}">
                  <a16:creationId xmlns:a16="http://schemas.microsoft.com/office/drawing/2014/main" id="{A8CA1508-694A-49B2-9D37-0315B5D859F9}"/>
                </a:ext>
              </a:extLst>
            </p:cNvPr>
            <p:cNvSpPr>
              <a:spLocks noChangeArrowheads="1"/>
            </p:cNvSpPr>
            <p:nvPr/>
          </p:nvSpPr>
          <p:spPr bwMode="gray">
            <a:xfrm>
              <a:off x="5482362" y="4926048"/>
              <a:ext cx="1980000" cy="612000"/>
            </a:xfrm>
            <a:prstGeom prst="chevron">
              <a:avLst>
                <a:gd name="adj" fmla="val 34975"/>
              </a:avLst>
            </a:prstGeom>
            <a:solidFill>
              <a:schemeClr val="accent3"/>
            </a:solidFill>
            <a:ln w="12700" cap="rnd" algn="ctr">
              <a:noFill/>
              <a:miter lim="800000"/>
              <a:headEnd/>
              <a:tailEnd/>
            </a:ln>
          </p:spPr>
          <p:txBody>
            <a:bodyPr lIns="88900" tIns="88900" rIns="88900" bIns="88900" anchor="ctr" anchorCtr="0"/>
            <a:lstStyle/>
            <a:p>
              <a:pPr algn="ctr">
                <a:lnSpc>
                  <a:spcPct val="106000"/>
                </a:lnSpc>
                <a:defRPr/>
              </a:pPr>
              <a:r>
                <a:rPr lang="en-US" sz="1100" b="1" dirty="0">
                  <a:solidFill>
                    <a:schemeClr val="bg1"/>
                  </a:solidFill>
                  <a:latin typeface="Verdana" panose="020B0604030504040204" pitchFamily="34" charset="0"/>
                  <a:ea typeface="Verdana" panose="020B0604030504040204" pitchFamily="34" charset="0"/>
                </a:rPr>
                <a:t>Setting up Review &amp; Monitoring Mechanism</a:t>
              </a:r>
            </a:p>
          </p:txBody>
        </p:sp>
        <p:sp>
          <p:nvSpPr>
            <p:cNvPr id="471" name="AutoShape 6">
              <a:extLst>
                <a:ext uri="{FF2B5EF4-FFF2-40B4-BE49-F238E27FC236}">
                  <a16:creationId xmlns:a16="http://schemas.microsoft.com/office/drawing/2014/main" id="{2F172EDC-B614-40B6-B700-484F53D20EFB}"/>
                </a:ext>
              </a:extLst>
            </p:cNvPr>
            <p:cNvSpPr>
              <a:spLocks noChangeArrowheads="1"/>
            </p:cNvSpPr>
            <p:nvPr/>
          </p:nvSpPr>
          <p:spPr bwMode="gray">
            <a:xfrm>
              <a:off x="7339975" y="4925452"/>
              <a:ext cx="1980000" cy="612000"/>
            </a:xfrm>
            <a:prstGeom prst="chevron">
              <a:avLst>
                <a:gd name="adj" fmla="val 34975"/>
              </a:avLst>
            </a:prstGeom>
            <a:solidFill>
              <a:schemeClr val="accent3">
                <a:lumMod val="75000"/>
              </a:schemeClr>
            </a:solidFill>
            <a:ln w="12700" cap="rnd" algn="ctr">
              <a:noFill/>
              <a:miter lim="800000"/>
              <a:headEnd/>
              <a:tailEnd/>
            </a:ln>
          </p:spPr>
          <p:txBody>
            <a:bodyPr lIns="88900" tIns="88900" rIns="88900" bIns="88900" anchor="ctr" anchorCtr="0"/>
            <a:lstStyle/>
            <a:p>
              <a:pPr algn="ctr">
                <a:lnSpc>
                  <a:spcPct val="106000"/>
                </a:lnSpc>
                <a:defRPr/>
              </a:pPr>
              <a:r>
                <a:rPr lang="en-US" sz="1100" b="1" dirty="0">
                  <a:solidFill>
                    <a:schemeClr val="bg1"/>
                  </a:solidFill>
                  <a:latin typeface="Verdana" panose="020B0604030504040204" pitchFamily="34" charset="0"/>
                  <a:ea typeface="Verdana" panose="020B0604030504040204" pitchFamily="34" charset="0"/>
                </a:rPr>
                <a:t>Identification and mitigation </a:t>
              </a:r>
              <a:r>
                <a:rPr lang="en-US" sz="1100" b="1">
                  <a:solidFill>
                    <a:schemeClr val="bg1"/>
                  </a:solidFill>
                  <a:latin typeface="Verdana" panose="020B0604030504040204" pitchFamily="34" charset="0"/>
                  <a:ea typeface="Verdana" panose="020B0604030504040204" pitchFamily="34" charset="0"/>
                </a:rPr>
                <a:t>of risks</a:t>
              </a:r>
              <a:endParaRPr lang="en-US" sz="1100" b="1" dirty="0">
                <a:solidFill>
                  <a:schemeClr val="bg1"/>
                </a:solidFill>
                <a:latin typeface="Verdana" panose="020B0604030504040204" pitchFamily="34" charset="0"/>
                <a:ea typeface="Verdana" panose="020B0604030504040204" pitchFamily="34" charset="0"/>
              </a:endParaRPr>
            </a:p>
          </p:txBody>
        </p:sp>
        <p:sp>
          <p:nvSpPr>
            <p:cNvPr id="476" name="AutoShape 6">
              <a:extLst>
                <a:ext uri="{FF2B5EF4-FFF2-40B4-BE49-F238E27FC236}">
                  <a16:creationId xmlns:a16="http://schemas.microsoft.com/office/drawing/2014/main" id="{0D0F3F40-5CEF-4343-867C-5ACA3D5DC84F}"/>
                </a:ext>
              </a:extLst>
            </p:cNvPr>
            <p:cNvSpPr>
              <a:spLocks noChangeArrowheads="1"/>
            </p:cNvSpPr>
            <p:nvPr/>
          </p:nvSpPr>
          <p:spPr bwMode="gray">
            <a:xfrm>
              <a:off x="9207196" y="4925452"/>
              <a:ext cx="1980000" cy="612000"/>
            </a:xfrm>
            <a:prstGeom prst="chevron">
              <a:avLst>
                <a:gd name="adj" fmla="val 34975"/>
              </a:avLst>
            </a:prstGeom>
            <a:solidFill>
              <a:schemeClr val="accent3">
                <a:lumMod val="50000"/>
              </a:schemeClr>
            </a:solidFill>
            <a:ln w="12700" cap="rnd" algn="ctr">
              <a:noFill/>
              <a:miter lim="800000"/>
              <a:headEnd/>
              <a:tailEnd/>
            </a:ln>
          </p:spPr>
          <p:txBody>
            <a:bodyPr lIns="88900" tIns="88900" rIns="88900" bIns="88900" anchor="ctr" anchorCtr="0"/>
            <a:lstStyle/>
            <a:p>
              <a:pPr algn="ctr">
                <a:lnSpc>
                  <a:spcPct val="106000"/>
                </a:lnSpc>
                <a:defRPr/>
              </a:pPr>
              <a:r>
                <a:rPr lang="en-US" sz="1100" b="1" dirty="0">
                  <a:solidFill>
                    <a:schemeClr val="bg1"/>
                  </a:solidFill>
                  <a:latin typeface="Verdana" panose="020B0604030504040204" pitchFamily="34" charset="0"/>
                  <a:ea typeface="Verdana" panose="020B0604030504040204" pitchFamily="34" charset="0"/>
                </a:rPr>
                <a:t>Deployment of Project Management Tool</a:t>
              </a:r>
            </a:p>
          </p:txBody>
        </p:sp>
      </p:grpSp>
      <p:grpSp>
        <p:nvGrpSpPr>
          <p:cNvPr id="211" name="Group 210">
            <a:extLst>
              <a:ext uri="{FF2B5EF4-FFF2-40B4-BE49-F238E27FC236}">
                <a16:creationId xmlns:a16="http://schemas.microsoft.com/office/drawing/2014/main" id="{9AE9059E-7302-435F-9644-9E68F789CB7B}"/>
              </a:ext>
            </a:extLst>
          </p:cNvPr>
          <p:cNvGrpSpPr/>
          <p:nvPr/>
        </p:nvGrpSpPr>
        <p:grpSpPr>
          <a:xfrm>
            <a:off x="3871569" y="1918055"/>
            <a:ext cx="526733" cy="526733"/>
            <a:chOff x="3172994" y="1557937"/>
            <a:chExt cx="1136224" cy="1136224"/>
          </a:xfrm>
        </p:grpSpPr>
        <p:sp>
          <p:nvSpPr>
            <p:cNvPr id="212" name="Freeform 538">
              <a:extLst>
                <a:ext uri="{FF2B5EF4-FFF2-40B4-BE49-F238E27FC236}">
                  <a16:creationId xmlns:a16="http://schemas.microsoft.com/office/drawing/2014/main" id="{CFA47FC9-EA81-48F5-8D46-2E0BC2AE7697}"/>
                </a:ext>
              </a:extLst>
            </p:cNvPr>
            <p:cNvSpPr>
              <a:spLocks noChangeAspect="1" noEditPoints="1"/>
            </p:cNvSpPr>
            <p:nvPr/>
          </p:nvSpPr>
          <p:spPr bwMode="auto">
            <a:xfrm>
              <a:off x="3246748" y="1635153"/>
              <a:ext cx="981795" cy="981795"/>
            </a:xfrm>
            <a:custGeom>
              <a:avLst/>
              <a:gdLst>
                <a:gd name="T0" fmla="*/ 226 w 512"/>
                <a:gd name="T1" fmla="*/ 352 h 512"/>
                <a:gd name="T2" fmla="*/ 286 w 512"/>
                <a:gd name="T3" fmla="*/ 352 h 512"/>
                <a:gd name="T4" fmla="*/ 279 w 512"/>
                <a:gd name="T5" fmla="*/ 394 h 512"/>
                <a:gd name="T6" fmla="*/ 233 w 512"/>
                <a:gd name="T7" fmla="*/ 394 h 512"/>
                <a:gd name="T8" fmla="*/ 226 w 512"/>
                <a:gd name="T9" fmla="*/ 352 h 512"/>
                <a:gd name="T10" fmla="*/ 256 w 512"/>
                <a:gd name="T11" fmla="*/ 117 h 512"/>
                <a:gd name="T12" fmla="*/ 178 w 512"/>
                <a:gd name="T13" fmla="*/ 191 h 512"/>
                <a:gd name="T14" fmla="*/ 194 w 512"/>
                <a:gd name="T15" fmla="*/ 242 h 512"/>
                <a:gd name="T16" fmla="*/ 224 w 512"/>
                <a:gd name="T17" fmla="*/ 309 h 512"/>
                <a:gd name="T18" fmla="*/ 224 w 512"/>
                <a:gd name="T19" fmla="*/ 330 h 512"/>
                <a:gd name="T20" fmla="*/ 245 w 512"/>
                <a:gd name="T21" fmla="*/ 330 h 512"/>
                <a:gd name="T22" fmla="*/ 245 w 512"/>
                <a:gd name="T23" fmla="*/ 249 h 512"/>
                <a:gd name="T24" fmla="*/ 227 w 512"/>
                <a:gd name="T25" fmla="*/ 231 h 512"/>
                <a:gd name="T26" fmla="*/ 227 w 512"/>
                <a:gd name="T27" fmla="*/ 216 h 512"/>
                <a:gd name="T28" fmla="*/ 242 w 512"/>
                <a:gd name="T29" fmla="*/ 216 h 512"/>
                <a:gd name="T30" fmla="*/ 256 w 512"/>
                <a:gd name="T31" fmla="*/ 230 h 512"/>
                <a:gd name="T32" fmla="*/ 269 w 512"/>
                <a:gd name="T33" fmla="*/ 216 h 512"/>
                <a:gd name="T34" fmla="*/ 285 w 512"/>
                <a:gd name="T35" fmla="*/ 216 h 512"/>
                <a:gd name="T36" fmla="*/ 285 w 512"/>
                <a:gd name="T37" fmla="*/ 231 h 512"/>
                <a:gd name="T38" fmla="*/ 266 w 512"/>
                <a:gd name="T39" fmla="*/ 249 h 512"/>
                <a:gd name="T40" fmla="*/ 266 w 512"/>
                <a:gd name="T41" fmla="*/ 330 h 512"/>
                <a:gd name="T42" fmla="*/ 288 w 512"/>
                <a:gd name="T43" fmla="*/ 330 h 512"/>
                <a:gd name="T44" fmla="*/ 288 w 512"/>
                <a:gd name="T45" fmla="*/ 309 h 512"/>
                <a:gd name="T46" fmla="*/ 318 w 512"/>
                <a:gd name="T47" fmla="*/ 243 h 512"/>
                <a:gd name="T48" fmla="*/ 334 w 512"/>
                <a:gd name="T49" fmla="*/ 191 h 512"/>
                <a:gd name="T50" fmla="*/ 256 w 512"/>
                <a:gd name="T51" fmla="*/ 117 h 512"/>
                <a:gd name="T52" fmla="*/ 512 w 512"/>
                <a:gd name="T53" fmla="*/ 256 h 512"/>
                <a:gd name="T54" fmla="*/ 256 w 512"/>
                <a:gd name="T55" fmla="*/ 512 h 512"/>
                <a:gd name="T56" fmla="*/ 0 w 512"/>
                <a:gd name="T57" fmla="*/ 256 h 512"/>
                <a:gd name="T58" fmla="*/ 256 w 512"/>
                <a:gd name="T59" fmla="*/ 0 h 512"/>
                <a:gd name="T60" fmla="*/ 512 w 512"/>
                <a:gd name="T61" fmla="*/ 256 h 512"/>
                <a:gd name="T62" fmla="*/ 356 w 512"/>
                <a:gd name="T63" fmla="*/ 191 h 512"/>
                <a:gd name="T64" fmla="*/ 256 w 512"/>
                <a:gd name="T65" fmla="*/ 96 h 512"/>
                <a:gd name="T66" fmla="*/ 256 w 512"/>
                <a:gd name="T67" fmla="*/ 96 h 512"/>
                <a:gd name="T68" fmla="*/ 256 w 512"/>
                <a:gd name="T69" fmla="*/ 96 h 512"/>
                <a:gd name="T70" fmla="*/ 256 w 512"/>
                <a:gd name="T71" fmla="*/ 96 h 512"/>
                <a:gd name="T72" fmla="*/ 255 w 512"/>
                <a:gd name="T73" fmla="*/ 96 h 512"/>
                <a:gd name="T74" fmla="*/ 157 w 512"/>
                <a:gd name="T75" fmla="*/ 191 h 512"/>
                <a:gd name="T76" fmla="*/ 176 w 512"/>
                <a:gd name="T77" fmla="*/ 254 h 512"/>
                <a:gd name="T78" fmla="*/ 202 w 512"/>
                <a:gd name="T79" fmla="*/ 309 h 512"/>
                <a:gd name="T80" fmla="*/ 202 w 512"/>
                <a:gd name="T81" fmla="*/ 341 h 512"/>
                <a:gd name="T82" fmla="*/ 203 w 512"/>
                <a:gd name="T83" fmla="*/ 342 h 512"/>
                <a:gd name="T84" fmla="*/ 202 w 512"/>
                <a:gd name="T85" fmla="*/ 343 h 512"/>
                <a:gd name="T86" fmla="*/ 213 w 512"/>
                <a:gd name="T87" fmla="*/ 407 h 512"/>
                <a:gd name="T88" fmla="*/ 224 w 512"/>
                <a:gd name="T89" fmla="*/ 416 h 512"/>
                <a:gd name="T90" fmla="*/ 288 w 512"/>
                <a:gd name="T91" fmla="*/ 416 h 512"/>
                <a:gd name="T92" fmla="*/ 298 w 512"/>
                <a:gd name="T93" fmla="*/ 407 h 512"/>
                <a:gd name="T94" fmla="*/ 309 w 512"/>
                <a:gd name="T95" fmla="*/ 343 h 512"/>
                <a:gd name="T96" fmla="*/ 309 w 512"/>
                <a:gd name="T97" fmla="*/ 342 h 512"/>
                <a:gd name="T98" fmla="*/ 309 w 512"/>
                <a:gd name="T99" fmla="*/ 341 h 512"/>
                <a:gd name="T100" fmla="*/ 309 w 512"/>
                <a:gd name="T101" fmla="*/ 309 h 512"/>
                <a:gd name="T102" fmla="*/ 336 w 512"/>
                <a:gd name="T103" fmla="*/ 254 h 512"/>
                <a:gd name="T104" fmla="*/ 356 w 512"/>
                <a:gd name="T105" fmla="*/ 19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26" y="352"/>
                  </a:moveTo>
                  <a:cubicBezTo>
                    <a:pt x="286" y="352"/>
                    <a:pt x="286" y="352"/>
                    <a:pt x="286" y="352"/>
                  </a:cubicBezTo>
                  <a:cubicBezTo>
                    <a:pt x="279" y="394"/>
                    <a:pt x="279" y="394"/>
                    <a:pt x="279" y="394"/>
                  </a:cubicBezTo>
                  <a:cubicBezTo>
                    <a:pt x="233" y="394"/>
                    <a:pt x="233" y="394"/>
                    <a:pt x="233" y="394"/>
                  </a:cubicBezTo>
                  <a:lnTo>
                    <a:pt x="226" y="352"/>
                  </a:lnTo>
                  <a:close/>
                  <a:moveTo>
                    <a:pt x="256" y="117"/>
                  </a:moveTo>
                  <a:cubicBezTo>
                    <a:pt x="214" y="117"/>
                    <a:pt x="178" y="151"/>
                    <a:pt x="178" y="191"/>
                  </a:cubicBezTo>
                  <a:cubicBezTo>
                    <a:pt x="178" y="219"/>
                    <a:pt x="194" y="242"/>
                    <a:pt x="194" y="242"/>
                  </a:cubicBezTo>
                  <a:cubicBezTo>
                    <a:pt x="201" y="254"/>
                    <a:pt x="224" y="292"/>
                    <a:pt x="224" y="309"/>
                  </a:cubicBezTo>
                  <a:cubicBezTo>
                    <a:pt x="224" y="330"/>
                    <a:pt x="224" y="330"/>
                    <a:pt x="224" y="330"/>
                  </a:cubicBezTo>
                  <a:cubicBezTo>
                    <a:pt x="245" y="330"/>
                    <a:pt x="245" y="330"/>
                    <a:pt x="245" y="330"/>
                  </a:cubicBezTo>
                  <a:cubicBezTo>
                    <a:pt x="245" y="249"/>
                    <a:pt x="245" y="249"/>
                    <a:pt x="245" y="249"/>
                  </a:cubicBezTo>
                  <a:cubicBezTo>
                    <a:pt x="227" y="231"/>
                    <a:pt x="227" y="231"/>
                    <a:pt x="227" y="231"/>
                  </a:cubicBezTo>
                  <a:cubicBezTo>
                    <a:pt x="223" y="227"/>
                    <a:pt x="223" y="220"/>
                    <a:pt x="227" y="216"/>
                  </a:cubicBezTo>
                  <a:cubicBezTo>
                    <a:pt x="231" y="212"/>
                    <a:pt x="238" y="212"/>
                    <a:pt x="242" y="216"/>
                  </a:cubicBezTo>
                  <a:cubicBezTo>
                    <a:pt x="256" y="230"/>
                    <a:pt x="256" y="230"/>
                    <a:pt x="256" y="230"/>
                  </a:cubicBezTo>
                  <a:cubicBezTo>
                    <a:pt x="269" y="216"/>
                    <a:pt x="269" y="216"/>
                    <a:pt x="269" y="216"/>
                  </a:cubicBezTo>
                  <a:cubicBezTo>
                    <a:pt x="274" y="212"/>
                    <a:pt x="280" y="212"/>
                    <a:pt x="285" y="216"/>
                  </a:cubicBezTo>
                  <a:cubicBezTo>
                    <a:pt x="289" y="220"/>
                    <a:pt x="289" y="227"/>
                    <a:pt x="285" y="231"/>
                  </a:cubicBezTo>
                  <a:cubicBezTo>
                    <a:pt x="266" y="249"/>
                    <a:pt x="266" y="249"/>
                    <a:pt x="266" y="249"/>
                  </a:cubicBezTo>
                  <a:cubicBezTo>
                    <a:pt x="266" y="330"/>
                    <a:pt x="266" y="330"/>
                    <a:pt x="266" y="330"/>
                  </a:cubicBezTo>
                  <a:cubicBezTo>
                    <a:pt x="288" y="330"/>
                    <a:pt x="288" y="330"/>
                    <a:pt x="288" y="330"/>
                  </a:cubicBezTo>
                  <a:cubicBezTo>
                    <a:pt x="288" y="309"/>
                    <a:pt x="288" y="309"/>
                    <a:pt x="288" y="309"/>
                  </a:cubicBezTo>
                  <a:cubicBezTo>
                    <a:pt x="288" y="292"/>
                    <a:pt x="311" y="254"/>
                    <a:pt x="318" y="243"/>
                  </a:cubicBezTo>
                  <a:cubicBezTo>
                    <a:pt x="318" y="242"/>
                    <a:pt x="334" y="218"/>
                    <a:pt x="334" y="191"/>
                  </a:cubicBezTo>
                  <a:cubicBezTo>
                    <a:pt x="334" y="151"/>
                    <a:pt x="298" y="117"/>
                    <a:pt x="256" y="117"/>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56" y="191"/>
                  </a:moveTo>
                  <a:cubicBezTo>
                    <a:pt x="356" y="140"/>
                    <a:pt x="310" y="96"/>
                    <a:pt x="256" y="96"/>
                  </a:cubicBezTo>
                  <a:cubicBezTo>
                    <a:pt x="256" y="96"/>
                    <a:pt x="256" y="96"/>
                    <a:pt x="256" y="96"/>
                  </a:cubicBezTo>
                  <a:cubicBezTo>
                    <a:pt x="256" y="96"/>
                    <a:pt x="256" y="96"/>
                    <a:pt x="256" y="96"/>
                  </a:cubicBezTo>
                  <a:cubicBezTo>
                    <a:pt x="256" y="96"/>
                    <a:pt x="256" y="96"/>
                    <a:pt x="256" y="96"/>
                  </a:cubicBezTo>
                  <a:cubicBezTo>
                    <a:pt x="256" y="96"/>
                    <a:pt x="256" y="96"/>
                    <a:pt x="255" y="96"/>
                  </a:cubicBezTo>
                  <a:cubicBezTo>
                    <a:pt x="202" y="96"/>
                    <a:pt x="157" y="140"/>
                    <a:pt x="157" y="191"/>
                  </a:cubicBezTo>
                  <a:cubicBezTo>
                    <a:pt x="157" y="225"/>
                    <a:pt x="175" y="253"/>
                    <a:pt x="176" y="254"/>
                  </a:cubicBezTo>
                  <a:cubicBezTo>
                    <a:pt x="189" y="275"/>
                    <a:pt x="202" y="302"/>
                    <a:pt x="202" y="309"/>
                  </a:cubicBezTo>
                  <a:cubicBezTo>
                    <a:pt x="202" y="341"/>
                    <a:pt x="202" y="341"/>
                    <a:pt x="202" y="341"/>
                  </a:cubicBezTo>
                  <a:cubicBezTo>
                    <a:pt x="202" y="341"/>
                    <a:pt x="202" y="342"/>
                    <a:pt x="203" y="342"/>
                  </a:cubicBezTo>
                  <a:cubicBezTo>
                    <a:pt x="203" y="342"/>
                    <a:pt x="202" y="342"/>
                    <a:pt x="202" y="343"/>
                  </a:cubicBezTo>
                  <a:cubicBezTo>
                    <a:pt x="213" y="407"/>
                    <a:pt x="213" y="407"/>
                    <a:pt x="213" y="407"/>
                  </a:cubicBezTo>
                  <a:cubicBezTo>
                    <a:pt x="214" y="412"/>
                    <a:pt x="218" y="416"/>
                    <a:pt x="224" y="416"/>
                  </a:cubicBezTo>
                  <a:cubicBezTo>
                    <a:pt x="288" y="416"/>
                    <a:pt x="288" y="416"/>
                    <a:pt x="288" y="416"/>
                  </a:cubicBezTo>
                  <a:cubicBezTo>
                    <a:pt x="293" y="416"/>
                    <a:pt x="297" y="412"/>
                    <a:pt x="298" y="407"/>
                  </a:cubicBezTo>
                  <a:cubicBezTo>
                    <a:pt x="309" y="343"/>
                    <a:pt x="309" y="343"/>
                    <a:pt x="309" y="343"/>
                  </a:cubicBezTo>
                  <a:cubicBezTo>
                    <a:pt x="309" y="342"/>
                    <a:pt x="309" y="342"/>
                    <a:pt x="309" y="342"/>
                  </a:cubicBezTo>
                  <a:cubicBezTo>
                    <a:pt x="309" y="342"/>
                    <a:pt x="309" y="341"/>
                    <a:pt x="309" y="341"/>
                  </a:cubicBezTo>
                  <a:cubicBezTo>
                    <a:pt x="309" y="309"/>
                    <a:pt x="309" y="309"/>
                    <a:pt x="309" y="309"/>
                  </a:cubicBezTo>
                  <a:cubicBezTo>
                    <a:pt x="309" y="302"/>
                    <a:pt x="323" y="275"/>
                    <a:pt x="336" y="254"/>
                  </a:cubicBezTo>
                  <a:cubicBezTo>
                    <a:pt x="337" y="253"/>
                    <a:pt x="356" y="225"/>
                    <a:pt x="356" y="191"/>
                  </a:cubicBezTo>
                  <a:close/>
                </a:path>
              </a:pathLst>
            </a:custGeom>
            <a:solidFill>
              <a:srgbClr val="004F59"/>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Light"/>
              </a:endParaRPr>
            </a:p>
          </p:txBody>
        </p:sp>
        <p:sp>
          <p:nvSpPr>
            <p:cNvPr id="213" name="Oval 212">
              <a:extLst>
                <a:ext uri="{FF2B5EF4-FFF2-40B4-BE49-F238E27FC236}">
                  <a16:creationId xmlns:a16="http://schemas.microsoft.com/office/drawing/2014/main" id="{4BFE912D-1F6C-459C-A702-CA08AD1CC88B}"/>
                </a:ext>
              </a:extLst>
            </p:cNvPr>
            <p:cNvSpPr/>
            <p:nvPr/>
          </p:nvSpPr>
          <p:spPr bwMode="gray">
            <a:xfrm>
              <a:off x="3172994" y="1557937"/>
              <a:ext cx="1136224" cy="1136224"/>
            </a:xfrm>
            <a:prstGeom prst="ellipse">
              <a:avLst/>
            </a:prstGeom>
            <a:noFill/>
            <a:ln w="22225" algn="ctr">
              <a:solidFill>
                <a:srgbClr val="000000">
                  <a:lumMod val="50000"/>
                  <a:lumOff val="50000"/>
                </a:srgbClr>
              </a:solidFill>
              <a:prstDash val="sysDot"/>
              <a:miter lim="800000"/>
              <a:headEnd/>
              <a:tailEnd/>
            </a:ln>
          </p:spPr>
          <p:txBody>
            <a:bodyPr wrap="square" lIns="88900" tIns="88900" rIns="88900" bIns="88900" rtlCol="0" anchor="ctr"/>
            <a:lstStyle/>
            <a:p>
              <a:pPr marL="0" marR="0" lvl="0" indent="0"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latin typeface="Calibri Light"/>
              </a:endParaRPr>
            </a:p>
          </p:txBody>
        </p:sp>
      </p:grpSp>
      <p:cxnSp>
        <p:nvCxnSpPr>
          <p:cNvPr id="214" name="Straight Connector 213">
            <a:extLst>
              <a:ext uri="{FF2B5EF4-FFF2-40B4-BE49-F238E27FC236}">
                <a16:creationId xmlns:a16="http://schemas.microsoft.com/office/drawing/2014/main" id="{4524FCCC-075D-4476-BAE0-F4CA06218507}"/>
              </a:ext>
            </a:extLst>
          </p:cNvPr>
          <p:cNvCxnSpPr>
            <a:cxnSpLocks/>
            <a:stCxn id="215" idx="6"/>
            <a:endCxn id="213" idx="2"/>
          </p:cNvCxnSpPr>
          <p:nvPr/>
        </p:nvCxnSpPr>
        <p:spPr>
          <a:xfrm flipV="1">
            <a:off x="2902640" y="2181422"/>
            <a:ext cx="968929" cy="116"/>
          </a:xfrm>
          <a:prstGeom prst="line">
            <a:avLst/>
          </a:prstGeom>
          <a:noFill/>
          <a:ln w="22225" algn="ctr">
            <a:solidFill>
              <a:srgbClr val="000000">
                <a:lumMod val="50000"/>
                <a:lumOff val="50000"/>
              </a:srgbClr>
            </a:solidFill>
            <a:prstDash val="sysDot"/>
            <a:miter lim="800000"/>
            <a:headEnd/>
            <a:tailEnd/>
          </a:ln>
        </p:spPr>
      </p:cxnSp>
      <p:sp>
        <p:nvSpPr>
          <p:cNvPr id="216" name="Rectangle 215">
            <a:extLst>
              <a:ext uri="{FF2B5EF4-FFF2-40B4-BE49-F238E27FC236}">
                <a16:creationId xmlns:a16="http://schemas.microsoft.com/office/drawing/2014/main" id="{16E0917F-C6ED-434C-93C4-9B4803B3D5BA}"/>
              </a:ext>
            </a:extLst>
          </p:cNvPr>
          <p:cNvSpPr/>
          <p:nvPr/>
        </p:nvSpPr>
        <p:spPr>
          <a:xfrm>
            <a:off x="4394857" y="1785705"/>
            <a:ext cx="2386741" cy="738664"/>
          </a:xfrm>
          <a:prstGeom prst="rect">
            <a:avLst/>
          </a:prstGeom>
        </p:spPr>
        <p:txBody>
          <a:bodyPr wrap="square">
            <a:spAutoFit/>
          </a:bodyPr>
          <a:lstStyle/>
          <a:p>
            <a:pPr defTabSz="1219170">
              <a:buFont typeface="Wingdings 2" pitchFamily="18" charset="2"/>
              <a:buNone/>
            </a:pPr>
            <a:r>
              <a:rPr lang="en-US" sz="1400" b="1" dirty="0">
                <a:solidFill>
                  <a:srgbClr val="004F59"/>
                </a:solidFill>
                <a:latin typeface="+mj-lt"/>
              </a:rPr>
              <a:t>Prepare reports and documents as per guidelines issued by MoP/Nodal Agency</a:t>
            </a:r>
            <a:endParaRPr lang="en-US" sz="1400" b="1" dirty="0">
              <a:solidFill>
                <a:srgbClr val="000000"/>
              </a:solidFill>
              <a:latin typeface="+mj-lt"/>
            </a:endParaRPr>
          </a:p>
        </p:txBody>
      </p:sp>
      <p:cxnSp>
        <p:nvCxnSpPr>
          <p:cNvPr id="217" name="Straight Connector 216">
            <a:extLst>
              <a:ext uri="{FF2B5EF4-FFF2-40B4-BE49-F238E27FC236}">
                <a16:creationId xmlns:a16="http://schemas.microsoft.com/office/drawing/2014/main" id="{7F4E11FE-50A8-4248-B180-6ECE2D7F18A9}"/>
              </a:ext>
            </a:extLst>
          </p:cNvPr>
          <p:cNvCxnSpPr>
            <a:cxnSpLocks/>
            <a:endCxn id="221" idx="24"/>
          </p:cNvCxnSpPr>
          <p:nvPr/>
        </p:nvCxnSpPr>
        <p:spPr>
          <a:xfrm>
            <a:off x="3566522" y="3081653"/>
            <a:ext cx="331745" cy="5189"/>
          </a:xfrm>
          <a:prstGeom prst="line">
            <a:avLst/>
          </a:prstGeom>
          <a:noFill/>
          <a:ln w="22225" algn="ctr">
            <a:solidFill>
              <a:srgbClr val="000000">
                <a:lumMod val="50000"/>
                <a:lumOff val="50000"/>
              </a:srgbClr>
            </a:solidFill>
            <a:prstDash val="sysDot"/>
            <a:miter lim="800000"/>
            <a:headEnd/>
            <a:tailEnd/>
          </a:ln>
        </p:spPr>
      </p:cxnSp>
      <p:grpSp>
        <p:nvGrpSpPr>
          <p:cNvPr id="219" name="Group 218">
            <a:extLst>
              <a:ext uri="{FF2B5EF4-FFF2-40B4-BE49-F238E27FC236}">
                <a16:creationId xmlns:a16="http://schemas.microsoft.com/office/drawing/2014/main" id="{D7C271EB-CFEF-4A78-959E-F0F6E6CE9411}"/>
              </a:ext>
            </a:extLst>
          </p:cNvPr>
          <p:cNvGrpSpPr/>
          <p:nvPr/>
        </p:nvGrpSpPr>
        <p:grpSpPr>
          <a:xfrm>
            <a:off x="3862354" y="2821169"/>
            <a:ext cx="531346" cy="531346"/>
            <a:chOff x="6262417" y="2938689"/>
            <a:chExt cx="919874" cy="919874"/>
          </a:xfrm>
        </p:grpSpPr>
        <p:sp>
          <p:nvSpPr>
            <p:cNvPr id="220" name="Oval 219">
              <a:extLst>
                <a:ext uri="{FF2B5EF4-FFF2-40B4-BE49-F238E27FC236}">
                  <a16:creationId xmlns:a16="http://schemas.microsoft.com/office/drawing/2014/main" id="{B9E2B10C-F2C4-4BF2-8701-24C94A5F7A45}"/>
                </a:ext>
              </a:extLst>
            </p:cNvPr>
            <p:cNvSpPr/>
            <p:nvPr/>
          </p:nvSpPr>
          <p:spPr bwMode="gray">
            <a:xfrm>
              <a:off x="6262417" y="2938689"/>
              <a:ext cx="919874" cy="919874"/>
            </a:xfrm>
            <a:prstGeom prst="ellipse">
              <a:avLst/>
            </a:prstGeom>
            <a:noFill/>
            <a:ln w="22225" algn="ctr">
              <a:solidFill>
                <a:srgbClr val="000000">
                  <a:lumMod val="50000"/>
                  <a:lumOff val="50000"/>
                </a:srgbClr>
              </a:solidFill>
              <a:prstDash val="sysDot"/>
              <a:miter lim="800000"/>
              <a:headEnd/>
              <a:tailEnd/>
            </a:ln>
          </p:spPr>
          <p:txBody>
            <a:bodyPr wrap="square" lIns="88900" tIns="88900" rIns="88900" bIns="88900" rtlCol="0" anchor="ctr"/>
            <a:lstStyle/>
            <a:p>
              <a:pPr marL="0" marR="0" lvl="0" indent="0"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latin typeface="Verdana"/>
              </a:endParaRPr>
            </a:p>
          </p:txBody>
        </p:sp>
        <p:sp>
          <p:nvSpPr>
            <p:cNvPr id="221" name="Freeform 917">
              <a:extLst>
                <a:ext uri="{FF2B5EF4-FFF2-40B4-BE49-F238E27FC236}">
                  <a16:creationId xmlns:a16="http://schemas.microsoft.com/office/drawing/2014/main" id="{E23289E9-1328-4D01-8AB0-CF9D785D4E80}"/>
                </a:ext>
              </a:extLst>
            </p:cNvPr>
            <p:cNvSpPr>
              <a:spLocks noChangeAspect="1" noEditPoints="1"/>
            </p:cNvSpPr>
            <p:nvPr/>
          </p:nvSpPr>
          <p:spPr bwMode="auto">
            <a:xfrm>
              <a:off x="6324590" y="3000862"/>
              <a:ext cx="795528" cy="795528"/>
            </a:xfrm>
            <a:custGeom>
              <a:avLst/>
              <a:gdLst>
                <a:gd name="T0" fmla="*/ 245 w 512"/>
                <a:gd name="T1" fmla="*/ 128 h 512"/>
                <a:gd name="T2" fmla="*/ 256 w 512"/>
                <a:gd name="T3" fmla="*/ 117 h 512"/>
                <a:gd name="T4" fmla="*/ 266 w 512"/>
                <a:gd name="T5" fmla="*/ 128 h 512"/>
                <a:gd name="T6" fmla="*/ 256 w 512"/>
                <a:gd name="T7" fmla="*/ 138 h 512"/>
                <a:gd name="T8" fmla="*/ 245 w 512"/>
                <a:gd name="T9" fmla="*/ 128 h 512"/>
                <a:gd name="T10" fmla="*/ 269 w 512"/>
                <a:gd name="T11" fmla="*/ 245 h 512"/>
                <a:gd name="T12" fmla="*/ 243 w 512"/>
                <a:gd name="T13" fmla="*/ 245 h 512"/>
                <a:gd name="T14" fmla="*/ 216 w 512"/>
                <a:gd name="T15" fmla="*/ 352 h 512"/>
                <a:gd name="T16" fmla="*/ 295 w 512"/>
                <a:gd name="T17" fmla="*/ 352 h 512"/>
                <a:gd name="T18" fmla="*/ 269 w 512"/>
                <a:gd name="T19" fmla="*/ 245 h 512"/>
                <a:gd name="T20" fmla="*/ 238 w 512"/>
                <a:gd name="T21" fmla="*/ 224 h 512"/>
                <a:gd name="T22" fmla="*/ 273 w 512"/>
                <a:gd name="T23" fmla="*/ 224 h 512"/>
                <a:gd name="T24" fmla="*/ 288 w 512"/>
                <a:gd name="T25" fmla="*/ 192 h 512"/>
                <a:gd name="T26" fmla="*/ 287 w 512"/>
                <a:gd name="T27" fmla="*/ 186 h 512"/>
                <a:gd name="T28" fmla="*/ 274 w 512"/>
                <a:gd name="T29" fmla="*/ 199 h 512"/>
                <a:gd name="T30" fmla="*/ 266 w 512"/>
                <a:gd name="T31" fmla="*/ 202 h 512"/>
                <a:gd name="T32" fmla="*/ 259 w 512"/>
                <a:gd name="T33" fmla="*/ 199 h 512"/>
                <a:gd name="T34" fmla="*/ 259 w 512"/>
                <a:gd name="T35" fmla="*/ 184 h 512"/>
                <a:gd name="T36" fmla="*/ 273 w 512"/>
                <a:gd name="T37" fmla="*/ 170 h 512"/>
                <a:gd name="T38" fmla="*/ 256 w 512"/>
                <a:gd name="T39" fmla="*/ 160 h 512"/>
                <a:gd name="T40" fmla="*/ 224 w 512"/>
                <a:gd name="T41" fmla="*/ 192 h 512"/>
                <a:gd name="T42" fmla="*/ 238 w 512"/>
                <a:gd name="T43" fmla="*/ 224 h 512"/>
                <a:gd name="T44" fmla="*/ 512 w 512"/>
                <a:gd name="T45" fmla="*/ 256 h 512"/>
                <a:gd name="T46" fmla="*/ 256 w 512"/>
                <a:gd name="T47" fmla="*/ 512 h 512"/>
                <a:gd name="T48" fmla="*/ 0 w 512"/>
                <a:gd name="T49" fmla="*/ 256 h 512"/>
                <a:gd name="T50" fmla="*/ 256 w 512"/>
                <a:gd name="T51" fmla="*/ 0 h 512"/>
                <a:gd name="T52" fmla="*/ 512 w 512"/>
                <a:gd name="T53" fmla="*/ 256 h 512"/>
                <a:gd name="T54" fmla="*/ 330 w 512"/>
                <a:gd name="T55" fmla="*/ 362 h 512"/>
                <a:gd name="T56" fmla="*/ 320 w 512"/>
                <a:gd name="T57" fmla="*/ 352 h 512"/>
                <a:gd name="T58" fmla="*/ 317 w 512"/>
                <a:gd name="T59" fmla="*/ 352 h 512"/>
                <a:gd name="T60" fmla="*/ 289 w 512"/>
                <a:gd name="T61" fmla="*/ 238 h 512"/>
                <a:gd name="T62" fmla="*/ 309 w 512"/>
                <a:gd name="T63" fmla="*/ 192 h 512"/>
                <a:gd name="T64" fmla="*/ 279 w 512"/>
                <a:gd name="T65" fmla="*/ 149 h 512"/>
                <a:gd name="T66" fmla="*/ 288 w 512"/>
                <a:gd name="T67" fmla="*/ 128 h 512"/>
                <a:gd name="T68" fmla="*/ 256 w 512"/>
                <a:gd name="T69" fmla="*/ 96 h 512"/>
                <a:gd name="T70" fmla="*/ 224 w 512"/>
                <a:gd name="T71" fmla="*/ 128 h 512"/>
                <a:gd name="T72" fmla="*/ 232 w 512"/>
                <a:gd name="T73" fmla="*/ 149 h 512"/>
                <a:gd name="T74" fmla="*/ 202 w 512"/>
                <a:gd name="T75" fmla="*/ 192 h 512"/>
                <a:gd name="T76" fmla="*/ 222 w 512"/>
                <a:gd name="T77" fmla="*/ 238 h 512"/>
                <a:gd name="T78" fmla="*/ 194 w 512"/>
                <a:gd name="T79" fmla="*/ 352 h 512"/>
                <a:gd name="T80" fmla="*/ 192 w 512"/>
                <a:gd name="T81" fmla="*/ 352 h 512"/>
                <a:gd name="T82" fmla="*/ 181 w 512"/>
                <a:gd name="T83" fmla="*/ 362 h 512"/>
                <a:gd name="T84" fmla="*/ 181 w 512"/>
                <a:gd name="T85" fmla="*/ 405 h 512"/>
                <a:gd name="T86" fmla="*/ 192 w 512"/>
                <a:gd name="T87" fmla="*/ 416 h 512"/>
                <a:gd name="T88" fmla="*/ 320 w 512"/>
                <a:gd name="T89" fmla="*/ 416 h 512"/>
                <a:gd name="T90" fmla="*/ 330 w 512"/>
                <a:gd name="T91" fmla="*/ 405 h 512"/>
                <a:gd name="T92" fmla="*/ 330 w 512"/>
                <a:gd name="T93" fmla="*/ 362 h 512"/>
                <a:gd name="T94" fmla="*/ 202 w 512"/>
                <a:gd name="T95" fmla="*/ 394 h 512"/>
                <a:gd name="T96" fmla="*/ 309 w 512"/>
                <a:gd name="T97" fmla="*/ 394 h 512"/>
                <a:gd name="T98" fmla="*/ 309 w 512"/>
                <a:gd name="T99" fmla="*/ 373 h 512"/>
                <a:gd name="T100" fmla="*/ 202 w 512"/>
                <a:gd name="T101" fmla="*/ 373 h 512"/>
                <a:gd name="T102" fmla="*/ 202 w 512"/>
                <a:gd name="T103" fmla="*/ 39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12" h="512">
                  <a:moveTo>
                    <a:pt x="245" y="128"/>
                  </a:moveTo>
                  <a:cubicBezTo>
                    <a:pt x="245" y="122"/>
                    <a:pt x="250" y="117"/>
                    <a:pt x="256" y="117"/>
                  </a:cubicBezTo>
                  <a:cubicBezTo>
                    <a:pt x="262" y="117"/>
                    <a:pt x="266" y="122"/>
                    <a:pt x="266" y="128"/>
                  </a:cubicBezTo>
                  <a:cubicBezTo>
                    <a:pt x="266" y="134"/>
                    <a:pt x="262" y="138"/>
                    <a:pt x="256" y="138"/>
                  </a:cubicBezTo>
                  <a:cubicBezTo>
                    <a:pt x="250" y="138"/>
                    <a:pt x="245" y="134"/>
                    <a:pt x="245" y="128"/>
                  </a:cubicBezTo>
                  <a:close/>
                  <a:moveTo>
                    <a:pt x="269" y="245"/>
                  </a:moveTo>
                  <a:cubicBezTo>
                    <a:pt x="243" y="245"/>
                    <a:pt x="243" y="245"/>
                    <a:pt x="243" y="245"/>
                  </a:cubicBezTo>
                  <a:cubicBezTo>
                    <a:pt x="216" y="352"/>
                    <a:pt x="216" y="352"/>
                    <a:pt x="216" y="352"/>
                  </a:cubicBezTo>
                  <a:cubicBezTo>
                    <a:pt x="295" y="352"/>
                    <a:pt x="295" y="352"/>
                    <a:pt x="295" y="352"/>
                  </a:cubicBezTo>
                  <a:lnTo>
                    <a:pt x="269" y="245"/>
                  </a:lnTo>
                  <a:close/>
                  <a:moveTo>
                    <a:pt x="238" y="224"/>
                  </a:moveTo>
                  <a:cubicBezTo>
                    <a:pt x="273" y="224"/>
                    <a:pt x="273" y="224"/>
                    <a:pt x="273" y="224"/>
                  </a:cubicBezTo>
                  <a:cubicBezTo>
                    <a:pt x="278" y="219"/>
                    <a:pt x="288" y="209"/>
                    <a:pt x="288" y="192"/>
                  </a:cubicBezTo>
                  <a:cubicBezTo>
                    <a:pt x="288" y="190"/>
                    <a:pt x="287" y="188"/>
                    <a:pt x="287" y="186"/>
                  </a:cubicBezTo>
                  <a:cubicBezTo>
                    <a:pt x="274" y="199"/>
                    <a:pt x="274" y="199"/>
                    <a:pt x="274" y="199"/>
                  </a:cubicBezTo>
                  <a:cubicBezTo>
                    <a:pt x="272" y="201"/>
                    <a:pt x="269" y="202"/>
                    <a:pt x="266" y="202"/>
                  </a:cubicBezTo>
                  <a:cubicBezTo>
                    <a:pt x="264" y="202"/>
                    <a:pt x="261" y="201"/>
                    <a:pt x="259" y="199"/>
                  </a:cubicBezTo>
                  <a:cubicBezTo>
                    <a:pt x="255" y="195"/>
                    <a:pt x="255" y="188"/>
                    <a:pt x="259" y="184"/>
                  </a:cubicBezTo>
                  <a:cubicBezTo>
                    <a:pt x="273" y="170"/>
                    <a:pt x="273" y="170"/>
                    <a:pt x="273" y="170"/>
                  </a:cubicBezTo>
                  <a:cubicBezTo>
                    <a:pt x="267" y="166"/>
                    <a:pt x="260" y="163"/>
                    <a:pt x="256" y="160"/>
                  </a:cubicBezTo>
                  <a:cubicBezTo>
                    <a:pt x="245" y="165"/>
                    <a:pt x="224" y="177"/>
                    <a:pt x="224" y="192"/>
                  </a:cubicBezTo>
                  <a:cubicBezTo>
                    <a:pt x="224" y="208"/>
                    <a:pt x="234" y="219"/>
                    <a:pt x="238" y="224"/>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30" y="362"/>
                  </a:moveTo>
                  <a:cubicBezTo>
                    <a:pt x="330" y="356"/>
                    <a:pt x="326" y="352"/>
                    <a:pt x="320" y="352"/>
                  </a:cubicBezTo>
                  <a:cubicBezTo>
                    <a:pt x="317" y="352"/>
                    <a:pt x="317" y="352"/>
                    <a:pt x="317" y="352"/>
                  </a:cubicBezTo>
                  <a:cubicBezTo>
                    <a:pt x="289" y="238"/>
                    <a:pt x="289" y="238"/>
                    <a:pt x="289" y="238"/>
                  </a:cubicBezTo>
                  <a:cubicBezTo>
                    <a:pt x="297" y="231"/>
                    <a:pt x="309" y="215"/>
                    <a:pt x="309" y="192"/>
                  </a:cubicBezTo>
                  <a:cubicBezTo>
                    <a:pt x="309" y="172"/>
                    <a:pt x="293" y="158"/>
                    <a:pt x="279" y="149"/>
                  </a:cubicBezTo>
                  <a:cubicBezTo>
                    <a:pt x="284" y="143"/>
                    <a:pt x="288" y="136"/>
                    <a:pt x="288" y="128"/>
                  </a:cubicBezTo>
                  <a:cubicBezTo>
                    <a:pt x="288" y="110"/>
                    <a:pt x="273" y="96"/>
                    <a:pt x="256" y="96"/>
                  </a:cubicBezTo>
                  <a:cubicBezTo>
                    <a:pt x="238" y="96"/>
                    <a:pt x="224" y="110"/>
                    <a:pt x="224" y="128"/>
                  </a:cubicBezTo>
                  <a:cubicBezTo>
                    <a:pt x="224" y="136"/>
                    <a:pt x="227" y="143"/>
                    <a:pt x="232" y="149"/>
                  </a:cubicBezTo>
                  <a:cubicBezTo>
                    <a:pt x="218" y="158"/>
                    <a:pt x="202" y="172"/>
                    <a:pt x="202" y="192"/>
                  </a:cubicBezTo>
                  <a:cubicBezTo>
                    <a:pt x="202" y="215"/>
                    <a:pt x="215" y="231"/>
                    <a:pt x="222" y="238"/>
                  </a:cubicBezTo>
                  <a:cubicBezTo>
                    <a:pt x="194" y="352"/>
                    <a:pt x="194" y="352"/>
                    <a:pt x="194" y="352"/>
                  </a:cubicBezTo>
                  <a:cubicBezTo>
                    <a:pt x="192" y="352"/>
                    <a:pt x="192" y="352"/>
                    <a:pt x="192" y="352"/>
                  </a:cubicBezTo>
                  <a:cubicBezTo>
                    <a:pt x="186" y="352"/>
                    <a:pt x="181" y="356"/>
                    <a:pt x="181" y="362"/>
                  </a:cubicBezTo>
                  <a:cubicBezTo>
                    <a:pt x="181" y="405"/>
                    <a:pt x="181" y="405"/>
                    <a:pt x="181" y="405"/>
                  </a:cubicBezTo>
                  <a:cubicBezTo>
                    <a:pt x="181" y="411"/>
                    <a:pt x="186" y="416"/>
                    <a:pt x="192" y="416"/>
                  </a:cubicBezTo>
                  <a:cubicBezTo>
                    <a:pt x="320" y="416"/>
                    <a:pt x="320" y="416"/>
                    <a:pt x="320" y="416"/>
                  </a:cubicBezTo>
                  <a:cubicBezTo>
                    <a:pt x="326" y="416"/>
                    <a:pt x="330" y="411"/>
                    <a:pt x="330" y="405"/>
                  </a:cubicBezTo>
                  <a:lnTo>
                    <a:pt x="330" y="362"/>
                  </a:lnTo>
                  <a:close/>
                  <a:moveTo>
                    <a:pt x="202" y="394"/>
                  </a:moveTo>
                  <a:cubicBezTo>
                    <a:pt x="309" y="394"/>
                    <a:pt x="309" y="394"/>
                    <a:pt x="309" y="394"/>
                  </a:cubicBezTo>
                  <a:cubicBezTo>
                    <a:pt x="309" y="373"/>
                    <a:pt x="309" y="373"/>
                    <a:pt x="309" y="373"/>
                  </a:cubicBezTo>
                  <a:cubicBezTo>
                    <a:pt x="202" y="373"/>
                    <a:pt x="202" y="373"/>
                    <a:pt x="202" y="373"/>
                  </a:cubicBezTo>
                  <a:lnTo>
                    <a:pt x="202" y="394"/>
                  </a:lnTo>
                  <a:close/>
                </a:path>
              </a:pathLst>
            </a:custGeom>
            <a:solidFill>
              <a:srgbClr val="046A38"/>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Verdana"/>
              </a:endParaRPr>
            </a:p>
          </p:txBody>
        </p:sp>
      </p:grpSp>
      <p:sp>
        <p:nvSpPr>
          <p:cNvPr id="222" name="Rectangle 221">
            <a:extLst>
              <a:ext uri="{FF2B5EF4-FFF2-40B4-BE49-F238E27FC236}">
                <a16:creationId xmlns:a16="http://schemas.microsoft.com/office/drawing/2014/main" id="{D5F15548-C414-4703-A720-D86A1443CFFC}"/>
              </a:ext>
            </a:extLst>
          </p:cNvPr>
          <p:cNvSpPr/>
          <p:nvPr/>
        </p:nvSpPr>
        <p:spPr>
          <a:xfrm>
            <a:off x="4355376" y="2713175"/>
            <a:ext cx="2426222" cy="738664"/>
          </a:xfrm>
          <a:prstGeom prst="rect">
            <a:avLst/>
          </a:prstGeom>
        </p:spPr>
        <p:txBody>
          <a:bodyPr wrap="square">
            <a:spAutoFit/>
          </a:bodyPr>
          <a:lstStyle/>
          <a:p>
            <a:pPr>
              <a:defRPr/>
            </a:pPr>
            <a:r>
              <a:rPr lang="en-US" sz="1400" b="1" dirty="0">
                <a:solidFill>
                  <a:srgbClr val="046A38"/>
                </a:solidFill>
                <a:latin typeface="+mj-lt"/>
              </a:rPr>
              <a:t>Progress monitoring framework (identify slippages, issues, tracking)</a:t>
            </a:r>
            <a:endParaRPr lang="en-US" sz="1400" b="1" dirty="0">
              <a:solidFill>
                <a:srgbClr val="000000"/>
              </a:solidFill>
              <a:latin typeface="+mj-lt"/>
            </a:endParaRPr>
          </a:p>
        </p:txBody>
      </p:sp>
      <p:cxnSp>
        <p:nvCxnSpPr>
          <p:cNvPr id="223" name="Straight Connector 222">
            <a:extLst>
              <a:ext uri="{FF2B5EF4-FFF2-40B4-BE49-F238E27FC236}">
                <a16:creationId xmlns:a16="http://schemas.microsoft.com/office/drawing/2014/main" id="{C8746878-1F91-4B9F-BE89-6AEC5911C781}"/>
              </a:ext>
            </a:extLst>
          </p:cNvPr>
          <p:cNvCxnSpPr>
            <a:cxnSpLocks/>
            <a:endCxn id="258" idx="2"/>
          </p:cNvCxnSpPr>
          <p:nvPr/>
        </p:nvCxnSpPr>
        <p:spPr>
          <a:xfrm flipV="1">
            <a:off x="3568755" y="3970157"/>
            <a:ext cx="271852" cy="9693"/>
          </a:xfrm>
          <a:prstGeom prst="line">
            <a:avLst/>
          </a:prstGeom>
          <a:noFill/>
          <a:ln w="22225" algn="ctr">
            <a:solidFill>
              <a:srgbClr val="000000">
                <a:lumMod val="50000"/>
                <a:lumOff val="50000"/>
              </a:srgbClr>
            </a:solidFill>
            <a:prstDash val="sysDot"/>
            <a:miter lim="800000"/>
            <a:headEnd/>
            <a:tailEnd/>
          </a:ln>
        </p:spPr>
      </p:cxnSp>
      <p:sp>
        <p:nvSpPr>
          <p:cNvPr id="227" name="Rectangle 226">
            <a:extLst>
              <a:ext uri="{FF2B5EF4-FFF2-40B4-BE49-F238E27FC236}">
                <a16:creationId xmlns:a16="http://schemas.microsoft.com/office/drawing/2014/main" id="{CCCD6799-7EE8-4131-83B3-C35A3E4C0562}"/>
              </a:ext>
            </a:extLst>
          </p:cNvPr>
          <p:cNvSpPr/>
          <p:nvPr/>
        </p:nvSpPr>
        <p:spPr>
          <a:xfrm>
            <a:off x="4337952" y="3609699"/>
            <a:ext cx="2433086" cy="738664"/>
          </a:xfrm>
          <a:prstGeom prst="rect">
            <a:avLst/>
          </a:prstGeom>
        </p:spPr>
        <p:txBody>
          <a:bodyPr wrap="square">
            <a:spAutoFit/>
          </a:bodyPr>
          <a:lstStyle/>
          <a:p>
            <a:pPr>
              <a:defRPr/>
            </a:pPr>
            <a:r>
              <a:rPr lang="en-US" sz="1400" b="1" dirty="0">
                <a:solidFill>
                  <a:srgbClr val="012169"/>
                </a:solidFill>
                <a:latin typeface="+mj-lt"/>
              </a:rPr>
              <a:t>Risk management and governance (risk identification &amp; mitigation)</a:t>
            </a:r>
            <a:endParaRPr lang="en-US" sz="1400" b="1" dirty="0">
              <a:solidFill>
                <a:srgbClr val="000000"/>
              </a:solidFill>
              <a:latin typeface="+mj-lt"/>
            </a:endParaRPr>
          </a:p>
        </p:txBody>
      </p:sp>
      <p:cxnSp>
        <p:nvCxnSpPr>
          <p:cNvPr id="229" name="Straight Connector 228">
            <a:extLst>
              <a:ext uri="{FF2B5EF4-FFF2-40B4-BE49-F238E27FC236}">
                <a16:creationId xmlns:a16="http://schemas.microsoft.com/office/drawing/2014/main" id="{AD3B1B1C-2984-434B-A3C7-922964EAEB9C}"/>
              </a:ext>
            </a:extLst>
          </p:cNvPr>
          <p:cNvCxnSpPr>
            <a:cxnSpLocks/>
            <a:stCxn id="230" idx="6"/>
            <a:endCxn id="233" idx="13"/>
          </p:cNvCxnSpPr>
          <p:nvPr/>
        </p:nvCxnSpPr>
        <p:spPr>
          <a:xfrm>
            <a:off x="3037623" y="4885456"/>
            <a:ext cx="858715" cy="5026"/>
          </a:xfrm>
          <a:prstGeom prst="line">
            <a:avLst/>
          </a:prstGeom>
          <a:noFill/>
          <a:ln w="22225" algn="ctr">
            <a:solidFill>
              <a:srgbClr val="000000">
                <a:lumMod val="50000"/>
                <a:lumOff val="50000"/>
              </a:srgbClr>
            </a:solidFill>
            <a:prstDash val="sysDot"/>
            <a:miter lim="800000"/>
            <a:headEnd/>
            <a:tailEnd/>
          </a:ln>
        </p:spPr>
      </p:cxnSp>
      <p:grpSp>
        <p:nvGrpSpPr>
          <p:cNvPr id="10" name="Group 9">
            <a:extLst>
              <a:ext uri="{FF2B5EF4-FFF2-40B4-BE49-F238E27FC236}">
                <a16:creationId xmlns:a16="http://schemas.microsoft.com/office/drawing/2014/main" id="{9B96A9DC-316E-426D-AB33-8502C443A32B}"/>
              </a:ext>
            </a:extLst>
          </p:cNvPr>
          <p:cNvGrpSpPr/>
          <p:nvPr/>
        </p:nvGrpSpPr>
        <p:grpSpPr>
          <a:xfrm>
            <a:off x="413819" y="1949531"/>
            <a:ext cx="3240000" cy="3240000"/>
            <a:chOff x="501651" y="1250537"/>
            <a:chExt cx="4875007" cy="4893636"/>
          </a:xfrm>
        </p:grpSpPr>
        <p:sp>
          <p:nvSpPr>
            <p:cNvPr id="206" name="Oval 205">
              <a:extLst>
                <a:ext uri="{FF2B5EF4-FFF2-40B4-BE49-F238E27FC236}">
                  <a16:creationId xmlns:a16="http://schemas.microsoft.com/office/drawing/2014/main" id="{972ECD96-2B52-4855-8995-42D4219B3D56}"/>
                </a:ext>
              </a:extLst>
            </p:cNvPr>
            <p:cNvSpPr/>
            <p:nvPr/>
          </p:nvSpPr>
          <p:spPr bwMode="gray">
            <a:xfrm>
              <a:off x="501651" y="1263107"/>
              <a:ext cx="4871646" cy="4871646"/>
            </a:xfrm>
            <a:prstGeom prst="ellipse">
              <a:avLst/>
            </a:prstGeom>
            <a:noFill/>
            <a:ln w="22225" algn="ctr">
              <a:solidFill>
                <a:srgbClr val="000000">
                  <a:lumMod val="50000"/>
                  <a:lumOff val="50000"/>
                </a:srgbClr>
              </a:solidFill>
              <a:prstDash val="sysDot"/>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latin typeface="Calibri Light"/>
              </a:endParaRPr>
            </a:p>
          </p:txBody>
        </p:sp>
        <p:sp>
          <p:nvSpPr>
            <p:cNvPr id="208" name="Oval 207">
              <a:extLst>
                <a:ext uri="{FF2B5EF4-FFF2-40B4-BE49-F238E27FC236}">
                  <a16:creationId xmlns:a16="http://schemas.microsoft.com/office/drawing/2014/main" id="{1B6CE023-90BE-4E2D-92D6-B788A3E269E0}"/>
                </a:ext>
              </a:extLst>
            </p:cNvPr>
            <p:cNvSpPr/>
            <p:nvPr/>
          </p:nvSpPr>
          <p:spPr bwMode="gray">
            <a:xfrm>
              <a:off x="2177780" y="1250537"/>
              <a:ext cx="184815" cy="184815"/>
            </a:xfrm>
            <a:prstGeom prst="ellipse">
              <a:avLst/>
            </a:prstGeom>
            <a:solidFill>
              <a:srgbClr val="000000">
                <a:lumMod val="50000"/>
                <a:lumOff val="50000"/>
              </a:srgbClr>
            </a:solidFill>
            <a:ln w="19050" algn="ctr">
              <a:solidFill>
                <a:srgbClr val="000000">
                  <a:lumMod val="50000"/>
                  <a:lumOff val="50000"/>
                </a:srgbClr>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latin typeface="Calibri Light"/>
              </a:endParaRPr>
            </a:p>
          </p:txBody>
        </p:sp>
        <p:sp>
          <p:nvSpPr>
            <p:cNvPr id="209" name="Oval 208">
              <a:extLst>
                <a:ext uri="{FF2B5EF4-FFF2-40B4-BE49-F238E27FC236}">
                  <a16:creationId xmlns:a16="http://schemas.microsoft.com/office/drawing/2014/main" id="{EB93A2A8-6A74-4AFD-86ED-B1FD68F6CBF8}"/>
                </a:ext>
              </a:extLst>
            </p:cNvPr>
            <p:cNvSpPr/>
            <p:nvPr/>
          </p:nvSpPr>
          <p:spPr bwMode="gray">
            <a:xfrm>
              <a:off x="2176742" y="5959358"/>
              <a:ext cx="184815" cy="184815"/>
            </a:xfrm>
            <a:prstGeom prst="ellipse">
              <a:avLst/>
            </a:prstGeom>
            <a:solidFill>
              <a:srgbClr val="000000">
                <a:lumMod val="50000"/>
                <a:lumOff val="50000"/>
              </a:srgbClr>
            </a:solidFill>
            <a:ln w="19050" algn="ctr">
              <a:solidFill>
                <a:srgbClr val="000000">
                  <a:lumMod val="50000"/>
                  <a:lumOff val="50000"/>
                </a:srgbClr>
              </a:solid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latin typeface="Calibri Light"/>
              </a:endParaRPr>
            </a:p>
          </p:txBody>
        </p:sp>
        <p:sp>
          <p:nvSpPr>
            <p:cNvPr id="215" name="Oval 214">
              <a:extLst>
                <a:ext uri="{FF2B5EF4-FFF2-40B4-BE49-F238E27FC236}">
                  <a16:creationId xmlns:a16="http://schemas.microsoft.com/office/drawing/2014/main" id="{06CD5852-8F24-494A-B1EA-8572C079D165}"/>
                </a:ext>
              </a:extLst>
            </p:cNvPr>
            <p:cNvSpPr/>
            <p:nvPr/>
          </p:nvSpPr>
          <p:spPr bwMode="gray">
            <a:xfrm>
              <a:off x="4061595" y="1508548"/>
              <a:ext cx="184815" cy="184815"/>
            </a:xfrm>
            <a:prstGeom prst="ellipse">
              <a:avLst/>
            </a:prstGeom>
            <a:solidFill>
              <a:srgbClr val="FFFFFF"/>
            </a:solidFill>
            <a:ln w="34925" algn="ctr">
              <a:solidFill>
                <a:srgbClr val="004F59"/>
              </a:solidFill>
              <a:miter lim="800000"/>
              <a:headEnd/>
              <a:tailEnd/>
            </a:ln>
          </p:spPr>
          <p:txBody>
            <a:bodyPr wrap="square" lIns="88900" tIns="88900" rIns="88900" bIns="88900" rtlCol="0" anchor="ctr"/>
            <a:lstStyle/>
            <a:p>
              <a:pPr marL="0" marR="0" lvl="0" indent="0"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latin typeface="Calibri Light"/>
              </a:endParaRPr>
            </a:p>
          </p:txBody>
        </p:sp>
        <p:sp>
          <p:nvSpPr>
            <p:cNvPr id="218" name="Oval 217">
              <a:extLst>
                <a:ext uri="{FF2B5EF4-FFF2-40B4-BE49-F238E27FC236}">
                  <a16:creationId xmlns:a16="http://schemas.microsoft.com/office/drawing/2014/main" id="{B23B078F-3ABB-4865-A426-262F4E6D60FA}"/>
                </a:ext>
              </a:extLst>
            </p:cNvPr>
            <p:cNvSpPr/>
            <p:nvPr/>
          </p:nvSpPr>
          <p:spPr bwMode="gray">
            <a:xfrm>
              <a:off x="5188483" y="2868065"/>
              <a:ext cx="184815" cy="184815"/>
            </a:xfrm>
            <a:prstGeom prst="ellipse">
              <a:avLst/>
            </a:prstGeom>
            <a:solidFill>
              <a:srgbClr val="FFFFFF"/>
            </a:solidFill>
            <a:ln w="34925" algn="ctr">
              <a:solidFill>
                <a:srgbClr val="046A38"/>
              </a:solidFill>
              <a:miter lim="800000"/>
              <a:headEnd/>
              <a:tailEnd/>
            </a:ln>
          </p:spPr>
          <p:txBody>
            <a:bodyPr wrap="square" lIns="88900" tIns="88900" rIns="88900" bIns="88900" rtlCol="0" anchor="ctr"/>
            <a:lstStyle/>
            <a:p>
              <a:pPr marL="0" marR="0" lvl="0" indent="0"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latin typeface="Verdana"/>
              </a:endParaRPr>
            </a:p>
          </p:txBody>
        </p:sp>
        <p:sp>
          <p:nvSpPr>
            <p:cNvPr id="228" name="Oval 227">
              <a:extLst>
                <a:ext uri="{FF2B5EF4-FFF2-40B4-BE49-F238E27FC236}">
                  <a16:creationId xmlns:a16="http://schemas.microsoft.com/office/drawing/2014/main" id="{8406ADEC-C322-4E86-A8DB-A0FF390DCCC9}"/>
                </a:ext>
              </a:extLst>
            </p:cNvPr>
            <p:cNvSpPr/>
            <p:nvPr/>
          </p:nvSpPr>
          <p:spPr bwMode="gray">
            <a:xfrm>
              <a:off x="5191843" y="4224685"/>
              <a:ext cx="184815" cy="184815"/>
            </a:xfrm>
            <a:prstGeom prst="ellipse">
              <a:avLst/>
            </a:prstGeom>
            <a:solidFill>
              <a:srgbClr val="FFFFFF"/>
            </a:solidFill>
            <a:ln w="34925" algn="ctr">
              <a:solidFill>
                <a:srgbClr val="012169"/>
              </a:solidFill>
              <a:miter lim="800000"/>
              <a:headEnd/>
              <a:tailEnd/>
            </a:ln>
          </p:spPr>
          <p:txBody>
            <a:bodyPr wrap="square" lIns="88900" tIns="88900" rIns="88900" bIns="88900" rtlCol="0" anchor="ctr"/>
            <a:lstStyle/>
            <a:p>
              <a:pPr marL="0" marR="0" lvl="0" indent="0"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latin typeface="Verdana"/>
              </a:endParaRPr>
            </a:p>
          </p:txBody>
        </p:sp>
        <p:sp>
          <p:nvSpPr>
            <p:cNvPr id="230" name="Oval 229">
              <a:extLst>
                <a:ext uri="{FF2B5EF4-FFF2-40B4-BE49-F238E27FC236}">
                  <a16:creationId xmlns:a16="http://schemas.microsoft.com/office/drawing/2014/main" id="{7A70D1D2-DF7C-4AA2-B60C-B17AE2C1A7A1}"/>
                </a:ext>
              </a:extLst>
            </p:cNvPr>
            <p:cNvSpPr/>
            <p:nvPr/>
          </p:nvSpPr>
          <p:spPr bwMode="gray">
            <a:xfrm>
              <a:off x="4264695" y="5592495"/>
              <a:ext cx="184815" cy="184815"/>
            </a:xfrm>
            <a:prstGeom prst="ellipse">
              <a:avLst/>
            </a:prstGeom>
            <a:solidFill>
              <a:srgbClr val="FFFFFF"/>
            </a:solidFill>
            <a:ln w="34925" algn="ctr">
              <a:solidFill>
                <a:srgbClr val="2C5234"/>
              </a:solidFill>
              <a:miter lim="800000"/>
              <a:headEnd/>
              <a:tailEnd/>
            </a:ln>
          </p:spPr>
          <p:txBody>
            <a:bodyPr wrap="square" lIns="88900" tIns="88900" rIns="88900" bIns="88900" rtlCol="0" anchor="ctr"/>
            <a:lstStyle/>
            <a:p>
              <a:pPr marL="0" marR="0" lvl="0" indent="0"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latin typeface="Verdana"/>
              </a:endParaRPr>
            </a:p>
          </p:txBody>
        </p:sp>
      </p:grpSp>
      <p:grpSp>
        <p:nvGrpSpPr>
          <p:cNvPr id="231" name="Group 230">
            <a:extLst>
              <a:ext uri="{FF2B5EF4-FFF2-40B4-BE49-F238E27FC236}">
                <a16:creationId xmlns:a16="http://schemas.microsoft.com/office/drawing/2014/main" id="{5C535698-7B39-4B2B-86BE-259D2E0F7BBF}"/>
              </a:ext>
            </a:extLst>
          </p:cNvPr>
          <p:cNvGrpSpPr/>
          <p:nvPr/>
        </p:nvGrpSpPr>
        <p:grpSpPr>
          <a:xfrm>
            <a:off x="3860463" y="4625088"/>
            <a:ext cx="530788" cy="530788"/>
            <a:chOff x="4198572" y="4459099"/>
            <a:chExt cx="919874" cy="919874"/>
          </a:xfrm>
        </p:grpSpPr>
        <p:sp>
          <p:nvSpPr>
            <p:cNvPr id="232" name="Oval 231">
              <a:extLst>
                <a:ext uri="{FF2B5EF4-FFF2-40B4-BE49-F238E27FC236}">
                  <a16:creationId xmlns:a16="http://schemas.microsoft.com/office/drawing/2014/main" id="{A7D590A9-3F45-4FC7-B4AE-DB3D2255BD05}"/>
                </a:ext>
              </a:extLst>
            </p:cNvPr>
            <p:cNvSpPr/>
            <p:nvPr/>
          </p:nvSpPr>
          <p:spPr bwMode="gray">
            <a:xfrm>
              <a:off x="4198572" y="4459099"/>
              <a:ext cx="919874" cy="919874"/>
            </a:xfrm>
            <a:prstGeom prst="ellipse">
              <a:avLst/>
            </a:prstGeom>
            <a:noFill/>
            <a:ln w="22225" algn="ctr">
              <a:solidFill>
                <a:srgbClr val="000000">
                  <a:lumMod val="50000"/>
                  <a:lumOff val="50000"/>
                </a:srgbClr>
              </a:solidFill>
              <a:prstDash val="sysDot"/>
              <a:miter lim="800000"/>
              <a:headEnd/>
              <a:tailEnd/>
            </a:ln>
          </p:spPr>
          <p:txBody>
            <a:bodyPr wrap="square" lIns="88900" tIns="88900" rIns="88900" bIns="88900" rtlCol="0" anchor="ctr"/>
            <a:lstStyle/>
            <a:p>
              <a:pPr marL="0" marR="0" lvl="0" indent="0"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latin typeface="Verdana"/>
              </a:endParaRPr>
            </a:p>
          </p:txBody>
        </p:sp>
        <p:sp>
          <p:nvSpPr>
            <p:cNvPr id="233" name="Freeform 627">
              <a:extLst>
                <a:ext uri="{FF2B5EF4-FFF2-40B4-BE49-F238E27FC236}">
                  <a16:creationId xmlns:a16="http://schemas.microsoft.com/office/drawing/2014/main" id="{E5A11AEF-D66E-4A06-9A8F-3911B534023F}"/>
                </a:ext>
              </a:extLst>
            </p:cNvPr>
            <p:cNvSpPr>
              <a:spLocks noChangeAspect="1" noEditPoints="1"/>
            </p:cNvSpPr>
            <p:nvPr/>
          </p:nvSpPr>
          <p:spPr bwMode="auto">
            <a:xfrm>
              <a:off x="4260744" y="4521271"/>
              <a:ext cx="795528" cy="795528"/>
            </a:xfrm>
            <a:custGeom>
              <a:avLst/>
              <a:gdLst>
                <a:gd name="T0" fmla="*/ 330 w 512"/>
                <a:gd name="T1" fmla="*/ 245 h 512"/>
                <a:gd name="T2" fmla="*/ 181 w 512"/>
                <a:gd name="T3" fmla="*/ 245 h 512"/>
                <a:gd name="T4" fmla="*/ 181 w 512"/>
                <a:gd name="T5" fmla="*/ 192 h 512"/>
                <a:gd name="T6" fmla="*/ 256 w 512"/>
                <a:gd name="T7" fmla="*/ 117 h 512"/>
                <a:gd name="T8" fmla="*/ 330 w 512"/>
                <a:gd name="T9" fmla="*/ 192 h 512"/>
                <a:gd name="T10" fmla="*/ 330 w 512"/>
                <a:gd name="T11" fmla="*/ 245 h 512"/>
                <a:gd name="T12" fmla="*/ 160 w 512"/>
                <a:gd name="T13" fmla="*/ 394 h 512"/>
                <a:gd name="T14" fmla="*/ 352 w 512"/>
                <a:gd name="T15" fmla="*/ 394 h 512"/>
                <a:gd name="T16" fmla="*/ 352 w 512"/>
                <a:gd name="T17" fmla="*/ 266 h 512"/>
                <a:gd name="T18" fmla="*/ 160 w 512"/>
                <a:gd name="T19" fmla="*/ 266 h 512"/>
                <a:gd name="T20" fmla="*/ 160 w 512"/>
                <a:gd name="T21" fmla="*/ 394 h 512"/>
                <a:gd name="T22" fmla="*/ 512 w 512"/>
                <a:gd name="T23" fmla="*/ 256 h 512"/>
                <a:gd name="T24" fmla="*/ 256 w 512"/>
                <a:gd name="T25" fmla="*/ 512 h 512"/>
                <a:gd name="T26" fmla="*/ 0 w 512"/>
                <a:gd name="T27" fmla="*/ 256 h 512"/>
                <a:gd name="T28" fmla="*/ 256 w 512"/>
                <a:gd name="T29" fmla="*/ 0 h 512"/>
                <a:gd name="T30" fmla="*/ 512 w 512"/>
                <a:gd name="T31" fmla="*/ 256 h 512"/>
                <a:gd name="T32" fmla="*/ 373 w 512"/>
                <a:gd name="T33" fmla="*/ 256 h 512"/>
                <a:gd name="T34" fmla="*/ 362 w 512"/>
                <a:gd name="T35" fmla="*/ 245 h 512"/>
                <a:gd name="T36" fmla="*/ 352 w 512"/>
                <a:gd name="T37" fmla="*/ 245 h 512"/>
                <a:gd name="T38" fmla="*/ 352 w 512"/>
                <a:gd name="T39" fmla="*/ 192 h 512"/>
                <a:gd name="T40" fmla="*/ 256 w 512"/>
                <a:gd name="T41" fmla="*/ 96 h 512"/>
                <a:gd name="T42" fmla="*/ 160 w 512"/>
                <a:gd name="T43" fmla="*/ 192 h 512"/>
                <a:gd name="T44" fmla="*/ 160 w 512"/>
                <a:gd name="T45" fmla="*/ 245 h 512"/>
                <a:gd name="T46" fmla="*/ 149 w 512"/>
                <a:gd name="T47" fmla="*/ 245 h 512"/>
                <a:gd name="T48" fmla="*/ 138 w 512"/>
                <a:gd name="T49" fmla="*/ 256 h 512"/>
                <a:gd name="T50" fmla="*/ 138 w 512"/>
                <a:gd name="T51" fmla="*/ 405 h 512"/>
                <a:gd name="T52" fmla="*/ 149 w 512"/>
                <a:gd name="T53" fmla="*/ 416 h 512"/>
                <a:gd name="T54" fmla="*/ 362 w 512"/>
                <a:gd name="T55" fmla="*/ 416 h 512"/>
                <a:gd name="T56" fmla="*/ 373 w 512"/>
                <a:gd name="T57" fmla="*/ 405 h 512"/>
                <a:gd name="T58" fmla="*/ 373 w 512"/>
                <a:gd name="T59" fmla="*/ 25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330" y="245"/>
                  </a:moveTo>
                  <a:cubicBezTo>
                    <a:pt x="181" y="245"/>
                    <a:pt x="181" y="245"/>
                    <a:pt x="181" y="245"/>
                  </a:cubicBezTo>
                  <a:cubicBezTo>
                    <a:pt x="181" y="192"/>
                    <a:pt x="181" y="192"/>
                    <a:pt x="181" y="192"/>
                  </a:cubicBezTo>
                  <a:cubicBezTo>
                    <a:pt x="181" y="150"/>
                    <a:pt x="214" y="117"/>
                    <a:pt x="256" y="117"/>
                  </a:cubicBezTo>
                  <a:cubicBezTo>
                    <a:pt x="297" y="117"/>
                    <a:pt x="330" y="150"/>
                    <a:pt x="330" y="192"/>
                  </a:cubicBezTo>
                  <a:lnTo>
                    <a:pt x="330" y="245"/>
                  </a:lnTo>
                  <a:close/>
                  <a:moveTo>
                    <a:pt x="160" y="394"/>
                  </a:moveTo>
                  <a:cubicBezTo>
                    <a:pt x="352" y="394"/>
                    <a:pt x="352" y="394"/>
                    <a:pt x="352" y="394"/>
                  </a:cubicBezTo>
                  <a:cubicBezTo>
                    <a:pt x="352" y="266"/>
                    <a:pt x="352" y="266"/>
                    <a:pt x="352" y="266"/>
                  </a:cubicBezTo>
                  <a:cubicBezTo>
                    <a:pt x="160" y="266"/>
                    <a:pt x="160" y="266"/>
                    <a:pt x="160" y="266"/>
                  </a:cubicBezTo>
                  <a:lnTo>
                    <a:pt x="160" y="394"/>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56"/>
                  </a:moveTo>
                  <a:cubicBezTo>
                    <a:pt x="373" y="250"/>
                    <a:pt x="368" y="245"/>
                    <a:pt x="362" y="245"/>
                  </a:cubicBezTo>
                  <a:cubicBezTo>
                    <a:pt x="352" y="245"/>
                    <a:pt x="352" y="245"/>
                    <a:pt x="352" y="245"/>
                  </a:cubicBezTo>
                  <a:cubicBezTo>
                    <a:pt x="352" y="192"/>
                    <a:pt x="352" y="192"/>
                    <a:pt x="352" y="192"/>
                  </a:cubicBezTo>
                  <a:cubicBezTo>
                    <a:pt x="352" y="139"/>
                    <a:pt x="309" y="96"/>
                    <a:pt x="256" y="96"/>
                  </a:cubicBezTo>
                  <a:cubicBezTo>
                    <a:pt x="203" y="96"/>
                    <a:pt x="160" y="139"/>
                    <a:pt x="160" y="192"/>
                  </a:cubicBezTo>
                  <a:cubicBezTo>
                    <a:pt x="160" y="245"/>
                    <a:pt x="160" y="245"/>
                    <a:pt x="160" y="245"/>
                  </a:cubicBezTo>
                  <a:cubicBezTo>
                    <a:pt x="149" y="245"/>
                    <a:pt x="149" y="245"/>
                    <a:pt x="149" y="245"/>
                  </a:cubicBezTo>
                  <a:cubicBezTo>
                    <a:pt x="143" y="245"/>
                    <a:pt x="138" y="250"/>
                    <a:pt x="138" y="256"/>
                  </a:cubicBezTo>
                  <a:cubicBezTo>
                    <a:pt x="138" y="405"/>
                    <a:pt x="138" y="405"/>
                    <a:pt x="138" y="405"/>
                  </a:cubicBezTo>
                  <a:cubicBezTo>
                    <a:pt x="138" y="411"/>
                    <a:pt x="143" y="416"/>
                    <a:pt x="149" y="416"/>
                  </a:cubicBezTo>
                  <a:cubicBezTo>
                    <a:pt x="362" y="416"/>
                    <a:pt x="362" y="416"/>
                    <a:pt x="362" y="416"/>
                  </a:cubicBezTo>
                  <a:cubicBezTo>
                    <a:pt x="368" y="416"/>
                    <a:pt x="373" y="411"/>
                    <a:pt x="373" y="405"/>
                  </a:cubicBezTo>
                  <a:lnTo>
                    <a:pt x="373" y="256"/>
                  </a:lnTo>
                  <a:close/>
                </a:path>
              </a:pathLst>
            </a:custGeom>
            <a:solidFill>
              <a:srgbClr val="2C5234"/>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Verdana"/>
              </a:endParaRPr>
            </a:p>
          </p:txBody>
        </p:sp>
      </p:grpSp>
      <p:sp>
        <p:nvSpPr>
          <p:cNvPr id="234" name="Rectangle 233">
            <a:extLst>
              <a:ext uri="{FF2B5EF4-FFF2-40B4-BE49-F238E27FC236}">
                <a16:creationId xmlns:a16="http://schemas.microsoft.com/office/drawing/2014/main" id="{399E5D4A-EE9E-446C-AC33-6625C60EFFDC}"/>
              </a:ext>
            </a:extLst>
          </p:cNvPr>
          <p:cNvSpPr/>
          <p:nvPr/>
        </p:nvSpPr>
        <p:spPr>
          <a:xfrm>
            <a:off x="4362615" y="4588251"/>
            <a:ext cx="2418983" cy="738664"/>
          </a:xfrm>
          <a:prstGeom prst="rect">
            <a:avLst/>
          </a:prstGeom>
        </p:spPr>
        <p:txBody>
          <a:bodyPr wrap="square">
            <a:spAutoFit/>
          </a:bodyPr>
          <a:lstStyle/>
          <a:p>
            <a:pPr>
              <a:defRPr/>
            </a:pPr>
            <a:r>
              <a:rPr lang="en-US" sz="1400" b="1" dirty="0">
                <a:solidFill>
                  <a:srgbClr val="2C5234"/>
                </a:solidFill>
                <a:latin typeface="+mj-lt"/>
              </a:rPr>
              <a:t>MIS &amp; Analytics (Inputs for MIS framework and project management tool)</a:t>
            </a:r>
            <a:endParaRPr lang="en-US" sz="1400" b="1" dirty="0">
              <a:solidFill>
                <a:srgbClr val="000000"/>
              </a:solidFill>
              <a:latin typeface="+mj-lt"/>
            </a:endParaRPr>
          </a:p>
        </p:txBody>
      </p:sp>
      <p:grpSp>
        <p:nvGrpSpPr>
          <p:cNvPr id="257" name="Group 256">
            <a:extLst>
              <a:ext uri="{FF2B5EF4-FFF2-40B4-BE49-F238E27FC236}">
                <a16:creationId xmlns:a16="http://schemas.microsoft.com/office/drawing/2014/main" id="{745B55E0-AD66-45F7-B6FF-1187E61C3598}"/>
              </a:ext>
            </a:extLst>
          </p:cNvPr>
          <p:cNvGrpSpPr/>
          <p:nvPr/>
        </p:nvGrpSpPr>
        <p:grpSpPr>
          <a:xfrm>
            <a:off x="3840607" y="3705398"/>
            <a:ext cx="529517" cy="529517"/>
            <a:chOff x="5548829" y="3384543"/>
            <a:chExt cx="919874" cy="919874"/>
          </a:xfrm>
        </p:grpSpPr>
        <p:sp>
          <p:nvSpPr>
            <p:cNvPr id="258" name="Oval 257">
              <a:extLst>
                <a:ext uri="{FF2B5EF4-FFF2-40B4-BE49-F238E27FC236}">
                  <a16:creationId xmlns:a16="http://schemas.microsoft.com/office/drawing/2014/main" id="{B73D64B2-3C13-408B-9A07-A3F48D64ADF5}"/>
                </a:ext>
              </a:extLst>
            </p:cNvPr>
            <p:cNvSpPr/>
            <p:nvPr/>
          </p:nvSpPr>
          <p:spPr bwMode="gray">
            <a:xfrm>
              <a:off x="5548829" y="3384543"/>
              <a:ext cx="919874" cy="919874"/>
            </a:xfrm>
            <a:prstGeom prst="ellipse">
              <a:avLst/>
            </a:prstGeom>
            <a:noFill/>
            <a:ln w="22225" algn="ctr">
              <a:solidFill>
                <a:srgbClr val="000000">
                  <a:lumMod val="50000"/>
                  <a:lumOff val="50000"/>
                </a:srgbClr>
              </a:solidFill>
              <a:prstDash val="sysDot"/>
              <a:miter lim="800000"/>
              <a:headEnd/>
              <a:tailEnd/>
            </a:ln>
          </p:spPr>
          <p:txBody>
            <a:bodyPr wrap="square" lIns="88900" tIns="88900" rIns="88900" bIns="88900" rtlCol="0" anchor="ctr"/>
            <a:lstStyle/>
            <a:p>
              <a:pPr marL="0" marR="0" lvl="0" indent="0"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latin typeface="Verdana"/>
              </a:endParaRPr>
            </a:p>
          </p:txBody>
        </p:sp>
        <p:sp>
          <p:nvSpPr>
            <p:cNvPr id="259" name="Freeform 375">
              <a:extLst>
                <a:ext uri="{FF2B5EF4-FFF2-40B4-BE49-F238E27FC236}">
                  <a16:creationId xmlns:a16="http://schemas.microsoft.com/office/drawing/2014/main" id="{DDD77E56-F5E4-4BB3-86C1-3469246B039D}"/>
                </a:ext>
              </a:extLst>
            </p:cNvPr>
            <p:cNvSpPr>
              <a:spLocks noChangeAspect="1" noEditPoints="1"/>
            </p:cNvSpPr>
            <p:nvPr/>
          </p:nvSpPr>
          <p:spPr bwMode="auto">
            <a:xfrm>
              <a:off x="5611002" y="3446716"/>
              <a:ext cx="795528" cy="795528"/>
            </a:xfrm>
            <a:custGeom>
              <a:avLst/>
              <a:gdLst>
                <a:gd name="T0" fmla="*/ 297 w 512"/>
                <a:gd name="T1" fmla="*/ 213 h 512"/>
                <a:gd name="T2" fmla="*/ 382 w 512"/>
                <a:gd name="T3" fmla="*/ 221 h 512"/>
                <a:gd name="T4" fmla="*/ 323 w 512"/>
                <a:gd name="T5" fmla="*/ 280 h 512"/>
                <a:gd name="T6" fmla="*/ 320 w 512"/>
                <a:gd name="T7" fmla="*/ 290 h 512"/>
                <a:gd name="T8" fmla="*/ 337 w 512"/>
                <a:gd name="T9" fmla="*/ 374 h 512"/>
                <a:gd name="T10" fmla="*/ 261 w 512"/>
                <a:gd name="T11" fmla="*/ 332 h 512"/>
                <a:gd name="T12" fmla="*/ 256 w 512"/>
                <a:gd name="T13" fmla="*/ 330 h 512"/>
                <a:gd name="T14" fmla="*/ 250 w 512"/>
                <a:gd name="T15" fmla="*/ 332 h 512"/>
                <a:gd name="T16" fmla="*/ 175 w 512"/>
                <a:gd name="T17" fmla="*/ 374 h 512"/>
                <a:gd name="T18" fmla="*/ 191 w 512"/>
                <a:gd name="T19" fmla="*/ 290 h 512"/>
                <a:gd name="T20" fmla="*/ 189 w 512"/>
                <a:gd name="T21" fmla="*/ 280 h 512"/>
                <a:gd name="T22" fmla="*/ 130 w 512"/>
                <a:gd name="T23" fmla="*/ 221 h 512"/>
                <a:gd name="T24" fmla="*/ 214 w 512"/>
                <a:gd name="T25" fmla="*/ 213 h 512"/>
                <a:gd name="T26" fmla="*/ 223 w 512"/>
                <a:gd name="T27" fmla="*/ 207 h 512"/>
                <a:gd name="T28" fmla="*/ 256 w 512"/>
                <a:gd name="T29" fmla="*/ 133 h 512"/>
                <a:gd name="T30" fmla="*/ 289 w 512"/>
                <a:gd name="T31" fmla="*/ 207 h 512"/>
                <a:gd name="T32" fmla="*/ 297 w 512"/>
                <a:gd name="T33" fmla="*/ 213 h 512"/>
                <a:gd name="T34" fmla="*/ 512 w 512"/>
                <a:gd name="T35" fmla="*/ 256 h 512"/>
                <a:gd name="T36" fmla="*/ 256 w 512"/>
                <a:gd name="T37" fmla="*/ 512 h 512"/>
                <a:gd name="T38" fmla="*/ 0 w 512"/>
                <a:gd name="T39" fmla="*/ 256 h 512"/>
                <a:gd name="T40" fmla="*/ 256 w 512"/>
                <a:gd name="T41" fmla="*/ 0 h 512"/>
                <a:gd name="T42" fmla="*/ 512 w 512"/>
                <a:gd name="T43" fmla="*/ 256 h 512"/>
                <a:gd name="T44" fmla="*/ 415 w 512"/>
                <a:gd name="T45" fmla="*/ 209 h 512"/>
                <a:gd name="T46" fmla="*/ 406 w 512"/>
                <a:gd name="T47" fmla="*/ 202 h 512"/>
                <a:gd name="T48" fmla="*/ 306 w 512"/>
                <a:gd name="T49" fmla="*/ 192 h 512"/>
                <a:gd name="T50" fmla="*/ 265 w 512"/>
                <a:gd name="T51" fmla="*/ 102 h 512"/>
                <a:gd name="T52" fmla="*/ 256 w 512"/>
                <a:gd name="T53" fmla="*/ 96 h 512"/>
                <a:gd name="T54" fmla="*/ 246 w 512"/>
                <a:gd name="T55" fmla="*/ 102 h 512"/>
                <a:gd name="T56" fmla="*/ 206 w 512"/>
                <a:gd name="T57" fmla="*/ 192 h 512"/>
                <a:gd name="T58" fmla="*/ 105 w 512"/>
                <a:gd name="T59" fmla="*/ 202 h 512"/>
                <a:gd name="T60" fmla="*/ 96 w 512"/>
                <a:gd name="T61" fmla="*/ 209 h 512"/>
                <a:gd name="T62" fmla="*/ 99 w 512"/>
                <a:gd name="T63" fmla="*/ 221 h 512"/>
                <a:gd name="T64" fmla="*/ 169 w 512"/>
                <a:gd name="T65" fmla="*/ 291 h 512"/>
                <a:gd name="T66" fmla="*/ 149 w 512"/>
                <a:gd name="T67" fmla="*/ 392 h 512"/>
                <a:gd name="T68" fmla="*/ 153 w 512"/>
                <a:gd name="T69" fmla="*/ 403 h 512"/>
                <a:gd name="T70" fmla="*/ 165 w 512"/>
                <a:gd name="T71" fmla="*/ 404 h 512"/>
                <a:gd name="T72" fmla="*/ 256 w 512"/>
                <a:gd name="T73" fmla="*/ 353 h 512"/>
                <a:gd name="T74" fmla="*/ 346 w 512"/>
                <a:gd name="T75" fmla="*/ 404 h 512"/>
                <a:gd name="T76" fmla="*/ 352 w 512"/>
                <a:gd name="T77" fmla="*/ 405 h 512"/>
                <a:gd name="T78" fmla="*/ 358 w 512"/>
                <a:gd name="T79" fmla="*/ 403 h 512"/>
                <a:gd name="T80" fmla="*/ 362 w 512"/>
                <a:gd name="T81" fmla="*/ 392 h 512"/>
                <a:gd name="T82" fmla="*/ 342 w 512"/>
                <a:gd name="T83" fmla="*/ 291 h 512"/>
                <a:gd name="T84" fmla="*/ 413 w 512"/>
                <a:gd name="T85" fmla="*/ 221 h 512"/>
                <a:gd name="T86" fmla="*/ 415 w 512"/>
                <a:gd name="T87" fmla="*/ 2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97" y="213"/>
                  </a:moveTo>
                  <a:cubicBezTo>
                    <a:pt x="382" y="221"/>
                    <a:pt x="382" y="221"/>
                    <a:pt x="382" y="221"/>
                  </a:cubicBezTo>
                  <a:cubicBezTo>
                    <a:pt x="323" y="280"/>
                    <a:pt x="323" y="280"/>
                    <a:pt x="323" y="280"/>
                  </a:cubicBezTo>
                  <a:cubicBezTo>
                    <a:pt x="320" y="283"/>
                    <a:pt x="319" y="286"/>
                    <a:pt x="320" y="290"/>
                  </a:cubicBezTo>
                  <a:cubicBezTo>
                    <a:pt x="337" y="374"/>
                    <a:pt x="337" y="374"/>
                    <a:pt x="337" y="374"/>
                  </a:cubicBezTo>
                  <a:cubicBezTo>
                    <a:pt x="261" y="332"/>
                    <a:pt x="261" y="332"/>
                    <a:pt x="261" y="332"/>
                  </a:cubicBezTo>
                  <a:cubicBezTo>
                    <a:pt x="259" y="331"/>
                    <a:pt x="257" y="330"/>
                    <a:pt x="256" y="330"/>
                  </a:cubicBezTo>
                  <a:cubicBezTo>
                    <a:pt x="254" y="330"/>
                    <a:pt x="252" y="331"/>
                    <a:pt x="250" y="332"/>
                  </a:cubicBezTo>
                  <a:cubicBezTo>
                    <a:pt x="175" y="374"/>
                    <a:pt x="175" y="374"/>
                    <a:pt x="175" y="374"/>
                  </a:cubicBezTo>
                  <a:cubicBezTo>
                    <a:pt x="191" y="290"/>
                    <a:pt x="191" y="290"/>
                    <a:pt x="191" y="290"/>
                  </a:cubicBezTo>
                  <a:cubicBezTo>
                    <a:pt x="192" y="286"/>
                    <a:pt x="191" y="283"/>
                    <a:pt x="189" y="280"/>
                  </a:cubicBezTo>
                  <a:cubicBezTo>
                    <a:pt x="130" y="221"/>
                    <a:pt x="130" y="221"/>
                    <a:pt x="130" y="221"/>
                  </a:cubicBezTo>
                  <a:cubicBezTo>
                    <a:pt x="214" y="213"/>
                    <a:pt x="214" y="213"/>
                    <a:pt x="214" y="213"/>
                  </a:cubicBezTo>
                  <a:cubicBezTo>
                    <a:pt x="218" y="213"/>
                    <a:pt x="221" y="210"/>
                    <a:pt x="223" y="207"/>
                  </a:cubicBezTo>
                  <a:cubicBezTo>
                    <a:pt x="256" y="133"/>
                    <a:pt x="256" y="133"/>
                    <a:pt x="256" y="133"/>
                  </a:cubicBezTo>
                  <a:cubicBezTo>
                    <a:pt x="289" y="207"/>
                    <a:pt x="289" y="207"/>
                    <a:pt x="289" y="207"/>
                  </a:cubicBezTo>
                  <a:cubicBezTo>
                    <a:pt x="290" y="210"/>
                    <a:pt x="293" y="213"/>
                    <a:pt x="297"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5" y="209"/>
                  </a:moveTo>
                  <a:cubicBezTo>
                    <a:pt x="414" y="206"/>
                    <a:pt x="410" y="203"/>
                    <a:pt x="406" y="202"/>
                  </a:cubicBezTo>
                  <a:cubicBezTo>
                    <a:pt x="306" y="192"/>
                    <a:pt x="306" y="192"/>
                    <a:pt x="306" y="192"/>
                  </a:cubicBezTo>
                  <a:cubicBezTo>
                    <a:pt x="265" y="102"/>
                    <a:pt x="265" y="102"/>
                    <a:pt x="265" y="102"/>
                  </a:cubicBezTo>
                  <a:cubicBezTo>
                    <a:pt x="264" y="98"/>
                    <a:pt x="260" y="96"/>
                    <a:pt x="256" y="96"/>
                  </a:cubicBezTo>
                  <a:cubicBezTo>
                    <a:pt x="251" y="96"/>
                    <a:pt x="248" y="98"/>
                    <a:pt x="246" y="102"/>
                  </a:cubicBezTo>
                  <a:cubicBezTo>
                    <a:pt x="206" y="192"/>
                    <a:pt x="206" y="192"/>
                    <a:pt x="206" y="192"/>
                  </a:cubicBezTo>
                  <a:cubicBezTo>
                    <a:pt x="105" y="202"/>
                    <a:pt x="105" y="202"/>
                    <a:pt x="105" y="202"/>
                  </a:cubicBezTo>
                  <a:cubicBezTo>
                    <a:pt x="101" y="203"/>
                    <a:pt x="98" y="206"/>
                    <a:pt x="96" y="209"/>
                  </a:cubicBezTo>
                  <a:cubicBezTo>
                    <a:pt x="95" y="213"/>
                    <a:pt x="96" y="218"/>
                    <a:pt x="99" y="221"/>
                  </a:cubicBezTo>
                  <a:cubicBezTo>
                    <a:pt x="169" y="291"/>
                    <a:pt x="169" y="291"/>
                    <a:pt x="169" y="291"/>
                  </a:cubicBezTo>
                  <a:cubicBezTo>
                    <a:pt x="149" y="392"/>
                    <a:pt x="149" y="392"/>
                    <a:pt x="149" y="392"/>
                  </a:cubicBezTo>
                  <a:cubicBezTo>
                    <a:pt x="148" y="396"/>
                    <a:pt x="150" y="401"/>
                    <a:pt x="153" y="403"/>
                  </a:cubicBezTo>
                  <a:cubicBezTo>
                    <a:pt x="157" y="405"/>
                    <a:pt x="161" y="406"/>
                    <a:pt x="165" y="404"/>
                  </a:cubicBezTo>
                  <a:cubicBezTo>
                    <a:pt x="256" y="353"/>
                    <a:pt x="256" y="353"/>
                    <a:pt x="256" y="353"/>
                  </a:cubicBezTo>
                  <a:cubicBezTo>
                    <a:pt x="346" y="404"/>
                    <a:pt x="346" y="404"/>
                    <a:pt x="346" y="404"/>
                  </a:cubicBezTo>
                  <a:cubicBezTo>
                    <a:pt x="348" y="405"/>
                    <a:pt x="350" y="405"/>
                    <a:pt x="352" y="405"/>
                  </a:cubicBezTo>
                  <a:cubicBezTo>
                    <a:pt x="354" y="405"/>
                    <a:pt x="356" y="404"/>
                    <a:pt x="358" y="403"/>
                  </a:cubicBezTo>
                  <a:cubicBezTo>
                    <a:pt x="361" y="401"/>
                    <a:pt x="363" y="396"/>
                    <a:pt x="362" y="392"/>
                  </a:cubicBezTo>
                  <a:cubicBezTo>
                    <a:pt x="342" y="291"/>
                    <a:pt x="342" y="291"/>
                    <a:pt x="342" y="291"/>
                  </a:cubicBezTo>
                  <a:cubicBezTo>
                    <a:pt x="413" y="221"/>
                    <a:pt x="413" y="221"/>
                    <a:pt x="413" y="221"/>
                  </a:cubicBezTo>
                  <a:cubicBezTo>
                    <a:pt x="415" y="218"/>
                    <a:pt x="416" y="213"/>
                    <a:pt x="415" y="209"/>
                  </a:cubicBezTo>
                  <a:close/>
                </a:path>
              </a:pathLst>
            </a:custGeom>
            <a:solidFill>
              <a:srgbClr val="041E42"/>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Verdana"/>
              </a:endParaRPr>
            </a:p>
          </p:txBody>
        </p:sp>
      </p:grpSp>
      <p:cxnSp>
        <p:nvCxnSpPr>
          <p:cNvPr id="43" name="Straight Arrow Connector 42">
            <a:extLst>
              <a:ext uri="{FF2B5EF4-FFF2-40B4-BE49-F238E27FC236}">
                <a16:creationId xmlns:a16="http://schemas.microsoft.com/office/drawing/2014/main" id="{A1DCFF33-0921-4184-B942-74318CB41E2D}"/>
              </a:ext>
            </a:extLst>
          </p:cNvPr>
          <p:cNvCxnSpPr>
            <a:cxnSpLocks/>
          </p:cNvCxnSpPr>
          <p:nvPr/>
        </p:nvCxnSpPr>
        <p:spPr>
          <a:xfrm>
            <a:off x="8281220" y="2915417"/>
            <a:ext cx="0" cy="2035133"/>
          </a:xfrm>
          <a:prstGeom prst="straightConnector1">
            <a:avLst/>
          </a:prstGeom>
          <a:noFill/>
          <a:ln w="19050" cap="flat" cmpd="sng" algn="ctr">
            <a:solidFill>
              <a:srgbClr val="62B5E5"/>
            </a:solidFill>
            <a:prstDash val="solid"/>
            <a:tailEnd type="triangle"/>
          </a:ln>
          <a:effectLst/>
        </p:spPr>
      </p:cxnSp>
      <p:cxnSp>
        <p:nvCxnSpPr>
          <p:cNvPr id="44" name="Straight Arrow Connector 43">
            <a:extLst>
              <a:ext uri="{FF2B5EF4-FFF2-40B4-BE49-F238E27FC236}">
                <a16:creationId xmlns:a16="http://schemas.microsoft.com/office/drawing/2014/main" id="{4B80FF2D-864C-4E63-80E1-75574BAE196C}"/>
              </a:ext>
            </a:extLst>
          </p:cNvPr>
          <p:cNvCxnSpPr>
            <a:cxnSpLocks/>
          </p:cNvCxnSpPr>
          <p:nvPr/>
        </p:nvCxnSpPr>
        <p:spPr>
          <a:xfrm>
            <a:off x="11007989" y="2915417"/>
            <a:ext cx="13450" cy="2035133"/>
          </a:xfrm>
          <a:prstGeom prst="straightConnector1">
            <a:avLst/>
          </a:prstGeom>
          <a:noFill/>
          <a:ln w="19050" cap="flat" cmpd="sng" algn="ctr">
            <a:solidFill>
              <a:srgbClr val="62B5E5"/>
            </a:solidFill>
            <a:prstDash val="solid"/>
            <a:tailEnd type="triangle"/>
          </a:ln>
          <a:effectLst/>
        </p:spPr>
      </p:cxnSp>
      <p:sp>
        <p:nvSpPr>
          <p:cNvPr id="45" name="TextBox 44">
            <a:extLst>
              <a:ext uri="{FF2B5EF4-FFF2-40B4-BE49-F238E27FC236}">
                <a16:creationId xmlns:a16="http://schemas.microsoft.com/office/drawing/2014/main" id="{41637A47-8770-4C25-A05C-4D061FB973E9}"/>
              </a:ext>
            </a:extLst>
          </p:cNvPr>
          <p:cNvSpPr txBox="1"/>
          <p:nvPr/>
        </p:nvSpPr>
        <p:spPr>
          <a:xfrm>
            <a:off x="7062209" y="1411347"/>
            <a:ext cx="4919093" cy="292326"/>
          </a:xfrm>
          <a:prstGeom prst="rect">
            <a:avLst/>
          </a:prstGeom>
          <a:solidFill>
            <a:srgbClr val="012169"/>
          </a:solidFill>
        </p:spPr>
        <p:txBody>
          <a:bodyPr wrap="square" lIns="91440" tIns="0" rIns="0" bIns="0" rtlCol="0">
            <a:noAutofit/>
          </a:bodyPr>
          <a:lstStyle/>
          <a:p>
            <a:pPr algn="ctr">
              <a:spcBef>
                <a:spcPts val="600"/>
              </a:spcBef>
              <a:buSzPct val="100000"/>
            </a:pPr>
            <a:r>
              <a:rPr lang="en-US" b="1" dirty="0">
                <a:solidFill>
                  <a:schemeClr val="bg1"/>
                </a:solidFill>
              </a:rPr>
              <a:t>CPMU Project Governance Structure</a:t>
            </a:r>
          </a:p>
        </p:txBody>
      </p:sp>
      <p:sp>
        <p:nvSpPr>
          <p:cNvPr id="46" name="Rectangle 45">
            <a:extLst>
              <a:ext uri="{FF2B5EF4-FFF2-40B4-BE49-F238E27FC236}">
                <a16:creationId xmlns:a16="http://schemas.microsoft.com/office/drawing/2014/main" id="{09F970E3-A465-40CA-A5A0-35B2FC848936}"/>
              </a:ext>
            </a:extLst>
          </p:cNvPr>
          <p:cNvSpPr/>
          <p:nvPr/>
        </p:nvSpPr>
        <p:spPr bwMode="gray">
          <a:xfrm>
            <a:off x="7504877" y="1765450"/>
            <a:ext cx="3975154" cy="1192606"/>
          </a:xfrm>
          <a:prstGeom prst="rect">
            <a:avLst/>
          </a:prstGeom>
          <a:solidFill>
            <a:srgbClr val="62B5E5">
              <a:lumMod val="20000"/>
              <a:lumOff val="80000"/>
            </a:srgbClr>
          </a:solidFill>
          <a:ln w="19050" algn="ctr">
            <a:no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US" b="1" i="0" u="none" strike="noStrike" kern="0" cap="none" spc="0" normalizeH="0" baseline="0" noProof="0" dirty="0" err="1">
              <a:ln>
                <a:noFill/>
              </a:ln>
              <a:solidFill>
                <a:srgbClr val="FFFFFF"/>
              </a:solidFill>
              <a:effectLst/>
              <a:uLnTx/>
              <a:uFillTx/>
            </a:endParaRPr>
          </a:p>
        </p:txBody>
      </p:sp>
      <p:grpSp>
        <p:nvGrpSpPr>
          <p:cNvPr id="47" name="Group 46">
            <a:extLst>
              <a:ext uri="{FF2B5EF4-FFF2-40B4-BE49-F238E27FC236}">
                <a16:creationId xmlns:a16="http://schemas.microsoft.com/office/drawing/2014/main" id="{EC8D9BF9-6CEC-456B-8377-81537F05C57F}"/>
              </a:ext>
            </a:extLst>
          </p:cNvPr>
          <p:cNvGrpSpPr/>
          <p:nvPr/>
        </p:nvGrpSpPr>
        <p:grpSpPr>
          <a:xfrm>
            <a:off x="8260200" y="2084933"/>
            <a:ext cx="620659" cy="523700"/>
            <a:chOff x="2925363" y="2996024"/>
            <a:chExt cx="620659" cy="523700"/>
          </a:xfrm>
          <a:solidFill>
            <a:srgbClr val="012169">
              <a:lumMod val="75000"/>
            </a:srgbClr>
          </a:solidFill>
        </p:grpSpPr>
        <p:sp>
          <p:nvSpPr>
            <p:cNvPr id="48" name="Freeform 93">
              <a:extLst>
                <a:ext uri="{FF2B5EF4-FFF2-40B4-BE49-F238E27FC236}">
                  <a16:creationId xmlns:a16="http://schemas.microsoft.com/office/drawing/2014/main" id="{A0B529C6-5EEC-417D-AA3D-BEFF7626BC7C}"/>
                </a:ext>
              </a:extLst>
            </p:cNvPr>
            <p:cNvSpPr>
              <a:spLocks/>
            </p:cNvSpPr>
            <p:nvPr/>
          </p:nvSpPr>
          <p:spPr bwMode="auto">
            <a:xfrm>
              <a:off x="3096735" y="3395705"/>
              <a:ext cx="277916" cy="94142"/>
            </a:xfrm>
            <a:custGeom>
              <a:avLst/>
              <a:gdLst>
                <a:gd name="T0" fmla="*/ 362 w 493"/>
                <a:gd name="T1" fmla="*/ 0 h 167"/>
                <a:gd name="T2" fmla="*/ 362 w 493"/>
                <a:gd name="T3" fmla="*/ 15 h 167"/>
                <a:gd name="T4" fmla="*/ 362 w 493"/>
                <a:gd name="T5" fmla="*/ 15 h 167"/>
                <a:gd name="T6" fmla="*/ 393 w 493"/>
                <a:gd name="T7" fmla="*/ 20 h 167"/>
                <a:gd name="T8" fmla="*/ 419 w 493"/>
                <a:gd name="T9" fmla="*/ 31 h 167"/>
                <a:gd name="T10" fmla="*/ 440 w 493"/>
                <a:gd name="T11" fmla="*/ 47 h 167"/>
                <a:gd name="T12" fmla="*/ 446 w 493"/>
                <a:gd name="T13" fmla="*/ 57 h 167"/>
                <a:gd name="T14" fmla="*/ 446 w 493"/>
                <a:gd name="T15" fmla="*/ 57 h 167"/>
                <a:gd name="T16" fmla="*/ 440 w 493"/>
                <a:gd name="T17" fmla="*/ 68 h 167"/>
                <a:gd name="T18" fmla="*/ 430 w 493"/>
                <a:gd name="T19" fmla="*/ 78 h 167"/>
                <a:gd name="T20" fmla="*/ 409 w 493"/>
                <a:gd name="T21" fmla="*/ 89 h 167"/>
                <a:gd name="T22" fmla="*/ 388 w 493"/>
                <a:gd name="T23" fmla="*/ 99 h 167"/>
                <a:gd name="T24" fmla="*/ 325 w 493"/>
                <a:gd name="T25" fmla="*/ 110 h 167"/>
                <a:gd name="T26" fmla="*/ 246 w 493"/>
                <a:gd name="T27" fmla="*/ 115 h 167"/>
                <a:gd name="T28" fmla="*/ 246 w 493"/>
                <a:gd name="T29" fmla="*/ 115 h 167"/>
                <a:gd name="T30" fmla="*/ 168 w 493"/>
                <a:gd name="T31" fmla="*/ 110 h 167"/>
                <a:gd name="T32" fmla="*/ 105 w 493"/>
                <a:gd name="T33" fmla="*/ 99 h 167"/>
                <a:gd name="T34" fmla="*/ 78 w 493"/>
                <a:gd name="T35" fmla="*/ 89 h 167"/>
                <a:gd name="T36" fmla="*/ 63 w 493"/>
                <a:gd name="T37" fmla="*/ 78 h 167"/>
                <a:gd name="T38" fmla="*/ 52 w 493"/>
                <a:gd name="T39" fmla="*/ 68 h 167"/>
                <a:gd name="T40" fmla="*/ 47 w 493"/>
                <a:gd name="T41" fmla="*/ 57 h 167"/>
                <a:gd name="T42" fmla="*/ 47 w 493"/>
                <a:gd name="T43" fmla="*/ 57 h 167"/>
                <a:gd name="T44" fmla="*/ 52 w 493"/>
                <a:gd name="T45" fmla="*/ 47 h 167"/>
                <a:gd name="T46" fmla="*/ 68 w 493"/>
                <a:gd name="T47" fmla="*/ 31 h 167"/>
                <a:gd name="T48" fmla="*/ 94 w 493"/>
                <a:gd name="T49" fmla="*/ 20 h 167"/>
                <a:gd name="T50" fmla="*/ 131 w 493"/>
                <a:gd name="T51" fmla="*/ 15 h 167"/>
                <a:gd name="T52" fmla="*/ 131 w 493"/>
                <a:gd name="T53" fmla="*/ 0 h 167"/>
                <a:gd name="T54" fmla="*/ 131 w 493"/>
                <a:gd name="T55" fmla="*/ 0 h 167"/>
                <a:gd name="T56" fmla="*/ 78 w 493"/>
                <a:gd name="T57" fmla="*/ 15 h 167"/>
                <a:gd name="T58" fmla="*/ 36 w 493"/>
                <a:gd name="T59" fmla="*/ 31 h 167"/>
                <a:gd name="T60" fmla="*/ 10 w 493"/>
                <a:gd name="T61" fmla="*/ 52 h 167"/>
                <a:gd name="T62" fmla="*/ 5 w 493"/>
                <a:gd name="T63" fmla="*/ 68 h 167"/>
                <a:gd name="T64" fmla="*/ 0 w 493"/>
                <a:gd name="T65" fmla="*/ 78 h 167"/>
                <a:gd name="T66" fmla="*/ 0 w 493"/>
                <a:gd name="T67" fmla="*/ 78 h 167"/>
                <a:gd name="T68" fmla="*/ 5 w 493"/>
                <a:gd name="T69" fmla="*/ 94 h 167"/>
                <a:gd name="T70" fmla="*/ 21 w 493"/>
                <a:gd name="T71" fmla="*/ 110 h 167"/>
                <a:gd name="T72" fmla="*/ 42 w 493"/>
                <a:gd name="T73" fmla="*/ 125 h 167"/>
                <a:gd name="T74" fmla="*/ 73 w 493"/>
                <a:gd name="T75" fmla="*/ 141 h 167"/>
                <a:gd name="T76" fmla="*/ 110 w 493"/>
                <a:gd name="T77" fmla="*/ 152 h 167"/>
                <a:gd name="T78" fmla="*/ 152 w 493"/>
                <a:gd name="T79" fmla="*/ 157 h 167"/>
                <a:gd name="T80" fmla="*/ 194 w 493"/>
                <a:gd name="T81" fmla="*/ 162 h 167"/>
                <a:gd name="T82" fmla="*/ 246 w 493"/>
                <a:gd name="T83" fmla="*/ 167 h 167"/>
                <a:gd name="T84" fmla="*/ 246 w 493"/>
                <a:gd name="T85" fmla="*/ 167 h 167"/>
                <a:gd name="T86" fmla="*/ 293 w 493"/>
                <a:gd name="T87" fmla="*/ 162 h 167"/>
                <a:gd name="T88" fmla="*/ 341 w 493"/>
                <a:gd name="T89" fmla="*/ 157 h 167"/>
                <a:gd name="T90" fmla="*/ 383 w 493"/>
                <a:gd name="T91" fmla="*/ 152 h 167"/>
                <a:gd name="T92" fmla="*/ 419 w 493"/>
                <a:gd name="T93" fmla="*/ 141 h 167"/>
                <a:gd name="T94" fmla="*/ 451 w 493"/>
                <a:gd name="T95" fmla="*/ 125 h 167"/>
                <a:gd name="T96" fmla="*/ 472 w 493"/>
                <a:gd name="T97" fmla="*/ 110 h 167"/>
                <a:gd name="T98" fmla="*/ 488 w 493"/>
                <a:gd name="T99" fmla="*/ 94 h 167"/>
                <a:gd name="T100" fmla="*/ 493 w 493"/>
                <a:gd name="T101" fmla="*/ 78 h 167"/>
                <a:gd name="T102" fmla="*/ 493 w 493"/>
                <a:gd name="T103" fmla="*/ 78 h 167"/>
                <a:gd name="T104" fmla="*/ 488 w 493"/>
                <a:gd name="T105" fmla="*/ 68 h 167"/>
                <a:gd name="T106" fmla="*/ 482 w 493"/>
                <a:gd name="T107" fmla="*/ 52 h 167"/>
                <a:gd name="T108" fmla="*/ 456 w 493"/>
                <a:gd name="T109" fmla="*/ 31 h 167"/>
                <a:gd name="T110" fmla="*/ 414 w 493"/>
                <a:gd name="T111" fmla="*/ 15 h 167"/>
                <a:gd name="T112" fmla="*/ 362 w 493"/>
                <a:gd name="T113" fmla="*/ 0 h 167"/>
                <a:gd name="T114" fmla="*/ 362 w 493"/>
                <a:gd name="T115"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93" h="167">
                  <a:moveTo>
                    <a:pt x="362" y="0"/>
                  </a:moveTo>
                  <a:lnTo>
                    <a:pt x="362" y="15"/>
                  </a:lnTo>
                  <a:lnTo>
                    <a:pt x="362" y="15"/>
                  </a:lnTo>
                  <a:lnTo>
                    <a:pt x="393" y="20"/>
                  </a:lnTo>
                  <a:lnTo>
                    <a:pt x="419" y="31"/>
                  </a:lnTo>
                  <a:lnTo>
                    <a:pt x="440" y="47"/>
                  </a:lnTo>
                  <a:lnTo>
                    <a:pt x="446" y="57"/>
                  </a:lnTo>
                  <a:lnTo>
                    <a:pt x="446" y="57"/>
                  </a:lnTo>
                  <a:lnTo>
                    <a:pt x="440" y="68"/>
                  </a:lnTo>
                  <a:lnTo>
                    <a:pt x="430" y="78"/>
                  </a:lnTo>
                  <a:lnTo>
                    <a:pt x="409" y="89"/>
                  </a:lnTo>
                  <a:lnTo>
                    <a:pt x="388" y="99"/>
                  </a:lnTo>
                  <a:lnTo>
                    <a:pt x="325" y="110"/>
                  </a:lnTo>
                  <a:lnTo>
                    <a:pt x="246" y="115"/>
                  </a:lnTo>
                  <a:lnTo>
                    <a:pt x="246" y="115"/>
                  </a:lnTo>
                  <a:lnTo>
                    <a:pt x="168" y="110"/>
                  </a:lnTo>
                  <a:lnTo>
                    <a:pt x="105" y="99"/>
                  </a:lnTo>
                  <a:lnTo>
                    <a:pt x="78" y="89"/>
                  </a:lnTo>
                  <a:lnTo>
                    <a:pt x="63" y="78"/>
                  </a:lnTo>
                  <a:lnTo>
                    <a:pt x="52" y="68"/>
                  </a:lnTo>
                  <a:lnTo>
                    <a:pt x="47" y="57"/>
                  </a:lnTo>
                  <a:lnTo>
                    <a:pt x="47" y="57"/>
                  </a:lnTo>
                  <a:lnTo>
                    <a:pt x="52" y="47"/>
                  </a:lnTo>
                  <a:lnTo>
                    <a:pt x="68" y="31"/>
                  </a:lnTo>
                  <a:lnTo>
                    <a:pt x="94" y="20"/>
                  </a:lnTo>
                  <a:lnTo>
                    <a:pt x="131" y="15"/>
                  </a:lnTo>
                  <a:lnTo>
                    <a:pt x="131" y="0"/>
                  </a:lnTo>
                  <a:lnTo>
                    <a:pt x="131" y="0"/>
                  </a:lnTo>
                  <a:lnTo>
                    <a:pt x="78" y="15"/>
                  </a:lnTo>
                  <a:lnTo>
                    <a:pt x="36" y="31"/>
                  </a:lnTo>
                  <a:lnTo>
                    <a:pt x="10" y="52"/>
                  </a:lnTo>
                  <a:lnTo>
                    <a:pt x="5" y="68"/>
                  </a:lnTo>
                  <a:lnTo>
                    <a:pt x="0" y="78"/>
                  </a:lnTo>
                  <a:lnTo>
                    <a:pt x="0" y="78"/>
                  </a:lnTo>
                  <a:lnTo>
                    <a:pt x="5" y="94"/>
                  </a:lnTo>
                  <a:lnTo>
                    <a:pt x="21" y="110"/>
                  </a:lnTo>
                  <a:lnTo>
                    <a:pt x="42" y="125"/>
                  </a:lnTo>
                  <a:lnTo>
                    <a:pt x="73" y="141"/>
                  </a:lnTo>
                  <a:lnTo>
                    <a:pt x="110" y="152"/>
                  </a:lnTo>
                  <a:lnTo>
                    <a:pt x="152" y="157"/>
                  </a:lnTo>
                  <a:lnTo>
                    <a:pt x="194" y="162"/>
                  </a:lnTo>
                  <a:lnTo>
                    <a:pt x="246" y="167"/>
                  </a:lnTo>
                  <a:lnTo>
                    <a:pt x="246" y="167"/>
                  </a:lnTo>
                  <a:lnTo>
                    <a:pt x="293" y="162"/>
                  </a:lnTo>
                  <a:lnTo>
                    <a:pt x="341" y="157"/>
                  </a:lnTo>
                  <a:lnTo>
                    <a:pt x="383" y="152"/>
                  </a:lnTo>
                  <a:lnTo>
                    <a:pt x="419" y="141"/>
                  </a:lnTo>
                  <a:lnTo>
                    <a:pt x="451" y="125"/>
                  </a:lnTo>
                  <a:lnTo>
                    <a:pt x="472" y="110"/>
                  </a:lnTo>
                  <a:lnTo>
                    <a:pt x="488" y="94"/>
                  </a:lnTo>
                  <a:lnTo>
                    <a:pt x="493" y="78"/>
                  </a:lnTo>
                  <a:lnTo>
                    <a:pt x="493" y="78"/>
                  </a:lnTo>
                  <a:lnTo>
                    <a:pt x="488" y="68"/>
                  </a:lnTo>
                  <a:lnTo>
                    <a:pt x="482" y="52"/>
                  </a:lnTo>
                  <a:lnTo>
                    <a:pt x="456" y="31"/>
                  </a:lnTo>
                  <a:lnTo>
                    <a:pt x="414" y="15"/>
                  </a:lnTo>
                  <a:lnTo>
                    <a:pt x="362" y="0"/>
                  </a:lnTo>
                  <a:lnTo>
                    <a:pt x="3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49" name="Freeform 94">
              <a:extLst>
                <a:ext uri="{FF2B5EF4-FFF2-40B4-BE49-F238E27FC236}">
                  <a16:creationId xmlns:a16="http://schemas.microsoft.com/office/drawing/2014/main" id="{3EBFD692-C2B9-4B35-98EE-41E3B62940B0}"/>
                </a:ext>
              </a:extLst>
            </p:cNvPr>
            <p:cNvSpPr>
              <a:spLocks noEditPoints="1"/>
            </p:cNvSpPr>
            <p:nvPr/>
          </p:nvSpPr>
          <p:spPr bwMode="auto">
            <a:xfrm>
              <a:off x="3155926" y="2996024"/>
              <a:ext cx="159534" cy="446469"/>
            </a:xfrm>
            <a:custGeom>
              <a:avLst/>
              <a:gdLst>
                <a:gd name="T0" fmla="*/ 84 w 283"/>
                <a:gd name="T1" fmla="*/ 116 h 792"/>
                <a:gd name="T2" fmla="*/ 89 w 283"/>
                <a:gd name="T3" fmla="*/ 132 h 792"/>
                <a:gd name="T4" fmla="*/ 115 w 283"/>
                <a:gd name="T5" fmla="*/ 168 h 792"/>
                <a:gd name="T6" fmla="*/ 141 w 283"/>
                <a:gd name="T7" fmla="*/ 179 h 792"/>
                <a:gd name="T8" fmla="*/ 167 w 283"/>
                <a:gd name="T9" fmla="*/ 168 h 792"/>
                <a:gd name="T10" fmla="*/ 194 w 283"/>
                <a:gd name="T11" fmla="*/ 132 h 792"/>
                <a:gd name="T12" fmla="*/ 199 w 283"/>
                <a:gd name="T13" fmla="*/ 116 h 792"/>
                <a:gd name="T14" fmla="*/ 204 w 283"/>
                <a:gd name="T15" fmla="*/ 116 h 792"/>
                <a:gd name="T16" fmla="*/ 209 w 283"/>
                <a:gd name="T17" fmla="*/ 105 h 792"/>
                <a:gd name="T18" fmla="*/ 209 w 283"/>
                <a:gd name="T19" fmla="*/ 84 h 792"/>
                <a:gd name="T20" fmla="*/ 209 w 283"/>
                <a:gd name="T21" fmla="*/ 79 h 792"/>
                <a:gd name="T22" fmla="*/ 209 w 283"/>
                <a:gd name="T23" fmla="*/ 79 h 792"/>
                <a:gd name="T24" fmla="*/ 204 w 283"/>
                <a:gd name="T25" fmla="*/ 48 h 792"/>
                <a:gd name="T26" fmla="*/ 183 w 283"/>
                <a:gd name="T27" fmla="*/ 11 h 792"/>
                <a:gd name="T28" fmla="*/ 157 w 283"/>
                <a:gd name="T29" fmla="*/ 0 h 792"/>
                <a:gd name="T30" fmla="*/ 141 w 283"/>
                <a:gd name="T31" fmla="*/ 0 h 792"/>
                <a:gd name="T32" fmla="*/ 110 w 283"/>
                <a:gd name="T33" fmla="*/ 6 h 792"/>
                <a:gd name="T34" fmla="*/ 89 w 283"/>
                <a:gd name="T35" fmla="*/ 21 h 792"/>
                <a:gd name="T36" fmla="*/ 73 w 283"/>
                <a:gd name="T37" fmla="*/ 79 h 792"/>
                <a:gd name="T38" fmla="*/ 73 w 283"/>
                <a:gd name="T39" fmla="*/ 79 h 792"/>
                <a:gd name="T40" fmla="*/ 73 w 283"/>
                <a:gd name="T41" fmla="*/ 84 h 792"/>
                <a:gd name="T42" fmla="*/ 68 w 283"/>
                <a:gd name="T43" fmla="*/ 84 h 792"/>
                <a:gd name="T44" fmla="*/ 78 w 283"/>
                <a:gd name="T45" fmla="*/ 116 h 792"/>
                <a:gd name="T46" fmla="*/ 84 w 283"/>
                <a:gd name="T47" fmla="*/ 116 h 792"/>
                <a:gd name="T48" fmla="*/ 272 w 283"/>
                <a:gd name="T49" fmla="*/ 221 h 792"/>
                <a:gd name="T50" fmla="*/ 215 w 283"/>
                <a:gd name="T51" fmla="*/ 189 h 792"/>
                <a:gd name="T52" fmla="*/ 194 w 283"/>
                <a:gd name="T53" fmla="*/ 174 h 792"/>
                <a:gd name="T54" fmla="*/ 152 w 283"/>
                <a:gd name="T55" fmla="*/ 215 h 792"/>
                <a:gd name="T56" fmla="*/ 157 w 283"/>
                <a:gd name="T57" fmla="*/ 189 h 792"/>
                <a:gd name="T58" fmla="*/ 141 w 283"/>
                <a:gd name="T59" fmla="*/ 189 h 792"/>
                <a:gd name="T60" fmla="*/ 126 w 283"/>
                <a:gd name="T61" fmla="*/ 189 h 792"/>
                <a:gd name="T62" fmla="*/ 131 w 283"/>
                <a:gd name="T63" fmla="*/ 215 h 792"/>
                <a:gd name="T64" fmla="*/ 89 w 283"/>
                <a:gd name="T65" fmla="*/ 174 h 792"/>
                <a:gd name="T66" fmla="*/ 84 w 283"/>
                <a:gd name="T67" fmla="*/ 184 h 792"/>
                <a:gd name="T68" fmla="*/ 10 w 283"/>
                <a:gd name="T69" fmla="*/ 221 h 792"/>
                <a:gd name="T70" fmla="*/ 0 w 283"/>
                <a:gd name="T71" fmla="*/ 226 h 792"/>
                <a:gd name="T72" fmla="*/ 0 w 283"/>
                <a:gd name="T73" fmla="*/ 452 h 792"/>
                <a:gd name="T74" fmla="*/ 5 w 283"/>
                <a:gd name="T75" fmla="*/ 472 h 792"/>
                <a:gd name="T76" fmla="*/ 31 w 283"/>
                <a:gd name="T77" fmla="*/ 499 h 792"/>
                <a:gd name="T78" fmla="*/ 52 w 283"/>
                <a:gd name="T79" fmla="*/ 509 h 792"/>
                <a:gd name="T80" fmla="*/ 52 w 283"/>
                <a:gd name="T81" fmla="*/ 750 h 792"/>
                <a:gd name="T82" fmla="*/ 63 w 283"/>
                <a:gd name="T83" fmla="*/ 782 h 792"/>
                <a:gd name="T84" fmla="*/ 94 w 283"/>
                <a:gd name="T85" fmla="*/ 792 h 792"/>
                <a:gd name="T86" fmla="*/ 115 w 283"/>
                <a:gd name="T87" fmla="*/ 792 h 792"/>
                <a:gd name="T88" fmla="*/ 136 w 283"/>
                <a:gd name="T89" fmla="*/ 766 h 792"/>
                <a:gd name="T90" fmla="*/ 141 w 283"/>
                <a:gd name="T91" fmla="*/ 750 h 792"/>
                <a:gd name="T92" fmla="*/ 152 w 283"/>
                <a:gd name="T93" fmla="*/ 782 h 792"/>
                <a:gd name="T94" fmla="*/ 183 w 283"/>
                <a:gd name="T95" fmla="*/ 792 h 792"/>
                <a:gd name="T96" fmla="*/ 204 w 283"/>
                <a:gd name="T97" fmla="*/ 792 h 792"/>
                <a:gd name="T98" fmla="*/ 225 w 283"/>
                <a:gd name="T99" fmla="*/ 766 h 792"/>
                <a:gd name="T100" fmla="*/ 230 w 283"/>
                <a:gd name="T101" fmla="*/ 509 h 792"/>
                <a:gd name="T102" fmla="*/ 230 w 283"/>
                <a:gd name="T103" fmla="*/ 509 h 792"/>
                <a:gd name="T104" fmla="*/ 267 w 283"/>
                <a:gd name="T105" fmla="*/ 488 h 792"/>
                <a:gd name="T106" fmla="*/ 283 w 283"/>
                <a:gd name="T107" fmla="*/ 452 h 792"/>
                <a:gd name="T108" fmla="*/ 283 w 283"/>
                <a:gd name="T109" fmla="*/ 236 h 792"/>
                <a:gd name="T110" fmla="*/ 272 w 283"/>
                <a:gd name="T111" fmla="*/ 221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3" h="792">
                  <a:moveTo>
                    <a:pt x="84" y="116"/>
                  </a:moveTo>
                  <a:lnTo>
                    <a:pt x="84" y="116"/>
                  </a:lnTo>
                  <a:lnTo>
                    <a:pt x="89" y="132"/>
                  </a:lnTo>
                  <a:lnTo>
                    <a:pt x="89" y="132"/>
                  </a:lnTo>
                  <a:lnTo>
                    <a:pt x="99" y="153"/>
                  </a:lnTo>
                  <a:lnTo>
                    <a:pt x="115" y="168"/>
                  </a:lnTo>
                  <a:lnTo>
                    <a:pt x="126" y="174"/>
                  </a:lnTo>
                  <a:lnTo>
                    <a:pt x="141" y="179"/>
                  </a:lnTo>
                  <a:lnTo>
                    <a:pt x="157" y="174"/>
                  </a:lnTo>
                  <a:lnTo>
                    <a:pt x="167" y="168"/>
                  </a:lnTo>
                  <a:lnTo>
                    <a:pt x="183" y="153"/>
                  </a:lnTo>
                  <a:lnTo>
                    <a:pt x="194" y="132"/>
                  </a:lnTo>
                  <a:lnTo>
                    <a:pt x="194" y="132"/>
                  </a:lnTo>
                  <a:lnTo>
                    <a:pt x="199" y="116"/>
                  </a:lnTo>
                  <a:lnTo>
                    <a:pt x="199" y="116"/>
                  </a:lnTo>
                  <a:lnTo>
                    <a:pt x="204" y="116"/>
                  </a:lnTo>
                  <a:lnTo>
                    <a:pt x="204" y="116"/>
                  </a:lnTo>
                  <a:lnTo>
                    <a:pt x="209" y="105"/>
                  </a:lnTo>
                  <a:lnTo>
                    <a:pt x="209" y="84"/>
                  </a:lnTo>
                  <a:lnTo>
                    <a:pt x="209" y="84"/>
                  </a:lnTo>
                  <a:lnTo>
                    <a:pt x="209" y="84"/>
                  </a:lnTo>
                  <a:lnTo>
                    <a:pt x="209" y="79"/>
                  </a:lnTo>
                  <a:lnTo>
                    <a:pt x="209" y="79"/>
                  </a:lnTo>
                  <a:lnTo>
                    <a:pt x="209" y="79"/>
                  </a:lnTo>
                  <a:lnTo>
                    <a:pt x="209" y="79"/>
                  </a:lnTo>
                  <a:lnTo>
                    <a:pt x="204" y="48"/>
                  </a:lnTo>
                  <a:lnTo>
                    <a:pt x="194" y="21"/>
                  </a:lnTo>
                  <a:lnTo>
                    <a:pt x="183" y="11"/>
                  </a:lnTo>
                  <a:lnTo>
                    <a:pt x="173" y="6"/>
                  </a:lnTo>
                  <a:lnTo>
                    <a:pt x="157" y="0"/>
                  </a:lnTo>
                  <a:lnTo>
                    <a:pt x="141" y="0"/>
                  </a:lnTo>
                  <a:lnTo>
                    <a:pt x="141" y="0"/>
                  </a:lnTo>
                  <a:lnTo>
                    <a:pt x="126" y="0"/>
                  </a:lnTo>
                  <a:lnTo>
                    <a:pt x="110" y="6"/>
                  </a:lnTo>
                  <a:lnTo>
                    <a:pt x="99" y="11"/>
                  </a:lnTo>
                  <a:lnTo>
                    <a:pt x="89" y="21"/>
                  </a:lnTo>
                  <a:lnTo>
                    <a:pt x="78" y="48"/>
                  </a:lnTo>
                  <a:lnTo>
                    <a:pt x="73" y="79"/>
                  </a:lnTo>
                  <a:lnTo>
                    <a:pt x="73" y="79"/>
                  </a:lnTo>
                  <a:lnTo>
                    <a:pt x="73" y="79"/>
                  </a:lnTo>
                  <a:lnTo>
                    <a:pt x="73" y="79"/>
                  </a:lnTo>
                  <a:lnTo>
                    <a:pt x="73" y="84"/>
                  </a:lnTo>
                  <a:lnTo>
                    <a:pt x="68" y="84"/>
                  </a:lnTo>
                  <a:lnTo>
                    <a:pt x="68" y="84"/>
                  </a:lnTo>
                  <a:lnTo>
                    <a:pt x="68" y="105"/>
                  </a:lnTo>
                  <a:lnTo>
                    <a:pt x="78" y="116"/>
                  </a:lnTo>
                  <a:lnTo>
                    <a:pt x="78" y="116"/>
                  </a:lnTo>
                  <a:lnTo>
                    <a:pt x="84" y="116"/>
                  </a:lnTo>
                  <a:lnTo>
                    <a:pt x="84" y="116"/>
                  </a:lnTo>
                  <a:close/>
                  <a:moveTo>
                    <a:pt x="272" y="221"/>
                  </a:moveTo>
                  <a:lnTo>
                    <a:pt x="215" y="189"/>
                  </a:lnTo>
                  <a:lnTo>
                    <a:pt x="215" y="189"/>
                  </a:lnTo>
                  <a:lnTo>
                    <a:pt x="199" y="184"/>
                  </a:lnTo>
                  <a:lnTo>
                    <a:pt x="194" y="174"/>
                  </a:lnTo>
                  <a:lnTo>
                    <a:pt x="178" y="195"/>
                  </a:lnTo>
                  <a:lnTo>
                    <a:pt x="152" y="215"/>
                  </a:lnTo>
                  <a:lnTo>
                    <a:pt x="152" y="200"/>
                  </a:lnTo>
                  <a:lnTo>
                    <a:pt x="157" y="189"/>
                  </a:lnTo>
                  <a:lnTo>
                    <a:pt x="157" y="189"/>
                  </a:lnTo>
                  <a:lnTo>
                    <a:pt x="141" y="189"/>
                  </a:lnTo>
                  <a:lnTo>
                    <a:pt x="141" y="189"/>
                  </a:lnTo>
                  <a:lnTo>
                    <a:pt x="126" y="189"/>
                  </a:lnTo>
                  <a:lnTo>
                    <a:pt x="131" y="200"/>
                  </a:lnTo>
                  <a:lnTo>
                    <a:pt x="131" y="215"/>
                  </a:lnTo>
                  <a:lnTo>
                    <a:pt x="105" y="195"/>
                  </a:lnTo>
                  <a:lnTo>
                    <a:pt x="89" y="174"/>
                  </a:lnTo>
                  <a:lnTo>
                    <a:pt x="89" y="174"/>
                  </a:lnTo>
                  <a:lnTo>
                    <a:pt x="84" y="184"/>
                  </a:lnTo>
                  <a:lnTo>
                    <a:pt x="68" y="189"/>
                  </a:lnTo>
                  <a:lnTo>
                    <a:pt x="10" y="221"/>
                  </a:lnTo>
                  <a:lnTo>
                    <a:pt x="10" y="221"/>
                  </a:lnTo>
                  <a:lnTo>
                    <a:pt x="0" y="226"/>
                  </a:lnTo>
                  <a:lnTo>
                    <a:pt x="0" y="236"/>
                  </a:lnTo>
                  <a:lnTo>
                    <a:pt x="0" y="452"/>
                  </a:lnTo>
                  <a:lnTo>
                    <a:pt x="0" y="452"/>
                  </a:lnTo>
                  <a:lnTo>
                    <a:pt x="5" y="472"/>
                  </a:lnTo>
                  <a:lnTo>
                    <a:pt x="15" y="488"/>
                  </a:lnTo>
                  <a:lnTo>
                    <a:pt x="31" y="499"/>
                  </a:lnTo>
                  <a:lnTo>
                    <a:pt x="52" y="509"/>
                  </a:lnTo>
                  <a:lnTo>
                    <a:pt x="52" y="509"/>
                  </a:lnTo>
                  <a:lnTo>
                    <a:pt x="52" y="750"/>
                  </a:lnTo>
                  <a:lnTo>
                    <a:pt x="52" y="750"/>
                  </a:lnTo>
                  <a:lnTo>
                    <a:pt x="52" y="766"/>
                  </a:lnTo>
                  <a:lnTo>
                    <a:pt x="63" y="782"/>
                  </a:lnTo>
                  <a:lnTo>
                    <a:pt x="78" y="792"/>
                  </a:lnTo>
                  <a:lnTo>
                    <a:pt x="94" y="792"/>
                  </a:lnTo>
                  <a:lnTo>
                    <a:pt x="94" y="792"/>
                  </a:lnTo>
                  <a:lnTo>
                    <a:pt x="115" y="792"/>
                  </a:lnTo>
                  <a:lnTo>
                    <a:pt x="126" y="782"/>
                  </a:lnTo>
                  <a:lnTo>
                    <a:pt x="136" y="766"/>
                  </a:lnTo>
                  <a:lnTo>
                    <a:pt x="141" y="750"/>
                  </a:lnTo>
                  <a:lnTo>
                    <a:pt x="141" y="750"/>
                  </a:lnTo>
                  <a:lnTo>
                    <a:pt x="146" y="766"/>
                  </a:lnTo>
                  <a:lnTo>
                    <a:pt x="152" y="782"/>
                  </a:lnTo>
                  <a:lnTo>
                    <a:pt x="167" y="792"/>
                  </a:lnTo>
                  <a:lnTo>
                    <a:pt x="183" y="792"/>
                  </a:lnTo>
                  <a:lnTo>
                    <a:pt x="183" y="792"/>
                  </a:lnTo>
                  <a:lnTo>
                    <a:pt x="204" y="792"/>
                  </a:lnTo>
                  <a:lnTo>
                    <a:pt x="215" y="782"/>
                  </a:lnTo>
                  <a:lnTo>
                    <a:pt x="225" y="766"/>
                  </a:lnTo>
                  <a:lnTo>
                    <a:pt x="230" y="750"/>
                  </a:lnTo>
                  <a:lnTo>
                    <a:pt x="230" y="509"/>
                  </a:lnTo>
                  <a:lnTo>
                    <a:pt x="230" y="509"/>
                  </a:lnTo>
                  <a:lnTo>
                    <a:pt x="230" y="509"/>
                  </a:lnTo>
                  <a:lnTo>
                    <a:pt x="251" y="499"/>
                  </a:lnTo>
                  <a:lnTo>
                    <a:pt x="267" y="488"/>
                  </a:lnTo>
                  <a:lnTo>
                    <a:pt x="278" y="472"/>
                  </a:lnTo>
                  <a:lnTo>
                    <a:pt x="283" y="452"/>
                  </a:lnTo>
                  <a:lnTo>
                    <a:pt x="283" y="236"/>
                  </a:lnTo>
                  <a:lnTo>
                    <a:pt x="283" y="236"/>
                  </a:lnTo>
                  <a:lnTo>
                    <a:pt x="278" y="226"/>
                  </a:lnTo>
                  <a:lnTo>
                    <a:pt x="272" y="221"/>
                  </a:lnTo>
                  <a:lnTo>
                    <a:pt x="272" y="2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50" name="Freeform 95">
              <a:extLst>
                <a:ext uri="{FF2B5EF4-FFF2-40B4-BE49-F238E27FC236}">
                  <a16:creationId xmlns:a16="http://schemas.microsoft.com/office/drawing/2014/main" id="{4E50BE63-D9D9-42C7-B3FE-BAA4A47F6E51}"/>
                </a:ext>
              </a:extLst>
            </p:cNvPr>
            <p:cNvSpPr>
              <a:spLocks/>
            </p:cNvSpPr>
            <p:nvPr/>
          </p:nvSpPr>
          <p:spPr bwMode="auto">
            <a:xfrm>
              <a:off x="2925363" y="3445876"/>
              <a:ext cx="215343" cy="73848"/>
            </a:xfrm>
            <a:custGeom>
              <a:avLst/>
              <a:gdLst>
                <a:gd name="T0" fmla="*/ 330 w 382"/>
                <a:gd name="T1" fmla="*/ 68 h 131"/>
                <a:gd name="T2" fmla="*/ 330 w 382"/>
                <a:gd name="T3" fmla="*/ 68 h 131"/>
                <a:gd name="T4" fmla="*/ 304 w 382"/>
                <a:gd name="T5" fmla="*/ 78 h 131"/>
                <a:gd name="T6" fmla="*/ 272 w 382"/>
                <a:gd name="T7" fmla="*/ 84 h 131"/>
                <a:gd name="T8" fmla="*/ 199 w 382"/>
                <a:gd name="T9" fmla="*/ 89 h 131"/>
                <a:gd name="T10" fmla="*/ 199 w 382"/>
                <a:gd name="T11" fmla="*/ 89 h 131"/>
                <a:gd name="T12" fmla="*/ 136 w 382"/>
                <a:gd name="T13" fmla="*/ 84 h 131"/>
                <a:gd name="T14" fmla="*/ 83 w 382"/>
                <a:gd name="T15" fmla="*/ 78 h 131"/>
                <a:gd name="T16" fmla="*/ 52 w 382"/>
                <a:gd name="T17" fmla="*/ 63 h 131"/>
                <a:gd name="T18" fmla="*/ 41 w 382"/>
                <a:gd name="T19" fmla="*/ 52 h 131"/>
                <a:gd name="T20" fmla="*/ 36 w 382"/>
                <a:gd name="T21" fmla="*/ 47 h 131"/>
                <a:gd name="T22" fmla="*/ 36 w 382"/>
                <a:gd name="T23" fmla="*/ 47 h 131"/>
                <a:gd name="T24" fmla="*/ 41 w 382"/>
                <a:gd name="T25" fmla="*/ 36 h 131"/>
                <a:gd name="T26" fmla="*/ 57 w 382"/>
                <a:gd name="T27" fmla="*/ 26 h 131"/>
                <a:gd name="T28" fmla="*/ 78 w 382"/>
                <a:gd name="T29" fmla="*/ 15 h 131"/>
                <a:gd name="T30" fmla="*/ 104 w 382"/>
                <a:gd name="T31" fmla="*/ 10 h 131"/>
                <a:gd name="T32" fmla="*/ 104 w 382"/>
                <a:gd name="T33" fmla="*/ 0 h 131"/>
                <a:gd name="T34" fmla="*/ 104 w 382"/>
                <a:gd name="T35" fmla="*/ 0 h 131"/>
                <a:gd name="T36" fmla="*/ 62 w 382"/>
                <a:gd name="T37" fmla="*/ 10 h 131"/>
                <a:gd name="T38" fmla="*/ 31 w 382"/>
                <a:gd name="T39" fmla="*/ 21 h 131"/>
                <a:gd name="T40" fmla="*/ 5 w 382"/>
                <a:gd name="T41" fmla="*/ 42 h 131"/>
                <a:gd name="T42" fmla="*/ 0 w 382"/>
                <a:gd name="T43" fmla="*/ 52 h 131"/>
                <a:gd name="T44" fmla="*/ 0 w 382"/>
                <a:gd name="T45" fmla="*/ 63 h 131"/>
                <a:gd name="T46" fmla="*/ 0 w 382"/>
                <a:gd name="T47" fmla="*/ 63 h 131"/>
                <a:gd name="T48" fmla="*/ 5 w 382"/>
                <a:gd name="T49" fmla="*/ 73 h 131"/>
                <a:gd name="T50" fmla="*/ 15 w 382"/>
                <a:gd name="T51" fmla="*/ 89 h 131"/>
                <a:gd name="T52" fmla="*/ 31 w 382"/>
                <a:gd name="T53" fmla="*/ 99 h 131"/>
                <a:gd name="T54" fmla="*/ 57 w 382"/>
                <a:gd name="T55" fmla="*/ 110 h 131"/>
                <a:gd name="T56" fmla="*/ 120 w 382"/>
                <a:gd name="T57" fmla="*/ 126 h 131"/>
                <a:gd name="T58" fmla="*/ 199 w 382"/>
                <a:gd name="T59" fmla="*/ 131 h 131"/>
                <a:gd name="T60" fmla="*/ 199 w 382"/>
                <a:gd name="T61" fmla="*/ 131 h 131"/>
                <a:gd name="T62" fmla="*/ 257 w 382"/>
                <a:gd name="T63" fmla="*/ 131 h 131"/>
                <a:gd name="T64" fmla="*/ 309 w 382"/>
                <a:gd name="T65" fmla="*/ 120 h 131"/>
                <a:gd name="T66" fmla="*/ 351 w 382"/>
                <a:gd name="T67" fmla="*/ 105 h 131"/>
                <a:gd name="T68" fmla="*/ 382 w 382"/>
                <a:gd name="T69" fmla="*/ 89 h 131"/>
                <a:gd name="T70" fmla="*/ 382 w 382"/>
                <a:gd name="T71" fmla="*/ 89 h 131"/>
                <a:gd name="T72" fmla="*/ 330 w 382"/>
                <a:gd name="T73" fmla="*/ 68 h 131"/>
                <a:gd name="T74" fmla="*/ 330 w 382"/>
                <a:gd name="T75" fmla="*/ 68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2" h="131">
                  <a:moveTo>
                    <a:pt x="330" y="68"/>
                  </a:moveTo>
                  <a:lnTo>
                    <a:pt x="330" y="68"/>
                  </a:lnTo>
                  <a:lnTo>
                    <a:pt x="304" y="78"/>
                  </a:lnTo>
                  <a:lnTo>
                    <a:pt x="272" y="84"/>
                  </a:lnTo>
                  <a:lnTo>
                    <a:pt x="199" y="89"/>
                  </a:lnTo>
                  <a:lnTo>
                    <a:pt x="199" y="89"/>
                  </a:lnTo>
                  <a:lnTo>
                    <a:pt x="136" y="84"/>
                  </a:lnTo>
                  <a:lnTo>
                    <a:pt x="83" y="78"/>
                  </a:lnTo>
                  <a:lnTo>
                    <a:pt x="52" y="63"/>
                  </a:lnTo>
                  <a:lnTo>
                    <a:pt x="41" y="52"/>
                  </a:lnTo>
                  <a:lnTo>
                    <a:pt x="36" y="47"/>
                  </a:lnTo>
                  <a:lnTo>
                    <a:pt x="36" y="47"/>
                  </a:lnTo>
                  <a:lnTo>
                    <a:pt x="41" y="36"/>
                  </a:lnTo>
                  <a:lnTo>
                    <a:pt x="57" y="26"/>
                  </a:lnTo>
                  <a:lnTo>
                    <a:pt x="78" y="15"/>
                  </a:lnTo>
                  <a:lnTo>
                    <a:pt x="104" y="10"/>
                  </a:lnTo>
                  <a:lnTo>
                    <a:pt x="104" y="0"/>
                  </a:lnTo>
                  <a:lnTo>
                    <a:pt x="104" y="0"/>
                  </a:lnTo>
                  <a:lnTo>
                    <a:pt x="62" y="10"/>
                  </a:lnTo>
                  <a:lnTo>
                    <a:pt x="31" y="21"/>
                  </a:lnTo>
                  <a:lnTo>
                    <a:pt x="5" y="42"/>
                  </a:lnTo>
                  <a:lnTo>
                    <a:pt x="0" y="52"/>
                  </a:lnTo>
                  <a:lnTo>
                    <a:pt x="0" y="63"/>
                  </a:lnTo>
                  <a:lnTo>
                    <a:pt x="0" y="63"/>
                  </a:lnTo>
                  <a:lnTo>
                    <a:pt x="5" y="73"/>
                  </a:lnTo>
                  <a:lnTo>
                    <a:pt x="15" y="89"/>
                  </a:lnTo>
                  <a:lnTo>
                    <a:pt x="31" y="99"/>
                  </a:lnTo>
                  <a:lnTo>
                    <a:pt x="57" y="110"/>
                  </a:lnTo>
                  <a:lnTo>
                    <a:pt x="120" y="126"/>
                  </a:lnTo>
                  <a:lnTo>
                    <a:pt x="199" y="131"/>
                  </a:lnTo>
                  <a:lnTo>
                    <a:pt x="199" y="131"/>
                  </a:lnTo>
                  <a:lnTo>
                    <a:pt x="257" y="131"/>
                  </a:lnTo>
                  <a:lnTo>
                    <a:pt x="309" y="120"/>
                  </a:lnTo>
                  <a:lnTo>
                    <a:pt x="351" y="105"/>
                  </a:lnTo>
                  <a:lnTo>
                    <a:pt x="382" y="89"/>
                  </a:lnTo>
                  <a:lnTo>
                    <a:pt x="382" y="89"/>
                  </a:lnTo>
                  <a:lnTo>
                    <a:pt x="330" y="68"/>
                  </a:lnTo>
                  <a:lnTo>
                    <a:pt x="330" y="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51" name="Freeform 96">
              <a:extLst>
                <a:ext uri="{FF2B5EF4-FFF2-40B4-BE49-F238E27FC236}">
                  <a16:creationId xmlns:a16="http://schemas.microsoft.com/office/drawing/2014/main" id="{C9AF1AEA-ECB0-4516-AC84-7576451A40BA}"/>
                </a:ext>
              </a:extLst>
            </p:cNvPr>
            <p:cNvSpPr>
              <a:spLocks noEditPoints="1"/>
            </p:cNvSpPr>
            <p:nvPr/>
          </p:nvSpPr>
          <p:spPr bwMode="auto">
            <a:xfrm>
              <a:off x="2972152" y="3120607"/>
              <a:ext cx="130220" cy="363602"/>
            </a:xfrm>
            <a:custGeom>
              <a:avLst/>
              <a:gdLst>
                <a:gd name="T0" fmla="*/ 69 w 231"/>
                <a:gd name="T1" fmla="*/ 94 h 645"/>
                <a:gd name="T2" fmla="*/ 74 w 231"/>
                <a:gd name="T3" fmla="*/ 105 h 645"/>
                <a:gd name="T4" fmla="*/ 95 w 231"/>
                <a:gd name="T5" fmla="*/ 136 h 645"/>
                <a:gd name="T6" fmla="*/ 116 w 231"/>
                <a:gd name="T7" fmla="*/ 141 h 645"/>
                <a:gd name="T8" fmla="*/ 137 w 231"/>
                <a:gd name="T9" fmla="*/ 136 h 645"/>
                <a:gd name="T10" fmla="*/ 158 w 231"/>
                <a:gd name="T11" fmla="*/ 105 h 645"/>
                <a:gd name="T12" fmla="*/ 163 w 231"/>
                <a:gd name="T13" fmla="*/ 94 h 645"/>
                <a:gd name="T14" fmla="*/ 168 w 231"/>
                <a:gd name="T15" fmla="*/ 94 h 645"/>
                <a:gd name="T16" fmla="*/ 174 w 231"/>
                <a:gd name="T17" fmla="*/ 84 h 645"/>
                <a:gd name="T18" fmla="*/ 174 w 231"/>
                <a:gd name="T19" fmla="*/ 68 h 645"/>
                <a:gd name="T20" fmla="*/ 168 w 231"/>
                <a:gd name="T21" fmla="*/ 63 h 645"/>
                <a:gd name="T22" fmla="*/ 168 w 231"/>
                <a:gd name="T23" fmla="*/ 63 h 645"/>
                <a:gd name="T24" fmla="*/ 168 w 231"/>
                <a:gd name="T25" fmla="*/ 36 h 645"/>
                <a:gd name="T26" fmla="*/ 142 w 231"/>
                <a:gd name="T27" fmla="*/ 5 h 645"/>
                <a:gd name="T28" fmla="*/ 116 w 231"/>
                <a:gd name="T29" fmla="*/ 0 h 645"/>
                <a:gd name="T30" fmla="*/ 74 w 231"/>
                <a:gd name="T31" fmla="*/ 15 h 645"/>
                <a:gd name="T32" fmla="*/ 58 w 231"/>
                <a:gd name="T33" fmla="*/ 63 h 645"/>
                <a:gd name="T34" fmla="*/ 63 w 231"/>
                <a:gd name="T35" fmla="*/ 63 h 645"/>
                <a:gd name="T36" fmla="*/ 58 w 231"/>
                <a:gd name="T37" fmla="*/ 68 h 645"/>
                <a:gd name="T38" fmla="*/ 58 w 231"/>
                <a:gd name="T39" fmla="*/ 68 h 645"/>
                <a:gd name="T40" fmla="*/ 63 w 231"/>
                <a:gd name="T41" fmla="*/ 94 h 645"/>
                <a:gd name="T42" fmla="*/ 69 w 231"/>
                <a:gd name="T43" fmla="*/ 94 h 645"/>
                <a:gd name="T44" fmla="*/ 221 w 231"/>
                <a:gd name="T45" fmla="*/ 178 h 645"/>
                <a:gd name="T46" fmla="*/ 174 w 231"/>
                <a:gd name="T47" fmla="*/ 152 h 645"/>
                <a:gd name="T48" fmla="*/ 147 w 231"/>
                <a:gd name="T49" fmla="*/ 157 h 645"/>
                <a:gd name="T50" fmla="*/ 121 w 231"/>
                <a:gd name="T51" fmla="*/ 162 h 645"/>
                <a:gd name="T52" fmla="*/ 126 w 231"/>
                <a:gd name="T53" fmla="*/ 152 h 645"/>
                <a:gd name="T54" fmla="*/ 116 w 231"/>
                <a:gd name="T55" fmla="*/ 157 h 645"/>
                <a:gd name="T56" fmla="*/ 105 w 231"/>
                <a:gd name="T57" fmla="*/ 162 h 645"/>
                <a:gd name="T58" fmla="*/ 84 w 231"/>
                <a:gd name="T59" fmla="*/ 157 h 645"/>
                <a:gd name="T60" fmla="*/ 74 w 231"/>
                <a:gd name="T61" fmla="*/ 141 h 645"/>
                <a:gd name="T62" fmla="*/ 11 w 231"/>
                <a:gd name="T63" fmla="*/ 178 h 645"/>
                <a:gd name="T64" fmla="*/ 0 w 231"/>
                <a:gd name="T65" fmla="*/ 183 h 645"/>
                <a:gd name="T66" fmla="*/ 0 w 231"/>
                <a:gd name="T67" fmla="*/ 362 h 645"/>
                <a:gd name="T68" fmla="*/ 6 w 231"/>
                <a:gd name="T69" fmla="*/ 383 h 645"/>
                <a:gd name="T70" fmla="*/ 27 w 231"/>
                <a:gd name="T71" fmla="*/ 404 h 645"/>
                <a:gd name="T72" fmla="*/ 42 w 231"/>
                <a:gd name="T73" fmla="*/ 409 h 645"/>
                <a:gd name="T74" fmla="*/ 42 w 231"/>
                <a:gd name="T75" fmla="*/ 608 h 645"/>
                <a:gd name="T76" fmla="*/ 53 w 231"/>
                <a:gd name="T77" fmla="*/ 634 h 645"/>
                <a:gd name="T78" fmla="*/ 79 w 231"/>
                <a:gd name="T79" fmla="*/ 645 h 645"/>
                <a:gd name="T80" fmla="*/ 95 w 231"/>
                <a:gd name="T81" fmla="*/ 640 h 645"/>
                <a:gd name="T82" fmla="*/ 111 w 231"/>
                <a:gd name="T83" fmla="*/ 624 h 645"/>
                <a:gd name="T84" fmla="*/ 116 w 231"/>
                <a:gd name="T85" fmla="*/ 608 h 645"/>
                <a:gd name="T86" fmla="*/ 126 w 231"/>
                <a:gd name="T87" fmla="*/ 634 h 645"/>
                <a:gd name="T88" fmla="*/ 153 w 231"/>
                <a:gd name="T89" fmla="*/ 645 h 645"/>
                <a:gd name="T90" fmla="*/ 163 w 231"/>
                <a:gd name="T91" fmla="*/ 640 h 645"/>
                <a:gd name="T92" fmla="*/ 184 w 231"/>
                <a:gd name="T93" fmla="*/ 624 h 645"/>
                <a:gd name="T94" fmla="*/ 189 w 231"/>
                <a:gd name="T95" fmla="*/ 409 h 645"/>
                <a:gd name="T96" fmla="*/ 189 w 231"/>
                <a:gd name="T97" fmla="*/ 409 h 645"/>
                <a:gd name="T98" fmla="*/ 215 w 231"/>
                <a:gd name="T99" fmla="*/ 393 h 645"/>
                <a:gd name="T100" fmla="*/ 231 w 231"/>
                <a:gd name="T101" fmla="*/ 362 h 645"/>
                <a:gd name="T102" fmla="*/ 231 w 231"/>
                <a:gd name="T103" fmla="*/ 194 h 645"/>
                <a:gd name="T104" fmla="*/ 221 w 231"/>
                <a:gd name="T105" fmla="*/ 178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31" h="645">
                  <a:moveTo>
                    <a:pt x="69" y="94"/>
                  </a:moveTo>
                  <a:lnTo>
                    <a:pt x="69" y="94"/>
                  </a:lnTo>
                  <a:lnTo>
                    <a:pt x="74" y="105"/>
                  </a:lnTo>
                  <a:lnTo>
                    <a:pt x="74" y="105"/>
                  </a:lnTo>
                  <a:lnTo>
                    <a:pt x="84" y="120"/>
                  </a:lnTo>
                  <a:lnTo>
                    <a:pt x="95" y="136"/>
                  </a:lnTo>
                  <a:lnTo>
                    <a:pt x="105" y="141"/>
                  </a:lnTo>
                  <a:lnTo>
                    <a:pt x="116" y="141"/>
                  </a:lnTo>
                  <a:lnTo>
                    <a:pt x="126" y="141"/>
                  </a:lnTo>
                  <a:lnTo>
                    <a:pt x="137" y="136"/>
                  </a:lnTo>
                  <a:lnTo>
                    <a:pt x="147" y="120"/>
                  </a:lnTo>
                  <a:lnTo>
                    <a:pt x="158" y="105"/>
                  </a:lnTo>
                  <a:lnTo>
                    <a:pt x="158" y="105"/>
                  </a:lnTo>
                  <a:lnTo>
                    <a:pt x="163" y="94"/>
                  </a:lnTo>
                  <a:lnTo>
                    <a:pt x="163" y="94"/>
                  </a:lnTo>
                  <a:lnTo>
                    <a:pt x="168" y="94"/>
                  </a:lnTo>
                  <a:lnTo>
                    <a:pt x="168" y="94"/>
                  </a:lnTo>
                  <a:lnTo>
                    <a:pt x="174" y="84"/>
                  </a:lnTo>
                  <a:lnTo>
                    <a:pt x="174" y="68"/>
                  </a:lnTo>
                  <a:lnTo>
                    <a:pt x="174" y="68"/>
                  </a:lnTo>
                  <a:lnTo>
                    <a:pt x="168" y="68"/>
                  </a:lnTo>
                  <a:lnTo>
                    <a:pt x="168" y="63"/>
                  </a:lnTo>
                  <a:lnTo>
                    <a:pt x="168" y="63"/>
                  </a:lnTo>
                  <a:lnTo>
                    <a:pt x="168" y="63"/>
                  </a:lnTo>
                  <a:lnTo>
                    <a:pt x="168" y="63"/>
                  </a:lnTo>
                  <a:lnTo>
                    <a:pt x="168" y="36"/>
                  </a:lnTo>
                  <a:lnTo>
                    <a:pt x="158" y="15"/>
                  </a:lnTo>
                  <a:lnTo>
                    <a:pt x="142" y="5"/>
                  </a:lnTo>
                  <a:lnTo>
                    <a:pt x="116" y="0"/>
                  </a:lnTo>
                  <a:lnTo>
                    <a:pt x="116" y="0"/>
                  </a:lnTo>
                  <a:lnTo>
                    <a:pt x="90" y="5"/>
                  </a:lnTo>
                  <a:lnTo>
                    <a:pt x="74" y="15"/>
                  </a:lnTo>
                  <a:lnTo>
                    <a:pt x="63" y="36"/>
                  </a:lnTo>
                  <a:lnTo>
                    <a:pt x="58" y="63"/>
                  </a:lnTo>
                  <a:lnTo>
                    <a:pt x="58" y="63"/>
                  </a:lnTo>
                  <a:lnTo>
                    <a:pt x="63" y="63"/>
                  </a:lnTo>
                  <a:lnTo>
                    <a:pt x="63" y="63"/>
                  </a:lnTo>
                  <a:lnTo>
                    <a:pt x="58" y="68"/>
                  </a:lnTo>
                  <a:lnTo>
                    <a:pt x="58" y="68"/>
                  </a:lnTo>
                  <a:lnTo>
                    <a:pt x="58" y="68"/>
                  </a:lnTo>
                  <a:lnTo>
                    <a:pt x="58" y="84"/>
                  </a:lnTo>
                  <a:lnTo>
                    <a:pt x="63" y="94"/>
                  </a:lnTo>
                  <a:lnTo>
                    <a:pt x="63" y="94"/>
                  </a:lnTo>
                  <a:lnTo>
                    <a:pt x="69" y="94"/>
                  </a:lnTo>
                  <a:lnTo>
                    <a:pt x="69" y="94"/>
                  </a:lnTo>
                  <a:close/>
                  <a:moveTo>
                    <a:pt x="221" y="178"/>
                  </a:moveTo>
                  <a:lnTo>
                    <a:pt x="174" y="152"/>
                  </a:lnTo>
                  <a:lnTo>
                    <a:pt x="174" y="152"/>
                  </a:lnTo>
                  <a:lnTo>
                    <a:pt x="158" y="141"/>
                  </a:lnTo>
                  <a:lnTo>
                    <a:pt x="147" y="157"/>
                  </a:lnTo>
                  <a:lnTo>
                    <a:pt x="126" y="178"/>
                  </a:lnTo>
                  <a:lnTo>
                    <a:pt x="121" y="162"/>
                  </a:lnTo>
                  <a:lnTo>
                    <a:pt x="126" y="152"/>
                  </a:lnTo>
                  <a:lnTo>
                    <a:pt x="126" y="152"/>
                  </a:lnTo>
                  <a:lnTo>
                    <a:pt x="116" y="157"/>
                  </a:lnTo>
                  <a:lnTo>
                    <a:pt x="116" y="157"/>
                  </a:lnTo>
                  <a:lnTo>
                    <a:pt x="100" y="152"/>
                  </a:lnTo>
                  <a:lnTo>
                    <a:pt x="105" y="162"/>
                  </a:lnTo>
                  <a:lnTo>
                    <a:pt x="105" y="178"/>
                  </a:lnTo>
                  <a:lnTo>
                    <a:pt x="84" y="157"/>
                  </a:lnTo>
                  <a:lnTo>
                    <a:pt x="74" y="141"/>
                  </a:lnTo>
                  <a:lnTo>
                    <a:pt x="74" y="141"/>
                  </a:lnTo>
                  <a:lnTo>
                    <a:pt x="58" y="152"/>
                  </a:lnTo>
                  <a:lnTo>
                    <a:pt x="11" y="178"/>
                  </a:lnTo>
                  <a:lnTo>
                    <a:pt x="11" y="178"/>
                  </a:lnTo>
                  <a:lnTo>
                    <a:pt x="0" y="183"/>
                  </a:lnTo>
                  <a:lnTo>
                    <a:pt x="0" y="194"/>
                  </a:lnTo>
                  <a:lnTo>
                    <a:pt x="0" y="362"/>
                  </a:lnTo>
                  <a:lnTo>
                    <a:pt x="0" y="362"/>
                  </a:lnTo>
                  <a:lnTo>
                    <a:pt x="6" y="383"/>
                  </a:lnTo>
                  <a:lnTo>
                    <a:pt x="11" y="393"/>
                  </a:lnTo>
                  <a:lnTo>
                    <a:pt x="27" y="404"/>
                  </a:lnTo>
                  <a:lnTo>
                    <a:pt x="42" y="409"/>
                  </a:lnTo>
                  <a:lnTo>
                    <a:pt x="42" y="409"/>
                  </a:lnTo>
                  <a:lnTo>
                    <a:pt x="42" y="608"/>
                  </a:lnTo>
                  <a:lnTo>
                    <a:pt x="42" y="608"/>
                  </a:lnTo>
                  <a:lnTo>
                    <a:pt x="48" y="624"/>
                  </a:lnTo>
                  <a:lnTo>
                    <a:pt x="53" y="634"/>
                  </a:lnTo>
                  <a:lnTo>
                    <a:pt x="63" y="640"/>
                  </a:lnTo>
                  <a:lnTo>
                    <a:pt x="79" y="645"/>
                  </a:lnTo>
                  <a:lnTo>
                    <a:pt x="79" y="645"/>
                  </a:lnTo>
                  <a:lnTo>
                    <a:pt x="95" y="640"/>
                  </a:lnTo>
                  <a:lnTo>
                    <a:pt x="105" y="634"/>
                  </a:lnTo>
                  <a:lnTo>
                    <a:pt x="111" y="624"/>
                  </a:lnTo>
                  <a:lnTo>
                    <a:pt x="116" y="608"/>
                  </a:lnTo>
                  <a:lnTo>
                    <a:pt x="116" y="608"/>
                  </a:lnTo>
                  <a:lnTo>
                    <a:pt x="116" y="624"/>
                  </a:lnTo>
                  <a:lnTo>
                    <a:pt x="126" y="634"/>
                  </a:lnTo>
                  <a:lnTo>
                    <a:pt x="137" y="640"/>
                  </a:lnTo>
                  <a:lnTo>
                    <a:pt x="153" y="645"/>
                  </a:lnTo>
                  <a:lnTo>
                    <a:pt x="153" y="645"/>
                  </a:lnTo>
                  <a:lnTo>
                    <a:pt x="163" y="640"/>
                  </a:lnTo>
                  <a:lnTo>
                    <a:pt x="179" y="634"/>
                  </a:lnTo>
                  <a:lnTo>
                    <a:pt x="184" y="624"/>
                  </a:lnTo>
                  <a:lnTo>
                    <a:pt x="189" y="608"/>
                  </a:lnTo>
                  <a:lnTo>
                    <a:pt x="189" y="409"/>
                  </a:lnTo>
                  <a:lnTo>
                    <a:pt x="189" y="409"/>
                  </a:lnTo>
                  <a:lnTo>
                    <a:pt x="189" y="409"/>
                  </a:lnTo>
                  <a:lnTo>
                    <a:pt x="205" y="404"/>
                  </a:lnTo>
                  <a:lnTo>
                    <a:pt x="215" y="393"/>
                  </a:lnTo>
                  <a:lnTo>
                    <a:pt x="226" y="383"/>
                  </a:lnTo>
                  <a:lnTo>
                    <a:pt x="231" y="362"/>
                  </a:lnTo>
                  <a:lnTo>
                    <a:pt x="231" y="194"/>
                  </a:lnTo>
                  <a:lnTo>
                    <a:pt x="231" y="194"/>
                  </a:lnTo>
                  <a:lnTo>
                    <a:pt x="226" y="183"/>
                  </a:lnTo>
                  <a:lnTo>
                    <a:pt x="221" y="178"/>
                  </a:lnTo>
                  <a:lnTo>
                    <a:pt x="221" y="1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52" name="Freeform 97">
              <a:extLst>
                <a:ext uri="{FF2B5EF4-FFF2-40B4-BE49-F238E27FC236}">
                  <a16:creationId xmlns:a16="http://schemas.microsoft.com/office/drawing/2014/main" id="{0D2FC3EA-BC0D-41D2-AA07-55497389675A}"/>
                </a:ext>
              </a:extLst>
            </p:cNvPr>
            <p:cNvSpPr>
              <a:spLocks/>
            </p:cNvSpPr>
            <p:nvPr/>
          </p:nvSpPr>
          <p:spPr bwMode="auto">
            <a:xfrm>
              <a:off x="3330116" y="3445876"/>
              <a:ext cx="215906" cy="73848"/>
            </a:xfrm>
            <a:custGeom>
              <a:avLst/>
              <a:gdLst>
                <a:gd name="T0" fmla="*/ 53 w 383"/>
                <a:gd name="T1" fmla="*/ 68 h 131"/>
                <a:gd name="T2" fmla="*/ 53 w 383"/>
                <a:gd name="T3" fmla="*/ 68 h 131"/>
                <a:gd name="T4" fmla="*/ 79 w 383"/>
                <a:gd name="T5" fmla="*/ 78 h 131"/>
                <a:gd name="T6" fmla="*/ 105 w 383"/>
                <a:gd name="T7" fmla="*/ 84 h 131"/>
                <a:gd name="T8" fmla="*/ 184 w 383"/>
                <a:gd name="T9" fmla="*/ 89 h 131"/>
                <a:gd name="T10" fmla="*/ 184 w 383"/>
                <a:gd name="T11" fmla="*/ 89 h 131"/>
                <a:gd name="T12" fmla="*/ 247 w 383"/>
                <a:gd name="T13" fmla="*/ 84 h 131"/>
                <a:gd name="T14" fmla="*/ 299 w 383"/>
                <a:gd name="T15" fmla="*/ 78 h 131"/>
                <a:gd name="T16" fmla="*/ 331 w 383"/>
                <a:gd name="T17" fmla="*/ 63 h 131"/>
                <a:gd name="T18" fmla="*/ 341 w 383"/>
                <a:gd name="T19" fmla="*/ 52 h 131"/>
                <a:gd name="T20" fmla="*/ 346 w 383"/>
                <a:gd name="T21" fmla="*/ 47 h 131"/>
                <a:gd name="T22" fmla="*/ 346 w 383"/>
                <a:gd name="T23" fmla="*/ 47 h 131"/>
                <a:gd name="T24" fmla="*/ 341 w 383"/>
                <a:gd name="T25" fmla="*/ 36 h 131"/>
                <a:gd name="T26" fmla="*/ 325 w 383"/>
                <a:gd name="T27" fmla="*/ 26 h 131"/>
                <a:gd name="T28" fmla="*/ 304 w 383"/>
                <a:gd name="T29" fmla="*/ 15 h 131"/>
                <a:gd name="T30" fmla="*/ 278 w 383"/>
                <a:gd name="T31" fmla="*/ 10 h 131"/>
                <a:gd name="T32" fmla="*/ 278 w 383"/>
                <a:gd name="T33" fmla="*/ 0 h 131"/>
                <a:gd name="T34" fmla="*/ 278 w 383"/>
                <a:gd name="T35" fmla="*/ 0 h 131"/>
                <a:gd name="T36" fmla="*/ 320 w 383"/>
                <a:gd name="T37" fmla="*/ 10 h 131"/>
                <a:gd name="T38" fmla="*/ 352 w 383"/>
                <a:gd name="T39" fmla="*/ 21 h 131"/>
                <a:gd name="T40" fmla="*/ 372 w 383"/>
                <a:gd name="T41" fmla="*/ 42 h 131"/>
                <a:gd name="T42" fmla="*/ 378 w 383"/>
                <a:gd name="T43" fmla="*/ 52 h 131"/>
                <a:gd name="T44" fmla="*/ 383 w 383"/>
                <a:gd name="T45" fmla="*/ 63 h 131"/>
                <a:gd name="T46" fmla="*/ 383 w 383"/>
                <a:gd name="T47" fmla="*/ 63 h 131"/>
                <a:gd name="T48" fmla="*/ 378 w 383"/>
                <a:gd name="T49" fmla="*/ 73 h 131"/>
                <a:gd name="T50" fmla="*/ 367 w 383"/>
                <a:gd name="T51" fmla="*/ 89 h 131"/>
                <a:gd name="T52" fmla="*/ 346 w 383"/>
                <a:gd name="T53" fmla="*/ 99 h 131"/>
                <a:gd name="T54" fmla="*/ 325 w 383"/>
                <a:gd name="T55" fmla="*/ 110 h 131"/>
                <a:gd name="T56" fmla="*/ 262 w 383"/>
                <a:gd name="T57" fmla="*/ 126 h 131"/>
                <a:gd name="T58" fmla="*/ 184 w 383"/>
                <a:gd name="T59" fmla="*/ 131 h 131"/>
                <a:gd name="T60" fmla="*/ 184 w 383"/>
                <a:gd name="T61" fmla="*/ 131 h 131"/>
                <a:gd name="T62" fmla="*/ 126 w 383"/>
                <a:gd name="T63" fmla="*/ 131 h 131"/>
                <a:gd name="T64" fmla="*/ 74 w 383"/>
                <a:gd name="T65" fmla="*/ 120 h 131"/>
                <a:gd name="T66" fmla="*/ 32 w 383"/>
                <a:gd name="T67" fmla="*/ 105 h 131"/>
                <a:gd name="T68" fmla="*/ 0 w 383"/>
                <a:gd name="T69" fmla="*/ 89 h 131"/>
                <a:gd name="T70" fmla="*/ 0 w 383"/>
                <a:gd name="T71" fmla="*/ 89 h 131"/>
                <a:gd name="T72" fmla="*/ 53 w 383"/>
                <a:gd name="T73" fmla="*/ 68 h 131"/>
                <a:gd name="T74" fmla="*/ 53 w 383"/>
                <a:gd name="T75" fmla="*/ 68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3" h="131">
                  <a:moveTo>
                    <a:pt x="53" y="68"/>
                  </a:moveTo>
                  <a:lnTo>
                    <a:pt x="53" y="68"/>
                  </a:lnTo>
                  <a:lnTo>
                    <a:pt x="79" y="78"/>
                  </a:lnTo>
                  <a:lnTo>
                    <a:pt x="105" y="84"/>
                  </a:lnTo>
                  <a:lnTo>
                    <a:pt x="184" y="89"/>
                  </a:lnTo>
                  <a:lnTo>
                    <a:pt x="184" y="89"/>
                  </a:lnTo>
                  <a:lnTo>
                    <a:pt x="247" y="84"/>
                  </a:lnTo>
                  <a:lnTo>
                    <a:pt x="299" y="78"/>
                  </a:lnTo>
                  <a:lnTo>
                    <a:pt x="331" y="63"/>
                  </a:lnTo>
                  <a:lnTo>
                    <a:pt x="341" y="52"/>
                  </a:lnTo>
                  <a:lnTo>
                    <a:pt x="346" y="47"/>
                  </a:lnTo>
                  <a:lnTo>
                    <a:pt x="346" y="47"/>
                  </a:lnTo>
                  <a:lnTo>
                    <a:pt x="341" y="36"/>
                  </a:lnTo>
                  <a:lnTo>
                    <a:pt x="325" y="26"/>
                  </a:lnTo>
                  <a:lnTo>
                    <a:pt x="304" y="15"/>
                  </a:lnTo>
                  <a:lnTo>
                    <a:pt x="278" y="10"/>
                  </a:lnTo>
                  <a:lnTo>
                    <a:pt x="278" y="0"/>
                  </a:lnTo>
                  <a:lnTo>
                    <a:pt x="278" y="0"/>
                  </a:lnTo>
                  <a:lnTo>
                    <a:pt x="320" y="10"/>
                  </a:lnTo>
                  <a:lnTo>
                    <a:pt x="352" y="21"/>
                  </a:lnTo>
                  <a:lnTo>
                    <a:pt x="372" y="42"/>
                  </a:lnTo>
                  <a:lnTo>
                    <a:pt x="378" y="52"/>
                  </a:lnTo>
                  <a:lnTo>
                    <a:pt x="383" y="63"/>
                  </a:lnTo>
                  <a:lnTo>
                    <a:pt x="383" y="63"/>
                  </a:lnTo>
                  <a:lnTo>
                    <a:pt x="378" y="73"/>
                  </a:lnTo>
                  <a:lnTo>
                    <a:pt x="367" y="89"/>
                  </a:lnTo>
                  <a:lnTo>
                    <a:pt x="346" y="99"/>
                  </a:lnTo>
                  <a:lnTo>
                    <a:pt x="325" y="110"/>
                  </a:lnTo>
                  <a:lnTo>
                    <a:pt x="262" y="126"/>
                  </a:lnTo>
                  <a:lnTo>
                    <a:pt x="184" y="131"/>
                  </a:lnTo>
                  <a:lnTo>
                    <a:pt x="184" y="131"/>
                  </a:lnTo>
                  <a:lnTo>
                    <a:pt x="126" y="131"/>
                  </a:lnTo>
                  <a:lnTo>
                    <a:pt x="74" y="120"/>
                  </a:lnTo>
                  <a:lnTo>
                    <a:pt x="32" y="105"/>
                  </a:lnTo>
                  <a:lnTo>
                    <a:pt x="0" y="89"/>
                  </a:lnTo>
                  <a:lnTo>
                    <a:pt x="0" y="89"/>
                  </a:lnTo>
                  <a:lnTo>
                    <a:pt x="53" y="68"/>
                  </a:lnTo>
                  <a:lnTo>
                    <a:pt x="53" y="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53" name="Freeform 98">
              <a:extLst>
                <a:ext uri="{FF2B5EF4-FFF2-40B4-BE49-F238E27FC236}">
                  <a16:creationId xmlns:a16="http://schemas.microsoft.com/office/drawing/2014/main" id="{003B0AB8-B8EB-4B30-9B79-6ADB8860BA28}"/>
                </a:ext>
              </a:extLst>
            </p:cNvPr>
            <p:cNvSpPr>
              <a:spLocks noEditPoints="1"/>
            </p:cNvSpPr>
            <p:nvPr/>
          </p:nvSpPr>
          <p:spPr bwMode="auto">
            <a:xfrm>
              <a:off x="3368450" y="3120607"/>
              <a:ext cx="130220" cy="363602"/>
            </a:xfrm>
            <a:custGeom>
              <a:avLst/>
              <a:gdLst>
                <a:gd name="T0" fmla="*/ 168 w 231"/>
                <a:gd name="T1" fmla="*/ 94 h 645"/>
                <a:gd name="T2" fmla="*/ 173 w 231"/>
                <a:gd name="T3" fmla="*/ 68 h 645"/>
                <a:gd name="T4" fmla="*/ 168 w 231"/>
                <a:gd name="T5" fmla="*/ 68 h 645"/>
                <a:gd name="T6" fmla="*/ 168 w 231"/>
                <a:gd name="T7" fmla="*/ 63 h 645"/>
                <a:gd name="T8" fmla="*/ 168 w 231"/>
                <a:gd name="T9" fmla="*/ 63 h 645"/>
                <a:gd name="T10" fmla="*/ 158 w 231"/>
                <a:gd name="T11" fmla="*/ 15 h 645"/>
                <a:gd name="T12" fmla="*/ 116 w 231"/>
                <a:gd name="T13" fmla="*/ 0 h 645"/>
                <a:gd name="T14" fmla="*/ 89 w 231"/>
                <a:gd name="T15" fmla="*/ 5 h 645"/>
                <a:gd name="T16" fmla="*/ 63 w 231"/>
                <a:gd name="T17" fmla="*/ 36 h 645"/>
                <a:gd name="T18" fmla="*/ 63 w 231"/>
                <a:gd name="T19" fmla="*/ 63 h 645"/>
                <a:gd name="T20" fmla="*/ 63 w 231"/>
                <a:gd name="T21" fmla="*/ 63 h 645"/>
                <a:gd name="T22" fmla="*/ 58 w 231"/>
                <a:gd name="T23" fmla="*/ 68 h 645"/>
                <a:gd name="T24" fmla="*/ 58 w 231"/>
                <a:gd name="T25" fmla="*/ 84 h 645"/>
                <a:gd name="T26" fmla="*/ 63 w 231"/>
                <a:gd name="T27" fmla="*/ 94 h 645"/>
                <a:gd name="T28" fmla="*/ 68 w 231"/>
                <a:gd name="T29" fmla="*/ 94 h 645"/>
                <a:gd name="T30" fmla="*/ 74 w 231"/>
                <a:gd name="T31" fmla="*/ 105 h 645"/>
                <a:gd name="T32" fmla="*/ 95 w 231"/>
                <a:gd name="T33" fmla="*/ 136 h 645"/>
                <a:gd name="T34" fmla="*/ 116 w 231"/>
                <a:gd name="T35" fmla="*/ 141 h 645"/>
                <a:gd name="T36" fmla="*/ 137 w 231"/>
                <a:gd name="T37" fmla="*/ 136 h 645"/>
                <a:gd name="T38" fmla="*/ 158 w 231"/>
                <a:gd name="T39" fmla="*/ 105 h 645"/>
                <a:gd name="T40" fmla="*/ 163 w 231"/>
                <a:gd name="T41" fmla="*/ 94 h 645"/>
                <a:gd name="T42" fmla="*/ 168 w 231"/>
                <a:gd name="T43" fmla="*/ 94 h 645"/>
                <a:gd name="T44" fmla="*/ 0 w 231"/>
                <a:gd name="T45" fmla="*/ 194 h 645"/>
                <a:gd name="T46" fmla="*/ 0 w 231"/>
                <a:gd name="T47" fmla="*/ 362 h 645"/>
                <a:gd name="T48" fmla="*/ 11 w 231"/>
                <a:gd name="T49" fmla="*/ 393 h 645"/>
                <a:gd name="T50" fmla="*/ 42 w 231"/>
                <a:gd name="T51" fmla="*/ 409 h 645"/>
                <a:gd name="T52" fmla="*/ 42 w 231"/>
                <a:gd name="T53" fmla="*/ 608 h 645"/>
                <a:gd name="T54" fmla="*/ 47 w 231"/>
                <a:gd name="T55" fmla="*/ 624 h 645"/>
                <a:gd name="T56" fmla="*/ 63 w 231"/>
                <a:gd name="T57" fmla="*/ 640 h 645"/>
                <a:gd name="T58" fmla="*/ 79 w 231"/>
                <a:gd name="T59" fmla="*/ 645 h 645"/>
                <a:gd name="T60" fmla="*/ 105 w 231"/>
                <a:gd name="T61" fmla="*/ 634 h 645"/>
                <a:gd name="T62" fmla="*/ 116 w 231"/>
                <a:gd name="T63" fmla="*/ 608 h 645"/>
                <a:gd name="T64" fmla="*/ 116 w 231"/>
                <a:gd name="T65" fmla="*/ 624 h 645"/>
                <a:gd name="T66" fmla="*/ 137 w 231"/>
                <a:gd name="T67" fmla="*/ 640 h 645"/>
                <a:gd name="T68" fmla="*/ 152 w 231"/>
                <a:gd name="T69" fmla="*/ 645 h 645"/>
                <a:gd name="T70" fmla="*/ 179 w 231"/>
                <a:gd name="T71" fmla="*/ 634 h 645"/>
                <a:gd name="T72" fmla="*/ 189 w 231"/>
                <a:gd name="T73" fmla="*/ 608 h 645"/>
                <a:gd name="T74" fmla="*/ 189 w 231"/>
                <a:gd name="T75" fmla="*/ 409 h 645"/>
                <a:gd name="T76" fmla="*/ 205 w 231"/>
                <a:gd name="T77" fmla="*/ 404 h 645"/>
                <a:gd name="T78" fmla="*/ 226 w 231"/>
                <a:gd name="T79" fmla="*/ 383 h 645"/>
                <a:gd name="T80" fmla="*/ 231 w 231"/>
                <a:gd name="T81" fmla="*/ 194 h 645"/>
                <a:gd name="T82" fmla="*/ 226 w 231"/>
                <a:gd name="T83" fmla="*/ 183 h 645"/>
                <a:gd name="T84" fmla="*/ 173 w 231"/>
                <a:gd name="T85" fmla="*/ 152 h 645"/>
                <a:gd name="T86" fmla="*/ 158 w 231"/>
                <a:gd name="T87" fmla="*/ 141 h 645"/>
                <a:gd name="T88" fmla="*/ 126 w 231"/>
                <a:gd name="T89" fmla="*/ 178 h 645"/>
                <a:gd name="T90" fmla="*/ 126 w 231"/>
                <a:gd name="T91" fmla="*/ 152 h 645"/>
                <a:gd name="T92" fmla="*/ 116 w 231"/>
                <a:gd name="T93" fmla="*/ 157 h 645"/>
                <a:gd name="T94" fmla="*/ 100 w 231"/>
                <a:gd name="T95" fmla="*/ 152 h 645"/>
                <a:gd name="T96" fmla="*/ 105 w 231"/>
                <a:gd name="T97" fmla="*/ 178 h 645"/>
                <a:gd name="T98" fmla="*/ 74 w 231"/>
                <a:gd name="T99" fmla="*/ 141 h 645"/>
                <a:gd name="T100" fmla="*/ 58 w 231"/>
                <a:gd name="T101" fmla="*/ 152 h 645"/>
                <a:gd name="T102" fmla="*/ 11 w 231"/>
                <a:gd name="T103" fmla="*/ 178 h 645"/>
                <a:gd name="T104" fmla="*/ 0 w 231"/>
                <a:gd name="T105" fmla="*/ 194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31" h="645">
                  <a:moveTo>
                    <a:pt x="168" y="94"/>
                  </a:moveTo>
                  <a:lnTo>
                    <a:pt x="168" y="94"/>
                  </a:lnTo>
                  <a:lnTo>
                    <a:pt x="173" y="84"/>
                  </a:lnTo>
                  <a:lnTo>
                    <a:pt x="173" y="68"/>
                  </a:lnTo>
                  <a:lnTo>
                    <a:pt x="173" y="68"/>
                  </a:lnTo>
                  <a:lnTo>
                    <a:pt x="168" y="68"/>
                  </a:lnTo>
                  <a:lnTo>
                    <a:pt x="168" y="63"/>
                  </a:lnTo>
                  <a:lnTo>
                    <a:pt x="168" y="63"/>
                  </a:lnTo>
                  <a:lnTo>
                    <a:pt x="168" y="63"/>
                  </a:lnTo>
                  <a:lnTo>
                    <a:pt x="168" y="63"/>
                  </a:lnTo>
                  <a:lnTo>
                    <a:pt x="168" y="36"/>
                  </a:lnTo>
                  <a:lnTo>
                    <a:pt x="158" y="15"/>
                  </a:lnTo>
                  <a:lnTo>
                    <a:pt x="142" y="5"/>
                  </a:lnTo>
                  <a:lnTo>
                    <a:pt x="116" y="0"/>
                  </a:lnTo>
                  <a:lnTo>
                    <a:pt x="116" y="0"/>
                  </a:lnTo>
                  <a:lnTo>
                    <a:pt x="89" y="5"/>
                  </a:lnTo>
                  <a:lnTo>
                    <a:pt x="74" y="15"/>
                  </a:lnTo>
                  <a:lnTo>
                    <a:pt x="63" y="36"/>
                  </a:lnTo>
                  <a:lnTo>
                    <a:pt x="63" y="63"/>
                  </a:lnTo>
                  <a:lnTo>
                    <a:pt x="63" y="63"/>
                  </a:lnTo>
                  <a:lnTo>
                    <a:pt x="63" y="63"/>
                  </a:lnTo>
                  <a:lnTo>
                    <a:pt x="63" y="63"/>
                  </a:lnTo>
                  <a:lnTo>
                    <a:pt x="58" y="68"/>
                  </a:lnTo>
                  <a:lnTo>
                    <a:pt x="58" y="68"/>
                  </a:lnTo>
                  <a:lnTo>
                    <a:pt x="58" y="68"/>
                  </a:lnTo>
                  <a:lnTo>
                    <a:pt x="58" y="84"/>
                  </a:lnTo>
                  <a:lnTo>
                    <a:pt x="63" y="94"/>
                  </a:lnTo>
                  <a:lnTo>
                    <a:pt x="63" y="94"/>
                  </a:lnTo>
                  <a:lnTo>
                    <a:pt x="68" y="94"/>
                  </a:lnTo>
                  <a:lnTo>
                    <a:pt x="68" y="94"/>
                  </a:lnTo>
                  <a:lnTo>
                    <a:pt x="74" y="105"/>
                  </a:lnTo>
                  <a:lnTo>
                    <a:pt x="74" y="105"/>
                  </a:lnTo>
                  <a:lnTo>
                    <a:pt x="84" y="120"/>
                  </a:lnTo>
                  <a:lnTo>
                    <a:pt x="95" y="136"/>
                  </a:lnTo>
                  <a:lnTo>
                    <a:pt x="105" y="141"/>
                  </a:lnTo>
                  <a:lnTo>
                    <a:pt x="116" y="141"/>
                  </a:lnTo>
                  <a:lnTo>
                    <a:pt x="126" y="141"/>
                  </a:lnTo>
                  <a:lnTo>
                    <a:pt x="137" y="136"/>
                  </a:lnTo>
                  <a:lnTo>
                    <a:pt x="147" y="120"/>
                  </a:lnTo>
                  <a:lnTo>
                    <a:pt x="158" y="105"/>
                  </a:lnTo>
                  <a:lnTo>
                    <a:pt x="158" y="105"/>
                  </a:lnTo>
                  <a:lnTo>
                    <a:pt x="163" y="94"/>
                  </a:lnTo>
                  <a:lnTo>
                    <a:pt x="163" y="94"/>
                  </a:lnTo>
                  <a:lnTo>
                    <a:pt x="168" y="94"/>
                  </a:lnTo>
                  <a:lnTo>
                    <a:pt x="168" y="94"/>
                  </a:lnTo>
                  <a:close/>
                  <a:moveTo>
                    <a:pt x="0" y="194"/>
                  </a:moveTo>
                  <a:lnTo>
                    <a:pt x="0" y="362"/>
                  </a:lnTo>
                  <a:lnTo>
                    <a:pt x="0" y="362"/>
                  </a:lnTo>
                  <a:lnTo>
                    <a:pt x="6" y="383"/>
                  </a:lnTo>
                  <a:lnTo>
                    <a:pt x="11" y="393"/>
                  </a:lnTo>
                  <a:lnTo>
                    <a:pt x="26" y="404"/>
                  </a:lnTo>
                  <a:lnTo>
                    <a:pt x="42" y="409"/>
                  </a:lnTo>
                  <a:lnTo>
                    <a:pt x="42" y="409"/>
                  </a:lnTo>
                  <a:lnTo>
                    <a:pt x="42" y="608"/>
                  </a:lnTo>
                  <a:lnTo>
                    <a:pt x="42" y="608"/>
                  </a:lnTo>
                  <a:lnTo>
                    <a:pt x="47" y="624"/>
                  </a:lnTo>
                  <a:lnTo>
                    <a:pt x="53" y="634"/>
                  </a:lnTo>
                  <a:lnTo>
                    <a:pt x="63" y="640"/>
                  </a:lnTo>
                  <a:lnTo>
                    <a:pt x="79" y="645"/>
                  </a:lnTo>
                  <a:lnTo>
                    <a:pt x="79" y="645"/>
                  </a:lnTo>
                  <a:lnTo>
                    <a:pt x="95" y="640"/>
                  </a:lnTo>
                  <a:lnTo>
                    <a:pt x="105" y="634"/>
                  </a:lnTo>
                  <a:lnTo>
                    <a:pt x="110" y="624"/>
                  </a:lnTo>
                  <a:lnTo>
                    <a:pt x="116" y="608"/>
                  </a:lnTo>
                  <a:lnTo>
                    <a:pt x="116" y="608"/>
                  </a:lnTo>
                  <a:lnTo>
                    <a:pt x="116" y="624"/>
                  </a:lnTo>
                  <a:lnTo>
                    <a:pt x="126" y="634"/>
                  </a:lnTo>
                  <a:lnTo>
                    <a:pt x="137" y="640"/>
                  </a:lnTo>
                  <a:lnTo>
                    <a:pt x="152" y="645"/>
                  </a:lnTo>
                  <a:lnTo>
                    <a:pt x="152" y="645"/>
                  </a:lnTo>
                  <a:lnTo>
                    <a:pt x="168" y="640"/>
                  </a:lnTo>
                  <a:lnTo>
                    <a:pt x="179" y="634"/>
                  </a:lnTo>
                  <a:lnTo>
                    <a:pt x="184" y="624"/>
                  </a:lnTo>
                  <a:lnTo>
                    <a:pt x="189" y="608"/>
                  </a:lnTo>
                  <a:lnTo>
                    <a:pt x="189" y="409"/>
                  </a:lnTo>
                  <a:lnTo>
                    <a:pt x="189" y="409"/>
                  </a:lnTo>
                  <a:lnTo>
                    <a:pt x="189" y="409"/>
                  </a:lnTo>
                  <a:lnTo>
                    <a:pt x="205" y="404"/>
                  </a:lnTo>
                  <a:lnTo>
                    <a:pt x="215" y="393"/>
                  </a:lnTo>
                  <a:lnTo>
                    <a:pt x="226" y="383"/>
                  </a:lnTo>
                  <a:lnTo>
                    <a:pt x="231" y="362"/>
                  </a:lnTo>
                  <a:lnTo>
                    <a:pt x="231" y="194"/>
                  </a:lnTo>
                  <a:lnTo>
                    <a:pt x="231" y="194"/>
                  </a:lnTo>
                  <a:lnTo>
                    <a:pt x="226" y="183"/>
                  </a:lnTo>
                  <a:lnTo>
                    <a:pt x="221" y="178"/>
                  </a:lnTo>
                  <a:lnTo>
                    <a:pt x="173" y="152"/>
                  </a:lnTo>
                  <a:lnTo>
                    <a:pt x="173" y="152"/>
                  </a:lnTo>
                  <a:lnTo>
                    <a:pt x="158" y="141"/>
                  </a:lnTo>
                  <a:lnTo>
                    <a:pt x="147" y="157"/>
                  </a:lnTo>
                  <a:lnTo>
                    <a:pt x="126" y="178"/>
                  </a:lnTo>
                  <a:lnTo>
                    <a:pt x="121" y="162"/>
                  </a:lnTo>
                  <a:lnTo>
                    <a:pt x="126" y="152"/>
                  </a:lnTo>
                  <a:lnTo>
                    <a:pt x="126" y="152"/>
                  </a:lnTo>
                  <a:lnTo>
                    <a:pt x="116" y="157"/>
                  </a:lnTo>
                  <a:lnTo>
                    <a:pt x="116" y="157"/>
                  </a:lnTo>
                  <a:lnTo>
                    <a:pt x="100" y="152"/>
                  </a:lnTo>
                  <a:lnTo>
                    <a:pt x="105" y="162"/>
                  </a:lnTo>
                  <a:lnTo>
                    <a:pt x="105" y="178"/>
                  </a:lnTo>
                  <a:lnTo>
                    <a:pt x="84" y="157"/>
                  </a:lnTo>
                  <a:lnTo>
                    <a:pt x="74" y="141"/>
                  </a:lnTo>
                  <a:lnTo>
                    <a:pt x="74" y="141"/>
                  </a:lnTo>
                  <a:lnTo>
                    <a:pt x="58" y="152"/>
                  </a:lnTo>
                  <a:lnTo>
                    <a:pt x="11" y="178"/>
                  </a:lnTo>
                  <a:lnTo>
                    <a:pt x="11" y="178"/>
                  </a:lnTo>
                  <a:lnTo>
                    <a:pt x="6" y="183"/>
                  </a:lnTo>
                  <a:lnTo>
                    <a:pt x="0" y="194"/>
                  </a:lnTo>
                  <a:lnTo>
                    <a:pt x="0"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grpSp>
      <p:grpSp>
        <p:nvGrpSpPr>
          <p:cNvPr id="54" name="Group 53">
            <a:extLst>
              <a:ext uri="{FF2B5EF4-FFF2-40B4-BE49-F238E27FC236}">
                <a16:creationId xmlns:a16="http://schemas.microsoft.com/office/drawing/2014/main" id="{62076089-DB3D-4E1F-BD84-58C90081AD3A}"/>
              </a:ext>
            </a:extLst>
          </p:cNvPr>
          <p:cNvGrpSpPr/>
          <p:nvPr/>
        </p:nvGrpSpPr>
        <p:grpSpPr>
          <a:xfrm>
            <a:off x="10648738" y="2098499"/>
            <a:ext cx="441443" cy="510134"/>
            <a:chOff x="2025656" y="2066723"/>
            <a:chExt cx="441443" cy="510134"/>
          </a:xfrm>
          <a:solidFill>
            <a:srgbClr val="012169">
              <a:lumMod val="75000"/>
            </a:srgbClr>
          </a:solidFill>
        </p:grpSpPr>
        <p:sp>
          <p:nvSpPr>
            <p:cNvPr id="55" name="Freeform 72">
              <a:extLst>
                <a:ext uri="{FF2B5EF4-FFF2-40B4-BE49-F238E27FC236}">
                  <a16:creationId xmlns:a16="http://schemas.microsoft.com/office/drawing/2014/main" id="{5D574B68-AB97-4532-9E4D-E45D2D31380E}"/>
                </a:ext>
              </a:extLst>
            </p:cNvPr>
            <p:cNvSpPr>
              <a:spLocks noEditPoints="1"/>
            </p:cNvSpPr>
            <p:nvPr/>
          </p:nvSpPr>
          <p:spPr bwMode="auto">
            <a:xfrm>
              <a:off x="2025656" y="2066723"/>
              <a:ext cx="441443" cy="510134"/>
            </a:xfrm>
            <a:custGeom>
              <a:avLst/>
              <a:gdLst>
                <a:gd name="T0" fmla="*/ 125 w 129"/>
                <a:gd name="T1" fmla="*/ 74 h 149"/>
                <a:gd name="T2" fmla="*/ 109 w 129"/>
                <a:gd name="T3" fmla="*/ 52 h 149"/>
                <a:gd name="T4" fmla="*/ 109 w 129"/>
                <a:gd name="T5" fmla="*/ 51 h 149"/>
                <a:gd name="T6" fmla="*/ 110 w 129"/>
                <a:gd name="T7" fmla="*/ 50 h 149"/>
                <a:gd name="T8" fmla="*/ 110 w 129"/>
                <a:gd name="T9" fmla="*/ 47 h 149"/>
                <a:gd name="T10" fmla="*/ 101 w 129"/>
                <a:gd name="T11" fmla="*/ 21 h 149"/>
                <a:gd name="T12" fmla="*/ 56 w 129"/>
                <a:gd name="T13" fmla="*/ 0 h 149"/>
                <a:gd name="T14" fmla="*/ 1 w 129"/>
                <a:gd name="T15" fmla="*/ 59 h 149"/>
                <a:gd name="T16" fmla="*/ 24 w 129"/>
                <a:gd name="T17" fmla="*/ 115 h 149"/>
                <a:gd name="T18" fmla="*/ 25 w 129"/>
                <a:gd name="T19" fmla="*/ 149 h 149"/>
                <a:gd name="T20" fmla="*/ 82 w 129"/>
                <a:gd name="T21" fmla="*/ 149 h 149"/>
                <a:gd name="T22" fmla="*/ 91 w 129"/>
                <a:gd name="T23" fmla="*/ 121 h 149"/>
                <a:gd name="T24" fmla="*/ 112 w 129"/>
                <a:gd name="T25" fmla="*/ 111 h 149"/>
                <a:gd name="T26" fmla="*/ 113 w 129"/>
                <a:gd name="T27" fmla="*/ 100 h 149"/>
                <a:gd name="T28" fmla="*/ 113 w 129"/>
                <a:gd name="T29" fmla="*/ 93 h 149"/>
                <a:gd name="T30" fmla="*/ 113 w 129"/>
                <a:gd name="T31" fmla="*/ 82 h 149"/>
                <a:gd name="T32" fmla="*/ 125 w 129"/>
                <a:gd name="T33" fmla="*/ 74 h 149"/>
                <a:gd name="T34" fmla="*/ 55 w 129"/>
                <a:gd name="T35" fmla="*/ 102 h 149"/>
                <a:gd name="T36" fmla="*/ 8 w 129"/>
                <a:gd name="T37" fmla="*/ 55 h 149"/>
                <a:gd name="T38" fmla="*/ 55 w 129"/>
                <a:gd name="T39" fmla="*/ 8 h 149"/>
                <a:gd name="T40" fmla="*/ 102 w 129"/>
                <a:gd name="T41" fmla="*/ 55 h 149"/>
                <a:gd name="T42" fmla="*/ 55 w 129"/>
                <a:gd name="T43" fmla="*/ 10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9" h="149">
                  <a:moveTo>
                    <a:pt x="125" y="74"/>
                  </a:moveTo>
                  <a:cubicBezTo>
                    <a:pt x="121" y="69"/>
                    <a:pt x="111" y="55"/>
                    <a:pt x="109" y="52"/>
                  </a:cubicBezTo>
                  <a:cubicBezTo>
                    <a:pt x="109" y="52"/>
                    <a:pt x="109" y="52"/>
                    <a:pt x="109" y="51"/>
                  </a:cubicBezTo>
                  <a:cubicBezTo>
                    <a:pt x="109" y="51"/>
                    <a:pt x="109" y="51"/>
                    <a:pt x="110" y="50"/>
                  </a:cubicBezTo>
                  <a:cubicBezTo>
                    <a:pt x="110" y="49"/>
                    <a:pt x="110" y="48"/>
                    <a:pt x="110" y="47"/>
                  </a:cubicBezTo>
                  <a:cubicBezTo>
                    <a:pt x="110" y="37"/>
                    <a:pt x="107" y="28"/>
                    <a:pt x="101" y="21"/>
                  </a:cubicBezTo>
                  <a:cubicBezTo>
                    <a:pt x="90" y="6"/>
                    <a:pt x="72" y="0"/>
                    <a:pt x="56" y="0"/>
                  </a:cubicBezTo>
                  <a:cubicBezTo>
                    <a:pt x="23" y="0"/>
                    <a:pt x="0" y="22"/>
                    <a:pt x="1" y="59"/>
                  </a:cubicBezTo>
                  <a:cubicBezTo>
                    <a:pt x="2" y="100"/>
                    <a:pt x="24" y="115"/>
                    <a:pt x="24" y="115"/>
                  </a:cubicBezTo>
                  <a:cubicBezTo>
                    <a:pt x="25" y="149"/>
                    <a:pt x="25" y="149"/>
                    <a:pt x="25" y="149"/>
                  </a:cubicBezTo>
                  <a:cubicBezTo>
                    <a:pt x="31" y="149"/>
                    <a:pt x="82" y="149"/>
                    <a:pt x="82" y="149"/>
                  </a:cubicBezTo>
                  <a:cubicBezTo>
                    <a:pt x="82" y="149"/>
                    <a:pt x="77" y="120"/>
                    <a:pt x="91" y="121"/>
                  </a:cubicBezTo>
                  <a:cubicBezTo>
                    <a:pt x="107" y="122"/>
                    <a:pt x="113" y="119"/>
                    <a:pt x="112" y="111"/>
                  </a:cubicBezTo>
                  <a:cubicBezTo>
                    <a:pt x="111" y="104"/>
                    <a:pt x="110" y="102"/>
                    <a:pt x="113" y="100"/>
                  </a:cubicBezTo>
                  <a:cubicBezTo>
                    <a:pt x="118" y="97"/>
                    <a:pt x="113" y="93"/>
                    <a:pt x="113" y="93"/>
                  </a:cubicBezTo>
                  <a:cubicBezTo>
                    <a:pt x="120" y="89"/>
                    <a:pt x="110" y="85"/>
                    <a:pt x="113" y="82"/>
                  </a:cubicBezTo>
                  <a:cubicBezTo>
                    <a:pt x="114" y="80"/>
                    <a:pt x="129" y="80"/>
                    <a:pt x="125" y="74"/>
                  </a:cubicBezTo>
                  <a:close/>
                  <a:moveTo>
                    <a:pt x="55" y="102"/>
                  </a:moveTo>
                  <a:cubicBezTo>
                    <a:pt x="29" y="102"/>
                    <a:pt x="8" y="81"/>
                    <a:pt x="8" y="55"/>
                  </a:cubicBezTo>
                  <a:cubicBezTo>
                    <a:pt x="8" y="29"/>
                    <a:pt x="29" y="8"/>
                    <a:pt x="55" y="8"/>
                  </a:cubicBezTo>
                  <a:cubicBezTo>
                    <a:pt x="81" y="8"/>
                    <a:pt x="102" y="29"/>
                    <a:pt x="102" y="55"/>
                  </a:cubicBezTo>
                  <a:cubicBezTo>
                    <a:pt x="102" y="81"/>
                    <a:pt x="81" y="102"/>
                    <a:pt x="55" y="10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a:ln>
                  <a:noFill/>
                </a:ln>
                <a:solidFill>
                  <a:srgbClr val="000000"/>
                </a:solidFill>
                <a:effectLst/>
                <a:uLnTx/>
                <a:uFillTx/>
              </a:endParaRPr>
            </a:p>
          </p:txBody>
        </p:sp>
        <p:sp>
          <p:nvSpPr>
            <p:cNvPr id="56" name="Freeform 73">
              <a:extLst>
                <a:ext uri="{FF2B5EF4-FFF2-40B4-BE49-F238E27FC236}">
                  <a16:creationId xmlns:a16="http://schemas.microsoft.com/office/drawing/2014/main" id="{61FBA5D7-786C-47BD-9F2A-5E34A0731A5F}"/>
                </a:ext>
              </a:extLst>
            </p:cNvPr>
            <p:cNvSpPr>
              <a:spLocks noEditPoints="1"/>
            </p:cNvSpPr>
            <p:nvPr/>
          </p:nvSpPr>
          <p:spPr bwMode="auto">
            <a:xfrm>
              <a:off x="2139019" y="2156069"/>
              <a:ext cx="136420" cy="140263"/>
            </a:xfrm>
            <a:custGeom>
              <a:avLst/>
              <a:gdLst>
                <a:gd name="T0" fmla="*/ 20 w 40"/>
                <a:gd name="T1" fmla="*/ 0 h 41"/>
                <a:gd name="T2" fmla="*/ 7 w 40"/>
                <a:gd name="T3" fmla="*/ 30 h 41"/>
                <a:gd name="T4" fmla="*/ 12 w 40"/>
                <a:gd name="T5" fmla="*/ 41 h 41"/>
                <a:gd name="T6" fmla="*/ 20 w 40"/>
                <a:gd name="T7" fmla="*/ 41 h 41"/>
                <a:gd name="T8" fmla="*/ 29 w 40"/>
                <a:gd name="T9" fmla="*/ 41 h 41"/>
                <a:gd name="T10" fmla="*/ 33 w 40"/>
                <a:gd name="T11" fmla="*/ 30 h 41"/>
                <a:gd name="T12" fmla="*/ 20 w 40"/>
                <a:gd name="T13" fmla="*/ 0 h 41"/>
                <a:gd name="T14" fmla="*/ 26 w 40"/>
                <a:gd name="T15" fmla="*/ 37 h 41"/>
                <a:gd name="T16" fmla="*/ 20 w 40"/>
                <a:gd name="T17" fmla="*/ 37 h 41"/>
                <a:gd name="T18" fmla="*/ 20 w 40"/>
                <a:gd name="T19" fmla="*/ 37 h 41"/>
                <a:gd name="T20" fmla="*/ 20 w 40"/>
                <a:gd name="T21" fmla="*/ 37 h 41"/>
                <a:gd name="T22" fmla="*/ 15 w 40"/>
                <a:gd name="T23" fmla="*/ 37 h 41"/>
                <a:gd name="T24" fmla="*/ 10 w 40"/>
                <a:gd name="T25" fmla="*/ 27 h 41"/>
                <a:gd name="T26" fmla="*/ 8 w 40"/>
                <a:gd name="T27" fmla="*/ 11 h 41"/>
                <a:gd name="T28" fmla="*/ 20 w 40"/>
                <a:gd name="T29" fmla="*/ 4 h 41"/>
                <a:gd name="T30" fmla="*/ 33 w 40"/>
                <a:gd name="T31" fmla="*/ 11 h 41"/>
                <a:gd name="T32" fmla="*/ 31 w 40"/>
                <a:gd name="T33" fmla="*/ 27 h 41"/>
                <a:gd name="T34" fmla="*/ 26 w 40"/>
                <a:gd name="T35" fmla="*/ 3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0" h="41">
                  <a:moveTo>
                    <a:pt x="20" y="0"/>
                  </a:moveTo>
                  <a:cubicBezTo>
                    <a:pt x="0" y="0"/>
                    <a:pt x="0" y="22"/>
                    <a:pt x="7" y="30"/>
                  </a:cubicBezTo>
                  <a:cubicBezTo>
                    <a:pt x="12" y="35"/>
                    <a:pt x="12" y="41"/>
                    <a:pt x="12" y="41"/>
                  </a:cubicBezTo>
                  <a:cubicBezTo>
                    <a:pt x="20" y="41"/>
                    <a:pt x="20" y="41"/>
                    <a:pt x="20" y="41"/>
                  </a:cubicBezTo>
                  <a:cubicBezTo>
                    <a:pt x="29" y="41"/>
                    <a:pt x="29" y="41"/>
                    <a:pt x="29" y="41"/>
                  </a:cubicBezTo>
                  <a:cubicBezTo>
                    <a:pt x="29" y="41"/>
                    <a:pt x="29" y="35"/>
                    <a:pt x="33" y="30"/>
                  </a:cubicBezTo>
                  <a:cubicBezTo>
                    <a:pt x="40" y="22"/>
                    <a:pt x="40" y="0"/>
                    <a:pt x="20" y="0"/>
                  </a:cubicBezTo>
                  <a:close/>
                  <a:moveTo>
                    <a:pt x="26" y="37"/>
                  </a:moveTo>
                  <a:cubicBezTo>
                    <a:pt x="20" y="37"/>
                    <a:pt x="20" y="37"/>
                    <a:pt x="20" y="37"/>
                  </a:cubicBezTo>
                  <a:cubicBezTo>
                    <a:pt x="20" y="37"/>
                    <a:pt x="20" y="37"/>
                    <a:pt x="20" y="37"/>
                  </a:cubicBezTo>
                  <a:cubicBezTo>
                    <a:pt x="20" y="37"/>
                    <a:pt x="20" y="37"/>
                    <a:pt x="20" y="37"/>
                  </a:cubicBezTo>
                  <a:cubicBezTo>
                    <a:pt x="15" y="37"/>
                    <a:pt x="15" y="37"/>
                    <a:pt x="15" y="37"/>
                  </a:cubicBezTo>
                  <a:cubicBezTo>
                    <a:pt x="14" y="34"/>
                    <a:pt x="13" y="31"/>
                    <a:pt x="10" y="27"/>
                  </a:cubicBezTo>
                  <a:cubicBezTo>
                    <a:pt x="7" y="24"/>
                    <a:pt x="5" y="17"/>
                    <a:pt x="8" y="11"/>
                  </a:cubicBezTo>
                  <a:cubicBezTo>
                    <a:pt x="10" y="6"/>
                    <a:pt x="14" y="4"/>
                    <a:pt x="20" y="4"/>
                  </a:cubicBezTo>
                  <a:cubicBezTo>
                    <a:pt x="27" y="4"/>
                    <a:pt x="31" y="6"/>
                    <a:pt x="33" y="11"/>
                  </a:cubicBezTo>
                  <a:cubicBezTo>
                    <a:pt x="35" y="17"/>
                    <a:pt x="34" y="24"/>
                    <a:pt x="31" y="27"/>
                  </a:cubicBezTo>
                  <a:cubicBezTo>
                    <a:pt x="28" y="31"/>
                    <a:pt x="26" y="35"/>
                    <a:pt x="26"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a:ln>
                  <a:noFill/>
                </a:ln>
                <a:solidFill>
                  <a:srgbClr val="000000"/>
                </a:solidFill>
                <a:effectLst/>
                <a:uLnTx/>
                <a:uFillTx/>
              </a:endParaRPr>
            </a:p>
          </p:txBody>
        </p:sp>
        <p:sp>
          <p:nvSpPr>
            <p:cNvPr id="57" name="Freeform 74">
              <a:extLst>
                <a:ext uri="{FF2B5EF4-FFF2-40B4-BE49-F238E27FC236}">
                  <a16:creationId xmlns:a16="http://schemas.microsoft.com/office/drawing/2014/main" id="{A19FE196-5052-4E9F-8512-00D13CDE22A2}"/>
                </a:ext>
              </a:extLst>
            </p:cNvPr>
            <p:cNvSpPr>
              <a:spLocks/>
            </p:cNvSpPr>
            <p:nvPr/>
          </p:nvSpPr>
          <p:spPr bwMode="auto">
            <a:xfrm>
              <a:off x="2162556" y="2169518"/>
              <a:ext cx="68690" cy="88865"/>
            </a:xfrm>
            <a:custGeom>
              <a:avLst/>
              <a:gdLst>
                <a:gd name="T0" fmla="*/ 7 w 20"/>
                <a:gd name="T1" fmla="*/ 7 h 26"/>
                <a:gd name="T2" fmla="*/ 20 w 20"/>
                <a:gd name="T3" fmla="*/ 4 h 26"/>
                <a:gd name="T4" fmla="*/ 5 w 20"/>
                <a:gd name="T5" fmla="*/ 5 h 26"/>
                <a:gd name="T6" fmla="*/ 5 w 20"/>
                <a:gd name="T7" fmla="*/ 24 h 26"/>
                <a:gd name="T8" fmla="*/ 8 w 20"/>
                <a:gd name="T9" fmla="*/ 26 h 26"/>
                <a:gd name="T10" fmla="*/ 6 w 20"/>
                <a:gd name="T11" fmla="*/ 25 h 26"/>
                <a:gd name="T12" fmla="*/ 7 w 20"/>
                <a:gd name="T13" fmla="*/ 7 h 26"/>
              </a:gdLst>
              <a:ahLst/>
              <a:cxnLst>
                <a:cxn ang="0">
                  <a:pos x="T0" y="T1"/>
                </a:cxn>
                <a:cxn ang="0">
                  <a:pos x="T2" y="T3"/>
                </a:cxn>
                <a:cxn ang="0">
                  <a:pos x="T4" y="T5"/>
                </a:cxn>
                <a:cxn ang="0">
                  <a:pos x="T6" y="T7"/>
                </a:cxn>
                <a:cxn ang="0">
                  <a:pos x="T8" y="T9"/>
                </a:cxn>
                <a:cxn ang="0">
                  <a:pos x="T10" y="T11"/>
                </a:cxn>
                <a:cxn ang="0">
                  <a:pos x="T12" y="T13"/>
                </a:cxn>
              </a:cxnLst>
              <a:rect l="0" t="0" r="r" b="b"/>
              <a:pathLst>
                <a:path w="20" h="26">
                  <a:moveTo>
                    <a:pt x="7" y="7"/>
                  </a:moveTo>
                  <a:cubicBezTo>
                    <a:pt x="10" y="4"/>
                    <a:pt x="15" y="2"/>
                    <a:pt x="20" y="4"/>
                  </a:cubicBezTo>
                  <a:cubicBezTo>
                    <a:pt x="15" y="0"/>
                    <a:pt x="9" y="0"/>
                    <a:pt x="5" y="5"/>
                  </a:cubicBezTo>
                  <a:cubicBezTo>
                    <a:pt x="0" y="10"/>
                    <a:pt x="0" y="18"/>
                    <a:pt x="5" y="24"/>
                  </a:cubicBezTo>
                  <a:cubicBezTo>
                    <a:pt x="6" y="25"/>
                    <a:pt x="7" y="25"/>
                    <a:pt x="8" y="26"/>
                  </a:cubicBezTo>
                  <a:cubicBezTo>
                    <a:pt x="7" y="26"/>
                    <a:pt x="7" y="25"/>
                    <a:pt x="6" y="25"/>
                  </a:cubicBezTo>
                  <a:cubicBezTo>
                    <a:pt x="4" y="20"/>
                    <a:pt x="3" y="11"/>
                    <a:pt x="7"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a:ln>
                  <a:noFill/>
                </a:ln>
                <a:solidFill>
                  <a:srgbClr val="000000"/>
                </a:solidFill>
                <a:effectLst/>
                <a:uLnTx/>
                <a:uFillTx/>
              </a:endParaRPr>
            </a:p>
          </p:txBody>
        </p:sp>
        <p:sp>
          <p:nvSpPr>
            <p:cNvPr id="58" name="Freeform 75">
              <a:extLst>
                <a:ext uri="{FF2B5EF4-FFF2-40B4-BE49-F238E27FC236}">
                  <a16:creationId xmlns:a16="http://schemas.microsoft.com/office/drawing/2014/main" id="{F44728BA-D8E2-4948-8D89-E8E6EDE30D7E}"/>
                </a:ext>
              </a:extLst>
            </p:cNvPr>
            <p:cNvSpPr>
              <a:spLocks/>
            </p:cNvSpPr>
            <p:nvPr/>
          </p:nvSpPr>
          <p:spPr bwMode="auto">
            <a:xfrm>
              <a:off x="2173124" y="2303056"/>
              <a:ext cx="68210" cy="17293"/>
            </a:xfrm>
            <a:custGeom>
              <a:avLst/>
              <a:gdLst>
                <a:gd name="T0" fmla="*/ 20 w 20"/>
                <a:gd name="T1" fmla="*/ 4 h 5"/>
                <a:gd name="T2" fmla="*/ 19 w 20"/>
                <a:gd name="T3" fmla="*/ 5 h 5"/>
                <a:gd name="T4" fmla="*/ 1 w 20"/>
                <a:gd name="T5" fmla="*/ 5 h 5"/>
                <a:gd name="T6" fmla="*/ 0 w 20"/>
                <a:gd name="T7" fmla="*/ 4 h 5"/>
                <a:gd name="T8" fmla="*/ 0 w 20"/>
                <a:gd name="T9" fmla="*/ 1 h 5"/>
                <a:gd name="T10" fmla="*/ 1 w 20"/>
                <a:gd name="T11" fmla="*/ 0 h 5"/>
                <a:gd name="T12" fmla="*/ 19 w 20"/>
                <a:gd name="T13" fmla="*/ 0 h 5"/>
                <a:gd name="T14" fmla="*/ 20 w 20"/>
                <a:gd name="T15" fmla="*/ 1 h 5"/>
                <a:gd name="T16" fmla="*/ 20 w 20"/>
                <a:gd name="T17"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5">
                  <a:moveTo>
                    <a:pt x="20" y="4"/>
                  </a:moveTo>
                  <a:cubicBezTo>
                    <a:pt x="20" y="5"/>
                    <a:pt x="20" y="5"/>
                    <a:pt x="19" y="5"/>
                  </a:cubicBezTo>
                  <a:cubicBezTo>
                    <a:pt x="1" y="5"/>
                    <a:pt x="1" y="5"/>
                    <a:pt x="1" y="5"/>
                  </a:cubicBezTo>
                  <a:cubicBezTo>
                    <a:pt x="1" y="5"/>
                    <a:pt x="0" y="5"/>
                    <a:pt x="0" y="4"/>
                  </a:cubicBezTo>
                  <a:cubicBezTo>
                    <a:pt x="0" y="1"/>
                    <a:pt x="0" y="1"/>
                    <a:pt x="0" y="1"/>
                  </a:cubicBezTo>
                  <a:cubicBezTo>
                    <a:pt x="0" y="0"/>
                    <a:pt x="1" y="0"/>
                    <a:pt x="1" y="0"/>
                  </a:cubicBezTo>
                  <a:cubicBezTo>
                    <a:pt x="19" y="0"/>
                    <a:pt x="19" y="0"/>
                    <a:pt x="19" y="0"/>
                  </a:cubicBezTo>
                  <a:cubicBezTo>
                    <a:pt x="20" y="0"/>
                    <a:pt x="20" y="0"/>
                    <a:pt x="20" y="1"/>
                  </a:cubicBezTo>
                  <a:lnTo>
                    <a:pt x="20" y="4"/>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a:ln>
                  <a:noFill/>
                </a:ln>
                <a:solidFill>
                  <a:srgbClr val="000000"/>
                </a:solidFill>
                <a:effectLst/>
                <a:uLnTx/>
                <a:uFillTx/>
              </a:endParaRPr>
            </a:p>
          </p:txBody>
        </p:sp>
        <p:sp>
          <p:nvSpPr>
            <p:cNvPr id="59" name="Freeform 76">
              <a:extLst>
                <a:ext uri="{FF2B5EF4-FFF2-40B4-BE49-F238E27FC236}">
                  <a16:creationId xmlns:a16="http://schemas.microsoft.com/office/drawing/2014/main" id="{D74D56DA-117B-49E4-9E07-4E0A8F5ABE0F}"/>
                </a:ext>
              </a:extLst>
            </p:cNvPr>
            <p:cNvSpPr>
              <a:spLocks/>
            </p:cNvSpPr>
            <p:nvPr/>
          </p:nvSpPr>
          <p:spPr bwMode="auto">
            <a:xfrm>
              <a:off x="2179849" y="2327074"/>
              <a:ext cx="54760" cy="27380"/>
            </a:xfrm>
            <a:custGeom>
              <a:avLst/>
              <a:gdLst>
                <a:gd name="T0" fmla="*/ 8 w 16"/>
                <a:gd name="T1" fmla="*/ 8 h 8"/>
                <a:gd name="T2" fmla="*/ 16 w 16"/>
                <a:gd name="T3" fmla="*/ 0 h 8"/>
                <a:gd name="T4" fmla="*/ 0 w 16"/>
                <a:gd name="T5" fmla="*/ 0 h 8"/>
                <a:gd name="T6" fmla="*/ 8 w 16"/>
                <a:gd name="T7" fmla="*/ 8 h 8"/>
              </a:gdLst>
              <a:ahLst/>
              <a:cxnLst>
                <a:cxn ang="0">
                  <a:pos x="T0" y="T1"/>
                </a:cxn>
                <a:cxn ang="0">
                  <a:pos x="T2" y="T3"/>
                </a:cxn>
                <a:cxn ang="0">
                  <a:pos x="T4" y="T5"/>
                </a:cxn>
                <a:cxn ang="0">
                  <a:pos x="T6" y="T7"/>
                </a:cxn>
              </a:cxnLst>
              <a:rect l="0" t="0" r="r" b="b"/>
              <a:pathLst>
                <a:path w="16" h="8">
                  <a:moveTo>
                    <a:pt x="8" y="8"/>
                  </a:moveTo>
                  <a:cubicBezTo>
                    <a:pt x="13" y="8"/>
                    <a:pt x="16" y="4"/>
                    <a:pt x="16" y="0"/>
                  </a:cubicBezTo>
                  <a:cubicBezTo>
                    <a:pt x="0" y="0"/>
                    <a:pt x="0" y="0"/>
                    <a:pt x="0" y="0"/>
                  </a:cubicBezTo>
                  <a:cubicBezTo>
                    <a:pt x="0" y="4"/>
                    <a:pt x="4" y="8"/>
                    <a:pt x="8"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a:ln>
                  <a:noFill/>
                </a:ln>
                <a:solidFill>
                  <a:srgbClr val="000000"/>
                </a:solidFill>
                <a:effectLst/>
                <a:uLnTx/>
                <a:uFillTx/>
              </a:endParaRPr>
            </a:p>
          </p:txBody>
        </p:sp>
        <p:sp>
          <p:nvSpPr>
            <p:cNvPr id="60" name="Freeform 77">
              <a:extLst>
                <a:ext uri="{FF2B5EF4-FFF2-40B4-BE49-F238E27FC236}">
                  <a16:creationId xmlns:a16="http://schemas.microsoft.com/office/drawing/2014/main" id="{FDD5CB05-3DE4-4818-9994-D517B9F027B2}"/>
                </a:ext>
              </a:extLst>
            </p:cNvPr>
            <p:cNvSpPr>
              <a:spLocks/>
            </p:cNvSpPr>
            <p:nvPr/>
          </p:nvSpPr>
          <p:spPr bwMode="auto">
            <a:xfrm>
              <a:off x="2080416" y="2248296"/>
              <a:ext cx="24018" cy="10088"/>
            </a:xfrm>
            <a:custGeom>
              <a:avLst/>
              <a:gdLst>
                <a:gd name="T0" fmla="*/ 6 w 7"/>
                <a:gd name="T1" fmla="*/ 1 h 3"/>
                <a:gd name="T2" fmla="*/ 6 w 7"/>
                <a:gd name="T3" fmla="*/ 2 h 3"/>
                <a:gd name="T4" fmla="*/ 1 w 7"/>
                <a:gd name="T5" fmla="*/ 3 h 3"/>
                <a:gd name="T6" fmla="*/ 0 w 7"/>
                <a:gd name="T7" fmla="*/ 2 h 3"/>
                <a:gd name="T8" fmla="*/ 0 w 7"/>
                <a:gd name="T9" fmla="*/ 2 h 3"/>
                <a:gd name="T10" fmla="*/ 1 w 7"/>
                <a:gd name="T11" fmla="*/ 1 h 3"/>
                <a:gd name="T12" fmla="*/ 6 w 7"/>
                <a:gd name="T13" fmla="*/ 1 h 3"/>
                <a:gd name="T14" fmla="*/ 6 w 7"/>
                <a:gd name="T15" fmla="*/ 1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3">
                  <a:moveTo>
                    <a:pt x="6" y="1"/>
                  </a:moveTo>
                  <a:cubicBezTo>
                    <a:pt x="7" y="2"/>
                    <a:pt x="6" y="2"/>
                    <a:pt x="6" y="2"/>
                  </a:cubicBezTo>
                  <a:cubicBezTo>
                    <a:pt x="1" y="3"/>
                    <a:pt x="1" y="3"/>
                    <a:pt x="1" y="3"/>
                  </a:cubicBezTo>
                  <a:cubicBezTo>
                    <a:pt x="1" y="3"/>
                    <a:pt x="0" y="3"/>
                    <a:pt x="0" y="2"/>
                  </a:cubicBezTo>
                  <a:cubicBezTo>
                    <a:pt x="0" y="2"/>
                    <a:pt x="0" y="2"/>
                    <a:pt x="0" y="2"/>
                  </a:cubicBezTo>
                  <a:cubicBezTo>
                    <a:pt x="0" y="2"/>
                    <a:pt x="0" y="1"/>
                    <a:pt x="1" y="1"/>
                  </a:cubicBezTo>
                  <a:cubicBezTo>
                    <a:pt x="6" y="1"/>
                    <a:pt x="6" y="1"/>
                    <a:pt x="6" y="1"/>
                  </a:cubicBezTo>
                  <a:cubicBezTo>
                    <a:pt x="6" y="0"/>
                    <a:pt x="6" y="1"/>
                    <a:pt x="6" y="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a:ln>
                  <a:noFill/>
                </a:ln>
                <a:solidFill>
                  <a:srgbClr val="000000"/>
                </a:solidFill>
                <a:effectLst/>
                <a:uLnTx/>
                <a:uFillTx/>
              </a:endParaRPr>
            </a:p>
          </p:txBody>
        </p:sp>
        <p:sp>
          <p:nvSpPr>
            <p:cNvPr id="61" name="Freeform 78">
              <a:extLst>
                <a:ext uri="{FF2B5EF4-FFF2-40B4-BE49-F238E27FC236}">
                  <a16:creationId xmlns:a16="http://schemas.microsoft.com/office/drawing/2014/main" id="{1C31C712-0D47-4EFA-9BFB-19241C05CECF}"/>
                </a:ext>
              </a:extLst>
            </p:cNvPr>
            <p:cNvSpPr>
              <a:spLocks/>
            </p:cNvSpPr>
            <p:nvPr/>
          </p:nvSpPr>
          <p:spPr bwMode="auto">
            <a:xfrm>
              <a:off x="2090984" y="2193536"/>
              <a:ext cx="20655" cy="13930"/>
            </a:xfrm>
            <a:custGeom>
              <a:avLst/>
              <a:gdLst>
                <a:gd name="T0" fmla="*/ 6 w 6"/>
                <a:gd name="T1" fmla="*/ 3 h 4"/>
                <a:gd name="T2" fmla="*/ 5 w 6"/>
                <a:gd name="T3" fmla="*/ 3 h 4"/>
                <a:gd name="T4" fmla="*/ 0 w 6"/>
                <a:gd name="T5" fmla="*/ 2 h 4"/>
                <a:gd name="T6" fmla="*/ 0 w 6"/>
                <a:gd name="T7" fmla="*/ 1 h 4"/>
                <a:gd name="T8" fmla="*/ 0 w 6"/>
                <a:gd name="T9" fmla="*/ 1 h 4"/>
                <a:gd name="T10" fmla="*/ 1 w 6"/>
                <a:gd name="T11" fmla="*/ 1 h 4"/>
                <a:gd name="T12" fmla="*/ 6 w 6"/>
                <a:gd name="T13" fmla="*/ 2 h 4"/>
                <a:gd name="T14" fmla="*/ 6 w 6"/>
                <a:gd name="T15" fmla="*/ 3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4">
                  <a:moveTo>
                    <a:pt x="6" y="3"/>
                  </a:moveTo>
                  <a:cubicBezTo>
                    <a:pt x="6" y="3"/>
                    <a:pt x="5" y="4"/>
                    <a:pt x="5" y="3"/>
                  </a:cubicBezTo>
                  <a:cubicBezTo>
                    <a:pt x="0" y="2"/>
                    <a:pt x="0" y="2"/>
                    <a:pt x="0" y="2"/>
                  </a:cubicBezTo>
                  <a:cubicBezTo>
                    <a:pt x="0" y="2"/>
                    <a:pt x="0" y="1"/>
                    <a:pt x="0" y="1"/>
                  </a:cubicBezTo>
                  <a:cubicBezTo>
                    <a:pt x="0" y="1"/>
                    <a:pt x="0" y="1"/>
                    <a:pt x="0" y="1"/>
                  </a:cubicBezTo>
                  <a:cubicBezTo>
                    <a:pt x="0" y="1"/>
                    <a:pt x="0" y="0"/>
                    <a:pt x="1" y="1"/>
                  </a:cubicBezTo>
                  <a:cubicBezTo>
                    <a:pt x="6" y="2"/>
                    <a:pt x="6" y="2"/>
                    <a:pt x="6" y="2"/>
                  </a:cubicBezTo>
                  <a:cubicBezTo>
                    <a:pt x="6" y="2"/>
                    <a:pt x="6" y="3"/>
                    <a:pt x="6" y="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a:ln>
                  <a:noFill/>
                </a:ln>
                <a:solidFill>
                  <a:srgbClr val="000000"/>
                </a:solidFill>
                <a:effectLst/>
                <a:uLnTx/>
                <a:uFillTx/>
              </a:endParaRPr>
            </a:p>
          </p:txBody>
        </p:sp>
        <p:sp>
          <p:nvSpPr>
            <p:cNvPr id="62" name="Freeform 79">
              <a:extLst>
                <a:ext uri="{FF2B5EF4-FFF2-40B4-BE49-F238E27FC236}">
                  <a16:creationId xmlns:a16="http://schemas.microsoft.com/office/drawing/2014/main" id="{BECDD2FC-881E-48EB-8969-9B5E5F336E16}"/>
                </a:ext>
              </a:extLst>
            </p:cNvPr>
            <p:cNvSpPr>
              <a:spLocks/>
            </p:cNvSpPr>
            <p:nvPr/>
          </p:nvSpPr>
          <p:spPr bwMode="auto">
            <a:xfrm>
              <a:off x="2125089" y="2148864"/>
              <a:ext cx="17293" cy="17293"/>
            </a:xfrm>
            <a:custGeom>
              <a:avLst/>
              <a:gdLst>
                <a:gd name="T0" fmla="*/ 5 w 5"/>
                <a:gd name="T1" fmla="*/ 5 h 5"/>
                <a:gd name="T2" fmla="*/ 4 w 5"/>
                <a:gd name="T3" fmla="*/ 5 h 5"/>
                <a:gd name="T4" fmla="*/ 0 w 5"/>
                <a:gd name="T5" fmla="*/ 1 h 5"/>
                <a:gd name="T6" fmla="*/ 0 w 5"/>
                <a:gd name="T7" fmla="*/ 0 h 5"/>
                <a:gd name="T8" fmla="*/ 0 w 5"/>
                <a:gd name="T9" fmla="*/ 0 h 5"/>
                <a:gd name="T10" fmla="*/ 1 w 5"/>
                <a:gd name="T11" fmla="*/ 0 h 5"/>
                <a:gd name="T12" fmla="*/ 5 w 5"/>
                <a:gd name="T13" fmla="*/ 3 h 5"/>
                <a:gd name="T14" fmla="*/ 5 w 5"/>
                <a:gd name="T15" fmla="*/ 5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5">
                  <a:moveTo>
                    <a:pt x="5" y="5"/>
                  </a:moveTo>
                  <a:cubicBezTo>
                    <a:pt x="4" y="5"/>
                    <a:pt x="4" y="5"/>
                    <a:pt x="4" y="5"/>
                  </a:cubicBezTo>
                  <a:cubicBezTo>
                    <a:pt x="0" y="1"/>
                    <a:pt x="0" y="1"/>
                    <a:pt x="0" y="1"/>
                  </a:cubicBezTo>
                  <a:cubicBezTo>
                    <a:pt x="0" y="1"/>
                    <a:pt x="0" y="0"/>
                    <a:pt x="0" y="0"/>
                  </a:cubicBezTo>
                  <a:cubicBezTo>
                    <a:pt x="0" y="0"/>
                    <a:pt x="0" y="0"/>
                    <a:pt x="0" y="0"/>
                  </a:cubicBezTo>
                  <a:cubicBezTo>
                    <a:pt x="0" y="0"/>
                    <a:pt x="1" y="0"/>
                    <a:pt x="1" y="0"/>
                  </a:cubicBezTo>
                  <a:cubicBezTo>
                    <a:pt x="5" y="3"/>
                    <a:pt x="5" y="3"/>
                    <a:pt x="5" y="3"/>
                  </a:cubicBezTo>
                  <a:cubicBezTo>
                    <a:pt x="5" y="4"/>
                    <a:pt x="5" y="4"/>
                    <a:pt x="5" y="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a:ln>
                  <a:noFill/>
                </a:ln>
                <a:solidFill>
                  <a:srgbClr val="000000"/>
                </a:solidFill>
                <a:effectLst/>
                <a:uLnTx/>
                <a:uFillTx/>
              </a:endParaRPr>
            </a:p>
          </p:txBody>
        </p:sp>
        <p:sp>
          <p:nvSpPr>
            <p:cNvPr id="63" name="Freeform 80">
              <a:extLst>
                <a:ext uri="{FF2B5EF4-FFF2-40B4-BE49-F238E27FC236}">
                  <a16:creationId xmlns:a16="http://schemas.microsoft.com/office/drawing/2014/main" id="{6CD58727-57DF-46E5-AE17-84E36415F571}"/>
                </a:ext>
              </a:extLst>
            </p:cNvPr>
            <p:cNvSpPr>
              <a:spLocks/>
            </p:cNvSpPr>
            <p:nvPr/>
          </p:nvSpPr>
          <p:spPr bwMode="auto">
            <a:xfrm>
              <a:off x="2176486" y="2121483"/>
              <a:ext cx="10088" cy="20655"/>
            </a:xfrm>
            <a:custGeom>
              <a:avLst/>
              <a:gdLst>
                <a:gd name="T0" fmla="*/ 3 w 3"/>
                <a:gd name="T1" fmla="*/ 6 h 6"/>
                <a:gd name="T2" fmla="*/ 2 w 3"/>
                <a:gd name="T3" fmla="*/ 6 h 6"/>
                <a:gd name="T4" fmla="*/ 0 w 3"/>
                <a:gd name="T5" fmla="*/ 1 h 6"/>
                <a:gd name="T6" fmla="*/ 1 w 3"/>
                <a:gd name="T7" fmla="*/ 0 h 6"/>
                <a:gd name="T8" fmla="*/ 1 w 3"/>
                <a:gd name="T9" fmla="*/ 0 h 6"/>
                <a:gd name="T10" fmla="*/ 2 w 3"/>
                <a:gd name="T11" fmla="*/ 1 h 6"/>
                <a:gd name="T12" fmla="*/ 3 w 3"/>
                <a:gd name="T13" fmla="*/ 5 h 6"/>
                <a:gd name="T14" fmla="*/ 3 w 3"/>
                <a:gd name="T15" fmla="*/ 6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6">
                  <a:moveTo>
                    <a:pt x="3" y="6"/>
                  </a:moveTo>
                  <a:cubicBezTo>
                    <a:pt x="2" y="6"/>
                    <a:pt x="2" y="6"/>
                    <a:pt x="2" y="6"/>
                  </a:cubicBezTo>
                  <a:cubicBezTo>
                    <a:pt x="0" y="1"/>
                    <a:pt x="0" y="1"/>
                    <a:pt x="0" y="1"/>
                  </a:cubicBezTo>
                  <a:cubicBezTo>
                    <a:pt x="0" y="1"/>
                    <a:pt x="0" y="0"/>
                    <a:pt x="1" y="0"/>
                  </a:cubicBezTo>
                  <a:cubicBezTo>
                    <a:pt x="1" y="0"/>
                    <a:pt x="1" y="0"/>
                    <a:pt x="1" y="0"/>
                  </a:cubicBezTo>
                  <a:cubicBezTo>
                    <a:pt x="1" y="0"/>
                    <a:pt x="2" y="0"/>
                    <a:pt x="2" y="1"/>
                  </a:cubicBezTo>
                  <a:cubicBezTo>
                    <a:pt x="3" y="5"/>
                    <a:pt x="3" y="5"/>
                    <a:pt x="3" y="5"/>
                  </a:cubicBezTo>
                  <a:cubicBezTo>
                    <a:pt x="3" y="6"/>
                    <a:pt x="3" y="6"/>
                    <a:pt x="3" y="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a:ln>
                  <a:noFill/>
                </a:ln>
                <a:solidFill>
                  <a:srgbClr val="000000"/>
                </a:solidFill>
                <a:effectLst/>
                <a:uLnTx/>
                <a:uFillTx/>
              </a:endParaRPr>
            </a:p>
          </p:txBody>
        </p:sp>
        <p:sp>
          <p:nvSpPr>
            <p:cNvPr id="64" name="Freeform 81">
              <a:extLst>
                <a:ext uri="{FF2B5EF4-FFF2-40B4-BE49-F238E27FC236}">
                  <a16:creationId xmlns:a16="http://schemas.microsoft.com/office/drawing/2014/main" id="{8F443FB1-7D67-486E-82D4-F3E4A8E6FC09}"/>
                </a:ext>
              </a:extLst>
            </p:cNvPr>
            <p:cNvSpPr>
              <a:spLocks/>
            </p:cNvSpPr>
            <p:nvPr/>
          </p:nvSpPr>
          <p:spPr bwMode="auto">
            <a:xfrm>
              <a:off x="2231246" y="2121483"/>
              <a:ext cx="10088" cy="24018"/>
            </a:xfrm>
            <a:custGeom>
              <a:avLst/>
              <a:gdLst>
                <a:gd name="T0" fmla="*/ 1 w 3"/>
                <a:gd name="T1" fmla="*/ 7 h 7"/>
                <a:gd name="T2" fmla="*/ 1 w 3"/>
                <a:gd name="T3" fmla="*/ 6 h 7"/>
                <a:gd name="T4" fmla="*/ 1 w 3"/>
                <a:gd name="T5" fmla="*/ 1 h 7"/>
                <a:gd name="T6" fmla="*/ 2 w 3"/>
                <a:gd name="T7" fmla="*/ 0 h 7"/>
                <a:gd name="T8" fmla="*/ 2 w 3"/>
                <a:gd name="T9" fmla="*/ 0 h 7"/>
                <a:gd name="T10" fmla="*/ 3 w 3"/>
                <a:gd name="T11" fmla="*/ 1 h 7"/>
                <a:gd name="T12" fmla="*/ 2 w 3"/>
                <a:gd name="T13" fmla="*/ 6 h 7"/>
                <a:gd name="T14" fmla="*/ 1 w 3"/>
                <a:gd name="T15" fmla="*/ 7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7">
                  <a:moveTo>
                    <a:pt x="1" y="7"/>
                  </a:moveTo>
                  <a:cubicBezTo>
                    <a:pt x="1" y="7"/>
                    <a:pt x="0" y="6"/>
                    <a:pt x="1" y="6"/>
                  </a:cubicBezTo>
                  <a:cubicBezTo>
                    <a:pt x="1" y="1"/>
                    <a:pt x="1" y="1"/>
                    <a:pt x="1" y="1"/>
                  </a:cubicBezTo>
                  <a:cubicBezTo>
                    <a:pt x="1" y="1"/>
                    <a:pt x="2" y="0"/>
                    <a:pt x="2" y="0"/>
                  </a:cubicBezTo>
                  <a:cubicBezTo>
                    <a:pt x="2" y="0"/>
                    <a:pt x="2" y="0"/>
                    <a:pt x="2" y="0"/>
                  </a:cubicBezTo>
                  <a:cubicBezTo>
                    <a:pt x="3" y="0"/>
                    <a:pt x="3" y="1"/>
                    <a:pt x="3" y="1"/>
                  </a:cubicBezTo>
                  <a:cubicBezTo>
                    <a:pt x="2" y="6"/>
                    <a:pt x="2" y="6"/>
                    <a:pt x="2" y="6"/>
                  </a:cubicBezTo>
                  <a:cubicBezTo>
                    <a:pt x="2" y="6"/>
                    <a:pt x="2" y="7"/>
                    <a:pt x="1"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a:ln>
                  <a:noFill/>
                </a:ln>
                <a:solidFill>
                  <a:srgbClr val="000000"/>
                </a:solidFill>
                <a:effectLst/>
                <a:uLnTx/>
                <a:uFillTx/>
              </a:endParaRPr>
            </a:p>
          </p:txBody>
        </p:sp>
        <p:sp>
          <p:nvSpPr>
            <p:cNvPr id="65" name="Freeform 82">
              <a:extLst>
                <a:ext uri="{FF2B5EF4-FFF2-40B4-BE49-F238E27FC236}">
                  <a16:creationId xmlns:a16="http://schemas.microsoft.com/office/drawing/2014/main" id="{4B6D0B16-67BF-46E6-8397-648C9E2C977B}"/>
                </a:ext>
              </a:extLst>
            </p:cNvPr>
            <p:cNvSpPr>
              <a:spLocks/>
            </p:cNvSpPr>
            <p:nvPr/>
          </p:nvSpPr>
          <p:spPr bwMode="auto">
            <a:xfrm>
              <a:off x="2275439" y="2148864"/>
              <a:ext cx="17293" cy="20655"/>
            </a:xfrm>
            <a:custGeom>
              <a:avLst/>
              <a:gdLst>
                <a:gd name="T0" fmla="*/ 1 w 5"/>
                <a:gd name="T1" fmla="*/ 5 h 6"/>
                <a:gd name="T2" fmla="*/ 1 w 5"/>
                <a:gd name="T3" fmla="*/ 4 h 6"/>
                <a:gd name="T4" fmla="*/ 3 w 5"/>
                <a:gd name="T5" fmla="*/ 0 h 6"/>
                <a:gd name="T6" fmla="*/ 5 w 5"/>
                <a:gd name="T7" fmla="*/ 0 h 6"/>
                <a:gd name="T8" fmla="*/ 5 w 5"/>
                <a:gd name="T9" fmla="*/ 0 h 6"/>
                <a:gd name="T10" fmla="*/ 5 w 5"/>
                <a:gd name="T11" fmla="*/ 1 h 6"/>
                <a:gd name="T12" fmla="*/ 2 w 5"/>
                <a:gd name="T13" fmla="*/ 5 h 6"/>
                <a:gd name="T14" fmla="*/ 1 w 5"/>
                <a:gd name="T15" fmla="*/ 5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6">
                  <a:moveTo>
                    <a:pt x="1" y="5"/>
                  </a:moveTo>
                  <a:cubicBezTo>
                    <a:pt x="1" y="5"/>
                    <a:pt x="0" y="5"/>
                    <a:pt x="1" y="4"/>
                  </a:cubicBezTo>
                  <a:cubicBezTo>
                    <a:pt x="3" y="0"/>
                    <a:pt x="3" y="0"/>
                    <a:pt x="3" y="0"/>
                  </a:cubicBezTo>
                  <a:cubicBezTo>
                    <a:pt x="4" y="0"/>
                    <a:pt x="4" y="0"/>
                    <a:pt x="5" y="0"/>
                  </a:cubicBezTo>
                  <a:cubicBezTo>
                    <a:pt x="5" y="0"/>
                    <a:pt x="5" y="0"/>
                    <a:pt x="5" y="0"/>
                  </a:cubicBezTo>
                  <a:cubicBezTo>
                    <a:pt x="5" y="0"/>
                    <a:pt x="5" y="1"/>
                    <a:pt x="5" y="1"/>
                  </a:cubicBezTo>
                  <a:cubicBezTo>
                    <a:pt x="2" y="5"/>
                    <a:pt x="2" y="5"/>
                    <a:pt x="2" y="5"/>
                  </a:cubicBezTo>
                  <a:cubicBezTo>
                    <a:pt x="2" y="6"/>
                    <a:pt x="1" y="6"/>
                    <a:pt x="1" y="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a:ln>
                  <a:noFill/>
                </a:ln>
                <a:solidFill>
                  <a:srgbClr val="000000"/>
                </a:solidFill>
                <a:effectLst/>
                <a:uLnTx/>
                <a:uFillTx/>
              </a:endParaRPr>
            </a:p>
          </p:txBody>
        </p:sp>
        <p:sp>
          <p:nvSpPr>
            <p:cNvPr id="66" name="Freeform 83">
              <a:extLst>
                <a:ext uri="{FF2B5EF4-FFF2-40B4-BE49-F238E27FC236}">
                  <a16:creationId xmlns:a16="http://schemas.microsoft.com/office/drawing/2014/main" id="{F584B6CC-E7AE-43D0-BE45-2252614952CB}"/>
                </a:ext>
              </a:extLst>
            </p:cNvPr>
            <p:cNvSpPr>
              <a:spLocks/>
            </p:cNvSpPr>
            <p:nvPr/>
          </p:nvSpPr>
          <p:spPr bwMode="auto">
            <a:xfrm>
              <a:off x="2306662" y="2196899"/>
              <a:ext cx="20175" cy="13930"/>
            </a:xfrm>
            <a:custGeom>
              <a:avLst/>
              <a:gdLst>
                <a:gd name="T0" fmla="*/ 0 w 6"/>
                <a:gd name="T1" fmla="*/ 3 h 4"/>
                <a:gd name="T2" fmla="*/ 0 w 6"/>
                <a:gd name="T3" fmla="*/ 2 h 4"/>
                <a:gd name="T4" fmla="*/ 5 w 6"/>
                <a:gd name="T5" fmla="*/ 0 h 4"/>
                <a:gd name="T6" fmla="*/ 6 w 6"/>
                <a:gd name="T7" fmla="*/ 0 h 4"/>
                <a:gd name="T8" fmla="*/ 6 w 6"/>
                <a:gd name="T9" fmla="*/ 0 h 4"/>
                <a:gd name="T10" fmla="*/ 5 w 6"/>
                <a:gd name="T11" fmla="*/ 1 h 4"/>
                <a:gd name="T12" fmla="*/ 1 w 6"/>
                <a:gd name="T13" fmla="*/ 4 h 4"/>
                <a:gd name="T14" fmla="*/ 0 w 6"/>
                <a:gd name="T15" fmla="*/ 3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4">
                  <a:moveTo>
                    <a:pt x="0" y="3"/>
                  </a:moveTo>
                  <a:cubicBezTo>
                    <a:pt x="0" y="3"/>
                    <a:pt x="0" y="2"/>
                    <a:pt x="0" y="2"/>
                  </a:cubicBezTo>
                  <a:cubicBezTo>
                    <a:pt x="5" y="0"/>
                    <a:pt x="5" y="0"/>
                    <a:pt x="5" y="0"/>
                  </a:cubicBezTo>
                  <a:cubicBezTo>
                    <a:pt x="5" y="0"/>
                    <a:pt x="6" y="0"/>
                    <a:pt x="6" y="0"/>
                  </a:cubicBezTo>
                  <a:cubicBezTo>
                    <a:pt x="6" y="0"/>
                    <a:pt x="6" y="0"/>
                    <a:pt x="6" y="0"/>
                  </a:cubicBezTo>
                  <a:cubicBezTo>
                    <a:pt x="6" y="1"/>
                    <a:pt x="6" y="1"/>
                    <a:pt x="5" y="1"/>
                  </a:cubicBezTo>
                  <a:cubicBezTo>
                    <a:pt x="1" y="4"/>
                    <a:pt x="1" y="4"/>
                    <a:pt x="1" y="4"/>
                  </a:cubicBezTo>
                  <a:cubicBezTo>
                    <a:pt x="1" y="4"/>
                    <a:pt x="0" y="4"/>
                    <a:pt x="0" y="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a:ln>
                  <a:noFill/>
                </a:ln>
                <a:solidFill>
                  <a:srgbClr val="000000"/>
                </a:solidFill>
                <a:effectLst/>
                <a:uLnTx/>
                <a:uFillTx/>
              </a:endParaRPr>
            </a:p>
          </p:txBody>
        </p:sp>
        <p:sp>
          <p:nvSpPr>
            <p:cNvPr id="67" name="Freeform 84">
              <a:extLst>
                <a:ext uri="{FF2B5EF4-FFF2-40B4-BE49-F238E27FC236}">
                  <a16:creationId xmlns:a16="http://schemas.microsoft.com/office/drawing/2014/main" id="{1662CECF-A6EF-42F0-8A51-413FDA23EB3A}"/>
                </a:ext>
              </a:extLst>
            </p:cNvPr>
            <p:cNvSpPr>
              <a:spLocks/>
            </p:cNvSpPr>
            <p:nvPr/>
          </p:nvSpPr>
          <p:spPr bwMode="auto">
            <a:xfrm>
              <a:off x="2313386" y="2255021"/>
              <a:ext cx="20655" cy="3363"/>
            </a:xfrm>
            <a:custGeom>
              <a:avLst/>
              <a:gdLst>
                <a:gd name="T0" fmla="*/ 0 w 6"/>
                <a:gd name="T1" fmla="*/ 1 h 1"/>
                <a:gd name="T2" fmla="*/ 1 w 6"/>
                <a:gd name="T3" fmla="*/ 0 h 1"/>
                <a:gd name="T4" fmla="*/ 6 w 6"/>
                <a:gd name="T5" fmla="*/ 0 h 1"/>
                <a:gd name="T6" fmla="*/ 6 w 6"/>
                <a:gd name="T7" fmla="*/ 1 h 1"/>
                <a:gd name="T8" fmla="*/ 6 w 6"/>
                <a:gd name="T9" fmla="*/ 1 h 1"/>
                <a:gd name="T10" fmla="*/ 6 w 6"/>
                <a:gd name="T11" fmla="*/ 1 h 1"/>
                <a:gd name="T12" fmla="*/ 1 w 6"/>
                <a:gd name="T13" fmla="*/ 1 h 1"/>
                <a:gd name="T14" fmla="*/ 0 w 6"/>
                <a:gd name="T15" fmla="*/ 1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1">
                  <a:moveTo>
                    <a:pt x="0" y="1"/>
                  </a:moveTo>
                  <a:cubicBezTo>
                    <a:pt x="0" y="0"/>
                    <a:pt x="0" y="0"/>
                    <a:pt x="1" y="0"/>
                  </a:cubicBezTo>
                  <a:cubicBezTo>
                    <a:pt x="6" y="0"/>
                    <a:pt x="6" y="0"/>
                    <a:pt x="6" y="0"/>
                  </a:cubicBezTo>
                  <a:cubicBezTo>
                    <a:pt x="6" y="0"/>
                    <a:pt x="6" y="0"/>
                    <a:pt x="6" y="1"/>
                  </a:cubicBezTo>
                  <a:cubicBezTo>
                    <a:pt x="6" y="1"/>
                    <a:pt x="6" y="1"/>
                    <a:pt x="6" y="1"/>
                  </a:cubicBezTo>
                  <a:cubicBezTo>
                    <a:pt x="6" y="1"/>
                    <a:pt x="6" y="1"/>
                    <a:pt x="6" y="1"/>
                  </a:cubicBezTo>
                  <a:cubicBezTo>
                    <a:pt x="1" y="1"/>
                    <a:pt x="1" y="1"/>
                    <a:pt x="1" y="1"/>
                  </a:cubicBezTo>
                  <a:cubicBezTo>
                    <a:pt x="0" y="1"/>
                    <a:pt x="0" y="1"/>
                    <a:pt x="0" y="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800" b="0" i="0" u="none" strike="noStrike" kern="0" cap="none" spc="0" normalizeH="0" baseline="0" noProof="0">
                <a:ln>
                  <a:noFill/>
                </a:ln>
                <a:solidFill>
                  <a:srgbClr val="000000"/>
                </a:solidFill>
                <a:effectLst/>
                <a:uLnTx/>
                <a:uFillTx/>
              </a:endParaRPr>
            </a:p>
          </p:txBody>
        </p:sp>
      </p:grpSp>
      <p:grpSp>
        <p:nvGrpSpPr>
          <p:cNvPr id="68" name="Group 67">
            <a:extLst>
              <a:ext uri="{FF2B5EF4-FFF2-40B4-BE49-F238E27FC236}">
                <a16:creationId xmlns:a16="http://schemas.microsoft.com/office/drawing/2014/main" id="{5EE665D3-6E6C-488F-8BEC-8F1EF89AD6A0}"/>
              </a:ext>
            </a:extLst>
          </p:cNvPr>
          <p:cNvGrpSpPr/>
          <p:nvPr/>
        </p:nvGrpSpPr>
        <p:grpSpPr>
          <a:xfrm>
            <a:off x="9385156" y="2063176"/>
            <a:ext cx="449288" cy="591347"/>
            <a:chOff x="6573784" y="4743568"/>
            <a:chExt cx="449288" cy="591347"/>
          </a:xfrm>
          <a:solidFill>
            <a:srgbClr val="012169">
              <a:lumMod val="75000"/>
            </a:srgbClr>
          </a:solidFill>
        </p:grpSpPr>
        <p:sp>
          <p:nvSpPr>
            <p:cNvPr id="69" name="Freeform 178">
              <a:extLst>
                <a:ext uri="{FF2B5EF4-FFF2-40B4-BE49-F238E27FC236}">
                  <a16:creationId xmlns:a16="http://schemas.microsoft.com/office/drawing/2014/main" id="{ECB51EB8-4343-48D2-B83A-39E1DE3604CA}"/>
                </a:ext>
              </a:extLst>
            </p:cNvPr>
            <p:cNvSpPr>
              <a:spLocks/>
            </p:cNvSpPr>
            <p:nvPr/>
          </p:nvSpPr>
          <p:spPr bwMode="auto">
            <a:xfrm>
              <a:off x="6650450" y="4838274"/>
              <a:ext cx="139240" cy="177573"/>
            </a:xfrm>
            <a:custGeom>
              <a:avLst/>
              <a:gdLst>
                <a:gd name="T0" fmla="*/ 21 w 247"/>
                <a:gd name="T1" fmla="*/ 205 h 315"/>
                <a:gd name="T2" fmla="*/ 21 w 247"/>
                <a:gd name="T3" fmla="*/ 205 h 315"/>
                <a:gd name="T4" fmla="*/ 32 w 247"/>
                <a:gd name="T5" fmla="*/ 231 h 315"/>
                <a:gd name="T6" fmla="*/ 32 w 247"/>
                <a:gd name="T7" fmla="*/ 231 h 315"/>
                <a:gd name="T8" fmla="*/ 53 w 247"/>
                <a:gd name="T9" fmla="*/ 268 h 315"/>
                <a:gd name="T10" fmla="*/ 79 w 247"/>
                <a:gd name="T11" fmla="*/ 294 h 315"/>
                <a:gd name="T12" fmla="*/ 100 w 247"/>
                <a:gd name="T13" fmla="*/ 310 h 315"/>
                <a:gd name="T14" fmla="*/ 126 w 247"/>
                <a:gd name="T15" fmla="*/ 315 h 315"/>
                <a:gd name="T16" fmla="*/ 147 w 247"/>
                <a:gd name="T17" fmla="*/ 310 h 315"/>
                <a:gd name="T18" fmla="*/ 173 w 247"/>
                <a:gd name="T19" fmla="*/ 294 h 315"/>
                <a:gd name="T20" fmla="*/ 194 w 247"/>
                <a:gd name="T21" fmla="*/ 268 h 315"/>
                <a:gd name="T22" fmla="*/ 215 w 247"/>
                <a:gd name="T23" fmla="*/ 231 h 315"/>
                <a:gd name="T24" fmla="*/ 215 w 247"/>
                <a:gd name="T25" fmla="*/ 231 h 315"/>
                <a:gd name="T26" fmla="*/ 226 w 247"/>
                <a:gd name="T27" fmla="*/ 205 h 315"/>
                <a:gd name="T28" fmla="*/ 226 w 247"/>
                <a:gd name="T29" fmla="*/ 205 h 315"/>
                <a:gd name="T30" fmla="*/ 226 w 247"/>
                <a:gd name="T31" fmla="*/ 205 h 315"/>
                <a:gd name="T32" fmla="*/ 236 w 247"/>
                <a:gd name="T33" fmla="*/ 205 h 315"/>
                <a:gd name="T34" fmla="*/ 236 w 247"/>
                <a:gd name="T35" fmla="*/ 205 h 315"/>
                <a:gd name="T36" fmla="*/ 247 w 247"/>
                <a:gd name="T37" fmla="*/ 184 h 315"/>
                <a:gd name="T38" fmla="*/ 247 w 247"/>
                <a:gd name="T39" fmla="*/ 168 h 315"/>
                <a:gd name="T40" fmla="*/ 247 w 247"/>
                <a:gd name="T41" fmla="*/ 152 h 315"/>
                <a:gd name="T42" fmla="*/ 247 w 247"/>
                <a:gd name="T43" fmla="*/ 152 h 315"/>
                <a:gd name="T44" fmla="*/ 242 w 247"/>
                <a:gd name="T45" fmla="*/ 152 h 315"/>
                <a:gd name="T46" fmla="*/ 242 w 247"/>
                <a:gd name="T47" fmla="*/ 152 h 315"/>
                <a:gd name="T48" fmla="*/ 242 w 247"/>
                <a:gd name="T49" fmla="*/ 147 h 315"/>
                <a:gd name="T50" fmla="*/ 242 w 247"/>
                <a:gd name="T51" fmla="*/ 142 h 315"/>
                <a:gd name="T52" fmla="*/ 242 w 247"/>
                <a:gd name="T53" fmla="*/ 142 h 315"/>
                <a:gd name="T54" fmla="*/ 242 w 247"/>
                <a:gd name="T55" fmla="*/ 136 h 315"/>
                <a:gd name="T56" fmla="*/ 242 w 247"/>
                <a:gd name="T57" fmla="*/ 136 h 315"/>
                <a:gd name="T58" fmla="*/ 236 w 247"/>
                <a:gd name="T59" fmla="*/ 110 h 315"/>
                <a:gd name="T60" fmla="*/ 236 w 247"/>
                <a:gd name="T61" fmla="*/ 84 h 315"/>
                <a:gd name="T62" fmla="*/ 226 w 247"/>
                <a:gd name="T63" fmla="*/ 63 h 315"/>
                <a:gd name="T64" fmla="*/ 215 w 247"/>
                <a:gd name="T65" fmla="*/ 42 h 315"/>
                <a:gd name="T66" fmla="*/ 200 w 247"/>
                <a:gd name="T67" fmla="*/ 26 h 315"/>
                <a:gd name="T68" fmla="*/ 179 w 247"/>
                <a:gd name="T69" fmla="*/ 11 h 315"/>
                <a:gd name="T70" fmla="*/ 152 w 247"/>
                <a:gd name="T71" fmla="*/ 5 h 315"/>
                <a:gd name="T72" fmla="*/ 126 w 247"/>
                <a:gd name="T73" fmla="*/ 0 h 315"/>
                <a:gd name="T74" fmla="*/ 126 w 247"/>
                <a:gd name="T75" fmla="*/ 0 h 315"/>
                <a:gd name="T76" fmla="*/ 95 w 247"/>
                <a:gd name="T77" fmla="*/ 5 h 315"/>
                <a:gd name="T78" fmla="*/ 68 w 247"/>
                <a:gd name="T79" fmla="*/ 11 h 315"/>
                <a:gd name="T80" fmla="*/ 47 w 247"/>
                <a:gd name="T81" fmla="*/ 26 h 315"/>
                <a:gd name="T82" fmla="*/ 32 w 247"/>
                <a:gd name="T83" fmla="*/ 42 h 315"/>
                <a:gd name="T84" fmla="*/ 21 w 247"/>
                <a:gd name="T85" fmla="*/ 63 h 315"/>
                <a:gd name="T86" fmla="*/ 16 w 247"/>
                <a:gd name="T87" fmla="*/ 84 h 315"/>
                <a:gd name="T88" fmla="*/ 11 w 247"/>
                <a:gd name="T89" fmla="*/ 110 h 315"/>
                <a:gd name="T90" fmla="*/ 6 w 247"/>
                <a:gd name="T91" fmla="*/ 136 h 315"/>
                <a:gd name="T92" fmla="*/ 6 w 247"/>
                <a:gd name="T93" fmla="*/ 136 h 315"/>
                <a:gd name="T94" fmla="*/ 11 w 247"/>
                <a:gd name="T95" fmla="*/ 142 h 315"/>
                <a:gd name="T96" fmla="*/ 11 w 247"/>
                <a:gd name="T97" fmla="*/ 142 h 315"/>
                <a:gd name="T98" fmla="*/ 6 w 247"/>
                <a:gd name="T99" fmla="*/ 147 h 315"/>
                <a:gd name="T100" fmla="*/ 6 w 247"/>
                <a:gd name="T101" fmla="*/ 152 h 315"/>
                <a:gd name="T102" fmla="*/ 6 w 247"/>
                <a:gd name="T103" fmla="*/ 152 h 315"/>
                <a:gd name="T104" fmla="*/ 0 w 247"/>
                <a:gd name="T105" fmla="*/ 152 h 315"/>
                <a:gd name="T106" fmla="*/ 0 w 247"/>
                <a:gd name="T107" fmla="*/ 152 h 315"/>
                <a:gd name="T108" fmla="*/ 0 w 247"/>
                <a:gd name="T109" fmla="*/ 168 h 315"/>
                <a:gd name="T110" fmla="*/ 0 w 247"/>
                <a:gd name="T111" fmla="*/ 184 h 315"/>
                <a:gd name="T112" fmla="*/ 11 w 247"/>
                <a:gd name="T113" fmla="*/ 205 h 315"/>
                <a:gd name="T114" fmla="*/ 11 w 247"/>
                <a:gd name="T115" fmla="*/ 205 h 315"/>
                <a:gd name="T116" fmla="*/ 21 w 247"/>
                <a:gd name="T117" fmla="*/ 205 h 315"/>
                <a:gd name="T118" fmla="*/ 21 w 247"/>
                <a:gd name="T119" fmla="*/ 205 h 315"/>
                <a:gd name="T120" fmla="*/ 21 w 247"/>
                <a:gd name="T121" fmla="*/ 20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47" h="315">
                  <a:moveTo>
                    <a:pt x="21" y="205"/>
                  </a:moveTo>
                  <a:lnTo>
                    <a:pt x="21" y="205"/>
                  </a:lnTo>
                  <a:lnTo>
                    <a:pt x="32" y="231"/>
                  </a:lnTo>
                  <a:lnTo>
                    <a:pt x="32" y="231"/>
                  </a:lnTo>
                  <a:lnTo>
                    <a:pt x="53" y="268"/>
                  </a:lnTo>
                  <a:lnTo>
                    <a:pt x="79" y="294"/>
                  </a:lnTo>
                  <a:lnTo>
                    <a:pt x="100" y="310"/>
                  </a:lnTo>
                  <a:lnTo>
                    <a:pt x="126" y="315"/>
                  </a:lnTo>
                  <a:lnTo>
                    <a:pt x="147" y="310"/>
                  </a:lnTo>
                  <a:lnTo>
                    <a:pt x="173" y="294"/>
                  </a:lnTo>
                  <a:lnTo>
                    <a:pt x="194" y="268"/>
                  </a:lnTo>
                  <a:lnTo>
                    <a:pt x="215" y="231"/>
                  </a:lnTo>
                  <a:lnTo>
                    <a:pt x="215" y="231"/>
                  </a:lnTo>
                  <a:lnTo>
                    <a:pt x="226" y="205"/>
                  </a:lnTo>
                  <a:lnTo>
                    <a:pt x="226" y="205"/>
                  </a:lnTo>
                  <a:lnTo>
                    <a:pt x="226" y="205"/>
                  </a:lnTo>
                  <a:lnTo>
                    <a:pt x="236" y="205"/>
                  </a:lnTo>
                  <a:lnTo>
                    <a:pt x="236" y="205"/>
                  </a:lnTo>
                  <a:lnTo>
                    <a:pt x="247" y="184"/>
                  </a:lnTo>
                  <a:lnTo>
                    <a:pt x="247" y="168"/>
                  </a:lnTo>
                  <a:lnTo>
                    <a:pt x="247" y="152"/>
                  </a:lnTo>
                  <a:lnTo>
                    <a:pt x="247" y="152"/>
                  </a:lnTo>
                  <a:lnTo>
                    <a:pt x="242" y="152"/>
                  </a:lnTo>
                  <a:lnTo>
                    <a:pt x="242" y="152"/>
                  </a:lnTo>
                  <a:lnTo>
                    <a:pt x="242" y="147"/>
                  </a:lnTo>
                  <a:lnTo>
                    <a:pt x="242" y="142"/>
                  </a:lnTo>
                  <a:lnTo>
                    <a:pt x="242" y="142"/>
                  </a:lnTo>
                  <a:lnTo>
                    <a:pt x="242" y="136"/>
                  </a:lnTo>
                  <a:lnTo>
                    <a:pt x="242" y="136"/>
                  </a:lnTo>
                  <a:lnTo>
                    <a:pt x="236" y="110"/>
                  </a:lnTo>
                  <a:lnTo>
                    <a:pt x="236" y="84"/>
                  </a:lnTo>
                  <a:lnTo>
                    <a:pt x="226" y="63"/>
                  </a:lnTo>
                  <a:lnTo>
                    <a:pt x="215" y="42"/>
                  </a:lnTo>
                  <a:lnTo>
                    <a:pt x="200" y="26"/>
                  </a:lnTo>
                  <a:lnTo>
                    <a:pt x="179" y="11"/>
                  </a:lnTo>
                  <a:lnTo>
                    <a:pt x="152" y="5"/>
                  </a:lnTo>
                  <a:lnTo>
                    <a:pt x="126" y="0"/>
                  </a:lnTo>
                  <a:lnTo>
                    <a:pt x="126" y="0"/>
                  </a:lnTo>
                  <a:lnTo>
                    <a:pt x="95" y="5"/>
                  </a:lnTo>
                  <a:lnTo>
                    <a:pt x="68" y="11"/>
                  </a:lnTo>
                  <a:lnTo>
                    <a:pt x="47" y="26"/>
                  </a:lnTo>
                  <a:lnTo>
                    <a:pt x="32" y="42"/>
                  </a:lnTo>
                  <a:lnTo>
                    <a:pt x="21" y="63"/>
                  </a:lnTo>
                  <a:lnTo>
                    <a:pt x="16" y="84"/>
                  </a:lnTo>
                  <a:lnTo>
                    <a:pt x="11" y="110"/>
                  </a:lnTo>
                  <a:lnTo>
                    <a:pt x="6" y="136"/>
                  </a:lnTo>
                  <a:lnTo>
                    <a:pt x="6" y="136"/>
                  </a:lnTo>
                  <a:lnTo>
                    <a:pt x="11" y="142"/>
                  </a:lnTo>
                  <a:lnTo>
                    <a:pt x="11" y="142"/>
                  </a:lnTo>
                  <a:lnTo>
                    <a:pt x="6" y="147"/>
                  </a:lnTo>
                  <a:lnTo>
                    <a:pt x="6" y="152"/>
                  </a:lnTo>
                  <a:lnTo>
                    <a:pt x="6" y="152"/>
                  </a:lnTo>
                  <a:lnTo>
                    <a:pt x="0" y="152"/>
                  </a:lnTo>
                  <a:lnTo>
                    <a:pt x="0" y="152"/>
                  </a:lnTo>
                  <a:lnTo>
                    <a:pt x="0" y="168"/>
                  </a:lnTo>
                  <a:lnTo>
                    <a:pt x="0" y="184"/>
                  </a:lnTo>
                  <a:lnTo>
                    <a:pt x="11" y="205"/>
                  </a:lnTo>
                  <a:lnTo>
                    <a:pt x="11" y="205"/>
                  </a:lnTo>
                  <a:lnTo>
                    <a:pt x="21" y="205"/>
                  </a:lnTo>
                  <a:lnTo>
                    <a:pt x="21" y="205"/>
                  </a:lnTo>
                  <a:lnTo>
                    <a:pt x="21" y="2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70" name="Freeform 179">
              <a:extLst>
                <a:ext uri="{FF2B5EF4-FFF2-40B4-BE49-F238E27FC236}">
                  <a16:creationId xmlns:a16="http://schemas.microsoft.com/office/drawing/2014/main" id="{EB4FFE25-4DF1-420C-8A19-7F19A7EEEFE1}"/>
                </a:ext>
              </a:extLst>
            </p:cNvPr>
            <p:cNvSpPr>
              <a:spLocks/>
            </p:cNvSpPr>
            <p:nvPr/>
          </p:nvSpPr>
          <p:spPr bwMode="auto">
            <a:xfrm>
              <a:off x="6582803" y="5009646"/>
              <a:ext cx="274534" cy="115564"/>
            </a:xfrm>
            <a:custGeom>
              <a:avLst/>
              <a:gdLst>
                <a:gd name="T0" fmla="*/ 487 w 487"/>
                <a:gd name="T1" fmla="*/ 205 h 205"/>
                <a:gd name="T2" fmla="*/ 487 w 487"/>
                <a:gd name="T3" fmla="*/ 110 h 205"/>
                <a:gd name="T4" fmla="*/ 487 w 487"/>
                <a:gd name="T5" fmla="*/ 110 h 205"/>
                <a:gd name="T6" fmla="*/ 482 w 487"/>
                <a:gd name="T7" fmla="*/ 95 h 205"/>
                <a:gd name="T8" fmla="*/ 466 w 487"/>
                <a:gd name="T9" fmla="*/ 79 h 205"/>
                <a:gd name="T10" fmla="*/ 367 w 487"/>
                <a:gd name="T11" fmla="*/ 32 h 205"/>
                <a:gd name="T12" fmla="*/ 367 w 487"/>
                <a:gd name="T13" fmla="*/ 32 h 205"/>
                <a:gd name="T14" fmla="*/ 346 w 487"/>
                <a:gd name="T15" fmla="*/ 16 h 205"/>
                <a:gd name="T16" fmla="*/ 330 w 487"/>
                <a:gd name="T17" fmla="*/ 0 h 205"/>
                <a:gd name="T18" fmla="*/ 309 w 487"/>
                <a:gd name="T19" fmla="*/ 37 h 205"/>
                <a:gd name="T20" fmla="*/ 272 w 487"/>
                <a:gd name="T21" fmla="*/ 131 h 205"/>
                <a:gd name="T22" fmla="*/ 262 w 487"/>
                <a:gd name="T23" fmla="*/ 42 h 205"/>
                <a:gd name="T24" fmla="*/ 272 w 487"/>
                <a:gd name="T25" fmla="*/ 27 h 205"/>
                <a:gd name="T26" fmla="*/ 272 w 487"/>
                <a:gd name="T27" fmla="*/ 27 h 205"/>
                <a:gd name="T28" fmla="*/ 246 w 487"/>
                <a:gd name="T29" fmla="*/ 32 h 205"/>
                <a:gd name="T30" fmla="*/ 246 w 487"/>
                <a:gd name="T31" fmla="*/ 32 h 205"/>
                <a:gd name="T32" fmla="*/ 215 w 487"/>
                <a:gd name="T33" fmla="*/ 27 h 205"/>
                <a:gd name="T34" fmla="*/ 225 w 487"/>
                <a:gd name="T35" fmla="*/ 42 h 205"/>
                <a:gd name="T36" fmla="*/ 215 w 487"/>
                <a:gd name="T37" fmla="*/ 126 h 205"/>
                <a:gd name="T38" fmla="*/ 178 w 487"/>
                <a:gd name="T39" fmla="*/ 37 h 205"/>
                <a:gd name="T40" fmla="*/ 157 w 487"/>
                <a:gd name="T41" fmla="*/ 0 h 205"/>
                <a:gd name="T42" fmla="*/ 157 w 487"/>
                <a:gd name="T43" fmla="*/ 0 h 205"/>
                <a:gd name="T44" fmla="*/ 141 w 487"/>
                <a:gd name="T45" fmla="*/ 16 h 205"/>
                <a:gd name="T46" fmla="*/ 120 w 487"/>
                <a:gd name="T47" fmla="*/ 32 h 205"/>
                <a:gd name="T48" fmla="*/ 21 w 487"/>
                <a:gd name="T49" fmla="*/ 79 h 205"/>
                <a:gd name="T50" fmla="*/ 21 w 487"/>
                <a:gd name="T51" fmla="*/ 79 h 205"/>
                <a:gd name="T52" fmla="*/ 5 w 487"/>
                <a:gd name="T53" fmla="*/ 95 h 205"/>
                <a:gd name="T54" fmla="*/ 0 w 487"/>
                <a:gd name="T55" fmla="*/ 110 h 205"/>
                <a:gd name="T56" fmla="*/ 0 w 487"/>
                <a:gd name="T57" fmla="*/ 205 h 205"/>
                <a:gd name="T58" fmla="*/ 487 w 487"/>
                <a:gd name="T59" fmla="*/ 205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87" h="205">
                  <a:moveTo>
                    <a:pt x="487" y="205"/>
                  </a:moveTo>
                  <a:lnTo>
                    <a:pt x="487" y="110"/>
                  </a:lnTo>
                  <a:lnTo>
                    <a:pt x="487" y="110"/>
                  </a:lnTo>
                  <a:lnTo>
                    <a:pt x="482" y="95"/>
                  </a:lnTo>
                  <a:lnTo>
                    <a:pt x="466" y="79"/>
                  </a:lnTo>
                  <a:lnTo>
                    <a:pt x="367" y="32"/>
                  </a:lnTo>
                  <a:lnTo>
                    <a:pt x="367" y="32"/>
                  </a:lnTo>
                  <a:lnTo>
                    <a:pt x="346" y="16"/>
                  </a:lnTo>
                  <a:lnTo>
                    <a:pt x="330" y="0"/>
                  </a:lnTo>
                  <a:lnTo>
                    <a:pt x="309" y="37"/>
                  </a:lnTo>
                  <a:lnTo>
                    <a:pt x="272" y="131"/>
                  </a:lnTo>
                  <a:lnTo>
                    <a:pt x="262" y="42"/>
                  </a:lnTo>
                  <a:lnTo>
                    <a:pt x="272" y="27"/>
                  </a:lnTo>
                  <a:lnTo>
                    <a:pt x="272" y="27"/>
                  </a:lnTo>
                  <a:lnTo>
                    <a:pt x="246" y="32"/>
                  </a:lnTo>
                  <a:lnTo>
                    <a:pt x="246" y="32"/>
                  </a:lnTo>
                  <a:lnTo>
                    <a:pt x="215" y="27"/>
                  </a:lnTo>
                  <a:lnTo>
                    <a:pt x="225" y="42"/>
                  </a:lnTo>
                  <a:lnTo>
                    <a:pt x="215" y="126"/>
                  </a:lnTo>
                  <a:lnTo>
                    <a:pt x="178" y="37"/>
                  </a:lnTo>
                  <a:lnTo>
                    <a:pt x="157" y="0"/>
                  </a:lnTo>
                  <a:lnTo>
                    <a:pt x="157" y="0"/>
                  </a:lnTo>
                  <a:lnTo>
                    <a:pt x="141" y="16"/>
                  </a:lnTo>
                  <a:lnTo>
                    <a:pt x="120" y="32"/>
                  </a:lnTo>
                  <a:lnTo>
                    <a:pt x="21" y="79"/>
                  </a:lnTo>
                  <a:lnTo>
                    <a:pt x="21" y="79"/>
                  </a:lnTo>
                  <a:lnTo>
                    <a:pt x="5" y="95"/>
                  </a:lnTo>
                  <a:lnTo>
                    <a:pt x="0" y="110"/>
                  </a:lnTo>
                  <a:lnTo>
                    <a:pt x="0" y="205"/>
                  </a:lnTo>
                  <a:lnTo>
                    <a:pt x="487" y="2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71" name="Freeform 180">
              <a:extLst>
                <a:ext uri="{FF2B5EF4-FFF2-40B4-BE49-F238E27FC236}">
                  <a16:creationId xmlns:a16="http://schemas.microsoft.com/office/drawing/2014/main" id="{6ECB54CF-BBF4-481F-89CE-EA1707FFC0CC}"/>
                </a:ext>
              </a:extLst>
            </p:cNvPr>
            <p:cNvSpPr>
              <a:spLocks/>
            </p:cNvSpPr>
            <p:nvPr/>
          </p:nvSpPr>
          <p:spPr bwMode="auto">
            <a:xfrm>
              <a:off x="6644813" y="5178200"/>
              <a:ext cx="150514" cy="156715"/>
            </a:xfrm>
            <a:custGeom>
              <a:avLst/>
              <a:gdLst>
                <a:gd name="T0" fmla="*/ 16 w 267"/>
                <a:gd name="T1" fmla="*/ 278 h 278"/>
                <a:gd name="T2" fmla="*/ 252 w 267"/>
                <a:gd name="T3" fmla="*/ 278 h 278"/>
                <a:gd name="T4" fmla="*/ 252 w 267"/>
                <a:gd name="T5" fmla="*/ 278 h 278"/>
                <a:gd name="T6" fmla="*/ 262 w 267"/>
                <a:gd name="T7" fmla="*/ 273 h 278"/>
                <a:gd name="T8" fmla="*/ 267 w 267"/>
                <a:gd name="T9" fmla="*/ 263 h 278"/>
                <a:gd name="T10" fmla="*/ 267 w 267"/>
                <a:gd name="T11" fmla="*/ 16 h 278"/>
                <a:gd name="T12" fmla="*/ 267 w 267"/>
                <a:gd name="T13" fmla="*/ 16 h 278"/>
                <a:gd name="T14" fmla="*/ 262 w 267"/>
                <a:gd name="T15" fmla="*/ 6 h 278"/>
                <a:gd name="T16" fmla="*/ 252 w 267"/>
                <a:gd name="T17" fmla="*/ 0 h 278"/>
                <a:gd name="T18" fmla="*/ 16 w 267"/>
                <a:gd name="T19" fmla="*/ 0 h 278"/>
                <a:gd name="T20" fmla="*/ 16 w 267"/>
                <a:gd name="T21" fmla="*/ 0 h 278"/>
                <a:gd name="T22" fmla="*/ 5 w 267"/>
                <a:gd name="T23" fmla="*/ 6 h 278"/>
                <a:gd name="T24" fmla="*/ 0 w 267"/>
                <a:gd name="T25" fmla="*/ 16 h 278"/>
                <a:gd name="T26" fmla="*/ 0 w 267"/>
                <a:gd name="T27" fmla="*/ 263 h 278"/>
                <a:gd name="T28" fmla="*/ 0 w 267"/>
                <a:gd name="T29" fmla="*/ 263 h 278"/>
                <a:gd name="T30" fmla="*/ 5 w 267"/>
                <a:gd name="T31" fmla="*/ 273 h 278"/>
                <a:gd name="T32" fmla="*/ 16 w 267"/>
                <a:gd name="T33" fmla="*/ 278 h 278"/>
                <a:gd name="T34" fmla="*/ 16 w 267"/>
                <a:gd name="T35" fmla="*/ 278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7" h="278">
                  <a:moveTo>
                    <a:pt x="16" y="278"/>
                  </a:moveTo>
                  <a:lnTo>
                    <a:pt x="252" y="278"/>
                  </a:lnTo>
                  <a:lnTo>
                    <a:pt x="252" y="278"/>
                  </a:lnTo>
                  <a:lnTo>
                    <a:pt x="262" y="273"/>
                  </a:lnTo>
                  <a:lnTo>
                    <a:pt x="267" y="263"/>
                  </a:lnTo>
                  <a:lnTo>
                    <a:pt x="267" y="16"/>
                  </a:lnTo>
                  <a:lnTo>
                    <a:pt x="267" y="16"/>
                  </a:lnTo>
                  <a:lnTo>
                    <a:pt x="262" y="6"/>
                  </a:lnTo>
                  <a:lnTo>
                    <a:pt x="252" y="0"/>
                  </a:lnTo>
                  <a:lnTo>
                    <a:pt x="16" y="0"/>
                  </a:lnTo>
                  <a:lnTo>
                    <a:pt x="16" y="0"/>
                  </a:lnTo>
                  <a:lnTo>
                    <a:pt x="5" y="6"/>
                  </a:lnTo>
                  <a:lnTo>
                    <a:pt x="0" y="16"/>
                  </a:lnTo>
                  <a:lnTo>
                    <a:pt x="0" y="263"/>
                  </a:lnTo>
                  <a:lnTo>
                    <a:pt x="0" y="263"/>
                  </a:lnTo>
                  <a:lnTo>
                    <a:pt x="5" y="273"/>
                  </a:lnTo>
                  <a:lnTo>
                    <a:pt x="16" y="278"/>
                  </a:lnTo>
                  <a:lnTo>
                    <a:pt x="16" y="2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72" name="Freeform 181">
              <a:extLst>
                <a:ext uri="{FF2B5EF4-FFF2-40B4-BE49-F238E27FC236}">
                  <a16:creationId xmlns:a16="http://schemas.microsoft.com/office/drawing/2014/main" id="{7ADB6F1C-24EE-40F4-A9E4-8BE653C33224}"/>
                </a:ext>
              </a:extLst>
            </p:cNvPr>
            <p:cNvSpPr>
              <a:spLocks/>
            </p:cNvSpPr>
            <p:nvPr/>
          </p:nvSpPr>
          <p:spPr bwMode="auto">
            <a:xfrm>
              <a:off x="6644813" y="5178200"/>
              <a:ext cx="150514" cy="89068"/>
            </a:xfrm>
            <a:custGeom>
              <a:avLst/>
              <a:gdLst>
                <a:gd name="T0" fmla="*/ 252 w 267"/>
                <a:gd name="T1" fmla="*/ 0 h 158"/>
                <a:gd name="T2" fmla="*/ 16 w 267"/>
                <a:gd name="T3" fmla="*/ 0 h 158"/>
                <a:gd name="T4" fmla="*/ 16 w 267"/>
                <a:gd name="T5" fmla="*/ 0 h 158"/>
                <a:gd name="T6" fmla="*/ 5 w 267"/>
                <a:gd name="T7" fmla="*/ 6 h 158"/>
                <a:gd name="T8" fmla="*/ 0 w 267"/>
                <a:gd name="T9" fmla="*/ 16 h 158"/>
                <a:gd name="T10" fmla="*/ 0 w 267"/>
                <a:gd name="T11" fmla="*/ 158 h 158"/>
                <a:gd name="T12" fmla="*/ 267 w 267"/>
                <a:gd name="T13" fmla="*/ 158 h 158"/>
                <a:gd name="T14" fmla="*/ 267 w 267"/>
                <a:gd name="T15" fmla="*/ 16 h 158"/>
                <a:gd name="T16" fmla="*/ 267 w 267"/>
                <a:gd name="T17" fmla="*/ 16 h 158"/>
                <a:gd name="T18" fmla="*/ 262 w 267"/>
                <a:gd name="T19" fmla="*/ 6 h 158"/>
                <a:gd name="T20" fmla="*/ 252 w 267"/>
                <a:gd name="T21" fmla="*/ 0 h 158"/>
                <a:gd name="T22" fmla="*/ 252 w 267"/>
                <a:gd name="T23" fmla="*/ 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7" h="158">
                  <a:moveTo>
                    <a:pt x="252" y="0"/>
                  </a:moveTo>
                  <a:lnTo>
                    <a:pt x="16" y="0"/>
                  </a:lnTo>
                  <a:lnTo>
                    <a:pt x="16" y="0"/>
                  </a:lnTo>
                  <a:lnTo>
                    <a:pt x="5" y="6"/>
                  </a:lnTo>
                  <a:lnTo>
                    <a:pt x="0" y="16"/>
                  </a:lnTo>
                  <a:lnTo>
                    <a:pt x="0" y="158"/>
                  </a:lnTo>
                  <a:lnTo>
                    <a:pt x="267" y="158"/>
                  </a:lnTo>
                  <a:lnTo>
                    <a:pt x="267" y="16"/>
                  </a:lnTo>
                  <a:lnTo>
                    <a:pt x="267" y="16"/>
                  </a:lnTo>
                  <a:lnTo>
                    <a:pt x="262" y="6"/>
                  </a:lnTo>
                  <a:lnTo>
                    <a:pt x="252" y="0"/>
                  </a:lnTo>
                  <a:lnTo>
                    <a:pt x="25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73" name="Freeform 182">
              <a:extLst>
                <a:ext uri="{FF2B5EF4-FFF2-40B4-BE49-F238E27FC236}">
                  <a16:creationId xmlns:a16="http://schemas.microsoft.com/office/drawing/2014/main" id="{FF7B8479-DAED-43B9-804E-64AFC59490DB}"/>
                </a:ext>
              </a:extLst>
            </p:cNvPr>
            <p:cNvSpPr>
              <a:spLocks/>
            </p:cNvSpPr>
            <p:nvPr/>
          </p:nvSpPr>
          <p:spPr bwMode="auto">
            <a:xfrm>
              <a:off x="6573784" y="5142685"/>
              <a:ext cx="292573" cy="124583"/>
            </a:xfrm>
            <a:custGeom>
              <a:avLst/>
              <a:gdLst>
                <a:gd name="T0" fmla="*/ 488 w 519"/>
                <a:gd name="T1" fmla="*/ 0 h 221"/>
                <a:gd name="T2" fmla="*/ 31 w 519"/>
                <a:gd name="T3" fmla="*/ 0 h 221"/>
                <a:gd name="T4" fmla="*/ 31 w 519"/>
                <a:gd name="T5" fmla="*/ 0 h 221"/>
                <a:gd name="T6" fmla="*/ 21 w 519"/>
                <a:gd name="T7" fmla="*/ 6 h 221"/>
                <a:gd name="T8" fmla="*/ 10 w 519"/>
                <a:gd name="T9" fmla="*/ 11 h 221"/>
                <a:gd name="T10" fmla="*/ 5 w 519"/>
                <a:gd name="T11" fmla="*/ 21 h 221"/>
                <a:gd name="T12" fmla="*/ 0 w 519"/>
                <a:gd name="T13" fmla="*/ 32 h 221"/>
                <a:gd name="T14" fmla="*/ 42 w 519"/>
                <a:gd name="T15" fmla="*/ 189 h 221"/>
                <a:gd name="T16" fmla="*/ 42 w 519"/>
                <a:gd name="T17" fmla="*/ 189 h 221"/>
                <a:gd name="T18" fmla="*/ 47 w 519"/>
                <a:gd name="T19" fmla="*/ 200 h 221"/>
                <a:gd name="T20" fmla="*/ 52 w 519"/>
                <a:gd name="T21" fmla="*/ 210 h 221"/>
                <a:gd name="T22" fmla="*/ 63 w 519"/>
                <a:gd name="T23" fmla="*/ 215 h 221"/>
                <a:gd name="T24" fmla="*/ 73 w 519"/>
                <a:gd name="T25" fmla="*/ 221 h 221"/>
                <a:gd name="T26" fmla="*/ 105 w 519"/>
                <a:gd name="T27" fmla="*/ 221 h 221"/>
                <a:gd name="T28" fmla="*/ 105 w 519"/>
                <a:gd name="T29" fmla="*/ 79 h 221"/>
                <a:gd name="T30" fmla="*/ 105 w 519"/>
                <a:gd name="T31" fmla="*/ 79 h 221"/>
                <a:gd name="T32" fmla="*/ 105 w 519"/>
                <a:gd name="T33" fmla="*/ 63 h 221"/>
                <a:gd name="T34" fmla="*/ 115 w 519"/>
                <a:gd name="T35" fmla="*/ 53 h 221"/>
                <a:gd name="T36" fmla="*/ 126 w 519"/>
                <a:gd name="T37" fmla="*/ 42 h 221"/>
                <a:gd name="T38" fmla="*/ 142 w 519"/>
                <a:gd name="T39" fmla="*/ 42 h 221"/>
                <a:gd name="T40" fmla="*/ 378 w 519"/>
                <a:gd name="T41" fmla="*/ 42 h 221"/>
                <a:gd name="T42" fmla="*/ 378 w 519"/>
                <a:gd name="T43" fmla="*/ 42 h 221"/>
                <a:gd name="T44" fmla="*/ 393 w 519"/>
                <a:gd name="T45" fmla="*/ 42 h 221"/>
                <a:gd name="T46" fmla="*/ 404 w 519"/>
                <a:gd name="T47" fmla="*/ 53 h 221"/>
                <a:gd name="T48" fmla="*/ 414 w 519"/>
                <a:gd name="T49" fmla="*/ 63 h 221"/>
                <a:gd name="T50" fmla="*/ 414 w 519"/>
                <a:gd name="T51" fmla="*/ 79 h 221"/>
                <a:gd name="T52" fmla="*/ 414 w 519"/>
                <a:gd name="T53" fmla="*/ 221 h 221"/>
                <a:gd name="T54" fmla="*/ 446 w 519"/>
                <a:gd name="T55" fmla="*/ 221 h 221"/>
                <a:gd name="T56" fmla="*/ 446 w 519"/>
                <a:gd name="T57" fmla="*/ 221 h 221"/>
                <a:gd name="T58" fmla="*/ 456 w 519"/>
                <a:gd name="T59" fmla="*/ 215 h 221"/>
                <a:gd name="T60" fmla="*/ 467 w 519"/>
                <a:gd name="T61" fmla="*/ 210 h 221"/>
                <a:gd name="T62" fmla="*/ 477 w 519"/>
                <a:gd name="T63" fmla="*/ 200 h 221"/>
                <a:gd name="T64" fmla="*/ 477 w 519"/>
                <a:gd name="T65" fmla="*/ 189 h 221"/>
                <a:gd name="T66" fmla="*/ 519 w 519"/>
                <a:gd name="T67" fmla="*/ 32 h 221"/>
                <a:gd name="T68" fmla="*/ 519 w 519"/>
                <a:gd name="T69" fmla="*/ 32 h 221"/>
                <a:gd name="T70" fmla="*/ 519 w 519"/>
                <a:gd name="T71" fmla="*/ 21 h 221"/>
                <a:gd name="T72" fmla="*/ 509 w 519"/>
                <a:gd name="T73" fmla="*/ 11 h 221"/>
                <a:gd name="T74" fmla="*/ 498 w 519"/>
                <a:gd name="T75" fmla="*/ 6 h 221"/>
                <a:gd name="T76" fmla="*/ 488 w 519"/>
                <a:gd name="T77" fmla="*/ 0 h 221"/>
                <a:gd name="T78" fmla="*/ 488 w 519"/>
                <a:gd name="T79"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9" h="221">
                  <a:moveTo>
                    <a:pt x="488" y="0"/>
                  </a:moveTo>
                  <a:lnTo>
                    <a:pt x="31" y="0"/>
                  </a:lnTo>
                  <a:lnTo>
                    <a:pt x="31" y="0"/>
                  </a:lnTo>
                  <a:lnTo>
                    <a:pt x="21" y="6"/>
                  </a:lnTo>
                  <a:lnTo>
                    <a:pt x="10" y="11"/>
                  </a:lnTo>
                  <a:lnTo>
                    <a:pt x="5" y="21"/>
                  </a:lnTo>
                  <a:lnTo>
                    <a:pt x="0" y="32"/>
                  </a:lnTo>
                  <a:lnTo>
                    <a:pt x="42" y="189"/>
                  </a:lnTo>
                  <a:lnTo>
                    <a:pt x="42" y="189"/>
                  </a:lnTo>
                  <a:lnTo>
                    <a:pt x="47" y="200"/>
                  </a:lnTo>
                  <a:lnTo>
                    <a:pt x="52" y="210"/>
                  </a:lnTo>
                  <a:lnTo>
                    <a:pt x="63" y="215"/>
                  </a:lnTo>
                  <a:lnTo>
                    <a:pt x="73" y="221"/>
                  </a:lnTo>
                  <a:lnTo>
                    <a:pt x="105" y="221"/>
                  </a:lnTo>
                  <a:lnTo>
                    <a:pt x="105" y="79"/>
                  </a:lnTo>
                  <a:lnTo>
                    <a:pt x="105" y="79"/>
                  </a:lnTo>
                  <a:lnTo>
                    <a:pt x="105" y="63"/>
                  </a:lnTo>
                  <a:lnTo>
                    <a:pt x="115" y="53"/>
                  </a:lnTo>
                  <a:lnTo>
                    <a:pt x="126" y="42"/>
                  </a:lnTo>
                  <a:lnTo>
                    <a:pt x="142" y="42"/>
                  </a:lnTo>
                  <a:lnTo>
                    <a:pt x="378" y="42"/>
                  </a:lnTo>
                  <a:lnTo>
                    <a:pt x="378" y="42"/>
                  </a:lnTo>
                  <a:lnTo>
                    <a:pt x="393" y="42"/>
                  </a:lnTo>
                  <a:lnTo>
                    <a:pt x="404" y="53"/>
                  </a:lnTo>
                  <a:lnTo>
                    <a:pt x="414" y="63"/>
                  </a:lnTo>
                  <a:lnTo>
                    <a:pt x="414" y="79"/>
                  </a:lnTo>
                  <a:lnTo>
                    <a:pt x="414" y="221"/>
                  </a:lnTo>
                  <a:lnTo>
                    <a:pt x="446" y="221"/>
                  </a:lnTo>
                  <a:lnTo>
                    <a:pt x="446" y="221"/>
                  </a:lnTo>
                  <a:lnTo>
                    <a:pt x="456" y="215"/>
                  </a:lnTo>
                  <a:lnTo>
                    <a:pt x="467" y="210"/>
                  </a:lnTo>
                  <a:lnTo>
                    <a:pt x="477" y="200"/>
                  </a:lnTo>
                  <a:lnTo>
                    <a:pt x="477" y="189"/>
                  </a:lnTo>
                  <a:lnTo>
                    <a:pt x="519" y="32"/>
                  </a:lnTo>
                  <a:lnTo>
                    <a:pt x="519" y="32"/>
                  </a:lnTo>
                  <a:lnTo>
                    <a:pt x="519" y="21"/>
                  </a:lnTo>
                  <a:lnTo>
                    <a:pt x="509" y="11"/>
                  </a:lnTo>
                  <a:lnTo>
                    <a:pt x="498" y="6"/>
                  </a:lnTo>
                  <a:lnTo>
                    <a:pt x="488" y="0"/>
                  </a:lnTo>
                  <a:lnTo>
                    <a:pt x="4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74" name="Freeform 183">
              <a:extLst>
                <a:ext uri="{FF2B5EF4-FFF2-40B4-BE49-F238E27FC236}">
                  <a16:creationId xmlns:a16="http://schemas.microsoft.com/office/drawing/2014/main" id="{E716381C-D189-4F56-ABD7-731252C70D2F}"/>
                </a:ext>
              </a:extLst>
            </p:cNvPr>
            <p:cNvSpPr>
              <a:spLocks noEditPoints="1"/>
            </p:cNvSpPr>
            <p:nvPr/>
          </p:nvSpPr>
          <p:spPr bwMode="auto">
            <a:xfrm>
              <a:off x="6801528" y="4743568"/>
              <a:ext cx="221544" cy="213088"/>
            </a:xfrm>
            <a:custGeom>
              <a:avLst/>
              <a:gdLst>
                <a:gd name="T0" fmla="*/ 42 w 393"/>
                <a:gd name="T1" fmla="*/ 273 h 378"/>
                <a:gd name="T2" fmla="*/ 15 w 393"/>
                <a:gd name="T3" fmla="*/ 226 h 378"/>
                <a:gd name="T4" fmla="*/ 0 w 393"/>
                <a:gd name="T5" fmla="*/ 179 h 378"/>
                <a:gd name="T6" fmla="*/ 5 w 393"/>
                <a:gd name="T7" fmla="*/ 116 h 378"/>
                <a:gd name="T8" fmla="*/ 63 w 393"/>
                <a:gd name="T9" fmla="*/ 37 h 378"/>
                <a:gd name="T10" fmla="*/ 131 w 393"/>
                <a:gd name="T11" fmla="*/ 5 h 378"/>
                <a:gd name="T12" fmla="*/ 210 w 393"/>
                <a:gd name="T13" fmla="*/ 0 h 378"/>
                <a:gd name="T14" fmla="*/ 314 w 393"/>
                <a:gd name="T15" fmla="*/ 26 h 378"/>
                <a:gd name="T16" fmla="*/ 362 w 393"/>
                <a:gd name="T17" fmla="*/ 63 h 378"/>
                <a:gd name="T18" fmla="*/ 393 w 393"/>
                <a:gd name="T19" fmla="*/ 147 h 378"/>
                <a:gd name="T20" fmla="*/ 383 w 393"/>
                <a:gd name="T21" fmla="*/ 210 h 378"/>
                <a:gd name="T22" fmla="*/ 346 w 393"/>
                <a:gd name="T23" fmla="*/ 263 h 378"/>
                <a:gd name="T24" fmla="*/ 278 w 393"/>
                <a:gd name="T25" fmla="*/ 304 h 378"/>
                <a:gd name="T26" fmla="*/ 199 w 393"/>
                <a:gd name="T27" fmla="*/ 320 h 378"/>
                <a:gd name="T28" fmla="*/ 131 w 393"/>
                <a:gd name="T29" fmla="*/ 331 h 378"/>
                <a:gd name="T30" fmla="*/ 57 w 393"/>
                <a:gd name="T31" fmla="*/ 373 h 378"/>
                <a:gd name="T32" fmla="*/ 15 w 393"/>
                <a:gd name="T33" fmla="*/ 378 h 378"/>
                <a:gd name="T34" fmla="*/ 47 w 393"/>
                <a:gd name="T35" fmla="*/ 299 h 378"/>
                <a:gd name="T36" fmla="*/ 199 w 393"/>
                <a:gd name="T37" fmla="*/ 126 h 378"/>
                <a:gd name="T38" fmla="*/ 178 w 393"/>
                <a:gd name="T39" fmla="*/ 147 h 378"/>
                <a:gd name="T40" fmla="*/ 178 w 393"/>
                <a:gd name="T41" fmla="*/ 163 h 378"/>
                <a:gd name="T42" fmla="*/ 199 w 393"/>
                <a:gd name="T43" fmla="*/ 184 h 378"/>
                <a:gd name="T44" fmla="*/ 220 w 393"/>
                <a:gd name="T45" fmla="*/ 173 h 378"/>
                <a:gd name="T46" fmla="*/ 225 w 393"/>
                <a:gd name="T47" fmla="*/ 152 h 378"/>
                <a:gd name="T48" fmla="*/ 210 w 393"/>
                <a:gd name="T49" fmla="*/ 131 h 378"/>
                <a:gd name="T50" fmla="*/ 126 w 393"/>
                <a:gd name="T51" fmla="*/ 126 h 378"/>
                <a:gd name="T52" fmla="*/ 105 w 393"/>
                <a:gd name="T53" fmla="*/ 137 h 378"/>
                <a:gd name="T54" fmla="*/ 99 w 393"/>
                <a:gd name="T55" fmla="*/ 152 h 378"/>
                <a:gd name="T56" fmla="*/ 115 w 393"/>
                <a:gd name="T57" fmla="*/ 179 h 378"/>
                <a:gd name="T58" fmla="*/ 136 w 393"/>
                <a:gd name="T59" fmla="*/ 179 h 378"/>
                <a:gd name="T60" fmla="*/ 152 w 393"/>
                <a:gd name="T61" fmla="*/ 152 h 378"/>
                <a:gd name="T62" fmla="*/ 141 w 393"/>
                <a:gd name="T63" fmla="*/ 137 h 378"/>
                <a:gd name="T64" fmla="*/ 126 w 393"/>
                <a:gd name="T65" fmla="*/ 126 h 378"/>
                <a:gd name="T66" fmla="*/ 267 w 393"/>
                <a:gd name="T67" fmla="*/ 131 h 378"/>
                <a:gd name="T68" fmla="*/ 246 w 393"/>
                <a:gd name="T69" fmla="*/ 152 h 378"/>
                <a:gd name="T70" fmla="*/ 257 w 393"/>
                <a:gd name="T71" fmla="*/ 173 h 378"/>
                <a:gd name="T72" fmla="*/ 278 w 393"/>
                <a:gd name="T73" fmla="*/ 184 h 378"/>
                <a:gd name="T74" fmla="*/ 299 w 393"/>
                <a:gd name="T75" fmla="*/ 163 h 378"/>
                <a:gd name="T76" fmla="*/ 299 w 393"/>
                <a:gd name="T77" fmla="*/ 147 h 378"/>
                <a:gd name="T78" fmla="*/ 278 w 393"/>
                <a:gd name="T79" fmla="*/ 126 h 378"/>
                <a:gd name="T80" fmla="*/ 84 w 393"/>
                <a:gd name="T81" fmla="*/ 304 h 378"/>
                <a:gd name="T82" fmla="*/ 115 w 393"/>
                <a:gd name="T83" fmla="*/ 299 h 378"/>
                <a:gd name="T84" fmla="*/ 199 w 393"/>
                <a:gd name="T85" fmla="*/ 283 h 378"/>
                <a:gd name="T86" fmla="*/ 262 w 393"/>
                <a:gd name="T87" fmla="*/ 273 h 378"/>
                <a:gd name="T88" fmla="*/ 325 w 393"/>
                <a:gd name="T89" fmla="*/ 242 h 378"/>
                <a:gd name="T90" fmla="*/ 351 w 393"/>
                <a:gd name="T91" fmla="*/ 194 h 378"/>
                <a:gd name="T92" fmla="*/ 362 w 393"/>
                <a:gd name="T93" fmla="*/ 147 h 378"/>
                <a:gd name="T94" fmla="*/ 335 w 393"/>
                <a:gd name="T95" fmla="*/ 84 h 378"/>
                <a:gd name="T96" fmla="*/ 299 w 393"/>
                <a:gd name="T97" fmla="*/ 53 h 378"/>
                <a:gd name="T98" fmla="*/ 210 w 393"/>
                <a:gd name="T99" fmla="*/ 32 h 378"/>
                <a:gd name="T100" fmla="*/ 141 w 393"/>
                <a:gd name="T101" fmla="*/ 42 h 378"/>
                <a:gd name="T102" fmla="*/ 84 w 393"/>
                <a:gd name="T103" fmla="*/ 68 h 378"/>
                <a:gd name="T104" fmla="*/ 42 w 393"/>
                <a:gd name="T105" fmla="*/ 126 h 378"/>
                <a:gd name="T106" fmla="*/ 36 w 393"/>
                <a:gd name="T107" fmla="*/ 173 h 378"/>
                <a:gd name="T108" fmla="*/ 47 w 393"/>
                <a:gd name="T109" fmla="*/ 210 h 378"/>
                <a:gd name="T110" fmla="*/ 68 w 393"/>
                <a:gd name="T111" fmla="*/ 247 h 378"/>
                <a:gd name="T112" fmla="*/ 84 w 393"/>
                <a:gd name="T113" fmla="*/ 304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93" h="378">
                  <a:moveTo>
                    <a:pt x="47" y="299"/>
                  </a:moveTo>
                  <a:lnTo>
                    <a:pt x="47" y="299"/>
                  </a:lnTo>
                  <a:lnTo>
                    <a:pt x="42" y="273"/>
                  </a:lnTo>
                  <a:lnTo>
                    <a:pt x="26" y="247"/>
                  </a:lnTo>
                  <a:lnTo>
                    <a:pt x="26" y="247"/>
                  </a:lnTo>
                  <a:lnTo>
                    <a:pt x="15" y="226"/>
                  </a:lnTo>
                  <a:lnTo>
                    <a:pt x="5" y="200"/>
                  </a:lnTo>
                  <a:lnTo>
                    <a:pt x="5" y="200"/>
                  </a:lnTo>
                  <a:lnTo>
                    <a:pt x="0" y="179"/>
                  </a:lnTo>
                  <a:lnTo>
                    <a:pt x="0" y="152"/>
                  </a:lnTo>
                  <a:lnTo>
                    <a:pt x="0" y="152"/>
                  </a:lnTo>
                  <a:lnTo>
                    <a:pt x="5" y="116"/>
                  </a:lnTo>
                  <a:lnTo>
                    <a:pt x="21" y="84"/>
                  </a:lnTo>
                  <a:lnTo>
                    <a:pt x="42" y="58"/>
                  </a:lnTo>
                  <a:lnTo>
                    <a:pt x="63" y="37"/>
                  </a:lnTo>
                  <a:lnTo>
                    <a:pt x="63" y="37"/>
                  </a:lnTo>
                  <a:lnTo>
                    <a:pt x="94" y="21"/>
                  </a:lnTo>
                  <a:lnTo>
                    <a:pt x="131" y="5"/>
                  </a:lnTo>
                  <a:lnTo>
                    <a:pt x="168" y="0"/>
                  </a:lnTo>
                  <a:lnTo>
                    <a:pt x="210" y="0"/>
                  </a:lnTo>
                  <a:lnTo>
                    <a:pt x="210" y="0"/>
                  </a:lnTo>
                  <a:lnTo>
                    <a:pt x="246" y="5"/>
                  </a:lnTo>
                  <a:lnTo>
                    <a:pt x="283" y="11"/>
                  </a:lnTo>
                  <a:lnTo>
                    <a:pt x="314" y="26"/>
                  </a:lnTo>
                  <a:lnTo>
                    <a:pt x="341" y="42"/>
                  </a:lnTo>
                  <a:lnTo>
                    <a:pt x="341" y="42"/>
                  </a:lnTo>
                  <a:lnTo>
                    <a:pt x="362" y="63"/>
                  </a:lnTo>
                  <a:lnTo>
                    <a:pt x="377" y="84"/>
                  </a:lnTo>
                  <a:lnTo>
                    <a:pt x="388" y="116"/>
                  </a:lnTo>
                  <a:lnTo>
                    <a:pt x="393" y="147"/>
                  </a:lnTo>
                  <a:lnTo>
                    <a:pt x="393" y="147"/>
                  </a:lnTo>
                  <a:lnTo>
                    <a:pt x="393" y="179"/>
                  </a:lnTo>
                  <a:lnTo>
                    <a:pt x="383" y="210"/>
                  </a:lnTo>
                  <a:lnTo>
                    <a:pt x="383" y="210"/>
                  </a:lnTo>
                  <a:lnTo>
                    <a:pt x="367" y="236"/>
                  </a:lnTo>
                  <a:lnTo>
                    <a:pt x="346" y="263"/>
                  </a:lnTo>
                  <a:lnTo>
                    <a:pt x="346" y="263"/>
                  </a:lnTo>
                  <a:lnTo>
                    <a:pt x="314" y="289"/>
                  </a:lnTo>
                  <a:lnTo>
                    <a:pt x="278" y="304"/>
                  </a:lnTo>
                  <a:lnTo>
                    <a:pt x="241" y="315"/>
                  </a:lnTo>
                  <a:lnTo>
                    <a:pt x="199" y="320"/>
                  </a:lnTo>
                  <a:lnTo>
                    <a:pt x="199" y="320"/>
                  </a:lnTo>
                  <a:lnTo>
                    <a:pt x="162" y="320"/>
                  </a:lnTo>
                  <a:lnTo>
                    <a:pt x="162" y="320"/>
                  </a:lnTo>
                  <a:lnTo>
                    <a:pt x="131" y="331"/>
                  </a:lnTo>
                  <a:lnTo>
                    <a:pt x="99" y="346"/>
                  </a:lnTo>
                  <a:lnTo>
                    <a:pt x="99" y="346"/>
                  </a:lnTo>
                  <a:lnTo>
                    <a:pt x="57" y="373"/>
                  </a:lnTo>
                  <a:lnTo>
                    <a:pt x="36" y="378"/>
                  </a:lnTo>
                  <a:lnTo>
                    <a:pt x="15" y="378"/>
                  </a:lnTo>
                  <a:lnTo>
                    <a:pt x="15" y="378"/>
                  </a:lnTo>
                  <a:lnTo>
                    <a:pt x="36" y="341"/>
                  </a:lnTo>
                  <a:lnTo>
                    <a:pt x="42" y="320"/>
                  </a:lnTo>
                  <a:lnTo>
                    <a:pt x="47" y="299"/>
                  </a:lnTo>
                  <a:lnTo>
                    <a:pt x="47" y="299"/>
                  </a:lnTo>
                  <a:close/>
                  <a:moveTo>
                    <a:pt x="199" y="126"/>
                  </a:moveTo>
                  <a:lnTo>
                    <a:pt x="199" y="126"/>
                  </a:lnTo>
                  <a:lnTo>
                    <a:pt x="189" y="131"/>
                  </a:lnTo>
                  <a:lnTo>
                    <a:pt x="183" y="137"/>
                  </a:lnTo>
                  <a:lnTo>
                    <a:pt x="178" y="147"/>
                  </a:lnTo>
                  <a:lnTo>
                    <a:pt x="173" y="152"/>
                  </a:lnTo>
                  <a:lnTo>
                    <a:pt x="173" y="152"/>
                  </a:lnTo>
                  <a:lnTo>
                    <a:pt x="178" y="163"/>
                  </a:lnTo>
                  <a:lnTo>
                    <a:pt x="183" y="173"/>
                  </a:lnTo>
                  <a:lnTo>
                    <a:pt x="189" y="179"/>
                  </a:lnTo>
                  <a:lnTo>
                    <a:pt x="199" y="184"/>
                  </a:lnTo>
                  <a:lnTo>
                    <a:pt x="199" y="184"/>
                  </a:lnTo>
                  <a:lnTo>
                    <a:pt x="210" y="179"/>
                  </a:lnTo>
                  <a:lnTo>
                    <a:pt x="220" y="173"/>
                  </a:lnTo>
                  <a:lnTo>
                    <a:pt x="225" y="163"/>
                  </a:lnTo>
                  <a:lnTo>
                    <a:pt x="225" y="152"/>
                  </a:lnTo>
                  <a:lnTo>
                    <a:pt x="225" y="152"/>
                  </a:lnTo>
                  <a:lnTo>
                    <a:pt x="225" y="147"/>
                  </a:lnTo>
                  <a:lnTo>
                    <a:pt x="220" y="137"/>
                  </a:lnTo>
                  <a:lnTo>
                    <a:pt x="210" y="131"/>
                  </a:lnTo>
                  <a:lnTo>
                    <a:pt x="199" y="126"/>
                  </a:lnTo>
                  <a:lnTo>
                    <a:pt x="199" y="126"/>
                  </a:lnTo>
                  <a:close/>
                  <a:moveTo>
                    <a:pt x="126" y="126"/>
                  </a:moveTo>
                  <a:lnTo>
                    <a:pt x="126" y="126"/>
                  </a:lnTo>
                  <a:lnTo>
                    <a:pt x="115" y="131"/>
                  </a:lnTo>
                  <a:lnTo>
                    <a:pt x="105" y="137"/>
                  </a:lnTo>
                  <a:lnTo>
                    <a:pt x="99" y="147"/>
                  </a:lnTo>
                  <a:lnTo>
                    <a:pt x="99" y="152"/>
                  </a:lnTo>
                  <a:lnTo>
                    <a:pt x="99" y="152"/>
                  </a:lnTo>
                  <a:lnTo>
                    <a:pt x="99" y="163"/>
                  </a:lnTo>
                  <a:lnTo>
                    <a:pt x="105" y="173"/>
                  </a:lnTo>
                  <a:lnTo>
                    <a:pt x="115" y="179"/>
                  </a:lnTo>
                  <a:lnTo>
                    <a:pt x="126" y="184"/>
                  </a:lnTo>
                  <a:lnTo>
                    <a:pt x="126" y="184"/>
                  </a:lnTo>
                  <a:lnTo>
                    <a:pt x="136" y="179"/>
                  </a:lnTo>
                  <a:lnTo>
                    <a:pt x="141" y="173"/>
                  </a:lnTo>
                  <a:lnTo>
                    <a:pt x="152" y="163"/>
                  </a:lnTo>
                  <a:lnTo>
                    <a:pt x="152" y="152"/>
                  </a:lnTo>
                  <a:lnTo>
                    <a:pt x="152" y="152"/>
                  </a:lnTo>
                  <a:lnTo>
                    <a:pt x="152" y="147"/>
                  </a:lnTo>
                  <a:lnTo>
                    <a:pt x="141" y="137"/>
                  </a:lnTo>
                  <a:lnTo>
                    <a:pt x="136" y="131"/>
                  </a:lnTo>
                  <a:lnTo>
                    <a:pt x="126" y="126"/>
                  </a:lnTo>
                  <a:lnTo>
                    <a:pt x="126" y="126"/>
                  </a:lnTo>
                  <a:close/>
                  <a:moveTo>
                    <a:pt x="278" y="126"/>
                  </a:moveTo>
                  <a:lnTo>
                    <a:pt x="278" y="126"/>
                  </a:lnTo>
                  <a:lnTo>
                    <a:pt x="267" y="131"/>
                  </a:lnTo>
                  <a:lnTo>
                    <a:pt x="257" y="137"/>
                  </a:lnTo>
                  <a:lnTo>
                    <a:pt x="252" y="147"/>
                  </a:lnTo>
                  <a:lnTo>
                    <a:pt x="246" y="152"/>
                  </a:lnTo>
                  <a:lnTo>
                    <a:pt x="246" y="152"/>
                  </a:lnTo>
                  <a:lnTo>
                    <a:pt x="252" y="163"/>
                  </a:lnTo>
                  <a:lnTo>
                    <a:pt x="257" y="173"/>
                  </a:lnTo>
                  <a:lnTo>
                    <a:pt x="267" y="179"/>
                  </a:lnTo>
                  <a:lnTo>
                    <a:pt x="278" y="184"/>
                  </a:lnTo>
                  <a:lnTo>
                    <a:pt x="278" y="184"/>
                  </a:lnTo>
                  <a:lnTo>
                    <a:pt x="288" y="179"/>
                  </a:lnTo>
                  <a:lnTo>
                    <a:pt x="293" y="173"/>
                  </a:lnTo>
                  <a:lnTo>
                    <a:pt x="299" y="163"/>
                  </a:lnTo>
                  <a:lnTo>
                    <a:pt x="304" y="152"/>
                  </a:lnTo>
                  <a:lnTo>
                    <a:pt x="304" y="152"/>
                  </a:lnTo>
                  <a:lnTo>
                    <a:pt x="299" y="147"/>
                  </a:lnTo>
                  <a:lnTo>
                    <a:pt x="293" y="137"/>
                  </a:lnTo>
                  <a:lnTo>
                    <a:pt x="288" y="131"/>
                  </a:lnTo>
                  <a:lnTo>
                    <a:pt x="278" y="126"/>
                  </a:lnTo>
                  <a:lnTo>
                    <a:pt x="278" y="126"/>
                  </a:lnTo>
                  <a:close/>
                  <a:moveTo>
                    <a:pt x="84" y="304"/>
                  </a:moveTo>
                  <a:lnTo>
                    <a:pt x="84" y="304"/>
                  </a:lnTo>
                  <a:lnTo>
                    <a:pt x="78" y="315"/>
                  </a:lnTo>
                  <a:lnTo>
                    <a:pt x="78" y="315"/>
                  </a:lnTo>
                  <a:lnTo>
                    <a:pt x="115" y="299"/>
                  </a:lnTo>
                  <a:lnTo>
                    <a:pt x="157" y="289"/>
                  </a:lnTo>
                  <a:lnTo>
                    <a:pt x="157" y="289"/>
                  </a:lnTo>
                  <a:lnTo>
                    <a:pt x="199" y="283"/>
                  </a:lnTo>
                  <a:lnTo>
                    <a:pt x="199" y="283"/>
                  </a:lnTo>
                  <a:lnTo>
                    <a:pt x="231" y="278"/>
                  </a:lnTo>
                  <a:lnTo>
                    <a:pt x="262" y="273"/>
                  </a:lnTo>
                  <a:lnTo>
                    <a:pt x="293" y="257"/>
                  </a:lnTo>
                  <a:lnTo>
                    <a:pt x="325" y="242"/>
                  </a:lnTo>
                  <a:lnTo>
                    <a:pt x="325" y="242"/>
                  </a:lnTo>
                  <a:lnTo>
                    <a:pt x="341" y="221"/>
                  </a:lnTo>
                  <a:lnTo>
                    <a:pt x="351" y="194"/>
                  </a:lnTo>
                  <a:lnTo>
                    <a:pt x="351" y="194"/>
                  </a:lnTo>
                  <a:lnTo>
                    <a:pt x="362" y="173"/>
                  </a:lnTo>
                  <a:lnTo>
                    <a:pt x="362" y="147"/>
                  </a:lnTo>
                  <a:lnTo>
                    <a:pt x="362" y="147"/>
                  </a:lnTo>
                  <a:lnTo>
                    <a:pt x="356" y="126"/>
                  </a:lnTo>
                  <a:lnTo>
                    <a:pt x="346" y="105"/>
                  </a:lnTo>
                  <a:lnTo>
                    <a:pt x="335" y="84"/>
                  </a:lnTo>
                  <a:lnTo>
                    <a:pt x="320" y="68"/>
                  </a:lnTo>
                  <a:lnTo>
                    <a:pt x="320" y="68"/>
                  </a:lnTo>
                  <a:lnTo>
                    <a:pt x="299" y="53"/>
                  </a:lnTo>
                  <a:lnTo>
                    <a:pt x="272" y="42"/>
                  </a:lnTo>
                  <a:lnTo>
                    <a:pt x="241" y="37"/>
                  </a:lnTo>
                  <a:lnTo>
                    <a:pt x="210" y="32"/>
                  </a:lnTo>
                  <a:lnTo>
                    <a:pt x="210" y="32"/>
                  </a:lnTo>
                  <a:lnTo>
                    <a:pt x="173" y="37"/>
                  </a:lnTo>
                  <a:lnTo>
                    <a:pt x="141" y="42"/>
                  </a:lnTo>
                  <a:lnTo>
                    <a:pt x="110" y="53"/>
                  </a:lnTo>
                  <a:lnTo>
                    <a:pt x="84" y="68"/>
                  </a:lnTo>
                  <a:lnTo>
                    <a:pt x="84" y="68"/>
                  </a:lnTo>
                  <a:lnTo>
                    <a:pt x="63" y="84"/>
                  </a:lnTo>
                  <a:lnTo>
                    <a:pt x="52" y="105"/>
                  </a:lnTo>
                  <a:lnTo>
                    <a:pt x="42" y="126"/>
                  </a:lnTo>
                  <a:lnTo>
                    <a:pt x="36" y="152"/>
                  </a:lnTo>
                  <a:lnTo>
                    <a:pt x="36" y="152"/>
                  </a:lnTo>
                  <a:lnTo>
                    <a:pt x="36" y="173"/>
                  </a:lnTo>
                  <a:lnTo>
                    <a:pt x="36" y="189"/>
                  </a:lnTo>
                  <a:lnTo>
                    <a:pt x="36" y="189"/>
                  </a:lnTo>
                  <a:lnTo>
                    <a:pt x="47" y="210"/>
                  </a:lnTo>
                  <a:lnTo>
                    <a:pt x="57" y="226"/>
                  </a:lnTo>
                  <a:lnTo>
                    <a:pt x="57" y="226"/>
                  </a:lnTo>
                  <a:lnTo>
                    <a:pt x="68" y="247"/>
                  </a:lnTo>
                  <a:lnTo>
                    <a:pt x="78" y="268"/>
                  </a:lnTo>
                  <a:lnTo>
                    <a:pt x="78" y="283"/>
                  </a:lnTo>
                  <a:lnTo>
                    <a:pt x="84" y="304"/>
                  </a:lnTo>
                  <a:lnTo>
                    <a:pt x="84" y="3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grpSp>
      <p:cxnSp>
        <p:nvCxnSpPr>
          <p:cNvPr id="75" name="Straight Arrow Connector 74">
            <a:extLst>
              <a:ext uri="{FF2B5EF4-FFF2-40B4-BE49-F238E27FC236}">
                <a16:creationId xmlns:a16="http://schemas.microsoft.com/office/drawing/2014/main" id="{85C80D66-B22C-464F-84F3-5D96D98830AD}"/>
              </a:ext>
            </a:extLst>
          </p:cNvPr>
          <p:cNvCxnSpPr/>
          <p:nvPr/>
        </p:nvCxnSpPr>
        <p:spPr>
          <a:xfrm flipV="1">
            <a:off x="8982277" y="2383128"/>
            <a:ext cx="538480" cy="0"/>
          </a:xfrm>
          <a:prstGeom prst="straightConnector1">
            <a:avLst/>
          </a:prstGeom>
          <a:noFill/>
          <a:ln w="9525" cap="flat" cmpd="sng" algn="ctr">
            <a:solidFill>
              <a:srgbClr val="44546A"/>
            </a:solidFill>
            <a:prstDash val="solid"/>
            <a:tailEnd type="triangle"/>
          </a:ln>
          <a:effectLst/>
        </p:spPr>
      </p:cxnSp>
      <p:cxnSp>
        <p:nvCxnSpPr>
          <p:cNvPr id="76" name="Straight Arrow Connector 75">
            <a:extLst>
              <a:ext uri="{FF2B5EF4-FFF2-40B4-BE49-F238E27FC236}">
                <a16:creationId xmlns:a16="http://schemas.microsoft.com/office/drawing/2014/main" id="{794AB89A-B87D-469F-B08D-4D59C07800B3}"/>
              </a:ext>
            </a:extLst>
          </p:cNvPr>
          <p:cNvCxnSpPr/>
          <p:nvPr/>
        </p:nvCxnSpPr>
        <p:spPr>
          <a:xfrm flipH="1">
            <a:off x="9955889" y="2372540"/>
            <a:ext cx="589280" cy="0"/>
          </a:xfrm>
          <a:prstGeom prst="straightConnector1">
            <a:avLst/>
          </a:prstGeom>
          <a:noFill/>
          <a:ln w="9525" cap="flat" cmpd="sng" algn="ctr">
            <a:solidFill>
              <a:srgbClr val="44546A"/>
            </a:solidFill>
            <a:prstDash val="solid"/>
            <a:tailEnd type="triangle"/>
          </a:ln>
          <a:effectLst/>
        </p:spPr>
      </p:cxnSp>
      <p:grpSp>
        <p:nvGrpSpPr>
          <p:cNvPr id="77" name="Group 76">
            <a:extLst>
              <a:ext uri="{FF2B5EF4-FFF2-40B4-BE49-F238E27FC236}">
                <a16:creationId xmlns:a16="http://schemas.microsoft.com/office/drawing/2014/main" id="{8A2D0C24-BA2C-4987-89EE-FA766A5DBB3D}"/>
              </a:ext>
            </a:extLst>
          </p:cNvPr>
          <p:cNvGrpSpPr/>
          <p:nvPr/>
        </p:nvGrpSpPr>
        <p:grpSpPr>
          <a:xfrm>
            <a:off x="8978394" y="3958187"/>
            <a:ext cx="1123626" cy="655246"/>
            <a:chOff x="1871493" y="3227147"/>
            <a:chExt cx="1123626" cy="655246"/>
          </a:xfrm>
        </p:grpSpPr>
        <p:sp>
          <p:nvSpPr>
            <p:cNvPr id="78" name="Freeform 73">
              <a:extLst>
                <a:ext uri="{FF2B5EF4-FFF2-40B4-BE49-F238E27FC236}">
                  <a16:creationId xmlns:a16="http://schemas.microsoft.com/office/drawing/2014/main" id="{A461142D-0C08-4F7C-AAE3-4DB1AFC3DF85}"/>
                </a:ext>
              </a:extLst>
            </p:cNvPr>
            <p:cNvSpPr>
              <a:spLocks/>
            </p:cNvSpPr>
            <p:nvPr/>
          </p:nvSpPr>
          <p:spPr bwMode="auto">
            <a:xfrm>
              <a:off x="2152521" y="3227147"/>
              <a:ext cx="107825" cy="107825"/>
            </a:xfrm>
            <a:custGeom>
              <a:avLst/>
              <a:gdLst>
                <a:gd name="T0" fmla="*/ 443 w 443"/>
                <a:gd name="T1" fmla="*/ 222 h 443"/>
                <a:gd name="T2" fmla="*/ 439 w 443"/>
                <a:gd name="T3" fmla="*/ 177 h 443"/>
                <a:gd name="T4" fmla="*/ 425 w 443"/>
                <a:gd name="T5" fmla="*/ 136 h 443"/>
                <a:gd name="T6" fmla="*/ 404 w 443"/>
                <a:gd name="T7" fmla="*/ 98 h 443"/>
                <a:gd name="T8" fmla="*/ 378 w 443"/>
                <a:gd name="T9" fmla="*/ 65 h 443"/>
                <a:gd name="T10" fmla="*/ 346 w 443"/>
                <a:gd name="T11" fmla="*/ 38 h 443"/>
                <a:gd name="T12" fmla="*/ 308 w 443"/>
                <a:gd name="T13" fmla="*/ 18 h 443"/>
                <a:gd name="T14" fmla="*/ 266 w 443"/>
                <a:gd name="T15" fmla="*/ 5 h 443"/>
                <a:gd name="T16" fmla="*/ 222 w 443"/>
                <a:gd name="T17" fmla="*/ 0 h 443"/>
                <a:gd name="T18" fmla="*/ 198 w 443"/>
                <a:gd name="T19" fmla="*/ 1 h 443"/>
                <a:gd name="T20" fmla="*/ 155 w 443"/>
                <a:gd name="T21" fmla="*/ 10 h 443"/>
                <a:gd name="T22" fmla="*/ 116 w 443"/>
                <a:gd name="T23" fmla="*/ 27 h 443"/>
                <a:gd name="T24" fmla="*/ 81 w 443"/>
                <a:gd name="T25" fmla="*/ 51 h 443"/>
                <a:gd name="T26" fmla="*/ 50 w 443"/>
                <a:gd name="T27" fmla="*/ 81 h 443"/>
                <a:gd name="T28" fmla="*/ 27 w 443"/>
                <a:gd name="T29" fmla="*/ 116 h 443"/>
                <a:gd name="T30" fmla="*/ 9 w 443"/>
                <a:gd name="T31" fmla="*/ 156 h 443"/>
                <a:gd name="T32" fmla="*/ 1 w 443"/>
                <a:gd name="T33" fmla="*/ 199 h 443"/>
                <a:gd name="T34" fmla="*/ 0 w 443"/>
                <a:gd name="T35" fmla="*/ 222 h 443"/>
                <a:gd name="T36" fmla="*/ 5 w 443"/>
                <a:gd name="T37" fmla="*/ 266 h 443"/>
                <a:gd name="T38" fmla="*/ 17 w 443"/>
                <a:gd name="T39" fmla="*/ 308 h 443"/>
                <a:gd name="T40" fmla="*/ 38 w 443"/>
                <a:gd name="T41" fmla="*/ 346 h 443"/>
                <a:gd name="T42" fmla="*/ 65 w 443"/>
                <a:gd name="T43" fmla="*/ 378 h 443"/>
                <a:gd name="T44" fmla="*/ 98 w 443"/>
                <a:gd name="T45" fmla="*/ 406 h 443"/>
                <a:gd name="T46" fmla="*/ 136 w 443"/>
                <a:gd name="T47" fmla="*/ 426 h 443"/>
                <a:gd name="T48" fmla="*/ 176 w 443"/>
                <a:gd name="T49" fmla="*/ 439 h 443"/>
                <a:gd name="T50" fmla="*/ 222 w 443"/>
                <a:gd name="T51" fmla="*/ 443 h 443"/>
                <a:gd name="T52" fmla="*/ 244 w 443"/>
                <a:gd name="T53" fmla="*/ 442 h 443"/>
                <a:gd name="T54" fmla="*/ 287 w 443"/>
                <a:gd name="T55" fmla="*/ 433 h 443"/>
                <a:gd name="T56" fmla="*/ 327 w 443"/>
                <a:gd name="T57" fmla="*/ 417 h 443"/>
                <a:gd name="T58" fmla="*/ 363 w 443"/>
                <a:gd name="T59" fmla="*/ 393 h 443"/>
                <a:gd name="T60" fmla="*/ 392 w 443"/>
                <a:gd name="T61" fmla="*/ 363 h 443"/>
                <a:gd name="T62" fmla="*/ 416 w 443"/>
                <a:gd name="T63" fmla="*/ 328 h 443"/>
                <a:gd name="T64" fmla="*/ 433 w 443"/>
                <a:gd name="T65" fmla="*/ 288 h 443"/>
                <a:gd name="T66" fmla="*/ 441 w 443"/>
                <a:gd name="T67" fmla="*/ 244 h 443"/>
                <a:gd name="T68" fmla="*/ 443 w 443"/>
                <a:gd name="T69" fmla="*/ 222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43" h="443">
                  <a:moveTo>
                    <a:pt x="443" y="222"/>
                  </a:moveTo>
                  <a:lnTo>
                    <a:pt x="443" y="222"/>
                  </a:lnTo>
                  <a:lnTo>
                    <a:pt x="441" y="199"/>
                  </a:lnTo>
                  <a:lnTo>
                    <a:pt x="439" y="177"/>
                  </a:lnTo>
                  <a:lnTo>
                    <a:pt x="433" y="156"/>
                  </a:lnTo>
                  <a:lnTo>
                    <a:pt x="425" y="136"/>
                  </a:lnTo>
                  <a:lnTo>
                    <a:pt x="416" y="116"/>
                  </a:lnTo>
                  <a:lnTo>
                    <a:pt x="404" y="98"/>
                  </a:lnTo>
                  <a:lnTo>
                    <a:pt x="392" y="81"/>
                  </a:lnTo>
                  <a:lnTo>
                    <a:pt x="378" y="65"/>
                  </a:lnTo>
                  <a:lnTo>
                    <a:pt x="363" y="51"/>
                  </a:lnTo>
                  <a:lnTo>
                    <a:pt x="346" y="38"/>
                  </a:lnTo>
                  <a:lnTo>
                    <a:pt x="327" y="27"/>
                  </a:lnTo>
                  <a:lnTo>
                    <a:pt x="308" y="18"/>
                  </a:lnTo>
                  <a:lnTo>
                    <a:pt x="287" y="10"/>
                  </a:lnTo>
                  <a:lnTo>
                    <a:pt x="266" y="5"/>
                  </a:lnTo>
                  <a:lnTo>
                    <a:pt x="244" y="1"/>
                  </a:lnTo>
                  <a:lnTo>
                    <a:pt x="222" y="0"/>
                  </a:lnTo>
                  <a:lnTo>
                    <a:pt x="222" y="0"/>
                  </a:lnTo>
                  <a:lnTo>
                    <a:pt x="198" y="1"/>
                  </a:lnTo>
                  <a:lnTo>
                    <a:pt x="176" y="5"/>
                  </a:lnTo>
                  <a:lnTo>
                    <a:pt x="155" y="10"/>
                  </a:lnTo>
                  <a:lnTo>
                    <a:pt x="136" y="18"/>
                  </a:lnTo>
                  <a:lnTo>
                    <a:pt x="116" y="27"/>
                  </a:lnTo>
                  <a:lnTo>
                    <a:pt x="98" y="38"/>
                  </a:lnTo>
                  <a:lnTo>
                    <a:pt x="81" y="51"/>
                  </a:lnTo>
                  <a:lnTo>
                    <a:pt x="65" y="65"/>
                  </a:lnTo>
                  <a:lnTo>
                    <a:pt x="50" y="81"/>
                  </a:lnTo>
                  <a:lnTo>
                    <a:pt x="38" y="98"/>
                  </a:lnTo>
                  <a:lnTo>
                    <a:pt x="27" y="116"/>
                  </a:lnTo>
                  <a:lnTo>
                    <a:pt x="17" y="136"/>
                  </a:lnTo>
                  <a:lnTo>
                    <a:pt x="9" y="156"/>
                  </a:lnTo>
                  <a:lnTo>
                    <a:pt x="5" y="177"/>
                  </a:lnTo>
                  <a:lnTo>
                    <a:pt x="1" y="199"/>
                  </a:lnTo>
                  <a:lnTo>
                    <a:pt x="0" y="222"/>
                  </a:lnTo>
                  <a:lnTo>
                    <a:pt x="0" y="222"/>
                  </a:lnTo>
                  <a:lnTo>
                    <a:pt x="1" y="244"/>
                  </a:lnTo>
                  <a:lnTo>
                    <a:pt x="5" y="266"/>
                  </a:lnTo>
                  <a:lnTo>
                    <a:pt x="9" y="288"/>
                  </a:lnTo>
                  <a:lnTo>
                    <a:pt x="17" y="308"/>
                  </a:lnTo>
                  <a:lnTo>
                    <a:pt x="27" y="328"/>
                  </a:lnTo>
                  <a:lnTo>
                    <a:pt x="38" y="346"/>
                  </a:lnTo>
                  <a:lnTo>
                    <a:pt x="50" y="363"/>
                  </a:lnTo>
                  <a:lnTo>
                    <a:pt x="65" y="378"/>
                  </a:lnTo>
                  <a:lnTo>
                    <a:pt x="81" y="393"/>
                  </a:lnTo>
                  <a:lnTo>
                    <a:pt x="98" y="406"/>
                  </a:lnTo>
                  <a:lnTo>
                    <a:pt x="116" y="417"/>
                  </a:lnTo>
                  <a:lnTo>
                    <a:pt x="136" y="426"/>
                  </a:lnTo>
                  <a:lnTo>
                    <a:pt x="155" y="433"/>
                  </a:lnTo>
                  <a:lnTo>
                    <a:pt x="176" y="439"/>
                  </a:lnTo>
                  <a:lnTo>
                    <a:pt x="198" y="442"/>
                  </a:lnTo>
                  <a:lnTo>
                    <a:pt x="222" y="443"/>
                  </a:lnTo>
                  <a:lnTo>
                    <a:pt x="222" y="443"/>
                  </a:lnTo>
                  <a:lnTo>
                    <a:pt x="244" y="442"/>
                  </a:lnTo>
                  <a:lnTo>
                    <a:pt x="266" y="439"/>
                  </a:lnTo>
                  <a:lnTo>
                    <a:pt x="287" y="433"/>
                  </a:lnTo>
                  <a:lnTo>
                    <a:pt x="308" y="426"/>
                  </a:lnTo>
                  <a:lnTo>
                    <a:pt x="327" y="417"/>
                  </a:lnTo>
                  <a:lnTo>
                    <a:pt x="346" y="406"/>
                  </a:lnTo>
                  <a:lnTo>
                    <a:pt x="363" y="393"/>
                  </a:lnTo>
                  <a:lnTo>
                    <a:pt x="378" y="378"/>
                  </a:lnTo>
                  <a:lnTo>
                    <a:pt x="392" y="363"/>
                  </a:lnTo>
                  <a:lnTo>
                    <a:pt x="404" y="346"/>
                  </a:lnTo>
                  <a:lnTo>
                    <a:pt x="416" y="328"/>
                  </a:lnTo>
                  <a:lnTo>
                    <a:pt x="425" y="308"/>
                  </a:lnTo>
                  <a:lnTo>
                    <a:pt x="433" y="288"/>
                  </a:lnTo>
                  <a:lnTo>
                    <a:pt x="439" y="266"/>
                  </a:lnTo>
                  <a:lnTo>
                    <a:pt x="441" y="244"/>
                  </a:lnTo>
                  <a:lnTo>
                    <a:pt x="443" y="222"/>
                  </a:lnTo>
                  <a:lnTo>
                    <a:pt x="443" y="222"/>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79" name="Freeform 74">
              <a:extLst>
                <a:ext uri="{FF2B5EF4-FFF2-40B4-BE49-F238E27FC236}">
                  <a16:creationId xmlns:a16="http://schemas.microsoft.com/office/drawing/2014/main" id="{A32384E5-DFB6-428C-AF87-6472D420AFA8}"/>
                </a:ext>
              </a:extLst>
            </p:cNvPr>
            <p:cNvSpPr>
              <a:spLocks/>
            </p:cNvSpPr>
            <p:nvPr/>
          </p:nvSpPr>
          <p:spPr bwMode="auto">
            <a:xfrm>
              <a:off x="2102268" y="3339852"/>
              <a:ext cx="208332" cy="109777"/>
            </a:xfrm>
            <a:custGeom>
              <a:avLst/>
              <a:gdLst>
                <a:gd name="T0" fmla="*/ 855 w 855"/>
                <a:gd name="T1" fmla="*/ 380 h 451"/>
                <a:gd name="T2" fmla="*/ 855 w 855"/>
                <a:gd name="T3" fmla="*/ 240 h 451"/>
                <a:gd name="T4" fmla="*/ 855 w 855"/>
                <a:gd name="T5" fmla="*/ 124 h 451"/>
                <a:gd name="T6" fmla="*/ 855 w 855"/>
                <a:gd name="T7" fmla="*/ 124 h 451"/>
                <a:gd name="T8" fmla="*/ 853 w 855"/>
                <a:gd name="T9" fmla="*/ 112 h 451"/>
                <a:gd name="T10" fmla="*/ 851 w 855"/>
                <a:gd name="T11" fmla="*/ 100 h 451"/>
                <a:gd name="T12" fmla="*/ 848 w 855"/>
                <a:gd name="T13" fmla="*/ 88 h 451"/>
                <a:gd name="T14" fmla="*/ 845 w 855"/>
                <a:gd name="T15" fmla="*/ 77 h 451"/>
                <a:gd name="T16" fmla="*/ 839 w 855"/>
                <a:gd name="T17" fmla="*/ 65 h 451"/>
                <a:gd name="T18" fmla="*/ 833 w 855"/>
                <a:gd name="T19" fmla="*/ 56 h 451"/>
                <a:gd name="T20" fmla="*/ 825 w 855"/>
                <a:gd name="T21" fmla="*/ 46 h 451"/>
                <a:gd name="T22" fmla="*/ 818 w 855"/>
                <a:gd name="T23" fmla="*/ 37 h 451"/>
                <a:gd name="T24" fmla="*/ 809 w 855"/>
                <a:gd name="T25" fmla="*/ 29 h 451"/>
                <a:gd name="T26" fmla="*/ 799 w 855"/>
                <a:gd name="T27" fmla="*/ 21 h 451"/>
                <a:gd name="T28" fmla="*/ 788 w 855"/>
                <a:gd name="T29" fmla="*/ 15 h 451"/>
                <a:gd name="T30" fmla="*/ 779 w 855"/>
                <a:gd name="T31" fmla="*/ 10 h 451"/>
                <a:gd name="T32" fmla="*/ 766 w 855"/>
                <a:gd name="T33" fmla="*/ 5 h 451"/>
                <a:gd name="T34" fmla="*/ 754 w 855"/>
                <a:gd name="T35" fmla="*/ 3 h 451"/>
                <a:gd name="T36" fmla="*/ 742 w 855"/>
                <a:gd name="T37" fmla="*/ 0 h 451"/>
                <a:gd name="T38" fmla="*/ 729 w 855"/>
                <a:gd name="T39" fmla="*/ 0 h 451"/>
                <a:gd name="T40" fmla="*/ 729 w 855"/>
                <a:gd name="T41" fmla="*/ 0 h 451"/>
                <a:gd name="T42" fmla="*/ 729 w 855"/>
                <a:gd name="T43" fmla="*/ 0 h 451"/>
                <a:gd name="T44" fmla="*/ 729 w 855"/>
                <a:gd name="T45" fmla="*/ 0 h 451"/>
                <a:gd name="T46" fmla="*/ 595 w 855"/>
                <a:gd name="T47" fmla="*/ 0 h 451"/>
                <a:gd name="T48" fmla="*/ 511 w 855"/>
                <a:gd name="T49" fmla="*/ 135 h 451"/>
                <a:gd name="T50" fmla="*/ 456 w 855"/>
                <a:gd name="T51" fmla="*/ 46 h 451"/>
                <a:gd name="T52" fmla="*/ 426 w 855"/>
                <a:gd name="T53" fmla="*/ 0 h 451"/>
                <a:gd name="T54" fmla="*/ 426 w 855"/>
                <a:gd name="T55" fmla="*/ 0 h 451"/>
                <a:gd name="T56" fmla="*/ 398 w 855"/>
                <a:gd name="T57" fmla="*/ 46 h 451"/>
                <a:gd name="T58" fmla="*/ 343 w 855"/>
                <a:gd name="T59" fmla="*/ 135 h 451"/>
                <a:gd name="T60" fmla="*/ 258 w 855"/>
                <a:gd name="T61" fmla="*/ 0 h 451"/>
                <a:gd name="T62" fmla="*/ 126 w 855"/>
                <a:gd name="T63" fmla="*/ 0 h 451"/>
                <a:gd name="T64" fmla="*/ 126 w 855"/>
                <a:gd name="T65" fmla="*/ 0 h 451"/>
                <a:gd name="T66" fmla="*/ 126 w 855"/>
                <a:gd name="T67" fmla="*/ 0 h 451"/>
                <a:gd name="T68" fmla="*/ 125 w 855"/>
                <a:gd name="T69" fmla="*/ 0 h 451"/>
                <a:gd name="T70" fmla="*/ 125 w 855"/>
                <a:gd name="T71" fmla="*/ 0 h 451"/>
                <a:gd name="T72" fmla="*/ 112 w 855"/>
                <a:gd name="T73" fmla="*/ 0 h 451"/>
                <a:gd name="T74" fmla="*/ 99 w 855"/>
                <a:gd name="T75" fmla="*/ 3 h 451"/>
                <a:gd name="T76" fmla="*/ 88 w 855"/>
                <a:gd name="T77" fmla="*/ 5 h 451"/>
                <a:gd name="T78" fmla="*/ 76 w 855"/>
                <a:gd name="T79" fmla="*/ 10 h 451"/>
                <a:gd name="T80" fmla="*/ 66 w 855"/>
                <a:gd name="T81" fmla="*/ 15 h 451"/>
                <a:gd name="T82" fmla="*/ 55 w 855"/>
                <a:gd name="T83" fmla="*/ 21 h 451"/>
                <a:gd name="T84" fmla="*/ 45 w 855"/>
                <a:gd name="T85" fmla="*/ 29 h 451"/>
                <a:gd name="T86" fmla="*/ 36 w 855"/>
                <a:gd name="T87" fmla="*/ 37 h 451"/>
                <a:gd name="T88" fmla="*/ 29 w 855"/>
                <a:gd name="T89" fmla="*/ 46 h 451"/>
                <a:gd name="T90" fmla="*/ 22 w 855"/>
                <a:gd name="T91" fmla="*/ 56 h 451"/>
                <a:gd name="T92" fmla="*/ 15 w 855"/>
                <a:gd name="T93" fmla="*/ 65 h 451"/>
                <a:gd name="T94" fmla="*/ 9 w 855"/>
                <a:gd name="T95" fmla="*/ 77 h 451"/>
                <a:gd name="T96" fmla="*/ 6 w 855"/>
                <a:gd name="T97" fmla="*/ 88 h 451"/>
                <a:gd name="T98" fmla="*/ 2 w 855"/>
                <a:gd name="T99" fmla="*/ 100 h 451"/>
                <a:gd name="T100" fmla="*/ 1 w 855"/>
                <a:gd name="T101" fmla="*/ 112 h 451"/>
                <a:gd name="T102" fmla="*/ 0 w 855"/>
                <a:gd name="T103" fmla="*/ 124 h 451"/>
                <a:gd name="T104" fmla="*/ 0 w 855"/>
                <a:gd name="T105" fmla="*/ 240 h 451"/>
                <a:gd name="T106" fmla="*/ 0 w 855"/>
                <a:gd name="T107" fmla="*/ 380 h 451"/>
                <a:gd name="T108" fmla="*/ 0 w 855"/>
                <a:gd name="T109" fmla="*/ 451 h 451"/>
                <a:gd name="T110" fmla="*/ 855 w 855"/>
                <a:gd name="T111" fmla="*/ 451 h 451"/>
                <a:gd name="T112" fmla="*/ 855 w 855"/>
                <a:gd name="T113" fmla="*/ 380 h 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55" h="451">
                  <a:moveTo>
                    <a:pt x="855" y="380"/>
                  </a:moveTo>
                  <a:lnTo>
                    <a:pt x="855" y="240"/>
                  </a:lnTo>
                  <a:lnTo>
                    <a:pt x="855" y="124"/>
                  </a:lnTo>
                  <a:lnTo>
                    <a:pt x="855" y="124"/>
                  </a:lnTo>
                  <a:lnTo>
                    <a:pt x="853" y="112"/>
                  </a:lnTo>
                  <a:lnTo>
                    <a:pt x="851" y="100"/>
                  </a:lnTo>
                  <a:lnTo>
                    <a:pt x="848" y="88"/>
                  </a:lnTo>
                  <a:lnTo>
                    <a:pt x="845" y="77"/>
                  </a:lnTo>
                  <a:lnTo>
                    <a:pt x="839" y="65"/>
                  </a:lnTo>
                  <a:lnTo>
                    <a:pt x="833" y="56"/>
                  </a:lnTo>
                  <a:lnTo>
                    <a:pt x="825" y="46"/>
                  </a:lnTo>
                  <a:lnTo>
                    <a:pt x="818" y="37"/>
                  </a:lnTo>
                  <a:lnTo>
                    <a:pt x="809" y="29"/>
                  </a:lnTo>
                  <a:lnTo>
                    <a:pt x="799" y="21"/>
                  </a:lnTo>
                  <a:lnTo>
                    <a:pt x="788" y="15"/>
                  </a:lnTo>
                  <a:lnTo>
                    <a:pt x="779" y="10"/>
                  </a:lnTo>
                  <a:lnTo>
                    <a:pt x="766" y="5"/>
                  </a:lnTo>
                  <a:lnTo>
                    <a:pt x="754" y="3"/>
                  </a:lnTo>
                  <a:lnTo>
                    <a:pt x="742" y="0"/>
                  </a:lnTo>
                  <a:lnTo>
                    <a:pt x="729" y="0"/>
                  </a:lnTo>
                  <a:lnTo>
                    <a:pt x="729" y="0"/>
                  </a:lnTo>
                  <a:lnTo>
                    <a:pt x="729" y="0"/>
                  </a:lnTo>
                  <a:lnTo>
                    <a:pt x="729" y="0"/>
                  </a:lnTo>
                  <a:lnTo>
                    <a:pt x="595" y="0"/>
                  </a:lnTo>
                  <a:lnTo>
                    <a:pt x="511" y="135"/>
                  </a:lnTo>
                  <a:lnTo>
                    <a:pt x="456" y="46"/>
                  </a:lnTo>
                  <a:lnTo>
                    <a:pt x="426" y="0"/>
                  </a:lnTo>
                  <a:lnTo>
                    <a:pt x="426" y="0"/>
                  </a:lnTo>
                  <a:lnTo>
                    <a:pt x="398" y="46"/>
                  </a:lnTo>
                  <a:lnTo>
                    <a:pt x="343" y="135"/>
                  </a:lnTo>
                  <a:lnTo>
                    <a:pt x="258" y="0"/>
                  </a:lnTo>
                  <a:lnTo>
                    <a:pt x="126" y="0"/>
                  </a:lnTo>
                  <a:lnTo>
                    <a:pt x="126" y="0"/>
                  </a:lnTo>
                  <a:lnTo>
                    <a:pt x="126" y="0"/>
                  </a:lnTo>
                  <a:lnTo>
                    <a:pt x="125" y="0"/>
                  </a:lnTo>
                  <a:lnTo>
                    <a:pt x="125" y="0"/>
                  </a:lnTo>
                  <a:lnTo>
                    <a:pt x="112" y="0"/>
                  </a:lnTo>
                  <a:lnTo>
                    <a:pt x="99" y="3"/>
                  </a:lnTo>
                  <a:lnTo>
                    <a:pt x="88" y="5"/>
                  </a:lnTo>
                  <a:lnTo>
                    <a:pt x="76" y="10"/>
                  </a:lnTo>
                  <a:lnTo>
                    <a:pt x="66" y="15"/>
                  </a:lnTo>
                  <a:lnTo>
                    <a:pt x="55" y="21"/>
                  </a:lnTo>
                  <a:lnTo>
                    <a:pt x="45" y="29"/>
                  </a:lnTo>
                  <a:lnTo>
                    <a:pt x="36" y="37"/>
                  </a:lnTo>
                  <a:lnTo>
                    <a:pt x="29" y="46"/>
                  </a:lnTo>
                  <a:lnTo>
                    <a:pt x="22" y="56"/>
                  </a:lnTo>
                  <a:lnTo>
                    <a:pt x="15" y="65"/>
                  </a:lnTo>
                  <a:lnTo>
                    <a:pt x="9" y="77"/>
                  </a:lnTo>
                  <a:lnTo>
                    <a:pt x="6" y="88"/>
                  </a:lnTo>
                  <a:lnTo>
                    <a:pt x="2" y="100"/>
                  </a:lnTo>
                  <a:lnTo>
                    <a:pt x="1" y="112"/>
                  </a:lnTo>
                  <a:lnTo>
                    <a:pt x="0" y="124"/>
                  </a:lnTo>
                  <a:lnTo>
                    <a:pt x="0" y="240"/>
                  </a:lnTo>
                  <a:lnTo>
                    <a:pt x="0" y="380"/>
                  </a:lnTo>
                  <a:lnTo>
                    <a:pt x="0" y="451"/>
                  </a:lnTo>
                  <a:lnTo>
                    <a:pt x="855" y="451"/>
                  </a:lnTo>
                  <a:lnTo>
                    <a:pt x="855" y="380"/>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80" name="Freeform 75">
              <a:extLst>
                <a:ext uri="{FF2B5EF4-FFF2-40B4-BE49-F238E27FC236}">
                  <a16:creationId xmlns:a16="http://schemas.microsoft.com/office/drawing/2014/main" id="{1400909B-B7CE-4AD4-8911-CA067E6F3B66}"/>
                </a:ext>
              </a:extLst>
            </p:cNvPr>
            <p:cNvSpPr>
              <a:spLocks/>
            </p:cNvSpPr>
            <p:nvPr/>
          </p:nvSpPr>
          <p:spPr bwMode="auto">
            <a:xfrm>
              <a:off x="2379393" y="3227147"/>
              <a:ext cx="107825" cy="107825"/>
            </a:xfrm>
            <a:custGeom>
              <a:avLst/>
              <a:gdLst>
                <a:gd name="T0" fmla="*/ 442 w 442"/>
                <a:gd name="T1" fmla="*/ 222 h 443"/>
                <a:gd name="T2" fmla="*/ 438 w 442"/>
                <a:gd name="T3" fmla="*/ 177 h 443"/>
                <a:gd name="T4" fmla="*/ 424 w 442"/>
                <a:gd name="T5" fmla="*/ 136 h 443"/>
                <a:gd name="T6" fmla="*/ 404 w 442"/>
                <a:gd name="T7" fmla="*/ 98 h 443"/>
                <a:gd name="T8" fmla="*/ 377 w 442"/>
                <a:gd name="T9" fmla="*/ 65 h 443"/>
                <a:gd name="T10" fmla="*/ 344 w 442"/>
                <a:gd name="T11" fmla="*/ 38 h 443"/>
                <a:gd name="T12" fmla="*/ 306 w 442"/>
                <a:gd name="T13" fmla="*/ 18 h 443"/>
                <a:gd name="T14" fmla="*/ 265 w 442"/>
                <a:gd name="T15" fmla="*/ 5 h 443"/>
                <a:gd name="T16" fmla="*/ 220 w 442"/>
                <a:gd name="T17" fmla="*/ 0 h 443"/>
                <a:gd name="T18" fmla="*/ 198 w 442"/>
                <a:gd name="T19" fmla="*/ 1 h 443"/>
                <a:gd name="T20" fmla="*/ 154 w 442"/>
                <a:gd name="T21" fmla="*/ 10 h 443"/>
                <a:gd name="T22" fmla="*/ 115 w 442"/>
                <a:gd name="T23" fmla="*/ 27 h 443"/>
                <a:gd name="T24" fmla="*/ 79 w 442"/>
                <a:gd name="T25" fmla="*/ 51 h 443"/>
                <a:gd name="T26" fmla="*/ 50 w 442"/>
                <a:gd name="T27" fmla="*/ 81 h 443"/>
                <a:gd name="T28" fmla="*/ 25 w 442"/>
                <a:gd name="T29" fmla="*/ 116 h 443"/>
                <a:gd name="T30" fmla="*/ 9 w 442"/>
                <a:gd name="T31" fmla="*/ 156 h 443"/>
                <a:gd name="T32" fmla="*/ 1 w 442"/>
                <a:gd name="T33" fmla="*/ 199 h 443"/>
                <a:gd name="T34" fmla="*/ 0 w 442"/>
                <a:gd name="T35" fmla="*/ 222 h 443"/>
                <a:gd name="T36" fmla="*/ 3 w 442"/>
                <a:gd name="T37" fmla="*/ 266 h 443"/>
                <a:gd name="T38" fmla="*/ 17 w 442"/>
                <a:gd name="T39" fmla="*/ 308 h 443"/>
                <a:gd name="T40" fmla="*/ 36 w 442"/>
                <a:gd name="T41" fmla="*/ 346 h 443"/>
                <a:gd name="T42" fmla="*/ 63 w 442"/>
                <a:gd name="T43" fmla="*/ 378 h 443"/>
                <a:gd name="T44" fmla="*/ 96 w 442"/>
                <a:gd name="T45" fmla="*/ 406 h 443"/>
                <a:gd name="T46" fmla="*/ 135 w 442"/>
                <a:gd name="T47" fmla="*/ 426 h 443"/>
                <a:gd name="T48" fmla="*/ 176 w 442"/>
                <a:gd name="T49" fmla="*/ 439 h 443"/>
                <a:gd name="T50" fmla="*/ 220 w 442"/>
                <a:gd name="T51" fmla="*/ 443 h 443"/>
                <a:gd name="T52" fmla="*/ 244 w 442"/>
                <a:gd name="T53" fmla="*/ 442 h 443"/>
                <a:gd name="T54" fmla="*/ 287 w 442"/>
                <a:gd name="T55" fmla="*/ 433 h 443"/>
                <a:gd name="T56" fmla="*/ 326 w 442"/>
                <a:gd name="T57" fmla="*/ 417 h 443"/>
                <a:gd name="T58" fmla="*/ 361 w 442"/>
                <a:gd name="T59" fmla="*/ 393 h 443"/>
                <a:gd name="T60" fmla="*/ 391 w 442"/>
                <a:gd name="T61" fmla="*/ 363 h 443"/>
                <a:gd name="T62" fmla="*/ 415 w 442"/>
                <a:gd name="T63" fmla="*/ 328 h 443"/>
                <a:gd name="T64" fmla="*/ 431 w 442"/>
                <a:gd name="T65" fmla="*/ 288 h 443"/>
                <a:gd name="T66" fmla="*/ 441 w 442"/>
                <a:gd name="T67" fmla="*/ 244 h 443"/>
                <a:gd name="T68" fmla="*/ 442 w 442"/>
                <a:gd name="T69" fmla="*/ 222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42" h="443">
                  <a:moveTo>
                    <a:pt x="442" y="222"/>
                  </a:moveTo>
                  <a:lnTo>
                    <a:pt x="442" y="222"/>
                  </a:lnTo>
                  <a:lnTo>
                    <a:pt x="441" y="199"/>
                  </a:lnTo>
                  <a:lnTo>
                    <a:pt x="438" y="177"/>
                  </a:lnTo>
                  <a:lnTo>
                    <a:pt x="431" y="156"/>
                  </a:lnTo>
                  <a:lnTo>
                    <a:pt x="424" y="136"/>
                  </a:lnTo>
                  <a:lnTo>
                    <a:pt x="415" y="116"/>
                  </a:lnTo>
                  <a:lnTo>
                    <a:pt x="404" y="98"/>
                  </a:lnTo>
                  <a:lnTo>
                    <a:pt x="391" y="81"/>
                  </a:lnTo>
                  <a:lnTo>
                    <a:pt x="377" y="65"/>
                  </a:lnTo>
                  <a:lnTo>
                    <a:pt x="361" y="51"/>
                  </a:lnTo>
                  <a:lnTo>
                    <a:pt x="344" y="38"/>
                  </a:lnTo>
                  <a:lnTo>
                    <a:pt x="326" y="27"/>
                  </a:lnTo>
                  <a:lnTo>
                    <a:pt x="306" y="18"/>
                  </a:lnTo>
                  <a:lnTo>
                    <a:pt x="287" y="10"/>
                  </a:lnTo>
                  <a:lnTo>
                    <a:pt x="265" y="5"/>
                  </a:lnTo>
                  <a:lnTo>
                    <a:pt x="244" y="1"/>
                  </a:lnTo>
                  <a:lnTo>
                    <a:pt x="220" y="0"/>
                  </a:lnTo>
                  <a:lnTo>
                    <a:pt x="220" y="0"/>
                  </a:lnTo>
                  <a:lnTo>
                    <a:pt x="198" y="1"/>
                  </a:lnTo>
                  <a:lnTo>
                    <a:pt x="176" y="5"/>
                  </a:lnTo>
                  <a:lnTo>
                    <a:pt x="154" y="10"/>
                  </a:lnTo>
                  <a:lnTo>
                    <a:pt x="135" y="18"/>
                  </a:lnTo>
                  <a:lnTo>
                    <a:pt x="115" y="27"/>
                  </a:lnTo>
                  <a:lnTo>
                    <a:pt x="96" y="38"/>
                  </a:lnTo>
                  <a:lnTo>
                    <a:pt x="79" y="51"/>
                  </a:lnTo>
                  <a:lnTo>
                    <a:pt x="63" y="65"/>
                  </a:lnTo>
                  <a:lnTo>
                    <a:pt x="50" y="81"/>
                  </a:lnTo>
                  <a:lnTo>
                    <a:pt x="36" y="98"/>
                  </a:lnTo>
                  <a:lnTo>
                    <a:pt x="25" y="116"/>
                  </a:lnTo>
                  <a:lnTo>
                    <a:pt x="17" y="136"/>
                  </a:lnTo>
                  <a:lnTo>
                    <a:pt x="9" y="156"/>
                  </a:lnTo>
                  <a:lnTo>
                    <a:pt x="3" y="177"/>
                  </a:lnTo>
                  <a:lnTo>
                    <a:pt x="1" y="199"/>
                  </a:lnTo>
                  <a:lnTo>
                    <a:pt x="0" y="222"/>
                  </a:lnTo>
                  <a:lnTo>
                    <a:pt x="0" y="222"/>
                  </a:lnTo>
                  <a:lnTo>
                    <a:pt x="1" y="244"/>
                  </a:lnTo>
                  <a:lnTo>
                    <a:pt x="3" y="266"/>
                  </a:lnTo>
                  <a:lnTo>
                    <a:pt x="9" y="288"/>
                  </a:lnTo>
                  <a:lnTo>
                    <a:pt x="17" y="308"/>
                  </a:lnTo>
                  <a:lnTo>
                    <a:pt x="25" y="328"/>
                  </a:lnTo>
                  <a:lnTo>
                    <a:pt x="36" y="346"/>
                  </a:lnTo>
                  <a:lnTo>
                    <a:pt x="50" y="363"/>
                  </a:lnTo>
                  <a:lnTo>
                    <a:pt x="63" y="378"/>
                  </a:lnTo>
                  <a:lnTo>
                    <a:pt x="79" y="393"/>
                  </a:lnTo>
                  <a:lnTo>
                    <a:pt x="96" y="406"/>
                  </a:lnTo>
                  <a:lnTo>
                    <a:pt x="115" y="417"/>
                  </a:lnTo>
                  <a:lnTo>
                    <a:pt x="135" y="426"/>
                  </a:lnTo>
                  <a:lnTo>
                    <a:pt x="154" y="433"/>
                  </a:lnTo>
                  <a:lnTo>
                    <a:pt x="176" y="439"/>
                  </a:lnTo>
                  <a:lnTo>
                    <a:pt x="198" y="442"/>
                  </a:lnTo>
                  <a:lnTo>
                    <a:pt x="220" y="443"/>
                  </a:lnTo>
                  <a:lnTo>
                    <a:pt x="220" y="443"/>
                  </a:lnTo>
                  <a:lnTo>
                    <a:pt x="244" y="442"/>
                  </a:lnTo>
                  <a:lnTo>
                    <a:pt x="265" y="439"/>
                  </a:lnTo>
                  <a:lnTo>
                    <a:pt x="287" y="433"/>
                  </a:lnTo>
                  <a:lnTo>
                    <a:pt x="306" y="426"/>
                  </a:lnTo>
                  <a:lnTo>
                    <a:pt x="326" y="417"/>
                  </a:lnTo>
                  <a:lnTo>
                    <a:pt x="344" y="406"/>
                  </a:lnTo>
                  <a:lnTo>
                    <a:pt x="361" y="393"/>
                  </a:lnTo>
                  <a:lnTo>
                    <a:pt x="377" y="378"/>
                  </a:lnTo>
                  <a:lnTo>
                    <a:pt x="391" y="363"/>
                  </a:lnTo>
                  <a:lnTo>
                    <a:pt x="404" y="346"/>
                  </a:lnTo>
                  <a:lnTo>
                    <a:pt x="415" y="328"/>
                  </a:lnTo>
                  <a:lnTo>
                    <a:pt x="424" y="308"/>
                  </a:lnTo>
                  <a:lnTo>
                    <a:pt x="431" y="288"/>
                  </a:lnTo>
                  <a:lnTo>
                    <a:pt x="438" y="266"/>
                  </a:lnTo>
                  <a:lnTo>
                    <a:pt x="441" y="244"/>
                  </a:lnTo>
                  <a:lnTo>
                    <a:pt x="442" y="222"/>
                  </a:lnTo>
                  <a:lnTo>
                    <a:pt x="442" y="222"/>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81" name="Freeform 76">
              <a:extLst>
                <a:ext uri="{FF2B5EF4-FFF2-40B4-BE49-F238E27FC236}">
                  <a16:creationId xmlns:a16="http://schemas.microsoft.com/office/drawing/2014/main" id="{CC3986E4-F722-4210-9693-2C986E084041}"/>
                </a:ext>
              </a:extLst>
            </p:cNvPr>
            <p:cNvSpPr>
              <a:spLocks/>
            </p:cNvSpPr>
            <p:nvPr/>
          </p:nvSpPr>
          <p:spPr bwMode="auto">
            <a:xfrm>
              <a:off x="2329140" y="3339852"/>
              <a:ext cx="208332" cy="109777"/>
            </a:xfrm>
            <a:custGeom>
              <a:avLst/>
              <a:gdLst>
                <a:gd name="T0" fmla="*/ 854 w 854"/>
                <a:gd name="T1" fmla="*/ 380 h 451"/>
                <a:gd name="T2" fmla="*/ 854 w 854"/>
                <a:gd name="T3" fmla="*/ 240 h 451"/>
                <a:gd name="T4" fmla="*/ 854 w 854"/>
                <a:gd name="T5" fmla="*/ 124 h 451"/>
                <a:gd name="T6" fmla="*/ 854 w 854"/>
                <a:gd name="T7" fmla="*/ 124 h 451"/>
                <a:gd name="T8" fmla="*/ 853 w 854"/>
                <a:gd name="T9" fmla="*/ 112 h 451"/>
                <a:gd name="T10" fmla="*/ 852 w 854"/>
                <a:gd name="T11" fmla="*/ 100 h 451"/>
                <a:gd name="T12" fmla="*/ 848 w 854"/>
                <a:gd name="T13" fmla="*/ 88 h 451"/>
                <a:gd name="T14" fmla="*/ 845 w 854"/>
                <a:gd name="T15" fmla="*/ 77 h 451"/>
                <a:gd name="T16" fmla="*/ 840 w 854"/>
                <a:gd name="T17" fmla="*/ 65 h 451"/>
                <a:gd name="T18" fmla="*/ 833 w 854"/>
                <a:gd name="T19" fmla="*/ 56 h 451"/>
                <a:gd name="T20" fmla="*/ 826 w 854"/>
                <a:gd name="T21" fmla="*/ 46 h 451"/>
                <a:gd name="T22" fmla="*/ 818 w 854"/>
                <a:gd name="T23" fmla="*/ 37 h 451"/>
                <a:gd name="T24" fmla="*/ 809 w 854"/>
                <a:gd name="T25" fmla="*/ 29 h 451"/>
                <a:gd name="T26" fmla="*/ 799 w 854"/>
                <a:gd name="T27" fmla="*/ 21 h 451"/>
                <a:gd name="T28" fmla="*/ 789 w 854"/>
                <a:gd name="T29" fmla="*/ 15 h 451"/>
                <a:gd name="T30" fmla="*/ 778 w 854"/>
                <a:gd name="T31" fmla="*/ 10 h 451"/>
                <a:gd name="T32" fmla="*/ 767 w 854"/>
                <a:gd name="T33" fmla="*/ 5 h 451"/>
                <a:gd name="T34" fmla="*/ 755 w 854"/>
                <a:gd name="T35" fmla="*/ 3 h 451"/>
                <a:gd name="T36" fmla="*/ 743 w 854"/>
                <a:gd name="T37" fmla="*/ 0 h 451"/>
                <a:gd name="T38" fmla="*/ 729 w 854"/>
                <a:gd name="T39" fmla="*/ 0 h 451"/>
                <a:gd name="T40" fmla="*/ 729 w 854"/>
                <a:gd name="T41" fmla="*/ 0 h 451"/>
                <a:gd name="T42" fmla="*/ 729 w 854"/>
                <a:gd name="T43" fmla="*/ 0 h 451"/>
                <a:gd name="T44" fmla="*/ 729 w 854"/>
                <a:gd name="T45" fmla="*/ 0 h 451"/>
                <a:gd name="T46" fmla="*/ 594 w 854"/>
                <a:gd name="T47" fmla="*/ 0 h 451"/>
                <a:gd name="T48" fmla="*/ 511 w 854"/>
                <a:gd name="T49" fmla="*/ 135 h 451"/>
                <a:gd name="T50" fmla="*/ 456 w 854"/>
                <a:gd name="T51" fmla="*/ 46 h 451"/>
                <a:gd name="T52" fmla="*/ 427 w 854"/>
                <a:gd name="T53" fmla="*/ 0 h 451"/>
                <a:gd name="T54" fmla="*/ 426 w 854"/>
                <a:gd name="T55" fmla="*/ 0 h 451"/>
                <a:gd name="T56" fmla="*/ 398 w 854"/>
                <a:gd name="T57" fmla="*/ 46 h 451"/>
                <a:gd name="T58" fmla="*/ 343 w 854"/>
                <a:gd name="T59" fmla="*/ 135 h 451"/>
                <a:gd name="T60" fmla="*/ 259 w 854"/>
                <a:gd name="T61" fmla="*/ 0 h 451"/>
                <a:gd name="T62" fmla="*/ 126 w 854"/>
                <a:gd name="T63" fmla="*/ 0 h 451"/>
                <a:gd name="T64" fmla="*/ 126 w 854"/>
                <a:gd name="T65" fmla="*/ 0 h 451"/>
                <a:gd name="T66" fmla="*/ 126 w 854"/>
                <a:gd name="T67" fmla="*/ 0 h 451"/>
                <a:gd name="T68" fmla="*/ 124 w 854"/>
                <a:gd name="T69" fmla="*/ 0 h 451"/>
                <a:gd name="T70" fmla="*/ 124 w 854"/>
                <a:gd name="T71" fmla="*/ 0 h 451"/>
                <a:gd name="T72" fmla="*/ 112 w 854"/>
                <a:gd name="T73" fmla="*/ 0 h 451"/>
                <a:gd name="T74" fmla="*/ 100 w 854"/>
                <a:gd name="T75" fmla="*/ 3 h 451"/>
                <a:gd name="T76" fmla="*/ 88 w 854"/>
                <a:gd name="T77" fmla="*/ 5 h 451"/>
                <a:gd name="T78" fmla="*/ 77 w 854"/>
                <a:gd name="T79" fmla="*/ 10 h 451"/>
                <a:gd name="T80" fmla="*/ 65 w 854"/>
                <a:gd name="T81" fmla="*/ 15 h 451"/>
                <a:gd name="T82" fmla="*/ 54 w 854"/>
                <a:gd name="T83" fmla="*/ 21 h 451"/>
                <a:gd name="T84" fmla="*/ 46 w 854"/>
                <a:gd name="T85" fmla="*/ 29 h 451"/>
                <a:gd name="T86" fmla="*/ 36 w 854"/>
                <a:gd name="T87" fmla="*/ 37 h 451"/>
                <a:gd name="T88" fmla="*/ 29 w 854"/>
                <a:gd name="T89" fmla="*/ 46 h 451"/>
                <a:gd name="T90" fmla="*/ 21 w 854"/>
                <a:gd name="T91" fmla="*/ 56 h 451"/>
                <a:gd name="T92" fmla="*/ 15 w 854"/>
                <a:gd name="T93" fmla="*/ 65 h 451"/>
                <a:gd name="T94" fmla="*/ 10 w 854"/>
                <a:gd name="T95" fmla="*/ 77 h 451"/>
                <a:gd name="T96" fmla="*/ 5 w 854"/>
                <a:gd name="T97" fmla="*/ 88 h 451"/>
                <a:gd name="T98" fmla="*/ 3 w 854"/>
                <a:gd name="T99" fmla="*/ 100 h 451"/>
                <a:gd name="T100" fmla="*/ 0 w 854"/>
                <a:gd name="T101" fmla="*/ 112 h 451"/>
                <a:gd name="T102" fmla="*/ 0 w 854"/>
                <a:gd name="T103" fmla="*/ 124 h 451"/>
                <a:gd name="T104" fmla="*/ 0 w 854"/>
                <a:gd name="T105" fmla="*/ 240 h 451"/>
                <a:gd name="T106" fmla="*/ 0 w 854"/>
                <a:gd name="T107" fmla="*/ 380 h 451"/>
                <a:gd name="T108" fmla="*/ 0 w 854"/>
                <a:gd name="T109" fmla="*/ 451 h 451"/>
                <a:gd name="T110" fmla="*/ 854 w 854"/>
                <a:gd name="T111" fmla="*/ 451 h 451"/>
                <a:gd name="T112" fmla="*/ 854 w 854"/>
                <a:gd name="T113" fmla="*/ 380 h 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54" h="451">
                  <a:moveTo>
                    <a:pt x="854" y="380"/>
                  </a:moveTo>
                  <a:lnTo>
                    <a:pt x="854" y="240"/>
                  </a:lnTo>
                  <a:lnTo>
                    <a:pt x="854" y="124"/>
                  </a:lnTo>
                  <a:lnTo>
                    <a:pt x="854" y="124"/>
                  </a:lnTo>
                  <a:lnTo>
                    <a:pt x="853" y="112"/>
                  </a:lnTo>
                  <a:lnTo>
                    <a:pt x="852" y="100"/>
                  </a:lnTo>
                  <a:lnTo>
                    <a:pt x="848" y="88"/>
                  </a:lnTo>
                  <a:lnTo>
                    <a:pt x="845" y="77"/>
                  </a:lnTo>
                  <a:lnTo>
                    <a:pt x="840" y="65"/>
                  </a:lnTo>
                  <a:lnTo>
                    <a:pt x="833" y="56"/>
                  </a:lnTo>
                  <a:lnTo>
                    <a:pt x="826" y="46"/>
                  </a:lnTo>
                  <a:lnTo>
                    <a:pt x="818" y="37"/>
                  </a:lnTo>
                  <a:lnTo>
                    <a:pt x="809" y="29"/>
                  </a:lnTo>
                  <a:lnTo>
                    <a:pt x="799" y="21"/>
                  </a:lnTo>
                  <a:lnTo>
                    <a:pt x="789" y="15"/>
                  </a:lnTo>
                  <a:lnTo>
                    <a:pt x="778" y="10"/>
                  </a:lnTo>
                  <a:lnTo>
                    <a:pt x="767" y="5"/>
                  </a:lnTo>
                  <a:lnTo>
                    <a:pt x="755" y="3"/>
                  </a:lnTo>
                  <a:lnTo>
                    <a:pt x="743" y="0"/>
                  </a:lnTo>
                  <a:lnTo>
                    <a:pt x="729" y="0"/>
                  </a:lnTo>
                  <a:lnTo>
                    <a:pt x="729" y="0"/>
                  </a:lnTo>
                  <a:lnTo>
                    <a:pt x="729" y="0"/>
                  </a:lnTo>
                  <a:lnTo>
                    <a:pt x="729" y="0"/>
                  </a:lnTo>
                  <a:lnTo>
                    <a:pt x="594" y="0"/>
                  </a:lnTo>
                  <a:lnTo>
                    <a:pt x="511" y="135"/>
                  </a:lnTo>
                  <a:lnTo>
                    <a:pt x="456" y="46"/>
                  </a:lnTo>
                  <a:lnTo>
                    <a:pt x="427" y="0"/>
                  </a:lnTo>
                  <a:lnTo>
                    <a:pt x="426" y="0"/>
                  </a:lnTo>
                  <a:lnTo>
                    <a:pt x="398" y="46"/>
                  </a:lnTo>
                  <a:lnTo>
                    <a:pt x="343" y="135"/>
                  </a:lnTo>
                  <a:lnTo>
                    <a:pt x="259" y="0"/>
                  </a:lnTo>
                  <a:lnTo>
                    <a:pt x="126" y="0"/>
                  </a:lnTo>
                  <a:lnTo>
                    <a:pt x="126" y="0"/>
                  </a:lnTo>
                  <a:lnTo>
                    <a:pt x="126" y="0"/>
                  </a:lnTo>
                  <a:lnTo>
                    <a:pt x="124" y="0"/>
                  </a:lnTo>
                  <a:lnTo>
                    <a:pt x="124" y="0"/>
                  </a:lnTo>
                  <a:lnTo>
                    <a:pt x="112" y="0"/>
                  </a:lnTo>
                  <a:lnTo>
                    <a:pt x="100" y="3"/>
                  </a:lnTo>
                  <a:lnTo>
                    <a:pt x="88" y="5"/>
                  </a:lnTo>
                  <a:lnTo>
                    <a:pt x="77" y="10"/>
                  </a:lnTo>
                  <a:lnTo>
                    <a:pt x="65" y="15"/>
                  </a:lnTo>
                  <a:lnTo>
                    <a:pt x="54" y="21"/>
                  </a:lnTo>
                  <a:lnTo>
                    <a:pt x="46" y="29"/>
                  </a:lnTo>
                  <a:lnTo>
                    <a:pt x="36" y="37"/>
                  </a:lnTo>
                  <a:lnTo>
                    <a:pt x="29" y="46"/>
                  </a:lnTo>
                  <a:lnTo>
                    <a:pt x="21" y="56"/>
                  </a:lnTo>
                  <a:lnTo>
                    <a:pt x="15" y="65"/>
                  </a:lnTo>
                  <a:lnTo>
                    <a:pt x="10" y="77"/>
                  </a:lnTo>
                  <a:lnTo>
                    <a:pt x="5" y="88"/>
                  </a:lnTo>
                  <a:lnTo>
                    <a:pt x="3" y="100"/>
                  </a:lnTo>
                  <a:lnTo>
                    <a:pt x="0" y="112"/>
                  </a:lnTo>
                  <a:lnTo>
                    <a:pt x="0" y="124"/>
                  </a:lnTo>
                  <a:lnTo>
                    <a:pt x="0" y="240"/>
                  </a:lnTo>
                  <a:lnTo>
                    <a:pt x="0" y="380"/>
                  </a:lnTo>
                  <a:lnTo>
                    <a:pt x="0" y="451"/>
                  </a:lnTo>
                  <a:lnTo>
                    <a:pt x="854" y="451"/>
                  </a:lnTo>
                  <a:lnTo>
                    <a:pt x="854" y="380"/>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82" name="Freeform 77">
              <a:extLst>
                <a:ext uri="{FF2B5EF4-FFF2-40B4-BE49-F238E27FC236}">
                  <a16:creationId xmlns:a16="http://schemas.microsoft.com/office/drawing/2014/main" id="{50587150-6871-427B-9900-B62F3E2B98CE}"/>
                </a:ext>
              </a:extLst>
            </p:cNvPr>
            <p:cNvSpPr>
              <a:spLocks/>
            </p:cNvSpPr>
            <p:nvPr/>
          </p:nvSpPr>
          <p:spPr bwMode="auto">
            <a:xfrm>
              <a:off x="2605777" y="3227147"/>
              <a:ext cx="108313" cy="107825"/>
            </a:xfrm>
            <a:custGeom>
              <a:avLst/>
              <a:gdLst>
                <a:gd name="T0" fmla="*/ 443 w 443"/>
                <a:gd name="T1" fmla="*/ 222 h 443"/>
                <a:gd name="T2" fmla="*/ 438 w 443"/>
                <a:gd name="T3" fmla="*/ 177 h 443"/>
                <a:gd name="T4" fmla="*/ 426 w 443"/>
                <a:gd name="T5" fmla="*/ 136 h 443"/>
                <a:gd name="T6" fmla="*/ 405 w 443"/>
                <a:gd name="T7" fmla="*/ 98 h 443"/>
                <a:gd name="T8" fmla="*/ 378 w 443"/>
                <a:gd name="T9" fmla="*/ 65 h 443"/>
                <a:gd name="T10" fmla="*/ 345 w 443"/>
                <a:gd name="T11" fmla="*/ 38 h 443"/>
                <a:gd name="T12" fmla="*/ 308 w 443"/>
                <a:gd name="T13" fmla="*/ 18 h 443"/>
                <a:gd name="T14" fmla="*/ 267 w 443"/>
                <a:gd name="T15" fmla="*/ 5 h 443"/>
                <a:gd name="T16" fmla="*/ 221 w 443"/>
                <a:gd name="T17" fmla="*/ 0 h 443"/>
                <a:gd name="T18" fmla="*/ 199 w 443"/>
                <a:gd name="T19" fmla="*/ 1 h 443"/>
                <a:gd name="T20" fmla="*/ 156 w 443"/>
                <a:gd name="T21" fmla="*/ 10 h 443"/>
                <a:gd name="T22" fmla="*/ 116 w 443"/>
                <a:gd name="T23" fmla="*/ 27 h 443"/>
                <a:gd name="T24" fmla="*/ 81 w 443"/>
                <a:gd name="T25" fmla="*/ 51 h 443"/>
                <a:gd name="T26" fmla="*/ 51 w 443"/>
                <a:gd name="T27" fmla="*/ 81 h 443"/>
                <a:gd name="T28" fmla="*/ 27 w 443"/>
                <a:gd name="T29" fmla="*/ 116 h 443"/>
                <a:gd name="T30" fmla="*/ 10 w 443"/>
                <a:gd name="T31" fmla="*/ 156 h 443"/>
                <a:gd name="T32" fmla="*/ 2 w 443"/>
                <a:gd name="T33" fmla="*/ 199 h 443"/>
                <a:gd name="T34" fmla="*/ 0 w 443"/>
                <a:gd name="T35" fmla="*/ 222 h 443"/>
                <a:gd name="T36" fmla="*/ 5 w 443"/>
                <a:gd name="T37" fmla="*/ 266 h 443"/>
                <a:gd name="T38" fmla="*/ 17 w 443"/>
                <a:gd name="T39" fmla="*/ 308 h 443"/>
                <a:gd name="T40" fmla="*/ 38 w 443"/>
                <a:gd name="T41" fmla="*/ 346 h 443"/>
                <a:gd name="T42" fmla="*/ 65 w 443"/>
                <a:gd name="T43" fmla="*/ 378 h 443"/>
                <a:gd name="T44" fmla="*/ 98 w 443"/>
                <a:gd name="T45" fmla="*/ 406 h 443"/>
                <a:gd name="T46" fmla="*/ 135 w 443"/>
                <a:gd name="T47" fmla="*/ 426 h 443"/>
                <a:gd name="T48" fmla="*/ 177 w 443"/>
                <a:gd name="T49" fmla="*/ 439 h 443"/>
                <a:gd name="T50" fmla="*/ 221 w 443"/>
                <a:gd name="T51" fmla="*/ 443 h 443"/>
                <a:gd name="T52" fmla="*/ 244 w 443"/>
                <a:gd name="T53" fmla="*/ 442 h 443"/>
                <a:gd name="T54" fmla="*/ 287 w 443"/>
                <a:gd name="T55" fmla="*/ 433 h 443"/>
                <a:gd name="T56" fmla="*/ 328 w 443"/>
                <a:gd name="T57" fmla="*/ 417 h 443"/>
                <a:gd name="T58" fmla="*/ 362 w 443"/>
                <a:gd name="T59" fmla="*/ 393 h 443"/>
                <a:gd name="T60" fmla="*/ 393 w 443"/>
                <a:gd name="T61" fmla="*/ 363 h 443"/>
                <a:gd name="T62" fmla="*/ 416 w 443"/>
                <a:gd name="T63" fmla="*/ 328 h 443"/>
                <a:gd name="T64" fmla="*/ 433 w 443"/>
                <a:gd name="T65" fmla="*/ 288 h 443"/>
                <a:gd name="T66" fmla="*/ 442 w 443"/>
                <a:gd name="T67" fmla="*/ 244 h 443"/>
                <a:gd name="T68" fmla="*/ 443 w 443"/>
                <a:gd name="T69" fmla="*/ 222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43" h="443">
                  <a:moveTo>
                    <a:pt x="443" y="222"/>
                  </a:moveTo>
                  <a:lnTo>
                    <a:pt x="443" y="222"/>
                  </a:lnTo>
                  <a:lnTo>
                    <a:pt x="442" y="199"/>
                  </a:lnTo>
                  <a:lnTo>
                    <a:pt x="438" y="177"/>
                  </a:lnTo>
                  <a:lnTo>
                    <a:pt x="433" y="156"/>
                  </a:lnTo>
                  <a:lnTo>
                    <a:pt x="426" y="136"/>
                  </a:lnTo>
                  <a:lnTo>
                    <a:pt x="416" y="116"/>
                  </a:lnTo>
                  <a:lnTo>
                    <a:pt x="405" y="98"/>
                  </a:lnTo>
                  <a:lnTo>
                    <a:pt x="393" y="81"/>
                  </a:lnTo>
                  <a:lnTo>
                    <a:pt x="378" y="65"/>
                  </a:lnTo>
                  <a:lnTo>
                    <a:pt x="362" y="51"/>
                  </a:lnTo>
                  <a:lnTo>
                    <a:pt x="345" y="38"/>
                  </a:lnTo>
                  <a:lnTo>
                    <a:pt x="328" y="27"/>
                  </a:lnTo>
                  <a:lnTo>
                    <a:pt x="308" y="18"/>
                  </a:lnTo>
                  <a:lnTo>
                    <a:pt x="287" y="10"/>
                  </a:lnTo>
                  <a:lnTo>
                    <a:pt x="267" y="5"/>
                  </a:lnTo>
                  <a:lnTo>
                    <a:pt x="244" y="1"/>
                  </a:lnTo>
                  <a:lnTo>
                    <a:pt x="221" y="0"/>
                  </a:lnTo>
                  <a:lnTo>
                    <a:pt x="221" y="0"/>
                  </a:lnTo>
                  <a:lnTo>
                    <a:pt x="199" y="1"/>
                  </a:lnTo>
                  <a:lnTo>
                    <a:pt x="177" y="5"/>
                  </a:lnTo>
                  <a:lnTo>
                    <a:pt x="156" y="10"/>
                  </a:lnTo>
                  <a:lnTo>
                    <a:pt x="135" y="18"/>
                  </a:lnTo>
                  <a:lnTo>
                    <a:pt x="116" y="27"/>
                  </a:lnTo>
                  <a:lnTo>
                    <a:pt x="98" y="38"/>
                  </a:lnTo>
                  <a:lnTo>
                    <a:pt x="81" y="51"/>
                  </a:lnTo>
                  <a:lnTo>
                    <a:pt x="65" y="65"/>
                  </a:lnTo>
                  <a:lnTo>
                    <a:pt x="51" y="81"/>
                  </a:lnTo>
                  <a:lnTo>
                    <a:pt x="38" y="98"/>
                  </a:lnTo>
                  <a:lnTo>
                    <a:pt x="27" y="116"/>
                  </a:lnTo>
                  <a:lnTo>
                    <a:pt x="17" y="136"/>
                  </a:lnTo>
                  <a:lnTo>
                    <a:pt x="10" y="156"/>
                  </a:lnTo>
                  <a:lnTo>
                    <a:pt x="5" y="177"/>
                  </a:lnTo>
                  <a:lnTo>
                    <a:pt x="2" y="199"/>
                  </a:lnTo>
                  <a:lnTo>
                    <a:pt x="0" y="222"/>
                  </a:lnTo>
                  <a:lnTo>
                    <a:pt x="0" y="222"/>
                  </a:lnTo>
                  <a:lnTo>
                    <a:pt x="2" y="244"/>
                  </a:lnTo>
                  <a:lnTo>
                    <a:pt x="5" y="266"/>
                  </a:lnTo>
                  <a:lnTo>
                    <a:pt x="10" y="288"/>
                  </a:lnTo>
                  <a:lnTo>
                    <a:pt x="17" y="308"/>
                  </a:lnTo>
                  <a:lnTo>
                    <a:pt x="27" y="328"/>
                  </a:lnTo>
                  <a:lnTo>
                    <a:pt x="38" y="346"/>
                  </a:lnTo>
                  <a:lnTo>
                    <a:pt x="51" y="363"/>
                  </a:lnTo>
                  <a:lnTo>
                    <a:pt x="65" y="378"/>
                  </a:lnTo>
                  <a:lnTo>
                    <a:pt x="81" y="393"/>
                  </a:lnTo>
                  <a:lnTo>
                    <a:pt x="98" y="406"/>
                  </a:lnTo>
                  <a:lnTo>
                    <a:pt x="116" y="417"/>
                  </a:lnTo>
                  <a:lnTo>
                    <a:pt x="135" y="426"/>
                  </a:lnTo>
                  <a:lnTo>
                    <a:pt x="156" y="433"/>
                  </a:lnTo>
                  <a:lnTo>
                    <a:pt x="177" y="439"/>
                  </a:lnTo>
                  <a:lnTo>
                    <a:pt x="199" y="442"/>
                  </a:lnTo>
                  <a:lnTo>
                    <a:pt x="221" y="443"/>
                  </a:lnTo>
                  <a:lnTo>
                    <a:pt x="221" y="443"/>
                  </a:lnTo>
                  <a:lnTo>
                    <a:pt x="244" y="442"/>
                  </a:lnTo>
                  <a:lnTo>
                    <a:pt x="267" y="439"/>
                  </a:lnTo>
                  <a:lnTo>
                    <a:pt x="287" y="433"/>
                  </a:lnTo>
                  <a:lnTo>
                    <a:pt x="308" y="426"/>
                  </a:lnTo>
                  <a:lnTo>
                    <a:pt x="328" y="417"/>
                  </a:lnTo>
                  <a:lnTo>
                    <a:pt x="345" y="406"/>
                  </a:lnTo>
                  <a:lnTo>
                    <a:pt x="362" y="393"/>
                  </a:lnTo>
                  <a:lnTo>
                    <a:pt x="378" y="378"/>
                  </a:lnTo>
                  <a:lnTo>
                    <a:pt x="393" y="363"/>
                  </a:lnTo>
                  <a:lnTo>
                    <a:pt x="405" y="346"/>
                  </a:lnTo>
                  <a:lnTo>
                    <a:pt x="416" y="328"/>
                  </a:lnTo>
                  <a:lnTo>
                    <a:pt x="426" y="308"/>
                  </a:lnTo>
                  <a:lnTo>
                    <a:pt x="433" y="288"/>
                  </a:lnTo>
                  <a:lnTo>
                    <a:pt x="438" y="266"/>
                  </a:lnTo>
                  <a:lnTo>
                    <a:pt x="442" y="244"/>
                  </a:lnTo>
                  <a:lnTo>
                    <a:pt x="443" y="222"/>
                  </a:lnTo>
                  <a:lnTo>
                    <a:pt x="443" y="222"/>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83" name="Freeform 78">
              <a:extLst>
                <a:ext uri="{FF2B5EF4-FFF2-40B4-BE49-F238E27FC236}">
                  <a16:creationId xmlns:a16="http://schemas.microsoft.com/office/drawing/2014/main" id="{982861AF-94BE-4762-8638-EA9904BBFDDD}"/>
                </a:ext>
              </a:extLst>
            </p:cNvPr>
            <p:cNvSpPr>
              <a:spLocks/>
            </p:cNvSpPr>
            <p:nvPr/>
          </p:nvSpPr>
          <p:spPr bwMode="auto">
            <a:xfrm>
              <a:off x="2555524" y="3339852"/>
              <a:ext cx="208332" cy="109777"/>
            </a:xfrm>
            <a:custGeom>
              <a:avLst/>
              <a:gdLst>
                <a:gd name="T0" fmla="*/ 854 w 854"/>
                <a:gd name="T1" fmla="*/ 380 h 451"/>
                <a:gd name="T2" fmla="*/ 854 w 854"/>
                <a:gd name="T3" fmla="*/ 240 h 451"/>
                <a:gd name="T4" fmla="*/ 854 w 854"/>
                <a:gd name="T5" fmla="*/ 124 h 451"/>
                <a:gd name="T6" fmla="*/ 854 w 854"/>
                <a:gd name="T7" fmla="*/ 124 h 451"/>
                <a:gd name="T8" fmla="*/ 854 w 854"/>
                <a:gd name="T9" fmla="*/ 112 h 451"/>
                <a:gd name="T10" fmla="*/ 852 w 854"/>
                <a:gd name="T11" fmla="*/ 100 h 451"/>
                <a:gd name="T12" fmla="*/ 849 w 854"/>
                <a:gd name="T13" fmla="*/ 88 h 451"/>
                <a:gd name="T14" fmla="*/ 844 w 854"/>
                <a:gd name="T15" fmla="*/ 77 h 451"/>
                <a:gd name="T16" fmla="*/ 839 w 854"/>
                <a:gd name="T17" fmla="*/ 65 h 451"/>
                <a:gd name="T18" fmla="*/ 833 w 854"/>
                <a:gd name="T19" fmla="*/ 56 h 451"/>
                <a:gd name="T20" fmla="*/ 826 w 854"/>
                <a:gd name="T21" fmla="*/ 46 h 451"/>
                <a:gd name="T22" fmla="*/ 818 w 854"/>
                <a:gd name="T23" fmla="*/ 37 h 451"/>
                <a:gd name="T24" fmla="*/ 809 w 854"/>
                <a:gd name="T25" fmla="*/ 29 h 451"/>
                <a:gd name="T26" fmla="*/ 799 w 854"/>
                <a:gd name="T27" fmla="*/ 21 h 451"/>
                <a:gd name="T28" fmla="*/ 789 w 854"/>
                <a:gd name="T29" fmla="*/ 15 h 451"/>
                <a:gd name="T30" fmla="*/ 778 w 854"/>
                <a:gd name="T31" fmla="*/ 10 h 451"/>
                <a:gd name="T32" fmla="*/ 767 w 854"/>
                <a:gd name="T33" fmla="*/ 5 h 451"/>
                <a:gd name="T34" fmla="*/ 755 w 854"/>
                <a:gd name="T35" fmla="*/ 3 h 451"/>
                <a:gd name="T36" fmla="*/ 742 w 854"/>
                <a:gd name="T37" fmla="*/ 0 h 451"/>
                <a:gd name="T38" fmla="*/ 730 w 854"/>
                <a:gd name="T39" fmla="*/ 0 h 451"/>
                <a:gd name="T40" fmla="*/ 730 w 854"/>
                <a:gd name="T41" fmla="*/ 0 h 451"/>
                <a:gd name="T42" fmla="*/ 729 w 854"/>
                <a:gd name="T43" fmla="*/ 0 h 451"/>
                <a:gd name="T44" fmla="*/ 729 w 854"/>
                <a:gd name="T45" fmla="*/ 0 h 451"/>
                <a:gd name="T46" fmla="*/ 595 w 854"/>
                <a:gd name="T47" fmla="*/ 0 h 451"/>
                <a:gd name="T48" fmla="*/ 511 w 854"/>
                <a:gd name="T49" fmla="*/ 135 h 451"/>
                <a:gd name="T50" fmla="*/ 455 w 854"/>
                <a:gd name="T51" fmla="*/ 46 h 451"/>
                <a:gd name="T52" fmla="*/ 427 w 854"/>
                <a:gd name="T53" fmla="*/ 0 h 451"/>
                <a:gd name="T54" fmla="*/ 427 w 854"/>
                <a:gd name="T55" fmla="*/ 0 h 451"/>
                <a:gd name="T56" fmla="*/ 398 w 854"/>
                <a:gd name="T57" fmla="*/ 46 h 451"/>
                <a:gd name="T58" fmla="*/ 342 w 854"/>
                <a:gd name="T59" fmla="*/ 135 h 451"/>
                <a:gd name="T60" fmla="*/ 259 w 854"/>
                <a:gd name="T61" fmla="*/ 0 h 451"/>
                <a:gd name="T62" fmla="*/ 127 w 854"/>
                <a:gd name="T63" fmla="*/ 0 h 451"/>
                <a:gd name="T64" fmla="*/ 127 w 854"/>
                <a:gd name="T65" fmla="*/ 0 h 451"/>
                <a:gd name="T66" fmla="*/ 127 w 854"/>
                <a:gd name="T67" fmla="*/ 0 h 451"/>
                <a:gd name="T68" fmla="*/ 125 w 854"/>
                <a:gd name="T69" fmla="*/ 0 h 451"/>
                <a:gd name="T70" fmla="*/ 125 w 854"/>
                <a:gd name="T71" fmla="*/ 0 h 451"/>
                <a:gd name="T72" fmla="*/ 112 w 854"/>
                <a:gd name="T73" fmla="*/ 0 h 451"/>
                <a:gd name="T74" fmla="*/ 100 w 854"/>
                <a:gd name="T75" fmla="*/ 3 h 451"/>
                <a:gd name="T76" fmla="*/ 87 w 854"/>
                <a:gd name="T77" fmla="*/ 5 h 451"/>
                <a:gd name="T78" fmla="*/ 76 w 854"/>
                <a:gd name="T79" fmla="*/ 10 h 451"/>
                <a:gd name="T80" fmla="*/ 65 w 854"/>
                <a:gd name="T81" fmla="*/ 15 h 451"/>
                <a:gd name="T82" fmla="*/ 55 w 854"/>
                <a:gd name="T83" fmla="*/ 21 h 451"/>
                <a:gd name="T84" fmla="*/ 46 w 854"/>
                <a:gd name="T85" fmla="*/ 29 h 451"/>
                <a:gd name="T86" fmla="*/ 37 w 854"/>
                <a:gd name="T87" fmla="*/ 37 h 451"/>
                <a:gd name="T88" fmla="*/ 28 w 854"/>
                <a:gd name="T89" fmla="*/ 46 h 451"/>
                <a:gd name="T90" fmla="*/ 21 w 854"/>
                <a:gd name="T91" fmla="*/ 56 h 451"/>
                <a:gd name="T92" fmla="*/ 15 w 854"/>
                <a:gd name="T93" fmla="*/ 65 h 451"/>
                <a:gd name="T94" fmla="*/ 10 w 854"/>
                <a:gd name="T95" fmla="*/ 77 h 451"/>
                <a:gd name="T96" fmla="*/ 6 w 854"/>
                <a:gd name="T97" fmla="*/ 88 h 451"/>
                <a:gd name="T98" fmla="*/ 3 w 854"/>
                <a:gd name="T99" fmla="*/ 100 h 451"/>
                <a:gd name="T100" fmla="*/ 1 w 854"/>
                <a:gd name="T101" fmla="*/ 112 h 451"/>
                <a:gd name="T102" fmla="*/ 0 w 854"/>
                <a:gd name="T103" fmla="*/ 124 h 451"/>
                <a:gd name="T104" fmla="*/ 0 w 854"/>
                <a:gd name="T105" fmla="*/ 240 h 451"/>
                <a:gd name="T106" fmla="*/ 0 w 854"/>
                <a:gd name="T107" fmla="*/ 380 h 451"/>
                <a:gd name="T108" fmla="*/ 0 w 854"/>
                <a:gd name="T109" fmla="*/ 451 h 451"/>
                <a:gd name="T110" fmla="*/ 854 w 854"/>
                <a:gd name="T111" fmla="*/ 451 h 451"/>
                <a:gd name="T112" fmla="*/ 854 w 854"/>
                <a:gd name="T113" fmla="*/ 380 h 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54" h="451">
                  <a:moveTo>
                    <a:pt x="854" y="380"/>
                  </a:moveTo>
                  <a:lnTo>
                    <a:pt x="854" y="240"/>
                  </a:lnTo>
                  <a:lnTo>
                    <a:pt x="854" y="124"/>
                  </a:lnTo>
                  <a:lnTo>
                    <a:pt x="854" y="124"/>
                  </a:lnTo>
                  <a:lnTo>
                    <a:pt x="854" y="112"/>
                  </a:lnTo>
                  <a:lnTo>
                    <a:pt x="852" y="100"/>
                  </a:lnTo>
                  <a:lnTo>
                    <a:pt x="849" y="88"/>
                  </a:lnTo>
                  <a:lnTo>
                    <a:pt x="844" y="77"/>
                  </a:lnTo>
                  <a:lnTo>
                    <a:pt x="839" y="65"/>
                  </a:lnTo>
                  <a:lnTo>
                    <a:pt x="833" y="56"/>
                  </a:lnTo>
                  <a:lnTo>
                    <a:pt x="826" y="46"/>
                  </a:lnTo>
                  <a:lnTo>
                    <a:pt x="818" y="37"/>
                  </a:lnTo>
                  <a:lnTo>
                    <a:pt x="809" y="29"/>
                  </a:lnTo>
                  <a:lnTo>
                    <a:pt x="799" y="21"/>
                  </a:lnTo>
                  <a:lnTo>
                    <a:pt x="789" y="15"/>
                  </a:lnTo>
                  <a:lnTo>
                    <a:pt x="778" y="10"/>
                  </a:lnTo>
                  <a:lnTo>
                    <a:pt x="767" y="5"/>
                  </a:lnTo>
                  <a:lnTo>
                    <a:pt x="755" y="3"/>
                  </a:lnTo>
                  <a:lnTo>
                    <a:pt x="742" y="0"/>
                  </a:lnTo>
                  <a:lnTo>
                    <a:pt x="730" y="0"/>
                  </a:lnTo>
                  <a:lnTo>
                    <a:pt x="730" y="0"/>
                  </a:lnTo>
                  <a:lnTo>
                    <a:pt x="729" y="0"/>
                  </a:lnTo>
                  <a:lnTo>
                    <a:pt x="729" y="0"/>
                  </a:lnTo>
                  <a:lnTo>
                    <a:pt x="595" y="0"/>
                  </a:lnTo>
                  <a:lnTo>
                    <a:pt x="511" y="135"/>
                  </a:lnTo>
                  <a:lnTo>
                    <a:pt x="455" y="46"/>
                  </a:lnTo>
                  <a:lnTo>
                    <a:pt x="427" y="0"/>
                  </a:lnTo>
                  <a:lnTo>
                    <a:pt x="427" y="0"/>
                  </a:lnTo>
                  <a:lnTo>
                    <a:pt x="398" y="46"/>
                  </a:lnTo>
                  <a:lnTo>
                    <a:pt x="342" y="135"/>
                  </a:lnTo>
                  <a:lnTo>
                    <a:pt x="259" y="0"/>
                  </a:lnTo>
                  <a:lnTo>
                    <a:pt x="127" y="0"/>
                  </a:lnTo>
                  <a:lnTo>
                    <a:pt x="127" y="0"/>
                  </a:lnTo>
                  <a:lnTo>
                    <a:pt x="127" y="0"/>
                  </a:lnTo>
                  <a:lnTo>
                    <a:pt x="125" y="0"/>
                  </a:lnTo>
                  <a:lnTo>
                    <a:pt x="125" y="0"/>
                  </a:lnTo>
                  <a:lnTo>
                    <a:pt x="112" y="0"/>
                  </a:lnTo>
                  <a:lnTo>
                    <a:pt x="100" y="3"/>
                  </a:lnTo>
                  <a:lnTo>
                    <a:pt x="87" y="5"/>
                  </a:lnTo>
                  <a:lnTo>
                    <a:pt x="76" y="10"/>
                  </a:lnTo>
                  <a:lnTo>
                    <a:pt x="65" y="15"/>
                  </a:lnTo>
                  <a:lnTo>
                    <a:pt x="55" y="21"/>
                  </a:lnTo>
                  <a:lnTo>
                    <a:pt x="46" y="29"/>
                  </a:lnTo>
                  <a:lnTo>
                    <a:pt x="37" y="37"/>
                  </a:lnTo>
                  <a:lnTo>
                    <a:pt x="28" y="46"/>
                  </a:lnTo>
                  <a:lnTo>
                    <a:pt x="21" y="56"/>
                  </a:lnTo>
                  <a:lnTo>
                    <a:pt x="15" y="65"/>
                  </a:lnTo>
                  <a:lnTo>
                    <a:pt x="10" y="77"/>
                  </a:lnTo>
                  <a:lnTo>
                    <a:pt x="6" y="88"/>
                  </a:lnTo>
                  <a:lnTo>
                    <a:pt x="3" y="100"/>
                  </a:lnTo>
                  <a:lnTo>
                    <a:pt x="1" y="112"/>
                  </a:lnTo>
                  <a:lnTo>
                    <a:pt x="0" y="124"/>
                  </a:lnTo>
                  <a:lnTo>
                    <a:pt x="0" y="240"/>
                  </a:lnTo>
                  <a:lnTo>
                    <a:pt x="0" y="380"/>
                  </a:lnTo>
                  <a:lnTo>
                    <a:pt x="0" y="451"/>
                  </a:lnTo>
                  <a:lnTo>
                    <a:pt x="854" y="451"/>
                  </a:lnTo>
                  <a:lnTo>
                    <a:pt x="854" y="380"/>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84" name="Freeform 79">
              <a:extLst>
                <a:ext uri="{FF2B5EF4-FFF2-40B4-BE49-F238E27FC236}">
                  <a16:creationId xmlns:a16="http://schemas.microsoft.com/office/drawing/2014/main" id="{E493A898-AA25-40C4-BDAF-1A7448A48E9B}"/>
                </a:ext>
              </a:extLst>
            </p:cNvPr>
            <p:cNvSpPr>
              <a:spLocks/>
            </p:cNvSpPr>
            <p:nvPr/>
          </p:nvSpPr>
          <p:spPr bwMode="auto">
            <a:xfrm>
              <a:off x="1871493" y="3467681"/>
              <a:ext cx="1123626" cy="316157"/>
            </a:xfrm>
            <a:custGeom>
              <a:avLst/>
              <a:gdLst>
                <a:gd name="T0" fmla="*/ 4589 w 4605"/>
                <a:gd name="T1" fmla="*/ 1231 h 1297"/>
                <a:gd name="T2" fmla="*/ 4602 w 4605"/>
                <a:gd name="T3" fmla="*/ 1199 h 1297"/>
                <a:gd name="T4" fmla="*/ 4605 w 4605"/>
                <a:gd name="T5" fmla="*/ 1166 h 1297"/>
                <a:gd name="T6" fmla="*/ 4599 w 4605"/>
                <a:gd name="T7" fmla="*/ 1134 h 1297"/>
                <a:gd name="T8" fmla="*/ 4584 w 4605"/>
                <a:gd name="T9" fmla="*/ 1102 h 1297"/>
                <a:gd name="T10" fmla="*/ 3883 w 4605"/>
                <a:gd name="T11" fmla="*/ 48 h 1297"/>
                <a:gd name="T12" fmla="*/ 3867 w 4605"/>
                <a:gd name="T13" fmla="*/ 27 h 1297"/>
                <a:gd name="T14" fmla="*/ 3846 w 4605"/>
                <a:gd name="T15" fmla="*/ 12 h 1297"/>
                <a:gd name="T16" fmla="*/ 3822 w 4605"/>
                <a:gd name="T17" fmla="*/ 4 h 1297"/>
                <a:gd name="T18" fmla="*/ 3797 w 4605"/>
                <a:gd name="T19" fmla="*/ 0 h 1297"/>
                <a:gd name="T20" fmla="*/ 808 w 4605"/>
                <a:gd name="T21" fmla="*/ 0 h 1297"/>
                <a:gd name="T22" fmla="*/ 782 w 4605"/>
                <a:gd name="T23" fmla="*/ 4 h 1297"/>
                <a:gd name="T24" fmla="*/ 759 w 4605"/>
                <a:gd name="T25" fmla="*/ 12 h 1297"/>
                <a:gd name="T26" fmla="*/ 738 w 4605"/>
                <a:gd name="T27" fmla="*/ 27 h 1297"/>
                <a:gd name="T28" fmla="*/ 722 w 4605"/>
                <a:gd name="T29" fmla="*/ 48 h 1297"/>
                <a:gd name="T30" fmla="*/ 19 w 4605"/>
                <a:gd name="T31" fmla="*/ 1102 h 1297"/>
                <a:gd name="T32" fmla="*/ 6 w 4605"/>
                <a:gd name="T33" fmla="*/ 1134 h 1297"/>
                <a:gd name="T34" fmla="*/ 0 w 4605"/>
                <a:gd name="T35" fmla="*/ 1166 h 1297"/>
                <a:gd name="T36" fmla="*/ 3 w 4605"/>
                <a:gd name="T37" fmla="*/ 1199 h 1297"/>
                <a:gd name="T38" fmla="*/ 14 w 4605"/>
                <a:gd name="T39" fmla="*/ 1231 h 1297"/>
                <a:gd name="T40" fmla="*/ 24 w 4605"/>
                <a:gd name="T41" fmla="*/ 1245 h 1297"/>
                <a:gd name="T42" fmla="*/ 47 w 4605"/>
                <a:gd name="T43" fmla="*/ 1270 h 1297"/>
                <a:gd name="T44" fmla="*/ 76 w 4605"/>
                <a:gd name="T45" fmla="*/ 1287 h 1297"/>
                <a:gd name="T46" fmla="*/ 109 w 4605"/>
                <a:gd name="T47" fmla="*/ 1296 h 1297"/>
                <a:gd name="T48" fmla="*/ 397 w 4605"/>
                <a:gd name="T49" fmla="*/ 1297 h 1297"/>
                <a:gd name="T50" fmla="*/ 262 w 4605"/>
                <a:gd name="T51" fmla="*/ 1121 h 1297"/>
                <a:gd name="T52" fmla="*/ 254 w 4605"/>
                <a:gd name="T53" fmla="*/ 1120 h 1297"/>
                <a:gd name="T54" fmla="*/ 239 w 4605"/>
                <a:gd name="T55" fmla="*/ 1112 h 1297"/>
                <a:gd name="T56" fmla="*/ 234 w 4605"/>
                <a:gd name="T57" fmla="*/ 1104 h 1297"/>
                <a:gd name="T58" fmla="*/ 229 w 4605"/>
                <a:gd name="T59" fmla="*/ 1087 h 1297"/>
                <a:gd name="T60" fmla="*/ 235 w 4605"/>
                <a:gd name="T61" fmla="*/ 1071 h 1297"/>
                <a:gd name="T62" fmla="*/ 820 w 4605"/>
                <a:gd name="T63" fmla="*/ 162 h 1297"/>
                <a:gd name="T64" fmla="*/ 836 w 4605"/>
                <a:gd name="T65" fmla="*/ 146 h 1297"/>
                <a:gd name="T66" fmla="*/ 858 w 4605"/>
                <a:gd name="T67" fmla="*/ 141 h 1297"/>
                <a:gd name="T68" fmla="*/ 3746 w 4605"/>
                <a:gd name="T69" fmla="*/ 141 h 1297"/>
                <a:gd name="T70" fmla="*/ 3767 w 4605"/>
                <a:gd name="T71" fmla="*/ 146 h 1297"/>
                <a:gd name="T72" fmla="*/ 3783 w 4605"/>
                <a:gd name="T73" fmla="*/ 162 h 1297"/>
                <a:gd name="T74" fmla="*/ 4378 w 4605"/>
                <a:gd name="T75" fmla="*/ 1085 h 1297"/>
                <a:gd name="T76" fmla="*/ 4382 w 4605"/>
                <a:gd name="T77" fmla="*/ 1097 h 1297"/>
                <a:gd name="T78" fmla="*/ 4379 w 4605"/>
                <a:gd name="T79" fmla="*/ 1109 h 1297"/>
                <a:gd name="T80" fmla="*/ 4376 w 4605"/>
                <a:gd name="T81" fmla="*/ 1114 h 1297"/>
                <a:gd name="T82" fmla="*/ 4365 w 4605"/>
                <a:gd name="T83" fmla="*/ 1120 h 1297"/>
                <a:gd name="T84" fmla="*/ 4208 w 4605"/>
                <a:gd name="T85" fmla="*/ 1121 h 1297"/>
                <a:gd name="T86" fmla="*/ 4479 w 4605"/>
                <a:gd name="T87" fmla="*/ 1297 h 1297"/>
                <a:gd name="T88" fmla="*/ 4496 w 4605"/>
                <a:gd name="T89" fmla="*/ 1296 h 1297"/>
                <a:gd name="T90" fmla="*/ 4528 w 4605"/>
                <a:gd name="T91" fmla="*/ 1287 h 1297"/>
                <a:gd name="T92" fmla="*/ 4557 w 4605"/>
                <a:gd name="T93" fmla="*/ 1270 h 1297"/>
                <a:gd name="T94" fmla="*/ 4581 w 4605"/>
                <a:gd name="T95" fmla="*/ 1245 h 1297"/>
                <a:gd name="T96" fmla="*/ 4589 w 4605"/>
                <a:gd name="T97" fmla="*/ 1231 h 1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605" h="1297">
                  <a:moveTo>
                    <a:pt x="4589" y="1231"/>
                  </a:moveTo>
                  <a:lnTo>
                    <a:pt x="4589" y="1231"/>
                  </a:lnTo>
                  <a:lnTo>
                    <a:pt x="4597" y="1216"/>
                  </a:lnTo>
                  <a:lnTo>
                    <a:pt x="4602" y="1199"/>
                  </a:lnTo>
                  <a:lnTo>
                    <a:pt x="4604" y="1183"/>
                  </a:lnTo>
                  <a:lnTo>
                    <a:pt x="4605" y="1166"/>
                  </a:lnTo>
                  <a:lnTo>
                    <a:pt x="4603" y="1150"/>
                  </a:lnTo>
                  <a:lnTo>
                    <a:pt x="4599" y="1134"/>
                  </a:lnTo>
                  <a:lnTo>
                    <a:pt x="4593" y="1118"/>
                  </a:lnTo>
                  <a:lnTo>
                    <a:pt x="4584" y="1102"/>
                  </a:lnTo>
                  <a:lnTo>
                    <a:pt x="3883" y="48"/>
                  </a:lnTo>
                  <a:lnTo>
                    <a:pt x="3883" y="48"/>
                  </a:lnTo>
                  <a:lnTo>
                    <a:pt x="3875" y="37"/>
                  </a:lnTo>
                  <a:lnTo>
                    <a:pt x="3867" y="27"/>
                  </a:lnTo>
                  <a:lnTo>
                    <a:pt x="3856" y="20"/>
                  </a:lnTo>
                  <a:lnTo>
                    <a:pt x="3846" y="12"/>
                  </a:lnTo>
                  <a:lnTo>
                    <a:pt x="3834" y="7"/>
                  </a:lnTo>
                  <a:lnTo>
                    <a:pt x="3822" y="4"/>
                  </a:lnTo>
                  <a:lnTo>
                    <a:pt x="3809" y="1"/>
                  </a:lnTo>
                  <a:lnTo>
                    <a:pt x="3797" y="0"/>
                  </a:lnTo>
                  <a:lnTo>
                    <a:pt x="808" y="0"/>
                  </a:lnTo>
                  <a:lnTo>
                    <a:pt x="808" y="0"/>
                  </a:lnTo>
                  <a:lnTo>
                    <a:pt x="795" y="1"/>
                  </a:lnTo>
                  <a:lnTo>
                    <a:pt x="782" y="4"/>
                  </a:lnTo>
                  <a:lnTo>
                    <a:pt x="770" y="7"/>
                  </a:lnTo>
                  <a:lnTo>
                    <a:pt x="759" y="12"/>
                  </a:lnTo>
                  <a:lnTo>
                    <a:pt x="748" y="20"/>
                  </a:lnTo>
                  <a:lnTo>
                    <a:pt x="738" y="27"/>
                  </a:lnTo>
                  <a:lnTo>
                    <a:pt x="730" y="37"/>
                  </a:lnTo>
                  <a:lnTo>
                    <a:pt x="722" y="48"/>
                  </a:lnTo>
                  <a:lnTo>
                    <a:pt x="19" y="1102"/>
                  </a:lnTo>
                  <a:lnTo>
                    <a:pt x="19" y="1102"/>
                  </a:lnTo>
                  <a:lnTo>
                    <a:pt x="12" y="1118"/>
                  </a:lnTo>
                  <a:lnTo>
                    <a:pt x="6" y="1134"/>
                  </a:lnTo>
                  <a:lnTo>
                    <a:pt x="1" y="1150"/>
                  </a:lnTo>
                  <a:lnTo>
                    <a:pt x="0" y="1166"/>
                  </a:lnTo>
                  <a:lnTo>
                    <a:pt x="0" y="1183"/>
                  </a:lnTo>
                  <a:lnTo>
                    <a:pt x="3" y="1199"/>
                  </a:lnTo>
                  <a:lnTo>
                    <a:pt x="8" y="1216"/>
                  </a:lnTo>
                  <a:lnTo>
                    <a:pt x="14" y="1231"/>
                  </a:lnTo>
                  <a:lnTo>
                    <a:pt x="14" y="1231"/>
                  </a:lnTo>
                  <a:lnTo>
                    <a:pt x="24" y="1245"/>
                  </a:lnTo>
                  <a:lnTo>
                    <a:pt x="35" y="1259"/>
                  </a:lnTo>
                  <a:lnTo>
                    <a:pt x="47" y="1270"/>
                  </a:lnTo>
                  <a:lnTo>
                    <a:pt x="61" y="1278"/>
                  </a:lnTo>
                  <a:lnTo>
                    <a:pt x="76" y="1287"/>
                  </a:lnTo>
                  <a:lnTo>
                    <a:pt x="92" y="1292"/>
                  </a:lnTo>
                  <a:lnTo>
                    <a:pt x="109" y="1296"/>
                  </a:lnTo>
                  <a:lnTo>
                    <a:pt x="126" y="1297"/>
                  </a:lnTo>
                  <a:lnTo>
                    <a:pt x="397" y="1297"/>
                  </a:lnTo>
                  <a:lnTo>
                    <a:pt x="397" y="1121"/>
                  </a:lnTo>
                  <a:lnTo>
                    <a:pt x="262" y="1121"/>
                  </a:lnTo>
                  <a:lnTo>
                    <a:pt x="262" y="1121"/>
                  </a:lnTo>
                  <a:lnTo>
                    <a:pt x="254" y="1120"/>
                  </a:lnTo>
                  <a:lnTo>
                    <a:pt x="245" y="1117"/>
                  </a:lnTo>
                  <a:lnTo>
                    <a:pt x="239" y="1112"/>
                  </a:lnTo>
                  <a:lnTo>
                    <a:pt x="234" y="1104"/>
                  </a:lnTo>
                  <a:lnTo>
                    <a:pt x="234" y="1104"/>
                  </a:lnTo>
                  <a:lnTo>
                    <a:pt x="230" y="1096"/>
                  </a:lnTo>
                  <a:lnTo>
                    <a:pt x="229" y="1087"/>
                  </a:lnTo>
                  <a:lnTo>
                    <a:pt x="232" y="1079"/>
                  </a:lnTo>
                  <a:lnTo>
                    <a:pt x="235" y="1071"/>
                  </a:lnTo>
                  <a:lnTo>
                    <a:pt x="820" y="162"/>
                  </a:lnTo>
                  <a:lnTo>
                    <a:pt x="820" y="162"/>
                  </a:lnTo>
                  <a:lnTo>
                    <a:pt x="828" y="153"/>
                  </a:lnTo>
                  <a:lnTo>
                    <a:pt x="836" y="146"/>
                  </a:lnTo>
                  <a:lnTo>
                    <a:pt x="847" y="142"/>
                  </a:lnTo>
                  <a:lnTo>
                    <a:pt x="858" y="141"/>
                  </a:lnTo>
                  <a:lnTo>
                    <a:pt x="3746" y="141"/>
                  </a:lnTo>
                  <a:lnTo>
                    <a:pt x="3746" y="141"/>
                  </a:lnTo>
                  <a:lnTo>
                    <a:pt x="3757" y="142"/>
                  </a:lnTo>
                  <a:lnTo>
                    <a:pt x="3767" y="146"/>
                  </a:lnTo>
                  <a:lnTo>
                    <a:pt x="3777" y="153"/>
                  </a:lnTo>
                  <a:lnTo>
                    <a:pt x="3783" y="162"/>
                  </a:lnTo>
                  <a:lnTo>
                    <a:pt x="4378" y="1085"/>
                  </a:lnTo>
                  <a:lnTo>
                    <a:pt x="4378" y="1085"/>
                  </a:lnTo>
                  <a:lnTo>
                    <a:pt x="4382" y="1091"/>
                  </a:lnTo>
                  <a:lnTo>
                    <a:pt x="4382" y="1097"/>
                  </a:lnTo>
                  <a:lnTo>
                    <a:pt x="4382" y="1103"/>
                  </a:lnTo>
                  <a:lnTo>
                    <a:pt x="4379" y="1109"/>
                  </a:lnTo>
                  <a:lnTo>
                    <a:pt x="4379" y="1109"/>
                  </a:lnTo>
                  <a:lnTo>
                    <a:pt x="4376" y="1114"/>
                  </a:lnTo>
                  <a:lnTo>
                    <a:pt x="4371" y="1118"/>
                  </a:lnTo>
                  <a:lnTo>
                    <a:pt x="4365" y="1120"/>
                  </a:lnTo>
                  <a:lnTo>
                    <a:pt x="4359" y="1121"/>
                  </a:lnTo>
                  <a:lnTo>
                    <a:pt x="4208" y="1121"/>
                  </a:lnTo>
                  <a:lnTo>
                    <a:pt x="4208" y="1297"/>
                  </a:lnTo>
                  <a:lnTo>
                    <a:pt x="4479" y="1297"/>
                  </a:lnTo>
                  <a:lnTo>
                    <a:pt x="4479" y="1297"/>
                  </a:lnTo>
                  <a:lnTo>
                    <a:pt x="4496" y="1296"/>
                  </a:lnTo>
                  <a:lnTo>
                    <a:pt x="4512" y="1292"/>
                  </a:lnTo>
                  <a:lnTo>
                    <a:pt x="4528" y="1287"/>
                  </a:lnTo>
                  <a:lnTo>
                    <a:pt x="4543" y="1278"/>
                  </a:lnTo>
                  <a:lnTo>
                    <a:pt x="4557" y="1270"/>
                  </a:lnTo>
                  <a:lnTo>
                    <a:pt x="4570" y="1259"/>
                  </a:lnTo>
                  <a:lnTo>
                    <a:pt x="4581" y="1245"/>
                  </a:lnTo>
                  <a:lnTo>
                    <a:pt x="4589" y="1231"/>
                  </a:lnTo>
                  <a:lnTo>
                    <a:pt x="4589" y="1231"/>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85" name="Freeform 80">
              <a:extLst>
                <a:ext uri="{FF2B5EF4-FFF2-40B4-BE49-F238E27FC236}">
                  <a16:creationId xmlns:a16="http://schemas.microsoft.com/office/drawing/2014/main" id="{24480FD5-73A8-4614-96D5-4A47E29799B5}"/>
                </a:ext>
              </a:extLst>
            </p:cNvPr>
            <p:cNvSpPr>
              <a:spLocks/>
            </p:cNvSpPr>
            <p:nvPr/>
          </p:nvSpPr>
          <p:spPr bwMode="auto">
            <a:xfrm>
              <a:off x="2059821" y="3533547"/>
              <a:ext cx="142954" cy="142954"/>
            </a:xfrm>
            <a:custGeom>
              <a:avLst/>
              <a:gdLst>
                <a:gd name="T0" fmla="*/ 293 w 586"/>
                <a:gd name="T1" fmla="*/ 586 h 586"/>
                <a:gd name="T2" fmla="*/ 322 w 586"/>
                <a:gd name="T3" fmla="*/ 584 h 586"/>
                <a:gd name="T4" fmla="*/ 352 w 586"/>
                <a:gd name="T5" fmla="*/ 580 h 586"/>
                <a:gd name="T6" fmla="*/ 407 w 586"/>
                <a:gd name="T7" fmla="*/ 563 h 586"/>
                <a:gd name="T8" fmla="*/ 456 w 586"/>
                <a:gd name="T9" fmla="*/ 536 h 586"/>
                <a:gd name="T10" fmla="*/ 500 w 586"/>
                <a:gd name="T11" fmla="*/ 501 h 586"/>
                <a:gd name="T12" fmla="*/ 536 w 586"/>
                <a:gd name="T13" fmla="*/ 456 h 586"/>
                <a:gd name="T14" fmla="*/ 563 w 586"/>
                <a:gd name="T15" fmla="*/ 407 h 586"/>
                <a:gd name="T16" fmla="*/ 580 w 586"/>
                <a:gd name="T17" fmla="*/ 352 h 586"/>
                <a:gd name="T18" fmla="*/ 585 w 586"/>
                <a:gd name="T19" fmla="*/ 323 h 586"/>
                <a:gd name="T20" fmla="*/ 586 w 586"/>
                <a:gd name="T21" fmla="*/ 293 h 586"/>
                <a:gd name="T22" fmla="*/ 585 w 586"/>
                <a:gd name="T23" fmla="*/ 277 h 586"/>
                <a:gd name="T24" fmla="*/ 582 w 586"/>
                <a:gd name="T25" fmla="*/ 248 h 586"/>
                <a:gd name="T26" fmla="*/ 572 w 586"/>
                <a:gd name="T27" fmla="*/ 206 h 586"/>
                <a:gd name="T28" fmla="*/ 550 w 586"/>
                <a:gd name="T29" fmla="*/ 153 h 586"/>
                <a:gd name="T30" fmla="*/ 518 w 586"/>
                <a:gd name="T31" fmla="*/ 107 h 586"/>
                <a:gd name="T32" fmla="*/ 479 w 586"/>
                <a:gd name="T33" fmla="*/ 66 h 586"/>
                <a:gd name="T34" fmla="*/ 433 w 586"/>
                <a:gd name="T35" fmla="*/ 36 h 586"/>
                <a:gd name="T36" fmla="*/ 380 w 586"/>
                <a:gd name="T37" fmla="*/ 14 h 586"/>
                <a:gd name="T38" fmla="*/ 337 w 586"/>
                <a:gd name="T39" fmla="*/ 4 h 586"/>
                <a:gd name="T40" fmla="*/ 307 w 586"/>
                <a:gd name="T41" fmla="*/ 0 h 586"/>
                <a:gd name="T42" fmla="*/ 293 w 586"/>
                <a:gd name="T43" fmla="*/ 0 h 586"/>
                <a:gd name="T44" fmla="*/ 262 w 586"/>
                <a:gd name="T45" fmla="*/ 1 h 586"/>
                <a:gd name="T46" fmla="*/ 234 w 586"/>
                <a:gd name="T47" fmla="*/ 6 h 586"/>
                <a:gd name="T48" fmla="*/ 179 w 586"/>
                <a:gd name="T49" fmla="*/ 23 h 586"/>
                <a:gd name="T50" fmla="*/ 128 w 586"/>
                <a:gd name="T51" fmla="*/ 50 h 586"/>
                <a:gd name="T52" fmla="*/ 85 w 586"/>
                <a:gd name="T53" fmla="*/ 86 h 586"/>
                <a:gd name="T54" fmla="*/ 50 w 586"/>
                <a:gd name="T55" fmla="*/ 129 h 586"/>
                <a:gd name="T56" fmla="*/ 23 w 586"/>
                <a:gd name="T57" fmla="*/ 179 h 586"/>
                <a:gd name="T58" fmla="*/ 6 w 586"/>
                <a:gd name="T59" fmla="*/ 234 h 586"/>
                <a:gd name="T60" fmla="*/ 1 w 586"/>
                <a:gd name="T61" fmla="*/ 263 h 586"/>
                <a:gd name="T62" fmla="*/ 0 w 586"/>
                <a:gd name="T63" fmla="*/ 293 h 586"/>
                <a:gd name="T64" fmla="*/ 0 w 586"/>
                <a:gd name="T65" fmla="*/ 308 h 586"/>
                <a:gd name="T66" fmla="*/ 3 w 586"/>
                <a:gd name="T67" fmla="*/ 337 h 586"/>
                <a:gd name="T68" fmla="*/ 13 w 586"/>
                <a:gd name="T69" fmla="*/ 380 h 586"/>
                <a:gd name="T70" fmla="*/ 35 w 586"/>
                <a:gd name="T71" fmla="*/ 433 h 586"/>
                <a:gd name="T72" fmla="*/ 67 w 586"/>
                <a:gd name="T73" fmla="*/ 480 h 586"/>
                <a:gd name="T74" fmla="*/ 106 w 586"/>
                <a:gd name="T75" fmla="*/ 519 h 586"/>
                <a:gd name="T76" fmla="*/ 153 w 586"/>
                <a:gd name="T77" fmla="*/ 551 h 586"/>
                <a:gd name="T78" fmla="*/ 206 w 586"/>
                <a:gd name="T79" fmla="*/ 573 h 586"/>
                <a:gd name="T80" fmla="*/ 249 w 586"/>
                <a:gd name="T81" fmla="*/ 583 h 586"/>
                <a:gd name="T82" fmla="*/ 278 w 586"/>
                <a:gd name="T83" fmla="*/ 585 h 586"/>
                <a:gd name="T84" fmla="*/ 293 w 586"/>
                <a:gd name="T85" fmla="*/ 586 h 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86" h="586">
                  <a:moveTo>
                    <a:pt x="293" y="586"/>
                  </a:moveTo>
                  <a:lnTo>
                    <a:pt x="293" y="586"/>
                  </a:lnTo>
                  <a:lnTo>
                    <a:pt x="307" y="585"/>
                  </a:lnTo>
                  <a:lnTo>
                    <a:pt x="322" y="584"/>
                  </a:lnTo>
                  <a:lnTo>
                    <a:pt x="337" y="583"/>
                  </a:lnTo>
                  <a:lnTo>
                    <a:pt x="352" y="580"/>
                  </a:lnTo>
                  <a:lnTo>
                    <a:pt x="380" y="573"/>
                  </a:lnTo>
                  <a:lnTo>
                    <a:pt x="407" y="563"/>
                  </a:lnTo>
                  <a:lnTo>
                    <a:pt x="433" y="551"/>
                  </a:lnTo>
                  <a:lnTo>
                    <a:pt x="456" y="536"/>
                  </a:lnTo>
                  <a:lnTo>
                    <a:pt x="479" y="519"/>
                  </a:lnTo>
                  <a:lnTo>
                    <a:pt x="500" y="501"/>
                  </a:lnTo>
                  <a:lnTo>
                    <a:pt x="518" y="480"/>
                  </a:lnTo>
                  <a:lnTo>
                    <a:pt x="536" y="456"/>
                  </a:lnTo>
                  <a:lnTo>
                    <a:pt x="550" y="433"/>
                  </a:lnTo>
                  <a:lnTo>
                    <a:pt x="563" y="407"/>
                  </a:lnTo>
                  <a:lnTo>
                    <a:pt x="572" y="380"/>
                  </a:lnTo>
                  <a:lnTo>
                    <a:pt x="580" y="352"/>
                  </a:lnTo>
                  <a:lnTo>
                    <a:pt x="582" y="337"/>
                  </a:lnTo>
                  <a:lnTo>
                    <a:pt x="585" y="323"/>
                  </a:lnTo>
                  <a:lnTo>
                    <a:pt x="585" y="308"/>
                  </a:lnTo>
                  <a:lnTo>
                    <a:pt x="586" y="293"/>
                  </a:lnTo>
                  <a:lnTo>
                    <a:pt x="586" y="293"/>
                  </a:lnTo>
                  <a:lnTo>
                    <a:pt x="585" y="277"/>
                  </a:lnTo>
                  <a:lnTo>
                    <a:pt x="585" y="263"/>
                  </a:lnTo>
                  <a:lnTo>
                    <a:pt x="582" y="248"/>
                  </a:lnTo>
                  <a:lnTo>
                    <a:pt x="580" y="234"/>
                  </a:lnTo>
                  <a:lnTo>
                    <a:pt x="572" y="206"/>
                  </a:lnTo>
                  <a:lnTo>
                    <a:pt x="563" y="179"/>
                  </a:lnTo>
                  <a:lnTo>
                    <a:pt x="550" y="153"/>
                  </a:lnTo>
                  <a:lnTo>
                    <a:pt x="536" y="129"/>
                  </a:lnTo>
                  <a:lnTo>
                    <a:pt x="518" y="107"/>
                  </a:lnTo>
                  <a:lnTo>
                    <a:pt x="500" y="86"/>
                  </a:lnTo>
                  <a:lnTo>
                    <a:pt x="479" y="66"/>
                  </a:lnTo>
                  <a:lnTo>
                    <a:pt x="456" y="50"/>
                  </a:lnTo>
                  <a:lnTo>
                    <a:pt x="433" y="36"/>
                  </a:lnTo>
                  <a:lnTo>
                    <a:pt x="407" y="23"/>
                  </a:lnTo>
                  <a:lnTo>
                    <a:pt x="380" y="14"/>
                  </a:lnTo>
                  <a:lnTo>
                    <a:pt x="352" y="6"/>
                  </a:lnTo>
                  <a:lnTo>
                    <a:pt x="337" y="4"/>
                  </a:lnTo>
                  <a:lnTo>
                    <a:pt x="322" y="1"/>
                  </a:lnTo>
                  <a:lnTo>
                    <a:pt x="307" y="0"/>
                  </a:lnTo>
                  <a:lnTo>
                    <a:pt x="293" y="0"/>
                  </a:lnTo>
                  <a:lnTo>
                    <a:pt x="293" y="0"/>
                  </a:lnTo>
                  <a:lnTo>
                    <a:pt x="278" y="0"/>
                  </a:lnTo>
                  <a:lnTo>
                    <a:pt x="262" y="1"/>
                  </a:lnTo>
                  <a:lnTo>
                    <a:pt x="249" y="4"/>
                  </a:lnTo>
                  <a:lnTo>
                    <a:pt x="234" y="6"/>
                  </a:lnTo>
                  <a:lnTo>
                    <a:pt x="206" y="14"/>
                  </a:lnTo>
                  <a:lnTo>
                    <a:pt x="179" y="23"/>
                  </a:lnTo>
                  <a:lnTo>
                    <a:pt x="153" y="36"/>
                  </a:lnTo>
                  <a:lnTo>
                    <a:pt x="128" y="50"/>
                  </a:lnTo>
                  <a:lnTo>
                    <a:pt x="106" y="66"/>
                  </a:lnTo>
                  <a:lnTo>
                    <a:pt x="85" y="86"/>
                  </a:lnTo>
                  <a:lnTo>
                    <a:pt x="67" y="107"/>
                  </a:lnTo>
                  <a:lnTo>
                    <a:pt x="50" y="129"/>
                  </a:lnTo>
                  <a:lnTo>
                    <a:pt x="35" y="153"/>
                  </a:lnTo>
                  <a:lnTo>
                    <a:pt x="23" y="179"/>
                  </a:lnTo>
                  <a:lnTo>
                    <a:pt x="13" y="206"/>
                  </a:lnTo>
                  <a:lnTo>
                    <a:pt x="6" y="234"/>
                  </a:lnTo>
                  <a:lnTo>
                    <a:pt x="3" y="248"/>
                  </a:lnTo>
                  <a:lnTo>
                    <a:pt x="1" y="263"/>
                  </a:lnTo>
                  <a:lnTo>
                    <a:pt x="0" y="277"/>
                  </a:lnTo>
                  <a:lnTo>
                    <a:pt x="0" y="293"/>
                  </a:lnTo>
                  <a:lnTo>
                    <a:pt x="0" y="293"/>
                  </a:lnTo>
                  <a:lnTo>
                    <a:pt x="0" y="308"/>
                  </a:lnTo>
                  <a:lnTo>
                    <a:pt x="1" y="323"/>
                  </a:lnTo>
                  <a:lnTo>
                    <a:pt x="3" y="337"/>
                  </a:lnTo>
                  <a:lnTo>
                    <a:pt x="6" y="352"/>
                  </a:lnTo>
                  <a:lnTo>
                    <a:pt x="13" y="380"/>
                  </a:lnTo>
                  <a:lnTo>
                    <a:pt x="23" y="407"/>
                  </a:lnTo>
                  <a:lnTo>
                    <a:pt x="35" y="433"/>
                  </a:lnTo>
                  <a:lnTo>
                    <a:pt x="50" y="456"/>
                  </a:lnTo>
                  <a:lnTo>
                    <a:pt x="67" y="480"/>
                  </a:lnTo>
                  <a:lnTo>
                    <a:pt x="85" y="501"/>
                  </a:lnTo>
                  <a:lnTo>
                    <a:pt x="106" y="519"/>
                  </a:lnTo>
                  <a:lnTo>
                    <a:pt x="128" y="536"/>
                  </a:lnTo>
                  <a:lnTo>
                    <a:pt x="153" y="551"/>
                  </a:lnTo>
                  <a:lnTo>
                    <a:pt x="179" y="563"/>
                  </a:lnTo>
                  <a:lnTo>
                    <a:pt x="206" y="573"/>
                  </a:lnTo>
                  <a:lnTo>
                    <a:pt x="234" y="580"/>
                  </a:lnTo>
                  <a:lnTo>
                    <a:pt x="249" y="583"/>
                  </a:lnTo>
                  <a:lnTo>
                    <a:pt x="262" y="584"/>
                  </a:lnTo>
                  <a:lnTo>
                    <a:pt x="278" y="585"/>
                  </a:lnTo>
                  <a:lnTo>
                    <a:pt x="293" y="586"/>
                  </a:lnTo>
                  <a:lnTo>
                    <a:pt x="293" y="586"/>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86" name="Freeform 81">
              <a:extLst>
                <a:ext uri="{FF2B5EF4-FFF2-40B4-BE49-F238E27FC236}">
                  <a16:creationId xmlns:a16="http://schemas.microsoft.com/office/drawing/2014/main" id="{EE354A8A-7C14-49FD-A24F-A62EA0BE8EEC}"/>
                </a:ext>
              </a:extLst>
            </p:cNvPr>
            <p:cNvSpPr>
              <a:spLocks/>
            </p:cNvSpPr>
            <p:nvPr/>
          </p:nvSpPr>
          <p:spPr bwMode="auto">
            <a:xfrm>
              <a:off x="1993467" y="3682355"/>
              <a:ext cx="275662" cy="200038"/>
            </a:xfrm>
            <a:custGeom>
              <a:avLst/>
              <a:gdLst>
                <a:gd name="T0" fmla="*/ 1130 w 1130"/>
                <a:gd name="T1" fmla="*/ 164 h 820"/>
                <a:gd name="T2" fmla="*/ 1130 w 1130"/>
                <a:gd name="T3" fmla="*/ 162 h 820"/>
                <a:gd name="T4" fmla="*/ 1129 w 1130"/>
                <a:gd name="T5" fmla="*/ 146 h 820"/>
                <a:gd name="T6" fmla="*/ 1122 w 1130"/>
                <a:gd name="T7" fmla="*/ 114 h 820"/>
                <a:gd name="T8" fmla="*/ 1109 w 1130"/>
                <a:gd name="T9" fmla="*/ 85 h 820"/>
                <a:gd name="T10" fmla="*/ 1092 w 1130"/>
                <a:gd name="T11" fmla="*/ 59 h 820"/>
                <a:gd name="T12" fmla="*/ 1069 w 1130"/>
                <a:gd name="T13" fmla="*/ 37 h 820"/>
                <a:gd name="T14" fmla="*/ 1043 w 1130"/>
                <a:gd name="T15" fmla="*/ 20 h 820"/>
                <a:gd name="T16" fmla="*/ 1014 w 1130"/>
                <a:gd name="T17" fmla="*/ 7 h 820"/>
                <a:gd name="T18" fmla="*/ 982 w 1130"/>
                <a:gd name="T19" fmla="*/ 1 h 820"/>
                <a:gd name="T20" fmla="*/ 966 w 1130"/>
                <a:gd name="T21" fmla="*/ 0 h 820"/>
                <a:gd name="T22" fmla="*/ 964 w 1130"/>
                <a:gd name="T23" fmla="*/ 0 h 820"/>
                <a:gd name="T24" fmla="*/ 167 w 1130"/>
                <a:gd name="T25" fmla="*/ 0 h 820"/>
                <a:gd name="T26" fmla="*/ 165 w 1130"/>
                <a:gd name="T27" fmla="*/ 0 h 820"/>
                <a:gd name="T28" fmla="*/ 149 w 1130"/>
                <a:gd name="T29" fmla="*/ 1 h 820"/>
                <a:gd name="T30" fmla="*/ 117 w 1130"/>
                <a:gd name="T31" fmla="*/ 7 h 820"/>
                <a:gd name="T32" fmla="*/ 87 w 1130"/>
                <a:gd name="T33" fmla="*/ 20 h 820"/>
                <a:gd name="T34" fmla="*/ 62 w 1130"/>
                <a:gd name="T35" fmla="*/ 37 h 820"/>
                <a:gd name="T36" fmla="*/ 38 w 1130"/>
                <a:gd name="T37" fmla="*/ 59 h 820"/>
                <a:gd name="T38" fmla="*/ 21 w 1130"/>
                <a:gd name="T39" fmla="*/ 85 h 820"/>
                <a:gd name="T40" fmla="*/ 9 w 1130"/>
                <a:gd name="T41" fmla="*/ 114 h 820"/>
                <a:gd name="T42" fmla="*/ 1 w 1130"/>
                <a:gd name="T43" fmla="*/ 146 h 820"/>
                <a:gd name="T44" fmla="*/ 0 w 1130"/>
                <a:gd name="T45" fmla="*/ 162 h 820"/>
                <a:gd name="T46" fmla="*/ 0 w 1130"/>
                <a:gd name="T47" fmla="*/ 318 h 820"/>
                <a:gd name="T48" fmla="*/ 0 w 1130"/>
                <a:gd name="T49" fmla="*/ 550 h 820"/>
                <a:gd name="T50" fmla="*/ 0 w 1130"/>
                <a:gd name="T51" fmla="*/ 655 h 820"/>
                <a:gd name="T52" fmla="*/ 4 w 1130"/>
                <a:gd name="T53" fmla="*/ 688 h 820"/>
                <a:gd name="T54" fmla="*/ 12 w 1130"/>
                <a:gd name="T55" fmla="*/ 719 h 820"/>
                <a:gd name="T56" fmla="*/ 28 w 1130"/>
                <a:gd name="T57" fmla="*/ 747 h 820"/>
                <a:gd name="T58" fmla="*/ 48 w 1130"/>
                <a:gd name="T59" fmla="*/ 772 h 820"/>
                <a:gd name="T60" fmla="*/ 73 w 1130"/>
                <a:gd name="T61" fmla="*/ 791 h 820"/>
                <a:gd name="T62" fmla="*/ 101 w 1130"/>
                <a:gd name="T63" fmla="*/ 806 h 820"/>
                <a:gd name="T64" fmla="*/ 131 w 1130"/>
                <a:gd name="T65" fmla="*/ 816 h 820"/>
                <a:gd name="T66" fmla="*/ 165 w 1130"/>
                <a:gd name="T67" fmla="*/ 820 h 820"/>
                <a:gd name="T68" fmla="*/ 167 w 1130"/>
                <a:gd name="T69" fmla="*/ 820 h 820"/>
                <a:gd name="T70" fmla="*/ 964 w 1130"/>
                <a:gd name="T71" fmla="*/ 820 h 820"/>
                <a:gd name="T72" fmla="*/ 964 w 1130"/>
                <a:gd name="T73" fmla="*/ 820 h 820"/>
                <a:gd name="T74" fmla="*/ 966 w 1130"/>
                <a:gd name="T75" fmla="*/ 820 h 820"/>
                <a:gd name="T76" fmla="*/ 999 w 1130"/>
                <a:gd name="T77" fmla="*/ 816 h 820"/>
                <a:gd name="T78" fmla="*/ 1030 w 1130"/>
                <a:gd name="T79" fmla="*/ 806 h 820"/>
                <a:gd name="T80" fmla="*/ 1058 w 1130"/>
                <a:gd name="T81" fmla="*/ 791 h 820"/>
                <a:gd name="T82" fmla="*/ 1082 w 1130"/>
                <a:gd name="T83" fmla="*/ 772 h 820"/>
                <a:gd name="T84" fmla="*/ 1102 w 1130"/>
                <a:gd name="T85" fmla="*/ 747 h 820"/>
                <a:gd name="T86" fmla="*/ 1118 w 1130"/>
                <a:gd name="T87" fmla="*/ 719 h 820"/>
                <a:gd name="T88" fmla="*/ 1126 w 1130"/>
                <a:gd name="T89" fmla="*/ 688 h 820"/>
                <a:gd name="T90" fmla="*/ 1130 w 1130"/>
                <a:gd name="T91" fmla="*/ 655 h 820"/>
                <a:gd name="T92" fmla="*/ 1130 w 1130"/>
                <a:gd name="T93" fmla="*/ 502 h 8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130" h="820">
                  <a:moveTo>
                    <a:pt x="1130" y="318"/>
                  </a:moveTo>
                  <a:lnTo>
                    <a:pt x="1130" y="164"/>
                  </a:lnTo>
                  <a:lnTo>
                    <a:pt x="1130" y="164"/>
                  </a:lnTo>
                  <a:lnTo>
                    <a:pt x="1130" y="162"/>
                  </a:lnTo>
                  <a:lnTo>
                    <a:pt x="1130" y="162"/>
                  </a:lnTo>
                  <a:lnTo>
                    <a:pt x="1129" y="146"/>
                  </a:lnTo>
                  <a:lnTo>
                    <a:pt x="1126" y="130"/>
                  </a:lnTo>
                  <a:lnTo>
                    <a:pt x="1122" y="114"/>
                  </a:lnTo>
                  <a:lnTo>
                    <a:pt x="1117" y="99"/>
                  </a:lnTo>
                  <a:lnTo>
                    <a:pt x="1109" y="85"/>
                  </a:lnTo>
                  <a:lnTo>
                    <a:pt x="1101" y="71"/>
                  </a:lnTo>
                  <a:lnTo>
                    <a:pt x="1092" y="59"/>
                  </a:lnTo>
                  <a:lnTo>
                    <a:pt x="1081" y="48"/>
                  </a:lnTo>
                  <a:lnTo>
                    <a:pt x="1069" y="37"/>
                  </a:lnTo>
                  <a:lnTo>
                    <a:pt x="1056" y="28"/>
                  </a:lnTo>
                  <a:lnTo>
                    <a:pt x="1043" y="20"/>
                  </a:lnTo>
                  <a:lnTo>
                    <a:pt x="1030" y="12"/>
                  </a:lnTo>
                  <a:lnTo>
                    <a:pt x="1014" y="7"/>
                  </a:lnTo>
                  <a:lnTo>
                    <a:pt x="999" y="4"/>
                  </a:lnTo>
                  <a:lnTo>
                    <a:pt x="982" y="1"/>
                  </a:lnTo>
                  <a:lnTo>
                    <a:pt x="966" y="0"/>
                  </a:lnTo>
                  <a:lnTo>
                    <a:pt x="966" y="0"/>
                  </a:lnTo>
                  <a:lnTo>
                    <a:pt x="964" y="0"/>
                  </a:lnTo>
                  <a:lnTo>
                    <a:pt x="964" y="0"/>
                  </a:lnTo>
                  <a:lnTo>
                    <a:pt x="167" y="0"/>
                  </a:lnTo>
                  <a:lnTo>
                    <a:pt x="167" y="0"/>
                  </a:lnTo>
                  <a:lnTo>
                    <a:pt x="167" y="0"/>
                  </a:lnTo>
                  <a:lnTo>
                    <a:pt x="165" y="0"/>
                  </a:lnTo>
                  <a:lnTo>
                    <a:pt x="165" y="0"/>
                  </a:lnTo>
                  <a:lnTo>
                    <a:pt x="149" y="1"/>
                  </a:lnTo>
                  <a:lnTo>
                    <a:pt x="131" y="4"/>
                  </a:lnTo>
                  <a:lnTo>
                    <a:pt x="117" y="7"/>
                  </a:lnTo>
                  <a:lnTo>
                    <a:pt x="102" y="12"/>
                  </a:lnTo>
                  <a:lnTo>
                    <a:pt x="87" y="20"/>
                  </a:lnTo>
                  <a:lnTo>
                    <a:pt x="74" y="28"/>
                  </a:lnTo>
                  <a:lnTo>
                    <a:pt x="62" y="37"/>
                  </a:lnTo>
                  <a:lnTo>
                    <a:pt x="49" y="48"/>
                  </a:lnTo>
                  <a:lnTo>
                    <a:pt x="38" y="59"/>
                  </a:lnTo>
                  <a:lnTo>
                    <a:pt x="30" y="71"/>
                  </a:lnTo>
                  <a:lnTo>
                    <a:pt x="21" y="85"/>
                  </a:lnTo>
                  <a:lnTo>
                    <a:pt x="14" y="99"/>
                  </a:lnTo>
                  <a:lnTo>
                    <a:pt x="9" y="114"/>
                  </a:lnTo>
                  <a:lnTo>
                    <a:pt x="4" y="130"/>
                  </a:lnTo>
                  <a:lnTo>
                    <a:pt x="1" y="146"/>
                  </a:lnTo>
                  <a:lnTo>
                    <a:pt x="0" y="162"/>
                  </a:lnTo>
                  <a:lnTo>
                    <a:pt x="0" y="162"/>
                  </a:lnTo>
                  <a:lnTo>
                    <a:pt x="0" y="164"/>
                  </a:lnTo>
                  <a:lnTo>
                    <a:pt x="0" y="318"/>
                  </a:lnTo>
                  <a:lnTo>
                    <a:pt x="0" y="502"/>
                  </a:lnTo>
                  <a:lnTo>
                    <a:pt x="0" y="550"/>
                  </a:lnTo>
                  <a:lnTo>
                    <a:pt x="0" y="655"/>
                  </a:lnTo>
                  <a:lnTo>
                    <a:pt x="0" y="655"/>
                  </a:lnTo>
                  <a:lnTo>
                    <a:pt x="1" y="671"/>
                  </a:lnTo>
                  <a:lnTo>
                    <a:pt x="4" y="688"/>
                  </a:lnTo>
                  <a:lnTo>
                    <a:pt x="8" y="704"/>
                  </a:lnTo>
                  <a:lnTo>
                    <a:pt x="12" y="719"/>
                  </a:lnTo>
                  <a:lnTo>
                    <a:pt x="20" y="734"/>
                  </a:lnTo>
                  <a:lnTo>
                    <a:pt x="28" y="747"/>
                  </a:lnTo>
                  <a:lnTo>
                    <a:pt x="38" y="759"/>
                  </a:lnTo>
                  <a:lnTo>
                    <a:pt x="48" y="772"/>
                  </a:lnTo>
                  <a:lnTo>
                    <a:pt x="60" y="781"/>
                  </a:lnTo>
                  <a:lnTo>
                    <a:pt x="73" y="791"/>
                  </a:lnTo>
                  <a:lnTo>
                    <a:pt x="86" y="800"/>
                  </a:lnTo>
                  <a:lnTo>
                    <a:pt x="101" y="806"/>
                  </a:lnTo>
                  <a:lnTo>
                    <a:pt x="116" y="812"/>
                  </a:lnTo>
                  <a:lnTo>
                    <a:pt x="131" y="816"/>
                  </a:lnTo>
                  <a:lnTo>
                    <a:pt x="149" y="818"/>
                  </a:lnTo>
                  <a:lnTo>
                    <a:pt x="165" y="820"/>
                  </a:lnTo>
                  <a:lnTo>
                    <a:pt x="165" y="820"/>
                  </a:lnTo>
                  <a:lnTo>
                    <a:pt x="167" y="820"/>
                  </a:lnTo>
                  <a:lnTo>
                    <a:pt x="167" y="820"/>
                  </a:lnTo>
                  <a:lnTo>
                    <a:pt x="964" y="820"/>
                  </a:lnTo>
                  <a:lnTo>
                    <a:pt x="964" y="820"/>
                  </a:lnTo>
                  <a:lnTo>
                    <a:pt x="964" y="820"/>
                  </a:lnTo>
                  <a:lnTo>
                    <a:pt x="966" y="820"/>
                  </a:lnTo>
                  <a:lnTo>
                    <a:pt x="966" y="820"/>
                  </a:lnTo>
                  <a:lnTo>
                    <a:pt x="983" y="818"/>
                  </a:lnTo>
                  <a:lnTo>
                    <a:pt x="999" y="816"/>
                  </a:lnTo>
                  <a:lnTo>
                    <a:pt x="1015" y="812"/>
                  </a:lnTo>
                  <a:lnTo>
                    <a:pt x="1030" y="806"/>
                  </a:lnTo>
                  <a:lnTo>
                    <a:pt x="1044" y="800"/>
                  </a:lnTo>
                  <a:lnTo>
                    <a:pt x="1058" y="791"/>
                  </a:lnTo>
                  <a:lnTo>
                    <a:pt x="1070" y="781"/>
                  </a:lnTo>
                  <a:lnTo>
                    <a:pt x="1082" y="772"/>
                  </a:lnTo>
                  <a:lnTo>
                    <a:pt x="1092" y="759"/>
                  </a:lnTo>
                  <a:lnTo>
                    <a:pt x="1102" y="747"/>
                  </a:lnTo>
                  <a:lnTo>
                    <a:pt x="1110" y="734"/>
                  </a:lnTo>
                  <a:lnTo>
                    <a:pt x="1118" y="719"/>
                  </a:lnTo>
                  <a:lnTo>
                    <a:pt x="1123" y="704"/>
                  </a:lnTo>
                  <a:lnTo>
                    <a:pt x="1126" y="688"/>
                  </a:lnTo>
                  <a:lnTo>
                    <a:pt x="1129" y="671"/>
                  </a:lnTo>
                  <a:lnTo>
                    <a:pt x="1130" y="655"/>
                  </a:lnTo>
                  <a:lnTo>
                    <a:pt x="1130" y="550"/>
                  </a:lnTo>
                  <a:lnTo>
                    <a:pt x="1130" y="502"/>
                  </a:lnTo>
                  <a:lnTo>
                    <a:pt x="1130" y="318"/>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87" name="Freeform 82">
              <a:extLst>
                <a:ext uri="{FF2B5EF4-FFF2-40B4-BE49-F238E27FC236}">
                  <a16:creationId xmlns:a16="http://schemas.microsoft.com/office/drawing/2014/main" id="{6052A0CD-08A2-4D38-9569-A0FE0B8A7588}"/>
                </a:ext>
              </a:extLst>
            </p:cNvPr>
            <p:cNvSpPr>
              <a:spLocks/>
            </p:cNvSpPr>
            <p:nvPr/>
          </p:nvSpPr>
          <p:spPr bwMode="auto">
            <a:xfrm>
              <a:off x="2359877" y="3533547"/>
              <a:ext cx="142954" cy="142954"/>
            </a:xfrm>
            <a:custGeom>
              <a:avLst/>
              <a:gdLst>
                <a:gd name="T0" fmla="*/ 293 w 586"/>
                <a:gd name="T1" fmla="*/ 586 h 586"/>
                <a:gd name="T2" fmla="*/ 324 w 586"/>
                <a:gd name="T3" fmla="*/ 584 h 586"/>
                <a:gd name="T4" fmla="*/ 352 w 586"/>
                <a:gd name="T5" fmla="*/ 580 h 586"/>
                <a:gd name="T6" fmla="*/ 407 w 586"/>
                <a:gd name="T7" fmla="*/ 563 h 586"/>
                <a:gd name="T8" fmla="*/ 457 w 586"/>
                <a:gd name="T9" fmla="*/ 536 h 586"/>
                <a:gd name="T10" fmla="*/ 500 w 586"/>
                <a:gd name="T11" fmla="*/ 501 h 586"/>
                <a:gd name="T12" fmla="*/ 536 w 586"/>
                <a:gd name="T13" fmla="*/ 456 h 586"/>
                <a:gd name="T14" fmla="*/ 563 w 586"/>
                <a:gd name="T15" fmla="*/ 407 h 586"/>
                <a:gd name="T16" fmla="*/ 580 w 586"/>
                <a:gd name="T17" fmla="*/ 352 h 586"/>
                <a:gd name="T18" fmla="*/ 585 w 586"/>
                <a:gd name="T19" fmla="*/ 323 h 586"/>
                <a:gd name="T20" fmla="*/ 586 w 586"/>
                <a:gd name="T21" fmla="*/ 293 h 586"/>
                <a:gd name="T22" fmla="*/ 586 w 586"/>
                <a:gd name="T23" fmla="*/ 277 h 586"/>
                <a:gd name="T24" fmla="*/ 583 w 586"/>
                <a:gd name="T25" fmla="*/ 248 h 586"/>
                <a:gd name="T26" fmla="*/ 573 w 586"/>
                <a:gd name="T27" fmla="*/ 206 h 586"/>
                <a:gd name="T28" fmla="*/ 551 w 586"/>
                <a:gd name="T29" fmla="*/ 153 h 586"/>
                <a:gd name="T30" fmla="*/ 519 w 586"/>
                <a:gd name="T31" fmla="*/ 107 h 586"/>
                <a:gd name="T32" fmla="*/ 480 w 586"/>
                <a:gd name="T33" fmla="*/ 66 h 586"/>
                <a:gd name="T34" fmla="*/ 433 w 586"/>
                <a:gd name="T35" fmla="*/ 36 h 586"/>
                <a:gd name="T36" fmla="*/ 380 w 586"/>
                <a:gd name="T37" fmla="*/ 14 h 586"/>
                <a:gd name="T38" fmla="*/ 338 w 586"/>
                <a:gd name="T39" fmla="*/ 4 h 586"/>
                <a:gd name="T40" fmla="*/ 308 w 586"/>
                <a:gd name="T41" fmla="*/ 0 h 586"/>
                <a:gd name="T42" fmla="*/ 293 w 586"/>
                <a:gd name="T43" fmla="*/ 0 h 586"/>
                <a:gd name="T44" fmla="*/ 264 w 586"/>
                <a:gd name="T45" fmla="*/ 1 h 586"/>
                <a:gd name="T46" fmla="*/ 234 w 586"/>
                <a:gd name="T47" fmla="*/ 6 h 586"/>
                <a:gd name="T48" fmla="*/ 179 w 586"/>
                <a:gd name="T49" fmla="*/ 23 h 586"/>
                <a:gd name="T50" fmla="*/ 130 w 586"/>
                <a:gd name="T51" fmla="*/ 50 h 586"/>
                <a:gd name="T52" fmla="*/ 86 w 586"/>
                <a:gd name="T53" fmla="*/ 86 h 586"/>
                <a:gd name="T54" fmla="*/ 50 w 586"/>
                <a:gd name="T55" fmla="*/ 129 h 586"/>
                <a:gd name="T56" fmla="*/ 23 w 586"/>
                <a:gd name="T57" fmla="*/ 179 h 586"/>
                <a:gd name="T58" fmla="*/ 6 w 586"/>
                <a:gd name="T59" fmla="*/ 234 h 586"/>
                <a:gd name="T60" fmla="*/ 2 w 586"/>
                <a:gd name="T61" fmla="*/ 263 h 586"/>
                <a:gd name="T62" fmla="*/ 0 w 586"/>
                <a:gd name="T63" fmla="*/ 293 h 586"/>
                <a:gd name="T64" fmla="*/ 1 w 586"/>
                <a:gd name="T65" fmla="*/ 308 h 586"/>
                <a:gd name="T66" fmla="*/ 4 w 586"/>
                <a:gd name="T67" fmla="*/ 337 h 586"/>
                <a:gd name="T68" fmla="*/ 13 w 586"/>
                <a:gd name="T69" fmla="*/ 380 h 586"/>
                <a:gd name="T70" fmla="*/ 35 w 586"/>
                <a:gd name="T71" fmla="*/ 433 h 586"/>
                <a:gd name="T72" fmla="*/ 67 w 586"/>
                <a:gd name="T73" fmla="*/ 480 h 586"/>
                <a:gd name="T74" fmla="*/ 107 w 586"/>
                <a:gd name="T75" fmla="*/ 519 h 586"/>
                <a:gd name="T76" fmla="*/ 153 w 586"/>
                <a:gd name="T77" fmla="*/ 551 h 586"/>
                <a:gd name="T78" fmla="*/ 206 w 586"/>
                <a:gd name="T79" fmla="*/ 573 h 586"/>
                <a:gd name="T80" fmla="*/ 249 w 586"/>
                <a:gd name="T81" fmla="*/ 583 h 586"/>
                <a:gd name="T82" fmla="*/ 278 w 586"/>
                <a:gd name="T83" fmla="*/ 585 h 586"/>
                <a:gd name="T84" fmla="*/ 293 w 586"/>
                <a:gd name="T85" fmla="*/ 586 h 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86" h="586">
                  <a:moveTo>
                    <a:pt x="293" y="586"/>
                  </a:moveTo>
                  <a:lnTo>
                    <a:pt x="293" y="586"/>
                  </a:lnTo>
                  <a:lnTo>
                    <a:pt x="308" y="585"/>
                  </a:lnTo>
                  <a:lnTo>
                    <a:pt x="324" y="584"/>
                  </a:lnTo>
                  <a:lnTo>
                    <a:pt x="338" y="583"/>
                  </a:lnTo>
                  <a:lnTo>
                    <a:pt x="352" y="580"/>
                  </a:lnTo>
                  <a:lnTo>
                    <a:pt x="380" y="573"/>
                  </a:lnTo>
                  <a:lnTo>
                    <a:pt x="407" y="563"/>
                  </a:lnTo>
                  <a:lnTo>
                    <a:pt x="433" y="551"/>
                  </a:lnTo>
                  <a:lnTo>
                    <a:pt x="457" y="536"/>
                  </a:lnTo>
                  <a:lnTo>
                    <a:pt x="480" y="519"/>
                  </a:lnTo>
                  <a:lnTo>
                    <a:pt x="500" y="501"/>
                  </a:lnTo>
                  <a:lnTo>
                    <a:pt x="519" y="480"/>
                  </a:lnTo>
                  <a:lnTo>
                    <a:pt x="536" y="456"/>
                  </a:lnTo>
                  <a:lnTo>
                    <a:pt x="551" y="433"/>
                  </a:lnTo>
                  <a:lnTo>
                    <a:pt x="563" y="407"/>
                  </a:lnTo>
                  <a:lnTo>
                    <a:pt x="573" y="380"/>
                  </a:lnTo>
                  <a:lnTo>
                    <a:pt x="580" y="352"/>
                  </a:lnTo>
                  <a:lnTo>
                    <a:pt x="583" y="337"/>
                  </a:lnTo>
                  <a:lnTo>
                    <a:pt x="585" y="323"/>
                  </a:lnTo>
                  <a:lnTo>
                    <a:pt x="586" y="308"/>
                  </a:lnTo>
                  <a:lnTo>
                    <a:pt x="586" y="293"/>
                  </a:lnTo>
                  <a:lnTo>
                    <a:pt x="586" y="293"/>
                  </a:lnTo>
                  <a:lnTo>
                    <a:pt x="586" y="277"/>
                  </a:lnTo>
                  <a:lnTo>
                    <a:pt x="585" y="263"/>
                  </a:lnTo>
                  <a:lnTo>
                    <a:pt x="583" y="248"/>
                  </a:lnTo>
                  <a:lnTo>
                    <a:pt x="580" y="234"/>
                  </a:lnTo>
                  <a:lnTo>
                    <a:pt x="573" y="206"/>
                  </a:lnTo>
                  <a:lnTo>
                    <a:pt x="563" y="179"/>
                  </a:lnTo>
                  <a:lnTo>
                    <a:pt x="551" y="153"/>
                  </a:lnTo>
                  <a:lnTo>
                    <a:pt x="536" y="129"/>
                  </a:lnTo>
                  <a:lnTo>
                    <a:pt x="519" y="107"/>
                  </a:lnTo>
                  <a:lnTo>
                    <a:pt x="500" y="86"/>
                  </a:lnTo>
                  <a:lnTo>
                    <a:pt x="480" y="66"/>
                  </a:lnTo>
                  <a:lnTo>
                    <a:pt x="457" y="50"/>
                  </a:lnTo>
                  <a:lnTo>
                    <a:pt x="433" y="36"/>
                  </a:lnTo>
                  <a:lnTo>
                    <a:pt x="407" y="23"/>
                  </a:lnTo>
                  <a:lnTo>
                    <a:pt x="380" y="14"/>
                  </a:lnTo>
                  <a:lnTo>
                    <a:pt x="352" y="6"/>
                  </a:lnTo>
                  <a:lnTo>
                    <a:pt x="338" y="4"/>
                  </a:lnTo>
                  <a:lnTo>
                    <a:pt x="324" y="1"/>
                  </a:lnTo>
                  <a:lnTo>
                    <a:pt x="308" y="0"/>
                  </a:lnTo>
                  <a:lnTo>
                    <a:pt x="293" y="0"/>
                  </a:lnTo>
                  <a:lnTo>
                    <a:pt x="293" y="0"/>
                  </a:lnTo>
                  <a:lnTo>
                    <a:pt x="278" y="0"/>
                  </a:lnTo>
                  <a:lnTo>
                    <a:pt x="264" y="1"/>
                  </a:lnTo>
                  <a:lnTo>
                    <a:pt x="249" y="4"/>
                  </a:lnTo>
                  <a:lnTo>
                    <a:pt x="234" y="6"/>
                  </a:lnTo>
                  <a:lnTo>
                    <a:pt x="206" y="14"/>
                  </a:lnTo>
                  <a:lnTo>
                    <a:pt x="179" y="23"/>
                  </a:lnTo>
                  <a:lnTo>
                    <a:pt x="153" y="36"/>
                  </a:lnTo>
                  <a:lnTo>
                    <a:pt x="130" y="50"/>
                  </a:lnTo>
                  <a:lnTo>
                    <a:pt x="107" y="66"/>
                  </a:lnTo>
                  <a:lnTo>
                    <a:pt x="86" y="86"/>
                  </a:lnTo>
                  <a:lnTo>
                    <a:pt x="67" y="107"/>
                  </a:lnTo>
                  <a:lnTo>
                    <a:pt x="50" y="129"/>
                  </a:lnTo>
                  <a:lnTo>
                    <a:pt x="35" y="153"/>
                  </a:lnTo>
                  <a:lnTo>
                    <a:pt x="23" y="179"/>
                  </a:lnTo>
                  <a:lnTo>
                    <a:pt x="13" y="206"/>
                  </a:lnTo>
                  <a:lnTo>
                    <a:pt x="6" y="234"/>
                  </a:lnTo>
                  <a:lnTo>
                    <a:pt x="4" y="248"/>
                  </a:lnTo>
                  <a:lnTo>
                    <a:pt x="2" y="263"/>
                  </a:lnTo>
                  <a:lnTo>
                    <a:pt x="1" y="277"/>
                  </a:lnTo>
                  <a:lnTo>
                    <a:pt x="0" y="293"/>
                  </a:lnTo>
                  <a:lnTo>
                    <a:pt x="0" y="293"/>
                  </a:lnTo>
                  <a:lnTo>
                    <a:pt x="1" y="308"/>
                  </a:lnTo>
                  <a:lnTo>
                    <a:pt x="2" y="323"/>
                  </a:lnTo>
                  <a:lnTo>
                    <a:pt x="4" y="337"/>
                  </a:lnTo>
                  <a:lnTo>
                    <a:pt x="6" y="352"/>
                  </a:lnTo>
                  <a:lnTo>
                    <a:pt x="13" y="380"/>
                  </a:lnTo>
                  <a:lnTo>
                    <a:pt x="23" y="407"/>
                  </a:lnTo>
                  <a:lnTo>
                    <a:pt x="35" y="433"/>
                  </a:lnTo>
                  <a:lnTo>
                    <a:pt x="50" y="456"/>
                  </a:lnTo>
                  <a:lnTo>
                    <a:pt x="67" y="480"/>
                  </a:lnTo>
                  <a:lnTo>
                    <a:pt x="86" y="501"/>
                  </a:lnTo>
                  <a:lnTo>
                    <a:pt x="107" y="519"/>
                  </a:lnTo>
                  <a:lnTo>
                    <a:pt x="130" y="536"/>
                  </a:lnTo>
                  <a:lnTo>
                    <a:pt x="153" y="551"/>
                  </a:lnTo>
                  <a:lnTo>
                    <a:pt x="179" y="563"/>
                  </a:lnTo>
                  <a:lnTo>
                    <a:pt x="206" y="573"/>
                  </a:lnTo>
                  <a:lnTo>
                    <a:pt x="234" y="580"/>
                  </a:lnTo>
                  <a:lnTo>
                    <a:pt x="249" y="583"/>
                  </a:lnTo>
                  <a:lnTo>
                    <a:pt x="264" y="584"/>
                  </a:lnTo>
                  <a:lnTo>
                    <a:pt x="278" y="585"/>
                  </a:lnTo>
                  <a:lnTo>
                    <a:pt x="293" y="586"/>
                  </a:lnTo>
                  <a:lnTo>
                    <a:pt x="293" y="586"/>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88" name="Freeform 83">
              <a:extLst>
                <a:ext uri="{FF2B5EF4-FFF2-40B4-BE49-F238E27FC236}">
                  <a16:creationId xmlns:a16="http://schemas.microsoft.com/office/drawing/2014/main" id="{D66B9CB9-2FAA-4612-814C-2579D813D3C4}"/>
                </a:ext>
              </a:extLst>
            </p:cNvPr>
            <p:cNvSpPr>
              <a:spLocks/>
            </p:cNvSpPr>
            <p:nvPr/>
          </p:nvSpPr>
          <p:spPr bwMode="auto">
            <a:xfrm>
              <a:off x="2293523" y="3682355"/>
              <a:ext cx="275662" cy="200038"/>
            </a:xfrm>
            <a:custGeom>
              <a:avLst/>
              <a:gdLst>
                <a:gd name="T0" fmla="*/ 1130 w 1130"/>
                <a:gd name="T1" fmla="*/ 164 h 820"/>
                <a:gd name="T2" fmla="*/ 1130 w 1130"/>
                <a:gd name="T3" fmla="*/ 162 h 820"/>
                <a:gd name="T4" fmla="*/ 1129 w 1130"/>
                <a:gd name="T5" fmla="*/ 146 h 820"/>
                <a:gd name="T6" fmla="*/ 1123 w 1130"/>
                <a:gd name="T7" fmla="*/ 114 h 820"/>
                <a:gd name="T8" fmla="*/ 1110 w 1130"/>
                <a:gd name="T9" fmla="*/ 85 h 820"/>
                <a:gd name="T10" fmla="*/ 1092 w 1130"/>
                <a:gd name="T11" fmla="*/ 59 h 820"/>
                <a:gd name="T12" fmla="*/ 1070 w 1130"/>
                <a:gd name="T13" fmla="*/ 37 h 820"/>
                <a:gd name="T14" fmla="*/ 1043 w 1130"/>
                <a:gd name="T15" fmla="*/ 20 h 820"/>
                <a:gd name="T16" fmla="*/ 1015 w 1130"/>
                <a:gd name="T17" fmla="*/ 7 h 820"/>
                <a:gd name="T18" fmla="*/ 983 w 1130"/>
                <a:gd name="T19" fmla="*/ 1 h 820"/>
                <a:gd name="T20" fmla="*/ 966 w 1130"/>
                <a:gd name="T21" fmla="*/ 0 h 820"/>
                <a:gd name="T22" fmla="*/ 966 w 1130"/>
                <a:gd name="T23" fmla="*/ 0 h 820"/>
                <a:gd name="T24" fmla="*/ 167 w 1130"/>
                <a:gd name="T25" fmla="*/ 0 h 820"/>
                <a:gd name="T26" fmla="*/ 165 w 1130"/>
                <a:gd name="T27" fmla="*/ 0 h 820"/>
                <a:gd name="T28" fmla="*/ 149 w 1130"/>
                <a:gd name="T29" fmla="*/ 1 h 820"/>
                <a:gd name="T30" fmla="*/ 117 w 1130"/>
                <a:gd name="T31" fmla="*/ 7 h 820"/>
                <a:gd name="T32" fmla="*/ 88 w 1130"/>
                <a:gd name="T33" fmla="*/ 20 h 820"/>
                <a:gd name="T34" fmla="*/ 62 w 1130"/>
                <a:gd name="T35" fmla="*/ 37 h 820"/>
                <a:gd name="T36" fmla="*/ 40 w 1130"/>
                <a:gd name="T37" fmla="*/ 59 h 820"/>
                <a:gd name="T38" fmla="*/ 21 w 1130"/>
                <a:gd name="T39" fmla="*/ 85 h 820"/>
                <a:gd name="T40" fmla="*/ 9 w 1130"/>
                <a:gd name="T41" fmla="*/ 114 h 820"/>
                <a:gd name="T42" fmla="*/ 2 w 1130"/>
                <a:gd name="T43" fmla="*/ 146 h 820"/>
                <a:gd name="T44" fmla="*/ 0 w 1130"/>
                <a:gd name="T45" fmla="*/ 162 h 820"/>
                <a:gd name="T46" fmla="*/ 0 w 1130"/>
                <a:gd name="T47" fmla="*/ 318 h 820"/>
                <a:gd name="T48" fmla="*/ 0 w 1130"/>
                <a:gd name="T49" fmla="*/ 550 h 820"/>
                <a:gd name="T50" fmla="*/ 0 w 1130"/>
                <a:gd name="T51" fmla="*/ 655 h 820"/>
                <a:gd name="T52" fmla="*/ 4 w 1130"/>
                <a:gd name="T53" fmla="*/ 688 h 820"/>
                <a:gd name="T54" fmla="*/ 14 w 1130"/>
                <a:gd name="T55" fmla="*/ 719 h 820"/>
                <a:gd name="T56" fmla="*/ 29 w 1130"/>
                <a:gd name="T57" fmla="*/ 747 h 820"/>
                <a:gd name="T58" fmla="*/ 48 w 1130"/>
                <a:gd name="T59" fmla="*/ 772 h 820"/>
                <a:gd name="T60" fmla="*/ 73 w 1130"/>
                <a:gd name="T61" fmla="*/ 791 h 820"/>
                <a:gd name="T62" fmla="*/ 101 w 1130"/>
                <a:gd name="T63" fmla="*/ 806 h 820"/>
                <a:gd name="T64" fmla="*/ 132 w 1130"/>
                <a:gd name="T65" fmla="*/ 816 h 820"/>
                <a:gd name="T66" fmla="*/ 165 w 1130"/>
                <a:gd name="T67" fmla="*/ 820 h 820"/>
                <a:gd name="T68" fmla="*/ 167 w 1130"/>
                <a:gd name="T69" fmla="*/ 820 h 820"/>
                <a:gd name="T70" fmla="*/ 966 w 1130"/>
                <a:gd name="T71" fmla="*/ 820 h 820"/>
                <a:gd name="T72" fmla="*/ 966 w 1130"/>
                <a:gd name="T73" fmla="*/ 820 h 820"/>
                <a:gd name="T74" fmla="*/ 966 w 1130"/>
                <a:gd name="T75" fmla="*/ 820 h 820"/>
                <a:gd name="T76" fmla="*/ 999 w 1130"/>
                <a:gd name="T77" fmla="*/ 816 h 820"/>
                <a:gd name="T78" fmla="*/ 1030 w 1130"/>
                <a:gd name="T79" fmla="*/ 806 h 820"/>
                <a:gd name="T80" fmla="*/ 1058 w 1130"/>
                <a:gd name="T81" fmla="*/ 791 h 820"/>
                <a:gd name="T82" fmla="*/ 1083 w 1130"/>
                <a:gd name="T83" fmla="*/ 772 h 820"/>
                <a:gd name="T84" fmla="*/ 1102 w 1130"/>
                <a:gd name="T85" fmla="*/ 747 h 820"/>
                <a:gd name="T86" fmla="*/ 1118 w 1130"/>
                <a:gd name="T87" fmla="*/ 719 h 820"/>
                <a:gd name="T88" fmla="*/ 1128 w 1130"/>
                <a:gd name="T89" fmla="*/ 688 h 820"/>
                <a:gd name="T90" fmla="*/ 1130 w 1130"/>
                <a:gd name="T91" fmla="*/ 655 h 820"/>
                <a:gd name="T92" fmla="*/ 1130 w 1130"/>
                <a:gd name="T93" fmla="*/ 502 h 8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130" h="820">
                  <a:moveTo>
                    <a:pt x="1130" y="318"/>
                  </a:moveTo>
                  <a:lnTo>
                    <a:pt x="1130" y="164"/>
                  </a:lnTo>
                  <a:lnTo>
                    <a:pt x="1130" y="164"/>
                  </a:lnTo>
                  <a:lnTo>
                    <a:pt x="1130" y="162"/>
                  </a:lnTo>
                  <a:lnTo>
                    <a:pt x="1130" y="162"/>
                  </a:lnTo>
                  <a:lnTo>
                    <a:pt x="1129" y="146"/>
                  </a:lnTo>
                  <a:lnTo>
                    <a:pt x="1127" y="130"/>
                  </a:lnTo>
                  <a:lnTo>
                    <a:pt x="1123" y="114"/>
                  </a:lnTo>
                  <a:lnTo>
                    <a:pt x="1117" y="99"/>
                  </a:lnTo>
                  <a:lnTo>
                    <a:pt x="1110" y="85"/>
                  </a:lnTo>
                  <a:lnTo>
                    <a:pt x="1101" y="71"/>
                  </a:lnTo>
                  <a:lnTo>
                    <a:pt x="1092" y="59"/>
                  </a:lnTo>
                  <a:lnTo>
                    <a:pt x="1081" y="48"/>
                  </a:lnTo>
                  <a:lnTo>
                    <a:pt x="1070" y="37"/>
                  </a:lnTo>
                  <a:lnTo>
                    <a:pt x="1057" y="28"/>
                  </a:lnTo>
                  <a:lnTo>
                    <a:pt x="1043" y="20"/>
                  </a:lnTo>
                  <a:lnTo>
                    <a:pt x="1030" y="12"/>
                  </a:lnTo>
                  <a:lnTo>
                    <a:pt x="1015" y="7"/>
                  </a:lnTo>
                  <a:lnTo>
                    <a:pt x="999" y="4"/>
                  </a:lnTo>
                  <a:lnTo>
                    <a:pt x="983" y="1"/>
                  </a:lnTo>
                  <a:lnTo>
                    <a:pt x="966" y="0"/>
                  </a:lnTo>
                  <a:lnTo>
                    <a:pt x="966" y="0"/>
                  </a:lnTo>
                  <a:lnTo>
                    <a:pt x="966" y="0"/>
                  </a:lnTo>
                  <a:lnTo>
                    <a:pt x="966" y="0"/>
                  </a:lnTo>
                  <a:lnTo>
                    <a:pt x="167" y="0"/>
                  </a:lnTo>
                  <a:lnTo>
                    <a:pt x="167" y="0"/>
                  </a:lnTo>
                  <a:lnTo>
                    <a:pt x="167" y="0"/>
                  </a:lnTo>
                  <a:lnTo>
                    <a:pt x="165" y="0"/>
                  </a:lnTo>
                  <a:lnTo>
                    <a:pt x="165" y="0"/>
                  </a:lnTo>
                  <a:lnTo>
                    <a:pt x="149" y="1"/>
                  </a:lnTo>
                  <a:lnTo>
                    <a:pt x="133" y="4"/>
                  </a:lnTo>
                  <a:lnTo>
                    <a:pt x="117" y="7"/>
                  </a:lnTo>
                  <a:lnTo>
                    <a:pt x="102" y="12"/>
                  </a:lnTo>
                  <a:lnTo>
                    <a:pt x="88" y="20"/>
                  </a:lnTo>
                  <a:lnTo>
                    <a:pt x="74" y="28"/>
                  </a:lnTo>
                  <a:lnTo>
                    <a:pt x="62" y="37"/>
                  </a:lnTo>
                  <a:lnTo>
                    <a:pt x="50" y="48"/>
                  </a:lnTo>
                  <a:lnTo>
                    <a:pt x="40" y="59"/>
                  </a:lnTo>
                  <a:lnTo>
                    <a:pt x="30" y="71"/>
                  </a:lnTo>
                  <a:lnTo>
                    <a:pt x="21" y="85"/>
                  </a:lnTo>
                  <a:lnTo>
                    <a:pt x="14" y="99"/>
                  </a:lnTo>
                  <a:lnTo>
                    <a:pt x="9" y="114"/>
                  </a:lnTo>
                  <a:lnTo>
                    <a:pt x="4" y="130"/>
                  </a:lnTo>
                  <a:lnTo>
                    <a:pt x="2" y="146"/>
                  </a:lnTo>
                  <a:lnTo>
                    <a:pt x="0" y="162"/>
                  </a:lnTo>
                  <a:lnTo>
                    <a:pt x="0" y="162"/>
                  </a:lnTo>
                  <a:lnTo>
                    <a:pt x="0" y="164"/>
                  </a:lnTo>
                  <a:lnTo>
                    <a:pt x="0" y="318"/>
                  </a:lnTo>
                  <a:lnTo>
                    <a:pt x="0" y="502"/>
                  </a:lnTo>
                  <a:lnTo>
                    <a:pt x="0" y="550"/>
                  </a:lnTo>
                  <a:lnTo>
                    <a:pt x="0" y="655"/>
                  </a:lnTo>
                  <a:lnTo>
                    <a:pt x="0" y="655"/>
                  </a:lnTo>
                  <a:lnTo>
                    <a:pt x="2" y="671"/>
                  </a:lnTo>
                  <a:lnTo>
                    <a:pt x="4" y="688"/>
                  </a:lnTo>
                  <a:lnTo>
                    <a:pt x="8" y="704"/>
                  </a:lnTo>
                  <a:lnTo>
                    <a:pt x="14" y="719"/>
                  </a:lnTo>
                  <a:lnTo>
                    <a:pt x="20" y="734"/>
                  </a:lnTo>
                  <a:lnTo>
                    <a:pt x="29" y="747"/>
                  </a:lnTo>
                  <a:lnTo>
                    <a:pt x="39" y="759"/>
                  </a:lnTo>
                  <a:lnTo>
                    <a:pt x="48" y="772"/>
                  </a:lnTo>
                  <a:lnTo>
                    <a:pt x="61" y="781"/>
                  </a:lnTo>
                  <a:lnTo>
                    <a:pt x="73" y="791"/>
                  </a:lnTo>
                  <a:lnTo>
                    <a:pt x="86" y="800"/>
                  </a:lnTo>
                  <a:lnTo>
                    <a:pt x="101" y="806"/>
                  </a:lnTo>
                  <a:lnTo>
                    <a:pt x="117" y="812"/>
                  </a:lnTo>
                  <a:lnTo>
                    <a:pt x="132" y="816"/>
                  </a:lnTo>
                  <a:lnTo>
                    <a:pt x="149" y="818"/>
                  </a:lnTo>
                  <a:lnTo>
                    <a:pt x="165" y="820"/>
                  </a:lnTo>
                  <a:lnTo>
                    <a:pt x="165" y="820"/>
                  </a:lnTo>
                  <a:lnTo>
                    <a:pt x="167" y="820"/>
                  </a:lnTo>
                  <a:lnTo>
                    <a:pt x="167" y="820"/>
                  </a:lnTo>
                  <a:lnTo>
                    <a:pt x="966" y="820"/>
                  </a:lnTo>
                  <a:lnTo>
                    <a:pt x="966" y="820"/>
                  </a:lnTo>
                  <a:lnTo>
                    <a:pt x="966" y="820"/>
                  </a:lnTo>
                  <a:lnTo>
                    <a:pt x="966" y="820"/>
                  </a:lnTo>
                  <a:lnTo>
                    <a:pt x="966" y="820"/>
                  </a:lnTo>
                  <a:lnTo>
                    <a:pt x="983" y="818"/>
                  </a:lnTo>
                  <a:lnTo>
                    <a:pt x="999" y="816"/>
                  </a:lnTo>
                  <a:lnTo>
                    <a:pt x="1015" y="812"/>
                  </a:lnTo>
                  <a:lnTo>
                    <a:pt x="1030" y="806"/>
                  </a:lnTo>
                  <a:lnTo>
                    <a:pt x="1045" y="800"/>
                  </a:lnTo>
                  <a:lnTo>
                    <a:pt x="1058" y="791"/>
                  </a:lnTo>
                  <a:lnTo>
                    <a:pt x="1070" y="781"/>
                  </a:lnTo>
                  <a:lnTo>
                    <a:pt x="1083" y="772"/>
                  </a:lnTo>
                  <a:lnTo>
                    <a:pt x="1094" y="759"/>
                  </a:lnTo>
                  <a:lnTo>
                    <a:pt x="1102" y="747"/>
                  </a:lnTo>
                  <a:lnTo>
                    <a:pt x="1111" y="734"/>
                  </a:lnTo>
                  <a:lnTo>
                    <a:pt x="1118" y="719"/>
                  </a:lnTo>
                  <a:lnTo>
                    <a:pt x="1123" y="704"/>
                  </a:lnTo>
                  <a:lnTo>
                    <a:pt x="1128" y="688"/>
                  </a:lnTo>
                  <a:lnTo>
                    <a:pt x="1130" y="671"/>
                  </a:lnTo>
                  <a:lnTo>
                    <a:pt x="1130" y="655"/>
                  </a:lnTo>
                  <a:lnTo>
                    <a:pt x="1130" y="550"/>
                  </a:lnTo>
                  <a:lnTo>
                    <a:pt x="1130" y="502"/>
                  </a:lnTo>
                  <a:lnTo>
                    <a:pt x="1130" y="318"/>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89" name="Freeform 84">
              <a:extLst>
                <a:ext uri="{FF2B5EF4-FFF2-40B4-BE49-F238E27FC236}">
                  <a16:creationId xmlns:a16="http://schemas.microsoft.com/office/drawing/2014/main" id="{C76C7D6D-BB75-45C1-A2E1-E0C71AE2E786}"/>
                </a:ext>
              </a:extLst>
            </p:cNvPr>
            <p:cNvSpPr>
              <a:spLocks/>
            </p:cNvSpPr>
            <p:nvPr/>
          </p:nvSpPr>
          <p:spPr bwMode="auto">
            <a:xfrm>
              <a:off x="2659934" y="3533547"/>
              <a:ext cx="142954" cy="142954"/>
            </a:xfrm>
            <a:custGeom>
              <a:avLst/>
              <a:gdLst>
                <a:gd name="T0" fmla="*/ 293 w 587"/>
                <a:gd name="T1" fmla="*/ 586 h 586"/>
                <a:gd name="T2" fmla="*/ 324 w 587"/>
                <a:gd name="T3" fmla="*/ 584 h 586"/>
                <a:gd name="T4" fmla="*/ 352 w 587"/>
                <a:gd name="T5" fmla="*/ 580 h 586"/>
                <a:gd name="T6" fmla="*/ 407 w 587"/>
                <a:gd name="T7" fmla="*/ 563 h 586"/>
                <a:gd name="T8" fmla="*/ 458 w 587"/>
                <a:gd name="T9" fmla="*/ 536 h 586"/>
                <a:gd name="T10" fmla="*/ 501 w 587"/>
                <a:gd name="T11" fmla="*/ 501 h 586"/>
                <a:gd name="T12" fmla="*/ 536 w 587"/>
                <a:gd name="T13" fmla="*/ 456 h 586"/>
                <a:gd name="T14" fmla="*/ 563 w 587"/>
                <a:gd name="T15" fmla="*/ 407 h 586"/>
                <a:gd name="T16" fmla="*/ 580 w 587"/>
                <a:gd name="T17" fmla="*/ 352 h 586"/>
                <a:gd name="T18" fmla="*/ 585 w 587"/>
                <a:gd name="T19" fmla="*/ 323 h 586"/>
                <a:gd name="T20" fmla="*/ 587 w 587"/>
                <a:gd name="T21" fmla="*/ 293 h 586"/>
                <a:gd name="T22" fmla="*/ 587 w 587"/>
                <a:gd name="T23" fmla="*/ 277 h 586"/>
                <a:gd name="T24" fmla="*/ 583 w 587"/>
                <a:gd name="T25" fmla="*/ 248 h 586"/>
                <a:gd name="T26" fmla="*/ 573 w 587"/>
                <a:gd name="T27" fmla="*/ 206 h 586"/>
                <a:gd name="T28" fmla="*/ 551 w 587"/>
                <a:gd name="T29" fmla="*/ 153 h 586"/>
                <a:gd name="T30" fmla="*/ 520 w 587"/>
                <a:gd name="T31" fmla="*/ 107 h 586"/>
                <a:gd name="T32" fmla="*/ 480 w 587"/>
                <a:gd name="T33" fmla="*/ 66 h 586"/>
                <a:gd name="T34" fmla="*/ 433 w 587"/>
                <a:gd name="T35" fmla="*/ 36 h 586"/>
                <a:gd name="T36" fmla="*/ 380 w 587"/>
                <a:gd name="T37" fmla="*/ 14 h 586"/>
                <a:gd name="T38" fmla="*/ 339 w 587"/>
                <a:gd name="T39" fmla="*/ 4 h 586"/>
                <a:gd name="T40" fmla="*/ 309 w 587"/>
                <a:gd name="T41" fmla="*/ 0 h 586"/>
                <a:gd name="T42" fmla="*/ 293 w 587"/>
                <a:gd name="T43" fmla="*/ 0 h 586"/>
                <a:gd name="T44" fmla="*/ 264 w 587"/>
                <a:gd name="T45" fmla="*/ 1 h 586"/>
                <a:gd name="T46" fmla="*/ 234 w 587"/>
                <a:gd name="T47" fmla="*/ 6 h 586"/>
                <a:gd name="T48" fmla="*/ 179 w 587"/>
                <a:gd name="T49" fmla="*/ 23 h 586"/>
                <a:gd name="T50" fmla="*/ 130 w 587"/>
                <a:gd name="T51" fmla="*/ 50 h 586"/>
                <a:gd name="T52" fmla="*/ 86 w 587"/>
                <a:gd name="T53" fmla="*/ 86 h 586"/>
                <a:gd name="T54" fmla="*/ 50 w 587"/>
                <a:gd name="T55" fmla="*/ 129 h 586"/>
                <a:gd name="T56" fmla="*/ 23 w 587"/>
                <a:gd name="T57" fmla="*/ 179 h 586"/>
                <a:gd name="T58" fmla="*/ 6 w 587"/>
                <a:gd name="T59" fmla="*/ 234 h 586"/>
                <a:gd name="T60" fmla="*/ 3 w 587"/>
                <a:gd name="T61" fmla="*/ 263 h 586"/>
                <a:gd name="T62" fmla="*/ 0 w 587"/>
                <a:gd name="T63" fmla="*/ 293 h 586"/>
                <a:gd name="T64" fmla="*/ 1 w 587"/>
                <a:gd name="T65" fmla="*/ 308 h 586"/>
                <a:gd name="T66" fmla="*/ 4 w 587"/>
                <a:gd name="T67" fmla="*/ 337 h 586"/>
                <a:gd name="T68" fmla="*/ 14 w 587"/>
                <a:gd name="T69" fmla="*/ 380 h 586"/>
                <a:gd name="T70" fmla="*/ 36 w 587"/>
                <a:gd name="T71" fmla="*/ 433 h 586"/>
                <a:gd name="T72" fmla="*/ 68 w 587"/>
                <a:gd name="T73" fmla="*/ 480 h 586"/>
                <a:gd name="T74" fmla="*/ 107 w 587"/>
                <a:gd name="T75" fmla="*/ 519 h 586"/>
                <a:gd name="T76" fmla="*/ 153 w 587"/>
                <a:gd name="T77" fmla="*/ 551 h 586"/>
                <a:gd name="T78" fmla="*/ 206 w 587"/>
                <a:gd name="T79" fmla="*/ 573 h 586"/>
                <a:gd name="T80" fmla="*/ 249 w 587"/>
                <a:gd name="T81" fmla="*/ 583 h 586"/>
                <a:gd name="T82" fmla="*/ 279 w 587"/>
                <a:gd name="T83" fmla="*/ 585 h 586"/>
                <a:gd name="T84" fmla="*/ 293 w 587"/>
                <a:gd name="T85" fmla="*/ 586 h 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87" h="586">
                  <a:moveTo>
                    <a:pt x="293" y="586"/>
                  </a:moveTo>
                  <a:lnTo>
                    <a:pt x="293" y="586"/>
                  </a:lnTo>
                  <a:lnTo>
                    <a:pt x="309" y="585"/>
                  </a:lnTo>
                  <a:lnTo>
                    <a:pt x="324" y="584"/>
                  </a:lnTo>
                  <a:lnTo>
                    <a:pt x="339" y="583"/>
                  </a:lnTo>
                  <a:lnTo>
                    <a:pt x="352" y="580"/>
                  </a:lnTo>
                  <a:lnTo>
                    <a:pt x="380" y="573"/>
                  </a:lnTo>
                  <a:lnTo>
                    <a:pt x="407" y="563"/>
                  </a:lnTo>
                  <a:lnTo>
                    <a:pt x="433" y="551"/>
                  </a:lnTo>
                  <a:lnTo>
                    <a:pt x="458" y="536"/>
                  </a:lnTo>
                  <a:lnTo>
                    <a:pt x="480" y="519"/>
                  </a:lnTo>
                  <a:lnTo>
                    <a:pt x="501" y="501"/>
                  </a:lnTo>
                  <a:lnTo>
                    <a:pt x="520" y="480"/>
                  </a:lnTo>
                  <a:lnTo>
                    <a:pt x="536" y="456"/>
                  </a:lnTo>
                  <a:lnTo>
                    <a:pt x="551" y="433"/>
                  </a:lnTo>
                  <a:lnTo>
                    <a:pt x="563" y="407"/>
                  </a:lnTo>
                  <a:lnTo>
                    <a:pt x="573" y="380"/>
                  </a:lnTo>
                  <a:lnTo>
                    <a:pt x="580" y="352"/>
                  </a:lnTo>
                  <a:lnTo>
                    <a:pt x="583" y="337"/>
                  </a:lnTo>
                  <a:lnTo>
                    <a:pt x="585" y="323"/>
                  </a:lnTo>
                  <a:lnTo>
                    <a:pt x="587" y="308"/>
                  </a:lnTo>
                  <a:lnTo>
                    <a:pt x="587" y="293"/>
                  </a:lnTo>
                  <a:lnTo>
                    <a:pt x="587" y="293"/>
                  </a:lnTo>
                  <a:lnTo>
                    <a:pt x="587" y="277"/>
                  </a:lnTo>
                  <a:lnTo>
                    <a:pt x="585" y="263"/>
                  </a:lnTo>
                  <a:lnTo>
                    <a:pt x="583" y="248"/>
                  </a:lnTo>
                  <a:lnTo>
                    <a:pt x="580" y="234"/>
                  </a:lnTo>
                  <a:lnTo>
                    <a:pt x="573" y="206"/>
                  </a:lnTo>
                  <a:lnTo>
                    <a:pt x="563" y="179"/>
                  </a:lnTo>
                  <a:lnTo>
                    <a:pt x="551" y="153"/>
                  </a:lnTo>
                  <a:lnTo>
                    <a:pt x="536" y="129"/>
                  </a:lnTo>
                  <a:lnTo>
                    <a:pt x="520" y="107"/>
                  </a:lnTo>
                  <a:lnTo>
                    <a:pt x="501" y="86"/>
                  </a:lnTo>
                  <a:lnTo>
                    <a:pt x="480" y="66"/>
                  </a:lnTo>
                  <a:lnTo>
                    <a:pt x="458" y="50"/>
                  </a:lnTo>
                  <a:lnTo>
                    <a:pt x="433" y="36"/>
                  </a:lnTo>
                  <a:lnTo>
                    <a:pt x="407" y="23"/>
                  </a:lnTo>
                  <a:lnTo>
                    <a:pt x="380" y="14"/>
                  </a:lnTo>
                  <a:lnTo>
                    <a:pt x="352" y="6"/>
                  </a:lnTo>
                  <a:lnTo>
                    <a:pt x="339" y="4"/>
                  </a:lnTo>
                  <a:lnTo>
                    <a:pt x="324" y="1"/>
                  </a:lnTo>
                  <a:lnTo>
                    <a:pt x="309" y="0"/>
                  </a:lnTo>
                  <a:lnTo>
                    <a:pt x="293" y="0"/>
                  </a:lnTo>
                  <a:lnTo>
                    <a:pt x="293" y="0"/>
                  </a:lnTo>
                  <a:lnTo>
                    <a:pt x="279" y="0"/>
                  </a:lnTo>
                  <a:lnTo>
                    <a:pt x="264" y="1"/>
                  </a:lnTo>
                  <a:lnTo>
                    <a:pt x="249" y="4"/>
                  </a:lnTo>
                  <a:lnTo>
                    <a:pt x="234" y="6"/>
                  </a:lnTo>
                  <a:lnTo>
                    <a:pt x="206" y="14"/>
                  </a:lnTo>
                  <a:lnTo>
                    <a:pt x="179" y="23"/>
                  </a:lnTo>
                  <a:lnTo>
                    <a:pt x="153" y="36"/>
                  </a:lnTo>
                  <a:lnTo>
                    <a:pt x="130" y="50"/>
                  </a:lnTo>
                  <a:lnTo>
                    <a:pt x="107" y="66"/>
                  </a:lnTo>
                  <a:lnTo>
                    <a:pt x="86" y="86"/>
                  </a:lnTo>
                  <a:lnTo>
                    <a:pt x="68" y="107"/>
                  </a:lnTo>
                  <a:lnTo>
                    <a:pt x="50" y="129"/>
                  </a:lnTo>
                  <a:lnTo>
                    <a:pt x="36" y="153"/>
                  </a:lnTo>
                  <a:lnTo>
                    <a:pt x="23" y="179"/>
                  </a:lnTo>
                  <a:lnTo>
                    <a:pt x="14" y="206"/>
                  </a:lnTo>
                  <a:lnTo>
                    <a:pt x="6" y="234"/>
                  </a:lnTo>
                  <a:lnTo>
                    <a:pt x="4" y="248"/>
                  </a:lnTo>
                  <a:lnTo>
                    <a:pt x="3" y="263"/>
                  </a:lnTo>
                  <a:lnTo>
                    <a:pt x="1" y="277"/>
                  </a:lnTo>
                  <a:lnTo>
                    <a:pt x="0" y="293"/>
                  </a:lnTo>
                  <a:lnTo>
                    <a:pt x="0" y="293"/>
                  </a:lnTo>
                  <a:lnTo>
                    <a:pt x="1" y="308"/>
                  </a:lnTo>
                  <a:lnTo>
                    <a:pt x="3" y="323"/>
                  </a:lnTo>
                  <a:lnTo>
                    <a:pt x="4" y="337"/>
                  </a:lnTo>
                  <a:lnTo>
                    <a:pt x="6" y="352"/>
                  </a:lnTo>
                  <a:lnTo>
                    <a:pt x="14" y="380"/>
                  </a:lnTo>
                  <a:lnTo>
                    <a:pt x="23" y="407"/>
                  </a:lnTo>
                  <a:lnTo>
                    <a:pt x="36" y="433"/>
                  </a:lnTo>
                  <a:lnTo>
                    <a:pt x="50" y="456"/>
                  </a:lnTo>
                  <a:lnTo>
                    <a:pt x="68" y="480"/>
                  </a:lnTo>
                  <a:lnTo>
                    <a:pt x="86" y="501"/>
                  </a:lnTo>
                  <a:lnTo>
                    <a:pt x="107" y="519"/>
                  </a:lnTo>
                  <a:lnTo>
                    <a:pt x="130" y="536"/>
                  </a:lnTo>
                  <a:lnTo>
                    <a:pt x="153" y="551"/>
                  </a:lnTo>
                  <a:lnTo>
                    <a:pt x="179" y="563"/>
                  </a:lnTo>
                  <a:lnTo>
                    <a:pt x="206" y="573"/>
                  </a:lnTo>
                  <a:lnTo>
                    <a:pt x="234" y="580"/>
                  </a:lnTo>
                  <a:lnTo>
                    <a:pt x="249" y="583"/>
                  </a:lnTo>
                  <a:lnTo>
                    <a:pt x="264" y="584"/>
                  </a:lnTo>
                  <a:lnTo>
                    <a:pt x="279" y="585"/>
                  </a:lnTo>
                  <a:lnTo>
                    <a:pt x="293" y="586"/>
                  </a:lnTo>
                  <a:lnTo>
                    <a:pt x="293" y="586"/>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90" name="Freeform 85">
              <a:extLst>
                <a:ext uri="{FF2B5EF4-FFF2-40B4-BE49-F238E27FC236}">
                  <a16:creationId xmlns:a16="http://schemas.microsoft.com/office/drawing/2014/main" id="{F851BD04-0F69-4B57-A893-B27CC5C7DD1F}"/>
                </a:ext>
              </a:extLst>
            </p:cNvPr>
            <p:cNvSpPr>
              <a:spLocks/>
            </p:cNvSpPr>
            <p:nvPr/>
          </p:nvSpPr>
          <p:spPr bwMode="auto">
            <a:xfrm>
              <a:off x="2593092" y="3682355"/>
              <a:ext cx="275662" cy="200038"/>
            </a:xfrm>
            <a:custGeom>
              <a:avLst/>
              <a:gdLst>
                <a:gd name="T0" fmla="*/ 1130 w 1130"/>
                <a:gd name="T1" fmla="*/ 164 h 820"/>
                <a:gd name="T2" fmla="*/ 1130 w 1130"/>
                <a:gd name="T3" fmla="*/ 162 h 820"/>
                <a:gd name="T4" fmla="*/ 1128 w 1130"/>
                <a:gd name="T5" fmla="*/ 146 h 820"/>
                <a:gd name="T6" fmla="*/ 1122 w 1130"/>
                <a:gd name="T7" fmla="*/ 114 h 820"/>
                <a:gd name="T8" fmla="*/ 1109 w 1130"/>
                <a:gd name="T9" fmla="*/ 85 h 820"/>
                <a:gd name="T10" fmla="*/ 1092 w 1130"/>
                <a:gd name="T11" fmla="*/ 59 h 820"/>
                <a:gd name="T12" fmla="*/ 1070 w 1130"/>
                <a:gd name="T13" fmla="*/ 37 h 820"/>
                <a:gd name="T14" fmla="*/ 1044 w 1130"/>
                <a:gd name="T15" fmla="*/ 20 h 820"/>
                <a:gd name="T16" fmla="*/ 1014 w 1130"/>
                <a:gd name="T17" fmla="*/ 7 h 820"/>
                <a:gd name="T18" fmla="*/ 982 w 1130"/>
                <a:gd name="T19" fmla="*/ 1 h 820"/>
                <a:gd name="T20" fmla="*/ 965 w 1130"/>
                <a:gd name="T21" fmla="*/ 0 h 820"/>
                <a:gd name="T22" fmla="*/ 965 w 1130"/>
                <a:gd name="T23" fmla="*/ 0 h 820"/>
                <a:gd name="T24" fmla="*/ 167 w 1130"/>
                <a:gd name="T25" fmla="*/ 0 h 820"/>
                <a:gd name="T26" fmla="*/ 165 w 1130"/>
                <a:gd name="T27" fmla="*/ 0 h 820"/>
                <a:gd name="T28" fmla="*/ 148 w 1130"/>
                <a:gd name="T29" fmla="*/ 1 h 820"/>
                <a:gd name="T30" fmla="*/ 116 w 1130"/>
                <a:gd name="T31" fmla="*/ 7 h 820"/>
                <a:gd name="T32" fmla="*/ 87 w 1130"/>
                <a:gd name="T33" fmla="*/ 20 h 820"/>
                <a:gd name="T34" fmla="*/ 61 w 1130"/>
                <a:gd name="T35" fmla="*/ 37 h 820"/>
                <a:gd name="T36" fmla="*/ 39 w 1130"/>
                <a:gd name="T37" fmla="*/ 59 h 820"/>
                <a:gd name="T38" fmla="*/ 21 w 1130"/>
                <a:gd name="T39" fmla="*/ 85 h 820"/>
                <a:gd name="T40" fmla="*/ 8 w 1130"/>
                <a:gd name="T41" fmla="*/ 114 h 820"/>
                <a:gd name="T42" fmla="*/ 1 w 1130"/>
                <a:gd name="T43" fmla="*/ 146 h 820"/>
                <a:gd name="T44" fmla="*/ 0 w 1130"/>
                <a:gd name="T45" fmla="*/ 162 h 820"/>
                <a:gd name="T46" fmla="*/ 0 w 1130"/>
                <a:gd name="T47" fmla="*/ 318 h 820"/>
                <a:gd name="T48" fmla="*/ 0 w 1130"/>
                <a:gd name="T49" fmla="*/ 550 h 820"/>
                <a:gd name="T50" fmla="*/ 0 w 1130"/>
                <a:gd name="T51" fmla="*/ 655 h 820"/>
                <a:gd name="T52" fmla="*/ 3 w 1130"/>
                <a:gd name="T53" fmla="*/ 688 h 820"/>
                <a:gd name="T54" fmla="*/ 13 w 1130"/>
                <a:gd name="T55" fmla="*/ 719 h 820"/>
                <a:gd name="T56" fmla="*/ 28 w 1130"/>
                <a:gd name="T57" fmla="*/ 747 h 820"/>
                <a:gd name="T58" fmla="*/ 49 w 1130"/>
                <a:gd name="T59" fmla="*/ 772 h 820"/>
                <a:gd name="T60" fmla="*/ 73 w 1130"/>
                <a:gd name="T61" fmla="*/ 791 h 820"/>
                <a:gd name="T62" fmla="*/ 100 w 1130"/>
                <a:gd name="T63" fmla="*/ 806 h 820"/>
                <a:gd name="T64" fmla="*/ 132 w 1130"/>
                <a:gd name="T65" fmla="*/ 816 h 820"/>
                <a:gd name="T66" fmla="*/ 165 w 1130"/>
                <a:gd name="T67" fmla="*/ 820 h 820"/>
                <a:gd name="T68" fmla="*/ 167 w 1130"/>
                <a:gd name="T69" fmla="*/ 820 h 820"/>
                <a:gd name="T70" fmla="*/ 965 w 1130"/>
                <a:gd name="T71" fmla="*/ 820 h 820"/>
                <a:gd name="T72" fmla="*/ 965 w 1130"/>
                <a:gd name="T73" fmla="*/ 820 h 820"/>
                <a:gd name="T74" fmla="*/ 965 w 1130"/>
                <a:gd name="T75" fmla="*/ 820 h 820"/>
                <a:gd name="T76" fmla="*/ 998 w 1130"/>
                <a:gd name="T77" fmla="*/ 816 h 820"/>
                <a:gd name="T78" fmla="*/ 1029 w 1130"/>
                <a:gd name="T79" fmla="*/ 806 h 820"/>
                <a:gd name="T80" fmla="*/ 1057 w 1130"/>
                <a:gd name="T81" fmla="*/ 791 h 820"/>
                <a:gd name="T82" fmla="*/ 1082 w 1130"/>
                <a:gd name="T83" fmla="*/ 772 h 820"/>
                <a:gd name="T84" fmla="*/ 1103 w 1130"/>
                <a:gd name="T85" fmla="*/ 747 h 820"/>
                <a:gd name="T86" fmla="*/ 1117 w 1130"/>
                <a:gd name="T87" fmla="*/ 719 h 820"/>
                <a:gd name="T88" fmla="*/ 1127 w 1130"/>
                <a:gd name="T89" fmla="*/ 688 h 820"/>
                <a:gd name="T90" fmla="*/ 1130 w 1130"/>
                <a:gd name="T91" fmla="*/ 655 h 820"/>
                <a:gd name="T92" fmla="*/ 1130 w 1130"/>
                <a:gd name="T93" fmla="*/ 502 h 8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130" h="820">
                  <a:moveTo>
                    <a:pt x="1130" y="318"/>
                  </a:moveTo>
                  <a:lnTo>
                    <a:pt x="1130" y="164"/>
                  </a:lnTo>
                  <a:lnTo>
                    <a:pt x="1130" y="164"/>
                  </a:lnTo>
                  <a:lnTo>
                    <a:pt x="1130" y="162"/>
                  </a:lnTo>
                  <a:lnTo>
                    <a:pt x="1130" y="162"/>
                  </a:lnTo>
                  <a:lnTo>
                    <a:pt x="1128" y="146"/>
                  </a:lnTo>
                  <a:lnTo>
                    <a:pt x="1126" y="130"/>
                  </a:lnTo>
                  <a:lnTo>
                    <a:pt x="1122" y="114"/>
                  </a:lnTo>
                  <a:lnTo>
                    <a:pt x="1116" y="99"/>
                  </a:lnTo>
                  <a:lnTo>
                    <a:pt x="1109" y="85"/>
                  </a:lnTo>
                  <a:lnTo>
                    <a:pt x="1101" y="71"/>
                  </a:lnTo>
                  <a:lnTo>
                    <a:pt x="1092" y="59"/>
                  </a:lnTo>
                  <a:lnTo>
                    <a:pt x="1081" y="48"/>
                  </a:lnTo>
                  <a:lnTo>
                    <a:pt x="1070" y="37"/>
                  </a:lnTo>
                  <a:lnTo>
                    <a:pt x="1057" y="28"/>
                  </a:lnTo>
                  <a:lnTo>
                    <a:pt x="1044" y="20"/>
                  </a:lnTo>
                  <a:lnTo>
                    <a:pt x="1029" y="12"/>
                  </a:lnTo>
                  <a:lnTo>
                    <a:pt x="1014" y="7"/>
                  </a:lnTo>
                  <a:lnTo>
                    <a:pt x="998" y="4"/>
                  </a:lnTo>
                  <a:lnTo>
                    <a:pt x="982" y="1"/>
                  </a:lnTo>
                  <a:lnTo>
                    <a:pt x="965" y="0"/>
                  </a:lnTo>
                  <a:lnTo>
                    <a:pt x="965" y="0"/>
                  </a:lnTo>
                  <a:lnTo>
                    <a:pt x="965" y="0"/>
                  </a:lnTo>
                  <a:lnTo>
                    <a:pt x="965" y="0"/>
                  </a:lnTo>
                  <a:lnTo>
                    <a:pt x="167" y="0"/>
                  </a:lnTo>
                  <a:lnTo>
                    <a:pt x="167" y="0"/>
                  </a:lnTo>
                  <a:lnTo>
                    <a:pt x="167" y="0"/>
                  </a:lnTo>
                  <a:lnTo>
                    <a:pt x="165" y="0"/>
                  </a:lnTo>
                  <a:lnTo>
                    <a:pt x="165" y="0"/>
                  </a:lnTo>
                  <a:lnTo>
                    <a:pt x="148" y="1"/>
                  </a:lnTo>
                  <a:lnTo>
                    <a:pt x="132" y="4"/>
                  </a:lnTo>
                  <a:lnTo>
                    <a:pt x="116" y="7"/>
                  </a:lnTo>
                  <a:lnTo>
                    <a:pt x="102" y="12"/>
                  </a:lnTo>
                  <a:lnTo>
                    <a:pt x="87" y="20"/>
                  </a:lnTo>
                  <a:lnTo>
                    <a:pt x="73" y="28"/>
                  </a:lnTo>
                  <a:lnTo>
                    <a:pt x="61" y="37"/>
                  </a:lnTo>
                  <a:lnTo>
                    <a:pt x="49" y="48"/>
                  </a:lnTo>
                  <a:lnTo>
                    <a:pt x="39" y="59"/>
                  </a:lnTo>
                  <a:lnTo>
                    <a:pt x="29" y="71"/>
                  </a:lnTo>
                  <a:lnTo>
                    <a:pt x="21" y="85"/>
                  </a:lnTo>
                  <a:lnTo>
                    <a:pt x="14" y="99"/>
                  </a:lnTo>
                  <a:lnTo>
                    <a:pt x="8" y="114"/>
                  </a:lnTo>
                  <a:lnTo>
                    <a:pt x="5" y="130"/>
                  </a:lnTo>
                  <a:lnTo>
                    <a:pt x="1" y="146"/>
                  </a:lnTo>
                  <a:lnTo>
                    <a:pt x="0" y="162"/>
                  </a:lnTo>
                  <a:lnTo>
                    <a:pt x="0" y="162"/>
                  </a:lnTo>
                  <a:lnTo>
                    <a:pt x="0" y="164"/>
                  </a:lnTo>
                  <a:lnTo>
                    <a:pt x="0" y="318"/>
                  </a:lnTo>
                  <a:lnTo>
                    <a:pt x="0" y="502"/>
                  </a:lnTo>
                  <a:lnTo>
                    <a:pt x="0" y="550"/>
                  </a:lnTo>
                  <a:lnTo>
                    <a:pt x="0" y="655"/>
                  </a:lnTo>
                  <a:lnTo>
                    <a:pt x="0" y="655"/>
                  </a:lnTo>
                  <a:lnTo>
                    <a:pt x="1" y="671"/>
                  </a:lnTo>
                  <a:lnTo>
                    <a:pt x="3" y="688"/>
                  </a:lnTo>
                  <a:lnTo>
                    <a:pt x="7" y="704"/>
                  </a:lnTo>
                  <a:lnTo>
                    <a:pt x="13" y="719"/>
                  </a:lnTo>
                  <a:lnTo>
                    <a:pt x="19" y="734"/>
                  </a:lnTo>
                  <a:lnTo>
                    <a:pt x="28" y="747"/>
                  </a:lnTo>
                  <a:lnTo>
                    <a:pt x="38" y="759"/>
                  </a:lnTo>
                  <a:lnTo>
                    <a:pt x="49" y="772"/>
                  </a:lnTo>
                  <a:lnTo>
                    <a:pt x="60" y="781"/>
                  </a:lnTo>
                  <a:lnTo>
                    <a:pt x="73" y="791"/>
                  </a:lnTo>
                  <a:lnTo>
                    <a:pt x="87" y="800"/>
                  </a:lnTo>
                  <a:lnTo>
                    <a:pt x="100" y="806"/>
                  </a:lnTo>
                  <a:lnTo>
                    <a:pt x="116" y="812"/>
                  </a:lnTo>
                  <a:lnTo>
                    <a:pt x="132" y="816"/>
                  </a:lnTo>
                  <a:lnTo>
                    <a:pt x="148" y="818"/>
                  </a:lnTo>
                  <a:lnTo>
                    <a:pt x="165" y="820"/>
                  </a:lnTo>
                  <a:lnTo>
                    <a:pt x="165" y="820"/>
                  </a:lnTo>
                  <a:lnTo>
                    <a:pt x="167" y="820"/>
                  </a:lnTo>
                  <a:lnTo>
                    <a:pt x="167" y="820"/>
                  </a:lnTo>
                  <a:lnTo>
                    <a:pt x="965" y="820"/>
                  </a:lnTo>
                  <a:lnTo>
                    <a:pt x="965" y="820"/>
                  </a:lnTo>
                  <a:lnTo>
                    <a:pt x="965" y="820"/>
                  </a:lnTo>
                  <a:lnTo>
                    <a:pt x="965" y="820"/>
                  </a:lnTo>
                  <a:lnTo>
                    <a:pt x="965" y="820"/>
                  </a:lnTo>
                  <a:lnTo>
                    <a:pt x="982" y="818"/>
                  </a:lnTo>
                  <a:lnTo>
                    <a:pt x="998" y="816"/>
                  </a:lnTo>
                  <a:lnTo>
                    <a:pt x="1014" y="812"/>
                  </a:lnTo>
                  <a:lnTo>
                    <a:pt x="1029" y="806"/>
                  </a:lnTo>
                  <a:lnTo>
                    <a:pt x="1044" y="800"/>
                  </a:lnTo>
                  <a:lnTo>
                    <a:pt x="1057" y="791"/>
                  </a:lnTo>
                  <a:lnTo>
                    <a:pt x="1071" y="781"/>
                  </a:lnTo>
                  <a:lnTo>
                    <a:pt x="1082" y="772"/>
                  </a:lnTo>
                  <a:lnTo>
                    <a:pt x="1093" y="759"/>
                  </a:lnTo>
                  <a:lnTo>
                    <a:pt x="1103" y="747"/>
                  </a:lnTo>
                  <a:lnTo>
                    <a:pt x="1110" y="734"/>
                  </a:lnTo>
                  <a:lnTo>
                    <a:pt x="1117" y="719"/>
                  </a:lnTo>
                  <a:lnTo>
                    <a:pt x="1122" y="704"/>
                  </a:lnTo>
                  <a:lnTo>
                    <a:pt x="1127" y="688"/>
                  </a:lnTo>
                  <a:lnTo>
                    <a:pt x="1130" y="671"/>
                  </a:lnTo>
                  <a:lnTo>
                    <a:pt x="1130" y="655"/>
                  </a:lnTo>
                  <a:lnTo>
                    <a:pt x="1130" y="550"/>
                  </a:lnTo>
                  <a:lnTo>
                    <a:pt x="1130" y="502"/>
                  </a:lnTo>
                  <a:lnTo>
                    <a:pt x="1130" y="318"/>
                  </a:lnTo>
                  <a:close/>
                </a:path>
              </a:pathLst>
            </a:custGeom>
            <a:solidFill>
              <a:srgbClr val="0097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grpSp>
      <p:sp>
        <p:nvSpPr>
          <p:cNvPr id="91" name="Rectangle 90">
            <a:extLst>
              <a:ext uri="{FF2B5EF4-FFF2-40B4-BE49-F238E27FC236}">
                <a16:creationId xmlns:a16="http://schemas.microsoft.com/office/drawing/2014/main" id="{14A609F3-47A5-4B1B-BE08-764572008532}"/>
              </a:ext>
            </a:extLst>
          </p:cNvPr>
          <p:cNvSpPr/>
          <p:nvPr/>
        </p:nvSpPr>
        <p:spPr bwMode="gray">
          <a:xfrm>
            <a:off x="8724777" y="3238231"/>
            <a:ext cx="1778000" cy="482600"/>
          </a:xfrm>
          <a:prstGeom prst="rect">
            <a:avLst/>
          </a:prstGeom>
          <a:solidFill>
            <a:srgbClr val="012169">
              <a:lumMod val="75000"/>
            </a:srgbClr>
          </a:solidFill>
          <a:ln w="19050" algn="ctr">
            <a:no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0" cap="none" spc="0" normalizeH="0" baseline="0" noProof="0" dirty="0">
                <a:ln>
                  <a:noFill/>
                </a:ln>
                <a:solidFill>
                  <a:srgbClr val="FFFFFF"/>
                </a:solidFill>
                <a:effectLst/>
                <a:uLnTx/>
                <a:uFillTx/>
              </a:rPr>
              <a:t>Monthly Project progress review meeting</a:t>
            </a:r>
          </a:p>
        </p:txBody>
      </p:sp>
      <p:sp>
        <p:nvSpPr>
          <p:cNvPr id="92" name="Rectangle 91">
            <a:extLst>
              <a:ext uri="{FF2B5EF4-FFF2-40B4-BE49-F238E27FC236}">
                <a16:creationId xmlns:a16="http://schemas.microsoft.com/office/drawing/2014/main" id="{0F190251-6DDE-490D-82A7-AC983A87DDFA}"/>
              </a:ext>
            </a:extLst>
          </p:cNvPr>
          <p:cNvSpPr/>
          <p:nvPr/>
        </p:nvSpPr>
        <p:spPr bwMode="gray">
          <a:xfrm>
            <a:off x="7543131" y="4939326"/>
            <a:ext cx="3928371" cy="632134"/>
          </a:xfrm>
          <a:prstGeom prst="rect">
            <a:avLst/>
          </a:prstGeom>
          <a:solidFill>
            <a:srgbClr val="86BC25">
              <a:lumMod val="20000"/>
              <a:lumOff val="80000"/>
            </a:srgbClr>
          </a:solidFill>
          <a:ln w="19050" algn="ctr">
            <a:no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endParaRPr kumimoji="0" lang="en-US" sz="2400" b="1" i="0" u="none" strike="noStrike" kern="0" cap="none" spc="0" normalizeH="0" baseline="0" noProof="0" dirty="0" err="1">
              <a:ln>
                <a:noFill/>
              </a:ln>
              <a:solidFill>
                <a:srgbClr val="FFFFFF"/>
              </a:solidFill>
              <a:effectLst/>
              <a:uLnTx/>
              <a:uFillTx/>
            </a:endParaRPr>
          </a:p>
        </p:txBody>
      </p:sp>
      <p:sp>
        <p:nvSpPr>
          <p:cNvPr id="101" name="TextBox 100">
            <a:extLst>
              <a:ext uri="{FF2B5EF4-FFF2-40B4-BE49-F238E27FC236}">
                <a16:creationId xmlns:a16="http://schemas.microsoft.com/office/drawing/2014/main" id="{9EC3DBD2-7787-454F-A1DD-F45D4FBA3976}"/>
              </a:ext>
            </a:extLst>
          </p:cNvPr>
          <p:cNvSpPr txBox="1"/>
          <p:nvPr/>
        </p:nvSpPr>
        <p:spPr>
          <a:xfrm>
            <a:off x="7652017" y="5138893"/>
            <a:ext cx="4175760" cy="276999"/>
          </a:xfrm>
          <a:prstGeom prst="rect">
            <a:avLst/>
          </a:prstGeom>
          <a:noFill/>
        </p:spPr>
        <p:txBody>
          <a:bodyPr wrap="square" lIns="0" tIns="0" rIns="0" bIns="0" rtlCol="0">
            <a:spAutoFit/>
          </a:bodyPr>
          <a:lstStyle/>
          <a:p>
            <a:pPr algn="ctr" defTabSz="1219170">
              <a:spcAft>
                <a:spcPts val="1333"/>
              </a:spcAft>
              <a:buSzPct val="100000"/>
            </a:pPr>
            <a:r>
              <a:rPr lang="en-US" b="1" dirty="0">
                <a:solidFill>
                  <a:srgbClr val="000000"/>
                </a:solidFill>
              </a:rPr>
              <a:t>REC counterpart team</a:t>
            </a:r>
          </a:p>
        </p:txBody>
      </p:sp>
      <p:cxnSp>
        <p:nvCxnSpPr>
          <p:cNvPr id="104" name="Straight Arrow Connector 103">
            <a:extLst>
              <a:ext uri="{FF2B5EF4-FFF2-40B4-BE49-F238E27FC236}">
                <a16:creationId xmlns:a16="http://schemas.microsoft.com/office/drawing/2014/main" id="{1D59C4E5-1F0F-4B48-8FDF-1D1C189AD0C8}"/>
              </a:ext>
            </a:extLst>
          </p:cNvPr>
          <p:cNvCxnSpPr>
            <a:cxnSpLocks/>
          </p:cNvCxnSpPr>
          <p:nvPr/>
        </p:nvCxnSpPr>
        <p:spPr>
          <a:xfrm>
            <a:off x="9558228" y="4589742"/>
            <a:ext cx="0" cy="380661"/>
          </a:xfrm>
          <a:prstGeom prst="straightConnector1">
            <a:avLst/>
          </a:prstGeom>
          <a:noFill/>
          <a:ln w="19050" cap="flat" cmpd="sng" algn="ctr">
            <a:solidFill>
              <a:srgbClr val="62B5E5"/>
            </a:solidFill>
            <a:prstDash val="solid"/>
            <a:tailEnd type="triangle"/>
          </a:ln>
          <a:effectLst/>
        </p:spPr>
      </p:cxnSp>
      <p:sp>
        <p:nvSpPr>
          <p:cNvPr id="105" name="TextBox 104">
            <a:extLst>
              <a:ext uri="{FF2B5EF4-FFF2-40B4-BE49-F238E27FC236}">
                <a16:creationId xmlns:a16="http://schemas.microsoft.com/office/drawing/2014/main" id="{B88D62A7-D658-4940-A289-DED0B2EFCFE9}"/>
              </a:ext>
            </a:extLst>
          </p:cNvPr>
          <p:cNvSpPr txBox="1"/>
          <p:nvPr/>
        </p:nvSpPr>
        <p:spPr>
          <a:xfrm>
            <a:off x="8708065" y="1832316"/>
            <a:ext cx="1797267" cy="184666"/>
          </a:xfrm>
          <a:prstGeom prst="rect">
            <a:avLst/>
          </a:prstGeom>
          <a:noFill/>
        </p:spPr>
        <p:txBody>
          <a:bodyPr wrap="square" lIns="0" tIns="0" rIns="0" bIns="0" rtlCol="0">
            <a:spAutoFit/>
          </a:bodyPr>
          <a:lstStyle/>
          <a:p>
            <a:pPr algn="ctr" defTabSz="1219170">
              <a:spcAft>
                <a:spcPts val="1333"/>
              </a:spcAft>
              <a:buSzPct val="100000"/>
            </a:pPr>
            <a:r>
              <a:rPr lang="en-US" sz="1200" dirty="0">
                <a:solidFill>
                  <a:srgbClr val="000000"/>
                </a:solidFill>
              </a:rPr>
              <a:t>Engagement Partner</a:t>
            </a:r>
          </a:p>
        </p:txBody>
      </p:sp>
      <p:sp>
        <p:nvSpPr>
          <p:cNvPr id="106" name="TextBox 105">
            <a:extLst>
              <a:ext uri="{FF2B5EF4-FFF2-40B4-BE49-F238E27FC236}">
                <a16:creationId xmlns:a16="http://schemas.microsoft.com/office/drawing/2014/main" id="{0A7ED002-D057-42A4-A439-C40ADB688D82}"/>
              </a:ext>
            </a:extLst>
          </p:cNvPr>
          <p:cNvSpPr txBox="1"/>
          <p:nvPr/>
        </p:nvSpPr>
        <p:spPr>
          <a:xfrm>
            <a:off x="7691079" y="2705803"/>
            <a:ext cx="1797267" cy="184666"/>
          </a:xfrm>
          <a:prstGeom prst="rect">
            <a:avLst/>
          </a:prstGeom>
          <a:noFill/>
        </p:spPr>
        <p:txBody>
          <a:bodyPr wrap="square" lIns="0" tIns="0" rIns="0" bIns="0" rtlCol="0">
            <a:spAutoFit/>
          </a:bodyPr>
          <a:lstStyle/>
          <a:p>
            <a:pPr algn="ctr" defTabSz="1219170">
              <a:spcAft>
                <a:spcPts val="1333"/>
              </a:spcAft>
              <a:buSzPct val="100000"/>
            </a:pPr>
            <a:r>
              <a:rPr lang="en-US" sz="1200" dirty="0">
                <a:solidFill>
                  <a:srgbClr val="000000"/>
                </a:solidFill>
              </a:rPr>
              <a:t>Subject Matter Experts</a:t>
            </a:r>
          </a:p>
        </p:txBody>
      </p:sp>
      <p:sp>
        <p:nvSpPr>
          <p:cNvPr id="107" name="TextBox 106">
            <a:extLst>
              <a:ext uri="{FF2B5EF4-FFF2-40B4-BE49-F238E27FC236}">
                <a16:creationId xmlns:a16="http://schemas.microsoft.com/office/drawing/2014/main" id="{3F2C41D7-7E1B-4EE3-8780-2F81F1BBE84A}"/>
              </a:ext>
            </a:extLst>
          </p:cNvPr>
          <p:cNvSpPr txBox="1"/>
          <p:nvPr/>
        </p:nvSpPr>
        <p:spPr>
          <a:xfrm>
            <a:off x="10089166" y="2700486"/>
            <a:ext cx="1382336" cy="184666"/>
          </a:xfrm>
          <a:prstGeom prst="rect">
            <a:avLst/>
          </a:prstGeom>
          <a:noFill/>
        </p:spPr>
        <p:txBody>
          <a:bodyPr wrap="square" lIns="0" tIns="0" rIns="0" bIns="0" rtlCol="0">
            <a:spAutoFit/>
          </a:bodyPr>
          <a:lstStyle/>
          <a:p>
            <a:pPr algn="ctr" defTabSz="1219170">
              <a:spcAft>
                <a:spcPts val="1333"/>
              </a:spcAft>
              <a:buSzPct val="100000"/>
            </a:pPr>
            <a:r>
              <a:rPr lang="en-US" sz="1200" dirty="0">
                <a:solidFill>
                  <a:srgbClr val="000000"/>
                </a:solidFill>
              </a:rPr>
              <a:t>Think Tank</a:t>
            </a:r>
          </a:p>
        </p:txBody>
      </p:sp>
      <p:sp>
        <p:nvSpPr>
          <p:cNvPr id="108" name="TextBox 107">
            <a:extLst>
              <a:ext uri="{FF2B5EF4-FFF2-40B4-BE49-F238E27FC236}">
                <a16:creationId xmlns:a16="http://schemas.microsoft.com/office/drawing/2014/main" id="{8BB30AD3-8333-4C76-8BE8-68CB17E65924}"/>
              </a:ext>
            </a:extLst>
          </p:cNvPr>
          <p:cNvSpPr txBox="1"/>
          <p:nvPr/>
        </p:nvSpPr>
        <p:spPr>
          <a:xfrm>
            <a:off x="8469114" y="3741116"/>
            <a:ext cx="2142184" cy="184666"/>
          </a:xfrm>
          <a:prstGeom prst="rect">
            <a:avLst/>
          </a:prstGeom>
          <a:noFill/>
        </p:spPr>
        <p:txBody>
          <a:bodyPr wrap="square" lIns="0" tIns="0" rIns="0" bIns="0" rtlCol="0">
            <a:spAutoFit/>
          </a:bodyPr>
          <a:lstStyle/>
          <a:p>
            <a:pPr algn="ctr" defTabSz="1219170">
              <a:spcAft>
                <a:spcPts val="1333"/>
              </a:spcAft>
              <a:buSzPct val="100000"/>
            </a:pPr>
            <a:r>
              <a:rPr lang="en-US" sz="1200" dirty="0">
                <a:solidFill>
                  <a:srgbClr val="000000"/>
                </a:solidFill>
              </a:rPr>
              <a:t>Led by Engagement Manager</a:t>
            </a:r>
          </a:p>
        </p:txBody>
      </p:sp>
      <p:sp>
        <p:nvSpPr>
          <p:cNvPr id="109" name="TextBox 108">
            <a:extLst>
              <a:ext uri="{FF2B5EF4-FFF2-40B4-BE49-F238E27FC236}">
                <a16:creationId xmlns:a16="http://schemas.microsoft.com/office/drawing/2014/main" id="{CA11A23B-857E-41F3-AB5B-225ECDBE47C9}"/>
              </a:ext>
            </a:extLst>
          </p:cNvPr>
          <p:cNvSpPr txBox="1"/>
          <p:nvPr/>
        </p:nvSpPr>
        <p:spPr>
          <a:xfrm rot="16200000">
            <a:off x="7328613" y="3692556"/>
            <a:ext cx="1528646" cy="369332"/>
          </a:xfrm>
          <a:prstGeom prst="rect">
            <a:avLst/>
          </a:prstGeom>
          <a:noFill/>
        </p:spPr>
        <p:txBody>
          <a:bodyPr wrap="square" lIns="0" tIns="0" rIns="0" bIns="0" rtlCol="0">
            <a:spAutoFit/>
          </a:bodyPr>
          <a:lstStyle/>
          <a:p>
            <a:pPr algn="ctr" defTabSz="1219170">
              <a:spcAft>
                <a:spcPts val="1333"/>
              </a:spcAft>
              <a:buSzPct val="100000"/>
            </a:pPr>
            <a:r>
              <a:rPr lang="en-US" sz="1200" dirty="0">
                <a:solidFill>
                  <a:srgbClr val="000000"/>
                </a:solidFill>
              </a:rPr>
              <a:t>Support to REC in all modules</a:t>
            </a:r>
          </a:p>
        </p:txBody>
      </p:sp>
      <p:sp>
        <p:nvSpPr>
          <p:cNvPr id="110" name="TextBox 109">
            <a:extLst>
              <a:ext uri="{FF2B5EF4-FFF2-40B4-BE49-F238E27FC236}">
                <a16:creationId xmlns:a16="http://schemas.microsoft.com/office/drawing/2014/main" id="{1EC69478-7376-4D1D-BE52-F8A38475CE6C}"/>
              </a:ext>
            </a:extLst>
          </p:cNvPr>
          <p:cNvSpPr txBox="1"/>
          <p:nvPr/>
        </p:nvSpPr>
        <p:spPr>
          <a:xfrm rot="16200000">
            <a:off x="10475034" y="3741130"/>
            <a:ext cx="1626307" cy="369332"/>
          </a:xfrm>
          <a:prstGeom prst="rect">
            <a:avLst/>
          </a:prstGeom>
          <a:noFill/>
        </p:spPr>
        <p:txBody>
          <a:bodyPr wrap="square" lIns="0" tIns="0" rIns="0" bIns="0" rtlCol="0">
            <a:spAutoFit/>
          </a:bodyPr>
          <a:lstStyle/>
          <a:p>
            <a:pPr algn="ctr" defTabSz="1219170">
              <a:spcAft>
                <a:spcPts val="1333"/>
              </a:spcAft>
              <a:buSzPct val="100000"/>
            </a:pPr>
            <a:r>
              <a:rPr lang="en-US" sz="1200" dirty="0">
                <a:solidFill>
                  <a:srgbClr val="000000"/>
                </a:solidFill>
              </a:rPr>
              <a:t>Support to REC on key strategic areas</a:t>
            </a:r>
          </a:p>
        </p:txBody>
      </p:sp>
      <p:sp>
        <p:nvSpPr>
          <p:cNvPr id="111" name="TextBox 110">
            <a:extLst>
              <a:ext uri="{FF2B5EF4-FFF2-40B4-BE49-F238E27FC236}">
                <a16:creationId xmlns:a16="http://schemas.microsoft.com/office/drawing/2014/main" id="{A1BA1467-A020-407C-8AA0-20150F9DE473}"/>
              </a:ext>
            </a:extLst>
          </p:cNvPr>
          <p:cNvSpPr txBox="1"/>
          <p:nvPr/>
        </p:nvSpPr>
        <p:spPr>
          <a:xfrm>
            <a:off x="9706562" y="4600252"/>
            <a:ext cx="1307401" cy="369332"/>
          </a:xfrm>
          <a:prstGeom prst="rect">
            <a:avLst/>
          </a:prstGeom>
          <a:noFill/>
        </p:spPr>
        <p:txBody>
          <a:bodyPr wrap="square" lIns="0" tIns="0" rIns="0" bIns="0" rtlCol="0">
            <a:spAutoFit/>
          </a:bodyPr>
          <a:lstStyle/>
          <a:p>
            <a:pPr algn="ctr" defTabSz="1219170">
              <a:spcAft>
                <a:spcPts val="1333"/>
              </a:spcAft>
              <a:buSzPct val="100000"/>
            </a:pPr>
            <a:r>
              <a:rPr lang="en-US" sz="1200" dirty="0">
                <a:solidFill>
                  <a:srgbClr val="000000"/>
                </a:solidFill>
              </a:rPr>
              <a:t>Continuous field support</a:t>
            </a:r>
          </a:p>
        </p:txBody>
      </p:sp>
      <p:sp>
        <p:nvSpPr>
          <p:cNvPr id="112" name="Rectangle 111">
            <a:extLst>
              <a:ext uri="{FF2B5EF4-FFF2-40B4-BE49-F238E27FC236}">
                <a16:creationId xmlns:a16="http://schemas.microsoft.com/office/drawing/2014/main" id="{5D5CE67D-551A-454C-A499-308DE3E4A780}"/>
              </a:ext>
            </a:extLst>
          </p:cNvPr>
          <p:cNvSpPr/>
          <p:nvPr/>
        </p:nvSpPr>
        <p:spPr bwMode="gray">
          <a:xfrm rot="16200000">
            <a:off x="5365442" y="3455490"/>
            <a:ext cx="3821552" cy="406031"/>
          </a:xfrm>
          <a:prstGeom prst="rect">
            <a:avLst/>
          </a:prstGeom>
          <a:solidFill>
            <a:srgbClr val="FFFFFF">
              <a:lumMod val="85000"/>
            </a:srgbClr>
          </a:solidFill>
          <a:ln w="19050" algn="ctr">
            <a:no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0" cap="none" spc="0" normalizeH="0" baseline="0" noProof="0" dirty="0">
                <a:ln>
                  <a:noFill/>
                </a:ln>
                <a:solidFill>
                  <a:srgbClr val="000000"/>
                </a:solidFill>
                <a:effectLst/>
                <a:uLnTx/>
                <a:uFillTx/>
              </a:rPr>
              <a:t>Project Governance and Monitoring</a:t>
            </a:r>
          </a:p>
        </p:txBody>
      </p:sp>
      <p:sp>
        <p:nvSpPr>
          <p:cNvPr id="113" name="Rectangle 112">
            <a:extLst>
              <a:ext uri="{FF2B5EF4-FFF2-40B4-BE49-F238E27FC236}">
                <a16:creationId xmlns:a16="http://schemas.microsoft.com/office/drawing/2014/main" id="{309B75DA-8DC3-46CE-BBB7-51963A47EEB7}"/>
              </a:ext>
            </a:extLst>
          </p:cNvPr>
          <p:cNvSpPr/>
          <p:nvPr/>
        </p:nvSpPr>
        <p:spPr bwMode="gray">
          <a:xfrm rot="16200000">
            <a:off x="9853416" y="3441396"/>
            <a:ext cx="3803832" cy="451940"/>
          </a:xfrm>
          <a:prstGeom prst="rect">
            <a:avLst/>
          </a:prstGeom>
          <a:solidFill>
            <a:srgbClr val="FFFFFF">
              <a:lumMod val="85000"/>
            </a:srgbClr>
          </a:solidFill>
          <a:ln w="19050" algn="ctr">
            <a:noFill/>
            <a:miter lim="800000"/>
            <a:headEnd/>
            <a:tailEnd/>
          </a:ln>
        </p:spPr>
        <p:txBody>
          <a:bodyPr wrap="square" lIns="88900" tIns="88900" rIns="88900" bIns="88900" rtlCol="0" anchor="ctr"/>
          <a:lstStyle/>
          <a:p>
            <a:pPr marL="0" marR="0" lvl="0" indent="0" algn="ctr" defTabSz="1219170" eaLnBrk="1" fontAlgn="auto" latinLnBrk="0" hangingPunct="1">
              <a:lnSpc>
                <a:spcPct val="106000"/>
              </a:lnSpc>
              <a:spcBef>
                <a:spcPts val="0"/>
              </a:spcBef>
              <a:spcAft>
                <a:spcPts val="0"/>
              </a:spcAft>
              <a:buClrTx/>
              <a:buSzTx/>
              <a:buFont typeface="Wingdings 2" pitchFamily="18" charset="2"/>
              <a:buNone/>
              <a:tabLst/>
              <a:defRPr/>
            </a:pPr>
            <a:r>
              <a:rPr kumimoji="0" lang="en-US" sz="1200" b="0" i="0" u="none" strike="noStrike" kern="0" cap="none" spc="0" normalizeH="0" baseline="0" noProof="0" dirty="0">
                <a:ln>
                  <a:noFill/>
                </a:ln>
                <a:solidFill>
                  <a:srgbClr val="000000"/>
                </a:solidFill>
                <a:effectLst/>
                <a:uLnTx/>
                <a:uFillTx/>
              </a:rPr>
              <a:t>Project Execution &amp; Support</a:t>
            </a:r>
          </a:p>
        </p:txBody>
      </p:sp>
      <p:grpSp>
        <p:nvGrpSpPr>
          <p:cNvPr id="131" name="Group 130">
            <a:extLst>
              <a:ext uri="{FF2B5EF4-FFF2-40B4-BE49-F238E27FC236}">
                <a16:creationId xmlns:a16="http://schemas.microsoft.com/office/drawing/2014/main" id="{92E3E55F-4D64-48DB-9F52-53E3535A4F4C}"/>
              </a:ext>
            </a:extLst>
          </p:cNvPr>
          <p:cNvGrpSpPr/>
          <p:nvPr/>
        </p:nvGrpSpPr>
        <p:grpSpPr>
          <a:xfrm>
            <a:off x="7902300" y="2083766"/>
            <a:ext cx="620659" cy="523700"/>
            <a:chOff x="2925363" y="2996024"/>
            <a:chExt cx="620659" cy="523700"/>
          </a:xfrm>
          <a:solidFill>
            <a:srgbClr val="012169">
              <a:lumMod val="75000"/>
            </a:srgbClr>
          </a:solidFill>
        </p:grpSpPr>
        <p:sp>
          <p:nvSpPr>
            <p:cNvPr id="132" name="Freeform 93">
              <a:extLst>
                <a:ext uri="{FF2B5EF4-FFF2-40B4-BE49-F238E27FC236}">
                  <a16:creationId xmlns:a16="http://schemas.microsoft.com/office/drawing/2014/main" id="{0785D931-ADB8-4229-B83D-AB29B34A8E89}"/>
                </a:ext>
              </a:extLst>
            </p:cNvPr>
            <p:cNvSpPr>
              <a:spLocks/>
            </p:cNvSpPr>
            <p:nvPr/>
          </p:nvSpPr>
          <p:spPr bwMode="auto">
            <a:xfrm>
              <a:off x="3096735" y="3395705"/>
              <a:ext cx="277916" cy="94142"/>
            </a:xfrm>
            <a:custGeom>
              <a:avLst/>
              <a:gdLst>
                <a:gd name="T0" fmla="*/ 362 w 493"/>
                <a:gd name="T1" fmla="*/ 0 h 167"/>
                <a:gd name="T2" fmla="*/ 362 w 493"/>
                <a:gd name="T3" fmla="*/ 15 h 167"/>
                <a:gd name="T4" fmla="*/ 362 w 493"/>
                <a:gd name="T5" fmla="*/ 15 h 167"/>
                <a:gd name="T6" fmla="*/ 393 w 493"/>
                <a:gd name="T7" fmla="*/ 20 h 167"/>
                <a:gd name="T8" fmla="*/ 419 w 493"/>
                <a:gd name="T9" fmla="*/ 31 h 167"/>
                <a:gd name="T10" fmla="*/ 440 w 493"/>
                <a:gd name="T11" fmla="*/ 47 h 167"/>
                <a:gd name="T12" fmla="*/ 446 w 493"/>
                <a:gd name="T13" fmla="*/ 57 h 167"/>
                <a:gd name="T14" fmla="*/ 446 w 493"/>
                <a:gd name="T15" fmla="*/ 57 h 167"/>
                <a:gd name="T16" fmla="*/ 440 w 493"/>
                <a:gd name="T17" fmla="*/ 68 h 167"/>
                <a:gd name="T18" fmla="*/ 430 w 493"/>
                <a:gd name="T19" fmla="*/ 78 h 167"/>
                <a:gd name="T20" fmla="*/ 409 w 493"/>
                <a:gd name="T21" fmla="*/ 89 h 167"/>
                <a:gd name="T22" fmla="*/ 388 w 493"/>
                <a:gd name="T23" fmla="*/ 99 h 167"/>
                <a:gd name="T24" fmla="*/ 325 w 493"/>
                <a:gd name="T25" fmla="*/ 110 h 167"/>
                <a:gd name="T26" fmla="*/ 246 w 493"/>
                <a:gd name="T27" fmla="*/ 115 h 167"/>
                <a:gd name="T28" fmla="*/ 246 w 493"/>
                <a:gd name="T29" fmla="*/ 115 h 167"/>
                <a:gd name="T30" fmla="*/ 168 w 493"/>
                <a:gd name="T31" fmla="*/ 110 h 167"/>
                <a:gd name="T32" fmla="*/ 105 w 493"/>
                <a:gd name="T33" fmla="*/ 99 h 167"/>
                <a:gd name="T34" fmla="*/ 78 w 493"/>
                <a:gd name="T35" fmla="*/ 89 h 167"/>
                <a:gd name="T36" fmla="*/ 63 w 493"/>
                <a:gd name="T37" fmla="*/ 78 h 167"/>
                <a:gd name="T38" fmla="*/ 52 w 493"/>
                <a:gd name="T39" fmla="*/ 68 h 167"/>
                <a:gd name="T40" fmla="*/ 47 w 493"/>
                <a:gd name="T41" fmla="*/ 57 h 167"/>
                <a:gd name="T42" fmla="*/ 47 w 493"/>
                <a:gd name="T43" fmla="*/ 57 h 167"/>
                <a:gd name="T44" fmla="*/ 52 w 493"/>
                <a:gd name="T45" fmla="*/ 47 h 167"/>
                <a:gd name="T46" fmla="*/ 68 w 493"/>
                <a:gd name="T47" fmla="*/ 31 h 167"/>
                <a:gd name="T48" fmla="*/ 94 w 493"/>
                <a:gd name="T49" fmla="*/ 20 h 167"/>
                <a:gd name="T50" fmla="*/ 131 w 493"/>
                <a:gd name="T51" fmla="*/ 15 h 167"/>
                <a:gd name="T52" fmla="*/ 131 w 493"/>
                <a:gd name="T53" fmla="*/ 0 h 167"/>
                <a:gd name="T54" fmla="*/ 131 w 493"/>
                <a:gd name="T55" fmla="*/ 0 h 167"/>
                <a:gd name="T56" fmla="*/ 78 w 493"/>
                <a:gd name="T57" fmla="*/ 15 h 167"/>
                <a:gd name="T58" fmla="*/ 36 w 493"/>
                <a:gd name="T59" fmla="*/ 31 h 167"/>
                <a:gd name="T60" fmla="*/ 10 w 493"/>
                <a:gd name="T61" fmla="*/ 52 h 167"/>
                <a:gd name="T62" fmla="*/ 5 w 493"/>
                <a:gd name="T63" fmla="*/ 68 h 167"/>
                <a:gd name="T64" fmla="*/ 0 w 493"/>
                <a:gd name="T65" fmla="*/ 78 h 167"/>
                <a:gd name="T66" fmla="*/ 0 w 493"/>
                <a:gd name="T67" fmla="*/ 78 h 167"/>
                <a:gd name="T68" fmla="*/ 5 w 493"/>
                <a:gd name="T69" fmla="*/ 94 h 167"/>
                <a:gd name="T70" fmla="*/ 21 w 493"/>
                <a:gd name="T71" fmla="*/ 110 h 167"/>
                <a:gd name="T72" fmla="*/ 42 w 493"/>
                <a:gd name="T73" fmla="*/ 125 h 167"/>
                <a:gd name="T74" fmla="*/ 73 w 493"/>
                <a:gd name="T75" fmla="*/ 141 h 167"/>
                <a:gd name="T76" fmla="*/ 110 w 493"/>
                <a:gd name="T77" fmla="*/ 152 h 167"/>
                <a:gd name="T78" fmla="*/ 152 w 493"/>
                <a:gd name="T79" fmla="*/ 157 h 167"/>
                <a:gd name="T80" fmla="*/ 194 w 493"/>
                <a:gd name="T81" fmla="*/ 162 h 167"/>
                <a:gd name="T82" fmla="*/ 246 w 493"/>
                <a:gd name="T83" fmla="*/ 167 h 167"/>
                <a:gd name="T84" fmla="*/ 246 w 493"/>
                <a:gd name="T85" fmla="*/ 167 h 167"/>
                <a:gd name="T86" fmla="*/ 293 w 493"/>
                <a:gd name="T87" fmla="*/ 162 h 167"/>
                <a:gd name="T88" fmla="*/ 341 w 493"/>
                <a:gd name="T89" fmla="*/ 157 h 167"/>
                <a:gd name="T90" fmla="*/ 383 w 493"/>
                <a:gd name="T91" fmla="*/ 152 h 167"/>
                <a:gd name="T92" fmla="*/ 419 w 493"/>
                <a:gd name="T93" fmla="*/ 141 h 167"/>
                <a:gd name="T94" fmla="*/ 451 w 493"/>
                <a:gd name="T95" fmla="*/ 125 h 167"/>
                <a:gd name="T96" fmla="*/ 472 w 493"/>
                <a:gd name="T97" fmla="*/ 110 h 167"/>
                <a:gd name="T98" fmla="*/ 488 w 493"/>
                <a:gd name="T99" fmla="*/ 94 h 167"/>
                <a:gd name="T100" fmla="*/ 493 w 493"/>
                <a:gd name="T101" fmla="*/ 78 h 167"/>
                <a:gd name="T102" fmla="*/ 493 w 493"/>
                <a:gd name="T103" fmla="*/ 78 h 167"/>
                <a:gd name="T104" fmla="*/ 488 w 493"/>
                <a:gd name="T105" fmla="*/ 68 h 167"/>
                <a:gd name="T106" fmla="*/ 482 w 493"/>
                <a:gd name="T107" fmla="*/ 52 h 167"/>
                <a:gd name="T108" fmla="*/ 456 w 493"/>
                <a:gd name="T109" fmla="*/ 31 h 167"/>
                <a:gd name="T110" fmla="*/ 414 w 493"/>
                <a:gd name="T111" fmla="*/ 15 h 167"/>
                <a:gd name="T112" fmla="*/ 362 w 493"/>
                <a:gd name="T113" fmla="*/ 0 h 167"/>
                <a:gd name="T114" fmla="*/ 362 w 493"/>
                <a:gd name="T115"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93" h="167">
                  <a:moveTo>
                    <a:pt x="362" y="0"/>
                  </a:moveTo>
                  <a:lnTo>
                    <a:pt x="362" y="15"/>
                  </a:lnTo>
                  <a:lnTo>
                    <a:pt x="362" y="15"/>
                  </a:lnTo>
                  <a:lnTo>
                    <a:pt x="393" y="20"/>
                  </a:lnTo>
                  <a:lnTo>
                    <a:pt x="419" y="31"/>
                  </a:lnTo>
                  <a:lnTo>
                    <a:pt x="440" y="47"/>
                  </a:lnTo>
                  <a:lnTo>
                    <a:pt x="446" y="57"/>
                  </a:lnTo>
                  <a:lnTo>
                    <a:pt x="446" y="57"/>
                  </a:lnTo>
                  <a:lnTo>
                    <a:pt x="440" y="68"/>
                  </a:lnTo>
                  <a:lnTo>
                    <a:pt x="430" y="78"/>
                  </a:lnTo>
                  <a:lnTo>
                    <a:pt x="409" y="89"/>
                  </a:lnTo>
                  <a:lnTo>
                    <a:pt x="388" y="99"/>
                  </a:lnTo>
                  <a:lnTo>
                    <a:pt x="325" y="110"/>
                  </a:lnTo>
                  <a:lnTo>
                    <a:pt x="246" y="115"/>
                  </a:lnTo>
                  <a:lnTo>
                    <a:pt x="246" y="115"/>
                  </a:lnTo>
                  <a:lnTo>
                    <a:pt x="168" y="110"/>
                  </a:lnTo>
                  <a:lnTo>
                    <a:pt x="105" y="99"/>
                  </a:lnTo>
                  <a:lnTo>
                    <a:pt x="78" y="89"/>
                  </a:lnTo>
                  <a:lnTo>
                    <a:pt x="63" y="78"/>
                  </a:lnTo>
                  <a:lnTo>
                    <a:pt x="52" y="68"/>
                  </a:lnTo>
                  <a:lnTo>
                    <a:pt x="47" y="57"/>
                  </a:lnTo>
                  <a:lnTo>
                    <a:pt x="47" y="57"/>
                  </a:lnTo>
                  <a:lnTo>
                    <a:pt x="52" y="47"/>
                  </a:lnTo>
                  <a:lnTo>
                    <a:pt x="68" y="31"/>
                  </a:lnTo>
                  <a:lnTo>
                    <a:pt x="94" y="20"/>
                  </a:lnTo>
                  <a:lnTo>
                    <a:pt x="131" y="15"/>
                  </a:lnTo>
                  <a:lnTo>
                    <a:pt x="131" y="0"/>
                  </a:lnTo>
                  <a:lnTo>
                    <a:pt x="131" y="0"/>
                  </a:lnTo>
                  <a:lnTo>
                    <a:pt x="78" y="15"/>
                  </a:lnTo>
                  <a:lnTo>
                    <a:pt x="36" y="31"/>
                  </a:lnTo>
                  <a:lnTo>
                    <a:pt x="10" y="52"/>
                  </a:lnTo>
                  <a:lnTo>
                    <a:pt x="5" y="68"/>
                  </a:lnTo>
                  <a:lnTo>
                    <a:pt x="0" y="78"/>
                  </a:lnTo>
                  <a:lnTo>
                    <a:pt x="0" y="78"/>
                  </a:lnTo>
                  <a:lnTo>
                    <a:pt x="5" y="94"/>
                  </a:lnTo>
                  <a:lnTo>
                    <a:pt x="21" y="110"/>
                  </a:lnTo>
                  <a:lnTo>
                    <a:pt x="42" y="125"/>
                  </a:lnTo>
                  <a:lnTo>
                    <a:pt x="73" y="141"/>
                  </a:lnTo>
                  <a:lnTo>
                    <a:pt x="110" y="152"/>
                  </a:lnTo>
                  <a:lnTo>
                    <a:pt x="152" y="157"/>
                  </a:lnTo>
                  <a:lnTo>
                    <a:pt x="194" y="162"/>
                  </a:lnTo>
                  <a:lnTo>
                    <a:pt x="246" y="167"/>
                  </a:lnTo>
                  <a:lnTo>
                    <a:pt x="246" y="167"/>
                  </a:lnTo>
                  <a:lnTo>
                    <a:pt x="293" y="162"/>
                  </a:lnTo>
                  <a:lnTo>
                    <a:pt x="341" y="157"/>
                  </a:lnTo>
                  <a:lnTo>
                    <a:pt x="383" y="152"/>
                  </a:lnTo>
                  <a:lnTo>
                    <a:pt x="419" y="141"/>
                  </a:lnTo>
                  <a:lnTo>
                    <a:pt x="451" y="125"/>
                  </a:lnTo>
                  <a:lnTo>
                    <a:pt x="472" y="110"/>
                  </a:lnTo>
                  <a:lnTo>
                    <a:pt x="488" y="94"/>
                  </a:lnTo>
                  <a:lnTo>
                    <a:pt x="493" y="78"/>
                  </a:lnTo>
                  <a:lnTo>
                    <a:pt x="493" y="78"/>
                  </a:lnTo>
                  <a:lnTo>
                    <a:pt x="488" y="68"/>
                  </a:lnTo>
                  <a:lnTo>
                    <a:pt x="482" y="52"/>
                  </a:lnTo>
                  <a:lnTo>
                    <a:pt x="456" y="31"/>
                  </a:lnTo>
                  <a:lnTo>
                    <a:pt x="414" y="15"/>
                  </a:lnTo>
                  <a:lnTo>
                    <a:pt x="362" y="0"/>
                  </a:lnTo>
                  <a:lnTo>
                    <a:pt x="3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133" name="Freeform 94">
              <a:extLst>
                <a:ext uri="{FF2B5EF4-FFF2-40B4-BE49-F238E27FC236}">
                  <a16:creationId xmlns:a16="http://schemas.microsoft.com/office/drawing/2014/main" id="{514D556A-F7EC-48DF-9FE7-6866D6987EA4}"/>
                </a:ext>
              </a:extLst>
            </p:cNvPr>
            <p:cNvSpPr>
              <a:spLocks noEditPoints="1"/>
            </p:cNvSpPr>
            <p:nvPr/>
          </p:nvSpPr>
          <p:spPr bwMode="auto">
            <a:xfrm>
              <a:off x="3155926" y="2996024"/>
              <a:ext cx="159534" cy="446469"/>
            </a:xfrm>
            <a:custGeom>
              <a:avLst/>
              <a:gdLst>
                <a:gd name="T0" fmla="*/ 84 w 283"/>
                <a:gd name="T1" fmla="*/ 116 h 792"/>
                <a:gd name="T2" fmla="*/ 89 w 283"/>
                <a:gd name="T3" fmla="*/ 132 h 792"/>
                <a:gd name="T4" fmla="*/ 115 w 283"/>
                <a:gd name="T5" fmla="*/ 168 h 792"/>
                <a:gd name="T6" fmla="*/ 141 w 283"/>
                <a:gd name="T7" fmla="*/ 179 h 792"/>
                <a:gd name="T8" fmla="*/ 167 w 283"/>
                <a:gd name="T9" fmla="*/ 168 h 792"/>
                <a:gd name="T10" fmla="*/ 194 w 283"/>
                <a:gd name="T11" fmla="*/ 132 h 792"/>
                <a:gd name="T12" fmla="*/ 199 w 283"/>
                <a:gd name="T13" fmla="*/ 116 h 792"/>
                <a:gd name="T14" fmla="*/ 204 w 283"/>
                <a:gd name="T15" fmla="*/ 116 h 792"/>
                <a:gd name="T16" fmla="*/ 209 w 283"/>
                <a:gd name="T17" fmla="*/ 105 h 792"/>
                <a:gd name="T18" fmla="*/ 209 w 283"/>
                <a:gd name="T19" fmla="*/ 84 h 792"/>
                <a:gd name="T20" fmla="*/ 209 w 283"/>
                <a:gd name="T21" fmla="*/ 79 h 792"/>
                <a:gd name="T22" fmla="*/ 209 w 283"/>
                <a:gd name="T23" fmla="*/ 79 h 792"/>
                <a:gd name="T24" fmla="*/ 204 w 283"/>
                <a:gd name="T25" fmla="*/ 48 h 792"/>
                <a:gd name="T26" fmla="*/ 183 w 283"/>
                <a:gd name="T27" fmla="*/ 11 h 792"/>
                <a:gd name="T28" fmla="*/ 157 w 283"/>
                <a:gd name="T29" fmla="*/ 0 h 792"/>
                <a:gd name="T30" fmla="*/ 141 w 283"/>
                <a:gd name="T31" fmla="*/ 0 h 792"/>
                <a:gd name="T32" fmla="*/ 110 w 283"/>
                <a:gd name="T33" fmla="*/ 6 h 792"/>
                <a:gd name="T34" fmla="*/ 89 w 283"/>
                <a:gd name="T35" fmla="*/ 21 h 792"/>
                <a:gd name="T36" fmla="*/ 73 w 283"/>
                <a:gd name="T37" fmla="*/ 79 h 792"/>
                <a:gd name="T38" fmla="*/ 73 w 283"/>
                <a:gd name="T39" fmla="*/ 79 h 792"/>
                <a:gd name="T40" fmla="*/ 73 w 283"/>
                <a:gd name="T41" fmla="*/ 84 h 792"/>
                <a:gd name="T42" fmla="*/ 68 w 283"/>
                <a:gd name="T43" fmla="*/ 84 h 792"/>
                <a:gd name="T44" fmla="*/ 78 w 283"/>
                <a:gd name="T45" fmla="*/ 116 h 792"/>
                <a:gd name="T46" fmla="*/ 84 w 283"/>
                <a:gd name="T47" fmla="*/ 116 h 792"/>
                <a:gd name="T48" fmla="*/ 272 w 283"/>
                <a:gd name="T49" fmla="*/ 221 h 792"/>
                <a:gd name="T50" fmla="*/ 215 w 283"/>
                <a:gd name="T51" fmla="*/ 189 h 792"/>
                <a:gd name="T52" fmla="*/ 194 w 283"/>
                <a:gd name="T53" fmla="*/ 174 h 792"/>
                <a:gd name="T54" fmla="*/ 152 w 283"/>
                <a:gd name="T55" fmla="*/ 215 h 792"/>
                <a:gd name="T56" fmla="*/ 157 w 283"/>
                <a:gd name="T57" fmla="*/ 189 h 792"/>
                <a:gd name="T58" fmla="*/ 141 w 283"/>
                <a:gd name="T59" fmla="*/ 189 h 792"/>
                <a:gd name="T60" fmla="*/ 126 w 283"/>
                <a:gd name="T61" fmla="*/ 189 h 792"/>
                <a:gd name="T62" fmla="*/ 131 w 283"/>
                <a:gd name="T63" fmla="*/ 215 h 792"/>
                <a:gd name="T64" fmla="*/ 89 w 283"/>
                <a:gd name="T65" fmla="*/ 174 h 792"/>
                <a:gd name="T66" fmla="*/ 84 w 283"/>
                <a:gd name="T67" fmla="*/ 184 h 792"/>
                <a:gd name="T68" fmla="*/ 10 w 283"/>
                <a:gd name="T69" fmla="*/ 221 h 792"/>
                <a:gd name="T70" fmla="*/ 0 w 283"/>
                <a:gd name="T71" fmla="*/ 226 h 792"/>
                <a:gd name="T72" fmla="*/ 0 w 283"/>
                <a:gd name="T73" fmla="*/ 452 h 792"/>
                <a:gd name="T74" fmla="*/ 5 w 283"/>
                <a:gd name="T75" fmla="*/ 472 h 792"/>
                <a:gd name="T76" fmla="*/ 31 w 283"/>
                <a:gd name="T77" fmla="*/ 499 h 792"/>
                <a:gd name="T78" fmla="*/ 52 w 283"/>
                <a:gd name="T79" fmla="*/ 509 h 792"/>
                <a:gd name="T80" fmla="*/ 52 w 283"/>
                <a:gd name="T81" fmla="*/ 750 h 792"/>
                <a:gd name="T82" fmla="*/ 63 w 283"/>
                <a:gd name="T83" fmla="*/ 782 h 792"/>
                <a:gd name="T84" fmla="*/ 94 w 283"/>
                <a:gd name="T85" fmla="*/ 792 h 792"/>
                <a:gd name="T86" fmla="*/ 115 w 283"/>
                <a:gd name="T87" fmla="*/ 792 h 792"/>
                <a:gd name="T88" fmla="*/ 136 w 283"/>
                <a:gd name="T89" fmla="*/ 766 h 792"/>
                <a:gd name="T90" fmla="*/ 141 w 283"/>
                <a:gd name="T91" fmla="*/ 750 h 792"/>
                <a:gd name="T92" fmla="*/ 152 w 283"/>
                <a:gd name="T93" fmla="*/ 782 h 792"/>
                <a:gd name="T94" fmla="*/ 183 w 283"/>
                <a:gd name="T95" fmla="*/ 792 h 792"/>
                <a:gd name="T96" fmla="*/ 204 w 283"/>
                <a:gd name="T97" fmla="*/ 792 h 792"/>
                <a:gd name="T98" fmla="*/ 225 w 283"/>
                <a:gd name="T99" fmla="*/ 766 h 792"/>
                <a:gd name="T100" fmla="*/ 230 w 283"/>
                <a:gd name="T101" fmla="*/ 509 h 792"/>
                <a:gd name="T102" fmla="*/ 230 w 283"/>
                <a:gd name="T103" fmla="*/ 509 h 792"/>
                <a:gd name="T104" fmla="*/ 267 w 283"/>
                <a:gd name="T105" fmla="*/ 488 h 792"/>
                <a:gd name="T106" fmla="*/ 283 w 283"/>
                <a:gd name="T107" fmla="*/ 452 h 792"/>
                <a:gd name="T108" fmla="*/ 283 w 283"/>
                <a:gd name="T109" fmla="*/ 236 h 792"/>
                <a:gd name="T110" fmla="*/ 272 w 283"/>
                <a:gd name="T111" fmla="*/ 221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3" h="792">
                  <a:moveTo>
                    <a:pt x="84" y="116"/>
                  </a:moveTo>
                  <a:lnTo>
                    <a:pt x="84" y="116"/>
                  </a:lnTo>
                  <a:lnTo>
                    <a:pt x="89" y="132"/>
                  </a:lnTo>
                  <a:lnTo>
                    <a:pt x="89" y="132"/>
                  </a:lnTo>
                  <a:lnTo>
                    <a:pt x="99" y="153"/>
                  </a:lnTo>
                  <a:lnTo>
                    <a:pt x="115" y="168"/>
                  </a:lnTo>
                  <a:lnTo>
                    <a:pt x="126" y="174"/>
                  </a:lnTo>
                  <a:lnTo>
                    <a:pt x="141" y="179"/>
                  </a:lnTo>
                  <a:lnTo>
                    <a:pt x="157" y="174"/>
                  </a:lnTo>
                  <a:lnTo>
                    <a:pt x="167" y="168"/>
                  </a:lnTo>
                  <a:lnTo>
                    <a:pt x="183" y="153"/>
                  </a:lnTo>
                  <a:lnTo>
                    <a:pt x="194" y="132"/>
                  </a:lnTo>
                  <a:lnTo>
                    <a:pt x="194" y="132"/>
                  </a:lnTo>
                  <a:lnTo>
                    <a:pt x="199" y="116"/>
                  </a:lnTo>
                  <a:lnTo>
                    <a:pt x="199" y="116"/>
                  </a:lnTo>
                  <a:lnTo>
                    <a:pt x="204" y="116"/>
                  </a:lnTo>
                  <a:lnTo>
                    <a:pt x="204" y="116"/>
                  </a:lnTo>
                  <a:lnTo>
                    <a:pt x="209" y="105"/>
                  </a:lnTo>
                  <a:lnTo>
                    <a:pt x="209" y="84"/>
                  </a:lnTo>
                  <a:lnTo>
                    <a:pt x="209" y="84"/>
                  </a:lnTo>
                  <a:lnTo>
                    <a:pt x="209" y="84"/>
                  </a:lnTo>
                  <a:lnTo>
                    <a:pt x="209" y="79"/>
                  </a:lnTo>
                  <a:lnTo>
                    <a:pt x="209" y="79"/>
                  </a:lnTo>
                  <a:lnTo>
                    <a:pt x="209" y="79"/>
                  </a:lnTo>
                  <a:lnTo>
                    <a:pt x="209" y="79"/>
                  </a:lnTo>
                  <a:lnTo>
                    <a:pt x="204" y="48"/>
                  </a:lnTo>
                  <a:lnTo>
                    <a:pt x="194" y="21"/>
                  </a:lnTo>
                  <a:lnTo>
                    <a:pt x="183" y="11"/>
                  </a:lnTo>
                  <a:lnTo>
                    <a:pt x="173" y="6"/>
                  </a:lnTo>
                  <a:lnTo>
                    <a:pt x="157" y="0"/>
                  </a:lnTo>
                  <a:lnTo>
                    <a:pt x="141" y="0"/>
                  </a:lnTo>
                  <a:lnTo>
                    <a:pt x="141" y="0"/>
                  </a:lnTo>
                  <a:lnTo>
                    <a:pt x="126" y="0"/>
                  </a:lnTo>
                  <a:lnTo>
                    <a:pt x="110" y="6"/>
                  </a:lnTo>
                  <a:lnTo>
                    <a:pt x="99" y="11"/>
                  </a:lnTo>
                  <a:lnTo>
                    <a:pt x="89" y="21"/>
                  </a:lnTo>
                  <a:lnTo>
                    <a:pt x="78" y="48"/>
                  </a:lnTo>
                  <a:lnTo>
                    <a:pt x="73" y="79"/>
                  </a:lnTo>
                  <a:lnTo>
                    <a:pt x="73" y="79"/>
                  </a:lnTo>
                  <a:lnTo>
                    <a:pt x="73" y="79"/>
                  </a:lnTo>
                  <a:lnTo>
                    <a:pt x="73" y="79"/>
                  </a:lnTo>
                  <a:lnTo>
                    <a:pt x="73" y="84"/>
                  </a:lnTo>
                  <a:lnTo>
                    <a:pt x="68" y="84"/>
                  </a:lnTo>
                  <a:lnTo>
                    <a:pt x="68" y="84"/>
                  </a:lnTo>
                  <a:lnTo>
                    <a:pt x="68" y="105"/>
                  </a:lnTo>
                  <a:lnTo>
                    <a:pt x="78" y="116"/>
                  </a:lnTo>
                  <a:lnTo>
                    <a:pt x="78" y="116"/>
                  </a:lnTo>
                  <a:lnTo>
                    <a:pt x="84" y="116"/>
                  </a:lnTo>
                  <a:lnTo>
                    <a:pt x="84" y="116"/>
                  </a:lnTo>
                  <a:close/>
                  <a:moveTo>
                    <a:pt x="272" y="221"/>
                  </a:moveTo>
                  <a:lnTo>
                    <a:pt x="215" y="189"/>
                  </a:lnTo>
                  <a:lnTo>
                    <a:pt x="215" y="189"/>
                  </a:lnTo>
                  <a:lnTo>
                    <a:pt x="199" y="184"/>
                  </a:lnTo>
                  <a:lnTo>
                    <a:pt x="194" y="174"/>
                  </a:lnTo>
                  <a:lnTo>
                    <a:pt x="178" y="195"/>
                  </a:lnTo>
                  <a:lnTo>
                    <a:pt x="152" y="215"/>
                  </a:lnTo>
                  <a:lnTo>
                    <a:pt x="152" y="200"/>
                  </a:lnTo>
                  <a:lnTo>
                    <a:pt x="157" y="189"/>
                  </a:lnTo>
                  <a:lnTo>
                    <a:pt x="157" y="189"/>
                  </a:lnTo>
                  <a:lnTo>
                    <a:pt x="141" y="189"/>
                  </a:lnTo>
                  <a:lnTo>
                    <a:pt x="141" y="189"/>
                  </a:lnTo>
                  <a:lnTo>
                    <a:pt x="126" y="189"/>
                  </a:lnTo>
                  <a:lnTo>
                    <a:pt x="131" y="200"/>
                  </a:lnTo>
                  <a:lnTo>
                    <a:pt x="131" y="215"/>
                  </a:lnTo>
                  <a:lnTo>
                    <a:pt x="105" y="195"/>
                  </a:lnTo>
                  <a:lnTo>
                    <a:pt x="89" y="174"/>
                  </a:lnTo>
                  <a:lnTo>
                    <a:pt x="89" y="174"/>
                  </a:lnTo>
                  <a:lnTo>
                    <a:pt x="84" y="184"/>
                  </a:lnTo>
                  <a:lnTo>
                    <a:pt x="68" y="189"/>
                  </a:lnTo>
                  <a:lnTo>
                    <a:pt x="10" y="221"/>
                  </a:lnTo>
                  <a:lnTo>
                    <a:pt x="10" y="221"/>
                  </a:lnTo>
                  <a:lnTo>
                    <a:pt x="0" y="226"/>
                  </a:lnTo>
                  <a:lnTo>
                    <a:pt x="0" y="236"/>
                  </a:lnTo>
                  <a:lnTo>
                    <a:pt x="0" y="452"/>
                  </a:lnTo>
                  <a:lnTo>
                    <a:pt x="0" y="452"/>
                  </a:lnTo>
                  <a:lnTo>
                    <a:pt x="5" y="472"/>
                  </a:lnTo>
                  <a:lnTo>
                    <a:pt x="15" y="488"/>
                  </a:lnTo>
                  <a:lnTo>
                    <a:pt x="31" y="499"/>
                  </a:lnTo>
                  <a:lnTo>
                    <a:pt x="52" y="509"/>
                  </a:lnTo>
                  <a:lnTo>
                    <a:pt x="52" y="509"/>
                  </a:lnTo>
                  <a:lnTo>
                    <a:pt x="52" y="750"/>
                  </a:lnTo>
                  <a:lnTo>
                    <a:pt x="52" y="750"/>
                  </a:lnTo>
                  <a:lnTo>
                    <a:pt x="52" y="766"/>
                  </a:lnTo>
                  <a:lnTo>
                    <a:pt x="63" y="782"/>
                  </a:lnTo>
                  <a:lnTo>
                    <a:pt x="78" y="792"/>
                  </a:lnTo>
                  <a:lnTo>
                    <a:pt x="94" y="792"/>
                  </a:lnTo>
                  <a:lnTo>
                    <a:pt x="94" y="792"/>
                  </a:lnTo>
                  <a:lnTo>
                    <a:pt x="115" y="792"/>
                  </a:lnTo>
                  <a:lnTo>
                    <a:pt x="126" y="782"/>
                  </a:lnTo>
                  <a:lnTo>
                    <a:pt x="136" y="766"/>
                  </a:lnTo>
                  <a:lnTo>
                    <a:pt x="141" y="750"/>
                  </a:lnTo>
                  <a:lnTo>
                    <a:pt x="141" y="750"/>
                  </a:lnTo>
                  <a:lnTo>
                    <a:pt x="146" y="766"/>
                  </a:lnTo>
                  <a:lnTo>
                    <a:pt x="152" y="782"/>
                  </a:lnTo>
                  <a:lnTo>
                    <a:pt x="167" y="792"/>
                  </a:lnTo>
                  <a:lnTo>
                    <a:pt x="183" y="792"/>
                  </a:lnTo>
                  <a:lnTo>
                    <a:pt x="183" y="792"/>
                  </a:lnTo>
                  <a:lnTo>
                    <a:pt x="204" y="792"/>
                  </a:lnTo>
                  <a:lnTo>
                    <a:pt x="215" y="782"/>
                  </a:lnTo>
                  <a:lnTo>
                    <a:pt x="225" y="766"/>
                  </a:lnTo>
                  <a:lnTo>
                    <a:pt x="230" y="750"/>
                  </a:lnTo>
                  <a:lnTo>
                    <a:pt x="230" y="509"/>
                  </a:lnTo>
                  <a:lnTo>
                    <a:pt x="230" y="509"/>
                  </a:lnTo>
                  <a:lnTo>
                    <a:pt x="230" y="509"/>
                  </a:lnTo>
                  <a:lnTo>
                    <a:pt x="251" y="499"/>
                  </a:lnTo>
                  <a:lnTo>
                    <a:pt x="267" y="488"/>
                  </a:lnTo>
                  <a:lnTo>
                    <a:pt x="278" y="472"/>
                  </a:lnTo>
                  <a:lnTo>
                    <a:pt x="283" y="452"/>
                  </a:lnTo>
                  <a:lnTo>
                    <a:pt x="283" y="236"/>
                  </a:lnTo>
                  <a:lnTo>
                    <a:pt x="283" y="236"/>
                  </a:lnTo>
                  <a:lnTo>
                    <a:pt x="278" y="226"/>
                  </a:lnTo>
                  <a:lnTo>
                    <a:pt x="272" y="221"/>
                  </a:lnTo>
                  <a:lnTo>
                    <a:pt x="272" y="2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134" name="Freeform 95">
              <a:extLst>
                <a:ext uri="{FF2B5EF4-FFF2-40B4-BE49-F238E27FC236}">
                  <a16:creationId xmlns:a16="http://schemas.microsoft.com/office/drawing/2014/main" id="{F65A98B8-5B81-4371-A7EC-F21ACEA6D1AD}"/>
                </a:ext>
              </a:extLst>
            </p:cNvPr>
            <p:cNvSpPr>
              <a:spLocks/>
            </p:cNvSpPr>
            <p:nvPr/>
          </p:nvSpPr>
          <p:spPr bwMode="auto">
            <a:xfrm>
              <a:off x="2925363" y="3445876"/>
              <a:ext cx="215343" cy="73848"/>
            </a:xfrm>
            <a:custGeom>
              <a:avLst/>
              <a:gdLst>
                <a:gd name="T0" fmla="*/ 330 w 382"/>
                <a:gd name="T1" fmla="*/ 68 h 131"/>
                <a:gd name="T2" fmla="*/ 330 w 382"/>
                <a:gd name="T3" fmla="*/ 68 h 131"/>
                <a:gd name="T4" fmla="*/ 304 w 382"/>
                <a:gd name="T5" fmla="*/ 78 h 131"/>
                <a:gd name="T6" fmla="*/ 272 w 382"/>
                <a:gd name="T7" fmla="*/ 84 h 131"/>
                <a:gd name="T8" fmla="*/ 199 w 382"/>
                <a:gd name="T9" fmla="*/ 89 h 131"/>
                <a:gd name="T10" fmla="*/ 199 w 382"/>
                <a:gd name="T11" fmla="*/ 89 h 131"/>
                <a:gd name="T12" fmla="*/ 136 w 382"/>
                <a:gd name="T13" fmla="*/ 84 h 131"/>
                <a:gd name="T14" fmla="*/ 83 w 382"/>
                <a:gd name="T15" fmla="*/ 78 h 131"/>
                <a:gd name="T16" fmla="*/ 52 w 382"/>
                <a:gd name="T17" fmla="*/ 63 h 131"/>
                <a:gd name="T18" fmla="*/ 41 w 382"/>
                <a:gd name="T19" fmla="*/ 52 h 131"/>
                <a:gd name="T20" fmla="*/ 36 w 382"/>
                <a:gd name="T21" fmla="*/ 47 h 131"/>
                <a:gd name="T22" fmla="*/ 36 w 382"/>
                <a:gd name="T23" fmla="*/ 47 h 131"/>
                <a:gd name="T24" fmla="*/ 41 w 382"/>
                <a:gd name="T25" fmla="*/ 36 h 131"/>
                <a:gd name="T26" fmla="*/ 57 w 382"/>
                <a:gd name="T27" fmla="*/ 26 h 131"/>
                <a:gd name="T28" fmla="*/ 78 w 382"/>
                <a:gd name="T29" fmla="*/ 15 h 131"/>
                <a:gd name="T30" fmla="*/ 104 w 382"/>
                <a:gd name="T31" fmla="*/ 10 h 131"/>
                <a:gd name="T32" fmla="*/ 104 w 382"/>
                <a:gd name="T33" fmla="*/ 0 h 131"/>
                <a:gd name="T34" fmla="*/ 104 w 382"/>
                <a:gd name="T35" fmla="*/ 0 h 131"/>
                <a:gd name="T36" fmla="*/ 62 w 382"/>
                <a:gd name="T37" fmla="*/ 10 h 131"/>
                <a:gd name="T38" fmla="*/ 31 w 382"/>
                <a:gd name="T39" fmla="*/ 21 h 131"/>
                <a:gd name="T40" fmla="*/ 5 w 382"/>
                <a:gd name="T41" fmla="*/ 42 h 131"/>
                <a:gd name="T42" fmla="*/ 0 w 382"/>
                <a:gd name="T43" fmla="*/ 52 h 131"/>
                <a:gd name="T44" fmla="*/ 0 w 382"/>
                <a:gd name="T45" fmla="*/ 63 h 131"/>
                <a:gd name="T46" fmla="*/ 0 w 382"/>
                <a:gd name="T47" fmla="*/ 63 h 131"/>
                <a:gd name="T48" fmla="*/ 5 w 382"/>
                <a:gd name="T49" fmla="*/ 73 h 131"/>
                <a:gd name="T50" fmla="*/ 15 w 382"/>
                <a:gd name="T51" fmla="*/ 89 h 131"/>
                <a:gd name="T52" fmla="*/ 31 w 382"/>
                <a:gd name="T53" fmla="*/ 99 h 131"/>
                <a:gd name="T54" fmla="*/ 57 w 382"/>
                <a:gd name="T55" fmla="*/ 110 h 131"/>
                <a:gd name="T56" fmla="*/ 120 w 382"/>
                <a:gd name="T57" fmla="*/ 126 h 131"/>
                <a:gd name="T58" fmla="*/ 199 w 382"/>
                <a:gd name="T59" fmla="*/ 131 h 131"/>
                <a:gd name="T60" fmla="*/ 199 w 382"/>
                <a:gd name="T61" fmla="*/ 131 h 131"/>
                <a:gd name="T62" fmla="*/ 257 w 382"/>
                <a:gd name="T63" fmla="*/ 131 h 131"/>
                <a:gd name="T64" fmla="*/ 309 w 382"/>
                <a:gd name="T65" fmla="*/ 120 h 131"/>
                <a:gd name="T66" fmla="*/ 351 w 382"/>
                <a:gd name="T67" fmla="*/ 105 h 131"/>
                <a:gd name="T68" fmla="*/ 382 w 382"/>
                <a:gd name="T69" fmla="*/ 89 h 131"/>
                <a:gd name="T70" fmla="*/ 382 w 382"/>
                <a:gd name="T71" fmla="*/ 89 h 131"/>
                <a:gd name="T72" fmla="*/ 330 w 382"/>
                <a:gd name="T73" fmla="*/ 68 h 131"/>
                <a:gd name="T74" fmla="*/ 330 w 382"/>
                <a:gd name="T75" fmla="*/ 68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2" h="131">
                  <a:moveTo>
                    <a:pt x="330" y="68"/>
                  </a:moveTo>
                  <a:lnTo>
                    <a:pt x="330" y="68"/>
                  </a:lnTo>
                  <a:lnTo>
                    <a:pt x="304" y="78"/>
                  </a:lnTo>
                  <a:lnTo>
                    <a:pt x="272" y="84"/>
                  </a:lnTo>
                  <a:lnTo>
                    <a:pt x="199" y="89"/>
                  </a:lnTo>
                  <a:lnTo>
                    <a:pt x="199" y="89"/>
                  </a:lnTo>
                  <a:lnTo>
                    <a:pt x="136" y="84"/>
                  </a:lnTo>
                  <a:lnTo>
                    <a:pt x="83" y="78"/>
                  </a:lnTo>
                  <a:lnTo>
                    <a:pt x="52" y="63"/>
                  </a:lnTo>
                  <a:lnTo>
                    <a:pt x="41" y="52"/>
                  </a:lnTo>
                  <a:lnTo>
                    <a:pt x="36" y="47"/>
                  </a:lnTo>
                  <a:lnTo>
                    <a:pt x="36" y="47"/>
                  </a:lnTo>
                  <a:lnTo>
                    <a:pt x="41" y="36"/>
                  </a:lnTo>
                  <a:lnTo>
                    <a:pt x="57" y="26"/>
                  </a:lnTo>
                  <a:lnTo>
                    <a:pt x="78" y="15"/>
                  </a:lnTo>
                  <a:lnTo>
                    <a:pt x="104" y="10"/>
                  </a:lnTo>
                  <a:lnTo>
                    <a:pt x="104" y="0"/>
                  </a:lnTo>
                  <a:lnTo>
                    <a:pt x="104" y="0"/>
                  </a:lnTo>
                  <a:lnTo>
                    <a:pt x="62" y="10"/>
                  </a:lnTo>
                  <a:lnTo>
                    <a:pt x="31" y="21"/>
                  </a:lnTo>
                  <a:lnTo>
                    <a:pt x="5" y="42"/>
                  </a:lnTo>
                  <a:lnTo>
                    <a:pt x="0" y="52"/>
                  </a:lnTo>
                  <a:lnTo>
                    <a:pt x="0" y="63"/>
                  </a:lnTo>
                  <a:lnTo>
                    <a:pt x="0" y="63"/>
                  </a:lnTo>
                  <a:lnTo>
                    <a:pt x="5" y="73"/>
                  </a:lnTo>
                  <a:lnTo>
                    <a:pt x="15" y="89"/>
                  </a:lnTo>
                  <a:lnTo>
                    <a:pt x="31" y="99"/>
                  </a:lnTo>
                  <a:lnTo>
                    <a:pt x="57" y="110"/>
                  </a:lnTo>
                  <a:lnTo>
                    <a:pt x="120" y="126"/>
                  </a:lnTo>
                  <a:lnTo>
                    <a:pt x="199" y="131"/>
                  </a:lnTo>
                  <a:lnTo>
                    <a:pt x="199" y="131"/>
                  </a:lnTo>
                  <a:lnTo>
                    <a:pt x="257" y="131"/>
                  </a:lnTo>
                  <a:lnTo>
                    <a:pt x="309" y="120"/>
                  </a:lnTo>
                  <a:lnTo>
                    <a:pt x="351" y="105"/>
                  </a:lnTo>
                  <a:lnTo>
                    <a:pt x="382" y="89"/>
                  </a:lnTo>
                  <a:lnTo>
                    <a:pt x="382" y="89"/>
                  </a:lnTo>
                  <a:lnTo>
                    <a:pt x="330" y="68"/>
                  </a:lnTo>
                  <a:lnTo>
                    <a:pt x="330" y="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135" name="Freeform 96">
              <a:extLst>
                <a:ext uri="{FF2B5EF4-FFF2-40B4-BE49-F238E27FC236}">
                  <a16:creationId xmlns:a16="http://schemas.microsoft.com/office/drawing/2014/main" id="{AB4A9200-2DC0-43E9-93C6-7813B26D42A1}"/>
                </a:ext>
              </a:extLst>
            </p:cNvPr>
            <p:cNvSpPr>
              <a:spLocks noEditPoints="1"/>
            </p:cNvSpPr>
            <p:nvPr/>
          </p:nvSpPr>
          <p:spPr bwMode="auto">
            <a:xfrm>
              <a:off x="2972152" y="3120607"/>
              <a:ext cx="130220" cy="363602"/>
            </a:xfrm>
            <a:custGeom>
              <a:avLst/>
              <a:gdLst>
                <a:gd name="T0" fmla="*/ 69 w 231"/>
                <a:gd name="T1" fmla="*/ 94 h 645"/>
                <a:gd name="T2" fmla="*/ 74 w 231"/>
                <a:gd name="T3" fmla="*/ 105 h 645"/>
                <a:gd name="T4" fmla="*/ 95 w 231"/>
                <a:gd name="T5" fmla="*/ 136 h 645"/>
                <a:gd name="T6" fmla="*/ 116 w 231"/>
                <a:gd name="T7" fmla="*/ 141 h 645"/>
                <a:gd name="T8" fmla="*/ 137 w 231"/>
                <a:gd name="T9" fmla="*/ 136 h 645"/>
                <a:gd name="T10" fmla="*/ 158 w 231"/>
                <a:gd name="T11" fmla="*/ 105 h 645"/>
                <a:gd name="T12" fmla="*/ 163 w 231"/>
                <a:gd name="T13" fmla="*/ 94 h 645"/>
                <a:gd name="T14" fmla="*/ 168 w 231"/>
                <a:gd name="T15" fmla="*/ 94 h 645"/>
                <a:gd name="T16" fmla="*/ 174 w 231"/>
                <a:gd name="T17" fmla="*/ 84 h 645"/>
                <a:gd name="T18" fmla="*/ 174 w 231"/>
                <a:gd name="T19" fmla="*/ 68 h 645"/>
                <a:gd name="T20" fmla="*/ 168 w 231"/>
                <a:gd name="T21" fmla="*/ 63 h 645"/>
                <a:gd name="T22" fmla="*/ 168 w 231"/>
                <a:gd name="T23" fmla="*/ 63 h 645"/>
                <a:gd name="T24" fmla="*/ 168 w 231"/>
                <a:gd name="T25" fmla="*/ 36 h 645"/>
                <a:gd name="T26" fmla="*/ 142 w 231"/>
                <a:gd name="T27" fmla="*/ 5 h 645"/>
                <a:gd name="T28" fmla="*/ 116 w 231"/>
                <a:gd name="T29" fmla="*/ 0 h 645"/>
                <a:gd name="T30" fmla="*/ 74 w 231"/>
                <a:gd name="T31" fmla="*/ 15 h 645"/>
                <a:gd name="T32" fmla="*/ 58 w 231"/>
                <a:gd name="T33" fmla="*/ 63 h 645"/>
                <a:gd name="T34" fmla="*/ 63 w 231"/>
                <a:gd name="T35" fmla="*/ 63 h 645"/>
                <a:gd name="T36" fmla="*/ 58 w 231"/>
                <a:gd name="T37" fmla="*/ 68 h 645"/>
                <a:gd name="T38" fmla="*/ 58 w 231"/>
                <a:gd name="T39" fmla="*/ 68 h 645"/>
                <a:gd name="T40" fmla="*/ 63 w 231"/>
                <a:gd name="T41" fmla="*/ 94 h 645"/>
                <a:gd name="T42" fmla="*/ 69 w 231"/>
                <a:gd name="T43" fmla="*/ 94 h 645"/>
                <a:gd name="T44" fmla="*/ 221 w 231"/>
                <a:gd name="T45" fmla="*/ 178 h 645"/>
                <a:gd name="T46" fmla="*/ 174 w 231"/>
                <a:gd name="T47" fmla="*/ 152 h 645"/>
                <a:gd name="T48" fmla="*/ 147 w 231"/>
                <a:gd name="T49" fmla="*/ 157 h 645"/>
                <a:gd name="T50" fmla="*/ 121 w 231"/>
                <a:gd name="T51" fmla="*/ 162 h 645"/>
                <a:gd name="T52" fmla="*/ 126 w 231"/>
                <a:gd name="T53" fmla="*/ 152 h 645"/>
                <a:gd name="T54" fmla="*/ 116 w 231"/>
                <a:gd name="T55" fmla="*/ 157 h 645"/>
                <a:gd name="T56" fmla="*/ 105 w 231"/>
                <a:gd name="T57" fmla="*/ 162 h 645"/>
                <a:gd name="T58" fmla="*/ 84 w 231"/>
                <a:gd name="T59" fmla="*/ 157 h 645"/>
                <a:gd name="T60" fmla="*/ 74 w 231"/>
                <a:gd name="T61" fmla="*/ 141 h 645"/>
                <a:gd name="T62" fmla="*/ 11 w 231"/>
                <a:gd name="T63" fmla="*/ 178 h 645"/>
                <a:gd name="T64" fmla="*/ 0 w 231"/>
                <a:gd name="T65" fmla="*/ 183 h 645"/>
                <a:gd name="T66" fmla="*/ 0 w 231"/>
                <a:gd name="T67" fmla="*/ 362 h 645"/>
                <a:gd name="T68" fmla="*/ 6 w 231"/>
                <a:gd name="T69" fmla="*/ 383 h 645"/>
                <a:gd name="T70" fmla="*/ 27 w 231"/>
                <a:gd name="T71" fmla="*/ 404 h 645"/>
                <a:gd name="T72" fmla="*/ 42 w 231"/>
                <a:gd name="T73" fmla="*/ 409 h 645"/>
                <a:gd name="T74" fmla="*/ 42 w 231"/>
                <a:gd name="T75" fmla="*/ 608 h 645"/>
                <a:gd name="T76" fmla="*/ 53 w 231"/>
                <a:gd name="T77" fmla="*/ 634 h 645"/>
                <a:gd name="T78" fmla="*/ 79 w 231"/>
                <a:gd name="T79" fmla="*/ 645 h 645"/>
                <a:gd name="T80" fmla="*/ 95 w 231"/>
                <a:gd name="T81" fmla="*/ 640 h 645"/>
                <a:gd name="T82" fmla="*/ 111 w 231"/>
                <a:gd name="T83" fmla="*/ 624 h 645"/>
                <a:gd name="T84" fmla="*/ 116 w 231"/>
                <a:gd name="T85" fmla="*/ 608 h 645"/>
                <a:gd name="T86" fmla="*/ 126 w 231"/>
                <a:gd name="T87" fmla="*/ 634 h 645"/>
                <a:gd name="T88" fmla="*/ 153 w 231"/>
                <a:gd name="T89" fmla="*/ 645 h 645"/>
                <a:gd name="T90" fmla="*/ 163 w 231"/>
                <a:gd name="T91" fmla="*/ 640 h 645"/>
                <a:gd name="T92" fmla="*/ 184 w 231"/>
                <a:gd name="T93" fmla="*/ 624 h 645"/>
                <a:gd name="T94" fmla="*/ 189 w 231"/>
                <a:gd name="T95" fmla="*/ 409 h 645"/>
                <a:gd name="T96" fmla="*/ 189 w 231"/>
                <a:gd name="T97" fmla="*/ 409 h 645"/>
                <a:gd name="T98" fmla="*/ 215 w 231"/>
                <a:gd name="T99" fmla="*/ 393 h 645"/>
                <a:gd name="T100" fmla="*/ 231 w 231"/>
                <a:gd name="T101" fmla="*/ 362 h 645"/>
                <a:gd name="T102" fmla="*/ 231 w 231"/>
                <a:gd name="T103" fmla="*/ 194 h 645"/>
                <a:gd name="T104" fmla="*/ 221 w 231"/>
                <a:gd name="T105" fmla="*/ 178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31" h="645">
                  <a:moveTo>
                    <a:pt x="69" y="94"/>
                  </a:moveTo>
                  <a:lnTo>
                    <a:pt x="69" y="94"/>
                  </a:lnTo>
                  <a:lnTo>
                    <a:pt x="74" y="105"/>
                  </a:lnTo>
                  <a:lnTo>
                    <a:pt x="74" y="105"/>
                  </a:lnTo>
                  <a:lnTo>
                    <a:pt x="84" y="120"/>
                  </a:lnTo>
                  <a:lnTo>
                    <a:pt x="95" y="136"/>
                  </a:lnTo>
                  <a:lnTo>
                    <a:pt x="105" y="141"/>
                  </a:lnTo>
                  <a:lnTo>
                    <a:pt x="116" y="141"/>
                  </a:lnTo>
                  <a:lnTo>
                    <a:pt x="126" y="141"/>
                  </a:lnTo>
                  <a:lnTo>
                    <a:pt x="137" y="136"/>
                  </a:lnTo>
                  <a:lnTo>
                    <a:pt x="147" y="120"/>
                  </a:lnTo>
                  <a:lnTo>
                    <a:pt x="158" y="105"/>
                  </a:lnTo>
                  <a:lnTo>
                    <a:pt x="158" y="105"/>
                  </a:lnTo>
                  <a:lnTo>
                    <a:pt x="163" y="94"/>
                  </a:lnTo>
                  <a:lnTo>
                    <a:pt x="163" y="94"/>
                  </a:lnTo>
                  <a:lnTo>
                    <a:pt x="168" y="94"/>
                  </a:lnTo>
                  <a:lnTo>
                    <a:pt x="168" y="94"/>
                  </a:lnTo>
                  <a:lnTo>
                    <a:pt x="174" y="84"/>
                  </a:lnTo>
                  <a:lnTo>
                    <a:pt x="174" y="68"/>
                  </a:lnTo>
                  <a:lnTo>
                    <a:pt x="174" y="68"/>
                  </a:lnTo>
                  <a:lnTo>
                    <a:pt x="168" y="68"/>
                  </a:lnTo>
                  <a:lnTo>
                    <a:pt x="168" y="63"/>
                  </a:lnTo>
                  <a:lnTo>
                    <a:pt x="168" y="63"/>
                  </a:lnTo>
                  <a:lnTo>
                    <a:pt x="168" y="63"/>
                  </a:lnTo>
                  <a:lnTo>
                    <a:pt x="168" y="63"/>
                  </a:lnTo>
                  <a:lnTo>
                    <a:pt x="168" y="36"/>
                  </a:lnTo>
                  <a:lnTo>
                    <a:pt x="158" y="15"/>
                  </a:lnTo>
                  <a:lnTo>
                    <a:pt x="142" y="5"/>
                  </a:lnTo>
                  <a:lnTo>
                    <a:pt x="116" y="0"/>
                  </a:lnTo>
                  <a:lnTo>
                    <a:pt x="116" y="0"/>
                  </a:lnTo>
                  <a:lnTo>
                    <a:pt x="90" y="5"/>
                  </a:lnTo>
                  <a:lnTo>
                    <a:pt x="74" y="15"/>
                  </a:lnTo>
                  <a:lnTo>
                    <a:pt x="63" y="36"/>
                  </a:lnTo>
                  <a:lnTo>
                    <a:pt x="58" y="63"/>
                  </a:lnTo>
                  <a:lnTo>
                    <a:pt x="58" y="63"/>
                  </a:lnTo>
                  <a:lnTo>
                    <a:pt x="63" y="63"/>
                  </a:lnTo>
                  <a:lnTo>
                    <a:pt x="63" y="63"/>
                  </a:lnTo>
                  <a:lnTo>
                    <a:pt x="58" y="68"/>
                  </a:lnTo>
                  <a:lnTo>
                    <a:pt x="58" y="68"/>
                  </a:lnTo>
                  <a:lnTo>
                    <a:pt x="58" y="68"/>
                  </a:lnTo>
                  <a:lnTo>
                    <a:pt x="58" y="84"/>
                  </a:lnTo>
                  <a:lnTo>
                    <a:pt x="63" y="94"/>
                  </a:lnTo>
                  <a:lnTo>
                    <a:pt x="63" y="94"/>
                  </a:lnTo>
                  <a:lnTo>
                    <a:pt x="69" y="94"/>
                  </a:lnTo>
                  <a:lnTo>
                    <a:pt x="69" y="94"/>
                  </a:lnTo>
                  <a:close/>
                  <a:moveTo>
                    <a:pt x="221" y="178"/>
                  </a:moveTo>
                  <a:lnTo>
                    <a:pt x="174" y="152"/>
                  </a:lnTo>
                  <a:lnTo>
                    <a:pt x="174" y="152"/>
                  </a:lnTo>
                  <a:lnTo>
                    <a:pt x="158" y="141"/>
                  </a:lnTo>
                  <a:lnTo>
                    <a:pt x="147" y="157"/>
                  </a:lnTo>
                  <a:lnTo>
                    <a:pt x="126" y="178"/>
                  </a:lnTo>
                  <a:lnTo>
                    <a:pt x="121" y="162"/>
                  </a:lnTo>
                  <a:lnTo>
                    <a:pt x="126" y="152"/>
                  </a:lnTo>
                  <a:lnTo>
                    <a:pt x="126" y="152"/>
                  </a:lnTo>
                  <a:lnTo>
                    <a:pt x="116" y="157"/>
                  </a:lnTo>
                  <a:lnTo>
                    <a:pt x="116" y="157"/>
                  </a:lnTo>
                  <a:lnTo>
                    <a:pt x="100" y="152"/>
                  </a:lnTo>
                  <a:lnTo>
                    <a:pt x="105" y="162"/>
                  </a:lnTo>
                  <a:lnTo>
                    <a:pt x="105" y="178"/>
                  </a:lnTo>
                  <a:lnTo>
                    <a:pt x="84" y="157"/>
                  </a:lnTo>
                  <a:lnTo>
                    <a:pt x="74" y="141"/>
                  </a:lnTo>
                  <a:lnTo>
                    <a:pt x="74" y="141"/>
                  </a:lnTo>
                  <a:lnTo>
                    <a:pt x="58" y="152"/>
                  </a:lnTo>
                  <a:lnTo>
                    <a:pt x="11" y="178"/>
                  </a:lnTo>
                  <a:lnTo>
                    <a:pt x="11" y="178"/>
                  </a:lnTo>
                  <a:lnTo>
                    <a:pt x="0" y="183"/>
                  </a:lnTo>
                  <a:lnTo>
                    <a:pt x="0" y="194"/>
                  </a:lnTo>
                  <a:lnTo>
                    <a:pt x="0" y="362"/>
                  </a:lnTo>
                  <a:lnTo>
                    <a:pt x="0" y="362"/>
                  </a:lnTo>
                  <a:lnTo>
                    <a:pt x="6" y="383"/>
                  </a:lnTo>
                  <a:lnTo>
                    <a:pt x="11" y="393"/>
                  </a:lnTo>
                  <a:lnTo>
                    <a:pt x="27" y="404"/>
                  </a:lnTo>
                  <a:lnTo>
                    <a:pt x="42" y="409"/>
                  </a:lnTo>
                  <a:lnTo>
                    <a:pt x="42" y="409"/>
                  </a:lnTo>
                  <a:lnTo>
                    <a:pt x="42" y="608"/>
                  </a:lnTo>
                  <a:lnTo>
                    <a:pt x="42" y="608"/>
                  </a:lnTo>
                  <a:lnTo>
                    <a:pt x="48" y="624"/>
                  </a:lnTo>
                  <a:lnTo>
                    <a:pt x="53" y="634"/>
                  </a:lnTo>
                  <a:lnTo>
                    <a:pt x="63" y="640"/>
                  </a:lnTo>
                  <a:lnTo>
                    <a:pt x="79" y="645"/>
                  </a:lnTo>
                  <a:lnTo>
                    <a:pt x="79" y="645"/>
                  </a:lnTo>
                  <a:lnTo>
                    <a:pt x="95" y="640"/>
                  </a:lnTo>
                  <a:lnTo>
                    <a:pt x="105" y="634"/>
                  </a:lnTo>
                  <a:lnTo>
                    <a:pt x="111" y="624"/>
                  </a:lnTo>
                  <a:lnTo>
                    <a:pt x="116" y="608"/>
                  </a:lnTo>
                  <a:lnTo>
                    <a:pt x="116" y="608"/>
                  </a:lnTo>
                  <a:lnTo>
                    <a:pt x="116" y="624"/>
                  </a:lnTo>
                  <a:lnTo>
                    <a:pt x="126" y="634"/>
                  </a:lnTo>
                  <a:lnTo>
                    <a:pt x="137" y="640"/>
                  </a:lnTo>
                  <a:lnTo>
                    <a:pt x="153" y="645"/>
                  </a:lnTo>
                  <a:lnTo>
                    <a:pt x="153" y="645"/>
                  </a:lnTo>
                  <a:lnTo>
                    <a:pt x="163" y="640"/>
                  </a:lnTo>
                  <a:lnTo>
                    <a:pt x="179" y="634"/>
                  </a:lnTo>
                  <a:lnTo>
                    <a:pt x="184" y="624"/>
                  </a:lnTo>
                  <a:lnTo>
                    <a:pt x="189" y="608"/>
                  </a:lnTo>
                  <a:lnTo>
                    <a:pt x="189" y="409"/>
                  </a:lnTo>
                  <a:lnTo>
                    <a:pt x="189" y="409"/>
                  </a:lnTo>
                  <a:lnTo>
                    <a:pt x="189" y="409"/>
                  </a:lnTo>
                  <a:lnTo>
                    <a:pt x="205" y="404"/>
                  </a:lnTo>
                  <a:lnTo>
                    <a:pt x="215" y="393"/>
                  </a:lnTo>
                  <a:lnTo>
                    <a:pt x="226" y="383"/>
                  </a:lnTo>
                  <a:lnTo>
                    <a:pt x="231" y="362"/>
                  </a:lnTo>
                  <a:lnTo>
                    <a:pt x="231" y="194"/>
                  </a:lnTo>
                  <a:lnTo>
                    <a:pt x="231" y="194"/>
                  </a:lnTo>
                  <a:lnTo>
                    <a:pt x="226" y="183"/>
                  </a:lnTo>
                  <a:lnTo>
                    <a:pt x="221" y="178"/>
                  </a:lnTo>
                  <a:lnTo>
                    <a:pt x="221" y="1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136" name="Freeform 97">
              <a:extLst>
                <a:ext uri="{FF2B5EF4-FFF2-40B4-BE49-F238E27FC236}">
                  <a16:creationId xmlns:a16="http://schemas.microsoft.com/office/drawing/2014/main" id="{F0DDE509-1C52-44E8-BA92-D85FA08EA5BC}"/>
                </a:ext>
              </a:extLst>
            </p:cNvPr>
            <p:cNvSpPr>
              <a:spLocks/>
            </p:cNvSpPr>
            <p:nvPr/>
          </p:nvSpPr>
          <p:spPr bwMode="auto">
            <a:xfrm>
              <a:off x="3330116" y="3445876"/>
              <a:ext cx="215906" cy="73848"/>
            </a:xfrm>
            <a:custGeom>
              <a:avLst/>
              <a:gdLst>
                <a:gd name="T0" fmla="*/ 53 w 383"/>
                <a:gd name="T1" fmla="*/ 68 h 131"/>
                <a:gd name="T2" fmla="*/ 53 w 383"/>
                <a:gd name="T3" fmla="*/ 68 h 131"/>
                <a:gd name="T4" fmla="*/ 79 w 383"/>
                <a:gd name="T5" fmla="*/ 78 h 131"/>
                <a:gd name="T6" fmla="*/ 105 w 383"/>
                <a:gd name="T7" fmla="*/ 84 h 131"/>
                <a:gd name="T8" fmla="*/ 184 w 383"/>
                <a:gd name="T9" fmla="*/ 89 h 131"/>
                <a:gd name="T10" fmla="*/ 184 w 383"/>
                <a:gd name="T11" fmla="*/ 89 h 131"/>
                <a:gd name="T12" fmla="*/ 247 w 383"/>
                <a:gd name="T13" fmla="*/ 84 h 131"/>
                <a:gd name="T14" fmla="*/ 299 w 383"/>
                <a:gd name="T15" fmla="*/ 78 h 131"/>
                <a:gd name="T16" fmla="*/ 331 w 383"/>
                <a:gd name="T17" fmla="*/ 63 h 131"/>
                <a:gd name="T18" fmla="*/ 341 w 383"/>
                <a:gd name="T19" fmla="*/ 52 h 131"/>
                <a:gd name="T20" fmla="*/ 346 w 383"/>
                <a:gd name="T21" fmla="*/ 47 h 131"/>
                <a:gd name="T22" fmla="*/ 346 w 383"/>
                <a:gd name="T23" fmla="*/ 47 h 131"/>
                <a:gd name="T24" fmla="*/ 341 w 383"/>
                <a:gd name="T25" fmla="*/ 36 h 131"/>
                <a:gd name="T26" fmla="*/ 325 w 383"/>
                <a:gd name="T27" fmla="*/ 26 h 131"/>
                <a:gd name="T28" fmla="*/ 304 w 383"/>
                <a:gd name="T29" fmla="*/ 15 h 131"/>
                <a:gd name="T30" fmla="*/ 278 w 383"/>
                <a:gd name="T31" fmla="*/ 10 h 131"/>
                <a:gd name="T32" fmla="*/ 278 w 383"/>
                <a:gd name="T33" fmla="*/ 0 h 131"/>
                <a:gd name="T34" fmla="*/ 278 w 383"/>
                <a:gd name="T35" fmla="*/ 0 h 131"/>
                <a:gd name="T36" fmla="*/ 320 w 383"/>
                <a:gd name="T37" fmla="*/ 10 h 131"/>
                <a:gd name="T38" fmla="*/ 352 w 383"/>
                <a:gd name="T39" fmla="*/ 21 h 131"/>
                <a:gd name="T40" fmla="*/ 372 w 383"/>
                <a:gd name="T41" fmla="*/ 42 h 131"/>
                <a:gd name="T42" fmla="*/ 378 w 383"/>
                <a:gd name="T43" fmla="*/ 52 h 131"/>
                <a:gd name="T44" fmla="*/ 383 w 383"/>
                <a:gd name="T45" fmla="*/ 63 h 131"/>
                <a:gd name="T46" fmla="*/ 383 w 383"/>
                <a:gd name="T47" fmla="*/ 63 h 131"/>
                <a:gd name="T48" fmla="*/ 378 w 383"/>
                <a:gd name="T49" fmla="*/ 73 h 131"/>
                <a:gd name="T50" fmla="*/ 367 w 383"/>
                <a:gd name="T51" fmla="*/ 89 h 131"/>
                <a:gd name="T52" fmla="*/ 346 w 383"/>
                <a:gd name="T53" fmla="*/ 99 h 131"/>
                <a:gd name="T54" fmla="*/ 325 w 383"/>
                <a:gd name="T55" fmla="*/ 110 h 131"/>
                <a:gd name="T56" fmla="*/ 262 w 383"/>
                <a:gd name="T57" fmla="*/ 126 h 131"/>
                <a:gd name="T58" fmla="*/ 184 w 383"/>
                <a:gd name="T59" fmla="*/ 131 h 131"/>
                <a:gd name="T60" fmla="*/ 184 w 383"/>
                <a:gd name="T61" fmla="*/ 131 h 131"/>
                <a:gd name="T62" fmla="*/ 126 w 383"/>
                <a:gd name="T63" fmla="*/ 131 h 131"/>
                <a:gd name="T64" fmla="*/ 74 w 383"/>
                <a:gd name="T65" fmla="*/ 120 h 131"/>
                <a:gd name="T66" fmla="*/ 32 w 383"/>
                <a:gd name="T67" fmla="*/ 105 h 131"/>
                <a:gd name="T68" fmla="*/ 0 w 383"/>
                <a:gd name="T69" fmla="*/ 89 h 131"/>
                <a:gd name="T70" fmla="*/ 0 w 383"/>
                <a:gd name="T71" fmla="*/ 89 h 131"/>
                <a:gd name="T72" fmla="*/ 53 w 383"/>
                <a:gd name="T73" fmla="*/ 68 h 131"/>
                <a:gd name="T74" fmla="*/ 53 w 383"/>
                <a:gd name="T75" fmla="*/ 68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3" h="131">
                  <a:moveTo>
                    <a:pt x="53" y="68"/>
                  </a:moveTo>
                  <a:lnTo>
                    <a:pt x="53" y="68"/>
                  </a:lnTo>
                  <a:lnTo>
                    <a:pt x="79" y="78"/>
                  </a:lnTo>
                  <a:lnTo>
                    <a:pt x="105" y="84"/>
                  </a:lnTo>
                  <a:lnTo>
                    <a:pt x="184" y="89"/>
                  </a:lnTo>
                  <a:lnTo>
                    <a:pt x="184" y="89"/>
                  </a:lnTo>
                  <a:lnTo>
                    <a:pt x="247" y="84"/>
                  </a:lnTo>
                  <a:lnTo>
                    <a:pt x="299" y="78"/>
                  </a:lnTo>
                  <a:lnTo>
                    <a:pt x="331" y="63"/>
                  </a:lnTo>
                  <a:lnTo>
                    <a:pt x="341" y="52"/>
                  </a:lnTo>
                  <a:lnTo>
                    <a:pt x="346" y="47"/>
                  </a:lnTo>
                  <a:lnTo>
                    <a:pt x="346" y="47"/>
                  </a:lnTo>
                  <a:lnTo>
                    <a:pt x="341" y="36"/>
                  </a:lnTo>
                  <a:lnTo>
                    <a:pt x="325" y="26"/>
                  </a:lnTo>
                  <a:lnTo>
                    <a:pt x="304" y="15"/>
                  </a:lnTo>
                  <a:lnTo>
                    <a:pt x="278" y="10"/>
                  </a:lnTo>
                  <a:lnTo>
                    <a:pt x="278" y="0"/>
                  </a:lnTo>
                  <a:lnTo>
                    <a:pt x="278" y="0"/>
                  </a:lnTo>
                  <a:lnTo>
                    <a:pt x="320" y="10"/>
                  </a:lnTo>
                  <a:lnTo>
                    <a:pt x="352" y="21"/>
                  </a:lnTo>
                  <a:lnTo>
                    <a:pt x="372" y="42"/>
                  </a:lnTo>
                  <a:lnTo>
                    <a:pt x="378" y="52"/>
                  </a:lnTo>
                  <a:lnTo>
                    <a:pt x="383" y="63"/>
                  </a:lnTo>
                  <a:lnTo>
                    <a:pt x="383" y="63"/>
                  </a:lnTo>
                  <a:lnTo>
                    <a:pt x="378" y="73"/>
                  </a:lnTo>
                  <a:lnTo>
                    <a:pt x="367" y="89"/>
                  </a:lnTo>
                  <a:lnTo>
                    <a:pt x="346" y="99"/>
                  </a:lnTo>
                  <a:lnTo>
                    <a:pt x="325" y="110"/>
                  </a:lnTo>
                  <a:lnTo>
                    <a:pt x="262" y="126"/>
                  </a:lnTo>
                  <a:lnTo>
                    <a:pt x="184" y="131"/>
                  </a:lnTo>
                  <a:lnTo>
                    <a:pt x="184" y="131"/>
                  </a:lnTo>
                  <a:lnTo>
                    <a:pt x="126" y="131"/>
                  </a:lnTo>
                  <a:lnTo>
                    <a:pt x="74" y="120"/>
                  </a:lnTo>
                  <a:lnTo>
                    <a:pt x="32" y="105"/>
                  </a:lnTo>
                  <a:lnTo>
                    <a:pt x="0" y="89"/>
                  </a:lnTo>
                  <a:lnTo>
                    <a:pt x="0" y="89"/>
                  </a:lnTo>
                  <a:lnTo>
                    <a:pt x="53" y="68"/>
                  </a:lnTo>
                  <a:lnTo>
                    <a:pt x="53" y="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sp>
          <p:nvSpPr>
            <p:cNvPr id="137" name="Freeform 98">
              <a:extLst>
                <a:ext uri="{FF2B5EF4-FFF2-40B4-BE49-F238E27FC236}">
                  <a16:creationId xmlns:a16="http://schemas.microsoft.com/office/drawing/2014/main" id="{65E86C79-EF2B-4C11-AB73-31CBD902F86A}"/>
                </a:ext>
              </a:extLst>
            </p:cNvPr>
            <p:cNvSpPr>
              <a:spLocks noEditPoints="1"/>
            </p:cNvSpPr>
            <p:nvPr/>
          </p:nvSpPr>
          <p:spPr bwMode="auto">
            <a:xfrm>
              <a:off x="3368450" y="3120607"/>
              <a:ext cx="130220" cy="363602"/>
            </a:xfrm>
            <a:custGeom>
              <a:avLst/>
              <a:gdLst>
                <a:gd name="T0" fmla="*/ 168 w 231"/>
                <a:gd name="T1" fmla="*/ 94 h 645"/>
                <a:gd name="T2" fmla="*/ 173 w 231"/>
                <a:gd name="T3" fmla="*/ 68 h 645"/>
                <a:gd name="T4" fmla="*/ 168 w 231"/>
                <a:gd name="T5" fmla="*/ 68 h 645"/>
                <a:gd name="T6" fmla="*/ 168 w 231"/>
                <a:gd name="T7" fmla="*/ 63 h 645"/>
                <a:gd name="T8" fmla="*/ 168 w 231"/>
                <a:gd name="T9" fmla="*/ 63 h 645"/>
                <a:gd name="T10" fmla="*/ 158 w 231"/>
                <a:gd name="T11" fmla="*/ 15 h 645"/>
                <a:gd name="T12" fmla="*/ 116 w 231"/>
                <a:gd name="T13" fmla="*/ 0 h 645"/>
                <a:gd name="T14" fmla="*/ 89 w 231"/>
                <a:gd name="T15" fmla="*/ 5 h 645"/>
                <a:gd name="T16" fmla="*/ 63 w 231"/>
                <a:gd name="T17" fmla="*/ 36 h 645"/>
                <a:gd name="T18" fmla="*/ 63 w 231"/>
                <a:gd name="T19" fmla="*/ 63 h 645"/>
                <a:gd name="T20" fmla="*/ 63 w 231"/>
                <a:gd name="T21" fmla="*/ 63 h 645"/>
                <a:gd name="T22" fmla="*/ 58 w 231"/>
                <a:gd name="T23" fmla="*/ 68 h 645"/>
                <a:gd name="T24" fmla="*/ 58 w 231"/>
                <a:gd name="T25" fmla="*/ 84 h 645"/>
                <a:gd name="T26" fmla="*/ 63 w 231"/>
                <a:gd name="T27" fmla="*/ 94 h 645"/>
                <a:gd name="T28" fmla="*/ 68 w 231"/>
                <a:gd name="T29" fmla="*/ 94 h 645"/>
                <a:gd name="T30" fmla="*/ 74 w 231"/>
                <a:gd name="T31" fmla="*/ 105 h 645"/>
                <a:gd name="T32" fmla="*/ 95 w 231"/>
                <a:gd name="T33" fmla="*/ 136 h 645"/>
                <a:gd name="T34" fmla="*/ 116 w 231"/>
                <a:gd name="T35" fmla="*/ 141 h 645"/>
                <a:gd name="T36" fmla="*/ 137 w 231"/>
                <a:gd name="T37" fmla="*/ 136 h 645"/>
                <a:gd name="T38" fmla="*/ 158 w 231"/>
                <a:gd name="T39" fmla="*/ 105 h 645"/>
                <a:gd name="T40" fmla="*/ 163 w 231"/>
                <a:gd name="T41" fmla="*/ 94 h 645"/>
                <a:gd name="T42" fmla="*/ 168 w 231"/>
                <a:gd name="T43" fmla="*/ 94 h 645"/>
                <a:gd name="T44" fmla="*/ 0 w 231"/>
                <a:gd name="T45" fmla="*/ 194 h 645"/>
                <a:gd name="T46" fmla="*/ 0 w 231"/>
                <a:gd name="T47" fmla="*/ 362 h 645"/>
                <a:gd name="T48" fmla="*/ 11 w 231"/>
                <a:gd name="T49" fmla="*/ 393 h 645"/>
                <a:gd name="T50" fmla="*/ 42 w 231"/>
                <a:gd name="T51" fmla="*/ 409 h 645"/>
                <a:gd name="T52" fmla="*/ 42 w 231"/>
                <a:gd name="T53" fmla="*/ 608 h 645"/>
                <a:gd name="T54" fmla="*/ 47 w 231"/>
                <a:gd name="T55" fmla="*/ 624 h 645"/>
                <a:gd name="T56" fmla="*/ 63 w 231"/>
                <a:gd name="T57" fmla="*/ 640 h 645"/>
                <a:gd name="T58" fmla="*/ 79 w 231"/>
                <a:gd name="T59" fmla="*/ 645 h 645"/>
                <a:gd name="T60" fmla="*/ 105 w 231"/>
                <a:gd name="T61" fmla="*/ 634 h 645"/>
                <a:gd name="T62" fmla="*/ 116 w 231"/>
                <a:gd name="T63" fmla="*/ 608 h 645"/>
                <a:gd name="T64" fmla="*/ 116 w 231"/>
                <a:gd name="T65" fmla="*/ 624 h 645"/>
                <a:gd name="T66" fmla="*/ 137 w 231"/>
                <a:gd name="T67" fmla="*/ 640 h 645"/>
                <a:gd name="T68" fmla="*/ 152 w 231"/>
                <a:gd name="T69" fmla="*/ 645 h 645"/>
                <a:gd name="T70" fmla="*/ 179 w 231"/>
                <a:gd name="T71" fmla="*/ 634 h 645"/>
                <a:gd name="T72" fmla="*/ 189 w 231"/>
                <a:gd name="T73" fmla="*/ 608 h 645"/>
                <a:gd name="T74" fmla="*/ 189 w 231"/>
                <a:gd name="T75" fmla="*/ 409 h 645"/>
                <a:gd name="T76" fmla="*/ 205 w 231"/>
                <a:gd name="T77" fmla="*/ 404 h 645"/>
                <a:gd name="T78" fmla="*/ 226 w 231"/>
                <a:gd name="T79" fmla="*/ 383 h 645"/>
                <a:gd name="T80" fmla="*/ 231 w 231"/>
                <a:gd name="T81" fmla="*/ 194 h 645"/>
                <a:gd name="T82" fmla="*/ 226 w 231"/>
                <a:gd name="T83" fmla="*/ 183 h 645"/>
                <a:gd name="T84" fmla="*/ 173 w 231"/>
                <a:gd name="T85" fmla="*/ 152 h 645"/>
                <a:gd name="T86" fmla="*/ 158 w 231"/>
                <a:gd name="T87" fmla="*/ 141 h 645"/>
                <a:gd name="T88" fmla="*/ 126 w 231"/>
                <a:gd name="T89" fmla="*/ 178 h 645"/>
                <a:gd name="T90" fmla="*/ 126 w 231"/>
                <a:gd name="T91" fmla="*/ 152 h 645"/>
                <a:gd name="T92" fmla="*/ 116 w 231"/>
                <a:gd name="T93" fmla="*/ 157 h 645"/>
                <a:gd name="T94" fmla="*/ 100 w 231"/>
                <a:gd name="T95" fmla="*/ 152 h 645"/>
                <a:gd name="T96" fmla="*/ 105 w 231"/>
                <a:gd name="T97" fmla="*/ 178 h 645"/>
                <a:gd name="T98" fmla="*/ 74 w 231"/>
                <a:gd name="T99" fmla="*/ 141 h 645"/>
                <a:gd name="T100" fmla="*/ 58 w 231"/>
                <a:gd name="T101" fmla="*/ 152 h 645"/>
                <a:gd name="T102" fmla="*/ 11 w 231"/>
                <a:gd name="T103" fmla="*/ 178 h 645"/>
                <a:gd name="T104" fmla="*/ 0 w 231"/>
                <a:gd name="T105" fmla="*/ 194 h 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31" h="645">
                  <a:moveTo>
                    <a:pt x="168" y="94"/>
                  </a:moveTo>
                  <a:lnTo>
                    <a:pt x="168" y="94"/>
                  </a:lnTo>
                  <a:lnTo>
                    <a:pt x="173" y="84"/>
                  </a:lnTo>
                  <a:lnTo>
                    <a:pt x="173" y="68"/>
                  </a:lnTo>
                  <a:lnTo>
                    <a:pt x="173" y="68"/>
                  </a:lnTo>
                  <a:lnTo>
                    <a:pt x="168" y="68"/>
                  </a:lnTo>
                  <a:lnTo>
                    <a:pt x="168" y="63"/>
                  </a:lnTo>
                  <a:lnTo>
                    <a:pt x="168" y="63"/>
                  </a:lnTo>
                  <a:lnTo>
                    <a:pt x="168" y="63"/>
                  </a:lnTo>
                  <a:lnTo>
                    <a:pt x="168" y="63"/>
                  </a:lnTo>
                  <a:lnTo>
                    <a:pt x="168" y="36"/>
                  </a:lnTo>
                  <a:lnTo>
                    <a:pt x="158" y="15"/>
                  </a:lnTo>
                  <a:lnTo>
                    <a:pt x="142" y="5"/>
                  </a:lnTo>
                  <a:lnTo>
                    <a:pt x="116" y="0"/>
                  </a:lnTo>
                  <a:lnTo>
                    <a:pt x="116" y="0"/>
                  </a:lnTo>
                  <a:lnTo>
                    <a:pt x="89" y="5"/>
                  </a:lnTo>
                  <a:lnTo>
                    <a:pt x="74" y="15"/>
                  </a:lnTo>
                  <a:lnTo>
                    <a:pt x="63" y="36"/>
                  </a:lnTo>
                  <a:lnTo>
                    <a:pt x="63" y="63"/>
                  </a:lnTo>
                  <a:lnTo>
                    <a:pt x="63" y="63"/>
                  </a:lnTo>
                  <a:lnTo>
                    <a:pt x="63" y="63"/>
                  </a:lnTo>
                  <a:lnTo>
                    <a:pt x="63" y="63"/>
                  </a:lnTo>
                  <a:lnTo>
                    <a:pt x="58" y="68"/>
                  </a:lnTo>
                  <a:lnTo>
                    <a:pt x="58" y="68"/>
                  </a:lnTo>
                  <a:lnTo>
                    <a:pt x="58" y="68"/>
                  </a:lnTo>
                  <a:lnTo>
                    <a:pt x="58" y="84"/>
                  </a:lnTo>
                  <a:lnTo>
                    <a:pt x="63" y="94"/>
                  </a:lnTo>
                  <a:lnTo>
                    <a:pt x="63" y="94"/>
                  </a:lnTo>
                  <a:lnTo>
                    <a:pt x="68" y="94"/>
                  </a:lnTo>
                  <a:lnTo>
                    <a:pt x="68" y="94"/>
                  </a:lnTo>
                  <a:lnTo>
                    <a:pt x="74" y="105"/>
                  </a:lnTo>
                  <a:lnTo>
                    <a:pt x="74" y="105"/>
                  </a:lnTo>
                  <a:lnTo>
                    <a:pt x="84" y="120"/>
                  </a:lnTo>
                  <a:lnTo>
                    <a:pt x="95" y="136"/>
                  </a:lnTo>
                  <a:lnTo>
                    <a:pt x="105" y="141"/>
                  </a:lnTo>
                  <a:lnTo>
                    <a:pt x="116" y="141"/>
                  </a:lnTo>
                  <a:lnTo>
                    <a:pt x="126" y="141"/>
                  </a:lnTo>
                  <a:lnTo>
                    <a:pt x="137" y="136"/>
                  </a:lnTo>
                  <a:lnTo>
                    <a:pt x="147" y="120"/>
                  </a:lnTo>
                  <a:lnTo>
                    <a:pt x="158" y="105"/>
                  </a:lnTo>
                  <a:lnTo>
                    <a:pt x="158" y="105"/>
                  </a:lnTo>
                  <a:lnTo>
                    <a:pt x="163" y="94"/>
                  </a:lnTo>
                  <a:lnTo>
                    <a:pt x="163" y="94"/>
                  </a:lnTo>
                  <a:lnTo>
                    <a:pt x="168" y="94"/>
                  </a:lnTo>
                  <a:lnTo>
                    <a:pt x="168" y="94"/>
                  </a:lnTo>
                  <a:close/>
                  <a:moveTo>
                    <a:pt x="0" y="194"/>
                  </a:moveTo>
                  <a:lnTo>
                    <a:pt x="0" y="362"/>
                  </a:lnTo>
                  <a:lnTo>
                    <a:pt x="0" y="362"/>
                  </a:lnTo>
                  <a:lnTo>
                    <a:pt x="6" y="383"/>
                  </a:lnTo>
                  <a:lnTo>
                    <a:pt x="11" y="393"/>
                  </a:lnTo>
                  <a:lnTo>
                    <a:pt x="26" y="404"/>
                  </a:lnTo>
                  <a:lnTo>
                    <a:pt x="42" y="409"/>
                  </a:lnTo>
                  <a:lnTo>
                    <a:pt x="42" y="409"/>
                  </a:lnTo>
                  <a:lnTo>
                    <a:pt x="42" y="608"/>
                  </a:lnTo>
                  <a:lnTo>
                    <a:pt x="42" y="608"/>
                  </a:lnTo>
                  <a:lnTo>
                    <a:pt x="47" y="624"/>
                  </a:lnTo>
                  <a:lnTo>
                    <a:pt x="53" y="634"/>
                  </a:lnTo>
                  <a:lnTo>
                    <a:pt x="63" y="640"/>
                  </a:lnTo>
                  <a:lnTo>
                    <a:pt x="79" y="645"/>
                  </a:lnTo>
                  <a:lnTo>
                    <a:pt x="79" y="645"/>
                  </a:lnTo>
                  <a:lnTo>
                    <a:pt x="95" y="640"/>
                  </a:lnTo>
                  <a:lnTo>
                    <a:pt x="105" y="634"/>
                  </a:lnTo>
                  <a:lnTo>
                    <a:pt x="110" y="624"/>
                  </a:lnTo>
                  <a:lnTo>
                    <a:pt x="116" y="608"/>
                  </a:lnTo>
                  <a:lnTo>
                    <a:pt x="116" y="608"/>
                  </a:lnTo>
                  <a:lnTo>
                    <a:pt x="116" y="624"/>
                  </a:lnTo>
                  <a:lnTo>
                    <a:pt x="126" y="634"/>
                  </a:lnTo>
                  <a:lnTo>
                    <a:pt x="137" y="640"/>
                  </a:lnTo>
                  <a:lnTo>
                    <a:pt x="152" y="645"/>
                  </a:lnTo>
                  <a:lnTo>
                    <a:pt x="152" y="645"/>
                  </a:lnTo>
                  <a:lnTo>
                    <a:pt x="168" y="640"/>
                  </a:lnTo>
                  <a:lnTo>
                    <a:pt x="179" y="634"/>
                  </a:lnTo>
                  <a:lnTo>
                    <a:pt x="184" y="624"/>
                  </a:lnTo>
                  <a:lnTo>
                    <a:pt x="189" y="608"/>
                  </a:lnTo>
                  <a:lnTo>
                    <a:pt x="189" y="409"/>
                  </a:lnTo>
                  <a:lnTo>
                    <a:pt x="189" y="409"/>
                  </a:lnTo>
                  <a:lnTo>
                    <a:pt x="189" y="409"/>
                  </a:lnTo>
                  <a:lnTo>
                    <a:pt x="205" y="404"/>
                  </a:lnTo>
                  <a:lnTo>
                    <a:pt x="215" y="393"/>
                  </a:lnTo>
                  <a:lnTo>
                    <a:pt x="226" y="383"/>
                  </a:lnTo>
                  <a:lnTo>
                    <a:pt x="231" y="362"/>
                  </a:lnTo>
                  <a:lnTo>
                    <a:pt x="231" y="194"/>
                  </a:lnTo>
                  <a:lnTo>
                    <a:pt x="231" y="194"/>
                  </a:lnTo>
                  <a:lnTo>
                    <a:pt x="226" y="183"/>
                  </a:lnTo>
                  <a:lnTo>
                    <a:pt x="221" y="178"/>
                  </a:lnTo>
                  <a:lnTo>
                    <a:pt x="173" y="152"/>
                  </a:lnTo>
                  <a:lnTo>
                    <a:pt x="173" y="152"/>
                  </a:lnTo>
                  <a:lnTo>
                    <a:pt x="158" y="141"/>
                  </a:lnTo>
                  <a:lnTo>
                    <a:pt x="147" y="157"/>
                  </a:lnTo>
                  <a:lnTo>
                    <a:pt x="126" y="178"/>
                  </a:lnTo>
                  <a:lnTo>
                    <a:pt x="121" y="162"/>
                  </a:lnTo>
                  <a:lnTo>
                    <a:pt x="126" y="152"/>
                  </a:lnTo>
                  <a:lnTo>
                    <a:pt x="126" y="152"/>
                  </a:lnTo>
                  <a:lnTo>
                    <a:pt x="116" y="157"/>
                  </a:lnTo>
                  <a:lnTo>
                    <a:pt x="116" y="157"/>
                  </a:lnTo>
                  <a:lnTo>
                    <a:pt x="100" y="152"/>
                  </a:lnTo>
                  <a:lnTo>
                    <a:pt x="105" y="162"/>
                  </a:lnTo>
                  <a:lnTo>
                    <a:pt x="105" y="178"/>
                  </a:lnTo>
                  <a:lnTo>
                    <a:pt x="84" y="157"/>
                  </a:lnTo>
                  <a:lnTo>
                    <a:pt x="74" y="141"/>
                  </a:lnTo>
                  <a:lnTo>
                    <a:pt x="74" y="141"/>
                  </a:lnTo>
                  <a:lnTo>
                    <a:pt x="58" y="152"/>
                  </a:lnTo>
                  <a:lnTo>
                    <a:pt x="11" y="178"/>
                  </a:lnTo>
                  <a:lnTo>
                    <a:pt x="11" y="178"/>
                  </a:lnTo>
                  <a:lnTo>
                    <a:pt x="6" y="183"/>
                  </a:lnTo>
                  <a:lnTo>
                    <a:pt x="0" y="194"/>
                  </a:lnTo>
                  <a:lnTo>
                    <a:pt x="0"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a:ln>
                  <a:noFill/>
                </a:ln>
                <a:solidFill>
                  <a:srgbClr val="000000"/>
                </a:solidFill>
                <a:effectLst/>
                <a:uLnTx/>
                <a:uFillTx/>
              </a:endParaRPr>
            </a:p>
          </p:txBody>
        </p:sp>
      </p:grpSp>
      <p:cxnSp>
        <p:nvCxnSpPr>
          <p:cNvPr id="138" name="Straight Arrow Connector 137">
            <a:extLst>
              <a:ext uri="{FF2B5EF4-FFF2-40B4-BE49-F238E27FC236}">
                <a16:creationId xmlns:a16="http://schemas.microsoft.com/office/drawing/2014/main" id="{11A72917-AA8D-4008-9A6C-90C427A36200}"/>
              </a:ext>
            </a:extLst>
          </p:cNvPr>
          <p:cNvCxnSpPr/>
          <p:nvPr/>
        </p:nvCxnSpPr>
        <p:spPr>
          <a:xfrm flipV="1">
            <a:off x="8624377" y="2381961"/>
            <a:ext cx="538480" cy="0"/>
          </a:xfrm>
          <a:prstGeom prst="straightConnector1">
            <a:avLst/>
          </a:prstGeom>
          <a:noFill/>
          <a:ln w="9525" cap="flat" cmpd="sng" algn="ctr">
            <a:solidFill>
              <a:srgbClr val="44546A"/>
            </a:solidFill>
            <a:prstDash val="solid"/>
            <a:tailEnd type="triangle"/>
          </a:ln>
          <a:effectLst/>
        </p:spPr>
      </p:cxnSp>
      <p:cxnSp>
        <p:nvCxnSpPr>
          <p:cNvPr id="144" name="Straight Arrow Connector 143">
            <a:extLst>
              <a:ext uri="{FF2B5EF4-FFF2-40B4-BE49-F238E27FC236}">
                <a16:creationId xmlns:a16="http://schemas.microsoft.com/office/drawing/2014/main" id="{1FBA6C84-58C5-4DF5-9520-63D5341F8639}"/>
              </a:ext>
            </a:extLst>
          </p:cNvPr>
          <p:cNvCxnSpPr>
            <a:cxnSpLocks/>
          </p:cNvCxnSpPr>
          <p:nvPr/>
        </p:nvCxnSpPr>
        <p:spPr>
          <a:xfrm>
            <a:off x="9584507" y="2965890"/>
            <a:ext cx="0" cy="252000"/>
          </a:xfrm>
          <a:prstGeom prst="straightConnector1">
            <a:avLst/>
          </a:prstGeom>
          <a:noFill/>
          <a:ln w="19050" cap="flat" cmpd="sng" algn="ctr">
            <a:solidFill>
              <a:srgbClr val="62B5E5"/>
            </a:solidFill>
            <a:prstDash val="solid"/>
            <a:tailEnd type="triangle"/>
          </a:ln>
          <a:effectLst/>
        </p:spPr>
      </p:cxnSp>
      <p:sp>
        <p:nvSpPr>
          <p:cNvPr id="117" name="Text Placeholder 2">
            <a:extLst>
              <a:ext uri="{FF2B5EF4-FFF2-40B4-BE49-F238E27FC236}">
                <a16:creationId xmlns:a16="http://schemas.microsoft.com/office/drawing/2014/main" id="{026FD8F7-ED5D-4DD0-8823-4640A85A54F7}"/>
              </a:ext>
            </a:extLst>
          </p:cNvPr>
          <p:cNvSpPr>
            <a:spLocks noGrp="1"/>
          </p:cNvSpPr>
          <p:nvPr>
            <p:ph type="body" sz="quarter" idx="13"/>
          </p:nvPr>
        </p:nvSpPr>
        <p:spPr>
          <a:xfrm>
            <a:off x="501650" y="651600"/>
            <a:ext cx="11201400" cy="757255"/>
          </a:xfrm>
        </p:spPr>
        <p:txBody>
          <a:bodyPr/>
          <a:lstStyle/>
          <a:p>
            <a:r>
              <a:rPr lang="en-US" sz="2000" dirty="0"/>
              <a:t>Module 4: Support in program management and monitoring of New Govt. schemes</a:t>
            </a:r>
          </a:p>
        </p:txBody>
      </p:sp>
      <p:pic>
        <p:nvPicPr>
          <p:cNvPr id="1026" name="Picture 2" descr="WBSEDCL Issue Tender for Supply of EPC Contract for 10 MW Floating Solar  Project at PPSP Upper Dam Purulia Pump Storage Project Site Baghmundi  Purulia West Bengal – EQ Mag Pro –">
            <a:extLst>
              <a:ext uri="{FF2B5EF4-FFF2-40B4-BE49-F238E27FC236}">
                <a16:creationId xmlns:a16="http://schemas.microsoft.com/office/drawing/2014/main" id="{9BBCB83B-B03F-E4B2-85AB-160DE5DEAE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0267" y="3557225"/>
            <a:ext cx="1788955" cy="122784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 black text on a white background&#10;&#10;Description automatically generated">
            <a:extLst>
              <a:ext uri="{FF2B5EF4-FFF2-40B4-BE49-F238E27FC236}">
                <a16:creationId xmlns:a16="http://schemas.microsoft.com/office/drawing/2014/main" id="{EFAE5AC6-E253-4E05-0A06-2577CAD796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1964" y="2389308"/>
            <a:ext cx="1765561" cy="342163"/>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Handshake with solid fill">
            <a:extLst>
              <a:ext uri="{FF2B5EF4-FFF2-40B4-BE49-F238E27FC236}">
                <a16:creationId xmlns:a16="http://schemas.microsoft.com/office/drawing/2014/main" id="{1B18F174-96C7-00A2-C393-FBCFF6F04DB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77544" y="2749973"/>
            <a:ext cx="914400" cy="914400"/>
          </a:xfrm>
          <a:prstGeom prst="rect">
            <a:avLst/>
          </a:prstGeom>
        </p:spPr>
      </p:pic>
    </p:spTree>
    <p:extLst>
      <p:ext uri="{BB962C8B-B14F-4D97-AF65-F5344CB8AC3E}">
        <p14:creationId xmlns:p14="http://schemas.microsoft.com/office/powerpoint/2010/main" val="213598512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9FE2A-EC0B-4EBB-91D9-CA37432B4834}"/>
              </a:ext>
            </a:extLst>
          </p:cNvPr>
          <p:cNvSpPr>
            <a:spLocks noGrp="1"/>
          </p:cNvSpPr>
          <p:nvPr>
            <p:ph type="title"/>
          </p:nvPr>
        </p:nvSpPr>
        <p:spPr/>
        <p:txBody>
          <a:bodyPr/>
          <a:lstStyle/>
          <a:p>
            <a:r>
              <a:rPr lang="en-US" sz="1600" dirty="0"/>
              <a:t>Our </a:t>
            </a:r>
            <a:r>
              <a:rPr lang="en-US" sz="1600" b="1" dirty="0"/>
              <a:t>Approach</a:t>
            </a:r>
            <a:r>
              <a:rPr lang="en-US" sz="1600" dirty="0"/>
              <a:t> &amp; Methodology </a:t>
            </a:r>
          </a:p>
        </p:txBody>
      </p:sp>
      <p:sp>
        <p:nvSpPr>
          <p:cNvPr id="3" name="Text Placeholder 2">
            <a:extLst>
              <a:ext uri="{FF2B5EF4-FFF2-40B4-BE49-F238E27FC236}">
                <a16:creationId xmlns:a16="http://schemas.microsoft.com/office/drawing/2014/main" id="{AF55AF75-6519-4763-AAFD-E9DBF8672EA9}"/>
              </a:ext>
            </a:extLst>
          </p:cNvPr>
          <p:cNvSpPr>
            <a:spLocks noGrp="1"/>
          </p:cNvSpPr>
          <p:nvPr>
            <p:ph type="body" sz="quarter" idx="13"/>
          </p:nvPr>
        </p:nvSpPr>
        <p:spPr/>
        <p:txBody>
          <a:bodyPr/>
          <a:lstStyle/>
          <a:p>
            <a:r>
              <a:rPr lang="en-US" sz="2000" dirty="0"/>
              <a:t>Module 5: Regulatory Research and Monitoring</a:t>
            </a:r>
          </a:p>
        </p:txBody>
      </p:sp>
      <p:sp>
        <p:nvSpPr>
          <p:cNvPr id="22" name="矩形 32">
            <a:extLst>
              <a:ext uri="{FF2B5EF4-FFF2-40B4-BE49-F238E27FC236}">
                <a16:creationId xmlns:a16="http://schemas.microsoft.com/office/drawing/2014/main" id="{E8BE71FD-761A-430F-B91F-0791CE39674A}"/>
              </a:ext>
            </a:extLst>
          </p:cNvPr>
          <p:cNvSpPr/>
          <p:nvPr/>
        </p:nvSpPr>
        <p:spPr bwMode="gray">
          <a:xfrm>
            <a:off x="3971857" y="1624525"/>
            <a:ext cx="7499707" cy="1257302"/>
          </a:xfrm>
          <a:prstGeom prst="rect">
            <a:avLst/>
          </a:prstGeom>
          <a:solidFill>
            <a:srgbClr val="FFFFFF"/>
          </a:solidFill>
          <a:ln w="19050" algn="ctr">
            <a:solidFill>
              <a:srgbClr val="43B02A"/>
            </a:solidFill>
            <a:miter lim="800000"/>
            <a:headEnd/>
            <a:tailEnd/>
          </a:ln>
        </p:spPr>
        <p:txBody>
          <a:bodyPr wrap="square" lIns="1080000" tIns="88900" rIns="108000" bIns="88900" rtlCol="0" anchor="ctr" anchorCtr="1"/>
          <a:lstStyle/>
          <a:p>
            <a:pPr>
              <a:spcBef>
                <a:spcPts val="600"/>
              </a:spcBef>
              <a:buSzPct val="100000"/>
              <a:defRPr/>
            </a:pPr>
            <a:r>
              <a:rPr lang="en-US" altLang="zh-CN" sz="1400" b="1" dirty="0">
                <a:solidFill>
                  <a:prstClr val="black"/>
                </a:solidFill>
              </a:rPr>
              <a:t>Regulations tracking (Existing / upcoming)</a:t>
            </a:r>
          </a:p>
          <a:p>
            <a:pPr marL="203200" lvl="0" indent="-203200">
              <a:spcBef>
                <a:spcPts val="600"/>
              </a:spcBef>
              <a:buSzPct val="100000"/>
              <a:buFont typeface="Arial"/>
              <a:buChar char="•"/>
              <a:defRPr/>
            </a:pPr>
            <a:r>
              <a:rPr lang="en-US" altLang="zh-CN" sz="1400" b="1" dirty="0">
                <a:solidFill>
                  <a:prstClr val="black"/>
                </a:solidFill>
              </a:rPr>
              <a:t>CERC / FOR - </a:t>
            </a:r>
            <a:r>
              <a:rPr lang="en-US" altLang="zh-CN" sz="1400" dirty="0">
                <a:solidFill>
                  <a:prstClr val="black"/>
                </a:solidFill>
              </a:rPr>
              <a:t>Power Markets, 2021, Sharing of ISTS Charges &amp; Losses, Real Time Market, </a:t>
            </a:r>
            <a:r>
              <a:rPr lang="en-US" sz="1400" dirty="0">
                <a:solidFill>
                  <a:prstClr val="black"/>
                </a:solidFill>
              </a:rPr>
              <a:t>Model regulations for Distributed Energy Resources</a:t>
            </a:r>
          </a:p>
          <a:p>
            <a:pPr marL="203200" indent="-203200">
              <a:spcBef>
                <a:spcPts val="600"/>
              </a:spcBef>
              <a:buSzPct val="100000"/>
              <a:buFont typeface="Arial"/>
              <a:buChar char="•"/>
              <a:defRPr/>
            </a:pPr>
            <a:r>
              <a:rPr lang="en-US" altLang="zh-CN" sz="1400" b="1" dirty="0">
                <a:solidFill>
                  <a:prstClr val="black"/>
                </a:solidFill>
              </a:rPr>
              <a:t>SERCs - </a:t>
            </a:r>
            <a:r>
              <a:rPr lang="en-US" altLang="zh-CN" sz="1400" dirty="0">
                <a:solidFill>
                  <a:prstClr val="black"/>
                </a:solidFill>
              </a:rPr>
              <a:t>Discussion Papers, Open Access, Charging stations for EVs, Forecasting, scheduling &amp; Deviation Settlement of RE</a:t>
            </a:r>
            <a:endParaRPr lang="en-US" sz="1400" dirty="0">
              <a:solidFill>
                <a:prstClr val="black"/>
              </a:solidFill>
            </a:endParaRPr>
          </a:p>
        </p:txBody>
      </p:sp>
      <p:sp>
        <p:nvSpPr>
          <p:cNvPr id="25" name="任意多边形 37">
            <a:extLst>
              <a:ext uri="{FF2B5EF4-FFF2-40B4-BE49-F238E27FC236}">
                <a16:creationId xmlns:a16="http://schemas.microsoft.com/office/drawing/2014/main" id="{72E923F2-8A4D-4B47-8BCC-9458F0610532}"/>
              </a:ext>
            </a:extLst>
          </p:cNvPr>
          <p:cNvSpPr/>
          <p:nvPr/>
        </p:nvSpPr>
        <p:spPr bwMode="gray">
          <a:xfrm>
            <a:off x="2804538" y="1631438"/>
            <a:ext cx="1167319" cy="1231291"/>
          </a:xfrm>
          <a:custGeom>
            <a:avLst/>
            <a:gdLst>
              <a:gd name="connsiteX0" fmla="*/ 1167319 w 1167319"/>
              <a:gd name="connsiteY0" fmla="*/ 0 h 1177711"/>
              <a:gd name="connsiteX1" fmla="*/ 1167319 w 1167319"/>
              <a:gd name="connsiteY1" fmla="*/ 1177711 h 1177711"/>
              <a:gd name="connsiteX2" fmla="*/ 492 w 1167319"/>
              <a:gd name="connsiteY2" fmla="*/ 1177711 h 1177711"/>
              <a:gd name="connsiteX3" fmla="*/ 0 w 1167319"/>
              <a:gd name="connsiteY3" fmla="*/ 1167320 h 1177711"/>
              <a:gd name="connsiteX4" fmla="*/ 1047968 w 1167319"/>
              <a:gd name="connsiteY4" fmla="*/ 6027 h 1177711"/>
              <a:gd name="connsiteX5" fmla="*/ 1167319 w 1167319"/>
              <a:gd name="connsiteY5" fmla="*/ 0 h 1177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7319" h="1177711">
                <a:moveTo>
                  <a:pt x="1167319" y="0"/>
                </a:moveTo>
                <a:lnTo>
                  <a:pt x="1167319" y="1177711"/>
                </a:lnTo>
                <a:lnTo>
                  <a:pt x="492" y="1177711"/>
                </a:lnTo>
                <a:lnTo>
                  <a:pt x="0" y="1167320"/>
                </a:lnTo>
                <a:cubicBezTo>
                  <a:pt x="0" y="562920"/>
                  <a:pt x="459340" y="65805"/>
                  <a:pt x="1047968" y="6027"/>
                </a:cubicBezTo>
                <a:lnTo>
                  <a:pt x="1167319" y="0"/>
                </a:lnTo>
                <a:close/>
              </a:path>
            </a:pathLst>
          </a:custGeom>
          <a:solidFill>
            <a:srgbClr val="86BC25"/>
          </a:solidFill>
          <a:ln w="19050" algn="ctr">
            <a:solidFill>
              <a:srgbClr val="86BC25"/>
            </a:solid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27" name="任意多边形 38">
            <a:extLst>
              <a:ext uri="{FF2B5EF4-FFF2-40B4-BE49-F238E27FC236}">
                <a16:creationId xmlns:a16="http://schemas.microsoft.com/office/drawing/2014/main" id="{A53F1096-CA37-4DB1-B197-24BA73F8F9FC}"/>
              </a:ext>
            </a:extLst>
          </p:cNvPr>
          <p:cNvSpPr/>
          <p:nvPr/>
        </p:nvSpPr>
        <p:spPr bwMode="gray">
          <a:xfrm flipH="1" flipV="1">
            <a:off x="3971856" y="1632221"/>
            <a:ext cx="1167319" cy="1249606"/>
          </a:xfrm>
          <a:custGeom>
            <a:avLst/>
            <a:gdLst>
              <a:gd name="connsiteX0" fmla="*/ 1167319 w 1167319"/>
              <a:gd name="connsiteY0" fmla="*/ 0 h 1177711"/>
              <a:gd name="connsiteX1" fmla="*/ 1167319 w 1167319"/>
              <a:gd name="connsiteY1" fmla="*/ 1177711 h 1177711"/>
              <a:gd name="connsiteX2" fmla="*/ 492 w 1167319"/>
              <a:gd name="connsiteY2" fmla="*/ 1177711 h 1177711"/>
              <a:gd name="connsiteX3" fmla="*/ 0 w 1167319"/>
              <a:gd name="connsiteY3" fmla="*/ 1167320 h 1177711"/>
              <a:gd name="connsiteX4" fmla="*/ 1047968 w 1167319"/>
              <a:gd name="connsiteY4" fmla="*/ 6027 h 1177711"/>
              <a:gd name="connsiteX5" fmla="*/ 1167319 w 1167319"/>
              <a:gd name="connsiteY5" fmla="*/ 0 h 1177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7319" h="1177711">
                <a:moveTo>
                  <a:pt x="1167319" y="0"/>
                </a:moveTo>
                <a:lnTo>
                  <a:pt x="1167319" y="1177711"/>
                </a:lnTo>
                <a:lnTo>
                  <a:pt x="492" y="1177711"/>
                </a:lnTo>
                <a:lnTo>
                  <a:pt x="0" y="1167320"/>
                </a:lnTo>
                <a:cubicBezTo>
                  <a:pt x="0" y="562920"/>
                  <a:pt x="459340" y="65805"/>
                  <a:pt x="1047968" y="6027"/>
                </a:cubicBezTo>
                <a:lnTo>
                  <a:pt x="1167319" y="0"/>
                </a:lnTo>
                <a:close/>
              </a:path>
            </a:pathLst>
          </a:custGeom>
          <a:solidFill>
            <a:srgbClr val="43B02A"/>
          </a:solidFill>
          <a:ln w="19050" algn="ctr">
            <a:noFill/>
            <a:miter lim="800000"/>
            <a:headEnd/>
            <a:tailEnd/>
          </a:ln>
        </p:spPr>
        <p:txBody>
          <a:bodyPr vert="horz"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32" name="文本框 35">
            <a:extLst>
              <a:ext uri="{FF2B5EF4-FFF2-40B4-BE49-F238E27FC236}">
                <a16:creationId xmlns:a16="http://schemas.microsoft.com/office/drawing/2014/main" id="{FBB6D7AA-3023-4E8E-A003-4F57B6486F37}"/>
              </a:ext>
            </a:extLst>
          </p:cNvPr>
          <p:cNvSpPr txBox="1"/>
          <p:nvPr/>
        </p:nvSpPr>
        <p:spPr>
          <a:xfrm>
            <a:off x="4129207" y="1987412"/>
            <a:ext cx="694967" cy="492443"/>
          </a:xfrm>
          <a:prstGeom prst="rect">
            <a:avLst/>
          </a:prstGeom>
          <a:noFill/>
        </p:spPr>
        <p:txBody>
          <a:bodyPr wrap="square" lIns="0" tIns="0" rIns="0" bIns="0" rtlCol="0">
            <a:spAutoFit/>
          </a:bodyPr>
          <a:lstStyle/>
          <a:p>
            <a:pPr>
              <a:buSzPct val="100000"/>
            </a:pPr>
            <a:r>
              <a:rPr lang="en-US" sz="3200" b="1" dirty="0">
                <a:solidFill>
                  <a:srgbClr val="FFFFFF"/>
                </a:solidFill>
              </a:rPr>
              <a:t>01</a:t>
            </a:r>
          </a:p>
        </p:txBody>
      </p:sp>
      <p:sp>
        <p:nvSpPr>
          <p:cNvPr id="33" name="矩形 36">
            <a:extLst>
              <a:ext uri="{FF2B5EF4-FFF2-40B4-BE49-F238E27FC236}">
                <a16:creationId xmlns:a16="http://schemas.microsoft.com/office/drawing/2014/main" id="{ABC5C0F1-CD4C-4035-89DC-D28FE3485913}"/>
              </a:ext>
            </a:extLst>
          </p:cNvPr>
          <p:cNvSpPr/>
          <p:nvPr/>
        </p:nvSpPr>
        <p:spPr bwMode="gray">
          <a:xfrm>
            <a:off x="11471564" y="1632221"/>
            <a:ext cx="105415" cy="1256400"/>
          </a:xfrm>
          <a:prstGeom prst="rect">
            <a:avLst/>
          </a:prstGeom>
          <a:solidFill>
            <a:srgbClr val="43B02A"/>
          </a:solidFill>
          <a:ln w="19050" algn="ctr">
            <a:solidFill>
              <a:srgbClr val="43B02A"/>
            </a:solid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34" name="矩形 24">
            <a:extLst>
              <a:ext uri="{FF2B5EF4-FFF2-40B4-BE49-F238E27FC236}">
                <a16:creationId xmlns:a16="http://schemas.microsoft.com/office/drawing/2014/main" id="{97E50BEC-77A7-42FA-8839-29D10CC1077F}"/>
              </a:ext>
            </a:extLst>
          </p:cNvPr>
          <p:cNvSpPr/>
          <p:nvPr/>
        </p:nvSpPr>
        <p:spPr bwMode="gray">
          <a:xfrm>
            <a:off x="2804538" y="2882219"/>
            <a:ext cx="7794189" cy="1170000"/>
          </a:xfrm>
          <a:prstGeom prst="rect">
            <a:avLst/>
          </a:prstGeom>
          <a:solidFill>
            <a:srgbClr val="FFFFFF"/>
          </a:solidFill>
          <a:ln w="19050" algn="ctr">
            <a:solidFill>
              <a:schemeClr val="accent3"/>
            </a:solidFill>
            <a:miter lim="800000"/>
            <a:headEnd/>
            <a:tailEnd/>
          </a:ln>
        </p:spPr>
        <p:txBody>
          <a:bodyPr wrap="square" lIns="1404000" tIns="88900" rIns="324000" bIns="88900" rtlCol="0" anchor="ctr" anchorCtr="1"/>
          <a:lstStyle/>
          <a:p>
            <a:pPr>
              <a:spcBef>
                <a:spcPts val="600"/>
              </a:spcBef>
              <a:buSzPct val="100000"/>
              <a:defRPr/>
            </a:pPr>
            <a:r>
              <a:rPr lang="en-US" altLang="zh-CN" sz="1400" b="1" dirty="0">
                <a:solidFill>
                  <a:prstClr val="black"/>
                </a:solidFill>
              </a:rPr>
              <a:t>Monitoring Tariff reforms</a:t>
            </a:r>
          </a:p>
          <a:p>
            <a:pPr marL="203200" lvl="0" indent="-203200">
              <a:spcBef>
                <a:spcPts val="600"/>
              </a:spcBef>
              <a:buSzPct val="100000"/>
              <a:buFont typeface="Arial"/>
              <a:buChar char="•"/>
              <a:defRPr/>
            </a:pPr>
            <a:r>
              <a:rPr lang="en-US" sz="1400" dirty="0">
                <a:solidFill>
                  <a:prstClr val="black"/>
                </a:solidFill>
              </a:rPr>
              <a:t>Timely filling of tariff petitions/ MYT and issuance of Tariff Orders and annual tariff fixation, and rationalization of consumer categories</a:t>
            </a:r>
          </a:p>
          <a:p>
            <a:pPr marL="203200" lvl="0" indent="-203200">
              <a:spcBef>
                <a:spcPts val="600"/>
              </a:spcBef>
              <a:buSzPct val="100000"/>
              <a:buFont typeface="Arial"/>
              <a:buChar char="•"/>
              <a:defRPr/>
            </a:pPr>
            <a:r>
              <a:rPr lang="en-US" sz="1400" dirty="0">
                <a:solidFill>
                  <a:prstClr val="black"/>
                </a:solidFill>
              </a:rPr>
              <a:t>Compliance to directives issued by Regulatory Commissions</a:t>
            </a:r>
          </a:p>
        </p:txBody>
      </p:sp>
      <p:sp>
        <p:nvSpPr>
          <p:cNvPr id="35" name="任意多边形 29">
            <a:extLst>
              <a:ext uri="{FF2B5EF4-FFF2-40B4-BE49-F238E27FC236}">
                <a16:creationId xmlns:a16="http://schemas.microsoft.com/office/drawing/2014/main" id="{DB63505E-E728-4C40-977D-C7226E57E704}"/>
              </a:ext>
            </a:extLst>
          </p:cNvPr>
          <p:cNvSpPr/>
          <p:nvPr/>
        </p:nvSpPr>
        <p:spPr bwMode="gray">
          <a:xfrm>
            <a:off x="1637219" y="2882219"/>
            <a:ext cx="1167319" cy="1170000"/>
          </a:xfrm>
          <a:custGeom>
            <a:avLst/>
            <a:gdLst>
              <a:gd name="connsiteX0" fmla="*/ 1167319 w 1167319"/>
              <a:gd name="connsiteY0" fmla="*/ 0 h 1177711"/>
              <a:gd name="connsiteX1" fmla="*/ 1167319 w 1167319"/>
              <a:gd name="connsiteY1" fmla="*/ 1177711 h 1177711"/>
              <a:gd name="connsiteX2" fmla="*/ 492 w 1167319"/>
              <a:gd name="connsiteY2" fmla="*/ 1177711 h 1177711"/>
              <a:gd name="connsiteX3" fmla="*/ 0 w 1167319"/>
              <a:gd name="connsiteY3" fmla="*/ 1167320 h 1177711"/>
              <a:gd name="connsiteX4" fmla="*/ 1047968 w 1167319"/>
              <a:gd name="connsiteY4" fmla="*/ 6027 h 1177711"/>
              <a:gd name="connsiteX5" fmla="*/ 1167319 w 1167319"/>
              <a:gd name="connsiteY5" fmla="*/ 0 h 1177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7319" h="1177711">
                <a:moveTo>
                  <a:pt x="1167319" y="0"/>
                </a:moveTo>
                <a:lnTo>
                  <a:pt x="1167319" y="1177711"/>
                </a:lnTo>
                <a:lnTo>
                  <a:pt x="492" y="1177711"/>
                </a:lnTo>
                <a:lnTo>
                  <a:pt x="0" y="1167320"/>
                </a:lnTo>
                <a:cubicBezTo>
                  <a:pt x="0" y="562920"/>
                  <a:pt x="459340" y="65805"/>
                  <a:pt x="1047968" y="6027"/>
                </a:cubicBezTo>
                <a:lnTo>
                  <a:pt x="1167319" y="0"/>
                </a:lnTo>
                <a:close/>
              </a:path>
            </a:pathLst>
          </a:custGeom>
          <a:solidFill>
            <a:srgbClr val="009A44"/>
          </a:solidFill>
          <a:ln w="19050" algn="ctr">
            <a:solidFill>
              <a:srgbClr val="009A44"/>
            </a:solid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36" name="任意多边形 30">
            <a:extLst>
              <a:ext uri="{FF2B5EF4-FFF2-40B4-BE49-F238E27FC236}">
                <a16:creationId xmlns:a16="http://schemas.microsoft.com/office/drawing/2014/main" id="{F026457F-489C-4312-8EDD-F8FF99EAD230}"/>
              </a:ext>
            </a:extLst>
          </p:cNvPr>
          <p:cNvSpPr/>
          <p:nvPr/>
        </p:nvSpPr>
        <p:spPr bwMode="gray">
          <a:xfrm flipH="1" flipV="1">
            <a:off x="2804538" y="2882219"/>
            <a:ext cx="1167319" cy="1170000"/>
          </a:xfrm>
          <a:custGeom>
            <a:avLst/>
            <a:gdLst>
              <a:gd name="connsiteX0" fmla="*/ 1167319 w 1167319"/>
              <a:gd name="connsiteY0" fmla="*/ 0 h 1177711"/>
              <a:gd name="connsiteX1" fmla="*/ 1167319 w 1167319"/>
              <a:gd name="connsiteY1" fmla="*/ 1177711 h 1177711"/>
              <a:gd name="connsiteX2" fmla="*/ 492 w 1167319"/>
              <a:gd name="connsiteY2" fmla="*/ 1177711 h 1177711"/>
              <a:gd name="connsiteX3" fmla="*/ 0 w 1167319"/>
              <a:gd name="connsiteY3" fmla="*/ 1167320 h 1177711"/>
              <a:gd name="connsiteX4" fmla="*/ 1047968 w 1167319"/>
              <a:gd name="connsiteY4" fmla="*/ 6027 h 1177711"/>
              <a:gd name="connsiteX5" fmla="*/ 1167319 w 1167319"/>
              <a:gd name="connsiteY5" fmla="*/ 0 h 1177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7319" h="1177711">
                <a:moveTo>
                  <a:pt x="1167319" y="0"/>
                </a:moveTo>
                <a:lnTo>
                  <a:pt x="1167319" y="1177711"/>
                </a:lnTo>
                <a:lnTo>
                  <a:pt x="492" y="1177711"/>
                </a:lnTo>
                <a:lnTo>
                  <a:pt x="0" y="1167320"/>
                </a:lnTo>
                <a:cubicBezTo>
                  <a:pt x="0" y="562920"/>
                  <a:pt x="459340" y="65805"/>
                  <a:pt x="1047968" y="6027"/>
                </a:cubicBezTo>
                <a:lnTo>
                  <a:pt x="1167319" y="0"/>
                </a:lnTo>
                <a:close/>
              </a:path>
            </a:pathLst>
          </a:custGeom>
          <a:solidFill>
            <a:schemeClr val="accent3"/>
          </a:solidFill>
          <a:ln w="19050" algn="ctr">
            <a:noFill/>
            <a:miter lim="800000"/>
            <a:headEnd/>
            <a:tailEnd/>
          </a:ln>
        </p:spPr>
        <p:txBody>
          <a:bodyPr vert="horz"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37" name="文本框 27">
            <a:extLst>
              <a:ext uri="{FF2B5EF4-FFF2-40B4-BE49-F238E27FC236}">
                <a16:creationId xmlns:a16="http://schemas.microsoft.com/office/drawing/2014/main" id="{6969B96B-3220-43B8-ADE8-99CB711A8572}"/>
              </a:ext>
            </a:extLst>
          </p:cNvPr>
          <p:cNvSpPr txBox="1"/>
          <p:nvPr/>
        </p:nvSpPr>
        <p:spPr>
          <a:xfrm>
            <a:off x="2961888" y="3185332"/>
            <a:ext cx="694967" cy="492443"/>
          </a:xfrm>
          <a:prstGeom prst="rect">
            <a:avLst/>
          </a:prstGeom>
          <a:noFill/>
        </p:spPr>
        <p:txBody>
          <a:bodyPr wrap="square" lIns="0" tIns="0" rIns="0" bIns="0" rtlCol="0">
            <a:spAutoFit/>
          </a:bodyPr>
          <a:lstStyle/>
          <a:p>
            <a:pPr>
              <a:buSzPct val="100000"/>
            </a:pPr>
            <a:r>
              <a:rPr lang="en-US" sz="3200" b="1" dirty="0">
                <a:solidFill>
                  <a:srgbClr val="FFFFFF"/>
                </a:solidFill>
              </a:rPr>
              <a:t>02</a:t>
            </a:r>
          </a:p>
        </p:txBody>
      </p:sp>
      <p:sp>
        <p:nvSpPr>
          <p:cNvPr id="38" name="矩形 39">
            <a:extLst>
              <a:ext uri="{FF2B5EF4-FFF2-40B4-BE49-F238E27FC236}">
                <a16:creationId xmlns:a16="http://schemas.microsoft.com/office/drawing/2014/main" id="{871593E0-73E1-4A38-831C-8AC36978230C}"/>
              </a:ext>
            </a:extLst>
          </p:cNvPr>
          <p:cNvSpPr/>
          <p:nvPr/>
        </p:nvSpPr>
        <p:spPr bwMode="gray">
          <a:xfrm>
            <a:off x="10598727" y="2882219"/>
            <a:ext cx="105415" cy="1170000"/>
          </a:xfrm>
          <a:prstGeom prst="rect">
            <a:avLst/>
          </a:prstGeom>
          <a:solidFill>
            <a:schemeClr val="accent3"/>
          </a:solidFill>
          <a:ln w="19050" algn="ctr">
            <a:solidFill>
              <a:schemeClr val="accent3"/>
            </a:solid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39" name="矩形 19">
            <a:extLst>
              <a:ext uri="{FF2B5EF4-FFF2-40B4-BE49-F238E27FC236}">
                <a16:creationId xmlns:a16="http://schemas.microsoft.com/office/drawing/2014/main" id="{A3362282-EA0B-4E6B-BD76-1EB6161329BF}"/>
              </a:ext>
            </a:extLst>
          </p:cNvPr>
          <p:cNvSpPr/>
          <p:nvPr/>
        </p:nvSpPr>
        <p:spPr bwMode="gray">
          <a:xfrm>
            <a:off x="1637219" y="4051178"/>
            <a:ext cx="8010166" cy="1169089"/>
          </a:xfrm>
          <a:prstGeom prst="rect">
            <a:avLst/>
          </a:prstGeom>
          <a:solidFill>
            <a:srgbClr val="FFFFFF"/>
          </a:solidFill>
          <a:ln w="19050" algn="ctr">
            <a:solidFill>
              <a:srgbClr val="000000"/>
            </a:solidFill>
            <a:miter lim="800000"/>
            <a:headEnd/>
            <a:tailEnd/>
          </a:ln>
        </p:spPr>
        <p:txBody>
          <a:bodyPr wrap="square" lIns="1440000" tIns="88900" rIns="144000" bIns="88900" rtlCol="0" anchor="ctr"/>
          <a:lstStyle/>
          <a:p>
            <a:pPr>
              <a:spcBef>
                <a:spcPts val="600"/>
              </a:spcBef>
              <a:buSzPct val="100000"/>
              <a:defRPr/>
            </a:pPr>
            <a:r>
              <a:rPr lang="en-US" altLang="zh-CN" sz="1400" b="1" dirty="0">
                <a:solidFill>
                  <a:prstClr val="black"/>
                </a:solidFill>
              </a:rPr>
              <a:t>Policy perspective and business implication</a:t>
            </a:r>
          </a:p>
          <a:p>
            <a:pPr marL="203200" indent="-203200">
              <a:spcBef>
                <a:spcPts val="600"/>
              </a:spcBef>
              <a:buSzPct val="100000"/>
              <a:buFont typeface="Arial"/>
              <a:buChar char="•"/>
              <a:defRPr/>
            </a:pPr>
            <a:r>
              <a:rPr lang="en-US" sz="1400" dirty="0"/>
              <a:t>Action plan for reducing ACS-ARR gap, subsidy analysis and its delivery through DBT, loss reduction, and increased focus on energy audit </a:t>
            </a:r>
          </a:p>
          <a:p>
            <a:pPr marL="203200" lvl="0" indent="-203200">
              <a:spcBef>
                <a:spcPts val="600"/>
              </a:spcBef>
              <a:buSzPct val="100000"/>
              <a:buFont typeface="Arial"/>
              <a:buChar char="•"/>
              <a:defRPr/>
            </a:pPr>
            <a:r>
              <a:rPr lang="en-US" sz="1400" dirty="0"/>
              <a:t>Review of metering implementation models such as TOTEX, CAPEX, OPEX, etc. and evaluate their business impact</a:t>
            </a:r>
          </a:p>
        </p:txBody>
      </p:sp>
      <p:sp>
        <p:nvSpPr>
          <p:cNvPr id="46" name="任意多边形 13">
            <a:extLst>
              <a:ext uri="{FF2B5EF4-FFF2-40B4-BE49-F238E27FC236}">
                <a16:creationId xmlns:a16="http://schemas.microsoft.com/office/drawing/2014/main" id="{F83AF572-4BCF-43B7-816F-922CB051321C}"/>
              </a:ext>
            </a:extLst>
          </p:cNvPr>
          <p:cNvSpPr/>
          <p:nvPr/>
        </p:nvSpPr>
        <p:spPr bwMode="gray">
          <a:xfrm>
            <a:off x="469900" y="4050722"/>
            <a:ext cx="1167319" cy="1170000"/>
          </a:xfrm>
          <a:custGeom>
            <a:avLst/>
            <a:gdLst>
              <a:gd name="connsiteX0" fmla="*/ 1167319 w 1167319"/>
              <a:gd name="connsiteY0" fmla="*/ 0 h 1177711"/>
              <a:gd name="connsiteX1" fmla="*/ 1167319 w 1167319"/>
              <a:gd name="connsiteY1" fmla="*/ 1177711 h 1177711"/>
              <a:gd name="connsiteX2" fmla="*/ 492 w 1167319"/>
              <a:gd name="connsiteY2" fmla="*/ 1177711 h 1177711"/>
              <a:gd name="connsiteX3" fmla="*/ 0 w 1167319"/>
              <a:gd name="connsiteY3" fmla="*/ 1167320 h 1177711"/>
              <a:gd name="connsiteX4" fmla="*/ 1047968 w 1167319"/>
              <a:gd name="connsiteY4" fmla="*/ 6027 h 1177711"/>
              <a:gd name="connsiteX5" fmla="*/ 1167319 w 1167319"/>
              <a:gd name="connsiteY5" fmla="*/ 0 h 1177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7319" h="1177711">
                <a:moveTo>
                  <a:pt x="1167319" y="0"/>
                </a:moveTo>
                <a:lnTo>
                  <a:pt x="1167319" y="1177711"/>
                </a:lnTo>
                <a:lnTo>
                  <a:pt x="492" y="1177711"/>
                </a:lnTo>
                <a:lnTo>
                  <a:pt x="0" y="1167320"/>
                </a:lnTo>
                <a:cubicBezTo>
                  <a:pt x="0" y="562920"/>
                  <a:pt x="459340" y="65805"/>
                  <a:pt x="1047968" y="6027"/>
                </a:cubicBezTo>
                <a:lnTo>
                  <a:pt x="1167319" y="0"/>
                </a:lnTo>
                <a:close/>
              </a:path>
            </a:pathLst>
          </a:custGeom>
          <a:solidFill>
            <a:srgbClr val="53565A"/>
          </a:solidFill>
          <a:ln w="19050" algn="ctr">
            <a:solidFill>
              <a:srgbClr val="53565A"/>
            </a:solid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47" name="任意多边形 17">
            <a:extLst>
              <a:ext uri="{FF2B5EF4-FFF2-40B4-BE49-F238E27FC236}">
                <a16:creationId xmlns:a16="http://schemas.microsoft.com/office/drawing/2014/main" id="{92966937-47EA-454C-A642-059E33CA7292}"/>
              </a:ext>
            </a:extLst>
          </p:cNvPr>
          <p:cNvSpPr/>
          <p:nvPr/>
        </p:nvSpPr>
        <p:spPr bwMode="gray">
          <a:xfrm flipH="1" flipV="1">
            <a:off x="1637219" y="4050722"/>
            <a:ext cx="1167319" cy="1170000"/>
          </a:xfrm>
          <a:custGeom>
            <a:avLst/>
            <a:gdLst>
              <a:gd name="connsiteX0" fmla="*/ 1167319 w 1167319"/>
              <a:gd name="connsiteY0" fmla="*/ 0 h 1177711"/>
              <a:gd name="connsiteX1" fmla="*/ 1167319 w 1167319"/>
              <a:gd name="connsiteY1" fmla="*/ 1177711 h 1177711"/>
              <a:gd name="connsiteX2" fmla="*/ 492 w 1167319"/>
              <a:gd name="connsiteY2" fmla="*/ 1177711 h 1177711"/>
              <a:gd name="connsiteX3" fmla="*/ 0 w 1167319"/>
              <a:gd name="connsiteY3" fmla="*/ 1167320 h 1177711"/>
              <a:gd name="connsiteX4" fmla="*/ 1047968 w 1167319"/>
              <a:gd name="connsiteY4" fmla="*/ 6027 h 1177711"/>
              <a:gd name="connsiteX5" fmla="*/ 1167319 w 1167319"/>
              <a:gd name="connsiteY5" fmla="*/ 0 h 1177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7319" h="1177711">
                <a:moveTo>
                  <a:pt x="1167319" y="0"/>
                </a:moveTo>
                <a:lnTo>
                  <a:pt x="1167319" y="1177711"/>
                </a:lnTo>
                <a:lnTo>
                  <a:pt x="492" y="1177711"/>
                </a:lnTo>
                <a:lnTo>
                  <a:pt x="0" y="1167320"/>
                </a:lnTo>
                <a:cubicBezTo>
                  <a:pt x="0" y="562920"/>
                  <a:pt x="459340" y="65805"/>
                  <a:pt x="1047968" y="6027"/>
                </a:cubicBezTo>
                <a:lnTo>
                  <a:pt x="1167319" y="0"/>
                </a:lnTo>
                <a:close/>
              </a:path>
            </a:pathLst>
          </a:custGeom>
          <a:solidFill>
            <a:srgbClr val="000000"/>
          </a:solidFill>
          <a:ln w="19050" algn="ctr">
            <a:noFill/>
            <a:miter lim="800000"/>
            <a:headEnd/>
            <a:tailEnd/>
          </a:ln>
        </p:spPr>
        <p:txBody>
          <a:bodyPr vert="horz"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48" name="Freeform 607">
            <a:extLst>
              <a:ext uri="{FF2B5EF4-FFF2-40B4-BE49-F238E27FC236}">
                <a16:creationId xmlns:a16="http://schemas.microsoft.com/office/drawing/2014/main" id="{AFB28805-46A8-4396-8CEB-AC4E676D1618}"/>
              </a:ext>
            </a:extLst>
          </p:cNvPr>
          <p:cNvSpPr>
            <a:spLocks noChangeAspect="1" noEditPoints="1"/>
          </p:cNvSpPr>
          <p:nvPr/>
        </p:nvSpPr>
        <p:spPr bwMode="auto">
          <a:xfrm>
            <a:off x="933970" y="4470567"/>
            <a:ext cx="466725" cy="466725"/>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 name="T20" fmla="*/ 405 w 512"/>
              <a:gd name="T21" fmla="*/ 170 h 512"/>
              <a:gd name="T22" fmla="*/ 106 w 512"/>
              <a:gd name="T23" fmla="*/ 170 h 512"/>
              <a:gd name="T24" fmla="*/ 96 w 512"/>
              <a:gd name="T25" fmla="*/ 160 h 512"/>
              <a:gd name="T26" fmla="*/ 106 w 512"/>
              <a:gd name="T27" fmla="*/ 149 h 512"/>
              <a:gd name="T28" fmla="*/ 405 w 512"/>
              <a:gd name="T29" fmla="*/ 149 h 512"/>
              <a:gd name="T30" fmla="*/ 416 w 512"/>
              <a:gd name="T31" fmla="*/ 160 h 512"/>
              <a:gd name="T32" fmla="*/ 405 w 512"/>
              <a:gd name="T33" fmla="*/ 170 h 512"/>
              <a:gd name="T34" fmla="*/ 416 w 512"/>
              <a:gd name="T35" fmla="*/ 224 h 512"/>
              <a:gd name="T36" fmla="*/ 405 w 512"/>
              <a:gd name="T37" fmla="*/ 213 h 512"/>
              <a:gd name="T38" fmla="*/ 106 w 512"/>
              <a:gd name="T39" fmla="*/ 213 h 512"/>
              <a:gd name="T40" fmla="*/ 96 w 512"/>
              <a:gd name="T41" fmla="*/ 224 h 512"/>
              <a:gd name="T42" fmla="*/ 106 w 512"/>
              <a:gd name="T43" fmla="*/ 234 h 512"/>
              <a:gd name="T44" fmla="*/ 405 w 512"/>
              <a:gd name="T45" fmla="*/ 234 h 512"/>
              <a:gd name="T46" fmla="*/ 416 w 512"/>
              <a:gd name="T47" fmla="*/ 224 h 512"/>
              <a:gd name="T48" fmla="*/ 416 w 512"/>
              <a:gd name="T49" fmla="*/ 288 h 512"/>
              <a:gd name="T50" fmla="*/ 405 w 512"/>
              <a:gd name="T51" fmla="*/ 277 h 512"/>
              <a:gd name="T52" fmla="*/ 106 w 512"/>
              <a:gd name="T53" fmla="*/ 277 h 512"/>
              <a:gd name="T54" fmla="*/ 96 w 512"/>
              <a:gd name="T55" fmla="*/ 288 h 512"/>
              <a:gd name="T56" fmla="*/ 106 w 512"/>
              <a:gd name="T57" fmla="*/ 298 h 512"/>
              <a:gd name="T58" fmla="*/ 405 w 512"/>
              <a:gd name="T59" fmla="*/ 298 h 512"/>
              <a:gd name="T60" fmla="*/ 416 w 512"/>
              <a:gd name="T61" fmla="*/ 288 h 512"/>
              <a:gd name="T62" fmla="*/ 416 w 512"/>
              <a:gd name="T63" fmla="*/ 352 h 512"/>
              <a:gd name="T64" fmla="*/ 405 w 512"/>
              <a:gd name="T65" fmla="*/ 341 h 512"/>
              <a:gd name="T66" fmla="*/ 106 w 512"/>
              <a:gd name="T67" fmla="*/ 341 h 512"/>
              <a:gd name="T68" fmla="*/ 96 w 512"/>
              <a:gd name="T69" fmla="*/ 352 h 512"/>
              <a:gd name="T70" fmla="*/ 106 w 512"/>
              <a:gd name="T71" fmla="*/ 362 h 512"/>
              <a:gd name="T72" fmla="*/ 405 w 512"/>
              <a:gd name="T73" fmla="*/ 362 h 512"/>
              <a:gd name="T74" fmla="*/ 416 w 512"/>
              <a:gd name="T75" fmla="*/ 35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170"/>
                </a:moveTo>
                <a:cubicBezTo>
                  <a:pt x="106" y="170"/>
                  <a:pt x="106" y="170"/>
                  <a:pt x="106" y="170"/>
                </a:cubicBezTo>
                <a:cubicBezTo>
                  <a:pt x="100" y="170"/>
                  <a:pt x="96" y="166"/>
                  <a:pt x="96" y="160"/>
                </a:cubicBezTo>
                <a:cubicBezTo>
                  <a:pt x="96" y="154"/>
                  <a:pt x="100" y="149"/>
                  <a:pt x="106" y="149"/>
                </a:cubicBezTo>
                <a:cubicBezTo>
                  <a:pt x="405" y="149"/>
                  <a:pt x="405" y="149"/>
                  <a:pt x="405" y="149"/>
                </a:cubicBezTo>
                <a:cubicBezTo>
                  <a:pt x="411" y="149"/>
                  <a:pt x="416" y="154"/>
                  <a:pt x="416" y="160"/>
                </a:cubicBezTo>
                <a:cubicBezTo>
                  <a:pt x="416" y="166"/>
                  <a:pt x="411" y="170"/>
                  <a:pt x="405" y="170"/>
                </a:cubicBezTo>
                <a:close/>
                <a:moveTo>
                  <a:pt x="416" y="224"/>
                </a:moveTo>
                <a:cubicBezTo>
                  <a:pt x="416" y="218"/>
                  <a:pt x="411" y="213"/>
                  <a:pt x="405" y="213"/>
                </a:cubicBezTo>
                <a:cubicBezTo>
                  <a:pt x="106" y="213"/>
                  <a:pt x="106" y="213"/>
                  <a:pt x="106" y="213"/>
                </a:cubicBezTo>
                <a:cubicBezTo>
                  <a:pt x="100" y="213"/>
                  <a:pt x="96" y="218"/>
                  <a:pt x="96" y="224"/>
                </a:cubicBezTo>
                <a:cubicBezTo>
                  <a:pt x="96" y="230"/>
                  <a:pt x="100" y="234"/>
                  <a:pt x="106" y="234"/>
                </a:cubicBezTo>
                <a:cubicBezTo>
                  <a:pt x="405" y="234"/>
                  <a:pt x="405" y="234"/>
                  <a:pt x="405" y="234"/>
                </a:cubicBezTo>
                <a:cubicBezTo>
                  <a:pt x="411" y="234"/>
                  <a:pt x="416" y="230"/>
                  <a:pt x="416" y="224"/>
                </a:cubicBezTo>
                <a:close/>
                <a:moveTo>
                  <a:pt x="416" y="288"/>
                </a:moveTo>
                <a:cubicBezTo>
                  <a:pt x="416" y="282"/>
                  <a:pt x="411" y="277"/>
                  <a:pt x="405" y="277"/>
                </a:cubicBezTo>
                <a:cubicBezTo>
                  <a:pt x="106" y="277"/>
                  <a:pt x="106" y="277"/>
                  <a:pt x="106" y="277"/>
                </a:cubicBezTo>
                <a:cubicBezTo>
                  <a:pt x="100" y="277"/>
                  <a:pt x="96" y="282"/>
                  <a:pt x="96" y="288"/>
                </a:cubicBezTo>
                <a:cubicBezTo>
                  <a:pt x="96" y="294"/>
                  <a:pt x="100" y="298"/>
                  <a:pt x="106" y="298"/>
                </a:cubicBezTo>
                <a:cubicBezTo>
                  <a:pt x="405" y="298"/>
                  <a:pt x="405" y="298"/>
                  <a:pt x="405" y="298"/>
                </a:cubicBezTo>
                <a:cubicBezTo>
                  <a:pt x="411" y="298"/>
                  <a:pt x="416" y="294"/>
                  <a:pt x="416" y="288"/>
                </a:cubicBezTo>
                <a:close/>
                <a:moveTo>
                  <a:pt x="416" y="352"/>
                </a:moveTo>
                <a:cubicBezTo>
                  <a:pt x="416" y="346"/>
                  <a:pt x="411" y="341"/>
                  <a:pt x="405" y="341"/>
                </a:cubicBezTo>
                <a:cubicBezTo>
                  <a:pt x="106" y="341"/>
                  <a:pt x="106" y="341"/>
                  <a:pt x="106" y="341"/>
                </a:cubicBezTo>
                <a:cubicBezTo>
                  <a:pt x="100" y="341"/>
                  <a:pt x="96" y="346"/>
                  <a:pt x="96" y="352"/>
                </a:cubicBezTo>
                <a:cubicBezTo>
                  <a:pt x="96" y="358"/>
                  <a:pt x="100" y="362"/>
                  <a:pt x="106" y="362"/>
                </a:cubicBezTo>
                <a:cubicBezTo>
                  <a:pt x="405" y="362"/>
                  <a:pt x="405" y="362"/>
                  <a:pt x="405" y="362"/>
                </a:cubicBezTo>
                <a:cubicBezTo>
                  <a:pt x="411" y="362"/>
                  <a:pt x="416" y="358"/>
                  <a:pt x="416" y="35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latin typeface="+mj-lt"/>
              <a:ea typeface="华文细黑" panose="02010600040101010101" pitchFamily="2" charset="-122"/>
            </a:endParaRPr>
          </a:p>
        </p:txBody>
      </p:sp>
      <p:sp>
        <p:nvSpPr>
          <p:cNvPr id="51" name="文本框 10">
            <a:extLst>
              <a:ext uri="{FF2B5EF4-FFF2-40B4-BE49-F238E27FC236}">
                <a16:creationId xmlns:a16="http://schemas.microsoft.com/office/drawing/2014/main" id="{783F00EC-4A68-4277-92C1-B5536F9DF396}"/>
              </a:ext>
            </a:extLst>
          </p:cNvPr>
          <p:cNvSpPr txBox="1"/>
          <p:nvPr/>
        </p:nvSpPr>
        <p:spPr>
          <a:xfrm>
            <a:off x="1794569" y="4354619"/>
            <a:ext cx="694967" cy="492443"/>
          </a:xfrm>
          <a:prstGeom prst="rect">
            <a:avLst/>
          </a:prstGeom>
          <a:noFill/>
        </p:spPr>
        <p:txBody>
          <a:bodyPr wrap="square" lIns="0" tIns="0" rIns="0" bIns="0" rtlCol="0">
            <a:spAutoFit/>
          </a:bodyPr>
          <a:lstStyle/>
          <a:p>
            <a:pPr>
              <a:buSzPct val="100000"/>
            </a:pPr>
            <a:r>
              <a:rPr lang="en-US" sz="3200" b="1" dirty="0">
                <a:solidFill>
                  <a:srgbClr val="FFFFFF"/>
                </a:solidFill>
              </a:rPr>
              <a:t>03</a:t>
            </a:r>
          </a:p>
        </p:txBody>
      </p:sp>
      <p:sp>
        <p:nvSpPr>
          <p:cNvPr id="52" name="矩形 40">
            <a:extLst>
              <a:ext uri="{FF2B5EF4-FFF2-40B4-BE49-F238E27FC236}">
                <a16:creationId xmlns:a16="http://schemas.microsoft.com/office/drawing/2014/main" id="{31CC5ABA-5E00-4219-A231-5230D4A0E49D}"/>
              </a:ext>
            </a:extLst>
          </p:cNvPr>
          <p:cNvSpPr/>
          <p:nvPr/>
        </p:nvSpPr>
        <p:spPr bwMode="gray">
          <a:xfrm>
            <a:off x="9647385" y="4050394"/>
            <a:ext cx="104172" cy="1170656"/>
          </a:xfrm>
          <a:prstGeom prst="rect">
            <a:avLst/>
          </a:prstGeom>
          <a:solidFill>
            <a:srgbClr val="000000"/>
          </a:solidFill>
          <a:ln w="19050" algn="ctr">
            <a:solidFill>
              <a:srgbClr val="000000"/>
            </a:solidFill>
            <a:miter lim="800000"/>
            <a:headEnd/>
            <a:tailEnd/>
          </a:ln>
        </p:spPr>
        <p:txBody>
          <a:bodyPr wrap="square" lIns="88900" tIns="88900" rIns="88900" bIns="88900" rtlCol="0" anchor="ctr"/>
          <a:lstStyle/>
          <a:p>
            <a:pPr algn="ctr">
              <a:buFont typeface="Wingdings 2" pitchFamily="18" charset="2"/>
              <a:buNone/>
            </a:pPr>
            <a:endParaRPr lang="en-US" sz="1600" b="1" dirty="0">
              <a:solidFill>
                <a:schemeClr val="bg1"/>
              </a:solidFill>
            </a:endParaRPr>
          </a:p>
        </p:txBody>
      </p:sp>
      <p:sp>
        <p:nvSpPr>
          <p:cNvPr id="54" name="Freeform 607">
            <a:extLst>
              <a:ext uri="{FF2B5EF4-FFF2-40B4-BE49-F238E27FC236}">
                <a16:creationId xmlns:a16="http://schemas.microsoft.com/office/drawing/2014/main" id="{DC90507D-B712-4CF1-936F-DB61D30568C6}"/>
              </a:ext>
            </a:extLst>
          </p:cNvPr>
          <p:cNvSpPr>
            <a:spLocks noChangeAspect="1" noEditPoints="1"/>
          </p:cNvSpPr>
          <p:nvPr/>
        </p:nvSpPr>
        <p:spPr bwMode="auto">
          <a:xfrm>
            <a:off x="2101289" y="3301281"/>
            <a:ext cx="466725" cy="466725"/>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 name="T20" fmla="*/ 405 w 512"/>
              <a:gd name="T21" fmla="*/ 170 h 512"/>
              <a:gd name="T22" fmla="*/ 106 w 512"/>
              <a:gd name="T23" fmla="*/ 170 h 512"/>
              <a:gd name="T24" fmla="*/ 96 w 512"/>
              <a:gd name="T25" fmla="*/ 160 h 512"/>
              <a:gd name="T26" fmla="*/ 106 w 512"/>
              <a:gd name="T27" fmla="*/ 149 h 512"/>
              <a:gd name="T28" fmla="*/ 405 w 512"/>
              <a:gd name="T29" fmla="*/ 149 h 512"/>
              <a:gd name="T30" fmla="*/ 416 w 512"/>
              <a:gd name="T31" fmla="*/ 160 h 512"/>
              <a:gd name="T32" fmla="*/ 405 w 512"/>
              <a:gd name="T33" fmla="*/ 170 h 512"/>
              <a:gd name="T34" fmla="*/ 416 w 512"/>
              <a:gd name="T35" fmla="*/ 224 h 512"/>
              <a:gd name="T36" fmla="*/ 405 w 512"/>
              <a:gd name="T37" fmla="*/ 213 h 512"/>
              <a:gd name="T38" fmla="*/ 106 w 512"/>
              <a:gd name="T39" fmla="*/ 213 h 512"/>
              <a:gd name="T40" fmla="*/ 96 w 512"/>
              <a:gd name="T41" fmla="*/ 224 h 512"/>
              <a:gd name="T42" fmla="*/ 106 w 512"/>
              <a:gd name="T43" fmla="*/ 234 h 512"/>
              <a:gd name="T44" fmla="*/ 405 w 512"/>
              <a:gd name="T45" fmla="*/ 234 h 512"/>
              <a:gd name="T46" fmla="*/ 416 w 512"/>
              <a:gd name="T47" fmla="*/ 224 h 512"/>
              <a:gd name="T48" fmla="*/ 416 w 512"/>
              <a:gd name="T49" fmla="*/ 288 h 512"/>
              <a:gd name="T50" fmla="*/ 405 w 512"/>
              <a:gd name="T51" fmla="*/ 277 h 512"/>
              <a:gd name="T52" fmla="*/ 106 w 512"/>
              <a:gd name="T53" fmla="*/ 277 h 512"/>
              <a:gd name="T54" fmla="*/ 96 w 512"/>
              <a:gd name="T55" fmla="*/ 288 h 512"/>
              <a:gd name="T56" fmla="*/ 106 w 512"/>
              <a:gd name="T57" fmla="*/ 298 h 512"/>
              <a:gd name="T58" fmla="*/ 405 w 512"/>
              <a:gd name="T59" fmla="*/ 298 h 512"/>
              <a:gd name="T60" fmla="*/ 416 w 512"/>
              <a:gd name="T61" fmla="*/ 288 h 512"/>
              <a:gd name="T62" fmla="*/ 416 w 512"/>
              <a:gd name="T63" fmla="*/ 352 h 512"/>
              <a:gd name="T64" fmla="*/ 405 w 512"/>
              <a:gd name="T65" fmla="*/ 341 h 512"/>
              <a:gd name="T66" fmla="*/ 106 w 512"/>
              <a:gd name="T67" fmla="*/ 341 h 512"/>
              <a:gd name="T68" fmla="*/ 96 w 512"/>
              <a:gd name="T69" fmla="*/ 352 h 512"/>
              <a:gd name="T70" fmla="*/ 106 w 512"/>
              <a:gd name="T71" fmla="*/ 362 h 512"/>
              <a:gd name="T72" fmla="*/ 405 w 512"/>
              <a:gd name="T73" fmla="*/ 362 h 512"/>
              <a:gd name="T74" fmla="*/ 416 w 512"/>
              <a:gd name="T75" fmla="*/ 35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170"/>
                </a:moveTo>
                <a:cubicBezTo>
                  <a:pt x="106" y="170"/>
                  <a:pt x="106" y="170"/>
                  <a:pt x="106" y="170"/>
                </a:cubicBezTo>
                <a:cubicBezTo>
                  <a:pt x="100" y="170"/>
                  <a:pt x="96" y="166"/>
                  <a:pt x="96" y="160"/>
                </a:cubicBezTo>
                <a:cubicBezTo>
                  <a:pt x="96" y="154"/>
                  <a:pt x="100" y="149"/>
                  <a:pt x="106" y="149"/>
                </a:cubicBezTo>
                <a:cubicBezTo>
                  <a:pt x="405" y="149"/>
                  <a:pt x="405" y="149"/>
                  <a:pt x="405" y="149"/>
                </a:cubicBezTo>
                <a:cubicBezTo>
                  <a:pt x="411" y="149"/>
                  <a:pt x="416" y="154"/>
                  <a:pt x="416" y="160"/>
                </a:cubicBezTo>
                <a:cubicBezTo>
                  <a:pt x="416" y="166"/>
                  <a:pt x="411" y="170"/>
                  <a:pt x="405" y="170"/>
                </a:cubicBezTo>
                <a:close/>
                <a:moveTo>
                  <a:pt x="416" y="224"/>
                </a:moveTo>
                <a:cubicBezTo>
                  <a:pt x="416" y="218"/>
                  <a:pt x="411" y="213"/>
                  <a:pt x="405" y="213"/>
                </a:cubicBezTo>
                <a:cubicBezTo>
                  <a:pt x="106" y="213"/>
                  <a:pt x="106" y="213"/>
                  <a:pt x="106" y="213"/>
                </a:cubicBezTo>
                <a:cubicBezTo>
                  <a:pt x="100" y="213"/>
                  <a:pt x="96" y="218"/>
                  <a:pt x="96" y="224"/>
                </a:cubicBezTo>
                <a:cubicBezTo>
                  <a:pt x="96" y="230"/>
                  <a:pt x="100" y="234"/>
                  <a:pt x="106" y="234"/>
                </a:cubicBezTo>
                <a:cubicBezTo>
                  <a:pt x="405" y="234"/>
                  <a:pt x="405" y="234"/>
                  <a:pt x="405" y="234"/>
                </a:cubicBezTo>
                <a:cubicBezTo>
                  <a:pt x="411" y="234"/>
                  <a:pt x="416" y="230"/>
                  <a:pt x="416" y="224"/>
                </a:cubicBezTo>
                <a:close/>
                <a:moveTo>
                  <a:pt x="416" y="288"/>
                </a:moveTo>
                <a:cubicBezTo>
                  <a:pt x="416" y="282"/>
                  <a:pt x="411" y="277"/>
                  <a:pt x="405" y="277"/>
                </a:cubicBezTo>
                <a:cubicBezTo>
                  <a:pt x="106" y="277"/>
                  <a:pt x="106" y="277"/>
                  <a:pt x="106" y="277"/>
                </a:cubicBezTo>
                <a:cubicBezTo>
                  <a:pt x="100" y="277"/>
                  <a:pt x="96" y="282"/>
                  <a:pt x="96" y="288"/>
                </a:cubicBezTo>
                <a:cubicBezTo>
                  <a:pt x="96" y="294"/>
                  <a:pt x="100" y="298"/>
                  <a:pt x="106" y="298"/>
                </a:cubicBezTo>
                <a:cubicBezTo>
                  <a:pt x="405" y="298"/>
                  <a:pt x="405" y="298"/>
                  <a:pt x="405" y="298"/>
                </a:cubicBezTo>
                <a:cubicBezTo>
                  <a:pt x="411" y="298"/>
                  <a:pt x="416" y="294"/>
                  <a:pt x="416" y="288"/>
                </a:cubicBezTo>
                <a:close/>
                <a:moveTo>
                  <a:pt x="416" y="352"/>
                </a:moveTo>
                <a:cubicBezTo>
                  <a:pt x="416" y="346"/>
                  <a:pt x="411" y="341"/>
                  <a:pt x="405" y="341"/>
                </a:cubicBezTo>
                <a:cubicBezTo>
                  <a:pt x="106" y="341"/>
                  <a:pt x="106" y="341"/>
                  <a:pt x="106" y="341"/>
                </a:cubicBezTo>
                <a:cubicBezTo>
                  <a:pt x="100" y="341"/>
                  <a:pt x="96" y="346"/>
                  <a:pt x="96" y="352"/>
                </a:cubicBezTo>
                <a:cubicBezTo>
                  <a:pt x="96" y="358"/>
                  <a:pt x="100" y="362"/>
                  <a:pt x="106" y="362"/>
                </a:cubicBezTo>
                <a:cubicBezTo>
                  <a:pt x="405" y="362"/>
                  <a:pt x="405" y="362"/>
                  <a:pt x="405" y="362"/>
                </a:cubicBezTo>
                <a:cubicBezTo>
                  <a:pt x="411" y="362"/>
                  <a:pt x="416" y="358"/>
                  <a:pt x="416" y="35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latin typeface="+mj-lt"/>
              <a:ea typeface="华文细黑" panose="02010600040101010101" pitchFamily="2" charset="-122"/>
            </a:endParaRPr>
          </a:p>
        </p:txBody>
      </p:sp>
      <p:sp>
        <p:nvSpPr>
          <p:cNvPr id="55" name="Freeform 607">
            <a:extLst>
              <a:ext uri="{FF2B5EF4-FFF2-40B4-BE49-F238E27FC236}">
                <a16:creationId xmlns:a16="http://schemas.microsoft.com/office/drawing/2014/main" id="{C8991DF2-2984-41B0-AB7D-BCE3518E355D}"/>
              </a:ext>
            </a:extLst>
          </p:cNvPr>
          <p:cNvSpPr>
            <a:spLocks noChangeAspect="1" noEditPoints="1"/>
          </p:cNvSpPr>
          <p:nvPr/>
        </p:nvSpPr>
        <p:spPr bwMode="auto">
          <a:xfrm>
            <a:off x="3268608" y="2133561"/>
            <a:ext cx="466725" cy="466725"/>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 name="T20" fmla="*/ 405 w 512"/>
              <a:gd name="T21" fmla="*/ 170 h 512"/>
              <a:gd name="T22" fmla="*/ 106 w 512"/>
              <a:gd name="T23" fmla="*/ 170 h 512"/>
              <a:gd name="T24" fmla="*/ 96 w 512"/>
              <a:gd name="T25" fmla="*/ 160 h 512"/>
              <a:gd name="T26" fmla="*/ 106 w 512"/>
              <a:gd name="T27" fmla="*/ 149 h 512"/>
              <a:gd name="T28" fmla="*/ 405 w 512"/>
              <a:gd name="T29" fmla="*/ 149 h 512"/>
              <a:gd name="T30" fmla="*/ 416 w 512"/>
              <a:gd name="T31" fmla="*/ 160 h 512"/>
              <a:gd name="T32" fmla="*/ 405 w 512"/>
              <a:gd name="T33" fmla="*/ 170 h 512"/>
              <a:gd name="T34" fmla="*/ 416 w 512"/>
              <a:gd name="T35" fmla="*/ 224 h 512"/>
              <a:gd name="T36" fmla="*/ 405 w 512"/>
              <a:gd name="T37" fmla="*/ 213 h 512"/>
              <a:gd name="T38" fmla="*/ 106 w 512"/>
              <a:gd name="T39" fmla="*/ 213 h 512"/>
              <a:gd name="T40" fmla="*/ 96 w 512"/>
              <a:gd name="T41" fmla="*/ 224 h 512"/>
              <a:gd name="T42" fmla="*/ 106 w 512"/>
              <a:gd name="T43" fmla="*/ 234 h 512"/>
              <a:gd name="T44" fmla="*/ 405 w 512"/>
              <a:gd name="T45" fmla="*/ 234 h 512"/>
              <a:gd name="T46" fmla="*/ 416 w 512"/>
              <a:gd name="T47" fmla="*/ 224 h 512"/>
              <a:gd name="T48" fmla="*/ 416 w 512"/>
              <a:gd name="T49" fmla="*/ 288 h 512"/>
              <a:gd name="T50" fmla="*/ 405 w 512"/>
              <a:gd name="T51" fmla="*/ 277 h 512"/>
              <a:gd name="T52" fmla="*/ 106 w 512"/>
              <a:gd name="T53" fmla="*/ 277 h 512"/>
              <a:gd name="T54" fmla="*/ 96 w 512"/>
              <a:gd name="T55" fmla="*/ 288 h 512"/>
              <a:gd name="T56" fmla="*/ 106 w 512"/>
              <a:gd name="T57" fmla="*/ 298 h 512"/>
              <a:gd name="T58" fmla="*/ 405 w 512"/>
              <a:gd name="T59" fmla="*/ 298 h 512"/>
              <a:gd name="T60" fmla="*/ 416 w 512"/>
              <a:gd name="T61" fmla="*/ 288 h 512"/>
              <a:gd name="T62" fmla="*/ 416 w 512"/>
              <a:gd name="T63" fmla="*/ 352 h 512"/>
              <a:gd name="T64" fmla="*/ 405 w 512"/>
              <a:gd name="T65" fmla="*/ 341 h 512"/>
              <a:gd name="T66" fmla="*/ 106 w 512"/>
              <a:gd name="T67" fmla="*/ 341 h 512"/>
              <a:gd name="T68" fmla="*/ 96 w 512"/>
              <a:gd name="T69" fmla="*/ 352 h 512"/>
              <a:gd name="T70" fmla="*/ 106 w 512"/>
              <a:gd name="T71" fmla="*/ 362 h 512"/>
              <a:gd name="T72" fmla="*/ 405 w 512"/>
              <a:gd name="T73" fmla="*/ 362 h 512"/>
              <a:gd name="T74" fmla="*/ 416 w 512"/>
              <a:gd name="T75" fmla="*/ 35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170"/>
                </a:moveTo>
                <a:cubicBezTo>
                  <a:pt x="106" y="170"/>
                  <a:pt x="106" y="170"/>
                  <a:pt x="106" y="170"/>
                </a:cubicBezTo>
                <a:cubicBezTo>
                  <a:pt x="100" y="170"/>
                  <a:pt x="96" y="166"/>
                  <a:pt x="96" y="160"/>
                </a:cubicBezTo>
                <a:cubicBezTo>
                  <a:pt x="96" y="154"/>
                  <a:pt x="100" y="149"/>
                  <a:pt x="106" y="149"/>
                </a:cubicBezTo>
                <a:cubicBezTo>
                  <a:pt x="405" y="149"/>
                  <a:pt x="405" y="149"/>
                  <a:pt x="405" y="149"/>
                </a:cubicBezTo>
                <a:cubicBezTo>
                  <a:pt x="411" y="149"/>
                  <a:pt x="416" y="154"/>
                  <a:pt x="416" y="160"/>
                </a:cubicBezTo>
                <a:cubicBezTo>
                  <a:pt x="416" y="166"/>
                  <a:pt x="411" y="170"/>
                  <a:pt x="405" y="170"/>
                </a:cubicBezTo>
                <a:close/>
                <a:moveTo>
                  <a:pt x="416" y="224"/>
                </a:moveTo>
                <a:cubicBezTo>
                  <a:pt x="416" y="218"/>
                  <a:pt x="411" y="213"/>
                  <a:pt x="405" y="213"/>
                </a:cubicBezTo>
                <a:cubicBezTo>
                  <a:pt x="106" y="213"/>
                  <a:pt x="106" y="213"/>
                  <a:pt x="106" y="213"/>
                </a:cubicBezTo>
                <a:cubicBezTo>
                  <a:pt x="100" y="213"/>
                  <a:pt x="96" y="218"/>
                  <a:pt x="96" y="224"/>
                </a:cubicBezTo>
                <a:cubicBezTo>
                  <a:pt x="96" y="230"/>
                  <a:pt x="100" y="234"/>
                  <a:pt x="106" y="234"/>
                </a:cubicBezTo>
                <a:cubicBezTo>
                  <a:pt x="405" y="234"/>
                  <a:pt x="405" y="234"/>
                  <a:pt x="405" y="234"/>
                </a:cubicBezTo>
                <a:cubicBezTo>
                  <a:pt x="411" y="234"/>
                  <a:pt x="416" y="230"/>
                  <a:pt x="416" y="224"/>
                </a:cubicBezTo>
                <a:close/>
                <a:moveTo>
                  <a:pt x="416" y="288"/>
                </a:moveTo>
                <a:cubicBezTo>
                  <a:pt x="416" y="282"/>
                  <a:pt x="411" y="277"/>
                  <a:pt x="405" y="277"/>
                </a:cubicBezTo>
                <a:cubicBezTo>
                  <a:pt x="106" y="277"/>
                  <a:pt x="106" y="277"/>
                  <a:pt x="106" y="277"/>
                </a:cubicBezTo>
                <a:cubicBezTo>
                  <a:pt x="100" y="277"/>
                  <a:pt x="96" y="282"/>
                  <a:pt x="96" y="288"/>
                </a:cubicBezTo>
                <a:cubicBezTo>
                  <a:pt x="96" y="294"/>
                  <a:pt x="100" y="298"/>
                  <a:pt x="106" y="298"/>
                </a:cubicBezTo>
                <a:cubicBezTo>
                  <a:pt x="405" y="298"/>
                  <a:pt x="405" y="298"/>
                  <a:pt x="405" y="298"/>
                </a:cubicBezTo>
                <a:cubicBezTo>
                  <a:pt x="411" y="298"/>
                  <a:pt x="416" y="294"/>
                  <a:pt x="416" y="288"/>
                </a:cubicBezTo>
                <a:close/>
                <a:moveTo>
                  <a:pt x="416" y="352"/>
                </a:moveTo>
                <a:cubicBezTo>
                  <a:pt x="416" y="346"/>
                  <a:pt x="411" y="341"/>
                  <a:pt x="405" y="341"/>
                </a:cubicBezTo>
                <a:cubicBezTo>
                  <a:pt x="106" y="341"/>
                  <a:pt x="106" y="341"/>
                  <a:pt x="106" y="341"/>
                </a:cubicBezTo>
                <a:cubicBezTo>
                  <a:pt x="100" y="341"/>
                  <a:pt x="96" y="346"/>
                  <a:pt x="96" y="352"/>
                </a:cubicBezTo>
                <a:cubicBezTo>
                  <a:pt x="96" y="358"/>
                  <a:pt x="100" y="362"/>
                  <a:pt x="106" y="362"/>
                </a:cubicBezTo>
                <a:cubicBezTo>
                  <a:pt x="405" y="362"/>
                  <a:pt x="405" y="362"/>
                  <a:pt x="405" y="362"/>
                </a:cubicBezTo>
                <a:cubicBezTo>
                  <a:pt x="411" y="362"/>
                  <a:pt x="416" y="358"/>
                  <a:pt x="416" y="35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latin typeface="+mj-lt"/>
              <a:ea typeface="华文细黑" panose="02010600040101010101" pitchFamily="2" charset="-122"/>
            </a:endParaRPr>
          </a:p>
        </p:txBody>
      </p:sp>
    </p:spTree>
    <p:extLst>
      <p:ext uri="{BB962C8B-B14F-4D97-AF65-F5344CB8AC3E}">
        <p14:creationId xmlns:p14="http://schemas.microsoft.com/office/powerpoint/2010/main" val="265096254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9FE2A-EC0B-4EBB-91D9-CA37432B4834}"/>
              </a:ext>
            </a:extLst>
          </p:cNvPr>
          <p:cNvSpPr>
            <a:spLocks noGrp="1"/>
          </p:cNvSpPr>
          <p:nvPr>
            <p:ph type="title"/>
          </p:nvPr>
        </p:nvSpPr>
        <p:spPr/>
        <p:txBody>
          <a:bodyPr/>
          <a:lstStyle/>
          <a:p>
            <a:r>
              <a:rPr lang="en-US" sz="1600" dirty="0"/>
              <a:t>Our </a:t>
            </a:r>
            <a:r>
              <a:rPr lang="en-US" sz="1600" b="1" dirty="0"/>
              <a:t>Approach</a:t>
            </a:r>
            <a:r>
              <a:rPr lang="en-US" sz="1600" dirty="0"/>
              <a:t> &amp; Methodology </a:t>
            </a:r>
          </a:p>
        </p:txBody>
      </p:sp>
      <p:sp>
        <p:nvSpPr>
          <p:cNvPr id="3" name="Text Placeholder 2">
            <a:extLst>
              <a:ext uri="{FF2B5EF4-FFF2-40B4-BE49-F238E27FC236}">
                <a16:creationId xmlns:a16="http://schemas.microsoft.com/office/drawing/2014/main" id="{AF55AF75-6519-4763-AAFD-E9DBF8672EA9}"/>
              </a:ext>
            </a:extLst>
          </p:cNvPr>
          <p:cNvSpPr>
            <a:spLocks noGrp="1"/>
          </p:cNvSpPr>
          <p:nvPr>
            <p:ph type="body" sz="quarter" idx="13"/>
          </p:nvPr>
        </p:nvSpPr>
        <p:spPr/>
        <p:txBody>
          <a:bodyPr/>
          <a:lstStyle/>
          <a:p>
            <a:r>
              <a:rPr lang="en-US" sz="2000" dirty="0">
                <a:solidFill>
                  <a:schemeClr val="tx1">
                    <a:lumMod val="50000"/>
                    <a:lumOff val="50000"/>
                  </a:schemeClr>
                </a:solidFill>
              </a:rPr>
              <a:t>Module 6: Procurement and bid process management support</a:t>
            </a:r>
          </a:p>
        </p:txBody>
      </p:sp>
      <p:grpSp>
        <p:nvGrpSpPr>
          <p:cNvPr id="83" name="Group 82">
            <a:extLst>
              <a:ext uri="{FF2B5EF4-FFF2-40B4-BE49-F238E27FC236}">
                <a16:creationId xmlns:a16="http://schemas.microsoft.com/office/drawing/2014/main" id="{0731EB59-A845-48D3-B07F-6D6903529FF4}"/>
              </a:ext>
            </a:extLst>
          </p:cNvPr>
          <p:cNvGrpSpPr/>
          <p:nvPr/>
        </p:nvGrpSpPr>
        <p:grpSpPr>
          <a:xfrm>
            <a:off x="185195" y="4941393"/>
            <a:ext cx="11821610" cy="1265007"/>
            <a:chOff x="-7496347" y="4928456"/>
            <a:chExt cx="13772045" cy="1081169"/>
          </a:xfrm>
        </p:grpSpPr>
        <p:sp>
          <p:nvSpPr>
            <p:cNvPr id="84" name="Rectangle 83">
              <a:extLst>
                <a:ext uri="{FF2B5EF4-FFF2-40B4-BE49-F238E27FC236}">
                  <a16:creationId xmlns:a16="http://schemas.microsoft.com/office/drawing/2014/main" id="{4F592A62-3659-4818-B0E3-F9A98F06DA26}"/>
                </a:ext>
              </a:extLst>
            </p:cNvPr>
            <p:cNvSpPr/>
            <p:nvPr/>
          </p:nvSpPr>
          <p:spPr bwMode="gray">
            <a:xfrm>
              <a:off x="-7341100" y="5231867"/>
              <a:ext cx="1660575" cy="681709"/>
            </a:xfrm>
            <a:prstGeom prst="rect">
              <a:avLst/>
            </a:prstGeom>
            <a:solidFill>
              <a:schemeClr val="accent3"/>
            </a:solidFill>
            <a:ln w="19050" algn="ctr">
              <a:noFill/>
              <a:miter lim="800000"/>
              <a:headEnd/>
              <a:tailEnd/>
            </a:ln>
            <a:effectLst>
              <a:outerShdw blurRad="50800" dist="38100" dir="2700000" algn="tl" rotWithShape="0">
                <a:prstClr val="black">
                  <a:alpha val="40000"/>
                </a:prstClr>
              </a:outerShdw>
            </a:effectLst>
          </p:spPr>
          <p:txBody>
            <a:bodyPr wrap="square" lIns="88900" tIns="88900" rIns="88900" bIns="88900" rtlCol="0" anchor="ctr"/>
            <a:lstStyle/>
            <a:p>
              <a:pPr algn="ctr">
                <a:lnSpc>
                  <a:spcPct val="106000"/>
                </a:lnSpc>
                <a:buFont typeface="Wingdings 2" pitchFamily="18" charset="2"/>
                <a:buNone/>
              </a:pPr>
              <a:r>
                <a:rPr lang="en-US" sz="1400" noProof="0" dirty="0">
                  <a:solidFill>
                    <a:schemeClr val="bg1"/>
                  </a:solidFill>
                  <a:latin typeface="Calibri" panose="020F0502020204030204" pitchFamily="34" charset="0"/>
                  <a:cs typeface="Calibri" panose="020F0502020204030204" pitchFamily="34" charset="0"/>
                </a:rPr>
                <a:t>Requirement gathering and market sounding</a:t>
              </a:r>
            </a:p>
          </p:txBody>
        </p:sp>
        <p:sp>
          <p:nvSpPr>
            <p:cNvPr id="85" name="Rectangle 84">
              <a:extLst>
                <a:ext uri="{FF2B5EF4-FFF2-40B4-BE49-F238E27FC236}">
                  <a16:creationId xmlns:a16="http://schemas.microsoft.com/office/drawing/2014/main" id="{ECD09625-3649-4791-808B-A5C819E6CB37}"/>
                </a:ext>
              </a:extLst>
            </p:cNvPr>
            <p:cNvSpPr/>
            <p:nvPr/>
          </p:nvSpPr>
          <p:spPr bwMode="gray">
            <a:xfrm>
              <a:off x="-5247598" y="5231867"/>
              <a:ext cx="1454420" cy="681709"/>
            </a:xfrm>
            <a:prstGeom prst="rect">
              <a:avLst/>
            </a:prstGeom>
            <a:solidFill>
              <a:schemeClr val="accent3"/>
            </a:solidFill>
            <a:ln w="19050" algn="ctr">
              <a:noFill/>
              <a:miter lim="800000"/>
              <a:headEnd/>
              <a:tailEnd/>
            </a:ln>
            <a:effectLst>
              <a:outerShdw blurRad="50800" dist="38100" dir="2700000" algn="tl" rotWithShape="0">
                <a:prstClr val="black">
                  <a:alpha val="40000"/>
                </a:prstClr>
              </a:outerShdw>
            </a:effectLst>
          </p:spPr>
          <p:txBody>
            <a:bodyPr wrap="square" lIns="88900" tIns="88900" rIns="88900" bIns="88900" rtlCol="0" anchor="ctr"/>
            <a:lstStyle/>
            <a:p>
              <a:pPr algn="ctr">
                <a:lnSpc>
                  <a:spcPct val="106000"/>
                </a:lnSpc>
              </a:pPr>
              <a:r>
                <a:rPr lang="en-US" sz="1300" dirty="0">
                  <a:solidFill>
                    <a:schemeClr val="bg1"/>
                  </a:solidFill>
                  <a:latin typeface="Calibri" panose="020F0502020204030204" pitchFamily="34" charset="0"/>
                  <a:cs typeface="Calibri" panose="020F0502020204030204" pitchFamily="34" charset="0"/>
                </a:rPr>
                <a:t>Prepare pre-qualification  document</a:t>
              </a:r>
            </a:p>
          </p:txBody>
        </p:sp>
        <p:sp>
          <p:nvSpPr>
            <p:cNvPr id="86" name="Rectangle 85">
              <a:extLst>
                <a:ext uri="{FF2B5EF4-FFF2-40B4-BE49-F238E27FC236}">
                  <a16:creationId xmlns:a16="http://schemas.microsoft.com/office/drawing/2014/main" id="{0DF7AE68-D753-4981-9150-4E34C2BA2091}"/>
                </a:ext>
              </a:extLst>
            </p:cNvPr>
            <p:cNvSpPr/>
            <p:nvPr/>
          </p:nvSpPr>
          <p:spPr bwMode="gray">
            <a:xfrm>
              <a:off x="-3347966" y="5231867"/>
              <a:ext cx="1409483" cy="681709"/>
            </a:xfrm>
            <a:prstGeom prst="rect">
              <a:avLst/>
            </a:prstGeom>
            <a:solidFill>
              <a:schemeClr val="accent3"/>
            </a:solidFill>
            <a:ln w="19050" algn="ctr">
              <a:noFill/>
              <a:miter lim="800000"/>
              <a:headEnd/>
              <a:tailEnd/>
            </a:ln>
            <a:effectLst>
              <a:outerShdw blurRad="50800" dist="38100" dir="2700000" algn="tl" rotWithShape="0">
                <a:prstClr val="black">
                  <a:alpha val="40000"/>
                </a:prstClr>
              </a:outerShdw>
            </a:effectLst>
          </p:spPr>
          <p:txBody>
            <a:bodyPr wrap="square" lIns="88900" tIns="88900" rIns="88900" bIns="88900" rtlCol="0" anchor="ctr"/>
            <a:lstStyle/>
            <a:p>
              <a:pPr algn="ctr">
                <a:lnSpc>
                  <a:spcPct val="106000"/>
                </a:lnSpc>
              </a:pPr>
              <a:r>
                <a:rPr lang="en-US" sz="1300" dirty="0">
                  <a:solidFill>
                    <a:schemeClr val="bg1"/>
                  </a:solidFill>
                  <a:latin typeface="Calibri" panose="020F0502020204030204" pitchFamily="34" charset="0"/>
                  <a:cs typeface="Calibri" panose="020F0502020204030204" pitchFamily="34" charset="0"/>
                </a:rPr>
                <a:t>Prepare &amp; float final bid document</a:t>
              </a:r>
              <a:endParaRPr lang="en-US" sz="1300" noProof="0" dirty="0">
                <a:solidFill>
                  <a:schemeClr val="bg1"/>
                </a:solidFill>
                <a:latin typeface="Calibri" panose="020F0502020204030204" pitchFamily="34" charset="0"/>
                <a:cs typeface="Calibri" panose="020F0502020204030204" pitchFamily="34" charset="0"/>
              </a:endParaRPr>
            </a:p>
          </p:txBody>
        </p:sp>
        <p:sp>
          <p:nvSpPr>
            <p:cNvPr id="87" name="Rectangle 86">
              <a:extLst>
                <a:ext uri="{FF2B5EF4-FFF2-40B4-BE49-F238E27FC236}">
                  <a16:creationId xmlns:a16="http://schemas.microsoft.com/office/drawing/2014/main" id="{9FE663B8-12BA-42AA-90C9-30370196C48B}"/>
                </a:ext>
              </a:extLst>
            </p:cNvPr>
            <p:cNvSpPr/>
            <p:nvPr/>
          </p:nvSpPr>
          <p:spPr bwMode="gray">
            <a:xfrm>
              <a:off x="-1493272" y="5231867"/>
              <a:ext cx="1728230" cy="681709"/>
            </a:xfrm>
            <a:prstGeom prst="rect">
              <a:avLst/>
            </a:prstGeom>
            <a:solidFill>
              <a:schemeClr val="accent3"/>
            </a:solidFill>
            <a:ln w="19050" algn="ctr">
              <a:noFill/>
              <a:miter lim="800000"/>
              <a:headEnd/>
              <a:tailEnd/>
            </a:ln>
            <a:effectLst>
              <a:outerShdw blurRad="50800" dist="38100" dir="2700000" algn="tl" rotWithShape="0">
                <a:prstClr val="black">
                  <a:alpha val="40000"/>
                </a:prstClr>
              </a:outerShdw>
            </a:effectLst>
          </p:spPr>
          <p:txBody>
            <a:bodyPr wrap="square" lIns="88900" tIns="88900" rIns="88900" bIns="88900" rtlCol="0" anchor="ctr"/>
            <a:lstStyle/>
            <a:p>
              <a:pPr algn="ctr">
                <a:lnSpc>
                  <a:spcPct val="106000"/>
                </a:lnSpc>
                <a:buFont typeface="Wingdings 2" pitchFamily="18" charset="2"/>
                <a:buNone/>
              </a:pPr>
              <a:r>
                <a:rPr lang="en-US" sz="1300" noProof="0" dirty="0">
                  <a:solidFill>
                    <a:schemeClr val="bg1"/>
                  </a:solidFill>
                  <a:latin typeface="Calibri" panose="020F0502020204030204" pitchFamily="34" charset="0"/>
                  <a:cs typeface="Calibri" panose="020F0502020204030204" pitchFamily="34" charset="0"/>
                </a:rPr>
                <a:t>Conduct pre-bid meeting and make necessary changes</a:t>
              </a:r>
            </a:p>
          </p:txBody>
        </p:sp>
        <p:sp>
          <p:nvSpPr>
            <p:cNvPr id="88" name="Rectangle 87">
              <a:extLst>
                <a:ext uri="{FF2B5EF4-FFF2-40B4-BE49-F238E27FC236}">
                  <a16:creationId xmlns:a16="http://schemas.microsoft.com/office/drawing/2014/main" id="{F427767B-B6BB-4D85-B35D-AE3F7B0EC32B}"/>
                </a:ext>
              </a:extLst>
            </p:cNvPr>
            <p:cNvSpPr/>
            <p:nvPr/>
          </p:nvSpPr>
          <p:spPr bwMode="gray">
            <a:xfrm>
              <a:off x="680169" y="5234448"/>
              <a:ext cx="1214759" cy="681709"/>
            </a:xfrm>
            <a:prstGeom prst="rect">
              <a:avLst/>
            </a:prstGeom>
            <a:solidFill>
              <a:schemeClr val="accent3"/>
            </a:solidFill>
            <a:ln w="19050" algn="ctr">
              <a:noFill/>
              <a:miter lim="800000"/>
              <a:headEnd/>
              <a:tailEnd/>
            </a:ln>
            <a:effectLst>
              <a:outerShdw blurRad="50800" dist="38100" dir="2700000" algn="tl" rotWithShape="0">
                <a:prstClr val="black">
                  <a:alpha val="40000"/>
                </a:prstClr>
              </a:outerShdw>
            </a:effectLst>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lnSpc>
                  <a:spcPct val="106000"/>
                </a:lnSpc>
              </a:pPr>
              <a:r>
                <a:rPr lang="en-US" sz="1300" dirty="0">
                  <a:solidFill>
                    <a:schemeClr val="bg1"/>
                  </a:solidFill>
                  <a:latin typeface="Calibri" panose="020F0502020204030204" pitchFamily="34" charset="0"/>
                  <a:cs typeface="Calibri" panose="020F0502020204030204" pitchFamily="34" charset="0"/>
                </a:rPr>
                <a:t>Bid Evaluation</a:t>
              </a:r>
            </a:p>
          </p:txBody>
        </p:sp>
        <p:sp>
          <p:nvSpPr>
            <p:cNvPr id="89" name="Rectangle 88">
              <a:extLst>
                <a:ext uri="{FF2B5EF4-FFF2-40B4-BE49-F238E27FC236}">
                  <a16:creationId xmlns:a16="http://schemas.microsoft.com/office/drawing/2014/main" id="{62647272-569A-4C02-9429-0D9FFB7B7964}"/>
                </a:ext>
              </a:extLst>
            </p:cNvPr>
            <p:cNvSpPr/>
            <p:nvPr/>
          </p:nvSpPr>
          <p:spPr bwMode="gray">
            <a:xfrm>
              <a:off x="2356898" y="5231867"/>
              <a:ext cx="1660575" cy="681709"/>
            </a:xfrm>
            <a:prstGeom prst="rect">
              <a:avLst/>
            </a:prstGeom>
            <a:solidFill>
              <a:schemeClr val="accent3"/>
            </a:solidFill>
            <a:ln w="19050" algn="ctr">
              <a:noFill/>
              <a:miter lim="800000"/>
              <a:headEnd/>
              <a:tailEnd/>
            </a:ln>
            <a:effectLst>
              <a:outerShdw blurRad="50800" dist="38100" dir="2700000" algn="tl" rotWithShape="0">
                <a:prstClr val="black">
                  <a:alpha val="40000"/>
                </a:prstClr>
              </a:outerShdw>
            </a:effectLst>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lnSpc>
                  <a:spcPct val="106000"/>
                </a:lnSpc>
              </a:pPr>
              <a:r>
                <a:rPr lang="en-US" sz="1300" dirty="0">
                  <a:solidFill>
                    <a:schemeClr val="bg1"/>
                  </a:solidFill>
                  <a:latin typeface="Calibri" panose="020F0502020204030204" pitchFamily="34" charset="0"/>
                  <a:cs typeface="Calibri" panose="020F0502020204030204" pitchFamily="34" charset="0"/>
                </a:rPr>
                <a:t>Selection of bidders &amp; contracting</a:t>
              </a:r>
            </a:p>
          </p:txBody>
        </p:sp>
        <p:sp>
          <p:nvSpPr>
            <p:cNvPr id="90" name="Rectangle 89">
              <a:extLst>
                <a:ext uri="{FF2B5EF4-FFF2-40B4-BE49-F238E27FC236}">
                  <a16:creationId xmlns:a16="http://schemas.microsoft.com/office/drawing/2014/main" id="{39D3A365-4E32-4B8A-9773-DAF2F5703568}"/>
                </a:ext>
              </a:extLst>
            </p:cNvPr>
            <p:cNvSpPr/>
            <p:nvPr/>
          </p:nvSpPr>
          <p:spPr bwMode="gray">
            <a:xfrm>
              <a:off x="4483187" y="5231867"/>
              <a:ext cx="1754846" cy="681709"/>
            </a:xfrm>
            <a:prstGeom prst="rect">
              <a:avLst/>
            </a:prstGeom>
            <a:solidFill>
              <a:schemeClr val="accent3"/>
            </a:solidFill>
            <a:ln w="19050" algn="ctr">
              <a:noFill/>
              <a:miter lim="800000"/>
              <a:headEnd/>
              <a:tailEnd/>
            </a:ln>
            <a:effectLst>
              <a:outerShdw blurRad="50800" dist="38100" dir="2700000" algn="tl" rotWithShape="0">
                <a:prstClr val="black">
                  <a:alpha val="40000"/>
                </a:prstClr>
              </a:outerShdw>
            </a:effectLst>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lnSpc>
                  <a:spcPct val="106000"/>
                </a:lnSpc>
              </a:pPr>
              <a:r>
                <a:rPr lang="en-US" sz="1300" dirty="0">
                  <a:solidFill>
                    <a:schemeClr val="bg1"/>
                  </a:solidFill>
                  <a:latin typeface="Calibri" panose="020F0502020204030204" pitchFamily="34" charset="0"/>
                  <a:cs typeface="Calibri" panose="020F0502020204030204" pitchFamily="34" charset="0"/>
                </a:rPr>
                <a:t>Vendor onboarding &amp; Work commencement</a:t>
              </a:r>
            </a:p>
          </p:txBody>
        </p:sp>
        <p:cxnSp>
          <p:nvCxnSpPr>
            <p:cNvPr id="92" name="Straight Arrow Connector 91">
              <a:extLst>
                <a:ext uri="{FF2B5EF4-FFF2-40B4-BE49-F238E27FC236}">
                  <a16:creationId xmlns:a16="http://schemas.microsoft.com/office/drawing/2014/main" id="{55C545D9-629F-4ABE-B2D1-50541FA101AA}"/>
                </a:ext>
              </a:extLst>
            </p:cNvPr>
            <p:cNvCxnSpPr>
              <a:cxnSpLocks/>
              <a:stCxn id="84" idx="3"/>
              <a:endCxn id="85" idx="1"/>
            </p:cNvCxnSpPr>
            <p:nvPr/>
          </p:nvCxnSpPr>
          <p:spPr>
            <a:xfrm>
              <a:off x="-5680525" y="5572721"/>
              <a:ext cx="432927" cy="0"/>
            </a:xfrm>
            <a:prstGeom prst="straightConnector1">
              <a:avLst/>
            </a:prstGeom>
            <a:ln>
              <a:solidFill>
                <a:srgbClr val="44546A"/>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E06DF146-DDA2-4200-A670-DD0F29D88974}"/>
                </a:ext>
              </a:extLst>
            </p:cNvPr>
            <p:cNvCxnSpPr>
              <a:cxnSpLocks/>
              <a:stCxn id="86" idx="3"/>
              <a:endCxn id="87" idx="1"/>
            </p:cNvCxnSpPr>
            <p:nvPr/>
          </p:nvCxnSpPr>
          <p:spPr>
            <a:xfrm>
              <a:off x="-1938484" y="5572721"/>
              <a:ext cx="445211" cy="0"/>
            </a:xfrm>
            <a:prstGeom prst="straightConnector1">
              <a:avLst/>
            </a:prstGeom>
            <a:ln>
              <a:solidFill>
                <a:srgbClr val="44546A"/>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01C34344-DF6F-4A7B-8847-6FAA1F76EB5C}"/>
                </a:ext>
              </a:extLst>
            </p:cNvPr>
            <p:cNvCxnSpPr>
              <a:cxnSpLocks/>
              <a:stCxn id="87" idx="3"/>
              <a:endCxn id="88" idx="1"/>
            </p:cNvCxnSpPr>
            <p:nvPr/>
          </p:nvCxnSpPr>
          <p:spPr>
            <a:xfrm>
              <a:off x="234958" y="5572721"/>
              <a:ext cx="445211" cy="2581"/>
            </a:xfrm>
            <a:prstGeom prst="straightConnector1">
              <a:avLst/>
            </a:prstGeom>
            <a:ln>
              <a:solidFill>
                <a:srgbClr val="44546A"/>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C068340E-58D7-477E-B035-0CC1D0DD8445}"/>
                </a:ext>
              </a:extLst>
            </p:cNvPr>
            <p:cNvCxnSpPr>
              <a:cxnSpLocks/>
              <a:stCxn id="88" idx="3"/>
              <a:endCxn id="89" idx="1"/>
            </p:cNvCxnSpPr>
            <p:nvPr/>
          </p:nvCxnSpPr>
          <p:spPr>
            <a:xfrm flipV="1">
              <a:off x="1894928" y="5572721"/>
              <a:ext cx="461970" cy="2581"/>
            </a:xfrm>
            <a:prstGeom prst="straightConnector1">
              <a:avLst/>
            </a:prstGeom>
            <a:ln>
              <a:solidFill>
                <a:srgbClr val="44546A"/>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BA17F56C-EA0A-4A4C-9EE2-49ADFBD330BE}"/>
                </a:ext>
              </a:extLst>
            </p:cNvPr>
            <p:cNvCxnSpPr>
              <a:cxnSpLocks/>
              <a:stCxn id="89" idx="3"/>
              <a:endCxn id="90" idx="1"/>
            </p:cNvCxnSpPr>
            <p:nvPr/>
          </p:nvCxnSpPr>
          <p:spPr>
            <a:xfrm>
              <a:off x="4017473" y="5572721"/>
              <a:ext cx="465714" cy="0"/>
            </a:xfrm>
            <a:prstGeom prst="straightConnector1">
              <a:avLst/>
            </a:prstGeom>
            <a:ln>
              <a:solidFill>
                <a:srgbClr val="44546A"/>
              </a:solidFill>
              <a:tailEnd type="triangle"/>
            </a:ln>
          </p:spPr>
          <p:style>
            <a:lnRef idx="1">
              <a:schemeClr val="accent1"/>
            </a:lnRef>
            <a:fillRef idx="0">
              <a:schemeClr val="accent1"/>
            </a:fillRef>
            <a:effectRef idx="0">
              <a:schemeClr val="accent1"/>
            </a:effectRef>
            <a:fontRef idx="minor">
              <a:schemeClr val="tx1"/>
            </a:fontRef>
          </p:style>
        </p:cxnSp>
        <p:sp>
          <p:nvSpPr>
            <p:cNvPr id="99" name="Rectangle 98">
              <a:extLst>
                <a:ext uri="{FF2B5EF4-FFF2-40B4-BE49-F238E27FC236}">
                  <a16:creationId xmlns:a16="http://schemas.microsoft.com/office/drawing/2014/main" id="{68A9A254-71F6-42BC-A0B2-E9695D2F179E}"/>
                </a:ext>
              </a:extLst>
            </p:cNvPr>
            <p:cNvSpPr/>
            <p:nvPr/>
          </p:nvSpPr>
          <p:spPr bwMode="gray">
            <a:xfrm>
              <a:off x="-7496347" y="4928456"/>
              <a:ext cx="13772045" cy="1081169"/>
            </a:xfrm>
            <a:prstGeom prst="rect">
              <a:avLst/>
            </a:prstGeom>
            <a:noFill/>
            <a:ln w="12700" algn="ctr">
              <a:solidFill>
                <a:schemeClr val="accent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noProof="0" dirty="0" err="1">
                <a:solidFill>
                  <a:schemeClr val="bg1"/>
                </a:solidFill>
              </a:endParaRPr>
            </a:p>
          </p:txBody>
        </p:sp>
      </p:grpSp>
      <p:sp>
        <p:nvSpPr>
          <p:cNvPr id="109" name="TextBox 108">
            <a:extLst>
              <a:ext uri="{FF2B5EF4-FFF2-40B4-BE49-F238E27FC236}">
                <a16:creationId xmlns:a16="http://schemas.microsoft.com/office/drawing/2014/main" id="{56477A82-7A69-4B0E-B345-B09FF5609F50}"/>
              </a:ext>
            </a:extLst>
          </p:cNvPr>
          <p:cNvSpPr txBox="1"/>
          <p:nvPr/>
        </p:nvSpPr>
        <p:spPr>
          <a:xfrm>
            <a:off x="4317106" y="4941393"/>
            <a:ext cx="3718853" cy="246221"/>
          </a:xfrm>
          <a:prstGeom prst="rect">
            <a:avLst/>
          </a:prstGeom>
          <a:solidFill>
            <a:schemeClr val="bg1"/>
          </a:solidFill>
        </p:spPr>
        <p:txBody>
          <a:bodyPr wrap="square" lIns="91440" tIns="0" rIns="91440" bIns="0" rtlCol="0">
            <a:spAutoFit/>
          </a:bodyPr>
          <a:lstStyle/>
          <a:p>
            <a:pPr>
              <a:spcBef>
                <a:spcPts val="600"/>
              </a:spcBef>
              <a:buSzPct val="100000"/>
            </a:pPr>
            <a:r>
              <a:rPr lang="en-US" sz="1600" b="1" dirty="0">
                <a:solidFill>
                  <a:schemeClr val="tx2"/>
                </a:solidFill>
              </a:rPr>
              <a:t>Support during Bid Process Management</a:t>
            </a:r>
          </a:p>
        </p:txBody>
      </p:sp>
      <p:cxnSp>
        <p:nvCxnSpPr>
          <p:cNvPr id="19" name="Straight Arrow Connector 18">
            <a:extLst>
              <a:ext uri="{FF2B5EF4-FFF2-40B4-BE49-F238E27FC236}">
                <a16:creationId xmlns:a16="http://schemas.microsoft.com/office/drawing/2014/main" id="{622827DB-54F4-4D72-BEC6-2C2A21386792}"/>
              </a:ext>
            </a:extLst>
          </p:cNvPr>
          <p:cNvCxnSpPr>
            <a:cxnSpLocks/>
          </p:cNvCxnSpPr>
          <p:nvPr/>
        </p:nvCxnSpPr>
        <p:spPr>
          <a:xfrm>
            <a:off x="3363911" y="5739761"/>
            <a:ext cx="366036" cy="0"/>
          </a:xfrm>
          <a:prstGeom prst="straightConnector1">
            <a:avLst/>
          </a:prstGeom>
          <a:ln>
            <a:solidFill>
              <a:srgbClr val="44546A"/>
            </a:solidFill>
            <a:tailEnd type="triangle"/>
          </a:ln>
        </p:spPr>
        <p:style>
          <a:lnRef idx="1">
            <a:schemeClr val="accent1"/>
          </a:lnRef>
          <a:fillRef idx="0">
            <a:schemeClr val="accent1"/>
          </a:fillRef>
          <a:effectRef idx="0">
            <a:schemeClr val="accent1"/>
          </a:effectRef>
          <a:fontRef idx="minor">
            <a:schemeClr val="tx1"/>
          </a:fontRef>
        </p:style>
      </p:cxnSp>
      <p:sp>
        <p:nvSpPr>
          <p:cNvPr id="57" name="Text Placeholder 1">
            <a:extLst>
              <a:ext uri="{FF2B5EF4-FFF2-40B4-BE49-F238E27FC236}">
                <a16:creationId xmlns:a16="http://schemas.microsoft.com/office/drawing/2014/main" id="{9DFAF48A-A6DD-4CC3-A24A-79E0CD1E26F9}"/>
              </a:ext>
            </a:extLst>
          </p:cNvPr>
          <p:cNvSpPr txBox="1">
            <a:spLocks/>
          </p:cNvSpPr>
          <p:nvPr/>
        </p:nvSpPr>
        <p:spPr>
          <a:xfrm>
            <a:off x="397860" y="1694273"/>
            <a:ext cx="11396279" cy="769560"/>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285750" indent="-285750">
              <a:buFont typeface="Arial" panose="020B0604020202020204" pitchFamily="34" charset="0"/>
              <a:buChar char="•"/>
            </a:pPr>
            <a:r>
              <a:rPr lang="en-US" sz="1600" dirty="0">
                <a:solidFill>
                  <a:schemeClr val="tx1"/>
                </a:solidFill>
                <a:latin typeface="+mj-lt"/>
              </a:rPr>
              <a:t>Increased role as </a:t>
            </a:r>
            <a:r>
              <a:rPr lang="en-US" sz="1600" b="1" dirty="0">
                <a:solidFill>
                  <a:schemeClr val="tx1"/>
                </a:solidFill>
                <a:latin typeface="+mj-lt"/>
              </a:rPr>
              <a:t>Nodal Agency </a:t>
            </a:r>
            <a:r>
              <a:rPr lang="en-US" sz="1600" dirty="0">
                <a:solidFill>
                  <a:schemeClr val="tx1"/>
                </a:solidFill>
                <a:latin typeface="+mj-lt"/>
              </a:rPr>
              <a:t>in programs such as </a:t>
            </a:r>
            <a:r>
              <a:rPr lang="en-US" sz="1600" b="1" dirty="0">
                <a:solidFill>
                  <a:schemeClr val="tx1"/>
                </a:solidFill>
                <a:latin typeface="+mj-lt"/>
              </a:rPr>
              <a:t>National Feeder Monitoring System, Revamped Distribution Sector Scheme, Standardized back-end IT applications, VOICE (Voice of Indian Consumers of Electricity) Initiative etc. </a:t>
            </a:r>
            <a:r>
              <a:rPr lang="en-US" sz="1600" dirty="0">
                <a:solidFill>
                  <a:schemeClr val="tx1"/>
                </a:solidFill>
                <a:latin typeface="+mj-lt"/>
              </a:rPr>
              <a:t>would require differentiated and agile procurement process and workflows, including </a:t>
            </a:r>
            <a:r>
              <a:rPr lang="en-US" sz="1600" dirty="0">
                <a:solidFill>
                  <a:schemeClr val="tx1"/>
                </a:solidFill>
              </a:rPr>
              <a:t>creation of:</a:t>
            </a:r>
            <a:endParaRPr lang="en-US" sz="1600" dirty="0">
              <a:solidFill>
                <a:schemeClr val="tx1"/>
              </a:solidFill>
              <a:latin typeface="+mj-lt"/>
            </a:endParaRPr>
          </a:p>
          <a:p>
            <a:pPr marL="590550" lvl="2" indent="-285750">
              <a:buFont typeface="Courier New" panose="02070309020205020404" pitchFamily="49" charset="0"/>
              <a:buChar char="­"/>
            </a:pPr>
            <a:r>
              <a:rPr lang="en-US" sz="1600" b="0" dirty="0"/>
              <a:t>Policies &amp; Procedures (compliant with REC Procurement Guidelines, CVC guidelines, Delegation of Power, etc.)</a:t>
            </a:r>
          </a:p>
          <a:p>
            <a:pPr marL="590550" lvl="2" indent="-285750">
              <a:buFont typeface="Courier New" panose="02070309020205020404" pitchFamily="49" charset="0"/>
              <a:buChar char="­"/>
            </a:pPr>
            <a:r>
              <a:rPr lang="en-US" sz="1600" b="0" dirty="0"/>
              <a:t>Vendor empanelment process</a:t>
            </a:r>
          </a:p>
          <a:p>
            <a:pPr marL="590550" lvl="2" indent="-285750">
              <a:buFont typeface="Courier New" panose="02070309020205020404" pitchFamily="49" charset="0"/>
              <a:buChar char="­"/>
            </a:pPr>
            <a:r>
              <a:rPr lang="en-US" sz="1600" b="0" dirty="0"/>
              <a:t>Standard Bidding Documents, where necessary</a:t>
            </a:r>
          </a:p>
          <a:p>
            <a:pPr marL="590550" lvl="2" indent="-285750">
              <a:buFont typeface="Courier New" panose="02070309020205020404" pitchFamily="49" charset="0"/>
              <a:buChar char="­"/>
            </a:pPr>
            <a:r>
              <a:rPr lang="en-US" sz="1600" b="0" dirty="0"/>
              <a:t>Technology platform (incl. data analytics)</a:t>
            </a:r>
          </a:p>
          <a:p>
            <a:pPr marL="285750" indent="-285750">
              <a:buFont typeface="Arial" panose="020B0604020202020204" pitchFamily="34" charset="0"/>
              <a:buChar char="•"/>
            </a:pPr>
            <a:r>
              <a:rPr lang="en-US" sz="1600" dirty="0">
                <a:solidFill>
                  <a:schemeClr val="tx1"/>
                </a:solidFill>
                <a:latin typeface="+mj-lt"/>
              </a:rPr>
              <a:t>Benchmarking best practices (domestic and international)</a:t>
            </a:r>
          </a:p>
          <a:p>
            <a:pPr marL="285750" indent="-285750">
              <a:buFont typeface="Arial" panose="020B0604020202020204" pitchFamily="34" charset="0"/>
              <a:buChar char="•"/>
            </a:pPr>
            <a:r>
              <a:rPr lang="en-US" sz="1600" dirty="0">
                <a:solidFill>
                  <a:schemeClr val="tx1"/>
                </a:solidFill>
                <a:latin typeface="+mj-lt"/>
              </a:rPr>
              <a:t>Recommendation on To-Be Stage</a:t>
            </a:r>
          </a:p>
        </p:txBody>
      </p:sp>
    </p:spTree>
    <p:extLst>
      <p:ext uri="{BB962C8B-B14F-4D97-AF65-F5344CB8AC3E}">
        <p14:creationId xmlns:p14="http://schemas.microsoft.com/office/powerpoint/2010/main" val="332540534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4B4BC78-A4AC-4A15-A9A9-F28898A66AE5}"/>
              </a:ext>
            </a:extLst>
          </p:cNvPr>
          <p:cNvSpPr/>
          <p:nvPr/>
        </p:nvSpPr>
        <p:spPr bwMode="gray">
          <a:xfrm>
            <a:off x="4801911" y="5298079"/>
            <a:ext cx="2350004" cy="1247373"/>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b" anchorCtr="0" forceAA="0" compatLnSpc="1">
            <a:prstTxWarp prst="textNoShape">
              <a:avLst/>
            </a:prstTxWarp>
            <a:noAutofit/>
          </a:bodyPr>
          <a:lstStyle/>
          <a:p>
            <a:r>
              <a:rPr lang="en-US" sz="1300" dirty="0">
                <a:latin typeface="Calibri" panose="020F0502020204030204" pitchFamily="34" charset="0"/>
                <a:cs typeface="Calibri" panose="020F0502020204030204" pitchFamily="34" charset="0"/>
              </a:rPr>
              <a:t>Develop a report on global best practices in the power sector pertaining to financing, schemes for sector reforms, etc.</a:t>
            </a:r>
          </a:p>
        </p:txBody>
      </p:sp>
      <p:sp>
        <p:nvSpPr>
          <p:cNvPr id="16" name="Rectangle 15">
            <a:extLst>
              <a:ext uri="{FF2B5EF4-FFF2-40B4-BE49-F238E27FC236}">
                <a16:creationId xmlns:a16="http://schemas.microsoft.com/office/drawing/2014/main" id="{09CDC8DC-C093-471B-9068-93E689F6D760}"/>
              </a:ext>
            </a:extLst>
          </p:cNvPr>
          <p:cNvSpPr/>
          <p:nvPr/>
        </p:nvSpPr>
        <p:spPr bwMode="gray">
          <a:xfrm>
            <a:off x="7830257" y="3084766"/>
            <a:ext cx="2472313" cy="1689008"/>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endParaRPr lang="en-US" sz="1300" dirty="0">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F9FD95D8-643C-4B30-B59D-F7F18ECB2271}"/>
              </a:ext>
            </a:extLst>
          </p:cNvPr>
          <p:cNvSpPr/>
          <p:nvPr/>
        </p:nvSpPr>
        <p:spPr bwMode="gray">
          <a:xfrm>
            <a:off x="1305802" y="3084767"/>
            <a:ext cx="2473744" cy="1689007"/>
          </a:xfrm>
          <a:prstGeom prst="rect">
            <a:avLst/>
          </a:prstGeom>
          <a:solidFill>
            <a:schemeClr val="bg1">
              <a:lumMod val="95000"/>
            </a:schemeClr>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r>
              <a:rPr lang="en-US" sz="1300" dirty="0">
                <a:latin typeface="Calibri" panose="020F0502020204030204" pitchFamily="34" charset="0"/>
                <a:cs typeface="Calibri" panose="020F0502020204030204" pitchFamily="34" charset="0"/>
              </a:rPr>
              <a:t>Assist in facilitating capability building workshops/trainings for various stakeholders linked to policy making, project management, etc. in the power sector</a:t>
            </a:r>
          </a:p>
        </p:txBody>
      </p:sp>
      <p:sp>
        <p:nvSpPr>
          <p:cNvPr id="14" name="Rectangle 13">
            <a:extLst>
              <a:ext uri="{FF2B5EF4-FFF2-40B4-BE49-F238E27FC236}">
                <a16:creationId xmlns:a16="http://schemas.microsoft.com/office/drawing/2014/main" id="{BE5771C9-8115-48A0-8337-839260DB4AD7}"/>
              </a:ext>
            </a:extLst>
          </p:cNvPr>
          <p:cNvSpPr/>
          <p:nvPr/>
        </p:nvSpPr>
        <p:spPr bwMode="gray">
          <a:xfrm>
            <a:off x="4801910" y="1327024"/>
            <a:ext cx="2350004" cy="1233438"/>
          </a:xfrm>
          <a:prstGeom prst="rect">
            <a:avLst/>
          </a:prstGeom>
          <a:solidFill>
            <a:schemeClr val="bg1">
              <a:lumMod val="95000"/>
            </a:schemeClr>
          </a:solidFill>
          <a:ln w="19050" algn="ctr">
            <a:noFill/>
            <a:miter lim="800000"/>
            <a:headEnd/>
            <a:tailEnd/>
          </a:ln>
        </p:spPr>
        <p:txBody>
          <a:bodyPr wrap="square" lIns="88900" tIns="88900" rIns="88900" bIns="88900" rtlCol="0" anchor="t"/>
          <a:lstStyle/>
          <a:p>
            <a:pPr lvl="0"/>
            <a:r>
              <a:rPr lang="en-US" sz="1400" dirty="0">
                <a:latin typeface="Calibri" panose="020F0502020204030204" pitchFamily="34" charset="0"/>
                <a:cs typeface="Calibri" panose="020F0502020204030204" pitchFamily="34" charset="0"/>
              </a:rPr>
              <a:t>Assist in analysis and presentation on need basis to various stakeholders (MoP, Borrowers, lenders etc.)</a:t>
            </a:r>
          </a:p>
        </p:txBody>
      </p:sp>
      <p:sp>
        <p:nvSpPr>
          <p:cNvPr id="13" name="Oval 12">
            <a:extLst>
              <a:ext uri="{FF2B5EF4-FFF2-40B4-BE49-F238E27FC236}">
                <a16:creationId xmlns:a16="http://schemas.microsoft.com/office/drawing/2014/main" id="{39F962C7-F0C5-4A19-B866-FAD416027BD5}"/>
              </a:ext>
            </a:extLst>
          </p:cNvPr>
          <p:cNvSpPr/>
          <p:nvPr/>
        </p:nvSpPr>
        <p:spPr bwMode="gray">
          <a:xfrm>
            <a:off x="4452258" y="2594656"/>
            <a:ext cx="3026230" cy="2669229"/>
          </a:xfrm>
          <a:prstGeom prst="ellipse">
            <a:avLst/>
          </a:prstGeom>
          <a:noFill/>
          <a:ln w="19050" algn="ctr">
            <a:solidFill>
              <a:schemeClr val="accent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2" name="Title 1">
            <a:extLst>
              <a:ext uri="{FF2B5EF4-FFF2-40B4-BE49-F238E27FC236}">
                <a16:creationId xmlns:a16="http://schemas.microsoft.com/office/drawing/2014/main" id="{5259FE2A-EC0B-4EBB-91D9-CA37432B4834}"/>
              </a:ext>
            </a:extLst>
          </p:cNvPr>
          <p:cNvSpPr>
            <a:spLocks noGrp="1"/>
          </p:cNvSpPr>
          <p:nvPr>
            <p:ph type="title"/>
          </p:nvPr>
        </p:nvSpPr>
        <p:spPr/>
        <p:txBody>
          <a:bodyPr/>
          <a:lstStyle/>
          <a:p>
            <a:r>
              <a:rPr lang="en-US" sz="1600" dirty="0"/>
              <a:t>Our </a:t>
            </a:r>
            <a:r>
              <a:rPr lang="en-US" sz="1600" b="1" dirty="0"/>
              <a:t>Approach</a:t>
            </a:r>
            <a:r>
              <a:rPr lang="en-US" sz="1600" dirty="0"/>
              <a:t> &amp; Methodology </a:t>
            </a:r>
          </a:p>
        </p:txBody>
      </p:sp>
      <p:sp>
        <p:nvSpPr>
          <p:cNvPr id="3" name="Text Placeholder 2">
            <a:extLst>
              <a:ext uri="{FF2B5EF4-FFF2-40B4-BE49-F238E27FC236}">
                <a16:creationId xmlns:a16="http://schemas.microsoft.com/office/drawing/2014/main" id="{AF55AF75-6519-4763-AAFD-E9DBF8672EA9}"/>
              </a:ext>
            </a:extLst>
          </p:cNvPr>
          <p:cNvSpPr>
            <a:spLocks noGrp="1"/>
          </p:cNvSpPr>
          <p:nvPr>
            <p:ph type="body" sz="quarter" idx="13"/>
          </p:nvPr>
        </p:nvSpPr>
        <p:spPr/>
        <p:txBody>
          <a:bodyPr/>
          <a:lstStyle/>
          <a:p>
            <a:r>
              <a:rPr lang="en-US" sz="2000" dirty="0">
                <a:solidFill>
                  <a:schemeClr val="tx1">
                    <a:lumMod val="50000"/>
                    <a:lumOff val="50000"/>
                  </a:schemeClr>
                </a:solidFill>
              </a:rPr>
              <a:t>Module 7: Support in other areas</a:t>
            </a:r>
          </a:p>
        </p:txBody>
      </p:sp>
      <p:sp>
        <p:nvSpPr>
          <p:cNvPr id="4" name="Rectangle 3">
            <a:extLst>
              <a:ext uri="{FF2B5EF4-FFF2-40B4-BE49-F238E27FC236}">
                <a16:creationId xmlns:a16="http://schemas.microsoft.com/office/drawing/2014/main" id="{6B00DA15-925C-4BD8-913F-B3D5F6D9A77F}"/>
              </a:ext>
            </a:extLst>
          </p:cNvPr>
          <p:cNvSpPr/>
          <p:nvPr/>
        </p:nvSpPr>
        <p:spPr bwMode="gray">
          <a:xfrm>
            <a:off x="5223751" y="2312102"/>
            <a:ext cx="1483243" cy="873514"/>
          </a:xfrm>
          <a:prstGeom prst="rect">
            <a:avLst/>
          </a:prstGeom>
          <a:solidFill>
            <a:schemeClr val="accent3"/>
          </a:solidFill>
          <a:ln w="19050" algn="ctr">
            <a:solidFill>
              <a:schemeClr val="accent3"/>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noProof="0" dirty="0">
                <a:solidFill>
                  <a:schemeClr val="bg1"/>
                </a:solidFill>
                <a:latin typeface="Calibri" panose="020F0502020204030204" pitchFamily="34" charset="0"/>
                <a:cs typeface="Calibri" panose="020F0502020204030204" pitchFamily="34" charset="0"/>
              </a:rPr>
              <a:t>Need based Analysis and Presentation</a:t>
            </a:r>
          </a:p>
        </p:txBody>
      </p:sp>
      <p:sp>
        <p:nvSpPr>
          <p:cNvPr id="5" name="Rectangle 4">
            <a:extLst>
              <a:ext uri="{FF2B5EF4-FFF2-40B4-BE49-F238E27FC236}">
                <a16:creationId xmlns:a16="http://schemas.microsoft.com/office/drawing/2014/main" id="{D9777594-0774-4A57-9152-38AE93E30A65}"/>
              </a:ext>
            </a:extLst>
          </p:cNvPr>
          <p:cNvSpPr/>
          <p:nvPr/>
        </p:nvSpPr>
        <p:spPr bwMode="gray">
          <a:xfrm>
            <a:off x="3633132" y="3639470"/>
            <a:ext cx="1692769" cy="824784"/>
          </a:xfrm>
          <a:prstGeom prst="rect">
            <a:avLst/>
          </a:prstGeom>
          <a:solidFill>
            <a:schemeClr val="accent3"/>
          </a:solidFill>
          <a:ln w="19050" algn="ctr">
            <a:solidFill>
              <a:schemeClr val="accent3"/>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noProof="0" dirty="0">
                <a:solidFill>
                  <a:schemeClr val="bg1"/>
                </a:solidFill>
                <a:latin typeface="Calibri" panose="020F0502020204030204" pitchFamily="34" charset="0"/>
                <a:cs typeface="Calibri" panose="020F0502020204030204" pitchFamily="34" charset="0"/>
              </a:rPr>
              <a:t>Capability Development</a:t>
            </a:r>
          </a:p>
        </p:txBody>
      </p:sp>
      <p:sp>
        <p:nvSpPr>
          <p:cNvPr id="6" name="Rectangle 5">
            <a:extLst>
              <a:ext uri="{FF2B5EF4-FFF2-40B4-BE49-F238E27FC236}">
                <a16:creationId xmlns:a16="http://schemas.microsoft.com/office/drawing/2014/main" id="{4FFDF105-DC83-4366-B329-8B854D3BE746}"/>
              </a:ext>
            </a:extLst>
          </p:cNvPr>
          <p:cNvSpPr/>
          <p:nvPr/>
        </p:nvSpPr>
        <p:spPr bwMode="gray">
          <a:xfrm>
            <a:off x="6637364" y="3639470"/>
            <a:ext cx="1483244" cy="757255"/>
          </a:xfrm>
          <a:prstGeom prst="rect">
            <a:avLst/>
          </a:prstGeom>
          <a:solidFill>
            <a:schemeClr val="accent3"/>
          </a:solidFill>
          <a:ln w="19050" algn="ctr">
            <a:solidFill>
              <a:schemeClr val="accent3"/>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noProof="0" dirty="0">
                <a:solidFill>
                  <a:schemeClr val="bg1"/>
                </a:solidFill>
                <a:latin typeface="Calibri" panose="020F0502020204030204" pitchFamily="34" charset="0"/>
                <a:cs typeface="Calibri" panose="020F0502020204030204" pitchFamily="34" charset="0"/>
              </a:rPr>
              <a:t>Stakeholder Consultation</a:t>
            </a:r>
          </a:p>
        </p:txBody>
      </p:sp>
      <p:sp>
        <p:nvSpPr>
          <p:cNvPr id="7" name="Rectangle 6">
            <a:extLst>
              <a:ext uri="{FF2B5EF4-FFF2-40B4-BE49-F238E27FC236}">
                <a16:creationId xmlns:a16="http://schemas.microsoft.com/office/drawing/2014/main" id="{CF1E2974-A402-49CB-BCA4-B135DEEEE500}"/>
              </a:ext>
            </a:extLst>
          </p:cNvPr>
          <p:cNvSpPr/>
          <p:nvPr/>
        </p:nvSpPr>
        <p:spPr bwMode="gray">
          <a:xfrm>
            <a:off x="5151561" y="4733015"/>
            <a:ext cx="1692769" cy="824784"/>
          </a:xfrm>
          <a:prstGeom prst="rect">
            <a:avLst/>
          </a:prstGeom>
          <a:solidFill>
            <a:schemeClr val="accent3"/>
          </a:solidFill>
          <a:ln w="19050" algn="ctr">
            <a:solidFill>
              <a:schemeClr val="accent3"/>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latin typeface="Calibri" panose="020F0502020204030204" pitchFamily="34" charset="0"/>
                <a:cs typeface="Calibri" panose="020F0502020204030204" pitchFamily="34" charset="0"/>
              </a:rPr>
              <a:t>Global Best Practices</a:t>
            </a:r>
            <a:endParaRPr lang="en-US" sz="1400" b="1" noProof="0" dirty="0" err="1">
              <a:solidFill>
                <a:schemeClr val="bg1"/>
              </a:solidFill>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E34E0F9C-AA83-4CD5-AD7E-67033CCF077E}"/>
              </a:ext>
            </a:extLst>
          </p:cNvPr>
          <p:cNvSpPr/>
          <p:nvPr/>
        </p:nvSpPr>
        <p:spPr>
          <a:xfrm>
            <a:off x="8177791" y="3344494"/>
            <a:ext cx="2057398" cy="1169551"/>
          </a:xfrm>
          <a:prstGeom prst="rect">
            <a:avLst/>
          </a:prstGeom>
        </p:spPr>
        <p:txBody>
          <a:bodyPr wrap="square">
            <a:spAutoFit/>
          </a:bodyPr>
          <a:lstStyle/>
          <a:p>
            <a:r>
              <a:rPr lang="en-US" sz="1400" dirty="0">
                <a:latin typeface="Calibri" panose="020F0502020204030204" pitchFamily="34" charset="0"/>
                <a:cs typeface="Calibri" panose="020F0502020204030204" pitchFamily="34" charset="0"/>
              </a:rPr>
              <a:t>Facilitate in arranging various consultation workshop, conferences, webinar etc. to drive market opportunities</a:t>
            </a:r>
          </a:p>
        </p:txBody>
      </p:sp>
    </p:spTree>
    <p:extLst>
      <p:ext uri="{BB962C8B-B14F-4D97-AF65-F5344CB8AC3E}">
        <p14:creationId xmlns:p14="http://schemas.microsoft.com/office/powerpoint/2010/main" val="125972005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CB8569C-1F61-43FD-91D1-224EECA21DB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7620"/>
            <a:ext cx="12192000" cy="6842760"/>
          </a:xfrm>
          <a:prstGeom prst="rect">
            <a:avLst/>
          </a:prstGeom>
        </p:spPr>
      </p:pic>
      <p:sp>
        <p:nvSpPr>
          <p:cNvPr id="4" name="Rounded Rectangle 5">
            <a:extLst>
              <a:ext uri="{FF2B5EF4-FFF2-40B4-BE49-F238E27FC236}">
                <a16:creationId xmlns:a16="http://schemas.microsoft.com/office/drawing/2014/main" id="{C0225DB5-BBB5-4691-939A-200A39920BD4}"/>
              </a:ext>
            </a:extLst>
          </p:cNvPr>
          <p:cNvSpPr/>
          <p:nvPr/>
        </p:nvSpPr>
        <p:spPr bwMode="gray">
          <a:xfrm>
            <a:off x="469900" y="5100948"/>
            <a:ext cx="10426700" cy="792000"/>
          </a:xfrm>
          <a:prstGeom prst="roundRect">
            <a:avLst>
              <a:gd name="adj" fmla="val 50000"/>
            </a:avLst>
          </a:prstGeom>
          <a:solidFill>
            <a:srgbClr val="007680"/>
          </a:solidFill>
          <a:ln w="19050" algn="ctr">
            <a:noFill/>
            <a:miter lim="800000"/>
            <a:headEnd/>
            <a:tailEnd/>
          </a:ln>
        </p:spPr>
        <p:txBody>
          <a:bodyPr wrap="square" lIns="396000" tIns="88900" rIns="88900" bIns="88900" rtlCol="0" anchor="ctr"/>
          <a:lstStyle/>
          <a:p>
            <a:pPr marL="0" marR="0" lvl="0" indent="0" algn="l" defTabSz="914400" rtl="0" eaLnBrk="1" fontAlgn="auto" latinLnBrk="0" hangingPunct="1">
              <a:lnSpc>
                <a:spcPct val="100000"/>
              </a:lnSpc>
              <a:spcBef>
                <a:spcPts val="0"/>
              </a:spcBef>
              <a:spcAft>
                <a:spcPts val="0"/>
              </a:spcAft>
              <a:buClrTx/>
              <a:buSzTx/>
              <a:buFont typeface="Wingdings 2" pitchFamily="18" charset="2"/>
              <a:buNone/>
              <a:tabLst/>
              <a:defRPr/>
            </a:pPr>
            <a:r>
              <a:rPr kumimoji="0" lang="en-US" sz="2800" b="1"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Meet the Team</a:t>
            </a:r>
          </a:p>
        </p:txBody>
      </p:sp>
      <p:sp>
        <p:nvSpPr>
          <p:cNvPr id="5" name="Oval 4">
            <a:extLst>
              <a:ext uri="{FF2B5EF4-FFF2-40B4-BE49-F238E27FC236}">
                <a16:creationId xmlns:a16="http://schemas.microsoft.com/office/drawing/2014/main" id="{416FC171-DAF0-45C5-9F92-FBE43B63CEDC}"/>
              </a:ext>
            </a:extLst>
          </p:cNvPr>
          <p:cNvSpPr/>
          <p:nvPr/>
        </p:nvSpPr>
        <p:spPr bwMode="gray">
          <a:xfrm rot="2700000">
            <a:off x="9720589" y="4783959"/>
            <a:ext cx="1427128" cy="1427126"/>
          </a:xfrm>
          <a:prstGeom prst="ellipse">
            <a:avLst/>
          </a:prstGeom>
          <a:solidFill>
            <a:srgbClr val="007680"/>
          </a:solidFill>
          <a:ln w="25400" cap="rnd" algn="ctr">
            <a:solidFill>
              <a:schemeClr val="accent6">
                <a:alpha val="50000"/>
              </a:schemeClr>
            </a:solidFill>
            <a:prstDash val="sysDash"/>
            <a:round/>
            <a:headEnd/>
            <a:tailEnd/>
          </a:ln>
        </p:spPr>
        <p:txBody>
          <a:bodyPr wrap="square" lIns="77938" tIns="77938" rIns="77938" bIns="77938"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403" b="1" i="0" u="none" strike="noStrike" kern="1200" cap="none" spc="0" normalizeH="0" baseline="0" noProof="0" dirty="0">
              <a:ln>
                <a:noFill/>
              </a:ln>
              <a:solidFill>
                <a:prstClr val="white"/>
              </a:solidFill>
              <a:effectLst/>
              <a:uLnTx/>
              <a:uFillTx/>
              <a:latin typeface="Calibri"/>
              <a:ea typeface="+mn-ea"/>
              <a:cs typeface="+mn-cs"/>
            </a:endParaRPr>
          </a:p>
        </p:txBody>
      </p:sp>
      <p:grpSp>
        <p:nvGrpSpPr>
          <p:cNvPr id="6" name="Group 5">
            <a:extLst>
              <a:ext uri="{FF2B5EF4-FFF2-40B4-BE49-F238E27FC236}">
                <a16:creationId xmlns:a16="http://schemas.microsoft.com/office/drawing/2014/main" id="{8A35B1ED-C726-4228-83F2-3E1D9FE5AC19}"/>
              </a:ext>
            </a:extLst>
          </p:cNvPr>
          <p:cNvGrpSpPr/>
          <p:nvPr/>
        </p:nvGrpSpPr>
        <p:grpSpPr>
          <a:xfrm>
            <a:off x="9733457" y="4798696"/>
            <a:ext cx="1402578" cy="1397650"/>
            <a:chOff x="9718644" y="4783956"/>
            <a:chExt cx="1432160" cy="1427129"/>
          </a:xfrm>
        </p:grpSpPr>
        <p:sp>
          <p:nvSpPr>
            <p:cNvPr id="7" name="Pie 8">
              <a:extLst>
                <a:ext uri="{FF2B5EF4-FFF2-40B4-BE49-F238E27FC236}">
                  <a16:creationId xmlns:a16="http://schemas.microsoft.com/office/drawing/2014/main" id="{07831CE3-0BBF-4007-BFBF-81BB0A4E55A4}"/>
                </a:ext>
              </a:extLst>
            </p:cNvPr>
            <p:cNvSpPr/>
            <p:nvPr/>
          </p:nvSpPr>
          <p:spPr bwMode="gray">
            <a:xfrm rot="13500000">
              <a:off x="9723677" y="4783959"/>
              <a:ext cx="1427127" cy="1427126"/>
            </a:xfrm>
            <a:prstGeom prst="pie">
              <a:avLst>
                <a:gd name="adj1" fmla="val 5389768"/>
                <a:gd name="adj2" fmla="val 10751584"/>
              </a:avLst>
            </a:prstGeom>
            <a:solidFill>
              <a:srgbClr val="00ABAB">
                <a:alpha val="50000"/>
              </a:srgbClr>
            </a:solidFill>
            <a:ln w="19050" algn="ctr">
              <a:noFill/>
              <a:miter lim="800000"/>
              <a:headEnd/>
              <a:tailEnd/>
            </a:ln>
          </p:spPr>
          <p:txBody>
            <a:bodyPr wrap="square" lIns="77938" tIns="77938" rIns="77938" bIns="77938"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403" b="1" i="0" u="none" strike="noStrike" kern="1200" cap="none" spc="0" normalizeH="0" baseline="0" noProof="0" dirty="0">
                <a:ln>
                  <a:noFill/>
                </a:ln>
                <a:solidFill>
                  <a:prstClr val="white"/>
                </a:solidFill>
                <a:effectLst/>
                <a:uLnTx/>
                <a:uFillTx/>
                <a:latin typeface="Calibri"/>
                <a:ea typeface="+mn-ea"/>
                <a:cs typeface="+mn-cs"/>
              </a:endParaRPr>
            </a:p>
          </p:txBody>
        </p:sp>
        <p:sp>
          <p:nvSpPr>
            <p:cNvPr id="8" name="Pie 9">
              <a:extLst>
                <a:ext uri="{FF2B5EF4-FFF2-40B4-BE49-F238E27FC236}">
                  <a16:creationId xmlns:a16="http://schemas.microsoft.com/office/drawing/2014/main" id="{D8326655-FF65-4703-8198-1EEEF892D1D1}"/>
                </a:ext>
              </a:extLst>
            </p:cNvPr>
            <p:cNvSpPr/>
            <p:nvPr/>
          </p:nvSpPr>
          <p:spPr bwMode="gray">
            <a:xfrm rot="2700000">
              <a:off x="9718642" y="4783958"/>
              <a:ext cx="1427129" cy="1427126"/>
            </a:xfrm>
            <a:prstGeom prst="pie">
              <a:avLst>
                <a:gd name="adj1" fmla="val 5389768"/>
                <a:gd name="adj2" fmla="val 10751584"/>
              </a:avLst>
            </a:prstGeom>
            <a:solidFill>
              <a:srgbClr val="00ABAB">
                <a:alpha val="50000"/>
              </a:srgbClr>
            </a:solidFill>
            <a:ln w="19050" algn="ctr">
              <a:noFill/>
              <a:miter lim="800000"/>
              <a:headEnd/>
              <a:tailEnd/>
            </a:ln>
          </p:spPr>
          <p:txBody>
            <a:bodyPr wrap="square" lIns="77938" tIns="77938" rIns="77938" bIns="77938"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403" b="1"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9" name="Oval 8">
            <a:extLst>
              <a:ext uri="{FF2B5EF4-FFF2-40B4-BE49-F238E27FC236}">
                <a16:creationId xmlns:a16="http://schemas.microsoft.com/office/drawing/2014/main" id="{72828980-E4EF-46E2-AC0A-272CE131245E}"/>
              </a:ext>
            </a:extLst>
          </p:cNvPr>
          <p:cNvSpPr/>
          <p:nvPr/>
        </p:nvSpPr>
        <p:spPr bwMode="gray">
          <a:xfrm rot="2700000">
            <a:off x="9990310" y="5053104"/>
            <a:ext cx="887686" cy="887685"/>
          </a:xfrm>
          <a:prstGeom prst="ellipse">
            <a:avLst/>
          </a:prstGeom>
          <a:solidFill>
            <a:srgbClr val="00ABAB"/>
          </a:solidFill>
          <a:ln w="25400" cap="rnd" algn="ctr">
            <a:solidFill>
              <a:schemeClr val="accent6">
                <a:lumMod val="60000"/>
                <a:lumOff val="40000"/>
              </a:schemeClr>
            </a:solidFill>
            <a:prstDash val="sysDash"/>
            <a:round/>
            <a:headEnd/>
            <a:tailEnd/>
          </a:ln>
          <a:effectLst/>
        </p:spPr>
        <p:txBody>
          <a:bodyPr wrap="square" lIns="77938" tIns="77938" rIns="77938" bIns="77938"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403" b="1" i="0" u="none" strike="noStrike" kern="1200" cap="none" spc="0" normalizeH="0" baseline="0" noProof="0" dirty="0">
              <a:ln>
                <a:noFill/>
              </a:ln>
              <a:solidFill>
                <a:prstClr val="white"/>
              </a:solidFill>
              <a:effectLst/>
              <a:uLnTx/>
              <a:uFillTx/>
              <a:latin typeface="Calibri"/>
              <a:ea typeface="+mn-ea"/>
              <a:cs typeface="+mn-cs"/>
            </a:endParaRPr>
          </a:p>
        </p:txBody>
      </p:sp>
      <p:grpSp>
        <p:nvGrpSpPr>
          <p:cNvPr id="13" name="Group 749">
            <a:extLst>
              <a:ext uri="{FF2B5EF4-FFF2-40B4-BE49-F238E27FC236}">
                <a16:creationId xmlns:a16="http://schemas.microsoft.com/office/drawing/2014/main" id="{EB8BD288-A04E-419E-94FD-ABBE0C707700}"/>
              </a:ext>
            </a:extLst>
          </p:cNvPr>
          <p:cNvGrpSpPr>
            <a:grpSpLocks/>
          </p:cNvGrpSpPr>
          <p:nvPr/>
        </p:nvGrpSpPr>
        <p:grpSpPr bwMode="auto">
          <a:xfrm>
            <a:off x="10180821" y="5245486"/>
            <a:ext cx="502920" cy="502920"/>
            <a:chOff x="3520" y="2686"/>
            <a:chExt cx="340" cy="340"/>
          </a:xfrm>
          <a:solidFill>
            <a:schemeClr val="bg1"/>
          </a:solidFill>
        </p:grpSpPr>
        <p:sp>
          <p:nvSpPr>
            <p:cNvPr id="14" name="Freeform 750">
              <a:extLst>
                <a:ext uri="{FF2B5EF4-FFF2-40B4-BE49-F238E27FC236}">
                  <a16:creationId xmlns:a16="http://schemas.microsoft.com/office/drawing/2014/main" id="{71C29212-FFE3-48EA-BEB7-1C5AF743DA75}"/>
                </a:ext>
              </a:extLst>
            </p:cNvPr>
            <p:cNvSpPr>
              <a:spLocks noEditPoints="1"/>
            </p:cNvSpPr>
            <p:nvPr/>
          </p:nvSpPr>
          <p:spPr bwMode="auto">
            <a:xfrm>
              <a:off x="3520" y="268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 name="Freeform 751">
              <a:extLst>
                <a:ext uri="{FF2B5EF4-FFF2-40B4-BE49-F238E27FC236}">
                  <a16:creationId xmlns:a16="http://schemas.microsoft.com/office/drawing/2014/main" id="{BC329B8E-7C27-471C-9C29-FA0069FDCFE2}"/>
                </a:ext>
              </a:extLst>
            </p:cNvPr>
            <p:cNvSpPr>
              <a:spLocks/>
            </p:cNvSpPr>
            <p:nvPr/>
          </p:nvSpPr>
          <p:spPr bwMode="auto">
            <a:xfrm>
              <a:off x="3582" y="2789"/>
              <a:ext cx="144" cy="137"/>
            </a:xfrm>
            <a:custGeom>
              <a:avLst/>
              <a:gdLst>
                <a:gd name="T0" fmla="*/ 209 w 216"/>
                <a:gd name="T1" fmla="*/ 187 h 207"/>
                <a:gd name="T2" fmla="*/ 171 w 216"/>
                <a:gd name="T3" fmla="*/ 179 h 207"/>
                <a:gd name="T4" fmla="*/ 156 w 216"/>
                <a:gd name="T5" fmla="*/ 177 h 207"/>
                <a:gd name="T6" fmla="*/ 145 w 216"/>
                <a:gd name="T7" fmla="*/ 147 h 207"/>
                <a:gd name="T8" fmla="*/ 167 w 216"/>
                <a:gd name="T9" fmla="*/ 96 h 207"/>
                <a:gd name="T10" fmla="*/ 157 w 216"/>
                <a:gd name="T11" fmla="*/ 22 h 207"/>
                <a:gd name="T12" fmla="*/ 108 w 216"/>
                <a:gd name="T13" fmla="*/ 0 h 207"/>
                <a:gd name="T14" fmla="*/ 59 w 216"/>
                <a:gd name="T15" fmla="*/ 22 h 207"/>
                <a:gd name="T16" fmla="*/ 50 w 216"/>
                <a:gd name="T17" fmla="*/ 96 h 207"/>
                <a:gd name="T18" fmla="*/ 72 w 216"/>
                <a:gd name="T19" fmla="*/ 147 h 207"/>
                <a:gd name="T20" fmla="*/ 61 w 216"/>
                <a:gd name="T21" fmla="*/ 177 h 207"/>
                <a:gd name="T22" fmla="*/ 45 w 216"/>
                <a:gd name="T23" fmla="*/ 179 h 207"/>
                <a:gd name="T24" fmla="*/ 8 w 216"/>
                <a:gd name="T25" fmla="*/ 187 h 207"/>
                <a:gd name="T26" fmla="*/ 3 w 216"/>
                <a:gd name="T27" fmla="*/ 201 h 207"/>
                <a:gd name="T28" fmla="*/ 12 w 216"/>
                <a:gd name="T29" fmla="*/ 207 h 207"/>
                <a:gd name="T30" fmla="*/ 17 w 216"/>
                <a:gd name="T31" fmla="*/ 206 h 207"/>
                <a:gd name="T32" fmla="*/ 46 w 216"/>
                <a:gd name="T33" fmla="*/ 200 h 207"/>
                <a:gd name="T34" fmla="*/ 71 w 216"/>
                <a:gd name="T35" fmla="*/ 195 h 207"/>
                <a:gd name="T36" fmla="*/ 91 w 216"/>
                <a:gd name="T37" fmla="*/ 162 h 207"/>
                <a:gd name="T38" fmla="*/ 90 w 216"/>
                <a:gd name="T39" fmla="*/ 135 h 207"/>
                <a:gd name="T40" fmla="*/ 71 w 216"/>
                <a:gd name="T41" fmla="*/ 91 h 207"/>
                <a:gd name="T42" fmla="*/ 76 w 216"/>
                <a:gd name="T43" fmla="*/ 36 h 207"/>
                <a:gd name="T44" fmla="*/ 108 w 216"/>
                <a:gd name="T45" fmla="*/ 22 h 207"/>
                <a:gd name="T46" fmla="*/ 108 w 216"/>
                <a:gd name="T47" fmla="*/ 21 h 207"/>
                <a:gd name="T48" fmla="*/ 109 w 216"/>
                <a:gd name="T49" fmla="*/ 22 h 207"/>
                <a:gd name="T50" fmla="*/ 141 w 216"/>
                <a:gd name="T51" fmla="*/ 36 h 207"/>
                <a:gd name="T52" fmla="*/ 146 w 216"/>
                <a:gd name="T53" fmla="*/ 91 h 207"/>
                <a:gd name="T54" fmla="*/ 127 w 216"/>
                <a:gd name="T55" fmla="*/ 135 h 207"/>
                <a:gd name="T56" fmla="*/ 125 w 216"/>
                <a:gd name="T57" fmla="*/ 162 h 207"/>
                <a:gd name="T58" fmla="*/ 146 w 216"/>
                <a:gd name="T59" fmla="*/ 195 h 207"/>
                <a:gd name="T60" fmla="*/ 170 w 216"/>
                <a:gd name="T61" fmla="*/ 200 h 207"/>
                <a:gd name="T62" fmla="*/ 200 w 216"/>
                <a:gd name="T63" fmla="*/ 206 h 207"/>
                <a:gd name="T64" fmla="*/ 204 w 216"/>
                <a:gd name="T65" fmla="*/ 207 h 207"/>
                <a:gd name="T66" fmla="*/ 214 w 216"/>
                <a:gd name="T67" fmla="*/ 201 h 207"/>
                <a:gd name="T68" fmla="*/ 209 w 216"/>
                <a:gd name="T69" fmla="*/ 187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6" h="207">
                  <a:moveTo>
                    <a:pt x="209" y="187"/>
                  </a:moveTo>
                  <a:cubicBezTo>
                    <a:pt x="194" y="180"/>
                    <a:pt x="182" y="180"/>
                    <a:pt x="171" y="179"/>
                  </a:cubicBezTo>
                  <a:cubicBezTo>
                    <a:pt x="165" y="179"/>
                    <a:pt x="159" y="179"/>
                    <a:pt x="156" y="177"/>
                  </a:cubicBezTo>
                  <a:cubicBezTo>
                    <a:pt x="149" y="173"/>
                    <a:pt x="143" y="153"/>
                    <a:pt x="145" y="147"/>
                  </a:cubicBezTo>
                  <a:cubicBezTo>
                    <a:pt x="153" y="134"/>
                    <a:pt x="162" y="114"/>
                    <a:pt x="167" y="96"/>
                  </a:cubicBezTo>
                  <a:cubicBezTo>
                    <a:pt x="174" y="64"/>
                    <a:pt x="171" y="39"/>
                    <a:pt x="157" y="22"/>
                  </a:cubicBezTo>
                  <a:cubicBezTo>
                    <a:pt x="139" y="0"/>
                    <a:pt x="111" y="0"/>
                    <a:pt x="108" y="0"/>
                  </a:cubicBezTo>
                  <a:cubicBezTo>
                    <a:pt x="106" y="0"/>
                    <a:pt x="77" y="0"/>
                    <a:pt x="59" y="22"/>
                  </a:cubicBezTo>
                  <a:cubicBezTo>
                    <a:pt x="45" y="39"/>
                    <a:pt x="42" y="64"/>
                    <a:pt x="50" y="96"/>
                  </a:cubicBezTo>
                  <a:cubicBezTo>
                    <a:pt x="54" y="114"/>
                    <a:pt x="63" y="134"/>
                    <a:pt x="72" y="147"/>
                  </a:cubicBezTo>
                  <a:cubicBezTo>
                    <a:pt x="73" y="153"/>
                    <a:pt x="67" y="173"/>
                    <a:pt x="61" y="177"/>
                  </a:cubicBezTo>
                  <a:cubicBezTo>
                    <a:pt x="57" y="179"/>
                    <a:pt x="52" y="179"/>
                    <a:pt x="45" y="179"/>
                  </a:cubicBezTo>
                  <a:cubicBezTo>
                    <a:pt x="35" y="180"/>
                    <a:pt x="22" y="180"/>
                    <a:pt x="8" y="187"/>
                  </a:cubicBezTo>
                  <a:cubicBezTo>
                    <a:pt x="2" y="189"/>
                    <a:pt x="0" y="196"/>
                    <a:pt x="3" y="201"/>
                  </a:cubicBezTo>
                  <a:cubicBezTo>
                    <a:pt x="4" y="205"/>
                    <a:pt x="8" y="207"/>
                    <a:pt x="12" y="207"/>
                  </a:cubicBezTo>
                  <a:cubicBezTo>
                    <a:pt x="14" y="207"/>
                    <a:pt x="15" y="207"/>
                    <a:pt x="17" y="206"/>
                  </a:cubicBezTo>
                  <a:cubicBezTo>
                    <a:pt x="28" y="201"/>
                    <a:pt x="37" y="201"/>
                    <a:pt x="46" y="200"/>
                  </a:cubicBezTo>
                  <a:cubicBezTo>
                    <a:pt x="55" y="200"/>
                    <a:pt x="63" y="200"/>
                    <a:pt x="71" y="195"/>
                  </a:cubicBezTo>
                  <a:cubicBezTo>
                    <a:pt x="85" y="188"/>
                    <a:pt x="90" y="168"/>
                    <a:pt x="91" y="162"/>
                  </a:cubicBezTo>
                  <a:cubicBezTo>
                    <a:pt x="93" y="153"/>
                    <a:pt x="95" y="142"/>
                    <a:pt x="90" y="135"/>
                  </a:cubicBezTo>
                  <a:cubicBezTo>
                    <a:pt x="82" y="125"/>
                    <a:pt x="74" y="106"/>
                    <a:pt x="71" y="91"/>
                  </a:cubicBezTo>
                  <a:cubicBezTo>
                    <a:pt x="65" y="66"/>
                    <a:pt x="66" y="47"/>
                    <a:pt x="76" y="36"/>
                  </a:cubicBezTo>
                  <a:cubicBezTo>
                    <a:pt x="87" y="21"/>
                    <a:pt x="108" y="22"/>
                    <a:pt x="108" y="22"/>
                  </a:cubicBezTo>
                  <a:cubicBezTo>
                    <a:pt x="108" y="22"/>
                    <a:pt x="108" y="21"/>
                    <a:pt x="108" y="21"/>
                  </a:cubicBezTo>
                  <a:cubicBezTo>
                    <a:pt x="108" y="21"/>
                    <a:pt x="108" y="22"/>
                    <a:pt x="109" y="22"/>
                  </a:cubicBezTo>
                  <a:cubicBezTo>
                    <a:pt x="109" y="22"/>
                    <a:pt x="129" y="21"/>
                    <a:pt x="141" y="36"/>
                  </a:cubicBezTo>
                  <a:cubicBezTo>
                    <a:pt x="150" y="47"/>
                    <a:pt x="152" y="66"/>
                    <a:pt x="146" y="91"/>
                  </a:cubicBezTo>
                  <a:cubicBezTo>
                    <a:pt x="142" y="106"/>
                    <a:pt x="134" y="125"/>
                    <a:pt x="127" y="135"/>
                  </a:cubicBezTo>
                  <a:cubicBezTo>
                    <a:pt x="122" y="142"/>
                    <a:pt x="123" y="153"/>
                    <a:pt x="125" y="162"/>
                  </a:cubicBezTo>
                  <a:cubicBezTo>
                    <a:pt x="126" y="168"/>
                    <a:pt x="132" y="188"/>
                    <a:pt x="146" y="195"/>
                  </a:cubicBezTo>
                  <a:cubicBezTo>
                    <a:pt x="154" y="200"/>
                    <a:pt x="162" y="200"/>
                    <a:pt x="170" y="200"/>
                  </a:cubicBezTo>
                  <a:cubicBezTo>
                    <a:pt x="179" y="201"/>
                    <a:pt x="189" y="201"/>
                    <a:pt x="200" y="206"/>
                  </a:cubicBezTo>
                  <a:cubicBezTo>
                    <a:pt x="201" y="207"/>
                    <a:pt x="203" y="207"/>
                    <a:pt x="204" y="207"/>
                  </a:cubicBezTo>
                  <a:cubicBezTo>
                    <a:pt x="208" y="207"/>
                    <a:pt x="212" y="205"/>
                    <a:pt x="214" y="201"/>
                  </a:cubicBezTo>
                  <a:cubicBezTo>
                    <a:pt x="216" y="196"/>
                    <a:pt x="214" y="189"/>
                    <a:pt x="209" y="18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 name="Freeform 752">
              <a:extLst>
                <a:ext uri="{FF2B5EF4-FFF2-40B4-BE49-F238E27FC236}">
                  <a16:creationId xmlns:a16="http://schemas.microsoft.com/office/drawing/2014/main" id="{F7D873D5-60FD-4312-9B86-D5CC0E7CD565}"/>
                </a:ext>
              </a:extLst>
            </p:cNvPr>
            <p:cNvSpPr>
              <a:spLocks/>
            </p:cNvSpPr>
            <p:nvPr/>
          </p:nvSpPr>
          <p:spPr bwMode="auto">
            <a:xfrm>
              <a:off x="3702" y="2802"/>
              <a:ext cx="95" cy="111"/>
            </a:xfrm>
            <a:custGeom>
              <a:avLst/>
              <a:gdLst>
                <a:gd name="T0" fmla="*/ 136 w 143"/>
                <a:gd name="T1" fmla="*/ 147 h 167"/>
                <a:gd name="T2" fmla="*/ 109 w 143"/>
                <a:gd name="T3" fmla="*/ 139 h 167"/>
                <a:gd name="T4" fmla="*/ 95 w 143"/>
                <a:gd name="T5" fmla="*/ 136 h 167"/>
                <a:gd name="T6" fmla="*/ 89 w 143"/>
                <a:gd name="T7" fmla="*/ 118 h 167"/>
                <a:gd name="T8" fmla="*/ 106 w 143"/>
                <a:gd name="T9" fmla="*/ 78 h 167"/>
                <a:gd name="T10" fmla="*/ 99 w 143"/>
                <a:gd name="T11" fmla="*/ 20 h 167"/>
                <a:gd name="T12" fmla="*/ 56 w 143"/>
                <a:gd name="T13" fmla="*/ 1 h 167"/>
                <a:gd name="T14" fmla="*/ 14 w 143"/>
                <a:gd name="T15" fmla="*/ 20 h 167"/>
                <a:gd name="T16" fmla="*/ 6 w 143"/>
                <a:gd name="T17" fmla="*/ 78 h 167"/>
                <a:gd name="T18" fmla="*/ 24 w 143"/>
                <a:gd name="T19" fmla="*/ 118 h 167"/>
                <a:gd name="T20" fmla="*/ 18 w 143"/>
                <a:gd name="T21" fmla="*/ 136 h 167"/>
                <a:gd name="T22" fmla="*/ 16 w 143"/>
                <a:gd name="T23" fmla="*/ 151 h 167"/>
                <a:gd name="T24" fmla="*/ 24 w 143"/>
                <a:gd name="T25" fmla="*/ 155 h 167"/>
                <a:gd name="T26" fmla="*/ 31 w 143"/>
                <a:gd name="T27" fmla="*/ 153 h 167"/>
                <a:gd name="T28" fmla="*/ 41 w 143"/>
                <a:gd name="T29" fmla="*/ 107 h 167"/>
                <a:gd name="T30" fmla="*/ 27 w 143"/>
                <a:gd name="T31" fmla="*/ 73 h 167"/>
                <a:gd name="T32" fmla="*/ 31 w 143"/>
                <a:gd name="T33" fmla="*/ 33 h 167"/>
                <a:gd name="T34" fmla="*/ 56 w 143"/>
                <a:gd name="T35" fmla="*/ 22 h 167"/>
                <a:gd name="T36" fmla="*/ 82 w 143"/>
                <a:gd name="T37" fmla="*/ 33 h 167"/>
                <a:gd name="T38" fmla="*/ 86 w 143"/>
                <a:gd name="T39" fmla="*/ 73 h 167"/>
                <a:gd name="T40" fmla="*/ 71 w 143"/>
                <a:gd name="T41" fmla="*/ 107 h 167"/>
                <a:gd name="T42" fmla="*/ 82 w 143"/>
                <a:gd name="T43" fmla="*/ 153 h 167"/>
                <a:gd name="T44" fmla="*/ 83 w 143"/>
                <a:gd name="T45" fmla="*/ 154 h 167"/>
                <a:gd name="T46" fmla="*/ 106 w 143"/>
                <a:gd name="T47" fmla="*/ 160 h 167"/>
                <a:gd name="T48" fmla="*/ 125 w 143"/>
                <a:gd name="T49" fmla="*/ 165 h 167"/>
                <a:gd name="T50" fmla="*/ 131 w 143"/>
                <a:gd name="T51" fmla="*/ 167 h 167"/>
                <a:gd name="T52" fmla="*/ 140 w 143"/>
                <a:gd name="T53" fmla="*/ 162 h 167"/>
                <a:gd name="T54" fmla="*/ 136 w 143"/>
                <a:gd name="T55" fmla="*/ 14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3" h="167">
                  <a:moveTo>
                    <a:pt x="136" y="147"/>
                  </a:moveTo>
                  <a:cubicBezTo>
                    <a:pt x="128" y="142"/>
                    <a:pt x="118" y="140"/>
                    <a:pt x="109" y="139"/>
                  </a:cubicBezTo>
                  <a:cubicBezTo>
                    <a:pt x="104" y="138"/>
                    <a:pt x="98" y="137"/>
                    <a:pt x="95" y="136"/>
                  </a:cubicBezTo>
                  <a:cubicBezTo>
                    <a:pt x="89" y="131"/>
                    <a:pt x="88" y="121"/>
                    <a:pt x="89" y="118"/>
                  </a:cubicBezTo>
                  <a:cubicBezTo>
                    <a:pt x="96" y="109"/>
                    <a:pt x="103" y="93"/>
                    <a:pt x="106" y="78"/>
                  </a:cubicBezTo>
                  <a:cubicBezTo>
                    <a:pt x="112" y="53"/>
                    <a:pt x="110" y="34"/>
                    <a:pt x="99" y="20"/>
                  </a:cubicBezTo>
                  <a:cubicBezTo>
                    <a:pt x="83" y="0"/>
                    <a:pt x="58" y="1"/>
                    <a:pt x="56" y="1"/>
                  </a:cubicBezTo>
                  <a:cubicBezTo>
                    <a:pt x="54" y="1"/>
                    <a:pt x="30" y="0"/>
                    <a:pt x="14" y="20"/>
                  </a:cubicBezTo>
                  <a:cubicBezTo>
                    <a:pt x="3" y="34"/>
                    <a:pt x="0" y="53"/>
                    <a:pt x="6" y="78"/>
                  </a:cubicBezTo>
                  <a:cubicBezTo>
                    <a:pt x="10" y="93"/>
                    <a:pt x="17" y="109"/>
                    <a:pt x="24" y="118"/>
                  </a:cubicBezTo>
                  <a:cubicBezTo>
                    <a:pt x="25" y="121"/>
                    <a:pt x="24" y="132"/>
                    <a:pt x="18" y="136"/>
                  </a:cubicBezTo>
                  <a:cubicBezTo>
                    <a:pt x="13" y="140"/>
                    <a:pt x="12" y="146"/>
                    <a:pt x="16" y="151"/>
                  </a:cubicBezTo>
                  <a:cubicBezTo>
                    <a:pt x="18" y="154"/>
                    <a:pt x="21" y="155"/>
                    <a:pt x="24" y="155"/>
                  </a:cubicBezTo>
                  <a:cubicBezTo>
                    <a:pt x="26" y="155"/>
                    <a:pt x="29" y="155"/>
                    <a:pt x="31" y="153"/>
                  </a:cubicBezTo>
                  <a:cubicBezTo>
                    <a:pt x="45" y="142"/>
                    <a:pt x="49" y="118"/>
                    <a:pt x="41" y="107"/>
                  </a:cubicBezTo>
                  <a:cubicBezTo>
                    <a:pt x="36" y="99"/>
                    <a:pt x="30" y="85"/>
                    <a:pt x="27" y="73"/>
                  </a:cubicBezTo>
                  <a:cubicBezTo>
                    <a:pt x="23" y="55"/>
                    <a:pt x="24" y="42"/>
                    <a:pt x="31" y="33"/>
                  </a:cubicBezTo>
                  <a:cubicBezTo>
                    <a:pt x="39" y="22"/>
                    <a:pt x="55" y="22"/>
                    <a:pt x="56" y="22"/>
                  </a:cubicBezTo>
                  <a:cubicBezTo>
                    <a:pt x="58" y="22"/>
                    <a:pt x="73" y="22"/>
                    <a:pt x="82" y="33"/>
                  </a:cubicBezTo>
                  <a:cubicBezTo>
                    <a:pt x="89" y="42"/>
                    <a:pt x="90" y="55"/>
                    <a:pt x="86" y="73"/>
                  </a:cubicBezTo>
                  <a:cubicBezTo>
                    <a:pt x="83" y="85"/>
                    <a:pt x="77" y="99"/>
                    <a:pt x="71" y="107"/>
                  </a:cubicBezTo>
                  <a:cubicBezTo>
                    <a:pt x="63" y="118"/>
                    <a:pt x="67" y="142"/>
                    <a:pt x="82" y="153"/>
                  </a:cubicBezTo>
                  <a:cubicBezTo>
                    <a:pt x="82" y="153"/>
                    <a:pt x="83" y="154"/>
                    <a:pt x="83" y="154"/>
                  </a:cubicBezTo>
                  <a:cubicBezTo>
                    <a:pt x="90" y="158"/>
                    <a:pt x="98" y="159"/>
                    <a:pt x="106" y="160"/>
                  </a:cubicBezTo>
                  <a:cubicBezTo>
                    <a:pt x="113" y="161"/>
                    <a:pt x="121" y="162"/>
                    <a:pt x="125" y="165"/>
                  </a:cubicBezTo>
                  <a:cubicBezTo>
                    <a:pt x="127" y="166"/>
                    <a:pt x="129" y="167"/>
                    <a:pt x="131" y="167"/>
                  </a:cubicBezTo>
                  <a:cubicBezTo>
                    <a:pt x="134" y="167"/>
                    <a:pt x="138" y="165"/>
                    <a:pt x="140" y="162"/>
                  </a:cubicBezTo>
                  <a:cubicBezTo>
                    <a:pt x="143" y="157"/>
                    <a:pt x="141" y="150"/>
                    <a:pt x="136" y="14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spTree>
    <p:extLst>
      <p:ext uri="{BB962C8B-B14F-4D97-AF65-F5344CB8AC3E}">
        <p14:creationId xmlns:p14="http://schemas.microsoft.com/office/powerpoint/2010/main" val="114268880"/>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6220C79-DC29-4956-B356-7A31A37D39C6}"/>
              </a:ext>
            </a:extLst>
          </p:cNvPr>
          <p:cNvSpPr>
            <a:spLocks noGrp="1"/>
          </p:cNvSpPr>
          <p:nvPr>
            <p:ph type="body" sz="quarter" idx="13"/>
          </p:nvPr>
        </p:nvSpPr>
        <p:spPr>
          <a:xfrm>
            <a:off x="501650" y="585254"/>
            <a:ext cx="11201400" cy="757255"/>
          </a:xfrm>
        </p:spPr>
        <p:txBody>
          <a:bodyPr/>
          <a:lstStyle/>
          <a:p>
            <a:r>
              <a:rPr lang="en-US" sz="1700" dirty="0"/>
              <a:t>Individually and collectively, our team has the experience needed to deliver results in your business environment. The people in our team have led complex engagements and served major clients in your industry on similar engagements.</a:t>
            </a:r>
          </a:p>
        </p:txBody>
      </p:sp>
      <p:sp>
        <p:nvSpPr>
          <p:cNvPr id="4" name="Title 3"/>
          <p:cNvSpPr>
            <a:spLocks noGrp="1"/>
          </p:cNvSpPr>
          <p:nvPr>
            <p:ph type="title"/>
          </p:nvPr>
        </p:nvSpPr>
        <p:spPr/>
        <p:txBody>
          <a:bodyPr vert="horz" lIns="0" tIns="0" rIns="0" bIns="0" rtlCol="0" anchor="t" anchorCtr="0">
            <a:noAutofit/>
          </a:bodyPr>
          <a:lstStyle/>
          <a:p>
            <a:pPr>
              <a:lnSpc>
                <a:spcPct val="90000"/>
              </a:lnSpc>
            </a:pPr>
            <a:r>
              <a:rPr lang="en-US" sz="2000" dirty="0">
                <a:latin typeface="+mn-lt"/>
              </a:rPr>
              <a:t>Our team to serve you</a:t>
            </a:r>
          </a:p>
        </p:txBody>
      </p:sp>
      <p:sp>
        <p:nvSpPr>
          <p:cNvPr id="50" name="Rectangle 15">
            <a:extLst>
              <a:ext uri="{FF2B5EF4-FFF2-40B4-BE49-F238E27FC236}">
                <a16:creationId xmlns:a16="http://schemas.microsoft.com/office/drawing/2014/main" id="{45453BC5-4E0E-4197-82B7-50D2BDE2ED56}"/>
              </a:ext>
            </a:extLst>
          </p:cNvPr>
          <p:cNvSpPr>
            <a:spLocks noChangeArrowheads="1"/>
          </p:cNvSpPr>
          <p:nvPr/>
        </p:nvSpPr>
        <p:spPr bwMode="gray">
          <a:xfrm>
            <a:off x="6014721" y="1606068"/>
            <a:ext cx="5670109" cy="864000"/>
          </a:xfrm>
          <a:prstGeom prst="rect">
            <a:avLst/>
          </a:prstGeom>
          <a:solidFill>
            <a:srgbClr val="75787B">
              <a:lumMod val="20000"/>
              <a:lumOff val="80000"/>
              <a:alpha val="50000"/>
            </a:srgbClr>
          </a:solidFill>
          <a:ln w="3175" algn="ctr">
            <a:noFill/>
            <a:miter lim="800000"/>
            <a:headEnd/>
            <a:tailEnd/>
          </a:ln>
        </p:spPr>
        <p:txBody>
          <a:bodyPr lIns="81201" tIns="55489" rIns="81201" bIns="55489" anchor="ctr"/>
          <a:lstStyle/>
          <a:p>
            <a:pPr marL="171450" indent="-171450" defTabSz="702594">
              <a:spcAft>
                <a:spcPts val="200"/>
              </a:spcAft>
              <a:buFont typeface="Arial" panose="020B0604020202020204" pitchFamily="34" charset="0"/>
              <a:buChar char="•"/>
            </a:pPr>
            <a:r>
              <a:rPr lang="en-US" sz="1200" kern="0" dirty="0">
                <a:solidFill>
                  <a:prstClr val="black"/>
                </a:solidFill>
                <a:ea typeface="Verdana" panose="020B0604030504040204" pitchFamily="34" charset="0"/>
              </a:rPr>
              <a:t>Manage relationship with your management.</a:t>
            </a:r>
          </a:p>
          <a:p>
            <a:pPr marL="171450" indent="-171450" defTabSz="702594">
              <a:spcAft>
                <a:spcPts val="200"/>
              </a:spcAft>
              <a:buFont typeface="Arial" panose="020B0604020202020204" pitchFamily="34" charset="0"/>
              <a:buChar char="•"/>
            </a:pPr>
            <a:r>
              <a:rPr lang="en-US" sz="1200" kern="0" dirty="0">
                <a:solidFill>
                  <a:prstClr val="black"/>
                </a:solidFill>
                <a:ea typeface="Verdana" panose="020B0604030504040204" pitchFamily="34" charset="0"/>
              </a:rPr>
              <a:t>Make key decisions, sign-off on major deliverables and has overall project responsibility.</a:t>
            </a:r>
          </a:p>
          <a:p>
            <a:pPr marL="171450" indent="-171450" defTabSz="702594">
              <a:spcAft>
                <a:spcPts val="200"/>
              </a:spcAft>
              <a:buFont typeface="Arial" panose="020B0604020202020204" pitchFamily="34" charset="0"/>
              <a:buChar char="•"/>
            </a:pPr>
            <a:r>
              <a:rPr lang="en-US" sz="1200" kern="0" dirty="0">
                <a:solidFill>
                  <a:prstClr val="black"/>
                </a:solidFill>
                <a:ea typeface="Verdana" panose="020B0604030504040204" pitchFamily="34" charset="0"/>
              </a:rPr>
              <a:t>Provide final review of engagement deliverables.</a:t>
            </a:r>
          </a:p>
        </p:txBody>
      </p:sp>
      <p:sp>
        <p:nvSpPr>
          <p:cNvPr id="64" name="Rectangle 15">
            <a:extLst>
              <a:ext uri="{FF2B5EF4-FFF2-40B4-BE49-F238E27FC236}">
                <a16:creationId xmlns:a16="http://schemas.microsoft.com/office/drawing/2014/main" id="{8AFB8535-446D-48CC-A10C-99F8B2754812}"/>
              </a:ext>
            </a:extLst>
          </p:cNvPr>
          <p:cNvSpPr>
            <a:spLocks noChangeArrowheads="1"/>
          </p:cNvSpPr>
          <p:nvPr/>
        </p:nvSpPr>
        <p:spPr bwMode="gray">
          <a:xfrm>
            <a:off x="6014720" y="2534315"/>
            <a:ext cx="5670109" cy="888311"/>
          </a:xfrm>
          <a:prstGeom prst="rect">
            <a:avLst/>
          </a:prstGeom>
          <a:solidFill>
            <a:srgbClr val="75787B">
              <a:lumMod val="20000"/>
              <a:lumOff val="80000"/>
              <a:alpha val="50000"/>
            </a:srgbClr>
          </a:solidFill>
          <a:ln w="3175" algn="ctr">
            <a:noFill/>
            <a:miter lim="800000"/>
            <a:headEnd/>
            <a:tailEnd/>
          </a:ln>
        </p:spPr>
        <p:txBody>
          <a:bodyPr lIns="81201" tIns="55489" rIns="81201" bIns="55489" anchor="ctr"/>
          <a:lstStyle/>
          <a:p>
            <a:pPr marL="171450" indent="-171450" defTabSz="702594">
              <a:spcAft>
                <a:spcPts val="200"/>
              </a:spcAft>
              <a:buFont typeface="Arial" panose="020B0604020202020204" pitchFamily="34" charset="0"/>
              <a:buChar char="•"/>
            </a:pPr>
            <a:r>
              <a:rPr lang="en-US" sz="1200" kern="0" dirty="0">
                <a:solidFill>
                  <a:prstClr val="black"/>
                </a:solidFill>
                <a:ea typeface="Verdana" panose="020B0604030504040204" pitchFamily="34" charset="0"/>
              </a:rPr>
              <a:t>Our experts bring in leading insights on Power Sector and Stressed Asset matters.</a:t>
            </a:r>
            <a:r>
              <a:rPr lang="en-US" sz="1200" kern="0" dirty="0">
                <a:solidFill>
                  <a:prstClr val="black"/>
                </a:solidFill>
                <a:highlight>
                  <a:srgbClr val="FFFF00"/>
                </a:highlight>
                <a:ea typeface="Verdana" panose="020B0604030504040204" pitchFamily="34" charset="0"/>
              </a:rPr>
              <a:t> </a:t>
            </a:r>
          </a:p>
          <a:p>
            <a:pPr marL="171450" indent="-171450" defTabSz="702594">
              <a:spcAft>
                <a:spcPts val="200"/>
              </a:spcAft>
              <a:buFont typeface="Arial" panose="020B0604020202020204" pitchFamily="34" charset="0"/>
              <a:buChar char="•"/>
            </a:pPr>
            <a:r>
              <a:rPr lang="en-US" sz="1200" kern="0" dirty="0">
                <a:solidFill>
                  <a:prstClr val="black"/>
                </a:solidFill>
                <a:ea typeface="Verdana" panose="020B0604030504040204" pitchFamily="34" charset="0"/>
              </a:rPr>
              <a:t>Provide necessary guidance and oversight to the project team.</a:t>
            </a:r>
          </a:p>
          <a:p>
            <a:pPr marL="171450" indent="-171450" defTabSz="702594">
              <a:spcAft>
                <a:spcPts val="200"/>
              </a:spcAft>
              <a:buFont typeface="Arial" panose="020B0604020202020204" pitchFamily="34" charset="0"/>
              <a:buChar char="•"/>
            </a:pPr>
            <a:r>
              <a:rPr lang="en-US" sz="1200" kern="0" dirty="0">
                <a:solidFill>
                  <a:prstClr val="black"/>
                </a:solidFill>
                <a:ea typeface="Verdana" panose="020B0604030504040204" pitchFamily="34" charset="0"/>
              </a:rPr>
              <a:t>Review all the documents and recommendations provided to REC.</a:t>
            </a:r>
          </a:p>
          <a:p>
            <a:pPr marL="171450" indent="-171450" defTabSz="702594">
              <a:spcAft>
                <a:spcPts val="200"/>
              </a:spcAft>
              <a:buFont typeface="Arial" panose="020B0604020202020204" pitchFamily="34" charset="0"/>
              <a:buChar char="•"/>
            </a:pPr>
            <a:r>
              <a:rPr lang="en-US" sz="1200" kern="0" dirty="0">
                <a:solidFill>
                  <a:prstClr val="black"/>
                </a:solidFill>
                <a:ea typeface="Verdana" panose="020B0604030504040204" pitchFamily="34" charset="0"/>
              </a:rPr>
              <a:t>Part of the Steering Committee and shall join review meeting with the REC leadership.</a:t>
            </a:r>
            <a:endParaRPr lang="en-US" sz="1200" kern="0" dirty="0">
              <a:solidFill>
                <a:prstClr val="black"/>
              </a:solidFill>
              <a:highlight>
                <a:srgbClr val="FFFF00"/>
              </a:highlight>
              <a:ea typeface="Verdana" panose="020B0604030504040204" pitchFamily="34" charset="0"/>
            </a:endParaRPr>
          </a:p>
        </p:txBody>
      </p:sp>
      <p:sp>
        <p:nvSpPr>
          <p:cNvPr id="32" name="Rectangle 15">
            <a:extLst>
              <a:ext uri="{FF2B5EF4-FFF2-40B4-BE49-F238E27FC236}">
                <a16:creationId xmlns:a16="http://schemas.microsoft.com/office/drawing/2014/main" id="{2B93EE85-4DBB-4FF5-B36D-44C6C7BB5800}"/>
              </a:ext>
            </a:extLst>
          </p:cNvPr>
          <p:cNvSpPr>
            <a:spLocks noChangeArrowheads="1"/>
          </p:cNvSpPr>
          <p:nvPr/>
        </p:nvSpPr>
        <p:spPr bwMode="gray">
          <a:xfrm>
            <a:off x="6011370" y="4759759"/>
            <a:ext cx="5670109" cy="1614459"/>
          </a:xfrm>
          <a:prstGeom prst="rect">
            <a:avLst/>
          </a:prstGeom>
          <a:solidFill>
            <a:srgbClr val="75787B">
              <a:lumMod val="20000"/>
              <a:lumOff val="80000"/>
              <a:alpha val="50000"/>
            </a:srgbClr>
          </a:solidFill>
          <a:ln w="3175" algn="ctr">
            <a:noFill/>
            <a:miter lim="800000"/>
            <a:headEnd/>
            <a:tailEnd/>
          </a:ln>
        </p:spPr>
        <p:txBody>
          <a:bodyPr lIns="81201" tIns="55489" rIns="81201" bIns="55489" anchor="ctr"/>
          <a:lstStyle/>
          <a:p>
            <a:pPr marL="171450" indent="-171450" defTabSz="702594">
              <a:spcAft>
                <a:spcPts val="200"/>
              </a:spcAft>
              <a:buFont typeface="Arial" panose="020B0604020202020204" pitchFamily="34" charset="0"/>
              <a:buChar char="•"/>
            </a:pPr>
            <a:r>
              <a:rPr lang="en-US" sz="1200" kern="0" dirty="0">
                <a:solidFill>
                  <a:prstClr val="black"/>
                </a:solidFill>
                <a:ea typeface="Verdana" panose="020B0604030504040204" pitchFamily="34" charset="0"/>
              </a:rPr>
              <a:t>Conduct all assigned tasks in the project.</a:t>
            </a:r>
          </a:p>
          <a:p>
            <a:pPr marL="171450" indent="-171450" defTabSz="702594">
              <a:spcAft>
                <a:spcPts val="200"/>
              </a:spcAft>
              <a:buFont typeface="Arial" panose="020B0604020202020204" pitchFamily="34" charset="0"/>
              <a:buChar char="•"/>
            </a:pPr>
            <a:r>
              <a:rPr lang="en-US" sz="1200" kern="0" dirty="0">
                <a:solidFill>
                  <a:prstClr val="black"/>
                </a:solidFill>
                <a:ea typeface="Verdana" panose="020B0604030504040204" pitchFamily="34" charset="0"/>
              </a:rPr>
              <a:t>Interface with client personnel on-site.</a:t>
            </a:r>
          </a:p>
          <a:p>
            <a:pPr marL="171450" indent="-171450" defTabSz="702594">
              <a:spcAft>
                <a:spcPts val="200"/>
              </a:spcAft>
              <a:buFont typeface="Arial" panose="020B0604020202020204" pitchFamily="34" charset="0"/>
              <a:buChar char="•"/>
            </a:pPr>
            <a:r>
              <a:rPr lang="en-US" sz="1200" kern="0" dirty="0">
                <a:solidFill>
                  <a:prstClr val="black"/>
                </a:solidFill>
                <a:ea typeface="Verdana" panose="020B0604030504040204" pitchFamily="34" charset="0"/>
              </a:rPr>
              <a:t>Draft required deliverables.</a:t>
            </a:r>
          </a:p>
          <a:p>
            <a:pPr marL="171450" indent="-171450" defTabSz="702594">
              <a:spcAft>
                <a:spcPts val="200"/>
              </a:spcAft>
              <a:buFont typeface="Arial" panose="020B0604020202020204" pitchFamily="34" charset="0"/>
              <a:buChar char="•"/>
            </a:pPr>
            <a:r>
              <a:rPr lang="en-US" sz="1200" kern="0" dirty="0">
                <a:solidFill>
                  <a:prstClr val="black"/>
                </a:solidFill>
                <a:ea typeface="Verdana" panose="020B0604030504040204" pitchFamily="34" charset="0"/>
              </a:rPr>
              <a:t>Support in Regulatory &amp; Policy related matters.</a:t>
            </a:r>
          </a:p>
          <a:p>
            <a:pPr marL="171450" indent="-171450" defTabSz="702594">
              <a:spcAft>
                <a:spcPts val="200"/>
              </a:spcAft>
              <a:buFont typeface="Arial" panose="020B0604020202020204" pitchFamily="34" charset="0"/>
              <a:buChar char="•"/>
            </a:pPr>
            <a:r>
              <a:rPr lang="en-US" sz="1200" kern="0" dirty="0">
                <a:solidFill>
                  <a:prstClr val="black"/>
                </a:solidFill>
                <a:ea typeface="Verdana" panose="020B0604030504040204" pitchFamily="34" charset="0"/>
              </a:rPr>
              <a:t>Support on areas of stressed asset management.</a:t>
            </a:r>
          </a:p>
          <a:p>
            <a:pPr marL="171450" indent="-171450" defTabSz="702594">
              <a:spcAft>
                <a:spcPts val="200"/>
              </a:spcAft>
              <a:buFont typeface="Arial" panose="020B0604020202020204" pitchFamily="34" charset="0"/>
              <a:buChar char="•"/>
            </a:pPr>
            <a:r>
              <a:rPr lang="en-US" sz="1200" kern="0" dirty="0">
                <a:solidFill>
                  <a:prstClr val="black"/>
                </a:solidFill>
                <a:ea typeface="Verdana" panose="020B0604030504040204" pitchFamily="34" charset="0"/>
              </a:rPr>
              <a:t>Support in Project and Project Management.</a:t>
            </a:r>
          </a:p>
        </p:txBody>
      </p:sp>
      <p:sp>
        <p:nvSpPr>
          <p:cNvPr id="35" name="Rectangle 15">
            <a:extLst>
              <a:ext uri="{FF2B5EF4-FFF2-40B4-BE49-F238E27FC236}">
                <a16:creationId xmlns:a16="http://schemas.microsoft.com/office/drawing/2014/main" id="{88950408-63CB-4752-A5C3-C96C0119EC3E}"/>
              </a:ext>
            </a:extLst>
          </p:cNvPr>
          <p:cNvSpPr>
            <a:spLocks noChangeArrowheads="1"/>
          </p:cNvSpPr>
          <p:nvPr/>
        </p:nvSpPr>
        <p:spPr bwMode="gray">
          <a:xfrm>
            <a:off x="6011370" y="3486872"/>
            <a:ext cx="5673459" cy="1127559"/>
          </a:xfrm>
          <a:prstGeom prst="rect">
            <a:avLst/>
          </a:prstGeom>
          <a:solidFill>
            <a:srgbClr val="75787B">
              <a:lumMod val="20000"/>
              <a:lumOff val="80000"/>
              <a:alpha val="50000"/>
            </a:srgbClr>
          </a:solidFill>
          <a:ln w="3175" algn="ctr">
            <a:noFill/>
            <a:miter lim="800000"/>
            <a:headEnd/>
            <a:tailEnd/>
          </a:ln>
        </p:spPr>
        <p:txBody>
          <a:bodyPr lIns="81201" tIns="55489" rIns="81201" bIns="55489" anchor="ctr"/>
          <a:lstStyle/>
          <a:p>
            <a:pPr marL="171450" lvl="0" indent="-171450" defTabSz="702594">
              <a:spcAft>
                <a:spcPts val="200"/>
              </a:spcAft>
              <a:buFont typeface="Arial" panose="020B0604020202020204" pitchFamily="34" charset="0"/>
              <a:buChar char="•"/>
              <a:defRPr/>
            </a:pPr>
            <a:r>
              <a:rPr lang="en-US" sz="1200" kern="0" dirty="0">
                <a:solidFill>
                  <a:prstClr val="black"/>
                </a:solidFill>
                <a:ea typeface="Verdana" panose="020B0604030504040204" pitchFamily="34" charset="0"/>
                <a:cs typeface="Verdana" panose="020B0604030504040204" pitchFamily="34" charset="0"/>
              </a:rPr>
              <a:t>Interact and coordinate with the Senior Management, key stakeholders of REC.</a:t>
            </a:r>
          </a:p>
          <a:p>
            <a:pPr marL="171450" lvl="0" indent="-171450" defTabSz="702594">
              <a:spcAft>
                <a:spcPts val="200"/>
              </a:spcAft>
              <a:buFont typeface="Arial" panose="020B0604020202020204" pitchFamily="34" charset="0"/>
              <a:buChar char="•"/>
              <a:defRPr/>
            </a:pPr>
            <a:r>
              <a:rPr lang="en-US" sz="1200" kern="0" dirty="0">
                <a:solidFill>
                  <a:prstClr val="black"/>
                </a:solidFill>
                <a:ea typeface="Verdana" panose="020B0604030504040204" pitchFamily="34" charset="0"/>
                <a:cs typeface="Verdana" panose="020B0604030504040204" pitchFamily="34" charset="0"/>
              </a:rPr>
              <a:t>Ensure project objectives are met within timelines and scope outlined.</a:t>
            </a:r>
          </a:p>
          <a:p>
            <a:pPr marL="171450" lvl="0" indent="-171450" defTabSz="702594">
              <a:spcAft>
                <a:spcPts val="200"/>
              </a:spcAft>
              <a:buFont typeface="Arial" panose="020B0604020202020204" pitchFamily="34" charset="0"/>
              <a:buChar char="•"/>
              <a:defRPr/>
            </a:pPr>
            <a:r>
              <a:rPr lang="en-US" sz="1200" kern="0" dirty="0">
                <a:solidFill>
                  <a:prstClr val="black"/>
                </a:solidFill>
                <a:ea typeface="Verdana" panose="020B0604030504040204" pitchFamily="34" charset="0"/>
                <a:cs typeface="Verdana" panose="020B0604030504040204" pitchFamily="34" charset="0"/>
              </a:rPr>
              <a:t>Provide progress update to stakeholders.</a:t>
            </a:r>
          </a:p>
          <a:p>
            <a:pPr marL="171450" lvl="0" indent="-171450" defTabSz="702594">
              <a:spcAft>
                <a:spcPts val="200"/>
              </a:spcAft>
              <a:buFont typeface="Arial" panose="020B0604020202020204" pitchFamily="34" charset="0"/>
              <a:buChar char="•"/>
              <a:defRPr/>
            </a:pPr>
            <a:r>
              <a:rPr lang="en-US" sz="1200" kern="0" dirty="0">
                <a:solidFill>
                  <a:prstClr val="black"/>
                </a:solidFill>
                <a:ea typeface="Verdana" panose="020B0604030504040204" pitchFamily="34" charset="0"/>
                <a:cs typeface="Verdana" panose="020B0604030504040204" pitchFamily="34" charset="0"/>
              </a:rPr>
              <a:t>Manage resources deployment and deliverable review.</a:t>
            </a:r>
          </a:p>
        </p:txBody>
      </p:sp>
      <p:sp>
        <p:nvSpPr>
          <p:cNvPr id="22" name="Rectangle 2">
            <a:extLst>
              <a:ext uri="{FF2B5EF4-FFF2-40B4-BE49-F238E27FC236}">
                <a16:creationId xmlns:a16="http://schemas.microsoft.com/office/drawing/2014/main" id="{C60ECC2F-4F33-4F56-A2C5-D7CD02ED95CD}"/>
              </a:ext>
            </a:extLst>
          </p:cNvPr>
          <p:cNvSpPr txBox="1">
            <a:spLocks noChangeArrowheads="1"/>
          </p:cNvSpPr>
          <p:nvPr/>
        </p:nvSpPr>
        <p:spPr bwMode="gray">
          <a:xfrm>
            <a:off x="6017392" y="1254940"/>
            <a:ext cx="5704707" cy="252000"/>
          </a:xfrm>
          <a:prstGeom prst="rect">
            <a:avLst/>
          </a:prstGeom>
          <a:solidFill>
            <a:srgbClr val="0D8390"/>
          </a:solidFill>
          <a:ln>
            <a:noFill/>
          </a:ln>
        </p:spPr>
        <p:txBody>
          <a:bodyPr wrap="square" lIns="81201" tIns="0" rIns="0" bIns="0" anchor="ctr">
            <a:noAutofit/>
          </a:bodyPr>
          <a:lstStyle>
            <a:lvl1pPr defTabSz="954088" eaLnBrk="0" hangingPunct="0">
              <a:defRPr>
                <a:solidFill>
                  <a:schemeClr val="tx1"/>
                </a:solidFill>
                <a:latin typeface="Arial" pitchFamily="34" charset="0"/>
                <a:cs typeface="Arial" pitchFamily="34" charset="0"/>
              </a:defRPr>
            </a:lvl1pPr>
            <a:lvl2pPr marL="742950" indent="-285750" defTabSz="954088" eaLnBrk="0" hangingPunct="0">
              <a:defRPr>
                <a:solidFill>
                  <a:schemeClr val="tx1"/>
                </a:solidFill>
                <a:latin typeface="Arial" pitchFamily="34" charset="0"/>
                <a:cs typeface="Arial" pitchFamily="34" charset="0"/>
              </a:defRPr>
            </a:lvl2pPr>
            <a:lvl3pPr marL="1143000" indent="-228600" defTabSz="954088" eaLnBrk="0" hangingPunct="0">
              <a:defRPr>
                <a:solidFill>
                  <a:schemeClr val="tx1"/>
                </a:solidFill>
                <a:latin typeface="Arial" pitchFamily="34" charset="0"/>
                <a:cs typeface="Arial" pitchFamily="34" charset="0"/>
              </a:defRPr>
            </a:lvl3pPr>
            <a:lvl4pPr marL="1600200" indent="-228600" defTabSz="954088" eaLnBrk="0" hangingPunct="0">
              <a:defRPr>
                <a:solidFill>
                  <a:schemeClr val="tx1"/>
                </a:solidFill>
                <a:latin typeface="Arial" pitchFamily="34" charset="0"/>
                <a:cs typeface="Arial" pitchFamily="34" charset="0"/>
              </a:defRPr>
            </a:lvl4pPr>
            <a:lvl5pPr marL="2057400" indent="-228600" defTabSz="954088" eaLnBrk="0" hangingPunct="0">
              <a:defRPr>
                <a:solidFill>
                  <a:schemeClr val="tx1"/>
                </a:solidFill>
                <a:latin typeface="Arial" pitchFamily="34" charset="0"/>
                <a:cs typeface="Arial" pitchFamily="34" charset="0"/>
              </a:defRPr>
            </a:lvl5pPr>
            <a:lvl6pPr marL="2514600" indent="-228600" defTabSz="954088"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954088"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954088"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954088" eaLnBrk="0" fontAlgn="base" hangingPunct="0">
              <a:spcBef>
                <a:spcPct val="0"/>
              </a:spcBef>
              <a:spcAft>
                <a:spcPct val="0"/>
              </a:spcAft>
              <a:defRPr>
                <a:solidFill>
                  <a:schemeClr val="tx1"/>
                </a:solidFill>
                <a:latin typeface="Arial" pitchFamily="34" charset="0"/>
                <a:cs typeface="Arial" pitchFamily="34" charset="0"/>
              </a:defRPr>
            </a:lvl9pPr>
          </a:lstStyle>
          <a:p>
            <a:pPr marL="0" marR="0" lvl="0" indent="0" algn="ctr" defTabSz="717310" rtl="0" eaLnBrk="1" fontAlgn="auto" latinLnBrk="0" hangingPunct="1">
              <a:lnSpc>
                <a:spcPts val="1626"/>
              </a:lnSpc>
              <a:spcBef>
                <a:spcPts val="0"/>
              </a:spcBef>
              <a:spcAft>
                <a:spcPts val="0"/>
              </a:spcAft>
              <a:buClrTx/>
              <a:buSzTx/>
              <a:buFontTx/>
              <a:buNone/>
              <a:tabLst/>
              <a:defRPr/>
            </a:pPr>
            <a:r>
              <a:rPr kumimoji="0" lang="en-US" sz="1400" b="1" i="0" u="none" strike="noStrike" kern="0" cap="none" spc="0" normalizeH="0" baseline="0" noProof="0" dirty="0">
                <a:ln>
                  <a:noFill/>
                </a:ln>
                <a:solidFill>
                  <a:schemeClr val="bg1"/>
                </a:solidFill>
                <a:effectLst/>
                <a:uLnTx/>
                <a:uFillTx/>
                <a:latin typeface="+mj-lt"/>
                <a:ea typeface="Verdana" panose="020B0604030504040204" pitchFamily="34" charset="0"/>
                <a:cs typeface="Verdana" panose="020B0604030504040204" pitchFamily="34" charset="0"/>
              </a:rPr>
              <a:t>RESPONSIBILITIES</a:t>
            </a:r>
          </a:p>
        </p:txBody>
      </p:sp>
      <p:sp>
        <p:nvSpPr>
          <p:cNvPr id="24" name="Rectangle 2">
            <a:extLst>
              <a:ext uri="{FF2B5EF4-FFF2-40B4-BE49-F238E27FC236}">
                <a16:creationId xmlns:a16="http://schemas.microsoft.com/office/drawing/2014/main" id="{5D074366-8A08-415A-ABEA-378F4F66D7A6}"/>
              </a:ext>
            </a:extLst>
          </p:cNvPr>
          <p:cNvSpPr txBox="1">
            <a:spLocks noChangeArrowheads="1"/>
          </p:cNvSpPr>
          <p:nvPr/>
        </p:nvSpPr>
        <p:spPr bwMode="gray">
          <a:xfrm>
            <a:off x="469900" y="1254941"/>
            <a:ext cx="5341619" cy="251999"/>
          </a:xfrm>
          <a:prstGeom prst="rect">
            <a:avLst/>
          </a:prstGeom>
          <a:solidFill>
            <a:srgbClr val="0D8390"/>
          </a:solidFill>
          <a:ln>
            <a:noFill/>
          </a:ln>
        </p:spPr>
        <p:txBody>
          <a:bodyPr wrap="square" lIns="81201" tIns="0" rIns="0" bIns="0" anchor="ctr">
            <a:noAutofit/>
          </a:bodyPr>
          <a:lstStyle>
            <a:lvl1pPr defTabSz="954088" eaLnBrk="0" hangingPunct="0">
              <a:defRPr>
                <a:solidFill>
                  <a:schemeClr val="tx1"/>
                </a:solidFill>
                <a:latin typeface="Arial" pitchFamily="34" charset="0"/>
                <a:cs typeface="Arial" pitchFamily="34" charset="0"/>
              </a:defRPr>
            </a:lvl1pPr>
            <a:lvl2pPr marL="742950" indent="-285750" defTabSz="954088" eaLnBrk="0" hangingPunct="0">
              <a:defRPr>
                <a:solidFill>
                  <a:schemeClr val="tx1"/>
                </a:solidFill>
                <a:latin typeface="Arial" pitchFamily="34" charset="0"/>
                <a:cs typeface="Arial" pitchFamily="34" charset="0"/>
              </a:defRPr>
            </a:lvl2pPr>
            <a:lvl3pPr marL="1143000" indent="-228600" defTabSz="954088" eaLnBrk="0" hangingPunct="0">
              <a:defRPr>
                <a:solidFill>
                  <a:schemeClr val="tx1"/>
                </a:solidFill>
                <a:latin typeface="Arial" pitchFamily="34" charset="0"/>
                <a:cs typeface="Arial" pitchFamily="34" charset="0"/>
              </a:defRPr>
            </a:lvl3pPr>
            <a:lvl4pPr marL="1600200" indent="-228600" defTabSz="954088" eaLnBrk="0" hangingPunct="0">
              <a:defRPr>
                <a:solidFill>
                  <a:schemeClr val="tx1"/>
                </a:solidFill>
                <a:latin typeface="Arial" pitchFamily="34" charset="0"/>
                <a:cs typeface="Arial" pitchFamily="34" charset="0"/>
              </a:defRPr>
            </a:lvl4pPr>
            <a:lvl5pPr marL="2057400" indent="-228600" defTabSz="954088" eaLnBrk="0" hangingPunct="0">
              <a:defRPr>
                <a:solidFill>
                  <a:schemeClr val="tx1"/>
                </a:solidFill>
                <a:latin typeface="Arial" pitchFamily="34" charset="0"/>
                <a:cs typeface="Arial" pitchFamily="34" charset="0"/>
              </a:defRPr>
            </a:lvl5pPr>
            <a:lvl6pPr marL="2514600" indent="-228600" defTabSz="954088" eaLnBrk="0" fontAlgn="base" hangingPunct="0">
              <a:spcBef>
                <a:spcPct val="0"/>
              </a:spcBef>
              <a:spcAft>
                <a:spcPct val="0"/>
              </a:spcAft>
              <a:defRPr>
                <a:solidFill>
                  <a:schemeClr val="tx1"/>
                </a:solidFill>
                <a:latin typeface="Arial" pitchFamily="34" charset="0"/>
                <a:cs typeface="Arial" pitchFamily="34" charset="0"/>
              </a:defRPr>
            </a:lvl6pPr>
            <a:lvl7pPr marL="2971800" indent="-228600" defTabSz="954088" eaLnBrk="0" fontAlgn="base" hangingPunct="0">
              <a:spcBef>
                <a:spcPct val="0"/>
              </a:spcBef>
              <a:spcAft>
                <a:spcPct val="0"/>
              </a:spcAft>
              <a:defRPr>
                <a:solidFill>
                  <a:schemeClr val="tx1"/>
                </a:solidFill>
                <a:latin typeface="Arial" pitchFamily="34" charset="0"/>
                <a:cs typeface="Arial" pitchFamily="34" charset="0"/>
              </a:defRPr>
            </a:lvl7pPr>
            <a:lvl8pPr marL="3429000" indent="-228600" defTabSz="954088" eaLnBrk="0" fontAlgn="base" hangingPunct="0">
              <a:spcBef>
                <a:spcPct val="0"/>
              </a:spcBef>
              <a:spcAft>
                <a:spcPct val="0"/>
              </a:spcAft>
              <a:defRPr>
                <a:solidFill>
                  <a:schemeClr val="tx1"/>
                </a:solidFill>
                <a:latin typeface="Arial" pitchFamily="34" charset="0"/>
                <a:cs typeface="Arial" pitchFamily="34" charset="0"/>
              </a:defRPr>
            </a:lvl8pPr>
            <a:lvl9pPr marL="3886200" indent="-228600" defTabSz="954088" eaLnBrk="0" fontAlgn="base" hangingPunct="0">
              <a:spcBef>
                <a:spcPct val="0"/>
              </a:spcBef>
              <a:spcAft>
                <a:spcPct val="0"/>
              </a:spcAft>
              <a:defRPr>
                <a:solidFill>
                  <a:schemeClr val="tx1"/>
                </a:solidFill>
                <a:latin typeface="Arial" pitchFamily="34" charset="0"/>
                <a:cs typeface="Arial" pitchFamily="34" charset="0"/>
              </a:defRPr>
            </a:lvl9pPr>
          </a:lstStyle>
          <a:p>
            <a:pPr marL="0" marR="0" lvl="0" indent="0" algn="ctr" defTabSz="717310" rtl="0" eaLnBrk="1" fontAlgn="auto" latinLnBrk="0" hangingPunct="1">
              <a:lnSpc>
                <a:spcPts val="1626"/>
              </a:lnSpc>
              <a:spcBef>
                <a:spcPts val="0"/>
              </a:spcBef>
              <a:spcAft>
                <a:spcPts val="0"/>
              </a:spcAft>
              <a:buClrTx/>
              <a:buSzTx/>
              <a:buFontTx/>
              <a:buNone/>
              <a:tabLst/>
              <a:defRPr/>
            </a:pPr>
            <a:r>
              <a:rPr kumimoji="0" lang="en-US" sz="1400" b="1" i="0" u="none" strike="noStrike" kern="0" cap="none" spc="0" normalizeH="0" baseline="0" noProof="0" dirty="0">
                <a:ln>
                  <a:noFill/>
                </a:ln>
                <a:solidFill>
                  <a:schemeClr val="bg1"/>
                </a:solidFill>
                <a:effectLst/>
                <a:uLnTx/>
                <a:uFillTx/>
                <a:latin typeface="+mj-lt"/>
                <a:ea typeface="Verdana" panose="020B0604030504040204" pitchFamily="34" charset="0"/>
                <a:cs typeface="Verdana" panose="020B0604030504040204" pitchFamily="34" charset="0"/>
              </a:rPr>
              <a:t>ROLE</a:t>
            </a:r>
          </a:p>
        </p:txBody>
      </p:sp>
      <p:pic>
        <p:nvPicPr>
          <p:cNvPr id="11" name="Picture 10">
            <a:extLst>
              <a:ext uri="{FF2B5EF4-FFF2-40B4-BE49-F238E27FC236}">
                <a16:creationId xmlns:a16="http://schemas.microsoft.com/office/drawing/2014/main" id="{2CE53106-3749-4C1E-AB6E-180F6C531A8A}"/>
              </a:ext>
            </a:extLst>
          </p:cNvPr>
          <p:cNvPicPr>
            <a:picLocks noChangeAspect="1"/>
          </p:cNvPicPr>
          <p:nvPr/>
        </p:nvPicPr>
        <p:blipFill>
          <a:blip r:embed="rId2"/>
          <a:stretch>
            <a:fillRect/>
          </a:stretch>
        </p:blipFill>
        <p:spPr>
          <a:xfrm>
            <a:off x="469900" y="1543008"/>
            <a:ext cx="5341618" cy="4990078"/>
          </a:xfrm>
          <a:prstGeom prst="rect">
            <a:avLst/>
          </a:prstGeom>
        </p:spPr>
      </p:pic>
    </p:spTree>
    <p:extLst>
      <p:ext uri="{BB962C8B-B14F-4D97-AF65-F5344CB8AC3E}">
        <p14:creationId xmlns:p14="http://schemas.microsoft.com/office/powerpoint/2010/main" val="23974186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p:cNvSpPr>
            <a:spLocks noGrp="1"/>
          </p:cNvSpPr>
          <p:nvPr>
            <p:ph type="body" sz="quarter" idx="4294967295"/>
          </p:nvPr>
        </p:nvSpPr>
        <p:spPr>
          <a:xfrm>
            <a:off x="471054" y="4810148"/>
            <a:ext cx="11055927" cy="2257402"/>
          </a:xfrm>
          <a:prstGeom prst="rect">
            <a:avLst/>
          </a:prstGeom>
        </p:spPr>
        <p:txBody>
          <a:bodyPr>
            <a:noAutofit/>
          </a:bodyPr>
          <a:lstStyle/>
          <a:p>
            <a:pPr>
              <a:spcAft>
                <a:spcPts val="662"/>
              </a:spcAft>
            </a:pPr>
            <a:r>
              <a:rPr lang="en-US" sz="1000" dirty="0">
                <a:latin typeface="Calibri" panose="020F0502020204030204" pitchFamily="34" charset="0"/>
                <a:cs typeface="Calibri" panose="020F0502020204030204" pitchFamily="34" charset="0"/>
              </a:rPr>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a:spcAft>
                <a:spcPts val="662"/>
              </a:spcAft>
            </a:pPr>
            <a:r>
              <a:rPr lang="en-US" sz="1000" dirty="0">
                <a:latin typeface="Calibri" panose="020F0502020204030204" pitchFamily="34" charset="0"/>
                <a:cs typeface="Calibri" panose="020F0502020204030204" pitchFamily="34" charset="0"/>
              </a:rPr>
              <a:t>This material has been prepared by Deloitte Touche Tohmatsu India LLP (“DTTI LLP”), a member of Deloitte Touche Tohmatsu Limited, on a specific request from you and contains proprietary and confidential information. This material may contain information sourced from publicly available information or other third party sources. DTTI 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a:spcAft>
                <a:spcPts val="662"/>
              </a:spcAft>
            </a:pPr>
            <a:r>
              <a:rPr lang="en-US" sz="1000" dirty="0">
                <a:latin typeface="Calibri" panose="020F0502020204030204" pitchFamily="34" charset="0"/>
                <a:cs typeface="Calibri" panose="020F0502020204030204" pitchFamily="34" charset="0"/>
              </a:rPr>
              <a:t>Nothing in this material creates any contractual relationship between DTTI LLP and you. Any mutually binding legal obligations or rights may only be created between you and DTTI LLP upon execution of a legally binding contract. By using this material and any information contained in it, the user accepts this entire notice and terms of use.</a:t>
            </a:r>
          </a:p>
          <a:p>
            <a:pPr>
              <a:spcAft>
                <a:spcPts val="662"/>
              </a:spcAft>
            </a:pPr>
            <a:r>
              <a:rPr lang="en-US" sz="1000" dirty="0">
                <a:latin typeface="Calibri" panose="020F0502020204030204" pitchFamily="34" charset="0"/>
                <a:cs typeface="Calibri" panose="020F0502020204030204" pitchFamily="34" charset="0"/>
              </a:rPr>
              <a:t>©2021 Deloitte Touche Tohmatsu India LLP. Member of Deloitte Touche Tohmatsu Limited</a:t>
            </a:r>
          </a:p>
        </p:txBody>
      </p:sp>
    </p:spTree>
    <p:extLst>
      <p:ext uri="{BB962C8B-B14F-4D97-AF65-F5344CB8AC3E}">
        <p14:creationId xmlns:p14="http://schemas.microsoft.com/office/powerpoint/2010/main" val="37836339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0A4FC79-17CB-4548-A848-7DA5082FFC3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Rounded Rectangle 5">
            <a:extLst>
              <a:ext uri="{FF2B5EF4-FFF2-40B4-BE49-F238E27FC236}">
                <a16:creationId xmlns:a16="http://schemas.microsoft.com/office/drawing/2014/main" id="{D4A387F1-EA8E-4E7F-B8A9-23B600B6A2B9}"/>
              </a:ext>
            </a:extLst>
          </p:cNvPr>
          <p:cNvSpPr/>
          <p:nvPr/>
        </p:nvSpPr>
        <p:spPr bwMode="gray">
          <a:xfrm>
            <a:off x="469900" y="5100948"/>
            <a:ext cx="10426700" cy="792000"/>
          </a:xfrm>
          <a:prstGeom prst="roundRect">
            <a:avLst>
              <a:gd name="adj" fmla="val 50000"/>
            </a:avLst>
          </a:prstGeom>
          <a:solidFill>
            <a:srgbClr val="007680"/>
          </a:solidFill>
          <a:ln w="19050" algn="ctr">
            <a:noFill/>
            <a:miter lim="800000"/>
            <a:headEnd/>
            <a:tailEnd/>
          </a:ln>
        </p:spPr>
        <p:txBody>
          <a:bodyPr wrap="square" lIns="396000" tIns="88900" rIns="88900" bIns="88900" rtlCol="0" anchor="ctr"/>
          <a:lstStyle/>
          <a:p>
            <a:pPr>
              <a:buFont typeface="Wingdings 2" pitchFamily="18" charset="2"/>
              <a:buNone/>
            </a:pPr>
            <a:r>
              <a:rPr lang="en-US" sz="2800" b="1" dirty="0">
                <a:solidFill>
                  <a:schemeClr val="bg1"/>
                </a:solidFill>
                <a:latin typeface="Calibri Light" panose="020F0302020204030204" pitchFamily="34" charset="0"/>
                <a:cs typeface="Calibri Light" panose="020F0302020204030204" pitchFamily="34" charset="0"/>
              </a:rPr>
              <a:t>About Deloitte </a:t>
            </a:r>
          </a:p>
        </p:txBody>
      </p:sp>
      <p:grpSp>
        <p:nvGrpSpPr>
          <p:cNvPr id="5" name="Group 4">
            <a:extLst>
              <a:ext uri="{FF2B5EF4-FFF2-40B4-BE49-F238E27FC236}">
                <a16:creationId xmlns:a16="http://schemas.microsoft.com/office/drawing/2014/main" id="{FCF8A8CB-7327-45F8-9DD0-161329CA244F}"/>
              </a:ext>
            </a:extLst>
          </p:cNvPr>
          <p:cNvGrpSpPr/>
          <p:nvPr/>
        </p:nvGrpSpPr>
        <p:grpSpPr>
          <a:xfrm>
            <a:off x="9733457" y="4798696"/>
            <a:ext cx="1402578" cy="1397650"/>
            <a:chOff x="9718644" y="4783956"/>
            <a:chExt cx="1432160" cy="1427129"/>
          </a:xfrm>
        </p:grpSpPr>
        <p:sp>
          <p:nvSpPr>
            <p:cNvPr id="6" name="Pie 8">
              <a:extLst>
                <a:ext uri="{FF2B5EF4-FFF2-40B4-BE49-F238E27FC236}">
                  <a16:creationId xmlns:a16="http://schemas.microsoft.com/office/drawing/2014/main" id="{97A007AE-E67C-428B-B7B9-9E5D28B5169C}"/>
                </a:ext>
              </a:extLst>
            </p:cNvPr>
            <p:cNvSpPr/>
            <p:nvPr/>
          </p:nvSpPr>
          <p:spPr bwMode="gray">
            <a:xfrm rot="13500000">
              <a:off x="9723677" y="4783959"/>
              <a:ext cx="1427127" cy="1427126"/>
            </a:xfrm>
            <a:prstGeom prst="pie">
              <a:avLst>
                <a:gd name="adj1" fmla="val 5389768"/>
                <a:gd name="adj2" fmla="val 10751584"/>
              </a:avLst>
            </a:prstGeom>
            <a:solidFill>
              <a:srgbClr val="00ABAB">
                <a:alpha val="50000"/>
              </a:srgbClr>
            </a:solidFill>
            <a:ln w="19050" algn="ctr">
              <a:noFill/>
              <a:miter lim="800000"/>
              <a:headEnd/>
              <a:tailEnd/>
            </a:ln>
          </p:spPr>
          <p:txBody>
            <a:bodyPr wrap="square" lIns="77938" tIns="77938" rIns="77938" bIns="77938" rtlCol="0" anchor="ctr"/>
            <a:lstStyle/>
            <a:p>
              <a:pPr algn="ctr">
                <a:lnSpc>
                  <a:spcPct val="106000"/>
                </a:lnSpc>
                <a:buFont typeface="Wingdings 2" pitchFamily="18" charset="2"/>
                <a:buNone/>
              </a:pPr>
              <a:endParaRPr lang="en-IN" sz="1403" b="1" dirty="0">
                <a:solidFill>
                  <a:schemeClr val="bg1"/>
                </a:solidFill>
              </a:endParaRPr>
            </a:p>
          </p:txBody>
        </p:sp>
        <p:sp>
          <p:nvSpPr>
            <p:cNvPr id="7" name="Pie 9">
              <a:extLst>
                <a:ext uri="{FF2B5EF4-FFF2-40B4-BE49-F238E27FC236}">
                  <a16:creationId xmlns:a16="http://schemas.microsoft.com/office/drawing/2014/main" id="{79410807-BF7F-4DDD-8C32-94926876177D}"/>
                </a:ext>
              </a:extLst>
            </p:cNvPr>
            <p:cNvSpPr/>
            <p:nvPr/>
          </p:nvSpPr>
          <p:spPr bwMode="gray">
            <a:xfrm rot="2700000">
              <a:off x="9718642" y="4783958"/>
              <a:ext cx="1427129" cy="1427126"/>
            </a:xfrm>
            <a:prstGeom prst="pie">
              <a:avLst>
                <a:gd name="adj1" fmla="val 5389768"/>
                <a:gd name="adj2" fmla="val 10751584"/>
              </a:avLst>
            </a:prstGeom>
            <a:solidFill>
              <a:srgbClr val="00ABAB">
                <a:alpha val="50000"/>
              </a:srgbClr>
            </a:solidFill>
            <a:ln w="19050" algn="ctr">
              <a:noFill/>
              <a:miter lim="800000"/>
              <a:headEnd/>
              <a:tailEnd/>
            </a:ln>
          </p:spPr>
          <p:txBody>
            <a:bodyPr wrap="square" lIns="77938" tIns="77938" rIns="77938" bIns="77938" rtlCol="0" anchor="ctr"/>
            <a:lstStyle/>
            <a:p>
              <a:pPr algn="ctr">
                <a:lnSpc>
                  <a:spcPct val="106000"/>
                </a:lnSpc>
                <a:buFont typeface="Wingdings 2" pitchFamily="18" charset="2"/>
                <a:buNone/>
              </a:pPr>
              <a:endParaRPr lang="en-IN" sz="1403" b="1" dirty="0">
                <a:solidFill>
                  <a:schemeClr val="bg1"/>
                </a:solidFill>
              </a:endParaRPr>
            </a:p>
          </p:txBody>
        </p:sp>
      </p:grpSp>
      <p:sp>
        <p:nvSpPr>
          <p:cNvPr id="8" name="Oval 7">
            <a:extLst>
              <a:ext uri="{FF2B5EF4-FFF2-40B4-BE49-F238E27FC236}">
                <a16:creationId xmlns:a16="http://schemas.microsoft.com/office/drawing/2014/main" id="{F80C2722-EEE4-4BF0-B0B7-1135E3A8E630}"/>
              </a:ext>
            </a:extLst>
          </p:cNvPr>
          <p:cNvSpPr/>
          <p:nvPr/>
        </p:nvSpPr>
        <p:spPr bwMode="gray">
          <a:xfrm rot="2700000">
            <a:off x="9990310" y="5053104"/>
            <a:ext cx="887686" cy="887685"/>
          </a:xfrm>
          <a:prstGeom prst="ellipse">
            <a:avLst/>
          </a:prstGeom>
          <a:solidFill>
            <a:srgbClr val="00ABAB"/>
          </a:solidFill>
          <a:ln w="25400" cap="rnd" algn="ctr">
            <a:solidFill>
              <a:schemeClr val="accent6">
                <a:lumMod val="60000"/>
                <a:lumOff val="40000"/>
              </a:schemeClr>
            </a:solidFill>
            <a:prstDash val="sysDash"/>
            <a:round/>
            <a:headEnd/>
            <a:tailEnd/>
          </a:ln>
          <a:effectLst/>
        </p:spPr>
        <p:txBody>
          <a:bodyPr wrap="square" lIns="77938" tIns="77938" rIns="77938" bIns="77938" rtlCol="0" anchor="ctr"/>
          <a:lstStyle/>
          <a:p>
            <a:pPr algn="ctr">
              <a:lnSpc>
                <a:spcPct val="106000"/>
              </a:lnSpc>
              <a:buFont typeface="Wingdings 2" pitchFamily="18" charset="2"/>
              <a:buNone/>
            </a:pPr>
            <a:endParaRPr lang="en-IN" sz="1403" b="1" dirty="0">
              <a:solidFill>
                <a:schemeClr val="bg1"/>
              </a:solidFill>
            </a:endParaRPr>
          </a:p>
        </p:txBody>
      </p:sp>
      <p:grpSp>
        <p:nvGrpSpPr>
          <p:cNvPr id="18" name="Group 639">
            <a:extLst>
              <a:ext uri="{FF2B5EF4-FFF2-40B4-BE49-F238E27FC236}">
                <a16:creationId xmlns:a16="http://schemas.microsoft.com/office/drawing/2014/main" id="{73B95B37-641E-4014-93F5-CFBB5D62384C}"/>
              </a:ext>
            </a:extLst>
          </p:cNvPr>
          <p:cNvGrpSpPr>
            <a:grpSpLocks/>
          </p:cNvGrpSpPr>
          <p:nvPr/>
        </p:nvGrpSpPr>
        <p:grpSpPr bwMode="auto">
          <a:xfrm>
            <a:off x="10180821" y="5245486"/>
            <a:ext cx="502920" cy="502920"/>
            <a:chOff x="5418" y="2871"/>
            <a:chExt cx="340" cy="341"/>
          </a:xfrm>
          <a:solidFill>
            <a:schemeClr val="bg1"/>
          </a:solidFill>
        </p:grpSpPr>
        <p:sp>
          <p:nvSpPr>
            <p:cNvPr id="19" name="Freeform 640">
              <a:extLst>
                <a:ext uri="{FF2B5EF4-FFF2-40B4-BE49-F238E27FC236}">
                  <a16:creationId xmlns:a16="http://schemas.microsoft.com/office/drawing/2014/main" id="{EC0695B9-3260-424A-B942-1DB93847856C}"/>
                </a:ext>
              </a:extLst>
            </p:cNvPr>
            <p:cNvSpPr>
              <a:spLocks noEditPoints="1"/>
            </p:cNvSpPr>
            <p:nvPr/>
          </p:nvSpPr>
          <p:spPr bwMode="auto">
            <a:xfrm>
              <a:off x="5481" y="2948"/>
              <a:ext cx="214" cy="157"/>
            </a:xfrm>
            <a:custGeom>
              <a:avLst/>
              <a:gdLst>
                <a:gd name="T0" fmla="*/ 182 w 322"/>
                <a:gd name="T1" fmla="*/ 30 h 236"/>
                <a:gd name="T2" fmla="*/ 175 w 322"/>
                <a:gd name="T3" fmla="*/ 23 h 236"/>
                <a:gd name="T4" fmla="*/ 166 w 322"/>
                <a:gd name="T5" fmla="*/ 24 h 236"/>
                <a:gd name="T6" fmla="*/ 6 w 322"/>
                <a:gd name="T7" fmla="*/ 120 h 236"/>
                <a:gd name="T8" fmla="*/ 1 w 322"/>
                <a:gd name="T9" fmla="*/ 132 h 236"/>
                <a:gd name="T10" fmla="*/ 15 w 322"/>
                <a:gd name="T11" fmla="*/ 185 h 236"/>
                <a:gd name="T12" fmla="*/ 25 w 322"/>
                <a:gd name="T13" fmla="*/ 193 h 236"/>
                <a:gd name="T14" fmla="*/ 75 w 322"/>
                <a:gd name="T15" fmla="*/ 193 h 236"/>
                <a:gd name="T16" fmla="*/ 75 w 322"/>
                <a:gd name="T17" fmla="*/ 193 h 236"/>
                <a:gd name="T18" fmla="*/ 118 w 322"/>
                <a:gd name="T19" fmla="*/ 236 h 236"/>
                <a:gd name="T20" fmla="*/ 161 w 322"/>
                <a:gd name="T21" fmla="*/ 193 h 236"/>
                <a:gd name="T22" fmla="*/ 161 w 322"/>
                <a:gd name="T23" fmla="*/ 193 h 236"/>
                <a:gd name="T24" fmla="*/ 214 w 322"/>
                <a:gd name="T25" fmla="*/ 193 h 236"/>
                <a:gd name="T26" fmla="*/ 214 w 322"/>
                <a:gd name="T27" fmla="*/ 193 h 236"/>
                <a:gd name="T28" fmla="*/ 223 w 322"/>
                <a:gd name="T29" fmla="*/ 189 h 236"/>
                <a:gd name="T30" fmla="*/ 224 w 322"/>
                <a:gd name="T31" fmla="*/ 179 h 236"/>
                <a:gd name="T32" fmla="*/ 182 w 322"/>
                <a:gd name="T33" fmla="*/ 30 h 236"/>
                <a:gd name="T34" fmla="*/ 139 w 322"/>
                <a:gd name="T35" fmla="*/ 193 h 236"/>
                <a:gd name="T36" fmla="*/ 118 w 322"/>
                <a:gd name="T37" fmla="*/ 214 h 236"/>
                <a:gd name="T38" fmla="*/ 97 w 322"/>
                <a:gd name="T39" fmla="*/ 193 h 236"/>
                <a:gd name="T40" fmla="*/ 97 w 322"/>
                <a:gd name="T41" fmla="*/ 193 h 236"/>
                <a:gd name="T42" fmla="*/ 139 w 322"/>
                <a:gd name="T43" fmla="*/ 193 h 236"/>
                <a:gd name="T44" fmla="*/ 139 w 322"/>
                <a:gd name="T45" fmla="*/ 193 h 236"/>
                <a:gd name="T46" fmla="*/ 33 w 322"/>
                <a:gd name="T47" fmla="*/ 172 h 236"/>
                <a:gd name="T48" fmla="*/ 24 w 322"/>
                <a:gd name="T49" fmla="*/ 134 h 236"/>
                <a:gd name="T50" fmla="*/ 165 w 322"/>
                <a:gd name="T51" fmla="*/ 49 h 236"/>
                <a:gd name="T52" fmla="*/ 200 w 322"/>
                <a:gd name="T53" fmla="*/ 172 h 236"/>
                <a:gd name="T54" fmla="*/ 33 w 322"/>
                <a:gd name="T55" fmla="*/ 172 h 236"/>
                <a:gd name="T56" fmla="*/ 238 w 322"/>
                <a:gd name="T57" fmla="*/ 107 h 236"/>
                <a:gd name="T58" fmla="*/ 235 w 322"/>
                <a:gd name="T59" fmla="*/ 108 h 236"/>
                <a:gd name="T60" fmla="*/ 225 w 322"/>
                <a:gd name="T61" fmla="*/ 100 h 236"/>
                <a:gd name="T62" fmla="*/ 232 w 322"/>
                <a:gd name="T63" fmla="*/ 87 h 236"/>
                <a:gd name="T64" fmla="*/ 307 w 322"/>
                <a:gd name="T65" fmla="*/ 65 h 236"/>
                <a:gd name="T66" fmla="*/ 320 w 322"/>
                <a:gd name="T67" fmla="*/ 73 h 236"/>
                <a:gd name="T68" fmla="*/ 313 w 322"/>
                <a:gd name="T69" fmla="*/ 86 h 236"/>
                <a:gd name="T70" fmla="*/ 238 w 322"/>
                <a:gd name="T71" fmla="*/ 107 h 236"/>
                <a:gd name="T72" fmla="*/ 206 w 322"/>
                <a:gd name="T73" fmla="*/ 61 h 236"/>
                <a:gd name="T74" fmla="*/ 207 w 322"/>
                <a:gd name="T75" fmla="*/ 46 h 236"/>
                <a:gd name="T76" fmla="*/ 261 w 322"/>
                <a:gd name="T77" fmla="*/ 3 h 236"/>
                <a:gd name="T78" fmla="*/ 276 w 322"/>
                <a:gd name="T79" fmla="*/ 5 h 236"/>
                <a:gd name="T80" fmla="*/ 274 w 322"/>
                <a:gd name="T81" fmla="*/ 20 h 236"/>
                <a:gd name="T82" fmla="*/ 221 w 322"/>
                <a:gd name="T83" fmla="*/ 63 h 236"/>
                <a:gd name="T84" fmla="*/ 214 w 322"/>
                <a:gd name="T85" fmla="*/ 65 h 236"/>
                <a:gd name="T86" fmla="*/ 206 w 322"/>
                <a:gd name="T87" fmla="*/ 61 h 236"/>
                <a:gd name="T88" fmla="*/ 321 w 322"/>
                <a:gd name="T89" fmla="*/ 163 h 236"/>
                <a:gd name="T90" fmla="*/ 310 w 322"/>
                <a:gd name="T91" fmla="*/ 172 h 236"/>
                <a:gd name="T92" fmla="*/ 308 w 322"/>
                <a:gd name="T93" fmla="*/ 172 h 236"/>
                <a:gd name="T94" fmla="*/ 244 w 322"/>
                <a:gd name="T95" fmla="*/ 161 h 236"/>
                <a:gd name="T96" fmla="*/ 235 w 322"/>
                <a:gd name="T97" fmla="*/ 149 h 236"/>
                <a:gd name="T98" fmla="*/ 248 w 322"/>
                <a:gd name="T99" fmla="*/ 140 h 236"/>
                <a:gd name="T100" fmla="*/ 312 w 322"/>
                <a:gd name="T101" fmla="*/ 150 h 236"/>
                <a:gd name="T102" fmla="*/ 321 w 322"/>
                <a:gd name="T103" fmla="*/ 16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22" h="236">
                  <a:moveTo>
                    <a:pt x="182" y="30"/>
                  </a:moveTo>
                  <a:cubicBezTo>
                    <a:pt x="181" y="27"/>
                    <a:pt x="178" y="24"/>
                    <a:pt x="175" y="23"/>
                  </a:cubicBezTo>
                  <a:cubicBezTo>
                    <a:pt x="172" y="22"/>
                    <a:pt x="169" y="22"/>
                    <a:pt x="166" y="24"/>
                  </a:cubicBezTo>
                  <a:cubicBezTo>
                    <a:pt x="6" y="120"/>
                    <a:pt x="6" y="120"/>
                    <a:pt x="6" y="120"/>
                  </a:cubicBezTo>
                  <a:cubicBezTo>
                    <a:pt x="2" y="122"/>
                    <a:pt x="0" y="127"/>
                    <a:pt x="1" y="132"/>
                  </a:cubicBezTo>
                  <a:cubicBezTo>
                    <a:pt x="15" y="185"/>
                    <a:pt x="15" y="185"/>
                    <a:pt x="15" y="185"/>
                  </a:cubicBezTo>
                  <a:cubicBezTo>
                    <a:pt x="16" y="190"/>
                    <a:pt x="20" y="193"/>
                    <a:pt x="25" y="193"/>
                  </a:cubicBezTo>
                  <a:cubicBezTo>
                    <a:pt x="75" y="193"/>
                    <a:pt x="75" y="193"/>
                    <a:pt x="75" y="193"/>
                  </a:cubicBezTo>
                  <a:cubicBezTo>
                    <a:pt x="75" y="193"/>
                    <a:pt x="75" y="193"/>
                    <a:pt x="75" y="193"/>
                  </a:cubicBezTo>
                  <a:cubicBezTo>
                    <a:pt x="75" y="217"/>
                    <a:pt x="94" y="236"/>
                    <a:pt x="118" y="236"/>
                  </a:cubicBezTo>
                  <a:cubicBezTo>
                    <a:pt x="142" y="236"/>
                    <a:pt x="161" y="217"/>
                    <a:pt x="161" y="193"/>
                  </a:cubicBezTo>
                  <a:cubicBezTo>
                    <a:pt x="161" y="193"/>
                    <a:pt x="161" y="193"/>
                    <a:pt x="161" y="193"/>
                  </a:cubicBezTo>
                  <a:cubicBezTo>
                    <a:pt x="214" y="193"/>
                    <a:pt x="214" y="193"/>
                    <a:pt x="214" y="193"/>
                  </a:cubicBezTo>
                  <a:cubicBezTo>
                    <a:pt x="214" y="193"/>
                    <a:pt x="214" y="193"/>
                    <a:pt x="214" y="193"/>
                  </a:cubicBezTo>
                  <a:cubicBezTo>
                    <a:pt x="217" y="193"/>
                    <a:pt x="221" y="191"/>
                    <a:pt x="223" y="189"/>
                  </a:cubicBezTo>
                  <a:cubicBezTo>
                    <a:pt x="225" y="186"/>
                    <a:pt x="225" y="183"/>
                    <a:pt x="224" y="179"/>
                  </a:cubicBezTo>
                  <a:lnTo>
                    <a:pt x="182" y="30"/>
                  </a:lnTo>
                  <a:close/>
                  <a:moveTo>
                    <a:pt x="139" y="193"/>
                  </a:moveTo>
                  <a:cubicBezTo>
                    <a:pt x="139" y="205"/>
                    <a:pt x="130" y="214"/>
                    <a:pt x="118" y="214"/>
                  </a:cubicBezTo>
                  <a:cubicBezTo>
                    <a:pt x="106" y="214"/>
                    <a:pt x="97" y="205"/>
                    <a:pt x="97" y="193"/>
                  </a:cubicBezTo>
                  <a:cubicBezTo>
                    <a:pt x="97" y="193"/>
                    <a:pt x="97" y="193"/>
                    <a:pt x="97" y="193"/>
                  </a:cubicBezTo>
                  <a:cubicBezTo>
                    <a:pt x="139" y="193"/>
                    <a:pt x="139" y="193"/>
                    <a:pt x="139" y="193"/>
                  </a:cubicBezTo>
                  <a:cubicBezTo>
                    <a:pt x="139" y="193"/>
                    <a:pt x="139" y="193"/>
                    <a:pt x="139" y="193"/>
                  </a:cubicBezTo>
                  <a:close/>
                  <a:moveTo>
                    <a:pt x="33" y="172"/>
                  </a:moveTo>
                  <a:cubicBezTo>
                    <a:pt x="24" y="134"/>
                    <a:pt x="24" y="134"/>
                    <a:pt x="24" y="134"/>
                  </a:cubicBezTo>
                  <a:cubicBezTo>
                    <a:pt x="165" y="49"/>
                    <a:pt x="165" y="49"/>
                    <a:pt x="165" y="49"/>
                  </a:cubicBezTo>
                  <a:cubicBezTo>
                    <a:pt x="200" y="172"/>
                    <a:pt x="200" y="172"/>
                    <a:pt x="200" y="172"/>
                  </a:cubicBezTo>
                  <a:lnTo>
                    <a:pt x="33" y="172"/>
                  </a:lnTo>
                  <a:close/>
                  <a:moveTo>
                    <a:pt x="238" y="107"/>
                  </a:moveTo>
                  <a:cubicBezTo>
                    <a:pt x="237" y="108"/>
                    <a:pt x="236" y="108"/>
                    <a:pt x="235" y="108"/>
                  </a:cubicBezTo>
                  <a:cubicBezTo>
                    <a:pt x="231" y="108"/>
                    <a:pt x="226" y="105"/>
                    <a:pt x="225" y="100"/>
                  </a:cubicBezTo>
                  <a:cubicBezTo>
                    <a:pt x="223" y="94"/>
                    <a:pt x="227" y="88"/>
                    <a:pt x="232" y="87"/>
                  </a:cubicBezTo>
                  <a:cubicBezTo>
                    <a:pt x="307" y="65"/>
                    <a:pt x="307" y="65"/>
                    <a:pt x="307" y="65"/>
                  </a:cubicBezTo>
                  <a:cubicBezTo>
                    <a:pt x="313" y="64"/>
                    <a:pt x="319" y="67"/>
                    <a:pt x="320" y="73"/>
                  </a:cubicBezTo>
                  <a:cubicBezTo>
                    <a:pt x="322" y="78"/>
                    <a:pt x="319" y="84"/>
                    <a:pt x="313" y="86"/>
                  </a:cubicBezTo>
                  <a:lnTo>
                    <a:pt x="238" y="107"/>
                  </a:lnTo>
                  <a:close/>
                  <a:moveTo>
                    <a:pt x="206" y="61"/>
                  </a:moveTo>
                  <a:cubicBezTo>
                    <a:pt x="202" y="56"/>
                    <a:pt x="203" y="50"/>
                    <a:pt x="207" y="46"/>
                  </a:cubicBezTo>
                  <a:cubicBezTo>
                    <a:pt x="261" y="3"/>
                    <a:pt x="261" y="3"/>
                    <a:pt x="261" y="3"/>
                  </a:cubicBezTo>
                  <a:cubicBezTo>
                    <a:pt x="265" y="0"/>
                    <a:pt x="272" y="0"/>
                    <a:pt x="276" y="5"/>
                  </a:cubicBezTo>
                  <a:cubicBezTo>
                    <a:pt x="279" y="10"/>
                    <a:pt x="279" y="16"/>
                    <a:pt x="274" y="20"/>
                  </a:cubicBezTo>
                  <a:cubicBezTo>
                    <a:pt x="221" y="63"/>
                    <a:pt x="221" y="63"/>
                    <a:pt x="221" y="63"/>
                  </a:cubicBezTo>
                  <a:cubicBezTo>
                    <a:pt x="219" y="64"/>
                    <a:pt x="216" y="65"/>
                    <a:pt x="214" y="65"/>
                  </a:cubicBezTo>
                  <a:cubicBezTo>
                    <a:pt x="211" y="65"/>
                    <a:pt x="208" y="64"/>
                    <a:pt x="206" y="61"/>
                  </a:cubicBezTo>
                  <a:close/>
                  <a:moveTo>
                    <a:pt x="321" y="163"/>
                  </a:moveTo>
                  <a:cubicBezTo>
                    <a:pt x="320" y="168"/>
                    <a:pt x="315" y="172"/>
                    <a:pt x="310" y="172"/>
                  </a:cubicBezTo>
                  <a:cubicBezTo>
                    <a:pt x="309" y="172"/>
                    <a:pt x="309" y="172"/>
                    <a:pt x="308" y="172"/>
                  </a:cubicBezTo>
                  <a:cubicBezTo>
                    <a:pt x="244" y="161"/>
                    <a:pt x="244" y="161"/>
                    <a:pt x="244" y="161"/>
                  </a:cubicBezTo>
                  <a:cubicBezTo>
                    <a:pt x="238" y="160"/>
                    <a:pt x="235" y="154"/>
                    <a:pt x="235" y="149"/>
                  </a:cubicBezTo>
                  <a:cubicBezTo>
                    <a:pt x="236" y="143"/>
                    <a:pt x="242" y="139"/>
                    <a:pt x="248" y="140"/>
                  </a:cubicBezTo>
                  <a:cubicBezTo>
                    <a:pt x="312" y="150"/>
                    <a:pt x="312" y="150"/>
                    <a:pt x="312" y="150"/>
                  </a:cubicBezTo>
                  <a:cubicBezTo>
                    <a:pt x="318" y="151"/>
                    <a:pt x="321" y="157"/>
                    <a:pt x="321" y="16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20" name="Freeform 641">
              <a:extLst>
                <a:ext uri="{FF2B5EF4-FFF2-40B4-BE49-F238E27FC236}">
                  <a16:creationId xmlns:a16="http://schemas.microsoft.com/office/drawing/2014/main" id="{5B131F9D-1B34-455A-859B-11F91058991B}"/>
                </a:ext>
              </a:extLst>
            </p:cNvPr>
            <p:cNvSpPr>
              <a:spLocks noEditPoints="1"/>
            </p:cNvSpPr>
            <p:nvPr/>
          </p:nvSpPr>
          <p:spPr bwMode="auto">
            <a:xfrm>
              <a:off x="5418" y="2871"/>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396097498"/>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vert="horz" lIns="0" tIns="0" rIns="0" bIns="0" rtlCol="0" anchor="t" anchorCtr="0">
            <a:noAutofit/>
          </a:bodyPr>
          <a:lstStyle/>
          <a:p>
            <a:pPr>
              <a:lnSpc>
                <a:spcPct val="90000"/>
              </a:lnSpc>
            </a:pPr>
            <a:r>
              <a:rPr lang="en-US" sz="2000" dirty="0">
                <a:latin typeface="+mn-lt"/>
              </a:rPr>
              <a:t>About Deloitte</a:t>
            </a:r>
            <a:endParaRPr lang="en-IN" sz="2000" dirty="0">
              <a:latin typeface="+mn-lt"/>
            </a:endParaRPr>
          </a:p>
        </p:txBody>
      </p:sp>
      <p:sp>
        <p:nvSpPr>
          <p:cNvPr id="5" name="Rounded Rectangle 4"/>
          <p:cNvSpPr/>
          <p:nvPr/>
        </p:nvSpPr>
        <p:spPr>
          <a:xfrm>
            <a:off x="495301" y="1527760"/>
            <a:ext cx="11221320" cy="4873039"/>
          </a:xfrm>
          <a:prstGeom prst="roundRect">
            <a:avLst>
              <a:gd name="adj" fmla="val 0"/>
            </a:avLst>
          </a:prstGeom>
          <a:pattFill prst="pct5">
            <a:fgClr>
              <a:schemeClr val="accent6">
                <a:lumMod val="60000"/>
                <a:lumOff val="40000"/>
              </a:schemeClr>
            </a:fgClr>
            <a:bgClr>
              <a:schemeClr val="bg1"/>
            </a:bgClr>
          </a:pattFill>
          <a:ln w="6350" cap="flat" cmpd="sng" algn="ctr">
            <a:solidFill>
              <a:srgbClr val="0D8390"/>
            </a:solidFill>
            <a:prstDash val="solid"/>
          </a:ln>
          <a:effectLst/>
        </p:spPr>
        <p:txBody>
          <a:bodyPr lIns="86928" tIns="43463" rIns="86928" bIns="43463" anchor="ctr"/>
          <a:lstStyle/>
          <a:p>
            <a:pPr marL="0" marR="0" lvl="0" indent="0" algn="ctr" defTabSz="780131" rtl="0" eaLnBrk="1" fontAlgn="auto" latinLnBrk="0" hangingPunct="1">
              <a:lnSpc>
                <a:spcPct val="100000"/>
              </a:lnSpc>
              <a:spcBef>
                <a:spcPct val="20000"/>
              </a:spcBef>
              <a:spcAft>
                <a:spcPts val="0"/>
              </a:spcAft>
              <a:buClrTx/>
              <a:buSzTx/>
              <a:buFontTx/>
              <a:buNone/>
              <a:tabLst/>
              <a:defRPr/>
            </a:pPr>
            <a:endParaRPr kumimoji="0" lang="en-US" sz="907" b="0" i="0" u="none" strike="noStrike" kern="0" cap="none" spc="0" normalizeH="0" baseline="0" noProof="0" dirty="0">
              <a:ln>
                <a:noFill/>
              </a:ln>
              <a:solidFill>
                <a:srgbClr val="FFFFFF"/>
              </a:solidFill>
              <a:effectLst/>
              <a:uLnTx/>
              <a:uFillTx/>
              <a:latin typeface="Calibri"/>
              <a:ea typeface="+mn-ea"/>
              <a:cs typeface="+mn-cs"/>
            </a:endParaRPr>
          </a:p>
        </p:txBody>
      </p:sp>
      <p:sp>
        <p:nvSpPr>
          <p:cNvPr id="6" name="Rectangle 5"/>
          <p:cNvSpPr/>
          <p:nvPr/>
        </p:nvSpPr>
        <p:spPr>
          <a:xfrm>
            <a:off x="2414295" y="1815324"/>
            <a:ext cx="1847367" cy="781052"/>
          </a:xfrm>
          <a:prstGeom prst="rect">
            <a:avLst/>
          </a:prstGeom>
        </p:spPr>
        <p:txBody>
          <a:bodyPr wrap="square">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430" normalizeH="0" baseline="0" noProof="0" dirty="0">
                <a:ln>
                  <a:noFill/>
                </a:ln>
                <a:solidFill>
                  <a:srgbClr val="26890D">
                    <a:lumMod val="75000"/>
                  </a:srgbClr>
                </a:solidFill>
                <a:effectLst/>
                <a:uLnTx/>
                <a:uFillTx/>
                <a:latin typeface="Calibri"/>
                <a:ea typeface="+mn-ea"/>
                <a:cs typeface="+mn-cs"/>
              </a:rPr>
              <a:t>REVENUE</a:t>
            </a:r>
            <a:r>
              <a:rPr kumimoji="0" lang="en-GB" sz="2000" b="0" i="0" u="none" strike="noStrike" kern="1200" cap="none" spc="430" normalizeH="0" baseline="0" noProof="0" dirty="0">
                <a:ln>
                  <a:noFill/>
                </a:ln>
                <a:solidFill>
                  <a:srgbClr val="26890D">
                    <a:lumMod val="75000"/>
                  </a:srgbClr>
                </a:solidFill>
                <a:effectLst/>
                <a:uLnTx/>
                <a:uFillTx/>
                <a:latin typeface="Calibri"/>
                <a:ea typeface="+mn-ea"/>
                <a:cs typeface="+mn-cs"/>
              </a:rPr>
              <a:t> </a:t>
            </a:r>
          </a:p>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26890D">
                    <a:lumMod val="75000"/>
                  </a:srgbClr>
                </a:solidFill>
                <a:effectLst/>
                <a:uLnTx/>
                <a:uFillTx/>
                <a:latin typeface="Calibri"/>
                <a:ea typeface="+mn-ea"/>
                <a:cs typeface="+mn-cs"/>
              </a:rPr>
              <a:t>US$47.6B</a:t>
            </a:r>
          </a:p>
        </p:txBody>
      </p:sp>
      <p:cxnSp>
        <p:nvCxnSpPr>
          <p:cNvPr id="7" name="Elbow Connector 6"/>
          <p:cNvCxnSpPr>
            <a:cxnSpLocks/>
          </p:cNvCxnSpPr>
          <p:nvPr/>
        </p:nvCxnSpPr>
        <p:spPr>
          <a:xfrm rot="10800000">
            <a:off x="2398624" y="1862784"/>
            <a:ext cx="2732036" cy="350695"/>
          </a:xfrm>
          <a:prstGeom prst="bentConnector3">
            <a:avLst>
              <a:gd name="adj1" fmla="val 1817"/>
            </a:avLst>
          </a:prstGeom>
          <a:ln>
            <a:solidFill>
              <a:schemeClr val="accent3">
                <a:lumMod val="75000"/>
              </a:schemeClr>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8" name="Elbow Connector 7"/>
          <p:cNvCxnSpPr>
            <a:cxnSpLocks/>
          </p:cNvCxnSpPr>
          <p:nvPr/>
        </p:nvCxnSpPr>
        <p:spPr>
          <a:xfrm flipV="1">
            <a:off x="6960904" y="1854734"/>
            <a:ext cx="2627175" cy="250324"/>
          </a:xfrm>
          <a:prstGeom prst="bentConnector3">
            <a:avLst>
              <a:gd name="adj1" fmla="val 40444"/>
            </a:avLst>
          </a:prstGeom>
          <a:ln>
            <a:solidFill>
              <a:srgbClr val="43B02A"/>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9" name="Oval 8"/>
          <p:cNvSpPr/>
          <p:nvPr/>
        </p:nvSpPr>
        <p:spPr bwMode="gray">
          <a:xfrm>
            <a:off x="4947627" y="1825012"/>
            <a:ext cx="682836" cy="691910"/>
          </a:xfrm>
          <a:prstGeom prst="ellipse">
            <a:avLst/>
          </a:prstGeom>
          <a:solidFill>
            <a:srgbClr val="DDEFE8"/>
          </a:solidFill>
          <a:ln w="19050" algn="ctr">
            <a:noFill/>
            <a:miter lim="800000"/>
            <a:headEnd/>
            <a:tailEnd/>
          </a:ln>
        </p:spPr>
        <p:txBody>
          <a:bodyPr wrap="square" lIns="88900" tIns="88900" rIns="88900" bIns="88900" rtlCol="0" anchor="ct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6000"/>
              </a:lnSpc>
              <a:spcBef>
                <a:spcPts val="0"/>
              </a:spcBef>
              <a:spcAft>
                <a:spcPts val="0"/>
              </a:spcAft>
              <a:buClrTx/>
              <a:buSzTx/>
              <a:buFont typeface="Wingdings 2" pitchFamily="18" charset="2"/>
              <a:buNone/>
              <a:tabLst/>
              <a:defRPr/>
            </a:pPr>
            <a:endParaRPr kumimoji="0" lang="en-IN" sz="1400" b="1"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Oval 9"/>
          <p:cNvSpPr/>
          <p:nvPr/>
        </p:nvSpPr>
        <p:spPr bwMode="gray">
          <a:xfrm>
            <a:off x="6530274" y="1960178"/>
            <a:ext cx="682836" cy="691910"/>
          </a:xfrm>
          <a:prstGeom prst="ellipse">
            <a:avLst/>
          </a:prstGeom>
          <a:solidFill>
            <a:schemeClr val="accent1">
              <a:lumMod val="20000"/>
              <a:lumOff val="80000"/>
            </a:schemeClr>
          </a:solidFill>
          <a:ln w="19050" algn="ctr">
            <a:noFill/>
            <a:miter lim="800000"/>
            <a:headEnd/>
            <a:tailEnd/>
          </a:ln>
        </p:spPr>
        <p:txBody>
          <a:bodyPr wrap="square" lIns="88900" tIns="88900" rIns="88900" bIns="88900" rtlCol="0" anchor="ct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6000"/>
              </a:lnSpc>
              <a:spcBef>
                <a:spcPts val="0"/>
              </a:spcBef>
              <a:spcAft>
                <a:spcPts val="0"/>
              </a:spcAft>
              <a:buClrTx/>
              <a:buSzTx/>
              <a:buFont typeface="Wingdings 2" pitchFamily="18" charset="2"/>
              <a:buNone/>
              <a:tabLst/>
              <a:defRPr/>
            </a:pPr>
            <a:endParaRPr kumimoji="0" lang="en-IN" sz="1400" b="1"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Oval 10"/>
          <p:cNvSpPr/>
          <p:nvPr/>
        </p:nvSpPr>
        <p:spPr bwMode="gray">
          <a:xfrm>
            <a:off x="7153694" y="3199471"/>
            <a:ext cx="682836" cy="691910"/>
          </a:xfrm>
          <a:prstGeom prst="ellipse">
            <a:avLst/>
          </a:prstGeom>
          <a:solidFill>
            <a:srgbClr val="E9EAEB"/>
          </a:solidFill>
          <a:ln w="19050" algn="ctr">
            <a:noFill/>
            <a:miter lim="800000"/>
            <a:headEnd/>
            <a:tailEnd/>
          </a:ln>
        </p:spPr>
        <p:txBody>
          <a:bodyPr wrap="square" lIns="88900" tIns="88900" rIns="88900" bIns="88900" rtlCol="0" anchor="ct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6000"/>
              </a:lnSpc>
              <a:spcBef>
                <a:spcPts val="0"/>
              </a:spcBef>
              <a:spcAft>
                <a:spcPts val="0"/>
              </a:spcAft>
              <a:buClrTx/>
              <a:buSzTx/>
              <a:buFont typeface="Wingdings 2" pitchFamily="18" charset="2"/>
              <a:buNone/>
              <a:tabLst/>
              <a:defRPr/>
            </a:pPr>
            <a:endParaRPr kumimoji="0" lang="en-IN" sz="1400" b="1"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Oval 11"/>
          <p:cNvSpPr/>
          <p:nvPr/>
        </p:nvSpPr>
        <p:spPr bwMode="gray">
          <a:xfrm>
            <a:off x="6910851" y="4221861"/>
            <a:ext cx="682836" cy="691910"/>
          </a:xfrm>
          <a:prstGeom prst="ellipse">
            <a:avLst/>
          </a:prstGeom>
          <a:solidFill>
            <a:srgbClr val="E9EAEB"/>
          </a:solidFill>
          <a:ln w="19050" algn="ctr">
            <a:noFill/>
            <a:miter lim="800000"/>
            <a:headEnd/>
            <a:tailEnd/>
          </a:ln>
        </p:spPr>
        <p:txBody>
          <a:bodyPr wrap="square" lIns="88900" tIns="88900" rIns="88900" bIns="88900" rtlCol="0" anchor="ct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6000"/>
              </a:lnSpc>
              <a:spcBef>
                <a:spcPts val="0"/>
              </a:spcBef>
              <a:spcAft>
                <a:spcPts val="0"/>
              </a:spcAft>
              <a:buClrTx/>
              <a:buSzTx/>
              <a:buFont typeface="Wingdings 2" pitchFamily="18" charset="2"/>
              <a:buNone/>
              <a:tabLst/>
              <a:defRPr/>
            </a:pPr>
            <a:endParaRPr kumimoji="0" lang="en-IN" sz="1400" b="1" i="0" u="none" strike="noStrike" kern="1200" cap="none" spc="0" normalizeH="0" baseline="0" noProof="0" dirty="0">
              <a:ln>
                <a:noFill/>
              </a:ln>
              <a:solidFill>
                <a:prstClr val="white"/>
              </a:solidFill>
              <a:effectLst/>
              <a:uLnTx/>
              <a:uFillTx/>
              <a:latin typeface="Calibri"/>
              <a:ea typeface="+mn-ea"/>
              <a:cs typeface="+mn-cs"/>
            </a:endParaRPr>
          </a:p>
        </p:txBody>
      </p:sp>
      <p:sp>
        <p:nvSpPr>
          <p:cNvPr id="13" name="Oval 12"/>
          <p:cNvSpPr/>
          <p:nvPr/>
        </p:nvSpPr>
        <p:spPr bwMode="gray">
          <a:xfrm>
            <a:off x="5712601" y="4711999"/>
            <a:ext cx="682836" cy="691910"/>
          </a:xfrm>
          <a:prstGeom prst="ellipse">
            <a:avLst/>
          </a:prstGeom>
          <a:solidFill>
            <a:schemeClr val="accent3">
              <a:lumMod val="20000"/>
              <a:lumOff val="80000"/>
            </a:schemeClr>
          </a:solidFill>
          <a:ln w="19050" algn="ctr">
            <a:noFill/>
            <a:miter lim="800000"/>
            <a:headEnd/>
            <a:tailEnd/>
          </a:ln>
        </p:spPr>
        <p:txBody>
          <a:bodyPr wrap="square" lIns="88900" tIns="88900" rIns="88900" bIns="88900" rtlCol="0" anchor="ct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6000"/>
              </a:lnSpc>
              <a:spcBef>
                <a:spcPts val="0"/>
              </a:spcBef>
              <a:spcAft>
                <a:spcPts val="0"/>
              </a:spcAft>
              <a:buClrTx/>
              <a:buSzTx/>
              <a:buFont typeface="Wingdings 2" pitchFamily="18" charset="2"/>
              <a:buNone/>
              <a:tabLst/>
              <a:defRPr/>
            </a:pPr>
            <a:endParaRPr kumimoji="0" lang="en-IN" sz="1400" b="1" i="0" u="none" strike="noStrike" kern="1200" cap="none" spc="0" normalizeH="0" baseline="0" noProof="0" dirty="0">
              <a:ln>
                <a:noFill/>
              </a:ln>
              <a:solidFill>
                <a:prstClr val="white"/>
              </a:solidFill>
              <a:effectLst/>
              <a:uLnTx/>
              <a:uFillTx/>
              <a:latin typeface="Calibri"/>
              <a:ea typeface="+mn-ea"/>
              <a:cs typeface="+mn-cs"/>
            </a:endParaRPr>
          </a:p>
        </p:txBody>
      </p:sp>
      <p:sp>
        <p:nvSpPr>
          <p:cNvPr id="14" name="Oval 13"/>
          <p:cNvSpPr/>
          <p:nvPr/>
        </p:nvSpPr>
        <p:spPr bwMode="gray">
          <a:xfrm>
            <a:off x="4515812" y="4324293"/>
            <a:ext cx="682836" cy="691910"/>
          </a:xfrm>
          <a:prstGeom prst="ellipse">
            <a:avLst/>
          </a:prstGeom>
          <a:solidFill>
            <a:schemeClr val="accent1">
              <a:lumMod val="20000"/>
              <a:lumOff val="80000"/>
            </a:schemeClr>
          </a:solidFill>
          <a:ln w="19050" algn="ctr">
            <a:noFill/>
            <a:miter lim="800000"/>
            <a:headEnd/>
            <a:tailEnd/>
          </a:ln>
        </p:spPr>
        <p:txBody>
          <a:bodyPr wrap="square" lIns="88900" tIns="88900" rIns="88900" bIns="88900" rtlCol="0" anchor="ct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6000"/>
              </a:lnSpc>
              <a:spcBef>
                <a:spcPts val="0"/>
              </a:spcBef>
              <a:spcAft>
                <a:spcPts val="0"/>
              </a:spcAft>
              <a:buClrTx/>
              <a:buSzTx/>
              <a:buFont typeface="Wingdings 2" pitchFamily="18" charset="2"/>
              <a:buNone/>
              <a:tabLst/>
              <a:defRPr/>
            </a:pPr>
            <a:endParaRPr kumimoji="0" lang="en-IN" sz="1400" b="1" i="0" u="none" strike="noStrike" kern="1200" cap="none" spc="0" normalizeH="0" baseline="0" noProof="0" dirty="0">
              <a:ln>
                <a:noFill/>
              </a:ln>
              <a:solidFill>
                <a:prstClr val="white"/>
              </a:solidFill>
              <a:effectLst/>
              <a:uLnTx/>
              <a:uFillTx/>
              <a:latin typeface="Calibri"/>
              <a:ea typeface="+mn-ea"/>
              <a:cs typeface="+mn-cs"/>
            </a:endParaRPr>
          </a:p>
        </p:txBody>
      </p:sp>
      <p:sp>
        <p:nvSpPr>
          <p:cNvPr id="15" name="Oval 14"/>
          <p:cNvSpPr/>
          <p:nvPr/>
        </p:nvSpPr>
        <p:spPr bwMode="gray">
          <a:xfrm>
            <a:off x="4153522" y="2979271"/>
            <a:ext cx="682836" cy="691910"/>
          </a:xfrm>
          <a:prstGeom prst="ellipse">
            <a:avLst/>
          </a:prstGeom>
          <a:solidFill>
            <a:schemeClr val="tx2">
              <a:lumMod val="20000"/>
              <a:lumOff val="80000"/>
            </a:schemeClr>
          </a:solidFill>
          <a:ln w="19050" algn="ctr">
            <a:noFill/>
            <a:miter lim="800000"/>
            <a:headEnd/>
            <a:tailEnd/>
          </a:ln>
        </p:spPr>
        <p:txBody>
          <a:bodyPr wrap="square" lIns="88900" tIns="88900" rIns="88900" bIns="88900" rtlCol="0" anchor="ct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6000"/>
              </a:lnSpc>
              <a:spcBef>
                <a:spcPts val="0"/>
              </a:spcBef>
              <a:spcAft>
                <a:spcPts val="0"/>
              </a:spcAft>
              <a:buClrTx/>
              <a:buSzTx/>
              <a:buFont typeface="Wingdings 2" pitchFamily="18" charset="2"/>
              <a:buNone/>
              <a:tabLst/>
              <a:defRPr/>
            </a:pPr>
            <a:endParaRPr kumimoji="0" lang="en-IN" sz="1400" b="1" i="0" u="none" strike="noStrike" kern="1200" cap="none" spc="0" normalizeH="0" baseline="0" noProof="0" dirty="0">
              <a:ln>
                <a:noFill/>
              </a:ln>
              <a:solidFill>
                <a:prstClr val="white"/>
              </a:solidFill>
              <a:effectLst/>
              <a:uLnTx/>
              <a:uFillTx/>
              <a:latin typeface="Calibri"/>
              <a:ea typeface="+mn-ea"/>
              <a:cs typeface="+mn-cs"/>
            </a:endParaRPr>
          </a:p>
        </p:txBody>
      </p:sp>
      <p:pic>
        <p:nvPicPr>
          <p:cNvPr id="16" name="Picture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92554" y="1710066"/>
            <a:ext cx="3899870" cy="3849315"/>
          </a:xfrm>
          <a:prstGeom prst="rect">
            <a:avLst/>
          </a:prstGeom>
          <a:noFill/>
          <a:ln>
            <a:noFill/>
          </a:ln>
        </p:spPr>
      </p:pic>
      <p:sp>
        <p:nvSpPr>
          <p:cNvPr id="17" name="Rectangle 16"/>
          <p:cNvSpPr/>
          <p:nvPr/>
        </p:nvSpPr>
        <p:spPr>
          <a:xfrm>
            <a:off x="8762671" y="2941108"/>
            <a:ext cx="2466496" cy="640463"/>
          </a:xfrm>
          <a:prstGeom prst="rect">
            <a:avLst/>
          </a:prstGeom>
        </p:spPr>
        <p:txBody>
          <a:bodyPr wrap="square">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046A38"/>
                </a:solidFill>
                <a:effectLst/>
                <a:uLnTx/>
                <a:uFillTx/>
                <a:latin typeface="Calibri"/>
                <a:ea typeface="+mn-ea"/>
                <a:cs typeface="+mn-cs"/>
              </a:rPr>
              <a:t>COUNTRIES AND TERRITORIES</a:t>
            </a:r>
            <a:endParaRPr kumimoji="0" lang="en-GB" sz="2000" b="0" i="0" u="none" strike="noStrike" kern="1200" cap="none" spc="0" normalizeH="0" baseline="0" noProof="0" dirty="0">
              <a:ln>
                <a:noFill/>
              </a:ln>
              <a:solidFill>
                <a:srgbClr val="046A38"/>
              </a:solidFill>
              <a:effectLst/>
              <a:uLnTx/>
              <a:uFillTx/>
              <a:latin typeface="Calibri"/>
              <a:ea typeface="+mn-ea"/>
              <a:cs typeface="+mn-cs"/>
            </a:endParaRPr>
          </a:p>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046A38"/>
                </a:solidFill>
                <a:effectLst/>
                <a:uLnTx/>
                <a:uFillTx/>
                <a:latin typeface="Calibri"/>
                <a:ea typeface="+mn-ea"/>
                <a:cs typeface="+mn-cs"/>
              </a:rPr>
              <a:t>150+</a:t>
            </a:r>
          </a:p>
        </p:txBody>
      </p:sp>
      <p:sp>
        <p:nvSpPr>
          <p:cNvPr id="18" name="Rectangle 17"/>
          <p:cNvSpPr/>
          <p:nvPr/>
        </p:nvSpPr>
        <p:spPr>
          <a:xfrm>
            <a:off x="1336240" y="4860884"/>
            <a:ext cx="3276437" cy="812294"/>
          </a:xfrm>
          <a:prstGeom prst="rect">
            <a:avLst/>
          </a:prstGeom>
        </p:spPr>
        <p:txBody>
          <a:bodyPr wrap="square" lIns="0" rIns="0">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l" defTabSz="1042873"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43B02A"/>
                </a:solidFill>
                <a:effectLst/>
                <a:uLnTx/>
                <a:uFillTx/>
                <a:latin typeface="Calibri"/>
                <a:ea typeface="+mn-ea"/>
                <a:cs typeface="+mn-cs"/>
              </a:rPr>
              <a:t>DELOITTE PROFESSIONALS WHO EXPERIENCED DELOITTE UNIVERSITY</a:t>
            </a:r>
          </a:p>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43B02A"/>
                </a:solidFill>
                <a:effectLst/>
                <a:uLnTx/>
                <a:uFillTx/>
                <a:latin typeface="Calibri"/>
                <a:ea typeface="+mn-ea"/>
                <a:cs typeface="+mn-cs"/>
              </a:rPr>
              <a:t>114,000+</a:t>
            </a:r>
          </a:p>
        </p:txBody>
      </p:sp>
      <p:sp>
        <p:nvSpPr>
          <p:cNvPr id="19" name="Rectangle 18"/>
          <p:cNvSpPr/>
          <p:nvPr/>
        </p:nvSpPr>
        <p:spPr>
          <a:xfrm>
            <a:off x="8690286" y="4142321"/>
            <a:ext cx="2058452" cy="812294"/>
          </a:xfrm>
          <a:prstGeom prst="rect">
            <a:avLst/>
          </a:prstGeom>
          <a:solidFill>
            <a:srgbClr val="FFFFFF"/>
          </a:solidFill>
        </p:spPr>
        <p:txBody>
          <a:bodyPr wrap="square">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26890D">
                    <a:lumMod val="50000"/>
                  </a:srgbClr>
                </a:solidFill>
                <a:effectLst/>
                <a:uLnTx/>
                <a:uFillTx/>
                <a:latin typeface="Calibri"/>
                <a:ea typeface="+mn-ea"/>
                <a:cs typeface="+mn-cs"/>
              </a:rPr>
              <a:t>SOCIETAL IMPACT CONTRIBUTIONS</a:t>
            </a:r>
          </a:p>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26890D">
                    <a:lumMod val="50000"/>
                  </a:srgbClr>
                </a:solidFill>
                <a:effectLst/>
                <a:uLnTx/>
                <a:uFillTx/>
                <a:latin typeface="Calibri"/>
                <a:ea typeface="+mn-ea"/>
                <a:cs typeface="+mn-cs"/>
              </a:rPr>
              <a:t>US$265M+</a:t>
            </a:r>
          </a:p>
        </p:txBody>
      </p:sp>
      <p:sp>
        <p:nvSpPr>
          <p:cNvPr id="20" name="Rectangle 19"/>
          <p:cNvSpPr/>
          <p:nvPr/>
        </p:nvSpPr>
        <p:spPr>
          <a:xfrm>
            <a:off x="6807916" y="5267031"/>
            <a:ext cx="1374392" cy="640463"/>
          </a:xfrm>
          <a:prstGeom prst="rect">
            <a:avLst/>
          </a:prstGeom>
        </p:spPr>
        <p:txBody>
          <a:bodyPr wrap="square">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0D8390"/>
                </a:solidFill>
                <a:effectLst/>
                <a:uLnTx/>
                <a:uFillTx/>
                <a:latin typeface="Calibri"/>
                <a:ea typeface="+mn-ea"/>
                <a:cs typeface="+mn-cs"/>
              </a:rPr>
              <a:t>NEW HIRES</a:t>
            </a:r>
          </a:p>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0D8390"/>
                </a:solidFill>
                <a:effectLst/>
                <a:uLnTx/>
                <a:uFillTx/>
                <a:latin typeface="Calibri"/>
                <a:ea typeface="+mn-ea"/>
                <a:cs typeface="+mn-cs"/>
              </a:rPr>
              <a:t>88,820</a:t>
            </a:r>
          </a:p>
        </p:txBody>
      </p:sp>
      <p:sp>
        <p:nvSpPr>
          <p:cNvPr id="21" name="Rectangle 20"/>
          <p:cNvSpPr/>
          <p:nvPr/>
        </p:nvSpPr>
        <p:spPr>
          <a:xfrm>
            <a:off x="5419006" y="3253529"/>
            <a:ext cx="1360564" cy="656084"/>
          </a:xfrm>
          <a:prstGeom prst="rect">
            <a:avLst/>
          </a:prstGeom>
        </p:spPr>
        <p:txBody>
          <a:bodyPr wrap="square">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DELOITTE </a:t>
            </a:r>
            <a:r>
              <a:rPr kumimoji="0" lang="en-US" sz="2000" b="1" i="0" u="none" strike="noStrike" kern="1200" cap="none" spc="0" normalizeH="0" baseline="0" noProof="0" dirty="0">
                <a:ln>
                  <a:noFill/>
                </a:ln>
                <a:solidFill>
                  <a:prstClr val="black"/>
                </a:solidFill>
                <a:effectLst/>
                <a:uLnTx/>
                <a:uFillTx/>
                <a:latin typeface="Calibri"/>
                <a:ea typeface="+mn-ea"/>
                <a:cs typeface="+mn-cs"/>
              </a:rPr>
              <a:t>FY2020</a:t>
            </a:r>
          </a:p>
        </p:txBody>
      </p:sp>
      <p:cxnSp>
        <p:nvCxnSpPr>
          <p:cNvPr id="22" name="Elbow Connector 21"/>
          <p:cNvCxnSpPr>
            <a:cxnSpLocks/>
          </p:cNvCxnSpPr>
          <p:nvPr/>
        </p:nvCxnSpPr>
        <p:spPr>
          <a:xfrm rot="10800000" flipV="1">
            <a:off x="1222362" y="4880406"/>
            <a:ext cx="3390317" cy="792772"/>
          </a:xfrm>
          <a:prstGeom prst="bentConnector3">
            <a:avLst>
              <a:gd name="adj1" fmla="val -35"/>
            </a:avLst>
          </a:prstGeom>
          <a:ln>
            <a:solidFill>
              <a:schemeClr val="accent2"/>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23" name="Elbow Connector 22"/>
          <p:cNvCxnSpPr>
            <a:cxnSpLocks/>
          </p:cNvCxnSpPr>
          <p:nvPr/>
        </p:nvCxnSpPr>
        <p:spPr>
          <a:xfrm flipV="1">
            <a:off x="7899196" y="2891158"/>
            <a:ext cx="3207989" cy="710210"/>
          </a:xfrm>
          <a:prstGeom prst="bentConnector3">
            <a:avLst>
              <a:gd name="adj1" fmla="val 25676"/>
            </a:avLst>
          </a:prstGeom>
          <a:ln>
            <a:solidFill>
              <a:schemeClr val="accent4"/>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24" name="Elbow Connector 23"/>
          <p:cNvCxnSpPr>
            <a:cxnSpLocks/>
          </p:cNvCxnSpPr>
          <p:nvPr/>
        </p:nvCxnSpPr>
        <p:spPr>
          <a:xfrm>
            <a:off x="6054019" y="5489347"/>
            <a:ext cx="2013316" cy="418147"/>
          </a:xfrm>
          <a:prstGeom prst="bentConnector3">
            <a:avLst>
              <a:gd name="adj1" fmla="val 794"/>
            </a:avLst>
          </a:prstGeom>
          <a:ln>
            <a:solidFill>
              <a:schemeClr val="accent5"/>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8076933" y="1904658"/>
            <a:ext cx="1487878" cy="640463"/>
          </a:xfrm>
          <a:prstGeom prst="rect">
            <a:avLst/>
          </a:prstGeom>
        </p:spPr>
        <p:txBody>
          <a:bodyPr wrap="square">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43B02A"/>
                </a:solidFill>
                <a:effectLst/>
                <a:uLnTx/>
                <a:uFillTx/>
                <a:latin typeface="Calibri"/>
                <a:ea typeface="+mn-ea"/>
                <a:cs typeface="+mn-cs"/>
              </a:rPr>
              <a:t>HEADCOUNT</a:t>
            </a:r>
          </a:p>
          <a:p>
            <a:pPr marL="0" marR="0" lvl="0" indent="0" algn="l" defTabSz="1042873"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43B02A"/>
                </a:solidFill>
                <a:effectLst/>
                <a:uLnTx/>
                <a:uFillTx/>
                <a:latin typeface="Calibri"/>
                <a:ea typeface="+mn-ea"/>
                <a:cs typeface="+mn-cs"/>
              </a:rPr>
              <a:t>334,800</a:t>
            </a:r>
          </a:p>
        </p:txBody>
      </p:sp>
      <p:cxnSp>
        <p:nvCxnSpPr>
          <p:cNvPr id="26" name="Elbow Connector 25"/>
          <p:cNvCxnSpPr>
            <a:cxnSpLocks/>
          </p:cNvCxnSpPr>
          <p:nvPr/>
        </p:nvCxnSpPr>
        <p:spPr>
          <a:xfrm>
            <a:off x="7522346" y="4662200"/>
            <a:ext cx="2993314" cy="326107"/>
          </a:xfrm>
          <a:prstGeom prst="bentConnector3">
            <a:avLst>
              <a:gd name="adj1" fmla="val 38131"/>
            </a:avLst>
          </a:prstGeom>
          <a:ln>
            <a:solidFill>
              <a:schemeClr val="accent3">
                <a:lumMod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27" name="Elbow Connector 26"/>
          <p:cNvCxnSpPr>
            <a:cxnSpLocks/>
          </p:cNvCxnSpPr>
          <p:nvPr/>
        </p:nvCxnSpPr>
        <p:spPr>
          <a:xfrm rot="10800000" flipV="1">
            <a:off x="2844708" y="3599439"/>
            <a:ext cx="1328909" cy="584681"/>
          </a:xfrm>
          <a:prstGeom prst="bentConnector3">
            <a:avLst>
              <a:gd name="adj1" fmla="val 99414"/>
            </a:avLst>
          </a:prstGeom>
          <a:ln>
            <a:solidFill>
              <a:schemeClr val="bg1">
                <a:lumMod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2844708" y="3628880"/>
            <a:ext cx="986541" cy="640463"/>
          </a:xfrm>
          <a:prstGeom prst="rect">
            <a:avLst/>
          </a:prstGeom>
        </p:spPr>
        <p:txBody>
          <a:bodyPr wrap="square">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53565A"/>
                </a:solidFill>
                <a:effectLst/>
                <a:uLnTx/>
                <a:uFillTx/>
                <a:latin typeface="Calibri"/>
                <a:ea typeface="+mn-ea"/>
                <a:cs typeface="+mn-cs"/>
              </a:rPr>
              <a:t>OFFICES</a:t>
            </a:r>
          </a:p>
          <a:p>
            <a:pPr marL="0" marR="0" lvl="0" indent="0" algn="ctr" defTabSz="1042873"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53565A"/>
                </a:solidFill>
                <a:effectLst/>
                <a:uLnTx/>
                <a:uFillTx/>
                <a:latin typeface="Calibri"/>
                <a:ea typeface="+mn-ea"/>
                <a:cs typeface="+mn-cs"/>
              </a:rPr>
              <a:t>674</a:t>
            </a:r>
          </a:p>
        </p:txBody>
      </p:sp>
      <p:sp>
        <p:nvSpPr>
          <p:cNvPr id="29" name="Rectangle 28"/>
          <p:cNvSpPr/>
          <p:nvPr/>
        </p:nvSpPr>
        <p:spPr>
          <a:xfrm>
            <a:off x="2190559" y="5990572"/>
            <a:ext cx="7914246" cy="265558"/>
          </a:xfrm>
          <a:prstGeom prst="rect">
            <a:avLst/>
          </a:prstGeom>
          <a:solidFill>
            <a:srgbClr val="0D8390"/>
          </a:solidFill>
        </p:spPr>
        <p:txBody>
          <a:bodyPr wrap="square" lIns="324000" rIns="36000">
            <a:spAutoFit/>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l" defTabSz="1290436" rtl="0" eaLnBrk="0" fontAlgn="auto" latinLnBrk="0" hangingPunct="0">
              <a:lnSpc>
                <a:spcPct val="100000"/>
              </a:lnSpc>
              <a:spcBef>
                <a:spcPts val="0"/>
              </a:spcBef>
              <a:spcAft>
                <a:spcPts val="0"/>
              </a:spcAft>
              <a:buClrTx/>
              <a:buSzTx/>
              <a:buFontTx/>
              <a:buNone/>
              <a:tabLst/>
              <a:defRPr/>
            </a:pPr>
            <a:r>
              <a:rPr kumimoji="0" lang="en-US" sz="1100" b="0" i="0" u="none" strike="noStrike" kern="1200" cap="none" spc="200" normalizeH="0" baseline="0" noProof="0" dirty="0">
                <a:ln>
                  <a:noFill/>
                </a:ln>
                <a:solidFill>
                  <a:prstClr val="white"/>
                </a:solidFill>
                <a:effectLst/>
                <a:uLnTx/>
                <a:uFillTx/>
                <a:latin typeface="Calibri"/>
                <a:ea typeface="+mn-ea"/>
                <a:cs typeface="Times New Roman" pitchFamily="18" charset="0"/>
              </a:rPr>
              <a:t>Deloitte member firms serve 82% of the 2020 Fortune 500 companies</a:t>
            </a:r>
          </a:p>
        </p:txBody>
      </p:sp>
      <p:sp>
        <p:nvSpPr>
          <p:cNvPr id="31" name="Oval 30"/>
          <p:cNvSpPr/>
          <p:nvPr/>
        </p:nvSpPr>
        <p:spPr bwMode="gray">
          <a:xfrm>
            <a:off x="1962431" y="5930297"/>
            <a:ext cx="362553" cy="367370"/>
          </a:xfrm>
          <a:prstGeom prst="ellipse">
            <a:avLst/>
          </a:prstGeom>
          <a:solidFill>
            <a:schemeClr val="bg1"/>
          </a:solidFill>
          <a:ln w="19050" algn="ctr">
            <a:noFill/>
            <a:miter lim="800000"/>
            <a:headEnd/>
            <a:tailEnd/>
          </a:ln>
        </p:spPr>
        <p:txBody>
          <a:bodyPr wrap="square" lIns="88900" tIns="88900" rIns="88900" bIns="88900" rtlCol="0" anchor="ct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ctr" defTabSz="1042873" rtl="0" eaLnBrk="1" fontAlgn="auto" latinLnBrk="0" hangingPunct="1">
              <a:lnSpc>
                <a:spcPct val="106000"/>
              </a:lnSpc>
              <a:spcBef>
                <a:spcPts val="0"/>
              </a:spcBef>
              <a:spcAft>
                <a:spcPts val="0"/>
              </a:spcAft>
              <a:buClrTx/>
              <a:buSzTx/>
              <a:buFont typeface="Wingdings 2" pitchFamily="18" charset="2"/>
              <a:buNone/>
              <a:tabLst/>
              <a:defRPr/>
            </a:pPr>
            <a:endParaRPr kumimoji="0" lang="en-GB" sz="1400" b="1" i="0" u="none" strike="noStrike" kern="1200" cap="none" spc="0" normalizeH="0" baseline="0" noProof="0" dirty="0">
              <a:ln>
                <a:noFill/>
              </a:ln>
              <a:solidFill>
                <a:prstClr val="white"/>
              </a:solidFill>
              <a:effectLst/>
              <a:uLnTx/>
              <a:uFillTx/>
              <a:latin typeface="Calibri"/>
              <a:ea typeface="+mn-ea"/>
              <a:cs typeface="+mn-cs"/>
            </a:endParaRPr>
          </a:p>
        </p:txBody>
      </p:sp>
      <p:sp>
        <p:nvSpPr>
          <p:cNvPr id="32" name="Freeform 31"/>
          <p:cNvSpPr>
            <a:spLocks noChangeAspect="1" noEditPoints="1"/>
          </p:cNvSpPr>
          <p:nvPr/>
        </p:nvSpPr>
        <p:spPr bwMode="auto">
          <a:xfrm>
            <a:off x="1982327" y="5950457"/>
            <a:ext cx="322762" cy="327050"/>
          </a:xfrm>
          <a:custGeom>
            <a:avLst/>
            <a:gdLst>
              <a:gd name="T0" fmla="*/ 260 w 512"/>
              <a:gd name="T1" fmla="*/ 165 h 512"/>
              <a:gd name="T2" fmla="*/ 295 w 512"/>
              <a:gd name="T3" fmla="*/ 288 h 512"/>
              <a:gd name="T4" fmla="*/ 128 w 512"/>
              <a:gd name="T5" fmla="*/ 288 h 512"/>
              <a:gd name="T6" fmla="*/ 119 w 512"/>
              <a:gd name="T7" fmla="*/ 250 h 512"/>
              <a:gd name="T8" fmla="*/ 260 w 512"/>
              <a:gd name="T9" fmla="*/ 165 h 512"/>
              <a:gd name="T10" fmla="*/ 192 w 512"/>
              <a:gd name="T11" fmla="*/ 309 h 512"/>
              <a:gd name="T12" fmla="*/ 213 w 512"/>
              <a:gd name="T13" fmla="*/ 330 h 512"/>
              <a:gd name="T14" fmla="*/ 234 w 512"/>
              <a:gd name="T15" fmla="*/ 309 h 512"/>
              <a:gd name="T16" fmla="*/ 234 w 512"/>
              <a:gd name="T17" fmla="*/ 309 h 512"/>
              <a:gd name="T18" fmla="*/ 192 w 512"/>
              <a:gd name="T19" fmla="*/ 309 h 512"/>
              <a:gd name="T20" fmla="*/ 192 w 512"/>
              <a:gd name="T21" fmla="*/ 309 h 512"/>
              <a:gd name="T22" fmla="*/ 512 w 512"/>
              <a:gd name="T23" fmla="*/ 256 h 512"/>
              <a:gd name="T24" fmla="*/ 256 w 512"/>
              <a:gd name="T25" fmla="*/ 512 h 512"/>
              <a:gd name="T26" fmla="*/ 0 w 512"/>
              <a:gd name="T27" fmla="*/ 256 h 512"/>
              <a:gd name="T28" fmla="*/ 256 w 512"/>
              <a:gd name="T29" fmla="*/ 0 h 512"/>
              <a:gd name="T30" fmla="*/ 512 w 512"/>
              <a:gd name="T31" fmla="*/ 256 h 512"/>
              <a:gd name="T32" fmla="*/ 301 w 512"/>
              <a:gd name="T33" fmla="*/ 177 h 512"/>
              <a:gd name="T34" fmla="*/ 309 w 512"/>
              <a:gd name="T35" fmla="*/ 181 h 512"/>
              <a:gd name="T36" fmla="*/ 316 w 512"/>
              <a:gd name="T37" fmla="*/ 179 h 512"/>
              <a:gd name="T38" fmla="*/ 369 w 512"/>
              <a:gd name="T39" fmla="*/ 136 h 512"/>
              <a:gd name="T40" fmla="*/ 371 w 512"/>
              <a:gd name="T41" fmla="*/ 121 h 512"/>
              <a:gd name="T42" fmla="*/ 356 w 512"/>
              <a:gd name="T43" fmla="*/ 119 h 512"/>
              <a:gd name="T44" fmla="*/ 302 w 512"/>
              <a:gd name="T45" fmla="*/ 162 h 512"/>
              <a:gd name="T46" fmla="*/ 301 w 512"/>
              <a:gd name="T47" fmla="*/ 177 h 512"/>
              <a:gd name="T48" fmla="*/ 319 w 512"/>
              <a:gd name="T49" fmla="*/ 295 h 512"/>
              <a:gd name="T50" fmla="*/ 277 w 512"/>
              <a:gd name="T51" fmla="*/ 146 h 512"/>
              <a:gd name="T52" fmla="*/ 270 w 512"/>
              <a:gd name="T53" fmla="*/ 139 h 512"/>
              <a:gd name="T54" fmla="*/ 261 w 512"/>
              <a:gd name="T55" fmla="*/ 140 h 512"/>
              <a:gd name="T56" fmla="*/ 101 w 512"/>
              <a:gd name="T57" fmla="*/ 236 h 512"/>
              <a:gd name="T58" fmla="*/ 96 w 512"/>
              <a:gd name="T59" fmla="*/ 248 h 512"/>
              <a:gd name="T60" fmla="*/ 110 w 512"/>
              <a:gd name="T61" fmla="*/ 301 h 512"/>
              <a:gd name="T62" fmla="*/ 120 w 512"/>
              <a:gd name="T63" fmla="*/ 309 h 512"/>
              <a:gd name="T64" fmla="*/ 170 w 512"/>
              <a:gd name="T65" fmla="*/ 309 h 512"/>
              <a:gd name="T66" fmla="*/ 170 w 512"/>
              <a:gd name="T67" fmla="*/ 309 h 512"/>
              <a:gd name="T68" fmla="*/ 213 w 512"/>
              <a:gd name="T69" fmla="*/ 352 h 512"/>
              <a:gd name="T70" fmla="*/ 256 w 512"/>
              <a:gd name="T71" fmla="*/ 309 h 512"/>
              <a:gd name="T72" fmla="*/ 256 w 512"/>
              <a:gd name="T73" fmla="*/ 309 h 512"/>
              <a:gd name="T74" fmla="*/ 309 w 512"/>
              <a:gd name="T75" fmla="*/ 309 h 512"/>
              <a:gd name="T76" fmla="*/ 309 w 512"/>
              <a:gd name="T77" fmla="*/ 309 h 512"/>
              <a:gd name="T78" fmla="*/ 318 w 512"/>
              <a:gd name="T79" fmla="*/ 305 h 512"/>
              <a:gd name="T80" fmla="*/ 319 w 512"/>
              <a:gd name="T81" fmla="*/ 295 h 512"/>
              <a:gd name="T82" fmla="*/ 416 w 512"/>
              <a:gd name="T83" fmla="*/ 279 h 512"/>
              <a:gd name="T84" fmla="*/ 407 w 512"/>
              <a:gd name="T85" fmla="*/ 266 h 512"/>
              <a:gd name="T86" fmla="*/ 343 w 512"/>
              <a:gd name="T87" fmla="*/ 256 h 512"/>
              <a:gd name="T88" fmla="*/ 330 w 512"/>
              <a:gd name="T89" fmla="*/ 265 h 512"/>
              <a:gd name="T90" fmla="*/ 339 w 512"/>
              <a:gd name="T91" fmla="*/ 277 h 512"/>
              <a:gd name="T92" fmla="*/ 403 w 512"/>
              <a:gd name="T93" fmla="*/ 288 h 512"/>
              <a:gd name="T94" fmla="*/ 405 w 512"/>
              <a:gd name="T95" fmla="*/ 288 h 512"/>
              <a:gd name="T96" fmla="*/ 416 w 512"/>
              <a:gd name="T97" fmla="*/ 279 h 512"/>
              <a:gd name="T98" fmla="*/ 415 w 512"/>
              <a:gd name="T99" fmla="*/ 189 h 512"/>
              <a:gd name="T100" fmla="*/ 402 w 512"/>
              <a:gd name="T101" fmla="*/ 181 h 512"/>
              <a:gd name="T102" fmla="*/ 327 w 512"/>
              <a:gd name="T103" fmla="*/ 203 h 512"/>
              <a:gd name="T104" fmla="*/ 320 w 512"/>
              <a:gd name="T105" fmla="*/ 216 h 512"/>
              <a:gd name="T106" fmla="*/ 330 w 512"/>
              <a:gd name="T107" fmla="*/ 224 h 512"/>
              <a:gd name="T108" fmla="*/ 333 w 512"/>
              <a:gd name="T109" fmla="*/ 223 h 512"/>
              <a:gd name="T110" fmla="*/ 408 w 512"/>
              <a:gd name="T111" fmla="*/ 202 h 512"/>
              <a:gd name="T112" fmla="*/ 415 w 512"/>
              <a:gd name="T113" fmla="*/ 18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12" h="512">
                <a:moveTo>
                  <a:pt x="260" y="165"/>
                </a:moveTo>
                <a:cubicBezTo>
                  <a:pt x="295" y="288"/>
                  <a:pt x="295" y="288"/>
                  <a:pt x="295" y="288"/>
                </a:cubicBezTo>
                <a:cubicBezTo>
                  <a:pt x="128" y="288"/>
                  <a:pt x="128" y="288"/>
                  <a:pt x="128" y="288"/>
                </a:cubicBezTo>
                <a:cubicBezTo>
                  <a:pt x="119" y="250"/>
                  <a:pt x="119" y="250"/>
                  <a:pt x="119" y="250"/>
                </a:cubicBezTo>
                <a:lnTo>
                  <a:pt x="260" y="165"/>
                </a:lnTo>
                <a:close/>
                <a:moveTo>
                  <a:pt x="192" y="309"/>
                </a:moveTo>
                <a:cubicBezTo>
                  <a:pt x="192" y="321"/>
                  <a:pt x="201" y="330"/>
                  <a:pt x="213" y="330"/>
                </a:cubicBezTo>
                <a:cubicBezTo>
                  <a:pt x="225" y="330"/>
                  <a:pt x="234" y="321"/>
                  <a:pt x="234" y="309"/>
                </a:cubicBezTo>
                <a:cubicBezTo>
                  <a:pt x="234" y="309"/>
                  <a:pt x="234" y="309"/>
                  <a:pt x="234" y="309"/>
                </a:cubicBezTo>
                <a:cubicBezTo>
                  <a:pt x="192" y="309"/>
                  <a:pt x="192" y="309"/>
                  <a:pt x="192" y="309"/>
                </a:cubicBezTo>
                <a:cubicBezTo>
                  <a:pt x="192" y="309"/>
                  <a:pt x="192" y="309"/>
                  <a:pt x="192" y="309"/>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01" y="177"/>
                </a:moveTo>
                <a:cubicBezTo>
                  <a:pt x="303" y="180"/>
                  <a:pt x="306" y="181"/>
                  <a:pt x="309" y="181"/>
                </a:cubicBezTo>
                <a:cubicBezTo>
                  <a:pt x="311" y="181"/>
                  <a:pt x="314" y="180"/>
                  <a:pt x="316" y="179"/>
                </a:cubicBezTo>
                <a:cubicBezTo>
                  <a:pt x="369" y="136"/>
                  <a:pt x="369" y="136"/>
                  <a:pt x="369" y="136"/>
                </a:cubicBezTo>
                <a:cubicBezTo>
                  <a:pt x="374" y="132"/>
                  <a:pt x="374" y="126"/>
                  <a:pt x="371" y="121"/>
                </a:cubicBezTo>
                <a:cubicBezTo>
                  <a:pt x="367" y="116"/>
                  <a:pt x="360" y="116"/>
                  <a:pt x="356" y="119"/>
                </a:cubicBezTo>
                <a:cubicBezTo>
                  <a:pt x="302" y="162"/>
                  <a:pt x="302" y="162"/>
                  <a:pt x="302" y="162"/>
                </a:cubicBezTo>
                <a:cubicBezTo>
                  <a:pt x="298" y="166"/>
                  <a:pt x="297" y="172"/>
                  <a:pt x="301" y="177"/>
                </a:cubicBezTo>
                <a:close/>
                <a:moveTo>
                  <a:pt x="319" y="295"/>
                </a:moveTo>
                <a:cubicBezTo>
                  <a:pt x="277" y="146"/>
                  <a:pt x="277" y="146"/>
                  <a:pt x="277" y="146"/>
                </a:cubicBezTo>
                <a:cubicBezTo>
                  <a:pt x="276" y="143"/>
                  <a:pt x="273" y="140"/>
                  <a:pt x="270" y="139"/>
                </a:cubicBezTo>
                <a:cubicBezTo>
                  <a:pt x="267" y="138"/>
                  <a:pt x="264" y="138"/>
                  <a:pt x="261" y="140"/>
                </a:cubicBezTo>
                <a:cubicBezTo>
                  <a:pt x="101" y="236"/>
                  <a:pt x="101" y="236"/>
                  <a:pt x="101" y="236"/>
                </a:cubicBezTo>
                <a:cubicBezTo>
                  <a:pt x="97" y="238"/>
                  <a:pt x="95" y="243"/>
                  <a:pt x="96" y="248"/>
                </a:cubicBezTo>
                <a:cubicBezTo>
                  <a:pt x="110" y="301"/>
                  <a:pt x="110" y="301"/>
                  <a:pt x="110" y="301"/>
                </a:cubicBezTo>
                <a:cubicBezTo>
                  <a:pt x="111" y="306"/>
                  <a:pt x="115" y="309"/>
                  <a:pt x="120" y="309"/>
                </a:cubicBezTo>
                <a:cubicBezTo>
                  <a:pt x="170" y="309"/>
                  <a:pt x="170" y="309"/>
                  <a:pt x="170" y="309"/>
                </a:cubicBezTo>
                <a:cubicBezTo>
                  <a:pt x="170" y="309"/>
                  <a:pt x="170" y="309"/>
                  <a:pt x="170" y="309"/>
                </a:cubicBezTo>
                <a:cubicBezTo>
                  <a:pt x="170" y="333"/>
                  <a:pt x="189" y="352"/>
                  <a:pt x="213" y="352"/>
                </a:cubicBezTo>
                <a:cubicBezTo>
                  <a:pt x="237" y="352"/>
                  <a:pt x="256" y="333"/>
                  <a:pt x="256" y="309"/>
                </a:cubicBezTo>
                <a:cubicBezTo>
                  <a:pt x="256" y="309"/>
                  <a:pt x="256" y="309"/>
                  <a:pt x="256" y="309"/>
                </a:cubicBezTo>
                <a:cubicBezTo>
                  <a:pt x="309" y="309"/>
                  <a:pt x="309" y="309"/>
                  <a:pt x="309" y="309"/>
                </a:cubicBezTo>
                <a:cubicBezTo>
                  <a:pt x="309" y="309"/>
                  <a:pt x="309" y="309"/>
                  <a:pt x="309" y="309"/>
                </a:cubicBezTo>
                <a:cubicBezTo>
                  <a:pt x="312" y="309"/>
                  <a:pt x="316" y="307"/>
                  <a:pt x="318" y="305"/>
                </a:cubicBezTo>
                <a:cubicBezTo>
                  <a:pt x="320" y="302"/>
                  <a:pt x="320" y="299"/>
                  <a:pt x="319" y="295"/>
                </a:cubicBezTo>
                <a:close/>
                <a:moveTo>
                  <a:pt x="416" y="279"/>
                </a:moveTo>
                <a:cubicBezTo>
                  <a:pt x="416" y="273"/>
                  <a:pt x="413" y="267"/>
                  <a:pt x="407" y="266"/>
                </a:cubicBezTo>
                <a:cubicBezTo>
                  <a:pt x="343" y="256"/>
                  <a:pt x="343" y="256"/>
                  <a:pt x="343" y="256"/>
                </a:cubicBezTo>
                <a:cubicBezTo>
                  <a:pt x="337" y="255"/>
                  <a:pt x="331" y="259"/>
                  <a:pt x="330" y="265"/>
                </a:cubicBezTo>
                <a:cubicBezTo>
                  <a:pt x="330" y="270"/>
                  <a:pt x="333" y="276"/>
                  <a:pt x="339" y="277"/>
                </a:cubicBezTo>
                <a:cubicBezTo>
                  <a:pt x="403" y="288"/>
                  <a:pt x="403" y="288"/>
                  <a:pt x="403" y="288"/>
                </a:cubicBezTo>
                <a:cubicBezTo>
                  <a:pt x="404" y="288"/>
                  <a:pt x="404" y="288"/>
                  <a:pt x="405" y="288"/>
                </a:cubicBezTo>
                <a:cubicBezTo>
                  <a:pt x="410" y="288"/>
                  <a:pt x="415" y="284"/>
                  <a:pt x="416" y="279"/>
                </a:cubicBezTo>
                <a:close/>
                <a:moveTo>
                  <a:pt x="415" y="189"/>
                </a:moveTo>
                <a:cubicBezTo>
                  <a:pt x="414" y="183"/>
                  <a:pt x="408" y="180"/>
                  <a:pt x="402" y="181"/>
                </a:cubicBezTo>
                <a:cubicBezTo>
                  <a:pt x="327" y="203"/>
                  <a:pt x="327" y="203"/>
                  <a:pt x="327" y="203"/>
                </a:cubicBezTo>
                <a:cubicBezTo>
                  <a:pt x="322" y="204"/>
                  <a:pt x="318" y="210"/>
                  <a:pt x="320" y="216"/>
                </a:cubicBezTo>
                <a:cubicBezTo>
                  <a:pt x="321" y="221"/>
                  <a:pt x="326" y="224"/>
                  <a:pt x="330" y="224"/>
                </a:cubicBezTo>
                <a:cubicBezTo>
                  <a:pt x="331" y="224"/>
                  <a:pt x="332" y="224"/>
                  <a:pt x="333" y="223"/>
                </a:cubicBezTo>
                <a:cubicBezTo>
                  <a:pt x="408" y="202"/>
                  <a:pt x="408" y="202"/>
                  <a:pt x="408" y="202"/>
                </a:cubicBezTo>
                <a:cubicBezTo>
                  <a:pt x="414" y="200"/>
                  <a:pt x="417" y="194"/>
                  <a:pt x="415" y="189"/>
                </a:cubicBezTo>
                <a:close/>
              </a:path>
            </a:pathLst>
          </a:custGeom>
          <a:solidFill>
            <a:srgbClr val="0D8390"/>
          </a:solidFill>
          <a:ln>
            <a:noFill/>
          </a:ln>
        </p:spPr>
        <p:txBody>
          <a:bodyPr vert="horz" wrap="square" lIns="91440" tIns="45720" rIns="91440" bIns="45720" numCol="1" anchor="t" anchorCtr="0" compatLnSpc="1">
            <a:prstTxWarp prst="textNoShape">
              <a:avLst/>
            </a:prstTxWarp>
          </a:bodyPr>
          <a:ls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a:lstStyle>
          <a:p>
            <a:pPr marL="0" marR="0" lvl="0" indent="0" algn="l" defTabSz="1042873"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33" name="TextBox 32">
            <a:extLst>
              <a:ext uri="{FF2B5EF4-FFF2-40B4-BE49-F238E27FC236}">
                <a16:creationId xmlns:a16="http://schemas.microsoft.com/office/drawing/2014/main" id="{FFA0FB46-7701-495D-9ABC-7F7670BD3ED3}"/>
              </a:ext>
            </a:extLst>
          </p:cNvPr>
          <p:cNvSpPr txBox="1"/>
          <p:nvPr/>
        </p:nvSpPr>
        <p:spPr>
          <a:xfrm>
            <a:off x="509653" y="764562"/>
            <a:ext cx="11233150" cy="738664"/>
          </a:xfrm>
          <a:prstGeom prst="rect">
            <a:avLst/>
          </a:prstGeom>
          <a:noFill/>
        </p:spPr>
        <p:txBody>
          <a:bodyPr wrap="square" lIns="0" tIns="0" rIns="0" bIns="0" rtlCol="0">
            <a:spAutoFit/>
          </a:bodyPr>
          <a:lstStyle/>
          <a:p>
            <a:pPr defTabSz="945677">
              <a:buSzPct val="100000"/>
              <a:defRPr/>
            </a:pPr>
            <a:r>
              <a:rPr lang="en-US" sz="1200" dirty="0"/>
              <a:t>Deloitte is one of the world’s largest and most diversified professional services organisations, providing assurance &amp; advisory, tax, management consulting, and enterprise risk management services through more than 334,800 professionals in more than 150 countries. Our organisation includes a unique portfolio of competencies integrated in one industry-leading organisation. Deloitte Touche Tohmatsu India LLP (DTTI LLP) is a member firm in India that provides non-audit consulting services. Our experienced professionals deliver seamless, consistent services wherever our clients operate.</a:t>
            </a:r>
          </a:p>
        </p:txBody>
      </p:sp>
    </p:spTree>
    <p:extLst>
      <p:ext uri="{BB962C8B-B14F-4D97-AF65-F5344CB8AC3E}">
        <p14:creationId xmlns:p14="http://schemas.microsoft.com/office/powerpoint/2010/main" val="1539502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4">
            <a:extLst>
              <a:ext uri="{FF2B5EF4-FFF2-40B4-BE49-F238E27FC236}">
                <a16:creationId xmlns:a16="http://schemas.microsoft.com/office/drawing/2014/main" id="{C76FD06A-2999-4082-99F4-E3E80DD9E247}"/>
              </a:ext>
            </a:extLst>
          </p:cNvPr>
          <p:cNvSpPr txBox="1">
            <a:spLocks/>
          </p:cNvSpPr>
          <p:nvPr/>
        </p:nvSpPr>
        <p:spPr bwMode="gray">
          <a:xfrm>
            <a:off x="500380" y="311147"/>
            <a:ext cx="11252200" cy="334102"/>
          </a:xfrm>
          <a:prstGeom prst="rect">
            <a:avLst/>
          </a:prstGeom>
        </p:spPr>
        <p:txBody>
          <a:bodyPr vert="horz" lIns="0" tIns="0" rIns="0" bIns="0" rtlCol="0" anchor="t" anchorCtr="0">
            <a:noAutofit/>
          </a:bodyPr>
          <a:lstStyle>
            <a:defPPr>
              <a:defRPr lang="en-US"/>
            </a:defPPr>
            <a:lvl1pPr>
              <a:lnSpc>
                <a:spcPct val="90000"/>
              </a:lnSpc>
              <a:spcBef>
                <a:spcPct val="0"/>
              </a:spcBef>
              <a:buNone/>
              <a:defRPr sz="2000">
                <a:ea typeface="+mj-ea"/>
                <a:cs typeface="Calibri Light" panose="020F0302020204030204" pitchFamily="34" charset="0"/>
              </a:defRPr>
            </a:lvl1pPr>
          </a:lstStyle>
          <a:p>
            <a:r>
              <a:rPr lang="en-US" dirty="0"/>
              <a:t>Industry recognitions</a:t>
            </a:r>
            <a:br>
              <a:rPr lang="en-US" dirty="0"/>
            </a:br>
            <a:endParaRPr lang="en-US" dirty="0"/>
          </a:p>
        </p:txBody>
      </p:sp>
      <p:sp>
        <p:nvSpPr>
          <p:cNvPr id="31" name="Rectangle 30">
            <a:extLst>
              <a:ext uri="{FF2B5EF4-FFF2-40B4-BE49-F238E27FC236}">
                <a16:creationId xmlns:a16="http://schemas.microsoft.com/office/drawing/2014/main" id="{7FDED196-97E3-48FA-9811-4698D263730C}"/>
              </a:ext>
            </a:extLst>
          </p:cNvPr>
          <p:cNvSpPr/>
          <p:nvPr/>
        </p:nvSpPr>
        <p:spPr bwMode="gray">
          <a:xfrm>
            <a:off x="511175" y="1527759"/>
            <a:ext cx="1989350" cy="4873039"/>
          </a:xfrm>
          <a:prstGeom prst="rect">
            <a:avLst/>
          </a:prstGeom>
          <a:solidFill>
            <a:schemeClr val="accent5">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33" name="Rectangle 32">
            <a:extLst>
              <a:ext uri="{FF2B5EF4-FFF2-40B4-BE49-F238E27FC236}">
                <a16:creationId xmlns:a16="http://schemas.microsoft.com/office/drawing/2014/main" id="{EB28413B-193D-4481-B2B6-3EFA09F3883E}"/>
              </a:ext>
            </a:extLst>
          </p:cNvPr>
          <p:cNvSpPr/>
          <p:nvPr/>
        </p:nvSpPr>
        <p:spPr>
          <a:xfrm>
            <a:off x="2607314" y="1719262"/>
            <a:ext cx="9019292" cy="4670076"/>
          </a:xfrm>
          <a:prstGeom prst="rect">
            <a:avLst/>
          </a:prstGeom>
        </p:spPr>
        <p:txBody>
          <a:bodyPr wrap="square" lIns="0" tIns="0" rIns="0" bIns="0">
            <a:spAutoFit/>
          </a:bodyPr>
          <a:lstStyle/>
          <a:p>
            <a:pPr marL="173736" marR="0" lvl="0" indent="-173736" algn="l" defTabSz="914400" rtl="0" eaLnBrk="1" fontAlgn="auto" latinLnBrk="0" hangingPunct="1">
              <a:lnSpc>
                <a:spcPct val="100000"/>
              </a:lnSpc>
              <a:spcBef>
                <a:spcPts val="800"/>
              </a:spcBef>
              <a:spcAft>
                <a:spcPts val="706"/>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Deloitte has been positioned highest in the ability to execute in </a:t>
            </a:r>
            <a:r>
              <a:rPr kumimoji="0" lang="en-US" sz="1200" b="1" i="0" u="none" strike="noStrike" kern="1200" cap="none" spc="0" normalizeH="0" baseline="0" noProof="0" dirty="0">
                <a:ln>
                  <a:noFill/>
                </a:ln>
                <a:solidFill>
                  <a:prstClr val="black"/>
                </a:solidFill>
                <a:effectLst/>
                <a:uLnTx/>
                <a:uFillTx/>
                <a:latin typeface="Calibri"/>
                <a:ea typeface="+mn-ea"/>
                <a:cs typeface="+mn-cs"/>
              </a:rPr>
              <a:t>Software Asset Management Managed Services Magic Quadrant</a:t>
            </a:r>
            <a:r>
              <a:rPr kumimoji="0" lang="en-US" sz="1200" b="0" i="0" u="none" strike="noStrike" kern="1200" cap="none" spc="0" normalizeH="0" baseline="0" noProof="0" dirty="0">
                <a:ln>
                  <a:noFill/>
                </a:ln>
                <a:solidFill>
                  <a:prstClr val="black"/>
                </a:solidFill>
                <a:effectLst/>
                <a:uLnTx/>
                <a:uFillTx/>
                <a:latin typeface="Calibri"/>
                <a:ea typeface="+mn-ea"/>
                <a:cs typeface="+mn-cs"/>
              </a:rPr>
              <a:t> by Gartner in 2020.</a:t>
            </a:r>
          </a:p>
          <a:p>
            <a:pPr marL="173736" marR="0" lvl="0" indent="-173736" algn="l" defTabSz="914400" rtl="0" eaLnBrk="1" fontAlgn="auto" latinLnBrk="0" hangingPunct="1">
              <a:lnSpc>
                <a:spcPct val="100000"/>
              </a:lnSpc>
              <a:spcBef>
                <a:spcPts val="800"/>
              </a:spcBef>
              <a:spcAft>
                <a:spcPts val="706"/>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Deloitte was named a leader in </a:t>
            </a:r>
            <a:r>
              <a:rPr kumimoji="0" lang="en-US" sz="1200" b="1" i="0" u="none" strike="noStrike" kern="1200" cap="none" spc="0" normalizeH="0" baseline="0" noProof="0" dirty="0">
                <a:ln>
                  <a:noFill/>
                </a:ln>
                <a:solidFill>
                  <a:prstClr val="black"/>
                </a:solidFill>
                <a:effectLst/>
                <a:uLnTx/>
                <a:uFillTx/>
                <a:latin typeface="Calibri"/>
                <a:ea typeface="+mn-ea"/>
                <a:cs typeface="+mn-cs"/>
              </a:rPr>
              <a:t>Procurement Operations Consulting </a:t>
            </a:r>
            <a:r>
              <a:rPr kumimoji="0" lang="en-US" sz="1200" b="0" i="0" u="none" strike="noStrike" kern="1200" cap="none" spc="0" normalizeH="0" baseline="0" noProof="0" dirty="0">
                <a:ln>
                  <a:noFill/>
                </a:ln>
                <a:solidFill>
                  <a:prstClr val="black"/>
                </a:solidFill>
                <a:effectLst/>
                <a:uLnTx/>
                <a:uFillTx/>
                <a:latin typeface="Calibri"/>
                <a:ea typeface="+mn-ea"/>
                <a:cs typeface="+mn-cs"/>
              </a:rPr>
              <a:t>by ALM Intelligence in their report Procurement Operations Consulting Vanguard 2020.</a:t>
            </a:r>
          </a:p>
          <a:p>
            <a:pPr marL="173736" marR="0" lvl="0" indent="-173736" algn="l" defTabSz="914400" rtl="0" eaLnBrk="1" fontAlgn="auto" latinLnBrk="0" hangingPunct="1">
              <a:lnSpc>
                <a:spcPct val="100000"/>
              </a:lnSpc>
              <a:spcBef>
                <a:spcPts val="800"/>
              </a:spcBef>
              <a:spcAft>
                <a:spcPts val="706"/>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Deloitte has been recognized as a leader in </a:t>
            </a:r>
            <a:r>
              <a:rPr kumimoji="0" lang="en-US" sz="1200" b="1" i="0" u="none" strike="noStrike" kern="1200" cap="none" spc="0" normalizeH="0" baseline="0" noProof="0" dirty="0">
                <a:ln>
                  <a:noFill/>
                </a:ln>
                <a:solidFill>
                  <a:prstClr val="black"/>
                </a:solidFill>
                <a:effectLst/>
                <a:uLnTx/>
                <a:uFillTx/>
                <a:latin typeface="Calibri"/>
                <a:ea typeface="+mn-ea"/>
                <a:cs typeface="+mn-cs"/>
              </a:rPr>
              <a:t>The Forrester Wave for Enterprise Insight Service Providers </a:t>
            </a:r>
            <a:r>
              <a:rPr kumimoji="0" lang="en-US" sz="1200" b="0" i="0" u="none" strike="noStrike" kern="1200" cap="none" spc="0" normalizeH="0" baseline="0" noProof="0" dirty="0">
                <a:ln>
                  <a:noFill/>
                </a:ln>
                <a:solidFill>
                  <a:prstClr val="black"/>
                </a:solidFill>
                <a:effectLst/>
                <a:uLnTx/>
                <a:uFillTx/>
                <a:latin typeface="Calibri"/>
                <a:ea typeface="+mn-ea"/>
                <a:cs typeface="+mn-cs"/>
              </a:rPr>
              <a:t>in Q2, 2020.</a:t>
            </a:r>
          </a:p>
          <a:p>
            <a:pPr marL="173736" marR="0" lvl="0" indent="-173736" algn="l" defTabSz="914400" rtl="0" eaLnBrk="1" fontAlgn="auto" latinLnBrk="0" hangingPunct="1">
              <a:lnSpc>
                <a:spcPct val="100000"/>
              </a:lnSpc>
              <a:spcBef>
                <a:spcPts val="800"/>
              </a:spcBef>
              <a:spcAft>
                <a:spcPts val="706"/>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Deloitte has received the highest score in </a:t>
            </a:r>
            <a:r>
              <a:rPr kumimoji="0" lang="en-US" sz="1200" b="1" i="0" u="none" strike="noStrike" kern="1200" cap="none" spc="0" normalizeH="0" baseline="0" noProof="0" dirty="0">
                <a:ln>
                  <a:noFill/>
                </a:ln>
                <a:solidFill>
                  <a:prstClr val="black"/>
                </a:solidFill>
                <a:effectLst/>
                <a:uLnTx/>
                <a:uFillTx/>
                <a:latin typeface="Calibri"/>
                <a:ea typeface="+mn-ea"/>
                <a:cs typeface="+mn-cs"/>
              </a:rPr>
              <a:t>Assessment and Strategy Use Case </a:t>
            </a:r>
            <a:r>
              <a:rPr kumimoji="0" lang="en-US" sz="1200" b="0" i="0" u="none" strike="noStrike" kern="1200" cap="none" spc="0" normalizeH="0" baseline="0" noProof="0" dirty="0">
                <a:ln>
                  <a:noFill/>
                </a:ln>
                <a:solidFill>
                  <a:prstClr val="black"/>
                </a:solidFill>
                <a:effectLst/>
                <a:uLnTx/>
                <a:uFillTx/>
                <a:latin typeface="Calibri"/>
                <a:ea typeface="+mn-ea"/>
                <a:cs typeface="+mn-cs"/>
              </a:rPr>
              <a:t>in Gartner’s Critical Capabilities for </a:t>
            </a:r>
            <a:r>
              <a:rPr kumimoji="0" lang="en-US" sz="1200" b="1" i="0" u="none" strike="noStrike" kern="1200" cap="none" spc="0" normalizeH="0" baseline="0" noProof="0" dirty="0">
                <a:ln>
                  <a:noFill/>
                </a:ln>
                <a:solidFill>
                  <a:prstClr val="black"/>
                </a:solidFill>
                <a:effectLst/>
                <a:uLnTx/>
                <a:uFillTx/>
                <a:latin typeface="Calibri"/>
                <a:ea typeface="+mn-ea"/>
                <a:cs typeface="+mn-cs"/>
              </a:rPr>
              <a:t>Oracle Cloud Applications Services</a:t>
            </a:r>
            <a:r>
              <a:rPr kumimoji="0" lang="en-US" sz="1200" b="0" i="0" u="none" strike="noStrike" kern="1200" cap="none" spc="0" normalizeH="0" baseline="0" noProof="0" dirty="0">
                <a:ln>
                  <a:noFill/>
                </a:ln>
                <a:solidFill>
                  <a:prstClr val="black"/>
                </a:solidFill>
                <a:effectLst/>
                <a:uLnTx/>
                <a:uFillTx/>
                <a:latin typeface="Calibri"/>
                <a:ea typeface="+mn-ea"/>
                <a:cs typeface="+mn-cs"/>
              </a:rPr>
              <a:t>.</a:t>
            </a:r>
          </a:p>
          <a:p>
            <a:pPr marL="173736" marR="0" lvl="0" indent="-173736" algn="l" defTabSz="914400" rtl="0" eaLnBrk="1" fontAlgn="auto" latinLnBrk="0" hangingPunct="1">
              <a:lnSpc>
                <a:spcPct val="100000"/>
              </a:lnSpc>
              <a:spcBef>
                <a:spcPts val="800"/>
              </a:spcBef>
              <a:spcAft>
                <a:spcPts val="706"/>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Deloitte receives high scores in </a:t>
            </a:r>
            <a:r>
              <a:rPr kumimoji="0" lang="en-US" sz="1200" b="1" i="0" u="none" strike="noStrike" kern="1200" cap="none" spc="0" normalizeH="0" baseline="0" noProof="0" dirty="0">
                <a:ln>
                  <a:noFill/>
                </a:ln>
                <a:solidFill>
                  <a:prstClr val="black"/>
                </a:solidFill>
                <a:effectLst/>
                <a:uLnTx/>
                <a:uFillTx/>
                <a:latin typeface="Calibri"/>
                <a:ea typeface="+mn-ea"/>
                <a:cs typeface="+mn-cs"/>
              </a:rPr>
              <a:t>Critical Capabilities for Public Cloud Infrastructure Managed and Professional Services </a:t>
            </a:r>
            <a:r>
              <a:rPr kumimoji="0" lang="en-US" sz="1200" b="0" i="0" u="none" strike="noStrike" kern="1200" cap="none" spc="0" normalizeH="0" baseline="0" noProof="0" dirty="0">
                <a:ln>
                  <a:noFill/>
                </a:ln>
                <a:solidFill>
                  <a:prstClr val="black"/>
                </a:solidFill>
                <a:effectLst/>
                <a:uLnTx/>
                <a:uFillTx/>
                <a:latin typeface="Calibri"/>
                <a:ea typeface="+mn-ea"/>
                <a:cs typeface="+mn-cs"/>
              </a:rPr>
              <a:t>by Gartner.</a:t>
            </a:r>
          </a:p>
          <a:p>
            <a:pPr marL="173736" marR="0" lvl="0" indent="-173736" algn="l" defTabSz="914400" rtl="0" eaLnBrk="1" fontAlgn="auto" latinLnBrk="0" hangingPunct="1">
              <a:lnSpc>
                <a:spcPct val="100000"/>
              </a:lnSpc>
              <a:spcBef>
                <a:spcPts val="800"/>
              </a:spcBef>
              <a:spcAft>
                <a:spcPts val="706"/>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Deloitte named a global leader in </a:t>
            </a:r>
            <a:r>
              <a:rPr kumimoji="0" lang="en-US" sz="1200" b="1" i="0" u="none" strike="noStrike" kern="1200" cap="none" spc="0" normalizeH="0" baseline="0" noProof="0" dirty="0">
                <a:ln>
                  <a:noFill/>
                </a:ln>
                <a:solidFill>
                  <a:prstClr val="black"/>
                </a:solidFill>
                <a:effectLst/>
                <a:uLnTx/>
                <a:uFillTx/>
                <a:latin typeface="Calibri"/>
                <a:ea typeface="+mn-ea"/>
                <a:cs typeface="+mn-cs"/>
              </a:rPr>
              <a:t>Public Cloud Infrastructure Managed and Professional Services </a:t>
            </a:r>
            <a:r>
              <a:rPr kumimoji="0" lang="en-US" sz="1200" b="0" i="0" u="none" strike="noStrike" kern="1200" cap="none" spc="0" normalizeH="0" baseline="0" noProof="0" dirty="0">
                <a:ln>
                  <a:noFill/>
                </a:ln>
                <a:solidFill>
                  <a:prstClr val="black"/>
                </a:solidFill>
                <a:effectLst/>
                <a:uLnTx/>
                <a:uFillTx/>
                <a:latin typeface="Calibri"/>
                <a:ea typeface="+mn-ea"/>
                <a:cs typeface="+mn-cs"/>
              </a:rPr>
              <a:t>by Gartner.</a:t>
            </a:r>
          </a:p>
          <a:p>
            <a:pPr marL="173736" marR="0" lvl="0" indent="-173736" algn="l" defTabSz="914400" rtl="0" eaLnBrk="1" fontAlgn="auto" latinLnBrk="0" hangingPunct="1">
              <a:lnSpc>
                <a:spcPct val="100000"/>
              </a:lnSpc>
              <a:spcBef>
                <a:spcPts val="800"/>
              </a:spcBef>
              <a:spcAft>
                <a:spcPts val="706"/>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Deloitte named a global leader in </a:t>
            </a:r>
            <a:r>
              <a:rPr kumimoji="0" lang="en-US" sz="1200" b="1" i="0" u="none" strike="noStrike" kern="1200" cap="none" spc="0" normalizeH="0" baseline="0" noProof="0" dirty="0">
                <a:ln>
                  <a:noFill/>
                </a:ln>
                <a:solidFill>
                  <a:prstClr val="black"/>
                </a:solidFill>
                <a:effectLst/>
                <a:uLnTx/>
                <a:uFillTx/>
                <a:latin typeface="Calibri"/>
                <a:ea typeface="+mn-ea"/>
                <a:cs typeface="+mn-cs"/>
              </a:rPr>
              <a:t>Oracle Cloud Applications Services </a:t>
            </a:r>
            <a:r>
              <a:rPr kumimoji="0" lang="en-US" sz="1200" b="0" i="0" u="none" strike="noStrike" kern="1200" cap="none" spc="0" normalizeH="0" baseline="0" noProof="0" dirty="0">
                <a:ln>
                  <a:noFill/>
                </a:ln>
                <a:solidFill>
                  <a:prstClr val="black"/>
                </a:solidFill>
                <a:effectLst/>
                <a:uLnTx/>
                <a:uFillTx/>
                <a:latin typeface="Calibri"/>
                <a:ea typeface="+mn-ea"/>
                <a:cs typeface="+mn-cs"/>
              </a:rPr>
              <a:t>by Gartner.</a:t>
            </a:r>
          </a:p>
          <a:p>
            <a:pPr marL="173736" marR="0" lvl="0" indent="-173736" algn="l" defTabSz="914400" rtl="0" eaLnBrk="1" fontAlgn="auto" latinLnBrk="0" hangingPunct="1">
              <a:lnSpc>
                <a:spcPct val="100000"/>
              </a:lnSpc>
              <a:spcBef>
                <a:spcPts val="800"/>
              </a:spcBef>
              <a:spcAft>
                <a:spcPts val="706"/>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Deloitte has been named a Leader in Gartner’s 2020 Magic Quadrant for </a:t>
            </a:r>
            <a:r>
              <a:rPr kumimoji="0" lang="en-US" sz="1200" b="1" i="0" u="none" strike="noStrike" kern="1200" cap="none" spc="0" normalizeH="0" baseline="0" noProof="0" dirty="0">
                <a:ln>
                  <a:noFill/>
                </a:ln>
                <a:solidFill>
                  <a:prstClr val="black"/>
                </a:solidFill>
                <a:effectLst/>
                <a:uLnTx/>
                <a:uFillTx/>
                <a:latin typeface="Calibri"/>
                <a:ea typeface="+mn-ea"/>
                <a:cs typeface="+mn-cs"/>
              </a:rPr>
              <a:t>SAP S/4HANA Application Services</a:t>
            </a:r>
            <a:r>
              <a:rPr kumimoji="0" lang="en-US" sz="1200" b="0" i="0" u="none" strike="noStrike" kern="1200" cap="none" spc="0" normalizeH="0" baseline="0" noProof="0" dirty="0">
                <a:ln>
                  <a:noFill/>
                </a:ln>
                <a:solidFill>
                  <a:prstClr val="black"/>
                </a:solidFill>
                <a:effectLst/>
                <a:uLnTx/>
                <a:uFillTx/>
                <a:latin typeface="Calibri"/>
                <a:ea typeface="+mn-ea"/>
                <a:cs typeface="+mn-cs"/>
              </a:rPr>
              <a:t>, Worldwide</a:t>
            </a:r>
          </a:p>
          <a:p>
            <a:pPr marL="173736" marR="0" lvl="0" indent="-173736" algn="l" defTabSz="914400" rtl="0" eaLnBrk="1" fontAlgn="auto" latinLnBrk="0" hangingPunct="1">
              <a:lnSpc>
                <a:spcPct val="100000"/>
              </a:lnSpc>
              <a:spcBef>
                <a:spcPts val="800"/>
              </a:spcBef>
              <a:spcAft>
                <a:spcPts val="706"/>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Deloitte named a Leader in the 2020 Magic Quadrant for </a:t>
            </a:r>
            <a:r>
              <a:rPr kumimoji="0" lang="en-US" sz="1200" b="1" i="0" u="none" strike="noStrike" kern="1200" cap="none" spc="0" normalizeH="0" baseline="0" noProof="0" dirty="0">
                <a:ln>
                  <a:noFill/>
                </a:ln>
                <a:solidFill>
                  <a:prstClr val="black"/>
                </a:solidFill>
                <a:effectLst/>
                <a:uLnTx/>
                <a:uFillTx/>
                <a:latin typeface="Calibri"/>
                <a:ea typeface="+mn-ea"/>
                <a:cs typeface="+mn-cs"/>
              </a:rPr>
              <a:t>CRM and Customer Experience Implementation Services</a:t>
            </a:r>
            <a:r>
              <a:rPr kumimoji="0" lang="en-US" sz="1200" b="0" i="0" u="none" strike="noStrike" kern="1200" cap="none" spc="0" normalizeH="0" baseline="0" noProof="0" dirty="0">
                <a:ln>
                  <a:noFill/>
                </a:ln>
                <a:solidFill>
                  <a:prstClr val="black"/>
                </a:solidFill>
                <a:effectLst/>
                <a:uLnTx/>
                <a:uFillTx/>
                <a:latin typeface="Calibri"/>
                <a:ea typeface="+mn-ea"/>
                <a:cs typeface="+mn-cs"/>
              </a:rPr>
              <a:t> by Gartner.</a:t>
            </a:r>
          </a:p>
          <a:p>
            <a:pPr marL="173736" marR="0" lvl="0" indent="-173736" algn="l" defTabSz="914400" rtl="0" eaLnBrk="1" fontAlgn="auto" latinLnBrk="0" hangingPunct="1">
              <a:lnSpc>
                <a:spcPct val="100000"/>
              </a:lnSpc>
              <a:spcBef>
                <a:spcPts val="800"/>
              </a:spcBef>
              <a:spcAft>
                <a:spcPts val="706"/>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Deloitte named a leader for the 6th consecutive time in </a:t>
            </a:r>
            <a:r>
              <a:rPr kumimoji="0" lang="en-US" sz="1200" b="1" i="0" u="none" strike="noStrike" kern="1200" cap="none" spc="0" normalizeH="0" baseline="0" noProof="0" dirty="0">
                <a:ln>
                  <a:noFill/>
                </a:ln>
                <a:solidFill>
                  <a:prstClr val="black"/>
                </a:solidFill>
                <a:effectLst/>
                <a:uLnTx/>
                <a:uFillTx/>
                <a:latin typeface="Calibri"/>
                <a:ea typeface="+mn-ea"/>
                <a:cs typeface="+mn-cs"/>
              </a:rPr>
              <a:t>Data and Analytics Service Providers</a:t>
            </a:r>
            <a:r>
              <a:rPr kumimoji="0" lang="en-US" sz="1200" b="0" i="0" u="none" strike="noStrike" kern="1200" cap="none" spc="0" normalizeH="0" baseline="0" noProof="0" dirty="0">
                <a:ln>
                  <a:noFill/>
                </a:ln>
                <a:solidFill>
                  <a:prstClr val="black"/>
                </a:solidFill>
                <a:effectLst/>
                <a:uLnTx/>
                <a:uFillTx/>
                <a:latin typeface="Calibri"/>
                <a:ea typeface="+mn-ea"/>
                <a:cs typeface="+mn-cs"/>
              </a:rPr>
              <a:t>, Worldwide by Gartner</a:t>
            </a:r>
            <a:r>
              <a:rPr kumimoji="0" lang="en-US" sz="1200" b="1" i="0" u="none" strike="noStrike" kern="1200" cap="none" spc="0" normalizeH="0" baseline="0" noProof="0" dirty="0">
                <a:ln>
                  <a:noFill/>
                </a:ln>
                <a:solidFill>
                  <a:prstClr val="black"/>
                </a:solidFill>
                <a:effectLst/>
                <a:uLnTx/>
                <a:uFillTx/>
                <a:latin typeface="Calibri"/>
                <a:ea typeface="+mn-ea"/>
                <a:cs typeface="+mn-cs"/>
              </a:rPr>
              <a:t>.</a:t>
            </a:r>
          </a:p>
          <a:p>
            <a:pPr marL="173736" marR="0" lvl="0" indent="-173736" algn="l" defTabSz="914400" rtl="0" eaLnBrk="1" fontAlgn="auto" latinLnBrk="0" hangingPunct="1">
              <a:lnSpc>
                <a:spcPct val="100000"/>
              </a:lnSpc>
              <a:spcBef>
                <a:spcPts val="800"/>
              </a:spcBef>
              <a:spcAft>
                <a:spcPts val="706"/>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Deloitte named a global leader in </a:t>
            </a:r>
            <a:r>
              <a:rPr kumimoji="0" lang="en-US" sz="1200" b="1" i="0" u="none" strike="noStrike" kern="1200" cap="none" spc="0" normalizeH="0" baseline="0" noProof="0" dirty="0">
                <a:ln>
                  <a:noFill/>
                </a:ln>
                <a:solidFill>
                  <a:prstClr val="black"/>
                </a:solidFill>
                <a:effectLst/>
                <a:uLnTx/>
                <a:uFillTx/>
                <a:latin typeface="Calibri"/>
                <a:ea typeface="+mn-ea"/>
                <a:cs typeface="+mn-cs"/>
              </a:rPr>
              <a:t>Sourcing Strategy Consulting </a:t>
            </a:r>
            <a:r>
              <a:rPr kumimoji="0" lang="en-US" sz="1200" b="0" i="0" u="none" strike="noStrike" kern="1200" cap="none" spc="0" normalizeH="0" baseline="0" noProof="0" dirty="0">
                <a:ln>
                  <a:noFill/>
                </a:ln>
                <a:solidFill>
                  <a:prstClr val="black"/>
                </a:solidFill>
                <a:effectLst/>
                <a:uLnTx/>
                <a:uFillTx/>
                <a:latin typeface="Calibri"/>
                <a:ea typeface="+mn-ea"/>
                <a:cs typeface="+mn-cs"/>
              </a:rPr>
              <a:t>by ALM Intelligence.</a:t>
            </a:r>
          </a:p>
        </p:txBody>
      </p:sp>
      <p:sp>
        <p:nvSpPr>
          <p:cNvPr id="36" name="Freeform 682">
            <a:extLst>
              <a:ext uri="{FF2B5EF4-FFF2-40B4-BE49-F238E27FC236}">
                <a16:creationId xmlns:a16="http://schemas.microsoft.com/office/drawing/2014/main" id="{EE74DFD0-0FF6-4E15-816F-5B2606307C07}"/>
              </a:ext>
            </a:extLst>
          </p:cNvPr>
          <p:cNvSpPr>
            <a:spLocks/>
          </p:cNvSpPr>
          <p:nvPr/>
        </p:nvSpPr>
        <p:spPr bwMode="auto">
          <a:xfrm>
            <a:off x="1368417" y="4089566"/>
            <a:ext cx="251273" cy="216007"/>
          </a:xfrm>
          <a:custGeom>
            <a:avLst/>
            <a:gdLst>
              <a:gd name="T0" fmla="*/ 51 w 85"/>
              <a:gd name="T1" fmla="*/ 3 h 73"/>
              <a:gd name="T2" fmla="*/ 43 w 85"/>
              <a:gd name="T3" fmla="*/ 0 h 73"/>
              <a:gd name="T4" fmla="*/ 34 w 85"/>
              <a:gd name="T5" fmla="*/ 3 h 73"/>
              <a:gd name="T6" fmla="*/ 16 w 85"/>
              <a:gd name="T7" fmla="*/ 9 h 73"/>
              <a:gd name="T8" fmla="*/ 11 w 85"/>
              <a:gd name="T9" fmla="*/ 9 h 73"/>
              <a:gd name="T10" fmla="*/ 0 w 85"/>
              <a:gd name="T11" fmla="*/ 2 h 73"/>
              <a:gd name="T12" fmla="*/ 0 w 85"/>
              <a:gd name="T13" fmla="*/ 73 h 73"/>
              <a:gd name="T14" fmla="*/ 37 w 85"/>
              <a:gd name="T15" fmla="*/ 51 h 73"/>
              <a:gd name="T16" fmla="*/ 48 w 85"/>
              <a:gd name="T17" fmla="*/ 51 h 73"/>
              <a:gd name="T18" fmla="*/ 85 w 85"/>
              <a:gd name="T19" fmla="*/ 73 h 73"/>
              <a:gd name="T20" fmla="*/ 85 w 85"/>
              <a:gd name="T21" fmla="*/ 2 h 73"/>
              <a:gd name="T22" fmla="*/ 75 w 85"/>
              <a:gd name="T23" fmla="*/ 9 h 73"/>
              <a:gd name="T24" fmla="*/ 51 w 85"/>
              <a:gd name="T25" fmla="*/ 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3">
                <a:moveTo>
                  <a:pt x="51" y="3"/>
                </a:moveTo>
                <a:cubicBezTo>
                  <a:pt x="49" y="2"/>
                  <a:pt x="44" y="0"/>
                  <a:pt x="43" y="0"/>
                </a:cubicBezTo>
                <a:cubicBezTo>
                  <a:pt x="41" y="0"/>
                  <a:pt x="37" y="2"/>
                  <a:pt x="34" y="3"/>
                </a:cubicBezTo>
                <a:cubicBezTo>
                  <a:pt x="29" y="6"/>
                  <a:pt x="23" y="9"/>
                  <a:pt x="16" y="9"/>
                </a:cubicBezTo>
                <a:cubicBezTo>
                  <a:pt x="14" y="9"/>
                  <a:pt x="12" y="9"/>
                  <a:pt x="11" y="9"/>
                </a:cubicBezTo>
                <a:cubicBezTo>
                  <a:pt x="6" y="7"/>
                  <a:pt x="3" y="5"/>
                  <a:pt x="0" y="2"/>
                </a:cubicBezTo>
                <a:cubicBezTo>
                  <a:pt x="0" y="73"/>
                  <a:pt x="0" y="73"/>
                  <a:pt x="0" y="73"/>
                </a:cubicBezTo>
                <a:cubicBezTo>
                  <a:pt x="37" y="51"/>
                  <a:pt x="37" y="51"/>
                  <a:pt x="37" y="51"/>
                </a:cubicBezTo>
                <a:cubicBezTo>
                  <a:pt x="41" y="49"/>
                  <a:pt x="45" y="49"/>
                  <a:pt x="48" y="51"/>
                </a:cubicBezTo>
                <a:cubicBezTo>
                  <a:pt x="85" y="73"/>
                  <a:pt x="85" y="73"/>
                  <a:pt x="85" y="73"/>
                </a:cubicBezTo>
                <a:cubicBezTo>
                  <a:pt x="85" y="2"/>
                  <a:pt x="85" y="2"/>
                  <a:pt x="85" y="2"/>
                </a:cubicBezTo>
                <a:cubicBezTo>
                  <a:pt x="82" y="5"/>
                  <a:pt x="79" y="7"/>
                  <a:pt x="75" y="9"/>
                </a:cubicBezTo>
                <a:cubicBezTo>
                  <a:pt x="66" y="11"/>
                  <a:pt x="58" y="7"/>
                  <a:pt x="51" y="3"/>
                </a:cubicBezTo>
                <a:close/>
              </a:path>
            </a:pathLst>
          </a:custGeom>
          <a:solidFill>
            <a:srgbClr val="0D839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7" name="Freeform 683">
            <a:extLst>
              <a:ext uri="{FF2B5EF4-FFF2-40B4-BE49-F238E27FC236}">
                <a16:creationId xmlns:a16="http://schemas.microsoft.com/office/drawing/2014/main" id="{67B7FC70-4708-4E58-92FA-82C012D1DFBA}"/>
              </a:ext>
            </a:extLst>
          </p:cNvPr>
          <p:cNvSpPr>
            <a:spLocks noEditPoints="1"/>
          </p:cNvSpPr>
          <p:nvPr/>
        </p:nvSpPr>
        <p:spPr bwMode="auto">
          <a:xfrm>
            <a:off x="1205310" y="3476813"/>
            <a:ext cx="581895" cy="577487"/>
          </a:xfrm>
          <a:custGeom>
            <a:avLst/>
            <a:gdLst>
              <a:gd name="T0" fmla="*/ 188 w 198"/>
              <a:gd name="T1" fmla="*/ 99 h 198"/>
              <a:gd name="T2" fmla="*/ 194 w 198"/>
              <a:gd name="T3" fmla="*/ 81 h 198"/>
              <a:gd name="T4" fmla="*/ 198 w 198"/>
              <a:gd name="T5" fmla="*/ 72 h 198"/>
              <a:gd name="T6" fmla="*/ 190 w 198"/>
              <a:gd name="T7" fmla="*/ 67 h 198"/>
              <a:gd name="T8" fmla="*/ 176 w 198"/>
              <a:gd name="T9" fmla="*/ 54 h 198"/>
              <a:gd name="T10" fmla="*/ 172 w 198"/>
              <a:gd name="T11" fmla="*/ 36 h 198"/>
              <a:gd name="T12" fmla="*/ 171 w 198"/>
              <a:gd name="T13" fmla="*/ 26 h 198"/>
              <a:gd name="T14" fmla="*/ 162 w 198"/>
              <a:gd name="T15" fmla="*/ 25 h 198"/>
              <a:gd name="T16" fmla="*/ 143 w 198"/>
              <a:gd name="T17" fmla="*/ 21 h 198"/>
              <a:gd name="T18" fmla="*/ 131 w 198"/>
              <a:gd name="T19" fmla="*/ 7 h 198"/>
              <a:gd name="T20" fmla="*/ 125 w 198"/>
              <a:gd name="T21" fmla="*/ 0 h 198"/>
              <a:gd name="T22" fmla="*/ 117 w 198"/>
              <a:gd name="T23" fmla="*/ 4 h 198"/>
              <a:gd name="T24" fmla="*/ 99 w 198"/>
              <a:gd name="T25" fmla="*/ 9 h 198"/>
              <a:gd name="T26" fmla="*/ 80 w 198"/>
              <a:gd name="T27" fmla="*/ 5 h 198"/>
              <a:gd name="T28" fmla="*/ 72 w 198"/>
              <a:gd name="T29" fmla="*/ 3 h 198"/>
              <a:gd name="T30" fmla="*/ 72 w 198"/>
              <a:gd name="T31" fmla="*/ 3 h 198"/>
              <a:gd name="T32" fmla="*/ 67 w 198"/>
              <a:gd name="T33" fmla="*/ 9 h 198"/>
              <a:gd name="T34" fmla="*/ 54 w 198"/>
              <a:gd name="T35" fmla="*/ 22 h 198"/>
              <a:gd name="T36" fmla="*/ 35 w 198"/>
              <a:gd name="T37" fmla="*/ 26 h 198"/>
              <a:gd name="T38" fmla="*/ 26 w 198"/>
              <a:gd name="T39" fmla="*/ 27 h 198"/>
              <a:gd name="T40" fmla="*/ 25 w 198"/>
              <a:gd name="T41" fmla="*/ 36 h 198"/>
              <a:gd name="T42" fmla="*/ 21 w 198"/>
              <a:gd name="T43" fmla="*/ 54 h 198"/>
              <a:gd name="T44" fmla="*/ 7 w 198"/>
              <a:gd name="T45" fmla="*/ 67 h 198"/>
              <a:gd name="T46" fmla="*/ 0 w 198"/>
              <a:gd name="T47" fmla="*/ 73 h 198"/>
              <a:gd name="T48" fmla="*/ 3 w 198"/>
              <a:gd name="T49" fmla="*/ 81 h 198"/>
              <a:gd name="T50" fmla="*/ 9 w 198"/>
              <a:gd name="T51" fmla="*/ 99 h 198"/>
              <a:gd name="T52" fmla="*/ 3 w 198"/>
              <a:gd name="T53" fmla="*/ 117 h 198"/>
              <a:gd name="T54" fmla="*/ 0 w 198"/>
              <a:gd name="T55" fmla="*/ 126 h 198"/>
              <a:gd name="T56" fmla="*/ 7 w 198"/>
              <a:gd name="T57" fmla="*/ 131 h 198"/>
              <a:gd name="T58" fmla="*/ 21 w 198"/>
              <a:gd name="T59" fmla="*/ 144 h 198"/>
              <a:gd name="T60" fmla="*/ 25 w 198"/>
              <a:gd name="T61" fmla="*/ 162 h 198"/>
              <a:gd name="T62" fmla="*/ 26 w 198"/>
              <a:gd name="T63" fmla="*/ 172 h 198"/>
              <a:gd name="T64" fmla="*/ 35 w 198"/>
              <a:gd name="T65" fmla="*/ 173 h 198"/>
              <a:gd name="T66" fmla="*/ 54 w 198"/>
              <a:gd name="T67" fmla="*/ 177 h 198"/>
              <a:gd name="T68" fmla="*/ 67 w 198"/>
              <a:gd name="T69" fmla="*/ 191 h 198"/>
              <a:gd name="T70" fmla="*/ 72 w 198"/>
              <a:gd name="T71" fmla="*/ 198 h 198"/>
              <a:gd name="T72" fmla="*/ 80 w 198"/>
              <a:gd name="T73" fmla="*/ 194 h 198"/>
              <a:gd name="T74" fmla="*/ 99 w 198"/>
              <a:gd name="T75" fmla="*/ 189 h 198"/>
              <a:gd name="T76" fmla="*/ 117 w 198"/>
              <a:gd name="T77" fmla="*/ 193 h 198"/>
              <a:gd name="T78" fmla="*/ 125 w 198"/>
              <a:gd name="T79" fmla="*/ 195 h 198"/>
              <a:gd name="T80" fmla="*/ 125 w 198"/>
              <a:gd name="T81" fmla="*/ 195 h 198"/>
              <a:gd name="T82" fmla="*/ 131 w 198"/>
              <a:gd name="T83" fmla="*/ 189 h 198"/>
              <a:gd name="T84" fmla="*/ 143 w 198"/>
              <a:gd name="T85" fmla="*/ 176 h 198"/>
              <a:gd name="T86" fmla="*/ 162 w 198"/>
              <a:gd name="T87" fmla="*/ 172 h 198"/>
              <a:gd name="T88" fmla="*/ 171 w 198"/>
              <a:gd name="T89" fmla="*/ 171 h 198"/>
              <a:gd name="T90" fmla="*/ 172 w 198"/>
              <a:gd name="T91" fmla="*/ 162 h 198"/>
              <a:gd name="T92" fmla="*/ 176 w 198"/>
              <a:gd name="T93" fmla="*/ 144 h 198"/>
              <a:gd name="T94" fmla="*/ 190 w 198"/>
              <a:gd name="T95" fmla="*/ 131 h 198"/>
              <a:gd name="T96" fmla="*/ 198 w 198"/>
              <a:gd name="T97" fmla="*/ 125 h 198"/>
              <a:gd name="T98" fmla="*/ 194 w 198"/>
              <a:gd name="T99" fmla="*/ 117 h 198"/>
              <a:gd name="T100" fmla="*/ 188 w 198"/>
              <a:gd name="T101" fmla="*/ 99 h 198"/>
              <a:gd name="T102" fmla="*/ 99 w 198"/>
              <a:gd name="T103" fmla="*/ 152 h 198"/>
              <a:gd name="T104" fmla="*/ 45 w 198"/>
              <a:gd name="T105" fmla="*/ 99 h 198"/>
              <a:gd name="T106" fmla="*/ 99 w 198"/>
              <a:gd name="T107" fmla="*/ 46 h 198"/>
              <a:gd name="T108" fmla="*/ 152 w 198"/>
              <a:gd name="T109" fmla="*/ 99 h 198"/>
              <a:gd name="T110" fmla="*/ 99 w 198"/>
              <a:gd name="T111" fmla="*/ 152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98" h="198">
                <a:moveTo>
                  <a:pt x="188" y="99"/>
                </a:moveTo>
                <a:cubicBezTo>
                  <a:pt x="188" y="92"/>
                  <a:pt x="191" y="86"/>
                  <a:pt x="194" y="81"/>
                </a:cubicBezTo>
                <a:cubicBezTo>
                  <a:pt x="195" y="78"/>
                  <a:pt x="198" y="74"/>
                  <a:pt x="198" y="72"/>
                </a:cubicBezTo>
                <a:cubicBezTo>
                  <a:pt x="197" y="71"/>
                  <a:pt x="193" y="69"/>
                  <a:pt x="190" y="67"/>
                </a:cubicBezTo>
                <a:cubicBezTo>
                  <a:pt x="185" y="64"/>
                  <a:pt x="180" y="60"/>
                  <a:pt x="176" y="54"/>
                </a:cubicBezTo>
                <a:cubicBezTo>
                  <a:pt x="173" y="48"/>
                  <a:pt x="173" y="42"/>
                  <a:pt x="172" y="36"/>
                </a:cubicBezTo>
                <a:cubicBezTo>
                  <a:pt x="172" y="33"/>
                  <a:pt x="172" y="28"/>
                  <a:pt x="171" y="26"/>
                </a:cubicBezTo>
                <a:cubicBezTo>
                  <a:pt x="170" y="26"/>
                  <a:pt x="165" y="26"/>
                  <a:pt x="162" y="25"/>
                </a:cubicBezTo>
                <a:cubicBezTo>
                  <a:pt x="156" y="25"/>
                  <a:pt x="149" y="25"/>
                  <a:pt x="143" y="21"/>
                </a:cubicBezTo>
                <a:cubicBezTo>
                  <a:pt x="138" y="18"/>
                  <a:pt x="134" y="12"/>
                  <a:pt x="131" y="7"/>
                </a:cubicBezTo>
                <a:cubicBezTo>
                  <a:pt x="129" y="5"/>
                  <a:pt x="126" y="1"/>
                  <a:pt x="125" y="0"/>
                </a:cubicBezTo>
                <a:cubicBezTo>
                  <a:pt x="124" y="0"/>
                  <a:pt x="120" y="2"/>
                  <a:pt x="117" y="4"/>
                </a:cubicBezTo>
                <a:cubicBezTo>
                  <a:pt x="112" y="6"/>
                  <a:pt x="106" y="9"/>
                  <a:pt x="99" y="9"/>
                </a:cubicBezTo>
                <a:cubicBezTo>
                  <a:pt x="92" y="9"/>
                  <a:pt x="86" y="8"/>
                  <a:pt x="80" y="5"/>
                </a:cubicBezTo>
                <a:cubicBezTo>
                  <a:pt x="78" y="4"/>
                  <a:pt x="73" y="3"/>
                  <a:pt x="72" y="3"/>
                </a:cubicBezTo>
                <a:cubicBezTo>
                  <a:pt x="72" y="3"/>
                  <a:pt x="72" y="3"/>
                  <a:pt x="72" y="3"/>
                </a:cubicBezTo>
                <a:cubicBezTo>
                  <a:pt x="71" y="3"/>
                  <a:pt x="68" y="6"/>
                  <a:pt x="67" y="9"/>
                </a:cubicBezTo>
                <a:cubicBezTo>
                  <a:pt x="63" y="14"/>
                  <a:pt x="60" y="19"/>
                  <a:pt x="54" y="22"/>
                </a:cubicBezTo>
                <a:cubicBezTo>
                  <a:pt x="48" y="26"/>
                  <a:pt x="41" y="26"/>
                  <a:pt x="35" y="26"/>
                </a:cubicBezTo>
                <a:cubicBezTo>
                  <a:pt x="32" y="26"/>
                  <a:pt x="27" y="26"/>
                  <a:pt x="26" y="27"/>
                </a:cubicBezTo>
                <a:cubicBezTo>
                  <a:pt x="26" y="28"/>
                  <a:pt x="25" y="33"/>
                  <a:pt x="25" y="36"/>
                </a:cubicBezTo>
                <a:cubicBezTo>
                  <a:pt x="25" y="42"/>
                  <a:pt x="24" y="48"/>
                  <a:pt x="21" y="54"/>
                </a:cubicBezTo>
                <a:cubicBezTo>
                  <a:pt x="18" y="60"/>
                  <a:pt x="12" y="64"/>
                  <a:pt x="7" y="67"/>
                </a:cubicBezTo>
                <a:cubicBezTo>
                  <a:pt x="5" y="69"/>
                  <a:pt x="0" y="71"/>
                  <a:pt x="0" y="73"/>
                </a:cubicBezTo>
                <a:cubicBezTo>
                  <a:pt x="0" y="74"/>
                  <a:pt x="2" y="78"/>
                  <a:pt x="3" y="81"/>
                </a:cubicBezTo>
                <a:cubicBezTo>
                  <a:pt x="6" y="86"/>
                  <a:pt x="9" y="92"/>
                  <a:pt x="9" y="99"/>
                </a:cubicBezTo>
                <a:cubicBezTo>
                  <a:pt x="9" y="106"/>
                  <a:pt x="6" y="112"/>
                  <a:pt x="3" y="117"/>
                </a:cubicBezTo>
                <a:cubicBezTo>
                  <a:pt x="2" y="120"/>
                  <a:pt x="0" y="124"/>
                  <a:pt x="0" y="126"/>
                </a:cubicBezTo>
                <a:cubicBezTo>
                  <a:pt x="0" y="127"/>
                  <a:pt x="5" y="129"/>
                  <a:pt x="7" y="131"/>
                </a:cubicBezTo>
                <a:cubicBezTo>
                  <a:pt x="12" y="134"/>
                  <a:pt x="18" y="138"/>
                  <a:pt x="21" y="144"/>
                </a:cubicBezTo>
                <a:cubicBezTo>
                  <a:pt x="24" y="150"/>
                  <a:pt x="25" y="156"/>
                  <a:pt x="25" y="162"/>
                </a:cubicBezTo>
                <a:cubicBezTo>
                  <a:pt x="25" y="165"/>
                  <a:pt x="26" y="170"/>
                  <a:pt x="26" y="172"/>
                </a:cubicBezTo>
                <a:cubicBezTo>
                  <a:pt x="27" y="172"/>
                  <a:pt x="32" y="172"/>
                  <a:pt x="35" y="173"/>
                </a:cubicBezTo>
                <a:cubicBezTo>
                  <a:pt x="41" y="173"/>
                  <a:pt x="48" y="173"/>
                  <a:pt x="54" y="177"/>
                </a:cubicBezTo>
                <a:cubicBezTo>
                  <a:pt x="60" y="180"/>
                  <a:pt x="63" y="186"/>
                  <a:pt x="67" y="191"/>
                </a:cubicBezTo>
                <a:cubicBezTo>
                  <a:pt x="68" y="193"/>
                  <a:pt x="71" y="197"/>
                  <a:pt x="72" y="198"/>
                </a:cubicBezTo>
                <a:cubicBezTo>
                  <a:pt x="73" y="198"/>
                  <a:pt x="78" y="196"/>
                  <a:pt x="80" y="194"/>
                </a:cubicBezTo>
                <a:cubicBezTo>
                  <a:pt x="86" y="192"/>
                  <a:pt x="92" y="189"/>
                  <a:pt x="99" y="189"/>
                </a:cubicBezTo>
                <a:cubicBezTo>
                  <a:pt x="106" y="189"/>
                  <a:pt x="112" y="190"/>
                  <a:pt x="117" y="193"/>
                </a:cubicBezTo>
                <a:cubicBezTo>
                  <a:pt x="120" y="194"/>
                  <a:pt x="124" y="195"/>
                  <a:pt x="125" y="195"/>
                </a:cubicBezTo>
                <a:cubicBezTo>
                  <a:pt x="125" y="195"/>
                  <a:pt x="125" y="195"/>
                  <a:pt x="125" y="195"/>
                </a:cubicBezTo>
                <a:cubicBezTo>
                  <a:pt x="126" y="195"/>
                  <a:pt x="129" y="192"/>
                  <a:pt x="131" y="189"/>
                </a:cubicBezTo>
                <a:cubicBezTo>
                  <a:pt x="134" y="184"/>
                  <a:pt x="138" y="179"/>
                  <a:pt x="143" y="176"/>
                </a:cubicBezTo>
                <a:cubicBezTo>
                  <a:pt x="149" y="172"/>
                  <a:pt x="156" y="172"/>
                  <a:pt x="162" y="172"/>
                </a:cubicBezTo>
                <a:cubicBezTo>
                  <a:pt x="165" y="172"/>
                  <a:pt x="170" y="172"/>
                  <a:pt x="171" y="171"/>
                </a:cubicBezTo>
                <a:cubicBezTo>
                  <a:pt x="172" y="170"/>
                  <a:pt x="172" y="165"/>
                  <a:pt x="172" y="162"/>
                </a:cubicBezTo>
                <a:cubicBezTo>
                  <a:pt x="173" y="156"/>
                  <a:pt x="173" y="150"/>
                  <a:pt x="176" y="144"/>
                </a:cubicBezTo>
                <a:cubicBezTo>
                  <a:pt x="180" y="138"/>
                  <a:pt x="185" y="134"/>
                  <a:pt x="190" y="131"/>
                </a:cubicBezTo>
                <a:cubicBezTo>
                  <a:pt x="193" y="129"/>
                  <a:pt x="197" y="127"/>
                  <a:pt x="198" y="125"/>
                </a:cubicBezTo>
                <a:cubicBezTo>
                  <a:pt x="198" y="124"/>
                  <a:pt x="195" y="120"/>
                  <a:pt x="194" y="117"/>
                </a:cubicBezTo>
                <a:cubicBezTo>
                  <a:pt x="191" y="112"/>
                  <a:pt x="188" y="106"/>
                  <a:pt x="188" y="99"/>
                </a:cubicBezTo>
                <a:close/>
                <a:moveTo>
                  <a:pt x="99" y="152"/>
                </a:moveTo>
                <a:cubicBezTo>
                  <a:pt x="69" y="152"/>
                  <a:pt x="45" y="128"/>
                  <a:pt x="45" y="99"/>
                </a:cubicBezTo>
                <a:cubicBezTo>
                  <a:pt x="45" y="70"/>
                  <a:pt x="69" y="46"/>
                  <a:pt x="99" y="46"/>
                </a:cubicBezTo>
                <a:cubicBezTo>
                  <a:pt x="128" y="46"/>
                  <a:pt x="152" y="70"/>
                  <a:pt x="152" y="99"/>
                </a:cubicBezTo>
                <a:cubicBezTo>
                  <a:pt x="152" y="128"/>
                  <a:pt x="128" y="152"/>
                  <a:pt x="99" y="152"/>
                </a:cubicBezTo>
                <a:close/>
              </a:path>
            </a:pathLst>
          </a:custGeom>
          <a:solidFill>
            <a:srgbClr val="0D839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8" name="Oval 684">
            <a:extLst>
              <a:ext uri="{FF2B5EF4-FFF2-40B4-BE49-F238E27FC236}">
                <a16:creationId xmlns:a16="http://schemas.microsoft.com/office/drawing/2014/main" id="{9616FF90-4C41-40C0-86A8-0CF101D897CF}"/>
              </a:ext>
            </a:extLst>
          </p:cNvPr>
          <p:cNvSpPr>
            <a:spLocks noChangeArrowheads="1"/>
          </p:cNvSpPr>
          <p:nvPr/>
        </p:nvSpPr>
        <p:spPr bwMode="auto">
          <a:xfrm>
            <a:off x="1403683" y="3670778"/>
            <a:ext cx="185148" cy="189557"/>
          </a:xfrm>
          <a:prstGeom prst="ellipse">
            <a:avLst/>
          </a:prstGeom>
          <a:solidFill>
            <a:srgbClr val="0D839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9" name="Freeform 685">
            <a:extLst>
              <a:ext uri="{FF2B5EF4-FFF2-40B4-BE49-F238E27FC236}">
                <a16:creationId xmlns:a16="http://schemas.microsoft.com/office/drawing/2014/main" id="{7EE411C3-29CD-4101-A3AA-DBB66121143E}"/>
              </a:ext>
            </a:extLst>
          </p:cNvPr>
          <p:cNvSpPr>
            <a:spLocks noEditPoints="1"/>
          </p:cNvSpPr>
          <p:nvPr/>
        </p:nvSpPr>
        <p:spPr bwMode="auto">
          <a:xfrm>
            <a:off x="746847" y="3141782"/>
            <a:ext cx="1498821" cy="1498821"/>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375 w 512"/>
              <a:gd name="T11" fmla="*/ 245 h 512"/>
              <a:gd name="T12" fmla="*/ 359 w 512"/>
              <a:gd name="T13" fmla="*/ 263 h 512"/>
              <a:gd name="T14" fmla="*/ 352 w 512"/>
              <a:gd name="T15" fmla="*/ 268 h 512"/>
              <a:gd name="T16" fmla="*/ 351 w 512"/>
              <a:gd name="T17" fmla="*/ 278 h 512"/>
              <a:gd name="T18" fmla="*/ 343 w 512"/>
              <a:gd name="T19" fmla="*/ 300 h 512"/>
              <a:gd name="T20" fmla="*/ 320 w 512"/>
              <a:gd name="T21" fmla="*/ 308 h 512"/>
              <a:gd name="T22" fmla="*/ 320 w 512"/>
              <a:gd name="T23" fmla="*/ 308 h 512"/>
              <a:gd name="T24" fmla="*/ 320 w 512"/>
              <a:gd name="T25" fmla="*/ 416 h 512"/>
              <a:gd name="T26" fmla="*/ 314 w 512"/>
              <a:gd name="T27" fmla="*/ 425 h 512"/>
              <a:gd name="T28" fmla="*/ 309 w 512"/>
              <a:gd name="T29" fmla="*/ 426 h 512"/>
              <a:gd name="T30" fmla="*/ 304 w 512"/>
              <a:gd name="T31" fmla="*/ 425 h 512"/>
              <a:gd name="T32" fmla="*/ 256 w 512"/>
              <a:gd name="T33" fmla="*/ 396 h 512"/>
              <a:gd name="T34" fmla="*/ 208 w 512"/>
              <a:gd name="T35" fmla="*/ 425 h 512"/>
              <a:gd name="T36" fmla="*/ 197 w 512"/>
              <a:gd name="T37" fmla="*/ 425 h 512"/>
              <a:gd name="T38" fmla="*/ 192 w 512"/>
              <a:gd name="T39" fmla="*/ 416 h 512"/>
              <a:gd name="T40" fmla="*/ 192 w 512"/>
              <a:gd name="T41" fmla="*/ 308 h 512"/>
              <a:gd name="T42" fmla="*/ 191 w 512"/>
              <a:gd name="T43" fmla="*/ 308 h 512"/>
              <a:gd name="T44" fmla="*/ 168 w 512"/>
              <a:gd name="T45" fmla="*/ 300 h 512"/>
              <a:gd name="T46" fmla="*/ 161 w 512"/>
              <a:gd name="T47" fmla="*/ 278 h 512"/>
              <a:gd name="T48" fmla="*/ 160 w 512"/>
              <a:gd name="T49" fmla="*/ 268 h 512"/>
              <a:gd name="T50" fmla="*/ 152 w 512"/>
              <a:gd name="T51" fmla="*/ 263 h 512"/>
              <a:gd name="T52" fmla="*/ 136 w 512"/>
              <a:gd name="T53" fmla="*/ 245 h 512"/>
              <a:gd name="T54" fmla="*/ 141 w 512"/>
              <a:gd name="T55" fmla="*/ 222 h 512"/>
              <a:gd name="T56" fmla="*/ 145 w 512"/>
              <a:gd name="T57" fmla="*/ 213 h 512"/>
              <a:gd name="T58" fmla="*/ 141 w 512"/>
              <a:gd name="T59" fmla="*/ 204 h 512"/>
              <a:gd name="T60" fmla="*/ 136 w 512"/>
              <a:gd name="T61" fmla="*/ 181 h 512"/>
              <a:gd name="T62" fmla="*/ 152 w 512"/>
              <a:gd name="T63" fmla="*/ 163 h 512"/>
              <a:gd name="T64" fmla="*/ 160 w 512"/>
              <a:gd name="T65" fmla="*/ 158 h 512"/>
              <a:gd name="T66" fmla="*/ 161 w 512"/>
              <a:gd name="T67" fmla="*/ 148 h 512"/>
              <a:gd name="T68" fmla="*/ 168 w 512"/>
              <a:gd name="T69" fmla="*/ 126 h 512"/>
              <a:gd name="T70" fmla="*/ 191 w 512"/>
              <a:gd name="T71" fmla="*/ 118 h 512"/>
              <a:gd name="T72" fmla="*/ 200 w 512"/>
              <a:gd name="T73" fmla="*/ 117 h 512"/>
              <a:gd name="T74" fmla="*/ 206 w 512"/>
              <a:gd name="T75" fmla="*/ 110 h 512"/>
              <a:gd name="T76" fmla="*/ 224 w 512"/>
              <a:gd name="T77" fmla="*/ 93 h 512"/>
              <a:gd name="T78" fmla="*/ 247 w 512"/>
              <a:gd name="T79" fmla="*/ 99 h 512"/>
              <a:gd name="T80" fmla="*/ 256 w 512"/>
              <a:gd name="T81" fmla="*/ 102 h 512"/>
              <a:gd name="T82" fmla="*/ 264 w 512"/>
              <a:gd name="T83" fmla="*/ 99 h 512"/>
              <a:gd name="T84" fmla="*/ 288 w 512"/>
              <a:gd name="T85" fmla="*/ 93 h 512"/>
              <a:gd name="T86" fmla="*/ 306 w 512"/>
              <a:gd name="T87" fmla="*/ 110 h 512"/>
              <a:gd name="T88" fmla="*/ 311 w 512"/>
              <a:gd name="T89" fmla="*/ 117 h 512"/>
              <a:gd name="T90" fmla="*/ 320 w 512"/>
              <a:gd name="T91" fmla="*/ 118 h 512"/>
              <a:gd name="T92" fmla="*/ 343 w 512"/>
              <a:gd name="T93" fmla="*/ 126 h 512"/>
              <a:gd name="T94" fmla="*/ 351 w 512"/>
              <a:gd name="T95" fmla="*/ 148 h 512"/>
              <a:gd name="T96" fmla="*/ 352 w 512"/>
              <a:gd name="T97" fmla="*/ 158 h 512"/>
              <a:gd name="T98" fmla="*/ 359 w 512"/>
              <a:gd name="T99" fmla="*/ 163 h 512"/>
              <a:gd name="T100" fmla="*/ 375 w 512"/>
              <a:gd name="T101" fmla="*/ 181 h 512"/>
              <a:gd name="T102" fmla="*/ 370 w 512"/>
              <a:gd name="T103" fmla="*/ 204 h 512"/>
              <a:gd name="T104" fmla="*/ 367 w 512"/>
              <a:gd name="T105" fmla="*/ 213 h 512"/>
              <a:gd name="T106" fmla="*/ 370 w 512"/>
              <a:gd name="T107" fmla="*/ 222 h 512"/>
              <a:gd name="T108" fmla="*/ 375 w 512"/>
              <a:gd name="T109" fmla="*/ 24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75" y="245"/>
                </a:moveTo>
                <a:cubicBezTo>
                  <a:pt x="373" y="254"/>
                  <a:pt x="365" y="259"/>
                  <a:pt x="359" y="263"/>
                </a:cubicBezTo>
                <a:cubicBezTo>
                  <a:pt x="356" y="265"/>
                  <a:pt x="353" y="267"/>
                  <a:pt x="352" y="268"/>
                </a:cubicBezTo>
                <a:cubicBezTo>
                  <a:pt x="351" y="270"/>
                  <a:pt x="351" y="274"/>
                  <a:pt x="351" y="278"/>
                </a:cubicBezTo>
                <a:cubicBezTo>
                  <a:pt x="350" y="285"/>
                  <a:pt x="350" y="294"/>
                  <a:pt x="343" y="300"/>
                </a:cubicBezTo>
                <a:cubicBezTo>
                  <a:pt x="337" y="307"/>
                  <a:pt x="328" y="307"/>
                  <a:pt x="320" y="308"/>
                </a:cubicBezTo>
                <a:cubicBezTo>
                  <a:pt x="320" y="308"/>
                  <a:pt x="320" y="308"/>
                  <a:pt x="320" y="308"/>
                </a:cubicBezTo>
                <a:cubicBezTo>
                  <a:pt x="320" y="416"/>
                  <a:pt x="320" y="416"/>
                  <a:pt x="320" y="416"/>
                </a:cubicBezTo>
                <a:cubicBezTo>
                  <a:pt x="320" y="420"/>
                  <a:pt x="318" y="423"/>
                  <a:pt x="314" y="425"/>
                </a:cubicBezTo>
                <a:cubicBezTo>
                  <a:pt x="313" y="426"/>
                  <a:pt x="311" y="426"/>
                  <a:pt x="309" y="426"/>
                </a:cubicBezTo>
                <a:cubicBezTo>
                  <a:pt x="307" y="426"/>
                  <a:pt x="305" y="426"/>
                  <a:pt x="304" y="425"/>
                </a:cubicBezTo>
                <a:cubicBezTo>
                  <a:pt x="256" y="396"/>
                  <a:pt x="256" y="396"/>
                  <a:pt x="256" y="396"/>
                </a:cubicBezTo>
                <a:cubicBezTo>
                  <a:pt x="208" y="425"/>
                  <a:pt x="208" y="425"/>
                  <a:pt x="208" y="425"/>
                </a:cubicBezTo>
                <a:cubicBezTo>
                  <a:pt x="205" y="427"/>
                  <a:pt x="200" y="427"/>
                  <a:pt x="197" y="425"/>
                </a:cubicBezTo>
                <a:cubicBezTo>
                  <a:pt x="194" y="423"/>
                  <a:pt x="192" y="420"/>
                  <a:pt x="192" y="416"/>
                </a:cubicBezTo>
                <a:cubicBezTo>
                  <a:pt x="192" y="308"/>
                  <a:pt x="192" y="308"/>
                  <a:pt x="192" y="308"/>
                </a:cubicBezTo>
                <a:cubicBezTo>
                  <a:pt x="191" y="308"/>
                  <a:pt x="191" y="308"/>
                  <a:pt x="191" y="308"/>
                </a:cubicBezTo>
                <a:cubicBezTo>
                  <a:pt x="184" y="307"/>
                  <a:pt x="175" y="307"/>
                  <a:pt x="168" y="300"/>
                </a:cubicBezTo>
                <a:cubicBezTo>
                  <a:pt x="162" y="294"/>
                  <a:pt x="161" y="285"/>
                  <a:pt x="161" y="278"/>
                </a:cubicBezTo>
                <a:cubicBezTo>
                  <a:pt x="161" y="274"/>
                  <a:pt x="160" y="270"/>
                  <a:pt x="160" y="268"/>
                </a:cubicBezTo>
                <a:cubicBezTo>
                  <a:pt x="159" y="267"/>
                  <a:pt x="155" y="265"/>
                  <a:pt x="152" y="263"/>
                </a:cubicBezTo>
                <a:cubicBezTo>
                  <a:pt x="146" y="259"/>
                  <a:pt x="139" y="254"/>
                  <a:pt x="136" y="245"/>
                </a:cubicBezTo>
                <a:cubicBezTo>
                  <a:pt x="134" y="236"/>
                  <a:pt x="138" y="228"/>
                  <a:pt x="141" y="222"/>
                </a:cubicBezTo>
                <a:cubicBezTo>
                  <a:pt x="143" y="219"/>
                  <a:pt x="145" y="215"/>
                  <a:pt x="145" y="213"/>
                </a:cubicBezTo>
                <a:cubicBezTo>
                  <a:pt x="145" y="211"/>
                  <a:pt x="143" y="207"/>
                  <a:pt x="141" y="204"/>
                </a:cubicBezTo>
                <a:cubicBezTo>
                  <a:pt x="138" y="198"/>
                  <a:pt x="134" y="190"/>
                  <a:pt x="136" y="181"/>
                </a:cubicBezTo>
                <a:cubicBezTo>
                  <a:pt x="139" y="172"/>
                  <a:pt x="146" y="167"/>
                  <a:pt x="152" y="163"/>
                </a:cubicBezTo>
                <a:cubicBezTo>
                  <a:pt x="155" y="161"/>
                  <a:pt x="159" y="159"/>
                  <a:pt x="160" y="158"/>
                </a:cubicBezTo>
                <a:cubicBezTo>
                  <a:pt x="160" y="156"/>
                  <a:pt x="161" y="152"/>
                  <a:pt x="161" y="148"/>
                </a:cubicBezTo>
                <a:cubicBezTo>
                  <a:pt x="161" y="141"/>
                  <a:pt x="162" y="132"/>
                  <a:pt x="168" y="126"/>
                </a:cubicBezTo>
                <a:cubicBezTo>
                  <a:pt x="175" y="119"/>
                  <a:pt x="184" y="119"/>
                  <a:pt x="191" y="118"/>
                </a:cubicBezTo>
                <a:cubicBezTo>
                  <a:pt x="194" y="118"/>
                  <a:pt x="199" y="118"/>
                  <a:pt x="200" y="117"/>
                </a:cubicBezTo>
                <a:cubicBezTo>
                  <a:pt x="202" y="116"/>
                  <a:pt x="204" y="112"/>
                  <a:pt x="206" y="110"/>
                </a:cubicBezTo>
                <a:cubicBezTo>
                  <a:pt x="210" y="104"/>
                  <a:pt x="215" y="96"/>
                  <a:pt x="224" y="93"/>
                </a:cubicBezTo>
                <a:cubicBezTo>
                  <a:pt x="232" y="91"/>
                  <a:pt x="240" y="95"/>
                  <a:pt x="247" y="99"/>
                </a:cubicBezTo>
                <a:cubicBezTo>
                  <a:pt x="250" y="100"/>
                  <a:pt x="254" y="102"/>
                  <a:pt x="256" y="102"/>
                </a:cubicBezTo>
                <a:cubicBezTo>
                  <a:pt x="257" y="102"/>
                  <a:pt x="262" y="100"/>
                  <a:pt x="264" y="99"/>
                </a:cubicBezTo>
                <a:cubicBezTo>
                  <a:pt x="271" y="95"/>
                  <a:pt x="279" y="91"/>
                  <a:pt x="288" y="93"/>
                </a:cubicBezTo>
                <a:cubicBezTo>
                  <a:pt x="297" y="96"/>
                  <a:pt x="302" y="104"/>
                  <a:pt x="306" y="110"/>
                </a:cubicBezTo>
                <a:cubicBezTo>
                  <a:pt x="307" y="112"/>
                  <a:pt x="310" y="116"/>
                  <a:pt x="311" y="117"/>
                </a:cubicBezTo>
                <a:cubicBezTo>
                  <a:pt x="313" y="118"/>
                  <a:pt x="317" y="118"/>
                  <a:pt x="320" y="118"/>
                </a:cubicBezTo>
                <a:cubicBezTo>
                  <a:pt x="328" y="119"/>
                  <a:pt x="337" y="119"/>
                  <a:pt x="343" y="126"/>
                </a:cubicBezTo>
                <a:cubicBezTo>
                  <a:pt x="350" y="132"/>
                  <a:pt x="350" y="141"/>
                  <a:pt x="351" y="148"/>
                </a:cubicBezTo>
                <a:cubicBezTo>
                  <a:pt x="351" y="152"/>
                  <a:pt x="351" y="156"/>
                  <a:pt x="352" y="158"/>
                </a:cubicBezTo>
                <a:cubicBezTo>
                  <a:pt x="353" y="159"/>
                  <a:pt x="356" y="161"/>
                  <a:pt x="359" y="163"/>
                </a:cubicBezTo>
                <a:cubicBezTo>
                  <a:pt x="365" y="167"/>
                  <a:pt x="373" y="172"/>
                  <a:pt x="375" y="181"/>
                </a:cubicBezTo>
                <a:cubicBezTo>
                  <a:pt x="378" y="190"/>
                  <a:pt x="373" y="198"/>
                  <a:pt x="370" y="204"/>
                </a:cubicBezTo>
                <a:cubicBezTo>
                  <a:pt x="369" y="207"/>
                  <a:pt x="367" y="211"/>
                  <a:pt x="367" y="213"/>
                </a:cubicBezTo>
                <a:cubicBezTo>
                  <a:pt x="367" y="215"/>
                  <a:pt x="369" y="219"/>
                  <a:pt x="370" y="222"/>
                </a:cubicBezTo>
                <a:cubicBezTo>
                  <a:pt x="373" y="228"/>
                  <a:pt x="378" y="236"/>
                  <a:pt x="375" y="245"/>
                </a:cubicBezTo>
                <a:close/>
              </a:path>
            </a:pathLst>
          </a:custGeom>
          <a:solidFill>
            <a:srgbClr val="0D839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cxnSp>
        <p:nvCxnSpPr>
          <p:cNvPr id="32" name="Straight Connector 31">
            <a:extLst>
              <a:ext uri="{FF2B5EF4-FFF2-40B4-BE49-F238E27FC236}">
                <a16:creationId xmlns:a16="http://schemas.microsoft.com/office/drawing/2014/main" id="{7F7A4551-71FA-4DE0-9CFC-CCD83C0744E6}"/>
              </a:ext>
            </a:extLst>
          </p:cNvPr>
          <p:cNvCxnSpPr/>
          <p:nvPr/>
        </p:nvCxnSpPr>
        <p:spPr>
          <a:xfrm>
            <a:off x="2481340" y="1527759"/>
            <a:ext cx="9145266" cy="0"/>
          </a:xfrm>
          <a:prstGeom prst="line">
            <a:avLst/>
          </a:prstGeom>
          <a:ln w="28575">
            <a:solidFill>
              <a:srgbClr val="0097A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DE54F4A-19CE-4E7B-B9CF-A05D6F9A3F32}"/>
              </a:ext>
            </a:extLst>
          </p:cNvPr>
          <p:cNvCxnSpPr/>
          <p:nvPr/>
        </p:nvCxnSpPr>
        <p:spPr>
          <a:xfrm>
            <a:off x="2481340" y="6400798"/>
            <a:ext cx="9145266" cy="0"/>
          </a:xfrm>
          <a:prstGeom prst="line">
            <a:avLst/>
          </a:prstGeom>
          <a:ln w="28575">
            <a:solidFill>
              <a:srgbClr val="0097A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6874697"/>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 name="Rectangle 422">
            <a:extLst>
              <a:ext uri="{FF2B5EF4-FFF2-40B4-BE49-F238E27FC236}">
                <a16:creationId xmlns:a16="http://schemas.microsoft.com/office/drawing/2014/main" id="{41CC398B-40CA-4F4A-8540-CC769B49F7B5}"/>
              </a:ext>
            </a:extLst>
          </p:cNvPr>
          <p:cNvSpPr/>
          <p:nvPr/>
        </p:nvSpPr>
        <p:spPr bwMode="gray">
          <a:xfrm>
            <a:off x="514350" y="1438276"/>
            <a:ext cx="11201400" cy="4972684"/>
          </a:xfrm>
          <a:prstGeom prst="rect">
            <a:avLst/>
          </a:prstGeom>
          <a:pattFill prst="dkHorz">
            <a:fgClr>
              <a:schemeClr val="bg1">
                <a:lumMod val="95000"/>
              </a:schemeClr>
            </a:fgClr>
            <a:bgClr>
              <a:schemeClr val="bg1"/>
            </a:bgClr>
          </a:pattFill>
          <a:ln w="19050" algn="ctr">
            <a:solidFill>
              <a:srgbClr val="0D8390"/>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400" b="1" i="0" u="none" strike="noStrike" kern="1200" cap="none" spc="0" normalizeH="0" baseline="0" noProof="0" dirty="0">
              <a:ln>
                <a:noFill/>
              </a:ln>
              <a:solidFill>
                <a:prstClr val="white"/>
              </a:solidFill>
              <a:effectLst/>
              <a:uLnTx/>
              <a:uFillTx/>
              <a:latin typeface="Calibri"/>
              <a:ea typeface="+mn-ea"/>
              <a:cs typeface="+mn-cs"/>
            </a:endParaRPr>
          </a:p>
        </p:txBody>
      </p:sp>
      <p:sp>
        <p:nvSpPr>
          <p:cNvPr id="4" name="Title 3"/>
          <p:cNvSpPr>
            <a:spLocks noGrp="1"/>
          </p:cNvSpPr>
          <p:nvPr>
            <p:ph type="title"/>
          </p:nvPr>
        </p:nvSpPr>
        <p:spPr>
          <a:xfrm>
            <a:off x="501650" y="317500"/>
            <a:ext cx="11201400" cy="334099"/>
          </a:xfrm>
        </p:spPr>
        <p:txBody>
          <a:bodyPr vert="horz" lIns="0" tIns="0" rIns="0" bIns="0" rtlCol="0" anchor="t" anchorCtr="0">
            <a:noAutofit/>
          </a:bodyPr>
          <a:lstStyle/>
          <a:p>
            <a:pPr>
              <a:lnSpc>
                <a:spcPct val="90000"/>
              </a:lnSpc>
            </a:pPr>
            <a:r>
              <a:rPr lang="en-US" altLang="en-US" sz="2000" dirty="0">
                <a:latin typeface="+mn-lt"/>
              </a:rPr>
              <a:t>Presence in India</a:t>
            </a:r>
            <a:endParaRPr lang="en-IN" sz="2000" dirty="0">
              <a:latin typeface="+mn-lt"/>
            </a:endParaRPr>
          </a:p>
        </p:txBody>
      </p:sp>
      <p:grpSp>
        <p:nvGrpSpPr>
          <p:cNvPr id="104" name="Group 103"/>
          <p:cNvGrpSpPr/>
          <p:nvPr/>
        </p:nvGrpSpPr>
        <p:grpSpPr>
          <a:xfrm>
            <a:off x="769992" y="1665667"/>
            <a:ext cx="3014589" cy="2902612"/>
            <a:chOff x="6785533" y="1562777"/>
            <a:chExt cx="2517580" cy="2539158"/>
          </a:xfrm>
        </p:grpSpPr>
        <p:sp>
          <p:nvSpPr>
            <p:cNvPr id="105" name="Freeform 14"/>
            <p:cNvSpPr>
              <a:spLocks noChangeAspect="1"/>
            </p:cNvSpPr>
            <p:nvPr/>
          </p:nvSpPr>
          <p:spPr bwMode="auto">
            <a:xfrm>
              <a:off x="6785533" y="1562777"/>
              <a:ext cx="2517580" cy="2539158"/>
            </a:xfrm>
            <a:custGeom>
              <a:avLst/>
              <a:gdLst>
                <a:gd name="T0" fmla="*/ 2147483647 w 1903"/>
                <a:gd name="T1" fmla="*/ 2147483647 h 2101"/>
                <a:gd name="T2" fmla="*/ 2147483647 w 1903"/>
                <a:gd name="T3" fmla="*/ 2147483647 h 2101"/>
                <a:gd name="T4" fmla="*/ 2147483647 w 1903"/>
                <a:gd name="T5" fmla="*/ 2147483647 h 2101"/>
                <a:gd name="T6" fmla="*/ 2147483647 w 1903"/>
                <a:gd name="T7" fmla="*/ 2147483647 h 2101"/>
                <a:gd name="T8" fmla="*/ 2147483647 w 1903"/>
                <a:gd name="T9" fmla="*/ 2147483647 h 2101"/>
                <a:gd name="T10" fmla="*/ 2147483647 w 1903"/>
                <a:gd name="T11" fmla="*/ 2147483647 h 2101"/>
                <a:gd name="T12" fmla="*/ 2147483647 w 1903"/>
                <a:gd name="T13" fmla="*/ 2147483647 h 2101"/>
                <a:gd name="T14" fmla="*/ 2147483647 w 1903"/>
                <a:gd name="T15" fmla="*/ 2147483647 h 2101"/>
                <a:gd name="T16" fmla="*/ 2147483647 w 1903"/>
                <a:gd name="T17" fmla="*/ 2147483647 h 2101"/>
                <a:gd name="T18" fmla="*/ 2147483647 w 1903"/>
                <a:gd name="T19" fmla="*/ 2147483647 h 2101"/>
                <a:gd name="T20" fmla="*/ 2147483647 w 1903"/>
                <a:gd name="T21" fmla="*/ 2147483647 h 2101"/>
                <a:gd name="T22" fmla="*/ 2147483647 w 1903"/>
                <a:gd name="T23" fmla="*/ 2147483647 h 2101"/>
                <a:gd name="T24" fmla="*/ 2147483647 w 1903"/>
                <a:gd name="T25" fmla="*/ 2147483647 h 2101"/>
                <a:gd name="T26" fmla="*/ 2147483647 w 1903"/>
                <a:gd name="T27" fmla="*/ 2147483647 h 2101"/>
                <a:gd name="T28" fmla="*/ 2147483647 w 1903"/>
                <a:gd name="T29" fmla="*/ 2147483647 h 2101"/>
                <a:gd name="T30" fmla="*/ 2147483647 w 1903"/>
                <a:gd name="T31" fmla="*/ 2147483647 h 2101"/>
                <a:gd name="T32" fmla="*/ 2147483647 w 1903"/>
                <a:gd name="T33" fmla="*/ 2147483647 h 2101"/>
                <a:gd name="T34" fmla="*/ 2147483647 w 1903"/>
                <a:gd name="T35" fmla="*/ 2147483647 h 2101"/>
                <a:gd name="T36" fmla="*/ 2147483647 w 1903"/>
                <a:gd name="T37" fmla="*/ 2147483647 h 2101"/>
                <a:gd name="T38" fmla="*/ 2147483647 w 1903"/>
                <a:gd name="T39" fmla="*/ 1847412083 h 2101"/>
                <a:gd name="T40" fmla="*/ 2147483647 w 1903"/>
                <a:gd name="T41" fmla="*/ 256577569 h 2101"/>
                <a:gd name="T42" fmla="*/ 2147483647 w 1903"/>
                <a:gd name="T43" fmla="*/ 2147483647 h 2101"/>
                <a:gd name="T44" fmla="*/ 2147483647 w 1903"/>
                <a:gd name="T45" fmla="*/ 2147483647 h 2101"/>
                <a:gd name="T46" fmla="*/ 2147483647 w 1903"/>
                <a:gd name="T47" fmla="*/ 2147483647 h 2101"/>
                <a:gd name="T48" fmla="*/ 2147483647 w 1903"/>
                <a:gd name="T49" fmla="*/ 2147483647 h 2101"/>
                <a:gd name="T50" fmla="*/ 2147483647 w 1903"/>
                <a:gd name="T51" fmla="*/ 2147483647 h 2101"/>
                <a:gd name="T52" fmla="*/ 2147483647 w 1903"/>
                <a:gd name="T53" fmla="*/ 2147483647 h 2101"/>
                <a:gd name="T54" fmla="*/ 2147483647 w 1903"/>
                <a:gd name="T55" fmla="*/ 2147483647 h 2101"/>
                <a:gd name="T56" fmla="*/ 2147483647 w 1903"/>
                <a:gd name="T57" fmla="*/ 2147483647 h 2101"/>
                <a:gd name="T58" fmla="*/ 2147483647 w 1903"/>
                <a:gd name="T59" fmla="*/ 2147483647 h 2101"/>
                <a:gd name="T60" fmla="*/ 2147483647 w 1903"/>
                <a:gd name="T61" fmla="*/ 2147483647 h 2101"/>
                <a:gd name="T62" fmla="*/ 2016059137 w 1903"/>
                <a:gd name="T63" fmla="*/ 2147483647 h 2101"/>
                <a:gd name="T64" fmla="*/ 2147483647 w 1903"/>
                <a:gd name="T65" fmla="*/ 2147483647 h 2101"/>
                <a:gd name="T66" fmla="*/ 2147483647 w 1903"/>
                <a:gd name="T67" fmla="*/ 2147483647 h 2101"/>
                <a:gd name="T68" fmla="*/ 2147483647 w 1903"/>
                <a:gd name="T69" fmla="*/ 2147483647 h 2101"/>
                <a:gd name="T70" fmla="*/ 2147483647 w 1903"/>
                <a:gd name="T71" fmla="*/ 2147483647 h 2101"/>
                <a:gd name="T72" fmla="*/ 2147483647 w 1903"/>
                <a:gd name="T73" fmla="*/ 2147483647 h 2101"/>
                <a:gd name="T74" fmla="*/ 2147483647 w 1903"/>
                <a:gd name="T75" fmla="*/ 2147483647 h 2101"/>
                <a:gd name="T76" fmla="*/ 2147483647 w 1903"/>
                <a:gd name="T77" fmla="*/ 2147483647 h 2101"/>
                <a:gd name="T78" fmla="*/ 2147483647 w 1903"/>
                <a:gd name="T79" fmla="*/ 2147483647 h 2101"/>
                <a:gd name="T80" fmla="*/ 2147483647 w 1903"/>
                <a:gd name="T81" fmla="*/ 2147483647 h 2101"/>
                <a:gd name="T82" fmla="*/ 2147483647 w 1903"/>
                <a:gd name="T83" fmla="*/ 2147483647 h 2101"/>
                <a:gd name="T84" fmla="*/ 2147483647 w 1903"/>
                <a:gd name="T85" fmla="*/ 2147483647 h 2101"/>
                <a:gd name="T86" fmla="*/ 2147483647 w 1903"/>
                <a:gd name="T87" fmla="*/ 2147483647 h 2101"/>
                <a:gd name="T88" fmla="*/ 2147483647 w 1903"/>
                <a:gd name="T89" fmla="*/ 2147483647 h 2101"/>
                <a:gd name="T90" fmla="*/ 2147483647 w 1903"/>
                <a:gd name="T91" fmla="*/ 2147483647 h 2101"/>
                <a:gd name="T92" fmla="*/ 2147483647 w 1903"/>
                <a:gd name="T93" fmla="*/ 2147483647 h 2101"/>
                <a:gd name="T94" fmla="*/ 2147483647 w 1903"/>
                <a:gd name="T95" fmla="*/ 2147483647 h 2101"/>
                <a:gd name="T96" fmla="*/ 2147483647 w 1903"/>
                <a:gd name="T97" fmla="*/ 2147483647 h 2101"/>
                <a:gd name="T98" fmla="*/ 2147483647 w 1903"/>
                <a:gd name="T99" fmla="*/ 2147483647 h 2101"/>
                <a:gd name="T100" fmla="*/ 2147483647 w 1903"/>
                <a:gd name="T101" fmla="*/ 2147483647 h 2101"/>
                <a:gd name="T102" fmla="*/ 2147483647 w 1903"/>
                <a:gd name="T103" fmla="*/ 2147483647 h 2101"/>
                <a:gd name="T104" fmla="*/ 2147483647 w 1903"/>
                <a:gd name="T105" fmla="*/ 2147483647 h 2101"/>
                <a:gd name="T106" fmla="*/ 2147483647 w 1903"/>
                <a:gd name="T107" fmla="*/ 2147483647 h 2101"/>
                <a:gd name="T108" fmla="*/ 2147483647 w 1903"/>
                <a:gd name="T109" fmla="*/ 2147483647 h 2101"/>
                <a:gd name="T110" fmla="*/ 2147483647 w 1903"/>
                <a:gd name="T111" fmla="*/ 2147483647 h 2101"/>
                <a:gd name="T112" fmla="*/ 2147483647 w 1903"/>
                <a:gd name="T113" fmla="*/ 2147483647 h 2101"/>
                <a:gd name="T114" fmla="*/ 2147483647 w 1903"/>
                <a:gd name="T115" fmla="*/ 2147483647 h 2101"/>
                <a:gd name="T116" fmla="*/ 2147483647 w 1903"/>
                <a:gd name="T117" fmla="*/ 2147483647 h 2101"/>
                <a:gd name="T118" fmla="*/ 2147483647 w 1903"/>
                <a:gd name="T119" fmla="*/ 2147483647 h 2101"/>
                <a:gd name="T120" fmla="*/ 2147483647 w 1903"/>
                <a:gd name="T121" fmla="*/ 2147483647 h 2101"/>
                <a:gd name="T122" fmla="*/ 2147483647 w 1903"/>
                <a:gd name="T123" fmla="*/ 2147483647 h 210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903"/>
                <a:gd name="T187" fmla="*/ 0 h 2101"/>
                <a:gd name="T188" fmla="*/ 1903 w 1903"/>
                <a:gd name="T189" fmla="*/ 2101 h 210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903" h="2101">
                  <a:moveTo>
                    <a:pt x="1856" y="553"/>
                  </a:moveTo>
                  <a:lnTo>
                    <a:pt x="1839" y="543"/>
                  </a:lnTo>
                  <a:lnTo>
                    <a:pt x="1840" y="542"/>
                  </a:lnTo>
                  <a:lnTo>
                    <a:pt x="1841" y="537"/>
                  </a:lnTo>
                  <a:lnTo>
                    <a:pt x="1839" y="532"/>
                  </a:lnTo>
                  <a:lnTo>
                    <a:pt x="1832" y="522"/>
                  </a:lnTo>
                  <a:lnTo>
                    <a:pt x="1824" y="513"/>
                  </a:lnTo>
                  <a:lnTo>
                    <a:pt x="1820" y="510"/>
                  </a:lnTo>
                  <a:lnTo>
                    <a:pt x="1818" y="507"/>
                  </a:lnTo>
                  <a:lnTo>
                    <a:pt x="1815" y="503"/>
                  </a:lnTo>
                  <a:lnTo>
                    <a:pt x="1811" y="496"/>
                  </a:lnTo>
                  <a:lnTo>
                    <a:pt x="1803" y="491"/>
                  </a:lnTo>
                  <a:lnTo>
                    <a:pt x="1792" y="497"/>
                  </a:lnTo>
                  <a:lnTo>
                    <a:pt x="1783" y="507"/>
                  </a:lnTo>
                  <a:lnTo>
                    <a:pt x="1777" y="514"/>
                  </a:lnTo>
                  <a:lnTo>
                    <a:pt x="1771" y="518"/>
                  </a:lnTo>
                  <a:lnTo>
                    <a:pt x="1764" y="519"/>
                  </a:lnTo>
                  <a:lnTo>
                    <a:pt x="1759" y="518"/>
                  </a:lnTo>
                  <a:lnTo>
                    <a:pt x="1752" y="517"/>
                  </a:lnTo>
                  <a:lnTo>
                    <a:pt x="1744" y="514"/>
                  </a:lnTo>
                  <a:lnTo>
                    <a:pt x="1736" y="513"/>
                  </a:lnTo>
                  <a:lnTo>
                    <a:pt x="1727" y="511"/>
                  </a:lnTo>
                  <a:lnTo>
                    <a:pt x="1719" y="511"/>
                  </a:lnTo>
                  <a:lnTo>
                    <a:pt x="1712" y="512"/>
                  </a:lnTo>
                  <a:lnTo>
                    <a:pt x="1707" y="514"/>
                  </a:lnTo>
                  <a:lnTo>
                    <a:pt x="1699" y="522"/>
                  </a:lnTo>
                  <a:lnTo>
                    <a:pt x="1690" y="529"/>
                  </a:lnTo>
                  <a:lnTo>
                    <a:pt x="1682" y="537"/>
                  </a:lnTo>
                  <a:lnTo>
                    <a:pt x="1675" y="547"/>
                  </a:lnTo>
                  <a:lnTo>
                    <a:pt x="1672" y="552"/>
                  </a:lnTo>
                  <a:lnTo>
                    <a:pt x="1667" y="557"/>
                  </a:lnTo>
                  <a:lnTo>
                    <a:pt x="1661" y="560"/>
                  </a:lnTo>
                  <a:lnTo>
                    <a:pt x="1655" y="565"/>
                  </a:lnTo>
                  <a:lnTo>
                    <a:pt x="1648" y="568"/>
                  </a:lnTo>
                  <a:lnTo>
                    <a:pt x="1643" y="573"/>
                  </a:lnTo>
                  <a:lnTo>
                    <a:pt x="1637" y="578"/>
                  </a:lnTo>
                  <a:lnTo>
                    <a:pt x="1632" y="582"/>
                  </a:lnTo>
                  <a:lnTo>
                    <a:pt x="1624" y="592"/>
                  </a:lnTo>
                  <a:lnTo>
                    <a:pt x="1616" y="600"/>
                  </a:lnTo>
                  <a:lnTo>
                    <a:pt x="1608" y="608"/>
                  </a:lnTo>
                  <a:lnTo>
                    <a:pt x="1600" y="615"/>
                  </a:lnTo>
                  <a:lnTo>
                    <a:pt x="1596" y="618"/>
                  </a:lnTo>
                  <a:lnTo>
                    <a:pt x="1589" y="623"/>
                  </a:lnTo>
                  <a:lnTo>
                    <a:pt x="1582" y="626"/>
                  </a:lnTo>
                  <a:lnTo>
                    <a:pt x="1575" y="628"/>
                  </a:lnTo>
                  <a:lnTo>
                    <a:pt x="1568" y="632"/>
                  </a:lnTo>
                  <a:lnTo>
                    <a:pt x="1563" y="633"/>
                  </a:lnTo>
                  <a:lnTo>
                    <a:pt x="1559" y="635"/>
                  </a:lnTo>
                  <a:lnTo>
                    <a:pt x="1558" y="635"/>
                  </a:lnTo>
                  <a:lnTo>
                    <a:pt x="1554" y="635"/>
                  </a:lnTo>
                  <a:lnTo>
                    <a:pt x="1547" y="638"/>
                  </a:lnTo>
                  <a:lnTo>
                    <a:pt x="1540" y="645"/>
                  </a:lnTo>
                  <a:lnTo>
                    <a:pt x="1537" y="657"/>
                  </a:lnTo>
                  <a:lnTo>
                    <a:pt x="1541" y="668"/>
                  </a:lnTo>
                  <a:lnTo>
                    <a:pt x="1553" y="672"/>
                  </a:lnTo>
                  <a:lnTo>
                    <a:pt x="1562" y="676"/>
                  </a:lnTo>
                  <a:lnTo>
                    <a:pt x="1566" y="685"/>
                  </a:lnTo>
                  <a:lnTo>
                    <a:pt x="1561" y="693"/>
                  </a:lnTo>
                  <a:lnTo>
                    <a:pt x="1552" y="695"/>
                  </a:lnTo>
                  <a:lnTo>
                    <a:pt x="1543" y="694"/>
                  </a:lnTo>
                  <a:lnTo>
                    <a:pt x="1533" y="696"/>
                  </a:lnTo>
                  <a:lnTo>
                    <a:pt x="1529" y="699"/>
                  </a:lnTo>
                  <a:lnTo>
                    <a:pt x="1525" y="700"/>
                  </a:lnTo>
                  <a:lnTo>
                    <a:pt x="1521" y="702"/>
                  </a:lnTo>
                  <a:lnTo>
                    <a:pt x="1516" y="702"/>
                  </a:lnTo>
                  <a:lnTo>
                    <a:pt x="1510" y="703"/>
                  </a:lnTo>
                  <a:lnTo>
                    <a:pt x="1506" y="703"/>
                  </a:lnTo>
                  <a:lnTo>
                    <a:pt x="1502" y="703"/>
                  </a:lnTo>
                  <a:lnTo>
                    <a:pt x="1498" y="703"/>
                  </a:lnTo>
                  <a:lnTo>
                    <a:pt x="1493" y="703"/>
                  </a:lnTo>
                  <a:lnTo>
                    <a:pt x="1488" y="701"/>
                  </a:lnTo>
                  <a:lnTo>
                    <a:pt x="1483" y="700"/>
                  </a:lnTo>
                  <a:lnTo>
                    <a:pt x="1476" y="699"/>
                  </a:lnTo>
                  <a:lnTo>
                    <a:pt x="1470" y="698"/>
                  </a:lnTo>
                  <a:lnTo>
                    <a:pt x="1463" y="699"/>
                  </a:lnTo>
                  <a:lnTo>
                    <a:pt x="1457" y="702"/>
                  </a:lnTo>
                  <a:lnTo>
                    <a:pt x="1452" y="707"/>
                  </a:lnTo>
                  <a:lnTo>
                    <a:pt x="1445" y="715"/>
                  </a:lnTo>
                  <a:lnTo>
                    <a:pt x="1441" y="716"/>
                  </a:lnTo>
                  <a:lnTo>
                    <a:pt x="1434" y="714"/>
                  </a:lnTo>
                  <a:lnTo>
                    <a:pt x="1419" y="710"/>
                  </a:lnTo>
                  <a:lnTo>
                    <a:pt x="1409" y="709"/>
                  </a:lnTo>
                  <a:lnTo>
                    <a:pt x="1401" y="708"/>
                  </a:lnTo>
                  <a:lnTo>
                    <a:pt x="1393" y="706"/>
                  </a:lnTo>
                  <a:lnTo>
                    <a:pt x="1386" y="704"/>
                  </a:lnTo>
                  <a:lnTo>
                    <a:pt x="1380" y="702"/>
                  </a:lnTo>
                  <a:lnTo>
                    <a:pt x="1377" y="700"/>
                  </a:lnTo>
                  <a:lnTo>
                    <a:pt x="1374" y="696"/>
                  </a:lnTo>
                  <a:lnTo>
                    <a:pt x="1373" y="693"/>
                  </a:lnTo>
                  <a:lnTo>
                    <a:pt x="1373" y="685"/>
                  </a:lnTo>
                  <a:lnTo>
                    <a:pt x="1373" y="676"/>
                  </a:lnTo>
                  <a:lnTo>
                    <a:pt x="1373" y="665"/>
                  </a:lnTo>
                  <a:lnTo>
                    <a:pt x="1373" y="654"/>
                  </a:lnTo>
                  <a:lnTo>
                    <a:pt x="1373" y="640"/>
                  </a:lnTo>
                  <a:lnTo>
                    <a:pt x="1371" y="628"/>
                  </a:lnTo>
                  <a:lnTo>
                    <a:pt x="1366" y="621"/>
                  </a:lnTo>
                  <a:lnTo>
                    <a:pt x="1356" y="618"/>
                  </a:lnTo>
                  <a:lnTo>
                    <a:pt x="1343" y="620"/>
                  </a:lnTo>
                  <a:lnTo>
                    <a:pt x="1335" y="626"/>
                  </a:lnTo>
                  <a:lnTo>
                    <a:pt x="1329" y="633"/>
                  </a:lnTo>
                  <a:lnTo>
                    <a:pt x="1327" y="635"/>
                  </a:lnTo>
                  <a:lnTo>
                    <a:pt x="1324" y="636"/>
                  </a:lnTo>
                  <a:lnTo>
                    <a:pt x="1317" y="640"/>
                  </a:lnTo>
                  <a:lnTo>
                    <a:pt x="1309" y="646"/>
                  </a:lnTo>
                  <a:lnTo>
                    <a:pt x="1305" y="654"/>
                  </a:lnTo>
                  <a:lnTo>
                    <a:pt x="1305" y="668"/>
                  </a:lnTo>
                  <a:lnTo>
                    <a:pt x="1306" y="687"/>
                  </a:lnTo>
                  <a:lnTo>
                    <a:pt x="1309" y="707"/>
                  </a:lnTo>
                  <a:lnTo>
                    <a:pt x="1313" y="721"/>
                  </a:lnTo>
                  <a:lnTo>
                    <a:pt x="1317" y="730"/>
                  </a:lnTo>
                  <a:lnTo>
                    <a:pt x="1316" y="738"/>
                  </a:lnTo>
                  <a:lnTo>
                    <a:pt x="1311" y="744"/>
                  </a:lnTo>
                  <a:lnTo>
                    <a:pt x="1302" y="746"/>
                  </a:lnTo>
                  <a:lnTo>
                    <a:pt x="1295" y="746"/>
                  </a:lnTo>
                  <a:lnTo>
                    <a:pt x="1285" y="746"/>
                  </a:lnTo>
                  <a:lnTo>
                    <a:pt x="1273" y="747"/>
                  </a:lnTo>
                  <a:lnTo>
                    <a:pt x="1260" y="747"/>
                  </a:lnTo>
                  <a:lnTo>
                    <a:pt x="1248" y="747"/>
                  </a:lnTo>
                  <a:lnTo>
                    <a:pt x="1236" y="746"/>
                  </a:lnTo>
                  <a:lnTo>
                    <a:pt x="1227" y="745"/>
                  </a:lnTo>
                  <a:lnTo>
                    <a:pt x="1221" y="742"/>
                  </a:lnTo>
                  <a:lnTo>
                    <a:pt x="1215" y="740"/>
                  </a:lnTo>
                  <a:lnTo>
                    <a:pt x="1209" y="737"/>
                  </a:lnTo>
                  <a:lnTo>
                    <a:pt x="1200" y="734"/>
                  </a:lnTo>
                  <a:lnTo>
                    <a:pt x="1191" y="732"/>
                  </a:lnTo>
                  <a:lnTo>
                    <a:pt x="1183" y="731"/>
                  </a:lnTo>
                  <a:lnTo>
                    <a:pt x="1176" y="729"/>
                  </a:lnTo>
                  <a:lnTo>
                    <a:pt x="1172" y="727"/>
                  </a:lnTo>
                  <a:lnTo>
                    <a:pt x="1171" y="727"/>
                  </a:lnTo>
                  <a:lnTo>
                    <a:pt x="1169" y="725"/>
                  </a:lnTo>
                  <a:lnTo>
                    <a:pt x="1166" y="719"/>
                  </a:lnTo>
                  <a:lnTo>
                    <a:pt x="1159" y="716"/>
                  </a:lnTo>
                  <a:lnTo>
                    <a:pt x="1150" y="717"/>
                  </a:lnTo>
                  <a:lnTo>
                    <a:pt x="1144" y="719"/>
                  </a:lnTo>
                  <a:lnTo>
                    <a:pt x="1137" y="719"/>
                  </a:lnTo>
                  <a:lnTo>
                    <a:pt x="1131" y="719"/>
                  </a:lnTo>
                  <a:lnTo>
                    <a:pt x="1124" y="718"/>
                  </a:lnTo>
                  <a:lnTo>
                    <a:pt x="1119" y="717"/>
                  </a:lnTo>
                  <a:lnTo>
                    <a:pt x="1114" y="715"/>
                  </a:lnTo>
                  <a:lnTo>
                    <a:pt x="1112" y="714"/>
                  </a:lnTo>
                  <a:lnTo>
                    <a:pt x="1111" y="714"/>
                  </a:lnTo>
                  <a:lnTo>
                    <a:pt x="1111" y="712"/>
                  </a:lnTo>
                  <a:lnTo>
                    <a:pt x="1110" y="709"/>
                  </a:lnTo>
                  <a:lnTo>
                    <a:pt x="1107" y="703"/>
                  </a:lnTo>
                  <a:lnTo>
                    <a:pt x="1104" y="698"/>
                  </a:lnTo>
                  <a:lnTo>
                    <a:pt x="1098" y="692"/>
                  </a:lnTo>
                  <a:lnTo>
                    <a:pt x="1091" y="686"/>
                  </a:lnTo>
                  <a:lnTo>
                    <a:pt x="1083" y="683"/>
                  </a:lnTo>
                  <a:lnTo>
                    <a:pt x="1072" y="681"/>
                  </a:lnTo>
                  <a:lnTo>
                    <a:pt x="1059" y="681"/>
                  </a:lnTo>
                  <a:lnTo>
                    <a:pt x="1045" y="681"/>
                  </a:lnTo>
                  <a:lnTo>
                    <a:pt x="1030" y="680"/>
                  </a:lnTo>
                  <a:lnTo>
                    <a:pt x="1017" y="679"/>
                  </a:lnTo>
                  <a:lnTo>
                    <a:pt x="1005" y="679"/>
                  </a:lnTo>
                  <a:lnTo>
                    <a:pt x="995" y="678"/>
                  </a:lnTo>
                  <a:lnTo>
                    <a:pt x="989" y="678"/>
                  </a:lnTo>
                  <a:lnTo>
                    <a:pt x="986" y="678"/>
                  </a:lnTo>
                  <a:lnTo>
                    <a:pt x="986" y="677"/>
                  </a:lnTo>
                  <a:lnTo>
                    <a:pt x="985" y="676"/>
                  </a:lnTo>
                  <a:lnTo>
                    <a:pt x="983" y="672"/>
                  </a:lnTo>
                  <a:lnTo>
                    <a:pt x="979" y="669"/>
                  </a:lnTo>
                  <a:lnTo>
                    <a:pt x="974" y="666"/>
                  </a:lnTo>
                  <a:lnTo>
                    <a:pt x="967" y="663"/>
                  </a:lnTo>
                  <a:lnTo>
                    <a:pt x="959" y="662"/>
                  </a:lnTo>
                  <a:lnTo>
                    <a:pt x="947" y="661"/>
                  </a:lnTo>
                  <a:lnTo>
                    <a:pt x="946" y="659"/>
                  </a:lnTo>
                  <a:lnTo>
                    <a:pt x="944" y="658"/>
                  </a:lnTo>
                  <a:lnTo>
                    <a:pt x="940" y="655"/>
                  </a:lnTo>
                  <a:lnTo>
                    <a:pt x="936" y="651"/>
                  </a:lnTo>
                  <a:lnTo>
                    <a:pt x="930" y="649"/>
                  </a:lnTo>
                  <a:lnTo>
                    <a:pt x="923" y="647"/>
                  </a:lnTo>
                  <a:lnTo>
                    <a:pt x="916" y="646"/>
                  </a:lnTo>
                  <a:lnTo>
                    <a:pt x="908" y="647"/>
                  </a:lnTo>
                  <a:lnTo>
                    <a:pt x="906" y="645"/>
                  </a:lnTo>
                  <a:lnTo>
                    <a:pt x="899" y="640"/>
                  </a:lnTo>
                  <a:lnTo>
                    <a:pt x="888" y="632"/>
                  </a:lnTo>
                  <a:lnTo>
                    <a:pt x="877" y="623"/>
                  </a:lnTo>
                  <a:lnTo>
                    <a:pt x="864" y="615"/>
                  </a:lnTo>
                  <a:lnTo>
                    <a:pt x="852" y="606"/>
                  </a:lnTo>
                  <a:lnTo>
                    <a:pt x="841" y="602"/>
                  </a:lnTo>
                  <a:lnTo>
                    <a:pt x="834" y="600"/>
                  </a:lnTo>
                  <a:lnTo>
                    <a:pt x="826" y="597"/>
                  </a:lnTo>
                  <a:lnTo>
                    <a:pt x="820" y="593"/>
                  </a:lnTo>
                  <a:lnTo>
                    <a:pt x="818" y="588"/>
                  </a:lnTo>
                  <a:lnTo>
                    <a:pt x="817" y="586"/>
                  </a:lnTo>
                  <a:lnTo>
                    <a:pt x="818" y="583"/>
                  </a:lnTo>
                  <a:lnTo>
                    <a:pt x="823" y="578"/>
                  </a:lnTo>
                  <a:lnTo>
                    <a:pt x="827" y="570"/>
                  </a:lnTo>
                  <a:lnTo>
                    <a:pt x="831" y="557"/>
                  </a:lnTo>
                  <a:lnTo>
                    <a:pt x="833" y="544"/>
                  </a:lnTo>
                  <a:lnTo>
                    <a:pt x="837" y="532"/>
                  </a:lnTo>
                  <a:lnTo>
                    <a:pt x="842" y="522"/>
                  </a:lnTo>
                  <a:lnTo>
                    <a:pt x="849" y="514"/>
                  </a:lnTo>
                  <a:lnTo>
                    <a:pt x="857" y="509"/>
                  </a:lnTo>
                  <a:lnTo>
                    <a:pt x="863" y="502"/>
                  </a:lnTo>
                  <a:lnTo>
                    <a:pt x="863" y="492"/>
                  </a:lnTo>
                  <a:lnTo>
                    <a:pt x="856" y="483"/>
                  </a:lnTo>
                  <a:lnTo>
                    <a:pt x="849" y="477"/>
                  </a:lnTo>
                  <a:lnTo>
                    <a:pt x="841" y="473"/>
                  </a:lnTo>
                  <a:lnTo>
                    <a:pt x="832" y="467"/>
                  </a:lnTo>
                  <a:lnTo>
                    <a:pt x="825" y="464"/>
                  </a:lnTo>
                  <a:lnTo>
                    <a:pt x="817" y="459"/>
                  </a:lnTo>
                  <a:lnTo>
                    <a:pt x="811" y="457"/>
                  </a:lnTo>
                  <a:lnTo>
                    <a:pt x="808" y="456"/>
                  </a:lnTo>
                  <a:lnTo>
                    <a:pt x="807" y="454"/>
                  </a:lnTo>
                  <a:lnTo>
                    <a:pt x="804" y="451"/>
                  </a:lnTo>
                  <a:lnTo>
                    <a:pt x="799" y="442"/>
                  </a:lnTo>
                  <a:lnTo>
                    <a:pt x="789" y="431"/>
                  </a:lnTo>
                  <a:lnTo>
                    <a:pt x="778" y="426"/>
                  </a:lnTo>
                  <a:lnTo>
                    <a:pt x="765" y="422"/>
                  </a:lnTo>
                  <a:lnTo>
                    <a:pt x="755" y="419"/>
                  </a:lnTo>
                  <a:lnTo>
                    <a:pt x="748" y="416"/>
                  </a:lnTo>
                  <a:lnTo>
                    <a:pt x="746" y="415"/>
                  </a:lnTo>
                  <a:lnTo>
                    <a:pt x="743" y="413"/>
                  </a:lnTo>
                  <a:lnTo>
                    <a:pt x="739" y="407"/>
                  </a:lnTo>
                  <a:lnTo>
                    <a:pt x="733" y="397"/>
                  </a:lnTo>
                  <a:lnTo>
                    <a:pt x="725" y="383"/>
                  </a:lnTo>
                  <a:lnTo>
                    <a:pt x="720" y="374"/>
                  </a:lnTo>
                  <a:lnTo>
                    <a:pt x="721" y="373"/>
                  </a:lnTo>
                  <a:lnTo>
                    <a:pt x="720" y="371"/>
                  </a:lnTo>
                  <a:lnTo>
                    <a:pt x="714" y="362"/>
                  </a:lnTo>
                  <a:lnTo>
                    <a:pt x="710" y="356"/>
                  </a:lnTo>
                  <a:lnTo>
                    <a:pt x="706" y="351"/>
                  </a:lnTo>
                  <a:lnTo>
                    <a:pt x="704" y="346"/>
                  </a:lnTo>
                  <a:lnTo>
                    <a:pt x="702" y="343"/>
                  </a:lnTo>
                  <a:lnTo>
                    <a:pt x="702" y="340"/>
                  </a:lnTo>
                  <a:lnTo>
                    <a:pt x="703" y="338"/>
                  </a:lnTo>
                  <a:lnTo>
                    <a:pt x="704" y="336"/>
                  </a:lnTo>
                  <a:lnTo>
                    <a:pt x="705" y="333"/>
                  </a:lnTo>
                  <a:lnTo>
                    <a:pt x="710" y="330"/>
                  </a:lnTo>
                  <a:lnTo>
                    <a:pt x="716" y="332"/>
                  </a:lnTo>
                  <a:lnTo>
                    <a:pt x="723" y="339"/>
                  </a:lnTo>
                  <a:lnTo>
                    <a:pt x="731" y="348"/>
                  </a:lnTo>
                  <a:lnTo>
                    <a:pt x="735" y="351"/>
                  </a:lnTo>
                  <a:lnTo>
                    <a:pt x="739" y="352"/>
                  </a:lnTo>
                  <a:lnTo>
                    <a:pt x="743" y="351"/>
                  </a:lnTo>
                  <a:lnTo>
                    <a:pt x="748" y="348"/>
                  </a:lnTo>
                  <a:lnTo>
                    <a:pt x="752" y="346"/>
                  </a:lnTo>
                  <a:lnTo>
                    <a:pt x="757" y="343"/>
                  </a:lnTo>
                  <a:lnTo>
                    <a:pt x="762" y="339"/>
                  </a:lnTo>
                  <a:lnTo>
                    <a:pt x="766" y="336"/>
                  </a:lnTo>
                  <a:lnTo>
                    <a:pt x="771" y="327"/>
                  </a:lnTo>
                  <a:lnTo>
                    <a:pt x="770" y="314"/>
                  </a:lnTo>
                  <a:lnTo>
                    <a:pt x="764" y="302"/>
                  </a:lnTo>
                  <a:lnTo>
                    <a:pt x="757" y="293"/>
                  </a:lnTo>
                  <a:lnTo>
                    <a:pt x="754" y="290"/>
                  </a:lnTo>
                  <a:lnTo>
                    <a:pt x="751" y="285"/>
                  </a:lnTo>
                  <a:lnTo>
                    <a:pt x="750" y="279"/>
                  </a:lnTo>
                  <a:lnTo>
                    <a:pt x="748" y="274"/>
                  </a:lnTo>
                  <a:lnTo>
                    <a:pt x="748" y="271"/>
                  </a:lnTo>
                  <a:lnTo>
                    <a:pt x="748" y="269"/>
                  </a:lnTo>
                  <a:lnTo>
                    <a:pt x="747" y="267"/>
                  </a:lnTo>
                  <a:lnTo>
                    <a:pt x="746" y="264"/>
                  </a:lnTo>
                  <a:lnTo>
                    <a:pt x="744" y="261"/>
                  </a:lnTo>
                  <a:lnTo>
                    <a:pt x="742" y="257"/>
                  </a:lnTo>
                  <a:lnTo>
                    <a:pt x="741" y="254"/>
                  </a:lnTo>
                  <a:lnTo>
                    <a:pt x="739" y="250"/>
                  </a:lnTo>
                  <a:lnTo>
                    <a:pt x="735" y="244"/>
                  </a:lnTo>
                  <a:lnTo>
                    <a:pt x="738" y="238"/>
                  </a:lnTo>
                  <a:lnTo>
                    <a:pt x="744" y="234"/>
                  </a:lnTo>
                  <a:lnTo>
                    <a:pt x="754" y="233"/>
                  </a:lnTo>
                  <a:lnTo>
                    <a:pt x="761" y="231"/>
                  </a:lnTo>
                  <a:lnTo>
                    <a:pt x="765" y="227"/>
                  </a:lnTo>
                  <a:lnTo>
                    <a:pt x="766" y="223"/>
                  </a:lnTo>
                  <a:lnTo>
                    <a:pt x="767" y="216"/>
                  </a:lnTo>
                  <a:lnTo>
                    <a:pt x="769" y="211"/>
                  </a:lnTo>
                  <a:lnTo>
                    <a:pt x="772" y="206"/>
                  </a:lnTo>
                  <a:lnTo>
                    <a:pt x="776" y="200"/>
                  </a:lnTo>
                  <a:lnTo>
                    <a:pt x="780" y="193"/>
                  </a:lnTo>
                  <a:lnTo>
                    <a:pt x="786" y="186"/>
                  </a:lnTo>
                  <a:lnTo>
                    <a:pt x="792" y="179"/>
                  </a:lnTo>
                  <a:lnTo>
                    <a:pt x="797" y="172"/>
                  </a:lnTo>
                  <a:lnTo>
                    <a:pt x="803" y="165"/>
                  </a:lnTo>
                  <a:lnTo>
                    <a:pt x="810" y="150"/>
                  </a:lnTo>
                  <a:lnTo>
                    <a:pt x="811" y="134"/>
                  </a:lnTo>
                  <a:lnTo>
                    <a:pt x="807" y="120"/>
                  </a:lnTo>
                  <a:lnTo>
                    <a:pt x="800" y="112"/>
                  </a:lnTo>
                  <a:lnTo>
                    <a:pt x="792" y="108"/>
                  </a:lnTo>
                  <a:lnTo>
                    <a:pt x="784" y="101"/>
                  </a:lnTo>
                  <a:lnTo>
                    <a:pt x="776" y="93"/>
                  </a:lnTo>
                  <a:lnTo>
                    <a:pt x="766" y="82"/>
                  </a:lnTo>
                  <a:lnTo>
                    <a:pt x="761" y="78"/>
                  </a:lnTo>
                  <a:lnTo>
                    <a:pt x="752" y="76"/>
                  </a:lnTo>
                  <a:lnTo>
                    <a:pt x="743" y="76"/>
                  </a:lnTo>
                  <a:lnTo>
                    <a:pt x="733" y="79"/>
                  </a:lnTo>
                  <a:lnTo>
                    <a:pt x="721" y="82"/>
                  </a:lnTo>
                  <a:lnTo>
                    <a:pt x="710" y="87"/>
                  </a:lnTo>
                  <a:lnTo>
                    <a:pt x="698" y="93"/>
                  </a:lnTo>
                  <a:lnTo>
                    <a:pt x="688" y="98"/>
                  </a:lnTo>
                  <a:lnTo>
                    <a:pt x="680" y="104"/>
                  </a:lnTo>
                  <a:lnTo>
                    <a:pt x="674" y="109"/>
                  </a:lnTo>
                  <a:lnTo>
                    <a:pt x="668" y="115"/>
                  </a:lnTo>
                  <a:lnTo>
                    <a:pt x="665" y="119"/>
                  </a:lnTo>
                  <a:lnTo>
                    <a:pt x="660" y="116"/>
                  </a:lnTo>
                  <a:lnTo>
                    <a:pt x="656" y="113"/>
                  </a:lnTo>
                  <a:lnTo>
                    <a:pt x="649" y="112"/>
                  </a:lnTo>
                  <a:lnTo>
                    <a:pt x="643" y="112"/>
                  </a:lnTo>
                  <a:lnTo>
                    <a:pt x="636" y="112"/>
                  </a:lnTo>
                  <a:lnTo>
                    <a:pt x="630" y="111"/>
                  </a:lnTo>
                  <a:lnTo>
                    <a:pt x="626" y="111"/>
                  </a:lnTo>
                  <a:lnTo>
                    <a:pt x="622" y="109"/>
                  </a:lnTo>
                  <a:lnTo>
                    <a:pt x="619" y="106"/>
                  </a:lnTo>
                  <a:lnTo>
                    <a:pt x="615" y="105"/>
                  </a:lnTo>
                  <a:lnTo>
                    <a:pt x="610" y="104"/>
                  </a:lnTo>
                  <a:lnTo>
                    <a:pt x="605" y="103"/>
                  </a:lnTo>
                  <a:lnTo>
                    <a:pt x="599" y="103"/>
                  </a:lnTo>
                  <a:lnTo>
                    <a:pt x="595" y="101"/>
                  </a:lnTo>
                  <a:lnTo>
                    <a:pt x="590" y="98"/>
                  </a:lnTo>
                  <a:lnTo>
                    <a:pt x="587" y="95"/>
                  </a:lnTo>
                  <a:lnTo>
                    <a:pt x="581" y="89"/>
                  </a:lnTo>
                  <a:lnTo>
                    <a:pt x="576" y="86"/>
                  </a:lnTo>
                  <a:lnTo>
                    <a:pt x="571" y="83"/>
                  </a:lnTo>
                  <a:lnTo>
                    <a:pt x="564" y="80"/>
                  </a:lnTo>
                  <a:lnTo>
                    <a:pt x="557" y="74"/>
                  </a:lnTo>
                  <a:lnTo>
                    <a:pt x="551" y="68"/>
                  </a:lnTo>
                  <a:lnTo>
                    <a:pt x="549" y="62"/>
                  </a:lnTo>
                  <a:lnTo>
                    <a:pt x="549" y="53"/>
                  </a:lnTo>
                  <a:lnTo>
                    <a:pt x="550" y="44"/>
                  </a:lnTo>
                  <a:lnTo>
                    <a:pt x="546" y="36"/>
                  </a:lnTo>
                  <a:lnTo>
                    <a:pt x="541" y="30"/>
                  </a:lnTo>
                  <a:lnTo>
                    <a:pt x="534" y="28"/>
                  </a:lnTo>
                  <a:lnTo>
                    <a:pt x="528" y="27"/>
                  </a:lnTo>
                  <a:lnTo>
                    <a:pt x="523" y="23"/>
                  </a:lnTo>
                  <a:lnTo>
                    <a:pt x="519" y="18"/>
                  </a:lnTo>
                  <a:lnTo>
                    <a:pt x="515" y="10"/>
                  </a:lnTo>
                  <a:lnTo>
                    <a:pt x="509" y="4"/>
                  </a:lnTo>
                  <a:lnTo>
                    <a:pt x="501" y="2"/>
                  </a:lnTo>
                  <a:lnTo>
                    <a:pt x="491" y="3"/>
                  </a:lnTo>
                  <a:lnTo>
                    <a:pt x="483" y="2"/>
                  </a:lnTo>
                  <a:lnTo>
                    <a:pt x="480" y="0"/>
                  </a:lnTo>
                  <a:lnTo>
                    <a:pt x="475" y="0"/>
                  </a:lnTo>
                  <a:lnTo>
                    <a:pt x="470" y="0"/>
                  </a:lnTo>
                  <a:lnTo>
                    <a:pt x="466" y="2"/>
                  </a:lnTo>
                  <a:lnTo>
                    <a:pt x="461" y="3"/>
                  </a:lnTo>
                  <a:lnTo>
                    <a:pt x="457" y="5"/>
                  </a:lnTo>
                  <a:lnTo>
                    <a:pt x="452" y="7"/>
                  </a:lnTo>
                  <a:lnTo>
                    <a:pt x="448" y="10"/>
                  </a:lnTo>
                  <a:lnTo>
                    <a:pt x="445" y="13"/>
                  </a:lnTo>
                  <a:lnTo>
                    <a:pt x="440" y="15"/>
                  </a:lnTo>
                  <a:lnTo>
                    <a:pt x="435" y="18"/>
                  </a:lnTo>
                  <a:lnTo>
                    <a:pt x="430" y="19"/>
                  </a:lnTo>
                  <a:lnTo>
                    <a:pt x="424" y="20"/>
                  </a:lnTo>
                  <a:lnTo>
                    <a:pt x="419" y="21"/>
                  </a:lnTo>
                  <a:lnTo>
                    <a:pt x="414" y="21"/>
                  </a:lnTo>
                  <a:lnTo>
                    <a:pt x="410" y="21"/>
                  </a:lnTo>
                  <a:lnTo>
                    <a:pt x="404" y="21"/>
                  </a:lnTo>
                  <a:lnTo>
                    <a:pt x="395" y="23"/>
                  </a:lnTo>
                  <a:lnTo>
                    <a:pt x="386" y="26"/>
                  </a:lnTo>
                  <a:lnTo>
                    <a:pt x="379" y="29"/>
                  </a:lnTo>
                  <a:lnTo>
                    <a:pt x="372" y="36"/>
                  </a:lnTo>
                  <a:lnTo>
                    <a:pt x="362" y="45"/>
                  </a:lnTo>
                  <a:lnTo>
                    <a:pt x="353" y="56"/>
                  </a:lnTo>
                  <a:lnTo>
                    <a:pt x="347" y="63"/>
                  </a:lnTo>
                  <a:lnTo>
                    <a:pt x="346" y="67"/>
                  </a:lnTo>
                  <a:lnTo>
                    <a:pt x="348" y="72"/>
                  </a:lnTo>
                  <a:lnTo>
                    <a:pt x="353" y="75"/>
                  </a:lnTo>
                  <a:lnTo>
                    <a:pt x="360" y="78"/>
                  </a:lnTo>
                  <a:lnTo>
                    <a:pt x="363" y="79"/>
                  </a:lnTo>
                  <a:lnTo>
                    <a:pt x="367" y="81"/>
                  </a:lnTo>
                  <a:lnTo>
                    <a:pt x="370" y="83"/>
                  </a:lnTo>
                  <a:lnTo>
                    <a:pt x="374" y="87"/>
                  </a:lnTo>
                  <a:lnTo>
                    <a:pt x="378" y="90"/>
                  </a:lnTo>
                  <a:lnTo>
                    <a:pt x="384" y="94"/>
                  </a:lnTo>
                  <a:lnTo>
                    <a:pt x="390" y="98"/>
                  </a:lnTo>
                  <a:lnTo>
                    <a:pt x="397" y="102"/>
                  </a:lnTo>
                  <a:lnTo>
                    <a:pt x="409" y="111"/>
                  </a:lnTo>
                  <a:lnTo>
                    <a:pt x="419" y="123"/>
                  </a:lnTo>
                  <a:lnTo>
                    <a:pt x="424" y="134"/>
                  </a:lnTo>
                  <a:lnTo>
                    <a:pt x="427" y="142"/>
                  </a:lnTo>
                  <a:lnTo>
                    <a:pt x="423" y="150"/>
                  </a:lnTo>
                  <a:lnTo>
                    <a:pt x="415" y="161"/>
                  </a:lnTo>
                  <a:lnTo>
                    <a:pt x="406" y="172"/>
                  </a:lnTo>
                  <a:lnTo>
                    <a:pt x="398" y="179"/>
                  </a:lnTo>
                  <a:lnTo>
                    <a:pt x="394" y="185"/>
                  </a:lnTo>
                  <a:lnTo>
                    <a:pt x="393" y="193"/>
                  </a:lnTo>
                  <a:lnTo>
                    <a:pt x="394" y="203"/>
                  </a:lnTo>
                  <a:lnTo>
                    <a:pt x="397" y="215"/>
                  </a:lnTo>
                  <a:lnTo>
                    <a:pt x="398" y="231"/>
                  </a:lnTo>
                  <a:lnTo>
                    <a:pt x="399" y="249"/>
                  </a:lnTo>
                  <a:lnTo>
                    <a:pt x="400" y="268"/>
                  </a:lnTo>
                  <a:lnTo>
                    <a:pt x="404" y="280"/>
                  </a:lnTo>
                  <a:lnTo>
                    <a:pt x="407" y="285"/>
                  </a:lnTo>
                  <a:lnTo>
                    <a:pt x="412" y="290"/>
                  </a:lnTo>
                  <a:lnTo>
                    <a:pt x="417" y="293"/>
                  </a:lnTo>
                  <a:lnTo>
                    <a:pt x="424" y="298"/>
                  </a:lnTo>
                  <a:lnTo>
                    <a:pt x="430" y="301"/>
                  </a:lnTo>
                  <a:lnTo>
                    <a:pt x="436" y="303"/>
                  </a:lnTo>
                  <a:lnTo>
                    <a:pt x="442" y="306"/>
                  </a:lnTo>
                  <a:lnTo>
                    <a:pt x="447" y="308"/>
                  </a:lnTo>
                  <a:lnTo>
                    <a:pt x="447" y="309"/>
                  </a:lnTo>
                  <a:lnTo>
                    <a:pt x="447" y="317"/>
                  </a:lnTo>
                  <a:lnTo>
                    <a:pt x="448" y="324"/>
                  </a:lnTo>
                  <a:lnTo>
                    <a:pt x="453" y="330"/>
                  </a:lnTo>
                  <a:lnTo>
                    <a:pt x="458" y="335"/>
                  </a:lnTo>
                  <a:lnTo>
                    <a:pt x="463" y="338"/>
                  </a:lnTo>
                  <a:lnTo>
                    <a:pt x="469" y="340"/>
                  </a:lnTo>
                  <a:lnTo>
                    <a:pt x="476" y="343"/>
                  </a:lnTo>
                  <a:lnTo>
                    <a:pt x="483" y="344"/>
                  </a:lnTo>
                  <a:lnTo>
                    <a:pt x="488" y="345"/>
                  </a:lnTo>
                  <a:lnTo>
                    <a:pt x="490" y="347"/>
                  </a:lnTo>
                  <a:lnTo>
                    <a:pt x="489" y="350"/>
                  </a:lnTo>
                  <a:lnTo>
                    <a:pt x="485" y="351"/>
                  </a:lnTo>
                  <a:lnTo>
                    <a:pt x="481" y="353"/>
                  </a:lnTo>
                  <a:lnTo>
                    <a:pt x="475" y="355"/>
                  </a:lnTo>
                  <a:lnTo>
                    <a:pt x="470" y="358"/>
                  </a:lnTo>
                  <a:lnTo>
                    <a:pt x="466" y="359"/>
                  </a:lnTo>
                  <a:lnTo>
                    <a:pt x="457" y="362"/>
                  </a:lnTo>
                  <a:lnTo>
                    <a:pt x="448" y="367"/>
                  </a:lnTo>
                  <a:lnTo>
                    <a:pt x="443" y="375"/>
                  </a:lnTo>
                  <a:lnTo>
                    <a:pt x="440" y="386"/>
                  </a:lnTo>
                  <a:lnTo>
                    <a:pt x="439" y="400"/>
                  </a:lnTo>
                  <a:lnTo>
                    <a:pt x="437" y="415"/>
                  </a:lnTo>
                  <a:lnTo>
                    <a:pt x="433" y="428"/>
                  </a:lnTo>
                  <a:lnTo>
                    <a:pt x="427" y="441"/>
                  </a:lnTo>
                  <a:lnTo>
                    <a:pt x="416" y="452"/>
                  </a:lnTo>
                  <a:lnTo>
                    <a:pt x="406" y="465"/>
                  </a:lnTo>
                  <a:lnTo>
                    <a:pt x="398" y="479"/>
                  </a:lnTo>
                  <a:lnTo>
                    <a:pt x="394" y="490"/>
                  </a:lnTo>
                  <a:lnTo>
                    <a:pt x="391" y="497"/>
                  </a:lnTo>
                  <a:lnTo>
                    <a:pt x="382" y="502"/>
                  </a:lnTo>
                  <a:lnTo>
                    <a:pt x="371" y="507"/>
                  </a:lnTo>
                  <a:lnTo>
                    <a:pt x="362" y="519"/>
                  </a:lnTo>
                  <a:lnTo>
                    <a:pt x="354" y="532"/>
                  </a:lnTo>
                  <a:lnTo>
                    <a:pt x="346" y="541"/>
                  </a:lnTo>
                  <a:lnTo>
                    <a:pt x="340" y="550"/>
                  </a:lnTo>
                  <a:lnTo>
                    <a:pt x="338" y="562"/>
                  </a:lnTo>
                  <a:lnTo>
                    <a:pt x="337" y="567"/>
                  </a:lnTo>
                  <a:lnTo>
                    <a:pt x="332" y="571"/>
                  </a:lnTo>
                  <a:lnTo>
                    <a:pt x="326" y="572"/>
                  </a:lnTo>
                  <a:lnTo>
                    <a:pt x="319" y="574"/>
                  </a:lnTo>
                  <a:lnTo>
                    <a:pt x="311" y="575"/>
                  </a:lnTo>
                  <a:lnTo>
                    <a:pt x="305" y="579"/>
                  </a:lnTo>
                  <a:lnTo>
                    <a:pt x="299" y="582"/>
                  </a:lnTo>
                  <a:lnTo>
                    <a:pt x="295" y="589"/>
                  </a:lnTo>
                  <a:lnTo>
                    <a:pt x="288" y="604"/>
                  </a:lnTo>
                  <a:lnTo>
                    <a:pt x="279" y="617"/>
                  </a:lnTo>
                  <a:lnTo>
                    <a:pt x="271" y="628"/>
                  </a:lnTo>
                  <a:lnTo>
                    <a:pt x="266" y="639"/>
                  </a:lnTo>
                  <a:lnTo>
                    <a:pt x="224" y="650"/>
                  </a:lnTo>
                  <a:lnTo>
                    <a:pt x="223" y="651"/>
                  </a:lnTo>
                  <a:lnTo>
                    <a:pt x="218" y="653"/>
                  </a:lnTo>
                  <a:lnTo>
                    <a:pt x="212" y="651"/>
                  </a:lnTo>
                  <a:lnTo>
                    <a:pt x="207" y="647"/>
                  </a:lnTo>
                  <a:lnTo>
                    <a:pt x="201" y="638"/>
                  </a:lnTo>
                  <a:lnTo>
                    <a:pt x="194" y="631"/>
                  </a:lnTo>
                  <a:lnTo>
                    <a:pt x="186" y="627"/>
                  </a:lnTo>
                  <a:lnTo>
                    <a:pt x="174" y="628"/>
                  </a:lnTo>
                  <a:lnTo>
                    <a:pt x="167" y="632"/>
                  </a:lnTo>
                  <a:lnTo>
                    <a:pt x="161" y="638"/>
                  </a:lnTo>
                  <a:lnTo>
                    <a:pt x="155" y="643"/>
                  </a:lnTo>
                  <a:lnTo>
                    <a:pt x="150" y="650"/>
                  </a:lnTo>
                  <a:lnTo>
                    <a:pt x="146" y="657"/>
                  </a:lnTo>
                  <a:lnTo>
                    <a:pt x="142" y="663"/>
                  </a:lnTo>
                  <a:lnTo>
                    <a:pt x="140" y="666"/>
                  </a:lnTo>
                  <a:lnTo>
                    <a:pt x="139" y="668"/>
                  </a:lnTo>
                  <a:lnTo>
                    <a:pt x="134" y="670"/>
                  </a:lnTo>
                  <a:lnTo>
                    <a:pt x="123" y="677"/>
                  </a:lnTo>
                  <a:lnTo>
                    <a:pt x="111" y="689"/>
                  </a:lnTo>
                  <a:lnTo>
                    <a:pt x="106" y="710"/>
                  </a:lnTo>
                  <a:lnTo>
                    <a:pt x="109" y="732"/>
                  </a:lnTo>
                  <a:lnTo>
                    <a:pt x="116" y="747"/>
                  </a:lnTo>
                  <a:lnTo>
                    <a:pt x="125" y="757"/>
                  </a:lnTo>
                  <a:lnTo>
                    <a:pt x="135" y="763"/>
                  </a:lnTo>
                  <a:lnTo>
                    <a:pt x="136" y="770"/>
                  </a:lnTo>
                  <a:lnTo>
                    <a:pt x="139" y="787"/>
                  </a:lnTo>
                  <a:lnTo>
                    <a:pt x="144" y="806"/>
                  </a:lnTo>
                  <a:lnTo>
                    <a:pt x="152" y="817"/>
                  </a:lnTo>
                  <a:lnTo>
                    <a:pt x="164" y="827"/>
                  </a:lnTo>
                  <a:lnTo>
                    <a:pt x="174" y="842"/>
                  </a:lnTo>
                  <a:lnTo>
                    <a:pt x="181" y="854"/>
                  </a:lnTo>
                  <a:lnTo>
                    <a:pt x="185" y="860"/>
                  </a:lnTo>
                  <a:lnTo>
                    <a:pt x="188" y="913"/>
                  </a:lnTo>
                  <a:lnTo>
                    <a:pt x="187" y="912"/>
                  </a:lnTo>
                  <a:lnTo>
                    <a:pt x="185" y="908"/>
                  </a:lnTo>
                  <a:lnTo>
                    <a:pt x="181" y="905"/>
                  </a:lnTo>
                  <a:lnTo>
                    <a:pt x="176" y="900"/>
                  </a:lnTo>
                  <a:lnTo>
                    <a:pt x="167" y="898"/>
                  </a:lnTo>
                  <a:lnTo>
                    <a:pt x="158" y="897"/>
                  </a:lnTo>
                  <a:lnTo>
                    <a:pt x="148" y="898"/>
                  </a:lnTo>
                  <a:lnTo>
                    <a:pt x="135" y="903"/>
                  </a:lnTo>
                  <a:lnTo>
                    <a:pt x="133" y="903"/>
                  </a:lnTo>
                  <a:lnTo>
                    <a:pt x="126" y="900"/>
                  </a:lnTo>
                  <a:lnTo>
                    <a:pt x="116" y="899"/>
                  </a:lnTo>
                  <a:lnTo>
                    <a:pt x="103" y="897"/>
                  </a:lnTo>
                  <a:lnTo>
                    <a:pt x="90" y="895"/>
                  </a:lnTo>
                  <a:lnTo>
                    <a:pt x="78" y="893"/>
                  </a:lnTo>
                  <a:lnTo>
                    <a:pt x="67" y="891"/>
                  </a:lnTo>
                  <a:lnTo>
                    <a:pt x="60" y="891"/>
                  </a:lnTo>
                  <a:lnTo>
                    <a:pt x="51" y="896"/>
                  </a:lnTo>
                  <a:lnTo>
                    <a:pt x="45" y="905"/>
                  </a:lnTo>
                  <a:lnTo>
                    <a:pt x="41" y="915"/>
                  </a:lnTo>
                  <a:lnTo>
                    <a:pt x="40" y="920"/>
                  </a:lnTo>
                  <a:lnTo>
                    <a:pt x="38" y="920"/>
                  </a:lnTo>
                  <a:lnTo>
                    <a:pt x="35" y="920"/>
                  </a:lnTo>
                  <a:lnTo>
                    <a:pt x="29" y="921"/>
                  </a:lnTo>
                  <a:lnTo>
                    <a:pt x="22" y="922"/>
                  </a:lnTo>
                  <a:lnTo>
                    <a:pt x="15" y="924"/>
                  </a:lnTo>
                  <a:lnTo>
                    <a:pt x="10" y="927"/>
                  </a:lnTo>
                  <a:lnTo>
                    <a:pt x="4" y="931"/>
                  </a:lnTo>
                  <a:lnTo>
                    <a:pt x="0" y="937"/>
                  </a:lnTo>
                  <a:lnTo>
                    <a:pt x="3" y="937"/>
                  </a:lnTo>
                  <a:lnTo>
                    <a:pt x="9" y="939"/>
                  </a:lnTo>
                  <a:lnTo>
                    <a:pt x="15" y="943"/>
                  </a:lnTo>
                  <a:lnTo>
                    <a:pt x="21" y="952"/>
                  </a:lnTo>
                  <a:lnTo>
                    <a:pt x="50" y="941"/>
                  </a:lnTo>
                  <a:lnTo>
                    <a:pt x="49" y="944"/>
                  </a:lnTo>
                  <a:lnTo>
                    <a:pt x="44" y="952"/>
                  </a:lnTo>
                  <a:lnTo>
                    <a:pt x="37" y="960"/>
                  </a:lnTo>
                  <a:lnTo>
                    <a:pt x="28" y="966"/>
                  </a:lnTo>
                  <a:lnTo>
                    <a:pt x="32" y="969"/>
                  </a:lnTo>
                  <a:lnTo>
                    <a:pt x="38" y="979"/>
                  </a:lnTo>
                  <a:lnTo>
                    <a:pt x="48" y="990"/>
                  </a:lnTo>
                  <a:lnTo>
                    <a:pt x="57" y="1002"/>
                  </a:lnTo>
                  <a:lnTo>
                    <a:pt x="62" y="1006"/>
                  </a:lnTo>
                  <a:lnTo>
                    <a:pt x="65" y="1011"/>
                  </a:lnTo>
                  <a:lnTo>
                    <a:pt x="71" y="1014"/>
                  </a:lnTo>
                  <a:lnTo>
                    <a:pt x="75" y="1017"/>
                  </a:lnTo>
                  <a:lnTo>
                    <a:pt x="81" y="1019"/>
                  </a:lnTo>
                  <a:lnTo>
                    <a:pt x="87" y="1021"/>
                  </a:lnTo>
                  <a:lnTo>
                    <a:pt x="93" y="1022"/>
                  </a:lnTo>
                  <a:lnTo>
                    <a:pt x="100" y="1022"/>
                  </a:lnTo>
                  <a:lnTo>
                    <a:pt x="106" y="1022"/>
                  </a:lnTo>
                  <a:lnTo>
                    <a:pt x="114" y="1021"/>
                  </a:lnTo>
                  <a:lnTo>
                    <a:pt x="121" y="1019"/>
                  </a:lnTo>
                  <a:lnTo>
                    <a:pt x="129" y="1017"/>
                  </a:lnTo>
                  <a:lnTo>
                    <a:pt x="135" y="1016"/>
                  </a:lnTo>
                  <a:lnTo>
                    <a:pt x="141" y="1013"/>
                  </a:lnTo>
                  <a:lnTo>
                    <a:pt x="144" y="1012"/>
                  </a:lnTo>
                  <a:lnTo>
                    <a:pt x="146" y="1012"/>
                  </a:lnTo>
                  <a:lnTo>
                    <a:pt x="147" y="1016"/>
                  </a:lnTo>
                  <a:lnTo>
                    <a:pt x="149" y="1024"/>
                  </a:lnTo>
                  <a:lnTo>
                    <a:pt x="149" y="1034"/>
                  </a:lnTo>
                  <a:lnTo>
                    <a:pt x="142" y="1041"/>
                  </a:lnTo>
                  <a:lnTo>
                    <a:pt x="133" y="1044"/>
                  </a:lnTo>
                  <a:lnTo>
                    <a:pt x="125" y="1045"/>
                  </a:lnTo>
                  <a:lnTo>
                    <a:pt x="118" y="1048"/>
                  </a:lnTo>
                  <a:lnTo>
                    <a:pt x="110" y="1051"/>
                  </a:lnTo>
                  <a:lnTo>
                    <a:pt x="101" y="1055"/>
                  </a:lnTo>
                  <a:lnTo>
                    <a:pt x="90" y="1056"/>
                  </a:lnTo>
                  <a:lnTo>
                    <a:pt x="82" y="1055"/>
                  </a:lnTo>
                  <a:lnTo>
                    <a:pt x="79" y="1055"/>
                  </a:lnTo>
                  <a:lnTo>
                    <a:pt x="60" y="1048"/>
                  </a:lnTo>
                  <a:lnTo>
                    <a:pt x="64" y="1065"/>
                  </a:lnTo>
                  <a:lnTo>
                    <a:pt x="67" y="1069"/>
                  </a:lnTo>
                  <a:lnTo>
                    <a:pt x="75" y="1075"/>
                  </a:lnTo>
                  <a:lnTo>
                    <a:pt x="86" y="1087"/>
                  </a:lnTo>
                  <a:lnTo>
                    <a:pt x="93" y="1097"/>
                  </a:lnTo>
                  <a:lnTo>
                    <a:pt x="96" y="1103"/>
                  </a:lnTo>
                  <a:lnTo>
                    <a:pt x="100" y="1111"/>
                  </a:lnTo>
                  <a:lnTo>
                    <a:pt x="104" y="1119"/>
                  </a:lnTo>
                  <a:lnTo>
                    <a:pt x="110" y="1128"/>
                  </a:lnTo>
                  <a:lnTo>
                    <a:pt x="117" y="1138"/>
                  </a:lnTo>
                  <a:lnTo>
                    <a:pt x="124" y="1147"/>
                  </a:lnTo>
                  <a:lnTo>
                    <a:pt x="131" y="1154"/>
                  </a:lnTo>
                  <a:lnTo>
                    <a:pt x="139" y="1161"/>
                  </a:lnTo>
                  <a:lnTo>
                    <a:pt x="146" y="1165"/>
                  </a:lnTo>
                  <a:lnTo>
                    <a:pt x="151" y="1169"/>
                  </a:lnTo>
                  <a:lnTo>
                    <a:pt x="156" y="1172"/>
                  </a:lnTo>
                  <a:lnTo>
                    <a:pt x="161" y="1174"/>
                  </a:lnTo>
                  <a:lnTo>
                    <a:pt x="164" y="1176"/>
                  </a:lnTo>
                  <a:lnTo>
                    <a:pt x="170" y="1177"/>
                  </a:lnTo>
                  <a:lnTo>
                    <a:pt x="177" y="1178"/>
                  </a:lnTo>
                  <a:lnTo>
                    <a:pt x="185" y="1178"/>
                  </a:lnTo>
                  <a:lnTo>
                    <a:pt x="195" y="1177"/>
                  </a:lnTo>
                  <a:lnTo>
                    <a:pt x="205" y="1174"/>
                  </a:lnTo>
                  <a:lnTo>
                    <a:pt x="216" y="1171"/>
                  </a:lnTo>
                  <a:lnTo>
                    <a:pt x="226" y="1168"/>
                  </a:lnTo>
                  <a:lnTo>
                    <a:pt x="235" y="1163"/>
                  </a:lnTo>
                  <a:lnTo>
                    <a:pt x="243" y="1160"/>
                  </a:lnTo>
                  <a:lnTo>
                    <a:pt x="250" y="1156"/>
                  </a:lnTo>
                  <a:lnTo>
                    <a:pt x="256" y="1154"/>
                  </a:lnTo>
                  <a:lnTo>
                    <a:pt x="264" y="1148"/>
                  </a:lnTo>
                  <a:lnTo>
                    <a:pt x="270" y="1140"/>
                  </a:lnTo>
                  <a:lnTo>
                    <a:pt x="275" y="1128"/>
                  </a:lnTo>
                  <a:lnTo>
                    <a:pt x="277" y="1116"/>
                  </a:lnTo>
                  <a:lnTo>
                    <a:pt x="278" y="1102"/>
                  </a:lnTo>
                  <a:lnTo>
                    <a:pt x="281" y="1090"/>
                  </a:lnTo>
                  <a:lnTo>
                    <a:pt x="287" y="1083"/>
                  </a:lnTo>
                  <a:lnTo>
                    <a:pt x="295" y="1083"/>
                  </a:lnTo>
                  <a:lnTo>
                    <a:pt x="301" y="1090"/>
                  </a:lnTo>
                  <a:lnTo>
                    <a:pt x="302" y="1098"/>
                  </a:lnTo>
                  <a:lnTo>
                    <a:pt x="302" y="1110"/>
                  </a:lnTo>
                  <a:lnTo>
                    <a:pt x="302" y="1123"/>
                  </a:lnTo>
                  <a:lnTo>
                    <a:pt x="305" y="1135"/>
                  </a:lnTo>
                  <a:lnTo>
                    <a:pt x="310" y="1149"/>
                  </a:lnTo>
                  <a:lnTo>
                    <a:pt x="315" y="1163"/>
                  </a:lnTo>
                  <a:lnTo>
                    <a:pt x="316" y="1178"/>
                  </a:lnTo>
                  <a:lnTo>
                    <a:pt x="313" y="1193"/>
                  </a:lnTo>
                  <a:lnTo>
                    <a:pt x="309" y="1208"/>
                  </a:lnTo>
                  <a:lnTo>
                    <a:pt x="306" y="1225"/>
                  </a:lnTo>
                  <a:lnTo>
                    <a:pt x="302" y="1246"/>
                  </a:lnTo>
                  <a:lnTo>
                    <a:pt x="303" y="1267"/>
                  </a:lnTo>
                  <a:lnTo>
                    <a:pt x="309" y="1283"/>
                  </a:lnTo>
                  <a:lnTo>
                    <a:pt x="315" y="1297"/>
                  </a:lnTo>
                  <a:lnTo>
                    <a:pt x="316" y="1309"/>
                  </a:lnTo>
                  <a:lnTo>
                    <a:pt x="313" y="1323"/>
                  </a:lnTo>
                  <a:lnTo>
                    <a:pt x="309" y="1338"/>
                  </a:lnTo>
                  <a:lnTo>
                    <a:pt x="308" y="1353"/>
                  </a:lnTo>
                  <a:lnTo>
                    <a:pt x="313" y="1367"/>
                  </a:lnTo>
                  <a:lnTo>
                    <a:pt x="317" y="1375"/>
                  </a:lnTo>
                  <a:lnTo>
                    <a:pt x="323" y="1386"/>
                  </a:lnTo>
                  <a:lnTo>
                    <a:pt x="329" y="1399"/>
                  </a:lnTo>
                  <a:lnTo>
                    <a:pt x="334" y="1413"/>
                  </a:lnTo>
                  <a:lnTo>
                    <a:pt x="339" y="1427"/>
                  </a:lnTo>
                  <a:lnTo>
                    <a:pt x="343" y="1441"/>
                  </a:lnTo>
                  <a:lnTo>
                    <a:pt x="345" y="1453"/>
                  </a:lnTo>
                  <a:lnTo>
                    <a:pt x="345" y="1463"/>
                  </a:lnTo>
                  <a:lnTo>
                    <a:pt x="343" y="1478"/>
                  </a:lnTo>
                  <a:lnTo>
                    <a:pt x="344" y="1492"/>
                  </a:lnTo>
                  <a:lnTo>
                    <a:pt x="347" y="1510"/>
                  </a:lnTo>
                  <a:lnTo>
                    <a:pt x="355" y="1533"/>
                  </a:lnTo>
                  <a:lnTo>
                    <a:pt x="361" y="1545"/>
                  </a:lnTo>
                  <a:lnTo>
                    <a:pt x="367" y="1558"/>
                  </a:lnTo>
                  <a:lnTo>
                    <a:pt x="372" y="1570"/>
                  </a:lnTo>
                  <a:lnTo>
                    <a:pt x="378" y="1580"/>
                  </a:lnTo>
                  <a:lnTo>
                    <a:pt x="384" y="1592"/>
                  </a:lnTo>
                  <a:lnTo>
                    <a:pt x="389" y="1602"/>
                  </a:lnTo>
                  <a:lnTo>
                    <a:pt x="393" y="1612"/>
                  </a:lnTo>
                  <a:lnTo>
                    <a:pt x="398" y="1623"/>
                  </a:lnTo>
                  <a:lnTo>
                    <a:pt x="402" y="1638"/>
                  </a:lnTo>
                  <a:lnTo>
                    <a:pt x="404" y="1647"/>
                  </a:lnTo>
                  <a:lnTo>
                    <a:pt x="405" y="1660"/>
                  </a:lnTo>
                  <a:lnTo>
                    <a:pt x="412" y="1683"/>
                  </a:lnTo>
                  <a:lnTo>
                    <a:pt x="417" y="1699"/>
                  </a:lnTo>
                  <a:lnTo>
                    <a:pt x="423" y="1714"/>
                  </a:lnTo>
                  <a:lnTo>
                    <a:pt x="430" y="1729"/>
                  </a:lnTo>
                  <a:lnTo>
                    <a:pt x="435" y="1743"/>
                  </a:lnTo>
                  <a:lnTo>
                    <a:pt x="440" y="1755"/>
                  </a:lnTo>
                  <a:lnTo>
                    <a:pt x="444" y="1767"/>
                  </a:lnTo>
                  <a:lnTo>
                    <a:pt x="446" y="1775"/>
                  </a:lnTo>
                  <a:lnTo>
                    <a:pt x="447" y="1782"/>
                  </a:lnTo>
                  <a:lnTo>
                    <a:pt x="448" y="1789"/>
                  </a:lnTo>
                  <a:lnTo>
                    <a:pt x="452" y="1796"/>
                  </a:lnTo>
                  <a:lnTo>
                    <a:pt x="457" y="1805"/>
                  </a:lnTo>
                  <a:lnTo>
                    <a:pt x="462" y="1813"/>
                  </a:lnTo>
                  <a:lnTo>
                    <a:pt x="469" y="1822"/>
                  </a:lnTo>
                  <a:lnTo>
                    <a:pt x="476" y="1829"/>
                  </a:lnTo>
                  <a:lnTo>
                    <a:pt x="483" y="1835"/>
                  </a:lnTo>
                  <a:lnTo>
                    <a:pt x="490" y="1839"/>
                  </a:lnTo>
                  <a:lnTo>
                    <a:pt x="493" y="1849"/>
                  </a:lnTo>
                  <a:lnTo>
                    <a:pt x="503" y="1869"/>
                  </a:lnTo>
                  <a:lnTo>
                    <a:pt x="513" y="1896"/>
                  </a:lnTo>
                  <a:lnTo>
                    <a:pt x="519" y="1921"/>
                  </a:lnTo>
                  <a:lnTo>
                    <a:pt x="523" y="1938"/>
                  </a:lnTo>
                  <a:lnTo>
                    <a:pt x="530" y="1951"/>
                  </a:lnTo>
                  <a:lnTo>
                    <a:pt x="537" y="1964"/>
                  </a:lnTo>
                  <a:lnTo>
                    <a:pt x="539" y="1978"/>
                  </a:lnTo>
                  <a:lnTo>
                    <a:pt x="542" y="1995"/>
                  </a:lnTo>
                  <a:lnTo>
                    <a:pt x="548" y="2012"/>
                  </a:lnTo>
                  <a:lnTo>
                    <a:pt x="556" y="2031"/>
                  </a:lnTo>
                  <a:lnTo>
                    <a:pt x="565" y="2046"/>
                  </a:lnTo>
                  <a:lnTo>
                    <a:pt x="571" y="2052"/>
                  </a:lnTo>
                  <a:lnTo>
                    <a:pt x="577" y="2062"/>
                  </a:lnTo>
                  <a:lnTo>
                    <a:pt x="586" y="2070"/>
                  </a:lnTo>
                  <a:lnTo>
                    <a:pt x="594" y="2079"/>
                  </a:lnTo>
                  <a:lnTo>
                    <a:pt x="600" y="2086"/>
                  </a:lnTo>
                  <a:lnTo>
                    <a:pt x="605" y="2093"/>
                  </a:lnTo>
                  <a:lnTo>
                    <a:pt x="610" y="2097"/>
                  </a:lnTo>
                  <a:lnTo>
                    <a:pt x="611" y="2099"/>
                  </a:lnTo>
                  <a:lnTo>
                    <a:pt x="612" y="2099"/>
                  </a:lnTo>
                  <a:lnTo>
                    <a:pt x="615" y="2100"/>
                  </a:lnTo>
                  <a:lnTo>
                    <a:pt x="620" y="2101"/>
                  </a:lnTo>
                  <a:lnTo>
                    <a:pt x="626" y="2101"/>
                  </a:lnTo>
                  <a:lnTo>
                    <a:pt x="629" y="2101"/>
                  </a:lnTo>
                  <a:lnTo>
                    <a:pt x="634" y="2101"/>
                  </a:lnTo>
                  <a:lnTo>
                    <a:pt x="637" y="2100"/>
                  </a:lnTo>
                  <a:lnTo>
                    <a:pt x="642" y="2099"/>
                  </a:lnTo>
                  <a:lnTo>
                    <a:pt x="647" y="2096"/>
                  </a:lnTo>
                  <a:lnTo>
                    <a:pt x="651" y="2095"/>
                  </a:lnTo>
                  <a:lnTo>
                    <a:pt x="656" y="2092"/>
                  </a:lnTo>
                  <a:lnTo>
                    <a:pt x="660" y="2088"/>
                  </a:lnTo>
                  <a:lnTo>
                    <a:pt x="673" y="2072"/>
                  </a:lnTo>
                  <a:lnTo>
                    <a:pt x="678" y="2057"/>
                  </a:lnTo>
                  <a:lnTo>
                    <a:pt x="680" y="2046"/>
                  </a:lnTo>
                  <a:lnTo>
                    <a:pt x="686" y="2037"/>
                  </a:lnTo>
                  <a:lnTo>
                    <a:pt x="691" y="2035"/>
                  </a:lnTo>
                  <a:lnTo>
                    <a:pt x="697" y="2032"/>
                  </a:lnTo>
                  <a:lnTo>
                    <a:pt x="704" y="2029"/>
                  </a:lnTo>
                  <a:lnTo>
                    <a:pt x="711" y="2026"/>
                  </a:lnTo>
                  <a:lnTo>
                    <a:pt x="716" y="2024"/>
                  </a:lnTo>
                  <a:lnTo>
                    <a:pt x="720" y="2021"/>
                  </a:lnTo>
                  <a:lnTo>
                    <a:pt x="724" y="2020"/>
                  </a:lnTo>
                  <a:lnTo>
                    <a:pt x="725" y="2020"/>
                  </a:lnTo>
                  <a:lnTo>
                    <a:pt x="725" y="2018"/>
                  </a:lnTo>
                  <a:lnTo>
                    <a:pt x="726" y="2012"/>
                  </a:lnTo>
                  <a:lnTo>
                    <a:pt x="728" y="2004"/>
                  </a:lnTo>
                  <a:lnTo>
                    <a:pt x="732" y="1995"/>
                  </a:lnTo>
                  <a:lnTo>
                    <a:pt x="738" y="1987"/>
                  </a:lnTo>
                  <a:lnTo>
                    <a:pt x="746" y="1978"/>
                  </a:lnTo>
                  <a:lnTo>
                    <a:pt x="752" y="1968"/>
                  </a:lnTo>
                  <a:lnTo>
                    <a:pt x="757" y="1959"/>
                  </a:lnTo>
                  <a:lnTo>
                    <a:pt x="761" y="1953"/>
                  </a:lnTo>
                  <a:lnTo>
                    <a:pt x="766" y="1950"/>
                  </a:lnTo>
                  <a:lnTo>
                    <a:pt x="773" y="1949"/>
                  </a:lnTo>
                  <a:lnTo>
                    <a:pt x="781" y="1949"/>
                  </a:lnTo>
                  <a:lnTo>
                    <a:pt x="789" y="1948"/>
                  </a:lnTo>
                  <a:lnTo>
                    <a:pt x="796" y="1943"/>
                  </a:lnTo>
                  <a:lnTo>
                    <a:pt x="801" y="1940"/>
                  </a:lnTo>
                  <a:lnTo>
                    <a:pt x="803" y="1938"/>
                  </a:lnTo>
                  <a:lnTo>
                    <a:pt x="803" y="1934"/>
                  </a:lnTo>
                  <a:lnTo>
                    <a:pt x="802" y="1922"/>
                  </a:lnTo>
                  <a:lnTo>
                    <a:pt x="802" y="1908"/>
                  </a:lnTo>
                  <a:lnTo>
                    <a:pt x="803" y="1896"/>
                  </a:lnTo>
                  <a:lnTo>
                    <a:pt x="802" y="1884"/>
                  </a:lnTo>
                  <a:lnTo>
                    <a:pt x="797" y="1872"/>
                  </a:lnTo>
                  <a:lnTo>
                    <a:pt x="791" y="1859"/>
                  </a:lnTo>
                  <a:lnTo>
                    <a:pt x="788" y="1850"/>
                  </a:lnTo>
                  <a:lnTo>
                    <a:pt x="789" y="1842"/>
                  </a:lnTo>
                  <a:lnTo>
                    <a:pt x="794" y="1834"/>
                  </a:lnTo>
                  <a:lnTo>
                    <a:pt x="801" y="1824"/>
                  </a:lnTo>
                  <a:lnTo>
                    <a:pt x="810" y="1810"/>
                  </a:lnTo>
                  <a:lnTo>
                    <a:pt x="820" y="1792"/>
                  </a:lnTo>
                  <a:lnTo>
                    <a:pt x="829" y="1764"/>
                  </a:lnTo>
                  <a:lnTo>
                    <a:pt x="829" y="1725"/>
                  </a:lnTo>
                  <a:lnTo>
                    <a:pt x="817" y="1669"/>
                  </a:lnTo>
                  <a:lnTo>
                    <a:pt x="817" y="1661"/>
                  </a:lnTo>
                  <a:lnTo>
                    <a:pt x="817" y="1640"/>
                  </a:lnTo>
                  <a:lnTo>
                    <a:pt x="816" y="1616"/>
                  </a:lnTo>
                  <a:lnTo>
                    <a:pt x="814" y="1594"/>
                  </a:lnTo>
                  <a:lnTo>
                    <a:pt x="814" y="1577"/>
                  </a:lnTo>
                  <a:lnTo>
                    <a:pt x="819" y="1563"/>
                  </a:lnTo>
                  <a:lnTo>
                    <a:pt x="830" y="1552"/>
                  </a:lnTo>
                  <a:lnTo>
                    <a:pt x="842" y="1548"/>
                  </a:lnTo>
                  <a:lnTo>
                    <a:pt x="853" y="1547"/>
                  </a:lnTo>
                  <a:lnTo>
                    <a:pt x="858" y="1548"/>
                  </a:lnTo>
                  <a:lnTo>
                    <a:pt x="861" y="1550"/>
                  </a:lnTo>
                  <a:lnTo>
                    <a:pt x="862" y="1551"/>
                  </a:lnTo>
                  <a:lnTo>
                    <a:pt x="867" y="1550"/>
                  </a:lnTo>
                  <a:lnTo>
                    <a:pt x="877" y="1545"/>
                  </a:lnTo>
                  <a:lnTo>
                    <a:pt x="887" y="1537"/>
                  </a:lnTo>
                  <a:lnTo>
                    <a:pt x="894" y="1526"/>
                  </a:lnTo>
                  <a:lnTo>
                    <a:pt x="900" y="1516"/>
                  </a:lnTo>
                  <a:lnTo>
                    <a:pt x="908" y="1509"/>
                  </a:lnTo>
                  <a:lnTo>
                    <a:pt x="915" y="1506"/>
                  </a:lnTo>
                  <a:lnTo>
                    <a:pt x="918" y="1505"/>
                  </a:lnTo>
                  <a:lnTo>
                    <a:pt x="921" y="1505"/>
                  </a:lnTo>
                  <a:lnTo>
                    <a:pt x="925" y="1505"/>
                  </a:lnTo>
                  <a:lnTo>
                    <a:pt x="933" y="1504"/>
                  </a:lnTo>
                  <a:lnTo>
                    <a:pt x="943" y="1503"/>
                  </a:lnTo>
                  <a:lnTo>
                    <a:pt x="952" y="1502"/>
                  </a:lnTo>
                  <a:lnTo>
                    <a:pt x="961" y="1499"/>
                  </a:lnTo>
                  <a:lnTo>
                    <a:pt x="968" y="1495"/>
                  </a:lnTo>
                  <a:lnTo>
                    <a:pt x="972" y="1490"/>
                  </a:lnTo>
                  <a:lnTo>
                    <a:pt x="974" y="1484"/>
                  </a:lnTo>
                  <a:lnTo>
                    <a:pt x="972" y="1479"/>
                  </a:lnTo>
                  <a:lnTo>
                    <a:pt x="969" y="1472"/>
                  </a:lnTo>
                  <a:lnTo>
                    <a:pt x="967" y="1465"/>
                  </a:lnTo>
                  <a:lnTo>
                    <a:pt x="966" y="1458"/>
                  </a:lnTo>
                  <a:lnTo>
                    <a:pt x="967" y="1451"/>
                  </a:lnTo>
                  <a:lnTo>
                    <a:pt x="972" y="1445"/>
                  </a:lnTo>
                  <a:lnTo>
                    <a:pt x="983" y="1441"/>
                  </a:lnTo>
                  <a:lnTo>
                    <a:pt x="995" y="1436"/>
                  </a:lnTo>
                  <a:lnTo>
                    <a:pt x="1005" y="1430"/>
                  </a:lnTo>
                  <a:lnTo>
                    <a:pt x="1013" y="1423"/>
                  </a:lnTo>
                  <a:lnTo>
                    <a:pt x="1021" y="1416"/>
                  </a:lnTo>
                  <a:lnTo>
                    <a:pt x="1028" y="1408"/>
                  </a:lnTo>
                  <a:lnTo>
                    <a:pt x="1033" y="1400"/>
                  </a:lnTo>
                  <a:lnTo>
                    <a:pt x="1042" y="1392"/>
                  </a:lnTo>
                  <a:lnTo>
                    <a:pt x="1050" y="1384"/>
                  </a:lnTo>
                  <a:lnTo>
                    <a:pt x="1060" y="1376"/>
                  </a:lnTo>
                  <a:lnTo>
                    <a:pt x="1070" y="1368"/>
                  </a:lnTo>
                  <a:lnTo>
                    <a:pt x="1082" y="1359"/>
                  </a:lnTo>
                  <a:lnTo>
                    <a:pt x="1093" y="1351"/>
                  </a:lnTo>
                  <a:lnTo>
                    <a:pt x="1104" y="1342"/>
                  </a:lnTo>
                  <a:lnTo>
                    <a:pt x="1113" y="1331"/>
                  </a:lnTo>
                  <a:lnTo>
                    <a:pt x="1122" y="1321"/>
                  </a:lnTo>
                  <a:lnTo>
                    <a:pt x="1128" y="1309"/>
                  </a:lnTo>
                  <a:lnTo>
                    <a:pt x="1135" y="1298"/>
                  </a:lnTo>
                  <a:lnTo>
                    <a:pt x="1142" y="1287"/>
                  </a:lnTo>
                  <a:lnTo>
                    <a:pt x="1151" y="1279"/>
                  </a:lnTo>
                  <a:lnTo>
                    <a:pt x="1160" y="1271"/>
                  </a:lnTo>
                  <a:lnTo>
                    <a:pt x="1169" y="1264"/>
                  </a:lnTo>
                  <a:lnTo>
                    <a:pt x="1179" y="1259"/>
                  </a:lnTo>
                  <a:lnTo>
                    <a:pt x="1186" y="1254"/>
                  </a:lnTo>
                  <a:lnTo>
                    <a:pt x="1192" y="1249"/>
                  </a:lnTo>
                  <a:lnTo>
                    <a:pt x="1198" y="1246"/>
                  </a:lnTo>
                  <a:lnTo>
                    <a:pt x="1206" y="1244"/>
                  </a:lnTo>
                  <a:lnTo>
                    <a:pt x="1214" y="1242"/>
                  </a:lnTo>
                  <a:lnTo>
                    <a:pt x="1222" y="1241"/>
                  </a:lnTo>
                  <a:lnTo>
                    <a:pt x="1230" y="1240"/>
                  </a:lnTo>
                  <a:lnTo>
                    <a:pt x="1237" y="1239"/>
                  </a:lnTo>
                  <a:lnTo>
                    <a:pt x="1243" y="1236"/>
                  </a:lnTo>
                  <a:lnTo>
                    <a:pt x="1245" y="1231"/>
                  </a:lnTo>
                  <a:lnTo>
                    <a:pt x="1250" y="1218"/>
                  </a:lnTo>
                  <a:lnTo>
                    <a:pt x="1259" y="1204"/>
                  </a:lnTo>
                  <a:lnTo>
                    <a:pt x="1268" y="1192"/>
                  </a:lnTo>
                  <a:lnTo>
                    <a:pt x="1278" y="1181"/>
                  </a:lnTo>
                  <a:lnTo>
                    <a:pt x="1281" y="1172"/>
                  </a:lnTo>
                  <a:lnTo>
                    <a:pt x="1278" y="1162"/>
                  </a:lnTo>
                  <a:lnTo>
                    <a:pt x="1273" y="1153"/>
                  </a:lnTo>
                  <a:lnTo>
                    <a:pt x="1271" y="1149"/>
                  </a:lnTo>
                  <a:lnTo>
                    <a:pt x="1270" y="1147"/>
                  </a:lnTo>
                  <a:lnTo>
                    <a:pt x="1270" y="1140"/>
                  </a:lnTo>
                  <a:lnTo>
                    <a:pt x="1274" y="1130"/>
                  </a:lnTo>
                  <a:lnTo>
                    <a:pt x="1288" y="1116"/>
                  </a:lnTo>
                  <a:lnTo>
                    <a:pt x="1297" y="1109"/>
                  </a:lnTo>
                  <a:lnTo>
                    <a:pt x="1306" y="1103"/>
                  </a:lnTo>
                  <a:lnTo>
                    <a:pt x="1315" y="1098"/>
                  </a:lnTo>
                  <a:lnTo>
                    <a:pt x="1321" y="1096"/>
                  </a:lnTo>
                  <a:lnTo>
                    <a:pt x="1328" y="1094"/>
                  </a:lnTo>
                  <a:lnTo>
                    <a:pt x="1335" y="1094"/>
                  </a:lnTo>
                  <a:lnTo>
                    <a:pt x="1340" y="1095"/>
                  </a:lnTo>
                  <a:lnTo>
                    <a:pt x="1344" y="1097"/>
                  </a:lnTo>
                  <a:lnTo>
                    <a:pt x="1349" y="1100"/>
                  </a:lnTo>
                  <a:lnTo>
                    <a:pt x="1354" y="1101"/>
                  </a:lnTo>
                  <a:lnTo>
                    <a:pt x="1358" y="1102"/>
                  </a:lnTo>
                  <a:lnTo>
                    <a:pt x="1363" y="1103"/>
                  </a:lnTo>
                  <a:lnTo>
                    <a:pt x="1369" y="1103"/>
                  </a:lnTo>
                  <a:lnTo>
                    <a:pt x="1373" y="1103"/>
                  </a:lnTo>
                  <a:lnTo>
                    <a:pt x="1379" y="1102"/>
                  </a:lnTo>
                  <a:lnTo>
                    <a:pt x="1384" y="1101"/>
                  </a:lnTo>
                  <a:lnTo>
                    <a:pt x="1395" y="1098"/>
                  </a:lnTo>
                  <a:lnTo>
                    <a:pt x="1405" y="1096"/>
                  </a:lnTo>
                  <a:lnTo>
                    <a:pt x="1412" y="1095"/>
                  </a:lnTo>
                  <a:lnTo>
                    <a:pt x="1416" y="1094"/>
                  </a:lnTo>
                  <a:lnTo>
                    <a:pt x="1415" y="1086"/>
                  </a:lnTo>
                  <a:lnTo>
                    <a:pt x="1414" y="1069"/>
                  </a:lnTo>
                  <a:lnTo>
                    <a:pt x="1411" y="1045"/>
                  </a:lnTo>
                  <a:lnTo>
                    <a:pt x="1409" y="1026"/>
                  </a:lnTo>
                  <a:lnTo>
                    <a:pt x="1404" y="1005"/>
                  </a:lnTo>
                  <a:lnTo>
                    <a:pt x="1397" y="981"/>
                  </a:lnTo>
                  <a:lnTo>
                    <a:pt x="1387" y="959"/>
                  </a:lnTo>
                  <a:lnTo>
                    <a:pt x="1377" y="949"/>
                  </a:lnTo>
                  <a:lnTo>
                    <a:pt x="1379" y="945"/>
                  </a:lnTo>
                  <a:lnTo>
                    <a:pt x="1384" y="937"/>
                  </a:lnTo>
                  <a:lnTo>
                    <a:pt x="1387" y="927"/>
                  </a:lnTo>
                  <a:lnTo>
                    <a:pt x="1387" y="916"/>
                  </a:lnTo>
                  <a:lnTo>
                    <a:pt x="1385" y="907"/>
                  </a:lnTo>
                  <a:lnTo>
                    <a:pt x="1381" y="901"/>
                  </a:lnTo>
                  <a:lnTo>
                    <a:pt x="1377" y="898"/>
                  </a:lnTo>
                  <a:lnTo>
                    <a:pt x="1370" y="895"/>
                  </a:lnTo>
                  <a:lnTo>
                    <a:pt x="1365" y="892"/>
                  </a:lnTo>
                  <a:lnTo>
                    <a:pt x="1359" y="890"/>
                  </a:lnTo>
                  <a:lnTo>
                    <a:pt x="1354" y="888"/>
                  </a:lnTo>
                  <a:lnTo>
                    <a:pt x="1348" y="884"/>
                  </a:lnTo>
                  <a:lnTo>
                    <a:pt x="1342" y="882"/>
                  </a:lnTo>
                  <a:lnTo>
                    <a:pt x="1339" y="880"/>
                  </a:lnTo>
                  <a:lnTo>
                    <a:pt x="1335" y="878"/>
                  </a:lnTo>
                  <a:lnTo>
                    <a:pt x="1334" y="877"/>
                  </a:lnTo>
                  <a:lnTo>
                    <a:pt x="1335" y="876"/>
                  </a:lnTo>
                  <a:lnTo>
                    <a:pt x="1339" y="873"/>
                  </a:lnTo>
                  <a:lnTo>
                    <a:pt x="1344" y="867"/>
                  </a:lnTo>
                  <a:lnTo>
                    <a:pt x="1350" y="861"/>
                  </a:lnTo>
                  <a:lnTo>
                    <a:pt x="1357" y="855"/>
                  </a:lnTo>
                  <a:lnTo>
                    <a:pt x="1364" y="850"/>
                  </a:lnTo>
                  <a:lnTo>
                    <a:pt x="1371" y="846"/>
                  </a:lnTo>
                  <a:lnTo>
                    <a:pt x="1377" y="845"/>
                  </a:lnTo>
                  <a:lnTo>
                    <a:pt x="1385" y="840"/>
                  </a:lnTo>
                  <a:lnTo>
                    <a:pt x="1387" y="829"/>
                  </a:lnTo>
                  <a:lnTo>
                    <a:pt x="1384" y="817"/>
                  </a:lnTo>
                  <a:lnTo>
                    <a:pt x="1373" y="813"/>
                  </a:lnTo>
                  <a:lnTo>
                    <a:pt x="1366" y="813"/>
                  </a:lnTo>
                  <a:lnTo>
                    <a:pt x="1361" y="810"/>
                  </a:lnTo>
                  <a:lnTo>
                    <a:pt x="1354" y="807"/>
                  </a:lnTo>
                  <a:lnTo>
                    <a:pt x="1349" y="802"/>
                  </a:lnTo>
                  <a:lnTo>
                    <a:pt x="1346" y="795"/>
                  </a:lnTo>
                  <a:lnTo>
                    <a:pt x="1343" y="786"/>
                  </a:lnTo>
                  <a:lnTo>
                    <a:pt x="1344" y="775"/>
                  </a:lnTo>
                  <a:lnTo>
                    <a:pt x="1348" y="760"/>
                  </a:lnTo>
                  <a:lnTo>
                    <a:pt x="1350" y="761"/>
                  </a:lnTo>
                  <a:lnTo>
                    <a:pt x="1356" y="763"/>
                  </a:lnTo>
                  <a:lnTo>
                    <a:pt x="1365" y="767"/>
                  </a:lnTo>
                  <a:lnTo>
                    <a:pt x="1376" y="772"/>
                  </a:lnTo>
                  <a:lnTo>
                    <a:pt x="1387" y="777"/>
                  </a:lnTo>
                  <a:lnTo>
                    <a:pt x="1397" y="783"/>
                  </a:lnTo>
                  <a:lnTo>
                    <a:pt x="1408" y="787"/>
                  </a:lnTo>
                  <a:lnTo>
                    <a:pt x="1416" y="792"/>
                  </a:lnTo>
                  <a:lnTo>
                    <a:pt x="1425" y="801"/>
                  </a:lnTo>
                  <a:lnTo>
                    <a:pt x="1430" y="814"/>
                  </a:lnTo>
                  <a:lnTo>
                    <a:pt x="1433" y="827"/>
                  </a:lnTo>
                  <a:lnTo>
                    <a:pt x="1441" y="838"/>
                  </a:lnTo>
                  <a:lnTo>
                    <a:pt x="1447" y="843"/>
                  </a:lnTo>
                  <a:lnTo>
                    <a:pt x="1454" y="845"/>
                  </a:lnTo>
                  <a:lnTo>
                    <a:pt x="1462" y="847"/>
                  </a:lnTo>
                  <a:lnTo>
                    <a:pt x="1470" y="848"/>
                  </a:lnTo>
                  <a:lnTo>
                    <a:pt x="1479" y="848"/>
                  </a:lnTo>
                  <a:lnTo>
                    <a:pt x="1488" y="847"/>
                  </a:lnTo>
                  <a:lnTo>
                    <a:pt x="1496" y="846"/>
                  </a:lnTo>
                  <a:lnTo>
                    <a:pt x="1505" y="845"/>
                  </a:lnTo>
                  <a:lnTo>
                    <a:pt x="1515" y="844"/>
                  </a:lnTo>
                  <a:lnTo>
                    <a:pt x="1528" y="844"/>
                  </a:lnTo>
                  <a:lnTo>
                    <a:pt x="1543" y="844"/>
                  </a:lnTo>
                  <a:lnTo>
                    <a:pt x="1558" y="844"/>
                  </a:lnTo>
                  <a:lnTo>
                    <a:pt x="1571" y="844"/>
                  </a:lnTo>
                  <a:lnTo>
                    <a:pt x="1583" y="845"/>
                  </a:lnTo>
                  <a:lnTo>
                    <a:pt x="1590" y="845"/>
                  </a:lnTo>
                  <a:lnTo>
                    <a:pt x="1593" y="845"/>
                  </a:lnTo>
                  <a:lnTo>
                    <a:pt x="1591" y="850"/>
                  </a:lnTo>
                  <a:lnTo>
                    <a:pt x="1586" y="862"/>
                  </a:lnTo>
                  <a:lnTo>
                    <a:pt x="1581" y="875"/>
                  </a:lnTo>
                  <a:lnTo>
                    <a:pt x="1572" y="884"/>
                  </a:lnTo>
                  <a:lnTo>
                    <a:pt x="1568" y="888"/>
                  </a:lnTo>
                  <a:lnTo>
                    <a:pt x="1561" y="892"/>
                  </a:lnTo>
                  <a:lnTo>
                    <a:pt x="1553" y="898"/>
                  </a:lnTo>
                  <a:lnTo>
                    <a:pt x="1545" y="905"/>
                  </a:lnTo>
                  <a:lnTo>
                    <a:pt x="1538" y="912"/>
                  </a:lnTo>
                  <a:lnTo>
                    <a:pt x="1531" y="919"/>
                  </a:lnTo>
                  <a:lnTo>
                    <a:pt x="1525" y="924"/>
                  </a:lnTo>
                  <a:lnTo>
                    <a:pt x="1523" y="930"/>
                  </a:lnTo>
                  <a:lnTo>
                    <a:pt x="1524" y="941"/>
                  </a:lnTo>
                  <a:lnTo>
                    <a:pt x="1530" y="951"/>
                  </a:lnTo>
                  <a:lnTo>
                    <a:pt x="1537" y="961"/>
                  </a:lnTo>
                  <a:lnTo>
                    <a:pt x="1544" y="973"/>
                  </a:lnTo>
                  <a:lnTo>
                    <a:pt x="1551" y="987"/>
                  </a:lnTo>
                  <a:lnTo>
                    <a:pt x="1561" y="997"/>
                  </a:lnTo>
                  <a:lnTo>
                    <a:pt x="1569" y="1005"/>
                  </a:lnTo>
                  <a:lnTo>
                    <a:pt x="1572" y="1009"/>
                  </a:lnTo>
                  <a:lnTo>
                    <a:pt x="1576" y="1006"/>
                  </a:lnTo>
                  <a:lnTo>
                    <a:pt x="1585" y="999"/>
                  </a:lnTo>
                  <a:lnTo>
                    <a:pt x="1593" y="989"/>
                  </a:lnTo>
                  <a:lnTo>
                    <a:pt x="1597" y="976"/>
                  </a:lnTo>
                  <a:lnTo>
                    <a:pt x="1598" y="963"/>
                  </a:lnTo>
                  <a:lnTo>
                    <a:pt x="1601" y="951"/>
                  </a:lnTo>
                  <a:lnTo>
                    <a:pt x="1606" y="949"/>
                  </a:lnTo>
                  <a:lnTo>
                    <a:pt x="1612" y="963"/>
                  </a:lnTo>
                  <a:lnTo>
                    <a:pt x="1619" y="987"/>
                  </a:lnTo>
                  <a:lnTo>
                    <a:pt x="1627" y="1010"/>
                  </a:lnTo>
                  <a:lnTo>
                    <a:pt x="1634" y="1029"/>
                  </a:lnTo>
                  <a:lnTo>
                    <a:pt x="1636" y="1041"/>
                  </a:lnTo>
                  <a:lnTo>
                    <a:pt x="1637" y="1044"/>
                  </a:lnTo>
                  <a:lnTo>
                    <a:pt x="1639" y="1049"/>
                  </a:lnTo>
                  <a:lnTo>
                    <a:pt x="1643" y="1052"/>
                  </a:lnTo>
                  <a:lnTo>
                    <a:pt x="1647" y="1056"/>
                  </a:lnTo>
                  <a:lnTo>
                    <a:pt x="1653" y="1059"/>
                  </a:lnTo>
                  <a:lnTo>
                    <a:pt x="1659" y="1062"/>
                  </a:lnTo>
                  <a:lnTo>
                    <a:pt x="1665" y="1062"/>
                  </a:lnTo>
                  <a:lnTo>
                    <a:pt x="1672" y="1062"/>
                  </a:lnTo>
                  <a:lnTo>
                    <a:pt x="1682" y="1057"/>
                  </a:lnTo>
                  <a:lnTo>
                    <a:pt x="1688" y="1049"/>
                  </a:lnTo>
                  <a:lnTo>
                    <a:pt x="1690" y="1040"/>
                  </a:lnTo>
                  <a:lnTo>
                    <a:pt x="1690" y="1030"/>
                  </a:lnTo>
                  <a:lnTo>
                    <a:pt x="1689" y="1020"/>
                  </a:lnTo>
                  <a:lnTo>
                    <a:pt x="1686" y="1006"/>
                  </a:lnTo>
                  <a:lnTo>
                    <a:pt x="1686" y="994"/>
                  </a:lnTo>
                  <a:lnTo>
                    <a:pt x="1690" y="983"/>
                  </a:lnTo>
                  <a:lnTo>
                    <a:pt x="1693" y="976"/>
                  </a:lnTo>
                  <a:lnTo>
                    <a:pt x="1696" y="971"/>
                  </a:lnTo>
                  <a:lnTo>
                    <a:pt x="1697" y="963"/>
                  </a:lnTo>
                  <a:lnTo>
                    <a:pt x="1697" y="949"/>
                  </a:lnTo>
                  <a:lnTo>
                    <a:pt x="1697" y="933"/>
                  </a:lnTo>
                  <a:lnTo>
                    <a:pt x="1697" y="922"/>
                  </a:lnTo>
                  <a:lnTo>
                    <a:pt x="1700" y="916"/>
                  </a:lnTo>
                  <a:lnTo>
                    <a:pt x="1707" y="916"/>
                  </a:lnTo>
                  <a:lnTo>
                    <a:pt x="1713" y="918"/>
                  </a:lnTo>
                  <a:lnTo>
                    <a:pt x="1718" y="919"/>
                  </a:lnTo>
                  <a:lnTo>
                    <a:pt x="1723" y="921"/>
                  </a:lnTo>
                  <a:lnTo>
                    <a:pt x="1729" y="921"/>
                  </a:lnTo>
                  <a:lnTo>
                    <a:pt x="1734" y="921"/>
                  </a:lnTo>
                  <a:lnTo>
                    <a:pt x="1738" y="920"/>
                  </a:lnTo>
                  <a:lnTo>
                    <a:pt x="1741" y="918"/>
                  </a:lnTo>
                  <a:lnTo>
                    <a:pt x="1743" y="913"/>
                  </a:lnTo>
                  <a:lnTo>
                    <a:pt x="1749" y="900"/>
                  </a:lnTo>
                  <a:lnTo>
                    <a:pt x="1757" y="884"/>
                  </a:lnTo>
                  <a:lnTo>
                    <a:pt x="1764" y="867"/>
                  </a:lnTo>
                  <a:lnTo>
                    <a:pt x="1767" y="848"/>
                  </a:lnTo>
                  <a:lnTo>
                    <a:pt x="1767" y="831"/>
                  </a:lnTo>
                  <a:lnTo>
                    <a:pt x="1767" y="816"/>
                  </a:lnTo>
                  <a:lnTo>
                    <a:pt x="1767" y="806"/>
                  </a:lnTo>
                  <a:lnTo>
                    <a:pt x="1767" y="802"/>
                  </a:lnTo>
                  <a:lnTo>
                    <a:pt x="1782" y="775"/>
                  </a:lnTo>
                  <a:lnTo>
                    <a:pt x="1783" y="771"/>
                  </a:lnTo>
                  <a:lnTo>
                    <a:pt x="1786" y="761"/>
                  </a:lnTo>
                  <a:lnTo>
                    <a:pt x="1787" y="746"/>
                  </a:lnTo>
                  <a:lnTo>
                    <a:pt x="1786" y="727"/>
                  </a:lnTo>
                  <a:lnTo>
                    <a:pt x="1786" y="712"/>
                  </a:lnTo>
                  <a:lnTo>
                    <a:pt x="1789" y="702"/>
                  </a:lnTo>
                  <a:lnTo>
                    <a:pt x="1795" y="696"/>
                  </a:lnTo>
                  <a:lnTo>
                    <a:pt x="1803" y="693"/>
                  </a:lnTo>
                  <a:lnTo>
                    <a:pt x="1810" y="689"/>
                  </a:lnTo>
                  <a:lnTo>
                    <a:pt x="1817" y="686"/>
                  </a:lnTo>
                  <a:lnTo>
                    <a:pt x="1821" y="680"/>
                  </a:lnTo>
                  <a:lnTo>
                    <a:pt x="1825" y="671"/>
                  </a:lnTo>
                  <a:lnTo>
                    <a:pt x="1826" y="666"/>
                  </a:lnTo>
                  <a:lnTo>
                    <a:pt x="1828" y="662"/>
                  </a:lnTo>
                  <a:lnTo>
                    <a:pt x="1832" y="658"/>
                  </a:lnTo>
                  <a:lnTo>
                    <a:pt x="1836" y="655"/>
                  </a:lnTo>
                  <a:lnTo>
                    <a:pt x="1842" y="653"/>
                  </a:lnTo>
                  <a:lnTo>
                    <a:pt x="1850" y="650"/>
                  </a:lnTo>
                  <a:lnTo>
                    <a:pt x="1862" y="648"/>
                  </a:lnTo>
                  <a:lnTo>
                    <a:pt x="1874" y="647"/>
                  </a:lnTo>
                  <a:lnTo>
                    <a:pt x="1885" y="632"/>
                  </a:lnTo>
                  <a:lnTo>
                    <a:pt x="1883" y="630"/>
                  </a:lnTo>
                  <a:lnTo>
                    <a:pt x="1882" y="625"/>
                  </a:lnTo>
                  <a:lnTo>
                    <a:pt x="1883" y="619"/>
                  </a:lnTo>
                  <a:lnTo>
                    <a:pt x="1888" y="615"/>
                  </a:lnTo>
                  <a:lnTo>
                    <a:pt x="1895" y="605"/>
                  </a:lnTo>
                  <a:lnTo>
                    <a:pt x="1900" y="590"/>
                  </a:lnTo>
                  <a:lnTo>
                    <a:pt x="1902" y="575"/>
                  </a:lnTo>
                  <a:lnTo>
                    <a:pt x="1903" y="568"/>
                  </a:lnTo>
                  <a:lnTo>
                    <a:pt x="1856" y="553"/>
                  </a:lnTo>
                  <a:close/>
                </a:path>
              </a:pathLst>
            </a:custGeom>
            <a:solidFill>
              <a:srgbClr val="0D8390"/>
            </a:solidFill>
            <a:ln w="6350">
              <a:solidFill>
                <a:srgbClr val="FFFFFF"/>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6" name="TextBox 290"/>
            <p:cNvSpPr txBox="1">
              <a:spLocks noChangeArrowheads="1"/>
            </p:cNvSpPr>
            <p:nvPr/>
          </p:nvSpPr>
          <p:spPr bwMode="auto">
            <a:xfrm>
              <a:off x="7381332" y="2137098"/>
              <a:ext cx="489738" cy="87502"/>
            </a:xfrm>
            <a:prstGeom prst="rect">
              <a:avLst/>
            </a:prstGeom>
            <a:noFill/>
            <a:ln w="9525">
              <a:noFill/>
              <a:miter lim="800000"/>
              <a:headEnd/>
              <a:tailEnd/>
            </a:ln>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white"/>
                  </a:solidFill>
                  <a:effectLst/>
                  <a:uLnTx/>
                  <a:uFillTx/>
                  <a:latin typeface="Calibri"/>
                  <a:ea typeface="+mn-ea"/>
                  <a:cs typeface="+mn-cs"/>
                </a:rPr>
                <a:t>New Delhi</a:t>
              </a:r>
            </a:p>
          </p:txBody>
        </p:sp>
        <p:sp>
          <p:nvSpPr>
            <p:cNvPr id="107" name="Oval 106"/>
            <p:cNvSpPr/>
            <p:nvPr/>
          </p:nvSpPr>
          <p:spPr>
            <a:xfrm>
              <a:off x="8100496" y="2688450"/>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8" name="Oval 107"/>
            <p:cNvSpPr/>
            <p:nvPr/>
          </p:nvSpPr>
          <p:spPr>
            <a:xfrm>
              <a:off x="8404545" y="2812170"/>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9" name="Oval 108"/>
            <p:cNvSpPr/>
            <p:nvPr/>
          </p:nvSpPr>
          <p:spPr>
            <a:xfrm>
              <a:off x="7182299" y="2773389"/>
              <a:ext cx="58967" cy="58967"/>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0" name="Oval 109"/>
            <p:cNvSpPr/>
            <p:nvPr/>
          </p:nvSpPr>
          <p:spPr>
            <a:xfrm>
              <a:off x="7361771" y="3168517"/>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1" name="Oval 110"/>
            <p:cNvSpPr/>
            <p:nvPr/>
          </p:nvSpPr>
          <p:spPr>
            <a:xfrm>
              <a:off x="7249267" y="3386712"/>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2" name="Oval 111"/>
            <p:cNvSpPr/>
            <p:nvPr/>
          </p:nvSpPr>
          <p:spPr>
            <a:xfrm>
              <a:off x="7863982" y="3691185"/>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3" name="Oval 112"/>
            <p:cNvSpPr/>
            <p:nvPr/>
          </p:nvSpPr>
          <p:spPr>
            <a:xfrm>
              <a:off x="7567233" y="3860279"/>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4" name="Oval 113"/>
            <p:cNvSpPr/>
            <p:nvPr/>
          </p:nvSpPr>
          <p:spPr>
            <a:xfrm>
              <a:off x="7462849" y="3909987"/>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5" name="TextBox 290"/>
            <p:cNvSpPr txBox="1">
              <a:spLocks noChangeArrowheads="1"/>
            </p:cNvSpPr>
            <p:nvPr/>
          </p:nvSpPr>
          <p:spPr bwMode="auto">
            <a:xfrm>
              <a:off x="7171273" y="2633422"/>
              <a:ext cx="568677" cy="87502"/>
            </a:xfrm>
            <a:prstGeom prst="rect">
              <a:avLst/>
            </a:prstGeom>
            <a:noFill/>
            <a:ln w="9525">
              <a:noFill/>
              <a:miter lim="800000"/>
              <a:headEnd/>
              <a:tailEnd/>
            </a:ln>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white"/>
                  </a:solidFill>
                  <a:effectLst/>
                  <a:uLnTx/>
                  <a:uFillTx/>
                  <a:latin typeface="Calibri"/>
                  <a:ea typeface="+mn-ea"/>
                  <a:cs typeface="+mn-cs"/>
                </a:rPr>
                <a:t>Ahmedabad</a:t>
              </a:r>
            </a:p>
          </p:txBody>
        </p:sp>
        <p:sp>
          <p:nvSpPr>
            <p:cNvPr id="116" name="TextBox 290"/>
            <p:cNvSpPr txBox="1">
              <a:spLocks noChangeArrowheads="1"/>
            </p:cNvSpPr>
            <p:nvPr/>
          </p:nvSpPr>
          <p:spPr bwMode="auto">
            <a:xfrm>
              <a:off x="6858593" y="3068216"/>
              <a:ext cx="350565" cy="87502"/>
            </a:xfrm>
            <a:prstGeom prst="rect">
              <a:avLst/>
            </a:prstGeom>
            <a:noFill/>
            <a:ln w="9525">
              <a:noFill/>
              <a:miter lim="800000"/>
              <a:headEnd/>
              <a:tailEnd/>
            </a:ln>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Calibri"/>
                  <a:ea typeface="+mn-ea"/>
                  <a:cs typeface="+mn-cs"/>
                </a:rPr>
                <a:t>Mumbai</a:t>
              </a:r>
            </a:p>
          </p:txBody>
        </p:sp>
        <p:sp>
          <p:nvSpPr>
            <p:cNvPr id="117" name="TextBox 290"/>
            <p:cNvSpPr txBox="1">
              <a:spLocks noChangeArrowheads="1"/>
            </p:cNvSpPr>
            <p:nvPr/>
          </p:nvSpPr>
          <p:spPr bwMode="auto">
            <a:xfrm>
              <a:off x="7286709" y="3237008"/>
              <a:ext cx="226739" cy="87502"/>
            </a:xfrm>
            <a:prstGeom prst="rect">
              <a:avLst/>
            </a:prstGeom>
            <a:noFill/>
            <a:ln w="9525">
              <a:noFill/>
              <a:miter lim="800000"/>
              <a:headEnd/>
              <a:tailEnd/>
            </a:ln>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white"/>
                  </a:solidFill>
                  <a:effectLst/>
                  <a:uLnTx/>
                  <a:uFillTx/>
                  <a:latin typeface="Calibri"/>
                  <a:ea typeface="+mn-ea"/>
                  <a:cs typeface="+mn-cs"/>
                </a:rPr>
                <a:t>Pune</a:t>
              </a:r>
            </a:p>
          </p:txBody>
        </p:sp>
        <p:sp>
          <p:nvSpPr>
            <p:cNvPr id="118" name="TextBox 290"/>
            <p:cNvSpPr txBox="1">
              <a:spLocks noChangeArrowheads="1"/>
            </p:cNvSpPr>
            <p:nvPr/>
          </p:nvSpPr>
          <p:spPr bwMode="auto">
            <a:xfrm>
              <a:off x="7363142" y="3359827"/>
              <a:ext cx="226739" cy="87502"/>
            </a:xfrm>
            <a:prstGeom prst="rect">
              <a:avLst/>
            </a:prstGeom>
            <a:noFill/>
            <a:ln w="9525">
              <a:noFill/>
              <a:miter lim="800000"/>
              <a:headEnd/>
              <a:tailEnd/>
            </a:ln>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white"/>
                  </a:solidFill>
                  <a:effectLst/>
                  <a:uLnTx/>
                  <a:uFillTx/>
                  <a:latin typeface="Calibri"/>
                  <a:ea typeface="+mn-ea"/>
                  <a:cs typeface="+mn-cs"/>
                </a:rPr>
                <a:t>Goa</a:t>
              </a:r>
            </a:p>
          </p:txBody>
        </p:sp>
        <p:sp>
          <p:nvSpPr>
            <p:cNvPr id="119" name="TextBox 290"/>
            <p:cNvSpPr txBox="1">
              <a:spLocks noChangeArrowheads="1"/>
            </p:cNvSpPr>
            <p:nvPr/>
          </p:nvSpPr>
          <p:spPr bwMode="auto">
            <a:xfrm>
              <a:off x="7739632" y="3097346"/>
              <a:ext cx="486762" cy="87502"/>
            </a:xfrm>
            <a:prstGeom prst="rect">
              <a:avLst/>
            </a:prstGeom>
            <a:noFill/>
            <a:ln w="9525">
              <a:noFill/>
              <a:miter lim="800000"/>
              <a:headEnd/>
              <a:tailEnd/>
            </a:ln>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white"/>
                  </a:solidFill>
                  <a:effectLst/>
                  <a:uLnTx/>
                  <a:uFillTx/>
                  <a:latin typeface="Calibri"/>
                  <a:ea typeface="+mn-ea"/>
                  <a:cs typeface="+mn-cs"/>
                </a:rPr>
                <a:t>Hyderabad</a:t>
              </a:r>
            </a:p>
          </p:txBody>
        </p:sp>
        <p:sp>
          <p:nvSpPr>
            <p:cNvPr id="120" name="TextBox 290"/>
            <p:cNvSpPr txBox="1">
              <a:spLocks noChangeArrowheads="1"/>
            </p:cNvSpPr>
            <p:nvPr/>
          </p:nvSpPr>
          <p:spPr bwMode="auto">
            <a:xfrm>
              <a:off x="7953973" y="3664936"/>
              <a:ext cx="486762" cy="87502"/>
            </a:xfrm>
            <a:prstGeom prst="rect">
              <a:avLst/>
            </a:prstGeom>
            <a:noFill/>
            <a:ln w="9525">
              <a:noFill/>
              <a:miter lim="800000"/>
              <a:headEnd/>
              <a:tailEnd/>
            </a:ln>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Calibri"/>
                  <a:ea typeface="+mn-ea"/>
                  <a:cs typeface="+mn-cs"/>
                </a:rPr>
                <a:t>Chennai</a:t>
              </a:r>
            </a:p>
          </p:txBody>
        </p:sp>
        <p:sp>
          <p:nvSpPr>
            <p:cNvPr id="121" name="TextBox 290"/>
            <p:cNvSpPr txBox="1">
              <a:spLocks noChangeArrowheads="1"/>
            </p:cNvSpPr>
            <p:nvPr/>
          </p:nvSpPr>
          <p:spPr bwMode="auto">
            <a:xfrm>
              <a:off x="7671617" y="3833421"/>
              <a:ext cx="486762" cy="87502"/>
            </a:xfrm>
            <a:prstGeom prst="rect">
              <a:avLst/>
            </a:prstGeom>
            <a:noFill/>
            <a:ln w="9525">
              <a:noFill/>
              <a:miter lim="800000"/>
              <a:headEnd/>
              <a:tailEnd/>
            </a:ln>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Calibri"/>
                  <a:ea typeface="+mn-ea"/>
                  <a:cs typeface="+mn-cs"/>
                </a:rPr>
                <a:t>Coimbatore</a:t>
              </a:r>
            </a:p>
          </p:txBody>
        </p:sp>
        <p:sp>
          <p:nvSpPr>
            <p:cNvPr id="122" name="TextBox 290"/>
            <p:cNvSpPr txBox="1">
              <a:spLocks noChangeArrowheads="1"/>
            </p:cNvSpPr>
            <p:nvPr/>
          </p:nvSpPr>
          <p:spPr bwMode="auto">
            <a:xfrm>
              <a:off x="7171272" y="3900524"/>
              <a:ext cx="280987" cy="87502"/>
            </a:xfrm>
            <a:prstGeom prst="rect">
              <a:avLst/>
            </a:prstGeom>
            <a:noFill/>
            <a:ln w="9525">
              <a:noFill/>
              <a:miter lim="800000"/>
              <a:headEnd/>
              <a:tailEnd/>
            </a:ln>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Calibri"/>
                  <a:ea typeface="+mn-ea"/>
                  <a:cs typeface="+mn-cs"/>
                </a:rPr>
                <a:t>Kochi</a:t>
              </a:r>
            </a:p>
          </p:txBody>
        </p:sp>
        <p:sp>
          <p:nvSpPr>
            <p:cNvPr id="123" name="TextBox 290"/>
            <p:cNvSpPr txBox="1">
              <a:spLocks noChangeArrowheads="1"/>
            </p:cNvSpPr>
            <p:nvPr/>
          </p:nvSpPr>
          <p:spPr bwMode="auto">
            <a:xfrm>
              <a:off x="7379634" y="3474181"/>
              <a:ext cx="486762" cy="87502"/>
            </a:xfrm>
            <a:prstGeom prst="rect">
              <a:avLst/>
            </a:prstGeom>
            <a:noFill/>
            <a:ln w="9525">
              <a:noFill/>
              <a:miter lim="800000"/>
              <a:headEnd/>
              <a:tailEnd/>
            </a:ln>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white"/>
                  </a:solidFill>
                  <a:effectLst/>
                  <a:uLnTx/>
                  <a:uFillTx/>
                  <a:latin typeface="Calibri"/>
                  <a:ea typeface="+mn-ea"/>
                  <a:cs typeface="+mn-cs"/>
                </a:rPr>
                <a:t>Bengaluru</a:t>
              </a:r>
            </a:p>
          </p:txBody>
        </p:sp>
        <p:sp>
          <p:nvSpPr>
            <p:cNvPr id="124" name="TextBox 123"/>
            <p:cNvSpPr txBox="1">
              <a:spLocks noChangeArrowheads="1"/>
            </p:cNvSpPr>
            <p:nvPr/>
          </p:nvSpPr>
          <p:spPr bwMode="auto">
            <a:xfrm>
              <a:off x="8025131" y="2568867"/>
              <a:ext cx="611014" cy="87502"/>
            </a:xfrm>
            <a:prstGeom prst="rect">
              <a:avLst/>
            </a:prstGeom>
            <a:noFill/>
            <a:ln w="9525">
              <a:noFill/>
              <a:miter lim="800000"/>
              <a:headEnd/>
              <a:tailEnd/>
            </a:ln>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white"/>
                  </a:solidFill>
                  <a:effectLst/>
                  <a:uLnTx/>
                  <a:uFillTx/>
                  <a:latin typeface="Calibri"/>
                  <a:ea typeface="+mn-ea"/>
                  <a:cs typeface="+mn-cs"/>
                </a:rPr>
                <a:t>Jamshedpur</a:t>
              </a:r>
            </a:p>
          </p:txBody>
        </p:sp>
        <p:sp>
          <p:nvSpPr>
            <p:cNvPr id="125" name="TextBox 290"/>
            <p:cNvSpPr txBox="1">
              <a:spLocks noChangeArrowheads="1"/>
            </p:cNvSpPr>
            <p:nvPr/>
          </p:nvSpPr>
          <p:spPr bwMode="auto">
            <a:xfrm>
              <a:off x="8062848" y="2848746"/>
              <a:ext cx="341697" cy="87502"/>
            </a:xfrm>
            <a:prstGeom prst="rect">
              <a:avLst/>
            </a:prstGeom>
            <a:noFill/>
            <a:ln w="9525">
              <a:noFill/>
              <a:miter lim="800000"/>
              <a:headEnd/>
              <a:tailEnd/>
            </a:ln>
          </p:spPr>
          <p:txBody>
            <a:bodyPr wrap="squar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white"/>
                  </a:solidFill>
                  <a:effectLst/>
                  <a:uLnTx/>
                  <a:uFillTx/>
                  <a:latin typeface="Calibri"/>
                  <a:ea typeface="+mn-ea"/>
                  <a:cs typeface="+mn-cs"/>
                </a:rPr>
                <a:t>Kolkata</a:t>
              </a:r>
            </a:p>
          </p:txBody>
        </p:sp>
        <p:sp>
          <p:nvSpPr>
            <p:cNvPr id="126" name="Oval 125"/>
            <p:cNvSpPr/>
            <p:nvPr/>
          </p:nvSpPr>
          <p:spPr>
            <a:xfrm>
              <a:off x="7526656" y="2282767"/>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7" name="Oval 126"/>
            <p:cNvSpPr/>
            <p:nvPr/>
          </p:nvSpPr>
          <p:spPr>
            <a:xfrm>
              <a:off x="7229554" y="3078062"/>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8" name="Oval 127"/>
            <p:cNvSpPr/>
            <p:nvPr/>
          </p:nvSpPr>
          <p:spPr>
            <a:xfrm>
              <a:off x="7750260" y="3213058"/>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9" name="Oval 128"/>
            <p:cNvSpPr/>
            <p:nvPr/>
          </p:nvSpPr>
          <p:spPr>
            <a:xfrm>
              <a:off x="7560397" y="3636992"/>
              <a:ext cx="58968" cy="58968"/>
            </a:xfrm>
            <a:prstGeom prst="ellipse">
              <a:avLst/>
            </a:prstGeom>
            <a:solidFill>
              <a:schemeClr val="bg1"/>
            </a:solidFill>
            <a:ln w="9525">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aphicFrame>
        <p:nvGraphicFramePr>
          <p:cNvPr id="130" name="Table 129"/>
          <p:cNvGraphicFramePr>
            <a:graphicFrameLocks noGrp="1"/>
          </p:cNvGraphicFramePr>
          <p:nvPr/>
        </p:nvGraphicFramePr>
        <p:xfrm>
          <a:off x="691701" y="4905437"/>
          <a:ext cx="2153468" cy="1366208"/>
        </p:xfrm>
        <a:graphic>
          <a:graphicData uri="http://schemas.openxmlformats.org/drawingml/2006/table">
            <a:tbl>
              <a:tblPr firstRow="1" bandRow="1">
                <a:tableStyleId>{5C22544A-7EE6-4342-B048-85BDC9FD1C3A}</a:tableStyleId>
              </a:tblPr>
              <a:tblGrid>
                <a:gridCol w="2153468">
                  <a:extLst>
                    <a:ext uri="{9D8B030D-6E8A-4147-A177-3AD203B41FA5}">
                      <a16:colId xmlns:a16="http://schemas.microsoft.com/office/drawing/2014/main" val="20000"/>
                    </a:ext>
                  </a:extLst>
                </a:gridCol>
              </a:tblGrid>
              <a:tr h="215121">
                <a:tc>
                  <a:txBody>
                    <a:bodyPr/>
                    <a:lstStyle/>
                    <a:p>
                      <a:r>
                        <a:rPr lang="en-IN" sz="900" dirty="0">
                          <a:solidFill>
                            <a:schemeClr val="accent5"/>
                          </a:solidFill>
                        </a:rPr>
                        <a:t>Services in India</a:t>
                      </a:r>
                    </a:p>
                  </a:txBody>
                  <a:tcPr marL="43024" marR="43024" marT="43024" marB="43024" anchor="ctr">
                    <a:lnL w="12700" cmpd="sng">
                      <a:noFill/>
                    </a:lnL>
                    <a:lnR w="12700" cmpd="sng">
                      <a:noFill/>
                    </a:lnR>
                    <a:lnT w="38100" cap="flat" cmpd="sng" algn="ctr">
                      <a:solidFill>
                        <a:schemeClr val="accent5"/>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15121">
                <a:tc>
                  <a:txBody>
                    <a:bodyPr/>
                    <a:lstStyle/>
                    <a:p>
                      <a:r>
                        <a:rPr lang="en-IN" sz="900" dirty="0"/>
                        <a:t>Assurance </a:t>
                      </a:r>
                    </a:p>
                  </a:txBody>
                  <a:tcPr marL="45720" marR="4572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5121">
                <a:tc>
                  <a:txBody>
                    <a:bodyPr/>
                    <a:lstStyle/>
                    <a:p>
                      <a:r>
                        <a:rPr lang="en-IN" sz="900" dirty="0"/>
                        <a:t>Tax</a:t>
                      </a:r>
                    </a:p>
                  </a:txBody>
                  <a:tcPr marL="45720" marR="4572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5121">
                <a:tc>
                  <a:txBody>
                    <a:bodyPr/>
                    <a:lstStyle/>
                    <a:p>
                      <a:r>
                        <a:rPr lang="en-IN" sz="900" dirty="0"/>
                        <a:t>Financial Advisory </a:t>
                      </a:r>
                    </a:p>
                  </a:txBody>
                  <a:tcPr marL="45720" marR="4572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5121">
                <a:tc>
                  <a:txBody>
                    <a:bodyPr/>
                    <a:lstStyle/>
                    <a:p>
                      <a:r>
                        <a:rPr lang="en-IN" sz="900" dirty="0"/>
                        <a:t>Risk Advisory</a:t>
                      </a:r>
                    </a:p>
                  </a:txBody>
                  <a:tcPr marL="45720" marR="4572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5121">
                <a:tc>
                  <a:txBody>
                    <a:bodyPr/>
                    <a:lstStyle/>
                    <a:p>
                      <a:r>
                        <a:rPr lang="en-IN" sz="900" dirty="0"/>
                        <a:t>Consulting</a:t>
                      </a:r>
                    </a:p>
                  </a:txBody>
                  <a:tcPr marL="45720" marR="45720" anchor="ctr">
                    <a:lnL w="12700" cmpd="sng">
                      <a:noFill/>
                    </a:lnL>
                    <a:lnR w="12700" cmpd="sng">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grpSp>
        <p:nvGrpSpPr>
          <p:cNvPr id="131" name="Group 130"/>
          <p:cNvGrpSpPr/>
          <p:nvPr/>
        </p:nvGrpSpPr>
        <p:grpSpPr>
          <a:xfrm>
            <a:off x="4136520" y="4714014"/>
            <a:ext cx="2208920" cy="1436697"/>
            <a:chOff x="3318448" y="5198237"/>
            <a:chExt cx="2280053" cy="1482963"/>
          </a:xfrm>
          <a:solidFill>
            <a:schemeClr val="accent6">
              <a:lumMod val="60000"/>
              <a:lumOff val="40000"/>
            </a:schemeClr>
          </a:solidFill>
        </p:grpSpPr>
        <p:grpSp>
          <p:nvGrpSpPr>
            <p:cNvPr id="132" name="Group 131"/>
            <p:cNvGrpSpPr/>
            <p:nvPr/>
          </p:nvGrpSpPr>
          <p:grpSpPr>
            <a:xfrm>
              <a:off x="3318448" y="5198237"/>
              <a:ext cx="2280053" cy="978028"/>
              <a:chOff x="3318448" y="5198237"/>
              <a:chExt cx="2280053" cy="978028"/>
            </a:xfrm>
            <a:grpFill/>
          </p:grpSpPr>
          <p:grpSp>
            <p:nvGrpSpPr>
              <p:cNvPr id="154" name="Group 153"/>
              <p:cNvGrpSpPr/>
              <p:nvPr/>
            </p:nvGrpSpPr>
            <p:grpSpPr>
              <a:xfrm>
                <a:off x="3318448" y="5198237"/>
                <a:ext cx="2280053" cy="473489"/>
                <a:chOff x="3318448" y="5198237"/>
                <a:chExt cx="2280053" cy="473489"/>
              </a:xfrm>
              <a:grpFill/>
            </p:grpSpPr>
            <p:grpSp>
              <p:nvGrpSpPr>
                <p:cNvPr id="176" name="Group 175"/>
                <p:cNvGrpSpPr/>
                <p:nvPr/>
              </p:nvGrpSpPr>
              <p:grpSpPr>
                <a:xfrm>
                  <a:off x="3318448" y="5198237"/>
                  <a:ext cx="2280053" cy="219456"/>
                  <a:chOff x="3318448" y="5198237"/>
                  <a:chExt cx="2280053" cy="219456"/>
                </a:xfrm>
                <a:grpFill/>
              </p:grpSpPr>
              <p:sp>
                <p:nvSpPr>
                  <p:cNvPr id="187" name="Freeform 988"/>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8" name="Freeform 988"/>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9" name="Freeform 988"/>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90" name="Freeform 988"/>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91" name="Freeform 988"/>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92" name="Freeform 988"/>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93" name="Freeform 988"/>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94" name="Freeform 988"/>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95" name="Freeform 988"/>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177" name="Group 176"/>
                <p:cNvGrpSpPr/>
                <p:nvPr/>
              </p:nvGrpSpPr>
              <p:grpSpPr>
                <a:xfrm>
                  <a:off x="3318448" y="5452270"/>
                  <a:ext cx="2280053" cy="219456"/>
                  <a:chOff x="3318448" y="5198237"/>
                  <a:chExt cx="2280053" cy="219456"/>
                </a:xfrm>
                <a:grpFill/>
              </p:grpSpPr>
              <p:sp>
                <p:nvSpPr>
                  <p:cNvPr id="178" name="Freeform 988"/>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79" name="Freeform 988"/>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0" name="Freeform 988"/>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1" name="Freeform 988"/>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2" name="Freeform 988"/>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3" name="Freeform 988"/>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4" name="Freeform 988"/>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5" name="Freeform 988"/>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6" name="Freeform 988"/>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grpSp>
            <p:nvGrpSpPr>
              <p:cNvPr id="155" name="Group 154"/>
              <p:cNvGrpSpPr/>
              <p:nvPr/>
            </p:nvGrpSpPr>
            <p:grpSpPr>
              <a:xfrm>
                <a:off x="3318448" y="5702776"/>
                <a:ext cx="2280053" cy="473489"/>
                <a:chOff x="3318448" y="5198237"/>
                <a:chExt cx="2280053" cy="473489"/>
              </a:xfrm>
              <a:grpFill/>
            </p:grpSpPr>
            <p:grpSp>
              <p:nvGrpSpPr>
                <p:cNvPr id="156" name="Group 155"/>
                <p:cNvGrpSpPr/>
                <p:nvPr/>
              </p:nvGrpSpPr>
              <p:grpSpPr>
                <a:xfrm>
                  <a:off x="3318448" y="5198237"/>
                  <a:ext cx="2280053" cy="219456"/>
                  <a:chOff x="3318448" y="5198237"/>
                  <a:chExt cx="2280053" cy="219456"/>
                </a:xfrm>
                <a:grpFill/>
              </p:grpSpPr>
              <p:sp>
                <p:nvSpPr>
                  <p:cNvPr id="167" name="Freeform 988"/>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8" name="Freeform 988"/>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9" name="Freeform 988"/>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70" name="Freeform 988"/>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71" name="Freeform 988"/>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72" name="Freeform 988"/>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73" name="Freeform 988"/>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74" name="Freeform 988"/>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75" name="Freeform 988"/>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157" name="Group 156"/>
                <p:cNvGrpSpPr/>
                <p:nvPr/>
              </p:nvGrpSpPr>
              <p:grpSpPr>
                <a:xfrm>
                  <a:off x="3318448" y="5452270"/>
                  <a:ext cx="2280053" cy="219456"/>
                  <a:chOff x="3318448" y="5198237"/>
                  <a:chExt cx="2280053" cy="219456"/>
                </a:xfrm>
                <a:grpFill/>
              </p:grpSpPr>
              <p:sp>
                <p:nvSpPr>
                  <p:cNvPr id="158" name="Freeform 988"/>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9" name="Freeform 988"/>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0" name="Freeform 988"/>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1" name="Freeform 988"/>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2" name="Freeform 988"/>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3" name="Freeform 988"/>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4" name="Freeform 988"/>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5" name="Freeform 988"/>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6" name="Freeform 988"/>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grpSp>
        <p:grpSp>
          <p:nvGrpSpPr>
            <p:cNvPr id="133" name="Group 132"/>
            <p:cNvGrpSpPr/>
            <p:nvPr/>
          </p:nvGrpSpPr>
          <p:grpSpPr>
            <a:xfrm>
              <a:off x="3318448" y="6207711"/>
              <a:ext cx="2280053" cy="473489"/>
              <a:chOff x="3318448" y="5198237"/>
              <a:chExt cx="2280053" cy="473489"/>
            </a:xfrm>
            <a:grpFill/>
          </p:grpSpPr>
          <p:grpSp>
            <p:nvGrpSpPr>
              <p:cNvPr id="134" name="Group 133"/>
              <p:cNvGrpSpPr/>
              <p:nvPr/>
            </p:nvGrpSpPr>
            <p:grpSpPr>
              <a:xfrm>
                <a:off x="3318448" y="5198237"/>
                <a:ext cx="2280053" cy="219456"/>
                <a:chOff x="3318448" y="5198237"/>
                <a:chExt cx="2280053" cy="219456"/>
              </a:xfrm>
              <a:grpFill/>
            </p:grpSpPr>
            <p:sp>
              <p:nvSpPr>
                <p:cNvPr id="145" name="Freeform 988"/>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46" name="Freeform 988"/>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47" name="Freeform 988"/>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48" name="Freeform 988"/>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49" name="Freeform 988"/>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0" name="Freeform 988"/>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1" name="Freeform 988"/>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2" name="Freeform 988"/>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3" name="Freeform 988"/>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135" name="Group 134"/>
              <p:cNvGrpSpPr/>
              <p:nvPr/>
            </p:nvGrpSpPr>
            <p:grpSpPr>
              <a:xfrm>
                <a:off x="3318448" y="5452270"/>
                <a:ext cx="2280053" cy="219456"/>
                <a:chOff x="3318448" y="5198237"/>
                <a:chExt cx="2280053" cy="219456"/>
              </a:xfrm>
              <a:grpFill/>
            </p:grpSpPr>
            <p:sp>
              <p:nvSpPr>
                <p:cNvPr id="136" name="Freeform 988"/>
                <p:cNvSpPr>
                  <a:spLocks noChangeAspect="1" noEditPoints="1"/>
                </p:cNvSpPr>
                <p:nvPr/>
              </p:nvSpPr>
              <p:spPr bwMode="auto">
                <a:xfrm>
                  <a:off x="3318448"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7" name="Freeform 988"/>
                <p:cNvSpPr>
                  <a:spLocks noChangeAspect="1" noEditPoints="1"/>
                </p:cNvSpPr>
                <p:nvPr/>
              </p:nvSpPr>
              <p:spPr bwMode="auto">
                <a:xfrm>
                  <a:off x="3580080"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8" name="Freeform 988"/>
                <p:cNvSpPr>
                  <a:spLocks noChangeAspect="1" noEditPoints="1"/>
                </p:cNvSpPr>
                <p:nvPr/>
              </p:nvSpPr>
              <p:spPr bwMode="auto">
                <a:xfrm>
                  <a:off x="383217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9" name="Freeform 988"/>
                <p:cNvSpPr>
                  <a:spLocks noChangeAspect="1" noEditPoints="1"/>
                </p:cNvSpPr>
                <p:nvPr/>
              </p:nvSpPr>
              <p:spPr bwMode="auto">
                <a:xfrm>
                  <a:off x="4093807"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40" name="Freeform 988"/>
                <p:cNvSpPr>
                  <a:spLocks noChangeAspect="1" noEditPoints="1"/>
                </p:cNvSpPr>
                <p:nvPr/>
              </p:nvSpPr>
              <p:spPr bwMode="auto">
                <a:xfrm>
                  <a:off x="4355744"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41" name="Freeform 988"/>
                <p:cNvSpPr>
                  <a:spLocks noChangeAspect="1" noEditPoints="1"/>
                </p:cNvSpPr>
                <p:nvPr/>
              </p:nvSpPr>
              <p:spPr bwMode="auto">
                <a:xfrm>
                  <a:off x="4617376"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42" name="Freeform 988"/>
                <p:cNvSpPr>
                  <a:spLocks noChangeAspect="1" noEditPoints="1"/>
                </p:cNvSpPr>
                <p:nvPr/>
              </p:nvSpPr>
              <p:spPr bwMode="auto">
                <a:xfrm>
                  <a:off x="4869471"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43" name="Freeform 988"/>
                <p:cNvSpPr>
                  <a:spLocks noChangeAspect="1" noEditPoints="1"/>
                </p:cNvSpPr>
                <p:nvPr/>
              </p:nvSpPr>
              <p:spPr bwMode="auto">
                <a:xfrm>
                  <a:off x="5131103"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44" name="Freeform 988"/>
                <p:cNvSpPr>
                  <a:spLocks noChangeAspect="1" noEditPoints="1"/>
                </p:cNvSpPr>
                <p:nvPr/>
              </p:nvSpPr>
              <p:spPr bwMode="auto">
                <a:xfrm>
                  <a:off x="5379045" y="5198237"/>
                  <a:ext cx="219456" cy="219456"/>
                </a:xfrm>
                <a:custGeom>
                  <a:avLst/>
                  <a:gdLst>
                    <a:gd name="T0" fmla="*/ 256 w 512"/>
                    <a:gd name="T1" fmla="*/ 117 h 512"/>
                    <a:gd name="T2" fmla="*/ 117 w 512"/>
                    <a:gd name="T3" fmla="*/ 256 h 512"/>
                    <a:gd name="T4" fmla="*/ 256 w 512"/>
                    <a:gd name="T5" fmla="*/ 394 h 512"/>
                    <a:gd name="T6" fmla="*/ 394 w 512"/>
                    <a:gd name="T7" fmla="*/ 256 h 512"/>
                    <a:gd name="T8" fmla="*/ 256 w 512"/>
                    <a:gd name="T9" fmla="*/ 117 h 512"/>
                    <a:gd name="T10" fmla="*/ 245 w 512"/>
                    <a:gd name="T11" fmla="*/ 149 h 512"/>
                    <a:gd name="T12" fmla="*/ 256 w 512"/>
                    <a:gd name="T13" fmla="*/ 138 h 512"/>
                    <a:gd name="T14" fmla="*/ 266 w 512"/>
                    <a:gd name="T15" fmla="*/ 149 h 512"/>
                    <a:gd name="T16" fmla="*/ 266 w 512"/>
                    <a:gd name="T17" fmla="*/ 160 h 512"/>
                    <a:gd name="T18" fmla="*/ 256 w 512"/>
                    <a:gd name="T19" fmla="*/ 170 h 512"/>
                    <a:gd name="T20" fmla="*/ 245 w 512"/>
                    <a:gd name="T21" fmla="*/ 160 h 512"/>
                    <a:gd name="T22" fmla="*/ 245 w 512"/>
                    <a:gd name="T23" fmla="*/ 149 h 512"/>
                    <a:gd name="T24" fmla="*/ 160 w 512"/>
                    <a:gd name="T25" fmla="*/ 266 h 512"/>
                    <a:gd name="T26" fmla="*/ 149 w 512"/>
                    <a:gd name="T27" fmla="*/ 266 h 512"/>
                    <a:gd name="T28" fmla="*/ 138 w 512"/>
                    <a:gd name="T29" fmla="*/ 256 h 512"/>
                    <a:gd name="T30" fmla="*/ 149 w 512"/>
                    <a:gd name="T31" fmla="*/ 245 h 512"/>
                    <a:gd name="T32" fmla="*/ 160 w 512"/>
                    <a:gd name="T33" fmla="*/ 245 h 512"/>
                    <a:gd name="T34" fmla="*/ 170 w 512"/>
                    <a:gd name="T35" fmla="*/ 256 h 512"/>
                    <a:gd name="T36" fmla="*/ 160 w 512"/>
                    <a:gd name="T37" fmla="*/ 266 h 512"/>
                    <a:gd name="T38" fmla="*/ 266 w 512"/>
                    <a:gd name="T39" fmla="*/ 362 h 512"/>
                    <a:gd name="T40" fmla="*/ 256 w 512"/>
                    <a:gd name="T41" fmla="*/ 373 h 512"/>
                    <a:gd name="T42" fmla="*/ 245 w 512"/>
                    <a:gd name="T43" fmla="*/ 362 h 512"/>
                    <a:gd name="T44" fmla="*/ 245 w 512"/>
                    <a:gd name="T45" fmla="*/ 352 h 512"/>
                    <a:gd name="T46" fmla="*/ 256 w 512"/>
                    <a:gd name="T47" fmla="*/ 341 h 512"/>
                    <a:gd name="T48" fmla="*/ 266 w 512"/>
                    <a:gd name="T49" fmla="*/ 352 h 512"/>
                    <a:gd name="T50" fmla="*/ 266 w 512"/>
                    <a:gd name="T51" fmla="*/ 362 h 512"/>
                    <a:gd name="T52" fmla="*/ 306 w 512"/>
                    <a:gd name="T53" fmla="*/ 231 h 512"/>
                    <a:gd name="T54" fmla="*/ 263 w 512"/>
                    <a:gd name="T55" fmla="*/ 274 h 512"/>
                    <a:gd name="T56" fmla="*/ 256 w 512"/>
                    <a:gd name="T57" fmla="*/ 277 h 512"/>
                    <a:gd name="T58" fmla="*/ 248 w 512"/>
                    <a:gd name="T59" fmla="*/ 274 h 512"/>
                    <a:gd name="T60" fmla="*/ 173 w 512"/>
                    <a:gd name="T61" fmla="*/ 199 h 512"/>
                    <a:gd name="T62" fmla="*/ 173 w 512"/>
                    <a:gd name="T63" fmla="*/ 184 h 512"/>
                    <a:gd name="T64" fmla="*/ 189 w 512"/>
                    <a:gd name="T65" fmla="*/ 184 h 512"/>
                    <a:gd name="T66" fmla="*/ 256 w 512"/>
                    <a:gd name="T67" fmla="*/ 251 h 512"/>
                    <a:gd name="T68" fmla="*/ 291 w 512"/>
                    <a:gd name="T69" fmla="*/ 216 h 512"/>
                    <a:gd name="T70" fmla="*/ 306 w 512"/>
                    <a:gd name="T71" fmla="*/ 216 h 512"/>
                    <a:gd name="T72" fmla="*/ 306 w 512"/>
                    <a:gd name="T73" fmla="*/ 231 h 512"/>
                    <a:gd name="T74" fmla="*/ 373 w 512"/>
                    <a:gd name="T75" fmla="*/ 256 h 512"/>
                    <a:gd name="T76" fmla="*/ 362 w 512"/>
                    <a:gd name="T77" fmla="*/ 266 h 512"/>
                    <a:gd name="T78" fmla="*/ 352 w 512"/>
                    <a:gd name="T79" fmla="*/ 266 h 512"/>
                    <a:gd name="T80" fmla="*/ 341 w 512"/>
                    <a:gd name="T81" fmla="*/ 256 h 512"/>
                    <a:gd name="T82" fmla="*/ 352 w 512"/>
                    <a:gd name="T83" fmla="*/ 245 h 512"/>
                    <a:gd name="T84" fmla="*/ 362 w 512"/>
                    <a:gd name="T85" fmla="*/ 245 h 512"/>
                    <a:gd name="T86" fmla="*/ 373 w 512"/>
                    <a:gd name="T87" fmla="*/ 256 h 512"/>
                    <a:gd name="T88" fmla="*/ 256 w 512"/>
                    <a:gd name="T89" fmla="*/ 0 h 512"/>
                    <a:gd name="T90" fmla="*/ 0 w 512"/>
                    <a:gd name="T91" fmla="*/ 256 h 512"/>
                    <a:gd name="T92" fmla="*/ 256 w 512"/>
                    <a:gd name="T93" fmla="*/ 512 h 512"/>
                    <a:gd name="T94" fmla="*/ 512 w 512"/>
                    <a:gd name="T95" fmla="*/ 256 h 512"/>
                    <a:gd name="T96" fmla="*/ 256 w 512"/>
                    <a:gd name="T97" fmla="*/ 0 h 512"/>
                    <a:gd name="T98" fmla="*/ 256 w 512"/>
                    <a:gd name="T99" fmla="*/ 416 h 512"/>
                    <a:gd name="T100" fmla="*/ 96 w 512"/>
                    <a:gd name="T101" fmla="*/ 256 h 512"/>
                    <a:gd name="T102" fmla="*/ 256 w 512"/>
                    <a:gd name="T103" fmla="*/ 96 h 512"/>
                    <a:gd name="T104" fmla="*/ 416 w 512"/>
                    <a:gd name="T105" fmla="*/ 256 h 512"/>
                    <a:gd name="T106" fmla="*/ 256 w 512"/>
                    <a:gd name="T107"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117"/>
                      </a:moveTo>
                      <a:cubicBezTo>
                        <a:pt x="179" y="117"/>
                        <a:pt x="117" y="179"/>
                        <a:pt x="117" y="256"/>
                      </a:cubicBezTo>
                      <a:cubicBezTo>
                        <a:pt x="117" y="332"/>
                        <a:pt x="179" y="394"/>
                        <a:pt x="256" y="394"/>
                      </a:cubicBezTo>
                      <a:cubicBezTo>
                        <a:pt x="332" y="394"/>
                        <a:pt x="394" y="332"/>
                        <a:pt x="394" y="256"/>
                      </a:cubicBezTo>
                      <a:cubicBezTo>
                        <a:pt x="394" y="179"/>
                        <a:pt x="332" y="117"/>
                        <a:pt x="256" y="117"/>
                      </a:cubicBezTo>
                      <a:close/>
                      <a:moveTo>
                        <a:pt x="245" y="149"/>
                      </a:moveTo>
                      <a:cubicBezTo>
                        <a:pt x="245" y="143"/>
                        <a:pt x="250" y="138"/>
                        <a:pt x="256" y="138"/>
                      </a:cubicBezTo>
                      <a:cubicBezTo>
                        <a:pt x="262" y="138"/>
                        <a:pt x="266" y="143"/>
                        <a:pt x="266" y="149"/>
                      </a:cubicBezTo>
                      <a:cubicBezTo>
                        <a:pt x="266" y="160"/>
                        <a:pt x="266" y="160"/>
                        <a:pt x="266" y="160"/>
                      </a:cubicBezTo>
                      <a:cubicBezTo>
                        <a:pt x="266" y="166"/>
                        <a:pt x="262" y="170"/>
                        <a:pt x="256" y="170"/>
                      </a:cubicBezTo>
                      <a:cubicBezTo>
                        <a:pt x="250" y="170"/>
                        <a:pt x="245" y="166"/>
                        <a:pt x="245" y="160"/>
                      </a:cubicBezTo>
                      <a:lnTo>
                        <a:pt x="245" y="149"/>
                      </a:lnTo>
                      <a:close/>
                      <a:moveTo>
                        <a:pt x="160" y="266"/>
                      </a:moveTo>
                      <a:cubicBezTo>
                        <a:pt x="149" y="266"/>
                        <a:pt x="149" y="266"/>
                        <a:pt x="149" y="266"/>
                      </a:cubicBezTo>
                      <a:cubicBezTo>
                        <a:pt x="143" y="266"/>
                        <a:pt x="138" y="262"/>
                        <a:pt x="138" y="256"/>
                      </a:cubicBezTo>
                      <a:cubicBezTo>
                        <a:pt x="138" y="250"/>
                        <a:pt x="143" y="245"/>
                        <a:pt x="149" y="245"/>
                      </a:cubicBezTo>
                      <a:cubicBezTo>
                        <a:pt x="160" y="245"/>
                        <a:pt x="160" y="245"/>
                        <a:pt x="160" y="245"/>
                      </a:cubicBezTo>
                      <a:cubicBezTo>
                        <a:pt x="166" y="245"/>
                        <a:pt x="170" y="250"/>
                        <a:pt x="170" y="256"/>
                      </a:cubicBezTo>
                      <a:cubicBezTo>
                        <a:pt x="170" y="262"/>
                        <a:pt x="166" y="266"/>
                        <a:pt x="160" y="266"/>
                      </a:cubicBezTo>
                      <a:close/>
                      <a:moveTo>
                        <a:pt x="266" y="362"/>
                      </a:moveTo>
                      <a:cubicBezTo>
                        <a:pt x="266" y="368"/>
                        <a:pt x="262" y="373"/>
                        <a:pt x="256" y="373"/>
                      </a:cubicBezTo>
                      <a:cubicBezTo>
                        <a:pt x="250" y="373"/>
                        <a:pt x="245" y="368"/>
                        <a:pt x="245" y="362"/>
                      </a:cubicBezTo>
                      <a:cubicBezTo>
                        <a:pt x="245" y="352"/>
                        <a:pt x="245" y="352"/>
                        <a:pt x="245" y="352"/>
                      </a:cubicBezTo>
                      <a:cubicBezTo>
                        <a:pt x="245" y="346"/>
                        <a:pt x="250" y="341"/>
                        <a:pt x="256" y="341"/>
                      </a:cubicBezTo>
                      <a:cubicBezTo>
                        <a:pt x="262" y="341"/>
                        <a:pt x="266" y="346"/>
                        <a:pt x="266" y="352"/>
                      </a:cubicBezTo>
                      <a:lnTo>
                        <a:pt x="266" y="362"/>
                      </a:lnTo>
                      <a:close/>
                      <a:moveTo>
                        <a:pt x="306" y="231"/>
                      </a:moveTo>
                      <a:cubicBezTo>
                        <a:pt x="263" y="274"/>
                        <a:pt x="263" y="274"/>
                        <a:pt x="263" y="274"/>
                      </a:cubicBezTo>
                      <a:cubicBezTo>
                        <a:pt x="261" y="276"/>
                        <a:pt x="258" y="277"/>
                        <a:pt x="256" y="277"/>
                      </a:cubicBezTo>
                      <a:cubicBezTo>
                        <a:pt x="253" y="277"/>
                        <a:pt x="250" y="276"/>
                        <a:pt x="248" y="274"/>
                      </a:cubicBezTo>
                      <a:cubicBezTo>
                        <a:pt x="173" y="199"/>
                        <a:pt x="173" y="199"/>
                        <a:pt x="173" y="199"/>
                      </a:cubicBezTo>
                      <a:cubicBezTo>
                        <a:pt x="169" y="195"/>
                        <a:pt x="169" y="188"/>
                        <a:pt x="173" y="184"/>
                      </a:cubicBezTo>
                      <a:cubicBezTo>
                        <a:pt x="178" y="180"/>
                        <a:pt x="184" y="180"/>
                        <a:pt x="189" y="184"/>
                      </a:cubicBezTo>
                      <a:cubicBezTo>
                        <a:pt x="256" y="251"/>
                        <a:pt x="256" y="251"/>
                        <a:pt x="256" y="251"/>
                      </a:cubicBezTo>
                      <a:cubicBezTo>
                        <a:pt x="291" y="216"/>
                        <a:pt x="291" y="216"/>
                        <a:pt x="291" y="216"/>
                      </a:cubicBezTo>
                      <a:cubicBezTo>
                        <a:pt x="295" y="212"/>
                        <a:pt x="302" y="212"/>
                        <a:pt x="306" y="216"/>
                      </a:cubicBezTo>
                      <a:cubicBezTo>
                        <a:pt x="310" y="220"/>
                        <a:pt x="310" y="227"/>
                        <a:pt x="306" y="231"/>
                      </a:cubicBezTo>
                      <a:close/>
                      <a:moveTo>
                        <a:pt x="373" y="256"/>
                      </a:moveTo>
                      <a:cubicBezTo>
                        <a:pt x="373" y="262"/>
                        <a:pt x="368" y="266"/>
                        <a:pt x="362" y="266"/>
                      </a:cubicBezTo>
                      <a:cubicBezTo>
                        <a:pt x="352" y="266"/>
                        <a:pt x="352" y="266"/>
                        <a:pt x="352" y="266"/>
                      </a:cubicBezTo>
                      <a:cubicBezTo>
                        <a:pt x="346" y="266"/>
                        <a:pt x="341" y="262"/>
                        <a:pt x="341" y="256"/>
                      </a:cubicBezTo>
                      <a:cubicBezTo>
                        <a:pt x="341" y="250"/>
                        <a:pt x="346" y="245"/>
                        <a:pt x="352" y="245"/>
                      </a:cubicBezTo>
                      <a:cubicBezTo>
                        <a:pt x="362" y="245"/>
                        <a:pt x="362" y="245"/>
                        <a:pt x="362" y="245"/>
                      </a:cubicBezTo>
                      <a:cubicBezTo>
                        <a:pt x="368" y="245"/>
                        <a:pt x="373" y="250"/>
                        <a:pt x="373" y="256"/>
                      </a:cubicBezTo>
                      <a:close/>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16"/>
                      </a:moveTo>
                      <a:cubicBezTo>
                        <a:pt x="167" y="416"/>
                        <a:pt x="96" y="344"/>
                        <a:pt x="96" y="256"/>
                      </a:cubicBezTo>
                      <a:cubicBezTo>
                        <a:pt x="96" y="167"/>
                        <a:pt x="167" y="96"/>
                        <a:pt x="256" y="96"/>
                      </a:cubicBezTo>
                      <a:cubicBezTo>
                        <a:pt x="344" y="96"/>
                        <a:pt x="416" y="167"/>
                        <a:pt x="416" y="256"/>
                      </a:cubicBezTo>
                      <a:cubicBezTo>
                        <a:pt x="416" y="344"/>
                        <a:pt x="344" y="416"/>
                        <a:pt x="256" y="4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grpSp>
      <p:grpSp>
        <p:nvGrpSpPr>
          <p:cNvPr id="196" name="Group 195"/>
          <p:cNvGrpSpPr/>
          <p:nvPr/>
        </p:nvGrpSpPr>
        <p:grpSpPr>
          <a:xfrm>
            <a:off x="4141003" y="3232331"/>
            <a:ext cx="2194041" cy="1443554"/>
            <a:chOff x="3323076" y="3668839"/>
            <a:chExt cx="2264695" cy="1490041"/>
          </a:xfrm>
          <a:solidFill>
            <a:schemeClr val="tx2">
              <a:lumMod val="20000"/>
              <a:lumOff val="80000"/>
            </a:schemeClr>
          </a:solidFill>
        </p:grpSpPr>
        <p:grpSp>
          <p:nvGrpSpPr>
            <p:cNvPr id="197" name="Group 196"/>
            <p:cNvGrpSpPr/>
            <p:nvPr/>
          </p:nvGrpSpPr>
          <p:grpSpPr>
            <a:xfrm>
              <a:off x="3323076" y="3668839"/>
              <a:ext cx="2264695" cy="219456"/>
              <a:chOff x="3323076" y="3668839"/>
              <a:chExt cx="2264695" cy="219456"/>
            </a:xfrm>
            <a:grpFill/>
          </p:grpSpPr>
          <p:sp>
            <p:nvSpPr>
              <p:cNvPr id="248" name="Freeform 974"/>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49" name="Freeform 974"/>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50" name="Freeform 974"/>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51" name="Freeform 974"/>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52" name="Freeform 974"/>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53" name="Freeform 974"/>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54" name="Freeform 974"/>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55" name="Freeform 974"/>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56" name="Freeform 974"/>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198" name="Group 197"/>
            <p:cNvGrpSpPr/>
            <p:nvPr/>
          </p:nvGrpSpPr>
          <p:grpSpPr>
            <a:xfrm>
              <a:off x="3323076" y="3925557"/>
              <a:ext cx="2264695" cy="219456"/>
              <a:chOff x="3323076" y="3668839"/>
              <a:chExt cx="2264695" cy="219456"/>
            </a:xfrm>
            <a:grpFill/>
          </p:grpSpPr>
          <p:sp>
            <p:nvSpPr>
              <p:cNvPr id="239" name="Freeform 974"/>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40" name="Freeform 974"/>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41" name="Freeform 974"/>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42" name="Freeform 974"/>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43" name="Freeform 974"/>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44" name="Freeform 974"/>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45" name="Freeform 974"/>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46" name="Freeform 974"/>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47" name="Freeform 974"/>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199" name="Group 198"/>
            <p:cNvGrpSpPr/>
            <p:nvPr/>
          </p:nvGrpSpPr>
          <p:grpSpPr>
            <a:xfrm>
              <a:off x="3323076" y="4178502"/>
              <a:ext cx="2264695" cy="219456"/>
              <a:chOff x="3323076" y="3668839"/>
              <a:chExt cx="2264695" cy="219456"/>
            </a:xfrm>
            <a:grpFill/>
          </p:grpSpPr>
          <p:sp>
            <p:nvSpPr>
              <p:cNvPr id="230" name="Freeform 974"/>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31" name="Freeform 974"/>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32" name="Freeform 974"/>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33" name="Freeform 974"/>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34" name="Freeform 974"/>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35" name="Freeform 974"/>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36" name="Freeform 974"/>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37" name="Freeform 974"/>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38" name="Freeform 974"/>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200" name="Group 199"/>
            <p:cNvGrpSpPr/>
            <p:nvPr/>
          </p:nvGrpSpPr>
          <p:grpSpPr>
            <a:xfrm>
              <a:off x="3323076" y="4435220"/>
              <a:ext cx="2264695" cy="219456"/>
              <a:chOff x="3323076" y="3668839"/>
              <a:chExt cx="2264695" cy="219456"/>
            </a:xfrm>
            <a:grpFill/>
          </p:grpSpPr>
          <p:sp>
            <p:nvSpPr>
              <p:cNvPr id="221" name="Freeform 974"/>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22" name="Freeform 974"/>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23" name="Freeform 974"/>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24" name="Freeform 974"/>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25" name="Freeform 974"/>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26" name="Freeform 974"/>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27" name="Freeform 974"/>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28" name="Freeform 974"/>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29" name="Freeform 974"/>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201" name="Group 200"/>
            <p:cNvGrpSpPr/>
            <p:nvPr/>
          </p:nvGrpSpPr>
          <p:grpSpPr>
            <a:xfrm>
              <a:off x="3323076" y="4682706"/>
              <a:ext cx="2264695" cy="219456"/>
              <a:chOff x="3323076" y="3668839"/>
              <a:chExt cx="2264695" cy="219456"/>
            </a:xfrm>
            <a:grpFill/>
          </p:grpSpPr>
          <p:sp>
            <p:nvSpPr>
              <p:cNvPr id="212" name="Freeform 974"/>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13" name="Freeform 974"/>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14" name="Freeform 974"/>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15" name="Freeform 974"/>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16" name="Freeform 974"/>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17" name="Freeform 974"/>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18" name="Freeform 974"/>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19" name="Freeform 974"/>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20" name="Freeform 974"/>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nvGrpSpPr>
            <p:cNvPr id="202" name="Group 201"/>
            <p:cNvGrpSpPr/>
            <p:nvPr/>
          </p:nvGrpSpPr>
          <p:grpSpPr>
            <a:xfrm>
              <a:off x="3323076" y="4939424"/>
              <a:ext cx="2264695" cy="219456"/>
              <a:chOff x="3323076" y="3668839"/>
              <a:chExt cx="2264695" cy="219456"/>
            </a:xfrm>
            <a:grpFill/>
          </p:grpSpPr>
          <p:sp>
            <p:nvSpPr>
              <p:cNvPr id="203" name="Freeform 974"/>
              <p:cNvSpPr>
                <a:spLocks noChangeAspect="1" noEditPoints="1"/>
              </p:cNvSpPr>
              <p:nvPr/>
            </p:nvSpPr>
            <p:spPr bwMode="auto">
              <a:xfrm>
                <a:off x="332307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04" name="Freeform 974"/>
              <p:cNvSpPr>
                <a:spLocks noChangeAspect="1" noEditPoints="1"/>
              </p:cNvSpPr>
              <p:nvPr/>
            </p:nvSpPr>
            <p:spPr bwMode="auto">
              <a:xfrm>
                <a:off x="357588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05" name="Freeform 974"/>
              <p:cNvSpPr>
                <a:spLocks noChangeAspect="1" noEditPoints="1"/>
              </p:cNvSpPr>
              <p:nvPr/>
            </p:nvSpPr>
            <p:spPr bwMode="auto">
              <a:xfrm>
                <a:off x="383124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06" name="Freeform 974"/>
              <p:cNvSpPr>
                <a:spLocks noChangeAspect="1" noEditPoints="1"/>
              </p:cNvSpPr>
              <p:nvPr/>
            </p:nvSpPr>
            <p:spPr bwMode="auto">
              <a:xfrm>
                <a:off x="40840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07" name="Freeform 974"/>
              <p:cNvSpPr>
                <a:spLocks noChangeAspect="1" noEditPoints="1"/>
              </p:cNvSpPr>
              <p:nvPr/>
            </p:nvSpPr>
            <p:spPr bwMode="auto">
              <a:xfrm>
                <a:off x="4354757"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08" name="Freeform 974"/>
              <p:cNvSpPr>
                <a:spLocks noChangeAspect="1" noEditPoints="1"/>
              </p:cNvSpPr>
              <p:nvPr/>
            </p:nvSpPr>
            <p:spPr bwMode="auto">
              <a:xfrm>
                <a:off x="4607566"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09" name="Freeform 974"/>
              <p:cNvSpPr>
                <a:spLocks noChangeAspect="1" noEditPoints="1"/>
              </p:cNvSpPr>
              <p:nvPr/>
            </p:nvSpPr>
            <p:spPr bwMode="auto">
              <a:xfrm>
                <a:off x="4862929"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10" name="Freeform 974"/>
              <p:cNvSpPr>
                <a:spLocks noChangeAspect="1" noEditPoints="1"/>
              </p:cNvSpPr>
              <p:nvPr/>
            </p:nvSpPr>
            <p:spPr bwMode="auto">
              <a:xfrm>
                <a:off x="5115738"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11" name="Freeform 974"/>
              <p:cNvSpPr>
                <a:spLocks noChangeAspect="1" noEditPoints="1"/>
              </p:cNvSpPr>
              <p:nvPr/>
            </p:nvSpPr>
            <p:spPr bwMode="auto">
              <a:xfrm>
                <a:off x="5368315" y="3668839"/>
                <a:ext cx="219456" cy="219456"/>
              </a:xfrm>
              <a:custGeom>
                <a:avLst/>
                <a:gdLst>
                  <a:gd name="T0" fmla="*/ 288 w 512"/>
                  <a:gd name="T1" fmla="*/ 213 h 512"/>
                  <a:gd name="T2" fmla="*/ 256 w 512"/>
                  <a:gd name="T3" fmla="*/ 245 h 512"/>
                  <a:gd name="T4" fmla="*/ 224 w 512"/>
                  <a:gd name="T5" fmla="*/ 213 h 512"/>
                  <a:gd name="T6" fmla="*/ 256 w 512"/>
                  <a:gd name="T7" fmla="*/ 181 h 512"/>
                  <a:gd name="T8" fmla="*/ 288 w 512"/>
                  <a:gd name="T9" fmla="*/ 213 h 512"/>
                  <a:gd name="T10" fmla="*/ 351 w 512"/>
                  <a:gd name="T11" fmla="*/ 213 h 512"/>
                  <a:gd name="T12" fmla="*/ 339 w 512"/>
                  <a:gd name="T13" fmla="*/ 260 h 512"/>
                  <a:gd name="T14" fmla="*/ 256 w 512"/>
                  <a:gd name="T15" fmla="*/ 386 h 512"/>
                  <a:gd name="T16" fmla="*/ 173 w 512"/>
                  <a:gd name="T17" fmla="*/ 261 h 512"/>
                  <a:gd name="T18" fmla="*/ 160 w 512"/>
                  <a:gd name="T19" fmla="*/ 213 h 512"/>
                  <a:gd name="T20" fmla="*/ 255 w 512"/>
                  <a:gd name="T21" fmla="*/ 117 h 512"/>
                  <a:gd name="T22" fmla="*/ 256 w 512"/>
                  <a:gd name="T23" fmla="*/ 117 h 512"/>
                  <a:gd name="T24" fmla="*/ 256 w 512"/>
                  <a:gd name="T25" fmla="*/ 117 h 512"/>
                  <a:gd name="T26" fmla="*/ 351 w 512"/>
                  <a:gd name="T27" fmla="*/ 213 h 512"/>
                  <a:gd name="T28" fmla="*/ 309 w 512"/>
                  <a:gd name="T29" fmla="*/ 213 h 512"/>
                  <a:gd name="T30" fmla="*/ 256 w 512"/>
                  <a:gd name="T31" fmla="*/ 160 h 512"/>
                  <a:gd name="T32" fmla="*/ 202 w 512"/>
                  <a:gd name="T33" fmla="*/ 213 h 512"/>
                  <a:gd name="T34" fmla="*/ 256 w 512"/>
                  <a:gd name="T35" fmla="*/ 266 h 512"/>
                  <a:gd name="T36" fmla="*/ 309 w 512"/>
                  <a:gd name="T37" fmla="*/ 213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373 w 512"/>
                  <a:gd name="T49" fmla="*/ 213 h 512"/>
                  <a:gd name="T50" fmla="*/ 256 w 512"/>
                  <a:gd name="T51" fmla="*/ 96 h 512"/>
                  <a:gd name="T52" fmla="*/ 256 w 512"/>
                  <a:gd name="T53" fmla="*/ 96 h 512"/>
                  <a:gd name="T54" fmla="*/ 255 w 512"/>
                  <a:gd name="T55" fmla="*/ 96 h 512"/>
                  <a:gd name="T56" fmla="*/ 138 w 512"/>
                  <a:gd name="T57" fmla="*/ 213 h 512"/>
                  <a:gd name="T58" fmla="*/ 155 w 512"/>
                  <a:gd name="T59" fmla="*/ 272 h 512"/>
                  <a:gd name="T60" fmla="*/ 247 w 512"/>
                  <a:gd name="T61" fmla="*/ 411 h 512"/>
                  <a:gd name="T62" fmla="*/ 255 w 512"/>
                  <a:gd name="T63" fmla="*/ 416 h 512"/>
                  <a:gd name="T64" fmla="*/ 256 w 512"/>
                  <a:gd name="T65" fmla="*/ 416 h 512"/>
                  <a:gd name="T66" fmla="*/ 256 w 512"/>
                  <a:gd name="T67" fmla="*/ 416 h 512"/>
                  <a:gd name="T68" fmla="*/ 265 w 512"/>
                  <a:gd name="T69" fmla="*/ 411 h 512"/>
                  <a:gd name="T70" fmla="*/ 357 w 512"/>
                  <a:gd name="T71" fmla="*/ 272 h 512"/>
                  <a:gd name="T72" fmla="*/ 373 w 512"/>
                  <a:gd name="T73"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88" y="213"/>
                    </a:moveTo>
                    <a:cubicBezTo>
                      <a:pt x="288" y="231"/>
                      <a:pt x="273" y="245"/>
                      <a:pt x="256" y="245"/>
                    </a:cubicBezTo>
                    <a:cubicBezTo>
                      <a:pt x="238" y="245"/>
                      <a:pt x="224" y="231"/>
                      <a:pt x="224" y="213"/>
                    </a:cubicBezTo>
                    <a:cubicBezTo>
                      <a:pt x="224" y="195"/>
                      <a:pt x="238" y="181"/>
                      <a:pt x="256" y="181"/>
                    </a:cubicBezTo>
                    <a:cubicBezTo>
                      <a:pt x="273" y="181"/>
                      <a:pt x="288" y="195"/>
                      <a:pt x="288" y="213"/>
                    </a:cubicBezTo>
                    <a:close/>
                    <a:moveTo>
                      <a:pt x="351" y="213"/>
                    </a:moveTo>
                    <a:cubicBezTo>
                      <a:pt x="351" y="231"/>
                      <a:pt x="348" y="245"/>
                      <a:pt x="339" y="260"/>
                    </a:cubicBezTo>
                    <a:cubicBezTo>
                      <a:pt x="256" y="386"/>
                      <a:pt x="256" y="386"/>
                      <a:pt x="256" y="386"/>
                    </a:cubicBezTo>
                    <a:cubicBezTo>
                      <a:pt x="173" y="261"/>
                      <a:pt x="173" y="261"/>
                      <a:pt x="173" y="261"/>
                    </a:cubicBezTo>
                    <a:cubicBezTo>
                      <a:pt x="163" y="245"/>
                      <a:pt x="160" y="231"/>
                      <a:pt x="160" y="213"/>
                    </a:cubicBezTo>
                    <a:cubicBezTo>
                      <a:pt x="160" y="160"/>
                      <a:pt x="203" y="117"/>
                      <a:pt x="255" y="117"/>
                    </a:cubicBezTo>
                    <a:cubicBezTo>
                      <a:pt x="255" y="117"/>
                      <a:pt x="256" y="117"/>
                      <a:pt x="256" y="117"/>
                    </a:cubicBezTo>
                    <a:cubicBezTo>
                      <a:pt x="256" y="117"/>
                      <a:pt x="256" y="117"/>
                      <a:pt x="256" y="117"/>
                    </a:cubicBezTo>
                    <a:cubicBezTo>
                      <a:pt x="308" y="117"/>
                      <a:pt x="351" y="160"/>
                      <a:pt x="351" y="213"/>
                    </a:cubicBezTo>
                    <a:close/>
                    <a:moveTo>
                      <a:pt x="309" y="213"/>
                    </a:moveTo>
                    <a:cubicBezTo>
                      <a:pt x="309" y="184"/>
                      <a:pt x="285" y="160"/>
                      <a:pt x="256" y="160"/>
                    </a:cubicBezTo>
                    <a:cubicBezTo>
                      <a:pt x="226" y="160"/>
                      <a:pt x="202" y="184"/>
                      <a:pt x="202" y="213"/>
                    </a:cubicBezTo>
                    <a:cubicBezTo>
                      <a:pt x="202" y="242"/>
                      <a:pt x="226" y="266"/>
                      <a:pt x="256" y="266"/>
                    </a:cubicBezTo>
                    <a:cubicBezTo>
                      <a:pt x="285" y="266"/>
                      <a:pt x="309" y="242"/>
                      <a:pt x="309" y="213"/>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3" y="213"/>
                    </a:moveTo>
                    <a:cubicBezTo>
                      <a:pt x="373" y="148"/>
                      <a:pt x="320" y="96"/>
                      <a:pt x="256" y="96"/>
                    </a:cubicBezTo>
                    <a:cubicBezTo>
                      <a:pt x="256" y="96"/>
                      <a:pt x="256" y="96"/>
                      <a:pt x="256" y="96"/>
                    </a:cubicBezTo>
                    <a:cubicBezTo>
                      <a:pt x="256" y="96"/>
                      <a:pt x="255" y="96"/>
                      <a:pt x="255" y="96"/>
                    </a:cubicBezTo>
                    <a:cubicBezTo>
                      <a:pt x="191" y="96"/>
                      <a:pt x="138" y="148"/>
                      <a:pt x="138" y="213"/>
                    </a:cubicBezTo>
                    <a:cubicBezTo>
                      <a:pt x="138" y="235"/>
                      <a:pt x="143" y="252"/>
                      <a:pt x="155" y="272"/>
                    </a:cubicBezTo>
                    <a:cubicBezTo>
                      <a:pt x="247" y="411"/>
                      <a:pt x="247" y="411"/>
                      <a:pt x="247" y="411"/>
                    </a:cubicBezTo>
                    <a:cubicBezTo>
                      <a:pt x="249" y="414"/>
                      <a:pt x="252" y="416"/>
                      <a:pt x="255" y="416"/>
                    </a:cubicBezTo>
                    <a:cubicBezTo>
                      <a:pt x="255" y="416"/>
                      <a:pt x="256" y="416"/>
                      <a:pt x="256" y="416"/>
                    </a:cubicBezTo>
                    <a:cubicBezTo>
                      <a:pt x="256" y="416"/>
                      <a:pt x="256" y="416"/>
                      <a:pt x="256" y="416"/>
                    </a:cubicBezTo>
                    <a:cubicBezTo>
                      <a:pt x="259" y="416"/>
                      <a:pt x="263" y="414"/>
                      <a:pt x="265" y="411"/>
                    </a:cubicBezTo>
                    <a:cubicBezTo>
                      <a:pt x="357" y="272"/>
                      <a:pt x="357" y="272"/>
                      <a:pt x="357" y="272"/>
                    </a:cubicBezTo>
                    <a:cubicBezTo>
                      <a:pt x="368" y="252"/>
                      <a:pt x="373" y="235"/>
                      <a:pt x="373" y="2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p:txBody>
          </p:sp>
        </p:grpSp>
      </p:grpSp>
      <p:grpSp>
        <p:nvGrpSpPr>
          <p:cNvPr id="257" name="Group 256"/>
          <p:cNvGrpSpPr/>
          <p:nvPr/>
        </p:nvGrpSpPr>
        <p:grpSpPr>
          <a:xfrm>
            <a:off x="4139615" y="1750681"/>
            <a:ext cx="2191956" cy="1439543"/>
            <a:chOff x="3321642" y="2139475"/>
            <a:chExt cx="2262542" cy="1485900"/>
          </a:xfrm>
          <a:solidFill>
            <a:srgbClr val="9DD4CF"/>
          </a:solidFill>
        </p:grpSpPr>
        <p:grpSp>
          <p:nvGrpSpPr>
            <p:cNvPr id="258" name="Group 257"/>
            <p:cNvGrpSpPr/>
            <p:nvPr/>
          </p:nvGrpSpPr>
          <p:grpSpPr>
            <a:xfrm>
              <a:off x="3321642" y="2139475"/>
              <a:ext cx="2262542" cy="220890"/>
              <a:chOff x="3649188" y="1858074"/>
              <a:chExt cx="2262542" cy="220890"/>
            </a:xfrm>
            <a:grpFill/>
          </p:grpSpPr>
          <p:sp>
            <p:nvSpPr>
              <p:cNvPr id="309" name="Freeform 765"/>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310" name="Freeform 765"/>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311" name="Freeform 765"/>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312" name="Freeform 765"/>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313" name="Freeform 765"/>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314" name="Freeform 765"/>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315" name="Freeform 765"/>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316" name="Freeform 765"/>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317" name="Freeform 765"/>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grpSp>
        <p:grpSp>
          <p:nvGrpSpPr>
            <p:cNvPr id="259" name="Group 258"/>
            <p:cNvGrpSpPr/>
            <p:nvPr/>
          </p:nvGrpSpPr>
          <p:grpSpPr>
            <a:xfrm>
              <a:off x="3321642" y="2386706"/>
              <a:ext cx="2262542" cy="220890"/>
              <a:chOff x="3649188" y="1858074"/>
              <a:chExt cx="2262542" cy="220890"/>
            </a:xfrm>
            <a:grpFill/>
          </p:grpSpPr>
          <p:sp>
            <p:nvSpPr>
              <p:cNvPr id="300" name="Freeform 765"/>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301" name="Freeform 765"/>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302" name="Freeform 765"/>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303" name="Freeform 765"/>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304" name="Freeform 765"/>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305" name="Freeform 765"/>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306" name="Freeform 765"/>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307" name="Freeform 765"/>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308" name="Freeform 765"/>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grpSp>
        <p:grpSp>
          <p:nvGrpSpPr>
            <p:cNvPr id="260" name="Group 259"/>
            <p:cNvGrpSpPr/>
            <p:nvPr/>
          </p:nvGrpSpPr>
          <p:grpSpPr>
            <a:xfrm>
              <a:off x="3321642" y="2665803"/>
              <a:ext cx="2262542" cy="220890"/>
              <a:chOff x="3649188" y="1858074"/>
              <a:chExt cx="2262542" cy="220890"/>
            </a:xfrm>
            <a:grpFill/>
          </p:grpSpPr>
          <p:sp>
            <p:nvSpPr>
              <p:cNvPr id="291" name="Freeform 765"/>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92" name="Freeform 765"/>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93" name="Freeform 765"/>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94" name="Freeform 765"/>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95" name="Freeform 765"/>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96" name="Freeform 765"/>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97" name="Freeform 765"/>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98" name="Freeform 765"/>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99" name="Freeform 765"/>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grpSp>
        <p:grpSp>
          <p:nvGrpSpPr>
            <p:cNvPr id="261" name="Group 260"/>
            <p:cNvGrpSpPr/>
            <p:nvPr/>
          </p:nvGrpSpPr>
          <p:grpSpPr>
            <a:xfrm>
              <a:off x="3321642" y="2913034"/>
              <a:ext cx="2262542" cy="220890"/>
              <a:chOff x="3649188" y="1858074"/>
              <a:chExt cx="2262542" cy="220890"/>
            </a:xfrm>
            <a:grpFill/>
          </p:grpSpPr>
          <p:sp>
            <p:nvSpPr>
              <p:cNvPr id="282" name="Freeform 765"/>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83" name="Freeform 765"/>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84" name="Freeform 765"/>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85" name="Freeform 765"/>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86" name="Freeform 765"/>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87" name="Freeform 765"/>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88" name="Freeform 765"/>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89" name="Freeform 765"/>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90" name="Freeform 765"/>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grpSp>
        <p:grpSp>
          <p:nvGrpSpPr>
            <p:cNvPr id="262" name="Group 261"/>
            <p:cNvGrpSpPr/>
            <p:nvPr/>
          </p:nvGrpSpPr>
          <p:grpSpPr>
            <a:xfrm>
              <a:off x="3321642" y="3157254"/>
              <a:ext cx="2262542" cy="220890"/>
              <a:chOff x="3649188" y="1858074"/>
              <a:chExt cx="2262542" cy="220890"/>
            </a:xfrm>
            <a:grpFill/>
          </p:grpSpPr>
          <p:sp>
            <p:nvSpPr>
              <p:cNvPr id="273" name="Freeform 765"/>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74" name="Freeform 765"/>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75" name="Freeform 765"/>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76" name="Freeform 765"/>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77" name="Freeform 765"/>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78" name="Freeform 765"/>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79" name="Freeform 765"/>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80" name="Freeform 765"/>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81" name="Freeform 765"/>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grpSp>
        <p:grpSp>
          <p:nvGrpSpPr>
            <p:cNvPr id="263" name="Group 262"/>
            <p:cNvGrpSpPr/>
            <p:nvPr/>
          </p:nvGrpSpPr>
          <p:grpSpPr>
            <a:xfrm>
              <a:off x="3321642" y="3404485"/>
              <a:ext cx="2262542" cy="220890"/>
              <a:chOff x="3649188" y="1858074"/>
              <a:chExt cx="2262542" cy="220890"/>
            </a:xfrm>
            <a:grpFill/>
          </p:grpSpPr>
          <p:sp>
            <p:nvSpPr>
              <p:cNvPr id="264" name="Freeform 765"/>
              <p:cNvSpPr>
                <a:spLocks noChangeAspect="1" noEditPoints="1"/>
              </p:cNvSpPr>
              <p:nvPr/>
            </p:nvSpPr>
            <p:spPr bwMode="auto">
              <a:xfrm>
                <a:off x="3649188"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65" name="Freeform 765"/>
              <p:cNvSpPr>
                <a:spLocks noChangeAspect="1" noEditPoints="1"/>
              </p:cNvSpPr>
              <p:nvPr/>
            </p:nvSpPr>
            <p:spPr bwMode="auto">
              <a:xfrm>
                <a:off x="390439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66" name="Freeform 765"/>
              <p:cNvSpPr>
                <a:spLocks noChangeAspect="1" noEditPoints="1"/>
              </p:cNvSpPr>
              <p:nvPr/>
            </p:nvSpPr>
            <p:spPr bwMode="auto">
              <a:xfrm>
                <a:off x="4159602"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67" name="Freeform 765"/>
              <p:cNvSpPr>
                <a:spLocks noChangeAspect="1" noEditPoints="1"/>
              </p:cNvSpPr>
              <p:nvPr/>
            </p:nvSpPr>
            <p:spPr bwMode="auto">
              <a:xfrm>
                <a:off x="4414809"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68" name="Freeform 765"/>
              <p:cNvSpPr>
                <a:spLocks noChangeAspect="1" noEditPoints="1"/>
              </p:cNvSpPr>
              <p:nvPr/>
            </p:nvSpPr>
            <p:spPr bwMode="auto">
              <a:xfrm>
                <a:off x="4670015"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69" name="Freeform 765"/>
              <p:cNvSpPr>
                <a:spLocks noChangeAspect="1" noEditPoints="1"/>
              </p:cNvSpPr>
              <p:nvPr/>
            </p:nvSpPr>
            <p:spPr bwMode="auto">
              <a:xfrm>
                <a:off x="4925221"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70" name="Freeform 765"/>
              <p:cNvSpPr>
                <a:spLocks noChangeAspect="1" noEditPoints="1"/>
              </p:cNvSpPr>
              <p:nvPr/>
            </p:nvSpPr>
            <p:spPr bwMode="auto">
              <a:xfrm>
                <a:off x="5180427"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71" name="Freeform 765"/>
              <p:cNvSpPr>
                <a:spLocks noChangeAspect="1" noEditPoints="1"/>
              </p:cNvSpPr>
              <p:nvPr/>
            </p:nvSpPr>
            <p:spPr bwMode="auto">
              <a:xfrm>
                <a:off x="5435633"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sp>
            <p:nvSpPr>
              <p:cNvPr id="272" name="Freeform 765"/>
              <p:cNvSpPr>
                <a:spLocks noChangeAspect="1" noEditPoints="1"/>
              </p:cNvSpPr>
              <p:nvPr/>
            </p:nvSpPr>
            <p:spPr bwMode="auto">
              <a:xfrm>
                <a:off x="5690840" y="1858074"/>
                <a:ext cx="220890" cy="220890"/>
              </a:xfrm>
              <a:custGeom>
                <a:avLst/>
                <a:gdLst>
                  <a:gd name="T0" fmla="*/ 213 w 512"/>
                  <a:gd name="T1" fmla="*/ 160 h 512"/>
                  <a:gd name="T2" fmla="*/ 256 w 512"/>
                  <a:gd name="T3" fmla="*/ 117 h 512"/>
                  <a:gd name="T4" fmla="*/ 298 w 512"/>
                  <a:gd name="T5" fmla="*/ 160 h 512"/>
                  <a:gd name="T6" fmla="*/ 256 w 512"/>
                  <a:gd name="T7" fmla="*/ 202 h 512"/>
                  <a:gd name="T8" fmla="*/ 213 w 512"/>
                  <a:gd name="T9" fmla="*/ 160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192 w 512"/>
                  <a:gd name="T21" fmla="*/ 160 h 512"/>
                  <a:gd name="T22" fmla="*/ 256 w 512"/>
                  <a:gd name="T23" fmla="*/ 224 h 512"/>
                  <a:gd name="T24" fmla="*/ 320 w 512"/>
                  <a:gd name="T25" fmla="*/ 160 h 512"/>
                  <a:gd name="T26" fmla="*/ 256 w 512"/>
                  <a:gd name="T27" fmla="*/ 96 h 512"/>
                  <a:gd name="T28" fmla="*/ 192 w 512"/>
                  <a:gd name="T29" fmla="*/ 160 h 512"/>
                  <a:gd name="T30" fmla="*/ 384 w 512"/>
                  <a:gd name="T31" fmla="*/ 309 h 512"/>
                  <a:gd name="T32" fmla="*/ 320 w 512"/>
                  <a:gd name="T33" fmla="*/ 245 h 512"/>
                  <a:gd name="T34" fmla="*/ 192 w 512"/>
                  <a:gd name="T35" fmla="*/ 245 h 512"/>
                  <a:gd name="T36" fmla="*/ 128 w 512"/>
                  <a:gd name="T37" fmla="*/ 309 h 512"/>
                  <a:gd name="T38" fmla="*/ 128 w 512"/>
                  <a:gd name="T39" fmla="*/ 405 h 512"/>
                  <a:gd name="T40" fmla="*/ 138 w 512"/>
                  <a:gd name="T41" fmla="*/ 416 h 512"/>
                  <a:gd name="T42" fmla="*/ 149 w 512"/>
                  <a:gd name="T43" fmla="*/ 405 h 512"/>
                  <a:gd name="T44" fmla="*/ 149 w 512"/>
                  <a:gd name="T45" fmla="*/ 309 h 512"/>
                  <a:gd name="T46" fmla="*/ 192 w 512"/>
                  <a:gd name="T47" fmla="*/ 266 h 512"/>
                  <a:gd name="T48" fmla="*/ 320 w 512"/>
                  <a:gd name="T49" fmla="*/ 266 h 512"/>
                  <a:gd name="T50" fmla="*/ 362 w 512"/>
                  <a:gd name="T51" fmla="*/ 309 h 512"/>
                  <a:gd name="T52" fmla="*/ 362 w 512"/>
                  <a:gd name="T53" fmla="*/ 405 h 512"/>
                  <a:gd name="T54" fmla="*/ 373 w 512"/>
                  <a:gd name="T55" fmla="*/ 416 h 512"/>
                  <a:gd name="T56" fmla="*/ 384 w 512"/>
                  <a:gd name="T57" fmla="*/ 405 h 512"/>
                  <a:gd name="T58" fmla="*/ 384 w 512"/>
                  <a:gd name="T59" fmla="*/ 30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12" h="512">
                    <a:moveTo>
                      <a:pt x="213" y="160"/>
                    </a:moveTo>
                    <a:cubicBezTo>
                      <a:pt x="213" y="136"/>
                      <a:pt x="232" y="117"/>
                      <a:pt x="256" y="117"/>
                    </a:cubicBezTo>
                    <a:cubicBezTo>
                      <a:pt x="279" y="117"/>
                      <a:pt x="298" y="136"/>
                      <a:pt x="298" y="160"/>
                    </a:cubicBezTo>
                    <a:cubicBezTo>
                      <a:pt x="298" y="183"/>
                      <a:pt x="279" y="202"/>
                      <a:pt x="256" y="202"/>
                    </a:cubicBezTo>
                    <a:cubicBezTo>
                      <a:pt x="232" y="202"/>
                      <a:pt x="213" y="183"/>
                      <a:pt x="213" y="16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192" y="160"/>
                    </a:moveTo>
                    <a:cubicBezTo>
                      <a:pt x="192" y="195"/>
                      <a:pt x="220" y="224"/>
                      <a:pt x="256" y="224"/>
                    </a:cubicBezTo>
                    <a:cubicBezTo>
                      <a:pt x="291" y="224"/>
                      <a:pt x="320" y="195"/>
                      <a:pt x="320" y="160"/>
                    </a:cubicBezTo>
                    <a:cubicBezTo>
                      <a:pt x="320" y="124"/>
                      <a:pt x="291" y="96"/>
                      <a:pt x="256" y="96"/>
                    </a:cubicBezTo>
                    <a:cubicBezTo>
                      <a:pt x="220" y="96"/>
                      <a:pt x="192" y="124"/>
                      <a:pt x="192" y="160"/>
                    </a:cubicBezTo>
                    <a:close/>
                    <a:moveTo>
                      <a:pt x="384" y="309"/>
                    </a:moveTo>
                    <a:cubicBezTo>
                      <a:pt x="384" y="274"/>
                      <a:pt x="355" y="245"/>
                      <a:pt x="320" y="245"/>
                    </a:cubicBezTo>
                    <a:cubicBezTo>
                      <a:pt x="192" y="245"/>
                      <a:pt x="192" y="245"/>
                      <a:pt x="192" y="245"/>
                    </a:cubicBezTo>
                    <a:cubicBezTo>
                      <a:pt x="156" y="245"/>
                      <a:pt x="128" y="274"/>
                      <a:pt x="128" y="309"/>
                    </a:cubicBezTo>
                    <a:cubicBezTo>
                      <a:pt x="128" y="405"/>
                      <a:pt x="128" y="405"/>
                      <a:pt x="128" y="405"/>
                    </a:cubicBezTo>
                    <a:cubicBezTo>
                      <a:pt x="128" y="411"/>
                      <a:pt x="132" y="416"/>
                      <a:pt x="138" y="416"/>
                    </a:cubicBezTo>
                    <a:cubicBezTo>
                      <a:pt x="144" y="416"/>
                      <a:pt x="149" y="411"/>
                      <a:pt x="149" y="405"/>
                    </a:cubicBezTo>
                    <a:cubicBezTo>
                      <a:pt x="149" y="309"/>
                      <a:pt x="149" y="309"/>
                      <a:pt x="149" y="309"/>
                    </a:cubicBezTo>
                    <a:cubicBezTo>
                      <a:pt x="149" y="285"/>
                      <a:pt x="168" y="266"/>
                      <a:pt x="192" y="266"/>
                    </a:cubicBezTo>
                    <a:cubicBezTo>
                      <a:pt x="320" y="266"/>
                      <a:pt x="320" y="266"/>
                      <a:pt x="320" y="266"/>
                    </a:cubicBezTo>
                    <a:cubicBezTo>
                      <a:pt x="343" y="266"/>
                      <a:pt x="362" y="285"/>
                      <a:pt x="362" y="309"/>
                    </a:cubicBezTo>
                    <a:cubicBezTo>
                      <a:pt x="362" y="405"/>
                      <a:pt x="362" y="405"/>
                      <a:pt x="362" y="405"/>
                    </a:cubicBezTo>
                    <a:cubicBezTo>
                      <a:pt x="362" y="411"/>
                      <a:pt x="367" y="416"/>
                      <a:pt x="373" y="416"/>
                    </a:cubicBezTo>
                    <a:cubicBezTo>
                      <a:pt x="379" y="416"/>
                      <a:pt x="384" y="411"/>
                      <a:pt x="384" y="405"/>
                    </a:cubicBezTo>
                    <a:lnTo>
                      <a:pt x="384" y="30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26890D">
                      <a:lumMod val="20000"/>
                      <a:lumOff val="80000"/>
                    </a:srgbClr>
                  </a:solidFill>
                  <a:effectLst/>
                  <a:uLnTx/>
                  <a:uFillTx/>
                  <a:latin typeface="Calibri"/>
                  <a:ea typeface="+mn-ea"/>
                  <a:cs typeface="+mn-cs"/>
                </a:endParaRPr>
              </a:p>
            </p:txBody>
          </p:sp>
        </p:grpSp>
      </p:grpSp>
      <p:grpSp>
        <p:nvGrpSpPr>
          <p:cNvPr id="318" name="Group 317"/>
          <p:cNvGrpSpPr/>
          <p:nvPr/>
        </p:nvGrpSpPr>
        <p:grpSpPr>
          <a:xfrm>
            <a:off x="4292230" y="2499836"/>
            <a:ext cx="1870121" cy="1027158"/>
            <a:chOff x="4546294" y="2607534"/>
            <a:chExt cx="1930344" cy="1060236"/>
          </a:xfrm>
        </p:grpSpPr>
        <p:sp>
          <p:nvSpPr>
            <p:cNvPr id="319" name="TextBox 318"/>
            <p:cNvSpPr txBox="1"/>
            <p:nvPr/>
          </p:nvSpPr>
          <p:spPr>
            <a:xfrm>
              <a:off x="4546294" y="2607534"/>
              <a:ext cx="1930344" cy="663942"/>
            </a:xfrm>
            <a:prstGeom prst="rect">
              <a:avLst/>
            </a:prstGeom>
            <a:solidFill>
              <a:schemeClr val="bg1"/>
            </a:solid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defPPr>
                <a:defRPr lang="en-US"/>
              </a:defPPr>
              <a:lvl1pPr algn="ctr">
                <a:lnSpc>
                  <a:spcPct val="106000"/>
                </a:lnSpc>
                <a:buFont typeface="Wingdings 2" pitchFamily="18" charset="2"/>
                <a:buNone/>
                <a:defRPr sz="1600" b="1">
                  <a:solidFill>
                    <a:schemeClr val="bg1"/>
                  </a:solidFill>
                </a:defRPr>
              </a:lvl1pPr>
            </a:lstStyle>
            <a:p>
              <a:pPr marL="0" marR="0" lvl="0" indent="0" algn="ctr" defTabSz="914400" rtl="0" eaLnBrk="1" fontAlgn="auto" latinLnBrk="0" hangingPunct="1">
                <a:lnSpc>
                  <a:spcPts val="4000"/>
                </a:lnSpc>
                <a:spcBef>
                  <a:spcPts val="0"/>
                </a:spcBef>
                <a:spcAft>
                  <a:spcPts val="0"/>
                </a:spcAft>
                <a:buClrTx/>
                <a:buSzTx/>
                <a:buFont typeface="Wingdings 2" pitchFamily="18" charset="2"/>
                <a:buNone/>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12000+</a:t>
              </a:r>
            </a:p>
          </p:txBody>
        </p:sp>
        <p:sp>
          <p:nvSpPr>
            <p:cNvPr id="320" name="Rectangle 319"/>
            <p:cNvSpPr/>
            <p:nvPr/>
          </p:nvSpPr>
          <p:spPr>
            <a:xfrm>
              <a:off x="4546294" y="3258413"/>
              <a:ext cx="1926736" cy="409357"/>
            </a:xfrm>
            <a:prstGeom prst="rect">
              <a:avLst/>
            </a:prstGeom>
            <a:solidFill>
              <a:schemeClr val="accent5"/>
            </a:solidFill>
          </p:spPr>
          <p:txBody>
            <a:bodyPr wrap="square" lIns="45720" tIns="45720" rIns="45720" bIns="45720" anchor="ctr">
              <a:spAutoFit/>
            </a:bodyPr>
            <a:lstStyle/>
            <a:p>
              <a:pPr marL="0" marR="0" lvl="0" indent="0" algn="ctr" defTabSz="905428" rtl="0" eaLnBrk="1" fontAlgn="auto" latinLnBrk="0" hangingPunct="1">
                <a:lnSpc>
                  <a:spcPts val="11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a:ea typeface="+mn-ea"/>
                  <a:cs typeface="Calibri" panose="020F0502020204030204" pitchFamily="34" charset="0"/>
                </a:rPr>
                <a:t>Professionals</a:t>
              </a:r>
            </a:p>
            <a:p>
              <a:pPr marL="0" marR="0" lvl="0" indent="0" algn="ctr" defTabSz="905428" rtl="0" eaLnBrk="1" fontAlgn="auto" latinLnBrk="0" hangingPunct="1">
                <a:lnSpc>
                  <a:spcPts val="11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a:ea typeface="+mn-ea"/>
                  <a:cs typeface="Calibri" panose="020F0502020204030204" pitchFamily="34" charset="0"/>
                </a:rPr>
                <a:t>spread across</a:t>
              </a:r>
            </a:p>
          </p:txBody>
        </p:sp>
      </p:grpSp>
      <p:grpSp>
        <p:nvGrpSpPr>
          <p:cNvPr id="321" name="Group 320"/>
          <p:cNvGrpSpPr/>
          <p:nvPr/>
        </p:nvGrpSpPr>
        <p:grpSpPr>
          <a:xfrm>
            <a:off x="4292228" y="4193634"/>
            <a:ext cx="1866628" cy="1267751"/>
            <a:chOff x="4546292" y="4120595"/>
            <a:chExt cx="1926738" cy="1308576"/>
          </a:xfrm>
        </p:grpSpPr>
        <p:sp>
          <p:nvSpPr>
            <p:cNvPr id="322" name="TextBox 321"/>
            <p:cNvSpPr txBox="1"/>
            <p:nvPr/>
          </p:nvSpPr>
          <p:spPr>
            <a:xfrm>
              <a:off x="4546293" y="4120595"/>
              <a:ext cx="1926737" cy="939290"/>
            </a:xfrm>
            <a:prstGeom prst="rect">
              <a:avLst/>
            </a:prstGeom>
            <a:solidFill>
              <a:schemeClr val="bg1"/>
            </a:solid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defPPr>
                <a:defRPr lang="en-US"/>
              </a:defPPr>
              <a:lvl1pPr algn="ctr">
                <a:lnSpc>
                  <a:spcPct val="106000"/>
                </a:lnSpc>
                <a:buFont typeface="Wingdings 2" pitchFamily="18" charset="2"/>
                <a:buNone/>
                <a:defRPr sz="1600" b="1">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r>
                <a:rPr kumimoji="0" lang="en-US" sz="4000" b="0" i="0" u="none" strike="noStrike" kern="1200" cap="none" spc="0" normalizeH="0" baseline="0" noProof="0" dirty="0">
                  <a:ln>
                    <a:noFill/>
                  </a:ln>
                  <a:solidFill>
                    <a:prstClr val="black"/>
                  </a:solidFill>
                  <a:effectLst/>
                  <a:uLnTx/>
                  <a:uFillTx/>
                  <a:latin typeface="Calibri"/>
                  <a:ea typeface="+mn-ea"/>
                  <a:cs typeface="+mn-cs"/>
                </a:rPr>
                <a:t>12</a:t>
              </a:r>
            </a:p>
          </p:txBody>
        </p:sp>
        <p:sp>
          <p:nvSpPr>
            <p:cNvPr id="323" name="Rectangle 322"/>
            <p:cNvSpPr/>
            <p:nvPr/>
          </p:nvSpPr>
          <p:spPr bwMode="gray">
            <a:xfrm>
              <a:off x="4546292" y="5054710"/>
              <a:ext cx="1926737" cy="374461"/>
            </a:xfrm>
            <a:prstGeom prst="rect">
              <a:avLst/>
            </a:prstGeom>
            <a:solidFill>
              <a:schemeClr val="accent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0" i="0" u="none" strike="noStrike" kern="1200" cap="none" spc="0" normalizeH="0" baseline="0" noProof="0" dirty="0">
                  <a:ln>
                    <a:noFill/>
                  </a:ln>
                  <a:solidFill>
                    <a:prstClr val="white"/>
                  </a:solidFill>
                  <a:effectLst/>
                  <a:uLnTx/>
                  <a:uFillTx/>
                  <a:latin typeface="Calibri"/>
                  <a:ea typeface="+mn-ea"/>
                  <a:cs typeface="+mn-cs"/>
                </a:rPr>
                <a:t>Cities</a:t>
              </a:r>
              <a:endParaRPr kumimoji="0" lang="en-IN" sz="1000" b="0"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324" name="Rectangle 323">
            <a:extLst>
              <a:ext uri="{FF2B5EF4-FFF2-40B4-BE49-F238E27FC236}">
                <a16:creationId xmlns:a16="http://schemas.microsoft.com/office/drawing/2014/main" id="{FE51DA78-90EE-4DD1-9974-0C6CD748A9B6}"/>
              </a:ext>
            </a:extLst>
          </p:cNvPr>
          <p:cNvSpPr/>
          <p:nvPr/>
        </p:nvSpPr>
        <p:spPr>
          <a:xfrm>
            <a:off x="7003459" y="6013968"/>
            <a:ext cx="4397375" cy="121088"/>
          </a:xfrm>
          <a:prstGeom prst="rect">
            <a:avLst/>
          </a:prstGeom>
        </p:spPr>
        <p:txBody>
          <a:bodyPr wrap="square" lIns="0" tIns="0" rIns="0" bIns="0">
            <a:noAutofit/>
          </a:bodyPr>
          <a:lstStyle/>
          <a:p>
            <a:pPr marL="0" marR="0" lvl="0" indent="0" algn="l" defTabSz="1032282"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lumMod val="50000"/>
                  </a:prstClr>
                </a:solidFill>
                <a:effectLst/>
                <a:uLnTx/>
                <a:uFillTx/>
                <a:latin typeface="Calibri" panose="020F0502020204030204" pitchFamily="34" charset="0"/>
                <a:ea typeface="+mn-ea"/>
                <a:cs typeface="Calibri" panose="020F0502020204030204" pitchFamily="34" charset="0"/>
              </a:rPr>
              <a:t>*BT500 - Business Today publication about India’s top 500 performing companies</a:t>
            </a:r>
          </a:p>
        </p:txBody>
      </p:sp>
      <p:grpSp>
        <p:nvGrpSpPr>
          <p:cNvPr id="325" name="Group 324">
            <a:extLst>
              <a:ext uri="{FF2B5EF4-FFF2-40B4-BE49-F238E27FC236}">
                <a16:creationId xmlns:a16="http://schemas.microsoft.com/office/drawing/2014/main" id="{FCA894E8-B450-46CD-BC06-B0EC850A2F3D}"/>
              </a:ext>
            </a:extLst>
          </p:cNvPr>
          <p:cNvGrpSpPr/>
          <p:nvPr/>
        </p:nvGrpSpPr>
        <p:grpSpPr>
          <a:xfrm>
            <a:off x="6933086" y="2031185"/>
            <a:ext cx="4467749" cy="3888909"/>
            <a:chOff x="5904103" y="2314062"/>
            <a:chExt cx="4218501" cy="3671954"/>
          </a:xfrm>
        </p:grpSpPr>
        <p:sp>
          <p:nvSpPr>
            <p:cNvPr id="326" name="Rectangle 325">
              <a:extLst>
                <a:ext uri="{FF2B5EF4-FFF2-40B4-BE49-F238E27FC236}">
                  <a16:creationId xmlns:a16="http://schemas.microsoft.com/office/drawing/2014/main" id="{22AD97E0-D6CA-4E1D-99AC-35D08C8E5A17}"/>
                </a:ext>
              </a:extLst>
            </p:cNvPr>
            <p:cNvSpPr/>
            <p:nvPr/>
          </p:nvSpPr>
          <p:spPr>
            <a:xfrm>
              <a:off x="6394468" y="2371536"/>
              <a:ext cx="3728136" cy="246221"/>
            </a:xfrm>
            <a:prstGeom prst="rect">
              <a:avLst/>
            </a:prstGeom>
          </p:spPr>
          <p:txBody>
            <a:bodyPr wrap="square" lIns="0" tIns="0" rIns="0" bIns="0">
              <a:spAutoFit/>
            </a:bodyPr>
            <a:lstStyle/>
            <a:p>
              <a:pPr marL="0" marR="0" lvl="0" indent="0" algn="l" defTabSz="103228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rPr>
                <a:t>India clientele (November 2020 BT500*)</a:t>
              </a:r>
            </a:p>
          </p:txBody>
        </p:sp>
        <p:grpSp>
          <p:nvGrpSpPr>
            <p:cNvPr id="327" name="Group 326">
              <a:extLst>
                <a:ext uri="{FF2B5EF4-FFF2-40B4-BE49-F238E27FC236}">
                  <a16:creationId xmlns:a16="http://schemas.microsoft.com/office/drawing/2014/main" id="{B2EE135B-8866-46EC-A541-E1A53FFD64E2}"/>
                </a:ext>
              </a:extLst>
            </p:cNvPr>
            <p:cNvGrpSpPr/>
            <p:nvPr/>
          </p:nvGrpSpPr>
          <p:grpSpPr>
            <a:xfrm>
              <a:off x="6034167" y="2948621"/>
              <a:ext cx="1976384" cy="900427"/>
              <a:chOff x="6679062" y="4021069"/>
              <a:chExt cx="1976384" cy="900427"/>
            </a:xfrm>
          </p:grpSpPr>
          <p:grpSp>
            <p:nvGrpSpPr>
              <p:cNvPr id="408" name="Group 407">
                <a:extLst>
                  <a:ext uri="{FF2B5EF4-FFF2-40B4-BE49-F238E27FC236}">
                    <a16:creationId xmlns:a16="http://schemas.microsoft.com/office/drawing/2014/main" id="{EE0586D2-63AE-48C9-835B-AF68C915AC7B}"/>
                  </a:ext>
                </a:extLst>
              </p:cNvPr>
              <p:cNvGrpSpPr/>
              <p:nvPr/>
            </p:nvGrpSpPr>
            <p:grpSpPr>
              <a:xfrm>
                <a:off x="7898643" y="4021069"/>
                <a:ext cx="756803" cy="900427"/>
                <a:chOff x="6760515" y="3143193"/>
                <a:chExt cx="756803" cy="900427"/>
              </a:xfrm>
            </p:grpSpPr>
            <p:sp>
              <p:nvSpPr>
                <p:cNvPr id="416" name="Rectangle 415">
                  <a:extLst>
                    <a:ext uri="{FF2B5EF4-FFF2-40B4-BE49-F238E27FC236}">
                      <a16:creationId xmlns:a16="http://schemas.microsoft.com/office/drawing/2014/main" id="{8FDBFCCC-77B8-4898-930E-63CFCC703D01}"/>
                    </a:ext>
                  </a:extLst>
                </p:cNvPr>
                <p:cNvSpPr/>
                <p:nvPr/>
              </p:nvSpPr>
              <p:spPr bwMode="gray">
                <a:xfrm>
                  <a:off x="6917392" y="3143193"/>
                  <a:ext cx="599925" cy="900427"/>
                </a:xfrm>
                <a:prstGeom prst="rect">
                  <a:avLst/>
                </a:prstGeom>
                <a:solidFill>
                  <a:schemeClr val="bg1"/>
                </a:solidFill>
                <a:ln w="19050" algn="ctr">
                  <a:solidFill>
                    <a:schemeClr val="accent3"/>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17" name="Rectangle 416">
                  <a:extLst>
                    <a:ext uri="{FF2B5EF4-FFF2-40B4-BE49-F238E27FC236}">
                      <a16:creationId xmlns:a16="http://schemas.microsoft.com/office/drawing/2014/main" id="{D3D08872-247D-4DFD-9614-D969F0063F58}"/>
                    </a:ext>
                  </a:extLst>
                </p:cNvPr>
                <p:cNvSpPr/>
                <p:nvPr/>
              </p:nvSpPr>
              <p:spPr>
                <a:xfrm>
                  <a:off x="6950513" y="3273479"/>
                  <a:ext cx="535724" cy="276999"/>
                </a:xfrm>
                <a:prstGeom prst="rect">
                  <a:avLst/>
                </a:prstGeom>
              </p:spPr>
              <p:txBody>
                <a:bodyPr wrap="none" t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rPr>
                    <a:t>115</a:t>
                  </a:r>
                  <a:endParaRPr kumimoji="0" lang="en-IN"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18" name="Rectangle 417">
                  <a:extLst>
                    <a:ext uri="{FF2B5EF4-FFF2-40B4-BE49-F238E27FC236}">
                      <a16:creationId xmlns:a16="http://schemas.microsoft.com/office/drawing/2014/main" id="{9CD856EC-CBEE-44B0-A870-588EEF4E5CAE}"/>
                    </a:ext>
                  </a:extLst>
                </p:cNvPr>
                <p:cNvSpPr/>
                <p:nvPr/>
              </p:nvSpPr>
              <p:spPr>
                <a:xfrm>
                  <a:off x="6975971" y="3723078"/>
                  <a:ext cx="458780" cy="215444"/>
                </a:xfrm>
                <a:prstGeom prst="rect">
                  <a:avLst/>
                </a:prstGeom>
              </p:spPr>
              <p:txBody>
                <a:bodyPr wrap="none" t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rPr>
                    <a:t>137</a:t>
                  </a:r>
                  <a:endParaRPr kumimoji="0" lang="en-IN" sz="1400" b="0"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endParaRPr>
                </a:p>
              </p:txBody>
            </p:sp>
            <p:sp>
              <p:nvSpPr>
                <p:cNvPr id="419" name="Rectangle 418">
                  <a:extLst>
                    <a:ext uri="{FF2B5EF4-FFF2-40B4-BE49-F238E27FC236}">
                      <a16:creationId xmlns:a16="http://schemas.microsoft.com/office/drawing/2014/main" id="{B02F8266-0CC2-4EDE-B319-B824F7C38B5A}"/>
                    </a:ext>
                  </a:extLst>
                </p:cNvPr>
                <p:cNvSpPr/>
                <p:nvPr/>
              </p:nvSpPr>
              <p:spPr>
                <a:xfrm>
                  <a:off x="6760515" y="3538179"/>
                  <a:ext cx="756803" cy="161583"/>
                </a:xfrm>
                <a:prstGeom prst="rect">
                  <a:avLst/>
                </a:prstGeom>
                <a:solidFill>
                  <a:schemeClr val="accent3"/>
                </a:solidFill>
              </p:spPr>
              <p:txBody>
                <a:bodyPr wrap="square" lIns="274320" t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of</a:t>
                  </a:r>
                  <a:endParaRPr kumimoji="0" lang="en-IN" sz="105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20" name="Rectangle 419">
                  <a:extLst>
                    <a:ext uri="{FF2B5EF4-FFF2-40B4-BE49-F238E27FC236}">
                      <a16:creationId xmlns:a16="http://schemas.microsoft.com/office/drawing/2014/main" id="{66DA9324-BB80-462A-BAD8-BE6922605C5F}"/>
                    </a:ext>
                  </a:extLst>
                </p:cNvPr>
                <p:cNvSpPr/>
                <p:nvPr/>
              </p:nvSpPr>
              <p:spPr>
                <a:xfrm>
                  <a:off x="6950513" y="3882663"/>
                  <a:ext cx="508152" cy="138499"/>
                </a:xfrm>
                <a:prstGeom prst="rect">
                  <a:avLst/>
                </a:prstGeom>
              </p:spPr>
              <p:txBody>
                <a:bodyPr wrap="none" lIns="0" tIns="0" rIns="0" bIns="0">
                  <a:spAutoFit/>
                </a:bodyPr>
                <a:lstStyle/>
                <a:p>
                  <a:pPr marL="0" marR="0" lvl="0" indent="0" algn="l" defTabSz="103228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rPr>
                    <a:t>companies</a:t>
                  </a:r>
                </a:p>
              </p:txBody>
            </p:sp>
            <p:sp>
              <p:nvSpPr>
                <p:cNvPr id="421" name="Rectangle 420">
                  <a:extLst>
                    <a:ext uri="{FF2B5EF4-FFF2-40B4-BE49-F238E27FC236}">
                      <a16:creationId xmlns:a16="http://schemas.microsoft.com/office/drawing/2014/main" id="{C7215518-D7AC-4122-A0D8-0D7383913B36}"/>
                    </a:ext>
                  </a:extLst>
                </p:cNvPr>
                <p:cNvSpPr/>
                <p:nvPr/>
              </p:nvSpPr>
              <p:spPr>
                <a:xfrm>
                  <a:off x="7054045" y="3171396"/>
                  <a:ext cx="306174" cy="138499"/>
                </a:xfrm>
                <a:prstGeom prst="rect">
                  <a:avLst/>
                </a:prstGeom>
              </p:spPr>
              <p:txBody>
                <a:bodyPr wrap="none" lIns="0" tIns="0" rIns="0" bIns="0">
                  <a:spAutoFit/>
                </a:bodyPr>
                <a:lstStyle/>
                <a:p>
                  <a:pPr marL="0" marR="0" lvl="0" indent="0" algn="l" defTabSz="103228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rPr>
                    <a:t>Serves</a:t>
                  </a:r>
                </a:p>
              </p:txBody>
            </p:sp>
          </p:grpSp>
          <p:grpSp>
            <p:nvGrpSpPr>
              <p:cNvPr id="409" name="Group 408">
                <a:extLst>
                  <a:ext uri="{FF2B5EF4-FFF2-40B4-BE49-F238E27FC236}">
                    <a16:creationId xmlns:a16="http://schemas.microsoft.com/office/drawing/2014/main" id="{CB510029-226C-4EE5-A9E5-4DA76D896C35}"/>
                  </a:ext>
                </a:extLst>
              </p:cNvPr>
              <p:cNvGrpSpPr/>
              <p:nvPr/>
            </p:nvGrpSpPr>
            <p:grpSpPr>
              <a:xfrm>
                <a:off x="7585253" y="4297064"/>
                <a:ext cx="405566" cy="405566"/>
                <a:chOff x="8160584" y="4119087"/>
                <a:chExt cx="405566" cy="405566"/>
              </a:xfrm>
            </p:grpSpPr>
            <p:sp>
              <p:nvSpPr>
                <p:cNvPr id="412" name="Oval 411">
                  <a:extLst>
                    <a:ext uri="{FF2B5EF4-FFF2-40B4-BE49-F238E27FC236}">
                      <a16:creationId xmlns:a16="http://schemas.microsoft.com/office/drawing/2014/main" id="{765D603B-AD53-4B92-B24D-42F0A79AF097}"/>
                    </a:ext>
                  </a:extLst>
                </p:cNvPr>
                <p:cNvSpPr/>
                <p:nvPr/>
              </p:nvSpPr>
              <p:spPr bwMode="gray">
                <a:xfrm>
                  <a:off x="8160584" y="4119087"/>
                  <a:ext cx="405566" cy="405566"/>
                </a:xfrm>
                <a:prstGeom prst="ellipse">
                  <a:avLst/>
                </a:prstGeom>
                <a:solidFill>
                  <a:schemeClr val="bg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413" name="Group 682">
                  <a:extLst>
                    <a:ext uri="{FF2B5EF4-FFF2-40B4-BE49-F238E27FC236}">
                      <a16:creationId xmlns:a16="http://schemas.microsoft.com/office/drawing/2014/main" id="{50BE01D1-4EB9-4D6E-833E-AB86BFA3FCEC}"/>
                    </a:ext>
                  </a:extLst>
                </p:cNvPr>
                <p:cNvGrpSpPr>
                  <a:grpSpLocks/>
                </p:cNvGrpSpPr>
                <p:nvPr/>
              </p:nvGrpSpPr>
              <p:grpSpPr bwMode="auto">
                <a:xfrm>
                  <a:off x="8187636" y="4146617"/>
                  <a:ext cx="351462" cy="353672"/>
                  <a:chOff x="1144" y="2344"/>
                  <a:chExt cx="340" cy="340"/>
                </a:xfrm>
                <a:solidFill>
                  <a:schemeClr val="accent3"/>
                </a:solidFill>
              </p:grpSpPr>
              <p:sp>
                <p:nvSpPr>
                  <p:cNvPr id="414" name="Freeform 683">
                    <a:extLst>
                      <a:ext uri="{FF2B5EF4-FFF2-40B4-BE49-F238E27FC236}">
                        <a16:creationId xmlns:a16="http://schemas.microsoft.com/office/drawing/2014/main" id="{7998F99C-0888-48CB-B652-2D709B7604A1}"/>
                      </a:ext>
                    </a:extLst>
                  </p:cNvPr>
                  <p:cNvSpPr>
                    <a:spLocks noEditPoints="1"/>
                  </p:cNvSpPr>
                  <p:nvPr/>
                </p:nvSpPr>
                <p:spPr bwMode="auto">
                  <a:xfrm>
                    <a:off x="1144" y="234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marL="0" marR="0" lvl="0" indent="0" algn="l" defTabSz="905428"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15" name="Freeform 684">
                    <a:extLst>
                      <a:ext uri="{FF2B5EF4-FFF2-40B4-BE49-F238E27FC236}">
                        <a16:creationId xmlns:a16="http://schemas.microsoft.com/office/drawing/2014/main" id="{DC3F79C1-FD59-4E27-92F4-5F7E19C96AEF}"/>
                      </a:ext>
                    </a:extLst>
                  </p:cNvPr>
                  <p:cNvSpPr>
                    <a:spLocks noEditPoints="1"/>
                  </p:cNvSpPr>
                  <p:nvPr/>
                </p:nvSpPr>
                <p:spPr bwMode="auto">
                  <a:xfrm>
                    <a:off x="1207" y="2435"/>
                    <a:ext cx="214" cy="171"/>
                  </a:xfrm>
                  <a:custGeom>
                    <a:avLst/>
                    <a:gdLst>
                      <a:gd name="T0" fmla="*/ 313 w 322"/>
                      <a:gd name="T1" fmla="*/ 22 h 257"/>
                      <a:gd name="T2" fmla="*/ 276 w 322"/>
                      <a:gd name="T3" fmla="*/ 31 h 257"/>
                      <a:gd name="T4" fmla="*/ 246 w 322"/>
                      <a:gd name="T5" fmla="*/ 185 h 257"/>
                      <a:gd name="T6" fmla="*/ 235 w 322"/>
                      <a:gd name="T7" fmla="*/ 193 h 257"/>
                      <a:gd name="T8" fmla="*/ 235 w 322"/>
                      <a:gd name="T9" fmla="*/ 193 h 257"/>
                      <a:gd name="T10" fmla="*/ 235 w 322"/>
                      <a:gd name="T11" fmla="*/ 193 h 257"/>
                      <a:gd name="T12" fmla="*/ 54 w 322"/>
                      <a:gd name="T13" fmla="*/ 193 h 257"/>
                      <a:gd name="T14" fmla="*/ 43 w 322"/>
                      <a:gd name="T15" fmla="*/ 183 h 257"/>
                      <a:gd name="T16" fmla="*/ 54 w 322"/>
                      <a:gd name="T17" fmla="*/ 172 h 257"/>
                      <a:gd name="T18" fmla="*/ 227 w 322"/>
                      <a:gd name="T19" fmla="*/ 172 h 257"/>
                      <a:gd name="T20" fmla="*/ 257 w 322"/>
                      <a:gd name="T21" fmla="*/ 21 h 257"/>
                      <a:gd name="T22" fmla="*/ 265 w 322"/>
                      <a:gd name="T23" fmla="*/ 12 h 257"/>
                      <a:gd name="T24" fmla="*/ 307 w 322"/>
                      <a:gd name="T25" fmla="*/ 2 h 257"/>
                      <a:gd name="T26" fmla="*/ 320 w 322"/>
                      <a:gd name="T27" fmla="*/ 9 h 257"/>
                      <a:gd name="T28" fmla="*/ 313 w 322"/>
                      <a:gd name="T29" fmla="*/ 22 h 257"/>
                      <a:gd name="T30" fmla="*/ 203 w 322"/>
                      <a:gd name="T31" fmla="*/ 140 h 257"/>
                      <a:gd name="T32" fmla="*/ 193 w 322"/>
                      <a:gd name="T33" fmla="*/ 129 h 257"/>
                      <a:gd name="T34" fmla="*/ 41 w 322"/>
                      <a:gd name="T35" fmla="*/ 129 h 257"/>
                      <a:gd name="T36" fmla="*/ 25 w 322"/>
                      <a:gd name="T37" fmla="*/ 65 h 257"/>
                      <a:gd name="T38" fmla="*/ 214 w 322"/>
                      <a:gd name="T39" fmla="*/ 65 h 257"/>
                      <a:gd name="T40" fmla="*/ 225 w 322"/>
                      <a:gd name="T41" fmla="*/ 55 h 257"/>
                      <a:gd name="T42" fmla="*/ 214 w 322"/>
                      <a:gd name="T43" fmla="*/ 44 h 257"/>
                      <a:gd name="T44" fmla="*/ 11 w 322"/>
                      <a:gd name="T45" fmla="*/ 44 h 257"/>
                      <a:gd name="T46" fmla="*/ 3 w 322"/>
                      <a:gd name="T47" fmla="*/ 48 h 257"/>
                      <a:gd name="T48" fmla="*/ 1 w 322"/>
                      <a:gd name="T49" fmla="*/ 57 h 257"/>
                      <a:gd name="T50" fmla="*/ 22 w 322"/>
                      <a:gd name="T51" fmla="*/ 143 h 257"/>
                      <a:gd name="T52" fmla="*/ 33 w 322"/>
                      <a:gd name="T53" fmla="*/ 151 h 257"/>
                      <a:gd name="T54" fmla="*/ 193 w 322"/>
                      <a:gd name="T55" fmla="*/ 151 h 257"/>
                      <a:gd name="T56" fmla="*/ 203 w 322"/>
                      <a:gd name="T57" fmla="*/ 140 h 257"/>
                      <a:gd name="T58" fmla="*/ 65 w 322"/>
                      <a:gd name="T59" fmla="*/ 87 h 257"/>
                      <a:gd name="T60" fmla="*/ 54 w 322"/>
                      <a:gd name="T61" fmla="*/ 97 h 257"/>
                      <a:gd name="T62" fmla="*/ 65 w 322"/>
                      <a:gd name="T63" fmla="*/ 108 h 257"/>
                      <a:gd name="T64" fmla="*/ 203 w 322"/>
                      <a:gd name="T65" fmla="*/ 108 h 257"/>
                      <a:gd name="T66" fmla="*/ 214 w 322"/>
                      <a:gd name="T67" fmla="*/ 97 h 257"/>
                      <a:gd name="T68" fmla="*/ 203 w 322"/>
                      <a:gd name="T69" fmla="*/ 87 h 257"/>
                      <a:gd name="T70" fmla="*/ 65 w 322"/>
                      <a:gd name="T71" fmla="*/ 87 h 257"/>
                      <a:gd name="T72" fmla="*/ 75 w 322"/>
                      <a:gd name="T73" fmla="*/ 215 h 257"/>
                      <a:gd name="T74" fmla="*/ 54 w 322"/>
                      <a:gd name="T75" fmla="*/ 236 h 257"/>
                      <a:gd name="T76" fmla="*/ 75 w 322"/>
                      <a:gd name="T77" fmla="*/ 257 h 257"/>
                      <a:gd name="T78" fmla="*/ 97 w 322"/>
                      <a:gd name="T79" fmla="*/ 236 h 257"/>
                      <a:gd name="T80" fmla="*/ 75 w 322"/>
                      <a:gd name="T81" fmla="*/ 215 h 257"/>
                      <a:gd name="T82" fmla="*/ 214 w 322"/>
                      <a:gd name="T83" fmla="*/ 215 h 257"/>
                      <a:gd name="T84" fmla="*/ 193 w 322"/>
                      <a:gd name="T85" fmla="*/ 236 h 257"/>
                      <a:gd name="T86" fmla="*/ 214 w 322"/>
                      <a:gd name="T87" fmla="*/ 257 h 257"/>
                      <a:gd name="T88" fmla="*/ 235 w 322"/>
                      <a:gd name="T89" fmla="*/ 236 h 257"/>
                      <a:gd name="T90" fmla="*/ 214 w 322"/>
                      <a:gd name="T91" fmla="*/ 215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2" h="257">
                        <a:moveTo>
                          <a:pt x="313" y="22"/>
                        </a:moveTo>
                        <a:cubicBezTo>
                          <a:pt x="276" y="31"/>
                          <a:pt x="276" y="31"/>
                          <a:pt x="276" y="31"/>
                        </a:cubicBezTo>
                        <a:cubicBezTo>
                          <a:pt x="246" y="185"/>
                          <a:pt x="246" y="185"/>
                          <a:pt x="246" y="185"/>
                        </a:cubicBezTo>
                        <a:cubicBezTo>
                          <a:pt x="245" y="190"/>
                          <a:pt x="240" y="193"/>
                          <a:pt x="235" y="193"/>
                        </a:cubicBezTo>
                        <a:cubicBezTo>
                          <a:pt x="235" y="193"/>
                          <a:pt x="235" y="193"/>
                          <a:pt x="235" y="193"/>
                        </a:cubicBezTo>
                        <a:cubicBezTo>
                          <a:pt x="235" y="193"/>
                          <a:pt x="235" y="193"/>
                          <a:pt x="235" y="193"/>
                        </a:cubicBezTo>
                        <a:cubicBezTo>
                          <a:pt x="54" y="193"/>
                          <a:pt x="54" y="193"/>
                          <a:pt x="54" y="193"/>
                        </a:cubicBezTo>
                        <a:cubicBezTo>
                          <a:pt x="48" y="193"/>
                          <a:pt x="43" y="189"/>
                          <a:pt x="43" y="183"/>
                        </a:cubicBezTo>
                        <a:cubicBezTo>
                          <a:pt x="43" y="177"/>
                          <a:pt x="48" y="172"/>
                          <a:pt x="54" y="172"/>
                        </a:cubicBezTo>
                        <a:cubicBezTo>
                          <a:pt x="227" y="172"/>
                          <a:pt x="227" y="172"/>
                          <a:pt x="227" y="172"/>
                        </a:cubicBezTo>
                        <a:cubicBezTo>
                          <a:pt x="257" y="21"/>
                          <a:pt x="257" y="21"/>
                          <a:pt x="257" y="21"/>
                        </a:cubicBezTo>
                        <a:cubicBezTo>
                          <a:pt x="258" y="17"/>
                          <a:pt x="261" y="13"/>
                          <a:pt x="265" y="12"/>
                        </a:cubicBezTo>
                        <a:cubicBezTo>
                          <a:pt x="307" y="2"/>
                          <a:pt x="307" y="2"/>
                          <a:pt x="307" y="2"/>
                        </a:cubicBezTo>
                        <a:cubicBezTo>
                          <a:pt x="313" y="0"/>
                          <a:pt x="319" y="4"/>
                          <a:pt x="320" y="9"/>
                        </a:cubicBezTo>
                        <a:cubicBezTo>
                          <a:pt x="322" y="15"/>
                          <a:pt x="318" y="21"/>
                          <a:pt x="313" y="22"/>
                        </a:cubicBezTo>
                        <a:close/>
                        <a:moveTo>
                          <a:pt x="203" y="140"/>
                        </a:moveTo>
                        <a:cubicBezTo>
                          <a:pt x="203" y="134"/>
                          <a:pt x="199" y="129"/>
                          <a:pt x="193" y="129"/>
                        </a:cubicBezTo>
                        <a:cubicBezTo>
                          <a:pt x="41" y="129"/>
                          <a:pt x="41" y="129"/>
                          <a:pt x="41" y="129"/>
                        </a:cubicBezTo>
                        <a:cubicBezTo>
                          <a:pt x="25" y="65"/>
                          <a:pt x="25" y="65"/>
                          <a:pt x="25" y="65"/>
                        </a:cubicBezTo>
                        <a:cubicBezTo>
                          <a:pt x="214" y="65"/>
                          <a:pt x="214" y="65"/>
                          <a:pt x="214" y="65"/>
                        </a:cubicBezTo>
                        <a:cubicBezTo>
                          <a:pt x="220" y="65"/>
                          <a:pt x="225" y="61"/>
                          <a:pt x="225" y="55"/>
                        </a:cubicBezTo>
                        <a:cubicBezTo>
                          <a:pt x="225" y="49"/>
                          <a:pt x="220" y="44"/>
                          <a:pt x="214" y="44"/>
                        </a:cubicBezTo>
                        <a:cubicBezTo>
                          <a:pt x="11" y="44"/>
                          <a:pt x="11" y="44"/>
                          <a:pt x="11" y="44"/>
                        </a:cubicBezTo>
                        <a:cubicBezTo>
                          <a:pt x="8" y="44"/>
                          <a:pt x="5" y="46"/>
                          <a:pt x="3" y="48"/>
                        </a:cubicBezTo>
                        <a:cubicBezTo>
                          <a:pt x="1" y="51"/>
                          <a:pt x="0" y="54"/>
                          <a:pt x="1" y="57"/>
                        </a:cubicBezTo>
                        <a:cubicBezTo>
                          <a:pt x="22" y="143"/>
                          <a:pt x="22" y="143"/>
                          <a:pt x="22" y="143"/>
                        </a:cubicBezTo>
                        <a:cubicBezTo>
                          <a:pt x="24" y="147"/>
                          <a:pt x="28" y="151"/>
                          <a:pt x="33" y="151"/>
                        </a:cubicBezTo>
                        <a:cubicBezTo>
                          <a:pt x="193" y="151"/>
                          <a:pt x="193" y="151"/>
                          <a:pt x="193" y="151"/>
                        </a:cubicBezTo>
                        <a:cubicBezTo>
                          <a:pt x="199" y="151"/>
                          <a:pt x="203" y="146"/>
                          <a:pt x="203" y="140"/>
                        </a:cubicBezTo>
                        <a:close/>
                        <a:moveTo>
                          <a:pt x="65" y="87"/>
                        </a:moveTo>
                        <a:cubicBezTo>
                          <a:pt x="59" y="87"/>
                          <a:pt x="54" y="91"/>
                          <a:pt x="54" y="97"/>
                        </a:cubicBezTo>
                        <a:cubicBezTo>
                          <a:pt x="54" y="103"/>
                          <a:pt x="59" y="108"/>
                          <a:pt x="65" y="108"/>
                        </a:cubicBezTo>
                        <a:cubicBezTo>
                          <a:pt x="203" y="108"/>
                          <a:pt x="203" y="108"/>
                          <a:pt x="203" y="108"/>
                        </a:cubicBezTo>
                        <a:cubicBezTo>
                          <a:pt x="209" y="108"/>
                          <a:pt x="214" y="103"/>
                          <a:pt x="214" y="97"/>
                        </a:cubicBezTo>
                        <a:cubicBezTo>
                          <a:pt x="214" y="91"/>
                          <a:pt x="209" y="87"/>
                          <a:pt x="203" y="87"/>
                        </a:cubicBezTo>
                        <a:lnTo>
                          <a:pt x="65" y="87"/>
                        </a:lnTo>
                        <a:close/>
                        <a:moveTo>
                          <a:pt x="75" y="215"/>
                        </a:moveTo>
                        <a:cubicBezTo>
                          <a:pt x="64" y="215"/>
                          <a:pt x="54" y="224"/>
                          <a:pt x="54" y="236"/>
                        </a:cubicBezTo>
                        <a:cubicBezTo>
                          <a:pt x="54" y="248"/>
                          <a:pt x="64" y="257"/>
                          <a:pt x="75" y="257"/>
                        </a:cubicBezTo>
                        <a:cubicBezTo>
                          <a:pt x="87" y="257"/>
                          <a:pt x="97" y="248"/>
                          <a:pt x="97" y="236"/>
                        </a:cubicBezTo>
                        <a:cubicBezTo>
                          <a:pt x="97" y="224"/>
                          <a:pt x="87" y="215"/>
                          <a:pt x="75" y="215"/>
                        </a:cubicBezTo>
                        <a:close/>
                        <a:moveTo>
                          <a:pt x="214" y="215"/>
                        </a:moveTo>
                        <a:cubicBezTo>
                          <a:pt x="202" y="215"/>
                          <a:pt x="193" y="224"/>
                          <a:pt x="193" y="236"/>
                        </a:cubicBezTo>
                        <a:cubicBezTo>
                          <a:pt x="193" y="248"/>
                          <a:pt x="202" y="257"/>
                          <a:pt x="214" y="257"/>
                        </a:cubicBezTo>
                        <a:cubicBezTo>
                          <a:pt x="226" y="257"/>
                          <a:pt x="235" y="248"/>
                          <a:pt x="235" y="236"/>
                        </a:cubicBezTo>
                        <a:cubicBezTo>
                          <a:pt x="235" y="224"/>
                          <a:pt x="226" y="215"/>
                          <a:pt x="214" y="21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marL="0" marR="0" lvl="0" indent="0" algn="l" defTabSz="905428"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grpSp>
          <p:sp>
            <p:nvSpPr>
              <p:cNvPr id="410" name="Rectangle 409">
                <a:extLst>
                  <a:ext uri="{FF2B5EF4-FFF2-40B4-BE49-F238E27FC236}">
                    <a16:creationId xmlns:a16="http://schemas.microsoft.com/office/drawing/2014/main" id="{B80E9AE1-8198-4736-B5EE-353ECD01BCD6}"/>
                  </a:ext>
                </a:extLst>
              </p:cNvPr>
              <p:cNvSpPr/>
              <p:nvPr/>
            </p:nvSpPr>
            <p:spPr>
              <a:xfrm>
                <a:off x="6679062" y="4385146"/>
                <a:ext cx="827972" cy="220573"/>
              </a:xfrm>
              <a:prstGeom prst="rect">
                <a:avLst/>
              </a:prstGeom>
            </p:spPr>
            <p:txBody>
              <a:bodyPr wrap="square" lIns="0">
                <a:spAutoFit/>
              </a:bodyPr>
              <a:lstStyle/>
              <a:p>
                <a:pPr marL="0" marR="0" lvl="0" indent="0" algn="r" defTabSz="905428" rtl="0" eaLnBrk="1" fontAlgn="auto" latinLnBrk="0" hangingPunct="1">
                  <a:lnSpc>
                    <a:spcPts val="1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Consumer</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11" name="Isosceles Triangle 410">
                <a:extLst>
                  <a:ext uri="{FF2B5EF4-FFF2-40B4-BE49-F238E27FC236}">
                    <a16:creationId xmlns:a16="http://schemas.microsoft.com/office/drawing/2014/main" id="{CB964B4E-0842-4E37-A497-C5A54CD40453}"/>
                  </a:ext>
                </a:extLst>
              </p:cNvPr>
              <p:cNvSpPr/>
              <p:nvPr/>
            </p:nvSpPr>
            <p:spPr bwMode="gray">
              <a:xfrm rot="5400000">
                <a:off x="7482135" y="4461895"/>
                <a:ext cx="103948" cy="89610"/>
              </a:xfrm>
              <a:prstGeom prst="triangle">
                <a:avLst/>
              </a:prstGeom>
              <a:solidFill>
                <a:schemeClr val="accent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nvGrpSpPr>
            <p:cNvPr id="328" name="Group 327">
              <a:extLst>
                <a:ext uri="{FF2B5EF4-FFF2-40B4-BE49-F238E27FC236}">
                  <a16:creationId xmlns:a16="http://schemas.microsoft.com/office/drawing/2014/main" id="{36B7762D-A98D-4A95-AC3C-733CAE161B82}"/>
                </a:ext>
              </a:extLst>
            </p:cNvPr>
            <p:cNvGrpSpPr/>
            <p:nvPr/>
          </p:nvGrpSpPr>
          <p:grpSpPr>
            <a:xfrm>
              <a:off x="6096366" y="3961285"/>
              <a:ext cx="1914185" cy="900427"/>
              <a:chOff x="6207241" y="3961285"/>
              <a:chExt cx="1914185" cy="900427"/>
            </a:xfrm>
          </p:grpSpPr>
          <p:grpSp>
            <p:nvGrpSpPr>
              <p:cNvPr id="395" name="Group 394">
                <a:extLst>
                  <a:ext uri="{FF2B5EF4-FFF2-40B4-BE49-F238E27FC236}">
                    <a16:creationId xmlns:a16="http://schemas.microsoft.com/office/drawing/2014/main" id="{3CA22A48-2C56-42BC-9929-EBA8C17ED116}"/>
                  </a:ext>
                </a:extLst>
              </p:cNvPr>
              <p:cNvGrpSpPr/>
              <p:nvPr/>
            </p:nvGrpSpPr>
            <p:grpSpPr>
              <a:xfrm>
                <a:off x="7364623" y="3961285"/>
                <a:ext cx="756803" cy="900427"/>
                <a:chOff x="6760515" y="3143193"/>
                <a:chExt cx="756803" cy="900427"/>
              </a:xfrm>
            </p:grpSpPr>
            <p:sp>
              <p:nvSpPr>
                <p:cNvPr id="402" name="Rectangle 401">
                  <a:extLst>
                    <a:ext uri="{FF2B5EF4-FFF2-40B4-BE49-F238E27FC236}">
                      <a16:creationId xmlns:a16="http://schemas.microsoft.com/office/drawing/2014/main" id="{1537EDA4-FD6D-4863-8EB7-0D7C1EC66D68}"/>
                    </a:ext>
                  </a:extLst>
                </p:cNvPr>
                <p:cNvSpPr/>
                <p:nvPr/>
              </p:nvSpPr>
              <p:spPr bwMode="gray">
                <a:xfrm>
                  <a:off x="6917392" y="3143193"/>
                  <a:ext cx="599925" cy="900427"/>
                </a:xfrm>
                <a:prstGeom prst="rect">
                  <a:avLst/>
                </a:prstGeom>
                <a:solidFill>
                  <a:schemeClr val="bg1"/>
                </a:solidFill>
                <a:ln w="19050" algn="ctr">
                  <a:solidFill>
                    <a:schemeClr val="accent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4</a:t>
                  </a:r>
                  <a:endParaRPr kumimoji="0" lang="en-IN"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03" name="Rectangle 402">
                  <a:extLst>
                    <a:ext uri="{FF2B5EF4-FFF2-40B4-BE49-F238E27FC236}">
                      <a16:creationId xmlns:a16="http://schemas.microsoft.com/office/drawing/2014/main" id="{71C47CD3-01FF-4966-8FA1-47F5E5FD0DF7}"/>
                    </a:ext>
                  </a:extLst>
                </p:cNvPr>
                <p:cNvSpPr/>
                <p:nvPr/>
              </p:nvSpPr>
              <p:spPr>
                <a:xfrm>
                  <a:off x="6986420" y="3274738"/>
                  <a:ext cx="418704" cy="276999"/>
                </a:xfrm>
                <a:prstGeom prst="rect">
                  <a:avLst/>
                </a:prstGeom>
              </p:spPr>
              <p:txBody>
                <a:bodyPr wrap="none" t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rPr>
                    <a:t>75</a:t>
                  </a:r>
                  <a:endParaRPr kumimoji="0" lang="en-IN"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04" name="Rectangle 403">
                  <a:extLst>
                    <a:ext uri="{FF2B5EF4-FFF2-40B4-BE49-F238E27FC236}">
                      <a16:creationId xmlns:a16="http://schemas.microsoft.com/office/drawing/2014/main" id="{189CF699-2C89-429B-8187-17066896AC8E}"/>
                    </a:ext>
                  </a:extLst>
                </p:cNvPr>
                <p:cNvSpPr/>
                <p:nvPr/>
              </p:nvSpPr>
              <p:spPr>
                <a:xfrm>
                  <a:off x="7044551" y="3723078"/>
                  <a:ext cx="367408" cy="215444"/>
                </a:xfrm>
                <a:prstGeom prst="rect">
                  <a:avLst/>
                </a:prstGeom>
              </p:spPr>
              <p:txBody>
                <a:bodyPr wrap="none" t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rPr>
                    <a:t>88</a:t>
                  </a:r>
                  <a:endParaRPr kumimoji="0" lang="en-IN" sz="1400" b="0"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endParaRPr>
                </a:p>
              </p:txBody>
            </p:sp>
            <p:sp>
              <p:nvSpPr>
                <p:cNvPr id="405" name="Rectangle 404">
                  <a:extLst>
                    <a:ext uri="{FF2B5EF4-FFF2-40B4-BE49-F238E27FC236}">
                      <a16:creationId xmlns:a16="http://schemas.microsoft.com/office/drawing/2014/main" id="{6B71474B-B1D7-47ED-8CD8-EA73730F07C0}"/>
                    </a:ext>
                  </a:extLst>
                </p:cNvPr>
                <p:cNvSpPr/>
                <p:nvPr/>
              </p:nvSpPr>
              <p:spPr>
                <a:xfrm>
                  <a:off x="6760515" y="3538179"/>
                  <a:ext cx="756803" cy="161583"/>
                </a:xfrm>
                <a:prstGeom prst="rect">
                  <a:avLst/>
                </a:prstGeom>
                <a:solidFill>
                  <a:schemeClr val="accent1"/>
                </a:solidFill>
              </p:spPr>
              <p:txBody>
                <a:bodyPr wrap="square" lIns="274320" t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of</a:t>
                  </a:r>
                  <a:endParaRPr kumimoji="0" lang="en-IN" sz="105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06" name="Rectangle 405">
                  <a:extLst>
                    <a:ext uri="{FF2B5EF4-FFF2-40B4-BE49-F238E27FC236}">
                      <a16:creationId xmlns:a16="http://schemas.microsoft.com/office/drawing/2014/main" id="{BECDE3D4-804B-4C79-80F1-15811CB3D9A5}"/>
                    </a:ext>
                  </a:extLst>
                </p:cNvPr>
                <p:cNvSpPr/>
                <p:nvPr/>
              </p:nvSpPr>
              <p:spPr>
                <a:xfrm>
                  <a:off x="6950513" y="3882663"/>
                  <a:ext cx="508152" cy="138499"/>
                </a:xfrm>
                <a:prstGeom prst="rect">
                  <a:avLst/>
                </a:prstGeom>
              </p:spPr>
              <p:txBody>
                <a:bodyPr wrap="none" lIns="0" tIns="0" rIns="0" bIns="0">
                  <a:spAutoFit/>
                </a:bodyPr>
                <a:lstStyle/>
                <a:p>
                  <a:pPr marL="0" marR="0" lvl="0" indent="0" algn="l" defTabSz="103228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rPr>
                    <a:t>companies</a:t>
                  </a:r>
                </a:p>
              </p:txBody>
            </p:sp>
            <p:sp>
              <p:nvSpPr>
                <p:cNvPr id="407" name="Rectangle 406">
                  <a:extLst>
                    <a:ext uri="{FF2B5EF4-FFF2-40B4-BE49-F238E27FC236}">
                      <a16:creationId xmlns:a16="http://schemas.microsoft.com/office/drawing/2014/main" id="{02F03F3D-2867-49CD-9AF9-4448A33ED8E2}"/>
                    </a:ext>
                  </a:extLst>
                </p:cNvPr>
                <p:cNvSpPr/>
                <p:nvPr/>
              </p:nvSpPr>
              <p:spPr>
                <a:xfrm>
                  <a:off x="7054045" y="3171396"/>
                  <a:ext cx="306174" cy="138499"/>
                </a:xfrm>
                <a:prstGeom prst="rect">
                  <a:avLst/>
                </a:prstGeom>
              </p:spPr>
              <p:txBody>
                <a:bodyPr wrap="none" lIns="0" tIns="0" rIns="0" bIns="0">
                  <a:spAutoFit/>
                </a:bodyPr>
                <a:lstStyle/>
                <a:p>
                  <a:pPr marL="0" marR="0" lvl="0" indent="0" algn="l" defTabSz="103228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rPr>
                    <a:t>Serves</a:t>
                  </a:r>
                </a:p>
              </p:txBody>
            </p:sp>
          </p:grpSp>
          <p:sp>
            <p:nvSpPr>
              <p:cNvPr id="396" name="Oval 395">
                <a:extLst>
                  <a:ext uri="{FF2B5EF4-FFF2-40B4-BE49-F238E27FC236}">
                    <a16:creationId xmlns:a16="http://schemas.microsoft.com/office/drawing/2014/main" id="{17A24566-CD7F-4B40-A7FF-22BE13B82CBF}"/>
                  </a:ext>
                </a:extLst>
              </p:cNvPr>
              <p:cNvSpPr/>
              <p:nvPr/>
            </p:nvSpPr>
            <p:spPr bwMode="gray">
              <a:xfrm>
                <a:off x="7051233" y="4237280"/>
                <a:ext cx="405566" cy="405566"/>
              </a:xfrm>
              <a:prstGeom prst="ellipse">
                <a:avLst/>
              </a:prstGeom>
              <a:solidFill>
                <a:schemeClr val="bg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397" name="Rectangle 396">
                <a:extLst>
                  <a:ext uri="{FF2B5EF4-FFF2-40B4-BE49-F238E27FC236}">
                    <a16:creationId xmlns:a16="http://schemas.microsoft.com/office/drawing/2014/main" id="{0042B7EB-5A62-4295-B920-9F1459573E3F}"/>
                  </a:ext>
                </a:extLst>
              </p:cNvPr>
              <p:cNvSpPr/>
              <p:nvPr/>
            </p:nvSpPr>
            <p:spPr>
              <a:xfrm>
                <a:off x="6207241" y="4312937"/>
                <a:ext cx="687724" cy="348813"/>
              </a:xfrm>
              <a:prstGeom prst="rect">
                <a:avLst/>
              </a:prstGeom>
            </p:spPr>
            <p:txBody>
              <a:bodyPr wrap="square" lIns="0" rIns="0">
                <a:spAutoFit/>
              </a:bodyPr>
              <a:lstStyle/>
              <a:p>
                <a:pPr marL="0" marR="0" lvl="0" indent="0" algn="r" defTabSz="905428" rtl="0" eaLnBrk="1" fontAlgn="auto" latinLnBrk="0" hangingPunct="1">
                  <a:lnSpc>
                    <a:spcPts val="1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Financial services </a:t>
                </a:r>
              </a:p>
            </p:txBody>
          </p:sp>
          <p:sp>
            <p:nvSpPr>
              <p:cNvPr id="398" name="Isosceles Triangle 397">
                <a:extLst>
                  <a:ext uri="{FF2B5EF4-FFF2-40B4-BE49-F238E27FC236}">
                    <a16:creationId xmlns:a16="http://schemas.microsoft.com/office/drawing/2014/main" id="{50A066E3-EF5C-4999-A0F6-2C479600076D}"/>
                  </a:ext>
                </a:extLst>
              </p:cNvPr>
              <p:cNvSpPr/>
              <p:nvPr/>
            </p:nvSpPr>
            <p:spPr bwMode="gray">
              <a:xfrm rot="5400000">
                <a:off x="6948115" y="4402111"/>
                <a:ext cx="103948" cy="89610"/>
              </a:xfrm>
              <a:prstGeom prst="triangle">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399" name="Group 345">
                <a:extLst>
                  <a:ext uri="{FF2B5EF4-FFF2-40B4-BE49-F238E27FC236}">
                    <a16:creationId xmlns:a16="http://schemas.microsoft.com/office/drawing/2014/main" id="{737D6564-4FFE-41B8-8E07-AF92E2E48F7F}"/>
                  </a:ext>
                </a:extLst>
              </p:cNvPr>
              <p:cNvGrpSpPr>
                <a:grpSpLocks/>
              </p:cNvGrpSpPr>
              <p:nvPr/>
            </p:nvGrpSpPr>
            <p:grpSpPr bwMode="auto">
              <a:xfrm>
                <a:off x="7078285" y="4264100"/>
                <a:ext cx="351923" cy="351923"/>
                <a:chOff x="3451" y="1171"/>
                <a:chExt cx="340" cy="340"/>
              </a:xfrm>
              <a:solidFill>
                <a:schemeClr val="accent1"/>
              </a:solidFill>
            </p:grpSpPr>
            <p:sp>
              <p:nvSpPr>
                <p:cNvPr id="400" name="Freeform 346">
                  <a:extLst>
                    <a:ext uri="{FF2B5EF4-FFF2-40B4-BE49-F238E27FC236}">
                      <a16:creationId xmlns:a16="http://schemas.microsoft.com/office/drawing/2014/main" id="{79FCADBB-1E20-4E46-85E4-F053C0ABC49A}"/>
                    </a:ext>
                  </a:extLst>
                </p:cNvPr>
                <p:cNvSpPr>
                  <a:spLocks noEditPoints="1"/>
                </p:cNvSpPr>
                <p:nvPr/>
              </p:nvSpPr>
              <p:spPr bwMode="auto">
                <a:xfrm>
                  <a:off x="3515" y="1241"/>
                  <a:ext cx="212" cy="192"/>
                </a:xfrm>
                <a:custGeom>
                  <a:avLst/>
                  <a:gdLst>
                    <a:gd name="T0" fmla="*/ 224 w 320"/>
                    <a:gd name="T1" fmla="*/ 288 h 288"/>
                    <a:gd name="T2" fmla="*/ 170 w 320"/>
                    <a:gd name="T3" fmla="*/ 288 h 288"/>
                    <a:gd name="T4" fmla="*/ 160 w 320"/>
                    <a:gd name="T5" fmla="*/ 278 h 288"/>
                    <a:gd name="T6" fmla="*/ 160 w 320"/>
                    <a:gd name="T7" fmla="*/ 267 h 288"/>
                    <a:gd name="T8" fmla="*/ 138 w 320"/>
                    <a:gd name="T9" fmla="*/ 267 h 288"/>
                    <a:gd name="T10" fmla="*/ 138 w 320"/>
                    <a:gd name="T11" fmla="*/ 278 h 288"/>
                    <a:gd name="T12" fmla="*/ 128 w 320"/>
                    <a:gd name="T13" fmla="*/ 288 h 288"/>
                    <a:gd name="T14" fmla="*/ 74 w 320"/>
                    <a:gd name="T15" fmla="*/ 288 h 288"/>
                    <a:gd name="T16" fmla="*/ 64 w 320"/>
                    <a:gd name="T17" fmla="*/ 278 h 288"/>
                    <a:gd name="T18" fmla="*/ 27 w 320"/>
                    <a:gd name="T19" fmla="*/ 235 h 288"/>
                    <a:gd name="T20" fmla="*/ 18 w 320"/>
                    <a:gd name="T21" fmla="*/ 230 h 288"/>
                    <a:gd name="T22" fmla="*/ 0 w 320"/>
                    <a:gd name="T23" fmla="*/ 160 h 288"/>
                    <a:gd name="T24" fmla="*/ 138 w 320"/>
                    <a:gd name="T25" fmla="*/ 22 h 288"/>
                    <a:gd name="T26" fmla="*/ 198 w 320"/>
                    <a:gd name="T27" fmla="*/ 30 h 288"/>
                    <a:gd name="T28" fmla="*/ 255 w 320"/>
                    <a:gd name="T29" fmla="*/ 0 h 288"/>
                    <a:gd name="T30" fmla="*/ 264 w 320"/>
                    <a:gd name="T31" fmla="*/ 4 h 288"/>
                    <a:gd name="T32" fmla="*/ 266 w 320"/>
                    <a:gd name="T33" fmla="*/ 14 h 288"/>
                    <a:gd name="T34" fmla="*/ 257 w 320"/>
                    <a:gd name="T35" fmla="*/ 49 h 288"/>
                    <a:gd name="T36" fmla="*/ 294 w 320"/>
                    <a:gd name="T37" fmla="*/ 96 h 288"/>
                    <a:gd name="T38" fmla="*/ 309 w 320"/>
                    <a:gd name="T39" fmla="*/ 96 h 288"/>
                    <a:gd name="T40" fmla="*/ 320 w 320"/>
                    <a:gd name="T41" fmla="*/ 107 h 288"/>
                    <a:gd name="T42" fmla="*/ 320 w 320"/>
                    <a:gd name="T43" fmla="*/ 171 h 288"/>
                    <a:gd name="T44" fmla="*/ 309 w 320"/>
                    <a:gd name="T45" fmla="*/ 182 h 288"/>
                    <a:gd name="T46" fmla="*/ 275 w 320"/>
                    <a:gd name="T47" fmla="*/ 182 h 288"/>
                    <a:gd name="T48" fmla="*/ 234 w 320"/>
                    <a:gd name="T49" fmla="*/ 259 h 288"/>
                    <a:gd name="T50" fmla="*/ 234 w 320"/>
                    <a:gd name="T51" fmla="*/ 278 h 288"/>
                    <a:gd name="T52" fmla="*/ 224 w 320"/>
                    <a:gd name="T53" fmla="*/ 288 h 288"/>
                    <a:gd name="T54" fmla="*/ 181 w 320"/>
                    <a:gd name="T55" fmla="*/ 267 h 288"/>
                    <a:gd name="T56" fmla="*/ 213 w 320"/>
                    <a:gd name="T57" fmla="*/ 267 h 288"/>
                    <a:gd name="T58" fmla="*/ 213 w 320"/>
                    <a:gd name="T59" fmla="*/ 255 h 288"/>
                    <a:gd name="T60" fmla="*/ 216 w 320"/>
                    <a:gd name="T61" fmla="*/ 248 h 288"/>
                    <a:gd name="T62" fmla="*/ 255 w 320"/>
                    <a:gd name="T63" fmla="*/ 170 h 288"/>
                    <a:gd name="T64" fmla="*/ 266 w 320"/>
                    <a:gd name="T65" fmla="*/ 160 h 288"/>
                    <a:gd name="T66" fmla="*/ 298 w 320"/>
                    <a:gd name="T67" fmla="*/ 160 h 288"/>
                    <a:gd name="T68" fmla="*/ 298 w 320"/>
                    <a:gd name="T69" fmla="*/ 118 h 288"/>
                    <a:gd name="T70" fmla="*/ 288 w 320"/>
                    <a:gd name="T71" fmla="*/ 118 h 288"/>
                    <a:gd name="T72" fmla="*/ 278 w 320"/>
                    <a:gd name="T73" fmla="*/ 112 h 288"/>
                    <a:gd name="T74" fmla="*/ 240 w 320"/>
                    <a:gd name="T75" fmla="*/ 63 h 288"/>
                    <a:gd name="T76" fmla="*/ 235 w 320"/>
                    <a:gd name="T77" fmla="*/ 51 h 288"/>
                    <a:gd name="T78" fmla="*/ 241 w 320"/>
                    <a:gd name="T79" fmla="*/ 25 h 288"/>
                    <a:gd name="T80" fmla="*/ 212 w 320"/>
                    <a:gd name="T81" fmla="*/ 48 h 288"/>
                    <a:gd name="T82" fmla="*/ 199 w 320"/>
                    <a:gd name="T83" fmla="*/ 53 h 288"/>
                    <a:gd name="T84" fmla="*/ 138 w 320"/>
                    <a:gd name="T85" fmla="*/ 43 h 288"/>
                    <a:gd name="T86" fmla="*/ 21 w 320"/>
                    <a:gd name="T87" fmla="*/ 160 h 288"/>
                    <a:gd name="T88" fmla="*/ 34 w 320"/>
                    <a:gd name="T89" fmla="*/ 214 h 288"/>
                    <a:gd name="T90" fmla="*/ 84 w 320"/>
                    <a:gd name="T91" fmla="*/ 267 h 288"/>
                    <a:gd name="T92" fmla="*/ 117 w 320"/>
                    <a:gd name="T93" fmla="*/ 267 h 288"/>
                    <a:gd name="T94" fmla="*/ 117 w 320"/>
                    <a:gd name="T95" fmla="*/ 256 h 288"/>
                    <a:gd name="T96" fmla="*/ 128 w 320"/>
                    <a:gd name="T97" fmla="*/ 246 h 288"/>
                    <a:gd name="T98" fmla="*/ 170 w 320"/>
                    <a:gd name="T99" fmla="*/ 246 h 288"/>
                    <a:gd name="T100" fmla="*/ 181 w 320"/>
                    <a:gd name="T101" fmla="*/ 256 h 288"/>
                    <a:gd name="T102" fmla="*/ 181 w 320"/>
                    <a:gd name="T103" fmla="*/ 267 h 288"/>
                    <a:gd name="T104" fmla="*/ 82 w 320"/>
                    <a:gd name="T105" fmla="*/ 104 h 288"/>
                    <a:gd name="T106" fmla="*/ 130 w 320"/>
                    <a:gd name="T107" fmla="*/ 79 h 288"/>
                    <a:gd name="T108" fmla="*/ 138 w 320"/>
                    <a:gd name="T109" fmla="*/ 66 h 288"/>
                    <a:gd name="T110" fmla="*/ 125 w 320"/>
                    <a:gd name="T111" fmla="*/ 58 h 288"/>
                    <a:gd name="T112" fmla="*/ 68 w 320"/>
                    <a:gd name="T113" fmla="*/ 88 h 288"/>
                    <a:gd name="T114" fmla="*/ 67 w 320"/>
                    <a:gd name="T115" fmla="*/ 103 h 288"/>
                    <a:gd name="T116" fmla="*/ 75 w 320"/>
                    <a:gd name="T117" fmla="*/ 107 h 288"/>
                    <a:gd name="T118" fmla="*/ 82 w 320"/>
                    <a:gd name="T119" fmla="*/ 10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0" h="288">
                      <a:moveTo>
                        <a:pt x="224" y="288"/>
                      </a:moveTo>
                      <a:cubicBezTo>
                        <a:pt x="170" y="288"/>
                        <a:pt x="170" y="288"/>
                        <a:pt x="170" y="288"/>
                      </a:cubicBezTo>
                      <a:cubicBezTo>
                        <a:pt x="164" y="288"/>
                        <a:pt x="160" y="284"/>
                        <a:pt x="160" y="278"/>
                      </a:cubicBezTo>
                      <a:cubicBezTo>
                        <a:pt x="160" y="267"/>
                        <a:pt x="160" y="267"/>
                        <a:pt x="160" y="267"/>
                      </a:cubicBezTo>
                      <a:cubicBezTo>
                        <a:pt x="138" y="267"/>
                        <a:pt x="138" y="267"/>
                        <a:pt x="138" y="267"/>
                      </a:cubicBezTo>
                      <a:cubicBezTo>
                        <a:pt x="138" y="278"/>
                        <a:pt x="138" y="278"/>
                        <a:pt x="138" y="278"/>
                      </a:cubicBezTo>
                      <a:cubicBezTo>
                        <a:pt x="138" y="284"/>
                        <a:pt x="134" y="288"/>
                        <a:pt x="128" y="288"/>
                      </a:cubicBezTo>
                      <a:cubicBezTo>
                        <a:pt x="74" y="288"/>
                        <a:pt x="74" y="288"/>
                        <a:pt x="74" y="288"/>
                      </a:cubicBezTo>
                      <a:cubicBezTo>
                        <a:pt x="68" y="288"/>
                        <a:pt x="64" y="284"/>
                        <a:pt x="64" y="278"/>
                      </a:cubicBezTo>
                      <a:cubicBezTo>
                        <a:pt x="64" y="237"/>
                        <a:pt x="29" y="235"/>
                        <a:pt x="27" y="235"/>
                      </a:cubicBezTo>
                      <a:cubicBezTo>
                        <a:pt x="23" y="235"/>
                        <a:pt x="20" y="233"/>
                        <a:pt x="18" y="230"/>
                      </a:cubicBezTo>
                      <a:cubicBezTo>
                        <a:pt x="6" y="209"/>
                        <a:pt x="0" y="185"/>
                        <a:pt x="0" y="160"/>
                      </a:cubicBezTo>
                      <a:cubicBezTo>
                        <a:pt x="0" y="84"/>
                        <a:pt x="62" y="22"/>
                        <a:pt x="138" y="22"/>
                      </a:cubicBezTo>
                      <a:cubicBezTo>
                        <a:pt x="160" y="22"/>
                        <a:pt x="179" y="24"/>
                        <a:pt x="198" y="30"/>
                      </a:cubicBezTo>
                      <a:cubicBezTo>
                        <a:pt x="217" y="3"/>
                        <a:pt x="253" y="0"/>
                        <a:pt x="255" y="0"/>
                      </a:cubicBezTo>
                      <a:cubicBezTo>
                        <a:pt x="259" y="0"/>
                        <a:pt x="262" y="2"/>
                        <a:pt x="264" y="4"/>
                      </a:cubicBezTo>
                      <a:cubicBezTo>
                        <a:pt x="266" y="7"/>
                        <a:pt x="267" y="10"/>
                        <a:pt x="266" y="14"/>
                      </a:cubicBezTo>
                      <a:cubicBezTo>
                        <a:pt x="257" y="49"/>
                        <a:pt x="257" y="49"/>
                        <a:pt x="257" y="49"/>
                      </a:cubicBezTo>
                      <a:cubicBezTo>
                        <a:pt x="275" y="63"/>
                        <a:pt x="288" y="85"/>
                        <a:pt x="294" y="96"/>
                      </a:cubicBezTo>
                      <a:cubicBezTo>
                        <a:pt x="309" y="96"/>
                        <a:pt x="309" y="96"/>
                        <a:pt x="309" y="96"/>
                      </a:cubicBezTo>
                      <a:cubicBezTo>
                        <a:pt x="315" y="96"/>
                        <a:pt x="320" y="101"/>
                        <a:pt x="320" y="107"/>
                      </a:cubicBezTo>
                      <a:cubicBezTo>
                        <a:pt x="320" y="171"/>
                        <a:pt x="320" y="171"/>
                        <a:pt x="320" y="171"/>
                      </a:cubicBezTo>
                      <a:cubicBezTo>
                        <a:pt x="320" y="177"/>
                        <a:pt x="315" y="182"/>
                        <a:pt x="309" y="182"/>
                      </a:cubicBezTo>
                      <a:cubicBezTo>
                        <a:pt x="275" y="182"/>
                        <a:pt x="275" y="182"/>
                        <a:pt x="275" y="182"/>
                      </a:cubicBezTo>
                      <a:cubicBezTo>
                        <a:pt x="269" y="217"/>
                        <a:pt x="249" y="244"/>
                        <a:pt x="234" y="259"/>
                      </a:cubicBezTo>
                      <a:cubicBezTo>
                        <a:pt x="234" y="278"/>
                        <a:pt x="234" y="278"/>
                        <a:pt x="234" y="278"/>
                      </a:cubicBezTo>
                      <a:cubicBezTo>
                        <a:pt x="234" y="284"/>
                        <a:pt x="230" y="288"/>
                        <a:pt x="224" y="288"/>
                      </a:cubicBezTo>
                      <a:close/>
                      <a:moveTo>
                        <a:pt x="181" y="267"/>
                      </a:moveTo>
                      <a:cubicBezTo>
                        <a:pt x="213" y="267"/>
                        <a:pt x="213" y="267"/>
                        <a:pt x="213" y="267"/>
                      </a:cubicBezTo>
                      <a:cubicBezTo>
                        <a:pt x="213" y="255"/>
                        <a:pt x="213" y="255"/>
                        <a:pt x="213" y="255"/>
                      </a:cubicBezTo>
                      <a:cubicBezTo>
                        <a:pt x="213" y="252"/>
                        <a:pt x="214" y="250"/>
                        <a:pt x="216" y="248"/>
                      </a:cubicBezTo>
                      <a:cubicBezTo>
                        <a:pt x="239" y="225"/>
                        <a:pt x="253" y="197"/>
                        <a:pt x="255" y="170"/>
                      </a:cubicBezTo>
                      <a:cubicBezTo>
                        <a:pt x="256" y="165"/>
                        <a:pt x="260" y="160"/>
                        <a:pt x="266" y="160"/>
                      </a:cubicBezTo>
                      <a:cubicBezTo>
                        <a:pt x="298" y="160"/>
                        <a:pt x="298" y="160"/>
                        <a:pt x="298" y="160"/>
                      </a:cubicBezTo>
                      <a:cubicBezTo>
                        <a:pt x="298" y="118"/>
                        <a:pt x="298" y="118"/>
                        <a:pt x="298" y="118"/>
                      </a:cubicBezTo>
                      <a:cubicBezTo>
                        <a:pt x="288" y="118"/>
                        <a:pt x="288" y="118"/>
                        <a:pt x="288" y="118"/>
                      </a:cubicBezTo>
                      <a:cubicBezTo>
                        <a:pt x="284" y="118"/>
                        <a:pt x="280" y="115"/>
                        <a:pt x="278" y="112"/>
                      </a:cubicBezTo>
                      <a:cubicBezTo>
                        <a:pt x="278" y="111"/>
                        <a:pt x="261" y="76"/>
                        <a:pt x="240" y="63"/>
                      </a:cubicBezTo>
                      <a:cubicBezTo>
                        <a:pt x="236" y="60"/>
                        <a:pt x="234" y="56"/>
                        <a:pt x="235" y="51"/>
                      </a:cubicBezTo>
                      <a:cubicBezTo>
                        <a:pt x="241" y="25"/>
                        <a:pt x="241" y="25"/>
                        <a:pt x="241" y="25"/>
                      </a:cubicBezTo>
                      <a:cubicBezTo>
                        <a:pt x="231" y="28"/>
                        <a:pt x="218" y="35"/>
                        <a:pt x="212" y="48"/>
                      </a:cubicBezTo>
                      <a:cubicBezTo>
                        <a:pt x="210" y="53"/>
                        <a:pt x="204" y="55"/>
                        <a:pt x="199" y="53"/>
                      </a:cubicBezTo>
                      <a:cubicBezTo>
                        <a:pt x="180" y="46"/>
                        <a:pt x="161" y="43"/>
                        <a:pt x="138" y="43"/>
                      </a:cubicBezTo>
                      <a:cubicBezTo>
                        <a:pt x="74" y="43"/>
                        <a:pt x="21" y="96"/>
                        <a:pt x="21" y="160"/>
                      </a:cubicBezTo>
                      <a:cubicBezTo>
                        <a:pt x="21" y="179"/>
                        <a:pt x="26" y="198"/>
                        <a:pt x="34" y="214"/>
                      </a:cubicBezTo>
                      <a:cubicBezTo>
                        <a:pt x="53" y="217"/>
                        <a:pt x="80" y="231"/>
                        <a:pt x="84" y="267"/>
                      </a:cubicBezTo>
                      <a:cubicBezTo>
                        <a:pt x="117" y="267"/>
                        <a:pt x="117" y="267"/>
                        <a:pt x="117" y="267"/>
                      </a:cubicBezTo>
                      <a:cubicBezTo>
                        <a:pt x="117" y="256"/>
                        <a:pt x="117" y="256"/>
                        <a:pt x="117" y="256"/>
                      </a:cubicBezTo>
                      <a:cubicBezTo>
                        <a:pt x="117" y="250"/>
                        <a:pt x="122" y="246"/>
                        <a:pt x="128" y="246"/>
                      </a:cubicBezTo>
                      <a:cubicBezTo>
                        <a:pt x="170" y="246"/>
                        <a:pt x="170" y="246"/>
                        <a:pt x="170" y="246"/>
                      </a:cubicBezTo>
                      <a:cubicBezTo>
                        <a:pt x="176" y="246"/>
                        <a:pt x="181" y="250"/>
                        <a:pt x="181" y="256"/>
                      </a:cubicBezTo>
                      <a:lnTo>
                        <a:pt x="181" y="267"/>
                      </a:lnTo>
                      <a:close/>
                      <a:moveTo>
                        <a:pt x="82" y="104"/>
                      </a:moveTo>
                      <a:cubicBezTo>
                        <a:pt x="96" y="92"/>
                        <a:pt x="113" y="83"/>
                        <a:pt x="130" y="79"/>
                      </a:cubicBezTo>
                      <a:cubicBezTo>
                        <a:pt x="136" y="77"/>
                        <a:pt x="139" y="71"/>
                        <a:pt x="138" y="66"/>
                      </a:cubicBezTo>
                      <a:cubicBezTo>
                        <a:pt x="137" y="60"/>
                        <a:pt x="131" y="57"/>
                        <a:pt x="125" y="58"/>
                      </a:cubicBezTo>
                      <a:cubicBezTo>
                        <a:pt x="104" y="63"/>
                        <a:pt x="84" y="74"/>
                        <a:pt x="68" y="88"/>
                      </a:cubicBezTo>
                      <a:cubicBezTo>
                        <a:pt x="64" y="92"/>
                        <a:pt x="63" y="99"/>
                        <a:pt x="67" y="103"/>
                      </a:cubicBezTo>
                      <a:cubicBezTo>
                        <a:pt x="69" y="106"/>
                        <a:pt x="72" y="107"/>
                        <a:pt x="75" y="107"/>
                      </a:cubicBezTo>
                      <a:cubicBezTo>
                        <a:pt x="78" y="107"/>
                        <a:pt x="80" y="106"/>
                        <a:pt x="82" y="10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marL="0" marR="0" lvl="0" indent="0" algn="l" defTabSz="905428"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01" name="Freeform 347">
                  <a:extLst>
                    <a:ext uri="{FF2B5EF4-FFF2-40B4-BE49-F238E27FC236}">
                      <a16:creationId xmlns:a16="http://schemas.microsoft.com/office/drawing/2014/main" id="{DBB92F58-9A23-422C-9BCC-BC3470403E5B}"/>
                    </a:ext>
                  </a:extLst>
                </p:cNvPr>
                <p:cNvSpPr>
                  <a:spLocks noEditPoints="1"/>
                </p:cNvSpPr>
                <p:nvPr/>
              </p:nvSpPr>
              <p:spPr bwMode="auto">
                <a:xfrm>
                  <a:off x="3451" y="117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marL="0" marR="0" lvl="0" indent="0" algn="l" defTabSz="905428"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grpSp>
        <p:grpSp>
          <p:nvGrpSpPr>
            <p:cNvPr id="329" name="Group 328">
              <a:extLst>
                <a:ext uri="{FF2B5EF4-FFF2-40B4-BE49-F238E27FC236}">
                  <a16:creationId xmlns:a16="http://schemas.microsoft.com/office/drawing/2014/main" id="{EEA28ECC-D41A-444F-B3A0-BB456DB59909}"/>
                </a:ext>
              </a:extLst>
            </p:cNvPr>
            <p:cNvGrpSpPr/>
            <p:nvPr/>
          </p:nvGrpSpPr>
          <p:grpSpPr>
            <a:xfrm>
              <a:off x="9341269" y="2948621"/>
              <a:ext cx="756803" cy="900427"/>
              <a:chOff x="6760515" y="3143193"/>
              <a:chExt cx="756803" cy="900427"/>
            </a:xfrm>
          </p:grpSpPr>
          <p:sp>
            <p:nvSpPr>
              <p:cNvPr id="389" name="Rectangle 388">
                <a:extLst>
                  <a:ext uri="{FF2B5EF4-FFF2-40B4-BE49-F238E27FC236}">
                    <a16:creationId xmlns:a16="http://schemas.microsoft.com/office/drawing/2014/main" id="{A8C8DCC8-7459-4D41-96C3-61067492D497}"/>
                  </a:ext>
                </a:extLst>
              </p:cNvPr>
              <p:cNvSpPr/>
              <p:nvPr/>
            </p:nvSpPr>
            <p:spPr bwMode="gray">
              <a:xfrm>
                <a:off x="6917392" y="3143193"/>
                <a:ext cx="599925" cy="900427"/>
              </a:xfrm>
              <a:prstGeom prst="rect">
                <a:avLst/>
              </a:prstGeom>
              <a:solidFill>
                <a:schemeClr val="bg1"/>
              </a:solidFill>
              <a:ln w="19050" algn="ctr">
                <a:solidFill>
                  <a:schemeClr val="accent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390" name="Rectangle 389">
                <a:extLst>
                  <a:ext uri="{FF2B5EF4-FFF2-40B4-BE49-F238E27FC236}">
                    <a16:creationId xmlns:a16="http://schemas.microsoft.com/office/drawing/2014/main" id="{4AFF42DD-ACDC-4917-B033-5350C02CB620}"/>
                  </a:ext>
                </a:extLst>
              </p:cNvPr>
              <p:cNvSpPr/>
              <p:nvPr/>
            </p:nvSpPr>
            <p:spPr>
              <a:xfrm>
                <a:off x="6897888" y="3274738"/>
                <a:ext cx="535724" cy="276999"/>
              </a:xfrm>
              <a:prstGeom prst="rect">
                <a:avLst/>
              </a:prstGeom>
            </p:spPr>
            <p:txBody>
              <a:bodyPr wrap="none" t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rPr>
                  <a:t>148</a:t>
                </a:r>
                <a:endParaRPr kumimoji="0" lang="en-IN"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91" name="Rectangle 390">
                <a:extLst>
                  <a:ext uri="{FF2B5EF4-FFF2-40B4-BE49-F238E27FC236}">
                    <a16:creationId xmlns:a16="http://schemas.microsoft.com/office/drawing/2014/main" id="{B5FD2D3F-869B-4FB6-B3ED-B7DEE8885C15}"/>
                  </a:ext>
                </a:extLst>
              </p:cNvPr>
              <p:cNvSpPr/>
              <p:nvPr/>
            </p:nvSpPr>
            <p:spPr>
              <a:xfrm>
                <a:off x="6955015" y="3723078"/>
                <a:ext cx="458780" cy="215444"/>
              </a:xfrm>
              <a:prstGeom prst="rect">
                <a:avLst/>
              </a:prstGeom>
            </p:spPr>
            <p:txBody>
              <a:bodyPr wrap="none" t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rPr>
                  <a:t>173</a:t>
                </a:r>
                <a:endParaRPr kumimoji="0" lang="en-IN" sz="1400" b="0"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endParaRPr>
              </a:p>
            </p:txBody>
          </p:sp>
          <p:sp>
            <p:nvSpPr>
              <p:cNvPr id="392" name="Rectangle 391">
                <a:extLst>
                  <a:ext uri="{FF2B5EF4-FFF2-40B4-BE49-F238E27FC236}">
                    <a16:creationId xmlns:a16="http://schemas.microsoft.com/office/drawing/2014/main" id="{0BBBAD20-A826-4E5C-BD9D-740E1968E877}"/>
                  </a:ext>
                </a:extLst>
              </p:cNvPr>
              <p:cNvSpPr/>
              <p:nvPr/>
            </p:nvSpPr>
            <p:spPr>
              <a:xfrm>
                <a:off x="6760515" y="3538179"/>
                <a:ext cx="756803" cy="161583"/>
              </a:xfrm>
              <a:prstGeom prst="rect">
                <a:avLst/>
              </a:prstGeom>
              <a:solidFill>
                <a:schemeClr val="accent5"/>
              </a:solidFill>
            </p:spPr>
            <p:txBody>
              <a:bodyPr wrap="square" lIns="274320" t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of</a:t>
                </a:r>
                <a:endParaRPr kumimoji="0" lang="en-IN" sz="105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393" name="Rectangle 392">
                <a:extLst>
                  <a:ext uri="{FF2B5EF4-FFF2-40B4-BE49-F238E27FC236}">
                    <a16:creationId xmlns:a16="http://schemas.microsoft.com/office/drawing/2014/main" id="{2028FF70-4886-4487-B568-F0CBE29E4C41}"/>
                  </a:ext>
                </a:extLst>
              </p:cNvPr>
              <p:cNvSpPr/>
              <p:nvPr/>
            </p:nvSpPr>
            <p:spPr>
              <a:xfrm>
                <a:off x="6950513" y="3882663"/>
                <a:ext cx="508152" cy="138499"/>
              </a:xfrm>
              <a:prstGeom prst="rect">
                <a:avLst/>
              </a:prstGeom>
            </p:spPr>
            <p:txBody>
              <a:bodyPr wrap="none" lIns="0" tIns="0" rIns="0" bIns="0">
                <a:spAutoFit/>
              </a:bodyPr>
              <a:lstStyle/>
              <a:p>
                <a:pPr marL="0" marR="0" lvl="0" indent="0" algn="l" defTabSz="103228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rPr>
                  <a:t>companies</a:t>
                </a:r>
              </a:p>
            </p:txBody>
          </p:sp>
          <p:sp>
            <p:nvSpPr>
              <p:cNvPr id="394" name="Rectangle 393">
                <a:extLst>
                  <a:ext uri="{FF2B5EF4-FFF2-40B4-BE49-F238E27FC236}">
                    <a16:creationId xmlns:a16="http://schemas.microsoft.com/office/drawing/2014/main" id="{5C382666-F0E6-4A39-9F3B-5E3D14B7521C}"/>
                  </a:ext>
                </a:extLst>
              </p:cNvPr>
              <p:cNvSpPr/>
              <p:nvPr/>
            </p:nvSpPr>
            <p:spPr>
              <a:xfrm>
                <a:off x="7054045" y="3171396"/>
                <a:ext cx="306174" cy="138499"/>
              </a:xfrm>
              <a:prstGeom prst="rect">
                <a:avLst/>
              </a:prstGeom>
            </p:spPr>
            <p:txBody>
              <a:bodyPr wrap="none" lIns="0" tIns="0" rIns="0" bIns="0">
                <a:spAutoFit/>
              </a:bodyPr>
              <a:lstStyle/>
              <a:p>
                <a:pPr marL="0" marR="0" lvl="0" indent="0" algn="l" defTabSz="103228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rPr>
                  <a:t>Serves</a:t>
                </a:r>
              </a:p>
            </p:txBody>
          </p:sp>
        </p:grpSp>
        <p:sp>
          <p:nvSpPr>
            <p:cNvPr id="330" name="Oval 329">
              <a:extLst>
                <a:ext uri="{FF2B5EF4-FFF2-40B4-BE49-F238E27FC236}">
                  <a16:creationId xmlns:a16="http://schemas.microsoft.com/office/drawing/2014/main" id="{586AFE70-5D23-4814-91F3-9A3AF003CABC}"/>
                </a:ext>
              </a:extLst>
            </p:cNvPr>
            <p:cNvSpPr/>
            <p:nvPr/>
          </p:nvSpPr>
          <p:spPr bwMode="gray">
            <a:xfrm>
              <a:off x="9027879" y="3224616"/>
              <a:ext cx="405566" cy="405566"/>
            </a:xfrm>
            <a:prstGeom prst="ellipse">
              <a:avLst/>
            </a:prstGeom>
            <a:solidFill>
              <a:schemeClr val="bg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331" name="Rectangle 330">
              <a:extLst>
                <a:ext uri="{FF2B5EF4-FFF2-40B4-BE49-F238E27FC236}">
                  <a16:creationId xmlns:a16="http://schemas.microsoft.com/office/drawing/2014/main" id="{9FFF2555-35C0-447F-BAF9-74FF363AACEB}"/>
                </a:ext>
              </a:extLst>
            </p:cNvPr>
            <p:cNvSpPr/>
            <p:nvPr/>
          </p:nvSpPr>
          <p:spPr>
            <a:xfrm>
              <a:off x="8038590" y="3251957"/>
              <a:ext cx="827972" cy="348813"/>
            </a:xfrm>
            <a:prstGeom prst="rect">
              <a:avLst/>
            </a:prstGeom>
          </p:spPr>
          <p:txBody>
            <a:bodyPr wrap="square" lIns="0" rIns="0">
              <a:spAutoFit/>
            </a:bodyPr>
            <a:lstStyle/>
            <a:p>
              <a:pPr marL="0" marR="0" lvl="0" indent="0" algn="r" defTabSz="905428" rtl="0" eaLnBrk="1" fontAlgn="auto" latinLnBrk="0" hangingPunct="1">
                <a:lnSpc>
                  <a:spcPts val="1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Energy resources &amp; Industrials</a:t>
              </a:r>
            </a:p>
          </p:txBody>
        </p:sp>
        <p:sp>
          <p:nvSpPr>
            <p:cNvPr id="332" name="Isosceles Triangle 331">
              <a:extLst>
                <a:ext uri="{FF2B5EF4-FFF2-40B4-BE49-F238E27FC236}">
                  <a16:creationId xmlns:a16="http://schemas.microsoft.com/office/drawing/2014/main" id="{5FE4E87F-D49F-4EB2-A3C4-3309CE65E47D}"/>
                </a:ext>
              </a:extLst>
            </p:cNvPr>
            <p:cNvSpPr/>
            <p:nvPr/>
          </p:nvSpPr>
          <p:spPr bwMode="gray">
            <a:xfrm rot="5400000">
              <a:off x="8924761" y="3389447"/>
              <a:ext cx="103948" cy="89610"/>
            </a:xfrm>
            <a:prstGeom prst="triangle">
              <a:avLst/>
            </a:prstGeom>
            <a:solidFill>
              <a:schemeClr val="accent5"/>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333" name="Group 332">
              <a:extLst>
                <a:ext uri="{FF2B5EF4-FFF2-40B4-BE49-F238E27FC236}">
                  <a16:creationId xmlns:a16="http://schemas.microsoft.com/office/drawing/2014/main" id="{C5FD7A72-D4A5-4A6C-9EC9-1F93C1EA1583}"/>
                </a:ext>
              </a:extLst>
            </p:cNvPr>
            <p:cNvGrpSpPr/>
            <p:nvPr/>
          </p:nvGrpSpPr>
          <p:grpSpPr>
            <a:xfrm>
              <a:off x="5956118" y="4969598"/>
              <a:ext cx="2054433" cy="900427"/>
              <a:chOff x="6066993" y="3961285"/>
              <a:chExt cx="2054433" cy="900427"/>
            </a:xfrm>
          </p:grpSpPr>
          <p:grpSp>
            <p:nvGrpSpPr>
              <p:cNvPr id="379" name="Group 378">
                <a:extLst>
                  <a:ext uri="{FF2B5EF4-FFF2-40B4-BE49-F238E27FC236}">
                    <a16:creationId xmlns:a16="http://schemas.microsoft.com/office/drawing/2014/main" id="{48F3F6C8-7596-4C09-9B86-E31B54FB64DF}"/>
                  </a:ext>
                </a:extLst>
              </p:cNvPr>
              <p:cNvGrpSpPr/>
              <p:nvPr/>
            </p:nvGrpSpPr>
            <p:grpSpPr>
              <a:xfrm>
                <a:off x="7364623" y="3961285"/>
                <a:ext cx="756803" cy="900427"/>
                <a:chOff x="6760515" y="3143193"/>
                <a:chExt cx="756803" cy="900427"/>
              </a:xfrm>
            </p:grpSpPr>
            <p:sp>
              <p:nvSpPr>
                <p:cNvPr id="383" name="Rectangle 382">
                  <a:extLst>
                    <a:ext uri="{FF2B5EF4-FFF2-40B4-BE49-F238E27FC236}">
                      <a16:creationId xmlns:a16="http://schemas.microsoft.com/office/drawing/2014/main" id="{2D98F4AF-90F6-4DD9-BE79-3486BBB88231}"/>
                    </a:ext>
                  </a:extLst>
                </p:cNvPr>
                <p:cNvSpPr/>
                <p:nvPr/>
              </p:nvSpPr>
              <p:spPr bwMode="gray">
                <a:xfrm>
                  <a:off x="6917392" y="3143193"/>
                  <a:ext cx="599925" cy="900427"/>
                </a:xfrm>
                <a:prstGeom prst="rect">
                  <a:avLst/>
                </a:prstGeom>
                <a:solidFill>
                  <a:schemeClr val="bg1"/>
                </a:solidFill>
                <a:ln w="19050" algn="ctr">
                  <a:solidFill>
                    <a:schemeClr val="accent6">
                      <a:lumMod val="50000"/>
                    </a:schemeClr>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4</a:t>
                  </a:r>
                  <a:endParaRPr kumimoji="0" lang="en-IN"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384" name="Rectangle 383">
                  <a:extLst>
                    <a:ext uri="{FF2B5EF4-FFF2-40B4-BE49-F238E27FC236}">
                      <a16:creationId xmlns:a16="http://schemas.microsoft.com/office/drawing/2014/main" id="{923B5A3F-59FF-475D-946F-D307047E4772}"/>
                    </a:ext>
                  </a:extLst>
                </p:cNvPr>
                <p:cNvSpPr/>
                <p:nvPr/>
              </p:nvSpPr>
              <p:spPr>
                <a:xfrm>
                  <a:off x="6986420" y="3274738"/>
                  <a:ext cx="418704" cy="276999"/>
                </a:xfrm>
                <a:prstGeom prst="rect">
                  <a:avLst/>
                </a:prstGeom>
              </p:spPr>
              <p:txBody>
                <a:bodyPr wrap="none" t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rPr>
                    <a:t>43</a:t>
                  </a:r>
                  <a:endParaRPr kumimoji="0" lang="en-IN"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85" name="Rectangle 384">
                  <a:extLst>
                    <a:ext uri="{FF2B5EF4-FFF2-40B4-BE49-F238E27FC236}">
                      <a16:creationId xmlns:a16="http://schemas.microsoft.com/office/drawing/2014/main" id="{C6AF1B19-33DF-469F-A5CD-5DC182BA2E8C}"/>
                    </a:ext>
                  </a:extLst>
                </p:cNvPr>
                <p:cNvSpPr/>
                <p:nvPr/>
              </p:nvSpPr>
              <p:spPr>
                <a:xfrm>
                  <a:off x="7042881" y="3723078"/>
                  <a:ext cx="367408" cy="215444"/>
                </a:xfrm>
                <a:prstGeom prst="rect">
                  <a:avLst/>
                </a:prstGeom>
              </p:spPr>
              <p:txBody>
                <a:bodyPr wrap="none" t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rPr>
                    <a:t>46</a:t>
                  </a:r>
                  <a:endParaRPr kumimoji="0" lang="en-IN" sz="1400" b="0"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endParaRPr>
                </a:p>
              </p:txBody>
            </p:sp>
            <p:sp>
              <p:nvSpPr>
                <p:cNvPr id="386" name="Rectangle 385">
                  <a:extLst>
                    <a:ext uri="{FF2B5EF4-FFF2-40B4-BE49-F238E27FC236}">
                      <a16:creationId xmlns:a16="http://schemas.microsoft.com/office/drawing/2014/main" id="{50175882-8DE4-4C4D-98D1-59F22302EE72}"/>
                    </a:ext>
                  </a:extLst>
                </p:cNvPr>
                <p:cNvSpPr/>
                <p:nvPr/>
              </p:nvSpPr>
              <p:spPr>
                <a:xfrm>
                  <a:off x="6760515" y="3538179"/>
                  <a:ext cx="756803" cy="161583"/>
                </a:xfrm>
                <a:prstGeom prst="rect">
                  <a:avLst/>
                </a:prstGeom>
                <a:solidFill>
                  <a:schemeClr val="accent6">
                    <a:lumMod val="50000"/>
                  </a:schemeClr>
                </a:solidFill>
              </p:spPr>
              <p:txBody>
                <a:bodyPr wrap="square" lIns="274320" t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of</a:t>
                  </a:r>
                  <a:endParaRPr kumimoji="0" lang="en-IN" sz="105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387" name="Rectangle 386">
                  <a:extLst>
                    <a:ext uri="{FF2B5EF4-FFF2-40B4-BE49-F238E27FC236}">
                      <a16:creationId xmlns:a16="http://schemas.microsoft.com/office/drawing/2014/main" id="{65B736B0-7E12-4228-9207-E3017AE43371}"/>
                    </a:ext>
                  </a:extLst>
                </p:cNvPr>
                <p:cNvSpPr/>
                <p:nvPr/>
              </p:nvSpPr>
              <p:spPr>
                <a:xfrm>
                  <a:off x="6950513" y="3882663"/>
                  <a:ext cx="508152" cy="138499"/>
                </a:xfrm>
                <a:prstGeom prst="rect">
                  <a:avLst/>
                </a:prstGeom>
              </p:spPr>
              <p:txBody>
                <a:bodyPr wrap="none" lIns="0" tIns="0" rIns="0" bIns="0">
                  <a:spAutoFit/>
                </a:bodyPr>
                <a:lstStyle/>
                <a:p>
                  <a:pPr marL="0" marR="0" lvl="0" indent="0" algn="l" defTabSz="103228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rPr>
                    <a:t>companies</a:t>
                  </a:r>
                </a:p>
              </p:txBody>
            </p:sp>
            <p:sp>
              <p:nvSpPr>
                <p:cNvPr id="388" name="Rectangle 387">
                  <a:extLst>
                    <a:ext uri="{FF2B5EF4-FFF2-40B4-BE49-F238E27FC236}">
                      <a16:creationId xmlns:a16="http://schemas.microsoft.com/office/drawing/2014/main" id="{4ACA2318-3AD9-4C09-BD4B-9847FEA2329A}"/>
                    </a:ext>
                  </a:extLst>
                </p:cNvPr>
                <p:cNvSpPr/>
                <p:nvPr/>
              </p:nvSpPr>
              <p:spPr>
                <a:xfrm>
                  <a:off x="7054045" y="3171396"/>
                  <a:ext cx="306174" cy="138499"/>
                </a:xfrm>
                <a:prstGeom prst="rect">
                  <a:avLst/>
                </a:prstGeom>
              </p:spPr>
              <p:txBody>
                <a:bodyPr wrap="none" lIns="0" tIns="0" rIns="0" bIns="0">
                  <a:spAutoFit/>
                </a:bodyPr>
                <a:lstStyle/>
                <a:p>
                  <a:pPr marL="0" marR="0" lvl="0" indent="0" algn="l" defTabSz="103228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rPr>
                    <a:t>Serves</a:t>
                  </a:r>
                </a:p>
              </p:txBody>
            </p:sp>
          </p:grpSp>
          <p:sp>
            <p:nvSpPr>
              <p:cNvPr id="380" name="Oval 379">
                <a:extLst>
                  <a:ext uri="{FF2B5EF4-FFF2-40B4-BE49-F238E27FC236}">
                    <a16:creationId xmlns:a16="http://schemas.microsoft.com/office/drawing/2014/main" id="{0F524629-7470-49E7-9929-C6D5221D6BA6}"/>
                  </a:ext>
                </a:extLst>
              </p:cNvPr>
              <p:cNvSpPr/>
              <p:nvPr/>
            </p:nvSpPr>
            <p:spPr bwMode="gray">
              <a:xfrm>
                <a:off x="7044894" y="4246465"/>
                <a:ext cx="405566" cy="405566"/>
              </a:xfrm>
              <a:prstGeom prst="ellipse">
                <a:avLst/>
              </a:prstGeom>
              <a:solidFill>
                <a:schemeClr val="bg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381" name="Rectangle 380">
                <a:extLst>
                  <a:ext uri="{FF2B5EF4-FFF2-40B4-BE49-F238E27FC236}">
                    <a16:creationId xmlns:a16="http://schemas.microsoft.com/office/drawing/2014/main" id="{936D4BDD-9F6F-49D1-A250-87243C5F354C}"/>
                  </a:ext>
                </a:extLst>
              </p:cNvPr>
              <p:cNvSpPr/>
              <p:nvPr/>
            </p:nvSpPr>
            <p:spPr>
              <a:xfrm>
                <a:off x="6066993" y="4271042"/>
                <a:ext cx="827972" cy="348813"/>
              </a:xfrm>
              <a:prstGeom prst="rect">
                <a:avLst/>
              </a:prstGeom>
            </p:spPr>
            <p:txBody>
              <a:bodyPr wrap="square" lIns="0" rIns="0">
                <a:spAutoFit/>
              </a:bodyPr>
              <a:lstStyle/>
              <a:p>
                <a:pPr marL="0" marR="0" lvl="0" indent="0" algn="r" defTabSz="905428" rtl="0" eaLnBrk="1" fontAlgn="auto" latinLnBrk="0" hangingPunct="1">
                  <a:lnSpc>
                    <a:spcPts val="1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Tech, media</a:t>
                </a:r>
                <a:br>
                  <a:rPr kumimoji="0" lang="en-GB" sz="9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en-GB" sz="9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&amp; telecom</a:t>
                </a:r>
              </a:p>
            </p:txBody>
          </p:sp>
          <p:sp>
            <p:nvSpPr>
              <p:cNvPr id="382" name="Isosceles Triangle 381">
                <a:extLst>
                  <a:ext uri="{FF2B5EF4-FFF2-40B4-BE49-F238E27FC236}">
                    <a16:creationId xmlns:a16="http://schemas.microsoft.com/office/drawing/2014/main" id="{E29788D9-547D-4F82-894D-562DB3474AC8}"/>
                  </a:ext>
                </a:extLst>
              </p:cNvPr>
              <p:cNvSpPr/>
              <p:nvPr/>
            </p:nvSpPr>
            <p:spPr bwMode="gray">
              <a:xfrm rot="5400000">
                <a:off x="6948115" y="4402111"/>
                <a:ext cx="103948" cy="89610"/>
              </a:xfrm>
              <a:prstGeom prst="triangle">
                <a:avLst/>
              </a:prstGeom>
              <a:solidFill>
                <a:schemeClr val="accent6">
                  <a:lumMod val="5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cxnSp>
          <p:nvCxnSpPr>
            <p:cNvPr id="334" name="Straight Connector 333">
              <a:extLst>
                <a:ext uri="{FF2B5EF4-FFF2-40B4-BE49-F238E27FC236}">
                  <a16:creationId xmlns:a16="http://schemas.microsoft.com/office/drawing/2014/main" id="{43A8187A-90CD-4AD0-98C0-5F3FFE18B191}"/>
                </a:ext>
              </a:extLst>
            </p:cNvPr>
            <p:cNvCxnSpPr/>
            <p:nvPr/>
          </p:nvCxnSpPr>
          <p:spPr>
            <a:xfrm>
              <a:off x="5947025" y="2825810"/>
              <a:ext cx="415104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60AF95A2-7E8F-440D-93FB-1744CACD5CD7}"/>
                </a:ext>
              </a:extLst>
            </p:cNvPr>
            <p:cNvCxnSpPr/>
            <p:nvPr/>
          </p:nvCxnSpPr>
          <p:spPr>
            <a:xfrm>
              <a:off x="5947025" y="5986016"/>
              <a:ext cx="4151046"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336" name="Group 55">
              <a:extLst>
                <a:ext uri="{FF2B5EF4-FFF2-40B4-BE49-F238E27FC236}">
                  <a16:creationId xmlns:a16="http://schemas.microsoft.com/office/drawing/2014/main" id="{7B853A0A-CDD8-4583-90F1-E17C6AB57622}"/>
                </a:ext>
              </a:extLst>
            </p:cNvPr>
            <p:cNvGrpSpPr>
              <a:grpSpLocks/>
            </p:cNvGrpSpPr>
            <p:nvPr/>
          </p:nvGrpSpPr>
          <p:grpSpPr bwMode="auto">
            <a:xfrm>
              <a:off x="9054871" y="3249610"/>
              <a:ext cx="351923" cy="353505"/>
              <a:chOff x="4263" y="0"/>
              <a:chExt cx="340" cy="340"/>
            </a:xfrm>
            <a:solidFill>
              <a:schemeClr val="accent5"/>
            </a:solidFill>
          </p:grpSpPr>
          <p:sp>
            <p:nvSpPr>
              <p:cNvPr id="377" name="Freeform 56">
                <a:extLst>
                  <a:ext uri="{FF2B5EF4-FFF2-40B4-BE49-F238E27FC236}">
                    <a16:creationId xmlns:a16="http://schemas.microsoft.com/office/drawing/2014/main" id="{334AF661-8113-4CF0-89C6-6B8AB25FBD74}"/>
                  </a:ext>
                </a:extLst>
              </p:cNvPr>
              <p:cNvSpPr>
                <a:spLocks noEditPoints="1"/>
              </p:cNvSpPr>
              <p:nvPr/>
            </p:nvSpPr>
            <p:spPr bwMode="auto">
              <a:xfrm>
                <a:off x="4263" y="0"/>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490 h 512"/>
                  <a:gd name="T12" fmla="*/ 21 w 512"/>
                  <a:gd name="T13" fmla="*/ 256 h 512"/>
                  <a:gd name="T14" fmla="*/ 256 w 512"/>
                  <a:gd name="T15" fmla="*/ 21 h 512"/>
                  <a:gd name="T16" fmla="*/ 490 w 512"/>
                  <a:gd name="T17" fmla="*/ 256 h 512"/>
                  <a:gd name="T18" fmla="*/ 256 w 512"/>
                  <a:gd name="T19" fmla="*/ 49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90"/>
                    </a:moveTo>
                    <a:cubicBezTo>
                      <a:pt x="126" y="490"/>
                      <a:pt x="21" y="385"/>
                      <a:pt x="21" y="256"/>
                    </a:cubicBezTo>
                    <a:cubicBezTo>
                      <a:pt x="21" y="126"/>
                      <a:pt x="126" y="21"/>
                      <a:pt x="256" y="21"/>
                    </a:cubicBezTo>
                    <a:cubicBezTo>
                      <a:pt x="385" y="21"/>
                      <a:pt x="490" y="126"/>
                      <a:pt x="490" y="256"/>
                    </a:cubicBezTo>
                    <a:cubicBezTo>
                      <a:pt x="490" y="385"/>
                      <a:pt x="385" y="490"/>
                      <a:pt x="256" y="49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marL="0" marR="0" lvl="0" indent="0" algn="l" defTabSz="905428"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78" name="Freeform 57">
                <a:extLst>
                  <a:ext uri="{FF2B5EF4-FFF2-40B4-BE49-F238E27FC236}">
                    <a16:creationId xmlns:a16="http://schemas.microsoft.com/office/drawing/2014/main" id="{0A389B54-8010-4BDE-AD19-81CE177D1785}"/>
                  </a:ext>
                </a:extLst>
              </p:cNvPr>
              <p:cNvSpPr>
                <a:spLocks noEditPoints="1"/>
              </p:cNvSpPr>
              <p:nvPr/>
            </p:nvSpPr>
            <p:spPr bwMode="auto">
              <a:xfrm>
                <a:off x="4341" y="70"/>
                <a:ext cx="188" cy="192"/>
              </a:xfrm>
              <a:custGeom>
                <a:avLst/>
                <a:gdLst>
                  <a:gd name="T0" fmla="*/ 267 w 283"/>
                  <a:gd name="T1" fmla="*/ 268 h 289"/>
                  <a:gd name="T2" fmla="*/ 267 w 283"/>
                  <a:gd name="T3" fmla="*/ 135 h 289"/>
                  <a:gd name="T4" fmla="*/ 264 w 283"/>
                  <a:gd name="T5" fmla="*/ 63 h 289"/>
                  <a:gd name="T6" fmla="*/ 264 w 283"/>
                  <a:gd name="T7" fmla="*/ 63 h 289"/>
                  <a:gd name="T8" fmla="*/ 243 w 283"/>
                  <a:gd name="T9" fmla="*/ 20 h 289"/>
                  <a:gd name="T10" fmla="*/ 196 w 283"/>
                  <a:gd name="T11" fmla="*/ 9 h 289"/>
                  <a:gd name="T12" fmla="*/ 176 w 283"/>
                  <a:gd name="T13" fmla="*/ 53 h 289"/>
                  <a:gd name="T14" fmla="*/ 189 w 283"/>
                  <a:gd name="T15" fmla="*/ 82 h 289"/>
                  <a:gd name="T16" fmla="*/ 27 w 283"/>
                  <a:gd name="T17" fmla="*/ 173 h 289"/>
                  <a:gd name="T18" fmla="*/ 21 w 283"/>
                  <a:gd name="T19" fmla="*/ 183 h 289"/>
                  <a:gd name="T20" fmla="*/ 21 w 283"/>
                  <a:gd name="T21" fmla="*/ 215 h 289"/>
                  <a:gd name="T22" fmla="*/ 11 w 283"/>
                  <a:gd name="T23" fmla="*/ 215 h 289"/>
                  <a:gd name="T24" fmla="*/ 0 w 283"/>
                  <a:gd name="T25" fmla="*/ 225 h 289"/>
                  <a:gd name="T26" fmla="*/ 0 w 283"/>
                  <a:gd name="T27" fmla="*/ 279 h 289"/>
                  <a:gd name="T28" fmla="*/ 11 w 283"/>
                  <a:gd name="T29" fmla="*/ 289 h 289"/>
                  <a:gd name="T30" fmla="*/ 53 w 283"/>
                  <a:gd name="T31" fmla="*/ 289 h 289"/>
                  <a:gd name="T32" fmla="*/ 267 w 283"/>
                  <a:gd name="T33" fmla="*/ 289 h 289"/>
                  <a:gd name="T34" fmla="*/ 277 w 283"/>
                  <a:gd name="T35" fmla="*/ 279 h 289"/>
                  <a:gd name="T36" fmla="*/ 267 w 283"/>
                  <a:gd name="T37" fmla="*/ 268 h 289"/>
                  <a:gd name="T38" fmla="*/ 179 w 283"/>
                  <a:gd name="T39" fmla="*/ 268 h 289"/>
                  <a:gd name="T40" fmla="*/ 149 w 283"/>
                  <a:gd name="T41" fmla="*/ 129 h 289"/>
                  <a:gd name="T42" fmla="*/ 200 w 283"/>
                  <a:gd name="T43" fmla="*/ 100 h 289"/>
                  <a:gd name="T44" fmla="*/ 245 w 283"/>
                  <a:gd name="T45" fmla="*/ 141 h 289"/>
                  <a:gd name="T46" fmla="*/ 245 w 283"/>
                  <a:gd name="T47" fmla="*/ 268 h 289"/>
                  <a:gd name="T48" fmla="*/ 179 w 283"/>
                  <a:gd name="T49" fmla="*/ 268 h 289"/>
                  <a:gd name="T50" fmla="*/ 157 w 283"/>
                  <a:gd name="T51" fmla="*/ 268 h 289"/>
                  <a:gd name="T52" fmla="*/ 120 w 283"/>
                  <a:gd name="T53" fmla="*/ 268 h 289"/>
                  <a:gd name="T54" fmla="*/ 139 w 283"/>
                  <a:gd name="T55" fmla="*/ 180 h 289"/>
                  <a:gd name="T56" fmla="*/ 157 w 283"/>
                  <a:gd name="T57" fmla="*/ 268 h 289"/>
                  <a:gd name="T58" fmla="*/ 205 w 283"/>
                  <a:gd name="T59" fmla="*/ 28 h 289"/>
                  <a:gd name="T60" fmla="*/ 214 w 283"/>
                  <a:gd name="T61" fmla="*/ 26 h 289"/>
                  <a:gd name="T62" fmla="*/ 226 w 283"/>
                  <a:gd name="T63" fmla="*/ 34 h 289"/>
                  <a:gd name="T64" fmla="*/ 244 w 283"/>
                  <a:gd name="T65" fmla="*/ 70 h 289"/>
                  <a:gd name="T66" fmla="*/ 251 w 283"/>
                  <a:gd name="T67" fmla="*/ 120 h 289"/>
                  <a:gd name="T68" fmla="*/ 216 w 283"/>
                  <a:gd name="T69" fmla="*/ 85 h 289"/>
                  <a:gd name="T70" fmla="*/ 197 w 283"/>
                  <a:gd name="T71" fmla="*/ 48 h 289"/>
                  <a:gd name="T72" fmla="*/ 205 w 283"/>
                  <a:gd name="T73" fmla="*/ 28 h 289"/>
                  <a:gd name="T74" fmla="*/ 43 w 283"/>
                  <a:gd name="T75" fmla="*/ 189 h 289"/>
                  <a:gd name="T76" fmla="*/ 125 w 283"/>
                  <a:gd name="T77" fmla="*/ 143 h 289"/>
                  <a:gd name="T78" fmla="*/ 98 w 283"/>
                  <a:gd name="T79" fmla="*/ 268 h 289"/>
                  <a:gd name="T80" fmla="*/ 64 w 283"/>
                  <a:gd name="T81" fmla="*/ 268 h 289"/>
                  <a:gd name="T82" fmla="*/ 64 w 283"/>
                  <a:gd name="T83" fmla="*/ 225 h 289"/>
                  <a:gd name="T84" fmla="*/ 53 w 283"/>
                  <a:gd name="T85" fmla="*/ 215 h 289"/>
                  <a:gd name="T86" fmla="*/ 43 w 283"/>
                  <a:gd name="T87" fmla="*/ 215 h 289"/>
                  <a:gd name="T88" fmla="*/ 43 w 283"/>
                  <a:gd name="T89" fmla="*/ 189 h 289"/>
                  <a:gd name="T90" fmla="*/ 21 w 283"/>
                  <a:gd name="T91" fmla="*/ 236 h 289"/>
                  <a:gd name="T92" fmla="*/ 43 w 283"/>
                  <a:gd name="T93" fmla="*/ 236 h 289"/>
                  <a:gd name="T94" fmla="*/ 43 w 283"/>
                  <a:gd name="T95" fmla="*/ 268 h 289"/>
                  <a:gd name="T96" fmla="*/ 21 w 283"/>
                  <a:gd name="T97" fmla="*/ 268 h 289"/>
                  <a:gd name="T98" fmla="*/ 21 w 283"/>
                  <a:gd name="T99" fmla="*/ 236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3" h="289">
                    <a:moveTo>
                      <a:pt x="267" y="268"/>
                    </a:moveTo>
                    <a:cubicBezTo>
                      <a:pt x="267" y="135"/>
                      <a:pt x="267" y="135"/>
                      <a:pt x="267" y="135"/>
                    </a:cubicBezTo>
                    <a:cubicBezTo>
                      <a:pt x="283" y="121"/>
                      <a:pt x="275" y="92"/>
                      <a:pt x="264" y="63"/>
                    </a:cubicBezTo>
                    <a:cubicBezTo>
                      <a:pt x="264" y="63"/>
                      <a:pt x="264" y="63"/>
                      <a:pt x="264" y="63"/>
                    </a:cubicBezTo>
                    <a:cubicBezTo>
                      <a:pt x="261" y="53"/>
                      <a:pt x="251" y="30"/>
                      <a:pt x="243" y="20"/>
                    </a:cubicBezTo>
                    <a:cubicBezTo>
                      <a:pt x="229" y="4"/>
                      <a:pt x="214" y="0"/>
                      <a:pt x="196" y="9"/>
                    </a:cubicBezTo>
                    <a:cubicBezTo>
                      <a:pt x="178" y="18"/>
                      <a:pt x="171" y="33"/>
                      <a:pt x="176" y="53"/>
                    </a:cubicBezTo>
                    <a:cubicBezTo>
                      <a:pt x="178" y="59"/>
                      <a:pt x="182" y="69"/>
                      <a:pt x="189" y="82"/>
                    </a:cubicBezTo>
                    <a:cubicBezTo>
                      <a:pt x="27" y="173"/>
                      <a:pt x="27" y="173"/>
                      <a:pt x="27" y="173"/>
                    </a:cubicBezTo>
                    <a:cubicBezTo>
                      <a:pt x="23" y="175"/>
                      <a:pt x="21" y="179"/>
                      <a:pt x="21" y="183"/>
                    </a:cubicBezTo>
                    <a:cubicBezTo>
                      <a:pt x="21" y="215"/>
                      <a:pt x="21" y="215"/>
                      <a:pt x="21" y="215"/>
                    </a:cubicBezTo>
                    <a:cubicBezTo>
                      <a:pt x="11" y="215"/>
                      <a:pt x="11" y="215"/>
                      <a:pt x="11" y="215"/>
                    </a:cubicBezTo>
                    <a:cubicBezTo>
                      <a:pt x="5" y="215"/>
                      <a:pt x="0" y="219"/>
                      <a:pt x="0" y="225"/>
                    </a:cubicBezTo>
                    <a:cubicBezTo>
                      <a:pt x="0" y="279"/>
                      <a:pt x="0" y="279"/>
                      <a:pt x="0" y="279"/>
                    </a:cubicBezTo>
                    <a:cubicBezTo>
                      <a:pt x="0" y="285"/>
                      <a:pt x="5" y="289"/>
                      <a:pt x="11" y="289"/>
                    </a:cubicBezTo>
                    <a:cubicBezTo>
                      <a:pt x="53" y="289"/>
                      <a:pt x="53" y="289"/>
                      <a:pt x="53" y="289"/>
                    </a:cubicBezTo>
                    <a:cubicBezTo>
                      <a:pt x="267" y="289"/>
                      <a:pt x="267" y="289"/>
                      <a:pt x="267" y="289"/>
                    </a:cubicBezTo>
                    <a:cubicBezTo>
                      <a:pt x="273" y="289"/>
                      <a:pt x="277" y="285"/>
                      <a:pt x="277" y="279"/>
                    </a:cubicBezTo>
                    <a:cubicBezTo>
                      <a:pt x="277" y="273"/>
                      <a:pt x="273" y="268"/>
                      <a:pt x="267" y="268"/>
                    </a:cubicBezTo>
                    <a:close/>
                    <a:moveTo>
                      <a:pt x="179" y="268"/>
                    </a:moveTo>
                    <a:cubicBezTo>
                      <a:pt x="149" y="129"/>
                      <a:pt x="149" y="129"/>
                      <a:pt x="149" y="129"/>
                    </a:cubicBezTo>
                    <a:cubicBezTo>
                      <a:pt x="200" y="100"/>
                      <a:pt x="200" y="100"/>
                      <a:pt x="200" y="100"/>
                    </a:cubicBezTo>
                    <a:cubicBezTo>
                      <a:pt x="216" y="125"/>
                      <a:pt x="231" y="139"/>
                      <a:pt x="245" y="141"/>
                    </a:cubicBezTo>
                    <a:cubicBezTo>
                      <a:pt x="245" y="268"/>
                      <a:pt x="245" y="268"/>
                      <a:pt x="245" y="268"/>
                    </a:cubicBezTo>
                    <a:lnTo>
                      <a:pt x="179" y="268"/>
                    </a:lnTo>
                    <a:close/>
                    <a:moveTo>
                      <a:pt x="157" y="268"/>
                    </a:moveTo>
                    <a:cubicBezTo>
                      <a:pt x="120" y="268"/>
                      <a:pt x="120" y="268"/>
                      <a:pt x="120" y="268"/>
                    </a:cubicBezTo>
                    <a:cubicBezTo>
                      <a:pt x="139" y="180"/>
                      <a:pt x="139" y="180"/>
                      <a:pt x="139" y="180"/>
                    </a:cubicBezTo>
                    <a:lnTo>
                      <a:pt x="157" y="268"/>
                    </a:lnTo>
                    <a:close/>
                    <a:moveTo>
                      <a:pt x="205" y="28"/>
                    </a:moveTo>
                    <a:cubicBezTo>
                      <a:pt x="208" y="27"/>
                      <a:pt x="211" y="26"/>
                      <a:pt x="214" y="26"/>
                    </a:cubicBezTo>
                    <a:cubicBezTo>
                      <a:pt x="217" y="26"/>
                      <a:pt x="221" y="28"/>
                      <a:pt x="226" y="34"/>
                    </a:cubicBezTo>
                    <a:cubicBezTo>
                      <a:pt x="231" y="39"/>
                      <a:pt x="240" y="58"/>
                      <a:pt x="244" y="70"/>
                    </a:cubicBezTo>
                    <a:cubicBezTo>
                      <a:pt x="259" y="110"/>
                      <a:pt x="255" y="118"/>
                      <a:pt x="251" y="120"/>
                    </a:cubicBezTo>
                    <a:cubicBezTo>
                      <a:pt x="247" y="122"/>
                      <a:pt x="235" y="117"/>
                      <a:pt x="216" y="85"/>
                    </a:cubicBezTo>
                    <a:cubicBezTo>
                      <a:pt x="201" y="61"/>
                      <a:pt x="198" y="52"/>
                      <a:pt x="197" y="48"/>
                    </a:cubicBezTo>
                    <a:cubicBezTo>
                      <a:pt x="194" y="35"/>
                      <a:pt x="199" y="32"/>
                      <a:pt x="205" y="28"/>
                    </a:cubicBezTo>
                    <a:close/>
                    <a:moveTo>
                      <a:pt x="43" y="189"/>
                    </a:moveTo>
                    <a:cubicBezTo>
                      <a:pt x="125" y="143"/>
                      <a:pt x="125" y="143"/>
                      <a:pt x="125" y="143"/>
                    </a:cubicBezTo>
                    <a:cubicBezTo>
                      <a:pt x="98" y="268"/>
                      <a:pt x="98" y="268"/>
                      <a:pt x="98" y="268"/>
                    </a:cubicBezTo>
                    <a:cubicBezTo>
                      <a:pt x="64" y="268"/>
                      <a:pt x="64" y="268"/>
                      <a:pt x="64" y="268"/>
                    </a:cubicBezTo>
                    <a:cubicBezTo>
                      <a:pt x="64" y="225"/>
                      <a:pt x="64" y="225"/>
                      <a:pt x="64" y="225"/>
                    </a:cubicBezTo>
                    <a:cubicBezTo>
                      <a:pt x="64" y="219"/>
                      <a:pt x="59" y="215"/>
                      <a:pt x="53" y="215"/>
                    </a:cubicBezTo>
                    <a:cubicBezTo>
                      <a:pt x="43" y="215"/>
                      <a:pt x="43" y="215"/>
                      <a:pt x="43" y="215"/>
                    </a:cubicBezTo>
                    <a:lnTo>
                      <a:pt x="43" y="189"/>
                    </a:lnTo>
                    <a:close/>
                    <a:moveTo>
                      <a:pt x="21" y="236"/>
                    </a:moveTo>
                    <a:cubicBezTo>
                      <a:pt x="43" y="236"/>
                      <a:pt x="43" y="236"/>
                      <a:pt x="43" y="236"/>
                    </a:cubicBezTo>
                    <a:cubicBezTo>
                      <a:pt x="43" y="268"/>
                      <a:pt x="43" y="268"/>
                      <a:pt x="43" y="268"/>
                    </a:cubicBezTo>
                    <a:cubicBezTo>
                      <a:pt x="21" y="268"/>
                      <a:pt x="21" y="268"/>
                      <a:pt x="21" y="268"/>
                    </a:cubicBezTo>
                    <a:lnTo>
                      <a:pt x="21" y="2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marL="0" marR="0" lvl="0" indent="0" algn="l" defTabSz="905428"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grpSp>
          <p:nvGrpSpPr>
            <p:cNvPr id="337" name="Group 336">
              <a:extLst>
                <a:ext uri="{FF2B5EF4-FFF2-40B4-BE49-F238E27FC236}">
                  <a16:creationId xmlns:a16="http://schemas.microsoft.com/office/drawing/2014/main" id="{FD40F682-5B89-49AF-8428-2C20D6421E9D}"/>
                </a:ext>
              </a:extLst>
            </p:cNvPr>
            <p:cNvGrpSpPr/>
            <p:nvPr/>
          </p:nvGrpSpPr>
          <p:grpSpPr>
            <a:xfrm>
              <a:off x="8043685" y="3961285"/>
              <a:ext cx="2054387" cy="900427"/>
              <a:chOff x="8206515" y="3961285"/>
              <a:chExt cx="2054387" cy="900427"/>
            </a:xfrm>
          </p:grpSpPr>
          <p:grpSp>
            <p:nvGrpSpPr>
              <p:cNvPr id="364" name="Group 363">
                <a:extLst>
                  <a:ext uri="{FF2B5EF4-FFF2-40B4-BE49-F238E27FC236}">
                    <a16:creationId xmlns:a16="http://schemas.microsoft.com/office/drawing/2014/main" id="{55D46EE3-9165-486B-AE94-0A153BA31916}"/>
                  </a:ext>
                </a:extLst>
              </p:cNvPr>
              <p:cNvGrpSpPr/>
              <p:nvPr/>
            </p:nvGrpSpPr>
            <p:grpSpPr>
              <a:xfrm>
                <a:off x="9504099" y="3961285"/>
                <a:ext cx="756803" cy="900427"/>
                <a:chOff x="6760515" y="3143193"/>
                <a:chExt cx="756803" cy="900427"/>
              </a:xfrm>
            </p:grpSpPr>
            <p:sp>
              <p:nvSpPr>
                <p:cNvPr id="371" name="Rectangle 370">
                  <a:extLst>
                    <a:ext uri="{FF2B5EF4-FFF2-40B4-BE49-F238E27FC236}">
                      <a16:creationId xmlns:a16="http://schemas.microsoft.com/office/drawing/2014/main" id="{5CD8E302-05DD-4111-95BC-5CF85791CFF2}"/>
                    </a:ext>
                  </a:extLst>
                </p:cNvPr>
                <p:cNvSpPr/>
                <p:nvPr/>
              </p:nvSpPr>
              <p:spPr bwMode="gray">
                <a:xfrm>
                  <a:off x="6917392" y="3143193"/>
                  <a:ext cx="599925" cy="900427"/>
                </a:xfrm>
                <a:prstGeom prst="rect">
                  <a:avLst/>
                </a:prstGeom>
                <a:solidFill>
                  <a:schemeClr val="bg1"/>
                </a:solidFill>
                <a:ln w="19050" algn="ctr">
                  <a:solidFill>
                    <a:schemeClr val="accent2"/>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4</a:t>
                  </a:r>
                  <a:endParaRPr kumimoji="0" lang="en-IN"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372" name="Rectangle 371">
                  <a:extLst>
                    <a:ext uri="{FF2B5EF4-FFF2-40B4-BE49-F238E27FC236}">
                      <a16:creationId xmlns:a16="http://schemas.microsoft.com/office/drawing/2014/main" id="{5249189A-5387-4A87-B37B-18F9998A25EA}"/>
                    </a:ext>
                  </a:extLst>
                </p:cNvPr>
                <p:cNvSpPr/>
                <p:nvPr/>
              </p:nvSpPr>
              <p:spPr>
                <a:xfrm>
                  <a:off x="6986420" y="3274738"/>
                  <a:ext cx="418704" cy="276999"/>
                </a:xfrm>
                <a:prstGeom prst="rect">
                  <a:avLst/>
                </a:prstGeom>
              </p:spPr>
              <p:txBody>
                <a:bodyPr wrap="none" t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rPr>
                    <a:t>38</a:t>
                  </a:r>
                  <a:endParaRPr kumimoji="0" lang="en-IN"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73" name="Rectangle 372">
                  <a:extLst>
                    <a:ext uri="{FF2B5EF4-FFF2-40B4-BE49-F238E27FC236}">
                      <a16:creationId xmlns:a16="http://schemas.microsoft.com/office/drawing/2014/main" id="{46B5F6C2-4955-4740-A717-F3BDA0D609B2}"/>
                    </a:ext>
                  </a:extLst>
                </p:cNvPr>
                <p:cNvSpPr/>
                <p:nvPr/>
              </p:nvSpPr>
              <p:spPr>
                <a:xfrm>
                  <a:off x="7038835" y="3723078"/>
                  <a:ext cx="367408" cy="215444"/>
                </a:xfrm>
                <a:prstGeom prst="rect">
                  <a:avLst/>
                </a:prstGeom>
              </p:spPr>
              <p:txBody>
                <a:bodyPr wrap="none" t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rPr>
                    <a:t>48</a:t>
                  </a:r>
                  <a:endParaRPr kumimoji="0" lang="en-IN" sz="1400" b="0"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endParaRPr>
                </a:p>
              </p:txBody>
            </p:sp>
            <p:sp>
              <p:nvSpPr>
                <p:cNvPr id="374" name="Rectangle 373">
                  <a:extLst>
                    <a:ext uri="{FF2B5EF4-FFF2-40B4-BE49-F238E27FC236}">
                      <a16:creationId xmlns:a16="http://schemas.microsoft.com/office/drawing/2014/main" id="{B7E02A5F-F3D4-4DCD-9946-0FCC906CDF0B}"/>
                    </a:ext>
                  </a:extLst>
                </p:cNvPr>
                <p:cNvSpPr/>
                <p:nvPr/>
              </p:nvSpPr>
              <p:spPr>
                <a:xfrm>
                  <a:off x="6760515" y="3538179"/>
                  <a:ext cx="756803" cy="161583"/>
                </a:xfrm>
                <a:prstGeom prst="rect">
                  <a:avLst/>
                </a:prstGeom>
                <a:solidFill>
                  <a:schemeClr val="accent2"/>
                </a:solidFill>
              </p:spPr>
              <p:txBody>
                <a:bodyPr wrap="square" lIns="274320" t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of</a:t>
                  </a:r>
                  <a:endParaRPr kumimoji="0" lang="en-IN" sz="105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375" name="Rectangle 374">
                  <a:extLst>
                    <a:ext uri="{FF2B5EF4-FFF2-40B4-BE49-F238E27FC236}">
                      <a16:creationId xmlns:a16="http://schemas.microsoft.com/office/drawing/2014/main" id="{EC1201A9-F9F2-444E-A653-0B158C4178C1}"/>
                    </a:ext>
                  </a:extLst>
                </p:cNvPr>
                <p:cNvSpPr/>
                <p:nvPr/>
              </p:nvSpPr>
              <p:spPr>
                <a:xfrm>
                  <a:off x="6950513" y="3882663"/>
                  <a:ext cx="508152" cy="138499"/>
                </a:xfrm>
                <a:prstGeom prst="rect">
                  <a:avLst/>
                </a:prstGeom>
              </p:spPr>
              <p:txBody>
                <a:bodyPr wrap="none" lIns="0" tIns="0" rIns="0" bIns="0">
                  <a:spAutoFit/>
                </a:bodyPr>
                <a:lstStyle/>
                <a:p>
                  <a:pPr marL="0" marR="0" lvl="0" indent="0" algn="l" defTabSz="103228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rPr>
                    <a:t>companies</a:t>
                  </a:r>
                </a:p>
              </p:txBody>
            </p:sp>
            <p:sp>
              <p:nvSpPr>
                <p:cNvPr id="376" name="Rectangle 375">
                  <a:extLst>
                    <a:ext uri="{FF2B5EF4-FFF2-40B4-BE49-F238E27FC236}">
                      <a16:creationId xmlns:a16="http://schemas.microsoft.com/office/drawing/2014/main" id="{8902FB03-7112-4E25-AEEE-EA96AE5E91FC}"/>
                    </a:ext>
                  </a:extLst>
                </p:cNvPr>
                <p:cNvSpPr/>
                <p:nvPr/>
              </p:nvSpPr>
              <p:spPr>
                <a:xfrm>
                  <a:off x="7054045" y="3171396"/>
                  <a:ext cx="306174" cy="138499"/>
                </a:xfrm>
                <a:prstGeom prst="rect">
                  <a:avLst/>
                </a:prstGeom>
              </p:spPr>
              <p:txBody>
                <a:bodyPr wrap="none" lIns="0" tIns="0" rIns="0" bIns="0">
                  <a:spAutoFit/>
                </a:bodyPr>
                <a:lstStyle/>
                <a:p>
                  <a:pPr marL="0" marR="0" lvl="0" indent="0" algn="l" defTabSz="103228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rPr>
                    <a:t>Serves</a:t>
                  </a:r>
                </a:p>
              </p:txBody>
            </p:sp>
          </p:grpSp>
          <p:sp>
            <p:nvSpPr>
              <p:cNvPr id="365" name="Oval 364">
                <a:extLst>
                  <a:ext uri="{FF2B5EF4-FFF2-40B4-BE49-F238E27FC236}">
                    <a16:creationId xmlns:a16="http://schemas.microsoft.com/office/drawing/2014/main" id="{6A2F6E34-AB44-4624-AC90-7A90AFA25FC8}"/>
                  </a:ext>
                </a:extLst>
              </p:cNvPr>
              <p:cNvSpPr/>
              <p:nvPr/>
            </p:nvSpPr>
            <p:spPr bwMode="gray">
              <a:xfrm>
                <a:off x="9190709" y="4237280"/>
                <a:ext cx="405566" cy="405566"/>
              </a:xfrm>
              <a:prstGeom prst="ellipse">
                <a:avLst/>
              </a:prstGeom>
              <a:solidFill>
                <a:schemeClr val="bg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366" name="Rectangle 365">
                <a:extLst>
                  <a:ext uri="{FF2B5EF4-FFF2-40B4-BE49-F238E27FC236}">
                    <a16:creationId xmlns:a16="http://schemas.microsoft.com/office/drawing/2014/main" id="{1A04C9EB-3E6D-42B2-BFB6-7D0A53165268}"/>
                  </a:ext>
                </a:extLst>
              </p:cNvPr>
              <p:cNvSpPr/>
              <p:nvPr/>
            </p:nvSpPr>
            <p:spPr>
              <a:xfrm>
                <a:off x="8206515" y="4271042"/>
                <a:ext cx="827972" cy="348813"/>
              </a:xfrm>
              <a:prstGeom prst="rect">
                <a:avLst/>
              </a:prstGeom>
            </p:spPr>
            <p:txBody>
              <a:bodyPr wrap="square" lIns="0" rIns="0">
                <a:spAutoFit/>
              </a:bodyPr>
              <a:lstStyle/>
              <a:p>
                <a:pPr marL="0" marR="0" lvl="0" indent="0" algn="r" defTabSz="905428" rtl="0" eaLnBrk="1" fontAlgn="auto" latinLnBrk="0" hangingPunct="1">
                  <a:lnSpc>
                    <a:spcPts val="1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Life sciences </a:t>
                </a:r>
                <a:br>
                  <a:rPr kumimoji="0" lang="en-GB" sz="9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en-GB" sz="9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&amp; healthcare </a:t>
                </a:r>
              </a:p>
            </p:txBody>
          </p:sp>
          <p:sp>
            <p:nvSpPr>
              <p:cNvPr id="367" name="Isosceles Triangle 366">
                <a:extLst>
                  <a:ext uri="{FF2B5EF4-FFF2-40B4-BE49-F238E27FC236}">
                    <a16:creationId xmlns:a16="http://schemas.microsoft.com/office/drawing/2014/main" id="{FA122E00-A5CB-4860-A561-2B7FDB192827}"/>
                  </a:ext>
                </a:extLst>
              </p:cNvPr>
              <p:cNvSpPr/>
              <p:nvPr/>
            </p:nvSpPr>
            <p:spPr bwMode="gray">
              <a:xfrm rot="5400000">
                <a:off x="9087591" y="4402111"/>
                <a:ext cx="103948" cy="89610"/>
              </a:xfrm>
              <a:prstGeom prst="triangle">
                <a:avLst/>
              </a:prstGeom>
              <a:solidFill>
                <a:schemeClr val="accent2"/>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368" name="Group 327">
                <a:extLst>
                  <a:ext uri="{FF2B5EF4-FFF2-40B4-BE49-F238E27FC236}">
                    <a16:creationId xmlns:a16="http://schemas.microsoft.com/office/drawing/2014/main" id="{ABBD006B-669F-49B3-B4E0-79A30F9DBBE5}"/>
                  </a:ext>
                </a:extLst>
              </p:cNvPr>
              <p:cNvGrpSpPr>
                <a:grpSpLocks/>
              </p:cNvGrpSpPr>
              <p:nvPr/>
            </p:nvGrpSpPr>
            <p:grpSpPr bwMode="auto">
              <a:xfrm>
                <a:off x="9217701" y="4258169"/>
                <a:ext cx="351923" cy="353505"/>
                <a:chOff x="5029" y="1186"/>
                <a:chExt cx="340" cy="340"/>
              </a:xfrm>
              <a:solidFill>
                <a:schemeClr val="accent2"/>
              </a:solidFill>
            </p:grpSpPr>
            <p:sp>
              <p:nvSpPr>
                <p:cNvPr id="369" name="Freeform 328">
                  <a:extLst>
                    <a:ext uri="{FF2B5EF4-FFF2-40B4-BE49-F238E27FC236}">
                      <a16:creationId xmlns:a16="http://schemas.microsoft.com/office/drawing/2014/main" id="{D337D06E-E2DF-4C82-B91D-69D7AADED481}"/>
                    </a:ext>
                  </a:extLst>
                </p:cNvPr>
                <p:cNvSpPr>
                  <a:spLocks noEditPoints="1"/>
                </p:cNvSpPr>
                <p:nvPr/>
              </p:nvSpPr>
              <p:spPr bwMode="auto">
                <a:xfrm>
                  <a:off x="5109" y="1266"/>
                  <a:ext cx="180" cy="180"/>
                </a:xfrm>
                <a:custGeom>
                  <a:avLst/>
                  <a:gdLst>
                    <a:gd name="T0" fmla="*/ 248 w 270"/>
                    <a:gd name="T1" fmla="*/ 142 h 270"/>
                    <a:gd name="T2" fmla="*/ 187 w 270"/>
                    <a:gd name="T3" fmla="*/ 82 h 270"/>
                    <a:gd name="T4" fmla="*/ 127 w 270"/>
                    <a:gd name="T5" fmla="*/ 22 h 270"/>
                    <a:gd name="T6" fmla="*/ 74 w 270"/>
                    <a:gd name="T7" fmla="*/ 0 h 270"/>
                    <a:gd name="T8" fmla="*/ 22 w 270"/>
                    <a:gd name="T9" fmla="*/ 22 h 270"/>
                    <a:gd name="T10" fmla="*/ 0 w 270"/>
                    <a:gd name="T11" fmla="*/ 74 h 270"/>
                    <a:gd name="T12" fmla="*/ 22 w 270"/>
                    <a:gd name="T13" fmla="*/ 127 h 270"/>
                    <a:gd name="T14" fmla="*/ 82 w 270"/>
                    <a:gd name="T15" fmla="*/ 187 h 270"/>
                    <a:gd name="T16" fmla="*/ 142 w 270"/>
                    <a:gd name="T17" fmla="*/ 248 h 270"/>
                    <a:gd name="T18" fmla="*/ 195 w 270"/>
                    <a:gd name="T19" fmla="*/ 270 h 270"/>
                    <a:gd name="T20" fmla="*/ 248 w 270"/>
                    <a:gd name="T21" fmla="*/ 248 h 270"/>
                    <a:gd name="T22" fmla="*/ 270 w 270"/>
                    <a:gd name="T23" fmla="*/ 195 h 270"/>
                    <a:gd name="T24" fmla="*/ 248 w 270"/>
                    <a:gd name="T25" fmla="*/ 142 h 270"/>
                    <a:gd name="T26" fmla="*/ 240 w 270"/>
                    <a:gd name="T27" fmla="*/ 167 h 270"/>
                    <a:gd name="T28" fmla="*/ 118 w 270"/>
                    <a:gd name="T29" fmla="*/ 167 h 270"/>
                    <a:gd name="T30" fmla="*/ 139 w 270"/>
                    <a:gd name="T31" fmla="*/ 145 h 270"/>
                    <a:gd name="T32" fmla="*/ 220 w 270"/>
                    <a:gd name="T33" fmla="*/ 145 h 270"/>
                    <a:gd name="T34" fmla="*/ 220 w 270"/>
                    <a:gd name="T35" fmla="*/ 145 h 270"/>
                    <a:gd name="T36" fmla="*/ 233 w 270"/>
                    <a:gd name="T37" fmla="*/ 157 h 270"/>
                    <a:gd name="T38" fmla="*/ 240 w 270"/>
                    <a:gd name="T39" fmla="*/ 167 h 270"/>
                    <a:gd name="T40" fmla="*/ 248 w 270"/>
                    <a:gd name="T41" fmla="*/ 195 h 270"/>
                    <a:gd name="T42" fmla="*/ 246 w 270"/>
                    <a:gd name="T43" fmla="*/ 209 h 270"/>
                    <a:gd name="T44" fmla="*/ 135 w 270"/>
                    <a:gd name="T45" fmla="*/ 209 h 270"/>
                    <a:gd name="T46" fmla="*/ 135 w 270"/>
                    <a:gd name="T47" fmla="*/ 210 h 270"/>
                    <a:gd name="T48" fmla="*/ 113 w 270"/>
                    <a:gd name="T49" fmla="*/ 188 h 270"/>
                    <a:gd name="T50" fmla="*/ 248 w 270"/>
                    <a:gd name="T51" fmla="*/ 188 h 270"/>
                    <a:gd name="T52" fmla="*/ 248 w 270"/>
                    <a:gd name="T53" fmla="*/ 195 h 270"/>
                    <a:gd name="T54" fmla="*/ 180 w 270"/>
                    <a:gd name="T55" fmla="*/ 105 h 270"/>
                    <a:gd name="T56" fmla="*/ 199 w 270"/>
                    <a:gd name="T57" fmla="*/ 124 h 270"/>
                    <a:gd name="T58" fmla="*/ 160 w 270"/>
                    <a:gd name="T59" fmla="*/ 124 h 270"/>
                    <a:gd name="T60" fmla="*/ 180 w 270"/>
                    <a:gd name="T61" fmla="*/ 105 h 270"/>
                    <a:gd name="T62" fmla="*/ 21 w 270"/>
                    <a:gd name="T63" fmla="*/ 74 h 270"/>
                    <a:gd name="T64" fmla="*/ 37 w 270"/>
                    <a:gd name="T65" fmla="*/ 37 h 270"/>
                    <a:gd name="T66" fmla="*/ 74 w 270"/>
                    <a:gd name="T67" fmla="*/ 21 h 270"/>
                    <a:gd name="T68" fmla="*/ 112 w 270"/>
                    <a:gd name="T69" fmla="*/ 37 h 270"/>
                    <a:gd name="T70" fmla="*/ 165 w 270"/>
                    <a:gd name="T71" fmla="*/ 89 h 270"/>
                    <a:gd name="T72" fmla="*/ 89 w 270"/>
                    <a:gd name="T73" fmla="*/ 165 h 270"/>
                    <a:gd name="T74" fmla="*/ 37 w 270"/>
                    <a:gd name="T75" fmla="*/ 112 h 270"/>
                    <a:gd name="T76" fmla="*/ 21 w 270"/>
                    <a:gd name="T77" fmla="*/ 74 h 270"/>
                    <a:gd name="T78" fmla="*/ 195 w 270"/>
                    <a:gd name="T79" fmla="*/ 248 h 270"/>
                    <a:gd name="T80" fmla="*/ 157 w 270"/>
                    <a:gd name="T81" fmla="*/ 233 h 270"/>
                    <a:gd name="T82" fmla="*/ 155 w 270"/>
                    <a:gd name="T83" fmla="*/ 231 h 270"/>
                    <a:gd name="T84" fmla="*/ 234 w 270"/>
                    <a:gd name="T85" fmla="*/ 231 h 270"/>
                    <a:gd name="T86" fmla="*/ 233 w 270"/>
                    <a:gd name="T87" fmla="*/ 233 h 270"/>
                    <a:gd name="T88" fmla="*/ 195 w 270"/>
                    <a:gd name="T89" fmla="*/ 248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70" h="270">
                      <a:moveTo>
                        <a:pt x="248" y="142"/>
                      </a:moveTo>
                      <a:cubicBezTo>
                        <a:pt x="187" y="82"/>
                        <a:pt x="187" y="82"/>
                        <a:pt x="187" y="82"/>
                      </a:cubicBezTo>
                      <a:cubicBezTo>
                        <a:pt x="127" y="22"/>
                        <a:pt x="127" y="22"/>
                        <a:pt x="127" y="22"/>
                      </a:cubicBezTo>
                      <a:cubicBezTo>
                        <a:pt x="113" y="7"/>
                        <a:pt x="94" y="0"/>
                        <a:pt x="74" y="0"/>
                      </a:cubicBezTo>
                      <a:cubicBezTo>
                        <a:pt x="54" y="0"/>
                        <a:pt x="36" y="7"/>
                        <a:pt x="22" y="22"/>
                      </a:cubicBezTo>
                      <a:cubicBezTo>
                        <a:pt x="7" y="36"/>
                        <a:pt x="0" y="54"/>
                        <a:pt x="0" y="74"/>
                      </a:cubicBezTo>
                      <a:cubicBezTo>
                        <a:pt x="0" y="94"/>
                        <a:pt x="7" y="113"/>
                        <a:pt x="22" y="127"/>
                      </a:cubicBezTo>
                      <a:cubicBezTo>
                        <a:pt x="82" y="187"/>
                        <a:pt x="82" y="187"/>
                        <a:pt x="82" y="187"/>
                      </a:cubicBezTo>
                      <a:cubicBezTo>
                        <a:pt x="142" y="248"/>
                        <a:pt x="142" y="248"/>
                        <a:pt x="142" y="248"/>
                      </a:cubicBezTo>
                      <a:cubicBezTo>
                        <a:pt x="156" y="262"/>
                        <a:pt x="175" y="270"/>
                        <a:pt x="195" y="270"/>
                      </a:cubicBezTo>
                      <a:cubicBezTo>
                        <a:pt x="215" y="270"/>
                        <a:pt x="234" y="262"/>
                        <a:pt x="248" y="248"/>
                      </a:cubicBezTo>
                      <a:cubicBezTo>
                        <a:pt x="262" y="234"/>
                        <a:pt x="270" y="215"/>
                        <a:pt x="270" y="195"/>
                      </a:cubicBezTo>
                      <a:cubicBezTo>
                        <a:pt x="270" y="175"/>
                        <a:pt x="262" y="156"/>
                        <a:pt x="248" y="142"/>
                      </a:cubicBezTo>
                      <a:close/>
                      <a:moveTo>
                        <a:pt x="240" y="167"/>
                      </a:moveTo>
                      <a:cubicBezTo>
                        <a:pt x="118" y="167"/>
                        <a:pt x="118" y="167"/>
                        <a:pt x="118" y="167"/>
                      </a:cubicBezTo>
                      <a:cubicBezTo>
                        <a:pt x="139" y="145"/>
                        <a:pt x="139" y="145"/>
                        <a:pt x="139" y="145"/>
                      </a:cubicBezTo>
                      <a:cubicBezTo>
                        <a:pt x="220" y="145"/>
                        <a:pt x="220" y="145"/>
                        <a:pt x="220" y="145"/>
                      </a:cubicBezTo>
                      <a:cubicBezTo>
                        <a:pt x="220" y="145"/>
                        <a:pt x="220" y="145"/>
                        <a:pt x="220" y="145"/>
                      </a:cubicBezTo>
                      <a:cubicBezTo>
                        <a:pt x="233" y="157"/>
                        <a:pt x="233" y="157"/>
                        <a:pt x="233" y="157"/>
                      </a:cubicBezTo>
                      <a:cubicBezTo>
                        <a:pt x="236" y="160"/>
                        <a:pt x="238" y="163"/>
                        <a:pt x="240" y="167"/>
                      </a:cubicBezTo>
                      <a:close/>
                      <a:moveTo>
                        <a:pt x="248" y="195"/>
                      </a:moveTo>
                      <a:cubicBezTo>
                        <a:pt x="248" y="200"/>
                        <a:pt x="247" y="205"/>
                        <a:pt x="246" y="209"/>
                      </a:cubicBezTo>
                      <a:cubicBezTo>
                        <a:pt x="135" y="209"/>
                        <a:pt x="135" y="209"/>
                        <a:pt x="135" y="209"/>
                      </a:cubicBezTo>
                      <a:cubicBezTo>
                        <a:pt x="135" y="210"/>
                        <a:pt x="135" y="210"/>
                        <a:pt x="135" y="210"/>
                      </a:cubicBezTo>
                      <a:cubicBezTo>
                        <a:pt x="113" y="188"/>
                        <a:pt x="113" y="188"/>
                        <a:pt x="113" y="188"/>
                      </a:cubicBezTo>
                      <a:cubicBezTo>
                        <a:pt x="248" y="188"/>
                        <a:pt x="248" y="188"/>
                        <a:pt x="248" y="188"/>
                      </a:cubicBezTo>
                      <a:cubicBezTo>
                        <a:pt x="248" y="190"/>
                        <a:pt x="248" y="193"/>
                        <a:pt x="248" y="195"/>
                      </a:cubicBezTo>
                      <a:close/>
                      <a:moveTo>
                        <a:pt x="180" y="105"/>
                      </a:moveTo>
                      <a:cubicBezTo>
                        <a:pt x="199" y="124"/>
                        <a:pt x="199" y="124"/>
                        <a:pt x="199" y="124"/>
                      </a:cubicBezTo>
                      <a:cubicBezTo>
                        <a:pt x="160" y="124"/>
                        <a:pt x="160" y="124"/>
                        <a:pt x="160" y="124"/>
                      </a:cubicBezTo>
                      <a:lnTo>
                        <a:pt x="180" y="105"/>
                      </a:lnTo>
                      <a:close/>
                      <a:moveTo>
                        <a:pt x="21" y="74"/>
                      </a:moveTo>
                      <a:cubicBezTo>
                        <a:pt x="21" y="60"/>
                        <a:pt x="27" y="47"/>
                        <a:pt x="37" y="37"/>
                      </a:cubicBezTo>
                      <a:cubicBezTo>
                        <a:pt x="47" y="27"/>
                        <a:pt x="60" y="21"/>
                        <a:pt x="74" y="21"/>
                      </a:cubicBezTo>
                      <a:cubicBezTo>
                        <a:pt x="89" y="21"/>
                        <a:pt x="102" y="27"/>
                        <a:pt x="112" y="37"/>
                      </a:cubicBezTo>
                      <a:cubicBezTo>
                        <a:pt x="165" y="89"/>
                        <a:pt x="165" y="89"/>
                        <a:pt x="165" y="89"/>
                      </a:cubicBezTo>
                      <a:cubicBezTo>
                        <a:pt x="89" y="165"/>
                        <a:pt x="89" y="165"/>
                        <a:pt x="89" y="165"/>
                      </a:cubicBezTo>
                      <a:cubicBezTo>
                        <a:pt x="37" y="112"/>
                        <a:pt x="37" y="112"/>
                        <a:pt x="37" y="112"/>
                      </a:cubicBezTo>
                      <a:cubicBezTo>
                        <a:pt x="27" y="102"/>
                        <a:pt x="21" y="89"/>
                        <a:pt x="21" y="74"/>
                      </a:cubicBezTo>
                      <a:close/>
                      <a:moveTo>
                        <a:pt x="195" y="248"/>
                      </a:moveTo>
                      <a:cubicBezTo>
                        <a:pt x="181" y="248"/>
                        <a:pt x="167" y="243"/>
                        <a:pt x="157" y="233"/>
                      </a:cubicBezTo>
                      <a:cubicBezTo>
                        <a:pt x="155" y="231"/>
                        <a:pt x="155" y="231"/>
                        <a:pt x="155" y="231"/>
                      </a:cubicBezTo>
                      <a:cubicBezTo>
                        <a:pt x="234" y="231"/>
                        <a:pt x="234" y="231"/>
                        <a:pt x="234" y="231"/>
                      </a:cubicBezTo>
                      <a:cubicBezTo>
                        <a:pt x="234" y="231"/>
                        <a:pt x="233" y="232"/>
                        <a:pt x="233" y="233"/>
                      </a:cubicBezTo>
                      <a:cubicBezTo>
                        <a:pt x="223" y="243"/>
                        <a:pt x="209" y="248"/>
                        <a:pt x="195" y="24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marL="0" marR="0" lvl="0" indent="0" algn="l" defTabSz="905428"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70" name="Freeform 329">
                  <a:extLst>
                    <a:ext uri="{FF2B5EF4-FFF2-40B4-BE49-F238E27FC236}">
                      <a16:creationId xmlns:a16="http://schemas.microsoft.com/office/drawing/2014/main" id="{CF78C386-5322-4E76-8F5E-310AF432DBF6}"/>
                    </a:ext>
                  </a:extLst>
                </p:cNvPr>
                <p:cNvSpPr>
                  <a:spLocks noEditPoints="1"/>
                </p:cNvSpPr>
                <p:nvPr/>
              </p:nvSpPr>
              <p:spPr bwMode="auto">
                <a:xfrm>
                  <a:off x="5029" y="118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marL="0" marR="0" lvl="0" indent="0" algn="l" defTabSz="905428"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grpSp>
        <p:grpSp>
          <p:nvGrpSpPr>
            <p:cNvPr id="338" name="Group 768">
              <a:extLst>
                <a:ext uri="{FF2B5EF4-FFF2-40B4-BE49-F238E27FC236}">
                  <a16:creationId xmlns:a16="http://schemas.microsoft.com/office/drawing/2014/main" id="{C18CE3F0-EC99-4E86-BD75-929F1739ACFF}"/>
                </a:ext>
              </a:extLst>
            </p:cNvPr>
            <p:cNvGrpSpPr>
              <a:grpSpLocks/>
            </p:cNvGrpSpPr>
            <p:nvPr/>
          </p:nvGrpSpPr>
          <p:grpSpPr bwMode="auto">
            <a:xfrm>
              <a:off x="6959477" y="5284626"/>
              <a:ext cx="351923" cy="353505"/>
              <a:chOff x="6591" y="3054"/>
              <a:chExt cx="340" cy="340"/>
            </a:xfrm>
            <a:solidFill>
              <a:schemeClr val="accent6">
                <a:lumMod val="50000"/>
              </a:schemeClr>
            </a:solidFill>
          </p:grpSpPr>
          <p:sp>
            <p:nvSpPr>
              <p:cNvPr id="362" name="Freeform 769">
                <a:extLst>
                  <a:ext uri="{FF2B5EF4-FFF2-40B4-BE49-F238E27FC236}">
                    <a16:creationId xmlns:a16="http://schemas.microsoft.com/office/drawing/2014/main" id="{5E2E20E0-C7F5-405A-A547-DFE36B2E868C}"/>
                  </a:ext>
                </a:extLst>
              </p:cNvPr>
              <p:cNvSpPr>
                <a:spLocks noEditPoints="1"/>
              </p:cNvSpPr>
              <p:nvPr/>
            </p:nvSpPr>
            <p:spPr bwMode="auto">
              <a:xfrm>
                <a:off x="6591" y="3054"/>
                <a:ext cx="340" cy="340"/>
              </a:xfrm>
              <a:custGeom>
                <a:avLst/>
                <a:gdLst>
                  <a:gd name="T0" fmla="*/ 256 w 512"/>
                  <a:gd name="T1" fmla="*/ 22 h 512"/>
                  <a:gd name="T2" fmla="*/ 491 w 512"/>
                  <a:gd name="T3" fmla="*/ 256 h 512"/>
                  <a:gd name="T4" fmla="*/ 256 w 512"/>
                  <a:gd name="T5" fmla="*/ 491 h 512"/>
                  <a:gd name="T6" fmla="*/ 21 w 512"/>
                  <a:gd name="T7" fmla="*/ 256 h 512"/>
                  <a:gd name="T8" fmla="*/ 256 w 512"/>
                  <a:gd name="T9" fmla="*/ 22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2"/>
                    </a:moveTo>
                    <a:cubicBezTo>
                      <a:pt x="385" y="22"/>
                      <a:pt x="491" y="127"/>
                      <a:pt x="491" y="256"/>
                    </a:cubicBezTo>
                    <a:cubicBezTo>
                      <a:pt x="491" y="386"/>
                      <a:pt x="385" y="491"/>
                      <a:pt x="256" y="491"/>
                    </a:cubicBezTo>
                    <a:cubicBezTo>
                      <a:pt x="127" y="491"/>
                      <a:pt x="21" y="386"/>
                      <a:pt x="21" y="256"/>
                    </a:cubicBezTo>
                    <a:cubicBezTo>
                      <a:pt x="21" y="127"/>
                      <a:pt x="127" y="22"/>
                      <a:pt x="256" y="22"/>
                    </a:cubicBezTo>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marL="0" marR="0" lvl="0" indent="0" algn="l" defTabSz="905428"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63" name="Freeform 770">
                <a:extLst>
                  <a:ext uri="{FF2B5EF4-FFF2-40B4-BE49-F238E27FC236}">
                    <a16:creationId xmlns:a16="http://schemas.microsoft.com/office/drawing/2014/main" id="{06B54CBC-D004-4C34-B83E-01681B1C4A45}"/>
                  </a:ext>
                </a:extLst>
              </p:cNvPr>
              <p:cNvSpPr>
                <a:spLocks noEditPoints="1"/>
              </p:cNvSpPr>
              <p:nvPr/>
            </p:nvSpPr>
            <p:spPr bwMode="auto">
              <a:xfrm>
                <a:off x="6690" y="3132"/>
                <a:ext cx="149" cy="198"/>
              </a:xfrm>
              <a:custGeom>
                <a:avLst/>
                <a:gdLst>
                  <a:gd name="T0" fmla="*/ 142 w 224"/>
                  <a:gd name="T1" fmla="*/ 97 h 298"/>
                  <a:gd name="T2" fmla="*/ 147 w 224"/>
                  <a:gd name="T3" fmla="*/ 93 h 298"/>
                  <a:gd name="T4" fmla="*/ 147 w 224"/>
                  <a:gd name="T5" fmla="*/ 77 h 298"/>
                  <a:gd name="T6" fmla="*/ 131 w 224"/>
                  <a:gd name="T7" fmla="*/ 77 h 298"/>
                  <a:gd name="T8" fmla="*/ 127 w 224"/>
                  <a:gd name="T9" fmla="*/ 82 h 298"/>
                  <a:gd name="T10" fmla="*/ 74 w 224"/>
                  <a:gd name="T11" fmla="*/ 30 h 298"/>
                  <a:gd name="T12" fmla="*/ 59 w 224"/>
                  <a:gd name="T13" fmla="*/ 30 h 298"/>
                  <a:gd name="T14" fmla="*/ 59 w 224"/>
                  <a:gd name="T15" fmla="*/ 165 h 298"/>
                  <a:gd name="T16" fmla="*/ 64 w 224"/>
                  <a:gd name="T17" fmla="*/ 170 h 298"/>
                  <a:gd name="T18" fmla="*/ 25 w 224"/>
                  <a:gd name="T19" fmla="*/ 277 h 298"/>
                  <a:gd name="T20" fmla="*/ 11 w 224"/>
                  <a:gd name="T21" fmla="*/ 277 h 298"/>
                  <a:gd name="T22" fmla="*/ 0 w 224"/>
                  <a:gd name="T23" fmla="*/ 288 h 298"/>
                  <a:gd name="T24" fmla="*/ 11 w 224"/>
                  <a:gd name="T25" fmla="*/ 298 h 298"/>
                  <a:gd name="T26" fmla="*/ 139 w 224"/>
                  <a:gd name="T27" fmla="*/ 298 h 298"/>
                  <a:gd name="T28" fmla="*/ 150 w 224"/>
                  <a:gd name="T29" fmla="*/ 288 h 298"/>
                  <a:gd name="T30" fmla="*/ 139 w 224"/>
                  <a:gd name="T31" fmla="*/ 277 h 298"/>
                  <a:gd name="T32" fmla="*/ 125 w 224"/>
                  <a:gd name="T33" fmla="*/ 277 h 298"/>
                  <a:gd name="T34" fmla="*/ 92 w 224"/>
                  <a:gd name="T35" fmla="*/ 187 h 298"/>
                  <a:gd name="T36" fmla="*/ 127 w 224"/>
                  <a:gd name="T37" fmla="*/ 193 h 298"/>
                  <a:gd name="T38" fmla="*/ 194 w 224"/>
                  <a:gd name="T39" fmla="*/ 165 h 298"/>
                  <a:gd name="T40" fmla="*/ 198 w 224"/>
                  <a:gd name="T41" fmla="*/ 158 h 298"/>
                  <a:gd name="T42" fmla="*/ 194 w 224"/>
                  <a:gd name="T43" fmla="*/ 150 h 298"/>
                  <a:gd name="T44" fmla="*/ 142 w 224"/>
                  <a:gd name="T45" fmla="*/ 97 h 298"/>
                  <a:gd name="T46" fmla="*/ 48 w 224"/>
                  <a:gd name="T47" fmla="*/ 277 h 298"/>
                  <a:gd name="T48" fmla="*/ 75 w 224"/>
                  <a:gd name="T49" fmla="*/ 202 h 298"/>
                  <a:gd name="T50" fmla="*/ 102 w 224"/>
                  <a:gd name="T51" fmla="*/ 277 h 298"/>
                  <a:gd name="T52" fmla="*/ 48 w 224"/>
                  <a:gd name="T53" fmla="*/ 277 h 298"/>
                  <a:gd name="T54" fmla="*/ 74 w 224"/>
                  <a:gd name="T55" fmla="*/ 150 h 298"/>
                  <a:gd name="T56" fmla="*/ 67 w 224"/>
                  <a:gd name="T57" fmla="*/ 53 h 298"/>
                  <a:gd name="T58" fmla="*/ 171 w 224"/>
                  <a:gd name="T59" fmla="*/ 157 h 298"/>
                  <a:gd name="T60" fmla="*/ 74 w 224"/>
                  <a:gd name="T61" fmla="*/ 150 h 298"/>
                  <a:gd name="T62" fmla="*/ 139 w 224"/>
                  <a:gd name="T63" fmla="*/ 64 h 298"/>
                  <a:gd name="T64" fmla="*/ 128 w 224"/>
                  <a:gd name="T65" fmla="*/ 53 h 298"/>
                  <a:gd name="T66" fmla="*/ 139 w 224"/>
                  <a:gd name="T67" fmla="*/ 42 h 298"/>
                  <a:gd name="T68" fmla="*/ 182 w 224"/>
                  <a:gd name="T69" fmla="*/ 85 h 298"/>
                  <a:gd name="T70" fmla="*/ 171 w 224"/>
                  <a:gd name="T71" fmla="*/ 96 h 298"/>
                  <a:gd name="T72" fmla="*/ 160 w 224"/>
                  <a:gd name="T73" fmla="*/ 85 h 298"/>
                  <a:gd name="T74" fmla="*/ 139 w 224"/>
                  <a:gd name="T75" fmla="*/ 64 h 298"/>
                  <a:gd name="T76" fmla="*/ 224 w 224"/>
                  <a:gd name="T77" fmla="*/ 85 h 298"/>
                  <a:gd name="T78" fmla="*/ 214 w 224"/>
                  <a:gd name="T79" fmla="*/ 96 h 298"/>
                  <a:gd name="T80" fmla="*/ 203 w 224"/>
                  <a:gd name="T81" fmla="*/ 85 h 298"/>
                  <a:gd name="T82" fmla="*/ 139 w 224"/>
                  <a:gd name="T83" fmla="*/ 21 h 298"/>
                  <a:gd name="T84" fmla="*/ 128 w 224"/>
                  <a:gd name="T85" fmla="*/ 10 h 298"/>
                  <a:gd name="T86" fmla="*/ 139 w 224"/>
                  <a:gd name="T87" fmla="*/ 0 h 298"/>
                  <a:gd name="T88" fmla="*/ 224 w 224"/>
                  <a:gd name="T89" fmla="*/ 85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24" h="298">
                    <a:moveTo>
                      <a:pt x="142" y="97"/>
                    </a:moveTo>
                    <a:cubicBezTo>
                      <a:pt x="147" y="93"/>
                      <a:pt x="147" y="93"/>
                      <a:pt x="147" y="93"/>
                    </a:cubicBezTo>
                    <a:cubicBezTo>
                      <a:pt x="151" y="88"/>
                      <a:pt x="151" y="82"/>
                      <a:pt x="147" y="77"/>
                    </a:cubicBezTo>
                    <a:cubicBezTo>
                      <a:pt x="142" y="73"/>
                      <a:pt x="136" y="73"/>
                      <a:pt x="131" y="77"/>
                    </a:cubicBezTo>
                    <a:cubicBezTo>
                      <a:pt x="127" y="82"/>
                      <a:pt x="127" y="82"/>
                      <a:pt x="127" y="82"/>
                    </a:cubicBezTo>
                    <a:cubicBezTo>
                      <a:pt x="74" y="30"/>
                      <a:pt x="74" y="30"/>
                      <a:pt x="74" y="30"/>
                    </a:cubicBezTo>
                    <a:cubicBezTo>
                      <a:pt x="70" y="25"/>
                      <a:pt x="63" y="25"/>
                      <a:pt x="59" y="30"/>
                    </a:cubicBezTo>
                    <a:cubicBezTo>
                      <a:pt x="21" y="67"/>
                      <a:pt x="21" y="128"/>
                      <a:pt x="59" y="165"/>
                    </a:cubicBezTo>
                    <a:cubicBezTo>
                      <a:pt x="60" y="167"/>
                      <a:pt x="62" y="169"/>
                      <a:pt x="64" y="170"/>
                    </a:cubicBezTo>
                    <a:cubicBezTo>
                      <a:pt x="25" y="277"/>
                      <a:pt x="25" y="277"/>
                      <a:pt x="25" y="277"/>
                    </a:cubicBezTo>
                    <a:cubicBezTo>
                      <a:pt x="11" y="277"/>
                      <a:pt x="11" y="277"/>
                      <a:pt x="11" y="277"/>
                    </a:cubicBezTo>
                    <a:cubicBezTo>
                      <a:pt x="5" y="277"/>
                      <a:pt x="0" y="282"/>
                      <a:pt x="0" y="288"/>
                    </a:cubicBezTo>
                    <a:cubicBezTo>
                      <a:pt x="0" y="294"/>
                      <a:pt x="5" y="298"/>
                      <a:pt x="11" y="298"/>
                    </a:cubicBezTo>
                    <a:cubicBezTo>
                      <a:pt x="139" y="298"/>
                      <a:pt x="139" y="298"/>
                      <a:pt x="139" y="298"/>
                    </a:cubicBezTo>
                    <a:cubicBezTo>
                      <a:pt x="145" y="298"/>
                      <a:pt x="150" y="294"/>
                      <a:pt x="150" y="288"/>
                    </a:cubicBezTo>
                    <a:cubicBezTo>
                      <a:pt x="150" y="282"/>
                      <a:pt x="145" y="277"/>
                      <a:pt x="139" y="277"/>
                    </a:cubicBezTo>
                    <a:cubicBezTo>
                      <a:pt x="125" y="277"/>
                      <a:pt x="125" y="277"/>
                      <a:pt x="125" y="277"/>
                    </a:cubicBezTo>
                    <a:cubicBezTo>
                      <a:pt x="92" y="187"/>
                      <a:pt x="92" y="187"/>
                      <a:pt x="92" y="187"/>
                    </a:cubicBezTo>
                    <a:cubicBezTo>
                      <a:pt x="103" y="191"/>
                      <a:pt x="115" y="193"/>
                      <a:pt x="127" y="193"/>
                    </a:cubicBezTo>
                    <a:cubicBezTo>
                      <a:pt x="151" y="193"/>
                      <a:pt x="176" y="184"/>
                      <a:pt x="194" y="165"/>
                    </a:cubicBezTo>
                    <a:cubicBezTo>
                      <a:pt x="196" y="163"/>
                      <a:pt x="198" y="161"/>
                      <a:pt x="198" y="158"/>
                    </a:cubicBezTo>
                    <a:cubicBezTo>
                      <a:pt x="198" y="155"/>
                      <a:pt x="196" y="152"/>
                      <a:pt x="194" y="150"/>
                    </a:cubicBezTo>
                    <a:lnTo>
                      <a:pt x="142" y="97"/>
                    </a:lnTo>
                    <a:close/>
                    <a:moveTo>
                      <a:pt x="48" y="277"/>
                    </a:moveTo>
                    <a:cubicBezTo>
                      <a:pt x="75" y="202"/>
                      <a:pt x="75" y="202"/>
                      <a:pt x="75" y="202"/>
                    </a:cubicBezTo>
                    <a:cubicBezTo>
                      <a:pt x="102" y="277"/>
                      <a:pt x="102" y="277"/>
                      <a:pt x="102" y="277"/>
                    </a:cubicBezTo>
                    <a:lnTo>
                      <a:pt x="48" y="277"/>
                    </a:lnTo>
                    <a:close/>
                    <a:moveTo>
                      <a:pt x="74" y="150"/>
                    </a:moveTo>
                    <a:cubicBezTo>
                      <a:pt x="47" y="124"/>
                      <a:pt x="45" y="82"/>
                      <a:pt x="67" y="53"/>
                    </a:cubicBezTo>
                    <a:cubicBezTo>
                      <a:pt x="171" y="157"/>
                      <a:pt x="171" y="157"/>
                      <a:pt x="171" y="157"/>
                    </a:cubicBezTo>
                    <a:cubicBezTo>
                      <a:pt x="142" y="179"/>
                      <a:pt x="100" y="177"/>
                      <a:pt x="74" y="150"/>
                    </a:cubicBezTo>
                    <a:close/>
                    <a:moveTo>
                      <a:pt x="139" y="64"/>
                    </a:moveTo>
                    <a:cubicBezTo>
                      <a:pt x="133" y="64"/>
                      <a:pt x="128" y="59"/>
                      <a:pt x="128" y="53"/>
                    </a:cubicBezTo>
                    <a:cubicBezTo>
                      <a:pt x="128" y="47"/>
                      <a:pt x="133" y="42"/>
                      <a:pt x="139" y="42"/>
                    </a:cubicBezTo>
                    <a:cubicBezTo>
                      <a:pt x="163" y="42"/>
                      <a:pt x="182" y="61"/>
                      <a:pt x="182" y="85"/>
                    </a:cubicBezTo>
                    <a:cubicBezTo>
                      <a:pt x="182" y="91"/>
                      <a:pt x="177" y="96"/>
                      <a:pt x="171" y="96"/>
                    </a:cubicBezTo>
                    <a:cubicBezTo>
                      <a:pt x="165" y="96"/>
                      <a:pt x="160" y="91"/>
                      <a:pt x="160" y="85"/>
                    </a:cubicBezTo>
                    <a:cubicBezTo>
                      <a:pt x="160" y="73"/>
                      <a:pt x="151" y="64"/>
                      <a:pt x="139" y="64"/>
                    </a:cubicBezTo>
                    <a:close/>
                    <a:moveTo>
                      <a:pt x="224" y="85"/>
                    </a:moveTo>
                    <a:cubicBezTo>
                      <a:pt x="224" y="91"/>
                      <a:pt x="220" y="96"/>
                      <a:pt x="214" y="96"/>
                    </a:cubicBezTo>
                    <a:cubicBezTo>
                      <a:pt x="208" y="96"/>
                      <a:pt x="203" y="91"/>
                      <a:pt x="203" y="85"/>
                    </a:cubicBezTo>
                    <a:cubicBezTo>
                      <a:pt x="203" y="50"/>
                      <a:pt x="174" y="21"/>
                      <a:pt x="139" y="21"/>
                    </a:cubicBezTo>
                    <a:cubicBezTo>
                      <a:pt x="133" y="21"/>
                      <a:pt x="128" y="16"/>
                      <a:pt x="128" y="10"/>
                    </a:cubicBezTo>
                    <a:cubicBezTo>
                      <a:pt x="128" y="4"/>
                      <a:pt x="133" y="0"/>
                      <a:pt x="139" y="0"/>
                    </a:cubicBezTo>
                    <a:cubicBezTo>
                      <a:pt x="186" y="0"/>
                      <a:pt x="224" y="38"/>
                      <a:pt x="224" y="8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marL="0" marR="0" lvl="0" indent="0" algn="l" defTabSz="905428"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grpSp>
          <p:nvGrpSpPr>
            <p:cNvPr id="339" name="Group 338">
              <a:extLst>
                <a:ext uri="{FF2B5EF4-FFF2-40B4-BE49-F238E27FC236}">
                  <a16:creationId xmlns:a16="http://schemas.microsoft.com/office/drawing/2014/main" id="{06C5A53B-158D-4C94-B17A-272E86291D51}"/>
                </a:ext>
              </a:extLst>
            </p:cNvPr>
            <p:cNvGrpSpPr/>
            <p:nvPr/>
          </p:nvGrpSpPr>
          <p:grpSpPr>
            <a:xfrm>
              <a:off x="8043685" y="4969598"/>
              <a:ext cx="2054387" cy="900427"/>
              <a:chOff x="8206515" y="4969598"/>
              <a:chExt cx="2054387" cy="900427"/>
            </a:xfrm>
          </p:grpSpPr>
          <p:grpSp>
            <p:nvGrpSpPr>
              <p:cNvPr id="348" name="Group 347">
                <a:extLst>
                  <a:ext uri="{FF2B5EF4-FFF2-40B4-BE49-F238E27FC236}">
                    <a16:creationId xmlns:a16="http://schemas.microsoft.com/office/drawing/2014/main" id="{2EB0B41E-48A4-4730-856E-E4B31346EE5B}"/>
                  </a:ext>
                </a:extLst>
              </p:cNvPr>
              <p:cNvGrpSpPr/>
              <p:nvPr/>
            </p:nvGrpSpPr>
            <p:grpSpPr>
              <a:xfrm>
                <a:off x="9504099" y="4969598"/>
                <a:ext cx="756803" cy="900427"/>
                <a:chOff x="6760515" y="3143193"/>
                <a:chExt cx="756803" cy="900427"/>
              </a:xfrm>
            </p:grpSpPr>
            <p:sp>
              <p:nvSpPr>
                <p:cNvPr id="356" name="Rectangle 355">
                  <a:extLst>
                    <a:ext uri="{FF2B5EF4-FFF2-40B4-BE49-F238E27FC236}">
                      <a16:creationId xmlns:a16="http://schemas.microsoft.com/office/drawing/2014/main" id="{E304980D-2CCF-4E32-A90F-4E8AC108D670}"/>
                    </a:ext>
                  </a:extLst>
                </p:cNvPr>
                <p:cNvSpPr/>
                <p:nvPr/>
              </p:nvSpPr>
              <p:spPr bwMode="gray">
                <a:xfrm>
                  <a:off x="6917392" y="3143193"/>
                  <a:ext cx="599925" cy="900427"/>
                </a:xfrm>
                <a:prstGeom prst="rect">
                  <a:avLst/>
                </a:prstGeom>
                <a:solidFill>
                  <a:schemeClr val="bg1"/>
                </a:solidFill>
                <a:ln w="19050" algn="ctr">
                  <a:solidFill>
                    <a:schemeClr val="accent4"/>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4</a:t>
                  </a:r>
                  <a:endParaRPr kumimoji="0" lang="en-IN"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357" name="Rectangle 356">
                  <a:extLst>
                    <a:ext uri="{FF2B5EF4-FFF2-40B4-BE49-F238E27FC236}">
                      <a16:creationId xmlns:a16="http://schemas.microsoft.com/office/drawing/2014/main" id="{0D258F68-5074-4502-80B2-0149605C408B}"/>
                    </a:ext>
                  </a:extLst>
                </p:cNvPr>
                <p:cNvSpPr/>
                <p:nvPr/>
              </p:nvSpPr>
              <p:spPr>
                <a:xfrm>
                  <a:off x="7072960" y="3274738"/>
                  <a:ext cx="301686" cy="276999"/>
                </a:xfrm>
                <a:prstGeom prst="rect">
                  <a:avLst/>
                </a:prstGeom>
              </p:spPr>
              <p:txBody>
                <a:bodyPr wrap="none" t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rPr>
                    <a:t>7</a:t>
                  </a:r>
                  <a:endParaRPr kumimoji="0" lang="en-IN"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58" name="Rectangle 357">
                  <a:extLst>
                    <a:ext uri="{FF2B5EF4-FFF2-40B4-BE49-F238E27FC236}">
                      <a16:creationId xmlns:a16="http://schemas.microsoft.com/office/drawing/2014/main" id="{E21221D1-515F-4126-89DA-56719AD1D430}"/>
                    </a:ext>
                  </a:extLst>
                </p:cNvPr>
                <p:cNvSpPr/>
                <p:nvPr/>
              </p:nvSpPr>
              <p:spPr>
                <a:xfrm>
                  <a:off x="7102931" y="3723078"/>
                  <a:ext cx="276038" cy="215444"/>
                </a:xfrm>
                <a:prstGeom prst="rect">
                  <a:avLst/>
                </a:prstGeom>
              </p:spPr>
              <p:txBody>
                <a:bodyPr wrap="none" t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rPr>
                    <a:t>8</a:t>
                  </a:r>
                  <a:endParaRPr kumimoji="0" lang="en-IN" sz="1400" b="0"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endParaRPr>
                </a:p>
              </p:txBody>
            </p:sp>
            <p:sp>
              <p:nvSpPr>
                <p:cNvPr id="359" name="Rectangle 358">
                  <a:extLst>
                    <a:ext uri="{FF2B5EF4-FFF2-40B4-BE49-F238E27FC236}">
                      <a16:creationId xmlns:a16="http://schemas.microsoft.com/office/drawing/2014/main" id="{A89EBDB9-D675-4499-8D6C-D0DFDD747453}"/>
                    </a:ext>
                  </a:extLst>
                </p:cNvPr>
                <p:cNvSpPr/>
                <p:nvPr/>
              </p:nvSpPr>
              <p:spPr>
                <a:xfrm>
                  <a:off x="6760515" y="3538179"/>
                  <a:ext cx="756803" cy="161583"/>
                </a:xfrm>
                <a:prstGeom prst="rect">
                  <a:avLst/>
                </a:prstGeom>
                <a:solidFill>
                  <a:schemeClr val="accent4"/>
                </a:solidFill>
              </p:spPr>
              <p:txBody>
                <a:bodyPr wrap="square" lIns="274320" t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of</a:t>
                  </a:r>
                  <a:endParaRPr kumimoji="0" lang="en-IN" sz="105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360" name="Rectangle 359">
                  <a:extLst>
                    <a:ext uri="{FF2B5EF4-FFF2-40B4-BE49-F238E27FC236}">
                      <a16:creationId xmlns:a16="http://schemas.microsoft.com/office/drawing/2014/main" id="{4BAEA301-425C-4E92-BBC4-E31535CC3BD4}"/>
                    </a:ext>
                  </a:extLst>
                </p:cNvPr>
                <p:cNvSpPr/>
                <p:nvPr/>
              </p:nvSpPr>
              <p:spPr>
                <a:xfrm>
                  <a:off x="6950513" y="3882663"/>
                  <a:ext cx="508152" cy="138499"/>
                </a:xfrm>
                <a:prstGeom prst="rect">
                  <a:avLst/>
                </a:prstGeom>
              </p:spPr>
              <p:txBody>
                <a:bodyPr wrap="none" lIns="0" tIns="0" rIns="0" bIns="0">
                  <a:spAutoFit/>
                </a:bodyPr>
                <a:lstStyle/>
                <a:p>
                  <a:pPr marL="0" marR="0" lvl="0" indent="0" algn="l" defTabSz="103228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rPr>
                    <a:t>companies</a:t>
                  </a:r>
                </a:p>
              </p:txBody>
            </p:sp>
            <p:sp>
              <p:nvSpPr>
                <p:cNvPr id="361" name="Rectangle 360">
                  <a:extLst>
                    <a:ext uri="{FF2B5EF4-FFF2-40B4-BE49-F238E27FC236}">
                      <a16:creationId xmlns:a16="http://schemas.microsoft.com/office/drawing/2014/main" id="{78B745E7-A0B5-47F4-B317-F091C47D3A24}"/>
                    </a:ext>
                  </a:extLst>
                </p:cNvPr>
                <p:cNvSpPr/>
                <p:nvPr/>
              </p:nvSpPr>
              <p:spPr>
                <a:xfrm>
                  <a:off x="7054045" y="3171396"/>
                  <a:ext cx="306174" cy="138499"/>
                </a:xfrm>
                <a:prstGeom prst="rect">
                  <a:avLst/>
                </a:prstGeom>
              </p:spPr>
              <p:txBody>
                <a:bodyPr wrap="none" lIns="0" tIns="0" rIns="0" bIns="0">
                  <a:spAutoFit/>
                </a:bodyPr>
                <a:lstStyle/>
                <a:p>
                  <a:pPr marL="0" marR="0" lvl="0" indent="0" algn="l" defTabSz="1032282"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13131"/>
                      </a:solidFill>
                      <a:effectLst/>
                      <a:uLnTx/>
                      <a:uFillTx/>
                      <a:latin typeface="Calibri" panose="020F0502020204030204" pitchFamily="34" charset="0"/>
                      <a:ea typeface="+mn-ea"/>
                      <a:cs typeface="Calibri" panose="020F0502020204030204" pitchFamily="34" charset="0"/>
                    </a:rPr>
                    <a:t>Serves</a:t>
                  </a:r>
                </a:p>
              </p:txBody>
            </p:sp>
          </p:grpSp>
          <p:sp>
            <p:nvSpPr>
              <p:cNvPr id="349" name="Oval 348">
                <a:extLst>
                  <a:ext uri="{FF2B5EF4-FFF2-40B4-BE49-F238E27FC236}">
                    <a16:creationId xmlns:a16="http://schemas.microsoft.com/office/drawing/2014/main" id="{8F7D8601-74B0-480E-8D24-4A8113C1CE03}"/>
                  </a:ext>
                </a:extLst>
              </p:cNvPr>
              <p:cNvSpPr/>
              <p:nvPr/>
            </p:nvSpPr>
            <p:spPr bwMode="gray">
              <a:xfrm>
                <a:off x="9190709" y="5245593"/>
                <a:ext cx="405566" cy="405566"/>
              </a:xfrm>
              <a:prstGeom prst="ellipse">
                <a:avLst/>
              </a:prstGeom>
              <a:solidFill>
                <a:schemeClr val="bg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350" name="Rectangle 349">
                <a:extLst>
                  <a:ext uri="{FF2B5EF4-FFF2-40B4-BE49-F238E27FC236}">
                    <a16:creationId xmlns:a16="http://schemas.microsoft.com/office/drawing/2014/main" id="{B517C6E7-32FD-4F5A-A833-A0BBEDB2F7F8}"/>
                  </a:ext>
                </a:extLst>
              </p:cNvPr>
              <p:cNvSpPr/>
              <p:nvPr/>
            </p:nvSpPr>
            <p:spPr>
              <a:xfrm>
                <a:off x="8206515" y="5344868"/>
                <a:ext cx="827972" cy="348813"/>
              </a:xfrm>
              <a:prstGeom prst="rect">
                <a:avLst/>
              </a:prstGeom>
            </p:spPr>
            <p:txBody>
              <a:bodyPr wrap="square" lIns="0" rIns="0">
                <a:spAutoFit/>
              </a:bodyPr>
              <a:lstStyle/>
              <a:p>
                <a:pPr marL="0" marR="0" lvl="0" indent="0" algn="r" defTabSz="905428" rtl="0" eaLnBrk="1" fontAlgn="auto" latinLnBrk="0" hangingPunct="1">
                  <a:lnSpc>
                    <a:spcPts val="1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Government</a:t>
                </a:r>
                <a:br>
                  <a:rPr kumimoji="0" lang="en-GB" sz="9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en-GB" sz="9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Public sector</a:t>
                </a:r>
              </a:p>
            </p:txBody>
          </p:sp>
          <p:sp>
            <p:nvSpPr>
              <p:cNvPr id="351" name="Isosceles Triangle 350">
                <a:extLst>
                  <a:ext uri="{FF2B5EF4-FFF2-40B4-BE49-F238E27FC236}">
                    <a16:creationId xmlns:a16="http://schemas.microsoft.com/office/drawing/2014/main" id="{F90B1F16-D5C5-4563-AA4D-204371E88C56}"/>
                  </a:ext>
                </a:extLst>
              </p:cNvPr>
              <p:cNvSpPr/>
              <p:nvPr/>
            </p:nvSpPr>
            <p:spPr bwMode="gray">
              <a:xfrm rot="5400000">
                <a:off x="9087591" y="5410424"/>
                <a:ext cx="103948" cy="89610"/>
              </a:xfrm>
              <a:prstGeom prst="triangle">
                <a:avLst/>
              </a:prstGeom>
              <a:solidFill>
                <a:schemeClr val="accent4"/>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8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352" name="Group 29">
                <a:extLst>
                  <a:ext uri="{FF2B5EF4-FFF2-40B4-BE49-F238E27FC236}">
                    <a16:creationId xmlns:a16="http://schemas.microsoft.com/office/drawing/2014/main" id="{B241CA3B-10BD-4B72-845F-8BE42389E148}"/>
                  </a:ext>
                </a:extLst>
              </p:cNvPr>
              <p:cNvGrpSpPr>
                <a:grpSpLocks/>
              </p:cNvGrpSpPr>
              <p:nvPr/>
            </p:nvGrpSpPr>
            <p:grpSpPr bwMode="auto">
              <a:xfrm>
                <a:off x="9216283" y="5276665"/>
                <a:ext cx="351923" cy="352176"/>
                <a:chOff x="2899" y="653"/>
                <a:chExt cx="340" cy="340"/>
              </a:xfrm>
              <a:solidFill>
                <a:schemeClr val="accent4"/>
              </a:solidFill>
            </p:grpSpPr>
            <p:sp>
              <p:nvSpPr>
                <p:cNvPr id="353" name="Freeform 30">
                  <a:extLst>
                    <a:ext uri="{FF2B5EF4-FFF2-40B4-BE49-F238E27FC236}">
                      <a16:creationId xmlns:a16="http://schemas.microsoft.com/office/drawing/2014/main" id="{FC40F497-D951-49DB-98F5-63942B524B41}"/>
                    </a:ext>
                  </a:extLst>
                </p:cNvPr>
                <p:cNvSpPr>
                  <a:spLocks noEditPoints="1"/>
                </p:cNvSpPr>
                <p:nvPr/>
              </p:nvSpPr>
              <p:spPr bwMode="auto">
                <a:xfrm>
                  <a:off x="2963" y="717"/>
                  <a:ext cx="212" cy="213"/>
                </a:xfrm>
                <a:custGeom>
                  <a:avLst/>
                  <a:gdLst>
                    <a:gd name="T0" fmla="*/ 316 w 320"/>
                    <a:gd name="T1" fmla="*/ 126 h 321"/>
                    <a:gd name="T2" fmla="*/ 275 w 320"/>
                    <a:gd name="T3" fmla="*/ 105 h 321"/>
                    <a:gd name="T4" fmla="*/ 289 w 320"/>
                    <a:gd name="T5" fmla="*/ 66 h 321"/>
                    <a:gd name="T6" fmla="*/ 287 w 320"/>
                    <a:gd name="T7" fmla="*/ 63 h 321"/>
                    <a:gd name="T8" fmla="*/ 254 w 320"/>
                    <a:gd name="T9" fmla="*/ 31 h 321"/>
                    <a:gd name="T10" fmla="*/ 215 w 320"/>
                    <a:gd name="T11" fmla="*/ 45 h 321"/>
                    <a:gd name="T12" fmla="*/ 194 w 320"/>
                    <a:gd name="T13" fmla="*/ 4 h 321"/>
                    <a:gd name="T14" fmla="*/ 125 w 320"/>
                    <a:gd name="T15" fmla="*/ 4 h 321"/>
                    <a:gd name="T16" fmla="*/ 105 w 320"/>
                    <a:gd name="T17" fmla="*/ 45 h 321"/>
                    <a:gd name="T18" fmla="*/ 64 w 320"/>
                    <a:gd name="T19" fmla="*/ 32 h 321"/>
                    <a:gd name="T20" fmla="*/ 26 w 320"/>
                    <a:gd name="T21" fmla="*/ 87 h 321"/>
                    <a:gd name="T22" fmla="*/ 14 w 320"/>
                    <a:gd name="T23" fmla="*/ 118 h 321"/>
                    <a:gd name="T24" fmla="*/ 0 w 320"/>
                    <a:gd name="T25" fmla="*/ 147 h 321"/>
                    <a:gd name="T26" fmla="*/ 0 w 320"/>
                    <a:gd name="T27" fmla="*/ 156 h 321"/>
                    <a:gd name="T28" fmla="*/ 0 w 320"/>
                    <a:gd name="T29" fmla="*/ 160 h 321"/>
                    <a:gd name="T30" fmla="*/ 3 w 320"/>
                    <a:gd name="T31" fmla="*/ 195 h 321"/>
                    <a:gd name="T32" fmla="*/ 44 w 320"/>
                    <a:gd name="T33" fmla="*/ 215 h 321"/>
                    <a:gd name="T34" fmla="*/ 31 w 320"/>
                    <a:gd name="T35" fmla="*/ 254 h 321"/>
                    <a:gd name="T36" fmla="*/ 33 w 320"/>
                    <a:gd name="T37" fmla="*/ 257 h 321"/>
                    <a:gd name="T38" fmla="*/ 65 w 320"/>
                    <a:gd name="T39" fmla="*/ 289 h 321"/>
                    <a:gd name="T40" fmla="*/ 105 w 320"/>
                    <a:gd name="T41" fmla="*/ 275 h 321"/>
                    <a:gd name="T42" fmla="*/ 125 w 320"/>
                    <a:gd name="T43" fmla="*/ 317 h 321"/>
                    <a:gd name="T44" fmla="*/ 147 w 320"/>
                    <a:gd name="T45" fmla="*/ 321 h 321"/>
                    <a:gd name="T46" fmla="*/ 160 w 320"/>
                    <a:gd name="T47" fmla="*/ 321 h 321"/>
                    <a:gd name="T48" fmla="*/ 168 w 320"/>
                    <a:gd name="T49" fmla="*/ 321 h 321"/>
                    <a:gd name="T50" fmla="*/ 173 w 320"/>
                    <a:gd name="T51" fmla="*/ 321 h 321"/>
                    <a:gd name="T52" fmla="*/ 202 w 320"/>
                    <a:gd name="T53" fmla="*/ 306 h 321"/>
                    <a:gd name="T54" fmla="*/ 233 w 320"/>
                    <a:gd name="T55" fmla="*/ 293 h 321"/>
                    <a:gd name="T56" fmla="*/ 288 w 320"/>
                    <a:gd name="T57" fmla="*/ 256 h 321"/>
                    <a:gd name="T58" fmla="*/ 275 w 320"/>
                    <a:gd name="T59" fmla="*/ 215 h 321"/>
                    <a:gd name="T60" fmla="*/ 316 w 320"/>
                    <a:gd name="T61" fmla="*/ 195 h 321"/>
                    <a:gd name="T62" fmla="*/ 320 w 320"/>
                    <a:gd name="T63" fmla="*/ 147 h 321"/>
                    <a:gd name="T64" fmla="*/ 272 w 320"/>
                    <a:gd name="T65" fmla="*/ 182 h 321"/>
                    <a:gd name="T66" fmla="*/ 255 w 320"/>
                    <a:gd name="T67" fmla="*/ 225 h 321"/>
                    <a:gd name="T68" fmla="*/ 243 w 320"/>
                    <a:gd name="T69" fmla="*/ 271 h 321"/>
                    <a:gd name="T70" fmla="*/ 212 w 320"/>
                    <a:gd name="T71" fmla="*/ 253 h 321"/>
                    <a:gd name="T72" fmla="*/ 181 w 320"/>
                    <a:gd name="T73" fmla="*/ 297 h 321"/>
                    <a:gd name="T74" fmla="*/ 149 w 320"/>
                    <a:gd name="T75" fmla="*/ 299 h 321"/>
                    <a:gd name="T76" fmla="*/ 138 w 320"/>
                    <a:gd name="T77" fmla="*/ 297 h 321"/>
                    <a:gd name="T78" fmla="*/ 108 w 320"/>
                    <a:gd name="T79" fmla="*/ 253 h 321"/>
                    <a:gd name="T80" fmla="*/ 77 w 320"/>
                    <a:gd name="T81" fmla="*/ 271 h 321"/>
                    <a:gd name="T82" fmla="*/ 50 w 320"/>
                    <a:gd name="T83" fmla="*/ 244 h 321"/>
                    <a:gd name="T84" fmla="*/ 48 w 320"/>
                    <a:gd name="T85" fmla="*/ 242 h 321"/>
                    <a:gd name="T86" fmla="*/ 57 w 320"/>
                    <a:gd name="T87" fmla="*/ 189 h 321"/>
                    <a:gd name="T88" fmla="*/ 22 w 320"/>
                    <a:gd name="T89" fmla="*/ 171 h 321"/>
                    <a:gd name="T90" fmla="*/ 23 w 320"/>
                    <a:gd name="T91" fmla="*/ 139 h 321"/>
                    <a:gd name="T92" fmla="*/ 67 w 320"/>
                    <a:gd name="T93" fmla="*/ 108 h 321"/>
                    <a:gd name="T94" fmla="*/ 49 w 320"/>
                    <a:gd name="T95" fmla="*/ 77 h 321"/>
                    <a:gd name="T96" fmla="*/ 95 w 320"/>
                    <a:gd name="T97" fmla="*/ 65 h 321"/>
                    <a:gd name="T98" fmla="*/ 138 w 320"/>
                    <a:gd name="T99" fmla="*/ 47 h 321"/>
                    <a:gd name="T100" fmla="*/ 171 w 320"/>
                    <a:gd name="T101" fmla="*/ 22 h 321"/>
                    <a:gd name="T102" fmla="*/ 189 w 320"/>
                    <a:gd name="T103" fmla="*/ 58 h 321"/>
                    <a:gd name="T104" fmla="*/ 241 w 320"/>
                    <a:gd name="T105" fmla="*/ 48 h 321"/>
                    <a:gd name="T106" fmla="*/ 244 w 320"/>
                    <a:gd name="T107" fmla="*/ 50 h 321"/>
                    <a:gd name="T108" fmla="*/ 270 w 320"/>
                    <a:gd name="T109" fmla="*/ 77 h 321"/>
                    <a:gd name="T110" fmla="*/ 253 w 320"/>
                    <a:gd name="T111" fmla="*/ 108 h 321"/>
                    <a:gd name="T112" fmla="*/ 297 w 320"/>
                    <a:gd name="T113" fmla="*/ 139 h 321"/>
                    <a:gd name="T114" fmla="*/ 298 w 320"/>
                    <a:gd name="T115" fmla="*/ 171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20" h="321">
                      <a:moveTo>
                        <a:pt x="320" y="147"/>
                      </a:moveTo>
                      <a:cubicBezTo>
                        <a:pt x="320" y="147"/>
                        <a:pt x="320" y="147"/>
                        <a:pt x="320" y="147"/>
                      </a:cubicBezTo>
                      <a:cubicBezTo>
                        <a:pt x="318" y="140"/>
                        <a:pt x="318" y="133"/>
                        <a:pt x="316" y="126"/>
                      </a:cubicBezTo>
                      <a:cubicBezTo>
                        <a:pt x="315" y="121"/>
                        <a:pt x="310" y="118"/>
                        <a:pt x="305" y="118"/>
                      </a:cubicBezTo>
                      <a:cubicBezTo>
                        <a:pt x="280" y="118"/>
                        <a:pt x="280" y="118"/>
                        <a:pt x="280" y="118"/>
                      </a:cubicBezTo>
                      <a:cubicBezTo>
                        <a:pt x="279" y="113"/>
                        <a:pt x="277" y="109"/>
                        <a:pt x="275" y="105"/>
                      </a:cubicBezTo>
                      <a:cubicBezTo>
                        <a:pt x="293" y="87"/>
                        <a:pt x="293" y="87"/>
                        <a:pt x="293" y="87"/>
                      </a:cubicBezTo>
                      <a:cubicBezTo>
                        <a:pt x="296" y="84"/>
                        <a:pt x="297" y="78"/>
                        <a:pt x="294" y="74"/>
                      </a:cubicBezTo>
                      <a:cubicBezTo>
                        <a:pt x="293" y="71"/>
                        <a:pt x="291" y="68"/>
                        <a:pt x="289" y="66"/>
                      </a:cubicBezTo>
                      <a:cubicBezTo>
                        <a:pt x="289" y="66"/>
                        <a:pt x="289" y="66"/>
                        <a:pt x="289" y="66"/>
                      </a:cubicBezTo>
                      <a:cubicBezTo>
                        <a:pt x="288" y="65"/>
                        <a:pt x="288" y="65"/>
                        <a:pt x="288" y="64"/>
                      </a:cubicBezTo>
                      <a:cubicBezTo>
                        <a:pt x="287" y="64"/>
                        <a:pt x="287" y="63"/>
                        <a:pt x="287" y="63"/>
                      </a:cubicBezTo>
                      <a:cubicBezTo>
                        <a:pt x="278" y="52"/>
                        <a:pt x="268" y="42"/>
                        <a:pt x="257" y="33"/>
                      </a:cubicBezTo>
                      <a:cubicBezTo>
                        <a:pt x="257" y="33"/>
                        <a:pt x="256" y="32"/>
                        <a:pt x="255" y="32"/>
                      </a:cubicBezTo>
                      <a:cubicBezTo>
                        <a:pt x="255" y="32"/>
                        <a:pt x="254" y="31"/>
                        <a:pt x="254" y="31"/>
                      </a:cubicBezTo>
                      <a:cubicBezTo>
                        <a:pt x="251" y="29"/>
                        <a:pt x="249" y="27"/>
                        <a:pt x="246" y="25"/>
                      </a:cubicBezTo>
                      <a:cubicBezTo>
                        <a:pt x="242" y="23"/>
                        <a:pt x="236" y="23"/>
                        <a:pt x="233" y="27"/>
                      </a:cubicBezTo>
                      <a:cubicBezTo>
                        <a:pt x="215" y="45"/>
                        <a:pt x="215" y="45"/>
                        <a:pt x="215" y="45"/>
                      </a:cubicBezTo>
                      <a:cubicBezTo>
                        <a:pt x="211" y="43"/>
                        <a:pt x="207" y="41"/>
                        <a:pt x="202" y="39"/>
                      </a:cubicBezTo>
                      <a:cubicBezTo>
                        <a:pt x="202" y="14"/>
                        <a:pt x="202" y="14"/>
                        <a:pt x="202" y="14"/>
                      </a:cubicBezTo>
                      <a:cubicBezTo>
                        <a:pt x="202" y="9"/>
                        <a:pt x="199" y="5"/>
                        <a:pt x="194" y="4"/>
                      </a:cubicBezTo>
                      <a:cubicBezTo>
                        <a:pt x="187" y="2"/>
                        <a:pt x="180" y="1"/>
                        <a:pt x="172" y="1"/>
                      </a:cubicBezTo>
                      <a:cubicBezTo>
                        <a:pt x="164" y="0"/>
                        <a:pt x="155" y="0"/>
                        <a:pt x="147" y="1"/>
                      </a:cubicBezTo>
                      <a:cubicBezTo>
                        <a:pt x="140" y="1"/>
                        <a:pt x="132" y="2"/>
                        <a:pt x="125" y="4"/>
                      </a:cubicBezTo>
                      <a:cubicBezTo>
                        <a:pt x="120" y="5"/>
                        <a:pt x="117" y="9"/>
                        <a:pt x="117" y="14"/>
                      </a:cubicBezTo>
                      <a:cubicBezTo>
                        <a:pt x="117" y="39"/>
                        <a:pt x="117" y="39"/>
                        <a:pt x="117" y="39"/>
                      </a:cubicBezTo>
                      <a:cubicBezTo>
                        <a:pt x="113" y="41"/>
                        <a:pt x="109" y="43"/>
                        <a:pt x="105" y="45"/>
                      </a:cubicBezTo>
                      <a:cubicBezTo>
                        <a:pt x="87" y="27"/>
                        <a:pt x="87" y="27"/>
                        <a:pt x="87" y="27"/>
                      </a:cubicBezTo>
                      <a:cubicBezTo>
                        <a:pt x="83" y="23"/>
                        <a:pt x="78" y="23"/>
                        <a:pt x="73" y="25"/>
                      </a:cubicBezTo>
                      <a:cubicBezTo>
                        <a:pt x="70" y="27"/>
                        <a:pt x="67" y="30"/>
                        <a:pt x="64" y="32"/>
                      </a:cubicBezTo>
                      <a:cubicBezTo>
                        <a:pt x="52" y="41"/>
                        <a:pt x="41" y="52"/>
                        <a:pt x="32" y="64"/>
                      </a:cubicBezTo>
                      <a:cubicBezTo>
                        <a:pt x="29" y="67"/>
                        <a:pt x="27" y="71"/>
                        <a:pt x="25" y="74"/>
                      </a:cubicBezTo>
                      <a:cubicBezTo>
                        <a:pt x="22" y="78"/>
                        <a:pt x="23" y="84"/>
                        <a:pt x="26" y="87"/>
                      </a:cubicBezTo>
                      <a:cubicBezTo>
                        <a:pt x="44" y="105"/>
                        <a:pt x="44" y="105"/>
                        <a:pt x="44" y="105"/>
                      </a:cubicBezTo>
                      <a:cubicBezTo>
                        <a:pt x="42" y="109"/>
                        <a:pt x="41" y="113"/>
                        <a:pt x="39" y="118"/>
                      </a:cubicBezTo>
                      <a:cubicBezTo>
                        <a:pt x="14" y="118"/>
                        <a:pt x="14" y="118"/>
                        <a:pt x="14" y="118"/>
                      </a:cubicBezTo>
                      <a:cubicBezTo>
                        <a:pt x="9" y="118"/>
                        <a:pt x="4" y="121"/>
                        <a:pt x="3" y="126"/>
                      </a:cubicBezTo>
                      <a:cubicBezTo>
                        <a:pt x="2" y="133"/>
                        <a:pt x="1" y="140"/>
                        <a:pt x="0" y="147"/>
                      </a:cubicBezTo>
                      <a:cubicBezTo>
                        <a:pt x="0" y="147"/>
                        <a:pt x="0" y="147"/>
                        <a:pt x="0" y="147"/>
                      </a:cubicBezTo>
                      <a:cubicBezTo>
                        <a:pt x="0" y="147"/>
                        <a:pt x="0" y="147"/>
                        <a:pt x="0" y="147"/>
                      </a:cubicBezTo>
                      <a:cubicBezTo>
                        <a:pt x="0" y="147"/>
                        <a:pt x="0" y="147"/>
                        <a:pt x="0" y="147"/>
                      </a:cubicBezTo>
                      <a:cubicBezTo>
                        <a:pt x="0" y="150"/>
                        <a:pt x="0" y="153"/>
                        <a:pt x="0" y="156"/>
                      </a:cubicBezTo>
                      <a:cubicBezTo>
                        <a:pt x="0" y="157"/>
                        <a:pt x="0" y="159"/>
                        <a:pt x="0" y="160"/>
                      </a:cubicBezTo>
                      <a:cubicBezTo>
                        <a:pt x="0" y="160"/>
                        <a:pt x="0" y="160"/>
                        <a:pt x="0" y="160"/>
                      </a:cubicBezTo>
                      <a:cubicBezTo>
                        <a:pt x="0" y="160"/>
                        <a:pt x="0" y="160"/>
                        <a:pt x="0" y="160"/>
                      </a:cubicBezTo>
                      <a:cubicBezTo>
                        <a:pt x="0" y="161"/>
                        <a:pt x="0" y="163"/>
                        <a:pt x="0" y="164"/>
                      </a:cubicBezTo>
                      <a:cubicBezTo>
                        <a:pt x="0" y="167"/>
                        <a:pt x="0" y="170"/>
                        <a:pt x="0" y="173"/>
                      </a:cubicBezTo>
                      <a:cubicBezTo>
                        <a:pt x="1" y="180"/>
                        <a:pt x="2" y="188"/>
                        <a:pt x="3" y="195"/>
                      </a:cubicBezTo>
                      <a:cubicBezTo>
                        <a:pt x="4" y="200"/>
                        <a:pt x="9" y="203"/>
                        <a:pt x="14" y="203"/>
                      </a:cubicBezTo>
                      <a:cubicBezTo>
                        <a:pt x="39" y="203"/>
                        <a:pt x="39" y="203"/>
                        <a:pt x="39" y="203"/>
                      </a:cubicBezTo>
                      <a:cubicBezTo>
                        <a:pt x="41" y="207"/>
                        <a:pt x="42" y="211"/>
                        <a:pt x="44" y="215"/>
                      </a:cubicBezTo>
                      <a:cubicBezTo>
                        <a:pt x="26" y="233"/>
                        <a:pt x="26" y="233"/>
                        <a:pt x="26" y="233"/>
                      </a:cubicBezTo>
                      <a:cubicBezTo>
                        <a:pt x="23" y="237"/>
                        <a:pt x="22" y="242"/>
                        <a:pt x="25" y="246"/>
                      </a:cubicBezTo>
                      <a:cubicBezTo>
                        <a:pt x="27" y="249"/>
                        <a:pt x="29" y="252"/>
                        <a:pt x="31" y="254"/>
                      </a:cubicBezTo>
                      <a:cubicBezTo>
                        <a:pt x="31" y="254"/>
                        <a:pt x="31" y="254"/>
                        <a:pt x="31" y="254"/>
                      </a:cubicBezTo>
                      <a:cubicBezTo>
                        <a:pt x="31" y="255"/>
                        <a:pt x="31" y="255"/>
                        <a:pt x="32" y="256"/>
                      </a:cubicBezTo>
                      <a:cubicBezTo>
                        <a:pt x="32" y="256"/>
                        <a:pt x="32" y="257"/>
                        <a:pt x="33" y="257"/>
                      </a:cubicBezTo>
                      <a:cubicBezTo>
                        <a:pt x="41" y="268"/>
                        <a:pt x="51" y="278"/>
                        <a:pt x="62" y="287"/>
                      </a:cubicBezTo>
                      <a:cubicBezTo>
                        <a:pt x="63" y="287"/>
                        <a:pt x="64" y="288"/>
                        <a:pt x="64" y="288"/>
                      </a:cubicBezTo>
                      <a:cubicBezTo>
                        <a:pt x="64" y="288"/>
                        <a:pt x="65" y="289"/>
                        <a:pt x="65" y="289"/>
                      </a:cubicBezTo>
                      <a:cubicBezTo>
                        <a:pt x="68" y="291"/>
                        <a:pt x="71" y="293"/>
                        <a:pt x="73" y="295"/>
                      </a:cubicBezTo>
                      <a:cubicBezTo>
                        <a:pt x="78" y="297"/>
                        <a:pt x="83" y="297"/>
                        <a:pt x="87" y="293"/>
                      </a:cubicBezTo>
                      <a:cubicBezTo>
                        <a:pt x="105" y="275"/>
                        <a:pt x="105" y="275"/>
                        <a:pt x="105" y="275"/>
                      </a:cubicBezTo>
                      <a:cubicBezTo>
                        <a:pt x="109" y="277"/>
                        <a:pt x="113" y="279"/>
                        <a:pt x="117" y="281"/>
                      </a:cubicBezTo>
                      <a:cubicBezTo>
                        <a:pt x="117" y="306"/>
                        <a:pt x="117" y="306"/>
                        <a:pt x="117" y="306"/>
                      </a:cubicBezTo>
                      <a:cubicBezTo>
                        <a:pt x="117" y="311"/>
                        <a:pt x="120" y="316"/>
                        <a:pt x="125" y="317"/>
                      </a:cubicBezTo>
                      <a:cubicBezTo>
                        <a:pt x="132" y="318"/>
                        <a:pt x="139" y="321"/>
                        <a:pt x="147" y="321"/>
                      </a:cubicBezTo>
                      <a:cubicBezTo>
                        <a:pt x="147" y="321"/>
                        <a:pt x="147" y="321"/>
                        <a:pt x="147" y="321"/>
                      </a:cubicBezTo>
                      <a:cubicBezTo>
                        <a:pt x="147" y="321"/>
                        <a:pt x="147" y="321"/>
                        <a:pt x="147" y="321"/>
                      </a:cubicBezTo>
                      <a:cubicBezTo>
                        <a:pt x="147" y="321"/>
                        <a:pt x="147" y="321"/>
                        <a:pt x="147" y="321"/>
                      </a:cubicBezTo>
                      <a:cubicBezTo>
                        <a:pt x="149" y="321"/>
                        <a:pt x="151" y="321"/>
                        <a:pt x="153" y="321"/>
                      </a:cubicBezTo>
                      <a:cubicBezTo>
                        <a:pt x="155" y="321"/>
                        <a:pt x="157" y="321"/>
                        <a:pt x="160" y="321"/>
                      </a:cubicBezTo>
                      <a:cubicBezTo>
                        <a:pt x="160" y="321"/>
                        <a:pt x="160" y="321"/>
                        <a:pt x="160" y="321"/>
                      </a:cubicBezTo>
                      <a:cubicBezTo>
                        <a:pt x="160" y="321"/>
                        <a:pt x="160" y="321"/>
                        <a:pt x="160" y="321"/>
                      </a:cubicBezTo>
                      <a:cubicBezTo>
                        <a:pt x="162" y="321"/>
                        <a:pt x="165" y="321"/>
                        <a:pt x="168" y="321"/>
                      </a:cubicBezTo>
                      <a:cubicBezTo>
                        <a:pt x="169" y="320"/>
                        <a:pt x="171" y="321"/>
                        <a:pt x="172" y="321"/>
                      </a:cubicBezTo>
                      <a:cubicBezTo>
                        <a:pt x="172" y="321"/>
                        <a:pt x="172" y="321"/>
                        <a:pt x="172" y="321"/>
                      </a:cubicBezTo>
                      <a:cubicBezTo>
                        <a:pt x="172" y="321"/>
                        <a:pt x="172" y="321"/>
                        <a:pt x="173" y="321"/>
                      </a:cubicBezTo>
                      <a:cubicBezTo>
                        <a:pt x="173" y="321"/>
                        <a:pt x="173" y="320"/>
                        <a:pt x="173" y="320"/>
                      </a:cubicBezTo>
                      <a:cubicBezTo>
                        <a:pt x="180" y="319"/>
                        <a:pt x="187" y="318"/>
                        <a:pt x="194" y="317"/>
                      </a:cubicBezTo>
                      <a:cubicBezTo>
                        <a:pt x="199" y="315"/>
                        <a:pt x="202" y="311"/>
                        <a:pt x="202" y="306"/>
                      </a:cubicBezTo>
                      <a:cubicBezTo>
                        <a:pt x="202" y="281"/>
                        <a:pt x="202" y="281"/>
                        <a:pt x="202" y="281"/>
                      </a:cubicBezTo>
                      <a:cubicBezTo>
                        <a:pt x="207" y="279"/>
                        <a:pt x="211" y="277"/>
                        <a:pt x="215" y="275"/>
                      </a:cubicBezTo>
                      <a:cubicBezTo>
                        <a:pt x="233" y="293"/>
                        <a:pt x="233" y="293"/>
                        <a:pt x="233" y="293"/>
                      </a:cubicBezTo>
                      <a:cubicBezTo>
                        <a:pt x="236" y="297"/>
                        <a:pt x="242" y="297"/>
                        <a:pt x="246" y="295"/>
                      </a:cubicBezTo>
                      <a:cubicBezTo>
                        <a:pt x="249" y="293"/>
                        <a:pt x="252" y="290"/>
                        <a:pt x="255" y="288"/>
                      </a:cubicBezTo>
                      <a:cubicBezTo>
                        <a:pt x="268" y="279"/>
                        <a:pt x="279" y="268"/>
                        <a:pt x="288" y="256"/>
                      </a:cubicBezTo>
                      <a:cubicBezTo>
                        <a:pt x="290" y="253"/>
                        <a:pt x="292" y="249"/>
                        <a:pt x="294" y="246"/>
                      </a:cubicBezTo>
                      <a:cubicBezTo>
                        <a:pt x="297" y="242"/>
                        <a:pt x="296" y="236"/>
                        <a:pt x="293" y="233"/>
                      </a:cubicBezTo>
                      <a:cubicBezTo>
                        <a:pt x="275" y="215"/>
                        <a:pt x="275" y="215"/>
                        <a:pt x="275" y="215"/>
                      </a:cubicBezTo>
                      <a:cubicBezTo>
                        <a:pt x="277" y="211"/>
                        <a:pt x="279" y="207"/>
                        <a:pt x="280" y="203"/>
                      </a:cubicBezTo>
                      <a:cubicBezTo>
                        <a:pt x="305" y="203"/>
                        <a:pt x="305" y="203"/>
                        <a:pt x="305" y="203"/>
                      </a:cubicBezTo>
                      <a:cubicBezTo>
                        <a:pt x="310" y="203"/>
                        <a:pt x="315" y="200"/>
                        <a:pt x="316" y="195"/>
                      </a:cubicBezTo>
                      <a:cubicBezTo>
                        <a:pt x="317" y="188"/>
                        <a:pt x="318" y="180"/>
                        <a:pt x="319" y="173"/>
                      </a:cubicBezTo>
                      <a:cubicBezTo>
                        <a:pt x="319" y="169"/>
                        <a:pt x="320" y="164"/>
                        <a:pt x="320" y="160"/>
                      </a:cubicBezTo>
                      <a:cubicBezTo>
                        <a:pt x="320" y="156"/>
                        <a:pt x="320" y="152"/>
                        <a:pt x="320" y="147"/>
                      </a:cubicBezTo>
                      <a:close/>
                      <a:moveTo>
                        <a:pt x="298" y="171"/>
                      </a:moveTo>
                      <a:cubicBezTo>
                        <a:pt x="297" y="175"/>
                        <a:pt x="297" y="178"/>
                        <a:pt x="297" y="182"/>
                      </a:cubicBezTo>
                      <a:cubicBezTo>
                        <a:pt x="272" y="182"/>
                        <a:pt x="272" y="182"/>
                        <a:pt x="272" y="182"/>
                      </a:cubicBezTo>
                      <a:cubicBezTo>
                        <a:pt x="268" y="182"/>
                        <a:pt x="263" y="185"/>
                        <a:pt x="262" y="189"/>
                      </a:cubicBezTo>
                      <a:cubicBezTo>
                        <a:pt x="260" y="197"/>
                        <a:pt x="257" y="205"/>
                        <a:pt x="253" y="212"/>
                      </a:cubicBezTo>
                      <a:cubicBezTo>
                        <a:pt x="250" y="216"/>
                        <a:pt x="251" y="221"/>
                        <a:pt x="255" y="225"/>
                      </a:cubicBezTo>
                      <a:cubicBezTo>
                        <a:pt x="272" y="242"/>
                        <a:pt x="272" y="242"/>
                        <a:pt x="272" y="242"/>
                      </a:cubicBezTo>
                      <a:cubicBezTo>
                        <a:pt x="271" y="242"/>
                        <a:pt x="271" y="243"/>
                        <a:pt x="271" y="243"/>
                      </a:cubicBezTo>
                      <a:cubicBezTo>
                        <a:pt x="263" y="254"/>
                        <a:pt x="253" y="263"/>
                        <a:pt x="243" y="271"/>
                      </a:cubicBezTo>
                      <a:cubicBezTo>
                        <a:pt x="242" y="271"/>
                        <a:pt x="242" y="272"/>
                        <a:pt x="241" y="272"/>
                      </a:cubicBezTo>
                      <a:cubicBezTo>
                        <a:pt x="224" y="255"/>
                        <a:pt x="224" y="255"/>
                        <a:pt x="224" y="255"/>
                      </a:cubicBezTo>
                      <a:cubicBezTo>
                        <a:pt x="221" y="251"/>
                        <a:pt x="216" y="251"/>
                        <a:pt x="212" y="253"/>
                      </a:cubicBezTo>
                      <a:cubicBezTo>
                        <a:pt x="204" y="257"/>
                        <a:pt x="197" y="260"/>
                        <a:pt x="189" y="262"/>
                      </a:cubicBezTo>
                      <a:cubicBezTo>
                        <a:pt x="184" y="264"/>
                        <a:pt x="181" y="268"/>
                        <a:pt x="181" y="273"/>
                      </a:cubicBezTo>
                      <a:cubicBezTo>
                        <a:pt x="181" y="297"/>
                        <a:pt x="181" y="297"/>
                        <a:pt x="181" y="297"/>
                      </a:cubicBezTo>
                      <a:cubicBezTo>
                        <a:pt x="178" y="297"/>
                        <a:pt x="174" y="298"/>
                        <a:pt x="171" y="299"/>
                      </a:cubicBezTo>
                      <a:cubicBezTo>
                        <a:pt x="163" y="299"/>
                        <a:pt x="156" y="299"/>
                        <a:pt x="149" y="299"/>
                      </a:cubicBezTo>
                      <a:cubicBezTo>
                        <a:pt x="149" y="299"/>
                        <a:pt x="149" y="299"/>
                        <a:pt x="149" y="299"/>
                      </a:cubicBezTo>
                      <a:cubicBezTo>
                        <a:pt x="149" y="299"/>
                        <a:pt x="149" y="299"/>
                        <a:pt x="149" y="299"/>
                      </a:cubicBezTo>
                      <a:cubicBezTo>
                        <a:pt x="149" y="299"/>
                        <a:pt x="149" y="299"/>
                        <a:pt x="149" y="299"/>
                      </a:cubicBezTo>
                      <a:cubicBezTo>
                        <a:pt x="145" y="299"/>
                        <a:pt x="142" y="297"/>
                        <a:pt x="138" y="297"/>
                      </a:cubicBezTo>
                      <a:cubicBezTo>
                        <a:pt x="138" y="273"/>
                        <a:pt x="138" y="273"/>
                        <a:pt x="138" y="273"/>
                      </a:cubicBezTo>
                      <a:cubicBezTo>
                        <a:pt x="138" y="268"/>
                        <a:pt x="135" y="264"/>
                        <a:pt x="131" y="262"/>
                      </a:cubicBezTo>
                      <a:cubicBezTo>
                        <a:pt x="123" y="260"/>
                        <a:pt x="115" y="257"/>
                        <a:pt x="108" y="253"/>
                      </a:cubicBezTo>
                      <a:cubicBezTo>
                        <a:pt x="104" y="251"/>
                        <a:pt x="98" y="251"/>
                        <a:pt x="95" y="255"/>
                      </a:cubicBezTo>
                      <a:cubicBezTo>
                        <a:pt x="78" y="272"/>
                        <a:pt x="78" y="272"/>
                        <a:pt x="78" y="272"/>
                      </a:cubicBezTo>
                      <a:cubicBezTo>
                        <a:pt x="77" y="271"/>
                        <a:pt x="77" y="271"/>
                        <a:pt x="77" y="271"/>
                      </a:cubicBezTo>
                      <a:cubicBezTo>
                        <a:pt x="77" y="271"/>
                        <a:pt x="76" y="270"/>
                        <a:pt x="76" y="270"/>
                      </a:cubicBezTo>
                      <a:cubicBezTo>
                        <a:pt x="76" y="270"/>
                        <a:pt x="76" y="270"/>
                        <a:pt x="76" y="270"/>
                      </a:cubicBezTo>
                      <a:cubicBezTo>
                        <a:pt x="66" y="262"/>
                        <a:pt x="57" y="254"/>
                        <a:pt x="50" y="244"/>
                      </a:cubicBezTo>
                      <a:cubicBezTo>
                        <a:pt x="50" y="244"/>
                        <a:pt x="49" y="244"/>
                        <a:pt x="49" y="244"/>
                      </a:cubicBezTo>
                      <a:cubicBezTo>
                        <a:pt x="49" y="243"/>
                        <a:pt x="49" y="243"/>
                        <a:pt x="49" y="243"/>
                      </a:cubicBezTo>
                      <a:cubicBezTo>
                        <a:pt x="48" y="242"/>
                        <a:pt x="48" y="242"/>
                        <a:pt x="48" y="242"/>
                      </a:cubicBezTo>
                      <a:cubicBezTo>
                        <a:pt x="65" y="225"/>
                        <a:pt x="65" y="225"/>
                        <a:pt x="65" y="225"/>
                      </a:cubicBezTo>
                      <a:cubicBezTo>
                        <a:pt x="68" y="221"/>
                        <a:pt x="69" y="216"/>
                        <a:pt x="67" y="212"/>
                      </a:cubicBezTo>
                      <a:cubicBezTo>
                        <a:pt x="63" y="205"/>
                        <a:pt x="59" y="197"/>
                        <a:pt x="57" y="189"/>
                      </a:cubicBezTo>
                      <a:cubicBezTo>
                        <a:pt x="56" y="185"/>
                        <a:pt x="52" y="182"/>
                        <a:pt x="47" y="182"/>
                      </a:cubicBezTo>
                      <a:cubicBezTo>
                        <a:pt x="23" y="182"/>
                        <a:pt x="23" y="182"/>
                        <a:pt x="23" y="182"/>
                      </a:cubicBezTo>
                      <a:cubicBezTo>
                        <a:pt x="22" y="178"/>
                        <a:pt x="22" y="175"/>
                        <a:pt x="22" y="171"/>
                      </a:cubicBezTo>
                      <a:cubicBezTo>
                        <a:pt x="21" y="168"/>
                        <a:pt x="21" y="164"/>
                        <a:pt x="21" y="160"/>
                      </a:cubicBezTo>
                      <a:cubicBezTo>
                        <a:pt x="21" y="156"/>
                        <a:pt x="21" y="153"/>
                        <a:pt x="22" y="149"/>
                      </a:cubicBezTo>
                      <a:cubicBezTo>
                        <a:pt x="22" y="146"/>
                        <a:pt x="22" y="142"/>
                        <a:pt x="23" y="139"/>
                      </a:cubicBezTo>
                      <a:cubicBezTo>
                        <a:pt x="47" y="139"/>
                        <a:pt x="47" y="139"/>
                        <a:pt x="47" y="139"/>
                      </a:cubicBezTo>
                      <a:cubicBezTo>
                        <a:pt x="52" y="139"/>
                        <a:pt x="56" y="136"/>
                        <a:pt x="57" y="131"/>
                      </a:cubicBezTo>
                      <a:cubicBezTo>
                        <a:pt x="59" y="123"/>
                        <a:pt x="63" y="115"/>
                        <a:pt x="67" y="108"/>
                      </a:cubicBezTo>
                      <a:cubicBezTo>
                        <a:pt x="69" y="104"/>
                        <a:pt x="68" y="99"/>
                        <a:pt x="65" y="95"/>
                      </a:cubicBezTo>
                      <a:cubicBezTo>
                        <a:pt x="48" y="78"/>
                        <a:pt x="48" y="78"/>
                        <a:pt x="48" y="78"/>
                      </a:cubicBezTo>
                      <a:cubicBezTo>
                        <a:pt x="48" y="78"/>
                        <a:pt x="48" y="78"/>
                        <a:pt x="49" y="77"/>
                      </a:cubicBezTo>
                      <a:cubicBezTo>
                        <a:pt x="57" y="66"/>
                        <a:pt x="66" y="57"/>
                        <a:pt x="77" y="49"/>
                      </a:cubicBezTo>
                      <a:cubicBezTo>
                        <a:pt x="77" y="49"/>
                        <a:pt x="78" y="48"/>
                        <a:pt x="78" y="48"/>
                      </a:cubicBezTo>
                      <a:cubicBezTo>
                        <a:pt x="95" y="65"/>
                        <a:pt x="95" y="65"/>
                        <a:pt x="95" y="65"/>
                      </a:cubicBezTo>
                      <a:cubicBezTo>
                        <a:pt x="98" y="69"/>
                        <a:pt x="104" y="69"/>
                        <a:pt x="108" y="67"/>
                      </a:cubicBezTo>
                      <a:cubicBezTo>
                        <a:pt x="115" y="63"/>
                        <a:pt x="123" y="60"/>
                        <a:pt x="131" y="58"/>
                      </a:cubicBezTo>
                      <a:cubicBezTo>
                        <a:pt x="135" y="56"/>
                        <a:pt x="138" y="52"/>
                        <a:pt x="138" y="47"/>
                      </a:cubicBezTo>
                      <a:cubicBezTo>
                        <a:pt x="138" y="23"/>
                        <a:pt x="138" y="23"/>
                        <a:pt x="138" y="23"/>
                      </a:cubicBezTo>
                      <a:cubicBezTo>
                        <a:pt x="142" y="23"/>
                        <a:pt x="145" y="22"/>
                        <a:pt x="149" y="22"/>
                      </a:cubicBezTo>
                      <a:cubicBezTo>
                        <a:pt x="156" y="21"/>
                        <a:pt x="163" y="21"/>
                        <a:pt x="171" y="22"/>
                      </a:cubicBezTo>
                      <a:cubicBezTo>
                        <a:pt x="174" y="22"/>
                        <a:pt x="178" y="23"/>
                        <a:pt x="181" y="23"/>
                      </a:cubicBezTo>
                      <a:cubicBezTo>
                        <a:pt x="181" y="47"/>
                        <a:pt x="181" y="47"/>
                        <a:pt x="181" y="47"/>
                      </a:cubicBezTo>
                      <a:cubicBezTo>
                        <a:pt x="181" y="52"/>
                        <a:pt x="184" y="56"/>
                        <a:pt x="189" y="58"/>
                      </a:cubicBezTo>
                      <a:cubicBezTo>
                        <a:pt x="197" y="60"/>
                        <a:pt x="204" y="63"/>
                        <a:pt x="212" y="67"/>
                      </a:cubicBezTo>
                      <a:cubicBezTo>
                        <a:pt x="216" y="69"/>
                        <a:pt x="221" y="69"/>
                        <a:pt x="224" y="65"/>
                      </a:cubicBezTo>
                      <a:cubicBezTo>
                        <a:pt x="241" y="48"/>
                        <a:pt x="241" y="48"/>
                        <a:pt x="241" y="48"/>
                      </a:cubicBezTo>
                      <a:cubicBezTo>
                        <a:pt x="242" y="49"/>
                        <a:pt x="242" y="49"/>
                        <a:pt x="242" y="49"/>
                      </a:cubicBezTo>
                      <a:cubicBezTo>
                        <a:pt x="243" y="49"/>
                        <a:pt x="243" y="50"/>
                        <a:pt x="243" y="50"/>
                      </a:cubicBezTo>
                      <a:cubicBezTo>
                        <a:pt x="244" y="50"/>
                        <a:pt x="244" y="50"/>
                        <a:pt x="244" y="50"/>
                      </a:cubicBezTo>
                      <a:cubicBezTo>
                        <a:pt x="253" y="58"/>
                        <a:pt x="262" y="66"/>
                        <a:pt x="270" y="76"/>
                      </a:cubicBezTo>
                      <a:cubicBezTo>
                        <a:pt x="270" y="76"/>
                        <a:pt x="270" y="76"/>
                        <a:pt x="270" y="76"/>
                      </a:cubicBezTo>
                      <a:cubicBezTo>
                        <a:pt x="270" y="77"/>
                        <a:pt x="270" y="77"/>
                        <a:pt x="270" y="77"/>
                      </a:cubicBezTo>
                      <a:cubicBezTo>
                        <a:pt x="271" y="78"/>
                        <a:pt x="271" y="78"/>
                        <a:pt x="271" y="78"/>
                      </a:cubicBezTo>
                      <a:cubicBezTo>
                        <a:pt x="255" y="95"/>
                        <a:pt x="255" y="95"/>
                        <a:pt x="255" y="95"/>
                      </a:cubicBezTo>
                      <a:cubicBezTo>
                        <a:pt x="251" y="99"/>
                        <a:pt x="250" y="104"/>
                        <a:pt x="253" y="108"/>
                      </a:cubicBezTo>
                      <a:cubicBezTo>
                        <a:pt x="257" y="115"/>
                        <a:pt x="260" y="123"/>
                        <a:pt x="262" y="131"/>
                      </a:cubicBezTo>
                      <a:cubicBezTo>
                        <a:pt x="263" y="136"/>
                        <a:pt x="268" y="139"/>
                        <a:pt x="272" y="139"/>
                      </a:cubicBezTo>
                      <a:cubicBezTo>
                        <a:pt x="297" y="139"/>
                        <a:pt x="297" y="139"/>
                        <a:pt x="297" y="139"/>
                      </a:cubicBezTo>
                      <a:cubicBezTo>
                        <a:pt x="297" y="142"/>
                        <a:pt x="297" y="146"/>
                        <a:pt x="298" y="149"/>
                      </a:cubicBezTo>
                      <a:cubicBezTo>
                        <a:pt x="298" y="153"/>
                        <a:pt x="298" y="157"/>
                        <a:pt x="298" y="160"/>
                      </a:cubicBezTo>
                      <a:cubicBezTo>
                        <a:pt x="298" y="164"/>
                        <a:pt x="298" y="168"/>
                        <a:pt x="298" y="17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marL="0" marR="0" lvl="0" indent="0" algn="l" defTabSz="905428"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54" name="Freeform 31">
                  <a:extLst>
                    <a:ext uri="{FF2B5EF4-FFF2-40B4-BE49-F238E27FC236}">
                      <a16:creationId xmlns:a16="http://schemas.microsoft.com/office/drawing/2014/main" id="{0A63AAB8-8A02-4C50-A490-22A9E2D312E0}"/>
                    </a:ext>
                  </a:extLst>
                </p:cNvPr>
                <p:cNvSpPr>
                  <a:spLocks noEditPoints="1"/>
                </p:cNvSpPr>
                <p:nvPr/>
              </p:nvSpPr>
              <p:spPr bwMode="auto">
                <a:xfrm>
                  <a:off x="3026" y="781"/>
                  <a:ext cx="85" cy="85"/>
                </a:xfrm>
                <a:custGeom>
                  <a:avLst/>
                  <a:gdLst>
                    <a:gd name="T0" fmla="*/ 64 w 128"/>
                    <a:gd name="T1" fmla="*/ 0 h 128"/>
                    <a:gd name="T2" fmla="*/ 0 w 128"/>
                    <a:gd name="T3" fmla="*/ 64 h 128"/>
                    <a:gd name="T4" fmla="*/ 64 w 128"/>
                    <a:gd name="T5" fmla="*/ 128 h 128"/>
                    <a:gd name="T6" fmla="*/ 128 w 128"/>
                    <a:gd name="T7" fmla="*/ 64 h 128"/>
                    <a:gd name="T8" fmla="*/ 64 w 128"/>
                    <a:gd name="T9" fmla="*/ 0 h 128"/>
                    <a:gd name="T10" fmla="*/ 64 w 128"/>
                    <a:gd name="T11" fmla="*/ 107 h 128"/>
                    <a:gd name="T12" fmla="*/ 21 w 128"/>
                    <a:gd name="T13" fmla="*/ 64 h 128"/>
                    <a:gd name="T14" fmla="*/ 64 w 128"/>
                    <a:gd name="T15" fmla="*/ 21 h 128"/>
                    <a:gd name="T16" fmla="*/ 106 w 128"/>
                    <a:gd name="T17" fmla="*/ 64 h 128"/>
                    <a:gd name="T18" fmla="*/ 64 w 128"/>
                    <a:gd name="T19" fmla="*/ 107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8">
                      <a:moveTo>
                        <a:pt x="64" y="0"/>
                      </a:moveTo>
                      <a:cubicBezTo>
                        <a:pt x="28" y="0"/>
                        <a:pt x="0" y="29"/>
                        <a:pt x="0" y="64"/>
                      </a:cubicBezTo>
                      <a:cubicBezTo>
                        <a:pt x="0" y="99"/>
                        <a:pt x="28" y="128"/>
                        <a:pt x="64" y="128"/>
                      </a:cubicBezTo>
                      <a:cubicBezTo>
                        <a:pt x="99" y="128"/>
                        <a:pt x="128" y="99"/>
                        <a:pt x="128" y="64"/>
                      </a:cubicBezTo>
                      <a:cubicBezTo>
                        <a:pt x="128" y="29"/>
                        <a:pt x="99" y="0"/>
                        <a:pt x="64" y="0"/>
                      </a:cubicBezTo>
                      <a:close/>
                      <a:moveTo>
                        <a:pt x="64" y="107"/>
                      </a:moveTo>
                      <a:cubicBezTo>
                        <a:pt x="40" y="107"/>
                        <a:pt x="21" y="88"/>
                        <a:pt x="21" y="64"/>
                      </a:cubicBezTo>
                      <a:cubicBezTo>
                        <a:pt x="21" y="40"/>
                        <a:pt x="40" y="21"/>
                        <a:pt x="64" y="21"/>
                      </a:cubicBezTo>
                      <a:cubicBezTo>
                        <a:pt x="87" y="21"/>
                        <a:pt x="106" y="40"/>
                        <a:pt x="106" y="64"/>
                      </a:cubicBezTo>
                      <a:cubicBezTo>
                        <a:pt x="106" y="88"/>
                        <a:pt x="87" y="107"/>
                        <a:pt x="64" y="10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marL="0" marR="0" lvl="0" indent="0" algn="l" defTabSz="905428"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55" name="Freeform 32">
                  <a:extLst>
                    <a:ext uri="{FF2B5EF4-FFF2-40B4-BE49-F238E27FC236}">
                      <a16:creationId xmlns:a16="http://schemas.microsoft.com/office/drawing/2014/main" id="{E86569D9-1F02-485B-A49B-F9662C39E8F5}"/>
                    </a:ext>
                  </a:extLst>
                </p:cNvPr>
                <p:cNvSpPr>
                  <a:spLocks noEditPoints="1"/>
                </p:cNvSpPr>
                <p:nvPr/>
              </p:nvSpPr>
              <p:spPr bwMode="auto">
                <a:xfrm>
                  <a:off x="2899" y="653"/>
                  <a:ext cx="340" cy="340"/>
                </a:xfrm>
                <a:custGeom>
                  <a:avLst/>
                  <a:gdLst>
                    <a:gd name="T0" fmla="*/ 256 w 512"/>
                    <a:gd name="T1" fmla="*/ 21 h 512"/>
                    <a:gd name="T2" fmla="*/ 490 w 512"/>
                    <a:gd name="T3" fmla="*/ 256 h 512"/>
                    <a:gd name="T4" fmla="*/ 256 w 512"/>
                    <a:gd name="T5" fmla="*/ 491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7"/>
                        <a:pt x="490" y="256"/>
                      </a:cubicBezTo>
                      <a:cubicBezTo>
                        <a:pt x="490" y="385"/>
                        <a:pt x="385" y="491"/>
                        <a:pt x="256" y="491"/>
                      </a:cubicBezTo>
                      <a:cubicBezTo>
                        <a:pt x="126" y="491"/>
                        <a:pt x="21" y="385"/>
                        <a:pt x="21" y="256"/>
                      </a:cubicBezTo>
                      <a:cubicBezTo>
                        <a:pt x="21" y="127"/>
                        <a:pt x="126" y="21"/>
                        <a:pt x="256" y="21"/>
                      </a:cubicBezTo>
                      <a:moveTo>
                        <a:pt x="256" y="0"/>
                      </a:moveTo>
                      <a:cubicBezTo>
                        <a:pt x="114" y="0"/>
                        <a:pt x="0" y="115"/>
                        <a:pt x="0" y="256"/>
                      </a:cubicBezTo>
                      <a:cubicBezTo>
                        <a:pt x="0" y="397"/>
                        <a:pt x="114" y="512"/>
                        <a:pt x="256" y="512"/>
                      </a:cubicBezTo>
                      <a:cubicBezTo>
                        <a:pt x="397" y="512"/>
                        <a:pt x="512" y="397"/>
                        <a:pt x="512" y="256"/>
                      </a:cubicBezTo>
                      <a:cubicBezTo>
                        <a:pt x="512" y="115"/>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8872" tIns="39436" rIns="78872" bIns="39436" numCol="1" anchor="t" anchorCtr="0" compatLnSpc="1">
                  <a:prstTxWarp prst="textNoShape">
                    <a:avLst/>
                  </a:prstTxWarp>
                </a:bodyPr>
                <a:lstStyle/>
                <a:p>
                  <a:pPr marL="0" marR="0" lvl="0" indent="0" algn="l" defTabSz="905428"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grpSp>
        <p:grpSp>
          <p:nvGrpSpPr>
            <p:cNvPr id="340" name="Group 339">
              <a:extLst>
                <a:ext uri="{FF2B5EF4-FFF2-40B4-BE49-F238E27FC236}">
                  <a16:creationId xmlns:a16="http://schemas.microsoft.com/office/drawing/2014/main" id="{404587AA-79BF-4DD5-90B1-180B2B09CC13}"/>
                </a:ext>
              </a:extLst>
            </p:cNvPr>
            <p:cNvGrpSpPr>
              <a:grpSpLocks noChangeAspect="1"/>
            </p:cNvGrpSpPr>
            <p:nvPr/>
          </p:nvGrpSpPr>
          <p:grpSpPr>
            <a:xfrm>
              <a:off x="5904103" y="2314062"/>
              <a:ext cx="372673" cy="370800"/>
              <a:chOff x="5672138" y="4513263"/>
              <a:chExt cx="1579562" cy="1571625"/>
            </a:xfrm>
            <a:solidFill>
              <a:schemeClr val="accent2"/>
            </a:solidFill>
          </p:grpSpPr>
          <p:sp>
            <p:nvSpPr>
              <p:cNvPr id="341" name="Rectangle 5">
                <a:extLst>
                  <a:ext uri="{FF2B5EF4-FFF2-40B4-BE49-F238E27FC236}">
                    <a16:creationId xmlns:a16="http://schemas.microsoft.com/office/drawing/2014/main" id="{B9F4D0AD-0D63-4891-948E-43EA0B045EC0}"/>
                  </a:ext>
                </a:extLst>
              </p:cNvPr>
              <p:cNvSpPr>
                <a:spLocks noChangeArrowheads="1"/>
              </p:cNvSpPr>
              <p:nvPr/>
            </p:nvSpPr>
            <p:spPr bwMode="auto">
              <a:xfrm>
                <a:off x="6067425" y="5135563"/>
                <a:ext cx="131762" cy="196850"/>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42" name="Oval 6">
                <a:extLst>
                  <a:ext uri="{FF2B5EF4-FFF2-40B4-BE49-F238E27FC236}">
                    <a16:creationId xmlns:a16="http://schemas.microsoft.com/office/drawing/2014/main" id="{1FA8E2C8-8672-4263-BDCB-A83A918A576C}"/>
                  </a:ext>
                </a:extLst>
              </p:cNvPr>
              <p:cNvSpPr>
                <a:spLocks noChangeArrowheads="1"/>
              </p:cNvSpPr>
              <p:nvPr/>
            </p:nvSpPr>
            <p:spPr bwMode="auto">
              <a:xfrm>
                <a:off x="6100763" y="4873626"/>
                <a:ext cx="65087" cy="65088"/>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43" name="Rectangle 7">
                <a:extLst>
                  <a:ext uri="{FF2B5EF4-FFF2-40B4-BE49-F238E27FC236}">
                    <a16:creationId xmlns:a16="http://schemas.microsoft.com/office/drawing/2014/main" id="{15CFEEB0-75BB-4286-9177-F79684652628}"/>
                  </a:ext>
                </a:extLst>
              </p:cNvPr>
              <p:cNvSpPr>
                <a:spLocks noChangeArrowheads="1"/>
              </p:cNvSpPr>
              <p:nvPr/>
            </p:nvSpPr>
            <p:spPr bwMode="auto">
              <a:xfrm>
                <a:off x="6396038" y="5135563"/>
                <a:ext cx="131762" cy="196850"/>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44" name="Oval 8">
                <a:extLst>
                  <a:ext uri="{FF2B5EF4-FFF2-40B4-BE49-F238E27FC236}">
                    <a16:creationId xmlns:a16="http://schemas.microsoft.com/office/drawing/2014/main" id="{2EC232A4-5A62-44A5-A4D9-60D04A332254}"/>
                  </a:ext>
                </a:extLst>
              </p:cNvPr>
              <p:cNvSpPr>
                <a:spLocks noChangeArrowheads="1"/>
              </p:cNvSpPr>
              <p:nvPr/>
            </p:nvSpPr>
            <p:spPr bwMode="auto">
              <a:xfrm>
                <a:off x="6429375" y="4873626"/>
                <a:ext cx="65087" cy="65088"/>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45" name="Oval 9">
                <a:extLst>
                  <a:ext uri="{FF2B5EF4-FFF2-40B4-BE49-F238E27FC236}">
                    <a16:creationId xmlns:a16="http://schemas.microsoft.com/office/drawing/2014/main" id="{0CC9BF99-52C8-4196-9D69-DBCFD9B4CD5C}"/>
                  </a:ext>
                </a:extLst>
              </p:cNvPr>
              <p:cNvSpPr>
                <a:spLocks noChangeArrowheads="1"/>
              </p:cNvSpPr>
              <p:nvPr/>
            </p:nvSpPr>
            <p:spPr bwMode="auto">
              <a:xfrm>
                <a:off x="6757988" y="4873626"/>
                <a:ext cx="66675" cy="65088"/>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46" name="Freeform 10">
                <a:extLst>
                  <a:ext uri="{FF2B5EF4-FFF2-40B4-BE49-F238E27FC236}">
                    <a16:creationId xmlns:a16="http://schemas.microsoft.com/office/drawing/2014/main" id="{6437641F-0EE2-4F07-92A9-54FC6E3D0FF3}"/>
                  </a:ext>
                </a:extLst>
              </p:cNvPr>
              <p:cNvSpPr>
                <a:spLocks noEditPoints="1"/>
              </p:cNvSpPr>
              <p:nvPr/>
            </p:nvSpPr>
            <p:spPr bwMode="auto">
              <a:xfrm>
                <a:off x="5672138" y="4513263"/>
                <a:ext cx="1579562" cy="1571625"/>
              </a:xfrm>
              <a:custGeom>
                <a:avLst/>
                <a:gdLst>
                  <a:gd name="T0" fmla="*/ 0 w 384"/>
                  <a:gd name="T1" fmla="*/ 192 h 384"/>
                  <a:gd name="T2" fmla="*/ 384 w 384"/>
                  <a:gd name="T3" fmla="*/ 192 h 384"/>
                  <a:gd name="T4" fmla="*/ 272 w 384"/>
                  <a:gd name="T5" fmla="*/ 72 h 384"/>
                  <a:gd name="T6" fmla="*/ 272 w 384"/>
                  <a:gd name="T7" fmla="*/ 120 h 384"/>
                  <a:gd name="T8" fmla="*/ 272 w 384"/>
                  <a:gd name="T9" fmla="*/ 72 h 384"/>
                  <a:gd name="T10" fmla="*/ 216 w 384"/>
                  <a:gd name="T11" fmla="*/ 96 h 384"/>
                  <a:gd name="T12" fmla="*/ 168 w 384"/>
                  <a:gd name="T13" fmla="*/ 96 h 384"/>
                  <a:gd name="T14" fmla="*/ 112 w 384"/>
                  <a:gd name="T15" fmla="*/ 72 h 384"/>
                  <a:gd name="T16" fmla="*/ 112 w 384"/>
                  <a:gd name="T17" fmla="*/ 120 h 384"/>
                  <a:gd name="T18" fmla="*/ 112 w 384"/>
                  <a:gd name="T19" fmla="*/ 72 h 384"/>
                  <a:gd name="T20" fmla="*/ 136 w 384"/>
                  <a:gd name="T21" fmla="*/ 216 h 384"/>
                  <a:gd name="T22" fmla="*/ 128 w 384"/>
                  <a:gd name="T23" fmla="*/ 296 h 384"/>
                  <a:gd name="T24" fmla="*/ 120 w 384"/>
                  <a:gd name="T25" fmla="*/ 216 h 384"/>
                  <a:gd name="T26" fmla="*/ 104 w 384"/>
                  <a:gd name="T27" fmla="*/ 288 h 384"/>
                  <a:gd name="T28" fmla="*/ 88 w 384"/>
                  <a:gd name="T29" fmla="*/ 288 h 384"/>
                  <a:gd name="T30" fmla="*/ 80 w 384"/>
                  <a:gd name="T31" fmla="*/ 208 h 384"/>
                  <a:gd name="T32" fmla="*/ 88 w 384"/>
                  <a:gd name="T33" fmla="*/ 136 h 384"/>
                  <a:gd name="T34" fmla="*/ 144 w 384"/>
                  <a:gd name="T35" fmla="*/ 144 h 384"/>
                  <a:gd name="T36" fmla="*/ 224 w 384"/>
                  <a:gd name="T37" fmla="*/ 208 h 384"/>
                  <a:gd name="T38" fmla="*/ 216 w 384"/>
                  <a:gd name="T39" fmla="*/ 288 h 384"/>
                  <a:gd name="T40" fmla="*/ 200 w 384"/>
                  <a:gd name="T41" fmla="*/ 288 h 384"/>
                  <a:gd name="T42" fmla="*/ 184 w 384"/>
                  <a:gd name="T43" fmla="*/ 216 h 384"/>
                  <a:gd name="T44" fmla="*/ 176 w 384"/>
                  <a:gd name="T45" fmla="*/ 296 h 384"/>
                  <a:gd name="T46" fmla="*/ 168 w 384"/>
                  <a:gd name="T47" fmla="*/ 216 h 384"/>
                  <a:gd name="T48" fmla="*/ 160 w 384"/>
                  <a:gd name="T49" fmla="*/ 144 h 384"/>
                  <a:gd name="T50" fmla="*/ 216 w 384"/>
                  <a:gd name="T51" fmla="*/ 136 h 384"/>
                  <a:gd name="T52" fmla="*/ 224 w 384"/>
                  <a:gd name="T53" fmla="*/ 208 h 384"/>
                  <a:gd name="T54" fmla="*/ 296 w 384"/>
                  <a:gd name="T55" fmla="*/ 232 h 384"/>
                  <a:gd name="T56" fmla="*/ 288 w 384"/>
                  <a:gd name="T57" fmla="*/ 296 h 384"/>
                  <a:gd name="T58" fmla="*/ 280 w 384"/>
                  <a:gd name="T59" fmla="*/ 232 h 384"/>
                  <a:gd name="T60" fmla="*/ 264 w 384"/>
                  <a:gd name="T61" fmla="*/ 288 h 384"/>
                  <a:gd name="T62" fmla="*/ 248 w 384"/>
                  <a:gd name="T63" fmla="*/ 288 h 384"/>
                  <a:gd name="T64" fmla="*/ 241 w 384"/>
                  <a:gd name="T65" fmla="*/ 229 h 384"/>
                  <a:gd name="T66" fmla="*/ 256 w 384"/>
                  <a:gd name="T67" fmla="*/ 142 h 384"/>
                  <a:gd name="T68" fmla="*/ 280 w 384"/>
                  <a:gd name="T69" fmla="*/ 136 h 384"/>
                  <a:gd name="T70" fmla="*/ 304 w 384"/>
                  <a:gd name="T71" fmla="*/ 22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84" h="384">
                    <a:moveTo>
                      <a:pt x="192" y="0"/>
                    </a:moveTo>
                    <a:cubicBezTo>
                      <a:pt x="86" y="0"/>
                      <a:pt x="0" y="86"/>
                      <a:pt x="0" y="192"/>
                    </a:cubicBezTo>
                    <a:cubicBezTo>
                      <a:pt x="0" y="298"/>
                      <a:pt x="86" y="384"/>
                      <a:pt x="192" y="384"/>
                    </a:cubicBezTo>
                    <a:cubicBezTo>
                      <a:pt x="298" y="384"/>
                      <a:pt x="384" y="298"/>
                      <a:pt x="384" y="192"/>
                    </a:cubicBezTo>
                    <a:cubicBezTo>
                      <a:pt x="384" y="86"/>
                      <a:pt x="298" y="0"/>
                      <a:pt x="192" y="0"/>
                    </a:cubicBezTo>
                    <a:close/>
                    <a:moveTo>
                      <a:pt x="272" y="72"/>
                    </a:moveTo>
                    <a:cubicBezTo>
                      <a:pt x="285" y="72"/>
                      <a:pt x="296" y="82"/>
                      <a:pt x="296" y="96"/>
                    </a:cubicBezTo>
                    <a:cubicBezTo>
                      <a:pt x="296" y="109"/>
                      <a:pt x="285" y="120"/>
                      <a:pt x="272" y="120"/>
                    </a:cubicBezTo>
                    <a:cubicBezTo>
                      <a:pt x="258" y="120"/>
                      <a:pt x="248" y="109"/>
                      <a:pt x="248" y="96"/>
                    </a:cubicBezTo>
                    <a:cubicBezTo>
                      <a:pt x="248" y="82"/>
                      <a:pt x="258" y="72"/>
                      <a:pt x="272" y="72"/>
                    </a:cubicBezTo>
                    <a:close/>
                    <a:moveTo>
                      <a:pt x="192" y="72"/>
                    </a:moveTo>
                    <a:cubicBezTo>
                      <a:pt x="205" y="72"/>
                      <a:pt x="216" y="82"/>
                      <a:pt x="216" y="96"/>
                    </a:cubicBezTo>
                    <a:cubicBezTo>
                      <a:pt x="216" y="109"/>
                      <a:pt x="205" y="120"/>
                      <a:pt x="192" y="120"/>
                    </a:cubicBezTo>
                    <a:cubicBezTo>
                      <a:pt x="178" y="120"/>
                      <a:pt x="168" y="109"/>
                      <a:pt x="168" y="96"/>
                    </a:cubicBezTo>
                    <a:cubicBezTo>
                      <a:pt x="168" y="82"/>
                      <a:pt x="178" y="72"/>
                      <a:pt x="192" y="72"/>
                    </a:cubicBezTo>
                    <a:close/>
                    <a:moveTo>
                      <a:pt x="112" y="72"/>
                    </a:moveTo>
                    <a:cubicBezTo>
                      <a:pt x="125" y="72"/>
                      <a:pt x="136" y="82"/>
                      <a:pt x="136" y="96"/>
                    </a:cubicBezTo>
                    <a:cubicBezTo>
                      <a:pt x="136" y="109"/>
                      <a:pt x="125" y="120"/>
                      <a:pt x="112" y="120"/>
                    </a:cubicBezTo>
                    <a:cubicBezTo>
                      <a:pt x="98" y="120"/>
                      <a:pt x="88" y="109"/>
                      <a:pt x="88" y="96"/>
                    </a:cubicBezTo>
                    <a:cubicBezTo>
                      <a:pt x="88" y="82"/>
                      <a:pt x="98" y="72"/>
                      <a:pt x="112" y="72"/>
                    </a:cubicBezTo>
                    <a:close/>
                    <a:moveTo>
                      <a:pt x="144" y="208"/>
                    </a:moveTo>
                    <a:cubicBezTo>
                      <a:pt x="144" y="212"/>
                      <a:pt x="140" y="216"/>
                      <a:pt x="136" y="216"/>
                    </a:cubicBezTo>
                    <a:cubicBezTo>
                      <a:pt x="136" y="288"/>
                      <a:pt x="136" y="288"/>
                      <a:pt x="136" y="288"/>
                    </a:cubicBezTo>
                    <a:cubicBezTo>
                      <a:pt x="136" y="292"/>
                      <a:pt x="132" y="296"/>
                      <a:pt x="128" y="296"/>
                    </a:cubicBezTo>
                    <a:cubicBezTo>
                      <a:pt x="123" y="296"/>
                      <a:pt x="120" y="292"/>
                      <a:pt x="120" y="288"/>
                    </a:cubicBezTo>
                    <a:cubicBezTo>
                      <a:pt x="120" y="216"/>
                      <a:pt x="120" y="216"/>
                      <a:pt x="120" y="216"/>
                    </a:cubicBezTo>
                    <a:cubicBezTo>
                      <a:pt x="104" y="216"/>
                      <a:pt x="104" y="216"/>
                      <a:pt x="104" y="216"/>
                    </a:cubicBezTo>
                    <a:cubicBezTo>
                      <a:pt x="104" y="288"/>
                      <a:pt x="104" y="288"/>
                      <a:pt x="104" y="288"/>
                    </a:cubicBezTo>
                    <a:cubicBezTo>
                      <a:pt x="104" y="292"/>
                      <a:pt x="100" y="296"/>
                      <a:pt x="96" y="296"/>
                    </a:cubicBezTo>
                    <a:cubicBezTo>
                      <a:pt x="91" y="296"/>
                      <a:pt x="88" y="292"/>
                      <a:pt x="88" y="288"/>
                    </a:cubicBezTo>
                    <a:cubicBezTo>
                      <a:pt x="88" y="216"/>
                      <a:pt x="88" y="216"/>
                      <a:pt x="88" y="216"/>
                    </a:cubicBezTo>
                    <a:cubicBezTo>
                      <a:pt x="84" y="216"/>
                      <a:pt x="80" y="212"/>
                      <a:pt x="80" y="208"/>
                    </a:cubicBezTo>
                    <a:cubicBezTo>
                      <a:pt x="80" y="144"/>
                      <a:pt x="80" y="144"/>
                      <a:pt x="80" y="144"/>
                    </a:cubicBezTo>
                    <a:cubicBezTo>
                      <a:pt x="80" y="139"/>
                      <a:pt x="83" y="136"/>
                      <a:pt x="88" y="136"/>
                    </a:cubicBezTo>
                    <a:cubicBezTo>
                      <a:pt x="136" y="136"/>
                      <a:pt x="136" y="136"/>
                      <a:pt x="136" y="136"/>
                    </a:cubicBezTo>
                    <a:cubicBezTo>
                      <a:pt x="140" y="136"/>
                      <a:pt x="144" y="139"/>
                      <a:pt x="144" y="144"/>
                    </a:cubicBezTo>
                    <a:lnTo>
                      <a:pt x="144" y="208"/>
                    </a:lnTo>
                    <a:close/>
                    <a:moveTo>
                      <a:pt x="224" y="208"/>
                    </a:moveTo>
                    <a:cubicBezTo>
                      <a:pt x="224" y="212"/>
                      <a:pt x="224" y="216"/>
                      <a:pt x="216" y="216"/>
                    </a:cubicBezTo>
                    <a:cubicBezTo>
                      <a:pt x="216" y="288"/>
                      <a:pt x="216" y="288"/>
                      <a:pt x="216" y="288"/>
                    </a:cubicBezTo>
                    <a:cubicBezTo>
                      <a:pt x="216" y="292"/>
                      <a:pt x="212" y="296"/>
                      <a:pt x="208" y="296"/>
                    </a:cubicBezTo>
                    <a:cubicBezTo>
                      <a:pt x="203" y="296"/>
                      <a:pt x="200" y="292"/>
                      <a:pt x="200" y="288"/>
                    </a:cubicBezTo>
                    <a:cubicBezTo>
                      <a:pt x="200" y="216"/>
                      <a:pt x="200" y="216"/>
                      <a:pt x="200" y="216"/>
                    </a:cubicBezTo>
                    <a:cubicBezTo>
                      <a:pt x="184" y="216"/>
                      <a:pt x="184" y="216"/>
                      <a:pt x="184" y="216"/>
                    </a:cubicBezTo>
                    <a:cubicBezTo>
                      <a:pt x="184" y="288"/>
                      <a:pt x="184" y="288"/>
                      <a:pt x="184" y="288"/>
                    </a:cubicBezTo>
                    <a:cubicBezTo>
                      <a:pt x="184" y="292"/>
                      <a:pt x="180" y="296"/>
                      <a:pt x="176" y="296"/>
                    </a:cubicBezTo>
                    <a:cubicBezTo>
                      <a:pt x="171" y="296"/>
                      <a:pt x="168" y="292"/>
                      <a:pt x="168" y="288"/>
                    </a:cubicBezTo>
                    <a:cubicBezTo>
                      <a:pt x="168" y="216"/>
                      <a:pt x="168" y="216"/>
                      <a:pt x="168" y="216"/>
                    </a:cubicBezTo>
                    <a:cubicBezTo>
                      <a:pt x="160" y="216"/>
                      <a:pt x="160" y="212"/>
                      <a:pt x="160" y="208"/>
                    </a:cubicBezTo>
                    <a:cubicBezTo>
                      <a:pt x="160" y="144"/>
                      <a:pt x="160" y="144"/>
                      <a:pt x="160" y="144"/>
                    </a:cubicBezTo>
                    <a:cubicBezTo>
                      <a:pt x="160" y="139"/>
                      <a:pt x="163" y="136"/>
                      <a:pt x="168" y="136"/>
                    </a:cubicBezTo>
                    <a:cubicBezTo>
                      <a:pt x="216" y="136"/>
                      <a:pt x="216" y="136"/>
                      <a:pt x="216" y="136"/>
                    </a:cubicBezTo>
                    <a:cubicBezTo>
                      <a:pt x="220" y="136"/>
                      <a:pt x="224" y="139"/>
                      <a:pt x="224" y="144"/>
                    </a:cubicBezTo>
                    <a:lnTo>
                      <a:pt x="224" y="208"/>
                    </a:lnTo>
                    <a:close/>
                    <a:moveTo>
                      <a:pt x="302" y="229"/>
                    </a:moveTo>
                    <a:cubicBezTo>
                      <a:pt x="300" y="231"/>
                      <a:pt x="296" y="232"/>
                      <a:pt x="296" y="232"/>
                    </a:cubicBezTo>
                    <a:cubicBezTo>
                      <a:pt x="296" y="288"/>
                      <a:pt x="296" y="288"/>
                      <a:pt x="296" y="288"/>
                    </a:cubicBezTo>
                    <a:cubicBezTo>
                      <a:pt x="296" y="292"/>
                      <a:pt x="292" y="296"/>
                      <a:pt x="288" y="296"/>
                    </a:cubicBezTo>
                    <a:cubicBezTo>
                      <a:pt x="283" y="296"/>
                      <a:pt x="280" y="292"/>
                      <a:pt x="280" y="288"/>
                    </a:cubicBezTo>
                    <a:cubicBezTo>
                      <a:pt x="280" y="232"/>
                      <a:pt x="280" y="232"/>
                      <a:pt x="280" y="232"/>
                    </a:cubicBezTo>
                    <a:cubicBezTo>
                      <a:pt x="264" y="232"/>
                      <a:pt x="264" y="232"/>
                      <a:pt x="264" y="232"/>
                    </a:cubicBezTo>
                    <a:cubicBezTo>
                      <a:pt x="264" y="288"/>
                      <a:pt x="264" y="288"/>
                      <a:pt x="264" y="288"/>
                    </a:cubicBezTo>
                    <a:cubicBezTo>
                      <a:pt x="264" y="292"/>
                      <a:pt x="260" y="296"/>
                      <a:pt x="256" y="296"/>
                    </a:cubicBezTo>
                    <a:cubicBezTo>
                      <a:pt x="251" y="296"/>
                      <a:pt x="248" y="292"/>
                      <a:pt x="248" y="288"/>
                    </a:cubicBezTo>
                    <a:cubicBezTo>
                      <a:pt x="248" y="232"/>
                      <a:pt x="248" y="232"/>
                      <a:pt x="248" y="232"/>
                    </a:cubicBezTo>
                    <a:cubicBezTo>
                      <a:pt x="248" y="232"/>
                      <a:pt x="243" y="231"/>
                      <a:pt x="241" y="229"/>
                    </a:cubicBezTo>
                    <a:cubicBezTo>
                      <a:pt x="240" y="227"/>
                      <a:pt x="239" y="224"/>
                      <a:pt x="240" y="222"/>
                    </a:cubicBezTo>
                    <a:cubicBezTo>
                      <a:pt x="256" y="142"/>
                      <a:pt x="256" y="142"/>
                      <a:pt x="256" y="142"/>
                    </a:cubicBezTo>
                    <a:cubicBezTo>
                      <a:pt x="257" y="138"/>
                      <a:pt x="260" y="136"/>
                      <a:pt x="264" y="136"/>
                    </a:cubicBezTo>
                    <a:cubicBezTo>
                      <a:pt x="280" y="136"/>
                      <a:pt x="280" y="136"/>
                      <a:pt x="280" y="136"/>
                    </a:cubicBezTo>
                    <a:cubicBezTo>
                      <a:pt x="283" y="136"/>
                      <a:pt x="287" y="138"/>
                      <a:pt x="288" y="142"/>
                    </a:cubicBezTo>
                    <a:cubicBezTo>
                      <a:pt x="304" y="222"/>
                      <a:pt x="304" y="222"/>
                      <a:pt x="304" y="222"/>
                    </a:cubicBezTo>
                    <a:cubicBezTo>
                      <a:pt x="304" y="224"/>
                      <a:pt x="303" y="227"/>
                      <a:pt x="302" y="229"/>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47" name="Freeform 11">
                <a:extLst>
                  <a:ext uri="{FF2B5EF4-FFF2-40B4-BE49-F238E27FC236}">
                    <a16:creationId xmlns:a16="http://schemas.microsoft.com/office/drawing/2014/main" id="{E991417F-59A0-4BA7-AB4E-86061ABA7778}"/>
                  </a:ext>
                </a:extLst>
              </p:cNvPr>
              <p:cNvSpPr>
                <a:spLocks/>
              </p:cNvSpPr>
              <p:nvPr/>
            </p:nvSpPr>
            <p:spPr bwMode="auto">
              <a:xfrm>
                <a:off x="6729413" y="5135563"/>
                <a:ext cx="119062" cy="261938"/>
              </a:xfrm>
              <a:custGeom>
                <a:avLst/>
                <a:gdLst>
                  <a:gd name="T0" fmla="*/ 34 w 75"/>
                  <a:gd name="T1" fmla="*/ 0 h 165"/>
                  <a:gd name="T2" fmla="*/ 0 w 75"/>
                  <a:gd name="T3" fmla="*/ 165 h 165"/>
                  <a:gd name="T4" fmla="*/ 75 w 75"/>
                  <a:gd name="T5" fmla="*/ 165 h 165"/>
                  <a:gd name="T6" fmla="*/ 41 w 75"/>
                  <a:gd name="T7" fmla="*/ 0 h 165"/>
                  <a:gd name="T8" fmla="*/ 34 w 75"/>
                  <a:gd name="T9" fmla="*/ 0 h 165"/>
                </a:gdLst>
                <a:ahLst/>
                <a:cxnLst>
                  <a:cxn ang="0">
                    <a:pos x="T0" y="T1"/>
                  </a:cxn>
                  <a:cxn ang="0">
                    <a:pos x="T2" y="T3"/>
                  </a:cxn>
                  <a:cxn ang="0">
                    <a:pos x="T4" y="T5"/>
                  </a:cxn>
                  <a:cxn ang="0">
                    <a:pos x="T6" y="T7"/>
                  </a:cxn>
                  <a:cxn ang="0">
                    <a:pos x="T8" y="T9"/>
                  </a:cxn>
                </a:cxnLst>
                <a:rect l="0" t="0" r="r" b="b"/>
                <a:pathLst>
                  <a:path w="75" h="165">
                    <a:moveTo>
                      <a:pt x="34" y="0"/>
                    </a:moveTo>
                    <a:lnTo>
                      <a:pt x="0" y="165"/>
                    </a:lnTo>
                    <a:lnTo>
                      <a:pt x="75" y="165"/>
                    </a:lnTo>
                    <a:lnTo>
                      <a:pt x="41" y="0"/>
                    </a:lnTo>
                    <a:lnTo>
                      <a:pt x="34" y="0"/>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grpSp>
      <p:sp>
        <p:nvSpPr>
          <p:cNvPr id="422" name="TextBox 421">
            <a:extLst>
              <a:ext uri="{FF2B5EF4-FFF2-40B4-BE49-F238E27FC236}">
                <a16:creationId xmlns:a16="http://schemas.microsoft.com/office/drawing/2014/main" id="{B53B5AAA-CDE8-46F5-9E8E-31AA62171F3D}"/>
              </a:ext>
            </a:extLst>
          </p:cNvPr>
          <p:cNvSpPr txBox="1"/>
          <p:nvPr/>
        </p:nvSpPr>
        <p:spPr>
          <a:xfrm>
            <a:off x="509653" y="573357"/>
            <a:ext cx="11233150" cy="261610"/>
          </a:xfrm>
          <a:prstGeom prst="rect">
            <a:avLst/>
          </a:prstGeom>
          <a:noFill/>
        </p:spPr>
        <p:txBody>
          <a:bodyPr wrap="square" lIns="0" tIns="0" rIns="0" bIns="0" rtlCol="0">
            <a:spAutoFit/>
          </a:bodyPr>
          <a:lstStyle/>
          <a:p>
            <a:pPr defTabSz="945677">
              <a:buSzPct val="100000"/>
              <a:defRPr/>
            </a:pPr>
            <a:r>
              <a:rPr lang="en-US" sz="1700" dirty="0">
                <a:solidFill>
                  <a:schemeClr val="bg1">
                    <a:lumMod val="50000"/>
                  </a:schemeClr>
                </a:solidFill>
              </a:rPr>
              <a:t>Deloitte India is one of the leading professional services firms with a rich heritage of serving the best-in-class clients in India</a:t>
            </a:r>
          </a:p>
        </p:txBody>
      </p:sp>
    </p:spTree>
    <p:extLst>
      <p:ext uri="{BB962C8B-B14F-4D97-AF65-F5344CB8AC3E}">
        <p14:creationId xmlns:p14="http://schemas.microsoft.com/office/powerpoint/2010/main" val="64282901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2C189E97-41DE-4969-ABA3-7724D47971A4}"/>
              </a:ext>
            </a:extLst>
          </p:cNvPr>
          <p:cNvSpPr/>
          <p:nvPr/>
        </p:nvSpPr>
        <p:spPr bwMode="gray">
          <a:xfrm rot="16200000">
            <a:off x="5507062" y="-4385077"/>
            <a:ext cx="1177878" cy="12192001"/>
          </a:xfrm>
          <a:prstGeom prst="rect">
            <a:avLst/>
          </a:prstGeom>
          <a:solidFill>
            <a:srgbClr val="0D8390">
              <a:alpha val="9000"/>
            </a:srgbClr>
          </a:solidFill>
          <a:ln w="19050" algn="ctr">
            <a:noFill/>
            <a:miter lim="800000"/>
            <a:headEnd/>
            <a:tailEnd/>
          </a:ln>
        </p:spPr>
        <p:txBody>
          <a:bodyPr wrap="square" lIns="80615" tIns="80615" rIns="80615" bIns="80615" rtlCol="0" anchor="ctr"/>
          <a:lstStyle/>
          <a:p>
            <a:pPr algn="ctr">
              <a:lnSpc>
                <a:spcPct val="106000"/>
              </a:lnSpc>
              <a:buFont typeface="Wingdings 2" pitchFamily="18" charset="2"/>
              <a:buNone/>
            </a:pPr>
            <a:endParaRPr lang="en-IN" sz="1400" dirty="0">
              <a:solidFill>
                <a:schemeClr val="bg1"/>
              </a:solidFill>
              <a:latin typeface="+mj-lt"/>
            </a:endParaRPr>
          </a:p>
        </p:txBody>
      </p:sp>
      <p:sp>
        <p:nvSpPr>
          <p:cNvPr id="3" name="Title 2">
            <a:extLst>
              <a:ext uri="{FF2B5EF4-FFF2-40B4-BE49-F238E27FC236}">
                <a16:creationId xmlns:a16="http://schemas.microsoft.com/office/drawing/2014/main" id="{0852A046-B9FF-4A9B-A1F8-07C716FA5F4A}"/>
              </a:ext>
            </a:extLst>
          </p:cNvPr>
          <p:cNvSpPr>
            <a:spLocks noGrp="1"/>
          </p:cNvSpPr>
          <p:nvPr>
            <p:ph type="title"/>
          </p:nvPr>
        </p:nvSpPr>
        <p:spPr>
          <a:xfrm>
            <a:off x="501650" y="317500"/>
            <a:ext cx="11201400" cy="334099"/>
          </a:xfrm>
        </p:spPr>
        <p:txBody>
          <a:bodyPr vert="horz" lIns="0" tIns="0" rIns="0" bIns="0" rtlCol="0" anchor="t" anchorCtr="0">
            <a:noAutofit/>
          </a:bodyPr>
          <a:lstStyle/>
          <a:p>
            <a:pPr>
              <a:lnSpc>
                <a:spcPct val="90000"/>
              </a:lnSpc>
            </a:pPr>
            <a:r>
              <a:rPr lang="en-IN" sz="2000" dirty="0">
                <a:latin typeface="+mn-lt"/>
              </a:rPr>
              <a:t>Multidisciplinary capabilities in India- </a:t>
            </a:r>
            <a:r>
              <a:rPr lang="en-US" sz="2000" dirty="0">
                <a:latin typeface="+mn-lt"/>
              </a:rPr>
              <a:t>Integrating a global spectrum of capabilities</a:t>
            </a:r>
            <a:br>
              <a:rPr lang="en-US" sz="2000" dirty="0">
                <a:latin typeface="+mn-lt"/>
              </a:rPr>
            </a:br>
            <a:endParaRPr lang="en-IN" sz="2000" dirty="0">
              <a:latin typeface="+mn-lt"/>
            </a:endParaRPr>
          </a:p>
        </p:txBody>
      </p:sp>
      <p:sp>
        <p:nvSpPr>
          <p:cNvPr id="5" name="Rectangle 46">
            <a:extLst>
              <a:ext uri="{FF2B5EF4-FFF2-40B4-BE49-F238E27FC236}">
                <a16:creationId xmlns:a16="http://schemas.microsoft.com/office/drawing/2014/main" id="{57506E04-789E-47C5-9D0F-408ADB8D6E80}"/>
              </a:ext>
            </a:extLst>
          </p:cNvPr>
          <p:cNvSpPr>
            <a:spLocks noChangeArrowheads="1"/>
          </p:cNvSpPr>
          <p:nvPr/>
        </p:nvSpPr>
        <p:spPr bwMode="auto">
          <a:xfrm>
            <a:off x="4305819" y="2349500"/>
            <a:ext cx="3610840" cy="274999"/>
          </a:xfrm>
          <a:prstGeom prst="roundRect">
            <a:avLst>
              <a:gd name="adj" fmla="val 50000"/>
            </a:avLst>
          </a:prstGeom>
          <a:solidFill>
            <a:srgbClr val="0D8390"/>
          </a:solidFill>
          <a:ln w="12700">
            <a:solidFill>
              <a:srgbClr val="0D8390"/>
            </a:solidFill>
            <a:miter lim="800000"/>
            <a:headEnd/>
            <a:tailEnd/>
          </a:ln>
        </p:spPr>
        <p:txBody>
          <a:bodyPr wrap="square" lIns="69483" tIns="34673" rIns="69347" bIns="34673" anchor="ctr"/>
          <a:lstStyle>
            <a:defPPr>
              <a:defRPr lang="en-US"/>
            </a:defPPr>
            <a:lvl1pPr marL="0" algn="l" defTabSz="1042873" rtl="0" eaLnBrk="1" latinLnBrk="0" hangingPunct="1">
              <a:defRPr sz="2100" kern="1200">
                <a:solidFill>
                  <a:schemeClr val="tx1"/>
                </a:solidFill>
                <a:latin typeface="+mn-lt"/>
                <a:ea typeface="+mn-ea"/>
                <a:cs typeface="+mn-cs"/>
              </a:defRPr>
            </a:lvl1pPr>
            <a:lvl2pPr marL="521437" algn="l" defTabSz="1042873" rtl="0" eaLnBrk="1" latinLnBrk="0" hangingPunct="1">
              <a:defRPr sz="2100" kern="1200">
                <a:solidFill>
                  <a:schemeClr val="tx1"/>
                </a:solidFill>
                <a:latin typeface="+mn-lt"/>
                <a:ea typeface="+mn-ea"/>
                <a:cs typeface="+mn-cs"/>
              </a:defRPr>
            </a:lvl2pPr>
            <a:lvl3pPr marL="1042873" algn="l" defTabSz="1042873" rtl="0" eaLnBrk="1" latinLnBrk="0" hangingPunct="1">
              <a:defRPr sz="2100" kern="1200">
                <a:solidFill>
                  <a:schemeClr val="tx1"/>
                </a:solidFill>
                <a:latin typeface="+mn-lt"/>
                <a:ea typeface="+mn-ea"/>
                <a:cs typeface="+mn-cs"/>
              </a:defRPr>
            </a:lvl3pPr>
            <a:lvl4pPr marL="1564310" algn="l" defTabSz="1042873" rtl="0" eaLnBrk="1" latinLnBrk="0" hangingPunct="1">
              <a:defRPr sz="2100" kern="1200">
                <a:solidFill>
                  <a:schemeClr val="tx1"/>
                </a:solidFill>
                <a:latin typeface="+mn-lt"/>
                <a:ea typeface="+mn-ea"/>
                <a:cs typeface="+mn-cs"/>
              </a:defRPr>
            </a:lvl4pPr>
            <a:lvl5pPr marL="2085746" algn="l" defTabSz="1042873" rtl="0" eaLnBrk="1" latinLnBrk="0" hangingPunct="1">
              <a:defRPr sz="2100" kern="1200">
                <a:solidFill>
                  <a:schemeClr val="tx1"/>
                </a:solidFill>
                <a:latin typeface="+mn-lt"/>
                <a:ea typeface="+mn-ea"/>
                <a:cs typeface="+mn-cs"/>
              </a:defRPr>
            </a:lvl5pPr>
            <a:lvl6pPr marL="2607183" algn="l" defTabSz="1042873" rtl="0" eaLnBrk="1" latinLnBrk="0" hangingPunct="1">
              <a:defRPr sz="2100" kern="1200">
                <a:solidFill>
                  <a:schemeClr val="tx1"/>
                </a:solidFill>
                <a:latin typeface="+mn-lt"/>
                <a:ea typeface="+mn-ea"/>
                <a:cs typeface="+mn-cs"/>
              </a:defRPr>
            </a:lvl6pPr>
            <a:lvl7pPr marL="3128620" algn="l" defTabSz="1042873" rtl="0" eaLnBrk="1" latinLnBrk="0" hangingPunct="1">
              <a:defRPr sz="2100" kern="1200">
                <a:solidFill>
                  <a:schemeClr val="tx1"/>
                </a:solidFill>
                <a:latin typeface="+mn-lt"/>
                <a:ea typeface="+mn-ea"/>
                <a:cs typeface="+mn-cs"/>
              </a:defRPr>
            </a:lvl7pPr>
            <a:lvl8pPr marL="3650056" algn="l" defTabSz="1042873" rtl="0" eaLnBrk="1" latinLnBrk="0" hangingPunct="1">
              <a:defRPr sz="2100" kern="1200">
                <a:solidFill>
                  <a:schemeClr val="tx1"/>
                </a:solidFill>
                <a:latin typeface="+mn-lt"/>
                <a:ea typeface="+mn-ea"/>
                <a:cs typeface="+mn-cs"/>
              </a:defRPr>
            </a:lvl8pPr>
            <a:lvl9pPr marL="4171493" algn="l" defTabSz="1042873" rtl="0" eaLnBrk="1" latinLnBrk="0" hangingPunct="1">
              <a:defRPr sz="2100" kern="1200">
                <a:solidFill>
                  <a:schemeClr val="tx1"/>
                </a:solidFill>
                <a:latin typeface="+mn-lt"/>
                <a:ea typeface="+mn-ea"/>
                <a:cs typeface="+mn-cs"/>
              </a:defRPr>
            </a:lvl9pPr>
          </a:lstStyle>
          <a:p>
            <a:pPr marL="0" marR="0" lvl="0" indent="0" algn="ctr" defTabSz="954854"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Calibri" panose="020F0502020204030204" pitchFamily="34" charset="0"/>
                <a:ea typeface="+mn-ea"/>
                <a:cs typeface="+mn-cs"/>
              </a:rPr>
              <a:t>SERVICES IN INDIA</a:t>
            </a:r>
          </a:p>
        </p:txBody>
      </p:sp>
      <p:cxnSp>
        <p:nvCxnSpPr>
          <p:cNvPr id="7" name="Elbow Connector 8">
            <a:extLst>
              <a:ext uri="{FF2B5EF4-FFF2-40B4-BE49-F238E27FC236}">
                <a16:creationId xmlns:a16="http://schemas.microsoft.com/office/drawing/2014/main" id="{22D9F41F-1197-4C2E-BE27-31F96FDD0166}"/>
              </a:ext>
            </a:extLst>
          </p:cNvPr>
          <p:cNvCxnSpPr>
            <a:cxnSpLocks/>
            <a:stCxn id="5" idx="2"/>
            <a:endCxn id="16" idx="3"/>
          </p:cNvCxnSpPr>
          <p:nvPr/>
        </p:nvCxnSpPr>
        <p:spPr>
          <a:xfrm rot="5400000">
            <a:off x="3693551" y="536097"/>
            <a:ext cx="329286" cy="4506091"/>
          </a:xfrm>
          <a:prstGeom prst="bentConnector3">
            <a:avLst>
              <a:gd name="adj1" fmla="val 50000"/>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Elbow Connector 9">
            <a:extLst>
              <a:ext uri="{FF2B5EF4-FFF2-40B4-BE49-F238E27FC236}">
                <a16:creationId xmlns:a16="http://schemas.microsoft.com/office/drawing/2014/main" id="{5D4DF07D-1314-4A12-8252-47B4A3F192FD}"/>
              </a:ext>
            </a:extLst>
          </p:cNvPr>
          <p:cNvCxnSpPr>
            <a:cxnSpLocks/>
            <a:stCxn id="5" idx="2"/>
            <a:endCxn id="18" idx="3"/>
          </p:cNvCxnSpPr>
          <p:nvPr/>
        </p:nvCxnSpPr>
        <p:spPr>
          <a:xfrm rot="5400000">
            <a:off x="4794960" y="1637506"/>
            <a:ext cx="329286" cy="2303273"/>
          </a:xfrm>
          <a:prstGeom prst="bentConnector3">
            <a:avLst>
              <a:gd name="adj1" fmla="val 50000"/>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Elbow Connector 10">
            <a:extLst>
              <a:ext uri="{FF2B5EF4-FFF2-40B4-BE49-F238E27FC236}">
                <a16:creationId xmlns:a16="http://schemas.microsoft.com/office/drawing/2014/main" id="{90CCF639-DE7A-41C2-B1C2-8B44FF0AD089}"/>
              </a:ext>
            </a:extLst>
          </p:cNvPr>
          <p:cNvCxnSpPr>
            <a:cxnSpLocks/>
            <a:stCxn id="5" idx="2"/>
            <a:endCxn id="12" idx="3"/>
          </p:cNvCxnSpPr>
          <p:nvPr/>
        </p:nvCxnSpPr>
        <p:spPr>
          <a:xfrm rot="16200000" flipH="1">
            <a:off x="7098234" y="1637503"/>
            <a:ext cx="329286" cy="2303277"/>
          </a:xfrm>
          <a:prstGeom prst="bentConnector3">
            <a:avLst>
              <a:gd name="adj1" fmla="val 50000"/>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0" name="Rectangle 30">
            <a:extLst>
              <a:ext uri="{FF2B5EF4-FFF2-40B4-BE49-F238E27FC236}">
                <a16:creationId xmlns:a16="http://schemas.microsoft.com/office/drawing/2014/main" id="{C35141C6-FB34-4B48-A191-59F3AE15BEC3}"/>
              </a:ext>
            </a:extLst>
          </p:cNvPr>
          <p:cNvSpPr>
            <a:spLocks noChangeArrowheads="1"/>
          </p:cNvSpPr>
          <p:nvPr/>
        </p:nvSpPr>
        <p:spPr bwMode="auto">
          <a:xfrm>
            <a:off x="510159" y="5762478"/>
            <a:ext cx="11192256" cy="444140"/>
          </a:xfrm>
          <a:prstGeom prst="roundRect">
            <a:avLst/>
          </a:prstGeom>
          <a:solidFill>
            <a:srgbClr val="EBFBFD">
              <a:alpha val="20000"/>
            </a:srgbClr>
          </a:solidFill>
          <a:ln w="9525" algn="ctr">
            <a:solidFill>
              <a:srgbClr val="0D8390"/>
            </a:solidFill>
            <a:miter lim="800000"/>
            <a:headEnd/>
            <a:tailEnd/>
          </a:ln>
        </p:spPr>
        <p:txBody>
          <a:bodyPr wrap="square" lIns="77287" tIns="38642" rIns="77287" bIns="38642" anchor="ctr"/>
          <a:lstStyle>
            <a:defPPr>
              <a:defRPr lang="en-US"/>
            </a:defPPr>
            <a:lvl1pPr marL="0" algn="l" defTabSz="1042873" rtl="0" eaLnBrk="1" latinLnBrk="0" hangingPunct="1">
              <a:defRPr sz="2100" kern="1200">
                <a:solidFill>
                  <a:schemeClr val="tx1"/>
                </a:solidFill>
                <a:latin typeface="+mn-lt"/>
                <a:ea typeface="+mn-ea"/>
                <a:cs typeface="+mn-cs"/>
              </a:defRPr>
            </a:lvl1pPr>
            <a:lvl2pPr marL="521437" algn="l" defTabSz="1042873" rtl="0" eaLnBrk="1" latinLnBrk="0" hangingPunct="1">
              <a:defRPr sz="2100" kern="1200">
                <a:solidFill>
                  <a:schemeClr val="tx1"/>
                </a:solidFill>
                <a:latin typeface="+mn-lt"/>
                <a:ea typeface="+mn-ea"/>
                <a:cs typeface="+mn-cs"/>
              </a:defRPr>
            </a:lvl2pPr>
            <a:lvl3pPr marL="1042873" algn="l" defTabSz="1042873" rtl="0" eaLnBrk="1" latinLnBrk="0" hangingPunct="1">
              <a:defRPr sz="2100" kern="1200">
                <a:solidFill>
                  <a:schemeClr val="tx1"/>
                </a:solidFill>
                <a:latin typeface="+mn-lt"/>
                <a:ea typeface="+mn-ea"/>
                <a:cs typeface="+mn-cs"/>
              </a:defRPr>
            </a:lvl3pPr>
            <a:lvl4pPr marL="1564310" algn="l" defTabSz="1042873" rtl="0" eaLnBrk="1" latinLnBrk="0" hangingPunct="1">
              <a:defRPr sz="2100" kern="1200">
                <a:solidFill>
                  <a:schemeClr val="tx1"/>
                </a:solidFill>
                <a:latin typeface="+mn-lt"/>
                <a:ea typeface="+mn-ea"/>
                <a:cs typeface="+mn-cs"/>
              </a:defRPr>
            </a:lvl4pPr>
            <a:lvl5pPr marL="2085746" algn="l" defTabSz="1042873" rtl="0" eaLnBrk="1" latinLnBrk="0" hangingPunct="1">
              <a:defRPr sz="2100" kern="1200">
                <a:solidFill>
                  <a:schemeClr val="tx1"/>
                </a:solidFill>
                <a:latin typeface="+mn-lt"/>
                <a:ea typeface="+mn-ea"/>
                <a:cs typeface="+mn-cs"/>
              </a:defRPr>
            </a:lvl5pPr>
            <a:lvl6pPr marL="2607183" algn="l" defTabSz="1042873" rtl="0" eaLnBrk="1" latinLnBrk="0" hangingPunct="1">
              <a:defRPr sz="2100" kern="1200">
                <a:solidFill>
                  <a:schemeClr val="tx1"/>
                </a:solidFill>
                <a:latin typeface="+mn-lt"/>
                <a:ea typeface="+mn-ea"/>
                <a:cs typeface="+mn-cs"/>
              </a:defRPr>
            </a:lvl6pPr>
            <a:lvl7pPr marL="3128620" algn="l" defTabSz="1042873" rtl="0" eaLnBrk="1" latinLnBrk="0" hangingPunct="1">
              <a:defRPr sz="2100" kern="1200">
                <a:solidFill>
                  <a:schemeClr val="tx1"/>
                </a:solidFill>
                <a:latin typeface="+mn-lt"/>
                <a:ea typeface="+mn-ea"/>
                <a:cs typeface="+mn-cs"/>
              </a:defRPr>
            </a:lvl7pPr>
            <a:lvl8pPr marL="3650056" algn="l" defTabSz="1042873" rtl="0" eaLnBrk="1" latinLnBrk="0" hangingPunct="1">
              <a:defRPr sz="2100" kern="1200">
                <a:solidFill>
                  <a:schemeClr val="tx1"/>
                </a:solidFill>
                <a:latin typeface="+mn-lt"/>
                <a:ea typeface="+mn-ea"/>
                <a:cs typeface="+mn-cs"/>
              </a:defRPr>
            </a:lvl8pPr>
            <a:lvl9pPr marL="4171493" algn="l" defTabSz="1042873" rtl="0" eaLnBrk="1" latinLnBrk="0" hangingPunct="1">
              <a:defRPr sz="2100" kern="1200">
                <a:solidFill>
                  <a:schemeClr val="tx1"/>
                </a:solidFill>
                <a:latin typeface="+mn-lt"/>
                <a:ea typeface="+mn-ea"/>
                <a:cs typeface="+mn-cs"/>
              </a:defRPr>
            </a:lvl9pPr>
          </a:lstStyle>
          <a:p>
            <a:pPr marL="0" marR="0" lvl="0" indent="0" algn="l" defTabSz="772741"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Deloitte is well-equipped to deliver solutions to the complex challenges faced by organisations across the public and private sectors. Being one of the largest organisations, our edge lies in our ability to draw upon a well-equipped globally customised services at a local office.</a:t>
            </a:r>
          </a:p>
        </p:txBody>
      </p:sp>
      <p:sp>
        <p:nvSpPr>
          <p:cNvPr id="11" name="Text Box 245">
            <a:extLst>
              <a:ext uri="{FF2B5EF4-FFF2-40B4-BE49-F238E27FC236}">
                <a16:creationId xmlns:a16="http://schemas.microsoft.com/office/drawing/2014/main" id="{388B86E5-36F2-40FD-AEA8-2412899B1BDA}"/>
              </a:ext>
            </a:extLst>
          </p:cNvPr>
          <p:cNvSpPr txBox="1">
            <a:spLocks noChangeArrowheads="1"/>
          </p:cNvSpPr>
          <p:nvPr/>
        </p:nvSpPr>
        <p:spPr bwMode="gray">
          <a:xfrm>
            <a:off x="7420365" y="3490845"/>
            <a:ext cx="1988301" cy="1899890"/>
          </a:xfrm>
          <a:prstGeom prst="rect">
            <a:avLst/>
          </a:prstGeom>
          <a:noFill/>
          <a:ln w="3175" algn="ctr">
            <a:solidFill>
              <a:schemeClr val="accent5"/>
            </a:solidFill>
            <a:miter lim="800000"/>
            <a:headEnd/>
            <a:tailEnd/>
          </a:ln>
        </p:spPr>
        <p:txBody>
          <a:bodyPr lIns="108000" tIns="73196" rIns="36525" bIns="36525"/>
          <a:lstStyle>
            <a:defPPr>
              <a:defRPr lang="en-US"/>
            </a:defPPr>
            <a:lvl1pPr marL="0" algn="l" defTabSz="1042873" rtl="0" eaLnBrk="1" latinLnBrk="0" hangingPunct="1">
              <a:defRPr sz="2100" kern="1200">
                <a:solidFill>
                  <a:schemeClr val="tx1"/>
                </a:solidFill>
                <a:latin typeface="+mn-lt"/>
                <a:ea typeface="+mn-ea"/>
                <a:cs typeface="+mn-cs"/>
              </a:defRPr>
            </a:lvl1pPr>
            <a:lvl2pPr marL="521437" algn="l" defTabSz="1042873" rtl="0" eaLnBrk="1" latinLnBrk="0" hangingPunct="1">
              <a:defRPr sz="2100" kern="1200">
                <a:solidFill>
                  <a:schemeClr val="tx1"/>
                </a:solidFill>
                <a:latin typeface="+mn-lt"/>
                <a:ea typeface="+mn-ea"/>
                <a:cs typeface="+mn-cs"/>
              </a:defRPr>
            </a:lvl2pPr>
            <a:lvl3pPr marL="1042873" algn="l" defTabSz="1042873" rtl="0" eaLnBrk="1" latinLnBrk="0" hangingPunct="1">
              <a:defRPr sz="2100" kern="1200">
                <a:solidFill>
                  <a:schemeClr val="tx1"/>
                </a:solidFill>
                <a:latin typeface="+mn-lt"/>
                <a:ea typeface="+mn-ea"/>
                <a:cs typeface="+mn-cs"/>
              </a:defRPr>
            </a:lvl3pPr>
            <a:lvl4pPr marL="1564310" algn="l" defTabSz="1042873" rtl="0" eaLnBrk="1" latinLnBrk="0" hangingPunct="1">
              <a:defRPr sz="2100" kern="1200">
                <a:solidFill>
                  <a:schemeClr val="tx1"/>
                </a:solidFill>
                <a:latin typeface="+mn-lt"/>
                <a:ea typeface="+mn-ea"/>
                <a:cs typeface="+mn-cs"/>
              </a:defRPr>
            </a:lvl4pPr>
            <a:lvl5pPr marL="2085746" algn="l" defTabSz="1042873" rtl="0" eaLnBrk="1" latinLnBrk="0" hangingPunct="1">
              <a:defRPr sz="2100" kern="1200">
                <a:solidFill>
                  <a:schemeClr val="tx1"/>
                </a:solidFill>
                <a:latin typeface="+mn-lt"/>
                <a:ea typeface="+mn-ea"/>
                <a:cs typeface="+mn-cs"/>
              </a:defRPr>
            </a:lvl5pPr>
            <a:lvl6pPr marL="2607183" algn="l" defTabSz="1042873" rtl="0" eaLnBrk="1" latinLnBrk="0" hangingPunct="1">
              <a:defRPr sz="2100" kern="1200">
                <a:solidFill>
                  <a:schemeClr val="tx1"/>
                </a:solidFill>
                <a:latin typeface="+mn-lt"/>
                <a:ea typeface="+mn-ea"/>
                <a:cs typeface="+mn-cs"/>
              </a:defRPr>
            </a:lvl6pPr>
            <a:lvl7pPr marL="3128620" algn="l" defTabSz="1042873" rtl="0" eaLnBrk="1" latinLnBrk="0" hangingPunct="1">
              <a:defRPr sz="2100" kern="1200">
                <a:solidFill>
                  <a:schemeClr val="tx1"/>
                </a:solidFill>
                <a:latin typeface="+mn-lt"/>
                <a:ea typeface="+mn-ea"/>
                <a:cs typeface="+mn-cs"/>
              </a:defRPr>
            </a:lvl7pPr>
            <a:lvl8pPr marL="3650056" algn="l" defTabSz="1042873" rtl="0" eaLnBrk="1" latinLnBrk="0" hangingPunct="1">
              <a:defRPr sz="2100" kern="1200">
                <a:solidFill>
                  <a:schemeClr val="tx1"/>
                </a:solidFill>
                <a:latin typeface="+mn-lt"/>
                <a:ea typeface="+mn-ea"/>
                <a:cs typeface="+mn-cs"/>
              </a:defRPr>
            </a:lvl8pPr>
            <a:lvl9pPr marL="4171493" algn="l" defTabSz="1042873" rtl="0" eaLnBrk="1" latinLnBrk="0" hangingPunct="1">
              <a:defRPr sz="2100" kern="1200">
                <a:solidFill>
                  <a:schemeClr val="tx1"/>
                </a:solidFill>
                <a:latin typeface="+mn-lt"/>
                <a:ea typeface="+mn-ea"/>
                <a:cs typeface="+mn-cs"/>
              </a:defRPr>
            </a:lvl9pPr>
          </a:lstStyle>
          <a:p>
            <a:pPr marL="171450" marR="0" lvl="0" indent="-171450" algn="l" defTabSz="954854"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Corporate Finance &amp; Restructuring</a:t>
            </a:r>
          </a:p>
          <a:p>
            <a:pPr marL="171450" marR="0" lvl="0" indent="-171450" algn="l" defTabSz="954854"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Forensic</a:t>
            </a:r>
          </a:p>
          <a:p>
            <a:pPr marL="171450" marR="0" lvl="0" indent="-171450" algn="l" defTabSz="954854"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M&amp;A Transaction Services</a:t>
            </a:r>
          </a:p>
          <a:p>
            <a:pPr marL="171450" marR="0" lvl="0" indent="-171450" algn="l" defTabSz="954854"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Valuation &amp; Modelling</a:t>
            </a:r>
          </a:p>
        </p:txBody>
      </p:sp>
      <p:sp>
        <p:nvSpPr>
          <p:cNvPr id="12" name="Text Box 39">
            <a:extLst>
              <a:ext uri="{FF2B5EF4-FFF2-40B4-BE49-F238E27FC236}">
                <a16:creationId xmlns:a16="http://schemas.microsoft.com/office/drawing/2014/main" id="{31015031-14AD-4C61-8401-4188810BD2F1}"/>
              </a:ext>
            </a:extLst>
          </p:cNvPr>
          <p:cNvSpPr txBox="1">
            <a:spLocks noChangeArrowheads="1"/>
          </p:cNvSpPr>
          <p:nvPr/>
        </p:nvSpPr>
        <p:spPr bwMode="auto">
          <a:xfrm>
            <a:off x="7420365" y="2953785"/>
            <a:ext cx="1988301" cy="541359"/>
          </a:xfrm>
          <a:prstGeom prst="round2SameRect">
            <a:avLst/>
          </a:prstGeom>
          <a:solidFill>
            <a:schemeClr val="accent5"/>
          </a:solidFill>
          <a:ln w="3175" algn="ctr">
            <a:solidFill>
              <a:schemeClr val="accent3">
                <a:lumMod val="75000"/>
              </a:schemeClr>
            </a:solidFill>
            <a:miter lim="800000"/>
            <a:headEnd/>
            <a:tailEnd/>
          </a:ln>
        </p:spPr>
        <p:txBody>
          <a:bodyPr lIns="457200" tIns="36525" rIns="73052" bIns="36525" anchor="ctr"/>
          <a:lstStyle>
            <a:defPPr>
              <a:defRPr lang="en-US"/>
            </a:defPPr>
            <a:lvl1pPr marL="0" algn="l" defTabSz="1042873" rtl="0" eaLnBrk="1" latinLnBrk="0" hangingPunct="1">
              <a:defRPr sz="2100" kern="1200">
                <a:solidFill>
                  <a:schemeClr val="tx1"/>
                </a:solidFill>
                <a:latin typeface="+mn-lt"/>
                <a:ea typeface="+mn-ea"/>
                <a:cs typeface="+mn-cs"/>
              </a:defRPr>
            </a:lvl1pPr>
            <a:lvl2pPr marL="521437" algn="l" defTabSz="1042873" rtl="0" eaLnBrk="1" latinLnBrk="0" hangingPunct="1">
              <a:defRPr sz="2100" kern="1200">
                <a:solidFill>
                  <a:schemeClr val="tx1"/>
                </a:solidFill>
                <a:latin typeface="+mn-lt"/>
                <a:ea typeface="+mn-ea"/>
                <a:cs typeface="+mn-cs"/>
              </a:defRPr>
            </a:lvl2pPr>
            <a:lvl3pPr marL="1042873" algn="l" defTabSz="1042873" rtl="0" eaLnBrk="1" latinLnBrk="0" hangingPunct="1">
              <a:defRPr sz="2100" kern="1200">
                <a:solidFill>
                  <a:schemeClr val="tx1"/>
                </a:solidFill>
                <a:latin typeface="+mn-lt"/>
                <a:ea typeface="+mn-ea"/>
                <a:cs typeface="+mn-cs"/>
              </a:defRPr>
            </a:lvl3pPr>
            <a:lvl4pPr marL="1564310" algn="l" defTabSz="1042873" rtl="0" eaLnBrk="1" latinLnBrk="0" hangingPunct="1">
              <a:defRPr sz="2100" kern="1200">
                <a:solidFill>
                  <a:schemeClr val="tx1"/>
                </a:solidFill>
                <a:latin typeface="+mn-lt"/>
                <a:ea typeface="+mn-ea"/>
                <a:cs typeface="+mn-cs"/>
              </a:defRPr>
            </a:lvl4pPr>
            <a:lvl5pPr marL="2085746" algn="l" defTabSz="1042873" rtl="0" eaLnBrk="1" latinLnBrk="0" hangingPunct="1">
              <a:defRPr sz="2100" kern="1200">
                <a:solidFill>
                  <a:schemeClr val="tx1"/>
                </a:solidFill>
                <a:latin typeface="+mn-lt"/>
                <a:ea typeface="+mn-ea"/>
                <a:cs typeface="+mn-cs"/>
              </a:defRPr>
            </a:lvl5pPr>
            <a:lvl6pPr marL="2607183" algn="l" defTabSz="1042873" rtl="0" eaLnBrk="1" latinLnBrk="0" hangingPunct="1">
              <a:defRPr sz="2100" kern="1200">
                <a:solidFill>
                  <a:schemeClr val="tx1"/>
                </a:solidFill>
                <a:latin typeface="+mn-lt"/>
                <a:ea typeface="+mn-ea"/>
                <a:cs typeface="+mn-cs"/>
              </a:defRPr>
            </a:lvl6pPr>
            <a:lvl7pPr marL="3128620" algn="l" defTabSz="1042873" rtl="0" eaLnBrk="1" latinLnBrk="0" hangingPunct="1">
              <a:defRPr sz="2100" kern="1200">
                <a:solidFill>
                  <a:schemeClr val="tx1"/>
                </a:solidFill>
                <a:latin typeface="+mn-lt"/>
                <a:ea typeface="+mn-ea"/>
                <a:cs typeface="+mn-cs"/>
              </a:defRPr>
            </a:lvl7pPr>
            <a:lvl8pPr marL="3650056" algn="l" defTabSz="1042873" rtl="0" eaLnBrk="1" latinLnBrk="0" hangingPunct="1">
              <a:defRPr sz="2100" kern="1200">
                <a:solidFill>
                  <a:schemeClr val="tx1"/>
                </a:solidFill>
                <a:latin typeface="+mn-lt"/>
                <a:ea typeface="+mn-ea"/>
                <a:cs typeface="+mn-cs"/>
              </a:defRPr>
            </a:lvl8pPr>
            <a:lvl9pPr marL="4171493" algn="l" defTabSz="1042873" rtl="0" eaLnBrk="1" latinLnBrk="0" hangingPunct="1">
              <a:defRPr sz="2100" kern="1200">
                <a:solidFill>
                  <a:schemeClr val="tx1"/>
                </a:solidFill>
                <a:latin typeface="+mn-lt"/>
                <a:ea typeface="+mn-ea"/>
                <a:cs typeface="+mn-cs"/>
              </a:defRPr>
            </a:lvl9pPr>
          </a:lstStyle>
          <a:p>
            <a:pPr marL="0" marR="0" lvl="0" indent="0" algn="l" defTabSz="954854" rtl="0" eaLnBrk="0" fontAlgn="auto" latinLnBrk="0" hangingPunct="0">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Financial Advisory</a:t>
            </a:r>
          </a:p>
        </p:txBody>
      </p:sp>
      <p:sp>
        <p:nvSpPr>
          <p:cNvPr id="13" name="Text Box 245">
            <a:extLst>
              <a:ext uri="{FF2B5EF4-FFF2-40B4-BE49-F238E27FC236}">
                <a16:creationId xmlns:a16="http://schemas.microsoft.com/office/drawing/2014/main" id="{BC03722C-282B-4BCB-93D8-5BF149BA1179}"/>
              </a:ext>
            </a:extLst>
          </p:cNvPr>
          <p:cNvSpPr txBox="1">
            <a:spLocks noChangeArrowheads="1"/>
          </p:cNvSpPr>
          <p:nvPr/>
        </p:nvSpPr>
        <p:spPr bwMode="gray">
          <a:xfrm>
            <a:off x="5117090" y="3490845"/>
            <a:ext cx="1988301" cy="1899891"/>
          </a:xfrm>
          <a:prstGeom prst="rect">
            <a:avLst/>
          </a:prstGeom>
          <a:noFill/>
          <a:ln w="3175" algn="ctr">
            <a:solidFill>
              <a:schemeClr val="accent3"/>
            </a:solidFill>
            <a:miter lim="800000"/>
            <a:headEnd/>
            <a:tailEnd/>
          </a:ln>
        </p:spPr>
        <p:txBody>
          <a:bodyPr lIns="108000" tIns="73196" rIns="36525" bIns="36525"/>
          <a:lstStyle>
            <a:defPPr>
              <a:defRPr lang="en-US"/>
            </a:defPPr>
            <a:lvl1pPr marL="185503" indent="-185503" defTabSz="1042873">
              <a:spcAft>
                <a:spcPts val="316"/>
              </a:spcAft>
              <a:buFontTx/>
              <a:buChar char="•"/>
              <a:defRPr sz="1100" b="0">
                <a:solidFill>
                  <a:schemeClr val="tx2"/>
                </a:solidFill>
                <a:latin typeface="Arial"/>
              </a:defRPr>
            </a:lvl1pPr>
            <a:lvl2pPr marL="521437" defTabSz="1042873">
              <a:defRPr sz="2100"/>
            </a:lvl2pPr>
            <a:lvl3pPr marL="1042873" defTabSz="1042873">
              <a:defRPr sz="2100"/>
            </a:lvl3pPr>
            <a:lvl4pPr marL="1564310" defTabSz="1042873">
              <a:defRPr sz="2100"/>
            </a:lvl4pPr>
            <a:lvl5pPr marL="2085746" defTabSz="1042873">
              <a:defRPr sz="2100"/>
            </a:lvl5pPr>
            <a:lvl6pPr marL="2607183" defTabSz="1042873">
              <a:defRPr sz="2100"/>
            </a:lvl6pPr>
            <a:lvl7pPr marL="3128620" defTabSz="1042873">
              <a:defRPr sz="2100"/>
            </a:lvl7pPr>
            <a:lvl8pPr marL="3650056" defTabSz="1042873">
              <a:defRPr sz="2100"/>
            </a:lvl8pPr>
            <a:lvl9pPr marL="4171493" defTabSz="1042873">
              <a:defRPr sz="2100"/>
            </a:lvl9pPr>
          </a:lstStyle>
          <a:p>
            <a:pPr marL="185503" marR="0" lvl="0" indent="-185503" algn="l" defTabSz="954854" rtl="0" eaLnBrk="1" fontAlgn="auto" latinLnBrk="0" hangingPunct="1">
              <a:lnSpc>
                <a:spcPct val="100000"/>
              </a:lnSpc>
              <a:spcBef>
                <a:spcPts val="0"/>
              </a:spcBef>
              <a:spcAft>
                <a:spcPts val="400"/>
              </a:spcAft>
              <a:buClrTx/>
              <a:buSzTx/>
              <a:buFontTx/>
              <a:buChar char="•"/>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Business Process Solutions</a:t>
            </a:r>
          </a:p>
          <a:p>
            <a:pPr marL="185503" marR="0" lvl="0" indent="-185503" algn="l" defTabSz="954854" rtl="0" eaLnBrk="1" fontAlgn="auto" latinLnBrk="0" hangingPunct="1">
              <a:lnSpc>
                <a:spcPct val="100000"/>
              </a:lnSpc>
              <a:spcBef>
                <a:spcPts val="0"/>
              </a:spcBef>
              <a:spcAft>
                <a:spcPts val="400"/>
              </a:spcAft>
              <a:buClrTx/>
              <a:buSzTx/>
              <a:buFontTx/>
              <a:buChar char="•"/>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Global Business Tax</a:t>
            </a:r>
          </a:p>
          <a:p>
            <a:pPr marL="185503" marR="0" lvl="0" indent="-185503" algn="l" defTabSz="954854" rtl="0" eaLnBrk="1" fontAlgn="auto" latinLnBrk="0" hangingPunct="1">
              <a:lnSpc>
                <a:spcPct val="100000"/>
              </a:lnSpc>
              <a:spcBef>
                <a:spcPts val="0"/>
              </a:spcBef>
              <a:spcAft>
                <a:spcPts val="400"/>
              </a:spcAft>
              <a:buClrTx/>
              <a:buSzTx/>
              <a:buFontTx/>
              <a:buChar char="•"/>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Global Employer Services</a:t>
            </a:r>
          </a:p>
          <a:p>
            <a:pPr marL="185503" marR="0" lvl="0" indent="-185503" algn="l" defTabSz="954854" rtl="0" eaLnBrk="1" fontAlgn="auto" latinLnBrk="0" hangingPunct="1">
              <a:lnSpc>
                <a:spcPct val="100000"/>
              </a:lnSpc>
              <a:spcBef>
                <a:spcPts val="0"/>
              </a:spcBef>
              <a:spcAft>
                <a:spcPts val="400"/>
              </a:spcAft>
              <a:buClrTx/>
              <a:buSzTx/>
              <a:buFontTx/>
              <a:buChar char="•"/>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Indirect Tax</a:t>
            </a:r>
          </a:p>
          <a:p>
            <a:pPr marL="185503" marR="0" lvl="0" indent="-185503" algn="l" defTabSz="954854" rtl="0" eaLnBrk="1" fontAlgn="auto" latinLnBrk="0" hangingPunct="1">
              <a:lnSpc>
                <a:spcPct val="100000"/>
              </a:lnSpc>
              <a:spcBef>
                <a:spcPts val="0"/>
              </a:spcBef>
              <a:spcAft>
                <a:spcPts val="400"/>
              </a:spcAft>
              <a:buClrTx/>
              <a:buSzTx/>
              <a:buFontTx/>
              <a:buChar char="•"/>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Mergers and Acquisitions (M&amp;A) – Tax</a:t>
            </a:r>
          </a:p>
          <a:p>
            <a:pPr marL="185503" marR="0" lvl="0" indent="-185503" algn="l" defTabSz="954854" rtl="0" eaLnBrk="1" fontAlgn="auto" latinLnBrk="0" hangingPunct="1">
              <a:lnSpc>
                <a:spcPct val="100000"/>
              </a:lnSpc>
              <a:spcBef>
                <a:spcPts val="0"/>
              </a:spcBef>
              <a:spcAft>
                <a:spcPts val="400"/>
              </a:spcAft>
              <a:buClrTx/>
              <a:buSzTx/>
              <a:buFontTx/>
              <a:buChar char="•"/>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Tax Analytics</a:t>
            </a:r>
          </a:p>
          <a:p>
            <a:pPr marL="185503" marR="0" lvl="0" indent="-185503" algn="l" defTabSz="954854" rtl="0" eaLnBrk="1" fontAlgn="auto" latinLnBrk="0" hangingPunct="1">
              <a:lnSpc>
                <a:spcPct val="100000"/>
              </a:lnSpc>
              <a:spcBef>
                <a:spcPts val="0"/>
              </a:spcBef>
              <a:spcAft>
                <a:spcPts val="400"/>
              </a:spcAft>
              <a:buClrTx/>
              <a:buSzTx/>
              <a:buFontTx/>
              <a:buChar char="•"/>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Transfer Pricing</a:t>
            </a:r>
          </a:p>
        </p:txBody>
      </p:sp>
      <p:sp>
        <p:nvSpPr>
          <p:cNvPr id="14" name="Text Box 40">
            <a:extLst>
              <a:ext uri="{FF2B5EF4-FFF2-40B4-BE49-F238E27FC236}">
                <a16:creationId xmlns:a16="http://schemas.microsoft.com/office/drawing/2014/main" id="{292F6473-E205-461B-B1A3-3A2A84B80664}"/>
              </a:ext>
            </a:extLst>
          </p:cNvPr>
          <p:cNvSpPr txBox="1">
            <a:spLocks noChangeArrowheads="1"/>
          </p:cNvSpPr>
          <p:nvPr/>
        </p:nvSpPr>
        <p:spPr bwMode="auto">
          <a:xfrm>
            <a:off x="5117090" y="2953785"/>
            <a:ext cx="1988301" cy="541359"/>
          </a:xfrm>
          <a:prstGeom prst="round2SameRect">
            <a:avLst/>
          </a:prstGeom>
          <a:solidFill>
            <a:schemeClr val="accent3"/>
          </a:solidFill>
          <a:ln w="3175" algn="ctr">
            <a:solidFill>
              <a:srgbClr val="41598F"/>
            </a:solidFill>
            <a:miter lim="800000"/>
            <a:headEnd/>
            <a:tailEnd/>
          </a:ln>
        </p:spPr>
        <p:txBody>
          <a:bodyPr lIns="457200" tIns="36525" rIns="73052" bIns="36525" anchor="ctr"/>
          <a:lstStyle>
            <a:defPPr>
              <a:defRPr lang="en-US"/>
            </a:defPPr>
            <a:lvl1pPr marL="0" algn="l" defTabSz="1042873" rtl="0" eaLnBrk="1" latinLnBrk="0" hangingPunct="1">
              <a:defRPr sz="2100" kern="1200">
                <a:solidFill>
                  <a:schemeClr val="tx1"/>
                </a:solidFill>
                <a:latin typeface="+mn-lt"/>
                <a:ea typeface="+mn-ea"/>
                <a:cs typeface="+mn-cs"/>
              </a:defRPr>
            </a:lvl1pPr>
            <a:lvl2pPr marL="521437" algn="l" defTabSz="1042873" rtl="0" eaLnBrk="1" latinLnBrk="0" hangingPunct="1">
              <a:defRPr sz="2100" kern="1200">
                <a:solidFill>
                  <a:schemeClr val="tx1"/>
                </a:solidFill>
                <a:latin typeface="+mn-lt"/>
                <a:ea typeface="+mn-ea"/>
                <a:cs typeface="+mn-cs"/>
              </a:defRPr>
            </a:lvl2pPr>
            <a:lvl3pPr marL="1042873" algn="l" defTabSz="1042873" rtl="0" eaLnBrk="1" latinLnBrk="0" hangingPunct="1">
              <a:defRPr sz="2100" kern="1200">
                <a:solidFill>
                  <a:schemeClr val="tx1"/>
                </a:solidFill>
                <a:latin typeface="+mn-lt"/>
                <a:ea typeface="+mn-ea"/>
                <a:cs typeface="+mn-cs"/>
              </a:defRPr>
            </a:lvl3pPr>
            <a:lvl4pPr marL="1564310" algn="l" defTabSz="1042873" rtl="0" eaLnBrk="1" latinLnBrk="0" hangingPunct="1">
              <a:defRPr sz="2100" kern="1200">
                <a:solidFill>
                  <a:schemeClr val="tx1"/>
                </a:solidFill>
                <a:latin typeface="+mn-lt"/>
                <a:ea typeface="+mn-ea"/>
                <a:cs typeface="+mn-cs"/>
              </a:defRPr>
            </a:lvl4pPr>
            <a:lvl5pPr marL="2085746" algn="l" defTabSz="1042873" rtl="0" eaLnBrk="1" latinLnBrk="0" hangingPunct="1">
              <a:defRPr sz="2100" kern="1200">
                <a:solidFill>
                  <a:schemeClr val="tx1"/>
                </a:solidFill>
                <a:latin typeface="+mn-lt"/>
                <a:ea typeface="+mn-ea"/>
                <a:cs typeface="+mn-cs"/>
              </a:defRPr>
            </a:lvl5pPr>
            <a:lvl6pPr marL="2607183" algn="l" defTabSz="1042873" rtl="0" eaLnBrk="1" latinLnBrk="0" hangingPunct="1">
              <a:defRPr sz="2100" kern="1200">
                <a:solidFill>
                  <a:schemeClr val="tx1"/>
                </a:solidFill>
                <a:latin typeface="+mn-lt"/>
                <a:ea typeface="+mn-ea"/>
                <a:cs typeface="+mn-cs"/>
              </a:defRPr>
            </a:lvl6pPr>
            <a:lvl7pPr marL="3128620" algn="l" defTabSz="1042873" rtl="0" eaLnBrk="1" latinLnBrk="0" hangingPunct="1">
              <a:defRPr sz="2100" kern="1200">
                <a:solidFill>
                  <a:schemeClr val="tx1"/>
                </a:solidFill>
                <a:latin typeface="+mn-lt"/>
                <a:ea typeface="+mn-ea"/>
                <a:cs typeface="+mn-cs"/>
              </a:defRPr>
            </a:lvl7pPr>
            <a:lvl8pPr marL="3650056" algn="l" defTabSz="1042873" rtl="0" eaLnBrk="1" latinLnBrk="0" hangingPunct="1">
              <a:defRPr sz="2100" kern="1200">
                <a:solidFill>
                  <a:schemeClr val="tx1"/>
                </a:solidFill>
                <a:latin typeface="+mn-lt"/>
                <a:ea typeface="+mn-ea"/>
                <a:cs typeface="+mn-cs"/>
              </a:defRPr>
            </a:lvl8pPr>
            <a:lvl9pPr marL="4171493" algn="l" defTabSz="1042873" rtl="0" eaLnBrk="1" latinLnBrk="0" hangingPunct="1">
              <a:defRPr sz="2100" kern="1200">
                <a:solidFill>
                  <a:schemeClr val="tx1"/>
                </a:solidFill>
                <a:latin typeface="+mn-lt"/>
                <a:ea typeface="+mn-ea"/>
                <a:cs typeface="+mn-cs"/>
              </a:defRPr>
            </a:lvl9pPr>
          </a:lstStyle>
          <a:p>
            <a:pPr marL="0" marR="0" lvl="0" indent="0" algn="l" defTabSz="954854" rtl="0" eaLnBrk="0" fontAlgn="auto" latinLnBrk="0" hangingPunct="0">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Tax</a:t>
            </a:r>
          </a:p>
        </p:txBody>
      </p:sp>
      <p:sp>
        <p:nvSpPr>
          <p:cNvPr id="15" name="Text Box 245">
            <a:extLst>
              <a:ext uri="{FF2B5EF4-FFF2-40B4-BE49-F238E27FC236}">
                <a16:creationId xmlns:a16="http://schemas.microsoft.com/office/drawing/2014/main" id="{044A7AAF-FCE3-4172-ABB8-6E1D75A5D49A}"/>
              </a:ext>
            </a:extLst>
          </p:cNvPr>
          <p:cNvSpPr txBox="1">
            <a:spLocks noChangeArrowheads="1"/>
          </p:cNvSpPr>
          <p:nvPr/>
        </p:nvSpPr>
        <p:spPr bwMode="gray">
          <a:xfrm>
            <a:off x="610997" y="3490845"/>
            <a:ext cx="1988301" cy="1892498"/>
          </a:xfrm>
          <a:prstGeom prst="rect">
            <a:avLst/>
          </a:prstGeom>
          <a:noFill/>
          <a:ln w="3175" algn="ctr">
            <a:solidFill>
              <a:schemeClr val="accent3"/>
            </a:solidFill>
            <a:miter lim="800000"/>
            <a:headEnd/>
            <a:tailEnd/>
          </a:ln>
        </p:spPr>
        <p:txBody>
          <a:bodyPr lIns="108000" tIns="73196" rIns="36525" bIns="36525"/>
          <a:lstStyle>
            <a:defPPr>
              <a:defRPr lang="en-US"/>
            </a:defPPr>
            <a:lvl1pPr marL="0" algn="l" defTabSz="1042873" rtl="0" eaLnBrk="1" latinLnBrk="0" hangingPunct="1">
              <a:defRPr sz="2100" kern="1200">
                <a:solidFill>
                  <a:schemeClr val="tx1"/>
                </a:solidFill>
                <a:latin typeface="+mn-lt"/>
                <a:ea typeface="+mn-ea"/>
                <a:cs typeface="+mn-cs"/>
              </a:defRPr>
            </a:lvl1pPr>
            <a:lvl2pPr marL="521437" algn="l" defTabSz="1042873" rtl="0" eaLnBrk="1" latinLnBrk="0" hangingPunct="1">
              <a:defRPr sz="2100" kern="1200">
                <a:solidFill>
                  <a:schemeClr val="tx1"/>
                </a:solidFill>
                <a:latin typeface="+mn-lt"/>
                <a:ea typeface="+mn-ea"/>
                <a:cs typeface="+mn-cs"/>
              </a:defRPr>
            </a:lvl2pPr>
            <a:lvl3pPr marL="1042873" algn="l" defTabSz="1042873" rtl="0" eaLnBrk="1" latinLnBrk="0" hangingPunct="1">
              <a:defRPr sz="2100" kern="1200">
                <a:solidFill>
                  <a:schemeClr val="tx1"/>
                </a:solidFill>
                <a:latin typeface="+mn-lt"/>
                <a:ea typeface="+mn-ea"/>
                <a:cs typeface="+mn-cs"/>
              </a:defRPr>
            </a:lvl3pPr>
            <a:lvl4pPr marL="1564310" algn="l" defTabSz="1042873" rtl="0" eaLnBrk="1" latinLnBrk="0" hangingPunct="1">
              <a:defRPr sz="2100" kern="1200">
                <a:solidFill>
                  <a:schemeClr val="tx1"/>
                </a:solidFill>
                <a:latin typeface="+mn-lt"/>
                <a:ea typeface="+mn-ea"/>
                <a:cs typeface="+mn-cs"/>
              </a:defRPr>
            </a:lvl4pPr>
            <a:lvl5pPr marL="2085746" algn="l" defTabSz="1042873" rtl="0" eaLnBrk="1" latinLnBrk="0" hangingPunct="1">
              <a:defRPr sz="2100" kern="1200">
                <a:solidFill>
                  <a:schemeClr val="tx1"/>
                </a:solidFill>
                <a:latin typeface="+mn-lt"/>
                <a:ea typeface="+mn-ea"/>
                <a:cs typeface="+mn-cs"/>
              </a:defRPr>
            </a:lvl5pPr>
            <a:lvl6pPr marL="2607183" algn="l" defTabSz="1042873" rtl="0" eaLnBrk="1" latinLnBrk="0" hangingPunct="1">
              <a:defRPr sz="2100" kern="1200">
                <a:solidFill>
                  <a:schemeClr val="tx1"/>
                </a:solidFill>
                <a:latin typeface="+mn-lt"/>
                <a:ea typeface="+mn-ea"/>
                <a:cs typeface="+mn-cs"/>
              </a:defRPr>
            </a:lvl6pPr>
            <a:lvl7pPr marL="3128620" algn="l" defTabSz="1042873" rtl="0" eaLnBrk="1" latinLnBrk="0" hangingPunct="1">
              <a:defRPr sz="2100" kern="1200">
                <a:solidFill>
                  <a:schemeClr val="tx1"/>
                </a:solidFill>
                <a:latin typeface="+mn-lt"/>
                <a:ea typeface="+mn-ea"/>
                <a:cs typeface="+mn-cs"/>
              </a:defRPr>
            </a:lvl7pPr>
            <a:lvl8pPr marL="3650056" algn="l" defTabSz="1042873" rtl="0" eaLnBrk="1" latinLnBrk="0" hangingPunct="1">
              <a:defRPr sz="2100" kern="1200">
                <a:solidFill>
                  <a:schemeClr val="tx1"/>
                </a:solidFill>
                <a:latin typeface="+mn-lt"/>
                <a:ea typeface="+mn-ea"/>
                <a:cs typeface="+mn-cs"/>
              </a:defRPr>
            </a:lvl8pPr>
            <a:lvl9pPr marL="4171493" algn="l" defTabSz="1042873" rtl="0" eaLnBrk="1" latinLnBrk="0" hangingPunct="1">
              <a:defRPr sz="2100" kern="1200">
                <a:solidFill>
                  <a:schemeClr val="tx1"/>
                </a:solidFill>
                <a:latin typeface="+mn-lt"/>
                <a:ea typeface="+mn-ea"/>
                <a:cs typeface="+mn-cs"/>
              </a:defRPr>
            </a:lvl9pPr>
          </a:lstStyle>
          <a:p>
            <a:pPr marL="171450" marR="0" lvl="0" indent="-171450" algn="l" defTabSz="977856"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Strategy, Analytics and M&amp;A</a:t>
            </a:r>
          </a:p>
          <a:p>
            <a:pPr marL="171450" marR="0" lvl="0" indent="-171450" algn="l" defTabSz="977856"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Digital Customer &amp; Marketing</a:t>
            </a:r>
          </a:p>
          <a:p>
            <a:pPr marL="171450" marR="0" lvl="0" indent="-171450" algn="l" defTabSz="977856"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Core Business Operations </a:t>
            </a:r>
          </a:p>
          <a:p>
            <a:pPr marL="171450" marR="0" lvl="0" indent="-171450" algn="l" defTabSz="977856"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Human Capital</a:t>
            </a:r>
          </a:p>
          <a:p>
            <a:pPr marL="171450" marR="0" lvl="0" indent="-171450" algn="l" defTabSz="977856"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Enterprise, Technology &amp; Performance</a:t>
            </a:r>
          </a:p>
        </p:txBody>
      </p:sp>
      <p:sp>
        <p:nvSpPr>
          <p:cNvPr id="16" name="Text Box 41">
            <a:extLst>
              <a:ext uri="{FF2B5EF4-FFF2-40B4-BE49-F238E27FC236}">
                <a16:creationId xmlns:a16="http://schemas.microsoft.com/office/drawing/2014/main" id="{D027A37B-46D9-4FBD-8B84-AD8F45B7E34A}"/>
              </a:ext>
            </a:extLst>
          </p:cNvPr>
          <p:cNvSpPr txBox="1">
            <a:spLocks noChangeArrowheads="1"/>
          </p:cNvSpPr>
          <p:nvPr/>
        </p:nvSpPr>
        <p:spPr bwMode="auto">
          <a:xfrm>
            <a:off x="610997" y="2953785"/>
            <a:ext cx="1988301" cy="541359"/>
          </a:xfrm>
          <a:prstGeom prst="round2SameRect">
            <a:avLst/>
          </a:prstGeom>
          <a:solidFill>
            <a:schemeClr val="accent3"/>
          </a:solidFill>
          <a:ln w="3175" algn="ctr">
            <a:solidFill>
              <a:srgbClr val="41598F"/>
            </a:solidFill>
            <a:miter lim="800000"/>
            <a:headEnd/>
            <a:tailEnd/>
          </a:ln>
        </p:spPr>
        <p:txBody>
          <a:bodyPr lIns="457200" tIns="36525" rIns="73052" bIns="36525" anchor="ctr"/>
          <a:lstStyle>
            <a:defPPr>
              <a:defRPr lang="en-US"/>
            </a:defPPr>
            <a:lvl1pPr marL="0" algn="l" defTabSz="1042873" rtl="0" eaLnBrk="1" latinLnBrk="0" hangingPunct="1">
              <a:defRPr sz="2100" kern="1200">
                <a:solidFill>
                  <a:schemeClr val="tx1"/>
                </a:solidFill>
                <a:latin typeface="+mn-lt"/>
                <a:ea typeface="+mn-ea"/>
                <a:cs typeface="+mn-cs"/>
              </a:defRPr>
            </a:lvl1pPr>
            <a:lvl2pPr marL="521437" algn="l" defTabSz="1042873" rtl="0" eaLnBrk="1" latinLnBrk="0" hangingPunct="1">
              <a:defRPr sz="2100" kern="1200">
                <a:solidFill>
                  <a:schemeClr val="tx1"/>
                </a:solidFill>
                <a:latin typeface="+mn-lt"/>
                <a:ea typeface="+mn-ea"/>
                <a:cs typeface="+mn-cs"/>
              </a:defRPr>
            </a:lvl2pPr>
            <a:lvl3pPr marL="1042873" algn="l" defTabSz="1042873" rtl="0" eaLnBrk="1" latinLnBrk="0" hangingPunct="1">
              <a:defRPr sz="2100" kern="1200">
                <a:solidFill>
                  <a:schemeClr val="tx1"/>
                </a:solidFill>
                <a:latin typeface="+mn-lt"/>
                <a:ea typeface="+mn-ea"/>
                <a:cs typeface="+mn-cs"/>
              </a:defRPr>
            </a:lvl3pPr>
            <a:lvl4pPr marL="1564310" algn="l" defTabSz="1042873" rtl="0" eaLnBrk="1" latinLnBrk="0" hangingPunct="1">
              <a:defRPr sz="2100" kern="1200">
                <a:solidFill>
                  <a:schemeClr val="tx1"/>
                </a:solidFill>
                <a:latin typeface="+mn-lt"/>
                <a:ea typeface="+mn-ea"/>
                <a:cs typeface="+mn-cs"/>
              </a:defRPr>
            </a:lvl4pPr>
            <a:lvl5pPr marL="2085746" algn="l" defTabSz="1042873" rtl="0" eaLnBrk="1" latinLnBrk="0" hangingPunct="1">
              <a:defRPr sz="2100" kern="1200">
                <a:solidFill>
                  <a:schemeClr val="tx1"/>
                </a:solidFill>
                <a:latin typeface="+mn-lt"/>
                <a:ea typeface="+mn-ea"/>
                <a:cs typeface="+mn-cs"/>
              </a:defRPr>
            </a:lvl5pPr>
            <a:lvl6pPr marL="2607183" algn="l" defTabSz="1042873" rtl="0" eaLnBrk="1" latinLnBrk="0" hangingPunct="1">
              <a:defRPr sz="2100" kern="1200">
                <a:solidFill>
                  <a:schemeClr val="tx1"/>
                </a:solidFill>
                <a:latin typeface="+mn-lt"/>
                <a:ea typeface="+mn-ea"/>
                <a:cs typeface="+mn-cs"/>
              </a:defRPr>
            </a:lvl6pPr>
            <a:lvl7pPr marL="3128620" algn="l" defTabSz="1042873" rtl="0" eaLnBrk="1" latinLnBrk="0" hangingPunct="1">
              <a:defRPr sz="2100" kern="1200">
                <a:solidFill>
                  <a:schemeClr val="tx1"/>
                </a:solidFill>
                <a:latin typeface="+mn-lt"/>
                <a:ea typeface="+mn-ea"/>
                <a:cs typeface="+mn-cs"/>
              </a:defRPr>
            </a:lvl7pPr>
            <a:lvl8pPr marL="3650056" algn="l" defTabSz="1042873" rtl="0" eaLnBrk="1" latinLnBrk="0" hangingPunct="1">
              <a:defRPr sz="2100" kern="1200">
                <a:solidFill>
                  <a:schemeClr val="tx1"/>
                </a:solidFill>
                <a:latin typeface="+mn-lt"/>
                <a:ea typeface="+mn-ea"/>
                <a:cs typeface="+mn-cs"/>
              </a:defRPr>
            </a:lvl8pPr>
            <a:lvl9pPr marL="4171493" algn="l" defTabSz="1042873" rtl="0" eaLnBrk="1" latinLnBrk="0" hangingPunct="1">
              <a:defRPr sz="2100" kern="1200">
                <a:solidFill>
                  <a:schemeClr val="tx1"/>
                </a:solidFill>
                <a:latin typeface="+mn-lt"/>
                <a:ea typeface="+mn-ea"/>
                <a:cs typeface="+mn-cs"/>
              </a:defRPr>
            </a:lvl9pPr>
          </a:lstStyle>
          <a:p>
            <a:pPr marL="0" marR="0" lvl="0" indent="0" algn="l" defTabSz="954854" rtl="0" eaLnBrk="0" fontAlgn="auto" latinLnBrk="0" hangingPunct="0">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rPr>
              <a:t>Consulting</a:t>
            </a:r>
          </a:p>
        </p:txBody>
      </p:sp>
      <p:sp>
        <p:nvSpPr>
          <p:cNvPr id="17" name="Text Box 245">
            <a:extLst>
              <a:ext uri="{FF2B5EF4-FFF2-40B4-BE49-F238E27FC236}">
                <a16:creationId xmlns:a16="http://schemas.microsoft.com/office/drawing/2014/main" id="{CDB6C40E-288D-477F-BFF0-B3354B752221}"/>
              </a:ext>
            </a:extLst>
          </p:cNvPr>
          <p:cNvSpPr txBox="1">
            <a:spLocks noChangeArrowheads="1"/>
          </p:cNvSpPr>
          <p:nvPr/>
        </p:nvSpPr>
        <p:spPr bwMode="gray">
          <a:xfrm>
            <a:off x="2813815" y="3490845"/>
            <a:ext cx="1988301" cy="1899890"/>
          </a:xfrm>
          <a:prstGeom prst="rect">
            <a:avLst/>
          </a:prstGeom>
          <a:noFill/>
          <a:ln w="3175" algn="ctr">
            <a:solidFill>
              <a:schemeClr val="accent5"/>
            </a:solidFill>
            <a:miter lim="800000"/>
            <a:headEnd/>
            <a:tailEnd/>
          </a:ln>
        </p:spPr>
        <p:txBody>
          <a:bodyPr lIns="108000" tIns="73196" rIns="36525" bIns="36525"/>
          <a:lstStyle>
            <a:defPPr>
              <a:defRPr lang="en-US"/>
            </a:defPPr>
            <a:lvl1pPr marL="0" algn="l" defTabSz="1042873" rtl="0" eaLnBrk="1" latinLnBrk="0" hangingPunct="1">
              <a:defRPr sz="2100" kern="1200">
                <a:solidFill>
                  <a:schemeClr val="tx1"/>
                </a:solidFill>
                <a:latin typeface="+mn-lt"/>
                <a:ea typeface="+mn-ea"/>
                <a:cs typeface="+mn-cs"/>
              </a:defRPr>
            </a:lvl1pPr>
            <a:lvl2pPr marL="521437" algn="l" defTabSz="1042873" rtl="0" eaLnBrk="1" latinLnBrk="0" hangingPunct="1">
              <a:defRPr sz="2100" kern="1200">
                <a:solidFill>
                  <a:schemeClr val="tx1"/>
                </a:solidFill>
                <a:latin typeface="+mn-lt"/>
                <a:ea typeface="+mn-ea"/>
                <a:cs typeface="+mn-cs"/>
              </a:defRPr>
            </a:lvl2pPr>
            <a:lvl3pPr marL="1042873" algn="l" defTabSz="1042873" rtl="0" eaLnBrk="1" latinLnBrk="0" hangingPunct="1">
              <a:defRPr sz="2100" kern="1200">
                <a:solidFill>
                  <a:schemeClr val="tx1"/>
                </a:solidFill>
                <a:latin typeface="+mn-lt"/>
                <a:ea typeface="+mn-ea"/>
                <a:cs typeface="+mn-cs"/>
              </a:defRPr>
            </a:lvl3pPr>
            <a:lvl4pPr marL="1564310" algn="l" defTabSz="1042873" rtl="0" eaLnBrk="1" latinLnBrk="0" hangingPunct="1">
              <a:defRPr sz="2100" kern="1200">
                <a:solidFill>
                  <a:schemeClr val="tx1"/>
                </a:solidFill>
                <a:latin typeface="+mn-lt"/>
                <a:ea typeface="+mn-ea"/>
                <a:cs typeface="+mn-cs"/>
              </a:defRPr>
            </a:lvl4pPr>
            <a:lvl5pPr marL="2085746" algn="l" defTabSz="1042873" rtl="0" eaLnBrk="1" latinLnBrk="0" hangingPunct="1">
              <a:defRPr sz="2100" kern="1200">
                <a:solidFill>
                  <a:schemeClr val="tx1"/>
                </a:solidFill>
                <a:latin typeface="+mn-lt"/>
                <a:ea typeface="+mn-ea"/>
                <a:cs typeface="+mn-cs"/>
              </a:defRPr>
            </a:lvl5pPr>
            <a:lvl6pPr marL="2607183" algn="l" defTabSz="1042873" rtl="0" eaLnBrk="1" latinLnBrk="0" hangingPunct="1">
              <a:defRPr sz="2100" kern="1200">
                <a:solidFill>
                  <a:schemeClr val="tx1"/>
                </a:solidFill>
                <a:latin typeface="+mn-lt"/>
                <a:ea typeface="+mn-ea"/>
                <a:cs typeface="+mn-cs"/>
              </a:defRPr>
            </a:lvl6pPr>
            <a:lvl7pPr marL="3128620" algn="l" defTabSz="1042873" rtl="0" eaLnBrk="1" latinLnBrk="0" hangingPunct="1">
              <a:defRPr sz="2100" kern="1200">
                <a:solidFill>
                  <a:schemeClr val="tx1"/>
                </a:solidFill>
                <a:latin typeface="+mn-lt"/>
                <a:ea typeface="+mn-ea"/>
                <a:cs typeface="+mn-cs"/>
              </a:defRPr>
            </a:lvl7pPr>
            <a:lvl8pPr marL="3650056" algn="l" defTabSz="1042873" rtl="0" eaLnBrk="1" latinLnBrk="0" hangingPunct="1">
              <a:defRPr sz="2100" kern="1200">
                <a:solidFill>
                  <a:schemeClr val="tx1"/>
                </a:solidFill>
                <a:latin typeface="+mn-lt"/>
                <a:ea typeface="+mn-ea"/>
                <a:cs typeface="+mn-cs"/>
              </a:defRPr>
            </a:lvl8pPr>
            <a:lvl9pPr marL="4171493" algn="l" defTabSz="1042873" rtl="0" eaLnBrk="1" latinLnBrk="0" hangingPunct="1">
              <a:defRPr sz="2100" kern="1200">
                <a:solidFill>
                  <a:schemeClr val="tx1"/>
                </a:solidFill>
                <a:latin typeface="+mn-lt"/>
                <a:ea typeface="+mn-ea"/>
                <a:cs typeface="+mn-cs"/>
              </a:defRPr>
            </a:lvl9pPr>
          </a:lstStyle>
          <a:p>
            <a:pPr marL="171450" marR="0" lvl="0" indent="-171450" algn="l" defTabSz="954854"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 Comprehensive Audit Process</a:t>
            </a:r>
          </a:p>
          <a:p>
            <a:pPr marL="171450" marR="0" lvl="0" indent="-171450" algn="l" defTabSz="954854"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Assurance Services</a:t>
            </a:r>
          </a:p>
          <a:p>
            <a:pPr marL="171450" marR="0" lvl="0" indent="-171450" algn="l" defTabSz="954854"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IN"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Specialised Audit Services Including Detailed Investigations</a:t>
            </a:r>
          </a:p>
        </p:txBody>
      </p:sp>
      <p:sp>
        <p:nvSpPr>
          <p:cNvPr id="18" name="Text Box 42">
            <a:extLst>
              <a:ext uri="{FF2B5EF4-FFF2-40B4-BE49-F238E27FC236}">
                <a16:creationId xmlns:a16="http://schemas.microsoft.com/office/drawing/2014/main" id="{F10C8379-D2E4-4A48-BC78-E413A129BA7D}"/>
              </a:ext>
            </a:extLst>
          </p:cNvPr>
          <p:cNvSpPr txBox="1">
            <a:spLocks noChangeArrowheads="1"/>
          </p:cNvSpPr>
          <p:nvPr/>
        </p:nvSpPr>
        <p:spPr bwMode="auto">
          <a:xfrm>
            <a:off x="2813815" y="2953785"/>
            <a:ext cx="1988301" cy="541359"/>
          </a:xfrm>
          <a:prstGeom prst="round2SameRect">
            <a:avLst/>
          </a:prstGeom>
          <a:solidFill>
            <a:schemeClr val="accent5"/>
          </a:solidFill>
          <a:ln w="3175" algn="ctr">
            <a:solidFill>
              <a:schemeClr val="accent3">
                <a:lumMod val="75000"/>
              </a:schemeClr>
            </a:solidFill>
            <a:miter lim="800000"/>
            <a:headEnd/>
            <a:tailEnd/>
          </a:ln>
        </p:spPr>
        <p:txBody>
          <a:bodyPr lIns="457200" tIns="36525" rIns="73052" bIns="36525" anchor="ctr"/>
          <a:lstStyle>
            <a:defPPr>
              <a:defRPr lang="en-US"/>
            </a:defPPr>
            <a:lvl1pPr marL="0" algn="l" defTabSz="1042873" rtl="0" eaLnBrk="1" latinLnBrk="0" hangingPunct="1">
              <a:defRPr sz="2100" kern="1200">
                <a:solidFill>
                  <a:schemeClr val="tx1"/>
                </a:solidFill>
                <a:latin typeface="+mn-lt"/>
                <a:ea typeface="+mn-ea"/>
                <a:cs typeface="+mn-cs"/>
              </a:defRPr>
            </a:lvl1pPr>
            <a:lvl2pPr marL="521437" algn="l" defTabSz="1042873" rtl="0" eaLnBrk="1" latinLnBrk="0" hangingPunct="1">
              <a:defRPr sz="2100" kern="1200">
                <a:solidFill>
                  <a:schemeClr val="tx1"/>
                </a:solidFill>
                <a:latin typeface="+mn-lt"/>
                <a:ea typeface="+mn-ea"/>
                <a:cs typeface="+mn-cs"/>
              </a:defRPr>
            </a:lvl2pPr>
            <a:lvl3pPr marL="1042873" algn="l" defTabSz="1042873" rtl="0" eaLnBrk="1" latinLnBrk="0" hangingPunct="1">
              <a:defRPr sz="2100" kern="1200">
                <a:solidFill>
                  <a:schemeClr val="tx1"/>
                </a:solidFill>
                <a:latin typeface="+mn-lt"/>
                <a:ea typeface="+mn-ea"/>
                <a:cs typeface="+mn-cs"/>
              </a:defRPr>
            </a:lvl3pPr>
            <a:lvl4pPr marL="1564310" algn="l" defTabSz="1042873" rtl="0" eaLnBrk="1" latinLnBrk="0" hangingPunct="1">
              <a:defRPr sz="2100" kern="1200">
                <a:solidFill>
                  <a:schemeClr val="tx1"/>
                </a:solidFill>
                <a:latin typeface="+mn-lt"/>
                <a:ea typeface="+mn-ea"/>
                <a:cs typeface="+mn-cs"/>
              </a:defRPr>
            </a:lvl4pPr>
            <a:lvl5pPr marL="2085746" algn="l" defTabSz="1042873" rtl="0" eaLnBrk="1" latinLnBrk="0" hangingPunct="1">
              <a:defRPr sz="2100" kern="1200">
                <a:solidFill>
                  <a:schemeClr val="tx1"/>
                </a:solidFill>
                <a:latin typeface="+mn-lt"/>
                <a:ea typeface="+mn-ea"/>
                <a:cs typeface="+mn-cs"/>
              </a:defRPr>
            </a:lvl5pPr>
            <a:lvl6pPr marL="2607183" algn="l" defTabSz="1042873" rtl="0" eaLnBrk="1" latinLnBrk="0" hangingPunct="1">
              <a:defRPr sz="2100" kern="1200">
                <a:solidFill>
                  <a:schemeClr val="tx1"/>
                </a:solidFill>
                <a:latin typeface="+mn-lt"/>
                <a:ea typeface="+mn-ea"/>
                <a:cs typeface="+mn-cs"/>
              </a:defRPr>
            </a:lvl6pPr>
            <a:lvl7pPr marL="3128620" algn="l" defTabSz="1042873" rtl="0" eaLnBrk="1" latinLnBrk="0" hangingPunct="1">
              <a:defRPr sz="2100" kern="1200">
                <a:solidFill>
                  <a:schemeClr val="tx1"/>
                </a:solidFill>
                <a:latin typeface="+mn-lt"/>
                <a:ea typeface="+mn-ea"/>
                <a:cs typeface="+mn-cs"/>
              </a:defRPr>
            </a:lvl7pPr>
            <a:lvl8pPr marL="3650056" algn="l" defTabSz="1042873" rtl="0" eaLnBrk="1" latinLnBrk="0" hangingPunct="1">
              <a:defRPr sz="2100" kern="1200">
                <a:solidFill>
                  <a:schemeClr val="tx1"/>
                </a:solidFill>
                <a:latin typeface="+mn-lt"/>
                <a:ea typeface="+mn-ea"/>
                <a:cs typeface="+mn-cs"/>
              </a:defRPr>
            </a:lvl8pPr>
            <a:lvl9pPr marL="4171493" algn="l" defTabSz="1042873" rtl="0" eaLnBrk="1" latinLnBrk="0" hangingPunct="1">
              <a:defRPr sz="2100" kern="1200">
                <a:solidFill>
                  <a:schemeClr val="tx1"/>
                </a:solidFill>
                <a:latin typeface="+mn-lt"/>
                <a:ea typeface="+mn-ea"/>
                <a:cs typeface="+mn-cs"/>
              </a:defRPr>
            </a:lvl9pPr>
          </a:lstStyle>
          <a:p>
            <a:pPr marL="0" marR="0" lvl="0" indent="0" algn="l" defTabSz="954854"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Assurance</a:t>
            </a:r>
          </a:p>
        </p:txBody>
      </p:sp>
      <p:cxnSp>
        <p:nvCxnSpPr>
          <p:cNvPr id="21" name="Elbow Connector 29">
            <a:extLst>
              <a:ext uri="{FF2B5EF4-FFF2-40B4-BE49-F238E27FC236}">
                <a16:creationId xmlns:a16="http://schemas.microsoft.com/office/drawing/2014/main" id="{0F942052-3F76-4403-B3BE-EDFCDCE24B33}"/>
              </a:ext>
            </a:extLst>
          </p:cNvPr>
          <p:cNvCxnSpPr>
            <a:cxnSpLocks/>
            <a:stCxn id="5" idx="2"/>
            <a:endCxn id="44" idx="3"/>
          </p:cNvCxnSpPr>
          <p:nvPr/>
        </p:nvCxnSpPr>
        <p:spPr>
          <a:xfrm rot="16200000" flipH="1">
            <a:off x="8224044" y="511694"/>
            <a:ext cx="317863" cy="4543472"/>
          </a:xfrm>
          <a:prstGeom prst="bentConnector3">
            <a:avLst>
              <a:gd name="adj1" fmla="val 50000"/>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22" name="Group 489">
            <a:extLst>
              <a:ext uri="{FF2B5EF4-FFF2-40B4-BE49-F238E27FC236}">
                <a16:creationId xmlns:a16="http://schemas.microsoft.com/office/drawing/2014/main" id="{83770B93-E193-4C6C-B6EE-A60B039F4A33}"/>
              </a:ext>
            </a:extLst>
          </p:cNvPr>
          <p:cNvGrpSpPr>
            <a:grpSpLocks noChangeAspect="1"/>
          </p:cNvGrpSpPr>
          <p:nvPr/>
        </p:nvGrpSpPr>
        <p:grpSpPr bwMode="auto">
          <a:xfrm>
            <a:off x="695539" y="3040588"/>
            <a:ext cx="366473" cy="366473"/>
            <a:chOff x="2920" y="2264"/>
            <a:chExt cx="340" cy="340"/>
          </a:xfrm>
          <a:solidFill>
            <a:schemeClr val="bg1"/>
          </a:solidFill>
        </p:grpSpPr>
        <p:sp>
          <p:nvSpPr>
            <p:cNvPr id="23" name="Freeform 490">
              <a:extLst>
                <a:ext uri="{FF2B5EF4-FFF2-40B4-BE49-F238E27FC236}">
                  <a16:creationId xmlns:a16="http://schemas.microsoft.com/office/drawing/2014/main" id="{B5C406B7-B427-4841-9EA6-B2EBE0D5A27B}"/>
                </a:ext>
              </a:extLst>
            </p:cNvPr>
            <p:cNvSpPr>
              <a:spLocks noEditPoints="1"/>
            </p:cNvSpPr>
            <p:nvPr/>
          </p:nvSpPr>
          <p:spPr bwMode="auto">
            <a:xfrm>
              <a:off x="2998" y="2363"/>
              <a:ext cx="184" cy="113"/>
            </a:xfrm>
            <a:custGeom>
              <a:avLst/>
              <a:gdLst>
                <a:gd name="T0" fmla="*/ 11 w 277"/>
                <a:gd name="T1" fmla="*/ 171 h 171"/>
                <a:gd name="T2" fmla="*/ 267 w 277"/>
                <a:gd name="T3" fmla="*/ 171 h 171"/>
                <a:gd name="T4" fmla="*/ 277 w 277"/>
                <a:gd name="T5" fmla="*/ 160 h 171"/>
                <a:gd name="T6" fmla="*/ 277 w 277"/>
                <a:gd name="T7" fmla="*/ 11 h 171"/>
                <a:gd name="T8" fmla="*/ 267 w 277"/>
                <a:gd name="T9" fmla="*/ 0 h 171"/>
                <a:gd name="T10" fmla="*/ 11 w 277"/>
                <a:gd name="T11" fmla="*/ 0 h 171"/>
                <a:gd name="T12" fmla="*/ 0 w 277"/>
                <a:gd name="T13" fmla="*/ 11 h 171"/>
                <a:gd name="T14" fmla="*/ 0 w 277"/>
                <a:gd name="T15" fmla="*/ 160 h 171"/>
                <a:gd name="T16" fmla="*/ 11 w 277"/>
                <a:gd name="T17" fmla="*/ 171 h 171"/>
                <a:gd name="T18" fmla="*/ 21 w 277"/>
                <a:gd name="T19" fmla="*/ 21 h 171"/>
                <a:gd name="T20" fmla="*/ 256 w 277"/>
                <a:gd name="T21" fmla="*/ 21 h 171"/>
                <a:gd name="T22" fmla="*/ 256 w 277"/>
                <a:gd name="T23" fmla="*/ 149 h 171"/>
                <a:gd name="T24" fmla="*/ 21 w 277"/>
                <a:gd name="T25" fmla="*/ 149 h 171"/>
                <a:gd name="T26" fmla="*/ 21 w 277"/>
                <a:gd name="T27" fmla="*/ 2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7" h="171">
                  <a:moveTo>
                    <a:pt x="11" y="171"/>
                  </a:moveTo>
                  <a:cubicBezTo>
                    <a:pt x="267" y="171"/>
                    <a:pt x="267" y="171"/>
                    <a:pt x="267" y="171"/>
                  </a:cubicBezTo>
                  <a:cubicBezTo>
                    <a:pt x="273" y="171"/>
                    <a:pt x="277" y="166"/>
                    <a:pt x="277" y="160"/>
                  </a:cubicBezTo>
                  <a:cubicBezTo>
                    <a:pt x="277" y="11"/>
                    <a:pt x="277" y="11"/>
                    <a:pt x="277" y="11"/>
                  </a:cubicBezTo>
                  <a:cubicBezTo>
                    <a:pt x="277" y="5"/>
                    <a:pt x="273" y="0"/>
                    <a:pt x="267" y="0"/>
                  </a:cubicBezTo>
                  <a:cubicBezTo>
                    <a:pt x="11" y="0"/>
                    <a:pt x="11" y="0"/>
                    <a:pt x="11" y="0"/>
                  </a:cubicBezTo>
                  <a:cubicBezTo>
                    <a:pt x="5" y="0"/>
                    <a:pt x="0" y="5"/>
                    <a:pt x="0" y="11"/>
                  </a:cubicBezTo>
                  <a:cubicBezTo>
                    <a:pt x="0" y="160"/>
                    <a:pt x="0" y="160"/>
                    <a:pt x="0" y="160"/>
                  </a:cubicBezTo>
                  <a:cubicBezTo>
                    <a:pt x="0" y="166"/>
                    <a:pt x="5" y="171"/>
                    <a:pt x="11" y="171"/>
                  </a:cubicBezTo>
                  <a:close/>
                  <a:moveTo>
                    <a:pt x="21" y="21"/>
                  </a:moveTo>
                  <a:cubicBezTo>
                    <a:pt x="256" y="21"/>
                    <a:pt x="256" y="21"/>
                    <a:pt x="256" y="21"/>
                  </a:cubicBezTo>
                  <a:cubicBezTo>
                    <a:pt x="256" y="149"/>
                    <a:pt x="256" y="149"/>
                    <a:pt x="256" y="149"/>
                  </a:cubicBezTo>
                  <a:cubicBezTo>
                    <a:pt x="21" y="149"/>
                    <a:pt x="21" y="149"/>
                    <a:pt x="21" y="149"/>
                  </a:cubicBezTo>
                  <a:lnTo>
                    <a:pt x="21"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8800" tIns="39400" rIns="78800" bIns="39400" numCol="1" anchor="t" anchorCtr="0" compatLnSpc="1">
              <a:prstTxWarp prst="textNoShape">
                <a:avLst/>
              </a:prstTxWarp>
            </a:bodyPr>
            <a:lstStyle/>
            <a:p>
              <a:pPr marL="0" marR="0" lvl="0" indent="0" algn="l" defTabSz="898709" rtl="0" eaLnBrk="1" fontAlgn="auto" latinLnBrk="0" hangingPunct="1">
                <a:lnSpc>
                  <a:spcPct val="100000"/>
                </a:lnSpc>
                <a:spcBef>
                  <a:spcPts val="0"/>
                </a:spcBef>
                <a:spcAft>
                  <a:spcPts val="0"/>
                </a:spcAft>
                <a:buClrTx/>
                <a:buSzTx/>
                <a:buFontTx/>
                <a:buNone/>
                <a:tabLst/>
                <a:defRPr/>
              </a:pPr>
              <a:endParaRPr kumimoji="0" lang="en-GB" sz="1769"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
          <p:nvSpPr>
            <p:cNvPr id="24" name="Freeform 491">
              <a:extLst>
                <a:ext uri="{FF2B5EF4-FFF2-40B4-BE49-F238E27FC236}">
                  <a16:creationId xmlns:a16="http://schemas.microsoft.com/office/drawing/2014/main" id="{4710AE5E-3A36-4B81-A0FF-3CC2440D6F5A}"/>
                </a:ext>
              </a:extLst>
            </p:cNvPr>
            <p:cNvSpPr>
              <a:spLocks/>
            </p:cNvSpPr>
            <p:nvPr/>
          </p:nvSpPr>
          <p:spPr bwMode="auto">
            <a:xfrm>
              <a:off x="2984" y="2490"/>
              <a:ext cx="212" cy="14"/>
            </a:xfrm>
            <a:custGeom>
              <a:avLst/>
              <a:gdLst>
                <a:gd name="T0" fmla="*/ 309 w 320"/>
                <a:gd name="T1" fmla="*/ 0 h 21"/>
                <a:gd name="T2" fmla="*/ 10 w 320"/>
                <a:gd name="T3" fmla="*/ 0 h 21"/>
                <a:gd name="T4" fmla="*/ 0 w 320"/>
                <a:gd name="T5" fmla="*/ 11 h 21"/>
                <a:gd name="T6" fmla="*/ 10 w 320"/>
                <a:gd name="T7" fmla="*/ 21 h 21"/>
                <a:gd name="T8" fmla="*/ 309 w 320"/>
                <a:gd name="T9" fmla="*/ 21 h 21"/>
                <a:gd name="T10" fmla="*/ 320 w 320"/>
                <a:gd name="T11" fmla="*/ 11 h 21"/>
                <a:gd name="T12" fmla="*/ 309 w 320"/>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320" h="21">
                  <a:moveTo>
                    <a:pt x="309" y="0"/>
                  </a:moveTo>
                  <a:cubicBezTo>
                    <a:pt x="10" y="0"/>
                    <a:pt x="10" y="0"/>
                    <a:pt x="10" y="0"/>
                  </a:cubicBezTo>
                  <a:cubicBezTo>
                    <a:pt x="4" y="0"/>
                    <a:pt x="0" y="5"/>
                    <a:pt x="0" y="11"/>
                  </a:cubicBezTo>
                  <a:cubicBezTo>
                    <a:pt x="0" y="17"/>
                    <a:pt x="4" y="21"/>
                    <a:pt x="10" y="21"/>
                  </a:cubicBezTo>
                  <a:cubicBezTo>
                    <a:pt x="309" y="21"/>
                    <a:pt x="309" y="21"/>
                    <a:pt x="309" y="21"/>
                  </a:cubicBezTo>
                  <a:cubicBezTo>
                    <a:pt x="315" y="21"/>
                    <a:pt x="320" y="17"/>
                    <a:pt x="320" y="11"/>
                  </a:cubicBezTo>
                  <a:cubicBezTo>
                    <a:pt x="320" y="5"/>
                    <a:pt x="315" y="0"/>
                    <a:pt x="309"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8800" tIns="39400" rIns="78800" bIns="39400" numCol="1" anchor="t" anchorCtr="0" compatLnSpc="1">
              <a:prstTxWarp prst="textNoShape">
                <a:avLst/>
              </a:prstTxWarp>
            </a:bodyPr>
            <a:lstStyle/>
            <a:p>
              <a:pPr marL="0" marR="0" lvl="0" indent="0" algn="l" defTabSz="898709" rtl="0" eaLnBrk="1" fontAlgn="auto" latinLnBrk="0" hangingPunct="1">
                <a:lnSpc>
                  <a:spcPct val="100000"/>
                </a:lnSpc>
                <a:spcBef>
                  <a:spcPts val="0"/>
                </a:spcBef>
                <a:spcAft>
                  <a:spcPts val="0"/>
                </a:spcAft>
                <a:buClrTx/>
                <a:buSzTx/>
                <a:buFontTx/>
                <a:buNone/>
                <a:tabLst/>
                <a:defRPr/>
              </a:pPr>
              <a:endParaRPr kumimoji="0" lang="en-GB" sz="1769"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
          <p:nvSpPr>
            <p:cNvPr id="25" name="Freeform 492">
              <a:extLst>
                <a:ext uri="{FF2B5EF4-FFF2-40B4-BE49-F238E27FC236}">
                  <a16:creationId xmlns:a16="http://schemas.microsoft.com/office/drawing/2014/main" id="{A6CDFC30-AA0D-4590-8AF2-D81079B3541A}"/>
                </a:ext>
              </a:extLst>
            </p:cNvPr>
            <p:cNvSpPr>
              <a:spLocks noEditPoints="1"/>
            </p:cNvSpPr>
            <p:nvPr/>
          </p:nvSpPr>
          <p:spPr bwMode="auto">
            <a:xfrm>
              <a:off x="2920" y="226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8800" tIns="39400" rIns="78800" bIns="39400" numCol="1" anchor="t" anchorCtr="0" compatLnSpc="1">
              <a:prstTxWarp prst="textNoShape">
                <a:avLst/>
              </a:prstTxWarp>
            </a:bodyPr>
            <a:lstStyle/>
            <a:p>
              <a:pPr marL="0" marR="0" lvl="0" indent="0" algn="l" defTabSz="898709" rtl="0" eaLnBrk="1" fontAlgn="auto" latinLnBrk="0" hangingPunct="1">
                <a:lnSpc>
                  <a:spcPct val="100000"/>
                </a:lnSpc>
                <a:spcBef>
                  <a:spcPts val="0"/>
                </a:spcBef>
                <a:spcAft>
                  <a:spcPts val="0"/>
                </a:spcAft>
                <a:buClrTx/>
                <a:buSzTx/>
                <a:buFontTx/>
                <a:buNone/>
                <a:tabLst/>
                <a:defRPr/>
              </a:pPr>
              <a:endParaRPr kumimoji="0" lang="en-GB" sz="1769"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grpSp>
      <p:grpSp>
        <p:nvGrpSpPr>
          <p:cNvPr id="26" name="Group 763">
            <a:extLst>
              <a:ext uri="{FF2B5EF4-FFF2-40B4-BE49-F238E27FC236}">
                <a16:creationId xmlns:a16="http://schemas.microsoft.com/office/drawing/2014/main" id="{65F8CECC-2B09-4E31-91EB-DBC42FAE94E8}"/>
              </a:ext>
            </a:extLst>
          </p:cNvPr>
          <p:cNvGrpSpPr>
            <a:grpSpLocks noChangeAspect="1"/>
          </p:cNvGrpSpPr>
          <p:nvPr/>
        </p:nvGrpSpPr>
        <p:grpSpPr bwMode="auto">
          <a:xfrm>
            <a:off x="5169944" y="3040758"/>
            <a:ext cx="368493" cy="367412"/>
            <a:chOff x="3203" y="3365"/>
            <a:chExt cx="341" cy="340"/>
          </a:xfrm>
          <a:solidFill>
            <a:schemeClr val="bg1"/>
          </a:solidFill>
        </p:grpSpPr>
        <p:sp>
          <p:nvSpPr>
            <p:cNvPr id="27" name="Freeform 764">
              <a:extLst>
                <a:ext uri="{FF2B5EF4-FFF2-40B4-BE49-F238E27FC236}">
                  <a16:creationId xmlns:a16="http://schemas.microsoft.com/office/drawing/2014/main" id="{1CB91BAD-2609-4BFB-A3E1-E82599C3E500}"/>
                </a:ext>
              </a:extLst>
            </p:cNvPr>
            <p:cNvSpPr>
              <a:spLocks noEditPoints="1"/>
            </p:cNvSpPr>
            <p:nvPr/>
          </p:nvSpPr>
          <p:spPr bwMode="auto">
            <a:xfrm>
              <a:off x="3295" y="3429"/>
              <a:ext cx="156" cy="212"/>
            </a:xfrm>
            <a:custGeom>
              <a:avLst/>
              <a:gdLst>
                <a:gd name="T0" fmla="*/ 11 w 235"/>
                <a:gd name="T1" fmla="*/ 0 h 320"/>
                <a:gd name="T2" fmla="*/ 0 w 235"/>
                <a:gd name="T3" fmla="*/ 309 h 320"/>
                <a:gd name="T4" fmla="*/ 224 w 235"/>
                <a:gd name="T5" fmla="*/ 320 h 320"/>
                <a:gd name="T6" fmla="*/ 235 w 235"/>
                <a:gd name="T7" fmla="*/ 10 h 320"/>
                <a:gd name="T8" fmla="*/ 214 w 235"/>
                <a:gd name="T9" fmla="*/ 298 h 320"/>
                <a:gd name="T10" fmla="*/ 22 w 235"/>
                <a:gd name="T11" fmla="*/ 21 h 320"/>
                <a:gd name="T12" fmla="*/ 214 w 235"/>
                <a:gd name="T13" fmla="*/ 298 h 320"/>
                <a:gd name="T14" fmla="*/ 182 w 235"/>
                <a:gd name="T15" fmla="*/ 106 h 320"/>
                <a:gd name="T16" fmla="*/ 192 w 235"/>
                <a:gd name="T17" fmla="*/ 53 h 320"/>
                <a:gd name="T18" fmla="*/ 54 w 235"/>
                <a:gd name="T19" fmla="*/ 42 h 320"/>
                <a:gd name="T20" fmla="*/ 43 w 235"/>
                <a:gd name="T21" fmla="*/ 96 h 320"/>
                <a:gd name="T22" fmla="*/ 64 w 235"/>
                <a:gd name="T23" fmla="*/ 64 h 320"/>
                <a:gd name="T24" fmla="*/ 171 w 235"/>
                <a:gd name="T25" fmla="*/ 85 h 320"/>
                <a:gd name="T26" fmla="*/ 64 w 235"/>
                <a:gd name="T27" fmla="*/ 64 h 320"/>
                <a:gd name="T28" fmla="*/ 54 w 235"/>
                <a:gd name="T29" fmla="*/ 128 h 320"/>
                <a:gd name="T30" fmla="*/ 54 w 235"/>
                <a:gd name="T31" fmla="*/ 149 h 320"/>
                <a:gd name="T32" fmla="*/ 107 w 235"/>
                <a:gd name="T33" fmla="*/ 138 h 320"/>
                <a:gd name="T34" fmla="*/ 86 w 235"/>
                <a:gd name="T35" fmla="*/ 138 h 320"/>
                <a:gd name="T36" fmla="*/ 107 w 235"/>
                <a:gd name="T37" fmla="*/ 138 h 320"/>
                <a:gd name="T38" fmla="*/ 139 w 235"/>
                <a:gd name="T39" fmla="*/ 149 h 320"/>
                <a:gd name="T40" fmla="*/ 139 w 235"/>
                <a:gd name="T41" fmla="*/ 128 h 320"/>
                <a:gd name="T42" fmla="*/ 192 w 235"/>
                <a:gd name="T43" fmla="*/ 138 h 320"/>
                <a:gd name="T44" fmla="*/ 171 w 235"/>
                <a:gd name="T45" fmla="*/ 138 h 320"/>
                <a:gd name="T46" fmla="*/ 192 w 235"/>
                <a:gd name="T47" fmla="*/ 138 h 320"/>
                <a:gd name="T48" fmla="*/ 54 w 235"/>
                <a:gd name="T49" fmla="*/ 170 h 320"/>
                <a:gd name="T50" fmla="*/ 54 w 235"/>
                <a:gd name="T51" fmla="*/ 192 h 320"/>
                <a:gd name="T52" fmla="*/ 107 w 235"/>
                <a:gd name="T53" fmla="*/ 181 h 320"/>
                <a:gd name="T54" fmla="*/ 86 w 235"/>
                <a:gd name="T55" fmla="*/ 181 h 320"/>
                <a:gd name="T56" fmla="*/ 107 w 235"/>
                <a:gd name="T57" fmla="*/ 181 h 320"/>
                <a:gd name="T58" fmla="*/ 139 w 235"/>
                <a:gd name="T59" fmla="*/ 192 h 320"/>
                <a:gd name="T60" fmla="*/ 139 w 235"/>
                <a:gd name="T61" fmla="*/ 170 h 320"/>
                <a:gd name="T62" fmla="*/ 192 w 235"/>
                <a:gd name="T63" fmla="*/ 181 h 320"/>
                <a:gd name="T64" fmla="*/ 171 w 235"/>
                <a:gd name="T65" fmla="*/ 181 h 320"/>
                <a:gd name="T66" fmla="*/ 192 w 235"/>
                <a:gd name="T67" fmla="*/ 181 h 320"/>
                <a:gd name="T68" fmla="*/ 54 w 235"/>
                <a:gd name="T69" fmla="*/ 213 h 320"/>
                <a:gd name="T70" fmla="*/ 54 w 235"/>
                <a:gd name="T71" fmla="*/ 234 h 320"/>
                <a:gd name="T72" fmla="*/ 107 w 235"/>
                <a:gd name="T73" fmla="*/ 224 h 320"/>
                <a:gd name="T74" fmla="*/ 86 w 235"/>
                <a:gd name="T75" fmla="*/ 224 h 320"/>
                <a:gd name="T76" fmla="*/ 107 w 235"/>
                <a:gd name="T77" fmla="*/ 224 h 320"/>
                <a:gd name="T78" fmla="*/ 139 w 235"/>
                <a:gd name="T79" fmla="*/ 234 h 320"/>
                <a:gd name="T80" fmla="*/ 139 w 235"/>
                <a:gd name="T81" fmla="*/ 213 h 320"/>
                <a:gd name="T82" fmla="*/ 192 w 235"/>
                <a:gd name="T83" fmla="*/ 224 h 320"/>
                <a:gd name="T84" fmla="*/ 182 w 235"/>
                <a:gd name="T85" fmla="*/ 277 h 320"/>
                <a:gd name="T86" fmla="*/ 171 w 235"/>
                <a:gd name="T87" fmla="*/ 224 h 320"/>
                <a:gd name="T88" fmla="*/ 192 w 235"/>
                <a:gd name="T89" fmla="*/ 224 h 320"/>
                <a:gd name="T90" fmla="*/ 54 w 235"/>
                <a:gd name="T91" fmla="*/ 256 h 320"/>
                <a:gd name="T92" fmla="*/ 54 w 235"/>
                <a:gd name="T93" fmla="*/ 277 h 320"/>
                <a:gd name="T94" fmla="*/ 107 w 235"/>
                <a:gd name="T95" fmla="*/ 266 h 320"/>
                <a:gd name="T96" fmla="*/ 86 w 235"/>
                <a:gd name="T97" fmla="*/ 266 h 320"/>
                <a:gd name="T98" fmla="*/ 107 w 235"/>
                <a:gd name="T99" fmla="*/ 266 h 320"/>
                <a:gd name="T100" fmla="*/ 139 w 235"/>
                <a:gd name="T101" fmla="*/ 277 h 320"/>
                <a:gd name="T102" fmla="*/ 139 w 235"/>
                <a:gd name="T103" fmla="*/ 25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5" h="320">
                  <a:moveTo>
                    <a:pt x="224" y="0"/>
                  </a:moveTo>
                  <a:cubicBezTo>
                    <a:pt x="11" y="0"/>
                    <a:pt x="11" y="0"/>
                    <a:pt x="11" y="0"/>
                  </a:cubicBezTo>
                  <a:cubicBezTo>
                    <a:pt x="5" y="0"/>
                    <a:pt x="0" y="4"/>
                    <a:pt x="0" y="10"/>
                  </a:cubicBezTo>
                  <a:cubicBezTo>
                    <a:pt x="0" y="309"/>
                    <a:pt x="0" y="309"/>
                    <a:pt x="0" y="309"/>
                  </a:cubicBezTo>
                  <a:cubicBezTo>
                    <a:pt x="0" y="315"/>
                    <a:pt x="5" y="320"/>
                    <a:pt x="11" y="320"/>
                  </a:cubicBezTo>
                  <a:cubicBezTo>
                    <a:pt x="224" y="320"/>
                    <a:pt x="224" y="320"/>
                    <a:pt x="224" y="320"/>
                  </a:cubicBezTo>
                  <a:cubicBezTo>
                    <a:pt x="230" y="320"/>
                    <a:pt x="235" y="315"/>
                    <a:pt x="235" y="309"/>
                  </a:cubicBezTo>
                  <a:cubicBezTo>
                    <a:pt x="235" y="10"/>
                    <a:pt x="235" y="10"/>
                    <a:pt x="235" y="10"/>
                  </a:cubicBezTo>
                  <a:cubicBezTo>
                    <a:pt x="235" y="4"/>
                    <a:pt x="230" y="0"/>
                    <a:pt x="224" y="0"/>
                  </a:cubicBezTo>
                  <a:close/>
                  <a:moveTo>
                    <a:pt x="214" y="298"/>
                  </a:moveTo>
                  <a:cubicBezTo>
                    <a:pt x="22" y="298"/>
                    <a:pt x="22" y="298"/>
                    <a:pt x="22" y="298"/>
                  </a:cubicBezTo>
                  <a:cubicBezTo>
                    <a:pt x="22" y="21"/>
                    <a:pt x="22" y="21"/>
                    <a:pt x="22" y="21"/>
                  </a:cubicBezTo>
                  <a:cubicBezTo>
                    <a:pt x="214" y="21"/>
                    <a:pt x="214" y="21"/>
                    <a:pt x="214" y="21"/>
                  </a:cubicBezTo>
                  <a:lnTo>
                    <a:pt x="214" y="298"/>
                  </a:lnTo>
                  <a:close/>
                  <a:moveTo>
                    <a:pt x="54" y="106"/>
                  </a:moveTo>
                  <a:cubicBezTo>
                    <a:pt x="182" y="106"/>
                    <a:pt x="182" y="106"/>
                    <a:pt x="182" y="106"/>
                  </a:cubicBezTo>
                  <a:cubicBezTo>
                    <a:pt x="188" y="106"/>
                    <a:pt x="192" y="102"/>
                    <a:pt x="192" y="96"/>
                  </a:cubicBezTo>
                  <a:cubicBezTo>
                    <a:pt x="192" y="53"/>
                    <a:pt x="192" y="53"/>
                    <a:pt x="192" y="53"/>
                  </a:cubicBezTo>
                  <a:cubicBezTo>
                    <a:pt x="192" y="47"/>
                    <a:pt x="188" y="42"/>
                    <a:pt x="182" y="42"/>
                  </a:cubicBezTo>
                  <a:cubicBezTo>
                    <a:pt x="54" y="42"/>
                    <a:pt x="54" y="42"/>
                    <a:pt x="54" y="42"/>
                  </a:cubicBezTo>
                  <a:cubicBezTo>
                    <a:pt x="48" y="42"/>
                    <a:pt x="43" y="47"/>
                    <a:pt x="43" y="53"/>
                  </a:cubicBezTo>
                  <a:cubicBezTo>
                    <a:pt x="43" y="96"/>
                    <a:pt x="43" y="96"/>
                    <a:pt x="43" y="96"/>
                  </a:cubicBezTo>
                  <a:cubicBezTo>
                    <a:pt x="43" y="102"/>
                    <a:pt x="48" y="106"/>
                    <a:pt x="54" y="106"/>
                  </a:cubicBezTo>
                  <a:close/>
                  <a:moveTo>
                    <a:pt x="64" y="64"/>
                  </a:moveTo>
                  <a:cubicBezTo>
                    <a:pt x="171" y="64"/>
                    <a:pt x="171" y="64"/>
                    <a:pt x="171" y="64"/>
                  </a:cubicBezTo>
                  <a:cubicBezTo>
                    <a:pt x="171" y="85"/>
                    <a:pt x="171" y="85"/>
                    <a:pt x="171" y="85"/>
                  </a:cubicBezTo>
                  <a:cubicBezTo>
                    <a:pt x="64" y="85"/>
                    <a:pt x="64" y="85"/>
                    <a:pt x="64" y="85"/>
                  </a:cubicBezTo>
                  <a:lnTo>
                    <a:pt x="64" y="64"/>
                  </a:lnTo>
                  <a:close/>
                  <a:moveTo>
                    <a:pt x="43" y="138"/>
                  </a:moveTo>
                  <a:cubicBezTo>
                    <a:pt x="43" y="132"/>
                    <a:pt x="48" y="128"/>
                    <a:pt x="54" y="128"/>
                  </a:cubicBezTo>
                  <a:cubicBezTo>
                    <a:pt x="60" y="128"/>
                    <a:pt x="64" y="132"/>
                    <a:pt x="64" y="138"/>
                  </a:cubicBezTo>
                  <a:cubicBezTo>
                    <a:pt x="64" y="144"/>
                    <a:pt x="60" y="149"/>
                    <a:pt x="54" y="149"/>
                  </a:cubicBezTo>
                  <a:cubicBezTo>
                    <a:pt x="48" y="149"/>
                    <a:pt x="43" y="144"/>
                    <a:pt x="43" y="138"/>
                  </a:cubicBezTo>
                  <a:close/>
                  <a:moveTo>
                    <a:pt x="107" y="138"/>
                  </a:moveTo>
                  <a:cubicBezTo>
                    <a:pt x="107" y="144"/>
                    <a:pt x="102" y="149"/>
                    <a:pt x="96" y="149"/>
                  </a:cubicBezTo>
                  <a:cubicBezTo>
                    <a:pt x="90" y="149"/>
                    <a:pt x="86" y="144"/>
                    <a:pt x="86" y="138"/>
                  </a:cubicBezTo>
                  <a:cubicBezTo>
                    <a:pt x="86" y="132"/>
                    <a:pt x="90" y="128"/>
                    <a:pt x="96" y="128"/>
                  </a:cubicBezTo>
                  <a:cubicBezTo>
                    <a:pt x="102" y="128"/>
                    <a:pt x="107" y="132"/>
                    <a:pt x="107" y="138"/>
                  </a:cubicBezTo>
                  <a:close/>
                  <a:moveTo>
                    <a:pt x="150" y="138"/>
                  </a:moveTo>
                  <a:cubicBezTo>
                    <a:pt x="150" y="144"/>
                    <a:pt x="145" y="149"/>
                    <a:pt x="139" y="149"/>
                  </a:cubicBezTo>
                  <a:cubicBezTo>
                    <a:pt x="133" y="149"/>
                    <a:pt x="128" y="144"/>
                    <a:pt x="128" y="138"/>
                  </a:cubicBezTo>
                  <a:cubicBezTo>
                    <a:pt x="128" y="132"/>
                    <a:pt x="133" y="128"/>
                    <a:pt x="139" y="128"/>
                  </a:cubicBezTo>
                  <a:cubicBezTo>
                    <a:pt x="145" y="128"/>
                    <a:pt x="150" y="132"/>
                    <a:pt x="150" y="138"/>
                  </a:cubicBezTo>
                  <a:close/>
                  <a:moveTo>
                    <a:pt x="192" y="138"/>
                  </a:moveTo>
                  <a:cubicBezTo>
                    <a:pt x="192" y="144"/>
                    <a:pt x="188" y="149"/>
                    <a:pt x="182" y="149"/>
                  </a:cubicBezTo>
                  <a:cubicBezTo>
                    <a:pt x="176" y="149"/>
                    <a:pt x="171" y="144"/>
                    <a:pt x="171" y="138"/>
                  </a:cubicBezTo>
                  <a:cubicBezTo>
                    <a:pt x="171" y="132"/>
                    <a:pt x="176" y="128"/>
                    <a:pt x="182" y="128"/>
                  </a:cubicBezTo>
                  <a:cubicBezTo>
                    <a:pt x="188" y="128"/>
                    <a:pt x="192" y="132"/>
                    <a:pt x="192" y="138"/>
                  </a:cubicBezTo>
                  <a:close/>
                  <a:moveTo>
                    <a:pt x="43" y="181"/>
                  </a:moveTo>
                  <a:cubicBezTo>
                    <a:pt x="43" y="175"/>
                    <a:pt x="48" y="170"/>
                    <a:pt x="54" y="170"/>
                  </a:cubicBezTo>
                  <a:cubicBezTo>
                    <a:pt x="60" y="170"/>
                    <a:pt x="64" y="175"/>
                    <a:pt x="64" y="181"/>
                  </a:cubicBezTo>
                  <a:cubicBezTo>
                    <a:pt x="64" y="187"/>
                    <a:pt x="60" y="192"/>
                    <a:pt x="54" y="192"/>
                  </a:cubicBezTo>
                  <a:cubicBezTo>
                    <a:pt x="48" y="192"/>
                    <a:pt x="43" y="187"/>
                    <a:pt x="43" y="181"/>
                  </a:cubicBezTo>
                  <a:close/>
                  <a:moveTo>
                    <a:pt x="107" y="181"/>
                  </a:moveTo>
                  <a:cubicBezTo>
                    <a:pt x="107" y="187"/>
                    <a:pt x="102" y="192"/>
                    <a:pt x="96" y="192"/>
                  </a:cubicBezTo>
                  <a:cubicBezTo>
                    <a:pt x="90" y="192"/>
                    <a:pt x="86" y="187"/>
                    <a:pt x="86" y="181"/>
                  </a:cubicBezTo>
                  <a:cubicBezTo>
                    <a:pt x="86" y="175"/>
                    <a:pt x="90" y="170"/>
                    <a:pt x="96" y="170"/>
                  </a:cubicBezTo>
                  <a:cubicBezTo>
                    <a:pt x="102" y="170"/>
                    <a:pt x="107" y="175"/>
                    <a:pt x="107" y="181"/>
                  </a:cubicBezTo>
                  <a:close/>
                  <a:moveTo>
                    <a:pt x="150" y="181"/>
                  </a:moveTo>
                  <a:cubicBezTo>
                    <a:pt x="150" y="187"/>
                    <a:pt x="145" y="192"/>
                    <a:pt x="139" y="192"/>
                  </a:cubicBezTo>
                  <a:cubicBezTo>
                    <a:pt x="133" y="192"/>
                    <a:pt x="128" y="187"/>
                    <a:pt x="128" y="181"/>
                  </a:cubicBezTo>
                  <a:cubicBezTo>
                    <a:pt x="128" y="175"/>
                    <a:pt x="133" y="170"/>
                    <a:pt x="139" y="170"/>
                  </a:cubicBezTo>
                  <a:cubicBezTo>
                    <a:pt x="145" y="170"/>
                    <a:pt x="150" y="175"/>
                    <a:pt x="150" y="181"/>
                  </a:cubicBezTo>
                  <a:close/>
                  <a:moveTo>
                    <a:pt x="192" y="181"/>
                  </a:moveTo>
                  <a:cubicBezTo>
                    <a:pt x="192" y="187"/>
                    <a:pt x="188" y="192"/>
                    <a:pt x="182" y="192"/>
                  </a:cubicBezTo>
                  <a:cubicBezTo>
                    <a:pt x="176" y="192"/>
                    <a:pt x="171" y="187"/>
                    <a:pt x="171" y="181"/>
                  </a:cubicBezTo>
                  <a:cubicBezTo>
                    <a:pt x="171" y="175"/>
                    <a:pt x="176" y="170"/>
                    <a:pt x="182" y="170"/>
                  </a:cubicBezTo>
                  <a:cubicBezTo>
                    <a:pt x="188" y="170"/>
                    <a:pt x="192" y="175"/>
                    <a:pt x="192" y="181"/>
                  </a:cubicBezTo>
                  <a:close/>
                  <a:moveTo>
                    <a:pt x="43" y="224"/>
                  </a:moveTo>
                  <a:cubicBezTo>
                    <a:pt x="43" y="218"/>
                    <a:pt x="48" y="213"/>
                    <a:pt x="54" y="213"/>
                  </a:cubicBezTo>
                  <a:cubicBezTo>
                    <a:pt x="60" y="213"/>
                    <a:pt x="64" y="218"/>
                    <a:pt x="64" y="224"/>
                  </a:cubicBezTo>
                  <a:cubicBezTo>
                    <a:pt x="64" y="230"/>
                    <a:pt x="60" y="234"/>
                    <a:pt x="54" y="234"/>
                  </a:cubicBezTo>
                  <a:cubicBezTo>
                    <a:pt x="48" y="234"/>
                    <a:pt x="43" y="230"/>
                    <a:pt x="43" y="224"/>
                  </a:cubicBezTo>
                  <a:close/>
                  <a:moveTo>
                    <a:pt x="107" y="224"/>
                  </a:moveTo>
                  <a:cubicBezTo>
                    <a:pt x="107" y="230"/>
                    <a:pt x="102" y="234"/>
                    <a:pt x="96" y="234"/>
                  </a:cubicBezTo>
                  <a:cubicBezTo>
                    <a:pt x="90" y="234"/>
                    <a:pt x="86" y="230"/>
                    <a:pt x="86" y="224"/>
                  </a:cubicBezTo>
                  <a:cubicBezTo>
                    <a:pt x="86" y="218"/>
                    <a:pt x="90" y="213"/>
                    <a:pt x="96" y="213"/>
                  </a:cubicBezTo>
                  <a:cubicBezTo>
                    <a:pt x="102" y="213"/>
                    <a:pt x="107" y="218"/>
                    <a:pt x="107" y="224"/>
                  </a:cubicBezTo>
                  <a:close/>
                  <a:moveTo>
                    <a:pt x="150" y="224"/>
                  </a:moveTo>
                  <a:cubicBezTo>
                    <a:pt x="150" y="230"/>
                    <a:pt x="145" y="234"/>
                    <a:pt x="139" y="234"/>
                  </a:cubicBezTo>
                  <a:cubicBezTo>
                    <a:pt x="133" y="234"/>
                    <a:pt x="128" y="230"/>
                    <a:pt x="128" y="224"/>
                  </a:cubicBezTo>
                  <a:cubicBezTo>
                    <a:pt x="128" y="218"/>
                    <a:pt x="133" y="213"/>
                    <a:pt x="139" y="213"/>
                  </a:cubicBezTo>
                  <a:cubicBezTo>
                    <a:pt x="145" y="213"/>
                    <a:pt x="150" y="218"/>
                    <a:pt x="150" y="224"/>
                  </a:cubicBezTo>
                  <a:close/>
                  <a:moveTo>
                    <a:pt x="192" y="224"/>
                  </a:moveTo>
                  <a:cubicBezTo>
                    <a:pt x="192" y="266"/>
                    <a:pt x="192" y="266"/>
                    <a:pt x="192" y="266"/>
                  </a:cubicBezTo>
                  <a:cubicBezTo>
                    <a:pt x="192" y="272"/>
                    <a:pt x="188" y="277"/>
                    <a:pt x="182" y="277"/>
                  </a:cubicBezTo>
                  <a:cubicBezTo>
                    <a:pt x="176" y="277"/>
                    <a:pt x="171" y="272"/>
                    <a:pt x="171" y="266"/>
                  </a:cubicBezTo>
                  <a:cubicBezTo>
                    <a:pt x="171" y="224"/>
                    <a:pt x="171" y="224"/>
                    <a:pt x="171" y="224"/>
                  </a:cubicBezTo>
                  <a:cubicBezTo>
                    <a:pt x="171" y="218"/>
                    <a:pt x="176" y="213"/>
                    <a:pt x="182" y="213"/>
                  </a:cubicBezTo>
                  <a:cubicBezTo>
                    <a:pt x="188" y="213"/>
                    <a:pt x="192" y="218"/>
                    <a:pt x="192" y="224"/>
                  </a:cubicBezTo>
                  <a:close/>
                  <a:moveTo>
                    <a:pt x="43" y="266"/>
                  </a:moveTo>
                  <a:cubicBezTo>
                    <a:pt x="43" y="260"/>
                    <a:pt x="48" y="256"/>
                    <a:pt x="54" y="256"/>
                  </a:cubicBezTo>
                  <a:cubicBezTo>
                    <a:pt x="60" y="256"/>
                    <a:pt x="64" y="260"/>
                    <a:pt x="64" y="266"/>
                  </a:cubicBezTo>
                  <a:cubicBezTo>
                    <a:pt x="64" y="272"/>
                    <a:pt x="60" y="277"/>
                    <a:pt x="54" y="277"/>
                  </a:cubicBezTo>
                  <a:cubicBezTo>
                    <a:pt x="48" y="277"/>
                    <a:pt x="43" y="272"/>
                    <a:pt x="43" y="266"/>
                  </a:cubicBezTo>
                  <a:close/>
                  <a:moveTo>
                    <a:pt x="107" y="266"/>
                  </a:moveTo>
                  <a:cubicBezTo>
                    <a:pt x="107" y="272"/>
                    <a:pt x="102" y="277"/>
                    <a:pt x="96" y="277"/>
                  </a:cubicBezTo>
                  <a:cubicBezTo>
                    <a:pt x="90" y="277"/>
                    <a:pt x="86" y="272"/>
                    <a:pt x="86" y="266"/>
                  </a:cubicBezTo>
                  <a:cubicBezTo>
                    <a:pt x="86" y="260"/>
                    <a:pt x="90" y="256"/>
                    <a:pt x="96" y="256"/>
                  </a:cubicBezTo>
                  <a:cubicBezTo>
                    <a:pt x="102" y="256"/>
                    <a:pt x="107" y="260"/>
                    <a:pt x="107" y="266"/>
                  </a:cubicBezTo>
                  <a:close/>
                  <a:moveTo>
                    <a:pt x="150" y="266"/>
                  </a:moveTo>
                  <a:cubicBezTo>
                    <a:pt x="150" y="272"/>
                    <a:pt x="145" y="277"/>
                    <a:pt x="139" y="277"/>
                  </a:cubicBezTo>
                  <a:cubicBezTo>
                    <a:pt x="133" y="277"/>
                    <a:pt x="128" y="272"/>
                    <a:pt x="128" y="266"/>
                  </a:cubicBezTo>
                  <a:cubicBezTo>
                    <a:pt x="128" y="260"/>
                    <a:pt x="133" y="256"/>
                    <a:pt x="139" y="256"/>
                  </a:cubicBezTo>
                  <a:cubicBezTo>
                    <a:pt x="145" y="256"/>
                    <a:pt x="150" y="260"/>
                    <a:pt x="150" y="26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8800" tIns="39400" rIns="78800" bIns="39400" numCol="1" anchor="t" anchorCtr="0" compatLnSpc="1">
              <a:prstTxWarp prst="textNoShape">
                <a:avLst/>
              </a:prstTxWarp>
            </a:bodyPr>
            <a:lstStyle/>
            <a:p>
              <a:pPr marL="0" marR="0" lvl="0" indent="0" algn="l" defTabSz="898709" rtl="0" eaLnBrk="1" fontAlgn="auto" latinLnBrk="0" hangingPunct="1">
                <a:lnSpc>
                  <a:spcPct val="100000"/>
                </a:lnSpc>
                <a:spcBef>
                  <a:spcPts val="0"/>
                </a:spcBef>
                <a:spcAft>
                  <a:spcPts val="0"/>
                </a:spcAft>
                <a:buClrTx/>
                <a:buSzTx/>
                <a:buFontTx/>
                <a:buNone/>
                <a:tabLst/>
                <a:defRPr/>
              </a:pPr>
              <a:endParaRPr kumimoji="0" lang="en-GB" sz="1769"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
          <p:nvSpPr>
            <p:cNvPr id="28" name="Freeform 765">
              <a:extLst>
                <a:ext uri="{FF2B5EF4-FFF2-40B4-BE49-F238E27FC236}">
                  <a16:creationId xmlns:a16="http://schemas.microsoft.com/office/drawing/2014/main" id="{7AF6EBCF-BCF2-4F0D-A5F7-CB7568431971}"/>
                </a:ext>
              </a:extLst>
            </p:cNvPr>
            <p:cNvSpPr>
              <a:spLocks noEditPoints="1"/>
            </p:cNvSpPr>
            <p:nvPr/>
          </p:nvSpPr>
          <p:spPr bwMode="auto">
            <a:xfrm>
              <a:off x="3203" y="3365"/>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8800" tIns="39400" rIns="78800" bIns="39400" numCol="1" anchor="t" anchorCtr="0" compatLnSpc="1">
              <a:prstTxWarp prst="textNoShape">
                <a:avLst/>
              </a:prstTxWarp>
            </a:bodyPr>
            <a:lstStyle/>
            <a:p>
              <a:pPr marL="0" marR="0" lvl="0" indent="0" algn="l" defTabSz="898709" rtl="0" eaLnBrk="1" fontAlgn="auto" latinLnBrk="0" hangingPunct="1">
                <a:lnSpc>
                  <a:spcPct val="100000"/>
                </a:lnSpc>
                <a:spcBef>
                  <a:spcPts val="0"/>
                </a:spcBef>
                <a:spcAft>
                  <a:spcPts val="0"/>
                </a:spcAft>
                <a:buClrTx/>
                <a:buSzTx/>
                <a:buFontTx/>
                <a:buNone/>
                <a:tabLst/>
                <a:defRPr/>
              </a:pPr>
              <a:endParaRPr kumimoji="0" lang="en-GB" sz="1769"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grpSp>
      <p:grpSp>
        <p:nvGrpSpPr>
          <p:cNvPr id="29" name="Group 781">
            <a:extLst>
              <a:ext uri="{FF2B5EF4-FFF2-40B4-BE49-F238E27FC236}">
                <a16:creationId xmlns:a16="http://schemas.microsoft.com/office/drawing/2014/main" id="{DCF0B954-CB29-401E-AF18-422B0E631A8D}"/>
              </a:ext>
            </a:extLst>
          </p:cNvPr>
          <p:cNvGrpSpPr>
            <a:grpSpLocks noChangeAspect="1"/>
          </p:cNvGrpSpPr>
          <p:nvPr/>
        </p:nvGrpSpPr>
        <p:grpSpPr bwMode="auto">
          <a:xfrm>
            <a:off x="7484378" y="3040933"/>
            <a:ext cx="367062" cy="367062"/>
            <a:chOff x="7332" y="2771"/>
            <a:chExt cx="340" cy="340"/>
          </a:xfrm>
          <a:solidFill>
            <a:schemeClr val="bg1"/>
          </a:solidFill>
        </p:grpSpPr>
        <p:sp>
          <p:nvSpPr>
            <p:cNvPr id="30" name="Freeform 782">
              <a:extLst>
                <a:ext uri="{FF2B5EF4-FFF2-40B4-BE49-F238E27FC236}">
                  <a16:creationId xmlns:a16="http://schemas.microsoft.com/office/drawing/2014/main" id="{778D7B2A-0BF3-4BE4-AFEF-013F84FA200C}"/>
                </a:ext>
              </a:extLst>
            </p:cNvPr>
            <p:cNvSpPr>
              <a:spLocks noEditPoints="1"/>
            </p:cNvSpPr>
            <p:nvPr/>
          </p:nvSpPr>
          <p:spPr bwMode="auto">
            <a:xfrm>
              <a:off x="7332" y="277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8800" tIns="39400" rIns="78800" bIns="39400" numCol="1" anchor="t" anchorCtr="0" compatLnSpc="1">
              <a:prstTxWarp prst="textNoShape">
                <a:avLst/>
              </a:prstTxWarp>
            </a:bodyPr>
            <a:lstStyle/>
            <a:p>
              <a:pPr marL="0" marR="0" lvl="0" indent="0" algn="l" defTabSz="898709" rtl="0" eaLnBrk="1" fontAlgn="auto" latinLnBrk="0" hangingPunct="1">
                <a:lnSpc>
                  <a:spcPct val="100000"/>
                </a:lnSpc>
                <a:spcBef>
                  <a:spcPts val="0"/>
                </a:spcBef>
                <a:spcAft>
                  <a:spcPts val="0"/>
                </a:spcAft>
                <a:buClrTx/>
                <a:buSzTx/>
                <a:buFontTx/>
                <a:buNone/>
                <a:tabLst/>
                <a:defRPr/>
              </a:pPr>
              <a:endParaRPr kumimoji="0" lang="en-GB" sz="1769"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
          <p:nvSpPr>
            <p:cNvPr id="31" name="Freeform 783">
              <a:extLst>
                <a:ext uri="{FF2B5EF4-FFF2-40B4-BE49-F238E27FC236}">
                  <a16:creationId xmlns:a16="http://schemas.microsoft.com/office/drawing/2014/main" id="{E3EB3187-00E9-421B-A3A2-7A93303D736E}"/>
                </a:ext>
              </a:extLst>
            </p:cNvPr>
            <p:cNvSpPr>
              <a:spLocks noEditPoints="1"/>
            </p:cNvSpPr>
            <p:nvPr/>
          </p:nvSpPr>
          <p:spPr bwMode="auto">
            <a:xfrm>
              <a:off x="7436" y="2835"/>
              <a:ext cx="144" cy="212"/>
            </a:xfrm>
            <a:custGeom>
              <a:avLst/>
              <a:gdLst>
                <a:gd name="T0" fmla="*/ 216 w 216"/>
                <a:gd name="T1" fmla="*/ 277 h 320"/>
                <a:gd name="T2" fmla="*/ 195 w 216"/>
                <a:gd name="T3" fmla="*/ 277 h 320"/>
                <a:gd name="T4" fmla="*/ 184 w 216"/>
                <a:gd name="T5" fmla="*/ 245 h 320"/>
                <a:gd name="T6" fmla="*/ 173 w 216"/>
                <a:gd name="T7" fmla="*/ 266 h 320"/>
                <a:gd name="T8" fmla="*/ 152 w 216"/>
                <a:gd name="T9" fmla="*/ 266 h 320"/>
                <a:gd name="T10" fmla="*/ 141 w 216"/>
                <a:gd name="T11" fmla="*/ 224 h 320"/>
                <a:gd name="T12" fmla="*/ 131 w 216"/>
                <a:gd name="T13" fmla="*/ 266 h 320"/>
                <a:gd name="T14" fmla="*/ 109 w 216"/>
                <a:gd name="T15" fmla="*/ 266 h 320"/>
                <a:gd name="T16" fmla="*/ 99 w 216"/>
                <a:gd name="T17" fmla="*/ 160 h 320"/>
                <a:gd name="T18" fmla="*/ 88 w 216"/>
                <a:gd name="T19" fmla="*/ 298 h 320"/>
                <a:gd name="T20" fmla="*/ 82 w 216"/>
                <a:gd name="T21" fmla="*/ 312 h 320"/>
                <a:gd name="T22" fmla="*/ 53 w 216"/>
                <a:gd name="T23" fmla="*/ 275 h 320"/>
                <a:gd name="T24" fmla="*/ 31 w 216"/>
                <a:gd name="T25" fmla="*/ 256 h 320"/>
                <a:gd name="T26" fmla="*/ 25 w 216"/>
                <a:gd name="T27" fmla="*/ 260 h 320"/>
                <a:gd name="T28" fmla="*/ 32 w 216"/>
                <a:gd name="T29" fmla="*/ 284 h 320"/>
                <a:gd name="T30" fmla="*/ 36 w 216"/>
                <a:gd name="T31" fmla="*/ 319 h 320"/>
                <a:gd name="T32" fmla="*/ 22 w 216"/>
                <a:gd name="T33" fmla="*/ 314 h 320"/>
                <a:gd name="T34" fmla="*/ 5 w 216"/>
                <a:gd name="T35" fmla="*/ 252 h 320"/>
                <a:gd name="T36" fmla="*/ 49 w 216"/>
                <a:gd name="T37" fmla="*/ 239 h 320"/>
                <a:gd name="T38" fmla="*/ 67 w 216"/>
                <a:gd name="T39" fmla="*/ 170 h 320"/>
                <a:gd name="T40" fmla="*/ 131 w 216"/>
                <a:gd name="T41" fmla="*/ 170 h 320"/>
                <a:gd name="T42" fmla="*/ 141 w 216"/>
                <a:gd name="T43" fmla="*/ 202 h 320"/>
                <a:gd name="T44" fmla="*/ 184 w 216"/>
                <a:gd name="T45" fmla="*/ 224 h 320"/>
                <a:gd name="T46" fmla="*/ 24 w 216"/>
                <a:gd name="T47" fmla="*/ 42 h 320"/>
                <a:gd name="T48" fmla="*/ 24 w 216"/>
                <a:gd name="T49" fmla="*/ 0 h 320"/>
                <a:gd name="T50" fmla="*/ 24 w 216"/>
                <a:gd name="T51" fmla="*/ 42 h 320"/>
                <a:gd name="T52" fmla="*/ 120 w 216"/>
                <a:gd name="T53" fmla="*/ 21 h 320"/>
                <a:gd name="T54" fmla="*/ 78 w 216"/>
                <a:gd name="T55" fmla="*/ 21 h 320"/>
                <a:gd name="T56" fmla="*/ 173 w 216"/>
                <a:gd name="T57" fmla="*/ 42 h 320"/>
                <a:gd name="T58" fmla="*/ 173 w 216"/>
                <a:gd name="T59" fmla="*/ 0 h 320"/>
                <a:gd name="T60" fmla="*/ 173 w 216"/>
                <a:gd name="T61" fmla="*/ 42 h 320"/>
                <a:gd name="T62" fmla="*/ 45 w 216"/>
                <a:gd name="T63" fmla="*/ 96 h 320"/>
                <a:gd name="T64" fmla="*/ 3 w 216"/>
                <a:gd name="T65" fmla="*/ 96 h 320"/>
                <a:gd name="T66" fmla="*/ 24 w 216"/>
                <a:gd name="T67" fmla="*/ 191 h 320"/>
                <a:gd name="T68" fmla="*/ 24 w 216"/>
                <a:gd name="T69" fmla="*/ 149 h 320"/>
                <a:gd name="T70" fmla="*/ 24 w 216"/>
                <a:gd name="T71" fmla="*/ 191 h 320"/>
                <a:gd name="T72" fmla="*/ 120 w 216"/>
                <a:gd name="T73" fmla="*/ 96 h 320"/>
                <a:gd name="T74" fmla="*/ 78 w 216"/>
                <a:gd name="T75" fmla="*/ 96 h 320"/>
                <a:gd name="T76" fmla="*/ 173 w 216"/>
                <a:gd name="T77" fmla="*/ 117 h 320"/>
                <a:gd name="T78" fmla="*/ 173 w 216"/>
                <a:gd name="T79" fmla="*/ 75 h 320"/>
                <a:gd name="T80" fmla="*/ 173 w 216"/>
                <a:gd name="T81" fmla="*/ 117 h 320"/>
                <a:gd name="T82" fmla="*/ 194 w 216"/>
                <a:gd name="T83" fmla="*/ 170 h 320"/>
                <a:gd name="T84" fmla="*/ 152 w 216"/>
                <a:gd name="T85" fmla="*/ 170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16" h="320">
                  <a:moveTo>
                    <a:pt x="216" y="256"/>
                  </a:moveTo>
                  <a:cubicBezTo>
                    <a:pt x="216" y="277"/>
                    <a:pt x="216" y="277"/>
                    <a:pt x="216" y="277"/>
                  </a:cubicBezTo>
                  <a:cubicBezTo>
                    <a:pt x="216" y="283"/>
                    <a:pt x="211" y="288"/>
                    <a:pt x="205" y="288"/>
                  </a:cubicBezTo>
                  <a:cubicBezTo>
                    <a:pt x="199" y="288"/>
                    <a:pt x="195" y="283"/>
                    <a:pt x="195" y="277"/>
                  </a:cubicBezTo>
                  <a:cubicBezTo>
                    <a:pt x="195" y="256"/>
                    <a:pt x="195" y="256"/>
                    <a:pt x="195" y="256"/>
                  </a:cubicBezTo>
                  <a:cubicBezTo>
                    <a:pt x="195" y="250"/>
                    <a:pt x="190" y="245"/>
                    <a:pt x="184" y="245"/>
                  </a:cubicBezTo>
                  <a:cubicBezTo>
                    <a:pt x="178" y="245"/>
                    <a:pt x="173" y="250"/>
                    <a:pt x="173" y="256"/>
                  </a:cubicBezTo>
                  <a:cubicBezTo>
                    <a:pt x="173" y="266"/>
                    <a:pt x="173" y="266"/>
                    <a:pt x="173" y="266"/>
                  </a:cubicBezTo>
                  <a:cubicBezTo>
                    <a:pt x="173" y="272"/>
                    <a:pt x="169" y="277"/>
                    <a:pt x="163" y="277"/>
                  </a:cubicBezTo>
                  <a:cubicBezTo>
                    <a:pt x="157" y="277"/>
                    <a:pt x="152" y="272"/>
                    <a:pt x="152" y="266"/>
                  </a:cubicBezTo>
                  <a:cubicBezTo>
                    <a:pt x="152" y="234"/>
                    <a:pt x="152" y="234"/>
                    <a:pt x="152" y="234"/>
                  </a:cubicBezTo>
                  <a:cubicBezTo>
                    <a:pt x="152" y="228"/>
                    <a:pt x="147" y="224"/>
                    <a:pt x="141" y="224"/>
                  </a:cubicBezTo>
                  <a:cubicBezTo>
                    <a:pt x="135" y="224"/>
                    <a:pt x="131" y="228"/>
                    <a:pt x="131" y="234"/>
                  </a:cubicBezTo>
                  <a:cubicBezTo>
                    <a:pt x="131" y="266"/>
                    <a:pt x="131" y="266"/>
                    <a:pt x="131" y="266"/>
                  </a:cubicBezTo>
                  <a:cubicBezTo>
                    <a:pt x="131" y="272"/>
                    <a:pt x="126" y="277"/>
                    <a:pt x="120" y="277"/>
                  </a:cubicBezTo>
                  <a:cubicBezTo>
                    <a:pt x="114" y="277"/>
                    <a:pt x="109" y="272"/>
                    <a:pt x="109" y="266"/>
                  </a:cubicBezTo>
                  <a:cubicBezTo>
                    <a:pt x="109" y="170"/>
                    <a:pt x="109" y="170"/>
                    <a:pt x="109" y="170"/>
                  </a:cubicBezTo>
                  <a:cubicBezTo>
                    <a:pt x="109" y="164"/>
                    <a:pt x="105" y="160"/>
                    <a:pt x="99" y="160"/>
                  </a:cubicBezTo>
                  <a:cubicBezTo>
                    <a:pt x="93" y="160"/>
                    <a:pt x="88" y="164"/>
                    <a:pt x="88" y="170"/>
                  </a:cubicBezTo>
                  <a:cubicBezTo>
                    <a:pt x="88" y="298"/>
                    <a:pt x="88" y="298"/>
                    <a:pt x="88" y="298"/>
                  </a:cubicBezTo>
                  <a:cubicBezTo>
                    <a:pt x="88" y="299"/>
                    <a:pt x="88" y="299"/>
                    <a:pt x="88" y="300"/>
                  </a:cubicBezTo>
                  <a:cubicBezTo>
                    <a:pt x="89" y="305"/>
                    <a:pt x="87" y="310"/>
                    <a:pt x="82" y="312"/>
                  </a:cubicBezTo>
                  <a:cubicBezTo>
                    <a:pt x="77" y="314"/>
                    <a:pt x="70" y="312"/>
                    <a:pt x="68" y="307"/>
                  </a:cubicBezTo>
                  <a:cubicBezTo>
                    <a:pt x="53" y="275"/>
                    <a:pt x="53" y="275"/>
                    <a:pt x="53" y="275"/>
                  </a:cubicBezTo>
                  <a:cubicBezTo>
                    <a:pt x="50" y="269"/>
                    <a:pt x="46" y="262"/>
                    <a:pt x="38" y="258"/>
                  </a:cubicBezTo>
                  <a:cubicBezTo>
                    <a:pt x="36" y="257"/>
                    <a:pt x="33" y="255"/>
                    <a:pt x="31" y="256"/>
                  </a:cubicBezTo>
                  <a:cubicBezTo>
                    <a:pt x="31" y="256"/>
                    <a:pt x="30" y="256"/>
                    <a:pt x="29" y="257"/>
                  </a:cubicBezTo>
                  <a:cubicBezTo>
                    <a:pt x="26" y="257"/>
                    <a:pt x="25" y="259"/>
                    <a:pt x="25" y="260"/>
                  </a:cubicBezTo>
                  <a:cubicBezTo>
                    <a:pt x="23" y="264"/>
                    <a:pt x="24" y="272"/>
                    <a:pt x="31" y="283"/>
                  </a:cubicBezTo>
                  <a:cubicBezTo>
                    <a:pt x="31" y="283"/>
                    <a:pt x="32" y="283"/>
                    <a:pt x="32" y="284"/>
                  </a:cubicBezTo>
                  <a:cubicBezTo>
                    <a:pt x="41" y="305"/>
                    <a:pt x="41" y="305"/>
                    <a:pt x="41" y="305"/>
                  </a:cubicBezTo>
                  <a:cubicBezTo>
                    <a:pt x="44" y="310"/>
                    <a:pt x="42" y="316"/>
                    <a:pt x="36" y="319"/>
                  </a:cubicBezTo>
                  <a:cubicBezTo>
                    <a:pt x="35" y="319"/>
                    <a:pt x="33" y="320"/>
                    <a:pt x="32" y="320"/>
                  </a:cubicBezTo>
                  <a:cubicBezTo>
                    <a:pt x="28" y="320"/>
                    <a:pt x="24" y="317"/>
                    <a:pt x="22" y="314"/>
                  </a:cubicBezTo>
                  <a:cubicBezTo>
                    <a:pt x="13" y="293"/>
                    <a:pt x="13" y="293"/>
                    <a:pt x="13" y="293"/>
                  </a:cubicBezTo>
                  <a:cubicBezTo>
                    <a:pt x="3" y="278"/>
                    <a:pt x="0" y="263"/>
                    <a:pt x="5" y="252"/>
                  </a:cubicBezTo>
                  <a:cubicBezTo>
                    <a:pt x="8" y="244"/>
                    <a:pt x="15" y="238"/>
                    <a:pt x="23" y="236"/>
                  </a:cubicBezTo>
                  <a:cubicBezTo>
                    <a:pt x="31" y="233"/>
                    <a:pt x="40" y="234"/>
                    <a:pt x="49" y="239"/>
                  </a:cubicBezTo>
                  <a:cubicBezTo>
                    <a:pt x="56" y="243"/>
                    <a:pt x="61" y="249"/>
                    <a:pt x="67" y="256"/>
                  </a:cubicBezTo>
                  <a:cubicBezTo>
                    <a:pt x="67" y="170"/>
                    <a:pt x="67" y="170"/>
                    <a:pt x="67" y="170"/>
                  </a:cubicBezTo>
                  <a:cubicBezTo>
                    <a:pt x="67" y="153"/>
                    <a:pt x="81" y="138"/>
                    <a:pt x="99" y="138"/>
                  </a:cubicBezTo>
                  <a:cubicBezTo>
                    <a:pt x="116" y="138"/>
                    <a:pt x="131" y="153"/>
                    <a:pt x="131" y="170"/>
                  </a:cubicBezTo>
                  <a:cubicBezTo>
                    <a:pt x="131" y="204"/>
                    <a:pt x="131" y="204"/>
                    <a:pt x="131" y="204"/>
                  </a:cubicBezTo>
                  <a:cubicBezTo>
                    <a:pt x="135" y="203"/>
                    <a:pt x="138" y="202"/>
                    <a:pt x="141" y="202"/>
                  </a:cubicBezTo>
                  <a:cubicBezTo>
                    <a:pt x="156" y="202"/>
                    <a:pt x="168" y="212"/>
                    <a:pt x="172" y="226"/>
                  </a:cubicBezTo>
                  <a:cubicBezTo>
                    <a:pt x="176" y="225"/>
                    <a:pt x="180" y="224"/>
                    <a:pt x="184" y="224"/>
                  </a:cubicBezTo>
                  <a:cubicBezTo>
                    <a:pt x="202" y="224"/>
                    <a:pt x="216" y="238"/>
                    <a:pt x="216" y="256"/>
                  </a:cubicBezTo>
                  <a:close/>
                  <a:moveTo>
                    <a:pt x="24" y="42"/>
                  </a:moveTo>
                  <a:cubicBezTo>
                    <a:pt x="36" y="42"/>
                    <a:pt x="45" y="33"/>
                    <a:pt x="45" y="21"/>
                  </a:cubicBezTo>
                  <a:cubicBezTo>
                    <a:pt x="45" y="9"/>
                    <a:pt x="36" y="0"/>
                    <a:pt x="24" y="0"/>
                  </a:cubicBezTo>
                  <a:cubicBezTo>
                    <a:pt x="12" y="0"/>
                    <a:pt x="3" y="9"/>
                    <a:pt x="3" y="21"/>
                  </a:cubicBezTo>
                  <a:cubicBezTo>
                    <a:pt x="3" y="33"/>
                    <a:pt x="12" y="42"/>
                    <a:pt x="24" y="42"/>
                  </a:cubicBezTo>
                  <a:close/>
                  <a:moveTo>
                    <a:pt x="99" y="42"/>
                  </a:moveTo>
                  <a:cubicBezTo>
                    <a:pt x="110" y="42"/>
                    <a:pt x="120" y="33"/>
                    <a:pt x="120" y="21"/>
                  </a:cubicBezTo>
                  <a:cubicBezTo>
                    <a:pt x="120" y="9"/>
                    <a:pt x="110" y="0"/>
                    <a:pt x="99" y="0"/>
                  </a:cubicBezTo>
                  <a:cubicBezTo>
                    <a:pt x="87" y="0"/>
                    <a:pt x="78" y="9"/>
                    <a:pt x="78" y="21"/>
                  </a:cubicBezTo>
                  <a:cubicBezTo>
                    <a:pt x="78" y="33"/>
                    <a:pt x="87" y="42"/>
                    <a:pt x="99" y="42"/>
                  </a:cubicBezTo>
                  <a:close/>
                  <a:moveTo>
                    <a:pt x="173" y="42"/>
                  </a:moveTo>
                  <a:cubicBezTo>
                    <a:pt x="185" y="42"/>
                    <a:pt x="194" y="33"/>
                    <a:pt x="194" y="21"/>
                  </a:cubicBezTo>
                  <a:cubicBezTo>
                    <a:pt x="194" y="9"/>
                    <a:pt x="185" y="0"/>
                    <a:pt x="173" y="0"/>
                  </a:cubicBezTo>
                  <a:cubicBezTo>
                    <a:pt x="162" y="0"/>
                    <a:pt x="152" y="9"/>
                    <a:pt x="152" y="21"/>
                  </a:cubicBezTo>
                  <a:cubicBezTo>
                    <a:pt x="152" y="33"/>
                    <a:pt x="162" y="42"/>
                    <a:pt x="173" y="42"/>
                  </a:cubicBezTo>
                  <a:close/>
                  <a:moveTo>
                    <a:pt x="24" y="117"/>
                  </a:moveTo>
                  <a:cubicBezTo>
                    <a:pt x="36" y="117"/>
                    <a:pt x="45" y="107"/>
                    <a:pt x="45" y="96"/>
                  </a:cubicBezTo>
                  <a:cubicBezTo>
                    <a:pt x="45" y="84"/>
                    <a:pt x="36" y="75"/>
                    <a:pt x="24" y="75"/>
                  </a:cubicBezTo>
                  <a:cubicBezTo>
                    <a:pt x="12" y="75"/>
                    <a:pt x="3" y="84"/>
                    <a:pt x="3" y="96"/>
                  </a:cubicBezTo>
                  <a:cubicBezTo>
                    <a:pt x="3" y="107"/>
                    <a:pt x="12" y="117"/>
                    <a:pt x="24" y="117"/>
                  </a:cubicBezTo>
                  <a:close/>
                  <a:moveTo>
                    <a:pt x="24" y="191"/>
                  </a:moveTo>
                  <a:cubicBezTo>
                    <a:pt x="36" y="191"/>
                    <a:pt x="45" y="182"/>
                    <a:pt x="45" y="170"/>
                  </a:cubicBezTo>
                  <a:cubicBezTo>
                    <a:pt x="45" y="159"/>
                    <a:pt x="36" y="149"/>
                    <a:pt x="24" y="149"/>
                  </a:cubicBezTo>
                  <a:cubicBezTo>
                    <a:pt x="12" y="149"/>
                    <a:pt x="3" y="159"/>
                    <a:pt x="3" y="170"/>
                  </a:cubicBezTo>
                  <a:cubicBezTo>
                    <a:pt x="3" y="182"/>
                    <a:pt x="12" y="191"/>
                    <a:pt x="24" y="191"/>
                  </a:cubicBezTo>
                  <a:close/>
                  <a:moveTo>
                    <a:pt x="99" y="117"/>
                  </a:moveTo>
                  <a:cubicBezTo>
                    <a:pt x="110" y="117"/>
                    <a:pt x="120" y="107"/>
                    <a:pt x="120" y="96"/>
                  </a:cubicBezTo>
                  <a:cubicBezTo>
                    <a:pt x="120" y="84"/>
                    <a:pt x="110" y="75"/>
                    <a:pt x="99" y="75"/>
                  </a:cubicBezTo>
                  <a:cubicBezTo>
                    <a:pt x="87" y="75"/>
                    <a:pt x="78" y="84"/>
                    <a:pt x="78" y="96"/>
                  </a:cubicBezTo>
                  <a:cubicBezTo>
                    <a:pt x="78" y="107"/>
                    <a:pt x="87" y="117"/>
                    <a:pt x="99" y="117"/>
                  </a:cubicBezTo>
                  <a:close/>
                  <a:moveTo>
                    <a:pt x="173" y="117"/>
                  </a:moveTo>
                  <a:cubicBezTo>
                    <a:pt x="185" y="117"/>
                    <a:pt x="194" y="107"/>
                    <a:pt x="194" y="96"/>
                  </a:cubicBezTo>
                  <a:cubicBezTo>
                    <a:pt x="194" y="84"/>
                    <a:pt x="185" y="75"/>
                    <a:pt x="173" y="75"/>
                  </a:cubicBezTo>
                  <a:cubicBezTo>
                    <a:pt x="162" y="75"/>
                    <a:pt x="152" y="84"/>
                    <a:pt x="152" y="96"/>
                  </a:cubicBezTo>
                  <a:cubicBezTo>
                    <a:pt x="152" y="107"/>
                    <a:pt x="162" y="117"/>
                    <a:pt x="173" y="117"/>
                  </a:cubicBezTo>
                  <a:close/>
                  <a:moveTo>
                    <a:pt x="173" y="191"/>
                  </a:moveTo>
                  <a:cubicBezTo>
                    <a:pt x="185" y="191"/>
                    <a:pt x="194" y="182"/>
                    <a:pt x="194" y="170"/>
                  </a:cubicBezTo>
                  <a:cubicBezTo>
                    <a:pt x="194" y="159"/>
                    <a:pt x="185" y="149"/>
                    <a:pt x="173" y="149"/>
                  </a:cubicBezTo>
                  <a:cubicBezTo>
                    <a:pt x="162" y="149"/>
                    <a:pt x="152" y="159"/>
                    <a:pt x="152" y="170"/>
                  </a:cubicBezTo>
                  <a:cubicBezTo>
                    <a:pt x="152" y="182"/>
                    <a:pt x="162" y="191"/>
                    <a:pt x="173" y="19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8800" tIns="39400" rIns="78800" bIns="39400" numCol="1" anchor="t" anchorCtr="0" compatLnSpc="1">
              <a:prstTxWarp prst="textNoShape">
                <a:avLst/>
              </a:prstTxWarp>
            </a:bodyPr>
            <a:lstStyle/>
            <a:p>
              <a:pPr marL="0" marR="0" lvl="0" indent="0" algn="l" defTabSz="898709" rtl="0" eaLnBrk="1" fontAlgn="auto" latinLnBrk="0" hangingPunct="1">
                <a:lnSpc>
                  <a:spcPct val="100000"/>
                </a:lnSpc>
                <a:spcBef>
                  <a:spcPts val="0"/>
                </a:spcBef>
                <a:spcAft>
                  <a:spcPts val="0"/>
                </a:spcAft>
                <a:buClrTx/>
                <a:buSzTx/>
                <a:buFontTx/>
                <a:buNone/>
                <a:tabLst/>
                <a:defRPr/>
              </a:pPr>
              <a:endParaRPr kumimoji="0" lang="en-GB" sz="1769"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grpSp>
      <p:grpSp>
        <p:nvGrpSpPr>
          <p:cNvPr id="32" name="Group 192">
            <a:extLst>
              <a:ext uri="{FF2B5EF4-FFF2-40B4-BE49-F238E27FC236}">
                <a16:creationId xmlns:a16="http://schemas.microsoft.com/office/drawing/2014/main" id="{52612821-44D1-4AC1-9107-EF0F6A0A7EDE}"/>
              </a:ext>
            </a:extLst>
          </p:cNvPr>
          <p:cNvGrpSpPr>
            <a:grpSpLocks noChangeAspect="1"/>
          </p:cNvGrpSpPr>
          <p:nvPr/>
        </p:nvGrpSpPr>
        <p:grpSpPr bwMode="auto">
          <a:xfrm>
            <a:off x="9797381" y="3041867"/>
            <a:ext cx="365194" cy="365194"/>
            <a:chOff x="378" y="713"/>
            <a:chExt cx="340" cy="340"/>
          </a:xfrm>
          <a:solidFill>
            <a:schemeClr val="bg1"/>
          </a:solidFill>
        </p:grpSpPr>
        <p:sp>
          <p:nvSpPr>
            <p:cNvPr id="33" name="Freeform 193">
              <a:extLst>
                <a:ext uri="{FF2B5EF4-FFF2-40B4-BE49-F238E27FC236}">
                  <a16:creationId xmlns:a16="http://schemas.microsoft.com/office/drawing/2014/main" id="{05DC6A2E-2D25-4C13-8B77-E90EE438DDAE}"/>
                </a:ext>
              </a:extLst>
            </p:cNvPr>
            <p:cNvSpPr>
              <a:spLocks noEditPoints="1"/>
            </p:cNvSpPr>
            <p:nvPr/>
          </p:nvSpPr>
          <p:spPr bwMode="auto">
            <a:xfrm>
              <a:off x="378" y="71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8800" tIns="39400" rIns="78800" bIns="39400" numCol="1" anchor="t" anchorCtr="0" compatLnSpc="1">
              <a:prstTxWarp prst="textNoShape">
                <a:avLst/>
              </a:prstTxWarp>
            </a:bodyPr>
            <a:lstStyle/>
            <a:p>
              <a:pPr marL="0" marR="0" lvl="0" indent="0" algn="l" defTabSz="898709" rtl="0" eaLnBrk="1" fontAlgn="auto" latinLnBrk="0" hangingPunct="1">
                <a:lnSpc>
                  <a:spcPct val="100000"/>
                </a:lnSpc>
                <a:spcBef>
                  <a:spcPts val="0"/>
                </a:spcBef>
                <a:spcAft>
                  <a:spcPts val="0"/>
                </a:spcAft>
                <a:buClrTx/>
                <a:buSzTx/>
                <a:buFontTx/>
                <a:buNone/>
                <a:tabLst/>
                <a:defRPr/>
              </a:pPr>
              <a:endParaRPr kumimoji="0" lang="en-GB" sz="1769"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
          <p:nvSpPr>
            <p:cNvPr id="34" name="Freeform 194">
              <a:extLst>
                <a:ext uri="{FF2B5EF4-FFF2-40B4-BE49-F238E27FC236}">
                  <a16:creationId xmlns:a16="http://schemas.microsoft.com/office/drawing/2014/main" id="{14FBA916-A5FC-4C43-A13F-6C940A93C34E}"/>
                </a:ext>
              </a:extLst>
            </p:cNvPr>
            <p:cNvSpPr>
              <a:spLocks noEditPoints="1"/>
            </p:cNvSpPr>
            <p:nvPr/>
          </p:nvSpPr>
          <p:spPr bwMode="auto">
            <a:xfrm>
              <a:off x="442" y="812"/>
              <a:ext cx="212" cy="157"/>
            </a:xfrm>
            <a:custGeom>
              <a:avLst/>
              <a:gdLst>
                <a:gd name="T0" fmla="*/ 309 w 320"/>
                <a:gd name="T1" fmla="*/ 21 h 236"/>
                <a:gd name="T2" fmla="*/ 309 w 320"/>
                <a:gd name="T3" fmla="*/ 0 h 236"/>
                <a:gd name="T4" fmla="*/ 288 w 320"/>
                <a:gd name="T5" fmla="*/ 11 h 236"/>
                <a:gd name="T6" fmla="*/ 247 w 320"/>
                <a:gd name="T7" fmla="*/ 32 h 236"/>
                <a:gd name="T8" fmla="*/ 165 w 320"/>
                <a:gd name="T9" fmla="*/ 12 h 236"/>
                <a:gd name="T10" fmla="*/ 128 w 320"/>
                <a:gd name="T11" fmla="*/ 32 h 236"/>
                <a:gd name="T12" fmla="*/ 32 w 320"/>
                <a:gd name="T13" fmla="*/ 11 h 236"/>
                <a:gd name="T14" fmla="*/ 10 w 320"/>
                <a:gd name="T15" fmla="*/ 0 h 236"/>
                <a:gd name="T16" fmla="*/ 10 w 320"/>
                <a:gd name="T17" fmla="*/ 21 h 236"/>
                <a:gd name="T18" fmla="*/ 0 w 320"/>
                <a:gd name="T19" fmla="*/ 181 h 236"/>
                <a:gd name="T20" fmla="*/ 21 w 320"/>
                <a:gd name="T21" fmla="*/ 192 h 236"/>
                <a:gd name="T22" fmla="*/ 32 w 320"/>
                <a:gd name="T23" fmla="*/ 171 h 236"/>
                <a:gd name="T24" fmla="*/ 76 w 320"/>
                <a:gd name="T25" fmla="*/ 219 h 236"/>
                <a:gd name="T26" fmla="*/ 121 w 320"/>
                <a:gd name="T27" fmla="*/ 232 h 236"/>
                <a:gd name="T28" fmla="*/ 154 w 320"/>
                <a:gd name="T29" fmla="*/ 235 h 236"/>
                <a:gd name="T30" fmla="*/ 181 w 320"/>
                <a:gd name="T31" fmla="*/ 221 h 236"/>
                <a:gd name="T32" fmla="*/ 222 w 320"/>
                <a:gd name="T33" fmla="*/ 227 h 236"/>
                <a:gd name="T34" fmla="*/ 242 w 320"/>
                <a:gd name="T35" fmla="*/ 210 h 236"/>
                <a:gd name="T36" fmla="*/ 275 w 320"/>
                <a:gd name="T37" fmla="*/ 185 h 236"/>
                <a:gd name="T38" fmla="*/ 288 w 320"/>
                <a:gd name="T39" fmla="*/ 171 h 236"/>
                <a:gd name="T40" fmla="*/ 298 w 320"/>
                <a:gd name="T41" fmla="*/ 192 h 236"/>
                <a:gd name="T42" fmla="*/ 320 w 320"/>
                <a:gd name="T43" fmla="*/ 181 h 236"/>
                <a:gd name="T44" fmla="*/ 254 w 320"/>
                <a:gd name="T45" fmla="*/ 179 h 236"/>
                <a:gd name="T46" fmla="*/ 239 w 320"/>
                <a:gd name="T47" fmla="*/ 188 h 236"/>
                <a:gd name="T48" fmla="*/ 232 w 320"/>
                <a:gd name="T49" fmla="*/ 183 h 236"/>
                <a:gd name="T50" fmla="*/ 198 w 320"/>
                <a:gd name="T51" fmla="*/ 125 h 236"/>
                <a:gd name="T52" fmla="*/ 179 w 320"/>
                <a:gd name="T53" fmla="*/ 135 h 236"/>
                <a:gd name="T54" fmla="*/ 214 w 320"/>
                <a:gd name="T55" fmla="*/ 194 h 236"/>
                <a:gd name="T56" fmla="*/ 194 w 320"/>
                <a:gd name="T57" fmla="*/ 204 h 236"/>
                <a:gd name="T58" fmla="*/ 147 w 320"/>
                <a:gd name="T59" fmla="*/ 147 h 236"/>
                <a:gd name="T60" fmla="*/ 164 w 320"/>
                <a:gd name="T61" fmla="*/ 196 h 236"/>
                <a:gd name="T62" fmla="*/ 160 w 320"/>
                <a:gd name="T63" fmla="*/ 212 h 236"/>
                <a:gd name="T64" fmla="*/ 143 w 320"/>
                <a:gd name="T65" fmla="*/ 208 h 236"/>
                <a:gd name="T66" fmla="*/ 132 w 320"/>
                <a:gd name="T67" fmla="*/ 188 h 236"/>
                <a:gd name="T68" fmla="*/ 124 w 320"/>
                <a:gd name="T69" fmla="*/ 176 h 236"/>
                <a:gd name="T70" fmla="*/ 106 w 320"/>
                <a:gd name="T71" fmla="*/ 188 h 236"/>
                <a:gd name="T72" fmla="*/ 111 w 320"/>
                <a:gd name="T73" fmla="*/ 214 h 236"/>
                <a:gd name="T74" fmla="*/ 62 w 320"/>
                <a:gd name="T75" fmla="*/ 155 h 236"/>
                <a:gd name="T76" fmla="*/ 32 w 320"/>
                <a:gd name="T77" fmla="*/ 149 h 236"/>
                <a:gd name="T78" fmla="*/ 88 w 320"/>
                <a:gd name="T79" fmla="*/ 53 h 236"/>
                <a:gd name="T80" fmla="*/ 64 w 320"/>
                <a:gd name="T81" fmla="*/ 85 h 236"/>
                <a:gd name="T82" fmla="*/ 97 w 320"/>
                <a:gd name="T83" fmla="*/ 117 h 236"/>
                <a:gd name="T84" fmla="*/ 253 w 320"/>
                <a:gd name="T85" fmla="*/ 170 h 236"/>
                <a:gd name="T86" fmla="*/ 288 w 320"/>
                <a:gd name="T87" fmla="*/ 149 h 236"/>
                <a:gd name="T88" fmla="*/ 265 w 320"/>
                <a:gd name="T89" fmla="*/ 150 h 236"/>
                <a:gd name="T90" fmla="*/ 215 w 320"/>
                <a:gd name="T91" fmla="*/ 76 h 236"/>
                <a:gd name="T92" fmla="*/ 88 w 320"/>
                <a:gd name="T93" fmla="*/ 95 h 236"/>
                <a:gd name="T94" fmla="*/ 90 w 320"/>
                <a:gd name="T95" fmla="*/ 77 h 236"/>
                <a:gd name="T96" fmla="*/ 242 w 320"/>
                <a:gd name="T97" fmla="*/ 53 h 236"/>
                <a:gd name="T98" fmla="*/ 288 w 320"/>
                <a:gd name="T99" fmla="*/ 53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0" h="236">
                  <a:moveTo>
                    <a:pt x="309" y="171"/>
                  </a:moveTo>
                  <a:cubicBezTo>
                    <a:pt x="309" y="21"/>
                    <a:pt x="309" y="21"/>
                    <a:pt x="309" y="21"/>
                  </a:cubicBezTo>
                  <a:cubicBezTo>
                    <a:pt x="315" y="21"/>
                    <a:pt x="320" y="17"/>
                    <a:pt x="320" y="11"/>
                  </a:cubicBezTo>
                  <a:cubicBezTo>
                    <a:pt x="320" y="5"/>
                    <a:pt x="315" y="0"/>
                    <a:pt x="309" y="0"/>
                  </a:cubicBezTo>
                  <a:cubicBezTo>
                    <a:pt x="298" y="0"/>
                    <a:pt x="298" y="0"/>
                    <a:pt x="298" y="0"/>
                  </a:cubicBezTo>
                  <a:cubicBezTo>
                    <a:pt x="292" y="0"/>
                    <a:pt x="288" y="5"/>
                    <a:pt x="288" y="11"/>
                  </a:cubicBezTo>
                  <a:cubicBezTo>
                    <a:pt x="288" y="32"/>
                    <a:pt x="288" y="32"/>
                    <a:pt x="288" y="32"/>
                  </a:cubicBezTo>
                  <a:cubicBezTo>
                    <a:pt x="247" y="32"/>
                    <a:pt x="247" y="32"/>
                    <a:pt x="247" y="32"/>
                  </a:cubicBezTo>
                  <a:cubicBezTo>
                    <a:pt x="173" y="11"/>
                    <a:pt x="173" y="11"/>
                    <a:pt x="173" y="11"/>
                  </a:cubicBezTo>
                  <a:cubicBezTo>
                    <a:pt x="171" y="10"/>
                    <a:pt x="168" y="11"/>
                    <a:pt x="165" y="12"/>
                  </a:cubicBezTo>
                  <a:cubicBezTo>
                    <a:pt x="128" y="32"/>
                    <a:pt x="128" y="32"/>
                    <a:pt x="128" y="32"/>
                  </a:cubicBezTo>
                  <a:cubicBezTo>
                    <a:pt x="128" y="32"/>
                    <a:pt x="128" y="32"/>
                    <a:pt x="128" y="32"/>
                  </a:cubicBezTo>
                  <a:cubicBezTo>
                    <a:pt x="32" y="32"/>
                    <a:pt x="32" y="32"/>
                    <a:pt x="32" y="32"/>
                  </a:cubicBezTo>
                  <a:cubicBezTo>
                    <a:pt x="32" y="11"/>
                    <a:pt x="32" y="11"/>
                    <a:pt x="32" y="11"/>
                  </a:cubicBezTo>
                  <a:cubicBezTo>
                    <a:pt x="32" y="5"/>
                    <a:pt x="27" y="0"/>
                    <a:pt x="21" y="0"/>
                  </a:cubicBezTo>
                  <a:cubicBezTo>
                    <a:pt x="10" y="0"/>
                    <a:pt x="10" y="0"/>
                    <a:pt x="10" y="0"/>
                  </a:cubicBezTo>
                  <a:cubicBezTo>
                    <a:pt x="4" y="0"/>
                    <a:pt x="0" y="5"/>
                    <a:pt x="0" y="11"/>
                  </a:cubicBezTo>
                  <a:cubicBezTo>
                    <a:pt x="0" y="17"/>
                    <a:pt x="4" y="21"/>
                    <a:pt x="10" y="21"/>
                  </a:cubicBezTo>
                  <a:cubicBezTo>
                    <a:pt x="10" y="171"/>
                    <a:pt x="10" y="171"/>
                    <a:pt x="10" y="171"/>
                  </a:cubicBezTo>
                  <a:cubicBezTo>
                    <a:pt x="4" y="171"/>
                    <a:pt x="0" y="175"/>
                    <a:pt x="0" y="181"/>
                  </a:cubicBezTo>
                  <a:cubicBezTo>
                    <a:pt x="0" y="187"/>
                    <a:pt x="4" y="192"/>
                    <a:pt x="10" y="192"/>
                  </a:cubicBezTo>
                  <a:cubicBezTo>
                    <a:pt x="21" y="192"/>
                    <a:pt x="21" y="192"/>
                    <a:pt x="21" y="192"/>
                  </a:cubicBezTo>
                  <a:cubicBezTo>
                    <a:pt x="27" y="192"/>
                    <a:pt x="32" y="187"/>
                    <a:pt x="32" y="181"/>
                  </a:cubicBezTo>
                  <a:cubicBezTo>
                    <a:pt x="32" y="171"/>
                    <a:pt x="32" y="171"/>
                    <a:pt x="32" y="171"/>
                  </a:cubicBezTo>
                  <a:cubicBezTo>
                    <a:pt x="47" y="171"/>
                    <a:pt x="47" y="171"/>
                    <a:pt x="47" y="171"/>
                  </a:cubicBezTo>
                  <a:cubicBezTo>
                    <a:pt x="76" y="219"/>
                    <a:pt x="76" y="219"/>
                    <a:pt x="76" y="219"/>
                  </a:cubicBezTo>
                  <a:cubicBezTo>
                    <a:pt x="82" y="230"/>
                    <a:pt x="94" y="236"/>
                    <a:pt x="106" y="236"/>
                  </a:cubicBezTo>
                  <a:cubicBezTo>
                    <a:pt x="111" y="236"/>
                    <a:pt x="116" y="235"/>
                    <a:pt x="121" y="232"/>
                  </a:cubicBezTo>
                  <a:cubicBezTo>
                    <a:pt x="125" y="230"/>
                    <a:pt x="128" y="227"/>
                    <a:pt x="130" y="225"/>
                  </a:cubicBezTo>
                  <a:cubicBezTo>
                    <a:pt x="136" y="231"/>
                    <a:pt x="145" y="235"/>
                    <a:pt x="154" y="235"/>
                  </a:cubicBezTo>
                  <a:cubicBezTo>
                    <a:pt x="160" y="235"/>
                    <a:pt x="165" y="233"/>
                    <a:pt x="171" y="230"/>
                  </a:cubicBezTo>
                  <a:cubicBezTo>
                    <a:pt x="175" y="228"/>
                    <a:pt x="178" y="225"/>
                    <a:pt x="181" y="221"/>
                  </a:cubicBezTo>
                  <a:cubicBezTo>
                    <a:pt x="187" y="228"/>
                    <a:pt x="196" y="232"/>
                    <a:pt x="205" y="232"/>
                  </a:cubicBezTo>
                  <a:cubicBezTo>
                    <a:pt x="211" y="232"/>
                    <a:pt x="217" y="231"/>
                    <a:pt x="222" y="227"/>
                  </a:cubicBezTo>
                  <a:cubicBezTo>
                    <a:pt x="229" y="223"/>
                    <a:pt x="234" y="216"/>
                    <a:pt x="236" y="209"/>
                  </a:cubicBezTo>
                  <a:cubicBezTo>
                    <a:pt x="238" y="209"/>
                    <a:pt x="240" y="210"/>
                    <a:pt x="242" y="210"/>
                  </a:cubicBezTo>
                  <a:cubicBezTo>
                    <a:pt x="248" y="210"/>
                    <a:pt x="254" y="208"/>
                    <a:pt x="259" y="205"/>
                  </a:cubicBezTo>
                  <a:cubicBezTo>
                    <a:pt x="267" y="201"/>
                    <a:pt x="272" y="193"/>
                    <a:pt x="275" y="185"/>
                  </a:cubicBezTo>
                  <a:cubicBezTo>
                    <a:pt x="276" y="180"/>
                    <a:pt x="276" y="175"/>
                    <a:pt x="275" y="171"/>
                  </a:cubicBezTo>
                  <a:cubicBezTo>
                    <a:pt x="288" y="171"/>
                    <a:pt x="288" y="171"/>
                    <a:pt x="288" y="171"/>
                  </a:cubicBezTo>
                  <a:cubicBezTo>
                    <a:pt x="288" y="181"/>
                    <a:pt x="288" y="181"/>
                    <a:pt x="288" y="181"/>
                  </a:cubicBezTo>
                  <a:cubicBezTo>
                    <a:pt x="288" y="187"/>
                    <a:pt x="292" y="192"/>
                    <a:pt x="298" y="192"/>
                  </a:cubicBezTo>
                  <a:cubicBezTo>
                    <a:pt x="309" y="192"/>
                    <a:pt x="309" y="192"/>
                    <a:pt x="309" y="192"/>
                  </a:cubicBezTo>
                  <a:cubicBezTo>
                    <a:pt x="315" y="192"/>
                    <a:pt x="320" y="187"/>
                    <a:pt x="320" y="181"/>
                  </a:cubicBezTo>
                  <a:cubicBezTo>
                    <a:pt x="320" y="175"/>
                    <a:pt x="315" y="171"/>
                    <a:pt x="309" y="171"/>
                  </a:cubicBezTo>
                  <a:close/>
                  <a:moveTo>
                    <a:pt x="254" y="179"/>
                  </a:moveTo>
                  <a:cubicBezTo>
                    <a:pt x="253" y="183"/>
                    <a:pt x="251" y="185"/>
                    <a:pt x="248" y="187"/>
                  </a:cubicBezTo>
                  <a:cubicBezTo>
                    <a:pt x="246" y="188"/>
                    <a:pt x="242" y="189"/>
                    <a:pt x="239" y="188"/>
                  </a:cubicBezTo>
                  <a:cubicBezTo>
                    <a:pt x="236" y="187"/>
                    <a:pt x="234" y="185"/>
                    <a:pt x="232" y="183"/>
                  </a:cubicBezTo>
                  <a:cubicBezTo>
                    <a:pt x="232" y="183"/>
                    <a:pt x="232" y="183"/>
                    <a:pt x="232" y="183"/>
                  </a:cubicBezTo>
                  <a:cubicBezTo>
                    <a:pt x="232" y="183"/>
                    <a:pt x="232" y="183"/>
                    <a:pt x="232" y="182"/>
                  </a:cubicBezTo>
                  <a:cubicBezTo>
                    <a:pt x="198" y="125"/>
                    <a:pt x="198" y="125"/>
                    <a:pt x="198" y="125"/>
                  </a:cubicBezTo>
                  <a:cubicBezTo>
                    <a:pt x="195" y="119"/>
                    <a:pt x="188" y="118"/>
                    <a:pt x="183" y="121"/>
                  </a:cubicBezTo>
                  <a:cubicBezTo>
                    <a:pt x="178" y="124"/>
                    <a:pt x="176" y="130"/>
                    <a:pt x="179" y="135"/>
                  </a:cubicBezTo>
                  <a:cubicBezTo>
                    <a:pt x="214" y="194"/>
                    <a:pt x="214" y="194"/>
                    <a:pt x="214" y="194"/>
                  </a:cubicBezTo>
                  <a:cubicBezTo>
                    <a:pt x="214" y="194"/>
                    <a:pt x="214" y="194"/>
                    <a:pt x="214" y="194"/>
                  </a:cubicBezTo>
                  <a:cubicBezTo>
                    <a:pt x="217" y="199"/>
                    <a:pt x="217" y="206"/>
                    <a:pt x="211" y="209"/>
                  </a:cubicBezTo>
                  <a:cubicBezTo>
                    <a:pt x="205" y="212"/>
                    <a:pt x="198" y="210"/>
                    <a:pt x="194" y="204"/>
                  </a:cubicBezTo>
                  <a:cubicBezTo>
                    <a:pt x="162" y="151"/>
                    <a:pt x="162" y="151"/>
                    <a:pt x="162" y="151"/>
                  </a:cubicBezTo>
                  <a:cubicBezTo>
                    <a:pt x="159" y="146"/>
                    <a:pt x="153" y="144"/>
                    <a:pt x="147" y="147"/>
                  </a:cubicBezTo>
                  <a:cubicBezTo>
                    <a:pt x="142" y="150"/>
                    <a:pt x="141" y="157"/>
                    <a:pt x="144" y="162"/>
                  </a:cubicBezTo>
                  <a:cubicBezTo>
                    <a:pt x="164" y="196"/>
                    <a:pt x="164" y="196"/>
                    <a:pt x="164" y="196"/>
                  </a:cubicBezTo>
                  <a:cubicBezTo>
                    <a:pt x="166" y="198"/>
                    <a:pt x="166" y="201"/>
                    <a:pt x="165" y="204"/>
                  </a:cubicBezTo>
                  <a:cubicBezTo>
                    <a:pt x="165" y="207"/>
                    <a:pt x="163" y="210"/>
                    <a:pt x="160" y="212"/>
                  </a:cubicBezTo>
                  <a:cubicBezTo>
                    <a:pt x="154" y="215"/>
                    <a:pt x="147" y="213"/>
                    <a:pt x="143" y="208"/>
                  </a:cubicBezTo>
                  <a:cubicBezTo>
                    <a:pt x="143" y="208"/>
                    <a:pt x="143" y="208"/>
                    <a:pt x="143" y="208"/>
                  </a:cubicBezTo>
                  <a:cubicBezTo>
                    <a:pt x="132" y="188"/>
                    <a:pt x="132" y="188"/>
                    <a:pt x="132" y="188"/>
                  </a:cubicBezTo>
                  <a:cubicBezTo>
                    <a:pt x="132" y="188"/>
                    <a:pt x="132" y="188"/>
                    <a:pt x="132" y="188"/>
                  </a:cubicBezTo>
                  <a:cubicBezTo>
                    <a:pt x="132" y="188"/>
                    <a:pt x="132" y="188"/>
                    <a:pt x="132" y="188"/>
                  </a:cubicBezTo>
                  <a:cubicBezTo>
                    <a:pt x="124" y="176"/>
                    <a:pt x="124" y="176"/>
                    <a:pt x="124" y="176"/>
                  </a:cubicBezTo>
                  <a:cubicBezTo>
                    <a:pt x="121" y="171"/>
                    <a:pt x="114" y="170"/>
                    <a:pt x="110" y="173"/>
                  </a:cubicBezTo>
                  <a:cubicBezTo>
                    <a:pt x="105" y="176"/>
                    <a:pt x="103" y="183"/>
                    <a:pt x="106" y="188"/>
                  </a:cubicBezTo>
                  <a:cubicBezTo>
                    <a:pt x="114" y="199"/>
                    <a:pt x="114" y="199"/>
                    <a:pt x="114" y="199"/>
                  </a:cubicBezTo>
                  <a:cubicBezTo>
                    <a:pt x="115" y="201"/>
                    <a:pt x="118" y="209"/>
                    <a:pt x="111" y="214"/>
                  </a:cubicBezTo>
                  <a:cubicBezTo>
                    <a:pt x="105" y="217"/>
                    <a:pt x="97" y="213"/>
                    <a:pt x="94" y="208"/>
                  </a:cubicBezTo>
                  <a:cubicBezTo>
                    <a:pt x="62" y="155"/>
                    <a:pt x="62" y="155"/>
                    <a:pt x="62" y="155"/>
                  </a:cubicBezTo>
                  <a:cubicBezTo>
                    <a:pt x="60" y="151"/>
                    <a:pt x="57" y="149"/>
                    <a:pt x="53" y="149"/>
                  </a:cubicBezTo>
                  <a:cubicBezTo>
                    <a:pt x="32" y="149"/>
                    <a:pt x="32" y="149"/>
                    <a:pt x="32" y="149"/>
                  </a:cubicBezTo>
                  <a:cubicBezTo>
                    <a:pt x="32" y="53"/>
                    <a:pt x="32" y="53"/>
                    <a:pt x="32" y="53"/>
                  </a:cubicBezTo>
                  <a:cubicBezTo>
                    <a:pt x="88" y="53"/>
                    <a:pt x="88" y="53"/>
                    <a:pt x="88" y="53"/>
                  </a:cubicBezTo>
                  <a:cubicBezTo>
                    <a:pt x="80" y="58"/>
                    <a:pt x="80" y="58"/>
                    <a:pt x="80" y="58"/>
                  </a:cubicBezTo>
                  <a:cubicBezTo>
                    <a:pt x="70" y="64"/>
                    <a:pt x="64" y="74"/>
                    <a:pt x="64" y="85"/>
                  </a:cubicBezTo>
                  <a:cubicBezTo>
                    <a:pt x="64" y="95"/>
                    <a:pt x="68" y="105"/>
                    <a:pt x="74" y="111"/>
                  </a:cubicBezTo>
                  <a:cubicBezTo>
                    <a:pt x="81" y="116"/>
                    <a:pt x="89" y="118"/>
                    <a:pt x="97" y="117"/>
                  </a:cubicBezTo>
                  <a:cubicBezTo>
                    <a:pt x="211" y="98"/>
                    <a:pt x="211" y="98"/>
                    <a:pt x="211" y="98"/>
                  </a:cubicBezTo>
                  <a:cubicBezTo>
                    <a:pt x="253" y="170"/>
                    <a:pt x="253" y="170"/>
                    <a:pt x="253" y="170"/>
                  </a:cubicBezTo>
                  <a:cubicBezTo>
                    <a:pt x="254" y="173"/>
                    <a:pt x="255" y="176"/>
                    <a:pt x="254" y="179"/>
                  </a:cubicBezTo>
                  <a:close/>
                  <a:moveTo>
                    <a:pt x="288" y="149"/>
                  </a:moveTo>
                  <a:cubicBezTo>
                    <a:pt x="266" y="149"/>
                    <a:pt x="266" y="149"/>
                    <a:pt x="266" y="149"/>
                  </a:cubicBezTo>
                  <a:cubicBezTo>
                    <a:pt x="266" y="149"/>
                    <a:pt x="266" y="150"/>
                    <a:pt x="265" y="150"/>
                  </a:cubicBezTo>
                  <a:cubicBezTo>
                    <a:pt x="226" y="81"/>
                    <a:pt x="226" y="81"/>
                    <a:pt x="226" y="81"/>
                  </a:cubicBezTo>
                  <a:cubicBezTo>
                    <a:pt x="224" y="77"/>
                    <a:pt x="220" y="75"/>
                    <a:pt x="215" y="76"/>
                  </a:cubicBezTo>
                  <a:cubicBezTo>
                    <a:pt x="94" y="96"/>
                    <a:pt x="94" y="96"/>
                    <a:pt x="94" y="96"/>
                  </a:cubicBezTo>
                  <a:cubicBezTo>
                    <a:pt x="91" y="97"/>
                    <a:pt x="89" y="96"/>
                    <a:pt x="88" y="95"/>
                  </a:cubicBezTo>
                  <a:cubicBezTo>
                    <a:pt x="86" y="93"/>
                    <a:pt x="85" y="89"/>
                    <a:pt x="85" y="85"/>
                  </a:cubicBezTo>
                  <a:cubicBezTo>
                    <a:pt x="85" y="80"/>
                    <a:pt x="88" y="78"/>
                    <a:pt x="90" y="77"/>
                  </a:cubicBezTo>
                  <a:cubicBezTo>
                    <a:pt x="172" y="33"/>
                    <a:pt x="172" y="33"/>
                    <a:pt x="172" y="33"/>
                  </a:cubicBezTo>
                  <a:cubicBezTo>
                    <a:pt x="242" y="53"/>
                    <a:pt x="242" y="53"/>
                    <a:pt x="242" y="53"/>
                  </a:cubicBezTo>
                  <a:cubicBezTo>
                    <a:pt x="243" y="53"/>
                    <a:pt x="244" y="53"/>
                    <a:pt x="245" y="53"/>
                  </a:cubicBezTo>
                  <a:cubicBezTo>
                    <a:pt x="288" y="53"/>
                    <a:pt x="288" y="53"/>
                    <a:pt x="288" y="53"/>
                  </a:cubicBezTo>
                  <a:lnTo>
                    <a:pt x="288" y="14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8800" tIns="39400" rIns="78800" bIns="39400" numCol="1" anchor="t" anchorCtr="0" compatLnSpc="1">
              <a:prstTxWarp prst="textNoShape">
                <a:avLst/>
              </a:prstTxWarp>
            </a:bodyPr>
            <a:lstStyle/>
            <a:p>
              <a:pPr marL="0" marR="0" lvl="0" indent="0" algn="l" defTabSz="898709" rtl="0" eaLnBrk="1" fontAlgn="auto" latinLnBrk="0" hangingPunct="1">
                <a:lnSpc>
                  <a:spcPct val="100000"/>
                </a:lnSpc>
                <a:spcBef>
                  <a:spcPts val="0"/>
                </a:spcBef>
                <a:spcAft>
                  <a:spcPts val="0"/>
                </a:spcAft>
                <a:buClrTx/>
                <a:buSzTx/>
                <a:buFontTx/>
                <a:buNone/>
                <a:tabLst/>
                <a:defRPr/>
              </a:pPr>
              <a:endParaRPr kumimoji="0" lang="en-GB" sz="1769"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grpSp>
      <p:grpSp>
        <p:nvGrpSpPr>
          <p:cNvPr id="35" name="Group 892">
            <a:extLst>
              <a:ext uri="{FF2B5EF4-FFF2-40B4-BE49-F238E27FC236}">
                <a16:creationId xmlns:a16="http://schemas.microsoft.com/office/drawing/2014/main" id="{BC412381-0271-4234-B3C3-8812074F931C}"/>
              </a:ext>
            </a:extLst>
          </p:cNvPr>
          <p:cNvGrpSpPr>
            <a:grpSpLocks/>
          </p:cNvGrpSpPr>
          <p:nvPr/>
        </p:nvGrpSpPr>
        <p:grpSpPr bwMode="auto">
          <a:xfrm>
            <a:off x="2855553" y="3041867"/>
            <a:ext cx="368450" cy="365194"/>
            <a:chOff x="4270" y="3457"/>
            <a:chExt cx="340" cy="341"/>
          </a:xfrm>
          <a:solidFill>
            <a:schemeClr val="bg1"/>
          </a:solidFill>
        </p:grpSpPr>
        <p:sp>
          <p:nvSpPr>
            <p:cNvPr id="36" name="Freeform 893">
              <a:extLst>
                <a:ext uri="{FF2B5EF4-FFF2-40B4-BE49-F238E27FC236}">
                  <a16:creationId xmlns:a16="http://schemas.microsoft.com/office/drawing/2014/main" id="{30F96556-E6BF-48C7-9439-BA0F86151C8F}"/>
                </a:ext>
              </a:extLst>
            </p:cNvPr>
            <p:cNvSpPr>
              <a:spLocks noEditPoints="1"/>
            </p:cNvSpPr>
            <p:nvPr/>
          </p:nvSpPr>
          <p:spPr bwMode="auto">
            <a:xfrm>
              <a:off x="4334" y="3521"/>
              <a:ext cx="192" cy="192"/>
            </a:xfrm>
            <a:custGeom>
              <a:avLst/>
              <a:gdLst>
                <a:gd name="T0" fmla="*/ 285 w 289"/>
                <a:gd name="T1" fmla="*/ 269 h 288"/>
                <a:gd name="T2" fmla="*/ 189 w 289"/>
                <a:gd name="T3" fmla="*/ 174 h 288"/>
                <a:gd name="T4" fmla="*/ 213 w 289"/>
                <a:gd name="T5" fmla="*/ 106 h 288"/>
                <a:gd name="T6" fmla="*/ 106 w 289"/>
                <a:gd name="T7" fmla="*/ 0 h 288"/>
                <a:gd name="T8" fmla="*/ 0 w 289"/>
                <a:gd name="T9" fmla="*/ 106 h 288"/>
                <a:gd name="T10" fmla="*/ 106 w 289"/>
                <a:gd name="T11" fmla="*/ 213 h 288"/>
                <a:gd name="T12" fmla="*/ 174 w 289"/>
                <a:gd name="T13" fmla="*/ 189 h 288"/>
                <a:gd name="T14" fmla="*/ 269 w 289"/>
                <a:gd name="T15" fmla="*/ 285 h 288"/>
                <a:gd name="T16" fmla="*/ 277 w 289"/>
                <a:gd name="T17" fmla="*/ 288 h 288"/>
                <a:gd name="T18" fmla="*/ 285 w 289"/>
                <a:gd name="T19" fmla="*/ 285 h 288"/>
                <a:gd name="T20" fmla="*/ 285 w 289"/>
                <a:gd name="T21" fmla="*/ 269 h 288"/>
                <a:gd name="T22" fmla="*/ 106 w 289"/>
                <a:gd name="T23" fmla="*/ 192 h 288"/>
                <a:gd name="T24" fmla="*/ 21 w 289"/>
                <a:gd name="T25" fmla="*/ 106 h 288"/>
                <a:gd name="T26" fmla="*/ 106 w 289"/>
                <a:gd name="T27" fmla="*/ 21 h 288"/>
                <a:gd name="T28" fmla="*/ 192 w 289"/>
                <a:gd name="T29" fmla="*/ 106 h 288"/>
                <a:gd name="T30" fmla="*/ 106 w 289"/>
                <a:gd name="T31" fmla="*/ 19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9" h="288">
                  <a:moveTo>
                    <a:pt x="285" y="269"/>
                  </a:moveTo>
                  <a:cubicBezTo>
                    <a:pt x="189" y="174"/>
                    <a:pt x="189" y="174"/>
                    <a:pt x="189" y="174"/>
                  </a:cubicBezTo>
                  <a:cubicBezTo>
                    <a:pt x="204" y="155"/>
                    <a:pt x="213" y="132"/>
                    <a:pt x="213" y="106"/>
                  </a:cubicBezTo>
                  <a:cubicBezTo>
                    <a:pt x="213" y="48"/>
                    <a:pt x="165" y="0"/>
                    <a:pt x="106" y="0"/>
                  </a:cubicBezTo>
                  <a:cubicBezTo>
                    <a:pt x="48" y="0"/>
                    <a:pt x="0" y="48"/>
                    <a:pt x="0" y="106"/>
                  </a:cubicBezTo>
                  <a:cubicBezTo>
                    <a:pt x="0" y="165"/>
                    <a:pt x="48" y="213"/>
                    <a:pt x="106" y="213"/>
                  </a:cubicBezTo>
                  <a:cubicBezTo>
                    <a:pt x="132" y="213"/>
                    <a:pt x="155" y="204"/>
                    <a:pt x="174" y="189"/>
                  </a:cubicBezTo>
                  <a:cubicBezTo>
                    <a:pt x="269" y="285"/>
                    <a:pt x="269" y="285"/>
                    <a:pt x="269" y="285"/>
                  </a:cubicBezTo>
                  <a:cubicBezTo>
                    <a:pt x="272" y="287"/>
                    <a:pt x="274" y="288"/>
                    <a:pt x="277" y="288"/>
                  </a:cubicBezTo>
                  <a:cubicBezTo>
                    <a:pt x="280" y="288"/>
                    <a:pt x="282" y="287"/>
                    <a:pt x="285" y="285"/>
                  </a:cubicBezTo>
                  <a:cubicBezTo>
                    <a:pt x="289" y="280"/>
                    <a:pt x="289" y="274"/>
                    <a:pt x="285" y="269"/>
                  </a:cubicBezTo>
                  <a:close/>
                  <a:moveTo>
                    <a:pt x="106" y="192"/>
                  </a:moveTo>
                  <a:cubicBezTo>
                    <a:pt x="59" y="192"/>
                    <a:pt x="21" y="153"/>
                    <a:pt x="21" y="106"/>
                  </a:cubicBezTo>
                  <a:cubicBezTo>
                    <a:pt x="21" y="59"/>
                    <a:pt x="59" y="21"/>
                    <a:pt x="106" y="21"/>
                  </a:cubicBezTo>
                  <a:cubicBezTo>
                    <a:pt x="153" y="21"/>
                    <a:pt x="192" y="59"/>
                    <a:pt x="192" y="106"/>
                  </a:cubicBezTo>
                  <a:cubicBezTo>
                    <a:pt x="192" y="153"/>
                    <a:pt x="153" y="192"/>
                    <a:pt x="106" y="19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8800" tIns="39400" rIns="78800" bIns="39400" numCol="1" anchor="t" anchorCtr="0" compatLnSpc="1">
              <a:prstTxWarp prst="textNoShape">
                <a:avLst/>
              </a:prstTxWarp>
            </a:bodyPr>
            <a:lstStyle/>
            <a:p>
              <a:pPr marL="0" marR="0" lvl="0" indent="0" algn="l" defTabSz="898709" rtl="0" eaLnBrk="1" fontAlgn="auto" latinLnBrk="0" hangingPunct="1">
                <a:lnSpc>
                  <a:spcPct val="100000"/>
                </a:lnSpc>
                <a:spcBef>
                  <a:spcPts val="0"/>
                </a:spcBef>
                <a:spcAft>
                  <a:spcPts val="0"/>
                </a:spcAft>
                <a:buClrTx/>
                <a:buSzTx/>
                <a:buFontTx/>
                <a:buNone/>
                <a:tabLst/>
                <a:defRPr/>
              </a:pPr>
              <a:endParaRPr kumimoji="0" lang="en-GB" sz="1769"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sp>
          <p:nvSpPr>
            <p:cNvPr id="37" name="Freeform 894">
              <a:extLst>
                <a:ext uri="{FF2B5EF4-FFF2-40B4-BE49-F238E27FC236}">
                  <a16:creationId xmlns:a16="http://schemas.microsoft.com/office/drawing/2014/main" id="{9E6C1F82-295F-49BF-9BD1-F997DD4C9B65}"/>
                </a:ext>
              </a:extLst>
            </p:cNvPr>
            <p:cNvSpPr>
              <a:spLocks noEditPoints="1"/>
            </p:cNvSpPr>
            <p:nvPr/>
          </p:nvSpPr>
          <p:spPr bwMode="auto">
            <a:xfrm>
              <a:off x="4270" y="3457"/>
              <a:ext cx="340"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8800" tIns="39400" rIns="78800" bIns="39400" numCol="1" anchor="t" anchorCtr="0" compatLnSpc="1">
              <a:prstTxWarp prst="textNoShape">
                <a:avLst/>
              </a:prstTxWarp>
            </a:bodyPr>
            <a:lstStyle/>
            <a:p>
              <a:pPr marL="0" marR="0" lvl="0" indent="0" algn="l" defTabSz="898709" rtl="0" eaLnBrk="1" fontAlgn="auto" latinLnBrk="0" hangingPunct="1">
                <a:lnSpc>
                  <a:spcPct val="100000"/>
                </a:lnSpc>
                <a:spcBef>
                  <a:spcPts val="0"/>
                </a:spcBef>
                <a:spcAft>
                  <a:spcPts val="0"/>
                </a:spcAft>
                <a:buClrTx/>
                <a:buSzTx/>
                <a:buFontTx/>
                <a:buNone/>
                <a:tabLst/>
                <a:defRPr/>
              </a:pPr>
              <a:endParaRPr kumimoji="0" lang="en-GB" sz="1769"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p:txBody>
        </p:sp>
      </p:grpSp>
      <p:sp>
        <p:nvSpPr>
          <p:cNvPr id="38" name="TextBox 37">
            <a:extLst>
              <a:ext uri="{FF2B5EF4-FFF2-40B4-BE49-F238E27FC236}">
                <a16:creationId xmlns:a16="http://schemas.microsoft.com/office/drawing/2014/main" id="{96B826DE-146D-4820-9E65-52AF33B20D48}"/>
              </a:ext>
            </a:extLst>
          </p:cNvPr>
          <p:cNvSpPr txBox="1"/>
          <p:nvPr/>
        </p:nvSpPr>
        <p:spPr>
          <a:xfrm>
            <a:off x="518701" y="6254301"/>
            <a:ext cx="11192256" cy="246221"/>
          </a:xfrm>
          <a:prstGeom prst="rect">
            <a:avLst/>
          </a:prstGeom>
          <a:noFill/>
        </p:spPr>
        <p:txBody>
          <a:bodyPr wrap="square" lIns="0" tIns="0" rIns="0" bIns="0" rtlCol="0">
            <a:spAutoFit/>
          </a:bodyPr>
          <a:lstStyle/>
          <a:p>
            <a:pPr marL="0" marR="0" lvl="0" indent="0" algn="l" defTabSz="822068" rtl="0" eaLnBrk="1" fontAlgn="auto" latinLnBrk="0" hangingPunct="1">
              <a:lnSpc>
                <a:spcPct val="100000"/>
              </a:lnSpc>
              <a:spcBef>
                <a:spcPts val="473"/>
              </a:spcBef>
              <a:spcAft>
                <a:spcPts val="0"/>
              </a:spcAft>
              <a:buClrTx/>
              <a:buSzPct val="100000"/>
              <a:buFontTx/>
              <a:buNone/>
              <a:tabLst/>
              <a:defRPr/>
            </a:pPr>
            <a:r>
              <a:rPr kumimoji="0" lang="en-US" sz="800" b="1" i="0" u="none" strike="noStrike" kern="1200" cap="none" spc="0" normalizeH="0" baseline="0" noProof="0" dirty="0">
                <a:ln>
                  <a:noFill/>
                </a:ln>
                <a:solidFill>
                  <a:srgbClr val="53565A"/>
                </a:solidFill>
                <a:effectLst/>
                <a:uLnTx/>
                <a:uFillTx/>
                <a:latin typeface="Calibri" panose="020F0502020204030204" pitchFamily="34" charset="0"/>
                <a:ea typeface="+mn-ea"/>
                <a:cs typeface="Calibri" panose="020F0502020204030204" pitchFamily="34" charset="0"/>
              </a:rPr>
              <a:t>Note: </a:t>
            </a:r>
            <a:br>
              <a:rPr kumimoji="0" lang="en-US" sz="800" b="0" i="0" u="none" strike="noStrike" kern="1200" cap="none" spc="0" normalizeH="0" baseline="0" noProof="0" dirty="0">
                <a:ln>
                  <a:noFill/>
                </a:ln>
                <a:solidFill>
                  <a:srgbClr val="53565A"/>
                </a:solidFill>
                <a:effectLst/>
                <a:uLnTx/>
                <a:uFillTx/>
                <a:latin typeface="Calibri" panose="020F0502020204030204" pitchFamily="34" charset="0"/>
                <a:ea typeface="+mn-ea"/>
                <a:cs typeface="Calibri" panose="020F0502020204030204" pitchFamily="34" charset="0"/>
              </a:rPr>
            </a:br>
            <a:r>
              <a:rPr kumimoji="0" lang="en-US" sz="800" b="0" i="0" u="none" strike="noStrike" kern="1200" cap="none" spc="0" normalizeH="0" baseline="0" noProof="0" dirty="0">
                <a:ln>
                  <a:noFill/>
                </a:ln>
                <a:solidFill>
                  <a:srgbClr val="53565A"/>
                </a:solidFill>
                <a:effectLst/>
                <a:uLnTx/>
                <a:uFillTx/>
                <a:latin typeface="Calibri" panose="020F0502020204030204" pitchFamily="34" charset="0"/>
                <a:ea typeface="+mn-ea"/>
                <a:cs typeface="Calibri" panose="020F0502020204030204" pitchFamily="34" charset="0"/>
              </a:rPr>
              <a:t>All of the services listed here may not be available from every Deloitte member firm. In addition, there may be local regulations restricting the provision of certain services to attest clients </a:t>
            </a:r>
            <a:endParaRPr kumimoji="0" lang="en-IN" sz="800" b="0" i="0" u="none" strike="noStrike" kern="1200" cap="none" spc="0" normalizeH="0" baseline="0" noProof="0" dirty="0">
              <a:ln>
                <a:noFill/>
              </a:ln>
              <a:solidFill>
                <a:srgbClr val="53565A"/>
              </a:solidFill>
              <a:effectLst/>
              <a:uLnTx/>
              <a:uFillTx/>
              <a:latin typeface="Calibri" panose="020F0502020204030204" pitchFamily="34" charset="0"/>
              <a:ea typeface="+mn-ea"/>
              <a:cs typeface="Calibri" panose="020F0502020204030204" pitchFamily="34" charset="0"/>
            </a:endParaRPr>
          </a:p>
        </p:txBody>
      </p:sp>
      <p:cxnSp>
        <p:nvCxnSpPr>
          <p:cNvPr id="39" name="Straight Connector 38">
            <a:extLst>
              <a:ext uri="{FF2B5EF4-FFF2-40B4-BE49-F238E27FC236}">
                <a16:creationId xmlns:a16="http://schemas.microsoft.com/office/drawing/2014/main" id="{A0F3BB47-52EC-4773-8142-B3A653FCB5C8}"/>
              </a:ext>
            </a:extLst>
          </p:cNvPr>
          <p:cNvCxnSpPr/>
          <p:nvPr/>
        </p:nvCxnSpPr>
        <p:spPr>
          <a:xfrm>
            <a:off x="508762" y="5559675"/>
            <a:ext cx="11192256" cy="0"/>
          </a:xfrm>
          <a:prstGeom prst="line">
            <a:avLst/>
          </a:prstGeom>
          <a:ln>
            <a:solidFill>
              <a:schemeClr val="tx2"/>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0" name="Isosceles Triangle 39">
            <a:extLst>
              <a:ext uri="{FF2B5EF4-FFF2-40B4-BE49-F238E27FC236}">
                <a16:creationId xmlns:a16="http://schemas.microsoft.com/office/drawing/2014/main" id="{91422859-EB5E-4FF5-8116-FA461456F1C3}"/>
              </a:ext>
            </a:extLst>
          </p:cNvPr>
          <p:cNvSpPr/>
          <p:nvPr/>
        </p:nvSpPr>
        <p:spPr bwMode="gray">
          <a:xfrm flipV="1">
            <a:off x="5886439" y="5559675"/>
            <a:ext cx="436903" cy="176333"/>
          </a:xfrm>
          <a:prstGeom prst="triangle">
            <a:avLst/>
          </a:prstGeom>
          <a:solidFill>
            <a:schemeClr val="tx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FFB38FD8-0016-40C1-B05C-90DB9820F3AA}"/>
              </a:ext>
            </a:extLst>
          </p:cNvPr>
          <p:cNvSpPr/>
          <p:nvPr/>
        </p:nvSpPr>
        <p:spPr>
          <a:xfrm>
            <a:off x="499872" y="1160184"/>
            <a:ext cx="11192256" cy="1077218"/>
          </a:xfrm>
          <a:prstGeom prst="rect">
            <a:avLst/>
          </a:prstGeom>
        </p:spPr>
        <p:txBody>
          <a:bodyPr wrap="square">
            <a:spAutoFit/>
          </a:bodyPr>
          <a:lstStyle/>
          <a:p>
            <a:pPr marL="0" marR="0" lvl="0" indent="0" algn="l" defTabSz="914400" rtl="0" eaLnBrk="1" fontAlgn="auto" latinLnBrk="0" hangingPunct="1">
              <a:spcBef>
                <a:spcPts val="0"/>
              </a:spcBef>
              <a:buClrTx/>
              <a:buSzTx/>
              <a:buFontTx/>
              <a:buNone/>
              <a:tabLst/>
              <a:defRPr/>
            </a:pPr>
            <a:r>
              <a:rPr kumimoji="0" lang="en-US" sz="1400" b="1" i="0" u="sng" strike="noStrike" kern="0" cap="none" spc="0" normalizeH="0" baseline="0" noProof="0" dirty="0">
                <a:ln>
                  <a:noFill/>
                </a:ln>
                <a:solidFill>
                  <a:srgbClr val="0D8390"/>
                </a:solidFill>
                <a:effectLst/>
                <a:uLnTx/>
                <a:uFillTx/>
                <a:latin typeface="+mj-lt"/>
                <a:ea typeface="MingLiU" panose="02020509000000000000" pitchFamily="49" charset="-120"/>
                <a:cs typeface="Times New Roman" panose="02020603050405020304" pitchFamily="18" charset="0"/>
              </a:rPr>
              <a:t>Professional staff</a:t>
            </a:r>
            <a:r>
              <a:rPr kumimoji="0" lang="en-US" sz="1400" b="1" i="0" strike="noStrike" kern="0" cap="none" spc="0" normalizeH="0" baseline="0" noProof="0" dirty="0">
                <a:ln>
                  <a:noFill/>
                </a:ln>
                <a:solidFill>
                  <a:srgbClr val="0D8390"/>
                </a:solidFill>
                <a:effectLst/>
                <a:uLnTx/>
                <a:uFillTx/>
                <a:latin typeface="+mj-lt"/>
                <a:ea typeface="MingLiU" panose="02020509000000000000" pitchFamily="49" charset="-120"/>
                <a:cs typeface="Times New Roman" panose="02020603050405020304" pitchFamily="18" charset="0"/>
              </a:rPr>
              <a:t> : </a:t>
            </a:r>
            <a:r>
              <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Times New Roman" panose="02020603050405020304" pitchFamily="18" charset="0"/>
              </a:rPr>
              <a:t>In India, Deloitte is recognised as one of the country’s top professional services firms, with over 11,500+ professional staff. Our professionals are proficient at delivering the right combination of local insight and international expertise to our clientele drawn from across industry segments. </a:t>
            </a:r>
          </a:p>
          <a:p>
            <a:pPr marL="0" marR="0" lvl="0" indent="0" algn="l" defTabSz="914400" rtl="0" eaLnBrk="1" fontAlgn="auto" latinLnBrk="0" hangingPunct="1">
              <a:spcBef>
                <a:spcPts val="0"/>
              </a:spcBef>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Times New Roman" panose="02020603050405020304" pitchFamily="18" charset="0"/>
            </a:endParaRPr>
          </a:p>
          <a:p>
            <a:pPr marL="0" marR="0" lvl="0" indent="0" algn="l" defTabSz="914400" rtl="0" eaLnBrk="1" fontAlgn="auto" latinLnBrk="0" hangingPunct="1">
              <a:spcBef>
                <a:spcPts val="0"/>
              </a:spcBef>
              <a:buClrTx/>
              <a:buSzTx/>
              <a:buFontTx/>
              <a:buNone/>
              <a:tabLst/>
              <a:defRPr/>
            </a:pPr>
            <a:r>
              <a:rPr kumimoji="0" lang="en-US" sz="1400" b="1" i="0" u="sng" strike="noStrike" kern="0" cap="none" spc="0" normalizeH="0" baseline="0" noProof="0" dirty="0">
                <a:ln>
                  <a:noFill/>
                </a:ln>
                <a:solidFill>
                  <a:srgbClr val="0D8390"/>
                </a:solidFill>
                <a:effectLst/>
                <a:uLnTx/>
                <a:uFillTx/>
                <a:latin typeface="+mj-lt"/>
                <a:ea typeface="MingLiU" panose="02020509000000000000" pitchFamily="49" charset="-120"/>
                <a:cs typeface="Times New Roman" panose="02020603050405020304" pitchFamily="18" charset="0"/>
              </a:rPr>
              <a:t>Our services</a:t>
            </a:r>
            <a:r>
              <a:rPr kumimoji="0" lang="en-US" sz="1400" b="1" i="0" strike="noStrike" kern="0" cap="none" spc="0" normalizeH="0" baseline="0" noProof="0" dirty="0">
                <a:ln>
                  <a:noFill/>
                </a:ln>
                <a:solidFill>
                  <a:srgbClr val="0D8390"/>
                </a:solidFill>
                <a:effectLst/>
                <a:uLnTx/>
                <a:uFillTx/>
                <a:latin typeface="+mj-lt"/>
                <a:ea typeface="MingLiU" panose="02020509000000000000" pitchFamily="49" charset="-120"/>
                <a:cs typeface="Times New Roman" panose="02020603050405020304" pitchFamily="18" charset="0"/>
              </a:rPr>
              <a:t> : </a:t>
            </a:r>
            <a:r>
              <a:rPr kumimoji="0" lang="en-US" sz="1200" b="0" i="0" u="none" strike="noStrike" kern="1200" cap="none" spc="0" normalizeH="0" baseline="0" noProof="0" dirty="0">
                <a:ln>
                  <a:noFill/>
                </a:ln>
                <a:solidFill>
                  <a:prstClr val="black"/>
                </a:solidFill>
                <a:effectLst/>
                <a:uLnTx/>
                <a:uFillTx/>
                <a:latin typeface="+mj-lt"/>
                <a:ea typeface="Calibri Light" panose="020F0302020204030204" pitchFamily="34" charset="0"/>
                <a:cs typeface="Times New Roman" panose="02020603050405020304" pitchFamily="18" charset="0"/>
              </a:rPr>
              <a:t>Deloitte is well-equipped to deliver solutions to the complex challenges faced by organisations across the public and private sectors. Being one of the largest professional services organisations, our edge lies in our ability to draw upon a well-equipped global network and teaming this with customised services at a local office.</a:t>
            </a:r>
          </a:p>
        </p:txBody>
      </p:sp>
      <p:cxnSp>
        <p:nvCxnSpPr>
          <p:cNvPr id="48" name="Straight Connector 47">
            <a:extLst>
              <a:ext uri="{FF2B5EF4-FFF2-40B4-BE49-F238E27FC236}">
                <a16:creationId xmlns:a16="http://schemas.microsoft.com/office/drawing/2014/main" id="{7CD25C7F-E576-4EC7-9870-0D6E14712123}"/>
              </a:ext>
            </a:extLst>
          </p:cNvPr>
          <p:cNvCxnSpPr>
            <a:cxnSpLocks/>
            <a:stCxn id="5" idx="2"/>
            <a:endCxn id="14" idx="3"/>
          </p:cNvCxnSpPr>
          <p:nvPr/>
        </p:nvCxnSpPr>
        <p:spPr>
          <a:xfrm>
            <a:off x="6111239" y="2624499"/>
            <a:ext cx="2" cy="3292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Text Box 245">
            <a:extLst>
              <a:ext uri="{FF2B5EF4-FFF2-40B4-BE49-F238E27FC236}">
                <a16:creationId xmlns:a16="http://schemas.microsoft.com/office/drawing/2014/main" id="{37262C07-65A7-4E0D-8646-49B557B45845}"/>
              </a:ext>
            </a:extLst>
          </p:cNvPr>
          <p:cNvSpPr txBox="1">
            <a:spLocks noChangeArrowheads="1"/>
          </p:cNvSpPr>
          <p:nvPr/>
        </p:nvSpPr>
        <p:spPr bwMode="gray">
          <a:xfrm>
            <a:off x="9660560" y="3479422"/>
            <a:ext cx="1988301" cy="1899890"/>
          </a:xfrm>
          <a:prstGeom prst="rect">
            <a:avLst/>
          </a:prstGeom>
          <a:noFill/>
          <a:ln w="3175" algn="ctr">
            <a:solidFill>
              <a:schemeClr val="accent3"/>
            </a:solidFill>
            <a:miter lim="800000"/>
            <a:headEnd/>
            <a:tailEnd/>
          </a:ln>
        </p:spPr>
        <p:txBody>
          <a:bodyPr lIns="108000" tIns="73196" rIns="36525" bIns="36525"/>
          <a:lstStyle>
            <a:defPPr>
              <a:defRPr lang="en-US"/>
            </a:defPPr>
            <a:lvl1pPr marL="0" algn="l" defTabSz="1042873" rtl="0" eaLnBrk="1" latinLnBrk="0" hangingPunct="1">
              <a:defRPr sz="2100" kern="1200">
                <a:solidFill>
                  <a:schemeClr val="tx1"/>
                </a:solidFill>
                <a:latin typeface="+mn-lt"/>
                <a:ea typeface="+mn-ea"/>
                <a:cs typeface="+mn-cs"/>
              </a:defRPr>
            </a:lvl1pPr>
            <a:lvl2pPr marL="521437" algn="l" defTabSz="1042873" rtl="0" eaLnBrk="1" latinLnBrk="0" hangingPunct="1">
              <a:defRPr sz="2100" kern="1200">
                <a:solidFill>
                  <a:schemeClr val="tx1"/>
                </a:solidFill>
                <a:latin typeface="+mn-lt"/>
                <a:ea typeface="+mn-ea"/>
                <a:cs typeface="+mn-cs"/>
              </a:defRPr>
            </a:lvl2pPr>
            <a:lvl3pPr marL="1042873" algn="l" defTabSz="1042873" rtl="0" eaLnBrk="1" latinLnBrk="0" hangingPunct="1">
              <a:defRPr sz="2100" kern="1200">
                <a:solidFill>
                  <a:schemeClr val="tx1"/>
                </a:solidFill>
                <a:latin typeface="+mn-lt"/>
                <a:ea typeface="+mn-ea"/>
                <a:cs typeface="+mn-cs"/>
              </a:defRPr>
            </a:lvl3pPr>
            <a:lvl4pPr marL="1564310" algn="l" defTabSz="1042873" rtl="0" eaLnBrk="1" latinLnBrk="0" hangingPunct="1">
              <a:defRPr sz="2100" kern="1200">
                <a:solidFill>
                  <a:schemeClr val="tx1"/>
                </a:solidFill>
                <a:latin typeface="+mn-lt"/>
                <a:ea typeface="+mn-ea"/>
                <a:cs typeface="+mn-cs"/>
              </a:defRPr>
            </a:lvl4pPr>
            <a:lvl5pPr marL="2085746" algn="l" defTabSz="1042873" rtl="0" eaLnBrk="1" latinLnBrk="0" hangingPunct="1">
              <a:defRPr sz="2100" kern="1200">
                <a:solidFill>
                  <a:schemeClr val="tx1"/>
                </a:solidFill>
                <a:latin typeface="+mn-lt"/>
                <a:ea typeface="+mn-ea"/>
                <a:cs typeface="+mn-cs"/>
              </a:defRPr>
            </a:lvl5pPr>
            <a:lvl6pPr marL="2607183" algn="l" defTabSz="1042873" rtl="0" eaLnBrk="1" latinLnBrk="0" hangingPunct="1">
              <a:defRPr sz="2100" kern="1200">
                <a:solidFill>
                  <a:schemeClr val="tx1"/>
                </a:solidFill>
                <a:latin typeface="+mn-lt"/>
                <a:ea typeface="+mn-ea"/>
                <a:cs typeface="+mn-cs"/>
              </a:defRPr>
            </a:lvl6pPr>
            <a:lvl7pPr marL="3128620" algn="l" defTabSz="1042873" rtl="0" eaLnBrk="1" latinLnBrk="0" hangingPunct="1">
              <a:defRPr sz="2100" kern="1200">
                <a:solidFill>
                  <a:schemeClr val="tx1"/>
                </a:solidFill>
                <a:latin typeface="+mn-lt"/>
                <a:ea typeface="+mn-ea"/>
                <a:cs typeface="+mn-cs"/>
              </a:defRPr>
            </a:lvl7pPr>
            <a:lvl8pPr marL="3650056" algn="l" defTabSz="1042873" rtl="0" eaLnBrk="1" latinLnBrk="0" hangingPunct="1">
              <a:defRPr sz="2100" kern="1200">
                <a:solidFill>
                  <a:schemeClr val="tx1"/>
                </a:solidFill>
                <a:latin typeface="+mn-lt"/>
                <a:ea typeface="+mn-ea"/>
                <a:cs typeface="+mn-cs"/>
              </a:defRPr>
            </a:lvl8pPr>
            <a:lvl9pPr marL="4171493" algn="l" defTabSz="1042873" rtl="0" eaLnBrk="1" latinLnBrk="0" hangingPunct="1">
              <a:defRPr sz="2100" kern="1200">
                <a:solidFill>
                  <a:schemeClr val="tx1"/>
                </a:solidFill>
                <a:latin typeface="+mn-lt"/>
                <a:ea typeface="+mn-ea"/>
                <a:cs typeface="+mn-cs"/>
              </a:defRPr>
            </a:lvl9pPr>
          </a:lstStyle>
          <a:p>
            <a:pPr marL="171450" marR="0" lvl="0" indent="-171450" algn="l" defTabSz="954854"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Accounting &amp; Internal Controls</a:t>
            </a:r>
          </a:p>
          <a:p>
            <a:pPr marL="171450" marR="0" lvl="0" indent="-171450" algn="l" defTabSz="954854"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Cyber &amp; Strategic Risk</a:t>
            </a:r>
          </a:p>
          <a:p>
            <a:pPr marL="171450" marR="0" lvl="0" indent="-171450" algn="l" defTabSz="954854"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Regulatory &amp; Legal Support</a:t>
            </a:r>
          </a:p>
          <a:p>
            <a:pPr marL="171450" marR="0" lvl="0" indent="-171450" algn="l" defTabSz="954854" rtl="0" eaLnBrk="1" fontAlgn="auto" latinLnBrk="0" hangingPunct="1">
              <a:lnSpc>
                <a:spcPct val="100000"/>
              </a:lnSpc>
              <a:spcBef>
                <a:spcPts val="0"/>
              </a:spcBef>
              <a:spcAft>
                <a:spcPts val="4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171450" marR="0" lvl="0" indent="-171450" algn="l" defTabSz="954854" rtl="0" eaLnBrk="1" fontAlgn="auto" latinLnBrk="0" hangingPunct="1">
              <a:lnSpc>
                <a:spcPct val="100000"/>
              </a:lnSpc>
              <a:spcBef>
                <a:spcPts val="0"/>
              </a:spcBef>
              <a:spcAft>
                <a:spcPts val="4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4" name="Text Box 42">
            <a:extLst>
              <a:ext uri="{FF2B5EF4-FFF2-40B4-BE49-F238E27FC236}">
                <a16:creationId xmlns:a16="http://schemas.microsoft.com/office/drawing/2014/main" id="{3C634913-C170-4E12-B113-DA9B3FC71C3F}"/>
              </a:ext>
            </a:extLst>
          </p:cNvPr>
          <p:cNvSpPr txBox="1">
            <a:spLocks noChangeArrowheads="1"/>
          </p:cNvSpPr>
          <p:nvPr/>
        </p:nvSpPr>
        <p:spPr bwMode="auto">
          <a:xfrm>
            <a:off x="9660560" y="2942362"/>
            <a:ext cx="1988301" cy="541359"/>
          </a:xfrm>
          <a:prstGeom prst="round2SameRect">
            <a:avLst/>
          </a:prstGeom>
          <a:solidFill>
            <a:schemeClr val="accent3"/>
          </a:solidFill>
          <a:ln w="3175" algn="ctr">
            <a:solidFill>
              <a:srgbClr val="41598F"/>
            </a:solidFill>
            <a:miter lim="800000"/>
            <a:headEnd/>
            <a:tailEnd/>
          </a:ln>
        </p:spPr>
        <p:txBody>
          <a:bodyPr lIns="457200" tIns="36525" rIns="73052" bIns="36525" anchor="ctr"/>
          <a:lstStyle>
            <a:defPPr>
              <a:defRPr lang="en-US"/>
            </a:defPPr>
            <a:lvl1pPr marL="0" algn="l" defTabSz="1042873" rtl="0" eaLnBrk="1" latinLnBrk="0" hangingPunct="1">
              <a:defRPr sz="2100" kern="1200">
                <a:solidFill>
                  <a:schemeClr val="tx1"/>
                </a:solidFill>
                <a:latin typeface="+mn-lt"/>
                <a:ea typeface="+mn-ea"/>
                <a:cs typeface="+mn-cs"/>
              </a:defRPr>
            </a:lvl1pPr>
            <a:lvl2pPr marL="521437" algn="l" defTabSz="1042873" rtl="0" eaLnBrk="1" latinLnBrk="0" hangingPunct="1">
              <a:defRPr sz="2100" kern="1200">
                <a:solidFill>
                  <a:schemeClr val="tx1"/>
                </a:solidFill>
                <a:latin typeface="+mn-lt"/>
                <a:ea typeface="+mn-ea"/>
                <a:cs typeface="+mn-cs"/>
              </a:defRPr>
            </a:lvl2pPr>
            <a:lvl3pPr marL="1042873" algn="l" defTabSz="1042873" rtl="0" eaLnBrk="1" latinLnBrk="0" hangingPunct="1">
              <a:defRPr sz="2100" kern="1200">
                <a:solidFill>
                  <a:schemeClr val="tx1"/>
                </a:solidFill>
                <a:latin typeface="+mn-lt"/>
                <a:ea typeface="+mn-ea"/>
                <a:cs typeface="+mn-cs"/>
              </a:defRPr>
            </a:lvl3pPr>
            <a:lvl4pPr marL="1564310" algn="l" defTabSz="1042873" rtl="0" eaLnBrk="1" latinLnBrk="0" hangingPunct="1">
              <a:defRPr sz="2100" kern="1200">
                <a:solidFill>
                  <a:schemeClr val="tx1"/>
                </a:solidFill>
                <a:latin typeface="+mn-lt"/>
                <a:ea typeface="+mn-ea"/>
                <a:cs typeface="+mn-cs"/>
              </a:defRPr>
            </a:lvl4pPr>
            <a:lvl5pPr marL="2085746" algn="l" defTabSz="1042873" rtl="0" eaLnBrk="1" latinLnBrk="0" hangingPunct="1">
              <a:defRPr sz="2100" kern="1200">
                <a:solidFill>
                  <a:schemeClr val="tx1"/>
                </a:solidFill>
                <a:latin typeface="+mn-lt"/>
                <a:ea typeface="+mn-ea"/>
                <a:cs typeface="+mn-cs"/>
              </a:defRPr>
            </a:lvl5pPr>
            <a:lvl6pPr marL="2607183" algn="l" defTabSz="1042873" rtl="0" eaLnBrk="1" latinLnBrk="0" hangingPunct="1">
              <a:defRPr sz="2100" kern="1200">
                <a:solidFill>
                  <a:schemeClr val="tx1"/>
                </a:solidFill>
                <a:latin typeface="+mn-lt"/>
                <a:ea typeface="+mn-ea"/>
                <a:cs typeface="+mn-cs"/>
              </a:defRPr>
            </a:lvl6pPr>
            <a:lvl7pPr marL="3128620" algn="l" defTabSz="1042873" rtl="0" eaLnBrk="1" latinLnBrk="0" hangingPunct="1">
              <a:defRPr sz="2100" kern="1200">
                <a:solidFill>
                  <a:schemeClr val="tx1"/>
                </a:solidFill>
                <a:latin typeface="+mn-lt"/>
                <a:ea typeface="+mn-ea"/>
                <a:cs typeface="+mn-cs"/>
              </a:defRPr>
            </a:lvl7pPr>
            <a:lvl8pPr marL="3650056" algn="l" defTabSz="1042873" rtl="0" eaLnBrk="1" latinLnBrk="0" hangingPunct="1">
              <a:defRPr sz="2100" kern="1200">
                <a:solidFill>
                  <a:schemeClr val="tx1"/>
                </a:solidFill>
                <a:latin typeface="+mn-lt"/>
                <a:ea typeface="+mn-ea"/>
                <a:cs typeface="+mn-cs"/>
              </a:defRPr>
            </a:lvl8pPr>
            <a:lvl9pPr marL="4171493" algn="l" defTabSz="1042873" rtl="0" eaLnBrk="1" latinLnBrk="0" hangingPunct="1">
              <a:defRPr sz="2100" kern="1200">
                <a:solidFill>
                  <a:schemeClr val="tx1"/>
                </a:solidFill>
                <a:latin typeface="+mn-lt"/>
                <a:ea typeface="+mn-ea"/>
                <a:cs typeface="+mn-cs"/>
              </a:defRPr>
            </a:lvl9pPr>
          </a:lstStyle>
          <a:p>
            <a:pPr marL="0" marR="0" lvl="0" indent="0" algn="l" defTabSz="954854"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Risk Advisory</a:t>
            </a:r>
          </a:p>
        </p:txBody>
      </p:sp>
    </p:spTree>
    <p:extLst>
      <p:ext uri="{BB962C8B-B14F-4D97-AF65-F5344CB8AC3E}">
        <p14:creationId xmlns:p14="http://schemas.microsoft.com/office/powerpoint/2010/main" val="3692588190"/>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rapezoid 4"/>
          <p:cNvSpPr/>
          <p:nvPr/>
        </p:nvSpPr>
        <p:spPr bwMode="gray">
          <a:xfrm>
            <a:off x="499873" y="1612899"/>
            <a:ext cx="6710540" cy="926912"/>
          </a:xfrm>
          <a:prstGeom prst="trapezoid">
            <a:avLst>
              <a:gd name="adj" fmla="val 76353"/>
            </a:avLst>
          </a:prstGeom>
          <a:gradFill>
            <a:gsLst>
              <a:gs pos="0">
                <a:schemeClr val="bg1">
                  <a:lumMod val="95000"/>
                </a:schemeClr>
              </a:gs>
              <a:gs pos="90000">
                <a:schemeClr val="bg1">
                  <a:alpha val="76000"/>
                </a:schemeClr>
              </a:gs>
            </a:gsLst>
            <a:lin ang="5400000" scaled="0"/>
          </a:gradFill>
          <a:ln w="19050" algn="ctr">
            <a:gradFill>
              <a:gsLst>
                <a:gs pos="0">
                  <a:schemeClr val="bg1">
                    <a:lumMod val="85000"/>
                  </a:schemeClr>
                </a:gs>
                <a:gs pos="100000">
                  <a:schemeClr val="accent1">
                    <a:tint val="23500"/>
                    <a:satMod val="160000"/>
                    <a:alpha val="0"/>
                  </a:schemeClr>
                </a:gs>
              </a:gsLst>
              <a:lin ang="5400000" scaled="0"/>
            </a:gradFill>
            <a:miter lim="800000"/>
            <a:headEnd/>
            <a:tailEnd/>
          </a:ln>
        </p:spPr>
        <p:txBody>
          <a:bodyPr wrap="square" lIns="80615" tIns="80615" rIns="80615" bIns="806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51" b="1" i="0" u="none" strike="noStrike" kern="1200" cap="none" spc="0" normalizeH="0" baseline="0" noProof="0" dirty="0">
              <a:ln>
                <a:noFill/>
              </a:ln>
              <a:solidFill>
                <a:prstClr val="white"/>
              </a:solidFill>
              <a:effectLst/>
              <a:uLnTx/>
              <a:uFillTx/>
              <a:latin typeface="+mj-lt"/>
              <a:ea typeface="+mn-ea"/>
              <a:cs typeface="+mn-cs"/>
            </a:endParaRPr>
          </a:p>
        </p:txBody>
      </p:sp>
      <p:sp>
        <p:nvSpPr>
          <p:cNvPr id="6" name="Rectangle 5"/>
          <p:cNvSpPr/>
          <p:nvPr/>
        </p:nvSpPr>
        <p:spPr>
          <a:xfrm>
            <a:off x="944653" y="1714893"/>
            <a:ext cx="5820979" cy="650691"/>
          </a:xfrm>
          <a:prstGeom prst="rect">
            <a:avLst/>
          </a:prstGeom>
        </p:spPr>
        <p:txBody>
          <a:bodyPr wrap="square">
            <a:spAutoFit/>
          </a:bodyPr>
          <a:lstStyle/>
          <a:p>
            <a:pPr marL="0" marR="0" lvl="0" indent="0" algn="ctr" defTabSz="828516"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Deloitte member firms serve </a:t>
            </a:r>
            <a:r>
              <a:rPr kumimoji="0" lang="en-US" b="1" i="0" u="none" strike="noStrike" kern="1200" cap="none" spc="0" normalizeH="0" baseline="0" noProof="0" dirty="0">
                <a:ln>
                  <a:noFill/>
                </a:ln>
                <a:solidFill>
                  <a:srgbClr val="26890D"/>
                </a:solidFill>
                <a:effectLst/>
                <a:uLnTx/>
                <a:uFillTx/>
                <a:latin typeface="+mj-lt"/>
                <a:ea typeface="Verdana" panose="020B0604030504040204" pitchFamily="34" charset="0"/>
                <a:cs typeface="Verdana" panose="020B0604030504040204" pitchFamily="34" charset="0"/>
              </a:rPr>
              <a:t>73%</a:t>
            </a:r>
            <a:r>
              <a:rPr kumimoji="0" lang="en-US" sz="1400" b="1" i="0" u="none" strike="noStrike" kern="120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 </a:t>
            </a:r>
            <a:r>
              <a:rPr kumimoji="0" lang="en-US" sz="1400" b="0" i="0" u="none" strike="noStrike" kern="120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(or 69 companies) of the </a:t>
            </a:r>
            <a:r>
              <a:rPr kumimoji="0" lang="en-US" b="1" i="0" u="none" strike="noStrike" kern="1200" cap="none" spc="0" normalizeH="0" baseline="0" noProof="0" dirty="0">
                <a:ln>
                  <a:noFill/>
                </a:ln>
                <a:solidFill>
                  <a:srgbClr val="26890D"/>
                </a:solidFill>
                <a:effectLst/>
                <a:uLnTx/>
                <a:uFillTx/>
                <a:latin typeface="+mj-lt"/>
                <a:ea typeface="Verdana" panose="020B0604030504040204" pitchFamily="34" charset="0"/>
                <a:cs typeface="Verdana" panose="020B0604030504040204" pitchFamily="34" charset="0"/>
              </a:rPr>
              <a:t>95 Fortune Global 500</a:t>
            </a:r>
            <a:r>
              <a:rPr kumimoji="0" lang="en-US" sz="1400" b="1" i="0" u="none" strike="noStrike" kern="1200" cap="none" spc="0" normalizeH="0" baseline="30000" noProof="0" dirty="0">
                <a:ln>
                  <a:noFill/>
                </a:ln>
                <a:solidFill>
                  <a:srgbClr val="26890D"/>
                </a:solidFill>
                <a:effectLst/>
                <a:uLnTx/>
                <a:uFillTx/>
                <a:latin typeface="+mj-lt"/>
                <a:ea typeface="Verdana" panose="020B0604030504040204" pitchFamily="34" charset="0"/>
                <a:cs typeface="Verdana" panose="020B0604030504040204" pitchFamily="34" charset="0"/>
              </a:rPr>
              <a:t>®</a:t>
            </a:r>
            <a:r>
              <a:rPr kumimoji="0" lang="en-US" b="1" i="0" u="none" strike="noStrike" kern="1200" cap="none" spc="0" normalizeH="0" baseline="0" noProof="0" dirty="0">
                <a:ln>
                  <a:noFill/>
                </a:ln>
                <a:solidFill>
                  <a:srgbClr val="26890D"/>
                </a:solidFill>
                <a:effectLst/>
                <a:uLnTx/>
                <a:uFillTx/>
                <a:latin typeface="+mj-lt"/>
                <a:ea typeface="Verdana" panose="020B0604030504040204" pitchFamily="34" charset="0"/>
                <a:cs typeface="Verdana" panose="020B0604030504040204" pitchFamily="34" charset="0"/>
              </a:rPr>
              <a:t> E&amp;R companies</a:t>
            </a:r>
            <a:endParaRPr kumimoji="0" lang="en-US" sz="1400" b="0" i="0" u="none" strike="noStrike" kern="120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8" name="Block Arc 7"/>
          <p:cNvSpPr/>
          <p:nvPr/>
        </p:nvSpPr>
        <p:spPr bwMode="gray">
          <a:xfrm rot="10800000">
            <a:off x="230312" y="2823888"/>
            <a:ext cx="1419573" cy="1419573"/>
          </a:xfrm>
          <a:prstGeom prst="blockArc">
            <a:avLst>
              <a:gd name="adj1" fmla="val 19230586"/>
              <a:gd name="adj2" fmla="val 13033067"/>
              <a:gd name="adj3" fmla="val 1857"/>
            </a:avLst>
          </a:prstGeom>
          <a:solidFill>
            <a:schemeClr val="accent4"/>
          </a:solidFill>
          <a:ln w="19050" algn="ctr">
            <a:noFill/>
            <a:miter lim="800000"/>
            <a:headEnd/>
            <a:tailEnd/>
          </a:ln>
        </p:spPr>
        <p:txBody>
          <a:bodyPr wrap="square" lIns="80615" tIns="80615" rIns="80615" bIns="806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mj-lt"/>
              <a:ea typeface="+mn-ea"/>
              <a:cs typeface="+mn-cs"/>
            </a:endParaRPr>
          </a:p>
        </p:txBody>
      </p:sp>
      <p:sp>
        <p:nvSpPr>
          <p:cNvPr id="9" name="Block Arc 8"/>
          <p:cNvSpPr/>
          <p:nvPr/>
        </p:nvSpPr>
        <p:spPr bwMode="gray">
          <a:xfrm>
            <a:off x="143149" y="2736723"/>
            <a:ext cx="1593899" cy="1593902"/>
          </a:xfrm>
          <a:prstGeom prst="blockArc">
            <a:avLst>
              <a:gd name="adj1" fmla="val 19230586"/>
              <a:gd name="adj2" fmla="val 13149094"/>
              <a:gd name="adj3" fmla="val 1522"/>
            </a:avLst>
          </a:prstGeom>
          <a:solidFill>
            <a:schemeClr val="accent4"/>
          </a:solidFill>
          <a:ln w="19050" algn="ctr">
            <a:noFill/>
            <a:miter lim="800000"/>
            <a:headEnd/>
            <a:tailEnd/>
          </a:ln>
        </p:spPr>
        <p:txBody>
          <a:bodyPr wrap="square" lIns="80615" tIns="80615" rIns="80615" bIns="806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mj-lt"/>
              <a:ea typeface="+mn-ea"/>
              <a:cs typeface="+mn-cs"/>
            </a:endParaRPr>
          </a:p>
        </p:txBody>
      </p:sp>
      <p:sp>
        <p:nvSpPr>
          <p:cNvPr id="10" name="Oval 9"/>
          <p:cNvSpPr/>
          <p:nvPr/>
        </p:nvSpPr>
        <p:spPr bwMode="gray">
          <a:xfrm rot="10800000">
            <a:off x="71166" y="2664742"/>
            <a:ext cx="1737866" cy="1737866"/>
          </a:xfrm>
          <a:prstGeom prst="ellipse">
            <a:avLst/>
          </a:prstGeom>
          <a:noFill/>
          <a:ln w="19050" algn="ctr">
            <a:solidFill>
              <a:schemeClr val="accent4"/>
            </a:solidFill>
            <a:prstDash val="dashDot"/>
            <a:miter lim="800000"/>
            <a:headEnd/>
            <a:tailEnd/>
          </a:ln>
        </p:spPr>
        <p:txBody>
          <a:bodyPr wrap="square" lIns="80615" tIns="80615" rIns="80615" bIns="806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mj-lt"/>
              <a:ea typeface="+mn-ea"/>
              <a:cs typeface="+mn-cs"/>
            </a:endParaRPr>
          </a:p>
        </p:txBody>
      </p:sp>
      <p:sp>
        <p:nvSpPr>
          <p:cNvPr id="11" name="Block Arc 10"/>
          <p:cNvSpPr/>
          <p:nvPr/>
        </p:nvSpPr>
        <p:spPr bwMode="gray">
          <a:xfrm rot="10800000">
            <a:off x="1734604" y="3626564"/>
            <a:ext cx="1419573" cy="1419573"/>
          </a:xfrm>
          <a:prstGeom prst="blockArc">
            <a:avLst>
              <a:gd name="adj1" fmla="val 19230586"/>
              <a:gd name="adj2" fmla="val 13033067"/>
              <a:gd name="adj3" fmla="val 1857"/>
            </a:avLst>
          </a:prstGeom>
          <a:solidFill>
            <a:schemeClr val="accent3"/>
          </a:solidFill>
          <a:ln w="19050" algn="ctr">
            <a:noFill/>
            <a:miter lim="800000"/>
            <a:headEnd/>
            <a:tailEnd/>
          </a:ln>
        </p:spPr>
        <p:txBody>
          <a:bodyPr wrap="square" lIns="80615" tIns="80615" rIns="80615" bIns="806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mj-lt"/>
              <a:ea typeface="+mn-ea"/>
              <a:cs typeface="+mn-cs"/>
            </a:endParaRPr>
          </a:p>
        </p:txBody>
      </p:sp>
      <p:sp>
        <p:nvSpPr>
          <p:cNvPr id="12" name="Block Arc 11"/>
          <p:cNvSpPr/>
          <p:nvPr/>
        </p:nvSpPr>
        <p:spPr bwMode="gray">
          <a:xfrm>
            <a:off x="1647441" y="3539399"/>
            <a:ext cx="1593899" cy="1593902"/>
          </a:xfrm>
          <a:prstGeom prst="blockArc">
            <a:avLst>
              <a:gd name="adj1" fmla="val 19230586"/>
              <a:gd name="adj2" fmla="val 13149094"/>
              <a:gd name="adj3" fmla="val 1522"/>
            </a:avLst>
          </a:prstGeom>
          <a:solidFill>
            <a:schemeClr val="accent3"/>
          </a:solidFill>
          <a:ln w="19050" algn="ctr">
            <a:noFill/>
            <a:miter lim="800000"/>
            <a:headEnd/>
            <a:tailEnd/>
          </a:ln>
        </p:spPr>
        <p:txBody>
          <a:bodyPr wrap="square" lIns="80615" tIns="80615" rIns="80615" bIns="806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mj-lt"/>
              <a:ea typeface="+mn-ea"/>
              <a:cs typeface="+mn-cs"/>
            </a:endParaRPr>
          </a:p>
        </p:txBody>
      </p:sp>
      <p:sp>
        <p:nvSpPr>
          <p:cNvPr id="13" name="Oval 12"/>
          <p:cNvSpPr/>
          <p:nvPr/>
        </p:nvSpPr>
        <p:spPr bwMode="gray">
          <a:xfrm rot="10800000">
            <a:off x="1575458" y="3467418"/>
            <a:ext cx="1737866" cy="1737866"/>
          </a:xfrm>
          <a:prstGeom prst="ellipse">
            <a:avLst/>
          </a:prstGeom>
          <a:noFill/>
          <a:ln w="19050" algn="ctr">
            <a:solidFill>
              <a:schemeClr val="accent3"/>
            </a:solidFill>
            <a:prstDash val="dashDot"/>
            <a:miter lim="800000"/>
            <a:headEnd/>
            <a:tailEnd/>
          </a:ln>
        </p:spPr>
        <p:txBody>
          <a:bodyPr wrap="square" lIns="80615" tIns="80615" rIns="80615" bIns="806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mj-lt"/>
              <a:ea typeface="+mn-ea"/>
              <a:cs typeface="+mn-cs"/>
            </a:endParaRPr>
          </a:p>
        </p:txBody>
      </p:sp>
      <p:sp>
        <p:nvSpPr>
          <p:cNvPr id="14" name="Block Arc 13"/>
          <p:cNvSpPr/>
          <p:nvPr/>
        </p:nvSpPr>
        <p:spPr bwMode="gray">
          <a:xfrm rot="10800000">
            <a:off x="3257368" y="2823888"/>
            <a:ext cx="1419573" cy="1419573"/>
          </a:xfrm>
          <a:prstGeom prst="blockArc">
            <a:avLst>
              <a:gd name="adj1" fmla="val 19230586"/>
              <a:gd name="adj2" fmla="val 13033067"/>
              <a:gd name="adj3" fmla="val 1857"/>
            </a:avLst>
          </a:prstGeom>
          <a:solidFill>
            <a:schemeClr val="accent1"/>
          </a:solidFill>
          <a:ln w="19050" algn="ctr">
            <a:noFill/>
            <a:miter lim="800000"/>
            <a:headEnd/>
            <a:tailEnd/>
          </a:ln>
        </p:spPr>
        <p:txBody>
          <a:bodyPr wrap="square" lIns="80615" tIns="80615" rIns="80615" bIns="806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mj-lt"/>
              <a:ea typeface="+mn-ea"/>
              <a:cs typeface="+mn-cs"/>
            </a:endParaRPr>
          </a:p>
        </p:txBody>
      </p:sp>
      <p:sp>
        <p:nvSpPr>
          <p:cNvPr id="15" name="Block Arc 14"/>
          <p:cNvSpPr/>
          <p:nvPr/>
        </p:nvSpPr>
        <p:spPr bwMode="gray">
          <a:xfrm>
            <a:off x="3170205" y="2736723"/>
            <a:ext cx="1593899" cy="1593902"/>
          </a:xfrm>
          <a:prstGeom prst="blockArc">
            <a:avLst>
              <a:gd name="adj1" fmla="val 19230586"/>
              <a:gd name="adj2" fmla="val 13149094"/>
              <a:gd name="adj3" fmla="val 1522"/>
            </a:avLst>
          </a:prstGeom>
          <a:solidFill>
            <a:schemeClr val="accent1"/>
          </a:solidFill>
          <a:ln w="19050" algn="ctr">
            <a:noFill/>
            <a:miter lim="800000"/>
            <a:headEnd/>
            <a:tailEnd/>
          </a:ln>
        </p:spPr>
        <p:txBody>
          <a:bodyPr wrap="square" lIns="80615" tIns="80615" rIns="80615" bIns="806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mj-lt"/>
              <a:ea typeface="+mn-ea"/>
              <a:cs typeface="+mn-cs"/>
            </a:endParaRPr>
          </a:p>
        </p:txBody>
      </p:sp>
      <p:sp>
        <p:nvSpPr>
          <p:cNvPr id="16" name="Oval 15"/>
          <p:cNvSpPr/>
          <p:nvPr/>
        </p:nvSpPr>
        <p:spPr bwMode="gray">
          <a:xfrm rot="10800000">
            <a:off x="3098222" y="2664742"/>
            <a:ext cx="1737866" cy="1737866"/>
          </a:xfrm>
          <a:prstGeom prst="ellipse">
            <a:avLst/>
          </a:prstGeom>
          <a:noFill/>
          <a:ln w="19050" algn="ctr">
            <a:solidFill>
              <a:schemeClr val="accent1"/>
            </a:solidFill>
            <a:prstDash val="dashDot"/>
            <a:miter lim="800000"/>
            <a:headEnd/>
            <a:tailEnd/>
          </a:ln>
        </p:spPr>
        <p:txBody>
          <a:bodyPr wrap="square" lIns="80615" tIns="80615" rIns="80615" bIns="806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mj-lt"/>
              <a:ea typeface="+mn-ea"/>
              <a:cs typeface="+mn-cs"/>
            </a:endParaRPr>
          </a:p>
        </p:txBody>
      </p:sp>
      <p:sp>
        <p:nvSpPr>
          <p:cNvPr id="17" name="Block Arc 16"/>
          <p:cNvSpPr/>
          <p:nvPr/>
        </p:nvSpPr>
        <p:spPr bwMode="gray">
          <a:xfrm rot="10800000">
            <a:off x="4780131" y="3626564"/>
            <a:ext cx="1419573" cy="1419573"/>
          </a:xfrm>
          <a:prstGeom prst="blockArc">
            <a:avLst>
              <a:gd name="adj1" fmla="val 19230586"/>
              <a:gd name="adj2" fmla="val 13033067"/>
              <a:gd name="adj3" fmla="val 1857"/>
            </a:avLst>
          </a:prstGeom>
          <a:solidFill>
            <a:schemeClr val="accent5"/>
          </a:solidFill>
          <a:ln w="19050" algn="ctr">
            <a:noFill/>
            <a:miter lim="800000"/>
            <a:headEnd/>
            <a:tailEnd/>
          </a:ln>
        </p:spPr>
        <p:txBody>
          <a:bodyPr wrap="square" lIns="80615" tIns="80615" rIns="80615" bIns="806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mj-lt"/>
              <a:ea typeface="+mn-ea"/>
              <a:cs typeface="+mn-cs"/>
            </a:endParaRPr>
          </a:p>
        </p:txBody>
      </p:sp>
      <p:sp>
        <p:nvSpPr>
          <p:cNvPr id="18" name="Block Arc 17"/>
          <p:cNvSpPr/>
          <p:nvPr/>
        </p:nvSpPr>
        <p:spPr bwMode="gray">
          <a:xfrm>
            <a:off x="4692968" y="3539399"/>
            <a:ext cx="1593899" cy="1593902"/>
          </a:xfrm>
          <a:prstGeom prst="blockArc">
            <a:avLst>
              <a:gd name="adj1" fmla="val 19230586"/>
              <a:gd name="adj2" fmla="val 13149094"/>
              <a:gd name="adj3" fmla="val 1522"/>
            </a:avLst>
          </a:prstGeom>
          <a:solidFill>
            <a:schemeClr val="accent5"/>
          </a:solidFill>
          <a:ln w="19050" algn="ctr">
            <a:noFill/>
            <a:miter lim="800000"/>
            <a:headEnd/>
            <a:tailEnd/>
          </a:ln>
        </p:spPr>
        <p:txBody>
          <a:bodyPr wrap="square" lIns="80615" tIns="80615" rIns="80615" bIns="806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mj-lt"/>
              <a:ea typeface="+mn-ea"/>
              <a:cs typeface="+mn-cs"/>
            </a:endParaRPr>
          </a:p>
        </p:txBody>
      </p:sp>
      <p:sp>
        <p:nvSpPr>
          <p:cNvPr id="19" name="Oval 18"/>
          <p:cNvSpPr/>
          <p:nvPr/>
        </p:nvSpPr>
        <p:spPr bwMode="gray">
          <a:xfrm rot="10800000">
            <a:off x="4620986" y="3467418"/>
            <a:ext cx="1737866" cy="1737866"/>
          </a:xfrm>
          <a:prstGeom prst="ellipse">
            <a:avLst/>
          </a:prstGeom>
          <a:noFill/>
          <a:ln w="19050" algn="ctr">
            <a:solidFill>
              <a:schemeClr val="accent5"/>
            </a:solidFill>
            <a:prstDash val="dashDot"/>
            <a:miter lim="800000"/>
            <a:headEnd/>
            <a:tailEnd/>
          </a:ln>
        </p:spPr>
        <p:txBody>
          <a:bodyPr wrap="square" lIns="80615" tIns="80615" rIns="80615" bIns="806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mj-lt"/>
              <a:ea typeface="+mn-ea"/>
              <a:cs typeface="+mn-cs"/>
            </a:endParaRPr>
          </a:p>
        </p:txBody>
      </p:sp>
      <p:sp>
        <p:nvSpPr>
          <p:cNvPr id="20" name="Block Arc 19"/>
          <p:cNvSpPr/>
          <p:nvPr/>
        </p:nvSpPr>
        <p:spPr bwMode="gray">
          <a:xfrm rot="10800000">
            <a:off x="6302895" y="2823888"/>
            <a:ext cx="1419573" cy="1419573"/>
          </a:xfrm>
          <a:prstGeom prst="blockArc">
            <a:avLst>
              <a:gd name="adj1" fmla="val 19230586"/>
              <a:gd name="adj2" fmla="val 13033067"/>
              <a:gd name="adj3" fmla="val 1857"/>
            </a:avLst>
          </a:prstGeom>
          <a:solidFill>
            <a:schemeClr val="accent3">
              <a:lumMod val="50000"/>
            </a:schemeClr>
          </a:solidFill>
          <a:ln w="19050" algn="ctr">
            <a:noFill/>
            <a:miter lim="800000"/>
            <a:headEnd/>
            <a:tailEnd/>
          </a:ln>
        </p:spPr>
        <p:txBody>
          <a:bodyPr wrap="square" lIns="80615" tIns="80615" rIns="80615" bIns="806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mj-lt"/>
              <a:ea typeface="+mn-ea"/>
              <a:cs typeface="+mn-cs"/>
            </a:endParaRPr>
          </a:p>
        </p:txBody>
      </p:sp>
      <p:sp>
        <p:nvSpPr>
          <p:cNvPr id="21" name="Block Arc 20"/>
          <p:cNvSpPr/>
          <p:nvPr/>
        </p:nvSpPr>
        <p:spPr bwMode="gray">
          <a:xfrm>
            <a:off x="6215732" y="2736723"/>
            <a:ext cx="1593899" cy="1593902"/>
          </a:xfrm>
          <a:prstGeom prst="blockArc">
            <a:avLst>
              <a:gd name="adj1" fmla="val 19230586"/>
              <a:gd name="adj2" fmla="val 13149094"/>
              <a:gd name="adj3" fmla="val 1522"/>
            </a:avLst>
          </a:prstGeom>
          <a:solidFill>
            <a:schemeClr val="accent3">
              <a:lumMod val="50000"/>
            </a:schemeClr>
          </a:solidFill>
          <a:ln w="19050" algn="ctr">
            <a:noFill/>
            <a:miter lim="800000"/>
            <a:headEnd/>
            <a:tailEnd/>
          </a:ln>
        </p:spPr>
        <p:txBody>
          <a:bodyPr wrap="square" lIns="80615" tIns="80615" rIns="80615" bIns="806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mj-lt"/>
              <a:ea typeface="+mn-ea"/>
              <a:cs typeface="+mn-cs"/>
            </a:endParaRPr>
          </a:p>
        </p:txBody>
      </p:sp>
      <p:sp>
        <p:nvSpPr>
          <p:cNvPr id="22" name="Oval 21"/>
          <p:cNvSpPr/>
          <p:nvPr/>
        </p:nvSpPr>
        <p:spPr bwMode="gray">
          <a:xfrm rot="10800000">
            <a:off x="6143749" y="2664742"/>
            <a:ext cx="1737866" cy="1737866"/>
          </a:xfrm>
          <a:prstGeom prst="ellipse">
            <a:avLst/>
          </a:prstGeom>
          <a:noFill/>
          <a:ln w="19050" algn="ctr">
            <a:solidFill>
              <a:schemeClr val="accent3">
                <a:lumMod val="50000"/>
              </a:schemeClr>
            </a:solidFill>
            <a:prstDash val="dashDot"/>
            <a:miter lim="800000"/>
            <a:headEnd/>
            <a:tailEnd/>
          </a:ln>
        </p:spPr>
        <p:txBody>
          <a:bodyPr wrap="square" lIns="80615" tIns="80615" rIns="80615" bIns="806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mj-lt"/>
              <a:ea typeface="+mn-ea"/>
              <a:cs typeface="+mn-cs"/>
            </a:endParaRPr>
          </a:p>
        </p:txBody>
      </p:sp>
      <p:sp>
        <p:nvSpPr>
          <p:cNvPr id="23" name="Oval 22"/>
          <p:cNvSpPr/>
          <p:nvPr/>
        </p:nvSpPr>
        <p:spPr bwMode="gray">
          <a:xfrm>
            <a:off x="329086" y="2943974"/>
            <a:ext cx="1185082" cy="1185082"/>
          </a:xfrm>
          <a:prstGeom prst="ellipse">
            <a:avLst/>
          </a:prstGeom>
          <a:solidFill>
            <a:schemeClr val="accent4"/>
          </a:solidFill>
          <a:ln w="19050" algn="ctr">
            <a:noFill/>
            <a:miter lim="800000"/>
            <a:headEnd/>
            <a:tailEnd/>
          </a:ln>
        </p:spPr>
        <p:txBody>
          <a:bodyPr wrap="none" lIns="0" tIns="80615" rIns="0" bIns="8061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dirty="0">
                <a:ln>
                  <a:noFill/>
                </a:ln>
                <a:solidFill>
                  <a:prstClr val="white"/>
                </a:solidFill>
                <a:effectLst/>
                <a:uLnTx/>
                <a:uFillTx/>
                <a:latin typeface="+mj-lt"/>
                <a:ea typeface="+mn-ea"/>
                <a:cs typeface="+mn-cs"/>
              </a:rPr>
              <a:t>of the</a:t>
            </a:r>
            <a:r>
              <a:rPr kumimoji="0" lang="en-US" sz="1400" b="1" i="0" u="none" strike="noStrike" kern="1200" cap="none" spc="0" normalizeH="0" baseline="0" noProof="0" dirty="0">
                <a:ln>
                  <a:noFill/>
                </a:ln>
                <a:solidFill>
                  <a:prstClr val="white"/>
                </a:solidFill>
                <a:effectLst/>
                <a:uLnTx/>
                <a:uFillTx/>
                <a:latin typeface="+mj-lt"/>
                <a:ea typeface="+mn-ea"/>
                <a:cs typeface="+mn-cs"/>
              </a:rPr>
              <a:t> 17 </a:t>
            </a:r>
            <a:r>
              <a:rPr kumimoji="0" lang="en-US" sz="1100" b="1" i="0" u="none" strike="noStrike" kern="1200" cap="none" spc="0" normalizeH="0" baseline="0" noProof="0" dirty="0">
                <a:ln>
                  <a:noFill/>
                </a:ln>
                <a:solidFill>
                  <a:prstClr val="white"/>
                </a:solidFill>
                <a:effectLst/>
                <a:uLnTx/>
                <a:uFillTx/>
                <a:latin typeface="+mj-lt"/>
                <a:ea typeface="+mn-ea"/>
                <a:cs typeface="+mn-cs"/>
              </a:rPr>
              <a:t>largest </a:t>
            </a:r>
            <a:br>
              <a:rPr kumimoji="0" lang="en-US" sz="1100" b="1" i="0" u="none" strike="noStrike" kern="1200" cap="none" spc="0" normalizeH="0" baseline="0" noProof="0" dirty="0">
                <a:ln>
                  <a:noFill/>
                </a:ln>
                <a:solidFill>
                  <a:prstClr val="white"/>
                </a:solidFill>
                <a:effectLst/>
                <a:uLnTx/>
                <a:uFillTx/>
                <a:latin typeface="+mj-lt"/>
                <a:ea typeface="+mn-ea"/>
                <a:cs typeface="+mn-cs"/>
              </a:rPr>
            </a:br>
            <a:r>
              <a:rPr kumimoji="0" lang="en-US" sz="1400" b="1" i="0" u="none" strike="noStrike" kern="1200" cap="none" spc="0" normalizeH="0" baseline="0" noProof="0" dirty="0">
                <a:ln>
                  <a:noFill/>
                </a:ln>
                <a:solidFill>
                  <a:prstClr val="white"/>
                </a:solidFill>
                <a:effectLst/>
                <a:uLnTx/>
                <a:uFillTx/>
                <a:latin typeface="+mj-lt"/>
                <a:ea typeface="+mn-ea"/>
                <a:cs typeface="+mn-cs"/>
              </a:rPr>
              <a:t>Mining</a:t>
            </a:r>
            <a:r>
              <a:rPr kumimoji="0" lang="en-US" sz="1100" b="1" i="0" u="none" strike="noStrike" kern="1200" cap="none" spc="0" normalizeH="0" baseline="0" noProof="0" dirty="0">
                <a:ln>
                  <a:noFill/>
                </a:ln>
                <a:solidFill>
                  <a:prstClr val="white"/>
                </a:solidFill>
                <a:effectLst/>
                <a:uLnTx/>
                <a:uFillTx/>
                <a:latin typeface="+mj-lt"/>
                <a:ea typeface="+mn-ea"/>
                <a:cs typeface="+mn-cs"/>
              </a:rPr>
              <a:t> </a:t>
            </a:r>
            <a:br>
              <a:rPr kumimoji="0" lang="en-US" sz="1100" b="1" i="0" u="none" strike="noStrike" kern="1200" cap="none" spc="0" normalizeH="0" baseline="0" noProof="0" dirty="0">
                <a:ln>
                  <a:noFill/>
                </a:ln>
                <a:solidFill>
                  <a:prstClr val="white"/>
                </a:solidFill>
                <a:effectLst/>
                <a:uLnTx/>
                <a:uFillTx/>
                <a:latin typeface="+mj-lt"/>
                <a:ea typeface="+mn-ea"/>
                <a:cs typeface="+mn-cs"/>
              </a:rPr>
            </a:br>
            <a:r>
              <a:rPr kumimoji="0" lang="en-US" sz="1100" b="1" i="0" u="none" strike="noStrike" kern="1200" cap="none" spc="0" normalizeH="0" baseline="0" noProof="0" dirty="0">
                <a:ln>
                  <a:noFill/>
                </a:ln>
                <a:solidFill>
                  <a:prstClr val="white"/>
                </a:solidFill>
                <a:effectLst/>
                <a:uLnTx/>
                <a:uFillTx/>
                <a:latin typeface="+mj-lt"/>
                <a:ea typeface="+mn-ea"/>
                <a:cs typeface="+mn-cs"/>
              </a:rPr>
              <a:t>companies</a:t>
            </a:r>
          </a:p>
        </p:txBody>
      </p:sp>
      <p:sp>
        <p:nvSpPr>
          <p:cNvPr id="24" name="Oval 23"/>
          <p:cNvSpPr/>
          <p:nvPr/>
        </p:nvSpPr>
        <p:spPr bwMode="gray">
          <a:xfrm>
            <a:off x="3374613" y="2941134"/>
            <a:ext cx="1185082" cy="1185082"/>
          </a:xfrm>
          <a:prstGeom prst="ellipse">
            <a:avLst/>
          </a:prstGeom>
          <a:solidFill>
            <a:schemeClr val="accent1">
              <a:lumMod val="75000"/>
            </a:schemeClr>
          </a:solidFill>
          <a:ln w="19050" algn="ctr">
            <a:noFill/>
            <a:miter lim="800000"/>
            <a:headEnd/>
            <a:tailEnd/>
          </a:ln>
        </p:spPr>
        <p:txBody>
          <a:bodyPr rot="0" spcFirstLastPara="0" vertOverflow="overflow" horzOverflow="overflow" vert="horz" wrap="none" lIns="0" tIns="80615" rIns="0" bIns="80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dirty="0">
                <a:ln>
                  <a:noFill/>
                </a:ln>
                <a:solidFill>
                  <a:prstClr val="white"/>
                </a:solidFill>
                <a:effectLst/>
                <a:uLnTx/>
                <a:uFillTx/>
                <a:latin typeface="+mj-lt"/>
                <a:ea typeface="+mn-ea"/>
                <a:cs typeface="+mn-cs"/>
              </a:rPr>
              <a:t>of the </a:t>
            </a:r>
            <a:r>
              <a:rPr kumimoji="0" lang="en-US" sz="1400" b="1" i="0" u="none" strike="noStrike" kern="1200" cap="none" spc="0" normalizeH="0" baseline="0" noProof="0" dirty="0">
                <a:ln>
                  <a:noFill/>
                </a:ln>
                <a:solidFill>
                  <a:srgbClr val="86BC25">
                    <a:lumMod val="20000"/>
                    <a:lumOff val="80000"/>
                  </a:srgbClr>
                </a:solidFill>
                <a:effectLst/>
                <a:uLnTx/>
                <a:uFillTx/>
                <a:latin typeface="+mj-lt"/>
                <a:ea typeface="+mn-ea"/>
                <a:cs typeface="+mn-cs"/>
              </a:rPr>
              <a:t>26 </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dirty="0">
                <a:ln>
                  <a:noFill/>
                </a:ln>
                <a:solidFill>
                  <a:prstClr val="white"/>
                </a:solidFill>
                <a:effectLst/>
                <a:uLnTx/>
                <a:uFillTx/>
                <a:latin typeface="+mj-lt"/>
                <a:ea typeface="+mn-ea"/>
                <a:cs typeface="+mn-cs"/>
              </a:rPr>
              <a:t>largest </a:t>
            </a:r>
            <a:r>
              <a:rPr kumimoji="0" lang="en-US" sz="1400" b="1" i="0" u="none" strike="noStrike" kern="1200" cap="none" spc="0" normalizeH="0" baseline="0" noProof="0" dirty="0">
                <a:ln>
                  <a:noFill/>
                </a:ln>
                <a:solidFill>
                  <a:srgbClr val="86BC25">
                    <a:lumMod val="20000"/>
                    <a:lumOff val="80000"/>
                  </a:srgbClr>
                </a:solidFill>
                <a:effectLst/>
                <a:uLnTx/>
                <a:uFillTx/>
                <a:latin typeface="+mj-lt"/>
                <a:ea typeface="+mn-ea"/>
                <a:cs typeface="+mn-cs"/>
              </a:rPr>
              <a:t>Power</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dirty="0">
                <a:ln>
                  <a:noFill/>
                </a:ln>
                <a:solidFill>
                  <a:prstClr val="white"/>
                </a:solidFill>
                <a:effectLst/>
                <a:uLnTx/>
                <a:uFillTx/>
                <a:latin typeface="+mj-lt"/>
                <a:ea typeface="+mn-ea"/>
                <a:cs typeface="+mn-cs"/>
              </a:rPr>
              <a:t>companies</a:t>
            </a:r>
          </a:p>
        </p:txBody>
      </p:sp>
      <p:sp>
        <p:nvSpPr>
          <p:cNvPr id="25" name="Oval 24"/>
          <p:cNvSpPr/>
          <p:nvPr/>
        </p:nvSpPr>
        <p:spPr bwMode="gray">
          <a:xfrm>
            <a:off x="6420142" y="2941135"/>
            <a:ext cx="1185082" cy="1185082"/>
          </a:xfrm>
          <a:prstGeom prst="ellipse">
            <a:avLst/>
          </a:prstGeom>
          <a:solidFill>
            <a:schemeClr val="accent3">
              <a:lumMod val="50000"/>
            </a:schemeClr>
          </a:solidFill>
          <a:ln w="19050" algn="ctr">
            <a:noFill/>
            <a:miter lim="800000"/>
            <a:headEnd/>
            <a:tailEnd/>
          </a:ln>
        </p:spPr>
        <p:txBody>
          <a:bodyPr rot="0" spcFirstLastPara="0" vertOverflow="overflow" horzOverflow="overflow" vert="horz" wrap="none" lIns="0" tIns="80615" rIns="0" bIns="80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dirty="0">
                <a:ln>
                  <a:noFill/>
                </a:ln>
                <a:solidFill>
                  <a:prstClr val="white"/>
                </a:solidFill>
                <a:effectLst/>
                <a:uLnTx/>
                <a:uFillTx/>
                <a:latin typeface="+mj-lt"/>
                <a:ea typeface="+mn-ea"/>
                <a:cs typeface="+mn-cs"/>
              </a:rPr>
              <a:t>of the</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dirty="0">
                <a:ln>
                  <a:noFill/>
                </a:ln>
                <a:solidFill>
                  <a:srgbClr val="26890D">
                    <a:lumMod val="20000"/>
                    <a:lumOff val="80000"/>
                  </a:srgbClr>
                </a:solidFill>
                <a:effectLst/>
                <a:uLnTx/>
                <a:uFillTx/>
                <a:latin typeface="+mj-lt"/>
                <a:ea typeface="+mn-ea"/>
                <a:cs typeface="+mn-cs"/>
              </a:rPr>
              <a:t>Water </a:t>
            </a:r>
            <a:r>
              <a:rPr kumimoji="0" lang="en-US" sz="1100" b="1" i="0" u="none" strike="noStrike" kern="1200" cap="none" spc="0" normalizeH="0" baseline="0" noProof="0" dirty="0">
                <a:ln>
                  <a:noFill/>
                </a:ln>
                <a:solidFill>
                  <a:prstClr val="white"/>
                </a:solidFill>
                <a:effectLst/>
                <a:uLnTx/>
                <a:uFillTx/>
                <a:latin typeface="+mj-lt"/>
                <a:ea typeface="+mn-ea"/>
                <a:cs typeface="+mn-cs"/>
              </a:rPr>
              <a:t>companies</a:t>
            </a:r>
          </a:p>
        </p:txBody>
      </p:sp>
      <p:sp>
        <p:nvSpPr>
          <p:cNvPr id="26" name="Oval 25"/>
          <p:cNvSpPr/>
          <p:nvPr/>
        </p:nvSpPr>
        <p:spPr bwMode="gray">
          <a:xfrm>
            <a:off x="4897377" y="3743810"/>
            <a:ext cx="1185082" cy="1185082"/>
          </a:xfrm>
          <a:prstGeom prst="ellipse">
            <a:avLst/>
          </a:prstGeom>
          <a:solidFill>
            <a:schemeClr val="accent5"/>
          </a:solidFill>
          <a:ln w="19050" algn="ctr">
            <a:noFill/>
            <a:miter lim="800000"/>
            <a:headEnd/>
            <a:tailEnd/>
          </a:ln>
        </p:spPr>
        <p:txBody>
          <a:bodyPr rot="0" spcFirstLastPara="0" vertOverflow="overflow" horzOverflow="overflow" vert="horz" wrap="none" lIns="0" tIns="80615" rIns="0" bIns="80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dirty="0">
                <a:ln>
                  <a:noFill/>
                </a:ln>
                <a:solidFill>
                  <a:prstClr val="white"/>
                </a:solidFill>
                <a:effectLst/>
                <a:uLnTx/>
                <a:uFillTx/>
                <a:latin typeface="+mj-lt"/>
                <a:ea typeface="+mn-ea"/>
                <a:cs typeface="+mn-cs"/>
              </a:rPr>
              <a:t>of the largest </a:t>
            </a:r>
            <a:br>
              <a:rPr kumimoji="0" lang="en-US" sz="1100" b="1" i="0" u="none" strike="noStrike" kern="1200" cap="none" spc="0" normalizeH="0" baseline="0" noProof="0" dirty="0">
                <a:ln>
                  <a:noFill/>
                </a:ln>
                <a:solidFill>
                  <a:prstClr val="white"/>
                </a:solidFill>
                <a:effectLst/>
                <a:uLnTx/>
                <a:uFillTx/>
                <a:latin typeface="+mj-lt"/>
                <a:ea typeface="+mn-ea"/>
                <a:cs typeface="+mn-cs"/>
              </a:rPr>
            </a:br>
            <a:r>
              <a:rPr kumimoji="0" lang="en-US" sz="1200" b="1" i="0" u="none" strike="noStrike" kern="1200" cap="none" spc="0" normalizeH="0" baseline="0" noProof="0" dirty="0">
                <a:ln>
                  <a:noFill/>
                </a:ln>
                <a:solidFill>
                  <a:srgbClr val="0D8390">
                    <a:lumMod val="20000"/>
                    <a:lumOff val="80000"/>
                  </a:srgbClr>
                </a:solidFill>
                <a:effectLst/>
                <a:uLnTx/>
                <a:uFillTx/>
                <a:latin typeface="+mj-lt"/>
                <a:ea typeface="+mn-ea"/>
                <a:cs typeface="+mn-cs"/>
              </a:rPr>
              <a:t>Shipping &amp; Ports</a:t>
            </a:r>
            <a:endParaRPr kumimoji="0" lang="en-US" sz="1400" b="1" i="0" u="none" strike="noStrike" kern="1200" cap="none" spc="0" normalizeH="0" baseline="0" noProof="0" dirty="0">
              <a:ln>
                <a:noFill/>
              </a:ln>
              <a:solidFill>
                <a:srgbClr val="0D8390">
                  <a:lumMod val="20000"/>
                  <a:lumOff val="80000"/>
                </a:srgbClr>
              </a:solidFill>
              <a:effectLst/>
              <a:uLnTx/>
              <a:uFillTx/>
              <a:latin typeface="+mj-lt"/>
              <a:ea typeface="+mn-ea"/>
              <a:cs typeface="+mn-cs"/>
            </a:endParaRP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dirty="0">
                <a:ln>
                  <a:noFill/>
                </a:ln>
                <a:solidFill>
                  <a:prstClr val="white"/>
                </a:solidFill>
                <a:effectLst/>
                <a:uLnTx/>
                <a:uFillTx/>
                <a:latin typeface="+mj-lt"/>
                <a:ea typeface="+mn-ea"/>
                <a:cs typeface="+mn-cs"/>
              </a:rPr>
              <a:t>companies</a:t>
            </a:r>
          </a:p>
        </p:txBody>
      </p:sp>
      <p:sp>
        <p:nvSpPr>
          <p:cNvPr id="27" name="Oval 26"/>
          <p:cNvSpPr/>
          <p:nvPr/>
        </p:nvSpPr>
        <p:spPr bwMode="gray">
          <a:xfrm>
            <a:off x="1851849" y="3743810"/>
            <a:ext cx="1185082" cy="1185082"/>
          </a:xfrm>
          <a:prstGeom prst="ellipse">
            <a:avLst/>
          </a:prstGeom>
          <a:solidFill>
            <a:schemeClr val="accent3"/>
          </a:solidFill>
          <a:ln w="19050" algn="ctr">
            <a:noFill/>
            <a:miter lim="800000"/>
            <a:headEnd/>
            <a:tailEnd/>
          </a:ln>
        </p:spPr>
        <p:txBody>
          <a:bodyPr rot="0" spcFirstLastPara="0" vertOverflow="overflow" horzOverflow="overflow" vert="horz" wrap="none" lIns="0" tIns="80615" rIns="0" bIns="80615"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100" b="1" i="0" u="none" strike="noStrike" kern="1200" cap="none" spc="0" normalizeH="0" baseline="0" noProof="0" dirty="0">
              <a:ln>
                <a:noFill/>
              </a:ln>
              <a:solidFill>
                <a:prstClr val="white"/>
              </a:solidFill>
              <a:effectLst/>
              <a:uLnTx/>
              <a:uFillTx/>
              <a:latin typeface="+mj-lt"/>
              <a:ea typeface="+mn-ea"/>
              <a:cs typeface="+mn-cs"/>
            </a:endParaRP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dirty="0">
                <a:ln>
                  <a:noFill/>
                </a:ln>
                <a:solidFill>
                  <a:prstClr val="white"/>
                </a:solidFill>
                <a:effectLst/>
                <a:uLnTx/>
                <a:uFillTx/>
                <a:latin typeface="+mj-lt"/>
                <a:ea typeface="+mn-ea"/>
                <a:cs typeface="+mn-cs"/>
              </a:rPr>
              <a:t>of the </a:t>
            </a:r>
            <a:r>
              <a:rPr kumimoji="0" lang="en-US" sz="1400" b="1" i="0" u="none" strike="noStrike" kern="1200" cap="none" spc="0" normalizeH="0" baseline="0" noProof="0" dirty="0">
                <a:ln>
                  <a:noFill/>
                </a:ln>
                <a:solidFill>
                  <a:srgbClr val="26890D">
                    <a:lumMod val="50000"/>
                  </a:srgbClr>
                </a:solidFill>
                <a:effectLst/>
                <a:uLnTx/>
                <a:uFillTx/>
                <a:latin typeface="+mj-lt"/>
                <a:ea typeface="+mn-ea"/>
                <a:cs typeface="+mn-cs"/>
              </a:rPr>
              <a:t>49 </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100" b="1" i="0" u="none" strike="noStrike" kern="1200" cap="none" spc="0" normalizeH="0" baseline="0" noProof="0" dirty="0">
                <a:ln>
                  <a:noFill/>
                </a:ln>
                <a:solidFill>
                  <a:prstClr val="white"/>
                </a:solidFill>
                <a:effectLst/>
                <a:uLnTx/>
                <a:uFillTx/>
                <a:latin typeface="+mj-lt"/>
                <a:ea typeface="+mn-ea"/>
                <a:cs typeface="+mn-cs"/>
              </a:rPr>
              <a:t>largest </a:t>
            </a:r>
          </a:p>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dirty="0">
                <a:ln>
                  <a:noFill/>
                </a:ln>
                <a:solidFill>
                  <a:srgbClr val="26890D">
                    <a:lumMod val="50000"/>
                  </a:srgbClr>
                </a:solidFill>
                <a:effectLst/>
                <a:uLnTx/>
                <a:uFillTx/>
                <a:latin typeface="+mj-lt"/>
                <a:ea typeface="+mn-ea"/>
                <a:cs typeface="+mn-cs"/>
              </a:rPr>
              <a:t>Oil &amp; Gas </a:t>
            </a:r>
            <a:br>
              <a:rPr kumimoji="0" lang="en-US" sz="1400" b="1" i="0" u="none" strike="noStrike" kern="1200" cap="none" spc="0" normalizeH="0" baseline="0" noProof="0" dirty="0">
                <a:ln>
                  <a:noFill/>
                </a:ln>
                <a:solidFill>
                  <a:srgbClr val="26890D">
                    <a:lumMod val="50000"/>
                  </a:srgbClr>
                </a:solidFill>
                <a:effectLst/>
                <a:uLnTx/>
                <a:uFillTx/>
                <a:latin typeface="+mj-lt"/>
                <a:ea typeface="+mn-ea"/>
                <a:cs typeface="+mn-cs"/>
              </a:rPr>
            </a:br>
            <a:r>
              <a:rPr kumimoji="0" lang="en-US" sz="1100" b="1" i="0" u="none" strike="noStrike" kern="1200" cap="none" spc="0" normalizeH="0" baseline="0" noProof="0" dirty="0">
                <a:ln>
                  <a:noFill/>
                </a:ln>
                <a:solidFill>
                  <a:prstClr val="white"/>
                </a:solidFill>
                <a:effectLst/>
                <a:uLnTx/>
                <a:uFillTx/>
                <a:latin typeface="+mj-lt"/>
                <a:ea typeface="+mn-ea"/>
                <a:cs typeface="+mn-cs"/>
              </a:rPr>
              <a:t>companies</a:t>
            </a:r>
          </a:p>
        </p:txBody>
      </p:sp>
      <p:sp>
        <p:nvSpPr>
          <p:cNvPr id="28" name="Oval 27"/>
          <p:cNvSpPr/>
          <p:nvPr/>
        </p:nvSpPr>
        <p:spPr>
          <a:xfrm>
            <a:off x="599696" y="2943975"/>
            <a:ext cx="643861" cy="327438"/>
          </a:xfrm>
          <a:prstGeom prst="ellipse">
            <a:avLst/>
          </a:prstGeom>
          <a:solidFill>
            <a:schemeClr val="bg1"/>
          </a:solidFill>
          <a:ln w="9525">
            <a:solidFill>
              <a:schemeClr val="accent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2776"/>
                </a:solidFill>
                <a:effectLst/>
                <a:uLnTx/>
                <a:uFillTx/>
                <a:latin typeface="+mj-lt"/>
                <a:ea typeface="+mn-ea"/>
                <a:cs typeface="+mn-cs"/>
              </a:rPr>
              <a:t>10</a:t>
            </a:r>
          </a:p>
        </p:txBody>
      </p:sp>
      <p:sp>
        <p:nvSpPr>
          <p:cNvPr id="29" name="Oval 28"/>
          <p:cNvSpPr/>
          <p:nvPr/>
        </p:nvSpPr>
        <p:spPr>
          <a:xfrm>
            <a:off x="3645224" y="2943975"/>
            <a:ext cx="643861" cy="327438"/>
          </a:xfrm>
          <a:prstGeom prst="ellipse">
            <a:avLst/>
          </a:prstGeom>
          <a:solidFill>
            <a:schemeClr val="bg1"/>
          </a:solidFill>
          <a:ln w="9525">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86BC25">
                    <a:lumMod val="75000"/>
                  </a:srgbClr>
                </a:solidFill>
                <a:effectLst/>
                <a:uLnTx/>
                <a:uFillTx/>
                <a:latin typeface="+mj-lt"/>
                <a:ea typeface="+mn-ea"/>
                <a:cs typeface="+mn-cs"/>
              </a:rPr>
              <a:t>21</a:t>
            </a:r>
          </a:p>
        </p:txBody>
      </p:sp>
      <p:sp>
        <p:nvSpPr>
          <p:cNvPr id="30" name="Oval 29"/>
          <p:cNvSpPr/>
          <p:nvPr/>
        </p:nvSpPr>
        <p:spPr>
          <a:xfrm>
            <a:off x="6690753" y="2943975"/>
            <a:ext cx="643861" cy="327438"/>
          </a:xfrm>
          <a:prstGeom prst="ellipse">
            <a:avLst/>
          </a:prstGeom>
          <a:solidFill>
            <a:schemeClr val="bg1"/>
          </a:solidFill>
          <a:ln w="9525">
            <a:solidFill>
              <a:schemeClr val="accent3">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6890D">
                    <a:lumMod val="50000"/>
                  </a:srgbClr>
                </a:solidFill>
                <a:effectLst/>
                <a:uLnTx/>
                <a:uFillTx/>
                <a:latin typeface="+mj-lt"/>
                <a:ea typeface="+mn-ea"/>
                <a:cs typeface="+mn-cs"/>
              </a:rPr>
              <a:t>All</a:t>
            </a:r>
          </a:p>
        </p:txBody>
      </p:sp>
      <p:sp>
        <p:nvSpPr>
          <p:cNvPr id="31" name="Oval 30"/>
          <p:cNvSpPr/>
          <p:nvPr/>
        </p:nvSpPr>
        <p:spPr>
          <a:xfrm>
            <a:off x="2122459" y="3743810"/>
            <a:ext cx="643861" cy="327438"/>
          </a:xfrm>
          <a:prstGeom prst="ellipse">
            <a:avLst/>
          </a:prstGeom>
          <a:solidFill>
            <a:schemeClr val="bg1"/>
          </a:solidFill>
          <a:ln w="9525">
            <a:solidFill>
              <a:schemeClr val="accent3"/>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6890D"/>
                </a:solidFill>
                <a:effectLst/>
                <a:uLnTx/>
                <a:uFillTx/>
                <a:latin typeface="+mj-lt"/>
                <a:ea typeface="+mn-ea"/>
                <a:cs typeface="+mn-cs"/>
              </a:rPr>
              <a:t>35</a:t>
            </a:r>
          </a:p>
        </p:txBody>
      </p:sp>
      <p:sp>
        <p:nvSpPr>
          <p:cNvPr id="32" name="Oval 31"/>
          <p:cNvSpPr/>
          <p:nvPr/>
        </p:nvSpPr>
        <p:spPr>
          <a:xfrm>
            <a:off x="5167987" y="3743810"/>
            <a:ext cx="643861" cy="327438"/>
          </a:xfrm>
          <a:prstGeom prst="ellipse">
            <a:avLst/>
          </a:prstGeom>
          <a:solidFill>
            <a:schemeClr val="bg1"/>
          </a:solidFill>
          <a:ln w="9525">
            <a:solidFill>
              <a:schemeClr val="accent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D8390"/>
                </a:solidFill>
                <a:effectLst/>
                <a:uLnTx/>
                <a:uFillTx/>
                <a:latin typeface="+mj-lt"/>
                <a:ea typeface="+mn-ea"/>
                <a:cs typeface="+mn-cs"/>
              </a:rPr>
              <a:t>All</a:t>
            </a:r>
          </a:p>
        </p:txBody>
      </p:sp>
      <p:sp>
        <p:nvSpPr>
          <p:cNvPr id="34" name="Rectangle 33"/>
          <p:cNvSpPr/>
          <p:nvPr/>
        </p:nvSpPr>
        <p:spPr bwMode="gray">
          <a:xfrm>
            <a:off x="7934979" y="0"/>
            <a:ext cx="4257021" cy="6858000"/>
          </a:xfrm>
          <a:prstGeom prst="rect">
            <a:avLst/>
          </a:prstGeom>
          <a:solidFill>
            <a:srgbClr val="000000"/>
          </a:solidFill>
          <a:ln w="76200" algn="ctr">
            <a:noFill/>
            <a:miter lim="800000"/>
            <a:headEnd/>
            <a:tailEnd/>
          </a:ln>
        </p:spPr>
        <p:txBody>
          <a:bodyPr wrap="square" lIns="60614" tIns="60614" rIns="60614" bIns="60614" rtlCol="0" anchor="ctr"/>
          <a:lstStyle/>
          <a:p>
            <a:pPr marL="0" marR="0" lvl="0" indent="0" algn="ctr" defTabSz="623438" rtl="0" eaLnBrk="1" fontAlgn="base" latinLnBrk="0" hangingPunct="1">
              <a:lnSpc>
                <a:spcPct val="106000"/>
              </a:lnSpc>
              <a:spcBef>
                <a:spcPct val="20000"/>
              </a:spcBef>
              <a:spcAft>
                <a:spcPct val="0"/>
              </a:spcAft>
              <a:buClrTx/>
              <a:buSzTx/>
              <a:buFontTx/>
              <a:buNone/>
              <a:tabLst/>
              <a:defRPr/>
            </a:pPr>
            <a:endParaRPr kumimoji="0" lang="en-US" sz="1200" b="1" i="0" u="none" strike="noStrike" kern="1200" cap="none" spc="0" normalizeH="0" baseline="0" noProof="0" dirty="0">
              <a:ln>
                <a:noFill/>
              </a:ln>
              <a:solidFill>
                <a:prstClr val="white"/>
              </a:solidFill>
              <a:effectLst/>
              <a:uLnTx/>
              <a:uFillTx/>
              <a:latin typeface="+mj-lt"/>
              <a:ea typeface="+mn-ea"/>
              <a:cs typeface="Arial" pitchFamily="34" charset="0"/>
            </a:endParaRPr>
          </a:p>
        </p:txBody>
      </p:sp>
      <p:pic>
        <p:nvPicPr>
          <p:cNvPr id="35" name="Picture 34"/>
          <p:cNvPicPr>
            <a:picLocks noChangeAspect="1"/>
          </p:cNvPicPr>
          <p:nvPr/>
        </p:nvPicPr>
        <p:blipFill rotWithShape="1">
          <a:blip r:embed="rId2" cstate="print">
            <a:extLst>
              <a:ext uri="{28A0092B-C50C-407E-A947-70E740481C1C}">
                <a14:useLocalDpi xmlns:a14="http://schemas.microsoft.com/office/drawing/2010/main" val="0"/>
              </a:ext>
            </a:extLst>
          </a:blip>
          <a:srcRect t="-5916"/>
          <a:stretch/>
        </p:blipFill>
        <p:spPr>
          <a:xfrm>
            <a:off x="8050930" y="5277725"/>
            <a:ext cx="3959324" cy="1268548"/>
          </a:xfrm>
          <a:prstGeom prst="rect">
            <a:avLst/>
          </a:prstGeom>
        </p:spPr>
      </p:pic>
      <p:sp>
        <p:nvSpPr>
          <p:cNvPr id="36" name="Rectangle 13"/>
          <p:cNvSpPr>
            <a:spLocks noChangeArrowheads="1"/>
          </p:cNvSpPr>
          <p:nvPr/>
        </p:nvSpPr>
        <p:spPr bwMode="auto">
          <a:xfrm>
            <a:off x="8106621" y="311727"/>
            <a:ext cx="384794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623438"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all" spc="0" normalizeH="0" baseline="0" noProof="0" dirty="0">
                <a:ln>
                  <a:noFill/>
                </a:ln>
                <a:solidFill>
                  <a:srgbClr val="86BC25"/>
                </a:solidFill>
                <a:effectLst/>
                <a:uLnTx/>
                <a:uFillTx/>
                <a:latin typeface="+mj-lt"/>
                <a:ea typeface="+mn-ea"/>
                <a:cs typeface="Arial" pitchFamily="34" charset="0"/>
              </a:rPr>
              <a:t>Power Utilities Global Practice by the Numbers</a:t>
            </a:r>
          </a:p>
          <a:p>
            <a:pPr marL="0" marR="0" lvl="0" indent="0" algn="ctr" defTabSz="623438" rtl="0" eaLnBrk="0" fontAlgn="base" latinLnBrk="0" hangingPunct="0">
              <a:lnSpc>
                <a:spcPct val="100000"/>
              </a:lnSpc>
              <a:spcBef>
                <a:spcPct val="0"/>
              </a:spcBef>
              <a:spcAft>
                <a:spcPct val="0"/>
              </a:spcAft>
              <a:buClrTx/>
              <a:buSzTx/>
              <a:buFontTx/>
              <a:buNone/>
              <a:tabLst/>
              <a:defRPr/>
            </a:pPr>
            <a:endParaRPr kumimoji="0" lang="en-US" altLang="en-US" sz="1600" b="1" i="0" u="none" strike="noStrike" kern="1200" cap="all" spc="0" normalizeH="0" baseline="0" noProof="0" dirty="0">
              <a:ln>
                <a:noFill/>
              </a:ln>
              <a:solidFill>
                <a:srgbClr val="86BC25"/>
              </a:solidFill>
              <a:effectLst/>
              <a:uLnTx/>
              <a:uFillTx/>
              <a:latin typeface="+mj-lt"/>
              <a:ea typeface="+mn-ea"/>
              <a:cs typeface="Arial" pitchFamily="34" charset="0"/>
            </a:endParaRPr>
          </a:p>
          <a:p>
            <a:pPr marL="0" marR="0" lvl="0" indent="0" algn="ctr" defTabSz="623438"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all" spc="0" normalizeH="0" baseline="0" noProof="0" dirty="0">
              <a:ln>
                <a:noFill/>
              </a:ln>
              <a:solidFill>
                <a:srgbClr val="86BC25"/>
              </a:solidFill>
              <a:effectLst/>
              <a:uLnTx/>
              <a:uFillTx/>
              <a:latin typeface="+mj-lt"/>
              <a:ea typeface="+mn-ea"/>
              <a:cs typeface="Arial" pitchFamily="34" charset="0"/>
            </a:endParaRPr>
          </a:p>
        </p:txBody>
      </p:sp>
      <p:sp>
        <p:nvSpPr>
          <p:cNvPr id="37" name="Rectangle 36"/>
          <p:cNvSpPr>
            <a:spLocks noChangeArrowheads="1"/>
          </p:cNvSpPr>
          <p:nvPr/>
        </p:nvSpPr>
        <p:spPr bwMode="auto">
          <a:xfrm>
            <a:off x="8310597" y="726603"/>
            <a:ext cx="3439991"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623438" rtl="0" eaLnBrk="0" fontAlgn="base" latinLnBrk="0" hangingPunct="0">
              <a:lnSpc>
                <a:spcPct val="100000"/>
              </a:lnSpc>
              <a:spcBef>
                <a:spcPct val="0"/>
              </a:spcBef>
              <a:spcAft>
                <a:spcPct val="0"/>
              </a:spcAft>
              <a:buClrTx/>
              <a:buSzTx/>
              <a:buFontTx/>
              <a:buNone/>
              <a:tabLst/>
              <a:defRPr/>
            </a:pPr>
            <a:r>
              <a:rPr kumimoji="0" lang="en-US" altLang="en-US" sz="1100" b="1" i="0" u="none" strike="noStrike" kern="1200" cap="none" spc="0" normalizeH="0" baseline="0" noProof="0" dirty="0">
                <a:ln>
                  <a:noFill/>
                </a:ln>
                <a:solidFill>
                  <a:srgbClr val="62B5E5"/>
                </a:solidFill>
                <a:effectLst/>
                <a:uLnTx/>
                <a:uFillTx/>
                <a:latin typeface="+mj-lt"/>
                <a:ea typeface="+mn-ea"/>
                <a:cs typeface="Arial" pitchFamily="34" charset="0"/>
              </a:rPr>
              <a:t>A leader in power and utilities</a:t>
            </a:r>
            <a:endParaRPr kumimoji="0" lang="en-US" altLang="en-US" sz="1100" b="0" i="0" u="none" strike="noStrike" kern="1200" cap="none" spc="0" normalizeH="0" baseline="0" noProof="0" dirty="0">
              <a:ln>
                <a:noFill/>
              </a:ln>
              <a:solidFill>
                <a:prstClr val="black"/>
              </a:solidFill>
              <a:effectLst/>
              <a:uLnTx/>
              <a:uFillTx/>
              <a:latin typeface="+mj-lt"/>
              <a:ea typeface="+mn-ea"/>
              <a:cs typeface="Arial" pitchFamily="34" charset="0"/>
            </a:endParaRPr>
          </a:p>
        </p:txBody>
      </p:sp>
      <p:sp>
        <p:nvSpPr>
          <p:cNvPr id="38" name="Rectangle 50"/>
          <p:cNvSpPr>
            <a:spLocks noChangeArrowheads="1"/>
          </p:cNvSpPr>
          <p:nvPr/>
        </p:nvSpPr>
        <p:spPr bwMode="auto">
          <a:xfrm>
            <a:off x="8246394" y="2180013"/>
            <a:ext cx="366059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623438" rtl="0" eaLnBrk="0" fontAlgn="base" latinLnBrk="0" hangingPunct="0">
              <a:lnSpc>
                <a:spcPct val="100000"/>
              </a:lnSpc>
              <a:spcBef>
                <a:spcPct val="0"/>
              </a:spcBef>
              <a:spcAft>
                <a:spcPct val="0"/>
              </a:spcAft>
              <a:buClrTx/>
              <a:buSzTx/>
              <a:buFontTx/>
              <a:buNone/>
              <a:tabLst/>
              <a:defRPr/>
            </a:pPr>
            <a:r>
              <a:rPr kumimoji="0" lang="en-US" altLang="en-US" sz="1100" b="1" i="0" u="none" strike="noStrike" kern="1200" cap="none" spc="0" normalizeH="0" baseline="0" noProof="0" dirty="0">
                <a:ln>
                  <a:noFill/>
                </a:ln>
                <a:solidFill>
                  <a:srgbClr val="D1ECA0"/>
                </a:solidFill>
                <a:effectLst/>
                <a:uLnTx/>
                <a:uFillTx/>
                <a:latin typeface="+mj-lt"/>
                <a:ea typeface="+mn-ea"/>
                <a:cs typeface="Arial" pitchFamily="34" charset="0"/>
              </a:rPr>
              <a:t>A leading voice in risk, financial, and </a:t>
            </a:r>
            <a:br>
              <a:rPr kumimoji="0" lang="en-US" altLang="en-US" sz="1100" b="1" i="0" u="none" strike="noStrike" kern="1200" cap="none" spc="0" normalizeH="0" baseline="0" noProof="0" dirty="0">
                <a:ln>
                  <a:noFill/>
                </a:ln>
                <a:solidFill>
                  <a:srgbClr val="D1ECA0"/>
                </a:solidFill>
                <a:effectLst/>
                <a:uLnTx/>
                <a:uFillTx/>
                <a:latin typeface="+mj-lt"/>
                <a:ea typeface="+mn-ea"/>
                <a:cs typeface="Arial" pitchFamily="34" charset="0"/>
              </a:rPr>
            </a:br>
            <a:r>
              <a:rPr kumimoji="0" lang="en-US" altLang="en-US" sz="1100" b="1" i="0" u="none" strike="noStrike" kern="1200" cap="none" spc="0" normalizeH="0" baseline="0" noProof="0" dirty="0">
                <a:ln>
                  <a:noFill/>
                </a:ln>
                <a:solidFill>
                  <a:srgbClr val="D1ECA0"/>
                </a:solidFill>
                <a:effectLst/>
                <a:uLnTx/>
                <a:uFillTx/>
                <a:latin typeface="+mj-lt"/>
                <a:ea typeface="+mn-ea"/>
                <a:cs typeface="Arial" pitchFamily="34" charset="0"/>
              </a:rPr>
              <a:t>IA services</a:t>
            </a:r>
          </a:p>
        </p:txBody>
      </p:sp>
      <p:grpSp>
        <p:nvGrpSpPr>
          <p:cNvPr id="39" name="Group 38"/>
          <p:cNvGrpSpPr/>
          <p:nvPr/>
        </p:nvGrpSpPr>
        <p:grpSpPr>
          <a:xfrm>
            <a:off x="8478943" y="2504527"/>
            <a:ext cx="387085" cy="374073"/>
            <a:chOff x="6052152" y="1310867"/>
            <a:chExt cx="367982" cy="367982"/>
          </a:xfrm>
        </p:grpSpPr>
        <p:grpSp>
          <p:nvGrpSpPr>
            <p:cNvPr id="78" name="Group 77"/>
            <p:cNvGrpSpPr/>
            <p:nvPr/>
          </p:nvGrpSpPr>
          <p:grpSpPr>
            <a:xfrm>
              <a:off x="6110599" y="1361594"/>
              <a:ext cx="251089" cy="266528"/>
              <a:chOff x="9632951" y="5213350"/>
              <a:chExt cx="490538" cy="520701"/>
            </a:xfrm>
            <a:solidFill>
              <a:srgbClr val="80C342"/>
            </a:solidFill>
          </p:grpSpPr>
          <p:sp>
            <p:nvSpPr>
              <p:cNvPr id="80" name="Freeform 441"/>
              <p:cNvSpPr>
                <a:spLocks noEditPoints="1"/>
              </p:cNvSpPr>
              <p:nvPr/>
            </p:nvSpPr>
            <p:spPr bwMode="auto">
              <a:xfrm>
                <a:off x="9783763" y="5586413"/>
                <a:ext cx="188913" cy="147638"/>
              </a:xfrm>
              <a:custGeom>
                <a:avLst/>
                <a:gdLst>
                  <a:gd name="T0" fmla="*/ 81 w 88"/>
                  <a:gd name="T1" fmla="*/ 40 h 69"/>
                  <a:gd name="T2" fmla="*/ 76 w 88"/>
                  <a:gd name="T3" fmla="*/ 36 h 69"/>
                  <a:gd name="T4" fmla="*/ 59 w 88"/>
                  <a:gd name="T5" fmla="*/ 36 h 69"/>
                  <a:gd name="T6" fmla="*/ 59 w 88"/>
                  <a:gd name="T7" fmla="*/ 5 h 69"/>
                  <a:gd name="T8" fmla="*/ 54 w 88"/>
                  <a:gd name="T9" fmla="*/ 0 h 69"/>
                  <a:gd name="T10" fmla="*/ 49 w 88"/>
                  <a:gd name="T11" fmla="*/ 5 h 69"/>
                  <a:gd name="T12" fmla="*/ 49 w 88"/>
                  <a:gd name="T13" fmla="*/ 36 h 69"/>
                  <a:gd name="T14" fmla="*/ 39 w 88"/>
                  <a:gd name="T15" fmla="*/ 36 h 69"/>
                  <a:gd name="T16" fmla="*/ 39 w 88"/>
                  <a:gd name="T17" fmla="*/ 5 h 69"/>
                  <a:gd name="T18" fmla="*/ 34 w 88"/>
                  <a:gd name="T19" fmla="*/ 0 h 69"/>
                  <a:gd name="T20" fmla="*/ 29 w 88"/>
                  <a:gd name="T21" fmla="*/ 5 h 69"/>
                  <a:gd name="T22" fmla="*/ 29 w 88"/>
                  <a:gd name="T23" fmla="*/ 36 h 69"/>
                  <a:gd name="T24" fmla="*/ 11 w 88"/>
                  <a:gd name="T25" fmla="*/ 36 h 69"/>
                  <a:gd name="T26" fmla="*/ 7 w 88"/>
                  <a:gd name="T27" fmla="*/ 40 h 69"/>
                  <a:gd name="T28" fmla="*/ 0 w 88"/>
                  <a:gd name="T29" fmla="*/ 63 h 69"/>
                  <a:gd name="T30" fmla="*/ 1 w 88"/>
                  <a:gd name="T31" fmla="*/ 67 h 69"/>
                  <a:gd name="T32" fmla="*/ 5 w 88"/>
                  <a:gd name="T33" fmla="*/ 69 h 69"/>
                  <a:gd name="T34" fmla="*/ 83 w 88"/>
                  <a:gd name="T35" fmla="*/ 69 h 69"/>
                  <a:gd name="T36" fmla="*/ 83 w 88"/>
                  <a:gd name="T37" fmla="*/ 69 h 69"/>
                  <a:gd name="T38" fmla="*/ 88 w 88"/>
                  <a:gd name="T39" fmla="*/ 64 h 69"/>
                  <a:gd name="T40" fmla="*/ 87 w 88"/>
                  <a:gd name="T41" fmla="*/ 62 h 69"/>
                  <a:gd name="T42" fmla="*/ 81 w 88"/>
                  <a:gd name="T43" fmla="*/ 40 h 69"/>
                  <a:gd name="T44" fmla="*/ 11 w 88"/>
                  <a:gd name="T45" fmla="*/ 59 h 69"/>
                  <a:gd name="T46" fmla="*/ 15 w 88"/>
                  <a:gd name="T47" fmla="*/ 46 h 69"/>
                  <a:gd name="T48" fmla="*/ 73 w 88"/>
                  <a:gd name="T49" fmla="*/ 46 h 69"/>
                  <a:gd name="T50" fmla="*/ 76 w 88"/>
                  <a:gd name="T51" fmla="*/ 59 h 69"/>
                  <a:gd name="T52" fmla="*/ 11 w 88"/>
                  <a:gd name="T53" fmla="*/ 5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8" h="69">
                    <a:moveTo>
                      <a:pt x="81" y="40"/>
                    </a:moveTo>
                    <a:cubicBezTo>
                      <a:pt x="80" y="38"/>
                      <a:pt x="79" y="36"/>
                      <a:pt x="76" y="36"/>
                    </a:cubicBezTo>
                    <a:cubicBezTo>
                      <a:pt x="59" y="36"/>
                      <a:pt x="59" y="36"/>
                      <a:pt x="59" y="36"/>
                    </a:cubicBezTo>
                    <a:cubicBezTo>
                      <a:pt x="59" y="5"/>
                      <a:pt x="59" y="5"/>
                      <a:pt x="59" y="5"/>
                    </a:cubicBezTo>
                    <a:cubicBezTo>
                      <a:pt x="59" y="3"/>
                      <a:pt x="56" y="0"/>
                      <a:pt x="54" y="0"/>
                    </a:cubicBezTo>
                    <a:cubicBezTo>
                      <a:pt x="51" y="0"/>
                      <a:pt x="49" y="3"/>
                      <a:pt x="49" y="5"/>
                    </a:cubicBezTo>
                    <a:cubicBezTo>
                      <a:pt x="49" y="36"/>
                      <a:pt x="49" y="36"/>
                      <a:pt x="49" y="36"/>
                    </a:cubicBezTo>
                    <a:cubicBezTo>
                      <a:pt x="39" y="36"/>
                      <a:pt x="39" y="36"/>
                      <a:pt x="39" y="36"/>
                    </a:cubicBezTo>
                    <a:cubicBezTo>
                      <a:pt x="39" y="5"/>
                      <a:pt x="39" y="5"/>
                      <a:pt x="39" y="5"/>
                    </a:cubicBezTo>
                    <a:cubicBezTo>
                      <a:pt x="39" y="3"/>
                      <a:pt x="37" y="0"/>
                      <a:pt x="34" y="0"/>
                    </a:cubicBezTo>
                    <a:cubicBezTo>
                      <a:pt x="31" y="0"/>
                      <a:pt x="29" y="3"/>
                      <a:pt x="29" y="5"/>
                    </a:cubicBezTo>
                    <a:cubicBezTo>
                      <a:pt x="29" y="36"/>
                      <a:pt x="29" y="36"/>
                      <a:pt x="29" y="36"/>
                    </a:cubicBezTo>
                    <a:cubicBezTo>
                      <a:pt x="11" y="36"/>
                      <a:pt x="11" y="36"/>
                      <a:pt x="11" y="36"/>
                    </a:cubicBezTo>
                    <a:cubicBezTo>
                      <a:pt x="9" y="36"/>
                      <a:pt x="7" y="38"/>
                      <a:pt x="7" y="40"/>
                    </a:cubicBezTo>
                    <a:cubicBezTo>
                      <a:pt x="0" y="63"/>
                      <a:pt x="0" y="63"/>
                      <a:pt x="0" y="63"/>
                    </a:cubicBezTo>
                    <a:cubicBezTo>
                      <a:pt x="0" y="65"/>
                      <a:pt x="0" y="66"/>
                      <a:pt x="1" y="67"/>
                    </a:cubicBezTo>
                    <a:cubicBezTo>
                      <a:pt x="2" y="69"/>
                      <a:pt x="3" y="69"/>
                      <a:pt x="5" y="69"/>
                    </a:cubicBezTo>
                    <a:cubicBezTo>
                      <a:pt x="83" y="69"/>
                      <a:pt x="83" y="69"/>
                      <a:pt x="83" y="69"/>
                    </a:cubicBezTo>
                    <a:cubicBezTo>
                      <a:pt x="83" y="69"/>
                      <a:pt x="83" y="69"/>
                      <a:pt x="83" y="69"/>
                    </a:cubicBezTo>
                    <a:cubicBezTo>
                      <a:pt x="86" y="69"/>
                      <a:pt x="88" y="67"/>
                      <a:pt x="88" y="64"/>
                    </a:cubicBezTo>
                    <a:cubicBezTo>
                      <a:pt x="88" y="64"/>
                      <a:pt x="88" y="63"/>
                      <a:pt x="87" y="62"/>
                    </a:cubicBezTo>
                    <a:lnTo>
                      <a:pt x="81" y="40"/>
                    </a:lnTo>
                    <a:close/>
                    <a:moveTo>
                      <a:pt x="11" y="59"/>
                    </a:moveTo>
                    <a:cubicBezTo>
                      <a:pt x="15" y="46"/>
                      <a:pt x="15" y="46"/>
                      <a:pt x="15" y="46"/>
                    </a:cubicBezTo>
                    <a:cubicBezTo>
                      <a:pt x="73" y="46"/>
                      <a:pt x="73" y="46"/>
                      <a:pt x="73" y="46"/>
                    </a:cubicBezTo>
                    <a:cubicBezTo>
                      <a:pt x="76" y="59"/>
                      <a:pt x="76" y="59"/>
                      <a:pt x="76" y="59"/>
                    </a:cubicBezTo>
                    <a:lnTo>
                      <a:pt x="11" y="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marL="0" marR="0" lvl="0" indent="0" algn="ctr" defTabSz="623438" rtl="0" eaLnBrk="1" fontAlgn="base" latinLnBrk="0" hangingPunct="1">
                  <a:lnSpc>
                    <a:spcPct val="100000"/>
                  </a:lnSpc>
                  <a:spcBef>
                    <a:spcPct val="20000"/>
                  </a:spcBef>
                  <a:spcAft>
                    <a:spcPct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mj-lt"/>
                  <a:ea typeface="+mn-ea"/>
                  <a:cs typeface="Arial" pitchFamily="34" charset="0"/>
                </a:endParaRPr>
              </a:p>
            </p:txBody>
          </p:sp>
          <p:sp>
            <p:nvSpPr>
              <p:cNvPr id="81" name="Freeform 442"/>
              <p:cNvSpPr>
                <a:spLocks noEditPoints="1"/>
              </p:cNvSpPr>
              <p:nvPr/>
            </p:nvSpPr>
            <p:spPr bwMode="auto">
              <a:xfrm>
                <a:off x="9632951" y="5213350"/>
                <a:ext cx="490538" cy="357188"/>
              </a:xfrm>
              <a:custGeom>
                <a:avLst/>
                <a:gdLst>
                  <a:gd name="T0" fmla="*/ 201 w 228"/>
                  <a:gd name="T1" fmla="*/ 35 h 166"/>
                  <a:gd name="T2" fmla="*/ 194 w 228"/>
                  <a:gd name="T3" fmla="*/ 34 h 166"/>
                  <a:gd name="T4" fmla="*/ 191 w 228"/>
                  <a:gd name="T5" fmla="*/ 34 h 166"/>
                  <a:gd name="T6" fmla="*/ 191 w 228"/>
                  <a:gd name="T7" fmla="*/ 12 h 166"/>
                  <a:gd name="T8" fmla="*/ 178 w 228"/>
                  <a:gd name="T9" fmla="*/ 0 h 166"/>
                  <a:gd name="T10" fmla="*/ 49 w 228"/>
                  <a:gd name="T11" fmla="*/ 0 h 166"/>
                  <a:gd name="T12" fmla="*/ 37 w 228"/>
                  <a:gd name="T13" fmla="*/ 12 h 166"/>
                  <a:gd name="T14" fmla="*/ 37 w 228"/>
                  <a:gd name="T15" fmla="*/ 34 h 166"/>
                  <a:gd name="T16" fmla="*/ 34 w 228"/>
                  <a:gd name="T17" fmla="*/ 34 h 166"/>
                  <a:gd name="T18" fmla="*/ 27 w 228"/>
                  <a:gd name="T19" fmla="*/ 35 h 166"/>
                  <a:gd name="T20" fmla="*/ 6 w 228"/>
                  <a:gd name="T21" fmla="*/ 84 h 166"/>
                  <a:gd name="T22" fmla="*/ 42 w 228"/>
                  <a:gd name="T23" fmla="*/ 118 h 166"/>
                  <a:gd name="T24" fmla="*/ 44 w 228"/>
                  <a:gd name="T25" fmla="*/ 118 h 166"/>
                  <a:gd name="T26" fmla="*/ 114 w 228"/>
                  <a:gd name="T27" fmla="*/ 166 h 166"/>
                  <a:gd name="T28" fmla="*/ 183 w 228"/>
                  <a:gd name="T29" fmla="*/ 118 h 166"/>
                  <a:gd name="T30" fmla="*/ 185 w 228"/>
                  <a:gd name="T31" fmla="*/ 118 h 166"/>
                  <a:gd name="T32" fmla="*/ 222 w 228"/>
                  <a:gd name="T33" fmla="*/ 84 h 166"/>
                  <a:gd name="T34" fmla="*/ 201 w 228"/>
                  <a:gd name="T35" fmla="*/ 35 h 166"/>
                  <a:gd name="T36" fmla="*/ 16 w 228"/>
                  <a:gd name="T37" fmla="*/ 82 h 166"/>
                  <a:gd name="T38" fmla="*/ 30 w 228"/>
                  <a:gd name="T39" fmla="*/ 44 h 166"/>
                  <a:gd name="T40" fmla="*/ 34 w 228"/>
                  <a:gd name="T41" fmla="*/ 44 h 166"/>
                  <a:gd name="T42" fmla="*/ 37 w 228"/>
                  <a:gd name="T43" fmla="*/ 44 h 166"/>
                  <a:gd name="T44" fmla="*/ 37 w 228"/>
                  <a:gd name="T45" fmla="*/ 83 h 166"/>
                  <a:gd name="T46" fmla="*/ 41 w 228"/>
                  <a:gd name="T47" fmla="*/ 108 h 166"/>
                  <a:gd name="T48" fmla="*/ 16 w 228"/>
                  <a:gd name="T49" fmla="*/ 82 h 166"/>
                  <a:gd name="T50" fmla="*/ 181 w 228"/>
                  <a:gd name="T51" fmla="*/ 83 h 166"/>
                  <a:gd name="T52" fmla="*/ 114 w 228"/>
                  <a:gd name="T53" fmla="*/ 156 h 166"/>
                  <a:gd name="T54" fmla="*/ 54 w 228"/>
                  <a:gd name="T55" fmla="*/ 115 h 166"/>
                  <a:gd name="T56" fmla="*/ 50 w 228"/>
                  <a:gd name="T57" fmla="*/ 106 h 166"/>
                  <a:gd name="T58" fmla="*/ 47 w 228"/>
                  <a:gd name="T59" fmla="*/ 83 h 166"/>
                  <a:gd name="T60" fmla="*/ 47 w 228"/>
                  <a:gd name="T61" fmla="*/ 48 h 166"/>
                  <a:gd name="T62" fmla="*/ 47 w 228"/>
                  <a:gd name="T63" fmla="*/ 37 h 166"/>
                  <a:gd name="T64" fmla="*/ 47 w 228"/>
                  <a:gd name="T65" fmla="*/ 12 h 166"/>
                  <a:gd name="T66" fmla="*/ 49 w 228"/>
                  <a:gd name="T67" fmla="*/ 10 h 166"/>
                  <a:gd name="T68" fmla="*/ 178 w 228"/>
                  <a:gd name="T69" fmla="*/ 10 h 166"/>
                  <a:gd name="T70" fmla="*/ 181 w 228"/>
                  <a:gd name="T71" fmla="*/ 12 h 166"/>
                  <a:gd name="T72" fmla="*/ 181 w 228"/>
                  <a:gd name="T73" fmla="*/ 83 h 166"/>
                  <a:gd name="T74" fmla="*/ 212 w 228"/>
                  <a:gd name="T75" fmla="*/ 82 h 166"/>
                  <a:gd name="T76" fmla="*/ 187 w 228"/>
                  <a:gd name="T77" fmla="*/ 108 h 166"/>
                  <a:gd name="T78" fmla="*/ 191 w 228"/>
                  <a:gd name="T79" fmla="*/ 83 h 166"/>
                  <a:gd name="T80" fmla="*/ 191 w 228"/>
                  <a:gd name="T81" fmla="*/ 44 h 166"/>
                  <a:gd name="T82" fmla="*/ 194 w 228"/>
                  <a:gd name="T83" fmla="*/ 44 h 166"/>
                  <a:gd name="T84" fmla="*/ 198 w 228"/>
                  <a:gd name="T85" fmla="*/ 44 h 166"/>
                  <a:gd name="T86" fmla="*/ 212 w 228"/>
                  <a:gd name="T87" fmla="*/ 82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28" h="166">
                    <a:moveTo>
                      <a:pt x="201" y="35"/>
                    </a:moveTo>
                    <a:cubicBezTo>
                      <a:pt x="198" y="34"/>
                      <a:pt x="196" y="34"/>
                      <a:pt x="194" y="34"/>
                    </a:cubicBezTo>
                    <a:cubicBezTo>
                      <a:pt x="193" y="34"/>
                      <a:pt x="192" y="34"/>
                      <a:pt x="191" y="34"/>
                    </a:cubicBezTo>
                    <a:cubicBezTo>
                      <a:pt x="191" y="12"/>
                      <a:pt x="191" y="12"/>
                      <a:pt x="191" y="12"/>
                    </a:cubicBezTo>
                    <a:cubicBezTo>
                      <a:pt x="191" y="6"/>
                      <a:pt x="185" y="0"/>
                      <a:pt x="178" y="0"/>
                    </a:cubicBezTo>
                    <a:cubicBezTo>
                      <a:pt x="49" y="0"/>
                      <a:pt x="49" y="0"/>
                      <a:pt x="49" y="0"/>
                    </a:cubicBezTo>
                    <a:cubicBezTo>
                      <a:pt x="43" y="0"/>
                      <a:pt x="37" y="6"/>
                      <a:pt x="37" y="12"/>
                    </a:cubicBezTo>
                    <a:cubicBezTo>
                      <a:pt x="37" y="34"/>
                      <a:pt x="37" y="34"/>
                      <a:pt x="37" y="34"/>
                    </a:cubicBezTo>
                    <a:cubicBezTo>
                      <a:pt x="36" y="34"/>
                      <a:pt x="35" y="34"/>
                      <a:pt x="34" y="34"/>
                    </a:cubicBezTo>
                    <a:cubicBezTo>
                      <a:pt x="32" y="34"/>
                      <a:pt x="29" y="34"/>
                      <a:pt x="27" y="35"/>
                    </a:cubicBezTo>
                    <a:cubicBezTo>
                      <a:pt x="9" y="39"/>
                      <a:pt x="0" y="62"/>
                      <a:pt x="6" y="84"/>
                    </a:cubicBezTo>
                    <a:cubicBezTo>
                      <a:pt x="11" y="104"/>
                      <a:pt x="27" y="118"/>
                      <a:pt x="42" y="118"/>
                    </a:cubicBezTo>
                    <a:cubicBezTo>
                      <a:pt x="43" y="118"/>
                      <a:pt x="44" y="118"/>
                      <a:pt x="44" y="118"/>
                    </a:cubicBezTo>
                    <a:cubicBezTo>
                      <a:pt x="57" y="146"/>
                      <a:pt x="83" y="166"/>
                      <a:pt x="114" y="166"/>
                    </a:cubicBezTo>
                    <a:cubicBezTo>
                      <a:pt x="145" y="166"/>
                      <a:pt x="171" y="146"/>
                      <a:pt x="183" y="118"/>
                    </a:cubicBezTo>
                    <a:cubicBezTo>
                      <a:pt x="184" y="118"/>
                      <a:pt x="185" y="118"/>
                      <a:pt x="185" y="118"/>
                    </a:cubicBezTo>
                    <a:cubicBezTo>
                      <a:pt x="201" y="118"/>
                      <a:pt x="216" y="104"/>
                      <a:pt x="222" y="84"/>
                    </a:cubicBezTo>
                    <a:cubicBezTo>
                      <a:pt x="228" y="62"/>
                      <a:pt x="218" y="39"/>
                      <a:pt x="201" y="35"/>
                    </a:cubicBezTo>
                    <a:close/>
                    <a:moveTo>
                      <a:pt x="16" y="82"/>
                    </a:moveTo>
                    <a:cubicBezTo>
                      <a:pt x="11" y="65"/>
                      <a:pt x="17" y="47"/>
                      <a:pt x="30" y="44"/>
                    </a:cubicBezTo>
                    <a:cubicBezTo>
                      <a:pt x="31" y="44"/>
                      <a:pt x="32" y="44"/>
                      <a:pt x="34" y="44"/>
                    </a:cubicBezTo>
                    <a:cubicBezTo>
                      <a:pt x="35" y="44"/>
                      <a:pt x="36" y="44"/>
                      <a:pt x="37" y="44"/>
                    </a:cubicBezTo>
                    <a:cubicBezTo>
                      <a:pt x="37" y="83"/>
                      <a:pt x="37" y="83"/>
                      <a:pt x="37" y="83"/>
                    </a:cubicBezTo>
                    <a:cubicBezTo>
                      <a:pt x="37" y="92"/>
                      <a:pt x="38" y="100"/>
                      <a:pt x="41" y="108"/>
                    </a:cubicBezTo>
                    <a:cubicBezTo>
                      <a:pt x="30" y="107"/>
                      <a:pt x="19" y="96"/>
                      <a:pt x="16" y="82"/>
                    </a:cubicBezTo>
                    <a:close/>
                    <a:moveTo>
                      <a:pt x="181" y="83"/>
                    </a:moveTo>
                    <a:cubicBezTo>
                      <a:pt x="181" y="123"/>
                      <a:pt x="151" y="156"/>
                      <a:pt x="114" y="156"/>
                    </a:cubicBezTo>
                    <a:cubicBezTo>
                      <a:pt x="88" y="156"/>
                      <a:pt x="65" y="139"/>
                      <a:pt x="54" y="115"/>
                    </a:cubicBezTo>
                    <a:cubicBezTo>
                      <a:pt x="53" y="112"/>
                      <a:pt x="51" y="109"/>
                      <a:pt x="50" y="106"/>
                    </a:cubicBezTo>
                    <a:cubicBezTo>
                      <a:pt x="48" y="99"/>
                      <a:pt x="47" y="91"/>
                      <a:pt x="47" y="83"/>
                    </a:cubicBezTo>
                    <a:cubicBezTo>
                      <a:pt x="47" y="48"/>
                      <a:pt x="47" y="48"/>
                      <a:pt x="47" y="48"/>
                    </a:cubicBezTo>
                    <a:cubicBezTo>
                      <a:pt x="47" y="37"/>
                      <a:pt x="47" y="37"/>
                      <a:pt x="47" y="37"/>
                    </a:cubicBezTo>
                    <a:cubicBezTo>
                      <a:pt x="47" y="12"/>
                      <a:pt x="47" y="12"/>
                      <a:pt x="47" y="12"/>
                    </a:cubicBezTo>
                    <a:cubicBezTo>
                      <a:pt x="47" y="11"/>
                      <a:pt x="48" y="10"/>
                      <a:pt x="49" y="10"/>
                    </a:cubicBezTo>
                    <a:cubicBezTo>
                      <a:pt x="178" y="10"/>
                      <a:pt x="178" y="10"/>
                      <a:pt x="178" y="10"/>
                    </a:cubicBezTo>
                    <a:cubicBezTo>
                      <a:pt x="180" y="10"/>
                      <a:pt x="181" y="11"/>
                      <a:pt x="181" y="12"/>
                    </a:cubicBezTo>
                    <a:lnTo>
                      <a:pt x="181" y="83"/>
                    </a:lnTo>
                    <a:close/>
                    <a:moveTo>
                      <a:pt x="212" y="82"/>
                    </a:moveTo>
                    <a:cubicBezTo>
                      <a:pt x="208" y="96"/>
                      <a:pt x="198" y="107"/>
                      <a:pt x="187" y="108"/>
                    </a:cubicBezTo>
                    <a:cubicBezTo>
                      <a:pt x="189" y="100"/>
                      <a:pt x="191" y="92"/>
                      <a:pt x="191" y="83"/>
                    </a:cubicBezTo>
                    <a:cubicBezTo>
                      <a:pt x="191" y="44"/>
                      <a:pt x="191" y="44"/>
                      <a:pt x="191" y="44"/>
                    </a:cubicBezTo>
                    <a:cubicBezTo>
                      <a:pt x="192" y="44"/>
                      <a:pt x="193" y="44"/>
                      <a:pt x="194" y="44"/>
                    </a:cubicBezTo>
                    <a:cubicBezTo>
                      <a:pt x="195" y="44"/>
                      <a:pt x="197" y="44"/>
                      <a:pt x="198" y="44"/>
                    </a:cubicBezTo>
                    <a:cubicBezTo>
                      <a:pt x="210" y="47"/>
                      <a:pt x="217" y="65"/>
                      <a:pt x="212" y="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marL="0" marR="0" lvl="0" indent="0" algn="ctr" defTabSz="623438" rtl="0" eaLnBrk="1" fontAlgn="base" latinLnBrk="0" hangingPunct="1">
                  <a:lnSpc>
                    <a:spcPct val="100000"/>
                  </a:lnSpc>
                  <a:spcBef>
                    <a:spcPct val="20000"/>
                  </a:spcBef>
                  <a:spcAft>
                    <a:spcPct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mj-lt"/>
                  <a:ea typeface="+mn-ea"/>
                  <a:cs typeface="Arial" pitchFamily="34" charset="0"/>
                </a:endParaRPr>
              </a:p>
            </p:txBody>
          </p:sp>
          <p:sp>
            <p:nvSpPr>
              <p:cNvPr id="82" name="Freeform 443"/>
              <p:cNvSpPr>
                <a:spLocks noEditPoints="1"/>
              </p:cNvSpPr>
              <p:nvPr/>
            </p:nvSpPr>
            <p:spPr bwMode="auto">
              <a:xfrm>
                <a:off x="9785351" y="5284788"/>
                <a:ext cx="182563" cy="171450"/>
              </a:xfrm>
              <a:custGeom>
                <a:avLst/>
                <a:gdLst>
                  <a:gd name="T0" fmla="*/ 78 w 85"/>
                  <a:gd name="T1" fmla="*/ 25 h 80"/>
                  <a:gd name="T2" fmla="*/ 57 w 85"/>
                  <a:gd name="T3" fmla="*/ 25 h 80"/>
                  <a:gd name="T4" fmla="*/ 50 w 85"/>
                  <a:gd name="T5" fmla="*/ 5 h 80"/>
                  <a:gd name="T6" fmla="*/ 43 w 85"/>
                  <a:gd name="T7" fmla="*/ 0 h 80"/>
                  <a:gd name="T8" fmla="*/ 36 w 85"/>
                  <a:gd name="T9" fmla="*/ 5 h 80"/>
                  <a:gd name="T10" fmla="*/ 29 w 85"/>
                  <a:gd name="T11" fmla="*/ 25 h 80"/>
                  <a:gd name="T12" fmla="*/ 8 w 85"/>
                  <a:gd name="T13" fmla="*/ 25 h 80"/>
                  <a:gd name="T14" fmla="*/ 1 w 85"/>
                  <a:gd name="T15" fmla="*/ 30 h 80"/>
                  <a:gd name="T16" fmla="*/ 4 w 85"/>
                  <a:gd name="T17" fmla="*/ 38 h 80"/>
                  <a:gd name="T18" fmla="*/ 21 w 85"/>
                  <a:gd name="T19" fmla="*/ 50 h 80"/>
                  <a:gd name="T20" fmla="*/ 15 w 85"/>
                  <a:gd name="T21" fmla="*/ 71 h 80"/>
                  <a:gd name="T22" fmla="*/ 17 w 85"/>
                  <a:gd name="T23" fmla="*/ 78 h 80"/>
                  <a:gd name="T24" fmla="*/ 21 w 85"/>
                  <a:gd name="T25" fmla="*/ 80 h 80"/>
                  <a:gd name="T26" fmla="*/ 25 w 85"/>
                  <a:gd name="T27" fmla="*/ 78 h 80"/>
                  <a:gd name="T28" fmla="*/ 43 w 85"/>
                  <a:gd name="T29" fmla="*/ 66 h 80"/>
                  <a:gd name="T30" fmla="*/ 60 w 85"/>
                  <a:gd name="T31" fmla="*/ 78 h 80"/>
                  <a:gd name="T32" fmla="*/ 69 w 85"/>
                  <a:gd name="T33" fmla="*/ 78 h 80"/>
                  <a:gd name="T34" fmla="*/ 71 w 85"/>
                  <a:gd name="T35" fmla="*/ 71 h 80"/>
                  <a:gd name="T36" fmla="*/ 65 w 85"/>
                  <a:gd name="T37" fmla="*/ 50 h 80"/>
                  <a:gd name="T38" fmla="*/ 82 w 85"/>
                  <a:gd name="T39" fmla="*/ 38 h 80"/>
                  <a:gd name="T40" fmla="*/ 84 w 85"/>
                  <a:gd name="T41" fmla="*/ 30 h 80"/>
                  <a:gd name="T42" fmla="*/ 78 w 85"/>
                  <a:gd name="T43" fmla="*/ 25 h 80"/>
                  <a:gd name="T44" fmla="*/ 56 w 85"/>
                  <a:gd name="T45" fmla="*/ 45 h 80"/>
                  <a:gd name="T46" fmla="*/ 55 w 85"/>
                  <a:gd name="T47" fmla="*/ 50 h 80"/>
                  <a:gd name="T48" fmla="*/ 60 w 85"/>
                  <a:gd name="T49" fmla="*/ 66 h 80"/>
                  <a:gd name="T50" fmla="*/ 46 w 85"/>
                  <a:gd name="T51" fmla="*/ 56 h 80"/>
                  <a:gd name="T52" fmla="*/ 40 w 85"/>
                  <a:gd name="T53" fmla="*/ 56 h 80"/>
                  <a:gd name="T54" fmla="*/ 26 w 85"/>
                  <a:gd name="T55" fmla="*/ 66 h 80"/>
                  <a:gd name="T56" fmla="*/ 31 w 85"/>
                  <a:gd name="T57" fmla="*/ 50 h 80"/>
                  <a:gd name="T58" fmla="*/ 29 w 85"/>
                  <a:gd name="T59" fmla="*/ 45 h 80"/>
                  <a:gd name="T60" fmla="*/ 16 w 85"/>
                  <a:gd name="T61" fmla="*/ 35 h 80"/>
                  <a:gd name="T62" fmla="*/ 33 w 85"/>
                  <a:gd name="T63" fmla="*/ 34 h 80"/>
                  <a:gd name="T64" fmla="*/ 37 w 85"/>
                  <a:gd name="T65" fmla="*/ 31 h 80"/>
                  <a:gd name="T66" fmla="*/ 43 w 85"/>
                  <a:gd name="T67" fmla="*/ 15 h 80"/>
                  <a:gd name="T68" fmla="*/ 48 w 85"/>
                  <a:gd name="T69" fmla="*/ 31 h 80"/>
                  <a:gd name="T70" fmla="*/ 53 w 85"/>
                  <a:gd name="T71" fmla="*/ 34 h 80"/>
                  <a:gd name="T72" fmla="*/ 70 w 85"/>
                  <a:gd name="T73" fmla="*/ 35 h 80"/>
                  <a:gd name="T74" fmla="*/ 56 w 85"/>
                  <a:gd name="T75" fmla="*/ 45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0">
                    <a:moveTo>
                      <a:pt x="78" y="25"/>
                    </a:moveTo>
                    <a:cubicBezTo>
                      <a:pt x="57" y="25"/>
                      <a:pt x="57" y="25"/>
                      <a:pt x="57" y="25"/>
                    </a:cubicBezTo>
                    <a:cubicBezTo>
                      <a:pt x="50" y="5"/>
                      <a:pt x="50" y="5"/>
                      <a:pt x="50" y="5"/>
                    </a:cubicBezTo>
                    <a:cubicBezTo>
                      <a:pt x="49" y="2"/>
                      <a:pt x="46" y="0"/>
                      <a:pt x="43" y="0"/>
                    </a:cubicBezTo>
                    <a:cubicBezTo>
                      <a:pt x="40" y="0"/>
                      <a:pt x="37" y="2"/>
                      <a:pt x="36" y="5"/>
                    </a:cubicBezTo>
                    <a:cubicBezTo>
                      <a:pt x="29" y="25"/>
                      <a:pt x="29" y="25"/>
                      <a:pt x="29" y="25"/>
                    </a:cubicBezTo>
                    <a:cubicBezTo>
                      <a:pt x="8" y="25"/>
                      <a:pt x="8" y="25"/>
                      <a:pt x="8" y="25"/>
                    </a:cubicBezTo>
                    <a:cubicBezTo>
                      <a:pt x="5" y="25"/>
                      <a:pt x="2" y="27"/>
                      <a:pt x="1" y="30"/>
                    </a:cubicBezTo>
                    <a:cubicBezTo>
                      <a:pt x="0" y="33"/>
                      <a:pt x="1" y="36"/>
                      <a:pt x="4" y="38"/>
                    </a:cubicBezTo>
                    <a:cubicBezTo>
                      <a:pt x="21" y="50"/>
                      <a:pt x="21" y="50"/>
                      <a:pt x="21" y="50"/>
                    </a:cubicBezTo>
                    <a:cubicBezTo>
                      <a:pt x="15" y="71"/>
                      <a:pt x="15" y="71"/>
                      <a:pt x="15" y="71"/>
                    </a:cubicBezTo>
                    <a:cubicBezTo>
                      <a:pt x="14" y="73"/>
                      <a:pt x="15" y="77"/>
                      <a:pt x="17" y="78"/>
                    </a:cubicBezTo>
                    <a:cubicBezTo>
                      <a:pt x="18" y="79"/>
                      <a:pt x="20" y="80"/>
                      <a:pt x="21" y="80"/>
                    </a:cubicBezTo>
                    <a:cubicBezTo>
                      <a:pt x="23" y="80"/>
                      <a:pt x="24" y="79"/>
                      <a:pt x="25" y="78"/>
                    </a:cubicBezTo>
                    <a:cubicBezTo>
                      <a:pt x="43" y="66"/>
                      <a:pt x="43" y="66"/>
                      <a:pt x="43" y="66"/>
                    </a:cubicBezTo>
                    <a:cubicBezTo>
                      <a:pt x="60" y="78"/>
                      <a:pt x="60" y="78"/>
                      <a:pt x="60" y="78"/>
                    </a:cubicBezTo>
                    <a:cubicBezTo>
                      <a:pt x="63" y="80"/>
                      <a:pt x="66" y="80"/>
                      <a:pt x="69" y="78"/>
                    </a:cubicBezTo>
                    <a:cubicBezTo>
                      <a:pt x="71" y="77"/>
                      <a:pt x="72" y="73"/>
                      <a:pt x="71" y="71"/>
                    </a:cubicBezTo>
                    <a:cubicBezTo>
                      <a:pt x="65" y="50"/>
                      <a:pt x="65" y="50"/>
                      <a:pt x="65" y="50"/>
                    </a:cubicBezTo>
                    <a:cubicBezTo>
                      <a:pt x="82" y="38"/>
                      <a:pt x="82" y="38"/>
                      <a:pt x="82" y="38"/>
                    </a:cubicBezTo>
                    <a:cubicBezTo>
                      <a:pt x="84" y="36"/>
                      <a:pt x="85" y="33"/>
                      <a:pt x="84" y="30"/>
                    </a:cubicBezTo>
                    <a:cubicBezTo>
                      <a:pt x="83" y="27"/>
                      <a:pt x="81" y="25"/>
                      <a:pt x="78" y="25"/>
                    </a:cubicBezTo>
                    <a:close/>
                    <a:moveTo>
                      <a:pt x="56" y="45"/>
                    </a:moveTo>
                    <a:cubicBezTo>
                      <a:pt x="55" y="46"/>
                      <a:pt x="54" y="48"/>
                      <a:pt x="55" y="50"/>
                    </a:cubicBezTo>
                    <a:cubicBezTo>
                      <a:pt x="60" y="66"/>
                      <a:pt x="60" y="66"/>
                      <a:pt x="60" y="66"/>
                    </a:cubicBezTo>
                    <a:cubicBezTo>
                      <a:pt x="46" y="56"/>
                      <a:pt x="46" y="56"/>
                      <a:pt x="46" y="56"/>
                    </a:cubicBezTo>
                    <a:cubicBezTo>
                      <a:pt x="44" y="55"/>
                      <a:pt x="42" y="55"/>
                      <a:pt x="40" y="56"/>
                    </a:cubicBezTo>
                    <a:cubicBezTo>
                      <a:pt x="26" y="66"/>
                      <a:pt x="26" y="66"/>
                      <a:pt x="26" y="66"/>
                    </a:cubicBezTo>
                    <a:cubicBezTo>
                      <a:pt x="31" y="50"/>
                      <a:pt x="31" y="50"/>
                      <a:pt x="31" y="50"/>
                    </a:cubicBezTo>
                    <a:cubicBezTo>
                      <a:pt x="32" y="48"/>
                      <a:pt x="31" y="46"/>
                      <a:pt x="29" y="45"/>
                    </a:cubicBezTo>
                    <a:cubicBezTo>
                      <a:pt x="16" y="35"/>
                      <a:pt x="16" y="35"/>
                      <a:pt x="16" y="35"/>
                    </a:cubicBezTo>
                    <a:cubicBezTo>
                      <a:pt x="33" y="34"/>
                      <a:pt x="33" y="34"/>
                      <a:pt x="33" y="34"/>
                    </a:cubicBezTo>
                    <a:cubicBezTo>
                      <a:pt x="35" y="34"/>
                      <a:pt x="37" y="33"/>
                      <a:pt x="37" y="31"/>
                    </a:cubicBezTo>
                    <a:cubicBezTo>
                      <a:pt x="43" y="15"/>
                      <a:pt x="43" y="15"/>
                      <a:pt x="43" y="15"/>
                    </a:cubicBezTo>
                    <a:cubicBezTo>
                      <a:pt x="48" y="31"/>
                      <a:pt x="48" y="31"/>
                      <a:pt x="48" y="31"/>
                    </a:cubicBezTo>
                    <a:cubicBezTo>
                      <a:pt x="49" y="33"/>
                      <a:pt x="51" y="34"/>
                      <a:pt x="53" y="34"/>
                    </a:cubicBezTo>
                    <a:cubicBezTo>
                      <a:pt x="70" y="35"/>
                      <a:pt x="70" y="35"/>
                      <a:pt x="70" y="35"/>
                    </a:cubicBezTo>
                    <a:lnTo>
                      <a:pt x="56" y="45"/>
                    </a:lnTo>
                    <a:close/>
                  </a:path>
                </a:pathLst>
              </a:custGeom>
              <a:solidFill>
                <a:srgbClr val="80C34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marL="0" marR="0" lvl="0" indent="0" algn="ctr" defTabSz="623438" rtl="0" eaLnBrk="1" fontAlgn="base" latinLnBrk="0" hangingPunct="1">
                  <a:lnSpc>
                    <a:spcPct val="100000"/>
                  </a:lnSpc>
                  <a:spcBef>
                    <a:spcPct val="20000"/>
                  </a:spcBef>
                  <a:spcAft>
                    <a:spcPct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mj-lt"/>
                  <a:ea typeface="+mn-ea"/>
                  <a:cs typeface="Arial" pitchFamily="34" charset="0"/>
                </a:endParaRPr>
              </a:p>
            </p:txBody>
          </p:sp>
        </p:grpSp>
        <p:sp>
          <p:nvSpPr>
            <p:cNvPr id="79" name="Freeform 547"/>
            <p:cNvSpPr>
              <a:spLocks noEditPoints="1"/>
            </p:cNvSpPr>
            <p:nvPr/>
          </p:nvSpPr>
          <p:spPr bwMode="auto">
            <a:xfrm>
              <a:off x="6052152" y="1310867"/>
              <a:ext cx="367982" cy="367982"/>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rgbClr val="80C342"/>
            </a:solidFill>
            <a:ln>
              <a:noFill/>
            </a:ln>
          </p:spPr>
          <p:txBody>
            <a:bodyPr vert="horz" wrap="square" lIns="62345" tIns="31173" rIns="62345" bIns="31173" numCol="1" anchor="t" anchorCtr="0" compatLnSpc="1">
              <a:prstTxWarp prst="textNoShape">
                <a:avLst/>
              </a:prstTxWarp>
            </a:bodyPr>
            <a:lstStyle/>
            <a:p>
              <a:pPr marL="0" marR="0" lvl="0" indent="0" algn="ctr" defTabSz="623438" rtl="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dirty="0">
                <a:ln>
                  <a:noFill/>
                </a:ln>
                <a:solidFill>
                  <a:prstClr val="black"/>
                </a:solidFill>
                <a:effectLst/>
                <a:uLnTx/>
                <a:uFillTx/>
                <a:latin typeface="+mj-lt"/>
                <a:ea typeface="+mn-ea"/>
                <a:cs typeface="Arial" pitchFamily="34" charset="0"/>
              </a:endParaRPr>
            </a:p>
          </p:txBody>
        </p:sp>
      </p:grpSp>
      <p:sp>
        <p:nvSpPr>
          <p:cNvPr id="40" name="Rectangle 147"/>
          <p:cNvSpPr>
            <a:spLocks noChangeArrowheads="1"/>
          </p:cNvSpPr>
          <p:nvPr/>
        </p:nvSpPr>
        <p:spPr bwMode="auto">
          <a:xfrm>
            <a:off x="8954833" y="2553081"/>
            <a:ext cx="268276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623438" rtl="0" eaLnBrk="0" fontAlgn="base" latinLnBrk="0" hangingPunct="0">
              <a:lnSpc>
                <a:spcPct val="100000"/>
              </a:lnSpc>
              <a:spcBef>
                <a:spcPct val="0"/>
              </a:spcBef>
              <a:spcAft>
                <a:spcPct val="0"/>
              </a:spcAft>
              <a:buClrTx/>
              <a:buSzTx/>
              <a:buFontTx/>
              <a:buNone/>
              <a:tabLst/>
              <a:defRPr/>
            </a:pPr>
            <a:r>
              <a:rPr kumimoji="0" lang="en-US" altLang="en-US" sz="1000" b="1" i="0" u="none" strike="noStrike" kern="1200" cap="none" spc="0" normalizeH="0" baseline="0" noProof="0" dirty="0">
                <a:ln>
                  <a:noFill/>
                </a:ln>
                <a:solidFill>
                  <a:srgbClr val="FFFFFF"/>
                </a:solidFill>
                <a:effectLst/>
                <a:uLnTx/>
                <a:uFillTx/>
                <a:latin typeface="+mj-lt"/>
                <a:ea typeface="+mn-ea"/>
                <a:cs typeface="Arial" pitchFamily="34" charset="0"/>
              </a:rPr>
              <a:t>Worldwide leader in risk advisory consulting services based on capability and strategy</a:t>
            </a:r>
          </a:p>
        </p:txBody>
      </p:sp>
      <p:sp>
        <p:nvSpPr>
          <p:cNvPr id="41" name="Rectangle 147"/>
          <p:cNvSpPr>
            <a:spLocks noChangeArrowheads="1"/>
          </p:cNvSpPr>
          <p:nvPr/>
        </p:nvSpPr>
        <p:spPr bwMode="auto">
          <a:xfrm>
            <a:off x="8252588" y="3101177"/>
            <a:ext cx="356420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623438" rtl="0" eaLnBrk="0" fontAlgn="base" latinLnBrk="0" hangingPunct="0">
              <a:lnSpc>
                <a:spcPct val="100000"/>
              </a:lnSpc>
              <a:spcBef>
                <a:spcPct val="0"/>
              </a:spcBef>
              <a:spcAft>
                <a:spcPct val="0"/>
              </a:spcAft>
              <a:buClrTx/>
              <a:buSzTx/>
              <a:buFontTx/>
              <a:buNone/>
              <a:tabLst/>
              <a:defRPr/>
            </a:pPr>
            <a:r>
              <a:rPr kumimoji="0" lang="en-US" altLang="en-US" sz="2400" b="1" i="0" u="none" strike="noStrike" kern="1200" cap="none" spc="0" normalizeH="0" baseline="0" noProof="0" dirty="0">
                <a:ln>
                  <a:noFill/>
                </a:ln>
                <a:solidFill>
                  <a:srgbClr val="BAE370"/>
                </a:solidFill>
                <a:effectLst/>
                <a:uLnTx/>
                <a:uFillTx/>
                <a:latin typeface="+mj-lt"/>
                <a:ea typeface="+mn-ea"/>
                <a:cs typeface="Arial" pitchFamily="34" charset="0"/>
              </a:rPr>
              <a:t>400</a:t>
            </a:r>
            <a:r>
              <a:rPr kumimoji="0" lang="en-US" altLang="en-US" sz="1000" b="1" i="0" u="none" strike="noStrike" kern="1200" cap="none" spc="0" normalizeH="0" baseline="0" noProof="0" dirty="0">
                <a:ln>
                  <a:noFill/>
                </a:ln>
                <a:solidFill>
                  <a:srgbClr val="FFFFFF"/>
                </a:solidFill>
                <a:effectLst/>
                <a:uLnTx/>
                <a:uFillTx/>
                <a:latin typeface="+mj-lt"/>
                <a:ea typeface="+mn-ea"/>
                <a:cs typeface="Arial" pitchFamily="34" charset="0"/>
              </a:rPr>
              <a:t> internal audit clients in the United States and </a:t>
            </a:r>
            <a:r>
              <a:rPr kumimoji="0" lang="en-US" altLang="en-US" b="1" i="0" u="none" strike="noStrike" kern="1200" cap="none" spc="0" normalizeH="0" baseline="0" noProof="0" dirty="0">
                <a:ln>
                  <a:noFill/>
                </a:ln>
                <a:solidFill>
                  <a:srgbClr val="C4D600"/>
                </a:solidFill>
                <a:effectLst/>
                <a:uLnTx/>
                <a:uFillTx/>
                <a:latin typeface="+mj-lt"/>
                <a:ea typeface="+mn-ea"/>
                <a:cs typeface="Arial" pitchFamily="34" charset="0"/>
              </a:rPr>
              <a:t>&gt;1,000 </a:t>
            </a:r>
            <a:r>
              <a:rPr kumimoji="0" lang="en-US" altLang="en-US" sz="1000" b="1" i="0" u="none" strike="noStrike" kern="1200" cap="none" spc="0" normalizeH="0" baseline="0" noProof="0" dirty="0">
                <a:ln>
                  <a:noFill/>
                </a:ln>
                <a:solidFill>
                  <a:srgbClr val="FFFFFF"/>
                </a:solidFill>
                <a:effectLst/>
                <a:uLnTx/>
                <a:uFillTx/>
                <a:latin typeface="+mj-lt"/>
                <a:ea typeface="+mn-ea"/>
                <a:cs typeface="Arial" pitchFamily="34" charset="0"/>
              </a:rPr>
              <a:t>globally</a:t>
            </a:r>
          </a:p>
        </p:txBody>
      </p:sp>
      <p:sp>
        <p:nvSpPr>
          <p:cNvPr id="42" name="Rectangle 145"/>
          <p:cNvSpPr>
            <a:spLocks noChangeArrowheads="1"/>
          </p:cNvSpPr>
          <p:nvPr/>
        </p:nvSpPr>
        <p:spPr bwMode="auto">
          <a:xfrm>
            <a:off x="8246394" y="3828603"/>
            <a:ext cx="3570398"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623438" rtl="0" eaLnBrk="0" fontAlgn="base" latinLnBrk="0" hangingPunct="0">
              <a:lnSpc>
                <a:spcPct val="100000"/>
              </a:lnSpc>
              <a:spcBef>
                <a:spcPct val="0"/>
              </a:spcBef>
              <a:spcAft>
                <a:spcPct val="0"/>
              </a:spcAft>
              <a:buClrTx/>
              <a:buSzTx/>
              <a:buFontTx/>
              <a:buNone/>
              <a:tabLst/>
              <a:defRPr/>
            </a:pPr>
            <a:r>
              <a:rPr kumimoji="0" lang="en-US" altLang="en-US" sz="1100" b="1" i="0" u="none" strike="noStrike" kern="1200" cap="none" spc="0" normalizeH="0" baseline="0" noProof="0" dirty="0">
                <a:ln>
                  <a:noFill/>
                </a:ln>
                <a:solidFill>
                  <a:srgbClr val="6FC2B4"/>
                </a:solidFill>
                <a:effectLst/>
                <a:uLnTx/>
                <a:uFillTx/>
                <a:latin typeface="+mj-lt"/>
                <a:ea typeface="+mn-ea"/>
                <a:cs typeface="Arial" pitchFamily="34" charset="0"/>
              </a:rPr>
              <a:t>Transforming through innovation</a:t>
            </a:r>
          </a:p>
        </p:txBody>
      </p:sp>
      <p:sp>
        <p:nvSpPr>
          <p:cNvPr id="43" name="Rectangle 147"/>
          <p:cNvSpPr>
            <a:spLocks noChangeArrowheads="1"/>
          </p:cNvSpPr>
          <p:nvPr/>
        </p:nvSpPr>
        <p:spPr bwMode="auto">
          <a:xfrm>
            <a:off x="8257947" y="4121375"/>
            <a:ext cx="30166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623438" rtl="0" eaLnBrk="0" fontAlgn="base" latinLnBrk="0" hangingPunct="0">
              <a:lnSpc>
                <a:spcPct val="100000"/>
              </a:lnSpc>
              <a:spcBef>
                <a:spcPct val="0"/>
              </a:spcBef>
              <a:spcAft>
                <a:spcPct val="0"/>
              </a:spcAft>
              <a:buClrTx/>
              <a:buSzTx/>
              <a:buFontTx/>
              <a:buNone/>
              <a:tabLst/>
              <a:defRPr/>
            </a:pPr>
            <a:r>
              <a:rPr kumimoji="0" lang="en-US" altLang="en-US" sz="1000" b="1" i="0" u="none" strike="noStrike" kern="1200" cap="none" spc="0" normalizeH="0" baseline="0" noProof="0" dirty="0">
                <a:ln>
                  <a:noFill/>
                </a:ln>
                <a:solidFill>
                  <a:srgbClr val="FFFFFF"/>
                </a:solidFill>
                <a:effectLst/>
                <a:uLnTx/>
                <a:uFillTx/>
                <a:latin typeface="+mj-lt"/>
                <a:ea typeface="+mn-ea"/>
                <a:cs typeface="Arial" pitchFamily="34" charset="0"/>
              </a:rPr>
              <a:t>Several hundred million dollars invested in next-generation technologies</a:t>
            </a:r>
          </a:p>
        </p:txBody>
      </p:sp>
      <p:grpSp>
        <p:nvGrpSpPr>
          <p:cNvPr id="44" name="Group 43"/>
          <p:cNvGrpSpPr/>
          <p:nvPr/>
        </p:nvGrpSpPr>
        <p:grpSpPr>
          <a:xfrm>
            <a:off x="8478943" y="4687771"/>
            <a:ext cx="387085" cy="374073"/>
            <a:chOff x="2029320" y="4330951"/>
            <a:chExt cx="367982" cy="367982"/>
          </a:xfrm>
          <a:solidFill>
            <a:srgbClr val="62B5E5"/>
          </a:solidFill>
        </p:grpSpPr>
        <p:grpSp>
          <p:nvGrpSpPr>
            <p:cNvPr id="72" name="Group 71"/>
            <p:cNvGrpSpPr>
              <a:grpSpLocks noChangeAspect="1"/>
            </p:cNvGrpSpPr>
            <p:nvPr/>
          </p:nvGrpSpPr>
          <p:grpSpPr>
            <a:xfrm>
              <a:off x="2106706" y="4400251"/>
              <a:ext cx="195402" cy="246861"/>
              <a:chOff x="4535488" y="5551488"/>
              <a:chExt cx="446087" cy="563563"/>
            </a:xfrm>
            <a:grpFill/>
          </p:grpSpPr>
          <p:sp>
            <p:nvSpPr>
              <p:cNvPr id="74" name="Freeform 134"/>
              <p:cNvSpPr>
                <a:spLocks noEditPoints="1"/>
              </p:cNvSpPr>
              <p:nvPr/>
            </p:nvSpPr>
            <p:spPr bwMode="auto">
              <a:xfrm>
                <a:off x="4535488" y="5553075"/>
                <a:ext cx="271462" cy="558800"/>
              </a:xfrm>
              <a:custGeom>
                <a:avLst/>
                <a:gdLst>
                  <a:gd name="T0" fmla="*/ 90 w 116"/>
                  <a:gd name="T1" fmla="*/ 1 h 238"/>
                  <a:gd name="T2" fmla="*/ 85 w 116"/>
                  <a:gd name="T3" fmla="*/ 1 h 238"/>
                  <a:gd name="T4" fmla="*/ 83 w 116"/>
                  <a:gd name="T5" fmla="*/ 5 h 238"/>
                  <a:gd name="T6" fmla="*/ 83 w 116"/>
                  <a:gd name="T7" fmla="*/ 38 h 238"/>
                  <a:gd name="T8" fmla="*/ 71 w 116"/>
                  <a:gd name="T9" fmla="*/ 56 h 238"/>
                  <a:gd name="T10" fmla="*/ 45 w 116"/>
                  <a:gd name="T11" fmla="*/ 56 h 238"/>
                  <a:gd name="T12" fmla="*/ 33 w 116"/>
                  <a:gd name="T13" fmla="*/ 38 h 238"/>
                  <a:gd name="T14" fmla="*/ 33 w 116"/>
                  <a:gd name="T15" fmla="*/ 5 h 238"/>
                  <a:gd name="T16" fmla="*/ 31 w 116"/>
                  <a:gd name="T17" fmla="*/ 1 h 238"/>
                  <a:gd name="T18" fmla="*/ 26 w 116"/>
                  <a:gd name="T19" fmla="*/ 1 h 238"/>
                  <a:gd name="T20" fmla="*/ 0 w 116"/>
                  <a:gd name="T21" fmla="*/ 49 h 238"/>
                  <a:gd name="T22" fmla="*/ 32 w 116"/>
                  <a:gd name="T23" fmla="*/ 96 h 238"/>
                  <a:gd name="T24" fmla="*/ 25 w 116"/>
                  <a:gd name="T25" fmla="*/ 205 h 238"/>
                  <a:gd name="T26" fmla="*/ 58 w 116"/>
                  <a:gd name="T27" fmla="*/ 238 h 238"/>
                  <a:gd name="T28" fmla="*/ 91 w 116"/>
                  <a:gd name="T29" fmla="*/ 205 h 238"/>
                  <a:gd name="T30" fmla="*/ 84 w 116"/>
                  <a:gd name="T31" fmla="*/ 96 h 238"/>
                  <a:gd name="T32" fmla="*/ 116 w 116"/>
                  <a:gd name="T33" fmla="*/ 49 h 238"/>
                  <a:gd name="T34" fmla="*/ 90 w 116"/>
                  <a:gd name="T35" fmla="*/ 1 h 238"/>
                  <a:gd name="T36" fmla="*/ 76 w 116"/>
                  <a:gd name="T37" fmla="*/ 89 h 238"/>
                  <a:gd name="T38" fmla="*/ 74 w 116"/>
                  <a:gd name="T39" fmla="*/ 94 h 238"/>
                  <a:gd name="T40" fmla="*/ 81 w 116"/>
                  <a:gd name="T41" fmla="*/ 205 h 238"/>
                  <a:gd name="T42" fmla="*/ 58 w 116"/>
                  <a:gd name="T43" fmla="*/ 229 h 238"/>
                  <a:gd name="T44" fmla="*/ 34 w 116"/>
                  <a:gd name="T45" fmla="*/ 205 h 238"/>
                  <a:gd name="T46" fmla="*/ 42 w 116"/>
                  <a:gd name="T47" fmla="*/ 94 h 238"/>
                  <a:gd name="T48" fmla="*/ 40 w 116"/>
                  <a:gd name="T49" fmla="*/ 89 h 238"/>
                  <a:gd name="T50" fmla="*/ 10 w 116"/>
                  <a:gd name="T51" fmla="*/ 49 h 238"/>
                  <a:gd name="T52" fmla="*/ 24 w 116"/>
                  <a:gd name="T53" fmla="*/ 15 h 238"/>
                  <a:gd name="T54" fmla="*/ 24 w 116"/>
                  <a:gd name="T55" fmla="*/ 39 h 238"/>
                  <a:gd name="T56" fmla="*/ 25 w 116"/>
                  <a:gd name="T57" fmla="*/ 42 h 238"/>
                  <a:gd name="T58" fmla="*/ 39 w 116"/>
                  <a:gd name="T59" fmla="*/ 64 h 238"/>
                  <a:gd name="T60" fmla="*/ 43 w 116"/>
                  <a:gd name="T61" fmla="*/ 66 h 238"/>
                  <a:gd name="T62" fmla="*/ 73 w 116"/>
                  <a:gd name="T63" fmla="*/ 66 h 238"/>
                  <a:gd name="T64" fmla="*/ 77 w 116"/>
                  <a:gd name="T65" fmla="*/ 64 h 238"/>
                  <a:gd name="T66" fmla="*/ 91 w 116"/>
                  <a:gd name="T67" fmla="*/ 42 h 238"/>
                  <a:gd name="T68" fmla="*/ 92 w 116"/>
                  <a:gd name="T69" fmla="*/ 39 h 238"/>
                  <a:gd name="T70" fmla="*/ 92 w 116"/>
                  <a:gd name="T71" fmla="*/ 15 h 238"/>
                  <a:gd name="T72" fmla="*/ 106 w 116"/>
                  <a:gd name="T73" fmla="*/ 49 h 238"/>
                  <a:gd name="T74" fmla="*/ 76 w 116"/>
                  <a:gd name="T75" fmla="*/ 89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6" h="238">
                    <a:moveTo>
                      <a:pt x="90" y="1"/>
                    </a:moveTo>
                    <a:cubicBezTo>
                      <a:pt x="89" y="0"/>
                      <a:pt x="87" y="0"/>
                      <a:pt x="85" y="1"/>
                    </a:cubicBezTo>
                    <a:cubicBezTo>
                      <a:pt x="83" y="2"/>
                      <a:pt x="83" y="3"/>
                      <a:pt x="83" y="5"/>
                    </a:cubicBezTo>
                    <a:cubicBezTo>
                      <a:pt x="83" y="38"/>
                      <a:pt x="83" y="38"/>
                      <a:pt x="83" y="38"/>
                    </a:cubicBezTo>
                    <a:cubicBezTo>
                      <a:pt x="71" y="56"/>
                      <a:pt x="71" y="56"/>
                      <a:pt x="71" y="56"/>
                    </a:cubicBezTo>
                    <a:cubicBezTo>
                      <a:pt x="45" y="56"/>
                      <a:pt x="45" y="56"/>
                      <a:pt x="45" y="56"/>
                    </a:cubicBezTo>
                    <a:cubicBezTo>
                      <a:pt x="33" y="38"/>
                      <a:pt x="33" y="38"/>
                      <a:pt x="33" y="38"/>
                    </a:cubicBezTo>
                    <a:cubicBezTo>
                      <a:pt x="33" y="5"/>
                      <a:pt x="33" y="5"/>
                      <a:pt x="33" y="5"/>
                    </a:cubicBezTo>
                    <a:cubicBezTo>
                      <a:pt x="33" y="3"/>
                      <a:pt x="32" y="2"/>
                      <a:pt x="31" y="1"/>
                    </a:cubicBezTo>
                    <a:cubicBezTo>
                      <a:pt x="29" y="0"/>
                      <a:pt x="27" y="0"/>
                      <a:pt x="26" y="1"/>
                    </a:cubicBezTo>
                    <a:cubicBezTo>
                      <a:pt x="10" y="12"/>
                      <a:pt x="0" y="30"/>
                      <a:pt x="0" y="49"/>
                    </a:cubicBezTo>
                    <a:cubicBezTo>
                      <a:pt x="0" y="72"/>
                      <a:pt x="22" y="89"/>
                      <a:pt x="32" y="96"/>
                    </a:cubicBezTo>
                    <a:cubicBezTo>
                      <a:pt x="25" y="205"/>
                      <a:pt x="25" y="205"/>
                      <a:pt x="25" y="205"/>
                    </a:cubicBezTo>
                    <a:cubicBezTo>
                      <a:pt x="25" y="223"/>
                      <a:pt x="40" y="238"/>
                      <a:pt x="58" y="238"/>
                    </a:cubicBezTo>
                    <a:cubicBezTo>
                      <a:pt x="76" y="238"/>
                      <a:pt x="91" y="223"/>
                      <a:pt x="91" y="205"/>
                    </a:cubicBezTo>
                    <a:cubicBezTo>
                      <a:pt x="84" y="96"/>
                      <a:pt x="84" y="96"/>
                      <a:pt x="84" y="96"/>
                    </a:cubicBezTo>
                    <a:cubicBezTo>
                      <a:pt x="93" y="89"/>
                      <a:pt x="116" y="72"/>
                      <a:pt x="116" y="49"/>
                    </a:cubicBezTo>
                    <a:cubicBezTo>
                      <a:pt x="116" y="30"/>
                      <a:pt x="106" y="12"/>
                      <a:pt x="90" y="1"/>
                    </a:cubicBezTo>
                    <a:close/>
                    <a:moveTo>
                      <a:pt x="76" y="89"/>
                    </a:moveTo>
                    <a:cubicBezTo>
                      <a:pt x="74" y="90"/>
                      <a:pt x="74" y="92"/>
                      <a:pt x="74" y="94"/>
                    </a:cubicBezTo>
                    <a:cubicBezTo>
                      <a:pt x="81" y="205"/>
                      <a:pt x="81" y="205"/>
                      <a:pt x="81" y="205"/>
                    </a:cubicBezTo>
                    <a:cubicBezTo>
                      <a:pt x="81" y="218"/>
                      <a:pt x="71" y="229"/>
                      <a:pt x="58" y="229"/>
                    </a:cubicBezTo>
                    <a:cubicBezTo>
                      <a:pt x="45" y="229"/>
                      <a:pt x="34" y="218"/>
                      <a:pt x="34" y="205"/>
                    </a:cubicBezTo>
                    <a:cubicBezTo>
                      <a:pt x="42" y="94"/>
                      <a:pt x="42" y="94"/>
                      <a:pt x="42" y="94"/>
                    </a:cubicBezTo>
                    <a:cubicBezTo>
                      <a:pt x="42" y="92"/>
                      <a:pt x="41" y="90"/>
                      <a:pt x="40" y="89"/>
                    </a:cubicBezTo>
                    <a:cubicBezTo>
                      <a:pt x="33" y="85"/>
                      <a:pt x="10" y="69"/>
                      <a:pt x="10" y="49"/>
                    </a:cubicBezTo>
                    <a:cubicBezTo>
                      <a:pt x="10" y="36"/>
                      <a:pt x="15" y="24"/>
                      <a:pt x="24" y="15"/>
                    </a:cubicBezTo>
                    <a:cubicBezTo>
                      <a:pt x="24" y="39"/>
                      <a:pt x="24" y="39"/>
                      <a:pt x="24" y="39"/>
                    </a:cubicBezTo>
                    <a:cubicBezTo>
                      <a:pt x="24" y="40"/>
                      <a:pt x="24" y="41"/>
                      <a:pt x="25" y="42"/>
                    </a:cubicBezTo>
                    <a:cubicBezTo>
                      <a:pt x="39" y="64"/>
                      <a:pt x="39" y="64"/>
                      <a:pt x="39" y="64"/>
                    </a:cubicBezTo>
                    <a:cubicBezTo>
                      <a:pt x="40" y="65"/>
                      <a:pt x="41" y="66"/>
                      <a:pt x="43" y="66"/>
                    </a:cubicBezTo>
                    <a:cubicBezTo>
                      <a:pt x="73" y="66"/>
                      <a:pt x="73" y="66"/>
                      <a:pt x="73" y="66"/>
                    </a:cubicBezTo>
                    <a:cubicBezTo>
                      <a:pt x="75" y="66"/>
                      <a:pt x="76" y="65"/>
                      <a:pt x="77" y="64"/>
                    </a:cubicBezTo>
                    <a:cubicBezTo>
                      <a:pt x="91" y="42"/>
                      <a:pt x="91" y="42"/>
                      <a:pt x="91" y="42"/>
                    </a:cubicBezTo>
                    <a:cubicBezTo>
                      <a:pt x="92" y="41"/>
                      <a:pt x="92" y="40"/>
                      <a:pt x="92" y="39"/>
                    </a:cubicBezTo>
                    <a:cubicBezTo>
                      <a:pt x="92" y="15"/>
                      <a:pt x="92" y="15"/>
                      <a:pt x="92" y="15"/>
                    </a:cubicBezTo>
                    <a:cubicBezTo>
                      <a:pt x="101" y="24"/>
                      <a:pt x="106" y="36"/>
                      <a:pt x="106" y="49"/>
                    </a:cubicBezTo>
                    <a:cubicBezTo>
                      <a:pt x="106" y="69"/>
                      <a:pt x="83" y="85"/>
                      <a:pt x="76" y="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marL="0" marR="0" lvl="0" indent="0" algn="ctr" defTabSz="623438" rtl="0" eaLnBrk="1" fontAlgn="base" latinLnBrk="0" hangingPunct="1">
                  <a:lnSpc>
                    <a:spcPct val="100000"/>
                  </a:lnSpc>
                  <a:spcBef>
                    <a:spcPct val="20000"/>
                  </a:spcBef>
                  <a:spcAft>
                    <a:spcPct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mj-lt"/>
                  <a:ea typeface="+mn-ea"/>
                  <a:cs typeface="Arial" pitchFamily="34" charset="0"/>
                </a:endParaRPr>
              </a:p>
            </p:txBody>
          </p:sp>
          <p:sp>
            <p:nvSpPr>
              <p:cNvPr id="75" name="Freeform 135"/>
              <p:cNvSpPr>
                <a:spLocks/>
              </p:cNvSpPr>
              <p:nvPr/>
            </p:nvSpPr>
            <p:spPr bwMode="auto">
              <a:xfrm>
                <a:off x="4652963" y="6016625"/>
                <a:ext cx="36512" cy="36513"/>
              </a:xfrm>
              <a:custGeom>
                <a:avLst/>
                <a:gdLst>
                  <a:gd name="T0" fmla="*/ 8 w 16"/>
                  <a:gd name="T1" fmla="*/ 0 h 16"/>
                  <a:gd name="T2" fmla="*/ 0 w 16"/>
                  <a:gd name="T3" fmla="*/ 8 h 16"/>
                  <a:gd name="T4" fmla="*/ 8 w 16"/>
                  <a:gd name="T5" fmla="*/ 16 h 16"/>
                  <a:gd name="T6" fmla="*/ 16 w 16"/>
                  <a:gd name="T7" fmla="*/ 8 h 16"/>
                  <a:gd name="T8" fmla="*/ 16 w 16"/>
                  <a:gd name="T9" fmla="*/ 8 h 16"/>
                  <a:gd name="T10" fmla="*/ 8 w 16"/>
                  <a:gd name="T11" fmla="*/ 0 h 16"/>
                </a:gdLst>
                <a:ahLst/>
                <a:cxnLst>
                  <a:cxn ang="0">
                    <a:pos x="T0" y="T1"/>
                  </a:cxn>
                  <a:cxn ang="0">
                    <a:pos x="T2" y="T3"/>
                  </a:cxn>
                  <a:cxn ang="0">
                    <a:pos x="T4" y="T5"/>
                  </a:cxn>
                  <a:cxn ang="0">
                    <a:pos x="T6" y="T7"/>
                  </a:cxn>
                  <a:cxn ang="0">
                    <a:pos x="T8" y="T9"/>
                  </a:cxn>
                  <a:cxn ang="0">
                    <a:pos x="T10" y="T11"/>
                  </a:cxn>
                </a:cxnLst>
                <a:rect l="0" t="0" r="r" b="b"/>
                <a:pathLst>
                  <a:path w="16" h="16">
                    <a:moveTo>
                      <a:pt x="8" y="0"/>
                    </a:moveTo>
                    <a:cubicBezTo>
                      <a:pt x="4" y="0"/>
                      <a:pt x="0" y="4"/>
                      <a:pt x="0" y="8"/>
                    </a:cubicBezTo>
                    <a:cubicBezTo>
                      <a:pt x="0" y="12"/>
                      <a:pt x="4" y="16"/>
                      <a:pt x="8" y="16"/>
                    </a:cubicBezTo>
                    <a:cubicBezTo>
                      <a:pt x="12" y="16"/>
                      <a:pt x="16" y="12"/>
                      <a:pt x="16" y="8"/>
                    </a:cubicBezTo>
                    <a:cubicBezTo>
                      <a:pt x="16" y="8"/>
                      <a:pt x="16" y="8"/>
                      <a:pt x="16" y="8"/>
                    </a:cubicBezTo>
                    <a:cubicBezTo>
                      <a:pt x="16" y="4"/>
                      <a:pt x="12"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marL="0" marR="0" lvl="0" indent="0" algn="ctr" defTabSz="623438" rtl="0" eaLnBrk="1" fontAlgn="base" latinLnBrk="0" hangingPunct="1">
                  <a:lnSpc>
                    <a:spcPct val="100000"/>
                  </a:lnSpc>
                  <a:spcBef>
                    <a:spcPct val="20000"/>
                  </a:spcBef>
                  <a:spcAft>
                    <a:spcPct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mj-lt"/>
                  <a:ea typeface="+mn-ea"/>
                  <a:cs typeface="Arial" pitchFamily="34" charset="0"/>
                </a:endParaRPr>
              </a:p>
            </p:txBody>
          </p:sp>
          <p:sp>
            <p:nvSpPr>
              <p:cNvPr id="76" name="Freeform 136"/>
              <p:cNvSpPr>
                <a:spLocks noEditPoints="1"/>
              </p:cNvSpPr>
              <p:nvPr/>
            </p:nvSpPr>
            <p:spPr bwMode="auto">
              <a:xfrm>
                <a:off x="4845050" y="5551488"/>
                <a:ext cx="136525" cy="563563"/>
              </a:xfrm>
              <a:custGeom>
                <a:avLst/>
                <a:gdLst>
                  <a:gd name="T0" fmla="*/ 56 w 58"/>
                  <a:gd name="T1" fmla="*/ 133 h 240"/>
                  <a:gd name="T2" fmla="*/ 58 w 58"/>
                  <a:gd name="T3" fmla="*/ 129 h 240"/>
                  <a:gd name="T4" fmla="*/ 58 w 58"/>
                  <a:gd name="T5" fmla="*/ 108 h 240"/>
                  <a:gd name="T6" fmla="*/ 53 w 58"/>
                  <a:gd name="T7" fmla="*/ 103 h 240"/>
                  <a:gd name="T8" fmla="*/ 34 w 58"/>
                  <a:gd name="T9" fmla="*/ 103 h 240"/>
                  <a:gd name="T10" fmla="*/ 34 w 58"/>
                  <a:gd name="T11" fmla="*/ 35 h 240"/>
                  <a:gd name="T12" fmla="*/ 34 w 58"/>
                  <a:gd name="T13" fmla="*/ 35 h 240"/>
                  <a:gd name="T14" fmla="*/ 38 w 58"/>
                  <a:gd name="T15" fmla="*/ 32 h 240"/>
                  <a:gd name="T16" fmla="*/ 42 w 58"/>
                  <a:gd name="T17" fmla="*/ 17 h 240"/>
                  <a:gd name="T18" fmla="*/ 42 w 58"/>
                  <a:gd name="T19" fmla="*/ 14 h 240"/>
                  <a:gd name="T20" fmla="*/ 38 w 58"/>
                  <a:gd name="T21" fmla="*/ 3 h 240"/>
                  <a:gd name="T22" fmla="*/ 34 w 58"/>
                  <a:gd name="T23" fmla="*/ 0 h 240"/>
                  <a:gd name="T24" fmla="*/ 24 w 58"/>
                  <a:gd name="T25" fmla="*/ 0 h 240"/>
                  <a:gd name="T26" fmla="*/ 19 w 58"/>
                  <a:gd name="T27" fmla="*/ 3 h 240"/>
                  <a:gd name="T28" fmla="*/ 16 w 58"/>
                  <a:gd name="T29" fmla="*/ 14 h 240"/>
                  <a:gd name="T30" fmla="*/ 16 w 58"/>
                  <a:gd name="T31" fmla="*/ 17 h 240"/>
                  <a:gd name="T32" fmla="*/ 19 w 58"/>
                  <a:gd name="T33" fmla="*/ 32 h 240"/>
                  <a:gd name="T34" fmla="*/ 24 w 58"/>
                  <a:gd name="T35" fmla="*/ 35 h 240"/>
                  <a:gd name="T36" fmla="*/ 24 w 58"/>
                  <a:gd name="T37" fmla="*/ 35 h 240"/>
                  <a:gd name="T38" fmla="*/ 24 w 58"/>
                  <a:gd name="T39" fmla="*/ 103 h 240"/>
                  <a:gd name="T40" fmla="*/ 4 w 58"/>
                  <a:gd name="T41" fmla="*/ 103 h 240"/>
                  <a:gd name="T42" fmla="*/ 0 w 58"/>
                  <a:gd name="T43" fmla="*/ 108 h 240"/>
                  <a:gd name="T44" fmla="*/ 0 w 58"/>
                  <a:gd name="T45" fmla="*/ 129 h 240"/>
                  <a:gd name="T46" fmla="*/ 2 w 58"/>
                  <a:gd name="T47" fmla="*/ 133 h 240"/>
                  <a:gd name="T48" fmla="*/ 7 w 58"/>
                  <a:gd name="T49" fmla="*/ 141 h 240"/>
                  <a:gd name="T50" fmla="*/ 2 w 58"/>
                  <a:gd name="T51" fmla="*/ 149 h 240"/>
                  <a:gd name="T52" fmla="*/ 0 w 58"/>
                  <a:gd name="T53" fmla="*/ 153 h 240"/>
                  <a:gd name="T54" fmla="*/ 0 w 58"/>
                  <a:gd name="T55" fmla="*/ 210 h 240"/>
                  <a:gd name="T56" fmla="*/ 29 w 58"/>
                  <a:gd name="T57" fmla="*/ 240 h 240"/>
                  <a:gd name="T58" fmla="*/ 58 w 58"/>
                  <a:gd name="T59" fmla="*/ 210 h 240"/>
                  <a:gd name="T60" fmla="*/ 58 w 58"/>
                  <a:gd name="T61" fmla="*/ 153 h 240"/>
                  <a:gd name="T62" fmla="*/ 56 w 58"/>
                  <a:gd name="T63" fmla="*/ 149 h 240"/>
                  <a:gd name="T64" fmla="*/ 51 w 58"/>
                  <a:gd name="T65" fmla="*/ 141 h 240"/>
                  <a:gd name="T66" fmla="*/ 56 w 58"/>
                  <a:gd name="T67" fmla="*/ 133 h 240"/>
                  <a:gd name="T68" fmla="*/ 27 w 58"/>
                  <a:gd name="T69" fmla="*/ 9 h 240"/>
                  <a:gd name="T70" fmla="*/ 30 w 58"/>
                  <a:gd name="T71" fmla="*/ 9 h 240"/>
                  <a:gd name="T72" fmla="*/ 32 w 58"/>
                  <a:gd name="T73" fmla="*/ 16 h 240"/>
                  <a:gd name="T74" fmla="*/ 30 w 58"/>
                  <a:gd name="T75" fmla="*/ 26 h 240"/>
                  <a:gd name="T76" fmla="*/ 28 w 58"/>
                  <a:gd name="T77" fmla="*/ 26 h 240"/>
                  <a:gd name="T78" fmla="*/ 25 w 58"/>
                  <a:gd name="T79" fmla="*/ 16 h 240"/>
                  <a:gd name="T80" fmla="*/ 27 w 58"/>
                  <a:gd name="T81" fmla="*/ 9 h 240"/>
                  <a:gd name="T82" fmla="*/ 48 w 58"/>
                  <a:gd name="T83" fmla="*/ 126 h 240"/>
                  <a:gd name="T84" fmla="*/ 41 w 58"/>
                  <a:gd name="T85" fmla="*/ 141 h 240"/>
                  <a:gd name="T86" fmla="*/ 48 w 58"/>
                  <a:gd name="T87" fmla="*/ 156 h 240"/>
                  <a:gd name="T88" fmla="*/ 48 w 58"/>
                  <a:gd name="T89" fmla="*/ 210 h 240"/>
                  <a:gd name="T90" fmla="*/ 29 w 58"/>
                  <a:gd name="T91" fmla="*/ 230 h 240"/>
                  <a:gd name="T92" fmla="*/ 9 w 58"/>
                  <a:gd name="T93" fmla="*/ 210 h 240"/>
                  <a:gd name="T94" fmla="*/ 9 w 58"/>
                  <a:gd name="T95" fmla="*/ 156 h 240"/>
                  <a:gd name="T96" fmla="*/ 16 w 58"/>
                  <a:gd name="T97" fmla="*/ 141 h 240"/>
                  <a:gd name="T98" fmla="*/ 9 w 58"/>
                  <a:gd name="T99" fmla="*/ 126 h 240"/>
                  <a:gd name="T100" fmla="*/ 9 w 58"/>
                  <a:gd name="T101" fmla="*/ 113 h 240"/>
                  <a:gd name="T102" fmla="*/ 48 w 58"/>
                  <a:gd name="T103" fmla="*/ 113 h 240"/>
                  <a:gd name="T104" fmla="*/ 48 w 58"/>
                  <a:gd name="T105" fmla="*/ 126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8" h="240">
                    <a:moveTo>
                      <a:pt x="56" y="133"/>
                    </a:moveTo>
                    <a:cubicBezTo>
                      <a:pt x="57" y="132"/>
                      <a:pt x="58" y="131"/>
                      <a:pt x="58" y="129"/>
                    </a:cubicBezTo>
                    <a:cubicBezTo>
                      <a:pt x="58" y="108"/>
                      <a:pt x="58" y="108"/>
                      <a:pt x="58" y="108"/>
                    </a:cubicBezTo>
                    <a:cubicBezTo>
                      <a:pt x="58" y="105"/>
                      <a:pt x="56" y="103"/>
                      <a:pt x="53" y="103"/>
                    </a:cubicBezTo>
                    <a:cubicBezTo>
                      <a:pt x="34" y="103"/>
                      <a:pt x="34" y="103"/>
                      <a:pt x="34" y="103"/>
                    </a:cubicBezTo>
                    <a:cubicBezTo>
                      <a:pt x="34" y="35"/>
                      <a:pt x="34" y="35"/>
                      <a:pt x="34" y="35"/>
                    </a:cubicBezTo>
                    <a:cubicBezTo>
                      <a:pt x="34" y="35"/>
                      <a:pt x="34" y="35"/>
                      <a:pt x="34" y="35"/>
                    </a:cubicBezTo>
                    <a:cubicBezTo>
                      <a:pt x="36" y="35"/>
                      <a:pt x="38" y="34"/>
                      <a:pt x="38" y="32"/>
                    </a:cubicBezTo>
                    <a:cubicBezTo>
                      <a:pt x="42" y="17"/>
                      <a:pt x="42" y="17"/>
                      <a:pt x="42" y="17"/>
                    </a:cubicBezTo>
                    <a:cubicBezTo>
                      <a:pt x="42" y="16"/>
                      <a:pt x="42" y="15"/>
                      <a:pt x="42" y="14"/>
                    </a:cubicBezTo>
                    <a:cubicBezTo>
                      <a:pt x="38" y="3"/>
                      <a:pt x="38" y="3"/>
                      <a:pt x="38" y="3"/>
                    </a:cubicBezTo>
                    <a:cubicBezTo>
                      <a:pt x="37" y="1"/>
                      <a:pt x="36" y="0"/>
                      <a:pt x="34" y="0"/>
                    </a:cubicBezTo>
                    <a:cubicBezTo>
                      <a:pt x="24" y="0"/>
                      <a:pt x="24" y="0"/>
                      <a:pt x="24" y="0"/>
                    </a:cubicBezTo>
                    <a:cubicBezTo>
                      <a:pt x="22" y="0"/>
                      <a:pt x="20" y="1"/>
                      <a:pt x="19" y="3"/>
                    </a:cubicBezTo>
                    <a:cubicBezTo>
                      <a:pt x="16" y="14"/>
                      <a:pt x="16" y="14"/>
                      <a:pt x="16" y="14"/>
                    </a:cubicBezTo>
                    <a:cubicBezTo>
                      <a:pt x="15" y="15"/>
                      <a:pt x="15" y="16"/>
                      <a:pt x="16" y="17"/>
                    </a:cubicBezTo>
                    <a:cubicBezTo>
                      <a:pt x="19" y="32"/>
                      <a:pt x="19" y="32"/>
                      <a:pt x="19" y="32"/>
                    </a:cubicBezTo>
                    <a:cubicBezTo>
                      <a:pt x="20" y="34"/>
                      <a:pt x="22" y="35"/>
                      <a:pt x="24" y="35"/>
                    </a:cubicBezTo>
                    <a:cubicBezTo>
                      <a:pt x="24" y="35"/>
                      <a:pt x="24" y="35"/>
                      <a:pt x="24" y="35"/>
                    </a:cubicBezTo>
                    <a:cubicBezTo>
                      <a:pt x="24" y="103"/>
                      <a:pt x="24" y="103"/>
                      <a:pt x="24" y="103"/>
                    </a:cubicBezTo>
                    <a:cubicBezTo>
                      <a:pt x="4" y="103"/>
                      <a:pt x="4" y="103"/>
                      <a:pt x="4" y="103"/>
                    </a:cubicBezTo>
                    <a:cubicBezTo>
                      <a:pt x="2" y="103"/>
                      <a:pt x="0" y="105"/>
                      <a:pt x="0" y="108"/>
                    </a:cubicBezTo>
                    <a:cubicBezTo>
                      <a:pt x="0" y="129"/>
                      <a:pt x="0" y="129"/>
                      <a:pt x="0" y="129"/>
                    </a:cubicBezTo>
                    <a:cubicBezTo>
                      <a:pt x="0" y="131"/>
                      <a:pt x="0" y="132"/>
                      <a:pt x="2" y="133"/>
                    </a:cubicBezTo>
                    <a:cubicBezTo>
                      <a:pt x="5" y="135"/>
                      <a:pt x="7" y="138"/>
                      <a:pt x="7" y="141"/>
                    </a:cubicBezTo>
                    <a:cubicBezTo>
                      <a:pt x="7" y="145"/>
                      <a:pt x="5" y="148"/>
                      <a:pt x="2" y="149"/>
                    </a:cubicBezTo>
                    <a:cubicBezTo>
                      <a:pt x="0" y="150"/>
                      <a:pt x="0" y="152"/>
                      <a:pt x="0" y="153"/>
                    </a:cubicBezTo>
                    <a:cubicBezTo>
                      <a:pt x="0" y="210"/>
                      <a:pt x="0" y="210"/>
                      <a:pt x="0" y="210"/>
                    </a:cubicBezTo>
                    <a:cubicBezTo>
                      <a:pt x="0" y="226"/>
                      <a:pt x="13" y="240"/>
                      <a:pt x="29" y="240"/>
                    </a:cubicBezTo>
                    <a:cubicBezTo>
                      <a:pt x="45" y="240"/>
                      <a:pt x="58" y="226"/>
                      <a:pt x="58" y="210"/>
                    </a:cubicBezTo>
                    <a:cubicBezTo>
                      <a:pt x="58" y="153"/>
                      <a:pt x="58" y="153"/>
                      <a:pt x="58" y="153"/>
                    </a:cubicBezTo>
                    <a:cubicBezTo>
                      <a:pt x="58" y="152"/>
                      <a:pt x="57" y="150"/>
                      <a:pt x="56" y="149"/>
                    </a:cubicBezTo>
                    <a:cubicBezTo>
                      <a:pt x="53" y="148"/>
                      <a:pt x="51" y="145"/>
                      <a:pt x="51" y="141"/>
                    </a:cubicBezTo>
                    <a:cubicBezTo>
                      <a:pt x="51" y="138"/>
                      <a:pt x="53" y="135"/>
                      <a:pt x="56" y="133"/>
                    </a:cubicBezTo>
                    <a:close/>
                    <a:moveTo>
                      <a:pt x="27" y="9"/>
                    </a:moveTo>
                    <a:cubicBezTo>
                      <a:pt x="30" y="9"/>
                      <a:pt x="30" y="9"/>
                      <a:pt x="30" y="9"/>
                    </a:cubicBezTo>
                    <a:cubicBezTo>
                      <a:pt x="32" y="16"/>
                      <a:pt x="32" y="16"/>
                      <a:pt x="32" y="16"/>
                    </a:cubicBezTo>
                    <a:cubicBezTo>
                      <a:pt x="30" y="26"/>
                      <a:pt x="30" y="26"/>
                      <a:pt x="30" y="26"/>
                    </a:cubicBezTo>
                    <a:cubicBezTo>
                      <a:pt x="28" y="26"/>
                      <a:pt x="28" y="26"/>
                      <a:pt x="28" y="26"/>
                    </a:cubicBezTo>
                    <a:cubicBezTo>
                      <a:pt x="25" y="16"/>
                      <a:pt x="25" y="16"/>
                      <a:pt x="25" y="16"/>
                    </a:cubicBezTo>
                    <a:lnTo>
                      <a:pt x="27" y="9"/>
                    </a:lnTo>
                    <a:close/>
                    <a:moveTo>
                      <a:pt x="48" y="126"/>
                    </a:moveTo>
                    <a:cubicBezTo>
                      <a:pt x="44" y="130"/>
                      <a:pt x="41" y="135"/>
                      <a:pt x="41" y="141"/>
                    </a:cubicBezTo>
                    <a:cubicBezTo>
                      <a:pt x="41" y="147"/>
                      <a:pt x="44" y="152"/>
                      <a:pt x="48" y="156"/>
                    </a:cubicBezTo>
                    <a:cubicBezTo>
                      <a:pt x="48" y="210"/>
                      <a:pt x="48" y="210"/>
                      <a:pt x="48" y="210"/>
                    </a:cubicBezTo>
                    <a:cubicBezTo>
                      <a:pt x="48" y="221"/>
                      <a:pt x="40" y="230"/>
                      <a:pt x="29" y="230"/>
                    </a:cubicBezTo>
                    <a:cubicBezTo>
                      <a:pt x="18" y="230"/>
                      <a:pt x="9" y="221"/>
                      <a:pt x="9" y="210"/>
                    </a:cubicBezTo>
                    <a:cubicBezTo>
                      <a:pt x="9" y="156"/>
                      <a:pt x="9" y="156"/>
                      <a:pt x="9" y="156"/>
                    </a:cubicBezTo>
                    <a:cubicBezTo>
                      <a:pt x="14" y="152"/>
                      <a:pt x="16" y="147"/>
                      <a:pt x="16" y="141"/>
                    </a:cubicBezTo>
                    <a:cubicBezTo>
                      <a:pt x="16" y="135"/>
                      <a:pt x="14" y="130"/>
                      <a:pt x="9" y="126"/>
                    </a:cubicBezTo>
                    <a:cubicBezTo>
                      <a:pt x="9" y="113"/>
                      <a:pt x="9" y="113"/>
                      <a:pt x="9" y="113"/>
                    </a:cubicBezTo>
                    <a:cubicBezTo>
                      <a:pt x="48" y="113"/>
                      <a:pt x="48" y="113"/>
                      <a:pt x="48" y="113"/>
                    </a:cubicBezTo>
                    <a:lnTo>
                      <a:pt x="48" y="1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marL="0" marR="0" lvl="0" indent="0" algn="ctr" defTabSz="623438" rtl="0" eaLnBrk="1" fontAlgn="base" latinLnBrk="0" hangingPunct="1">
                  <a:lnSpc>
                    <a:spcPct val="100000"/>
                  </a:lnSpc>
                  <a:spcBef>
                    <a:spcPct val="20000"/>
                  </a:spcBef>
                  <a:spcAft>
                    <a:spcPct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mj-lt"/>
                  <a:ea typeface="+mn-ea"/>
                  <a:cs typeface="Arial" pitchFamily="34" charset="0"/>
                </a:endParaRPr>
              </a:p>
            </p:txBody>
          </p:sp>
          <p:sp>
            <p:nvSpPr>
              <p:cNvPr id="77" name="Freeform 137"/>
              <p:cNvSpPr>
                <a:spLocks/>
              </p:cNvSpPr>
              <p:nvPr/>
            </p:nvSpPr>
            <p:spPr bwMode="auto">
              <a:xfrm>
                <a:off x="4900613" y="5922963"/>
                <a:ext cx="23812" cy="130175"/>
              </a:xfrm>
              <a:custGeom>
                <a:avLst/>
                <a:gdLst>
                  <a:gd name="T0" fmla="*/ 0 w 10"/>
                  <a:gd name="T1" fmla="*/ 4 h 56"/>
                  <a:gd name="T2" fmla="*/ 0 w 10"/>
                  <a:gd name="T3" fmla="*/ 51 h 56"/>
                  <a:gd name="T4" fmla="*/ 5 w 10"/>
                  <a:gd name="T5" fmla="*/ 56 h 56"/>
                  <a:gd name="T6" fmla="*/ 10 w 10"/>
                  <a:gd name="T7" fmla="*/ 51 h 56"/>
                  <a:gd name="T8" fmla="*/ 10 w 10"/>
                  <a:gd name="T9" fmla="*/ 4 h 56"/>
                  <a:gd name="T10" fmla="*/ 5 w 10"/>
                  <a:gd name="T11" fmla="*/ 0 h 56"/>
                  <a:gd name="T12" fmla="*/ 0 w 10"/>
                  <a:gd name="T13" fmla="*/ 4 h 56"/>
                </a:gdLst>
                <a:ahLst/>
                <a:cxnLst>
                  <a:cxn ang="0">
                    <a:pos x="T0" y="T1"/>
                  </a:cxn>
                  <a:cxn ang="0">
                    <a:pos x="T2" y="T3"/>
                  </a:cxn>
                  <a:cxn ang="0">
                    <a:pos x="T4" y="T5"/>
                  </a:cxn>
                  <a:cxn ang="0">
                    <a:pos x="T6" y="T7"/>
                  </a:cxn>
                  <a:cxn ang="0">
                    <a:pos x="T8" y="T9"/>
                  </a:cxn>
                  <a:cxn ang="0">
                    <a:pos x="T10" y="T11"/>
                  </a:cxn>
                  <a:cxn ang="0">
                    <a:pos x="T12" y="T13"/>
                  </a:cxn>
                </a:cxnLst>
                <a:rect l="0" t="0" r="r" b="b"/>
                <a:pathLst>
                  <a:path w="10" h="56">
                    <a:moveTo>
                      <a:pt x="0" y="4"/>
                    </a:moveTo>
                    <a:cubicBezTo>
                      <a:pt x="0" y="51"/>
                      <a:pt x="0" y="51"/>
                      <a:pt x="0" y="51"/>
                    </a:cubicBezTo>
                    <a:cubicBezTo>
                      <a:pt x="0" y="54"/>
                      <a:pt x="2" y="56"/>
                      <a:pt x="5" y="56"/>
                    </a:cubicBezTo>
                    <a:cubicBezTo>
                      <a:pt x="7" y="56"/>
                      <a:pt x="10" y="54"/>
                      <a:pt x="10" y="51"/>
                    </a:cubicBezTo>
                    <a:cubicBezTo>
                      <a:pt x="10" y="4"/>
                      <a:pt x="10" y="4"/>
                      <a:pt x="10" y="4"/>
                    </a:cubicBezTo>
                    <a:cubicBezTo>
                      <a:pt x="10" y="2"/>
                      <a:pt x="7" y="0"/>
                      <a:pt x="5" y="0"/>
                    </a:cubicBezTo>
                    <a:cubicBezTo>
                      <a:pt x="2" y="0"/>
                      <a:pt x="0" y="2"/>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marL="0" marR="0" lvl="0" indent="0" algn="ctr" defTabSz="623438" rtl="0" eaLnBrk="1" fontAlgn="base" latinLnBrk="0" hangingPunct="1">
                  <a:lnSpc>
                    <a:spcPct val="100000"/>
                  </a:lnSpc>
                  <a:spcBef>
                    <a:spcPct val="20000"/>
                  </a:spcBef>
                  <a:spcAft>
                    <a:spcPct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mj-lt"/>
                  <a:ea typeface="+mn-ea"/>
                  <a:cs typeface="Arial" pitchFamily="34" charset="0"/>
                </a:endParaRPr>
              </a:p>
            </p:txBody>
          </p:sp>
        </p:grpSp>
        <p:sp>
          <p:nvSpPr>
            <p:cNvPr id="73" name="Freeform 903"/>
            <p:cNvSpPr>
              <a:spLocks noEditPoints="1"/>
            </p:cNvSpPr>
            <p:nvPr/>
          </p:nvSpPr>
          <p:spPr bwMode="auto">
            <a:xfrm>
              <a:off x="2029320" y="4330951"/>
              <a:ext cx="367982" cy="367982"/>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p:spPr>
          <p:txBody>
            <a:bodyPr vert="horz" wrap="square" lIns="62345" tIns="31173" rIns="62345" bIns="31173" numCol="1" anchor="t" anchorCtr="0" compatLnSpc="1">
              <a:prstTxWarp prst="textNoShape">
                <a:avLst/>
              </a:prstTxWarp>
            </a:bodyPr>
            <a:lstStyle/>
            <a:p>
              <a:pPr marL="0" marR="0" lvl="0" indent="0" algn="ctr" defTabSz="623438" rtl="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black"/>
                </a:solidFill>
                <a:effectLst/>
                <a:uLnTx/>
                <a:uFillTx/>
                <a:latin typeface="+mj-lt"/>
                <a:ea typeface="+mn-ea"/>
                <a:cs typeface="Arial" pitchFamily="34" charset="0"/>
              </a:endParaRPr>
            </a:p>
          </p:txBody>
        </p:sp>
      </p:grpSp>
      <p:sp>
        <p:nvSpPr>
          <p:cNvPr id="45" name="Rectangle 147"/>
          <p:cNvSpPr>
            <a:spLocks noChangeArrowheads="1"/>
          </p:cNvSpPr>
          <p:nvPr/>
        </p:nvSpPr>
        <p:spPr bwMode="auto">
          <a:xfrm>
            <a:off x="8621606" y="4728729"/>
            <a:ext cx="319518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623438" rtl="0" eaLnBrk="0" fontAlgn="base" latinLnBrk="0" hangingPunct="0">
              <a:lnSpc>
                <a:spcPct val="100000"/>
              </a:lnSpc>
              <a:spcBef>
                <a:spcPct val="0"/>
              </a:spcBef>
              <a:spcAft>
                <a:spcPct val="0"/>
              </a:spcAft>
              <a:buClrTx/>
              <a:buSzTx/>
              <a:buFontTx/>
              <a:buNone/>
              <a:tabLst/>
              <a:defRPr/>
            </a:pPr>
            <a:r>
              <a:rPr kumimoji="0" lang="en-US" altLang="en-US" sz="1000" b="1" i="0" u="none" strike="noStrike" kern="1200" cap="none" spc="0" normalizeH="0" baseline="0" noProof="0" dirty="0">
                <a:ln>
                  <a:noFill/>
                </a:ln>
                <a:solidFill>
                  <a:srgbClr val="FFFFFF"/>
                </a:solidFill>
                <a:effectLst/>
                <a:uLnTx/>
                <a:uFillTx/>
                <a:latin typeface="+mj-lt"/>
                <a:ea typeface="+mn-ea"/>
                <a:cs typeface="Arial" pitchFamily="34" charset="0"/>
              </a:rPr>
              <a:t>Delivered  hours of Internal </a:t>
            </a:r>
            <a:br>
              <a:rPr kumimoji="0" lang="en-US" altLang="en-US" sz="1000" b="1" i="0" u="none" strike="noStrike" kern="1200" cap="none" spc="0" normalizeH="0" baseline="0" noProof="0" dirty="0">
                <a:ln>
                  <a:noFill/>
                </a:ln>
                <a:solidFill>
                  <a:srgbClr val="FFFFFF"/>
                </a:solidFill>
                <a:effectLst/>
                <a:uLnTx/>
                <a:uFillTx/>
                <a:latin typeface="+mj-lt"/>
                <a:ea typeface="+mn-ea"/>
                <a:cs typeface="Arial" pitchFamily="34" charset="0"/>
              </a:rPr>
            </a:br>
            <a:r>
              <a:rPr kumimoji="0" lang="en-US" altLang="en-US" sz="1000" b="1" i="0" u="none" strike="noStrike" kern="1200" cap="none" spc="0" normalizeH="0" baseline="0" noProof="0" dirty="0">
                <a:ln>
                  <a:noFill/>
                </a:ln>
                <a:solidFill>
                  <a:srgbClr val="FFFFFF"/>
                </a:solidFill>
                <a:effectLst/>
                <a:uLnTx/>
                <a:uFillTx/>
                <a:latin typeface="+mj-lt"/>
                <a:ea typeface="+mn-ea"/>
                <a:cs typeface="Arial" pitchFamily="34" charset="0"/>
              </a:rPr>
              <a:t>Audit Analytics</a:t>
            </a:r>
          </a:p>
        </p:txBody>
      </p:sp>
      <p:grpSp>
        <p:nvGrpSpPr>
          <p:cNvPr id="46" name="Group 45"/>
          <p:cNvGrpSpPr/>
          <p:nvPr/>
        </p:nvGrpSpPr>
        <p:grpSpPr>
          <a:xfrm>
            <a:off x="11326816" y="3989231"/>
            <a:ext cx="387085" cy="374073"/>
            <a:chOff x="3979863" y="6381750"/>
            <a:chExt cx="548640" cy="548640"/>
          </a:xfrm>
        </p:grpSpPr>
        <p:grpSp>
          <p:nvGrpSpPr>
            <p:cNvPr id="67" name="Group 66"/>
            <p:cNvGrpSpPr>
              <a:grpSpLocks noChangeAspect="1"/>
            </p:cNvGrpSpPr>
            <p:nvPr/>
          </p:nvGrpSpPr>
          <p:grpSpPr>
            <a:xfrm>
              <a:off x="4069939" y="6471825"/>
              <a:ext cx="368488" cy="368489"/>
              <a:chOff x="2354264" y="2970216"/>
              <a:chExt cx="1050925" cy="1050926"/>
            </a:xfrm>
            <a:noFill/>
          </p:grpSpPr>
          <p:sp>
            <p:nvSpPr>
              <p:cNvPr id="69" name="Freeform 9"/>
              <p:cNvSpPr>
                <a:spLocks/>
              </p:cNvSpPr>
              <p:nvPr/>
            </p:nvSpPr>
            <p:spPr bwMode="auto">
              <a:xfrm>
                <a:off x="2841627" y="3867154"/>
                <a:ext cx="93663" cy="153988"/>
              </a:xfrm>
              <a:custGeom>
                <a:avLst/>
                <a:gdLst>
                  <a:gd name="T0" fmla="*/ 13 w 25"/>
                  <a:gd name="T1" fmla="*/ 0 h 41"/>
                  <a:gd name="T2" fmla="*/ 13 w 25"/>
                  <a:gd name="T3" fmla="*/ 0 h 41"/>
                  <a:gd name="T4" fmla="*/ 0 w 25"/>
                  <a:gd name="T5" fmla="*/ 41 h 41"/>
                  <a:gd name="T6" fmla="*/ 10 w 25"/>
                  <a:gd name="T7" fmla="*/ 41 h 41"/>
                  <a:gd name="T8" fmla="*/ 25 w 25"/>
                  <a:gd name="T9" fmla="*/ 40 h 41"/>
                  <a:gd name="T10" fmla="*/ 13 w 25"/>
                  <a:gd name="T11" fmla="*/ 0 h 41"/>
                </a:gdLst>
                <a:ahLst/>
                <a:cxnLst>
                  <a:cxn ang="0">
                    <a:pos x="T0" y="T1"/>
                  </a:cxn>
                  <a:cxn ang="0">
                    <a:pos x="T2" y="T3"/>
                  </a:cxn>
                  <a:cxn ang="0">
                    <a:pos x="T4" y="T5"/>
                  </a:cxn>
                  <a:cxn ang="0">
                    <a:pos x="T6" y="T7"/>
                  </a:cxn>
                  <a:cxn ang="0">
                    <a:pos x="T8" y="T9"/>
                  </a:cxn>
                  <a:cxn ang="0">
                    <a:pos x="T10" y="T11"/>
                  </a:cxn>
                </a:cxnLst>
                <a:rect l="0" t="0" r="r" b="b"/>
                <a:pathLst>
                  <a:path w="25" h="41">
                    <a:moveTo>
                      <a:pt x="13" y="0"/>
                    </a:moveTo>
                    <a:cubicBezTo>
                      <a:pt x="13" y="0"/>
                      <a:pt x="13" y="0"/>
                      <a:pt x="13" y="0"/>
                    </a:cubicBezTo>
                    <a:cubicBezTo>
                      <a:pt x="0" y="41"/>
                      <a:pt x="0" y="41"/>
                      <a:pt x="0" y="41"/>
                    </a:cubicBezTo>
                    <a:cubicBezTo>
                      <a:pt x="3" y="41"/>
                      <a:pt x="7" y="41"/>
                      <a:pt x="10" y="41"/>
                    </a:cubicBezTo>
                    <a:cubicBezTo>
                      <a:pt x="15" y="41"/>
                      <a:pt x="20" y="41"/>
                      <a:pt x="25" y="40"/>
                    </a:cubicBezTo>
                    <a:lnTo>
                      <a:pt x="13" y="0"/>
                    </a:lnTo>
                    <a:close/>
                  </a:path>
                </a:pathLst>
              </a:custGeom>
              <a:grpFill/>
              <a:ln w="12700">
                <a:solidFill>
                  <a:schemeClr val="bg1"/>
                </a:solidFill>
              </a:ln>
            </p:spPr>
            <p:txBody>
              <a:bodyPr vert="horz" wrap="square" lIns="62345" tIns="31173" rIns="62345" bIns="31173" numCol="1" anchor="t" anchorCtr="0" compatLnSpc="1">
                <a:prstTxWarp prst="textNoShape">
                  <a:avLst/>
                </a:prstTxWarp>
              </a:bodyPr>
              <a:lstStyle/>
              <a:p>
                <a:pPr marL="0" marR="0" lvl="0" indent="0" algn="ctr" defTabSz="623438"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mj-lt"/>
                  <a:ea typeface="+mn-ea"/>
                  <a:cs typeface="Arial" charset="0"/>
                </a:endParaRPr>
              </a:p>
            </p:txBody>
          </p:sp>
          <p:sp>
            <p:nvSpPr>
              <p:cNvPr id="70" name="Freeform 10"/>
              <p:cNvSpPr>
                <a:spLocks/>
              </p:cNvSpPr>
              <p:nvPr/>
            </p:nvSpPr>
            <p:spPr bwMode="auto">
              <a:xfrm>
                <a:off x="2354264" y="2970216"/>
                <a:ext cx="1050925" cy="1004888"/>
              </a:xfrm>
              <a:custGeom>
                <a:avLst/>
                <a:gdLst>
                  <a:gd name="T0" fmla="*/ 140 w 280"/>
                  <a:gd name="T1" fmla="*/ 0 h 268"/>
                  <a:gd name="T2" fmla="*/ 0 w 280"/>
                  <a:gd name="T3" fmla="*/ 140 h 268"/>
                  <a:gd name="T4" fmla="*/ 84 w 280"/>
                  <a:gd name="T5" fmla="*/ 268 h 268"/>
                  <a:gd name="T6" fmla="*/ 100 w 280"/>
                  <a:gd name="T7" fmla="*/ 218 h 268"/>
                  <a:gd name="T8" fmla="*/ 97 w 280"/>
                  <a:gd name="T9" fmla="*/ 207 h 268"/>
                  <a:gd name="T10" fmla="*/ 71 w 280"/>
                  <a:gd name="T11" fmla="*/ 212 h 268"/>
                  <a:gd name="T12" fmla="*/ 75 w 280"/>
                  <a:gd name="T13" fmla="*/ 186 h 268"/>
                  <a:gd name="T14" fmla="*/ 49 w 280"/>
                  <a:gd name="T15" fmla="*/ 180 h 268"/>
                  <a:gd name="T16" fmla="*/ 62 w 280"/>
                  <a:gd name="T17" fmla="*/ 157 h 268"/>
                  <a:gd name="T18" fmla="*/ 40 w 280"/>
                  <a:gd name="T19" fmla="*/ 142 h 268"/>
                  <a:gd name="T20" fmla="*/ 62 w 280"/>
                  <a:gd name="T21" fmla="*/ 126 h 268"/>
                  <a:gd name="T22" fmla="*/ 47 w 280"/>
                  <a:gd name="T23" fmla="*/ 104 h 268"/>
                  <a:gd name="T24" fmla="*/ 73 w 280"/>
                  <a:gd name="T25" fmla="*/ 97 h 268"/>
                  <a:gd name="T26" fmla="*/ 68 w 280"/>
                  <a:gd name="T27" fmla="*/ 71 h 268"/>
                  <a:gd name="T28" fmla="*/ 94 w 280"/>
                  <a:gd name="T29" fmla="*/ 75 h 268"/>
                  <a:gd name="T30" fmla="*/ 100 w 280"/>
                  <a:gd name="T31" fmla="*/ 49 h 268"/>
                  <a:gd name="T32" fmla="*/ 123 w 280"/>
                  <a:gd name="T33" fmla="*/ 62 h 268"/>
                  <a:gd name="T34" fmla="*/ 138 w 280"/>
                  <a:gd name="T35" fmla="*/ 41 h 268"/>
                  <a:gd name="T36" fmla="*/ 154 w 280"/>
                  <a:gd name="T37" fmla="*/ 62 h 268"/>
                  <a:gd name="T38" fmla="*/ 176 w 280"/>
                  <a:gd name="T39" fmla="*/ 48 h 268"/>
                  <a:gd name="T40" fmla="*/ 183 w 280"/>
                  <a:gd name="T41" fmla="*/ 73 h 268"/>
                  <a:gd name="T42" fmla="*/ 209 w 280"/>
                  <a:gd name="T43" fmla="*/ 68 h 268"/>
                  <a:gd name="T44" fmla="*/ 205 w 280"/>
                  <a:gd name="T45" fmla="*/ 95 h 268"/>
                  <a:gd name="T46" fmla="*/ 231 w 280"/>
                  <a:gd name="T47" fmla="*/ 100 h 268"/>
                  <a:gd name="T48" fmla="*/ 218 w 280"/>
                  <a:gd name="T49" fmla="*/ 123 h 268"/>
                  <a:gd name="T50" fmla="*/ 240 w 280"/>
                  <a:gd name="T51" fmla="*/ 138 h 268"/>
                  <a:gd name="T52" fmla="*/ 219 w 280"/>
                  <a:gd name="T53" fmla="*/ 154 h 268"/>
                  <a:gd name="T54" fmla="*/ 233 w 280"/>
                  <a:gd name="T55" fmla="*/ 176 h 268"/>
                  <a:gd name="T56" fmla="*/ 207 w 280"/>
                  <a:gd name="T57" fmla="*/ 183 h 268"/>
                  <a:gd name="T58" fmla="*/ 212 w 280"/>
                  <a:gd name="T59" fmla="*/ 209 h 268"/>
                  <a:gd name="T60" fmla="*/ 186 w 280"/>
                  <a:gd name="T61" fmla="*/ 206 h 268"/>
                  <a:gd name="T62" fmla="*/ 184 w 280"/>
                  <a:gd name="T63" fmla="*/ 215 h 268"/>
                  <a:gd name="T64" fmla="*/ 200 w 280"/>
                  <a:gd name="T65" fmla="*/ 266 h 268"/>
                  <a:gd name="T66" fmla="*/ 280 w 280"/>
                  <a:gd name="T67" fmla="*/ 140 h 268"/>
                  <a:gd name="T68" fmla="*/ 140 w 280"/>
                  <a:gd name="T69" fmla="*/ 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0" h="268">
                    <a:moveTo>
                      <a:pt x="140" y="0"/>
                    </a:moveTo>
                    <a:cubicBezTo>
                      <a:pt x="63" y="0"/>
                      <a:pt x="0" y="63"/>
                      <a:pt x="0" y="140"/>
                    </a:cubicBezTo>
                    <a:cubicBezTo>
                      <a:pt x="0" y="197"/>
                      <a:pt x="35" y="247"/>
                      <a:pt x="84" y="268"/>
                    </a:cubicBezTo>
                    <a:cubicBezTo>
                      <a:pt x="100" y="218"/>
                      <a:pt x="100" y="218"/>
                      <a:pt x="100" y="218"/>
                    </a:cubicBezTo>
                    <a:cubicBezTo>
                      <a:pt x="97" y="207"/>
                      <a:pt x="97" y="207"/>
                      <a:pt x="97" y="207"/>
                    </a:cubicBezTo>
                    <a:cubicBezTo>
                      <a:pt x="71" y="212"/>
                      <a:pt x="71" y="212"/>
                      <a:pt x="71" y="212"/>
                    </a:cubicBezTo>
                    <a:cubicBezTo>
                      <a:pt x="75" y="186"/>
                      <a:pt x="75" y="186"/>
                      <a:pt x="75" y="186"/>
                    </a:cubicBezTo>
                    <a:cubicBezTo>
                      <a:pt x="49" y="180"/>
                      <a:pt x="49" y="180"/>
                      <a:pt x="49" y="180"/>
                    </a:cubicBezTo>
                    <a:cubicBezTo>
                      <a:pt x="62" y="157"/>
                      <a:pt x="62" y="157"/>
                      <a:pt x="62" y="157"/>
                    </a:cubicBezTo>
                    <a:cubicBezTo>
                      <a:pt x="40" y="142"/>
                      <a:pt x="40" y="142"/>
                      <a:pt x="40" y="142"/>
                    </a:cubicBezTo>
                    <a:cubicBezTo>
                      <a:pt x="62" y="126"/>
                      <a:pt x="62" y="126"/>
                      <a:pt x="62" y="126"/>
                    </a:cubicBezTo>
                    <a:cubicBezTo>
                      <a:pt x="47" y="104"/>
                      <a:pt x="47" y="104"/>
                      <a:pt x="47" y="104"/>
                    </a:cubicBezTo>
                    <a:cubicBezTo>
                      <a:pt x="73" y="97"/>
                      <a:pt x="73" y="97"/>
                      <a:pt x="73" y="97"/>
                    </a:cubicBezTo>
                    <a:cubicBezTo>
                      <a:pt x="68" y="71"/>
                      <a:pt x="68" y="71"/>
                      <a:pt x="68" y="71"/>
                    </a:cubicBezTo>
                    <a:cubicBezTo>
                      <a:pt x="94" y="75"/>
                      <a:pt x="94" y="75"/>
                      <a:pt x="94" y="75"/>
                    </a:cubicBezTo>
                    <a:cubicBezTo>
                      <a:pt x="100" y="49"/>
                      <a:pt x="100" y="49"/>
                      <a:pt x="100" y="49"/>
                    </a:cubicBezTo>
                    <a:cubicBezTo>
                      <a:pt x="123" y="62"/>
                      <a:pt x="123" y="62"/>
                      <a:pt x="123" y="62"/>
                    </a:cubicBezTo>
                    <a:cubicBezTo>
                      <a:pt x="138" y="41"/>
                      <a:pt x="138" y="41"/>
                      <a:pt x="138" y="41"/>
                    </a:cubicBezTo>
                    <a:cubicBezTo>
                      <a:pt x="154" y="62"/>
                      <a:pt x="154" y="62"/>
                      <a:pt x="154" y="62"/>
                    </a:cubicBezTo>
                    <a:cubicBezTo>
                      <a:pt x="176" y="48"/>
                      <a:pt x="176" y="48"/>
                      <a:pt x="176" y="48"/>
                    </a:cubicBezTo>
                    <a:cubicBezTo>
                      <a:pt x="183" y="73"/>
                      <a:pt x="183" y="73"/>
                      <a:pt x="183" y="73"/>
                    </a:cubicBezTo>
                    <a:cubicBezTo>
                      <a:pt x="209" y="68"/>
                      <a:pt x="209" y="68"/>
                      <a:pt x="209" y="68"/>
                    </a:cubicBezTo>
                    <a:cubicBezTo>
                      <a:pt x="205" y="95"/>
                      <a:pt x="205" y="95"/>
                      <a:pt x="205" y="95"/>
                    </a:cubicBezTo>
                    <a:cubicBezTo>
                      <a:pt x="231" y="100"/>
                      <a:pt x="231" y="100"/>
                      <a:pt x="231" y="100"/>
                    </a:cubicBezTo>
                    <a:cubicBezTo>
                      <a:pt x="218" y="123"/>
                      <a:pt x="218" y="123"/>
                      <a:pt x="218" y="123"/>
                    </a:cubicBezTo>
                    <a:cubicBezTo>
                      <a:pt x="240" y="138"/>
                      <a:pt x="240" y="138"/>
                      <a:pt x="240" y="138"/>
                    </a:cubicBezTo>
                    <a:cubicBezTo>
                      <a:pt x="219" y="154"/>
                      <a:pt x="219" y="154"/>
                      <a:pt x="219" y="154"/>
                    </a:cubicBezTo>
                    <a:cubicBezTo>
                      <a:pt x="233" y="176"/>
                      <a:pt x="233" y="176"/>
                      <a:pt x="233" y="176"/>
                    </a:cubicBezTo>
                    <a:cubicBezTo>
                      <a:pt x="207" y="183"/>
                      <a:pt x="207" y="183"/>
                      <a:pt x="207" y="183"/>
                    </a:cubicBezTo>
                    <a:cubicBezTo>
                      <a:pt x="212" y="209"/>
                      <a:pt x="212" y="209"/>
                      <a:pt x="212" y="209"/>
                    </a:cubicBezTo>
                    <a:cubicBezTo>
                      <a:pt x="186" y="206"/>
                      <a:pt x="186" y="206"/>
                      <a:pt x="186" y="206"/>
                    </a:cubicBezTo>
                    <a:cubicBezTo>
                      <a:pt x="184" y="215"/>
                      <a:pt x="184" y="215"/>
                      <a:pt x="184" y="215"/>
                    </a:cubicBezTo>
                    <a:cubicBezTo>
                      <a:pt x="200" y="266"/>
                      <a:pt x="200" y="266"/>
                      <a:pt x="200" y="266"/>
                    </a:cubicBezTo>
                    <a:cubicBezTo>
                      <a:pt x="247" y="244"/>
                      <a:pt x="280" y="196"/>
                      <a:pt x="280" y="140"/>
                    </a:cubicBezTo>
                    <a:cubicBezTo>
                      <a:pt x="280" y="63"/>
                      <a:pt x="217" y="0"/>
                      <a:pt x="140" y="0"/>
                    </a:cubicBezTo>
                    <a:close/>
                  </a:path>
                </a:pathLst>
              </a:custGeom>
              <a:grpFill/>
              <a:ln w="12700">
                <a:solidFill>
                  <a:schemeClr val="bg1"/>
                </a:solidFill>
              </a:ln>
            </p:spPr>
            <p:txBody>
              <a:bodyPr vert="horz" wrap="square" lIns="62345" tIns="31173" rIns="62345" bIns="31173" numCol="1" anchor="t" anchorCtr="0" compatLnSpc="1">
                <a:prstTxWarp prst="textNoShape">
                  <a:avLst/>
                </a:prstTxWarp>
              </a:bodyPr>
              <a:lstStyle/>
              <a:p>
                <a:pPr marL="0" marR="0" lvl="0" indent="0" algn="ctr" defTabSz="623438"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mj-lt"/>
                  <a:ea typeface="+mn-ea"/>
                  <a:cs typeface="Arial" charset="0"/>
                </a:endParaRPr>
              </a:p>
            </p:txBody>
          </p:sp>
          <p:sp>
            <p:nvSpPr>
              <p:cNvPr id="71" name="Freeform 11"/>
              <p:cNvSpPr>
                <a:spLocks/>
              </p:cNvSpPr>
              <p:nvPr/>
            </p:nvSpPr>
            <p:spPr bwMode="auto">
              <a:xfrm>
                <a:off x="2647952" y="3263904"/>
                <a:ext cx="463550" cy="457200"/>
              </a:xfrm>
              <a:custGeom>
                <a:avLst/>
                <a:gdLst>
                  <a:gd name="T0" fmla="*/ 124 w 124"/>
                  <a:gd name="T1" fmla="*/ 62 h 122"/>
                  <a:gd name="T2" fmla="*/ 62 w 124"/>
                  <a:gd name="T3" fmla="*/ 0 h 122"/>
                  <a:gd name="T4" fmla="*/ 0 w 124"/>
                  <a:gd name="T5" fmla="*/ 62 h 122"/>
                  <a:gd name="T6" fmla="*/ 48 w 124"/>
                  <a:gd name="T7" fmla="*/ 122 h 122"/>
                  <a:gd name="T8" fmla="*/ 76 w 124"/>
                  <a:gd name="T9" fmla="*/ 122 h 122"/>
                  <a:gd name="T10" fmla="*/ 124 w 124"/>
                  <a:gd name="T11" fmla="*/ 62 h 122"/>
                </a:gdLst>
                <a:ahLst/>
                <a:cxnLst>
                  <a:cxn ang="0">
                    <a:pos x="T0" y="T1"/>
                  </a:cxn>
                  <a:cxn ang="0">
                    <a:pos x="T2" y="T3"/>
                  </a:cxn>
                  <a:cxn ang="0">
                    <a:pos x="T4" y="T5"/>
                  </a:cxn>
                  <a:cxn ang="0">
                    <a:pos x="T6" y="T7"/>
                  </a:cxn>
                  <a:cxn ang="0">
                    <a:pos x="T8" y="T9"/>
                  </a:cxn>
                  <a:cxn ang="0">
                    <a:pos x="T10" y="T11"/>
                  </a:cxn>
                </a:cxnLst>
                <a:rect l="0" t="0" r="r" b="b"/>
                <a:pathLst>
                  <a:path w="124" h="122">
                    <a:moveTo>
                      <a:pt x="124" y="62"/>
                    </a:moveTo>
                    <a:cubicBezTo>
                      <a:pt x="124" y="28"/>
                      <a:pt x="96" y="0"/>
                      <a:pt x="62" y="0"/>
                    </a:cubicBezTo>
                    <a:cubicBezTo>
                      <a:pt x="28" y="0"/>
                      <a:pt x="0" y="28"/>
                      <a:pt x="0" y="62"/>
                    </a:cubicBezTo>
                    <a:cubicBezTo>
                      <a:pt x="0" y="91"/>
                      <a:pt x="20" y="116"/>
                      <a:pt x="48" y="122"/>
                    </a:cubicBezTo>
                    <a:cubicBezTo>
                      <a:pt x="76" y="122"/>
                      <a:pt x="76" y="122"/>
                      <a:pt x="76" y="122"/>
                    </a:cubicBezTo>
                    <a:cubicBezTo>
                      <a:pt x="104" y="116"/>
                      <a:pt x="124" y="91"/>
                      <a:pt x="124" y="62"/>
                    </a:cubicBezTo>
                    <a:close/>
                  </a:path>
                </a:pathLst>
              </a:custGeom>
              <a:grpFill/>
              <a:ln w="12700">
                <a:solidFill>
                  <a:schemeClr val="bg1"/>
                </a:solidFill>
              </a:ln>
            </p:spPr>
            <p:txBody>
              <a:bodyPr vert="horz" wrap="square" lIns="62345" tIns="31173" rIns="62345" bIns="31173" numCol="1" anchor="t" anchorCtr="0" compatLnSpc="1">
                <a:prstTxWarp prst="textNoShape">
                  <a:avLst/>
                </a:prstTxWarp>
              </a:bodyPr>
              <a:lstStyle/>
              <a:p>
                <a:pPr marL="0" marR="0" lvl="0" indent="0" algn="ctr" defTabSz="623438"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mj-lt"/>
                  <a:ea typeface="+mn-ea"/>
                  <a:cs typeface="Arial" charset="0"/>
                </a:endParaRPr>
              </a:p>
            </p:txBody>
          </p:sp>
        </p:grpSp>
        <p:sp>
          <p:nvSpPr>
            <p:cNvPr id="68" name="Freeform 903"/>
            <p:cNvSpPr>
              <a:spLocks noEditPoints="1"/>
            </p:cNvSpPr>
            <p:nvPr/>
          </p:nvSpPr>
          <p:spPr bwMode="auto">
            <a:xfrm>
              <a:off x="3979863" y="6381750"/>
              <a:ext cx="548640" cy="5486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bg1"/>
            </a:solidFill>
            <a:ln>
              <a:noFill/>
            </a:ln>
          </p:spPr>
          <p:txBody>
            <a:bodyPr vert="horz" wrap="square" lIns="62345" tIns="31173" rIns="62345" bIns="31173" numCol="1" anchor="t" anchorCtr="0" compatLnSpc="1">
              <a:prstTxWarp prst="textNoShape">
                <a:avLst/>
              </a:prstTxWarp>
            </a:bodyPr>
            <a:lstStyle/>
            <a:p>
              <a:pPr marL="0" marR="0" lvl="0" indent="0" algn="ctr" defTabSz="623438" rtl="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prstClr val="black"/>
                </a:solidFill>
                <a:effectLst/>
                <a:uLnTx/>
                <a:uFillTx/>
                <a:latin typeface="+mj-lt"/>
                <a:ea typeface="+mn-ea"/>
                <a:cs typeface="Arial" pitchFamily="34" charset="0"/>
              </a:endParaRPr>
            </a:p>
          </p:txBody>
        </p:sp>
      </p:grpSp>
      <p:grpSp>
        <p:nvGrpSpPr>
          <p:cNvPr id="47" name="Group 17"/>
          <p:cNvGrpSpPr>
            <a:grpSpLocks noChangeAspect="1"/>
          </p:cNvGrpSpPr>
          <p:nvPr/>
        </p:nvGrpSpPr>
        <p:grpSpPr bwMode="auto">
          <a:xfrm>
            <a:off x="8478943" y="985585"/>
            <a:ext cx="387085" cy="374074"/>
            <a:chOff x="1240" y="-1"/>
            <a:chExt cx="340" cy="340"/>
          </a:xfrm>
          <a:solidFill>
            <a:srgbClr val="A0DCFF"/>
          </a:solidFill>
        </p:grpSpPr>
        <p:sp>
          <p:nvSpPr>
            <p:cNvPr id="65" name="Freeform 18"/>
            <p:cNvSpPr>
              <a:spLocks noEditPoints="1"/>
            </p:cNvSpPr>
            <p:nvPr/>
          </p:nvSpPr>
          <p:spPr bwMode="auto">
            <a:xfrm>
              <a:off x="1240" y="-1"/>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256 w 512"/>
                <a:gd name="T11" fmla="*/ 490 h 512"/>
                <a:gd name="T12" fmla="*/ 21 w 512"/>
                <a:gd name="T13" fmla="*/ 256 h 512"/>
                <a:gd name="T14" fmla="*/ 256 w 512"/>
                <a:gd name="T15" fmla="*/ 21 h 512"/>
                <a:gd name="T16" fmla="*/ 490 w 512"/>
                <a:gd name="T17" fmla="*/ 256 h 512"/>
                <a:gd name="T18" fmla="*/ 256 w 512"/>
                <a:gd name="T19" fmla="*/ 49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256" y="490"/>
                  </a:moveTo>
                  <a:cubicBezTo>
                    <a:pt x="126" y="490"/>
                    <a:pt x="21" y="385"/>
                    <a:pt x="21" y="256"/>
                  </a:cubicBezTo>
                  <a:cubicBezTo>
                    <a:pt x="21" y="126"/>
                    <a:pt x="126" y="21"/>
                    <a:pt x="256" y="21"/>
                  </a:cubicBezTo>
                  <a:cubicBezTo>
                    <a:pt x="385" y="21"/>
                    <a:pt x="490" y="126"/>
                    <a:pt x="490" y="256"/>
                  </a:cubicBezTo>
                  <a:cubicBezTo>
                    <a:pt x="490" y="385"/>
                    <a:pt x="385" y="490"/>
                    <a:pt x="256" y="4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marL="0" marR="0" lvl="0" indent="0" algn="ctr" defTabSz="623438" rtl="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dirty="0">
                <a:ln>
                  <a:noFill/>
                </a:ln>
                <a:solidFill>
                  <a:prstClr val="black"/>
                </a:solidFill>
                <a:effectLst/>
                <a:uLnTx/>
                <a:uFillTx/>
                <a:latin typeface="+mj-lt"/>
                <a:ea typeface="+mn-ea"/>
                <a:cs typeface="Arial" pitchFamily="34" charset="0"/>
              </a:endParaRPr>
            </a:p>
          </p:txBody>
        </p:sp>
        <p:sp>
          <p:nvSpPr>
            <p:cNvPr id="66" name="Freeform 19"/>
            <p:cNvSpPr>
              <a:spLocks noEditPoints="1"/>
            </p:cNvSpPr>
            <p:nvPr/>
          </p:nvSpPr>
          <p:spPr bwMode="auto">
            <a:xfrm>
              <a:off x="1304" y="63"/>
              <a:ext cx="212" cy="184"/>
            </a:xfrm>
            <a:custGeom>
              <a:avLst/>
              <a:gdLst>
                <a:gd name="T0" fmla="*/ 288 w 320"/>
                <a:gd name="T1" fmla="*/ 117 h 277"/>
                <a:gd name="T2" fmla="*/ 277 w 320"/>
                <a:gd name="T3" fmla="*/ 85 h 277"/>
                <a:gd name="T4" fmla="*/ 170 w 320"/>
                <a:gd name="T5" fmla="*/ 64 h 277"/>
                <a:gd name="T6" fmla="*/ 234 w 320"/>
                <a:gd name="T7" fmla="*/ 53 h 277"/>
                <a:gd name="T8" fmla="*/ 224 w 320"/>
                <a:gd name="T9" fmla="*/ 0 h 277"/>
                <a:gd name="T10" fmla="*/ 149 w 320"/>
                <a:gd name="T11" fmla="*/ 10 h 277"/>
                <a:gd name="T12" fmla="*/ 149 w 320"/>
                <a:gd name="T13" fmla="*/ 85 h 277"/>
                <a:gd name="T14" fmla="*/ 32 w 320"/>
                <a:gd name="T15" fmla="*/ 96 h 277"/>
                <a:gd name="T16" fmla="*/ 10 w 320"/>
                <a:gd name="T17" fmla="*/ 117 h 277"/>
                <a:gd name="T18" fmla="*/ 0 w 320"/>
                <a:gd name="T19" fmla="*/ 266 h 277"/>
                <a:gd name="T20" fmla="*/ 309 w 320"/>
                <a:gd name="T21" fmla="*/ 277 h 277"/>
                <a:gd name="T22" fmla="*/ 320 w 320"/>
                <a:gd name="T23" fmla="*/ 128 h 277"/>
                <a:gd name="T24" fmla="*/ 170 w 320"/>
                <a:gd name="T25" fmla="*/ 21 h 277"/>
                <a:gd name="T26" fmla="*/ 213 w 320"/>
                <a:gd name="T27" fmla="*/ 42 h 277"/>
                <a:gd name="T28" fmla="*/ 170 w 320"/>
                <a:gd name="T29" fmla="*/ 21 h 277"/>
                <a:gd name="T30" fmla="*/ 64 w 320"/>
                <a:gd name="T31" fmla="*/ 256 h 277"/>
                <a:gd name="T32" fmla="*/ 53 w 320"/>
                <a:gd name="T33" fmla="*/ 213 h 277"/>
                <a:gd name="T34" fmla="*/ 42 w 320"/>
                <a:gd name="T35" fmla="*/ 256 h 277"/>
                <a:gd name="T36" fmla="*/ 21 w 320"/>
                <a:gd name="T37" fmla="*/ 138 h 277"/>
                <a:gd name="T38" fmla="*/ 53 w 320"/>
                <a:gd name="T39" fmla="*/ 128 h 277"/>
                <a:gd name="T40" fmla="*/ 266 w 320"/>
                <a:gd name="T41" fmla="*/ 106 h 277"/>
                <a:gd name="T42" fmla="*/ 277 w 320"/>
                <a:gd name="T43" fmla="*/ 138 h 277"/>
                <a:gd name="T44" fmla="*/ 298 w 320"/>
                <a:gd name="T45" fmla="*/ 256 h 277"/>
                <a:gd name="T46" fmla="*/ 53 w 320"/>
                <a:gd name="T47" fmla="*/ 192 h 277"/>
                <a:gd name="T48" fmla="*/ 53 w 320"/>
                <a:gd name="T49" fmla="*/ 170 h 277"/>
                <a:gd name="T50" fmla="*/ 106 w 320"/>
                <a:gd name="T51" fmla="*/ 181 h 277"/>
                <a:gd name="T52" fmla="*/ 85 w 320"/>
                <a:gd name="T53" fmla="*/ 181 h 277"/>
                <a:gd name="T54" fmla="*/ 106 w 320"/>
                <a:gd name="T55" fmla="*/ 181 h 277"/>
                <a:gd name="T56" fmla="*/ 138 w 320"/>
                <a:gd name="T57" fmla="*/ 192 h 277"/>
                <a:gd name="T58" fmla="*/ 138 w 320"/>
                <a:gd name="T59" fmla="*/ 170 h 277"/>
                <a:gd name="T60" fmla="*/ 192 w 320"/>
                <a:gd name="T61" fmla="*/ 181 h 277"/>
                <a:gd name="T62" fmla="*/ 170 w 320"/>
                <a:gd name="T63" fmla="*/ 181 h 277"/>
                <a:gd name="T64" fmla="*/ 192 w 320"/>
                <a:gd name="T65" fmla="*/ 181 h 277"/>
                <a:gd name="T66" fmla="*/ 224 w 320"/>
                <a:gd name="T67" fmla="*/ 192 h 277"/>
                <a:gd name="T68" fmla="*/ 224 w 320"/>
                <a:gd name="T69" fmla="*/ 170 h 277"/>
                <a:gd name="T70" fmla="*/ 106 w 320"/>
                <a:gd name="T71" fmla="*/ 138 h 277"/>
                <a:gd name="T72" fmla="*/ 85 w 320"/>
                <a:gd name="T73" fmla="*/ 138 h 277"/>
                <a:gd name="T74" fmla="*/ 106 w 320"/>
                <a:gd name="T75" fmla="*/ 138 h 277"/>
                <a:gd name="T76" fmla="*/ 138 w 320"/>
                <a:gd name="T77" fmla="*/ 149 h 277"/>
                <a:gd name="T78" fmla="*/ 138 w 320"/>
                <a:gd name="T79" fmla="*/ 128 h 277"/>
                <a:gd name="T80" fmla="*/ 192 w 320"/>
                <a:gd name="T81" fmla="*/ 138 h 277"/>
                <a:gd name="T82" fmla="*/ 170 w 320"/>
                <a:gd name="T83" fmla="*/ 138 h 277"/>
                <a:gd name="T84" fmla="*/ 192 w 320"/>
                <a:gd name="T85" fmla="*/ 138 h 277"/>
                <a:gd name="T86" fmla="*/ 224 w 320"/>
                <a:gd name="T87" fmla="*/ 149 h 277"/>
                <a:gd name="T88" fmla="*/ 224 w 320"/>
                <a:gd name="T89" fmla="*/ 128 h 277"/>
                <a:gd name="T90" fmla="*/ 277 w 320"/>
                <a:gd name="T91" fmla="*/ 181 h 277"/>
                <a:gd name="T92" fmla="*/ 256 w 320"/>
                <a:gd name="T93" fmla="*/ 181 h 277"/>
                <a:gd name="T94" fmla="*/ 277 w 320"/>
                <a:gd name="T95" fmla="*/ 181 h 277"/>
                <a:gd name="T96" fmla="*/ 96 w 320"/>
                <a:gd name="T97" fmla="*/ 234 h 277"/>
                <a:gd name="T98" fmla="*/ 96 w 320"/>
                <a:gd name="T99" fmla="*/ 213 h 277"/>
                <a:gd name="T100" fmla="*/ 149 w 320"/>
                <a:gd name="T101" fmla="*/ 224 h 277"/>
                <a:gd name="T102" fmla="*/ 128 w 320"/>
                <a:gd name="T103" fmla="*/ 224 h 277"/>
                <a:gd name="T104" fmla="*/ 149 w 320"/>
                <a:gd name="T105" fmla="*/ 224 h 277"/>
                <a:gd name="T106" fmla="*/ 181 w 320"/>
                <a:gd name="T107" fmla="*/ 234 h 277"/>
                <a:gd name="T108" fmla="*/ 181 w 320"/>
                <a:gd name="T109" fmla="*/ 213 h 277"/>
                <a:gd name="T110" fmla="*/ 234 w 320"/>
                <a:gd name="T111" fmla="*/ 224 h 277"/>
                <a:gd name="T112" fmla="*/ 213 w 320"/>
                <a:gd name="T113" fmla="*/ 224 h 277"/>
                <a:gd name="T114" fmla="*/ 234 w 320"/>
                <a:gd name="T115" fmla="*/ 224 h 277"/>
                <a:gd name="T116" fmla="*/ 266 w 320"/>
                <a:gd name="T117" fmla="*/ 234 h 277"/>
                <a:gd name="T118" fmla="*/ 266 w 320"/>
                <a:gd name="T119" fmla="*/ 213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0" h="277">
                  <a:moveTo>
                    <a:pt x="309" y="117"/>
                  </a:moveTo>
                  <a:cubicBezTo>
                    <a:pt x="288" y="117"/>
                    <a:pt x="288" y="117"/>
                    <a:pt x="288" y="117"/>
                  </a:cubicBezTo>
                  <a:cubicBezTo>
                    <a:pt x="288" y="96"/>
                    <a:pt x="288" y="96"/>
                    <a:pt x="288" y="96"/>
                  </a:cubicBezTo>
                  <a:cubicBezTo>
                    <a:pt x="288" y="90"/>
                    <a:pt x="283" y="85"/>
                    <a:pt x="277" y="85"/>
                  </a:cubicBezTo>
                  <a:cubicBezTo>
                    <a:pt x="170" y="85"/>
                    <a:pt x="170" y="85"/>
                    <a:pt x="170" y="85"/>
                  </a:cubicBezTo>
                  <a:cubicBezTo>
                    <a:pt x="170" y="64"/>
                    <a:pt x="170" y="64"/>
                    <a:pt x="170" y="64"/>
                  </a:cubicBezTo>
                  <a:cubicBezTo>
                    <a:pt x="224" y="64"/>
                    <a:pt x="224" y="64"/>
                    <a:pt x="224" y="64"/>
                  </a:cubicBezTo>
                  <a:cubicBezTo>
                    <a:pt x="230" y="64"/>
                    <a:pt x="234" y="59"/>
                    <a:pt x="234" y="53"/>
                  </a:cubicBezTo>
                  <a:cubicBezTo>
                    <a:pt x="234" y="10"/>
                    <a:pt x="234" y="10"/>
                    <a:pt x="234" y="10"/>
                  </a:cubicBezTo>
                  <a:cubicBezTo>
                    <a:pt x="234" y="4"/>
                    <a:pt x="230" y="0"/>
                    <a:pt x="224" y="0"/>
                  </a:cubicBezTo>
                  <a:cubicBezTo>
                    <a:pt x="160" y="0"/>
                    <a:pt x="160" y="0"/>
                    <a:pt x="160" y="0"/>
                  </a:cubicBezTo>
                  <a:cubicBezTo>
                    <a:pt x="154" y="0"/>
                    <a:pt x="149" y="4"/>
                    <a:pt x="149" y="10"/>
                  </a:cubicBezTo>
                  <a:cubicBezTo>
                    <a:pt x="149" y="53"/>
                    <a:pt x="149" y="53"/>
                    <a:pt x="149" y="53"/>
                  </a:cubicBezTo>
                  <a:cubicBezTo>
                    <a:pt x="149" y="85"/>
                    <a:pt x="149" y="85"/>
                    <a:pt x="149" y="85"/>
                  </a:cubicBezTo>
                  <a:cubicBezTo>
                    <a:pt x="42" y="85"/>
                    <a:pt x="42" y="85"/>
                    <a:pt x="42" y="85"/>
                  </a:cubicBezTo>
                  <a:cubicBezTo>
                    <a:pt x="36" y="85"/>
                    <a:pt x="32" y="90"/>
                    <a:pt x="32" y="96"/>
                  </a:cubicBezTo>
                  <a:cubicBezTo>
                    <a:pt x="32" y="117"/>
                    <a:pt x="32" y="117"/>
                    <a:pt x="32" y="117"/>
                  </a:cubicBezTo>
                  <a:cubicBezTo>
                    <a:pt x="10" y="117"/>
                    <a:pt x="10" y="117"/>
                    <a:pt x="10" y="117"/>
                  </a:cubicBezTo>
                  <a:cubicBezTo>
                    <a:pt x="4" y="117"/>
                    <a:pt x="0" y="122"/>
                    <a:pt x="0" y="128"/>
                  </a:cubicBezTo>
                  <a:cubicBezTo>
                    <a:pt x="0" y="266"/>
                    <a:pt x="0" y="266"/>
                    <a:pt x="0" y="266"/>
                  </a:cubicBezTo>
                  <a:cubicBezTo>
                    <a:pt x="0" y="272"/>
                    <a:pt x="4" y="277"/>
                    <a:pt x="10" y="277"/>
                  </a:cubicBezTo>
                  <a:cubicBezTo>
                    <a:pt x="309" y="277"/>
                    <a:pt x="309" y="277"/>
                    <a:pt x="309" y="277"/>
                  </a:cubicBezTo>
                  <a:cubicBezTo>
                    <a:pt x="315" y="277"/>
                    <a:pt x="320" y="272"/>
                    <a:pt x="320" y="266"/>
                  </a:cubicBezTo>
                  <a:cubicBezTo>
                    <a:pt x="320" y="128"/>
                    <a:pt x="320" y="128"/>
                    <a:pt x="320" y="128"/>
                  </a:cubicBezTo>
                  <a:cubicBezTo>
                    <a:pt x="320" y="122"/>
                    <a:pt x="315" y="117"/>
                    <a:pt x="309" y="117"/>
                  </a:cubicBezTo>
                  <a:close/>
                  <a:moveTo>
                    <a:pt x="170" y="21"/>
                  </a:moveTo>
                  <a:cubicBezTo>
                    <a:pt x="213" y="21"/>
                    <a:pt x="213" y="21"/>
                    <a:pt x="213" y="21"/>
                  </a:cubicBezTo>
                  <a:cubicBezTo>
                    <a:pt x="213" y="42"/>
                    <a:pt x="213" y="42"/>
                    <a:pt x="213" y="42"/>
                  </a:cubicBezTo>
                  <a:cubicBezTo>
                    <a:pt x="170" y="42"/>
                    <a:pt x="170" y="42"/>
                    <a:pt x="170" y="42"/>
                  </a:cubicBezTo>
                  <a:lnTo>
                    <a:pt x="170" y="21"/>
                  </a:lnTo>
                  <a:close/>
                  <a:moveTo>
                    <a:pt x="298" y="256"/>
                  </a:moveTo>
                  <a:cubicBezTo>
                    <a:pt x="64" y="256"/>
                    <a:pt x="64" y="256"/>
                    <a:pt x="64" y="256"/>
                  </a:cubicBezTo>
                  <a:cubicBezTo>
                    <a:pt x="64" y="224"/>
                    <a:pt x="64" y="224"/>
                    <a:pt x="64" y="224"/>
                  </a:cubicBezTo>
                  <a:cubicBezTo>
                    <a:pt x="64" y="218"/>
                    <a:pt x="59" y="213"/>
                    <a:pt x="53" y="213"/>
                  </a:cubicBezTo>
                  <a:cubicBezTo>
                    <a:pt x="47" y="213"/>
                    <a:pt x="42" y="218"/>
                    <a:pt x="42" y="224"/>
                  </a:cubicBezTo>
                  <a:cubicBezTo>
                    <a:pt x="42" y="256"/>
                    <a:pt x="42" y="256"/>
                    <a:pt x="42" y="256"/>
                  </a:cubicBezTo>
                  <a:cubicBezTo>
                    <a:pt x="21" y="256"/>
                    <a:pt x="21" y="256"/>
                    <a:pt x="21" y="256"/>
                  </a:cubicBezTo>
                  <a:cubicBezTo>
                    <a:pt x="21" y="138"/>
                    <a:pt x="21" y="138"/>
                    <a:pt x="21" y="138"/>
                  </a:cubicBezTo>
                  <a:cubicBezTo>
                    <a:pt x="42" y="138"/>
                    <a:pt x="42" y="138"/>
                    <a:pt x="42" y="138"/>
                  </a:cubicBezTo>
                  <a:cubicBezTo>
                    <a:pt x="48" y="138"/>
                    <a:pt x="53" y="134"/>
                    <a:pt x="53" y="128"/>
                  </a:cubicBezTo>
                  <a:cubicBezTo>
                    <a:pt x="53" y="106"/>
                    <a:pt x="53" y="106"/>
                    <a:pt x="53" y="106"/>
                  </a:cubicBezTo>
                  <a:cubicBezTo>
                    <a:pt x="266" y="106"/>
                    <a:pt x="266" y="106"/>
                    <a:pt x="266" y="106"/>
                  </a:cubicBezTo>
                  <a:cubicBezTo>
                    <a:pt x="266" y="128"/>
                    <a:pt x="266" y="128"/>
                    <a:pt x="266" y="128"/>
                  </a:cubicBezTo>
                  <a:cubicBezTo>
                    <a:pt x="266" y="134"/>
                    <a:pt x="271" y="138"/>
                    <a:pt x="277" y="138"/>
                  </a:cubicBezTo>
                  <a:cubicBezTo>
                    <a:pt x="298" y="138"/>
                    <a:pt x="298" y="138"/>
                    <a:pt x="298" y="138"/>
                  </a:cubicBezTo>
                  <a:lnTo>
                    <a:pt x="298" y="256"/>
                  </a:lnTo>
                  <a:close/>
                  <a:moveTo>
                    <a:pt x="64" y="181"/>
                  </a:moveTo>
                  <a:cubicBezTo>
                    <a:pt x="64" y="187"/>
                    <a:pt x="59" y="192"/>
                    <a:pt x="53" y="192"/>
                  </a:cubicBezTo>
                  <a:cubicBezTo>
                    <a:pt x="47" y="192"/>
                    <a:pt x="42" y="187"/>
                    <a:pt x="42" y="181"/>
                  </a:cubicBezTo>
                  <a:cubicBezTo>
                    <a:pt x="42" y="175"/>
                    <a:pt x="47" y="170"/>
                    <a:pt x="53" y="170"/>
                  </a:cubicBezTo>
                  <a:cubicBezTo>
                    <a:pt x="59" y="170"/>
                    <a:pt x="64" y="175"/>
                    <a:pt x="64" y="181"/>
                  </a:cubicBezTo>
                  <a:close/>
                  <a:moveTo>
                    <a:pt x="106" y="181"/>
                  </a:moveTo>
                  <a:cubicBezTo>
                    <a:pt x="106" y="187"/>
                    <a:pt x="102" y="192"/>
                    <a:pt x="96" y="192"/>
                  </a:cubicBezTo>
                  <a:cubicBezTo>
                    <a:pt x="90" y="192"/>
                    <a:pt x="85" y="187"/>
                    <a:pt x="85" y="181"/>
                  </a:cubicBezTo>
                  <a:cubicBezTo>
                    <a:pt x="85" y="175"/>
                    <a:pt x="90" y="170"/>
                    <a:pt x="96" y="170"/>
                  </a:cubicBezTo>
                  <a:cubicBezTo>
                    <a:pt x="102" y="170"/>
                    <a:pt x="106" y="175"/>
                    <a:pt x="106" y="181"/>
                  </a:cubicBezTo>
                  <a:close/>
                  <a:moveTo>
                    <a:pt x="149" y="181"/>
                  </a:moveTo>
                  <a:cubicBezTo>
                    <a:pt x="149" y="187"/>
                    <a:pt x="144" y="192"/>
                    <a:pt x="138" y="192"/>
                  </a:cubicBezTo>
                  <a:cubicBezTo>
                    <a:pt x="132" y="192"/>
                    <a:pt x="128" y="187"/>
                    <a:pt x="128" y="181"/>
                  </a:cubicBezTo>
                  <a:cubicBezTo>
                    <a:pt x="128" y="175"/>
                    <a:pt x="132" y="170"/>
                    <a:pt x="138" y="170"/>
                  </a:cubicBezTo>
                  <a:cubicBezTo>
                    <a:pt x="144" y="170"/>
                    <a:pt x="149" y="175"/>
                    <a:pt x="149" y="181"/>
                  </a:cubicBezTo>
                  <a:close/>
                  <a:moveTo>
                    <a:pt x="192" y="181"/>
                  </a:moveTo>
                  <a:cubicBezTo>
                    <a:pt x="192" y="187"/>
                    <a:pt x="187" y="192"/>
                    <a:pt x="181" y="192"/>
                  </a:cubicBezTo>
                  <a:cubicBezTo>
                    <a:pt x="175" y="192"/>
                    <a:pt x="170" y="187"/>
                    <a:pt x="170" y="181"/>
                  </a:cubicBezTo>
                  <a:cubicBezTo>
                    <a:pt x="170" y="175"/>
                    <a:pt x="175" y="170"/>
                    <a:pt x="181" y="170"/>
                  </a:cubicBezTo>
                  <a:cubicBezTo>
                    <a:pt x="187" y="170"/>
                    <a:pt x="192" y="175"/>
                    <a:pt x="192" y="181"/>
                  </a:cubicBezTo>
                  <a:close/>
                  <a:moveTo>
                    <a:pt x="234" y="181"/>
                  </a:moveTo>
                  <a:cubicBezTo>
                    <a:pt x="234" y="187"/>
                    <a:pt x="230" y="192"/>
                    <a:pt x="224" y="192"/>
                  </a:cubicBezTo>
                  <a:cubicBezTo>
                    <a:pt x="218" y="192"/>
                    <a:pt x="213" y="187"/>
                    <a:pt x="213" y="181"/>
                  </a:cubicBezTo>
                  <a:cubicBezTo>
                    <a:pt x="213" y="175"/>
                    <a:pt x="218" y="170"/>
                    <a:pt x="224" y="170"/>
                  </a:cubicBezTo>
                  <a:cubicBezTo>
                    <a:pt x="230" y="170"/>
                    <a:pt x="234" y="175"/>
                    <a:pt x="234" y="181"/>
                  </a:cubicBezTo>
                  <a:close/>
                  <a:moveTo>
                    <a:pt x="106" y="138"/>
                  </a:moveTo>
                  <a:cubicBezTo>
                    <a:pt x="106" y="144"/>
                    <a:pt x="102" y="149"/>
                    <a:pt x="96" y="149"/>
                  </a:cubicBezTo>
                  <a:cubicBezTo>
                    <a:pt x="90" y="149"/>
                    <a:pt x="85" y="144"/>
                    <a:pt x="85" y="138"/>
                  </a:cubicBezTo>
                  <a:cubicBezTo>
                    <a:pt x="85" y="132"/>
                    <a:pt x="90" y="128"/>
                    <a:pt x="96" y="128"/>
                  </a:cubicBezTo>
                  <a:cubicBezTo>
                    <a:pt x="102" y="128"/>
                    <a:pt x="106" y="132"/>
                    <a:pt x="106" y="138"/>
                  </a:cubicBezTo>
                  <a:close/>
                  <a:moveTo>
                    <a:pt x="149" y="138"/>
                  </a:moveTo>
                  <a:cubicBezTo>
                    <a:pt x="149" y="144"/>
                    <a:pt x="144" y="149"/>
                    <a:pt x="138" y="149"/>
                  </a:cubicBezTo>
                  <a:cubicBezTo>
                    <a:pt x="132" y="149"/>
                    <a:pt x="128" y="144"/>
                    <a:pt x="128" y="138"/>
                  </a:cubicBezTo>
                  <a:cubicBezTo>
                    <a:pt x="128" y="132"/>
                    <a:pt x="132" y="128"/>
                    <a:pt x="138" y="128"/>
                  </a:cubicBezTo>
                  <a:cubicBezTo>
                    <a:pt x="144" y="128"/>
                    <a:pt x="149" y="132"/>
                    <a:pt x="149" y="138"/>
                  </a:cubicBezTo>
                  <a:close/>
                  <a:moveTo>
                    <a:pt x="192" y="138"/>
                  </a:moveTo>
                  <a:cubicBezTo>
                    <a:pt x="192" y="144"/>
                    <a:pt x="187" y="149"/>
                    <a:pt x="181" y="149"/>
                  </a:cubicBezTo>
                  <a:cubicBezTo>
                    <a:pt x="175" y="149"/>
                    <a:pt x="170" y="144"/>
                    <a:pt x="170" y="138"/>
                  </a:cubicBezTo>
                  <a:cubicBezTo>
                    <a:pt x="170" y="132"/>
                    <a:pt x="175" y="128"/>
                    <a:pt x="181" y="128"/>
                  </a:cubicBezTo>
                  <a:cubicBezTo>
                    <a:pt x="187" y="128"/>
                    <a:pt x="192" y="132"/>
                    <a:pt x="192" y="138"/>
                  </a:cubicBezTo>
                  <a:close/>
                  <a:moveTo>
                    <a:pt x="234" y="138"/>
                  </a:moveTo>
                  <a:cubicBezTo>
                    <a:pt x="234" y="144"/>
                    <a:pt x="230" y="149"/>
                    <a:pt x="224" y="149"/>
                  </a:cubicBezTo>
                  <a:cubicBezTo>
                    <a:pt x="218" y="149"/>
                    <a:pt x="213" y="144"/>
                    <a:pt x="213" y="138"/>
                  </a:cubicBezTo>
                  <a:cubicBezTo>
                    <a:pt x="213" y="132"/>
                    <a:pt x="218" y="128"/>
                    <a:pt x="224" y="128"/>
                  </a:cubicBezTo>
                  <a:cubicBezTo>
                    <a:pt x="230" y="128"/>
                    <a:pt x="234" y="132"/>
                    <a:pt x="234" y="138"/>
                  </a:cubicBezTo>
                  <a:close/>
                  <a:moveTo>
                    <a:pt x="277" y="181"/>
                  </a:moveTo>
                  <a:cubicBezTo>
                    <a:pt x="277" y="187"/>
                    <a:pt x="272" y="192"/>
                    <a:pt x="266" y="192"/>
                  </a:cubicBezTo>
                  <a:cubicBezTo>
                    <a:pt x="260" y="192"/>
                    <a:pt x="256" y="187"/>
                    <a:pt x="256" y="181"/>
                  </a:cubicBezTo>
                  <a:cubicBezTo>
                    <a:pt x="256" y="175"/>
                    <a:pt x="260" y="170"/>
                    <a:pt x="266" y="170"/>
                  </a:cubicBezTo>
                  <a:cubicBezTo>
                    <a:pt x="272" y="170"/>
                    <a:pt x="277" y="175"/>
                    <a:pt x="277" y="181"/>
                  </a:cubicBezTo>
                  <a:close/>
                  <a:moveTo>
                    <a:pt x="106" y="224"/>
                  </a:moveTo>
                  <a:cubicBezTo>
                    <a:pt x="106" y="230"/>
                    <a:pt x="102" y="234"/>
                    <a:pt x="96" y="234"/>
                  </a:cubicBezTo>
                  <a:cubicBezTo>
                    <a:pt x="90" y="234"/>
                    <a:pt x="85" y="230"/>
                    <a:pt x="85" y="224"/>
                  </a:cubicBezTo>
                  <a:cubicBezTo>
                    <a:pt x="85" y="218"/>
                    <a:pt x="90" y="213"/>
                    <a:pt x="96" y="213"/>
                  </a:cubicBezTo>
                  <a:cubicBezTo>
                    <a:pt x="102" y="213"/>
                    <a:pt x="106" y="218"/>
                    <a:pt x="106" y="224"/>
                  </a:cubicBezTo>
                  <a:close/>
                  <a:moveTo>
                    <a:pt x="149" y="224"/>
                  </a:moveTo>
                  <a:cubicBezTo>
                    <a:pt x="149" y="230"/>
                    <a:pt x="144" y="234"/>
                    <a:pt x="138" y="234"/>
                  </a:cubicBezTo>
                  <a:cubicBezTo>
                    <a:pt x="132" y="234"/>
                    <a:pt x="128" y="230"/>
                    <a:pt x="128" y="224"/>
                  </a:cubicBezTo>
                  <a:cubicBezTo>
                    <a:pt x="128" y="218"/>
                    <a:pt x="132" y="213"/>
                    <a:pt x="138" y="213"/>
                  </a:cubicBezTo>
                  <a:cubicBezTo>
                    <a:pt x="144" y="213"/>
                    <a:pt x="149" y="218"/>
                    <a:pt x="149" y="224"/>
                  </a:cubicBezTo>
                  <a:close/>
                  <a:moveTo>
                    <a:pt x="192" y="224"/>
                  </a:moveTo>
                  <a:cubicBezTo>
                    <a:pt x="192" y="230"/>
                    <a:pt x="187" y="234"/>
                    <a:pt x="181" y="234"/>
                  </a:cubicBezTo>
                  <a:cubicBezTo>
                    <a:pt x="175" y="234"/>
                    <a:pt x="170" y="230"/>
                    <a:pt x="170" y="224"/>
                  </a:cubicBezTo>
                  <a:cubicBezTo>
                    <a:pt x="170" y="218"/>
                    <a:pt x="175" y="213"/>
                    <a:pt x="181" y="213"/>
                  </a:cubicBezTo>
                  <a:cubicBezTo>
                    <a:pt x="187" y="213"/>
                    <a:pt x="192" y="218"/>
                    <a:pt x="192" y="224"/>
                  </a:cubicBezTo>
                  <a:close/>
                  <a:moveTo>
                    <a:pt x="234" y="224"/>
                  </a:moveTo>
                  <a:cubicBezTo>
                    <a:pt x="234" y="230"/>
                    <a:pt x="230" y="234"/>
                    <a:pt x="224" y="234"/>
                  </a:cubicBezTo>
                  <a:cubicBezTo>
                    <a:pt x="218" y="234"/>
                    <a:pt x="213" y="230"/>
                    <a:pt x="213" y="224"/>
                  </a:cubicBezTo>
                  <a:cubicBezTo>
                    <a:pt x="213" y="218"/>
                    <a:pt x="218" y="213"/>
                    <a:pt x="224" y="213"/>
                  </a:cubicBezTo>
                  <a:cubicBezTo>
                    <a:pt x="230" y="213"/>
                    <a:pt x="234" y="218"/>
                    <a:pt x="234" y="224"/>
                  </a:cubicBezTo>
                  <a:close/>
                  <a:moveTo>
                    <a:pt x="277" y="224"/>
                  </a:moveTo>
                  <a:cubicBezTo>
                    <a:pt x="277" y="230"/>
                    <a:pt x="272" y="234"/>
                    <a:pt x="266" y="234"/>
                  </a:cubicBezTo>
                  <a:cubicBezTo>
                    <a:pt x="260" y="234"/>
                    <a:pt x="256" y="230"/>
                    <a:pt x="256" y="224"/>
                  </a:cubicBezTo>
                  <a:cubicBezTo>
                    <a:pt x="256" y="218"/>
                    <a:pt x="260" y="213"/>
                    <a:pt x="266" y="213"/>
                  </a:cubicBezTo>
                  <a:cubicBezTo>
                    <a:pt x="272" y="213"/>
                    <a:pt x="277" y="218"/>
                    <a:pt x="277" y="2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marL="0" marR="0" lvl="0" indent="0" algn="ctr" defTabSz="623438" rtl="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dirty="0">
                <a:ln>
                  <a:noFill/>
                </a:ln>
                <a:solidFill>
                  <a:prstClr val="black"/>
                </a:solidFill>
                <a:effectLst/>
                <a:uLnTx/>
                <a:uFillTx/>
                <a:latin typeface="+mj-lt"/>
                <a:ea typeface="+mn-ea"/>
                <a:cs typeface="Arial" pitchFamily="34" charset="0"/>
              </a:endParaRPr>
            </a:p>
          </p:txBody>
        </p:sp>
      </p:grpSp>
      <p:sp>
        <p:nvSpPr>
          <p:cNvPr id="48" name="Rectangle 147"/>
          <p:cNvSpPr>
            <a:spLocks noChangeArrowheads="1"/>
          </p:cNvSpPr>
          <p:nvPr/>
        </p:nvSpPr>
        <p:spPr bwMode="auto">
          <a:xfrm>
            <a:off x="8808712" y="979482"/>
            <a:ext cx="91984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623438" rtl="0" eaLnBrk="0" fontAlgn="base" latinLnBrk="0" hangingPunct="0">
              <a:lnSpc>
                <a:spcPct val="100000"/>
              </a:lnSpc>
              <a:spcBef>
                <a:spcPct val="0"/>
              </a:spcBef>
              <a:spcAft>
                <a:spcPct val="0"/>
              </a:spcAft>
              <a:buClrTx/>
              <a:buSzTx/>
              <a:buFontTx/>
              <a:buNone/>
              <a:tabLst/>
              <a:defRPr/>
            </a:pPr>
            <a:r>
              <a:rPr kumimoji="0" lang="en-US" altLang="en-US" sz="2400" b="1" i="0" u="none" strike="noStrike" kern="1200" cap="none" spc="0" normalizeH="0" baseline="0" noProof="0" dirty="0">
                <a:ln>
                  <a:noFill/>
                </a:ln>
                <a:solidFill>
                  <a:srgbClr val="FFFFFF"/>
                </a:solidFill>
                <a:effectLst/>
                <a:uLnTx/>
                <a:uFillTx/>
                <a:latin typeface="+mj-lt"/>
                <a:ea typeface="+mn-ea"/>
                <a:cs typeface="Arial" pitchFamily="34" charset="0"/>
              </a:rPr>
              <a:t>92%</a:t>
            </a:r>
            <a:endParaRPr kumimoji="0" lang="en-US" altLang="en-US" sz="1000" b="1" i="0" u="none" strike="noStrike" kern="1200" cap="none" spc="0" normalizeH="0" baseline="0" noProof="0" dirty="0">
              <a:ln>
                <a:noFill/>
              </a:ln>
              <a:solidFill>
                <a:srgbClr val="FFFFFF"/>
              </a:solidFill>
              <a:effectLst/>
              <a:uLnTx/>
              <a:uFillTx/>
              <a:latin typeface="+mj-lt"/>
              <a:ea typeface="+mn-ea"/>
              <a:cs typeface="Arial" pitchFamily="34" charset="0"/>
            </a:endParaRPr>
          </a:p>
        </p:txBody>
      </p:sp>
      <p:sp>
        <p:nvSpPr>
          <p:cNvPr id="49" name="Rectangle 147"/>
          <p:cNvSpPr>
            <a:spLocks noChangeArrowheads="1"/>
          </p:cNvSpPr>
          <p:nvPr/>
        </p:nvSpPr>
        <p:spPr bwMode="auto">
          <a:xfrm>
            <a:off x="9677596" y="982853"/>
            <a:ext cx="20501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623438" rtl="0" eaLnBrk="0" fontAlgn="base" latinLnBrk="0" hangingPunct="0">
              <a:lnSpc>
                <a:spcPct val="100000"/>
              </a:lnSpc>
              <a:spcBef>
                <a:spcPct val="0"/>
              </a:spcBef>
              <a:spcAft>
                <a:spcPct val="0"/>
              </a:spcAft>
              <a:buClrTx/>
              <a:buSzTx/>
              <a:buFontTx/>
              <a:buNone/>
              <a:tabLst/>
              <a:defRPr/>
            </a:pPr>
            <a:r>
              <a:rPr kumimoji="0" lang="en-US" altLang="en-US" sz="1000" b="1" i="0" u="none" strike="noStrike" kern="1200" cap="none" spc="0" normalizeH="0" baseline="0" noProof="0" dirty="0">
                <a:ln>
                  <a:noFill/>
                </a:ln>
                <a:solidFill>
                  <a:srgbClr val="FFFFFF"/>
                </a:solidFill>
                <a:effectLst/>
                <a:uLnTx/>
                <a:uFillTx/>
                <a:latin typeface="+mj-lt"/>
                <a:ea typeface="+mn-ea"/>
                <a:cs typeface="Arial" pitchFamily="34" charset="0"/>
              </a:rPr>
              <a:t>We serve 92% of the </a:t>
            </a:r>
            <a:r>
              <a:rPr kumimoji="0" lang="en-US" altLang="en-US" sz="1000" b="1" i="1" u="none" strike="noStrike" kern="1200" cap="none" spc="0" normalizeH="0" baseline="0" noProof="0" dirty="0">
                <a:ln>
                  <a:noFill/>
                </a:ln>
                <a:solidFill>
                  <a:srgbClr val="FFFFFF"/>
                </a:solidFill>
                <a:effectLst/>
                <a:uLnTx/>
                <a:uFillTx/>
                <a:latin typeface="+mj-lt"/>
                <a:ea typeface="+mn-ea"/>
                <a:cs typeface="Arial" pitchFamily="34" charset="0"/>
              </a:rPr>
              <a:t>Fortune 1000</a:t>
            </a:r>
            <a:r>
              <a:rPr kumimoji="0" lang="en-US" altLang="en-US" sz="1000" b="1" i="0" u="none" strike="noStrike" kern="1200" cap="none" spc="0" normalizeH="0" baseline="0" noProof="0" dirty="0">
                <a:ln>
                  <a:noFill/>
                </a:ln>
                <a:solidFill>
                  <a:srgbClr val="FFFFFF"/>
                </a:solidFill>
                <a:effectLst/>
                <a:uLnTx/>
                <a:uFillTx/>
                <a:latin typeface="+mj-lt"/>
                <a:ea typeface="+mn-ea"/>
                <a:cs typeface="Arial" pitchFamily="34" charset="0"/>
              </a:rPr>
              <a:t> power and utilities companies </a:t>
            </a:r>
          </a:p>
        </p:txBody>
      </p:sp>
      <p:sp>
        <p:nvSpPr>
          <p:cNvPr id="50" name="Rectangle 147"/>
          <p:cNvSpPr>
            <a:spLocks noChangeArrowheads="1"/>
          </p:cNvSpPr>
          <p:nvPr/>
        </p:nvSpPr>
        <p:spPr bwMode="auto">
          <a:xfrm>
            <a:off x="8246395" y="1643763"/>
            <a:ext cx="28496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623438" rtl="0" eaLnBrk="0" fontAlgn="base" latinLnBrk="0" hangingPunct="0">
              <a:lnSpc>
                <a:spcPct val="100000"/>
              </a:lnSpc>
              <a:spcBef>
                <a:spcPct val="0"/>
              </a:spcBef>
              <a:spcAft>
                <a:spcPct val="0"/>
              </a:spcAft>
              <a:buClrTx/>
              <a:buSzTx/>
              <a:buFontTx/>
              <a:buNone/>
              <a:tabLst/>
              <a:defRPr/>
            </a:pPr>
            <a:r>
              <a:rPr kumimoji="0" lang="en-US" altLang="en-US" sz="1000" b="1" i="0" u="none" strike="noStrike" kern="1200" cap="none" spc="0" normalizeH="0" baseline="0" noProof="0" dirty="0">
                <a:ln>
                  <a:noFill/>
                </a:ln>
                <a:solidFill>
                  <a:srgbClr val="FFFFFF"/>
                </a:solidFill>
                <a:effectLst/>
                <a:uLnTx/>
                <a:uFillTx/>
                <a:latin typeface="+mj-lt"/>
                <a:ea typeface="+mn-ea"/>
                <a:cs typeface="Arial" pitchFamily="34" charset="0"/>
              </a:rPr>
              <a:t>1,000+ practitioners with deep experience in power and utilities</a:t>
            </a:r>
          </a:p>
        </p:txBody>
      </p:sp>
      <p:grpSp>
        <p:nvGrpSpPr>
          <p:cNvPr id="51" name="Group 23"/>
          <p:cNvGrpSpPr>
            <a:grpSpLocks noChangeAspect="1"/>
          </p:cNvGrpSpPr>
          <p:nvPr/>
        </p:nvGrpSpPr>
        <p:grpSpPr bwMode="auto">
          <a:xfrm>
            <a:off x="11326816" y="1582635"/>
            <a:ext cx="387085" cy="374073"/>
            <a:chOff x="2122" y="970"/>
            <a:chExt cx="1516" cy="1516"/>
          </a:xfrm>
          <a:solidFill>
            <a:srgbClr val="62B5E5"/>
          </a:solidFill>
        </p:grpSpPr>
        <p:sp>
          <p:nvSpPr>
            <p:cNvPr id="58" name="Freeform 57"/>
            <p:cNvSpPr>
              <a:spLocks noEditPoints="1"/>
            </p:cNvSpPr>
            <p:nvPr/>
          </p:nvSpPr>
          <p:spPr bwMode="auto">
            <a:xfrm>
              <a:off x="2438" y="1506"/>
              <a:ext cx="256" cy="631"/>
            </a:xfrm>
            <a:custGeom>
              <a:avLst/>
              <a:gdLst>
                <a:gd name="T0" fmla="*/ 51 w 108"/>
                <a:gd name="T1" fmla="*/ 26 h 266"/>
                <a:gd name="T2" fmla="*/ 56 w 108"/>
                <a:gd name="T3" fmla="*/ 26 h 266"/>
                <a:gd name="T4" fmla="*/ 77 w 108"/>
                <a:gd name="T5" fmla="*/ 133 h 266"/>
                <a:gd name="T6" fmla="*/ 30 w 108"/>
                <a:gd name="T7" fmla="*/ 133 h 266"/>
                <a:gd name="T8" fmla="*/ 51 w 108"/>
                <a:gd name="T9" fmla="*/ 26 h 266"/>
                <a:gd name="T10" fmla="*/ 67 w 108"/>
                <a:gd name="T11" fmla="*/ 0 h 266"/>
                <a:gd name="T12" fmla="*/ 40 w 108"/>
                <a:gd name="T13" fmla="*/ 0 h 266"/>
                <a:gd name="T14" fmla="*/ 27 w 108"/>
                <a:gd name="T15" fmla="*/ 11 h 266"/>
                <a:gd name="T16" fmla="*/ 1 w 108"/>
                <a:gd name="T17" fmla="*/ 144 h 266"/>
                <a:gd name="T18" fmla="*/ 4 w 108"/>
                <a:gd name="T19" fmla="*/ 155 h 266"/>
                <a:gd name="T20" fmla="*/ 14 w 108"/>
                <a:gd name="T21" fmla="*/ 160 h 266"/>
                <a:gd name="T22" fmla="*/ 14 w 108"/>
                <a:gd name="T23" fmla="*/ 253 h 266"/>
                <a:gd name="T24" fmla="*/ 27 w 108"/>
                <a:gd name="T25" fmla="*/ 266 h 266"/>
                <a:gd name="T26" fmla="*/ 40 w 108"/>
                <a:gd name="T27" fmla="*/ 253 h 266"/>
                <a:gd name="T28" fmla="*/ 40 w 108"/>
                <a:gd name="T29" fmla="*/ 160 h 266"/>
                <a:gd name="T30" fmla="*/ 67 w 108"/>
                <a:gd name="T31" fmla="*/ 160 h 266"/>
                <a:gd name="T32" fmla="*/ 67 w 108"/>
                <a:gd name="T33" fmla="*/ 253 h 266"/>
                <a:gd name="T34" fmla="*/ 80 w 108"/>
                <a:gd name="T35" fmla="*/ 266 h 266"/>
                <a:gd name="T36" fmla="*/ 94 w 108"/>
                <a:gd name="T37" fmla="*/ 253 h 266"/>
                <a:gd name="T38" fmla="*/ 94 w 108"/>
                <a:gd name="T39" fmla="*/ 160 h 266"/>
                <a:gd name="T40" fmla="*/ 104 w 108"/>
                <a:gd name="T41" fmla="*/ 155 h 266"/>
                <a:gd name="T42" fmla="*/ 107 w 108"/>
                <a:gd name="T43" fmla="*/ 144 h 266"/>
                <a:gd name="T44" fmla="*/ 80 w 108"/>
                <a:gd name="T45" fmla="*/ 11 h 266"/>
                <a:gd name="T46" fmla="*/ 67 w 108"/>
                <a:gd name="T4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266">
                  <a:moveTo>
                    <a:pt x="51" y="26"/>
                  </a:moveTo>
                  <a:cubicBezTo>
                    <a:pt x="56" y="26"/>
                    <a:pt x="56" y="26"/>
                    <a:pt x="56" y="26"/>
                  </a:cubicBezTo>
                  <a:cubicBezTo>
                    <a:pt x="77" y="133"/>
                    <a:pt x="77" y="133"/>
                    <a:pt x="77" y="133"/>
                  </a:cubicBezTo>
                  <a:cubicBezTo>
                    <a:pt x="30" y="133"/>
                    <a:pt x="30" y="133"/>
                    <a:pt x="30" y="133"/>
                  </a:cubicBezTo>
                  <a:cubicBezTo>
                    <a:pt x="51" y="26"/>
                    <a:pt x="51" y="26"/>
                    <a:pt x="51" y="26"/>
                  </a:cubicBezTo>
                  <a:close/>
                  <a:moveTo>
                    <a:pt x="67" y="0"/>
                  </a:moveTo>
                  <a:cubicBezTo>
                    <a:pt x="40" y="0"/>
                    <a:pt x="40" y="0"/>
                    <a:pt x="40" y="0"/>
                  </a:cubicBezTo>
                  <a:cubicBezTo>
                    <a:pt x="34" y="0"/>
                    <a:pt x="29" y="4"/>
                    <a:pt x="27" y="11"/>
                  </a:cubicBezTo>
                  <a:cubicBezTo>
                    <a:pt x="1" y="144"/>
                    <a:pt x="1" y="144"/>
                    <a:pt x="1" y="144"/>
                  </a:cubicBezTo>
                  <a:cubicBezTo>
                    <a:pt x="0" y="148"/>
                    <a:pt x="1" y="152"/>
                    <a:pt x="4" y="155"/>
                  </a:cubicBezTo>
                  <a:cubicBezTo>
                    <a:pt x="6" y="158"/>
                    <a:pt x="10" y="160"/>
                    <a:pt x="14" y="160"/>
                  </a:cubicBezTo>
                  <a:cubicBezTo>
                    <a:pt x="14" y="253"/>
                    <a:pt x="14" y="253"/>
                    <a:pt x="14" y="253"/>
                  </a:cubicBezTo>
                  <a:cubicBezTo>
                    <a:pt x="14" y="260"/>
                    <a:pt x="20" y="266"/>
                    <a:pt x="27" y="266"/>
                  </a:cubicBezTo>
                  <a:cubicBezTo>
                    <a:pt x="34" y="266"/>
                    <a:pt x="40" y="260"/>
                    <a:pt x="40" y="253"/>
                  </a:cubicBezTo>
                  <a:cubicBezTo>
                    <a:pt x="40" y="160"/>
                    <a:pt x="40" y="160"/>
                    <a:pt x="40" y="160"/>
                  </a:cubicBezTo>
                  <a:cubicBezTo>
                    <a:pt x="67" y="160"/>
                    <a:pt x="67" y="160"/>
                    <a:pt x="67" y="160"/>
                  </a:cubicBezTo>
                  <a:cubicBezTo>
                    <a:pt x="67" y="253"/>
                    <a:pt x="67" y="253"/>
                    <a:pt x="67" y="253"/>
                  </a:cubicBezTo>
                  <a:cubicBezTo>
                    <a:pt x="67" y="260"/>
                    <a:pt x="73" y="266"/>
                    <a:pt x="80" y="266"/>
                  </a:cubicBezTo>
                  <a:cubicBezTo>
                    <a:pt x="88" y="266"/>
                    <a:pt x="94" y="260"/>
                    <a:pt x="94" y="253"/>
                  </a:cubicBezTo>
                  <a:cubicBezTo>
                    <a:pt x="94" y="160"/>
                    <a:pt x="94" y="160"/>
                    <a:pt x="94" y="160"/>
                  </a:cubicBezTo>
                  <a:cubicBezTo>
                    <a:pt x="98" y="160"/>
                    <a:pt x="101" y="158"/>
                    <a:pt x="104" y="155"/>
                  </a:cubicBezTo>
                  <a:cubicBezTo>
                    <a:pt x="107" y="152"/>
                    <a:pt x="108" y="148"/>
                    <a:pt x="107" y="144"/>
                  </a:cubicBezTo>
                  <a:cubicBezTo>
                    <a:pt x="80" y="11"/>
                    <a:pt x="80" y="11"/>
                    <a:pt x="80" y="11"/>
                  </a:cubicBezTo>
                  <a:cubicBezTo>
                    <a:pt x="79" y="4"/>
                    <a:pt x="73" y="0"/>
                    <a:pt x="6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marL="0" marR="0" lvl="0" indent="0" algn="ctr" defTabSz="623438" rtl="0" eaLnBrk="1" fontAlgn="base" latinLnBrk="0" hangingPunct="1">
                <a:lnSpc>
                  <a:spcPct val="100000"/>
                </a:lnSpc>
                <a:spcBef>
                  <a:spcPct val="20000"/>
                </a:spcBef>
                <a:spcAft>
                  <a:spcPct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mj-lt"/>
                <a:ea typeface="+mn-ea"/>
                <a:cs typeface="Arial" pitchFamily="34" charset="0"/>
              </a:endParaRPr>
            </a:p>
          </p:txBody>
        </p:sp>
        <p:sp>
          <p:nvSpPr>
            <p:cNvPr id="59" name="Freeform 58"/>
            <p:cNvSpPr>
              <a:spLocks noEditPoints="1"/>
            </p:cNvSpPr>
            <p:nvPr/>
          </p:nvSpPr>
          <p:spPr bwMode="auto">
            <a:xfrm>
              <a:off x="2471" y="1252"/>
              <a:ext cx="190" cy="190"/>
            </a:xfrm>
            <a:custGeom>
              <a:avLst/>
              <a:gdLst>
                <a:gd name="T0" fmla="*/ 40 w 80"/>
                <a:gd name="T1" fmla="*/ 27 h 80"/>
                <a:gd name="T2" fmla="*/ 53 w 80"/>
                <a:gd name="T3" fmla="*/ 40 h 80"/>
                <a:gd name="T4" fmla="*/ 40 w 80"/>
                <a:gd name="T5" fmla="*/ 54 h 80"/>
                <a:gd name="T6" fmla="*/ 26 w 80"/>
                <a:gd name="T7" fmla="*/ 40 h 80"/>
                <a:gd name="T8" fmla="*/ 40 w 80"/>
                <a:gd name="T9" fmla="*/ 27 h 80"/>
                <a:gd name="T10" fmla="*/ 40 w 80"/>
                <a:gd name="T11" fmla="*/ 80 h 80"/>
                <a:gd name="T12" fmla="*/ 80 w 80"/>
                <a:gd name="T13" fmla="*/ 40 h 80"/>
                <a:gd name="T14" fmla="*/ 40 w 80"/>
                <a:gd name="T15" fmla="*/ 0 h 80"/>
                <a:gd name="T16" fmla="*/ 0 w 80"/>
                <a:gd name="T17" fmla="*/ 40 h 80"/>
                <a:gd name="T18" fmla="*/ 40 w 80"/>
                <a:gd name="T19" fmla="*/ 8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80">
                  <a:moveTo>
                    <a:pt x="40" y="27"/>
                  </a:moveTo>
                  <a:cubicBezTo>
                    <a:pt x="47" y="27"/>
                    <a:pt x="53" y="33"/>
                    <a:pt x="53" y="40"/>
                  </a:cubicBezTo>
                  <a:cubicBezTo>
                    <a:pt x="53" y="48"/>
                    <a:pt x="47" y="54"/>
                    <a:pt x="40" y="54"/>
                  </a:cubicBezTo>
                  <a:cubicBezTo>
                    <a:pt x="32" y="54"/>
                    <a:pt x="26" y="48"/>
                    <a:pt x="26" y="40"/>
                  </a:cubicBezTo>
                  <a:cubicBezTo>
                    <a:pt x="26" y="33"/>
                    <a:pt x="32" y="27"/>
                    <a:pt x="40" y="27"/>
                  </a:cubicBezTo>
                  <a:close/>
                  <a:moveTo>
                    <a:pt x="40" y="80"/>
                  </a:moveTo>
                  <a:cubicBezTo>
                    <a:pt x="62" y="80"/>
                    <a:pt x="80" y="62"/>
                    <a:pt x="80" y="40"/>
                  </a:cubicBezTo>
                  <a:cubicBezTo>
                    <a:pt x="80" y="18"/>
                    <a:pt x="62" y="0"/>
                    <a:pt x="40" y="0"/>
                  </a:cubicBezTo>
                  <a:cubicBezTo>
                    <a:pt x="18" y="0"/>
                    <a:pt x="0" y="18"/>
                    <a:pt x="0" y="40"/>
                  </a:cubicBezTo>
                  <a:cubicBezTo>
                    <a:pt x="0" y="62"/>
                    <a:pt x="18" y="80"/>
                    <a:pt x="40" y="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marL="0" marR="0" lvl="0" indent="0" algn="ctr" defTabSz="623438" rtl="0" eaLnBrk="1" fontAlgn="base" latinLnBrk="0" hangingPunct="1">
                <a:lnSpc>
                  <a:spcPct val="100000"/>
                </a:lnSpc>
                <a:spcBef>
                  <a:spcPct val="20000"/>
                </a:spcBef>
                <a:spcAft>
                  <a:spcPct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mj-lt"/>
                <a:ea typeface="+mn-ea"/>
                <a:cs typeface="Arial" pitchFamily="34" charset="0"/>
              </a:endParaRPr>
            </a:p>
          </p:txBody>
        </p:sp>
        <p:sp>
          <p:nvSpPr>
            <p:cNvPr id="60" name="Freeform 59"/>
            <p:cNvSpPr>
              <a:spLocks noEditPoints="1"/>
            </p:cNvSpPr>
            <p:nvPr/>
          </p:nvSpPr>
          <p:spPr bwMode="auto">
            <a:xfrm>
              <a:off x="2753" y="1506"/>
              <a:ext cx="256" cy="631"/>
            </a:xfrm>
            <a:custGeom>
              <a:avLst/>
              <a:gdLst>
                <a:gd name="T0" fmla="*/ 51 w 108"/>
                <a:gd name="T1" fmla="*/ 26 h 266"/>
                <a:gd name="T2" fmla="*/ 56 w 108"/>
                <a:gd name="T3" fmla="*/ 26 h 266"/>
                <a:gd name="T4" fmla="*/ 78 w 108"/>
                <a:gd name="T5" fmla="*/ 133 h 266"/>
                <a:gd name="T6" fmla="*/ 30 w 108"/>
                <a:gd name="T7" fmla="*/ 133 h 266"/>
                <a:gd name="T8" fmla="*/ 51 w 108"/>
                <a:gd name="T9" fmla="*/ 26 h 266"/>
                <a:gd name="T10" fmla="*/ 67 w 108"/>
                <a:gd name="T11" fmla="*/ 0 h 266"/>
                <a:gd name="T12" fmla="*/ 41 w 108"/>
                <a:gd name="T13" fmla="*/ 0 h 266"/>
                <a:gd name="T14" fmla="*/ 28 w 108"/>
                <a:gd name="T15" fmla="*/ 11 h 266"/>
                <a:gd name="T16" fmla="*/ 1 w 108"/>
                <a:gd name="T17" fmla="*/ 144 h 266"/>
                <a:gd name="T18" fmla="*/ 4 w 108"/>
                <a:gd name="T19" fmla="*/ 155 h 266"/>
                <a:gd name="T20" fmla="*/ 14 w 108"/>
                <a:gd name="T21" fmla="*/ 160 h 266"/>
                <a:gd name="T22" fmla="*/ 14 w 108"/>
                <a:gd name="T23" fmla="*/ 253 h 266"/>
                <a:gd name="T24" fmla="*/ 27 w 108"/>
                <a:gd name="T25" fmla="*/ 266 h 266"/>
                <a:gd name="T26" fmla="*/ 41 w 108"/>
                <a:gd name="T27" fmla="*/ 253 h 266"/>
                <a:gd name="T28" fmla="*/ 41 w 108"/>
                <a:gd name="T29" fmla="*/ 160 h 266"/>
                <a:gd name="T30" fmla="*/ 67 w 108"/>
                <a:gd name="T31" fmla="*/ 160 h 266"/>
                <a:gd name="T32" fmla="*/ 67 w 108"/>
                <a:gd name="T33" fmla="*/ 253 h 266"/>
                <a:gd name="T34" fmla="*/ 80 w 108"/>
                <a:gd name="T35" fmla="*/ 266 h 266"/>
                <a:gd name="T36" fmla="*/ 94 w 108"/>
                <a:gd name="T37" fmla="*/ 253 h 266"/>
                <a:gd name="T38" fmla="*/ 94 w 108"/>
                <a:gd name="T39" fmla="*/ 160 h 266"/>
                <a:gd name="T40" fmla="*/ 104 w 108"/>
                <a:gd name="T41" fmla="*/ 155 h 266"/>
                <a:gd name="T42" fmla="*/ 107 w 108"/>
                <a:gd name="T43" fmla="*/ 144 h 266"/>
                <a:gd name="T44" fmla="*/ 80 w 108"/>
                <a:gd name="T45" fmla="*/ 11 h 266"/>
                <a:gd name="T46" fmla="*/ 67 w 108"/>
                <a:gd name="T4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266">
                  <a:moveTo>
                    <a:pt x="51" y="26"/>
                  </a:moveTo>
                  <a:cubicBezTo>
                    <a:pt x="56" y="26"/>
                    <a:pt x="56" y="26"/>
                    <a:pt x="56" y="26"/>
                  </a:cubicBezTo>
                  <a:cubicBezTo>
                    <a:pt x="78" y="133"/>
                    <a:pt x="78" y="133"/>
                    <a:pt x="78" y="133"/>
                  </a:cubicBezTo>
                  <a:cubicBezTo>
                    <a:pt x="30" y="133"/>
                    <a:pt x="30" y="133"/>
                    <a:pt x="30" y="133"/>
                  </a:cubicBezTo>
                  <a:cubicBezTo>
                    <a:pt x="51" y="26"/>
                    <a:pt x="51" y="26"/>
                    <a:pt x="51" y="26"/>
                  </a:cubicBezTo>
                  <a:close/>
                  <a:moveTo>
                    <a:pt x="67" y="0"/>
                  </a:moveTo>
                  <a:cubicBezTo>
                    <a:pt x="41" y="0"/>
                    <a:pt x="41" y="0"/>
                    <a:pt x="41" y="0"/>
                  </a:cubicBezTo>
                  <a:cubicBezTo>
                    <a:pt x="34" y="0"/>
                    <a:pt x="29" y="4"/>
                    <a:pt x="28" y="11"/>
                  </a:cubicBezTo>
                  <a:cubicBezTo>
                    <a:pt x="1" y="144"/>
                    <a:pt x="1" y="144"/>
                    <a:pt x="1" y="144"/>
                  </a:cubicBezTo>
                  <a:cubicBezTo>
                    <a:pt x="0" y="148"/>
                    <a:pt x="1" y="152"/>
                    <a:pt x="4" y="155"/>
                  </a:cubicBezTo>
                  <a:cubicBezTo>
                    <a:pt x="6" y="158"/>
                    <a:pt x="10" y="160"/>
                    <a:pt x="14" y="160"/>
                  </a:cubicBezTo>
                  <a:cubicBezTo>
                    <a:pt x="14" y="253"/>
                    <a:pt x="14" y="253"/>
                    <a:pt x="14" y="253"/>
                  </a:cubicBezTo>
                  <a:cubicBezTo>
                    <a:pt x="14" y="260"/>
                    <a:pt x="20" y="266"/>
                    <a:pt x="27" y="266"/>
                  </a:cubicBezTo>
                  <a:cubicBezTo>
                    <a:pt x="35" y="266"/>
                    <a:pt x="41" y="260"/>
                    <a:pt x="41" y="253"/>
                  </a:cubicBezTo>
                  <a:cubicBezTo>
                    <a:pt x="41" y="160"/>
                    <a:pt x="41" y="160"/>
                    <a:pt x="41" y="160"/>
                  </a:cubicBezTo>
                  <a:cubicBezTo>
                    <a:pt x="67" y="160"/>
                    <a:pt x="67" y="160"/>
                    <a:pt x="67" y="160"/>
                  </a:cubicBezTo>
                  <a:cubicBezTo>
                    <a:pt x="67" y="253"/>
                    <a:pt x="67" y="253"/>
                    <a:pt x="67" y="253"/>
                  </a:cubicBezTo>
                  <a:cubicBezTo>
                    <a:pt x="67" y="260"/>
                    <a:pt x="73" y="266"/>
                    <a:pt x="80" y="266"/>
                  </a:cubicBezTo>
                  <a:cubicBezTo>
                    <a:pt x="88" y="266"/>
                    <a:pt x="94" y="260"/>
                    <a:pt x="94" y="253"/>
                  </a:cubicBezTo>
                  <a:cubicBezTo>
                    <a:pt x="94" y="160"/>
                    <a:pt x="94" y="160"/>
                    <a:pt x="94" y="160"/>
                  </a:cubicBezTo>
                  <a:cubicBezTo>
                    <a:pt x="98" y="160"/>
                    <a:pt x="102" y="158"/>
                    <a:pt x="104" y="155"/>
                  </a:cubicBezTo>
                  <a:cubicBezTo>
                    <a:pt x="107" y="152"/>
                    <a:pt x="108" y="148"/>
                    <a:pt x="107" y="144"/>
                  </a:cubicBezTo>
                  <a:cubicBezTo>
                    <a:pt x="80" y="11"/>
                    <a:pt x="80" y="11"/>
                    <a:pt x="80" y="11"/>
                  </a:cubicBezTo>
                  <a:cubicBezTo>
                    <a:pt x="79" y="4"/>
                    <a:pt x="74" y="0"/>
                    <a:pt x="6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marL="0" marR="0" lvl="0" indent="0" algn="ctr" defTabSz="623438" rtl="0" eaLnBrk="1" fontAlgn="base" latinLnBrk="0" hangingPunct="1">
                <a:lnSpc>
                  <a:spcPct val="100000"/>
                </a:lnSpc>
                <a:spcBef>
                  <a:spcPct val="20000"/>
                </a:spcBef>
                <a:spcAft>
                  <a:spcPct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mj-lt"/>
                <a:ea typeface="+mn-ea"/>
                <a:cs typeface="Arial" pitchFamily="34" charset="0"/>
              </a:endParaRPr>
            </a:p>
          </p:txBody>
        </p:sp>
        <p:sp>
          <p:nvSpPr>
            <p:cNvPr id="61" name="Freeform 60"/>
            <p:cNvSpPr>
              <a:spLocks noEditPoints="1"/>
            </p:cNvSpPr>
            <p:nvPr/>
          </p:nvSpPr>
          <p:spPr bwMode="auto">
            <a:xfrm>
              <a:off x="2786" y="1252"/>
              <a:ext cx="190" cy="190"/>
            </a:xfrm>
            <a:custGeom>
              <a:avLst/>
              <a:gdLst>
                <a:gd name="T0" fmla="*/ 40 w 80"/>
                <a:gd name="T1" fmla="*/ 27 h 80"/>
                <a:gd name="T2" fmla="*/ 53 w 80"/>
                <a:gd name="T3" fmla="*/ 40 h 80"/>
                <a:gd name="T4" fmla="*/ 40 w 80"/>
                <a:gd name="T5" fmla="*/ 54 h 80"/>
                <a:gd name="T6" fmla="*/ 27 w 80"/>
                <a:gd name="T7" fmla="*/ 40 h 80"/>
                <a:gd name="T8" fmla="*/ 40 w 80"/>
                <a:gd name="T9" fmla="*/ 27 h 80"/>
                <a:gd name="T10" fmla="*/ 40 w 80"/>
                <a:gd name="T11" fmla="*/ 80 h 80"/>
                <a:gd name="T12" fmla="*/ 80 w 80"/>
                <a:gd name="T13" fmla="*/ 40 h 80"/>
                <a:gd name="T14" fmla="*/ 40 w 80"/>
                <a:gd name="T15" fmla="*/ 0 h 80"/>
                <a:gd name="T16" fmla="*/ 0 w 80"/>
                <a:gd name="T17" fmla="*/ 40 h 80"/>
                <a:gd name="T18" fmla="*/ 40 w 80"/>
                <a:gd name="T19" fmla="*/ 8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80">
                  <a:moveTo>
                    <a:pt x="40" y="27"/>
                  </a:moveTo>
                  <a:cubicBezTo>
                    <a:pt x="47" y="27"/>
                    <a:pt x="53" y="33"/>
                    <a:pt x="53" y="40"/>
                  </a:cubicBezTo>
                  <a:cubicBezTo>
                    <a:pt x="53" y="48"/>
                    <a:pt x="47" y="54"/>
                    <a:pt x="40" y="54"/>
                  </a:cubicBezTo>
                  <a:cubicBezTo>
                    <a:pt x="33" y="54"/>
                    <a:pt x="27" y="48"/>
                    <a:pt x="27" y="40"/>
                  </a:cubicBezTo>
                  <a:cubicBezTo>
                    <a:pt x="27" y="33"/>
                    <a:pt x="33" y="27"/>
                    <a:pt x="40" y="27"/>
                  </a:cubicBezTo>
                  <a:close/>
                  <a:moveTo>
                    <a:pt x="40" y="80"/>
                  </a:moveTo>
                  <a:cubicBezTo>
                    <a:pt x="62" y="80"/>
                    <a:pt x="80" y="62"/>
                    <a:pt x="80" y="40"/>
                  </a:cubicBezTo>
                  <a:cubicBezTo>
                    <a:pt x="80" y="18"/>
                    <a:pt x="62" y="0"/>
                    <a:pt x="40" y="0"/>
                  </a:cubicBezTo>
                  <a:cubicBezTo>
                    <a:pt x="18" y="0"/>
                    <a:pt x="0" y="18"/>
                    <a:pt x="0" y="40"/>
                  </a:cubicBezTo>
                  <a:cubicBezTo>
                    <a:pt x="0" y="62"/>
                    <a:pt x="18" y="80"/>
                    <a:pt x="40" y="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marL="0" marR="0" lvl="0" indent="0" algn="ctr" defTabSz="623438" rtl="0" eaLnBrk="1" fontAlgn="base" latinLnBrk="0" hangingPunct="1">
                <a:lnSpc>
                  <a:spcPct val="100000"/>
                </a:lnSpc>
                <a:spcBef>
                  <a:spcPct val="20000"/>
                </a:spcBef>
                <a:spcAft>
                  <a:spcPct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mj-lt"/>
                <a:ea typeface="+mn-ea"/>
                <a:cs typeface="Arial" pitchFamily="34" charset="0"/>
              </a:endParaRPr>
            </a:p>
          </p:txBody>
        </p:sp>
        <p:sp>
          <p:nvSpPr>
            <p:cNvPr id="62" name="Freeform 61"/>
            <p:cNvSpPr>
              <a:spLocks noEditPoints="1"/>
            </p:cNvSpPr>
            <p:nvPr/>
          </p:nvSpPr>
          <p:spPr bwMode="auto">
            <a:xfrm>
              <a:off x="3071" y="1506"/>
              <a:ext cx="252" cy="631"/>
            </a:xfrm>
            <a:custGeom>
              <a:avLst/>
              <a:gdLst>
                <a:gd name="T0" fmla="*/ 26 w 106"/>
                <a:gd name="T1" fmla="*/ 26 h 266"/>
                <a:gd name="T2" fmla="*/ 80 w 106"/>
                <a:gd name="T3" fmla="*/ 26 h 266"/>
                <a:gd name="T4" fmla="*/ 80 w 106"/>
                <a:gd name="T5" fmla="*/ 106 h 266"/>
                <a:gd name="T6" fmla="*/ 26 w 106"/>
                <a:gd name="T7" fmla="*/ 106 h 266"/>
                <a:gd name="T8" fmla="*/ 26 w 106"/>
                <a:gd name="T9" fmla="*/ 26 h 266"/>
                <a:gd name="T10" fmla="*/ 93 w 106"/>
                <a:gd name="T11" fmla="*/ 0 h 266"/>
                <a:gd name="T12" fmla="*/ 13 w 106"/>
                <a:gd name="T13" fmla="*/ 0 h 266"/>
                <a:gd name="T14" fmla="*/ 0 w 106"/>
                <a:gd name="T15" fmla="*/ 13 h 266"/>
                <a:gd name="T16" fmla="*/ 0 w 106"/>
                <a:gd name="T17" fmla="*/ 120 h 266"/>
                <a:gd name="T18" fmla="*/ 13 w 106"/>
                <a:gd name="T19" fmla="*/ 133 h 266"/>
                <a:gd name="T20" fmla="*/ 13 w 106"/>
                <a:gd name="T21" fmla="*/ 253 h 266"/>
                <a:gd name="T22" fmla="*/ 26 w 106"/>
                <a:gd name="T23" fmla="*/ 266 h 266"/>
                <a:gd name="T24" fmla="*/ 40 w 106"/>
                <a:gd name="T25" fmla="*/ 253 h 266"/>
                <a:gd name="T26" fmla="*/ 40 w 106"/>
                <a:gd name="T27" fmla="*/ 133 h 266"/>
                <a:gd name="T28" fmla="*/ 66 w 106"/>
                <a:gd name="T29" fmla="*/ 133 h 266"/>
                <a:gd name="T30" fmla="*/ 66 w 106"/>
                <a:gd name="T31" fmla="*/ 253 h 266"/>
                <a:gd name="T32" fmla="*/ 80 w 106"/>
                <a:gd name="T33" fmla="*/ 266 h 266"/>
                <a:gd name="T34" fmla="*/ 93 w 106"/>
                <a:gd name="T35" fmla="*/ 253 h 266"/>
                <a:gd name="T36" fmla="*/ 93 w 106"/>
                <a:gd name="T37" fmla="*/ 133 h 266"/>
                <a:gd name="T38" fmla="*/ 106 w 106"/>
                <a:gd name="T39" fmla="*/ 120 h 266"/>
                <a:gd name="T40" fmla="*/ 106 w 106"/>
                <a:gd name="T41" fmla="*/ 13 h 266"/>
                <a:gd name="T42" fmla="*/ 93 w 106"/>
                <a:gd name="T43"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6" h="266">
                  <a:moveTo>
                    <a:pt x="26" y="26"/>
                  </a:moveTo>
                  <a:cubicBezTo>
                    <a:pt x="80" y="26"/>
                    <a:pt x="80" y="26"/>
                    <a:pt x="80" y="26"/>
                  </a:cubicBezTo>
                  <a:cubicBezTo>
                    <a:pt x="80" y="106"/>
                    <a:pt x="80" y="106"/>
                    <a:pt x="80" y="106"/>
                  </a:cubicBezTo>
                  <a:cubicBezTo>
                    <a:pt x="26" y="106"/>
                    <a:pt x="26" y="106"/>
                    <a:pt x="26" y="106"/>
                  </a:cubicBezTo>
                  <a:cubicBezTo>
                    <a:pt x="26" y="26"/>
                    <a:pt x="26" y="26"/>
                    <a:pt x="26" y="26"/>
                  </a:cubicBezTo>
                  <a:close/>
                  <a:moveTo>
                    <a:pt x="93" y="0"/>
                  </a:moveTo>
                  <a:cubicBezTo>
                    <a:pt x="13" y="0"/>
                    <a:pt x="13" y="0"/>
                    <a:pt x="13" y="0"/>
                  </a:cubicBezTo>
                  <a:cubicBezTo>
                    <a:pt x="6" y="0"/>
                    <a:pt x="0" y="6"/>
                    <a:pt x="0" y="13"/>
                  </a:cubicBezTo>
                  <a:cubicBezTo>
                    <a:pt x="0" y="120"/>
                    <a:pt x="0" y="120"/>
                    <a:pt x="0" y="120"/>
                  </a:cubicBezTo>
                  <a:cubicBezTo>
                    <a:pt x="0" y="127"/>
                    <a:pt x="6" y="133"/>
                    <a:pt x="13" y="133"/>
                  </a:cubicBezTo>
                  <a:cubicBezTo>
                    <a:pt x="13" y="253"/>
                    <a:pt x="13" y="253"/>
                    <a:pt x="13" y="253"/>
                  </a:cubicBezTo>
                  <a:cubicBezTo>
                    <a:pt x="13" y="260"/>
                    <a:pt x="19" y="266"/>
                    <a:pt x="26" y="266"/>
                  </a:cubicBezTo>
                  <a:cubicBezTo>
                    <a:pt x="34" y="266"/>
                    <a:pt x="40" y="260"/>
                    <a:pt x="40" y="253"/>
                  </a:cubicBezTo>
                  <a:cubicBezTo>
                    <a:pt x="40" y="133"/>
                    <a:pt x="40" y="133"/>
                    <a:pt x="40" y="133"/>
                  </a:cubicBezTo>
                  <a:cubicBezTo>
                    <a:pt x="66" y="133"/>
                    <a:pt x="66" y="133"/>
                    <a:pt x="66" y="133"/>
                  </a:cubicBezTo>
                  <a:cubicBezTo>
                    <a:pt x="66" y="253"/>
                    <a:pt x="66" y="253"/>
                    <a:pt x="66" y="253"/>
                  </a:cubicBezTo>
                  <a:cubicBezTo>
                    <a:pt x="66" y="260"/>
                    <a:pt x="72" y="266"/>
                    <a:pt x="80" y="266"/>
                  </a:cubicBezTo>
                  <a:cubicBezTo>
                    <a:pt x="87" y="266"/>
                    <a:pt x="93" y="260"/>
                    <a:pt x="93" y="253"/>
                  </a:cubicBezTo>
                  <a:cubicBezTo>
                    <a:pt x="93" y="133"/>
                    <a:pt x="93" y="133"/>
                    <a:pt x="93" y="133"/>
                  </a:cubicBezTo>
                  <a:cubicBezTo>
                    <a:pt x="100" y="133"/>
                    <a:pt x="106" y="127"/>
                    <a:pt x="106" y="120"/>
                  </a:cubicBezTo>
                  <a:cubicBezTo>
                    <a:pt x="106" y="13"/>
                    <a:pt x="106" y="13"/>
                    <a:pt x="106" y="13"/>
                  </a:cubicBezTo>
                  <a:cubicBezTo>
                    <a:pt x="106" y="6"/>
                    <a:pt x="100" y="0"/>
                    <a:pt x="9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marL="0" marR="0" lvl="0" indent="0" algn="ctr" defTabSz="623438" rtl="0" eaLnBrk="1" fontAlgn="base" latinLnBrk="0" hangingPunct="1">
                <a:lnSpc>
                  <a:spcPct val="100000"/>
                </a:lnSpc>
                <a:spcBef>
                  <a:spcPct val="20000"/>
                </a:spcBef>
                <a:spcAft>
                  <a:spcPct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mj-lt"/>
                <a:ea typeface="+mn-ea"/>
                <a:cs typeface="Arial" pitchFamily="34" charset="0"/>
              </a:endParaRPr>
            </a:p>
          </p:txBody>
        </p:sp>
        <p:sp>
          <p:nvSpPr>
            <p:cNvPr id="63" name="Freeform 62"/>
            <p:cNvSpPr>
              <a:spLocks noEditPoints="1"/>
            </p:cNvSpPr>
            <p:nvPr/>
          </p:nvSpPr>
          <p:spPr bwMode="auto">
            <a:xfrm>
              <a:off x="3102" y="1252"/>
              <a:ext cx="190" cy="190"/>
            </a:xfrm>
            <a:custGeom>
              <a:avLst/>
              <a:gdLst>
                <a:gd name="T0" fmla="*/ 40 w 80"/>
                <a:gd name="T1" fmla="*/ 27 h 80"/>
                <a:gd name="T2" fmla="*/ 53 w 80"/>
                <a:gd name="T3" fmla="*/ 40 h 80"/>
                <a:gd name="T4" fmla="*/ 40 w 80"/>
                <a:gd name="T5" fmla="*/ 54 h 80"/>
                <a:gd name="T6" fmla="*/ 27 w 80"/>
                <a:gd name="T7" fmla="*/ 40 h 80"/>
                <a:gd name="T8" fmla="*/ 40 w 80"/>
                <a:gd name="T9" fmla="*/ 27 h 80"/>
                <a:gd name="T10" fmla="*/ 40 w 80"/>
                <a:gd name="T11" fmla="*/ 80 h 80"/>
                <a:gd name="T12" fmla="*/ 80 w 80"/>
                <a:gd name="T13" fmla="*/ 40 h 80"/>
                <a:gd name="T14" fmla="*/ 40 w 80"/>
                <a:gd name="T15" fmla="*/ 0 h 80"/>
                <a:gd name="T16" fmla="*/ 0 w 80"/>
                <a:gd name="T17" fmla="*/ 40 h 80"/>
                <a:gd name="T18" fmla="*/ 40 w 80"/>
                <a:gd name="T19" fmla="*/ 8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80">
                  <a:moveTo>
                    <a:pt x="40" y="27"/>
                  </a:moveTo>
                  <a:cubicBezTo>
                    <a:pt x="47" y="27"/>
                    <a:pt x="53" y="33"/>
                    <a:pt x="53" y="40"/>
                  </a:cubicBezTo>
                  <a:cubicBezTo>
                    <a:pt x="53" y="48"/>
                    <a:pt x="47" y="54"/>
                    <a:pt x="40" y="54"/>
                  </a:cubicBezTo>
                  <a:cubicBezTo>
                    <a:pt x="33" y="54"/>
                    <a:pt x="27" y="48"/>
                    <a:pt x="27" y="40"/>
                  </a:cubicBezTo>
                  <a:cubicBezTo>
                    <a:pt x="27" y="33"/>
                    <a:pt x="33" y="27"/>
                    <a:pt x="40" y="27"/>
                  </a:cubicBezTo>
                  <a:close/>
                  <a:moveTo>
                    <a:pt x="40" y="80"/>
                  </a:moveTo>
                  <a:cubicBezTo>
                    <a:pt x="62" y="80"/>
                    <a:pt x="80" y="62"/>
                    <a:pt x="80" y="40"/>
                  </a:cubicBezTo>
                  <a:cubicBezTo>
                    <a:pt x="80" y="18"/>
                    <a:pt x="62" y="0"/>
                    <a:pt x="40" y="0"/>
                  </a:cubicBezTo>
                  <a:cubicBezTo>
                    <a:pt x="18" y="0"/>
                    <a:pt x="0" y="18"/>
                    <a:pt x="0" y="40"/>
                  </a:cubicBezTo>
                  <a:cubicBezTo>
                    <a:pt x="0" y="62"/>
                    <a:pt x="18" y="80"/>
                    <a:pt x="40" y="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marL="0" marR="0" lvl="0" indent="0" algn="ctr" defTabSz="623438" rtl="0" eaLnBrk="1" fontAlgn="base" latinLnBrk="0" hangingPunct="1">
                <a:lnSpc>
                  <a:spcPct val="100000"/>
                </a:lnSpc>
                <a:spcBef>
                  <a:spcPct val="20000"/>
                </a:spcBef>
                <a:spcAft>
                  <a:spcPct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mj-lt"/>
                <a:ea typeface="+mn-ea"/>
                <a:cs typeface="Arial" pitchFamily="34" charset="0"/>
              </a:endParaRPr>
            </a:p>
          </p:txBody>
        </p:sp>
        <p:sp>
          <p:nvSpPr>
            <p:cNvPr id="64" name="Freeform 63"/>
            <p:cNvSpPr>
              <a:spLocks noEditPoints="1"/>
            </p:cNvSpPr>
            <p:nvPr/>
          </p:nvSpPr>
          <p:spPr bwMode="auto">
            <a:xfrm>
              <a:off x="2122" y="970"/>
              <a:ext cx="1516" cy="1516"/>
            </a:xfrm>
            <a:custGeom>
              <a:avLst/>
              <a:gdLst>
                <a:gd name="T0" fmla="*/ 320 w 639"/>
                <a:gd name="T1" fmla="*/ 612 h 639"/>
                <a:gd name="T2" fmla="*/ 27 w 639"/>
                <a:gd name="T3" fmla="*/ 319 h 639"/>
                <a:gd name="T4" fmla="*/ 320 w 639"/>
                <a:gd name="T5" fmla="*/ 26 h 639"/>
                <a:gd name="T6" fmla="*/ 613 w 639"/>
                <a:gd name="T7" fmla="*/ 319 h 639"/>
                <a:gd name="T8" fmla="*/ 320 w 639"/>
                <a:gd name="T9" fmla="*/ 612 h 639"/>
                <a:gd name="T10" fmla="*/ 320 w 639"/>
                <a:gd name="T11" fmla="*/ 0 h 639"/>
                <a:gd name="T12" fmla="*/ 0 w 639"/>
                <a:gd name="T13" fmla="*/ 319 h 639"/>
                <a:gd name="T14" fmla="*/ 320 w 639"/>
                <a:gd name="T15" fmla="*/ 639 h 639"/>
                <a:gd name="T16" fmla="*/ 639 w 639"/>
                <a:gd name="T17" fmla="*/ 319 h 639"/>
                <a:gd name="T18" fmla="*/ 320 w 639"/>
                <a:gd name="T19" fmla="*/ 0 h 6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9" h="639">
                  <a:moveTo>
                    <a:pt x="320" y="612"/>
                  </a:moveTo>
                  <a:cubicBezTo>
                    <a:pt x="158" y="612"/>
                    <a:pt x="27" y="481"/>
                    <a:pt x="27" y="319"/>
                  </a:cubicBezTo>
                  <a:cubicBezTo>
                    <a:pt x="27" y="158"/>
                    <a:pt x="158" y="26"/>
                    <a:pt x="320" y="26"/>
                  </a:cubicBezTo>
                  <a:cubicBezTo>
                    <a:pt x="481" y="26"/>
                    <a:pt x="613" y="158"/>
                    <a:pt x="613" y="319"/>
                  </a:cubicBezTo>
                  <a:cubicBezTo>
                    <a:pt x="613" y="481"/>
                    <a:pt x="481" y="612"/>
                    <a:pt x="320" y="612"/>
                  </a:cubicBezTo>
                  <a:close/>
                  <a:moveTo>
                    <a:pt x="320" y="0"/>
                  </a:moveTo>
                  <a:cubicBezTo>
                    <a:pt x="143" y="0"/>
                    <a:pt x="0" y="143"/>
                    <a:pt x="0" y="319"/>
                  </a:cubicBezTo>
                  <a:cubicBezTo>
                    <a:pt x="0" y="495"/>
                    <a:pt x="143" y="639"/>
                    <a:pt x="320" y="639"/>
                  </a:cubicBezTo>
                  <a:cubicBezTo>
                    <a:pt x="496" y="639"/>
                    <a:pt x="639" y="495"/>
                    <a:pt x="639" y="319"/>
                  </a:cubicBezTo>
                  <a:cubicBezTo>
                    <a:pt x="639" y="143"/>
                    <a:pt x="496" y="0"/>
                    <a:pt x="3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2345" tIns="31173" rIns="62345" bIns="31173" numCol="1" anchor="t" anchorCtr="0" compatLnSpc="1">
              <a:prstTxWarp prst="textNoShape">
                <a:avLst/>
              </a:prstTxWarp>
            </a:bodyPr>
            <a:lstStyle/>
            <a:p>
              <a:pPr marL="0" marR="0" lvl="0" indent="0" algn="ctr" defTabSz="623438" rtl="0" eaLnBrk="1" fontAlgn="base" latinLnBrk="0" hangingPunct="1">
                <a:lnSpc>
                  <a:spcPct val="100000"/>
                </a:lnSpc>
                <a:spcBef>
                  <a:spcPct val="20000"/>
                </a:spcBef>
                <a:spcAft>
                  <a:spcPct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mj-lt"/>
                <a:ea typeface="+mn-ea"/>
                <a:cs typeface="Arial" pitchFamily="34" charset="0"/>
              </a:endParaRPr>
            </a:p>
          </p:txBody>
        </p:sp>
      </p:grpSp>
      <p:cxnSp>
        <p:nvCxnSpPr>
          <p:cNvPr id="52" name="Straight Connector 51"/>
          <p:cNvCxnSpPr/>
          <p:nvPr/>
        </p:nvCxnSpPr>
        <p:spPr>
          <a:xfrm>
            <a:off x="8246394" y="1484349"/>
            <a:ext cx="3564079" cy="0"/>
          </a:xfrm>
          <a:prstGeom prst="line">
            <a:avLst/>
          </a:prstGeom>
          <a:solidFill>
            <a:srgbClr val="9D9D99"/>
          </a:solidFill>
          <a:ln w="0" cap="flat">
            <a:solidFill>
              <a:srgbClr val="9D9D99"/>
            </a:solidFill>
            <a:prstDash val="solid"/>
            <a:round/>
            <a:headEnd type="oval" w="med" len="med"/>
            <a:tailEnd type="oval" w="med" len="med"/>
          </a:ln>
        </p:spPr>
      </p:cxnSp>
      <p:cxnSp>
        <p:nvCxnSpPr>
          <p:cNvPr id="53" name="Straight Connector 52"/>
          <p:cNvCxnSpPr/>
          <p:nvPr/>
        </p:nvCxnSpPr>
        <p:spPr>
          <a:xfrm>
            <a:off x="8246394" y="2065713"/>
            <a:ext cx="3564079" cy="0"/>
          </a:xfrm>
          <a:prstGeom prst="line">
            <a:avLst/>
          </a:prstGeom>
          <a:solidFill>
            <a:srgbClr val="86BC25"/>
          </a:solidFill>
          <a:ln w="19050" cap="flat">
            <a:solidFill>
              <a:srgbClr val="86BC25"/>
            </a:solidFill>
            <a:prstDash val="sysDot"/>
            <a:round/>
            <a:headEnd/>
            <a:tailEnd/>
          </a:ln>
        </p:spPr>
      </p:cxnSp>
      <p:cxnSp>
        <p:nvCxnSpPr>
          <p:cNvPr id="54" name="Straight Connector 53"/>
          <p:cNvCxnSpPr/>
          <p:nvPr/>
        </p:nvCxnSpPr>
        <p:spPr>
          <a:xfrm>
            <a:off x="8246394" y="3065318"/>
            <a:ext cx="3564079" cy="0"/>
          </a:xfrm>
          <a:prstGeom prst="line">
            <a:avLst/>
          </a:prstGeom>
          <a:solidFill>
            <a:srgbClr val="9D9D99"/>
          </a:solidFill>
          <a:ln w="0" cap="flat">
            <a:solidFill>
              <a:srgbClr val="9D9D99"/>
            </a:solidFill>
            <a:prstDash val="solid"/>
            <a:round/>
            <a:headEnd type="oval" w="med" len="med"/>
            <a:tailEnd type="oval" w="med" len="med"/>
          </a:ln>
        </p:spPr>
      </p:cxnSp>
      <p:cxnSp>
        <p:nvCxnSpPr>
          <p:cNvPr id="55" name="Straight Connector 54"/>
          <p:cNvCxnSpPr/>
          <p:nvPr/>
        </p:nvCxnSpPr>
        <p:spPr>
          <a:xfrm>
            <a:off x="8246394" y="3757699"/>
            <a:ext cx="3564079" cy="0"/>
          </a:xfrm>
          <a:prstGeom prst="line">
            <a:avLst/>
          </a:prstGeom>
          <a:solidFill>
            <a:srgbClr val="86BC25"/>
          </a:solidFill>
          <a:ln w="19050" cap="flat">
            <a:solidFill>
              <a:srgbClr val="00ABAB"/>
            </a:solidFill>
            <a:prstDash val="sysDot"/>
            <a:round/>
            <a:headEnd/>
            <a:tailEnd/>
          </a:ln>
        </p:spPr>
      </p:cxnSp>
      <p:cxnSp>
        <p:nvCxnSpPr>
          <p:cNvPr id="56" name="Straight Connector 55"/>
          <p:cNvCxnSpPr/>
          <p:nvPr/>
        </p:nvCxnSpPr>
        <p:spPr>
          <a:xfrm>
            <a:off x="8246394" y="4565765"/>
            <a:ext cx="3564079" cy="0"/>
          </a:xfrm>
          <a:prstGeom prst="line">
            <a:avLst/>
          </a:prstGeom>
          <a:solidFill>
            <a:srgbClr val="9D9D99"/>
          </a:solidFill>
          <a:ln w="0" cap="flat">
            <a:solidFill>
              <a:srgbClr val="9D9D99"/>
            </a:solidFill>
            <a:prstDash val="solid"/>
            <a:round/>
            <a:headEnd type="oval" w="med" len="med"/>
            <a:tailEnd type="oval" w="med" len="med"/>
          </a:ln>
        </p:spPr>
      </p:cxnSp>
      <p:cxnSp>
        <p:nvCxnSpPr>
          <p:cNvPr id="57" name="Straight Connector 56"/>
          <p:cNvCxnSpPr/>
          <p:nvPr/>
        </p:nvCxnSpPr>
        <p:spPr>
          <a:xfrm>
            <a:off x="8246394" y="5195455"/>
            <a:ext cx="3564079" cy="0"/>
          </a:xfrm>
          <a:prstGeom prst="line">
            <a:avLst/>
          </a:prstGeom>
          <a:solidFill>
            <a:srgbClr val="86BC25"/>
          </a:solidFill>
          <a:ln w="19050" cap="flat">
            <a:solidFill>
              <a:srgbClr val="53565A"/>
            </a:solidFill>
            <a:prstDash val="sysDot"/>
            <a:round/>
            <a:headEnd/>
            <a:tailEnd/>
          </a:ln>
        </p:spPr>
      </p:cxnSp>
      <p:sp>
        <p:nvSpPr>
          <p:cNvPr id="4" name="Rectangle 3"/>
          <p:cNvSpPr/>
          <p:nvPr/>
        </p:nvSpPr>
        <p:spPr>
          <a:xfrm>
            <a:off x="500557" y="317789"/>
            <a:ext cx="6096000" cy="738664"/>
          </a:xfrm>
          <a:prstGeom prst="rect">
            <a:avLst/>
          </a:prstGeom>
        </p:spPr>
        <p:txBody>
          <a:bodyPr>
            <a:spAutoFit/>
          </a:bodyPr>
          <a:lstStyle/>
          <a:p>
            <a:pPr marL="0" marR="0" lvl="0" indent="0" algn="ctr" defTabSz="623438" rtl="0" eaLnBrk="1" fontAlgn="auto" latinLnBrk="0" hangingPunct="1">
              <a:lnSpc>
                <a:spcPct val="100000"/>
              </a:lnSpc>
              <a:spcBef>
                <a:spcPts val="0"/>
              </a:spcBef>
              <a:spcAft>
                <a:spcPts val="0"/>
              </a:spcAft>
              <a:buClrTx/>
              <a:buSzTx/>
              <a:buFontTx/>
              <a:buNone/>
              <a:tabLst/>
              <a:defRPr/>
            </a:pPr>
            <a:r>
              <a:rPr kumimoji="0" lang="en-US" altLang="en-US" sz="2100" b="1" i="0" u="none" strike="noStrike" kern="1200" cap="all" spc="0" normalizeH="0" baseline="0" noProof="0" dirty="0">
                <a:ln>
                  <a:noFill/>
                </a:ln>
                <a:solidFill>
                  <a:srgbClr val="86BC25"/>
                </a:solidFill>
                <a:effectLst/>
                <a:uLnTx/>
                <a:uFillTx/>
                <a:latin typeface="Calibri"/>
                <a:ea typeface="+mn-ea"/>
                <a:cs typeface="Arial" pitchFamily="34" charset="0"/>
              </a:rPr>
              <a:t>Energy and resources Global Practice by the Numbers</a:t>
            </a:r>
          </a:p>
        </p:txBody>
      </p:sp>
    </p:spTree>
    <p:extLst>
      <p:ext uri="{BB962C8B-B14F-4D97-AF65-F5344CB8AC3E}">
        <p14:creationId xmlns:p14="http://schemas.microsoft.com/office/powerpoint/2010/main" val="98171103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BCFDE30-CA94-4089-BFB8-EAA295B37BE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Rounded Rectangle 5">
            <a:extLst>
              <a:ext uri="{FF2B5EF4-FFF2-40B4-BE49-F238E27FC236}">
                <a16:creationId xmlns:a16="http://schemas.microsoft.com/office/drawing/2014/main" id="{D4A387F1-EA8E-4E7F-B8A9-23B600B6A2B9}"/>
              </a:ext>
            </a:extLst>
          </p:cNvPr>
          <p:cNvSpPr/>
          <p:nvPr/>
        </p:nvSpPr>
        <p:spPr bwMode="gray">
          <a:xfrm>
            <a:off x="469900" y="5100948"/>
            <a:ext cx="10426700" cy="792000"/>
          </a:xfrm>
          <a:prstGeom prst="roundRect">
            <a:avLst>
              <a:gd name="adj" fmla="val 50000"/>
            </a:avLst>
          </a:prstGeom>
          <a:solidFill>
            <a:srgbClr val="007680"/>
          </a:solidFill>
          <a:ln w="19050" algn="ctr">
            <a:noFill/>
            <a:miter lim="800000"/>
            <a:headEnd/>
            <a:tailEnd/>
          </a:ln>
        </p:spPr>
        <p:txBody>
          <a:bodyPr wrap="square" lIns="396000" tIns="88900" rIns="88900" bIns="88900" rtlCol="0" anchor="ctr"/>
          <a:lstStyle/>
          <a:p>
            <a:pPr>
              <a:buFont typeface="Wingdings 2" pitchFamily="18" charset="2"/>
              <a:buNone/>
            </a:pPr>
            <a:r>
              <a:rPr lang="en-US" sz="2800" b="1" dirty="0">
                <a:solidFill>
                  <a:schemeClr val="bg1"/>
                </a:solidFill>
                <a:latin typeface="Calibri Light" panose="020F0302020204030204" pitchFamily="34" charset="0"/>
                <a:cs typeface="Calibri Light" panose="020F0302020204030204" pitchFamily="34" charset="0"/>
              </a:rPr>
              <a:t>Select Credentials</a:t>
            </a:r>
          </a:p>
        </p:txBody>
      </p:sp>
      <p:grpSp>
        <p:nvGrpSpPr>
          <p:cNvPr id="5" name="Group 4">
            <a:extLst>
              <a:ext uri="{FF2B5EF4-FFF2-40B4-BE49-F238E27FC236}">
                <a16:creationId xmlns:a16="http://schemas.microsoft.com/office/drawing/2014/main" id="{FCF8A8CB-7327-45F8-9DD0-161329CA244F}"/>
              </a:ext>
            </a:extLst>
          </p:cNvPr>
          <p:cNvGrpSpPr/>
          <p:nvPr/>
        </p:nvGrpSpPr>
        <p:grpSpPr>
          <a:xfrm>
            <a:off x="9733457" y="4798696"/>
            <a:ext cx="1402578" cy="1397650"/>
            <a:chOff x="9718644" y="4783956"/>
            <a:chExt cx="1432160" cy="1427129"/>
          </a:xfrm>
        </p:grpSpPr>
        <p:sp>
          <p:nvSpPr>
            <p:cNvPr id="6" name="Pie 8">
              <a:extLst>
                <a:ext uri="{FF2B5EF4-FFF2-40B4-BE49-F238E27FC236}">
                  <a16:creationId xmlns:a16="http://schemas.microsoft.com/office/drawing/2014/main" id="{97A007AE-E67C-428B-B7B9-9E5D28B5169C}"/>
                </a:ext>
              </a:extLst>
            </p:cNvPr>
            <p:cNvSpPr/>
            <p:nvPr/>
          </p:nvSpPr>
          <p:spPr bwMode="gray">
            <a:xfrm rot="13500000">
              <a:off x="9723677" y="4783959"/>
              <a:ext cx="1427127" cy="1427126"/>
            </a:xfrm>
            <a:prstGeom prst="pie">
              <a:avLst>
                <a:gd name="adj1" fmla="val 5389768"/>
                <a:gd name="adj2" fmla="val 10751584"/>
              </a:avLst>
            </a:prstGeom>
            <a:solidFill>
              <a:srgbClr val="00ABAB">
                <a:alpha val="50000"/>
              </a:srgbClr>
            </a:solidFill>
            <a:ln w="19050" algn="ctr">
              <a:noFill/>
              <a:miter lim="800000"/>
              <a:headEnd/>
              <a:tailEnd/>
            </a:ln>
          </p:spPr>
          <p:txBody>
            <a:bodyPr wrap="square" lIns="77938" tIns="77938" rIns="77938" bIns="77938" rtlCol="0" anchor="ctr"/>
            <a:lstStyle/>
            <a:p>
              <a:pPr algn="ctr">
                <a:lnSpc>
                  <a:spcPct val="106000"/>
                </a:lnSpc>
                <a:buFont typeface="Wingdings 2" pitchFamily="18" charset="2"/>
                <a:buNone/>
              </a:pPr>
              <a:endParaRPr lang="en-IN" sz="1403" b="1" dirty="0">
                <a:solidFill>
                  <a:schemeClr val="bg1"/>
                </a:solidFill>
              </a:endParaRPr>
            </a:p>
          </p:txBody>
        </p:sp>
        <p:sp>
          <p:nvSpPr>
            <p:cNvPr id="7" name="Pie 9">
              <a:extLst>
                <a:ext uri="{FF2B5EF4-FFF2-40B4-BE49-F238E27FC236}">
                  <a16:creationId xmlns:a16="http://schemas.microsoft.com/office/drawing/2014/main" id="{79410807-BF7F-4DDD-8C32-94926876177D}"/>
                </a:ext>
              </a:extLst>
            </p:cNvPr>
            <p:cNvSpPr/>
            <p:nvPr/>
          </p:nvSpPr>
          <p:spPr bwMode="gray">
            <a:xfrm rot="2700000">
              <a:off x="9718642" y="4783958"/>
              <a:ext cx="1427129" cy="1427126"/>
            </a:xfrm>
            <a:prstGeom prst="pie">
              <a:avLst>
                <a:gd name="adj1" fmla="val 5389768"/>
                <a:gd name="adj2" fmla="val 10751584"/>
              </a:avLst>
            </a:prstGeom>
            <a:solidFill>
              <a:srgbClr val="00ABAB">
                <a:alpha val="50000"/>
              </a:srgbClr>
            </a:solidFill>
            <a:ln w="19050" algn="ctr">
              <a:noFill/>
              <a:miter lim="800000"/>
              <a:headEnd/>
              <a:tailEnd/>
            </a:ln>
          </p:spPr>
          <p:txBody>
            <a:bodyPr wrap="square" lIns="77938" tIns="77938" rIns="77938" bIns="77938" rtlCol="0" anchor="ctr"/>
            <a:lstStyle/>
            <a:p>
              <a:pPr algn="ctr">
                <a:lnSpc>
                  <a:spcPct val="106000"/>
                </a:lnSpc>
                <a:buFont typeface="Wingdings 2" pitchFamily="18" charset="2"/>
                <a:buNone/>
              </a:pPr>
              <a:endParaRPr lang="en-IN" sz="1403" b="1" dirty="0">
                <a:solidFill>
                  <a:schemeClr val="bg1"/>
                </a:solidFill>
              </a:endParaRPr>
            </a:p>
          </p:txBody>
        </p:sp>
      </p:grpSp>
      <p:sp>
        <p:nvSpPr>
          <p:cNvPr id="8" name="Oval 7">
            <a:extLst>
              <a:ext uri="{FF2B5EF4-FFF2-40B4-BE49-F238E27FC236}">
                <a16:creationId xmlns:a16="http://schemas.microsoft.com/office/drawing/2014/main" id="{F80C2722-EEE4-4BF0-B0B7-1135E3A8E630}"/>
              </a:ext>
            </a:extLst>
          </p:cNvPr>
          <p:cNvSpPr/>
          <p:nvPr/>
        </p:nvSpPr>
        <p:spPr bwMode="gray">
          <a:xfrm rot="2700000">
            <a:off x="10010345" y="5063458"/>
            <a:ext cx="887686" cy="887685"/>
          </a:xfrm>
          <a:prstGeom prst="ellipse">
            <a:avLst/>
          </a:prstGeom>
          <a:solidFill>
            <a:srgbClr val="00ABAB"/>
          </a:solidFill>
          <a:ln w="25400" cap="rnd" algn="ctr">
            <a:solidFill>
              <a:schemeClr val="accent6">
                <a:lumMod val="60000"/>
                <a:lumOff val="40000"/>
              </a:schemeClr>
            </a:solidFill>
            <a:prstDash val="sysDash"/>
            <a:round/>
            <a:headEnd/>
            <a:tailEnd/>
          </a:ln>
          <a:effectLst/>
        </p:spPr>
        <p:txBody>
          <a:bodyPr wrap="square" lIns="77938" tIns="77938" rIns="77938" bIns="77938" rtlCol="0" anchor="ctr"/>
          <a:lstStyle/>
          <a:p>
            <a:pPr algn="ctr">
              <a:lnSpc>
                <a:spcPct val="106000"/>
              </a:lnSpc>
              <a:buFont typeface="Wingdings 2" pitchFamily="18" charset="2"/>
              <a:buNone/>
            </a:pPr>
            <a:endParaRPr lang="en-IN" sz="1403" b="1" dirty="0">
              <a:solidFill>
                <a:schemeClr val="bg1"/>
              </a:solidFill>
            </a:endParaRPr>
          </a:p>
        </p:txBody>
      </p:sp>
      <p:grpSp>
        <p:nvGrpSpPr>
          <p:cNvPr id="12" name="Group 675">
            <a:extLst>
              <a:ext uri="{FF2B5EF4-FFF2-40B4-BE49-F238E27FC236}">
                <a16:creationId xmlns:a16="http://schemas.microsoft.com/office/drawing/2014/main" id="{A17B80F5-2ED4-4E6C-B561-3F0D0E6C84D6}"/>
              </a:ext>
            </a:extLst>
          </p:cNvPr>
          <p:cNvGrpSpPr>
            <a:grpSpLocks/>
          </p:cNvGrpSpPr>
          <p:nvPr/>
        </p:nvGrpSpPr>
        <p:grpSpPr bwMode="auto">
          <a:xfrm>
            <a:off x="10180821" y="5245486"/>
            <a:ext cx="502920" cy="502920"/>
            <a:chOff x="6583" y="2681"/>
            <a:chExt cx="340" cy="340"/>
          </a:xfrm>
          <a:solidFill>
            <a:schemeClr val="bg1"/>
          </a:solidFill>
        </p:grpSpPr>
        <p:sp>
          <p:nvSpPr>
            <p:cNvPr id="13" name="Freeform 676">
              <a:extLst>
                <a:ext uri="{FF2B5EF4-FFF2-40B4-BE49-F238E27FC236}">
                  <a16:creationId xmlns:a16="http://schemas.microsoft.com/office/drawing/2014/main" id="{0B22FE12-93EC-4904-9B76-E0E9ED96FC0A}"/>
                </a:ext>
              </a:extLst>
            </p:cNvPr>
            <p:cNvSpPr>
              <a:spLocks noEditPoints="1"/>
            </p:cNvSpPr>
            <p:nvPr/>
          </p:nvSpPr>
          <p:spPr bwMode="auto">
            <a:xfrm>
              <a:off x="6583" y="268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4" name="Freeform 677">
              <a:extLst>
                <a:ext uri="{FF2B5EF4-FFF2-40B4-BE49-F238E27FC236}">
                  <a16:creationId xmlns:a16="http://schemas.microsoft.com/office/drawing/2014/main" id="{BC271D8A-8EDE-450C-9DDF-6B7379CB2BA7}"/>
                </a:ext>
              </a:extLst>
            </p:cNvPr>
            <p:cNvSpPr>
              <a:spLocks noEditPoints="1"/>
            </p:cNvSpPr>
            <p:nvPr/>
          </p:nvSpPr>
          <p:spPr bwMode="auto">
            <a:xfrm>
              <a:off x="6672" y="2741"/>
              <a:ext cx="162" cy="224"/>
            </a:xfrm>
            <a:custGeom>
              <a:avLst/>
              <a:gdLst>
                <a:gd name="T0" fmla="*/ 233 w 244"/>
                <a:gd name="T1" fmla="*/ 122 h 336"/>
                <a:gd name="T2" fmla="*/ 241 w 244"/>
                <a:gd name="T3" fmla="*/ 90 h 336"/>
                <a:gd name="T4" fmla="*/ 218 w 244"/>
                <a:gd name="T5" fmla="*/ 67 h 336"/>
                <a:gd name="T6" fmla="*/ 209 w 244"/>
                <a:gd name="T7" fmla="*/ 35 h 336"/>
                <a:gd name="T8" fmla="*/ 177 w 244"/>
                <a:gd name="T9" fmla="*/ 26 h 336"/>
                <a:gd name="T10" fmla="*/ 154 w 244"/>
                <a:gd name="T11" fmla="*/ 2 h 336"/>
                <a:gd name="T12" fmla="*/ 122 w 244"/>
                <a:gd name="T13" fmla="*/ 11 h 336"/>
                <a:gd name="T14" fmla="*/ 90 w 244"/>
                <a:gd name="T15" fmla="*/ 2 h 336"/>
                <a:gd name="T16" fmla="*/ 66 w 244"/>
                <a:gd name="T17" fmla="*/ 26 h 336"/>
                <a:gd name="T18" fmla="*/ 34 w 244"/>
                <a:gd name="T19" fmla="*/ 35 h 336"/>
                <a:gd name="T20" fmla="*/ 26 w 244"/>
                <a:gd name="T21" fmla="*/ 67 h 336"/>
                <a:gd name="T22" fmla="*/ 2 w 244"/>
                <a:gd name="T23" fmla="*/ 90 h 336"/>
                <a:gd name="T24" fmla="*/ 11 w 244"/>
                <a:gd name="T25" fmla="*/ 122 h 336"/>
                <a:gd name="T26" fmla="*/ 2 w 244"/>
                <a:gd name="T27" fmla="*/ 154 h 336"/>
                <a:gd name="T28" fmla="*/ 26 w 244"/>
                <a:gd name="T29" fmla="*/ 177 h 336"/>
                <a:gd name="T30" fmla="*/ 34 w 244"/>
                <a:gd name="T31" fmla="*/ 209 h 336"/>
                <a:gd name="T32" fmla="*/ 58 w 244"/>
                <a:gd name="T33" fmla="*/ 217 h 336"/>
                <a:gd name="T34" fmla="*/ 63 w 244"/>
                <a:gd name="T35" fmla="*/ 334 h 336"/>
                <a:gd name="T36" fmla="*/ 122 w 244"/>
                <a:gd name="T37" fmla="*/ 305 h 336"/>
                <a:gd name="T38" fmla="*/ 175 w 244"/>
                <a:gd name="T39" fmla="*/ 335 h 336"/>
                <a:gd name="T40" fmla="*/ 186 w 244"/>
                <a:gd name="T41" fmla="*/ 325 h 336"/>
                <a:gd name="T42" fmla="*/ 186 w 244"/>
                <a:gd name="T43" fmla="*/ 217 h 336"/>
                <a:gd name="T44" fmla="*/ 217 w 244"/>
                <a:gd name="T45" fmla="*/ 187 h 336"/>
                <a:gd name="T46" fmla="*/ 225 w 244"/>
                <a:gd name="T47" fmla="*/ 172 h 336"/>
                <a:gd name="T48" fmla="*/ 236 w 244"/>
                <a:gd name="T49" fmla="*/ 131 h 336"/>
                <a:gd name="T50" fmla="*/ 116 w 244"/>
                <a:gd name="T51" fmla="*/ 284 h 336"/>
                <a:gd name="T52" fmla="*/ 79 w 244"/>
                <a:gd name="T53" fmla="*/ 235 h 336"/>
                <a:gd name="T54" fmla="*/ 95 w 244"/>
                <a:gd name="T55" fmla="*/ 242 h 336"/>
                <a:gd name="T56" fmla="*/ 122 w 244"/>
                <a:gd name="T57" fmla="*/ 233 h 336"/>
                <a:gd name="T58" fmla="*/ 154 w 244"/>
                <a:gd name="T59" fmla="*/ 242 h 336"/>
                <a:gd name="T60" fmla="*/ 164 w 244"/>
                <a:gd name="T61" fmla="*/ 306 h 336"/>
                <a:gd name="T62" fmla="*/ 213 w 244"/>
                <a:gd name="T63" fmla="*/ 154 h 336"/>
                <a:gd name="T64" fmla="*/ 195 w 244"/>
                <a:gd name="T65" fmla="*/ 185 h 336"/>
                <a:gd name="T66" fmla="*/ 185 w 244"/>
                <a:gd name="T67" fmla="*/ 195 h 336"/>
                <a:gd name="T68" fmla="*/ 154 w 244"/>
                <a:gd name="T69" fmla="*/ 212 h 336"/>
                <a:gd name="T70" fmla="*/ 148 w 244"/>
                <a:gd name="T71" fmla="*/ 218 h 336"/>
                <a:gd name="T72" fmla="*/ 122 w 244"/>
                <a:gd name="T73" fmla="*/ 212 h 336"/>
                <a:gd name="T74" fmla="*/ 95 w 244"/>
                <a:gd name="T75" fmla="*/ 221 h 336"/>
                <a:gd name="T76" fmla="*/ 77 w 244"/>
                <a:gd name="T77" fmla="*/ 200 h 336"/>
                <a:gd name="T78" fmla="*/ 49 w 244"/>
                <a:gd name="T79" fmla="*/ 195 h 336"/>
                <a:gd name="T80" fmla="*/ 44 w 244"/>
                <a:gd name="T81" fmla="*/ 167 h 336"/>
                <a:gd name="T82" fmla="*/ 23 w 244"/>
                <a:gd name="T83" fmla="*/ 149 h 336"/>
                <a:gd name="T84" fmla="*/ 32 w 244"/>
                <a:gd name="T85" fmla="*/ 122 h 336"/>
                <a:gd name="T86" fmla="*/ 23 w 244"/>
                <a:gd name="T87" fmla="*/ 96 h 336"/>
                <a:gd name="T88" fmla="*/ 44 w 244"/>
                <a:gd name="T89" fmla="*/ 77 h 336"/>
                <a:gd name="T90" fmla="*/ 49 w 244"/>
                <a:gd name="T91" fmla="*/ 50 h 336"/>
                <a:gd name="T92" fmla="*/ 77 w 244"/>
                <a:gd name="T93" fmla="*/ 45 h 336"/>
                <a:gd name="T94" fmla="*/ 95 w 244"/>
                <a:gd name="T95" fmla="*/ 26 h 336"/>
                <a:gd name="T96" fmla="*/ 103 w 244"/>
                <a:gd name="T97" fmla="*/ 28 h 336"/>
                <a:gd name="T98" fmla="*/ 140 w 244"/>
                <a:gd name="T99" fmla="*/ 27 h 336"/>
                <a:gd name="T100" fmla="*/ 154 w 244"/>
                <a:gd name="T101" fmla="*/ 30 h 336"/>
                <a:gd name="T102" fmla="*/ 185 w 244"/>
                <a:gd name="T103" fmla="*/ 48 h 336"/>
                <a:gd name="T104" fmla="*/ 195 w 244"/>
                <a:gd name="T105" fmla="*/ 59 h 336"/>
                <a:gd name="T106" fmla="*/ 213 w 244"/>
                <a:gd name="T107" fmla="*/ 90 h 336"/>
                <a:gd name="T108" fmla="*/ 217 w 244"/>
                <a:gd name="T109" fmla="*/ 104 h 336"/>
                <a:gd name="T110" fmla="*/ 217 w 244"/>
                <a:gd name="T111" fmla="*/ 140 h 336"/>
                <a:gd name="T112" fmla="*/ 213 w 244"/>
                <a:gd name="T113" fmla="*/ 154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44" h="336">
                  <a:moveTo>
                    <a:pt x="236" y="131"/>
                  </a:moveTo>
                  <a:cubicBezTo>
                    <a:pt x="235" y="128"/>
                    <a:pt x="233" y="124"/>
                    <a:pt x="233" y="122"/>
                  </a:cubicBezTo>
                  <a:cubicBezTo>
                    <a:pt x="233" y="120"/>
                    <a:pt x="235" y="116"/>
                    <a:pt x="236" y="113"/>
                  </a:cubicBezTo>
                  <a:cubicBezTo>
                    <a:pt x="239" y="107"/>
                    <a:pt x="244" y="99"/>
                    <a:pt x="241" y="90"/>
                  </a:cubicBezTo>
                  <a:cubicBezTo>
                    <a:pt x="239" y="81"/>
                    <a:pt x="231" y="76"/>
                    <a:pt x="225" y="72"/>
                  </a:cubicBezTo>
                  <a:cubicBezTo>
                    <a:pt x="222" y="70"/>
                    <a:pt x="219" y="68"/>
                    <a:pt x="218" y="67"/>
                  </a:cubicBezTo>
                  <a:cubicBezTo>
                    <a:pt x="217" y="65"/>
                    <a:pt x="217" y="61"/>
                    <a:pt x="217" y="57"/>
                  </a:cubicBezTo>
                  <a:cubicBezTo>
                    <a:pt x="216" y="50"/>
                    <a:pt x="216" y="41"/>
                    <a:pt x="209" y="35"/>
                  </a:cubicBezTo>
                  <a:cubicBezTo>
                    <a:pt x="203" y="28"/>
                    <a:pt x="194" y="28"/>
                    <a:pt x="186" y="27"/>
                  </a:cubicBezTo>
                  <a:cubicBezTo>
                    <a:pt x="183" y="27"/>
                    <a:pt x="179" y="27"/>
                    <a:pt x="177" y="26"/>
                  </a:cubicBezTo>
                  <a:cubicBezTo>
                    <a:pt x="176" y="25"/>
                    <a:pt x="173" y="21"/>
                    <a:pt x="172" y="19"/>
                  </a:cubicBezTo>
                  <a:cubicBezTo>
                    <a:pt x="168" y="13"/>
                    <a:pt x="163" y="5"/>
                    <a:pt x="154" y="2"/>
                  </a:cubicBezTo>
                  <a:cubicBezTo>
                    <a:pt x="145" y="0"/>
                    <a:pt x="137" y="4"/>
                    <a:pt x="130" y="8"/>
                  </a:cubicBezTo>
                  <a:cubicBezTo>
                    <a:pt x="128" y="9"/>
                    <a:pt x="123" y="11"/>
                    <a:pt x="122" y="11"/>
                  </a:cubicBezTo>
                  <a:cubicBezTo>
                    <a:pt x="120" y="11"/>
                    <a:pt x="116" y="9"/>
                    <a:pt x="113" y="8"/>
                  </a:cubicBezTo>
                  <a:cubicBezTo>
                    <a:pt x="106" y="4"/>
                    <a:pt x="98" y="0"/>
                    <a:pt x="90" y="2"/>
                  </a:cubicBezTo>
                  <a:cubicBezTo>
                    <a:pt x="81" y="5"/>
                    <a:pt x="76" y="13"/>
                    <a:pt x="72" y="19"/>
                  </a:cubicBezTo>
                  <a:cubicBezTo>
                    <a:pt x="70" y="21"/>
                    <a:pt x="68" y="25"/>
                    <a:pt x="66" y="26"/>
                  </a:cubicBezTo>
                  <a:cubicBezTo>
                    <a:pt x="65" y="27"/>
                    <a:pt x="60" y="27"/>
                    <a:pt x="57" y="27"/>
                  </a:cubicBezTo>
                  <a:cubicBezTo>
                    <a:pt x="50" y="28"/>
                    <a:pt x="41" y="28"/>
                    <a:pt x="34" y="35"/>
                  </a:cubicBezTo>
                  <a:cubicBezTo>
                    <a:pt x="28" y="41"/>
                    <a:pt x="27" y="50"/>
                    <a:pt x="27" y="57"/>
                  </a:cubicBezTo>
                  <a:cubicBezTo>
                    <a:pt x="27" y="61"/>
                    <a:pt x="26" y="65"/>
                    <a:pt x="26" y="67"/>
                  </a:cubicBezTo>
                  <a:cubicBezTo>
                    <a:pt x="25" y="68"/>
                    <a:pt x="21" y="70"/>
                    <a:pt x="18" y="72"/>
                  </a:cubicBezTo>
                  <a:cubicBezTo>
                    <a:pt x="12" y="76"/>
                    <a:pt x="5" y="81"/>
                    <a:pt x="2" y="90"/>
                  </a:cubicBezTo>
                  <a:cubicBezTo>
                    <a:pt x="0" y="99"/>
                    <a:pt x="4" y="107"/>
                    <a:pt x="7" y="113"/>
                  </a:cubicBezTo>
                  <a:cubicBezTo>
                    <a:pt x="9" y="116"/>
                    <a:pt x="11" y="120"/>
                    <a:pt x="11" y="122"/>
                  </a:cubicBezTo>
                  <a:cubicBezTo>
                    <a:pt x="11" y="124"/>
                    <a:pt x="9" y="128"/>
                    <a:pt x="7" y="131"/>
                  </a:cubicBezTo>
                  <a:cubicBezTo>
                    <a:pt x="4" y="137"/>
                    <a:pt x="0" y="145"/>
                    <a:pt x="2" y="154"/>
                  </a:cubicBezTo>
                  <a:cubicBezTo>
                    <a:pt x="5" y="163"/>
                    <a:pt x="12" y="168"/>
                    <a:pt x="18" y="172"/>
                  </a:cubicBezTo>
                  <a:cubicBezTo>
                    <a:pt x="21" y="174"/>
                    <a:pt x="25" y="176"/>
                    <a:pt x="26" y="177"/>
                  </a:cubicBezTo>
                  <a:cubicBezTo>
                    <a:pt x="26" y="179"/>
                    <a:pt x="27" y="183"/>
                    <a:pt x="27" y="187"/>
                  </a:cubicBezTo>
                  <a:cubicBezTo>
                    <a:pt x="27" y="194"/>
                    <a:pt x="28" y="203"/>
                    <a:pt x="34" y="209"/>
                  </a:cubicBezTo>
                  <a:cubicBezTo>
                    <a:pt x="41" y="216"/>
                    <a:pt x="50" y="216"/>
                    <a:pt x="57" y="217"/>
                  </a:cubicBezTo>
                  <a:cubicBezTo>
                    <a:pt x="57" y="217"/>
                    <a:pt x="57" y="217"/>
                    <a:pt x="58" y="217"/>
                  </a:cubicBezTo>
                  <a:cubicBezTo>
                    <a:pt x="58" y="325"/>
                    <a:pt x="58" y="325"/>
                    <a:pt x="58" y="325"/>
                  </a:cubicBezTo>
                  <a:cubicBezTo>
                    <a:pt x="58" y="329"/>
                    <a:pt x="60" y="332"/>
                    <a:pt x="63" y="334"/>
                  </a:cubicBezTo>
                  <a:cubicBezTo>
                    <a:pt x="66" y="336"/>
                    <a:pt x="71" y="336"/>
                    <a:pt x="74" y="334"/>
                  </a:cubicBezTo>
                  <a:cubicBezTo>
                    <a:pt x="122" y="305"/>
                    <a:pt x="122" y="305"/>
                    <a:pt x="122" y="305"/>
                  </a:cubicBezTo>
                  <a:cubicBezTo>
                    <a:pt x="170" y="334"/>
                    <a:pt x="170" y="334"/>
                    <a:pt x="170" y="334"/>
                  </a:cubicBezTo>
                  <a:cubicBezTo>
                    <a:pt x="171" y="335"/>
                    <a:pt x="173" y="335"/>
                    <a:pt x="175" y="335"/>
                  </a:cubicBezTo>
                  <a:cubicBezTo>
                    <a:pt x="177" y="335"/>
                    <a:pt x="179" y="335"/>
                    <a:pt x="180" y="334"/>
                  </a:cubicBezTo>
                  <a:cubicBezTo>
                    <a:pt x="184" y="332"/>
                    <a:pt x="186" y="329"/>
                    <a:pt x="186" y="325"/>
                  </a:cubicBezTo>
                  <a:cubicBezTo>
                    <a:pt x="186" y="217"/>
                    <a:pt x="186" y="217"/>
                    <a:pt x="186" y="217"/>
                  </a:cubicBezTo>
                  <a:cubicBezTo>
                    <a:pt x="186" y="217"/>
                    <a:pt x="186" y="217"/>
                    <a:pt x="186" y="217"/>
                  </a:cubicBezTo>
                  <a:cubicBezTo>
                    <a:pt x="194" y="216"/>
                    <a:pt x="203" y="216"/>
                    <a:pt x="209" y="209"/>
                  </a:cubicBezTo>
                  <a:cubicBezTo>
                    <a:pt x="216" y="203"/>
                    <a:pt x="216" y="194"/>
                    <a:pt x="217" y="187"/>
                  </a:cubicBezTo>
                  <a:cubicBezTo>
                    <a:pt x="217" y="183"/>
                    <a:pt x="217" y="179"/>
                    <a:pt x="218" y="177"/>
                  </a:cubicBezTo>
                  <a:cubicBezTo>
                    <a:pt x="219" y="176"/>
                    <a:pt x="222" y="174"/>
                    <a:pt x="225" y="172"/>
                  </a:cubicBezTo>
                  <a:cubicBezTo>
                    <a:pt x="231" y="168"/>
                    <a:pt x="239" y="163"/>
                    <a:pt x="241" y="154"/>
                  </a:cubicBezTo>
                  <a:cubicBezTo>
                    <a:pt x="244" y="145"/>
                    <a:pt x="239" y="137"/>
                    <a:pt x="236" y="131"/>
                  </a:cubicBezTo>
                  <a:close/>
                  <a:moveTo>
                    <a:pt x="127" y="284"/>
                  </a:moveTo>
                  <a:cubicBezTo>
                    <a:pt x="124" y="282"/>
                    <a:pt x="120" y="282"/>
                    <a:pt x="116" y="284"/>
                  </a:cubicBezTo>
                  <a:cubicBezTo>
                    <a:pt x="79" y="306"/>
                    <a:pt x="79" y="306"/>
                    <a:pt x="79" y="306"/>
                  </a:cubicBezTo>
                  <a:cubicBezTo>
                    <a:pt x="79" y="235"/>
                    <a:pt x="79" y="235"/>
                    <a:pt x="79" y="235"/>
                  </a:cubicBezTo>
                  <a:cubicBezTo>
                    <a:pt x="82" y="238"/>
                    <a:pt x="85" y="240"/>
                    <a:pt x="90" y="242"/>
                  </a:cubicBezTo>
                  <a:cubicBezTo>
                    <a:pt x="91" y="242"/>
                    <a:pt x="93" y="242"/>
                    <a:pt x="95" y="242"/>
                  </a:cubicBezTo>
                  <a:cubicBezTo>
                    <a:pt x="102" y="242"/>
                    <a:pt x="108" y="239"/>
                    <a:pt x="113" y="236"/>
                  </a:cubicBezTo>
                  <a:cubicBezTo>
                    <a:pt x="116" y="235"/>
                    <a:pt x="120" y="233"/>
                    <a:pt x="122" y="233"/>
                  </a:cubicBezTo>
                  <a:cubicBezTo>
                    <a:pt x="123" y="233"/>
                    <a:pt x="128" y="235"/>
                    <a:pt x="130" y="236"/>
                  </a:cubicBezTo>
                  <a:cubicBezTo>
                    <a:pt x="137" y="240"/>
                    <a:pt x="145" y="244"/>
                    <a:pt x="154" y="242"/>
                  </a:cubicBezTo>
                  <a:cubicBezTo>
                    <a:pt x="158" y="240"/>
                    <a:pt x="161" y="238"/>
                    <a:pt x="164" y="235"/>
                  </a:cubicBezTo>
                  <a:cubicBezTo>
                    <a:pt x="164" y="306"/>
                    <a:pt x="164" y="306"/>
                    <a:pt x="164" y="306"/>
                  </a:cubicBezTo>
                  <a:lnTo>
                    <a:pt x="127" y="284"/>
                  </a:lnTo>
                  <a:close/>
                  <a:moveTo>
                    <a:pt x="213" y="154"/>
                  </a:moveTo>
                  <a:cubicBezTo>
                    <a:pt x="208" y="157"/>
                    <a:pt x="203" y="161"/>
                    <a:pt x="199" y="167"/>
                  </a:cubicBezTo>
                  <a:cubicBezTo>
                    <a:pt x="196" y="173"/>
                    <a:pt x="196" y="179"/>
                    <a:pt x="195" y="185"/>
                  </a:cubicBezTo>
                  <a:cubicBezTo>
                    <a:pt x="195" y="188"/>
                    <a:pt x="195" y="193"/>
                    <a:pt x="194" y="194"/>
                  </a:cubicBezTo>
                  <a:cubicBezTo>
                    <a:pt x="193" y="195"/>
                    <a:pt x="188" y="195"/>
                    <a:pt x="185" y="195"/>
                  </a:cubicBezTo>
                  <a:cubicBezTo>
                    <a:pt x="179" y="195"/>
                    <a:pt x="172" y="195"/>
                    <a:pt x="166" y="199"/>
                  </a:cubicBezTo>
                  <a:cubicBezTo>
                    <a:pt x="161" y="202"/>
                    <a:pt x="157" y="207"/>
                    <a:pt x="154" y="212"/>
                  </a:cubicBezTo>
                  <a:cubicBezTo>
                    <a:pt x="152" y="215"/>
                    <a:pt x="149" y="218"/>
                    <a:pt x="148" y="218"/>
                  </a:cubicBezTo>
                  <a:cubicBezTo>
                    <a:pt x="148" y="218"/>
                    <a:pt x="148" y="218"/>
                    <a:pt x="148" y="218"/>
                  </a:cubicBezTo>
                  <a:cubicBezTo>
                    <a:pt x="147" y="218"/>
                    <a:pt x="143" y="217"/>
                    <a:pt x="140" y="216"/>
                  </a:cubicBezTo>
                  <a:cubicBezTo>
                    <a:pt x="135" y="213"/>
                    <a:pt x="129" y="212"/>
                    <a:pt x="122" y="212"/>
                  </a:cubicBezTo>
                  <a:cubicBezTo>
                    <a:pt x="115" y="212"/>
                    <a:pt x="109" y="215"/>
                    <a:pt x="103" y="217"/>
                  </a:cubicBezTo>
                  <a:cubicBezTo>
                    <a:pt x="101" y="219"/>
                    <a:pt x="96" y="221"/>
                    <a:pt x="95" y="221"/>
                  </a:cubicBezTo>
                  <a:cubicBezTo>
                    <a:pt x="94" y="220"/>
                    <a:pt x="91" y="216"/>
                    <a:pt x="90" y="214"/>
                  </a:cubicBezTo>
                  <a:cubicBezTo>
                    <a:pt x="86" y="209"/>
                    <a:pt x="83" y="203"/>
                    <a:pt x="77" y="200"/>
                  </a:cubicBezTo>
                  <a:cubicBezTo>
                    <a:pt x="71" y="196"/>
                    <a:pt x="64" y="196"/>
                    <a:pt x="58" y="196"/>
                  </a:cubicBezTo>
                  <a:cubicBezTo>
                    <a:pt x="55" y="195"/>
                    <a:pt x="50" y="195"/>
                    <a:pt x="49" y="195"/>
                  </a:cubicBezTo>
                  <a:cubicBezTo>
                    <a:pt x="49" y="193"/>
                    <a:pt x="48" y="188"/>
                    <a:pt x="48" y="185"/>
                  </a:cubicBezTo>
                  <a:cubicBezTo>
                    <a:pt x="48" y="179"/>
                    <a:pt x="47" y="173"/>
                    <a:pt x="44" y="167"/>
                  </a:cubicBezTo>
                  <a:cubicBezTo>
                    <a:pt x="41" y="161"/>
                    <a:pt x="35" y="157"/>
                    <a:pt x="30" y="154"/>
                  </a:cubicBezTo>
                  <a:cubicBezTo>
                    <a:pt x="28" y="152"/>
                    <a:pt x="23" y="150"/>
                    <a:pt x="23" y="149"/>
                  </a:cubicBezTo>
                  <a:cubicBezTo>
                    <a:pt x="23" y="147"/>
                    <a:pt x="25" y="143"/>
                    <a:pt x="26" y="140"/>
                  </a:cubicBezTo>
                  <a:cubicBezTo>
                    <a:pt x="29" y="135"/>
                    <a:pt x="32" y="129"/>
                    <a:pt x="32" y="122"/>
                  </a:cubicBezTo>
                  <a:cubicBezTo>
                    <a:pt x="32" y="115"/>
                    <a:pt x="29" y="109"/>
                    <a:pt x="26" y="104"/>
                  </a:cubicBezTo>
                  <a:cubicBezTo>
                    <a:pt x="25" y="101"/>
                    <a:pt x="23" y="97"/>
                    <a:pt x="23" y="96"/>
                  </a:cubicBezTo>
                  <a:cubicBezTo>
                    <a:pt x="23" y="94"/>
                    <a:pt x="28" y="92"/>
                    <a:pt x="30" y="90"/>
                  </a:cubicBezTo>
                  <a:cubicBezTo>
                    <a:pt x="35" y="87"/>
                    <a:pt x="41" y="83"/>
                    <a:pt x="44" y="77"/>
                  </a:cubicBezTo>
                  <a:cubicBezTo>
                    <a:pt x="47" y="71"/>
                    <a:pt x="48" y="65"/>
                    <a:pt x="48" y="59"/>
                  </a:cubicBezTo>
                  <a:cubicBezTo>
                    <a:pt x="48" y="56"/>
                    <a:pt x="49" y="51"/>
                    <a:pt x="49" y="50"/>
                  </a:cubicBezTo>
                  <a:cubicBezTo>
                    <a:pt x="50" y="49"/>
                    <a:pt x="55" y="49"/>
                    <a:pt x="58" y="49"/>
                  </a:cubicBezTo>
                  <a:cubicBezTo>
                    <a:pt x="64" y="49"/>
                    <a:pt x="71" y="49"/>
                    <a:pt x="77" y="45"/>
                  </a:cubicBezTo>
                  <a:cubicBezTo>
                    <a:pt x="83" y="42"/>
                    <a:pt x="86" y="37"/>
                    <a:pt x="90" y="32"/>
                  </a:cubicBezTo>
                  <a:cubicBezTo>
                    <a:pt x="91" y="29"/>
                    <a:pt x="94" y="26"/>
                    <a:pt x="95" y="26"/>
                  </a:cubicBezTo>
                  <a:cubicBezTo>
                    <a:pt x="95" y="26"/>
                    <a:pt x="95" y="26"/>
                    <a:pt x="95" y="26"/>
                  </a:cubicBezTo>
                  <a:cubicBezTo>
                    <a:pt x="96" y="26"/>
                    <a:pt x="101" y="27"/>
                    <a:pt x="103" y="28"/>
                  </a:cubicBezTo>
                  <a:cubicBezTo>
                    <a:pt x="109" y="31"/>
                    <a:pt x="115" y="32"/>
                    <a:pt x="122" y="32"/>
                  </a:cubicBezTo>
                  <a:cubicBezTo>
                    <a:pt x="129" y="32"/>
                    <a:pt x="135" y="29"/>
                    <a:pt x="140" y="27"/>
                  </a:cubicBezTo>
                  <a:cubicBezTo>
                    <a:pt x="143" y="25"/>
                    <a:pt x="147" y="23"/>
                    <a:pt x="148" y="23"/>
                  </a:cubicBezTo>
                  <a:cubicBezTo>
                    <a:pt x="149" y="24"/>
                    <a:pt x="152" y="28"/>
                    <a:pt x="154" y="30"/>
                  </a:cubicBezTo>
                  <a:cubicBezTo>
                    <a:pt x="157" y="35"/>
                    <a:pt x="161" y="41"/>
                    <a:pt x="166" y="44"/>
                  </a:cubicBezTo>
                  <a:cubicBezTo>
                    <a:pt x="172" y="48"/>
                    <a:pt x="179" y="48"/>
                    <a:pt x="185" y="48"/>
                  </a:cubicBezTo>
                  <a:cubicBezTo>
                    <a:pt x="188" y="49"/>
                    <a:pt x="193" y="49"/>
                    <a:pt x="194" y="49"/>
                  </a:cubicBezTo>
                  <a:cubicBezTo>
                    <a:pt x="195" y="51"/>
                    <a:pt x="195" y="56"/>
                    <a:pt x="195" y="59"/>
                  </a:cubicBezTo>
                  <a:cubicBezTo>
                    <a:pt x="196" y="65"/>
                    <a:pt x="196" y="71"/>
                    <a:pt x="199" y="77"/>
                  </a:cubicBezTo>
                  <a:cubicBezTo>
                    <a:pt x="203" y="83"/>
                    <a:pt x="208" y="87"/>
                    <a:pt x="213" y="90"/>
                  </a:cubicBezTo>
                  <a:cubicBezTo>
                    <a:pt x="216" y="92"/>
                    <a:pt x="220" y="94"/>
                    <a:pt x="221" y="95"/>
                  </a:cubicBezTo>
                  <a:cubicBezTo>
                    <a:pt x="221" y="97"/>
                    <a:pt x="218" y="101"/>
                    <a:pt x="217" y="104"/>
                  </a:cubicBezTo>
                  <a:cubicBezTo>
                    <a:pt x="214" y="109"/>
                    <a:pt x="211" y="115"/>
                    <a:pt x="211" y="122"/>
                  </a:cubicBezTo>
                  <a:cubicBezTo>
                    <a:pt x="211" y="129"/>
                    <a:pt x="214" y="135"/>
                    <a:pt x="217" y="140"/>
                  </a:cubicBezTo>
                  <a:cubicBezTo>
                    <a:pt x="218" y="143"/>
                    <a:pt x="221" y="147"/>
                    <a:pt x="221" y="148"/>
                  </a:cubicBezTo>
                  <a:cubicBezTo>
                    <a:pt x="220" y="150"/>
                    <a:pt x="216" y="152"/>
                    <a:pt x="213" y="15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sp>
          <p:nvSpPr>
            <p:cNvPr id="15" name="Freeform 678">
              <a:extLst>
                <a:ext uri="{FF2B5EF4-FFF2-40B4-BE49-F238E27FC236}">
                  <a16:creationId xmlns:a16="http://schemas.microsoft.com/office/drawing/2014/main" id="{825618CD-5BCE-4D5D-8DA7-BCA210A7C735}"/>
                </a:ext>
              </a:extLst>
            </p:cNvPr>
            <p:cNvSpPr>
              <a:spLocks noEditPoints="1"/>
            </p:cNvSpPr>
            <p:nvPr/>
          </p:nvSpPr>
          <p:spPr bwMode="auto">
            <a:xfrm>
              <a:off x="6717" y="2787"/>
              <a:ext cx="71" cy="71"/>
            </a:xfrm>
            <a:custGeom>
              <a:avLst/>
              <a:gdLst>
                <a:gd name="T0" fmla="*/ 54 w 107"/>
                <a:gd name="T1" fmla="*/ 0 h 106"/>
                <a:gd name="T2" fmla="*/ 0 w 107"/>
                <a:gd name="T3" fmla="*/ 53 h 106"/>
                <a:gd name="T4" fmla="*/ 54 w 107"/>
                <a:gd name="T5" fmla="*/ 106 h 106"/>
                <a:gd name="T6" fmla="*/ 107 w 107"/>
                <a:gd name="T7" fmla="*/ 53 h 106"/>
                <a:gd name="T8" fmla="*/ 54 w 107"/>
                <a:gd name="T9" fmla="*/ 0 h 106"/>
                <a:gd name="T10" fmla="*/ 54 w 107"/>
                <a:gd name="T11" fmla="*/ 85 h 106"/>
                <a:gd name="T12" fmla="*/ 22 w 107"/>
                <a:gd name="T13" fmla="*/ 53 h 106"/>
                <a:gd name="T14" fmla="*/ 54 w 107"/>
                <a:gd name="T15" fmla="*/ 21 h 106"/>
                <a:gd name="T16" fmla="*/ 86 w 107"/>
                <a:gd name="T17" fmla="*/ 53 h 106"/>
                <a:gd name="T18" fmla="*/ 54 w 107"/>
                <a:gd name="T19" fmla="*/ 85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 h="106">
                  <a:moveTo>
                    <a:pt x="54" y="0"/>
                  </a:moveTo>
                  <a:cubicBezTo>
                    <a:pt x="24" y="0"/>
                    <a:pt x="0" y="24"/>
                    <a:pt x="0" y="53"/>
                  </a:cubicBezTo>
                  <a:cubicBezTo>
                    <a:pt x="0" y="82"/>
                    <a:pt x="24" y="106"/>
                    <a:pt x="54" y="106"/>
                  </a:cubicBezTo>
                  <a:cubicBezTo>
                    <a:pt x="83" y="106"/>
                    <a:pt x="107" y="82"/>
                    <a:pt x="107" y="53"/>
                  </a:cubicBezTo>
                  <a:cubicBezTo>
                    <a:pt x="107" y="24"/>
                    <a:pt x="83" y="0"/>
                    <a:pt x="54" y="0"/>
                  </a:cubicBezTo>
                  <a:close/>
                  <a:moveTo>
                    <a:pt x="54" y="85"/>
                  </a:moveTo>
                  <a:cubicBezTo>
                    <a:pt x="36" y="85"/>
                    <a:pt x="22" y="71"/>
                    <a:pt x="22" y="53"/>
                  </a:cubicBezTo>
                  <a:cubicBezTo>
                    <a:pt x="22" y="35"/>
                    <a:pt x="36" y="21"/>
                    <a:pt x="54" y="21"/>
                  </a:cubicBezTo>
                  <a:cubicBezTo>
                    <a:pt x="71" y="21"/>
                    <a:pt x="86" y="35"/>
                    <a:pt x="86" y="53"/>
                  </a:cubicBezTo>
                  <a:cubicBezTo>
                    <a:pt x="86" y="71"/>
                    <a:pt x="71" y="85"/>
                    <a:pt x="54" y="8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1533219544"/>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Calibri" panose="020F0502020204030204" pitchFamily="34" charset="0"/>
                <a:cs typeface="Calibri" panose="020F0502020204030204" pitchFamily="34" charset="0"/>
              </a:rPr>
              <a:t>Our selected credentials</a:t>
            </a:r>
          </a:p>
        </p:txBody>
      </p:sp>
      <p:sp>
        <p:nvSpPr>
          <p:cNvPr id="3" name="Text Placeholder 2"/>
          <p:cNvSpPr>
            <a:spLocks noGrp="1"/>
          </p:cNvSpPr>
          <p:nvPr>
            <p:ph type="body" sz="quarter" idx="13"/>
          </p:nvPr>
        </p:nvSpPr>
        <p:spPr>
          <a:xfrm>
            <a:off x="469900" y="736688"/>
            <a:ext cx="11252200" cy="757255"/>
          </a:xfrm>
        </p:spPr>
        <p:txBody>
          <a:bodyPr/>
          <a:lstStyle/>
          <a:p>
            <a:r>
              <a:rPr lang="en-US" b="1" i="1" dirty="0">
                <a:latin typeface="Calibri" panose="020F0502020204030204" pitchFamily="34" charset="0"/>
                <a:cs typeface="Calibri" panose="020F0502020204030204" pitchFamily="34" charset="0"/>
              </a:rPr>
              <a:t>Category A</a:t>
            </a:r>
            <a:r>
              <a:rPr lang="en-US" dirty="0">
                <a:latin typeface="Calibri" panose="020F0502020204030204" pitchFamily="34" charset="0"/>
                <a:cs typeface="Calibri" panose="020F0502020204030204" pitchFamily="34" charset="0"/>
              </a:rPr>
              <a:t>: Experience in project management, program management, setting up a PMU for power distribution business for power distribution utilities in India</a:t>
            </a:r>
            <a:endParaRPr lang="en-IN" dirty="0">
              <a:latin typeface="Calibri" panose="020F0502020204030204" pitchFamily="34" charset="0"/>
              <a:cs typeface="Calibri" panose="020F0502020204030204" pitchFamily="34" charset="0"/>
            </a:endParaRPr>
          </a:p>
        </p:txBody>
      </p:sp>
      <p:sp>
        <p:nvSpPr>
          <p:cNvPr id="5" name="Rectangle 4"/>
          <p:cNvSpPr/>
          <p:nvPr/>
        </p:nvSpPr>
        <p:spPr bwMode="gray">
          <a:xfrm>
            <a:off x="360571"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6" name="Rectangle 5"/>
          <p:cNvSpPr/>
          <p:nvPr/>
        </p:nvSpPr>
        <p:spPr bwMode="gray">
          <a:xfrm>
            <a:off x="2019459"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7" name="TextBox 6"/>
          <p:cNvSpPr txBox="1"/>
          <p:nvPr/>
        </p:nvSpPr>
        <p:spPr>
          <a:xfrm>
            <a:off x="349685" y="1539259"/>
            <a:ext cx="1488108" cy="1000274"/>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ea typeface="Verdana" panose="020B0604030504040204" pitchFamily="34" charset="0"/>
                <a:cs typeface="Calibri" panose="020F0502020204030204" pitchFamily="34" charset="0"/>
              </a:rPr>
              <a:t>Project Management agency for implementation of DDUGJY and IPDS for DISCOMs in Rajasthan</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8" name="TextBox 7"/>
          <p:cNvSpPr txBox="1"/>
          <p:nvPr/>
        </p:nvSpPr>
        <p:spPr>
          <a:xfrm>
            <a:off x="2119791" y="1539259"/>
            <a:ext cx="1305578" cy="1200329"/>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Strategic Central Project Management Unit to Evaluate and Monitor Project Implementation</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9" name="Rectangle 8"/>
          <p:cNvSpPr/>
          <p:nvPr/>
        </p:nvSpPr>
        <p:spPr bwMode="gray">
          <a:xfrm>
            <a:off x="360571" y="3028525"/>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algn="ctr" defTabSz="1219170">
              <a:lnSpc>
                <a:spcPct val="106000"/>
              </a:lnSpc>
            </a:pPr>
            <a:r>
              <a:rPr lang="en-IN" sz="1300" dirty="0">
                <a:solidFill>
                  <a:srgbClr val="FFFFFF"/>
                </a:solidFill>
                <a:latin typeface="Calibri" panose="020F0502020204030204" pitchFamily="34" charset="0"/>
                <a:cs typeface="Calibri" panose="020F0502020204030204" pitchFamily="34" charset="0"/>
              </a:rPr>
              <a:t>JVVNL, </a:t>
            </a:r>
            <a:r>
              <a:rPr lang="en-IN" sz="1300" dirty="0" err="1">
                <a:solidFill>
                  <a:srgbClr val="FFFFFF"/>
                </a:solidFill>
                <a:latin typeface="Calibri" panose="020F0502020204030204" pitchFamily="34" charset="0"/>
                <a:cs typeface="Calibri" panose="020F0502020204030204" pitchFamily="34" charset="0"/>
              </a:rPr>
              <a:t>JdVVNL</a:t>
            </a:r>
            <a:r>
              <a:rPr lang="en-IN" sz="1300" dirty="0">
                <a:solidFill>
                  <a:srgbClr val="FFFFFF"/>
                </a:solidFill>
                <a:latin typeface="Calibri" panose="020F0502020204030204" pitchFamily="34" charset="0"/>
                <a:cs typeface="Calibri" panose="020F0502020204030204" pitchFamily="34" charset="0"/>
              </a:rPr>
              <a:t> &amp; AVVNL</a:t>
            </a:r>
          </a:p>
        </p:txBody>
      </p:sp>
      <p:sp>
        <p:nvSpPr>
          <p:cNvPr id="10" name="Rectangle 9"/>
          <p:cNvSpPr/>
          <p:nvPr/>
        </p:nvSpPr>
        <p:spPr bwMode="gray">
          <a:xfrm>
            <a:off x="2019459" y="3028525"/>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300" b="0"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JBVNL</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1" name="Rectangle 10"/>
          <p:cNvSpPr/>
          <p:nvPr/>
        </p:nvSpPr>
        <p:spPr bwMode="gray">
          <a:xfrm>
            <a:off x="3674796"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2" name="Rectangle 11"/>
          <p:cNvSpPr/>
          <p:nvPr/>
        </p:nvSpPr>
        <p:spPr bwMode="gray">
          <a:xfrm>
            <a:off x="5344570"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3" name="Rectangle 12"/>
          <p:cNvSpPr/>
          <p:nvPr/>
        </p:nvSpPr>
        <p:spPr bwMode="gray">
          <a:xfrm>
            <a:off x="7014344"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7" name="Rectangle 16"/>
          <p:cNvSpPr/>
          <p:nvPr/>
        </p:nvSpPr>
        <p:spPr bwMode="gray">
          <a:xfrm>
            <a:off x="3674796" y="3028525"/>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300" b="0"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JBVNL</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8" name="Rectangle 17"/>
          <p:cNvSpPr/>
          <p:nvPr/>
        </p:nvSpPr>
        <p:spPr bwMode="gray">
          <a:xfrm>
            <a:off x="5344570" y="3028525"/>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lvl="0" algn="ctr" defTabSz="1219170">
              <a:lnSpc>
                <a:spcPct val="106000"/>
              </a:lnSpc>
            </a:pPr>
            <a:r>
              <a:rPr lang="en-IN" sz="1300" dirty="0" err="1">
                <a:solidFill>
                  <a:srgbClr val="FFFFFF"/>
                </a:solidFill>
                <a:latin typeface="Calibri" panose="020F0502020204030204" pitchFamily="34" charset="0"/>
                <a:cs typeface="Calibri" panose="020F0502020204030204" pitchFamily="34" charset="0"/>
              </a:rPr>
              <a:t>MoP</a:t>
            </a:r>
            <a:r>
              <a:rPr lang="en-IN" sz="1300" dirty="0">
                <a:solidFill>
                  <a:srgbClr val="FFFFFF"/>
                </a:solidFill>
                <a:latin typeface="Calibri" panose="020F0502020204030204" pitchFamily="34" charset="0"/>
                <a:cs typeface="Calibri" panose="020F0502020204030204" pitchFamily="34" charset="0"/>
              </a:rPr>
              <a:t> / NEARS</a:t>
            </a:r>
            <a:endParaRPr kumimoji="0" lang="en-IN" sz="1300" b="0"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endParaRPr>
          </a:p>
        </p:txBody>
      </p:sp>
      <p:sp>
        <p:nvSpPr>
          <p:cNvPr id="19" name="Rectangle 18"/>
          <p:cNvSpPr/>
          <p:nvPr/>
        </p:nvSpPr>
        <p:spPr bwMode="gray">
          <a:xfrm>
            <a:off x="7014344" y="3028525"/>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lvl="0" algn="ctr" defTabSz="1219170">
              <a:lnSpc>
                <a:spcPct val="106000"/>
              </a:lnSpc>
            </a:pPr>
            <a:r>
              <a:rPr lang="en-IN" sz="1300" dirty="0">
                <a:solidFill>
                  <a:srgbClr val="FFFFFF"/>
                </a:solidFill>
                <a:latin typeface="Calibri" panose="020F0502020204030204" pitchFamily="34" charset="0"/>
                <a:cs typeface="Calibri" panose="020F0502020204030204" pitchFamily="34" charset="0"/>
              </a:rPr>
              <a:t>USAID/ MOP/ CERC/ POSOCO</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20" name="Rectangle 19"/>
          <p:cNvSpPr/>
          <p:nvPr/>
        </p:nvSpPr>
        <p:spPr bwMode="gray">
          <a:xfrm>
            <a:off x="8661478"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21" name="Rectangle 20"/>
          <p:cNvSpPr/>
          <p:nvPr/>
        </p:nvSpPr>
        <p:spPr bwMode="gray">
          <a:xfrm>
            <a:off x="10331252"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24" name="Rectangle 23"/>
          <p:cNvSpPr/>
          <p:nvPr/>
        </p:nvSpPr>
        <p:spPr bwMode="gray">
          <a:xfrm>
            <a:off x="8661478" y="3028525"/>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lvl="0" algn="ctr" defTabSz="1219170">
              <a:lnSpc>
                <a:spcPct val="106000"/>
              </a:lnSpc>
            </a:pPr>
            <a:r>
              <a:rPr lang="en-IN" sz="1300" dirty="0">
                <a:solidFill>
                  <a:srgbClr val="FFFFFF"/>
                </a:solidFill>
                <a:latin typeface="Calibri" panose="020F0502020204030204" pitchFamily="34" charset="0"/>
                <a:cs typeface="Calibri" panose="020F0502020204030204" pitchFamily="34" charset="0"/>
              </a:rPr>
              <a:t>World Bank/ </a:t>
            </a:r>
            <a:r>
              <a:rPr lang="en-IN" sz="1300" dirty="0" err="1">
                <a:solidFill>
                  <a:srgbClr val="FFFFFF"/>
                </a:solidFill>
                <a:latin typeface="Calibri" panose="020F0502020204030204" pitchFamily="34" charset="0"/>
                <a:cs typeface="Calibri" panose="020F0502020204030204" pitchFamily="34" charset="0"/>
              </a:rPr>
              <a:t>Niti</a:t>
            </a:r>
            <a:r>
              <a:rPr lang="en-IN" sz="1300" dirty="0">
                <a:solidFill>
                  <a:srgbClr val="FFFFFF"/>
                </a:solidFill>
                <a:latin typeface="Calibri" panose="020F0502020204030204" pitchFamily="34" charset="0"/>
                <a:cs typeface="Calibri" panose="020F0502020204030204" pitchFamily="34" charset="0"/>
              </a:rPr>
              <a:t> Aayog</a:t>
            </a:r>
            <a:endParaRPr kumimoji="0" lang="en-IN" sz="1300" b="0"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endParaRPr>
          </a:p>
        </p:txBody>
      </p:sp>
      <p:sp>
        <p:nvSpPr>
          <p:cNvPr id="25" name="Rectangle 24"/>
          <p:cNvSpPr/>
          <p:nvPr/>
        </p:nvSpPr>
        <p:spPr bwMode="gray">
          <a:xfrm>
            <a:off x="10331252" y="3028525"/>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lvl="0" algn="ctr" defTabSz="1219170">
              <a:lnSpc>
                <a:spcPct val="106000"/>
              </a:lnSpc>
            </a:pPr>
            <a:r>
              <a:rPr lang="en-IN" sz="1300" dirty="0">
                <a:solidFill>
                  <a:srgbClr val="FFFFFF"/>
                </a:solidFill>
                <a:latin typeface="Calibri" panose="020F0502020204030204" pitchFamily="34" charset="0"/>
                <a:cs typeface="Calibri" panose="020F0502020204030204" pitchFamily="34" charset="0"/>
              </a:rPr>
              <a:t>USAID</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26" name="Rectangle 25"/>
          <p:cNvSpPr/>
          <p:nvPr/>
        </p:nvSpPr>
        <p:spPr bwMode="gray">
          <a:xfrm>
            <a:off x="1112001" y="3935979"/>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27" name="Rectangle 26"/>
          <p:cNvSpPr/>
          <p:nvPr/>
        </p:nvSpPr>
        <p:spPr bwMode="gray">
          <a:xfrm>
            <a:off x="2770889" y="3935979"/>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30" name="Rectangle 29"/>
          <p:cNvSpPr/>
          <p:nvPr/>
        </p:nvSpPr>
        <p:spPr bwMode="gray">
          <a:xfrm>
            <a:off x="1112001" y="5470561"/>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lvl="0" algn="ctr" defTabSz="1219170">
              <a:lnSpc>
                <a:spcPct val="106000"/>
              </a:lnSpc>
            </a:pPr>
            <a:r>
              <a:rPr lang="en-US" sz="1300" dirty="0">
                <a:solidFill>
                  <a:srgbClr val="FFFFFF"/>
                </a:solidFill>
                <a:latin typeface="Calibri" panose="020F0502020204030204" pitchFamily="34" charset="0"/>
                <a:cs typeface="Calibri" panose="020F0502020204030204" pitchFamily="34" charset="0"/>
              </a:rPr>
              <a:t>RUMSL &amp; MPUVN</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31" name="Rectangle 30"/>
          <p:cNvSpPr/>
          <p:nvPr/>
        </p:nvSpPr>
        <p:spPr bwMode="gray">
          <a:xfrm>
            <a:off x="2770889" y="5470561"/>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300" b="0"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JBVNL</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32" name="Rectangle 31"/>
          <p:cNvSpPr/>
          <p:nvPr/>
        </p:nvSpPr>
        <p:spPr bwMode="gray">
          <a:xfrm>
            <a:off x="4426226" y="3916142"/>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34" name="Rectangle 33"/>
          <p:cNvSpPr/>
          <p:nvPr/>
        </p:nvSpPr>
        <p:spPr bwMode="gray">
          <a:xfrm>
            <a:off x="7765774" y="3935979"/>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38" name="Rectangle 37"/>
          <p:cNvSpPr/>
          <p:nvPr/>
        </p:nvSpPr>
        <p:spPr bwMode="gray">
          <a:xfrm>
            <a:off x="4426226" y="5470561"/>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300" b="0"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RECPDCL</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39" name="Rectangle 38"/>
          <p:cNvSpPr/>
          <p:nvPr/>
        </p:nvSpPr>
        <p:spPr bwMode="gray">
          <a:xfrm>
            <a:off x="6096000" y="5470561"/>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IN" sz="1300" b="0"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UPCL</a:t>
            </a:r>
          </a:p>
        </p:txBody>
      </p:sp>
      <p:sp>
        <p:nvSpPr>
          <p:cNvPr id="40" name="Rectangle 39"/>
          <p:cNvSpPr/>
          <p:nvPr/>
        </p:nvSpPr>
        <p:spPr bwMode="gray">
          <a:xfrm>
            <a:off x="7765774" y="5470561"/>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IN" sz="1300" b="0"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MP</a:t>
            </a:r>
          </a:p>
        </p:txBody>
      </p:sp>
      <p:sp>
        <p:nvSpPr>
          <p:cNvPr id="41" name="Rectangle 40"/>
          <p:cNvSpPr/>
          <p:nvPr/>
        </p:nvSpPr>
        <p:spPr bwMode="gray">
          <a:xfrm>
            <a:off x="9412908" y="3935979"/>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45" name="Rectangle 44"/>
          <p:cNvSpPr/>
          <p:nvPr/>
        </p:nvSpPr>
        <p:spPr bwMode="gray">
          <a:xfrm>
            <a:off x="9412908" y="5470561"/>
            <a:ext cx="1488108" cy="675861"/>
          </a:xfrm>
          <a:prstGeom prst="rect">
            <a:avLst/>
          </a:prstGeom>
          <a:solidFill>
            <a:schemeClr val="accent3"/>
          </a:solidFill>
          <a:ln w="19050" algn="ctr">
            <a:noFill/>
            <a:miter lim="800000"/>
            <a:headEnd/>
            <a:tailEnd/>
          </a:ln>
        </p:spPr>
        <p:txBody>
          <a:bodyPr wrap="square" lIns="88900" tIns="88900" rIns="88900" bIns="88900" rtlCol="0" anchor="ctr"/>
          <a:lstStyle/>
          <a:p>
            <a:pPr lvl="0" algn="ctr" defTabSz="1219170">
              <a:lnSpc>
                <a:spcPct val="106000"/>
              </a:lnSpc>
            </a:pPr>
            <a:r>
              <a:rPr lang="en-IN" sz="1300" dirty="0">
                <a:solidFill>
                  <a:srgbClr val="FFFFFF"/>
                </a:solidFill>
                <a:latin typeface="Calibri" panose="020F0502020204030204" pitchFamily="34" charset="0"/>
                <a:cs typeface="Calibri" panose="020F0502020204030204" pitchFamily="34" charset="0"/>
              </a:rPr>
              <a:t>KFW/ MPPMCL</a:t>
            </a:r>
            <a:endParaRPr kumimoji="0" lang="en-IN" sz="1300" b="0"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endParaRPr>
          </a:p>
        </p:txBody>
      </p:sp>
      <p:sp>
        <p:nvSpPr>
          <p:cNvPr id="47" name="Rectangle 46"/>
          <p:cNvSpPr/>
          <p:nvPr/>
        </p:nvSpPr>
        <p:spPr bwMode="gray">
          <a:xfrm>
            <a:off x="6110437" y="3935979"/>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4" name="Rectangle 3"/>
          <p:cNvSpPr/>
          <p:nvPr/>
        </p:nvSpPr>
        <p:spPr>
          <a:xfrm>
            <a:off x="3692785" y="1493943"/>
            <a:ext cx="1473670" cy="1492716"/>
          </a:xfrm>
          <a:prstGeom prst="rect">
            <a:avLst/>
          </a:prstGeom>
        </p:spPr>
        <p:txBody>
          <a:bodyPr wrap="square">
            <a:spAutoFit/>
          </a:bodyPr>
          <a:lstStyle/>
          <a:p>
            <a:pPr lvl="0" algn="ctr" defTabSz="1219170"/>
            <a:r>
              <a:rPr lang="en-US" sz="1300" dirty="0">
                <a:solidFill>
                  <a:srgbClr val="000000"/>
                </a:solidFill>
                <a:latin typeface="Calibri" panose="020F0502020204030204" pitchFamily="34" charset="0"/>
                <a:cs typeface="Calibri" panose="020F0502020204030204" pitchFamily="34" charset="0"/>
              </a:rPr>
              <a:t>Urja Mitra Program Monitoring, Diagnostic analysis of Revenue Cycle, and Monitoring of MBC</a:t>
            </a:r>
            <a:endParaRPr kumimoji="0" lang="en-IN"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36" name="Rectangle 35"/>
          <p:cNvSpPr/>
          <p:nvPr/>
        </p:nvSpPr>
        <p:spPr>
          <a:xfrm>
            <a:off x="5351788" y="1493943"/>
            <a:ext cx="1473671" cy="892552"/>
          </a:xfrm>
          <a:prstGeom prst="rect">
            <a:avLst/>
          </a:prstGeom>
        </p:spPr>
        <p:txBody>
          <a:bodyPr wrap="square">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Setting up of PMU for Development of Power Market in India</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48" name="Rectangle 47"/>
          <p:cNvSpPr/>
          <p:nvPr/>
        </p:nvSpPr>
        <p:spPr>
          <a:xfrm>
            <a:off x="7007125" y="1493943"/>
            <a:ext cx="1472687" cy="1422697"/>
          </a:xfrm>
          <a:prstGeom prst="rect">
            <a:avLst/>
          </a:prstGeom>
        </p:spPr>
        <p:txBody>
          <a:bodyPr wrap="square">
            <a:spAutoFit/>
          </a:bodyPr>
          <a:lstStyle/>
          <a:p>
            <a:pPr lvl="0" algn="ctr" defTabSz="1219170">
              <a:lnSpc>
                <a:spcPct val="95000"/>
              </a:lnSpc>
            </a:pPr>
            <a:r>
              <a:rPr lang="en-US" sz="1300" dirty="0">
                <a:solidFill>
                  <a:srgbClr val="000000"/>
                </a:solidFill>
                <a:latin typeface="Calibri" panose="020F0502020204030204" pitchFamily="34" charset="0"/>
                <a:ea typeface="Verdana" panose="020B0604030504040204" pitchFamily="34" charset="0"/>
                <a:cs typeface="Calibri" panose="020F0502020204030204" pitchFamily="34" charset="0"/>
              </a:rPr>
              <a:t>Program Management Support to CERC, POSOCO for pilot implementation under GTG-RISE initiative</a:t>
            </a:r>
            <a:endParaRPr kumimoji="0" lang="en-GB"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49" name="Rectangle 48"/>
          <p:cNvSpPr/>
          <p:nvPr/>
        </p:nvSpPr>
        <p:spPr>
          <a:xfrm>
            <a:off x="8694746" y="1537767"/>
            <a:ext cx="1421571" cy="852541"/>
          </a:xfrm>
          <a:prstGeom prst="rect">
            <a:avLst/>
          </a:prstGeom>
        </p:spPr>
        <p:txBody>
          <a:bodyPr wrap="square">
            <a:spAutoFit/>
          </a:bodyPr>
          <a:lstStyle/>
          <a:p>
            <a:pPr lvl="0" algn="ctr" defTabSz="1219170">
              <a:lnSpc>
                <a:spcPct val="95000"/>
              </a:lnSpc>
            </a:pPr>
            <a:r>
              <a:rPr lang="en-US" sz="1300" dirty="0">
                <a:solidFill>
                  <a:srgbClr val="000000"/>
                </a:solidFill>
                <a:latin typeface="Calibri" panose="020F0502020204030204" pitchFamily="34" charset="0"/>
                <a:cs typeface="Calibri" panose="020F0502020204030204" pitchFamily="34" charset="0"/>
              </a:rPr>
              <a:t>Battery Storage Program Assessment for Selected States </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50" name="Rectangle 49"/>
          <p:cNvSpPr/>
          <p:nvPr/>
        </p:nvSpPr>
        <p:spPr>
          <a:xfrm>
            <a:off x="10331252" y="1493943"/>
            <a:ext cx="1488108" cy="1492716"/>
          </a:xfrm>
          <a:prstGeom prst="rect">
            <a:avLst/>
          </a:prstGeom>
        </p:spPr>
        <p:txBody>
          <a:bodyPr wrap="square">
            <a:spAutoFit/>
          </a:bodyPr>
          <a:lstStyle/>
          <a:p>
            <a:pPr lvl="0" algn="ctr" defTabSz="1219170"/>
            <a:r>
              <a:rPr lang="en-US" sz="1300" dirty="0">
                <a:solidFill>
                  <a:srgbClr val="000000"/>
                </a:solidFill>
                <a:latin typeface="Calibri" panose="020F0502020204030204" pitchFamily="34" charset="0"/>
                <a:ea typeface="Times" panose="02020603050405020304" pitchFamily="18" charset="0"/>
                <a:cs typeface="Calibri" panose="020F0502020204030204" pitchFamily="34" charset="0"/>
              </a:rPr>
              <a:t>Sector reform and utility Commercialization (SRUC) to promote reforms that will enhance the financial viability</a:t>
            </a:r>
            <a:endParaRPr kumimoji="0" lang="en-IN"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51" name="Rectangle 50"/>
          <p:cNvSpPr/>
          <p:nvPr/>
        </p:nvSpPr>
        <p:spPr>
          <a:xfrm>
            <a:off x="1108807" y="3935979"/>
            <a:ext cx="1529090" cy="1492716"/>
          </a:xfrm>
          <a:prstGeom prst="rect">
            <a:avLst/>
          </a:prstGeom>
        </p:spPr>
        <p:txBody>
          <a:bodyPr wrap="square">
            <a:spAutoFit/>
          </a:bodyPr>
          <a:lstStyle/>
          <a:p>
            <a:pPr lvl="0" algn="ctr" defTabSz="1219170"/>
            <a:r>
              <a:rPr lang="en-US" sz="1300" dirty="0">
                <a:solidFill>
                  <a:srgbClr val="000000"/>
                </a:solidFill>
                <a:latin typeface="Calibri" panose="020F0502020204030204" pitchFamily="34" charset="0"/>
                <a:ea typeface="Arial" panose="020B0604020202020204" pitchFamily="34" charset="0"/>
                <a:cs typeface="Calibri" panose="020F0502020204030204" pitchFamily="34" charset="0"/>
              </a:rPr>
              <a:t>Consultancy services in various programs of MPUVN and RUMSL in areas including RE and associated emerging fields</a:t>
            </a:r>
          </a:p>
        </p:txBody>
      </p:sp>
      <p:sp>
        <p:nvSpPr>
          <p:cNvPr id="52" name="Rectangle 51"/>
          <p:cNvSpPr/>
          <p:nvPr/>
        </p:nvSpPr>
        <p:spPr>
          <a:xfrm>
            <a:off x="2768362" y="4056155"/>
            <a:ext cx="1511297" cy="292388"/>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53" name="Rectangle 52"/>
          <p:cNvSpPr/>
          <p:nvPr/>
        </p:nvSpPr>
        <p:spPr>
          <a:xfrm>
            <a:off x="4413761" y="3974448"/>
            <a:ext cx="1513274" cy="1092607"/>
          </a:xfrm>
          <a:prstGeom prst="rect">
            <a:avLst/>
          </a:prstGeom>
        </p:spPr>
        <p:txBody>
          <a:bodyPr wrap="square">
            <a:spAutoFit/>
          </a:bodyPr>
          <a:lstStyle/>
          <a:p>
            <a:pPr lvl="0" algn="ctr" defTabSz="1219170"/>
            <a:r>
              <a:rPr lang="en-US" sz="1300" dirty="0">
                <a:solidFill>
                  <a:srgbClr val="000000"/>
                </a:solidFill>
                <a:latin typeface="Calibri" panose="020F0502020204030204" pitchFamily="34" charset="0"/>
                <a:cs typeface="Calibri" panose="020F0502020204030204" pitchFamily="34" charset="0"/>
              </a:rPr>
              <a:t>Project Management services to RECPDCL for Smart Metering</a:t>
            </a:r>
            <a:endParaRPr kumimoji="0" lang="en-IN"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54" name="Rectangle 53"/>
          <p:cNvSpPr/>
          <p:nvPr/>
        </p:nvSpPr>
        <p:spPr>
          <a:xfrm>
            <a:off x="6123098" y="3935979"/>
            <a:ext cx="1473671" cy="892552"/>
          </a:xfrm>
          <a:prstGeom prst="rect">
            <a:avLst/>
          </a:prstGeom>
        </p:spPr>
        <p:txBody>
          <a:bodyPr wrap="square">
            <a:spAutoFit/>
          </a:bodyPr>
          <a:lstStyle/>
          <a:p>
            <a:pPr lvl="0" algn="ctr" defTabSz="1219170"/>
            <a:r>
              <a:rPr lang="en-US" sz="1300" dirty="0">
                <a:solidFill>
                  <a:srgbClr val="000000"/>
                </a:solidFill>
                <a:latin typeface="Calibri" panose="020F0502020204030204" pitchFamily="34" charset="0"/>
                <a:ea typeface="Arial" panose="020B0604020202020204" pitchFamily="34" charset="0"/>
                <a:cs typeface="Calibri" panose="020F0502020204030204" pitchFamily="34" charset="0"/>
              </a:rPr>
              <a:t>PMA for Computerization of commercial processes</a:t>
            </a:r>
            <a:endParaRPr kumimoji="0" lang="en-IN"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55" name="Rectangle 54"/>
          <p:cNvSpPr/>
          <p:nvPr/>
        </p:nvSpPr>
        <p:spPr>
          <a:xfrm>
            <a:off x="7753152" y="3935979"/>
            <a:ext cx="1478090" cy="1092607"/>
          </a:xfrm>
          <a:prstGeom prst="rect">
            <a:avLst/>
          </a:prstGeom>
        </p:spPr>
        <p:txBody>
          <a:bodyPr wrap="square">
            <a:spAutoFit/>
          </a:bodyPr>
          <a:lstStyle/>
          <a:p>
            <a:pPr lvl="0" algn="ctr" defTabSz="1219170"/>
            <a:r>
              <a:rPr lang="en-US" sz="1300" dirty="0">
                <a:solidFill>
                  <a:srgbClr val="000000"/>
                </a:solidFill>
                <a:latin typeface="Calibri" panose="020F0502020204030204" pitchFamily="34" charset="0"/>
                <a:cs typeface="Calibri" panose="020F0502020204030204" pitchFamily="34" charset="0"/>
              </a:rPr>
              <a:t>Preparation of DPR for floating solar and ground mounted Solar park in MP</a:t>
            </a:r>
            <a:endParaRPr kumimoji="0" lang="en-IN"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56" name="Rectangle 55"/>
          <p:cNvSpPr/>
          <p:nvPr/>
        </p:nvSpPr>
        <p:spPr>
          <a:xfrm>
            <a:off x="9421111" y="3938923"/>
            <a:ext cx="1446636" cy="1292662"/>
          </a:xfrm>
          <a:prstGeom prst="rect">
            <a:avLst/>
          </a:prstGeom>
        </p:spPr>
        <p:txBody>
          <a:bodyPr wrap="square">
            <a:spAutoFit/>
          </a:bodyPr>
          <a:lstStyle/>
          <a:p>
            <a:pPr lvl="0" algn="ctr" defTabSz="1219170"/>
            <a:r>
              <a:rPr lang="en-US" sz="1300" dirty="0">
                <a:solidFill>
                  <a:srgbClr val="000000"/>
                </a:solidFill>
                <a:latin typeface="Calibri" panose="020F0502020204030204" pitchFamily="34" charset="0"/>
                <a:cs typeface="Calibri" panose="020F0502020204030204" pitchFamily="34" charset="0"/>
              </a:rPr>
              <a:t>Support for Smart meter project component preparation and SCADA DPR preparation</a:t>
            </a:r>
            <a:endParaRPr kumimoji="0" lang="en-IN"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58" name="Rectangle 57">
            <a:extLst>
              <a:ext uri="{FF2B5EF4-FFF2-40B4-BE49-F238E27FC236}">
                <a16:creationId xmlns:a16="http://schemas.microsoft.com/office/drawing/2014/main" id="{5E680A82-6466-4016-A910-4E368FED6758}"/>
              </a:ext>
            </a:extLst>
          </p:cNvPr>
          <p:cNvSpPr/>
          <p:nvPr/>
        </p:nvSpPr>
        <p:spPr>
          <a:xfrm>
            <a:off x="2775898" y="3974448"/>
            <a:ext cx="1499862" cy="1092607"/>
          </a:xfrm>
          <a:prstGeom prst="rect">
            <a:avLst/>
          </a:prstGeom>
        </p:spPr>
        <p:txBody>
          <a:bodyPr wrap="square">
            <a:spAutoFit/>
          </a:bodyPr>
          <a:lstStyle/>
          <a:p>
            <a:pPr lvl="0" algn="ctr" defTabSz="1219170"/>
            <a:r>
              <a:rPr lang="en-US" sz="1300" dirty="0">
                <a:solidFill>
                  <a:srgbClr val="000000"/>
                </a:solidFill>
                <a:latin typeface="Calibri" panose="020F0502020204030204" pitchFamily="34" charset="0"/>
                <a:ea typeface="Arial" panose="020B0604020202020204" pitchFamily="34" charset="0"/>
                <a:cs typeface="Calibri" panose="020F0502020204030204" pitchFamily="34" charset="0"/>
              </a:rPr>
              <a:t>Project management Consultancy for smart metering projects</a:t>
            </a:r>
            <a:endParaRPr kumimoji="0" lang="en-IN"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43864966"/>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Calibri" panose="020F0502020204030204" pitchFamily="34" charset="0"/>
                <a:cs typeface="Calibri" panose="020F0502020204030204" pitchFamily="34" charset="0"/>
              </a:rPr>
              <a:t>Our selected credentials</a:t>
            </a:r>
          </a:p>
        </p:txBody>
      </p:sp>
      <p:sp>
        <p:nvSpPr>
          <p:cNvPr id="3" name="Text Placeholder 2"/>
          <p:cNvSpPr>
            <a:spLocks noGrp="1"/>
          </p:cNvSpPr>
          <p:nvPr>
            <p:ph type="body" sz="quarter" idx="13"/>
          </p:nvPr>
        </p:nvSpPr>
        <p:spPr/>
        <p:txBody>
          <a:bodyPr/>
          <a:lstStyle/>
          <a:p>
            <a:r>
              <a:rPr lang="en-US" b="1" i="1" dirty="0">
                <a:latin typeface="Calibri" panose="020F0502020204030204" pitchFamily="34" charset="0"/>
                <a:cs typeface="Calibri" panose="020F0502020204030204" pitchFamily="34" charset="0"/>
              </a:rPr>
              <a:t>Category B</a:t>
            </a:r>
            <a:r>
              <a:rPr lang="en-US" dirty="0">
                <a:latin typeface="Calibri" panose="020F0502020204030204" pitchFamily="34" charset="0"/>
                <a:cs typeface="Calibri" panose="020F0502020204030204" pitchFamily="34" charset="0"/>
              </a:rPr>
              <a:t>: Experience in supporting on areas of stressed asset management including areas of valuation, commercial and technical due-diligence, Resolution Professional			           (1/2)</a:t>
            </a:r>
            <a:endParaRPr lang="en-IN" dirty="0">
              <a:latin typeface="Calibri" panose="020F0502020204030204" pitchFamily="34" charset="0"/>
              <a:cs typeface="Calibri" panose="020F0502020204030204" pitchFamily="34" charset="0"/>
            </a:endParaRPr>
          </a:p>
        </p:txBody>
      </p:sp>
      <p:sp>
        <p:nvSpPr>
          <p:cNvPr id="5" name="Rectangle 4"/>
          <p:cNvSpPr/>
          <p:nvPr/>
        </p:nvSpPr>
        <p:spPr bwMode="gray">
          <a:xfrm>
            <a:off x="360571"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6" name="Rectangle 5"/>
          <p:cNvSpPr/>
          <p:nvPr/>
        </p:nvSpPr>
        <p:spPr bwMode="gray">
          <a:xfrm>
            <a:off x="2019459"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7" name="TextBox 6"/>
          <p:cNvSpPr txBox="1"/>
          <p:nvPr/>
        </p:nvSpPr>
        <p:spPr>
          <a:xfrm>
            <a:off x="346134" y="1537973"/>
            <a:ext cx="1488108" cy="800219"/>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Commercial &amp; Regulatory due diligence-275 MW solar park in Odisha</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8" name="TextBox 7"/>
          <p:cNvSpPr txBox="1"/>
          <p:nvPr/>
        </p:nvSpPr>
        <p:spPr>
          <a:xfrm>
            <a:off x="2015908" y="1537973"/>
            <a:ext cx="1485425" cy="1200329"/>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Transaction and bid advisory support to </a:t>
            </a:r>
            <a:r>
              <a:rPr lang="en-US" sz="1300" dirty="0" err="1">
                <a:solidFill>
                  <a:srgbClr val="000000"/>
                </a:solidFill>
                <a:latin typeface="Calibri" panose="020F0502020204030204" pitchFamily="34" charset="0"/>
                <a:cs typeface="Calibri" panose="020F0502020204030204" pitchFamily="34" charset="0"/>
              </a:rPr>
              <a:t>Solenergi</a:t>
            </a:r>
            <a:r>
              <a:rPr lang="en-US" sz="1300" dirty="0">
                <a:solidFill>
                  <a:srgbClr val="000000"/>
                </a:solidFill>
                <a:latin typeface="Calibri" panose="020F0502020204030204" pitchFamily="34" charset="0"/>
                <a:cs typeface="Calibri" panose="020F0502020204030204" pitchFamily="34" charset="0"/>
              </a:rPr>
              <a:t> for 750 MW REWA Ultra mega solar project bid process</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9" name="Rectangle 8"/>
          <p:cNvSpPr/>
          <p:nvPr/>
        </p:nvSpPr>
        <p:spPr bwMode="gray">
          <a:xfrm>
            <a:off x="360571" y="3028525"/>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lvl="0" algn="ctr" defTabSz="1219170">
              <a:lnSpc>
                <a:spcPct val="106000"/>
              </a:lnSpc>
            </a:pPr>
            <a:r>
              <a:rPr lang="en-US" sz="1300" dirty="0">
                <a:solidFill>
                  <a:srgbClr val="FFFFFF"/>
                </a:solidFill>
                <a:latin typeface="Calibri" panose="020F0502020204030204" pitchFamily="34" charset="0"/>
                <a:cs typeface="Calibri" panose="020F0502020204030204" pitchFamily="34" charset="0"/>
              </a:rPr>
              <a:t>IFC, the World Bank Group</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0" name="Rectangle 9"/>
          <p:cNvSpPr/>
          <p:nvPr/>
        </p:nvSpPr>
        <p:spPr bwMode="gray">
          <a:xfrm>
            <a:off x="2019459" y="3028525"/>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lvl="0" algn="ctr" defTabSz="1219170">
              <a:lnSpc>
                <a:spcPct val="106000"/>
              </a:lnSpc>
            </a:pPr>
            <a:r>
              <a:rPr lang="pt-BR" sz="1300" dirty="0">
                <a:solidFill>
                  <a:srgbClr val="FFFFFF"/>
                </a:solidFill>
                <a:latin typeface="Calibri" panose="020F0502020204030204" pitchFamily="34" charset="0"/>
                <a:cs typeface="Calibri" panose="020F0502020204030204" pitchFamily="34" charset="0"/>
              </a:rPr>
              <a:t>REWA Ultra mega solar project</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1" name="Rectangle 10"/>
          <p:cNvSpPr/>
          <p:nvPr/>
        </p:nvSpPr>
        <p:spPr bwMode="gray">
          <a:xfrm>
            <a:off x="3674796"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2" name="Rectangle 11"/>
          <p:cNvSpPr/>
          <p:nvPr/>
        </p:nvSpPr>
        <p:spPr bwMode="gray">
          <a:xfrm>
            <a:off x="5344570"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3" name="Rectangle 12"/>
          <p:cNvSpPr/>
          <p:nvPr/>
        </p:nvSpPr>
        <p:spPr bwMode="gray">
          <a:xfrm>
            <a:off x="7014344"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4" name="TextBox 13"/>
          <p:cNvSpPr txBox="1"/>
          <p:nvPr/>
        </p:nvSpPr>
        <p:spPr>
          <a:xfrm>
            <a:off x="3833822" y="1543031"/>
            <a:ext cx="1170056" cy="600164"/>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Commercial Due Diligence of SB Energy</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5" name="TextBox 14"/>
          <p:cNvSpPr txBox="1"/>
          <p:nvPr/>
        </p:nvSpPr>
        <p:spPr>
          <a:xfrm>
            <a:off x="5435147" y="1533738"/>
            <a:ext cx="1321706" cy="600164"/>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Commercial due diligence of </a:t>
            </a:r>
            <a:r>
              <a:rPr lang="en-US" sz="1300" dirty="0" err="1">
                <a:solidFill>
                  <a:srgbClr val="000000"/>
                </a:solidFill>
                <a:latin typeface="Calibri" panose="020F0502020204030204" pitchFamily="34" charset="0"/>
                <a:cs typeface="Calibri" panose="020F0502020204030204" pitchFamily="34" charset="0"/>
              </a:rPr>
              <a:t>Essel</a:t>
            </a:r>
            <a:r>
              <a:rPr lang="en-US" sz="1300" dirty="0">
                <a:solidFill>
                  <a:srgbClr val="000000"/>
                </a:solidFill>
                <a:latin typeface="Calibri" panose="020F0502020204030204" pitchFamily="34" charset="0"/>
                <a:cs typeface="Calibri" panose="020F0502020204030204" pitchFamily="34" charset="0"/>
              </a:rPr>
              <a:t> Infra Solar</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6" name="TextBox 15"/>
          <p:cNvSpPr txBox="1"/>
          <p:nvPr/>
        </p:nvSpPr>
        <p:spPr>
          <a:xfrm>
            <a:off x="7014344" y="1543031"/>
            <a:ext cx="1465468" cy="1400383"/>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Consultancy services in various programs of MPUVN and RUMSL in areas including RE and associated emerging fields</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7" name="Rectangle 16"/>
          <p:cNvSpPr/>
          <p:nvPr/>
        </p:nvSpPr>
        <p:spPr bwMode="gray">
          <a:xfrm>
            <a:off x="3674796" y="3028525"/>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lvl="0" algn="ctr" defTabSz="1219170">
              <a:lnSpc>
                <a:spcPct val="106000"/>
              </a:lnSpc>
            </a:pPr>
            <a:r>
              <a:rPr lang="en-US" sz="1300" dirty="0" err="1">
                <a:solidFill>
                  <a:srgbClr val="FFFFFF"/>
                </a:solidFill>
                <a:latin typeface="Calibri" panose="020F0502020204030204" pitchFamily="34" charset="0"/>
                <a:cs typeface="Calibri" panose="020F0502020204030204" pitchFamily="34" charset="0"/>
              </a:rPr>
              <a:t>Actics</a:t>
            </a:r>
            <a:r>
              <a:rPr lang="en-US" sz="1300" dirty="0">
                <a:solidFill>
                  <a:srgbClr val="FFFFFF"/>
                </a:solidFill>
                <a:latin typeface="Calibri" panose="020F0502020204030204" pitchFamily="34" charset="0"/>
                <a:cs typeface="Calibri" panose="020F0502020204030204" pitchFamily="34" charset="0"/>
              </a:rPr>
              <a:t> GP LLP</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8" name="Rectangle 17"/>
          <p:cNvSpPr/>
          <p:nvPr/>
        </p:nvSpPr>
        <p:spPr bwMode="gray">
          <a:xfrm>
            <a:off x="5344570" y="3028525"/>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lvl="0" algn="ctr" defTabSz="1219170">
              <a:lnSpc>
                <a:spcPct val="106000"/>
              </a:lnSpc>
            </a:pPr>
            <a:r>
              <a:rPr lang="en-IN" sz="1300" dirty="0" err="1">
                <a:solidFill>
                  <a:srgbClr val="FFFFFF"/>
                </a:solidFill>
                <a:latin typeface="Calibri" panose="020F0502020204030204" pitchFamily="34" charset="0"/>
                <a:cs typeface="Calibri" panose="020F0502020204030204" pitchFamily="34" charset="0"/>
              </a:rPr>
              <a:t>Actics</a:t>
            </a:r>
            <a:r>
              <a:rPr lang="en-IN" sz="1300" dirty="0">
                <a:solidFill>
                  <a:srgbClr val="FFFFFF"/>
                </a:solidFill>
                <a:latin typeface="Calibri" panose="020F0502020204030204" pitchFamily="34" charset="0"/>
                <a:cs typeface="Calibri" panose="020F0502020204030204" pitchFamily="34" charset="0"/>
              </a:rPr>
              <a:t> GP LLP</a:t>
            </a:r>
            <a:endParaRPr kumimoji="0" lang="en-IN" sz="1300" b="0"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endParaRPr>
          </a:p>
        </p:txBody>
      </p:sp>
      <p:sp>
        <p:nvSpPr>
          <p:cNvPr id="19" name="Rectangle 18"/>
          <p:cNvSpPr/>
          <p:nvPr/>
        </p:nvSpPr>
        <p:spPr bwMode="gray">
          <a:xfrm>
            <a:off x="7014344" y="3028525"/>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lvl="0" algn="ctr" defTabSz="1219170">
              <a:lnSpc>
                <a:spcPct val="106000"/>
              </a:lnSpc>
            </a:pPr>
            <a:r>
              <a:rPr lang="en-IN" sz="1300" dirty="0">
                <a:solidFill>
                  <a:srgbClr val="FFFFFF"/>
                </a:solidFill>
                <a:latin typeface="Calibri" panose="020F0502020204030204" pitchFamily="34" charset="0"/>
                <a:cs typeface="Calibri" panose="020F0502020204030204" pitchFamily="34" charset="0"/>
              </a:rPr>
              <a:t>RUMSL &amp; MPUVN</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20" name="Rectangle 19"/>
          <p:cNvSpPr/>
          <p:nvPr/>
        </p:nvSpPr>
        <p:spPr bwMode="gray">
          <a:xfrm>
            <a:off x="8661478"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21" name="Rectangle 20"/>
          <p:cNvSpPr/>
          <p:nvPr/>
        </p:nvSpPr>
        <p:spPr bwMode="gray">
          <a:xfrm>
            <a:off x="10331252"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22" name="TextBox 21"/>
          <p:cNvSpPr txBox="1"/>
          <p:nvPr/>
        </p:nvSpPr>
        <p:spPr>
          <a:xfrm>
            <a:off x="8691494" y="1543031"/>
            <a:ext cx="1458092" cy="1200329"/>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Transaction Advisory Services for development of 600 MW floating solar park at </a:t>
            </a:r>
            <a:r>
              <a:rPr lang="en-US" sz="1300" dirty="0" err="1">
                <a:solidFill>
                  <a:srgbClr val="000000"/>
                </a:solidFill>
                <a:latin typeface="Calibri" panose="020F0502020204030204" pitchFamily="34" charset="0"/>
                <a:cs typeface="Calibri" panose="020F0502020204030204" pitchFamily="34" charset="0"/>
              </a:rPr>
              <a:t>Omkareshwar</a:t>
            </a:r>
            <a:r>
              <a:rPr lang="en-US" sz="1300" dirty="0">
                <a:solidFill>
                  <a:srgbClr val="000000"/>
                </a:solidFill>
                <a:latin typeface="Calibri" panose="020F0502020204030204" pitchFamily="34" charset="0"/>
                <a:cs typeface="Calibri" panose="020F0502020204030204" pitchFamily="34" charset="0"/>
              </a:rPr>
              <a:t> in the state of MP</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23" name="TextBox 22"/>
          <p:cNvSpPr txBox="1"/>
          <p:nvPr/>
        </p:nvSpPr>
        <p:spPr>
          <a:xfrm>
            <a:off x="10354028" y="1546700"/>
            <a:ext cx="1442555" cy="800219"/>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Transaction advisory services for selection of investor for sale of NESCO Utility</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24" name="Rectangle 23"/>
          <p:cNvSpPr/>
          <p:nvPr/>
        </p:nvSpPr>
        <p:spPr bwMode="gray">
          <a:xfrm>
            <a:off x="8661478" y="3028525"/>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lvl="0" algn="ctr" defTabSz="1219170">
              <a:lnSpc>
                <a:spcPct val="106000"/>
              </a:lnSpc>
            </a:pPr>
            <a:r>
              <a:rPr lang="en-IN" sz="1300" dirty="0">
                <a:solidFill>
                  <a:srgbClr val="FFFFFF"/>
                </a:solidFill>
                <a:latin typeface="Calibri" panose="020F0502020204030204" pitchFamily="34" charset="0"/>
                <a:cs typeface="Calibri" panose="020F0502020204030204" pitchFamily="34" charset="0"/>
              </a:rPr>
              <a:t>RUMSL</a:t>
            </a:r>
            <a:endParaRPr kumimoji="0" lang="en-IN" sz="1300" b="0"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endParaRPr>
          </a:p>
        </p:txBody>
      </p:sp>
      <p:sp>
        <p:nvSpPr>
          <p:cNvPr id="25" name="Rectangle 24"/>
          <p:cNvSpPr/>
          <p:nvPr/>
        </p:nvSpPr>
        <p:spPr bwMode="gray">
          <a:xfrm>
            <a:off x="10331252" y="3028525"/>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lvl="0" algn="ctr" defTabSz="1219170">
              <a:lnSpc>
                <a:spcPct val="106000"/>
              </a:lnSpc>
            </a:pPr>
            <a:r>
              <a:rPr lang="en-IN" sz="1300" dirty="0">
                <a:solidFill>
                  <a:srgbClr val="FFFFFF"/>
                </a:solidFill>
                <a:latin typeface="Calibri" panose="020F0502020204030204" pitchFamily="34" charset="0"/>
                <a:cs typeface="Calibri" panose="020F0502020204030204" pitchFamily="34" charset="0"/>
              </a:rPr>
              <a:t>OERC</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26" name="Rectangle 25"/>
          <p:cNvSpPr/>
          <p:nvPr/>
        </p:nvSpPr>
        <p:spPr bwMode="gray">
          <a:xfrm>
            <a:off x="360571"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27" name="Rectangle 26"/>
          <p:cNvSpPr/>
          <p:nvPr/>
        </p:nvSpPr>
        <p:spPr bwMode="gray">
          <a:xfrm>
            <a:off x="2019459"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28" name="TextBox 27"/>
          <p:cNvSpPr txBox="1"/>
          <p:nvPr/>
        </p:nvSpPr>
        <p:spPr>
          <a:xfrm>
            <a:off x="360571" y="3972215"/>
            <a:ext cx="1488108" cy="800219"/>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Transaction advisory services for selection of investor for sale of </a:t>
            </a:r>
            <a:r>
              <a:rPr lang="en-US" sz="1300" dirty="0" err="1">
                <a:solidFill>
                  <a:srgbClr val="000000"/>
                </a:solidFill>
                <a:latin typeface="Calibri" panose="020F0502020204030204" pitchFamily="34" charset="0"/>
                <a:cs typeface="Calibri" panose="020F0502020204030204" pitchFamily="34" charset="0"/>
              </a:rPr>
              <a:t>SouthCo</a:t>
            </a:r>
            <a:r>
              <a:rPr lang="en-US" sz="1300" dirty="0">
                <a:solidFill>
                  <a:srgbClr val="000000"/>
                </a:solidFill>
                <a:latin typeface="Calibri" panose="020F0502020204030204" pitchFamily="34" charset="0"/>
                <a:cs typeface="Calibri" panose="020F0502020204030204" pitchFamily="34" charset="0"/>
              </a:rPr>
              <a:t> Utility</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30" name="Rectangle 29"/>
          <p:cNvSpPr/>
          <p:nvPr/>
        </p:nvSpPr>
        <p:spPr bwMode="gray">
          <a:xfrm>
            <a:off x="360571" y="5462562"/>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lvl="0" algn="ctr" defTabSz="1219170">
              <a:lnSpc>
                <a:spcPct val="106000"/>
              </a:lnSpc>
            </a:pPr>
            <a:r>
              <a:rPr lang="en-IN" sz="1300" dirty="0">
                <a:solidFill>
                  <a:srgbClr val="FFFFFF"/>
                </a:solidFill>
                <a:latin typeface="Calibri" panose="020F0502020204030204" pitchFamily="34" charset="0"/>
                <a:cs typeface="Calibri" panose="020F0502020204030204" pitchFamily="34" charset="0"/>
              </a:rPr>
              <a:t>OERC</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31" name="Rectangle 30"/>
          <p:cNvSpPr/>
          <p:nvPr/>
        </p:nvSpPr>
        <p:spPr bwMode="gray">
          <a:xfrm>
            <a:off x="2019459" y="5462562"/>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lvl="0" algn="ctr" defTabSz="1219170">
              <a:lnSpc>
                <a:spcPct val="106000"/>
              </a:lnSpc>
            </a:pPr>
            <a:r>
              <a:rPr lang="en-US" sz="1300" dirty="0">
                <a:solidFill>
                  <a:srgbClr val="FFFFFF"/>
                </a:solidFill>
                <a:latin typeface="Calibri" panose="020F0502020204030204" pitchFamily="34" charset="0"/>
                <a:cs typeface="Calibri" panose="020F0502020204030204" pitchFamily="34" charset="0"/>
              </a:rPr>
              <a:t>NTPC</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32" name="Rectangle 31"/>
          <p:cNvSpPr/>
          <p:nvPr/>
        </p:nvSpPr>
        <p:spPr bwMode="gray">
          <a:xfrm>
            <a:off x="3674796"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34" name="Rectangle 33"/>
          <p:cNvSpPr/>
          <p:nvPr/>
        </p:nvSpPr>
        <p:spPr bwMode="gray">
          <a:xfrm>
            <a:off x="7014344"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38" name="Rectangle 37"/>
          <p:cNvSpPr/>
          <p:nvPr/>
        </p:nvSpPr>
        <p:spPr bwMode="gray">
          <a:xfrm>
            <a:off x="3674796" y="5462562"/>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lvl="0" algn="ctr" defTabSz="1219170">
              <a:lnSpc>
                <a:spcPct val="106000"/>
              </a:lnSpc>
            </a:pPr>
            <a:r>
              <a:rPr lang="en-US" sz="1300" dirty="0">
                <a:solidFill>
                  <a:srgbClr val="FFFFFF"/>
                </a:solidFill>
                <a:latin typeface="Calibri" panose="020F0502020204030204" pitchFamily="34" charset="0"/>
                <a:cs typeface="Calibri" panose="020F0502020204030204" pitchFamily="34" charset="0"/>
              </a:rPr>
              <a:t>Power Finance Corporation Limited (PFC)</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39" name="Rectangle 38"/>
          <p:cNvSpPr/>
          <p:nvPr/>
        </p:nvSpPr>
        <p:spPr bwMode="gray">
          <a:xfrm>
            <a:off x="5344570" y="5462562"/>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lvl="0" algn="ctr" defTabSz="1219170">
              <a:lnSpc>
                <a:spcPct val="106000"/>
              </a:lnSpc>
            </a:pPr>
            <a:r>
              <a:rPr lang="en-US" sz="1100" dirty="0">
                <a:solidFill>
                  <a:srgbClr val="FFFFFF"/>
                </a:solidFill>
                <a:latin typeface="Calibri" panose="020F0502020204030204" pitchFamily="34" charset="0"/>
                <a:cs typeface="Calibri" panose="020F0502020204030204" pitchFamily="34" charset="0"/>
              </a:rPr>
              <a:t>Department of Investment and Public Asset Management</a:t>
            </a:r>
            <a:endParaRPr kumimoji="0" lang="en-IN" sz="1100" b="0"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endParaRPr>
          </a:p>
        </p:txBody>
      </p:sp>
      <p:sp>
        <p:nvSpPr>
          <p:cNvPr id="40" name="Rectangle 39"/>
          <p:cNvSpPr/>
          <p:nvPr/>
        </p:nvSpPr>
        <p:spPr bwMode="gray">
          <a:xfrm>
            <a:off x="7014344" y="5462562"/>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lvl="0" algn="ctr" defTabSz="1219170">
              <a:lnSpc>
                <a:spcPct val="106000"/>
              </a:lnSpc>
            </a:pPr>
            <a:r>
              <a:rPr lang="en-IN" sz="1300" dirty="0" err="1">
                <a:solidFill>
                  <a:srgbClr val="FFFFFF"/>
                </a:solidFill>
                <a:latin typeface="Calibri" panose="020F0502020204030204" pitchFamily="34" charset="0"/>
                <a:cs typeface="Calibri" panose="020F0502020204030204" pitchFamily="34" charset="0"/>
              </a:rPr>
              <a:t>CoC</a:t>
            </a:r>
            <a:r>
              <a:rPr lang="en-IN" sz="1300" dirty="0">
                <a:solidFill>
                  <a:srgbClr val="FFFFFF"/>
                </a:solidFill>
                <a:latin typeface="Calibri" panose="020F0502020204030204" pitchFamily="34" charset="0"/>
                <a:cs typeface="Calibri" panose="020F0502020204030204" pitchFamily="34" charset="0"/>
              </a:rPr>
              <a:t> of Jal Power</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41" name="Rectangle 40"/>
          <p:cNvSpPr/>
          <p:nvPr/>
        </p:nvSpPr>
        <p:spPr bwMode="gray">
          <a:xfrm>
            <a:off x="8661478"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42" name="Rectangle 41"/>
          <p:cNvSpPr/>
          <p:nvPr/>
        </p:nvSpPr>
        <p:spPr bwMode="gray">
          <a:xfrm>
            <a:off x="10331252"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45" name="Rectangle 44"/>
          <p:cNvSpPr/>
          <p:nvPr/>
        </p:nvSpPr>
        <p:spPr bwMode="gray">
          <a:xfrm>
            <a:off x="8661478" y="5462562"/>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lvl="0" algn="ctr" defTabSz="1219170">
              <a:lnSpc>
                <a:spcPct val="106000"/>
              </a:lnSpc>
            </a:pPr>
            <a:r>
              <a:rPr lang="en-US" sz="1300" dirty="0">
                <a:solidFill>
                  <a:srgbClr val="FFFFFF"/>
                </a:solidFill>
                <a:latin typeface="Calibri" panose="020F0502020204030204" pitchFamily="34" charset="0"/>
                <a:cs typeface="Calibri" panose="020F0502020204030204" pitchFamily="34" charset="0"/>
              </a:rPr>
              <a:t>RP of </a:t>
            </a:r>
            <a:r>
              <a:rPr lang="en-US" sz="1300" dirty="0" err="1">
                <a:solidFill>
                  <a:srgbClr val="FFFFFF"/>
                </a:solidFill>
                <a:latin typeface="Calibri" panose="020F0502020204030204" pitchFamily="34" charset="0"/>
                <a:cs typeface="Calibri" panose="020F0502020204030204" pitchFamily="34" charset="0"/>
              </a:rPr>
              <a:t>Korba</a:t>
            </a:r>
            <a:r>
              <a:rPr lang="en-US" sz="1300" dirty="0">
                <a:solidFill>
                  <a:srgbClr val="FFFFFF"/>
                </a:solidFill>
                <a:latin typeface="Calibri" panose="020F0502020204030204" pitchFamily="34" charset="0"/>
                <a:cs typeface="Calibri" panose="020F0502020204030204" pitchFamily="34" charset="0"/>
              </a:rPr>
              <a:t> West Power Company</a:t>
            </a:r>
            <a:endParaRPr kumimoji="0" lang="en-IN" sz="1300" b="0"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endParaRPr>
          </a:p>
        </p:txBody>
      </p:sp>
      <p:sp>
        <p:nvSpPr>
          <p:cNvPr id="46" name="Rectangle 45"/>
          <p:cNvSpPr/>
          <p:nvPr/>
        </p:nvSpPr>
        <p:spPr bwMode="gray">
          <a:xfrm>
            <a:off x="10331252" y="5462562"/>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lvl="0" algn="ctr" defTabSz="1219170">
              <a:lnSpc>
                <a:spcPct val="106000"/>
              </a:lnSpc>
            </a:pPr>
            <a:r>
              <a:rPr lang="en-US" sz="1300" dirty="0">
                <a:solidFill>
                  <a:srgbClr val="FFFFFF"/>
                </a:solidFill>
                <a:latin typeface="Calibri" panose="020F0502020204030204" pitchFamily="34" charset="0"/>
                <a:cs typeface="Calibri" panose="020F0502020204030204" pitchFamily="34" charset="0"/>
              </a:rPr>
              <a:t>RP of </a:t>
            </a:r>
            <a:r>
              <a:rPr lang="en-US" sz="1300" dirty="0" err="1">
                <a:solidFill>
                  <a:srgbClr val="FFFFFF"/>
                </a:solidFill>
                <a:latin typeface="Calibri" panose="020F0502020204030204" pitchFamily="34" charset="0"/>
                <a:cs typeface="Calibri" panose="020F0502020204030204" pitchFamily="34" charset="0"/>
              </a:rPr>
              <a:t>Lanco</a:t>
            </a:r>
            <a:r>
              <a:rPr lang="en-US" sz="1300" dirty="0">
                <a:solidFill>
                  <a:srgbClr val="FFFFFF"/>
                </a:solidFill>
                <a:latin typeface="Calibri" panose="020F0502020204030204" pitchFamily="34" charset="0"/>
                <a:cs typeface="Calibri" panose="020F0502020204030204" pitchFamily="34" charset="0"/>
              </a:rPr>
              <a:t> Infratech Limited</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47" name="Rectangle 46"/>
          <p:cNvSpPr/>
          <p:nvPr/>
        </p:nvSpPr>
        <p:spPr bwMode="gray">
          <a:xfrm>
            <a:off x="5351946" y="3930419"/>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4" name="Rectangle 3"/>
          <p:cNvSpPr/>
          <p:nvPr/>
        </p:nvSpPr>
        <p:spPr>
          <a:xfrm>
            <a:off x="2037720" y="3923972"/>
            <a:ext cx="1462785" cy="1422697"/>
          </a:xfrm>
          <a:prstGeom prst="rect">
            <a:avLst/>
          </a:prstGeom>
        </p:spPr>
        <p:txBody>
          <a:bodyPr wrap="square">
            <a:spAutoFit/>
          </a:bodyPr>
          <a:lstStyle/>
          <a:p>
            <a:pPr lvl="0" algn="ctr" defTabSz="1219170">
              <a:lnSpc>
                <a:spcPct val="95000"/>
              </a:lnSpc>
            </a:pPr>
            <a:r>
              <a:rPr lang="en-US" sz="1300" dirty="0">
                <a:solidFill>
                  <a:srgbClr val="000000"/>
                </a:solidFill>
                <a:latin typeface="Calibri" panose="020F0502020204030204" pitchFamily="34" charset="0"/>
                <a:cs typeface="Calibri" panose="020F0502020204030204" pitchFamily="34" charset="0"/>
              </a:rPr>
              <a:t>Transaction Advisory service for hiving off existing RE business into a Wholly Owned Subsidiary</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36" name="Rectangle 35"/>
          <p:cNvSpPr/>
          <p:nvPr/>
        </p:nvSpPr>
        <p:spPr>
          <a:xfrm>
            <a:off x="3689233" y="3923972"/>
            <a:ext cx="1470680" cy="1232645"/>
          </a:xfrm>
          <a:prstGeom prst="rect">
            <a:avLst/>
          </a:prstGeom>
        </p:spPr>
        <p:txBody>
          <a:bodyPr wrap="square">
            <a:spAutoFit/>
          </a:bodyPr>
          <a:lstStyle/>
          <a:p>
            <a:pPr lvl="0" algn="ctr" defTabSz="1219170">
              <a:lnSpc>
                <a:spcPct val="95000"/>
              </a:lnSpc>
            </a:pPr>
            <a:r>
              <a:rPr lang="en-US" sz="1300" dirty="0">
                <a:solidFill>
                  <a:srgbClr val="000000"/>
                </a:solidFill>
                <a:latin typeface="Calibri" panose="020F0502020204030204" pitchFamily="34" charset="0"/>
                <a:cs typeface="Calibri" panose="020F0502020204030204" pitchFamily="34" charset="0"/>
              </a:rPr>
              <a:t>Buy side advisory to PFC for acquisition of 52.63% equity stake held by </a:t>
            </a:r>
            <a:r>
              <a:rPr lang="en-US" sz="1300" dirty="0" err="1">
                <a:solidFill>
                  <a:srgbClr val="000000"/>
                </a:solidFill>
                <a:latin typeface="Calibri" panose="020F0502020204030204" pitchFamily="34" charset="0"/>
                <a:cs typeface="Calibri" panose="020F0502020204030204" pitchFamily="34" charset="0"/>
              </a:rPr>
              <a:t>GoI</a:t>
            </a:r>
            <a:r>
              <a:rPr lang="en-US" sz="1300" dirty="0">
                <a:solidFill>
                  <a:srgbClr val="000000"/>
                </a:solidFill>
                <a:latin typeface="Calibri" panose="020F0502020204030204" pitchFamily="34" charset="0"/>
                <a:cs typeface="Calibri" panose="020F0502020204030204" pitchFamily="34" charset="0"/>
              </a:rPr>
              <a:t> in REC Limited</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48" name="Rectangle 47"/>
          <p:cNvSpPr/>
          <p:nvPr/>
        </p:nvSpPr>
        <p:spPr>
          <a:xfrm>
            <a:off x="5326664" y="3923148"/>
            <a:ext cx="1608167" cy="1232645"/>
          </a:xfrm>
          <a:prstGeom prst="rect">
            <a:avLst/>
          </a:prstGeom>
        </p:spPr>
        <p:txBody>
          <a:bodyPr wrap="square">
            <a:spAutoFit/>
          </a:bodyPr>
          <a:lstStyle/>
          <a:p>
            <a:pPr lvl="0" algn="ctr" defTabSz="1219170">
              <a:lnSpc>
                <a:spcPct val="95000"/>
              </a:lnSpc>
            </a:pPr>
            <a:r>
              <a:rPr lang="en-US" sz="1300" dirty="0">
                <a:solidFill>
                  <a:srgbClr val="000000"/>
                </a:solidFill>
                <a:latin typeface="Calibri" panose="020F0502020204030204" pitchFamily="34" charset="0"/>
                <a:cs typeface="Calibri" panose="020F0502020204030204" pitchFamily="34" charset="0"/>
              </a:rPr>
              <a:t>Sell side advisory to DIPAM for sale of c. 74.5% equity stake held by </a:t>
            </a:r>
            <a:r>
              <a:rPr lang="en-US" sz="1300" dirty="0" err="1">
                <a:solidFill>
                  <a:srgbClr val="000000"/>
                </a:solidFill>
                <a:latin typeface="Calibri" panose="020F0502020204030204" pitchFamily="34" charset="0"/>
                <a:cs typeface="Calibri" panose="020F0502020204030204" pitchFamily="34" charset="0"/>
              </a:rPr>
              <a:t>GoI</a:t>
            </a:r>
            <a:r>
              <a:rPr lang="en-US" sz="1300" dirty="0">
                <a:solidFill>
                  <a:srgbClr val="000000"/>
                </a:solidFill>
                <a:latin typeface="Calibri" panose="020F0502020204030204" pitchFamily="34" charset="0"/>
                <a:cs typeface="Calibri" panose="020F0502020204030204" pitchFamily="34" charset="0"/>
              </a:rPr>
              <a:t> in THDC India Limited to NTPC Limited</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49" name="Rectangle 48"/>
          <p:cNvSpPr/>
          <p:nvPr/>
        </p:nvSpPr>
        <p:spPr>
          <a:xfrm>
            <a:off x="7006712" y="3930419"/>
            <a:ext cx="1480732" cy="1292662"/>
          </a:xfrm>
          <a:prstGeom prst="rect">
            <a:avLst/>
          </a:prstGeom>
        </p:spPr>
        <p:txBody>
          <a:bodyPr wrap="square">
            <a:spAutoFit/>
          </a:bodyPr>
          <a:lstStyle/>
          <a:p>
            <a:pPr lvl="0" algn="ctr" defTabSz="1219170"/>
            <a:r>
              <a:rPr lang="en-US" sz="1300" dirty="0">
                <a:solidFill>
                  <a:srgbClr val="000000"/>
                </a:solidFill>
                <a:latin typeface="Calibri" panose="020F0502020204030204" pitchFamily="34" charset="0"/>
                <a:ea typeface="Times" panose="02020603050405020304" pitchFamily="18" charset="0"/>
                <a:cs typeface="Calibri" panose="020F0502020204030204" pitchFamily="34" charset="0"/>
              </a:rPr>
              <a:t>Advisory to Committee of Creditors (</a:t>
            </a:r>
            <a:r>
              <a:rPr lang="en-US" sz="1300" dirty="0" err="1">
                <a:solidFill>
                  <a:srgbClr val="000000"/>
                </a:solidFill>
                <a:latin typeface="Calibri" panose="020F0502020204030204" pitchFamily="34" charset="0"/>
                <a:ea typeface="Times" panose="02020603050405020304" pitchFamily="18" charset="0"/>
                <a:cs typeface="Calibri" panose="020F0502020204030204" pitchFamily="34" charset="0"/>
              </a:rPr>
              <a:t>CoC</a:t>
            </a:r>
            <a:r>
              <a:rPr lang="en-US" sz="1300" dirty="0">
                <a:solidFill>
                  <a:srgbClr val="000000"/>
                </a:solidFill>
                <a:latin typeface="Calibri" panose="020F0502020204030204" pitchFamily="34" charset="0"/>
                <a:ea typeface="Times" panose="02020603050405020304" pitchFamily="18" charset="0"/>
                <a:cs typeface="Calibri" panose="020F0502020204030204" pitchFamily="34" charset="0"/>
              </a:rPr>
              <a:t>) of Jal Power for evaluation of resolution plans</a:t>
            </a:r>
            <a:endParaRPr kumimoji="0" lang="en-IN"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50" name="Rectangle 49"/>
          <p:cNvSpPr/>
          <p:nvPr/>
        </p:nvSpPr>
        <p:spPr>
          <a:xfrm>
            <a:off x="8669110" y="3886032"/>
            <a:ext cx="1488108" cy="1612749"/>
          </a:xfrm>
          <a:prstGeom prst="rect">
            <a:avLst/>
          </a:prstGeom>
        </p:spPr>
        <p:txBody>
          <a:bodyPr wrap="square">
            <a:spAutoFit/>
          </a:bodyPr>
          <a:lstStyle/>
          <a:p>
            <a:pPr lvl="0" algn="ctr" defTabSz="1219170">
              <a:lnSpc>
                <a:spcPct val="95000"/>
              </a:lnSpc>
            </a:pPr>
            <a:r>
              <a:rPr lang="en-US" sz="1300" dirty="0">
                <a:solidFill>
                  <a:srgbClr val="000000"/>
                </a:solidFill>
                <a:latin typeface="Calibri" panose="020F0502020204030204" pitchFamily="34" charset="0"/>
                <a:cs typeface="Calibri" panose="020F0502020204030204" pitchFamily="34" charset="0"/>
              </a:rPr>
              <a:t>Professional advisory services to the Resolution Professional of </a:t>
            </a:r>
            <a:r>
              <a:rPr lang="en-US" sz="1300" dirty="0" err="1">
                <a:solidFill>
                  <a:srgbClr val="000000"/>
                </a:solidFill>
                <a:latin typeface="Calibri" panose="020F0502020204030204" pitchFamily="34" charset="0"/>
                <a:cs typeface="Calibri" panose="020F0502020204030204" pitchFamily="34" charset="0"/>
              </a:rPr>
              <a:t>Korba</a:t>
            </a:r>
            <a:r>
              <a:rPr lang="en-US" sz="1300" dirty="0">
                <a:solidFill>
                  <a:srgbClr val="000000"/>
                </a:solidFill>
                <a:latin typeface="Calibri" panose="020F0502020204030204" pitchFamily="34" charset="0"/>
                <a:cs typeface="Calibri" panose="020F0502020204030204" pitchFamily="34" charset="0"/>
              </a:rPr>
              <a:t> West Power Company Ltd. Incl. sell-side financial advice</a:t>
            </a:r>
            <a:endParaRPr kumimoji="0" lang="en-GB"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51" name="Rectangle 50"/>
          <p:cNvSpPr/>
          <p:nvPr/>
        </p:nvSpPr>
        <p:spPr>
          <a:xfrm>
            <a:off x="10323620" y="3913758"/>
            <a:ext cx="1473100" cy="1422697"/>
          </a:xfrm>
          <a:prstGeom prst="rect">
            <a:avLst/>
          </a:prstGeom>
        </p:spPr>
        <p:txBody>
          <a:bodyPr wrap="square">
            <a:spAutoFit/>
          </a:bodyPr>
          <a:lstStyle/>
          <a:p>
            <a:pPr lvl="0" algn="ctr" defTabSz="1219170">
              <a:lnSpc>
                <a:spcPct val="95000"/>
              </a:lnSpc>
            </a:pPr>
            <a:r>
              <a:rPr lang="en-US" sz="1300" dirty="0">
                <a:solidFill>
                  <a:srgbClr val="000000"/>
                </a:solidFill>
                <a:latin typeface="Calibri" panose="020F0502020204030204" pitchFamily="34" charset="0"/>
                <a:cs typeface="Calibri" panose="020F0502020204030204" pitchFamily="34" charset="0"/>
              </a:rPr>
              <a:t>Professional advisory services to the Resolution Professional of </a:t>
            </a:r>
            <a:r>
              <a:rPr lang="en-US" sz="1300" dirty="0" err="1">
                <a:solidFill>
                  <a:srgbClr val="000000"/>
                </a:solidFill>
                <a:latin typeface="Calibri" panose="020F0502020204030204" pitchFamily="34" charset="0"/>
                <a:cs typeface="Calibri" panose="020F0502020204030204" pitchFamily="34" charset="0"/>
              </a:rPr>
              <a:t>Lanco</a:t>
            </a:r>
            <a:r>
              <a:rPr lang="en-US" sz="1300" dirty="0">
                <a:solidFill>
                  <a:srgbClr val="000000"/>
                </a:solidFill>
                <a:latin typeface="Calibri" panose="020F0502020204030204" pitchFamily="34" charset="0"/>
                <a:cs typeface="Calibri" panose="020F0502020204030204" pitchFamily="34" charset="0"/>
              </a:rPr>
              <a:t> Infratech Ltd. Incl. sell-side financial advice</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51602984"/>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Calibri" panose="020F0502020204030204" pitchFamily="34" charset="0"/>
                <a:cs typeface="Calibri" panose="020F0502020204030204" pitchFamily="34" charset="0"/>
              </a:rPr>
              <a:t>Our selected credentials</a:t>
            </a:r>
          </a:p>
        </p:txBody>
      </p:sp>
      <p:sp>
        <p:nvSpPr>
          <p:cNvPr id="3" name="Text Placeholder 2"/>
          <p:cNvSpPr>
            <a:spLocks noGrp="1"/>
          </p:cNvSpPr>
          <p:nvPr>
            <p:ph type="body" sz="quarter" idx="13"/>
          </p:nvPr>
        </p:nvSpPr>
        <p:spPr/>
        <p:txBody>
          <a:bodyPr/>
          <a:lstStyle/>
          <a:p>
            <a:r>
              <a:rPr lang="en-US" b="1" i="1" dirty="0">
                <a:latin typeface="Calibri" panose="020F0502020204030204" pitchFamily="34" charset="0"/>
                <a:cs typeface="Calibri" panose="020F0502020204030204" pitchFamily="34" charset="0"/>
              </a:rPr>
              <a:t>Category B</a:t>
            </a:r>
            <a:r>
              <a:rPr lang="en-US" dirty="0">
                <a:latin typeface="Calibri" panose="020F0502020204030204" pitchFamily="34" charset="0"/>
                <a:cs typeface="Calibri" panose="020F0502020204030204" pitchFamily="34" charset="0"/>
              </a:rPr>
              <a:t>: Experience in supporting on areas of stressed asset management including areas of valuation, commercial and technical due-diligence, Resolution Professional			           (2/2)</a:t>
            </a:r>
            <a:endParaRPr lang="en-IN" dirty="0">
              <a:latin typeface="Calibri" panose="020F0502020204030204" pitchFamily="34" charset="0"/>
              <a:cs typeface="Calibri" panose="020F0502020204030204" pitchFamily="34" charset="0"/>
            </a:endParaRPr>
          </a:p>
        </p:txBody>
      </p:sp>
      <p:sp>
        <p:nvSpPr>
          <p:cNvPr id="5" name="Rectangle 4"/>
          <p:cNvSpPr/>
          <p:nvPr/>
        </p:nvSpPr>
        <p:spPr bwMode="gray">
          <a:xfrm>
            <a:off x="2677051"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6" name="Rectangle 5"/>
          <p:cNvSpPr/>
          <p:nvPr/>
        </p:nvSpPr>
        <p:spPr bwMode="gray">
          <a:xfrm>
            <a:off x="4335939"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7" name="TextBox 6"/>
          <p:cNvSpPr txBox="1"/>
          <p:nvPr/>
        </p:nvSpPr>
        <p:spPr>
          <a:xfrm>
            <a:off x="2662614" y="1537973"/>
            <a:ext cx="1488108" cy="1400383"/>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Professional advisory services to the Resolution Professional of </a:t>
            </a:r>
            <a:r>
              <a:rPr lang="en-US" sz="1300" dirty="0" err="1">
                <a:solidFill>
                  <a:srgbClr val="000000"/>
                </a:solidFill>
                <a:latin typeface="Calibri" panose="020F0502020204030204" pitchFamily="34" charset="0"/>
                <a:cs typeface="Calibri" panose="020F0502020204030204" pitchFamily="34" charset="0"/>
              </a:rPr>
              <a:t>Lanco</a:t>
            </a:r>
            <a:r>
              <a:rPr lang="en-US" sz="1300" dirty="0">
                <a:solidFill>
                  <a:srgbClr val="000000"/>
                </a:solidFill>
                <a:latin typeface="Calibri" panose="020F0502020204030204" pitchFamily="34" charset="0"/>
                <a:cs typeface="Calibri" panose="020F0502020204030204" pitchFamily="34" charset="0"/>
              </a:rPr>
              <a:t> </a:t>
            </a:r>
            <a:r>
              <a:rPr lang="en-US" sz="1300" dirty="0" err="1">
                <a:solidFill>
                  <a:srgbClr val="000000"/>
                </a:solidFill>
                <a:latin typeface="Calibri" panose="020F0502020204030204" pitchFamily="34" charset="0"/>
                <a:cs typeface="Calibri" panose="020F0502020204030204" pitchFamily="34" charset="0"/>
              </a:rPr>
              <a:t>Kondapalli</a:t>
            </a:r>
            <a:r>
              <a:rPr lang="en-US" sz="1300" dirty="0">
                <a:solidFill>
                  <a:srgbClr val="000000"/>
                </a:solidFill>
                <a:latin typeface="Calibri" panose="020F0502020204030204" pitchFamily="34" charset="0"/>
                <a:cs typeface="Calibri" panose="020F0502020204030204" pitchFamily="34" charset="0"/>
              </a:rPr>
              <a:t> Power Ltd. Incl. sell-side financial advice</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8" name="TextBox 7"/>
          <p:cNvSpPr txBox="1"/>
          <p:nvPr/>
        </p:nvSpPr>
        <p:spPr>
          <a:xfrm>
            <a:off x="4332388" y="1537973"/>
            <a:ext cx="1485425" cy="1400383"/>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Professional advisory services to the Resolution Professional of </a:t>
            </a:r>
            <a:r>
              <a:rPr lang="en-US" sz="1300" dirty="0" err="1">
                <a:solidFill>
                  <a:srgbClr val="000000"/>
                </a:solidFill>
                <a:latin typeface="Calibri" panose="020F0502020204030204" pitchFamily="34" charset="0"/>
                <a:cs typeface="Calibri" panose="020F0502020204030204" pitchFamily="34" charset="0"/>
              </a:rPr>
              <a:t>Simhapuri</a:t>
            </a:r>
            <a:r>
              <a:rPr lang="en-US" sz="1300" dirty="0">
                <a:solidFill>
                  <a:srgbClr val="000000"/>
                </a:solidFill>
                <a:latin typeface="Calibri" panose="020F0502020204030204" pitchFamily="34" charset="0"/>
                <a:cs typeface="Calibri" panose="020F0502020204030204" pitchFamily="34" charset="0"/>
              </a:rPr>
              <a:t> Energy Limited undergoing CIR process</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9" name="Rectangle 8"/>
          <p:cNvSpPr/>
          <p:nvPr/>
        </p:nvSpPr>
        <p:spPr bwMode="gray">
          <a:xfrm>
            <a:off x="2677051" y="3028525"/>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lvl="0" algn="ctr" defTabSz="1219170">
              <a:lnSpc>
                <a:spcPct val="106000"/>
              </a:lnSpc>
            </a:pPr>
            <a:r>
              <a:rPr lang="en-US" sz="1300" dirty="0">
                <a:solidFill>
                  <a:srgbClr val="FFFFFF"/>
                </a:solidFill>
                <a:latin typeface="Calibri" panose="020F0502020204030204" pitchFamily="34" charset="0"/>
                <a:cs typeface="Calibri" panose="020F0502020204030204" pitchFamily="34" charset="0"/>
              </a:rPr>
              <a:t>RP of </a:t>
            </a:r>
            <a:r>
              <a:rPr lang="en-US" sz="1300" dirty="0" err="1">
                <a:solidFill>
                  <a:srgbClr val="FFFFFF"/>
                </a:solidFill>
                <a:latin typeface="Calibri" panose="020F0502020204030204" pitchFamily="34" charset="0"/>
                <a:cs typeface="Calibri" panose="020F0502020204030204" pitchFamily="34" charset="0"/>
              </a:rPr>
              <a:t>Lanco</a:t>
            </a:r>
            <a:r>
              <a:rPr lang="en-US" sz="1300" dirty="0">
                <a:solidFill>
                  <a:srgbClr val="FFFFFF"/>
                </a:solidFill>
                <a:latin typeface="Calibri" panose="020F0502020204030204" pitchFamily="34" charset="0"/>
                <a:cs typeface="Calibri" panose="020F0502020204030204" pitchFamily="34" charset="0"/>
              </a:rPr>
              <a:t> </a:t>
            </a:r>
            <a:r>
              <a:rPr lang="en-US" sz="1300" dirty="0" err="1">
                <a:solidFill>
                  <a:srgbClr val="FFFFFF"/>
                </a:solidFill>
                <a:latin typeface="Calibri" panose="020F0502020204030204" pitchFamily="34" charset="0"/>
                <a:cs typeface="Calibri" panose="020F0502020204030204" pitchFamily="34" charset="0"/>
              </a:rPr>
              <a:t>Kondapalli</a:t>
            </a:r>
            <a:r>
              <a:rPr lang="en-US" sz="1300" dirty="0">
                <a:solidFill>
                  <a:srgbClr val="FFFFFF"/>
                </a:solidFill>
                <a:latin typeface="Calibri" panose="020F0502020204030204" pitchFamily="34" charset="0"/>
                <a:cs typeface="Calibri" panose="020F0502020204030204" pitchFamily="34" charset="0"/>
              </a:rPr>
              <a:t> Limited</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0" name="Rectangle 9"/>
          <p:cNvSpPr/>
          <p:nvPr/>
        </p:nvSpPr>
        <p:spPr bwMode="gray">
          <a:xfrm>
            <a:off x="4335939" y="3028525"/>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lvl="0" algn="ctr" defTabSz="1219170">
              <a:lnSpc>
                <a:spcPct val="106000"/>
              </a:lnSpc>
            </a:pPr>
            <a:r>
              <a:rPr lang="pt-BR" sz="1300" dirty="0">
                <a:solidFill>
                  <a:srgbClr val="FFFFFF"/>
                </a:solidFill>
                <a:latin typeface="Calibri" panose="020F0502020204030204" pitchFamily="34" charset="0"/>
                <a:cs typeface="Calibri" panose="020F0502020204030204" pitchFamily="34" charset="0"/>
              </a:rPr>
              <a:t>RP </a:t>
            </a:r>
            <a:r>
              <a:rPr lang="en-US" sz="1300" dirty="0">
                <a:solidFill>
                  <a:srgbClr val="FFFFFF"/>
                </a:solidFill>
                <a:latin typeface="Calibri" panose="020F0502020204030204" pitchFamily="34" charset="0"/>
                <a:cs typeface="Calibri" panose="020F0502020204030204" pitchFamily="34" charset="0"/>
              </a:rPr>
              <a:t>of </a:t>
            </a:r>
            <a:r>
              <a:rPr lang="en-US" sz="1300" dirty="0" err="1">
                <a:solidFill>
                  <a:srgbClr val="FFFFFF"/>
                </a:solidFill>
                <a:latin typeface="Calibri" panose="020F0502020204030204" pitchFamily="34" charset="0"/>
                <a:cs typeface="Calibri" panose="020F0502020204030204" pitchFamily="34" charset="0"/>
              </a:rPr>
              <a:t>Simhapuri</a:t>
            </a:r>
            <a:r>
              <a:rPr lang="en-US" sz="1300" dirty="0">
                <a:solidFill>
                  <a:srgbClr val="FFFFFF"/>
                </a:solidFill>
                <a:latin typeface="Calibri" panose="020F0502020204030204" pitchFamily="34" charset="0"/>
                <a:cs typeface="Calibri" panose="020F0502020204030204" pitchFamily="34" charset="0"/>
              </a:rPr>
              <a:t> Energy Limited</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1" name="Rectangle 10"/>
          <p:cNvSpPr/>
          <p:nvPr/>
        </p:nvSpPr>
        <p:spPr bwMode="gray">
          <a:xfrm>
            <a:off x="5991276"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2" name="Rectangle 11"/>
          <p:cNvSpPr/>
          <p:nvPr/>
        </p:nvSpPr>
        <p:spPr bwMode="gray">
          <a:xfrm>
            <a:off x="7661050"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4" name="TextBox 13"/>
          <p:cNvSpPr txBox="1"/>
          <p:nvPr/>
        </p:nvSpPr>
        <p:spPr>
          <a:xfrm>
            <a:off x="5985042" y="1543031"/>
            <a:ext cx="1488108" cy="1400383"/>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Professional advisory services to the Resolution Professional of South East U.P. Power Transmission Company Ltd.</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5" name="TextBox 14"/>
          <p:cNvSpPr txBox="1"/>
          <p:nvPr/>
        </p:nvSpPr>
        <p:spPr>
          <a:xfrm>
            <a:off x="7751627" y="1533738"/>
            <a:ext cx="1321706" cy="1200329"/>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Professional advisory services to the Liquidator of </a:t>
            </a:r>
            <a:r>
              <a:rPr lang="en-US" sz="1300" dirty="0" err="1">
                <a:solidFill>
                  <a:srgbClr val="000000"/>
                </a:solidFill>
                <a:latin typeface="Calibri" panose="020F0502020204030204" pitchFamily="34" charset="0"/>
                <a:cs typeface="Calibri" panose="020F0502020204030204" pitchFamily="34" charset="0"/>
              </a:rPr>
              <a:t>Lanco</a:t>
            </a:r>
            <a:r>
              <a:rPr lang="en-US" sz="1300" dirty="0">
                <a:solidFill>
                  <a:srgbClr val="000000"/>
                </a:solidFill>
                <a:latin typeface="Calibri" panose="020F0502020204030204" pitchFamily="34" charset="0"/>
                <a:cs typeface="Calibri" panose="020F0502020204030204" pitchFamily="34" charset="0"/>
              </a:rPr>
              <a:t> Infratech Limited undergoing liquidation process</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7" name="Rectangle 16"/>
          <p:cNvSpPr/>
          <p:nvPr/>
        </p:nvSpPr>
        <p:spPr bwMode="gray">
          <a:xfrm>
            <a:off x="5991276" y="3028525"/>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lvl="0" algn="ctr" defTabSz="1219170">
              <a:lnSpc>
                <a:spcPct val="106000"/>
              </a:lnSpc>
            </a:pPr>
            <a:r>
              <a:rPr lang="en-US" sz="1300" dirty="0">
                <a:solidFill>
                  <a:srgbClr val="FFFFFF"/>
                </a:solidFill>
                <a:latin typeface="Calibri" panose="020F0502020204030204" pitchFamily="34" charset="0"/>
                <a:cs typeface="Calibri" panose="020F0502020204030204" pitchFamily="34" charset="0"/>
              </a:rPr>
              <a:t>RP of Southeast U.P. Power Transmission</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8" name="Rectangle 17"/>
          <p:cNvSpPr/>
          <p:nvPr/>
        </p:nvSpPr>
        <p:spPr bwMode="gray">
          <a:xfrm>
            <a:off x="7661050" y="3028525"/>
            <a:ext cx="1488108" cy="675861"/>
          </a:xfrm>
          <a:prstGeom prst="rect">
            <a:avLst/>
          </a:prstGeom>
          <a:solidFill>
            <a:schemeClr val="accent4"/>
          </a:solidFill>
          <a:ln w="19050" algn="ctr">
            <a:noFill/>
            <a:miter lim="800000"/>
            <a:headEnd/>
            <a:tailEnd/>
          </a:ln>
        </p:spPr>
        <p:txBody>
          <a:bodyPr wrap="square" lIns="88900" tIns="88900" rIns="88900" bIns="88900" rtlCol="0" anchor="ctr"/>
          <a:lstStyle/>
          <a:p>
            <a:pPr lvl="0" algn="ctr" defTabSz="1219170">
              <a:lnSpc>
                <a:spcPct val="106000"/>
              </a:lnSpc>
            </a:pPr>
            <a:r>
              <a:rPr lang="en-IN" sz="1300" dirty="0">
                <a:solidFill>
                  <a:srgbClr val="FFFFFF"/>
                </a:solidFill>
                <a:latin typeface="Calibri" panose="020F0502020204030204" pitchFamily="34" charset="0"/>
                <a:cs typeface="Calibri" panose="020F0502020204030204" pitchFamily="34" charset="0"/>
              </a:rPr>
              <a:t>Liquidator of </a:t>
            </a:r>
            <a:r>
              <a:rPr lang="en-IN" sz="1300" dirty="0" err="1">
                <a:solidFill>
                  <a:srgbClr val="FFFFFF"/>
                </a:solidFill>
                <a:latin typeface="Calibri" panose="020F0502020204030204" pitchFamily="34" charset="0"/>
                <a:cs typeface="Calibri" panose="020F0502020204030204" pitchFamily="34" charset="0"/>
              </a:rPr>
              <a:t>Lanco</a:t>
            </a:r>
            <a:r>
              <a:rPr lang="en-IN" sz="1300" dirty="0">
                <a:solidFill>
                  <a:srgbClr val="FFFFFF"/>
                </a:solidFill>
                <a:latin typeface="Calibri" panose="020F0502020204030204" pitchFamily="34" charset="0"/>
                <a:cs typeface="Calibri" panose="020F0502020204030204" pitchFamily="34" charset="0"/>
              </a:rPr>
              <a:t> Infratech Limited</a:t>
            </a:r>
            <a:endParaRPr kumimoji="0" lang="en-IN" sz="1300" b="0"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80490959"/>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Calibri" panose="020F0502020204030204" pitchFamily="34" charset="0"/>
                <a:cs typeface="Calibri" panose="020F0502020204030204" pitchFamily="34" charset="0"/>
              </a:rPr>
              <a:t>Our selected credentials</a:t>
            </a:r>
          </a:p>
        </p:txBody>
      </p:sp>
      <p:sp>
        <p:nvSpPr>
          <p:cNvPr id="3" name="Text Placeholder 2"/>
          <p:cNvSpPr>
            <a:spLocks noGrp="1"/>
          </p:cNvSpPr>
          <p:nvPr>
            <p:ph type="body" sz="quarter" idx="13"/>
          </p:nvPr>
        </p:nvSpPr>
        <p:spPr/>
        <p:txBody>
          <a:bodyPr/>
          <a:lstStyle/>
          <a:p>
            <a:r>
              <a:rPr lang="en-US" b="1" i="1" dirty="0">
                <a:latin typeface="Calibri" panose="020F0502020204030204" pitchFamily="34" charset="0"/>
                <a:cs typeface="Calibri" panose="020F0502020204030204" pitchFamily="34" charset="0"/>
              </a:rPr>
              <a:t>Category C:</a:t>
            </a:r>
            <a:r>
              <a:rPr lang="en-US" dirty="0">
                <a:latin typeface="Calibri" panose="020F0502020204030204" pitchFamily="34" charset="0"/>
                <a:cs typeface="Calibri" panose="020F0502020204030204" pitchFamily="34" charset="0"/>
              </a:rPr>
              <a:t> Experience in providing regulatory related work in distribution, transmission and generation sector for Power utilities, Regulatory commissions, MoP and Forum of Regulators		         (1/2)</a:t>
            </a:r>
            <a:endParaRPr lang="en-IN" dirty="0">
              <a:latin typeface="Calibri" panose="020F0502020204030204" pitchFamily="34" charset="0"/>
              <a:cs typeface="Calibri" panose="020F0502020204030204" pitchFamily="34" charset="0"/>
            </a:endParaRPr>
          </a:p>
        </p:txBody>
      </p:sp>
      <p:sp>
        <p:nvSpPr>
          <p:cNvPr id="5" name="Rectangle 4"/>
          <p:cNvSpPr/>
          <p:nvPr/>
        </p:nvSpPr>
        <p:spPr bwMode="gray">
          <a:xfrm>
            <a:off x="360571"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6" name="Rectangle 5"/>
          <p:cNvSpPr/>
          <p:nvPr/>
        </p:nvSpPr>
        <p:spPr bwMode="gray">
          <a:xfrm>
            <a:off x="2019459"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7" name="TextBox 6"/>
          <p:cNvSpPr txBox="1"/>
          <p:nvPr/>
        </p:nvSpPr>
        <p:spPr>
          <a:xfrm>
            <a:off x="346134" y="1537973"/>
            <a:ext cx="1488108" cy="1000274"/>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Consultancy services for providing assistance to in all regulatory areas on retainership basis</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8" name="TextBox 7"/>
          <p:cNvSpPr txBox="1"/>
          <p:nvPr/>
        </p:nvSpPr>
        <p:spPr>
          <a:xfrm>
            <a:off x="2015908" y="1537973"/>
            <a:ext cx="1485425" cy="800219"/>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Engagement of Regulatory Affairs Consultant under WBSETCL</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9" name="Rectangle 8"/>
          <p:cNvSpPr/>
          <p:nvPr/>
        </p:nvSpPr>
        <p:spPr bwMode="gray">
          <a:xfrm>
            <a:off x="360571" y="3028525"/>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lvl="0" algn="ctr" defTabSz="1219170">
              <a:lnSpc>
                <a:spcPct val="106000"/>
              </a:lnSpc>
            </a:pPr>
            <a:r>
              <a:rPr lang="en-US" sz="1300" dirty="0">
                <a:solidFill>
                  <a:srgbClr val="FFFFFF"/>
                </a:solidFill>
                <a:latin typeface="Calibri" panose="020F0502020204030204" pitchFamily="34" charset="0"/>
                <a:cs typeface="Calibri" panose="020F0502020204030204" pitchFamily="34" charset="0"/>
              </a:rPr>
              <a:t>WBSEDCL</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0" name="Rectangle 9"/>
          <p:cNvSpPr/>
          <p:nvPr/>
        </p:nvSpPr>
        <p:spPr bwMode="gray">
          <a:xfrm>
            <a:off x="2019459" y="3028525"/>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lvl="0" algn="ctr" defTabSz="1219170">
              <a:lnSpc>
                <a:spcPct val="106000"/>
              </a:lnSpc>
            </a:pPr>
            <a:r>
              <a:rPr lang="pt-BR" sz="1300" dirty="0">
                <a:solidFill>
                  <a:srgbClr val="FFFFFF"/>
                </a:solidFill>
                <a:latin typeface="Calibri" panose="020F0502020204030204" pitchFamily="34" charset="0"/>
                <a:cs typeface="Calibri" panose="020F0502020204030204" pitchFamily="34" charset="0"/>
              </a:rPr>
              <a:t>WBSETCL</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1" name="Rectangle 10"/>
          <p:cNvSpPr/>
          <p:nvPr/>
        </p:nvSpPr>
        <p:spPr bwMode="gray">
          <a:xfrm>
            <a:off x="3674796"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2" name="Rectangle 11"/>
          <p:cNvSpPr/>
          <p:nvPr/>
        </p:nvSpPr>
        <p:spPr bwMode="gray">
          <a:xfrm>
            <a:off x="5344570"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3" name="Rectangle 12"/>
          <p:cNvSpPr/>
          <p:nvPr/>
        </p:nvSpPr>
        <p:spPr bwMode="gray">
          <a:xfrm>
            <a:off x="7014344"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4" name="TextBox 13"/>
          <p:cNvSpPr txBox="1"/>
          <p:nvPr/>
        </p:nvSpPr>
        <p:spPr>
          <a:xfrm>
            <a:off x="3833822" y="1543031"/>
            <a:ext cx="1170056" cy="800219"/>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Regulatory support to JUSCO for MYT, True Up and APR</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5" name="TextBox 14"/>
          <p:cNvSpPr txBox="1"/>
          <p:nvPr/>
        </p:nvSpPr>
        <p:spPr>
          <a:xfrm>
            <a:off x="5435147" y="1533738"/>
            <a:ext cx="1321706" cy="1000274"/>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Consultancy Services for Regulatory Requirement of JUSCO</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6" name="TextBox 15"/>
          <p:cNvSpPr txBox="1"/>
          <p:nvPr/>
        </p:nvSpPr>
        <p:spPr>
          <a:xfrm>
            <a:off x="7014344" y="1543031"/>
            <a:ext cx="1465468" cy="1200329"/>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Regulatory support in filing for True up for FY20, APR for FY21, MYT for FY22-26 and miscellaneous petition with JSERC</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7" name="Rectangle 16"/>
          <p:cNvSpPr/>
          <p:nvPr/>
        </p:nvSpPr>
        <p:spPr bwMode="gray">
          <a:xfrm>
            <a:off x="3674796" y="3028525"/>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lvl="0" algn="ctr" defTabSz="1219170">
              <a:lnSpc>
                <a:spcPct val="106000"/>
              </a:lnSpc>
            </a:pPr>
            <a:r>
              <a:rPr lang="en-US" sz="1300" dirty="0">
                <a:solidFill>
                  <a:srgbClr val="FFFFFF"/>
                </a:solidFill>
                <a:latin typeface="Calibri" panose="020F0502020204030204" pitchFamily="34" charset="0"/>
                <a:cs typeface="Calibri" panose="020F0502020204030204" pitchFamily="34" charset="0"/>
              </a:rPr>
              <a:t>JUSCO</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8" name="Rectangle 17"/>
          <p:cNvSpPr/>
          <p:nvPr/>
        </p:nvSpPr>
        <p:spPr bwMode="gray">
          <a:xfrm>
            <a:off x="5344570" y="3028525"/>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lvl="0" algn="ctr" defTabSz="1219170">
              <a:lnSpc>
                <a:spcPct val="106000"/>
              </a:lnSpc>
            </a:pPr>
            <a:r>
              <a:rPr lang="en-IN" sz="1300" dirty="0">
                <a:solidFill>
                  <a:srgbClr val="FFFFFF"/>
                </a:solidFill>
                <a:latin typeface="Calibri" panose="020F0502020204030204" pitchFamily="34" charset="0"/>
                <a:cs typeface="Calibri" panose="020F0502020204030204" pitchFamily="34" charset="0"/>
              </a:rPr>
              <a:t>JUSCO</a:t>
            </a:r>
            <a:endParaRPr kumimoji="0" lang="en-IN" sz="1300" b="0"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endParaRPr>
          </a:p>
        </p:txBody>
      </p:sp>
      <p:sp>
        <p:nvSpPr>
          <p:cNvPr id="19" name="Rectangle 18"/>
          <p:cNvSpPr/>
          <p:nvPr/>
        </p:nvSpPr>
        <p:spPr bwMode="gray">
          <a:xfrm>
            <a:off x="7014344" y="3028525"/>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lvl="0" algn="ctr" defTabSz="1219170">
              <a:lnSpc>
                <a:spcPct val="106000"/>
              </a:lnSpc>
            </a:pPr>
            <a:r>
              <a:rPr lang="en-IN" sz="1300" dirty="0">
                <a:solidFill>
                  <a:srgbClr val="FFFFFF"/>
                </a:solidFill>
                <a:latin typeface="Calibri" panose="020F0502020204030204" pitchFamily="34" charset="0"/>
                <a:cs typeface="Calibri" panose="020F0502020204030204" pitchFamily="34" charset="0"/>
              </a:rPr>
              <a:t>Inland Power</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20" name="Rectangle 19"/>
          <p:cNvSpPr/>
          <p:nvPr/>
        </p:nvSpPr>
        <p:spPr bwMode="gray">
          <a:xfrm>
            <a:off x="8661478"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21" name="Rectangle 20"/>
          <p:cNvSpPr/>
          <p:nvPr/>
        </p:nvSpPr>
        <p:spPr bwMode="gray">
          <a:xfrm>
            <a:off x="10331252" y="1493943"/>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22" name="TextBox 21"/>
          <p:cNvSpPr txBox="1"/>
          <p:nvPr/>
        </p:nvSpPr>
        <p:spPr>
          <a:xfrm>
            <a:off x="8691494" y="1543031"/>
            <a:ext cx="1458092" cy="1200329"/>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Regulatory support in True Up order review (2015-16) &amp; MYT petition submission to JSERC (incl three amendments)</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23" name="TextBox 22"/>
          <p:cNvSpPr txBox="1"/>
          <p:nvPr/>
        </p:nvSpPr>
        <p:spPr>
          <a:xfrm>
            <a:off x="10354028" y="1546700"/>
            <a:ext cx="1442555" cy="1000274"/>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Technical Assistance for Power Sector Development of South Asian Countries</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24" name="Rectangle 23"/>
          <p:cNvSpPr/>
          <p:nvPr/>
        </p:nvSpPr>
        <p:spPr bwMode="gray">
          <a:xfrm>
            <a:off x="8661478" y="3028525"/>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lvl="0" algn="ctr" defTabSz="1219170">
              <a:lnSpc>
                <a:spcPct val="106000"/>
              </a:lnSpc>
            </a:pPr>
            <a:r>
              <a:rPr lang="en-IN" sz="1300" dirty="0">
                <a:solidFill>
                  <a:srgbClr val="FFFFFF"/>
                </a:solidFill>
                <a:latin typeface="Calibri" panose="020F0502020204030204" pitchFamily="34" charset="0"/>
                <a:cs typeface="Calibri" panose="020F0502020204030204" pitchFamily="34" charset="0"/>
              </a:rPr>
              <a:t>Inland Power</a:t>
            </a:r>
            <a:endParaRPr kumimoji="0" lang="en-IN" sz="1300" b="0"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endParaRPr>
          </a:p>
        </p:txBody>
      </p:sp>
      <p:sp>
        <p:nvSpPr>
          <p:cNvPr id="25" name="Rectangle 24"/>
          <p:cNvSpPr/>
          <p:nvPr/>
        </p:nvSpPr>
        <p:spPr bwMode="gray">
          <a:xfrm>
            <a:off x="10331252" y="3028525"/>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lvl="0" algn="ctr" defTabSz="1219170">
              <a:lnSpc>
                <a:spcPct val="106000"/>
              </a:lnSpc>
            </a:pPr>
            <a:r>
              <a:rPr lang="en-IN" sz="1300" dirty="0">
                <a:solidFill>
                  <a:srgbClr val="FFFFFF"/>
                </a:solidFill>
                <a:latin typeface="Calibri" panose="020F0502020204030204" pitchFamily="34" charset="0"/>
                <a:cs typeface="Calibri" panose="020F0502020204030204" pitchFamily="34" charset="0"/>
              </a:rPr>
              <a:t>US Department of States</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26" name="Rectangle 25"/>
          <p:cNvSpPr/>
          <p:nvPr/>
        </p:nvSpPr>
        <p:spPr bwMode="gray">
          <a:xfrm>
            <a:off x="360571"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27" name="Rectangle 26"/>
          <p:cNvSpPr/>
          <p:nvPr/>
        </p:nvSpPr>
        <p:spPr bwMode="gray">
          <a:xfrm>
            <a:off x="2019459"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28" name="TextBox 27"/>
          <p:cNvSpPr txBox="1"/>
          <p:nvPr/>
        </p:nvSpPr>
        <p:spPr>
          <a:xfrm>
            <a:off x="360571" y="3972215"/>
            <a:ext cx="1488108" cy="1400383"/>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Regulatory assistance in review of petitions and preparation of tariff orders for the G-T-D utilities, SLDC for a period of 5 years (3</a:t>
            </a:r>
            <a:r>
              <a:rPr lang="en-US" sz="1300" baseline="30000" dirty="0">
                <a:solidFill>
                  <a:srgbClr val="000000"/>
                </a:solidFill>
                <a:latin typeface="Calibri" panose="020F0502020204030204" pitchFamily="34" charset="0"/>
                <a:cs typeface="Calibri" panose="020F0502020204030204" pitchFamily="34" charset="0"/>
              </a:rPr>
              <a:t>rd</a:t>
            </a:r>
            <a:r>
              <a:rPr lang="en-US" sz="1300" dirty="0">
                <a:solidFill>
                  <a:srgbClr val="000000"/>
                </a:solidFill>
                <a:latin typeface="Calibri" panose="020F0502020204030204" pitchFamily="34" charset="0"/>
                <a:cs typeface="Calibri" panose="020F0502020204030204" pitchFamily="34" charset="0"/>
              </a:rPr>
              <a:t> Control Period) </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30" name="Rectangle 29"/>
          <p:cNvSpPr/>
          <p:nvPr/>
        </p:nvSpPr>
        <p:spPr bwMode="gray">
          <a:xfrm>
            <a:off x="360571" y="5462562"/>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lvl="0" algn="ctr" defTabSz="1219170">
              <a:lnSpc>
                <a:spcPct val="106000"/>
              </a:lnSpc>
            </a:pPr>
            <a:r>
              <a:rPr lang="en-IN" sz="1300" dirty="0">
                <a:solidFill>
                  <a:srgbClr val="FFFFFF"/>
                </a:solidFill>
                <a:latin typeface="Calibri" panose="020F0502020204030204" pitchFamily="34" charset="0"/>
                <a:cs typeface="Calibri" panose="020F0502020204030204" pitchFamily="34" charset="0"/>
              </a:rPr>
              <a:t>HPERC</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31" name="Rectangle 30"/>
          <p:cNvSpPr/>
          <p:nvPr/>
        </p:nvSpPr>
        <p:spPr bwMode="gray">
          <a:xfrm>
            <a:off x="2019459" y="5462562"/>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lvl="0" algn="ctr" defTabSz="1219170">
              <a:lnSpc>
                <a:spcPct val="106000"/>
              </a:lnSpc>
            </a:pPr>
            <a:r>
              <a:rPr lang="en-US" sz="1300" dirty="0">
                <a:solidFill>
                  <a:srgbClr val="FFFFFF"/>
                </a:solidFill>
                <a:latin typeface="Calibri" panose="020F0502020204030204" pitchFamily="34" charset="0"/>
                <a:cs typeface="Calibri" panose="020F0502020204030204" pitchFamily="34" charset="0"/>
              </a:rPr>
              <a:t>HPERC</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32" name="Rectangle 31"/>
          <p:cNvSpPr/>
          <p:nvPr/>
        </p:nvSpPr>
        <p:spPr bwMode="gray">
          <a:xfrm>
            <a:off x="3674796"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34" name="Rectangle 33"/>
          <p:cNvSpPr/>
          <p:nvPr/>
        </p:nvSpPr>
        <p:spPr bwMode="gray">
          <a:xfrm>
            <a:off x="7014344"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38" name="Rectangle 37"/>
          <p:cNvSpPr/>
          <p:nvPr/>
        </p:nvSpPr>
        <p:spPr bwMode="gray">
          <a:xfrm>
            <a:off x="3674796" y="5462562"/>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lvl="0" algn="ctr" defTabSz="1219170">
              <a:lnSpc>
                <a:spcPct val="106000"/>
              </a:lnSpc>
            </a:pPr>
            <a:r>
              <a:rPr lang="en-US" sz="1300" dirty="0">
                <a:solidFill>
                  <a:srgbClr val="FFFFFF"/>
                </a:solidFill>
                <a:latin typeface="Calibri" panose="020F0502020204030204" pitchFamily="34" charset="0"/>
                <a:cs typeface="Calibri" panose="020F0502020204030204" pitchFamily="34" charset="0"/>
              </a:rPr>
              <a:t>CERC, FOR, POSOCO</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39" name="Rectangle 38"/>
          <p:cNvSpPr/>
          <p:nvPr/>
        </p:nvSpPr>
        <p:spPr bwMode="gray">
          <a:xfrm>
            <a:off x="5344570" y="5462562"/>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lvl="0" algn="ctr" defTabSz="1219170">
              <a:lnSpc>
                <a:spcPct val="106000"/>
              </a:lnSpc>
            </a:pPr>
            <a:r>
              <a:rPr lang="en-US" sz="1300" dirty="0">
                <a:solidFill>
                  <a:srgbClr val="FFFFFF"/>
                </a:solidFill>
                <a:latin typeface="Calibri" panose="020F0502020204030204" pitchFamily="34" charset="0"/>
                <a:cs typeface="Calibri" panose="020F0502020204030204" pitchFamily="34" charset="0"/>
              </a:rPr>
              <a:t>Forum of Regulators (FOR)</a:t>
            </a:r>
            <a:endParaRPr kumimoji="0" lang="en-IN" sz="1300" b="0"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endParaRPr>
          </a:p>
        </p:txBody>
      </p:sp>
      <p:sp>
        <p:nvSpPr>
          <p:cNvPr id="40" name="Rectangle 39"/>
          <p:cNvSpPr/>
          <p:nvPr/>
        </p:nvSpPr>
        <p:spPr bwMode="gray">
          <a:xfrm>
            <a:off x="7014344" y="5462562"/>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lvl="0" algn="ctr" defTabSz="1219170">
              <a:lnSpc>
                <a:spcPct val="106000"/>
              </a:lnSpc>
            </a:pPr>
            <a:r>
              <a:rPr lang="en-IN" sz="1300" dirty="0">
                <a:solidFill>
                  <a:srgbClr val="FFFFFF"/>
                </a:solidFill>
                <a:latin typeface="Calibri" panose="020F0502020204030204" pitchFamily="34" charset="0"/>
                <a:cs typeface="Calibri" panose="020F0502020204030204" pitchFamily="34" charset="0"/>
              </a:rPr>
              <a:t>Forum of Regulators (FOR)</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41" name="Rectangle 40"/>
          <p:cNvSpPr/>
          <p:nvPr/>
        </p:nvSpPr>
        <p:spPr bwMode="gray">
          <a:xfrm>
            <a:off x="8661478"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42" name="Rectangle 41"/>
          <p:cNvSpPr/>
          <p:nvPr/>
        </p:nvSpPr>
        <p:spPr bwMode="gray">
          <a:xfrm>
            <a:off x="10331252" y="3927980"/>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45" name="Rectangle 44"/>
          <p:cNvSpPr/>
          <p:nvPr/>
        </p:nvSpPr>
        <p:spPr bwMode="gray">
          <a:xfrm>
            <a:off x="8661478" y="5462562"/>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lvl="0" algn="ctr" defTabSz="1219170">
              <a:lnSpc>
                <a:spcPct val="106000"/>
              </a:lnSpc>
            </a:pPr>
            <a:r>
              <a:rPr lang="en-US" sz="1300" dirty="0">
                <a:solidFill>
                  <a:srgbClr val="FFFFFF"/>
                </a:solidFill>
                <a:latin typeface="Calibri" panose="020F0502020204030204" pitchFamily="34" charset="0"/>
                <a:cs typeface="Calibri" panose="020F0502020204030204" pitchFamily="34" charset="0"/>
              </a:rPr>
              <a:t>Forum of Regulators (FOR)</a:t>
            </a:r>
            <a:endParaRPr kumimoji="0" lang="en-IN" sz="1300" b="0"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endParaRPr>
          </a:p>
        </p:txBody>
      </p:sp>
      <p:sp>
        <p:nvSpPr>
          <p:cNvPr id="46" name="Rectangle 45"/>
          <p:cNvSpPr/>
          <p:nvPr/>
        </p:nvSpPr>
        <p:spPr bwMode="gray">
          <a:xfrm>
            <a:off x="10331252" y="5462562"/>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lvl="0" algn="ctr" defTabSz="1219170">
              <a:lnSpc>
                <a:spcPct val="106000"/>
              </a:lnSpc>
            </a:pPr>
            <a:r>
              <a:rPr lang="en-US" sz="1300" dirty="0">
                <a:solidFill>
                  <a:srgbClr val="FFFFFF"/>
                </a:solidFill>
                <a:latin typeface="Calibri" panose="020F0502020204030204" pitchFamily="34" charset="0"/>
                <a:cs typeface="Calibri" panose="020F0502020204030204" pitchFamily="34" charset="0"/>
              </a:rPr>
              <a:t>JBVNL</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47" name="Rectangle 46"/>
          <p:cNvSpPr/>
          <p:nvPr/>
        </p:nvSpPr>
        <p:spPr bwMode="gray">
          <a:xfrm>
            <a:off x="5351946" y="3930419"/>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36" name="Rectangle 35"/>
          <p:cNvSpPr/>
          <p:nvPr/>
        </p:nvSpPr>
        <p:spPr>
          <a:xfrm>
            <a:off x="3689233" y="3923972"/>
            <a:ext cx="1470680" cy="1232645"/>
          </a:xfrm>
          <a:prstGeom prst="rect">
            <a:avLst/>
          </a:prstGeom>
        </p:spPr>
        <p:txBody>
          <a:bodyPr wrap="square">
            <a:spAutoFit/>
          </a:bodyPr>
          <a:lstStyle/>
          <a:p>
            <a:pPr lvl="0" algn="ctr" defTabSz="1219170">
              <a:lnSpc>
                <a:spcPct val="95000"/>
              </a:lnSpc>
            </a:pPr>
            <a:r>
              <a:rPr lang="en-US" sz="1300" dirty="0">
                <a:solidFill>
                  <a:srgbClr val="000000"/>
                </a:solidFill>
                <a:latin typeface="Calibri" panose="020F0502020204030204" pitchFamily="34" charset="0"/>
                <a:cs typeface="Calibri" panose="020F0502020204030204" pitchFamily="34" charset="0"/>
              </a:rPr>
              <a:t>USAID Assignment - Regulatory Support to CERC, FOR, POSOCO under GTG-RISE initiative</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48" name="Rectangle 47"/>
          <p:cNvSpPr/>
          <p:nvPr/>
        </p:nvSpPr>
        <p:spPr>
          <a:xfrm>
            <a:off x="5326664" y="3923148"/>
            <a:ext cx="1608167" cy="1232645"/>
          </a:xfrm>
          <a:prstGeom prst="rect">
            <a:avLst/>
          </a:prstGeom>
        </p:spPr>
        <p:txBody>
          <a:bodyPr wrap="square">
            <a:spAutoFit/>
          </a:bodyPr>
          <a:lstStyle/>
          <a:p>
            <a:pPr lvl="0" algn="ctr" defTabSz="1219170">
              <a:lnSpc>
                <a:spcPct val="95000"/>
              </a:lnSpc>
            </a:pPr>
            <a:r>
              <a:rPr lang="en-US" sz="1300" dirty="0">
                <a:solidFill>
                  <a:srgbClr val="000000"/>
                </a:solidFill>
                <a:latin typeface="Calibri" panose="020F0502020204030204" pitchFamily="34" charset="0"/>
                <a:cs typeface="Calibri" panose="020F0502020204030204" pitchFamily="34" charset="0"/>
              </a:rPr>
              <a:t>Evolving Principles of Depreciation for Distribution Assets and Operating and Financial norms for Distribution Sector </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49" name="Rectangle 48"/>
          <p:cNvSpPr/>
          <p:nvPr/>
        </p:nvSpPr>
        <p:spPr>
          <a:xfrm>
            <a:off x="7006712" y="3930419"/>
            <a:ext cx="1480732" cy="892552"/>
          </a:xfrm>
          <a:prstGeom prst="rect">
            <a:avLst/>
          </a:prstGeom>
        </p:spPr>
        <p:txBody>
          <a:bodyPr wrap="square">
            <a:spAutoFit/>
          </a:bodyPr>
          <a:lstStyle/>
          <a:p>
            <a:pPr lvl="0" algn="ctr" defTabSz="1219170"/>
            <a:r>
              <a:rPr lang="en-US" sz="1300" dirty="0">
                <a:solidFill>
                  <a:srgbClr val="000000"/>
                </a:solidFill>
                <a:latin typeface="Calibri" panose="020F0502020204030204" pitchFamily="34" charset="0"/>
                <a:ea typeface="Times" panose="02020603050405020304" pitchFamily="18" charset="0"/>
                <a:cs typeface="Calibri" panose="020F0502020204030204" pitchFamily="34" charset="0"/>
              </a:rPr>
              <a:t>Study on “Review of Status of Open Access in Distribution”</a:t>
            </a:r>
            <a:endParaRPr kumimoji="0" lang="en-IN"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50" name="Rectangle 49"/>
          <p:cNvSpPr/>
          <p:nvPr/>
        </p:nvSpPr>
        <p:spPr>
          <a:xfrm>
            <a:off x="8669110" y="3923148"/>
            <a:ext cx="1488108" cy="1042593"/>
          </a:xfrm>
          <a:prstGeom prst="rect">
            <a:avLst/>
          </a:prstGeom>
        </p:spPr>
        <p:txBody>
          <a:bodyPr wrap="square">
            <a:spAutoFit/>
          </a:bodyPr>
          <a:lstStyle/>
          <a:p>
            <a:pPr lvl="0" algn="ctr" defTabSz="1219170">
              <a:lnSpc>
                <a:spcPct val="95000"/>
              </a:lnSpc>
            </a:pPr>
            <a:r>
              <a:rPr lang="en-US" sz="1300" dirty="0">
                <a:solidFill>
                  <a:srgbClr val="000000"/>
                </a:solidFill>
                <a:latin typeface="Calibri" panose="020F0502020204030204" pitchFamily="34" charset="0"/>
                <a:cs typeface="Calibri" panose="020F0502020204030204" pitchFamily="34" charset="0"/>
              </a:rPr>
              <a:t>Study on "Consumer Protection in electricity sector of India "</a:t>
            </a:r>
            <a:endParaRPr kumimoji="0" lang="en-GB"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51" name="Rectangle 50"/>
          <p:cNvSpPr/>
          <p:nvPr/>
        </p:nvSpPr>
        <p:spPr>
          <a:xfrm>
            <a:off x="10323620" y="3913758"/>
            <a:ext cx="1473100" cy="1422697"/>
          </a:xfrm>
          <a:prstGeom prst="rect">
            <a:avLst/>
          </a:prstGeom>
        </p:spPr>
        <p:txBody>
          <a:bodyPr wrap="square">
            <a:spAutoFit/>
          </a:bodyPr>
          <a:lstStyle/>
          <a:p>
            <a:pPr lvl="0" algn="ctr" defTabSz="1219170">
              <a:lnSpc>
                <a:spcPct val="95000"/>
              </a:lnSpc>
            </a:pPr>
            <a:r>
              <a:rPr lang="en-US" sz="1300" dirty="0">
                <a:solidFill>
                  <a:srgbClr val="000000"/>
                </a:solidFill>
                <a:latin typeface="Calibri" panose="020F0502020204030204" pitchFamily="34" charset="0"/>
                <a:cs typeface="Calibri" panose="020F0502020204030204" pitchFamily="34" charset="0"/>
              </a:rPr>
              <a:t>Regulatory Support on retainership basis for MYT petition for the Control Period FY 2016-17 to FY 2020-21</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52" name="TextBox 51">
            <a:extLst>
              <a:ext uri="{FF2B5EF4-FFF2-40B4-BE49-F238E27FC236}">
                <a16:creationId xmlns:a16="http://schemas.microsoft.com/office/drawing/2014/main" id="{69D5A382-F741-4553-8CF8-CBE6D36E9EA3}"/>
              </a:ext>
            </a:extLst>
          </p:cNvPr>
          <p:cNvSpPr txBox="1"/>
          <p:nvPr/>
        </p:nvSpPr>
        <p:spPr>
          <a:xfrm>
            <a:off x="2017286" y="3972215"/>
            <a:ext cx="1488108" cy="1400383"/>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Regulatory assistance in review of petitions and preparation of tariff orders for the G-T-D utilities, SLDC for a period of 5 years (4</a:t>
            </a:r>
            <a:r>
              <a:rPr lang="en-US" sz="1300" baseline="30000" dirty="0">
                <a:solidFill>
                  <a:srgbClr val="000000"/>
                </a:solidFill>
                <a:latin typeface="Calibri" panose="020F0502020204030204" pitchFamily="34" charset="0"/>
                <a:cs typeface="Calibri" panose="020F0502020204030204" pitchFamily="34" charset="0"/>
              </a:rPr>
              <a:t>th</a:t>
            </a:r>
            <a:r>
              <a:rPr lang="en-US" sz="1300" dirty="0">
                <a:solidFill>
                  <a:srgbClr val="000000"/>
                </a:solidFill>
                <a:latin typeface="Calibri" panose="020F0502020204030204" pitchFamily="34" charset="0"/>
                <a:cs typeface="Calibri" panose="020F0502020204030204" pitchFamily="34" charset="0"/>
              </a:rPr>
              <a:t> Control Period) </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77472070"/>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Calibri" panose="020F0502020204030204" pitchFamily="34" charset="0"/>
                <a:cs typeface="Calibri" panose="020F0502020204030204" pitchFamily="34" charset="0"/>
              </a:rPr>
              <a:t>Our selected credentials</a:t>
            </a:r>
          </a:p>
        </p:txBody>
      </p:sp>
      <p:sp>
        <p:nvSpPr>
          <p:cNvPr id="3" name="Text Placeholder 2"/>
          <p:cNvSpPr>
            <a:spLocks noGrp="1"/>
          </p:cNvSpPr>
          <p:nvPr>
            <p:ph type="body" sz="quarter" idx="13"/>
          </p:nvPr>
        </p:nvSpPr>
        <p:spPr/>
        <p:txBody>
          <a:bodyPr/>
          <a:lstStyle/>
          <a:p>
            <a:r>
              <a:rPr lang="en-US" b="1" i="1" dirty="0">
                <a:latin typeface="Calibri" panose="020F0502020204030204" pitchFamily="34" charset="0"/>
                <a:cs typeface="Calibri" panose="020F0502020204030204" pitchFamily="34" charset="0"/>
              </a:rPr>
              <a:t>Category C:</a:t>
            </a:r>
            <a:r>
              <a:rPr lang="en-US" dirty="0">
                <a:latin typeface="Calibri" panose="020F0502020204030204" pitchFamily="34" charset="0"/>
                <a:cs typeface="Calibri" panose="020F0502020204030204" pitchFamily="34" charset="0"/>
              </a:rPr>
              <a:t> Experience in providing regulatory related work in distribution, transmission and generation sector for Power utilities, Regulatory commissions, MoP and Forum of Regulators		         (2/2)</a:t>
            </a:r>
            <a:endParaRPr lang="en-IN" dirty="0">
              <a:latin typeface="Calibri" panose="020F0502020204030204" pitchFamily="34" charset="0"/>
              <a:cs typeface="Calibri" panose="020F0502020204030204" pitchFamily="34" charset="0"/>
            </a:endParaRPr>
          </a:p>
        </p:txBody>
      </p:sp>
      <p:sp>
        <p:nvSpPr>
          <p:cNvPr id="5" name="Rectangle 4"/>
          <p:cNvSpPr/>
          <p:nvPr/>
        </p:nvSpPr>
        <p:spPr bwMode="gray">
          <a:xfrm>
            <a:off x="1986171" y="1480821"/>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6" name="Rectangle 5"/>
          <p:cNvSpPr/>
          <p:nvPr/>
        </p:nvSpPr>
        <p:spPr bwMode="gray">
          <a:xfrm>
            <a:off x="3645059" y="1480821"/>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7" name="TextBox 6"/>
          <p:cNvSpPr txBox="1"/>
          <p:nvPr/>
        </p:nvSpPr>
        <p:spPr>
          <a:xfrm>
            <a:off x="1971734" y="1524851"/>
            <a:ext cx="1488108" cy="1400383"/>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Preparation of capital investment plan and ARR for the control period of 2019-22 tariff petitions for the FYs 2019-20, 2020-2021 and 2021-2022</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8" name="TextBox 7"/>
          <p:cNvSpPr txBox="1"/>
          <p:nvPr/>
        </p:nvSpPr>
        <p:spPr>
          <a:xfrm>
            <a:off x="3641508" y="1524851"/>
            <a:ext cx="1485425" cy="1400383"/>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Consultancy services on retainership basis for preparation of transmission, generation and distribution tariff and ARR filing for DVC</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9" name="Rectangle 8"/>
          <p:cNvSpPr/>
          <p:nvPr/>
        </p:nvSpPr>
        <p:spPr bwMode="gray">
          <a:xfrm>
            <a:off x="1986171" y="3015403"/>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lvl="0" algn="ctr" defTabSz="1219170">
              <a:lnSpc>
                <a:spcPct val="106000"/>
              </a:lnSpc>
            </a:pPr>
            <a:r>
              <a:rPr lang="en-US" sz="1300" dirty="0">
                <a:solidFill>
                  <a:srgbClr val="FFFFFF"/>
                </a:solidFill>
                <a:latin typeface="Calibri" panose="020F0502020204030204" pitchFamily="34" charset="0"/>
                <a:cs typeface="Calibri" panose="020F0502020204030204" pitchFamily="34" charset="0"/>
              </a:rPr>
              <a:t>APGCL</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0" name="Rectangle 9"/>
          <p:cNvSpPr/>
          <p:nvPr/>
        </p:nvSpPr>
        <p:spPr bwMode="gray">
          <a:xfrm>
            <a:off x="3645059" y="3015403"/>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lvl="0" algn="ctr" defTabSz="1219170">
              <a:lnSpc>
                <a:spcPct val="106000"/>
              </a:lnSpc>
            </a:pPr>
            <a:r>
              <a:rPr lang="pt-BR" sz="1300" dirty="0">
                <a:solidFill>
                  <a:srgbClr val="FFFFFF"/>
                </a:solidFill>
                <a:latin typeface="Calibri" panose="020F0502020204030204" pitchFamily="34" charset="0"/>
                <a:cs typeface="Calibri" panose="020F0502020204030204" pitchFamily="34" charset="0"/>
              </a:rPr>
              <a:t>DVC</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1" name="Rectangle 10"/>
          <p:cNvSpPr/>
          <p:nvPr/>
        </p:nvSpPr>
        <p:spPr bwMode="gray">
          <a:xfrm>
            <a:off x="5300396" y="1480821"/>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2" name="Rectangle 11"/>
          <p:cNvSpPr/>
          <p:nvPr/>
        </p:nvSpPr>
        <p:spPr bwMode="gray">
          <a:xfrm>
            <a:off x="6970170" y="1480821"/>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3" name="Rectangle 12"/>
          <p:cNvSpPr/>
          <p:nvPr/>
        </p:nvSpPr>
        <p:spPr bwMode="gray">
          <a:xfrm>
            <a:off x="8639944" y="1480821"/>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4" name="TextBox 13"/>
          <p:cNvSpPr txBox="1"/>
          <p:nvPr/>
        </p:nvSpPr>
        <p:spPr>
          <a:xfrm>
            <a:off x="5294162" y="1529909"/>
            <a:ext cx="1488108" cy="1400383"/>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Regulatory Assistance in True-up, APR, Annual Revenue requirement and determination of Tariff Petition for FY2018-19</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5" name="TextBox 14"/>
          <p:cNvSpPr txBox="1"/>
          <p:nvPr/>
        </p:nvSpPr>
        <p:spPr>
          <a:xfrm>
            <a:off x="6977546" y="1520616"/>
            <a:ext cx="1488108" cy="1400383"/>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Regulatory assistance to Deendayal Port Trust in filing tariff petition for True up of for FY19, FY20, and determination of ARR for FY22 before GERC</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6" name="TextBox 15"/>
          <p:cNvSpPr txBox="1"/>
          <p:nvPr/>
        </p:nvSpPr>
        <p:spPr>
          <a:xfrm>
            <a:off x="8639944" y="1529909"/>
            <a:ext cx="1465468" cy="800219"/>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Support to revise old regulations and frame new regulations</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7" name="Rectangle 16"/>
          <p:cNvSpPr/>
          <p:nvPr/>
        </p:nvSpPr>
        <p:spPr bwMode="gray">
          <a:xfrm>
            <a:off x="5300396" y="3015403"/>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lvl="0" algn="ctr" defTabSz="1219170">
              <a:lnSpc>
                <a:spcPct val="106000"/>
              </a:lnSpc>
            </a:pPr>
            <a:r>
              <a:rPr lang="en-US" sz="1300" dirty="0">
                <a:solidFill>
                  <a:srgbClr val="FFFFFF"/>
                </a:solidFill>
                <a:latin typeface="Calibri" panose="020F0502020204030204" pitchFamily="34" charset="0"/>
                <a:cs typeface="Calibri" panose="020F0502020204030204" pitchFamily="34" charset="0"/>
              </a:rPr>
              <a:t>JERC</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18" name="Rectangle 17"/>
          <p:cNvSpPr/>
          <p:nvPr/>
        </p:nvSpPr>
        <p:spPr bwMode="gray">
          <a:xfrm>
            <a:off x="6970170" y="3015403"/>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lvl="0" algn="ctr" defTabSz="1219170">
              <a:lnSpc>
                <a:spcPct val="106000"/>
              </a:lnSpc>
            </a:pPr>
            <a:r>
              <a:rPr lang="en-IN" sz="1300" dirty="0">
                <a:solidFill>
                  <a:srgbClr val="FFFFFF"/>
                </a:solidFill>
                <a:latin typeface="Calibri" panose="020F0502020204030204" pitchFamily="34" charset="0"/>
                <a:cs typeface="Calibri" panose="020F0502020204030204" pitchFamily="34" charset="0"/>
              </a:rPr>
              <a:t>PTC India</a:t>
            </a:r>
            <a:endParaRPr kumimoji="0" lang="en-IN" sz="1300" b="0"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endParaRPr>
          </a:p>
        </p:txBody>
      </p:sp>
      <p:sp>
        <p:nvSpPr>
          <p:cNvPr id="19" name="Rectangle 18"/>
          <p:cNvSpPr/>
          <p:nvPr/>
        </p:nvSpPr>
        <p:spPr bwMode="gray">
          <a:xfrm>
            <a:off x="8639944" y="3015403"/>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lvl="0" algn="ctr" defTabSz="1219170">
              <a:lnSpc>
                <a:spcPct val="106000"/>
              </a:lnSpc>
            </a:pPr>
            <a:r>
              <a:rPr lang="en-IN" sz="1300" dirty="0">
                <a:solidFill>
                  <a:srgbClr val="FFFFFF"/>
                </a:solidFill>
                <a:latin typeface="Calibri" panose="020F0502020204030204" pitchFamily="34" charset="0"/>
                <a:cs typeface="Calibri" panose="020F0502020204030204" pitchFamily="34" charset="0"/>
              </a:rPr>
              <a:t>OERC</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20" name="Rectangle 19"/>
          <p:cNvSpPr/>
          <p:nvPr/>
        </p:nvSpPr>
        <p:spPr bwMode="gray">
          <a:xfrm>
            <a:off x="1971734" y="3919045"/>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21" name="Rectangle 20"/>
          <p:cNvSpPr/>
          <p:nvPr/>
        </p:nvSpPr>
        <p:spPr bwMode="gray">
          <a:xfrm>
            <a:off x="3641508" y="3919045"/>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22" name="TextBox 21"/>
          <p:cNvSpPr txBox="1"/>
          <p:nvPr/>
        </p:nvSpPr>
        <p:spPr>
          <a:xfrm>
            <a:off x="2001750" y="3968133"/>
            <a:ext cx="1458092" cy="1000274"/>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Consultancy Support for regulatory affairs and tariff determination of MSPCL</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23" name="TextBox 22"/>
          <p:cNvSpPr txBox="1"/>
          <p:nvPr/>
        </p:nvSpPr>
        <p:spPr>
          <a:xfrm>
            <a:off x="3664284" y="3971802"/>
            <a:ext cx="1442555" cy="1400383"/>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Regulatory assistance in preparation of Business Plan and MYT Petition for the Control Period FY22 to FY26</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24" name="Rectangle 23"/>
          <p:cNvSpPr/>
          <p:nvPr/>
        </p:nvSpPr>
        <p:spPr bwMode="gray">
          <a:xfrm>
            <a:off x="1971734" y="5453627"/>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lvl="0" algn="ctr" defTabSz="1219170">
              <a:lnSpc>
                <a:spcPct val="106000"/>
              </a:lnSpc>
            </a:pPr>
            <a:r>
              <a:rPr lang="en-IN" sz="1300" dirty="0">
                <a:solidFill>
                  <a:srgbClr val="FFFFFF"/>
                </a:solidFill>
                <a:latin typeface="Calibri" panose="020F0502020204030204" pitchFamily="34" charset="0"/>
                <a:cs typeface="Calibri" panose="020F0502020204030204" pitchFamily="34" charset="0"/>
              </a:rPr>
              <a:t>MSPCL</a:t>
            </a:r>
            <a:endParaRPr kumimoji="0" lang="en-IN" sz="1300" b="0"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endParaRPr>
          </a:p>
        </p:txBody>
      </p:sp>
      <p:sp>
        <p:nvSpPr>
          <p:cNvPr id="25" name="Rectangle 24"/>
          <p:cNvSpPr/>
          <p:nvPr/>
        </p:nvSpPr>
        <p:spPr bwMode="gray">
          <a:xfrm>
            <a:off x="3641508" y="5453627"/>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lvl="0" algn="ctr" defTabSz="1219170">
              <a:lnSpc>
                <a:spcPct val="106000"/>
              </a:lnSpc>
            </a:pPr>
            <a:r>
              <a:rPr lang="en-IN" sz="1300" dirty="0">
                <a:solidFill>
                  <a:srgbClr val="FFFFFF"/>
                </a:solidFill>
                <a:latin typeface="Calibri" panose="020F0502020204030204" pitchFamily="34" charset="0"/>
                <a:cs typeface="Calibri" panose="020F0502020204030204" pitchFamily="34" charset="0"/>
              </a:rPr>
              <a:t>TVNL</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26" name="Rectangle 25"/>
          <p:cNvSpPr/>
          <p:nvPr/>
        </p:nvSpPr>
        <p:spPr bwMode="gray">
          <a:xfrm>
            <a:off x="5325719" y="3912899"/>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27" name="Rectangle 26"/>
          <p:cNvSpPr/>
          <p:nvPr/>
        </p:nvSpPr>
        <p:spPr bwMode="gray">
          <a:xfrm>
            <a:off x="6984607" y="3912899"/>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28" name="TextBox 27"/>
          <p:cNvSpPr txBox="1"/>
          <p:nvPr/>
        </p:nvSpPr>
        <p:spPr>
          <a:xfrm>
            <a:off x="5325719" y="3957134"/>
            <a:ext cx="1488108" cy="1000274"/>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Regulatory support for preparation of Financial Model for FGD and support at PSERC</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30" name="Rectangle 29"/>
          <p:cNvSpPr/>
          <p:nvPr/>
        </p:nvSpPr>
        <p:spPr bwMode="gray">
          <a:xfrm>
            <a:off x="5325719" y="5447481"/>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lvl="0" algn="ctr" defTabSz="1219170">
              <a:lnSpc>
                <a:spcPct val="106000"/>
              </a:lnSpc>
            </a:pPr>
            <a:r>
              <a:rPr lang="en-IN" sz="1300" dirty="0">
                <a:solidFill>
                  <a:srgbClr val="FFFFFF"/>
                </a:solidFill>
                <a:latin typeface="Calibri" panose="020F0502020204030204" pitchFamily="34" charset="0"/>
                <a:cs typeface="Calibri" panose="020F0502020204030204" pitchFamily="34" charset="0"/>
              </a:rPr>
              <a:t>Talwandi Sabo</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31" name="Rectangle 30"/>
          <p:cNvSpPr/>
          <p:nvPr/>
        </p:nvSpPr>
        <p:spPr bwMode="gray">
          <a:xfrm>
            <a:off x="6984607" y="5447481"/>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lvl="0" algn="ctr" defTabSz="1219170">
              <a:lnSpc>
                <a:spcPct val="106000"/>
              </a:lnSpc>
            </a:pPr>
            <a:r>
              <a:rPr kumimoji="0" lang="en-US" sz="1300" b="0"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UPCL</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32" name="Rectangle 31"/>
          <p:cNvSpPr/>
          <p:nvPr/>
        </p:nvSpPr>
        <p:spPr bwMode="gray">
          <a:xfrm>
            <a:off x="8639944" y="3912899"/>
            <a:ext cx="1488108" cy="1534582"/>
          </a:xfrm>
          <a:prstGeom prst="rect">
            <a:avLst/>
          </a:prstGeom>
          <a:solidFill>
            <a:schemeClr val="accent6">
              <a:lumMod val="20000"/>
              <a:lumOff val="80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IN" sz="1300" b="1"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38" name="Rectangle 37"/>
          <p:cNvSpPr/>
          <p:nvPr/>
        </p:nvSpPr>
        <p:spPr bwMode="gray">
          <a:xfrm>
            <a:off x="8639944" y="5447481"/>
            <a:ext cx="1488108" cy="675861"/>
          </a:xfrm>
          <a:prstGeom prst="rect">
            <a:avLst/>
          </a:prstGeom>
          <a:solidFill>
            <a:srgbClr val="00B050"/>
          </a:solidFill>
          <a:ln w="19050" algn="ctr">
            <a:noFill/>
            <a:miter lim="800000"/>
            <a:headEnd/>
            <a:tailEnd/>
          </a:ln>
        </p:spPr>
        <p:txBody>
          <a:bodyPr wrap="square" lIns="88900" tIns="88900" rIns="88900" bIns="88900" rtlCol="0" anchor="ctr"/>
          <a:lstStyle/>
          <a:p>
            <a:pPr lvl="0" algn="ctr" defTabSz="1219170">
              <a:lnSpc>
                <a:spcPct val="106000"/>
              </a:lnSpc>
            </a:pPr>
            <a:r>
              <a:rPr lang="en-US" sz="1300" dirty="0">
                <a:solidFill>
                  <a:srgbClr val="FFFFFF"/>
                </a:solidFill>
                <a:latin typeface="Calibri" panose="020F0502020204030204" pitchFamily="34" charset="0"/>
                <a:cs typeface="Calibri" panose="020F0502020204030204" pitchFamily="34" charset="0"/>
              </a:rPr>
              <a:t>UPCL</a:t>
            </a:r>
            <a:endParaRPr kumimoji="0" lang="en-IN" sz="1300" b="0" i="0" u="none" strike="noStrike" kern="1200" cap="none" spc="0" normalizeH="0" baseline="0" noProof="0" dirty="0" err="1">
              <a:ln>
                <a:noFill/>
              </a:ln>
              <a:solidFill>
                <a:srgbClr val="FFFFFF"/>
              </a:solidFill>
              <a:effectLst/>
              <a:uLnTx/>
              <a:uFillTx/>
              <a:latin typeface="Calibri" panose="020F0502020204030204" pitchFamily="34" charset="0"/>
              <a:cs typeface="Calibri" panose="020F0502020204030204" pitchFamily="34" charset="0"/>
            </a:endParaRPr>
          </a:p>
        </p:txBody>
      </p:sp>
      <p:sp>
        <p:nvSpPr>
          <p:cNvPr id="36" name="Rectangle 35"/>
          <p:cNvSpPr/>
          <p:nvPr/>
        </p:nvSpPr>
        <p:spPr>
          <a:xfrm>
            <a:off x="8654381" y="3908891"/>
            <a:ext cx="1470680" cy="1232645"/>
          </a:xfrm>
          <a:prstGeom prst="rect">
            <a:avLst/>
          </a:prstGeom>
        </p:spPr>
        <p:txBody>
          <a:bodyPr wrap="square">
            <a:spAutoFit/>
          </a:bodyPr>
          <a:lstStyle/>
          <a:p>
            <a:pPr lvl="0" algn="ctr" defTabSz="1219170">
              <a:lnSpc>
                <a:spcPct val="95000"/>
              </a:lnSpc>
            </a:pPr>
            <a:r>
              <a:rPr lang="en-US" sz="1300" dirty="0">
                <a:solidFill>
                  <a:srgbClr val="000000"/>
                </a:solidFill>
                <a:latin typeface="Calibri" panose="020F0502020204030204" pitchFamily="34" charset="0"/>
                <a:cs typeface="Calibri" panose="020F0502020204030204" pitchFamily="34" charset="0"/>
              </a:rPr>
              <a:t>Regulatory assistance in preparation of ARR and Tariff Petition of UPCL for FY2018-19</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52" name="TextBox 51">
            <a:extLst>
              <a:ext uri="{FF2B5EF4-FFF2-40B4-BE49-F238E27FC236}">
                <a16:creationId xmlns:a16="http://schemas.microsoft.com/office/drawing/2014/main" id="{69D5A382-F741-4553-8CF8-CBE6D36E9EA3}"/>
              </a:ext>
            </a:extLst>
          </p:cNvPr>
          <p:cNvSpPr txBox="1"/>
          <p:nvPr/>
        </p:nvSpPr>
        <p:spPr>
          <a:xfrm>
            <a:off x="6982434" y="3957134"/>
            <a:ext cx="1488108" cy="1000274"/>
          </a:xfrm>
          <a:prstGeom prst="rect">
            <a:avLst/>
          </a:prstGeom>
          <a:noFill/>
        </p:spPr>
        <p:txBody>
          <a:bodyPr wrap="square" lIns="0" tIns="0" rIns="0" bIns="0" rtlCol="0">
            <a:spAutoFit/>
          </a:bodyPr>
          <a:lstStyle/>
          <a:p>
            <a:pPr lvl="0" algn="ctr" defTabSz="1219170">
              <a:spcAft>
                <a:spcPts val="1333"/>
              </a:spcAft>
              <a:buSzPct val="100000"/>
            </a:pPr>
            <a:r>
              <a:rPr lang="en-US" sz="1300" dirty="0">
                <a:solidFill>
                  <a:srgbClr val="000000"/>
                </a:solidFill>
                <a:latin typeface="Calibri" panose="020F0502020204030204" pitchFamily="34" charset="0"/>
                <a:cs typeface="Calibri" panose="020F0502020204030204" pitchFamily="34" charset="0"/>
              </a:rPr>
              <a:t>Preparation of Business plan and MYT petition for control period for FY20 to FY22</a:t>
            </a:r>
            <a:endParaRPr kumimoji="0" lang="en-US" sz="13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97774299"/>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Arc 90">
            <a:extLst>
              <a:ext uri="{FF2B5EF4-FFF2-40B4-BE49-F238E27FC236}">
                <a16:creationId xmlns:a16="http://schemas.microsoft.com/office/drawing/2014/main" id="{6A203F1D-1DA2-453D-9A93-4293A2BC0561}"/>
              </a:ext>
            </a:extLst>
          </p:cNvPr>
          <p:cNvSpPr/>
          <p:nvPr/>
        </p:nvSpPr>
        <p:spPr>
          <a:xfrm rot="18632058">
            <a:off x="2597903" y="1094968"/>
            <a:ext cx="5138048" cy="4672078"/>
          </a:xfrm>
          <a:prstGeom prst="arc">
            <a:avLst>
              <a:gd name="adj1" fmla="val 15890835"/>
              <a:gd name="adj2" fmla="val 19657471"/>
            </a:avLst>
          </a:prstGeom>
          <a:ln>
            <a:solidFill>
              <a:srgbClr val="44546A"/>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 name="Title 1">
            <a:extLst>
              <a:ext uri="{FF2B5EF4-FFF2-40B4-BE49-F238E27FC236}">
                <a16:creationId xmlns:a16="http://schemas.microsoft.com/office/drawing/2014/main" id="{5259FE2A-EC0B-4EBB-91D9-CA37432B4834}"/>
              </a:ext>
            </a:extLst>
          </p:cNvPr>
          <p:cNvSpPr>
            <a:spLocks noGrp="1"/>
          </p:cNvSpPr>
          <p:nvPr>
            <p:ph type="title"/>
          </p:nvPr>
        </p:nvSpPr>
        <p:spPr/>
        <p:txBody>
          <a:bodyPr/>
          <a:lstStyle/>
          <a:p>
            <a:r>
              <a:rPr lang="en-US" sz="1600" dirty="0"/>
              <a:t>Opportunities in emerging areas</a:t>
            </a:r>
          </a:p>
        </p:txBody>
      </p:sp>
      <p:grpSp>
        <p:nvGrpSpPr>
          <p:cNvPr id="24" name="Group 23">
            <a:extLst>
              <a:ext uri="{FF2B5EF4-FFF2-40B4-BE49-F238E27FC236}">
                <a16:creationId xmlns:a16="http://schemas.microsoft.com/office/drawing/2014/main" id="{7E5A4E0D-17A7-4589-8E1D-A1A3BFC0B594}"/>
              </a:ext>
            </a:extLst>
          </p:cNvPr>
          <p:cNvGrpSpPr/>
          <p:nvPr/>
        </p:nvGrpSpPr>
        <p:grpSpPr>
          <a:xfrm>
            <a:off x="3246961" y="1203475"/>
            <a:ext cx="5383986" cy="4905947"/>
            <a:chOff x="6599898" y="2142448"/>
            <a:chExt cx="4385778" cy="3641011"/>
          </a:xfrm>
        </p:grpSpPr>
        <p:sp>
          <p:nvSpPr>
            <p:cNvPr id="26" name="Freeform 68">
              <a:extLst>
                <a:ext uri="{FF2B5EF4-FFF2-40B4-BE49-F238E27FC236}">
                  <a16:creationId xmlns:a16="http://schemas.microsoft.com/office/drawing/2014/main" id="{8EE5FD14-982F-4709-860A-80752AD4160A}"/>
                </a:ext>
              </a:extLst>
            </p:cNvPr>
            <p:cNvSpPr/>
            <p:nvPr/>
          </p:nvSpPr>
          <p:spPr>
            <a:xfrm flipH="1">
              <a:off x="6602514" y="2748918"/>
              <a:ext cx="1143603" cy="1125681"/>
            </a:xfrm>
            <a:custGeom>
              <a:avLst/>
              <a:gdLst>
                <a:gd name="connsiteX0" fmla="*/ 720725 w 1387475"/>
                <a:gd name="connsiteY0" fmla="*/ 0 h 1638300"/>
                <a:gd name="connsiteX1" fmla="*/ 0 w 1387475"/>
                <a:gd name="connsiteY1" fmla="*/ 711200 h 1638300"/>
                <a:gd name="connsiteX2" fmla="*/ 374650 w 1387475"/>
                <a:gd name="connsiteY2" fmla="*/ 1638300 h 1638300"/>
                <a:gd name="connsiteX3" fmla="*/ 1387475 w 1387475"/>
                <a:gd name="connsiteY3" fmla="*/ 1635125 h 1638300"/>
                <a:gd name="connsiteX4" fmla="*/ 720725 w 1387475"/>
                <a:gd name="connsiteY4" fmla="*/ 0 h 1638300"/>
                <a:gd name="connsiteX0" fmla="*/ 720725 w 1387541"/>
                <a:gd name="connsiteY0" fmla="*/ 0 h 1638300"/>
                <a:gd name="connsiteX1" fmla="*/ 0 w 1387541"/>
                <a:gd name="connsiteY1" fmla="*/ 711200 h 1638300"/>
                <a:gd name="connsiteX2" fmla="*/ 374650 w 1387541"/>
                <a:gd name="connsiteY2" fmla="*/ 1638300 h 1638300"/>
                <a:gd name="connsiteX3" fmla="*/ 1387475 w 1387541"/>
                <a:gd name="connsiteY3" fmla="*/ 1635125 h 1638300"/>
                <a:gd name="connsiteX4" fmla="*/ 720725 w 1387541"/>
                <a:gd name="connsiteY4" fmla="*/ 0 h 1638300"/>
                <a:gd name="connsiteX0" fmla="*/ 720725 w 1387573"/>
                <a:gd name="connsiteY0" fmla="*/ 0 h 1638300"/>
                <a:gd name="connsiteX1" fmla="*/ 0 w 1387573"/>
                <a:gd name="connsiteY1" fmla="*/ 711200 h 1638300"/>
                <a:gd name="connsiteX2" fmla="*/ 374650 w 1387573"/>
                <a:gd name="connsiteY2" fmla="*/ 1638300 h 1638300"/>
                <a:gd name="connsiteX3" fmla="*/ 1387475 w 1387573"/>
                <a:gd name="connsiteY3" fmla="*/ 1635125 h 1638300"/>
                <a:gd name="connsiteX4" fmla="*/ 720725 w 1387573"/>
                <a:gd name="connsiteY4" fmla="*/ 0 h 1638300"/>
                <a:gd name="connsiteX0" fmla="*/ 720725 w 1387475"/>
                <a:gd name="connsiteY0" fmla="*/ 0 h 1638300"/>
                <a:gd name="connsiteX1" fmla="*/ 0 w 1387475"/>
                <a:gd name="connsiteY1" fmla="*/ 711200 h 1638300"/>
                <a:gd name="connsiteX2" fmla="*/ 374650 w 1387475"/>
                <a:gd name="connsiteY2" fmla="*/ 1638300 h 1638300"/>
                <a:gd name="connsiteX3" fmla="*/ 1387475 w 1387475"/>
                <a:gd name="connsiteY3" fmla="*/ 1635125 h 1638300"/>
                <a:gd name="connsiteX4" fmla="*/ 720725 w 1387475"/>
                <a:gd name="connsiteY4" fmla="*/ 0 h 1638300"/>
                <a:gd name="connsiteX0" fmla="*/ 720725 w 1387475"/>
                <a:gd name="connsiteY0" fmla="*/ 0 h 1638300"/>
                <a:gd name="connsiteX1" fmla="*/ 0 w 1387475"/>
                <a:gd name="connsiteY1" fmla="*/ 711200 h 1638300"/>
                <a:gd name="connsiteX2" fmla="*/ 374650 w 1387475"/>
                <a:gd name="connsiteY2" fmla="*/ 1638300 h 1638300"/>
                <a:gd name="connsiteX3" fmla="*/ 1387475 w 1387475"/>
                <a:gd name="connsiteY3" fmla="*/ 1635125 h 1638300"/>
                <a:gd name="connsiteX4" fmla="*/ 720725 w 1387475"/>
                <a:gd name="connsiteY4" fmla="*/ 0 h 1638300"/>
                <a:gd name="connsiteX0" fmla="*/ 757397 w 1424147"/>
                <a:gd name="connsiteY0" fmla="*/ 0 h 1638300"/>
                <a:gd name="connsiteX1" fmla="*/ 36672 w 1424147"/>
                <a:gd name="connsiteY1" fmla="*/ 711200 h 1638300"/>
                <a:gd name="connsiteX2" fmla="*/ 411322 w 1424147"/>
                <a:gd name="connsiteY2" fmla="*/ 1638300 h 1638300"/>
                <a:gd name="connsiteX3" fmla="*/ 1424147 w 1424147"/>
                <a:gd name="connsiteY3" fmla="*/ 1635125 h 1638300"/>
                <a:gd name="connsiteX4" fmla="*/ 757397 w 1424147"/>
                <a:gd name="connsiteY4" fmla="*/ 0 h 1638300"/>
                <a:gd name="connsiteX0" fmla="*/ 720813 w 1387563"/>
                <a:gd name="connsiteY0" fmla="*/ 0 h 1638300"/>
                <a:gd name="connsiteX1" fmla="*/ 88 w 1387563"/>
                <a:gd name="connsiteY1" fmla="*/ 711200 h 1638300"/>
                <a:gd name="connsiteX2" fmla="*/ 374738 w 1387563"/>
                <a:gd name="connsiteY2" fmla="*/ 1638300 h 1638300"/>
                <a:gd name="connsiteX3" fmla="*/ 1387563 w 1387563"/>
                <a:gd name="connsiteY3" fmla="*/ 1635125 h 1638300"/>
                <a:gd name="connsiteX4" fmla="*/ 720813 w 1387563"/>
                <a:gd name="connsiteY4" fmla="*/ 0 h 1638300"/>
                <a:gd name="connsiteX0" fmla="*/ 720793 w 1387543"/>
                <a:gd name="connsiteY0" fmla="*/ 0 h 1638300"/>
                <a:gd name="connsiteX1" fmla="*/ 68 w 1387543"/>
                <a:gd name="connsiteY1" fmla="*/ 711200 h 1638300"/>
                <a:gd name="connsiteX2" fmla="*/ 374718 w 1387543"/>
                <a:gd name="connsiteY2" fmla="*/ 1638300 h 1638300"/>
                <a:gd name="connsiteX3" fmla="*/ 1387543 w 1387543"/>
                <a:gd name="connsiteY3" fmla="*/ 1635125 h 1638300"/>
                <a:gd name="connsiteX4" fmla="*/ 720793 w 1387543"/>
                <a:gd name="connsiteY4" fmla="*/ 0 h 1638300"/>
                <a:gd name="connsiteX0" fmla="*/ 720793 w 1387543"/>
                <a:gd name="connsiteY0" fmla="*/ 0 h 1638300"/>
                <a:gd name="connsiteX1" fmla="*/ 68 w 1387543"/>
                <a:gd name="connsiteY1" fmla="*/ 711200 h 1638300"/>
                <a:gd name="connsiteX2" fmla="*/ 374718 w 1387543"/>
                <a:gd name="connsiteY2" fmla="*/ 1638300 h 1638300"/>
                <a:gd name="connsiteX3" fmla="*/ 1387543 w 1387543"/>
                <a:gd name="connsiteY3" fmla="*/ 1635125 h 1638300"/>
                <a:gd name="connsiteX4" fmla="*/ 720793 w 1387543"/>
                <a:gd name="connsiteY4" fmla="*/ 0 h 1638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7543" h="1638300">
                  <a:moveTo>
                    <a:pt x="720793" y="0"/>
                  </a:moveTo>
                  <a:cubicBezTo>
                    <a:pt x="480551" y="237067"/>
                    <a:pt x="-6563" y="702913"/>
                    <a:pt x="68" y="711200"/>
                  </a:cubicBezTo>
                  <a:cubicBezTo>
                    <a:pt x="241983" y="1013529"/>
                    <a:pt x="345085" y="1300692"/>
                    <a:pt x="374718" y="1638300"/>
                  </a:cubicBezTo>
                  <a:lnTo>
                    <a:pt x="1387543" y="1635125"/>
                  </a:lnTo>
                  <a:cubicBezTo>
                    <a:pt x="1374843" y="1039283"/>
                    <a:pt x="1092268" y="418042"/>
                    <a:pt x="720793" y="0"/>
                  </a:cubicBezTo>
                  <a:close/>
                </a:path>
              </a:pathLst>
            </a:custGeom>
            <a:noFill/>
            <a:ln w="12700" cap="flat" cmpd="sng" algn="ctr">
              <a:solidFill>
                <a:srgbClr val="62B5E5">
                  <a:lumMod val="75000"/>
                </a:srgbClr>
              </a:solidFill>
              <a:prstDash val="solid"/>
            </a:ln>
            <a:effectLst/>
          </p:spPr>
          <p:txBody>
            <a:bodyPr lIns="36000" tIns="36000" rIns="36000" bIns="3600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44546A"/>
                </a:solidFill>
                <a:effectLst/>
                <a:uLnTx/>
                <a:uFillTx/>
                <a:latin typeface="Verdana"/>
                <a:ea typeface="+mn-ea"/>
                <a:cs typeface="+mn-cs"/>
              </a:endParaRPr>
            </a:p>
          </p:txBody>
        </p:sp>
        <p:sp>
          <p:nvSpPr>
            <p:cNvPr id="28" name="Freeform 63">
              <a:extLst>
                <a:ext uri="{FF2B5EF4-FFF2-40B4-BE49-F238E27FC236}">
                  <a16:creationId xmlns:a16="http://schemas.microsoft.com/office/drawing/2014/main" id="{B89ECFF6-1EB7-4CA8-A7C7-94F160F9AE91}"/>
                </a:ext>
              </a:extLst>
            </p:cNvPr>
            <p:cNvSpPr/>
            <p:nvPr/>
          </p:nvSpPr>
          <p:spPr>
            <a:xfrm>
              <a:off x="8902693" y="2142449"/>
              <a:ext cx="1379061" cy="970790"/>
            </a:xfrm>
            <a:custGeom>
              <a:avLst/>
              <a:gdLst>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225" h="1412875">
                  <a:moveTo>
                    <a:pt x="0" y="0"/>
                  </a:moveTo>
                  <a:cubicBezTo>
                    <a:pt x="541867" y="21167"/>
                    <a:pt x="1185333" y="232833"/>
                    <a:pt x="1673225" y="701675"/>
                  </a:cubicBezTo>
                  <a:lnTo>
                    <a:pt x="958850" y="1412875"/>
                  </a:lnTo>
                  <a:cubicBezTo>
                    <a:pt x="701675" y="1212320"/>
                    <a:pt x="539750" y="1074473"/>
                    <a:pt x="6350" y="1016000"/>
                  </a:cubicBezTo>
                  <a:cubicBezTo>
                    <a:pt x="5292" y="677333"/>
                    <a:pt x="4233" y="338667"/>
                    <a:pt x="0" y="0"/>
                  </a:cubicBezTo>
                  <a:close/>
                </a:path>
              </a:pathLst>
            </a:custGeom>
            <a:noFill/>
            <a:ln w="12700" cap="flat" cmpd="sng" algn="ctr">
              <a:solidFill>
                <a:srgbClr val="2C5234"/>
              </a:solidFill>
              <a:prstDash val="solid"/>
            </a:ln>
            <a:effectLst/>
          </p:spPr>
          <p:txBody>
            <a:bodyPr lIns="36000" tIns="36000" rIns="36000" bIns="3600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44546A"/>
                </a:solidFill>
                <a:effectLst/>
                <a:uLnTx/>
                <a:uFillTx/>
                <a:latin typeface="Verdana"/>
                <a:ea typeface="+mn-ea"/>
                <a:cs typeface="+mn-cs"/>
              </a:endParaRPr>
            </a:p>
          </p:txBody>
        </p:sp>
        <p:sp>
          <p:nvSpPr>
            <p:cNvPr id="29" name="Freeform 64">
              <a:extLst>
                <a:ext uri="{FF2B5EF4-FFF2-40B4-BE49-F238E27FC236}">
                  <a16:creationId xmlns:a16="http://schemas.microsoft.com/office/drawing/2014/main" id="{CBAF1892-A9DF-4F5F-9A01-AEE13A70D4B4}"/>
                </a:ext>
              </a:extLst>
            </p:cNvPr>
            <p:cNvSpPr/>
            <p:nvPr/>
          </p:nvSpPr>
          <p:spPr>
            <a:xfrm>
              <a:off x="9839455" y="2748921"/>
              <a:ext cx="1143603" cy="1125681"/>
            </a:xfrm>
            <a:custGeom>
              <a:avLst/>
              <a:gdLst>
                <a:gd name="connsiteX0" fmla="*/ 720725 w 1387475"/>
                <a:gd name="connsiteY0" fmla="*/ 0 h 1638300"/>
                <a:gd name="connsiteX1" fmla="*/ 0 w 1387475"/>
                <a:gd name="connsiteY1" fmla="*/ 711200 h 1638300"/>
                <a:gd name="connsiteX2" fmla="*/ 374650 w 1387475"/>
                <a:gd name="connsiteY2" fmla="*/ 1638300 h 1638300"/>
                <a:gd name="connsiteX3" fmla="*/ 1387475 w 1387475"/>
                <a:gd name="connsiteY3" fmla="*/ 1635125 h 1638300"/>
                <a:gd name="connsiteX4" fmla="*/ 720725 w 1387475"/>
                <a:gd name="connsiteY4" fmla="*/ 0 h 1638300"/>
                <a:gd name="connsiteX0" fmla="*/ 720725 w 1387541"/>
                <a:gd name="connsiteY0" fmla="*/ 0 h 1638300"/>
                <a:gd name="connsiteX1" fmla="*/ 0 w 1387541"/>
                <a:gd name="connsiteY1" fmla="*/ 711200 h 1638300"/>
                <a:gd name="connsiteX2" fmla="*/ 374650 w 1387541"/>
                <a:gd name="connsiteY2" fmla="*/ 1638300 h 1638300"/>
                <a:gd name="connsiteX3" fmla="*/ 1387475 w 1387541"/>
                <a:gd name="connsiteY3" fmla="*/ 1635125 h 1638300"/>
                <a:gd name="connsiteX4" fmla="*/ 720725 w 1387541"/>
                <a:gd name="connsiteY4" fmla="*/ 0 h 1638300"/>
                <a:gd name="connsiteX0" fmla="*/ 720725 w 1387573"/>
                <a:gd name="connsiteY0" fmla="*/ 0 h 1638300"/>
                <a:gd name="connsiteX1" fmla="*/ 0 w 1387573"/>
                <a:gd name="connsiteY1" fmla="*/ 711200 h 1638300"/>
                <a:gd name="connsiteX2" fmla="*/ 374650 w 1387573"/>
                <a:gd name="connsiteY2" fmla="*/ 1638300 h 1638300"/>
                <a:gd name="connsiteX3" fmla="*/ 1387475 w 1387573"/>
                <a:gd name="connsiteY3" fmla="*/ 1635125 h 1638300"/>
                <a:gd name="connsiteX4" fmla="*/ 720725 w 1387573"/>
                <a:gd name="connsiteY4" fmla="*/ 0 h 1638300"/>
                <a:gd name="connsiteX0" fmla="*/ 720725 w 1387475"/>
                <a:gd name="connsiteY0" fmla="*/ 0 h 1638300"/>
                <a:gd name="connsiteX1" fmla="*/ 0 w 1387475"/>
                <a:gd name="connsiteY1" fmla="*/ 711200 h 1638300"/>
                <a:gd name="connsiteX2" fmla="*/ 374650 w 1387475"/>
                <a:gd name="connsiteY2" fmla="*/ 1638300 h 1638300"/>
                <a:gd name="connsiteX3" fmla="*/ 1387475 w 1387475"/>
                <a:gd name="connsiteY3" fmla="*/ 1635125 h 1638300"/>
                <a:gd name="connsiteX4" fmla="*/ 720725 w 1387475"/>
                <a:gd name="connsiteY4" fmla="*/ 0 h 1638300"/>
                <a:gd name="connsiteX0" fmla="*/ 720725 w 1387475"/>
                <a:gd name="connsiteY0" fmla="*/ 0 h 1638300"/>
                <a:gd name="connsiteX1" fmla="*/ 0 w 1387475"/>
                <a:gd name="connsiteY1" fmla="*/ 711200 h 1638300"/>
                <a:gd name="connsiteX2" fmla="*/ 374650 w 1387475"/>
                <a:gd name="connsiteY2" fmla="*/ 1638300 h 1638300"/>
                <a:gd name="connsiteX3" fmla="*/ 1387475 w 1387475"/>
                <a:gd name="connsiteY3" fmla="*/ 1635125 h 1638300"/>
                <a:gd name="connsiteX4" fmla="*/ 720725 w 1387475"/>
                <a:gd name="connsiteY4" fmla="*/ 0 h 1638300"/>
                <a:gd name="connsiteX0" fmla="*/ 757397 w 1424147"/>
                <a:gd name="connsiteY0" fmla="*/ 0 h 1638300"/>
                <a:gd name="connsiteX1" fmla="*/ 36672 w 1424147"/>
                <a:gd name="connsiteY1" fmla="*/ 711200 h 1638300"/>
                <a:gd name="connsiteX2" fmla="*/ 411322 w 1424147"/>
                <a:gd name="connsiteY2" fmla="*/ 1638300 h 1638300"/>
                <a:gd name="connsiteX3" fmla="*/ 1424147 w 1424147"/>
                <a:gd name="connsiteY3" fmla="*/ 1635125 h 1638300"/>
                <a:gd name="connsiteX4" fmla="*/ 757397 w 1424147"/>
                <a:gd name="connsiteY4" fmla="*/ 0 h 1638300"/>
                <a:gd name="connsiteX0" fmla="*/ 720813 w 1387563"/>
                <a:gd name="connsiteY0" fmla="*/ 0 h 1638300"/>
                <a:gd name="connsiteX1" fmla="*/ 88 w 1387563"/>
                <a:gd name="connsiteY1" fmla="*/ 711200 h 1638300"/>
                <a:gd name="connsiteX2" fmla="*/ 374738 w 1387563"/>
                <a:gd name="connsiteY2" fmla="*/ 1638300 h 1638300"/>
                <a:gd name="connsiteX3" fmla="*/ 1387563 w 1387563"/>
                <a:gd name="connsiteY3" fmla="*/ 1635125 h 1638300"/>
                <a:gd name="connsiteX4" fmla="*/ 720813 w 1387563"/>
                <a:gd name="connsiteY4" fmla="*/ 0 h 1638300"/>
                <a:gd name="connsiteX0" fmla="*/ 720793 w 1387543"/>
                <a:gd name="connsiteY0" fmla="*/ 0 h 1638300"/>
                <a:gd name="connsiteX1" fmla="*/ 68 w 1387543"/>
                <a:gd name="connsiteY1" fmla="*/ 711200 h 1638300"/>
                <a:gd name="connsiteX2" fmla="*/ 374718 w 1387543"/>
                <a:gd name="connsiteY2" fmla="*/ 1638300 h 1638300"/>
                <a:gd name="connsiteX3" fmla="*/ 1387543 w 1387543"/>
                <a:gd name="connsiteY3" fmla="*/ 1635125 h 1638300"/>
                <a:gd name="connsiteX4" fmla="*/ 720793 w 1387543"/>
                <a:gd name="connsiteY4" fmla="*/ 0 h 1638300"/>
                <a:gd name="connsiteX0" fmla="*/ 720793 w 1387543"/>
                <a:gd name="connsiteY0" fmla="*/ 0 h 1638300"/>
                <a:gd name="connsiteX1" fmla="*/ 68 w 1387543"/>
                <a:gd name="connsiteY1" fmla="*/ 711200 h 1638300"/>
                <a:gd name="connsiteX2" fmla="*/ 374718 w 1387543"/>
                <a:gd name="connsiteY2" fmla="*/ 1638300 h 1638300"/>
                <a:gd name="connsiteX3" fmla="*/ 1387543 w 1387543"/>
                <a:gd name="connsiteY3" fmla="*/ 1635125 h 1638300"/>
                <a:gd name="connsiteX4" fmla="*/ 720793 w 1387543"/>
                <a:gd name="connsiteY4" fmla="*/ 0 h 1638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7543" h="1638300">
                  <a:moveTo>
                    <a:pt x="720793" y="0"/>
                  </a:moveTo>
                  <a:cubicBezTo>
                    <a:pt x="480551" y="237067"/>
                    <a:pt x="-6563" y="702913"/>
                    <a:pt x="68" y="711200"/>
                  </a:cubicBezTo>
                  <a:cubicBezTo>
                    <a:pt x="241983" y="1013529"/>
                    <a:pt x="345085" y="1300692"/>
                    <a:pt x="374718" y="1638300"/>
                  </a:cubicBezTo>
                  <a:lnTo>
                    <a:pt x="1387543" y="1635125"/>
                  </a:lnTo>
                  <a:cubicBezTo>
                    <a:pt x="1374843" y="1039283"/>
                    <a:pt x="1092268" y="418042"/>
                    <a:pt x="720793" y="0"/>
                  </a:cubicBezTo>
                  <a:close/>
                </a:path>
              </a:pathLst>
            </a:custGeom>
            <a:noFill/>
            <a:ln w="12700" cap="flat" cmpd="sng" algn="ctr">
              <a:solidFill>
                <a:srgbClr val="62B5E5"/>
              </a:solidFill>
              <a:prstDash val="solid"/>
            </a:ln>
            <a:effectLst/>
          </p:spPr>
          <p:txBody>
            <a:bodyPr lIns="36000" tIns="36000" rIns="36000" bIns="3600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44546A"/>
                </a:solidFill>
                <a:effectLst/>
                <a:uLnTx/>
                <a:uFillTx/>
                <a:latin typeface="Verdana"/>
                <a:ea typeface="+mn-ea"/>
                <a:cs typeface="+mn-cs"/>
              </a:endParaRPr>
            </a:p>
          </p:txBody>
        </p:sp>
        <p:sp>
          <p:nvSpPr>
            <p:cNvPr id="30" name="Freeform 65">
              <a:extLst>
                <a:ext uri="{FF2B5EF4-FFF2-40B4-BE49-F238E27FC236}">
                  <a16:creationId xmlns:a16="http://schemas.microsoft.com/office/drawing/2014/main" id="{F0D2FA11-88FB-4BF1-8388-52402272AFF7}"/>
                </a:ext>
              </a:extLst>
            </p:cNvPr>
            <p:cNvSpPr/>
            <p:nvPr/>
          </p:nvSpPr>
          <p:spPr>
            <a:xfrm>
              <a:off x="9834278" y="4049124"/>
              <a:ext cx="1151398" cy="1132225"/>
            </a:xfrm>
            <a:custGeom>
              <a:avLst/>
              <a:gdLst>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000" h="1647825">
                  <a:moveTo>
                    <a:pt x="384175" y="0"/>
                  </a:moveTo>
                  <a:lnTo>
                    <a:pt x="1397000" y="3175"/>
                  </a:lnTo>
                  <a:cubicBezTo>
                    <a:pt x="1361017" y="748242"/>
                    <a:pt x="1074208" y="1223433"/>
                    <a:pt x="717550" y="1647825"/>
                  </a:cubicBezTo>
                  <a:lnTo>
                    <a:pt x="0" y="933450"/>
                  </a:lnTo>
                  <a:cubicBezTo>
                    <a:pt x="178858" y="688975"/>
                    <a:pt x="345017" y="434975"/>
                    <a:pt x="384175" y="0"/>
                  </a:cubicBezTo>
                  <a:close/>
                </a:path>
              </a:pathLst>
            </a:custGeom>
            <a:noFill/>
            <a:ln w="12700" cap="flat" cmpd="sng" algn="ctr">
              <a:solidFill>
                <a:srgbClr val="62B5E5">
                  <a:lumMod val="75000"/>
                </a:srgbClr>
              </a:solidFill>
              <a:prstDash val="solid"/>
            </a:ln>
            <a:effectLst/>
          </p:spPr>
          <p:txBody>
            <a:bodyPr lIns="36000" tIns="36000" rIns="36000" bIns="3600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44546A"/>
                </a:solidFill>
                <a:effectLst/>
                <a:uLnTx/>
                <a:uFillTx/>
                <a:latin typeface="Verdana"/>
                <a:ea typeface="+mn-ea"/>
                <a:cs typeface="+mn-cs"/>
              </a:endParaRPr>
            </a:p>
          </p:txBody>
        </p:sp>
        <p:sp>
          <p:nvSpPr>
            <p:cNvPr id="31" name="Freeform 66">
              <a:extLst>
                <a:ext uri="{FF2B5EF4-FFF2-40B4-BE49-F238E27FC236}">
                  <a16:creationId xmlns:a16="http://schemas.microsoft.com/office/drawing/2014/main" id="{A3964768-2AC5-429B-B081-713AAC4E147C}"/>
                </a:ext>
              </a:extLst>
            </p:cNvPr>
            <p:cNvSpPr/>
            <p:nvPr/>
          </p:nvSpPr>
          <p:spPr>
            <a:xfrm>
              <a:off x="8907926" y="4814850"/>
              <a:ext cx="1366008" cy="968607"/>
            </a:xfrm>
            <a:custGeom>
              <a:avLst/>
              <a:gdLst>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704869"/>
                <a:gd name="connsiteY0" fmla="*/ 0 h 1409700"/>
                <a:gd name="connsiteX1" fmla="*/ 1657350 w 1704869"/>
                <a:gd name="connsiteY1" fmla="*/ 720725 h 1409700"/>
                <a:gd name="connsiteX2" fmla="*/ 0 w 1704869"/>
                <a:gd name="connsiteY2" fmla="*/ 1409700 h 1409700"/>
                <a:gd name="connsiteX3" fmla="*/ 0 w 1704869"/>
                <a:gd name="connsiteY3" fmla="*/ 400050 h 1409700"/>
                <a:gd name="connsiteX4" fmla="*/ 939800 w 1704869"/>
                <a:gd name="connsiteY4" fmla="*/ 0 h 1409700"/>
                <a:gd name="connsiteX0" fmla="*/ 939800 w 1657394"/>
                <a:gd name="connsiteY0" fmla="*/ 0 h 1409700"/>
                <a:gd name="connsiteX1" fmla="*/ 1657350 w 1657394"/>
                <a:gd name="connsiteY1" fmla="*/ 720725 h 1409700"/>
                <a:gd name="connsiteX2" fmla="*/ 0 w 1657394"/>
                <a:gd name="connsiteY2" fmla="*/ 1409700 h 1409700"/>
                <a:gd name="connsiteX3" fmla="*/ 0 w 1657394"/>
                <a:gd name="connsiteY3" fmla="*/ 400050 h 1409700"/>
                <a:gd name="connsiteX4" fmla="*/ 939800 w 1657394"/>
                <a:gd name="connsiteY4" fmla="*/ 0 h 1409700"/>
                <a:gd name="connsiteX0" fmla="*/ 939800 w 1657389"/>
                <a:gd name="connsiteY0" fmla="*/ 0 h 1409700"/>
                <a:gd name="connsiteX1" fmla="*/ 1657350 w 1657389"/>
                <a:gd name="connsiteY1" fmla="*/ 720725 h 1409700"/>
                <a:gd name="connsiteX2" fmla="*/ 0 w 1657389"/>
                <a:gd name="connsiteY2" fmla="*/ 1409700 h 1409700"/>
                <a:gd name="connsiteX3" fmla="*/ 0 w 1657389"/>
                <a:gd name="connsiteY3" fmla="*/ 400050 h 1409700"/>
                <a:gd name="connsiteX4" fmla="*/ 939800 w 1657389"/>
                <a:gd name="connsiteY4" fmla="*/ 0 h 1409700"/>
                <a:gd name="connsiteX0" fmla="*/ 939800 w 1657389"/>
                <a:gd name="connsiteY0" fmla="*/ 0 h 1409700"/>
                <a:gd name="connsiteX1" fmla="*/ 1657350 w 1657389"/>
                <a:gd name="connsiteY1" fmla="*/ 720725 h 1409700"/>
                <a:gd name="connsiteX2" fmla="*/ 0 w 1657389"/>
                <a:gd name="connsiteY2" fmla="*/ 1409700 h 1409700"/>
                <a:gd name="connsiteX3" fmla="*/ 0 w 1657389"/>
                <a:gd name="connsiteY3" fmla="*/ 400050 h 1409700"/>
                <a:gd name="connsiteX4" fmla="*/ 939800 w 1657389"/>
                <a:gd name="connsiteY4" fmla="*/ 0 h 1409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89" h="1409700">
                  <a:moveTo>
                    <a:pt x="939800" y="0"/>
                  </a:moveTo>
                  <a:cubicBezTo>
                    <a:pt x="1178983" y="240242"/>
                    <a:pt x="1662405" y="716205"/>
                    <a:pt x="1657350" y="720725"/>
                  </a:cubicBezTo>
                  <a:cubicBezTo>
                    <a:pt x="1073406" y="1242818"/>
                    <a:pt x="555625" y="1361017"/>
                    <a:pt x="0" y="1409700"/>
                  </a:cubicBezTo>
                  <a:lnTo>
                    <a:pt x="0" y="400050"/>
                  </a:lnTo>
                  <a:cubicBezTo>
                    <a:pt x="332317" y="342900"/>
                    <a:pt x="626533" y="279400"/>
                    <a:pt x="939800" y="0"/>
                  </a:cubicBezTo>
                  <a:close/>
                </a:path>
              </a:pathLst>
            </a:custGeom>
            <a:noFill/>
            <a:ln w="12700" cap="flat" cmpd="sng" algn="ctr">
              <a:solidFill>
                <a:srgbClr val="FFFFFF">
                  <a:lumMod val="50000"/>
                </a:srgbClr>
              </a:solidFill>
              <a:prstDash val="solid"/>
            </a:ln>
            <a:effectLst/>
          </p:spPr>
          <p:txBody>
            <a:bodyPr lIns="36000" tIns="36000" rIns="36000" bIns="3600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44546A"/>
                </a:solidFill>
                <a:effectLst/>
                <a:uLnTx/>
                <a:uFillTx/>
                <a:latin typeface="Verdana"/>
                <a:ea typeface="+mn-ea"/>
                <a:cs typeface="+mn-cs"/>
              </a:endParaRPr>
            </a:p>
          </p:txBody>
        </p:sp>
        <p:sp>
          <p:nvSpPr>
            <p:cNvPr id="40" name="Freeform 67">
              <a:extLst>
                <a:ext uri="{FF2B5EF4-FFF2-40B4-BE49-F238E27FC236}">
                  <a16:creationId xmlns:a16="http://schemas.microsoft.com/office/drawing/2014/main" id="{63B0A6D1-CB29-49DB-8AE7-6CE71B05BF0B}"/>
                </a:ext>
              </a:extLst>
            </p:cNvPr>
            <p:cNvSpPr/>
            <p:nvPr/>
          </p:nvSpPr>
          <p:spPr>
            <a:xfrm flipH="1">
              <a:off x="7303821" y="2142448"/>
              <a:ext cx="1379061" cy="970790"/>
            </a:xfrm>
            <a:custGeom>
              <a:avLst/>
              <a:gdLst>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 name="connsiteX0" fmla="*/ 0 w 1673225"/>
                <a:gd name="connsiteY0" fmla="*/ 0 h 1412875"/>
                <a:gd name="connsiteX1" fmla="*/ 1673225 w 1673225"/>
                <a:gd name="connsiteY1" fmla="*/ 701675 h 1412875"/>
                <a:gd name="connsiteX2" fmla="*/ 958850 w 1673225"/>
                <a:gd name="connsiteY2" fmla="*/ 1412875 h 1412875"/>
                <a:gd name="connsiteX3" fmla="*/ 6350 w 1673225"/>
                <a:gd name="connsiteY3" fmla="*/ 1016000 h 1412875"/>
                <a:gd name="connsiteX4" fmla="*/ 0 w 1673225"/>
                <a:gd name="connsiteY4" fmla="*/ 0 h 141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225" h="1412875">
                  <a:moveTo>
                    <a:pt x="0" y="0"/>
                  </a:moveTo>
                  <a:cubicBezTo>
                    <a:pt x="541867" y="21167"/>
                    <a:pt x="1185333" y="232833"/>
                    <a:pt x="1673225" y="701675"/>
                  </a:cubicBezTo>
                  <a:lnTo>
                    <a:pt x="958850" y="1412875"/>
                  </a:lnTo>
                  <a:cubicBezTo>
                    <a:pt x="701675" y="1212320"/>
                    <a:pt x="539750" y="1074473"/>
                    <a:pt x="6350" y="1016000"/>
                  </a:cubicBezTo>
                  <a:cubicBezTo>
                    <a:pt x="5292" y="677333"/>
                    <a:pt x="4233" y="338667"/>
                    <a:pt x="0" y="0"/>
                  </a:cubicBezTo>
                  <a:close/>
                </a:path>
              </a:pathLst>
            </a:custGeom>
            <a:noFill/>
            <a:ln w="12700" cap="flat" cmpd="sng" algn="ctr">
              <a:solidFill>
                <a:srgbClr val="FFFFFF">
                  <a:lumMod val="50000"/>
                </a:srgbClr>
              </a:solidFill>
              <a:prstDash val="solid"/>
            </a:ln>
            <a:effectLst/>
          </p:spPr>
          <p:txBody>
            <a:bodyPr lIns="36000" tIns="36000" rIns="36000" bIns="3600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44546A"/>
                </a:solidFill>
                <a:effectLst/>
                <a:uLnTx/>
                <a:uFillTx/>
                <a:latin typeface="Verdana"/>
                <a:ea typeface="+mn-ea"/>
                <a:cs typeface="+mn-cs"/>
              </a:endParaRPr>
            </a:p>
          </p:txBody>
        </p:sp>
        <p:sp>
          <p:nvSpPr>
            <p:cNvPr id="41" name="Freeform 69">
              <a:extLst>
                <a:ext uri="{FF2B5EF4-FFF2-40B4-BE49-F238E27FC236}">
                  <a16:creationId xmlns:a16="http://schemas.microsoft.com/office/drawing/2014/main" id="{404F74CC-7EEB-4989-AD9D-B1DD439A3F27}"/>
                </a:ext>
              </a:extLst>
            </p:cNvPr>
            <p:cNvSpPr/>
            <p:nvPr/>
          </p:nvSpPr>
          <p:spPr>
            <a:xfrm flipH="1">
              <a:off x="6599898" y="4049124"/>
              <a:ext cx="1151398" cy="1132226"/>
            </a:xfrm>
            <a:custGeom>
              <a:avLst/>
              <a:gdLst>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 name="connsiteX0" fmla="*/ 384175 w 1397000"/>
                <a:gd name="connsiteY0" fmla="*/ 0 h 1647825"/>
                <a:gd name="connsiteX1" fmla="*/ 1397000 w 1397000"/>
                <a:gd name="connsiteY1" fmla="*/ 3175 h 1647825"/>
                <a:gd name="connsiteX2" fmla="*/ 717550 w 1397000"/>
                <a:gd name="connsiteY2" fmla="*/ 1647825 h 1647825"/>
                <a:gd name="connsiteX3" fmla="*/ 0 w 1397000"/>
                <a:gd name="connsiteY3" fmla="*/ 933450 h 1647825"/>
                <a:gd name="connsiteX4" fmla="*/ 384175 w 1397000"/>
                <a:gd name="connsiteY4" fmla="*/ 0 h 1647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7000" h="1647825">
                  <a:moveTo>
                    <a:pt x="384175" y="0"/>
                  </a:moveTo>
                  <a:lnTo>
                    <a:pt x="1397000" y="3175"/>
                  </a:lnTo>
                  <a:cubicBezTo>
                    <a:pt x="1361017" y="748242"/>
                    <a:pt x="1074208" y="1223433"/>
                    <a:pt x="717550" y="1647825"/>
                  </a:cubicBezTo>
                  <a:lnTo>
                    <a:pt x="0" y="933450"/>
                  </a:lnTo>
                  <a:cubicBezTo>
                    <a:pt x="178858" y="688975"/>
                    <a:pt x="345017" y="434975"/>
                    <a:pt x="384175" y="0"/>
                  </a:cubicBezTo>
                  <a:close/>
                </a:path>
              </a:pathLst>
            </a:custGeom>
            <a:noFill/>
            <a:ln w="12700" cap="flat" cmpd="sng" algn="ctr">
              <a:solidFill>
                <a:srgbClr val="012169">
                  <a:lumMod val="60000"/>
                  <a:lumOff val="40000"/>
                </a:srgbClr>
              </a:solidFill>
              <a:prstDash val="solid"/>
            </a:ln>
            <a:effectLst/>
          </p:spPr>
          <p:txBody>
            <a:bodyPr lIns="36000" tIns="36000" rIns="36000" bIns="3600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44546A"/>
                </a:solidFill>
                <a:effectLst/>
                <a:uLnTx/>
                <a:uFillTx/>
                <a:latin typeface="Verdana"/>
                <a:ea typeface="+mn-ea"/>
                <a:cs typeface="+mn-cs"/>
              </a:endParaRPr>
            </a:p>
          </p:txBody>
        </p:sp>
        <p:sp>
          <p:nvSpPr>
            <p:cNvPr id="42" name="Freeform 70">
              <a:extLst>
                <a:ext uri="{FF2B5EF4-FFF2-40B4-BE49-F238E27FC236}">
                  <a16:creationId xmlns:a16="http://schemas.microsoft.com/office/drawing/2014/main" id="{F5FBFB43-4C31-4425-A665-C97C03B6A422}"/>
                </a:ext>
              </a:extLst>
            </p:cNvPr>
            <p:cNvSpPr/>
            <p:nvPr/>
          </p:nvSpPr>
          <p:spPr>
            <a:xfrm flipH="1">
              <a:off x="7311639" y="4814850"/>
              <a:ext cx="1366008" cy="968609"/>
            </a:xfrm>
            <a:custGeom>
              <a:avLst/>
              <a:gdLst>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657350"/>
                <a:gd name="connsiteY0" fmla="*/ 0 h 1409700"/>
                <a:gd name="connsiteX1" fmla="*/ 1657350 w 1657350"/>
                <a:gd name="connsiteY1" fmla="*/ 720725 h 1409700"/>
                <a:gd name="connsiteX2" fmla="*/ 0 w 1657350"/>
                <a:gd name="connsiteY2" fmla="*/ 1409700 h 1409700"/>
                <a:gd name="connsiteX3" fmla="*/ 0 w 1657350"/>
                <a:gd name="connsiteY3" fmla="*/ 400050 h 1409700"/>
                <a:gd name="connsiteX4" fmla="*/ 939800 w 1657350"/>
                <a:gd name="connsiteY4" fmla="*/ 0 h 1409700"/>
                <a:gd name="connsiteX0" fmla="*/ 939800 w 1704869"/>
                <a:gd name="connsiteY0" fmla="*/ 0 h 1409700"/>
                <a:gd name="connsiteX1" fmla="*/ 1657350 w 1704869"/>
                <a:gd name="connsiteY1" fmla="*/ 720725 h 1409700"/>
                <a:gd name="connsiteX2" fmla="*/ 0 w 1704869"/>
                <a:gd name="connsiteY2" fmla="*/ 1409700 h 1409700"/>
                <a:gd name="connsiteX3" fmla="*/ 0 w 1704869"/>
                <a:gd name="connsiteY3" fmla="*/ 400050 h 1409700"/>
                <a:gd name="connsiteX4" fmla="*/ 939800 w 1704869"/>
                <a:gd name="connsiteY4" fmla="*/ 0 h 1409700"/>
                <a:gd name="connsiteX0" fmla="*/ 939800 w 1657394"/>
                <a:gd name="connsiteY0" fmla="*/ 0 h 1409700"/>
                <a:gd name="connsiteX1" fmla="*/ 1657350 w 1657394"/>
                <a:gd name="connsiteY1" fmla="*/ 720725 h 1409700"/>
                <a:gd name="connsiteX2" fmla="*/ 0 w 1657394"/>
                <a:gd name="connsiteY2" fmla="*/ 1409700 h 1409700"/>
                <a:gd name="connsiteX3" fmla="*/ 0 w 1657394"/>
                <a:gd name="connsiteY3" fmla="*/ 400050 h 1409700"/>
                <a:gd name="connsiteX4" fmla="*/ 939800 w 1657394"/>
                <a:gd name="connsiteY4" fmla="*/ 0 h 1409700"/>
                <a:gd name="connsiteX0" fmla="*/ 939800 w 1657389"/>
                <a:gd name="connsiteY0" fmla="*/ 0 h 1409700"/>
                <a:gd name="connsiteX1" fmla="*/ 1657350 w 1657389"/>
                <a:gd name="connsiteY1" fmla="*/ 720725 h 1409700"/>
                <a:gd name="connsiteX2" fmla="*/ 0 w 1657389"/>
                <a:gd name="connsiteY2" fmla="*/ 1409700 h 1409700"/>
                <a:gd name="connsiteX3" fmla="*/ 0 w 1657389"/>
                <a:gd name="connsiteY3" fmla="*/ 400050 h 1409700"/>
                <a:gd name="connsiteX4" fmla="*/ 939800 w 1657389"/>
                <a:gd name="connsiteY4" fmla="*/ 0 h 1409700"/>
                <a:gd name="connsiteX0" fmla="*/ 939800 w 1657389"/>
                <a:gd name="connsiteY0" fmla="*/ 0 h 1409700"/>
                <a:gd name="connsiteX1" fmla="*/ 1657350 w 1657389"/>
                <a:gd name="connsiteY1" fmla="*/ 720725 h 1409700"/>
                <a:gd name="connsiteX2" fmla="*/ 0 w 1657389"/>
                <a:gd name="connsiteY2" fmla="*/ 1409700 h 1409700"/>
                <a:gd name="connsiteX3" fmla="*/ 0 w 1657389"/>
                <a:gd name="connsiteY3" fmla="*/ 400050 h 1409700"/>
                <a:gd name="connsiteX4" fmla="*/ 939800 w 1657389"/>
                <a:gd name="connsiteY4" fmla="*/ 0 h 1409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89" h="1409700">
                  <a:moveTo>
                    <a:pt x="939800" y="0"/>
                  </a:moveTo>
                  <a:cubicBezTo>
                    <a:pt x="1178983" y="240242"/>
                    <a:pt x="1662405" y="716205"/>
                    <a:pt x="1657350" y="720725"/>
                  </a:cubicBezTo>
                  <a:cubicBezTo>
                    <a:pt x="1073406" y="1242818"/>
                    <a:pt x="555625" y="1361017"/>
                    <a:pt x="0" y="1409700"/>
                  </a:cubicBezTo>
                  <a:lnTo>
                    <a:pt x="0" y="400050"/>
                  </a:lnTo>
                  <a:cubicBezTo>
                    <a:pt x="332317" y="342900"/>
                    <a:pt x="626533" y="279400"/>
                    <a:pt x="939800" y="0"/>
                  </a:cubicBezTo>
                  <a:close/>
                </a:path>
              </a:pathLst>
            </a:custGeom>
            <a:noFill/>
            <a:ln w="12700" cap="flat" cmpd="sng" algn="ctr">
              <a:solidFill>
                <a:srgbClr val="86BC25">
                  <a:lumMod val="50000"/>
                </a:srgbClr>
              </a:solidFill>
              <a:prstDash val="solid"/>
            </a:ln>
            <a:effectLst/>
          </p:spPr>
          <p:txBody>
            <a:bodyPr lIns="36000" tIns="36000" rIns="36000" bIns="3600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44546A"/>
                </a:solidFill>
                <a:effectLst/>
                <a:uLnTx/>
                <a:uFillTx/>
                <a:latin typeface="Verdana"/>
                <a:ea typeface="+mn-ea"/>
                <a:cs typeface="+mn-cs"/>
              </a:endParaRPr>
            </a:p>
          </p:txBody>
        </p:sp>
        <p:sp>
          <p:nvSpPr>
            <p:cNvPr id="43" name="Isosceles Triangle 42">
              <a:extLst>
                <a:ext uri="{FF2B5EF4-FFF2-40B4-BE49-F238E27FC236}">
                  <a16:creationId xmlns:a16="http://schemas.microsoft.com/office/drawing/2014/main" id="{7FBF54F6-BBFD-4796-9B33-6F44C276115C}"/>
                </a:ext>
              </a:extLst>
            </p:cNvPr>
            <p:cNvSpPr/>
            <p:nvPr/>
          </p:nvSpPr>
          <p:spPr>
            <a:xfrm rot="12077977">
              <a:off x="9148674" y="2910353"/>
              <a:ext cx="275072" cy="197689"/>
            </a:xfrm>
            <a:prstGeom prst="triangle">
              <a:avLst/>
            </a:prstGeom>
            <a:solidFill>
              <a:srgbClr val="046A38"/>
            </a:solidFill>
            <a:ln w="12700" cap="flat" cmpd="sng" algn="ctr">
              <a:noFill/>
              <a:prstDash val="solid"/>
            </a:ln>
            <a:effectLst/>
          </p:spPr>
          <p:txBody>
            <a:bodyPr lIns="36000" tIns="36000" rIns="36000" bIns="3600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44546A"/>
                </a:solidFill>
                <a:effectLst/>
                <a:uLnTx/>
                <a:uFillTx/>
                <a:latin typeface="Verdana"/>
                <a:ea typeface="+mn-ea"/>
                <a:cs typeface="+mn-cs"/>
              </a:endParaRPr>
            </a:p>
          </p:txBody>
        </p:sp>
        <p:sp>
          <p:nvSpPr>
            <p:cNvPr id="44" name="Isosceles Triangle 43">
              <a:extLst>
                <a:ext uri="{FF2B5EF4-FFF2-40B4-BE49-F238E27FC236}">
                  <a16:creationId xmlns:a16="http://schemas.microsoft.com/office/drawing/2014/main" id="{9889BD7A-6B1C-48CE-BA38-C3027041DB1A}"/>
                </a:ext>
              </a:extLst>
            </p:cNvPr>
            <p:cNvSpPr/>
            <p:nvPr/>
          </p:nvSpPr>
          <p:spPr>
            <a:xfrm rot="14801312">
              <a:off x="9830986" y="3440383"/>
              <a:ext cx="229318" cy="237132"/>
            </a:xfrm>
            <a:prstGeom prst="triangle">
              <a:avLst/>
            </a:prstGeom>
            <a:solidFill>
              <a:srgbClr val="62B5E5"/>
            </a:solidFill>
            <a:ln w="12700" cap="flat" cmpd="sng" algn="ctr">
              <a:noFill/>
              <a:prstDash val="solid"/>
            </a:ln>
            <a:effectLst/>
          </p:spPr>
          <p:txBody>
            <a:bodyPr lIns="36000" tIns="36000" rIns="36000" bIns="3600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44546A"/>
                </a:solidFill>
                <a:effectLst/>
                <a:uLnTx/>
                <a:uFillTx/>
                <a:latin typeface="Verdana"/>
                <a:ea typeface="+mn-ea"/>
                <a:cs typeface="+mn-cs"/>
              </a:endParaRPr>
            </a:p>
          </p:txBody>
        </p:sp>
        <p:sp>
          <p:nvSpPr>
            <p:cNvPr id="45" name="Isosceles Triangle 44">
              <a:extLst>
                <a:ext uri="{FF2B5EF4-FFF2-40B4-BE49-F238E27FC236}">
                  <a16:creationId xmlns:a16="http://schemas.microsoft.com/office/drawing/2014/main" id="{F625E317-7DFB-44D2-A82F-6475E17A5627}"/>
                </a:ext>
              </a:extLst>
            </p:cNvPr>
            <p:cNvSpPr/>
            <p:nvPr/>
          </p:nvSpPr>
          <p:spPr>
            <a:xfrm rot="17659912">
              <a:off x="9839336" y="4230105"/>
              <a:ext cx="229318" cy="237132"/>
            </a:xfrm>
            <a:prstGeom prst="triangle">
              <a:avLst/>
            </a:prstGeom>
            <a:solidFill>
              <a:srgbClr val="0097A9"/>
            </a:solidFill>
            <a:ln w="12700" cap="flat" cmpd="sng" algn="ctr">
              <a:noFill/>
              <a:prstDash val="solid"/>
            </a:ln>
            <a:effectLst/>
          </p:spPr>
          <p:txBody>
            <a:bodyPr lIns="36000" tIns="36000" rIns="36000" bIns="3600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44546A"/>
                </a:solidFill>
                <a:effectLst/>
                <a:uLnTx/>
                <a:uFillTx/>
                <a:latin typeface="Verdana"/>
                <a:ea typeface="+mn-ea"/>
                <a:cs typeface="+mn-cs"/>
              </a:endParaRPr>
            </a:p>
          </p:txBody>
        </p:sp>
        <p:sp>
          <p:nvSpPr>
            <p:cNvPr id="49" name="Isosceles Triangle 48">
              <a:extLst>
                <a:ext uri="{FF2B5EF4-FFF2-40B4-BE49-F238E27FC236}">
                  <a16:creationId xmlns:a16="http://schemas.microsoft.com/office/drawing/2014/main" id="{7871B48E-F672-4286-8A2A-ADF4A3143736}"/>
                </a:ext>
              </a:extLst>
            </p:cNvPr>
            <p:cNvSpPr/>
            <p:nvPr/>
          </p:nvSpPr>
          <p:spPr>
            <a:xfrm rot="20258485">
              <a:off x="9131882" y="4821936"/>
              <a:ext cx="275072" cy="197689"/>
            </a:xfrm>
            <a:prstGeom prst="triangle">
              <a:avLst/>
            </a:prstGeom>
            <a:solidFill>
              <a:srgbClr val="75787B"/>
            </a:solidFill>
            <a:ln w="12700" cap="flat" cmpd="sng" algn="ctr">
              <a:noFill/>
              <a:prstDash val="solid"/>
            </a:ln>
            <a:effectLst/>
          </p:spPr>
          <p:txBody>
            <a:bodyPr lIns="36000" tIns="36000" rIns="36000" bIns="3600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44546A"/>
                </a:solidFill>
                <a:effectLst/>
                <a:uLnTx/>
                <a:uFillTx/>
                <a:latin typeface="Verdana"/>
                <a:ea typeface="+mn-ea"/>
                <a:cs typeface="+mn-cs"/>
              </a:endParaRPr>
            </a:p>
          </p:txBody>
        </p:sp>
        <p:sp>
          <p:nvSpPr>
            <p:cNvPr id="50" name="Isosceles Triangle 49">
              <a:extLst>
                <a:ext uri="{FF2B5EF4-FFF2-40B4-BE49-F238E27FC236}">
                  <a16:creationId xmlns:a16="http://schemas.microsoft.com/office/drawing/2014/main" id="{BC76B5A1-3F08-4B50-9249-34BA18F3103B}"/>
                </a:ext>
              </a:extLst>
            </p:cNvPr>
            <p:cNvSpPr/>
            <p:nvPr/>
          </p:nvSpPr>
          <p:spPr>
            <a:xfrm rot="1358864">
              <a:off x="8168647" y="4821593"/>
              <a:ext cx="275072" cy="197689"/>
            </a:xfrm>
            <a:prstGeom prst="triangle">
              <a:avLst/>
            </a:prstGeom>
            <a:solidFill>
              <a:srgbClr val="046A38"/>
            </a:solidFill>
            <a:ln w="12700" cap="flat" cmpd="sng" algn="ctr">
              <a:noFill/>
              <a:prstDash val="solid"/>
            </a:ln>
            <a:effectLst/>
          </p:spPr>
          <p:txBody>
            <a:bodyPr lIns="36000" tIns="36000" rIns="36000" bIns="3600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44546A"/>
                </a:solidFill>
                <a:effectLst/>
                <a:uLnTx/>
                <a:uFillTx/>
                <a:latin typeface="Verdana"/>
                <a:ea typeface="+mn-ea"/>
                <a:cs typeface="+mn-cs"/>
              </a:endParaRPr>
            </a:p>
          </p:txBody>
        </p:sp>
        <p:sp>
          <p:nvSpPr>
            <p:cNvPr id="53" name="Isosceles Triangle 52">
              <a:extLst>
                <a:ext uri="{FF2B5EF4-FFF2-40B4-BE49-F238E27FC236}">
                  <a16:creationId xmlns:a16="http://schemas.microsoft.com/office/drawing/2014/main" id="{D2F2CA05-B43D-4F2D-8E62-D234D5470535}"/>
                </a:ext>
              </a:extLst>
            </p:cNvPr>
            <p:cNvSpPr/>
            <p:nvPr/>
          </p:nvSpPr>
          <p:spPr>
            <a:xfrm rot="3981004">
              <a:off x="7521676" y="4229006"/>
              <a:ext cx="229318" cy="237132"/>
            </a:xfrm>
            <a:prstGeom prst="triangle">
              <a:avLst/>
            </a:prstGeom>
            <a:solidFill>
              <a:srgbClr val="62B5E5"/>
            </a:solidFill>
            <a:ln w="12700" cap="flat" cmpd="sng" algn="ctr">
              <a:noFill/>
              <a:prstDash val="solid"/>
            </a:ln>
            <a:effectLst/>
          </p:spPr>
          <p:txBody>
            <a:bodyPr lIns="36000" tIns="36000" rIns="36000" bIns="3600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44546A"/>
                </a:solidFill>
                <a:effectLst/>
                <a:uLnTx/>
                <a:uFillTx/>
                <a:latin typeface="Verdana"/>
                <a:ea typeface="+mn-ea"/>
                <a:cs typeface="+mn-cs"/>
              </a:endParaRPr>
            </a:p>
          </p:txBody>
        </p:sp>
        <p:sp>
          <p:nvSpPr>
            <p:cNvPr id="56" name="Isosceles Triangle 55">
              <a:extLst>
                <a:ext uri="{FF2B5EF4-FFF2-40B4-BE49-F238E27FC236}">
                  <a16:creationId xmlns:a16="http://schemas.microsoft.com/office/drawing/2014/main" id="{114FF295-CAB8-4502-A032-FED26CA1ECF1}"/>
                </a:ext>
              </a:extLst>
            </p:cNvPr>
            <p:cNvSpPr/>
            <p:nvPr/>
          </p:nvSpPr>
          <p:spPr>
            <a:xfrm rot="6619441">
              <a:off x="7523942" y="3453208"/>
              <a:ext cx="229318" cy="237132"/>
            </a:xfrm>
            <a:prstGeom prst="triangle">
              <a:avLst/>
            </a:prstGeom>
            <a:solidFill>
              <a:srgbClr val="0097A9"/>
            </a:solidFill>
            <a:ln w="12700" cap="flat" cmpd="sng" algn="ctr">
              <a:noFill/>
              <a:prstDash val="solid"/>
            </a:ln>
            <a:effectLst/>
          </p:spPr>
          <p:txBody>
            <a:bodyPr lIns="36000" tIns="36000" rIns="36000" bIns="3600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44546A"/>
                </a:solidFill>
                <a:effectLst/>
                <a:uLnTx/>
                <a:uFillTx/>
                <a:latin typeface="Verdana"/>
                <a:ea typeface="+mn-ea"/>
                <a:cs typeface="+mn-cs"/>
              </a:endParaRPr>
            </a:p>
          </p:txBody>
        </p:sp>
        <p:sp>
          <p:nvSpPr>
            <p:cNvPr id="57" name="Isosceles Triangle 56">
              <a:extLst>
                <a:ext uri="{FF2B5EF4-FFF2-40B4-BE49-F238E27FC236}">
                  <a16:creationId xmlns:a16="http://schemas.microsoft.com/office/drawing/2014/main" id="{CD68E7E6-6D02-46BE-89D4-15AB7FAE3D90}"/>
                </a:ext>
              </a:extLst>
            </p:cNvPr>
            <p:cNvSpPr/>
            <p:nvPr/>
          </p:nvSpPr>
          <p:spPr>
            <a:xfrm rot="9321448">
              <a:off x="8162036" y="2908847"/>
              <a:ext cx="275072" cy="197689"/>
            </a:xfrm>
            <a:prstGeom prst="triangle">
              <a:avLst/>
            </a:prstGeom>
            <a:solidFill>
              <a:srgbClr val="75787B"/>
            </a:solidFill>
            <a:ln w="12700" cap="flat" cmpd="sng" algn="ctr">
              <a:noFill/>
              <a:prstDash val="solid"/>
            </a:ln>
            <a:effectLst/>
          </p:spPr>
          <p:txBody>
            <a:bodyPr lIns="36000" tIns="36000" rIns="36000" bIns="36000" rtlCol="0" anchor="ctr">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44546A"/>
                </a:solidFill>
                <a:effectLst/>
                <a:uLnTx/>
                <a:uFillTx/>
                <a:latin typeface="Verdana"/>
                <a:ea typeface="+mn-ea"/>
                <a:cs typeface="+mn-cs"/>
              </a:endParaRPr>
            </a:p>
          </p:txBody>
        </p:sp>
        <p:sp>
          <p:nvSpPr>
            <p:cNvPr id="58" name="Rectangle 57">
              <a:extLst>
                <a:ext uri="{FF2B5EF4-FFF2-40B4-BE49-F238E27FC236}">
                  <a16:creationId xmlns:a16="http://schemas.microsoft.com/office/drawing/2014/main" id="{7987B0BA-B3D5-4E4D-91E3-84091318EB11}"/>
                </a:ext>
              </a:extLst>
            </p:cNvPr>
            <p:cNvSpPr/>
            <p:nvPr/>
          </p:nvSpPr>
          <p:spPr>
            <a:xfrm>
              <a:off x="7396825" y="2574148"/>
              <a:ext cx="1296655" cy="299056"/>
            </a:xfrm>
            <a:prstGeom prst="rect">
              <a:avLst/>
            </a:prstGeom>
          </p:spPr>
          <p:txBody>
            <a:bodyPr wrap="square" lIns="0" tIns="0" rIns="0" bIns="0">
              <a:spAutoFit/>
            </a:bodyPr>
            <a:lstStyle/>
            <a:p>
              <a:pPr marL="0" marR="0" lvl="0" indent="0" algn="ctr" defTabSz="1219170" eaLnBrk="1" fontAlgn="auto" latinLnBrk="0" hangingPunct="1">
                <a:lnSpc>
                  <a:spcPct val="100000"/>
                </a:lnSpc>
                <a:spcBef>
                  <a:spcPts val="0"/>
                </a:spcBef>
                <a:spcAft>
                  <a:spcPts val="600"/>
                </a:spcAft>
                <a:buClrTx/>
                <a:buSzTx/>
                <a:buFontTx/>
                <a:buNone/>
                <a:tabLst/>
                <a:defRPr/>
              </a:pPr>
              <a:r>
                <a:rPr kumimoji="0" lang="en-US" sz="800" b="1" i="0" u="none" strike="noStrike" kern="0" cap="none" spc="0" normalizeH="0" baseline="0" noProof="0" dirty="0">
                  <a:ln>
                    <a:noFill/>
                  </a:ln>
                  <a:solidFill>
                    <a:srgbClr val="000000"/>
                  </a:solidFill>
                  <a:effectLst/>
                  <a:uLnTx/>
                  <a:uFillTx/>
                  <a:latin typeface="Verdana"/>
                </a:rPr>
                <a:t>Loss reduction and efficiency improvement support to </a:t>
              </a:r>
              <a:r>
                <a:rPr kumimoji="0" lang="en-US" sz="800" b="1" i="0" u="none" strike="noStrike" kern="0" cap="none" spc="0" normalizeH="0" baseline="0" noProof="0" dirty="0" err="1">
                  <a:ln>
                    <a:noFill/>
                  </a:ln>
                  <a:solidFill>
                    <a:srgbClr val="000000"/>
                  </a:solidFill>
                  <a:effectLst/>
                  <a:uLnTx/>
                  <a:uFillTx/>
                  <a:latin typeface="Verdana"/>
                </a:rPr>
                <a:t>Discoms</a:t>
              </a:r>
              <a:r>
                <a:rPr kumimoji="0" lang="en-US" sz="800" b="1" i="0" u="none" strike="noStrike" kern="0" cap="none" spc="0" normalizeH="0" baseline="0" noProof="0" dirty="0">
                  <a:ln>
                    <a:noFill/>
                  </a:ln>
                  <a:solidFill>
                    <a:srgbClr val="000000"/>
                  </a:solidFill>
                  <a:effectLst/>
                  <a:uLnTx/>
                  <a:uFillTx/>
                  <a:latin typeface="Verdana"/>
                </a:rPr>
                <a:t> </a:t>
              </a:r>
              <a:endParaRPr kumimoji="0" lang="en-US" sz="800" b="0" i="0" u="none" strike="noStrike" kern="0" cap="none" spc="0" normalizeH="0" baseline="0" noProof="0" dirty="0">
                <a:ln>
                  <a:noFill/>
                </a:ln>
                <a:solidFill>
                  <a:srgbClr val="000000"/>
                </a:solidFill>
                <a:effectLst/>
                <a:uLnTx/>
                <a:uFillTx/>
                <a:latin typeface="Verdana"/>
              </a:endParaRPr>
            </a:p>
          </p:txBody>
        </p:sp>
        <p:sp>
          <p:nvSpPr>
            <p:cNvPr id="59" name="Rectangle 58">
              <a:extLst>
                <a:ext uri="{FF2B5EF4-FFF2-40B4-BE49-F238E27FC236}">
                  <a16:creationId xmlns:a16="http://schemas.microsoft.com/office/drawing/2014/main" id="{64123132-C4D2-42EF-A8AF-CDCDDDBB9460}"/>
                </a:ext>
              </a:extLst>
            </p:cNvPr>
            <p:cNvSpPr/>
            <p:nvPr/>
          </p:nvSpPr>
          <p:spPr>
            <a:xfrm>
              <a:off x="9000802" y="2567683"/>
              <a:ext cx="1063846" cy="308367"/>
            </a:xfrm>
            <a:prstGeom prst="rect">
              <a:avLst/>
            </a:prstGeom>
          </p:spPr>
          <p:txBody>
            <a:bodyPr wrap="square" lIns="0" tIns="0" rIns="0" bIns="0">
              <a:spAutoFit/>
            </a:bodyPr>
            <a:lstStyle/>
            <a:p>
              <a:pPr marL="0" marR="0" lvl="0" indent="0" algn="ctr" defTabSz="1219170" eaLnBrk="1" fontAlgn="auto" latinLnBrk="0" hangingPunct="1">
                <a:lnSpc>
                  <a:spcPct val="100000"/>
                </a:lnSpc>
                <a:spcBef>
                  <a:spcPts val="0"/>
                </a:spcBef>
                <a:spcAft>
                  <a:spcPts val="600"/>
                </a:spcAft>
                <a:buClrTx/>
                <a:buSzTx/>
                <a:buFontTx/>
                <a:buNone/>
                <a:tabLst/>
                <a:defRPr/>
              </a:pPr>
              <a:r>
                <a:rPr kumimoji="0" lang="en-US" sz="900" b="1" i="0" u="none" strike="noStrike" kern="0" cap="none" spc="0" normalizeH="0" baseline="0" noProof="0" dirty="0">
                  <a:ln>
                    <a:noFill/>
                  </a:ln>
                  <a:solidFill>
                    <a:srgbClr val="000000"/>
                  </a:solidFill>
                  <a:effectLst/>
                  <a:uLnTx/>
                  <a:uFillTx/>
                  <a:latin typeface="Verdana"/>
                </a:rPr>
                <a:t>Privatization, DFs to improve supply reliability</a:t>
              </a:r>
            </a:p>
          </p:txBody>
        </p:sp>
        <p:sp>
          <p:nvSpPr>
            <p:cNvPr id="60" name="Rectangle 59">
              <a:extLst>
                <a:ext uri="{FF2B5EF4-FFF2-40B4-BE49-F238E27FC236}">
                  <a16:creationId xmlns:a16="http://schemas.microsoft.com/office/drawing/2014/main" id="{A3161636-A0FE-4558-9E96-D2B68A146D50}"/>
                </a:ext>
              </a:extLst>
            </p:cNvPr>
            <p:cNvSpPr/>
            <p:nvPr/>
          </p:nvSpPr>
          <p:spPr>
            <a:xfrm>
              <a:off x="10146569" y="3308208"/>
              <a:ext cx="720130" cy="498426"/>
            </a:xfrm>
            <a:prstGeom prst="rect">
              <a:avLst/>
            </a:prstGeom>
          </p:spPr>
          <p:txBody>
            <a:bodyPr wrap="square" lIns="0" tIns="0" rIns="0" bIns="0">
              <a:spAutoFit/>
            </a:bodyPr>
            <a:lstStyle/>
            <a:p>
              <a:pPr marL="0" marR="0" lvl="0" indent="0" algn="ctr" defTabSz="1219170" eaLnBrk="1" fontAlgn="auto" latinLnBrk="0" hangingPunct="1">
                <a:lnSpc>
                  <a:spcPct val="100000"/>
                </a:lnSpc>
                <a:spcBef>
                  <a:spcPts val="0"/>
                </a:spcBef>
                <a:spcAft>
                  <a:spcPts val="600"/>
                </a:spcAft>
                <a:buClrTx/>
                <a:buSzTx/>
                <a:buFontTx/>
                <a:buNone/>
                <a:tabLst/>
                <a:defRPr/>
              </a:pPr>
              <a:r>
                <a:rPr kumimoji="0" lang="en-US" sz="800" b="1" i="0" u="none" strike="noStrike" kern="0" cap="none" spc="0" normalizeH="0" baseline="0" noProof="0" dirty="0">
                  <a:ln>
                    <a:noFill/>
                  </a:ln>
                  <a:solidFill>
                    <a:srgbClr val="000000"/>
                  </a:solidFill>
                  <a:effectLst/>
                  <a:uLnTx/>
                  <a:uFillTx/>
                  <a:latin typeface="Verdana"/>
                </a:rPr>
                <a:t>Assist utilities in developing and managing smart grid elements</a:t>
              </a:r>
            </a:p>
          </p:txBody>
        </p:sp>
        <p:sp>
          <p:nvSpPr>
            <p:cNvPr id="61" name="Rectangle 60">
              <a:extLst>
                <a:ext uri="{FF2B5EF4-FFF2-40B4-BE49-F238E27FC236}">
                  <a16:creationId xmlns:a16="http://schemas.microsoft.com/office/drawing/2014/main" id="{B811FD93-EBE9-4837-8144-B74B9639C8BA}"/>
                </a:ext>
              </a:extLst>
            </p:cNvPr>
            <p:cNvSpPr/>
            <p:nvPr/>
          </p:nvSpPr>
          <p:spPr>
            <a:xfrm>
              <a:off x="9920822" y="4469837"/>
              <a:ext cx="839806" cy="365473"/>
            </a:xfrm>
            <a:prstGeom prst="rect">
              <a:avLst/>
            </a:prstGeom>
          </p:spPr>
          <p:txBody>
            <a:bodyPr wrap="square" lIns="0" tIns="0" rIns="0" bIns="0">
              <a:spAutoFit/>
            </a:bodyPr>
            <a:lstStyle/>
            <a:p>
              <a:pPr lvl="0" algn="ctr" defTabSz="1219170">
                <a:spcAft>
                  <a:spcPts val="600"/>
                </a:spcAft>
                <a:defRPr/>
              </a:pPr>
              <a:r>
                <a:rPr kumimoji="0" lang="en-US" sz="800" b="1" i="0" u="none" strike="noStrike" kern="0" cap="none" spc="0" normalizeH="0" baseline="0" noProof="0" dirty="0">
                  <a:ln>
                    <a:noFill/>
                  </a:ln>
                  <a:solidFill>
                    <a:srgbClr val="000000"/>
                  </a:solidFill>
                  <a:effectLst/>
                  <a:uLnTx/>
                  <a:uFillTx/>
                  <a:latin typeface="Verdana"/>
                </a:rPr>
                <a:t>Feeder Monitoring and unified </a:t>
              </a:r>
              <a:r>
                <a:rPr lang="en-US" sz="800" b="1" kern="0" dirty="0">
                  <a:solidFill>
                    <a:srgbClr val="000000"/>
                  </a:solidFill>
                  <a:latin typeface="Verdana"/>
                </a:rPr>
                <a:t>billing system </a:t>
              </a:r>
              <a:endParaRPr kumimoji="0" lang="en-US" sz="800" b="0" i="0" u="none" strike="noStrike" kern="0" cap="none" spc="0" normalizeH="0" baseline="0" noProof="0" dirty="0">
                <a:ln>
                  <a:noFill/>
                </a:ln>
                <a:solidFill>
                  <a:srgbClr val="000000"/>
                </a:solidFill>
                <a:effectLst/>
                <a:uLnTx/>
                <a:uFillTx/>
                <a:latin typeface="Verdana"/>
              </a:endParaRPr>
            </a:p>
          </p:txBody>
        </p:sp>
        <p:sp>
          <p:nvSpPr>
            <p:cNvPr id="62" name="Rectangle 61">
              <a:extLst>
                <a:ext uri="{FF2B5EF4-FFF2-40B4-BE49-F238E27FC236}">
                  <a16:creationId xmlns:a16="http://schemas.microsoft.com/office/drawing/2014/main" id="{098EA000-B32F-4FD7-B50D-869770EB70C2}"/>
                </a:ext>
              </a:extLst>
            </p:cNvPr>
            <p:cNvSpPr/>
            <p:nvPr/>
          </p:nvSpPr>
          <p:spPr>
            <a:xfrm>
              <a:off x="6704245" y="4431594"/>
              <a:ext cx="846360" cy="498426"/>
            </a:xfrm>
            <a:prstGeom prst="rect">
              <a:avLst/>
            </a:prstGeom>
          </p:spPr>
          <p:txBody>
            <a:bodyPr wrap="square" lIns="0" tIns="0" rIns="0" bIns="0">
              <a:spAutoFit/>
            </a:bodyPr>
            <a:lstStyle/>
            <a:p>
              <a:pPr marL="0" marR="0" lvl="0" indent="0" algn="ctr" defTabSz="1219170" eaLnBrk="1" fontAlgn="auto" latinLnBrk="0" hangingPunct="1">
                <a:lnSpc>
                  <a:spcPct val="100000"/>
                </a:lnSpc>
                <a:spcBef>
                  <a:spcPts val="0"/>
                </a:spcBef>
                <a:spcAft>
                  <a:spcPts val="600"/>
                </a:spcAft>
                <a:buClrTx/>
                <a:buSzTx/>
                <a:buFontTx/>
                <a:buNone/>
                <a:tabLst/>
                <a:defRPr/>
              </a:pPr>
              <a:r>
                <a:rPr kumimoji="0" lang="en-US" sz="800" b="1" i="0" u="none" strike="noStrike" kern="0" cap="none" spc="0" normalizeH="0" baseline="0" noProof="0" dirty="0">
                  <a:ln>
                    <a:noFill/>
                  </a:ln>
                  <a:solidFill>
                    <a:srgbClr val="000000"/>
                  </a:solidFill>
                  <a:effectLst/>
                  <a:uLnTx/>
                  <a:uFillTx/>
                  <a:latin typeface="Verdana"/>
                </a:rPr>
                <a:t>Assist consumers with energy conservation, analytics</a:t>
              </a:r>
            </a:p>
          </p:txBody>
        </p:sp>
        <p:sp>
          <p:nvSpPr>
            <p:cNvPr id="63" name="Rectangle 62">
              <a:extLst>
                <a:ext uri="{FF2B5EF4-FFF2-40B4-BE49-F238E27FC236}">
                  <a16:creationId xmlns:a16="http://schemas.microsoft.com/office/drawing/2014/main" id="{7390F860-B2E8-4D27-A74A-B8D4EC5B9565}"/>
                </a:ext>
              </a:extLst>
            </p:cNvPr>
            <p:cNvSpPr/>
            <p:nvPr/>
          </p:nvSpPr>
          <p:spPr>
            <a:xfrm>
              <a:off x="6702834" y="3402731"/>
              <a:ext cx="824812" cy="398741"/>
            </a:xfrm>
            <a:prstGeom prst="rect">
              <a:avLst/>
            </a:prstGeom>
          </p:spPr>
          <p:txBody>
            <a:bodyPr wrap="square" lIns="0" tIns="0" rIns="0" bIns="0">
              <a:spAutoFit/>
            </a:bodyPr>
            <a:lstStyle/>
            <a:p>
              <a:pPr marL="0" marR="0" lvl="0" indent="0" algn="ctr" defTabSz="1219170" eaLnBrk="1" fontAlgn="auto" latinLnBrk="0" hangingPunct="1">
                <a:lnSpc>
                  <a:spcPct val="100000"/>
                </a:lnSpc>
                <a:spcBef>
                  <a:spcPts val="0"/>
                </a:spcBef>
                <a:spcAft>
                  <a:spcPts val="600"/>
                </a:spcAft>
                <a:buClrTx/>
                <a:buSzTx/>
                <a:buFontTx/>
                <a:buNone/>
                <a:tabLst/>
                <a:defRPr/>
              </a:pPr>
              <a:r>
                <a:rPr kumimoji="0" lang="en-US" sz="800" b="1" i="0" u="none" strike="noStrike" kern="0" cap="none" spc="0" normalizeH="0" baseline="0" noProof="0" dirty="0">
                  <a:ln>
                    <a:noFill/>
                  </a:ln>
                  <a:solidFill>
                    <a:srgbClr val="000000"/>
                  </a:solidFill>
                  <a:effectLst/>
                  <a:uLnTx/>
                  <a:uFillTx/>
                  <a:latin typeface="Verdana"/>
                </a:rPr>
                <a:t>Behind the meter services (smart home management)</a:t>
              </a:r>
              <a:endParaRPr kumimoji="0" lang="en-US" sz="800" b="0" i="0" u="none" strike="noStrike" kern="0" cap="none" spc="0" normalizeH="0" baseline="0" noProof="0" dirty="0">
                <a:ln>
                  <a:noFill/>
                </a:ln>
                <a:solidFill>
                  <a:srgbClr val="000000"/>
                </a:solidFill>
                <a:effectLst/>
                <a:uLnTx/>
                <a:uFillTx/>
                <a:latin typeface="Verdana"/>
              </a:endParaRPr>
            </a:p>
          </p:txBody>
        </p:sp>
        <p:sp>
          <p:nvSpPr>
            <p:cNvPr id="64" name="Rectangle 63">
              <a:extLst>
                <a:ext uri="{FF2B5EF4-FFF2-40B4-BE49-F238E27FC236}">
                  <a16:creationId xmlns:a16="http://schemas.microsoft.com/office/drawing/2014/main" id="{01D1ED99-154C-4917-84AD-A7F8D85452DE}"/>
                </a:ext>
              </a:extLst>
            </p:cNvPr>
            <p:cNvSpPr/>
            <p:nvPr/>
          </p:nvSpPr>
          <p:spPr>
            <a:xfrm>
              <a:off x="8953138" y="5247065"/>
              <a:ext cx="980930" cy="299056"/>
            </a:xfrm>
            <a:prstGeom prst="rect">
              <a:avLst/>
            </a:prstGeom>
          </p:spPr>
          <p:txBody>
            <a:bodyPr wrap="square" lIns="0" tIns="0" rIns="0" bIns="0">
              <a:spAutoFit/>
            </a:bodyPr>
            <a:lstStyle/>
            <a:p>
              <a:pPr marL="0" marR="0" lvl="0" indent="0" algn="ctr" defTabSz="1219170" eaLnBrk="1" fontAlgn="auto" latinLnBrk="0" hangingPunct="1">
                <a:lnSpc>
                  <a:spcPct val="100000"/>
                </a:lnSpc>
                <a:spcBef>
                  <a:spcPts val="0"/>
                </a:spcBef>
                <a:spcAft>
                  <a:spcPts val="600"/>
                </a:spcAft>
                <a:buClrTx/>
                <a:buSzTx/>
                <a:buFontTx/>
                <a:buNone/>
                <a:tabLst/>
                <a:defRPr/>
              </a:pPr>
              <a:r>
                <a:rPr kumimoji="0" lang="en-US" sz="800" b="1" i="0" u="none" strike="noStrike" kern="0" cap="none" spc="0" normalizeH="0" baseline="0" noProof="0" dirty="0">
                  <a:ln>
                    <a:noFill/>
                  </a:ln>
                  <a:solidFill>
                    <a:srgbClr val="000000"/>
                  </a:solidFill>
                  <a:effectLst/>
                  <a:uLnTx/>
                  <a:uFillTx/>
                  <a:latin typeface="Verdana"/>
                </a:rPr>
                <a:t>Energy </a:t>
              </a:r>
              <a:br>
                <a:rPr kumimoji="0" lang="en-US" sz="800" b="1" i="0" u="none" strike="noStrike" kern="0" cap="none" spc="0" normalizeH="0" baseline="0" noProof="0" dirty="0">
                  <a:ln>
                    <a:noFill/>
                  </a:ln>
                  <a:solidFill>
                    <a:srgbClr val="000000"/>
                  </a:solidFill>
                  <a:effectLst/>
                  <a:uLnTx/>
                  <a:uFillTx/>
                  <a:latin typeface="Verdana"/>
                </a:rPr>
              </a:br>
              <a:r>
                <a:rPr kumimoji="0" lang="en-US" sz="800" b="1" i="0" u="none" strike="noStrike" kern="0" cap="none" spc="0" normalizeH="0" baseline="0" noProof="0" dirty="0">
                  <a:ln>
                    <a:noFill/>
                  </a:ln>
                  <a:solidFill>
                    <a:srgbClr val="000000"/>
                  </a:solidFill>
                  <a:effectLst/>
                  <a:uLnTx/>
                  <a:uFillTx/>
                  <a:latin typeface="Verdana"/>
                </a:rPr>
                <a:t>Storage Technologies</a:t>
              </a:r>
              <a:endParaRPr kumimoji="0" lang="en-US" sz="800" b="0" i="0" u="none" strike="noStrike" kern="0" cap="none" spc="0" normalizeH="0" baseline="0" noProof="0" dirty="0">
                <a:ln>
                  <a:noFill/>
                </a:ln>
                <a:solidFill>
                  <a:srgbClr val="000000"/>
                </a:solidFill>
                <a:effectLst/>
                <a:uLnTx/>
                <a:uFillTx/>
                <a:latin typeface="Verdana"/>
              </a:endParaRPr>
            </a:p>
          </p:txBody>
        </p:sp>
        <p:sp>
          <p:nvSpPr>
            <p:cNvPr id="65" name="Rectangle 64">
              <a:extLst>
                <a:ext uri="{FF2B5EF4-FFF2-40B4-BE49-F238E27FC236}">
                  <a16:creationId xmlns:a16="http://schemas.microsoft.com/office/drawing/2014/main" id="{8CB9CB4F-2D4B-42A0-A272-963B19E3A14C}"/>
                </a:ext>
              </a:extLst>
            </p:cNvPr>
            <p:cNvSpPr/>
            <p:nvPr/>
          </p:nvSpPr>
          <p:spPr>
            <a:xfrm>
              <a:off x="7746746" y="5308014"/>
              <a:ext cx="898876" cy="199370"/>
            </a:xfrm>
            <a:prstGeom prst="rect">
              <a:avLst/>
            </a:prstGeom>
          </p:spPr>
          <p:txBody>
            <a:bodyPr wrap="square" lIns="0" tIns="0" rIns="0" bIns="0">
              <a:spAutoFit/>
            </a:bodyPr>
            <a:lstStyle/>
            <a:p>
              <a:pPr marL="0" marR="0" lvl="0" indent="0" algn="ctr" defTabSz="1219170" eaLnBrk="1" fontAlgn="auto" latinLnBrk="0" hangingPunct="1">
                <a:lnSpc>
                  <a:spcPct val="100000"/>
                </a:lnSpc>
                <a:spcBef>
                  <a:spcPts val="0"/>
                </a:spcBef>
                <a:spcAft>
                  <a:spcPts val="600"/>
                </a:spcAft>
                <a:buClrTx/>
                <a:buSzTx/>
                <a:buFontTx/>
                <a:buNone/>
                <a:tabLst/>
                <a:defRPr/>
              </a:pPr>
              <a:r>
                <a:rPr kumimoji="0" lang="en-US" sz="800" b="1" i="0" u="none" strike="noStrike" kern="0" cap="none" spc="0" normalizeH="0" baseline="0" noProof="0" dirty="0">
                  <a:ln>
                    <a:noFill/>
                  </a:ln>
                  <a:solidFill>
                    <a:srgbClr val="000000"/>
                  </a:solidFill>
                  <a:effectLst/>
                  <a:uLnTx/>
                  <a:uFillTx/>
                  <a:latin typeface="Verdana"/>
                </a:rPr>
                <a:t>EV Charging and Battery swapping</a:t>
              </a:r>
              <a:endParaRPr kumimoji="0" lang="en-US" sz="800" b="0" i="0" u="none" strike="noStrike" kern="0" cap="none" spc="0" normalizeH="0" baseline="0" noProof="0" dirty="0">
                <a:ln>
                  <a:noFill/>
                </a:ln>
                <a:solidFill>
                  <a:srgbClr val="000000"/>
                </a:solidFill>
                <a:effectLst/>
                <a:uLnTx/>
                <a:uFillTx/>
                <a:latin typeface="Verdana"/>
              </a:endParaRPr>
            </a:p>
          </p:txBody>
        </p:sp>
        <p:grpSp>
          <p:nvGrpSpPr>
            <p:cNvPr id="66" name="Group 929">
              <a:extLst>
                <a:ext uri="{FF2B5EF4-FFF2-40B4-BE49-F238E27FC236}">
                  <a16:creationId xmlns:a16="http://schemas.microsoft.com/office/drawing/2014/main" id="{C64F4FA5-5474-4376-A273-98EC10E6C509}"/>
                </a:ext>
              </a:extLst>
            </p:cNvPr>
            <p:cNvGrpSpPr>
              <a:grpSpLocks noChangeAspect="1"/>
            </p:cNvGrpSpPr>
            <p:nvPr/>
          </p:nvGrpSpPr>
          <p:grpSpPr bwMode="auto">
            <a:xfrm>
              <a:off x="7907509" y="2259096"/>
              <a:ext cx="374076" cy="319805"/>
              <a:chOff x="5834" y="4699"/>
              <a:chExt cx="340" cy="340"/>
            </a:xfrm>
            <a:solidFill>
              <a:srgbClr val="FFFFFF"/>
            </a:solidFill>
          </p:grpSpPr>
          <p:sp>
            <p:nvSpPr>
              <p:cNvPr id="89" name="Freeform 109">
                <a:extLst>
                  <a:ext uri="{FF2B5EF4-FFF2-40B4-BE49-F238E27FC236}">
                    <a16:creationId xmlns:a16="http://schemas.microsoft.com/office/drawing/2014/main" id="{3BF2E22B-DA76-4B35-9A80-A5E503877788}"/>
                  </a:ext>
                </a:extLst>
              </p:cNvPr>
              <p:cNvSpPr>
                <a:spLocks noEditPoints="1"/>
              </p:cNvSpPr>
              <p:nvPr/>
            </p:nvSpPr>
            <p:spPr bwMode="auto">
              <a:xfrm>
                <a:off x="5953" y="4761"/>
                <a:ext cx="101" cy="214"/>
              </a:xfrm>
              <a:custGeom>
                <a:avLst/>
                <a:gdLst>
                  <a:gd name="T0" fmla="*/ 141 w 153"/>
                  <a:gd name="T1" fmla="*/ 258 h 322"/>
                  <a:gd name="T2" fmla="*/ 139 w 153"/>
                  <a:gd name="T3" fmla="*/ 258 h 322"/>
                  <a:gd name="T4" fmla="*/ 119 w 153"/>
                  <a:gd name="T5" fmla="*/ 98 h 322"/>
                  <a:gd name="T6" fmla="*/ 130 w 153"/>
                  <a:gd name="T7" fmla="*/ 87 h 322"/>
                  <a:gd name="T8" fmla="*/ 130 w 153"/>
                  <a:gd name="T9" fmla="*/ 44 h 322"/>
                  <a:gd name="T10" fmla="*/ 140 w 153"/>
                  <a:gd name="T11" fmla="*/ 38 h 322"/>
                  <a:gd name="T12" fmla="*/ 150 w 153"/>
                  <a:gd name="T13" fmla="*/ 17 h 322"/>
                  <a:gd name="T14" fmla="*/ 145 w 153"/>
                  <a:gd name="T15" fmla="*/ 3 h 322"/>
                  <a:gd name="T16" fmla="*/ 131 w 153"/>
                  <a:gd name="T17" fmla="*/ 8 h 322"/>
                  <a:gd name="T18" fmla="*/ 123 w 153"/>
                  <a:gd name="T19" fmla="*/ 23 h 322"/>
                  <a:gd name="T20" fmla="*/ 109 w 153"/>
                  <a:gd name="T21" fmla="*/ 23 h 322"/>
                  <a:gd name="T22" fmla="*/ 109 w 153"/>
                  <a:gd name="T23" fmla="*/ 12 h 322"/>
                  <a:gd name="T24" fmla="*/ 98 w 153"/>
                  <a:gd name="T25" fmla="*/ 2 h 322"/>
                  <a:gd name="T26" fmla="*/ 87 w 153"/>
                  <a:gd name="T27" fmla="*/ 12 h 322"/>
                  <a:gd name="T28" fmla="*/ 87 w 153"/>
                  <a:gd name="T29" fmla="*/ 23 h 322"/>
                  <a:gd name="T30" fmla="*/ 66 w 153"/>
                  <a:gd name="T31" fmla="*/ 23 h 322"/>
                  <a:gd name="T32" fmla="*/ 66 w 153"/>
                  <a:gd name="T33" fmla="*/ 12 h 322"/>
                  <a:gd name="T34" fmla="*/ 55 w 153"/>
                  <a:gd name="T35" fmla="*/ 2 h 322"/>
                  <a:gd name="T36" fmla="*/ 45 w 153"/>
                  <a:gd name="T37" fmla="*/ 12 h 322"/>
                  <a:gd name="T38" fmla="*/ 45 w 153"/>
                  <a:gd name="T39" fmla="*/ 23 h 322"/>
                  <a:gd name="T40" fmla="*/ 30 w 153"/>
                  <a:gd name="T41" fmla="*/ 23 h 322"/>
                  <a:gd name="T42" fmla="*/ 22 w 153"/>
                  <a:gd name="T43" fmla="*/ 8 h 322"/>
                  <a:gd name="T44" fmla="*/ 8 w 153"/>
                  <a:gd name="T45" fmla="*/ 3 h 322"/>
                  <a:gd name="T46" fmla="*/ 3 w 153"/>
                  <a:gd name="T47" fmla="*/ 17 h 322"/>
                  <a:gd name="T48" fmla="*/ 14 w 153"/>
                  <a:gd name="T49" fmla="*/ 38 h 322"/>
                  <a:gd name="T50" fmla="*/ 23 w 153"/>
                  <a:gd name="T51" fmla="*/ 44 h 322"/>
                  <a:gd name="T52" fmla="*/ 23 w 153"/>
                  <a:gd name="T53" fmla="*/ 87 h 322"/>
                  <a:gd name="T54" fmla="*/ 34 w 153"/>
                  <a:gd name="T55" fmla="*/ 98 h 322"/>
                  <a:gd name="T56" fmla="*/ 15 w 153"/>
                  <a:gd name="T57" fmla="*/ 258 h 322"/>
                  <a:gd name="T58" fmla="*/ 13 w 153"/>
                  <a:gd name="T59" fmla="*/ 258 h 322"/>
                  <a:gd name="T60" fmla="*/ 2 w 153"/>
                  <a:gd name="T61" fmla="*/ 268 h 322"/>
                  <a:gd name="T62" fmla="*/ 2 w 153"/>
                  <a:gd name="T63" fmla="*/ 311 h 322"/>
                  <a:gd name="T64" fmla="*/ 13 w 153"/>
                  <a:gd name="T65" fmla="*/ 322 h 322"/>
                  <a:gd name="T66" fmla="*/ 141 w 153"/>
                  <a:gd name="T67" fmla="*/ 322 h 322"/>
                  <a:gd name="T68" fmla="*/ 151 w 153"/>
                  <a:gd name="T69" fmla="*/ 311 h 322"/>
                  <a:gd name="T70" fmla="*/ 151 w 153"/>
                  <a:gd name="T71" fmla="*/ 268 h 322"/>
                  <a:gd name="T72" fmla="*/ 141 w 153"/>
                  <a:gd name="T73" fmla="*/ 258 h 322"/>
                  <a:gd name="T74" fmla="*/ 109 w 153"/>
                  <a:gd name="T75" fmla="*/ 44 h 322"/>
                  <a:gd name="T76" fmla="*/ 109 w 153"/>
                  <a:gd name="T77" fmla="*/ 76 h 322"/>
                  <a:gd name="T78" fmla="*/ 45 w 153"/>
                  <a:gd name="T79" fmla="*/ 76 h 322"/>
                  <a:gd name="T80" fmla="*/ 45 w 153"/>
                  <a:gd name="T81" fmla="*/ 44 h 322"/>
                  <a:gd name="T82" fmla="*/ 109 w 153"/>
                  <a:gd name="T83" fmla="*/ 44 h 322"/>
                  <a:gd name="T84" fmla="*/ 55 w 153"/>
                  <a:gd name="T85" fmla="*/ 98 h 322"/>
                  <a:gd name="T86" fmla="*/ 98 w 153"/>
                  <a:gd name="T87" fmla="*/ 98 h 322"/>
                  <a:gd name="T88" fmla="*/ 117 w 153"/>
                  <a:gd name="T89" fmla="*/ 258 h 322"/>
                  <a:gd name="T90" fmla="*/ 36 w 153"/>
                  <a:gd name="T91" fmla="*/ 258 h 322"/>
                  <a:gd name="T92" fmla="*/ 55 w 153"/>
                  <a:gd name="T93" fmla="*/ 98 h 322"/>
                  <a:gd name="T94" fmla="*/ 130 w 153"/>
                  <a:gd name="T95" fmla="*/ 300 h 322"/>
                  <a:gd name="T96" fmla="*/ 23 w 153"/>
                  <a:gd name="T97" fmla="*/ 300 h 322"/>
                  <a:gd name="T98" fmla="*/ 23 w 153"/>
                  <a:gd name="T99" fmla="*/ 279 h 322"/>
                  <a:gd name="T100" fmla="*/ 130 w 153"/>
                  <a:gd name="T101" fmla="*/ 279 h 322"/>
                  <a:gd name="T102" fmla="*/ 130 w 153"/>
                  <a:gd name="T103" fmla="*/ 300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53" h="322">
                    <a:moveTo>
                      <a:pt x="141" y="258"/>
                    </a:moveTo>
                    <a:cubicBezTo>
                      <a:pt x="139" y="258"/>
                      <a:pt x="139" y="258"/>
                      <a:pt x="139" y="258"/>
                    </a:cubicBezTo>
                    <a:cubicBezTo>
                      <a:pt x="134" y="234"/>
                      <a:pt x="121" y="163"/>
                      <a:pt x="119" y="98"/>
                    </a:cubicBezTo>
                    <a:cubicBezTo>
                      <a:pt x="125" y="98"/>
                      <a:pt x="130" y="93"/>
                      <a:pt x="130" y="87"/>
                    </a:cubicBezTo>
                    <a:cubicBezTo>
                      <a:pt x="130" y="44"/>
                      <a:pt x="130" y="44"/>
                      <a:pt x="130" y="44"/>
                    </a:cubicBezTo>
                    <a:cubicBezTo>
                      <a:pt x="134" y="44"/>
                      <a:pt x="138" y="42"/>
                      <a:pt x="140" y="38"/>
                    </a:cubicBezTo>
                    <a:cubicBezTo>
                      <a:pt x="150" y="17"/>
                      <a:pt x="150" y="17"/>
                      <a:pt x="150" y="17"/>
                    </a:cubicBezTo>
                    <a:cubicBezTo>
                      <a:pt x="153" y="12"/>
                      <a:pt x="151" y="5"/>
                      <a:pt x="145" y="3"/>
                    </a:cubicBezTo>
                    <a:cubicBezTo>
                      <a:pt x="140" y="0"/>
                      <a:pt x="134" y="2"/>
                      <a:pt x="131" y="8"/>
                    </a:cubicBezTo>
                    <a:cubicBezTo>
                      <a:pt x="123" y="23"/>
                      <a:pt x="123" y="23"/>
                      <a:pt x="123" y="23"/>
                    </a:cubicBezTo>
                    <a:cubicBezTo>
                      <a:pt x="109" y="23"/>
                      <a:pt x="109" y="23"/>
                      <a:pt x="109" y="23"/>
                    </a:cubicBezTo>
                    <a:cubicBezTo>
                      <a:pt x="109" y="12"/>
                      <a:pt x="109" y="12"/>
                      <a:pt x="109" y="12"/>
                    </a:cubicBezTo>
                    <a:cubicBezTo>
                      <a:pt x="109" y="6"/>
                      <a:pt x="104" y="2"/>
                      <a:pt x="98" y="2"/>
                    </a:cubicBezTo>
                    <a:cubicBezTo>
                      <a:pt x="92" y="2"/>
                      <a:pt x="87" y="6"/>
                      <a:pt x="87" y="12"/>
                    </a:cubicBezTo>
                    <a:cubicBezTo>
                      <a:pt x="87" y="23"/>
                      <a:pt x="87" y="23"/>
                      <a:pt x="87" y="23"/>
                    </a:cubicBezTo>
                    <a:cubicBezTo>
                      <a:pt x="66" y="23"/>
                      <a:pt x="66" y="23"/>
                      <a:pt x="66" y="23"/>
                    </a:cubicBezTo>
                    <a:cubicBezTo>
                      <a:pt x="66" y="12"/>
                      <a:pt x="66" y="12"/>
                      <a:pt x="66" y="12"/>
                    </a:cubicBezTo>
                    <a:cubicBezTo>
                      <a:pt x="66" y="6"/>
                      <a:pt x="61" y="2"/>
                      <a:pt x="55" y="2"/>
                    </a:cubicBezTo>
                    <a:cubicBezTo>
                      <a:pt x="49" y="2"/>
                      <a:pt x="45" y="6"/>
                      <a:pt x="45" y="12"/>
                    </a:cubicBezTo>
                    <a:cubicBezTo>
                      <a:pt x="45" y="23"/>
                      <a:pt x="45" y="23"/>
                      <a:pt x="45" y="23"/>
                    </a:cubicBezTo>
                    <a:cubicBezTo>
                      <a:pt x="30" y="23"/>
                      <a:pt x="30" y="23"/>
                      <a:pt x="30" y="23"/>
                    </a:cubicBezTo>
                    <a:cubicBezTo>
                      <a:pt x="22" y="8"/>
                      <a:pt x="22" y="8"/>
                      <a:pt x="22" y="8"/>
                    </a:cubicBezTo>
                    <a:cubicBezTo>
                      <a:pt x="20" y="2"/>
                      <a:pt x="13" y="0"/>
                      <a:pt x="8" y="3"/>
                    </a:cubicBezTo>
                    <a:cubicBezTo>
                      <a:pt x="3" y="5"/>
                      <a:pt x="0" y="12"/>
                      <a:pt x="3" y="17"/>
                    </a:cubicBezTo>
                    <a:cubicBezTo>
                      <a:pt x="14" y="38"/>
                      <a:pt x="14" y="38"/>
                      <a:pt x="14" y="38"/>
                    </a:cubicBezTo>
                    <a:cubicBezTo>
                      <a:pt x="16" y="42"/>
                      <a:pt x="19" y="44"/>
                      <a:pt x="23" y="44"/>
                    </a:cubicBezTo>
                    <a:cubicBezTo>
                      <a:pt x="23" y="87"/>
                      <a:pt x="23" y="87"/>
                      <a:pt x="23" y="87"/>
                    </a:cubicBezTo>
                    <a:cubicBezTo>
                      <a:pt x="23" y="93"/>
                      <a:pt x="28" y="98"/>
                      <a:pt x="34" y="98"/>
                    </a:cubicBezTo>
                    <a:cubicBezTo>
                      <a:pt x="32" y="163"/>
                      <a:pt x="19" y="234"/>
                      <a:pt x="15" y="258"/>
                    </a:cubicBezTo>
                    <a:cubicBezTo>
                      <a:pt x="13" y="258"/>
                      <a:pt x="13" y="258"/>
                      <a:pt x="13" y="258"/>
                    </a:cubicBezTo>
                    <a:cubicBezTo>
                      <a:pt x="7" y="258"/>
                      <a:pt x="2" y="262"/>
                      <a:pt x="2" y="268"/>
                    </a:cubicBezTo>
                    <a:cubicBezTo>
                      <a:pt x="2" y="311"/>
                      <a:pt x="2" y="311"/>
                      <a:pt x="2" y="311"/>
                    </a:cubicBezTo>
                    <a:cubicBezTo>
                      <a:pt x="2" y="317"/>
                      <a:pt x="7" y="322"/>
                      <a:pt x="13" y="322"/>
                    </a:cubicBezTo>
                    <a:cubicBezTo>
                      <a:pt x="141" y="322"/>
                      <a:pt x="141" y="322"/>
                      <a:pt x="141" y="322"/>
                    </a:cubicBezTo>
                    <a:cubicBezTo>
                      <a:pt x="147" y="322"/>
                      <a:pt x="151" y="317"/>
                      <a:pt x="151" y="311"/>
                    </a:cubicBezTo>
                    <a:cubicBezTo>
                      <a:pt x="151" y="268"/>
                      <a:pt x="151" y="268"/>
                      <a:pt x="151" y="268"/>
                    </a:cubicBezTo>
                    <a:cubicBezTo>
                      <a:pt x="151" y="262"/>
                      <a:pt x="147" y="258"/>
                      <a:pt x="141" y="258"/>
                    </a:cubicBezTo>
                    <a:close/>
                    <a:moveTo>
                      <a:pt x="109" y="44"/>
                    </a:moveTo>
                    <a:cubicBezTo>
                      <a:pt x="109" y="76"/>
                      <a:pt x="109" y="76"/>
                      <a:pt x="109" y="76"/>
                    </a:cubicBezTo>
                    <a:cubicBezTo>
                      <a:pt x="45" y="76"/>
                      <a:pt x="45" y="76"/>
                      <a:pt x="45" y="76"/>
                    </a:cubicBezTo>
                    <a:cubicBezTo>
                      <a:pt x="45" y="44"/>
                      <a:pt x="45" y="44"/>
                      <a:pt x="45" y="44"/>
                    </a:cubicBezTo>
                    <a:lnTo>
                      <a:pt x="109" y="44"/>
                    </a:lnTo>
                    <a:close/>
                    <a:moveTo>
                      <a:pt x="55" y="98"/>
                    </a:moveTo>
                    <a:cubicBezTo>
                      <a:pt x="98" y="98"/>
                      <a:pt x="98" y="98"/>
                      <a:pt x="98" y="98"/>
                    </a:cubicBezTo>
                    <a:cubicBezTo>
                      <a:pt x="99" y="162"/>
                      <a:pt x="111" y="230"/>
                      <a:pt x="117" y="258"/>
                    </a:cubicBezTo>
                    <a:cubicBezTo>
                      <a:pt x="36" y="258"/>
                      <a:pt x="36" y="258"/>
                      <a:pt x="36" y="258"/>
                    </a:cubicBezTo>
                    <a:cubicBezTo>
                      <a:pt x="42" y="230"/>
                      <a:pt x="54" y="162"/>
                      <a:pt x="55" y="98"/>
                    </a:cubicBezTo>
                    <a:close/>
                    <a:moveTo>
                      <a:pt x="130" y="300"/>
                    </a:moveTo>
                    <a:cubicBezTo>
                      <a:pt x="23" y="300"/>
                      <a:pt x="23" y="300"/>
                      <a:pt x="23" y="300"/>
                    </a:cubicBezTo>
                    <a:cubicBezTo>
                      <a:pt x="23" y="279"/>
                      <a:pt x="23" y="279"/>
                      <a:pt x="23" y="279"/>
                    </a:cubicBezTo>
                    <a:cubicBezTo>
                      <a:pt x="130" y="279"/>
                      <a:pt x="130" y="279"/>
                      <a:pt x="130" y="279"/>
                    </a:cubicBezTo>
                    <a:lnTo>
                      <a:pt x="130" y="300"/>
                    </a:ln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Verdana"/>
                </a:endParaRPr>
              </a:p>
            </p:txBody>
          </p:sp>
          <p:sp>
            <p:nvSpPr>
              <p:cNvPr id="90" name="Freeform 110">
                <a:extLst>
                  <a:ext uri="{FF2B5EF4-FFF2-40B4-BE49-F238E27FC236}">
                    <a16:creationId xmlns:a16="http://schemas.microsoft.com/office/drawing/2014/main" id="{B6E9EEB6-5636-4917-9165-BD3D14C02E53}"/>
                  </a:ext>
                </a:extLst>
              </p:cNvPr>
              <p:cNvSpPr>
                <a:spLocks noEditPoints="1"/>
              </p:cNvSpPr>
              <p:nvPr/>
            </p:nvSpPr>
            <p:spPr bwMode="auto">
              <a:xfrm>
                <a:off x="5834" y="4699"/>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Verdana"/>
                </a:endParaRPr>
              </a:p>
            </p:txBody>
          </p:sp>
        </p:grpSp>
        <p:grpSp>
          <p:nvGrpSpPr>
            <p:cNvPr id="67" name="Group 26">
              <a:extLst>
                <a:ext uri="{FF2B5EF4-FFF2-40B4-BE49-F238E27FC236}">
                  <a16:creationId xmlns:a16="http://schemas.microsoft.com/office/drawing/2014/main" id="{9E03C6C6-BA88-47A0-A29F-2E4D3031C838}"/>
                </a:ext>
              </a:extLst>
            </p:cNvPr>
            <p:cNvGrpSpPr>
              <a:grpSpLocks noChangeAspect="1"/>
            </p:cNvGrpSpPr>
            <p:nvPr/>
          </p:nvGrpSpPr>
          <p:grpSpPr bwMode="auto">
            <a:xfrm>
              <a:off x="6711980" y="4079370"/>
              <a:ext cx="373914" cy="319667"/>
              <a:chOff x="2391" y="339"/>
              <a:chExt cx="340" cy="340"/>
            </a:xfrm>
            <a:solidFill>
              <a:srgbClr val="FFFFFF"/>
            </a:solidFill>
          </p:grpSpPr>
          <p:sp>
            <p:nvSpPr>
              <p:cNvPr id="87" name="Freeform 27">
                <a:extLst>
                  <a:ext uri="{FF2B5EF4-FFF2-40B4-BE49-F238E27FC236}">
                    <a16:creationId xmlns:a16="http://schemas.microsoft.com/office/drawing/2014/main" id="{BE91E1CF-3D2C-45DD-A773-0626B14C70B4}"/>
                  </a:ext>
                </a:extLst>
              </p:cNvPr>
              <p:cNvSpPr>
                <a:spLocks noEditPoints="1"/>
              </p:cNvSpPr>
              <p:nvPr/>
            </p:nvSpPr>
            <p:spPr bwMode="auto">
              <a:xfrm>
                <a:off x="2391" y="339"/>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rgbClr val="62B5E5">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Verdana"/>
                </a:endParaRPr>
              </a:p>
            </p:txBody>
          </p:sp>
          <p:sp>
            <p:nvSpPr>
              <p:cNvPr id="88" name="Freeform 28">
                <a:extLst>
                  <a:ext uri="{FF2B5EF4-FFF2-40B4-BE49-F238E27FC236}">
                    <a16:creationId xmlns:a16="http://schemas.microsoft.com/office/drawing/2014/main" id="{7E54C060-7169-45A9-AAFE-52531993E872}"/>
                  </a:ext>
                </a:extLst>
              </p:cNvPr>
              <p:cNvSpPr>
                <a:spLocks noEditPoints="1"/>
              </p:cNvSpPr>
              <p:nvPr/>
            </p:nvSpPr>
            <p:spPr bwMode="auto">
              <a:xfrm>
                <a:off x="2465" y="403"/>
                <a:ext cx="176" cy="212"/>
              </a:xfrm>
              <a:custGeom>
                <a:avLst/>
                <a:gdLst>
                  <a:gd name="T0" fmla="*/ 230 w 265"/>
                  <a:gd name="T1" fmla="*/ 320 h 320"/>
                  <a:gd name="T2" fmla="*/ 222 w 265"/>
                  <a:gd name="T3" fmla="*/ 302 h 320"/>
                  <a:gd name="T4" fmla="*/ 240 w 265"/>
                  <a:gd name="T5" fmla="*/ 192 h 320"/>
                  <a:gd name="T6" fmla="*/ 219 w 265"/>
                  <a:gd name="T7" fmla="*/ 190 h 320"/>
                  <a:gd name="T8" fmla="*/ 209 w 265"/>
                  <a:gd name="T9" fmla="*/ 202 h 320"/>
                  <a:gd name="T10" fmla="*/ 209 w 265"/>
                  <a:gd name="T11" fmla="*/ 202 h 320"/>
                  <a:gd name="T12" fmla="*/ 198 w 265"/>
                  <a:gd name="T13" fmla="*/ 191 h 320"/>
                  <a:gd name="T14" fmla="*/ 187 w 265"/>
                  <a:gd name="T15" fmla="*/ 170 h 320"/>
                  <a:gd name="T16" fmla="*/ 177 w 265"/>
                  <a:gd name="T17" fmla="*/ 192 h 320"/>
                  <a:gd name="T18" fmla="*/ 155 w 265"/>
                  <a:gd name="T19" fmla="*/ 192 h 320"/>
                  <a:gd name="T20" fmla="*/ 145 w 265"/>
                  <a:gd name="T21" fmla="*/ 74 h 320"/>
                  <a:gd name="T22" fmla="*/ 134 w 265"/>
                  <a:gd name="T23" fmla="*/ 106 h 320"/>
                  <a:gd name="T24" fmla="*/ 123 w 265"/>
                  <a:gd name="T25" fmla="*/ 202 h 320"/>
                  <a:gd name="T26" fmla="*/ 113 w 265"/>
                  <a:gd name="T27" fmla="*/ 106 h 320"/>
                  <a:gd name="T28" fmla="*/ 91 w 265"/>
                  <a:gd name="T29" fmla="*/ 106 h 320"/>
                  <a:gd name="T30" fmla="*/ 85 w 265"/>
                  <a:gd name="T31" fmla="*/ 244 h 320"/>
                  <a:gd name="T32" fmla="*/ 41 w 265"/>
                  <a:gd name="T33" fmla="*/ 185 h 320"/>
                  <a:gd name="T34" fmla="*/ 27 w 265"/>
                  <a:gd name="T35" fmla="*/ 181 h 320"/>
                  <a:gd name="T36" fmla="*/ 27 w 265"/>
                  <a:gd name="T37" fmla="*/ 199 h 320"/>
                  <a:gd name="T38" fmla="*/ 100 w 265"/>
                  <a:gd name="T39" fmla="*/ 315 h 320"/>
                  <a:gd name="T40" fmla="*/ 86 w 265"/>
                  <a:gd name="T41" fmla="*/ 318 h 320"/>
                  <a:gd name="T42" fmla="*/ 18 w 265"/>
                  <a:gd name="T43" fmla="*/ 162 h 320"/>
                  <a:gd name="T44" fmla="*/ 61 w 265"/>
                  <a:gd name="T45" fmla="*/ 176 h 320"/>
                  <a:gd name="T46" fmla="*/ 70 w 265"/>
                  <a:gd name="T47" fmla="*/ 106 h 320"/>
                  <a:gd name="T48" fmla="*/ 114 w 265"/>
                  <a:gd name="T49" fmla="*/ 77 h 320"/>
                  <a:gd name="T50" fmla="*/ 177 w 265"/>
                  <a:gd name="T51" fmla="*/ 85 h 320"/>
                  <a:gd name="T52" fmla="*/ 187 w 265"/>
                  <a:gd name="T53" fmla="*/ 149 h 320"/>
                  <a:gd name="T54" fmla="*/ 230 w 265"/>
                  <a:gd name="T55" fmla="*/ 160 h 320"/>
                  <a:gd name="T56" fmla="*/ 262 w 265"/>
                  <a:gd name="T57" fmla="*/ 234 h 320"/>
                  <a:gd name="T58" fmla="*/ 49 w 265"/>
                  <a:gd name="T59" fmla="*/ 64 h 320"/>
                  <a:gd name="T60" fmla="*/ 91 w 265"/>
                  <a:gd name="T61" fmla="*/ 53 h 320"/>
                  <a:gd name="T62" fmla="*/ 78 w 265"/>
                  <a:gd name="T63" fmla="*/ 42 h 320"/>
                  <a:gd name="T64" fmla="*/ 233 w 265"/>
                  <a:gd name="T65" fmla="*/ 60 h 320"/>
                  <a:gd name="T66" fmla="*/ 248 w 265"/>
                  <a:gd name="T67" fmla="*/ 61 h 320"/>
                  <a:gd name="T68" fmla="*/ 145 w 265"/>
                  <a:gd name="T69" fmla="*/ 0 h 320"/>
                  <a:gd name="T70" fmla="*/ 59 w 265"/>
                  <a:gd name="T71" fmla="*/ 21 h 320"/>
                  <a:gd name="T72" fmla="*/ 38 w 265"/>
                  <a:gd name="T73" fmla="*/ 21 h 320"/>
                  <a:gd name="T74" fmla="*/ 49 w 265"/>
                  <a:gd name="T75" fmla="*/ 6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5" h="320">
                    <a:moveTo>
                      <a:pt x="238" y="316"/>
                    </a:moveTo>
                    <a:cubicBezTo>
                      <a:pt x="236" y="318"/>
                      <a:pt x="233" y="320"/>
                      <a:pt x="230" y="320"/>
                    </a:cubicBezTo>
                    <a:cubicBezTo>
                      <a:pt x="227" y="320"/>
                      <a:pt x="225" y="319"/>
                      <a:pt x="223" y="317"/>
                    </a:cubicBezTo>
                    <a:cubicBezTo>
                      <a:pt x="218" y="313"/>
                      <a:pt x="218" y="307"/>
                      <a:pt x="222" y="302"/>
                    </a:cubicBezTo>
                    <a:cubicBezTo>
                      <a:pt x="243" y="276"/>
                      <a:pt x="240" y="236"/>
                      <a:pt x="240" y="235"/>
                    </a:cubicBezTo>
                    <a:cubicBezTo>
                      <a:pt x="240" y="192"/>
                      <a:pt x="240" y="192"/>
                      <a:pt x="240" y="192"/>
                    </a:cubicBezTo>
                    <a:cubicBezTo>
                      <a:pt x="240" y="186"/>
                      <a:pt x="236" y="181"/>
                      <a:pt x="230" y="181"/>
                    </a:cubicBezTo>
                    <a:cubicBezTo>
                      <a:pt x="224" y="181"/>
                      <a:pt x="220" y="185"/>
                      <a:pt x="219" y="190"/>
                    </a:cubicBezTo>
                    <a:cubicBezTo>
                      <a:pt x="219" y="192"/>
                      <a:pt x="219" y="192"/>
                      <a:pt x="219" y="192"/>
                    </a:cubicBezTo>
                    <a:cubicBezTo>
                      <a:pt x="219" y="198"/>
                      <a:pt x="215" y="202"/>
                      <a:pt x="209" y="202"/>
                    </a:cubicBezTo>
                    <a:cubicBezTo>
                      <a:pt x="209" y="202"/>
                      <a:pt x="209" y="202"/>
                      <a:pt x="209" y="202"/>
                    </a:cubicBezTo>
                    <a:cubicBezTo>
                      <a:pt x="209" y="202"/>
                      <a:pt x="209" y="202"/>
                      <a:pt x="209" y="202"/>
                    </a:cubicBezTo>
                    <a:cubicBezTo>
                      <a:pt x="203" y="202"/>
                      <a:pt x="198" y="198"/>
                      <a:pt x="198" y="192"/>
                    </a:cubicBezTo>
                    <a:cubicBezTo>
                      <a:pt x="198" y="191"/>
                      <a:pt x="198" y="191"/>
                      <a:pt x="198" y="191"/>
                    </a:cubicBezTo>
                    <a:cubicBezTo>
                      <a:pt x="198" y="181"/>
                      <a:pt x="198" y="181"/>
                      <a:pt x="198" y="181"/>
                    </a:cubicBezTo>
                    <a:cubicBezTo>
                      <a:pt x="198" y="175"/>
                      <a:pt x="193" y="170"/>
                      <a:pt x="187" y="170"/>
                    </a:cubicBezTo>
                    <a:cubicBezTo>
                      <a:pt x="181" y="170"/>
                      <a:pt x="177" y="175"/>
                      <a:pt x="177" y="181"/>
                    </a:cubicBezTo>
                    <a:cubicBezTo>
                      <a:pt x="177" y="192"/>
                      <a:pt x="177" y="192"/>
                      <a:pt x="177" y="192"/>
                    </a:cubicBezTo>
                    <a:cubicBezTo>
                      <a:pt x="177" y="198"/>
                      <a:pt x="172" y="202"/>
                      <a:pt x="166" y="202"/>
                    </a:cubicBezTo>
                    <a:cubicBezTo>
                      <a:pt x="160" y="202"/>
                      <a:pt x="155" y="198"/>
                      <a:pt x="155" y="192"/>
                    </a:cubicBezTo>
                    <a:cubicBezTo>
                      <a:pt x="155" y="85"/>
                      <a:pt x="155" y="85"/>
                      <a:pt x="155" y="85"/>
                    </a:cubicBezTo>
                    <a:cubicBezTo>
                      <a:pt x="155" y="79"/>
                      <a:pt x="151" y="74"/>
                      <a:pt x="145" y="74"/>
                    </a:cubicBezTo>
                    <a:cubicBezTo>
                      <a:pt x="139" y="74"/>
                      <a:pt x="134" y="79"/>
                      <a:pt x="134" y="85"/>
                    </a:cubicBezTo>
                    <a:cubicBezTo>
                      <a:pt x="134" y="106"/>
                      <a:pt x="134" y="106"/>
                      <a:pt x="134" y="106"/>
                    </a:cubicBezTo>
                    <a:cubicBezTo>
                      <a:pt x="134" y="192"/>
                      <a:pt x="134" y="192"/>
                      <a:pt x="134" y="192"/>
                    </a:cubicBezTo>
                    <a:cubicBezTo>
                      <a:pt x="134" y="198"/>
                      <a:pt x="129" y="202"/>
                      <a:pt x="123" y="202"/>
                    </a:cubicBezTo>
                    <a:cubicBezTo>
                      <a:pt x="117" y="202"/>
                      <a:pt x="113" y="198"/>
                      <a:pt x="113" y="192"/>
                    </a:cubicBezTo>
                    <a:cubicBezTo>
                      <a:pt x="113" y="106"/>
                      <a:pt x="113" y="106"/>
                      <a:pt x="113" y="106"/>
                    </a:cubicBezTo>
                    <a:cubicBezTo>
                      <a:pt x="113" y="100"/>
                      <a:pt x="108" y="96"/>
                      <a:pt x="102" y="96"/>
                    </a:cubicBezTo>
                    <a:cubicBezTo>
                      <a:pt x="96" y="96"/>
                      <a:pt x="91" y="100"/>
                      <a:pt x="91" y="106"/>
                    </a:cubicBezTo>
                    <a:cubicBezTo>
                      <a:pt x="91" y="234"/>
                      <a:pt x="91" y="234"/>
                      <a:pt x="91" y="234"/>
                    </a:cubicBezTo>
                    <a:cubicBezTo>
                      <a:pt x="91" y="239"/>
                      <a:pt x="89" y="243"/>
                      <a:pt x="85" y="244"/>
                    </a:cubicBezTo>
                    <a:cubicBezTo>
                      <a:pt x="81" y="246"/>
                      <a:pt x="76" y="245"/>
                      <a:pt x="73" y="242"/>
                    </a:cubicBezTo>
                    <a:cubicBezTo>
                      <a:pt x="61" y="230"/>
                      <a:pt x="43" y="190"/>
                      <a:pt x="41" y="185"/>
                    </a:cubicBezTo>
                    <a:cubicBezTo>
                      <a:pt x="40" y="183"/>
                      <a:pt x="38" y="181"/>
                      <a:pt x="35" y="180"/>
                    </a:cubicBezTo>
                    <a:cubicBezTo>
                      <a:pt x="33" y="180"/>
                      <a:pt x="30" y="180"/>
                      <a:pt x="27" y="181"/>
                    </a:cubicBezTo>
                    <a:cubicBezTo>
                      <a:pt x="23" y="183"/>
                      <a:pt x="23" y="192"/>
                      <a:pt x="26" y="198"/>
                    </a:cubicBezTo>
                    <a:cubicBezTo>
                      <a:pt x="26" y="198"/>
                      <a:pt x="27" y="198"/>
                      <a:pt x="27" y="199"/>
                    </a:cubicBezTo>
                    <a:cubicBezTo>
                      <a:pt x="27" y="199"/>
                      <a:pt x="54" y="273"/>
                      <a:pt x="97" y="300"/>
                    </a:cubicBezTo>
                    <a:cubicBezTo>
                      <a:pt x="102" y="303"/>
                      <a:pt x="103" y="310"/>
                      <a:pt x="100" y="315"/>
                    </a:cubicBezTo>
                    <a:cubicBezTo>
                      <a:pt x="98" y="318"/>
                      <a:pt x="95" y="320"/>
                      <a:pt x="91" y="320"/>
                    </a:cubicBezTo>
                    <a:cubicBezTo>
                      <a:pt x="89" y="320"/>
                      <a:pt x="87" y="319"/>
                      <a:pt x="86" y="318"/>
                    </a:cubicBezTo>
                    <a:cubicBezTo>
                      <a:pt x="38" y="288"/>
                      <a:pt x="10" y="214"/>
                      <a:pt x="7" y="207"/>
                    </a:cubicBezTo>
                    <a:cubicBezTo>
                      <a:pt x="0" y="191"/>
                      <a:pt x="2" y="170"/>
                      <a:pt x="18" y="162"/>
                    </a:cubicBezTo>
                    <a:cubicBezTo>
                      <a:pt x="25" y="158"/>
                      <a:pt x="34" y="157"/>
                      <a:pt x="42" y="160"/>
                    </a:cubicBezTo>
                    <a:cubicBezTo>
                      <a:pt x="50" y="163"/>
                      <a:pt x="57" y="169"/>
                      <a:pt x="61" y="176"/>
                    </a:cubicBezTo>
                    <a:cubicBezTo>
                      <a:pt x="63" y="182"/>
                      <a:pt x="66" y="189"/>
                      <a:pt x="70" y="196"/>
                    </a:cubicBezTo>
                    <a:cubicBezTo>
                      <a:pt x="70" y="106"/>
                      <a:pt x="70" y="106"/>
                      <a:pt x="70" y="106"/>
                    </a:cubicBezTo>
                    <a:cubicBezTo>
                      <a:pt x="70" y="89"/>
                      <a:pt x="84" y="74"/>
                      <a:pt x="102" y="74"/>
                    </a:cubicBezTo>
                    <a:cubicBezTo>
                      <a:pt x="106" y="74"/>
                      <a:pt x="110" y="75"/>
                      <a:pt x="114" y="77"/>
                    </a:cubicBezTo>
                    <a:cubicBezTo>
                      <a:pt x="118" y="63"/>
                      <a:pt x="130" y="53"/>
                      <a:pt x="145" y="53"/>
                    </a:cubicBezTo>
                    <a:cubicBezTo>
                      <a:pt x="162" y="53"/>
                      <a:pt x="177" y="67"/>
                      <a:pt x="177" y="85"/>
                    </a:cubicBezTo>
                    <a:cubicBezTo>
                      <a:pt x="177" y="151"/>
                      <a:pt x="177" y="151"/>
                      <a:pt x="177" y="151"/>
                    </a:cubicBezTo>
                    <a:cubicBezTo>
                      <a:pt x="180" y="150"/>
                      <a:pt x="184" y="149"/>
                      <a:pt x="187" y="149"/>
                    </a:cubicBezTo>
                    <a:cubicBezTo>
                      <a:pt x="199" y="149"/>
                      <a:pt x="209" y="155"/>
                      <a:pt x="214" y="164"/>
                    </a:cubicBezTo>
                    <a:cubicBezTo>
                      <a:pt x="219" y="161"/>
                      <a:pt x="224" y="160"/>
                      <a:pt x="230" y="160"/>
                    </a:cubicBezTo>
                    <a:cubicBezTo>
                      <a:pt x="247" y="160"/>
                      <a:pt x="262" y="174"/>
                      <a:pt x="262" y="192"/>
                    </a:cubicBezTo>
                    <a:cubicBezTo>
                      <a:pt x="262" y="234"/>
                      <a:pt x="262" y="234"/>
                      <a:pt x="262" y="234"/>
                    </a:cubicBezTo>
                    <a:cubicBezTo>
                      <a:pt x="262" y="236"/>
                      <a:pt x="265" y="284"/>
                      <a:pt x="238" y="316"/>
                    </a:cubicBezTo>
                    <a:close/>
                    <a:moveTo>
                      <a:pt x="49" y="64"/>
                    </a:moveTo>
                    <a:cubicBezTo>
                      <a:pt x="81" y="64"/>
                      <a:pt x="81" y="64"/>
                      <a:pt x="81" y="64"/>
                    </a:cubicBezTo>
                    <a:cubicBezTo>
                      <a:pt x="87" y="64"/>
                      <a:pt x="91" y="59"/>
                      <a:pt x="91" y="53"/>
                    </a:cubicBezTo>
                    <a:cubicBezTo>
                      <a:pt x="91" y="47"/>
                      <a:pt x="87" y="42"/>
                      <a:pt x="81" y="42"/>
                    </a:cubicBezTo>
                    <a:cubicBezTo>
                      <a:pt x="78" y="42"/>
                      <a:pt x="78" y="42"/>
                      <a:pt x="78" y="42"/>
                    </a:cubicBezTo>
                    <a:cubicBezTo>
                      <a:pt x="98" y="29"/>
                      <a:pt x="121" y="21"/>
                      <a:pt x="145" y="21"/>
                    </a:cubicBezTo>
                    <a:cubicBezTo>
                      <a:pt x="179" y="21"/>
                      <a:pt x="210" y="35"/>
                      <a:pt x="233" y="60"/>
                    </a:cubicBezTo>
                    <a:cubicBezTo>
                      <a:pt x="235" y="62"/>
                      <a:pt x="238" y="64"/>
                      <a:pt x="241" y="64"/>
                    </a:cubicBezTo>
                    <a:cubicBezTo>
                      <a:pt x="243" y="64"/>
                      <a:pt x="246" y="63"/>
                      <a:pt x="248" y="61"/>
                    </a:cubicBezTo>
                    <a:cubicBezTo>
                      <a:pt x="252" y="57"/>
                      <a:pt x="253" y="50"/>
                      <a:pt x="249" y="46"/>
                    </a:cubicBezTo>
                    <a:cubicBezTo>
                      <a:pt x="222" y="17"/>
                      <a:pt x="185" y="0"/>
                      <a:pt x="145" y="0"/>
                    </a:cubicBezTo>
                    <a:cubicBezTo>
                      <a:pt x="114" y="0"/>
                      <a:pt x="84" y="10"/>
                      <a:pt x="59" y="30"/>
                    </a:cubicBezTo>
                    <a:cubicBezTo>
                      <a:pt x="59" y="21"/>
                      <a:pt x="59" y="21"/>
                      <a:pt x="59" y="21"/>
                    </a:cubicBezTo>
                    <a:cubicBezTo>
                      <a:pt x="59" y="15"/>
                      <a:pt x="55" y="10"/>
                      <a:pt x="49" y="10"/>
                    </a:cubicBezTo>
                    <a:cubicBezTo>
                      <a:pt x="43" y="10"/>
                      <a:pt x="38" y="15"/>
                      <a:pt x="38" y="21"/>
                    </a:cubicBezTo>
                    <a:cubicBezTo>
                      <a:pt x="38" y="53"/>
                      <a:pt x="38" y="53"/>
                      <a:pt x="38" y="53"/>
                    </a:cubicBezTo>
                    <a:cubicBezTo>
                      <a:pt x="38" y="59"/>
                      <a:pt x="43" y="64"/>
                      <a:pt x="49" y="64"/>
                    </a:cubicBezTo>
                    <a:close/>
                  </a:path>
                </a:pathLst>
              </a:custGeom>
              <a:solidFill>
                <a:srgbClr val="62B5E5">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Verdana"/>
                </a:endParaRPr>
              </a:p>
            </p:txBody>
          </p:sp>
        </p:grpSp>
        <p:grpSp>
          <p:nvGrpSpPr>
            <p:cNvPr id="68" name="Group 345">
              <a:extLst>
                <a:ext uri="{FF2B5EF4-FFF2-40B4-BE49-F238E27FC236}">
                  <a16:creationId xmlns:a16="http://schemas.microsoft.com/office/drawing/2014/main" id="{76465CC9-7297-4A9D-9F8D-C16AE74112BB}"/>
                </a:ext>
              </a:extLst>
            </p:cNvPr>
            <p:cNvGrpSpPr>
              <a:grpSpLocks noChangeAspect="1"/>
            </p:cNvGrpSpPr>
            <p:nvPr/>
          </p:nvGrpSpPr>
          <p:grpSpPr bwMode="auto">
            <a:xfrm>
              <a:off x="9282787" y="2259096"/>
              <a:ext cx="374076" cy="319805"/>
              <a:chOff x="3451" y="1171"/>
              <a:chExt cx="340" cy="340"/>
            </a:xfrm>
            <a:solidFill>
              <a:srgbClr val="FFFFFF"/>
            </a:solidFill>
          </p:grpSpPr>
          <p:sp>
            <p:nvSpPr>
              <p:cNvPr id="85" name="Freeform 346">
                <a:extLst>
                  <a:ext uri="{FF2B5EF4-FFF2-40B4-BE49-F238E27FC236}">
                    <a16:creationId xmlns:a16="http://schemas.microsoft.com/office/drawing/2014/main" id="{93DE2120-4A65-40CD-9253-479BE65698D2}"/>
                  </a:ext>
                </a:extLst>
              </p:cNvPr>
              <p:cNvSpPr>
                <a:spLocks noEditPoints="1"/>
              </p:cNvSpPr>
              <p:nvPr/>
            </p:nvSpPr>
            <p:spPr bwMode="auto">
              <a:xfrm>
                <a:off x="3515" y="1241"/>
                <a:ext cx="212" cy="192"/>
              </a:xfrm>
              <a:custGeom>
                <a:avLst/>
                <a:gdLst>
                  <a:gd name="T0" fmla="*/ 224 w 320"/>
                  <a:gd name="T1" fmla="*/ 288 h 288"/>
                  <a:gd name="T2" fmla="*/ 170 w 320"/>
                  <a:gd name="T3" fmla="*/ 288 h 288"/>
                  <a:gd name="T4" fmla="*/ 160 w 320"/>
                  <a:gd name="T5" fmla="*/ 278 h 288"/>
                  <a:gd name="T6" fmla="*/ 160 w 320"/>
                  <a:gd name="T7" fmla="*/ 267 h 288"/>
                  <a:gd name="T8" fmla="*/ 138 w 320"/>
                  <a:gd name="T9" fmla="*/ 267 h 288"/>
                  <a:gd name="T10" fmla="*/ 138 w 320"/>
                  <a:gd name="T11" fmla="*/ 278 h 288"/>
                  <a:gd name="T12" fmla="*/ 128 w 320"/>
                  <a:gd name="T13" fmla="*/ 288 h 288"/>
                  <a:gd name="T14" fmla="*/ 74 w 320"/>
                  <a:gd name="T15" fmla="*/ 288 h 288"/>
                  <a:gd name="T16" fmla="*/ 64 w 320"/>
                  <a:gd name="T17" fmla="*/ 278 h 288"/>
                  <a:gd name="T18" fmla="*/ 27 w 320"/>
                  <a:gd name="T19" fmla="*/ 235 h 288"/>
                  <a:gd name="T20" fmla="*/ 18 w 320"/>
                  <a:gd name="T21" fmla="*/ 230 h 288"/>
                  <a:gd name="T22" fmla="*/ 0 w 320"/>
                  <a:gd name="T23" fmla="*/ 160 h 288"/>
                  <a:gd name="T24" fmla="*/ 138 w 320"/>
                  <a:gd name="T25" fmla="*/ 22 h 288"/>
                  <a:gd name="T26" fmla="*/ 198 w 320"/>
                  <a:gd name="T27" fmla="*/ 30 h 288"/>
                  <a:gd name="T28" fmla="*/ 255 w 320"/>
                  <a:gd name="T29" fmla="*/ 0 h 288"/>
                  <a:gd name="T30" fmla="*/ 264 w 320"/>
                  <a:gd name="T31" fmla="*/ 4 h 288"/>
                  <a:gd name="T32" fmla="*/ 266 w 320"/>
                  <a:gd name="T33" fmla="*/ 14 h 288"/>
                  <a:gd name="T34" fmla="*/ 257 w 320"/>
                  <a:gd name="T35" fmla="*/ 49 h 288"/>
                  <a:gd name="T36" fmla="*/ 294 w 320"/>
                  <a:gd name="T37" fmla="*/ 96 h 288"/>
                  <a:gd name="T38" fmla="*/ 309 w 320"/>
                  <a:gd name="T39" fmla="*/ 96 h 288"/>
                  <a:gd name="T40" fmla="*/ 320 w 320"/>
                  <a:gd name="T41" fmla="*/ 107 h 288"/>
                  <a:gd name="T42" fmla="*/ 320 w 320"/>
                  <a:gd name="T43" fmla="*/ 171 h 288"/>
                  <a:gd name="T44" fmla="*/ 309 w 320"/>
                  <a:gd name="T45" fmla="*/ 182 h 288"/>
                  <a:gd name="T46" fmla="*/ 275 w 320"/>
                  <a:gd name="T47" fmla="*/ 182 h 288"/>
                  <a:gd name="T48" fmla="*/ 234 w 320"/>
                  <a:gd name="T49" fmla="*/ 259 h 288"/>
                  <a:gd name="T50" fmla="*/ 234 w 320"/>
                  <a:gd name="T51" fmla="*/ 278 h 288"/>
                  <a:gd name="T52" fmla="*/ 224 w 320"/>
                  <a:gd name="T53" fmla="*/ 288 h 288"/>
                  <a:gd name="T54" fmla="*/ 181 w 320"/>
                  <a:gd name="T55" fmla="*/ 267 h 288"/>
                  <a:gd name="T56" fmla="*/ 213 w 320"/>
                  <a:gd name="T57" fmla="*/ 267 h 288"/>
                  <a:gd name="T58" fmla="*/ 213 w 320"/>
                  <a:gd name="T59" fmla="*/ 255 h 288"/>
                  <a:gd name="T60" fmla="*/ 216 w 320"/>
                  <a:gd name="T61" fmla="*/ 248 h 288"/>
                  <a:gd name="T62" fmla="*/ 255 w 320"/>
                  <a:gd name="T63" fmla="*/ 170 h 288"/>
                  <a:gd name="T64" fmla="*/ 266 w 320"/>
                  <a:gd name="T65" fmla="*/ 160 h 288"/>
                  <a:gd name="T66" fmla="*/ 298 w 320"/>
                  <a:gd name="T67" fmla="*/ 160 h 288"/>
                  <a:gd name="T68" fmla="*/ 298 w 320"/>
                  <a:gd name="T69" fmla="*/ 118 h 288"/>
                  <a:gd name="T70" fmla="*/ 288 w 320"/>
                  <a:gd name="T71" fmla="*/ 118 h 288"/>
                  <a:gd name="T72" fmla="*/ 278 w 320"/>
                  <a:gd name="T73" fmla="*/ 112 h 288"/>
                  <a:gd name="T74" fmla="*/ 240 w 320"/>
                  <a:gd name="T75" fmla="*/ 63 h 288"/>
                  <a:gd name="T76" fmla="*/ 235 w 320"/>
                  <a:gd name="T77" fmla="*/ 51 h 288"/>
                  <a:gd name="T78" fmla="*/ 241 w 320"/>
                  <a:gd name="T79" fmla="*/ 25 h 288"/>
                  <a:gd name="T80" fmla="*/ 212 w 320"/>
                  <a:gd name="T81" fmla="*/ 48 h 288"/>
                  <a:gd name="T82" fmla="*/ 199 w 320"/>
                  <a:gd name="T83" fmla="*/ 53 h 288"/>
                  <a:gd name="T84" fmla="*/ 138 w 320"/>
                  <a:gd name="T85" fmla="*/ 43 h 288"/>
                  <a:gd name="T86" fmla="*/ 21 w 320"/>
                  <a:gd name="T87" fmla="*/ 160 h 288"/>
                  <a:gd name="T88" fmla="*/ 34 w 320"/>
                  <a:gd name="T89" fmla="*/ 214 h 288"/>
                  <a:gd name="T90" fmla="*/ 84 w 320"/>
                  <a:gd name="T91" fmla="*/ 267 h 288"/>
                  <a:gd name="T92" fmla="*/ 117 w 320"/>
                  <a:gd name="T93" fmla="*/ 267 h 288"/>
                  <a:gd name="T94" fmla="*/ 117 w 320"/>
                  <a:gd name="T95" fmla="*/ 256 h 288"/>
                  <a:gd name="T96" fmla="*/ 128 w 320"/>
                  <a:gd name="T97" fmla="*/ 246 h 288"/>
                  <a:gd name="T98" fmla="*/ 170 w 320"/>
                  <a:gd name="T99" fmla="*/ 246 h 288"/>
                  <a:gd name="T100" fmla="*/ 181 w 320"/>
                  <a:gd name="T101" fmla="*/ 256 h 288"/>
                  <a:gd name="T102" fmla="*/ 181 w 320"/>
                  <a:gd name="T103" fmla="*/ 267 h 288"/>
                  <a:gd name="T104" fmla="*/ 82 w 320"/>
                  <a:gd name="T105" fmla="*/ 104 h 288"/>
                  <a:gd name="T106" fmla="*/ 130 w 320"/>
                  <a:gd name="T107" fmla="*/ 79 h 288"/>
                  <a:gd name="T108" fmla="*/ 138 w 320"/>
                  <a:gd name="T109" fmla="*/ 66 h 288"/>
                  <a:gd name="T110" fmla="*/ 125 w 320"/>
                  <a:gd name="T111" fmla="*/ 58 h 288"/>
                  <a:gd name="T112" fmla="*/ 68 w 320"/>
                  <a:gd name="T113" fmla="*/ 88 h 288"/>
                  <a:gd name="T114" fmla="*/ 67 w 320"/>
                  <a:gd name="T115" fmla="*/ 103 h 288"/>
                  <a:gd name="T116" fmla="*/ 75 w 320"/>
                  <a:gd name="T117" fmla="*/ 107 h 288"/>
                  <a:gd name="T118" fmla="*/ 82 w 320"/>
                  <a:gd name="T119" fmla="*/ 10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0" h="288">
                    <a:moveTo>
                      <a:pt x="224" y="288"/>
                    </a:moveTo>
                    <a:cubicBezTo>
                      <a:pt x="170" y="288"/>
                      <a:pt x="170" y="288"/>
                      <a:pt x="170" y="288"/>
                    </a:cubicBezTo>
                    <a:cubicBezTo>
                      <a:pt x="164" y="288"/>
                      <a:pt x="160" y="284"/>
                      <a:pt x="160" y="278"/>
                    </a:cubicBezTo>
                    <a:cubicBezTo>
                      <a:pt x="160" y="267"/>
                      <a:pt x="160" y="267"/>
                      <a:pt x="160" y="267"/>
                    </a:cubicBezTo>
                    <a:cubicBezTo>
                      <a:pt x="138" y="267"/>
                      <a:pt x="138" y="267"/>
                      <a:pt x="138" y="267"/>
                    </a:cubicBezTo>
                    <a:cubicBezTo>
                      <a:pt x="138" y="278"/>
                      <a:pt x="138" y="278"/>
                      <a:pt x="138" y="278"/>
                    </a:cubicBezTo>
                    <a:cubicBezTo>
                      <a:pt x="138" y="284"/>
                      <a:pt x="134" y="288"/>
                      <a:pt x="128" y="288"/>
                    </a:cubicBezTo>
                    <a:cubicBezTo>
                      <a:pt x="74" y="288"/>
                      <a:pt x="74" y="288"/>
                      <a:pt x="74" y="288"/>
                    </a:cubicBezTo>
                    <a:cubicBezTo>
                      <a:pt x="68" y="288"/>
                      <a:pt x="64" y="284"/>
                      <a:pt x="64" y="278"/>
                    </a:cubicBezTo>
                    <a:cubicBezTo>
                      <a:pt x="64" y="237"/>
                      <a:pt x="29" y="235"/>
                      <a:pt x="27" y="235"/>
                    </a:cubicBezTo>
                    <a:cubicBezTo>
                      <a:pt x="23" y="235"/>
                      <a:pt x="20" y="233"/>
                      <a:pt x="18" y="230"/>
                    </a:cubicBezTo>
                    <a:cubicBezTo>
                      <a:pt x="6" y="209"/>
                      <a:pt x="0" y="185"/>
                      <a:pt x="0" y="160"/>
                    </a:cubicBezTo>
                    <a:cubicBezTo>
                      <a:pt x="0" y="84"/>
                      <a:pt x="62" y="22"/>
                      <a:pt x="138" y="22"/>
                    </a:cubicBezTo>
                    <a:cubicBezTo>
                      <a:pt x="160" y="22"/>
                      <a:pt x="179" y="24"/>
                      <a:pt x="198" y="30"/>
                    </a:cubicBezTo>
                    <a:cubicBezTo>
                      <a:pt x="217" y="3"/>
                      <a:pt x="253" y="0"/>
                      <a:pt x="255" y="0"/>
                    </a:cubicBezTo>
                    <a:cubicBezTo>
                      <a:pt x="259" y="0"/>
                      <a:pt x="262" y="2"/>
                      <a:pt x="264" y="4"/>
                    </a:cubicBezTo>
                    <a:cubicBezTo>
                      <a:pt x="266" y="7"/>
                      <a:pt x="267" y="10"/>
                      <a:pt x="266" y="14"/>
                    </a:cubicBezTo>
                    <a:cubicBezTo>
                      <a:pt x="257" y="49"/>
                      <a:pt x="257" y="49"/>
                      <a:pt x="257" y="49"/>
                    </a:cubicBezTo>
                    <a:cubicBezTo>
                      <a:pt x="275" y="63"/>
                      <a:pt x="288" y="85"/>
                      <a:pt x="294" y="96"/>
                    </a:cubicBezTo>
                    <a:cubicBezTo>
                      <a:pt x="309" y="96"/>
                      <a:pt x="309" y="96"/>
                      <a:pt x="309" y="96"/>
                    </a:cubicBezTo>
                    <a:cubicBezTo>
                      <a:pt x="315" y="96"/>
                      <a:pt x="320" y="101"/>
                      <a:pt x="320" y="107"/>
                    </a:cubicBezTo>
                    <a:cubicBezTo>
                      <a:pt x="320" y="171"/>
                      <a:pt x="320" y="171"/>
                      <a:pt x="320" y="171"/>
                    </a:cubicBezTo>
                    <a:cubicBezTo>
                      <a:pt x="320" y="177"/>
                      <a:pt x="315" y="182"/>
                      <a:pt x="309" y="182"/>
                    </a:cubicBezTo>
                    <a:cubicBezTo>
                      <a:pt x="275" y="182"/>
                      <a:pt x="275" y="182"/>
                      <a:pt x="275" y="182"/>
                    </a:cubicBezTo>
                    <a:cubicBezTo>
                      <a:pt x="269" y="217"/>
                      <a:pt x="249" y="244"/>
                      <a:pt x="234" y="259"/>
                    </a:cubicBezTo>
                    <a:cubicBezTo>
                      <a:pt x="234" y="278"/>
                      <a:pt x="234" y="278"/>
                      <a:pt x="234" y="278"/>
                    </a:cubicBezTo>
                    <a:cubicBezTo>
                      <a:pt x="234" y="284"/>
                      <a:pt x="230" y="288"/>
                      <a:pt x="224" y="288"/>
                    </a:cubicBezTo>
                    <a:close/>
                    <a:moveTo>
                      <a:pt x="181" y="267"/>
                    </a:moveTo>
                    <a:cubicBezTo>
                      <a:pt x="213" y="267"/>
                      <a:pt x="213" y="267"/>
                      <a:pt x="213" y="267"/>
                    </a:cubicBezTo>
                    <a:cubicBezTo>
                      <a:pt x="213" y="255"/>
                      <a:pt x="213" y="255"/>
                      <a:pt x="213" y="255"/>
                    </a:cubicBezTo>
                    <a:cubicBezTo>
                      <a:pt x="213" y="252"/>
                      <a:pt x="214" y="250"/>
                      <a:pt x="216" y="248"/>
                    </a:cubicBezTo>
                    <a:cubicBezTo>
                      <a:pt x="239" y="225"/>
                      <a:pt x="253" y="197"/>
                      <a:pt x="255" y="170"/>
                    </a:cubicBezTo>
                    <a:cubicBezTo>
                      <a:pt x="256" y="165"/>
                      <a:pt x="260" y="160"/>
                      <a:pt x="266" y="160"/>
                    </a:cubicBezTo>
                    <a:cubicBezTo>
                      <a:pt x="298" y="160"/>
                      <a:pt x="298" y="160"/>
                      <a:pt x="298" y="160"/>
                    </a:cubicBezTo>
                    <a:cubicBezTo>
                      <a:pt x="298" y="118"/>
                      <a:pt x="298" y="118"/>
                      <a:pt x="298" y="118"/>
                    </a:cubicBezTo>
                    <a:cubicBezTo>
                      <a:pt x="288" y="118"/>
                      <a:pt x="288" y="118"/>
                      <a:pt x="288" y="118"/>
                    </a:cubicBezTo>
                    <a:cubicBezTo>
                      <a:pt x="284" y="118"/>
                      <a:pt x="280" y="115"/>
                      <a:pt x="278" y="112"/>
                    </a:cubicBezTo>
                    <a:cubicBezTo>
                      <a:pt x="278" y="111"/>
                      <a:pt x="261" y="76"/>
                      <a:pt x="240" y="63"/>
                    </a:cubicBezTo>
                    <a:cubicBezTo>
                      <a:pt x="236" y="60"/>
                      <a:pt x="234" y="56"/>
                      <a:pt x="235" y="51"/>
                    </a:cubicBezTo>
                    <a:cubicBezTo>
                      <a:pt x="241" y="25"/>
                      <a:pt x="241" y="25"/>
                      <a:pt x="241" y="25"/>
                    </a:cubicBezTo>
                    <a:cubicBezTo>
                      <a:pt x="231" y="28"/>
                      <a:pt x="218" y="35"/>
                      <a:pt x="212" y="48"/>
                    </a:cubicBezTo>
                    <a:cubicBezTo>
                      <a:pt x="210" y="53"/>
                      <a:pt x="204" y="55"/>
                      <a:pt x="199" y="53"/>
                    </a:cubicBezTo>
                    <a:cubicBezTo>
                      <a:pt x="180" y="46"/>
                      <a:pt x="161" y="43"/>
                      <a:pt x="138" y="43"/>
                    </a:cubicBezTo>
                    <a:cubicBezTo>
                      <a:pt x="74" y="43"/>
                      <a:pt x="21" y="96"/>
                      <a:pt x="21" y="160"/>
                    </a:cubicBezTo>
                    <a:cubicBezTo>
                      <a:pt x="21" y="179"/>
                      <a:pt x="26" y="198"/>
                      <a:pt x="34" y="214"/>
                    </a:cubicBezTo>
                    <a:cubicBezTo>
                      <a:pt x="53" y="217"/>
                      <a:pt x="80" y="231"/>
                      <a:pt x="84" y="267"/>
                    </a:cubicBezTo>
                    <a:cubicBezTo>
                      <a:pt x="117" y="267"/>
                      <a:pt x="117" y="267"/>
                      <a:pt x="117" y="267"/>
                    </a:cubicBezTo>
                    <a:cubicBezTo>
                      <a:pt x="117" y="256"/>
                      <a:pt x="117" y="256"/>
                      <a:pt x="117" y="256"/>
                    </a:cubicBezTo>
                    <a:cubicBezTo>
                      <a:pt x="117" y="250"/>
                      <a:pt x="122" y="246"/>
                      <a:pt x="128" y="246"/>
                    </a:cubicBezTo>
                    <a:cubicBezTo>
                      <a:pt x="170" y="246"/>
                      <a:pt x="170" y="246"/>
                      <a:pt x="170" y="246"/>
                    </a:cubicBezTo>
                    <a:cubicBezTo>
                      <a:pt x="176" y="246"/>
                      <a:pt x="181" y="250"/>
                      <a:pt x="181" y="256"/>
                    </a:cubicBezTo>
                    <a:lnTo>
                      <a:pt x="181" y="267"/>
                    </a:lnTo>
                    <a:close/>
                    <a:moveTo>
                      <a:pt x="82" y="104"/>
                    </a:moveTo>
                    <a:cubicBezTo>
                      <a:pt x="96" y="92"/>
                      <a:pt x="113" y="83"/>
                      <a:pt x="130" y="79"/>
                    </a:cubicBezTo>
                    <a:cubicBezTo>
                      <a:pt x="136" y="77"/>
                      <a:pt x="139" y="71"/>
                      <a:pt x="138" y="66"/>
                    </a:cubicBezTo>
                    <a:cubicBezTo>
                      <a:pt x="137" y="60"/>
                      <a:pt x="131" y="57"/>
                      <a:pt x="125" y="58"/>
                    </a:cubicBezTo>
                    <a:cubicBezTo>
                      <a:pt x="104" y="63"/>
                      <a:pt x="84" y="74"/>
                      <a:pt x="68" y="88"/>
                    </a:cubicBezTo>
                    <a:cubicBezTo>
                      <a:pt x="64" y="92"/>
                      <a:pt x="63" y="99"/>
                      <a:pt x="67" y="103"/>
                    </a:cubicBezTo>
                    <a:cubicBezTo>
                      <a:pt x="69" y="106"/>
                      <a:pt x="72" y="107"/>
                      <a:pt x="75" y="107"/>
                    </a:cubicBezTo>
                    <a:cubicBezTo>
                      <a:pt x="78" y="107"/>
                      <a:pt x="80" y="106"/>
                      <a:pt x="82" y="104"/>
                    </a:cubicBezTo>
                    <a:close/>
                  </a:path>
                </a:pathLst>
              </a:custGeom>
              <a:solidFill>
                <a:srgbClr val="2C52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Verdana"/>
                </a:endParaRPr>
              </a:p>
            </p:txBody>
          </p:sp>
          <p:sp>
            <p:nvSpPr>
              <p:cNvPr id="86" name="Freeform 347">
                <a:extLst>
                  <a:ext uri="{FF2B5EF4-FFF2-40B4-BE49-F238E27FC236}">
                    <a16:creationId xmlns:a16="http://schemas.microsoft.com/office/drawing/2014/main" id="{C298ED07-0849-4FC6-9344-FB01109E8DE1}"/>
                  </a:ext>
                </a:extLst>
              </p:cNvPr>
              <p:cNvSpPr>
                <a:spLocks noEditPoints="1"/>
              </p:cNvSpPr>
              <p:nvPr/>
            </p:nvSpPr>
            <p:spPr bwMode="auto">
              <a:xfrm>
                <a:off x="3451" y="1171"/>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rgbClr val="2C523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Verdana"/>
                </a:endParaRPr>
              </a:p>
            </p:txBody>
          </p:sp>
        </p:grpSp>
        <p:grpSp>
          <p:nvGrpSpPr>
            <p:cNvPr id="69" name="Group 340">
              <a:extLst>
                <a:ext uri="{FF2B5EF4-FFF2-40B4-BE49-F238E27FC236}">
                  <a16:creationId xmlns:a16="http://schemas.microsoft.com/office/drawing/2014/main" id="{65690DB2-0C3B-4785-97FC-3B3CA959823F}"/>
                </a:ext>
              </a:extLst>
            </p:cNvPr>
            <p:cNvGrpSpPr>
              <a:grpSpLocks noChangeAspect="1"/>
            </p:cNvGrpSpPr>
            <p:nvPr/>
          </p:nvGrpSpPr>
          <p:grpSpPr bwMode="auto">
            <a:xfrm>
              <a:off x="6988869" y="3044278"/>
              <a:ext cx="374076" cy="273170"/>
              <a:chOff x="4436" y="1680"/>
              <a:chExt cx="340" cy="340"/>
            </a:xfrm>
            <a:solidFill>
              <a:srgbClr val="FFFFFF"/>
            </a:solidFill>
          </p:grpSpPr>
          <p:sp>
            <p:nvSpPr>
              <p:cNvPr id="83" name="Freeform 341">
                <a:extLst>
                  <a:ext uri="{FF2B5EF4-FFF2-40B4-BE49-F238E27FC236}">
                    <a16:creationId xmlns:a16="http://schemas.microsoft.com/office/drawing/2014/main" id="{0CD4178F-0068-47F9-B027-C2C5B50991F9}"/>
                  </a:ext>
                </a:extLst>
              </p:cNvPr>
              <p:cNvSpPr>
                <a:spLocks noEditPoints="1"/>
              </p:cNvSpPr>
              <p:nvPr/>
            </p:nvSpPr>
            <p:spPr bwMode="auto">
              <a:xfrm>
                <a:off x="4499" y="1743"/>
                <a:ext cx="214" cy="199"/>
              </a:xfrm>
              <a:custGeom>
                <a:avLst/>
                <a:gdLst>
                  <a:gd name="T0" fmla="*/ 278 w 322"/>
                  <a:gd name="T1" fmla="*/ 299 h 299"/>
                  <a:gd name="T2" fmla="*/ 182 w 322"/>
                  <a:gd name="T3" fmla="*/ 299 h 299"/>
                  <a:gd name="T4" fmla="*/ 171 w 322"/>
                  <a:gd name="T5" fmla="*/ 289 h 299"/>
                  <a:gd name="T6" fmla="*/ 171 w 322"/>
                  <a:gd name="T7" fmla="*/ 235 h 299"/>
                  <a:gd name="T8" fmla="*/ 150 w 322"/>
                  <a:gd name="T9" fmla="*/ 235 h 299"/>
                  <a:gd name="T10" fmla="*/ 150 w 322"/>
                  <a:gd name="T11" fmla="*/ 289 h 299"/>
                  <a:gd name="T12" fmla="*/ 139 w 322"/>
                  <a:gd name="T13" fmla="*/ 299 h 299"/>
                  <a:gd name="T14" fmla="*/ 43 w 322"/>
                  <a:gd name="T15" fmla="*/ 299 h 299"/>
                  <a:gd name="T16" fmla="*/ 33 w 322"/>
                  <a:gd name="T17" fmla="*/ 289 h 299"/>
                  <a:gd name="T18" fmla="*/ 33 w 322"/>
                  <a:gd name="T19" fmla="*/ 150 h 299"/>
                  <a:gd name="T20" fmla="*/ 11 w 322"/>
                  <a:gd name="T21" fmla="*/ 150 h 299"/>
                  <a:gd name="T22" fmla="*/ 1 w 322"/>
                  <a:gd name="T23" fmla="*/ 143 h 299"/>
                  <a:gd name="T24" fmla="*/ 4 w 322"/>
                  <a:gd name="T25" fmla="*/ 131 h 299"/>
                  <a:gd name="T26" fmla="*/ 154 w 322"/>
                  <a:gd name="T27" fmla="*/ 3 h 299"/>
                  <a:gd name="T28" fmla="*/ 168 w 322"/>
                  <a:gd name="T29" fmla="*/ 3 h 299"/>
                  <a:gd name="T30" fmla="*/ 317 w 322"/>
                  <a:gd name="T31" fmla="*/ 131 h 299"/>
                  <a:gd name="T32" fmla="*/ 320 w 322"/>
                  <a:gd name="T33" fmla="*/ 143 h 299"/>
                  <a:gd name="T34" fmla="*/ 310 w 322"/>
                  <a:gd name="T35" fmla="*/ 150 h 299"/>
                  <a:gd name="T36" fmla="*/ 289 w 322"/>
                  <a:gd name="T37" fmla="*/ 150 h 299"/>
                  <a:gd name="T38" fmla="*/ 289 w 322"/>
                  <a:gd name="T39" fmla="*/ 289 h 299"/>
                  <a:gd name="T40" fmla="*/ 278 w 322"/>
                  <a:gd name="T41" fmla="*/ 299 h 299"/>
                  <a:gd name="T42" fmla="*/ 193 w 322"/>
                  <a:gd name="T43" fmla="*/ 278 h 299"/>
                  <a:gd name="T44" fmla="*/ 267 w 322"/>
                  <a:gd name="T45" fmla="*/ 278 h 299"/>
                  <a:gd name="T46" fmla="*/ 267 w 322"/>
                  <a:gd name="T47" fmla="*/ 139 h 299"/>
                  <a:gd name="T48" fmla="*/ 278 w 322"/>
                  <a:gd name="T49" fmla="*/ 129 h 299"/>
                  <a:gd name="T50" fmla="*/ 281 w 322"/>
                  <a:gd name="T51" fmla="*/ 129 h 299"/>
                  <a:gd name="T52" fmla="*/ 161 w 322"/>
                  <a:gd name="T53" fmla="*/ 25 h 299"/>
                  <a:gd name="T54" fmla="*/ 40 w 322"/>
                  <a:gd name="T55" fmla="*/ 129 h 299"/>
                  <a:gd name="T56" fmla="*/ 43 w 322"/>
                  <a:gd name="T57" fmla="*/ 129 h 299"/>
                  <a:gd name="T58" fmla="*/ 54 w 322"/>
                  <a:gd name="T59" fmla="*/ 139 h 299"/>
                  <a:gd name="T60" fmla="*/ 54 w 322"/>
                  <a:gd name="T61" fmla="*/ 278 h 299"/>
                  <a:gd name="T62" fmla="*/ 129 w 322"/>
                  <a:gd name="T63" fmla="*/ 278 h 299"/>
                  <a:gd name="T64" fmla="*/ 129 w 322"/>
                  <a:gd name="T65" fmla="*/ 225 h 299"/>
                  <a:gd name="T66" fmla="*/ 139 w 322"/>
                  <a:gd name="T67" fmla="*/ 214 h 299"/>
                  <a:gd name="T68" fmla="*/ 182 w 322"/>
                  <a:gd name="T69" fmla="*/ 214 h 299"/>
                  <a:gd name="T70" fmla="*/ 193 w 322"/>
                  <a:gd name="T71" fmla="*/ 225 h 299"/>
                  <a:gd name="T72" fmla="*/ 193 w 322"/>
                  <a:gd name="T73" fmla="*/ 278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22" h="299">
                    <a:moveTo>
                      <a:pt x="278" y="299"/>
                    </a:moveTo>
                    <a:cubicBezTo>
                      <a:pt x="182" y="299"/>
                      <a:pt x="182" y="299"/>
                      <a:pt x="182" y="299"/>
                    </a:cubicBezTo>
                    <a:cubicBezTo>
                      <a:pt x="176" y="299"/>
                      <a:pt x="171" y="295"/>
                      <a:pt x="171" y="289"/>
                    </a:cubicBezTo>
                    <a:cubicBezTo>
                      <a:pt x="171" y="235"/>
                      <a:pt x="171" y="235"/>
                      <a:pt x="171" y="235"/>
                    </a:cubicBezTo>
                    <a:cubicBezTo>
                      <a:pt x="150" y="235"/>
                      <a:pt x="150" y="235"/>
                      <a:pt x="150" y="235"/>
                    </a:cubicBezTo>
                    <a:cubicBezTo>
                      <a:pt x="150" y="289"/>
                      <a:pt x="150" y="289"/>
                      <a:pt x="150" y="289"/>
                    </a:cubicBezTo>
                    <a:cubicBezTo>
                      <a:pt x="150" y="295"/>
                      <a:pt x="145" y="299"/>
                      <a:pt x="139" y="299"/>
                    </a:cubicBezTo>
                    <a:cubicBezTo>
                      <a:pt x="43" y="299"/>
                      <a:pt x="43" y="299"/>
                      <a:pt x="43" y="299"/>
                    </a:cubicBezTo>
                    <a:cubicBezTo>
                      <a:pt x="37" y="299"/>
                      <a:pt x="33" y="295"/>
                      <a:pt x="33" y="289"/>
                    </a:cubicBezTo>
                    <a:cubicBezTo>
                      <a:pt x="33" y="150"/>
                      <a:pt x="33" y="150"/>
                      <a:pt x="33" y="150"/>
                    </a:cubicBezTo>
                    <a:cubicBezTo>
                      <a:pt x="11" y="150"/>
                      <a:pt x="11" y="150"/>
                      <a:pt x="11" y="150"/>
                    </a:cubicBezTo>
                    <a:cubicBezTo>
                      <a:pt x="7" y="150"/>
                      <a:pt x="3" y="147"/>
                      <a:pt x="1" y="143"/>
                    </a:cubicBezTo>
                    <a:cubicBezTo>
                      <a:pt x="0" y="139"/>
                      <a:pt x="1" y="134"/>
                      <a:pt x="4" y="131"/>
                    </a:cubicBezTo>
                    <a:cubicBezTo>
                      <a:pt x="154" y="3"/>
                      <a:pt x="154" y="3"/>
                      <a:pt x="154" y="3"/>
                    </a:cubicBezTo>
                    <a:cubicBezTo>
                      <a:pt x="158" y="0"/>
                      <a:pt x="164" y="0"/>
                      <a:pt x="168" y="3"/>
                    </a:cubicBezTo>
                    <a:cubicBezTo>
                      <a:pt x="317" y="131"/>
                      <a:pt x="317" y="131"/>
                      <a:pt x="317" y="131"/>
                    </a:cubicBezTo>
                    <a:cubicBezTo>
                      <a:pt x="320" y="134"/>
                      <a:pt x="322" y="139"/>
                      <a:pt x="320" y="143"/>
                    </a:cubicBezTo>
                    <a:cubicBezTo>
                      <a:pt x="318" y="147"/>
                      <a:pt x="314" y="150"/>
                      <a:pt x="310" y="150"/>
                    </a:cubicBezTo>
                    <a:cubicBezTo>
                      <a:pt x="289" y="150"/>
                      <a:pt x="289" y="150"/>
                      <a:pt x="289" y="150"/>
                    </a:cubicBezTo>
                    <a:cubicBezTo>
                      <a:pt x="289" y="289"/>
                      <a:pt x="289" y="289"/>
                      <a:pt x="289" y="289"/>
                    </a:cubicBezTo>
                    <a:cubicBezTo>
                      <a:pt x="289" y="295"/>
                      <a:pt x="284" y="299"/>
                      <a:pt x="278" y="299"/>
                    </a:cubicBezTo>
                    <a:close/>
                    <a:moveTo>
                      <a:pt x="193" y="278"/>
                    </a:moveTo>
                    <a:cubicBezTo>
                      <a:pt x="267" y="278"/>
                      <a:pt x="267" y="278"/>
                      <a:pt x="267" y="278"/>
                    </a:cubicBezTo>
                    <a:cubicBezTo>
                      <a:pt x="267" y="139"/>
                      <a:pt x="267" y="139"/>
                      <a:pt x="267" y="139"/>
                    </a:cubicBezTo>
                    <a:cubicBezTo>
                      <a:pt x="267" y="133"/>
                      <a:pt x="272" y="129"/>
                      <a:pt x="278" y="129"/>
                    </a:cubicBezTo>
                    <a:cubicBezTo>
                      <a:pt x="281" y="129"/>
                      <a:pt x="281" y="129"/>
                      <a:pt x="281" y="129"/>
                    </a:cubicBezTo>
                    <a:cubicBezTo>
                      <a:pt x="161" y="25"/>
                      <a:pt x="161" y="25"/>
                      <a:pt x="161" y="25"/>
                    </a:cubicBezTo>
                    <a:cubicBezTo>
                      <a:pt x="40" y="129"/>
                      <a:pt x="40" y="129"/>
                      <a:pt x="40" y="129"/>
                    </a:cubicBezTo>
                    <a:cubicBezTo>
                      <a:pt x="43" y="129"/>
                      <a:pt x="43" y="129"/>
                      <a:pt x="43" y="129"/>
                    </a:cubicBezTo>
                    <a:cubicBezTo>
                      <a:pt x="49" y="129"/>
                      <a:pt x="54" y="133"/>
                      <a:pt x="54" y="139"/>
                    </a:cubicBezTo>
                    <a:cubicBezTo>
                      <a:pt x="54" y="278"/>
                      <a:pt x="54" y="278"/>
                      <a:pt x="54" y="278"/>
                    </a:cubicBezTo>
                    <a:cubicBezTo>
                      <a:pt x="129" y="278"/>
                      <a:pt x="129" y="278"/>
                      <a:pt x="129" y="278"/>
                    </a:cubicBezTo>
                    <a:cubicBezTo>
                      <a:pt x="129" y="225"/>
                      <a:pt x="129" y="225"/>
                      <a:pt x="129" y="225"/>
                    </a:cubicBezTo>
                    <a:cubicBezTo>
                      <a:pt x="129" y="219"/>
                      <a:pt x="133" y="214"/>
                      <a:pt x="139" y="214"/>
                    </a:cubicBezTo>
                    <a:cubicBezTo>
                      <a:pt x="182" y="214"/>
                      <a:pt x="182" y="214"/>
                      <a:pt x="182" y="214"/>
                    </a:cubicBezTo>
                    <a:cubicBezTo>
                      <a:pt x="188" y="214"/>
                      <a:pt x="193" y="219"/>
                      <a:pt x="193" y="225"/>
                    </a:cubicBezTo>
                    <a:lnTo>
                      <a:pt x="193" y="278"/>
                    </a:lnTo>
                    <a:close/>
                  </a:path>
                </a:pathLst>
              </a:custGeom>
              <a:solidFill>
                <a:srgbClr val="62B5E5">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Verdana"/>
                </a:endParaRPr>
              </a:p>
            </p:txBody>
          </p:sp>
          <p:sp>
            <p:nvSpPr>
              <p:cNvPr id="84" name="Freeform 342">
                <a:extLst>
                  <a:ext uri="{FF2B5EF4-FFF2-40B4-BE49-F238E27FC236}">
                    <a16:creationId xmlns:a16="http://schemas.microsoft.com/office/drawing/2014/main" id="{5A0160F0-E0EF-401A-AC93-8D1403BB8F3F}"/>
                  </a:ext>
                </a:extLst>
              </p:cNvPr>
              <p:cNvSpPr>
                <a:spLocks noEditPoints="1"/>
              </p:cNvSpPr>
              <p:nvPr/>
            </p:nvSpPr>
            <p:spPr bwMode="auto">
              <a:xfrm>
                <a:off x="4436" y="1680"/>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rgbClr val="62B5E5">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Verdana"/>
                </a:endParaRPr>
              </a:p>
            </p:txBody>
          </p:sp>
        </p:grpSp>
        <p:grpSp>
          <p:nvGrpSpPr>
            <p:cNvPr id="70" name="Group 559">
              <a:extLst>
                <a:ext uri="{FF2B5EF4-FFF2-40B4-BE49-F238E27FC236}">
                  <a16:creationId xmlns:a16="http://schemas.microsoft.com/office/drawing/2014/main" id="{CD5EB9C5-019B-40D9-84BE-CF866AE10888}"/>
                </a:ext>
              </a:extLst>
            </p:cNvPr>
            <p:cNvGrpSpPr>
              <a:grpSpLocks noChangeAspect="1"/>
            </p:cNvGrpSpPr>
            <p:nvPr/>
          </p:nvGrpSpPr>
          <p:grpSpPr bwMode="auto">
            <a:xfrm>
              <a:off x="10223326" y="2932964"/>
              <a:ext cx="374076" cy="319805"/>
              <a:chOff x="6726" y="2883"/>
              <a:chExt cx="340" cy="340"/>
            </a:xfrm>
            <a:solidFill>
              <a:srgbClr val="FFFFFF"/>
            </a:solidFill>
          </p:grpSpPr>
          <p:sp>
            <p:nvSpPr>
              <p:cNvPr id="81" name="Freeform 560">
                <a:extLst>
                  <a:ext uri="{FF2B5EF4-FFF2-40B4-BE49-F238E27FC236}">
                    <a16:creationId xmlns:a16="http://schemas.microsoft.com/office/drawing/2014/main" id="{C73FCD16-ED72-4FA7-B0AB-A13BF0371BC4}"/>
                  </a:ext>
                </a:extLst>
              </p:cNvPr>
              <p:cNvSpPr>
                <a:spLocks noEditPoints="1"/>
              </p:cNvSpPr>
              <p:nvPr/>
            </p:nvSpPr>
            <p:spPr bwMode="auto">
              <a:xfrm>
                <a:off x="6832" y="2947"/>
                <a:ext cx="149" cy="212"/>
              </a:xfrm>
              <a:custGeom>
                <a:avLst/>
                <a:gdLst>
                  <a:gd name="T0" fmla="*/ 33 w 225"/>
                  <a:gd name="T1" fmla="*/ 320 h 320"/>
                  <a:gd name="T2" fmla="*/ 28 w 225"/>
                  <a:gd name="T3" fmla="*/ 318 h 320"/>
                  <a:gd name="T4" fmla="*/ 22 w 225"/>
                  <a:gd name="T5" fmla="*/ 306 h 320"/>
                  <a:gd name="T6" fmla="*/ 61 w 225"/>
                  <a:gd name="T7" fmla="*/ 170 h 320"/>
                  <a:gd name="T8" fmla="*/ 11 w 225"/>
                  <a:gd name="T9" fmla="*/ 170 h 320"/>
                  <a:gd name="T10" fmla="*/ 2 w 225"/>
                  <a:gd name="T11" fmla="*/ 166 h 320"/>
                  <a:gd name="T12" fmla="*/ 2 w 225"/>
                  <a:gd name="T13" fmla="*/ 155 h 320"/>
                  <a:gd name="T14" fmla="*/ 66 w 225"/>
                  <a:gd name="T15" fmla="*/ 6 h 320"/>
                  <a:gd name="T16" fmla="*/ 75 w 225"/>
                  <a:gd name="T17" fmla="*/ 0 h 320"/>
                  <a:gd name="T18" fmla="*/ 182 w 225"/>
                  <a:gd name="T19" fmla="*/ 0 h 320"/>
                  <a:gd name="T20" fmla="*/ 191 w 225"/>
                  <a:gd name="T21" fmla="*/ 5 h 320"/>
                  <a:gd name="T22" fmla="*/ 192 w 225"/>
                  <a:gd name="T23" fmla="*/ 15 h 320"/>
                  <a:gd name="T24" fmla="*/ 156 w 225"/>
                  <a:gd name="T25" fmla="*/ 96 h 320"/>
                  <a:gd name="T26" fmla="*/ 214 w 225"/>
                  <a:gd name="T27" fmla="*/ 96 h 320"/>
                  <a:gd name="T28" fmla="*/ 224 w 225"/>
                  <a:gd name="T29" fmla="*/ 102 h 320"/>
                  <a:gd name="T30" fmla="*/ 222 w 225"/>
                  <a:gd name="T31" fmla="*/ 113 h 320"/>
                  <a:gd name="T32" fmla="*/ 41 w 225"/>
                  <a:gd name="T33" fmla="*/ 316 h 320"/>
                  <a:gd name="T34" fmla="*/ 33 w 225"/>
                  <a:gd name="T35" fmla="*/ 320 h 320"/>
                  <a:gd name="T36" fmla="*/ 28 w 225"/>
                  <a:gd name="T37" fmla="*/ 149 h 320"/>
                  <a:gd name="T38" fmla="*/ 75 w 225"/>
                  <a:gd name="T39" fmla="*/ 149 h 320"/>
                  <a:gd name="T40" fmla="*/ 84 w 225"/>
                  <a:gd name="T41" fmla="*/ 153 h 320"/>
                  <a:gd name="T42" fmla="*/ 86 w 225"/>
                  <a:gd name="T43" fmla="*/ 163 h 320"/>
                  <a:gd name="T44" fmla="*/ 56 w 225"/>
                  <a:gd name="T45" fmla="*/ 267 h 320"/>
                  <a:gd name="T46" fmla="*/ 190 w 225"/>
                  <a:gd name="T47" fmla="*/ 117 h 320"/>
                  <a:gd name="T48" fmla="*/ 139 w 225"/>
                  <a:gd name="T49" fmla="*/ 117 h 320"/>
                  <a:gd name="T50" fmla="*/ 130 w 225"/>
                  <a:gd name="T51" fmla="*/ 112 h 320"/>
                  <a:gd name="T52" fmla="*/ 130 w 225"/>
                  <a:gd name="T53" fmla="*/ 102 h 320"/>
                  <a:gd name="T54" fmla="*/ 166 w 225"/>
                  <a:gd name="T55" fmla="*/ 21 h 320"/>
                  <a:gd name="T56" fmla="*/ 82 w 225"/>
                  <a:gd name="T57" fmla="*/ 21 h 320"/>
                  <a:gd name="T58" fmla="*/ 28 w 225"/>
                  <a:gd name="T59" fmla="*/ 149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5" h="320">
                    <a:moveTo>
                      <a:pt x="33" y="320"/>
                    </a:moveTo>
                    <a:cubicBezTo>
                      <a:pt x="31" y="320"/>
                      <a:pt x="29" y="319"/>
                      <a:pt x="28" y="318"/>
                    </a:cubicBezTo>
                    <a:cubicBezTo>
                      <a:pt x="23" y="316"/>
                      <a:pt x="21" y="311"/>
                      <a:pt x="22" y="306"/>
                    </a:cubicBezTo>
                    <a:cubicBezTo>
                      <a:pt x="61" y="170"/>
                      <a:pt x="61" y="170"/>
                      <a:pt x="61" y="170"/>
                    </a:cubicBezTo>
                    <a:cubicBezTo>
                      <a:pt x="11" y="170"/>
                      <a:pt x="11" y="170"/>
                      <a:pt x="11" y="170"/>
                    </a:cubicBezTo>
                    <a:cubicBezTo>
                      <a:pt x="8" y="170"/>
                      <a:pt x="4" y="169"/>
                      <a:pt x="2" y="166"/>
                    </a:cubicBezTo>
                    <a:cubicBezTo>
                      <a:pt x="0" y="163"/>
                      <a:pt x="0" y="159"/>
                      <a:pt x="2" y="155"/>
                    </a:cubicBezTo>
                    <a:cubicBezTo>
                      <a:pt x="66" y="6"/>
                      <a:pt x="66" y="6"/>
                      <a:pt x="66" y="6"/>
                    </a:cubicBezTo>
                    <a:cubicBezTo>
                      <a:pt x="67" y="2"/>
                      <a:pt x="71" y="0"/>
                      <a:pt x="75" y="0"/>
                    </a:cubicBezTo>
                    <a:cubicBezTo>
                      <a:pt x="182" y="0"/>
                      <a:pt x="182" y="0"/>
                      <a:pt x="182" y="0"/>
                    </a:cubicBezTo>
                    <a:cubicBezTo>
                      <a:pt x="186" y="0"/>
                      <a:pt x="189" y="1"/>
                      <a:pt x="191" y="5"/>
                    </a:cubicBezTo>
                    <a:cubicBezTo>
                      <a:pt x="193" y="8"/>
                      <a:pt x="193" y="11"/>
                      <a:pt x="192" y="15"/>
                    </a:cubicBezTo>
                    <a:cubicBezTo>
                      <a:pt x="156" y="96"/>
                      <a:pt x="156" y="96"/>
                      <a:pt x="156" y="96"/>
                    </a:cubicBezTo>
                    <a:cubicBezTo>
                      <a:pt x="214" y="96"/>
                      <a:pt x="214" y="96"/>
                      <a:pt x="214" y="96"/>
                    </a:cubicBezTo>
                    <a:cubicBezTo>
                      <a:pt x="218" y="96"/>
                      <a:pt x="222" y="98"/>
                      <a:pt x="224" y="102"/>
                    </a:cubicBezTo>
                    <a:cubicBezTo>
                      <a:pt x="225" y="106"/>
                      <a:pt x="225" y="110"/>
                      <a:pt x="222" y="113"/>
                    </a:cubicBezTo>
                    <a:cubicBezTo>
                      <a:pt x="41" y="316"/>
                      <a:pt x="41" y="316"/>
                      <a:pt x="41" y="316"/>
                    </a:cubicBezTo>
                    <a:cubicBezTo>
                      <a:pt x="39" y="318"/>
                      <a:pt x="36" y="320"/>
                      <a:pt x="33" y="320"/>
                    </a:cubicBezTo>
                    <a:close/>
                    <a:moveTo>
                      <a:pt x="28" y="149"/>
                    </a:moveTo>
                    <a:cubicBezTo>
                      <a:pt x="75" y="149"/>
                      <a:pt x="75" y="149"/>
                      <a:pt x="75" y="149"/>
                    </a:cubicBezTo>
                    <a:cubicBezTo>
                      <a:pt x="79" y="149"/>
                      <a:pt x="82" y="151"/>
                      <a:pt x="84" y="153"/>
                    </a:cubicBezTo>
                    <a:cubicBezTo>
                      <a:pt x="86" y="156"/>
                      <a:pt x="87" y="159"/>
                      <a:pt x="86" y="163"/>
                    </a:cubicBezTo>
                    <a:cubicBezTo>
                      <a:pt x="56" y="267"/>
                      <a:pt x="56" y="267"/>
                      <a:pt x="56" y="267"/>
                    </a:cubicBezTo>
                    <a:cubicBezTo>
                      <a:pt x="190" y="117"/>
                      <a:pt x="190" y="117"/>
                      <a:pt x="190" y="117"/>
                    </a:cubicBezTo>
                    <a:cubicBezTo>
                      <a:pt x="139" y="117"/>
                      <a:pt x="139" y="117"/>
                      <a:pt x="139" y="117"/>
                    </a:cubicBezTo>
                    <a:cubicBezTo>
                      <a:pt x="136" y="117"/>
                      <a:pt x="132" y="115"/>
                      <a:pt x="130" y="112"/>
                    </a:cubicBezTo>
                    <a:cubicBezTo>
                      <a:pt x="128" y="109"/>
                      <a:pt x="128" y="105"/>
                      <a:pt x="130" y="102"/>
                    </a:cubicBezTo>
                    <a:cubicBezTo>
                      <a:pt x="166" y="21"/>
                      <a:pt x="166" y="21"/>
                      <a:pt x="166" y="21"/>
                    </a:cubicBezTo>
                    <a:cubicBezTo>
                      <a:pt x="82" y="21"/>
                      <a:pt x="82" y="21"/>
                      <a:pt x="82" y="21"/>
                    </a:cubicBezTo>
                    <a:lnTo>
                      <a:pt x="28" y="149"/>
                    </a:lnTo>
                    <a:close/>
                  </a:path>
                </a:pathLst>
              </a:custGeom>
              <a:solidFill>
                <a:srgbClr val="62B5E5">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Verdana"/>
                </a:endParaRPr>
              </a:p>
            </p:txBody>
          </p:sp>
          <p:sp>
            <p:nvSpPr>
              <p:cNvPr id="82" name="Freeform 561">
                <a:extLst>
                  <a:ext uri="{FF2B5EF4-FFF2-40B4-BE49-F238E27FC236}">
                    <a16:creationId xmlns:a16="http://schemas.microsoft.com/office/drawing/2014/main" id="{E751E943-838A-4D8E-B4D5-597F84CDF808}"/>
                  </a:ext>
                </a:extLst>
              </p:cNvPr>
              <p:cNvSpPr>
                <a:spLocks noEditPoints="1"/>
              </p:cNvSpPr>
              <p:nvPr/>
            </p:nvSpPr>
            <p:spPr bwMode="auto">
              <a:xfrm>
                <a:off x="6726" y="2883"/>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rgbClr val="62B5E5">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Verdana"/>
                </a:endParaRPr>
              </a:p>
            </p:txBody>
          </p:sp>
        </p:grpSp>
        <p:grpSp>
          <p:nvGrpSpPr>
            <p:cNvPr id="71" name="Group 70">
              <a:extLst>
                <a:ext uri="{FF2B5EF4-FFF2-40B4-BE49-F238E27FC236}">
                  <a16:creationId xmlns:a16="http://schemas.microsoft.com/office/drawing/2014/main" id="{9A38A5FB-D3EC-42E0-B3AC-0F478103E57F}"/>
                </a:ext>
              </a:extLst>
            </p:cNvPr>
            <p:cNvGrpSpPr>
              <a:grpSpLocks noChangeAspect="1"/>
            </p:cNvGrpSpPr>
            <p:nvPr/>
          </p:nvGrpSpPr>
          <p:grpSpPr bwMode="auto">
            <a:xfrm>
              <a:off x="9204001" y="4927434"/>
              <a:ext cx="374076" cy="319805"/>
              <a:chOff x="3722" y="2177"/>
              <a:chExt cx="340" cy="340"/>
            </a:xfrm>
            <a:solidFill>
              <a:srgbClr val="FFFFFF"/>
            </a:solidFill>
          </p:grpSpPr>
          <p:sp>
            <p:nvSpPr>
              <p:cNvPr id="79" name="Freeform 430">
                <a:extLst>
                  <a:ext uri="{FF2B5EF4-FFF2-40B4-BE49-F238E27FC236}">
                    <a16:creationId xmlns:a16="http://schemas.microsoft.com/office/drawing/2014/main" id="{565452EF-955E-40DD-B1E6-F3E33B17E40E}"/>
                  </a:ext>
                </a:extLst>
              </p:cNvPr>
              <p:cNvSpPr>
                <a:spLocks noEditPoints="1"/>
              </p:cNvSpPr>
              <p:nvPr/>
            </p:nvSpPr>
            <p:spPr bwMode="auto">
              <a:xfrm>
                <a:off x="3789" y="2301"/>
                <a:ext cx="230" cy="124"/>
              </a:xfrm>
              <a:custGeom>
                <a:avLst/>
                <a:gdLst>
                  <a:gd name="T0" fmla="*/ 309 w 320"/>
                  <a:gd name="T1" fmla="*/ 43 h 171"/>
                  <a:gd name="T2" fmla="*/ 277 w 320"/>
                  <a:gd name="T3" fmla="*/ 43 h 171"/>
                  <a:gd name="T4" fmla="*/ 277 w 320"/>
                  <a:gd name="T5" fmla="*/ 11 h 171"/>
                  <a:gd name="T6" fmla="*/ 266 w 320"/>
                  <a:gd name="T7" fmla="*/ 0 h 171"/>
                  <a:gd name="T8" fmla="*/ 10 w 320"/>
                  <a:gd name="T9" fmla="*/ 0 h 171"/>
                  <a:gd name="T10" fmla="*/ 0 w 320"/>
                  <a:gd name="T11" fmla="*/ 11 h 171"/>
                  <a:gd name="T12" fmla="*/ 0 w 320"/>
                  <a:gd name="T13" fmla="*/ 160 h 171"/>
                  <a:gd name="T14" fmla="*/ 10 w 320"/>
                  <a:gd name="T15" fmla="*/ 171 h 171"/>
                  <a:gd name="T16" fmla="*/ 266 w 320"/>
                  <a:gd name="T17" fmla="*/ 171 h 171"/>
                  <a:gd name="T18" fmla="*/ 277 w 320"/>
                  <a:gd name="T19" fmla="*/ 160 h 171"/>
                  <a:gd name="T20" fmla="*/ 277 w 320"/>
                  <a:gd name="T21" fmla="*/ 128 h 171"/>
                  <a:gd name="T22" fmla="*/ 309 w 320"/>
                  <a:gd name="T23" fmla="*/ 128 h 171"/>
                  <a:gd name="T24" fmla="*/ 320 w 320"/>
                  <a:gd name="T25" fmla="*/ 118 h 171"/>
                  <a:gd name="T26" fmla="*/ 320 w 320"/>
                  <a:gd name="T27" fmla="*/ 54 h 171"/>
                  <a:gd name="T28" fmla="*/ 309 w 320"/>
                  <a:gd name="T29" fmla="*/ 43 h 171"/>
                  <a:gd name="T30" fmla="*/ 256 w 320"/>
                  <a:gd name="T31" fmla="*/ 150 h 171"/>
                  <a:gd name="T32" fmla="*/ 21 w 320"/>
                  <a:gd name="T33" fmla="*/ 150 h 171"/>
                  <a:gd name="T34" fmla="*/ 21 w 320"/>
                  <a:gd name="T35" fmla="*/ 22 h 171"/>
                  <a:gd name="T36" fmla="*/ 256 w 320"/>
                  <a:gd name="T37" fmla="*/ 22 h 171"/>
                  <a:gd name="T38" fmla="*/ 256 w 320"/>
                  <a:gd name="T39" fmla="*/ 150 h 171"/>
                  <a:gd name="T40" fmla="*/ 298 w 320"/>
                  <a:gd name="T41" fmla="*/ 107 h 171"/>
                  <a:gd name="T42" fmla="*/ 277 w 320"/>
                  <a:gd name="T43" fmla="*/ 107 h 171"/>
                  <a:gd name="T44" fmla="*/ 277 w 320"/>
                  <a:gd name="T45" fmla="*/ 64 h 171"/>
                  <a:gd name="T46" fmla="*/ 298 w 320"/>
                  <a:gd name="T47" fmla="*/ 64 h 171"/>
                  <a:gd name="T48" fmla="*/ 298 w 320"/>
                  <a:gd name="T49" fmla="*/ 107 h 171"/>
                  <a:gd name="T50" fmla="*/ 42 w 320"/>
                  <a:gd name="T51" fmla="*/ 118 h 171"/>
                  <a:gd name="T52" fmla="*/ 42 w 320"/>
                  <a:gd name="T53" fmla="*/ 54 h 171"/>
                  <a:gd name="T54" fmla="*/ 53 w 320"/>
                  <a:gd name="T55" fmla="*/ 43 h 171"/>
                  <a:gd name="T56" fmla="*/ 64 w 320"/>
                  <a:gd name="T57" fmla="*/ 54 h 171"/>
                  <a:gd name="T58" fmla="*/ 64 w 320"/>
                  <a:gd name="T59" fmla="*/ 118 h 171"/>
                  <a:gd name="T60" fmla="*/ 53 w 320"/>
                  <a:gd name="T61" fmla="*/ 128 h 171"/>
                  <a:gd name="T62" fmla="*/ 42 w 320"/>
                  <a:gd name="T63" fmla="*/ 118 h 171"/>
                  <a:gd name="T64" fmla="*/ 85 w 320"/>
                  <a:gd name="T65" fmla="*/ 118 h 171"/>
                  <a:gd name="T66" fmla="*/ 85 w 320"/>
                  <a:gd name="T67" fmla="*/ 54 h 171"/>
                  <a:gd name="T68" fmla="*/ 96 w 320"/>
                  <a:gd name="T69" fmla="*/ 43 h 171"/>
                  <a:gd name="T70" fmla="*/ 106 w 320"/>
                  <a:gd name="T71" fmla="*/ 54 h 171"/>
                  <a:gd name="T72" fmla="*/ 106 w 320"/>
                  <a:gd name="T73" fmla="*/ 118 h 171"/>
                  <a:gd name="T74" fmla="*/ 96 w 320"/>
                  <a:gd name="T75" fmla="*/ 128 h 171"/>
                  <a:gd name="T76" fmla="*/ 85 w 320"/>
                  <a:gd name="T77" fmla="*/ 118 h 171"/>
                  <a:gd name="T78" fmla="*/ 128 w 320"/>
                  <a:gd name="T79" fmla="*/ 118 h 171"/>
                  <a:gd name="T80" fmla="*/ 128 w 320"/>
                  <a:gd name="T81" fmla="*/ 54 h 171"/>
                  <a:gd name="T82" fmla="*/ 138 w 320"/>
                  <a:gd name="T83" fmla="*/ 43 h 171"/>
                  <a:gd name="T84" fmla="*/ 149 w 320"/>
                  <a:gd name="T85" fmla="*/ 54 h 171"/>
                  <a:gd name="T86" fmla="*/ 149 w 320"/>
                  <a:gd name="T87" fmla="*/ 118 h 171"/>
                  <a:gd name="T88" fmla="*/ 138 w 320"/>
                  <a:gd name="T89" fmla="*/ 128 h 171"/>
                  <a:gd name="T90" fmla="*/ 128 w 320"/>
                  <a:gd name="T91" fmla="*/ 118 h 171"/>
                  <a:gd name="T92" fmla="*/ 170 w 320"/>
                  <a:gd name="T93" fmla="*/ 118 h 171"/>
                  <a:gd name="T94" fmla="*/ 170 w 320"/>
                  <a:gd name="T95" fmla="*/ 54 h 171"/>
                  <a:gd name="T96" fmla="*/ 181 w 320"/>
                  <a:gd name="T97" fmla="*/ 43 h 171"/>
                  <a:gd name="T98" fmla="*/ 192 w 320"/>
                  <a:gd name="T99" fmla="*/ 54 h 171"/>
                  <a:gd name="T100" fmla="*/ 192 w 320"/>
                  <a:gd name="T101" fmla="*/ 118 h 171"/>
                  <a:gd name="T102" fmla="*/ 181 w 320"/>
                  <a:gd name="T103" fmla="*/ 128 h 171"/>
                  <a:gd name="T104" fmla="*/ 170 w 320"/>
                  <a:gd name="T105" fmla="*/ 11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20" h="171">
                    <a:moveTo>
                      <a:pt x="309" y="43"/>
                    </a:moveTo>
                    <a:cubicBezTo>
                      <a:pt x="277" y="43"/>
                      <a:pt x="277" y="43"/>
                      <a:pt x="277" y="43"/>
                    </a:cubicBezTo>
                    <a:cubicBezTo>
                      <a:pt x="277" y="11"/>
                      <a:pt x="277" y="11"/>
                      <a:pt x="277" y="11"/>
                    </a:cubicBezTo>
                    <a:cubicBezTo>
                      <a:pt x="277" y="5"/>
                      <a:pt x="272" y="0"/>
                      <a:pt x="266" y="0"/>
                    </a:cubicBezTo>
                    <a:cubicBezTo>
                      <a:pt x="10" y="0"/>
                      <a:pt x="10" y="0"/>
                      <a:pt x="10" y="0"/>
                    </a:cubicBezTo>
                    <a:cubicBezTo>
                      <a:pt x="4" y="0"/>
                      <a:pt x="0" y="5"/>
                      <a:pt x="0" y="11"/>
                    </a:cubicBezTo>
                    <a:cubicBezTo>
                      <a:pt x="0" y="160"/>
                      <a:pt x="0" y="160"/>
                      <a:pt x="0" y="160"/>
                    </a:cubicBezTo>
                    <a:cubicBezTo>
                      <a:pt x="0" y="166"/>
                      <a:pt x="4" y="171"/>
                      <a:pt x="10" y="171"/>
                    </a:cubicBezTo>
                    <a:cubicBezTo>
                      <a:pt x="266" y="171"/>
                      <a:pt x="266" y="171"/>
                      <a:pt x="266" y="171"/>
                    </a:cubicBezTo>
                    <a:cubicBezTo>
                      <a:pt x="272" y="171"/>
                      <a:pt x="277" y="166"/>
                      <a:pt x="277" y="160"/>
                    </a:cubicBezTo>
                    <a:cubicBezTo>
                      <a:pt x="277" y="128"/>
                      <a:pt x="277" y="128"/>
                      <a:pt x="277" y="128"/>
                    </a:cubicBezTo>
                    <a:cubicBezTo>
                      <a:pt x="309" y="128"/>
                      <a:pt x="309" y="128"/>
                      <a:pt x="309" y="128"/>
                    </a:cubicBezTo>
                    <a:cubicBezTo>
                      <a:pt x="315" y="128"/>
                      <a:pt x="320" y="124"/>
                      <a:pt x="320" y="118"/>
                    </a:cubicBezTo>
                    <a:cubicBezTo>
                      <a:pt x="320" y="54"/>
                      <a:pt x="320" y="54"/>
                      <a:pt x="320" y="54"/>
                    </a:cubicBezTo>
                    <a:cubicBezTo>
                      <a:pt x="320" y="48"/>
                      <a:pt x="315" y="43"/>
                      <a:pt x="309" y="43"/>
                    </a:cubicBezTo>
                    <a:close/>
                    <a:moveTo>
                      <a:pt x="256" y="150"/>
                    </a:moveTo>
                    <a:cubicBezTo>
                      <a:pt x="21" y="150"/>
                      <a:pt x="21" y="150"/>
                      <a:pt x="21" y="150"/>
                    </a:cubicBezTo>
                    <a:cubicBezTo>
                      <a:pt x="21" y="22"/>
                      <a:pt x="21" y="22"/>
                      <a:pt x="21" y="22"/>
                    </a:cubicBezTo>
                    <a:cubicBezTo>
                      <a:pt x="256" y="22"/>
                      <a:pt x="256" y="22"/>
                      <a:pt x="256" y="22"/>
                    </a:cubicBezTo>
                    <a:lnTo>
                      <a:pt x="256" y="150"/>
                    </a:lnTo>
                    <a:close/>
                    <a:moveTo>
                      <a:pt x="298" y="107"/>
                    </a:moveTo>
                    <a:cubicBezTo>
                      <a:pt x="277" y="107"/>
                      <a:pt x="277" y="107"/>
                      <a:pt x="277" y="107"/>
                    </a:cubicBezTo>
                    <a:cubicBezTo>
                      <a:pt x="277" y="64"/>
                      <a:pt x="277" y="64"/>
                      <a:pt x="277" y="64"/>
                    </a:cubicBezTo>
                    <a:cubicBezTo>
                      <a:pt x="298" y="64"/>
                      <a:pt x="298" y="64"/>
                      <a:pt x="298" y="64"/>
                    </a:cubicBezTo>
                    <a:lnTo>
                      <a:pt x="298" y="107"/>
                    </a:lnTo>
                    <a:close/>
                    <a:moveTo>
                      <a:pt x="42" y="118"/>
                    </a:moveTo>
                    <a:cubicBezTo>
                      <a:pt x="42" y="54"/>
                      <a:pt x="42" y="54"/>
                      <a:pt x="42" y="54"/>
                    </a:cubicBezTo>
                    <a:cubicBezTo>
                      <a:pt x="42" y="48"/>
                      <a:pt x="47" y="43"/>
                      <a:pt x="53" y="43"/>
                    </a:cubicBezTo>
                    <a:cubicBezTo>
                      <a:pt x="59" y="43"/>
                      <a:pt x="64" y="48"/>
                      <a:pt x="64" y="54"/>
                    </a:cubicBezTo>
                    <a:cubicBezTo>
                      <a:pt x="64" y="118"/>
                      <a:pt x="64" y="118"/>
                      <a:pt x="64" y="118"/>
                    </a:cubicBezTo>
                    <a:cubicBezTo>
                      <a:pt x="64" y="124"/>
                      <a:pt x="59" y="128"/>
                      <a:pt x="53" y="128"/>
                    </a:cubicBezTo>
                    <a:cubicBezTo>
                      <a:pt x="47" y="128"/>
                      <a:pt x="42" y="124"/>
                      <a:pt x="42" y="118"/>
                    </a:cubicBezTo>
                    <a:close/>
                    <a:moveTo>
                      <a:pt x="85" y="118"/>
                    </a:moveTo>
                    <a:cubicBezTo>
                      <a:pt x="85" y="54"/>
                      <a:pt x="85" y="54"/>
                      <a:pt x="85" y="54"/>
                    </a:cubicBezTo>
                    <a:cubicBezTo>
                      <a:pt x="85" y="48"/>
                      <a:pt x="90" y="43"/>
                      <a:pt x="96" y="43"/>
                    </a:cubicBezTo>
                    <a:cubicBezTo>
                      <a:pt x="102" y="43"/>
                      <a:pt x="106" y="48"/>
                      <a:pt x="106" y="54"/>
                    </a:cubicBezTo>
                    <a:cubicBezTo>
                      <a:pt x="106" y="118"/>
                      <a:pt x="106" y="118"/>
                      <a:pt x="106" y="118"/>
                    </a:cubicBezTo>
                    <a:cubicBezTo>
                      <a:pt x="106" y="124"/>
                      <a:pt x="102" y="128"/>
                      <a:pt x="96" y="128"/>
                    </a:cubicBezTo>
                    <a:cubicBezTo>
                      <a:pt x="90" y="128"/>
                      <a:pt x="85" y="124"/>
                      <a:pt x="85" y="118"/>
                    </a:cubicBezTo>
                    <a:close/>
                    <a:moveTo>
                      <a:pt x="128" y="118"/>
                    </a:moveTo>
                    <a:cubicBezTo>
                      <a:pt x="128" y="54"/>
                      <a:pt x="128" y="54"/>
                      <a:pt x="128" y="54"/>
                    </a:cubicBezTo>
                    <a:cubicBezTo>
                      <a:pt x="128" y="48"/>
                      <a:pt x="132" y="43"/>
                      <a:pt x="138" y="43"/>
                    </a:cubicBezTo>
                    <a:cubicBezTo>
                      <a:pt x="144" y="43"/>
                      <a:pt x="149" y="48"/>
                      <a:pt x="149" y="54"/>
                    </a:cubicBezTo>
                    <a:cubicBezTo>
                      <a:pt x="149" y="118"/>
                      <a:pt x="149" y="118"/>
                      <a:pt x="149" y="118"/>
                    </a:cubicBezTo>
                    <a:cubicBezTo>
                      <a:pt x="149" y="124"/>
                      <a:pt x="144" y="128"/>
                      <a:pt x="138" y="128"/>
                    </a:cubicBezTo>
                    <a:cubicBezTo>
                      <a:pt x="132" y="128"/>
                      <a:pt x="128" y="124"/>
                      <a:pt x="128" y="118"/>
                    </a:cubicBezTo>
                    <a:close/>
                    <a:moveTo>
                      <a:pt x="170" y="118"/>
                    </a:moveTo>
                    <a:cubicBezTo>
                      <a:pt x="170" y="54"/>
                      <a:pt x="170" y="54"/>
                      <a:pt x="170" y="54"/>
                    </a:cubicBezTo>
                    <a:cubicBezTo>
                      <a:pt x="170" y="48"/>
                      <a:pt x="175" y="43"/>
                      <a:pt x="181" y="43"/>
                    </a:cubicBezTo>
                    <a:cubicBezTo>
                      <a:pt x="187" y="43"/>
                      <a:pt x="192" y="48"/>
                      <a:pt x="192" y="54"/>
                    </a:cubicBezTo>
                    <a:cubicBezTo>
                      <a:pt x="192" y="118"/>
                      <a:pt x="192" y="118"/>
                      <a:pt x="192" y="118"/>
                    </a:cubicBezTo>
                    <a:cubicBezTo>
                      <a:pt x="192" y="124"/>
                      <a:pt x="187" y="128"/>
                      <a:pt x="181" y="128"/>
                    </a:cubicBezTo>
                    <a:cubicBezTo>
                      <a:pt x="175" y="128"/>
                      <a:pt x="170" y="124"/>
                      <a:pt x="170" y="118"/>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Verdana"/>
                </a:endParaRPr>
              </a:p>
            </p:txBody>
          </p:sp>
          <p:sp>
            <p:nvSpPr>
              <p:cNvPr id="80" name="Freeform 431">
                <a:extLst>
                  <a:ext uri="{FF2B5EF4-FFF2-40B4-BE49-F238E27FC236}">
                    <a16:creationId xmlns:a16="http://schemas.microsoft.com/office/drawing/2014/main" id="{15E586F1-5E91-458F-8DB9-3E2E2F1184CD}"/>
                  </a:ext>
                </a:extLst>
              </p:cNvPr>
              <p:cNvSpPr>
                <a:spLocks noEditPoints="1"/>
              </p:cNvSpPr>
              <p:nvPr/>
            </p:nvSpPr>
            <p:spPr bwMode="auto">
              <a:xfrm>
                <a:off x="3722" y="2177"/>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Verdana"/>
                </a:endParaRPr>
              </a:p>
            </p:txBody>
          </p:sp>
        </p:grpSp>
        <p:grpSp>
          <p:nvGrpSpPr>
            <p:cNvPr id="72" name="Group 454">
              <a:extLst>
                <a:ext uri="{FF2B5EF4-FFF2-40B4-BE49-F238E27FC236}">
                  <a16:creationId xmlns:a16="http://schemas.microsoft.com/office/drawing/2014/main" id="{CF03692E-CE49-4AC3-9E32-0721B765BE0D}"/>
                </a:ext>
              </a:extLst>
            </p:cNvPr>
            <p:cNvGrpSpPr>
              <a:grpSpLocks noChangeAspect="1"/>
            </p:cNvGrpSpPr>
            <p:nvPr/>
          </p:nvGrpSpPr>
          <p:grpSpPr bwMode="auto">
            <a:xfrm>
              <a:off x="7740665" y="4951953"/>
              <a:ext cx="374076" cy="319805"/>
              <a:chOff x="1912" y="1576"/>
              <a:chExt cx="340" cy="340"/>
            </a:xfrm>
            <a:solidFill>
              <a:srgbClr val="FFFFFF"/>
            </a:solidFill>
          </p:grpSpPr>
          <p:sp>
            <p:nvSpPr>
              <p:cNvPr id="77" name="Freeform 455">
                <a:extLst>
                  <a:ext uri="{FF2B5EF4-FFF2-40B4-BE49-F238E27FC236}">
                    <a16:creationId xmlns:a16="http://schemas.microsoft.com/office/drawing/2014/main" id="{93BE9438-B9C1-4642-9B14-F869686FDDF8}"/>
                  </a:ext>
                </a:extLst>
              </p:cNvPr>
              <p:cNvSpPr>
                <a:spLocks noEditPoints="1"/>
              </p:cNvSpPr>
              <p:nvPr/>
            </p:nvSpPr>
            <p:spPr bwMode="auto">
              <a:xfrm>
                <a:off x="2004" y="1653"/>
                <a:ext cx="171" cy="170"/>
              </a:xfrm>
              <a:custGeom>
                <a:avLst/>
                <a:gdLst>
                  <a:gd name="T0" fmla="*/ 253 w 258"/>
                  <a:gd name="T1" fmla="*/ 49 h 256"/>
                  <a:gd name="T2" fmla="*/ 238 w 258"/>
                  <a:gd name="T3" fmla="*/ 49 h 256"/>
                  <a:gd name="T4" fmla="*/ 193 w 258"/>
                  <a:gd name="T5" fmla="*/ 94 h 256"/>
                  <a:gd name="T6" fmla="*/ 163 w 258"/>
                  <a:gd name="T7" fmla="*/ 64 h 256"/>
                  <a:gd name="T8" fmla="*/ 208 w 258"/>
                  <a:gd name="T9" fmla="*/ 19 h 256"/>
                  <a:gd name="T10" fmla="*/ 208 w 258"/>
                  <a:gd name="T11" fmla="*/ 4 h 256"/>
                  <a:gd name="T12" fmla="*/ 193 w 258"/>
                  <a:gd name="T13" fmla="*/ 4 h 256"/>
                  <a:gd name="T14" fmla="*/ 148 w 258"/>
                  <a:gd name="T15" fmla="*/ 49 h 256"/>
                  <a:gd name="T16" fmla="*/ 133 w 258"/>
                  <a:gd name="T17" fmla="*/ 34 h 256"/>
                  <a:gd name="T18" fmla="*/ 125 w 258"/>
                  <a:gd name="T19" fmla="*/ 27 h 256"/>
                  <a:gd name="T20" fmla="*/ 110 w 258"/>
                  <a:gd name="T21" fmla="*/ 27 h 256"/>
                  <a:gd name="T22" fmla="*/ 110 w 258"/>
                  <a:gd name="T23" fmla="*/ 42 h 256"/>
                  <a:gd name="T24" fmla="*/ 72 w 258"/>
                  <a:gd name="T25" fmla="*/ 79 h 256"/>
                  <a:gd name="T26" fmla="*/ 51 w 258"/>
                  <a:gd name="T27" fmla="*/ 132 h 256"/>
                  <a:gd name="T28" fmla="*/ 65 w 258"/>
                  <a:gd name="T29" fmla="*/ 177 h 256"/>
                  <a:gd name="T30" fmla="*/ 5 w 258"/>
                  <a:gd name="T31" fmla="*/ 238 h 256"/>
                  <a:gd name="T32" fmla="*/ 5 w 258"/>
                  <a:gd name="T33" fmla="*/ 253 h 256"/>
                  <a:gd name="T34" fmla="*/ 12 w 258"/>
                  <a:gd name="T35" fmla="*/ 256 h 256"/>
                  <a:gd name="T36" fmla="*/ 20 w 258"/>
                  <a:gd name="T37" fmla="*/ 253 h 256"/>
                  <a:gd name="T38" fmla="*/ 81 w 258"/>
                  <a:gd name="T39" fmla="*/ 192 h 256"/>
                  <a:gd name="T40" fmla="*/ 125 w 258"/>
                  <a:gd name="T41" fmla="*/ 207 h 256"/>
                  <a:gd name="T42" fmla="*/ 178 w 258"/>
                  <a:gd name="T43" fmla="*/ 185 h 256"/>
                  <a:gd name="T44" fmla="*/ 216 w 258"/>
                  <a:gd name="T45" fmla="*/ 147 h 256"/>
                  <a:gd name="T46" fmla="*/ 216 w 258"/>
                  <a:gd name="T47" fmla="*/ 147 h 256"/>
                  <a:gd name="T48" fmla="*/ 223 w 258"/>
                  <a:gd name="T49" fmla="*/ 150 h 256"/>
                  <a:gd name="T50" fmla="*/ 231 w 258"/>
                  <a:gd name="T51" fmla="*/ 147 h 256"/>
                  <a:gd name="T52" fmla="*/ 231 w 258"/>
                  <a:gd name="T53" fmla="*/ 132 h 256"/>
                  <a:gd name="T54" fmla="*/ 223 w 258"/>
                  <a:gd name="T55" fmla="*/ 125 h 256"/>
                  <a:gd name="T56" fmla="*/ 208 w 258"/>
                  <a:gd name="T57" fmla="*/ 109 h 256"/>
                  <a:gd name="T58" fmla="*/ 253 w 258"/>
                  <a:gd name="T59" fmla="*/ 64 h 256"/>
                  <a:gd name="T60" fmla="*/ 253 w 258"/>
                  <a:gd name="T61" fmla="*/ 49 h 256"/>
                  <a:gd name="T62" fmla="*/ 163 w 258"/>
                  <a:gd name="T63" fmla="*/ 170 h 256"/>
                  <a:gd name="T64" fmla="*/ 125 w 258"/>
                  <a:gd name="T65" fmla="*/ 185 h 256"/>
                  <a:gd name="T66" fmla="*/ 87 w 258"/>
                  <a:gd name="T67" fmla="*/ 170 h 256"/>
                  <a:gd name="T68" fmla="*/ 72 w 258"/>
                  <a:gd name="T69" fmla="*/ 132 h 256"/>
                  <a:gd name="T70" fmla="*/ 87 w 258"/>
                  <a:gd name="T71" fmla="*/ 94 h 256"/>
                  <a:gd name="T72" fmla="*/ 125 w 258"/>
                  <a:gd name="T73" fmla="*/ 57 h 256"/>
                  <a:gd name="T74" fmla="*/ 201 w 258"/>
                  <a:gd name="T75" fmla="*/ 132 h 256"/>
                  <a:gd name="T76" fmla="*/ 163 w 258"/>
                  <a:gd name="T77" fmla="*/ 17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58" h="256">
                    <a:moveTo>
                      <a:pt x="253" y="49"/>
                    </a:moveTo>
                    <a:cubicBezTo>
                      <a:pt x="249" y="45"/>
                      <a:pt x="243" y="45"/>
                      <a:pt x="238" y="49"/>
                    </a:cubicBezTo>
                    <a:cubicBezTo>
                      <a:pt x="193" y="94"/>
                      <a:pt x="193" y="94"/>
                      <a:pt x="193" y="94"/>
                    </a:cubicBezTo>
                    <a:cubicBezTo>
                      <a:pt x="163" y="64"/>
                      <a:pt x="163" y="64"/>
                      <a:pt x="163" y="64"/>
                    </a:cubicBezTo>
                    <a:cubicBezTo>
                      <a:pt x="208" y="19"/>
                      <a:pt x="208" y="19"/>
                      <a:pt x="208" y="19"/>
                    </a:cubicBezTo>
                    <a:cubicBezTo>
                      <a:pt x="212" y="15"/>
                      <a:pt x="212" y="8"/>
                      <a:pt x="208" y="4"/>
                    </a:cubicBezTo>
                    <a:cubicBezTo>
                      <a:pt x="204" y="0"/>
                      <a:pt x="197" y="0"/>
                      <a:pt x="193" y="4"/>
                    </a:cubicBezTo>
                    <a:cubicBezTo>
                      <a:pt x="148" y="49"/>
                      <a:pt x="148" y="49"/>
                      <a:pt x="148" y="49"/>
                    </a:cubicBezTo>
                    <a:cubicBezTo>
                      <a:pt x="133" y="34"/>
                      <a:pt x="133" y="34"/>
                      <a:pt x="133" y="34"/>
                    </a:cubicBezTo>
                    <a:cubicBezTo>
                      <a:pt x="125" y="27"/>
                      <a:pt x="125" y="27"/>
                      <a:pt x="125" y="27"/>
                    </a:cubicBezTo>
                    <a:cubicBezTo>
                      <a:pt x="121" y="22"/>
                      <a:pt x="114" y="22"/>
                      <a:pt x="110" y="27"/>
                    </a:cubicBezTo>
                    <a:cubicBezTo>
                      <a:pt x="106" y="31"/>
                      <a:pt x="106" y="37"/>
                      <a:pt x="110" y="42"/>
                    </a:cubicBezTo>
                    <a:cubicBezTo>
                      <a:pt x="72" y="79"/>
                      <a:pt x="72" y="79"/>
                      <a:pt x="72" y="79"/>
                    </a:cubicBezTo>
                    <a:cubicBezTo>
                      <a:pt x="58" y="93"/>
                      <a:pt x="51" y="112"/>
                      <a:pt x="51" y="132"/>
                    </a:cubicBezTo>
                    <a:cubicBezTo>
                      <a:pt x="51" y="148"/>
                      <a:pt x="56" y="164"/>
                      <a:pt x="65" y="177"/>
                    </a:cubicBezTo>
                    <a:cubicBezTo>
                      <a:pt x="5" y="238"/>
                      <a:pt x="5" y="238"/>
                      <a:pt x="5" y="238"/>
                    </a:cubicBezTo>
                    <a:cubicBezTo>
                      <a:pt x="0" y="242"/>
                      <a:pt x="0" y="249"/>
                      <a:pt x="5" y="253"/>
                    </a:cubicBezTo>
                    <a:cubicBezTo>
                      <a:pt x="7" y="255"/>
                      <a:pt x="9" y="256"/>
                      <a:pt x="12" y="256"/>
                    </a:cubicBezTo>
                    <a:cubicBezTo>
                      <a:pt x="15" y="256"/>
                      <a:pt x="18" y="255"/>
                      <a:pt x="20" y="253"/>
                    </a:cubicBezTo>
                    <a:cubicBezTo>
                      <a:pt x="81" y="192"/>
                      <a:pt x="81" y="192"/>
                      <a:pt x="81" y="192"/>
                    </a:cubicBezTo>
                    <a:cubicBezTo>
                      <a:pt x="93" y="202"/>
                      <a:pt x="109" y="207"/>
                      <a:pt x="125" y="207"/>
                    </a:cubicBezTo>
                    <a:cubicBezTo>
                      <a:pt x="145" y="207"/>
                      <a:pt x="164" y="199"/>
                      <a:pt x="178" y="185"/>
                    </a:cubicBezTo>
                    <a:cubicBezTo>
                      <a:pt x="216" y="147"/>
                      <a:pt x="216" y="147"/>
                      <a:pt x="216" y="147"/>
                    </a:cubicBezTo>
                    <a:cubicBezTo>
                      <a:pt x="216" y="147"/>
                      <a:pt x="216" y="147"/>
                      <a:pt x="216" y="147"/>
                    </a:cubicBezTo>
                    <a:cubicBezTo>
                      <a:pt x="218" y="149"/>
                      <a:pt x="221" y="150"/>
                      <a:pt x="223" y="150"/>
                    </a:cubicBezTo>
                    <a:cubicBezTo>
                      <a:pt x="226" y="150"/>
                      <a:pt x="229" y="149"/>
                      <a:pt x="231" y="147"/>
                    </a:cubicBezTo>
                    <a:cubicBezTo>
                      <a:pt x="235" y="143"/>
                      <a:pt x="235" y="136"/>
                      <a:pt x="231" y="132"/>
                    </a:cubicBezTo>
                    <a:cubicBezTo>
                      <a:pt x="223" y="125"/>
                      <a:pt x="223" y="125"/>
                      <a:pt x="223" y="125"/>
                    </a:cubicBezTo>
                    <a:cubicBezTo>
                      <a:pt x="208" y="109"/>
                      <a:pt x="208" y="109"/>
                      <a:pt x="208" y="109"/>
                    </a:cubicBezTo>
                    <a:cubicBezTo>
                      <a:pt x="253" y="64"/>
                      <a:pt x="253" y="64"/>
                      <a:pt x="253" y="64"/>
                    </a:cubicBezTo>
                    <a:cubicBezTo>
                      <a:pt x="258" y="60"/>
                      <a:pt x="258" y="53"/>
                      <a:pt x="253" y="49"/>
                    </a:cubicBezTo>
                    <a:close/>
                    <a:moveTo>
                      <a:pt x="163" y="170"/>
                    </a:moveTo>
                    <a:cubicBezTo>
                      <a:pt x="153" y="180"/>
                      <a:pt x="139" y="185"/>
                      <a:pt x="125" y="185"/>
                    </a:cubicBezTo>
                    <a:cubicBezTo>
                      <a:pt x="111" y="185"/>
                      <a:pt x="98" y="180"/>
                      <a:pt x="87" y="170"/>
                    </a:cubicBezTo>
                    <a:cubicBezTo>
                      <a:pt x="77" y="160"/>
                      <a:pt x="72" y="146"/>
                      <a:pt x="72" y="132"/>
                    </a:cubicBezTo>
                    <a:cubicBezTo>
                      <a:pt x="72" y="118"/>
                      <a:pt x="77" y="104"/>
                      <a:pt x="87" y="94"/>
                    </a:cubicBezTo>
                    <a:cubicBezTo>
                      <a:pt x="125" y="57"/>
                      <a:pt x="125" y="57"/>
                      <a:pt x="125" y="57"/>
                    </a:cubicBezTo>
                    <a:cubicBezTo>
                      <a:pt x="201" y="132"/>
                      <a:pt x="201" y="132"/>
                      <a:pt x="201" y="132"/>
                    </a:cubicBezTo>
                    <a:lnTo>
                      <a:pt x="163" y="170"/>
                    </a:lnTo>
                    <a:close/>
                  </a:path>
                </a:pathLst>
              </a:custGeom>
              <a:solidFill>
                <a:srgbClr val="0097A9">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Verdana"/>
                </a:endParaRPr>
              </a:p>
            </p:txBody>
          </p:sp>
          <p:sp>
            <p:nvSpPr>
              <p:cNvPr id="78" name="Freeform 456">
                <a:extLst>
                  <a:ext uri="{FF2B5EF4-FFF2-40B4-BE49-F238E27FC236}">
                    <a16:creationId xmlns:a16="http://schemas.microsoft.com/office/drawing/2014/main" id="{762096E2-E62D-45A7-AD98-DC14ADE8D4D6}"/>
                  </a:ext>
                </a:extLst>
              </p:cNvPr>
              <p:cNvSpPr>
                <a:spLocks noEditPoints="1"/>
              </p:cNvSpPr>
              <p:nvPr/>
            </p:nvSpPr>
            <p:spPr bwMode="auto">
              <a:xfrm>
                <a:off x="1912" y="157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rgbClr val="0097A9">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Verdana"/>
                </a:endParaRPr>
              </a:p>
            </p:txBody>
          </p:sp>
        </p:grpSp>
        <p:sp>
          <p:nvSpPr>
            <p:cNvPr id="73" name="Oval 72">
              <a:extLst>
                <a:ext uri="{FF2B5EF4-FFF2-40B4-BE49-F238E27FC236}">
                  <a16:creationId xmlns:a16="http://schemas.microsoft.com/office/drawing/2014/main" id="{4DBC641E-30C3-4257-98CA-1688DB93EBFE}"/>
                </a:ext>
              </a:extLst>
            </p:cNvPr>
            <p:cNvSpPr>
              <a:spLocks noChangeArrowheads="1"/>
            </p:cNvSpPr>
            <p:nvPr/>
          </p:nvSpPr>
          <p:spPr bwMode="auto">
            <a:xfrm>
              <a:off x="7707643" y="3218772"/>
              <a:ext cx="2163253" cy="1514854"/>
            </a:xfrm>
            <a:prstGeom prst="ellipse">
              <a:avLst/>
            </a:prstGeom>
            <a:solidFill>
              <a:srgbClr val="86BC25"/>
            </a:solidFill>
            <a:ln w="57150">
              <a:solidFill>
                <a:srgbClr val="FFFFFF"/>
              </a:solidFill>
              <a:round/>
              <a:headEnd/>
              <a:tailEnd/>
            </a:ln>
          </p:spPr>
          <p:txBody>
            <a:bodyPr lIns="44450" tIns="44450" rIns="44450" bIns="44450" anchor="ctr"/>
            <a:lstStyle/>
            <a:p>
              <a:pPr marL="0" marR="0" lvl="0" indent="0" algn="ctr" defTabSz="1219170" eaLnBrk="1" fontAlgn="auto" latinLnBrk="0" hangingPunct="1">
                <a:lnSpc>
                  <a:spcPct val="95000"/>
                </a:lnSpc>
                <a:spcBef>
                  <a:spcPct val="20000"/>
                </a:spcBef>
                <a:spcAft>
                  <a:spcPct val="37000"/>
                </a:spcAft>
                <a:buClrTx/>
                <a:buSzTx/>
                <a:buFontTx/>
                <a:buNone/>
                <a:tabLst/>
                <a:defRPr/>
              </a:pPr>
              <a:r>
                <a:rPr kumimoji="0" lang="en-GB" b="1" i="0" u="none" strike="noStrike" kern="0" cap="none" spc="0" normalizeH="0" baseline="0" noProof="0" dirty="0">
                  <a:ln>
                    <a:noFill/>
                  </a:ln>
                  <a:solidFill>
                    <a:srgbClr val="FFFFFF"/>
                  </a:solidFill>
                  <a:effectLst/>
                  <a:uLnTx/>
                  <a:uFillTx/>
                  <a:latin typeface="Verdana"/>
                  <a:ea typeface="ＭＳ Ｐゴシック" pitchFamily="50" charset="-128"/>
                  <a:cs typeface="Arial" pitchFamily="34" charset="0"/>
                </a:rPr>
                <a:t>Emerging Opportunities for REC</a:t>
              </a:r>
            </a:p>
          </p:txBody>
        </p:sp>
        <p:grpSp>
          <p:nvGrpSpPr>
            <p:cNvPr id="74" name="Group 73">
              <a:extLst>
                <a:ext uri="{FF2B5EF4-FFF2-40B4-BE49-F238E27FC236}">
                  <a16:creationId xmlns:a16="http://schemas.microsoft.com/office/drawing/2014/main" id="{2043CF4F-1EA2-4D1B-BDCD-7082DF41D10F}"/>
                </a:ext>
              </a:extLst>
            </p:cNvPr>
            <p:cNvGrpSpPr>
              <a:grpSpLocks noChangeAspect="1"/>
            </p:cNvGrpSpPr>
            <p:nvPr/>
          </p:nvGrpSpPr>
          <p:grpSpPr bwMode="auto">
            <a:xfrm>
              <a:off x="10309637" y="4104564"/>
              <a:ext cx="369021" cy="369021"/>
              <a:chOff x="1925" y="6"/>
              <a:chExt cx="340" cy="340"/>
            </a:xfrm>
            <a:solidFill>
              <a:srgbClr val="FFFFFF"/>
            </a:solidFill>
          </p:grpSpPr>
          <p:sp>
            <p:nvSpPr>
              <p:cNvPr id="75" name="Freeform 324">
                <a:extLst>
                  <a:ext uri="{FF2B5EF4-FFF2-40B4-BE49-F238E27FC236}">
                    <a16:creationId xmlns:a16="http://schemas.microsoft.com/office/drawing/2014/main" id="{B128BDCE-CB8E-4A48-9693-E7FD0C5AA99C}"/>
                  </a:ext>
                </a:extLst>
              </p:cNvPr>
              <p:cNvSpPr>
                <a:spLocks noEditPoints="1"/>
              </p:cNvSpPr>
              <p:nvPr/>
            </p:nvSpPr>
            <p:spPr bwMode="auto">
              <a:xfrm>
                <a:off x="2017" y="70"/>
                <a:ext cx="156" cy="212"/>
              </a:xfrm>
              <a:custGeom>
                <a:avLst/>
                <a:gdLst>
                  <a:gd name="T0" fmla="*/ 90 w 235"/>
                  <a:gd name="T1" fmla="*/ 215 h 320"/>
                  <a:gd name="T2" fmla="*/ 107 w 235"/>
                  <a:gd name="T3" fmla="*/ 224 h 320"/>
                  <a:gd name="T4" fmla="*/ 96 w 235"/>
                  <a:gd name="T5" fmla="*/ 234 h 320"/>
                  <a:gd name="T6" fmla="*/ 92 w 235"/>
                  <a:gd name="T7" fmla="*/ 276 h 320"/>
                  <a:gd name="T8" fmla="*/ 106 w 235"/>
                  <a:gd name="T9" fmla="*/ 270 h 320"/>
                  <a:gd name="T10" fmla="*/ 92 w 235"/>
                  <a:gd name="T11" fmla="*/ 257 h 320"/>
                  <a:gd name="T12" fmla="*/ 87 w 235"/>
                  <a:gd name="T13" fmla="*/ 270 h 320"/>
                  <a:gd name="T14" fmla="*/ 58 w 235"/>
                  <a:gd name="T15" fmla="*/ 233 h 320"/>
                  <a:gd name="T16" fmla="*/ 61 w 235"/>
                  <a:gd name="T17" fmla="*/ 216 h 320"/>
                  <a:gd name="T18" fmla="*/ 44 w 235"/>
                  <a:gd name="T19" fmla="*/ 228 h 320"/>
                  <a:gd name="T20" fmla="*/ 63 w 235"/>
                  <a:gd name="T21" fmla="*/ 185 h 320"/>
                  <a:gd name="T22" fmla="*/ 58 w 235"/>
                  <a:gd name="T23" fmla="*/ 171 h 320"/>
                  <a:gd name="T24" fmla="*/ 43 w 235"/>
                  <a:gd name="T25" fmla="*/ 181 h 320"/>
                  <a:gd name="T26" fmla="*/ 96 w 235"/>
                  <a:gd name="T27" fmla="*/ 192 h 320"/>
                  <a:gd name="T28" fmla="*/ 106 w 235"/>
                  <a:gd name="T29" fmla="*/ 177 h 320"/>
                  <a:gd name="T30" fmla="*/ 86 w 235"/>
                  <a:gd name="T31" fmla="*/ 181 h 320"/>
                  <a:gd name="T32" fmla="*/ 92 w 235"/>
                  <a:gd name="T33" fmla="*/ 148 h 320"/>
                  <a:gd name="T34" fmla="*/ 107 w 235"/>
                  <a:gd name="T35" fmla="*/ 138 h 320"/>
                  <a:gd name="T36" fmla="*/ 98 w 235"/>
                  <a:gd name="T37" fmla="*/ 128 h 320"/>
                  <a:gd name="T38" fmla="*/ 87 w 235"/>
                  <a:gd name="T39" fmla="*/ 142 h 320"/>
                  <a:gd name="T40" fmla="*/ 58 w 235"/>
                  <a:gd name="T41" fmla="*/ 148 h 320"/>
                  <a:gd name="T42" fmla="*/ 61 w 235"/>
                  <a:gd name="T43" fmla="*/ 131 h 320"/>
                  <a:gd name="T44" fmla="*/ 52 w 235"/>
                  <a:gd name="T45" fmla="*/ 128 h 320"/>
                  <a:gd name="T46" fmla="*/ 43 w 235"/>
                  <a:gd name="T47" fmla="*/ 138 h 320"/>
                  <a:gd name="T48" fmla="*/ 54 w 235"/>
                  <a:gd name="T49" fmla="*/ 106 h 320"/>
                  <a:gd name="T50" fmla="*/ 61 w 235"/>
                  <a:gd name="T51" fmla="*/ 88 h 320"/>
                  <a:gd name="T52" fmla="*/ 48 w 235"/>
                  <a:gd name="T53" fmla="*/ 87 h 320"/>
                  <a:gd name="T54" fmla="*/ 46 w 235"/>
                  <a:gd name="T55" fmla="*/ 103 h 320"/>
                  <a:gd name="T56" fmla="*/ 100 w 235"/>
                  <a:gd name="T57" fmla="*/ 105 h 320"/>
                  <a:gd name="T58" fmla="*/ 104 w 235"/>
                  <a:gd name="T59" fmla="*/ 88 h 320"/>
                  <a:gd name="T60" fmla="*/ 86 w 235"/>
                  <a:gd name="T61" fmla="*/ 96 h 320"/>
                  <a:gd name="T62" fmla="*/ 100 w 235"/>
                  <a:gd name="T63" fmla="*/ 63 h 320"/>
                  <a:gd name="T64" fmla="*/ 106 w 235"/>
                  <a:gd name="T65" fmla="*/ 49 h 320"/>
                  <a:gd name="T66" fmla="*/ 87 w 235"/>
                  <a:gd name="T67" fmla="*/ 49 h 320"/>
                  <a:gd name="T68" fmla="*/ 50 w 235"/>
                  <a:gd name="T69" fmla="*/ 63 h 320"/>
                  <a:gd name="T70" fmla="*/ 63 w 235"/>
                  <a:gd name="T71" fmla="*/ 49 h 320"/>
                  <a:gd name="T72" fmla="*/ 43 w 235"/>
                  <a:gd name="T73" fmla="*/ 53 h 320"/>
                  <a:gd name="T74" fmla="*/ 182 w 235"/>
                  <a:gd name="T75" fmla="*/ 234 h 320"/>
                  <a:gd name="T76" fmla="*/ 191 w 235"/>
                  <a:gd name="T77" fmla="*/ 220 h 320"/>
                  <a:gd name="T78" fmla="*/ 184 w 235"/>
                  <a:gd name="T79" fmla="*/ 213 h 320"/>
                  <a:gd name="T80" fmla="*/ 174 w 235"/>
                  <a:gd name="T81" fmla="*/ 216 h 320"/>
                  <a:gd name="T82" fmla="*/ 174 w 235"/>
                  <a:gd name="T83" fmla="*/ 231 h 320"/>
                  <a:gd name="T84" fmla="*/ 186 w 235"/>
                  <a:gd name="T85" fmla="*/ 191 h 320"/>
                  <a:gd name="T86" fmla="*/ 191 w 235"/>
                  <a:gd name="T87" fmla="*/ 177 h 320"/>
                  <a:gd name="T88" fmla="*/ 174 w 235"/>
                  <a:gd name="T89" fmla="*/ 173 h 320"/>
                  <a:gd name="T90" fmla="*/ 174 w 235"/>
                  <a:gd name="T91" fmla="*/ 189 h 320"/>
                  <a:gd name="T92" fmla="*/ 186 w 235"/>
                  <a:gd name="T93" fmla="*/ 148 h 320"/>
                  <a:gd name="T94" fmla="*/ 189 w 235"/>
                  <a:gd name="T95" fmla="*/ 131 h 320"/>
                  <a:gd name="T96" fmla="*/ 174 w 235"/>
                  <a:gd name="T97" fmla="*/ 131 h 320"/>
                  <a:gd name="T98" fmla="*/ 235 w 235"/>
                  <a:gd name="T99" fmla="*/ 96 h 320"/>
                  <a:gd name="T100" fmla="*/ 0 w 235"/>
                  <a:gd name="T101" fmla="*/ 309 h 320"/>
                  <a:gd name="T102" fmla="*/ 150 w 235"/>
                  <a:gd name="T103" fmla="*/ 10 h 320"/>
                  <a:gd name="T104" fmla="*/ 22 w 235"/>
                  <a:gd name="T105" fmla="*/ 298 h 320"/>
                  <a:gd name="T106" fmla="*/ 64 w 235"/>
                  <a:gd name="T107" fmla="*/ 266 h 320"/>
                  <a:gd name="T108" fmla="*/ 22 w 235"/>
                  <a:gd name="T109" fmla="*/ 21 h 320"/>
                  <a:gd name="T110" fmla="*/ 150 w 235"/>
                  <a:gd name="T111" fmla="*/ 298 h 320"/>
                  <a:gd name="T112" fmla="*/ 192 w 235"/>
                  <a:gd name="T113" fmla="*/ 266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35" h="320">
                    <a:moveTo>
                      <a:pt x="87" y="228"/>
                    </a:moveTo>
                    <a:cubicBezTo>
                      <a:pt x="86" y="226"/>
                      <a:pt x="86" y="225"/>
                      <a:pt x="86" y="224"/>
                    </a:cubicBezTo>
                    <a:cubicBezTo>
                      <a:pt x="86" y="221"/>
                      <a:pt x="87" y="218"/>
                      <a:pt x="89" y="216"/>
                    </a:cubicBezTo>
                    <a:cubicBezTo>
                      <a:pt x="89" y="216"/>
                      <a:pt x="90" y="215"/>
                      <a:pt x="90" y="215"/>
                    </a:cubicBezTo>
                    <a:cubicBezTo>
                      <a:pt x="91" y="214"/>
                      <a:pt x="92" y="214"/>
                      <a:pt x="92" y="214"/>
                    </a:cubicBezTo>
                    <a:cubicBezTo>
                      <a:pt x="93" y="214"/>
                      <a:pt x="94" y="213"/>
                      <a:pt x="94" y="213"/>
                    </a:cubicBezTo>
                    <a:cubicBezTo>
                      <a:pt x="98" y="212"/>
                      <a:pt x="101" y="214"/>
                      <a:pt x="104" y="216"/>
                    </a:cubicBezTo>
                    <a:cubicBezTo>
                      <a:pt x="106" y="218"/>
                      <a:pt x="107" y="221"/>
                      <a:pt x="107" y="224"/>
                    </a:cubicBezTo>
                    <a:cubicBezTo>
                      <a:pt x="107" y="225"/>
                      <a:pt x="107" y="226"/>
                      <a:pt x="106" y="228"/>
                    </a:cubicBezTo>
                    <a:cubicBezTo>
                      <a:pt x="106" y="229"/>
                      <a:pt x="105" y="230"/>
                      <a:pt x="104" y="231"/>
                    </a:cubicBezTo>
                    <a:cubicBezTo>
                      <a:pt x="103" y="232"/>
                      <a:pt x="102" y="233"/>
                      <a:pt x="100" y="233"/>
                    </a:cubicBezTo>
                    <a:cubicBezTo>
                      <a:pt x="99" y="234"/>
                      <a:pt x="98" y="234"/>
                      <a:pt x="96" y="234"/>
                    </a:cubicBezTo>
                    <a:cubicBezTo>
                      <a:pt x="93" y="234"/>
                      <a:pt x="91" y="233"/>
                      <a:pt x="89" y="231"/>
                    </a:cubicBezTo>
                    <a:cubicBezTo>
                      <a:pt x="88" y="230"/>
                      <a:pt x="87" y="229"/>
                      <a:pt x="87" y="228"/>
                    </a:cubicBezTo>
                    <a:close/>
                    <a:moveTo>
                      <a:pt x="89" y="274"/>
                    </a:moveTo>
                    <a:cubicBezTo>
                      <a:pt x="90" y="275"/>
                      <a:pt x="91" y="276"/>
                      <a:pt x="92" y="276"/>
                    </a:cubicBezTo>
                    <a:cubicBezTo>
                      <a:pt x="94" y="277"/>
                      <a:pt x="95" y="277"/>
                      <a:pt x="96" y="277"/>
                    </a:cubicBezTo>
                    <a:cubicBezTo>
                      <a:pt x="98" y="277"/>
                      <a:pt x="99" y="277"/>
                      <a:pt x="100" y="276"/>
                    </a:cubicBezTo>
                    <a:cubicBezTo>
                      <a:pt x="102" y="276"/>
                      <a:pt x="103" y="275"/>
                      <a:pt x="104" y="274"/>
                    </a:cubicBezTo>
                    <a:cubicBezTo>
                      <a:pt x="105" y="273"/>
                      <a:pt x="106" y="272"/>
                      <a:pt x="106" y="270"/>
                    </a:cubicBezTo>
                    <a:cubicBezTo>
                      <a:pt x="107" y="269"/>
                      <a:pt x="107" y="268"/>
                      <a:pt x="107" y="266"/>
                    </a:cubicBezTo>
                    <a:cubicBezTo>
                      <a:pt x="107" y="265"/>
                      <a:pt x="107" y="264"/>
                      <a:pt x="106" y="262"/>
                    </a:cubicBezTo>
                    <a:cubicBezTo>
                      <a:pt x="106" y="261"/>
                      <a:pt x="105" y="260"/>
                      <a:pt x="104" y="259"/>
                    </a:cubicBezTo>
                    <a:cubicBezTo>
                      <a:pt x="101" y="256"/>
                      <a:pt x="96" y="255"/>
                      <a:pt x="92" y="257"/>
                    </a:cubicBezTo>
                    <a:cubicBezTo>
                      <a:pt x="91" y="257"/>
                      <a:pt x="90" y="258"/>
                      <a:pt x="89" y="259"/>
                    </a:cubicBezTo>
                    <a:cubicBezTo>
                      <a:pt x="88" y="260"/>
                      <a:pt x="87" y="261"/>
                      <a:pt x="87" y="262"/>
                    </a:cubicBezTo>
                    <a:cubicBezTo>
                      <a:pt x="86" y="264"/>
                      <a:pt x="86" y="265"/>
                      <a:pt x="86" y="266"/>
                    </a:cubicBezTo>
                    <a:cubicBezTo>
                      <a:pt x="86" y="268"/>
                      <a:pt x="86" y="269"/>
                      <a:pt x="87" y="270"/>
                    </a:cubicBezTo>
                    <a:cubicBezTo>
                      <a:pt x="87" y="272"/>
                      <a:pt x="88" y="273"/>
                      <a:pt x="89" y="274"/>
                    </a:cubicBezTo>
                    <a:close/>
                    <a:moveTo>
                      <a:pt x="46" y="231"/>
                    </a:moveTo>
                    <a:cubicBezTo>
                      <a:pt x="48" y="233"/>
                      <a:pt x="51" y="234"/>
                      <a:pt x="54" y="234"/>
                    </a:cubicBezTo>
                    <a:cubicBezTo>
                      <a:pt x="55" y="234"/>
                      <a:pt x="56" y="234"/>
                      <a:pt x="58" y="233"/>
                    </a:cubicBezTo>
                    <a:cubicBezTo>
                      <a:pt x="59" y="233"/>
                      <a:pt x="60" y="232"/>
                      <a:pt x="61" y="231"/>
                    </a:cubicBezTo>
                    <a:cubicBezTo>
                      <a:pt x="62" y="230"/>
                      <a:pt x="63" y="229"/>
                      <a:pt x="63" y="228"/>
                    </a:cubicBezTo>
                    <a:cubicBezTo>
                      <a:pt x="64" y="226"/>
                      <a:pt x="64" y="225"/>
                      <a:pt x="64" y="224"/>
                    </a:cubicBezTo>
                    <a:cubicBezTo>
                      <a:pt x="64" y="221"/>
                      <a:pt x="63" y="218"/>
                      <a:pt x="61" y="216"/>
                    </a:cubicBezTo>
                    <a:cubicBezTo>
                      <a:pt x="60" y="215"/>
                      <a:pt x="59" y="214"/>
                      <a:pt x="58" y="214"/>
                    </a:cubicBezTo>
                    <a:cubicBezTo>
                      <a:pt x="54" y="212"/>
                      <a:pt x="49" y="213"/>
                      <a:pt x="46" y="216"/>
                    </a:cubicBezTo>
                    <a:cubicBezTo>
                      <a:pt x="44" y="218"/>
                      <a:pt x="43" y="221"/>
                      <a:pt x="43" y="224"/>
                    </a:cubicBezTo>
                    <a:cubicBezTo>
                      <a:pt x="43" y="225"/>
                      <a:pt x="43" y="226"/>
                      <a:pt x="44" y="228"/>
                    </a:cubicBezTo>
                    <a:cubicBezTo>
                      <a:pt x="44" y="229"/>
                      <a:pt x="45" y="230"/>
                      <a:pt x="46" y="231"/>
                    </a:cubicBezTo>
                    <a:close/>
                    <a:moveTo>
                      <a:pt x="54" y="192"/>
                    </a:moveTo>
                    <a:cubicBezTo>
                      <a:pt x="57" y="192"/>
                      <a:pt x="59" y="191"/>
                      <a:pt x="61" y="189"/>
                    </a:cubicBezTo>
                    <a:cubicBezTo>
                      <a:pt x="62" y="188"/>
                      <a:pt x="63" y="186"/>
                      <a:pt x="63" y="185"/>
                    </a:cubicBezTo>
                    <a:cubicBezTo>
                      <a:pt x="64" y="184"/>
                      <a:pt x="64" y="182"/>
                      <a:pt x="64" y="181"/>
                    </a:cubicBezTo>
                    <a:cubicBezTo>
                      <a:pt x="64" y="180"/>
                      <a:pt x="64" y="178"/>
                      <a:pt x="63" y="177"/>
                    </a:cubicBezTo>
                    <a:cubicBezTo>
                      <a:pt x="63" y="176"/>
                      <a:pt x="62" y="174"/>
                      <a:pt x="61" y="173"/>
                    </a:cubicBezTo>
                    <a:cubicBezTo>
                      <a:pt x="60" y="172"/>
                      <a:pt x="59" y="172"/>
                      <a:pt x="58" y="171"/>
                    </a:cubicBezTo>
                    <a:cubicBezTo>
                      <a:pt x="55" y="170"/>
                      <a:pt x="52" y="170"/>
                      <a:pt x="50" y="171"/>
                    </a:cubicBezTo>
                    <a:cubicBezTo>
                      <a:pt x="48" y="172"/>
                      <a:pt x="47" y="172"/>
                      <a:pt x="46" y="173"/>
                    </a:cubicBezTo>
                    <a:cubicBezTo>
                      <a:pt x="45" y="174"/>
                      <a:pt x="44" y="176"/>
                      <a:pt x="44" y="177"/>
                    </a:cubicBezTo>
                    <a:cubicBezTo>
                      <a:pt x="43" y="178"/>
                      <a:pt x="43" y="180"/>
                      <a:pt x="43" y="181"/>
                    </a:cubicBezTo>
                    <a:cubicBezTo>
                      <a:pt x="43" y="184"/>
                      <a:pt x="44" y="187"/>
                      <a:pt x="46" y="189"/>
                    </a:cubicBezTo>
                    <a:cubicBezTo>
                      <a:pt x="48" y="191"/>
                      <a:pt x="51" y="192"/>
                      <a:pt x="54" y="192"/>
                    </a:cubicBezTo>
                    <a:close/>
                    <a:moveTo>
                      <a:pt x="92" y="191"/>
                    </a:moveTo>
                    <a:cubicBezTo>
                      <a:pt x="94" y="191"/>
                      <a:pt x="95" y="192"/>
                      <a:pt x="96" y="192"/>
                    </a:cubicBezTo>
                    <a:cubicBezTo>
                      <a:pt x="99" y="192"/>
                      <a:pt x="102" y="191"/>
                      <a:pt x="104" y="189"/>
                    </a:cubicBezTo>
                    <a:cubicBezTo>
                      <a:pt x="105" y="188"/>
                      <a:pt x="106" y="186"/>
                      <a:pt x="106" y="185"/>
                    </a:cubicBezTo>
                    <a:cubicBezTo>
                      <a:pt x="107" y="184"/>
                      <a:pt x="107" y="182"/>
                      <a:pt x="107" y="181"/>
                    </a:cubicBezTo>
                    <a:cubicBezTo>
                      <a:pt x="107" y="180"/>
                      <a:pt x="107" y="178"/>
                      <a:pt x="106" y="177"/>
                    </a:cubicBezTo>
                    <a:cubicBezTo>
                      <a:pt x="106" y="176"/>
                      <a:pt x="105" y="174"/>
                      <a:pt x="104" y="173"/>
                    </a:cubicBezTo>
                    <a:cubicBezTo>
                      <a:pt x="100" y="169"/>
                      <a:pt x="93" y="169"/>
                      <a:pt x="89" y="173"/>
                    </a:cubicBezTo>
                    <a:cubicBezTo>
                      <a:pt x="88" y="174"/>
                      <a:pt x="87" y="176"/>
                      <a:pt x="87" y="177"/>
                    </a:cubicBezTo>
                    <a:cubicBezTo>
                      <a:pt x="86" y="178"/>
                      <a:pt x="86" y="180"/>
                      <a:pt x="86" y="181"/>
                    </a:cubicBezTo>
                    <a:cubicBezTo>
                      <a:pt x="86" y="184"/>
                      <a:pt x="87" y="187"/>
                      <a:pt x="89" y="189"/>
                    </a:cubicBezTo>
                    <a:cubicBezTo>
                      <a:pt x="90" y="190"/>
                      <a:pt x="91" y="190"/>
                      <a:pt x="92" y="191"/>
                    </a:cubicBezTo>
                    <a:close/>
                    <a:moveTo>
                      <a:pt x="89" y="146"/>
                    </a:moveTo>
                    <a:cubicBezTo>
                      <a:pt x="90" y="147"/>
                      <a:pt x="91" y="148"/>
                      <a:pt x="92" y="148"/>
                    </a:cubicBezTo>
                    <a:cubicBezTo>
                      <a:pt x="94" y="149"/>
                      <a:pt x="95" y="149"/>
                      <a:pt x="96" y="149"/>
                    </a:cubicBezTo>
                    <a:cubicBezTo>
                      <a:pt x="98" y="149"/>
                      <a:pt x="99" y="149"/>
                      <a:pt x="100" y="148"/>
                    </a:cubicBezTo>
                    <a:cubicBezTo>
                      <a:pt x="102" y="148"/>
                      <a:pt x="103" y="147"/>
                      <a:pt x="104" y="146"/>
                    </a:cubicBezTo>
                    <a:cubicBezTo>
                      <a:pt x="106" y="144"/>
                      <a:pt x="107" y="141"/>
                      <a:pt x="107" y="138"/>
                    </a:cubicBezTo>
                    <a:cubicBezTo>
                      <a:pt x="107" y="136"/>
                      <a:pt x="106" y="133"/>
                      <a:pt x="104" y="131"/>
                    </a:cubicBezTo>
                    <a:cubicBezTo>
                      <a:pt x="103" y="130"/>
                      <a:pt x="103" y="130"/>
                      <a:pt x="102" y="129"/>
                    </a:cubicBezTo>
                    <a:cubicBezTo>
                      <a:pt x="102" y="129"/>
                      <a:pt x="101" y="129"/>
                      <a:pt x="100" y="129"/>
                    </a:cubicBezTo>
                    <a:cubicBezTo>
                      <a:pt x="100" y="128"/>
                      <a:pt x="99" y="128"/>
                      <a:pt x="98" y="128"/>
                    </a:cubicBezTo>
                    <a:cubicBezTo>
                      <a:pt x="96" y="127"/>
                      <a:pt x="94" y="128"/>
                      <a:pt x="92" y="129"/>
                    </a:cubicBezTo>
                    <a:cubicBezTo>
                      <a:pt x="91" y="129"/>
                      <a:pt x="90" y="130"/>
                      <a:pt x="89" y="131"/>
                    </a:cubicBezTo>
                    <a:cubicBezTo>
                      <a:pt x="87" y="133"/>
                      <a:pt x="86" y="136"/>
                      <a:pt x="86" y="138"/>
                    </a:cubicBezTo>
                    <a:cubicBezTo>
                      <a:pt x="86" y="140"/>
                      <a:pt x="86" y="141"/>
                      <a:pt x="87" y="142"/>
                    </a:cubicBezTo>
                    <a:cubicBezTo>
                      <a:pt x="87" y="144"/>
                      <a:pt x="88" y="145"/>
                      <a:pt x="89" y="146"/>
                    </a:cubicBezTo>
                    <a:close/>
                    <a:moveTo>
                      <a:pt x="50" y="148"/>
                    </a:moveTo>
                    <a:cubicBezTo>
                      <a:pt x="51" y="149"/>
                      <a:pt x="52" y="149"/>
                      <a:pt x="54" y="149"/>
                    </a:cubicBezTo>
                    <a:cubicBezTo>
                      <a:pt x="55" y="149"/>
                      <a:pt x="56" y="149"/>
                      <a:pt x="58" y="148"/>
                    </a:cubicBezTo>
                    <a:cubicBezTo>
                      <a:pt x="59" y="148"/>
                      <a:pt x="60" y="147"/>
                      <a:pt x="61" y="146"/>
                    </a:cubicBezTo>
                    <a:cubicBezTo>
                      <a:pt x="62" y="145"/>
                      <a:pt x="63" y="144"/>
                      <a:pt x="63" y="142"/>
                    </a:cubicBezTo>
                    <a:cubicBezTo>
                      <a:pt x="64" y="141"/>
                      <a:pt x="64" y="140"/>
                      <a:pt x="64" y="138"/>
                    </a:cubicBezTo>
                    <a:cubicBezTo>
                      <a:pt x="64" y="136"/>
                      <a:pt x="63" y="133"/>
                      <a:pt x="61" y="131"/>
                    </a:cubicBezTo>
                    <a:cubicBezTo>
                      <a:pt x="61" y="130"/>
                      <a:pt x="60" y="130"/>
                      <a:pt x="60" y="129"/>
                    </a:cubicBezTo>
                    <a:cubicBezTo>
                      <a:pt x="59" y="129"/>
                      <a:pt x="58" y="129"/>
                      <a:pt x="58" y="129"/>
                    </a:cubicBezTo>
                    <a:cubicBezTo>
                      <a:pt x="57" y="128"/>
                      <a:pt x="56" y="128"/>
                      <a:pt x="56" y="128"/>
                    </a:cubicBezTo>
                    <a:cubicBezTo>
                      <a:pt x="54" y="128"/>
                      <a:pt x="53" y="128"/>
                      <a:pt x="52" y="128"/>
                    </a:cubicBezTo>
                    <a:cubicBezTo>
                      <a:pt x="51" y="128"/>
                      <a:pt x="50" y="128"/>
                      <a:pt x="50" y="129"/>
                    </a:cubicBezTo>
                    <a:cubicBezTo>
                      <a:pt x="49" y="129"/>
                      <a:pt x="48" y="129"/>
                      <a:pt x="48" y="129"/>
                    </a:cubicBezTo>
                    <a:cubicBezTo>
                      <a:pt x="47" y="130"/>
                      <a:pt x="47" y="130"/>
                      <a:pt x="46" y="131"/>
                    </a:cubicBezTo>
                    <a:cubicBezTo>
                      <a:pt x="44" y="133"/>
                      <a:pt x="43" y="136"/>
                      <a:pt x="43" y="138"/>
                    </a:cubicBezTo>
                    <a:cubicBezTo>
                      <a:pt x="43" y="141"/>
                      <a:pt x="44" y="144"/>
                      <a:pt x="46" y="146"/>
                    </a:cubicBezTo>
                    <a:cubicBezTo>
                      <a:pt x="47" y="147"/>
                      <a:pt x="48" y="148"/>
                      <a:pt x="50" y="148"/>
                    </a:cubicBezTo>
                    <a:close/>
                    <a:moveTo>
                      <a:pt x="50" y="105"/>
                    </a:moveTo>
                    <a:cubicBezTo>
                      <a:pt x="51" y="106"/>
                      <a:pt x="52" y="106"/>
                      <a:pt x="54" y="106"/>
                    </a:cubicBezTo>
                    <a:cubicBezTo>
                      <a:pt x="57" y="106"/>
                      <a:pt x="59" y="105"/>
                      <a:pt x="61" y="103"/>
                    </a:cubicBezTo>
                    <a:cubicBezTo>
                      <a:pt x="63" y="101"/>
                      <a:pt x="64" y="99"/>
                      <a:pt x="64" y="96"/>
                    </a:cubicBezTo>
                    <a:cubicBezTo>
                      <a:pt x="64" y="94"/>
                      <a:pt x="64" y="93"/>
                      <a:pt x="63" y="92"/>
                    </a:cubicBezTo>
                    <a:cubicBezTo>
                      <a:pt x="63" y="90"/>
                      <a:pt x="62" y="89"/>
                      <a:pt x="61" y="88"/>
                    </a:cubicBezTo>
                    <a:cubicBezTo>
                      <a:pt x="60" y="87"/>
                      <a:pt x="59" y="86"/>
                      <a:pt x="58" y="86"/>
                    </a:cubicBezTo>
                    <a:cubicBezTo>
                      <a:pt x="56" y="85"/>
                      <a:pt x="54" y="85"/>
                      <a:pt x="52" y="85"/>
                    </a:cubicBezTo>
                    <a:cubicBezTo>
                      <a:pt x="51" y="85"/>
                      <a:pt x="50" y="86"/>
                      <a:pt x="50" y="86"/>
                    </a:cubicBezTo>
                    <a:cubicBezTo>
                      <a:pt x="49" y="86"/>
                      <a:pt x="48" y="86"/>
                      <a:pt x="48" y="87"/>
                    </a:cubicBezTo>
                    <a:cubicBezTo>
                      <a:pt x="47" y="87"/>
                      <a:pt x="47" y="88"/>
                      <a:pt x="46" y="88"/>
                    </a:cubicBezTo>
                    <a:cubicBezTo>
                      <a:pt x="45" y="89"/>
                      <a:pt x="44" y="90"/>
                      <a:pt x="44" y="92"/>
                    </a:cubicBezTo>
                    <a:cubicBezTo>
                      <a:pt x="43" y="93"/>
                      <a:pt x="43" y="94"/>
                      <a:pt x="43" y="96"/>
                    </a:cubicBezTo>
                    <a:cubicBezTo>
                      <a:pt x="43" y="99"/>
                      <a:pt x="44" y="101"/>
                      <a:pt x="46" y="103"/>
                    </a:cubicBezTo>
                    <a:cubicBezTo>
                      <a:pt x="47" y="104"/>
                      <a:pt x="48" y="105"/>
                      <a:pt x="50" y="105"/>
                    </a:cubicBezTo>
                    <a:close/>
                    <a:moveTo>
                      <a:pt x="92" y="105"/>
                    </a:moveTo>
                    <a:cubicBezTo>
                      <a:pt x="94" y="106"/>
                      <a:pt x="95" y="106"/>
                      <a:pt x="96" y="106"/>
                    </a:cubicBezTo>
                    <a:cubicBezTo>
                      <a:pt x="98" y="106"/>
                      <a:pt x="99" y="106"/>
                      <a:pt x="100" y="105"/>
                    </a:cubicBezTo>
                    <a:cubicBezTo>
                      <a:pt x="102" y="105"/>
                      <a:pt x="103" y="104"/>
                      <a:pt x="104" y="103"/>
                    </a:cubicBezTo>
                    <a:cubicBezTo>
                      <a:pt x="106" y="101"/>
                      <a:pt x="107" y="99"/>
                      <a:pt x="107" y="96"/>
                    </a:cubicBezTo>
                    <a:cubicBezTo>
                      <a:pt x="107" y="94"/>
                      <a:pt x="107" y="93"/>
                      <a:pt x="106" y="92"/>
                    </a:cubicBezTo>
                    <a:cubicBezTo>
                      <a:pt x="106" y="90"/>
                      <a:pt x="105" y="89"/>
                      <a:pt x="104" y="88"/>
                    </a:cubicBezTo>
                    <a:cubicBezTo>
                      <a:pt x="101" y="85"/>
                      <a:pt x="96" y="84"/>
                      <a:pt x="92" y="86"/>
                    </a:cubicBezTo>
                    <a:cubicBezTo>
                      <a:pt x="91" y="86"/>
                      <a:pt x="90" y="87"/>
                      <a:pt x="89" y="88"/>
                    </a:cubicBezTo>
                    <a:cubicBezTo>
                      <a:pt x="88" y="89"/>
                      <a:pt x="87" y="90"/>
                      <a:pt x="87" y="92"/>
                    </a:cubicBezTo>
                    <a:cubicBezTo>
                      <a:pt x="86" y="93"/>
                      <a:pt x="86" y="94"/>
                      <a:pt x="86" y="96"/>
                    </a:cubicBezTo>
                    <a:cubicBezTo>
                      <a:pt x="86" y="99"/>
                      <a:pt x="87" y="101"/>
                      <a:pt x="89" y="103"/>
                    </a:cubicBezTo>
                    <a:cubicBezTo>
                      <a:pt x="90" y="104"/>
                      <a:pt x="91" y="105"/>
                      <a:pt x="92" y="105"/>
                    </a:cubicBezTo>
                    <a:close/>
                    <a:moveTo>
                      <a:pt x="96" y="64"/>
                    </a:moveTo>
                    <a:cubicBezTo>
                      <a:pt x="98" y="64"/>
                      <a:pt x="99" y="63"/>
                      <a:pt x="100" y="63"/>
                    </a:cubicBezTo>
                    <a:cubicBezTo>
                      <a:pt x="102" y="62"/>
                      <a:pt x="103" y="62"/>
                      <a:pt x="104" y="61"/>
                    </a:cubicBezTo>
                    <a:cubicBezTo>
                      <a:pt x="105" y="59"/>
                      <a:pt x="106" y="58"/>
                      <a:pt x="106" y="57"/>
                    </a:cubicBezTo>
                    <a:cubicBezTo>
                      <a:pt x="107" y="56"/>
                      <a:pt x="107" y="54"/>
                      <a:pt x="107" y="53"/>
                    </a:cubicBezTo>
                    <a:cubicBezTo>
                      <a:pt x="107" y="52"/>
                      <a:pt x="107" y="50"/>
                      <a:pt x="106" y="49"/>
                    </a:cubicBezTo>
                    <a:cubicBezTo>
                      <a:pt x="106" y="48"/>
                      <a:pt x="105" y="46"/>
                      <a:pt x="104" y="45"/>
                    </a:cubicBezTo>
                    <a:cubicBezTo>
                      <a:pt x="103" y="44"/>
                      <a:pt x="102" y="44"/>
                      <a:pt x="100" y="43"/>
                    </a:cubicBezTo>
                    <a:cubicBezTo>
                      <a:pt x="97" y="41"/>
                      <a:pt x="92" y="42"/>
                      <a:pt x="89" y="45"/>
                    </a:cubicBezTo>
                    <a:cubicBezTo>
                      <a:pt x="88" y="46"/>
                      <a:pt x="87" y="48"/>
                      <a:pt x="87" y="49"/>
                    </a:cubicBezTo>
                    <a:cubicBezTo>
                      <a:pt x="86" y="50"/>
                      <a:pt x="86" y="52"/>
                      <a:pt x="86" y="53"/>
                    </a:cubicBezTo>
                    <a:cubicBezTo>
                      <a:pt x="86" y="56"/>
                      <a:pt x="87" y="59"/>
                      <a:pt x="89" y="61"/>
                    </a:cubicBezTo>
                    <a:cubicBezTo>
                      <a:pt x="91" y="63"/>
                      <a:pt x="93" y="64"/>
                      <a:pt x="96" y="64"/>
                    </a:cubicBezTo>
                    <a:close/>
                    <a:moveTo>
                      <a:pt x="50" y="63"/>
                    </a:moveTo>
                    <a:cubicBezTo>
                      <a:pt x="51" y="63"/>
                      <a:pt x="52" y="64"/>
                      <a:pt x="54" y="64"/>
                    </a:cubicBezTo>
                    <a:cubicBezTo>
                      <a:pt x="57" y="64"/>
                      <a:pt x="59" y="63"/>
                      <a:pt x="61" y="61"/>
                    </a:cubicBezTo>
                    <a:cubicBezTo>
                      <a:pt x="63" y="59"/>
                      <a:pt x="64" y="56"/>
                      <a:pt x="64" y="53"/>
                    </a:cubicBezTo>
                    <a:cubicBezTo>
                      <a:pt x="64" y="52"/>
                      <a:pt x="64" y="50"/>
                      <a:pt x="63" y="49"/>
                    </a:cubicBezTo>
                    <a:cubicBezTo>
                      <a:pt x="63" y="48"/>
                      <a:pt x="62" y="46"/>
                      <a:pt x="61" y="45"/>
                    </a:cubicBezTo>
                    <a:cubicBezTo>
                      <a:pt x="57" y="41"/>
                      <a:pt x="50" y="41"/>
                      <a:pt x="46" y="45"/>
                    </a:cubicBezTo>
                    <a:cubicBezTo>
                      <a:pt x="45" y="46"/>
                      <a:pt x="44" y="48"/>
                      <a:pt x="44" y="49"/>
                    </a:cubicBezTo>
                    <a:cubicBezTo>
                      <a:pt x="43" y="50"/>
                      <a:pt x="43" y="52"/>
                      <a:pt x="43" y="53"/>
                    </a:cubicBezTo>
                    <a:cubicBezTo>
                      <a:pt x="43" y="56"/>
                      <a:pt x="44" y="59"/>
                      <a:pt x="46" y="61"/>
                    </a:cubicBezTo>
                    <a:cubicBezTo>
                      <a:pt x="47" y="62"/>
                      <a:pt x="48" y="62"/>
                      <a:pt x="50" y="63"/>
                    </a:cubicBezTo>
                    <a:close/>
                    <a:moveTo>
                      <a:pt x="174" y="231"/>
                    </a:moveTo>
                    <a:cubicBezTo>
                      <a:pt x="176" y="233"/>
                      <a:pt x="179" y="234"/>
                      <a:pt x="182" y="234"/>
                    </a:cubicBezTo>
                    <a:cubicBezTo>
                      <a:pt x="184" y="234"/>
                      <a:pt x="187" y="233"/>
                      <a:pt x="189" y="231"/>
                    </a:cubicBezTo>
                    <a:cubicBezTo>
                      <a:pt x="190" y="230"/>
                      <a:pt x="191" y="229"/>
                      <a:pt x="191" y="228"/>
                    </a:cubicBezTo>
                    <a:cubicBezTo>
                      <a:pt x="192" y="226"/>
                      <a:pt x="192" y="225"/>
                      <a:pt x="192" y="224"/>
                    </a:cubicBezTo>
                    <a:cubicBezTo>
                      <a:pt x="192" y="222"/>
                      <a:pt x="192" y="221"/>
                      <a:pt x="191" y="220"/>
                    </a:cubicBezTo>
                    <a:cubicBezTo>
                      <a:pt x="191" y="218"/>
                      <a:pt x="190" y="217"/>
                      <a:pt x="189" y="216"/>
                    </a:cubicBezTo>
                    <a:cubicBezTo>
                      <a:pt x="189" y="216"/>
                      <a:pt x="188" y="215"/>
                      <a:pt x="188" y="215"/>
                    </a:cubicBezTo>
                    <a:cubicBezTo>
                      <a:pt x="187" y="214"/>
                      <a:pt x="186" y="214"/>
                      <a:pt x="186" y="214"/>
                    </a:cubicBezTo>
                    <a:cubicBezTo>
                      <a:pt x="185" y="214"/>
                      <a:pt x="184" y="213"/>
                      <a:pt x="184" y="213"/>
                    </a:cubicBezTo>
                    <a:cubicBezTo>
                      <a:pt x="182" y="213"/>
                      <a:pt x="181" y="213"/>
                      <a:pt x="180" y="213"/>
                    </a:cubicBezTo>
                    <a:cubicBezTo>
                      <a:pt x="179" y="213"/>
                      <a:pt x="178" y="214"/>
                      <a:pt x="178" y="214"/>
                    </a:cubicBezTo>
                    <a:cubicBezTo>
                      <a:pt x="177" y="214"/>
                      <a:pt x="176" y="214"/>
                      <a:pt x="176" y="215"/>
                    </a:cubicBezTo>
                    <a:cubicBezTo>
                      <a:pt x="175" y="215"/>
                      <a:pt x="175" y="216"/>
                      <a:pt x="174" y="216"/>
                    </a:cubicBezTo>
                    <a:cubicBezTo>
                      <a:pt x="173" y="217"/>
                      <a:pt x="172" y="218"/>
                      <a:pt x="172" y="220"/>
                    </a:cubicBezTo>
                    <a:cubicBezTo>
                      <a:pt x="171" y="221"/>
                      <a:pt x="171" y="222"/>
                      <a:pt x="171" y="224"/>
                    </a:cubicBezTo>
                    <a:cubicBezTo>
                      <a:pt x="171" y="225"/>
                      <a:pt x="171" y="226"/>
                      <a:pt x="172" y="228"/>
                    </a:cubicBezTo>
                    <a:cubicBezTo>
                      <a:pt x="172" y="229"/>
                      <a:pt x="173" y="230"/>
                      <a:pt x="174" y="231"/>
                    </a:cubicBezTo>
                    <a:close/>
                    <a:moveTo>
                      <a:pt x="174" y="189"/>
                    </a:moveTo>
                    <a:cubicBezTo>
                      <a:pt x="175" y="190"/>
                      <a:pt x="176" y="190"/>
                      <a:pt x="178" y="191"/>
                    </a:cubicBezTo>
                    <a:cubicBezTo>
                      <a:pt x="179" y="191"/>
                      <a:pt x="180" y="192"/>
                      <a:pt x="182" y="192"/>
                    </a:cubicBezTo>
                    <a:cubicBezTo>
                      <a:pt x="183" y="192"/>
                      <a:pt x="184" y="191"/>
                      <a:pt x="186" y="191"/>
                    </a:cubicBezTo>
                    <a:cubicBezTo>
                      <a:pt x="187" y="190"/>
                      <a:pt x="188" y="190"/>
                      <a:pt x="189" y="189"/>
                    </a:cubicBezTo>
                    <a:cubicBezTo>
                      <a:pt x="190" y="188"/>
                      <a:pt x="191" y="186"/>
                      <a:pt x="191" y="185"/>
                    </a:cubicBezTo>
                    <a:cubicBezTo>
                      <a:pt x="192" y="184"/>
                      <a:pt x="192" y="182"/>
                      <a:pt x="192" y="181"/>
                    </a:cubicBezTo>
                    <a:cubicBezTo>
                      <a:pt x="192" y="180"/>
                      <a:pt x="192" y="178"/>
                      <a:pt x="191" y="177"/>
                    </a:cubicBezTo>
                    <a:cubicBezTo>
                      <a:pt x="191" y="176"/>
                      <a:pt x="190" y="174"/>
                      <a:pt x="189" y="173"/>
                    </a:cubicBezTo>
                    <a:cubicBezTo>
                      <a:pt x="188" y="172"/>
                      <a:pt x="187" y="172"/>
                      <a:pt x="186" y="171"/>
                    </a:cubicBezTo>
                    <a:cubicBezTo>
                      <a:pt x="183" y="170"/>
                      <a:pt x="180" y="170"/>
                      <a:pt x="178" y="171"/>
                    </a:cubicBezTo>
                    <a:cubicBezTo>
                      <a:pt x="176" y="172"/>
                      <a:pt x="175" y="172"/>
                      <a:pt x="174" y="173"/>
                    </a:cubicBezTo>
                    <a:cubicBezTo>
                      <a:pt x="173" y="174"/>
                      <a:pt x="172" y="176"/>
                      <a:pt x="172" y="177"/>
                    </a:cubicBezTo>
                    <a:cubicBezTo>
                      <a:pt x="171" y="178"/>
                      <a:pt x="171" y="180"/>
                      <a:pt x="171" y="181"/>
                    </a:cubicBezTo>
                    <a:cubicBezTo>
                      <a:pt x="171" y="182"/>
                      <a:pt x="171" y="184"/>
                      <a:pt x="172" y="185"/>
                    </a:cubicBezTo>
                    <a:cubicBezTo>
                      <a:pt x="172" y="186"/>
                      <a:pt x="173" y="188"/>
                      <a:pt x="174" y="189"/>
                    </a:cubicBezTo>
                    <a:close/>
                    <a:moveTo>
                      <a:pt x="174" y="146"/>
                    </a:moveTo>
                    <a:cubicBezTo>
                      <a:pt x="175" y="147"/>
                      <a:pt x="176" y="148"/>
                      <a:pt x="178" y="148"/>
                    </a:cubicBezTo>
                    <a:cubicBezTo>
                      <a:pt x="179" y="149"/>
                      <a:pt x="180" y="149"/>
                      <a:pt x="182" y="149"/>
                    </a:cubicBezTo>
                    <a:cubicBezTo>
                      <a:pt x="183" y="149"/>
                      <a:pt x="184" y="149"/>
                      <a:pt x="186" y="148"/>
                    </a:cubicBezTo>
                    <a:cubicBezTo>
                      <a:pt x="187" y="148"/>
                      <a:pt x="188" y="147"/>
                      <a:pt x="189" y="146"/>
                    </a:cubicBezTo>
                    <a:cubicBezTo>
                      <a:pt x="190" y="145"/>
                      <a:pt x="191" y="144"/>
                      <a:pt x="191" y="142"/>
                    </a:cubicBezTo>
                    <a:cubicBezTo>
                      <a:pt x="192" y="141"/>
                      <a:pt x="192" y="140"/>
                      <a:pt x="192" y="138"/>
                    </a:cubicBezTo>
                    <a:cubicBezTo>
                      <a:pt x="192" y="136"/>
                      <a:pt x="191" y="133"/>
                      <a:pt x="189" y="131"/>
                    </a:cubicBezTo>
                    <a:cubicBezTo>
                      <a:pt x="187" y="128"/>
                      <a:pt x="183" y="127"/>
                      <a:pt x="180" y="128"/>
                    </a:cubicBezTo>
                    <a:cubicBezTo>
                      <a:pt x="179" y="128"/>
                      <a:pt x="178" y="128"/>
                      <a:pt x="178" y="129"/>
                    </a:cubicBezTo>
                    <a:cubicBezTo>
                      <a:pt x="177" y="129"/>
                      <a:pt x="176" y="129"/>
                      <a:pt x="176" y="129"/>
                    </a:cubicBezTo>
                    <a:cubicBezTo>
                      <a:pt x="175" y="130"/>
                      <a:pt x="175" y="130"/>
                      <a:pt x="174" y="131"/>
                    </a:cubicBezTo>
                    <a:cubicBezTo>
                      <a:pt x="172" y="133"/>
                      <a:pt x="171" y="136"/>
                      <a:pt x="171" y="138"/>
                    </a:cubicBezTo>
                    <a:cubicBezTo>
                      <a:pt x="171" y="140"/>
                      <a:pt x="171" y="141"/>
                      <a:pt x="172" y="142"/>
                    </a:cubicBezTo>
                    <a:cubicBezTo>
                      <a:pt x="172" y="144"/>
                      <a:pt x="173" y="145"/>
                      <a:pt x="174" y="146"/>
                    </a:cubicBezTo>
                    <a:close/>
                    <a:moveTo>
                      <a:pt x="235" y="96"/>
                    </a:moveTo>
                    <a:cubicBezTo>
                      <a:pt x="235" y="309"/>
                      <a:pt x="235" y="309"/>
                      <a:pt x="235" y="309"/>
                    </a:cubicBezTo>
                    <a:cubicBezTo>
                      <a:pt x="235" y="315"/>
                      <a:pt x="230" y="320"/>
                      <a:pt x="224" y="320"/>
                    </a:cubicBezTo>
                    <a:cubicBezTo>
                      <a:pt x="11" y="320"/>
                      <a:pt x="11" y="320"/>
                      <a:pt x="11" y="320"/>
                    </a:cubicBezTo>
                    <a:cubicBezTo>
                      <a:pt x="5" y="320"/>
                      <a:pt x="0" y="315"/>
                      <a:pt x="0" y="309"/>
                    </a:cubicBezTo>
                    <a:cubicBezTo>
                      <a:pt x="0" y="10"/>
                      <a:pt x="0" y="10"/>
                      <a:pt x="0" y="10"/>
                    </a:cubicBezTo>
                    <a:cubicBezTo>
                      <a:pt x="0" y="4"/>
                      <a:pt x="5" y="0"/>
                      <a:pt x="11" y="0"/>
                    </a:cubicBezTo>
                    <a:cubicBezTo>
                      <a:pt x="139" y="0"/>
                      <a:pt x="139" y="0"/>
                      <a:pt x="139" y="0"/>
                    </a:cubicBezTo>
                    <a:cubicBezTo>
                      <a:pt x="145" y="0"/>
                      <a:pt x="150" y="4"/>
                      <a:pt x="150" y="10"/>
                    </a:cubicBezTo>
                    <a:cubicBezTo>
                      <a:pt x="150" y="85"/>
                      <a:pt x="150" y="85"/>
                      <a:pt x="150" y="85"/>
                    </a:cubicBezTo>
                    <a:cubicBezTo>
                      <a:pt x="224" y="85"/>
                      <a:pt x="224" y="85"/>
                      <a:pt x="224" y="85"/>
                    </a:cubicBezTo>
                    <a:cubicBezTo>
                      <a:pt x="230" y="85"/>
                      <a:pt x="235" y="90"/>
                      <a:pt x="235" y="96"/>
                    </a:cubicBezTo>
                    <a:close/>
                    <a:moveTo>
                      <a:pt x="22" y="298"/>
                    </a:moveTo>
                    <a:cubicBezTo>
                      <a:pt x="43" y="298"/>
                      <a:pt x="43" y="298"/>
                      <a:pt x="43" y="298"/>
                    </a:cubicBezTo>
                    <a:cubicBezTo>
                      <a:pt x="43" y="266"/>
                      <a:pt x="43" y="266"/>
                      <a:pt x="43" y="266"/>
                    </a:cubicBezTo>
                    <a:cubicBezTo>
                      <a:pt x="43" y="260"/>
                      <a:pt x="48" y="256"/>
                      <a:pt x="54" y="256"/>
                    </a:cubicBezTo>
                    <a:cubicBezTo>
                      <a:pt x="60" y="256"/>
                      <a:pt x="64" y="260"/>
                      <a:pt x="64" y="266"/>
                    </a:cubicBezTo>
                    <a:cubicBezTo>
                      <a:pt x="64" y="298"/>
                      <a:pt x="64" y="298"/>
                      <a:pt x="64" y="298"/>
                    </a:cubicBezTo>
                    <a:cubicBezTo>
                      <a:pt x="128" y="298"/>
                      <a:pt x="128" y="298"/>
                      <a:pt x="128" y="298"/>
                    </a:cubicBezTo>
                    <a:cubicBezTo>
                      <a:pt x="128" y="21"/>
                      <a:pt x="128" y="21"/>
                      <a:pt x="128" y="21"/>
                    </a:cubicBezTo>
                    <a:cubicBezTo>
                      <a:pt x="22" y="21"/>
                      <a:pt x="22" y="21"/>
                      <a:pt x="22" y="21"/>
                    </a:cubicBezTo>
                    <a:lnTo>
                      <a:pt x="22" y="298"/>
                    </a:lnTo>
                    <a:close/>
                    <a:moveTo>
                      <a:pt x="214" y="106"/>
                    </a:moveTo>
                    <a:cubicBezTo>
                      <a:pt x="150" y="106"/>
                      <a:pt x="150" y="106"/>
                      <a:pt x="150" y="106"/>
                    </a:cubicBezTo>
                    <a:cubicBezTo>
                      <a:pt x="150" y="298"/>
                      <a:pt x="150" y="298"/>
                      <a:pt x="150" y="298"/>
                    </a:cubicBezTo>
                    <a:cubicBezTo>
                      <a:pt x="171" y="298"/>
                      <a:pt x="171" y="298"/>
                      <a:pt x="171" y="298"/>
                    </a:cubicBezTo>
                    <a:cubicBezTo>
                      <a:pt x="171" y="266"/>
                      <a:pt x="171" y="266"/>
                      <a:pt x="171" y="266"/>
                    </a:cubicBezTo>
                    <a:cubicBezTo>
                      <a:pt x="171" y="260"/>
                      <a:pt x="176" y="256"/>
                      <a:pt x="182" y="256"/>
                    </a:cubicBezTo>
                    <a:cubicBezTo>
                      <a:pt x="188" y="256"/>
                      <a:pt x="192" y="260"/>
                      <a:pt x="192" y="266"/>
                    </a:cubicBezTo>
                    <a:cubicBezTo>
                      <a:pt x="192" y="298"/>
                      <a:pt x="192" y="298"/>
                      <a:pt x="192" y="298"/>
                    </a:cubicBezTo>
                    <a:cubicBezTo>
                      <a:pt x="214" y="298"/>
                      <a:pt x="214" y="298"/>
                      <a:pt x="214" y="298"/>
                    </a:cubicBezTo>
                    <a:lnTo>
                      <a:pt x="214" y="106"/>
                    </a:lnTo>
                    <a:close/>
                  </a:path>
                </a:pathLst>
              </a:custGeom>
              <a:solidFill>
                <a:srgbClr val="62B5E5">
                  <a:lumMod val="75000"/>
                </a:srgb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000000"/>
                  </a:solidFill>
                  <a:effectLst/>
                  <a:uLnTx/>
                  <a:uFillTx/>
                  <a:latin typeface="Verdana"/>
                </a:endParaRPr>
              </a:p>
            </p:txBody>
          </p:sp>
          <p:sp>
            <p:nvSpPr>
              <p:cNvPr id="76" name="Freeform 325">
                <a:extLst>
                  <a:ext uri="{FF2B5EF4-FFF2-40B4-BE49-F238E27FC236}">
                    <a16:creationId xmlns:a16="http://schemas.microsoft.com/office/drawing/2014/main" id="{5B0ACAC0-C9DB-442A-ABD9-977AA3C49E4F}"/>
                  </a:ext>
                </a:extLst>
              </p:cNvPr>
              <p:cNvSpPr>
                <a:spLocks noEditPoints="1"/>
              </p:cNvSpPr>
              <p:nvPr/>
            </p:nvSpPr>
            <p:spPr bwMode="auto">
              <a:xfrm>
                <a:off x="1925" y="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rgbClr val="62B5E5">
                  <a:lumMod val="75000"/>
                </a:srgb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dirty="0">
                  <a:ln>
                    <a:noFill/>
                  </a:ln>
                  <a:solidFill>
                    <a:srgbClr val="000000"/>
                  </a:solidFill>
                  <a:effectLst/>
                  <a:uLnTx/>
                  <a:uFillTx/>
                  <a:latin typeface="Verdana"/>
                </a:endParaRPr>
              </a:p>
            </p:txBody>
          </p:sp>
        </p:grpSp>
      </p:grpSp>
      <p:cxnSp>
        <p:nvCxnSpPr>
          <p:cNvPr id="92" name="Straight Connector 91">
            <a:extLst>
              <a:ext uri="{FF2B5EF4-FFF2-40B4-BE49-F238E27FC236}">
                <a16:creationId xmlns:a16="http://schemas.microsoft.com/office/drawing/2014/main" id="{419DF651-4B17-4D10-B72A-D35979DCC001}"/>
              </a:ext>
            </a:extLst>
          </p:cNvPr>
          <p:cNvCxnSpPr/>
          <p:nvPr/>
        </p:nvCxnSpPr>
        <p:spPr>
          <a:xfrm flipV="1">
            <a:off x="5728180" y="885230"/>
            <a:ext cx="9626" cy="936000"/>
          </a:xfrm>
          <a:prstGeom prst="line">
            <a:avLst/>
          </a:prstGeom>
          <a:noFill/>
          <a:ln w="9525" cap="flat" cmpd="sng" algn="ctr">
            <a:solidFill>
              <a:srgbClr val="44546A"/>
            </a:solidFill>
            <a:prstDash val="solid"/>
          </a:ln>
          <a:effectLst/>
        </p:spPr>
      </p:cxnSp>
      <p:sp>
        <p:nvSpPr>
          <p:cNvPr id="93" name="Arc 92">
            <a:extLst>
              <a:ext uri="{FF2B5EF4-FFF2-40B4-BE49-F238E27FC236}">
                <a16:creationId xmlns:a16="http://schemas.microsoft.com/office/drawing/2014/main" id="{610BF175-D1B3-4B21-A007-1D604117A731}"/>
              </a:ext>
            </a:extLst>
          </p:cNvPr>
          <p:cNvSpPr/>
          <p:nvPr/>
        </p:nvSpPr>
        <p:spPr>
          <a:xfrm>
            <a:off x="3814724" y="934620"/>
            <a:ext cx="5138048" cy="4672078"/>
          </a:xfrm>
          <a:prstGeom prst="arc">
            <a:avLst>
              <a:gd name="adj1" fmla="val 15890835"/>
              <a:gd name="adj2" fmla="val 19657471"/>
            </a:avLst>
          </a:prstGeom>
          <a:noFill/>
          <a:ln w="9525" cap="flat" cmpd="sng" algn="ctr">
            <a:solidFill>
              <a:srgbClr val="44546A"/>
            </a:solidFill>
            <a:prstDash val="solid"/>
            <a:headEnd type="none" w="med" len="med"/>
            <a:tailEnd type="triangle" w="med" len="med"/>
          </a:ln>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a:ln>
                <a:noFill/>
              </a:ln>
              <a:solidFill>
                <a:srgbClr val="000000"/>
              </a:solidFill>
              <a:effectLst/>
              <a:uLnTx/>
              <a:uFillTx/>
              <a:latin typeface="Verdana"/>
              <a:ea typeface="+mn-ea"/>
              <a:cs typeface="+mn-cs"/>
            </a:endParaRPr>
          </a:p>
        </p:txBody>
      </p:sp>
      <p:sp>
        <p:nvSpPr>
          <p:cNvPr id="94" name="TextBox 93">
            <a:extLst>
              <a:ext uri="{FF2B5EF4-FFF2-40B4-BE49-F238E27FC236}">
                <a16:creationId xmlns:a16="http://schemas.microsoft.com/office/drawing/2014/main" id="{89EAFBDF-0A0C-4493-A2BD-AE394A7A1E03}"/>
              </a:ext>
            </a:extLst>
          </p:cNvPr>
          <p:cNvSpPr txBox="1"/>
          <p:nvPr/>
        </p:nvSpPr>
        <p:spPr>
          <a:xfrm>
            <a:off x="6871479" y="1086640"/>
            <a:ext cx="1845909" cy="169277"/>
          </a:xfrm>
          <a:prstGeom prst="rect">
            <a:avLst/>
          </a:prstGeom>
          <a:solidFill>
            <a:srgbClr val="FFFFFF"/>
          </a:solidFill>
        </p:spPr>
        <p:txBody>
          <a:bodyPr wrap="square" lIns="0" tIns="0" rIns="0" bIns="0" rtlCol="0">
            <a:spAutoFit/>
          </a:bodyPr>
          <a:lstStyle/>
          <a:p>
            <a:pPr marL="0" marR="0" lvl="0" indent="0" defTabSz="1219170" eaLnBrk="1" fontAlgn="auto" latinLnBrk="0" hangingPunct="1">
              <a:lnSpc>
                <a:spcPct val="100000"/>
              </a:lnSpc>
              <a:spcBef>
                <a:spcPts val="0"/>
              </a:spcBef>
              <a:spcAft>
                <a:spcPts val="1333"/>
              </a:spcAft>
              <a:buClrTx/>
              <a:buSzPct val="100000"/>
              <a:buFontTx/>
              <a:buNone/>
              <a:tabLst/>
              <a:defRPr/>
            </a:pPr>
            <a:r>
              <a:rPr kumimoji="0" lang="en-US" sz="1100" b="1" i="0" u="none" strike="noStrike" kern="0" cap="none" spc="0" normalizeH="0" baseline="0" noProof="0" dirty="0">
                <a:ln>
                  <a:noFill/>
                </a:ln>
                <a:solidFill>
                  <a:srgbClr val="0097A9">
                    <a:lumMod val="75000"/>
                  </a:srgbClr>
                </a:solidFill>
                <a:effectLst/>
                <a:uLnTx/>
                <a:uFillTx/>
                <a:latin typeface="Verdana"/>
              </a:rPr>
              <a:t>Asset Heavy Models</a:t>
            </a:r>
            <a:endParaRPr kumimoji="0" lang="en-IN" sz="1100" b="1" i="0" u="none" strike="noStrike" kern="0" cap="none" spc="0" normalizeH="0" baseline="0" noProof="0" dirty="0" err="1">
              <a:ln>
                <a:noFill/>
              </a:ln>
              <a:solidFill>
                <a:srgbClr val="0097A9">
                  <a:lumMod val="75000"/>
                </a:srgbClr>
              </a:solidFill>
              <a:effectLst/>
              <a:uLnTx/>
              <a:uFillTx/>
              <a:latin typeface="Verdana"/>
            </a:endParaRPr>
          </a:p>
        </p:txBody>
      </p:sp>
      <p:sp>
        <p:nvSpPr>
          <p:cNvPr id="95" name="TextBox 94">
            <a:extLst>
              <a:ext uri="{FF2B5EF4-FFF2-40B4-BE49-F238E27FC236}">
                <a16:creationId xmlns:a16="http://schemas.microsoft.com/office/drawing/2014/main" id="{8A960666-EC60-4BCA-B703-0CB1BB2A9043}"/>
              </a:ext>
            </a:extLst>
          </p:cNvPr>
          <p:cNvSpPr txBox="1"/>
          <p:nvPr/>
        </p:nvSpPr>
        <p:spPr>
          <a:xfrm>
            <a:off x="3043654" y="1294262"/>
            <a:ext cx="1816005" cy="169277"/>
          </a:xfrm>
          <a:prstGeom prst="rect">
            <a:avLst/>
          </a:prstGeom>
          <a:solidFill>
            <a:srgbClr val="FFFFFF"/>
          </a:solidFill>
        </p:spPr>
        <p:txBody>
          <a:bodyPr wrap="square" lIns="0" tIns="0" rIns="0" bIns="0" rtlCol="0">
            <a:spAutoFit/>
          </a:bodyPr>
          <a:lstStyle/>
          <a:p>
            <a:pPr marL="0" marR="0" lvl="0" indent="0" defTabSz="1219170" eaLnBrk="1" fontAlgn="auto" latinLnBrk="0" hangingPunct="1">
              <a:lnSpc>
                <a:spcPct val="100000"/>
              </a:lnSpc>
              <a:spcBef>
                <a:spcPts val="0"/>
              </a:spcBef>
              <a:spcAft>
                <a:spcPts val="1333"/>
              </a:spcAft>
              <a:buClrTx/>
              <a:buSzPct val="100000"/>
              <a:buFontTx/>
              <a:buNone/>
              <a:tabLst/>
              <a:defRPr/>
            </a:pPr>
            <a:r>
              <a:rPr kumimoji="0" lang="en-US" sz="1100" b="1" i="0" u="none" strike="noStrike" kern="0" cap="none" spc="0" normalizeH="0" baseline="0" noProof="0" dirty="0">
                <a:ln>
                  <a:noFill/>
                </a:ln>
                <a:solidFill>
                  <a:srgbClr val="0097A9">
                    <a:lumMod val="75000"/>
                  </a:srgbClr>
                </a:solidFill>
                <a:effectLst/>
                <a:uLnTx/>
                <a:uFillTx/>
                <a:latin typeface="Verdana"/>
              </a:rPr>
              <a:t>Asset Light Models</a:t>
            </a:r>
            <a:endParaRPr kumimoji="0" lang="en-IN" sz="1100" b="1" i="0" u="none" strike="noStrike" kern="0" cap="none" spc="0" normalizeH="0" baseline="0" noProof="0" dirty="0" err="1">
              <a:ln>
                <a:noFill/>
              </a:ln>
              <a:solidFill>
                <a:srgbClr val="0097A9">
                  <a:lumMod val="75000"/>
                </a:srgbClr>
              </a:solidFill>
              <a:effectLst/>
              <a:uLnTx/>
              <a:uFillTx/>
              <a:latin typeface="Verdana"/>
            </a:endParaRPr>
          </a:p>
        </p:txBody>
      </p:sp>
      <p:sp>
        <p:nvSpPr>
          <p:cNvPr id="3" name="Arrow: Left 2">
            <a:hlinkClick r:id="rId2" action="ppaction://hlinksldjump"/>
            <a:extLst>
              <a:ext uri="{FF2B5EF4-FFF2-40B4-BE49-F238E27FC236}">
                <a16:creationId xmlns:a16="http://schemas.microsoft.com/office/drawing/2014/main" id="{63A340EB-C77D-40DA-8A3D-0CB00AC10509}"/>
              </a:ext>
            </a:extLst>
          </p:cNvPr>
          <p:cNvSpPr/>
          <p:nvPr/>
        </p:nvSpPr>
        <p:spPr bwMode="gray">
          <a:xfrm>
            <a:off x="10470121" y="5515711"/>
            <a:ext cx="994290" cy="593708"/>
          </a:xfrm>
          <a:prstGeom prst="leftArrow">
            <a:avLst/>
          </a:prstGeom>
          <a:ln>
            <a:headEnd/>
            <a:tailEnd/>
          </a:ln>
        </p:spPr>
        <p:style>
          <a:lnRef idx="2">
            <a:schemeClr val="accent5"/>
          </a:lnRef>
          <a:fillRef idx="1">
            <a:schemeClr val="lt1"/>
          </a:fillRef>
          <a:effectRef idx="0">
            <a:schemeClr val="accent5"/>
          </a:effectRef>
          <a:fontRef idx="minor">
            <a:schemeClr val="dk1"/>
          </a:fontRef>
        </p:style>
        <p:txBody>
          <a:bodyPr wrap="square" lIns="88900" tIns="88900" rIns="88900" bIns="88900" rtlCol="0" anchor="ctr"/>
          <a:lstStyle/>
          <a:p>
            <a:pPr algn="ctr">
              <a:lnSpc>
                <a:spcPct val="106000"/>
              </a:lnSpc>
              <a:buFont typeface="Wingdings 2" pitchFamily="18" charset="2"/>
              <a:buNone/>
            </a:pPr>
            <a:r>
              <a:rPr lang="en-US" sz="1600" b="1" dirty="0">
                <a:solidFill>
                  <a:schemeClr val="tx1"/>
                </a:solidFill>
              </a:rPr>
              <a:t>Back</a:t>
            </a:r>
          </a:p>
        </p:txBody>
      </p:sp>
    </p:spTree>
    <p:extLst>
      <p:ext uri="{BB962C8B-B14F-4D97-AF65-F5344CB8AC3E}">
        <p14:creationId xmlns:p14="http://schemas.microsoft.com/office/powerpoint/2010/main" val="122296556"/>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B_wXE3LygUiXWtN.LKNik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BL.8U2XjIkm.vghhXL.7V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dygDkcz6QEKAY6xDNPREf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vP72PjIRY0qnJMB9yu2B.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bTKbihb34UeZSUVv.f5oV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dawIlOwsk28Elw.20.SIA"/>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Deloitte Brand 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Brand Theme" id="{7F8E7B9C-D1E6-4EAB-A888-5889AFAC97F5}" vid="{EE3CB14B-24FA-49D6-9FDE-EB9FB3296A69}"/>
    </a:ext>
  </a:extLst>
</a:theme>
</file>

<file path=ppt/theme/theme3.xml><?xml version="1.0" encoding="utf-8"?>
<a:theme xmlns:a="http://schemas.openxmlformats.org/drawingml/2006/main" name="2_Deloitte Brand 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Brand Theme" id="{7F8E7B9C-D1E6-4EAB-A888-5889AFAC97F5}" vid="{EE3CB14B-24FA-49D6-9FDE-EB9FB3296A69}"/>
    </a:ext>
  </a:extLst>
</a:theme>
</file>

<file path=ppt/theme/theme4.xml><?xml version="1.0" encoding="utf-8"?>
<a:theme xmlns:a="http://schemas.openxmlformats.org/drawingml/2006/main" name="5_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5.xml><?xml version="1.0" encoding="utf-8"?>
<a:theme xmlns:a="http://schemas.openxmlformats.org/drawingml/2006/main" name="1_Deloitte_UK_Onscreen">
  <a:themeElements>
    <a:clrScheme name="Deloitte colors">
      <a:dk1>
        <a:srgbClr val="000000"/>
      </a:dk1>
      <a:lt1>
        <a:srgbClr val="FFFFFF"/>
      </a:lt1>
      <a:dk2>
        <a:srgbClr val="44546A"/>
      </a:dk2>
      <a:lt2>
        <a:srgbClr val="E7E6E6"/>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solidFill>
            <a:schemeClr val="accent3"/>
          </a:solidFill>
          <a:miter lim="800000"/>
          <a:headEnd/>
          <a:tailEnd/>
        </a:ln>
      </a:spPr>
      <a:bodyPr wrap="square" lIns="88900" tIns="88900" rIns="88900" bIns="88900" rtlCol="0" anchor="ctr"/>
      <a:lstStyle>
        <a:defPPr algn="ctr">
          <a:lnSpc>
            <a:spcPct val="106000"/>
          </a:lnSpc>
          <a:buFont typeface="Wingdings 2" pitchFamily="18" charset="2"/>
          <a:buNone/>
          <a:defRPr sz="1600" b="1" noProof="0" dirty="0" err="1">
            <a:solidFill>
              <a:schemeClr val="bg1"/>
            </a:solidFill>
          </a:defRPr>
        </a:defPPr>
      </a:lstStyle>
    </a:spDef>
    <a:lnDef>
      <a:spPr>
        <a:ln>
          <a:solidFill>
            <a:srgbClr val="44546A"/>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34000" indent="-234000">
          <a:spcBef>
            <a:spcPts val="0"/>
          </a:spcBef>
          <a:spcAft>
            <a:spcPts val="1333"/>
          </a:spcAft>
          <a:buSzPct val="100000"/>
          <a:buFont typeface="Arial"/>
          <a:buChar char="•"/>
          <a:defRPr sz="1200" noProof="0" dirty="0" err="1">
            <a:solidFill>
              <a:schemeClr val="tx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 widescreen (16-9).potx" id="{D15CC715-B911-44C1-9E94-DDBA3AD356C4}" vid="{6A3836AB-5DCF-4D2F-8285-FE1EF7A83340}"/>
    </a:ext>
  </a:extLst>
</a:theme>
</file>

<file path=ppt/theme/theme6.xml><?xml version="1.0" encoding="utf-8"?>
<a:theme xmlns:a="http://schemas.openxmlformats.org/drawingml/2006/main" name="Deloitte_UK_Onscreen">
  <a:themeElements>
    <a:clrScheme name="Deloitte colors">
      <a:dk1>
        <a:srgbClr val="000000"/>
      </a:dk1>
      <a:lt1>
        <a:srgbClr val="FFFFFF"/>
      </a:lt1>
      <a:dk2>
        <a:srgbClr val="44546A"/>
      </a:dk2>
      <a:lt2>
        <a:srgbClr val="E7E6E6"/>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solidFill>
            <a:schemeClr val="accent3"/>
          </a:solidFill>
          <a:miter lim="800000"/>
          <a:headEnd/>
          <a:tailEnd/>
        </a:ln>
      </a:spPr>
      <a:bodyPr wrap="square" lIns="88900" tIns="88900" rIns="88900" bIns="88900" rtlCol="0" anchor="ctr"/>
      <a:lstStyle>
        <a:defPPr algn="ctr">
          <a:lnSpc>
            <a:spcPct val="106000"/>
          </a:lnSpc>
          <a:buFont typeface="Wingdings 2" pitchFamily="18" charset="2"/>
          <a:buNone/>
          <a:defRPr sz="1600" b="1" noProof="0" dirty="0" err="1">
            <a:solidFill>
              <a:schemeClr val="bg1"/>
            </a:solidFill>
          </a:defRPr>
        </a:defPPr>
      </a:lstStyle>
    </a:spDef>
    <a:lnDef>
      <a:spPr>
        <a:ln>
          <a:solidFill>
            <a:srgbClr val="44546A"/>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34000" indent="-234000">
          <a:spcBef>
            <a:spcPts val="0"/>
          </a:spcBef>
          <a:spcAft>
            <a:spcPts val="1333"/>
          </a:spcAft>
          <a:buSzPct val="100000"/>
          <a:buFont typeface="Arial"/>
          <a:buChar char="•"/>
          <a:defRPr sz="1200" noProof="0" dirty="0" err="1">
            <a:solidFill>
              <a:schemeClr val="tx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 widescreen (16-9).potx" id="{D15CC715-B911-44C1-9E94-DDBA3AD356C4}" vid="{6A3836AB-5DCF-4D2F-8285-FE1EF7A83340}"/>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AAD109D6-D360-496C-A7CF-748378F45B2D}"/>
</file>

<file path=customXml/itemProps2.xml><?xml version="1.0" encoding="utf-8"?>
<ds:datastoreItem xmlns:ds="http://schemas.openxmlformats.org/officeDocument/2006/customXml" ds:itemID="{C1CA53B6-35D3-49CF-A61D-D589EBEE2C01}">
  <ds:schemaRefs>
    <ds:schemaRef ds:uri="http://schemas.microsoft.com/sharepoint/v3/contenttype/forms"/>
  </ds:schemaRefs>
</ds:datastoreItem>
</file>

<file path=customXml/itemProps3.xml><?xml version="1.0" encoding="utf-8"?>
<ds:datastoreItem xmlns:ds="http://schemas.openxmlformats.org/officeDocument/2006/customXml" ds:itemID="{C6319B39-F393-4B46-A5A6-06BB493D6F5D}">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2943</TotalTime>
  <Words>5345</Words>
  <Application>Microsoft Office PowerPoint</Application>
  <PresentationFormat>Widescreen</PresentationFormat>
  <Paragraphs>746</Paragraphs>
  <Slides>34</Slides>
  <Notes>4</Notes>
  <HiddenSlides>0</HiddenSlides>
  <MMClips>0</MMClips>
  <ScaleCrop>false</ScaleCrop>
  <HeadingPairs>
    <vt:vector size="8" baseType="variant">
      <vt:variant>
        <vt:lpstr>Fonts Used</vt:lpstr>
      </vt:variant>
      <vt:variant>
        <vt:i4>8</vt:i4>
      </vt:variant>
      <vt:variant>
        <vt:lpstr>Theme</vt:lpstr>
      </vt:variant>
      <vt:variant>
        <vt:i4>6</vt:i4>
      </vt:variant>
      <vt:variant>
        <vt:lpstr>Embedded OLE Servers</vt:lpstr>
      </vt:variant>
      <vt:variant>
        <vt:i4>2</vt:i4>
      </vt:variant>
      <vt:variant>
        <vt:lpstr>Slide Titles</vt:lpstr>
      </vt:variant>
      <vt:variant>
        <vt:i4>34</vt:i4>
      </vt:variant>
    </vt:vector>
  </HeadingPairs>
  <TitlesOfParts>
    <vt:vector size="50" baseType="lpstr">
      <vt:lpstr>Arial</vt:lpstr>
      <vt:lpstr>Calibri</vt:lpstr>
      <vt:lpstr>Calibri Light</vt:lpstr>
      <vt:lpstr>Courier New</vt:lpstr>
      <vt:lpstr>Symbol</vt:lpstr>
      <vt:lpstr>Verdana</vt:lpstr>
      <vt:lpstr>Wingdings</vt:lpstr>
      <vt:lpstr>Wingdings 2</vt:lpstr>
      <vt:lpstr>Office Theme</vt:lpstr>
      <vt:lpstr>1_Deloitte Brand Theme</vt:lpstr>
      <vt:lpstr>2_Deloitte Brand Theme</vt:lpstr>
      <vt:lpstr>5_Deloitte 16_9 onscreen</vt:lpstr>
      <vt:lpstr>1_Deloitte_UK_Onscreen</vt:lpstr>
      <vt:lpstr>Deloitte_UK_Onscreen</vt:lpstr>
      <vt:lpstr>think-cell Slide</vt:lpstr>
      <vt:lpstr>Chart</vt:lpstr>
      <vt:lpstr>PowerPoint Presentation</vt:lpstr>
      <vt:lpstr>PowerPoint Presentation</vt:lpstr>
      <vt:lpstr>PowerPoint Presentation</vt:lpstr>
      <vt:lpstr>Changing Industry trends leading to sector evolution</vt:lpstr>
      <vt:lpstr>Engagement drivers</vt:lpstr>
      <vt:lpstr>Scope of Engagement</vt:lpstr>
      <vt:lpstr>PowerPoint Presentation</vt:lpstr>
      <vt:lpstr>Our Approach &amp; Methodology </vt:lpstr>
      <vt:lpstr>Brief Overview </vt:lpstr>
      <vt:lpstr>Brief Overview </vt:lpstr>
      <vt:lpstr>Our Approach &amp; Methodology </vt:lpstr>
      <vt:lpstr>Our Approach &amp; Methodology </vt:lpstr>
      <vt:lpstr>Our Approach &amp; Methodology </vt:lpstr>
      <vt:lpstr>Our Approach &amp; Methodology </vt:lpstr>
      <vt:lpstr>Our Approach &amp; Methodology </vt:lpstr>
      <vt:lpstr>Our Approach &amp; Methodology </vt:lpstr>
      <vt:lpstr>Our Approach &amp; Methodology </vt:lpstr>
      <vt:lpstr>Our Approach &amp; Methodology </vt:lpstr>
      <vt:lpstr>PowerPoint Presentation</vt:lpstr>
      <vt:lpstr>Our team to serve you</vt:lpstr>
      <vt:lpstr>PowerPoint Presentation</vt:lpstr>
      <vt:lpstr>PowerPoint Presentation</vt:lpstr>
      <vt:lpstr>About Deloitte</vt:lpstr>
      <vt:lpstr>PowerPoint Presentation</vt:lpstr>
      <vt:lpstr>Presence in India</vt:lpstr>
      <vt:lpstr>Multidisciplinary capabilities in India- Integrating a global spectrum of capabilities </vt:lpstr>
      <vt:lpstr>PowerPoint Presentation</vt:lpstr>
      <vt:lpstr>PowerPoint Presentation</vt:lpstr>
      <vt:lpstr>Our selected credentials</vt:lpstr>
      <vt:lpstr>Our selected credentials</vt:lpstr>
      <vt:lpstr>Our selected credentials</vt:lpstr>
      <vt:lpstr>Our selected credentials</vt:lpstr>
      <vt:lpstr>Our selected credentials</vt:lpstr>
      <vt:lpstr>Opportunities in emerging areas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Chhabra, Kanika</dc:creator>
  <cp:lastModifiedBy>Mukherjee, Shouvik</cp:lastModifiedBy>
  <cp:revision>277</cp:revision>
  <dcterms:created xsi:type="dcterms:W3CDTF">2021-07-24T09:15:37Z</dcterms:created>
  <dcterms:modified xsi:type="dcterms:W3CDTF">2023-08-09T03:11:13Z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2021-07-24T09:15:37Z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c1cbf657-246a-486c-91e4-180fa2238000</vt:lpwstr>
  </property>
  <property fmtid="{D5CDD505-2E9C-101B-9397-08002B2CF9AE}" pid="8" name="MSIP_Label_ea60d57e-af5b-4752-ac57-3e4f28ca11dc_ContentBits">
    <vt:lpwstr>0</vt:lpwstr>
  </property>
  <property fmtid="{D5CDD505-2E9C-101B-9397-08002B2CF9AE}" pid="9" name="ContentTypeId">
    <vt:lpwstr>0x01010046EABACCD3B39C49923CC76F9A3899B0</vt:lpwstr>
  </property>
</Properties>
</file>