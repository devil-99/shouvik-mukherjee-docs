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1.xml" ContentType="application/vnd.openxmlformats-officedocument.presentationml.tags+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3" r:id="rId2"/>
  </p:sldMasterIdLst>
  <p:notesMasterIdLst>
    <p:notesMasterId r:id="rId18"/>
  </p:notesMasterIdLst>
  <p:sldIdLst>
    <p:sldId id="1037" r:id="rId3"/>
    <p:sldId id="567" r:id="rId4"/>
    <p:sldId id="1056" r:id="rId5"/>
    <p:sldId id="12502" r:id="rId6"/>
    <p:sldId id="580" r:id="rId7"/>
    <p:sldId id="586" r:id="rId8"/>
    <p:sldId id="12512" r:id="rId9"/>
    <p:sldId id="12511" r:id="rId10"/>
    <p:sldId id="1058" r:id="rId11"/>
    <p:sldId id="12505" r:id="rId12"/>
    <p:sldId id="12506" r:id="rId13"/>
    <p:sldId id="12509" r:id="rId14"/>
    <p:sldId id="12507" r:id="rId15"/>
    <p:sldId id="12508" r:id="rId16"/>
    <p:sldId id="1251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Kedia, Swati" initials="KS [2]" lastIdx="2" clrIdx="6">
    <p:extLst>
      <p:ext uri="{19B8F6BF-5375-455C-9EA6-DF929625EA0E}">
        <p15:presenceInfo xmlns:p15="http://schemas.microsoft.com/office/powerpoint/2012/main" userId="S::skedia@deloitte.com::693d19a9-c23d-4fd5-94fc-622627327a66" providerId="AD"/>
      </p:ext>
    </p:extLst>
  </p:cmAuthor>
  <p:cmAuthor id="1" name="Boreddy, Chandra (IN - Mumbai)" initials="BC(-M" lastIdx="349" clrIdx="0">
    <p:extLst>
      <p:ext uri="{19B8F6BF-5375-455C-9EA6-DF929625EA0E}">
        <p15:presenceInfo xmlns:p15="http://schemas.microsoft.com/office/powerpoint/2012/main" userId="S-1-5-21-776561741-1482476501-682003330-386381" providerId="AD"/>
      </p:ext>
    </p:extLst>
  </p:cmAuthor>
  <p:cmAuthor id="8" name="Boreddy, Chandra" initials="BC" lastIdx="10" clrIdx="7">
    <p:extLst>
      <p:ext uri="{19B8F6BF-5375-455C-9EA6-DF929625EA0E}">
        <p15:presenceInfo xmlns:p15="http://schemas.microsoft.com/office/powerpoint/2012/main" userId="S::cboreddy@deloitte.com::a1955fd4-26cd-494a-abf5-7ff2427d77f6" providerId="AD"/>
      </p:ext>
    </p:extLst>
  </p:cmAuthor>
  <p:cmAuthor id="2" name="Mariwala, Vibhav (IN - Mumbai)" initials="MV(-M" lastIdx="1" clrIdx="1">
    <p:extLst>
      <p:ext uri="{19B8F6BF-5375-455C-9EA6-DF929625EA0E}">
        <p15:presenceInfo xmlns:p15="http://schemas.microsoft.com/office/powerpoint/2012/main" userId="S-1-5-21-776561741-1482476501-682003330-1275715" providerId="AD"/>
      </p:ext>
    </p:extLst>
  </p:cmAuthor>
  <p:cmAuthor id="9" name="Sirola, Anurag" initials="SA" lastIdx="2" clrIdx="8">
    <p:extLst>
      <p:ext uri="{19B8F6BF-5375-455C-9EA6-DF929625EA0E}">
        <p15:presenceInfo xmlns:p15="http://schemas.microsoft.com/office/powerpoint/2012/main" userId="S::asirola@deloitte.com::b409848c-686c-47d6-ad4b-a9548698f8e1" providerId="AD"/>
      </p:ext>
    </p:extLst>
  </p:cmAuthor>
  <p:cmAuthor id="3" name="Joshi, Anjaney (IN - Mumbai)" initials="JA(-M" lastIdx="94" clrIdx="2">
    <p:extLst>
      <p:ext uri="{19B8F6BF-5375-455C-9EA6-DF929625EA0E}">
        <p15:presenceInfo xmlns:p15="http://schemas.microsoft.com/office/powerpoint/2012/main" userId="Joshi, Anjaney (IN - Mumbai)" providerId="None"/>
      </p:ext>
    </p:extLst>
  </p:cmAuthor>
  <p:cmAuthor id="4" name="Ram, Abhilasha (IN - Mumbai)" initials="RA(-M" lastIdx="33" clrIdx="3">
    <p:extLst>
      <p:ext uri="{19B8F6BF-5375-455C-9EA6-DF929625EA0E}">
        <p15:presenceInfo xmlns:p15="http://schemas.microsoft.com/office/powerpoint/2012/main" userId="S-1-5-21-776561741-1482476501-682003330-717519" providerId="AD"/>
      </p:ext>
    </p:extLst>
  </p:cmAuthor>
  <p:cmAuthor id="5" name="Joshi, Anjaney (IN - Mumbai)" initials="JA(-M [2]" lastIdx="62" clrIdx="4">
    <p:extLst>
      <p:ext uri="{19B8F6BF-5375-455C-9EA6-DF929625EA0E}">
        <p15:presenceInfo xmlns:p15="http://schemas.microsoft.com/office/powerpoint/2012/main" userId="S-1-5-21-776561741-1482476501-682003330-981311" providerId="AD"/>
      </p:ext>
    </p:extLst>
  </p:cmAuthor>
  <p:cmAuthor id="6" name="Kedia, Swati" initials="KS" lastIdx="31" clrIdx="5">
    <p:extLst>
      <p:ext uri="{19B8F6BF-5375-455C-9EA6-DF929625EA0E}">
        <p15:presenceInfo xmlns:p15="http://schemas.microsoft.com/office/powerpoint/2012/main" userId="S-1-5-21-776561741-1482476501-682003330-36989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88302" autoAdjust="0"/>
  </p:normalViewPr>
  <p:slideViewPr>
    <p:cSldViewPr snapToGrid="0">
      <p:cViewPr varScale="1">
        <p:scale>
          <a:sx n="72" d="100"/>
          <a:sy n="72" d="100"/>
        </p:scale>
        <p:origin x="104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customXml" Target="../customXml/item3.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ustomXml" Target="../customXml/item2.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ustomXml" Target="../customXml/item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homukherjee\Desktop\Market%20Study_Ampyr%20Energy\Final%20Versions\Tariff%20Schedule_Karnataka%20discom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homukherjee\Desktop\Market%20Study_Ampyr%20Energy\Final%20Versions\Tariff%20Schedule_Karnataka%20discom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homukherjee\Desktop\Market%20Study_Ampyr%20Energy\Final%20Versions\Tariff%20Schedule_Karnataka%20discoms.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570468480609"/>
          <c:y val="0.1900852806936407"/>
          <c:w val="0.46859063038781995"/>
          <c:h val="0.77475477629649514"/>
        </c:manualLayout>
      </c:layout>
      <c:doughnutChart>
        <c:varyColors val="1"/>
        <c:ser>
          <c:idx val="0"/>
          <c:order val="0"/>
          <c:tx>
            <c:strRef>
              <c:f>Sheet1!$B$1</c:f>
              <c:strCache>
                <c:ptCount val="1"/>
                <c:pt idx="0">
                  <c:v>Column1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9CD-4D86-9C24-9727C30C36C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5-59CD-4D86-9C24-9727C30C36C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4-59CD-4D86-9C24-9727C30C36C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3-59CD-4D86-9C24-9727C30C36CC}"/>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2-59CD-4D86-9C24-9727C30C36CC}"/>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861B-48B6-BD68-F22A9715CFE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A-861B-48B6-BD68-F22A9715CFE9}"/>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D-861B-48B6-BD68-F22A9715CFE9}"/>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C-861B-48B6-BD68-F22A9715CFE9}"/>
              </c:ext>
            </c:extLst>
          </c:dPt>
          <c:dLbls>
            <c:dLbl>
              <c:idx val="0"/>
              <c:layout>
                <c:manualLayout>
                  <c:x val="0.24097335841196196"/>
                  <c:y val="-5.3089834676357486E-2"/>
                </c:manualLayout>
              </c:layout>
              <c:tx>
                <c:rich>
                  <a:bodyPr/>
                  <a:lstStyle/>
                  <a:p>
                    <a:fld id="{CD39CA88-1759-4DA9-AD6B-D1172D3EFAA4}" type="CATEGORYNAME">
                      <a:rPr lang="en-US" smtClean="0"/>
                      <a:pPr/>
                      <a:t>[CATEGORY NAME]</a:t>
                    </a:fld>
                    <a:r>
                      <a:rPr lang="en-US" baseline="0" dirty="0"/>
                      <a:t> </a:t>
                    </a:r>
                    <a:fld id="{CC78F5B4-82C7-4B21-ACF1-DC7E081F0912}" type="PERCENTAGE">
                      <a:rPr lang="en-US" baseline="0" smtClean="0"/>
                      <a:pPr/>
                      <a:t>[PERCENTAGE]</a:t>
                    </a:fld>
                    <a:endParaRPr lang="en-US" baseline="0" dirty="0"/>
                  </a:p>
                </c:rich>
              </c:tx>
              <c:showLegendKey val="0"/>
              <c:showVal val="0"/>
              <c:showCatName val="1"/>
              <c:showSerName val="0"/>
              <c:showPercent val="1"/>
              <c:showBubbleSize val="0"/>
              <c:extLst>
                <c:ext xmlns:c15="http://schemas.microsoft.com/office/drawing/2012/chart" uri="{CE6537A1-D6FC-4f65-9D91-7224C49458BB}">
                  <c15:layout>
                    <c:manualLayout>
                      <c:w val="0.27122246122261595"/>
                      <c:h val="0.12444167498881087"/>
                    </c:manualLayout>
                  </c15:layout>
                  <c15:dlblFieldTable/>
                  <c15:showDataLabelsRange val="0"/>
                </c:ext>
                <c:ext xmlns:c16="http://schemas.microsoft.com/office/drawing/2014/chart" uri="{C3380CC4-5D6E-409C-BE32-E72D297353CC}">
                  <c16:uniqueId val="{00000001-59CD-4D86-9C24-9727C30C36CC}"/>
                </c:ext>
              </c:extLst>
            </c:dLbl>
            <c:dLbl>
              <c:idx val="1"/>
              <c:layout>
                <c:manualLayout>
                  <c:x val="0.13691369678587456"/>
                  <c:y val="2.0882054124312863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9CD-4D86-9C24-9727C30C36CC}"/>
                </c:ext>
              </c:extLst>
            </c:dLbl>
            <c:dLbl>
              <c:idx val="2"/>
              <c:layout>
                <c:manualLayout>
                  <c:x val="0.1378006868017855"/>
                  <c:y val="3.809226144903325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4-59CD-4D86-9C24-9727C30C36CC}"/>
                </c:ext>
              </c:extLst>
            </c:dLbl>
            <c:dLbl>
              <c:idx val="3"/>
              <c:layout>
                <c:manualLayout>
                  <c:x val="-0.16912787052524911"/>
                  <c:y val="2.966842766780651E-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9CD-4D86-9C24-9727C30C36CC}"/>
                </c:ext>
              </c:extLst>
            </c:dLbl>
            <c:dLbl>
              <c:idx val="4"/>
              <c:layout>
                <c:manualLayout>
                  <c:x val="-9.53848383089652E-2"/>
                  <c:y val="7.8971079876445194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2-59CD-4D86-9C24-9727C30C36CC}"/>
                </c:ext>
              </c:extLst>
            </c:dLbl>
            <c:dLbl>
              <c:idx val="5"/>
              <c:layout>
                <c:manualLayout>
                  <c:x val="-0.20248601050507553"/>
                  <c:y val="4.9991910757747468E-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861B-48B6-BD68-F22A9715CFE9}"/>
                </c:ext>
              </c:extLst>
            </c:dLbl>
            <c:dLbl>
              <c:idx val="6"/>
              <c:layout>
                <c:manualLayout>
                  <c:x val="-0.22035242319669984"/>
                  <c:y val="-0.1049830125912697"/>
                </c:manualLayout>
              </c:layout>
              <c:tx>
                <c:rich>
                  <a:bodyPr/>
                  <a:lstStyle/>
                  <a:p>
                    <a:fld id="{95B90C2F-61E8-4C94-96DA-878885594670}" type="CATEGORYNAME">
                      <a:rPr lang="en-US"/>
                      <a:pPr/>
                      <a:t>[CATEGORY NAME]</a:t>
                    </a:fld>
                    <a:r>
                      <a:rPr lang="en-US" baseline="0" dirty="0"/>
                      <a:t>
0.5%</a:t>
                    </a: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861B-48B6-BD68-F22A9715CFE9}"/>
                </c:ext>
              </c:extLst>
            </c:dLbl>
            <c:dLbl>
              <c:idx val="7"/>
              <c:layout>
                <c:manualLayout>
                  <c:x val="-0.10124300525253775"/>
                  <c:y val="-0.13497815904591817"/>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861B-48B6-BD68-F22A9715CFE9}"/>
                </c:ext>
              </c:extLst>
            </c:dLbl>
            <c:dLbl>
              <c:idx val="8"/>
              <c:layout>
                <c:manualLayout>
                  <c:x val="0.11910941794416206"/>
                  <c:y val="-0.1099822036670444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C-861B-48B6-BD68-F22A9715CFE9}"/>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Sheet1!$A$2:$A$10</c:f>
              <c:strCache>
                <c:ptCount val="9"/>
                <c:pt idx="0">
                  <c:v>Thermal</c:v>
                </c:pt>
                <c:pt idx="1">
                  <c:v>Hydro</c:v>
                </c:pt>
                <c:pt idx="2">
                  <c:v>Wind</c:v>
                </c:pt>
                <c:pt idx="3">
                  <c:v>CGS</c:v>
                </c:pt>
                <c:pt idx="4">
                  <c:v>Solar</c:v>
                </c:pt>
                <c:pt idx="5">
                  <c:v>Co-gen</c:v>
                </c:pt>
                <c:pt idx="6">
                  <c:v>Bio mass</c:v>
                </c:pt>
                <c:pt idx="7">
                  <c:v>Captive</c:v>
                </c:pt>
                <c:pt idx="8">
                  <c:v>IPP</c:v>
                </c:pt>
              </c:strCache>
            </c:strRef>
          </c:cat>
          <c:val>
            <c:numRef>
              <c:f>Sheet1!$B$2:$B$10</c:f>
              <c:numCache>
                <c:formatCode>0</c:formatCode>
                <c:ptCount val="9"/>
                <c:pt idx="0">
                  <c:v>5020</c:v>
                </c:pt>
                <c:pt idx="1">
                  <c:v>4701</c:v>
                </c:pt>
                <c:pt idx="2">
                  <c:v>4898</c:v>
                </c:pt>
                <c:pt idx="3">
                  <c:v>4158</c:v>
                </c:pt>
                <c:pt idx="4">
                  <c:v>7370</c:v>
                </c:pt>
                <c:pt idx="5" formatCode="General">
                  <c:v>1731</c:v>
                </c:pt>
                <c:pt idx="6" formatCode="General">
                  <c:v>139</c:v>
                </c:pt>
                <c:pt idx="7" formatCode="General">
                  <c:v>992</c:v>
                </c:pt>
                <c:pt idx="8" formatCode="General">
                  <c:v>1200</c:v>
                </c:pt>
              </c:numCache>
            </c:numRef>
          </c:val>
          <c:extLst>
            <c:ext xmlns:c16="http://schemas.microsoft.com/office/drawing/2014/chart" uri="{C3380CC4-5D6E-409C-BE32-E72D297353CC}">
              <c16:uniqueId val="{00000000-59CD-4D86-9C24-9727C30C36C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3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US" sz="1100" b="1" dirty="0"/>
              <a:t>Energy Demand - Supply Scenario in Karnataka (MUs)</a:t>
            </a:r>
          </a:p>
        </c:rich>
      </c:tx>
      <c:layout>
        <c:manualLayout>
          <c:xMode val="edge"/>
          <c:yMode val="edge"/>
          <c:x val="0.22941073890595487"/>
          <c:y val="1.9731986793552148E-2"/>
        </c:manualLayout>
      </c:layout>
      <c:overlay val="0"/>
      <c:spPr>
        <a:noFill/>
        <a:ln>
          <a:noFill/>
        </a:ln>
        <a:effectLst/>
      </c:spPr>
      <c:txPr>
        <a:bodyPr rot="0" spcFirstLastPara="1" vertOverflow="ellipsis" vert="horz" wrap="square" anchor="ctr" anchorCtr="1"/>
        <a:lstStyle/>
        <a:p>
          <a:pPr>
            <a:defRPr sz="13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title>
    <c:autoTitleDeleted val="0"/>
    <c:plotArea>
      <c:layout>
        <c:manualLayout>
          <c:layoutTarget val="inner"/>
          <c:xMode val="edge"/>
          <c:yMode val="edge"/>
          <c:x val="0.10778505723406918"/>
          <c:y val="0.1292720916682851"/>
          <c:w val="0.83352937209467703"/>
          <c:h val="0.63912307075566233"/>
        </c:manualLayout>
      </c:layout>
      <c:barChart>
        <c:barDir val="col"/>
        <c:grouping val="clustered"/>
        <c:varyColors val="0"/>
        <c:ser>
          <c:idx val="0"/>
          <c:order val="0"/>
          <c:tx>
            <c:strRef>
              <c:f>Sheet1!$B$1</c:f>
              <c:strCache>
                <c:ptCount val="1"/>
                <c:pt idx="0">
                  <c:v>Energy requirement</c:v>
                </c:pt>
              </c:strCache>
            </c:strRef>
          </c:tx>
          <c:spPr>
            <a:solidFill>
              <a:schemeClr val="accent1"/>
            </a:solidFill>
            <a:ln>
              <a:noFill/>
            </a:ln>
            <a:effectLst/>
          </c:spPr>
          <c:invertIfNegative val="0"/>
          <c:cat>
            <c:strRef>
              <c:f>Sheet1!$A$2:$A$9</c:f>
              <c:strCache>
                <c:ptCount val="8"/>
                <c:pt idx="0">
                  <c:v>FY13</c:v>
                </c:pt>
                <c:pt idx="1">
                  <c:v>FY14</c:v>
                </c:pt>
                <c:pt idx="2">
                  <c:v>FY15</c:v>
                </c:pt>
                <c:pt idx="3">
                  <c:v>FY16</c:v>
                </c:pt>
                <c:pt idx="4">
                  <c:v>FY17</c:v>
                </c:pt>
                <c:pt idx="5">
                  <c:v>FY18</c:v>
                </c:pt>
                <c:pt idx="6">
                  <c:v>FY19</c:v>
                </c:pt>
                <c:pt idx="7">
                  <c:v>FY20</c:v>
                </c:pt>
              </c:strCache>
            </c:strRef>
          </c:cat>
          <c:val>
            <c:numRef>
              <c:f>Sheet1!$B$2:$B$9</c:f>
              <c:numCache>
                <c:formatCode>#,##0</c:formatCode>
                <c:ptCount val="8"/>
                <c:pt idx="0">
                  <c:v>66274</c:v>
                </c:pt>
                <c:pt idx="1">
                  <c:v>64150</c:v>
                </c:pt>
                <c:pt idx="2">
                  <c:v>62643</c:v>
                </c:pt>
                <c:pt idx="3">
                  <c:v>64302</c:v>
                </c:pt>
                <c:pt idx="4">
                  <c:v>66900</c:v>
                </c:pt>
                <c:pt idx="5">
                  <c:v>67869</c:v>
                </c:pt>
                <c:pt idx="6">
                  <c:v>71764</c:v>
                </c:pt>
                <c:pt idx="7">
                  <c:v>72799</c:v>
                </c:pt>
              </c:numCache>
            </c:numRef>
          </c:val>
          <c:extLst>
            <c:ext xmlns:c16="http://schemas.microsoft.com/office/drawing/2014/chart" uri="{C3380CC4-5D6E-409C-BE32-E72D297353CC}">
              <c16:uniqueId val="{00000000-6CF9-4E83-84FD-BBC40E031675}"/>
            </c:ext>
          </c:extLst>
        </c:ser>
        <c:ser>
          <c:idx val="1"/>
          <c:order val="1"/>
          <c:tx>
            <c:strRef>
              <c:f>Sheet1!$C$1</c:f>
              <c:strCache>
                <c:ptCount val="1"/>
                <c:pt idx="0">
                  <c:v>Energy available</c:v>
                </c:pt>
              </c:strCache>
            </c:strRef>
          </c:tx>
          <c:spPr>
            <a:solidFill>
              <a:schemeClr val="accent2"/>
            </a:solidFill>
            <a:ln>
              <a:noFill/>
            </a:ln>
            <a:effectLst/>
          </c:spPr>
          <c:invertIfNegative val="0"/>
          <c:cat>
            <c:strRef>
              <c:f>Sheet1!$A$2:$A$9</c:f>
              <c:strCache>
                <c:ptCount val="8"/>
                <c:pt idx="0">
                  <c:v>FY13</c:v>
                </c:pt>
                <c:pt idx="1">
                  <c:v>FY14</c:v>
                </c:pt>
                <c:pt idx="2">
                  <c:v>FY15</c:v>
                </c:pt>
                <c:pt idx="3">
                  <c:v>FY16</c:v>
                </c:pt>
                <c:pt idx="4">
                  <c:v>FY17</c:v>
                </c:pt>
                <c:pt idx="5">
                  <c:v>FY18</c:v>
                </c:pt>
                <c:pt idx="6">
                  <c:v>FY19</c:v>
                </c:pt>
                <c:pt idx="7">
                  <c:v>FY20</c:v>
                </c:pt>
              </c:strCache>
            </c:strRef>
          </c:cat>
          <c:val>
            <c:numRef>
              <c:f>Sheet1!$C$2:$C$9</c:f>
              <c:numCache>
                <c:formatCode>#,##0</c:formatCode>
                <c:ptCount val="8"/>
                <c:pt idx="0">
                  <c:v>57044</c:v>
                </c:pt>
                <c:pt idx="1">
                  <c:v>58052</c:v>
                </c:pt>
                <c:pt idx="2">
                  <c:v>59926</c:v>
                </c:pt>
                <c:pt idx="3">
                  <c:v>60971</c:v>
                </c:pt>
                <c:pt idx="4">
                  <c:v>66538</c:v>
                </c:pt>
                <c:pt idx="5">
                  <c:v>67702</c:v>
                </c:pt>
                <c:pt idx="6">
                  <c:v>71695</c:v>
                </c:pt>
                <c:pt idx="7">
                  <c:v>72796</c:v>
                </c:pt>
              </c:numCache>
            </c:numRef>
          </c:val>
          <c:extLst>
            <c:ext xmlns:c16="http://schemas.microsoft.com/office/drawing/2014/chart" uri="{C3380CC4-5D6E-409C-BE32-E72D297353CC}">
              <c16:uniqueId val="{00000001-6CF9-4E83-84FD-BBC40E031675}"/>
            </c:ext>
          </c:extLst>
        </c:ser>
        <c:dLbls>
          <c:showLegendKey val="0"/>
          <c:showVal val="0"/>
          <c:showCatName val="0"/>
          <c:showSerName val="0"/>
          <c:showPercent val="0"/>
          <c:showBubbleSize val="0"/>
        </c:dLbls>
        <c:gapWidth val="219"/>
        <c:axId val="466593552"/>
        <c:axId val="466599824"/>
      </c:barChart>
      <c:lineChart>
        <c:grouping val="standard"/>
        <c:varyColors val="0"/>
        <c:ser>
          <c:idx val="2"/>
          <c:order val="2"/>
          <c:tx>
            <c:strRef>
              <c:f>Sheet1!$D$1</c:f>
              <c:strCache>
                <c:ptCount val="1"/>
                <c:pt idx="0">
                  <c:v>Energy deficit</c:v>
                </c:pt>
              </c:strCache>
            </c:strRef>
          </c:tx>
          <c:spPr>
            <a:ln w="28575" cap="rnd">
              <a:solidFill>
                <a:schemeClr val="accent3"/>
              </a:solidFill>
              <a:round/>
            </a:ln>
            <a:effectLst/>
          </c:spPr>
          <c:marker>
            <c:symbol val="none"/>
          </c:marker>
          <c:dPt>
            <c:idx val="4"/>
            <c:marker>
              <c:symbol val="none"/>
            </c:marker>
            <c:bubble3D val="0"/>
            <c:spPr>
              <a:ln w="28575" cap="rnd">
                <a:solidFill>
                  <a:schemeClr val="accent3"/>
                </a:solidFill>
                <a:round/>
              </a:ln>
              <a:effectLst/>
            </c:spPr>
            <c:extLst>
              <c:ext xmlns:c16="http://schemas.microsoft.com/office/drawing/2014/chart" uri="{C3380CC4-5D6E-409C-BE32-E72D297353CC}">
                <c16:uniqueId val="{00000001-8995-4B40-8471-DF8AF35C15B7}"/>
              </c:ext>
            </c:extLst>
          </c:dPt>
          <c:cat>
            <c:strRef>
              <c:f>Sheet1!$A$2:$A$9</c:f>
              <c:strCache>
                <c:ptCount val="8"/>
                <c:pt idx="0">
                  <c:v>FY13</c:v>
                </c:pt>
                <c:pt idx="1">
                  <c:v>FY14</c:v>
                </c:pt>
                <c:pt idx="2">
                  <c:v>FY15</c:v>
                </c:pt>
                <c:pt idx="3">
                  <c:v>FY16</c:v>
                </c:pt>
                <c:pt idx="4">
                  <c:v>FY17</c:v>
                </c:pt>
                <c:pt idx="5">
                  <c:v>FY18</c:v>
                </c:pt>
                <c:pt idx="6">
                  <c:v>FY19</c:v>
                </c:pt>
                <c:pt idx="7">
                  <c:v>FY20</c:v>
                </c:pt>
              </c:strCache>
            </c:strRef>
          </c:cat>
          <c:val>
            <c:numRef>
              <c:f>Sheet1!$D$2:$D$9</c:f>
              <c:numCache>
                <c:formatCode>0.0%</c:formatCode>
                <c:ptCount val="8"/>
                <c:pt idx="0">
                  <c:v>0.13927030207924676</c:v>
                </c:pt>
                <c:pt idx="1">
                  <c:v>9.5058456742010911E-2</c:v>
                </c:pt>
                <c:pt idx="2">
                  <c:v>4.3372763117986046E-2</c:v>
                </c:pt>
                <c:pt idx="3">
                  <c:v>5.1802432272713132E-2</c:v>
                </c:pt>
                <c:pt idx="4">
                  <c:v>5.4110612855007472E-3</c:v>
                </c:pt>
                <c:pt idx="5">
                  <c:v>2.4606226701439538E-3</c:v>
                </c:pt>
                <c:pt idx="6">
                  <c:v>9.6148486706426617E-4</c:v>
                </c:pt>
                <c:pt idx="7">
                  <c:v>4.1209357271391092E-5</c:v>
                </c:pt>
              </c:numCache>
            </c:numRef>
          </c:val>
          <c:smooth val="0"/>
          <c:extLst>
            <c:ext xmlns:c16="http://schemas.microsoft.com/office/drawing/2014/chart" uri="{C3380CC4-5D6E-409C-BE32-E72D297353CC}">
              <c16:uniqueId val="{00000001-893E-4652-B1B2-609E34BB4658}"/>
            </c:ext>
          </c:extLst>
        </c:ser>
        <c:dLbls>
          <c:showLegendKey val="0"/>
          <c:showVal val="0"/>
          <c:showCatName val="0"/>
          <c:showSerName val="0"/>
          <c:showPercent val="0"/>
          <c:showBubbleSize val="0"/>
        </c:dLbls>
        <c:marker val="1"/>
        <c:smooth val="0"/>
        <c:axId val="736021680"/>
        <c:axId val="102013232"/>
      </c:lineChart>
      <c:catAx>
        <c:axId val="466593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crossAx val="466599824"/>
        <c:crosses val="autoZero"/>
        <c:auto val="1"/>
        <c:lblAlgn val="ctr"/>
        <c:lblOffset val="100"/>
        <c:noMultiLvlLbl val="0"/>
      </c:catAx>
      <c:valAx>
        <c:axId val="466599824"/>
        <c:scaling>
          <c:orientation val="minMax"/>
          <c:max val="100000"/>
          <c:min val="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5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crossAx val="466593552"/>
        <c:crosses val="autoZero"/>
        <c:crossBetween val="between"/>
      </c:valAx>
      <c:valAx>
        <c:axId val="102013232"/>
        <c:scaling>
          <c:orientation val="minMax"/>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crossAx val="736021680"/>
        <c:crosses val="max"/>
        <c:crossBetween val="between"/>
      </c:valAx>
      <c:catAx>
        <c:axId val="736021680"/>
        <c:scaling>
          <c:orientation val="minMax"/>
        </c:scaling>
        <c:delete val="1"/>
        <c:axPos val="b"/>
        <c:numFmt formatCode="General" sourceLinked="1"/>
        <c:majorTickMark val="out"/>
        <c:minorTickMark val="none"/>
        <c:tickLblPos val="nextTo"/>
        <c:crossAx val="102013232"/>
        <c:crosses val="autoZero"/>
        <c:auto val="1"/>
        <c:lblAlgn val="ctr"/>
        <c:lblOffset val="100"/>
        <c:noMultiLvlLbl val="0"/>
      </c:catAx>
      <c:spPr>
        <a:noFill/>
        <a:ln>
          <a:noFill/>
        </a:ln>
        <a:effectLst/>
      </c:spPr>
    </c:plotArea>
    <c:legend>
      <c:legendPos val="b"/>
      <c:layout>
        <c:manualLayout>
          <c:xMode val="edge"/>
          <c:yMode val="edge"/>
          <c:x val="0"/>
          <c:y val="0.91644047387842298"/>
          <c:w val="0.7701741526154865"/>
          <c:h val="8.3559517050861759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chart>
  <c:spPr>
    <a:noFill/>
    <a:ln w="6350">
      <a:solidFill>
        <a:schemeClr val="tx1"/>
      </a:solidFill>
    </a:ln>
    <a:effectLst/>
  </c:spPr>
  <c:txPr>
    <a:bodyPr/>
    <a:lstStyle/>
    <a:p>
      <a:pPr>
        <a:defRPr sz="1100">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chemeClr val="tx1"/>
                </a:solidFill>
                <a:latin typeface="+mn-lt"/>
                <a:ea typeface="+mn-ea"/>
                <a:cs typeface="+mn-cs"/>
              </a:defRPr>
            </a:pPr>
            <a:r>
              <a:rPr lang="en-US" sz="1000" b="1" dirty="0">
                <a:solidFill>
                  <a:schemeClr val="tx1"/>
                </a:solidFill>
              </a:rPr>
              <a:t>FY 2019 Revenue Mix</a:t>
            </a:r>
          </a:p>
        </c:rich>
      </c:tx>
      <c:layout>
        <c:manualLayout>
          <c:xMode val="edge"/>
          <c:yMode val="edge"/>
          <c:x val="0.4540749404771135"/>
          <c:y val="3.0768379568098709E-2"/>
        </c:manualLayout>
      </c:layout>
      <c:overlay val="0"/>
      <c:spPr>
        <a:noFill/>
        <a:ln>
          <a:noFill/>
        </a:ln>
        <a:effectLst/>
      </c:spPr>
      <c:txPr>
        <a:bodyPr rot="0" spcFirstLastPara="1" vertOverflow="ellipsis" vert="horz" wrap="square" anchor="ctr" anchorCtr="1"/>
        <a:lstStyle/>
        <a:p>
          <a:pPr>
            <a:defRPr sz="10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41131123933029645"/>
          <c:y val="0.14942998152679213"/>
          <c:w val="0.49700539993096815"/>
          <c:h val="0.727119228261637"/>
        </c:manualLayout>
      </c:layout>
      <c:pieChart>
        <c:varyColors val="1"/>
        <c:ser>
          <c:idx val="0"/>
          <c:order val="0"/>
          <c:tx>
            <c:strRef>
              <c:f>Sheet1!$B$1</c:f>
              <c:strCache>
                <c:ptCount val="1"/>
                <c:pt idx="0">
                  <c:v>True Up Order Revenue Mix</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881-43E5-8560-9C4A92DA19A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881-43E5-8560-9C4A92DA19A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881-43E5-8560-9C4A92DA19A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881-43E5-8560-9C4A92DA19A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2881-43E5-8560-9C4A92DA19A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9460-4CCC-8F38-F604F47536E1}"/>
              </c:ext>
            </c:extLst>
          </c:dPt>
          <c:dLbls>
            <c:dLbl>
              <c:idx val="4"/>
              <c:layout>
                <c:manualLayout>
                  <c:x val="0.10340045659379728"/>
                  <c:y val="-9.6125960131147437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881-43E5-8560-9C4A92DA19A9}"/>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Sheet1!$A$2:$A$7</c:f>
              <c:strCache>
                <c:ptCount val="6"/>
                <c:pt idx="0">
                  <c:v>Domestic</c:v>
                </c:pt>
                <c:pt idx="1">
                  <c:v>Commercial</c:v>
                </c:pt>
                <c:pt idx="2">
                  <c:v>Agriculture</c:v>
                </c:pt>
                <c:pt idx="3">
                  <c:v>Industrial</c:v>
                </c:pt>
                <c:pt idx="4">
                  <c:v>Others</c:v>
                </c:pt>
                <c:pt idx="5">
                  <c:v>Subsidy</c:v>
                </c:pt>
              </c:strCache>
            </c:strRef>
          </c:cat>
          <c:val>
            <c:numRef>
              <c:f>Sheet1!$B$2:$B$7</c:f>
              <c:numCache>
                <c:formatCode>0.00%</c:formatCode>
                <c:ptCount val="6"/>
                <c:pt idx="0">
                  <c:v>0.18946521106630593</c:v>
                </c:pt>
                <c:pt idx="1">
                  <c:v>0.18476998366596908</c:v>
                </c:pt>
                <c:pt idx="2">
                  <c:v>4.8110612015721498E-3</c:v>
                </c:pt>
                <c:pt idx="3">
                  <c:v>0.21773718033791026</c:v>
                </c:pt>
                <c:pt idx="4">
                  <c:v>9.8321185748558013E-2</c:v>
                </c:pt>
                <c:pt idx="5">
                  <c:v>0.30489537797968458</c:v>
                </c:pt>
              </c:numCache>
            </c:numRef>
          </c:val>
          <c:extLst>
            <c:ext xmlns:c16="http://schemas.microsoft.com/office/drawing/2014/chart" uri="{C3380CC4-5D6E-409C-BE32-E72D297353CC}">
              <c16:uniqueId val="{0000000A-2881-43E5-8560-9C4A92DA19A9}"/>
            </c:ext>
          </c:extLst>
        </c:ser>
        <c:dLbls>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8.3058879160446367E-2"/>
          <c:y val="0.29523497912459845"/>
          <c:w val="0.26388302797160751"/>
          <c:h val="0.45580978606345535"/>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sz="10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b="1" dirty="0">
                <a:solidFill>
                  <a:schemeClr val="tx1"/>
                </a:solidFill>
              </a:rPr>
              <a:t>FY 2019 Energy Sales Mix</a:t>
            </a: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6082553198765462"/>
          <c:y val="0.15468618554367092"/>
          <c:w val="0.6088592508998264"/>
          <c:h val="0.76339164356296396"/>
        </c:manualLayout>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935-4BBD-BCD2-5F0146DFD8F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935-4BBD-BCD2-5F0146DFD8F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935-4BBD-BCD2-5F0146DFD8F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935-4BBD-BCD2-5F0146DFD8FB}"/>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5935-4BBD-BCD2-5F0146DFD8FB}"/>
              </c:ext>
            </c:extLst>
          </c:dPt>
          <c:dLbls>
            <c:dLbl>
              <c:idx val="4"/>
              <c:layout>
                <c:manualLayout>
                  <c:x val="4.2460694041909254E-2"/>
                  <c:y val="0.11200657908841208"/>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935-4BBD-BCD2-5F0146DFD8FB}"/>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Domestic</c:v>
                </c:pt>
                <c:pt idx="1">
                  <c:v>Commercial</c:v>
                </c:pt>
                <c:pt idx="2">
                  <c:v>Agriculture</c:v>
                </c:pt>
                <c:pt idx="3">
                  <c:v>Industrial</c:v>
                </c:pt>
                <c:pt idx="4">
                  <c:v>Others</c:v>
                </c:pt>
              </c:strCache>
            </c:strRef>
          </c:cat>
          <c:val>
            <c:numRef>
              <c:f>Sheet1!$B$2:$B$6</c:f>
              <c:numCache>
                <c:formatCode>0%</c:formatCode>
                <c:ptCount val="5"/>
                <c:pt idx="0">
                  <c:v>0.22036055162246945</c:v>
                </c:pt>
                <c:pt idx="1">
                  <c:v>0.12120121192382192</c:v>
                </c:pt>
                <c:pt idx="2">
                  <c:v>0.38756462793767249</c:v>
                </c:pt>
                <c:pt idx="3">
                  <c:v>0.17698184514116258</c:v>
                </c:pt>
                <c:pt idx="4">
                  <c:v>9.389176337487358E-2</c:v>
                </c:pt>
              </c:numCache>
            </c:numRef>
          </c:val>
          <c:extLst>
            <c:ext xmlns:c16="http://schemas.microsoft.com/office/drawing/2014/chart" uri="{C3380CC4-5D6E-409C-BE32-E72D297353CC}">
              <c16:uniqueId val="{0000000A-5935-4BBD-BCD2-5F0146DFD8F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sz="10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80" b="1"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mn-cs"/>
              </a:defRPr>
            </a:pPr>
            <a:r>
              <a:rPr lang="en-IN" b="1"/>
              <a:t>HT-2(a)</a:t>
            </a:r>
          </a:p>
        </c:rich>
      </c:tx>
      <c:overlay val="0"/>
      <c:spPr>
        <a:noFill/>
        <a:ln>
          <a:noFill/>
        </a:ln>
        <a:effectLst/>
      </c:spPr>
      <c:txPr>
        <a:bodyPr rot="0" spcFirstLastPara="1" vertOverflow="ellipsis" vert="horz" wrap="square" anchor="ctr" anchorCtr="1"/>
        <a:lstStyle/>
        <a:p>
          <a:pPr>
            <a:defRPr sz="1080" b="1"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title>
    <c:autoTitleDeleted val="0"/>
    <c:plotArea>
      <c:layout/>
      <c:lineChart>
        <c:grouping val="standard"/>
        <c:varyColors val="0"/>
        <c:ser>
          <c:idx val="0"/>
          <c:order val="0"/>
          <c:tx>
            <c:strRef>
              <c:f>Sheet1!$K$7</c:f>
              <c:strCache>
                <c:ptCount val="1"/>
                <c:pt idx="0">
                  <c:v> BESCOM </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Sheet1!$L$6:$Q$6</c:f>
              <c:strCache>
                <c:ptCount val="6"/>
                <c:pt idx="0">
                  <c:v> FY16 </c:v>
                </c:pt>
                <c:pt idx="1">
                  <c:v> FY17 </c:v>
                </c:pt>
                <c:pt idx="2">
                  <c:v> FY18 </c:v>
                </c:pt>
                <c:pt idx="3">
                  <c:v> FY19 </c:v>
                </c:pt>
                <c:pt idx="4">
                  <c:v> FY20 </c:v>
                </c:pt>
                <c:pt idx="5">
                  <c:v> FY21 </c:v>
                </c:pt>
              </c:strCache>
            </c:strRef>
          </c:cat>
          <c:val>
            <c:numRef>
              <c:f>Sheet1!$L$7:$Q$7</c:f>
              <c:numCache>
                <c:formatCode>_(* #,##0.00_);_(* \(#,##0.00\);_(* "-"??_);_(@_)</c:formatCode>
                <c:ptCount val="6"/>
                <c:pt idx="0">
                  <c:v>5.9</c:v>
                </c:pt>
                <c:pt idx="1">
                  <c:v>6.25</c:v>
                </c:pt>
                <c:pt idx="2">
                  <c:v>6.65</c:v>
                </c:pt>
                <c:pt idx="3">
                  <c:v>6.9</c:v>
                </c:pt>
                <c:pt idx="4">
                  <c:v>7.1</c:v>
                </c:pt>
                <c:pt idx="5">
                  <c:v>7.35</c:v>
                </c:pt>
              </c:numCache>
            </c:numRef>
          </c:val>
          <c:smooth val="0"/>
          <c:extLst>
            <c:ext xmlns:c16="http://schemas.microsoft.com/office/drawing/2014/chart" uri="{C3380CC4-5D6E-409C-BE32-E72D297353CC}">
              <c16:uniqueId val="{00000000-8C46-4BA9-A183-464A873D6F36}"/>
            </c:ext>
          </c:extLst>
        </c:ser>
        <c:ser>
          <c:idx val="1"/>
          <c:order val="1"/>
          <c:tx>
            <c:strRef>
              <c:f>Sheet1!$K$8</c:f>
              <c:strCache>
                <c:ptCount val="1"/>
                <c:pt idx="0">
                  <c:v> Rest four discoms </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Sheet1!$L$6:$Q$6</c:f>
              <c:strCache>
                <c:ptCount val="6"/>
                <c:pt idx="0">
                  <c:v> FY16 </c:v>
                </c:pt>
                <c:pt idx="1">
                  <c:v> FY17 </c:v>
                </c:pt>
                <c:pt idx="2">
                  <c:v> FY18 </c:v>
                </c:pt>
                <c:pt idx="3">
                  <c:v> FY19 </c:v>
                </c:pt>
                <c:pt idx="4">
                  <c:v> FY20 </c:v>
                </c:pt>
                <c:pt idx="5">
                  <c:v> FY21 </c:v>
                </c:pt>
              </c:strCache>
            </c:strRef>
          </c:cat>
          <c:val>
            <c:numRef>
              <c:f>Sheet1!$L$8:$Q$8</c:f>
              <c:numCache>
                <c:formatCode>_(* #,##0.00_);_(* \(#,##0.00\);_(* "-"??_);_(@_)</c:formatCode>
                <c:ptCount val="6"/>
                <c:pt idx="0">
                  <c:v>5.85</c:v>
                </c:pt>
                <c:pt idx="1">
                  <c:v>6.2</c:v>
                </c:pt>
                <c:pt idx="2">
                  <c:v>6.6</c:v>
                </c:pt>
                <c:pt idx="3">
                  <c:v>6.75</c:v>
                </c:pt>
                <c:pt idx="4">
                  <c:v>6.95</c:v>
                </c:pt>
                <c:pt idx="5">
                  <c:v>7.2</c:v>
                </c:pt>
              </c:numCache>
            </c:numRef>
          </c:val>
          <c:smooth val="0"/>
          <c:extLst>
            <c:ext xmlns:c16="http://schemas.microsoft.com/office/drawing/2014/chart" uri="{C3380CC4-5D6E-409C-BE32-E72D297353CC}">
              <c16:uniqueId val="{00000001-8C46-4BA9-A183-464A873D6F36}"/>
            </c:ext>
          </c:extLst>
        </c:ser>
        <c:dLbls>
          <c:dLblPos val="t"/>
          <c:showLegendKey val="0"/>
          <c:showVal val="1"/>
          <c:showCatName val="0"/>
          <c:showSerName val="0"/>
          <c:showPercent val="0"/>
          <c:showBubbleSize val="0"/>
        </c:dLbls>
        <c:smooth val="0"/>
        <c:axId val="527351376"/>
        <c:axId val="418820496"/>
      </c:lineChart>
      <c:catAx>
        <c:axId val="527351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418820496"/>
        <c:crosses val="autoZero"/>
        <c:auto val="1"/>
        <c:lblAlgn val="ctr"/>
        <c:lblOffset val="100"/>
        <c:noMultiLvlLbl val="0"/>
      </c:catAx>
      <c:valAx>
        <c:axId val="418820496"/>
        <c:scaling>
          <c:orientation val="minMax"/>
          <c:min val="5.5"/>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r>
                  <a:rPr lang="en-IN" dirty="0"/>
                  <a:t>Energy Charge (in Rs./unit)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title>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527351376"/>
        <c:crosses val="autoZero"/>
        <c:crossBetween val="between"/>
        <c:majorUnit val="0.4"/>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latin typeface="Verdana" panose="020B0604030504040204" pitchFamily="34" charset="0"/>
          <a:ea typeface="Verdana" panose="020B060403050404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80" b="1"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mn-cs"/>
              </a:defRPr>
            </a:pPr>
            <a:r>
              <a:rPr lang="en-IN" b="1"/>
              <a:t>HT-2(b)</a:t>
            </a:r>
          </a:p>
        </c:rich>
      </c:tx>
      <c:overlay val="0"/>
      <c:spPr>
        <a:noFill/>
        <a:ln>
          <a:noFill/>
        </a:ln>
        <a:effectLst/>
      </c:spPr>
      <c:txPr>
        <a:bodyPr rot="0" spcFirstLastPara="1" vertOverflow="ellipsis" vert="horz" wrap="square" anchor="ctr" anchorCtr="1"/>
        <a:lstStyle/>
        <a:p>
          <a:pPr>
            <a:defRPr sz="1080" b="1"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title>
    <c:autoTitleDeleted val="0"/>
    <c:plotArea>
      <c:layout/>
      <c:lineChart>
        <c:grouping val="standard"/>
        <c:varyColors val="0"/>
        <c:ser>
          <c:idx val="0"/>
          <c:order val="0"/>
          <c:tx>
            <c:strRef>
              <c:f>Sheet1!$K$11</c:f>
              <c:strCache>
                <c:ptCount val="1"/>
                <c:pt idx="0">
                  <c:v> BESCOM </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Sheet1!$L$10:$Q$10</c:f>
              <c:strCache>
                <c:ptCount val="6"/>
                <c:pt idx="0">
                  <c:v> FY16 </c:v>
                </c:pt>
                <c:pt idx="1">
                  <c:v> FY17 </c:v>
                </c:pt>
                <c:pt idx="2">
                  <c:v> FY18 </c:v>
                </c:pt>
                <c:pt idx="3">
                  <c:v> FY19 </c:v>
                </c:pt>
                <c:pt idx="4">
                  <c:v> FY20 </c:v>
                </c:pt>
                <c:pt idx="5">
                  <c:v> FY21 </c:v>
                </c:pt>
              </c:strCache>
            </c:strRef>
          </c:cat>
          <c:val>
            <c:numRef>
              <c:f>Sheet1!$L$11:$Q$11</c:f>
              <c:numCache>
                <c:formatCode>_(* #,##0.00_);_(* \(#,##0.00\);_(* "-"??_);_(@_)</c:formatCode>
                <c:ptCount val="6"/>
                <c:pt idx="0">
                  <c:v>7.55</c:v>
                </c:pt>
                <c:pt idx="1">
                  <c:v>8.0500000000000007</c:v>
                </c:pt>
                <c:pt idx="2">
                  <c:v>8.4499999999999993</c:v>
                </c:pt>
                <c:pt idx="3">
                  <c:v>8.6999999999999993</c:v>
                </c:pt>
                <c:pt idx="4">
                  <c:v>8.9</c:v>
                </c:pt>
                <c:pt idx="5">
                  <c:v>9.15</c:v>
                </c:pt>
              </c:numCache>
            </c:numRef>
          </c:val>
          <c:smooth val="0"/>
          <c:extLst>
            <c:ext xmlns:c16="http://schemas.microsoft.com/office/drawing/2014/chart" uri="{C3380CC4-5D6E-409C-BE32-E72D297353CC}">
              <c16:uniqueId val="{00000000-4C4B-4452-B8D6-37CD9B95B644}"/>
            </c:ext>
          </c:extLst>
        </c:ser>
        <c:ser>
          <c:idx val="1"/>
          <c:order val="1"/>
          <c:tx>
            <c:strRef>
              <c:f>Sheet1!$K$12</c:f>
              <c:strCache>
                <c:ptCount val="1"/>
                <c:pt idx="0">
                  <c:v> Rest four discoms </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Sheet1!$L$10:$Q$10</c:f>
              <c:strCache>
                <c:ptCount val="6"/>
                <c:pt idx="0">
                  <c:v> FY16 </c:v>
                </c:pt>
                <c:pt idx="1">
                  <c:v> FY17 </c:v>
                </c:pt>
                <c:pt idx="2">
                  <c:v> FY18 </c:v>
                </c:pt>
                <c:pt idx="3">
                  <c:v> FY19 </c:v>
                </c:pt>
                <c:pt idx="4">
                  <c:v> FY20 </c:v>
                </c:pt>
                <c:pt idx="5">
                  <c:v> FY21 </c:v>
                </c:pt>
              </c:strCache>
            </c:strRef>
          </c:cat>
          <c:val>
            <c:numRef>
              <c:f>Sheet1!$L$12:$Q$12</c:f>
              <c:numCache>
                <c:formatCode>_(* #,##0.00_);_(* \(#,##0.00\);_(* "-"??_);_(@_)</c:formatCode>
                <c:ptCount val="6"/>
                <c:pt idx="0">
                  <c:v>7.35</c:v>
                </c:pt>
                <c:pt idx="1">
                  <c:v>7.85</c:v>
                </c:pt>
                <c:pt idx="2">
                  <c:v>8.25</c:v>
                </c:pt>
                <c:pt idx="3">
                  <c:v>8.4499999999999993</c:v>
                </c:pt>
                <c:pt idx="4">
                  <c:v>8.65</c:v>
                </c:pt>
                <c:pt idx="5">
                  <c:v>8.9</c:v>
                </c:pt>
              </c:numCache>
            </c:numRef>
          </c:val>
          <c:smooth val="0"/>
          <c:extLst>
            <c:ext xmlns:c16="http://schemas.microsoft.com/office/drawing/2014/chart" uri="{C3380CC4-5D6E-409C-BE32-E72D297353CC}">
              <c16:uniqueId val="{00000001-4C4B-4452-B8D6-37CD9B95B644}"/>
            </c:ext>
          </c:extLst>
        </c:ser>
        <c:dLbls>
          <c:dLblPos val="t"/>
          <c:showLegendKey val="0"/>
          <c:showVal val="1"/>
          <c:showCatName val="0"/>
          <c:showSerName val="0"/>
          <c:showPercent val="0"/>
          <c:showBubbleSize val="0"/>
        </c:dLbls>
        <c:smooth val="0"/>
        <c:axId val="527342176"/>
        <c:axId val="418816752"/>
      </c:lineChart>
      <c:catAx>
        <c:axId val="5273421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418816752"/>
        <c:crosses val="autoZero"/>
        <c:auto val="1"/>
        <c:lblAlgn val="ctr"/>
        <c:lblOffset val="100"/>
        <c:noMultiLvlLbl val="0"/>
      </c:catAx>
      <c:valAx>
        <c:axId val="418816752"/>
        <c:scaling>
          <c:orientation val="minMax"/>
          <c:min val="7"/>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r>
                  <a:rPr lang="en-IN" dirty="0"/>
                  <a:t>Energy Charge (In Rs./unit)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title>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5273421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900">
          <a:latin typeface="Verdana" panose="020B0604030504040204" pitchFamily="34" charset="0"/>
          <a:ea typeface="Verdana" panose="020B060403050404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80" b="1"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mn-cs"/>
              </a:defRPr>
            </a:pPr>
            <a:r>
              <a:rPr lang="en-IN" b="1"/>
              <a:t>HT-2(c)</a:t>
            </a:r>
          </a:p>
        </c:rich>
      </c:tx>
      <c:overlay val="0"/>
      <c:spPr>
        <a:noFill/>
        <a:ln>
          <a:noFill/>
        </a:ln>
        <a:effectLst/>
      </c:spPr>
      <c:txPr>
        <a:bodyPr rot="0" spcFirstLastPara="1" vertOverflow="ellipsis" vert="horz" wrap="square" anchor="ctr" anchorCtr="1"/>
        <a:lstStyle/>
        <a:p>
          <a:pPr>
            <a:defRPr sz="1080" b="1" i="0" u="none" strike="noStrike" kern="1200" spc="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title>
    <c:autoTitleDeleted val="0"/>
    <c:plotArea>
      <c:layout/>
      <c:lineChart>
        <c:grouping val="standard"/>
        <c:varyColors val="0"/>
        <c:ser>
          <c:idx val="0"/>
          <c:order val="0"/>
          <c:tx>
            <c:strRef>
              <c:f>Sheet1!$K$15</c:f>
              <c:strCache>
                <c:ptCount val="1"/>
                <c:pt idx="0">
                  <c:v> BESCOM </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Sheet1!$L$14:$Q$14</c:f>
              <c:strCache>
                <c:ptCount val="6"/>
                <c:pt idx="0">
                  <c:v> FY16 </c:v>
                </c:pt>
                <c:pt idx="1">
                  <c:v> FY17 </c:v>
                </c:pt>
                <c:pt idx="2">
                  <c:v> FY18 </c:v>
                </c:pt>
                <c:pt idx="3">
                  <c:v> FY19 </c:v>
                </c:pt>
                <c:pt idx="4">
                  <c:v> FY20 </c:v>
                </c:pt>
                <c:pt idx="5">
                  <c:v> FY21 </c:v>
                </c:pt>
              </c:strCache>
            </c:strRef>
          </c:cat>
          <c:val>
            <c:numRef>
              <c:f>Sheet1!$L$15:$Q$15</c:f>
              <c:numCache>
                <c:formatCode>_(* #,##0.00_);_(* \(#,##0.00\);_(* "-"??_);_(@_)</c:formatCode>
                <c:ptCount val="6"/>
                <c:pt idx="0">
                  <c:v>6.1</c:v>
                </c:pt>
                <c:pt idx="1">
                  <c:v>6.5</c:v>
                </c:pt>
                <c:pt idx="2">
                  <c:v>6.9</c:v>
                </c:pt>
                <c:pt idx="3">
                  <c:v>7.15</c:v>
                </c:pt>
                <c:pt idx="4">
                  <c:v>7.35</c:v>
                </c:pt>
                <c:pt idx="5">
                  <c:v>7.6</c:v>
                </c:pt>
              </c:numCache>
            </c:numRef>
          </c:val>
          <c:smooth val="0"/>
          <c:extLst>
            <c:ext xmlns:c16="http://schemas.microsoft.com/office/drawing/2014/chart" uri="{C3380CC4-5D6E-409C-BE32-E72D297353CC}">
              <c16:uniqueId val="{00000000-6F27-4416-A2E6-84F4C3B23005}"/>
            </c:ext>
          </c:extLst>
        </c:ser>
        <c:ser>
          <c:idx val="1"/>
          <c:order val="1"/>
          <c:tx>
            <c:strRef>
              <c:f>Sheet1!$K$16</c:f>
              <c:strCache>
                <c:ptCount val="1"/>
                <c:pt idx="0">
                  <c:v> Rest four discoms </c:v>
                </c:pt>
              </c:strCache>
            </c:strRef>
          </c:tx>
          <c:spPr>
            <a:ln w="28575" cap="rnd">
              <a:solidFill>
                <a:schemeClr val="accent2"/>
              </a:solidFill>
              <a:round/>
            </a:ln>
            <a:effectLst/>
          </c:spPr>
          <c:marker>
            <c:symbol val="none"/>
          </c:marker>
          <c:dLbls>
            <c:dLbl>
              <c:idx val="0"/>
              <c:layout>
                <c:manualLayout>
                  <c:x val="1.8076334208223972E-2"/>
                  <c:y val="-2.3494459025956787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F27-4416-A2E6-84F4C3B23005}"/>
                </c:ext>
              </c:extLst>
            </c:dLbl>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Verdana" panose="020B0604030504040204" pitchFamily="34" charset="0"/>
                    <a:ea typeface="Verdana" panose="020B0604030504040204" pitchFamily="34" charset="0"/>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Sheet1!$L$14:$Q$14</c:f>
              <c:strCache>
                <c:ptCount val="6"/>
                <c:pt idx="0">
                  <c:v> FY16 </c:v>
                </c:pt>
                <c:pt idx="1">
                  <c:v> FY17 </c:v>
                </c:pt>
                <c:pt idx="2">
                  <c:v> FY18 </c:v>
                </c:pt>
                <c:pt idx="3">
                  <c:v> FY19 </c:v>
                </c:pt>
                <c:pt idx="4">
                  <c:v> FY20 </c:v>
                </c:pt>
                <c:pt idx="5">
                  <c:v> FY21 </c:v>
                </c:pt>
              </c:strCache>
            </c:strRef>
          </c:cat>
          <c:val>
            <c:numRef>
              <c:f>Sheet1!$L$16:$Q$16</c:f>
              <c:numCache>
                <c:formatCode>_(* #,##0.00_);_(* \(#,##0.00\);_(* "-"??_);_(@_)</c:formatCode>
                <c:ptCount val="6"/>
                <c:pt idx="0">
                  <c:v>6.1</c:v>
                </c:pt>
                <c:pt idx="1">
                  <c:v>6.5</c:v>
                </c:pt>
                <c:pt idx="2">
                  <c:v>6.9</c:v>
                </c:pt>
                <c:pt idx="3">
                  <c:v>7.1</c:v>
                </c:pt>
                <c:pt idx="4">
                  <c:v>7.3</c:v>
                </c:pt>
                <c:pt idx="5">
                  <c:v>7.55</c:v>
                </c:pt>
              </c:numCache>
            </c:numRef>
          </c:val>
          <c:smooth val="0"/>
          <c:extLst>
            <c:ext xmlns:c16="http://schemas.microsoft.com/office/drawing/2014/chart" uri="{C3380CC4-5D6E-409C-BE32-E72D297353CC}">
              <c16:uniqueId val="{00000002-6F27-4416-A2E6-84F4C3B23005}"/>
            </c:ext>
          </c:extLst>
        </c:ser>
        <c:dLbls>
          <c:dLblPos val="t"/>
          <c:showLegendKey val="0"/>
          <c:showVal val="1"/>
          <c:showCatName val="0"/>
          <c:showSerName val="0"/>
          <c:showPercent val="0"/>
          <c:showBubbleSize val="0"/>
        </c:dLbls>
        <c:smooth val="0"/>
        <c:axId val="692290592"/>
        <c:axId val="418815088"/>
      </c:lineChart>
      <c:catAx>
        <c:axId val="692290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418815088"/>
        <c:crosses val="autoZero"/>
        <c:auto val="1"/>
        <c:lblAlgn val="ctr"/>
        <c:lblOffset val="100"/>
        <c:noMultiLvlLbl val="0"/>
      </c:catAx>
      <c:valAx>
        <c:axId val="418815088"/>
        <c:scaling>
          <c:orientation val="minMax"/>
          <c:min val="6"/>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r>
                  <a:rPr lang="en-IN" dirty="0"/>
                  <a:t>Energy Charge (In Rs./unit)</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title>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crossAx val="692290592"/>
        <c:crosses val="autoZero"/>
        <c:crossBetween val="between"/>
        <c:majorUnit val="0.30000000000000004"/>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Verdana" panose="020B0604030504040204" pitchFamily="34" charset="0"/>
              <a:ea typeface="Verdana" panose="020B0604030504040204" pitchFamily="34" charset="0"/>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900">
          <a:latin typeface="Verdana" panose="020B0604030504040204" pitchFamily="34" charset="0"/>
          <a:ea typeface="Verdana" panose="020B060403050404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CC2850-66C0-4954-8EC2-7A25C58CF477}" type="datetimeFigureOut">
              <a:rPr lang="en-IN" smtClean="0"/>
              <a:t>24-09-2022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2F821-AA88-4ED8-9BBC-61533569A120}" type="slidenum">
              <a:rPr lang="en-IN" smtClean="0"/>
              <a:t>‹#›</a:t>
            </a:fld>
            <a:endParaRPr lang="en-IN"/>
          </a:p>
        </p:txBody>
      </p:sp>
    </p:spTree>
    <p:extLst>
      <p:ext uri="{BB962C8B-B14F-4D97-AF65-F5344CB8AC3E}">
        <p14:creationId xmlns:p14="http://schemas.microsoft.com/office/powerpoint/2010/main" val="3270330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E2F821-AA88-4ED8-9BBC-61533569A120}" type="slidenum">
              <a:rPr lang="en-IN" smtClean="0"/>
              <a:t>2</a:t>
            </a:fld>
            <a:endParaRPr lang="en-IN"/>
          </a:p>
        </p:txBody>
      </p:sp>
    </p:spTree>
    <p:extLst>
      <p:ext uri="{BB962C8B-B14F-4D97-AF65-F5344CB8AC3E}">
        <p14:creationId xmlns:p14="http://schemas.microsoft.com/office/powerpoint/2010/main" val="2685835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endParaRPr lang="en-IN" dirty="0"/>
          </a:p>
        </p:txBody>
      </p:sp>
      <p:sp>
        <p:nvSpPr>
          <p:cNvPr id="4" name="Slide Number Placeholder 3"/>
          <p:cNvSpPr>
            <a:spLocks noGrp="1"/>
          </p:cNvSpPr>
          <p:nvPr>
            <p:ph type="sldNum" sz="quarter" idx="5"/>
          </p:nvPr>
        </p:nvSpPr>
        <p:spPr/>
        <p:txBody>
          <a:bodyPr/>
          <a:lstStyle/>
          <a:p>
            <a:fld id="{E6E2F821-AA88-4ED8-9BBC-61533569A120}" type="slidenum">
              <a:rPr lang="en-IN" smtClean="0"/>
              <a:t>9</a:t>
            </a:fld>
            <a:endParaRPr lang="en-IN"/>
          </a:p>
        </p:txBody>
      </p:sp>
    </p:spTree>
    <p:extLst>
      <p:ext uri="{BB962C8B-B14F-4D97-AF65-F5344CB8AC3E}">
        <p14:creationId xmlns:p14="http://schemas.microsoft.com/office/powerpoint/2010/main" val="1941035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2F821-AA88-4ED8-9BBC-61533569A12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897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2F821-AA88-4ED8-9BBC-61533569A12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1338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2F821-AA88-4ED8-9BBC-61533569A12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8755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2F821-AA88-4ED8-9BBC-61533569A12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2557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2F821-AA88-4ED8-9BBC-61533569A12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8972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E2F821-AA88-4ED8-9BBC-61533569A12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1745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01651" y="5549440"/>
            <a:ext cx="55943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428226316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181086656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9664396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rmAutofit/>
          </a:bodyPr>
          <a:lstStyle>
            <a:lvl1pPr>
              <a:spcBef>
                <a:spcPts val="3600"/>
              </a:spcBef>
              <a:defRPr sz="22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5352785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Edit Master text styles</a:t>
            </a:r>
          </a:p>
        </p:txBody>
      </p:sp>
      <p:sp>
        <p:nvSpPr>
          <p:cNvPr id="7" name="Text Placeholder 6"/>
          <p:cNvSpPr>
            <a:spLocks noGrp="1"/>
          </p:cNvSpPr>
          <p:nvPr>
            <p:ph type="body" sz="quarter" idx="11"/>
          </p:nvPr>
        </p:nvSpPr>
        <p:spPr>
          <a:xfrm>
            <a:off x="525586" y="1700214"/>
            <a:ext cx="2766255" cy="4656835"/>
          </a:xfrm>
        </p:spPr>
        <p:txBody>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Edit Master text styles</a:t>
            </a:r>
          </a:p>
        </p:txBody>
      </p:sp>
      <p:sp>
        <p:nvSpPr>
          <p:cNvPr id="9" name="Text Placeholder 8"/>
          <p:cNvSpPr>
            <a:spLocks noGrp="1"/>
          </p:cNvSpPr>
          <p:nvPr>
            <p:ph type="body" sz="quarter" idx="12"/>
          </p:nvPr>
        </p:nvSpPr>
        <p:spPr>
          <a:xfrm>
            <a:off x="3780369" y="1700212"/>
            <a:ext cx="7886049" cy="4657726"/>
          </a:xfrm>
        </p:spPr>
        <p:txBody>
          <a:bodyPr/>
          <a:lstStyle>
            <a:lvl1pPr>
              <a:spcBef>
                <a:spcPts val="1662"/>
              </a:spcBef>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1507564289"/>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91274702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4543532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endParaRPr lang="en-US" dirty="0"/>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72165183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87586125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5885570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700214"/>
            <a:ext cx="11188699" cy="357187"/>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28492795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26396" y="1659145"/>
            <a:ext cx="3563955"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370219312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1"/>
            <a:ext cx="11202669" cy="3341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9" name="Text Placeholder 8"/>
          <p:cNvSpPr>
            <a:spLocks noGrp="1"/>
          </p:cNvSpPr>
          <p:nvPr>
            <p:ph type="body" sz="quarter" idx="13" hasCustomPrompt="1"/>
          </p:nvPr>
        </p:nvSpPr>
        <p:spPr>
          <a:xfrm>
            <a:off x="501651" y="651600"/>
            <a:ext cx="1120266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5647927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8" name="Title Placeholder 1"/>
          <p:cNvSpPr>
            <a:spLocks noGrp="1"/>
          </p:cNvSpPr>
          <p:nvPr>
            <p:ph type="title" hasCustomPrompt="1"/>
          </p:nvPr>
        </p:nvSpPr>
        <p:spPr>
          <a:xfrm>
            <a:off x="501650"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3938582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566479445"/>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a:t>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575009558"/>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405718101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2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03387203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a:t>Click to edit Master title style</a:t>
            </a:r>
            <a:endParaRPr lang="en-GB"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0"/>
            <a:ext cx="111887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148776575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noProof="0"/>
              <a:t>Click to edit Master title style</a:t>
            </a:r>
            <a:endParaRPr lang="en-US" noProof="0" dirty="0"/>
          </a:p>
        </p:txBody>
      </p:sp>
      <p:sp>
        <p:nvSpPr>
          <p:cNvPr id="4" name="Rectangle 3"/>
          <p:cNvSpPr/>
          <p:nvPr/>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7"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674262380"/>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6984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1" y="1700214"/>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700214"/>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700214"/>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56665883"/>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421523334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2"/>
            <a:ext cx="11188700" cy="698499"/>
          </a:xfrm>
        </p:spPr>
        <p:txBody>
          <a:bodyPr/>
          <a:lstStyle/>
          <a:p>
            <a:r>
              <a:rPr lang="en-US" noProof="0"/>
              <a:t>Click to edit Master title style</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837296583"/>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21"/>
          </p:nvPr>
        </p:nvSpPr>
        <p:spPr>
          <a:xfrm>
            <a:off x="6246195"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501651" y="317501"/>
            <a:ext cx="11188700" cy="697888"/>
          </a:xfrm>
        </p:spPr>
        <p:txBody>
          <a:bodyPr/>
          <a:lstStyle/>
          <a:p>
            <a:r>
              <a:rPr lang="en-US"/>
              <a:t>Click to edit Master title style</a:t>
            </a:r>
            <a:endParaRPr lang="en-GB"/>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0" name="Text Placeholder 8"/>
          <p:cNvSpPr>
            <a:spLocks noGrp="1"/>
          </p:cNvSpPr>
          <p:nvPr>
            <p:ph type="body" sz="quarter" idx="22"/>
          </p:nvPr>
        </p:nvSpPr>
        <p:spPr>
          <a:xfrm>
            <a:off x="504000" y="424968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8"/>
          <p:cNvSpPr>
            <a:spLocks noGrp="1"/>
          </p:cNvSpPr>
          <p:nvPr>
            <p:ph type="body" sz="quarter" idx="23"/>
          </p:nvPr>
        </p:nvSpPr>
        <p:spPr>
          <a:xfrm>
            <a:off x="6246194" y="4249682"/>
            <a:ext cx="545295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6" name="Text Placeholder 8"/>
          <p:cNvSpPr>
            <a:spLocks noGrp="1"/>
          </p:cNvSpPr>
          <p:nvPr>
            <p:ph type="body" sz="quarter" idx="13" hasCustomPrompt="1"/>
          </p:nvPr>
        </p:nvSpPr>
        <p:spPr>
          <a:xfrm>
            <a:off x="501651" y="651600"/>
            <a:ext cx="111975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7"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Tree>
    <p:extLst>
      <p:ext uri="{BB962C8B-B14F-4D97-AF65-F5344CB8AC3E}">
        <p14:creationId xmlns:p14="http://schemas.microsoft.com/office/powerpoint/2010/main" val="1057072412"/>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62749234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705184"/>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02079557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9"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656915777"/>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82630834"/>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43099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9"/>
            <a:ext cx="10418233" cy="1592403"/>
          </a:xfrm>
        </p:spPr>
        <p:txBody>
          <a:bodyPr anchor="b"/>
          <a:lstStyle>
            <a:lvl1pPr>
              <a:lnSpc>
                <a:spcPct val="95000"/>
              </a:lnSpc>
              <a:defRPr sz="3851"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1">
                <a:solidFill>
                  <a:schemeClr val="tx1"/>
                </a:solidFill>
              </a:defRPr>
            </a:lvl1pPr>
            <a:lvl2pPr marL="609593" indent="0">
              <a:buNone/>
              <a:defRPr sz="2667">
                <a:solidFill>
                  <a:schemeClr val="tx1">
                    <a:tint val="75000"/>
                  </a:schemeClr>
                </a:solidFill>
              </a:defRPr>
            </a:lvl2pPr>
            <a:lvl3pPr marL="1219185" indent="0">
              <a:buNone/>
              <a:defRPr sz="2400">
                <a:solidFill>
                  <a:schemeClr val="tx1">
                    <a:tint val="75000"/>
                  </a:schemeClr>
                </a:solidFill>
              </a:defRPr>
            </a:lvl3pPr>
            <a:lvl4pPr marL="1828777" indent="0">
              <a:buNone/>
              <a:defRPr sz="2133">
                <a:solidFill>
                  <a:schemeClr val="tx1">
                    <a:tint val="75000"/>
                  </a:schemeClr>
                </a:solidFill>
              </a:defRPr>
            </a:lvl4pPr>
            <a:lvl5pPr marL="2438370" indent="0">
              <a:buNone/>
              <a:defRPr sz="2133">
                <a:solidFill>
                  <a:schemeClr val="tx1">
                    <a:tint val="75000"/>
                  </a:schemeClr>
                </a:solidFill>
              </a:defRPr>
            </a:lvl5pPr>
            <a:lvl6pPr marL="3047962" indent="0">
              <a:buNone/>
              <a:defRPr sz="2133">
                <a:solidFill>
                  <a:schemeClr val="tx1">
                    <a:tint val="75000"/>
                  </a:schemeClr>
                </a:solidFill>
              </a:defRPr>
            </a:lvl6pPr>
            <a:lvl7pPr marL="3657555" indent="0">
              <a:buNone/>
              <a:defRPr sz="2133">
                <a:solidFill>
                  <a:schemeClr val="tx1">
                    <a:tint val="75000"/>
                  </a:schemeClr>
                </a:solidFill>
              </a:defRPr>
            </a:lvl7pPr>
            <a:lvl8pPr marL="4267147" indent="0">
              <a:buNone/>
              <a:defRPr sz="2133">
                <a:solidFill>
                  <a:schemeClr val="tx1">
                    <a:tint val="75000"/>
                  </a:schemeClr>
                </a:solidFill>
              </a:defRPr>
            </a:lvl8pPr>
            <a:lvl9pPr marL="487673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6" y="6477000"/>
            <a:ext cx="307975" cy="100156"/>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1" noProof="0">
                <a:solidFill>
                  <a:schemeClr val="tx1"/>
                </a:solidFill>
              </a:rPr>
              <a:pPr marL="0" indent="0" algn="r">
                <a:spcBef>
                  <a:spcPts val="800"/>
                </a:spcBef>
                <a:buSzPct val="100000"/>
                <a:buFont typeface="Arial"/>
                <a:buNone/>
              </a:pPr>
              <a:t>‹#›</a:t>
            </a:fld>
            <a:endParaRPr lang="en-GB" sz="651" noProof="0" dirty="0">
              <a:solidFill>
                <a:schemeClr val="tx1"/>
              </a:solidFill>
            </a:endParaRPr>
          </a:p>
        </p:txBody>
      </p:sp>
      <p:sp>
        <p:nvSpPr>
          <p:cNvPr id="2" name="Footer Placeholder 1"/>
          <p:cNvSpPr>
            <a:spLocks noGrp="1"/>
          </p:cNvSpPr>
          <p:nvPr>
            <p:ph type="ftr" sz="quarter" idx="10"/>
          </p:nvPr>
        </p:nvSpPr>
        <p:spPr>
          <a:xfrm>
            <a:off x="6184900" y="6476999"/>
            <a:ext cx="4536725" cy="244476"/>
          </a:xfrm>
          <a:prstGeom prst="rect">
            <a:avLst/>
          </a:prstGeom>
        </p:spPr>
        <p:txBody>
          <a:bodyPr/>
          <a:lstStyle/>
          <a:p>
            <a:endParaRPr lang="en-GB" dirty="0"/>
          </a:p>
        </p:txBody>
      </p:sp>
    </p:spTree>
    <p:extLst>
      <p:ext uri="{BB962C8B-B14F-4D97-AF65-F5344CB8AC3E}">
        <p14:creationId xmlns:p14="http://schemas.microsoft.com/office/powerpoint/2010/main" val="29106893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a:t>Click icon to add picture</a:t>
            </a:r>
            <a:endParaRPr lang="en-GB"/>
          </a:p>
        </p:txBody>
      </p:sp>
      <p:sp>
        <p:nvSpPr>
          <p:cNvPr id="2" name="Title 1"/>
          <p:cNvSpPr>
            <a:spLocks noGrp="1"/>
          </p:cNvSpPr>
          <p:nvPr>
            <p:ph type="ctrTitle"/>
          </p:nvPr>
        </p:nvSpPr>
        <p:spPr bwMode="gray">
          <a:xfrm>
            <a:off x="501651" y="5549440"/>
            <a:ext cx="5594349" cy="324000"/>
          </a:xfrm>
        </p:spPr>
        <p:txBody>
          <a:bodyPr anchor="t" anchorCtr="0">
            <a:noAutofit/>
          </a:bodyPr>
          <a:lstStyle>
            <a:lvl1pPr algn="l">
              <a:lnSpc>
                <a:spcPct val="100000"/>
              </a:lnSpc>
              <a:defRPr sz="18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96022884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4200"/>
              </a:lnSpc>
              <a:defRPr sz="36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01651" y="5864230"/>
            <a:ext cx="5594348" cy="505645"/>
          </a:xfrm>
          <a:prstGeom prst="rect">
            <a:avLst/>
          </a:prstGeom>
        </p:spPr>
        <p:txBody>
          <a:bodyPr lIns="0" tIns="0" rIns="0" bIns="0">
            <a:noAutofit/>
          </a:bodyPr>
          <a:lstStyle>
            <a:lvl1pPr marL="0" indent="0" algn="l">
              <a:lnSpc>
                <a:spcPct val="100000"/>
              </a:lnSpc>
              <a:spcAft>
                <a:spcPts val="0"/>
              </a:spcAft>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10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7" name="Group 6"/>
          <p:cNvGrpSpPr/>
          <p:nvPr/>
        </p:nvGrpSpPr>
        <p:grpSpPr>
          <a:xfrm>
            <a:off x="503988" y="378000"/>
            <a:ext cx="2160000" cy="307976"/>
            <a:chOff x="398463" y="404813"/>
            <a:chExt cx="1627187" cy="307976"/>
          </a:xfrm>
          <a:solidFill>
            <a:schemeClr val="tx1"/>
          </a:solidFill>
        </p:grpSpPr>
        <p:sp>
          <p:nvSpPr>
            <p:cNvPr id="8"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0"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1"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2"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3"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4"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5"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6"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7"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sp>
          <p:nvSpPr>
            <p:cNvPr id="18"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dirty="0">
                <a:solidFill>
                  <a:schemeClr val="bg1"/>
                </a:solidFill>
              </a:endParaRPr>
            </a:p>
          </p:txBody>
        </p:sp>
      </p:grpSp>
    </p:spTree>
    <p:extLst>
      <p:ext uri="{BB962C8B-B14F-4D97-AF65-F5344CB8AC3E}">
        <p14:creationId xmlns:p14="http://schemas.microsoft.com/office/powerpoint/2010/main" val="327720688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0"/>
            <a:ext cx="10541000" cy="1592403"/>
          </a:xfrm>
        </p:spPr>
        <p:txBody>
          <a:bodyPr anchor="b"/>
          <a:lstStyle>
            <a:lvl1pPr>
              <a:lnSpc>
                <a:spcPct val="95000"/>
              </a:lnSpc>
              <a:defRPr sz="360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1283156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5"/>
            <a:ext cx="9277349" cy="4752975"/>
          </a:xfrm>
          <a:prstGeom prst="rect">
            <a:avLst/>
          </a:prstGeom>
        </p:spPr>
        <p:txBody>
          <a:bodyPr>
            <a:normAutofit/>
          </a:bodyPr>
          <a:lstStyle>
            <a:lvl1pPr>
              <a:spcBef>
                <a:spcPts val="3600"/>
              </a:spcBef>
              <a:defRPr sz="22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18447489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Edit Master text styles</a:t>
            </a:r>
          </a:p>
        </p:txBody>
      </p:sp>
      <p:sp>
        <p:nvSpPr>
          <p:cNvPr id="7" name="Text Placeholder 6"/>
          <p:cNvSpPr>
            <a:spLocks noGrp="1"/>
          </p:cNvSpPr>
          <p:nvPr>
            <p:ph type="body" sz="quarter" idx="11"/>
          </p:nvPr>
        </p:nvSpPr>
        <p:spPr>
          <a:xfrm>
            <a:off x="525586" y="1700214"/>
            <a:ext cx="2766255" cy="4656835"/>
          </a:xfrm>
        </p:spPr>
        <p:txBody>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Edit Master text styles</a:t>
            </a:r>
          </a:p>
        </p:txBody>
      </p:sp>
      <p:sp>
        <p:nvSpPr>
          <p:cNvPr id="9" name="Text Placeholder 8"/>
          <p:cNvSpPr>
            <a:spLocks noGrp="1"/>
          </p:cNvSpPr>
          <p:nvPr>
            <p:ph type="body" sz="quarter" idx="12"/>
          </p:nvPr>
        </p:nvSpPr>
        <p:spPr>
          <a:xfrm>
            <a:off x="3780369" y="1700212"/>
            <a:ext cx="7886049" cy="4657726"/>
          </a:xfrm>
        </p:spPr>
        <p:txBody>
          <a:bodyPr/>
          <a:lstStyle>
            <a:lvl1pPr>
              <a:spcBef>
                <a:spcPts val="1662"/>
              </a:spcBef>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p:cNvGrpSpPr/>
          <p:nvPr/>
        </p:nvGrpSpPr>
        <p:grpSpPr>
          <a:xfrm>
            <a:off x="503988" y="378000"/>
            <a:ext cx="2160000" cy="307976"/>
            <a:chOff x="398463" y="404813"/>
            <a:chExt cx="1627187" cy="307976"/>
          </a:xfrm>
          <a:solidFill>
            <a:schemeClr val="tx1"/>
          </a:solidFill>
        </p:grpSpPr>
        <p:sp>
          <p:nvSpPr>
            <p:cNvPr id="10" name="Oval 5"/>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1" name="Freeform 6"/>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2" name="Rectangle 7"/>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3" name="Freeform 8"/>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4" name="Rectangle 9"/>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5" name="Rectangle 10"/>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6" name="Freeform 11"/>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7" name="Freeform 12"/>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8" name="Freeform 13"/>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sp>
          <p:nvSpPr>
            <p:cNvPr id="19" name="Freeform 14"/>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solidFill>
                  <a:schemeClr val="bg1"/>
                </a:solidFill>
              </a:endParaRPr>
            </a:p>
          </p:txBody>
        </p:sp>
      </p:grpSp>
    </p:spTree>
    <p:extLst>
      <p:ext uri="{BB962C8B-B14F-4D97-AF65-F5344CB8AC3E}">
        <p14:creationId xmlns:p14="http://schemas.microsoft.com/office/powerpoint/2010/main" val="393486746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lstStyle>
            <a:lvl1pPr>
              <a:tabLst>
                <a:tab pos="6729413" algn="r"/>
              </a:tabLst>
              <a:defRPr/>
            </a:lvl1pPr>
            <a:lvl2pPr>
              <a:tabLst>
                <a:tab pos="6729413" algn="r"/>
              </a:tabLst>
              <a:defRPr/>
            </a:lvl2pPr>
            <a:lvl3pPr>
              <a:tabLst>
                <a:tab pos="6729413" algn="r"/>
              </a:tabLst>
              <a:defRPr/>
            </a:lvl3pPr>
            <a:lvl4pPr>
              <a:tabLst>
                <a:tab pos="6729413" algn="r"/>
              </a:tabLst>
              <a:defRPr/>
            </a:lvl4pPr>
            <a:lvl5pPr>
              <a:tabLst>
                <a:tab pos="5029200" algn="r"/>
              </a:tabLst>
              <a:defRPr baseline="0"/>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47078417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1"/>
            <a:ext cx="6240000" cy="4679950"/>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2955561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698500"/>
          </a:xfrm>
        </p:spPr>
        <p:txBody>
          <a:bodyPr/>
          <a:lstStyle/>
          <a:p>
            <a:r>
              <a:rPr lang="en-US"/>
              <a:t>Click to edit Master title style</a:t>
            </a:r>
            <a:endParaRPr lang="en-US" dirty="0"/>
          </a:p>
        </p:txBody>
      </p:sp>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428551735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124674554"/>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49" cy="6985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01651" y="1700213"/>
            <a:ext cx="11165416" cy="4678986"/>
          </a:xfrm>
          <a:prstGeom prst="rect">
            <a:avLst/>
          </a:prstGeom>
        </p:spPr>
        <p:txBody>
          <a:bodyPr vert="horz" lIns="0" tIns="0" rIns="0" bIns="0" rtlCol="0">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6580634"/>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700214"/>
            <a:ext cx="11188699" cy="357187"/>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1972142905"/>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6"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4" y="2051999"/>
            <a:ext cx="3561616"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26396" y="1659145"/>
            <a:ext cx="3563955"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Edit Master text styles</a:t>
            </a:r>
          </a:p>
        </p:txBody>
      </p:sp>
    </p:spTree>
    <p:extLst>
      <p:ext uri="{BB962C8B-B14F-4D97-AF65-F5344CB8AC3E}">
        <p14:creationId xmlns:p14="http://schemas.microsoft.com/office/powerpoint/2010/main" val="337658680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1" y="317501"/>
            <a:ext cx="11202669" cy="3341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9" name="Text Placeholder 8"/>
          <p:cNvSpPr>
            <a:spLocks noGrp="1"/>
          </p:cNvSpPr>
          <p:nvPr>
            <p:ph type="body" sz="quarter" idx="13" hasCustomPrompt="1"/>
          </p:nvPr>
        </p:nvSpPr>
        <p:spPr>
          <a:xfrm>
            <a:off x="501651" y="651600"/>
            <a:ext cx="1120266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Content Placeholder 3"/>
          <p:cNvSpPr>
            <a:spLocks noGrp="1"/>
          </p:cNvSpPr>
          <p:nvPr>
            <p:ph sz="quarter" idx="10"/>
          </p:nvPr>
        </p:nvSpPr>
        <p:spPr>
          <a:xfrm>
            <a:off x="501651" y="1665289"/>
            <a:ext cx="5305579"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852535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8" name="Title Placeholder 1"/>
          <p:cNvSpPr>
            <a:spLocks noGrp="1"/>
          </p:cNvSpPr>
          <p:nvPr>
            <p:ph type="title" hasCustomPrompt="1"/>
          </p:nvPr>
        </p:nvSpPr>
        <p:spPr>
          <a:xfrm>
            <a:off x="501650"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a:tabLst>
                <a:tab pos="5029200" algn="r"/>
              </a:tabLst>
              <a:defRPr sz="1600"/>
            </a:lvl1pPr>
            <a:lvl2pPr>
              <a:tabLst>
                <a:tab pos="5029200" algn="r"/>
              </a:tabLst>
              <a:defRPr sz="1600"/>
            </a:lvl2pPr>
            <a:lvl3pPr>
              <a:tabLst>
                <a:tab pos="5029200" algn="r"/>
              </a:tabLst>
              <a:defRPr sz="1600"/>
            </a:lvl3pPr>
            <a:lvl4pPr>
              <a:tabLst>
                <a:tab pos="5029200" algn="r"/>
              </a:tabLst>
              <a:defRPr sz="1600"/>
            </a:lvl4pPr>
            <a:lvl5pPr>
              <a:tabLst>
                <a:tab pos="5029200" algn="r"/>
              </a:tabLst>
              <a:defRPr baseline="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814063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382802862"/>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3"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a:t>Edit Master text styles</a:t>
            </a:r>
          </a:p>
        </p:txBody>
      </p:sp>
      <p:sp>
        <p:nvSpPr>
          <p:cNvPr id="9" name="Chart Placeholder 2"/>
          <p:cNvSpPr>
            <a:spLocks noGrp="1"/>
          </p:cNvSpPr>
          <p:nvPr>
            <p:ph type="chart" sz="quarter" idx="24"/>
          </p:nvPr>
        </p:nvSpPr>
        <p:spPr>
          <a:xfrm>
            <a:off x="501651" y="2125013"/>
            <a:ext cx="5339063"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278061378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501650" y="1665289"/>
            <a:ext cx="4431857" cy="4716463"/>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700214"/>
            <a:ext cx="6240000" cy="4681537"/>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251799547"/>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700" cy="698500"/>
          </a:xfrm>
          <a:prstGeom prst="rect">
            <a:avLst/>
          </a:prstGeom>
        </p:spPr>
        <p:txBody>
          <a:bodyPr vert="horz" lIns="0" tIns="0" rIns="0" bIns="0" rtlCol="0" anchor="t" anchorCtr="0">
            <a:noAutofit/>
          </a:bodyPr>
          <a:lstStyle>
            <a:lvl1pPr>
              <a:defRPr/>
            </a:lvl1pPr>
          </a:lstStyle>
          <a:p>
            <a:r>
              <a:rPr lang="en-US" dirty="0"/>
              <a:t>Click to add title</a:t>
            </a:r>
          </a:p>
        </p:txBody>
      </p:sp>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2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a:tabLst>
                <a:tab pos="5029200" algn="r"/>
              </a:tabLst>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01652" y="651600"/>
            <a:ext cx="11188699"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2686903704"/>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a:t>Click to edit Master title style</a:t>
            </a:r>
            <a:endParaRPr lang="en-GB" dirty="0"/>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700213"/>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176400" indent="-176400">
              <a:spcAft>
                <a:spcPts val="0"/>
              </a:spcAft>
              <a:buFont typeface="Arial" panose="020B0604020202020204" pitchFamily="34" charset="0"/>
              <a:buChar char="•"/>
              <a:defRPr/>
            </a:lvl4pPr>
            <a:lvl5pPr marL="356400" indent="-176400">
              <a:spcAft>
                <a:spcPts val="0"/>
              </a:spcAft>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01650" y="651600"/>
            <a:ext cx="111887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Tree>
    <p:extLst>
      <p:ext uri="{BB962C8B-B14F-4D97-AF65-F5344CB8AC3E}">
        <p14:creationId xmlns:p14="http://schemas.microsoft.com/office/powerpoint/2010/main" val="3332838890"/>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700" cy="698500"/>
          </a:xfrm>
        </p:spPr>
        <p:txBody>
          <a:bodyPr/>
          <a:lstStyle/>
          <a:p>
            <a:r>
              <a:rPr lang="en-US" noProof="0"/>
              <a:t>Click to edit Master title style</a:t>
            </a:r>
            <a:endParaRPr lang="en-US" noProof="0" dirty="0"/>
          </a:p>
        </p:txBody>
      </p:sp>
      <p:sp>
        <p:nvSpPr>
          <p:cNvPr id="4" name="Rectangle 3"/>
          <p:cNvSpPr/>
          <p:nvPr/>
        </p:nvSpPr>
        <p:spPr>
          <a:xfrm>
            <a:off x="504000"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700213"/>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80213"/>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80213"/>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80213"/>
            <a:ext cx="3288000"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4" name="Text Placeholder 12"/>
          <p:cNvSpPr>
            <a:spLocks noGrp="1"/>
          </p:cNvSpPr>
          <p:nvPr>
            <p:ph type="body" sz="quarter" idx="33"/>
          </p:nvPr>
        </p:nvSpPr>
        <p:spPr>
          <a:xfrm>
            <a:off x="8396560" y="1880213"/>
            <a:ext cx="3302592"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a:spcAft>
                <a:spcPts val="0"/>
              </a:spcAft>
              <a:defRPr b="1"/>
            </a:lvl1pPr>
            <a:lvl2pPr>
              <a:spcAft>
                <a:spcPts val="0"/>
              </a:spcAft>
              <a:defRPr b="0"/>
            </a:lvl2pPr>
          </a:lstStyle>
          <a:p>
            <a:pPr lvl="0"/>
            <a:r>
              <a:rPr lang="en-US"/>
              <a:t>Edit Master text styles</a:t>
            </a:r>
          </a:p>
          <a:p>
            <a:pPr lvl="1"/>
            <a:r>
              <a:rPr lang="en-US"/>
              <a:t>Second level</a:t>
            </a:r>
          </a:p>
        </p:txBody>
      </p:sp>
      <p:sp>
        <p:nvSpPr>
          <p:cNvPr id="17"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396237311"/>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2"/>
            <a:ext cx="11188700" cy="698499"/>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01651" y="1700214"/>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700214"/>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700214"/>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09154321"/>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1"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59973758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01651" y="317502"/>
            <a:ext cx="11188700" cy="698499"/>
          </a:xfrm>
        </p:spPr>
        <p:txBody>
          <a:bodyPr/>
          <a:lstStyle/>
          <a:p>
            <a:r>
              <a:rPr lang="en-US" noProof="0"/>
              <a:t>Click to edit Master title style</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339095048"/>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2"/>
            <a:ext cx="5468941"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p:cNvSpPr>
            <a:spLocks noGrp="1"/>
          </p:cNvSpPr>
          <p:nvPr>
            <p:ph type="body" sz="quarter" idx="21"/>
          </p:nvPr>
        </p:nvSpPr>
        <p:spPr>
          <a:xfrm>
            <a:off x="6246195" y="1857892"/>
            <a:ext cx="5454668"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501651" y="317501"/>
            <a:ext cx="11188700" cy="697888"/>
          </a:xfrm>
        </p:spPr>
        <p:txBody>
          <a:bodyPr/>
          <a:lstStyle/>
          <a:p>
            <a:r>
              <a:rPr lang="en-US"/>
              <a:t>Click to edit Master title style</a:t>
            </a:r>
            <a:endParaRPr lang="en-GB"/>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24617" y="1857893"/>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0" name="Text Placeholder 8"/>
          <p:cNvSpPr>
            <a:spLocks noGrp="1"/>
          </p:cNvSpPr>
          <p:nvPr>
            <p:ph type="body" sz="quarter" idx="22"/>
          </p:nvPr>
        </p:nvSpPr>
        <p:spPr>
          <a:xfrm>
            <a:off x="504000" y="4249682"/>
            <a:ext cx="5466824"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8"/>
          <p:cNvSpPr>
            <a:spLocks noGrp="1"/>
          </p:cNvSpPr>
          <p:nvPr>
            <p:ph type="body" sz="quarter" idx="23"/>
          </p:nvPr>
        </p:nvSpPr>
        <p:spPr>
          <a:xfrm>
            <a:off x="6246194" y="4249682"/>
            <a:ext cx="5452959" cy="1695450"/>
          </a:xfrm>
        </p:spPr>
        <p:txBody>
          <a:bodyPr/>
          <a:lstStyle>
            <a:lvl1pPr>
              <a:spcAft>
                <a:spcPts val="1000"/>
              </a:spcAft>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55707"/>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6" name="Text Placeholder 8"/>
          <p:cNvSpPr>
            <a:spLocks noGrp="1"/>
          </p:cNvSpPr>
          <p:nvPr>
            <p:ph type="body" sz="quarter" idx="13" hasCustomPrompt="1"/>
          </p:nvPr>
        </p:nvSpPr>
        <p:spPr>
          <a:xfrm>
            <a:off x="501651" y="651600"/>
            <a:ext cx="11197501"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7" name="Picture Placeholder 29"/>
          <p:cNvSpPr>
            <a:spLocks noGrp="1"/>
          </p:cNvSpPr>
          <p:nvPr>
            <p:ph type="pic" sz="quarter" idx="19" hasCustomPrompt="1"/>
          </p:nvPr>
        </p:nvSpPr>
        <p:spPr>
          <a:xfrm>
            <a:off x="4769491" y="1863917"/>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Tree>
    <p:extLst>
      <p:ext uri="{BB962C8B-B14F-4D97-AF65-F5344CB8AC3E}">
        <p14:creationId xmlns:p14="http://schemas.microsoft.com/office/powerpoint/2010/main" val="3636434164"/>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128000" y="1851441"/>
            <a:ext cx="3571153" cy="3845754"/>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061321133"/>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700" cy="705184"/>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a:defRPr b="1">
                <a:solidFill>
                  <a:schemeClr val="accent1"/>
                </a:solidFill>
              </a:defRPr>
            </a:lvl1pPr>
            <a:lvl2pPr>
              <a:spcAft>
                <a:spcPts val="1000"/>
              </a:spcAft>
              <a:defRPr/>
            </a:lvl2pPr>
            <a:lvl3pPr marL="0" indent="0">
              <a:spcAft>
                <a:spcPts val="1000"/>
              </a:spcAft>
              <a:buNone/>
              <a:defRPr/>
            </a:lvl3pPr>
            <a:lvl4pPr marL="176400" indent="-176400">
              <a:spcAft>
                <a:spcPts val="1000"/>
              </a:spcAft>
              <a:buFont typeface="Arial" panose="020B0604020202020204" pitchFamily="34" charset="0"/>
              <a:buChar char="•"/>
              <a:defRPr/>
            </a:lvl4pPr>
            <a:lvl5pPr marL="356400" indent="-176400">
              <a:spcAft>
                <a:spcPts val="1000"/>
              </a:spcAft>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1062732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9" name="Title Placeholder 1"/>
          <p:cNvSpPr>
            <a:spLocks noGrp="1"/>
          </p:cNvSpPr>
          <p:nvPr>
            <p:ph type="title" hasCustomPrompt="1"/>
          </p:nvPr>
        </p:nvSpPr>
        <p:spPr>
          <a:xfrm>
            <a:off x="501650" y="317500"/>
            <a:ext cx="11188700" cy="698501"/>
          </a:xfrm>
          <a:prstGeom prst="rect">
            <a:avLst/>
          </a:prstGeom>
        </p:spPr>
        <p:txBody>
          <a:bodyPr vert="horz" lIns="0" tIns="0" rIns="0" bIns="0" rtlCol="0" anchor="t" anchorCtr="0">
            <a:noAutofit/>
          </a:bodyPr>
          <a:lstStyle>
            <a:lvl1pPr>
              <a:defRPr/>
            </a:lvl1pPr>
          </a:lstStyle>
          <a:p>
            <a:r>
              <a:rPr lang="en-US" dirty="0"/>
              <a:t>Click to add title</a:t>
            </a:r>
          </a:p>
        </p:txBody>
      </p:sp>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57306104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20262501"/>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52303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Divider - Deloitte black">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000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18" name="Title 1"/>
          <p:cNvSpPr>
            <a:spLocks noGrp="1"/>
          </p:cNvSpPr>
          <p:nvPr>
            <p:ph type="title"/>
          </p:nvPr>
        </p:nvSpPr>
        <p:spPr bwMode="gray">
          <a:xfrm>
            <a:off x="469900" y="1705669"/>
            <a:ext cx="10418233" cy="1592403"/>
          </a:xfrm>
        </p:spPr>
        <p:txBody>
          <a:bodyPr anchor="b"/>
          <a:lstStyle>
            <a:lvl1pPr>
              <a:lnSpc>
                <a:spcPct val="95000"/>
              </a:lnSpc>
              <a:defRPr sz="3851"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1">
                <a:solidFill>
                  <a:schemeClr val="tx1"/>
                </a:solidFill>
              </a:defRPr>
            </a:lvl1pPr>
            <a:lvl2pPr marL="609593" indent="0">
              <a:buNone/>
              <a:defRPr sz="2667">
                <a:solidFill>
                  <a:schemeClr val="tx1">
                    <a:tint val="75000"/>
                  </a:schemeClr>
                </a:solidFill>
              </a:defRPr>
            </a:lvl2pPr>
            <a:lvl3pPr marL="1219185" indent="0">
              <a:buNone/>
              <a:defRPr sz="2400">
                <a:solidFill>
                  <a:schemeClr val="tx1">
                    <a:tint val="75000"/>
                  </a:schemeClr>
                </a:solidFill>
              </a:defRPr>
            </a:lvl3pPr>
            <a:lvl4pPr marL="1828777" indent="0">
              <a:buNone/>
              <a:defRPr sz="2133">
                <a:solidFill>
                  <a:schemeClr val="tx1">
                    <a:tint val="75000"/>
                  </a:schemeClr>
                </a:solidFill>
              </a:defRPr>
            </a:lvl4pPr>
            <a:lvl5pPr marL="2438370" indent="0">
              <a:buNone/>
              <a:defRPr sz="2133">
                <a:solidFill>
                  <a:schemeClr val="tx1">
                    <a:tint val="75000"/>
                  </a:schemeClr>
                </a:solidFill>
              </a:defRPr>
            </a:lvl5pPr>
            <a:lvl6pPr marL="3047962" indent="0">
              <a:buNone/>
              <a:defRPr sz="2133">
                <a:solidFill>
                  <a:schemeClr val="tx1">
                    <a:tint val="75000"/>
                  </a:schemeClr>
                </a:solidFill>
              </a:defRPr>
            </a:lvl6pPr>
            <a:lvl7pPr marL="3657555" indent="0">
              <a:buNone/>
              <a:defRPr sz="2133">
                <a:solidFill>
                  <a:schemeClr val="tx1">
                    <a:tint val="75000"/>
                  </a:schemeClr>
                </a:solidFill>
              </a:defRPr>
            </a:lvl7pPr>
            <a:lvl8pPr marL="4267147" indent="0">
              <a:buNone/>
              <a:defRPr sz="2133">
                <a:solidFill>
                  <a:schemeClr val="tx1">
                    <a:tint val="75000"/>
                  </a:schemeClr>
                </a:solidFill>
              </a:defRPr>
            </a:lvl8pPr>
            <a:lvl9pPr marL="4876738" indent="0">
              <a:buNone/>
              <a:defRPr sz="2133">
                <a:solidFill>
                  <a:schemeClr val="tx1">
                    <a:tint val="75000"/>
                  </a:schemeClr>
                </a:solidFill>
              </a:defRPr>
            </a:lvl9pPr>
          </a:lstStyle>
          <a:p>
            <a:pPr lvl="0"/>
            <a:r>
              <a:rPr lang="en-GB" noProof="0"/>
              <a:t>Edit Master text styles</a:t>
            </a:r>
            <a:endParaRPr lang="en-GB"/>
          </a:p>
        </p:txBody>
      </p:sp>
      <p:sp>
        <p:nvSpPr>
          <p:cNvPr id="22" name="TextBox 21"/>
          <p:cNvSpPr txBox="1"/>
          <p:nvPr userDrawn="1"/>
        </p:nvSpPr>
        <p:spPr>
          <a:xfrm>
            <a:off x="11414126" y="6477000"/>
            <a:ext cx="307975" cy="100156"/>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1" noProof="0">
                <a:solidFill>
                  <a:schemeClr val="tx1"/>
                </a:solidFill>
              </a:rPr>
              <a:pPr marL="0" indent="0" algn="r">
                <a:spcBef>
                  <a:spcPts val="800"/>
                </a:spcBef>
                <a:buSzPct val="100000"/>
                <a:buFont typeface="Arial"/>
                <a:buNone/>
              </a:pPr>
              <a:t>‹#›</a:t>
            </a:fld>
            <a:endParaRPr lang="en-GB" sz="651" noProof="0" dirty="0">
              <a:solidFill>
                <a:schemeClr val="tx1"/>
              </a:solidFill>
            </a:endParaRPr>
          </a:p>
        </p:txBody>
      </p:sp>
      <p:sp>
        <p:nvSpPr>
          <p:cNvPr id="2" name="Footer Placeholder 1"/>
          <p:cNvSpPr>
            <a:spLocks noGrp="1"/>
          </p:cNvSpPr>
          <p:nvPr>
            <p:ph type="ftr" sz="quarter" idx="10"/>
          </p:nvPr>
        </p:nvSpPr>
        <p:spPr>
          <a:xfrm>
            <a:off x="6184900" y="6476999"/>
            <a:ext cx="4536725" cy="244476"/>
          </a:xfrm>
          <a:prstGeom prst="rect">
            <a:avLst/>
          </a:prstGeom>
        </p:spPr>
        <p:txBody>
          <a:bodyPr/>
          <a:lstStyle/>
          <a:p>
            <a:endParaRPr lang="en-GB" dirty="0"/>
          </a:p>
        </p:txBody>
      </p:sp>
    </p:spTree>
    <p:extLst>
      <p:ext uri="{BB962C8B-B14F-4D97-AF65-F5344CB8AC3E}">
        <p14:creationId xmlns:p14="http://schemas.microsoft.com/office/powerpoint/2010/main" val="354917611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Ref idx="1001">
        <a:schemeClr val="bg1"/>
      </p:bgRef>
    </p:bg>
    <p:spTree>
      <p:nvGrpSpPr>
        <p:cNvPr id="1" name=""/>
        <p:cNvGrpSpPr/>
        <p:nvPr/>
      </p:nvGrpSpPr>
      <p:grpSpPr>
        <a:xfrm>
          <a:off x="0" y="0"/>
          <a:ext cx="0" cy="0"/>
          <a:chOff x="0" y="0"/>
          <a:chExt cx="0" cy="0"/>
        </a:xfrm>
      </p:grpSpPr>
      <p:sp>
        <p:nvSpPr>
          <p:cNvPr id="7" name="Colored background"/>
          <p:cNvSpPr/>
          <p:nvPr userDrawn="1"/>
        </p:nvSpPr>
        <p:spPr bwMode="gray">
          <a:xfrm>
            <a:off x="0" y="0"/>
            <a:ext cx="12189600" cy="6858000"/>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tx1"/>
              </a:solidFill>
            </a:endParaRPr>
          </a:p>
        </p:txBody>
      </p:sp>
      <p:sp>
        <p:nvSpPr>
          <p:cNvPr id="2" name="Title 1"/>
          <p:cNvSpPr>
            <a:spLocks noGrp="1"/>
          </p:cNvSpPr>
          <p:nvPr>
            <p:ph type="title"/>
          </p:nvPr>
        </p:nvSpPr>
        <p:spPr bwMode="gray">
          <a:xfrm>
            <a:off x="469900" y="1700214"/>
            <a:ext cx="10418233" cy="1592403"/>
          </a:xfrm>
        </p:spPr>
        <p:txBody>
          <a:bodyPr anchor="b"/>
          <a:lstStyle>
            <a:lvl1pPr>
              <a:lnSpc>
                <a:spcPct val="95000"/>
              </a:lnSpc>
              <a:defRPr sz="3851" b="1">
                <a:solidFill>
                  <a:schemeClr val="tx1"/>
                </a:solidFill>
                <a:latin typeface="+mj-lt"/>
                <a:ea typeface="Open Sans" panose="020B0606030504020204" pitchFamily="34" charset="0"/>
                <a:cs typeface="Open Sans" panose="020B0606030504020204" pitchFamily="34" charset="0"/>
              </a:defRPr>
            </a:lvl1pPr>
          </a:lstStyle>
          <a:p>
            <a:r>
              <a:rPr lang="en-GB" noProof="0"/>
              <a:t>Click to edit Master title style</a:t>
            </a:r>
            <a:endParaRPr lang="en-GB" noProof="0" dirty="0"/>
          </a:p>
        </p:txBody>
      </p:sp>
      <p:sp>
        <p:nvSpPr>
          <p:cNvPr id="3" name="Text Placeholder 2"/>
          <p:cNvSpPr>
            <a:spLocks noGrp="1"/>
          </p:cNvSpPr>
          <p:nvPr>
            <p:ph type="body" idx="1"/>
          </p:nvPr>
        </p:nvSpPr>
        <p:spPr bwMode="gray">
          <a:xfrm>
            <a:off x="469901" y="3423545"/>
            <a:ext cx="10418235" cy="1566532"/>
          </a:xfrm>
        </p:spPr>
        <p:txBody>
          <a:bodyPr lIns="0" tIns="0" rIns="0" bIns="0">
            <a:noAutofit/>
          </a:bodyPr>
          <a:lstStyle>
            <a:lvl1pPr marL="0" indent="0">
              <a:lnSpc>
                <a:spcPct val="95000"/>
              </a:lnSpc>
              <a:spcAft>
                <a:spcPts val="0"/>
              </a:spcAft>
              <a:buNone/>
              <a:defRPr sz="3851">
                <a:solidFill>
                  <a:schemeClr val="tx1"/>
                </a:solidFill>
              </a:defRPr>
            </a:lvl1pPr>
            <a:lvl2pPr marL="609593" indent="0">
              <a:buNone/>
              <a:defRPr sz="2667">
                <a:solidFill>
                  <a:schemeClr val="tx1">
                    <a:tint val="75000"/>
                  </a:schemeClr>
                </a:solidFill>
              </a:defRPr>
            </a:lvl2pPr>
            <a:lvl3pPr marL="1219185" indent="0">
              <a:buNone/>
              <a:defRPr sz="2400">
                <a:solidFill>
                  <a:schemeClr val="tx1">
                    <a:tint val="75000"/>
                  </a:schemeClr>
                </a:solidFill>
              </a:defRPr>
            </a:lvl3pPr>
            <a:lvl4pPr marL="1828777" indent="0">
              <a:buNone/>
              <a:defRPr sz="2133">
                <a:solidFill>
                  <a:schemeClr val="tx1">
                    <a:tint val="75000"/>
                  </a:schemeClr>
                </a:solidFill>
              </a:defRPr>
            </a:lvl4pPr>
            <a:lvl5pPr marL="2438370" indent="0">
              <a:buNone/>
              <a:defRPr sz="2133">
                <a:solidFill>
                  <a:schemeClr val="tx1">
                    <a:tint val="75000"/>
                  </a:schemeClr>
                </a:solidFill>
              </a:defRPr>
            </a:lvl5pPr>
            <a:lvl6pPr marL="3047962" indent="0">
              <a:buNone/>
              <a:defRPr sz="2133">
                <a:solidFill>
                  <a:schemeClr val="tx1">
                    <a:tint val="75000"/>
                  </a:schemeClr>
                </a:solidFill>
              </a:defRPr>
            </a:lvl6pPr>
            <a:lvl7pPr marL="3657555" indent="0">
              <a:buNone/>
              <a:defRPr sz="2133">
                <a:solidFill>
                  <a:schemeClr val="tx1">
                    <a:tint val="75000"/>
                  </a:schemeClr>
                </a:solidFill>
              </a:defRPr>
            </a:lvl7pPr>
            <a:lvl8pPr marL="4267147" indent="0">
              <a:buNone/>
              <a:defRPr sz="2133">
                <a:solidFill>
                  <a:schemeClr val="tx1">
                    <a:tint val="75000"/>
                  </a:schemeClr>
                </a:solidFill>
              </a:defRPr>
            </a:lvl8pPr>
            <a:lvl9pPr marL="4876738" indent="0">
              <a:buNone/>
              <a:defRPr sz="2133">
                <a:solidFill>
                  <a:schemeClr val="tx1">
                    <a:tint val="75000"/>
                  </a:schemeClr>
                </a:solidFill>
              </a:defRPr>
            </a:lvl9pPr>
          </a:lstStyle>
          <a:p>
            <a:pPr lvl="0"/>
            <a:r>
              <a:rPr lang="en-GB" noProof="0"/>
              <a:t>Edit Master text styles</a:t>
            </a:r>
            <a:endParaRPr lang="en-GB"/>
          </a:p>
        </p:txBody>
      </p:sp>
      <p:sp>
        <p:nvSpPr>
          <p:cNvPr id="14" name="TextBox 13"/>
          <p:cNvSpPr txBox="1"/>
          <p:nvPr userDrawn="1"/>
        </p:nvSpPr>
        <p:spPr>
          <a:xfrm>
            <a:off x="11414126" y="6477000"/>
            <a:ext cx="307975" cy="100156"/>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GB" sz="651" noProof="0">
                <a:solidFill>
                  <a:schemeClr val="tx1"/>
                </a:solidFill>
              </a:rPr>
              <a:pPr marL="0" indent="0" algn="r">
                <a:spcBef>
                  <a:spcPts val="800"/>
                </a:spcBef>
                <a:buSzPct val="100000"/>
                <a:buFont typeface="Arial"/>
                <a:buNone/>
              </a:pPr>
              <a:t>‹#›</a:t>
            </a:fld>
            <a:endParaRPr lang="en-GB" sz="651" noProof="0" dirty="0">
              <a:solidFill>
                <a:schemeClr val="tx1"/>
              </a:solidFill>
            </a:endParaRPr>
          </a:p>
        </p:txBody>
      </p:sp>
      <p:sp>
        <p:nvSpPr>
          <p:cNvPr id="4" name="Footer Placeholder 3"/>
          <p:cNvSpPr>
            <a:spLocks noGrp="1"/>
          </p:cNvSpPr>
          <p:nvPr>
            <p:ph type="ftr" sz="quarter" idx="10"/>
          </p:nvPr>
        </p:nvSpPr>
        <p:spPr>
          <a:xfrm>
            <a:off x="6184900" y="6476999"/>
            <a:ext cx="4536725" cy="244476"/>
          </a:xfrm>
          <a:prstGeom prst="rect">
            <a:avLst/>
          </a:prstGeom>
        </p:spPr>
        <p:txBody>
          <a:bodyPr/>
          <a:lstStyle/>
          <a:p>
            <a:endParaRPr lang="en-GB" dirty="0"/>
          </a:p>
        </p:txBody>
      </p:sp>
    </p:spTree>
    <p:extLst>
      <p:ext uri="{BB962C8B-B14F-4D97-AF65-F5344CB8AC3E}">
        <p14:creationId xmlns:p14="http://schemas.microsoft.com/office/powerpoint/2010/main" val="193527316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3.xml"/><Relationship Id="rId18" Type="http://schemas.openxmlformats.org/officeDocument/2006/relationships/slideLayout" Target="../slideLayouts/slideLayout48.xml"/><Relationship Id="rId26" Type="http://schemas.openxmlformats.org/officeDocument/2006/relationships/slideLayout" Target="../slideLayouts/slideLayout56.xml"/><Relationship Id="rId3" Type="http://schemas.openxmlformats.org/officeDocument/2006/relationships/slideLayout" Target="../slideLayouts/slideLayout33.xml"/><Relationship Id="rId21" Type="http://schemas.openxmlformats.org/officeDocument/2006/relationships/slideLayout" Target="../slideLayouts/slideLayout51.xml"/><Relationship Id="rId34" Type="http://schemas.openxmlformats.org/officeDocument/2006/relationships/oleObject" Target="../embeddings/oleObject2.bin"/><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tags" Target="../tags/tag2.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0" Type="http://schemas.openxmlformats.org/officeDocument/2006/relationships/slideLayout" Target="../slideLayouts/slideLayout50.xml"/><Relationship Id="rId29" Type="http://schemas.openxmlformats.org/officeDocument/2006/relationships/slideLayout" Target="../slideLayouts/slideLayout59.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theme" Target="../theme/theme2.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10" Type="http://schemas.openxmlformats.org/officeDocument/2006/relationships/slideLayout" Target="../slideLayouts/slideLayout40.xml"/><Relationship Id="rId19" Type="http://schemas.openxmlformats.org/officeDocument/2006/relationships/slideLayout" Target="../slideLayouts/slideLayout49.xml"/><Relationship Id="rId31" Type="http://schemas.openxmlformats.org/officeDocument/2006/relationships/slideLayout" Target="../slideLayouts/slideLayout61.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35" Type="http://schemas.openxmlformats.org/officeDocument/2006/relationships/image" Target="../media/image1.emf"/><Relationship Id="rId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2"/>
            </p:custDataLst>
            <p:extLst>
              <p:ext uri="{D42A27DB-BD31-4B8C-83A1-F6EECF244321}">
                <p14:modId xmlns:p14="http://schemas.microsoft.com/office/powerpoint/2010/main" val="313028277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3" imgW="270" imgH="270" progId="TCLayout.ActiveDocument.1">
                  <p:embed/>
                </p:oleObj>
              </mc:Choice>
              <mc:Fallback>
                <p:oleObj name="think-cell Slide" r:id="rId33" imgW="270" imgH="270" progId="TCLayout.ActiveDocument.1">
                  <p:embed/>
                  <p:pic>
                    <p:nvPicPr>
                      <p:cNvPr id="4" name="Object 3" hidden="1"/>
                      <p:cNvPicPr/>
                      <p:nvPr/>
                    </p:nvPicPr>
                    <p:blipFill>
                      <a:blip r:embed="rId34"/>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p:nvSpPr>
        <p:spPr>
          <a:xfrm>
            <a:off x="501650" y="6548436"/>
            <a:ext cx="5355168" cy="92333"/>
          </a:xfrm>
          <a:prstGeom prst="rect">
            <a:avLst/>
          </a:prstGeom>
          <a:noFill/>
        </p:spPr>
        <p:txBody>
          <a:bodyPr wrap="square" lIns="0" tIns="0" rIns="0" bIns="0" rtlCol="0">
            <a:spAutoFit/>
          </a:bodyPr>
          <a:lstStyle/>
          <a:p>
            <a:pPr marL="0" indent="0">
              <a:spcBef>
                <a:spcPts val="662"/>
              </a:spcBef>
              <a:buSzPct val="100000"/>
              <a:buFont typeface="Arial"/>
              <a:buNone/>
            </a:pPr>
            <a:r>
              <a:rPr lang="fr-FR" sz="600" noProof="0" dirty="0">
                <a:solidFill>
                  <a:schemeClr val="tx1"/>
                </a:solidFill>
              </a:rPr>
              <a:t>© 2019 Deloitte Touche </a:t>
            </a:r>
            <a:r>
              <a:rPr lang="fr-FR" sz="600" noProof="0" dirty="0" err="1">
                <a:solidFill>
                  <a:schemeClr val="tx1"/>
                </a:solidFill>
              </a:rPr>
              <a:t>Tohmatsu</a:t>
            </a:r>
            <a:r>
              <a:rPr lang="fr-FR" sz="600" noProof="0" dirty="0">
                <a:solidFill>
                  <a:schemeClr val="tx1"/>
                </a:solidFill>
              </a:rPr>
              <a:t> </a:t>
            </a:r>
            <a:r>
              <a:rPr lang="fr-FR" sz="600" noProof="0" dirty="0" err="1">
                <a:solidFill>
                  <a:schemeClr val="tx1"/>
                </a:solidFill>
              </a:rPr>
              <a:t>India</a:t>
            </a:r>
            <a:r>
              <a:rPr lang="fr-FR" sz="600" noProof="0" dirty="0">
                <a:solidFill>
                  <a:schemeClr val="tx1"/>
                </a:solidFill>
              </a:rPr>
              <a:t> LLP</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370947" y="660273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
        <p:nvSpPr>
          <p:cNvPr id="5" name="TextBox 4"/>
          <p:cNvSpPr txBox="1"/>
          <p:nvPr userDrawn="1"/>
        </p:nvSpPr>
        <p:spPr>
          <a:xfrm>
            <a:off x="9726707" y="89646"/>
            <a:ext cx="1963644" cy="123111"/>
          </a:xfrm>
          <a:prstGeom prst="rect">
            <a:avLst/>
          </a:prstGeom>
          <a:noFill/>
        </p:spPr>
        <p:txBody>
          <a:bodyPr wrap="square" lIns="0" tIns="0" rIns="0" bIns="0" rtlCol="0">
            <a:spAutoFit/>
          </a:bodyPr>
          <a:lstStyle/>
          <a:p>
            <a:pPr marL="0" indent="0" algn="r">
              <a:spcBef>
                <a:spcPts val="600"/>
              </a:spcBef>
              <a:buSzPct val="100000"/>
              <a:buFont typeface="Arial"/>
              <a:buNone/>
            </a:pPr>
            <a:r>
              <a:rPr lang="en-US" sz="800" i="1" dirty="0">
                <a:solidFill>
                  <a:srgbClr val="313131"/>
                </a:solidFill>
              </a:rPr>
              <a:t>Working draft for</a:t>
            </a:r>
            <a:r>
              <a:rPr lang="en-US" sz="800" i="1" baseline="0" dirty="0">
                <a:solidFill>
                  <a:srgbClr val="313131"/>
                </a:solidFill>
              </a:rPr>
              <a:t> discussion</a:t>
            </a:r>
            <a:endParaRPr lang="en-IN" sz="800" i="1" dirty="0">
              <a:solidFill>
                <a:srgbClr val="313131"/>
              </a:solidFill>
            </a:endParaRPr>
          </a:p>
        </p:txBody>
      </p:sp>
    </p:spTree>
    <p:extLst>
      <p:ext uri="{BB962C8B-B14F-4D97-AF65-F5344CB8AC3E}">
        <p14:creationId xmlns:p14="http://schemas.microsoft.com/office/powerpoint/2010/main" val="4207331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ransition>
    <p:fade/>
  </p:transition>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2" orient="horz" pos="2160">
          <p15:clr>
            <a:srgbClr val="F26B43"/>
          </p15:clr>
        </p15:guide>
        <p15:guide id="3" orient="horz" pos="4020">
          <p15:clr>
            <a:srgbClr val="F26B43"/>
          </p15:clr>
        </p15:guide>
        <p15:guide id="4" pos="237">
          <p15:clr>
            <a:srgbClr val="F26B43"/>
          </p15:clr>
        </p15:guide>
        <p15:guide id="5" pos="5523">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1" orient="horz" pos="1049">
          <p15:clr>
            <a:srgbClr val="F26B43"/>
          </p15:clr>
        </p15:guide>
        <p15:guide id="22" orient="horz" pos="6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3"/>
            </p:custDataLst>
            <p:extLst>
              <p:ext uri="{D42A27DB-BD31-4B8C-83A1-F6EECF244321}">
                <p14:modId xmlns:p14="http://schemas.microsoft.com/office/powerpoint/2010/main" val="107454631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4" imgW="270" imgH="270" progId="TCLayout.ActiveDocument.1">
                  <p:embed/>
                </p:oleObj>
              </mc:Choice>
              <mc:Fallback>
                <p:oleObj name="think-cell Slide" r:id="rId34" imgW="270" imgH="270" progId="TCLayout.ActiveDocument.1">
                  <p:embed/>
                  <p:pic>
                    <p:nvPicPr>
                      <p:cNvPr id="4" name="Object 3" hidden="1"/>
                      <p:cNvPicPr/>
                      <p:nvPr/>
                    </p:nvPicPr>
                    <p:blipFill>
                      <a:blip r:embed="rId35"/>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69215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p:nvSpPr>
        <p:spPr>
          <a:xfrm>
            <a:off x="501650" y="6548436"/>
            <a:ext cx="5355168" cy="92333"/>
          </a:xfrm>
          <a:prstGeom prst="rect">
            <a:avLst/>
          </a:prstGeom>
          <a:noFill/>
        </p:spPr>
        <p:txBody>
          <a:bodyPr wrap="square" lIns="0" tIns="0" rIns="0" bIns="0" rtlCol="0">
            <a:spAutoFit/>
          </a:bodyPr>
          <a:lstStyle/>
          <a:p>
            <a:pPr marL="0" indent="0">
              <a:spcBef>
                <a:spcPts val="662"/>
              </a:spcBef>
              <a:buSzPct val="100000"/>
              <a:buFont typeface="Arial"/>
              <a:buNone/>
            </a:pPr>
            <a:r>
              <a:rPr lang="fr-FR" sz="600" noProof="0" dirty="0">
                <a:solidFill>
                  <a:schemeClr val="tx1"/>
                </a:solidFill>
              </a:rPr>
              <a:t>© 2021 Deloitte Touche </a:t>
            </a:r>
            <a:r>
              <a:rPr lang="fr-FR" sz="600" noProof="0" dirty="0" err="1">
                <a:solidFill>
                  <a:schemeClr val="tx1"/>
                </a:solidFill>
              </a:rPr>
              <a:t>Tohmatsu</a:t>
            </a:r>
            <a:r>
              <a:rPr lang="fr-FR" sz="600" noProof="0" dirty="0">
                <a:solidFill>
                  <a:schemeClr val="tx1"/>
                </a:solidFill>
              </a:rPr>
              <a:t> India LLP</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370947" y="6602731"/>
            <a:ext cx="307975" cy="100027"/>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650" noProof="0" smtClean="0">
                <a:solidFill>
                  <a:schemeClr val="tx1"/>
                </a:solidFill>
              </a:rPr>
              <a:pPr marL="0" indent="0" algn="r">
                <a:spcBef>
                  <a:spcPts val="600"/>
                </a:spcBef>
                <a:buSzPct val="100000"/>
                <a:buFont typeface="Arial"/>
                <a:buNone/>
              </a:pPr>
              <a:t>‹#›</a:t>
            </a:fld>
            <a:endParaRPr lang="en-US" sz="650" noProof="0" dirty="0">
              <a:solidFill>
                <a:schemeClr val="tx1"/>
              </a:solidFill>
            </a:endParaRPr>
          </a:p>
        </p:txBody>
      </p:sp>
      <p:sp>
        <p:nvSpPr>
          <p:cNvPr id="5" name="TextBox 4"/>
          <p:cNvSpPr txBox="1"/>
          <p:nvPr userDrawn="1"/>
        </p:nvSpPr>
        <p:spPr>
          <a:xfrm>
            <a:off x="9726707" y="89646"/>
            <a:ext cx="1963644" cy="123111"/>
          </a:xfrm>
          <a:prstGeom prst="rect">
            <a:avLst/>
          </a:prstGeom>
          <a:noFill/>
        </p:spPr>
        <p:txBody>
          <a:bodyPr wrap="square" lIns="0" tIns="0" rIns="0" bIns="0" rtlCol="0">
            <a:spAutoFit/>
          </a:bodyPr>
          <a:lstStyle/>
          <a:p>
            <a:pPr marL="0" indent="0" algn="r">
              <a:spcBef>
                <a:spcPts val="600"/>
              </a:spcBef>
              <a:buSzPct val="100000"/>
              <a:buFont typeface="Arial"/>
              <a:buNone/>
            </a:pPr>
            <a:r>
              <a:rPr lang="en-US" sz="800" i="1" dirty="0">
                <a:solidFill>
                  <a:srgbClr val="313131"/>
                </a:solidFill>
              </a:rPr>
              <a:t>Working draft for</a:t>
            </a:r>
            <a:r>
              <a:rPr lang="en-US" sz="800" i="1" baseline="0" dirty="0">
                <a:solidFill>
                  <a:srgbClr val="313131"/>
                </a:solidFill>
              </a:rPr>
              <a:t> discussion</a:t>
            </a:r>
            <a:endParaRPr lang="en-IN" sz="800" i="1" dirty="0">
              <a:solidFill>
                <a:srgbClr val="313131"/>
              </a:solidFill>
            </a:endParaRPr>
          </a:p>
        </p:txBody>
      </p:sp>
    </p:spTree>
    <p:extLst>
      <p:ext uri="{BB962C8B-B14F-4D97-AF65-F5344CB8AC3E}">
        <p14:creationId xmlns:p14="http://schemas.microsoft.com/office/powerpoint/2010/main" val="1665157107"/>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 id="2147483715" r:id="rId22"/>
    <p:sldLayoutId id="2147483716" r:id="rId23"/>
    <p:sldLayoutId id="2147483717" r:id="rId24"/>
    <p:sldLayoutId id="2147483718" r:id="rId25"/>
    <p:sldLayoutId id="2147483719" r:id="rId26"/>
    <p:sldLayoutId id="2147483720" r:id="rId27"/>
    <p:sldLayoutId id="2147483721" r:id="rId28"/>
    <p:sldLayoutId id="2147483722" r:id="rId29"/>
    <p:sldLayoutId id="2147483723" r:id="rId30"/>
    <p:sldLayoutId id="2147483724" r:id="rId31"/>
  </p:sldLayoutIdLst>
  <p:transition>
    <p:fade/>
  </p:transition>
  <p:txStyles>
    <p:titleStyle>
      <a:lvl1pPr algn="l" defTabSz="914400" rtl="0" eaLnBrk="1" latinLnBrk="0" hangingPunct="1">
        <a:spcBef>
          <a:spcPct val="0"/>
        </a:spcBef>
        <a:buNone/>
        <a:defRPr sz="2000" kern="1200">
          <a:solidFill>
            <a:schemeClr val="tx1"/>
          </a:solidFill>
          <a:latin typeface="+mj-lt"/>
          <a:ea typeface="+mj-ea"/>
          <a:cs typeface="+mj-cs"/>
        </a:defRPr>
      </a:lvl1pPr>
    </p:titleStyle>
    <p:bodyStyle>
      <a:lvl1pPr marL="0" indent="0" algn="l" defTabSz="914400" rtl="0" eaLnBrk="1" latinLnBrk="0" hangingPunct="1">
        <a:spcBef>
          <a:spcPts val="0"/>
        </a:spcBef>
        <a:spcAft>
          <a:spcPts val="1000"/>
        </a:spcAft>
        <a:buSzPct val="100000"/>
        <a:buFont typeface="Arial" panose="020B0604020202020204" pitchFamily="34" charset="0"/>
        <a:buNone/>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4">
          <p15:clr>
            <a:srgbClr val="F26B43"/>
          </p15:clr>
        </p15:guide>
        <p15:guide id="2" orient="horz" pos="2160">
          <p15:clr>
            <a:srgbClr val="F26B43"/>
          </p15:clr>
        </p15:guide>
        <p15:guide id="3" orient="horz" pos="4020">
          <p15:clr>
            <a:srgbClr val="F26B43"/>
          </p15:clr>
        </p15:guide>
        <p15:guide id="4" pos="237">
          <p15:clr>
            <a:srgbClr val="F26B43"/>
          </p15:clr>
        </p15:guide>
        <p15:guide id="5" pos="5523">
          <p15:clr>
            <a:srgbClr val="F26B43"/>
          </p15:clr>
        </p15:guide>
        <p15:guide id="6" orient="horz" pos="1071">
          <p15:clr>
            <a:srgbClr val="F26B43"/>
          </p15:clr>
        </p15:guide>
        <p15:guide id="7" orient="horz" pos="200">
          <p15:clr>
            <a:srgbClr val="F26B43"/>
          </p15:clr>
        </p15:guide>
        <p15:guide id="8" orient="horz" pos="4080">
          <p15:clr>
            <a:srgbClr val="F26B43"/>
          </p15:clr>
        </p15:guide>
        <p15:guide id="10" pos="3721">
          <p15:clr>
            <a:srgbClr val="F26B43"/>
          </p15:clr>
        </p15:guide>
        <p15:guide id="11" orient="horz" pos="236">
          <p15:clr>
            <a:srgbClr val="F26B43"/>
          </p15:clr>
        </p15:guide>
        <p15:guide id="12" pos="1022">
          <p15:clr>
            <a:srgbClr val="F26B43"/>
          </p15:clr>
        </p15:guide>
        <p15:guide id="13" pos="1137">
          <p15:clr>
            <a:srgbClr val="F26B43"/>
          </p15:clr>
        </p15:guide>
        <p15:guide id="14" pos="1920">
          <p15:clr>
            <a:srgbClr val="F26B43"/>
          </p15:clr>
        </p15:guide>
        <p15:guide id="15" pos="2033">
          <p15:clr>
            <a:srgbClr val="F26B43"/>
          </p15:clr>
        </p15:guide>
        <p15:guide id="16" pos="4620">
          <p15:clr>
            <a:srgbClr val="F26B43"/>
          </p15:clr>
        </p15:guide>
        <p15:guide id="17" pos="2823">
          <p15:clr>
            <a:srgbClr val="F26B43"/>
          </p15:clr>
        </p15:guide>
        <p15:guide id="18" pos="2937">
          <p15:clr>
            <a:srgbClr val="F26B43"/>
          </p15:clr>
        </p15:guide>
        <p15:guide id="19" pos="2880">
          <p15:clr>
            <a:srgbClr val="F26B43"/>
          </p15:clr>
        </p15:guide>
        <p15:guide id="20" pos="4734">
          <p15:clr>
            <a:srgbClr val="F26B43"/>
          </p15:clr>
        </p15:guide>
        <p15:guide id="21" orient="horz" pos="1049">
          <p15:clr>
            <a:srgbClr val="F26B43"/>
          </p15:clr>
        </p15:guide>
        <p15:guide id="22"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13.xml"/><Relationship Id="rId4" Type="http://schemas.openxmlformats.org/officeDocument/2006/relationships/chart" Target="../charts/char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Karnataka</a:t>
            </a:r>
            <a:endParaRPr lang="en-IN" dirty="0"/>
          </a:p>
        </p:txBody>
      </p:sp>
    </p:spTree>
    <p:extLst>
      <p:ext uri="{BB962C8B-B14F-4D97-AF65-F5344CB8AC3E}">
        <p14:creationId xmlns:p14="http://schemas.microsoft.com/office/powerpoint/2010/main" val="194023219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market structure</a:t>
            </a:r>
            <a:endParaRPr lang="en-IN" dirty="0"/>
          </a:p>
        </p:txBody>
      </p:sp>
      <p:sp>
        <p:nvSpPr>
          <p:cNvPr id="3" name="Text Placeholder 2"/>
          <p:cNvSpPr>
            <a:spLocks noGrp="1"/>
          </p:cNvSpPr>
          <p:nvPr>
            <p:ph type="body" sz="quarter" idx="13"/>
          </p:nvPr>
        </p:nvSpPr>
        <p:spPr/>
        <p:txBody>
          <a:bodyPr/>
          <a:lstStyle/>
          <a:p>
            <a:r>
              <a:rPr lang="en-US" sz="1800" dirty="0"/>
              <a:t>Government of Karnataka owns and operates a significant portion of the power sector value chain with separate entities for generation, transmission and distribution</a:t>
            </a:r>
            <a:endParaRPr lang="en-IN" sz="1800" dirty="0"/>
          </a:p>
        </p:txBody>
      </p:sp>
      <p:grpSp>
        <p:nvGrpSpPr>
          <p:cNvPr id="35" name="Group 34"/>
          <p:cNvGrpSpPr/>
          <p:nvPr/>
        </p:nvGrpSpPr>
        <p:grpSpPr>
          <a:xfrm>
            <a:off x="478973" y="1452396"/>
            <a:ext cx="11279777" cy="5040201"/>
            <a:chOff x="489859" y="1952965"/>
            <a:chExt cx="11279777" cy="4710510"/>
          </a:xfrm>
        </p:grpSpPr>
        <p:sp>
          <p:nvSpPr>
            <p:cNvPr id="6" name="Text Box 10"/>
            <p:cNvSpPr txBox="1">
              <a:spLocks noChangeArrowheads="1"/>
            </p:cNvSpPr>
            <p:nvPr/>
          </p:nvSpPr>
          <p:spPr bwMode="auto">
            <a:xfrm>
              <a:off x="532131" y="2034357"/>
              <a:ext cx="1625599" cy="336232"/>
            </a:xfrm>
            <a:prstGeom prst="rect">
              <a:avLst/>
            </a:prstGeom>
            <a:solidFill>
              <a:schemeClr val="tx1"/>
            </a:solidFill>
            <a:ln w="9525" algn="ctr">
              <a:noFill/>
              <a:miter lim="800000"/>
              <a:headEnd/>
              <a:tailEnd type="none" w="sm" len="med"/>
            </a:ln>
          </p:spPr>
          <p:txBody>
            <a:bodyPr lIns="88900" tIns="88900" rIns="88900" bIns="88900" anchor="ctr" anchorCtr="0"/>
            <a:lstStyle/>
            <a:p>
              <a:pPr defTabSz="957263"/>
              <a:r>
                <a:rPr lang="en-US" sz="1100" b="1" dirty="0">
                  <a:solidFill>
                    <a:schemeClr val="bg1"/>
                  </a:solidFill>
                  <a:latin typeface="+mj-lt"/>
                </a:rPr>
                <a:t>Policy</a:t>
              </a:r>
            </a:p>
          </p:txBody>
        </p:sp>
        <p:sp>
          <p:nvSpPr>
            <p:cNvPr id="7" name="Text Box 10"/>
            <p:cNvSpPr txBox="1">
              <a:spLocks noChangeArrowheads="1"/>
            </p:cNvSpPr>
            <p:nvPr/>
          </p:nvSpPr>
          <p:spPr bwMode="auto">
            <a:xfrm>
              <a:off x="2218690" y="2034354"/>
              <a:ext cx="2327698" cy="336232"/>
            </a:xfrm>
            <a:prstGeom prst="rect">
              <a:avLst/>
            </a:prstGeom>
            <a:solidFill>
              <a:schemeClr val="bg2">
                <a:lumMod val="90000"/>
              </a:schemeClr>
            </a:solidFill>
            <a:ln w="9525" algn="ctr">
              <a:noFill/>
              <a:miter lim="800000"/>
              <a:headEnd/>
              <a:tailEnd type="none" w="sm" len="med"/>
            </a:ln>
          </p:spPr>
          <p:txBody>
            <a:bodyPr lIns="88900" tIns="88900" rIns="88900" bIns="88900" anchor="ctr" anchorCtr="0"/>
            <a:lstStyle/>
            <a:p>
              <a:pPr defTabSz="957263"/>
              <a:r>
                <a:rPr lang="en-US" sz="1100" b="1" dirty="0">
                  <a:latin typeface="+mj-lt"/>
                </a:rPr>
                <a:t>State Government</a:t>
              </a:r>
            </a:p>
          </p:txBody>
        </p:sp>
        <p:sp>
          <p:nvSpPr>
            <p:cNvPr id="8" name="Text Box 10"/>
            <p:cNvSpPr txBox="1">
              <a:spLocks noChangeArrowheads="1"/>
            </p:cNvSpPr>
            <p:nvPr/>
          </p:nvSpPr>
          <p:spPr bwMode="auto">
            <a:xfrm>
              <a:off x="532131" y="2684533"/>
              <a:ext cx="1625599" cy="336232"/>
            </a:xfrm>
            <a:prstGeom prst="rect">
              <a:avLst/>
            </a:prstGeom>
            <a:solidFill>
              <a:schemeClr val="tx1"/>
            </a:solidFill>
            <a:ln w="9525" algn="ctr">
              <a:noFill/>
              <a:miter lim="800000"/>
              <a:headEnd/>
              <a:tailEnd type="none" w="sm" len="med"/>
            </a:ln>
          </p:spPr>
          <p:txBody>
            <a:bodyPr lIns="88900" tIns="88900" rIns="88900" bIns="88900" anchor="ctr" anchorCtr="0"/>
            <a:lstStyle/>
            <a:p>
              <a:pPr defTabSz="957263"/>
              <a:r>
                <a:rPr lang="en-US" sz="1100" b="1" dirty="0">
                  <a:solidFill>
                    <a:schemeClr val="bg1"/>
                  </a:solidFill>
                  <a:latin typeface="+mj-lt"/>
                </a:rPr>
                <a:t>Regulations</a:t>
              </a:r>
            </a:p>
          </p:txBody>
        </p:sp>
        <p:sp>
          <p:nvSpPr>
            <p:cNvPr id="9" name="Text Box 10"/>
            <p:cNvSpPr txBox="1">
              <a:spLocks noChangeArrowheads="1"/>
            </p:cNvSpPr>
            <p:nvPr/>
          </p:nvSpPr>
          <p:spPr bwMode="auto">
            <a:xfrm>
              <a:off x="2218690" y="2694706"/>
              <a:ext cx="2327698" cy="336232"/>
            </a:xfrm>
            <a:prstGeom prst="rect">
              <a:avLst/>
            </a:prstGeom>
            <a:solidFill>
              <a:schemeClr val="bg2">
                <a:lumMod val="90000"/>
              </a:schemeClr>
            </a:solidFill>
            <a:ln w="9525" algn="ctr">
              <a:noFill/>
              <a:miter lim="800000"/>
              <a:headEnd/>
              <a:tailEnd type="none" w="sm" len="med"/>
            </a:ln>
          </p:spPr>
          <p:txBody>
            <a:bodyPr lIns="88900" tIns="88900" rIns="88900" bIns="88900" anchor="ctr" anchorCtr="0"/>
            <a:lstStyle/>
            <a:p>
              <a:pPr defTabSz="957263"/>
              <a:r>
                <a:rPr lang="en-US" sz="1100" b="1" dirty="0">
                  <a:latin typeface="+mj-lt"/>
                </a:rPr>
                <a:t>KERC</a:t>
              </a:r>
            </a:p>
          </p:txBody>
        </p:sp>
        <p:sp>
          <p:nvSpPr>
            <p:cNvPr id="10" name="Text Box 10"/>
            <p:cNvSpPr txBox="1">
              <a:spLocks noChangeArrowheads="1"/>
            </p:cNvSpPr>
            <p:nvPr/>
          </p:nvSpPr>
          <p:spPr bwMode="auto">
            <a:xfrm>
              <a:off x="532131" y="3294022"/>
              <a:ext cx="1625599" cy="336232"/>
            </a:xfrm>
            <a:prstGeom prst="rect">
              <a:avLst/>
            </a:prstGeom>
            <a:solidFill>
              <a:schemeClr val="tx1"/>
            </a:solidFill>
            <a:ln w="9525" algn="ctr">
              <a:noFill/>
              <a:miter lim="800000"/>
              <a:headEnd/>
              <a:tailEnd type="none" w="sm" len="med"/>
            </a:ln>
          </p:spPr>
          <p:txBody>
            <a:bodyPr lIns="88900" tIns="88900" rIns="88900" bIns="88900" anchor="ctr" anchorCtr="0"/>
            <a:lstStyle/>
            <a:p>
              <a:pPr defTabSz="957263"/>
              <a:r>
                <a:rPr lang="en-US" sz="1100" b="1" dirty="0">
                  <a:solidFill>
                    <a:schemeClr val="bg1"/>
                  </a:solidFill>
                  <a:latin typeface="+mj-lt"/>
                </a:rPr>
                <a:t>RE development</a:t>
              </a:r>
            </a:p>
          </p:txBody>
        </p:sp>
        <p:sp>
          <p:nvSpPr>
            <p:cNvPr id="11" name="Text Box 10"/>
            <p:cNvSpPr txBox="1">
              <a:spLocks noChangeArrowheads="1"/>
            </p:cNvSpPr>
            <p:nvPr/>
          </p:nvSpPr>
          <p:spPr bwMode="auto">
            <a:xfrm>
              <a:off x="2218690" y="3294017"/>
              <a:ext cx="2327698" cy="336232"/>
            </a:xfrm>
            <a:prstGeom prst="rect">
              <a:avLst/>
            </a:prstGeom>
            <a:solidFill>
              <a:schemeClr val="bg2">
                <a:lumMod val="90000"/>
              </a:schemeClr>
            </a:solidFill>
            <a:ln w="9525" algn="ctr">
              <a:noFill/>
              <a:miter lim="800000"/>
              <a:headEnd/>
              <a:tailEnd type="none" w="sm" len="med"/>
            </a:ln>
          </p:spPr>
          <p:txBody>
            <a:bodyPr lIns="88900" tIns="88900" rIns="88900" bIns="88900" anchor="ctr" anchorCtr="0"/>
            <a:lstStyle/>
            <a:p>
              <a:pPr defTabSz="957263"/>
              <a:r>
                <a:rPr lang="en-US" sz="1100" b="1" dirty="0">
                  <a:latin typeface="+mj-lt"/>
                </a:rPr>
                <a:t>KREDL</a:t>
              </a:r>
            </a:p>
          </p:txBody>
        </p:sp>
        <p:sp>
          <p:nvSpPr>
            <p:cNvPr id="12" name="Text Box 10"/>
            <p:cNvSpPr txBox="1">
              <a:spLocks noChangeArrowheads="1"/>
            </p:cNvSpPr>
            <p:nvPr/>
          </p:nvSpPr>
          <p:spPr bwMode="auto">
            <a:xfrm>
              <a:off x="532131" y="4614760"/>
              <a:ext cx="1625599" cy="336232"/>
            </a:xfrm>
            <a:prstGeom prst="rect">
              <a:avLst/>
            </a:prstGeom>
            <a:solidFill>
              <a:schemeClr val="tx1"/>
            </a:solidFill>
            <a:ln w="9525" algn="ctr">
              <a:noFill/>
              <a:miter lim="800000"/>
              <a:headEnd/>
              <a:tailEnd type="none" w="sm" len="med"/>
            </a:ln>
          </p:spPr>
          <p:txBody>
            <a:bodyPr lIns="88900" tIns="88900" rIns="88900" bIns="88900" anchor="ctr" anchorCtr="0"/>
            <a:lstStyle/>
            <a:p>
              <a:pPr defTabSz="957263"/>
              <a:r>
                <a:rPr lang="en-US" sz="1100" b="1" dirty="0">
                  <a:solidFill>
                    <a:schemeClr val="bg1"/>
                  </a:solidFill>
                  <a:latin typeface="+mj-lt"/>
                </a:rPr>
                <a:t>Generation</a:t>
              </a:r>
            </a:p>
          </p:txBody>
        </p:sp>
        <p:sp>
          <p:nvSpPr>
            <p:cNvPr id="13" name="Text Box 10"/>
            <p:cNvSpPr txBox="1">
              <a:spLocks noChangeArrowheads="1"/>
            </p:cNvSpPr>
            <p:nvPr/>
          </p:nvSpPr>
          <p:spPr bwMode="auto">
            <a:xfrm>
              <a:off x="2218690" y="4614759"/>
              <a:ext cx="2327698" cy="336232"/>
            </a:xfrm>
            <a:prstGeom prst="rect">
              <a:avLst/>
            </a:prstGeom>
            <a:solidFill>
              <a:schemeClr val="bg2">
                <a:lumMod val="90000"/>
              </a:schemeClr>
            </a:solidFill>
            <a:ln w="9525" algn="ctr">
              <a:noFill/>
              <a:miter lim="800000"/>
              <a:headEnd/>
              <a:tailEnd type="none" w="sm" len="med"/>
            </a:ln>
          </p:spPr>
          <p:txBody>
            <a:bodyPr lIns="88900" tIns="88900" rIns="88900" bIns="88900" anchor="ctr" anchorCtr="0"/>
            <a:lstStyle/>
            <a:p>
              <a:pPr defTabSz="957263"/>
              <a:r>
                <a:rPr lang="en-US" sz="1100" b="1" dirty="0">
                  <a:latin typeface="+mj-lt"/>
                </a:rPr>
                <a:t>KPCL, UPCL, NTPC, IPPs</a:t>
              </a:r>
            </a:p>
          </p:txBody>
        </p:sp>
        <p:sp>
          <p:nvSpPr>
            <p:cNvPr id="14" name="Text Box 10"/>
            <p:cNvSpPr txBox="1">
              <a:spLocks noChangeArrowheads="1"/>
            </p:cNvSpPr>
            <p:nvPr/>
          </p:nvSpPr>
          <p:spPr bwMode="auto">
            <a:xfrm>
              <a:off x="532131" y="3923711"/>
              <a:ext cx="1625599" cy="336232"/>
            </a:xfrm>
            <a:prstGeom prst="rect">
              <a:avLst/>
            </a:prstGeom>
            <a:solidFill>
              <a:schemeClr val="tx1"/>
            </a:solidFill>
            <a:ln w="9525" algn="ctr">
              <a:noFill/>
              <a:miter lim="800000"/>
              <a:headEnd/>
              <a:tailEnd type="none" w="sm" len="med"/>
            </a:ln>
          </p:spPr>
          <p:txBody>
            <a:bodyPr lIns="88900" tIns="88900" rIns="88900" bIns="88900" anchor="ctr" anchorCtr="0"/>
            <a:lstStyle/>
            <a:p>
              <a:pPr defTabSz="957263"/>
              <a:r>
                <a:rPr lang="en-US" sz="1100" b="1" dirty="0">
                  <a:solidFill>
                    <a:schemeClr val="bg1"/>
                  </a:solidFill>
                  <a:latin typeface="+mj-lt"/>
                </a:rPr>
                <a:t>System operation</a:t>
              </a:r>
            </a:p>
          </p:txBody>
        </p:sp>
        <p:sp>
          <p:nvSpPr>
            <p:cNvPr id="15" name="Text Box 10"/>
            <p:cNvSpPr txBox="1">
              <a:spLocks noChangeArrowheads="1"/>
            </p:cNvSpPr>
            <p:nvPr/>
          </p:nvSpPr>
          <p:spPr bwMode="auto">
            <a:xfrm>
              <a:off x="2218690" y="3933884"/>
              <a:ext cx="2327698" cy="336232"/>
            </a:xfrm>
            <a:prstGeom prst="rect">
              <a:avLst/>
            </a:prstGeom>
            <a:solidFill>
              <a:schemeClr val="bg2">
                <a:lumMod val="90000"/>
              </a:schemeClr>
            </a:solidFill>
            <a:ln w="9525" algn="ctr">
              <a:noFill/>
              <a:miter lim="800000"/>
              <a:headEnd/>
              <a:tailEnd type="none" w="sm" len="med"/>
            </a:ln>
          </p:spPr>
          <p:txBody>
            <a:bodyPr lIns="88900" tIns="88900" rIns="88900" bIns="88900" anchor="ctr" anchorCtr="0"/>
            <a:lstStyle/>
            <a:p>
              <a:pPr defTabSz="957263"/>
              <a:r>
                <a:rPr lang="en-US" sz="1100" b="1" dirty="0">
                  <a:latin typeface="+mj-lt"/>
                </a:rPr>
                <a:t>KSLDC</a:t>
              </a:r>
            </a:p>
          </p:txBody>
        </p:sp>
        <p:sp>
          <p:nvSpPr>
            <p:cNvPr id="16" name="Text Box 10"/>
            <p:cNvSpPr txBox="1">
              <a:spLocks noChangeArrowheads="1"/>
            </p:cNvSpPr>
            <p:nvPr/>
          </p:nvSpPr>
          <p:spPr bwMode="auto">
            <a:xfrm>
              <a:off x="532131" y="5340606"/>
              <a:ext cx="1625599" cy="336232"/>
            </a:xfrm>
            <a:prstGeom prst="rect">
              <a:avLst/>
            </a:prstGeom>
            <a:solidFill>
              <a:schemeClr val="tx1"/>
            </a:solidFill>
            <a:ln w="9525" algn="ctr">
              <a:noFill/>
              <a:miter lim="800000"/>
              <a:headEnd/>
              <a:tailEnd type="none" w="sm" len="med"/>
            </a:ln>
          </p:spPr>
          <p:txBody>
            <a:bodyPr lIns="88900" tIns="88900" rIns="88900" bIns="88900" anchor="ctr" anchorCtr="0"/>
            <a:lstStyle/>
            <a:p>
              <a:pPr defTabSz="957263"/>
              <a:r>
                <a:rPr lang="en-US" sz="1100" b="1" dirty="0">
                  <a:solidFill>
                    <a:schemeClr val="bg1"/>
                  </a:solidFill>
                  <a:latin typeface="+mj-lt"/>
                </a:rPr>
                <a:t>Transmission</a:t>
              </a:r>
            </a:p>
          </p:txBody>
        </p:sp>
        <p:sp>
          <p:nvSpPr>
            <p:cNvPr id="17" name="Text Box 10"/>
            <p:cNvSpPr txBox="1">
              <a:spLocks noChangeArrowheads="1"/>
            </p:cNvSpPr>
            <p:nvPr/>
          </p:nvSpPr>
          <p:spPr bwMode="auto">
            <a:xfrm>
              <a:off x="2218689" y="5348236"/>
              <a:ext cx="2327699" cy="336232"/>
            </a:xfrm>
            <a:prstGeom prst="rect">
              <a:avLst/>
            </a:prstGeom>
            <a:solidFill>
              <a:schemeClr val="bg2">
                <a:lumMod val="90000"/>
              </a:schemeClr>
            </a:solidFill>
            <a:ln w="9525" algn="ctr">
              <a:noFill/>
              <a:miter lim="800000"/>
              <a:headEnd/>
              <a:tailEnd type="none" w="sm" len="med"/>
            </a:ln>
          </p:spPr>
          <p:txBody>
            <a:bodyPr lIns="88900" tIns="88900" rIns="88900" bIns="88900" anchor="ctr" anchorCtr="0"/>
            <a:lstStyle/>
            <a:p>
              <a:pPr defTabSz="957263"/>
              <a:r>
                <a:rPr lang="en-US" sz="1100" b="1" dirty="0">
                  <a:latin typeface="+mj-lt"/>
                </a:rPr>
                <a:t>KPTCL</a:t>
              </a:r>
            </a:p>
          </p:txBody>
        </p:sp>
        <p:sp>
          <p:nvSpPr>
            <p:cNvPr id="18" name="Text Box 10"/>
            <p:cNvSpPr txBox="1">
              <a:spLocks noChangeArrowheads="1"/>
            </p:cNvSpPr>
            <p:nvPr/>
          </p:nvSpPr>
          <p:spPr bwMode="auto">
            <a:xfrm>
              <a:off x="532131" y="5975046"/>
              <a:ext cx="1625599" cy="336232"/>
            </a:xfrm>
            <a:prstGeom prst="rect">
              <a:avLst/>
            </a:prstGeom>
            <a:solidFill>
              <a:schemeClr val="tx1"/>
            </a:solidFill>
            <a:ln w="9525" algn="ctr">
              <a:noFill/>
              <a:miter lim="800000"/>
              <a:headEnd/>
              <a:tailEnd type="none" w="sm" len="med"/>
            </a:ln>
          </p:spPr>
          <p:txBody>
            <a:bodyPr lIns="88900" tIns="88900" rIns="88900" bIns="88900" anchor="ctr" anchorCtr="0"/>
            <a:lstStyle/>
            <a:p>
              <a:pPr defTabSz="957263"/>
              <a:r>
                <a:rPr lang="en-US" sz="1100" b="1" dirty="0">
                  <a:solidFill>
                    <a:schemeClr val="bg1"/>
                  </a:solidFill>
                  <a:latin typeface="+mj-lt"/>
                </a:rPr>
                <a:t>Distribution</a:t>
              </a:r>
            </a:p>
          </p:txBody>
        </p:sp>
        <p:sp>
          <p:nvSpPr>
            <p:cNvPr id="19" name="Text Box 10"/>
            <p:cNvSpPr txBox="1">
              <a:spLocks noChangeArrowheads="1"/>
            </p:cNvSpPr>
            <p:nvPr/>
          </p:nvSpPr>
          <p:spPr bwMode="auto">
            <a:xfrm>
              <a:off x="2218690" y="5975046"/>
              <a:ext cx="2327698" cy="336232"/>
            </a:xfrm>
            <a:prstGeom prst="rect">
              <a:avLst/>
            </a:prstGeom>
            <a:solidFill>
              <a:schemeClr val="bg2">
                <a:lumMod val="90000"/>
              </a:schemeClr>
            </a:solidFill>
            <a:ln w="9525" algn="ctr">
              <a:noFill/>
              <a:miter lim="800000"/>
              <a:headEnd/>
              <a:tailEnd type="none" w="sm" len="med"/>
            </a:ln>
          </p:spPr>
          <p:txBody>
            <a:bodyPr lIns="88900" tIns="88900" rIns="88900" bIns="88900" anchor="ctr" anchorCtr="0"/>
            <a:lstStyle/>
            <a:p>
              <a:pPr defTabSz="957263"/>
              <a:r>
                <a:rPr lang="en-US" sz="1100" b="1" dirty="0">
                  <a:latin typeface="+mj-lt"/>
                </a:rPr>
                <a:t>BESCOM, MESCOM, HESCOM, GESCOM, CESC</a:t>
              </a:r>
            </a:p>
          </p:txBody>
        </p:sp>
        <p:grpSp>
          <p:nvGrpSpPr>
            <p:cNvPr id="33" name="Group 32"/>
            <p:cNvGrpSpPr/>
            <p:nvPr/>
          </p:nvGrpSpPr>
          <p:grpSpPr>
            <a:xfrm>
              <a:off x="4768850" y="1952965"/>
              <a:ext cx="6935470" cy="4710510"/>
              <a:chOff x="4768850" y="1952965"/>
              <a:chExt cx="7132320" cy="4710510"/>
            </a:xfrm>
          </p:grpSpPr>
          <p:sp>
            <p:nvSpPr>
              <p:cNvPr id="20" name="TextBox 19"/>
              <p:cNvSpPr txBox="1"/>
              <p:nvPr/>
            </p:nvSpPr>
            <p:spPr>
              <a:xfrm>
                <a:off x="4768850" y="1952965"/>
                <a:ext cx="7118503" cy="474613"/>
              </a:xfrm>
              <a:prstGeom prst="rect">
                <a:avLst/>
              </a:prstGeom>
              <a:noFill/>
            </p:spPr>
            <p:txBody>
              <a:bodyPr wrap="square" lIns="0" tIns="0" rIns="0" bIns="0" rtlCol="0">
                <a:spAutoFit/>
              </a:bodyPr>
              <a:lstStyle/>
              <a:p>
                <a:pPr algn="just">
                  <a:spcBef>
                    <a:spcPts val="600"/>
                  </a:spcBef>
                  <a:buSzPct val="100000"/>
                </a:pPr>
                <a:r>
                  <a:rPr lang="en-US" sz="1100" dirty="0">
                    <a:solidFill>
                      <a:srgbClr val="313131"/>
                    </a:solidFill>
                  </a:rPr>
                  <a:t>Energy Department is responsible for the issue of electricity sector policies in the state. Government of Karnataka owns 100% stake in KPCL and KPTCL. KPTCL has been unbundled into five discoms – BESCOM, MESCOM, HESCOM, GESCOM and CESC </a:t>
                </a:r>
                <a:endParaRPr lang="en-IN" sz="1100" dirty="0">
                  <a:solidFill>
                    <a:srgbClr val="313131"/>
                  </a:solidFill>
                </a:endParaRPr>
              </a:p>
            </p:txBody>
          </p:sp>
          <p:sp>
            <p:nvSpPr>
              <p:cNvPr id="21" name="TextBox 20"/>
              <p:cNvSpPr txBox="1"/>
              <p:nvPr/>
            </p:nvSpPr>
            <p:spPr>
              <a:xfrm>
                <a:off x="4768850" y="2700556"/>
                <a:ext cx="7132320" cy="316409"/>
              </a:xfrm>
              <a:prstGeom prst="rect">
                <a:avLst/>
              </a:prstGeom>
              <a:noFill/>
            </p:spPr>
            <p:txBody>
              <a:bodyPr wrap="square" lIns="0" tIns="0" rIns="0" bIns="0" rtlCol="0">
                <a:spAutoFit/>
              </a:bodyPr>
              <a:lstStyle/>
              <a:p>
                <a:pPr algn="just">
                  <a:spcBef>
                    <a:spcPts val="600"/>
                  </a:spcBef>
                  <a:buSzPct val="100000"/>
                </a:pPr>
                <a:r>
                  <a:rPr lang="en-US" sz="1100" dirty="0">
                    <a:solidFill>
                      <a:srgbClr val="313131"/>
                    </a:solidFill>
                  </a:rPr>
                  <a:t>It promotes competition, efficiency and economy in Karnataka’s power sector; regulates electricity tariffs and protects interests of consumers and other stakeholders.</a:t>
                </a:r>
              </a:p>
            </p:txBody>
          </p:sp>
          <p:sp>
            <p:nvSpPr>
              <p:cNvPr id="22" name="TextBox 21"/>
              <p:cNvSpPr txBox="1"/>
              <p:nvPr/>
            </p:nvSpPr>
            <p:spPr>
              <a:xfrm>
                <a:off x="4768850" y="3292851"/>
                <a:ext cx="7132320" cy="316409"/>
              </a:xfrm>
              <a:prstGeom prst="rect">
                <a:avLst/>
              </a:prstGeom>
              <a:noFill/>
            </p:spPr>
            <p:txBody>
              <a:bodyPr wrap="square" lIns="0" tIns="0" rIns="0" bIns="0" rtlCol="0">
                <a:spAutoFit/>
              </a:bodyPr>
              <a:lstStyle/>
              <a:p>
                <a:pPr algn="just">
                  <a:spcBef>
                    <a:spcPts val="600"/>
                  </a:spcBef>
                  <a:buSzPct val="100000"/>
                </a:pPr>
                <a:r>
                  <a:rPr lang="en-US" sz="1100" dirty="0">
                    <a:solidFill>
                      <a:srgbClr val="313131"/>
                    </a:solidFill>
                  </a:rPr>
                  <a:t>Promotes renewable energy in the State and initiates all necessary actions for Energy Conservation in the State</a:t>
                </a:r>
              </a:p>
            </p:txBody>
          </p:sp>
          <p:sp>
            <p:nvSpPr>
              <p:cNvPr id="23" name="TextBox 22"/>
              <p:cNvSpPr txBox="1"/>
              <p:nvPr/>
            </p:nvSpPr>
            <p:spPr>
              <a:xfrm>
                <a:off x="4768850" y="3941734"/>
                <a:ext cx="7090870" cy="316409"/>
              </a:xfrm>
              <a:prstGeom prst="rect">
                <a:avLst/>
              </a:prstGeom>
              <a:noFill/>
            </p:spPr>
            <p:txBody>
              <a:bodyPr wrap="square" lIns="0" tIns="0" rIns="0" bIns="0" rtlCol="0">
                <a:spAutoFit/>
              </a:bodyPr>
              <a:lstStyle/>
              <a:p>
                <a:pPr algn="just">
                  <a:spcBef>
                    <a:spcPts val="600"/>
                  </a:spcBef>
                  <a:buSzPct val="100000"/>
                </a:pPr>
                <a:r>
                  <a:rPr lang="en-US" sz="1100" dirty="0">
                    <a:solidFill>
                      <a:srgbClr val="313131"/>
                    </a:solidFill>
                  </a:rPr>
                  <a:t>Apex body for integrated operation of electricity grid in the state. The SLDC and SCADA Centre operate out of Bangalore</a:t>
                </a:r>
              </a:p>
            </p:txBody>
          </p:sp>
          <p:sp>
            <p:nvSpPr>
              <p:cNvPr id="24" name="TextBox 23"/>
              <p:cNvSpPr txBox="1"/>
              <p:nvPr/>
            </p:nvSpPr>
            <p:spPr>
              <a:xfrm>
                <a:off x="4768850" y="4457743"/>
                <a:ext cx="7132320" cy="632817"/>
              </a:xfrm>
              <a:prstGeom prst="rect">
                <a:avLst/>
              </a:prstGeom>
              <a:noFill/>
            </p:spPr>
            <p:txBody>
              <a:bodyPr wrap="square" lIns="0" tIns="0" rIns="0" bIns="0" rtlCol="0">
                <a:spAutoFit/>
              </a:bodyPr>
              <a:lstStyle/>
              <a:p>
                <a:pPr algn="just">
                  <a:spcBef>
                    <a:spcPts val="600"/>
                  </a:spcBef>
                  <a:buSzPct val="100000"/>
                </a:pPr>
                <a:r>
                  <a:rPr lang="en-US" sz="1100" dirty="0">
                    <a:solidFill>
                      <a:srgbClr val="313131"/>
                    </a:solidFill>
                  </a:rPr>
                  <a:t>KPCL is the major power generating company in the state of Karnataka. It has installed capacity of 8738.30 MW, as on 09.06.2020 and is one of the largest state government owned generation companies in India. The state also has generation capacity from NTPC and private IPPs (thermal, hydro and RE).</a:t>
                </a:r>
              </a:p>
            </p:txBody>
          </p:sp>
          <p:sp>
            <p:nvSpPr>
              <p:cNvPr id="25" name="TextBox 24"/>
              <p:cNvSpPr txBox="1"/>
              <p:nvPr/>
            </p:nvSpPr>
            <p:spPr>
              <a:xfrm>
                <a:off x="4768850" y="5322727"/>
                <a:ext cx="7090870" cy="316409"/>
              </a:xfrm>
              <a:prstGeom prst="rect">
                <a:avLst/>
              </a:prstGeom>
              <a:noFill/>
            </p:spPr>
            <p:txBody>
              <a:bodyPr wrap="square" lIns="0" tIns="0" rIns="0" bIns="0" rtlCol="0">
                <a:spAutoFit/>
              </a:bodyPr>
              <a:lstStyle/>
              <a:p>
                <a:pPr algn="just">
                  <a:spcBef>
                    <a:spcPts val="600"/>
                  </a:spcBef>
                  <a:buSzPct val="100000"/>
                </a:pPr>
                <a:r>
                  <a:rPr lang="en-US" sz="1100" dirty="0">
                    <a:solidFill>
                      <a:srgbClr val="313131"/>
                    </a:solidFill>
                  </a:rPr>
                  <a:t>KPTCL is the sole transmission company in the state and operates 37652.58 Circuit KM of transmission lines and 1222 substations.</a:t>
                </a:r>
              </a:p>
            </p:txBody>
          </p:sp>
          <p:sp>
            <p:nvSpPr>
              <p:cNvPr id="26" name="TextBox 25"/>
              <p:cNvSpPr txBox="1"/>
              <p:nvPr/>
            </p:nvSpPr>
            <p:spPr>
              <a:xfrm>
                <a:off x="4768850" y="5872453"/>
                <a:ext cx="7090870" cy="791022"/>
              </a:xfrm>
              <a:prstGeom prst="rect">
                <a:avLst/>
              </a:prstGeom>
              <a:noFill/>
            </p:spPr>
            <p:txBody>
              <a:bodyPr wrap="square" lIns="0" tIns="0" rIns="0" bIns="0" rtlCol="0">
                <a:spAutoFit/>
              </a:bodyPr>
              <a:lstStyle/>
              <a:p>
                <a:pPr algn="just">
                  <a:spcBef>
                    <a:spcPts val="600"/>
                  </a:spcBef>
                  <a:buSzPct val="100000"/>
                </a:pPr>
                <a:r>
                  <a:rPr lang="en-US" sz="1100" dirty="0">
                    <a:solidFill>
                      <a:srgbClr val="313131"/>
                    </a:solidFill>
                  </a:rPr>
                  <a:t>Karnataka has five distribution licensee namely - BESCOM (Bangalore Electricity Supply Company Limited), MESCOM (Mangalore Electricity Supply Company Limited), HESCOM (Hubli Electricity Supply Company Limited), GESCOM (Gulbarga Electricity Supply Company Limited) and CESC (Chamundeshwari Electricity Supply Corporation) to cater to electricity supply in different districts of the state based on their jurisdiction.</a:t>
                </a:r>
              </a:p>
            </p:txBody>
          </p:sp>
        </p:grpSp>
        <p:grpSp>
          <p:nvGrpSpPr>
            <p:cNvPr id="34" name="Group 33"/>
            <p:cNvGrpSpPr/>
            <p:nvPr/>
          </p:nvGrpSpPr>
          <p:grpSpPr>
            <a:xfrm>
              <a:off x="489859" y="2550869"/>
              <a:ext cx="11279777" cy="3233589"/>
              <a:chOff x="489489" y="2550869"/>
              <a:chExt cx="11631431" cy="3233589"/>
            </a:xfrm>
          </p:grpSpPr>
          <p:cxnSp>
            <p:nvCxnSpPr>
              <p:cNvPr id="5" name="Straight Connector 4"/>
              <p:cNvCxnSpPr/>
              <p:nvPr/>
            </p:nvCxnSpPr>
            <p:spPr>
              <a:xfrm>
                <a:off x="501654" y="3791957"/>
                <a:ext cx="11510356"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01651" y="2550869"/>
                <a:ext cx="11510356"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cxnSpLocks/>
              </p:cNvCxnSpPr>
              <p:nvPr/>
            </p:nvCxnSpPr>
            <p:spPr>
              <a:xfrm>
                <a:off x="489489" y="3165689"/>
                <a:ext cx="11631431"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515505" y="4374724"/>
                <a:ext cx="11510356"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43214" y="5193209"/>
                <a:ext cx="11510356"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29359" y="5784458"/>
                <a:ext cx="11510356"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42593662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E76C-AB28-46C6-BCEA-D4E40748988F}"/>
              </a:ext>
            </a:extLst>
          </p:cNvPr>
          <p:cNvSpPr>
            <a:spLocks noGrp="1"/>
          </p:cNvSpPr>
          <p:nvPr>
            <p:ph type="title"/>
          </p:nvPr>
        </p:nvSpPr>
        <p:spPr/>
        <p:txBody>
          <a:bodyPr/>
          <a:lstStyle/>
          <a:p>
            <a:r>
              <a:rPr lang="en-US" dirty="0"/>
              <a:t>Industrial Growth in the state</a:t>
            </a:r>
            <a:endParaRPr lang="en-IN" dirty="0"/>
          </a:p>
        </p:txBody>
      </p:sp>
      <p:sp>
        <p:nvSpPr>
          <p:cNvPr id="3" name="Text Placeholder 2">
            <a:extLst>
              <a:ext uri="{FF2B5EF4-FFF2-40B4-BE49-F238E27FC236}">
                <a16:creationId xmlns:a16="http://schemas.microsoft.com/office/drawing/2014/main" id="{9B6A095F-89D6-4B46-916A-09F5C05CFAAB}"/>
              </a:ext>
            </a:extLst>
          </p:cNvPr>
          <p:cNvSpPr>
            <a:spLocks noGrp="1"/>
          </p:cNvSpPr>
          <p:nvPr>
            <p:ph type="body" sz="quarter" idx="13"/>
          </p:nvPr>
        </p:nvSpPr>
        <p:spPr/>
        <p:txBody>
          <a:bodyPr/>
          <a:lstStyle/>
          <a:p>
            <a:r>
              <a:rPr lang="en-US" sz="1800" dirty="0"/>
              <a:t>Karnataka has vibrant automobile, </a:t>
            </a:r>
            <a:r>
              <a:rPr lang="en-US" sz="1800" dirty="0" err="1"/>
              <a:t>agro</a:t>
            </a:r>
            <a:r>
              <a:rPr lang="en-US" sz="1800" dirty="0"/>
              <a:t>, aerospace, textile and garment, biotech, and heavy engineering industries and SEZs for key industries such as IT, biotechnology, and engineering</a:t>
            </a:r>
            <a:endParaRPr lang="en-IN" sz="1800" dirty="0"/>
          </a:p>
        </p:txBody>
      </p:sp>
      <p:pic>
        <p:nvPicPr>
          <p:cNvPr id="4" name="Picture 3">
            <a:extLst>
              <a:ext uri="{FF2B5EF4-FFF2-40B4-BE49-F238E27FC236}">
                <a16:creationId xmlns:a16="http://schemas.microsoft.com/office/drawing/2014/main" id="{B590E0FE-FDB2-4457-911C-352F90378E68}"/>
              </a:ext>
            </a:extLst>
          </p:cNvPr>
          <p:cNvPicPr>
            <a:picLocks noChangeAspect="1"/>
          </p:cNvPicPr>
          <p:nvPr/>
        </p:nvPicPr>
        <p:blipFill>
          <a:blip r:embed="rId2"/>
          <a:stretch>
            <a:fillRect/>
          </a:stretch>
        </p:blipFill>
        <p:spPr>
          <a:xfrm>
            <a:off x="7297420" y="1552574"/>
            <a:ext cx="4406900" cy="4702539"/>
          </a:xfrm>
          <a:prstGeom prst="rect">
            <a:avLst/>
          </a:prstGeom>
        </p:spPr>
      </p:pic>
      <p:sp>
        <p:nvSpPr>
          <p:cNvPr id="5" name="TextBox 4">
            <a:extLst>
              <a:ext uri="{FF2B5EF4-FFF2-40B4-BE49-F238E27FC236}">
                <a16:creationId xmlns:a16="http://schemas.microsoft.com/office/drawing/2014/main" id="{AB844B77-4AAE-46BA-BF76-FA0D5EDF7C6C}"/>
              </a:ext>
            </a:extLst>
          </p:cNvPr>
          <p:cNvSpPr txBox="1"/>
          <p:nvPr/>
        </p:nvSpPr>
        <p:spPr>
          <a:xfrm>
            <a:off x="501652" y="1581150"/>
            <a:ext cx="6623047" cy="4673963"/>
          </a:xfrm>
          <a:prstGeom prst="rect">
            <a:avLst/>
          </a:prstGeom>
          <a:noFill/>
          <a:ln w="19050">
            <a:solidFill>
              <a:schemeClr val="accent1"/>
            </a:solidFill>
          </a:ln>
        </p:spPr>
        <p:txBody>
          <a:bodyPr wrap="square" lIns="36000" tIns="36000" rIns="36000" bIns="36000" rtlCol="0">
            <a:spAutoFit/>
          </a:bodyPr>
          <a:lstStyle/>
          <a:p>
            <a:pPr marL="203200" indent="-203200" algn="just">
              <a:spcBef>
                <a:spcPts val="600"/>
              </a:spcBef>
              <a:buSzPct val="100000"/>
              <a:buFont typeface="Arial"/>
              <a:buChar char="•"/>
            </a:pPr>
            <a:r>
              <a:rPr lang="en-US" sz="1100" dirty="0">
                <a:solidFill>
                  <a:srgbClr val="313131"/>
                </a:solidFill>
              </a:rPr>
              <a:t>Karnataka is surrounded by the Arabian Sea on the west, Goa on the northwest, Maharashtra on the north, Andhra Pradesh on the east, Tamil Nadu on the southeast, and Kerala on the southwest.</a:t>
            </a:r>
          </a:p>
          <a:p>
            <a:pPr marL="203200" indent="-203200" algn="just">
              <a:spcBef>
                <a:spcPts val="600"/>
              </a:spcBef>
              <a:buSzPct val="100000"/>
              <a:buFont typeface="Arial"/>
              <a:buChar char="•"/>
            </a:pPr>
            <a:r>
              <a:rPr lang="en-US" sz="1100" dirty="0">
                <a:solidFill>
                  <a:srgbClr val="313131"/>
                </a:solidFill>
              </a:rPr>
              <a:t>The state’s per capita GSDP was Rs. 253,444 (US$ 3,595) in 2019-20. Per capita GSDP (in Rs.) increased at a CAGR of 11.70% between 2011-12 and 2019-20.</a:t>
            </a:r>
          </a:p>
          <a:p>
            <a:pPr marL="203200" indent="-203200" algn="just">
              <a:spcBef>
                <a:spcPts val="600"/>
              </a:spcBef>
              <a:buSzPct val="100000"/>
              <a:buFont typeface="Arial"/>
              <a:buChar char="•"/>
            </a:pPr>
            <a:r>
              <a:rPr lang="en-US" sz="1100" dirty="0">
                <a:solidFill>
                  <a:srgbClr val="313131"/>
                </a:solidFill>
              </a:rPr>
              <a:t>Merchandise export from Karnataka reached US$ 17.36 billion in 2018-19 and US$ 16.64 billion in 2019-20.</a:t>
            </a:r>
          </a:p>
          <a:p>
            <a:pPr marL="203200" indent="-203200" algn="just">
              <a:spcBef>
                <a:spcPts val="600"/>
              </a:spcBef>
              <a:buSzPct val="100000"/>
              <a:buFont typeface="Arial"/>
              <a:buChar char="•"/>
            </a:pPr>
            <a:r>
              <a:rPr lang="en-US" sz="1100" dirty="0">
                <a:solidFill>
                  <a:srgbClr val="313131"/>
                </a:solidFill>
              </a:rPr>
              <a:t>Karnataka has vibrant automobile, </a:t>
            </a:r>
            <a:r>
              <a:rPr lang="en-US" sz="1100" dirty="0" err="1">
                <a:solidFill>
                  <a:srgbClr val="313131"/>
                </a:solidFill>
              </a:rPr>
              <a:t>agro</a:t>
            </a:r>
            <a:r>
              <a:rPr lang="en-US" sz="1100" dirty="0">
                <a:solidFill>
                  <a:srgbClr val="313131"/>
                </a:solidFill>
              </a:rPr>
              <a:t>, aerospace, textile and garment, biotech, and heavy engineering industries. The state has sector specific special economic zone (SEZs) for key industries such as IT, biotechnology, and engineering, food processing and aerospace.</a:t>
            </a:r>
          </a:p>
          <a:p>
            <a:pPr marL="203200" indent="-203200" algn="just">
              <a:spcBef>
                <a:spcPts val="600"/>
              </a:spcBef>
              <a:buSzPct val="100000"/>
              <a:buFont typeface="Arial"/>
              <a:buChar char="•"/>
            </a:pPr>
            <a:r>
              <a:rPr lang="en-US" sz="1100" dirty="0">
                <a:solidFill>
                  <a:srgbClr val="313131"/>
                </a:solidFill>
              </a:rPr>
              <a:t>Karnataka is the IT hub of India and home to the fourth largest technology cluster in the world. It has 23 operational IT/ </a:t>
            </a:r>
            <a:r>
              <a:rPr lang="en-US" sz="1100" dirty="0" err="1">
                <a:solidFill>
                  <a:srgbClr val="313131"/>
                </a:solidFill>
              </a:rPr>
              <a:t>ITeS</a:t>
            </a:r>
            <a:r>
              <a:rPr lang="en-US" sz="1100" dirty="0">
                <a:solidFill>
                  <a:srgbClr val="313131"/>
                </a:solidFill>
              </a:rPr>
              <a:t> SEZs, five software technology parks and dedicated IT investment regions. </a:t>
            </a:r>
          </a:p>
          <a:p>
            <a:pPr marL="203200" indent="-203200" algn="just">
              <a:spcBef>
                <a:spcPts val="600"/>
              </a:spcBef>
              <a:buSzPct val="100000"/>
              <a:buFont typeface="Arial"/>
              <a:buChar char="•"/>
            </a:pPr>
            <a:r>
              <a:rPr lang="en-US" sz="1100" dirty="0">
                <a:solidFill>
                  <a:srgbClr val="313131"/>
                </a:solidFill>
              </a:rPr>
              <a:t>The state attracted Foreign Direct Investment (FDI) equity inflow worth US$ 7,948.53 million between October 2019 and September 2020 according to the data released by Department for Promotion of Industry and Internal Trade (DPIIT).</a:t>
            </a:r>
          </a:p>
          <a:p>
            <a:pPr marL="203200" indent="-203200" algn="just">
              <a:spcBef>
                <a:spcPts val="600"/>
              </a:spcBef>
              <a:buSzPct val="100000"/>
              <a:buFont typeface="Arial"/>
              <a:buChar char="•"/>
            </a:pPr>
            <a:r>
              <a:rPr lang="en-US" sz="1100" dirty="0">
                <a:solidFill>
                  <a:srgbClr val="313131"/>
                </a:solidFill>
              </a:rPr>
              <a:t>Karnataka offers a wide range of fiscal and policy incentives for businesses under the Karnataka Industrial Policy, 2014 19. Through the ESDM Policy 2013, the Government of Karnataka planned to facilitate, promote and develop the ESDM sector in Karnataka and make the state a preferred destination for investment in this sector. </a:t>
            </a:r>
          </a:p>
          <a:p>
            <a:pPr marL="203200" indent="-203200" algn="just">
              <a:spcBef>
                <a:spcPts val="600"/>
              </a:spcBef>
              <a:buSzPct val="100000"/>
              <a:buFont typeface="Arial"/>
              <a:buChar char="•"/>
            </a:pPr>
            <a:r>
              <a:rPr lang="en-US" sz="1100" dirty="0">
                <a:solidFill>
                  <a:srgbClr val="313131"/>
                </a:solidFill>
              </a:rPr>
              <a:t>In September 2017, the Government of Karnataka passed the ‘Karnataka Electric Vehicle and Energy Storage Policy 2017’. Electric Vehicles manufacturing in Karnataka is expected to attract investment worth US$ 4.82 billion and create 55,000 jobs.</a:t>
            </a:r>
          </a:p>
        </p:txBody>
      </p:sp>
    </p:spTree>
    <p:extLst>
      <p:ext uri="{BB962C8B-B14F-4D97-AF65-F5344CB8AC3E}">
        <p14:creationId xmlns:p14="http://schemas.microsoft.com/office/powerpoint/2010/main" val="233193156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E76C-AB28-46C6-BCEA-D4E40748988F}"/>
              </a:ext>
            </a:extLst>
          </p:cNvPr>
          <p:cNvSpPr>
            <a:spLocks noGrp="1"/>
          </p:cNvSpPr>
          <p:nvPr>
            <p:ph type="title"/>
          </p:nvPr>
        </p:nvSpPr>
        <p:spPr/>
        <p:txBody>
          <a:bodyPr/>
          <a:lstStyle/>
          <a:p>
            <a:r>
              <a:rPr lang="en-US" dirty="0"/>
              <a:t>Industrial Growth in Karnataka – industrial policy initiatives and investment</a:t>
            </a:r>
            <a:endParaRPr lang="en-IN" dirty="0"/>
          </a:p>
        </p:txBody>
      </p:sp>
      <p:sp>
        <p:nvSpPr>
          <p:cNvPr id="3" name="Text Placeholder 2">
            <a:extLst>
              <a:ext uri="{FF2B5EF4-FFF2-40B4-BE49-F238E27FC236}">
                <a16:creationId xmlns:a16="http://schemas.microsoft.com/office/drawing/2014/main" id="{9B6A095F-89D6-4B46-916A-09F5C05CFAAB}"/>
              </a:ext>
            </a:extLst>
          </p:cNvPr>
          <p:cNvSpPr>
            <a:spLocks noGrp="1"/>
          </p:cNvSpPr>
          <p:nvPr>
            <p:ph type="body" sz="quarter" idx="13"/>
          </p:nvPr>
        </p:nvSpPr>
        <p:spPr/>
        <p:txBody>
          <a:bodyPr/>
          <a:lstStyle/>
          <a:p>
            <a:r>
              <a:rPr lang="en-US" sz="1700" dirty="0"/>
              <a:t>Karnataka fosters a great hassle-free climate for investment in industries and has always focused on policy support and incentives to boost industrial growth</a:t>
            </a:r>
            <a:endParaRPr lang="en-IN" sz="1700" dirty="0"/>
          </a:p>
        </p:txBody>
      </p:sp>
      <p:graphicFrame>
        <p:nvGraphicFramePr>
          <p:cNvPr id="17" name="Content Placeholder 6">
            <a:extLst>
              <a:ext uri="{FF2B5EF4-FFF2-40B4-BE49-F238E27FC236}">
                <a16:creationId xmlns:a16="http://schemas.microsoft.com/office/drawing/2014/main" id="{77BD9E2F-1BC7-4B4B-A9BC-CB40F1EBE166}"/>
              </a:ext>
            </a:extLst>
          </p:cNvPr>
          <p:cNvGraphicFramePr>
            <a:graphicFrameLocks/>
          </p:cNvGraphicFramePr>
          <p:nvPr/>
        </p:nvGraphicFramePr>
        <p:xfrm>
          <a:off x="297252" y="3529468"/>
          <a:ext cx="5806265" cy="2103120"/>
        </p:xfrm>
        <a:graphic>
          <a:graphicData uri="http://schemas.openxmlformats.org/drawingml/2006/table">
            <a:tbl>
              <a:tblPr firstRow="1" bandRow="1">
                <a:tableStyleId>{5C22544A-7EE6-4342-B048-85BDC9FD1C3A}</a:tableStyleId>
              </a:tblPr>
              <a:tblGrid>
                <a:gridCol w="5806265">
                  <a:extLst>
                    <a:ext uri="{9D8B030D-6E8A-4147-A177-3AD203B41FA5}">
                      <a16:colId xmlns:a16="http://schemas.microsoft.com/office/drawing/2014/main" val="20000"/>
                    </a:ext>
                  </a:extLst>
                </a:gridCol>
              </a:tblGrid>
              <a:tr h="2030248">
                <a:tc>
                  <a:txBody>
                    <a:bodyPr/>
                    <a:lstStyle/>
                    <a:p>
                      <a:pPr marL="0" marR="0" lvl="0" indent="0" algn="ctr" defTabSz="914400" rtl="0" eaLnBrk="1" fontAlgn="auto" latinLnBrk="0" hangingPunct="1">
                        <a:lnSpc>
                          <a:spcPct val="100000"/>
                        </a:lnSpc>
                        <a:spcBef>
                          <a:spcPts val="0"/>
                        </a:spcBef>
                        <a:spcAft>
                          <a:spcPts val="300"/>
                        </a:spcAft>
                        <a:buClrTx/>
                        <a:buSzPct val="100000"/>
                        <a:buFontTx/>
                        <a:buNone/>
                        <a:tabLst/>
                        <a:defRPr/>
                      </a:pPr>
                      <a:r>
                        <a:rPr kumimoji="0" lang="en-US" sz="1100" b="1" i="0" u="none" strike="noStrike" kern="1200" cap="none" spc="0" normalizeH="0" baseline="0" noProof="0" dirty="0">
                          <a:ln>
                            <a:noFill/>
                          </a:ln>
                          <a:solidFill>
                            <a:schemeClr val="accent1">
                              <a:lumMod val="75000"/>
                            </a:schemeClr>
                          </a:solidFill>
                          <a:effectLst/>
                          <a:uLnTx/>
                          <a:uFillTx/>
                          <a:latin typeface="+mn-lt"/>
                          <a:ea typeface="+mn-ea"/>
                          <a:cs typeface="Calibri Light" panose="020F0302020204030204" pitchFamily="34" charset="0"/>
                        </a:rPr>
                        <a:t>Special Economic Zones</a:t>
                      </a:r>
                    </a:p>
                    <a:p>
                      <a:pPr marL="0" marR="0" lvl="0" indent="0" algn="just" defTabSz="914400" rtl="0" eaLnBrk="1" fontAlgn="auto" latinLnBrk="0" hangingPunct="1">
                        <a:lnSpc>
                          <a:spcPct val="100000"/>
                        </a:lnSpc>
                        <a:spcBef>
                          <a:spcPts val="0"/>
                        </a:spcBef>
                        <a:spcAft>
                          <a:spcPts val="300"/>
                        </a:spcAft>
                        <a:buClrTx/>
                        <a:buSzPct val="100000"/>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Government of Karnataka has formulated a State policy for SEZs as per the Central SEZ Act 2005 &amp; Rules 2006. The Policy aims to provide a hassle-free environment for the manufacturing &amp; service sectors and to attract FDI.</a:t>
                      </a:r>
                    </a:p>
                    <a:p>
                      <a:pPr marL="228600" marR="0" lvl="0" indent="-228600" algn="just" defTabSz="91440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The Board of approval of SEZ constituted under SEZ Act 2005 has granted formal approvals for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75 SEZs </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in the State. </a:t>
                      </a:r>
                    </a:p>
                    <a:p>
                      <a:pPr marL="228600" marR="0" lvl="0" indent="-228600" algn="just" defTabSz="91440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SEZs numbering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36 are operational </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in the State with an investment of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Rs.99055.56 crores </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and generating employment for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372927 persons</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Currently there are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495 SEZ units</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a:t>
                      </a:r>
                    </a:p>
                    <a:p>
                      <a:pPr marL="228600" marR="0" lvl="0" indent="-228600" algn="just" defTabSz="914400" rtl="0" eaLnBrk="1" fontAlgn="auto" latinLnBrk="0" hangingPunct="1">
                        <a:lnSpc>
                          <a:spcPct val="100000"/>
                        </a:lnSpc>
                        <a:spcBef>
                          <a:spcPts val="0"/>
                        </a:spcBef>
                        <a:spcAft>
                          <a:spcPts val="3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The value of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exports</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from these SEZs during the year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2020-21 (April to September) accounted to Rs.62547.44 crores.</a:t>
                      </a:r>
                    </a:p>
                  </a:txBody>
                  <a:tcPr marL="91510" marR="91510" marT="137160">
                    <a:lnL w="12700" cmpd="sng">
                      <a:noFill/>
                    </a:lnL>
                    <a:lnR w="12700" cmpd="sng">
                      <a:noFill/>
                    </a:lnR>
                    <a:lnT w="38100" cap="flat" cmpd="sng" algn="ctr">
                      <a:solidFill>
                        <a:schemeClr val="accent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9" name="Content Placeholder 6">
            <a:extLst>
              <a:ext uri="{FF2B5EF4-FFF2-40B4-BE49-F238E27FC236}">
                <a16:creationId xmlns:a16="http://schemas.microsoft.com/office/drawing/2014/main" id="{24FD6803-6523-4A5A-B2BE-AC3F785CA623}"/>
              </a:ext>
            </a:extLst>
          </p:cNvPr>
          <p:cNvGraphicFramePr>
            <a:graphicFrameLocks/>
          </p:cNvGraphicFramePr>
          <p:nvPr/>
        </p:nvGraphicFramePr>
        <p:xfrm>
          <a:off x="297252" y="1331921"/>
          <a:ext cx="5806265" cy="2385848"/>
        </p:xfrm>
        <a:graphic>
          <a:graphicData uri="http://schemas.openxmlformats.org/drawingml/2006/table">
            <a:tbl>
              <a:tblPr firstRow="1" bandRow="1">
                <a:tableStyleId>{5C22544A-7EE6-4342-B048-85BDC9FD1C3A}</a:tableStyleId>
              </a:tblPr>
              <a:tblGrid>
                <a:gridCol w="5806265">
                  <a:extLst>
                    <a:ext uri="{9D8B030D-6E8A-4147-A177-3AD203B41FA5}">
                      <a16:colId xmlns:a16="http://schemas.microsoft.com/office/drawing/2014/main" val="20000"/>
                    </a:ext>
                  </a:extLst>
                </a:gridCol>
              </a:tblGrid>
              <a:tr h="2385848">
                <a:tc>
                  <a:txBody>
                    <a:bodyPr/>
                    <a:lstStyle/>
                    <a:p>
                      <a:pPr marL="0" marR="0" lvl="0" indent="0" algn="ctr" defTabSz="914400" rtl="0" eaLnBrk="1" fontAlgn="auto" latinLnBrk="0" hangingPunct="1">
                        <a:lnSpc>
                          <a:spcPct val="100000"/>
                        </a:lnSpc>
                        <a:spcBef>
                          <a:spcPts val="0"/>
                        </a:spcBef>
                        <a:spcAft>
                          <a:spcPts val="300"/>
                        </a:spcAft>
                        <a:buClrTx/>
                        <a:buSzPct val="100000"/>
                        <a:buFontTx/>
                        <a:buNone/>
                        <a:tabLst/>
                        <a:defRPr/>
                      </a:pPr>
                      <a:r>
                        <a:rPr kumimoji="0" lang="en-US" sz="1100" b="1" i="0" u="none" strike="noStrike" kern="1200" cap="none" spc="0" normalizeH="0" baseline="0" noProof="0" dirty="0">
                          <a:ln>
                            <a:noFill/>
                          </a:ln>
                          <a:solidFill>
                            <a:schemeClr val="accent1">
                              <a:lumMod val="75000"/>
                            </a:schemeClr>
                          </a:solidFill>
                          <a:effectLst/>
                          <a:uLnTx/>
                          <a:uFillTx/>
                          <a:latin typeface="+mn-lt"/>
                          <a:ea typeface="+mn-ea"/>
                          <a:cs typeface="Calibri Light" panose="020F0302020204030204" pitchFamily="34" charset="0"/>
                        </a:rPr>
                        <a:t>Key Highlights of Karnataka’s industrial growth in FY 2019-20</a:t>
                      </a: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1.2 % of overall organized industrial growth in FY 2019-20</a:t>
                      </a: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40% increase in number of MSME units registered</a:t>
                      </a: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25% increase in MSME investment</a:t>
                      </a:r>
                      <a:endParaRPr kumimoji="0" lang="en-US" sz="110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endParaRPr>
                    </a:p>
                    <a:p>
                      <a:pPr marL="0" marR="0" lvl="0" indent="0" algn="ctr" defTabSz="914400" rtl="0" eaLnBrk="1" fontAlgn="auto" latinLnBrk="0" hangingPunct="1">
                        <a:lnSpc>
                          <a:spcPct val="100000"/>
                        </a:lnSpc>
                        <a:spcBef>
                          <a:spcPts val="0"/>
                        </a:spcBef>
                        <a:spcAft>
                          <a:spcPts val="200"/>
                        </a:spcAft>
                        <a:buClrTx/>
                        <a:buSzPct val="100000"/>
                        <a:buFont typeface="Arial" panose="020B0604020202020204" pitchFamily="34" charset="0"/>
                        <a:buNone/>
                        <a:tabLst/>
                        <a:defRPr/>
                      </a:pPr>
                      <a:r>
                        <a:rPr kumimoji="0" lang="en-US" sz="1100" b="1" i="0" u="none" strike="noStrike" kern="1200" cap="none" spc="0" normalizeH="0" baseline="0" noProof="0" dirty="0">
                          <a:ln>
                            <a:noFill/>
                          </a:ln>
                          <a:solidFill>
                            <a:schemeClr val="accent1">
                              <a:lumMod val="75000"/>
                            </a:schemeClr>
                          </a:solidFill>
                          <a:effectLst/>
                          <a:uLnTx/>
                          <a:uFillTx/>
                          <a:latin typeface="+mn-lt"/>
                          <a:ea typeface="+mn-ea"/>
                          <a:cs typeface="Calibri Light" panose="020F0302020204030204" pitchFamily="34" charset="0"/>
                        </a:rPr>
                        <a:t>Major policy initiatives and incentives</a:t>
                      </a: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New Industrial Policy 2020-25</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To make Karnataka a global manufacturing hub; focus on manufacturing and innovation</a:t>
                      </a: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Production Linked Incentive</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a:t>
                      </a:r>
                      <a:r>
                        <a:rPr kumimoji="0" lang="en-US" sz="1050" b="0"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Upto</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2.25% of annual turnover for 6-10 years to boost exports</a:t>
                      </a: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Industrial Facilitation Act Amendment</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Brought in affidavit based clearance system for quick start to approved projects</a:t>
                      </a:r>
                      <a:endParaRPr kumimoji="0" lang="en-US" sz="1050" b="1" i="0" u="none" strike="noStrike" kern="1200" cap="none" spc="0" normalizeH="0" baseline="0" noProof="0" dirty="0">
                        <a:ln>
                          <a:noFill/>
                        </a:ln>
                        <a:solidFill>
                          <a:schemeClr val="accent1">
                            <a:lumMod val="75000"/>
                          </a:schemeClr>
                        </a:solidFill>
                        <a:effectLst/>
                        <a:uLnTx/>
                        <a:uFillTx/>
                        <a:latin typeface="+mn-lt"/>
                        <a:ea typeface="+mn-ea"/>
                        <a:cs typeface="Calibri Light" panose="020F0302020204030204" pitchFamily="34" charset="0"/>
                      </a:endParaRPr>
                    </a:p>
                    <a:p>
                      <a:pPr marL="171450" marR="0" lvl="0" indent="-171450" algn="l"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endParaRPr kumimoji="0" lang="en-US" sz="100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endParaRPr>
                    </a:p>
                  </a:txBody>
                  <a:tcPr marL="91510" marR="91510" marT="137160">
                    <a:lnL w="12700" cmpd="sng">
                      <a:noFill/>
                    </a:lnL>
                    <a:lnR w="12700" cmpd="sng">
                      <a:noFill/>
                    </a:lnR>
                    <a:lnT w="38100" cap="flat" cmpd="sng" algn="ctr">
                      <a:solidFill>
                        <a:schemeClr val="accent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0" name="Content Placeholder 6">
            <a:extLst>
              <a:ext uri="{FF2B5EF4-FFF2-40B4-BE49-F238E27FC236}">
                <a16:creationId xmlns:a16="http://schemas.microsoft.com/office/drawing/2014/main" id="{526595A0-F17C-433F-8414-187A0845CE65}"/>
              </a:ext>
            </a:extLst>
          </p:cNvPr>
          <p:cNvGraphicFramePr>
            <a:graphicFrameLocks/>
          </p:cNvGraphicFramePr>
          <p:nvPr/>
        </p:nvGraphicFramePr>
        <p:xfrm>
          <a:off x="6298877" y="1331921"/>
          <a:ext cx="5652000" cy="2694995"/>
        </p:xfrm>
        <a:graphic>
          <a:graphicData uri="http://schemas.openxmlformats.org/drawingml/2006/table">
            <a:tbl>
              <a:tblPr firstRow="1" bandRow="1">
                <a:tableStyleId>{5C22544A-7EE6-4342-B048-85BDC9FD1C3A}</a:tableStyleId>
              </a:tblPr>
              <a:tblGrid>
                <a:gridCol w="5652000">
                  <a:extLst>
                    <a:ext uri="{9D8B030D-6E8A-4147-A177-3AD203B41FA5}">
                      <a16:colId xmlns:a16="http://schemas.microsoft.com/office/drawing/2014/main" val="20000"/>
                    </a:ext>
                  </a:extLst>
                </a:gridCol>
              </a:tblGrid>
              <a:tr h="2694995">
                <a:tc>
                  <a:txBody>
                    <a:bodyPr/>
                    <a:lstStyle/>
                    <a:p>
                      <a:pPr marL="0" marR="0" lvl="0" indent="0" algn="ctr" defTabSz="914400" rtl="0" eaLnBrk="1" fontAlgn="auto" latinLnBrk="0" hangingPunct="1">
                        <a:lnSpc>
                          <a:spcPct val="100000"/>
                        </a:lnSpc>
                        <a:spcBef>
                          <a:spcPts val="0"/>
                        </a:spcBef>
                        <a:spcAft>
                          <a:spcPts val="300"/>
                        </a:spcAft>
                        <a:buClrTx/>
                        <a:buSzPct val="100000"/>
                        <a:buFontTx/>
                        <a:buNone/>
                        <a:tabLst/>
                        <a:defRPr/>
                      </a:pPr>
                      <a:r>
                        <a:rPr kumimoji="0" lang="en-US" sz="1100" b="1" i="0" u="none" strike="noStrike" kern="1200" cap="none" spc="0" normalizeH="0" baseline="0" noProof="0" dirty="0">
                          <a:ln>
                            <a:noFill/>
                          </a:ln>
                          <a:solidFill>
                            <a:schemeClr val="accent1">
                              <a:lumMod val="75000"/>
                            </a:schemeClr>
                          </a:solidFill>
                          <a:effectLst/>
                          <a:uLnTx/>
                          <a:uFillTx/>
                          <a:latin typeface="+mn-lt"/>
                          <a:ea typeface="+mn-ea"/>
                          <a:cs typeface="Calibri Light" panose="020F0302020204030204" pitchFamily="34" charset="0"/>
                        </a:rPr>
                        <a:t>Key Initiatives</a:t>
                      </a: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Information Technology Investment Region (ITIR) Project</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a:t>
                      </a:r>
                      <a:r>
                        <a:rPr kumimoji="0" lang="en-US" sz="1050" b="0"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Keonics</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involved in establishing IT Parks in Tier-II Cities: </a:t>
                      </a:r>
                      <a:r>
                        <a:rPr kumimoji="0" lang="en-US" sz="1050" b="0"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Hubbali</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Kalburgi, Shivamogga, Mysuru and </a:t>
                      </a:r>
                      <a:r>
                        <a:rPr kumimoji="0" lang="en-US" sz="1050" b="0"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Mangaluru</a:t>
                      </a:r>
                      <a:endPar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endParaRP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Centre for Open Data Research</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Established in Planning Department in collaboration with IIIT-B and PAC for data analytics and evidence based policy making</a:t>
                      </a: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Karnataka Optical Network</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Setup under Bharat Net to connect all government offices </a:t>
                      </a:r>
                      <a:r>
                        <a:rPr kumimoji="0" lang="en-US" sz="1050" b="0"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upto</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Gram Panchayat level</a:t>
                      </a:r>
                    </a:p>
                    <a:p>
                      <a:pPr marL="171450" marR="0" lvl="0" indent="-17145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Karnataka Open Data Initiative</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Utilize Open Data Architecture enabling efficient and transparent governance</a:t>
                      </a:r>
                    </a:p>
                  </a:txBody>
                  <a:tcPr marL="91510" marR="91510" marT="137160">
                    <a:lnL w="12700" cmpd="sng">
                      <a:noFill/>
                    </a:lnL>
                    <a:lnR w="12700" cmpd="sng">
                      <a:noFill/>
                    </a:lnR>
                    <a:lnT w="38100" cap="flat" cmpd="sng" algn="ctr">
                      <a:solidFill>
                        <a:schemeClr val="accent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1" name="Content Placeholder 6">
            <a:extLst>
              <a:ext uri="{FF2B5EF4-FFF2-40B4-BE49-F238E27FC236}">
                <a16:creationId xmlns:a16="http://schemas.microsoft.com/office/drawing/2014/main" id="{3A2CAF1A-DFDF-4BC2-9153-6DD8DD9B49C9}"/>
              </a:ext>
            </a:extLst>
          </p:cNvPr>
          <p:cNvGraphicFramePr>
            <a:graphicFrameLocks/>
          </p:cNvGraphicFramePr>
          <p:nvPr/>
        </p:nvGraphicFramePr>
        <p:xfrm>
          <a:off x="6298878" y="3529468"/>
          <a:ext cx="5651999" cy="2385848"/>
        </p:xfrm>
        <a:graphic>
          <a:graphicData uri="http://schemas.openxmlformats.org/drawingml/2006/table">
            <a:tbl>
              <a:tblPr firstRow="1" bandRow="1">
                <a:tableStyleId>{5C22544A-7EE6-4342-B048-85BDC9FD1C3A}</a:tableStyleId>
              </a:tblPr>
              <a:tblGrid>
                <a:gridCol w="5651999">
                  <a:extLst>
                    <a:ext uri="{9D8B030D-6E8A-4147-A177-3AD203B41FA5}">
                      <a16:colId xmlns:a16="http://schemas.microsoft.com/office/drawing/2014/main" val="20000"/>
                    </a:ext>
                  </a:extLst>
                </a:gridCol>
              </a:tblGrid>
              <a:tr h="2385848">
                <a:tc>
                  <a:txBody>
                    <a:bodyPr/>
                    <a:lstStyle/>
                    <a:p>
                      <a:pPr marL="0" marR="0" lvl="0" indent="0" algn="ctr" defTabSz="914400" rtl="0" eaLnBrk="1" fontAlgn="auto" latinLnBrk="0" hangingPunct="1">
                        <a:lnSpc>
                          <a:spcPct val="100000"/>
                        </a:lnSpc>
                        <a:spcBef>
                          <a:spcPts val="0"/>
                        </a:spcBef>
                        <a:spcAft>
                          <a:spcPts val="300"/>
                        </a:spcAft>
                        <a:buClrTx/>
                        <a:buSzPct val="100000"/>
                        <a:buFontTx/>
                        <a:buNone/>
                        <a:tabLst/>
                        <a:defRPr/>
                      </a:pPr>
                      <a:r>
                        <a:rPr kumimoji="0" lang="en-US" sz="1200" b="1" i="0" u="none" strike="noStrike" kern="1200" cap="none" spc="0" normalizeH="0" baseline="0" noProof="0" dirty="0">
                          <a:ln>
                            <a:noFill/>
                          </a:ln>
                          <a:solidFill>
                            <a:schemeClr val="accent1">
                              <a:lumMod val="75000"/>
                            </a:schemeClr>
                          </a:solidFill>
                          <a:effectLst/>
                          <a:uLnTx/>
                          <a:uFillTx/>
                          <a:latin typeface="+mn-lt"/>
                          <a:ea typeface="+mn-ea"/>
                          <a:cs typeface="Calibri Light" panose="020F0302020204030204" pitchFamily="34" charset="0"/>
                        </a:rPr>
                        <a:t>Karnataka Udyog Mitra (KUM)</a:t>
                      </a:r>
                    </a:p>
                    <a:p>
                      <a:pPr marL="139700" marR="0" lvl="1" indent="-13970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Karnataka Udyog Mitra (KUM) </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is a single contact point for all investors who are looking at setting up enterprises/business in Karnataka. </a:t>
                      </a:r>
                    </a:p>
                    <a:p>
                      <a:pPr marL="139700" marR="0" lvl="1" indent="-13970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As a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nodal agency</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its role is to facilitate investments &amp; execute initiatives to enable a smooth transition, from receiving an investment proposal to them eventual implementation of the project.</a:t>
                      </a:r>
                    </a:p>
                    <a:p>
                      <a:pPr marL="139700" marR="0" lvl="1" indent="-13970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During 2019-20, total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203 projects</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with an investment of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Rs.12,694.27 crores</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were approved for SLSWCC* which created employment to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89270 people. </a:t>
                      </a:r>
                    </a:p>
                    <a:p>
                      <a:pPr marL="139700" marR="0" lvl="1" indent="-139700" algn="just"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For SHLCC* with a total of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16 projects </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were approved with an investment of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Rs.22,413.73 crores </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which created employment to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10374 people</a:t>
                      </a: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a:t>
                      </a:r>
                    </a:p>
                    <a:p>
                      <a:pPr marL="139700" marR="0" lvl="1" indent="-139700" algn="l"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endPar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endParaRPr>
                    </a:p>
                  </a:txBody>
                  <a:tcPr marL="91510" marR="91510" marT="137160">
                    <a:lnL w="12700" cmpd="sng">
                      <a:noFill/>
                    </a:lnL>
                    <a:lnR w="12700" cmpd="sng">
                      <a:noFill/>
                    </a:lnR>
                    <a:lnT w="38100" cap="flat" cmpd="sng" algn="ctr">
                      <a:solidFill>
                        <a:schemeClr val="accent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8" name="TextBox 7">
            <a:extLst>
              <a:ext uri="{FF2B5EF4-FFF2-40B4-BE49-F238E27FC236}">
                <a16:creationId xmlns:a16="http://schemas.microsoft.com/office/drawing/2014/main" id="{8DF00B4A-DDB1-43A2-8893-7010F52AD988}"/>
              </a:ext>
            </a:extLst>
          </p:cNvPr>
          <p:cNvSpPr txBox="1"/>
          <p:nvPr/>
        </p:nvSpPr>
        <p:spPr>
          <a:xfrm>
            <a:off x="7761767" y="6587631"/>
            <a:ext cx="3598985" cy="138499"/>
          </a:xfrm>
          <a:prstGeom prst="rect">
            <a:avLst/>
          </a:prstGeom>
          <a:noFill/>
        </p:spPr>
        <p:txBody>
          <a:bodyPr wrap="square" lIns="0" tIns="0" rIns="0" bIns="0" rtlCol="0">
            <a:spAutoFit/>
          </a:bodyPr>
          <a:lstStyle/>
          <a:p>
            <a:pPr algn="r">
              <a:spcBef>
                <a:spcPts val="600"/>
              </a:spcBef>
              <a:buSzPct val="100000"/>
            </a:pPr>
            <a:r>
              <a:rPr lang="en-US" sz="900" dirty="0">
                <a:solidFill>
                  <a:srgbClr val="313131"/>
                </a:solidFill>
              </a:rPr>
              <a:t>Source: MIDC, Economic Survey of Maharashtra 2020-21</a:t>
            </a:r>
            <a:endParaRPr lang="en-IN" sz="900" dirty="0">
              <a:solidFill>
                <a:srgbClr val="313131"/>
              </a:solidFill>
            </a:endParaRPr>
          </a:p>
        </p:txBody>
      </p:sp>
      <p:sp>
        <p:nvSpPr>
          <p:cNvPr id="4" name="TextBox 3">
            <a:extLst>
              <a:ext uri="{FF2B5EF4-FFF2-40B4-BE49-F238E27FC236}">
                <a16:creationId xmlns:a16="http://schemas.microsoft.com/office/drawing/2014/main" id="{0C2FB6D1-3B0E-4689-AE2A-F7404BB65BD7}"/>
              </a:ext>
            </a:extLst>
          </p:cNvPr>
          <p:cNvSpPr txBox="1"/>
          <p:nvPr/>
        </p:nvSpPr>
        <p:spPr>
          <a:xfrm>
            <a:off x="2088739" y="6670020"/>
            <a:ext cx="5766002" cy="123111"/>
          </a:xfrm>
          <a:prstGeom prst="rect">
            <a:avLst/>
          </a:prstGeom>
          <a:noFill/>
        </p:spPr>
        <p:txBody>
          <a:bodyPr wrap="none" lIns="0" tIns="0" rIns="0" bIns="0" rtlCol="0">
            <a:spAutoFit/>
          </a:bodyPr>
          <a:lstStyle/>
          <a:p>
            <a:r>
              <a:rPr lang="en-IN" sz="800" dirty="0"/>
              <a:t>*State </a:t>
            </a:r>
            <a:r>
              <a:rPr lang="en-US" sz="800" dirty="0"/>
              <a:t>Level Single Window Clearance Committee (SLSWCC); State High Level Clearance Committee (SHLCC)</a:t>
            </a:r>
            <a:endParaRPr lang="en-IN" sz="800" dirty="0">
              <a:solidFill>
                <a:srgbClr val="313131"/>
              </a:solidFill>
            </a:endParaRPr>
          </a:p>
        </p:txBody>
      </p:sp>
      <p:graphicFrame>
        <p:nvGraphicFramePr>
          <p:cNvPr id="10" name="Content Placeholder 6">
            <a:extLst>
              <a:ext uri="{FF2B5EF4-FFF2-40B4-BE49-F238E27FC236}">
                <a16:creationId xmlns:a16="http://schemas.microsoft.com/office/drawing/2014/main" id="{9E82A969-445E-43E7-ADEA-727E7645EF46}"/>
              </a:ext>
            </a:extLst>
          </p:cNvPr>
          <p:cNvGraphicFramePr>
            <a:graphicFrameLocks/>
          </p:cNvGraphicFramePr>
          <p:nvPr/>
        </p:nvGraphicFramePr>
        <p:xfrm>
          <a:off x="297252" y="5665077"/>
          <a:ext cx="11653625" cy="883920"/>
        </p:xfrm>
        <a:graphic>
          <a:graphicData uri="http://schemas.openxmlformats.org/drawingml/2006/table">
            <a:tbl>
              <a:tblPr firstRow="1" bandRow="1">
                <a:tableStyleId>{5C22544A-7EE6-4342-B048-85BDC9FD1C3A}</a:tableStyleId>
              </a:tblPr>
              <a:tblGrid>
                <a:gridCol w="11653625">
                  <a:extLst>
                    <a:ext uri="{9D8B030D-6E8A-4147-A177-3AD203B41FA5}">
                      <a16:colId xmlns:a16="http://schemas.microsoft.com/office/drawing/2014/main" val="20000"/>
                    </a:ext>
                  </a:extLst>
                </a:gridCol>
              </a:tblGrid>
              <a:tr h="673579">
                <a:tc>
                  <a:txBody>
                    <a:bodyPr/>
                    <a:lstStyle/>
                    <a:p>
                      <a:pPr marL="0" marR="0" lvl="0" indent="0" algn="ctr" defTabSz="914400" rtl="0" eaLnBrk="1" fontAlgn="auto" latinLnBrk="0" hangingPunct="1">
                        <a:lnSpc>
                          <a:spcPct val="100000"/>
                        </a:lnSpc>
                        <a:spcBef>
                          <a:spcPts val="0"/>
                        </a:spcBef>
                        <a:spcAft>
                          <a:spcPts val="300"/>
                        </a:spcAft>
                        <a:buClrTx/>
                        <a:buSzPct val="100000"/>
                        <a:buFontTx/>
                        <a:buNone/>
                        <a:tabLst/>
                        <a:defRPr/>
                      </a:pPr>
                      <a:r>
                        <a:rPr kumimoji="0" lang="en-US" sz="1200" b="1" i="0" u="none" strike="noStrike" kern="1200" cap="none" spc="0" normalizeH="0" baseline="0" noProof="0" dirty="0">
                          <a:ln>
                            <a:noFill/>
                          </a:ln>
                          <a:solidFill>
                            <a:schemeClr val="accent1">
                              <a:lumMod val="75000"/>
                            </a:schemeClr>
                          </a:solidFill>
                          <a:effectLst/>
                          <a:uLnTx/>
                          <a:uFillTx/>
                          <a:latin typeface="+mn-lt"/>
                          <a:ea typeface="+mn-ea"/>
                          <a:cs typeface="Calibri Light" panose="020F0302020204030204" pitchFamily="34" charset="0"/>
                        </a:rPr>
                        <a:t>New Industrial Corridors</a:t>
                      </a:r>
                    </a:p>
                    <a:p>
                      <a:pPr marL="139700" marR="0" lvl="1" indent="-139700" algn="l" defTabSz="914400" rtl="0" eaLnBrk="1" fontAlgn="auto" latinLnBrk="0" hangingPunct="1">
                        <a:lnSpc>
                          <a:spcPct val="100000"/>
                        </a:lnSpc>
                        <a:spcBef>
                          <a:spcPts val="0"/>
                        </a:spcBef>
                        <a:spcAft>
                          <a:spcPts val="2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The Industrial Policy proposes the establishment of new industrial corridors within the state to boost growth namely – </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1) Bangalore-</a:t>
                      </a:r>
                      <a:r>
                        <a:rPr kumimoji="0" lang="en-US" sz="1050" b="1"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Mandya</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-Mysore-</a:t>
                      </a:r>
                      <a:r>
                        <a:rPr kumimoji="0" lang="en-US" sz="1050" b="1"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Chamrajnagar</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2) </a:t>
                      </a:r>
                      <a:r>
                        <a:rPr kumimoji="0" lang="en-US" sz="1050" b="1"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Chitradurga</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-Bellary-Gulbarga-</a:t>
                      </a:r>
                      <a:r>
                        <a:rPr kumimoji="0" lang="en-US" sz="1050" b="1"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Bidar</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3) Dharwad-</a:t>
                      </a:r>
                      <a:r>
                        <a:rPr kumimoji="0" lang="en-US" sz="1050" b="1"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Koppal</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-Raichur 4) Bangalore-Hassan-Mysore 5) </a:t>
                      </a:r>
                      <a:r>
                        <a:rPr kumimoji="0" lang="en-US" sz="1050" b="1" i="0" u="none" strike="noStrike" kern="1200" cap="none" spc="0" normalizeH="0" baseline="0" noProof="0" dirty="0" err="1">
                          <a:ln>
                            <a:noFill/>
                          </a:ln>
                          <a:solidFill>
                            <a:prstClr val="black"/>
                          </a:solidFill>
                          <a:effectLst/>
                          <a:uLnTx/>
                          <a:uFillTx/>
                          <a:latin typeface="+mn-lt"/>
                          <a:ea typeface="+mn-ea"/>
                          <a:cs typeface="Calibri Light" panose="020F0302020204030204" pitchFamily="34" charset="0"/>
                        </a:rPr>
                        <a:t>Tumkur-Shimoga-Honnavar</a:t>
                      </a:r>
                      <a:r>
                        <a:rPr kumimoji="0" lang="en-US" sz="1050" b="1" i="0" u="none" strike="noStrike" kern="1200" cap="none" spc="0" normalizeH="0" baseline="0" noProof="0" dirty="0">
                          <a:ln>
                            <a:noFill/>
                          </a:ln>
                          <a:solidFill>
                            <a:prstClr val="black"/>
                          </a:solidFill>
                          <a:effectLst/>
                          <a:uLnTx/>
                          <a:uFillTx/>
                          <a:latin typeface="+mn-lt"/>
                          <a:ea typeface="+mn-ea"/>
                          <a:cs typeface="Calibri Light" panose="020F0302020204030204" pitchFamily="34" charset="0"/>
                        </a:rPr>
                        <a:t> 6) Raichur-Bagalkot-Belgaum</a:t>
                      </a:r>
                    </a:p>
                  </a:txBody>
                  <a:tcPr marL="91510" marR="91510" marT="137160">
                    <a:lnL w="12700" cmpd="sng">
                      <a:noFill/>
                    </a:lnL>
                    <a:lnR w="12700" cmpd="sng">
                      <a:noFill/>
                    </a:lnR>
                    <a:lnT w="38100" cap="flat" cmpd="sng" algn="ctr">
                      <a:solidFill>
                        <a:schemeClr val="accent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70194161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Electricity sector overview</a:t>
            </a:r>
            <a:endParaRPr lang="en-IN" dirty="0"/>
          </a:p>
        </p:txBody>
      </p:sp>
      <p:sp>
        <p:nvSpPr>
          <p:cNvPr id="3" name="Text Placeholder 2"/>
          <p:cNvSpPr>
            <a:spLocks noGrp="1"/>
          </p:cNvSpPr>
          <p:nvPr>
            <p:ph type="body" sz="quarter" idx="13"/>
          </p:nvPr>
        </p:nvSpPr>
        <p:spPr/>
        <p:txBody>
          <a:bodyPr/>
          <a:lstStyle/>
          <a:p>
            <a:r>
              <a:rPr lang="en-US" sz="1800" dirty="0"/>
              <a:t>State is successful meeting its electricity demand with a staggering increase in installed capacity at a 6-year CAGR of ~ 12.31%</a:t>
            </a:r>
          </a:p>
        </p:txBody>
      </p:sp>
      <p:graphicFrame>
        <p:nvGraphicFramePr>
          <p:cNvPr id="6" name="Table 5"/>
          <p:cNvGraphicFramePr>
            <a:graphicFrameLocks noGrp="1"/>
          </p:cNvGraphicFramePr>
          <p:nvPr>
            <p:extLst>
              <p:ext uri="{D42A27DB-BD31-4B8C-83A1-F6EECF244321}">
                <p14:modId xmlns:p14="http://schemas.microsoft.com/office/powerpoint/2010/main" val="2528827502"/>
              </p:ext>
            </p:extLst>
          </p:nvPr>
        </p:nvGraphicFramePr>
        <p:xfrm>
          <a:off x="501649" y="1462007"/>
          <a:ext cx="5441951" cy="1661206"/>
        </p:xfrm>
        <a:graphic>
          <a:graphicData uri="http://schemas.openxmlformats.org/drawingml/2006/table">
            <a:tbl>
              <a:tblPr firstRow="1" firstCol="1">
                <a:tableStyleId>{FABFCF23-3B69-468F-B69F-88F6DE6A72F2}</a:tableStyleId>
              </a:tblPr>
              <a:tblGrid>
                <a:gridCol w="1220824">
                  <a:extLst>
                    <a:ext uri="{9D8B030D-6E8A-4147-A177-3AD203B41FA5}">
                      <a16:colId xmlns:a16="http://schemas.microsoft.com/office/drawing/2014/main" val="20001"/>
                    </a:ext>
                  </a:extLst>
                </a:gridCol>
                <a:gridCol w="1041991">
                  <a:extLst>
                    <a:ext uri="{9D8B030D-6E8A-4147-A177-3AD203B41FA5}">
                      <a16:colId xmlns:a16="http://schemas.microsoft.com/office/drawing/2014/main" val="2798433299"/>
                    </a:ext>
                  </a:extLst>
                </a:gridCol>
                <a:gridCol w="1180214">
                  <a:extLst>
                    <a:ext uri="{9D8B030D-6E8A-4147-A177-3AD203B41FA5}">
                      <a16:colId xmlns:a16="http://schemas.microsoft.com/office/drawing/2014/main" val="3419445397"/>
                    </a:ext>
                  </a:extLst>
                </a:gridCol>
                <a:gridCol w="1998922">
                  <a:extLst>
                    <a:ext uri="{9D8B030D-6E8A-4147-A177-3AD203B41FA5}">
                      <a16:colId xmlns:a16="http://schemas.microsoft.com/office/drawing/2014/main" val="559792973"/>
                    </a:ext>
                  </a:extLst>
                </a:gridCol>
              </a:tblGrid>
              <a:tr h="716326">
                <a:tc>
                  <a:txBody>
                    <a:bodyPr/>
                    <a:lstStyle/>
                    <a:p>
                      <a:r>
                        <a:rPr lang="en-US" sz="1100" b="1" i="0" u="none" strike="noStrike" kern="1200" baseline="0" dirty="0">
                          <a:solidFill>
                            <a:schemeClr val="tx1"/>
                          </a:solidFill>
                          <a:latin typeface="+mn-lt"/>
                          <a:ea typeface="+mn-ea"/>
                          <a:cs typeface="+mn-cs"/>
                        </a:rPr>
                        <a:t>Electricity</a:t>
                      </a:r>
                      <a:endParaRPr lang="en-IN" sz="1100" b="1" i="0" u="none" strike="noStrike" kern="1200" baseline="0" dirty="0">
                        <a:solidFill>
                          <a:schemeClr val="tx1"/>
                        </a:solidFill>
                        <a:latin typeface="+mn-lt"/>
                        <a:ea typeface="+mn-ea"/>
                        <a:cs typeface="+mn-cs"/>
                      </a:endParaRP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i="0" u="none" strike="noStrike" kern="1200" baseline="0" dirty="0">
                          <a:solidFill>
                            <a:schemeClr val="tx1"/>
                          </a:solidFill>
                          <a:latin typeface="+mn-lt"/>
                          <a:ea typeface="+mn-ea"/>
                          <a:cs typeface="+mn-cs"/>
                        </a:rPr>
                        <a:t>FY 2020 Demand </a:t>
                      </a:r>
                    </a:p>
                    <a:p>
                      <a:pPr algn="ctr"/>
                      <a:r>
                        <a:rPr lang="en-US" sz="1100" b="1" i="0" u="none" strike="noStrike" kern="1200" baseline="0" dirty="0">
                          <a:solidFill>
                            <a:schemeClr val="tx1"/>
                          </a:solidFill>
                          <a:latin typeface="+mn-lt"/>
                          <a:ea typeface="+mn-ea"/>
                          <a:cs typeface="+mn-cs"/>
                        </a:rPr>
                        <a:t>(MUs)</a:t>
                      </a:r>
                      <a:endParaRPr lang="en-IN" sz="1100" b="1" i="0" u="none" strike="noStrike" kern="1200" baseline="0" dirty="0">
                        <a:solidFill>
                          <a:schemeClr val="tx1"/>
                        </a:solidFill>
                        <a:latin typeface="+mn-lt"/>
                        <a:ea typeface="+mn-ea"/>
                        <a:cs typeface="+mn-cs"/>
                      </a:endParaRP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sz="1100" b="1" i="0" u="none" strike="noStrike" kern="1200" baseline="0" dirty="0">
                          <a:solidFill>
                            <a:schemeClr val="tx1"/>
                          </a:solidFill>
                          <a:latin typeface="+mn-lt"/>
                          <a:ea typeface="+mn-ea"/>
                          <a:cs typeface="+mn-cs"/>
                        </a:rPr>
                        <a:t>FY 2020 Supply</a:t>
                      </a:r>
                    </a:p>
                    <a:p>
                      <a:pPr algn="ctr"/>
                      <a:r>
                        <a:rPr lang="en-IN" sz="1100" b="1" i="0" u="none" strike="noStrike" kern="1200" baseline="0" dirty="0">
                          <a:solidFill>
                            <a:schemeClr val="tx1"/>
                          </a:solidFill>
                          <a:latin typeface="+mn-lt"/>
                          <a:ea typeface="+mn-ea"/>
                          <a:cs typeface="+mn-cs"/>
                        </a:rPr>
                        <a:t>(MUs)</a:t>
                      </a: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b="1" i="0" u="none" strike="noStrike" kern="1200" baseline="0" dirty="0">
                          <a:solidFill>
                            <a:schemeClr val="tx1"/>
                          </a:solidFill>
                          <a:latin typeface="+mn-lt"/>
                          <a:ea typeface="+mn-ea"/>
                          <a:cs typeface="+mn-cs"/>
                        </a:rPr>
                        <a:t>Generation capacity as on 31</a:t>
                      </a:r>
                      <a:r>
                        <a:rPr lang="en-US" sz="1100" b="1" i="0" u="none" strike="noStrike" kern="1200" baseline="30000" dirty="0">
                          <a:solidFill>
                            <a:schemeClr val="tx1"/>
                          </a:solidFill>
                          <a:latin typeface="+mn-lt"/>
                          <a:ea typeface="+mn-ea"/>
                          <a:cs typeface="+mn-cs"/>
                        </a:rPr>
                        <a:t>st</a:t>
                      </a:r>
                      <a:r>
                        <a:rPr lang="en-US" sz="1100" b="1" i="0" u="none" strike="noStrike" kern="1200" baseline="0" dirty="0">
                          <a:solidFill>
                            <a:schemeClr val="tx1"/>
                          </a:solidFill>
                          <a:latin typeface="+mn-lt"/>
                          <a:ea typeface="+mn-ea"/>
                          <a:cs typeface="+mn-cs"/>
                        </a:rPr>
                        <a:t> Dec-2020 (MW)</a:t>
                      </a:r>
                      <a:endParaRPr lang="en-IN" sz="1100" b="1" i="0" u="none" strike="noStrike" kern="1200" baseline="0" dirty="0">
                        <a:solidFill>
                          <a:schemeClr val="tx1"/>
                        </a:solidFill>
                        <a:latin typeface="+mn-lt"/>
                        <a:ea typeface="+mn-ea"/>
                        <a:cs typeface="+mn-cs"/>
                      </a:endParaRP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43551">
                <a:tc>
                  <a:txBody>
                    <a:bodyPr/>
                    <a:lstStyle/>
                    <a:p>
                      <a:r>
                        <a:rPr lang="en-IN" sz="1100" b="0" i="0" u="none" strike="noStrike" kern="1200" baseline="0" dirty="0">
                          <a:solidFill>
                            <a:schemeClr val="tx1"/>
                          </a:solidFill>
                          <a:latin typeface="+mn-lt"/>
                          <a:ea typeface="+mn-ea"/>
                          <a:cs typeface="+mn-cs"/>
                        </a:rPr>
                        <a:t>Karnataka</a:t>
                      </a:r>
                      <a:endParaRPr lang="en-IN" sz="1100" dirty="0">
                        <a:solidFill>
                          <a:schemeClr val="tx1"/>
                        </a:solidFill>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t>72,799</a:t>
                      </a:r>
                      <a:endParaRPr lang="en-IN" sz="1100" b="0" i="0" u="none" strike="noStrike" kern="1200" baseline="0" dirty="0">
                        <a:solidFill>
                          <a:schemeClr val="tx1"/>
                        </a:solidFill>
                        <a:highlight>
                          <a:srgbClr val="FFFF00"/>
                        </a:highlight>
                        <a:latin typeface="+mn-lt"/>
                        <a:ea typeface="+mn-ea"/>
                        <a:cs typeface="+mn-cs"/>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t>72,796</a:t>
                      </a:r>
                      <a:endParaRPr lang="en-IN" sz="1100" b="0" i="0" u="none" strike="noStrike" kern="1200" baseline="0" dirty="0">
                        <a:solidFill>
                          <a:schemeClr val="tx1"/>
                        </a:solidFill>
                        <a:highlight>
                          <a:srgbClr val="FFFF00"/>
                        </a:highlight>
                        <a:latin typeface="+mn-lt"/>
                        <a:ea typeface="+mn-ea"/>
                        <a:cs typeface="+mn-cs"/>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t>30,209</a:t>
                      </a:r>
                      <a:endParaRPr lang="en-IN" sz="1100" b="0" i="0" u="none" strike="noStrike" kern="1200" baseline="0" dirty="0">
                        <a:solidFill>
                          <a:schemeClr val="tx1"/>
                        </a:solidFill>
                        <a:latin typeface="+mn-lt"/>
                        <a:ea typeface="+mn-ea"/>
                        <a:cs typeface="+mn-cs"/>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43551">
                <a:tc>
                  <a:txBody>
                    <a:bodyPr/>
                    <a:lstStyle/>
                    <a:p>
                      <a:r>
                        <a:rPr lang="en-IN" sz="1100" b="0" i="0" u="none" strike="noStrike" kern="1200" baseline="0" dirty="0">
                          <a:solidFill>
                            <a:schemeClr val="tx1"/>
                          </a:solidFill>
                          <a:latin typeface="+mn-lt"/>
                          <a:ea typeface="+mn-ea"/>
                          <a:cs typeface="+mn-cs"/>
                        </a:rPr>
                        <a:t>India</a:t>
                      </a:r>
                      <a:endParaRPr lang="en-IN" sz="1100" dirty="0">
                        <a:solidFill>
                          <a:schemeClr val="tx1"/>
                        </a:solidFill>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t>12,91,010</a:t>
                      </a:r>
                      <a:endParaRPr lang="en-IN" sz="1100" b="0" i="0" u="none" strike="noStrike" kern="1200" baseline="0" dirty="0">
                        <a:solidFill>
                          <a:schemeClr val="tx1"/>
                        </a:solidFill>
                        <a:highlight>
                          <a:srgbClr val="FFFF00"/>
                        </a:highlight>
                        <a:latin typeface="+mn-lt"/>
                        <a:ea typeface="+mn-ea"/>
                        <a:cs typeface="+mn-cs"/>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t>12,84,444</a:t>
                      </a:r>
                      <a:endParaRPr lang="en-IN" sz="1100" b="0" i="0" u="none" strike="noStrike" kern="1200" baseline="0" dirty="0">
                        <a:solidFill>
                          <a:schemeClr val="tx1"/>
                        </a:solidFill>
                        <a:highlight>
                          <a:srgbClr val="FFFF00"/>
                        </a:highlight>
                        <a:latin typeface="+mn-lt"/>
                        <a:ea typeface="+mn-ea"/>
                        <a:cs typeface="+mn-cs"/>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1100" dirty="0">
                          <a:solidFill>
                            <a:schemeClr val="tx1"/>
                          </a:solidFill>
                        </a:rPr>
                        <a:t>3,82,151</a:t>
                      </a: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01143">
                <a:tc>
                  <a:txBody>
                    <a:bodyPr/>
                    <a:lstStyle/>
                    <a:p>
                      <a:pPr marL="0" indent="0" algn="l" defTabSz="914400" rtl="0" eaLnBrk="1" fontAlgn="b" latinLnBrk="0" hangingPunct="1"/>
                      <a:r>
                        <a:rPr lang="en-US" sz="1100" b="0" i="0" u="none" strike="noStrike" kern="1200" baseline="0" dirty="0">
                          <a:solidFill>
                            <a:schemeClr val="tx1"/>
                          </a:solidFill>
                          <a:latin typeface="+mn-lt"/>
                          <a:ea typeface="+mn-ea"/>
                          <a:cs typeface="+mn-cs"/>
                        </a:rPr>
                        <a:t>Karnataka as % of India</a:t>
                      </a: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1" kern="1200" dirty="0">
                          <a:solidFill>
                            <a:schemeClr val="dk1"/>
                          </a:solidFill>
                          <a:latin typeface="+mn-lt"/>
                          <a:ea typeface="+mn-ea"/>
                          <a:cs typeface="+mn-cs"/>
                        </a:rPr>
                        <a:t>5.63%</a:t>
                      </a:r>
                      <a:endParaRPr lang="en-IN" sz="1100" b="1" kern="1200" dirty="0">
                        <a:solidFill>
                          <a:schemeClr val="dk1"/>
                        </a:solidFill>
                        <a:latin typeface="+mn-lt"/>
                        <a:ea typeface="+mn-ea"/>
                        <a:cs typeface="+mn-cs"/>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1" kern="1200" dirty="0">
                          <a:solidFill>
                            <a:schemeClr val="dk1"/>
                          </a:solidFill>
                          <a:latin typeface="+mn-lt"/>
                          <a:ea typeface="+mn-ea"/>
                          <a:cs typeface="+mn-cs"/>
                        </a:rPr>
                        <a:t>5.67%</a:t>
                      </a:r>
                      <a:endParaRPr lang="en-IN" sz="1100" b="1" kern="1200" dirty="0">
                        <a:solidFill>
                          <a:schemeClr val="dk1"/>
                        </a:solidFill>
                        <a:latin typeface="+mn-lt"/>
                        <a:ea typeface="+mn-ea"/>
                        <a:cs typeface="+mn-cs"/>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100" b="1" kern="1200" dirty="0">
                          <a:solidFill>
                            <a:schemeClr val="dk1"/>
                          </a:solidFill>
                          <a:latin typeface="+mn-lt"/>
                          <a:ea typeface="+mn-ea"/>
                          <a:cs typeface="+mn-cs"/>
                        </a:rPr>
                        <a:t>7.90%</a:t>
                      </a:r>
                      <a:endParaRPr lang="en-IN" sz="1100" b="1" kern="1200" dirty="0">
                        <a:solidFill>
                          <a:schemeClr val="dk1"/>
                        </a:solidFill>
                        <a:latin typeface="+mn-lt"/>
                        <a:ea typeface="+mn-ea"/>
                        <a:cs typeface="+mn-cs"/>
                      </a:endParaRPr>
                    </a:p>
                  </a:txBody>
                  <a:tcPr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5033570"/>
                  </a:ext>
                </a:extLst>
              </a:tr>
            </a:tbl>
          </a:graphicData>
        </a:graphic>
      </p:graphicFrame>
      <p:sp>
        <p:nvSpPr>
          <p:cNvPr id="4" name="TextBox 3"/>
          <p:cNvSpPr txBox="1"/>
          <p:nvPr/>
        </p:nvSpPr>
        <p:spPr>
          <a:xfrm>
            <a:off x="4355688" y="3191994"/>
            <a:ext cx="1587911" cy="138499"/>
          </a:xfrm>
          <a:prstGeom prst="rect">
            <a:avLst/>
          </a:prstGeom>
          <a:noFill/>
        </p:spPr>
        <p:txBody>
          <a:bodyPr wrap="square" lIns="0" tIns="0" rIns="0" bIns="0" rtlCol="0">
            <a:spAutoFit/>
          </a:bodyPr>
          <a:lstStyle/>
          <a:p>
            <a:pPr algn="r">
              <a:spcBef>
                <a:spcPts val="600"/>
              </a:spcBef>
              <a:buSzPct val="100000"/>
            </a:pPr>
            <a:r>
              <a:rPr lang="en-US" sz="900" dirty="0">
                <a:solidFill>
                  <a:srgbClr val="313131"/>
                </a:solidFill>
              </a:rPr>
              <a:t>Source: CEA Reports</a:t>
            </a:r>
            <a:endParaRPr lang="en-IN" sz="900" dirty="0">
              <a:solidFill>
                <a:srgbClr val="313131"/>
              </a:solidFill>
            </a:endParaRPr>
          </a:p>
        </p:txBody>
      </p:sp>
      <p:sp>
        <p:nvSpPr>
          <p:cNvPr id="19" name="TextBox 18"/>
          <p:cNvSpPr txBox="1"/>
          <p:nvPr/>
        </p:nvSpPr>
        <p:spPr>
          <a:xfrm>
            <a:off x="6276975" y="3780665"/>
            <a:ext cx="5427345" cy="2431435"/>
          </a:xfrm>
          <a:prstGeom prst="rect">
            <a:avLst/>
          </a:prstGeom>
          <a:noFill/>
        </p:spPr>
        <p:txBody>
          <a:bodyPr wrap="square" lIns="0" tIns="0" rIns="0" bIns="0" rtlCol="0">
            <a:spAutoFit/>
          </a:bodyPr>
          <a:lstStyle/>
          <a:p>
            <a:pPr marL="171450" indent="-171450" algn="just">
              <a:spcAft>
                <a:spcPts val="600"/>
              </a:spcAft>
              <a:buSzPct val="100000"/>
              <a:buFont typeface="Arial" panose="020B0604020202020204" pitchFamily="34" charset="0"/>
              <a:buChar char="•"/>
            </a:pPr>
            <a:r>
              <a:rPr lang="en-US" sz="1100" dirty="0"/>
              <a:t>Karnataka is the one of the largest states in India in terms of electricity demand, electricity supply and power generation capacity. It contributes to nearly 8% of all India generation capacity. </a:t>
            </a:r>
          </a:p>
          <a:p>
            <a:pPr marL="171450" indent="-171450" algn="just">
              <a:spcAft>
                <a:spcPts val="600"/>
              </a:spcAft>
              <a:buSzPct val="100000"/>
              <a:buFont typeface="Arial" panose="020B0604020202020204" pitchFamily="34" charset="0"/>
              <a:buChar char="•"/>
            </a:pPr>
            <a:r>
              <a:rPr lang="en-US" sz="1100" dirty="0"/>
              <a:t>The state has around 10.26 million households, all of which are electrified.</a:t>
            </a:r>
          </a:p>
          <a:p>
            <a:pPr marL="171450" indent="-171450" algn="just">
              <a:spcAft>
                <a:spcPts val="600"/>
              </a:spcAft>
              <a:buSzPct val="100000"/>
              <a:buFont typeface="Arial" panose="020B0604020202020204" pitchFamily="34" charset="0"/>
              <a:buChar char="•"/>
            </a:pPr>
            <a:r>
              <a:rPr lang="en-US" sz="1100" dirty="0"/>
              <a:t>The energy deficit of Karnataka has significantly come down in the last eight years to almost 0%. This is due to moderate growth rate in energy demand at 7-year CAGR (FY13 to FY20) of around 1.35% and a staggering increase in installed generation capacity at 6-year CAGR of around 12.31%. The state has sufficient capacity to meet the future demand.</a:t>
            </a:r>
          </a:p>
          <a:p>
            <a:pPr marL="171450" indent="-171450" algn="just">
              <a:spcAft>
                <a:spcPts val="600"/>
              </a:spcAft>
              <a:buSzPct val="100000"/>
              <a:buFont typeface="Arial" panose="020B0604020202020204" pitchFamily="34" charset="0"/>
              <a:buChar char="•"/>
            </a:pPr>
            <a:r>
              <a:rPr lang="en-US" sz="1100" dirty="0"/>
              <a:t>19</a:t>
            </a:r>
            <a:r>
              <a:rPr lang="en-US" sz="1100" baseline="30000" dirty="0"/>
              <a:t>th</a:t>
            </a:r>
            <a:r>
              <a:rPr lang="en-US" sz="1100" dirty="0"/>
              <a:t> EPS projects the state demand to grow at a CAGR of around 4.9% for FY22 to FY27.</a:t>
            </a:r>
          </a:p>
        </p:txBody>
      </p:sp>
      <p:sp>
        <p:nvSpPr>
          <p:cNvPr id="9" name="TextBox 8"/>
          <p:cNvSpPr txBox="1"/>
          <p:nvPr/>
        </p:nvSpPr>
        <p:spPr>
          <a:xfrm>
            <a:off x="4327115" y="6067901"/>
            <a:ext cx="1587911" cy="138499"/>
          </a:xfrm>
          <a:prstGeom prst="rect">
            <a:avLst/>
          </a:prstGeom>
          <a:noFill/>
        </p:spPr>
        <p:txBody>
          <a:bodyPr wrap="square" lIns="0" tIns="0" rIns="0" bIns="0" rtlCol="0">
            <a:spAutoFit/>
          </a:bodyPr>
          <a:lstStyle/>
          <a:p>
            <a:pPr algn="r">
              <a:spcBef>
                <a:spcPts val="600"/>
              </a:spcBef>
              <a:buSzPct val="100000"/>
            </a:pPr>
            <a:r>
              <a:rPr lang="en-US" sz="900" dirty="0">
                <a:solidFill>
                  <a:srgbClr val="313131"/>
                </a:solidFill>
              </a:rPr>
              <a:t>Source: CEA Reports</a:t>
            </a:r>
            <a:endParaRPr lang="en-IN" sz="900" dirty="0">
              <a:solidFill>
                <a:srgbClr val="313131"/>
              </a:solidFill>
            </a:endParaRPr>
          </a:p>
        </p:txBody>
      </p:sp>
      <p:graphicFrame>
        <p:nvGraphicFramePr>
          <p:cNvPr id="11" name="Chart 10"/>
          <p:cNvGraphicFramePr/>
          <p:nvPr>
            <p:extLst>
              <p:ext uri="{D42A27DB-BD31-4B8C-83A1-F6EECF244321}">
                <p14:modId xmlns:p14="http://schemas.microsoft.com/office/powerpoint/2010/main" val="2633299041"/>
              </p:ext>
            </p:extLst>
          </p:nvPr>
        </p:nvGraphicFramePr>
        <p:xfrm>
          <a:off x="6858147" y="1285249"/>
          <a:ext cx="4264986" cy="2540411"/>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p:cNvSpPr txBox="1"/>
          <p:nvPr/>
        </p:nvSpPr>
        <p:spPr>
          <a:xfrm>
            <a:off x="7090422" y="1248647"/>
            <a:ext cx="4170244" cy="184666"/>
          </a:xfrm>
          <a:prstGeom prst="rect">
            <a:avLst/>
          </a:prstGeom>
          <a:noFill/>
        </p:spPr>
        <p:txBody>
          <a:bodyPr wrap="square" lIns="0" tIns="0" rIns="0" bIns="0" rtlCol="0">
            <a:spAutoFit/>
          </a:bodyPr>
          <a:lstStyle/>
          <a:p>
            <a:pPr>
              <a:spcBef>
                <a:spcPts val="600"/>
              </a:spcBef>
              <a:buSzPct val="100000"/>
            </a:pPr>
            <a:r>
              <a:rPr lang="en-IN" sz="1200" b="1" dirty="0">
                <a:solidFill>
                  <a:srgbClr val="313131"/>
                </a:solidFill>
              </a:rPr>
              <a:t>Karnataka generation capacity break-up 2020</a:t>
            </a:r>
          </a:p>
        </p:txBody>
      </p:sp>
      <p:sp>
        <p:nvSpPr>
          <p:cNvPr id="5" name="TextBox 4"/>
          <p:cNvSpPr txBox="1"/>
          <p:nvPr/>
        </p:nvSpPr>
        <p:spPr>
          <a:xfrm>
            <a:off x="8450312" y="2830357"/>
            <a:ext cx="1080655" cy="430887"/>
          </a:xfrm>
          <a:prstGeom prst="rect">
            <a:avLst/>
          </a:prstGeom>
          <a:noFill/>
        </p:spPr>
        <p:txBody>
          <a:bodyPr wrap="square" lIns="0" tIns="0" rIns="0" bIns="0" rtlCol="0">
            <a:spAutoFit/>
          </a:bodyPr>
          <a:lstStyle/>
          <a:p>
            <a:pPr algn="ctr">
              <a:buSzPct val="100000"/>
            </a:pPr>
            <a:r>
              <a:rPr lang="en-US" sz="1400" b="1" i="1" dirty="0"/>
              <a:t>30,209 </a:t>
            </a:r>
          </a:p>
          <a:p>
            <a:pPr algn="ctr">
              <a:buSzPct val="100000"/>
            </a:pPr>
            <a:r>
              <a:rPr lang="en-US" sz="1400" i="1" dirty="0"/>
              <a:t>MW</a:t>
            </a:r>
            <a:endParaRPr lang="en-IN" sz="1400" i="1" dirty="0"/>
          </a:p>
        </p:txBody>
      </p:sp>
      <p:graphicFrame>
        <p:nvGraphicFramePr>
          <p:cNvPr id="12" name="Chart 11">
            <a:extLst>
              <a:ext uri="{FF2B5EF4-FFF2-40B4-BE49-F238E27FC236}">
                <a16:creationId xmlns:a16="http://schemas.microsoft.com/office/drawing/2014/main" id="{FAC591FA-0DD1-4E38-809E-BA8651AD1205}"/>
              </a:ext>
            </a:extLst>
          </p:cNvPr>
          <p:cNvGraphicFramePr/>
          <p:nvPr>
            <p:extLst>
              <p:ext uri="{D42A27DB-BD31-4B8C-83A1-F6EECF244321}">
                <p14:modId xmlns:p14="http://schemas.microsoft.com/office/powerpoint/2010/main" val="2947859605"/>
              </p:ext>
            </p:extLst>
          </p:nvPr>
        </p:nvGraphicFramePr>
        <p:xfrm>
          <a:off x="501649" y="3527508"/>
          <a:ext cx="5441951" cy="24430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6086980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Sales mix</a:t>
            </a:r>
            <a:endParaRPr lang="en-IN" dirty="0"/>
          </a:p>
        </p:txBody>
      </p:sp>
      <p:sp>
        <p:nvSpPr>
          <p:cNvPr id="3" name="Text Placeholder 2"/>
          <p:cNvSpPr>
            <a:spLocks noGrp="1"/>
          </p:cNvSpPr>
          <p:nvPr>
            <p:ph type="body" sz="quarter" idx="13"/>
          </p:nvPr>
        </p:nvSpPr>
        <p:spPr/>
        <p:txBody>
          <a:bodyPr/>
          <a:lstStyle/>
          <a:p>
            <a:r>
              <a:rPr lang="en-US" sz="1800" dirty="0"/>
              <a:t>Agricultural &amp; Domestic consumers dominate the sales mix, contributing ~61% of the total sales mix while ~40% of the revenue is contributed by C&amp;I segments apart from 30% of revenue as subsidy from the State Government</a:t>
            </a:r>
            <a:endParaRPr lang="en-IN" sz="1800" dirty="0"/>
          </a:p>
        </p:txBody>
      </p:sp>
      <p:sp>
        <p:nvSpPr>
          <p:cNvPr id="5" name="Content Placeholder 4"/>
          <p:cNvSpPr>
            <a:spLocks noGrp="1"/>
          </p:cNvSpPr>
          <p:nvPr>
            <p:ph sz="quarter" idx="20"/>
          </p:nvPr>
        </p:nvSpPr>
        <p:spPr>
          <a:xfrm>
            <a:off x="6450263" y="1455667"/>
            <a:ext cx="5322781" cy="2821754"/>
          </a:xfrm>
        </p:spPr>
        <p:txBody>
          <a:bodyPr>
            <a:noAutofit/>
          </a:bodyPr>
          <a:lstStyle/>
          <a:p>
            <a:pPr marL="155471" indent="-155471" algn="just">
              <a:lnSpc>
                <a:spcPct val="120000"/>
              </a:lnSpc>
              <a:spcAft>
                <a:spcPts val="0"/>
              </a:spcAft>
              <a:buFont typeface="Arial" panose="020B0604020202020204" pitchFamily="34" charset="0"/>
              <a:buChar char="•"/>
            </a:pPr>
            <a:r>
              <a:rPr lang="en-US" dirty="0"/>
              <a:t>Total sales of the Karnataka Discoms has grown at a CAGR of 4.5% between (FY15 to FY19).</a:t>
            </a:r>
          </a:p>
          <a:p>
            <a:pPr marL="155471" indent="-155471" algn="just">
              <a:lnSpc>
                <a:spcPct val="120000"/>
              </a:lnSpc>
              <a:spcAft>
                <a:spcPts val="0"/>
              </a:spcAft>
              <a:buFont typeface="Arial" panose="020B0604020202020204" pitchFamily="34" charset="0"/>
              <a:buChar char="•"/>
            </a:pPr>
            <a:r>
              <a:rPr lang="en-US" dirty="0"/>
              <a:t>Sales growth from the agriculture sector has been at a 5-year CAGR of 5.9% and sales growth from the domestic sector has been at a 5-year CAGR of 5.55% which are more than the total sales growth rate.</a:t>
            </a:r>
          </a:p>
          <a:p>
            <a:pPr marL="155471" indent="-155471" algn="just">
              <a:lnSpc>
                <a:spcPct val="120000"/>
              </a:lnSpc>
              <a:spcAft>
                <a:spcPts val="0"/>
              </a:spcAft>
              <a:buFont typeface="Arial" panose="020B0604020202020204" pitchFamily="34" charset="0"/>
              <a:buChar char="•"/>
            </a:pPr>
            <a:r>
              <a:rPr lang="en-US" dirty="0"/>
              <a:t>The state is dependent on the industrial and commercial category consumers to recover its costs.</a:t>
            </a:r>
          </a:p>
          <a:p>
            <a:pPr marL="155471" indent="-155471" algn="just">
              <a:lnSpc>
                <a:spcPct val="120000"/>
              </a:lnSpc>
              <a:spcAft>
                <a:spcPts val="0"/>
              </a:spcAft>
              <a:buFont typeface="Arial" panose="020B0604020202020204" pitchFamily="34" charset="0"/>
              <a:buChar char="•"/>
            </a:pPr>
            <a:r>
              <a:rPr lang="en-US" dirty="0"/>
              <a:t>Industrial and commercial sector contributes the highest to the revenue mix with 40% of total revenue.</a:t>
            </a:r>
          </a:p>
          <a:p>
            <a:pPr marL="155471" indent="-155471" algn="just">
              <a:lnSpc>
                <a:spcPct val="120000"/>
              </a:lnSpc>
              <a:spcAft>
                <a:spcPts val="0"/>
              </a:spcAft>
              <a:buFont typeface="Arial" panose="020B0604020202020204" pitchFamily="34" charset="0"/>
              <a:buChar char="•"/>
            </a:pPr>
            <a:r>
              <a:rPr lang="en-US" dirty="0"/>
              <a:t>Industrial &amp; commercial consumers cross subsidize agriculture consumers; the subsidy provided by the Karnataka Government covers ~30% of the revenue from sale of power</a:t>
            </a:r>
          </a:p>
          <a:p>
            <a:pPr marL="155471" indent="-155471" algn="just">
              <a:lnSpc>
                <a:spcPct val="120000"/>
              </a:lnSpc>
              <a:spcAft>
                <a:spcPts val="0"/>
              </a:spcAft>
              <a:buFont typeface="Arial" panose="020B0604020202020204" pitchFamily="34" charset="0"/>
              <a:buChar char="•"/>
            </a:pPr>
            <a:r>
              <a:rPr lang="en-US" dirty="0"/>
              <a:t>The Agriculture sector with the lowest ABR is contributing to 39% of the sales mix of Karnataka discoms in FY 2019.</a:t>
            </a:r>
          </a:p>
        </p:txBody>
      </p:sp>
      <p:sp>
        <p:nvSpPr>
          <p:cNvPr id="7" name="TextBox 6"/>
          <p:cNvSpPr txBox="1"/>
          <p:nvPr/>
        </p:nvSpPr>
        <p:spPr>
          <a:xfrm>
            <a:off x="8296511" y="6355254"/>
            <a:ext cx="3509295" cy="230832"/>
          </a:xfrm>
          <a:prstGeom prst="rect">
            <a:avLst/>
          </a:prstGeom>
          <a:noFill/>
        </p:spPr>
        <p:txBody>
          <a:bodyPr wrap="none" rtlCol="0">
            <a:spAutoFit/>
          </a:bodyPr>
          <a:lstStyle/>
          <a:p>
            <a:pPr algn="r"/>
            <a:r>
              <a:rPr lang="en-US" sz="900" dirty="0"/>
              <a:t>Source: Karnataka Discoms Tariff Orders and PFC Report</a:t>
            </a:r>
          </a:p>
        </p:txBody>
      </p:sp>
      <p:graphicFrame>
        <p:nvGraphicFramePr>
          <p:cNvPr id="11" name="Table 10"/>
          <p:cNvGraphicFramePr>
            <a:graphicFrameLocks noGrp="1"/>
          </p:cNvGraphicFramePr>
          <p:nvPr>
            <p:extLst>
              <p:ext uri="{D42A27DB-BD31-4B8C-83A1-F6EECF244321}">
                <p14:modId xmlns:p14="http://schemas.microsoft.com/office/powerpoint/2010/main" val="3098968476"/>
              </p:ext>
            </p:extLst>
          </p:nvPr>
        </p:nvGraphicFramePr>
        <p:xfrm>
          <a:off x="511592" y="4393094"/>
          <a:ext cx="11202669" cy="1902765"/>
        </p:xfrm>
        <a:graphic>
          <a:graphicData uri="http://schemas.openxmlformats.org/drawingml/2006/table">
            <a:tbl>
              <a:tblPr firstRow="1" firstCol="1">
                <a:tableStyleId>{FABFCF23-3B69-468F-B69F-88F6DE6A72F2}</a:tableStyleId>
              </a:tblPr>
              <a:tblGrid>
                <a:gridCol w="1523685">
                  <a:extLst>
                    <a:ext uri="{9D8B030D-6E8A-4147-A177-3AD203B41FA5}">
                      <a16:colId xmlns:a16="http://schemas.microsoft.com/office/drawing/2014/main" val="20001"/>
                    </a:ext>
                  </a:extLst>
                </a:gridCol>
                <a:gridCol w="1165825">
                  <a:extLst>
                    <a:ext uri="{9D8B030D-6E8A-4147-A177-3AD203B41FA5}">
                      <a16:colId xmlns:a16="http://schemas.microsoft.com/office/drawing/2014/main" val="654311623"/>
                    </a:ext>
                  </a:extLst>
                </a:gridCol>
                <a:gridCol w="1165825">
                  <a:extLst>
                    <a:ext uri="{9D8B030D-6E8A-4147-A177-3AD203B41FA5}">
                      <a16:colId xmlns:a16="http://schemas.microsoft.com/office/drawing/2014/main" val="1747855417"/>
                    </a:ext>
                  </a:extLst>
                </a:gridCol>
                <a:gridCol w="1165825">
                  <a:extLst>
                    <a:ext uri="{9D8B030D-6E8A-4147-A177-3AD203B41FA5}">
                      <a16:colId xmlns:a16="http://schemas.microsoft.com/office/drawing/2014/main" val="3419445397"/>
                    </a:ext>
                  </a:extLst>
                </a:gridCol>
                <a:gridCol w="1165825">
                  <a:extLst>
                    <a:ext uri="{9D8B030D-6E8A-4147-A177-3AD203B41FA5}">
                      <a16:colId xmlns:a16="http://schemas.microsoft.com/office/drawing/2014/main" val="549848309"/>
                    </a:ext>
                  </a:extLst>
                </a:gridCol>
                <a:gridCol w="1165825">
                  <a:extLst>
                    <a:ext uri="{9D8B030D-6E8A-4147-A177-3AD203B41FA5}">
                      <a16:colId xmlns:a16="http://schemas.microsoft.com/office/drawing/2014/main" val="246953788"/>
                    </a:ext>
                  </a:extLst>
                </a:gridCol>
                <a:gridCol w="1165825">
                  <a:extLst>
                    <a:ext uri="{9D8B030D-6E8A-4147-A177-3AD203B41FA5}">
                      <a16:colId xmlns:a16="http://schemas.microsoft.com/office/drawing/2014/main" val="1973703392"/>
                    </a:ext>
                  </a:extLst>
                </a:gridCol>
                <a:gridCol w="1165825">
                  <a:extLst>
                    <a:ext uri="{9D8B030D-6E8A-4147-A177-3AD203B41FA5}">
                      <a16:colId xmlns:a16="http://schemas.microsoft.com/office/drawing/2014/main" val="2206203191"/>
                    </a:ext>
                  </a:extLst>
                </a:gridCol>
                <a:gridCol w="1518209">
                  <a:extLst>
                    <a:ext uri="{9D8B030D-6E8A-4147-A177-3AD203B41FA5}">
                      <a16:colId xmlns:a16="http://schemas.microsoft.com/office/drawing/2014/main" val="1193770286"/>
                    </a:ext>
                  </a:extLst>
                </a:gridCol>
              </a:tblGrid>
              <a:tr h="516169">
                <a:tc>
                  <a:txBody>
                    <a:bodyPr/>
                    <a:lstStyle/>
                    <a:p>
                      <a:r>
                        <a:rPr lang="en-US" sz="1100" dirty="0">
                          <a:solidFill>
                            <a:schemeClr val="tx1"/>
                          </a:solidFill>
                        </a:rPr>
                        <a:t>Sales mix</a:t>
                      </a:r>
                      <a:r>
                        <a:rPr lang="en-US" sz="1100" baseline="0" dirty="0">
                          <a:solidFill>
                            <a:schemeClr val="tx1"/>
                          </a:solidFill>
                        </a:rPr>
                        <a:t> (MUs)</a:t>
                      </a:r>
                      <a:endParaRPr lang="en-US" sz="1100" dirty="0">
                        <a:solidFill>
                          <a:schemeClr val="tx1"/>
                        </a:solidFill>
                      </a:endParaRP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FY 2014</a:t>
                      </a: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FY 2015</a:t>
                      </a: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FY 2016</a:t>
                      </a: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FY 2017</a:t>
                      </a: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FY 2018</a:t>
                      </a: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FY 2019</a:t>
                      </a: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CAGR for 5 years</a:t>
                      </a: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solidFill>
                            <a:schemeClr val="tx1"/>
                          </a:solidFill>
                        </a:rPr>
                        <a:t>ABR</a:t>
                      </a:r>
                      <a:r>
                        <a:rPr lang="en-US" sz="1100" baseline="0" dirty="0">
                          <a:solidFill>
                            <a:schemeClr val="tx1"/>
                          </a:solidFill>
                        </a:rPr>
                        <a:t> for FY 2019 (True Up Order)</a:t>
                      </a:r>
                      <a:endParaRPr lang="en-US" sz="1100" dirty="0">
                        <a:solidFill>
                          <a:schemeClr val="tx1"/>
                        </a:solidFill>
                      </a:endParaRPr>
                    </a:p>
                  </a:txBody>
                  <a:tcPr anchor="ctr">
                    <a:lnL>
                      <a:noFill/>
                    </a:lnL>
                    <a:lnR w="12700" cmpd="sng">
                      <a:noFill/>
                    </a:lnR>
                    <a:lnT w="38100" cap="flat" cmpd="sng" algn="ctr">
                      <a:solidFill>
                        <a:schemeClr val="accent1"/>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224997">
                <a:tc>
                  <a:txBody>
                    <a:bodyPr/>
                    <a:lstStyle/>
                    <a:p>
                      <a:pPr marL="0" algn="l" defTabSz="914400" rtl="0" eaLnBrk="1" fontAlgn="ctr" latinLnBrk="0" hangingPunct="1"/>
                      <a:r>
                        <a:rPr lang="en-IN" sz="1100" b="0" i="0" u="none" strike="noStrike" kern="1200">
                          <a:solidFill>
                            <a:srgbClr val="000000"/>
                          </a:solidFill>
                          <a:effectLst/>
                          <a:latin typeface="+mn-lt"/>
                          <a:ea typeface="+mn-ea"/>
                          <a:cs typeface="+mn-cs"/>
                        </a:rPr>
                        <a:t>Domestic</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9,813.00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10,821.00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11,174.00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11,778.99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12,371.69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12,855.17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5.55%</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0" i="0" u="none" strike="noStrike" dirty="0">
                          <a:solidFill>
                            <a:srgbClr val="000000"/>
                          </a:solidFill>
                          <a:effectLst/>
                          <a:latin typeface="+mn-lt"/>
                        </a:rPr>
                        <a:t>Rs. 5.77/kWh</a:t>
                      </a:r>
                    </a:p>
                  </a:txBody>
                  <a:tcPr marL="0" marR="0" marT="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247733"/>
                  </a:ext>
                </a:extLst>
              </a:tr>
              <a:tr h="224997">
                <a:tc>
                  <a:txBody>
                    <a:bodyPr/>
                    <a:lstStyle/>
                    <a:p>
                      <a:pPr marL="0" algn="l" defTabSz="914400" rtl="0" eaLnBrk="1" fontAlgn="ctr" latinLnBrk="0" hangingPunct="1"/>
                      <a:r>
                        <a:rPr lang="en-IN" sz="1100" b="0" i="0" u="none" strike="noStrike" kern="1200">
                          <a:solidFill>
                            <a:srgbClr val="000000"/>
                          </a:solidFill>
                          <a:effectLst/>
                          <a:latin typeface="+mn-lt"/>
                          <a:ea typeface="+mn-ea"/>
                          <a:cs typeface="+mn-cs"/>
                        </a:rPr>
                        <a:t>Commercial</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5,905.00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6,323.00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6,628.00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6,870.84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7,083.33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7,070.52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3.67%</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0" i="0" u="none" strike="noStrike" dirty="0">
                          <a:solidFill>
                            <a:srgbClr val="000000"/>
                          </a:solidFill>
                          <a:effectLst/>
                          <a:latin typeface="+mn-lt"/>
                        </a:rPr>
                        <a:t>Rs. 10.24/kWh</a:t>
                      </a:r>
                    </a:p>
                  </a:txBody>
                  <a:tcPr marL="0" marR="0" marT="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4997">
                <a:tc>
                  <a:txBody>
                    <a:bodyPr/>
                    <a:lstStyle/>
                    <a:p>
                      <a:pPr marL="0" algn="l" defTabSz="914400" rtl="0" eaLnBrk="1" fontAlgn="ctr" latinLnBrk="0" hangingPunct="1"/>
                      <a:r>
                        <a:rPr lang="en-IN" sz="1100" b="0" i="0" u="none" strike="noStrike" kern="1200">
                          <a:solidFill>
                            <a:srgbClr val="000000"/>
                          </a:solidFill>
                          <a:effectLst/>
                          <a:latin typeface="+mn-lt"/>
                          <a:ea typeface="+mn-ea"/>
                          <a:cs typeface="+mn-cs"/>
                        </a:rPr>
                        <a:t>Agriculture</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16,970.00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17,935.00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19,284.00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21,617.23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19,994.19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22,609.36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5.91%</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0" i="0" u="none" strike="noStrike" dirty="0">
                          <a:solidFill>
                            <a:srgbClr val="000000"/>
                          </a:solidFill>
                          <a:effectLst/>
                          <a:latin typeface="+mn-lt"/>
                        </a:rPr>
                        <a:t>Rs. 0.08/kWh</a:t>
                      </a:r>
                    </a:p>
                  </a:txBody>
                  <a:tcPr marL="0" marR="0" marT="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997">
                <a:tc>
                  <a:txBody>
                    <a:bodyPr/>
                    <a:lstStyle/>
                    <a:p>
                      <a:pPr marL="0" algn="l" defTabSz="914400" rtl="0" eaLnBrk="1" fontAlgn="ctr" latinLnBrk="0" hangingPunct="1"/>
                      <a:r>
                        <a:rPr lang="en-IN" sz="1100" b="0" i="0" u="none" strike="noStrike" kern="1200">
                          <a:solidFill>
                            <a:srgbClr val="000000"/>
                          </a:solidFill>
                          <a:effectLst/>
                          <a:latin typeface="+mn-lt"/>
                          <a:ea typeface="+mn-ea"/>
                          <a:cs typeface="+mn-cs"/>
                        </a:rPr>
                        <a:t>Industrial</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10,309.00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10,068.00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9,781.00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9,328.04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9,652.58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10,324.59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0.03%</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0" i="0" u="none" strike="noStrike" dirty="0">
                          <a:solidFill>
                            <a:srgbClr val="000000"/>
                          </a:solidFill>
                          <a:effectLst/>
                          <a:latin typeface="+mn-lt"/>
                        </a:rPr>
                        <a:t>Rs. 8.26/kWh</a:t>
                      </a:r>
                    </a:p>
                  </a:txBody>
                  <a:tcPr marL="0" marR="0" marT="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5033570"/>
                  </a:ext>
                </a:extLst>
              </a:tr>
              <a:tr h="261611">
                <a:tc>
                  <a:txBody>
                    <a:bodyPr/>
                    <a:lstStyle/>
                    <a:p>
                      <a:pPr marL="0" algn="l" defTabSz="914400" rtl="0" eaLnBrk="1" fontAlgn="ctr" latinLnBrk="0" hangingPunct="1"/>
                      <a:r>
                        <a:rPr lang="en-IN" sz="1100" b="0" i="0" u="none" strike="noStrike" kern="1200" dirty="0">
                          <a:solidFill>
                            <a:srgbClr val="000000"/>
                          </a:solidFill>
                          <a:effectLst/>
                          <a:latin typeface="+mn-lt"/>
                          <a:ea typeface="+mn-ea"/>
                          <a:cs typeface="+mn-cs"/>
                        </a:rPr>
                        <a:t>Others</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3,859.00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4,016.00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3,927.00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4,241.38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a:solidFill>
                            <a:srgbClr val="000000"/>
                          </a:solidFill>
                          <a:effectLst/>
                          <a:latin typeface="+mn-lt"/>
                          <a:ea typeface="+mn-ea"/>
                          <a:cs typeface="+mn-cs"/>
                        </a:rPr>
                        <a:t>    4,756.29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    5,477.36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0" i="0" u="none" strike="noStrike" kern="1200" dirty="0">
                          <a:solidFill>
                            <a:srgbClr val="000000"/>
                          </a:solidFill>
                          <a:effectLst/>
                          <a:latin typeface="+mn-lt"/>
                          <a:ea typeface="+mn-ea"/>
                          <a:cs typeface="+mn-cs"/>
                        </a:rPr>
                        <a:t>7.26%</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0" i="0" u="none" strike="noStrike" dirty="0">
                          <a:solidFill>
                            <a:srgbClr val="000000"/>
                          </a:solidFill>
                          <a:effectLst/>
                          <a:latin typeface="+mn-lt"/>
                        </a:rPr>
                        <a:t>Rs. 7.03/kWh</a:t>
                      </a:r>
                    </a:p>
                  </a:txBody>
                  <a:tcPr marL="0" marR="0" marT="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5246836"/>
                  </a:ext>
                </a:extLst>
              </a:tr>
              <a:tr h="224997">
                <a:tc>
                  <a:txBody>
                    <a:bodyPr/>
                    <a:lstStyle/>
                    <a:p>
                      <a:pPr marL="0" lvl="0" algn="l" defTabSz="914400" rtl="0" eaLnBrk="1" fontAlgn="b" latinLnBrk="0" hangingPunct="1"/>
                      <a:r>
                        <a:rPr lang="en-US" sz="1100" b="1" i="0" u="none" strike="noStrike" kern="1200" dirty="0">
                          <a:solidFill>
                            <a:srgbClr val="000000"/>
                          </a:solidFill>
                          <a:effectLst/>
                          <a:latin typeface="+mn-lt"/>
                          <a:ea typeface="+mn-ea"/>
                          <a:cs typeface="+mn-cs"/>
                        </a:rPr>
                        <a:t>Total</a:t>
                      </a:r>
                      <a:endParaRPr lang="en-IN" sz="1100" b="1" i="0" u="none" strike="noStrike" kern="1200" dirty="0">
                        <a:solidFill>
                          <a:srgbClr val="000000"/>
                        </a:solidFill>
                        <a:effectLst/>
                        <a:latin typeface="+mn-lt"/>
                        <a:ea typeface="+mn-ea"/>
                        <a:cs typeface="+mn-cs"/>
                      </a:endParaRP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1" i="0" u="none" strike="noStrike" dirty="0">
                          <a:solidFill>
                            <a:srgbClr val="000000"/>
                          </a:solidFill>
                          <a:effectLst/>
                          <a:latin typeface="+mj-lt"/>
                        </a:rPr>
                        <a:t> 46,856.00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1" i="0" u="none" strike="noStrike" dirty="0">
                          <a:solidFill>
                            <a:srgbClr val="000000"/>
                          </a:solidFill>
                          <a:effectLst/>
                          <a:latin typeface="+mj-lt"/>
                        </a:rPr>
                        <a:t> 49,163.00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1" i="0" u="none" strike="noStrike" dirty="0">
                          <a:solidFill>
                            <a:srgbClr val="000000"/>
                          </a:solidFill>
                          <a:effectLst/>
                          <a:latin typeface="+mj-lt"/>
                        </a:rPr>
                        <a:t> 50,794.00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1" i="0" u="none" strike="noStrike" dirty="0">
                          <a:solidFill>
                            <a:srgbClr val="000000"/>
                          </a:solidFill>
                          <a:effectLst/>
                          <a:latin typeface="+mj-lt"/>
                        </a:rPr>
                        <a:t> 53,836.47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1" i="0" u="none" strike="noStrike" dirty="0">
                          <a:solidFill>
                            <a:srgbClr val="000000"/>
                          </a:solidFill>
                          <a:effectLst/>
                          <a:latin typeface="+mj-lt"/>
                        </a:rPr>
                        <a:t> 53,858.07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1" i="0" u="none" strike="noStrike" dirty="0">
                          <a:solidFill>
                            <a:srgbClr val="000000"/>
                          </a:solidFill>
                          <a:effectLst/>
                          <a:latin typeface="+mj-lt"/>
                        </a:rPr>
                        <a:t> 58,337.00 </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fontAlgn="ctr" latinLnBrk="0" hangingPunct="1"/>
                      <a:r>
                        <a:rPr lang="en-IN" sz="1100" b="1" i="0" u="none" strike="noStrike" kern="1200" dirty="0">
                          <a:solidFill>
                            <a:srgbClr val="000000"/>
                          </a:solidFill>
                          <a:effectLst/>
                          <a:latin typeface="+mn-lt"/>
                          <a:ea typeface="+mn-ea"/>
                          <a:cs typeface="+mn-cs"/>
                        </a:rPr>
                        <a:t>4.48%</a:t>
                      </a:r>
                    </a:p>
                  </a:txBody>
                  <a:tcPr marL="7620" marR="7620" marT="762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IN" sz="1100" b="1" i="0" u="none" strike="noStrike" dirty="0">
                          <a:solidFill>
                            <a:srgbClr val="000000"/>
                          </a:solidFill>
                          <a:effectLst/>
                          <a:latin typeface="+mn-lt"/>
                        </a:rPr>
                        <a:t>Rs. 6.72/kWh</a:t>
                      </a:r>
                    </a:p>
                  </a:txBody>
                  <a:tcPr marL="0" marR="0" marT="0" marB="0" anchor="ctr">
                    <a:lnL>
                      <a:noFill/>
                    </a:lnL>
                    <a:lnR w="12700" cmpd="sng">
                      <a:noFill/>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563149"/>
                  </a:ext>
                </a:extLst>
              </a:tr>
            </a:tbl>
          </a:graphicData>
        </a:graphic>
      </p:graphicFrame>
      <p:graphicFrame>
        <p:nvGraphicFramePr>
          <p:cNvPr id="9" name="Chart 8"/>
          <p:cNvGraphicFramePr/>
          <p:nvPr>
            <p:extLst>
              <p:ext uri="{D42A27DB-BD31-4B8C-83A1-F6EECF244321}">
                <p14:modId xmlns:p14="http://schemas.microsoft.com/office/powerpoint/2010/main" val="2832199465"/>
              </p:ext>
            </p:extLst>
          </p:nvPr>
        </p:nvGraphicFramePr>
        <p:xfrm>
          <a:off x="2420522" y="1575209"/>
          <a:ext cx="3675477" cy="251228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p:cNvGraphicFramePr/>
          <p:nvPr>
            <p:extLst>
              <p:ext uri="{D42A27DB-BD31-4B8C-83A1-F6EECF244321}">
                <p14:modId xmlns:p14="http://schemas.microsoft.com/office/powerpoint/2010/main" val="3184475386"/>
              </p:ext>
            </p:extLst>
          </p:nvPr>
        </p:nvGraphicFramePr>
        <p:xfrm>
          <a:off x="181026" y="1598727"/>
          <a:ext cx="2924175" cy="2332238"/>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11592" y="3926384"/>
            <a:ext cx="2225616" cy="153888"/>
          </a:xfrm>
          <a:prstGeom prst="rect">
            <a:avLst/>
          </a:prstGeom>
          <a:noFill/>
        </p:spPr>
        <p:txBody>
          <a:bodyPr wrap="square" lIns="0" tIns="0" rIns="0" bIns="0" rtlCol="0">
            <a:spAutoFit/>
          </a:bodyPr>
          <a:lstStyle/>
          <a:p>
            <a:pPr>
              <a:spcBef>
                <a:spcPts val="600"/>
              </a:spcBef>
              <a:buSzPct val="100000"/>
            </a:pPr>
            <a:r>
              <a:rPr lang="en-US" sz="1000" b="1" dirty="0">
                <a:solidFill>
                  <a:srgbClr val="313131"/>
                </a:solidFill>
              </a:rPr>
              <a:t>Sales in FY2019: 58,337 MUs</a:t>
            </a:r>
            <a:endParaRPr lang="en-IN" sz="1000" b="1" dirty="0">
              <a:solidFill>
                <a:srgbClr val="313131"/>
              </a:solidFill>
            </a:endParaRPr>
          </a:p>
        </p:txBody>
      </p:sp>
      <p:sp>
        <p:nvSpPr>
          <p:cNvPr id="14" name="TextBox 13"/>
          <p:cNvSpPr txBox="1"/>
          <p:nvPr/>
        </p:nvSpPr>
        <p:spPr>
          <a:xfrm>
            <a:off x="3606662" y="3923030"/>
            <a:ext cx="3384431" cy="153888"/>
          </a:xfrm>
          <a:prstGeom prst="rect">
            <a:avLst/>
          </a:prstGeom>
          <a:noFill/>
        </p:spPr>
        <p:txBody>
          <a:bodyPr wrap="square" lIns="0" tIns="0" rIns="0" bIns="0" rtlCol="0">
            <a:spAutoFit/>
          </a:bodyPr>
          <a:lstStyle/>
          <a:p>
            <a:pPr>
              <a:spcBef>
                <a:spcPts val="600"/>
              </a:spcBef>
              <a:buSzPct val="100000"/>
            </a:pPr>
            <a:r>
              <a:rPr lang="en-US" sz="1000" b="1" dirty="0"/>
              <a:t>Revenue in FY2019: INR 391,820 Mn</a:t>
            </a:r>
            <a:endParaRPr lang="en-IN" sz="1000" b="1" dirty="0"/>
          </a:p>
        </p:txBody>
      </p:sp>
    </p:spTree>
    <p:extLst>
      <p:ext uri="{BB962C8B-B14F-4D97-AF65-F5344CB8AC3E}">
        <p14:creationId xmlns:p14="http://schemas.microsoft.com/office/powerpoint/2010/main" val="226794154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501651" y="624939"/>
            <a:ext cx="11202669" cy="757255"/>
          </a:xfrm>
        </p:spPr>
        <p:txBody>
          <a:bodyPr/>
          <a:lstStyle/>
          <a:p>
            <a:r>
              <a:rPr lang="en-US" sz="1800" dirty="0"/>
              <a:t>HT Industrial and Commercial consumers can be a lucrative market for RE sale since their tariffs have grown at rate ~4% or more in the past 5 years</a:t>
            </a:r>
          </a:p>
        </p:txBody>
      </p:sp>
      <p:sp>
        <p:nvSpPr>
          <p:cNvPr id="9" name="TextBox 8"/>
          <p:cNvSpPr txBox="1"/>
          <p:nvPr/>
        </p:nvSpPr>
        <p:spPr>
          <a:xfrm>
            <a:off x="5531680" y="4200702"/>
            <a:ext cx="4108640" cy="1677382"/>
          </a:xfrm>
          <a:prstGeom prst="rect">
            <a:avLst/>
          </a:prstGeom>
          <a:noFill/>
        </p:spPr>
        <p:txBody>
          <a:bodyPr wrap="square" lIns="0" tIns="0" rIns="0" bIns="0" rtlCol="0">
            <a:spAutoFit/>
          </a:bodyPr>
          <a:lstStyle/>
          <a:p>
            <a:pPr marL="171450" indent="-171450" algn="just">
              <a:spcBef>
                <a:spcPts val="600"/>
              </a:spcBef>
              <a:buFont typeface="Arial" panose="020B0604020202020204" pitchFamily="34" charset="0"/>
              <a:buChar char="•"/>
            </a:pPr>
            <a:r>
              <a:rPr lang="en-US" sz="1100" b="1" dirty="0"/>
              <a:t>HT-2(a): </a:t>
            </a:r>
            <a:r>
              <a:rPr lang="en-US" sz="1100" dirty="0"/>
              <a:t>Applicable to Industries, Factories, Workshops, Research &amp; Development Centres, Industrial Estates</a:t>
            </a:r>
          </a:p>
          <a:p>
            <a:pPr marL="171450" indent="-171450" algn="just">
              <a:spcBef>
                <a:spcPts val="600"/>
              </a:spcBef>
              <a:buFont typeface="Arial" panose="020B0604020202020204" pitchFamily="34" charset="0"/>
              <a:buChar char="•"/>
            </a:pPr>
            <a:r>
              <a:rPr lang="en-US" sz="1100" b="1" dirty="0"/>
              <a:t>HT-2(b): </a:t>
            </a:r>
            <a:r>
              <a:rPr lang="en-US" sz="1100" dirty="0"/>
              <a:t>Applicable to Commercial Complexes, Cinemas, Hotels, Boarding &amp; Lodging, Amusement Parks, Railway Stations, AirPort, KSRTC bus stations, All offices, Banks, Commercial Multi-storied buildings</a:t>
            </a:r>
          </a:p>
          <a:p>
            <a:pPr marL="171450" indent="-171450" algn="just">
              <a:spcBef>
                <a:spcPts val="600"/>
              </a:spcBef>
              <a:buFont typeface="Arial" panose="020B0604020202020204" pitchFamily="34" charset="0"/>
              <a:buChar char="•"/>
            </a:pPr>
            <a:r>
              <a:rPr lang="en-US" sz="1100" b="1" dirty="0"/>
              <a:t>HT-2(c): </a:t>
            </a:r>
            <a:r>
              <a:rPr lang="en-US" sz="1100" dirty="0"/>
              <a:t>Applicable to hospitals and educational institutions</a:t>
            </a:r>
          </a:p>
        </p:txBody>
      </p:sp>
      <p:sp>
        <p:nvSpPr>
          <p:cNvPr id="10" name="TextBox 9"/>
          <p:cNvSpPr txBox="1"/>
          <p:nvPr/>
        </p:nvSpPr>
        <p:spPr>
          <a:xfrm>
            <a:off x="7120927" y="3854736"/>
            <a:ext cx="2707793" cy="230832"/>
          </a:xfrm>
          <a:prstGeom prst="rect">
            <a:avLst/>
          </a:prstGeom>
          <a:noFill/>
        </p:spPr>
        <p:txBody>
          <a:bodyPr wrap="none" rtlCol="0">
            <a:spAutoFit/>
          </a:bodyPr>
          <a:lstStyle/>
          <a:p>
            <a:pPr algn="r"/>
            <a:r>
              <a:rPr lang="en-US" sz="900" dirty="0"/>
              <a:t>Source: Tariff Orders of Karnataka discoms</a:t>
            </a:r>
          </a:p>
        </p:txBody>
      </p:sp>
      <p:graphicFrame>
        <p:nvGraphicFramePr>
          <p:cNvPr id="12" name="Chart 11">
            <a:extLst>
              <a:ext uri="{FF2B5EF4-FFF2-40B4-BE49-F238E27FC236}">
                <a16:creationId xmlns:a16="http://schemas.microsoft.com/office/drawing/2014/main" id="{ABE9AF29-E171-4B61-B150-04C76858D3B2}"/>
              </a:ext>
            </a:extLst>
          </p:cNvPr>
          <p:cNvGraphicFramePr>
            <a:graphicFrameLocks/>
          </p:cNvGraphicFramePr>
          <p:nvPr>
            <p:extLst>
              <p:ext uri="{D42A27DB-BD31-4B8C-83A1-F6EECF244321}">
                <p14:modId xmlns:p14="http://schemas.microsoft.com/office/powerpoint/2010/main" val="1362063739"/>
              </p:ext>
            </p:extLst>
          </p:nvPr>
        </p:nvGraphicFramePr>
        <p:xfrm>
          <a:off x="812800" y="1158674"/>
          <a:ext cx="4500000" cy="270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a:extLst>
              <a:ext uri="{FF2B5EF4-FFF2-40B4-BE49-F238E27FC236}">
                <a16:creationId xmlns:a16="http://schemas.microsoft.com/office/drawing/2014/main" id="{E66882F3-E7CC-4273-A4DE-13498B3CA3A8}"/>
              </a:ext>
            </a:extLst>
          </p:cNvPr>
          <p:cNvGraphicFramePr>
            <a:graphicFrameLocks/>
          </p:cNvGraphicFramePr>
          <p:nvPr>
            <p:extLst>
              <p:ext uri="{D42A27DB-BD31-4B8C-83A1-F6EECF244321}">
                <p14:modId xmlns:p14="http://schemas.microsoft.com/office/powerpoint/2010/main" val="421012753"/>
              </p:ext>
            </p:extLst>
          </p:nvPr>
        </p:nvGraphicFramePr>
        <p:xfrm>
          <a:off x="5336000" y="1158674"/>
          <a:ext cx="4500000" cy="27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BFE739C9-4525-44A6-B731-79B8749EE231}"/>
              </a:ext>
            </a:extLst>
          </p:cNvPr>
          <p:cNvGraphicFramePr>
            <a:graphicFrameLocks/>
          </p:cNvGraphicFramePr>
          <p:nvPr>
            <p:extLst>
              <p:ext uri="{D42A27DB-BD31-4B8C-83A1-F6EECF244321}">
                <p14:modId xmlns:p14="http://schemas.microsoft.com/office/powerpoint/2010/main" val="1197561524"/>
              </p:ext>
            </p:extLst>
          </p:nvPr>
        </p:nvGraphicFramePr>
        <p:xfrm>
          <a:off x="812800" y="3824275"/>
          <a:ext cx="4500000" cy="2700000"/>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Box 14">
            <a:extLst>
              <a:ext uri="{FF2B5EF4-FFF2-40B4-BE49-F238E27FC236}">
                <a16:creationId xmlns:a16="http://schemas.microsoft.com/office/drawing/2014/main" id="{6FE0FF4D-9C90-4733-9B54-7F3098B2524C}"/>
              </a:ext>
            </a:extLst>
          </p:cNvPr>
          <p:cNvSpPr txBox="1"/>
          <p:nvPr/>
        </p:nvSpPr>
        <p:spPr>
          <a:xfrm>
            <a:off x="10038080" y="1158674"/>
            <a:ext cx="1524000" cy="5062924"/>
          </a:xfrm>
          <a:prstGeom prst="rect">
            <a:avLst/>
          </a:prstGeom>
          <a:noFill/>
        </p:spPr>
        <p:txBody>
          <a:bodyPr wrap="square" lIns="0" tIns="0" rIns="0" bIns="0" rtlCol="0">
            <a:spAutoFit/>
          </a:bodyPr>
          <a:lstStyle/>
          <a:p>
            <a:pPr marL="171450" indent="-171450">
              <a:spcBef>
                <a:spcPts val="600"/>
              </a:spcBef>
              <a:buFont typeface="Arial" panose="020B0604020202020204" pitchFamily="34" charset="0"/>
              <a:buChar char="•"/>
            </a:pPr>
            <a:r>
              <a:rPr lang="en-US" sz="1100" dirty="0"/>
              <a:t>In Karnataka, demand charges for HT industrial consumers for BESCOM has grown at a 5-year CAGR of 4.49% and that for other four discoms at a 5-year CAGR of 4.24% during FY16 to FY21.</a:t>
            </a:r>
          </a:p>
          <a:p>
            <a:pPr marL="171450" indent="-171450">
              <a:spcBef>
                <a:spcPts val="600"/>
              </a:spcBef>
              <a:buFont typeface="Arial" panose="020B0604020202020204" pitchFamily="34" charset="0"/>
              <a:buChar char="•"/>
            </a:pPr>
            <a:r>
              <a:rPr lang="en-US" sz="1100" dirty="0"/>
              <a:t>Demand charges for HT commercial consumers for BESCOM has grown at a 5-year CAGR of 3.92% and that for other four discoms at a 5-year CAGR of 3.90% during FY16 to FY21.</a:t>
            </a:r>
          </a:p>
          <a:p>
            <a:pPr marL="171450" indent="-171450">
              <a:spcBef>
                <a:spcPts val="600"/>
              </a:spcBef>
              <a:buFont typeface="Arial" panose="020B0604020202020204" pitchFamily="34" charset="0"/>
              <a:buChar char="•"/>
            </a:pPr>
            <a:r>
              <a:rPr lang="en-US" sz="1100" dirty="0"/>
              <a:t>Karnataka has been carrying out </a:t>
            </a:r>
            <a:r>
              <a:rPr lang="en-US" sz="1100" dirty="0" err="1"/>
              <a:t>kVAh</a:t>
            </a:r>
            <a:r>
              <a:rPr lang="en-US" sz="1100" dirty="0"/>
              <a:t> based billing of HT Industrial and Commercial consumers.</a:t>
            </a:r>
          </a:p>
        </p:txBody>
      </p:sp>
      <p:sp>
        <p:nvSpPr>
          <p:cNvPr id="16" name="Title 1">
            <a:extLst>
              <a:ext uri="{FF2B5EF4-FFF2-40B4-BE49-F238E27FC236}">
                <a16:creationId xmlns:a16="http://schemas.microsoft.com/office/drawing/2014/main" id="{48F130E5-C17B-4240-A931-B4229B2850CD}"/>
              </a:ext>
            </a:extLst>
          </p:cNvPr>
          <p:cNvSpPr>
            <a:spLocks noGrp="1"/>
          </p:cNvSpPr>
          <p:nvPr>
            <p:ph type="title"/>
          </p:nvPr>
        </p:nvSpPr>
        <p:spPr>
          <a:xfrm>
            <a:off x="501651" y="317501"/>
            <a:ext cx="11202669" cy="334100"/>
          </a:xfrm>
        </p:spPr>
        <p:txBody>
          <a:bodyPr/>
          <a:lstStyle/>
          <a:p>
            <a:r>
              <a:rPr lang="en-US" dirty="0"/>
              <a:t>Industrial &amp; Commercial Tariff Trend in Karnataka</a:t>
            </a:r>
            <a:endParaRPr lang="en-IN" dirty="0"/>
          </a:p>
        </p:txBody>
      </p:sp>
    </p:spTree>
    <p:extLst>
      <p:ext uri="{BB962C8B-B14F-4D97-AF65-F5344CB8AC3E}">
        <p14:creationId xmlns:p14="http://schemas.microsoft.com/office/powerpoint/2010/main" val="163443232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8129D268-9CAC-4193-B864-8BB08FA7F2D4}"/>
              </a:ext>
            </a:extLst>
          </p:cNvPr>
          <p:cNvSpPr txBox="1">
            <a:spLocks/>
          </p:cNvSpPr>
          <p:nvPr/>
        </p:nvSpPr>
        <p:spPr>
          <a:xfrm>
            <a:off x="416591" y="364521"/>
            <a:ext cx="11202669" cy="378627"/>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dirty="0"/>
              <a:t>KERC RPO-REC Regulations,2011 [Sixth Amendment 2018] (effective 15</a:t>
            </a:r>
            <a:r>
              <a:rPr lang="en-US" baseline="30000" dirty="0"/>
              <a:t>th</a:t>
            </a:r>
            <a:r>
              <a:rPr lang="en-US" dirty="0"/>
              <a:t> Nov’ 2018)</a:t>
            </a:r>
            <a:endParaRPr lang="en-IN" dirty="0"/>
          </a:p>
        </p:txBody>
      </p:sp>
      <p:sp>
        <p:nvSpPr>
          <p:cNvPr id="18" name="Text Placeholder 2">
            <a:extLst>
              <a:ext uri="{FF2B5EF4-FFF2-40B4-BE49-F238E27FC236}">
                <a16:creationId xmlns:a16="http://schemas.microsoft.com/office/drawing/2014/main" id="{2AC3F6AC-FC3E-4137-92A2-D734516B1293}"/>
              </a:ext>
            </a:extLst>
          </p:cNvPr>
          <p:cNvSpPr txBox="1">
            <a:spLocks/>
          </p:cNvSpPr>
          <p:nvPr/>
        </p:nvSpPr>
        <p:spPr>
          <a:xfrm>
            <a:off x="416591" y="743148"/>
            <a:ext cx="1120266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endParaRPr lang="en-IN" sz="1800" dirty="0"/>
          </a:p>
        </p:txBody>
      </p:sp>
      <p:sp>
        <p:nvSpPr>
          <p:cNvPr id="19" name="Text Placeholder 2">
            <a:extLst>
              <a:ext uri="{FF2B5EF4-FFF2-40B4-BE49-F238E27FC236}">
                <a16:creationId xmlns:a16="http://schemas.microsoft.com/office/drawing/2014/main" id="{8A281B2A-922A-4B15-BAC0-905F56C8FEF7}"/>
              </a:ext>
            </a:extLst>
          </p:cNvPr>
          <p:cNvSpPr txBox="1">
            <a:spLocks/>
          </p:cNvSpPr>
          <p:nvPr/>
        </p:nvSpPr>
        <p:spPr>
          <a:xfrm>
            <a:off x="416590" y="760878"/>
            <a:ext cx="1120266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700" dirty="0"/>
              <a:t>State’s RPO-REC regulations applicable to all captive users/ generators, OA consumers &amp; </a:t>
            </a:r>
            <a:r>
              <a:rPr lang="en-US" sz="1700" dirty="0" err="1"/>
              <a:t>Discoms</a:t>
            </a:r>
            <a:endParaRPr lang="en-IN" sz="1700" dirty="0"/>
          </a:p>
        </p:txBody>
      </p:sp>
      <p:grpSp>
        <p:nvGrpSpPr>
          <p:cNvPr id="253" name="Group 252">
            <a:extLst>
              <a:ext uri="{FF2B5EF4-FFF2-40B4-BE49-F238E27FC236}">
                <a16:creationId xmlns:a16="http://schemas.microsoft.com/office/drawing/2014/main" id="{6799D80F-2632-4214-92A1-64682AD1CBBF}"/>
              </a:ext>
            </a:extLst>
          </p:cNvPr>
          <p:cNvGrpSpPr/>
          <p:nvPr/>
        </p:nvGrpSpPr>
        <p:grpSpPr>
          <a:xfrm>
            <a:off x="618429" y="1307421"/>
            <a:ext cx="4592223" cy="2962325"/>
            <a:chOff x="230512" y="1404798"/>
            <a:chExt cx="4652619" cy="2962325"/>
          </a:xfrm>
        </p:grpSpPr>
        <p:sp>
          <p:nvSpPr>
            <p:cNvPr id="33" name="TextBox 32">
              <a:extLst>
                <a:ext uri="{FF2B5EF4-FFF2-40B4-BE49-F238E27FC236}">
                  <a16:creationId xmlns:a16="http://schemas.microsoft.com/office/drawing/2014/main" id="{CF71C4E0-5B1E-4702-8EE1-886524C842E4}"/>
                </a:ext>
              </a:extLst>
            </p:cNvPr>
            <p:cNvSpPr txBox="1"/>
            <p:nvPr/>
          </p:nvSpPr>
          <p:spPr>
            <a:xfrm>
              <a:off x="230512" y="1646659"/>
              <a:ext cx="288147" cy="2488066"/>
            </a:xfrm>
            <a:prstGeom prst="rect">
              <a:avLst/>
            </a:prstGeom>
            <a:noFill/>
          </p:spPr>
          <p:txBody>
            <a:bodyPr vert="vert270" wrap="square" lIns="36000" tIns="36000" rIns="36000" bIns="36000" rtlCol="0" anchor="ctr">
              <a:spAutoFit/>
            </a:bodyPr>
            <a:lstStyle/>
            <a:p>
              <a:pPr algn="ctr">
                <a:spcAft>
                  <a:spcPts val="600"/>
                </a:spcAft>
                <a:buSzPct val="100000"/>
              </a:pPr>
              <a:r>
                <a:rPr lang="en-US" sz="1400" b="1" dirty="0"/>
                <a:t>OBLIGATED ENTITIES</a:t>
              </a:r>
            </a:p>
          </p:txBody>
        </p:sp>
        <p:grpSp>
          <p:nvGrpSpPr>
            <p:cNvPr id="223" name="Group 222">
              <a:extLst>
                <a:ext uri="{FF2B5EF4-FFF2-40B4-BE49-F238E27FC236}">
                  <a16:creationId xmlns:a16="http://schemas.microsoft.com/office/drawing/2014/main" id="{D66964E6-5D7F-4346-9507-30F9B5CC6597}"/>
                </a:ext>
              </a:extLst>
            </p:cNvPr>
            <p:cNvGrpSpPr/>
            <p:nvPr/>
          </p:nvGrpSpPr>
          <p:grpSpPr>
            <a:xfrm>
              <a:off x="747445" y="1404798"/>
              <a:ext cx="4135686" cy="2962325"/>
              <a:chOff x="548165" y="1916248"/>
              <a:chExt cx="4538708" cy="3325068"/>
            </a:xfrm>
          </p:grpSpPr>
          <p:sp>
            <p:nvSpPr>
              <p:cNvPr id="178" name="Rectangle 177">
                <a:extLst>
                  <a:ext uri="{FF2B5EF4-FFF2-40B4-BE49-F238E27FC236}">
                    <a16:creationId xmlns:a16="http://schemas.microsoft.com/office/drawing/2014/main" id="{9DA37E57-1C41-42A4-A7EF-29B5EA7034B9}"/>
                  </a:ext>
                </a:extLst>
              </p:cNvPr>
              <p:cNvSpPr/>
              <p:nvPr/>
            </p:nvSpPr>
            <p:spPr bwMode="gray">
              <a:xfrm>
                <a:off x="1390582" y="2001358"/>
                <a:ext cx="3644858" cy="900000"/>
              </a:xfrm>
              <a:prstGeom prst="rect">
                <a:avLst/>
              </a:prstGeom>
              <a:solidFill>
                <a:srgbClr val="00A3E0"/>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defRPr/>
                </a:pPr>
                <a:endParaRPr lang="en-US" sz="1600" b="1" dirty="0">
                  <a:solidFill>
                    <a:prstClr val="white"/>
                  </a:solidFill>
                </a:endParaRPr>
              </a:p>
            </p:txBody>
          </p:sp>
          <p:grpSp>
            <p:nvGrpSpPr>
              <p:cNvPr id="179" name="Group 178">
                <a:extLst>
                  <a:ext uri="{FF2B5EF4-FFF2-40B4-BE49-F238E27FC236}">
                    <a16:creationId xmlns:a16="http://schemas.microsoft.com/office/drawing/2014/main" id="{F12650A4-BFEC-4B0F-B90B-BFA8B577B2AD}"/>
                  </a:ext>
                </a:extLst>
              </p:cNvPr>
              <p:cNvGrpSpPr/>
              <p:nvPr/>
            </p:nvGrpSpPr>
            <p:grpSpPr>
              <a:xfrm>
                <a:off x="574825" y="1916248"/>
                <a:ext cx="4512048" cy="1071082"/>
                <a:chOff x="1871569" y="1976380"/>
                <a:chExt cx="7159539" cy="1699551"/>
              </a:xfrm>
            </p:grpSpPr>
            <p:sp>
              <p:nvSpPr>
                <p:cNvPr id="181" name="Oval 180">
                  <a:extLst>
                    <a:ext uri="{FF2B5EF4-FFF2-40B4-BE49-F238E27FC236}">
                      <a16:creationId xmlns:a16="http://schemas.microsoft.com/office/drawing/2014/main" id="{C0FFE1AF-5C9B-4CA3-BCE1-C26B832A9C77}"/>
                    </a:ext>
                  </a:extLst>
                </p:cNvPr>
                <p:cNvSpPr/>
                <p:nvPr/>
              </p:nvSpPr>
              <p:spPr bwMode="gray">
                <a:xfrm>
                  <a:off x="1871569" y="1976380"/>
                  <a:ext cx="1703072" cy="1699551"/>
                </a:xfrm>
                <a:prstGeom prst="ellipse">
                  <a:avLst/>
                </a:prstGeom>
                <a:solidFill>
                  <a:srgbClr val="007CB0"/>
                </a:solidFill>
                <a:ln w="19050" algn="ctr">
                  <a:noFill/>
                  <a:miter lim="800000"/>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endParaRPr>
                </a:p>
              </p:txBody>
            </p:sp>
            <p:sp>
              <p:nvSpPr>
                <p:cNvPr id="182" name="Oval 181">
                  <a:extLst>
                    <a:ext uri="{FF2B5EF4-FFF2-40B4-BE49-F238E27FC236}">
                      <a16:creationId xmlns:a16="http://schemas.microsoft.com/office/drawing/2014/main" id="{8A7E78A2-0794-4C89-BBAB-F1662B9A0A1E}"/>
                    </a:ext>
                  </a:extLst>
                </p:cNvPr>
                <p:cNvSpPr/>
                <p:nvPr/>
              </p:nvSpPr>
              <p:spPr bwMode="gray">
                <a:xfrm>
                  <a:off x="2065172" y="2169586"/>
                  <a:ext cx="1315861" cy="1313139"/>
                </a:xfrm>
                <a:prstGeom prst="ellipse">
                  <a:avLst/>
                </a:prstGeom>
                <a:solidFill>
                  <a:sysClr val="window" lastClr="FFFFF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100" i="0" u="none" strike="noStrike" kern="0" cap="none" spc="0" normalizeH="0" baseline="0" noProof="0" dirty="0">
                      <a:ln>
                        <a:noFill/>
                      </a:ln>
                      <a:effectLst/>
                      <a:uLnTx/>
                      <a:uFillTx/>
                    </a:rPr>
                    <a:t>Captive</a:t>
                  </a:r>
                </a:p>
              </p:txBody>
            </p:sp>
            <p:sp>
              <p:nvSpPr>
                <p:cNvPr id="184" name="Rectangle 183">
                  <a:extLst>
                    <a:ext uri="{FF2B5EF4-FFF2-40B4-BE49-F238E27FC236}">
                      <a16:creationId xmlns:a16="http://schemas.microsoft.com/office/drawing/2014/main" id="{53181F36-D60E-4F25-8AFA-CA7FF557881C}"/>
                    </a:ext>
                  </a:extLst>
                </p:cNvPr>
                <p:cNvSpPr/>
                <p:nvPr/>
              </p:nvSpPr>
              <p:spPr>
                <a:xfrm>
                  <a:off x="3528707" y="2078960"/>
                  <a:ext cx="5502401" cy="1534874"/>
                </a:xfrm>
                <a:prstGeom prst="rect">
                  <a:avLst/>
                </a:prstGeom>
              </p:spPr>
              <p:txBody>
                <a:bodyPr wrap="square">
                  <a:spAutoFit/>
                </a:bodyPr>
                <a:lstStyle/>
                <a:p>
                  <a:pPr marL="171450" lvl="0" indent="-171450">
                    <a:buFont typeface="Arial" panose="020B0604020202020204" pitchFamily="34" charset="0"/>
                    <a:buChar char="•"/>
                    <a:defRPr/>
                  </a:pPr>
                  <a:r>
                    <a:rPr lang="en-US" sz="1000" kern="0" dirty="0">
                      <a:solidFill>
                        <a:prstClr val="white"/>
                      </a:solidFill>
                    </a:rPr>
                    <a:t>Captive User / Generator consuming electricity generated from grid connected captive plants using other than renewable sources and having a total capacity &gt; 5 MW;</a:t>
                  </a:r>
                </a:p>
              </p:txBody>
            </p:sp>
          </p:grpSp>
          <p:sp>
            <p:nvSpPr>
              <p:cNvPr id="213" name="Rectangle 212">
                <a:extLst>
                  <a:ext uri="{FF2B5EF4-FFF2-40B4-BE49-F238E27FC236}">
                    <a16:creationId xmlns:a16="http://schemas.microsoft.com/office/drawing/2014/main" id="{2A980ABA-C0CE-4922-9877-73D6C51F8CCB}"/>
                  </a:ext>
                </a:extLst>
              </p:cNvPr>
              <p:cNvSpPr/>
              <p:nvPr/>
            </p:nvSpPr>
            <p:spPr bwMode="gray">
              <a:xfrm>
                <a:off x="1363922" y="3134093"/>
                <a:ext cx="3644858" cy="900000"/>
              </a:xfrm>
              <a:prstGeom prst="rect">
                <a:avLst/>
              </a:prstGeom>
              <a:solidFill>
                <a:srgbClr val="007680"/>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defRPr/>
                </a:pPr>
                <a:endParaRPr lang="en-US" sz="1600" b="1" dirty="0">
                  <a:solidFill>
                    <a:prstClr val="white"/>
                  </a:solidFill>
                </a:endParaRPr>
              </a:p>
            </p:txBody>
          </p:sp>
          <p:grpSp>
            <p:nvGrpSpPr>
              <p:cNvPr id="214" name="Group 213">
                <a:extLst>
                  <a:ext uri="{FF2B5EF4-FFF2-40B4-BE49-F238E27FC236}">
                    <a16:creationId xmlns:a16="http://schemas.microsoft.com/office/drawing/2014/main" id="{596140C0-7034-4ED7-883E-960EF71FAD16}"/>
                  </a:ext>
                </a:extLst>
              </p:cNvPr>
              <p:cNvGrpSpPr/>
              <p:nvPr/>
            </p:nvGrpSpPr>
            <p:grpSpPr>
              <a:xfrm>
                <a:off x="548165" y="3048984"/>
                <a:ext cx="4447542" cy="1203253"/>
                <a:chOff x="1803653" y="1939161"/>
                <a:chExt cx="7057180" cy="1909274"/>
              </a:xfrm>
            </p:grpSpPr>
            <p:sp>
              <p:nvSpPr>
                <p:cNvPr id="215" name="Oval 214">
                  <a:extLst>
                    <a:ext uri="{FF2B5EF4-FFF2-40B4-BE49-F238E27FC236}">
                      <a16:creationId xmlns:a16="http://schemas.microsoft.com/office/drawing/2014/main" id="{CE746713-56FF-4A78-9301-B6DED2CAA21A}"/>
                    </a:ext>
                  </a:extLst>
                </p:cNvPr>
                <p:cNvSpPr/>
                <p:nvPr/>
              </p:nvSpPr>
              <p:spPr bwMode="gray">
                <a:xfrm>
                  <a:off x="1803653" y="1939161"/>
                  <a:ext cx="1703072" cy="1699552"/>
                </a:xfrm>
                <a:prstGeom prst="ellipse">
                  <a:avLst/>
                </a:prstGeom>
                <a:solidFill>
                  <a:srgbClr val="00ABAB"/>
                </a:solidFill>
                <a:ln w="19050" algn="ctr">
                  <a:noFill/>
                  <a:miter lim="800000"/>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endParaRPr>
                </a:p>
              </p:txBody>
            </p:sp>
            <p:sp>
              <p:nvSpPr>
                <p:cNvPr id="216" name="Oval 215">
                  <a:extLst>
                    <a:ext uri="{FF2B5EF4-FFF2-40B4-BE49-F238E27FC236}">
                      <a16:creationId xmlns:a16="http://schemas.microsoft.com/office/drawing/2014/main" id="{2212D936-774E-4BD4-98DB-9530C096077D}"/>
                    </a:ext>
                  </a:extLst>
                </p:cNvPr>
                <p:cNvSpPr/>
                <p:nvPr/>
              </p:nvSpPr>
              <p:spPr bwMode="gray">
                <a:xfrm>
                  <a:off x="1997257" y="2132367"/>
                  <a:ext cx="1315860" cy="1313137"/>
                </a:xfrm>
                <a:prstGeom prst="ellipse">
                  <a:avLst/>
                </a:prstGeom>
                <a:solidFill>
                  <a:sysClr val="window" lastClr="FFFFF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100" i="0" u="none" strike="noStrike" kern="0" cap="none" spc="0" normalizeH="0" baseline="0" noProof="0" dirty="0">
                      <a:ln>
                        <a:noFill/>
                      </a:ln>
                      <a:effectLst/>
                      <a:uLnTx/>
                      <a:uFillTx/>
                    </a:rPr>
                    <a:t>Open Access</a:t>
                  </a:r>
                </a:p>
              </p:txBody>
            </p:sp>
            <p:sp>
              <p:nvSpPr>
                <p:cNvPr id="217" name="Rectangle 216">
                  <a:extLst>
                    <a:ext uri="{FF2B5EF4-FFF2-40B4-BE49-F238E27FC236}">
                      <a16:creationId xmlns:a16="http://schemas.microsoft.com/office/drawing/2014/main" id="{65D0BBA7-B690-4444-9461-A55D78BD51BB}"/>
                    </a:ext>
                  </a:extLst>
                </p:cNvPr>
                <p:cNvSpPr/>
                <p:nvPr/>
              </p:nvSpPr>
              <p:spPr>
                <a:xfrm>
                  <a:off x="3382668" y="2039476"/>
                  <a:ext cx="5478165" cy="1808959"/>
                </a:xfrm>
                <a:prstGeom prst="rect">
                  <a:avLst/>
                </a:prstGeom>
              </p:spPr>
              <p:txBody>
                <a:bodyPr wrap="square">
                  <a:spAutoFit/>
                </a:bodyPr>
                <a:lstStyle/>
                <a:p>
                  <a:pPr marL="171450" lvl="0" indent="-171450">
                    <a:buFont typeface="Arial" panose="020B0604020202020204" pitchFamily="34" charset="0"/>
                    <a:buChar char="•"/>
                    <a:defRPr/>
                  </a:pPr>
                  <a:r>
                    <a:rPr lang="en-US" sz="1000" kern="0" dirty="0">
                      <a:solidFill>
                        <a:prstClr val="white"/>
                      </a:solidFill>
                    </a:rPr>
                    <a:t>Consumer with Contract Demand &gt; 5 MW with the distribution licensee and procuring electricity &gt;1MW through Open Access from sources other than renewable sources of energy</a:t>
                  </a:r>
                </a:p>
                <a:p>
                  <a:pPr marL="171450" lvl="0" indent="-171450">
                    <a:buFont typeface="Arial" panose="020B0604020202020204" pitchFamily="34" charset="0"/>
                    <a:buChar char="•"/>
                    <a:defRPr/>
                  </a:pPr>
                  <a:endParaRPr lang="en-US" sz="1000" kern="0" dirty="0">
                    <a:solidFill>
                      <a:prstClr val="white"/>
                    </a:solidFill>
                  </a:endParaRPr>
                </a:p>
              </p:txBody>
            </p:sp>
          </p:grpSp>
          <p:sp>
            <p:nvSpPr>
              <p:cNvPr id="218" name="Rectangle 217">
                <a:extLst>
                  <a:ext uri="{FF2B5EF4-FFF2-40B4-BE49-F238E27FC236}">
                    <a16:creationId xmlns:a16="http://schemas.microsoft.com/office/drawing/2014/main" id="{654F2797-0DC9-426F-8458-866763510AFD}"/>
                  </a:ext>
                </a:extLst>
              </p:cNvPr>
              <p:cNvSpPr/>
              <p:nvPr/>
            </p:nvSpPr>
            <p:spPr bwMode="gray">
              <a:xfrm>
                <a:off x="1363922" y="4255343"/>
                <a:ext cx="3644858" cy="900000"/>
              </a:xfrm>
              <a:prstGeom prst="rect">
                <a:avLst/>
              </a:prstGeom>
              <a:solidFill>
                <a:srgbClr val="43B02A"/>
              </a:solidFill>
              <a:ln w="19050" algn="ctr">
                <a:noFill/>
                <a:miter lim="800000"/>
                <a:headEnd/>
                <a:tailEnd/>
              </a:ln>
              <a:effectLst/>
            </p:spPr>
            <p:txBody>
              <a:bodyPr wrap="square" lIns="88900" tIns="88900" rIns="88900" bIns="88900" rtlCol="0" anchor="ctr"/>
              <a:lstStyle/>
              <a:p>
                <a:pPr algn="ctr">
                  <a:lnSpc>
                    <a:spcPct val="106000"/>
                  </a:lnSpc>
                  <a:buFont typeface="Wingdings 2" pitchFamily="18" charset="2"/>
                  <a:buNone/>
                  <a:defRPr/>
                </a:pPr>
                <a:endParaRPr lang="en-US" sz="1600" b="1" dirty="0">
                  <a:solidFill>
                    <a:prstClr val="white"/>
                  </a:solidFill>
                </a:endParaRPr>
              </a:p>
            </p:txBody>
          </p:sp>
          <p:grpSp>
            <p:nvGrpSpPr>
              <p:cNvPr id="219" name="Group 218">
                <a:extLst>
                  <a:ext uri="{FF2B5EF4-FFF2-40B4-BE49-F238E27FC236}">
                    <a16:creationId xmlns:a16="http://schemas.microsoft.com/office/drawing/2014/main" id="{75E529CB-0F80-4C12-BCF0-C52F9AB868EB}"/>
                  </a:ext>
                </a:extLst>
              </p:cNvPr>
              <p:cNvGrpSpPr/>
              <p:nvPr/>
            </p:nvGrpSpPr>
            <p:grpSpPr>
              <a:xfrm>
                <a:off x="548165" y="4170234"/>
                <a:ext cx="4424281" cy="1071082"/>
                <a:chOff x="1803653" y="1883718"/>
                <a:chExt cx="7020273" cy="1699552"/>
              </a:xfrm>
            </p:grpSpPr>
            <p:sp>
              <p:nvSpPr>
                <p:cNvPr id="220" name="Oval 219">
                  <a:extLst>
                    <a:ext uri="{FF2B5EF4-FFF2-40B4-BE49-F238E27FC236}">
                      <a16:creationId xmlns:a16="http://schemas.microsoft.com/office/drawing/2014/main" id="{A77F861A-4878-48FD-B3EC-DBEFE2E51739}"/>
                    </a:ext>
                  </a:extLst>
                </p:cNvPr>
                <p:cNvSpPr/>
                <p:nvPr/>
              </p:nvSpPr>
              <p:spPr bwMode="gray">
                <a:xfrm>
                  <a:off x="1803653" y="1883718"/>
                  <a:ext cx="1703074" cy="1699552"/>
                </a:xfrm>
                <a:prstGeom prst="ellipse">
                  <a:avLst/>
                </a:prstGeom>
                <a:solidFill>
                  <a:srgbClr val="86BC25"/>
                </a:solidFill>
                <a:ln w="19050" algn="ctr">
                  <a:noFill/>
                  <a:miter lim="800000"/>
                  <a:headEnd/>
                  <a:tailEnd/>
                </a:ln>
                <a:effectLst/>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prstClr val="white"/>
                    </a:solidFill>
                    <a:effectLst/>
                    <a:uLnTx/>
                    <a:uFillTx/>
                  </a:endParaRPr>
                </a:p>
              </p:txBody>
            </p:sp>
            <p:sp>
              <p:nvSpPr>
                <p:cNvPr id="221" name="Oval 220">
                  <a:extLst>
                    <a:ext uri="{FF2B5EF4-FFF2-40B4-BE49-F238E27FC236}">
                      <a16:creationId xmlns:a16="http://schemas.microsoft.com/office/drawing/2014/main" id="{B0415740-E192-4579-8AC7-486E25B9D17D}"/>
                    </a:ext>
                  </a:extLst>
                </p:cNvPr>
                <p:cNvSpPr/>
                <p:nvPr/>
              </p:nvSpPr>
              <p:spPr bwMode="gray">
                <a:xfrm>
                  <a:off x="1997257" y="2076924"/>
                  <a:ext cx="1315860" cy="1313138"/>
                </a:xfrm>
                <a:prstGeom prst="ellipse">
                  <a:avLst/>
                </a:prstGeom>
                <a:solidFill>
                  <a:sysClr val="window" lastClr="FFFFFF"/>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100" i="0" u="none" strike="noStrike" kern="0" cap="none" spc="0" normalizeH="0" baseline="0" noProof="0" dirty="0">
                      <a:ln>
                        <a:noFill/>
                      </a:ln>
                      <a:effectLst/>
                      <a:uLnTx/>
                      <a:uFillTx/>
                    </a:rPr>
                    <a:t>Discom</a:t>
                  </a:r>
                </a:p>
              </p:txBody>
            </p:sp>
            <p:sp>
              <p:nvSpPr>
                <p:cNvPr id="222" name="Rectangle 221">
                  <a:extLst>
                    <a:ext uri="{FF2B5EF4-FFF2-40B4-BE49-F238E27FC236}">
                      <a16:creationId xmlns:a16="http://schemas.microsoft.com/office/drawing/2014/main" id="{6E0E7261-C569-4872-9946-BCFFC761FA5F}"/>
                    </a:ext>
                  </a:extLst>
                </p:cNvPr>
                <p:cNvSpPr/>
                <p:nvPr/>
              </p:nvSpPr>
              <p:spPr>
                <a:xfrm>
                  <a:off x="3489263" y="2356423"/>
                  <a:ext cx="5334663" cy="712622"/>
                </a:xfrm>
                <a:prstGeom prst="rect">
                  <a:avLst/>
                </a:prstGeom>
              </p:spPr>
              <p:txBody>
                <a:bodyPr wrap="square">
                  <a:spAutoFit/>
                </a:bodyPr>
                <a:lstStyle/>
                <a:p>
                  <a:pPr marL="171450" lvl="0" indent="-171450">
                    <a:buFont typeface="Arial" panose="020B0604020202020204" pitchFamily="34" charset="0"/>
                    <a:buChar char="•"/>
                    <a:defRPr/>
                  </a:pPr>
                  <a:r>
                    <a:rPr lang="en-US" sz="1000" kern="0" dirty="0">
                      <a:solidFill>
                        <a:prstClr val="white"/>
                      </a:solidFill>
                    </a:rPr>
                    <a:t>Distribution Licensees in the State of Karnataka</a:t>
                  </a:r>
                </a:p>
              </p:txBody>
            </p:sp>
          </p:grpSp>
        </p:grpSp>
      </p:grpSp>
      <p:sp>
        <p:nvSpPr>
          <p:cNvPr id="255" name="TextBox 254">
            <a:extLst>
              <a:ext uri="{FF2B5EF4-FFF2-40B4-BE49-F238E27FC236}">
                <a16:creationId xmlns:a16="http://schemas.microsoft.com/office/drawing/2014/main" id="{FE2E60B0-F83B-411F-9CE9-8A8299598EC8}"/>
              </a:ext>
            </a:extLst>
          </p:cNvPr>
          <p:cNvSpPr txBox="1"/>
          <p:nvPr/>
        </p:nvSpPr>
        <p:spPr>
          <a:xfrm>
            <a:off x="730007" y="4501654"/>
            <a:ext cx="2889639" cy="1880890"/>
          </a:xfrm>
          <a:prstGeom prst="rect">
            <a:avLst/>
          </a:prstGeom>
          <a:noFill/>
        </p:spPr>
        <p:txBody>
          <a:bodyPr wrap="square" lIns="36000" tIns="36000" rIns="36000" bIns="36000" rtlCol="0" anchor="ctr">
            <a:spAutoFit/>
          </a:bodyPr>
          <a:lstStyle/>
          <a:p>
            <a:pPr algn="just">
              <a:spcAft>
                <a:spcPts val="300"/>
              </a:spcAft>
              <a:buSzPct val="100000"/>
            </a:pPr>
            <a:r>
              <a:rPr lang="en-US" sz="1100" b="1" dirty="0"/>
              <a:t>Renewable Energy Certificates:</a:t>
            </a:r>
          </a:p>
          <a:p>
            <a:pPr marL="171450" indent="-171450" algn="just">
              <a:spcAft>
                <a:spcPts val="300"/>
              </a:spcAft>
              <a:buSzPct val="100000"/>
              <a:buFont typeface="Arial" panose="020B0604020202020204" pitchFamily="34" charset="0"/>
              <a:buChar char="•"/>
            </a:pPr>
            <a:r>
              <a:rPr lang="en-US" sz="1100" dirty="0"/>
              <a:t>Certificates issued under CERC’s REC Regulations to be valid for Obligated Entities to discharge its RPO;</a:t>
            </a:r>
          </a:p>
          <a:p>
            <a:pPr marL="171450" indent="-171450" algn="just">
              <a:spcAft>
                <a:spcPts val="300"/>
              </a:spcAft>
              <a:buSzPct val="100000"/>
              <a:buFont typeface="Arial" panose="020B0604020202020204" pitchFamily="34" charset="0"/>
              <a:buChar char="•"/>
            </a:pPr>
            <a:r>
              <a:rPr lang="en-US" sz="1100" dirty="0"/>
              <a:t>Solar purchase obligation may be fulfilled only by purchase of Solar Certificates;</a:t>
            </a:r>
          </a:p>
          <a:p>
            <a:pPr marL="171450" indent="-171450" algn="just">
              <a:spcAft>
                <a:spcPts val="300"/>
              </a:spcAft>
              <a:buSzPct val="100000"/>
              <a:buFont typeface="Arial" panose="020B0604020202020204" pitchFamily="34" charset="0"/>
              <a:buChar char="•"/>
            </a:pPr>
            <a:r>
              <a:rPr lang="en-US" sz="1100" dirty="0"/>
              <a:t>Non-Solar purchase obligation may be fulfilled only by purchase of non-Solar Certificates.</a:t>
            </a:r>
          </a:p>
        </p:txBody>
      </p:sp>
      <p:sp>
        <p:nvSpPr>
          <p:cNvPr id="257" name="TextBox 256">
            <a:extLst>
              <a:ext uri="{FF2B5EF4-FFF2-40B4-BE49-F238E27FC236}">
                <a16:creationId xmlns:a16="http://schemas.microsoft.com/office/drawing/2014/main" id="{96BE6DB5-AC4F-45AC-B492-E3A49E009C6C}"/>
              </a:ext>
            </a:extLst>
          </p:cNvPr>
          <p:cNvSpPr txBox="1"/>
          <p:nvPr/>
        </p:nvSpPr>
        <p:spPr>
          <a:xfrm>
            <a:off x="4181783" y="4547822"/>
            <a:ext cx="3836262" cy="1788557"/>
          </a:xfrm>
          <a:prstGeom prst="rect">
            <a:avLst/>
          </a:prstGeom>
          <a:noFill/>
        </p:spPr>
        <p:txBody>
          <a:bodyPr wrap="square" lIns="36000" tIns="36000" rIns="36000" bIns="36000" rtlCol="0" anchor="ctr">
            <a:spAutoFit/>
          </a:bodyPr>
          <a:lstStyle/>
          <a:p>
            <a:pPr algn="just">
              <a:spcAft>
                <a:spcPts val="300"/>
              </a:spcAft>
              <a:buSzPct val="100000"/>
            </a:pPr>
            <a:r>
              <a:rPr lang="en-US" sz="1100" b="1" dirty="0"/>
              <a:t>RPO Target:</a:t>
            </a:r>
          </a:p>
          <a:p>
            <a:pPr marL="171450" indent="-171450" algn="just">
              <a:spcAft>
                <a:spcPts val="300"/>
              </a:spcAft>
              <a:buSzPct val="100000"/>
              <a:buFont typeface="Arial" panose="020B0604020202020204" pitchFamily="34" charset="0"/>
              <a:buChar char="•"/>
            </a:pPr>
            <a:r>
              <a:rPr lang="en-US" sz="1100" dirty="0"/>
              <a:t>RPO Target for the next years:</a:t>
            </a:r>
          </a:p>
          <a:p>
            <a:pPr marL="361950" lvl="1" indent="-180975" algn="just">
              <a:spcAft>
                <a:spcPts val="300"/>
              </a:spcAft>
              <a:buSzPct val="100000"/>
              <a:buFont typeface="Courier New" panose="02070309020205020404" pitchFamily="49" charset="0"/>
              <a:buChar char="o"/>
            </a:pPr>
            <a:r>
              <a:rPr lang="en-US" sz="1100" dirty="0"/>
              <a:t>FY21 – Solar 8.50% &amp; Non-Solar 10.25%;</a:t>
            </a:r>
          </a:p>
          <a:p>
            <a:pPr marL="361950" lvl="1" indent="-180975" algn="just">
              <a:spcAft>
                <a:spcPts val="300"/>
              </a:spcAft>
              <a:buSzPct val="100000"/>
              <a:buFont typeface="Courier New" panose="02070309020205020404" pitchFamily="49" charset="0"/>
              <a:buChar char="o"/>
            </a:pPr>
            <a:r>
              <a:rPr lang="en-US" sz="1100" dirty="0"/>
              <a:t>FY22 - Solar 10.50% &amp; Non-Solar 10.25%;</a:t>
            </a:r>
          </a:p>
          <a:p>
            <a:pPr algn="just">
              <a:spcAft>
                <a:spcPts val="300"/>
              </a:spcAft>
              <a:buSzPct val="100000"/>
            </a:pPr>
            <a:r>
              <a:rPr lang="en-US" sz="1100" b="1" dirty="0"/>
              <a:t>Penalty for not meeting RPO Target:</a:t>
            </a:r>
          </a:p>
          <a:p>
            <a:pPr marL="171450" indent="-171450" algn="just">
              <a:spcAft>
                <a:spcPts val="300"/>
              </a:spcAft>
              <a:buSzPct val="100000"/>
              <a:buFont typeface="Arial" panose="020B0604020202020204" pitchFamily="34" charset="0"/>
              <a:buChar char="•"/>
            </a:pPr>
            <a:r>
              <a:rPr lang="en-US" sz="1100" dirty="0"/>
              <a:t>Failure to purchase RECs to the extent of 110% of the shortfall in meeting RPO for a particular year can lead to action under Section 142 of Electricity Act, 2003.</a:t>
            </a:r>
          </a:p>
        </p:txBody>
      </p:sp>
      <p:sp>
        <p:nvSpPr>
          <p:cNvPr id="258" name="Content Placeholder 4">
            <a:extLst>
              <a:ext uri="{FF2B5EF4-FFF2-40B4-BE49-F238E27FC236}">
                <a16:creationId xmlns:a16="http://schemas.microsoft.com/office/drawing/2014/main" id="{1EC1D6B9-8D83-4003-9144-B7A82004CA2C}"/>
              </a:ext>
            </a:extLst>
          </p:cNvPr>
          <p:cNvSpPr txBox="1">
            <a:spLocks/>
          </p:cNvSpPr>
          <p:nvPr/>
        </p:nvSpPr>
        <p:spPr>
          <a:xfrm>
            <a:off x="8452415" y="4463182"/>
            <a:ext cx="3350071" cy="2050168"/>
          </a:xfrm>
          <a:prstGeom prst="rect">
            <a:avLst/>
          </a:prstGeom>
        </p:spPr>
        <p:txBody>
          <a:bodyPr vert="horz" lIns="36000" tIns="36000" rIns="36000" bIns="3600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tabLst>
                <a:tab pos="5029200" algn="r"/>
              </a:tabLst>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tabLst>
                <a:tab pos="5029200" algn="r"/>
              </a:tabLst>
              <a:defRPr lang="en-US" sz="1100" b="1" kern="120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tabLst>
                <a:tab pos="5029200" algn="r"/>
              </a:tabLst>
              <a:defRPr lang="en-US" sz="1100" kern="120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tabLst>
                <a:tab pos="5029200" algn="r"/>
              </a:tabLst>
              <a:defRPr lang="en-US" sz="1100" kern="1200" baseline="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tab pos="5029200" algn="r"/>
              </a:tabLst>
              <a:defRPr lang="en-US" sz="1100" kern="1200" baseline="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a:lnSpc>
                <a:spcPct val="120000"/>
              </a:lnSpc>
              <a:spcAft>
                <a:spcPts val="0"/>
              </a:spcAft>
            </a:pPr>
            <a:r>
              <a:rPr lang="en-US" b="1" dirty="0"/>
              <a:t>Adjustment of surplus energy:</a:t>
            </a:r>
          </a:p>
          <a:p>
            <a:pPr marL="171450" indent="-171450">
              <a:lnSpc>
                <a:spcPct val="120000"/>
              </a:lnSpc>
              <a:spcAft>
                <a:spcPts val="0"/>
              </a:spcAft>
              <a:buFont typeface="Arial" panose="020B0604020202020204" pitchFamily="34" charset="0"/>
              <a:buChar char="•"/>
            </a:pPr>
            <a:r>
              <a:rPr lang="en-US" dirty="0"/>
              <a:t>Obligated Entity can use surplus Solar energy </a:t>
            </a:r>
            <a:r>
              <a:rPr lang="en-US" dirty="0" err="1"/>
              <a:t>upto</a:t>
            </a:r>
            <a:r>
              <a:rPr lang="en-US" dirty="0"/>
              <a:t> 15% of total RPO target to meet short fall in non-Solar RPO target and vice-versa.</a:t>
            </a:r>
          </a:p>
          <a:p>
            <a:pPr marL="171450" indent="-171450">
              <a:lnSpc>
                <a:spcPct val="120000"/>
              </a:lnSpc>
              <a:spcAft>
                <a:spcPts val="0"/>
              </a:spcAft>
              <a:buFont typeface="Arial" panose="020B0604020202020204" pitchFamily="34" charset="0"/>
              <a:buChar char="•"/>
            </a:pPr>
            <a:r>
              <a:rPr lang="en-US" dirty="0"/>
              <a:t>To adjust more than 15% surplus energy from one category against shortfall in other RPO category, prior approval of KERC with detailed justification may be sought.</a:t>
            </a:r>
          </a:p>
        </p:txBody>
      </p:sp>
      <p:grpSp>
        <p:nvGrpSpPr>
          <p:cNvPr id="261" name="Group 260">
            <a:extLst>
              <a:ext uri="{FF2B5EF4-FFF2-40B4-BE49-F238E27FC236}">
                <a16:creationId xmlns:a16="http://schemas.microsoft.com/office/drawing/2014/main" id="{8DFD6FA4-9DFE-43C2-9C13-54C2C403DABF}"/>
              </a:ext>
            </a:extLst>
          </p:cNvPr>
          <p:cNvGrpSpPr/>
          <p:nvPr/>
        </p:nvGrpSpPr>
        <p:grpSpPr>
          <a:xfrm>
            <a:off x="6058401" y="1340484"/>
            <a:ext cx="5276691" cy="2883159"/>
            <a:chOff x="6136156" y="1535863"/>
            <a:chExt cx="5726141" cy="3064302"/>
          </a:xfrm>
        </p:grpSpPr>
        <p:sp>
          <p:nvSpPr>
            <p:cNvPr id="262" name="Oval 2">
              <a:extLst>
                <a:ext uri="{FF2B5EF4-FFF2-40B4-BE49-F238E27FC236}">
                  <a16:creationId xmlns:a16="http://schemas.microsoft.com/office/drawing/2014/main" id="{9714584C-3880-4478-BEE2-B58E468351BC}"/>
                </a:ext>
              </a:extLst>
            </p:cNvPr>
            <p:cNvSpPr>
              <a:spLocks noChangeArrowheads="1"/>
            </p:cNvSpPr>
            <p:nvPr/>
          </p:nvSpPr>
          <p:spPr bwMode="auto">
            <a:xfrm>
              <a:off x="8262716" y="2645144"/>
              <a:ext cx="1510072" cy="700402"/>
            </a:xfrm>
            <a:prstGeom prst="ellipse">
              <a:avLst/>
            </a:prstGeom>
            <a:solidFill>
              <a:schemeClr val="accent1"/>
            </a:solidFill>
            <a:ln w="12700">
              <a:noFill/>
              <a:round/>
              <a:headEnd/>
              <a:tailEnd/>
            </a:ln>
          </p:spPr>
          <p:txBody>
            <a:bodyPr lIns="88900" tIns="88900" rIns="88900" bIns="88900" anchor="ctr"/>
            <a:lstStyle/>
            <a:p>
              <a:pPr algn="ctr" defTabSz="954088">
                <a:lnSpc>
                  <a:spcPct val="95000"/>
                </a:lnSpc>
                <a:defRPr/>
              </a:pPr>
              <a:r>
                <a:rPr lang="en-US" sz="1000" kern="0" dirty="0">
                  <a:solidFill>
                    <a:schemeClr val="bg1"/>
                  </a:solidFill>
                  <a:ea typeface="ＭＳ Ｐゴシック" charset="-128"/>
                </a:rPr>
                <a:t>Eligible RE sources</a:t>
              </a:r>
            </a:p>
          </p:txBody>
        </p:sp>
        <p:sp>
          <p:nvSpPr>
            <p:cNvPr id="263" name="Rectangle 4">
              <a:extLst>
                <a:ext uri="{FF2B5EF4-FFF2-40B4-BE49-F238E27FC236}">
                  <a16:creationId xmlns:a16="http://schemas.microsoft.com/office/drawing/2014/main" id="{4DD499B4-F867-4529-8765-55B70635C8A4}"/>
                </a:ext>
              </a:extLst>
            </p:cNvPr>
            <p:cNvSpPr>
              <a:spLocks noChangeArrowheads="1"/>
            </p:cNvSpPr>
            <p:nvPr/>
          </p:nvSpPr>
          <p:spPr bwMode="auto">
            <a:xfrm>
              <a:off x="10062297" y="2109663"/>
              <a:ext cx="1800000" cy="504000"/>
            </a:xfrm>
            <a:prstGeom prst="rect">
              <a:avLst/>
            </a:prstGeom>
            <a:solidFill>
              <a:schemeClr val="bg1">
                <a:lumMod val="50000"/>
              </a:schemeClr>
            </a:solidFill>
            <a:ln w="19050" algn="ctr">
              <a:noFill/>
              <a:miter lim="800000"/>
              <a:headEnd/>
              <a:tailEnd/>
            </a:ln>
          </p:spPr>
          <p:txBody>
            <a:bodyPr lIns="88900" tIns="88900" rIns="88900" bIns="88900" anchor="ctr"/>
            <a:lstStyle/>
            <a:p>
              <a:pPr algn="ctr" defTabSz="954088">
                <a:lnSpc>
                  <a:spcPct val="95000"/>
                </a:lnSpc>
                <a:defRPr/>
              </a:pPr>
              <a:r>
                <a:rPr lang="en-US" sz="1000" kern="0" dirty="0">
                  <a:solidFill>
                    <a:prstClr val="white"/>
                  </a:solidFill>
                  <a:ea typeface="ＭＳ Ｐゴシック" pitchFamily="50" charset="-128"/>
                </a:rPr>
                <a:t>Small, Mini, Micro</a:t>
              </a:r>
            </a:p>
            <a:p>
              <a:pPr algn="ctr" defTabSz="954088">
                <a:lnSpc>
                  <a:spcPct val="95000"/>
                </a:lnSpc>
                <a:defRPr/>
              </a:pPr>
              <a:r>
                <a:rPr lang="en-US" sz="1000" kern="0" dirty="0">
                  <a:solidFill>
                    <a:prstClr val="white"/>
                  </a:solidFill>
                  <a:ea typeface="ＭＳ Ｐゴシック" pitchFamily="50" charset="-128"/>
                </a:rPr>
                <a:t>Hydro Power</a:t>
              </a:r>
            </a:p>
          </p:txBody>
        </p:sp>
        <p:sp>
          <p:nvSpPr>
            <p:cNvPr id="264" name="Rectangle 5">
              <a:extLst>
                <a:ext uri="{FF2B5EF4-FFF2-40B4-BE49-F238E27FC236}">
                  <a16:creationId xmlns:a16="http://schemas.microsoft.com/office/drawing/2014/main" id="{CB52F4F8-BDD2-42D2-81D0-17D70AC66D22}"/>
                </a:ext>
              </a:extLst>
            </p:cNvPr>
            <p:cNvSpPr>
              <a:spLocks noChangeArrowheads="1"/>
            </p:cNvSpPr>
            <p:nvPr/>
          </p:nvSpPr>
          <p:spPr bwMode="auto">
            <a:xfrm>
              <a:off x="10062297" y="2739663"/>
              <a:ext cx="1800000" cy="504000"/>
            </a:xfrm>
            <a:prstGeom prst="rect">
              <a:avLst/>
            </a:prstGeom>
            <a:solidFill>
              <a:schemeClr val="bg1">
                <a:lumMod val="50000"/>
              </a:schemeClr>
            </a:solidFill>
            <a:ln w="19050">
              <a:noFill/>
              <a:miter lim="800000"/>
              <a:headEnd/>
              <a:tailEnd/>
            </a:ln>
          </p:spPr>
          <p:txBody>
            <a:bodyPr lIns="88900" tIns="88900" rIns="88900" bIns="88900" anchor="ctr"/>
            <a:lstStyle/>
            <a:p>
              <a:pPr algn="ctr" defTabSz="954088">
                <a:lnSpc>
                  <a:spcPct val="95000"/>
                </a:lnSpc>
                <a:defRPr/>
              </a:pPr>
              <a:r>
                <a:rPr lang="en-US" sz="1000" kern="0" dirty="0">
                  <a:solidFill>
                    <a:prstClr val="white"/>
                  </a:solidFill>
                  <a:ea typeface="ＭＳ Ｐゴシック" pitchFamily="50" charset="-128"/>
                </a:rPr>
                <a:t>Non-fossil fuel</a:t>
              </a:r>
            </a:p>
            <a:p>
              <a:pPr algn="ctr" defTabSz="954088">
                <a:lnSpc>
                  <a:spcPct val="95000"/>
                </a:lnSpc>
                <a:defRPr/>
              </a:pPr>
              <a:r>
                <a:rPr lang="en-US" sz="1000" kern="0" dirty="0">
                  <a:solidFill>
                    <a:prstClr val="white"/>
                  </a:solidFill>
                  <a:ea typeface="ＭＳ Ｐゴシック" pitchFamily="50" charset="-128"/>
                </a:rPr>
                <a:t>(incl. bagasse)</a:t>
              </a:r>
            </a:p>
            <a:p>
              <a:pPr algn="ctr" defTabSz="954088">
                <a:lnSpc>
                  <a:spcPct val="95000"/>
                </a:lnSpc>
                <a:defRPr/>
              </a:pPr>
              <a:r>
                <a:rPr lang="en-US" sz="1000" kern="0" dirty="0">
                  <a:solidFill>
                    <a:prstClr val="white"/>
                  </a:solidFill>
                  <a:ea typeface="ＭＳ Ｐゴシック" pitchFamily="50" charset="-128"/>
                </a:rPr>
                <a:t>based Co-generation</a:t>
              </a:r>
            </a:p>
          </p:txBody>
        </p:sp>
        <p:sp>
          <p:nvSpPr>
            <p:cNvPr id="265" name="Rectangle 6">
              <a:extLst>
                <a:ext uri="{FF2B5EF4-FFF2-40B4-BE49-F238E27FC236}">
                  <a16:creationId xmlns:a16="http://schemas.microsoft.com/office/drawing/2014/main" id="{E8DB1696-2590-4CB8-802E-E96410DA9CEF}"/>
                </a:ext>
              </a:extLst>
            </p:cNvPr>
            <p:cNvSpPr>
              <a:spLocks noChangeArrowheads="1"/>
            </p:cNvSpPr>
            <p:nvPr/>
          </p:nvSpPr>
          <p:spPr bwMode="auto">
            <a:xfrm>
              <a:off x="6153180" y="3375242"/>
              <a:ext cx="1836000" cy="504000"/>
            </a:xfrm>
            <a:prstGeom prst="rect">
              <a:avLst/>
            </a:prstGeom>
            <a:solidFill>
              <a:schemeClr val="bg1">
                <a:lumMod val="50000"/>
              </a:schemeClr>
            </a:solidFill>
            <a:ln w="19050">
              <a:noFill/>
              <a:miter lim="800000"/>
              <a:headEnd/>
              <a:tailEnd/>
            </a:ln>
          </p:spPr>
          <p:txBody>
            <a:bodyPr lIns="88900" tIns="88900" rIns="88900" bIns="88900" anchor="ctr"/>
            <a:lstStyle/>
            <a:p>
              <a:pPr algn="ctr" defTabSz="954088">
                <a:lnSpc>
                  <a:spcPct val="95000"/>
                </a:lnSpc>
                <a:defRPr/>
              </a:pPr>
              <a:r>
                <a:rPr lang="en-US" sz="1000" kern="0" dirty="0">
                  <a:solidFill>
                    <a:prstClr val="white"/>
                  </a:solidFill>
                  <a:ea typeface="ＭＳ Ｐゴシック" pitchFamily="50" charset="-128"/>
                </a:rPr>
                <a:t>Waste to Energy</a:t>
              </a:r>
            </a:p>
            <a:p>
              <a:pPr algn="ctr" defTabSz="954088">
                <a:lnSpc>
                  <a:spcPct val="95000"/>
                </a:lnSpc>
                <a:defRPr/>
              </a:pPr>
              <a:r>
                <a:rPr lang="en-US" sz="1000" kern="0" dirty="0">
                  <a:solidFill>
                    <a:prstClr val="white"/>
                  </a:solidFill>
                  <a:ea typeface="ＭＳ Ｐゴシック" pitchFamily="50" charset="-128"/>
                </a:rPr>
                <a:t>(MNRE approved technologies)</a:t>
              </a:r>
            </a:p>
          </p:txBody>
        </p:sp>
        <p:sp>
          <p:nvSpPr>
            <p:cNvPr id="266" name="Rectangle 7">
              <a:extLst>
                <a:ext uri="{FF2B5EF4-FFF2-40B4-BE49-F238E27FC236}">
                  <a16:creationId xmlns:a16="http://schemas.microsoft.com/office/drawing/2014/main" id="{D3E60A49-405B-41DB-85F3-87D90BB6F4FA}"/>
                </a:ext>
              </a:extLst>
            </p:cNvPr>
            <p:cNvSpPr>
              <a:spLocks noChangeArrowheads="1"/>
            </p:cNvSpPr>
            <p:nvPr/>
          </p:nvSpPr>
          <p:spPr bwMode="auto">
            <a:xfrm>
              <a:off x="10062297" y="3375242"/>
              <a:ext cx="1800000" cy="504000"/>
            </a:xfrm>
            <a:prstGeom prst="rect">
              <a:avLst/>
            </a:prstGeom>
            <a:solidFill>
              <a:schemeClr val="bg1">
                <a:lumMod val="50000"/>
              </a:schemeClr>
            </a:solidFill>
            <a:ln w="19050">
              <a:noFill/>
              <a:miter lim="800000"/>
              <a:headEnd/>
              <a:tailEnd/>
            </a:ln>
          </p:spPr>
          <p:txBody>
            <a:bodyPr lIns="88900" tIns="88900" rIns="88900" bIns="88900" anchor="ctr"/>
            <a:lstStyle/>
            <a:p>
              <a:pPr algn="ctr" defTabSz="954088">
                <a:lnSpc>
                  <a:spcPct val="95000"/>
                </a:lnSpc>
                <a:defRPr/>
              </a:pPr>
              <a:r>
                <a:rPr lang="en-US" sz="1000" kern="0" dirty="0">
                  <a:solidFill>
                    <a:prstClr val="white"/>
                  </a:solidFill>
                  <a:ea typeface="ＭＳ Ｐゴシック" pitchFamily="50" charset="-128"/>
                </a:rPr>
                <a:t>Biomass Power</a:t>
              </a:r>
            </a:p>
            <a:p>
              <a:pPr algn="ctr" defTabSz="954088">
                <a:lnSpc>
                  <a:spcPct val="95000"/>
                </a:lnSpc>
                <a:defRPr/>
              </a:pPr>
              <a:r>
                <a:rPr lang="en-US" sz="1000" kern="0" dirty="0">
                  <a:solidFill>
                    <a:prstClr val="white"/>
                  </a:solidFill>
                  <a:ea typeface="ＭＳ Ｐゴシック" pitchFamily="50" charset="-128"/>
                </a:rPr>
                <a:t>(Rankine Cycle)</a:t>
              </a:r>
            </a:p>
          </p:txBody>
        </p:sp>
        <p:sp>
          <p:nvSpPr>
            <p:cNvPr id="267" name="Rectangle 8">
              <a:extLst>
                <a:ext uri="{FF2B5EF4-FFF2-40B4-BE49-F238E27FC236}">
                  <a16:creationId xmlns:a16="http://schemas.microsoft.com/office/drawing/2014/main" id="{4395267F-7A06-4439-8674-5A1575415797}"/>
                </a:ext>
              </a:extLst>
            </p:cNvPr>
            <p:cNvSpPr>
              <a:spLocks noChangeArrowheads="1"/>
            </p:cNvSpPr>
            <p:nvPr/>
          </p:nvSpPr>
          <p:spPr bwMode="auto">
            <a:xfrm>
              <a:off x="7946415" y="1535863"/>
              <a:ext cx="1008000" cy="504000"/>
            </a:xfrm>
            <a:prstGeom prst="rect">
              <a:avLst/>
            </a:prstGeom>
            <a:solidFill>
              <a:schemeClr val="bg1">
                <a:lumMod val="50000"/>
              </a:schemeClr>
            </a:solidFill>
            <a:ln w="19050">
              <a:noFill/>
              <a:miter lim="800000"/>
              <a:headEnd/>
              <a:tailEnd/>
            </a:ln>
          </p:spPr>
          <p:txBody>
            <a:bodyPr lIns="88900" tIns="88900" rIns="88900" bIns="88900" anchor="ctr"/>
            <a:lstStyle/>
            <a:p>
              <a:pPr algn="ctr" defTabSz="954088">
                <a:lnSpc>
                  <a:spcPct val="95000"/>
                </a:lnSpc>
                <a:defRPr/>
              </a:pPr>
              <a:r>
                <a:rPr lang="en-US" sz="1000" kern="0" dirty="0">
                  <a:solidFill>
                    <a:prstClr val="white"/>
                  </a:solidFill>
                  <a:ea typeface="ＭＳ Ｐゴシック" pitchFamily="50" charset="-128"/>
                </a:rPr>
                <a:t>Wind energy</a:t>
              </a:r>
            </a:p>
          </p:txBody>
        </p:sp>
        <p:sp>
          <p:nvSpPr>
            <p:cNvPr id="268" name="Rectangle 9">
              <a:extLst>
                <a:ext uri="{FF2B5EF4-FFF2-40B4-BE49-F238E27FC236}">
                  <a16:creationId xmlns:a16="http://schemas.microsoft.com/office/drawing/2014/main" id="{6023A948-E428-46FE-B4B5-CBAE79B4D609}"/>
                </a:ext>
              </a:extLst>
            </p:cNvPr>
            <p:cNvSpPr>
              <a:spLocks noChangeArrowheads="1"/>
            </p:cNvSpPr>
            <p:nvPr/>
          </p:nvSpPr>
          <p:spPr bwMode="auto">
            <a:xfrm>
              <a:off x="6136156" y="2739663"/>
              <a:ext cx="1836000" cy="504000"/>
            </a:xfrm>
            <a:prstGeom prst="rect">
              <a:avLst/>
            </a:prstGeom>
            <a:solidFill>
              <a:schemeClr val="bg1">
                <a:lumMod val="50000"/>
              </a:schemeClr>
            </a:solidFill>
            <a:ln w="19050">
              <a:noFill/>
              <a:miter lim="800000"/>
              <a:headEnd/>
              <a:tailEnd/>
            </a:ln>
          </p:spPr>
          <p:txBody>
            <a:bodyPr lIns="88900" tIns="88900" rIns="88900" bIns="88900" anchor="ctr"/>
            <a:lstStyle/>
            <a:p>
              <a:pPr algn="ctr" defTabSz="954088">
                <a:lnSpc>
                  <a:spcPct val="95000"/>
                </a:lnSpc>
                <a:defRPr/>
              </a:pPr>
              <a:r>
                <a:rPr lang="en-US" sz="1000" kern="0" dirty="0">
                  <a:solidFill>
                    <a:prstClr val="white"/>
                  </a:solidFill>
                  <a:ea typeface="ＭＳ Ｐゴシック" pitchFamily="50" charset="-128"/>
                </a:rPr>
                <a:t>Hybrid RE</a:t>
              </a:r>
            </a:p>
            <a:p>
              <a:pPr algn="ctr" defTabSz="954088">
                <a:lnSpc>
                  <a:spcPct val="95000"/>
                </a:lnSpc>
                <a:defRPr/>
              </a:pPr>
              <a:r>
                <a:rPr lang="en-US" sz="1000" kern="0" dirty="0">
                  <a:solidFill>
                    <a:prstClr val="white"/>
                  </a:solidFill>
                  <a:ea typeface="ＭＳ Ｐゴシック" pitchFamily="50" charset="-128"/>
                </a:rPr>
                <a:t>(MNRE / MERC  approved technologies)</a:t>
              </a:r>
            </a:p>
          </p:txBody>
        </p:sp>
        <p:sp>
          <p:nvSpPr>
            <p:cNvPr id="269" name="Rectangle 10">
              <a:extLst>
                <a:ext uri="{FF2B5EF4-FFF2-40B4-BE49-F238E27FC236}">
                  <a16:creationId xmlns:a16="http://schemas.microsoft.com/office/drawing/2014/main" id="{1E00EE6A-83D8-40FE-816D-0C264FD425FA}"/>
                </a:ext>
              </a:extLst>
            </p:cNvPr>
            <p:cNvSpPr>
              <a:spLocks noChangeArrowheads="1"/>
            </p:cNvSpPr>
            <p:nvPr/>
          </p:nvSpPr>
          <p:spPr bwMode="auto">
            <a:xfrm>
              <a:off x="6136156" y="2100174"/>
              <a:ext cx="1836000" cy="504000"/>
            </a:xfrm>
            <a:prstGeom prst="rect">
              <a:avLst/>
            </a:prstGeom>
            <a:solidFill>
              <a:schemeClr val="bg1">
                <a:lumMod val="50000"/>
              </a:schemeClr>
            </a:solidFill>
            <a:ln w="19050">
              <a:noFill/>
              <a:miter lim="800000"/>
              <a:headEnd/>
              <a:tailEnd/>
            </a:ln>
          </p:spPr>
          <p:txBody>
            <a:bodyPr lIns="88900" tIns="88900" rIns="88900" bIns="88900" anchor="ctr"/>
            <a:lstStyle/>
            <a:p>
              <a:pPr algn="ctr" defTabSz="954088">
                <a:lnSpc>
                  <a:spcPct val="95000"/>
                </a:lnSpc>
                <a:defRPr/>
              </a:pPr>
              <a:r>
                <a:rPr lang="en-US" sz="1000" kern="0" dirty="0">
                  <a:solidFill>
                    <a:prstClr val="white"/>
                  </a:solidFill>
                  <a:ea typeface="ＭＳ Ｐゴシック" pitchFamily="50" charset="-128"/>
                </a:rPr>
                <a:t>Power generated from co-firing of biomass in thermal power plants</a:t>
              </a:r>
            </a:p>
          </p:txBody>
        </p:sp>
        <p:cxnSp>
          <p:nvCxnSpPr>
            <p:cNvPr id="270" name="AutoShape 11">
              <a:extLst>
                <a:ext uri="{FF2B5EF4-FFF2-40B4-BE49-F238E27FC236}">
                  <a16:creationId xmlns:a16="http://schemas.microsoft.com/office/drawing/2014/main" id="{830523F3-6505-4158-B4C3-C1A9BDF55608}"/>
                </a:ext>
              </a:extLst>
            </p:cNvPr>
            <p:cNvCxnSpPr>
              <a:cxnSpLocks noChangeShapeType="1"/>
              <a:stCxn id="269" idx="3"/>
              <a:endCxn id="262" idx="1"/>
            </p:cNvCxnSpPr>
            <p:nvPr/>
          </p:nvCxnSpPr>
          <p:spPr bwMode="auto">
            <a:xfrm>
              <a:off x="7972156" y="2352174"/>
              <a:ext cx="511705" cy="395541"/>
            </a:xfrm>
            <a:prstGeom prst="curvedConnector2">
              <a:avLst/>
            </a:prstGeom>
            <a:noFill/>
            <a:ln w="6350">
              <a:solidFill>
                <a:srgbClr val="BBBCBC"/>
              </a:solidFill>
              <a:round/>
              <a:headEnd/>
              <a:tailEnd type="triangle" w="med" len="med"/>
            </a:ln>
          </p:spPr>
        </p:cxnSp>
        <p:cxnSp>
          <p:nvCxnSpPr>
            <p:cNvPr id="271" name="AutoShape 12">
              <a:extLst>
                <a:ext uri="{FF2B5EF4-FFF2-40B4-BE49-F238E27FC236}">
                  <a16:creationId xmlns:a16="http://schemas.microsoft.com/office/drawing/2014/main" id="{E4CC1CFA-AFE6-4E8F-82F9-D1DB5F6C2F7D}"/>
                </a:ext>
              </a:extLst>
            </p:cNvPr>
            <p:cNvCxnSpPr>
              <a:cxnSpLocks noChangeShapeType="1"/>
              <a:stCxn id="265" idx="3"/>
              <a:endCxn id="262" idx="3"/>
            </p:cNvCxnSpPr>
            <p:nvPr/>
          </p:nvCxnSpPr>
          <p:spPr bwMode="auto">
            <a:xfrm flipV="1">
              <a:off x="7989180" y="3242975"/>
              <a:ext cx="494681" cy="384267"/>
            </a:xfrm>
            <a:prstGeom prst="curvedConnector2">
              <a:avLst/>
            </a:prstGeom>
            <a:noFill/>
            <a:ln w="6350">
              <a:solidFill>
                <a:srgbClr val="BBBCBC"/>
              </a:solidFill>
              <a:round/>
              <a:headEnd/>
              <a:tailEnd type="triangle" w="med" len="med"/>
            </a:ln>
          </p:spPr>
        </p:cxnSp>
        <p:cxnSp>
          <p:nvCxnSpPr>
            <p:cNvPr id="272" name="AutoShape 13">
              <a:extLst>
                <a:ext uri="{FF2B5EF4-FFF2-40B4-BE49-F238E27FC236}">
                  <a16:creationId xmlns:a16="http://schemas.microsoft.com/office/drawing/2014/main" id="{BB02B51B-F0DF-4AEE-9B3E-E79F45E54A6D}"/>
                </a:ext>
              </a:extLst>
            </p:cNvPr>
            <p:cNvCxnSpPr>
              <a:cxnSpLocks noChangeShapeType="1"/>
              <a:stCxn id="266" idx="1"/>
              <a:endCxn id="262" idx="5"/>
            </p:cNvCxnSpPr>
            <p:nvPr/>
          </p:nvCxnSpPr>
          <p:spPr bwMode="auto">
            <a:xfrm rot="10800000">
              <a:off x="9551643" y="3242976"/>
              <a:ext cx="510654" cy="384267"/>
            </a:xfrm>
            <a:prstGeom prst="curvedConnector2">
              <a:avLst/>
            </a:prstGeom>
            <a:noFill/>
            <a:ln w="6350">
              <a:solidFill>
                <a:srgbClr val="BBBCBC"/>
              </a:solidFill>
              <a:round/>
              <a:headEnd/>
              <a:tailEnd type="triangle" w="med" len="med"/>
            </a:ln>
          </p:spPr>
        </p:cxnSp>
        <p:cxnSp>
          <p:nvCxnSpPr>
            <p:cNvPr id="273" name="AutoShape 14">
              <a:extLst>
                <a:ext uri="{FF2B5EF4-FFF2-40B4-BE49-F238E27FC236}">
                  <a16:creationId xmlns:a16="http://schemas.microsoft.com/office/drawing/2014/main" id="{CAB2FEED-A5C4-47EE-97D8-72AB70E14BBD}"/>
                </a:ext>
              </a:extLst>
            </p:cNvPr>
            <p:cNvCxnSpPr>
              <a:cxnSpLocks noChangeShapeType="1"/>
              <a:stCxn id="263" idx="1"/>
              <a:endCxn id="262" idx="7"/>
            </p:cNvCxnSpPr>
            <p:nvPr/>
          </p:nvCxnSpPr>
          <p:spPr bwMode="auto">
            <a:xfrm rot="10800000" flipV="1">
              <a:off x="9551643" y="2361663"/>
              <a:ext cx="510654" cy="386052"/>
            </a:xfrm>
            <a:prstGeom prst="curvedConnector2">
              <a:avLst/>
            </a:prstGeom>
            <a:noFill/>
            <a:ln w="6350">
              <a:solidFill>
                <a:srgbClr val="BBBCBC"/>
              </a:solidFill>
              <a:round/>
              <a:headEnd/>
              <a:tailEnd type="triangle" w="med" len="med"/>
            </a:ln>
          </p:spPr>
        </p:cxnSp>
        <p:cxnSp>
          <p:nvCxnSpPr>
            <p:cNvPr id="274" name="AutoShape 15">
              <a:extLst>
                <a:ext uri="{FF2B5EF4-FFF2-40B4-BE49-F238E27FC236}">
                  <a16:creationId xmlns:a16="http://schemas.microsoft.com/office/drawing/2014/main" id="{1763E131-EC84-4F28-8E5B-8E22ED6DA7BA}"/>
                </a:ext>
              </a:extLst>
            </p:cNvPr>
            <p:cNvCxnSpPr>
              <a:cxnSpLocks noChangeShapeType="1"/>
              <a:stCxn id="267" idx="2"/>
              <a:endCxn id="262" idx="0"/>
            </p:cNvCxnSpPr>
            <p:nvPr/>
          </p:nvCxnSpPr>
          <p:spPr bwMode="auto">
            <a:xfrm>
              <a:off x="8450415" y="2039863"/>
              <a:ext cx="567337" cy="605281"/>
            </a:xfrm>
            <a:prstGeom prst="straightConnector1">
              <a:avLst/>
            </a:prstGeom>
            <a:noFill/>
            <a:ln w="6350">
              <a:solidFill>
                <a:srgbClr val="BBBCBC"/>
              </a:solidFill>
              <a:round/>
              <a:headEnd/>
              <a:tailEnd type="triangle" w="med" len="med"/>
            </a:ln>
          </p:spPr>
        </p:cxnSp>
        <p:cxnSp>
          <p:nvCxnSpPr>
            <p:cNvPr id="275" name="AutoShape 17">
              <a:extLst>
                <a:ext uri="{FF2B5EF4-FFF2-40B4-BE49-F238E27FC236}">
                  <a16:creationId xmlns:a16="http://schemas.microsoft.com/office/drawing/2014/main" id="{BBBB2F5F-B00B-4B0A-B26D-88F08600EEB0}"/>
                </a:ext>
              </a:extLst>
            </p:cNvPr>
            <p:cNvCxnSpPr>
              <a:cxnSpLocks noChangeShapeType="1"/>
              <a:stCxn id="268" idx="3"/>
              <a:endCxn id="262" idx="2"/>
            </p:cNvCxnSpPr>
            <p:nvPr/>
          </p:nvCxnSpPr>
          <p:spPr bwMode="auto">
            <a:xfrm>
              <a:off x="7972156" y="2991663"/>
              <a:ext cx="290560" cy="3682"/>
            </a:xfrm>
            <a:prstGeom prst="straightConnector1">
              <a:avLst/>
            </a:prstGeom>
            <a:noFill/>
            <a:ln w="6350">
              <a:solidFill>
                <a:srgbClr val="BBBCBC"/>
              </a:solidFill>
              <a:round/>
              <a:headEnd/>
              <a:tailEnd type="triangle" w="med" len="med"/>
            </a:ln>
          </p:spPr>
        </p:cxnSp>
        <p:cxnSp>
          <p:nvCxnSpPr>
            <p:cNvPr id="276" name="AutoShape 18">
              <a:extLst>
                <a:ext uri="{FF2B5EF4-FFF2-40B4-BE49-F238E27FC236}">
                  <a16:creationId xmlns:a16="http://schemas.microsoft.com/office/drawing/2014/main" id="{50E904A8-0E9E-485F-8363-A4D71467E5FE}"/>
                </a:ext>
              </a:extLst>
            </p:cNvPr>
            <p:cNvCxnSpPr>
              <a:cxnSpLocks noChangeShapeType="1"/>
              <a:stCxn id="264" idx="1"/>
              <a:endCxn id="262" idx="6"/>
            </p:cNvCxnSpPr>
            <p:nvPr/>
          </p:nvCxnSpPr>
          <p:spPr bwMode="auto">
            <a:xfrm flipH="1">
              <a:off x="9772788" y="2991663"/>
              <a:ext cx="289509" cy="3682"/>
            </a:xfrm>
            <a:prstGeom prst="straightConnector1">
              <a:avLst/>
            </a:prstGeom>
            <a:noFill/>
            <a:ln w="6350">
              <a:solidFill>
                <a:srgbClr val="BBBCBC"/>
              </a:solidFill>
              <a:round/>
              <a:headEnd/>
              <a:tailEnd type="triangle" w="med" len="med"/>
            </a:ln>
          </p:spPr>
        </p:cxnSp>
        <p:sp>
          <p:nvSpPr>
            <p:cNvPr id="277" name="Rectangle 3">
              <a:extLst>
                <a:ext uri="{FF2B5EF4-FFF2-40B4-BE49-F238E27FC236}">
                  <a16:creationId xmlns:a16="http://schemas.microsoft.com/office/drawing/2014/main" id="{95941BE9-0DAC-41F1-9CCE-4CF3C84B1988}"/>
                </a:ext>
              </a:extLst>
            </p:cNvPr>
            <p:cNvSpPr>
              <a:spLocks noChangeArrowheads="1"/>
            </p:cNvSpPr>
            <p:nvPr/>
          </p:nvSpPr>
          <p:spPr bwMode="auto">
            <a:xfrm>
              <a:off x="8171752" y="3949714"/>
              <a:ext cx="1692000" cy="650451"/>
            </a:xfrm>
            <a:prstGeom prst="rect">
              <a:avLst/>
            </a:prstGeom>
            <a:solidFill>
              <a:schemeClr val="bg1">
                <a:lumMod val="50000"/>
              </a:schemeClr>
            </a:solidFill>
            <a:ln w="19050">
              <a:noFill/>
              <a:miter lim="800000"/>
              <a:headEnd/>
              <a:tailEnd/>
            </a:ln>
          </p:spPr>
          <p:txBody>
            <a:bodyPr lIns="88900" tIns="88900" rIns="88900" bIns="88900" anchor="ctr"/>
            <a:lstStyle/>
            <a:p>
              <a:pPr algn="ctr" defTabSz="954088">
                <a:lnSpc>
                  <a:spcPct val="95000"/>
                </a:lnSpc>
                <a:defRPr/>
              </a:pPr>
              <a:r>
                <a:rPr lang="en-US" sz="1000" kern="0" dirty="0">
                  <a:solidFill>
                    <a:prstClr val="white"/>
                  </a:solidFill>
                  <a:ea typeface="ＭＳ Ｐゴシック" pitchFamily="50" charset="-128"/>
                </a:rPr>
                <a:t>Any other source recognized / approved by MNRE or MERC</a:t>
              </a:r>
            </a:p>
          </p:txBody>
        </p:sp>
        <p:cxnSp>
          <p:nvCxnSpPr>
            <p:cNvPr id="278" name="AutoShape 16">
              <a:extLst>
                <a:ext uri="{FF2B5EF4-FFF2-40B4-BE49-F238E27FC236}">
                  <a16:creationId xmlns:a16="http://schemas.microsoft.com/office/drawing/2014/main" id="{7555CC49-6F24-41D0-B365-FD698BBB9C21}"/>
                </a:ext>
              </a:extLst>
            </p:cNvPr>
            <p:cNvCxnSpPr>
              <a:cxnSpLocks noChangeShapeType="1"/>
              <a:stCxn id="277" idx="0"/>
              <a:endCxn id="262" idx="4"/>
            </p:cNvCxnSpPr>
            <p:nvPr/>
          </p:nvCxnSpPr>
          <p:spPr bwMode="auto">
            <a:xfrm flipV="1">
              <a:off x="9017752" y="3345545"/>
              <a:ext cx="0" cy="604169"/>
            </a:xfrm>
            <a:prstGeom prst="straightConnector1">
              <a:avLst/>
            </a:prstGeom>
            <a:noFill/>
            <a:ln w="6350">
              <a:solidFill>
                <a:srgbClr val="BBBCBC"/>
              </a:solidFill>
              <a:round/>
              <a:headEnd/>
              <a:tailEnd type="triangle" w="med" len="med"/>
            </a:ln>
          </p:spPr>
        </p:cxnSp>
        <p:sp>
          <p:nvSpPr>
            <p:cNvPr id="279" name="Rectangle 8">
              <a:extLst>
                <a:ext uri="{FF2B5EF4-FFF2-40B4-BE49-F238E27FC236}">
                  <a16:creationId xmlns:a16="http://schemas.microsoft.com/office/drawing/2014/main" id="{783431F7-E413-42CF-80F1-C61B01B76430}"/>
                </a:ext>
              </a:extLst>
            </p:cNvPr>
            <p:cNvSpPr>
              <a:spLocks noChangeArrowheads="1"/>
            </p:cNvSpPr>
            <p:nvPr/>
          </p:nvSpPr>
          <p:spPr bwMode="auto">
            <a:xfrm>
              <a:off x="9101388" y="1539874"/>
              <a:ext cx="1008000" cy="504000"/>
            </a:xfrm>
            <a:prstGeom prst="rect">
              <a:avLst/>
            </a:prstGeom>
            <a:solidFill>
              <a:schemeClr val="bg1">
                <a:lumMod val="50000"/>
              </a:schemeClr>
            </a:solidFill>
            <a:ln w="19050">
              <a:noFill/>
              <a:miter lim="800000"/>
              <a:headEnd/>
              <a:tailEnd/>
            </a:ln>
          </p:spPr>
          <p:txBody>
            <a:bodyPr lIns="88900" tIns="88900" rIns="88900" bIns="88900" anchor="ctr"/>
            <a:lstStyle/>
            <a:p>
              <a:pPr algn="ctr" defTabSz="954088">
                <a:lnSpc>
                  <a:spcPct val="95000"/>
                </a:lnSpc>
                <a:defRPr/>
              </a:pPr>
              <a:r>
                <a:rPr lang="en-US" sz="1000" kern="0" dirty="0">
                  <a:solidFill>
                    <a:prstClr val="white"/>
                  </a:solidFill>
                  <a:ea typeface="ＭＳ Ｐゴシック" pitchFamily="50" charset="-128"/>
                </a:rPr>
                <a:t>Solar power</a:t>
              </a:r>
            </a:p>
          </p:txBody>
        </p:sp>
        <p:cxnSp>
          <p:nvCxnSpPr>
            <p:cNvPr id="280" name="AutoShape 15">
              <a:extLst>
                <a:ext uri="{FF2B5EF4-FFF2-40B4-BE49-F238E27FC236}">
                  <a16:creationId xmlns:a16="http://schemas.microsoft.com/office/drawing/2014/main" id="{C739EE82-51F4-4DAE-8642-FB176C90D2D0}"/>
                </a:ext>
              </a:extLst>
            </p:cNvPr>
            <p:cNvCxnSpPr>
              <a:cxnSpLocks noChangeShapeType="1"/>
              <a:stCxn id="279" idx="2"/>
              <a:endCxn id="262" idx="0"/>
            </p:cNvCxnSpPr>
            <p:nvPr/>
          </p:nvCxnSpPr>
          <p:spPr bwMode="auto">
            <a:xfrm flipH="1">
              <a:off x="9017752" y="2043874"/>
              <a:ext cx="587636" cy="601270"/>
            </a:xfrm>
            <a:prstGeom prst="straightConnector1">
              <a:avLst/>
            </a:prstGeom>
            <a:noFill/>
            <a:ln w="6350">
              <a:solidFill>
                <a:srgbClr val="BBBCBC"/>
              </a:solidFill>
              <a:round/>
              <a:headEnd/>
              <a:tailEnd type="triangle" w="med" len="med"/>
            </a:ln>
          </p:spPr>
        </p:cxnSp>
      </p:grpSp>
      <p:cxnSp>
        <p:nvCxnSpPr>
          <p:cNvPr id="285" name="Straight Connector 284">
            <a:extLst>
              <a:ext uri="{FF2B5EF4-FFF2-40B4-BE49-F238E27FC236}">
                <a16:creationId xmlns:a16="http://schemas.microsoft.com/office/drawing/2014/main" id="{4012E849-AD8D-4E2C-9B80-F34216F69DDD}"/>
              </a:ext>
            </a:extLst>
          </p:cNvPr>
          <p:cNvCxnSpPr/>
          <p:nvPr/>
        </p:nvCxnSpPr>
        <p:spPr>
          <a:xfrm>
            <a:off x="507754" y="4392340"/>
            <a:ext cx="11252200" cy="0"/>
          </a:xfrm>
          <a:prstGeom prst="line">
            <a:avLst/>
          </a:prstGeom>
          <a:ln>
            <a:solidFill>
              <a:srgbClr val="44546A"/>
            </a:solidFill>
          </a:ln>
        </p:spPr>
        <p:style>
          <a:lnRef idx="1">
            <a:schemeClr val="accent1"/>
          </a:lnRef>
          <a:fillRef idx="0">
            <a:schemeClr val="accent1"/>
          </a:fillRef>
          <a:effectRef idx="0">
            <a:schemeClr val="accent1"/>
          </a:effectRef>
          <a:fontRef idx="minor">
            <a:schemeClr val="tx1"/>
          </a:fontRef>
        </p:style>
      </p:cxnSp>
      <p:sp>
        <p:nvSpPr>
          <p:cNvPr id="286" name="TextBox 285">
            <a:extLst>
              <a:ext uri="{FF2B5EF4-FFF2-40B4-BE49-F238E27FC236}">
                <a16:creationId xmlns:a16="http://schemas.microsoft.com/office/drawing/2014/main" id="{F1827A03-DB8C-47D7-849C-8C633595FFB2}"/>
              </a:ext>
            </a:extLst>
          </p:cNvPr>
          <p:cNvSpPr txBox="1"/>
          <p:nvPr/>
        </p:nvSpPr>
        <p:spPr>
          <a:xfrm>
            <a:off x="10398704" y="6481106"/>
            <a:ext cx="994183" cy="230832"/>
          </a:xfrm>
          <a:prstGeom prst="rect">
            <a:avLst/>
          </a:prstGeom>
          <a:noFill/>
        </p:spPr>
        <p:txBody>
          <a:bodyPr wrap="none" rtlCol="0">
            <a:spAutoFit/>
          </a:bodyPr>
          <a:lstStyle/>
          <a:p>
            <a:pPr algn="r"/>
            <a:r>
              <a:rPr lang="en-US" sz="900" dirty="0"/>
              <a:t>Source: KERC</a:t>
            </a:r>
          </a:p>
        </p:txBody>
      </p:sp>
    </p:spTree>
    <p:extLst>
      <p:ext uri="{BB962C8B-B14F-4D97-AF65-F5344CB8AC3E}">
        <p14:creationId xmlns:p14="http://schemas.microsoft.com/office/powerpoint/2010/main" val="60427706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2">
            <a:extLst>
              <a:ext uri="{FF2B5EF4-FFF2-40B4-BE49-F238E27FC236}">
                <a16:creationId xmlns:a16="http://schemas.microsoft.com/office/drawing/2014/main" id="{8129D268-9CAC-4193-B864-8BB08FA7F2D4}"/>
              </a:ext>
            </a:extLst>
          </p:cNvPr>
          <p:cNvSpPr txBox="1">
            <a:spLocks/>
          </p:cNvSpPr>
          <p:nvPr/>
        </p:nvSpPr>
        <p:spPr>
          <a:xfrm>
            <a:off x="416591" y="364521"/>
            <a:ext cx="11202669" cy="378627"/>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dirty="0"/>
              <a:t>Karnataka: RPO Target and Compliance</a:t>
            </a:r>
            <a:endParaRPr lang="en-IN" dirty="0"/>
          </a:p>
        </p:txBody>
      </p:sp>
      <p:graphicFrame>
        <p:nvGraphicFramePr>
          <p:cNvPr id="17" name="Table 3">
            <a:extLst>
              <a:ext uri="{FF2B5EF4-FFF2-40B4-BE49-F238E27FC236}">
                <a16:creationId xmlns:a16="http://schemas.microsoft.com/office/drawing/2014/main" id="{70285E16-E1BF-48A1-BFDD-A18C2689A9A4}"/>
              </a:ext>
            </a:extLst>
          </p:cNvPr>
          <p:cNvGraphicFramePr>
            <a:graphicFrameLocks noGrp="1"/>
          </p:cNvGraphicFramePr>
          <p:nvPr>
            <p:extLst>
              <p:ext uri="{D42A27DB-BD31-4B8C-83A1-F6EECF244321}">
                <p14:modId xmlns:p14="http://schemas.microsoft.com/office/powerpoint/2010/main" val="3311366025"/>
              </p:ext>
            </p:extLst>
          </p:nvPr>
        </p:nvGraphicFramePr>
        <p:xfrm>
          <a:off x="309938" y="4085778"/>
          <a:ext cx="4686267" cy="2407920"/>
        </p:xfrm>
        <a:graphic>
          <a:graphicData uri="http://schemas.openxmlformats.org/drawingml/2006/table">
            <a:tbl>
              <a:tblPr firstRow="1" bandRow="1">
                <a:tableStyleId>{5C22544A-7EE6-4342-B048-85BDC9FD1C3A}</a:tableStyleId>
              </a:tblPr>
              <a:tblGrid>
                <a:gridCol w="995076">
                  <a:extLst>
                    <a:ext uri="{9D8B030D-6E8A-4147-A177-3AD203B41FA5}">
                      <a16:colId xmlns:a16="http://schemas.microsoft.com/office/drawing/2014/main" val="2444179132"/>
                    </a:ext>
                  </a:extLst>
                </a:gridCol>
                <a:gridCol w="831329">
                  <a:extLst>
                    <a:ext uri="{9D8B030D-6E8A-4147-A177-3AD203B41FA5}">
                      <a16:colId xmlns:a16="http://schemas.microsoft.com/office/drawing/2014/main" val="3442195011"/>
                    </a:ext>
                  </a:extLst>
                </a:gridCol>
                <a:gridCol w="831329">
                  <a:extLst>
                    <a:ext uri="{9D8B030D-6E8A-4147-A177-3AD203B41FA5}">
                      <a16:colId xmlns:a16="http://schemas.microsoft.com/office/drawing/2014/main" val="2459923879"/>
                    </a:ext>
                  </a:extLst>
                </a:gridCol>
                <a:gridCol w="831329">
                  <a:extLst>
                    <a:ext uri="{9D8B030D-6E8A-4147-A177-3AD203B41FA5}">
                      <a16:colId xmlns:a16="http://schemas.microsoft.com/office/drawing/2014/main" val="3421144353"/>
                    </a:ext>
                  </a:extLst>
                </a:gridCol>
                <a:gridCol w="1197204">
                  <a:extLst>
                    <a:ext uri="{9D8B030D-6E8A-4147-A177-3AD203B41FA5}">
                      <a16:colId xmlns:a16="http://schemas.microsoft.com/office/drawing/2014/main" val="2319670507"/>
                    </a:ext>
                  </a:extLst>
                </a:gridCol>
              </a:tblGrid>
              <a:tr h="143727">
                <a:tc gridSpan="5">
                  <a:txBody>
                    <a:bodyPr/>
                    <a:lstStyle/>
                    <a:p>
                      <a:pPr algn="ctr"/>
                      <a:r>
                        <a:rPr lang="en-US" sz="1100" dirty="0">
                          <a:solidFill>
                            <a:schemeClr val="tx1"/>
                          </a:solidFill>
                        </a:rPr>
                        <a:t>RPO Targets set by KERC in its RPO Regulations, 2018 (Sixth Amendment)</a:t>
                      </a:r>
                    </a:p>
                  </a:txBody>
                  <a:tcPr>
                    <a:noFill/>
                  </a:tcPr>
                </a:tc>
                <a:tc hMerge="1">
                  <a:txBody>
                    <a:bodyPr/>
                    <a:lstStyle/>
                    <a:p>
                      <a:pPr algn="ctr"/>
                      <a:endParaRPr lang="en-IN" sz="1100" dirty="0"/>
                    </a:p>
                  </a:txBody>
                  <a:tcPr>
                    <a:noFill/>
                  </a:tcPr>
                </a:tc>
                <a:tc hMerge="1">
                  <a:txBody>
                    <a:bodyPr/>
                    <a:lstStyle/>
                    <a:p>
                      <a:endParaRPr lang="en-IN"/>
                    </a:p>
                  </a:txBody>
                  <a:tcPr/>
                </a:tc>
                <a:tc hMerge="1">
                  <a:txBody>
                    <a:bodyPr/>
                    <a:lstStyle/>
                    <a:p>
                      <a:endParaRPr lang="en-IN"/>
                    </a:p>
                  </a:txBody>
                  <a:tcPr/>
                </a:tc>
                <a:tc hMerge="1">
                  <a:txBody>
                    <a:bodyPr/>
                    <a:lstStyle/>
                    <a:p>
                      <a:pPr algn="ctr"/>
                      <a:endParaRPr lang="en-US" sz="1100" dirty="0">
                        <a:solidFill>
                          <a:schemeClr val="tx1"/>
                        </a:solidFill>
                      </a:endParaRPr>
                    </a:p>
                  </a:txBody>
                  <a:tcPr>
                    <a:noFill/>
                  </a:tcPr>
                </a:tc>
                <a:extLst>
                  <a:ext uri="{0D108BD9-81ED-4DB2-BD59-A6C34878D82A}">
                    <a16:rowId xmlns:a16="http://schemas.microsoft.com/office/drawing/2014/main" val="243764083"/>
                  </a:ext>
                </a:extLst>
              </a:tr>
              <a:tr h="143727">
                <a:tc rowSpan="2">
                  <a:txBody>
                    <a:bodyPr/>
                    <a:lstStyle/>
                    <a:p>
                      <a:pPr algn="ctr"/>
                      <a:r>
                        <a:rPr lang="en-US" sz="1100" b="1" dirty="0" err="1"/>
                        <a:t>Discom</a:t>
                      </a:r>
                      <a:endParaRPr lang="en-US" sz="1100" b="1" dirty="0"/>
                    </a:p>
                  </a:txBody>
                  <a:tcPr anchor="ctr">
                    <a:solidFill>
                      <a:schemeClr val="accent1"/>
                    </a:solidFill>
                  </a:tcPr>
                </a:tc>
                <a:tc gridSpan="4">
                  <a:txBody>
                    <a:bodyPr/>
                    <a:lstStyle/>
                    <a:p>
                      <a:pPr algn="ctr"/>
                      <a:r>
                        <a:rPr lang="en-US" sz="1100" b="1" dirty="0"/>
                        <a:t>Non-solar RPO</a:t>
                      </a:r>
                      <a:endParaRPr lang="en-IN" sz="1100" b="1" dirty="0"/>
                    </a:p>
                  </a:txBody>
                  <a:tcPr>
                    <a:solidFill>
                      <a:schemeClr val="accent1"/>
                    </a:solidFill>
                  </a:tcPr>
                </a:tc>
                <a:tc hMerge="1">
                  <a:txBody>
                    <a:bodyPr/>
                    <a:lstStyle/>
                    <a:p>
                      <a:endParaRPr lang="en-IN" sz="1100" dirty="0"/>
                    </a:p>
                  </a:txBody>
                  <a:tcPr/>
                </a:tc>
                <a:tc hMerge="1">
                  <a:txBody>
                    <a:bodyPr/>
                    <a:lstStyle/>
                    <a:p>
                      <a:endParaRPr lang="en-IN" sz="1100" dirty="0"/>
                    </a:p>
                  </a:txBody>
                  <a:tcPr/>
                </a:tc>
                <a:tc hMerge="1">
                  <a:txBody>
                    <a:bodyPr/>
                    <a:lstStyle/>
                    <a:p>
                      <a:pPr algn="ctr"/>
                      <a:endParaRPr lang="en-IN" sz="1100" b="1" dirty="0"/>
                    </a:p>
                  </a:txBody>
                  <a:tcPr>
                    <a:solidFill>
                      <a:schemeClr val="accent1"/>
                    </a:solidFill>
                  </a:tcPr>
                </a:tc>
                <a:extLst>
                  <a:ext uri="{0D108BD9-81ED-4DB2-BD59-A6C34878D82A}">
                    <a16:rowId xmlns:a16="http://schemas.microsoft.com/office/drawing/2014/main" val="3570616410"/>
                  </a:ext>
                </a:extLst>
              </a:tr>
              <a:tr h="143727">
                <a:tc vMerge="1">
                  <a:txBody>
                    <a:bodyPr/>
                    <a:lstStyle/>
                    <a:p>
                      <a:endParaRPr lang="en-US" sz="1100" dirty="0"/>
                    </a:p>
                  </a:txBody>
                  <a:tcPr/>
                </a:tc>
                <a:tc>
                  <a:txBody>
                    <a:bodyPr/>
                    <a:lstStyle/>
                    <a:p>
                      <a:pPr algn="ctr"/>
                      <a:r>
                        <a:rPr lang="en-US" sz="1100" b="1" dirty="0"/>
                        <a:t>2019-20</a:t>
                      </a:r>
                      <a:endParaRPr lang="en-IN" sz="1100" b="1" dirty="0"/>
                    </a:p>
                  </a:txBody>
                  <a:tcPr>
                    <a:solidFill>
                      <a:schemeClr val="accent1"/>
                    </a:solidFill>
                  </a:tcPr>
                </a:tc>
                <a:tc>
                  <a:txBody>
                    <a:bodyPr/>
                    <a:lstStyle/>
                    <a:p>
                      <a:pPr algn="ctr"/>
                      <a:r>
                        <a:rPr lang="en-US" sz="1100" b="1" dirty="0"/>
                        <a:t>2020-21</a:t>
                      </a:r>
                      <a:endParaRPr lang="en-IN" sz="1100" b="1" dirty="0"/>
                    </a:p>
                  </a:txBody>
                  <a:tcPr>
                    <a:solidFill>
                      <a:schemeClr val="accent1"/>
                    </a:solidFill>
                  </a:tcPr>
                </a:tc>
                <a:tc>
                  <a:txBody>
                    <a:bodyPr/>
                    <a:lstStyle/>
                    <a:p>
                      <a:pPr algn="ctr"/>
                      <a:r>
                        <a:rPr lang="en-US" sz="1100" b="1" dirty="0"/>
                        <a:t>2021-22</a:t>
                      </a:r>
                      <a:endParaRPr lang="en-IN" sz="1100" b="1" dirty="0"/>
                    </a:p>
                  </a:txBody>
                  <a:tcPr>
                    <a:solidFill>
                      <a:schemeClr val="accent1"/>
                    </a:solidFill>
                  </a:tcPr>
                </a:tc>
                <a:tc>
                  <a:txBody>
                    <a:bodyPr/>
                    <a:lstStyle/>
                    <a:p>
                      <a:pPr algn="ctr"/>
                      <a:r>
                        <a:rPr lang="en-US" sz="1100" b="1" dirty="0"/>
                        <a:t>FY 2022-23 onwards</a:t>
                      </a:r>
                      <a:endParaRPr lang="en-IN" sz="1100" b="1" dirty="0"/>
                    </a:p>
                  </a:txBody>
                  <a:tcPr>
                    <a:solidFill>
                      <a:schemeClr val="accent1"/>
                    </a:solidFill>
                  </a:tcPr>
                </a:tc>
                <a:extLst>
                  <a:ext uri="{0D108BD9-81ED-4DB2-BD59-A6C34878D82A}">
                    <a16:rowId xmlns:a16="http://schemas.microsoft.com/office/drawing/2014/main" val="3185047641"/>
                  </a:ext>
                </a:extLst>
              </a:tr>
              <a:tr h="143727">
                <a:tc>
                  <a:txBody>
                    <a:bodyPr/>
                    <a:lstStyle/>
                    <a:p>
                      <a:r>
                        <a:rPr lang="en-US" sz="1100" dirty="0"/>
                        <a:t>BESCOM</a:t>
                      </a:r>
                    </a:p>
                  </a:txBody>
                  <a:tcPr/>
                </a:tc>
                <a:tc>
                  <a:txBody>
                    <a:bodyPr/>
                    <a:lstStyle/>
                    <a:p>
                      <a:pPr algn="ctr"/>
                      <a:r>
                        <a:rPr lang="en-US" sz="1100" dirty="0"/>
                        <a:t>12.00%</a:t>
                      </a:r>
                      <a:endParaRPr lang="en-IN" sz="1100" dirty="0"/>
                    </a:p>
                  </a:txBody>
                  <a:tcPr/>
                </a:tc>
                <a:tc>
                  <a:txBody>
                    <a:bodyPr/>
                    <a:lstStyle/>
                    <a:p>
                      <a:pPr algn="ctr"/>
                      <a:r>
                        <a:rPr lang="en-US" sz="1100" dirty="0"/>
                        <a:t>12.00%</a:t>
                      </a:r>
                      <a:endParaRPr lang="en-IN" sz="1100" dirty="0"/>
                    </a:p>
                  </a:txBody>
                  <a:tcPr/>
                </a:tc>
                <a:tc>
                  <a:txBody>
                    <a:bodyPr/>
                    <a:lstStyle/>
                    <a:p>
                      <a:pPr algn="ctr"/>
                      <a:r>
                        <a:rPr lang="en-US" sz="1100" dirty="0"/>
                        <a:t>12.00%</a:t>
                      </a:r>
                      <a:endParaRPr lang="en-IN" sz="1100" dirty="0"/>
                    </a:p>
                  </a:txBody>
                  <a:tcPr/>
                </a:tc>
                <a:tc rowSpan="5">
                  <a:txBody>
                    <a:bodyPr/>
                    <a:lstStyle/>
                    <a:p>
                      <a:pPr algn="ctr"/>
                      <a:r>
                        <a:rPr lang="en-US" sz="1100" dirty="0"/>
                        <a:t>To be determined</a:t>
                      </a:r>
                      <a:endParaRPr lang="en-IN" sz="1100" dirty="0"/>
                    </a:p>
                  </a:txBody>
                  <a:tcPr anchor="ctr"/>
                </a:tc>
                <a:extLst>
                  <a:ext uri="{0D108BD9-81ED-4DB2-BD59-A6C34878D82A}">
                    <a16:rowId xmlns:a16="http://schemas.microsoft.com/office/drawing/2014/main" val="2071782771"/>
                  </a:ext>
                </a:extLst>
              </a:tr>
              <a:tr h="143727">
                <a:tc>
                  <a:txBody>
                    <a:bodyPr/>
                    <a:lstStyle/>
                    <a:p>
                      <a:r>
                        <a:rPr lang="en-US" sz="1100" dirty="0"/>
                        <a:t>MESCOM</a:t>
                      </a:r>
                    </a:p>
                  </a:txBody>
                  <a:tcPr/>
                </a:tc>
                <a:tc>
                  <a:txBody>
                    <a:bodyPr/>
                    <a:lstStyle/>
                    <a:p>
                      <a:pPr algn="ctr"/>
                      <a:r>
                        <a:rPr lang="en-US" sz="1100" dirty="0"/>
                        <a:t>13.00%</a:t>
                      </a:r>
                      <a:endParaRPr lang="en-IN" sz="1100" dirty="0"/>
                    </a:p>
                  </a:txBody>
                  <a:tcPr/>
                </a:tc>
                <a:tc>
                  <a:txBody>
                    <a:bodyPr/>
                    <a:lstStyle/>
                    <a:p>
                      <a:pPr algn="ctr"/>
                      <a:r>
                        <a:rPr lang="en-US" sz="1100" dirty="0"/>
                        <a:t>13.00%</a:t>
                      </a:r>
                      <a:endParaRPr lang="en-IN" sz="1100" dirty="0"/>
                    </a:p>
                  </a:txBody>
                  <a:tcPr/>
                </a:tc>
                <a:tc>
                  <a:txBody>
                    <a:bodyPr/>
                    <a:lstStyle/>
                    <a:p>
                      <a:pPr algn="ctr"/>
                      <a:r>
                        <a:rPr lang="en-US" sz="1100" dirty="0"/>
                        <a:t>13.00%</a:t>
                      </a:r>
                      <a:endParaRPr lang="en-IN" sz="1100" dirty="0"/>
                    </a:p>
                  </a:txBody>
                  <a:tcPr/>
                </a:tc>
                <a:tc vMerge="1">
                  <a:txBody>
                    <a:bodyPr/>
                    <a:lstStyle/>
                    <a:p>
                      <a:pPr algn="ctr"/>
                      <a:endParaRPr lang="en-IN" sz="1100" dirty="0"/>
                    </a:p>
                  </a:txBody>
                  <a:tcPr/>
                </a:tc>
                <a:extLst>
                  <a:ext uri="{0D108BD9-81ED-4DB2-BD59-A6C34878D82A}">
                    <a16:rowId xmlns:a16="http://schemas.microsoft.com/office/drawing/2014/main" val="2414176820"/>
                  </a:ext>
                </a:extLst>
              </a:tr>
              <a:tr h="143727">
                <a:tc>
                  <a:txBody>
                    <a:bodyPr/>
                    <a:lstStyle/>
                    <a:p>
                      <a:r>
                        <a:rPr lang="en-US" sz="1100" dirty="0"/>
                        <a:t>CESC</a:t>
                      </a:r>
                      <a:endParaRPr lang="en-IN" sz="1100" dirty="0"/>
                    </a:p>
                  </a:txBody>
                  <a:tcPr/>
                </a:tc>
                <a:tc>
                  <a:txBody>
                    <a:bodyPr/>
                    <a:lstStyle/>
                    <a:p>
                      <a:pPr algn="ctr"/>
                      <a:r>
                        <a:rPr lang="en-US" sz="1100" dirty="0"/>
                        <a:t>12.00%</a:t>
                      </a:r>
                      <a:endParaRPr lang="en-IN" sz="1100" dirty="0"/>
                    </a:p>
                  </a:txBody>
                  <a:tcPr/>
                </a:tc>
                <a:tc>
                  <a:txBody>
                    <a:bodyPr/>
                    <a:lstStyle/>
                    <a:p>
                      <a:pPr algn="ctr"/>
                      <a:r>
                        <a:rPr lang="en-US" sz="1100" dirty="0"/>
                        <a:t>12.00%</a:t>
                      </a:r>
                      <a:endParaRPr lang="en-IN" sz="1100" dirty="0"/>
                    </a:p>
                  </a:txBody>
                  <a:tcPr/>
                </a:tc>
                <a:tc>
                  <a:txBody>
                    <a:bodyPr/>
                    <a:lstStyle/>
                    <a:p>
                      <a:pPr algn="ctr"/>
                      <a:r>
                        <a:rPr lang="en-US" sz="1100" dirty="0"/>
                        <a:t>12.00%</a:t>
                      </a:r>
                      <a:endParaRPr lang="en-IN" sz="1100" dirty="0"/>
                    </a:p>
                  </a:txBody>
                  <a:tcPr/>
                </a:tc>
                <a:tc vMerge="1">
                  <a:txBody>
                    <a:bodyPr/>
                    <a:lstStyle/>
                    <a:p>
                      <a:pPr algn="ctr"/>
                      <a:endParaRPr lang="en-IN" sz="1100" dirty="0"/>
                    </a:p>
                  </a:txBody>
                  <a:tcPr/>
                </a:tc>
                <a:extLst>
                  <a:ext uri="{0D108BD9-81ED-4DB2-BD59-A6C34878D82A}">
                    <a16:rowId xmlns:a16="http://schemas.microsoft.com/office/drawing/2014/main" val="1912233810"/>
                  </a:ext>
                </a:extLst>
              </a:tr>
              <a:tr h="143727">
                <a:tc>
                  <a:txBody>
                    <a:bodyPr/>
                    <a:lstStyle/>
                    <a:p>
                      <a:r>
                        <a:rPr lang="en-US" sz="1100" dirty="0"/>
                        <a:t>HESCOM</a:t>
                      </a:r>
                    </a:p>
                  </a:txBody>
                  <a:tcPr/>
                </a:tc>
                <a:tc>
                  <a:txBody>
                    <a:bodyPr/>
                    <a:lstStyle/>
                    <a:p>
                      <a:pPr algn="ctr"/>
                      <a:r>
                        <a:rPr lang="en-US" sz="1100" dirty="0"/>
                        <a:t>11.00%</a:t>
                      </a:r>
                      <a:endParaRPr lang="en-IN" sz="1100" dirty="0"/>
                    </a:p>
                  </a:txBody>
                  <a:tcPr/>
                </a:tc>
                <a:tc>
                  <a:txBody>
                    <a:bodyPr/>
                    <a:lstStyle/>
                    <a:p>
                      <a:pPr algn="ctr"/>
                      <a:r>
                        <a:rPr lang="en-US" sz="1100" dirty="0"/>
                        <a:t>11.00%</a:t>
                      </a:r>
                      <a:endParaRPr lang="en-IN" sz="1100" dirty="0"/>
                    </a:p>
                  </a:txBody>
                  <a:tcPr/>
                </a:tc>
                <a:tc>
                  <a:txBody>
                    <a:bodyPr/>
                    <a:lstStyle/>
                    <a:p>
                      <a:pPr algn="ctr"/>
                      <a:r>
                        <a:rPr lang="en-US" sz="1100" dirty="0"/>
                        <a:t>11.00%</a:t>
                      </a:r>
                      <a:endParaRPr lang="en-IN" sz="1100" dirty="0"/>
                    </a:p>
                  </a:txBody>
                  <a:tcPr/>
                </a:tc>
                <a:tc vMerge="1">
                  <a:txBody>
                    <a:bodyPr/>
                    <a:lstStyle/>
                    <a:p>
                      <a:pPr algn="ctr"/>
                      <a:endParaRPr lang="en-IN" sz="1100" dirty="0"/>
                    </a:p>
                  </a:txBody>
                  <a:tcPr/>
                </a:tc>
                <a:extLst>
                  <a:ext uri="{0D108BD9-81ED-4DB2-BD59-A6C34878D82A}">
                    <a16:rowId xmlns:a16="http://schemas.microsoft.com/office/drawing/2014/main" val="20408227"/>
                  </a:ext>
                </a:extLst>
              </a:tr>
              <a:tr h="143727">
                <a:tc>
                  <a:txBody>
                    <a:bodyPr/>
                    <a:lstStyle/>
                    <a:p>
                      <a:r>
                        <a:rPr lang="en-US" sz="1100" dirty="0"/>
                        <a:t>GESCOM</a:t>
                      </a:r>
                    </a:p>
                  </a:txBody>
                  <a:tcPr/>
                </a:tc>
                <a:tc>
                  <a:txBody>
                    <a:bodyPr/>
                    <a:lstStyle/>
                    <a:p>
                      <a:pPr algn="ctr"/>
                      <a:r>
                        <a:rPr lang="en-US" sz="1100" dirty="0"/>
                        <a:t>8.00%</a:t>
                      </a:r>
                      <a:endParaRPr lang="en-IN" sz="1100" dirty="0"/>
                    </a:p>
                  </a:txBody>
                  <a:tcPr/>
                </a:tc>
                <a:tc>
                  <a:txBody>
                    <a:bodyPr/>
                    <a:lstStyle/>
                    <a:p>
                      <a:pPr algn="ctr"/>
                      <a:r>
                        <a:rPr lang="en-US" sz="1100" dirty="0"/>
                        <a:t>8.00%</a:t>
                      </a:r>
                      <a:endParaRPr lang="en-IN" sz="1100" dirty="0"/>
                    </a:p>
                  </a:txBody>
                  <a:tcPr/>
                </a:tc>
                <a:tc>
                  <a:txBody>
                    <a:bodyPr/>
                    <a:lstStyle/>
                    <a:p>
                      <a:pPr algn="ctr"/>
                      <a:r>
                        <a:rPr lang="en-US" sz="1100" dirty="0"/>
                        <a:t>8.00%</a:t>
                      </a:r>
                      <a:endParaRPr lang="en-IN" sz="1100" dirty="0"/>
                    </a:p>
                  </a:txBody>
                  <a:tcPr/>
                </a:tc>
                <a:tc vMerge="1">
                  <a:txBody>
                    <a:bodyPr/>
                    <a:lstStyle/>
                    <a:p>
                      <a:pPr algn="ctr"/>
                      <a:endParaRPr lang="en-IN" sz="1100" dirty="0"/>
                    </a:p>
                  </a:txBody>
                  <a:tcPr/>
                </a:tc>
                <a:extLst>
                  <a:ext uri="{0D108BD9-81ED-4DB2-BD59-A6C34878D82A}">
                    <a16:rowId xmlns:a16="http://schemas.microsoft.com/office/drawing/2014/main" val="3280757144"/>
                  </a:ext>
                </a:extLst>
              </a:tr>
            </a:tbl>
          </a:graphicData>
        </a:graphic>
      </p:graphicFrame>
      <p:sp>
        <p:nvSpPr>
          <p:cNvPr id="18" name="Text Placeholder 2">
            <a:extLst>
              <a:ext uri="{FF2B5EF4-FFF2-40B4-BE49-F238E27FC236}">
                <a16:creationId xmlns:a16="http://schemas.microsoft.com/office/drawing/2014/main" id="{2AC3F6AC-FC3E-4137-92A2-D734516B1293}"/>
              </a:ext>
            </a:extLst>
          </p:cNvPr>
          <p:cNvSpPr txBox="1">
            <a:spLocks/>
          </p:cNvSpPr>
          <p:nvPr/>
        </p:nvSpPr>
        <p:spPr>
          <a:xfrm>
            <a:off x="416591" y="743148"/>
            <a:ext cx="1120266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endParaRPr lang="en-IN" sz="1800" dirty="0"/>
          </a:p>
        </p:txBody>
      </p:sp>
      <p:sp>
        <p:nvSpPr>
          <p:cNvPr id="20" name="Content Placeholder 4">
            <a:extLst>
              <a:ext uri="{FF2B5EF4-FFF2-40B4-BE49-F238E27FC236}">
                <a16:creationId xmlns:a16="http://schemas.microsoft.com/office/drawing/2014/main" id="{080AD4C7-BDF6-4416-8623-114299231738}"/>
              </a:ext>
            </a:extLst>
          </p:cNvPr>
          <p:cNvSpPr txBox="1">
            <a:spLocks/>
          </p:cNvSpPr>
          <p:nvPr/>
        </p:nvSpPr>
        <p:spPr>
          <a:xfrm>
            <a:off x="9851913" y="1609455"/>
            <a:ext cx="2051509" cy="3573849"/>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tabLst>
                <a:tab pos="5029200" algn="r"/>
              </a:tabLst>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tabLst>
                <a:tab pos="5029200" algn="r"/>
              </a:tabLst>
              <a:defRPr lang="en-US" sz="1100" b="1" kern="120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tabLst>
                <a:tab pos="5029200" algn="r"/>
              </a:tabLst>
              <a:defRPr lang="en-US" sz="1100" kern="120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tabLst>
                <a:tab pos="5029200" algn="r"/>
              </a:tabLst>
              <a:defRPr lang="en-US" sz="1100" kern="1200" baseline="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tab pos="5029200" algn="r"/>
              </a:tabLst>
              <a:defRPr lang="en-US" sz="1100" kern="1200" baseline="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171450" indent="-171450" algn="just">
              <a:lnSpc>
                <a:spcPct val="120000"/>
              </a:lnSpc>
              <a:spcAft>
                <a:spcPts val="0"/>
              </a:spcAft>
              <a:buFont typeface="Arial" panose="020B0604020202020204" pitchFamily="34" charset="0"/>
              <a:buChar char="•"/>
            </a:pPr>
            <a:r>
              <a:rPr lang="en-US" dirty="0"/>
              <a:t>With 12667 MW of solar &amp; wind installed capacity Karnataka is one of the states with the highest % of installed capacity of RES.</a:t>
            </a:r>
          </a:p>
          <a:p>
            <a:pPr marL="171450" indent="-171450" algn="just">
              <a:lnSpc>
                <a:spcPct val="120000"/>
              </a:lnSpc>
              <a:spcAft>
                <a:spcPts val="0"/>
              </a:spcAft>
              <a:buFont typeface="Arial" panose="020B0604020202020204" pitchFamily="34" charset="0"/>
              <a:buChar char="•"/>
            </a:pPr>
            <a:r>
              <a:rPr lang="en-US" dirty="0"/>
              <a:t>In the past 5 years, the state has achieved its RPO targets each time.</a:t>
            </a:r>
          </a:p>
          <a:p>
            <a:pPr marL="171450" indent="-171450" algn="just">
              <a:lnSpc>
                <a:spcPct val="120000"/>
              </a:lnSpc>
              <a:spcAft>
                <a:spcPts val="0"/>
              </a:spcAft>
              <a:buFont typeface="Arial" panose="020B0604020202020204" pitchFamily="34" charset="0"/>
              <a:buChar char="•"/>
            </a:pPr>
            <a:r>
              <a:rPr lang="en-US" dirty="0"/>
              <a:t>Considering the ambitious RPO targets set by the State regulatory commission for FY21, FY 22 and beyond, the Obligated Entities (Captive User/ Generator, Open Access Consumer, Discoms) in Karnataka would have to considerably increase their RE procurement in order to catch up with the steeply rising RPO targets.</a:t>
            </a:r>
          </a:p>
          <a:p>
            <a:pPr marL="171450" indent="-171450" algn="just">
              <a:lnSpc>
                <a:spcPct val="120000"/>
              </a:lnSpc>
              <a:spcAft>
                <a:spcPts val="0"/>
              </a:spcAft>
              <a:buFont typeface="Arial" panose="020B0604020202020204" pitchFamily="34" charset="0"/>
              <a:buChar char="•"/>
            </a:pPr>
            <a:endParaRPr lang="en-US" dirty="0"/>
          </a:p>
        </p:txBody>
      </p:sp>
      <p:graphicFrame>
        <p:nvGraphicFramePr>
          <p:cNvPr id="21" name="Table 12">
            <a:extLst>
              <a:ext uri="{FF2B5EF4-FFF2-40B4-BE49-F238E27FC236}">
                <a16:creationId xmlns:a16="http://schemas.microsoft.com/office/drawing/2014/main" id="{7B7D031A-1FF4-44D2-8289-FDEABF3E27F4}"/>
              </a:ext>
            </a:extLst>
          </p:cNvPr>
          <p:cNvGraphicFramePr>
            <a:graphicFrameLocks noGrp="1"/>
          </p:cNvGraphicFramePr>
          <p:nvPr>
            <p:extLst>
              <p:ext uri="{D42A27DB-BD31-4B8C-83A1-F6EECF244321}">
                <p14:modId xmlns:p14="http://schemas.microsoft.com/office/powerpoint/2010/main" val="304227785"/>
              </p:ext>
            </p:extLst>
          </p:nvPr>
        </p:nvGraphicFramePr>
        <p:xfrm>
          <a:off x="309938" y="1291270"/>
          <a:ext cx="9372542" cy="2794508"/>
        </p:xfrm>
        <a:graphic>
          <a:graphicData uri="http://schemas.openxmlformats.org/drawingml/2006/table">
            <a:tbl>
              <a:tblPr firstRow="1" bandRow="1">
                <a:tableStyleId>{7DF18680-E054-41AD-8BC1-D1AEF772440D}</a:tableStyleId>
              </a:tblPr>
              <a:tblGrid>
                <a:gridCol w="2904106">
                  <a:extLst>
                    <a:ext uri="{9D8B030D-6E8A-4147-A177-3AD203B41FA5}">
                      <a16:colId xmlns:a16="http://schemas.microsoft.com/office/drawing/2014/main" val="3295292642"/>
                    </a:ext>
                  </a:extLst>
                </a:gridCol>
                <a:gridCol w="1336735">
                  <a:extLst>
                    <a:ext uri="{9D8B030D-6E8A-4147-A177-3AD203B41FA5}">
                      <a16:colId xmlns:a16="http://schemas.microsoft.com/office/drawing/2014/main" val="4010435285"/>
                    </a:ext>
                  </a:extLst>
                </a:gridCol>
                <a:gridCol w="1255671">
                  <a:extLst>
                    <a:ext uri="{9D8B030D-6E8A-4147-A177-3AD203B41FA5}">
                      <a16:colId xmlns:a16="http://schemas.microsoft.com/office/drawing/2014/main" val="2307014383"/>
                    </a:ext>
                  </a:extLst>
                </a:gridCol>
                <a:gridCol w="1292010">
                  <a:extLst>
                    <a:ext uri="{9D8B030D-6E8A-4147-A177-3AD203B41FA5}">
                      <a16:colId xmlns:a16="http://schemas.microsoft.com/office/drawing/2014/main" val="1262384409"/>
                    </a:ext>
                  </a:extLst>
                </a:gridCol>
                <a:gridCol w="1292010">
                  <a:extLst>
                    <a:ext uri="{9D8B030D-6E8A-4147-A177-3AD203B41FA5}">
                      <a16:colId xmlns:a16="http://schemas.microsoft.com/office/drawing/2014/main" val="3106758755"/>
                    </a:ext>
                  </a:extLst>
                </a:gridCol>
                <a:gridCol w="1292010">
                  <a:extLst>
                    <a:ext uri="{9D8B030D-6E8A-4147-A177-3AD203B41FA5}">
                      <a16:colId xmlns:a16="http://schemas.microsoft.com/office/drawing/2014/main" val="77584137"/>
                    </a:ext>
                  </a:extLst>
                </a:gridCol>
              </a:tblGrid>
              <a:tr h="273696">
                <a:tc gridSpan="6">
                  <a:txBody>
                    <a:bodyPr/>
                    <a:lstStyle/>
                    <a:p>
                      <a:pPr algn="ctr"/>
                      <a:r>
                        <a:rPr lang="en-US" sz="1100" dirty="0">
                          <a:solidFill>
                            <a:schemeClr val="tx1"/>
                          </a:solidFill>
                        </a:rPr>
                        <a:t>RPO Compliance Trajectory for Karnataka (up to FY 2018-19)</a:t>
                      </a:r>
                      <a:endParaRPr lang="en-IN" sz="1100" dirty="0">
                        <a:solidFill>
                          <a:schemeClr val="tx1"/>
                        </a:solidFill>
                      </a:endParaRPr>
                    </a:p>
                  </a:txBody>
                  <a:tcPr anchor="ctr">
                    <a:noFill/>
                  </a:tcPr>
                </a:tc>
                <a:tc hMerge="1">
                  <a:txBody>
                    <a:bodyPr/>
                    <a:lstStyle/>
                    <a:p>
                      <a:pPr algn="ctr"/>
                      <a:endParaRPr lang="en-IN" sz="1100" dirty="0"/>
                    </a:p>
                  </a:txBody>
                  <a:tcPr/>
                </a:tc>
                <a:tc hMerge="1">
                  <a:txBody>
                    <a:bodyPr/>
                    <a:lstStyle/>
                    <a:p>
                      <a:pPr algn="ctr"/>
                      <a:endParaRPr lang="en-IN" sz="1100" dirty="0"/>
                    </a:p>
                  </a:txBody>
                  <a:tcPr/>
                </a:tc>
                <a:tc hMerge="1">
                  <a:txBody>
                    <a:bodyPr/>
                    <a:lstStyle/>
                    <a:p>
                      <a:pPr algn="ctr"/>
                      <a:endParaRPr lang="en-IN" sz="1100" dirty="0"/>
                    </a:p>
                  </a:txBody>
                  <a:tcPr/>
                </a:tc>
                <a:tc hMerge="1">
                  <a:txBody>
                    <a:bodyPr/>
                    <a:lstStyle/>
                    <a:p>
                      <a:pPr algn="ctr"/>
                      <a:endParaRPr lang="en-IN" sz="1100" dirty="0"/>
                    </a:p>
                  </a:txBody>
                  <a:tcPr/>
                </a:tc>
                <a:tc hMerge="1">
                  <a:txBody>
                    <a:bodyPr/>
                    <a:lstStyle/>
                    <a:p>
                      <a:pPr algn="ctr"/>
                      <a:endParaRPr lang="en-IN" sz="1100" dirty="0"/>
                    </a:p>
                  </a:txBody>
                  <a:tcPr/>
                </a:tc>
                <a:extLst>
                  <a:ext uri="{0D108BD9-81ED-4DB2-BD59-A6C34878D82A}">
                    <a16:rowId xmlns:a16="http://schemas.microsoft.com/office/drawing/2014/main" val="425358705"/>
                  </a:ext>
                </a:extLst>
              </a:tr>
              <a:tr h="273696">
                <a:tc>
                  <a:txBody>
                    <a:bodyPr/>
                    <a:lstStyle/>
                    <a:p>
                      <a:r>
                        <a:rPr lang="en-US" sz="1100" dirty="0">
                          <a:solidFill>
                            <a:schemeClr val="bg1"/>
                          </a:solidFill>
                        </a:rPr>
                        <a:t>Particular</a:t>
                      </a:r>
                      <a:endParaRPr lang="en-IN" sz="1100" dirty="0">
                        <a:solidFill>
                          <a:schemeClr val="bg1"/>
                        </a:solidFill>
                      </a:endParaRPr>
                    </a:p>
                  </a:txBody>
                  <a:tcPr anchor="ctr">
                    <a:solidFill>
                      <a:schemeClr val="accent5"/>
                    </a:solidFill>
                  </a:tcPr>
                </a:tc>
                <a:tc>
                  <a:txBody>
                    <a:bodyPr/>
                    <a:lstStyle/>
                    <a:p>
                      <a:pPr algn="ctr"/>
                      <a:r>
                        <a:rPr lang="en-US" sz="1100" dirty="0">
                          <a:solidFill>
                            <a:schemeClr val="bg1"/>
                          </a:solidFill>
                        </a:rPr>
                        <a:t>FY15</a:t>
                      </a:r>
                      <a:endParaRPr lang="en-IN" sz="1100" dirty="0">
                        <a:solidFill>
                          <a:schemeClr val="bg1"/>
                        </a:solidFill>
                      </a:endParaRPr>
                    </a:p>
                  </a:txBody>
                  <a:tcPr anchor="ctr">
                    <a:solidFill>
                      <a:schemeClr val="accent5"/>
                    </a:solidFill>
                  </a:tcPr>
                </a:tc>
                <a:tc>
                  <a:txBody>
                    <a:bodyPr/>
                    <a:lstStyle/>
                    <a:p>
                      <a:pPr algn="ctr"/>
                      <a:r>
                        <a:rPr lang="en-US" sz="1100" dirty="0">
                          <a:solidFill>
                            <a:schemeClr val="bg1"/>
                          </a:solidFill>
                        </a:rPr>
                        <a:t>FY16</a:t>
                      </a:r>
                      <a:endParaRPr lang="en-IN" sz="1100" dirty="0">
                        <a:solidFill>
                          <a:schemeClr val="bg1"/>
                        </a:solidFill>
                      </a:endParaRPr>
                    </a:p>
                  </a:txBody>
                  <a:tcPr anchor="ctr">
                    <a:solidFill>
                      <a:schemeClr val="accent5"/>
                    </a:solidFill>
                  </a:tcPr>
                </a:tc>
                <a:tc>
                  <a:txBody>
                    <a:bodyPr/>
                    <a:lstStyle/>
                    <a:p>
                      <a:pPr algn="ctr"/>
                      <a:r>
                        <a:rPr lang="en-US" sz="1100" dirty="0">
                          <a:solidFill>
                            <a:schemeClr val="bg1"/>
                          </a:solidFill>
                        </a:rPr>
                        <a:t>FY17</a:t>
                      </a:r>
                      <a:endParaRPr lang="en-IN" sz="1100" dirty="0">
                        <a:solidFill>
                          <a:schemeClr val="bg1"/>
                        </a:solidFill>
                      </a:endParaRPr>
                    </a:p>
                  </a:txBody>
                  <a:tcPr anchor="ctr">
                    <a:solidFill>
                      <a:schemeClr val="accent5"/>
                    </a:solidFill>
                  </a:tcPr>
                </a:tc>
                <a:tc>
                  <a:txBody>
                    <a:bodyPr/>
                    <a:lstStyle/>
                    <a:p>
                      <a:pPr algn="ctr"/>
                      <a:r>
                        <a:rPr lang="en-US" sz="1100" dirty="0">
                          <a:solidFill>
                            <a:schemeClr val="bg1"/>
                          </a:solidFill>
                        </a:rPr>
                        <a:t>FY18</a:t>
                      </a:r>
                      <a:endParaRPr lang="en-IN" sz="1100" dirty="0">
                        <a:solidFill>
                          <a:schemeClr val="bg1"/>
                        </a:solidFill>
                      </a:endParaRPr>
                    </a:p>
                  </a:txBody>
                  <a:tcPr anchor="ctr">
                    <a:solidFill>
                      <a:schemeClr val="accent5"/>
                    </a:solidFill>
                  </a:tcPr>
                </a:tc>
                <a:tc>
                  <a:txBody>
                    <a:bodyPr/>
                    <a:lstStyle/>
                    <a:p>
                      <a:pPr algn="ctr"/>
                      <a:r>
                        <a:rPr lang="en-US" sz="1100" dirty="0">
                          <a:solidFill>
                            <a:schemeClr val="bg1"/>
                          </a:solidFill>
                        </a:rPr>
                        <a:t>FY19</a:t>
                      </a:r>
                      <a:endParaRPr lang="en-IN" sz="1100" dirty="0">
                        <a:solidFill>
                          <a:schemeClr val="bg1"/>
                        </a:solidFill>
                      </a:endParaRPr>
                    </a:p>
                  </a:txBody>
                  <a:tcPr anchor="ctr">
                    <a:solidFill>
                      <a:schemeClr val="accent5"/>
                    </a:solidFill>
                  </a:tcPr>
                </a:tc>
                <a:extLst>
                  <a:ext uri="{0D108BD9-81ED-4DB2-BD59-A6C34878D82A}">
                    <a16:rowId xmlns:a16="http://schemas.microsoft.com/office/drawing/2014/main" val="3073600752"/>
                  </a:ext>
                </a:extLst>
              </a:tr>
              <a:tr h="362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a:solidFill>
                            <a:schemeClr val="dk1"/>
                          </a:solidFill>
                          <a:latin typeface="+mn-lt"/>
                          <a:ea typeface="+mn-ea"/>
                          <a:cs typeface="+mn-cs"/>
                        </a:rPr>
                        <a:t>Input energy (Excluding hydro sources)</a:t>
                      </a:r>
                    </a:p>
                  </a:txBody>
                  <a:tcPr marL="7620" marR="7620" marT="7620" marB="0" anchor="ctr"/>
                </a:tc>
                <a:tc>
                  <a:txBody>
                    <a:bodyPr/>
                    <a:lstStyle/>
                    <a:p>
                      <a:pPr marL="0" algn="ctr" defTabSz="914400" rtl="0" eaLnBrk="1" fontAlgn="ctr" latinLnBrk="0" hangingPunct="1"/>
                      <a:r>
                        <a:rPr lang="en-IN" sz="1100" kern="1200" dirty="0">
                          <a:solidFill>
                            <a:schemeClr val="dk1"/>
                          </a:solidFill>
                          <a:latin typeface="+mn-lt"/>
                          <a:ea typeface="+mn-ea"/>
                          <a:cs typeface="+mn-cs"/>
                        </a:rPr>
                        <a:t>60,262.52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61,601.34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65,331.24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57,951.93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59,022.07 </a:t>
                      </a:r>
                    </a:p>
                  </a:txBody>
                  <a:tcPr marL="7620" marR="7620" marT="7620" marB="0" anchor="ctr"/>
                </a:tc>
                <a:extLst>
                  <a:ext uri="{0D108BD9-81ED-4DB2-BD59-A6C34878D82A}">
                    <a16:rowId xmlns:a16="http://schemas.microsoft.com/office/drawing/2014/main" val="4118612827"/>
                  </a:ext>
                </a:extLst>
              </a:tr>
              <a:tr h="2941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kern="1200">
                          <a:solidFill>
                            <a:schemeClr val="dk1"/>
                          </a:solidFill>
                          <a:latin typeface="+mn-lt"/>
                          <a:ea typeface="+mn-ea"/>
                          <a:cs typeface="+mn-cs"/>
                        </a:rPr>
                        <a:t>Solar RPO Target (MUs)</a:t>
                      </a:r>
                    </a:p>
                  </a:txBody>
                  <a:tcPr marL="7620" marR="7620" marT="7620" marB="0" anchor="ctr"/>
                </a:tc>
                <a:tc>
                  <a:txBody>
                    <a:bodyPr/>
                    <a:lstStyle/>
                    <a:p>
                      <a:pPr marL="0" algn="ctr" defTabSz="914400" rtl="0" eaLnBrk="1" fontAlgn="ctr" latinLnBrk="0" hangingPunct="1"/>
                      <a:r>
                        <a:rPr lang="en-IN" sz="1100" kern="1200" dirty="0">
                          <a:solidFill>
                            <a:schemeClr val="dk1"/>
                          </a:solidFill>
                          <a:latin typeface="+mn-lt"/>
                          <a:ea typeface="+mn-ea"/>
                          <a:cs typeface="+mn-cs"/>
                        </a:rPr>
                        <a:t>150.66 </a:t>
                      </a:r>
                    </a:p>
                  </a:txBody>
                  <a:tcPr marL="7620" marR="7620" marT="7620" marB="0" anchor="ctr"/>
                </a:tc>
                <a:tc>
                  <a:txBody>
                    <a:bodyPr/>
                    <a:lstStyle/>
                    <a:p>
                      <a:pPr marL="0" algn="ctr" defTabSz="914400" rtl="0" eaLnBrk="1" fontAlgn="ctr" latinLnBrk="0" hangingPunct="1"/>
                      <a:r>
                        <a:rPr lang="en-IN" sz="1100" kern="1200" dirty="0">
                          <a:solidFill>
                            <a:schemeClr val="dk1"/>
                          </a:solidFill>
                          <a:latin typeface="+mn-lt"/>
                          <a:ea typeface="+mn-ea"/>
                          <a:cs typeface="+mn-cs"/>
                        </a:rPr>
                        <a:t>154.00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489.98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1,602.40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3,541.32 </a:t>
                      </a:r>
                    </a:p>
                  </a:txBody>
                  <a:tcPr marL="7620" marR="7620" marT="7620" marB="0" anchor="ctr"/>
                </a:tc>
                <a:extLst>
                  <a:ext uri="{0D108BD9-81ED-4DB2-BD59-A6C34878D82A}">
                    <a16:rowId xmlns:a16="http://schemas.microsoft.com/office/drawing/2014/main" val="971796369"/>
                  </a:ext>
                </a:extLst>
              </a:tr>
              <a:tr h="362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kern="1200">
                          <a:solidFill>
                            <a:schemeClr val="dk1"/>
                          </a:solidFill>
                          <a:latin typeface="+mn-lt"/>
                          <a:ea typeface="+mn-ea"/>
                          <a:cs typeface="+mn-cs"/>
                        </a:rPr>
                        <a:t>Solar RPO Target achieved (MUs)</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230.30 </a:t>
                      </a:r>
                    </a:p>
                  </a:txBody>
                  <a:tcPr marL="7620" marR="7620" marT="7620" marB="0" anchor="ctr"/>
                </a:tc>
                <a:tc>
                  <a:txBody>
                    <a:bodyPr/>
                    <a:lstStyle/>
                    <a:p>
                      <a:pPr marL="0" algn="ctr" defTabSz="914400" rtl="0" eaLnBrk="1" fontAlgn="ctr" latinLnBrk="0" hangingPunct="1"/>
                      <a:r>
                        <a:rPr lang="en-IN" sz="1100" kern="1200" dirty="0">
                          <a:solidFill>
                            <a:schemeClr val="dk1"/>
                          </a:solidFill>
                          <a:latin typeface="+mn-lt"/>
                          <a:ea typeface="+mn-ea"/>
                          <a:cs typeface="+mn-cs"/>
                        </a:rPr>
                        <a:t>297.31 </a:t>
                      </a:r>
                    </a:p>
                  </a:txBody>
                  <a:tcPr marL="7620" marR="7620" marT="7620" marB="0" anchor="ctr"/>
                </a:tc>
                <a:tc>
                  <a:txBody>
                    <a:bodyPr/>
                    <a:lstStyle/>
                    <a:p>
                      <a:pPr marL="0" algn="ctr" defTabSz="914400" rtl="0" eaLnBrk="1" fontAlgn="ctr" latinLnBrk="0" hangingPunct="1"/>
                      <a:r>
                        <a:rPr lang="en-IN" sz="1100" kern="1200" dirty="0">
                          <a:solidFill>
                            <a:schemeClr val="dk1"/>
                          </a:solidFill>
                          <a:latin typeface="+mn-lt"/>
                          <a:ea typeface="+mn-ea"/>
                          <a:cs typeface="+mn-cs"/>
                        </a:rPr>
                        <a:t>625.04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2,487.66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6,993.34 </a:t>
                      </a:r>
                    </a:p>
                  </a:txBody>
                  <a:tcPr marL="7620" marR="7620" marT="7620" marB="0" anchor="ctr"/>
                </a:tc>
                <a:extLst>
                  <a:ext uri="{0D108BD9-81ED-4DB2-BD59-A6C34878D82A}">
                    <a16:rowId xmlns:a16="http://schemas.microsoft.com/office/drawing/2014/main" val="2105422457"/>
                  </a:ext>
                </a:extLst>
              </a:tr>
              <a:tr h="362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kern="1200" dirty="0">
                          <a:solidFill>
                            <a:schemeClr val="dk1"/>
                          </a:solidFill>
                          <a:latin typeface="+mn-lt"/>
                          <a:ea typeface="+mn-ea"/>
                          <a:cs typeface="+mn-cs"/>
                        </a:rPr>
                        <a:t>Non-solar RPO target (MUs)</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5,435.20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5,366.24 </a:t>
                      </a:r>
                    </a:p>
                  </a:txBody>
                  <a:tcPr marL="7620" marR="7620" marT="7620" marB="0" anchor="ctr"/>
                </a:tc>
                <a:tc>
                  <a:txBody>
                    <a:bodyPr/>
                    <a:lstStyle/>
                    <a:p>
                      <a:pPr marL="0" algn="ctr" defTabSz="914400" rtl="0" eaLnBrk="1" fontAlgn="ctr" latinLnBrk="0" hangingPunct="1"/>
                      <a:r>
                        <a:rPr lang="en-IN" sz="1100" kern="1200" dirty="0">
                          <a:solidFill>
                            <a:schemeClr val="dk1"/>
                          </a:solidFill>
                          <a:latin typeface="+mn-lt"/>
                          <a:ea typeface="+mn-ea"/>
                          <a:cs typeface="+mn-cs"/>
                        </a:rPr>
                        <a:t>6,303.47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6,098.46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6,490.16 </a:t>
                      </a:r>
                    </a:p>
                  </a:txBody>
                  <a:tcPr marL="7620" marR="7620" marT="7620" marB="0" anchor="ctr"/>
                </a:tc>
                <a:extLst>
                  <a:ext uri="{0D108BD9-81ED-4DB2-BD59-A6C34878D82A}">
                    <a16:rowId xmlns:a16="http://schemas.microsoft.com/office/drawing/2014/main" val="1929592874"/>
                  </a:ext>
                </a:extLst>
              </a:tr>
              <a:tr h="362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kern="1200" dirty="0">
                          <a:solidFill>
                            <a:schemeClr val="dk1"/>
                          </a:solidFill>
                          <a:latin typeface="+mn-lt"/>
                          <a:ea typeface="+mn-ea"/>
                          <a:cs typeface="+mn-cs"/>
                        </a:rPr>
                        <a:t>Non-solar RPO target achieved (MUs)</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6,072.24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6,905.56 </a:t>
                      </a:r>
                    </a:p>
                  </a:txBody>
                  <a:tcPr marL="7620" marR="7620" marT="7620" marB="0" anchor="ctr"/>
                </a:tc>
                <a:tc>
                  <a:txBody>
                    <a:bodyPr/>
                    <a:lstStyle/>
                    <a:p>
                      <a:pPr marL="0" algn="ctr" defTabSz="914400" rtl="0" eaLnBrk="1" fontAlgn="ctr" latinLnBrk="0" hangingPunct="1"/>
                      <a:r>
                        <a:rPr lang="en-IN" sz="1100" kern="1200" dirty="0">
                          <a:solidFill>
                            <a:schemeClr val="dk1"/>
                          </a:solidFill>
                          <a:latin typeface="+mn-lt"/>
                          <a:ea typeface="+mn-ea"/>
                          <a:cs typeface="+mn-cs"/>
                        </a:rPr>
                        <a:t>6,280.44 </a:t>
                      </a:r>
                    </a:p>
                  </a:txBody>
                  <a:tcPr marL="7620" marR="7620" marT="7620" marB="0" anchor="ctr"/>
                </a:tc>
                <a:tc>
                  <a:txBody>
                    <a:bodyPr/>
                    <a:lstStyle/>
                    <a:p>
                      <a:pPr marL="0" algn="ctr" defTabSz="914400" rtl="0" eaLnBrk="1" fontAlgn="ctr" latinLnBrk="0" hangingPunct="1"/>
                      <a:r>
                        <a:rPr lang="en-IN" sz="1100" kern="1200" dirty="0">
                          <a:solidFill>
                            <a:schemeClr val="dk1"/>
                          </a:solidFill>
                          <a:latin typeface="+mn-lt"/>
                          <a:ea typeface="+mn-ea"/>
                          <a:cs typeface="+mn-cs"/>
                        </a:rPr>
                        <a:t>7,728.26 </a:t>
                      </a:r>
                    </a:p>
                  </a:txBody>
                  <a:tcPr marL="7620" marR="7620" marT="7620" marB="0" anchor="ctr"/>
                </a:tc>
                <a:tc>
                  <a:txBody>
                    <a:bodyPr/>
                    <a:lstStyle/>
                    <a:p>
                      <a:pPr marL="0" algn="ctr" defTabSz="914400" rtl="0" eaLnBrk="1" fontAlgn="ctr" latinLnBrk="0" hangingPunct="1"/>
                      <a:r>
                        <a:rPr lang="en-IN" sz="1100" kern="1200">
                          <a:solidFill>
                            <a:schemeClr val="dk1"/>
                          </a:solidFill>
                          <a:latin typeface="+mn-lt"/>
                          <a:ea typeface="+mn-ea"/>
                          <a:cs typeface="+mn-cs"/>
                        </a:rPr>
                        <a:t>11,074.36 </a:t>
                      </a:r>
                    </a:p>
                  </a:txBody>
                  <a:tcPr marL="7620" marR="7620" marT="7620" marB="0" anchor="ctr"/>
                </a:tc>
                <a:extLst>
                  <a:ext uri="{0D108BD9-81ED-4DB2-BD59-A6C34878D82A}">
                    <a16:rowId xmlns:a16="http://schemas.microsoft.com/office/drawing/2014/main" val="628365848"/>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1" kern="1200" dirty="0">
                          <a:solidFill>
                            <a:schemeClr val="dk1"/>
                          </a:solidFill>
                          <a:latin typeface="+mn-lt"/>
                          <a:ea typeface="+mn-ea"/>
                          <a:cs typeface="+mn-cs"/>
                        </a:rPr>
                        <a:t>Total shortfall (MUs)</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   </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   </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   </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   </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   </a:t>
                      </a:r>
                    </a:p>
                  </a:txBody>
                  <a:tcPr marL="7620" marR="7620" marT="7620" marB="0" anchor="ctr"/>
                </a:tc>
                <a:extLst>
                  <a:ext uri="{0D108BD9-81ED-4DB2-BD59-A6C34878D82A}">
                    <a16:rowId xmlns:a16="http://schemas.microsoft.com/office/drawing/2014/main" val="1493184145"/>
                  </a:ext>
                </a:extLst>
              </a:tr>
              <a:tr h="252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b="1" kern="1200" dirty="0">
                          <a:solidFill>
                            <a:schemeClr val="dk1"/>
                          </a:solidFill>
                          <a:latin typeface="+mn-lt"/>
                          <a:ea typeface="+mn-ea"/>
                          <a:cs typeface="+mn-cs"/>
                        </a:rPr>
                        <a:t>Total shortfall (%)</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0.00%</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0.00%</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0.00%</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0.00%</a:t>
                      </a:r>
                    </a:p>
                  </a:txBody>
                  <a:tcPr marL="7620" marR="7620" marT="7620" marB="0" anchor="ctr"/>
                </a:tc>
                <a:tc>
                  <a:txBody>
                    <a:bodyPr/>
                    <a:lstStyle/>
                    <a:p>
                      <a:pPr marL="0" algn="ctr" defTabSz="914400" rtl="0" eaLnBrk="1" fontAlgn="ctr" latinLnBrk="0" hangingPunct="1"/>
                      <a:r>
                        <a:rPr lang="en-IN" sz="1100" b="1" kern="1200" dirty="0">
                          <a:solidFill>
                            <a:schemeClr val="dk1"/>
                          </a:solidFill>
                          <a:latin typeface="+mn-lt"/>
                          <a:ea typeface="+mn-ea"/>
                          <a:cs typeface="+mn-cs"/>
                        </a:rPr>
                        <a:t>0.00%</a:t>
                      </a:r>
                    </a:p>
                  </a:txBody>
                  <a:tcPr marL="7620" marR="7620" marT="7620" marB="0" anchor="ctr"/>
                </a:tc>
                <a:extLst>
                  <a:ext uri="{0D108BD9-81ED-4DB2-BD59-A6C34878D82A}">
                    <a16:rowId xmlns:a16="http://schemas.microsoft.com/office/drawing/2014/main" val="504247033"/>
                  </a:ext>
                </a:extLst>
              </a:tr>
            </a:tbl>
          </a:graphicData>
        </a:graphic>
      </p:graphicFrame>
      <p:graphicFrame>
        <p:nvGraphicFramePr>
          <p:cNvPr id="33" name="Table 3">
            <a:extLst>
              <a:ext uri="{FF2B5EF4-FFF2-40B4-BE49-F238E27FC236}">
                <a16:creationId xmlns:a16="http://schemas.microsoft.com/office/drawing/2014/main" id="{1BB1D5CE-091A-4D7D-9E15-3ECA0ED3822B}"/>
              </a:ext>
            </a:extLst>
          </p:cNvPr>
          <p:cNvGraphicFramePr>
            <a:graphicFrameLocks noGrp="1"/>
          </p:cNvGraphicFramePr>
          <p:nvPr>
            <p:extLst>
              <p:ext uri="{D42A27DB-BD31-4B8C-83A1-F6EECF244321}">
                <p14:modId xmlns:p14="http://schemas.microsoft.com/office/powerpoint/2010/main" val="1169429998"/>
              </p:ext>
            </p:extLst>
          </p:nvPr>
        </p:nvGraphicFramePr>
        <p:xfrm>
          <a:off x="5073258" y="4092263"/>
          <a:ext cx="4686267" cy="2407920"/>
        </p:xfrm>
        <a:graphic>
          <a:graphicData uri="http://schemas.openxmlformats.org/drawingml/2006/table">
            <a:tbl>
              <a:tblPr firstRow="1" bandRow="1">
                <a:tableStyleId>{5C22544A-7EE6-4342-B048-85BDC9FD1C3A}</a:tableStyleId>
              </a:tblPr>
              <a:tblGrid>
                <a:gridCol w="995076">
                  <a:extLst>
                    <a:ext uri="{9D8B030D-6E8A-4147-A177-3AD203B41FA5}">
                      <a16:colId xmlns:a16="http://schemas.microsoft.com/office/drawing/2014/main" val="2444179132"/>
                    </a:ext>
                  </a:extLst>
                </a:gridCol>
                <a:gridCol w="831329">
                  <a:extLst>
                    <a:ext uri="{9D8B030D-6E8A-4147-A177-3AD203B41FA5}">
                      <a16:colId xmlns:a16="http://schemas.microsoft.com/office/drawing/2014/main" val="3442195011"/>
                    </a:ext>
                  </a:extLst>
                </a:gridCol>
                <a:gridCol w="831329">
                  <a:extLst>
                    <a:ext uri="{9D8B030D-6E8A-4147-A177-3AD203B41FA5}">
                      <a16:colId xmlns:a16="http://schemas.microsoft.com/office/drawing/2014/main" val="2459923879"/>
                    </a:ext>
                  </a:extLst>
                </a:gridCol>
                <a:gridCol w="831329">
                  <a:extLst>
                    <a:ext uri="{9D8B030D-6E8A-4147-A177-3AD203B41FA5}">
                      <a16:colId xmlns:a16="http://schemas.microsoft.com/office/drawing/2014/main" val="3421144353"/>
                    </a:ext>
                  </a:extLst>
                </a:gridCol>
                <a:gridCol w="1197204">
                  <a:extLst>
                    <a:ext uri="{9D8B030D-6E8A-4147-A177-3AD203B41FA5}">
                      <a16:colId xmlns:a16="http://schemas.microsoft.com/office/drawing/2014/main" val="2319670507"/>
                    </a:ext>
                  </a:extLst>
                </a:gridCol>
              </a:tblGrid>
              <a:tr h="143727">
                <a:tc gridSpan="5">
                  <a:txBody>
                    <a:bodyPr/>
                    <a:lstStyle/>
                    <a:p>
                      <a:pPr algn="ctr"/>
                      <a:r>
                        <a:rPr lang="en-US" sz="1100" dirty="0">
                          <a:solidFill>
                            <a:schemeClr val="tx1"/>
                          </a:solidFill>
                        </a:rPr>
                        <a:t>RPO Targets set by KERC in its RPO Regulations, 2018 (Sixth Amendment)</a:t>
                      </a:r>
                    </a:p>
                  </a:txBody>
                  <a:tcPr>
                    <a:noFill/>
                  </a:tcPr>
                </a:tc>
                <a:tc hMerge="1">
                  <a:txBody>
                    <a:bodyPr/>
                    <a:lstStyle/>
                    <a:p>
                      <a:pPr algn="ctr"/>
                      <a:endParaRPr lang="en-IN" sz="1100" dirty="0"/>
                    </a:p>
                  </a:txBody>
                  <a:tcPr>
                    <a:noFill/>
                  </a:tcPr>
                </a:tc>
                <a:tc hMerge="1">
                  <a:txBody>
                    <a:bodyPr/>
                    <a:lstStyle/>
                    <a:p>
                      <a:endParaRPr lang="en-IN"/>
                    </a:p>
                  </a:txBody>
                  <a:tcPr/>
                </a:tc>
                <a:tc hMerge="1">
                  <a:txBody>
                    <a:bodyPr/>
                    <a:lstStyle/>
                    <a:p>
                      <a:endParaRPr lang="en-IN"/>
                    </a:p>
                  </a:txBody>
                  <a:tcPr/>
                </a:tc>
                <a:tc hMerge="1">
                  <a:txBody>
                    <a:bodyPr/>
                    <a:lstStyle/>
                    <a:p>
                      <a:pPr algn="ctr"/>
                      <a:endParaRPr lang="en-US" sz="1100" dirty="0">
                        <a:solidFill>
                          <a:schemeClr val="tx1"/>
                        </a:solidFill>
                      </a:endParaRPr>
                    </a:p>
                  </a:txBody>
                  <a:tcPr>
                    <a:noFill/>
                  </a:tcPr>
                </a:tc>
                <a:extLst>
                  <a:ext uri="{0D108BD9-81ED-4DB2-BD59-A6C34878D82A}">
                    <a16:rowId xmlns:a16="http://schemas.microsoft.com/office/drawing/2014/main" val="243764083"/>
                  </a:ext>
                </a:extLst>
              </a:tr>
              <a:tr h="143727">
                <a:tc rowSpan="2">
                  <a:txBody>
                    <a:bodyPr/>
                    <a:lstStyle/>
                    <a:p>
                      <a:pPr algn="ctr"/>
                      <a:r>
                        <a:rPr lang="en-US" sz="1100" b="1" dirty="0" err="1"/>
                        <a:t>Discom</a:t>
                      </a:r>
                      <a:endParaRPr lang="en-US" sz="1100" b="1" dirty="0"/>
                    </a:p>
                  </a:txBody>
                  <a:tcPr anchor="ctr">
                    <a:solidFill>
                      <a:schemeClr val="accent1"/>
                    </a:solidFill>
                  </a:tcPr>
                </a:tc>
                <a:tc gridSpan="4">
                  <a:txBody>
                    <a:bodyPr/>
                    <a:lstStyle/>
                    <a:p>
                      <a:pPr algn="ctr"/>
                      <a:r>
                        <a:rPr lang="en-US" sz="1100" b="1" dirty="0"/>
                        <a:t>Solar RPO</a:t>
                      </a:r>
                      <a:endParaRPr lang="en-IN" sz="1100" b="1" dirty="0"/>
                    </a:p>
                  </a:txBody>
                  <a:tcPr>
                    <a:solidFill>
                      <a:schemeClr val="accent1"/>
                    </a:solidFill>
                  </a:tcPr>
                </a:tc>
                <a:tc hMerge="1">
                  <a:txBody>
                    <a:bodyPr/>
                    <a:lstStyle/>
                    <a:p>
                      <a:endParaRPr lang="en-IN" sz="1100" dirty="0"/>
                    </a:p>
                  </a:txBody>
                  <a:tcPr/>
                </a:tc>
                <a:tc hMerge="1">
                  <a:txBody>
                    <a:bodyPr/>
                    <a:lstStyle/>
                    <a:p>
                      <a:endParaRPr lang="en-IN" sz="1100" dirty="0"/>
                    </a:p>
                  </a:txBody>
                  <a:tcPr/>
                </a:tc>
                <a:tc hMerge="1">
                  <a:txBody>
                    <a:bodyPr/>
                    <a:lstStyle/>
                    <a:p>
                      <a:pPr algn="ctr"/>
                      <a:endParaRPr lang="en-IN" sz="1100" b="1" dirty="0"/>
                    </a:p>
                  </a:txBody>
                  <a:tcPr>
                    <a:solidFill>
                      <a:schemeClr val="accent1"/>
                    </a:solidFill>
                  </a:tcPr>
                </a:tc>
                <a:extLst>
                  <a:ext uri="{0D108BD9-81ED-4DB2-BD59-A6C34878D82A}">
                    <a16:rowId xmlns:a16="http://schemas.microsoft.com/office/drawing/2014/main" val="3570616410"/>
                  </a:ext>
                </a:extLst>
              </a:tr>
              <a:tr h="143727">
                <a:tc vMerge="1">
                  <a:txBody>
                    <a:bodyPr/>
                    <a:lstStyle/>
                    <a:p>
                      <a:endParaRPr lang="en-US" sz="1100" dirty="0"/>
                    </a:p>
                  </a:txBody>
                  <a:tcPr/>
                </a:tc>
                <a:tc>
                  <a:txBody>
                    <a:bodyPr/>
                    <a:lstStyle/>
                    <a:p>
                      <a:pPr algn="ctr"/>
                      <a:r>
                        <a:rPr lang="en-US" sz="1100" b="1" dirty="0"/>
                        <a:t>2019-20</a:t>
                      </a:r>
                      <a:endParaRPr lang="en-IN" sz="1100" b="1" dirty="0"/>
                    </a:p>
                  </a:txBody>
                  <a:tcPr>
                    <a:solidFill>
                      <a:schemeClr val="accent1"/>
                    </a:solidFill>
                  </a:tcPr>
                </a:tc>
                <a:tc>
                  <a:txBody>
                    <a:bodyPr/>
                    <a:lstStyle/>
                    <a:p>
                      <a:pPr algn="ctr"/>
                      <a:r>
                        <a:rPr lang="en-US" sz="1100" b="1" dirty="0"/>
                        <a:t>2020-21</a:t>
                      </a:r>
                      <a:endParaRPr lang="en-IN" sz="1100" b="1" dirty="0"/>
                    </a:p>
                  </a:txBody>
                  <a:tcPr>
                    <a:solidFill>
                      <a:schemeClr val="accent1"/>
                    </a:solidFill>
                  </a:tcPr>
                </a:tc>
                <a:tc>
                  <a:txBody>
                    <a:bodyPr/>
                    <a:lstStyle/>
                    <a:p>
                      <a:pPr algn="ctr"/>
                      <a:r>
                        <a:rPr lang="en-US" sz="1100" b="1" dirty="0"/>
                        <a:t>2021-22</a:t>
                      </a:r>
                      <a:endParaRPr lang="en-IN" sz="1100" b="1" dirty="0"/>
                    </a:p>
                  </a:txBody>
                  <a:tcPr>
                    <a:solidFill>
                      <a:schemeClr val="accent1"/>
                    </a:solidFill>
                  </a:tcPr>
                </a:tc>
                <a:tc>
                  <a:txBody>
                    <a:bodyPr/>
                    <a:lstStyle/>
                    <a:p>
                      <a:pPr algn="ctr"/>
                      <a:r>
                        <a:rPr lang="en-US" sz="1100" b="1" dirty="0"/>
                        <a:t>FY 2022-23 onwards</a:t>
                      </a:r>
                      <a:endParaRPr lang="en-IN" sz="1100" b="1" dirty="0"/>
                    </a:p>
                  </a:txBody>
                  <a:tcPr>
                    <a:solidFill>
                      <a:schemeClr val="accent1"/>
                    </a:solidFill>
                  </a:tcPr>
                </a:tc>
                <a:extLst>
                  <a:ext uri="{0D108BD9-81ED-4DB2-BD59-A6C34878D82A}">
                    <a16:rowId xmlns:a16="http://schemas.microsoft.com/office/drawing/2014/main" val="3185047641"/>
                  </a:ext>
                </a:extLst>
              </a:tr>
              <a:tr h="143727">
                <a:tc>
                  <a:txBody>
                    <a:bodyPr/>
                    <a:lstStyle/>
                    <a:p>
                      <a:r>
                        <a:rPr lang="en-US" sz="1100" dirty="0"/>
                        <a:t>BESCOM</a:t>
                      </a:r>
                    </a:p>
                  </a:txBody>
                  <a:tcPr/>
                </a:tc>
                <a:tc>
                  <a:txBody>
                    <a:bodyPr/>
                    <a:lstStyle/>
                    <a:p>
                      <a:pPr algn="ctr"/>
                      <a:r>
                        <a:rPr lang="en-US" sz="1100" dirty="0"/>
                        <a:t>7.25%</a:t>
                      </a:r>
                      <a:endParaRPr lang="en-IN" sz="1100" dirty="0"/>
                    </a:p>
                  </a:txBody>
                  <a:tcPr/>
                </a:tc>
                <a:tc>
                  <a:txBody>
                    <a:bodyPr/>
                    <a:lstStyle/>
                    <a:p>
                      <a:pPr algn="ctr"/>
                      <a:r>
                        <a:rPr lang="en-US" sz="1100" dirty="0"/>
                        <a:t>8.50%</a:t>
                      </a:r>
                      <a:endParaRPr lang="en-IN" sz="1100" dirty="0"/>
                    </a:p>
                  </a:txBody>
                  <a:tcPr/>
                </a:tc>
                <a:tc>
                  <a:txBody>
                    <a:bodyPr/>
                    <a:lstStyle/>
                    <a:p>
                      <a:pPr algn="ctr"/>
                      <a:r>
                        <a:rPr lang="en-US" sz="1100" dirty="0"/>
                        <a:t>10.50%</a:t>
                      </a:r>
                      <a:endParaRPr lang="en-IN" sz="1100" dirty="0"/>
                    </a:p>
                  </a:txBody>
                  <a:tcPr/>
                </a:tc>
                <a:tc rowSpan="5">
                  <a:txBody>
                    <a:bodyPr/>
                    <a:lstStyle/>
                    <a:p>
                      <a:pPr algn="ctr"/>
                      <a:r>
                        <a:rPr lang="en-US" sz="1100" dirty="0"/>
                        <a:t>To be determined</a:t>
                      </a:r>
                      <a:endParaRPr lang="en-IN" sz="1100" dirty="0"/>
                    </a:p>
                  </a:txBody>
                  <a:tcPr anchor="ctr"/>
                </a:tc>
                <a:extLst>
                  <a:ext uri="{0D108BD9-81ED-4DB2-BD59-A6C34878D82A}">
                    <a16:rowId xmlns:a16="http://schemas.microsoft.com/office/drawing/2014/main" val="2071782771"/>
                  </a:ext>
                </a:extLst>
              </a:tr>
              <a:tr h="143727">
                <a:tc>
                  <a:txBody>
                    <a:bodyPr/>
                    <a:lstStyle/>
                    <a:p>
                      <a:r>
                        <a:rPr lang="en-US" sz="1100" dirty="0"/>
                        <a:t>MESCOM</a:t>
                      </a:r>
                    </a:p>
                  </a:txBody>
                  <a:tcPr/>
                </a:tc>
                <a:tc>
                  <a:txBody>
                    <a:bodyPr/>
                    <a:lstStyle/>
                    <a:p>
                      <a:pPr algn="ctr"/>
                      <a:r>
                        <a:rPr lang="en-US" sz="1100" dirty="0"/>
                        <a:t>7.25%</a:t>
                      </a:r>
                      <a:endParaRPr lang="en-IN" sz="1100" dirty="0"/>
                    </a:p>
                  </a:txBody>
                  <a:tcPr/>
                </a:tc>
                <a:tc>
                  <a:txBody>
                    <a:bodyPr/>
                    <a:lstStyle/>
                    <a:p>
                      <a:pPr algn="ctr"/>
                      <a:r>
                        <a:rPr lang="en-US" sz="1100" dirty="0"/>
                        <a:t>8.50%</a:t>
                      </a:r>
                      <a:endParaRPr lang="en-IN" sz="1100" dirty="0"/>
                    </a:p>
                  </a:txBody>
                  <a:tcPr/>
                </a:tc>
                <a:tc>
                  <a:txBody>
                    <a:bodyPr/>
                    <a:lstStyle/>
                    <a:p>
                      <a:pPr algn="ctr"/>
                      <a:r>
                        <a:rPr lang="en-US" sz="1100" dirty="0"/>
                        <a:t>10.50%</a:t>
                      </a:r>
                      <a:endParaRPr lang="en-IN" sz="1100" dirty="0"/>
                    </a:p>
                  </a:txBody>
                  <a:tcPr/>
                </a:tc>
                <a:tc vMerge="1">
                  <a:txBody>
                    <a:bodyPr/>
                    <a:lstStyle/>
                    <a:p>
                      <a:pPr algn="ctr"/>
                      <a:endParaRPr lang="en-IN" sz="1100" dirty="0"/>
                    </a:p>
                  </a:txBody>
                  <a:tcPr/>
                </a:tc>
                <a:extLst>
                  <a:ext uri="{0D108BD9-81ED-4DB2-BD59-A6C34878D82A}">
                    <a16:rowId xmlns:a16="http://schemas.microsoft.com/office/drawing/2014/main" val="2414176820"/>
                  </a:ext>
                </a:extLst>
              </a:tr>
              <a:tr h="143727">
                <a:tc>
                  <a:txBody>
                    <a:bodyPr/>
                    <a:lstStyle/>
                    <a:p>
                      <a:r>
                        <a:rPr lang="en-US" sz="1100" dirty="0"/>
                        <a:t>CESC</a:t>
                      </a:r>
                      <a:endParaRPr lang="en-IN" sz="1100" dirty="0"/>
                    </a:p>
                  </a:txBody>
                  <a:tcPr/>
                </a:tc>
                <a:tc>
                  <a:txBody>
                    <a:bodyPr/>
                    <a:lstStyle/>
                    <a:p>
                      <a:pPr algn="ctr"/>
                      <a:r>
                        <a:rPr lang="en-US" sz="1100" dirty="0"/>
                        <a:t>7.25%</a:t>
                      </a:r>
                      <a:endParaRPr lang="en-IN" sz="1100" dirty="0"/>
                    </a:p>
                  </a:txBody>
                  <a:tcPr/>
                </a:tc>
                <a:tc>
                  <a:txBody>
                    <a:bodyPr/>
                    <a:lstStyle/>
                    <a:p>
                      <a:pPr algn="ctr"/>
                      <a:r>
                        <a:rPr lang="en-US" sz="1100" dirty="0"/>
                        <a:t>8.50%</a:t>
                      </a:r>
                      <a:endParaRPr lang="en-IN" sz="1100" dirty="0"/>
                    </a:p>
                  </a:txBody>
                  <a:tcPr/>
                </a:tc>
                <a:tc>
                  <a:txBody>
                    <a:bodyPr/>
                    <a:lstStyle/>
                    <a:p>
                      <a:pPr algn="ctr"/>
                      <a:r>
                        <a:rPr lang="en-US" sz="1100" dirty="0"/>
                        <a:t>10.50%</a:t>
                      </a:r>
                      <a:endParaRPr lang="en-IN" sz="1100" dirty="0"/>
                    </a:p>
                  </a:txBody>
                  <a:tcPr/>
                </a:tc>
                <a:tc vMerge="1">
                  <a:txBody>
                    <a:bodyPr/>
                    <a:lstStyle/>
                    <a:p>
                      <a:pPr algn="ctr"/>
                      <a:endParaRPr lang="en-IN" sz="1100" dirty="0"/>
                    </a:p>
                  </a:txBody>
                  <a:tcPr/>
                </a:tc>
                <a:extLst>
                  <a:ext uri="{0D108BD9-81ED-4DB2-BD59-A6C34878D82A}">
                    <a16:rowId xmlns:a16="http://schemas.microsoft.com/office/drawing/2014/main" val="1912233810"/>
                  </a:ext>
                </a:extLst>
              </a:tr>
              <a:tr h="143727">
                <a:tc>
                  <a:txBody>
                    <a:bodyPr/>
                    <a:lstStyle/>
                    <a:p>
                      <a:r>
                        <a:rPr lang="en-US" sz="1100" dirty="0"/>
                        <a:t>HESCOM</a:t>
                      </a:r>
                    </a:p>
                  </a:txBody>
                  <a:tcPr/>
                </a:tc>
                <a:tc>
                  <a:txBody>
                    <a:bodyPr/>
                    <a:lstStyle/>
                    <a:p>
                      <a:pPr algn="ctr"/>
                      <a:r>
                        <a:rPr lang="en-US" sz="1100" dirty="0"/>
                        <a:t>7.25%</a:t>
                      </a:r>
                      <a:endParaRPr lang="en-IN" sz="1100" dirty="0"/>
                    </a:p>
                  </a:txBody>
                  <a:tcPr/>
                </a:tc>
                <a:tc>
                  <a:txBody>
                    <a:bodyPr/>
                    <a:lstStyle/>
                    <a:p>
                      <a:pPr algn="ctr"/>
                      <a:r>
                        <a:rPr lang="en-US" sz="1100" dirty="0"/>
                        <a:t>8.50%</a:t>
                      </a:r>
                      <a:endParaRPr lang="en-IN" sz="1100" dirty="0"/>
                    </a:p>
                  </a:txBody>
                  <a:tcPr/>
                </a:tc>
                <a:tc>
                  <a:txBody>
                    <a:bodyPr/>
                    <a:lstStyle/>
                    <a:p>
                      <a:pPr algn="ctr"/>
                      <a:r>
                        <a:rPr lang="en-US" sz="1100" dirty="0"/>
                        <a:t>10.50%</a:t>
                      </a:r>
                      <a:endParaRPr lang="en-IN" sz="1100" dirty="0"/>
                    </a:p>
                  </a:txBody>
                  <a:tcPr/>
                </a:tc>
                <a:tc vMerge="1">
                  <a:txBody>
                    <a:bodyPr/>
                    <a:lstStyle/>
                    <a:p>
                      <a:pPr algn="ctr"/>
                      <a:endParaRPr lang="en-IN" sz="1100" dirty="0"/>
                    </a:p>
                  </a:txBody>
                  <a:tcPr/>
                </a:tc>
                <a:extLst>
                  <a:ext uri="{0D108BD9-81ED-4DB2-BD59-A6C34878D82A}">
                    <a16:rowId xmlns:a16="http://schemas.microsoft.com/office/drawing/2014/main" val="20408227"/>
                  </a:ext>
                </a:extLst>
              </a:tr>
              <a:tr h="143727">
                <a:tc>
                  <a:txBody>
                    <a:bodyPr/>
                    <a:lstStyle/>
                    <a:p>
                      <a:r>
                        <a:rPr lang="en-US" sz="1100" dirty="0"/>
                        <a:t>GESCOM</a:t>
                      </a:r>
                    </a:p>
                  </a:txBody>
                  <a:tcPr/>
                </a:tc>
                <a:tc>
                  <a:txBody>
                    <a:bodyPr/>
                    <a:lstStyle/>
                    <a:p>
                      <a:pPr algn="ctr"/>
                      <a:r>
                        <a:rPr lang="en-US" sz="1100" dirty="0"/>
                        <a:t>7.25%</a:t>
                      </a:r>
                      <a:endParaRPr lang="en-IN" sz="1100" dirty="0"/>
                    </a:p>
                  </a:txBody>
                  <a:tcPr/>
                </a:tc>
                <a:tc>
                  <a:txBody>
                    <a:bodyPr/>
                    <a:lstStyle/>
                    <a:p>
                      <a:pPr algn="ctr"/>
                      <a:r>
                        <a:rPr lang="en-US" sz="1100" dirty="0"/>
                        <a:t>8.50%</a:t>
                      </a:r>
                      <a:endParaRPr lang="en-IN" sz="1100" dirty="0"/>
                    </a:p>
                  </a:txBody>
                  <a:tcPr/>
                </a:tc>
                <a:tc>
                  <a:txBody>
                    <a:bodyPr/>
                    <a:lstStyle/>
                    <a:p>
                      <a:pPr algn="ctr"/>
                      <a:r>
                        <a:rPr lang="en-US" sz="1100" dirty="0"/>
                        <a:t>10.50%</a:t>
                      </a:r>
                      <a:endParaRPr lang="en-IN" sz="1100" dirty="0"/>
                    </a:p>
                  </a:txBody>
                  <a:tcPr/>
                </a:tc>
                <a:tc vMerge="1">
                  <a:txBody>
                    <a:bodyPr/>
                    <a:lstStyle/>
                    <a:p>
                      <a:pPr algn="ctr"/>
                      <a:endParaRPr lang="en-IN" sz="1100" dirty="0"/>
                    </a:p>
                  </a:txBody>
                  <a:tcPr/>
                </a:tc>
                <a:extLst>
                  <a:ext uri="{0D108BD9-81ED-4DB2-BD59-A6C34878D82A}">
                    <a16:rowId xmlns:a16="http://schemas.microsoft.com/office/drawing/2014/main" val="3280757144"/>
                  </a:ext>
                </a:extLst>
              </a:tr>
            </a:tbl>
          </a:graphicData>
        </a:graphic>
      </p:graphicFrame>
      <p:sp>
        <p:nvSpPr>
          <p:cNvPr id="19" name="Text Placeholder 2">
            <a:extLst>
              <a:ext uri="{FF2B5EF4-FFF2-40B4-BE49-F238E27FC236}">
                <a16:creationId xmlns:a16="http://schemas.microsoft.com/office/drawing/2014/main" id="{562B5759-4E64-401C-8172-0689339C0786}"/>
              </a:ext>
            </a:extLst>
          </p:cNvPr>
          <p:cNvSpPr txBox="1">
            <a:spLocks/>
          </p:cNvSpPr>
          <p:nvPr/>
        </p:nvSpPr>
        <p:spPr>
          <a:xfrm>
            <a:off x="416590" y="728979"/>
            <a:ext cx="1120266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sz="1800" dirty="0"/>
              <a:t>Obligated entities in Karnataka would have to increase their RE procurement in order to meet the growing RPO targets</a:t>
            </a:r>
            <a:endParaRPr lang="en-IN" sz="1800" dirty="0"/>
          </a:p>
        </p:txBody>
      </p:sp>
    </p:spTree>
    <p:extLst>
      <p:ext uri="{BB962C8B-B14F-4D97-AF65-F5344CB8AC3E}">
        <p14:creationId xmlns:p14="http://schemas.microsoft.com/office/powerpoint/2010/main" val="8712484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a:extLst>
              <a:ext uri="{FF2B5EF4-FFF2-40B4-BE49-F238E27FC236}">
                <a16:creationId xmlns:a16="http://schemas.microsoft.com/office/drawing/2014/main" id="{AAAB623D-F8A0-4975-B321-D03B090627BE}"/>
              </a:ext>
            </a:extLst>
          </p:cNvPr>
          <p:cNvSpPr>
            <a:spLocks noGrp="1"/>
          </p:cNvSpPr>
          <p:nvPr>
            <p:ph type="title"/>
          </p:nvPr>
        </p:nvSpPr>
        <p:spPr>
          <a:xfrm>
            <a:off x="359609" y="264235"/>
            <a:ext cx="11832391" cy="300270"/>
          </a:xfrm>
        </p:spPr>
        <p:txBody>
          <a:bodyPr/>
          <a:lstStyle/>
          <a:p>
            <a:r>
              <a:rPr lang="en-US" dirty="0"/>
              <a:t>Industry category wise captive installed capacity, RE share &amp; energy consumption (FY19)</a:t>
            </a:r>
            <a:endParaRPr lang="en-IN" dirty="0"/>
          </a:p>
        </p:txBody>
      </p:sp>
      <p:graphicFrame>
        <p:nvGraphicFramePr>
          <p:cNvPr id="6" name="Table 7">
            <a:extLst>
              <a:ext uri="{FF2B5EF4-FFF2-40B4-BE49-F238E27FC236}">
                <a16:creationId xmlns:a16="http://schemas.microsoft.com/office/drawing/2014/main" id="{CC81C017-BF58-4647-96CC-0BD2EC8DFE66}"/>
              </a:ext>
            </a:extLst>
          </p:cNvPr>
          <p:cNvGraphicFramePr>
            <a:graphicFrameLocks noGrp="1"/>
          </p:cNvGraphicFramePr>
          <p:nvPr>
            <p:extLst>
              <p:ext uri="{D42A27DB-BD31-4B8C-83A1-F6EECF244321}">
                <p14:modId xmlns:p14="http://schemas.microsoft.com/office/powerpoint/2010/main" val="1127187439"/>
              </p:ext>
            </p:extLst>
          </p:nvPr>
        </p:nvGraphicFramePr>
        <p:xfrm>
          <a:off x="359609" y="1303362"/>
          <a:ext cx="8093275" cy="5194805"/>
        </p:xfrm>
        <a:graphic>
          <a:graphicData uri="http://schemas.openxmlformats.org/drawingml/2006/table">
            <a:tbl>
              <a:tblPr firstRow="1" bandRow="1">
                <a:tableStyleId>{69012ECD-51FC-41F1-AA8D-1B2483CD663E}</a:tableStyleId>
              </a:tblPr>
              <a:tblGrid>
                <a:gridCol w="401742">
                  <a:extLst>
                    <a:ext uri="{9D8B030D-6E8A-4147-A177-3AD203B41FA5}">
                      <a16:colId xmlns:a16="http://schemas.microsoft.com/office/drawing/2014/main" val="1816698151"/>
                    </a:ext>
                  </a:extLst>
                </a:gridCol>
                <a:gridCol w="1609709">
                  <a:extLst>
                    <a:ext uri="{9D8B030D-6E8A-4147-A177-3AD203B41FA5}">
                      <a16:colId xmlns:a16="http://schemas.microsoft.com/office/drawing/2014/main" val="774441528"/>
                    </a:ext>
                  </a:extLst>
                </a:gridCol>
                <a:gridCol w="829340">
                  <a:extLst>
                    <a:ext uri="{9D8B030D-6E8A-4147-A177-3AD203B41FA5}">
                      <a16:colId xmlns:a16="http://schemas.microsoft.com/office/drawing/2014/main" val="808319263"/>
                    </a:ext>
                  </a:extLst>
                </a:gridCol>
                <a:gridCol w="786809">
                  <a:extLst>
                    <a:ext uri="{9D8B030D-6E8A-4147-A177-3AD203B41FA5}">
                      <a16:colId xmlns:a16="http://schemas.microsoft.com/office/drawing/2014/main" val="2270571327"/>
                    </a:ext>
                  </a:extLst>
                </a:gridCol>
                <a:gridCol w="2227781">
                  <a:extLst>
                    <a:ext uri="{9D8B030D-6E8A-4147-A177-3AD203B41FA5}">
                      <a16:colId xmlns:a16="http://schemas.microsoft.com/office/drawing/2014/main" val="1392500486"/>
                    </a:ext>
                  </a:extLst>
                </a:gridCol>
                <a:gridCol w="1138717">
                  <a:extLst>
                    <a:ext uri="{9D8B030D-6E8A-4147-A177-3AD203B41FA5}">
                      <a16:colId xmlns:a16="http://schemas.microsoft.com/office/drawing/2014/main" val="2042966635"/>
                    </a:ext>
                  </a:extLst>
                </a:gridCol>
                <a:gridCol w="1099177">
                  <a:extLst>
                    <a:ext uri="{9D8B030D-6E8A-4147-A177-3AD203B41FA5}">
                      <a16:colId xmlns:a16="http://schemas.microsoft.com/office/drawing/2014/main" val="28411845"/>
                    </a:ext>
                  </a:extLst>
                </a:gridCol>
              </a:tblGrid>
              <a:tr h="598857">
                <a:tc>
                  <a:txBody>
                    <a:bodyPr/>
                    <a:lstStyle/>
                    <a:p>
                      <a:pPr algn="ctr" rtl="0" fontAlgn="ctr"/>
                      <a:r>
                        <a:rPr lang="en-IN" sz="1000" u="none" strike="noStrike" dirty="0">
                          <a:effectLst/>
                        </a:rPr>
                        <a:t>S. No.</a:t>
                      </a:r>
                      <a:endParaRPr lang="en-IN" sz="1000" b="1" i="0" u="none" strike="noStrike" dirty="0">
                        <a:solidFill>
                          <a:srgbClr val="FFFFFF"/>
                        </a:solidFill>
                        <a:effectLst/>
                        <a:latin typeface="Verdana" panose="020B0604030504040204" pitchFamily="34" charset="0"/>
                      </a:endParaRPr>
                    </a:p>
                  </a:txBody>
                  <a:tcPr marL="21600" marR="21600" marT="21600" marB="21600"/>
                </a:tc>
                <a:tc>
                  <a:txBody>
                    <a:bodyPr/>
                    <a:lstStyle/>
                    <a:p>
                      <a:pPr algn="ctr" rtl="0" fontAlgn="ctr"/>
                      <a:r>
                        <a:rPr lang="en-IN" sz="1000" u="none" strike="noStrike" dirty="0">
                          <a:effectLst/>
                        </a:rPr>
                        <a:t>Industry Type</a:t>
                      </a:r>
                      <a:endParaRPr lang="en-IN" sz="1000" b="1" i="0" u="none" strike="noStrike" dirty="0">
                        <a:solidFill>
                          <a:srgbClr val="FFFFFF"/>
                        </a:solidFill>
                        <a:effectLst/>
                        <a:latin typeface="Verdana" panose="020B0604030504040204" pitchFamily="34" charset="0"/>
                      </a:endParaRPr>
                    </a:p>
                  </a:txBody>
                  <a:tcPr marL="21600" marR="21600" marT="21600" marB="21600"/>
                </a:tc>
                <a:tc>
                  <a:txBody>
                    <a:bodyPr/>
                    <a:lstStyle/>
                    <a:p>
                      <a:pPr algn="ctr" rtl="0" fontAlgn="ctr"/>
                      <a:r>
                        <a:rPr lang="en-IN" sz="1000" u="none" strike="noStrike" dirty="0">
                          <a:effectLst/>
                        </a:rPr>
                        <a:t>No. of Industries</a:t>
                      </a:r>
                      <a:endParaRPr lang="en-IN" sz="1000" b="1" i="0" u="none" strike="noStrike" dirty="0">
                        <a:solidFill>
                          <a:srgbClr val="FFFFFF"/>
                        </a:solidFill>
                        <a:effectLst/>
                        <a:latin typeface="Verdana" panose="020B0604030504040204" pitchFamily="34" charset="0"/>
                      </a:endParaRPr>
                    </a:p>
                  </a:txBody>
                  <a:tcPr marL="21600" marR="21600" marT="21600" marB="21600"/>
                </a:tc>
                <a:tc>
                  <a:txBody>
                    <a:bodyPr/>
                    <a:lstStyle/>
                    <a:p>
                      <a:pPr algn="ctr" rtl="0" fontAlgn="ctr"/>
                      <a:r>
                        <a:rPr lang="en-IN" sz="1000" u="none" strike="noStrike" dirty="0">
                          <a:effectLst/>
                        </a:rPr>
                        <a:t>Installed Capacity</a:t>
                      </a:r>
                    </a:p>
                    <a:p>
                      <a:pPr algn="ctr" rtl="0" fontAlgn="ctr"/>
                      <a:r>
                        <a:rPr lang="en-IN" sz="1000" u="none" strike="noStrike" dirty="0">
                          <a:effectLst/>
                        </a:rPr>
                        <a:t>(MW)</a:t>
                      </a:r>
                      <a:endParaRPr lang="en-IN" sz="1000" b="1" i="0" u="none" strike="noStrike" dirty="0">
                        <a:solidFill>
                          <a:srgbClr val="FFFFFF"/>
                        </a:solidFill>
                        <a:effectLst/>
                        <a:latin typeface="Verdana" panose="020B0604030504040204" pitchFamily="34" charset="0"/>
                      </a:endParaRPr>
                    </a:p>
                  </a:txBody>
                  <a:tcPr marL="21600" marR="21600" marT="21600" marB="21600"/>
                </a:tc>
                <a:tc>
                  <a:txBody>
                    <a:bodyPr/>
                    <a:lstStyle/>
                    <a:p>
                      <a:pPr algn="ctr" rtl="0" fontAlgn="ctr"/>
                      <a:r>
                        <a:rPr lang="en-US" sz="1000" u="none" strike="noStrike" dirty="0">
                          <a:effectLst/>
                        </a:rPr>
                        <a:t>RE (Solar, Wind &amp; Hydro) capacity as % of Total Capacity (respective industry)</a:t>
                      </a:r>
                      <a:endParaRPr lang="en-US" sz="1000" b="1" i="0" u="none" strike="noStrike" dirty="0">
                        <a:solidFill>
                          <a:srgbClr val="FFFFFF"/>
                        </a:solidFill>
                        <a:effectLst/>
                        <a:latin typeface="Verdana" panose="020B0604030504040204" pitchFamily="34" charset="0"/>
                      </a:endParaRPr>
                    </a:p>
                  </a:txBody>
                  <a:tcPr marL="21600" marR="21600" marT="21600" marB="21600"/>
                </a:tc>
                <a:tc>
                  <a:txBody>
                    <a:bodyPr/>
                    <a:lstStyle/>
                    <a:p>
                      <a:pPr algn="ctr" rtl="0" fontAlgn="ctr"/>
                      <a:r>
                        <a:rPr lang="en-IN" sz="1000" u="none" strike="noStrike" dirty="0">
                          <a:effectLst/>
                        </a:rPr>
                        <a:t>Total Energy Consumption (MUs)</a:t>
                      </a:r>
                      <a:endParaRPr lang="en-IN" sz="1000" b="1" i="0" u="none" strike="noStrike" dirty="0">
                        <a:solidFill>
                          <a:srgbClr val="FFFFFF"/>
                        </a:solidFill>
                        <a:effectLst/>
                        <a:latin typeface="Verdana" panose="020B0604030504040204" pitchFamily="34" charset="0"/>
                      </a:endParaRPr>
                    </a:p>
                  </a:txBody>
                  <a:tcPr marL="21600" marR="21600" marT="21600" marB="21600"/>
                </a:tc>
                <a:tc>
                  <a:txBody>
                    <a:bodyPr/>
                    <a:lstStyle/>
                    <a:p>
                      <a:pPr algn="ctr" rtl="0" fontAlgn="ctr"/>
                      <a:r>
                        <a:rPr lang="en-IN" sz="1000" u="none" strike="noStrike" dirty="0">
                          <a:effectLst/>
                        </a:rPr>
                        <a:t>% of Consumption from Captive</a:t>
                      </a:r>
                      <a:endParaRPr lang="en-IN" sz="1000" b="1" i="0" u="none" strike="noStrike" dirty="0">
                        <a:solidFill>
                          <a:srgbClr val="FFFFFF"/>
                        </a:solidFill>
                        <a:effectLst/>
                        <a:latin typeface="Verdana" panose="020B0604030504040204" pitchFamily="34" charset="0"/>
                      </a:endParaRPr>
                    </a:p>
                  </a:txBody>
                  <a:tcPr marL="21600" marR="21600" marT="21600" marB="21600"/>
                </a:tc>
                <a:extLst>
                  <a:ext uri="{0D108BD9-81ED-4DB2-BD59-A6C34878D82A}">
                    <a16:rowId xmlns:a16="http://schemas.microsoft.com/office/drawing/2014/main" val="3415060310"/>
                  </a:ext>
                </a:extLst>
              </a:tr>
              <a:tr h="227392">
                <a:tc>
                  <a:txBody>
                    <a:bodyPr/>
                    <a:lstStyle/>
                    <a:p>
                      <a:pPr algn="ctr" rtl="0" fontAlgn="ctr"/>
                      <a:r>
                        <a:rPr lang="en-IN" sz="1000" u="none" strike="noStrike" dirty="0">
                          <a:effectLst/>
                        </a:rPr>
                        <a:t>1</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l" rtl="0" fontAlgn="ctr"/>
                      <a:r>
                        <a:rPr lang="en-IN" sz="1000" u="none" strike="noStrike" dirty="0">
                          <a:effectLst/>
                        </a:rPr>
                        <a:t>Iron &amp; Steel</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39</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1289.95</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0.0%</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7018.70</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95.95%</a:t>
                      </a:r>
                    </a:p>
                  </a:txBody>
                  <a:tcPr marL="7620" marR="7620" marT="7620" marB="0" anchor="ctr">
                    <a:solidFill>
                      <a:srgbClr val="86BC25">
                        <a:alpha val="30196"/>
                      </a:srgbClr>
                    </a:solidFill>
                  </a:tcPr>
                </a:tc>
                <a:extLst>
                  <a:ext uri="{0D108BD9-81ED-4DB2-BD59-A6C34878D82A}">
                    <a16:rowId xmlns:a16="http://schemas.microsoft.com/office/drawing/2014/main" val="1400417218"/>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2</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l" rtl="0" fontAlgn="ctr"/>
                      <a:r>
                        <a:rPr lang="en-IN" sz="1000" u="none" strike="noStrike" dirty="0">
                          <a:effectLst/>
                        </a:rPr>
                        <a:t>Miscellaneous</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ctr" rtl="0" fontAlgn="t"/>
                      <a:r>
                        <a:rPr lang="en-IN" sz="1000" u="none" strike="noStrike" dirty="0">
                          <a:effectLst/>
                        </a:rPr>
                        <a:t>351</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1445.87</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5.78%</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3205.08</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8.75%</a:t>
                      </a:r>
                    </a:p>
                  </a:txBody>
                  <a:tcPr marL="7620" marR="7620" marT="7620" marB="0" anchor="ctr">
                    <a:solidFill>
                      <a:srgbClr val="86BC25">
                        <a:alpha val="30196"/>
                      </a:srgbClr>
                    </a:solidFill>
                  </a:tcPr>
                </a:tc>
                <a:extLst>
                  <a:ext uri="{0D108BD9-81ED-4DB2-BD59-A6C34878D82A}">
                    <a16:rowId xmlns:a16="http://schemas.microsoft.com/office/drawing/2014/main" val="2211193192"/>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3</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l" rtl="0" fontAlgn="ctr"/>
                      <a:r>
                        <a:rPr lang="en-IN" sz="1000" u="none" strike="noStrike" dirty="0">
                          <a:effectLst/>
                        </a:rPr>
                        <a:t>Cement</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22</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729.19</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0.84%</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u="none" strike="noStrike" dirty="0">
                          <a:effectLst/>
                        </a:rPr>
                        <a:t>2703.53</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90.62%</a:t>
                      </a:r>
                    </a:p>
                  </a:txBody>
                  <a:tcPr marL="7620" marR="7620" marT="7620" marB="0" anchor="ctr">
                    <a:solidFill>
                      <a:srgbClr val="86BC25">
                        <a:alpha val="30196"/>
                      </a:srgbClr>
                    </a:solidFill>
                  </a:tcPr>
                </a:tc>
                <a:extLst>
                  <a:ext uri="{0D108BD9-81ED-4DB2-BD59-A6C34878D82A}">
                    <a16:rowId xmlns:a16="http://schemas.microsoft.com/office/drawing/2014/main" val="1351227602"/>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4</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Sugar</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93</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1359.64</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IN" sz="1000" u="none" strike="noStrike" dirty="0">
                          <a:effectLst/>
                        </a:rPr>
                        <a:t>0.0%</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1457.53</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87.27%</a:t>
                      </a:r>
                    </a:p>
                  </a:txBody>
                  <a:tcPr marL="7620" marR="7620" marT="7620" marB="0" anchor="ctr">
                    <a:solidFill>
                      <a:srgbClr val="86BC25">
                        <a:alpha val="10196"/>
                      </a:srgbClr>
                    </a:solidFill>
                  </a:tcPr>
                </a:tc>
                <a:extLst>
                  <a:ext uri="{0D108BD9-81ED-4DB2-BD59-A6C34878D82A}">
                    <a16:rowId xmlns:a16="http://schemas.microsoft.com/office/drawing/2014/main" val="1739624730"/>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5</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Mineral Oil &amp; Petroleum</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8</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263.37</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0.0%</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1355.19</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97.19%</a:t>
                      </a:r>
                    </a:p>
                  </a:txBody>
                  <a:tcPr marL="7620" marR="7620" marT="7620" marB="0" anchor="ctr">
                    <a:solidFill>
                      <a:srgbClr val="86BC25">
                        <a:alpha val="10196"/>
                      </a:srgbClr>
                    </a:solidFill>
                  </a:tcPr>
                </a:tc>
                <a:extLst>
                  <a:ext uri="{0D108BD9-81ED-4DB2-BD59-A6C34878D82A}">
                    <a16:rowId xmlns:a16="http://schemas.microsoft.com/office/drawing/2014/main" val="2220755197"/>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6</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Chemical</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US" sz="1000" b="0" i="0" u="none" strike="noStrike" dirty="0">
                          <a:solidFill>
                            <a:srgbClr val="000000"/>
                          </a:solidFill>
                          <a:effectLst/>
                          <a:latin typeface="Verdana" panose="020B0604030504040204" pitchFamily="34" charset="0"/>
                        </a:rPr>
                        <a:t>2</a:t>
                      </a:r>
                      <a:r>
                        <a:rPr lang="en-IN" sz="1000" b="0" i="0" u="none" strike="noStrike" dirty="0">
                          <a:solidFill>
                            <a:srgbClr val="000000"/>
                          </a:solidFill>
                          <a:effectLst/>
                          <a:latin typeface="Verdana" panose="020B0604030504040204" pitchFamily="34" charset="0"/>
                        </a:rPr>
                        <a:t>8</a:t>
                      </a:r>
                    </a:p>
                  </a:txBody>
                  <a:tcPr marL="0" marR="0" marT="0" marB="0" anchor="ctr">
                    <a:solidFill>
                      <a:srgbClr val="86BC25">
                        <a:alpha val="10196"/>
                      </a:srgbClr>
                    </a:solidFill>
                  </a:tcPr>
                </a:tc>
                <a:tc>
                  <a:txBody>
                    <a:bodyPr/>
                    <a:lstStyle/>
                    <a:p>
                      <a:pPr algn="ctr" rtl="0" fontAlgn="t"/>
                      <a:r>
                        <a:rPr lang="en-IN" sz="1000" u="none" strike="noStrike" dirty="0">
                          <a:effectLst/>
                        </a:rPr>
                        <a:t>223.3</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0.28%</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US" sz="1000" b="0" i="0" u="none" strike="noStrike" dirty="0">
                          <a:solidFill>
                            <a:srgbClr val="000000"/>
                          </a:solidFill>
                          <a:effectLst/>
                          <a:latin typeface="Verdana" panose="020B0604030504040204" pitchFamily="34" charset="0"/>
                        </a:rPr>
                        <a:t>1</a:t>
                      </a:r>
                      <a:r>
                        <a:rPr lang="en-IN" sz="1000" b="0" i="0" u="none" strike="noStrike" dirty="0">
                          <a:solidFill>
                            <a:srgbClr val="000000"/>
                          </a:solidFill>
                          <a:effectLst/>
                          <a:latin typeface="Verdana" panose="020B0604030504040204" pitchFamily="34" charset="0"/>
                        </a:rPr>
                        <a:t>297.10</a:t>
                      </a:r>
                    </a:p>
                  </a:txBody>
                  <a:tcPr marL="0" marR="0" marT="0" marB="0" anchor="ctr">
                    <a:solidFill>
                      <a:srgbClr val="86BC25">
                        <a:alpha val="10196"/>
                      </a:srgbClr>
                    </a:solidFill>
                  </a:tcP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38.79%</a:t>
                      </a:r>
                    </a:p>
                  </a:txBody>
                  <a:tcPr marL="7620" marR="7620" marT="7620" marB="0" anchor="ctr">
                    <a:solidFill>
                      <a:srgbClr val="86BC25">
                        <a:alpha val="10196"/>
                      </a:srgbClr>
                    </a:solidFill>
                  </a:tcPr>
                </a:tc>
                <a:extLst>
                  <a:ext uri="{0D108BD9-81ED-4DB2-BD59-A6C34878D82A}">
                    <a16:rowId xmlns:a16="http://schemas.microsoft.com/office/drawing/2014/main" val="447970387"/>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7</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Light Engineering</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56</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225.82</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9.49%</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u="none" strike="noStrike" dirty="0">
                          <a:effectLst/>
                        </a:rPr>
                        <a:t>618.62</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29.34%</a:t>
                      </a:r>
                    </a:p>
                  </a:txBody>
                  <a:tcPr marL="7620" marR="7620" marT="7620" marB="0" anchor="ctr">
                    <a:solidFill>
                      <a:srgbClr val="86BC25">
                        <a:alpha val="10196"/>
                      </a:srgbClr>
                    </a:solidFill>
                  </a:tcPr>
                </a:tc>
                <a:extLst>
                  <a:ext uri="{0D108BD9-81ED-4DB2-BD59-A6C34878D82A}">
                    <a16:rowId xmlns:a16="http://schemas.microsoft.com/office/drawing/2014/main" val="1022574290"/>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8</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Textile</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28</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66.72</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13.49%</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145.38</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5.78%</a:t>
                      </a:r>
                    </a:p>
                  </a:txBody>
                  <a:tcPr marL="7620" marR="7620" marT="7620" marB="0" anchor="ctr"/>
                </a:tc>
                <a:extLst>
                  <a:ext uri="{0D108BD9-81ED-4DB2-BD59-A6C34878D82A}">
                    <a16:rowId xmlns:a16="http://schemas.microsoft.com/office/drawing/2014/main" val="959579490"/>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9</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Paper</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8</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137.64</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0.0%</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462.67</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84.15%</a:t>
                      </a:r>
                    </a:p>
                  </a:txBody>
                  <a:tcPr marL="7620" marR="7620" marT="7620" marB="0" anchor="ctr"/>
                </a:tc>
                <a:extLst>
                  <a:ext uri="{0D108BD9-81ED-4DB2-BD59-A6C34878D82A}">
                    <a16:rowId xmlns:a16="http://schemas.microsoft.com/office/drawing/2014/main" val="4085901899"/>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10</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US" sz="1000" b="0" i="0" u="none" strike="noStrike" dirty="0">
                          <a:solidFill>
                            <a:schemeClr val="tx1"/>
                          </a:solidFill>
                          <a:effectLst/>
                          <a:latin typeface="Verdana" panose="020B0604030504040204" pitchFamily="34" charset="0"/>
                        </a:rPr>
                        <a:t>J</a:t>
                      </a:r>
                      <a:r>
                        <a:rPr lang="en-IN" sz="1000" b="0" i="0" u="none" strike="noStrike" dirty="0">
                          <a:solidFill>
                            <a:schemeClr val="tx1"/>
                          </a:solidFill>
                          <a:effectLst/>
                          <a:latin typeface="Verdana" panose="020B0604030504040204" pitchFamily="34" charset="0"/>
                        </a:rPr>
                        <a:t>ute</a:t>
                      </a:r>
                    </a:p>
                  </a:txBody>
                  <a:tcPr marL="0" marR="0" marT="0" marB="0" anchor="ctr"/>
                </a:tc>
                <a:tc>
                  <a:txBody>
                    <a:bodyPr/>
                    <a:lstStyle/>
                    <a:p>
                      <a:pPr algn="ctr" rtl="0" fontAlgn="t"/>
                      <a:r>
                        <a:rPr lang="en-IN" sz="1000" u="none" strike="noStrike" dirty="0">
                          <a:solidFill>
                            <a:schemeClr val="tx1"/>
                          </a:solidFill>
                          <a:effectLst/>
                        </a:rPr>
                        <a:t>3</a:t>
                      </a:r>
                      <a:endParaRPr lang="en-IN" sz="1000" b="0" i="0" u="none" strike="noStrike" dirty="0">
                        <a:solidFill>
                          <a:schemeClr val="tx1"/>
                        </a:solidFill>
                        <a:effectLst/>
                        <a:latin typeface="Verdana" panose="020B0604030504040204" pitchFamily="34" charset="0"/>
                      </a:endParaRPr>
                    </a:p>
                  </a:txBody>
                  <a:tcPr marL="0" marR="0" marT="0" marB="0" anchor="ctr"/>
                </a:tc>
                <a:tc>
                  <a:txBody>
                    <a:bodyPr/>
                    <a:lstStyle/>
                    <a:p>
                      <a:pPr algn="ctr" rtl="0" fontAlgn="t"/>
                      <a:r>
                        <a:rPr lang="en-IN" sz="1000" u="none" strike="noStrike" dirty="0">
                          <a:solidFill>
                            <a:schemeClr val="tx1"/>
                          </a:solidFill>
                          <a:effectLst/>
                        </a:rPr>
                        <a:t>8</a:t>
                      </a:r>
                      <a:endParaRPr lang="en-IN" sz="1000" b="0" i="0" u="none" strike="noStrike" dirty="0">
                        <a:solidFill>
                          <a:schemeClr val="tx1"/>
                        </a:solidFill>
                        <a:effectLst/>
                        <a:latin typeface="Verdana" panose="020B0604030504040204" pitchFamily="34" charset="0"/>
                      </a:endParaRPr>
                    </a:p>
                  </a:txBody>
                  <a:tcPr marL="0" marR="0" marT="0" marB="0" anchor="ctr"/>
                </a:tc>
                <a:tc>
                  <a:txBody>
                    <a:bodyPr/>
                    <a:lstStyle/>
                    <a:p>
                      <a:pPr algn="ctr" rtl="0" fontAlgn="t"/>
                      <a:r>
                        <a:rPr lang="en-IN" sz="1000" u="none" strike="noStrike" dirty="0">
                          <a:solidFill>
                            <a:schemeClr val="tx1"/>
                          </a:solidFill>
                          <a:effectLst/>
                        </a:rPr>
                        <a:t>7.50%</a:t>
                      </a:r>
                      <a:endParaRPr lang="en-IN" sz="1000" b="0" i="0" u="none" strike="noStrike" dirty="0">
                        <a:solidFill>
                          <a:schemeClr val="tx1"/>
                        </a:solidFill>
                        <a:effectLst/>
                        <a:latin typeface="Verdana" panose="020B0604030504040204" pitchFamily="34" charset="0"/>
                      </a:endParaRPr>
                    </a:p>
                  </a:txBody>
                  <a:tcPr marL="0" marR="0" marT="0" marB="0" anchor="ctr"/>
                </a:tc>
                <a:tc>
                  <a:txBody>
                    <a:bodyPr/>
                    <a:lstStyle/>
                    <a:p>
                      <a:pPr algn="ctr" rtl="0" fontAlgn="t"/>
                      <a:r>
                        <a:rPr lang="en-IN" sz="1000" u="none" strike="noStrike" dirty="0">
                          <a:solidFill>
                            <a:schemeClr val="tx1"/>
                          </a:solidFill>
                          <a:effectLst/>
                        </a:rPr>
                        <a:t>34.75</a:t>
                      </a:r>
                      <a:endParaRPr lang="en-IN" sz="1000" b="0" i="0" u="none" strike="noStrike" dirty="0">
                        <a:solidFill>
                          <a:schemeClr val="tx1"/>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76.40%</a:t>
                      </a:r>
                    </a:p>
                  </a:txBody>
                  <a:tcPr marL="7620" marR="7620" marT="7620" marB="0" anchor="ctr"/>
                </a:tc>
                <a:extLst>
                  <a:ext uri="{0D108BD9-81ED-4DB2-BD59-A6C34878D82A}">
                    <a16:rowId xmlns:a16="http://schemas.microsoft.com/office/drawing/2014/main" val="921869885"/>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11</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Rubber</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9</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36.41</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0.0%</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144.10</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0.65%</a:t>
                      </a:r>
                    </a:p>
                  </a:txBody>
                  <a:tcPr marL="7620" marR="7620" marT="7620" marB="0" anchor="ctr"/>
                </a:tc>
                <a:extLst>
                  <a:ext uri="{0D108BD9-81ED-4DB2-BD59-A6C34878D82A}">
                    <a16:rowId xmlns:a16="http://schemas.microsoft.com/office/drawing/2014/main" val="2734774769"/>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12</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US" sz="1000" b="0" i="0" u="none" strike="noStrike" dirty="0">
                          <a:solidFill>
                            <a:srgbClr val="000000"/>
                          </a:solidFill>
                          <a:effectLst/>
                          <a:latin typeface="Verdana" panose="020B0604030504040204" pitchFamily="34" charset="0"/>
                        </a:rPr>
                        <a:t>Colleries</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US" sz="1000" b="0" i="0" u="none" strike="noStrike" dirty="0">
                          <a:solidFill>
                            <a:srgbClr val="000000"/>
                          </a:solidFill>
                          <a:effectLst/>
                          <a:latin typeface="Verdana" panose="020B0604030504040204" pitchFamily="34" charset="0"/>
                        </a:rPr>
                        <a:t>1</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US" sz="1000" b="0" i="0" u="none" strike="noStrike" dirty="0">
                          <a:solidFill>
                            <a:srgbClr val="000000"/>
                          </a:solidFill>
                          <a:effectLst/>
                          <a:latin typeface="Verdana" panose="020B0604030504040204" pitchFamily="34" charset="0"/>
                        </a:rPr>
                        <a:t>0.25</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IN" sz="1000" u="none" strike="noStrike" dirty="0">
                          <a:effectLst/>
                        </a:rPr>
                        <a:t>0.0%</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US" sz="1000" b="0" i="0" u="none" strike="noStrike" dirty="0">
                          <a:solidFill>
                            <a:srgbClr val="000000"/>
                          </a:solidFill>
                          <a:effectLst/>
                          <a:latin typeface="Verdana" panose="020B0604030504040204" pitchFamily="34" charset="0"/>
                        </a:rPr>
                        <a:t>0.07</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100.00%</a:t>
                      </a:r>
                    </a:p>
                  </a:txBody>
                  <a:tcPr marL="7620" marR="7620" marT="7620" marB="0" anchor="ctr"/>
                </a:tc>
                <a:extLst>
                  <a:ext uri="{0D108BD9-81ED-4DB2-BD59-A6C34878D82A}">
                    <a16:rowId xmlns:a16="http://schemas.microsoft.com/office/drawing/2014/main" val="2607777643"/>
                  </a:ext>
                </a:extLst>
              </a:tr>
              <a:tr h="227392">
                <a:tc>
                  <a:txBody>
                    <a:bodyPr/>
                    <a:lstStyle/>
                    <a:p>
                      <a:pPr algn="ctr" rtl="0" fontAlgn="ctr"/>
                      <a:r>
                        <a:rPr lang="en-US" sz="1000" b="0" i="0" u="none" strike="noStrike" dirty="0">
                          <a:solidFill>
                            <a:srgbClr val="000000"/>
                          </a:solidFill>
                          <a:effectLst/>
                          <a:latin typeface="Verdana" panose="020B0604030504040204" pitchFamily="34" charset="0"/>
                        </a:rPr>
                        <a:t>13</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Automobile</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9</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41.62</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20.18%</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142.43</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6.99%</a:t>
                      </a:r>
                    </a:p>
                  </a:txBody>
                  <a:tcPr marL="7620" marR="7620" marT="7620" marB="0" anchor="ctr"/>
                </a:tc>
                <a:extLst>
                  <a:ext uri="{0D108BD9-81ED-4DB2-BD59-A6C34878D82A}">
                    <a16:rowId xmlns:a16="http://schemas.microsoft.com/office/drawing/2014/main" val="4294764982"/>
                  </a:ext>
                </a:extLst>
              </a:tr>
              <a:tr h="227392">
                <a:tc>
                  <a:txBody>
                    <a:bodyPr/>
                    <a:lstStyle/>
                    <a:p>
                      <a:pPr algn="ctr" rtl="0" fontAlgn="ctr"/>
                      <a:r>
                        <a:rPr lang="en-IN" sz="1000" u="none" strike="noStrike" dirty="0">
                          <a:effectLst/>
                        </a:rPr>
                        <a:t>14</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Electrical Engineering</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9</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40.63</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37.37%</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57.05</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47.50%</a:t>
                      </a:r>
                    </a:p>
                  </a:txBody>
                  <a:tcPr marL="7620" marR="7620" marT="7620" marB="0" anchor="ctr"/>
                </a:tc>
                <a:extLst>
                  <a:ext uri="{0D108BD9-81ED-4DB2-BD59-A6C34878D82A}">
                    <a16:rowId xmlns:a16="http://schemas.microsoft.com/office/drawing/2014/main" val="3097402099"/>
                  </a:ext>
                </a:extLst>
              </a:tr>
              <a:tr h="227392">
                <a:tc>
                  <a:txBody>
                    <a:bodyPr/>
                    <a:lstStyle/>
                    <a:p>
                      <a:pPr algn="ctr" rtl="0" fontAlgn="ctr"/>
                      <a:r>
                        <a:rPr lang="en-IN" sz="1000" u="none" strike="noStrike" dirty="0">
                          <a:effectLst/>
                        </a:rPr>
                        <a:t>15</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US" sz="1000" b="0" i="0" u="none" strike="noStrike" dirty="0">
                          <a:solidFill>
                            <a:schemeClr val="tx1"/>
                          </a:solidFill>
                          <a:effectLst/>
                          <a:latin typeface="Verdana" panose="020B0604030504040204" pitchFamily="34" charset="0"/>
                        </a:rPr>
                        <a:t>M</a:t>
                      </a:r>
                      <a:r>
                        <a:rPr lang="en-IN" sz="1000" b="0" i="0" u="none" strike="noStrike" dirty="0">
                          <a:solidFill>
                            <a:schemeClr val="tx1"/>
                          </a:solidFill>
                          <a:effectLst/>
                          <a:latin typeface="Verdana" panose="020B0604030504040204" pitchFamily="34" charset="0"/>
                        </a:rPr>
                        <a:t>ining &amp; Quarrying</a:t>
                      </a:r>
                    </a:p>
                  </a:txBody>
                  <a:tcPr marL="0" marR="0" marT="0" marB="0" anchor="ctr"/>
                </a:tc>
                <a:tc>
                  <a:txBody>
                    <a:bodyPr/>
                    <a:lstStyle/>
                    <a:p>
                      <a:pPr algn="ctr" rtl="0" fontAlgn="t"/>
                      <a:r>
                        <a:rPr lang="en-IN" sz="1000" u="none" strike="noStrike" dirty="0">
                          <a:solidFill>
                            <a:schemeClr val="tx1"/>
                          </a:solidFill>
                          <a:effectLst/>
                        </a:rPr>
                        <a:t>7</a:t>
                      </a:r>
                      <a:endParaRPr lang="en-IN" sz="1000" b="0" i="0" u="none" strike="noStrike" dirty="0">
                        <a:solidFill>
                          <a:schemeClr val="tx1"/>
                        </a:solidFill>
                        <a:effectLst/>
                        <a:latin typeface="Verdana" panose="020B0604030504040204" pitchFamily="34" charset="0"/>
                      </a:endParaRPr>
                    </a:p>
                  </a:txBody>
                  <a:tcPr marL="0" marR="0" marT="0" marB="0" anchor="ctr"/>
                </a:tc>
                <a:tc>
                  <a:txBody>
                    <a:bodyPr/>
                    <a:lstStyle/>
                    <a:p>
                      <a:pPr algn="ctr" rtl="0" fontAlgn="t"/>
                      <a:r>
                        <a:rPr lang="en-IN" sz="1000" u="none" strike="noStrike" dirty="0">
                          <a:solidFill>
                            <a:schemeClr val="tx1"/>
                          </a:solidFill>
                          <a:effectLst/>
                        </a:rPr>
                        <a:t>46.48</a:t>
                      </a:r>
                      <a:endParaRPr lang="en-IN" sz="1000" b="0" i="0" u="none" strike="noStrike" dirty="0">
                        <a:solidFill>
                          <a:schemeClr val="tx1"/>
                        </a:solidFill>
                        <a:effectLst/>
                        <a:latin typeface="Verdana" panose="020B0604030504040204" pitchFamily="34" charset="0"/>
                      </a:endParaRPr>
                    </a:p>
                  </a:txBody>
                  <a:tcPr marL="0" marR="0" marT="0" marB="0"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IN" sz="1000" u="none" strike="noStrike" dirty="0">
                          <a:effectLst/>
                        </a:rPr>
                        <a:t>0.0%</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solidFill>
                            <a:schemeClr val="tx1"/>
                          </a:solidFill>
                          <a:effectLst/>
                        </a:rPr>
                        <a:t>328.93</a:t>
                      </a:r>
                      <a:endParaRPr lang="en-IN" sz="1000" b="0" i="0" u="none" strike="noStrike" dirty="0">
                        <a:solidFill>
                          <a:schemeClr val="tx1"/>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19.00%</a:t>
                      </a:r>
                    </a:p>
                  </a:txBody>
                  <a:tcPr marL="7620" marR="7620" marT="7620" marB="0" anchor="ctr"/>
                </a:tc>
                <a:extLst>
                  <a:ext uri="{0D108BD9-81ED-4DB2-BD59-A6C34878D82A}">
                    <a16:rowId xmlns:a16="http://schemas.microsoft.com/office/drawing/2014/main" val="567209542"/>
                  </a:ext>
                </a:extLst>
              </a:tr>
              <a:tr h="227392">
                <a:tc>
                  <a:txBody>
                    <a:bodyPr/>
                    <a:lstStyle/>
                    <a:p>
                      <a:pPr algn="ctr" rtl="0" fontAlgn="ctr"/>
                      <a:r>
                        <a:rPr lang="en-IN" sz="1000" u="none" strike="noStrike" dirty="0">
                          <a:effectLst/>
                        </a:rPr>
                        <a:t>16</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Aluminium</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2</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7.69</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IN" sz="1000" u="none" strike="noStrike" dirty="0">
                          <a:effectLst/>
                        </a:rPr>
                        <a:t>0.0%</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9.37</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0.32%</a:t>
                      </a:r>
                    </a:p>
                  </a:txBody>
                  <a:tcPr marL="7620" marR="7620" marT="7620" marB="0" anchor="ctr"/>
                </a:tc>
                <a:extLst>
                  <a:ext uri="{0D108BD9-81ED-4DB2-BD59-A6C34878D82A}">
                    <a16:rowId xmlns:a16="http://schemas.microsoft.com/office/drawing/2014/main" val="3885066106"/>
                  </a:ext>
                </a:extLst>
              </a:tr>
              <a:tr h="227392">
                <a:tc>
                  <a:txBody>
                    <a:bodyPr/>
                    <a:lstStyle/>
                    <a:p>
                      <a:pPr algn="ctr" rtl="0" fontAlgn="ctr"/>
                      <a:r>
                        <a:rPr lang="en-IN" sz="1000" u="none" strike="noStrike" dirty="0">
                          <a:effectLst/>
                        </a:rPr>
                        <a:t>17</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Non Ferrous</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4</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51.86</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31.96%</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215.93</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92.57%</a:t>
                      </a:r>
                    </a:p>
                  </a:txBody>
                  <a:tcPr marL="7620" marR="7620" marT="7620" marB="0" anchor="ctr"/>
                </a:tc>
                <a:extLst>
                  <a:ext uri="{0D108BD9-81ED-4DB2-BD59-A6C34878D82A}">
                    <a16:rowId xmlns:a16="http://schemas.microsoft.com/office/drawing/2014/main" val="2078877007"/>
                  </a:ext>
                </a:extLst>
              </a:tr>
              <a:tr h="227392">
                <a:tc>
                  <a:txBody>
                    <a:bodyPr/>
                    <a:lstStyle/>
                    <a:p>
                      <a:pPr algn="ctr" rtl="0" fontAlgn="ctr"/>
                      <a:r>
                        <a:rPr lang="en-IN" sz="1000" u="none" strike="noStrike" dirty="0">
                          <a:effectLst/>
                        </a:rPr>
                        <a:t>18</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Heavy Engineering</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14</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88.73</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45.19%</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254.77</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22.31%</a:t>
                      </a:r>
                    </a:p>
                  </a:txBody>
                  <a:tcPr marL="7620" marR="7620" marT="7620" marB="0" anchor="ctr"/>
                </a:tc>
                <a:extLst>
                  <a:ext uri="{0D108BD9-81ED-4DB2-BD59-A6C34878D82A}">
                    <a16:rowId xmlns:a16="http://schemas.microsoft.com/office/drawing/2014/main" val="1235343798"/>
                  </a:ext>
                </a:extLst>
              </a:tr>
              <a:tr h="227392">
                <a:tc>
                  <a:txBody>
                    <a:bodyPr/>
                    <a:lstStyle/>
                    <a:p>
                      <a:pPr algn="ctr" rtl="0" fontAlgn="ctr"/>
                      <a:r>
                        <a:rPr lang="en-IN" sz="1000" u="none" strike="noStrike" dirty="0">
                          <a:effectLst/>
                        </a:rPr>
                        <a:t>19</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Food Products</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15</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57.23</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0.24%</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u="none" strike="noStrike" dirty="0">
                          <a:effectLst/>
                        </a:rPr>
                        <a:t>134.51</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u="none" strike="noStrike" kern="1200" dirty="0">
                          <a:solidFill>
                            <a:schemeClr val="tx1"/>
                          </a:solidFill>
                          <a:effectLst/>
                          <a:latin typeface="+mn-lt"/>
                          <a:ea typeface="+mn-ea"/>
                          <a:cs typeface="+mn-cs"/>
                        </a:rPr>
                        <a:t>11.38%</a:t>
                      </a:r>
                    </a:p>
                  </a:txBody>
                  <a:tcPr marL="7620" marR="7620" marT="7620" marB="0" anchor="ctr"/>
                </a:tc>
                <a:extLst>
                  <a:ext uri="{0D108BD9-81ED-4DB2-BD59-A6C34878D82A}">
                    <a16:rowId xmlns:a16="http://schemas.microsoft.com/office/drawing/2014/main" val="3985235920"/>
                  </a:ext>
                </a:extLst>
              </a:tr>
              <a:tr h="275500">
                <a:tc gridSpan="2">
                  <a:txBody>
                    <a:bodyPr/>
                    <a:lstStyle/>
                    <a:p>
                      <a:pPr algn="ctr" rtl="0" fontAlgn="ctr"/>
                      <a:r>
                        <a:rPr lang="en-IN" sz="1000" b="1" u="none" strike="noStrike" dirty="0">
                          <a:effectLst/>
                        </a:rPr>
                        <a:t>Total Karnataka</a:t>
                      </a:r>
                      <a:endParaRPr lang="en-IN" sz="1000" b="1" i="0" u="none" strike="noStrike" dirty="0">
                        <a:solidFill>
                          <a:srgbClr val="000000"/>
                        </a:solidFill>
                        <a:effectLst/>
                        <a:latin typeface="Verdana" panose="020B0604030504040204" pitchFamily="34" charset="0"/>
                      </a:endParaRPr>
                    </a:p>
                  </a:txBody>
                  <a:tcPr marL="21600" marR="21600" marT="21600" marB="21600" anchor="ctr"/>
                </a:tc>
                <a:tc hMerge="1">
                  <a:txBody>
                    <a:bodyPr/>
                    <a:lstStyle/>
                    <a:p>
                      <a:pPr algn="ctr" rtl="0" fontAlgn="ctr"/>
                      <a:endParaRPr lang="en-IN" sz="1000" b="1"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ctr" rtl="0" fontAlgn="t"/>
                      <a:r>
                        <a:rPr lang="en-US" sz="1000" b="1" i="0" u="none" strike="noStrike" dirty="0">
                          <a:solidFill>
                            <a:srgbClr val="000000"/>
                          </a:solidFill>
                          <a:effectLst/>
                          <a:latin typeface="Verdana" panose="020B0604030504040204" pitchFamily="34" charset="0"/>
                        </a:rPr>
                        <a:t>7</a:t>
                      </a:r>
                      <a:r>
                        <a:rPr lang="en-IN" sz="1000" b="1" i="0" u="none" strike="noStrike" dirty="0">
                          <a:solidFill>
                            <a:srgbClr val="000000"/>
                          </a:solidFill>
                          <a:effectLst/>
                          <a:latin typeface="Verdana" panose="020B0604030504040204" pitchFamily="34" charset="0"/>
                        </a:rPr>
                        <a:t>06</a:t>
                      </a:r>
                    </a:p>
                  </a:txBody>
                  <a:tcPr marL="0" marR="0" marT="0" marB="0" anchor="ctr"/>
                </a:tc>
                <a:tc>
                  <a:txBody>
                    <a:bodyPr/>
                    <a:lstStyle/>
                    <a:p>
                      <a:pPr algn="ctr" rtl="0" fontAlgn="t"/>
                      <a:r>
                        <a:rPr lang="en-IN" sz="1000" b="1" u="none" strike="noStrike" dirty="0">
                          <a:effectLst/>
                        </a:rPr>
                        <a:t>6120.4</a:t>
                      </a:r>
                      <a:endParaRPr lang="en-IN" sz="1000" b="1"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1" u="none" strike="noStrike" dirty="0">
                          <a:effectLst/>
                        </a:rPr>
                        <a:t>3.30%</a:t>
                      </a:r>
                      <a:endParaRPr lang="en-IN" sz="1000" b="1"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1" u="none" strike="noStrike" dirty="0">
                          <a:effectLst/>
                        </a:rPr>
                        <a:t>19585.71</a:t>
                      </a:r>
                      <a:endParaRPr lang="en-IN" sz="1000" b="1" i="0" u="none" strike="noStrike" dirty="0">
                        <a:solidFill>
                          <a:srgbClr val="000000"/>
                        </a:solidFill>
                        <a:effectLst/>
                        <a:latin typeface="Verdana" panose="020B0604030504040204" pitchFamily="34" charset="0"/>
                      </a:endParaRPr>
                    </a:p>
                  </a:txBody>
                  <a:tcPr marL="0" marR="0" marT="0" marB="0" anchor="ctr"/>
                </a:tc>
                <a:tc>
                  <a:txBody>
                    <a:bodyPr/>
                    <a:lstStyle/>
                    <a:p>
                      <a:pPr marL="0" algn="ctr" defTabSz="914400" rtl="0" eaLnBrk="1" fontAlgn="t" latinLnBrk="0" hangingPunct="1"/>
                      <a:r>
                        <a:rPr lang="en-IN" sz="1000" b="1" u="none" strike="noStrike" kern="1200" dirty="0">
                          <a:solidFill>
                            <a:schemeClr val="tx1"/>
                          </a:solidFill>
                          <a:effectLst/>
                          <a:latin typeface="+mn-lt"/>
                          <a:ea typeface="+mn-ea"/>
                          <a:cs typeface="+mn-cs"/>
                        </a:rPr>
                        <a:t>65.85%</a:t>
                      </a:r>
                    </a:p>
                  </a:txBody>
                  <a:tcPr marL="7620" marR="7620" marT="7620" marB="0" anchor="ctr"/>
                </a:tc>
                <a:extLst>
                  <a:ext uri="{0D108BD9-81ED-4DB2-BD59-A6C34878D82A}">
                    <a16:rowId xmlns:a16="http://schemas.microsoft.com/office/drawing/2014/main" val="3067148918"/>
                  </a:ext>
                </a:extLst>
              </a:tr>
            </a:tbl>
          </a:graphicData>
        </a:graphic>
      </p:graphicFrame>
      <p:sp>
        <p:nvSpPr>
          <p:cNvPr id="11" name="TextBox 10">
            <a:extLst>
              <a:ext uri="{FF2B5EF4-FFF2-40B4-BE49-F238E27FC236}">
                <a16:creationId xmlns:a16="http://schemas.microsoft.com/office/drawing/2014/main" id="{BC2A9775-C185-4C36-B87E-318CFC588D19}"/>
              </a:ext>
            </a:extLst>
          </p:cNvPr>
          <p:cNvSpPr txBox="1"/>
          <p:nvPr/>
        </p:nvSpPr>
        <p:spPr>
          <a:xfrm>
            <a:off x="8608638" y="2570857"/>
            <a:ext cx="3223753" cy="3519801"/>
          </a:xfrm>
          <a:prstGeom prst="rect">
            <a:avLst/>
          </a:prstGeom>
          <a:noFill/>
        </p:spPr>
        <p:txBody>
          <a:bodyPr wrap="square" lIns="36000" tIns="36000" rIns="36000" bIns="36000" rtlCol="0" anchor="ctr">
            <a:spAutoFit/>
          </a:bodyPr>
          <a:lstStyle/>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sz="1100" dirty="0">
                <a:latin typeface="Verdana"/>
              </a:rPr>
              <a:t>H</a:t>
            </a:r>
            <a:r>
              <a:rPr kumimoji="0" lang="en-US" sz="1100" b="0" i="0" u="none" strike="noStrike" kern="1200" cap="none" spc="0" normalizeH="0" baseline="0" noProof="0" dirty="0" err="1">
                <a:ln>
                  <a:noFill/>
                </a:ln>
                <a:effectLst/>
                <a:uLnTx/>
                <a:uFillTx/>
                <a:latin typeface="Verdana"/>
                <a:ea typeface="+mn-ea"/>
                <a:cs typeface="+mn-cs"/>
              </a:rPr>
              <a:t>ighly</a:t>
            </a:r>
            <a:r>
              <a:rPr kumimoji="0" lang="en-US" sz="1100" b="0" i="0" u="none" strike="noStrike" kern="1200" cap="none" spc="0" normalizeH="0" baseline="0" noProof="0" dirty="0">
                <a:ln>
                  <a:noFill/>
                </a:ln>
                <a:effectLst/>
                <a:uLnTx/>
                <a:uFillTx/>
                <a:latin typeface="Verdana"/>
                <a:ea typeface="+mn-ea"/>
                <a:cs typeface="+mn-cs"/>
              </a:rPr>
              <a:t> energy intensive industries i.e., Iron &amp; Steel, </a:t>
            </a:r>
            <a:r>
              <a:rPr lang="en-US" sz="1100" dirty="0">
                <a:latin typeface="Verdana"/>
              </a:rPr>
              <a:t>Cement and Miscellaneous</a:t>
            </a:r>
            <a:r>
              <a:rPr kumimoji="0" lang="en-US" sz="1100" b="0" i="0" u="none" strike="noStrike" kern="1200" cap="none" spc="0" normalizeH="0" baseline="0" noProof="0" dirty="0">
                <a:ln>
                  <a:noFill/>
                </a:ln>
                <a:effectLst/>
                <a:uLnTx/>
                <a:uFillTx/>
                <a:latin typeface="Verdana"/>
                <a:ea typeface="+mn-ea"/>
                <a:cs typeface="+mn-cs"/>
              </a:rPr>
              <a:t> consume ~66% of the total energy consumption by all captive industries in Karnataka.</a:t>
            </a:r>
            <a:endParaRPr kumimoji="0" lang="en-US" sz="1100" b="0" i="0" u="none" strike="noStrike" kern="1200" cap="none" spc="0" normalizeH="0" baseline="0" noProof="0" dirty="0">
              <a:ln>
                <a:noFill/>
              </a:ln>
              <a:solidFill>
                <a:srgbClr val="FF0000"/>
              </a:solidFill>
              <a:effectLst/>
              <a:uLnTx/>
              <a:uFillTx/>
              <a:latin typeface="Verdana"/>
              <a:ea typeface="+mn-ea"/>
              <a:cs typeface="+mn-cs"/>
            </a:endParaRP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sz="1100" dirty="0">
                <a:latin typeface="Verdana"/>
              </a:rPr>
              <a:t>E</a:t>
            </a:r>
            <a:r>
              <a:rPr kumimoji="0" lang="en-US" sz="1100" b="0" i="0" u="none" strike="noStrike" kern="1200" cap="none" spc="0" normalizeH="0" baseline="0" noProof="0" dirty="0" err="1">
                <a:ln>
                  <a:noFill/>
                </a:ln>
                <a:effectLst/>
                <a:uLnTx/>
                <a:uFillTx/>
                <a:latin typeface="Verdana"/>
                <a:ea typeface="+mn-ea"/>
                <a:cs typeface="+mn-cs"/>
              </a:rPr>
              <a:t>nergy</a:t>
            </a:r>
            <a:r>
              <a:rPr kumimoji="0" lang="en-US" sz="1100" b="0" i="0" u="none" strike="noStrike" kern="1200" cap="none" spc="0" normalizeH="0" baseline="0" noProof="0" dirty="0">
                <a:ln>
                  <a:noFill/>
                </a:ln>
                <a:effectLst/>
                <a:uLnTx/>
                <a:uFillTx/>
                <a:latin typeface="Verdana"/>
                <a:ea typeface="+mn-ea"/>
                <a:cs typeface="+mn-cs"/>
              </a:rPr>
              <a:t> intensive industries like Chemical and Light Engineering are meeting most of their energy requirements from </a:t>
            </a:r>
            <a:r>
              <a:rPr kumimoji="0" lang="en-US" sz="1100" b="0" i="0" u="none" strike="noStrike" kern="1200" cap="none" spc="0" normalizeH="0" baseline="0" noProof="0" dirty="0" err="1">
                <a:ln>
                  <a:noFill/>
                </a:ln>
                <a:effectLst/>
                <a:uLnTx/>
                <a:uFillTx/>
                <a:latin typeface="Verdana"/>
                <a:ea typeface="+mn-ea"/>
                <a:cs typeface="+mn-cs"/>
              </a:rPr>
              <a:t>Discom’s</a:t>
            </a:r>
            <a:r>
              <a:rPr kumimoji="0" lang="en-US" sz="1100" b="0" i="0" u="none" strike="noStrike" kern="1200" cap="none" spc="0" normalizeH="0" baseline="0" noProof="0" dirty="0">
                <a:ln>
                  <a:noFill/>
                </a:ln>
                <a:effectLst/>
                <a:uLnTx/>
                <a:uFillTx/>
                <a:latin typeface="Verdana"/>
                <a:ea typeface="+mn-ea"/>
                <a:cs typeface="+mn-cs"/>
              </a:rPr>
              <a:t> supply.</a:t>
            </a: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Industries like Iron and Steel, Cement, Mineral Oil &amp; Petroleum, Sugar and non-ferrous which are energy intensive, majorly meet their energy requirement from their captive generation.</a:t>
            </a: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RE penetration in energy intensive industries (except Textile &amp; Chemical) is quite low, with only 0.5% to 1.5% of their total captive capacity being RE based.</a:t>
            </a:r>
          </a:p>
        </p:txBody>
      </p:sp>
      <p:sp>
        <p:nvSpPr>
          <p:cNvPr id="12" name="TextBox 11">
            <a:extLst>
              <a:ext uri="{FF2B5EF4-FFF2-40B4-BE49-F238E27FC236}">
                <a16:creationId xmlns:a16="http://schemas.microsoft.com/office/drawing/2014/main" id="{9FAEE5B6-E849-4626-B4EB-795EB93CD6C1}"/>
              </a:ext>
            </a:extLst>
          </p:cNvPr>
          <p:cNvSpPr txBox="1"/>
          <p:nvPr/>
        </p:nvSpPr>
        <p:spPr>
          <a:xfrm>
            <a:off x="10488002" y="1348240"/>
            <a:ext cx="1344390" cy="837904"/>
          </a:xfrm>
          <a:prstGeom prst="rect">
            <a:avLst/>
          </a:prstGeom>
          <a:solidFill>
            <a:srgbClr val="86BC25">
              <a:alpha val="10196"/>
            </a:srgbClr>
          </a:solidFill>
        </p:spPr>
        <p:txBody>
          <a:bodyPr wrap="square" lIns="72000" tIns="72000" rIns="72000" bIns="72000" rtlCol="0" anchor="ctr">
            <a:spAutoFit/>
          </a:bodyPr>
          <a:lstStyle/>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Energy intensive industries</a:t>
            </a:r>
          </a:p>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(consumption 500-2000 MUs)</a:t>
            </a:r>
          </a:p>
        </p:txBody>
      </p:sp>
      <p:sp>
        <p:nvSpPr>
          <p:cNvPr id="13" name="TextBox 12">
            <a:extLst>
              <a:ext uri="{FF2B5EF4-FFF2-40B4-BE49-F238E27FC236}">
                <a16:creationId xmlns:a16="http://schemas.microsoft.com/office/drawing/2014/main" id="{C6F6AA75-21B3-4A69-A05D-33D51F063DCD}"/>
              </a:ext>
            </a:extLst>
          </p:cNvPr>
          <p:cNvSpPr txBox="1"/>
          <p:nvPr/>
        </p:nvSpPr>
        <p:spPr>
          <a:xfrm>
            <a:off x="8835938" y="1348240"/>
            <a:ext cx="1424764" cy="837904"/>
          </a:xfrm>
          <a:prstGeom prst="rect">
            <a:avLst/>
          </a:prstGeom>
          <a:solidFill>
            <a:srgbClr val="86BC25">
              <a:alpha val="30196"/>
            </a:srgbClr>
          </a:solidFill>
        </p:spPr>
        <p:txBody>
          <a:bodyPr wrap="square" lIns="72000" tIns="72000" rIns="72000" bIns="72000" rtlCol="0" anchor="ctr">
            <a:spAutoFit/>
          </a:bodyPr>
          <a:lstStyle/>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Highly energy intensive industries</a:t>
            </a:r>
          </a:p>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(consumption &gt;2000 MUs)</a:t>
            </a:r>
          </a:p>
        </p:txBody>
      </p:sp>
      <p:sp>
        <p:nvSpPr>
          <p:cNvPr id="15" name="Text Placeholder 2">
            <a:extLst>
              <a:ext uri="{FF2B5EF4-FFF2-40B4-BE49-F238E27FC236}">
                <a16:creationId xmlns:a16="http://schemas.microsoft.com/office/drawing/2014/main" id="{E9388734-211A-4D58-9635-143EF6473FBB}"/>
              </a:ext>
            </a:extLst>
          </p:cNvPr>
          <p:cNvSpPr txBox="1">
            <a:spLocks/>
          </p:cNvSpPr>
          <p:nvPr/>
        </p:nvSpPr>
        <p:spPr>
          <a:xfrm>
            <a:off x="359609" y="687623"/>
            <a:ext cx="1120266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 typeface="Arial" panose="020B0604020202020204" pitchFamily="34" charset="0"/>
              <a:buNone/>
              <a:tabLst/>
              <a:defRPr/>
            </a:pPr>
            <a:r>
              <a:rPr kumimoji="0" lang="en-US" sz="1700" b="0" i="0" u="none" strike="noStrike" kern="1200" cap="none" spc="0" normalizeH="0" baseline="0" noProof="0" dirty="0">
                <a:ln>
                  <a:noFill/>
                </a:ln>
                <a:solidFill>
                  <a:schemeClr val="tx1"/>
                </a:solidFill>
                <a:effectLst/>
                <a:uLnTx/>
                <a:uFillTx/>
                <a:latin typeface="Verdana"/>
                <a:ea typeface="+mn-ea"/>
                <a:cs typeface="+mn-cs"/>
              </a:rPr>
              <a:t>With meagre RE captive capacity, most of the energy intensive industries seem to be a good market for RE sale</a:t>
            </a:r>
            <a:endParaRPr kumimoji="0" lang="en-IN" sz="1700" b="0" i="0" u="none" strike="noStrike" kern="1200" cap="none" spc="0" normalizeH="0" baseline="0" noProof="0" dirty="0">
              <a:ln>
                <a:noFill/>
              </a:ln>
              <a:solidFill>
                <a:schemeClr val="tx1"/>
              </a:solidFill>
              <a:effectLst/>
              <a:uLnTx/>
              <a:uFillTx/>
              <a:latin typeface="Verdana"/>
              <a:ea typeface="+mn-ea"/>
              <a:cs typeface="+mn-cs"/>
            </a:endParaRPr>
          </a:p>
        </p:txBody>
      </p:sp>
      <p:sp>
        <p:nvSpPr>
          <p:cNvPr id="17" name="TextBox 16">
            <a:extLst>
              <a:ext uri="{FF2B5EF4-FFF2-40B4-BE49-F238E27FC236}">
                <a16:creationId xmlns:a16="http://schemas.microsoft.com/office/drawing/2014/main" id="{0AE80C92-D971-4DCC-8BA9-3AA614312259}"/>
              </a:ext>
            </a:extLst>
          </p:cNvPr>
          <p:cNvSpPr txBox="1"/>
          <p:nvPr/>
        </p:nvSpPr>
        <p:spPr>
          <a:xfrm>
            <a:off x="8835938" y="6552322"/>
            <a:ext cx="2588125"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Source: CEA Reports</a:t>
            </a:r>
          </a:p>
        </p:txBody>
      </p:sp>
    </p:spTree>
    <p:extLst>
      <p:ext uri="{BB962C8B-B14F-4D97-AF65-F5344CB8AC3E}">
        <p14:creationId xmlns:p14="http://schemas.microsoft.com/office/powerpoint/2010/main" val="75620041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96B0760A-50D6-4EB7-A80D-5C63314F5311}"/>
              </a:ext>
            </a:extLst>
          </p:cNvPr>
          <p:cNvSpPr>
            <a:spLocks noGrp="1"/>
          </p:cNvSpPr>
          <p:nvPr>
            <p:ph type="title"/>
          </p:nvPr>
        </p:nvSpPr>
        <p:spPr>
          <a:xfrm>
            <a:off x="359609" y="264234"/>
            <a:ext cx="11476791" cy="358065"/>
          </a:xfrm>
        </p:spPr>
        <p:txBody>
          <a:bodyPr/>
          <a:lstStyle/>
          <a:p>
            <a:r>
              <a:rPr lang="en-US" dirty="0"/>
              <a:t>Karnataka | Industry category wise solar power based captive plants (FY2018-19)</a:t>
            </a:r>
            <a:endParaRPr lang="en-IN" dirty="0"/>
          </a:p>
        </p:txBody>
      </p:sp>
      <p:sp>
        <p:nvSpPr>
          <p:cNvPr id="7" name="TextBox 6">
            <a:extLst>
              <a:ext uri="{FF2B5EF4-FFF2-40B4-BE49-F238E27FC236}">
                <a16:creationId xmlns:a16="http://schemas.microsoft.com/office/drawing/2014/main" id="{2917EEB1-793C-43F8-A332-51DA1927B9BA}"/>
              </a:ext>
            </a:extLst>
          </p:cNvPr>
          <p:cNvSpPr txBox="1"/>
          <p:nvPr/>
        </p:nvSpPr>
        <p:spPr>
          <a:xfrm>
            <a:off x="8484782" y="2570860"/>
            <a:ext cx="3347610" cy="3596745"/>
          </a:xfrm>
          <a:prstGeom prst="rect">
            <a:avLst/>
          </a:prstGeom>
          <a:noFill/>
        </p:spPr>
        <p:txBody>
          <a:bodyPr wrap="square" lIns="36000" tIns="36000" rIns="36000" bIns="36000" rtlCol="0" anchor="ctr">
            <a:spAutoFit/>
          </a:bodyPr>
          <a:lstStyle/>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Most of the energy intensive industries in Karnataka are consuming 100% of the energy generated from their captive solar plant.</a:t>
            </a: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There is huge potential for sale of RE to the energy intensive industries in Karnataka considering their present solar captive installation, energy consumption from solar captive units and their RPO targets.</a:t>
            </a: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Solar based captive capacity constitutes only ~2% of the total captive capacity in Karnataka.</a:t>
            </a: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Energy generation from solar based captive plants is just ~0.5% of the total energy generated from all captive power plants in Karnataka.</a:t>
            </a: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a:t>
            </a:r>
            <a:r>
              <a:rPr lang="en-US" sz="1100" dirty="0">
                <a:latin typeface="Verdana"/>
              </a:rPr>
              <a:t>15</a:t>
            </a:r>
            <a:r>
              <a:rPr kumimoji="0" lang="en-US" sz="1100" b="0" i="0" u="none" strike="noStrike" kern="1200" cap="none" spc="0" normalizeH="0" baseline="0" noProof="0" dirty="0">
                <a:ln>
                  <a:noFill/>
                </a:ln>
                <a:effectLst/>
                <a:uLnTx/>
                <a:uFillTx/>
                <a:latin typeface="Verdana"/>
                <a:ea typeface="+mn-ea"/>
                <a:cs typeface="+mn-cs"/>
              </a:rPr>
              <a:t>% of the total energy generated from solar based captive power plants in Karnataka is sold to Utility.</a:t>
            </a:r>
          </a:p>
        </p:txBody>
      </p:sp>
      <p:graphicFrame>
        <p:nvGraphicFramePr>
          <p:cNvPr id="12" name="Table 7">
            <a:extLst>
              <a:ext uri="{FF2B5EF4-FFF2-40B4-BE49-F238E27FC236}">
                <a16:creationId xmlns:a16="http://schemas.microsoft.com/office/drawing/2014/main" id="{63D14CAB-F3F3-4719-A208-A346A9A4A66B}"/>
              </a:ext>
            </a:extLst>
          </p:cNvPr>
          <p:cNvGraphicFramePr>
            <a:graphicFrameLocks noGrp="1"/>
          </p:cNvGraphicFramePr>
          <p:nvPr>
            <p:extLst>
              <p:ext uri="{D42A27DB-BD31-4B8C-83A1-F6EECF244321}">
                <p14:modId xmlns:p14="http://schemas.microsoft.com/office/powerpoint/2010/main" val="1190615603"/>
              </p:ext>
            </p:extLst>
          </p:nvPr>
        </p:nvGraphicFramePr>
        <p:xfrm>
          <a:off x="359608" y="1212629"/>
          <a:ext cx="7933787" cy="5250000"/>
        </p:xfrm>
        <a:graphic>
          <a:graphicData uri="http://schemas.openxmlformats.org/drawingml/2006/table">
            <a:tbl>
              <a:tblPr firstRow="1" bandRow="1">
                <a:tableStyleId>{69012ECD-51FC-41F1-AA8D-1B2483CD663E}</a:tableStyleId>
              </a:tblPr>
              <a:tblGrid>
                <a:gridCol w="363720">
                  <a:extLst>
                    <a:ext uri="{9D8B030D-6E8A-4147-A177-3AD203B41FA5}">
                      <a16:colId xmlns:a16="http://schemas.microsoft.com/office/drawing/2014/main" val="1816698151"/>
                    </a:ext>
                  </a:extLst>
                </a:gridCol>
                <a:gridCol w="1481391">
                  <a:extLst>
                    <a:ext uri="{9D8B030D-6E8A-4147-A177-3AD203B41FA5}">
                      <a16:colId xmlns:a16="http://schemas.microsoft.com/office/drawing/2014/main" val="774441528"/>
                    </a:ext>
                  </a:extLst>
                </a:gridCol>
                <a:gridCol w="726826">
                  <a:extLst>
                    <a:ext uri="{9D8B030D-6E8A-4147-A177-3AD203B41FA5}">
                      <a16:colId xmlns:a16="http://schemas.microsoft.com/office/drawing/2014/main" val="808319263"/>
                    </a:ext>
                  </a:extLst>
                </a:gridCol>
                <a:gridCol w="1039638">
                  <a:extLst>
                    <a:ext uri="{9D8B030D-6E8A-4147-A177-3AD203B41FA5}">
                      <a16:colId xmlns:a16="http://schemas.microsoft.com/office/drawing/2014/main" val="2270571327"/>
                    </a:ext>
                  </a:extLst>
                </a:gridCol>
                <a:gridCol w="1838626">
                  <a:extLst>
                    <a:ext uri="{9D8B030D-6E8A-4147-A177-3AD203B41FA5}">
                      <a16:colId xmlns:a16="http://schemas.microsoft.com/office/drawing/2014/main" val="1392500486"/>
                    </a:ext>
                  </a:extLst>
                </a:gridCol>
                <a:gridCol w="1241793">
                  <a:extLst>
                    <a:ext uri="{9D8B030D-6E8A-4147-A177-3AD203B41FA5}">
                      <a16:colId xmlns:a16="http://schemas.microsoft.com/office/drawing/2014/main" val="28411845"/>
                    </a:ext>
                  </a:extLst>
                </a:gridCol>
                <a:gridCol w="1241793">
                  <a:extLst>
                    <a:ext uri="{9D8B030D-6E8A-4147-A177-3AD203B41FA5}">
                      <a16:colId xmlns:a16="http://schemas.microsoft.com/office/drawing/2014/main" val="4172241189"/>
                    </a:ext>
                  </a:extLst>
                </a:gridCol>
              </a:tblGrid>
              <a:tr h="655316">
                <a:tc>
                  <a:txBody>
                    <a:bodyPr/>
                    <a:lstStyle/>
                    <a:p>
                      <a:pPr algn="ctr" rtl="0" fontAlgn="ctr"/>
                      <a:r>
                        <a:rPr lang="en-IN" sz="1000" u="none" strike="noStrike" dirty="0">
                          <a:effectLst/>
                          <a:latin typeface="+mn-lt"/>
                        </a:rPr>
                        <a:t>S. No.</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IN" sz="1000" u="none" strike="noStrike" dirty="0">
                          <a:effectLst/>
                          <a:latin typeface="+mn-lt"/>
                        </a:rPr>
                        <a:t>Industry Type</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IN" sz="1000" u="none" strike="noStrike" dirty="0">
                          <a:effectLst/>
                          <a:latin typeface="+mn-lt"/>
                        </a:rPr>
                        <a:t>No. of Industries</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IN" sz="1000" u="none" strike="noStrike" dirty="0">
                          <a:effectLst/>
                          <a:latin typeface="+mn-lt"/>
                        </a:rPr>
                        <a:t>Installed Solar Capacity</a:t>
                      </a:r>
                    </a:p>
                    <a:p>
                      <a:pPr algn="ctr" rtl="0" fontAlgn="ctr"/>
                      <a:r>
                        <a:rPr lang="en-IN" sz="1000" u="none" strike="noStrike" dirty="0">
                          <a:effectLst/>
                          <a:latin typeface="+mn-lt"/>
                        </a:rPr>
                        <a:t>(MW)</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US" sz="1000" u="none" strike="noStrike" dirty="0">
                          <a:effectLst/>
                          <a:latin typeface="+mn-lt"/>
                        </a:rPr>
                        <a:t>Solar as % of Total Captive Capacity of respective industry</a:t>
                      </a:r>
                      <a:endParaRPr lang="en-US" sz="1000" b="1" i="0" u="none" strike="noStrike" dirty="0">
                        <a:solidFill>
                          <a:srgbClr val="FFFFFF"/>
                        </a:solidFill>
                        <a:effectLst/>
                        <a:latin typeface="+mn-lt"/>
                      </a:endParaRPr>
                    </a:p>
                  </a:txBody>
                  <a:tcPr marL="36000" marR="36000" marT="36000" marB="36000"/>
                </a:tc>
                <a:tc>
                  <a:txBody>
                    <a:bodyPr/>
                    <a:lstStyle/>
                    <a:p>
                      <a:pPr algn="ctr" rtl="0" fontAlgn="ctr"/>
                      <a:r>
                        <a:rPr lang="en-US" sz="1000" u="none" strike="noStrike" dirty="0">
                          <a:effectLst/>
                          <a:latin typeface="+mn-lt"/>
                        </a:rPr>
                        <a:t>% consumed of total captive solar generation</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US" sz="1000" b="1" i="0" u="none" strike="noStrike" dirty="0">
                          <a:solidFill>
                            <a:srgbClr val="FFFFFF"/>
                          </a:solidFill>
                          <a:effectLst/>
                          <a:latin typeface="+mn-lt"/>
                        </a:rPr>
                        <a:t>% Solar captive consumption of total captive consumption</a:t>
                      </a:r>
                      <a:endParaRPr lang="en-IN" sz="1000" b="1" i="0" u="none" strike="noStrike" dirty="0">
                        <a:solidFill>
                          <a:srgbClr val="FFFFFF"/>
                        </a:solidFill>
                        <a:effectLst/>
                        <a:latin typeface="+mn-lt"/>
                      </a:endParaRPr>
                    </a:p>
                  </a:txBody>
                  <a:tcPr marL="36000" marR="36000" marT="36000" marB="36000"/>
                </a:tc>
                <a:extLst>
                  <a:ext uri="{0D108BD9-81ED-4DB2-BD59-A6C34878D82A}">
                    <a16:rowId xmlns:a16="http://schemas.microsoft.com/office/drawing/2014/main" val="3415060310"/>
                  </a:ext>
                </a:extLst>
              </a:tr>
              <a:tr h="215747">
                <a:tc>
                  <a:txBody>
                    <a:bodyPr/>
                    <a:lstStyle/>
                    <a:p>
                      <a:pPr algn="ctr" rtl="0" fontAlgn="ctr"/>
                      <a:r>
                        <a:rPr lang="en-IN" sz="1000" u="none" strike="noStrike" dirty="0">
                          <a:effectLst/>
                        </a:rPr>
                        <a:t>1</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l" rtl="0" fontAlgn="ctr"/>
                      <a:r>
                        <a:rPr lang="en-IN" sz="1000" u="none" strike="noStrike" dirty="0">
                          <a:effectLst/>
                        </a:rPr>
                        <a:t>Iron &amp; Steel</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3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3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3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3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solidFill>
                      <a:srgbClr val="86BC25">
                        <a:alpha val="30196"/>
                      </a:srgbClr>
                    </a:solidFill>
                  </a:tcPr>
                </a:tc>
                <a:extLst>
                  <a:ext uri="{0D108BD9-81ED-4DB2-BD59-A6C34878D82A}">
                    <a16:rowId xmlns:a16="http://schemas.microsoft.com/office/drawing/2014/main" val="1400417218"/>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2</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l" rtl="0" fontAlgn="ctr"/>
                      <a:r>
                        <a:rPr lang="en-IN" sz="1000" u="none" strike="noStrike" dirty="0">
                          <a:effectLst/>
                        </a:rPr>
                        <a:t>Miscellaneous</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ctr" rtl="0" fontAlgn="t"/>
                      <a:r>
                        <a:rPr lang="en-US" sz="1000" b="0" i="0" u="none" strike="noStrike" dirty="0">
                          <a:solidFill>
                            <a:srgbClr val="000000"/>
                          </a:solidFill>
                          <a:effectLst/>
                          <a:latin typeface="+mn-lt"/>
                        </a:rPr>
                        <a:t>23</a:t>
                      </a:r>
                      <a:endParaRPr lang="en-IN" sz="1000" b="0" i="0" u="none" strike="noStrike" dirty="0">
                        <a:solidFill>
                          <a:srgbClr val="000000"/>
                        </a:solidFill>
                        <a:effectLst/>
                        <a:latin typeface="+mn-lt"/>
                      </a:endParaRPr>
                    </a:p>
                  </a:txBody>
                  <a:tcPr marL="36000" marR="36000" marT="36000" marB="36000">
                    <a:solidFill>
                      <a:srgbClr val="86BC25">
                        <a:alpha val="30196"/>
                      </a:srgbClr>
                    </a:solidFill>
                  </a:tcPr>
                </a:tc>
                <a:tc>
                  <a:txBody>
                    <a:bodyPr/>
                    <a:lstStyle/>
                    <a:p>
                      <a:pPr algn="ctr" rtl="0" fontAlgn="t"/>
                      <a:r>
                        <a:rPr lang="en-US" sz="1000" b="0" i="0" u="none" strike="noStrike" dirty="0">
                          <a:solidFill>
                            <a:srgbClr val="000000"/>
                          </a:solidFill>
                          <a:effectLst/>
                          <a:latin typeface="+mn-lt"/>
                        </a:rPr>
                        <a:t>53.85</a:t>
                      </a:r>
                      <a:endParaRPr lang="en-IN" sz="1000" b="0" i="0" u="none" strike="noStrike" dirty="0">
                        <a:solidFill>
                          <a:srgbClr val="000000"/>
                        </a:solidFill>
                        <a:effectLst/>
                        <a:latin typeface="+mn-lt"/>
                      </a:endParaRPr>
                    </a:p>
                  </a:txBody>
                  <a:tcPr marL="36000" marR="36000" marT="36000" marB="36000">
                    <a:solidFill>
                      <a:srgbClr val="86BC25">
                        <a:alpha val="30196"/>
                      </a:srgbClr>
                    </a:solidFill>
                  </a:tcPr>
                </a:tc>
                <a:tc>
                  <a:txBody>
                    <a:bodyPr/>
                    <a:lstStyle/>
                    <a:p>
                      <a:pPr algn="ctr" rtl="0" fontAlgn="t"/>
                      <a:r>
                        <a:rPr lang="en-US" sz="1000" b="0" i="0" u="none" strike="noStrike" dirty="0">
                          <a:solidFill>
                            <a:srgbClr val="000000"/>
                          </a:solidFill>
                          <a:effectLst/>
                          <a:latin typeface="+mn-lt"/>
                        </a:rPr>
                        <a:t>3.72%</a:t>
                      </a:r>
                      <a:endParaRPr lang="en-IN" sz="1000" b="0" i="0" u="none" strike="noStrike" dirty="0">
                        <a:solidFill>
                          <a:srgbClr val="000000"/>
                        </a:solidFill>
                        <a:effectLst/>
                        <a:latin typeface="+mn-lt"/>
                      </a:endParaRPr>
                    </a:p>
                  </a:txBody>
                  <a:tcPr marL="36000" marR="36000" marT="36000" marB="36000">
                    <a:solidFill>
                      <a:srgbClr val="86BC25">
                        <a:alpha val="30196"/>
                      </a:srgbClr>
                    </a:solidFill>
                  </a:tcPr>
                </a:tc>
                <a:tc>
                  <a:txBody>
                    <a:bodyPr/>
                    <a:lstStyle/>
                    <a:p>
                      <a:pPr algn="ctr" rtl="0" fontAlgn="t"/>
                      <a:r>
                        <a:rPr lang="en-US" sz="1000" b="0" i="0" u="none" strike="noStrike" dirty="0">
                          <a:solidFill>
                            <a:srgbClr val="000000"/>
                          </a:solidFill>
                          <a:effectLst/>
                          <a:latin typeface="+mn-lt"/>
                        </a:rPr>
                        <a:t>57.67%</a:t>
                      </a:r>
                      <a:endParaRPr lang="en-IN" sz="1000" b="0" i="0" u="none" strike="noStrike" dirty="0">
                        <a:solidFill>
                          <a:srgbClr val="000000"/>
                        </a:solidFill>
                        <a:effectLst/>
                        <a:latin typeface="+mn-lt"/>
                      </a:endParaRPr>
                    </a:p>
                  </a:txBody>
                  <a:tcPr marL="36000" marR="36000" marT="36000" marB="36000">
                    <a:solidFill>
                      <a:srgbClr val="86BC25">
                        <a:alpha val="30196"/>
                      </a:srgbClr>
                    </a:solidFill>
                  </a:tcPr>
                </a:tc>
                <a:tc>
                  <a:txBody>
                    <a:bodyPr/>
                    <a:lstStyle/>
                    <a:p>
                      <a:pPr marL="0" algn="ctr" defTabSz="914400" rtl="0" eaLnBrk="1" fontAlgn="t" latinLnBrk="0" hangingPunct="1"/>
                      <a:r>
                        <a:rPr lang="en-US" sz="1000" b="0" i="0" u="none" strike="noStrike" kern="1200" dirty="0">
                          <a:solidFill>
                            <a:srgbClr val="000000"/>
                          </a:solidFill>
                          <a:effectLst/>
                          <a:latin typeface="+mn-lt"/>
                          <a:ea typeface="+mn-ea"/>
                          <a:cs typeface="+mn-cs"/>
                        </a:rPr>
                        <a:t>0.51%</a:t>
                      </a:r>
                      <a:endParaRPr lang="en-IN" sz="1000" b="0" i="0" u="none" strike="noStrike" kern="1200" dirty="0">
                        <a:solidFill>
                          <a:srgbClr val="000000"/>
                        </a:solidFill>
                        <a:effectLst/>
                        <a:latin typeface="+mn-lt"/>
                        <a:ea typeface="+mn-ea"/>
                        <a:cs typeface="+mn-cs"/>
                      </a:endParaRPr>
                    </a:p>
                  </a:txBody>
                  <a:tcPr marL="36000" marR="36000" marT="36000" marB="36000">
                    <a:solidFill>
                      <a:srgbClr val="86BC25">
                        <a:alpha val="30196"/>
                      </a:srgbClr>
                    </a:solidFill>
                  </a:tcPr>
                </a:tc>
                <a:extLst>
                  <a:ext uri="{0D108BD9-81ED-4DB2-BD59-A6C34878D82A}">
                    <a16:rowId xmlns:a16="http://schemas.microsoft.com/office/drawing/2014/main" val="2201805673"/>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3</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l" rtl="0" fontAlgn="ctr"/>
                      <a:r>
                        <a:rPr lang="en-IN" sz="1000" u="none" strike="noStrike" dirty="0">
                          <a:effectLst/>
                        </a:rPr>
                        <a:t>Cement</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b="0" i="0" u="none" strike="noStrike" dirty="0">
                          <a:solidFill>
                            <a:srgbClr val="000000"/>
                          </a:solidFill>
                          <a:effectLst/>
                          <a:latin typeface="+mn-lt"/>
                        </a:rPr>
                        <a:t>1</a:t>
                      </a:r>
                    </a:p>
                  </a:txBody>
                  <a:tcPr marL="36000" marR="36000" marT="36000" marB="36000">
                    <a:solidFill>
                      <a:srgbClr val="86BC25">
                        <a:alpha val="30196"/>
                      </a:srgbClr>
                    </a:solidFill>
                  </a:tcPr>
                </a:tc>
                <a:tc>
                  <a:txBody>
                    <a:bodyPr/>
                    <a:lstStyle/>
                    <a:p>
                      <a:pPr algn="ctr" rtl="0" fontAlgn="t"/>
                      <a:r>
                        <a:rPr lang="en-IN" sz="1000" b="0" i="0" u="none" strike="noStrike" dirty="0">
                          <a:solidFill>
                            <a:srgbClr val="000000"/>
                          </a:solidFill>
                          <a:effectLst/>
                          <a:latin typeface="+mn-lt"/>
                        </a:rPr>
                        <a:t>0.1</a:t>
                      </a:r>
                    </a:p>
                  </a:txBody>
                  <a:tcPr marL="36000" marR="36000" marT="36000" marB="36000">
                    <a:solidFill>
                      <a:srgbClr val="86BC25">
                        <a:alpha val="3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0.01%</a:t>
                      </a:r>
                    </a:p>
                  </a:txBody>
                  <a:tcPr marL="36000" marR="36000" marT="36000" marB="36000">
                    <a:solidFill>
                      <a:srgbClr val="86BC25">
                        <a:alpha val="3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100.0%</a:t>
                      </a:r>
                    </a:p>
                  </a:txBody>
                  <a:tcPr marL="36000" marR="36000" marT="36000" marB="36000">
                    <a:solidFill>
                      <a:srgbClr val="86BC25">
                        <a:alpha val="3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0.00%</a:t>
                      </a:r>
                    </a:p>
                  </a:txBody>
                  <a:tcPr marL="36000" marR="36000" marT="36000" marB="36000">
                    <a:solidFill>
                      <a:srgbClr val="86BC25">
                        <a:alpha val="30196"/>
                      </a:srgbClr>
                    </a:solidFill>
                  </a:tcPr>
                </a:tc>
                <a:extLst>
                  <a:ext uri="{0D108BD9-81ED-4DB2-BD59-A6C34878D82A}">
                    <a16:rowId xmlns:a16="http://schemas.microsoft.com/office/drawing/2014/main" val="3899629518"/>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4</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Sugar</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b="0" i="0" u="none" strike="noStrike" dirty="0">
                          <a:solidFill>
                            <a:srgbClr val="000000"/>
                          </a:solidFill>
                          <a:effectLst/>
                          <a:latin typeface="+mn-lt"/>
                        </a:rPr>
                        <a:t>1</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0.02</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0.00%</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100.0%</a:t>
                      </a:r>
                    </a:p>
                  </a:txBody>
                  <a:tcPr marL="36000" marR="36000" marT="36000" marB="36000">
                    <a:solidFill>
                      <a:srgbClr val="86BC25">
                        <a:alpha val="1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0.00%</a:t>
                      </a:r>
                    </a:p>
                  </a:txBody>
                  <a:tcPr marL="36000" marR="36000" marT="36000" marB="36000">
                    <a:solidFill>
                      <a:srgbClr val="86BC25">
                        <a:alpha val="10196"/>
                      </a:srgbClr>
                    </a:solidFill>
                  </a:tcPr>
                </a:tc>
                <a:extLst>
                  <a:ext uri="{0D108BD9-81ED-4DB2-BD59-A6C34878D82A}">
                    <a16:rowId xmlns:a16="http://schemas.microsoft.com/office/drawing/2014/main" val="1323798095"/>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5</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Mineral Oil &amp; Petroleum</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1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solidFill>
                      <a:srgbClr val="86BC25">
                        <a:alpha val="10196"/>
                      </a:srgbClr>
                    </a:solidFill>
                  </a:tcPr>
                </a:tc>
                <a:extLst>
                  <a:ext uri="{0D108BD9-81ED-4DB2-BD59-A6C34878D82A}">
                    <a16:rowId xmlns:a16="http://schemas.microsoft.com/office/drawing/2014/main" val="925218230"/>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6</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Chemical</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US" sz="1000" b="0" i="0" u="none" strike="noStrike" dirty="0">
                          <a:solidFill>
                            <a:srgbClr val="000000"/>
                          </a:solidFill>
                          <a:effectLst/>
                          <a:latin typeface="+mn-lt"/>
                        </a:rPr>
                        <a:t>1</a:t>
                      </a:r>
                      <a:endParaRPr lang="en-IN" sz="1000" b="0" i="0" u="none" strike="noStrike" dirty="0">
                        <a:solidFill>
                          <a:srgbClr val="000000"/>
                        </a:solidFill>
                        <a:effectLst/>
                        <a:latin typeface="+mn-lt"/>
                      </a:endParaRP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0.62</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0.28%</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100.0%</a:t>
                      </a:r>
                    </a:p>
                  </a:txBody>
                  <a:tcPr marL="36000" marR="36000" marT="36000" marB="36000">
                    <a:solidFill>
                      <a:srgbClr val="86BC25">
                        <a:alpha val="10196"/>
                      </a:srgbClr>
                    </a:solidFill>
                  </a:tcPr>
                </a:tc>
                <a:tc>
                  <a:txBody>
                    <a:bodyPr/>
                    <a:lstStyle/>
                    <a:p>
                      <a:pPr marL="0" algn="ctr" defTabSz="914400" rtl="0" eaLnBrk="1" fontAlgn="t" latinLnBrk="0" hangingPunct="1"/>
                      <a:r>
                        <a:rPr lang="en-IN" sz="1000" b="0" i="0" u="none" strike="noStrike" kern="1200" dirty="0">
                          <a:solidFill>
                            <a:srgbClr val="000000"/>
                          </a:solidFill>
                          <a:effectLst/>
                          <a:latin typeface="+mn-lt"/>
                          <a:ea typeface="+mn-ea"/>
                          <a:cs typeface="+mn-cs"/>
                        </a:rPr>
                        <a:t>0.02%</a:t>
                      </a:r>
                    </a:p>
                  </a:txBody>
                  <a:tcPr marL="36000" marR="36000" marT="36000" marB="36000">
                    <a:solidFill>
                      <a:srgbClr val="86BC25">
                        <a:alpha val="10196"/>
                      </a:srgbClr>
                    </a:solidFill>
                  </a:tcPr>
                </a:tc>
                <a:extLst>
                  <a:ext uri="{0D108BD9-81ED-4DB2-BD59-A6C34878D82A}">
                    <a16:rowId xmlns:a16="http://schemas.microsoft.com/office/drawing/2014/main" val="3735371573"/>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7</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Light Engineering</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b="0" i="0" u="none" strike="noStrike" dirty="0">
                          <a:solidFill>
                            <a:srgbClr val="000000"/>
                          </a:solidFill>
                          <a:effectLst/>
                          <a:latin typeface="+mn-lt"/>
                        </a:rPr>
                        <a:t>3</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15.7</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6.95%</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100.0%</a:t>
                      </a:r>
                    </a:p>
                  </a:txBody>
                  <a:tcPr marL="36000" marR="36000" marT="36000" marB="36000">
                    <a:solidFill>
                      <a:srgbClr val="86BC25">
                        <a:alpha val="10196"/>
                      </a:srgbClr>
                    </a:solidFill>
                  </a:tcPr>
                </a:tc>
                <a:tc>
                  <a:txBody>
                    <a:bodyPr/>
                    <a:lstStyle/>
                    <a:p>
                      <a:pPr marL="0" algn="ctr" defTabSz="914400" rtl="0" eaLnBrk="1" fontAlgn="t" latinLnBrk="0" hangingPunct="1"/>
                      <a:r>
                        <a:rPr lang="en-IN" sz="1000" b="0" i="0" u="none" strike="noStrike" kern="1200" dirty="0">
                          <a:solidFill>
                            <a:srgbClr val="000000"/>
                          </a:solidFill>
                          <a:effectLst/>
                          <a:latin typeface="+mn-lt"/>
                          <a:ea typeface="+mn-ea"/>
                          <a:cs typeface="+mn-cs"/>
                        </a:rPr>
                        <a:t>5.32%</a:t>
                      </a:r>
                    </a:p>
                  </a:txBody>
                  <a:tcPr marL="36000" marR="36000" marT="36000" marB="36000">
                    <a:solidFill>
                      <a:srgbClr val="86BC25">
                        <a:alpha val="10196"/>
                      </a:srgbClr>
                    </a:solidFill>
                  </a:tcPr>
                </a:tc>
                <a:extLst>
                  <a:ext uri="{0D108BD9-81ED-4DB2-BD59-A6C34878D82A}">
                    <a16:rowId xmlns:a16="http://schemas.microsoft.com/office/drawing/2014/main" val="468310158"/>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8</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Automobile</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2</a:t>
                      </a:r>
                    </a:p>
                  </a:txBody>
                  <a:tcPr marL="36000" marR="36000" marT="36000" marB="36000"/>
                </a:tc>
                <a:tc>
                  <a:txBody>
                    <a:bodyPr/>
                    <a:lstStyle/>
                    <a:p>
                      <a:pPr algn="ctr" rtl="0" fontAlgn="t"/>
                      <a:r>
                        <a:rPr lang="en-IN" sz="1000" b="0" i="0" u="none" strike="noStrike" dirty="0">
                          <a:solidFill>
                            <a:srgbClr val="000000"/>
                          </a:solidFill>
                          <a:effectLst/>
                          <a:latin typeface="+mn-lt"/>
                        </a:rPr>
                        <a:t>8.4</a:t>
                      </a:r>
                    </a:p>
                  </a:txBody>
                  <a:tcPr marL="36000" marR="36000" marT="36000" marB="36000"/>
                </a:tc>
                <a:tc>
                  <a:txBody>
                    <a:bodyPr/>
                    <a:lstStyle/>
                    <a:p>
                      <a:pPr algn="ctr" rtl="0" fontAlgn="t"/>
                      <a:r>
                        <a:rPr lang="en-IN" sz="1000" b="0" i="0" u="none" strike="noStrike" dirty="0">
                          <a:solidFill>
                            <a:srgbClr val="000000"/>
                          </a:solidFill>
                          <a:effectLst/>
                          <a:latin typeface="+mn-lt"/>
                        </a:rPr>
                        <a:t>20.18%</a:t>
                      </a:r>
                    </a:p>
                  </a:txBody>
                  <a:tcPr marL="36000" marR="36000" marT="36000" marB="36000"/>
                </a:tc>
                <a:tc>
                  <a:txBody>
                    <a:bodyPr/>
                    <a:lstStyle/>
                    <a:p>
                      <a:pPr algn="ctr" rtl="0" fontAlgn="t"/>
                      <a:r>
                        <a:rPr lang="en-IN" sz="1000" b="0" i="0" u="none" strike="noStrike" dirty="0">
                          <a:solidFill>
                            <a:srgbClr val="000000"/>
                          </a:solidFill>
                          <a:effectLst/>
                          <a:latin typeface="+mn-lt"/>
                        </a:rPr>
                        <a:t>100.0%</a:t>
                      </a:r>
                    </a:p>
                  </a:txBody>
                  <a:tcPr marL="36000" marR="36000" marT="36000" marB="36000"/>
                </a:tc>
                <a:tc>
                  <a:txBody>
                    <a:bodyPr/>
                    <a:lstStyle/>
                    <a:p>
                      <a:pPr marL="0" algn="ctr" defTabSz="914400" rtl="0" eaLnBrk="1" fontAlgn="t" latinLnBrk="0" hangingPunct="1"/>
                      <a:r>
                        <a:rPr lang="en-IN" sz="1000" b="0" i="0" u="none" strike="noStrike" kern="1200" dirty="0">
                          <a:solidFill>
                            <a:srgbClr val="000000"/>
                          </a:solidFill>
                          <a:effectLst/>
                          <a:latin typeface="+mn-lt"/>
                          <a:ea typeface="+mn-ea"/>
                          <a:cs typeface="+mn-cs"/>
                        </a:rPr>
                        <a:t>5.78%</a:t>
                      </a:r>
                    </a:p>
                  </a:txBody>
                  <a:tcPr marL="36000" marR="36000" marT="36000" marB="36000"/>
                </a:tc>
                <a:extLst>
                  <a:ext uri="{0D108BD9-81ED-4DB2-BD59-A6C34878D82A}">
                    <a16:rowId xmlns:a16="http://schemas.microsoft.com/office/drawing/2014/main" val="3120390661"/>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9</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Textile</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1717592791"/>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10</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Paper</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280916322"/>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11</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US" sz="1000" b="0" i="0" u="none" strike="noStrike" dirty="0">
                          <a:solidFill>
                            <a:schemeClr val="tx1"/>
                          </a:solidFill>
                          <a:effectLst/>
                          <a:latin typeface="Verdana" panose="020B0604030504040204" pitchFamily="34" charset="0"/>
                        </a:rPr>
                        <a:t>J</a:t>
                      </a:r>
                      <a:r>
                        <a:rPr lang="en-IN" sz="1000" b="0" i="0" u="none" strike="noStrike" dirty="0">
                          <a:solidFill>
                            <a:schemeClr val="tx1"/>
                          </a:solidFill>
                          <a:effectLst/>
                          <a:latin typeface="Verdana" panose="020B0604030504040204" pitchFamily="34" charset="0"/>
                        </a:rPr>
                        <a:t>ute</a:t>
                      </a: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1895563020"/>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12</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Rubber</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672128676"/>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13</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US" sz="1000" b="0" i="0" u="none" strike="noStrike" dirty="0">
                          <a:solidFill>
                            <a:srgbClr val="000000"/>
                          </a:solidFill>
                          <a:effectLst/>
                          <a:latin typeface="Verdana" panose="020B0604030504040204" pitchFamily="34" charset="0"/>
                        </a:rPr>
                        <a:t>Colleries</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145731164"/>
                  </a:ext>
                </a:extLst>
              </a:tr>
              <a:tr h="215747">
                <a:tc>
                  <a:txBody>
                    <a:bodyPr/>
                    <a:lstStyle/>
                    <a:p>
                      <a:pPr algn="ctr" rtl="0" fontAlgn="ctr"/>
                      <a:r>
                        <a:rPr lang="en-IN" sz="1000" u="none" strike="noStrike" dirty="0">
                          <a:effectLst/>
                        </a:rPr>
                        <a:t>14</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Electrical Engineering</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1</a:t>
                      </a:r>
                    </a:p>
                  </a:txBody>
                  <a:tcPr marL="36000" marR="36000" marT="36000" marB="36000"/>
                </a:tc>
                <a:tc>
                  <a:txBody>
                    <a:bodyPr/>
                    <a:lstStyle/>
                    <a:p>
                      <a:pPr algn="ctr" rtl="0" fontAlgn="t"/>
                      <a:r>
                        <a:rPr lang="en-IN" sz="1000" b="0" i="0" u="none" strike="noStrike" dirty="0">
                          <a:solidFill>
                            <a:srgbClr val="000000"/>
                          </a:solidFill>
                          <a:effectLst/>
                          <a:latin typeface="+mn-lt"/>
                        </a:rPr>
                        <a:t>1.28</a:t>
                      </a:r>
                    </a:p>
                  </a:txBody>
                  <a:tcPr marL="36000" marR="36000" marT="36000" marB="36000"/>
                </a:tc>
                <a:tc>
                  <a:txBody>
                    <a:bodyPr/>
                    <a:lstStyle/>
                    <a:p>
                      <a:pPr algn="ctr" rtl="0" fontAlgn="t"/>
                      <a:r>
                        <a:rPr lang="en-IN" sz="1000" b="0" i="0" u="none" strike="noStrike" dirty="0">
                          <a:solidFill>
                            <a:srgbClr val="000000"/>
                          </a:solidFill>
                          <a:effectLst/>
                          <a:latin typeface="+mn-lt"/>
                        </a:rPr>
                        <a:t>3.16%</a:t>
                      </a:r>
                    </a:p>
                  </a:txBody>
                  <a:tcPr marL="36000" marR="36000" marT="36000" marB="36000"/>
                </a:tc>
                <a:tc>
                  <a:txBody>
                    <a:bodyPr/>
                    <a:lstStyle/>
                    <a:p>
                      <a:pPr algn="ctr" rtl="0" fontAlgn="t"/>
                      <a:r>
                        <a:rPr lang="en-IN" sz="1000" b="0" i="0" u="none" strike="noStrike" dirty="0">
                          <a:solidFill>
                            <a:srgbClr val="000000"/>
                          </a:solidFill>
                          <a:effectLst/>
                          <a:latin typeface="+mn-lt"/>
                        </a:rPr>
                        <a:t>100.0%</a:t>
                      </a:r>
                    </a:p>
                  </a:txBody>
                  <a:tcPr marL="36000" marR="36000" marT="36000" marB="36000"/>
                </a:tc>
                <a:tc>
                  <a:txBody>
                    <a:bodyPr/>
                    <a:lstStyle/>
                    <a:p>
                      <a:pPr marL="0" algn="ctr" defTabSz="914400" rtl="0" eaLnBrk="1" fontAlgn="t" latinLnBrk="0" hangingPunct="1"/>
                      <a:r>
                        <a:rPr lang="en-IN" sz="1000" b="0" i="0" u="none" strike="noStrike" kern="1200" dirty="0">
                          <a:solidFill>
                            <a:srgbClr val="000000"/>
                          </a:solidFill>
                          <a:effectLst/>
                          <a:latin typeface="+mn-lt"/>
                          <a:ea typeface="+mn-ea"/>
                          <a:cs typeface="+mn-cs"/>
                        </a:rPr>
                        <a:t>2.73%</a:t>
                      </a:r>
                    </a:p>
                  </a:txBody>
                  <a:tcPr marL="36000" marR="36000" marT="36000" marB="36000"/>
                </a:tc>
                <a:extLst>
                  <a:ext uri="{0D108BD9-81ED-4DB2-BD59-A6C34878D82A}">
                    <a16:rowId xmlns:a16="http://schemas.microsoft.com/office/drawing/2014/main" val="567209542"/>
                  </a:ext>
                </a:extLst>
              </a:tr>
              <a:tr h="215747">
                <a:tc>
                  <a:txBody>
                    <a:bodyPr/>
                    <a:lstStyle/>
                    <a:p>
                      <a:pPr algn="ctr" rtl="0" fontAlgn="ctr"/>
                      <a:r>
                        <a:rPr lang="en-IN" sz="1000" u="none" strike="noStrike" dirty="0">
                          <a:effectLst/>
                        </a:rPr>
                        <a:t>15</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US" sz="1000" b="0" i="0" u="none" strike="noStrike" dirty="0">
                          <a:solidFill>
                            <a:schemeClr val="tx1"/>
                          </a:solidFill>
                          <a:effectLst/>
                          <a:latin typeface="Verdana" panose="020B0604030504040204" pitchFamily="34" charset="0"/>
                        </a:rPr>
                        <a:t>M</a:t>
                      </a:r>
                      <a:r>
                        <a:rPr lang="en-IN" sz="1000" b="0" i="0" u="none" strike="noStrike" dirty="0">
                          <a:solidFill>
                            <a:schemeClr val="tx1"/>
                          </a:solidFill>
                          <a:effectLst/>
                          <a:latin typeface="Verdana" panose="020B0604030504040204" pitchFamily="34" charset="0"/>
                        </a:rPr>
                        <a:t>ining &amp; Quarrying</a:t>
                      </a:r>
                    </a:p>
                  </a:txBody>
                  <a:tcPr marL="0" marR="0" marT="0" marB="0" anchor="ctr"/>
                </a:tc>
                <a:tc>
                  <a:txBody>
                    <a:bodyPr/>
                    <a:lstStyle/>
                    <a:p>
                      <a:pPr algn="ctr" rtl="0" fontAlgn="t"/>
                      <a:r>
                        <a:rPr lang="en-IN" sz="1000" b="0" i="0" u="none" strike="noStrike" dirty="0">
                          <a:solidFill>
                            <a:srgbClr val="000000"/>
                          </a:solidFill>
                          <a:effectLst/>
                          <a:latin typeface="+mn-lt"/>
                        </a:rPr>
                        <a:t>1</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100.0%</a:t>
                      </a:r>
                    </a:p>
                  </a:txBody>
                  <a:tcPr marL="36000" marR="36000" marT="36000" marB="36000"/>
                </a:tc>
                <a:tc>
                  <a:txBody>
                    <a:bodyPr/>
                    <a:lstStyle/>
                    <a:p>
                      <a:pPr marL="0" algn="ctr" defTabSz="914400" rtl="0" eaLnBrk="1" fontAlgn="t" latinLnBrk="0" hangingPunct="1"/>
                      <a:r>
                        <a:rPr lang="en-IN" sz="1000" b="0" i="0" u="none" strike="noStrike" kern="1200" dirty="0">
                          <a:solidFill>
                            <a:srgbClr val="000000"/>
                          </a:solidFill>
                          <a:effectLst/>
                          <a:latin typeface="+mn-lt"/>
                          <a:ea typeface="+mn-ea"/>
                          <a:cs typeface="+mn-cs"/>
                        </a:rPr>
                        <a:t>0.12%</a:t>
                      </a:r>
                    </a:p>
                  </a:txBody>
                  <a:tcPr marL="36000" marR="36000" marT="36000" marB="36000"/>
                </a:tc>
                <a:extLst>
                  <a:ext uri="{0D108BD9-81ED-4DB2-BD59-A6C34878D82A}">
                    <a16:rowId xmlns:a16="http://schemas.microsoft.com/office/drawing/2014/main" val="3885066106"/>
                  </a:ext>
                </a:extLst>
              </a:tr>
              <a:tr h="215747">
                <a:tc>
                  <a:txBody>
                    <a:bodyPr/>
                    <a:lstStyle/>
                    <a:p>
                      <a:pPr algn="ctr" rtl="0" fontAlgn="ctr"/>
                      <a:r>
                        <a:rPr lang="en-IN" sz="1000" u="none" strike="noStrike" dirty="0">
                          <a:effectLst/>
                        </a:rPr>
                        <a:t>16</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Aluminium</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3940220955"/>
                  </a:ext>
                </a:extLst>
              </a:tr>
              <a:tr h="215747">
                <a:tc>
                  <a:txBody>
                    <a:bodyPr/>
                    <a:lstStyle/>
                    <a:p>
                      <a:pPr algn="ctr" rtl="0" fontAlgn="ctr"/>
                      <a:r>
                        <a:rPr lang="en-IN" sz="1000" u="none" strike="noStrike" dirty="0">
                          <a:effectLst/>
                        </a:rPr>
                        <a:t>17</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Non Ferrous</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1235343798"/>
                  </a:ext>
                </a:extLst>
              </a:tr>
              <a:tr h="215747">
                <a:tc>
                  <a:txBody>
                    <a:bodyPr/>
                    <a:lstStyle/>
                    <a:p>
                      <a:pPr algn="ctr" rtl="0" fontAlgn="ctr"/>
                      <a:r>
                        <a:rPr lang="en-IN" sz="1000" u="none" strike="noStrike" dirty="0">
                          <a:effectLst/>
                        </a:rPr>
                        <a:t>18</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Heavy Engineering</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2</a:t>
                      </a:r>
                    </a:p>
                  </a:txBody>
                  <a:tcPr marL="36000" marR="36000" marT="36000" marB="36000"/>
                </a:tc>
                <a:tc>
                  <a:txBody>
                    <a:bodyPr/>
                    <a:lstStyle/>
                    <a:p>
                      <a:pPr algn="ctr" rtl="0" fontAlgn="t"/>
                      <a:r>
                        <a:rPr lang="en-IN" sz="1000" b="0" i="0" u="none" strike="noStrike" dirty="0">
                          <a:solidFill>
                            <a:srgbClr val="000000"/>
                          </a:solidFill>
                          <a:effectLst/>
                          <a:latin typeface="+mn-lt"/>
                        </a:rPr>
                        <a:t>35.1</a:t>
                      </a:r>
                    </a:p>
                  </a:txBody>
                  <a:tcPr marL="36000" marR="36000" marT="36000" marB="36000"/>
                </a:tc>
                <a:tc>
                  <a:txBody>
                    <a:bodyPr/>
                    <a:lstStyle/>
                    <a:p>
                      <a:pPr algn="ctr" rtl="0" fontAlgn="t"/>
                      <a:r>
                        <a:rPr lang="en-US" sz="1000" b="0" i="0" u="none" strike="noStrike" dirty="0">
                          <a:solidFill>
                            <a:srgbClr val="000000"/>
                          </a:solidFill>
                          <a:effectLst/>
                          <a:latin typeface="+mn-lt"/>
                        </a:rPr>
                        <a:t>3</a:t>
                      </a:r>
                      <a:r>
                        <a:rPr lang="en-IN" sz="1000" b="0" i="0" u="none" strike="noStrike" dirty="0">
                          <a:solidFill>
                            <a:srgbClr val="000000"/>
                          </a:solidFill>
                          <a:effectLst/>
                          <a:latin typeface="+mn-lt"/>
                        </a:rPr>
                        <a:t>9.56%</a:t>
                      </a:r>
                    </a:p>
                  </a:txBody>
                  <a:tcPr marL="36000" marR="36000" marT="36000" marB="36000"/>
                </a:tc>
                <a:tc>
                  <a:txBody>
                    <a:bodyPr/>
                    <a:lstStyle/>
                    <a:p>
                      <a:pPr algn="ctr" rtl="0" fontAlgn="t"/>
                      <a:r>
                        <a:rPr lang="en-IN" sz="1000" b="0" i="0" u="none" strike="noStrike" dirty="0">
                          <a:solidFill>
                            <a:srgbClr val="000000"/>
                          </a:solidFill>
                          <a:effectLst/>
                          <a:latin typeface="+mn-lt"/>
                        </a:rPr>
                        <a:t>100.0%</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0.05%</a:t>
                      </a:r>
                    </a:p>
                  </a:txBody>
                  <a:tcPr marL="36000" marR="36000" marT="36000" marB="36000"/>
                </a:tc>
                <a:extLst>
                  <a:ext uri="{0D108BD9-81ED-4DB2-BD59-A6C34878D82A}">
                    <a16:rowId xmlns:a16="http://schemas.microsoft.com/office/drawing/2014/main" val="3985235920"/>
                  </a:ext>
                </a:extLst>
              </a:tr>
              <a:tr h="215747">
                <a:tc>
                  <a:txBody>
                    <a:bodyPr/>
                    <a:lstStyle/>
                    <a:p>
                      <a:pPr algn="ctr" rtl="0" fontAlgn="ctr"/>
                      <a:r>
                        <a:rPr lang="en-IN" sz="1000" u="none" strike="noStrike" dirty="0">
                          <a:effectLst/>
                        </a:rPr>
                        <a:t>19</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Food Products</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2649319566"/>
                  </a:ext>
                </a:extLst>
              </a:tr>
              <a:tr h="0">
                <a:tc gridSpan="2">
                  <a:txBody>
                    <a:bodyPr/>
                    <a:lstStyle/>
                    <a:p>
                      <a:pPr algn="ctr" rtl="0" fontAlgn="ctr"/>
                      <a:r>
                        <a:rPr lang="en-IN" sz="1000" b="1" u="none" strike="noStrike" dirty="0">
                          <a:effectLst/>
                          <a:latin typeface="+mn-lt"/>
                        </a:rPr>
                        <a:t>Total Karnataka</a:t>
                      </a:r>
                      <a:endParaRPr lang="en-IN" sz="1000" b="1" i="0" u="none" strike="noStrike" dirty="0">
                        <a:solidFill>
                          <a:srgbClr val="000000"/>
                        </a:solidFill>
                        <a:effectLst/>
                        <a:latin typeface="+mn-lt"/>
                      </a:endParaRPr>
                    </a:p>
                  </a:txBody>
                  <a:tcPr marL="36000" marR="36000" marT="36000" marB="36000" anchor="ctr"/>
                </a:tc>
                <a:tc hMerge="1">
                  <a:txBody>
                    <a:bodyPr/>
                    <a:lstStyle/>
                    <a:p>
                      <a:pPr algn="l" rtl="0" fontAlgn="ctr"/>
                      <a:endParaRPr lang="en-IN" sz="1000" b="1"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US" sz="1000" b="1" i="0" u="none" strike="noStrike" dirty="0">
                          <a:solidFill>
                            <a:srgbClr val="000000"/>
                          </a:solidFill>
                          <a:effectLst/>
                          <a:latin typeface="+mn-lt"/>
                        </a:rPr>
                        <a:t>3</a:t>
                      </a:r>
                      <a:r>
                        <a:rPr lang="en-IN" sz="1000" b="1" i="0" u="none" strike="noStrike" dirty="0">
                          <a:solidFill>
                            <a:srgbClr val="000000"/>
                          </a:solidFill>
                          <a:effectLst/>
                          <a:latin typeface="+mn-lt"/>
                        </a:rPr>
                        <a:t>5</a:t>
                      </a:r>
                    </a:p>
                  </a:txBody>
                  <a:tcPr marL="36000" marR="36000" marT="36000" marB="36000"/>
                </a:tc>
                <a:tc>
                  <a:txBody>
                    <a:bodyPr/>
                    <a:lstStyle/>
                    <a:p>
                      <a:pPr algn="ctr" rtl="0" fontAlgn="t"/>
                      <a:r>
                        <a:rPr lang="en-IN" sz="1000" b="1" i="0" u="none" strike="noStrike" dirty="0">
                          <a:solidFill>
                            <a:srgbClr val="000000"/>
                          </a:solidFill>
                          <a:effectLst/>
                          <a:latin typeface="+mn-lt"/>
                        </a:rPr>
                        <a:t>115.08</a:t>
                      </a:r>
                    </a:p>
                  </a:txBody>
                  <a:tcPr marL="36000" marR="36000" marT="36000" marB="36000"/>
                </a:tc>
                <a:tc>
                  <a:txBody>
                    <a:bodyPr/>
                    <a:lstStyle/>
                    <a:p>
                      <a:pPr algn="ctr" rtl="0" fontAlgn="t"/>
                      <a:r>
                        <a:rPr lang="en-IN" sz="1000" b="1" i="0" u="none" strike="noStrike" dirty="0">
                          <a:solidFill>
                            <a:srgbClr val="000000"/>
                          </a:solidFill>
                          <a:effectLst/>
                          <a:latin typeface="+mn-lt"/>
                        </a:rPr>
                        <a:t>1.88%</a:t>
                      </a:r>
                    </a:p>
                  </a:txBody>
                  <a:tcPr marL="36000" marR="36000" marT="36000" marB="36000"/>
                </a:tc>
                <a:tc>
                  <a:txBody>
                    <a:bodyPr/>
                    <a:lstStyle/>
                    <a:p>
                      <a:pPr algn="ctr" rtl="0" fontAlgn="t"/>
                      <a:r>
                        <a:rPr lang="en-IN" sz="1000" b="1" i="0" u="none" strike="noStrike" dirty="0">
                          <a:solidFill>
                            <a:srgbClr val="000000"/>
                          </a:solidFill>
                          <a:effectLst/>
                          <a:latin typeface="+mn-lt"/>
                        </a:rPr>
                        <a:t>85.06%</a:t>
                      </a:r>
                    </a:p>
                  </a:txBody>
                  <a:tcPr marL="36000" marR="36000" marT="36000" marB="36000"/>
                </a:tc>
                <a:tc>
                  <a:txBody>
                    <a:bodyPr/>
                    <a:lstStyle/>
                    <a:p>
                      <a:pPr marL="0" algn="ctr" defTabSz="914400" rtl="0" eaLnBrk="1" fontAlgn="t" latinLnBrk="0" hangingPunct="1"/>
                      <a:r>
                        <a:rPr lang="en-IN" sz="1000" b="1" i="0" u="none" strike="noStrike" kern="1200" dirty="0">
                          <a:solidFill>
                            <a:srgbClr val="000000"/>
                          </a:solidFill>
                          <a:effectLst/>
                          <a:latin typeface="+mn-lt"/>
                          <a:ea typeface="+mn-ea"/>
                          <a:cs typeface="+mn-cs"/>
                        </a:rPr>
                        <a:t>0.35%</a:t>
                      </a:r>
                    </a:p>
                  </a:txBody>
                  <a:tcPr marL="36000" marR="36000" marT="36000" marB="36000"/>
                </a:tc>
                <a:extLst>
                  <a:ext uri="{0D108BD9-81ED-4DB2-BD59-A6C34878D82A}">
                    <a16:rowId xmlns:a16="http://schemas.microsoft.com/office/drawing/2014/main" val="3067148918"/>
                  </a:ext>
                </a:extLst>
              </a:tr>
            </a:tbl>
          </a:graphicData>
        </a:graphic>
      </p:graphicFrame>
      <p:sp>
        <p:nvSpPr>
          <p:cNvPr id="13" name="Text Placeholder 2">
            <a:extLst>
              <a:ext uri="{FF2B5EF4-FFF2-40B4-BE49-F238E27FC236}">
                <a16:creationId xmlns:a16="http://schemas.microsoft.com/office/drawing/2014/main" id="{362E04CB-A27A-4650-A17E-FD5167207ED2}"/>
              </a:ext>
            </a:extLst>
          </p:cNvPr>
          <p:cNvSpPr txBox="1">
            <a:spLocks/>
          </p:cNvSpPr>
          <p:nvPr/>
        </p:nvSpPr>
        <p:spPr>
          <a:xfrm>
            <a:off x="359609" y="626190"/>
            <a:ext cx="1120266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 typeface="Arial" panose="020B0604020202020204" pitchFamily="34" charset="0"/>
              <a:buNone/>
              <a:tabLst/>
              <a:defRPr/>
            </a:pPr>
            <a:r>
              <a:rPr kumimoji="0" lang="en-US" sz="1700" b="0" i="0" u="none" strike="noStrike" kern="1200" cap="none" spc="0" normalizeH="0" baseline="0" noProof="0" dirty="0">
                <a:ln>
                  <a:noFill/>
                </a:ln>
                <a:solidFill>
                  <a:schemeClr val="tx1"/>
                </a:solidFill>
                <a:effectLst/>
                <a:uLnTx/>
                <a:uFillTx/>
                <a:latin typeface="Verdana"/>
                <a:ea typeface="+mn-ea"/>
                <a:cs typeface="+mn-cs"/>
              </a:rPr>
              <a:t>With only ~0.35% of total energy consumption being from solar captive, industries in Karnataka offer good opportunities for Solar Group Captive sale</a:t>
            </a:r>
            <a:endParaRPr kumimoji="0" lang="en-IN" sz="1700" b="0" i="0" u="none" strike="noStrike" kern="1200" cap="none" spc="0" normalizeH="0" baseline="0" noProof="0" dirty="0">
              <a:ln>
                <a:noFill/>
              </a:ln>
              <a:solidFill>
                <a:schemeClr val="tx1"/>
              </a:solidFill>
              <a:effectLst/>
              <a:uLnTx/>
              <a:uFillTx/>
              <a:latin typeface="Verdana"/>
              <a:ea typeface="+mn-ea"/>
              <a:cs typeface="+mn-cs"/>
            </a:endParaRPr>
          </a:p>
        </p:txBody>
      </p:sp>
      <p:sp>
        <p:nvSpPr>
          <p:cNvPr id="14" name="TextBox 13">
            <a:extLst>
              <a:ext uri="{FF2B5EF4-FFF2-40B4-BE49-F238E27FC236}">
                <a16:creationId xmlns:a16="http://schemas.microsoft.com/office/drawing/2014/main" id="{D721F506-AB2B-497C-B3BF-52F141052F26}"/>
              </a:ext>
            </a:extLst>
          </p:cNvPr>
          <p:cNvSpPr txBox="1"/>
          <p:nvPr/>
        </p:nvSpPr>
        <p:spPr>
          <a:xfrm>
            <a:off x="8835938" y="6552322"/>
            <a:ext cx="2588125"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Source: CEA Reports</a:t>
            </a:r>
          </a:p>
        </p:txBody>
      </p:sp>
      <p:sp>
        <p:nvSpPr>
          <p:cNvPr id="9" name="TextBox 8">
            <a:extLst>
              <a:ext uri="{FF2B5EF4-FFF2-40B4-BE49-F238E27FC236}">
                <a16:creationId xmlns:a16="http://schemas.microsoft.com/office/drawing/2014/main" id="{F2E20179-234D-4BFB-99C9-39348E8F8E1B}"/>
              </a:ext>
            </a:extLst>
          </p:cNvPr>
          <p:cNvSpPr txBox="1"/>
          <p:nvPr/>
        </p:nvSpPr>
        <p:spPr>
          <a:xfrm>
            <a:off x="10488002" y="1348240"/>
            <a:ext cx="1344390" cy="837904"/>
          </a:xfrm>
          <a:prstGeom prst="rect">
            <a:avLst/>
          </a:prstGeom>
          <a:solidFill>
            <a:srgbClr val="86BC25">
              <a:alpha val="10196"/>
            </a:srgbClr>
          </a:solidFill>
        </p:spPr>
        <p:txBody>
          <a:bodyPr wrap="square" lIns="72000" tIns="72000" rIns="72000" bIns="72000" rtlCol="0" anchor="ctr">
            <a:spAutoFit/>
          </a:bodyPr>
          <a:lstStyle/>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Energy intensive industries</a:t>
            </a:r>
          </a:p>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(consumption 500-2000 MUs)</a:t>
            </a:r>
          </a:p>
        </p:txBody>
      </p:sp>
      <p:sp>
        <p:nvSpPr>
          <p:cNvPr id="15" name="TextBox 14">
            <a:extLst>
              <a:ext uri="{FF2B5EF4-FFF2-40B4-BE49-F238E27FC236}">
                <a16:creationId xmlns:a16="http://schemas.microsoft.com/office/drawing/2014/main" id="{B6C6361E-8CC0-4B30-A0CB-BDFA1FAFBC07}"/>
              </a:ext>
            </a:extLst>
          </p:cNvPr>
          <p:cNvSpPr txBox="1"/>
          <p:nvPr/>
        </p:nvSpPr>
        <p:spPr>
          <a:xfrm>
            <a:off x="8835938" y="1348240"/>
            <a:ext cx="1424764" cy="837904"/>
          </a:xfrm>
          <a:prstGeom prst="rect">
            <a:avLst/>
          </a:prstGeom>
          <a:solidFill>
            <a:srgbClr val="86BC25">
              <a:alpha val="30196"/>
            </a:srgbClr>
          </a:solidFill>
        </p:spPr>
        <p:txBody>
          <a:bodyPr wrap="square" lIns="72000" tIns="72000" rIns="72000" bIns="72000" rtlCol="0" anchor="ctr">
            <a:spAutoFit/>
          </a:bodyPr>
          <a:lstStyle/>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Highly energy intensive industries</a:t>
            </a:r>
          </a:p>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(consumption &gt;2000 MUs)</a:t>
            </a:r>
          </a:p>
        </p:txBody>
      </p:sp>
    </p:spTree>
    <p:extLst>
      <p:ext uri="{BB962C8B-B14F-4D97-AF65-F5344CB8AC3E}">
        <p14:creationId xmlns:p14="http://schemas.microsoft.com/office/powerpoint/2010/main" val="258874918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96B0760A-50D6-4EB7-A80D-5C63314F5311}"/>
              </a:ext>
            </a:extLst>
          </p:cNvPr>
          <p:cNvSpPr>
            <a:spLocks noGrp="1"/>
          </p:cNvSpPr>
          <p:nvPr>
            <p:ph type="title"/>
          </p:nvPr>
        </p:nvSpPr>
        <p:spPr>
          <a:xfrm>
            <a:off x="359609" y="264234"/>
            <a:ext cx="11476791" cy="358065"/>
          </a:xfrm>
        </p:spPr>
        <p:txBody>
          <a:bodyPr/>
          <a:lstStyle/>
          <a:p>
            <a:r>
              <a:rPr lang="en-US" dirty="0"/>
              <a:t>Karnataka | Industry category wise wind power based captive plants (FY2018-19)</a:t>
            </a:r>
            <a:endParaRPr lang="en-IN" dirty="0"/>
          </a:p>
        </p:txBody>
      </p:sp>
      <p:sp>
        <p:nvSpPr>
          <p:cNvPr id="7" name="TextBox 6">
            <a:extLst>
              <a:ext uri="{FF2B5EF4-FFF2-40B4-BE49-F238E27FC236}">
                <a16:creationId xmlns:a16="http://schemas.microsoft.com/office/drawing/2014/main" id="{2917EEB1-793C-43F8-A332-51DA1927B9BA}"/>
              </a:ext>
            </a:extLst>
          </p:cNvPr>
          <p:cNvSpPr txBox="1"/>
          <p:nvPr/>
        </p:nvSpPr>
        <p:spPr>
          <a:xfrm>
            <a:off x="8484782" y="2364687"/>
            <a:ext cx="3347610" cy="3766022"/>
          </a:xfrm>
          <a:prstGeom prst="rect">
            <a:avLst/>
          </a:prstGeom>
          <a:noFill/>
        </p:spPr>
        <p:txBody>
          <a:bodyPr wrap="square" lIns="36000" tIns="36000" rIns="36000" bIns="36000" rtlCol="0" anchor="ctr">
            <a:spAutoFit/>
          </a:bodyPr>
          <a:lstStyle/>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Most of the energy intensive industries in Karnataka are consuming 100% of the energy generated from their captive </a:t>
            </a:r>
            <a:r>
              <a:rPr lang="en-US" sz="1100" dirty="0">
                <a:latin typeface="Verdana"/>
              </a:rPr>
              <a:t>wind</a:t>
            </a:r>
            <a:r>
              <a:rPr kumimoji="0" lang="en-US" sz="1100" b="0" i="0" u="none" strike="noStrike" kern="1200" cap="none" spc="0" normalizeH="0" baseline="0" noProof="0" dirty="0">
                <a:ln>
                  <a:noFill/>
                </a:ln>
                <a:effectLst/>
                <a:uLnTx/>
                <a:uFillTx/>
                <a:latin typeface="Verdana"/>
                <a:ea typeface="+mn-ea"/>
                <a:cs typeface="+mn-cs"/>
              </a:rPr>
              <a:t> plant.</a:t>
            </a: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There is huge potential for sale of RE to the energy intensive industries in Karnataka considering their present wind captive installation, energy consumption from wind captive units and their non-solar RPO targets.</a:t>
            </a: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lang="en-US" sz="1100" dirty="0">
                <a:latin typeface="Verdana"/>
              </a:rPr>
              <a:t>Wind</a:t>
            </a:r>
            <a:r>
              <a:rPr kumimoji="0" lang="en-US" sz="1100" b="0" i="0" u="none" strike="noStrike" kern="1200" cap="none" spc="0" normalizeH="0" baseline="0" noProof="0" dirty="0">
                <a:ln>
                  <a:noFill/>
                </a:ln>
                <a:effectLst/>
                <a:uLnTx/>
                <a:uFillTx/>
                <a:latin typeface="Verdana"/>
                <a:ea typeface="+mn-ea"/>
                <a:cs typeface="+mn-cs"/>
              </a:rPr>
              <a:t> based captive capacity constitutes only ~1% of the total captive capacity in </a:t>
            </a:r>
            <a:r>
              <a:rPr lang="en-US" sz="1100" dirty="0">
                <a:latin typeface="Verdana"/>
              </a:rPr>
              <a:t>Karnataka.</a:t>
            </a:r>
            <a:endParaRPr kumimoji="0" lang="en-US" sz="1100" b="0" i="0" u="none" strike="noStrike" kern="1200" cap="none" spc="0" normalizeH="0" baseline="0" noProof="0" dirty="0">
              <a:ln>
                <a:noFill/>
              </a:ln>
              <a:effectLst/>
              <a:uLnTx/>
              <a:uFillTx/>
              <a:latin typeface="Verdana"/>
              <a:ea typeface="+mn-ea"/>
              <a:cs typeface="+mn-cs"/>
            </a:endParaRP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Energy generation from </a:t>
            </a:r>
            <a:r>
              <a:rPr lang="en-US" sz="1100" dirty="0">
                <a:latin typeface="Verdana"/>
              </a:rPr>
              <a:t>wind</a:t>
            </a:r>
            <a:r>
              <a:rPr kumimoji="0" lang="en-US" sz="1100" b="0" i="0" u="none" strike="noStrike" kern="1200" cap="none" spc="0" normalizeH="0" baseline="0" noProof="0" dirty="0">
                <a:ln>
                  <a:noFill/>
                </a:ln>
                <a:effectLst/>
                <a:uLnTx/>
                <a:uFillTx/>
                <a:latin typeface="Verdana"/>
                <a:ea typeface="+mn-ea"/>
                <a:cs typeface="+mn-cs"/>
              </a:rPr>
              <a:t> based captive plants is just ~0.9% of the total energy generated from all captive power plants in Karnataka.</a:t>
            </a:r>
          </a:p>
          <a:p>
            <a:pPr marL="171450" marR="0" lvl="0" indent="-171450" algn="just"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100" b="0" i="0" u="none" strike="noStrike" kern="1200" cap="none" spc="0" normalizeH="0" baseline="0" noProof="0" dirty="0">
                <a:ln>
                  <a:noFill/>
                </a:ln>
                <a:effectLst/>
                <a:uLnTx/>
                <a:uFillTx/>
                <a:latin typeface="Verdana"/>
                <a:ea typeface="+mn-ea"/>
                <a:cs typeface="+mn-cs"/>
              </a:rPr>
              <a:t>~</a:t>
            </a:r>
            <a:r>
              <a:rPr lang="en-US" sz="1100" dirty="0">
                <a:latin typeface="Verdana"/>
              </a:rPr>
              <a:t>8.4</a:t>
            </a:r>
            <a:r>
              <a:rPr kumimoji="0" lang="en-US" sz="1100" b="0" i="0" u="none" strike="noStrike" kern="1200" cap="none" spc="0" normalizeH="0" baseline="0" noProof="0" dirty="0">
                <a:ln>
                  <a:noFill/>
                </a:ln>
                <a:effectLst/>
                <a:uLnTx/>
                <a:uFillTx/>
                <a:latin typeface="Verdana"/>
                <a:ea typeface="+mn-ea"/>
                <a:cs typeface="+mn-cs"/>
              </a:rPr>
              <a:t>% of the total energy generated from </a:t>
            </a:r>
            <a:r>
              <a:rPr lang="en-US" sz="1100" dirty="0">
                <a:latin typeface="Verdana"/>
              </a:rPr>
              <a:t>wind</a:t>
            </a:r>
            <a:r>
              <a:rPr kumimoji="0" lang="en-US" sz="1100" b="0" i="0" u="none" strike="noStrike" kern="1200" cap="none" spc="0" normalizeH="0" baseline="0" noProof="0" dirty="0">
                <a:ln>
                  <a:noFill/>
                </a:ln>
                <a:effectLst/>
                <a:uLnTx/>
                <a:uFillTx/>
                <a:latin typeface="Verdana"/>
                <a:ea typeface="+mn-ea"/>
                <a:cs typeface="+mn-cs"/>
              </a:rPr>
              <a:t> based captive power plants in Karnataka is sold to Utility.</a:t>
            </a:r>
          </a:p>
        </p:txBody>
      </p:sp>
      <p:graphicFrame>
        <p:nvGraphicFramePr>
          <p:cNvPr id="12" name="Table 7">
            <a:extLst>
              <a:ext uri="{FF2B5EF4-FFF2-40B4-BE49-F238E27FC236}">
                <a16:creationId xmlns:a16="http://schemas.microsoft.com/office/drawing/2014/main" id="{63D14CAB-F3F3-4719-A208-A346A9A4A66B}"/>
              </a:ext>
            </a:extLst>
          </p:cNvPr>
          <p:cNvGraphicFramePr>
            <a:graphicFrameLocks noGrp="1"/>
          </p:cNvGraphicFramePr>
          <p:nvPr>
            <p:extLst>
              <p:ext uri="{D42A27DB-BD31-4B8C-83A1-F6EECF244321}">
                <p14:modId xmlns:p14="http://schemas.microsoft.com/office/powerpoint/2010/main" val="122658373"/>
              </p:ext>
            </p:extLst>
          </p:nvPr>
        </p:nvGraphicFramePr>
        <p:xfrm>
          <a:off x="359608" y="1212629"/>
          <a:ext cx="7933785" cy="5250000"/>
        </p:xfrm>
        <a:graphic>
          <a:graphicData uri="http://schemas.openxmlformats.org/drawingml/2006/table">
            <a:tbl>
              <a:tblPr firstRow="1" bandRow="1">
                <a:tableStyleId>{69012ECD-51FC-41F1-AA8D-1B2483CD663E}</a:tableStyleId>
              </a:tblPr>
              <a:tblGrid>
                <a:gridCol w="363721">
                  <a:extLst>
                    <a:ext uri="{9D8B030D-6E8A-4147-A177-3AD203B41FA5}">
                      <a16:colId xmlns:a16="http://schemas.microsoft.com/office/drawing/2014/main" val="1816698151"/>
                    </a:ext>
                  </a:extLst>
                </a:gridCol>
                <a:gridCol w="1481391">
                  <a:extLst>
                    <a:ext uri="{9D8B030D-6E8A-4147-A177-3AD203B41FA5}">
                      <a16:colId xmlns:a16="http://schemas.microsoft.com/office/drawing/2014/main" val="774441528"/>
                    </a:ext>
                  </a:extLst>
                </a:gridCol>
                <a:gridCol w="726826">
                  <a:extLst>
                    <a:ext uri="{9D8B030D-6E8A-4147-A177-3AD203B41FA5}">
                      <a16:colId xmlns:a16="http://schemas.microsoft.com/office/drawing/2014/main" val="808319263"/>
                    </a:ext>
                  </a:extLst>
                </a:gridCol>
                <a:gridCol w="1039640">
                  <a:extLst>
                    <a:ext uri="{9D8B030D-6E8A-4147-A177-3AD203B41FA5}">
                      <a16:colId xmlns:a16="http://schemas.microsoft.com/office/drawing/2014/main" val="2270571327"/>
                    </a:ext>
                  </a:extLst>
                </a:gridCol>
                <a:gridCol w="1838623">
                  <a:extLst>
                    <a:ext uri="{9D8B030D-6E8A-4147-A177-3AD203B41FA5}">
                      <a16:colId xmlns:a16="http://schemas.microsoft.com/office/drawing/2014/main" val="1392500486"/>
                    </a:ext>
                  </a:extLst>
                </a:gridCol>
                <a:gridCol w="1241792">
                  <a:extLst>
                    <a:ext uri="{9D8B030D-6E8A-4147-A177-3AD203B41FA5}">
                      <a16:colId xmlns:a16="http://schemas.microsoft.com/office/drawing/2014/main" val="28411845"/>
                    </a:ext>
                  </a:extLst>
                </a:gridCol>
                <a:gridCol w="1241792">
                  <a:extLst>
                    <a:ext uri="{9D8B030D-6E8A-4147-A177-3AD203B41FA5}">
                      <a16:colId xmlns:a16="http://schemas.microsoft.com/office/drawing/2014/main" val="4172241189"/>
                    </a:ext>
                  </a:extLst>
                </a:gridCol>
              </a:tblGrid>
              <a:tr h="655316">
                <a:tc>
                  <a:txBody>
                    <a:bodyPr/>
                    <a:lstStyle/>
                    <a:p>
                      <a:pPr algn="ctr" rtl="0" fontAlgn="ctr"/>
                      <a:r>
                        <a:rPr lang="en-IN" sz="1000" u="none" strike="noStrike" dirty="0">
                          <a:effectLst/>
                          <a:latin typeface="+mn-lt"/>
                        </a:rPr>
                        <a:t>S. No.</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IN" sz="1000" u="none" strike="noStrike" dirty="0">
                          <a:effectLst/>
                          <a:latin typeface="+mn-lt"/>
                        </a:rPr>
                        <a:t>Industry Type</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IN" sz="1000" u="none" strike="noStrike" dirty="0">
                          <a:effectLst/>
                          <a:latin typeface="+mn-lt"/>
                        </a:rPr>
                        <a:t>No. of Industries</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IN" sz="1000" u="none" strike="noStrike" dirty="0">
                          <a:effectLst/>
                          <a:latin typeface="+mn-lt"/>
                        </a:rPr>
                        <a:t>Installed Wind Capacity</a:t>
                      </a:r>
                    </a:p>
                    <a:p>
                      <a:pPr algn="ctr" rtl="0" fontAlgn="ctr"/>
                      <a:r>
                        <a:rPr lang="en-IN" sz="1000" u="none" strike="noStrike" dirty="0">
                          <a:effectLst/>
                          <a:latin typeface="+mn-lt"/>
                        </a:rPr>
                        <a:t>(MW)</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US" sz="1000" u="none" strike="noStrike" dirty="0">
                          <a:effectLst/>
                          <a:latin typeface="+mn-lt"/>
                        </a:rPr>
                        <a:t>Wind as % of Total Captive Capacity of respective industry</a:t>
                      </a:r>
                      <a:endParaRPr lang="en-US" sz="1000" b="1" i="0" u="none" strike="noStrike" dirty="0">
                        <a:solidFill>
                          <a:srgbClr val="FFFFFF"/>
                        </a:solidFill>
                        <a:effectLst/>
                        <a:latin typeface="+mn-lt"/>
                      </a:endParaRPr>
                    </a:p>
                  </a:txBody>
                  <a:tcPr marL="36000" marR="36000" marT="36000" marB="36000"/>
                </a:tc>
                <a:tc>
                  <a:txBody>
                    <a:bodyPr/>
                    <a:lstStyle/>
                    <a:p>
                      <a:pPr algn="ctr" rtl="0" fontAlgn="ctr"/>
                      <a:r>
                        <a:rPr lang="en-US" sz="1000" u="none" strike="noStrike" dirty="0">
                          <a:effectLst/>
                          <a:latin typeface="+mn-lt"/>
                        </a:rPr>
                        <a:t>% consumed of total captive wind generation</a:t>
                      </a:r>
                      <a:endParaRPr lang="en-IN" sz="1000" b="1" i="0" u="none" strike="noStrike" dirty="0">
                        <a:solidFill>
                          <a:srgbClr val="FFFFFF"/>
                        </a:solidFill>
                        <a:effectLst/>
                        <a:latin typeface="+mn-lt"/>
                      </a:endParaRPr>
                    </a:p>
                  </a:txBody>
                  <a:tcPr marL="36000" marR="36000" marT="36000" marB="36000"/>
                </a:tc>
                <a:tc>
                  <a:txBody>
                    <a:bodyPr/>
                    <a:lstStyle/>
                    <a:p>
                      <a:pPr algn="ctr" rtl="0" fontAlgn="ctr"/>
                      <a:r>
                        <a:rPr lang="en-US" sz="1000" b="1" i="0" u="none" strike="noStrike" dirty="0">
                          <a:solidFill>
                            <a:srgbClr val="FFFFFF"/>
                          </a:solidFill>
                          <a:effectLst/>
                          <a:latin typeface="+mn-lt"/>
                        </a:rPr>
                        <a:t>% Wind captive consumption of total captive consumption</a:t>
                      </a:r>
                      <a:endParaRPr lang="en-IN" sz="1000" b="1" i="0" u="none" strike="noStrike" dirty="0">
                        <a:solidFill>
                          <a:srgbClr val="FFFFFF"/>
                        </a:solidFill>
                        <a:effectLst/>
                        <a:latin typeface="+mn-lt"/>
                      </a:endParaRPr>
                    </a:p>
                  </a:txBody>
                  <a:tcPr marL="36000" marR="36000" marT="36000" marB="36000"/>
                </a:tc>
                <a:extLst>
                  <a:ext uri="{0D108BD9-81ED-4DB2-BD59-A6C34878D82A}">
                    <a16:rowId xmlns:a16="http://schemas.microsoft.com/office/drawing/2014/main" val="3415060310"/>
                  </a:ext>
                </a:extLst>
              </a:tr>
              <a:tr h="215747">
                <a:tc>
                  <a:txBody>
                    <a:bodyPr/>
                    <a:lstStyle/>
                    <a:p>
                      <a:pPr algn="ctr" rtl="0" fontAlgn="ctr"/>
                      <a:r>
                        <a:rPr lang="en-IN" sz="1000" u="none" strike="noStrike" dirty="0">
                          <a:effectLst/>
                        </a:rPr>
                        <a:t>1</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l" rtl="0" fontAlgn="ctr"/>
                      <a:r>
                        <a:rPr lang="en-IN" sz="1000" u="none" strike="noStrike" dirty="0">
                          <a:effectLst/>
                        </a:rPr>
                        <a:t>Iron &amp; Steel</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3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3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3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3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solidFill>
                      <a:srgbClr val="86BC25">
                        <a:alpha val="30196"/>
                      </a:srgbClr>
                    </a:solidFill>
                  </a:tcPr>
                </a:tc>
                <a:extLst>
                  <a:ext uri="{0D108BD9-81ED-4DB2-BD59-A6C34878D82A}">
                    <a16:rowId xmlns:a16="http://schemas.microsoft.com/office/drawing/2014/main" val="1400417218"/>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2</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l" rtl="0" fontAlgn="ctr"/>
                      <a:r>
                        <a:rPr lang="en-IN" sz="1000" u="none" strike="noStrike" dirty="0">
                          <a:effectLst/>
                        </a:rPr>
                        <a:t>Miscellaneous</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ctr" rtl="0" fontAlgn="t"/>
                      <a:r>
                        <a:rPr lang="en-US" sz="1000" b="0" i="0" u="none" strike="noStrike" dirty="0">
                          <a:solidFill>
                            <a:srgbClr val="000000"/>
                          </a:solidFill>
                          <a:effectLst/>
                          <a:latin typeface="+mn-lt"/>
                        </a:rPr>
                        <a:t>2</a:t>
                      </a:r>
                      <a:endParaRPr lang="en-IN" sz="1000" b="0" i="0" u="none" strike="noStrike" dirty="0">
                        <a:solidFill>
                          <a:srgbClr val="000000"/>
                        </a:solidFill>
                        <a:effectLst/>
                        <a:latin typeface="+mn-lt"/>
                      </a:endParaRPr>
                    </a:p>
                  </a:txBody>
                  <a:tcPr marL="36000" marR="36000" marT="36000" marB="36000">
                    <a:solidFill>
                      <a:srgbClr val="86BC25">
                        <a:alpha val="30196"/>
                      </a:srgbClr>
                    </a:solidFill>
                  </a:tcPr>
                </a:tc>
                <a:tc>
                  <a:txBody>
                    <a:bodyPr/>
                    <a:lstStyle/>
                    <a:p>
                      <a:pPr algn="ctr" rtl="0" fontAlgn="t"/>
                      <a:r>
                        <a:rPr lang="en-US" sz="1000" b="0" i="0" u="none" strike="noStrike" dirty="0">
                          <a:solidFill>
                            <a:srgbClr val="000000"/>
                          </a:solidFill>
                          <a:effectLst/>
                          <a:latin typeface="+mn-lt"/>
                        </a:rPr>
                        <a:t>29.75</a:t>
                      </a:r>
                      <a:endParaRPr lang="en-IN" sz="1000" b="0" i="0" u="none" strike="noStrike" dirty="0">
                        <a:solidFill>
                          <a:srgbClr val="000000"/>
                        </a:solidFill>
                        <a:effectLst/>
                        <a:latin typeface="+mn-lt"/>
                      </a:endParaRPr>
                    </a:p>
                  </a:txBody>
                  <a:tcPr marL="36000" marR="36000" marT="36000" marB="36000">
                    <a:solidFill>
                      <a:srgbClr val="86BC25">
                        <a:alpha val="30196"/>
                      </a:srgbClr>
                    </a:solidFill>
                  </a:tcPr>
                </a:tc>
                <a:tc>
                  <a:txBody>
                    <a:bodyPr/>
                    <a:lstStyle/>
                    <a:p>
                      <a:pPr algn="ctr" rtl="0" fontAlgn="t"/>
                      <a:r>
                        <a:rPr lang="en-US" sz="1000" b="0" i="0" u="none" strike="noStrike" dirty="0">
                          <a:solidFill>
                            <a:srgbClr val="000000"/>
                          </a:solidFill>
                          <a:effectLst/>
                          <a:latin typeface="+mn-lt"/>
                        </a:rPr>
                        <a:t>2.06%</a:t>
                      </a:r>
                      <a:endParaRPr lang="en-IN" sz="1000" b="0" i="0" u="none" strike="noStrike" dirty="0">
                        <a:solidFill>
                          <a:srgbClr val="000000"/>
                        </a:solidFill>
                        <a:effectLst/>
                        <a:latin typeface="+mn-lt"/>
                      </a:endParaRPr>
                    </a:p>
                  </a:txBody>
                  <a:tcPr marL="36000" marR="36000" marT="36000" marB="36000">
                    <a:solidFill>
                      <a:srgbClr val="86BC25">
                        <a:alpha val="30196"/>
                      </a:srgbClr>
                    </a:solidFill>
                  </a:tcPr>
                </a:tc>
                <a:tc>
                  <a:txBody>
                    <a:bodyPr/>
                    <a:lstStyle/>
                    <a:p>
                      <a:pPr algn="ctr" rtl="0" fontAlgn="t"/>
                      <a:r>
                        <a:rPr lang="en-US" sz="1000" b="0" i="0" u="none" strike="noStrike" dirty="0">
                          <a:solidFill>
                            <a:srgbClr val="000000"/>
                          </a:solidFill>
                          <a:effectLst/>
                          <a:latin typeface="+mn-lt"/>
                        </a:rPr>
                        <a:t>99.59%</a:t>
                      </a:r>
                      <a:endParaRPr lang="en-IN" sz="1000" b="0" i="0" u="none" strike="noStrike" dirty="0">
                        <a:solidFill>
                          <a:srgbClr val="000000"/>
                        </a:solidFill>
                        <a:effectLst/>
                        <a:latin typeface="+mn-lt"/>
                      </a:endParaRPr>
                    </a:p>
                  </a:txBody>
                  <a:tcPr marL="36000" marR="36000" marT="36000" marB="36000">
                    <a:solidFill>
                      <a:srgbClr val="86BC25">
                        <a:alpha val="30196"/>
                      </a:srgbClr>
                    </a:solidFill>
                  </a:tcPr>
                </a:tc>
                <a:tc>
                  <a:txBody>
                    <a:bodyPr/>
                    <a:lstStyle/>
                    <a:p>
                      <a:pPr marL="0" algn="ctr" defTabSz="914400" rtl="0" eaLnBrk="1" fontAlgn="t" latinLnBrk="0" hangingPunct="1"/>
                      <a:r>
                        <a:rPr lang="en-US" sz="1000" b="0" i="0" u="none" strike="noStrike" kern="1200" dirty="0">
                          <a:solidFill>
                            <a:srgbClr val="000000"/>
                          </a:solidFill>
                          <a:effectLst/>
                          <a:latin typeface="+mn-lt"/>
                          <a:ea typeface="+mn-ea"/>
                          <a:cs typeface="+mn-cs"/>
                        </a:rPr>
                        <a:t>2.29%</a:t>
                      </a:r>
                      <a:endParaRPr lang="en-IN" sz="1000" b="0" i="0" u="none" strike="noStrike" kern="1200" dirty="0">
                        <a:solidFill>
                          <a:srgbClr val="000000"/>
                        </a:solidFill>
                        <a:effectLst/>
                        <a:latin typeface="+mn-lt"/>
                        <a:ea typeface="+mn-ea"/>
                        <a:cs typeface="+mn-cs"/>
                      </a:endParaRPr>
                    </a:p>
                  </a:txBody>
                  <a:tcPr marL="36000" marR="36000" marT="36000" marB="36000">
                    <a:solidFill>
                      <a:srgbClr val="86BC25">
                        <a:alpha val="30196"/>
                      </a:srgbClr>
                    </a:solidFill>
                  </a:tcPr>
                </a:tc>
                <a:extLst>
                  <a:ext uri="{0D108BD9-81ED-4DB2-BD59-A6C34878D82A}">
                    <a16:rowId xmlns:a16="http://schemas.microsoft.com/office/drawing/2014/main" val="2616393712"/>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3</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30196"/>
                      </a:srgbClr>
                    </a:solidFill>
                  </a:tcPr>
                </a:tc>
                <a:tc>
                  <a:txBody>
                    <a:bodyPr/>
                    <a:lstStyle/>
                    <a:p>
                      <a:pPr algn="l" rtl="0" fontAlgn="ctr"/>
                      <a:r>
                        <a:rPr lang="en-IN" sz="1000" u="none" strike="noStrike" dirty="0">
                          <a:effectLst/>
                        </a:rPr>
                        <a:t>Cement</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30196"/>
                      </a:srgbClr>
                    </a:solidFill>
                  </a:tcPr>
                </a:tc>
                <a:tc>
                  <a:txBody>
                    <a:bodyPr/>
                    <a:lstStyle/>
                    <a:p>
                      <a:pPr algn="ctr" rtl="0" fontAlgn="t"/>
                      <a:r>
                        <a:rPr lang="en-IN" sz="1000" b="0" i="0" u="none" strike="noStrike" dirty="0">
                          <a:solidFill>
                            <a:srgbClr val="000000"/>
                          </a:solidFill>
                          <a:effectLst/>
                          <a:latin typeface="+mn-lt"/>
                        </a:rPr>
                        <a:t>1</a:t>
                      </a:r>
                    </a:p>
                  </a:txBody>
                  <a:tcPr marL="36000" marR="36000" marT="36000" marB="36000">
                    <a:solidFill>
                      <a:srgbClr val="86BC25">
                        <a:alpha val="30196"/>
                      </a:srgbClr>
                    </a:solidFill>
                  </a:tcPr>
                </a:tc>
                <a:tc>
                  <a:txBody>
                    <a:bodyPr/>
                    <a:lstStyle/>
                    <a:p>
                      <a:pPr algn="ctr" rtl="0" fontAlgn="t"/>
                      <a:r>
                        <a:rPr lang="en-IN" sz="1000" b="0" i="0" u="none" strike="noStrike" dirty="0">
                          <a:solidFill>
                            <a:srgbClr val="000000"/>
                          </a:solidFill>
                          <a:effectLst/>
                          <a:latin typeface="+mn-lt"/>
                        </a:rPr>
                        <a:t>6</a:t>
                      </a:r>
                    </a:p>
                  </a:txBody>
                  <a:tcPr marL="36000" marR="36000" marT="36000" marB="36000">
                    <a:solidFill>
                      <a:srgbClr val="86BC25">
                        <a:alpha val="3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0.82%</a:t>
                      </a:r>
                    </a:p>
                  </a:txBody>
                  <a:tcPr marL="36000" marR="36000" marT="36000" marB="36000">
                    <a:solidFill>
                      <a:srgbClr val="86BC25">
                        <a:alpha val="3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100.0%</a:t>
                      </a:r>
                    </a:p>
                  </a:txBody>
                  <a:tcPr marL="36000" marR="36000" marT="36000" marB="36000">
                    <a:solidFill>
                      <a:srgbClr val="86BC25">
                        <a:alpha val="3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0.32%</a:t>
                      </a:r>
                    </a:p>
                  </a:txBody>
                  <a:tcPr marL="36000" marR="36000" marT="36000" marB="36000">
                    <a:solidFill>
                      <a:srgbClr val="86BC25">
                        <a:alpha val="30196"/>
                      </a:srgbClr>
                    </a:solidFill>
                  </a:tcPr>
                </a:tc>
                <a:extLst>
                  <a:ext uri="{0D108BD9-81ED-4DB2-BD59-A6C34878D82A}">
                    <a16:rowId xmlns:a16="http://schemas.microsoft.com/office/drawing/2014/main" val="3052972607"/>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4</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Sugar</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1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solidFill>
                      <a:srgbClr val="86BC25">
                        <a:alpha val="10196"/>
                      </a:srgbClr>
                    </a:solidFill>
                  </a:tcPr>
                </a:tc>
                <a:extLst>
                  <a:ext uri="{0D108BD9-81ED-4DB2-BD59-A6C34878D82A}">
                    <a16:rowId xmlns:a16="http://schemas.microsoft.com/office/drawing/2014/main" val="550343638"/>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5</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Mineral Oil &amp; Petroleum</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1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solidFill>
                      <a:srgbClr val="86BC25">
                        <a:alpha val="10196"/>
                      </a:srgbClr>
                    </a:solidFill>
                  </a:tcPr>
                </a:tc>
                <a:extLst>
                  <a:ext uri="{0D108BD9-81ED-4DB2-BD59-A6C34878D82A}">
                    <a16:rowId xmlns:a16="http://schemas.microsoft.com/office/drawing/2014/main" val="3747580750"/>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6</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Chemical</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0</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a:t>
                      </a:r>
                    </a:p>
                  </a:txBody>
                  <a:tcPr marL="36000" marR="36000" marT="36000" marB="36000">
                    <a:solidFill>
                      <a:srgbClr val="86BC25">
                        <a:alpha val="10196"/>
                      </a:srgbClr>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solidFill>
                      <a:srgbClr val="86BC25">
                        <a:alpha val="10196"/>
                      </a:srgbClr>
                    </a:solidFill>
                  </a:tcPr>
                </a:tc>
                <a:extLst>
                  <a:ext uri="{0D108BD9-81ED-4DB2-BD59-A6C34878D82A}">
                    <a16:rowId xmlns:a16="http://schemas.microsoft.com/office/drawing/2014/main" val="2167643388"/>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7</a:t>
                      </a:r>
                      <a:endParaRPr lang="en-IN" sz="1000" b="0" i="0" u="none" strike="noStrike" dirty="0">
                        <a:solidFill>
                          <a:srgbClr val="000000"/>
                        </a:solidFill>
                        <a:effectLst/>
                        <a:latin typeface="Verdana" panose="020B0604030504040204" pitchFamily="34" charset="0"/>
                      </a:endParaRPr>
                    </a:p>
                  </a:txBody>
                  <a:tcPr marL="21600" marR="21600" marT="21600" marB="21600" anchor="ctr">
                    <a:solidFill>
                      <a:srgbClr val="86BC25">
                        <a:alpha val="10196"/>
                      </a:srgbClr>
                    </a:solidFill>
                  </a:tcPr>
                </a:tc>
                <a:tc>
                  <a:txBody>
                    <a:bodyPr/>
                    <a:lstStyle/>
                    <a:p>
                      <a:pPr algn="l" rtl="0" fontAlgn="ctr"/>
                      <a:r>
                        <a:rPr lang="en-IN" sz="1000" u="none" strike="noStrike" dirty="0">
                          <a:effectLst/>
                        </a:rPr>
                        <a:t>Light Engineering</a:t>
                      </a:r>
                      <a:endParaRPr lang="en-IN" sz="1000" b="0" i="0" u="none" strike="noStrike" dirty="0">
                        <a:solidFill>
                          <a:srgbClr val="000000"/>
                        </a:solidFill>
                        <a:effectLst/>
                        <a:latin typeface="Verdana" panose="020B0604030504040204" pitchFamily="34" charset="0"/>
                      </a:endParaRPr>
                    </a:p>
                  </a:txBody>
                  <a:tcPr marL="0" marR="0" marT="0" marB="0" anchor="ctr">
                    <a:solidFill>
                      <a:srgbClr val="86BC25">
                        <a:alpha val="10196"/>
                      </a:srgbClr>
                    </a:solidFill>
                  </a:tcPr>
                </a:tc>
                <a:tc>
                  <a:txBody>
                    <a:bodyPr/>
                    <a:lstStyle/>
                    <a:p>
                      <a:pPr algn="ctr" rtl="0" fontAlgn="t"/>
                      <a:r>
                        <a:rPr lang="en-IN" sz="1000" b="0" i="0" u="none" strike="noStrike" dirty="0">
                          <a:solidFill>
                            <a:srgbClr val="000000"/>
                          </a:solidFill>
                          <a:effectLst/>
                          <a:latin typeface="+mn-lt"/>
                        </a:rPr>
                        <a:t>4</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5.72</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2.54%</a:t>
                      </a:r>
                    </a:p>
                  </a:txBody>
                  <a:tcPr marL="36000" marR="36000" marT="36000" marB="36000">
                    <a:solidFill>
                      <a:srgbClr val="86BC25">
                        <a:alpha val="10196"/>
                      </a:srgbClr>
                    </a:solidFill>
                  </a:tcPr>
                </a:tc>
                <a:tc>
                  <a:txBody>
                    <a:bodyPr/>
                    <a:lstStyle/>
                    <a:p>
                      <a:pPr algn="ctr" rtl="0" fontAlgn="t"/>
                      <a:r>
                        <a:rPr lang="en-IN" sz="1000" b="0" i="0" u="none" strike="noStrike" dirty="0">
                          <a:solidFill>
                            <a:srgbClr val="000000"/>
                          </a:solidFill>
                          <a:effectLst/>
                          <a:latin typeface="+mn-lt"/>
                        </a:rPr>
                        <a:t>68.77%</a:t>
                      </a:r>
                    </a:p>
                  </a:txBody>
                  <a:tcPr marL="36000" marR="36000" marT="36000" marB="36000">
                    <a:solidFill>
                      <a:srgbClr val="86BC25">
                        <a:alpha val="10196"/>
                      </a:srgbClr>
                    </a:solidFill>
                  </a:tcPr>
                </a:tc>
                <a:tc>
                  <a:txBody>
                    <a:bodyPr/>
                    <a:lstStyle/>
                    <a:p>
                      <a:pPr marL="0" algn="ctr" defTabSz="914400" rtl="0" eaLnBrk="1" fontAlgn="t" latinLnBrk="0" hangingPunct="1"/>
                      <a:r>
                        <a:rPr lang="en-IN" sz="1000" b="0" i="0" u="none" strike="noStrike" kern="1200" dirty="0">
                          <a:solidFill>
                            <a:srgbClr val="000000"/>
                          </a:solidFill>
                          <a:effectLst/>
                          <a:latin typeface="+mn-lt"/>
                          <a:ea typeface="+mn-ea"/>
                          <a:cs typeface="+mn-cs"/>
                        </a:rPr>
                        <a:t>1.51%</a:t>
                      </a:r>
                    </a:p>
                  </a:txBody>
                  <a:tcPr marL="36000" marR="36000" marT="36000" marB="36000">
                    <a:solidFill>
                      <a:srgbClr val="86BC25">
                        <a:alpha val="10196"/>
                      </a:srgbClr>
                    </a:solidFill>
                  </a:tcPr>
                </a:tc>
                <a:extLst>
                  <a:ext uri="{0D108BD9-81ED-4DB2-BD59-A6C34878D82A}">
                    <a16:rowId xmlns:a16="http://schemas.microsoft.com/office/drawing/2014/main" val="2022181723"/>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8</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Automobile</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3120390661"/>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9</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Textile</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1457623000"/>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10</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Paper</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2612879729"/>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11</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US" sz="1000" b="0" i="0" u="none" strike="noStrike" dirty="0">
                          <a:solidFill>
                            <a:schemeClr val="tx1"/>
                          </a:solidFill>
                          <a:effectLst/>
                          <a:latin typeface="Verdana" panose="020B0604030504040204" pitchFamily="34" charset="0"/>
                        </a:rPr>
                        <a:t>J</a:t>
                      </a:r>
                      <a:r>
                        <a:rPr lang="en-IN" sz="1000" b="0" i="0" u="none" strike="noStrike" dirty="0">
                          <a:solidFill>
                            <a:schemeClr val="tx1"/>
                          </a:solidFill>
                          <a:effectLst/>
                          <a:latin typeface="Verdana" panose="020B0604030504040204" pitchFamily="34" charset="0"/>
                        </a:rPr>
                        <a:t>ute</a:t>
                      </a: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1781454971"/>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12</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Rubber</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2283048247"/>
                  </a:ext>
                </a:extLst>
              </a:tr>
              <a:tr h="215747">
                <a:tc>
                  <a:txBody>
                    <a:bodyPr/>
                    <a:lstStyle/>
                    <a:p>
                      <a:pPr algn="ctr" rtl="0" fontAlgn="ctr"/>
                      <a:r>
                        <a:rPr lang="en-IN" sz="1000" u="none" strike="noStrike" dirty="0">
                          <a:effectLst/>
                        </a:rPr>
                        <a:t>13</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US" sz="1000" b="0" i="0" u="none" strike="noStrike" dirty="0">
                          <a:solidFill>
                            <a:srgbClr val="000000"/>
                          </a:solidFill>
                          <a:effectLst/>
                          <a:latin typeface="Verdana" panose="020B0604030504040204" pitchFamily="34" charset="0"/>
                        </a:rPr>
                        <a:t>Colleries</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3097402099"/>
                  </a:ext>
                </a:extLst>
              </a:tr>
              <a:tr h="215747">
                <a:tc>
                  <a:txBody>
                    <a:bodyPr/>
                    <a:lstStyle/>
                    <a:p>
                      <a:pPr algn="ctr" rtl="0" fontAlgn="ctr"/>
                      <a:r>
                        <a:rPr lang="en-IN" sz="1000" u="none" strike="noStrike" dirty="0">
                          <a:effectLst/>
                        </a:rPr>
                        <a:t>14</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Electrical Engineering</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1</a:t>
                      </a:r>
                    </a:p>
                  </a:txBody>
                  <a:tcPr marL="36000" marR="36000" marT="36000" marB="36000"/>
                </a:tc>
                <a:tc>
                  <a:txBody>
                    <a:bodyPr/>
                    <a:lstStyle/>
                    <a:p>
                      <a:pPr algn="ctr" rtl="0" fontAlgn="t"/>
                      <a:r>
                        <a:rPr lang="en-IN" sz="1000" b="0" i="0" u="none" strike="noStrike" dirty="0">
                          <a:solidFill>
                            <a:srgbClr val="000000"/>
                          </a:solidFill>
                          <a:effectLst/>
                          <a:latin typeface="+mn-lt"/>
                        </a:rPr>
                        <a:t>13.9</a:t>
                      </a:r>
                    </a:p>
                  </a:txBody>
                  <a:tcPr marL="36000" marR="36000" marT="36000" marB="36000"/>
                </a:tc>
                <a:tc>
                  <a:txBody>
                    <a:bodyPr/>
                    <a:lstStyle/>
                    <a:p>
                      <a:pPr algn="ctr" rtl="0" fontAlgn="t"/>
                      <a:r>
                        <a:rPr lang="en-IN" sz="1000" b="0" i="0" u="none" strike="noStrike" dirty="0">
                          <a:solidFill>
                            <a:srgbClr val="000000"/>
                          </a:solidFill>
                          <a:effectLst/>
                          <a:latin typeface="+mn-lt"/>
                        </a:rPr>
                        <a:t>34.21%</a:t>
                      </a:r>
                    </a:p>
                  </a:txBody>
                  <a:tcPr marL="36000" marR="36000" marT="36000" marB="36000"/>
                </a:tc>
                <a:tc>
                  <a:txBody>
                    <a:bodyPr/>
                    <a:lstStyle/>
                    <a:p>
                      <a:pPr algn="ctr" rtl="0" fontAlgn="t"/>
                      <a:r>
                        <a:rPr lang="en-IN" sz="1000" b="0" i="0" u="none" strike="noStrike" dirty="0">
                          <a:solidFill>
                            <a:srgbClr val="000000"/>
                          </a:solidFill>
                          <a:effectLst/>
                          <a:latin typeface="+mn-lt"/>
                        </a:rPr>
                        <a:t>100.0%</a:t>
                      </a:r>
                    </a:p>
                  </a:txBody>
                  <a:tcPr marL="36000" marR="36000" marT="36000" marB="36000"/>
                </a:tc>
                <a:tc>
                  <a:txBody>
                    <a:bodyPr/>
                    <a:lstStyle/>
                    <a:p>
                      <a:pPr marL="0" algn="ctr" defTabSz="914400" rtl="0" eaLnBrk="1" fontAlgn="t" latinLnBrk="0" hangingPunct="1"/>
                      <a:r>
                        <a:rPr lang="en-IN" sz="1000" b="0" i="0" u="none" strike="noStrike" kern="1200" dirty="0">
                          <a:solidFill>
                            <a:srgbClr val="000000"/>
                          </a:solidFill>
                          <a:effectLst/>
                          <a:latin typeface="+mn-lt"/>
                          <a:ea typeface="+mn-ea"/>
                          <a:cs typeface="+mn-cs"/>
                        </a:rPr>
                        <a:t>43.34%</a:t>
                      </a:r>
                    </a:p>
                  </a:txBody>
                  <a:tcPr marL="36000" marR="36000" marT="36000" marB="36000"/>
                </a:tc>
                <a:extLst>
                  <a:ext uri="{0D108BD9-81ED-4DB2-BD59-A6C34878D82A}">
                    <a16:rowId xmlns:a16="http://schemas.microsoft.com/office/drawing/2014/main" val="567209542"/>
                  </a:ext>
                </a:extLst>
              </a:tr>
              <a:tr h="215747">
                <a:tc>
                  <a:txBody>
                    <a:bodyPr/>
                    <a:lstStyle/>
                    <a:p>
                      <a:pPr algn="ctr" rtl="0" fontAlgn="ctr"/>
                      <a:r>
                        <a:rPr lang="en-IN" sz="1000" u="none" strike="noStrike" dirty="0">
                          <a:effectLst/>
                        </a:rPr>
                        <a:t>15</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US" sz="1000" b="0" i="0" u="none" strike="noStrike" dirty="0">
                          <a:solidFill>
                            <a:schemeClr val="tx1"/>
                          </a:solidFill>
                          <a:effectLst/>
                          <a:latin typeface="Verdana" panose="020B0604030504040204" pitchFamily="34" charset="0"/>
                        </a:rPr>
                        <a:t>M</a:t>
                      </a:r>
                      <a:r>
                        <a:rPr lang="en-IN" sz="1000" b="0" i="0" u="none" strike="noStrike" dirty="0">
                          <a:solidFill>
                            <a:schemeClr val="tx1"/>
                          </a:solidFill>
                          <a:effectLst/>
                          <a:latin typeface="Verdana" panose="020B0604030504040204" pitchFamily="34" charset="0"/>
                        </a:rPr>
                        <a:t>ining &amp; Quarrying</a:t>
                      </a: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3885066106"/>
                  </a:ext>
                </a:extLst>
              </a:tr>
              <a:tr h="215747">
                <a:tc>
                  <a:txBody>
                    <a:bodyPr/>
                    <a:lstStyle/>
                    <a:p>
                      <a:pPr algn="ctr" rtl="0" fontAlgn="ctr"/>
                      <a:r>
                        <a:rPr lang="en-IN" sz="1000" u="none" strike="noStrike" dirty="0">
                          <a:effectLst/>
                        </a:rPr>
                        <a:t>16</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Aluminium</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3940220955"/>
                  </a:ext>
                </a:extLst>
              </a:tr>
              <a:tr h="215747">
                <a:tc>
                  <a:txBody>
                    <a:bodyPr/>
                    <a:lstStyle/>
                    <a:p>
                      <a:pPr algn="ctr" rtl="0" fontAlgn="ctr"/>
                      <a:r>
                        <a:rPr lang="en-IN" sz="1000" u="none" strike="noStrike" dirty="0">
                          <a:effectLst/>
                        </a:rPr>
                        <a:t>17</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Non Ferrous</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0</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algn="ctr" rtl="0" fontAlgn="t"/>
                      <a:r>
                        <a:rPr lang="en-IN" sz="1000" b="0" i="0" u="none" strike="noStrike" dirty="0">
                          <a:solidFill>
                            <a:srgbClr val="000000"/>
                          </a:solidFill>
                          <a:effectLst/>
                          <a:latin typeface="+mn-lt"/>
                        </a:rPr>
                        <a:t>-</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a:t>
                      </a:r>
                    </a:p>
                  </a:txBody>
                  <a:tcPr marL="36000" marR="36000" marT="36000" marB="36000"/>
                </a:tc>
                <a:extLst>
                  <a:ext uri="{0D108BD9-81ED-4DB2-BD59-A6C34878D82A}">
                    <a16:rowId xmlns:a16="http://schemas.microsoft.com/office/drawing/2014/main" val="1235343798"/>
                  </a:ext>
                </a:extLst>
              </a:tr>
              <a:tr h="215747">
                <a:tc>
                  <a:txBody>
                    <a:bodyPr/>
                    <a:lstStyle/>
                    <a:p>
                      <a:pPr algn="ctr" rtl="0" fontAlgn="ctr"/>
                      <a:r>
                        <a:rPr lang="en-IN" sz="1000" u="none" strike="noStrike" dirty="0">
                          <a:effectLst/>
                        </a:rPr>
                        <a:t>18</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Heavy Engineering</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1</a:t>
                      </a:r>
                    </a:p>
                  </a:txBody>
                  <a:tcPr marL="36000" marR="36000" marT="36000" marB="36000"/>
                </a:tc>
                <a:tc>
                  <a:txBody>
                    <a:bodyPr/>
                    <a:lstStyle/>
                    <a:p>
                      <a:pPr algn="ctr" rtl="0" fontAlgn="t"/>
                      <a:r>
                        <a:rPr lang="en-IN" sz="1000" b="0" i="0" u="none" strike="noStrike" dirty="0">
                          <a:solidFill>
                            <a:srgbClr val="000000"/>
                          </a:solidFill>
                          <a:effectLst/>
                          <a:latin typeface="+mn-lt"/>
                        </a:rPr>
                        <a:t>5</a:t>
                      </a:r>
                    </a:p>
                  </a:txBody>
                  <a:tcPr marL="36000" marR="36000" marT="36000" marB="36000"/>
                </a:tc>
                <a:tc>
                  <a:txBody>
                    <a:bodyPr/>
                    <a:lstStyle/>
                    <a:p>
                      <a:pPr algn="ctr" rtl="0" fontAlgn="t"/>
                      <a:r>
                        <a:rPr lang="en-US" sz="1000" b="0" i="0" u="none" strike="noStrike" dirty="0">
                          <a:solidFill>
                            <a:srgbClr val="000000"/>
                          </a:solidFill>
                          <a:effectLst/>
                          <a:latin typeface="+mn-lt"/>
                        </a:rPr>
                        <a:t>5.64%</a:t>
                      </a:r>
                      <a:endParaRPr lang="en-IN" sz="1000" b="0" i="0" u="none" strike="noStrike" dirty="0">
                        <a:solidFill>
                          <a:srgbClr val="000000"/>
                        </a:solidFill>
                        <a:effectLst/>
                        <a:latin typeface="+mn-lt"/>
                      </a:endParaRPr>
                    </a:p>
                  </a:txBody>
                  <a:tcPr marL="36000" marR="36000" marT="36000" marB="36000"/>
                </a:tc>
                <a:tc>
                  <a:txBody>
                    <a:bodyPr/>
                    <a:lstStyle/>
                    <a:p>
                      <a:pPr algn="ctr" rtl="0" fontAlgn="t"/>
                      <a:r>
                        <a:rPr lang="en-IN" sz="1000" b="0" i="0" u="none" strike="noStrike" dirty="0">
                          <a:solidFill>
                            <a:srgbClr val="000000"/>
                          </a:solidFill>
                          <a:effectLst/>
                          <a:latin typeface="+mn-lt"/>
                        </a:rPr>
                        <a:t>2.01%</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0.06%</a:t>
                      </a:r>
                    </a:p>
                  </a:txBody>
                  <a:tcPr marL="36000" marR="36000" marT="36000" marB="36000"/>
                </a:tc>
                <a:extLst>
                  <a:ext uri="{0D108BD9-81ED-4DB2-BD59-A6C34878D82A}">
                    <a16:rowId xmlns:a16="http://schemas.microsoft.com/office/drawing/2014/main" val="3985235920"/>
                  </a:ext>
                </a:extLst>
              </a:tr>
              <a:tr h="215747">
                <a:tc>
                  <a:txBody>
                    <a:bodyPr/>
                    <a:lstStyle/>
                    <a:p>
                      <a:pPr algn="ctr" rtl="0" fontAlgn="ctr"/>
                      <a:r>
                        <a:rPr lang="en-US" sz="1000" b="0" i="0" u="none" strike="noStrike" dirty="0">
                          <a:solidFill>
                            <a:srgbClr val="000000"/>
                          </a:solidFill>
                          <a:effectLst/>
                          <a:latin typeface="Verdana" panose="020B0604030504040204" pitchFamily="34" charset="0"/>
                        </a:rPr>
                        <a:t>19</a:t>
                      </a:r>
                      <a:endParaRPr lang="en-IN" sz="1000" b="0" i="0" u="none" strike="noStrike" dirty="0">
                        <a:solidFill>
                          <a:srgbClr val="000000"/>
                        </a:solidFill>
                        <a:effectLst/>
                        <a:latin typeface="Verdana" panose="020B0604030504040204" pitchFamily="34" charset="0"/>
                      </a:endParaRPr>
                    </a:p>
                  </a:txBody>
                  <a:tcPr marL="21600" marR="21600" marT="21600" marB="21600" anchor="ctr"/>
                </a:tc>
                <a:tc>
                  <a:txBody>
                    <a:bodyPr/>
                    <a:lstStyle/>
                    <a:p>
                      <a:pPr algn="l" rtl="0" fontAlgn="ctr"/>
                      <a:r>
                        <a:rPr lang="en-IN" sz="1000" u="none" strike="noStrike" dirty="0">
                          <a:effectLst/>
                        </a:rPr>
                        <a:t>Food Products</a:t>
                      </a:r>
                      <a:endParaRPr lang="en-IN" sz="1000" b="0"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IN" sz="1000" b="0" i="0" u="none" strike="noStrike" dirty="0">
                          <a:solidFill>
                            <a:srgbClr val="000000"/>
                          </a:solidFill>
                          <a:effectLst/>
                          <a:latin typeface="+mn-lt"/>
                        </a:rPr>
                        <a:t>1</a:t>
                      </a:r>
                    </a:p>
                  </a:txBody>
                  <a:tcPr marL="36000" marR="36000" marT="36000" marB="36000"/>
                </a:tc>
                <a:tc>
                  <a:txBody>
                    <a:bodyPr/>
                    <a:lstStyle/>
                    <a:p>
                      <a:pPr algn="ctr" rtl="0" fontAlgn="t"/>
                      <a:r>
                        <a:rPr lang="en-IN" sz="1000" b="0" i="0" u="none" strike="noStrike" dirty="0">
                          <a:solidFill>
                            <a:srgbClr val="000000"/>
                          </a:solidFill>
                          <a:effectLst/>
                          <a:latin typeface="+mn-lt"/>
                        </a:rPr>
                        <a:t>0.13</a:t>
                      </a:r>
                    </a:p>
                  </a:txBody>
                  <a:tcPr marL="36000" marR="36000" marT="36000" marB="36000"/>
                </a:tc>
                <a:tc>
                  <a:txBody>
                    <a:bodyPr/>
                    <a:lstStyle/>
                    <a:p>
                      <a:pPr algn="ctr" rtl="0" fontAlgn="t"/>
                      <a:r>
                        <a:rPr lang="en-IN" sz="1000" b="0" i="0" u="none" strike="noStrike" dirty="0">
                          <a:solidFill>
                            <a:srgbClr val="000000"/>
                          </a:solidFill>
                          <a:effectLst/>
                          <a:latin typeface="+mn-lt"/>
                        </a:rPr>
                        <a:t>0.24%</a:t>
                      </a:r>
                    </a:p>
                  </a:txBody>
                  <a:tcPr marL="36000" marR="36000" marT="36000" marB="36000"/>
                </a:tc>
                <a:tc>
                  <a:txBody>
                    <a:bodyPr/>
                    <a:lstStyle/>
                    <a:p>
                      <a:pPr algn="ctr" rtl="0" fontAlgn="t"/>
                      <a:r>
                        <a:rPr lang="en-IN" sz="1000" b="0" i="0" u="none" strike="noStrike" dirty="0">
                          <a:solidFill>
                            <a:srgbClr val="000000"/>
                          </a:solidFill>
                          <a:effectLst/>
                          <a:latin typeface="+mn-lt"/>
                        </a:rPr>
                        <a:t>100.0%</a:t>
                      </a:r>
                    </a:p>
                  </a:txBody>
                  <a:tcPr marL="36000" marR="36000" marT="36000" marB="36000"/>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000000"/>
                          </a:solidFill>
                          <a:effectLst/>
                          <a:uLnTx/>
                          <a:uFillTx/>
                          <a:latin typeface="+mn-lt"/>
                          <a:ea typeface="+mn-ea"/>
                          <a:cs typeface="+mn-cs"/>
                        </a:rPr>
                        <a:t>0.59%</a:t>
                      </a:r>
                    </a:p>
                  </a:txBody>
                  <a:tcPr marL="36000" marR="36000" marT="36000" marB="36000"/>
                </a:tc>
                <a:extLst>
                  <a:ext uri="{0D108BD9-81ED-4DB2-BD59-A6C34878D82A}">
                    <a16:rowId xmlns:a16="http://schemas.microsoft.com/office/drawing/2014/main" val="2649319566"/>
                  </a:ext>
                </a:extLst>
              </a:tr>
              <a:tr h="0">
                <a:tc gridSpan="2">
                  <a:txBody>
                    <a:bodyPr/>
                    <a:lstStyle/>
                    <a:p>
                      <a:pPr algn="ctr" rtl="0" fontAlgn="ctr"/>
                      <a:r>
                        <a:rPr lang="en-IN" sz="1000" b="1" u="none" strike="noStrike" dirty="0">
                          <a:effectLst/>
                          <a:latin typeface="+mn-lt"/>
                        </a:rPr>
                        <a:t>Total Karnataka</a:t>
                      </a:r>
                      <a:endParaRPr lang="en-IN" sz="1000" b="1" i="0" u="none" strike="noStrike" dirty="0">
                        <a:solidFill>
                          <a:srgbClr val="000000"/>
                        </a:solidFill>
                        <a:effectLst/>
                        <a:latin typeface="+mn-lt"/>
                      </a:endParaRPr>
                    </a:p>
                  </a:txBody>
                  <a:tcPr marL="36000" marR="36000" marT="36000" marB="36000" anchor="ctr"/>
                </a:tc>
                <a:tc hMerge="1">
                  <a:txBody>
                    <a:bodyPr/>
                    <a:lstStyle/>
                    <a:p>
                      <a:pPr algn="l" rtl="0" fontAlgn="ctr"/>
                      <a:endParaRPr lang="en-IN" sz="1000" b="1" i="0" u="none" strike="noStrike" dirty="0">
                        <a:solidFill>
                          <a:srgbClr val="000000"/>
                        </a:solidFill>
                        <a:effectLst/>
                        <a:latin typeface="Verdana" panose="020B0604030504040204" pitchFamily="34" charset="0"/>
                      </a:endParaRPr>
                    </a:p>
                  </a:txBody>
                  <a:tcPr marL="0" marR="0" marT="0" marB="0" anchor="ctr"/>
                </a:tc>
                <a:tc>
                  <a:txBody>
                    <a:bodyPr/>
                    <a:lstStyle/>
                    <a:p>
                      <a:pPr algn="ctr" rtl="0" fontAlgn="t"/>
                      <a:r>
                        <a:rPr lang="en-US" sz="1000" b="1" i="0" u="none" strike="noStrike" dirty="0">
                          <a:solidFill>
                            <a:srgbClr val="000000"/>
                          </a:solidFill>
                          <a:effectLst/>
                          <a:latin typeface="+mn-lt"/>
                        </a:rPr>
                        <a:t>10</a:t>
                      </a:r>
                      <a:endParaRPr lang="en-IN" sz="1000" b="1" i="0" u="none" strike="noStrike" dirty="0">
                        <a:solidFill>
                          <a:srgbClr val="000000"/>
                        </a:solidFill>
                        <a:effectLst/>
                        <a:latin typeface="+mn-lt"/>
                      </a:endParaRPr>
                    </a:p>
                  </a:txBody>
                  <a:tcPr marL="36000" marR="36000" marT="36000" marB="36000"/>
                </a:tc>
                <a:tc>
                  <a:txBody>
                    <a:bodyPr/>
                    <a:lstStyle/>
                    <a:p>
                      <a:pPr algn="ctr" rtl="0" fontAlgn="t"/>
                      <a:r>
                        <a:rPr lang="en-IN" sz="1000" b="1" i="0" u="none" strike="noStrike" dirty="0">
                          <a:solidFill>
                            <a:srgbClr val="000000"/>
                          </a:solidFill>
                          <a:effectLst/>
                          <a:latin typeface="+mn-lt"/>
                        </a:rPr>
                        <a:t>60.51</a:t>
                      </a:r>
                    </a:p>
                  </a:txBody>
                  <a:tcPr marL="36000" marR="36000" marT="36000" marB="36000"/>
                </a:tc>
                <a:tc>
                  <a:txBody>
                    <a:bodyPr/>
                    <a:lstStyle/>
                    <a:p>
                      <a:pPr algn="ctr" rtl="0" fontAlgn="t"/>
                      <a:r>
                        <a:rPr lang="en-IN" sz="1000" b="1" i="0" u="none" strike="noStrike" dirty="0">
                          <a:solidFill>
                            <a:srgbClr val="000000"/>
                          </a:solidFill>
                          <a:effectLst/>
                          <a:latin typeface="+mn-lt"/>
                        </a:rPr>
                        <a:t>0.99%</a:t>
                      </a:r>
                    </a:p>
                  </a:txBody>
                  <a:tcPr marL="36000" marR="36000" marT="36000" marB="36000"/>
                </a:tc>
                <a:tc>
                  <a:txBody>
                    <a:bodyPr/>
                    <a:lstStyle/>
                    <a:p>
                      <a:pPr algn="ctr" rtl="0" fontAlgn="t"/>
                      <a:r>
                        <a:rPr lang="en-IN" sz="1000" b="1" i="0" u="none" strike="noStrike" dirty="0">
                          <a:solidFill>
                            <a:srgbClr val="000000"/>
                          </a:solidFill>
                          <a:effectLst/>
                          <a:latin typeface="+mn-lt"/>
                        </a:rPr>
                        <a:t>91.59%</a:t>
                      </a:r>
                    </a:p>
                  </a:txBody>
                  <a:tcPr marL="36000" marR="36000" marT="36000" marB="36000"/>
                </a:tc>
                <a:tc>
                  <a:txBody>
                    <a:bodyPr/>
                    <a:lstStyle/>
                    <a:p>
                      <a:pPr marL="0" algn="ctr" defTabSz="914400" rtl="0" eaLnBrk="1" fontAlgn="t" latinLnBrk="0" hangingPunct="1"/>
                      <a:r>
                        <a:rPr lang="en-IN" sz="1000" b="1" i="0" u="none" strike="noStrike" kern="1200" dirty="0">
                          <a:solidFill>
                            <a:srgbClr val="000000"/>
                          </a:solidFill>
                          <a:effectLst/>
                          <a:latin typeface="+mn-lt"/>
                          <a:ea typeface="+mn-ea"/>
                          <a:cs typeface="+mn-cs"/>
                        </a:rPr>
                        <a:t>0.68%</a:t>
                      </a:r>
                    </a:p>
                  </a:txBody>
                  <a:tcPr marL="36000" marR="36000" marT="36000" marB="36000"/>
                </a:tc>
                <a:extLst>
                  <a:ext uri="{0D108BD9-81ED-4DB2-BD59-A6C34878D82A}">
                    <a16:rowId xmlns:a16="http://schemas.microsoft.com/office/drawing/2014/main" val="3067148918"/>
                  </a:ext>
                </a:extLst>
              </a:tr>
            </a:tbl>
          </a:graphicData>
        </a:graphic>
      </p:graphicFrame>
      <p:sp>
        <p:nvSpPr>
          <p:cNvPr id="13" name="Text Placeholder 2">
            <a:extLst>
              <a:ext uri="{FF2B5EF4-FFF2-40B4-BE49-F238E27FC236}">
                <a16:creationId xmlns:a16="http://schemas.microsoft.com/office/drawing/2014/main" id="{362E04CB-A27A-4650-A17E-FD5167207ED2}"/>
              </a:ext>
            </a:extLst>
          </p:cNvPr>
          <p:cNvSpPr txBox="1">
            <a:spLocks/>
          </p:cNvSpPr>
          <p:nvPr/>
        </p:nvSpPr>
        <p:spPr>
          <a:xfrm>
            <a:off x="359609" y="626190"/>
            <a:ext cx="11202669" cy="757255"/>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defRPr sz="2000" b="0" kern="1200">
                <a:solidFill>
                  <a:srgbClr val="575757"/>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defRPr lang="en-US" sz="1100" b="1" kern="1200" dirty="0" smtClean="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defRPr lang="en-US" sz="1100" kern="1200" dirty="0" smtClean="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defRPr lang="en-US" sz="1100" kern="1200" baseline="0" dirty="0" smtClean="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defRPr lang="en-US" sz="1100" kern="1200" baseline="0" dirty="0" smtClean="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Pct val="100000"/>
              <a:buFont typeface="Arial" panose="020B0604020202020204" pitchFamily="34" charset="0"/>
              <a:buNone/>
              <a:tabLst/>
              <a:defRPr/>
            </a:pPr>
            <a:r>
              <a:rPr kumimoji="0" lang="en-US" sz="1700" b="0" i="0" u="none" strike="noStrike" kern="1200" cap="none" spc="0" normalizeH="0" baseline="0" noProof="0" dirty="0">
                <a:ln>
                  <a:noFill/>
                </a:ln>
                <a:solidFill>
                  <a:schemeClr val="tx1"/>
                </a:solidFill>
                <a:effectLst/>
                <a:uLnTx/>
                <a:uFillTx/>
                <a:latin typeface="Verdana"/>
                <a:ea typeface="+mn-ea"/>
                <a:cs typeface="+mn-cs"/>
              </a:rPr>
              <a:t>With only ~0.68% of total energy consumption being from wind captive, industries in Karnataka offer good opportunities for Wind Group Captive sale</a:t>
            </a:r>
            <a:endParaRPr kumimoji="0" lang="en-IN" sz="1700" b="0" i="0" u="none" strike="noStrike" kern="1200" cap="none" spc="0" normalizeH="0" baseline="0" noProof="0" dirty="0">
              <a:ln>
                <a:noFill/>
              </a:ln>
              <a:solidFill>
                <a:schemeClr val="tx1"/>
              </a:solidFill>
              <a:effectLst/>
              <a:uLnTx/>
              <a:uFillTx/>
              <a:latin typeface="Verdana"/>
              <a:ea typeface="+mn-ea"/>
              <a:cs typeface="+mn-cs"/>
            </a:endParaRPr>
          </a:p>
        </p:txBody>
      </p:sp>
      <p:sp>
        <p:nvSpPr>
          <p:cNvPr id="14" name="TextBox 13">
            <a:extLst>
              <a:ext uri="{FF2B5EF4-FFF2-40B4-BE49-F238E27FC236}">
                <a16:creationId xmlns:a16="http://schemas.microsoft.com/office/drawing/2014/main" id="{D721F506-AB2B-497C-B3BF-52F141052F26}"/>
              </a:ext>
            </a:extLst>
          </p:cNvPr>
          <p:cNvSpPr txBox="1"/>
          <p:nvPr/>
        </p:nvSpPr>
        <p:spPr>
          <a:xfrm>
            <a:off x="8835938" y="6552322"/>
            <a:ext cx="2588125"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Source: CEA Reports</a:t>
            </a:r>
          </a:p>
        </p:txBody>
      </p:sp>
      <p:sp>
        <p:nvSpPr>
          <p:cNvPr id="9" name="TextBox 8">
            <a:extLst>
              <a:ext uri="{FF2B5EF4-FFF2-40B4-BE49-F238E27FC236}">
                <a16:creationId xmlns:a16="http://schemas.microsoft.com/office/drawing/2014/main" id="{DAC0261A-1037-4F2E-A1DC-8E730AB7526E}"/>
              </a:ext>
            </a:extLst>
          </p:cNvPr>
          <p:cNvSpPr txBox="1"/>
          <p:nvPr/>
        </p:nvSpPr>
        <p:spPr>
          <a:xfrm>
            <a:off x="10488002" y="1348240"/>
            <a:ext cx="1344390" cy="837904"/>
          </a:xfrm>
          <a:prstGeom prst="rect">
            <a:avLst/>
          </a:prstGeom>
          <a:solidFill>
            <a:srgbClr val="86BC25">
              <a:alpha val="10196"/>
            </a:srgbClr>
          </a:solidFill>
        </p:spPr>
        <p:txBody>
          <a:bodyPr wrap="square" lIns="72000" tIns="72000" rIns="72000" bIns="72000" rtlCol="0" anchor="ctr">
            <a:spAutoFit/>
          </a:bodyPr>
          <a:lstStyle/>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Energy intensive industries</a:t>
            </a:r>
          </a:p>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(consumption 500-2000 MUs)</a:t>
            </a:r>
          </a:p>
        </p:txBody>
      </p:sp>
      <p:sp>
        <p:nvSpPr>
          <p:cNvPr id="15" name="TextBox 14">
            <a:extLst>
              <a:ext uri="{FF2B5EF4-FFF2-40B4-BE49-F238E27FC236}">
                <a16:creationId xmlns:a16="http://schemas.microsoft.com/office/drawing/2014/main" id="{16E09898-3930-403D-BDAC-1C4EC9F407E3}"/>
              </a:ext>
            </a:extLst>
          </p:cNvPr>
          <p:cNvSpPr txBox="1"/>
          <p:nvPr/>
        </p:nvSpPr>
        <p:spPr>
          <a:xfrm>
            <a:off x="8835938" y="1348240"/>
            <a:ext cx="1424764" cy="837904"/>
          </a:xfrm>
          <a:prstGeom prst="rect">
            <a:avLst/>
          </a:prstGeom>
          <a:solidFill>
            <a:srgbClr val="86BC25">
              <a:alpha val="30196"/>
            </a:srgbClr>
          </a:solidFill>
        </p:spPr>
        <p:txBody>
          <a:bodyPr wrap="square" lIns="72000" tIns="72000" rIns="72000" bIns="72000" rtlCol="0" anchor="ctr">
            <a:spAutoFit/>
          </a:bodyPr>
          <a:lstStyle/>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Highly energy intensive industries</a:t>
            </a:r>
          </a:p>
          <a:p>
            <a:pPr marL="0" marR="0" lvl="0" indent="0" algn="ctr" defTabSz="914400" rtl="0" eaLnBrk="1" fontAlgn="auto" latinLnBrk="0" hangingPunct="1">
              <a:lnSpc>
                <a:spcPct val="100000"/>
              </a:lnSpc>
              <a:spcBef>
                <a:spcPts val="0"/>
              </a:spcBef>
              <a:spcAft>
                <a:spcPts val="600"/>
              </a:spcAft>
              <a:buClrTx/>
              <a:buSzPct val="100000"/>
              <a:buFontTx/>
              <a:buNone/>
              <a:tabLst/>
              <a:defRPr/>
            </a:pPr>
            <a:r>
              <a:rPr kumimoji="0" lang="en-US" sz="1000" b="0" i="0" u="none" strike="noStrike" kern="1200" cap="none" spc="0" normalizeH="0" baseline="0" noProof="0" dirty="0">
                <a:ln>
                  <a:noFill/>
                </a:ln>
                <a:solidFill>
                  <a:prstClr val="black"/>
                </a:solidFill>
                <a:effectLst/>
                <a:uLnTx/>
                <a:uFillTx/>
                <a:latin typeface="Verdana"/>
                <a:ea typeface="+mn-ea"/>
                <a:cs typeface="+mn-cs"/>
              </a:rPr>
              <a:t>(consumption &gt;2000 MUs)</a:t>
            </a:r>
          </a:p>
        </p:txBody>
      </p:sp>
    </p:spTree>
    <p:extLst>
      <p:ext uri="{BB962C8B-B14F-4D97-AF65-F5344CB8AC3E}">
        <p14:creationId xmlns:p14="http://schemas.microsoft.com/office/powerpoint/2010/main" val="100277714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9609" y="264235"/>
            <a:ext cx="11202669" cy="334100"/>
          </a:xfrm>
        </p:spPr>
        <p:txBody>
          <a:bodyPr/>
          <a:lstStyle/>
          <a:p>
            <a:r>
              <a:rPr lang="en-US" dirty="0">
                <a:solidFill>
                  <a:schemeClr val="accent1"/>
                </a:solidFill>
              </a:rPr>
              <a:t>Karnataka </a:t>
            </a:r>
            <a:r>
              <a:rPr lang="en-US" dirty="0"/>
              <a:t>| Top 25 (Installed Capacity wise) captive power plants (FY2018-19)</a:t>
            </a:r>
            <a:endParaRPr lang="en-IN" dirty="0"/>
          </a:p>
        </p:txBody>
      </p:sp>
      <p:graphicFrame>
        <p:nvGraphicFramePr>
          <p:cNvPr id="2" name="Table 2">
            <a:extLst>
              <a:ext uri="{FF2B5EF4-FFF2-40B4-BE49-F238E27FC236}">
                <a16:creationId xmlns:a16="http://schemas.microsoft.com/office/drawing/2014/main" id="{4324E61A-EAB7-4ACE-A2BC-CB506513ADD7}"/>
              </a:ext>
            </a:extLst>
          </p:cNvPr>
          <p:cNvGraphicFramePr>
            <a:graphicFrameLocks noGrp="1"/>
          </p:cNvGraphicFramePr>
          <p:nvPr>
            <p:extLst>
              <p:ext uri="{D42A27DB-BD31-4B8C-83A1-F6EECF244321}">
                <p14:modId xmlns:p14="http://schemas.microsoft.com/office/powerpoint/2010/main" val="1342128582"/>
              </p:ext>
            </p:extLst>
          </p:nvPr>
        </p:nvGraphicFramePr>
        <p:xfrm>
          <a:off x="857547" y="831172"/>
          <a:ext cx="10206791" cy="5544700"/>
        </p:xfrm>
        <a:graphic>
          <a:graphicData uri="http://schemas.openxmlformats.org/drawingml/2006/table">
            <a:tbl>
              <a:tblPr firstRow="1" bandRow="1">
                <a:tableStyleId>{69012ECD-51FC-41F1-AA8D-1B2483CD663E}</a:tableStyleId>
              </a:tblPr>
              <a:tblGrid>
                <a:gridCol w="912462">
                  <a:extLst>
                    <a:ext uri="{9D8B030D-6E8A-4147-A177-3AD203B41FA5}">
                      <a16:colId xmlns:a16="http://schemas.microsoft.com/office/drawing/2014/main" val="1430752163"/>
                    </a:ext>
                  </a:extLst>
                </a:gridCol>
                <a:gridCol w="4810111">
                  <a:extLst>
                    <a:ext uri="{9D8B030D-6E8A-4147-A177-3AD203B41FA5}">
                      <a16:colId xmlns:a16="http://schemas.microsoft.com/office/drawing/2014/main" val="2512734714"/>
                    </a:ext>
                  </a:extLst>
                </a:gridCol>
                <a:gridCol w="1754091">
                  <a:extLst>
                    <a:ext uri="{9D8B030D-6E8A-4147-A177-3AD203B41FA5}">
                      <a16:colId xmlns:a16="http://schemas.microsoft.com/office/drawing/2014/main" val="3142022866"/>
                    </a:ext>
                  </a:extLst>
                </a:gridCol>
                <a:gridCol w="1754091">
                  <a:extLst>
                    <a:ext uri="{9D8B030D-6E8A-4147-A177-3AD203B41FA5}">
                      <a16:colId xmlns:a16="http://schemas.microsoft.com/office/drawing/2014/main" val="1521379557"/>
                    </a:ext>
                  </a:extLst>
                </a:gridCol>
                <a:gridCol w="976036">
                  <a:extLst>
                    <a:ext uri="{9D8B030D-6E8A-4147-A177-3AD203B41FA5}">
                      <a16:colId xmlns:a16="http://schemas.microsoft.com/office/drawing/2014/main" val="4121123905"/>
                    </a:ext>
                  </a:extLst>
                </a:gridCol>
              </a:tblGrid>
              <a:tr h="501196">
                <a:tc>
                  <a:txBody>
                    <a:bodyPr/>
                    <a:lstStyle/>
                    <a:p>
                      <a:r>
                        <a:rPr lang="en-IN" sz="1100" dirty="0"/>
                        <a:t>S. No.</a:t>
                      </a:r>
                    </a:p>
                  </a:txBody>
                  <a:tcPr anchor="ctr"/>
                </a:tc>
                <a:tc>
                  <a:txBody>
                    <a:bodyPr/>
                    <a:lstStyle/>
                    <a:p>
                      <a:pPr algn="ctr"/>
                      <a:r>
                        <a:rPr lang="en-IN" sz="1100" dirty="0"/>
                        <a:t>Name of Industry</a:t>
                      </a:r>
                    </a:p>
                  </a:txBody>
                  <a:tcPr anchor="ctr"/>
                </a:tc>
                <a:tc>
                  <a:txBody>
                    <a:bodyPr/>
                    <a:lstStyle/>
                    <a:p>
                      <a:pPr algn="ctr"/>
                      <a:r>
                        <a:rPr lang="en-US" sz="1100" dirty="0"/>
                        <a:t>Fuel Type</a:t>
                      </a:r>
                      <a:endParaRPr lang="en-IN" sz="1100" dirty="0"/>
                    </a:p>
                  </a:txBody>
                  <a:tcPr anchor="ctr"/>
                </a:tc>
                <a:tc>
                  <a:txBody>
                    <a:bodyPr/>
                    <a:lstStyle/>
                    <a:p>
                      <a:pPr algn="ctr"/>
                      <a:r>
                        <a:rPr lang="en-IN" sz="1100" dirty="0"/>
                        <a:t>Installed Capacity (MW)</a:t>
                      </a:r>
                    </a:p>
                  </a:txBody>
                  <a:tcPr anchor="ctr"/>
                </a:tc>
                <a:tc>
                  <a:txBody>
                    <a:bodyPr/>
                    <a:lstStyle/>
                    <a:p>
                      <a:pPr algn="ctr"/>
                      <a:r>
                        <a:rPr lang="en-US" sz="1100" dirty="0"/>
                        <a:t>T</a:t>
                      </a:r>
                      <a:r>
                        <a:rPr lang="en-IN" sz="1100" dirty="0" err="1"/>
                        <a:t>ype</a:t>
                      </a:r>
                      <a:r>
                        <a:rPr lang="en-IN" sz="1100" dirty="0"/>
                        <a:t> of Industry</a:t>
                      </a:r>
                    </a:p>
                  </a:txBody>
                  <a:tcPr anchor="ctr"/>
                </a:tc>
                <a:extLst>
                  <a:ext uri="{0D108BD9-81ED-4DB2-BD59-A6C34878D82A}">
                    <a16:rowId xmlns:a16="http://schemas.microsoft.com/office/drawing/2014/main" val="2852783940"/>
                  </a:ext>
                </a:extLst>
              </a:tr>
              <a:tr h="278442">
                <a:tc>
                  <a:txBody>
                    <a:bodyPr/>
                    <a:lstStyle/>
                    <a:p>
                      <a:pPr algn="ctr" fontAlgn="t"/>
                      <a:r>
                        <a:rPr lang="en-IN" sz="1100" u="none" strike="noStrike" dirty="0">
                          <a:effectLst/>
                        </a:rPr>
                        <a:t>1</a:t>
                      </a:r>
                      <a:endParaRPr lang="en-IN" sz="1100" b="0" i="0" u="none" strike="noStrike" dirty="0">
                        <a:solidFill>
                          <a:srgbClr val="000000"/>
                        </a:solidFill>
                        <a:effectLst/>
                        <a:latin typeface="+mn-lt"/>
                      </a:endParaRP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JSW Steel Ltd</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Steam</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600.00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Iron &amp; Steel</a:t>
                      </a:r>
                    </a:p>
                  </a:txBody>
                  <a:tcPr marL="7620" marR="7620" marT="7620" marB="0" anchor="ctr"/>
                </a:tc>
                <a:extLst>
                  <a:ext uri="{0D108BD9-81ED-4DB2-BD59-A6C34878D82A}">
                    <a16:rowId xmlns:a16="http://schemas.microsoft.com/office/drawing/2014/main" val="1780491918"/>
                  </a:ext>
                </a:extLst>
              </a:tr>
              <a:tr h="160816">
                <a:tc>
                  <a:txBody>
                    <a:bodyPr/>
                    <a:lstStyle/>
                    <a:p>
                      <a:pPr algn="ctr" fontAlgn="t"/>
                      <a:r>
                        <a:rPr lang="en-IN" sz="1100" u="none" strike="noStrike" dirty="0">
                          <a:effectLst/>
                        </a:rPr>
                        <a:t>2</a:t>
                      </a:r>
                      <a:endParaRPr lang="en-IN" sz="1100" b="0" i="0" u="none" strike="noStrike" dirty="0">
                        <a:solidFill>
                          <a:srgbClr val="000000"/>
                        </a:solidFill>
                        <a:effectLst/>
                        <a:latin typeface="+mn-lt"/>
                      </a:endParaRP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Mangalore Refinery&amp; Petrochemicals Ltd,</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Gas</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239.50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Mineral Oil &amp; Petroleum</a:t>
                      </a:r>
                    </a:p>
                  </a:txBody>
                  <a:tcPr marL="7620" marR="7620" marT="7620" marB="0" anchor="ctr"/>
                </a:tc>
                <a:extLst>
                  <a:ext uri="{0D108BD9-81ED-4DB2-BD59-A6C34878D82A}">
                    <a16:rowId xmlns:a16="http://schemas.microsoft.com/office/drawing/2014/main" val="1385808828"/>
                  </a:ext>
                </a:extLst>
              </a:tr>
              <a:tr h="160816">
                <a:tc>
                  <a:txBody>
                    <a:bodyPr/>
                    <a:lstStyle/>
                    <a:p>
                      <a:pPr algn="ctr" fontAlgn="t"/>
                      <a:r>
                        <a:rPr lang="en-IN" sz="1100" b="0" i="0" u="none" strike="noStrike" dirty="0">
                          <a:solidFill>
                            <a:srgbClr val="000000"/>
                          </a:solidFill>
                          <a:effectLst/>
                          <a:latin typeface="+mn-lt"/>
                        </a:rPr>
                        <a:t>3</a:t>
                      </a: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BMM ISPAT Ltd,</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Steam</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140.00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Iron &amp; Steel</a:t>
                      </a:r>
                    </a:p>
                  </a:txBody>
                  <a:tcPr marL="7620" marR="7620" marT="7620" marB="0" anchor="ctr"/>
                </a:tc>
                <a:extLst>
                  <a:ext uri="{0D108BD9-81ED-4DB2-BD59-A6C34878D82A}">
                    <a16:rowId xmlns:a16="http://schemas.microsoft.com/office/drawing/2014/main" val="2892711678"/>
                  </a:ext>
                </a:extLst>
              </a:tr>
              <a:tr h="160816">
                <a:tc>
                  <a:txBody>
                    <a:bodyPr/>
                    <a:lstStyle/>
                    <a:p>
                      <a:pPr algn="ctr" fontAlgn="t"/>
                      <a:r>
                        <a:rPr lang="en-IN" sz="1100" b="0" i="0" u="none" strike="noStrike" dirty="0">
                          <a:solidFill>
                            <a:srgbClr val="000000"/>
                          </a:solidFill>
                          <a:effectLst/>
                          <a:latin typeface="+mn-lt"/>
                        </a:rPr>
                        <a:t>4</a:t>
                      </a: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JSW Steel Ltd</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Gas</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130.00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Iron &amp; Steel</a:t>
                      </a:r>
                    </a:p>
                  </a:txBody>
                  <a:tcPr marL="7620" marR="7620" marT="7620" marB="0" anchor="ctr"/>
                </a:tc>
                <a:extLst>
                  <a:ext uri="{0D108BD9-81ED-4DB2-BD59-A6C34878D82A}">
                    <a16:rowId xmlns:a16="http://schemas.microsoft.com/office/drawing/2014/main" val="2118579161"/>
                  </a:ext>
                </a:extLst>
              </a:tr>
              <a:tr h="160816">
                <a:tc>
                  <a:txBody>
                    <a:bodyPr/>
                    <a:lstStyle/>
                    <a:p>
                      <a:pPr algn="ctr" fontAlgn="t"/>
                      <a:r>
                        <a:rPr lang="en-IN" sz="1100" b="0" i="0" u="none" strike="noStrike" dirty="0">
                          <a:solidFill>
                            <a:srgbClr val="000000"/>
                          </a:solidFill>
                          <a:effectLst/>
                          <a:latin typeface="+mn-lt"/>
                        </a:rPr>
                        <a:t>5</a:t>
                      </a:r>
                    </a:p>
                  </a:txBody>
                  <a:tcPr marL="0" marR="0" marT="0" marB="0" anchor="ctr"/>
                </a:tc>
                <a:tc>
                  <a:txBody>
                    <a:bodyPr/>
                    <a:lstStyle/>
                    <a:p>
                      <a:pPr marL="0" algn="l" defTabSz="914400" rtl="0" eaLnBrk="1" fontAlgn="t" latinLnBrk="0" hangingPunct="1"/>
                      <a:r>
                        <a:rPr lang="en-US" sz="1100" u="none" strike="noStrike" kern="1200" dirty="0">
                          <a:solidFill>
                            <a:schemeClr val="tx1"/>
                          </a:solidFill>
                          <a:effectLst/>
                          <a:latin typeface="+mn-lt"/>
                          <a:ea typeface="+mn-ea"/>
                          <a:cs typeface="+mn-cs"/>
                        </a:rPr>
                        <a:t>Acc Limited Wadi Cement Works, Gulbarga</a:t>
                      </a:r>
                    </a:p>
                  </a:txBody>
                  <a:tcPr marL="7620" marR="7620" marT="7620" marB="0" anchor="ctr"/>
                </a:tc>
                <a:tc rowSpan="3">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Steam</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125.00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Cement</a:t>
                      </a:r>
                    </a:p>
                  </a:txBody>
                  <a:tcPr marL="7620" marR="7620" marT="7620" marB="0" anchor="ctr"/>
                </a:tc>
                <a:extLst>
                  <a:ext uri="{0D108BD9-81ED-4DB2-BD59-A6C34878D82A}">
                    <a16:rowId xmlns:a16="http://schemas.microsoft.com/office/drawing/2014/main" val="2976186037"/>
                  </a:ext>
                </a:extLst>
              </a:tr>
              <a:tr h="160816">
                <a:tc>
                  <a:txBody>
                    <a:bodyPr/>
                    <a:lstStyle/>
                    <a:p>
                      <a:pPr algn="ctr" fontAlgn="t"/>
                      <a:r>
                        <a:rPr lang="en-IN" sz="1100" b="0" i="0" u="none" strike="noStrike" dirty="0">
                          <a:solidFill>
                            <a:srgbClr val="000000"/>
                          </a:solidFill>
                          <a:effectLst/>
                          <a:latin typeface="+mn-lt"/>
                        </a:rPr>
                        <a:t>6</a:t>
                      </a:r>
                    </a:p>
                  </a:txBody>
                  <a:tcPr marL="0" marR="0" marT="0" marB="0" anchor="ctr"/>
                </a:tc>
                <a:tc>
                  <a:txBody>
                    <a:bodyPr/>
                    <a:lstStyle/>
                    <a:p>
                      <a:pPr marL="0" algn="l" defTabSz="914400" rtl="0" eaLnBrk="1" fontAlgn="t" latinLnBrk="0" hangingPunct="1"/>
                      <a:r>
                        <a:rPr lang="en-US" sz="1100" u="none" strike="noStrike" kern="1200" dirty="0">
                          <a:solidFill>
                            <a:schemeClr val="tx1"/>
                          </a:solidFill>
                          <a:effectLst/>
                          <a:latin typeface="+mn-lt"/>
                          <a:ea typeface="+mn-ea"/>
                          <a:cs typeface="+mn-cs"/>
                        </a:rPr>
                        <a:t>The Associated Cement Companies Ltd.,</a:t>
                      </a:r>
                    </a:p>
                  </a:txBody>
                  <a:tcPr marL="7620" marR="7620" marT="7620" marB="0" anchor="ct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125.00 </a:t>
                      </a:r>
                    </a:p>
                  </a:txBody>
                  <a:tcPr marL="7620" marR="7620" marT="7620" marB="0" anchor="ctr"/>
                </a:tc>
                <a:tc>
                  <a:txBody>
                    <a:bodyPr/>
                    <a:lstStyle/>
                    <a:p>
                      <a:pPr marL="0" algn="ctr" defTabSz="914400" rtl="0" eaLnBrk="1" fontAlgn="t" latinLnBrk="0" hangingPunct="1"/>
                      <a:r>
                        <a:rPr lang="en-IN" sz="1100" u="none" strike="noStrike" kern="1200">
                          <a:solidFill>
                            <a:schemeClr val="tx1"/>
                          </a:solidFill>
                          <a:effectLst/>
                          <a:latin typeface="+mn-lt"/>
                          <a:ea typeface="+mn-ea"/>
                          <a:cs typeface="+mn-cs"/>
                        </a:rPr>
                        <a:t>Cement</a:t>
                      </a:r>
                    </a:p>
                  </a:txBody>
                  <a:tcPr marL="7620" marR="7620" marT="7620" marB="0" anchor="ctr"/>
                </a:tc>
                <a:extLst>
                  <a:ext uri="{0D108BD9-81ED-4DB2-BD59-A6C34878D82A}">
                    <a16:rowId xmlns:a16="http://schemas.microsoft.com/office/drawing/2014/main" val="3720063174"/>
                  </a:ext>
                </a:extLst>
              </a:tr>
              <a:tr h="160816">
                <a:tc>
                  <a:txBody>
                    <a:bodyPr/>
                    <a:lstStyle/>
                    <a:p>
                      <a:pPr algn="ctr" fontAlgn="t"/>
                      <a:r>
                        <a:rPr lang="en-IN" sz="1100" b="0" i="0" u="none" strike="noStrike" dirty="0">
                          <a:solidFill>
                            <a:srgbClr val="000000"/>
                          </a:solidFill>
                          <a:effectLst/>
                          <a:latin typeface="+mn-lt"/>
                        </a:rPr>
                        <a:t>7</a:t>
                      </a:r>
                    </a:p>
                  </a:txBody>
                  <a:tcPr marL="0" marR="0" marT="0" marB="0" anchor="ctr"/>
                </a:tc>
                <a:tc>
                  <a:txBody>
                    <a:bodyPr/>
                    <a:lstStyle/>
                    <a:p>
                      <a:pPr marL="0" algn="l" defTabSz="914400" rtl="0" eaLnBrk="1" fontAlgn="t" latinLnBrk="0" hangingPunct="1"/>
                      <a:r>
                        <a:rPr lang="en-US" sz="1100" u="none" strike="noStrike" kern="1200" dirty="0">
                          <a:solidFill>
                            <a:schemeClr val="tx1"/>
                          </a:solidFill>
                          <a:effectLst/>
                          <a:latin typeface="+mn-lt"/>
                          <a:ea typeface="+mn-ea"/>
                          <a:cs typeface="+mn-cs"/>
                        </a:rPr>
                        <a:t>Ultra Tech Cements Ltd. (</a:t>
                      </a:r>
                      <a:r>
                        <a:rPr lang="en-US" sz="1100" u="none" strike="noStrike" kern="1200" dirty="0" err="1">
                          <a:solidFill>
                            <a:schemeClr val="tx1"/>
                          </a:solidFill>
                          <a:effectLst/>
                          <a:latin typeface="+mn-lt"/>
                          <a:ea typeface="+mn-ea"/>
                          <a:cs typeface="+mn-cs"/>
                        </a:rPr>
                        <a:t>Unit;Rajashree</a:t>
                      </a:r>
                      <a:r>
                        <a:rPr lang="en-US" sz="1100" u="none" strike="noStrike" kern="1200" dirty="0">
                          <a:solidFill>
                            <a:schemeClr val="tx1"/>
                          </a:solidFill>
                          <a:effectLst/>
                          <a:latin typeface="+mn-lt"/>
                          <a:ea typeface="+mn-ea"/>
                          <a:cs typeface="+mn-cs"/>
                        </a:rPr>
                        <a:t> Cements),Gulbarga</a:t>
                      </a:r>
                    </a:p>
                  </a:txBody>
                  <a:tcPr marL="7620" marR="7620" marT="7620" marB="0" anchor="ct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108.50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Cement</a:t>
                      </a:r>
                    </a:p>
                  </a:txBody>
                  <a:tcPr marL="7620" marR="7620" marT="7620" marB="0" anchor="ctr"/>
                </a:tc>
                <a:extLst>
                  <a:ext uri="{0D108BD9-81ED-4DB2-BD59-A6C34878D82A}">
                    <a16:rowId xmlns:a16="http://schemas.microsoft.com/office/drawing/2014/main" val="1223322830"/>
                  </a:ext>
                </a:extLst>
              </a:tr>
              <a:tr h="160816">
                <a:tc>
                  <a:txBody>
                    <a:bodyPr/>
                    <a:lstStyle/>
                    <a:p>
                      <a:pPr algn="ctr" fontAlgn="t"/>
                      <a:r>
                        <a:rPr lang="en-IN" sz="1100" b="0" i="0" u="none" strike="noStrike" dirty="0">
                          <a:solidFill>
                            <a:srgbClr val="000000"/>
                          </a:solidFill>
                          <a:effectLst/>
                          <a:latin typeface="+mn-lt"/>
                        </a:rPr>
                        <a:t>8</a:t>
                      </a: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JSW Steel Ltd</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Gas</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100.00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Iron &amp; Steel</a:t>
                      </a:r>
                    </a:p>
                  </a:txBody>
                  <a:tcPr marL="7620" marR="7620" marT="7620" marB="0" anchor="ctr"/>
                </a:tc>
                <a:extLst>
                  <a:ext uri="{0D108BD9-81ED-4DB2-BD59-A6C34878D82A}">
                    <a16:rowId xmlns:a16="http://schemas.microsoft.com/office/drawing/2014/main" val="18449946"/>
                  </a:ext>
                </a:extLst>
              </a:tr>
              <a:tr h="160816">
                <a:tc>
                  <a:txBody>
                    <a:bodyPr/>
                    <a:lstStyle/>
                    <a:p>
                      <a:pPr algn="ctr" fontAlgn="t"/>
                      <a:r>
                        <a:rPr lang="en-IN" sz="1100" b="0" i="0" u="none" strike="noStrike" dirty="0">
                          <a:solidFill>
                            <a:srgbClr val="000000"/>
                          </a:solidFill>
                          <a:effectLst/>
                          <a:latin typeface="+mn-lt"/>
                        </a:rPr>
                        <a:t>9</a:t>
                      </a: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BMM ISPAT Ltd,</a:t>
                      </a:r>
                    </a:p>
                  </a:txBody>
                  <a:tcPr marL="7620" marR="7620" marT="7620" marB="0" anchor="ctr">
                    <a:lnB w="9525" cap="flat" cmpd="sng" algn="ctr">
                      <a:solidFill>
                        <a:schemeClr val="accent1"/>
                      </a:solidFill>
                      <a:prstDash val="solid"/>
                      <a:round/>
                      <a:headEnd type="none" w="med" len="med"/>
                      <a:tailEnd type="none" w="med" len="med"/>
                    </a:lnB>
                  </a:tcPr>
                </a:tc>
                <a:tc rowSpan="5">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Steam</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95.00 </a:t>
                      </a:r>
                    </a:p>
                  </a:txBody>
                  <a:tcPr marL="7620" marR="7620" marT="7620" marB="0" anchor="ctr">
                    <a:lnB w="9525" cap="flat" cmpd="sng" algn="ctr">
                      <a:solidFill>
                        <a:schemeClr val="accent1"/>
                      </a:solidFill>
                      <a:prstDash val="solid"/>
                      <a:round/>
                      <a:headEnd type="none" w="med" len="med"/>
                      <a:tailEnd type="none" w="med" len="med"/>
                    </a:lnB>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Iron &amp; Steel</a:t>
                      </a:r>
                    </a:p>
                  </a:txBody>
                  <a:tcPr marL="7620" marR="7620" marT="7620" marB="0" anchor="ctr">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89450331"/>
                  </a:ext>
                </a:extLst>
              </a:tr>
              <a:tr h="160816">
                <a:tc>
                  <a:txBody>
                    <a:bodyPr/>
                    <a:lstStyle/>
                    <a:p>
                      <a:pPr algn="ctr" fontAlgn="t"/>
                      <a:r>
                        <a:rPr lang="en-IN" sz="1100" b="0" i="0" u="none" strike="noStrike" dirty="0">
                          <a:solidFill>
                            <a:srgbClr val="000000"/>
                          </a:solidFill>
                          <a:effectLst/>
                          <a:latin typeface="+mn-lt"/>
                        </a:rPr>
                        <a:t>10</a:t>
                      </a:r>
                    </a:p>
                  </a:txBody>
                  <a:tcPr marL="0" marR="0" marT="0" marB="0" anchor="ctr">
                    <a:lnR w="9525" cap="flat" cmpd="sng" algn="ctr">
                      <a:solidFill>
                        <a:schemeClr val="accent1"/>
                      </a:solidFill>
                      <a:prstDash val="solid"/>
                      <a:round/>
                      <a:headEnd type="none" w="med" len="med"/>
                      <a:tailEnd type="none" w="med" len="med"/>
                    </a:lnR>
                  </a:tcPr>
                </a:tc>
                <a:tc>
                  <a:txBody>
                    <a:bodyPr/>
                    <a:lstStyle/>
                    <a:p>
                      <a:pPr marL="0" algn="l" defTabSz="914400" rtl="0" eaLnBrk="1" fontAlgn="t" latinLnBrk="0" hangingPunct="1"/>
                      <a:r>
                        <a:rPr lang="en-IN" sz="1100" u="none" strike="noStrike" kern="1200" dirty="0" err="1">
                          <a:solidFill>
                            <a:schemeClr val="tx1"/>
                          </a:solidFill>
                          <a:effectLst/>
                          <a:latin typeface="+mn-lt"/>
                          <a:ea typeface="+mn-ea"/>
                          <a:cs typeface="+mn-cs"/>
                        </a:rPr>
                        <a:t>Indain</a:t>
                      </a:r>
                      <a:r>
                        <a:rPr lang="en-IN" sz="1100" u="none" strike="noStrike" kern="1200" dirty="0">
                          <a:solidFill>
                            <a:schemeClr val="tx1"/>
                          </a:solidFill>
                          <a:effectLst/>
                          <a:latin typeface="+mn-lt"/>
                          <a:ea typeface="+mn-ea"/>
                          <a:cs typeface="+mn-cs"/>
                        </a:rPr>
                        <a:t> Cane Power Ltd.</a:t>
                      </a:r>
                    </a:p>
                  </a:txBody>
                  <a:tcPr marL="7620" marR="7620" marT="7620" marB="0" anchor="ctr">
                    <a:lnL w="9525" cap="flat" cmpd="sng" algn="ctr">
                      <a:solidFill>
                        <a:schemeClr val="accent1"/>
                      </a:solidFill>
                      <a:prstDash val="solid"/>
                      <a:round/>
                      <a:headEnd type="none" w="med" len="med"/>
                      <a:tailEnd type="none" w="med" len="med"/>
                    </a:lnL>
                    <a:lnT w="9525" cap="flat" cmpd="sng" algn="ctr">
                      <a:solidFill>
                        <a:schemeClr val="accent1"/>
                      </a:solidFill>
                      <a:prstDash val="solid"/>
                      <a:round/>
                      <a:headEnd type="none" w="med" len="med"/>
                      <a:tailEnd type="none" w="med" len="med"/>
                    </a:lnT>
                  </a:tcP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lnT w="9525" cap="flat" cmpd="sng" algn="ctr">
                      <a:solidFill>
                        <a:schemeClr val="accent1"/>
                      </a:solidFill>
                      <a:prstDash val="solid"/>
                      <a:round/>
                      <a:headEnd type="none" w="med" len="med"/>
                      <a:tailEnd type="none" w="med" len="med"/>
                    </a:lnT>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83.00 </a:t>
                      </a:r>
                    </a:p>
                  </a:txBody>
                  <a:tcPr marL="7620" marR="7620" marT="7620" marB="0" anchor="ctr">
                    <a:lnT w="9525" cap="flat" cmpd="sng" algn="ctr">
                      <a:solidFill>
                        <a:schemeClr val="accent1"/>
                      </a:solidFill>
                      <a:prstDash val="solid"/>
                      <a:round/>
                      <a:headEnd type="none" w="med" len="med"/>
                      <a:tailEnd type="none" w="med" len="med"/>
                    </a:lnT>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Misc.</a:t>
                      </a:r>
                    </a:p>
                  </a:txBody>
                  <a:tcPr marL="7620" marR="7620" marT="7620" marB="0" anchor="ctr">
                    <a:lnT w="9525"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762819031"/>
                  </a:ext>
                </a:extLst>
              </a:tr>
              <a:tr h="160816">
                <a:tc>
                  <a:txBody>
                    <a:bodyPr/>
                    <a:lstStyle/>
                    <a:p>
                      <a:pPr algn="ctr" fontAlgn="t"/>
                      <a:r>
                        <a:rPr lang="en-IN" sz="1100" b="0" i="0" u="none" strike="noStrike" dirty="0">
                          <a:solidFill>
                            <a:srgbClr val="000000"/>
                          </a:solidFill>
                          <a:effectLst/>
                          <a:latin typeface="+mn-lt"/>
                        </a:rPr>
                        <a:t>11</a:t>
                      </a:r>
                    </a:p>
                  </a:txBody>
                  <a:tcPr marL="0" marR="0" marT="0" marB="0" anchor="ctr">
                    <a:lnR w="9525" cap="flat" cmpd="sng" algn="ctr">
                      <a:solidFill>
                        <a:schemeClr val="accent1"/>
                      </a:solidFill>
                      <a:prstDash val="solid"/>
                      <a:round/>
                      <a:headEnd type="none" w="med" len="med"/>
                      <a:tailEnd type="none" w="med" len="med"/>
                    </a:lnR>
                  </a:tcPr>
                </a:tc>
                <a:tc>
                  <a:txBody>
                    <a:bodyPr/>
                    <a:lstStyle/>
                    <a:p>
                      <a:pPr marL="0" algn="l" defTabSz="914400" rtl="0" eaLnBrk="1" fontAlgn="t" latinLnBrk="0" hangingPunct="1"/>
                      <a:r>
                        <a:rPr lang="en-IN" sz="1100" u="none" strike="noStrike" kern="1200" dirty="0" err="1">
                          <a:solidFill>
                            <a:schemeClr val="tx1"/>
                          </a:solidFill>
                          <a:effectLst/>
                          <a:latin typeface="+mn-lt"/>
                          <a:ea typeface="+mn-ea"/>
                          <a:cs typeface="+mn-cs"/>
                        </a:rPr>
                        <a:t>Vasavadatta</a:t>
                      </a:r>
                      <a:r>
                        <a:rPr lang="en-IN" sz="1100" u="none" strike="noStrike" kern="1200" dirty="0">
                          <a:solidFill>
                            <a:schemeClr val="tx1"/>
                          </a:solidFill>
                          <a:effectLst/>
                          <a:latin typeface="+mn-lt"/>
                          <a:ea typeface="+mn-ea"/>
                          <a:cs typeface="+mn-cs"/>
                        </a:rPr>
                        <a:t> Cements ( </a:t>
                      </a:r>
                      <a:r>
                        <a:rPr lang="en-IN" sz="1100" u="none" strike="noStrike" kern="1200" dirty="0" err="1">
                          <a:solidFill>
                            <a:schemeClr val="tx1"/>
                          </a:solidFill>
                          <a:effectLst/>
                          <a:latin typeface="+mn-lt"/>
                          <a:ea typeface="+mn-ea"/>
                          <a:cs typeface="+mn-cs"/>
                        </a:rPr>
                        <a:t>Kesoram</a:t>
                      </a:r>
                      <a:r>
                        <a:rPr lang="en-IN" sz="1100" u="none" strike="noStrike" kern="1200" dirty="0">
                          <a:solidFill>
                            <a:schemeClr val="tx1"/>
                          </a:solidFill>
                          <a:effectLst/>
                          <a:latin typeface="+mn-lt"/>
                          <a:ea typeface="+mn-ea"/>
                          <a:cs typeface="+mn-cs"/>
                        </a:rPr>
                        <a:t> Industries Ltd.'s Cement </a:t>
                      </a:r>
                      <a:r>
                        <a:rPr lang="en-IN" sz="1100" u="none" strike="noStrike" kern="1200" dirty="0" err="1">
                          <a:solidFill>
                            <a:schemeClr val="tx1"/>
                          </a:solidFill>
                          <a:effectLst/>
                          <a:latin typeface="+mn-lt"/>
                          <a:ea typeface="+mn-ea"/>
                          <a:cs typeface="+mn-cs"/>
                        </a:rPr>
                        <a:t>Divn</a:t>
                      </a:r>
                      <a:r>
                        <a:rPr lang="en-IN" sz="1100" u="none" strike="noStrike" kern="1200" dirty="0">
                          <a:solidFill>
                            <a:schemeClr val="tx1"/>
                          </a:solidFill>
                          <a:effectLst/>
                          <a:latin typeface="+mn-lt"/>
                          <a:ea typeface="+mn-ea"/>
                          <a:cs typeface="+mn-cs"/>
                        </a:rPr>
                        <a:t>.)</a:t>
                      </a:r>
                    </a:p>
                  </a:txBody>
                  <a:tcPr marL="7620" marR="7620" marT="7620" marB="0" anchor="ctr">
                    <a:lnL w="9525" cap="flat" cmpd="sng" algn="ctr">
                      <a:solidFill>
                        <a:schemeClr val="accent1"/>
                      </a:solidFill>
                      <a:prstDash val="solid"/>
                      <a:round/>
                      <a:headEnd type="none" w="med" len="med"/>
                      <a:tailEnd type="none" w="med" len="med"/>
                    </a:lnL>
                    <a:lnB w="9525" cap="flat" cmpd="sng" algn="ctr">
                      <a:solidFill>
                        <a:schemeClr val="accent1"/>
                      </a:solidFill>
                      <a:prstDash val="solid"/>
                      <a:round/>
                      <a:headEnd type="none" w="med" len="med"/>
                      <a:tailEnd type="none" w="med" len="med"/>
                    </a:lnB>
                  </a:tcP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lnB w="9525" cap="flat" cmpd="sng" algn="ctr">
                      <a:solidFill>
                        <a:schemeClr val="accent1"/>
                      </a:solidFill>
                      <a:prstDash val="solid"/>
                      <a:round/>
                      <a:headEnd type="none" w="med" len="med"/>
                      <a:tailEnd type="none" w="med" len="med"/>
                    </a:lnB>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79.20 </a:t>
                      </a:r>
                    </a:p>
                  </a:txBody>
                  <a:tcPr marL="7620" marR="7620" marT="7620" marB="0" anchor="ctr">
                    <a:lnB w="9525" cap="flat" cmpd="sng" algn="ctr">
                      <a:solidFill>
                        <a:schemeClr val="accent1"/>
                      </a:solidFill>
                      <a:prstDash val="solid"/>
                      <a:round/>
                      <a:headEnd type="none" w="med" len="med"/>
                      <a:tailEnd type="none" w="med" len="med"/>
                    </a:lnB>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Cement</a:t>
                      </a:r>
                    </a:p>
                  </a:txBody>
                  <a:tcPr marL="7620" marR="7620" marT="7620" marB="0" anchor="ctr">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50303672"/>
                  </a:ext>
                </a:extLst>
              </a:tr>
              <a:tr h="160816">
                <a:tc>
                  <a:txBody>
                    <a:bodyPr/>
                    <a:lstStyle/>
                    <a:p>
                      <a:pPr algn="ctr" fontAlgn="t"/>
                      <a:r>
                        <a:rPr lang="en-IN" sz="1100" b="0" i="0" u="none" strike="noStrike" dirty="0">
                          <a:solidFill>
                            <a:srgbClr val="000000"/>
                          </a:solidFill>
                          <a:effectLst/>
                          <a:latin typeface="+mn-lt"/>
                        </a:rPr>
                        <a:t>12</a:t>
                      </a:r>
                    </a:p>
                  </a:txBody>
                  <a:tcPr marL="0" marR="0" marT="0" marB="0" anchor="ctr"/>
                </a:tc>
                <a:tc>
                  <a:txBody>
                    <a:bodyPr/>
                    <a:lstStyle/>
                    <a:p>
                      <a:pPr marL="0" algn="l" defTabSz="914400" rtl="0" eaLnBrk="1" fontAlgn="t" latinLnBrk="0" hangingPunct="1"/>
                      <a:r>
                        <a:rPr lang="en-US" sz="1100" u="none" strike="noStrike" kern="1200" dirty="0">
                          <a:solidFill>
                            <a:schemeClr val="tx1"/>
                          </a:solidFill>
                          <a:effectLst/>
                          <a:latin typeface="+mn-lt"/>
                          <a:ea typeface="+mn-ea"/>
                          <a:cs typeface="+mn-cs"/>
                        </a:rPr>
                        <a:t>The West Coast Paper Mills Ltd,</a:t>
                      </a:r>
                    </a:p>
                  </a:txBody>
                  <a:tcPr marL="7620" marR="7620" marT="7620" marB="0" anchor="ctr">
                    <a:lnT w="9525" cap="flat" cmpd="sng" algn="ctr">
                      <a:solidFill>
                        <a:schemeClr val="accent1"/>
                      </a:solidFill>
                      <a:prstDash val="solid"/>
                      <a:round/>
                      <a:headEnd type="none" w="med" len="med"/>
                      <a:tailEnd type="none" w="med" len="med"/>
                    </a:lnT>
                  </a:tcP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lnT w="9525" cap="flat" cmpd="sng" algn="ctr">
                      <a:solidFill>
                        <a:schemeClr val="accent1"/>
                      </a:solidFill>
                      <a:prstDash val="solid"/>
                      <a:round/>
                      <a:headEnd type="none" w="med" len="med"/>
                      <a:tailEnd type="none" w="med" len="med"/>
                    </a:lnT>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74.80 </a:t>
                      </a:r>
                    </a:p>
                  </a:txBody>
                  <a:tcPr marL="7620" marR="7620" marT="7620" marB="0" anchor="ctr">
                    <a:lnT w="9525" cap="flat" cmpd="sng" algn="ctr">
                      <a:solidFill>
                        <a:schemeClr val="accent1"/>
                      </a:solidFill>
                      <a:prstDash val="solid"/>
                      <a:round/>
                      <a:headEnd type="none" w="med" len="med"/>
                      <a:tailEnd type="none" w="med" len="med"/>
                    </a:lnT>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Paper</a:t>
                      </a:r>
                    </a:p>
                  </a:txBody>
                  <a:tcPr marL="7620" marR="7620" marT="7620" marB="0" anchor="ctr">
                    <a:lnT w="9525"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3928672107"/>
                  </a:ext>
                </a:extLst>
              </a:tr>
              <a:tr h="160816">
                <a:tc>
                  <a:txBody>
                    <a:bodyPr/>
                    <a:lstStyle/>
                    <a:p>
                      <a:pPr marL="0" algn="ctr" defTabSz="914400" rtl="0" eaLnBrk="1" fontAlgn="t" latinLnBrk="0" hangingPunct="1"/>
                      <a:r>
                        <a:rPr lang="en-IN" sz="1100" b="0" i="0" u="none" strike="noStrike" kern="1200" dirty="0">
                          <a:solidFill>
                            <a:srgbClr val="000000"/>
                          </a:solidFill>
                          <a:effectLst/>
                          <a:latin typeface="+mn-lt"/>
                          <a:ea typeface="+mn-ea"/>
                          <a:cs typeface="+mn-cs"/>
                        </a:rPr>
                        <a:t>13</a:t>
                      </a:r>
                    </a:p>
                  </a:txBody>
                  <a:tcPr marL="0" marR="0" marT="0" marB="0" anchor="ctr"/>
                </a:tc>
                <a:tc>
                  <a:txBody>
                    <a:bodyPr/>
                    <a:lstStyle/>
                    <a:p>
                      <a:pPr marL="0" algn="l" defTabSz="914400" rtl="0" eaLnBrk="1" fontAlgn="t" latinLnBrk="0" hangingPunct="1"/>
                      <a:r>
                        <a:rPr lang="en-US" sz="1100" u="none" strike="noStrike" kern="1200" dirty="0">
                          <a:solidFill>
                            <a:schemeClr val="tx1"/>
                          </a:solidFill>
                          <a:effectLst/>
                          <a:latin typeface="+mn-lt"/>
                          <a:ea typeface="+mn-ea"/>
                          <a:cs typeface="+mn-cs"/>
                        </a:rPr>
                        <a:t>Shree Renuka Sugars Ltd.- Unit-4</a:t>
                      </a:r>
                    </a:p>
                  </a:txBody>
                  <a:tcPr marL="7620" marR="7620" marT="7620" marB="0" anchor="ct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68.00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Sugar</a:t>
                      </a:r>
                    </a:p>
                  </a:txBody>
                  <a:tcPr marL="7620" marR="7620" marT="7620" marB="0" anchor="ctr"/>
                </a:tc>
                <a:extLst>
                  <a:ext uri="{0D108BD9-81ED-4DB2-BD59-A6C34878D82A}">
                    <a16:rowId xmlns:a16="http://schemas.microsoft.com/office/drawing/2014/main" val="429732950"/>
                  </a:ext>
                </a:extLst>
              </a:tr>
              <a:tr h="149605">
                <a:tc>
                  <a:txBody>
                    <a:bodyPr/>
                    <a:lstStyle/>
                    <a:p>
                      <a:pPr algn="ctr" fontAlgn="t"/>
                      <a:r>
                        <a:rPr lang="en-IN" sz="1100" b="0" i="0" u="none" strike="noStrike" dirty="0">
                          <a:solidFill>
                            <a:srgbClr val="000000"/>
                          </a:solidFill>
                          <a:effectLst/>
                          <a:latin typeface="+mn-lt"/>
                        </a:rPr>
                        <a:t>14</a:t>
                      </a:r>
                    </a:p>
                  </a:txBody>
                  <a:tcPr marL="0" marR="0" marT="0" marB="0" anchor="ctr"/>
                </a:tc>
                <a:tc>
                  <a:txBody>
                    <a:bodyPr/>
                    <a:lstStyle/>
                    <a:p>
                      <a:pPr marL="0" algn="l" defTabSz="914400" rtl="0" eaLnBrk="1" fontAlgn="t" latinLnBrk="0" hangingPunct="1"/>
                      <a:r>
                        <a:rPr lang="en-IN" sz="1100" u="none" strike="noStrike" kern="1200" dirty="0" err="1">
                          <a:solidFill>
                            <a:schemeClr val="tx1"/>
                          </a:solidFill>
                          <a:effectLst/>
                          <a:latin typeface="+mn-lt"/>
                          <a:ea typeface="+mn-ea"/>
                          <a:cs typeface="+mn-cs"/>
                        </a:rPr>
                        <a:t>Nirani</a:t>
                      </a:r>
                      <a:r>
                        <a:rPr lang="en-IN" sz="1100" u="none" strike="noStrike" kern="1200" dirty="0">
                          <a:solidFill>
                            <a:schemeClr val="tx1"/>
                          </a:solidFill>
                          <a:effectLst/>
                          <a:latin typeface="+mn-lt"/>
                          <a:ea typeface="+mn-ea"/>
                          <a:cs typeface="+mn-cs"/>
                        </a:rPr>
                        <a:t> Sugars Ltd, </a:t>
                      </a:r>
                      <a:r>
                        <a:rPr lang="en-IN" sz="1100" u="none" strike="noStrike" kern="1200" dirty="0" err="1">
                          <a:solidFill>
                            <a:schemeClr val="tx1"/>
                          </a:solidFill>
                          <a:effectLst/>
                          <a:latin typeface="+mn-lt"/>
                          <a:ea typeface="+mn-ea"/>
                          <a:cs typeface="+mn-cs"/>
                        </a:rPr>
                        <a:t>Mudhol</a:t>
                      </a:r>
                      <a:endParaRPr lang="en-IN" sz="1100" u="none" strike="noStrike" kern="1200" dirty="0">
                        <a:solidFill>
                          <a:schemeClr val="tx1"/>
                        </a:solidFill>
                        <a:effectLst/>
                        <a:latin typeface="+mn-lt"/>
                        <a:ea typeface="+mn-ea"/>
                        <a:cs typeface="+mn-cs"/>
                      </a:endParaRPr>
                    </a:p>
                  </a:txBody>
                  <a:tcPr marL="7620" marR="7620" marT="7620" marB="0" anchor="ctr">
                    <a:lnB w="9525" cap="flat" cmpd="sng" algn="ctr">
                      <a:solidFill>
                        <a:schemeClr val="accent1"/>
                      </a:solidFill>
                      <a:prstDash val="solid"/>
                      <a:round/>
                      <a:headEnd type="none" w="med" len="med"/>
                      <a:tailEnd type="none" w="med" len="med"/>
                    </a:lnB>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Diesel</a:t>
                      </a:r>
                    </a:p>
                  </a:txBody>
                  <a:tcPr marL="7620" marR="7620" marT="7620" marB="0" anchor="ctr">
                    <a:lnB w="9525" cap="flat" cmpd="sng" algn="ctr">
                      <a:solidFill>
                        <a:schemeClr val="accent1"/>
                      </a:solidFill>
                      <a:prstDash val="solid"/>
                      <a:round/>
                      <a:headEnd type="none" w="med" len="med"/>
                      <a:tailEnd type="none" w="med" len="med"/>
                    </a:lnB>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62.00 </a:t>
                      </a:r>
                    </a:p>
                  </a:txBody>
                  <a:tcPr marL="7620" marR="7620" marT="7620" marB="0" anchor="ctr">
                    <a:lnB w="9525" cap="flat" cmpd="sng" algn="ctr">
                      <a:solidFill>
                        <a:schemeClr val="accent1"/>
                      </a:solidFill>
                      <a:prstDash val="solid"/>
                      <a:round/>
                      <a:headEnd type="none" w="med" len="med"/>
                      <a:tailEnd type="none" w="med" len="med"/>
                    </a:lnB>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Sugar</a:t>
                      </a:r>
                    </a:p>
                  </a:txBody>
                  <a:tcPr marL="7620" marR="7620" marT="7620" marB="0" anchor="ctr">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47043699"/>
                  </a:ext>
                </a:extLst>
              </a:tr>
              <a:tr h="160816">
                <a:tc>
                  <a:txBody>
                    <a:bodyPr/>
                    <a:lstStyle/>
                    <a:p>
                      <a:pPr algn="ctr" fontAlgn="t"/>
                      <a:r>
                        <a:rPr lang="en-IN" sz="1100" b="0" i="0" u="none" strike="noStrike" dirty="0">
                          <a:solidFill>
                            <a:srgbClr val="000000"/>
                          </a:solidFill>
                          <a:effectLst/>
                          <a:latin typeface="+mn-lt"/>
                        </a:rPr>
                        <a:t>15</a:t>
                      </a:r>
                    </a:p>
                  </a:txBody>
                  <a:tcPr marL="0" marR="0" marT="0" marB="0" anchor="ctr">
                    <a:lnR w="9525" cap="flat" cmpd="sng" algn="ctr">
                      <a:solidFill>
                        <a:schemeClr val="accent1"/>
                      </a:solidFill>
                      <a:prstDash val="solid"/>
                      <a:round/>
                      <a:headEnd type="none" w="med" len="med"/>
                      <a:tailEnd type="none" w="med" len="med"/>
                    </a:lnR>
                  </a:tcP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RMZ </a:t>
                      </a:r>
                      <a:r>
                        <a:rPr lang="en-IN" sz="1100" u="none" strike="noStrike" kern="1200" dirty="0" err="1">
                          <a:solidFill>
                            <a:schemeClr val="tx1"/>
                          </a:solidFill>
                          <a:effectLst/>
                          <a:latin typeface="+mn-lt"/>
                          <a:ea typeface="+mn-ea"/>
                          <a:cs typeface="+mn-cs"/>
                        </a:rPr>
                        <a:t>Ecoworld</a:t>
                      </a:r>
                      <a:endParaRPr lang="en-IN" sz="1100" u="none" strike="noStrike" kern="1200" dirty="0">
                        <a:solidFill>
                          <a:schemeClr val="tx1"/>
                        </a:solidFill>
                        <a:effectLst/>
                        <a:latin typeface="+mn-lt"/>
                        <a:ea typeface="+mn-ea"/>
                        <a:cs typeface="+mn-cs"/>
                      </a:endParaRPr>
                    </a:p>
                  </a:txBody>
                  <a:tcPr marL="7620" marR="7620" marT="7620" marB="0" anchor="ctr">
                    <a:lnL w="9525" cap="flat" cmpd="sng" algn="ctr">
                      <a:solidFill>
                        <a:schemeClr val="accent1"/>
                      </a:solidFill>
                      <a:prstDash val="solid"/>
                      <a:round/>
                      <a:headEnd type="none" w="med" len="med"/>
                      <a:tailEnd type="none" w="med" len="med"/>
                    </a:lnL>
                    <a:lnT w="9525" cap="flat" cmpd="sng" algn="ctr">
                      <a:solidFill>
                        <a:schemeClr val="accent1"/>
                      </a:solidFill>
                      <a:prstDash val="solid"/>
                      <a:round/>
                      <a:headEnd type="none" w="med" len="med"/>
                      <a:tailEnd type="none" w="med" len="med"/>
                    </a:lnT>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Diesel</a:t>
                      </a:r>
                    </a:p>
                  </a:txBody>
                  <a:tcPr marL="7620" marR="7620" marT="7620" marB="0" anchor="ctr">
                    <a:lnT w="9525" cap="flat" cmpd="sng" algn="ctr">
                      <a:solidFill>
                        <a:schemeClr val="accent1"/>
                      </a:solidFill>
                      <a:prstDash val="solid"/>
                      <a:round/>
                      <a:headEnd type="none" w="med" len="med"/>
                      <a:tailEnd type="none" w="med" len="med"/>
                    </a:lnT>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61.33 </a:t>
                      </a:r>
                    </a:p>
                  </a:txBody>
                  <a:tcPr marL="7620" marR="7620" marT="7620" marB="0" anchor="ctr">
                    <a:lnT w="9525" cap="flat" cmpd="sng" algn="ctr">
                      <a:solidFill>
                        <a:schemeClr val="accent1"/>
                      </a:solidFill>
                      <a:prstDash val="solid"/>
                      <a:round/>
                      <a:headEnd type="none" w="med" len="med"/>
                      <a:tailEnd type="none" w="med" len="med"/>
                    </a:lnT>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Misc.</a:t>
                      </a:r>
                    </a:p>
                  </a:txBody>
                  <a:tcPr marL="7620" marR="7620" marT="7620" marB="0" anchor="ctr">
                    <a:lnT w="9525"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827762658"/>
                  </a:ext>
                </a:extLst>
              </a:tr>
              <a:tr h="160816">
                <a:tc>
                  <a:txBody>
                    <a:bodyPr/>
                    <a:lstStyle/>
                    <a:p>
                      <a:pPr algn="ctr" fontAlgn="t"/>
                      <a:r>
                        <a:rPr lang="en-IN" sz="1100" u="none" strike="noStrike" dirty="0">
                          <a:effectLst/>
                        </a:rPr>
                        <a:t>16</a:t>
                      </a:r>
                      <a:endParaRPr lang="en-IN" sz="1100" b="0" i="0" u="none" strike="noStrike" dirty="0">
                        <a:solidFill>
                          <a:srgbClr val="000000"/>
                        </a:solidFill>
                        <a:effectLst/>
                        <a:latin typeface="+mn-lt"/>
                      </a:endParaRPr>
                    </a:p>
                  </a:txBody>
                  <a:tcPr marL="0" marR="0" marT="0" marB="0" anchor="ctr">
                    <a:lnR w="9525" cap="flat" cmpd="sng" algn="ctr">
                      <a:solidFill>
                        <a:schemeClr val="accent1"/>
                      </a:solidFill>
                      <a:prstDash val="solid"/>
                      <a:round/>
                      <a:headEnd type="none" w="med" len="med"/>
                      <a:tailEnd type="none" w="med" len="med"/>
                    </a:lnR>
                  </a:tcPr>
                </a:tc>
                <a:tc>
                  <a:txBody>
                    <a:bodyPr/>
                    <a:lstStyle/>
                    <a:p>
                      <a:pPr marL="0" algn="l" defTabSz="914400" rtl="0" eaLnBrk="1" fontAlgn="t" latinLnBrk="0" hangingPunct="1"/>
                      <a:r>
                        <a:rPr lang="en-US" sz="1100" u="none" strike="noStrike" kern="1200" dirty="0">
                          <a:solidFill>
                            <a:schemeClr val="tx1"/>
                          </a:solidFill>
                          <a:effectLst/>
                          <a:latin typeface="+mn-lt"/>
                          <a:ea typeface="+mn-ea"/>
                          <a:cs typeface="+mn-cs"/>
                        </a:rPr>
                        <a:t>Jaypee Cement </a:t>
                      </a:r>
                      <a:r>
                        <a:rPr lang="en-US" sz="1100" u="none" strike="noStrike" kern="1200" dirty="0" err="1">
                          <a:solidFill>
                            <a:schemeClr val="tx1"/>
                          </a:solidFill>
                          <a:effectLst/>
                          <a:latin typeface="+mn-lt"/>
                          <a:ea typeface="+mn-ea"/>
                          <a:cs typeface="+mn-cs"/>
                        </a:rPr>
                        <a:t>Corpn</a:t>
                      </a:r>
                      <a:r>
                        <a:rPr lang="en-US" sz="1100" u="none" strike="noStrike" kern="1200" dirty="0">
                          <a:solidFill>
                            <a:schemeClr val="tx1"/>
                          </a:solidFill>
                          <a:effectLst/>
                          <a:latin typeface="+mn-lt"/>
                          <a:ea typeface="+mn-ea"/>
                          <a:cs typeface="+mn-cs"/>
                        </a:rPr>
                        <a:t>. Ltd(Formerly M/s </a:t>
                      </a:r>
                      <a:r>
                        <a:rPr lang="en-US" sz="1100" u="none" strike="noStrike" kern="1200" dirty="0" err="1">
                          <a:solidFill>
                            <a:schemeClr val="tx1"/>
                          </a:solidFill>
                          <a:effectLst/>
                          <a:latin typeface="+mn-lt"/>
                          <a:ea typeface="+mn-ea"/>
                          <a:cs typeface="+mn-cs"/>
                        </a:rPr>
                        <a:t>Zawar</a:t>
                      </a:r>
                      <a:r>
                        <a:rPr lang="en-US" sz="1100" u="none" strike="noStrike" kern="1200" dirty="0">
                          <a:solidFill>
                            <a:schemeClr val="tx1"/>
                          </a:solidFill>
                          <a:effectLst/>
                          <a:latin typeface="+mn-lt"/>
                          <a:ea typeface="+mn-ea"/>
                          <a:cs typeface="+mn-cs"/>
                        </a:rPr>
                        <a:t> cement Works</a:t>
                      </a:r>
                    </a:p>
                  </a:txBody>
                  <a:tcPr marL="7620" marR="7620" marT="7620" marB="0" anchor="ctr">
                    <a:lnL w="9525" cap="flat" cmpd="sng" algn="ctr">
                      <a:solidFill>
                        <a:schemeClr val="accent1"/>
                      </a:solidFill>
                      <a:prstDash val="solid"/>
                      <a:round/>
                      <a:headEnd type="none" w="med" len="med"/>
                      <a:tailEnd type="none" w="med" len="med"/>
                    </a:lnL>
                  </a:tcPr>
                </a:tc>
                <a:tc rowSpan="5">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Steam</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60.00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Cement</a:t>
                      </a:r>
                    </a:p>
                  </a:txBody>
                  <a:tcPr marL="7620" marR="7620" marT="7620" marB="0" anchor="ctr"/>
                </a:tc>
                <a:extLst>
                  <a:ext uri="{0D108BD9-81ED-4DB2-BD59-A6C34878D82A}">
                    <a16:rowId xmlns:a16="http://schemas.microsoft.com/office/drawing/2014/main" val="1992652336"/>
                  </a:ext>
                </a:extLst>
              </a:tr>
              <a:tr h="160816">
                <a:tc>
                  <a:txBody>
                    <a:bodyPr/>
                    <a:lstStyle/>
                    <a:p>
                      <a:pPr algn="ctr" fontAlgn="t"/>
                      <a:r>
                        <a:rPr lang="en-IN" sz="1100" u="none" strike="noStrike" dirty="0">
                          <a:effectLst/>
                        </a:rPr>
                        <a:t>17</a:t>
                      </a:r>
                      <a:endParaRPr lang="en-IN" sz="1100" b="0" i="0" u="none" strike="noStrike" dirty="0">
                        <a:solidFill>
                          <a:srgbClr val="000000"/>
                        </a:solidFill>
                        <a:effectLst/>
                        <a:latin typeface="+mn-lt"/>
                      </a:endParaRPr>
                    </a:p>
                  </a:txBody>
                  <a:tcPr marL="0" marR="0" marT="0" marB="0" anchor="ctr">
                    <a:lnR w="9525" cap="flat" cmpd="sng" algn="ctr">
                      <a:solidFill>
                        <a:schemeClr val="accent1"/>
                      </a:solidFill>
                      <a:prstDash val="solid"/>
                      <a:round/>
                      <a:headEnd type="none" w="med" len="med"/>
                      <a:tailEnd type="none" w="med" len="med"/>
                    </a:lnR>
                  </a:tcP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Godavari Biorefineries Ltd,</a:t>
                      </a:r>
                    </a:p>
                  </a:txBody>
                  <a:tcPr marL="7620" marR="7620" marT="7620" marB="0" anchor="ctr">
                    <a:lnL w="9525" cap="flat" cmpd="sng" algn="ctr">
                      <a:solidFill>
                        <a:schemeClr val="accent1"/>
                      </a:solidFill>
                      <a:prstDash val="solid"/>
                      <a:round/>
                      <a:headEnd type="none" w="med" len="med"/>
                      <a:tailEnd type="none" w="med" len="med"/>
                    </a:lnL>
                  </a:tcP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54.06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Sugar</a:t>
                      </a:r>
                    </a:p>
                  </a:txBody>
                  <a:tcPr marL="7620" marR="7620" marT="7620" marB="0" anchor="ctr"/>
                </a:tc>
                <a:extLst>
                  <a:ext uri="{0D108BD9-81ED-4DB2-BD59-A6C34878D82A}">
                    <a16:rowId xmlns:a16="http://schemas.microsoft.com/office/drawing/2014/main" val="337937511"/>
                  </a:ext>
                </a:extLst>
              </a:tr>
              <a:tr h="160816">
                <a:tc>
                  <a:txBody>
                    <a:bodyPr/>
                    <a:lstStyle/>
                    <a:p>
                      <a:pPr algn="ctr" fontAlgn="t"/>
                      <a:r>
                        <a:rPr lang="en-IN" sz="1100" u="none" strike="noStrike" dirty="0">
                          <a:effectLst/>
                        </a:rPr>
                        <a:t>18</a:t>
                      </a:r>
                      <a:endParaRPr lang="en-IN" sz="1100" b="0" i="0" u="none" strike="noStrike" dirty="0">
                        <a:solidFill>
                          <a:srgbClr val="000000"/>
                        </a:solidFill>
                        <a:effectLst/>
                        <a:latin typeface="+mn-lt"/>
                      </a:endParaRPr>
                    </a:p>
                  </a:txBody>
                  <a:tcPr marL="0" marR="0" marT="0" marB="0" anchor="ctr">
                    <a:lnR w="9525" cap="flat" cmpd="sng" algn="ctr">
                      <a:solidFill>
                        <a:schemeClr val="accent1"/>
                      </a:solidFill>
                      <a:prstDash val="solid"/>
                      <a:round/>
                      <a:headEnd type="none" w="med" len="med"/>
                      <a:tailEnd type="none" w="med" len="med"/>
                    </a:lnR>
                  </a:tcP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Shree </a:t>
                      </a:r>
                      <a:r>
                        <a:rPr lang="en-IN" sz="1100" u="none" strike="noStrike" kern="1200" dirty="0" err="1">
                          <a:solidFill>
                            <a:schemeClr val="tx1"/>
                          </a:solidFill>
                          <a:effectLst/>
                          <a:latin typeface="+mn-lt"/>
                          <a:ea typeface="+mn-ea"/>
                          <a:cs typeface="+mn-cs"/>
                        </a:rPr>
                        <a:t>Hirnyakeshi</a:t>
                      </a:r>
                      <a:r>
                        <a:rPr lang="en-IN" sz="1100" u="none" strike="noStrike" kern="1200" dirty="0">
                          <a:solidFill>
                            <a:schemeClr val="tx1"/>
                          </a:solidFill>
                          <a:effectLst/>
                          <a:latin typeface="+mn-lt"/>
                          <a:ea typeface="+mn-ea"/>
                          <a:cs typeface="+mn-cs"/>
                        </a:rPr>
                        <a:t> </a:t>
                      </a:r>
                      <a:r>
                        <a:rPr lang="en-IN" sz="1100" u="none" strike="noStrike" kern="1200" dirty="0" err="1">
                          <a:solidFill>
                            <a:schemeClr val="tx1"/>
                          </a:solidFill>
                          <a:effectLst/>
                          <a:latin typeface="+mn-lt"/>
                          <a:ea typeface="+mn-ea"/>
                          <a:cs typeface="+mn-cs"/>
                        </a:rPr>
                        <a:t>sahakari</a:t>
                      </a:r>
                      <a:r>
                        <a:rPr lang="en-IN" sz="1100" u="none" strike="noStrike" kern="1200" dirty="0">
                          <a:solidFill>
                            <a:schemeClr val="tx1"/>
                          </a:solidFill>
                          <a:effectLst/>
                          <a:latin typeface="+mn-lt"/>
                          <a:ea typeface="+mn-ea"/>
                          <a:cs typeface="+mn-cs"/>
                        </a:rPr>
                        <a:t> </a:t>
                      </a:r>
                      <a:r>
                        <a:rPr lang="en-IN" sz="1100" u="none" strike="noStrike" kern="1200" dirty="0" err="1">
                          <a:solidFill>
                            <a:schemeClr val="tx1"/>
                          </a:solidFill>
                          <a:effectLst/>
                          <a:latin typeface="+mn-lt"/>
                          <a:ea typeface="+mn-ea"/>
                          <a:cs typeface="+mn-cs"/>
                        </a:rPr>
                        <a:t>sakkare</a:t>
                      </a:r>
                      <a:r>
                        <a:rPr lang="en-IN" sz="1100" u="none" strike="noStrike" kern="1200" dirty="0">
                          <a:solidFill>
                            <a:schemeClr val="tx1"/>
                          </a:solidFill>
                          <a:effectLst/>
                          <a:latin typeface="+mn-lt"/>
                          <a:ea typeface="+mn-ea"/>
                          <a:cs typeface="+mn-cs"/>
                        </a:rPr>
                        <a:t> </a:t>
                      </a:r>
                      <a:r>
                        <a:rPr lang="en-IN" sz="1100" u="none" strike="noStrike" kern="1200" dirty="0" err="1">
                          <a:solidFill>
                            <a:schemeClr val="tx1"/>
                          </a:solidFill>
                          <a:effectLst/>
                          <a:latin typeface="+mn-lt"/>
                          <a:ea typeface="+mn-ea"/>
                          <a:cs typeface="+mn-cs"/>
                        </a:rPr>
                        <a:t>karkhane</a:t>
                      </a:r>
                      <a:r>
                        <a:rPr lang="en-IN" sz="1100" u="none" strike="noStrike" kern="1200" dirty="0">
                          <a:solidFill>
                            <a:schemeClr val="tx1"/>
                          </a:solidFill>
                          <a:effectLst/>
                          <a:latin typeface="+mn-lt"/>
                          <a:ea typeface="+mn-ea"/>
                          <a:cs typeface="+mn-cs"/>
                        </a:rPr>
                        <a:t> </a:t>
                      </a:r>
                      <a:r>
                        <a:rPr lang="en-IN" sz="1100" u="none" strike="noStrike" kern="1200" dirty="0" err="1">
                          <a:solidFill>
                            <a:schemeClr val="tx1"/>
                          </a:solidFill>
                          <a:effectLst/>
                          <a:latin typeface="+mn-lt"/>
                          <a:ea typeface="+mn-ea"/>
                          <a:cs typeface="+mn-cs"/>
                        </a:rPr>
                        <a:t>niyamit</a:t>
                      </a:r>
                      <a:endParaRPr lang="en-IN" sz="1100" u="none" strike="noStrike" kern="1200" dirty="0">
                        <a:solidFill>
                          <a:schemeClr val="tx1"/>
                        </a:solidFill>
                        <a:effectLst/>
                        <a:latin typeface="+mn-lt"/>
                        <a:ea typeface="+mn-ea"/>
                        <a:cs typeface="+mn-cs"/>
                      </a:endParaRPr>
                    </a:p>
                  </a:txBody>
                  <a:tcPr marL="7620" marR="7620" marT="7620" marB="0" anchor="ctr">
                    <a:lnL w="9525" cap="flat" cmpd="sng" algn="ctr">
                      <a:solidFill>
                        <a:schemeClr val="accent1"/>
                      </a:solidFill>
                      <a:prstDash val="solid"/>
                      <a:round/>
                      <a:headEnd type="none" w="med" len="med"/>
                      <a:tailEnd type="none" w="med" len="med"/>
                    </a:lnL>
                    <a:lnB w="9525" cap="flat" cmpd="sng" algn="ctr">
                      <a:solidFill>
                        <a:schemeClr val="accent1"/>
                      </a:solidFill>
                      <a:prstDash val="solid"/>
                      <a:round/>
                      <a:headEnd type="none" w="med" len="med"/>
                      <a:tailEnd type="none" w="med" len="med"/>
                    </a:lnB>
                  </a:tcP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lnB w="9525" cap="flat" cmpd="sng" algn="ctr">
                      <a:solidFill>
                        <a:schemeClr val="accent1"/>
                      </a:solidFill>
                      <a:prstDash val="solid"/>
                      <a:round/>
                      <a:headEnd type="none" w="med" len="med"/>
                      <a:tailEnd type="none" w="med" len="med"/>
                    </a:lnB>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52.00 </a:t>
                      </a:r>
                    </a:p>
                  </a:txBody>
                  <a:tcPr marL="7620" marR="7620" marT="7620" marB="0" anchor="ctr">
                    <a:lnB w="9525" cap="flat" cmpd="sng" algn="ctr">
                      <a:solidFill>
                        <a:schemeClr val="accent1"/>
                      </a:solidFill>
                      <a:prstDash val="solid"/>
                      <a:round/>
                      <a:headEnd type="none" w="med" len="med"/>
                      <a:tailEnd type="none" w="med" len="med"/>
                    </a:lnB>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Sugar</a:t>
                      </a:r>
                    </a:p>
                  </a:txBody>
                  <a:tcPr marL="7620" marR="7620" marT="7620" marB="0" anchor="ctr">
                    <a:lnB w="9525"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896551147"/>
                  </a:ext>
                </a:extLst>
              </a:tr>
              <a:tr h="160816">
                <a:tc>
                  <a:txBody>
                    <a:bodyPr/>
                    <a:lstStyle/>
                    <a:p>
                      <a:pPr algn="ctr" fontAlgn="t"/>
                      <a:r>
                        <a:rPr lang="en-IN" sz="1100" u="none" strike="noStrike" dirty="0">
                          <a:effectLst/>
                        </a:rPr>
                        <a:t>19</a:t>
                      </a:r>
                      <a:endParaRPr lang="en-IN" sz="1100" b="0" i="0" u="none" strike="noStrike" dirty="0">
                        <a:solidFill>
                          <a:srgbClr val="000000"/>
                        </a:solidFill>
                        <a:effectLst/>
                        <a:latin typeface="+mn-lt"/>
                      </a:endParaRP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Shri </a:t>
                      </a:r>
                      <a:r>
                        <a:rPr lang="en-IN" sz="1100" u="none" strike="noStrike" kern="1200" dirty="0" err="1">
                          <a:solidFill>
                            <a:schemeClr val="tx1"/>
                          </a:solidFill>
                          <a:effectLst/>
                          <a:latin typeface="+mn-lt"/>
                          <a:ea typeface="+mn-ea"/>
                          <a:cs typeface="+mn-cs"/>
                        </a:rPr>
                        <a:t>Hiranyakeshi</a:t>
                      </a:r>
                      <a:r>
                        <a:rPr lang="en-IN" sz="1100" u="none" strike="noStrike" kern="1200" dirty="0">
                          <a:solidFill>
                            <a:schemeClr val="tx1"/>
                          </a:solidFill>
                          <a:effectLst/>
                          <a:latin typeface="+mn-lt"/>
                          <a:ea typeface="+mn-ea"/>
                          <a:cs typeface="+mn-cs"/>
                        </a:rPr>
                        <a:t> SSK </a:t>
                      </a:r>
                      <a:r>
                        <a:rPr lang="en-IN" sz="1100" u="none" strike="noStrike" kern="1200" dirty="0" err="1">
                          <a:solidFill>
                            <a:schemeClr val="tx1"/>
                          </a:solidFill>
                          <a:effectLst/>
                          <a:latin typeface="+mn-lt"/>
                          <a:ea typeface="+mn-ea"/>
                          <a:cs typeface="+mn-cs"/>
                        </a:rPr>
                        <a:t>Niyamit</a:t>
                      </a:r>
                      <a:r>
                        <a:rPr lang="en-IN" sz="1100" u="none" strike="noStrike" kern="1200" dirty="0">
                          <a:solidFill>
                            <a:schemeClr val="tx1"/>
                          </a:solidFill>
                          <a:effectLst/>
                          <a:latin typeface="+mn-lt"/>
                          <a:ea typeface="+mn-ea"/>
                          <a:cs typeface="+mn-cs"/>
                        </a:rPr>
                        <a:t>,</a:t>
                      </a:r>
                    </a:p>
                  </a:txBody>
                  <a:tcPr marL="7620" marR="7620" marT="7620" marB="0" anchor="ctr">
                    <a:lnT w="9525" cap="flat" cmpd="sng" algn="ctr">
                      <a:solidFill>
                        <a:schemeClr val="accent1"/>
                      </a:solidFill>
                      <a:prstDash val="solid"/>
                      <a:round/>
                      <a:headEnd type="none" w="med" len="med"/>
                      <a:tailEnd type="none" w="med" len="med"/>
                    </a:lnT>
                  </a:tcP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lnT w="9525" cap="flat" cmpd="sng" algn="ctr">
                      <a:solidFill>
                        <a:schemeClr val="accent1"/>
                      </a:solidFill>
                      <a:prstDash val="solid"/>
                      <a:round/>
                      <a:headEnd type="none" w="med" len="med"/>
                      <a:tailEnd type="none" w="med" len="med"/>
                    </a:lnT>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52.00 </a:t>
                      </a:r>
                    </a:p>
                  </a:txBody>
                  <a:tcPr marL="7620" marR="7620" marT="7620" marB="0" anchor="ctr">
                    <a:lnT w="9525" cap="flat" cmpd="sng" algn="ctr">
                      <a:solidFill>
                        <a:schemeClr val="accent1"/>
                      </a:solidFill>
                      <a:prstDash val="solid"/>
                      <a:round/>
                      <a:headEnd type="none" w="med" len="med"/>
                      <a:tailEnd type="none" w="med" len="med"/>
                    </a:lnT>
                  </a:tcP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Sugar</a:t>
                      </a:r>
                    </a:p>
                  </a:txBody>
                  <a:tcPr marL="7620" marR="7620" marT="7620" marB="0" anchor="ctr">
                    <a:lnT w="9525"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3828869767"/>
                  </a:ext>
                </a:extLst>
              </a:tr>
              <a:tr h="160816">
                <a:tc>
                  <a:txBody>
                    <a:bodyPr/>
                    <a:lstStyle/>
                    <a:p>
                      <a:pPr algn="ctr" fontAlgn="t"/>
                      <a:r>
                        <a:rPr lang="en-IN" sz="1100" b="0" i="0" u="none" strike="noStrike" dirty="0">
                          <a:solidFill>
                            <a:srgbClr val="000000"/>
                          </a:solidFill>
                          <a:effectLst/>
                          <a:latin typeface="+mn-lt"/>
                        </a:rPr>
                        <a:t>20</a:t>
                      </a:r>
                    </a:p>
                  </a:txBody>
                  <a:tcPr marL="0" marR="0" marT="0" marB="0" anchor="ctr"/>
                </a:tc>
                <a:tc>
                  <a:txBody>
                    <a:bodyPr/>
                    <a:lstStyle/>
                    <a:p>
                      <a:pPr marL="0" algn="l" defTabSz="914400" rtl="0" eaLnBrk="1" fontAlgn="t" latinLnBrk="0" hangingPunct="1"/>
                      <a:r>
                        <a:rPr lang="fi-FI" sz="1100" u="none" strike="noStrike" kern="1200" dirty="0">
                          <a:solidFill>
                            <a:schemeClr val="tx1"/>
                          </a:solidFill>
                          <a:effectLst/>
                          <a:latin typeface="+mn-lt"/>
                          <a:ea typeface="+mn-ea"/>
                          <a:cs typeface="+mn-cs"/>
                        </a:rPr>
                        <a:t>M/s Sathavahana Ispat Pvt. Ltd,</a:t>
                      </a:r>
                    </a:p>
                  </a:txBody>
                  <a:tcPr marL="7620" marR="7620" marT="7620" marB="0" anchor="ctr"/>
                </a:tc>
                <a:tc vMerge="1">
                  <a:txBody>
                    <a:bodyPr/>
                    <a:lstStyle/>
                    <a:p>
                      <a:pPr marL="0" algn="ctr" defTabSz="914400" rtl="0" eaLnBrk="1" fontAlgn="t" latinLnBrk="0" hangingPunct="1"/>
                      <a:endParaRPr lang="en-IN" sz="1100" u="none" strike="noStrike" kern="1200" dirty="0">
                        <a:solidFill>
                          <a:schemeClr val="tx1"/>
                        </a:solidFill>
                        <a:effectLst/>
                        <a:latin typeface="+mn-lt"/>
                        <a:ea typeface="+mn-ea"/>
                        <a:cs typeface="+mn-cs"/>
                      </a:endParaRP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50.00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Iron &amp; Steel</a:t>
                      </a:r>
                    </a:p>
                  </a:txBody>
                  <a:tcPr marL="7620" marR="7620" marT="7620" marB="0" anchor="ctr"/>
                </a:tc>
                <a:extLst>
                  <a:ext uri="{0D108BD9-81ED-4DB2-BD59-A6C34878D82A}">
                    <a16:rowId xmlns:a16="http://schemas.microsoft.com/office/drawing/2014/main" val="3158221787"/>
                  </a:ext>
                </a:extLst>
              </a:tr>
              <a:tr h="160816">
                <a:tc>
                  <a:txBody>
                    <a:bodyPr/>
                    <a:lstStyle/>
                    <a:p>
                      <a:pPr algn="ctr" fontAlgn="t"/>
                      <a:r>
                        <a:rPr lang="en-IN" sz="1100" u="none" strike="noStrike" dirty="0">
                          <a:effectLst/>
                        </a:rPr>
                        <a:t>21</a:t>
                      </a:r>
                      <a:endParaRPr lang="en-IN" sz="1100" b="0" i="0" u="none" strike="noStrike" dirty="0">
                        <a:solidFill>
                          <a:srgbClr val="000000"/>
                        </a:solidFill>
                        <a:effectLst/>
                        <a:latin typeface="+mn-lt"/>
                      </a:endParaRPr>
                    </a:p>
                  </a:txBody>
                  <a:tcPr marL="0" marR="0" marT="0" marB="0" anchor="ctr"/>
                </a:tc>
                <a:tc>
                  <a:txBody>
                    <a:bodyPr/>
                    <a:lstStyle/>
                    <a:p>
                      <a:pPr marL="0" algn="l" defTabSz="914400" rtl="0" eaLnBrk="1" fontAlgn="t" latinLnBrk="0" hangingPunct="1"/>
                      <a:r>
                        <a:rPr lang="en-US" sz="1100" u="none" strike="noStrike" kern="1200" dirty="0">
                          <a:solidFill>
                            <a:schemeClr val="tx1"/>
                          </a:solidFill>
                          <a:effectLst/>
                          <a:latin typeface="+mn-lt"/>
                          <a:ea typeface="+mn-ea"/>
                          <a:cs typeface="+mn-cs"/>
                        </a:rPr>
                        <a:t>J.K.CEMENT WORKS MUDDAPUR</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Diesel</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50.00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Cement</a:t>
                      </a:r>
                    </a:p>
                  </a:txBody>
                  <a:tcPr marL="7620" marR="7620" marT="7620" marB="0" anchor="ctr"/>
                </a:tc>
                <a:extLst>
                  <a:ext uri="{0D108BD9-81ED-4DB2-BD59-A6C34878D82A}">
                    <a16:rowId xmlns:a16="http://schemas.microsoft.com/office/drawing/2014/main" val="2356966619"/>
                  </a:ext>
                </a:extLst>
              </a:tr>
              <a:tr h="160816">
                <a:tc>
                  <a:txBody>
                    <a:bodyPr/>
                    <a:lstStyle/>
                    <a:p>
                      <a:pPr algn="ctr" fontAlgn="t"/>
                      <a:r>
                        <a:rPr lang="en-IN" sz="1100" b="0" i="0" u="none" strike="noStrike" dirty="0">
                          <a:solidFill>
                            <a:srgbClr val="000000"/>
                          </a:solidFill>
                          <a:effectLst/>
                          <a:latin typeface="+mn-lt"/>
                        </a:rPr>
                        <a:t>22</a:t>
                      </a: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Mangalore Chemicals &amp; Fertilizers Ltd,</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Steam</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48.00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Chemical</a:t>
                      </a:r>
                    </a:p>
                  </a:txBody>
                  <a:tcPr marL="7620" marR="7620" marT="7620" marB="0" anchor="ctr"/>
                </a:tc>
                <a:extLst>
                  <a:ext uri="{0D108BD9-81ED-4DB2-BD59-A6C34878D82A}">
                    <a16:rowId xmlns:a16="http://schemas.microsoft.com/office/drawing/2014/main" val="4114556393"/>
                  </a:ext>
                </a:extLst>
              </a:tr>
              <a:tr h="160816">
                <a:tc>
                  <a:txBody>
                    <a:bodyPr/>
                    <a:lstStyle/>
                    <a:p>
                      <a:pPr algn="ctr" fontAlgn="t"/>
                      <a:r>
                        <a:rPr lang="en-IN" sz="1100" u="none" strike="noStrike" dirty="0">
                          <a:effectLst/>
                        </a:rPr>
                        <a:t>23</a:t>
                      </a:r>
                      <a:endParaRPr lang="en-IN" sz="1100" b="0" i="0" u="none" strike="noStrike" dirty="0">
                        <a:solidFill>
                          <a:srgbClr val="000000"/>
                        </a:solidFill>
                        <a:effectLst/>
                        <a:latin typeface="+mn-lt"/>
                      </a:endParaRPr>
                    </a:p>
                  </a:txBody>
                  <a:tcPr marL="0" marR="0" marT="0" marB="0" anchor="ctr"/>
                </a:tc>
                <a:tc>
                  <a:txBody>
                    <a:bodyPr/>
                    <a:lstStyle/>
                    <a:p>
                      <a:pPr marL="0" algn="l" defTabSz="914400" rtl="0" eaLnBrk="1" fontAlgn="t" latinLnBrk="0" hangingPunct="1"/>
                      <a:r>
                        <a:rPr lang="en-US" sz="1100" u="none" strike="noStrike" kern="1200" dirty="0" err="1">
                          <a:solidFill>
                            <a:schemeClr val="tx1"/>
                          </a:solidFill>
                          <a:effectLst/>
                          <a:latin typeface="+mn-lt"/>
                          <a:ea typeface="+mn-ea"/>
                          <a:cs typeface="+mn-cs"/>
                        </a:rPr>
                        <a:t>Coramandel</a:t>
                      </a:r>
                      <a:r>
                        <a:rPr lang="en-US" sz="1100" u="none" strike="noStrike" kern="1200" dirty="0">
                          <a:solidFill>
                            <a:schemeClr val="tx1"/>
                          </a:solidFill>
                          <a:effectLst/>
                          <a:latin typeface="+mn-lt"/>
                          <a:ea typeface="+mn-ea"/>
                          <a:cs typeface="+mn-cs"/>
                        </a:rPr>
                        <a:t> </a:t>
                      </a:r>
                      <a:r>
                        <a:rPr lang="en-US" sz="1100" u="none" strike="noStrike" kern="1200" dirty="0" err="1">
                          <a:solidFill>
                            <a:schemeClr val="tx1"/>
                          </a:solidFill>
                          <a:effectLst/>
                          <a:latin typeface="+mn-lt"/>
                          <a:ea typeface="+mn-ea"/>
                          <a:cs typeface="+mn-cs"/>
                        </a:rPr>
                        <a:t>Sugars,Makavally,K</a:t>
                      </a:r>
                      <a:r>
                        <a:rPr lang="en-US" sz="1100" u="none" strike="noStrike" kern="1200" dirty="0">
                          <a:solidFill>
                            <a:schemeClr val="tx1"/>
                          </a:solidFill>
                          <a:effectLst/>
                          <a:latin typeface="+mn-lt"/>
                          <a:ea typeface="+mn-ea"/>
                          <a:cs typeface="+mn-cs"/>
                        </a:rPr>
                        <a:t> R Pet Taluk, </a:t>
                      </a:r>
                      <a:r>
                        <a:rPr lang="en-US" sz="1100" u="none" strike="noStrike" kern="1200" dirty="0" err="1">
                          <a:solidFill>
                            <a:schemeClr val="tx1"/>
                          </a:solidFill>
                          <a:effectLst/>
                          <a:latin typeface="+mn-lt"/>
                          <a:ea typeface="+mn-ea"/>
                          <a:cs typeface="+mn-cs"/>
                        </a:rPr>
                        <a:t>Mandya</a:t>
                      </a:r>
                      <a:r>
                        <a:rPr lang="en-US" sz="1100" u="none" strike="noStrike" kern="1200" dirty="0">
                          <a:solidFill>
                            <a:schemeClr val="tx1"/>
                          </a:solidFill>
                          <a:effectLst/>
                          <a:latin typeface="+mn-lt"/>
                          <a:ea typeface="+mn-ea"/>
                          <a:cs typeface="+mn-cs"/>
                        </a:rPr>
                        <a:t> District.</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Diesel</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46.12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Sugar</a:t>
                      </a:r>
                    </a:p>
                  </a:txBody>
                  <a:tcPr marL="7620" marR="7620" marT="7620" marB="0" anchor="ctr"/>
                </a:tc>
                <a:extLst>
                  <a:ext uri="{0D108BD9-81ED-4DB2-BD59-A6C34878D82A}">
                    <a16:rowId xmlns:a16="http://schemas.microsoft.com/office/drawing/2014/main" val="3066121512"/>
                  </a:ext>
                </a:extLst>
              </a:tr>
              <a:tr h="278442">
                <a:tc>
                  <a:txBody>
                    <a:bodyPr/>
                    <a:lstStyle/>
                    <a:p>
                      <a:pPr algn="ctr" fontAlgn="t"/>
                      <a:r>
                        <a:rPr lang="en-IN" sz="1100" u="none" strike="noStrike" dirty="0">
                          <a:effectLst/>
                        </a:rPr>
                        <a:t>24</a:t>
                      </a:r>
                      <a:endParaRPr lang="en-IN" sz="1100" b="0" i="0" u="none" strike="noStrike" dirty="0">
                        <a:solidFill>
                          <a:srgbClr val="000000"/>
                        </a:solidFill>
                        <a:effectLst/>
                        <a:latin typeface="+mn-lt"/>
                      </a:endParaRP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Orient Cements ltd</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Steam</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45.00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Cement</a:t>
                      </a:r>
                    </a:p>
                  </a:txBody>
                  <a:tcPr marL="7620" marR="7620" marT="7620" marB="0" anchor="ctr"/>
                </a:tc>
                <a:extLst>
                  <a:ext uri="{0D108BD9-81ED-4DB2-BD59-A6C34878D82A}">
                    <a16:rowId xmlns:a16="http://schemas.microsoft.com/office/drawing/2014/main" val="3858651505"/>
                  </a:ext>
                </a:extLst>
              </a:tr>
              <a:tr h="160816">
                <a:tc>
                  <a:txBody>
                    <a:bodyPr/>
                    <a:lstStyle/>
                    <a:p>
                      <a:pPr algn="ctr" fontAlgn="t"/>
                      <a:r>
                        <a:rPr lang="en-IN" sz="1100" u="none" strike="noStrike" dirty="0">
                          <a:effectLst/>
                        </a:rPr>
                        <a:t>25</a:t>
                      </a:r>
                      <a:endParaRPr lang="en-IN" sz="1100" b="0" i="0" u="none" strike="noStrike" dirty="0">
                        <a:solidFill>
                          <a:srgbClr val="000000"/>
                        </a:solidFill>
                        <a:effectLst/>
                        <a:latin typeface="+mn-lt"/>
                      </a:endParaRPr>
                    </a:p>
                  </a:txBody>
                  <a:tcPr marL="0" marR="0" marT="0" marB="0" anchor="ctr"/>
                </a:tc>
                <a:tc>
                  <a:txBody>
                    <a:bodyPr/>
                    <a:lstStyle/>
                    <a:p>
                      <a:pPr marL="0" algn="l" defTabSz="914400" rtl="0" eaLnBrk="1" fontAlgn="t" latinLnBrk="0" hangingPunct="1"/>
                      <a:r>
                        <a:rPr lang="en-IN" sz="1100" u="none" strike="noStrike" kern="1200" dirty="0">
                          <a:solidFill>
                            <a:schemeClr val="tx1"/>
                          </a:solidFill>
                          <a:effectLst/>
                          <a:latin typeface="+mn-lt"/>
                          <a:ea typeface="+mn-ea"/>
                          <a:cs typeface="+mn-cs"/>
                        </a:rPr>
                        <a:t>Mysore Paper Mills Ltd.,</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Steam</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    41.00 </a:t>
                      </a:r>
                    </a:p>
                  </a:txBody>
                  <a:tcPr marL="7620" marR="7620" marT="7620" marB="0" anchor="ctr"/>
                </a:tc>
                <a:tc>
                  <a:txBody>
                    <a:bodyPr/>
                    <a:lstStyle/>
                    <a:p>
                      <a:pPr marL="0" algn="ctr" defTabSz="914400" rtl="0" eaLnBrk="1" fontAlgn="t" latinLnBrk="0" hangingPunct="1"/>
                      <a:r>
                        <a:rPr lang="en-IN" sz="1100" u="none" strike="noStrike" kern="1200" dirty="0">
                          <a:solidFill>
                            <a:schemeClr val="tx1"/>
                          </a:solidFill>
                          <a:effectLst/>
                          <a:latin typeface="+mn-lt"/>
                          <a:ea typeface="+mn-ea"/>
                          <a:cs typeface="+mn-cs"/>
                        </a:rPr>
                        <a:t>Paper</a:t>
                      </a:r>
                    </a:p>
                  </a:txBody>
                  <a:tcPr marL="7620" marR="7620" marT="7620" marB="0" anchor="ctr"/>
                </a:tc>
                <a:extLst>
                  <a:ext uri="{0D108BD9-81ED-4DB2-BD59-A6C34878D82A}">
                    <a16:rowId xmlns:a16="http://schemas.microsoft.com/office/drawing/2014/main" val="686688291"/>
                  </a:ext>
                </a:extLst>
              </a:tr>
              <a:tr h="288000">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1" i="0" u="none" strike="noStrike" dirty="0">
                          <a:solidFill>
                            <a:srgbClr val="000000"/>
                          </a:solidFill>
                          <a:effectLst/>
                          <a:latin typeface="+mn-lt"/>
                        </a:rPr>
                        <a:t>Total Karnataka (all captive plants)</a:t>
                      </a:r>
                    </a:p>
                  </a:txBody>
                  <a:tcPr marL="0" marR="0" marT="0" marB="0" anchor="ct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mn-lt"/>
                      </a:endParaRPr>
                    </a:p>
                  </a:txBody>
                  <a:tcPr marL="0" marR="0" marT="0" marB="0" anchor="ctr"/>
                </a:tc>
                <a:tc>
                  <a:txBody>
                    <a:bodyPr/>
                    <a:lstStyle/>
                    <a:p>
                      <a:pPr algn="ctr" fontAlgn="t"/>
                      <a:endParaRPr lang="en-US" sz="1100" b="1" i="0" u="none" strike="noStrike" dirty="0">
                        <a:solidFill>
                          <a:srgbClr val="000000"/>
                        </a:solidFill>
                        <a:effectLst/>
                        <a:latin typeface="+mn-lt"/>
                      </a:endParaRPr>
                    </a:p>
                  </a:txBody>
                  <a:tcPr marL="0" marR="0" marT="0" marB="0" anchor="ctr"/>
                </a:tc>
                <a:tc>
                  <a:txBody>
                    <a:bodyPr/>
                    <a:lstStyle/>
                    <a:p>
                      <a:pPr algn="ctr" fontAlgn="t"/>
                      <a:r>
                        <a:rPr lang="en-US" sz="1100" b="1" i="0" u="none" strike="noStrike" dirty="0">
                          <a:solidFill>
                            <a:srgbClr val="000000"/>
                          </a:solidFill>
                          <a:effectLst/>
                          <a:latin typeface="+mn-lt"/>
                        </a:rPr>
                        <a:t>6120.44</a:t>
                      </a:r>
                    </a:p>
                  </a:txBody>
                  <a:tcPr marL="0" marR="0" marT="0" marB="0" anchor="ctr"/>
                </a:tc>
                <a:tc>
                  <a:txBody>
                    <a:bodyPr/>
                    <a:lstStyle/>
                    <a:p>
                      <a:pPr algn="ctr" fontAlgn="t"/>
                      <a:endParaRPr lang="en-US" sz="1100" b="1" i="0" u="none" strike="noStrike" dirty="0">
                        <a:solidFill>
                          <a:srgbClr val="000000"/>
                        </a:solidFill>
                        <a:effectLst/>
                        <a:latin typeface="+mn-lt"/>
                      </a:endParaRPr>
                    </a:p>
                  </a:txBody>
                  <a:tcPr marL="0" marR="0" marT="0" marB="0" anchor="ctr"/>
                </a:tc>
                <a:extLst>
                  <a:ext uri="{0D108BD9-81ED-4DB2-BD59-A6C34878D82A}">
                    <a16:rowId xmlns:a16="http://schemas.microsoft.com/office/drawing/2014/main" val="1425983513"/>
                  </a:ext>
                </a:extLst>
              </a:tr>
            </a:tbl>
          </a:graphicData>
        </a:graphic>
      </p:graphicFrame>
      <p:sp>
        <p:nvSpPr>
          <p:cNvPr id="7" name="Content Placeholder 4">
            <a:extLst>
              <a:ext uri="{FF2B5EF4-FFF2-40B4-BE49-F238E27FC236}">
                <a16:creationId xmlns:a16="http://schemas.microsoft.com/office/drawing/2014/main" id="{22883F58-EDCD-40DB-8B86-4EA38B91B45F}"/>
              </a:ext>
            </a:extLst>
          </p:cNvPr>
          <p:cNvSpPr txBox="1">
            <a:spLocks/>
          </p:cNvSpPr>
          <p:nvPr/>
        </p:nvSpPr>
        <p:spPr>
          <a:xfrm>
            <a:off x="7396547" y="6497403"/>
            <a:ext cx="3913010" cy="285047"/>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 typeface="Arial" panose="020B0604020202020204" pitchFamily="34" charset="0"/>
              <a:buNone/>
              <a:tabLst>
                <a:tab pos="5029200" algn="r"/>
              </a:tabLst>
              <a:defRPr sz="1100" b="0" kern="1200">
                <a:solidFill>
                  <a:schemeClr val="tx1"/>
                </a:solidFill>
                <a:latin typeface="+mn-lt"/>
                <a:ea typeface="+mn-ea"/>
                <a:cs typeface="+mn-cs"/>
              </a:defRPr>
            </a:lvl1pPr>
            <a:lvl2pPr marL="0" indent="0" algn="l" defTabSz="914400" rtl="0" eaLnBrk="1" latinLnBrk="0" hangingPunct="1">
              <a:spcBef>
                <a:spcPts val="0"/>
              </a:spcBef>
              <a:spcAft>
                <a:spcPts val="1000"/>
              </a:spcAft>
              <a:buClrTx/>
              <a:buSzPct val="100000"/>
              <a:buFont typeface="Arial"/>
              <a:buNone/>
              <a:tabLst>
                <a:tab pos="5029200" algn="r"/>
              </a:tabLst>
              <a:defRPr lang="en-US" sz="1100" b="1" kern="1200">
                <a:solidFill>
                  <a:schemeClr val="tx1"/>
                </a:solidFill>
                <a:latin typeface="+mn-lt"/>
                <a:ea typeface="+mn-ea"/>
                <a:cs typeface="+mn-cs"/>
              </a:defRPr>
            </a:lvl2pPr>
            <a:lvl3pPr marL="176400" indent="-176400" algn="l" defTabSz="914400" rtl="0" eaLnBrk="1" latinLnBrk="0" hangingPunct="1">
              <a:spcBef>
                <a:spcPts val="0"/>
              </a:spcBef>
              <a:spcAft>
                <a:spcPts val="1000"/>
              </a:spcAft>
              <a:buClrTx/>
              <a:buSzPct val="100000"/>
              <a:buFont typeface="Arial" panose="020B0604020202020204" pitchFamily="34" charset="0"/>
              <a:buChar char="•"/>
              <a:tabLst>
                <a:tab pos="5029200" algn="r"/>
              </a:tabLst>
              <a:defRPr lang="en-US" sz="1100" kern="1200">
                <a:solidFill>
                  <a:schemeClr val="tx1"/>
                </a:solidFill>
                <a:latin typeface="+mn-lt"/>
                <a:ea typeface="+mn-ea"/>
                <a:cs typeface="+mn-cs"/>
              </a:defRPr>
            </a:lvl3pPr>
            <a:lvl4pPr marL="356400" indent="-176400" algn="l" defTabSz="914400" rtl="0" eaLnBrk="1" latinLnBrk="0" hangingPunct="1">
              <a:spcBef>
                <a:spcPts val="0"/>
              </a:spcBef>
              <a:spcAft>
                <a:spcPts val="1000"/>
              </a:spcAft>
              <a:buClrTx/>
              <a:buSzPct val="100000"/>
              <a:buFont typeface="Verdana" panose="020B0604030504040204" pitchFamily="34" charset="0"/>
              <a:buChar char="−"/>
              <a:tabLst>
                <a:tab pos="5029200" algn="r"/>
              </a:tabLst>
              <a:defRPr lang="en-US" sz="1100" kern="1200" baseline="0">
                <a:solidFill>
                  <a:schemeClr val="tx1"/>
                </a:solidFill>
                <a:latin typeface="+mn-lt"/>
                <a:ea typeface="+mn-ea"/>
                <a:cs typeface="+mn-cs"/>
              </a:defRPr>
            </a:lvl4pPr>
            <a:lvl5pPr marL="532800" indent="-176400" algn="l" defTabSz="798513" rtl="0" eaLnBrk="1" latinLnBrk="0" hangingPunct="1">
              <a:spcBef>
                <a:spcPts val="0"/>
              </a:spcBef>
              <a:spcAft>
                <a:spcPts val="1000"/>
              </a:spcAft>
              <a:buClrTx/>
              <a:buSzPct val="100000"/>
              <a:buFont typeface="Verdana" panose="020B0604030504040204" pitchFamily="34" charset="0"/>
              <a:buChar char="−"/>
              <a:tabLst>
                <a:tab pos="5029200" algn="r"/>
              </a:tabLst>
              <a:defRPr lang="en-US" sz="1100" kern="1200" baseline="0">
                <a:solidFill>
                  <a:schemeClr val="tx1"/>
                </a:solidFill>
                <a:latin typeface="+mn-lt"/>
                <a:ea typeface="+mn-ea"/>
                <a:cs typeface="+mn-cs"/>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just" defTabSz="914400" rtl="0" eaLnBrk="1" fontAlgn="auto" latinLnBrk="0" hangingPunct="1">
              <a:lnSpc>
                <a:spcPct val="120000"/>
              </a:lnSpc>
              <a:spcBef>
                <a:spcPts val="0"/>
              </a:spcBef>
              <a:spcAft>
                <a:spcPts val="0"/>
              </a:spcAft>
              <a:buClrTx/>
              <a:buSzPct val="100000"/>
              <a:buFont typeface="Arial" panose="020B0604020202020204" pitchFamily="34" charset="0"/>
              <a:buNone/>
              <a:tabLst>
                <a:tab pos="5029200" algn="r"/>
              </a:tabLst>
              <a:defRPr/>
            </a:pPr>
            <a:r>
              <a:rPr kumimoji="0" lang="en-US" sz="900" b="0" i="0" u="none" strike="noStrike" kern="1200" cap="none" spc="0" normalizeH="0" baseline="0" noProof="0" dirty="0">
                <a:ln>
                  <a:noFill/>
                </a:ln>
                <a:solidFill>
                  <a:prstClr val="black"/>
                </a:solidFill>
                <a:effectLst/>
                <a:uLnTx/>
                <a:uFillTx/>
                <a:latin typeface="Verdana"/>
                <a:ea typeface="+mn-ea"/>
                <a:cs typeface="+mn-cs"/>
              </a:rPr>
              <a:t>Complete list of Captive Power Plants in Karnataka is annexed</a:t>
            </a:r>
            <a:endParaRPr kumimoji="0" lang="en-US" sz="1050" b="0" i="0" u="none" strike="noStrike" kern="1200" cap="none" spc="0" normalizeH="0" baseline="0" noProof="0" dirty="0">
              <a:ln>
                <a:noFill/>
              </a:ln>
              <a:solidFill>
                <a:prstClr val="black"/>
              </a:solidFill>
              <a:effectLst/>
              <a:uLnTx/>
              <a:uFillTx/>
              <a:latin typeface="Verdana"/>
              <a:ea typeface="+mn-ea"/>
              <a:cs typeface="+mn-cs"/>
            </a:endParaRPr>
          </a:p>
        </p:txBody>
      </p:sp>
      <p:sp>
        <p:nvSpPr>
          <p:cNvPr id="5" name="Isosceles Triangle 4">
            <a:hlinkClick r:id="" action="ppaction://noaction"/>
            <a:extLst>
              <a:ext uri="{FF2B5EF4-FFF2-40B4-BE49-F238E27FC236}">
                <a16:creationId xmlns:a16="http://schemas.microsoft.com/office/drawing/2014/main" id="{F201C248-6A2E-436E-AFBC-9689C13FCB39}"/>
              </a:ext>
            </a:extLst>
          </p:cNvPr>
          <p:cNvSpPr/>
          <p:nvPr/>
        </p:nvSpPr>
        <p:spPr bwMode="gray">
          <a:xfrm rot="5400000">
            <a:off x="11167033" y="6454334"/>
            <a:ext cx="285049" cy="280222"/>
          </a:xfrm>
          <a:prstGeom prst="triangle">
            <a:avLst/>
          </a:prstGeom>
          <a:solidFill>
            <a:schemeClr val="accent6"/>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1200" cap="none" spc="0" normalizeH="0" baseline="0" noProof="0" dirty="0">
              <a:ln>
                <a:noFill/>
              </a:ln>
              <a:solidFill>
                <a:prstClr val="white"/>
              </a:solidFill>
              <a:effectLst/>
              <a:uLnTx/>
              <a:uFillTx/>
              <a:latin typeface="Verdana"/>
              <a:ea typeface="+mn-ea"/>
              <a:cs typeface="+mn-cs"/>
            </a:endParaRPr>
          </a:p>
        </p:txBody>
      </p:sp>
    </p:spTree>
    <p:extLst>
      <p:ext uri="{BB962C8B-B14F-4D97-AF65-F5344CB8AC3E}">
        <p14:creationId xmlns:p14="http://schemas.microsoft.com/office/powerpoint/2010/main" val="243023319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9609" y="264235"/>
            <a:ext cx="11724236" cy="334100"/>
          </a:xfrm>
        </p:spPr>
        <p:txBody>
          <a:bodyPr/>
          <a:lstStyle/>
          <a:p>
            <a:r>
              <a:rPr lang="en-US" dirty="0"/>
              <a:t>Solar power based Captive Power Plants in Karnataka for FY 2018-19 (1/2)</a:t>
            </a:r>
            <a:endParaRPr lang="en-IN" dirty="0"/>
          </a:p>
        </p:txBody>
      </p:sp>
      <p:graphicFrame>
        <p:nvGraphicFramePr>
          <p:cNvPr id="2" name="Table 2">
            <a:extLst>
              <a:ext uri="{FF2B5EF4-FFF2-40B4-BE49-F238E27FC236}">
                <a16:creationId xmlns:a16="http://schemas.microsoft.com/office/drawing/2014/main" id="{4324E61A-EAB7-4ACE-A2BC-CB506513ADD7}"/>
              </a:ext>
            </a:extLst>
          </p:cNvPr>
          <p:cNvGraphicFramePr>
            <a:graphicFrameLocks noGrp="1"/>
          </p:cNvGraphicFramePr>
          <p:nvPr>
            <p:extLst>
              <p:ext uri="{D42A27DB-BD31-4B8C-83A1-F6EECF244321}">
                <p14:modId xmlns:p14="http://schemas.microsoft.com/office/powerpoint/2010/main" val="899012629"/>
              </p:ext>
            </p:extLst>
          </p:nvPr>
        </p:nvGraphicFramePr>
        <p:xfrm>
          <a:off x="796488" y="867346"/>
          <a:ext cx="10562391" cy="5167689"/>
        </p:xfrm>
        <a:graphic>
          <a:graphicData uri="http://schemas.openxmlformats.org/drawingml/2006/table">
            <a:tbl>
              <a:tblPr firstRow="1" bandRow="1">
                <a:tableStyleId>{F2DE63D5-997A-4646-A377-4702673A728D}</a:tableStyleId>
              </a:tblPr>
              <a:tblGrid>
                <a:gridCol w="757451">
                  <a:extLst>
                    <a:ext uri="{9D8B030D-6E8A-4147-A177-3AD203B41FA5}">
                      <a16:colId xmlns:a16="http://schemas.microsoft.com/office/drawing/2014/main" val="1430752163"/>
                    </a:ext>
                  </a:extLst>
                </a:gridCol>
                <a:gridCol w="6386362">
                  <a:extLst>
                    <a:ext uri="{9D8B030D-6E8A-4147-A177-3AD203B41FA5}">
                      <a16:colId xmlns:a16="http://schemas.microsoft.com/office/drawing/2014/main" val="2512734714"/>
                    </a:ext>
                  </a:extLst>
                </a:gridCol>
                <a:gridCol w="1709289">
                  <a:extLst>
                    <a:ext uri="{9D8B030D-6E8A-4147-A177-3AD203B41FA5}">
                      <a16:colId xmlns:a16="http://schemas.microsoft.com/office/drawing/2014/main" val="2081376992"/>
                    </a:ext>
                  </a:extLst>
                </a:gridCol>
                <a:gridCol w="1709289">
                  <a:extLst>
                    <a:ext uri="{9D8B030D-6E8A-4147-A177-3AD203B41FA5}">
                      <a16:colId xmlns:a16="http://schemas.microsoft.com/office/drawing/2014/main" val="1521379557"/>
                    </a:ext>
                  </a:extLst>
                </a:gridCol>
              </a:tblGrid>
              <a:tr h="621210">
                <a:tc>
                  <a:txBody>
                    <a:bodyPr/>
                    <a:lstStyle/>
                    <a:p>
                      <a:pPr algn="ctr"/>
                      <a:r>
                        <a:rPr lang="en-IN" sz="1100" dirty="0">
                          <a:latin typeface="+mj-lt"/>
                        </a:rPr>
                        <a:t>S. No.</a:t>
                      </a:r>
                    </a:p>
                  </a:txBody>
                  <a:tcPr anchor="ctr">
                    <a:lnB w="9525" cap="flat" cmpd="sng" algn="ctr">
                      <a:solidFill>
                        <a:schemeClr val="accent3"/>
                      </a:solidFill>
                      <a:prstDash val="solid"/>
                      <a:round/>
                      <a:headEnd type="none" w="med" len="med"/>
                      <a:tailEnd type="none" w="med" len="med"/>
                    </a:lnB>
                  </a:tcPr>
                </a:tc>
                <a:tc>
                  <a:txBody>
                    <a:bodyPr/>
                    <a:lstStyle/>
                    <a:p>
                      <a:pPr algn="ctr"/>
                      <a:r>
                        <a:rPr lang="en-IN" sz="1100" dirty="0">
                          <a:latin typeface="+mj-lt"/>
                        </a:rPr>
                        <a:t>Name of Industry</a:t>
                      </a:r>
                    </a:p>
                  </a:txBody>
                  <a:tcPr anchor="ctr">
                    <a:lnB w="9525" cap="flat" cmpd="sng" algn="ctr">
                      <a:solidFill>
                        <a:schemeClr val="accent3"/>
                      </a:solidFill>
                      <a:prstDash val="solid"/>
                      <a:round/>
                      <a:headEnd type="none" w="med" len="med"/>
                      <a:tailEnd type="none" w="med" len="med"/>
                    </a:lnB>
                  </a:tcPr>
                </a:tc>
                <a:tc>
                  <a:txBody>
                    <a:bodyPr/>
                    <a:lstStyle/>
                    <a:p>
                      <a:pPr algn="ctr"/>
                      <a:r>
                        <a:rPr lang="en-US" sz="1100" dirty="0">
                          <a:latin typeface="+mj-lt"/>
                        </a:rPr>
                        <a:t>Industry Type</a:t>
                      </a:r>
                      <a:endParaRPr lang="en-IN" sz="1100" dirty="0">
                        <a:latin typeface="+mj-lt"/>
                      </a:endParaRPr>
                    </a:p>
                  </a:txBody>
                  <a:tcPr anchor="ctr">
                    <a:lnB w="9525" cap="flat" cmpd="sng" algn="ctr">
                      <a:solidFill>
                        <a:schemeClr val="accent3"/>
                      </a:solidFill>
                      <a:prstDash val="solid"/>
                      <a:round/>
                      <a:headEnd type="none" w="med" len="med"/>
                      <a:tailEnd type="none" w="med" len="med"/>
                    </a:lnB>
                  </a:tcPr>
                </a:tc>
                <a:tc>
                  <a:txBody>
                    <a:bodyPr/>
                    <a:lstStyle/>
                    <a:p>
                      <a:pPr algn="ctr"/>
                      <a:r>
                        <a:rPr lang="en-IN" sz="1100" dirty="0">
                          <a:latin typeface="+mj-lt"/>
                        </a:rPr>
                        <a:t>Installed Solar Capacity (MW)</a:t>
                      </a:r>
                    </a:p>
                  </a:txBody>
                  <a:tcPr anchor="ctr">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852783940"/>
                  </a:ext>
                </a:extLst>
              </a:tr>
              <a:tr h="212336">
                <a:tc>
                  <a:txBody>
                    <a:bodyPr/>
                    <a:lstStyle/>
                    <a:p>
                      <a:pPr algn="ctr" fontAlgn="t"/>
                      <a:r>
                        <a:rPr lang="en-IN" sz="1100" u="none" strike="noStrike" dirty="0">
                          <a:effectLst/>
                          <a:latin typeface="+mj-lt"/>
                        </a:rPr>
                        <a:t>1</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tcPr>
                </a:tc>
                <a:tc>
                  <a:txBody>
                    <a:bodyPr/>
                    <a:lstStyle/>
                    <a:p>
                      <a:pPr algn="l" fontAlgn="ctr"/>
                      <a:r>
                        <a:rPr lang="en-IN" sz="1100" b="0" i="0" u="none" strike="noStrike">
                          <a:solidFill>
                            <a:srgbClr val="000000"/>
                          </a:solidFill>
                          <a:effectLst/>
                          <a:latin typeface="+mj-lt"/>
                        </a:rPr>
                        <a:t>TVS Motor Co.Ltd., PB No.01, Byathahalli, Kadakola post, Mysore</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tcPr>
                </a:tc>
                <a:tc>
                  <a:txBody>
                    <a:bodyPr/>
                    <a:lstStyle/>
                    <a:p>
                      <a:pPr algn="ctr" fontAlgn="ctr"/>
                      <a:r>
                        <a:rPr lang="en-IN" sz="1100" b="0" i="0" u="none" strike="noStrike">
                          <a:solidFill>
                            <a:srgbClr val="000000"/>
                          </a:solidFill>
                          <a:effectLst/>
                          <a:latin typeface="+mj-lt"/>
                        </a:rPr>
                        <a:t>Heavy Engg.</a:t>
                      </a:r>
                    </a:p>
                  </a:txBody>
                  <a:tcPr marL="7620" marR="7620" marT="7620" marB="0" anchor="ctr">
                    <a:lnT w="9525" cap="flat" cmpd="sng" algn="ctr">
                      <a:solidFill>
                        <a:schemeClr val="accent3"/>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35.00 </a:t>
                      </a:r>
                    </a:p>
                  </a:txBody>
                  <a:tcPr marL="7620" marR="7620" marT="7620" marB="0" anchor="ctr">
                    <a:lnT w="9525"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3690937471"/>
                  </a:ext>
                </a:extLst>
              </a:tr>
              <a:tr h="212336">
                <a:tc>
                  <a:txBody>
                    <a:bodyPr/>
                    <a:lstStyle/>
                    <a:p>
                      <a:pPr algn="ctr" fontAlgn="t"/>
                      <a:r>
                        <a:rPr lang="en-IN" sz="1100" u="none" strike="noStrike" dirty="0">
                          <a:effectLst/>
                          <a:latin typeface="+mj-lt"/>
                        </a:rPr>
                        <a:t>2</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mj-lt"/>
                        </a:rPr>
                        <a:t>Integrated Food park Pvt Lt</a:t>
                      </a:r>
                    </a:p>
                  </a:txBody>
                  <a:tcPr marL="7620" marR="7620" marT="7620" marB="0" anchor="ctr">
                    <a:lnL w="9525" cap="flat" cmpd="sng" algn="ctr">
                      <a:solidFill>
                        <a:schemeClr val="accent3"/>
                      </a:solidFill>
                      <a:prstDash val="solid"/>
                      <a:round/>
                      <a:headEnd type="none" w="med" len="med"/>
                      <a:tailEnd type="none" w="med" len="med"/>
                    </a:lnL>
                  </a:tcPr>
                </a:tc>
                <a:tc>
                  <a:txBody>
                    <a:bodyPr/>
                    <a:lstStyle/>
                    <a:p>
                      <a:pPr algn="ctr" fontAlgn="ctr"/>
                      <a:r>
                        <a:rPr lang="en-IN" sz="1100" b="0" i="0" u="none" strike="noStrike">
                          <a:solidFill>
                            <a:srgbClr val="000000"/>
                          </a:solidFill>
                          <a:effectLst/>
                          <a:latin typeface="+mj-lt"/>
                        </a:rPr>
                        <a:t>Misc.</a:t>
                      </a:r>
                    </a:p>
                  </a:txBody>
                  <a:tcPr marL="7620" marR="7620" marT="7620" marB="0" anchor="ctr"/>
                </a:tc>
                <a:tc>
                  <a:txBody>
                    <a:bodyPr/>
                    <a:lstStyle/>
                    <a:p>
                      <a:pPr algn="ctr" fontAlgn="b"/>
                      <a:r>
                        <a:rPr lang="en-IN" sz="1100" b="0" i="0" u="none" strike="noStrike" dirty="0">
                          <a:solidFill>
                            <a:srgbClr val="000000"/>
                          </a:solidFill>
                          <a:effectLst/>
                          <a:latin typeface="Verdana" panose="020B0604030504040204" pitchFamily="34" charset="0"/>
                        </a:rPr>
                        <a:t>    30.00 </a:t>
                      </a:r>
                    </a:p>
                  </a:txBody>
                  <a:tcPr marL="7620" marR="7620" marT="7620" marB="0" anchor="ctr"/>
                </a:tc>
                <a:extLst>
                  <a:ext uri="{0D108BD9-81ED-4DB2-BD59-A6C34878D82A}">
                    <a16:rowId xmlns:a16="http://schemas.microsoft.com/office/drawing/2014/main" val="1686199346"/>
                  </a:ext>
                </a:extLst>
              </a:tr>
              <a:tr h="212336">
                <a:tc>
                  <a:txBody>
                    <a:bodyPr/>
                    <a:lstStyle/>
                    <a:p>
                      <a:pPr algn="ctr" fontAlgn="t"/>
                      <a:r>
                        <a:rPr lang="en-IN" sz="1100" u="none" strike="noStrike" dirty="0">
                          <a:effectLst/>
                          <a:latin typeface="+mj-lt"/>
                        </a:rPr>
                        <a:t>3</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BHARATH ELECTRICALS LTD</a:t>
                      </a:r>
                    </a:p>
                  </a:txBody>
                  <a:tcPr marL="7620" marR="7620" marT="7620" marB="0" anchor="ctr">
                    <a:lnL w="9525" cap="flat" cmpd="sng" algn="ctr">
                      <a:solidFill>
                        <a:schemeClr val="accent3"/>
                      </a:solidFill>
                      <a:prstDash val="solid"/>
                      <a:round/>
                      <a:headEnd type="none" w="med" len="med"/>
                      <a:tailEnd type="none" w="med" len="med"/>
                    </a:lnL>
                  </a:tcPr>
                </a:tc>
                <a:tc>
                  <a:txBody>
                    <a:bodyPr/>
                    <a:lstStyle/>
                    <a:p>
                      <a:pPr algn="ctr" fontAlgn="ctr"/>
                      <a:r>
                        <a:rPr lang="en-IN" sz="1100" b="0" i="0" u="none" strike="noStrike">
                          <a:solidFill>
                            <a:srgbClr val="000000"/>
                          </a:solidFill>
                          <a:effectLst/>
                          <a:latin typeface="+mj-lt"/>
                        </a:rPr>
                        <a:t>Light Engineering</a:t>
                      </a:r>
                    </a:p>
                  </a:txBody>
                  <a:tcPr marL="7620" marR="7620" marT="7620" marB="0" anchor="ctr"/>
                </a:tc>
                <a:tc>
                  <a:txBody>
                    <a:bodyPr/>
                    <a:lstStyle/>
                    <a:p>
                      <a:pPr algn="ctr" fontAlgn="b"/>
                      <a:r>
                        <a:rPr lang="en-IN" sz="1100" b="0" i="0" u="none" strike="noStrike" dirty="0">
                          <a:solidFill>
                            <a:srgbClr val="000000"/>
                          </a:solidFill>
                          <a:effectLst/>
                          <a:latin typeface="Verdana" panose="020B0604030504040204" pitchFamily="34" charset="0"/>
                        </a:rPr>
                        <a:t>    14.88 </a:t>
                      </a:r>
                    </a:p>
                  </a:txBody>
                  <a:tcPr marL="7620" marR="7620" marT="7620" marB="0" anchor="ctr"/>
                </a:tc>
                <a:extLst>
                  <a:ext uri="{0D108BD9-81ED-4DB2-BD59-A6C34878D82A}">
                    <a16:rowId xmlns:a16="http://schemas.microsoft.com/office/drawing/2014/main" val="1774928546"/>
                  </a:ext>
                </a:extLst>
              </a:tr>
              <a:tr h="212336">
                <a:tc>
                  <a:txBody>
                    <a:bodyPr/>
                    <a:lstStyle/>
                    <a:p>
                      <a:pPr algn="ctr" fontAlgn="t"/>
                      <a:r>
                        <a:rPr lang="en-IN" sz="1100" u="none" strike="noStrike" dirty="0">
                          <a:effectLst/>
                          <a:latin typeface="+mj-lt"/>
                        </a:rPr>
                        <a:t>4</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Bangalore International Airport Ltd</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3"/>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mj-lt"/>
                        </a:rPr>
                        <a:t>Misc.</a:t>
                      </a:r>
                    </a:p>
                  </a:txBody>
                  <a:tcPr marL="7620" marR="7620" marT="7620" marB="0" anchor="ctr">
                    <a:lnB w="9525" cap="flat" cmpd="sng" algn="ctr">
                      <a:solidFill>
                        <a:schemeClr val="accent3"/>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9.39 </a:t>
                      </a:r>
                    </a:p>
                  </a:txBody>
                  <a:tcPr marL="7620" marR="7620" marT="7620" marB="0" anchor="ctr">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860993687"/>
                  </a:ext>
                </a:extLst>
              </a:tr>
              <a:tr h="212336">
                <a:tc>
                  <a:txBody>
                    <a:bodyPr/>
                    <a:lstStyle/>
                    <a:p>
                      <a:pPr algn="ctr" fontAlgn="t"/>
                      <a:r>
                        <a:rPr lang="en-IN" sz="1100" u="none" strike="noStrike" dirty="0">
                          <a:effectLst/>
                          <a:latin typeface="+mj-lt"/>
                        </a:rPr>
                        <a:t>5</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M/S TOYOTA KIRLOSKAR AUTO PARTS LTD.,Ramnagara Dist.</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mj-lt"/>
                        </a:rPr>
                        <a:t>Automobiles</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8.20 </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3523435674"/>
                  </a:ext>
                </a:extLst>
              </a:tr>
              <a:tr h="212336">
                <a:tc>
                  <a:txBody>
                    <a:bodyPr/>
                    <a:lstStyle/>
                    <a:p>
                      <a:pPr algn="ctr" fontAlgn="t"/>
                      <a:r>
                        <a:rPr lang="en-IN" sz="1100" b="0" i="0" u="none" strike="noStrike" dirty="0">
                          <a:solidFill>
                            <a:srgbClr val="000000"/>
                          </a:solidFill>
                          <a:effectLst/>
                          <a:latin typeface="+mj-lt"/>
                        </a:rPr>
                        <a:t>6</a:t>
                      </a: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mj-lt"/>
                        </a:rPr>
                        <a:t>M/S intel Technology india Pvt ltd Varthur Hobli</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rowSpan="4">
                  <a:txBody>
                    <a:bodyPr/>
                    <a:lstStyle/>
                    <a:p>
                      <a:pPr algn="ctr" fontAlgn="ctr"/>
                      <a:r>
                        <a:rPr lang="en-IN" sz="1100" b="0" i="0" u="none" strike="noStrike" dirty="0">
                          <a:solidFill>
                            <a:srgbClr val="000000"/>
                          </a:solidFill>
                          <a:effectLst/>
                          <a:latin typeface="+mj-lt"/>
                        </a:rPr>
                        <a:t>Misc.</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2.50 </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492840992"/>
                  </a:ext>
                </a:extLst>
              </a:tr>
              <a:tr h="212336">
                <a:tc>
                  <a:txBody>
                    <a:bodyPr/>
                    <a:lstStyle/>
                    <a:p>
                      <a:pPr algn="ctr" fontAlgn="t"/>
                      <a:r>
                        <a:rPr lang="en-IN" sz="1100" b="0" i="0" u="none" strike="noStrike" dirty="0">
                          <a:solidFill>
                            <a:srgbClr val="000000"/>
                          </a:solidFill>
                          <a:effectLst/>
                          <a:latin typeface="+mj-lt"/>
                        </a:rPr>
                        <a:t>7</a:t>
                      </a: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Halo Energie Chitradurga</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vMerge="1">
                  <a:txBody>
                    <a:bodyPr/>
                    <a:lstStyle/>
                    <a:p>
                      <a:pPr algn="ctr" fontAlgn="ctr"/>
                      <a:endParaRPr lang="en-IN" sz="1100" b="0" i="0" u="none" strike="noStrike" dirty="0">
                        <a:solidFill>
                          <a:srgbClr val="000000"/>
                        </a:solidFill>
                        <a:effectLst/>
                        <a:latin typeface="+mj-lt"/>
                      </a:endParaRP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2.00 </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1120266651"/>
                  </a:ext>
                </a:extLst>
              </a:tr>
              <a:tr h="212336">
                <a:tc>
                  <a:txBody>
                    <a:bodyPr/>
                    <a:lstStyle/>
                    <a:p>
                      <a:pPr marL="0" algn="ctr" defTabSz="914400" rtl="0" eaLnBrk="1" fontAlgn="t" latinLnBrk="0" hangingPunct="1"/>
                      <a:r>
                        <a:rPr lang="en-IN" sz="1100" b="0" i="0" u="none" strike="noStrike" kern="1200" dirty="0">
                          <a:solidFill>
                            <a:srgbClr val="000000"/>
                          </a:solidFill>
                          <a:effectLst/>
                          <a:latin typeface="+mj-lt"/>
                          <a:ea typeface="+mn-ea"/>
                          <a:cs typeface="+mn-cs"/>
                        </a:rPr>
                        <a:t>8</a:t>
                      </a: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Halo Energie Challaki</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tcPr>
                </a:tc>
                <a:tc vMerge="1">
                  <a:txBody>
                    <a:bodyPr/>
                    <a:lstStyle/>
                    <a:p>
                      <a:pPr algn="ctr" fontAlgn="ctr"/>
                      <a:endParaRPr lang="en-IN" sz="1100" b="0" i="0" u="none" strike="noStrike" dirty="0">
                        <a:solidFill>
                          <a:srgbClr val="000000"/>
                        </a:solidFill>
                        <a:effectLst/>
                        <a:latin typeface="+mj-lt"/>
                      </a:endParaRPr>
                    </a:p>
                  </a:txBody>
                  <a:tcPr marL="7620" marR="7620" marT="7620" marB="0" anchor="ctr">
                    <a:lnT w="9525" cap="flat" cmpd="sng" algn="ctr">
                      <a:solidFill>
                        <a:schemeClr val="accent3"/>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2.00 </a:t>
                      </a:r>
                    </a:p>
                  </a:txBody>
                  <a:tcPr marL="7620" marR="7620" marT="7620" marB="0" anchor="ctr">
                    <a:lnT w="9525"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1385808828"/>
                  </a:ext>
                </a:extLst>
              </a:tr>
              <a:tr h="212336">
                <a:tc>
                  <a:txBody>
                    <a:bodyPr/>
                    <a:lstStyle/>
                    <a:p>
                      <a:pPr algn="ctr" fontAlgn="t"/>
                      <a:r>
                        <a:rPr lang="en-IN" sz="1100" b="0" i="0" u="none" strike="noStrike" dirty="0">
                          <a:solidFill>
                            <a:srgbClr val="000000"/>
                          </a:solidFill>
                          <a:effectLst/>
                          <a:latin typeface="+mj-lt"/>
                        </a:rPr>
                        <a:t>9</a:t>
                      </a: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Halo Energie Chitranayaki</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5"/>
                      </a:solidFill>
                      <a:prstDash val="solid"/>
                      <a:round/>
                      <a:headEnd type="none" w="med" len="med"/>
                      <a:tailEnd type="none" w="med" len="med"/>
                    </a:lnB>
                  </a:tcPr>
                </a:tc>
                <a:tc vMerge="1">
                  <a:txBody>
                    <a:bodyPr/>
                    <a:lstStyle/>
                    <a:p>
                      <a:pPr algn="ctr" fontAlgn="ctr"/>
                      <a:endParaRPr lang="en-IN" sz="1100" b="0" i="0" u="none" strike="noStrike" dirty="0">
                        <a:solidFill>
                          <a:srgbClr val="000000"/>
                        </a:solidFill>
                        <a:effectLst/>
                        <a:latin typeface="+mj-lt"/>
                      </a:endParaRPr>
                    </a:p>
                  </a:txBody>
                  <a:tcPr marL="7620" marR="7620" marT="7620" marB="0" anchor="ctr">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2.00 </a:t>
                      </a:r>
                    </a:p>
                  </a:txBody>
                  <a:tcPr marL="7620" marR="7620" marT="7620" marB="0" anchor="ctr">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976186037"/>
                  </a:ext>
                </a:extLst>
              </a:tr>
              <a:tr h="212336">
                <a:tc>
                  <a:txBody>
                    <a:bodyPr/>
                    <a:lstStyle/>
                    <a:p>
                      <a:pPr algn="ctr" fontAlgn="t"/>
                      <a:r>
                        <a:rPr lang="en-IN" sz="1100" b="0" i="0" u="none" strike="noStrike" dirty="0">
                          <a:solidFill>
                            <a:srgbClr val="000000"/>
                          </a:solidFill>
                          <a:effectLst/>
                          <a:latin typeface="+mj-lt"/>
                        </a:rPr>
                        <a:t>10</a:t>
                      </a: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mj-lt"/>
                        </a:rPr>
                        <a:t>M/s Bharat Electronics Ltd,</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tcPr>
                </a:tc>
                <a:tc>
                  <a:txBody>
                    <a:bodyPr/>
                    <a:lstStyle/>
                    <a:p>
                      <a:pPr algn="ctr" fontAlgn="ctr"/>
                      <a:r>
                        <a:rPr lang="en-IN" sz="1100" b="0" i="0" u="none" strike="noStrike">
                          <a:solidFill>
                            <a:srgbClr val="000000"/>
                          </a:solidFill>
                          <a:effectLst/>
                          <a:latin typeface="+mj-lt"/>
                        </a:rPr>
                        <a:t>Elect. Engg.</a:t>
                      </a:r>
                    </a:p>
                  </a:txBody>
                  <a:tcPr marL="7620" marR="7620" marT="7620" marB="0" anchor="ctr">
                    <a:lnT w="9525" cap="flat" cmpd="sng" algn="ctr">
                      <a:solidFill>
                        <a:schemeClr val="accent5"/>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1.28 </a:t>
                      </a:r>
                    </a:p>
                  </a:txBody>
                  <a:tcPr marL="7620" marR="7620" marT="7620" marB="0" anchor="ctr">
                    <a:lnT w="9525"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250303672"/>
                  </a:ext>
                </a:extLst>
              </a:tr>
              <a:tr h="212336">
                <a:tc>
                  <a:txBody>
                    <a:bodyPr/>
                    <a:lstStyle/>
                    <a:p>
                      <a:pPr algn="ctr" fontAlgn="t"/>
                      <a:r>
                        <a:rPr lang="en-IN" sz="1100" b="0" i="0" u="none" strike="noStrike" dirty="0">
                          <a:solidFill>
                            <a:srgbClr val="000000"/>
                          </a:solidFill>
                          <a:effectLst/>
                          <a:latin typeface="+mj-lt"/>
                        </a:rPr>
                        <a:t>11</a:t>
                      </a: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New Mangalore Port Trust,</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5"/>
                      </a:solidFill>
                      <a:prstDash val="solid"/>
                      <a:round/>
                      <a:headEnd type="none" w="med" len="med"/>
                      <a:tailEnd type="none" w="med" len="med"/>
                    </a:lnB>
                  </a:tcPr>
                </a:tc>
                <a:tc rowSpan="3">
                  <a:txBody>
                    <a:bodyPr/>
                    <a:lstStyle/>
                    <a:p>
                      <a:pPr algn="ctr" fontAlgn="ctr"/>
                      <a:r>
                        <a:rPr lang="en-IN" sz="1100" b="0" i="0" u="none" strike="noStrike" dirty="0">
                          <a:solidFill>
                            <a:srgbClr val="000000"/>
                          </a:solidFill>
                          <a:effectLst/>
                          <a:latin typeface="+mj-lt"/>
                        </a:rPr>
                        <a:t>Misc.</a:t>
                      </a:r>
                    </a:p>
                  </a:txBody>
                  <a:tcPr marL="7620" marR="7620" marT="7620" marB="0" anchor="ctr">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1.19 </a:t>
                      </a:r>
                    </a:p>
                  </a:txBody>
                  <a:tcPr marL="7620" marR="7620" marT="7620" marB="0" anchor="ctr">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928672107"/>
                  </a:ext>
                </a:extLst>
              </a:tr>
              <a:tr h="212336">
                <a:tc>
                  <a:txBody>
                    <a:bodyPr/>
                    <a:lstStyle/>
                    <a:p>
                      <a:pPr algn="ctr" fontAlgn="t"/>
                      <a:r>
                        <a:rPr lang="en-IN" sz="1100" u="none" strike="noStrike" dirty="0">
                          <a:effectLst/>
                          <a:latin typeface="+mj-lt"/>
                        </a:rPr>
                        <a:t>12</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mj-lt"/>
                        </a:rPr>
                        <a:t>Janatha Fish Meal &amp; Oil Products, Udupi</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tcPr>
                </a:tc>
                <a:tc vMerge="1">
                  <a:txBody>
                    <a:bodyPr/>
                    <a:lstStyle/>
                    <a:p>
                      <a:pPr algn="ctr" fontAlgn="ctr"/>
                      <a:endParaRPr lang="en-IN" sz="1100" b="0" i="0" u="none" strike="noStrike" dirty="0">
                        <a:solidFill>
                          <a:srgbClr val="000000"/>
                        </a:solidFill>
                        <a:effectLst/>
                        <a:latin typeface="+mj-lt"/>
                      </a:endParaRPr>
                    </a:p>
                  </a:txBody>
                  <a:tcPr marL="7620" marR="7620" marT="7620" marB="0" anchor="ctr">
                    <a:lnT w="9525" cap="flat" cmpd="sng" algn="ctr">
                      <a:solidFill>
                        <a:schemeClr val="accent5"/>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1.00 </a:t>
                      </a:r>
                    </a:p>
                  </a:txBody>
                  <a:tcPr marL="7620" marR="7620" marT="7620" marB="0" anchor="ctr">
                    <a:lnT w="9525"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429732950"/>
                  </a:ext>
                </a:extLst>
              </a:tr>
              <a:tr h="212336">
                <a:tc>
                  <a:txBody>
                    <a:bodyPr/>
                    <a:lstStyle/>
                    <a:p>
                      <a:pPr algn="ctr" fontAlgn="t"/>
                      <a:r>
                        <a:rPr lang="en-IN" sz="1100" u="none" strike="noStrike" dirty="0">
                          <a:effectLst/>
                          <a:latin typeface="+mj-lt"/>
                        </a:rPr>
                        <a:t>13</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fr-FR" sz="1100" b="0" i="0" u="none" strike="noStrike">
                          <a:solidFill>
                            <a:srgbClr val="000000"/>
                          </a:solidFill>
                          <a:effectLst/>
                          <a:latin typeface="+mj-lt"/>
                        </a:rPr>
                        <a:t>EIT Services India P. Ltd., Bangalore</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5"/>
                      </a:solidFill>
                      <a:prstDash val="solid"/>
                      <a:round/>
                      <a:headEnd type="none" w="med" len="med"/>
                      <a:tailEnd type="none" w="med" len="med"/>
                    </a:lnB>
                  </a:tcPr>
                </a:tc>
                <a:tc vMerge="1">
                  <a:txBody>
                    <a:bodyPr/>
                    <a:lstStyle/>
                    <a:p>
                      <a:pPr algn="ctr" fontAlgn="ctr"/>
                      <a:endParaRPr lang="en-IN" sz="1100" b="0" i="0" u="none" strike="noStrike" dirty="0">
                        <a:solidFill>
                          <a:srgbClr val="000000"/>
                        </a:solidFill>
                        <a:effectLst/>
                        <a:latin typeface="+mj-lt"/>
                      </a:endParaRPr>
                    </a:p>
                  </a:txBody>
                  <a:tcPr marL="7620" marR="7620" marT="7620" marB="0" anchor="ctr">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0.85 </a:t>
                      </a:r>
                    </a:p>
                  </a:txBody>
                  <a:tcPr marL="7620" marR="7620" marT="7620" marB="0" anchor="ctr">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47043699"/>
                  </a:ext>
                </a:extLst>
              </a:tr>
              <a:tr h="212336">
                <a:tc>
                  <a:txBody>
                    <a:bodyPr/>
                    <a:lstStyle/>
                    <a:p>
                      <a:pPr algn="ctr" fontAlgn="t"/>
                      <a:r>
                        <a:rPr lang="en-IN" sz="1100" u="none" strike="noStrike" dirty="0">
                          <a:effectLst/>
                          <a:latin typeface="+mj-lt"/>
                        </a:rPr>
                        <a:t>14</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BHARAT FRITZ WERNER LTD,</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mj-lt"/>
                        </a:rPr>
                        <a:t>Light Engineering</a:t>
                      </a:r>
                    </a:p>
                  </a:txBody>
                  <a:tcPr marL="7620" marR="7620" marT="7620" marB="0" anchor="ct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0.82 </a:t>
                      </a:r>
                    </a:p>
                  </a:txBody>
                  <a:tcPr marL="7620" marR="7620" marT="7620" marB="0" anchor="ct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925504659"/>
                  </a:ext>
                </a:extLst>
              </a:tr>
              <a:tr h="212336">
                <a:tc>
                  <a:txBody>
                    <a:bodyPr/>
                    <a:lstStyle/>
                    <a:p>
                      <a:pPr algn="ctr" fontAlgn="t"/>
                      <a:r>
                        <a:rPr lang="en-IN" sz="1100" u="none" strike="noStrike" dirty="0">
                          <a:effectLst/>
                          <a:latin typeface="+mj-lt"/>
                        </a:rPr>
                        <a:t>15</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TEMIC Industies Systems India</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tcPr>
                </a:tc>
                <a:tc>
                  <a:txBody>
                    <a:bodyPr/>
                    <a:lstStyle/>
                    <a:p>
                      <a:pPr algn="ctr" fontAlgn="ctr"/>
                      <a:r>
                        <a:rPr lang="en-IN" sz="1100" b="0" i="0" u="none" strike="noStrike">
                          <a:solidFill>
                            <a:srgbClr val="000000"/>
                          </a:solidFill>
                          <a:effectLst/>
                          <a:latin typeface="+mj-lt"/>
                        </a:rPr>
                        <a:t>Misc.</a:t>
                      </a:r>
                    </a:p>
                  </a:txBody>
                  <a:tcPr marL="7620" marR="7620" marT="7620" marB="0" anchor="ctr">
                    <a:lnT w="9525" cap="flat" cmpd="sng" algn="ctr">
                      <a:solidFill>
                        <a:schemeClr val="accent5"/>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0.75 </a:t>
                      </a:r>
                    </a:p>
                  </a:txBody>
                  <a:tcPr marL="7620" marR="7620" marT="7620" marB="0" anchor="ctr">
                    <a:lnT w="9525"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1827762658"/>
                  </a:ext>
                </a:extLst>
              </a:tr>
              <a:tr h="212336">
                <a:tc>
                  <a:txBody>
                    <a:bodyPr/>
                    <a:lstStyle/>
                    <a:p>
                      <a:pPr algn="ctr" fontAlgn="t"/>
                      <a:r>
                        <a:rPr lang="en-IN" sz="1100" u="none" strike="noStrike" dirty="0">
                          <a:effectLst/>
                          <a:latin typeface="+mj-lt"/>
                        </a:rPr>
                        <a:t>16</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SIGMA ALDRICH CHEMICALS P LTD</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5"/>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mj-lt"/>
                        </a:rPr>
                        <a:t>Chemical</a:t>
                      </a:r>
                    </a:p>
                  </a:txBody>
                  <a:tcPr marL="7620" marR="7620" marT="7620" marB="0" anchor="ctr">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0.62 </a:t>
                      </a:r>
                    </a:p>
                  </a:txBody>
                  <a:tcPr marL="7620" marR="7620" marT="7620" marB="0" anchor="ctr">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992652336"/>
                  </a:ext>
                </a:extLst>
              </a:tr>
              <a:tr h="212336">
                <a:tc>
                  <a:txBody>
                    <a:bodyPr/>
                    <a:lstStyle/>
                    <a:p>
                      <a:pPr algn="ctr" fontAlgn="t"/>
                      <a:r>
                        <a:rPr lang="en-IN" sz="1100" u="none" strike="noStrike" dirty="0">
                          <a:effectLst/>
                          <a:latin typeface="+mj-lt"/>
                        </a:rPr>
                        <a:t>17</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mj-lt"/>
                        </a:rPr>
                        <a:t>M/S CENTRE FOR DEVELOPMENT OF TELEMATICS(CDOT)</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tcPr>
                </a:tc>
                <a:tc rowSpan="4">
                  <a:txBody>
                    <a:bodyPr/>
                    <a:lstStyle/>
                    <a:p>
                      <a:pPr algn="ctr" fontAlgn="ctr"/>
                      <a:r>
                        <a:rPr lang="en-IN" sz="1100" b="0" i="0" u="none" strike="noStrike" dirty="0">
                          <a:solidFill>
                            <a:srgbClr val="000000"/>
                          </a:solidFill>
                          <a:effectLst/>
                          <a:latin typeface="+mj-lt"/>
                        </a:rPr>
                        <a:t>Misc.</a:t>
                      </a:r>
                    </a:p>
                  </a:txBody>
                  <a:tcPr marL="7620" marR="7620" marT="7620" marB="0" anchor="ctr">
                    <a:lnT w="9525" cap="flat" cmpd="sng" algn="ctr">
                      <a:solidFill>
                        <a:schemeClr val="accent5"/>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0.56 </a:t>
                      </a:r>
                    </a:p>
                  </a:txBody>
                  <a:tcPr marL="7620" marR="7620" marT="7620" marB="0" anchor="ctr">
                    <a:lnT w="9525"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337937511"/>
                  </a:ext>
                </a:extLst>
              </a:tr>
              <a:tr h="212336">
                <a:tc>
                  <a:txBody>
                    <a:bodyPr/>
                    <a:lstStyle/>
                    <a:p>
                      <a:pPr algn="ctr" fontAlgn="t"/>
                      <a:r>
                        <a:rPr lang="en-IN" sz="1100" u="none" strike="noStrike" dirty="0">
                          <a:effectLst/>
                          <a:latin typeface="+mj-lt"/>
                        </a:rPr>
                        <a:t>18</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ITC Limited Maruthiseva Nagar Bangalore</a:t>
                      </a:r>
                    </a:p>
                  </a:txBody>
                  <a:tcPr marL="7620" marR="7620" marT="7620" marB="0" anchor="ctr">
                    <a:lnL w="9525" cap="flat" cmpd="sng" algn="ctr">
                      <a:solidFill>
                        <a:schemeClr val="accent3"/>
                      </a:solidFill>
                      <a:prstDash val="solid"/>
                      <a:round/>
                      <a:headEnd type="none" w="med" len="med"/>
                      <a:tailEnd type="none" w="med" len="med"/>
                    </a:lnL>
                  </a:tcPr>
                </a:tc>
                <a:tc vMerge="1">
                  <a:txBody>
                    <a:bodyPr/>
                    <a:lstStyle/>
                    <a:p>
                      <a:pPr algn="ctr" fontAlgn="ctr"/>
                      <a:endParaRPr lang="en-IN" sz="1100" b="0" i="0" u="none" strike="noStrike" dirty="0">
                        <a:solidFill>
                          <a:srgbClr val="000000"/>
                        </a:solidFill>
                        <a:effectLst/>
                        <a:latin typeface="+mj-lt"/>
                      </a:endParaRPr>
                    </a:p>
                  </a:txBody>
                  <a:tcPr marL="7620" marR="7620" marT="7620" marB="0" anchor="ctr"/>
                </a:tc>
                <a:tc>
                  <a:txBody>
                    <a:bodyPr/>
                    <a:lstStyle/>
                    <a:p>
                      <a:pPr algn="ctr" fontAlgn="b"/>
                      <a:r>
                        <a:rPr lang="en-IN" sz="1100" b="0" i="0" u="none" strike="noStrike" dirty="0">
                          <a:solidFill>
                            <a:srgbClr val="000000"/>
                          </a:solidFill>
                          <a:effectLst/>
                          <a:latin typeface="Verdana" panose="020B0604030504040204" pitchFamily="34" charset="0"/>
                        </a:rPr>
                        <a:t>      0.38 </a:t>
                      </a:r>
                    </a:p>
                  </a:txBody>
                  <a:tcPr marL="7620" marR="7620" marT="7620" marB="0" anchor="ctr"/>
                </a:tc>
                <a:extLst>
                  <a:ext uri="{0D108BD9-81ED-4DB2-BD59-A6C34878D82A}">
                    <a16:rowId xmlns:a16="http://schemas.microsoft.com/office/drawing/2014/main" val="3896551147"/>
                  </a:ext>
                </a:extLst>
              </a:tr>
              <a:tr h="212336">
                <a:tc>
                  <a:txBody>
                    <a:bodyPr/>
                    <a:lstStyle/>
                    <a:p>
                      <a:pPr algn="ctr" fontAlgn="t"/>
                      <a:r>
                        <a:rPr lang="en-IN" sz="1100" u="none" strike="noStrike" dirty="0">
                          <a:effectLst/>
                          <a:latin typeface="+mj-lt"/>
                        </a:rPr>
                        <a:t>19</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Nxtgen Datacentre and Cloud Technologies, Bidadi, I/A, Ramanagara, Karnataka</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5"/>
                      </a:solidFill>
                      <a:prstDash val="solid"/>
                      <a:round/>
                      <a:headEnd type="none" w="med" len="med"/>
                      <a:tailEnd type="none" w="med" len="med"/>
                    </a:lnB>
                  </a:tcPr>
                </a:tc>
                <a:tc vMerge="1">
                  <a:txBody>
                    <a:bodyPr/>
                    <a:lstStyle/>
                    <a:p>
                      <a:pPr algn="ctr" fontAlgn="ctr"/>
                      <a:endParaRPr lang="en-IN" sz="1100" b="0" i="0" u="none" strike="noStrike" dirty="0">
                        <a:solidFill>
                          <a:srgbClr val="000000"/>
                        </a:solidFill>
                        <a:effectLst/>
                        <a:latin typeface="+mj-lt"/>
                      </a:endParaRPr>
                    </a:p>
                  </a:txBody>
                  <a:tcPr marL="7620" marR="7620" marT="7620" marB="0" anchor="ctr">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0.27 </a:t>
                      </a:r>
                    </a:p>
                  </a:txBody>
                  <a:tcPr marL="7620" marR="7620" marT="7620" marB="0" anchor="ctr">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452726176"/>
                  </a:ext>
                </a:extLst>
              </a:tr>
              <a:tr h="212336">
                <a:tc>
                  <a:txBody>
                    <a:bodyPr/>
                    <a:lstStyle/>
                    <a:p>
                      <a:pPr algn="ctr" fontAlgn="t"/>
                      <a:r>
                        <a:rPr lang="en-IN" sz="1100" b="0" i="0" u="none" strike="noStrike" dirty="0">
                          <a:solidFill>
                            <a:srgbClr val="000000"/>
                          </a:solidFill>
                          <a:effectLst/>
                          <a:latin typeface="+mj-lt"/>
                        </a:rPr>
                        <a:t>20</a:t>
                      </a: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dirty="0">
                          <a:solidFill>
                            <a:srgbClr val="000000"/>
                          </a:solidFill>
                          <a:effectLst/>
                          <a:latin typeface="+mj-lt"/>
                        </a:rPr>
                        <a:t>M/S Hewlett Packard India Software </a:t>
                      </a:r>
                      <a:r>
                        <a:rPr lang="en-IN" sz="1100" b="0" i="0" u="none" strike="noStrike" dirty="0" err="1">
                          <a:solidFill>
                            <a:srgbClr val="000000"/>
                          </a:solidFill>
                          <a:effectLst/>
                          <a:latin typeface="+mj-lt"/>
                        </a:rPr>
                        <a:t>Corpn</a:t>
                      </a:r>
                      <a:r>
                        <a:rPr lang="en-IN" sz="1100" b="0" i="0" u="none" strike="noStrike" dirty="0">
                          <a:solidFill>
                            <a:srgbClr val="000000"/>
                          </a:solidFill>
                          <a:effectLst/>
                          <a:latin typeface="+mj-lt"/>
                        </a:rPr>
                        <a:t>. </a:t>
                      </a:r>
                      <a:r>
                        <a:rPr lang="en-IN" sz="1100" b="0" i="0" u="none" strike="noStrike" dirty="0" err="1">
                          <a:solidFill>
                            <a:srgbClr val="000000"/>
                          </a:solidFill>
                          <a:effectLst/>
                          <a:latin typeface="+mj-lt"/>
                        </a:rPr>
                        <a:t>Pvt.Ltd</a:t>
                      </a:r>
                      <a:r>
                        <a:rPr lang="en-IN" sz="1100" b="0" i="0" u="none" strike="noStrike" dirty="0">
                          <a:solidFill>
                            <a:srgbClr val="000000"/>
                          </a:solidFill>
                          <a:effectLst/>
                          <a:latin typeface="+mj-lt"/>
                        </a:rPr>
                        <a:t>,</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tcPr>
                </a:tc>
                <a:tc vMerge="1">
                  <a:txBody>
                    <a:bodyPr/>
                    <a:lstStyle/>
                    <a:p>
                      <a:pPr algn="ctr" fontAlgn="ctr"/>
                      <a:endParaRPr lang="en-IN" sz="1100" b="0" i="0" u="none" strike="noStrike" dirty="0">
                        <a:solidFill>
                          <a:srgbClr val="000000"/>
                        </a:solidFill>
                        <a:effectLst/>
                        <a:latin typeface="+mj-lt"/>
                      </a:endParaRPr>
                    </a:p>
                  </a:txBody>
                  <a:tcPr marL="7620" marR="7620" marT="7620" marB="0" anchor="ctr">
                    <a:lnT w="9525" cap="flat" cmpd="sng" algn="ctr">
                      <a:solidFill>
                        <a:schemeClr val="accent5"/>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0.22 </a:t>
                      </a:r>
                    </a:p>
                  </a:txBody>
                  <a:tcPr marL="7620" marR="7620" marT="7620" marB="0" anchor="ctr">
                    <a:lnT w="9525"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3828869767"/>
                  </a:ext>
                </a:extLst>
              </a:tr>
              <a:tr h="299759">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1" u="none" strike="noStrike" dirty="0">
                          <a:effectLst/>
                          <a:latin typeface="+mj-lt"/>
                        </a:rPr>
                        <a:t>Total Solar Captive Power Plants in Karnataka</a:t>
                      </a:r>
                      <a:endParaRPr lang="en-US" sz="1100" b="1" i="0" u="none" strike="noStrike" dirty="0">
                        <a:solidFill>
                          <a:srgbClr val="000000"/>
                        </a:solidFill>
                        <a:effectLst/>
                        <a:latin typeface="+mj-lt"/>
                      </a:endParaRPr>
                    </a:p>
                  </a:txBody>
                  <a:tcPr marL="0" marR="0" marT="0" marB="0" anchor="ct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mn-lt"/>
                      </a:endParaRPr>
                    </a:p>
                  </a:txBody>
                  <a:tcPr marL="0" marR="0" marT="0" marB="0" anchor="ctr"/>
                </a:tc>
                <a:tc>
                  <a:txBody>
                    <a:bodyPr/>
                    <a:lstStyle/>
                    <a:p>
                      <a:pPr algn="ctr" fontAlgn="t"/>
                      <a:endParaRPr lang="en-US" sz="1100" b="1" i="0" u="none" strike="noStrike" dirty="0">
                        <a:solidFill>
                          <a:srgbClr val="000000"/>
                        </a:solidFill>
                        <a:effectLst/>
                        <a:latin typeface="+mj-lt"/>
                      </a:endParaRPr>
                    </a:p>
                  </a:txBody>
                  <a:tcPr marL="0" marR="0" marT="0" marB="0" anchor="ctr"/>
                </a:tc>
                <a:tc>
                  <a:txBody>
                    <a:bodyPr/>
                    <a:lstStyle/>
                    <a:p>
                      <a:pPr algn="ctr" fontAlgn="t"/>
                      <a:r>
                        <a:rPr lang="en-US" sz="1100" b="1" u="none" strike="noStrike" dirty="0">
                          <a:effectLst/>
                          <a:latin typeface="+mj-lt"/>
                        </a:rPr>
                        <a:t>115.08 MW</a:t>
                      </a:r>
                      <a:endParaRPr lang="en-US" sz="1100" b="1" i="0" u="none" strike="noStrike" dirty="0">
                        <a:solidFill>
                          <a:srgbClr val="000000"/>
                        </a:solidFill>
                        <a:effectLst/>
                        <a:latin typeface="+mj-lt"/>
                      </a:endParaRPr>
                    </a:p>
                  </a:txBody>
                  <a:tcPr marL="0" marR="0" marT="0" marB="0" anchor="ctr"/>
                </a:tc>
                <a:extLst>
                  <a:ext uri="{0D108BD9-81ED-4DB2-BD59-A6C34878D82A}">
                    <a16:rowId xmlns:a16="http://schemas.microsoft.com/office/drawing/2014/main" val="1425983513"/>
                  </a:ext>
                </a:extLst>
              </a:tr>
            </a:tbl>
          </a:graphicData>
        </a:graphic>
      </p:graphicFrame>
    </p:spTree>
    <p:extLst>
      <p:ext uri="{BB962C8B-B14F-4D97-AF65-F5344CB8AC3E}">
        <p14:creationId xmlns:p14="http://schemas.microsoft.com/office/powerpoint/2010/main" val="66908170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9609" y="264235"/>
            <a:ext cx="11724236" cy="334100"/>
          </a:xfrm>
        </p:spPr>
        <p:txBody>
          <a:bodyPr/>
          <a:lstStyle/>
          <a:p>
            <a:r>
              <a:rPr lang="en-US" dirty="0"/>
              <a:t>Solar power based Captive Power Plants in Karnataka for FY 2018-19 (2/2)</a:t>
            </a:r>
            <a:endParaRPr lang="en-IN" dirty="0"/>
          </a:p>
        </p:txBody>
      </p:sp>
      <p:graphicFrame>
        <p:nvGraphicFramePr>
          <p:cNvPr id="2" name="Table 2">
            <a:extLst>
              <a:ext uri="{FF2B5EF4-FFF2-40B4-BE49-F238E27FC236}">
                <a16:creationId xmlns:a16="http://schemas.microsoft.com/office/drawing/2014/main" id="{4324E61A-EAB7-4ACE-A2BC-CB506513ADD7}"/>
              </a:ext>
            </a:extLst>
          </p:cNvPr>
          <p:cNvGraphicFramePr>
            <a:graphicFrameLocks noGrp="1"/>
          </p:cNvGraphicFramePr>
          <p:nvPr>
            <p:extLst>
              <p:ext uri="{D42A27DB-BD31-4B8C-83A1-F6EECF244321}">
                <p14:modId xmlns:p14="http://schemas.microsoft.com/office/powerpoint/2010/main" val="124996716"/>
              </p:ext>
            </p:extLst>
          </p:nvPr>
        </p:nvGraphicFramePr>
        <p:xfrm>
          <a:off x="796488" y="867346"/>
          <a:ext cx="10633512" cy="4661245"/>
        </p:xfrm>
        <a:graphic>
          <a:graphicData uri="http://schemas.openxmlformats.org/drawingml/2006/table">
            <a:tbl>
              <a:tblPr firstRow="1" bandRow="1">
                <a:tableStyleId>{F2DE63D5-997A-4646-A377-4702673A728D}</a:tableStyleId>
              </a:tblPr>
              <a:tblGrid>
                <a:gridCol w="762551">
                  <a:extLst>
                    <a:ext uri="{9D8B030D-6E8A-4147-A177-3AD203B41FA5}">
                      <a16:colId xmlns:a16="http://schemas.microsoft.com/office/drawing/2014/main" val="1430752163"/>
                    </a:ext>
                  </a:extLst>
                </a:gridCol>
                <a:gridCol w="6429365">
                  <a:extLst>
                    <a:ext uri="{9D8B030D-6E8A-4147-A177-3AD203B41FA5}">
                      <a16:colId xmlns:a16="http://schemas.microsoft.com/office/drawing/2014/main" val="2512734714"/>
                    </a:ext>
                  </a:extLst>
                </a:gridCol>
                <a:gridCol w="1720798">
                  <a:extLst>
                    <a:ext uri="{9D8B030D-6E8A-4147-A177-3AD203B41FA5}">
                      <a16:colId xmlns:a16="http://schemas.microsoft.com/office/drawing/2014/main" val="474639677"/>
                    </a:ext>
                  </a:extLst>
                </a:gridCol>
                <a:gridCol w="1720798">
                  <a:extLst>
                    <a:ext uri="{9D8B030D-6E8A-4147-A177-3AD203B41FA5}">
                      <a16:colId xmlns:a16="http://schemas.microsoft.com/office/drawing/2014/main" val="1521379557"/>
                    </a:ext>
                  </a:extLst>
                </a:gridCol>
              </a:tblGrid>
              <a:tr h="621210">
                <a:tc>
                  <a:txBody>
                    <a:bodyPr/>
                    <a:lstStyle/>
                    <a:p>
                      <a:pPr algn="ctr"/>
                      <a:r>
                        <a:rPr lang="en-IN" sz="1100" dirty="0">
                          <a:latin typeface="+mj-lt"/>
                        </a:rPr>
                        <a:t>S. No.</a:t>
                      </a:r>
                    </a:p>
                  </a:txBody>
                  <a:tcPr anchor="ctr">
                    <a:lnB w="9525" cap="flat" cmpd="sng" algn="ctr">
                      <a:solidFill>
                        <a:schemeClr val="accent3"/>
                      </a:solidFill>
                      <a:prstDash val="solid"/>
                      <a:round/>
                      <a:headEnd type="none" w="med" len="med"/>
                      <a:tailEnd type="none" w="med" len="med"/>
                    </a:lnB>
                  </a:tcPr>
                </a:tc>
                <a:tc>
                  <a:txBody>
                    <a:bodyPr/>
                    <a:lstStyle/>
                    <a:p>
                      <a:pPr algn="ctr"/>
                      <a:r>
                        <a:rPr lang="en-IN" sz="1100" dirty="0">
                          <a:latin typeface="+mj-lt"/>
                        </a:rPr>
                        <a:t>Name of Industry</a:t>
                      </a:r>
                    </a:p>
                  </a:txBody>
                  <a:tcPr anchor="ctr">
                    <a:lnB w="9525" cap="flat" cmpd="sng" algn="ctr">
                      <a:solidFill>
                        <a:schemeClr val="accent3"/>
                      </a:solidFill>
                      <a:prstDash val="solid"/>
                      <a:round/>
                      <a:headEnd type="none" w="med" len="med"/>
                      <a:tailEnd type="none" w="med" len="med"/>
                    </a:lnB>
                  </a:tcPr>
                </a:tc>
                <a:tc>
                  <a:txBody>
                    <a:bodyPr/>
                    <a:lstStyle/>
                    <a:p>
                      <a:pPr algn="ctr"/>
                      <a:r>
                        <a:rPr lang="en-US" sz="1100" dirty="0">
                          <a:latin typeface="+mj-lt"/>
                        </a:rPr>
                        <a:t>Industry Type</a:t>
                      </a:r>
                      <a:endParaRPr lang="en-IN" sz="1100" dirty="0">
                        <a:latin typeface="+mj-lt"/>
                      </a:endParaRPr>
                    </a:p>
                  </a:txBody>
                  <a:tcPr anchor="ctr">
                    <a:lnB w="9525" cap="flat" cmpd="sng" algn="ctr">
                      <a:solidFill>
                        <a:schemeClr val="accent3"/>
                      </a:solidFill>
                      <a:prstDash val="solid"/>
                      <a:round/>
                      <a:headEnd type="none" w="med" len="med"/>
                      <a:tailEnd type="none" w="med" len="med"/>
                    </a:lnB>
                  </a:tcPr>
                </a:tc>
                <a:tc>
                  <a:txBody>
                    <a:bodyPr/>
                    <a:lstStyle/>
                    <a:p>
                      <a:pPr algn="ctr"/>
                      <a:r>
                        <a:rPr lang="en-IN" sz="1100" dirty="0">
                          <a:latin typeface="+mj-lt"/>
                        </a:rPr>
                        <a:t>Installed Solar Capacity (MW)</a:t>
                      </a:r>
                    </a:p>
                  </a:txBody>
                  <a:tcPr anchor="ctr">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852783940"/>
                  </a:ext>
                </a:extLst>
              </a:tr>
              <a:tr h="212336">
                <a:tc>
                  <a:txBody>
                    <a:bodyPr/>
                    <a:lstStyle/>
                    <a:p>
                      <a:pPr algn="ctr" fontAlgn="t"/>
                      <a:r>
                        <a:rPr lang="en-US" sz="1100" b="0" i="0" u="none" strike="noStrike" dirty="0">
                          <a:solidFill>
                            <a:srgbClr val="000000"/>
                          </a:solidFill>
                          <a:effectLst/>
                          <a:latin typeface="+mj-lt"/>
                        </a:rPr>
                        <a:t>21</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lnT w="9525" cap="flat" cmpd="sng" algn="ctr">
                      <a:solidFill>
                        <a:schemeClr val="accent3"/>
                      </a:solidFill>
                      <a:prstDash val="solid"/>
                      <a:round/>
                      <a:headEnd type="none" w="med" len="med"/>
                      <a:tailEnd type="none" w="med" len="med"/>
                    </a:lnT>
                  </a:tcPr>
                </a:tc>
                <a:tc>
                  <a:txBody>
                    <a:bodyPr/>
                    <a:lstStyle/>
                    <a:p>
                      <a:pPr algn="l" fontAlgn="ctr"/>
                      <a:r>
                        <a:rPr lang="fr-FR" sz="1100" b="0" i="0" u="none" strike="noStrike">
                          <a:solidFill>
                            <a:srgbClr val="000000"/>
                          </a:solidFill>
                          <a:effectLst/>
                          <a:latin typeface="+mj-lt"/>
                        </a:rPr>
                        <a:t>T.A.PAI MANAGEMENT INSTITUTE</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tcPr>
                </a:tc>
                <a:tc>
                  <a:txBody>
                    <a:bodyPr/>
                    <a:lstStyle/>
                    <a:p>
                      <a:pPr algn="ctr" fontAlgn="ctr"/>
                      <a:r>
                        <a:rPr lang="en-IN" sz="1100" b="0" i="0" u="none" strike="noStrike" dirty="0">
                          <a:solidFill>
                            <a:srgbClr val="000000"/>
                          </a:solidFill>
                          <a:effectLst/>
                          <a:latin typeface="+mj-lt"/>
                        </a:rPr>
                        <a:t>Misc.</a:t>
                      </a:r>
                    </a:p>
                  </a:txBody>
                  <a:tcPr marL="7620" marR="7620" marT="7620" marB="0" anchor="ctr">
                    <a:lnT w="9525" cap="flat" cmpd="sng" algn="ctr">
                      <a:solidFill>
                        <a:schemeClr val="accent3"/>
                      </a:solidFill>
                      <a:prstDash val="solid"/>
                      <a:round/>
                      <a:headEnd type="none" w="med" len="med"/>
                      <a:tailEnd type="none" w="med" len="med"/>
                    </a:lnT>
                  </a:tcPr>
                </a:tc>
                <a:tc>
                  <a:txBody>
                    <a:bodyPr/>
                    <a:lstStyle/>
                    <a:p>
                      <a:pPr algn="ctr" fontAlgn="b"/>
                      <a:r>
                        <a:rPr lang="en-IN" sz="1100" b="0" i="0" u="none" strike="noStrike">
                          <a:solidFill>
                            <a:srgbClr val="000000"/>
                          </a:solidFill>
                          <a:effectLst/>
                          <a:latin typeface="Verdana" panose="020B0604030504040204" pitchFamily="34" charset="0"/>
                        </a:rPr>
                        <a:t>      0.21 </a:t>
                      </a:r>
                    </a:p>
                  </a:txBody>
                  <a:tcPr marL="7620" marR="7620" marT="7620" marB="0" anchor="ctr">
                    <a:lnT w="9525"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3690937471"/>
                  </a:ext>
                </a:extLst>
              </a:tr>
              <a:tr h="212336">
                <a:tc>
                  <a:txBody>
                    <a:bodyPr/>
                    <a:lstStyle/>
                    <a:p>
                      <a:pPr algn="ctr" fontAlgn="t"/>
                      <a:r>
                        <a:rPr lang="en-US" sz="1100" b="0" i="0" u="none" strike="noStrike" dirty="0">
                          <a:solidFill>
                            <a:srgbClr val="000000"/>
                          </a:solidFill>
                          <a:effectLst/>
                          <a:latin typeface="+mj-lt"/>
                        </a:rPr>
                        <a:t>22</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sonsera sengineering ltd</a:t>
                      </a:r>
                    </a:p>
                  </a:txBody>
                  <a:tcPr marL="7620" marR="7620" marT="7620" marB="0" anchor="ctr">
                    <a:lnL w="9525" cap="flat" cmpd="sng" algn="ctr">
                      <a:solidFill>
                        <a:schemeClr val="accent3"/>
                      </a:solidFill>
                      <a:prstDash val="solid"/>
                      <a:round/>
                      <a:headEnd type="none" w="med" len="med"/>
                      <a:tailEnd type="none" w="med" len="med"/>
                    </a:lnL>
                  </a:tcPr>
                </a:tc>
                <a:tc>
                  <a:txBody>
                    <a:bodyPr/>
                    <a:lstStyle/>
                    <a:p>
                      <a:pPr algn="ctr" fontAlgn="ctr"/>
                      <a:r>
                        <a:rPr lang="en-IN" sz="1100" b="0" i="0" u="none" strike="noStrike" dirty="0">
                          <a:solidFill>
                            <a:srgbClr val="000000"/>
                          </a:solidFill>
                          <a:effectLst/>
                          <a:latin typeface="+mj-lt"/>
                        </a:rPr>
                        <a:t>Automobiles</a:t>
                      </a:r>
                    </a:p>
                  </a:txBody>
                  <a:tcPr marL="7620" marR="7620" marT="7620" marB="0" anchor="ctr"/>
                </a:tc>
                <a:tc>
                  <a:txBody>
                    <a:bodyPr/>
                    <a:lstStyle/>
                    <a:p>
                      <a:pPr algn="ctr" fontAlgn="b"/>
                      <a:r>
                        <a:rPr lang="en-IN" sz="1100" b="0" i="0" u="none" strike="noStrike">
                          <a:solidFill>
                            <a:srgbClr val="000000"/>
                          </a:solidFill>
                          <a:effectLst/>
                          <a:latin typeface="Verdana" panose="020B0604030504040204" pitchFamily="34" charset="0"/>
                        </a:rPr>
                        <a:t>      0.20 </a:t>
                      </a:r>
                    </a:p>
                  </a:txBody>
                  <a:tcPr marL="7620" marR="7620" marT="7620" marB="0" anchor="ctr"/>
                </a:tc>
                <a:extLst>
                  <a:ext uri="{0D108BD9-81ED-4DB2-BD59-A6C34878D82A}">
                    <a16:rowId xmlns:a16="http://schemas.microsoft.com/office/drawing/2014/main" val="1686199346"/>
                  </a:ext>
                </a:extLst>
              </a:tr>
              <a:tr h="212336">
                <a:tc>
                  <a:txBody>
                    <a:bodyPr/>
                    <a:lstStyle/>
                    <a:p>
                      <a:pPr algn="ctr" fontAlgn="t"/>
                      <a:r>
                        <a:rPr lang="en-US" sz="1100" b="0" i="0" u="none" strike="noStrike" dirty="0">
                          <a:solidFill>
                            <a:srgbClr val="000000"/>
                          </a:solidFill>
                          <a:effectLst/>
                          <a:latin typeface="+mj-lt"/>
                        </a:rPr>
                        <a:t>23</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KARLE INFRA PVT. LTD</a:t>
                      </a:r>
                    </a:p>
                  </a:txBody>
                  <a:tcPr marL="7620" marR="7620" marT="7620" marB="0" anchor="ctr">
                    <a:lnL w="9525" cap="flat" cmpd="sng" algn="ctr">
                      <a:solidFill>
                        <a:schemeClr val="accent3"/>
                      </a:solidFill>
                      <a:prstDash val="solid"/>
                      <a:round/>
                      <a:headEnd type="none" w="med" len="med"/>
                      <a:tailEnd type="none" w="med" len="med"/>
                    </a:lnL>
                  </a:tcPr>
                </a:tc>
                <a:tc>
                  <a:txBody>
                    <a:bodyPr/>
                    <a:lstStyle/>
                    <a:p>
                      <a:pPr algn="ctr" fontAlgn="ctr"/>
                      <a:r>
                        <a:rPr lang="en-IN" sz="1100" b="0" i="0" u="none" strike="noStrike" dirty="0">
                          <a:solidFill>
                            <a:srgbClr val="000000"/>
                          </a:solidFill>
                          <a:effectLst/>
                          <a:latin typeface="+mj-lt"/>
                        </a:rPr>
                        <a:t>Misc.</a:t>
                      </a:r>
                    </a:p>
                  </a:txBody>
                  <a:tcPr marL="7620" marR="7620" marT="7620" marB="0" anchor="ctr"/>
                </a:tc>
                <a:tc>
                  <a:txBody>
                    <a:bodyPr/>
                    <a:lstStyle/>
                    <a:p>
                      <a:pPr algn="ctr" fontAlgn="b"/>
                      <a:r>
                        <a:rPr lang="en-IN" sz="1100" b="0" i="0" u="none" strike="noStrike">
                          <a:solidFill>
                            <a:srgbClr val="000000"/>
                          </a:solidFill>
                          <a:effectLst/>
                          <a:latin typeface="Verdana" panose="020B0604030504040204" pitchFamily="34" charset="0"/>
                        </a:rPr>
                        <a:t>      0.13 </a:t>
                      </a:r>
                    </a:p>
                  </a:txBody>
                  <a:tcPr marL="7620" marR="7620" marT="7620" marB="0" anchor="ctr"/>
                </a:tc>
                <a:extLst>
                  <a:ext uri="{0D108BD9-81ED-4DB2-BD59-A6C34878D82A}">
                    <a16:rowId xmlns:a16="http://schemas.microsoft.com/office/drawing/2014/main" val="1774928546"/>
                  </a:ext>
                </a:extLst>
              </a:tr>
              <a:tr h="212336">
                <a:tc>
                  <a:txBody>
                    <a:bodyPr/>
                    <a:lstStyle/>
                    <a:p>
                      <a:pPr algn="ctr" fontAlgn="t"/>
                      <a:r>
                        <a:rPr lang="en-US" sz="1100" b="0" i="0" u="none" strike="noStrike" dirty="0">
                          <a:solidFill>
                            <a:srgbClr val="000000"/>
                          </a:solidFill>
                          <a:effectLst/>
                          <a:latin typeface="+mj-lt"/>
                        </a:rPr>
                        <a:t>24</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mj-lt"/>
                        </a:rPr>
                        <a:t>Ultra Tech Cements Ltd. (Unit;Rajashree Cements),Gulbarga</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3"/>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mj-lt"/>
                        </a:rPr>
                        <a:t>Cement</a:t>
                      </a:r>
                    </a:p>
                  </a:txBody>
                  <a:tcPr marL="7620" marR="7620" marT="7620" marB="0" anchor="ctr">
                    <a:lnB w="9525" cap="flat" cmpd="sng" algn="ctr">
                      <a:solidFill>
                        <a:schemeClr val="accent3"/>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Verdana" panose="020B0604030504040204" pitchFamily="34" charset="0"/>
                        </a:rPr>
                        <a:t>      0.10 </a:t>
                      </a:r>
                    </a:p>
                  </a:txBody>
                  <a:tcPr marL="7620" marR="7620" marT="7620" marB="0" anchor="ctr">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860993687"/>
                  </a:ext>
                </a:extLst>
              </a:tr>
              <a:tr h="212336">
                <a:tc>
                  <a:txBody>
                    <a:bodyPr/>
                    <a:lstStyle/>
                    <a:p>
                      <a:pPr algn="ctr" fontAlgn="t"/>
                      <a:r>
                        <a:rPr lang="en-US" sz="1100" b="0" i="0" u="none" strike="noStrike" dirty="0">
                          <a:solidFill>
                            <a:srgbClr val="000000"/>
                          </a:solidFill>
                          <a:effectLst/>
                          <a:latin typeface="+mj-lt"/>
                        </a:rPr>
                        <a:t>25</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Bharatiya Reserve Bank Note Mudran Ltd.</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mj-lt"/>
                        </a:rPr>
                        <a:t>Misc.</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Verdana" panose="020B0604030504040204" pitchFamily="34" charset="0"/>
                        </a:rPr>
                        <a:t>      0.10 </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3523435674"/>
                  </a:ext>
                </a:extLst>
              </a:tr>
              <a:tr h="212336">
                <a:tc>
                  <a:txBody>
                    <a:bodyPr/>
                    <a:lstStyle/>
                    <a:p>
                      <a:pPr algn="ctr" fontAlgn="t"/>
                      <a:r>
                        <a:rPr lang="en-US" sz="1100" b="0" i="0" u="none" strike="noStrike" dirty="0">
                          <a:solidFill>
                            <a:srgbClr val="000000"/>
                          </a:solidFill>
                          <a:effectLst/>
                          <a:latin typeface="+mj-lt"/>
                        </a:rPr>
                        <a:t>26</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mj-lt"/>
                        </a:rPr>
                        <a:t>Dept. of Space,Master Control Facility</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mj-lt"/>
                        </a:rPr>
                        <a:t>Misc.</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Verdana" panose="020B0604030504040204" pitchFamily="34" charset="0"/>
                        </a:rPr>
                        <a:t>      0.10 </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2492840992"/>
                  </a:ext>
                </a:extLst>
              </a:tr>
              <a:tr h="212336">
                <a:tc>
                  <a:txBody>
                    <a:bodyPr/>
                    <a:lstStyle/>
                    <a:p>
                      <a:pPr algn="ctr" fontAlgn="t"/>
                      <a:r>
                        <a:rPr lang="en-US" sz="1100" b="0" i="0" u="none" strike="noStrike" dirty="0">
                          <a:solidFill>
                            <a:srgbClr val="000000"/>
                          </a:solidFill>
                          <a:effectLst/>
                          <a:latin typeface="+mj-lt"/>
                        </a:rPr>
                        <a:t>27</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mj-lt"/>
                        </a:rPr>
                        <a:t>Bharat Earth Movers Ltd, Engine. Divn.</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a:txBody>
                    <a:bodyPr/>
                    <a:lstStyle/>
                    <a:p>
                      <a:pPr algn="ctr" fontAlgn="ctr"/>
                      <a:r>
                        <a:rPr lang="en-IN" sz="1100" b="0" i="0" u="none" strike="noStrike" dirty="0">
                          <a:solidFill>
                            <a:srgbClr val="000000"/>
                          </a:solidFill>
                          <a:effectLst/>
                          <a:latin typeface="+mj-lt"/>
                        </a:rPr>
                        <a:t>Heavy </a:t>
                      </a:r>
                      <a:r>
                        <a:rPr lang="en-IN" sz="1100" b="0" i="0" u="none" strike="noStrike" dirty="0" err="1">
                          <a:solidFill>
                            <a:srgbClr val="000000"/>
                          </a:solidFill>
                          <a:effectLst/>
                          <a:latin typeface="+mj-lt"/>
                        </a:rPr>
                        <a:t>Engg</a:t>
                      </a:r>
                      <a:r>
                        <a:rPr lang="en-IN" sz="1100" b="0" i="0" u="none" strike="noStrike" dirty="0">
                          <a:solidFill>
                            <a:srgbClr val="000000"/>
                          </a:solidFill>
                          <a:effectLst/>
                          <a:latin typeface="+mj-lt"/>
                        </a:rPr>
                        <a:t>.</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tc>
                  <a:txBody>
                    <a:bodyPr/>
                    <a:lstStyle/>
                    <a:p>
                      <a:pPr algn="ctr" fontAlgn="b"/>
                      <a:r>
                        <a:rPr lang="en-IN" sz="1100" b="0" i="0" u="none" strike="noStrike">
                          <a:solidFill>
                            <a:srgbClr val="000000"/>
                          </a:solidFill>
                          <a:effectLst/>
                          <a:latin typeface="Verdana" panose="020B0604030504040204" pitchFamily="34" charset="0"/>
                        </a:rPr>
                        <a:t>      0.10 </a:t>
                      </a:r>
                    </a:p>
                  </a:txBody>
                  <a:tcPr marL="7620" marR="7620" marT="7620" marB="0" anchor="ctr">
                    <a:lnT w="9525" cap="flat" cmpd="sng" algn="ctr">
                      <a:solidFill>
                        <a:schemeClr val="accent3"/>
                      </a:solidFill>
                      <a:prstDash val="solid"/>
                      <a:round/>
                      <a:headEnd type="none" w="med" len="med"/>
                      <a:tailEnd type="none" w="med" len="med"/>
                    </a:lnT>
                    <a:lnB w="9525" cap="flat" cmpd="sng" algn="ctr">
                      <a:solidFill>
                        <a:schemeClr val="accent3"/>
                      </a:solidFill>
                      <a:prstDash val="solid"/>
                      <a:round/>
                      <a:headEnd type="none" w="med" len="med"/>
                      <a:tailEnd type="none" w="med" len="med"/>
                    </a:lnB>
                  </a:tcPr>
                </a:tc>
                <a:extLst>
                  <a:ext uri="{0D108BD9-81ED-4DB2-BD59-A6C34878D82A}">
                    <a16:rowId xmlns:a16="http://schemas.microsoft.com/office/drawing/2014/main" val="1120266651"/>
                  </a:ext>
                </a:extLst>
              </a:tr>
              <a:tr h="212336">
                <a:tc>
                  <a:txBody>
                    <a:bodyPr/>
                    <a:lstStyle/>
                    <a:p>
                      <a:pPr marL="0" algn="ctr" defTabSz="914400" rtl="0" eaLnBrk="1" fontAlgn="t" latinLnBrk="0" hangingPunct="1"/>
                      <a:r>
                        <a:rPr lang="en-US" sz="1100" b="0" i="0" u="none" strike="noStrike" kern="1200" dirty="0">
                          <a:solidFill>
                            <a:srgbClr val="000000"/>
                          </a:solidFill>
                          <a:effectLst/>
                          <a:latin typeface="+mj-lt"/>
                          <a:ea typeface="+mn-ea"/>
                          <a:cs typeface="+mn-cs"/>
                        </a:rPr>
                        <a:t>28</a:t>
                      </a:r>
                      <a:endParaRPr lang="en-IN" sz="1100" b="0" i="0" u="none" strike="noStrike" kern="1200" dirty="0">
                        <a:solidFill>
                          <a:srgbClr val="000000"/>
                        </a:solidFill>
                        <a:effectLst/>
                        <a:latin typeface="+mj-lt"/>
                        <a:ea typeface="+mn-ea"/>
                        <a:cs typeface="+mn-cs"/>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University of Agricultural Sciences</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3"/>
                      </a:solidFill>
                      <a:prstDash val="solid"/>
                      <a:round/>
                      <a:headEnd type="none" w="med" len="med"/>
                      <a:tailEnd type="none" w="med" len="med"/>
                    </a:lnT>
                  </a:tcPr>
                </a:tc>
                <a:tc>
                  <a:txBody>
                    <a:bodyPr/>
                    <a:lstStyle/>
                    <a:p>
                      <a:pPr algn="ctr" fontAlgn="ctr"/>
                      <a:r>
                        <a:rPr lang="en-IN" sz="1100" b="0" i="0" u="none" strike="noStrike" dirty="0">
                          <a:solidFill>
                            <a:srgbClr val="000000"/>
                          </a:solidFill>
                          <a:effectLst/>
                          <a:latin typeface="+mj-lt"/>
                        </a:rPr>
                        <a:t>Misc.</a:t>
                      </a:r>
                    </a:p>
                  </a:txBody>
                  <a:tcPr marL="7620" marR="7620" marT="7620" marB="0" anchor="ctr">
                    <a:lnT w="9525" cap="flat" cmpd="sng" algn="ctr">
                      <a:solidFill>
                        <a:schemeClr val="accent3"/>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0.10 </a:t>
                      </a:r>
                    </a:p>
                  </a:txBody>
                  <a:tcPr marL="7620" marR="7620" marT="7620" marB="0" anchor="ctr">
                    <a:lnT w="9525" cap="flat" cmpd="sng" algn="ctr">
                      <a:solidFill>
                        <a:schemeClr val="accent3"/>
                      </a:solidFill>
                      <a:prstDash val="solid"/>
                      <a:round/>
                      <a:headEnd type="none" w="med" len="med"/>
                      <a:tailEnd type="none" w="med" len="med"/>
                    </a:lnT>
                  </a:tcPr>
                </a:tc>
                <a:extLst>
                  <a:ext uri="{0D108BD9-81ED-4DB2-BD59-A6C34878D82A}">
                    <a16:rowId xmlns:a16="http://schemas.microsoft.com/office/drawing/2014/main" val="1385808828"/>
                  </a:ext>
                </a:extLst>
              </a:tr>
              <a:tr h="212336">
                <a:tc>
                  <a:txBody>
                    <a:bodyPr/>
                    <a:lstStyle/>
                    <a:p>
                      <a:pPr algn="ctr" fontAlgn="t"/>
                      <a:r>
                        <a:rPr lang="en-US" sz="1100" b="0" i="0" u="none" strike="noStrike" dirty="0">
                          <a:solidFill>
                            <a:srgbClr val="000000"/>
                          </a:solidFill>
                          <a:effectLst/>
                          <a:latin typeface="+mj-lt"/>
                        </a:rPr>
                        <a:t>29</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Trelleborg India Private Ltd., Bengaluru</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5"/>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mj-lt"/>
                        </a:rPr>
                        <a:t>Misc.</a:t>
                      </a:r>
                    </a:p>
                  </a:txBody>
                  <a:tcPr marL="7620" marR="7620" marT="7620" marB="0" anchor="ctr">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0.06 </a:t>
                      </a:r>
                    </a:p>
                  </a:txBody>
                  <a:tcPr marL="7620" marR="7620" marT="7620" marB="0" anchor="ctr">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976186037"/>
                  </a:ext>
                </a:extLst>
              </a:tr>
              <a:tr h="212336">
                <a:tc>
                  <a:txBody>
                    <a:bodyPr/>
                    <a:lstStyle/>
                    <a:p>
                      <a:pPr algn="ctr" fontAlgn="t"/>
                      <a:r>
                        <a:rPr lang="en-US" sz="1100" b="0" i="0" u="none" strike="noStrike" dirty="0">
                          <a:solidFill>
                            <a:srgbClr val="000000"/>
                          </a:solidFill>
                          <a:effectLst/>
                          <a:latin typeface="+mj-lt"/>
                        </a:rPr>
                        <a:t>30</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Wonderla Holidays Ltd., 28th Km, Mysore Road, Hejjala P.O., Ramanagaram Talulk, Bangalore</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tcPr>
                </a:tc>
                <a:tc>
                  <a:txBody>
                    <a:bodyPr/>
                    <a:lstStyle/>
                    <a:p>
                      <a:pPr algn="ctr" fontAlgn="ctr"/>
                      <a:r>
                        <a:rPr lang="en-IN" sz="1100" b="0" i="0" u="none" strike="noStrike">
                          <a:solidFill>
                            <a:srgbClr val="000000"/>
                          </a:solidFill>
                          <a:effectLst/>
                          <a:latin typeface="+mj-lt"/>
                        </a:rPr>
                        <a:t>Misc.</a:t>
                      </a:r>
                    </a:p>
                  </a:txBody>
                  <a:tcPr marL="7620" marR="7620" marT="7620" marB="0" anchor="ctr">
                    <a:lnT w="9525" cap="flat" cmpd="sng" algn="ctr">
                      <a:solidFill>
                        <a:schemeClr val="accent5"/>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0.05 </a:t>
                      </a:r>
                    </a:p>
                  </a:txBody>
                  <a:tcPr marL="7620" marR="7620" marT="7620" marB="0" anchor="ctr">
                    <a:lnT w="9525"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250303672"/>
                  </a:ext>
                </a:extLst>
              </a:tr>
              <a:tr h="212336">
                <a:tc>
                  <a:txBody>
                    <a:bodyPr/>
                    <a:lstStyle/>
                    <a:p>
                      <a:pPr algn="ctr" fontAlgn="t"/>
                      <a:r>
                        <a:rPr lang="en-US" sz="1100" b="0" i="0" u="none" strike="noStrike" dirty="0">
                          <a:solidFill>
                            <a:srgbClr val="000000"/>
                          </a:solidFill>
                          <a:effectLst/>
                          <a:latin typeface="+mj-lt"/>
                        </a:rPr>
                        <a:t>31</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GEM SUGARS LTD</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5"/>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mj-lt"/>
                        </a:rPr>
                        <a:t>Sugar</a:t>
                      </a:r>
                    </a:p>
                  </a:txBody>
                  <a:tcPr marL="7620" marR="7620" marT="7620" marB="0" anchor="ctr">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0.02 </a:t>
                      </a:r>
                    </a:p>
                  </a:txBody>
                  <a:tcPr marL="7620" marR="7620" marT="7620" marB="0" anchor="ctr">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928672107"/>
                  </a:ext>
                </a:extLst>
              </a:tr>
              <a:tr h="212336">
                <a:tc>
                  <a:txBody>
                    <a:bodyPr/>
                    <a:lstStyle/>
                    <a:p>
                      <a:pPr algn="ctr" fontAlgn="t"/>
                      <a:r>
                        <a:rPr lang="en-US" sz="1100" b="0" i="0" u="none" strike="noStrike" dirty="0">
                          <a:solidFill>
                            <a:srgbClr val="000000"/>
                          </a:solidFill>
                          <a:effectLst/>
                          <a:latin typeface="+mj-lt"/>
                        </a:rPr>
                        <a:t>32</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Mangalore Refinery&amp; Petrochemicals Ltd,</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tcPr>
                </a:tc>
                <a:tc>
                  <a:txBody>
                    <a:bodyPr/>
                    <a:lstStyle/>
                    <a:p>
                      <a:pPr algn="ctr" fontAlgn="ctr"/>
                      <a:r>
                        <a:rPr lang="en-IN" sz="1100" b="0" i="0" u="none" strike="noStrike">
                          <a:solidFill>
                            <a:srgbClr val="000000"/>
                          </a:solidFill>
                          <a:effectLst/>
                          <a:latin typeface="+mj-lt"/>
                        </a:rPr>
                        <a:t>Mineral Oil &amp; Petroleum</a:t>
                      </a:r>
                    </a:p>
                  </a:txBody>
                  <a:tcPr marL="7620" marR="7620" marT="7620" marB="0" anchor="ctr">
                    <a:lnT w="9525" cap="flat" cmpd="sng" algn="ctr">
                      <a:solidFill>
                        <a:schemeClr val="accent5"/>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   </a:t>
                      </a:r>
                    </a:p>
                  </a:txBody>
                  <a:tcPr marL="7620" marR="7620" marT="7620" marB="0" anchor="ctr">
                    <a:lnT w="9525"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429732950"/>
                  </a:ext>
                </a:extLst>
              </a:tr>
              <a:tr h="212336">
                <a:tc>
                  <a:txBody>
                    <a:bodyPr/>
                    <a:lstStyle/>
                    <a:p>
                      <a:pPr algn="ctr" fontAlgn="t"/>
                      <a:r>
                        <a:rPr lang="en-US" sz="1100" b="0" i="0" u="none" strike="noStrike" dirty="0">
                          <a:solidFill>
                            <a:srgbClr val="000000"/>
                          </a:solidFill>
                          <a:effectLst/>
                          <a:latin typeface="+mj-lt"/>
                        </a:rPr>
                        <a:t>33</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Arvind Ltd,</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5"/>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mj-lt"/>
                        </a:rPr>
                        <a:t>Textile</a:t>
                      </a:r>
                    </a:p>
                  </a:txBody>
                  <a:tcPr marL="7620" marR="7620" marT="7620" marB="0" anchor="ctr">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   </a:t>
                      </a:r>
                    </a:p>
                  </a:txBody>
                  <a:tcPr marL="7620" marR="7620" marT="7620" marB="0" anchor="ctr">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247043699"/>
                  </a:ext>
                </a:extLst>
              </a:tr>
              <a:tr h="212336">
                <a:tc>
                  <a:txBody>
                    <a:bodyPr/>
                    <a:lstStyle/>
                    <a:p>
                      <a:pPr algn="ctr" fontAlgn="t"/>
                      <a:r>
                        <a:rPr lang="en-US" sz="1100" b="0" i="0" u="none" strike="noStrike" dirty="0">
                          <a:solidFill>
                            <a:srgbClr val="000000"/>
                          </a:solidFill>
                          <a:effectLst/>
                          <a:latin typeface="+mj-lt"/>
                        </a:rPr>
                        <a:t>34</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mj-lt"/>
                        </a:rPr>
                        <a:t>M/S INFOSYS TECHNOLOGY LTD Bangalore</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mj-lt"/>
                        </a:rPr>
                        <a:t>Misc.</a:t>
                      </a:r>
                    </a:p>
                  </a:txBody>
                  <a:tcPr marL="7620" marR="7620" marT="7620" marB="0" anchor="ct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   </a:t>
                      </a:r>
                    </a:p>
                  </a:txBody>
                  <a:tcPr marL="7620" marR="7620" marT="7620" marB="0" anchor="ctr">
                    <a:lnT w="9525" cap="flat" cmpd="sng" algn="ctr">
                      <a:solidFill>
                        <a:schemeClr val="accent5"/>
                      </a:solidFill>
                      <a:prstDash val="solid"/>
                      <a:round/>
                      <a:headEnd type="none" w="med" len="med"/>
                      <a:tailEnd type="none" w="med" len="med"/>
                    </a:lnT>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925504659"/>
                  </a:ext>
                </a:extLst>
              </a:tr>
              <a:tr h="212336">
                <a:tc>
                  <a:txBody>
                    <a:bodyPr/>
                    <a:lstStyle/>
                    <a:p>
                      <a:pPr algn="ctr" fontAlgn="t"/>
                      <a:r>
                        <a:rPr lang="en-US" sz="1100" b="0" i="0" u="none" strike="noStrike" dirty="0">
                          <a:solidFill>
                            <a:srgbClr val="000000"/>
                          </a:solidFill>
                          <a:effectLst/>
                          <a:latin typeface="+mj-lt"/>
                        </a:rPr>
                        <a:t>35</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HIKAL LTD,</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tcPr>
                </a:tc>
                <a:tc>
                  <a:txBody>
                    <a:bodyPr/>
                    <a:lstStyle/>
                    <a:p>
                      <a:pPr algn="ctr" fontAlgn="ctr"/>
                      <a:r>
                        <a:rPr lang="en-IN" sz="1100" b="0" i="0" u="none" strike="noStrike">
                          <a:solidFill>
                            <a:srgbClr val="000000"/>
                          </a:solidFill>
                          <a:effectLst/>
                          <a:latin typeface="+mj-lt"/>
                        </a:rPr>
                        <a:t>Light Engineering</a:t>
                      </a:r>
                    </a:p>
                  </a:txBody>
                  <a:tcPr marL="7620" marR="7620" marT="7620" marB="0" anchor="ctr">
                    <a:lnT w="9525" cap="flat" cmpd="sng" algn="ctr">
                      <a:solidFill>
                        <a:schemeClr val="accent5"/>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   </a:t>
                      </a:r>
                    </a:p>
                  </a:txBody>
                  <a:tcPr marL="7620" marR="7620" marT="7620" marB="0" anchor="ctr">
                    <a:lnT w="9525"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1827762658"/>
                  </a:ext>
                </a:extLst>
              </a:tr>
              <a:tr h="212336">
                <a:tc>
                  <a:txBody>
                    <a:bodyPr/>
                    <a:lstStyle/>
                    <a:p>
                      <a:pPr algn="ctr" fontAlgn="t"/>
                      <a:r>
                        <a:rPr lang="en-US" sz="1100" b="0" i="0" u="none" strike="noStrike" dirty="0">
                          <a:solidFill>
                            <a:srgbClr val="000000"/>
                          </a:solidFill>
                          <a:effectLst/>
                          <a:latin typeface="+mj-lt"/>
                        </a:rPr>
                        <a:t>36</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a:solidFill>
                            <a:srgbClr val="000000"/>
                          </a:solidFill>
                          <a:effectLst/>
                          <a:latin typeface="+mj-lt"/>
                        </a:rPr>
                        <a:t>Scald Energy Pvt. Ltd.</a:t>
                      </a:r>
                    </a:p>
                  </a:txBody>
                  <a:tcPr marL="7620" marR="7620" marT="7620" marB="0" anchor="ctr">
                    <a:lnL w="9525" cap="flat" cmpd="sng" algn="ctr">
                      <a:solidFill>
                        <a:schemeClr val="accent3"/>
                      </a:solidFill>
                      <a:prstDash val="solid"/>
                      <a:round/>
                      <a:headEnd type="none" w="med" len="med"/>
                      <a:tailEnd type="none" w="med" len="med"/>
                    </a:lnL>
                    <a:lnB w="9525" cap="flat" cmpd="sng" algn="ctr">
                      <a:solidFill>
                        <a:schemeClr val="accent5"/>
                      </a:solidFill>
                      <a:prstDash val="solid"/>
                      <a:round/>
                      <a:headEnd type="none" w="med" len="med"/>
                      <a:tailEnd type="none" w="med" len="med"/>
                    </a:lnB>
                  </a:tcPr>
                </a:tc>
                <a:tc>
                  <a:txBody>
                    <a:bodyPr/>
                    <a:lstStyle/>
                    <a:p>
                      <a:pPr algn="ctr" fontAlgn="ctr"/>
                      <a:r>
                        <a:rPr lang="en-IN" sz="1100" b="0" i="0" u="none" strike="noStrike">
                          <a:solidFill>
                            <a:srgbClr val="000000"/>
                          </a:solidFill>
                          <a:effectLst/>
                          <a:latin typeface="+mj-lt"/>
                        </a:rPr>
                        <a:t>Misc.</a:t>
                      </a:r>
                    </a:p>
                  </a:txBody>
                  <a:tcPr marL="7620" marR="7620" marT="7620" marB="0" anchor="ctr">
                    <a:lnB w="9525" cap="flat" cmpd="sng" algn="ctr">
                      <a:solidFill>
                        <a:schemeClr val="accent5"/>
                      </a:solidFill>
                      <a:prstDash val="solid"/>
                      <a:round/>
                      <a:headEnd type="none" w="med" len="med"/>
                      <a:tailEnd type="none" w="med" len="med"/>
                    </a:lnB>
                  </a:tcPr>
                </a:tc>
                <a:tc>
                  <a:txBody>
                    <a:bodyPr/>
                    <a:lstStyle/>
                    <a:p>
                      <a:pPr algn="ctr" fontAlgn="b"/>
                      <a:r>
                        <a:rPr lang="en-IN" sz="1100" b="0" i="0" u="none" strike="noStrike" dirty="0">
                          <a:solidFill>
                            <a:srgbClr val="000000"/>
                          </a:solidFill>
                          <a:effectLst/>
                          <a:latin typeface="Verdana" panose="020B0604030504040204" pitchFamily="34" charset="0"/>
                        </a:rPr>
                        <a:t>          -   </a:t>
                      </a:r>
                    </a:p>
                  </a:txBody>
                  <a:tcPr marL="7620" marR="7620" marT="7620" marB="0" anchor="ctr">
                    <a:lnB w="952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992652336"/>
                  </a:ext>
                </a:extLst>
              </a:tr>
              <a:tr h="212336">
                <a:tc>
                  <a:txBody>
                    <a:bodyPr/>
                    <a:lstStyle/>
                    <a:p>
                      <a:pPr algn="ctr" fontAlgn="t"/>
                      <a:r>
                        <a:rPr lang="en-US" sz="1100" b="0" i="0" u="none" strike="noStrike" dirty="0">
                          <a:solidFill>
                            <a:srgbClr val="000000"/>
                          </a:solidFill>
                          <a:effectLst/>
                          <a:latin typeface="+mj-lt"/>
                        </a:rPr>
                        <a:t>37</a:t>
                      </a:r>
                      <a:endParaRPr lang="en-IN" sz="1100" b="0" i="0" u="none" strike="noStrike" dirty="0">
                        <a:solidFill>
                          <a:srgbClr val="000000"/>
                        </a:solidFill>
                        <a:effectLst/>
                        <a:latin typeface="+mj-lt"/>
                      </a:endParaRPr>
                    </a:p>
                  </a:txBody>
                  <a:tcPr marL="0" marR="0" marT="0" marB="0" anchor="ctr">
                    <a:lnL w="9525" cap="flat" cmpd="sng" algn="ctr">
                      <a:solidFill>
                        <a:schemeClr val="accent3"/>
                      </a:solidFill>
                      <a:prstDash val="solid"/>
                      <a:round/>
                      <a:headEnd type="none" w="med" len="med"/>
                      <a:tailEnd type="none" w="med" len="med"/>
                    </a:lnL>
                    <a:lnR w="9525" cap="flat" cmpd="sng" algn="ctr">
                      <a:solidFill>
                        <a:schemeClr val="accent3"/>
                      </a:solidFill>
                      <a:prstDash val="solid"/>
                      <a:round/>
                      <a:headEnd type="none" w="med" len="med"/>
                      <a:tailEnd type="none" w="med" len="med"/>
                    </a:lnR>
                  </a:tcPr>
                </a:tc>
                <a:tc>
                  <a:txBody>
                    <a:bodyPr/>
                    <a:lstStyle/>
                    <a:p>
                      <a:pPr algn="l" fontAlgn="ctr"/>
                      <a:r>
                        <a:rPr lang="en-IN" sz="1100" b="0" i="0" u="none" strike="noStrike" dirty="0">
                          <a:solidFill>
                            <a:srgbClr val="000000"/>
                          </a:solidFill>
                          <a:effectLst/>
                          <a:latin typeface="+mj-lt"/>
                        </a:rPr>
                        <a:t>KIOCL Ltd., Blast Furnace Unit</a:t>
                      </a:r>
                    </a:p>
                  </a:txBody>
                  <a:tcPr marL="7620" marR="7620" marT="7620" marB="0" anchor="ctr">
                    <a:lnL w="9525" cap="flat" cmpd="sng" algn="ctr">
                      <a:solidFill>
                        <a:schemeClr val="accent3"/>
                      </a:solidFill>
                      <a:prstDash val="solid"/>
                      <a:round/>
                      <a:headEnd type="none" w="med" len="med"/>
                      <a:tailEnd type="none" w="med" len="med"/>
                    </a:lnL>
                    <a:lnT w="9525" cap="flat" cmpd="sng" algn="ctr">
                      <a:solidFill>
                        <a:schemeClr val="accent5"/>
                      </a:solidFill>
                      <a:prstDash val="solid"/>
                      <a:round/>
                      <a:headEnd type="none" w="med" len="med"/>
                      <a:tailEnd type="none" w="med" len="med"/>
                    </a:lnT>
                  </a:tcPr>
                </a:tc>
                <a:tc>
                  <a:txBody>
                    <a:bodyPr/>
                    <a:lstStyle/>
                    <a:p>
                      <a:pPr algn="ctr" fontAlgn="ctr"/>
                      <a:r>
                        <a:rPr lang="en-IN" sz="1100" b="0" i="0" u="none" strike="noStrike" dirty="0">
                          <a:solidFill>
                            <a:srgbClr val="000000"/>
                          </a:solidFill>
                          <a:effectLst/>
                          <a:latin typeface="+mj-lt"/>
                        </a:rPr>
                        <a:t>Mining &amp; Quarrying</a:t>
                      </a:r>
                    </a:p>
                  </a:txBody>
                  <a:tcPr marL="7620" marR="7620" marT="7620" marB="0" anchor="ctr">
                    <a:lnT w="9525" cap="flat" cmpd="sng" algn="ctr">
                      <a:solidFill>
                        <a:schemeClr val="accent5"/>
                      </a:solidFill>
                      <a:prstDash val="solid"/>
                      <a:round/>
                      <a:headEnd type="none" w="med" len="med"/>
                      <a:tailEnd type="none" w="med" len="med"/>
                    </a:lnT>
                  </a:tcPr>
                </a:tc>
                <a:tc>
                  <a:txBody>
                    <a:bodyPr/>
                    <a:lstStyle/>
                    <a:p>
                      <a:pPr algn="ctr" fontAlgn="b"/>
                      <a:r>
                        <a:rPr lang="en-IN" sz="1100" b="0" i="0" u="none" strike="noStrike" dirty="0">
                          <a:solidFill>
                            <a:srgbClr val="000000"/>
                          </a:solidFill>
                          <a:effectLst/>
                          <a:latin typeface="Verdana" panose="020B0604030504040204" pitchFamily="34" charset="0"/>
                        </a:rPr>
                        <a:t>          -   </a:t>
                      </a:r>
                    </a:p>
                  </a:txBody>
                  <a:tcPr marL="7620" marR="7620" marT="7620" marB="0" anchor="ctr">
                    <a:lnT w="9525" cap="flat" cmpd="sng" algn="ctr">
                      <a:solidFill>
                        <a:schemeClr val="accent5"/>
                      </a:solidFill>
                      <a:prstDash val="solid"/>
                      <a:round/>
                      <a:headEnd type="none" w="med" len="med"/>
                      <a:tailEnd type="none" w="med" len="med"/>
                    </a:lnT>
                  </a:tcPr>
                </a:tc>
                <a:extLst>
                  <a:ext uri="{0D108BD9-81ED-4DB2-BD59-A6C34878D82A}">
                    <a16:rowId xmlns:a16="http://schemas.microsoft.com/office/drawing/2014/main" val="337937511"/>
                  </a:ext>
                </a:extLst>
              </a:tr>
              <a:tr h="299759">
                <a:tc gridSpan="2">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US" sz="1100" b="1" u="none" strike="noStrike" dirty="0">
                          <a:effectLst/>
                          <a:latin typeface="+mj-lt"/>
                        </a:rPr>
                        <a:t>Total Solar Captive Power Plants in Karnataka</a:t>
                      </a:r>
                      <a:endParaRPr lang="en-US" sz="1100" b="1" i="0" u="none" strike="noStrike" dirty="0">
                        <a:solidFill>
                          <a:srgbClr val="000000"/>
                        </a:solidFill>
                        <a:effectLst/>
                        <a:latin typeface="+mj-lt"/>
                      </a:endParaRPr>
                    </a:p>
                  </a:txBody>
                  <a:tcPr marL="0" marR="0" marT="0" marB="0" anchor="ctr"/>
                </a:tc>
                <a:tc hMerge="1">
                  <a:txBody>
                    <a:bodyPr/>
                    <a:lstStyle/>
                    <a:p>
                      <a:pPr marL="0" marR="0" lvl="0" indent="0" algn="l" defTabSz="914400" rtl="0" eaLnBrk="1" fontAlgn="t" latinLnBrk="0" hangingPunct="1">
                        <a:lnSpc>
                          <a:spcPct val="100000"/>
                        </a:lnSpc>
                        <a:spcBef>
                          <a:spcPts val="0"/>
                        </a:spcBef>
                        <a:spcAft>
                          <a:spcPts val="0"/>
                        </a:spcAft>
                        <a:buClrTx/>
                        <a:buSzTx/>
                        <a:buFontTx/>
                        <a:buNone/>
                        <a:tabLst/>
                        <a:defRPr/>
                      </a:pPr>
                      <a:endParaRPr lang="en-US" sz="1000" b="0" i="0" u="none" strike="noStrike" dirty="0">
                        <a:solidFill>
                          <a:srgbClr val="000000"/>
                        </a:solidFill>
                        <a:effectLst/>
                        <a:latin typeface="+mn-lt"/>
                      </a:endParaRPr>
                    </a:p>
                  </a:txBody>
                  <a:tcPr marL="0" marR="0" marT="0" marB="0" anchor="ctr"/>
                </a:tc>
                <a:tc>
                  <a:txBody>
                    <a:bodyPr/>
                    <a:lstStyle/>
                    <a:p>
                      <a:pPr algn="ctr" fontAlgn="t"/>
                      <a:endParaRPr lang="en-US" sz="1100" b="1" i="0" u="none" strike="noStrike" dirty="0">
                        <a:solidFill>
                          <a:srgbClr val="000000"/>
                        </a:solidFill>
                        <a:effectLst/>
                        <a:latin typeface="+mj-lt"/>
                      </a:endParaRPr>
                    </a:p>
                  </a:txBody>
                  <a:tcPr marL="0" marR="0" marT="0" marB="0" anchor="ctr"/>
                </a:tc>
                <a:tc>
                  <a:txBody>
                    <a:bodyPr/>
                    <a:lstStyle/>
                    <a:p>
                      <a:pPr algn="ctr" fontAlgn="t"/>
                      <a:r>
                        <a:rPr lang="en-US" sz="1100" b="1" u="none" strike="noStrike" dirty="0">
                          <a:effectLst/>
                          <a:latin typeface="+mj-lt"/>
                        </a:rPr>
                        <a:t>115.08 MW</a:t>
                      </a:r>
                      <a:endParaRPr lang="en-US" sz="1100" b="1" i="0" u="none" strike="noStrike" dirty="0">
                        <a:solidFill>
                          <a:srgbClr val="000000"/>
                        </a:solidFill>
                        <a:effectLst/>
                        <a:latin typeface="+mj-lt"/>
                      </a:endParaRPr>
                    </a:p>
                  </a:txBody>
                  <a:tcPr marL="0" marR="0" marT="0" marB="0" anchor="ctr"/>
                </a:tc>
                <a:extLst>
                  <a:ext uri="{0D108BD9-81ED-4DB2-BD59-A6C34878D82A}">
                    <a16:rowId xmlns:a16="http://schemas.microsoft.com/office/drawing/2014/main" val="1425983513"/>
                  </a:ext>
                </a:extLst>
              </a:tr>
            </a:tbl>
          </a:graphicData>
        </a:graphic>
      </p:graphicFrame>
    </p:spTree>
    <p:extLst>
      <p:ext uri="{BB962C8B-B14F-4D97-AF65-F5344CB8AC3E}">
        <p14:creationId xmlns:p14="http://schemas.microsoft.com/office/powerpoint/2010/main" val="150049328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2.xml><?xml version="1.0" encoding="utf-8"?>
<a:theme xmlns:a="http://schemas.openxmlformats.org/drawingml/2006/main" name="1_Deloitte_US_Letter_Print Theme">
  <a:themeElements>
    <a:clrScheme name="Deloitte colour theme">
      <a:dk1>
        <a:sysClr val="windowText" lastClr="000000"/>
      </a:dk1>
      <a:lt1>
        <a:sysClr val="window" lastClr="FFFFFF"/>
      </a:lt1>
      <a:dk2>
        <a:srgbClr val="44546A"/>
      </a:dk2>
      <a:lt2>
        <a:srgbClr val="E7E6E6"/>
      </a:lt2>
      <a:accent1>
        <a:srgbClr val="86BC25"/>
      </a:accent1>
      <a:accent2>
        <a:srgbClr val="2C5234"/>
      </a:accent2>
      <a:accent3>
        <a:srgbClr val="00A3E0"/>
      </a:accent3>
      <a:accent4>
        <a:srgbClr val="012169"/>
      </a:accent4>
      <a:accent5>
        <a:srgbClr val="0097A9"/>
      </a:accent5>
      <a:accent6>
        <a:srgbClr val="75787B"/>
      </a:accent6>
      <a:hlink>
        <a:srgbClr val="00A3E0"/>
      </a:hlink>
      <a:folHlink>
        <a:srgbClr val="954F72"/>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US_Letter_Print Theme" id="{5B1C474F-3B6E-4C4C-B8B8-04058258F10F}" vid="{EE8175AA-1F22-47D3-9D7F-F1884DC9EC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0022DB75-06E2-4E4E-8BA3-1DBE0957C674}"/>
</file>

<file path=customXml/itemProps2.xml><?xml version="1.0" encoding="utf-8"?>
<ds:datastoreItem xmlns:ds="http://schemas.openxmlformats.org/officeDocument/2006/customXml" ds:itemID="{7852B7C7-B4F5-429C-8CA2-F1128A3F25F4}"/>
</file>

<file path=customXml/itemProps3.xml><?xml version="1.0" encoding="utf-8"?>
<ds:datastoreItem xmlns:ds="http://schemas.openxmlformats.org/officeDocument/2006/customXml" ds:itemID="{93FC8ED9-2A15-4F0B-9C11-83829982425F}"/>
</file>

<file path=docProps/app.xml><?xml version="1.0" encoding="utf-8"?>
<Properties xmlns="http://schemas.openxmlformats.org/officeDocument/2006/extended-properties" xmlns:vt="http://schemas.openxmlformats.org/officeDocument/2006/docPropsVTypes">
  <Template>Deloitte Brand Theme</Template>
  <TotalTime>54648</TotalTime>
  <Words>4776</Words>
  <Application>Microsoft Office PowerPoint</Application>
  <PresentationFormat>Widescreen</PresentationFormat>
  <Paragraphs>1107</Paragraphs>
  <Slides>15</Slides>
  <Notes>8</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3" baseType="lpstr">
      <vt:lpstr>Arial</vt:lpstr>
      <vt:lpstr>Calibri</vt:lpstr>
      <vt:lpstr>Courier New</vt:lpstr>
      <vt:lpstr>Verdana</vt:lpstr>
      <vt:lpstr>Wingdings 2</vt:lpstr>
      <vt:lpstr>Deloitte_US_Letter_Print Theme</vt:lpstr>
      <vt:lpstr>1_Deloitte_US_Letter_Print Theme</vt:lpstr>
      <vt:lpstr>think-cell Slide</vt:lpstr>
      <vt:lpstr>Karnataka</vt:lpstr>
      <vt:lpstr>Power market structure</vt:lpstr>
      <vt:lpstr>Industrial Growth in the state</vt:lpstr>
      <vt:lpstr>Industrial Growth in Karnataka – industrial policy initiatives and investment</vt:lpstr>
      <vt:lpstr>Electricity sector overview</vt:lpstr>
      <vt:lpstr>Sales mix</vt:lpstr>
      <vt:lpstr>Industrial &amp; Commercial Tariff Trend in Karnataka</vt:lpstr>
      <vt:lpstr>PowerPoint Presentation</vt:lpstr>
      <vt:lpstr>PowerPoint Presentation</vt:lpstr>
      <vt:lpstr>Industry category wise captive installed capacity, RE share &amp; energy consumption (FY19)</vt:lpstr>
      <vt:lpstr>Karnataka | Industry category wise solar power based captive plants (FY2018-19)</vt:lpstr>
      <vt:lpstr>Karnataka | Industry category wise wind power based captive plants (FY2018-19)</vt:lpstr>
      <vt:lpstr>Karnataka | Top 25 (Installed Capacity wise) captive power plants (FY2018-19)</vt:lpstr>
      <vt:lpstr>Solar power based Captive Power Plants in Karnataka for FY 2018-19 (1/2)</vt:lpstr>
      <vt:lpstr>Solar power based Captive Power Plants in Karnataka for FY 2018-19 (2/2)</vt:lpstr>
    </vt:vector>
  </TitlesOfParts>
  <Company>Deloitte Touche Tohmatsu Services,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Joshi, Anjaney (IN - Mumbai)</dc:creator>
  <cp:lastModifiedBy>Mukherjee, Shouvik</cp:lastModifiedBy>
  <cp:revision>1913</cp:revision>
  <dcterms:created xsi:type="dcterms:W3CDTF">2018-07-02T06:44:56Z</dcterms:created>
  <dcterms:modified xsi:type="dcterms:W3CDTF">2022-09-24T06:59:01Z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2022-09-24T06:58:52Z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6c68b47c-6e8d-4dd7-b3f0-13b89d59ca15</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