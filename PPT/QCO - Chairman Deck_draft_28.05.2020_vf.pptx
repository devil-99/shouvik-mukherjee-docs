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media/image6.bin" ContentType="image/jpeg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6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7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8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9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0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2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50" r:id="rId4"/>
  </p:sldMasterIdLst>
  <p:notesMasterIdLst>
    <p:notesMasterId r:id="rId24"/>
  </p:notesMasterIdLst>
  <p:handoutMasterIdLst>
    <p:handoutMasterId r:id="rId25"/>
  </p:handoutMasterIdLst>
  <p:sldIdLst>
    <p:sldId id="1722" r:id="rId5"/>
    <p:sldId id="1852" r:id="rId6"/>
    <p:sldId id="1855" r:id="rId7"/>
    <p:sldId id="1856" r:id="rId8"/>
    <p:sldId id="1826" r:id="rId9"/>
    <p:sldId id="1851" r:id="rId10"/>
    <p:sldId id="1824" r:id="rId11"/>
    <p:sldId id="1853" r:id="rId12"/>
    <p:sldId id="1807" r:id="rId13"/>
    <p:sldId id="1854" r:id="rId14"/>
    <p:sldId id="1828" r:id="rId15"/>
    <p:sldId id="1846" r:id="rId16"/>
    <p:sldId id="1847" r:id="rId17"/>
    <p:sldId id="1848" r:id="rId18"/>
    <p:sldId id="1849" r:id="rId19"/>
    <p:sldId id="1840" r:id="rId20"/>
    <p:sldId id="1841" r:id="rId21"/>
    <p:sldId id="1842" r:id="rId22"/>
    <p:sldId id="1843" r:id="rId23"/>
  </p:sldIdLst>
  <p:sldSz cx="13817600" cy="7772400"/>
  <p:notesSz cx="7315200" cy="9601200"/>
  <p:custDataLst>
    <p:tags r:id="rId26"/>
  </p:custDataLst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deem, Farooque (IN - Bangalore)" initials="NF(-B" lastIdx="1" clrIdx="0">
    <p:extLst>
      <p:ext uri="{19B8F6BF-5375-455C-9EA6-DF929625EA0E}">
        <p15:presenceInfo xmlns:p15="http://schemas.microsoft.com/office/powerpoint/2012/main" userId="S-1-5-21-776561741-1482476501-682003330-692354" providerId="AD"/>
      </p:ext>
    </p:extLst>
  </p:cmAuthor>
  <p:cmAuthor id="2" name="Thapa, Peter (IN - Bangalore)" initials="TP(-B" lastIdx="10" clrIdx="1"/>
  <p:cmAuthor id="3" name="Kumar, Saurabh  (IN - Delhi)" initials="KS(-D" lastIdx="1" clrIdx="2">
    <p:extLst>
      <p:ext uri="{19B8F6BF-5375-455C-9EA6-DF929625EA0E}">
        <p15:presenceInfo xmlns:p15="http://schemas.microsoft.com/office/powerpoint/2012/main" userId="S-1-5-21-776561741-1482476501-682003330-320375" providerId="AD"/>
      </p:ext>
    </p:extLst>
  </p:cmAuthor>
  <p:cmAuthor id="4" name="Rohan Khanna" initials="RK" lastIdx="48" clrIdx="3">
    <p:extLst>
      <p:ext uri="{19B8F6BF-5375-455C-9EA6-DF929625EA0E}">
        <p15:presenceInfo xmlns:p15="http://schemas.microsoft.com/office/powerpoint/2012/main" userId="S-1-5-21-776561741-1482476501-682003330-897712" providerId="AD"/>
      </p:ext>
    </p:extLst>
  </p:cmAuthor>
  <p:cmAuthor id="5" name="Kumar, Rovil (IN - Delhi)" initials="KR(-D" lastIdx="76" clrIdx="4">
    <p:extLst>
      <p:ext uri="{19B8F6BF-5375-455C-9EA6-DF929625EA0E}">
        <p15:presenceInfo xmlns:p15="http://schemas.microsoft.com/office/powerpoint/2012/main" userId="S-1-5-21-776561741-1482476501-682003330-874106" providerId="AD"/>
      </p:ext>
    </p:extLst>
  </p:cmAuthor>
  <p:cmAuthor id="6" name="Bose, Soumya (IN - Kolkata)" initials="BS(-K" lastIdx="5" clrIdx="5">
    <p:extLst>
      <p:ext uri="{19B8F6BF-5375-455C-9EA6-DF929625EA0E}">
        <p15:presenceInfo xmlns:p15="http://schemas.microsoft.com/office/powerpoint/2012/main" userId="S-1-5-21-776561741-1482476501-682003330-10672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B3D"/>
    <a:srgbClr val="585A5C"/>
    <a:srgbClr val="62B5E5"/>
    <a:srgbClr val="43B02A"/>
    <a:srgbClr val="FFC000"/>
    <a:srgbClr val="E3E48D"/>
    <a:srgbClr val="EDEDED"/>
    <a:srgbClr val="F2F2F2"/>
    <a:srgbClr val="E9F4FB"/>
    <a:srgbClr val="648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7" autoAdjust="0"/>
    <p:restoredTop sz="94343" autoAdjust="0"/>
  </p:normalViewPr>
  <p:slideViewPr>
    <p:cSldViewPr snapToGrid="0" showGuides="1">
      <p:cViewPr varScale="1">
        <p:scale>
          <a:sx n="72" d="100"/>
          <a:sy n="72" d="100"/>
        </p:scale>
        <p:origin x="490" y="62"/>
      </p:cViewPr>
      <p:guideLst/>
    </p:cSldViewPr>
  </p:slideViewPr>
  <p:outlineViewPr>
    <p:cViewPr>
      <p:scale>
        <a:sx n="33" d="100"/>
        <a:sy n="33" d="100"/>
      </p:scale>
      <p:origin x="0" y="-26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1" d="100"/>
          <a:sy n="51" d="100"/>
        </p:scale>
        <p:origin x="2814" y="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8/13/2023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8/13/2023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18824" rtl="0" eaLnBrk="1" latinLnBrk="0" hangingPunct="1">
      <a:defRPr sz="1337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2550" y="741363"/>
            <a:ext cx="6570663" cy="3697287"/>
          </a:xfrm>
        </p:spPr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1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8609" indent="-388609">
              <a:lnSpc>
                <a:spcPct val="106000"/>
              </a:lnSpc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endParaRPr lang="en-US" sz="1200" i="1" baseline="0" dirty="0">
              <a:latin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F1437-3BF2-450D-A7B9-B11E523F51F3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0657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F1437-3BF2-450D-A7B9-B11E523F51F3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5074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8609" indent="-388609">
              <a:lnSpc>
                <a:spcPct val="106000"/>
              </a:lnSpc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endParaRPr lang="en-US" sz="1200" i="1" baseline="0" dirty="0">
              <a:latin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F1437-3BF2-450D-A7B9-B11E523F51F3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3175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8609" indent="-388609">
              <a:lnSpc>
                <a:spcPct val="106000"/>
              </a:lnSpc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endParaRPr lang="en-US" sz="1200" i="1" baseline="0" dirty="0">
              <a:latin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F1437-3BF2-450D-A7B9-B11E523F51F3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9399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99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75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193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86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126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26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094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NIFTY Metals-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F1437-3BF2-450D-A7B9-B11E523F51F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004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4082025" y="1209004"/>
            <a:ext cx="5653550" cy="53543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71190" y="6563396"/>
            <a:ext cx="6337612" cy="5730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200" b="1">
                <a:solidFill>
                  <a:schemeClr val="bg1"/>
                </a:solidFill>
              </a:defRPr>
            </a:lvl1pPr>
            <a:lvl2pPr marL="0" marR="0" indent="0" algn="l" defTabSz="13817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2200" b="0">
                <a:solidFill>
                  <a:schemeClr val="bg1"/>
                </a:solidFill>
              </a:defRPr>
            </a:lvl2pPr>
            <a:lvl3pPr marL="0" indent="0" algn="l">
              <a:spcAft>
                <a:spcPts val="0"/>
              </a:spcAft>
              <a:buNone/>
              <a:defRPr sz="2418">
                <a:solidFill>
                  <a:schemeClr val="bg1"/>
                </a:solidFill>
              </a:defRPr>
            </a:lvl3pPr>
            <a:lvl4pPr marL="2072584" indent="0" algn="ctr">
              <a:buNone/>
              <a:defRPr sz="2418"/>
            </a:lvl4pPr>
            <a:lvl5pPr marL="2763445" indent="0" algn="ctr">
              <a:buNone/>
              <a:defRPr sz="2418"/>
            </a:lvl5pPr>
            <a:lvl6pPr marL="3454306" indent="0" algn="ctr">
              <a:buNone/>
              <a:defRPr sz="2418"/>
            </a:lvl6pPr>
            <a:lvl7pPr marL="4145167" indent="0" algn="ctr">
              <a:buNone/>
              <a:defRPr sz="2418"/>
            </a:lvl7pPr>
            <a:lvl8pPr marL="4836028" indent="0" algn="ctr">
              <a:buNone/>
              <a:defRPr sz="2418"/>
            </a:lvl8pPr>
            <a:lvl9pPr marL="5526890" indent="0" algn="ctr">
              <a:buNone/>
              <a:defRPr sz="2418"/>
            </a:lvl9pPr>
          </a:lstStyle>
          <a:p>
            <a:r>
              <a:rPr lang="en-US" noProof="0" dirty="0"/>
              <a:t>Click to edit Master title style</a:t>
            </a:r>
          </a:p>
          <a:p>
            <a:pPr marL="0" marR="0" lvl="1" indent="0" algn="l" defTabSz="13817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68538" y="7185766"/>
            <a:ext cx="6340263" cy="338243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grpSp>
        <p:nvGrpSpPr>
          <p:cNvPr id="33" name="Group 32"/>
          <p:cNvGrpSpPr>
            <a:grpSpLocks noChangeAspect="1"/>
          </p:cNvGrpSpPr>
          <p:nvPr userDrawn="1"/>
        </p:nvGrpSpPr>
        <p:grpSpPr>
          <a:xfrm>
            <a:off x="568538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4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35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37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40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41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42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43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4604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6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082025" y="1209004"/>
            <a:ext cx="5653550" cy="53543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8539" y="6646127"/>
            <a:ext cx="6340261" cy="5730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720" b="1">
                <a:solidFill>
                  <a:schemeClr val="tx1"/>
                </a:solidFill>
              </a:defRPr>
            </a:lvl1pPr>
            <a:lvl2pPr marL="0" indent="0" algn="l">
              <a:buNone/>
              <a:defRPr sz="2418" b="0"/>
            </a:lvl2pPr>
            <a:lvl3pPr marL="1381722" indent="0" algn="ctr">
              <a:buNone/>
              <a:defRPr sz="2720"/>
            </a:lvl3pPr>
            <a:lvl4pPr marL="2072584" indent="0" algn="ctr">
              <a:buNone/>
              <a:defRPr sz="2418"/>
            </a:lvl4pPr>
            <a:lvl5pPr marL="2763445" indent="0" algn="ctr">
              <a:buNone/>
              <a:defRPr sz="2418"/>
            </a:lvl5pPr>
            <a:lvl6pPr marL="3454306" indent="0" algn="ctr">
              <a:buNone/>
              <a:defRPr sz="2418"/>
            </a:lvl6pPr>
            <a:lvl7pPr marL="4145167" indent="0" algn="ctr">
              <a:buNone/>
              <a:defRPr sz="2418"/>
            </a:lvl7pPr>
            <a:lvl8pPr marL="4836028" indent="0" algn="ctr">
              <a:buNone/>
              <a:defRPr sz="2418"/>
            </a:lvl8pPr>
            <a:lvl9pPr marL="5526890" indent="0" algn="ctr">
              <a:buNone/>
              <a:defRPr sz="2418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68538" y="7232653"/>
            <a:ext cx="6340263" cy="338243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51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568538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7382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6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Deloitte dark green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423862"/>
            <a:ext cx="13817600" cy="6808787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5246975"/>
            <a:ext cx="13817598" cy="1552577"/>
            <a:chOff x="0" y="5246975"/>
            <a:chExt cx="13817598" cy="1552577"/>
          </a:xfrm>
        </p:grpSpPr>
        <p:sp>
          <p:nvSpPr>
            <p:cNvPr id="10" name="Freeform 9"/>
            <p:cNvSpPr/>
            <p:nvPr/>
          </p:nvSpPr>
          <p:spPr bwMode="gray">
            <a:xfrm>
              <a:off x="0" y="5256502"/>
              <a:ext cx="8713694" cy="1543050"/>
            </a:xfrm>
            <a:custGeom>
              <a:avLst/>
              <a:gdLst>
                <a:gd name="connsiteX0" fmla="*/ 0 w 8820150"/>
                <a:gd name="connsiteY0" fmla="*/ 0 h 1543050"/>
                <a:gd name="connsiteX1" fmla="*/ 8820150 w 8820150"/>
                <a:gd name="connsiteY1" fmla="*/ 0 h 1543050"/>
                <a:gd name="connsiteX2" fmla="*/ 7277100 w 8820150"/>
                <a:gd name="connsiteY2" fmla="*/ 1543050 h 1543050"/>
                <a:gd name="connsiteX3" fmla="*/ 0 w 8820150"/>
                <a:gd name="connsiteY3" fmla="*/ 1543050 h 1543050"/>
                <a:gd name="connsiteX4" fmla="*/ 0 w 8820150"/>
                <a:gd name="connsiteY4" fmla="*/ 0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20150" h="1543050">
                  <a:moveTo>
                    <a:pt x="0" y="0"/>
                  </a:moveTo>
                  <a:lnTo>
                    <a:pt x="8820150" y="0"/>
                  </a:lnTo>
                  <a:lnTo>
                    <a:pt x="7277100" y="1543050"/>
                  </a:lnTo>
                  <a:lnTo>
                    <a:pt x="0" y="154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82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US" sz="1600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 bwMode="gray">
            <a:xfrm flipH="1" flipV="1">
              <a:off x="7342094" y="5246975"/>
              <a:ext cx="6475504" cy="1552575"/>
            </a:xfrm>
            <a:custGeom>
              <a:avLst/>
              <a:gdLst>
                <a:gd name="connsiteX0" fmla="*/ 0 w 8820150"/>
                <a:gd name="connsiteY0" fmla="*/ 0 h 1543050"/>
                <a:gd name="connsiteX1" fmla="*/ 8820150 w 8820150"/>
                <a:gd name="connsiteY1" fmla="*/ 0 h 1543050"/>
                <a:gd name="connsiteX2" fmla="*/ 7277100 w 8820150"/>
                <a:gd name="connsiteY2" fmla="*/ 1543050 h 1543050"/>
                <a:gd name="connsiteX3" fmla="*/ 0 w 8820150"/>
                <a:gd name="connsiteY3" fmla="*/ 1543050 h 1543050"/>
                <a:gd name="connsiteX4" fmla="*/ 0 w 8820150"/>
                <a:gd name="connsiteY4" fmla="*/ 0 h 1543050"/>
                <a:gd name="connsiteX0" fmla="*/ 0 w 8820150"/>
                <a:gd name="connsiteY0" fmla="*/ 0 h 1543050"/>
                <a:gd name="connsiteX1" fmla="*/ 8820150 w 8820150"/>
                <a:gd name="connsiteY1" fmla="*/ 0 h 1543050"/>
                <a:gd name="connsiteX2" fmla="*/ 6826217 w 8820150"/>
                <a:gd name="connsiteY2" fmla="*/ 1447800 h 1543050"/>
                <a:gd name="connsiteX3" fmla="*/ 0 w 8820150"/>
                <a:gd name="connsiteY3" fmla="*/ 1543050 h 1543050"/>
                <a:gd name="connsiteX4" fmla="*/ 0 w 8820150"/>
                <a:gd name="connsiteY4" fmla="*/ 0 h 1543050"/>
                <a:gd name="connsiteX0" fmla="*/ 0 w 8820150"/>
                <a:gd name="connsiteY0" fmla="*/ 0 h 1552575"/>
                <a:gd name="connsiteX1" fmla="*/ 8820150 w 8820150"/>
                <a:gd name="connsiteY1" fmla="*/ 0 h 1552575"/>
                <a:gd name="connsiteX2" fmla="*/ 6787571 w 8820150"/>
                <a:gd name="connsiteY2" fmla="*/ 1552575 h 1552575"/>
                <a:gd name="connsiteX3" fmla="*/ 0 w 8820150"/>
                <a:gd name="connsiteY3" fmla="*/ 1543050 h 1552575"/>
                <a:gd name="connsiteX4" fmla="*/ 0 w 8820150"/>
                <a:gd name="connsiteY4" fmla="*/ 0 h 1552575"/>
                <a:gd name="connsiteX0" fmla="*/ 0 w 8858797"/>
                <a:gd name="connsiteY0" fmla="*/ 0 h 1552575"/>
                <a:gd name="connsiteX1" fmla="*/ 8858797 w 8858797"/>
                <a:gd name="connsiteY1" fmla="*/ 9525 h 1552575"/>
                <a:gd name="connsiteX2" fmla="*/ 6787571 w 8858797"/>
                <a:gd name="connsiteY2" fmla="*/ 1552575 h 1552575"/>
                <a:gd name="connsiteX3" fmla="*/ 0 w 8858797"/>
                <a:gd name="connsiteY3" fmla="*/ 1543050 h 1552575"/>
                <a:gd name="connsiteX4" fmla="*/ 0 w 8858797"/>
                <a:gd name="connsiteY4" fmla="*/ 0 h 155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797" h="1552575">
                  <a:moveTo>
                    <a:pt x="0" y="0"/>
                  </a:moveTo>
                  <a:lnTo>
                    <a:pt x="8858797" y="9525"/>
                  </a:lnTo>
                  <a:lnTo>
                    <a:pt x="6787571" y="1552575"/>
                  </a:lnTo>
                  <a:lnTo>
                    <a:pt x="0" y="154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alpha val="82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US" sz="1600" b="1" dirty="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568538" y="7340600"/>
            <a:ext cx="6069191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907"/>
              </a:spcBef>
              <a:buSzPct val="100000"/>
              <a:buFont typeface="Arial"/>
              <a:buNone/>
            </a:pPr>
            <a:r>
              <a:rPr lang="fr-FR" sz="982" dirty="0">
                <a:solidFill>
                  <a:prstClr val="white"/>
                </a:solidFill>
              </a:rPr>
              <a:t>© 2020 Deloitte Touche Tohmatsu India LLP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2900029" y="7340600"/>
            <a:ext cx="349039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907"/>
              </a:spcBef>
              <a:buSzPct val="100000"/>
              <a:buFont typeface="Arial"/>
              <a:buNone/>
            </a:pPr>
            <a:fld id="{C58DF478-B544-4ED8-9ED4-6A2648E2D233}" type="slidenum">
              <a:rPr lang="en-US" sz="982" smtClean="0">
                <a:solidFill>
                  <a:prstClr val="white"/>
                </a:solidFill>
              </a:rPr>
              <a:pPr algn="r">
                <a:spcBef>
                  <a:spcPts val="907"/>
                </a:spcBef>
                <a:buSzPct val="100000"/>
                <a:buFont typeface="Arial"/>
                <a:buNone/>
              </a:pPr>
              <a:t>‹#›</a:t>
            </a:fld>
            <a:endParaRPr lang="en-US" sz="982" dirty="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0" y="5142137"/>
            <a:ext cx="13817600" cy="1775403"/>
          </a:xfrm>
          <a:prstGeom prst="rect">
            <a:avLst/>
          </a:prstGeom>
          <a:noFill/>
        </p:spPr>
        <p:txBody>
          <a:bodyPr lIns="640080" tIns="0" rIns="0" bIns="0" anchor="ctr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400">
                <a:solidFill>
                  <a:schemeClr val="bg1"/>
                </a:solidFill>
              </a:defRPr>
            </a:lvl1pPr>
            <a:lvl2pPr marL="690861" indent="0">
              <a:buNone/>
              <a:defRPr sz="3022">
                <a:solidFill>
                  <a:schemeClr val="tx1">
                    <a:tint val="75000"/>
                  </a:schemeClr>
                </a:solidFill>
              </a:defRPr>
            </a:lvl2pPr>
            <a:lvl3pPr marL="1381722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3pPr>
            <a:lvl4pPr marL="2072584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4pPr>
            <a:lvl5pPr marL="2763445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5pPr>
            <a:lvl6pPr marL="3454306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6pPr>
            <a:lvl7pPr marL="4145167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7pPr>
            <a:lvl8pPr marL="4836028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8pPr>
            <a:lvl9pPr marL="5526890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622490" y="7368408"/>
            <a:ext cx="6611336" cy="193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907"/>
              </a:spcBef>
              <a:buSzPct val="100000"/>
              <a:buFont typeface="Arial"/>
              <a:buNone/>
            </a:pPr>
            <a:r>
              <a:rPr lang="en-US" sz="982" dirty="0">
                <a:solidFill>
                  <a:prstClr val="white"/>
                </a:solidFill>
              </a:rPr>
              <a:t>Presentation on Supply, Implementation and Maintenance of an ERP solution to Hirdaramani Group</a:t>
            </a:r>
            <a:endParaRPr lang="fr-FR" sz="982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493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260" y="0"/>
            <a:ext cx="13914120" cy="77724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68538" y="7340600"/>
            <a:ext cx="6069191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907"/>
              </a:spcBef>
              <a:buSzPct val="100000"/>
              <a:buFont typeface="Arial"/>
              <a:buNone/>
            </a:pPr>
            <a:r>
              <a:rPr lang="fr-FR" sz="982" dirty="0">
                <a:solidFill>
                  <a:prstClr val="white"/>
                </a:solidFill>
              </a:rPr>
              <a:t>© 2020 Deloitte Touche Tohmatsu India LLP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2900029" y="7340600"/>
            <a:ext cx="349039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907"/>
              </a:spcBef>
              <a:buSzPct val="100000"/>
              <a:buFont typeface="Arial"/>
              <a:buNone/>
            </a:pPr>
            <a:fld id="{C58DF478-B544-4ED8-9ED4-6A2648E2D233}" type="slidenum">
              <a:rPr lang="en-US" sz="982" smtClean="0">
                <a:solidFill>
                  <a:prstClr val="white"/>
                </a:solidFill>
              </a:rPr>
              <a:pPr algn="r">
                <a:spcBef>
                  <a:spcPts val="907"/>
                </a:spcBef>
                <a:buSzPct val="100000"/>
                <a:buFont typeface="Arial"/>
                <a:buNone/>
              </a:pPr>
              <a:t>‹#›</a:t>
            </a:fld>
            <a:endParaRPr lang="en-US" sz="982" dirty="0">
              <a:solidFill>
                <a:prstClr val="white"/>
              </a:solidFill>
            </a:endParaRPr>
          </a:p>
        </p:txBody>
      </p:sp>
      <p:sp>
        <p:nvSpPr>
          <p:cNvPr id="8" name="Rectangle 3"/>
          <p:cNvSpPr/>
          <p:nvPr userDrawn="1"/>
        </p:nvSpPr>
        <p:spPr bwMode="gray">
          <a:xfrm>
            <a:off x="-50800" y="2988469"/>
            <a:ext cx="7097713" cy="1795462"/>
          </a:xfrm>
          <a:custGeom>
            <a:avLst/>
            <a:gdLst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9524" h="1795462">
                <a:moveTo>
                  <a:pt x="0" y="0"/>
                </a:moveTo>
                <a:lnTo>
                  <a:pt x="7479448" y="0"/>
                </a:lnTo>
                <a:cubicBezTo>
                  <a:pt x="7343950" y="420687"/>
                  <a:pt x="7280498" y="1222375"/>
                  <a:pt x="7519524" y="1795462"/>
                </a:cubicBezTo>
                <a:lnTo>
                  <a:pt x="0" y="17954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-48259" y="2998499"/>
            <a:ext cx="7026909" cy="1775403"/>
          </a:xfrm>
          <a:prstGeom prst="rect">
            <a:avLst/>
          </a:prstGeom>
          <a:noFill/>
        </p:spPr>
        <p:txBody>
          <a:bodyPr lIns="640080" tIns="0" rIns="0" bIns="0" anchor="ctr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400">
                <a:solidFill>
                  <a:schemeClr val="bg1"/>
                </a:solidFill>
              </a:defRPr>
            </a:lvl1pPr>
            <a:lvl2pPr marL="690861" indent="0">
              <a:buNone/>
              <a:defRPr sz="3022">
                <a:solidFill>
                  <a:schemeClr val="tx1">
                    <a:tint val="75000"/>
                  </a:schemeClr>
                </a:solidFill>
              </a:defRPr>
            </a:lvl2pPr>
            <a:lvl3pPr marL="1381722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3pPr>
            <a:lvl4pPr marL="2072584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4pPr>
            <a:lvl5pPr marL="2763445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5pPr>
            <a:lvl6pPr marL="3454306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6pPr>
            <a:lvl7pPr marL="4145167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7pPr>
            <a:lvl8pPr marL="4836028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8pPr>
            <a:lvl9pPr marL="5526890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870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- Deloitte dark green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260" y="0"/>
            <a:ext cx="13914120" cy="77724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68538" y="7340600"/>
            <a:ext cx="6069191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907"/>
              </a:spcBef>
              <a:buSzPct val="100000"/>
              <a:buFont typeface="Arial"/>
              <a:buNone/>
            </a:pPr>
            <a:r>
              <a:rPr lang="fr-FR" sz="982" dirty="0">
                <a:solidFill>
                  <a:prstClr val="white"/>
                </a:solidFill>
              </a:rPr>
              <a:t>© 2018 Deloitte Touche Tohmatsu India LLP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2900029" y="7340600"/>
            <a:ext cx="349039" cy="1511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907"/>
              </a:spcBef>
              <a:buSzPct val="100000"/>
              <a:buFont typeface="Arial"/>
              <a:buNone/>
            </a:pPr>
            <a:fld id="{C58DF478-B544-4ED8-9ED4-6A2648E2D233}" type="slidenum">
              <a:rPr lang="en-US" sz="982" smtClean="0">
                <a:solidFill>
                  <a:prstClr val="white"/>
                </a:solidFill>
              </a:rPr>
              <a:pPr algn="r">
                <a:spcBef>
                  <a:spcPts val="907"/>
                </a:spcBef>
                <a:buSzPct val="100000"/>
                <a:buFont typeface="Arial"/>
                <a:buNone/>
              </a:pPr>
              <a:t>‹#›</a:t>
            </a:fld>
            <a:endParaRPr lang="en-US" sz="982" dirty="0">
              <a:solidFill>
                <a:prstClr val="white"/>
              </a:solidFill>
            </a:endParaRPr>
          </a:p>
        </p:txBody>
      </p:sp>
      <p:sp>
        <p:nvSpPr>
          <p:cNvPr id="8" name="Rectangle 3"/>
          <p:cNvSpPr/>
          <p:nvPr userDrawn="1"/>
        </p:nvSpPr>
        <p:spPr bwMode="gray">
          <a:xfrm>
            <a:off x="-50800" y="2988469"/>
            <a:ext cx="7097713" cy="1795462"/>
          </a:xfrm>
          <a:custGeom>
            <a:avLst/>
            <a:gdLst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493000"/>
              <a:gd name="connsiteY0" fmla="*/ 0 h 1795462"/>
              <a:gd name="connsiteX1" fmla="*/ 7493000 w 7493000"/>
              <a:gd name="connsiteY1" fmla="*/ 0 h 1795462"/>
              <a:gd name="connsiteX2" fmla="*/ 7493000 w 7493000"/>
              <a:gd name="connsiteY2" fmla="*/ 1795462 h 1795462"/>
              <a:gd name="connsiteX3" fmla="*/ 0 w 7493000"/>
              <a:gd name="connsiteY3" fmla="*/ 1795462 h 1795462"/>
              <a:gd name="connsiteX4" fmla="*/ 0 w 7493000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93000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  <a:gd name="connsiteX0" fmla="*/ 0 w 7519524"/>
              <a:gd name="connsiteY0" fmla="*/ 0 h 1795462"/>
              <a:gd name="connsiteX1" fmla="*/ 7479448 w 7519524"/>
              <a:gd name="connsiteY1" fmla="*/ 0 h 1795462"/>
              <a:gd name="connsiteX2" fmla="*/ 7519524 w 7519524"/>
              <a:gd name="connsiteY2" fmla="*/ 1795462 h 1795462"/>
              <a:gd name="connsiteX3" fmla="*/ 0 w 7519524"/>
              <a:gd name="connsiteY3" fmla="*/ 1795462 h 1795462"/>
              <a:gd name="connsiteX4" fmla="*/ 0 w 7519524"/>
              <a:gd name="connsiteY4" fmla="*/ 0 h 179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9524" h="1795462">
                <a:moveTo>
                  <a:pt x="0" y="0"/>
                </a:moveTo>
                <a:lnTo>
                  <a:pt x="7479448" y="0"/>
                </a:lnTo>
                <a:cubicBezTo>
                  <a:pt x="7343950" y="420687"/>
                  <a:pt x="7280498" y="1222375"/>
                  <a:pt x="7519524" y="1795462"/>
                </a:cubicBezTo>
                <a:lnTo>
                  <a:pt x="0" y="17954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-48259" y="2998499"/>
            <a:ext cx="7026909" cy="1775403"/>
          </a:xfrm>
          <a:prstGeom prst="rect">
            <a:avLst/>
          </a:prstGeom>
          <a:noFill/>
        </p:spPr>
        <p:txBody>
          <a:bodyPr lIns="640080" tIns="0" rIns="0" bIns="0" anchor="ctr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400">
                <a:solidFill>
                  <a:schemeClr val="bg1"/>
                </a:solidFill>
              </a:defRPr>
            </a:lvl1pPr>
            <a:lvl2pPr marL="690861" indent="0">
              <a:buNone/>
              <a:defRPr sz="3022">
                <a:solidFill>
                  <a:schemeClr val="tx1">
                    <a:tint val="75000"/>
                  </a:schemeClr>
                </a:solidFill>
              </a:defRPr>
            </a:lvl2pPr>
            <a:lvl3pPr marL="1381722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3pPr>
            <a:lvl4pPr marL="2072584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4pPr>
            <a:lvl5pPr marL="2763445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5pPr>
            <a:lvl6pPr marL="3454306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6pPr>
            <a:lvl7pPr marL="4145167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7pPr>
            <a:lvl8pPr marL="4836028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8pPr>
            <a:lvl9pPr marL="5526890" indent="0">
              <a:buNone/>
              <a:defRPr sz="24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0421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2005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68538" y="738481"/>
            <a:ext cx="1265066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68538" y="359833"/>
            <a:ext cx="12650663" cy="3786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200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68537" y="1887327"/>
            <a:ext cx="12654139" cy="5342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374"/>
              </a:spcAft>
              <a:defRPr sz="1400"/>
            </a:lvl1pPr>
            <a:lvl2pPr>
              <a:spcAft>
                <a:spcPts val="1374"/>
              </a:spcAft>
              <a:defRPr sz="1400"/>
            </a:lvl2pPr>
            <a:lvl3pPr>
              <a:spcAft>
                <a:spcPts val="1374"/>
              </a:spcAft>
              <a:defRPr sz="1400"/>
            </a:lvl3pPr>
            <a:lvl4pPr>
              <a:spcAft>
                <a:spcPts val="1374"/>
              </a:spcAft>
              <a:defRPr sz="1400"/>
            </a:lvl4pPr>
            <a:lvl5pPr>
              <a:spcAft>
                <a:spcPts val="1374"/>
              </a:spcAft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68537" y="-16123"/>
            <a:ext cx="12650664" cy="375956"/>
          </a:xfrm>
        </p:spPr>
        <p:txBody>
          <a:bodyPr anchor="ctr"/>
          <a:lstStyle>
            <a:lvl1pPr>
              <a:defRPr sz="16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ZZZ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51727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2554" y="456266"/>
            <a:ext cx="12752493" cy="7916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7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32554" y="834915"/>
            <a:ext cx="1275249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7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2555" y="1887330"/>
            <a:ext cx="10595292" cy="5251765"/>
          </a:xfrm>
          <a:prstGeom prst="rect">
            <a:avLst/>
          </a:prstGeom>
        </p:spPr>
        <p:txBody>
          <a:bodyPr/>
          <a:lstStyle>
            <a:lvl1pPr>
              <a:tabLst>
                <a:tab pos="7626253" algn="r"/>
              </a:tabLst>
              <a:defRPr/>
            </a:lvl1pPr>
            <a:lvl2pPr>
              <a:tabLst>
                <a:tab pos="7626253" algn="r"/>
              </a:tabLst>
              <a:defRPr/>
            </a:lvl2pPr>
            <a:lvl3pPr>
              <a:tabLst>
                <a:tab pos="7626253" algn="r"/>
              </a:tabLst>
              <a:defRPr/>
            </a:lvl3pPr>
            <a:lvl4pPr>
              <a:tabLst>
                <a:tab pos="7626253" algn="r"/>
              </a:tabLst>
              <a:defRPr/>
            </a:lvl4pPr>
            <a:lvl5pPr>
              <a:tabLst>
                <a:tab pos="5699450" algn="r"/>
              </a:tabLst>
              <a:defRPr baseline="0"/>
            </a:lvl5pPr>
            <a:lvl6pPr marL="403898" indent="0">
              <a:buNone/>
              <a:tabLst>
                <a:tab pos="7626253" algn="r"/>
              </a:tabLst>
              <a:defRPr/>
            </a:lvl6pPr>
            <a:lvl7pPr>
              <a:tabLst>
                <a:tab pos="7626253" algn="r"/>
              </a:tabLst>
              <a:defRPr/>
            </a:lvl7pPr>
            <a:lvl8pPr>
              <a:tabLst>
                <a:tab pos="7626253" algn="r"/>
              </a:tabLst>
              <a:defRPr/>
            </a:lvl8pPr>
            <a:lvl9pPr>
              <a:tabLst>
                <a:tab pos="7626253" algn="r"/>
              </a:tabLst>
              <a:defRPr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191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 Picture 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14880" cy="7772400"/>
          </a:xfrm>
          <a:prstGeom prst="rect">
            <a:avLst/>
          </a:prstGeom>
        </p:spPr>
      </p:pic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846211" y="824608"/>
            <a:ext cx="6120000" cy="612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538560" y="6211322"/>
            <a:ext cx="6370240" cy="3672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204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Presentation  title runs here</a:t>
            </a:r>
            <a:endParaRPr lang="en-GB" noProof="0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38560" y="6624538"/>
            <a:ext cx="6370240" cy="573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13">
                <a:solidFill>
                  <a:schemeClr val="tx1"/>
                </a:solidFill>
              </a:defRPr>
            </a:lvl1pPr>
            <a:lvl2pPr marL="690843" indent="0" algn="ctr">
              <a:buNone/>
              <a:defRPr sz="3023"/>
            </a:lvl2pPr>
            <a:lvl3pPr marL="1381685" indent="0" algn="ctr">
              <a:buNone/>
              <a:defRPr sz="2720"/>
            </a:lvl3pPr>
            <a:lvl4pPr marL="2072527" indent="0" algn="ctr">
              <a:buNone/>
              <a:defRPr sz="2417"/>
            </a:lvl4pPr>
            <a:lvl5pPr marL="2763370" indent="0" algn="ctr">
              <a:buNone/>
              <a:defRPr sz="2417"/>
            </a:lvl5pPr>
            <a:lvl6pPr marL="3454212" indent="0" algn="ctr">
              <a:buNone/>
              <a:defRPr sz="2417"/>
            </a:lvl6pPr>
            <a:lvl7pPr marL="4145055" indent="0" algn="ctr">
              <a:buNone/>
              <a:defRPr sz="2417"/>
            </a:lvl7pPr>
            <a:lvl8pPr marL="4835896" indent="0" algn="ctr">
              <a:buNone/>
              <a:defRPr sz="2417"/>
            </a:lvl8pPr>
            <a:lvl9pPr marL="5526739" indent="0" algn="ctr">
              <a:buNone/>
              <a:defRPr sz="2417"/>
            </a:lvl9pPr>
          </a:lstStyle>
          <a:p>
            <a:pPr lvl="0"/>
            <a:r>
              <a:rPr lang="en-GB" dirty="0"/>
              <a:t>Subtitle here two lines max</a:t>
            </a:r>
            <a:endParaRPr lang="en-GB"/>
          </a:p>
        </p:txBody>
      </p:sp>
      <p:sp>
        <p:nvSpPr>
          <p:cNvPr id="18" name="SD_ART_Logo_White"/>
          <p:cNvSpPr/>
          <p:nvPr userDrawn="1"/>
        </p:nvSpPr>
        <p:spPr>
          <a:xfrm>
            <a:off x="538830" y="526320"/>
            <a:ext cx="2590800" cy="1134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73" dirty="0"/>
          </a:p>
        </p:txBody>
      </p:sp>
      <p:pic>
        <p:nvPicPr>
          <p:cNvPr id="311563106" name="LogoFrontSlid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99" y="571200"/>
            <a:ext cx="1876799" cy="822649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2"/>
          </p:nvPr>
        </p:nvSpPr>
        <p:spPr>
          <a:xfrm>
            <a:off x="532554" y="7319267"/>
            <a:ext cx="2252000" cy="26939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549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68538" y="738482"/>
            <a:ext cx="1265066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68538" y="359834"/>
            <a:ext cx="12650663" cy="3786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200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68539" y="1887327"/>
            <a:ext cx="12654139" cy="5342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374"/>
              </a:spcAft>
              <a:defRPr sz="1400"/>
            </a:lvl1pPr>
            <a:lvl2pPr>
              <a:spcAft>
                <a:spcPts val="1374"/>
              </a:spcAft>
              <a:defRPr sz="1400"/>
            </a:lvl2pPr>
            <a:lvl3pPr>
              <a:spcAft>
                <a:spcPts val="1374"/>
              </a:spcAft>
              <a:defRPr sz="1400"/>
            </a:lvl3pPr>
            <a:lvl4pPr>
              <a:spcAft>
                <a:spcPts val="1374"/>
              </a:spcAft>
              <a:defRPr sz="1400"/>
            </a:lvl4pPr>
            <a:lvl5pPr>
              <a:spcAft>
                <a:spcPts val="1374"/>
              </a:spcAft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552714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68538" y="738482"/>
            <a:ext cx="1265066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68538" y="359834"/>
            <a:ext cx="12650663" cy="3786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200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68539" y="1887327"/>
            <a:ext cx="12654139" cy="5342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374"/>
              </a:spcAft>
              <a:defRPr sz="1400"/>
            </a:lvl1pPr>
            <a:lvl2pPr>
              <a:spcAft>
                <a:spcPts val="1374"/>
              </a:spcAft>
              <a:defRPr sz="1400"/>
            </a:lvl2pPr>
            <a:lvl3pPr>
              <a:spcAft>
                <a:spcPts val="1374"/>
              </a:spcAft>
              <a:defRPr sz="1400"/>
            </a:lvl3pPr>
            <a:lvl4pPr>
              <a:spcAft>
                <a:spcPts val="1374"/>
              </a:spcAft>
              <a:defRPr sz="1400"/>
            </a:lvl4pPr>
            <a:lvl5pPr>
              <a:spcAft>
                <a:spcPts val="1374"/>
              </a:spcAft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72666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68538" y="738482"/>
            <a:ext cx="1265066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68538" y="359834"/>
            <a:ext cx="12650663" cy="3786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200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68539" y="1887327"/>
            <a:ext cx="12654139" cy="5342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374"/>
              </a:spcAft>
              <a:defRPr sz="1400"/>
            </a:lvl1pPr>
            <a:lvl2pPr>
              <a:spcAft>
                <a:spcPts val="1374"/>
              </a:spcAft>
              <a:defRPr sz="1400"/>
            </a:lvl2pPr>
            <a:lvl3pPr>
              <a:spcAft>
                <a:spcPts val="1374"/>
              </a:spcAft>
              <a:defRPr sz="1400"/>
            </a:lvl3pPr>
            <a:lvl4pPr>
              <a:spcAft>
                <a:spcPts val="1374"/>
              </a:spcAft>
              <a:defRPr sz="1400"/>
            </a:lvl4pPr>
            <a:lvl5pPr>
              <a:spcAft>
                <a:spcPts val="1374"/>
              </a:spcAft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53399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68538" y="738482"/>
            <a:ext cx="12650663" cy="858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68538" y="359834"/>
            <a:ext cx="12650663" cy="3786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200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68539" y="1887327"/>
            <a:ext cx="12654139" cy="5342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374"/>
              </a:spcAft>
              <a:defRPr sz="1400"/>
            </a:lvl1pPr>
            <a:lvl2pPr>
              <a:spcAft>
                <a:spcPts val="1374"/>
              </a:spcAft>
              <a:defRPr sz="1400"/>
            </a:lvl2pPr>
            <a:lvl3pPr>
              <a:spcAft>
                <a:spcPts val="1374"/>
              </a:spcAft>
              <a:defRPr sz="1400"/>
            </a:lvl3pPr>
            <a:lvl4pPr>
              <a:spcAft>
                <a:spcPts val="1374"/>
              </a:spcAft>
              <a:defRPr sz="1400"/>
            </a:lvl4pPr>
            <a:lvl5pPr>
              <a:spcAft>
                <a:spcPts val="1374"/>
              </a:spcAft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772266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27" b="1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 lang="en-GB"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67" b="0" i="0">
                <a:solidFill>
                  <a:srgbClr val="2C5234"/>
                </a:solidFill>
                <a:latin typeface="Verdana"/>
                <a:cs typeface="Verdana"/>
              </a:defRPr>
            </a:lvl1pPr>
          </a:lstStyle>
          <a:p>
            <a:endParaRPr lang="en-GB"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38862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38862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GB" smtClean="0"/>
              <a:t>13/08/2023</a:t>
            </a:fld>
            <a:endParaRPr lang="en-GB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38862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9831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&amp; subtitle (Sentence Ca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800" y="1801"/>
          <a:ext cx="1800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31" progId="TCLayout.ActiveDocument.1">
                  <p:embed/>
                </p:oleObj>
              </mc:Choice>
              <mc:Fallback>
                <p:oleObj name="think-cell Slide" r:id="rId4" imgW="530" imgH="531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0" y="1801"/>
                        <a:ext cx="1800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 bwMode="gray">
          <a:xfrm>
            <a:off x="1" y="1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2039" b="1" i="0" baseline="0" dirty="0">
              <a:solidFill>
                <a:schemeClr val="bg1"/>
              </a:solidFill>
              <a:latin typeface="CorpoS"/>
              <a:ea typeface="+mj-ea"/>
              <a:cs typeface="+mj-cs"/>
              <a:sym typeface="CorpoS"/>
            </a:endParaRPr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12100" y="622594"/>
            <a:ext cx="12389805" cy="620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2039" b="1" cap="none" baseline="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2508378" y="7440197"/>
            <a:ext cx="593837" cy="24474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1359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359">
                <a:latin typeface="+mn-lt"/>
              </a:defRPr>
            </a:lvl2pPr>
            <a:lvl3pPr marL="0" indent="0" algn="l">
              <a:spcBef>
                <a:spcPts val="0"/>
              </a:spcBef>
              <a:defRPr sz="1359">
                <a:latin typeface="+mn-lt"/>
              </a:defRPr>
            </a:lvl3pPr>
            <a:lvl4pPr marL="0" indent="0" algn="l">
              <a:spcBef>
                <a:spcPts val="0"/>
              </a:spcBef>
              <a:defRPr sz="1359">
                <a:latin typeface="+mn-lt"/>
              </a:defRPr>
            </a:lvl4pPr>
            <a:lvl5pPr marL="0" indent="0" algn="l">
              <a:spcBef>
                <a:spcPts val="0"/>
              </a:spcBef>
              <a:defRPr sz="1359">
                <a:latin typeface="+mn-lt"/>
              </a:defRPr>
            </a:lvl5pPr>
            <a:lvl6pPr marL="0" indent="0" algn="l">
              <a:spcBef>
                <a:spcPts val="0"/>
              </a:spcBef>
              <a:defRPr sz="1359">
                <a:latin typeface="+mn-lt"/>
              </a:defRPr>
            </a:lvl6pPr>
            <a:lvl7pPr marL="0" indent="0" algn="l">
              <a:spcBef>
                <a:spcPts val="0"/>
              </a:spcBef>
              <a:defRPr sz="1359">
                <a:latin typeface="+mn-lt"/>
              </a:defRPr>
            </a:lvl7pPr>
            <a:lvl8pPr marL="0" indent="0" algn="l">
              <a:spcBef>
                <a:spcPts val="0"/>
              </a:spcBef>
              <a:defRPr sz="1359">
                <a:latin typeface="+mn-lt"/>
              </a:defRPr>
            </a:lvl8pPr>
            <a:lvl9pPr marL="0" indent="0" algn="l">
              <a:spcBef>
                <a:spcPts val="0"/>
              </a:spcBef>
              <a:defRPr sz="1359">
                <a:latin typeface="+mn-lt"/>
              </a:defRPr>
            </a:lvl9pPr>
          </a:lstStyle>
          <a:p>
            <a:pPr algn="r"/>
            <a:r>
              <a:rPr lang="en-GB" dirty="0"/>
              <a:t> </a:t>
            </a:r>
            <a:fld id="{52531704-8F80-415D-BD2B-6B9991AE822F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2890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  <p15:guide id="2" orient="horz" pos="890">
          <p15:clr>
            <a:srgbClr val="FBAE40"/>
          </p15:clr>
        </p15:guide>
        <p15:guide id="3" orient="horz" pos="116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50760778"/>
              </p:ext>
            </p:extLst>
          </p:nvPr>
        </p:nvGraphicFramePr>
        <p:xfrm>
          <a:off x="2402" y="1803"/>
          <a:ext cx="23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270" imgH="270" progId="TCLayout.ActiveDocument.1">
                  <p:embed/>
                </p:oleObj>
              </mc:Choice>
              <mc:Fallback>
                <p:oleObj name="think-cell Slide" r:id="rId1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02" y="1803"/>
                        <a:ext cx="23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17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3022" b="0" i="0" baseline="0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68539" y="359837"/>
            <a:ext cx="12680527" cy="7844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568538" y="7340603"/>
            <a:ext cx="6069191" cy="2280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907"/>
              </a:spcBef>
              <a:buSzPct val="100000"/>
              <a:buFont typeface="Arial"/>
              <a:buNone/>
            </a:pPr>
            <a:r>
              <a:rPr lang="fr-FR" sz="982" dirty="0">
                <a:solidFill>
                  <a:prstClr val="black"/>
                </a:solidFill>
              </a:rPr>
              <a:t>© 2020 Deloitte Touche Tohmatsu India LLP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68538" y="1887327"/>
            <a:ext cx="12680527" cy="53453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2900029" y="7340601"/>
            <a:ext cx="349039" cy="1133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spcBef>
                <a:spcPts val="907"/>
              </a:spcBef>
              <a:buSzPct val="100000"/>
              <a:buFont typeface="Arial"/>
              <a:buNone/>
            </a:pPr>
            <a:fld id="{C58DF478-B544-4ED8-9ED4-6A2648E2D233}" type="slidenum">
              <a:rPr lang="en-US" sz="982" smtClean="0">
                <a:solidFill>
                  <a:prstClr val="black"/>
                </a:solidFill>
              </a:rPr>
              <a:pPr algn="r">
                <a:spcBef>
                  <a:spcPts val="907"/>
                </a:spcBef>
                <a:buSzPct val="100000"/>
                <a:buFont typeface="Arial"/>
                <a:buNone/>
              </a:pPr>
              <a:t>‹#›</a:t>
            </a:fld>
            <a:endParaRPr lang="en-US" sz="982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68" r:id="rId7"/>
    <p:sldLayoutId id="2147483944" r:id="rId8"/>
    <p:sldLayoutId id="2147483971" r:id="rId9"/>
    <p:sldLayoutId id="2147483972" r:id="rId10"/>
    <p:sldLayoutId id="2147483973" r:id="rId11"/>
    <p:sldLayoutId id="2147483974" r:id="rId12"/>
    <p:sldLayoutId id="2147483977" r:id="rId13"/>
    <p:sldLayoutId id="2147483980" r:id="rId14"/>
  </p:sldLayoutIdLst>
  <p:transition>
    <p:fade/>
  </p:transition>
  <p:hf hdr="0" dt="0"/>
  <p:txStyles>
    <p:titleStyle>
      <a:lvl1pPr algn="l" defTabSz="1381722" rtl="0" eaLnBrk="1" latinLnBrk="0" hangingPunct="1">
        <a:spcBef>
          <a:spcPct val="0"/>
        </a:spcBef>
        <a:buNone/>
        <a:defRPr sz="30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81722" rtl="0" eaLnBrk="1" latinLnBrk="0" hangingPunct="1">
        <a:spcBef>
          <a:spcPts val="0"/>
        </a:spcBef>
        <a:spcAft>
          <a:spcPts val="1511"/>
        </a:spcAft>
        <a:buSzPct val="100000"/>
        <a:buFont typeface="Arial" panose="020B0604020202020204" pitchFamily="34" charset="0"/>
        <a:buNone/>
        <a:defRPr sz="1813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381722" rtl="0" eaLnBrk="1" latinLnBrk="0" hangingPunct="1">
        <a:spcBef>
          <a:spcPts val="0"/>
        </a:spcBef>
        <a:spcAft>
          <a:spcPts val="1511"/>
        </a:spcAft>
        <a:buClrTx/>
        <a:buSzPct val="100000"/>
        <a:buFont typeface="Arial"/>
        <a:buNone/>
        <a:defRPr lang="en-US" sz="1813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66553" indent="-266553" algn="l" defTabSz="1381722" rtl="0" eaLnBrk="1" latinLnBrk="0" hangingPunct="1">
        <a:spcBef>
          <a:spcPts val="0"/>
        </a:spcBef>
        <a:spcAft>
          <a:spcPts val="1511"/>
        </a:spcAft>
        <a:buClrTx/>
        <a:buSzPct val="100000"/>
        <a:buFont typeface="Arial" panose="020B0604020202020204" pitchFamily="34" charset="0"/>
        <a:buChar char="•"/>
        <a:defRPr lang="en-US" sz="1813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8545" indent="-266553" algn="l" defTabSz="1381722" rtl="0" eaLnBrk="1" latinLnBrk="0" hangingPunct="1">
        <a:spcBef>
          <a:spcPts val="0"/>
        </a:spcBef>
        <a:spcAft>
          <a:spcPts val="1511"/>
        </a:spcAft>
        <a:buClrTx/>
        <a:buSzPct val="100000"/>
        <a:buFont typeface="Verdana" panose="020B0604030504040204" pitchFamily="34" charset="0"/>
        <a:buChar char="−"/>
        <a:defRPr lang="en-US" sz="1813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805098" indent="-266553" algn="l" defTabSz="1206609" rtl="0" eaLnBrk="1" latinLnBrk="0" hangingPunct="1">
        <a:spcBef>
          <a:spcPts val="0"/>
        </a:spcBef>
        <a:spcAft>
          <a:spcPts val="1511"/>
        </a:spcAft>
        <a:buClrTx/>
        <a:buSzPct val="100000"/>
        <a:buFont typeface="Verdana" panose="020B0604030504040204" pitchFamily="34" charset="0"/>
        <a:buChar char="−"/>
        <a:tabLst/>
        <a:defRPr lang="en-US" sz="1813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05098" indent="-266553" algn="l" defTabSz="1381722" rtl="0" eaLnBrk="1" latinLnBrk="0" hangingPunct="1">
        <a:spcBef>
          <a:spcPts val="0"/>
        </a:spcBef>
        <a:spcAft>
          <a:spcPts val="1511"/>
        </a:spcAft>
        <a:buFont typeface="Verdana" panose="020B0604030504040204" pitchFamily="34" charset="0"/>
        <a:buChar char="−"/>
        <a:defRPr sz="1813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805098" indent="-266553" algn="l" defTabSz="1381722" rtl="0" eaLnBrk="1" latinLnBrk="0" hangingPunct="1">
        <a:spcBef>
          <a:spcPts val="0"/>
        </a:spcBef>
        <a:spcAft>
          <a:spcPts val="1511"/>
        </a:spcAft>
        <a:buFont typeface="Verdana" panose="020B0604030504040204" pitchFamily="34" charset="0"/>
        <a:buChar char="−"/>
        <a:defRPr sz="1813" kern="1200">
          <a:solidFill>
            <a:schemeClr val="tx1"/>
          </a:solidFill>
          <a:latin typeface="+mn-lt"/>
          <a:ea typeface="+mn-ea"/>
          <a:cs typeface="+mn-cs"/>
        </a:defRPr>
      </a:lvl7pPr>
      <a:lvl8pPr marL="805098" indent="-266553" algn="l" defTabSz="1381722" rtl="0" eaLnBrk="1" latinLnBrk="0" hangingPunct="1">
        <a:spcBef>
          <a:spcPts val="0"/>
        </a:spcBef>
        <a:spcAft>
          <a:spcPts val="1511"/>
        </a:spcAft>
        <a:buFont typeface="Verdana" panose="020B0604030504040204" pitchFamily="34" charset="0"/>
        <a:buChar char="−"/>
        <a:defRPr sz="1813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805098" indent="-266553" algn="l" defTabSz="1381722" rtl="0" eaLnBrk="1" latinLnBrk="0" hangingPunct="1">
        <a:spcBef>
          <a:spcPts val="0"/>
        </a:spcBef>
        <a:spcAft>
          <a:spcPts val="1511"/>
        </a:spcAft>
        <a:buFont typeface="Verdana" panose="020B0604030504040204" pitchFamily="34" charset="0"/>
        <a:buChar char="−"/>
        <a:defRPr sz="1813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1pPr>
      <a:lvl2pPr marL="690861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381722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3pPr>
      <a:lvl4pPr marL="2072584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4pPr>
      <a:lvl5pPr marL="2763445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5pPr>
      <a:lvl6pPr marL="3454306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6pPr>
      <a:lvl7pPr marL="4145167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7pPr>
      <a:lvl8pPr marL="4836028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8pPr>
      <a:lvl9pPr marL="5526890" algn="l" defTabSz="1381722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56">
          <p15:clr>
            <a:srgbClr val="F26B43"/>
          </p15:clr>
        </p15:guide>
        <p15:guide id="2" pos="359">
          <p15:clr>
            <a:srgbClr val="F26B43"/>
          </p15:clr>
        </p15:guide>
        <p15:guide id="3" pos="8345">
          <p15:clr>
            <a:srgbClr val="F26B43"/>
          </p15:clr>
        </p15:guide>
        <p15:guide id="4" orient="horz" pos="227">
          <p15:clr>
            <a:srgbClr val="F26B43"/>
          </p15:clr>
        </p15:guide>
        <p15:guide id="5" orient="horz" pos="1189">
          <p15:clr>
            <a:srgbClr val="F26B43"/>
          </p15:clr>
        </p15:guide>
        <p15:guide id="6" orient="horz" pos="7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3.xml"/><Relationship Id="rId7" Type="http://schemas.openxmlformats.org/officeDocument/2006/relationships/image" Target="../media/image8.e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2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8.emf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image" Target="../media/image8.emf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Layout" Target="../slideLayouts/slideLayout14.xml"/><Relationship Id="rId7" Type="http://schemas.openxmlformats.org/officeDocument/2006/relationships/slide" Target="slide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2.bin"/><Relationship Id="rId10" Type="http://schemas.openxmlformats.org/officeDocument/2006/relationships/slide" Target="slide15.xml"/><Relationship Id="rId4" Type="http://schemas.openxmlformats.org/officeDocument/2006/relationships/notesSlide" Target="../notesSlides/notesSlide2.xml"/><Relationship Id="rId9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Layout" Target="../slideLayouts/slideLayout14.xml"/><Relationship Id="rId7" Type="http://schemas.openxmlformats.org/officeDocument/2006/relationships/slide" Target="slide1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Layout" Target="../slideLayouts/slideLayout14.xml"/><Relationship Id="rId7" Type="http://schemas.openxmlformats.org/officeDocument/2006/relationships/slide" Target="slide1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0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7" Type="http://schemas.openxmlformats.org/officeDocument/2006/relationships/slide" Target="slide5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8.bin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7" Type="http://schemas.openxmlformats.org/officeDocument/2006/relationships/slide" Target="slide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9.bin"/><Relationship Id="rId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7" Type="http://schemas.openxmlformats.org/officeDocument/2006/relationships/slide" Target="slide5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7" Type="http://schemas.openxmlformats.org/officeDocument/2006/relationships/slide" Target="slide5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1.bin"/><Relationship Id="rId4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5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5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4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5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5.bin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1800"/>
          <a:ext cx="1800" cy="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0" imgH="469" progId="TCLayout.ActiveDocument.1">
                  <p:embed/>
                </p:oleObj>
              </mc:Choice>
              <mc:Fallback>
                <p:oleObj name="think-cell Slide" r:id="rId6" imgW="470" imgH="469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00" y="1800"/>
                        <a:ext cx="1800" cy="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GB" sz="200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" name="NameDate"/>
          <p:cNvSpPr/>
          <p:nvPr>
            <p:custDataLst>
              <p:tags r:id="rId3"/>
            </p:custDataLst>
          </p:nvPr>
        </p:nvSpPr>
        <p:spPr bwMode="gray">
          <a:xfrm>
            <a:off x="588417" y="6909703"/>
            <a:ext cx="8438092" cy="33824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t" anchorCtr="0"/>
          <a:lstStyle/>
          <a:p>
            <a:pPr defTabSz="1036290">
              <a:lnSpc>
                <a:spcPct val="106000"/>
              </a:lnSpc>
              <a:buSzPct val="100000"/>
              <a:buFont typeface="Arial" panose="020B0604020202020204" pitchFamily="34" charset="0"/>
              <a:buChar char="​"/>
            </a:pPr>
            <a:r>
              <a:rPr lang="fr-FR" sz="1190" dirty="0"/>
              <a:t>Deloitte Touche Tohmatsu India LLP</a:t>
            </a:r>
            <a:endParaRPr lang="en-GB" sz="119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35663" y="5818578"/>
            <a:ext cx="11858451" cy="573064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Study on Impact of Quality Control Orders on Indian Steel Sector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35663" y="6510582"/>
            <a:ext cx="6340263" cy="3382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June 2020</a:t>
            </a:r>
          </a:p>
        </p:txBody>
      </p:sp>
      <p:sp>
        <p:nvSpPr>
          <p:cNvPr id="6" name="AutoShape 169" descr="Image result for BMW logo"/>
          <p:cNvSpPr>
            <a:spLocks noChangeAspect="1" noChangeArrowheads="1"/>
          </p:cNvSpPr>
          <p:nvPr/>
        </p:nvSpPr>
        <p:spPr bwMode="auto">
          <a:xfrm>
            <a:off x="3610095" y="1630502"/>
            <a:ext cx="345440" cy="34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32" tIns="51816" rIns="103632" bIns="51816" numCol="1" anchor="t" anchorCtr="0" compatLnSpc="1">
            <a:prstTxWarp prst="textNoShape">
              <a:avLst/>
            </a:prstTxWarp>
          </a:bodyPr>
          <a:lstStyle/>
          <a:p>
            <a:endParaRPr lang="en-IN" sz="2273"/>
          </a:p>
        </p:txBody>
      </p:sp>
      <p:sp>
        <p:nvSpPr>
          <p:cNvPr id="2" name="Rectangle 1"/>
          <p:cNvSpPr/>
          <p:nvPr/>
        </p:nvSpPr>
        <p:spPr>
          <a:xfrm>
            <a:off x="11870833" y="460257"/>
            <a:ext cx="1117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MECON</a:t>
            </a:r>
            <a:endParaRPr lang="en-IN" sz="18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7596" y="1250624"/>
            <a:ext cx="5094396" cy="44490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101" y="384889"/>
            <a:ext cx="2066925" cy="704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gray">
          <a:xfrm>
            <a:off x="10815182" y="148988"/>
            <a:ext cx="2543810" cy="991870"/>
          </a:xfrm>
          <a:prstGeom prst="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rot="0" spcFirstLastPara="0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8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490609" y="2167038"/>
            <a:ext cx="4549681" cy="2792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1800"/>
          <a:ext cx="1800" cy="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0" y="1800"/>
                        <a:ext cx="1800" cy="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GB" sz="22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68538" y="359835"/>
            <a:ext cx="12680527" cy="417406"/>
          </a:xfrm>
        </p:spPr>
        <p:txBody>
          <a:bodyPr/>
          <a:lstStyle/>
          <a:p>
            <a:r>
              <a:rPr lang="en-US" sz="2200" i="0" dirty="0">
                <a:solidFill>
                  <a:schemeClr val="tx1"/>
                </a:solidFill>
              </a:rPr>
              <a:t>Introduction</a:t>
            </a:r>
            <a:endParaRPr lang="en-GB" sz="2200" i="0" dirty="0">
              <a:solidFill>
                <a:schemeClr val="tx1"/>
              </a:solidFill>
            </a:endParaRP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568537" y="738481"/>
            <a:ext cx="12922844" cy="858222"/>
          </a:xfrm>
          <a:prstGeom prst="rect">
            <a:avLst/>
          </a:prstGeom>
        </p:spPr>
        <p:txBody>
          <a:bodyPr/>
          <a:lstStyle/>
          <a:p>
            <a:r>
              <a:rPr lang="en-US" sz="1800" dirty="0"/>
              <a:t>Quality Control Orders in Steel were introduced by Ministry of Steel from 2008 onwards with the objective of </a:t>
            </a:r>
            <a:r>
              <a:rPr lang="en-US" sz="1800" b="1" dirty="0"/>
              <a:t>bringing standardization and improve quality products in the Indian steel market</a:t>
            </a:r>
            <a:endParaRPr lang="en-US" sz="1800" b="1" dirty="0">
              <a:solidFill>
                <a:schemeClr val="bg2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gray">
          <a:xfrm>
            <a:off x="1401764" y="1975349"/>
            <a:ext cx="2727370" cy="439221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400" b="1" dirty="0">
                <a:solidFill>
                  <a:sysClr val="windowText" lastClr="000000"/>
                </a:solidFill>
              </a:rPr>
              <a:t>Key Objectives of QCO</a:t>
            </a:r>
            <a:endParaRPr lang="en-IN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8537" y="2414570"/>
            <a:ext cx="4471753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13131"/>
                </a:solidFill>
              </a:rPr>
              <a:t>Product standardization </a:t>
            </a:r>
          </a:p>
          <a:p>
            <a:pPr marL="342900" indent="-3429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13131"/>
                </a:solidFill>
              </a:rPr>
              <a:t>Quality assurance </a:t>
            </a:r>
          </a:p>
          <a:p>
            <a:pPr marL="342900" indent="-3429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13131"/>
                </a:solidFill>
              </a:rPr>
              <a:t>Public safety</a:t>
            </a:r>
            <a:endParaRPr lang="en-IN" sz="1400" dirty="0">
              <a:solidFill>
                <a:srgbClr val="31313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9134" y="1989940"/>
            <a:ext cx="9798430" cy="2821020"/>
          </a:xfrm>
          <a:prstGeom prst="rect">
            <a:avLst/>
          </a:prstGeom>
        </p:spPr>
      </p:pic>
      <p:cxnSp>
        <p:nvCxnSpPr>
          <p:cNvPr id="97" name="Straight Connector 96"/>
          <p:cNvCxnSpPr/>
          <p:nvPr/>
        </p:nvCxnSpPr>
        <p:spPr>
          <a:xfrm>
            <a:off x="7062333" y="1636396"/>
            <a:ext cx="4549681" cy="2792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 bwMode="gray">
          <a:xfrm>
            <a:off x="7988586" y="1444707"/>
            <a:ext cx="2712271" cy="448286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400" b="1" dirty="0">
                <a:solidFill>
                  <a:sysClr val="windowText" lastClr="000000"/>
                </a:solidFill>
              </a:rPr>
              <a:t>Timeline of Orders </a:t>
            </a:r>
            <a:endParaRPr lang="en-IN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/>
          <p:cNvSpPr/>
          <p:nvPr/>
        </p:nvSpPr>
        <p:spPr bwMode="gray">
          <a:xfrm>
            <a:off x="324091" y="5694744"/>
            <a:ext cx="2395960" cy="952799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600" b="1" dirty="0">
                <a:solidFill>
                  <a:schemeClr val="bg1"/>
                </a:solidFill>
              </a:rPr>
              <a:t>Objectives of the assignment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11" name="Rectangle 110"/>
          <p:cNvSpPr/>
          <p:nvPr/>
        </p:nvSpPr>
        <p:spPr bwMode="gray">
          <a:xfrm>
            <a:off x="2745815" y="5694744"/>
            <a:ext cx="10771330" cy="952799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numCol="2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Genesis and coverage of the QCO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Effectiveness of QCO in ensuring quality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Impact of QCO on MSME sector and in Make India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Challenges faced by steel clusters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Extent of coverage of QCO in imported steel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ysClr val="windowText" lastClr="000000"/>
                </a:solidFill>
              </a:rPr>
              <a:t>Market sentiments vis-a-vis QCO 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ysClr val="windowText" lastClr="000000"/>
              </a:solidFill>
            </a:endParaRPr>
          </a:p>
          <a:p>
            <a:pPr>
              <a:lnSpc>
                <a:spcPct val="106000"/>
              </a:lnSpc>
              <a:buFont typeface="Wingdings 2" pitchFamily="18" charset="2"/>
              <a:buNone/>
            </a:pPr>
            <a:endParaRPr lang="en-IN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/>
          <p:cNvSpPr/>
          <p:nvPr/>
        </p:nvSpPr>
        <p:spPr bwMode="gray">
          <a:xfrm>
            <a:off x="312516" y="3467024"/>
            <a:ext cx="1480182" cy="142750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6000" b="1" dirty="0">
                <a:solidFill>
                  <a:schemeClr val="accent5"/>
                </a:solidFill>
              </a:rPr>
              <a:t>97</a:t>
            </a:r>
            <a:endParaRPr lang="en-IN" sz="6000" b="1" dirty="0">
              <a:solidFill>
                <a:schemeClr val="accent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92698" y="3869505"/>
            <a:ext cx="1864902" cy="617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dirty="0">
                <a:solidFill>
                  <a:schemeClr val="accent4"/>
                </a:solidFill>
              </a:rPr>
              <a:t>Products covered 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736" y="4830913"/>
            <a:ext cx="446855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13131"/>
                </a:solidFill>
              </a:rPr>
              <a:t>66 Steel/ Stainless Steel Product Standards (till Dec 19)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13131"/>
                </a:solidFill>
              </a:rPr>
              <a:t>1 standards on Transformer Lamination &amp; Stamping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13131"/>
                </a:solidFill>
              </a:rPr>
              <a:t>5 standards on Mild Steel Pipes and Tubes (DIPP)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13131"/>
                </a:solidFill>
              </a:rPr>
              <a:t>Feb 2020 Order – 25 new product standards added </a:t>
            </a:r>
            <a:endParaRPr lang="en-IN" sz="10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35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1800"/>
          <a:ext cx="1800" cy="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0" imgH="469" progId="TCLayout.ActiveDocument.1">
                  <p:embed/>
                </p:oleObj>
              </mc:Choice>
              <mc:Fallback>
                <p:oleObj name="think-cell Slide" r:id="rId14" imgW="470" imgH="469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00" y="1800"/>
                        <a:ext cx="1800" cy="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22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060700" y="1614488"/>
            <a:ext cx="2325688" cy="2159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Key Products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676900" y="1506537"/>
            <a:ext cx="2078038" cy="431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FY 19 Production              (5 Yr. CAGR)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1718926" y="1506537"/>
            <a:ext cx="1914525" cy="431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Product Standards covered in QCO</a:t>
            </a:r>
            <a:r>
              <a:rPr lang="en-US" sz="1400" b="1" baseline="30000" dirty="0">
                <a:solidFill>
                  <a:schemeClr val="accent5"/>
                </a:solidFill>
              </a:rPr>
              <a:t>#</a:t>
            </a:r>
            <a:r>
              <a:rPr lang="en-US" sz="1400" b="1" dirty="0">
                <a:solidFill>
                  <a:schemeClr val="accent5"/>
                </a:solidFill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6505" y="7053145"/>
            <a:ext cx="8456613" cy="153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* Separately brought out by BIS for Ductile Iron Pressure Pipes (1), Fittings (1) and Mild Steel Tubes (3), under DIPP</a:t>
            </a:r>
            <a:endParaRPr lang="en-IN" sz="1000" dirty="0">
              <a:solidFill>
                <a:srgbClr val="31313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467850" y="1506538"/>
            <a:ext cx="2227263" cy="431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Secondary Steel Producer Share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5" name="Oval 4"/>
          <p:cNvSpPr/>
          <p:nvPr>
            <p:custDataLst>
              <p:tags r:id="rId3"/>
            </p:custDataLst>
          </p:nvPr>
        </p:nvSpPr>
        <p:spPr bwMode="auto">
          <a:xfrm>
            <a:off x="10393363" y="2365375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1" name="Arc 10"/>
          <p:cNvSpPr/>
          <p:nvPr>
            <p:custDataLst>
              <p:tags r:id="rId4"/>
            </p:custDataLst>
          </p:nvPr>
        </p:nvSpPr>
        <p:spPr bwMode="gray">
          <a:xfrm>
            <a:off x="10393363" y="2365375"/>
            <a:ext cx="419100" cy="419100"/>
          </a:xfrm>
          <a:prstGeom prst="arc">
            <a:avLst>
              <a:gd name="adj1" fmla="val 16200000"/>
              <a:gd name="adj2" fmla="val 81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/>
          <p:cNvSpPr/>
          <p:nvPr>
            <p:custDataLst>
              <p:tags r:id="rId5"/>
            </p:custDataLst>
          </p:nvPr>
        </p:nvSpPr>
        <p:spPr bwMode="auto">
          <a:xfrm>
            <a:off x="10393363" y="3174701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98" name="Arc 97"/>
          <p:cNvSpPr/>
          <p:nvPr>
            <p:custDataLst>
              <p:tags r:id="rId6"/>
            </p:custDataLst>
          </p:nvPr>
        </p:nvSpPr>
        <p:spPr bwMode="gray">
          <a:xfrm>
            <a:off x="10393363" y="3174701"/>
            <a:ext cx="419100" cy="419100"/>
          </a:xfrm>
          <a:prstGeom prst="arc">
            <a:avLst>
              <a:gd name="adj1" fmla="val 16200000"/>
              <a:gd name="adj2" fmla="val 81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Oval 98"/>
          <p:cNvSpPr/>
          <p:nvPr>
            <p:custDataLst>
              <p:tags r:id="rId7"/>
            </p:custDataLst>
          </p:nvPr>
        </p:nvSpPr>
        <p:spPr bwMode="auto">
          <a:xfrm>
            <a:off x="10383701" y="4093329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9" name="Arc 8"/>
          <p:cNvSpPr/>
          <p:nvPr>
            <p:custDataLst>
              <p:tags r:id="rId8"/>
            </p:custDataLst>
          </p:nvPr>
        </p:nvSpPr>
        <p:spPr bwMode="gray">
          <a:xfrm>
            <a:off x="10383701" y="4093329"/>
            <a:ext cx="419100" cy="4191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/>
          <p:cNvSpPr/>
          <p:nvPr>
            <p:custDataLst>
              <p:tags r:id="rId9"/>
            </p:custDataLst>
          </p:nvPr>
        </p:nvSpPr>
        <p:spPr bwMode="auto">
          <a:xfrm>
            <a:off x="10383701" y="4980741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2" name="Arc 11"/>
          <p:cNvSpPr/>
          <p:nvPr>
            <p:custDataLst>
              <p:tags r:id="rId10"/>
            </p:custDataLst>
          </p:nvPr>
        </p:nvSpPr>
        <p:spPr bwMode="gray">
          <a:xfrm>
            <a:off x="10383701" y="4980741"/>
            <a:ext cx="419100" cy="419100"/>
          </a:xfrm>
          <a:prstGeom prst="arc">
            <a:avLst>
              <a:gd name="adj1" fmla="val 16200000"/>
              <a:gd name="adj2" fmla="val 189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/>
          <p:cNvSpPr/>
          <p:nvPr>
            <p:custDataLst>
              <p:tags r:id="rId11"/>
            </p:custDataLst>
          </p:nvPr>
        </p:nvSpPr>
        <p:spPr bwMode="auto">
          <a:xfrm>
            <a:off x="10383701" y="6138029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" name="Arc 5"/>
          <p:cNvSpPr/>
          <p:nvPr>
            <p:custDataLst>
              <p:tags r:id="rId12"/>
            </p:custDataLst>
          </p:nvPr>
        </p:nvSpPr>
        <p:spPr bwMode="gray">
          <a:xfrm>
            <a:off x="10383701" y="6138029"/>
            <a:ext cx="419100" cy="4191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>
            <a:off x="726505" y="7522332"/>
            <a:ext cx="84571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# Product standards introduced in Feb 2020 are not yet implemented hence kept out of the scope here</a:t>
            </a:r>
            <a:endParaRPr lang="en-IN" sz="1000" dirty="0">
              <a:solidFill>
                <a:srgbClr val="31313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45400" y="1506537"/>
            <a:ext cx="2078038" cy="431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FY 19 Imports         (5 Yr. CAGR)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27075" y="2217738"/>
            <a:ext cx="12585700" cy="785167"/>
            <a:chOff x="699794" y="1771651"/>
            <a:chExt cx="12586370" cy="78516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21819" y="1990725"/>
              <a:ext cx="1703044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Steel Structural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84972" y="2009775"/>
              <a:ext cx="1673689" cy="2397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10  MT   (4.7%)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3034029" y="1880543"/>
              <a:ext cx="2474981" cy="6762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Steel used for construction structures, Carbon steel cast billets, ingots for re-rolling into structural steel etc.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914564" y="1911350"/>
              <a:ext cx="1371600" cy="434975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6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 bwMode="gray">
            <a:xfrm>
              <a:off x="699794" y="1771651"/>
              <a:ext cx="718395" cy="714375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1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753195" y="2009775"/>
              <a:ext cx="1877221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0.1 MT  (14%)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27075" y="3131838"/>
            <a:ext cx="12585700" cy="714375"/>
            <a:chOff x="699794" y="2703315"/>
            <a:chExt cx="12586370" cy="71462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36057" y="2830513"/>
              <a:ext cx="1873348" cy="46196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Bars &amp; Rods </a:t>
              </a:r>
            </a:p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(Non-Alloy)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034029" y="2892425"/>
              <a:ext cx="2474981" cy="3381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Steel bars and wires for concrete reinforcements, forgings  etc.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914564" y="2844800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21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3" name="Oval 72"/>
            <p:cNvSpPr/>
            <p:nvPr/>
          </p:nvSpPr>
          <p:spPr bwMode="gray">
            <a:xfrm>
              <a:off x="699794" y="2703315"/>
              <a:ext cx="718395" cy="714624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2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801254" y="2941638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38  MT   (4.8%)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769477" y="2941638"/>
              <a:ext cx="1926622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0.35 MT  </a:t>
              </a:r>
              <a:r>
                <a:rPr lang="en-US" sz="1400" b="1" dirty="0">
                  <a:solidFill>
                    <a:srgbClr val="FF0000"/>
                  </a:solidFill>
                </a:rPr>
                <a:t>(-20%)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17413" y="4953754"/>
            <a:ext cx="12585700" cy="714375"/>
            <a:chOff x="699794" y="4764089"/>
            <a:chExt cx="12586370" cy="714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45465" y="4981575"/>
              <a:ext cx="1421549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Hot Rolled 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094289" y="5041959"/>
              <a:ext cx="2474981" cy="3381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Hot Rolled Coils , Sheets, Plates etc.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914564" y="4903788"/>
              <a:ext cx="1371600" cy="434975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9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 bwMode="gray">
            <a:xfrm>
              <a:off x="699794" y="4764089"/>
              <a:ext cx="718395" cy="714375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4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801254" y="50022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40 MT  (8 %)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769477" y="50022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2 MT  </a:t>
              </a:r>
              <a:r>
                <a:rPr lang="en-US" sz="1400" b="1" dirty="0">
                  <a:solidFill>
                    <a:srgbClr val="FF0000"/>
                  </a:solidFill>
                </a:rPr>
                <a:t>(-2%)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17413" y="5990391"/>
            <a:ext cx="12585700" cy="714375"/>
            <a:chOff x="699794" y="5919448"/>
            <a:chExt cx="12586370" cy="714624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37271" y="6138863"/>
              <a:ext cx="1163204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Cold Rolled 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081701" y="6108700"/>
              <a:ext cx="2474981" cy="3381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Cold Rolled Coils , Sheets, Plates etc.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914564" y="6061075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3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Oval 75"/>
            <p:cNvSpPr/>
            <p:nvPr/>
          </p:nvSpPr>
          <p:spPr bwMode="gray">
            <a:xfrm>
              <a:off x="699794" y="5919448"/>
              <a:ext cx="718395" cy="714624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5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801253" y="61579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15 MT  (6.6 %)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69476" y="6157913"/>
              <a:ext cx="1860940" cy="2397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0.6 MT  </a:t>
              </a:r>
              <a:r>
                <a:rPr lang="en-US" sz="1400" b="1" dirty="0">
                  <a:solidFill>
                    <a:srgbClr val="FF0000"/>
                  </a:solidFill>
                </a:rPr>
                <a:t>(-24 %)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7" name="Title 3"/>
          <p:cNvSpPr>
            <a:spLocks noGrp="1"/>
          </p:cNvSpPr>
          <p:nvPr>
            <p:ph type="title"/>
          </p:nvPr>
        </p:nvSpPr>
        <p:spPr>
          <a:xfrm>
            <a:off x="568538" y="359835"/>
            <a:ext cx="12680527" cy="417406"/>
          </a:xfrm>
        </p:spPr>
        <p:txBody>
          <a:bodyPr/>
          <a:lstStyle/>
          <a:p>
            <a:r>
              <a:rPr lang="en-US" sz="2200" i="0" dirty="0">
                <a:solidFill>
                  <a:schemeClr val="tx1"/>
                </a:solidFill>
              </a:rPr>
              <a:t>Steel &amp; Steel Products Coverage (1/2)</a:t>
            </a:r>
            <a:endParaRPr lang="en-GB" sz="2200" i="0" dirty="0">
              <a:solidFill>
                <a:schemeClr val="tx1"/>
              </a:solidFill>
            </a:endParaRPr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568537" y="738481"/>
            <a:ext cx="12922844" cy="8582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6000"/>
              </a:lnSpc>
            </a:pPr>
            <a:r>
              <a:rPr lang="en-US" sz="1800" dirty="0"/>
              <a:t>More than 71 Product standards already brought under coverage within QCO across different steel product segments</a:t>
            </a:r>
            <a:endParaRPr lang="en-IN" sz="1800" dirty="0"/>
          </a:p>
        </p:txBody>
      </p:sp>
      <p:grpSp>
        <p:nvGrpSpPr>
          <p:cNvPr id="84" name="Group 83"/>
          <p:cNvGrpSpPr/>
          <p:nvPr/>
        </p:nvGrpSpPr>
        <p:grpSpPr>
          <a:xfrm>
            <a:off x="716843" y="3946750"/>
            <a:ext cx="12551735" cy="714624"/>
            <a:chOff x="697330" y="1906659"/>
            <a:chExt cx="12551735" cy="71462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21820" y="2125663"/>
              <a:ext cx="1703044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Galvanized Steel 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431595" y="2079625"/>
              <a:ext cx="192819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Galvanized Plain/ Corrugated sheets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1877465" y="2047875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4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89" name="Oval 88"/>
            <p:cNvSpPr/>
            <p:nvPr/>
          </p:nvSpPr>
          <p:spPr bwMode="gray">
            <a:xfrm>
              <a:off x="697330" y="1906659"/>
              <a:ext cx="718395" cy="714624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3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795677" y="2144713"/>
              <a:ext cx="1673689" cy="2397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9.5 MT  (6.5%)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994884" y="21447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1.2 MT  (29%)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896978" y="6981528"/>
            <a:ext cx="13517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MT = Million </a:t>
            </a:r>
            <a:r>
              <a:rPr lang="en-US" sz="1000" dirty="0" err="1">
                <a:solidFill>
                  <a:srgbClr val="313131"/>
                </a:solidFill>
              </a:rPr>
              <a:t>Tonnes</a:t>
            </a:r>
            <a:endParaRPr lang="en-IN" sz="10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36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1800"/>
          <a:ext cx="1800" cy="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0" imgH="469" progId="TCLayout.ActiveDocument.1">
                  <p:embed/>
                </p:oleObj>
              </mc:Choice>
              <mc:Fallback>
                <p:oleObj name="think-cell Slide" r:id="rId14" imgW="470" imgH="469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00" y="1800"/>
                        <a:ext cx="1800" cy="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22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034030" y="1414242"/>
            <a:ext cx="23257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Key Products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691731" y="1306521"/>
            <a:ext cx="1914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Product Standards covered in QCO</a:t>
            </a:r>
            <a:r>
              <a:rPr lang="en-US" sz="1400" b="1" baseline="30000" dirty="0">
                <a:solidFill>
                  <a:schemeClr val="accent5"/>
                </a:solidFill>
              </a:rPr>
              <a:t>#</a:t>
            </a:r>
            <a:r>
              <a:rPr lang="en-US" sz="1400" b="1" dirty="0">
                <a:solidFill>
                  <a:schemeClr val="accent5"/>
                </a:solidFill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66276" y="1306064"/>
            <a:ext cx="2227263" cy="431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Secondary Steel Producers Share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50" name="Oval 49"/>
          <p:cNvSpPr/>
          <p:nvPr>
            <p:custDataLst>
              <p:tags r:id="rId3"/>
            </p:custDataLst>
          </p:nvPr>
        </p:nvSpPr>
        <p:spPr bwMode="auto">
          <a:xfrm>
            <a:off x="10458450" y="2212975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1" name="Arc 50"/>
          <p:cNvSpPr/>
          <p:nvPr>
            <p:custDataLst>
              <p:tags r:id="rId4"/>
            </p:custDataLst>
          </p:nvPr>
        </p:nvSpPr>
        <p:spPr bwMode="gray">
          <a:xfrm>
            <a:off x="10458450" y="2212975"/>
            <a:ext cx="419100" cy="419100"/>
          </a:xfrm>
          <a:prstGeom prst="arc">
            <a:avLst>
              <a:gd name="adj1" fmla="val 16200000"/>
              <a:gd name="adj2" fmla="val 108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/>
          <p:cNvSpPr/>
          <p:nvPr>
            <p:custDataLst>
              <p:tags r:id="rId5"/>
            </p:custDataLst>
          </p:nvPr>
        </p:nvSpPr>
        <p:spPr bwMode="auto">
          <a:xfrm>
            <a:off x="10458450" y="3135313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" name="Arc 4"/>
          <p:cNvSpPr/>
          <p:nvPr>
            <p:custDataLst>
              <p:tags r:id="rId6"/>
            </p:custDataLst>
          </p:nvPr>
        </p:nvSpPr>
        <p:spPr bwMode="gray">
          <a:xfrm>
            <a:off x="10458450" y="3135313"/>
            <a:ext cx="419100" cy="419100"/>
          </a:xfrm>
          <a:prstGeom prst="arc">
            <a:avLst>
              <a:gd name="adj1" fmla="val 16200000"/>
              <a:gd name="adj2" fmla="val 189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/>
          <p:cNvSpPr/>
          <p:nvPr>
            <p:custDataLst>
              <p:tags r:id="rId7"/>
            </p:custDataLst>
          </p:nvPr>
        </p:nvSpPr>
        <p:spPr bwMode="auto">
          <a:xfrm>
            <a:off x="10458450" y="4248150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" name="Arc 5"/>
          <p:cNvSpPr/>
          <p:nvPr>
            <p:custDataLst>
              <p:tags r:id="rId8"/>
            </p:custDataLst>
          </p:nvPr>
        </p:nvSpPr>
        <p:spPr bwMode="gray">
          <a:xfrm>
            <a:off x="10458450" y="4248150"/>
            <a:ext cx="419100" cy="419100"/>
          </a:xfrm>
          <a:prstGeom prst="arc">
            <a:avLst>
              <a:gd name="adj1" fmla="val 16200000"/>
              <a:gd name="adj2" fmla="val 189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/>
          <p:cNvSpPr/>
          <p:nvPr>
            <p:custDataLst>
              <p:tags r:id="rId9"/>
            </p:custDataLst>
          </p:nvPr>
        </p:nvSpPr>
        <p:spPr bwMode="auto">
          <a:xfrm>
            <a:off x="10458450" y="5400675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4" name="Arc 13"/>
          <p:cNvSpPr/>
          <p:nvPr>
            <p:custDataLst>
              <p:tags r:id="rId10"/>
            </p:custDataLst>
          </p:nvPr>
        </p:nvSpPr>
        <p:spPr bwMode="gray">
          <a:xfrm>
            <a:off x="10458450" y="5400675"/>
            <a:ext cx="419100" cy="4191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568538" y="7144424"/>
            <a:ext cx="84571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# Product standards introduced in Feb 2020 are not yet implemented hence kept out of the scope here</a:t>
            </a:r>
            <a:endParaRPr lang="en-IN" sz="1000" dirty="0">
              <a:solidFill>
                <a:srgbClr val="31313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50599" y="1306521"/>
            <a:ext cx="207727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FY 19 Production              (5 Yr. CAGR)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49806" y="1306521"/>
            <a:ext cx="207727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b="1" dirty="0">
                <a:solidFill>
                  <a:schemeClr val="accent5"/>
                </a:solidFill>
              </a:rPr>
              <a:t>FY 19 Imports         (5 Yr. CAGR)</a:t>
            </a:r>
            <a:endParaRPr lang="en-IN" sz="1400" b="1" dirty="0">
              <a:solidFill>
                <a:schemeClr val="accent5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63575" y="3119438"/>
            <a:ext cx="12552363" cy="715963"/>
            <a:chOff x="697330" y="2829233"/>
            <a:chExt cx="12551735" cy="71462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36056" y="3048000"/>
              <a:ext cx="1873348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Plates 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453148" y="2909439"/>
              <a:ext cx="1928191" cy="506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Steel Plates for Pressure Vessels, Chequered sheets etc.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1877465" y="2968625"/>
              <a:ext cx="1371600" cy="434975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4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4" name="Oval 73"/>
            <p:cNvSpPr/>
            <p:nvPr/>
          </p:nvSpPr>
          <p:spPr bwMode="gray">
            <a:xfrm>
              <a:off x="697330" y="2829233"/>
              <a:ext cx="718395" cy="714624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7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11959" y="3067050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6 MT  (7.2 %)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094024" y="3067050"/>
              <a:ext cx="1811506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0.6 MT  </a:t>
              </a:r>
              <a:r>
                <a:rPr lang="en-US" sz="1400" b="1" dirty="0">
                  <a:solidFill>
                    <a:srgbClr val="FF0000"/>
                  </a:solidFill>
                </a:rPr>
                <a:t>(-10 %)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63575" y="4175125"/>
            <a:ext cx="12552363" cy="727076"/>
            <a:chOff x="697330" y="3930650"/>
            <a:chExt cx="12551735" cy="727076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52403" y="4162425"/>
              <a:ext cx="1961877" cy="27622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Electrical Sheets</a:t>
              </a:r>
            </a:p>
          </p:txBody>
        </p:sp>
        <p:grpSp>
          <p:nvGrpSpPr>
            <p:cNvPr id="91" name="Group 662"/>
            <p:cNvGrpSpPr>
              <a:grpSpLocks noChangeAspect="1"/>
            </p:cNvGrpSpPr>
            <p:nvPr/>
          </p:nvGrpSpPr>
          <p:grpSpPr bwMode="auto">
            <a:xfrm>
              <a:off x="946790" y="4287838"/>
              <a:ext cx="208273" cy="25400"/>
              <a:chOff x="2439" y="2559"/>
              <a:chExt cx="135" cy="15"/>
            </a:xfrm>
            <a:solidFill>
              <a:schemeClr val="accent2"/>
            </a:solidFill>
          </p:grpSpPr>
          <p:sp>
            <p:nvSpPr>
              <p:cNvPr id="93" name="Oval 663"/>
              <p:cNvSpPr>
                <a:spLocks noChangeArrowheads="1"/>
              </p:cNvSpPr>
              <p:nvPr/>
            </p:nvSpPr>
            <p:spPr bwMode="auto">
              <a:xfrm>
                <a:off x="2559" y="2559"/>
                <a:ext cx="15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" name="Oval 665"/>
              <p:cNvSpPr>
                <a:spLocks noChangeArrowheads="1"/>
              </p:cNvSpPr>
              <p:nvPr/>
            </p:nvSpPr>
            <p:spPr bwMode="auto">
              <a:xfrm>
                <a:off x="2439" y="2559"/>
                <a:ext cx="14" cy="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>
              <a:off x="3336757" y="3930650"/>
              <a:ext cx="2023029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Cold rolled Non-oriented/ Grain-oriented  electrical sheets (CRGO/ CRNO), Magnetic materials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877465" y="4083050"/>
              <a:ext cx="1371600" cy="434975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4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Oval 75"/>
            <p:cNvSpPr/>
            <p:nvPr/>
          </p:nvSpPr>
          <p:spPr bwMode="gray">
            <a:xfrm>
              <a:off x="697330" y="3943351"/>
              <a:ext cx="718395" cy="714375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8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95676" y="4181475"/>
              <a:ext cx="1873015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0.3 MT  (18.9 %)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94883" y="4181475"/>
              <a:ext cx="1873015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0.7 MT  (14 %)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63575" y="5253038"/>
            <a:ext cx="12552363" cy="715963"/>
            <a:chOff x="697330" y="5094288"/>
            <a:chExt cx="12551735" cy="715963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45464" y="5221288"/>
              <a:ext cx="1637207" cy="276999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Alloy Steel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423332" y="5283589"/>
              <a:ext cx="192819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Al/ Zn alloy coated steel sheets, strips etc. 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877465" y="5235575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10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Oval 78"/>
            <p:cNvSpPr/>
            <p:nvPr/>
          </p:nvSpPr>
          <p:spPr bwMode="gray">
            <a:xfrm>
              <a:off x="697330" y="5094288"/>
              <a:ext cx="718395" cy="715963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9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11959" y="53324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7 MT  (7.4 %)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011166" y="53324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1.4 MT  </a:t>
              </a:r>
              <a:r>
                <a:rPr lang="en-US" sz="1400" b="1" dirty="0">
                  <a:solidFill>
                    <a:srgbClr val="FF0000"/>
                  </a:solidFill>
                </a:rPr>
                <a:t>(-7 %)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4" name="Title 3"/>
          <p:cNvSpPr>
            <a:spLocks noGrp="1"/>
          </p:cNvSpPr>
          <p:nvPr>
            <p:ph type="title"/>
          </p:nvPr>
        </p:nvSpPr>
        <p:spPr>
          <a:xfrm>
            <a:off x="568538" y="359835"/>
            <a:ext cx="12680527" cy="417406"/>
          </a:xfrm>
        </p:spPr>
        <p:txBody>
          <a:bodyPr/>
          <a:lstStyle/>
          <a:p>
            <a:r>
              <a:rPr lang="en-US" sz="2200" i="0" dirty="0">
                <a:solidFill>
                  <a:schemeClr val="tx1"/>
                </a:solidFill>
              </a:rPr>
              <a:t>Steel &amp; Steel Products Coverage (2/2)</a:t>
            </a:r>
            <a:endParaRPr lang="en-GB" sz="2200" i="0" dirty="0">
              <a:solidFill>
                <a:schemeClr val="tx1"/>
              </a:solidFill>
            </a:endParaRPr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568537" y="738481"/>
            <a:ext cx="12922844" cy="8582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6000"/>
              </a:lnSpc>
            </a:pPr>
            <a:r>
              <a:rPr lang="en-US" sz="1800" dirty="0"/>
              <a:t>More than 70 Product standards already brought under coverage within QCO across different steel product segments</a:t>
            </a:r>
            <a:endParaRPr lang="en-IN" sz="1800" dirty="0"/>
          </a:p>
        </p:txBody>
      </p:sp>
      <p:grpSp>
        <p:nvGrpSpPr>
          <p:cNvPr id="86" name="Group 85"/>
          <p:cNvGrpSpPr/>
          <p:nvPr/>
        </p:nvGrpSpPr>
        <p:grpSpPr>
          <a:xfrm>
            <a:off x="663575" y="2090738"/>
            <a:ext cx="12585700" cy="715963"/>
            <a:chOff x="699794" y="3617668"/>
            <a:chExt cx="12586370" cy="71462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52403" y="3836988"/>
              <a:ext cx="1961877" cy="2778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Pipes &amp; Tubes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096355" y="3806825"/>
              <a:ext cx="2474981" cy="3381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Tubes of Mild Steel, Ductile Iron Pressure Pipes 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914564" y="3759200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5</a:t>
              </a:r>
              <a:r>
                <a:rPr lang="en-US" sz="1800" b="1" baseline="30000" dirty="0">
                  <a:solidFill>
                    <a:schemeClr val="bg1"/>
                  </a:solidFill>
                </a:rPr>
                <a:t>*</a:t>
              </a:r>
              <a:endParaRPr lang="en-IN" sz="1800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95" name="Oval 94"/>
            <p:cNvSpPr/>
            <p:nvPr/>
          </p:nvSpPr>
          <p:spPr bwMode="gray">
            <a:xfrm>
              <a:off x="699794" y="3617668"/>
              <a:ext cx="718395" cy="714624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6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784971" y="3856038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2.2 MT  (2.2 %)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097448" y="3837610"/>
              <a:ext cx="1673689" cy="2397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0.3 MT  (26 %)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663575" y="6318420"/>
            <a:ext cx="12552363" cy="715963"/>
            <a:chOff x="697330" y="5094288"/>
            <a:chExt cx="12551735" cy="715963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DC88094-F0A9-C945-A810-C03B3F58FC9C}"/>
                </a:ext>
              </a:extLst>
            </p:cNvPr>
            <p:cNvSpPr txBox="1"/>
            <p:nvPr/>
          </p:nvSpPr>
          <p:spPr>
            <a:xfrm>
              <a:off x="1545464" y="5221288"/>
              <a:ext cx="1637207" cy="276999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r>
                <a:rPr lang="en-US" sz="1200" b="1" dirty="0"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Stainless  Steel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423332" y="5266809"/>
              <a:ext cx="192819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100" i="1" dirty="0">
                  <a:solidFill>
                    <a:srgbClr val="313131"/>
                  </a:solidFill>
                </a:rPr>
                <a:t>Stainless Steel utensils</a:t>
              </a:r>
              <a:endParaRPr lang="en-IN" sz="1100" i="1" dirty="0">
                <a:solidFill>
                  <a:srgbClr val="31313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877465" y="5235575"/>
              <a:ext cx="1371600" cy="433388"/>
            </a:xfrm>
            <a:prstGeom prst="ellipse">
              <a:avLst/>
            </a:prstGeom>
            <a:solidFill>
              <a:srgbClr val="0076A8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b="1" dirty="0">
                  <a:solidFill>
                    <a:schemeClr val="bg1"/>
                  </a:solidFill>
                </a:rPr>
                <a:t>5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03" name="Oval 102"/>
            <p:cNvSpPr/>
            <p:nvPr/>
          </p:nvSpPr>
          <p:spPr bwMode="gray">
            <a:xfrm>
              <a:off x="697330" y="5094288"/>
              <a:ext cx="718395" cy="715963"/>
            </a:xfrm>
            <a:prstGeom prst="ellipse">
              <a:avLst/>
            </a:prstGeom>
            <a:solidFill>
              <a:schemeClr val="accent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10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811959" y="53324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4 MT  (7 %)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011166" y="5332413"/>
              <a:ext cx="1673689" cy="23812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tx1"/>
                  </a:solidFill>
                </a:rPr>
                <a:t>0.5 MT  (0 %)</a:t>
              </a:r>
              <a:endParaRPr lang="en-IN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Oval 105"/>
          <p:cNvSpPr/>
          <p:nvPr>
            <p:custDataLst>
              <p:tags r:id="rId11"/>
            </p:custDataLst>
          </p:nvPr>
        </p:nvSpPr>
        <p:spPr bwMode="auto">
          <a:xfrm>
            <a:off x="10458450" y="6516688"/>
            <a:ext cx="419100" cy="419100"/>
          </a:xfrm>
          <a:prstGeom prst="ellipse">
            <a:avLst/>
          </a:prstGeom>
          <a:solidFill>
            <a:schemeClr val="bg1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07" name="Arc 106"/>
          <p:cNvSpPr/>
          <p:nvPr>
            <p:custDataLst>
              <p:tags r:id="rId12"/>
            </p:custDataLst>
          </p:nvPr>
        </p:nvSpPr>
        <p:spPr bwMode="gray">
          <a:xfrm>
            <a:off x="10458450" y="6516688"/>
            <a:ext cx="419100" cy="419100"/>
          </a:xfrm>
          <a:prstGeom prst="arc">
            <a:avLst>
              <a:gd name="adj1" fmla="val 16200000"/>
              <a:gd name="adj2" fmla="val 10800000"/>
            </a:avLst>
          </a:prstGeom>
          <a:solidFill>
            <a:srgbClr val="86BC25"/>
          </a:solidFill>
          <a:ln w="3175" cap="flat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/>
          <p:cNvSpPr txBox="1"/>
          <p:nvPr/>
        </p:nvSpPr>
        <p:spPr>
          <a:xfrm>
            <a:off x="568538" y="7559765"/>
            <a:ext cx="84571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# Alloy Steel covers – Alloy Steels (including Flat and Long) as well as Ferro Alloys (4)</a:t>
            </a:r>
            <a:endParaRPr lang="en-IN" sz="1000" dirty="0">
              <a:solidFill>
                <a:srgbClr val="31313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897343" y="7112796"/>
            <a:ext cx="13517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000" dirty="0">
                <a:solidFill>
                  <a:srgbClr val="313131"/>
                </a:solidFill>
              </a:rPr>
              <a:t>MT = Million </a:t>
            </a:r>
            <a:r>
              <a:rPr lang="en-US" sz="1000" dirty="0" err="1">
                <a:solidFill>
                  <a:srgbClr val="313131"/>
                </a:solidFill>
              </a:rPr>
              <a:t>Tonnes</a:t>
            </a:r>
            <a:endParaRPr lang="en-IN" sz="10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24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2692651"/>
              </p:ext>
            </p:extLst>
          </p:nvPr>
        </p:nvGraphicFramePr>
        <p:xfrm>
          <a:off x="1799" y="2922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9" y="2922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0" y="1124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b="1" dirty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gray">
          <a:xfrm>
            <a:off x="6432978" y="1452554"/>
            <a:ext cx="2636571" cy="4077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  <a:latin typeface="Verdana"/>
              </a:rPr>
              <a:t>Impact Areas</a:t>
            </a:r>
            <a:endParaRPr lang="en-IN" sz="1600" b="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39" name="Rectangle 38"/>
          <p:cNvSpPr/>
          <p:nvPr/>
        </p:nvSpPr>
        <p:spPr bwMode="gray">
          <a:xfrm>
            <a:off x="746232" y="1424101"/>
            <a:ext cx="1718046" cy="4077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  <a:latin typeface="Verdana"/>
              </a:rPr>
              <a:t>Dimensions</a:t>
            </a:r>
            <a:endParaRPr lang="en-IN" sz="1600" b="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41" name="Freeform 375"/>
          <p:cNvSpPr>
            <a:spLocks noChangeAspect="1" noEditPoints="1"/>
          </p:cNvSpPr>
          <p:nvPr/>
        </p:nvSpPr>
        <p:spPr bwMode="auto">
          <a:xfrm>
            <a:off x="6304821" y="1448084"/>
            <a:ext cx="420111" cy="416732"/>
          </a:xfrm>
          <a:custGeom>
            <a:avLst/>
            <a:gdLst>
              <a:gd name="T0" fmla="*/ 297 w 512"/>
              <a:gd name="T1" fmla="*/ 213 h 512"/>
              <a:gd name="T2" fmla="*/ 382 w 512"/>
              <a:gd name="T3" fmla="*/ 221 h 512"/>
              <a:gd name="T4" fmla="*/ 323 w 512"/>
              <a:gd name="T5" fmla="*/ 280 h 512"/>
              <a:gd name="T6" fmla="*/ 320 w 512"/>
              <a:gd name="T7" fmla="*/ 290 h 512"/>
              <a:gd name="T8" fmla="*/ 337 w 512"/>
              <a:gd name="T9" fmla="*/ 374 h 512"/>
              <a:gd name="T10" fmla="*/ 261 w 512"/>
              <a:gd name="T11" fmla="*/ 332 h 512"/>
              <a:gd name="T12" fmla="*/ 256 w 512"/>
              <a:gd name="T13" fmla="*/ 330 h 512"/>
              <a:gd name="T14" fmla="*/ 250 w 512"/>
              <a:gd name="T15" fmla="*/ 332 h 512"/>
              <a:gd name="T16" fmla="*/ 175 w 512"/>
              <a:gd name="T17" fmla="*/ 374 h 512"/>
              <a:gd name="T18" fmla="*/ 191 w 512"/>
              <a:gd name="T19" fmla="*/ 290 h 512"/>
              <a:gd name="T20" fmla="*/ 189 w 512"/>
              <a:gd name="T21" fmla="*/ 280 h 512"/>
              <a:gd name="T22" fmla="*/ 130 w 512"/>
              <a:gd name="T23" fmla="*/ 221 h 512"/>
              <a:gd name="T24" fmla="*/ 214 w 512"/>
              <a:gd name="T25" fmla="*/ 213 h 512"/>
              <a:gd name="T26" fmla="*/ 223 w 512"/>
              <a:gd name="T27" fmla="*/ 207 h 512"/>
              <a:gd name="T28" fmla="*/ 256 w 512"/>
              <a:gd name="T29" fmla="*/ 133 h 512"/>
              <a:gd name="T30" fmla="*/ 289 w 512"/>
              <a:gd name="T31" fmla="*/ 207 h 512"/>
              <a:gd name="T32" fmla="*/ 297 w 512"/>
              <a:gd name="T33" fmla="*/ 213 h 512"/>
              <a:gd name="T34" fmla="*/ 512 w 512"/>
              <a:gd name="T35" fmla="*/ 256 h 512"/>
              <a:gd name="T36" fmla="*/ 256 w 512"/>
              <a:gd name="T37" fmla="*/ 512 h 512"/>
              <a:gd name="T38" fmla="*/ 0 w 512"/>
              <a:gd name="T39" fmla="*/ 256 h 512"/>
              <a:gd name="T40" fmla="*/ 256 w 512"/>
              <a:gd name="T41" fmla="*/ 0 h 512"/>
              <a:gd name="T42" fmla="*/ 512 w 512"/>
              <a:gd name="T43" fmla="*/ 256 h 512"/>
              <a:gd name="T44" fmla="*/ 415 w 512"/>
              <a:gd name="T45" fmla="*/ 209 h 512"/>
              <a:gd name="T46" fmla="*/ 406 w 512"/>
              <a:gd name="T47" fmla="*/ 202 h 512"/>
              <a:gd name="T48" fmla="*/ 306 w 512"/>
              <a:gd name="T49" fmla="*/ 192 h 512"/>
              <a:gd name="T50" fmla="*/ 265 w 512"/>
              <a:gd name="T51" fmla="*/ 102 h 512"/>
              <a:gd name="T52" fmla="*/ 256 w 512"/>
              <a:gd name="T53" fmla="*/ 96 h 512"/>
              <a:gd name="T54" fmla="*/ 246 w 512"/>
              <a:gd name="T55" fmla="*/ 102 h 512"/>
              <a:gd name="T56" fmla="*/ 206 w 512"/>
              <a:gd name="T57" fmla="*/ 192 h 512"/>
              <a:gd name="T58" fmla="*/ 105 w 512"/>
              <a:gd name="T59" fmla="*/ 202 h 512"/>
              <a:gd name="T60" fmla="*/ 96 w 512"/>
              <a:gd name="T61" fmla="*/ 209 h 512"/>
              <a:gd name="T62" fmla="*/ 99 w 512"/>
              <a:gd name="T63" fmla="*/ 221 h 512"/>
              <a:gd name="T64" fmla="*/ 169 w 512"/>
              <a:gd name="T65" fmla="*/ 291 h 512"/>
              <a:gd name="T66" fmla="*/ 149 w 512"/>
              <a:gd name="T67" fmla="*/ 392 h 512"/>
              <a:gd name="T68" fmla="*/ 153 w 512"/>
              <a:gd name="T69" fmla="*/ 403 h 512"/>
              <a:gd name="T70" fmla="*/ 165 w 512"/>
              <a:gd name="T71" fmla="*/ 404 h 512"/>
              <a:gd name="T72" fmla="*/ 256 w 512"/>
              <a:gd name="T73" fmla="*/ 353 h 512"/>
              <a:gd name="T74" fmla="*/ 346 w 512"/>
              <a:gd name="T75" fmla="*/ 404 h 512"/>
              <a:gd name="T76" fmla="*/ 352 w 512"/>
              <a:gd name="T77" fmla="*/ 405 h 512"/>
              <a:gd name="T78" fmla="*/ 358 w 512"/>
              <a:gd name="T79" fmla="*/ 403 h 512"/>
              <a:gd name="T80" fmla="*/ 362 w 512"/>
              <a:gd name="T81" fmla="*/ 392 h 512"/>
              <a:gd name="T82" fmla="*/ 342 w 512"/>
              <a:gd name="T83" fmla="*/ 291 h 512"/>
              <a:gd name="T84" fmla="*/ 413 w 512"/>
              <a:gd name="T85" fmla="*/ 221 h 512"/>
              <a:gd name="T86" fmla="*/ 415 w 512"/>
              <a:gd name="T87" fmla="*/ 20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297" y="213"/>
                </a:moveTo>
                <a:cubicBezTo>
                  <a:pt x="382" y="221"/>
                  <a:pt x="382" y="221"/>
                  <a:pt x="382" y="221"/>
                </a:cubicBezTo>
                <a:cubicBezTo>
                  <a:pt x="323" y="280"/>
                  <a:pt x="323" y="280"/>
                  <a:pt x="323" y="280"/>
                </a:cubicBezTo>
                <a:cubicBezTo>
                  <a:pt x="320" y="283"/>
                  <a:pt x="319" y="286"/>
                  <a:pt x="320" y="290"/>
                </a:cubicBezTo>
                <a:cubicBezTo>
                  <a:pt x="337" y="374"/>
                  <a:pt x="337" y="374"/>
                  <a:pt x="337" y="374"/>
                </a:cubicBezTo>
                <a:cubicBezTo>
                  <a:pt x="261" y="332"/>
                  <a:pt x="261" y="332"/>
                  <a:pt x="261" y="332"/>
                </a:cubicBezTo>
                <a:cubicBezTo>
                  <a:pt x="259" y="331"/>
                  <a:pt x="257" y="330"/>
                  <a:pt x="256" y="330"/>
                </a:cubicBezTo>
                <a:cubicBezTo>
                  <a:pt x="254" y="330"/>
                  <a:pt x="252" y="331"/>
                  <a:pt x="250" y="332"/>
                </a:cubicBezTo>
                <a:cubicBezTo>
                  <a:pt x="175" y="374"/>
                  <a:pt x="175" y="374"/>
                  <a:pt x="175" y="374"/>
                </a:cubicBezTo>
                <a:cubicBezTo>
                  <a:pt x="191" y="290"/>
                  <a:pt x="191" y="290"/>
                  <a:pt x="191" y="290"/>
                </a:cubicBezTo>
                <a:cubicBezTo>
                  <a:pt x="192" y="286"/>
                  <a:pt x="191" y="283"/>
                  <a:pt x="189" y="280"/>
                </a:cubicBezTo>
                <a:cubicBezTo>
                  <a:pt x="130" y="221"/>
                  <a:pt x="130" y="221"/>
                  <a:pt x="130" y="221"/>
                </a:cubicBezTo>
                <a:cubicBezTo>
                  <a:pt x="214" y="213"/>
                  <a:pt x="214" y="213"/>
                  <a:pt x="214" y="213"/>
                </a:cubicBezTo>
                <a:cubicBezTo>
                  <a:pt x="218" y="213"/>
                  <a:pt x="221" y="210"/>
                  <a:pt x="223" y="207"/>
                </a:cubicBezTo>
                <a:cubicBezTo>
                  <a:pt x="256" y="133"/>
                  <a:pt x="256" y="133"/>
                  <a:pt x="256" y="133"/>
                </a:cubicBezTo>
                <a:cubicBezTo>
                  <a:pt x="289" y="207"/>
                  <a:pt x="289" y="207"/>
                  <a:pt x="289" y="207"/>
                </a:cubicBezTo>
                <a:cubicBezTo>
                  <a:pt x="290" y="210"/>
                  <a:pt x="293" y="213"/>
                  <a:pt x="297" y="213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5" y="209"/>
                </a:moveTo>
                <a:cubicBezTo>
                  <a:pt x="414" y="206"/>
                  <a:pt x="410" y="203"/>
                  <a:pt x="406" y="202"/>
                </a:cubicBezTo>
                <a:cubicBezTo>
                  <a:pt x="306" y="192"/>
                  <a:pt x="306" y="192"/>
                  <a:pt x="306" y="192"/>
                </a:cubicBezTo>
                <a:cubicBezTo>
                  <a:pt x="265" y="102"/>
                  <a:pt x="265" y="102"/>
                  <a:pt x="265" y="102"/>
                </a:cubicBezTo>
                <a:cubicBezTo>
                  <a:pt x="264" y="98"/>
                  <a:pt x="260" y="96"/>
                  <a:pt x="256" y="96"/>
                </a:cubicBezTo>
                <a:cubicBezTo>
                  <a:pt x="251" y="96"/>
                  <a:pt x="248" y="98"/>
                  <a:pt x="246" y="102"/>
                </a:cubicBezTo>
                <a:cubicBezTo>
                  <a:pt x="206" y="192"/>
                  <a:pt x="206" y="192"/>
                  <a:pt x="206" y="192"/>
                </a:cubicBezTo>
                <a:cubicBezTo>
                  <a:pt x="105" y="202"/>
                  <a:pt x="105" y="202"/>
                  <a:pt x="105" y="202"/>
                </a:cubicBezTo>
                <a:cubicBezTo>
                  <a:pt x="101" y="203"/>
                  <a:pt x="98" y="206"/>
                  <a:pt x="96" y="209"/>
                </a:cubicBezTo>
                <a:cubicBezTo>
                  <a:pt x="95" y="213"/>
                  <a:pt x="96" y="218"/>
                  <a:pt x="99" y="221"/>
                </a:cubicBezTo>
                <a:cubicBezTo>
                  <a:pt x="169" y="291"/>
                  <a:pt x="169" y="291"/>
                  <a:pt x="169" y="291"/>
                </a:cubicBezTo>
                <a:cubicBezTo>
                  <a:pt x="149" y="392"/>
                  <a:pt x="149" y="392"/>
                  <a:pt x="149" y="392"/>
                </a:cubicBezTo>
                <a:cubicBezTo>
                  <a:pt x="148" y="396"/>
                  <a:pt x="150" y="401"/>
                  <a:pt x="153" y="403"/>
                </a:cubicBezTo>
                <a:cubicBezTo>
                  <a:pt x="157" y="405"/>
                  <a:pt x="161" y="406"/>
                  <a:pt x="165" y="404"/>
                </a:cubicBezTo>
                <a:cubicBezTo>
                  <a:pt x="256" y="353"/>
                  <a:pt x="256" y="353"/>
                  <a:pt x="256" y="353"/>
                </a:cubicBezTo>
                <a:cubicBezTo>
                  <a:pt x="346" y="404"/>
                  <a:pt x="346" y="404"/>
                  <a:pt x="346" y="404"/>
                </a:cubicBezTo>
                <a:cubicBezTo>
                  <a:pt x="348" y="405"/>
                  <a:pt x="350" y="405"/>
                  <a:pt x="352" y="405"/>
                </a:cubicBezTo>
                <a:cubicBezTo>
                  <a:pt x="354" y="405"/>
                  <a:pt x="356" y="404"/>
                  <a:pt x="358" y="403"/>
                </a:cubicBezTo>
                <a:cubicBezTo>
                  <a:pt x="361" y="401"/>
                  <a:pt x="363" y="396"/>
                  <a:pt x="362" y="392"/>
                </a:cubicBezTo>
                <a:cubicBezTo>
                  <a:pt x="342" y="291"/>
                  <a:pt x="342" y="291"/>
                  <a:pt x="342" y="291"/>
                </a:cubicBezTo>
                <a:cubicBezTo>
                  <a:pt x="413" y="221"/>
                  <a:pt x="413" y="221"/>
                  <a:pt x="413" y="221"/>
                </a:cubicBezTo>
                <a:cubicBezTo>
                  <a:pt x="415" y="218"/>
                  <a:pt x="416" y="213"/>
                  <a:pt x="415" y="20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3081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44" name="Freeform 552"/>
          <p:cNvSpPr>
            <a:spLocks noEditPoints="1"/>
          </p:cNvSpPr>
          <p:nvPr/>
        </p:nvSpPr>
        <p:spPr bwMode="auto">
          <a:xfrm>
            <a:off x="2743921" y="1430850"/>
            <a:ext cx="419368" cy="415994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13 w 512"/>
              <a:gd name="T11" fmla="*/ 370 h 512"/>
              <a:gd name="T12" fmla="*/ 405 w 512"/>
              <a:gd name="T13" fmla="*/ 374 h 512"/>
              <a:gd name="T14" fmla="*/ 398 w 512"/>
              <a:gd name="T15" fmla="*/ 371 h 512"/>
              <a:gd name="T16" fmla="*/ 349 w 512"/>
              <a:gd name="T17" fmla="*/ 358 h 512"/>
              <a:gd name="T18" fmla="*/ 316 w 512"/>
              <a:gd name="T19" fmla="*/ 352 h 512"/>
              <a:gd name="T20" fmla="*/ 286 w 512"/>
              <a:gd name="T21" fmla="*/ 324 h 512"/>
              <a:gd name="T22" fmla="*/ 290 w 512"/>
              <a:gd name="T23" fmla="*/ 303 h 512"/>
              <a:gd name="T24" fmla="*/ 320 w 512"/>
              <a:gd name="T25" fmla="*/ 233 h 512"/>
              <a:gd name="T26" fmla="*/ 311 w 512"/>
              <a:gd name="T27" fmla="*/ 142 h 512"/>
              <a:gd name="T28" fmla="*/ 256 w 512"/>
              <a:gd name="T29" fmla="*/ 118 h 512"/>
              <a:gd name="T30" fmla="*/ 256 w 512"/>
              <a:gd name="T31" fmla="*/ 118 h 512"/>
              <a:gd name="T32" fmla="*/ 256 w 512"/>
              <a:gd name="T33" fmla="*/ 118 h 512"/>
              <a:gd name="T34" fmla="*/ 256 w 512"/>
              <a:gd name="T35" fmla="*/ 118 h 512"/>
              <a:gd name="T36" fmla="*/ 201 w 512"/>
              <a:gd name="T37" fmla="*/ 142 h 512"/>
              <a:gd name="T38" fmla="*/ 192 w 512"/>
              <a:gd name="T39" fmla="*/ 233 h 512"/>
              <a:gd name="T40" fmla="*/ 222 w 512"/>
              <a:gd name="T41" fmla="*/ 303 h 512"/>
              <a:gd name="T42" fmla="*/ 225 w 512"/>
              <a:gd name="T43" fmla="*/ 324 h 512"/>
              <a:gd name="T44" fmla="*/ 196 w 512"/>
              <a:gd name="T45" fmla="*/ 352 h 512"/>
              <a:gd name="T46" fmla="*/ 163 w 512"/>
              <a:gd name="T47" fmla="*/ 358 h 512"/>
              <a:gd name="T48" fmla="*/ 114 w 512"/>
              <a:gd name="T49" fmla="*/ 371 h 512"/>
              <a:gd name="T50" fmla="*/ 107 w 512"/>
              <a:gd name="T51" fmla="*/ 374 h 512"/>
              <a:gd name="T52" fmla="*/ 99 w 512"/>
              <a:gd name="T53" fmla="*/ 370 h 512"/>
              <a:gd name="T54" fmla="*/ 100 w 512"/>
              <a:gd name="T55" fmla="*/ 355 h 512"/>
              <a:gd name="T56" fmla="*/ 160 w 512"/>
              <a:gd name="T57" fmla="*/ 337 h 512"/>
              <a:gd name="T58" fmla="*/ 188 w 512"/>
              <a:gd name="T59" fmla="*/ 332 h 512"/>
              <a:gd name="T60" fmla="*/ 205 w 512"/>
              <a:gd name="T61" fmla="*/ 318 h 512"/>
              <a:gd name="T62" fmla="*/ 205 w 512"/>
              <a:gd name="T63" fmla="*/ 316 h 512"/>
              <a:gd name="T64" fmla="*/ 171 w 512"/>
              <a:gd name="T65" fmla="*/ 237 h 512"/>
              <a:gd name="T66" fmla="*/ 184 w 512"/>
              <a:gd name="T67" fmla="*/ 128 h 512"/>
              <a:gd name="T68" fmla="*/ 256 w 512"/>
              <a:gd name="T69" fmla="*/ 96 h 512"/>
              <a:gd name="T70" fmla="*/ 256 w 512"/>
              <a:gd name="T71" fmla="*/ 96 h 512"/>
              <a:gd name="T72" fmla="*/ 328 w 512"/>
              <a:gd name="T73" fmla="*/ 128 h 512"/>
              <a:gd name="T74" fmla="*/ 341 w 512"/>
              <a:gd name="T75" fmla="*/ 237 h 512"/>
              <a:gd name="T76" fmla="*/ 307 w 512"/>
              <a:gd name="T77" fmla="*/ 316 h 512"/>
              <a:gd name="T78" fmla="*/ 307 w 512"/>
              <a:gd name="T79" fmla="*/ 318 h 512"/>
              <a:gd name="T80" fmla="*/ 324 w 512"/>
              <a:gd name="T81" fmla="*/ 332 h 512"/>
              <a:gd name="T82" fmla="*/ 352 w 512"/>
              <a:gd name="T83" fmla="*/ 337 h 512"/>
              <a:gd name="T84" fmla="*/ 412 w 512"/>
              <a:gd name="T85" fmla="*/ 355 h 512"/>
              <a:gd name="T86" fmla="*/ 413 w 512"/>
              <a:gd name="T87" fmla="*/ 3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8"/>
                  <a:pt x="115" y="512"/>
                  <a:pt x="256" y="512"/>
                </a:cubicBezTo>
                <a:cubicBezTo>
                  <a:pt x="397" y="512"/>
                  <a:pt x="512" y="398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lose/>
                <a:moveTo>
                  <a:pt x="413" y="370"/>
                </a:moveTo>
                <a:cubicBezTo>
                  <a:pt x="411" y="372"/>
                  <a:pt x="408" y="374"/>
                  <a:pt x="405" y="374"/>
                </a:cubicBezTo>
                <a:cubicBezTo>
                  <a:pt x="403" y="374"/>
                  <a:pt x="400" y="373"/>
                  <a:pt x="398" y="371"/>
                </a:cubicBezTo>
                <a:cubicBezTo>
                  <a:pt x="391" y="364"/>
                  <a:pt x="366" y="361"/>
                  <a:pt x="349" y="358"/>
                </a:cubicBezTo>
                <a:cubicBezTo>
                  <a:pt x="335" y="356"/>
                  <a:pt x="324" y="355"/>
                  <a:pt x="316" y="352"/>
                </a:cubicBezTo>
                <a:cubicBezTo>
                  <a:pt x="301" y="346"/>
                  <a:pt x="290" y="336"/>
                  <a:pt x="286" y="324"/>
                </a:cubicBezTo>
                <a:cubicBezTo>
                  <a:pt x="284" y="317"/>
                  <a:pt x="285" y="310"/>
                  <a:pt x="290" y="303"/>
                </a:cubicBezTo>
                <a:cubicBezTo>
                  <a:pt x="301" y="288"/>
                  <a:pt x="314" y="258"/>
                  <a:pt x="320" y="233"/>
                </a:cubicBezTo>
                <a:cubicBezTo>
                  <a:pt x="330" y="192"/>
                  <a:pt x="327" y="162"/>
                  <a:pt x="311" y="142"/>
                </a:cubicBezTo>
                <a:cubicBezTo>
                  <a:pt x="291" y="117"/>
                  <a:pt x="257" y="118"/>
                  <a:pt x="256" y="118"/>
                </a:cubicBezTo>
                <a:cubicBezTo>
                  <a:pt x="256" y="118"/>
                  <a:pt x="256" y="118"/>
                  <a:pt x="256" y="118"/>
                </a:cubicBezTo>
                <a:cubicBezTo>
                  <a:pt x="256" y="118"/>
                  <a:pt x="256" y="118"/>
                  <a:pt x="256" y="118"/>
                </a:cubicBezTo>
                <a:cubicBezTo>
                  <a:pt x="256" y="118"/>
                  <a:pt x="256" y="118"/>
                  <a:pt x="256" y="118"/>
                </a:cubicBezTo>
                <a:cubicBezTo>
                  <a:pt x="255" y="118"/>
                  <a:pt x="220" y="117"/>
                  <a:pt x="201" y="142"/>
                </a:cubicBezTo>
                <a:cubicBezTo>
                  <a:pt x="185" y="162"/>
                  <a:pt x="182" y="192"/>
                  <a:pt x="192" y="233"/>
                </a:cubicBezTo>
                <a:cubicBezTo>
                  <a:pt x="198" y="258"/>
                  <a:pt x="211" y="288"/>
                  <a:pt x="222" y="303"/>
                </a:cubicBezTo>
                <a:cubicBezTo>
                  <a:pt x="226" y="310"/>
                  <a:pt x="228" y="317"/>
                  <a:pt x="225" y="324"/>
                </a:cubicBezTo>
                <a:cubicBezTo>
                  <a:pt x="222" y="336"/>
                  <a:pt x="211" y="346"/>
                  <a:pt x="196" y="352"/>
                </a:cubicBezTo>
                <a:cubicBezTo>
                  <a:pt x="188" y="355"/>
                  <a:pt x="177" y="356"/>
                  <a:pt x="163" y="358"/>
                </a:cubicBezTo>
                <a:cubicBezTo>
                  <a:pt x="145" y="361"/>
                  <a:pt x="121" y="364"/>
                  <a:pt x="114" y="371"/>
                </a:cubicBezTo>
                <a:cubicBezTo>
                  <a:pt x="112" y="373"/>
                  <a:pt x="109" y="374"/>
                  <a:pt x="107" y="374"/>
                </a:cubicBezTo>
                <a:cubicBezTo>
                  <a:pt x="104" y="374"/>
                  <a:pt x="101" y="372"/>
                  <a:pt x="99" y="370"/>
                </a:cubicBezTo>
                <a:cubicBezTo>
                  <a:pt x="95" y="366"/>
                  <a:pt x="95" y="359"/>
                  <a:pt x="100" y="355"/>
                </a:cubicBezTo>
                <a:cubicBezTo>
                  <a:pt x="112" y="344"/>
                  <a:pt x="136" y="341"/>
                  <a:pt x="160" y="337"/>
                </a:cubicBezTo>
                <a:cubicBezTo>
                  <a:pt x="171" y="335"/>
                  <a:pt x="183" y="334"/>
                  <a:pt x="188" y="332"/>
                </a:cubicBezTo>
                <a:cubicBezTo>
                  <a:pt x="198" y="328"/>
                  <a:pt x="204" y="322"/>
                  <a:pt x="205" y="318"/>
                </a:cubicBezTo>
                <a:cubicBezTo>
                  <a:pt x="205" y="317"/>
                  <a:pt x="205" y="317"/>
                  <a:pt x="205" y="316"/>
                </a:cubicBezTo>
                <a:cubicBezTo>
                  <a:pt x="192" y="298"/>
                  <a:pt x="178" y="265"/>
                  <a:pt x="171" y="237"/>
                </a:cubicBezTo>
                <a:cubicBezTo>
                  <a:pt x="160" y="190"/>
                  <a:pt x="164" y="153"/>
                  <a:pt x="184" y="128"/>
                </a:cubicBezTo>
                <a:cubicBezTo>
                  <a:pt x="210" y="96"/>
                  <a:pt x="252" y="96"/>
                  <a:pt x="256" y="96"/>
                </a:cubicBezTo>
                <a:cubicBezTo>
                  <a:pt x="256" y="96"/>
                  <a:pt x="256" y="96"/>
                  <a:pt x="256" y="96"/>
                </a:cubicBezTo>
                <a:cubicBezTo>
                  <a:pt x="258" y="96"/>
                  <a:pt x="301" y="96"/>
                  <a:pt x="328" y="128"/>
                </a:cubicBezTo>
                <a:cubicBezTo>
                  <a:pt x="348" y="153"/>
                  <a:pt x="352" y="190"/>
                  <a:pt x="341" y="237"/>
                </a:cubicBezTo>
                <a:cubicBezTo>
                  <a:pt x="334" y="265"/>
                  <a:pt x="320" y="298"/>
                  <a:pt x="307" y="316"/>
                </a:cubicBezTo>
                <a:cubicBezTo>
                  <a:pt x="307" y="317"/>
                  <a:pt x="306" y="317"/>
                  <a:pt x="307" y="318"/>
                </a:cubicBezTo>
                <a:cubicBezTo>
                  <a:pt x="308" y="322"/>
                  <a:pt x="314" y="328"/>
                  <a:pt x="324" y="332"/>
                </a:cubicBezTo>
                <a:cubicBezTo>
                  <a:pt x="329" y="334"/>
                  <a:pt x="341" y="335"/>
                  <a:pt x="352" y="337"/>
                </a:cubicBezTo>
                <a:cubicBezTo>
                  <a:pt x="375" y="341"/>
                  <a:pt x="400" y="344"/>
                  <a:pt x="412" y="355"/>
                </a:cubicBezTo>
                <a:cubicBezTo>
                  <a:pt x="417" y="359"/>
                  <a:pt x="417" y="366"/>
                  <a:pt x="413" y="3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3081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63" name="Rectangle 62"/>
          <p:cNvSpPr/>
          <p:nvPr/>
        </p:nvSpPr>
        <p:spPr bwMode="gray">
          <a:xfrm>
            <a:off x="3116593" y="1434951"/>
            <a:ext cx="1795139" cy="4077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  <a:latin typeface="Verdana"/>
              </a:rPr>
              <a:t>Stakeholders</a:t>
            </a:r>
            <a:endParaRPr lang="en-IN" sz="1600" b="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66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91857" y="1444477"/>
            <a:ext cx="367041" cy="367041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491856" y="1936117"/>
            <a:ext cx="13157116" cy="3476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hlinkClick r:id="rId7" action="ppaction://hlinksldjump"/>
          </p:cNvPr>
          <p:cNvSpPr/>
          <p:nvPr/>
        </p:nvSpPr>
        <p:spPr bwMode="gray">
          <a:xfrm>
            <a:off x="491856" y="2147482"/>
            <a:ext cx="1911801" cy="77979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r>
              <a:rPr lang="en-US" sz="1400" b="1" dirty="0">
                <a:solidFill>
                  <a:schemeClr val="bg1"/>
                </a:solidFill>
                <a:latin typeface="Verdana"/>
              </a:rPr>
              <a:t>Enforcement</a:t>
            </a:r>
            <a:endParaRPr lang="en-IN" sz="1400" b="1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49" name="Rectangle 48">
            <a:hlinkClick r:id="rId8" action="ppaction://hlinksldjump"/>
          </p:cNvPr>
          <p:cNvSpPr/>
          <p:nvPr/>
        </p:nvSpPr>
        <p:spPr bwMode="gray">
          <a:xfrm>
            <a:off x="491856" y="3119754"/>
            <a:ext cx="1911801" cy="77979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marL="92075" defTabSz="1565035">
              <a:defRPr/>
            </a:pPr>
            <a:r>
              <a:rPr lang="en-US" sz="1400" b="1" dirty="0">
                <a:solidFill>
                  <a:schemeClr val="bg1"/>
                </a:solidFill>
                <a:latin typeface="Verdana"/>
              </a:rPr>
              <a:t>Indigenous Product Compliance</a:t>
            </a:r>
            <a:endParaRPr lang="en-IN" sz="1400" b="1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53" name="Rectangle 52"/>
          <p:cNvSpPr/>
          <p:nvPr/>
        </p:nvSpPr>
        <p:spPr bwMode="gray">
          <a:xfrm>
            <a:off x="2705602" y="3138810"/>
            <a:ext cx="1800000" cy="7797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Steel Producers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4" name="Rectangle 53">
            <a:hlinkClick r:id="rId9" action="ppaction://hlinksldjump"/>
          </p:cNvPr>
          <p:cNvSpPr/>
          <p:nvPr/>
        </p:nvSpPr>
        <p:spPr bwMode="gray">
          <a:xfrm>
            <a:off x="491857" y="4093193"/>
            <a:ext cx="1911801" cy="77979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r>
              <a:rPr lang="en-US" sz="1400" b="1" dirty="0">
                <a:solidFill>
                  <a:schemeClr val="bg1"/>
                </a:solidFill>
              </a:rPr>
              <a:t>Imported Product Compliance</a:t>
            </a:r>
            <a:endParaRPr lang="en-IN" sz="1400" b="1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55" name="Striped Right Arrow 54"/>
          <p:cNvSpPr/>
          <p:nvPr/>
        </p:nvSpPr>
        <p:spPr bwMode="gray">
          <a:xfrm>
            <a:off x="4855439" y="4088433"/>
            <a:ext cx="1080000" cy="779794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rgbClr val="0076A8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62" name="Rectangle 61"/>
          <p:cNvSpPr/>
          <p:nvPr/>
        </p:nvSpPr>
        <p:spPr bwMode="gray">
          <a:xfrm>
            <a:off x="2705602" y="5074354"/>
            <a:ext cx="1800000" cy="7797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chemeClr val="tx1"/>
                </a:solidFill>
                <a:latin typeface="Verdana"/>
              </a:rPr>
              <a:t>Ministry of Steel, BIS</a:t>
            </a:r>
            <a:endParaRPr lang="en-IN" sz="1400" b="1" dirty="0">
              <a:solidFill>
                <a:schemeClr val="tx1"/>
              </a:solidFill>
              <a:latin typeface="Verdana"/>
            </a:endParaRPr>
          </a:p>
        </p:txBody>
      </p:sp>
      <p:sp>
        <p:nvSpPr>
          <p:cNvPr id="46" name="Striped Right Arrow 45"/>
          <p:cNvSpPr/>
          <p:nvPr/>
        </p:nvSpPr>
        <p:spPr bwMode="gray">
          <a:xfrm>
            <a:off x="4855439" y="2142363"/>
            <a:ext cx="1080000" cy="779794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rgbClr val="0076A8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9" name="Striped Right Arrow 58"/>
          <p:cNvSpPr/>
          <p:nvPr/>
        </p:nvSpPr>
        <p:spPr bwMode="gray">
          <a:xfrm>
            <a:off x="4855439" y="5050178"/>
            <a:ext cx="1080000" cy="779794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rgbClr val="0076A8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prstClr val="white"/>
              </a:solidFill>
              <a:latin typeface="Verdana"/>
            </a:endParaRPr>
          </a:p>
        </p:txBody>
      </p:sp>
      <p:grpSp>
        <p:nvGrpSpPr>
          <p:cNvPr id="76" name="Group 681"/>
          <p:cNvGrpSpPr>
            <a:grpSpLocks noChangeAspect="1"/>
          </p:cNvGrpSpPr>
          <p:nvPr/>
        </p:nvGrpSpPr>
        <p:grpSpPr bwMode="auto">
          <a:xfrm>
            <a:off x="5050732" y="5196602"/>
            <a:ext cx="471520" cy="486945"/>
            <a:chOff x="6193" y="2588"/>
            <a:chExt cx="374" cy="372"/>
          </a:xfrm>
          <a:solidFill>
            <a:schemeClr val="bg1"/>
          </a:solidFill>
        </p:grpSpPr>
        <p:sp>
          <p:nvSpPr>
            <p:cNvPr id="77" name="Freeform 682"/>
            <p:cNvSpPr>
              <a:spLocks/>
            </p:cNvSpPr>
            <p:nvPr/>
          </p:nvSpPr>
          <p:spPr bwMode="auto">
            <a:xfrm>
              <a:off x="6351" y="2911"/>
              <a:ext cx="57" cy="49"/>
            </a:xfrm>
            <a:custGeom>
              <a:avLst/>
              <a:gdLst>
                <a:gd name="T0" fmla="*/ 51 w 85"/>
                <a:gd name="T1" fmla="*/ 3 h 73"/>
                <a:gd name="T2" fmla="*/ 43 w 85"/>
                <a:gd name="T3" fmla="*/ 0 h 73"/>
                <a:gd name="T4" fmla="*/ 34 w 85"/>
                <a:gd name="T5" fmla="*/ 3 h 73"/>
                <a:gd name="T6" fmla="*/ 16 w 85"/>
                <a:gd name="T7" fmla="*/ 9 h 73"/>
                <a:gd name="T8" fmla="*/ 11 w 85"/>
                <a:gd name="T9" fmla="*/ 9 h 73"/>
                <a:gd name="T10" fmla="*/ 0 w 85"/>
                <a:gd name="T11" fmla="*/ 2 h 73"/>
                <a:gd name="T12" fmla="*/ 0 w 85"/>
                <a:gd name="T13" fmla="*/ 73 h 73"/>
                <a:gd name="T14" fmla="*/ 37 w 85"/>
                <a:gd name="T15" fmla="*/ 51 h 73"/>
                <a:gd name="T16" fmla="*/ 48 w 85"/>
                <a:gd name="T17" fmla="*/ 51 h 73"/>
                <a:gd name="T18" fmla="*/ 85 w 85"/>
                <a:gd name="T19" fmla="*/ 73 h 73"/>
                <a:gd name="T20" fmla="*/ 85 w 85"/>
                <a:gd name="T21" fmla="*/ 2 h 73"/>
                <a:gd name="T22" fmla="*/ 75 w 85"/>
                <a:gd name="T23" fmla="*/ 9 h 73"/>
                <a:gd name="T24" fmla="*/ 51 w 85"/>
                <a:gd name="T25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3">
                  <a:moveTo>
                    <a:pt x="51" y="3"/>
                  </a:moveTo>
                  <a:cubicBezTo>
                    <a:pt x="49" y="2"/>
                    <a:pt x="44" y="0"/>
                    <a:pt x="43" y="0"/>
                  </a:cubicBezTo>
                  <a:cubicBezTo>
                    <a:pt x="41" y="0"/>
                    <a:pt x="37" y="2"/>
                    <a:pt x="34" y="3"/>
                  </a:cubicBezTo>
                  <a:cubicBezTo>
                    <a:pt x="29" y="6"/>
                    <a:pt x="23" y="9"/>
                    <a:pt x="16" y="9"/>
                  </a:cubicBezTo>
                  <a:cubicBezTo>
                    <a:pt x="14" y="9"/>
                    <a:pt x="12" y="9"/>
                    <a:pt x="11" y="9"/>
                  </a:cubicBezTo>
                  <a:cubicBezTo>
                    <a:pt x="6" y="7"/>
                    <a:pt x="3" y="5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41" y="49"/>
                    <a:pt x="45" y="49"/>
                    <a:pt x="48" y="51"/>
                  </a:cubicBezTo>
                  <a:cubicBezTo>
                    <a:pt x="85" y="73"/>
                    <a:pt x="85" y="73"/>
                    <a:pt x="85" y="73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2" y="5"/>
                    <a:pt x="79" y="7"/>
                    <a:pt x="75" y="9"/>
                  </a:cubicBezTo>
                  <a:cubicBezTo>
                    <a:pt x="66" y="11"/>
                    <a:pt x="58" y="7"/>
                    <a:pt x="5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2800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78" name="Freeform 683"/>
            <p:cNvSpPr>
              <a:spLocks noEditPoints="1"/>
            </p:cNvSpPr>
            <p:nvPr/>
          </p:nvSpPr>
          <p:spPr bwMode="auto">
            <a:xfrm>
              <a:off x="6314" y="2666"/>
              <a:ext cx="132" cy="131"/>
            </a:xfrm>
            <a:custGeom>
              <a:avLst/>
              <a:gdLst>
                <a:gd name="T0" fmla="*/ 188 w 198"/>
                <a:gd name="T1" fmla="*/ 99 h 198"/>
                <a:gd name="T2" fmla="*/ 194 w 198"/>
                <a:gd name="T3" fmla="*/ 81 h 198"/>
                <a:gd name="T4" fmla="*/ 198 w 198"/>
                <a:gd name="T5" fmla="*/ 72 h 198"/>
                <a:gd name="T6" fmla="*/ 190 w 198"/>
                <a:gd name="T7" fmla="*/ 67 h 198"/>
                <a:gd name="T8" fmla="*/ 176 w 198"/>
                <a:gd name="T9" fmla="*/ 54 h 198"/>
                <a:gd name="T10" fmla="*/ 172 w 198"/>
                <a:gd name="T11" fmla="*/ 36 h 198"/>
                <a:gd name="T12" fmla="*/ 171 w 198"/>
                <a:gd name="T13" fmla="*/ 26 h 198"/>
                <a:gd name="T14" fmla="*/ 162 w 198"/>
                <a:gd name="T15" fmla="*/ 25 h 198"/>
                <a:gd name="T16" fmla="*/ 143 w 198"/>
                <a:gd name="T17" fmla="*/ 21 h 198"/>
                <a:gd name="T18" fmla="*/ 131 w 198"/>
                <a:gd name="T19" fmla="*/ 7 h 198"/>
                <a:gd name="T20" fmla="*/ 125 w 198"/>
                <a:gd name="T21" fmla="*/ 0 h 198"/>
                <a:gd name="T22" fmla="*/ 117 w 198"/>
                <a:gd name="T23" fmla="*/ 4 h 198"/>
                <a:gd name="T24" fmla="*/ 99 w 198"/>
                <a:gd name="T25" fmla="*/ 9 h 198"/>
                <a:gd name="T26" fmla="*/ 80 w 198"/>
                <a:gd name="T27" fmla="*/ 5 h 198"/>
                <a:gd name="T28" fmla="*/ 72 w 198"/>
                <a:gd name="T29" fmla="*/ 3 h 198"/>
                <a:gd name="T30" fmla="*/ 72 w 198"/>
                <a:gd name="T31" fmla="*/ 3 h 198"/>
                <a:gd name="T32" fmla="*/ 67 w 198"/>
                <a:gd name="T33" fmla="*/ 9 h 198"/>
                <a:gd name="T34" fmla="*/ 54 w 198"/>
                <a:gd name="T35" fmla="*/ 22 h 198"/>
                <a:gd name="T36" fmla="*/ 35 w 198"/>
                <a:gd name="T37" fmla="*/ 26 h 198"/>
                <a:gd name="T38" fmla="*/ 26 w 198"/>
                <a:gd name="T39" fmla="*/ 27 h 198"/>
                <a:gd name="T40" fmla="*/ 25 w 198"/>
                <a:gd name="T41" fmla="*/ 36 h 198"/>
                <a:gd name="T42" fmla="*/ 21 w 198"/>
                <a:gd name="T43" fmla="*/ 54 h 198"/>
                <a:gd name="T44" fmla="*/ 7 w 198"/>
                <a:gd name="T45" fmla="*/ 67 h 198"/>
                <a:gd name="T46" fmla="*/ 0 w 198"/>
                <a:gd name="T47" fmla="*/ 73 h 198"/>
                <a:gd name="T48" fmla="*/ 3 w 198"/>
                <a:gd name="T49" fmla="*/ 81 h 198"/>
                <a:gd name="T50" fmla="*/ 9 w 198"/>
                <a:gd name="T51" fmla="*/ 99 h 198"/>
                <a:gd name="T52" fmla="*/ 3 w 198"/>
                <a:gd name="T53" fmla="*/ 117 h 198"/>
                <a:gd name="T54" fmla="*/ 0 w 198"/>
                <a:gd name="T55" fmla="*/ 126 h 198"/>
                <a:gd name="T56" fmla="*/ 7 w 198"/>
                <a:gd name="T57" fmla="*/ 131 h 198"/>
                <a:gd name="T58" fmla="*/ 21 w 198"/>
                <a:gd name="T59" fmla="*/ 144 h 198"/>
                <a:gd name="T60" fmla="*/ 25 w 198"/>
                <a:gd name="T61" fmla="*/ 162 h 198"/>
                <a:gd name="T62" fmla="*/ 26 w 198"/>
                <a:gd name="T63" fmla="*/ 172 h 198"/>
                <a:gd name="T64" fmla="*/ 35 w 198"/>
                <a:gd name="T65" fmla="*/ 173 h 198"/>
                <a:gd name="T66" fmla="*/ 54 w 198"/>
                <a:gd name="T67" fmla="*/ 177 h 198"/>
                <a:gd name="T68" fmla="*/ 67 w 198"/>
                <a:gd name="T69" fmla="*/ 191 h 198"/>
                <a:gd name="T70" fmla="*/ 72 w 198"/>
                <a:gd name="T71" fmla="*/ 198 h 198"/>
                <a:gd name="T72" fmla="*/ 80 w 198"/>
                <a:gd name="T73" fmla="*/ 194 h 198"/>
                <a:gd name="T74" fmla="*/ 99 w 198"/>
                <a:gd name="T75" fmla="*/ 189 h 198"/>
                <a:gd name="T76" fmla="*/ 117 w 198"/>
                <a:gd name="T77" fmla="*/ 193 h 198"/>
                <a:gd name="T78" fmla="*/ 125 w 198"/>
                <a:gd name="T79" fmla="*/ 195 h 198"/>
                <a:gd name="T80" fmla="*/ 125 w 198"/>
                <a:gd name="T81" fmla="*/ 195 h 198"/>
                <a:gd name="T82" fmla="*/ 131 w 198"/>
                <a:gd name="T83" fmla="*/ 189 h 198"/>
                <a:gd name="T84" fmla="*/ 143 w 198"/>
                <a:gd name="T85" fmla="*/ 176 h 198"/>
                <a:gd name="T86" fmla="*/ 162 w 198"/>
                <a:gd name="T87" fmla="*/ 172 h 198"/>
                <a:gd name="T88" fmla="*/ 171 w 198"/>
                <a:gd name="T89" fmla="*/ 171 h 198"/>
                <a:gd name="T90" fmla="*/ 172 w 198"/>
                <a:gd name="T91" fmla="*/ 162 h 198"/>
                <a:gd name="T92" fmla="*/ 176 w 198"/>
                <a:gd name="T93" fmla="*/ 144 h 198"/>
                <a:gd name="T94" fmla="*/ 190 w 198"/>
                <a:gd name="T95" fmla="*/ 131 h 198"/>
                <a:gd name="T96" fmla="*/ 198 w 198"/>
                <a:gd name="T97" fmla="*/ 125 h 198"/>
                <a:gd name="T98" fmla="*/ 194 w 198"/>
                <a:gd name="T99" fmla="*/ 117 h 198"/>
                <a:gd name="T100" fmla="*/ 188 w 198"/>
                <a:gd name="T101" fmla="*/ 99 h 198"/>
                <a:gd name="T102" fmla="*/ 99 w 198"/>
                <a:gd name="T103" fmla="*/ 152 h 198"/>
                <a:gd name="T104" fmla="*/ 45 w 198"/>
                <a:gd name="T105" fmla="*/ 99 h 198"/>
                <a:gd name="T106" fmla="*/ 99 w 198"/>
                <a:gd name="T107" fmla="*/ 46 h 198"/>
                <a:gd name="T108" fmla="*/ 152 w 198"/>
                <a:gd name="T109" fmla="*/ 99 h 198"/>
                <a:gd name="T110" fmla="*/ 99 w 198"/>
                <a:gd name="T111" fmla="*/ 15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8" h="198">
                  <a:moveTo>
                    <a:pt x="188" y="99"/>
                  </a:moveTo>
                  <a:cubicBezTo>
                    <a:pt x="188" y="92"/>
                    <a:pt x="191" y="86"/>
                    <a:pt x="194" y="81"/>
                  </a:cubicBezTo>
                  <a:cubicBezTo>
                    <a:pt x="195" y="78"/>
                    <a:pt x="198" y="74"/>
                    <a:pt x="198" y="72"/>
                  </a:cubicBezTo>
                  <a:cubicBezTo>
                    <a:pt x="197" y="71"/>
                    <a:pt x="193" y="69"/>
                    <a:pt x="190" y="67"/>
                  </a:cubicBezTo>
                  <a:cubicBezTo>
                    <a:pt x="185" y="64"/>
                    <a:pt x="180" y="60"/>
                    <a:pt x="176" y="54"/>
                  </a:cubicBezTo>
                  <a:cubicBezTo>
                    <a:pt x="173" y="48"/>
                    <a:pt x="173" y="42"/>
                    <a:pt x="172" y="36"/>
                  </a:cubicBezTo>
                  <a:cubicBezTo>
                    <a:pt x="172" y="33"/>
                    <a:pt x="172" y="28"/>
                    <a:pt x="171" y="26"/>
                  </a:cubicBezTo>
                  <a:cubicBezTo>
                    <a:pt x="170" y="26"/>
                    <a:pt x="165" y="26"/>
                    <a:pt x="162" y="25"/>
                  </a:cubicBezTo>
                  <a:cubicBezTo>
                    <a:pt x="156" y="25"/>
                    <a:pt x="149" y="25"/>
                    <a:pt x="143" y="21"/>
                  </a:cubicBezTo>
                  <a:cubicBezTo>
                    <a:pt x="138" y="18"/>
                    <a:pt x="134" y="12"/>
                    <a:pt x="131" y="7"/>
                  </a:cubicBezTo>
                  <a:cubicBezTo>
                    <a:pt x="129" y="5"/>
                    <a:pt x="126" y="1"/>
                    <a:pt x="125" y="0"/>
                  </a:cubicBezTo>
                  <a:cubicBezTo>
                    <a:pt x="124" y="0"/>
                    <a:pt x="120" y="2"/>
                    <a:pt x="117" y="4"/>
                  </a:cubicBezTo>
                  <a:cubicBezTo>
                    <a:pt x="112" y="6"/>
                    <a:pt x="106" y="9"/>
                    <a:pt x="99" y="9"/>
                  </a:cubicBezTo>
                  <a:cubicBezTo>
                    <a:pt x="92" y="9"/>
                    <a:pt x="86" y="8"/>
                    <a:pt x="80" y="5"/>
                  </a:cubicBezTo>
                  <a:cubicBezTo>
                    <a:pt x="78" y="4"/>
                    <a:pt x="73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3"/>
                    <a:pt x="68" y="6"/>
                    <a:pt x="67" y="9"/>
                  </a:cubicBezTo>
                  <a:cubicBezTo>
                    <a:pt x="63" y="14"/>
                    <a:pt x="60" y="19"/>
                    <a:pt x="54" y="22"/>
                  </a:cubicBezTo>
                  <a:cubicBezTo>
                    <a:pt x="48" y="26"/>
                    <a:pt x="41" y="26"/>
                    <a:pt x="35" y="26"/>
                  </a:cubicBezTo>
                  <a:cubicBezTo>
                    <a:pt x="32" y="26"/>
                    <a:pt x="27" y="26"/>
                    <a:pt x="26" y="27"/>
                  </a:cubicBezTo>
                  <a:cubicBezTo>
                    <a:pt x="26" y="28"/>
                    <a:pt x="25" y="33"/>
                    <a:pt x="25" y="36"/>
                  </a:cubicBezTo>
                  <a:cubicBezTo>
                    <a:pt x="25" y="42"/>
                    <a:pt x="24" y="48"/>
                    <a:pt x="21" y="54"/>
                  </a:cubicBezTo>
                  <a:cubicBezTo>
                    <a:pt x="18" y="60"/>
                    <a:pt x="12" y="64"/>
                    <a:pt x="7" y="67"/>
                  </a:cubicBezTo>
                  <a:cubicBezTo>
                    <a:pt x="5" y="69"/>
                    <a:pt x="0" y="71"/>
                    <a:pt x="0" y="73"/>
                  </a:cubicBezTo>
                  <a:cubicBezTo>
                    <a:pt x="0" y="74"/>
                    <a:pt x="2" y="78"/>
                    <a:pt x="3" y="81"/>
                  </a:cubicBezTo>
                  <a:cubicBezTo>
                    <a:pt x="6" y="86"/>
                    <a:pt x="9" y="92"/>
                    <a:pt x="9" y="99"/>
                  </a:cubicBezTo>
                  <a:cubicBezTo>
                    <a:pt x="9" y="106"/>
                    <a:pt x="6" y="112"/>
                    <a:pt x="3" y="117"/>
                  </a:cubicBezTo>
                  <a:cubicBezTo>
                    <a:pt x="2" y="120"/>
                    <a:pt x="0" y="124"/>
                    <a:pt x="0" y="126"/>
                  </a:cubicBezTo>
                  <a:cubicBezTo>
                    <a:pt x="0" y="127"/>
                    <a:pt x="5" y="129"/>
                    <a:pt x="7" y="131"/>
                  </a:cubicBezTo>
                  <a:cubicBezTo>
                    <a:pt x="12" y="134"/>
                    <a:pt x="18" y="138"/>
                    <a:pt x="21" y="144"/>
                  </a:cubicBezTo>
                  <a:cubicBezTo>
                    <a:pt x="24" y="150"/>
                    <a:pt x="25" y="156"/>
                    <a:pt x="25" y="162"/>
                  </a:cubicBezTo>
                  <a:cubicBezTo>
                    <a:pt x="25" y="165"/>
                    <a:pt x="26" y="170"/>
                    <a:pt x="26" y="172"/>
                  </a:cubicBezTo>
                  <a:cubicBezTo>
                    <a:pt x="27" y="172"/>
                    <a:pt x="32" y="172"/>
                    <a:pt x="35" y="173"/>
                  </a:cubicBezTo>
                  <a:cubicBezTo>
                    <a:pt x="41" y="173"/>
                    <a:pt x="48" y="173"/>
                    <a:pt x="54" y="177"/>
                  </a:cubicBezTo>
                  <a:cubicBezTo>
                    <a:pt x="60" y="180"/>
                    <a:pt x="63" y="186"/>
                    <a:pt x="67" y="191"/>
                  </a:cubicBezTo>
                  <a:cubicBezTo>
                    <a:pt x="68" y="193"/>
                    <a:pt x="71" y="197"/>
                    <a:pt x="72" y="198"/>
                  </a:cubicBezTo>
                  <a:cubicBezTo>
                    <a:pt x="73" y="198"/>
                    <a:pt x="78" y="196"/>
                    <a:pt x="80" y="194"/>
                  </a:cubicBezTo>
                  <a:cubicBezTo>
                    <a:pt x="86" y="192"/>
                    <a:pt x="92" y="189"/>
                    <a:pt x="99" y="189"/>
                  </a:cubicBezTo>
                  <a:cubicBezTo>
                    <a:pt x="106" y="189"/>
                    <a:pt x="112" y="190"/>
                    <a:pt x="117" y="193"/>
                  </a:cubicBezTo>
                  <a:cubicBezTo>
                    <a:pt x="120" y="194"/>
                    <a:pt x="124" y="195"/>
                    <a:pt x="125" y="195"/>
                  </a:cubicBezTo>
                  <a:cubicBezTo>
                    <a:pt x="125" y="195"/>
                    <a:pt x="125" y="195"/>
                    <a:pt x="125" y="195"/>
                  </a:cubicBezTo>
                  <a:cubicBezTo>
                    <a:pt x="126" y="195"/>
                    <a:pt x="129" y="192"/>
                    <a:pt x="131" y="189"/>
                  </a:cubicBezTo>
                  <a:cubicBezTo>
                    <a:pt x="134" y="184"/>
                    <a:pt x="138" y="179"/>
                    <a:pt x="143" y="176"/>
                  </a:cubicBezTo>
                  <a:cubicBezTo>
                    <a:pt x="149" y="172"/>
                    <a:pt x="156" y="172"/>
                    <a:pt x="162" y="172"/>
                  </a:cubicBezTo>
                  <a:cubicBezTo>
                    <a:pt x="165" y="172"/>
                    <a:pt x="170" y="172"/>
                    <a:pt x="171" y="171"/>
                  </a:cubicBezTo>
                  <a:cubicBezTo>
                    <a:pt x="172" y="170"/>
                    <a:pt x="172" y="165"/>
                    <a:pt x="172" y="162"/>
                  </a:cubicBezTo>
                  <a:cubicBezTo>
                    <a:pt x="173" y="156"/>
                    <a:pt x="173" y="150"/>
                    <a:pt x="176" y="144"/>
                  </a:cubicBezTo>
                  <a:cubicBezTo>
                    <a:pt x="180" y="138"/>
                    <a:pt x="185" y="134"/>
                    <a:pt x="190" y="131"/>
                  </a:cubicBezTo>
                  <a:cubicBezTo>
                    <a:pt x="193" y="129"/>
                    <a:pt x="197" y="127"/>
                    <a:pt x="198" y="125"/>
                  </a:cubicBezTo>
                  <a:cubicBezTo>
                    <a:pt x="198" y="124"/>
                    <a:pt x="195" y="120"/>
                    <a:pt x="194" y="117"/>
                  </a:cubicBezTo>
                  <a:cubicBezTo>
                    <a:pt x="191" y="112"/>
                    <a:pt x="188" y="106"/>
                    <a:pt x="188" y="99"/>
                  </a:cubicBezTo>
                  <a:close/>
                  <a:moveTo>
                    <a:pt x="99" y="152"/>
                  </a:moveTo>
                  <a:cubicBezTo>
                    <a:pt x="69" y="152"/>
                    <a:pt x="45" y="128"/>
                    <a:pt x="45" y="99"/>
                  </a:cubicBezTo>
                  <a:cubicBezTo>
                    <a:pt x="45" y="70"/>
                    <a:pt x="69" y="46"/>
                    <a:pt x="99" y="46"/>
                  </a:cubicBezTo>
                  <a:cubicBezTo>
                    <a:pt x="128" y="46"/>
                    <a:pt x="152" y="70"/>
                    <a:pt x="152" y="99"/>
                  </a:cubicBezTo>
                  <a:cubicBezTo>
                    <a:pt x="152" y="128"/>
                    <a:pt x="128" y="152"/>
                    <a:pt x="99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2800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79" name="Oval 684"/>
            <p:cNvSpPr>
              <a:spLocks noChangeArrowheads="1"/>
            </p:cNvSpPr>
            <p:nvPr/>
          </p:nvSpPr>
          <p:spPr bwMode="auto">
            <a:xfrm>
              <a:off x="6359" y="2816"/>
              <a:ext cx="42" cy="4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2800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80" name="Freeform 685"/>
            <p:cNvSpPr>
              <a:spLocks noEditPoints="1"/>
            </p:cNvSpPr>
            <p:nvPr/>
          </p:nvSpPr>
          <p:spPr bwMode="auto">
            <a:xfrm>
              <a:off x="6193" y="2588"/>
              <a:ext cx="374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375 w 512"/>
                <a:gd name="T11" fmla="*/ 245 h 512"/>
                <a:gd name="T12" fmla="*/ 359 w 512"/>
                <a:gd name="T13" fmla="*/ 263 h 512"/>
                <a:gd name="T14" fmla="*/ 352 w 512"/>
                <a:gd name="T15" fmla="*/ 268 h 512"/>
                <a:gd name="T16" fmla="*/ 351 w 512"/>
                <a:gd name="T17" fmla="*/ 278 h 512"/>
                <a:gd name="T18" fmla="*/ 343 w 512"/>
                <a:gd name="T19" fmla="*/ 300 h 512"/>
                <a:gd name="T20" fmla="*/ 320 w 512"/>
                <a:gd name="T21" fmla="*/ 308 h 512"/>
                <a:gd name="T22" fmla="*/ 320 w 512"/>
                <a:gd name="T23" fmla="*/ 308 h 512"/>
                <a:gd name="T24" fmla="*/ 320 w 512"/>
                <a:gd name="T25" fmla="*/ 416 h 512"/>
                <a:gd name="T26" fmla="*/ 314 w 512"/>
                <a:gd name="T27" fmla="*/ 425 h 512"/>
                <a:gd name="T28" fmla="*/ 309 w 512"/>
                <a:gd name="T29" fmla="*/ 426 h 512"/>
                <a:gd name="T30" fmla="*/ 304 w 512"/>
                <a:gd name="T31" fmla="*/ 425 h 512"/>
                <a:gd name="T32" fmla="*/ 256 w 512"/>
                <a:gd name="T33" fmla="*/ 396 h 512"/>
                <a:gd name="T34" fmla="*/ 208 w 512"/>
                <a:gd name="T35" fmla="*/ 425 h 512"/>
                <a:gd name="T36" fmla="*/ 197 w 512"/>
                <a:gd name="T37" fmla="*/ 425 h 512"/>
                <a:gd name="T38" fmla="*/ 192 w 512"/>
                <a:gd name="T39" fmla="*/ 416 h 512"/>
                <a:gd name="T40" fmla="*/ 192 w 512"/>
                <a:gd name="T41" fmla="*/ 308 h 512"/>
                <a:gd name="T42" fmla="*/ 191 w 512"/>
                <a:gd name="T43" fmla="*/ 308 h 512"/>
                <a:gd name="T44" fmla="*/ 168 w 512"/>
                <a:gd name="T45" fmla="*/ 300 h 512"/>
                <a:gd name="T46" fmla="*/ 161 w 512"/>
                <a:gd name="T47" fmla="*/ 278 h 512"/>
                <a:gd name="T48" fmla="*/ 160 w 512"/>
                <a:gd name="T49" fmla="*/ 268 h 512"/>
                <a:gd name="T50" fmla="*/ 152 w 512"/>
                <a:gd name="T51" fmla="*/ 263 h 512"/>
                <a:gd name="T52" fmla="*/ 136 w 512"/>
                <a:gd name="T53" fmla="*/ 245 h 512"/>
                <a:gd name="T54" fmla="*/ 141 w 512"/>
                <a:gd name="T55" fmla="*/ 222 h 512"/>
                <a:gd name="T56" fmla="*/ 145 w 512"/>
                <a:gd name="T57" fmla="*/ 213 h 512"/>
                <a:gd name="T58" fmla="*/ 141 w 512"/>
                <a:gd name="T59" fmla="*/ 204 h 512"/>
                <a:gd name="T60" fmla="*/ 136 w 512"/>
                <a:gd name="T61" fmla="*/ 181 h 512"/>
                <a:gd name="T62" fmla="*/ 152 w 512"/>
                <a:gd name="T63" fmla="*/ 163 h 512"/>
                <a:gd name="T64" fmla="*/ 160 w 512"/>
                <a:gd name="T65" fmla="*/ 158 h 512"/>
                <a:gd name="T66" fmla="*/ 161 w 512"/>
                <a:gd name="T67" fmla="*/ 148 h 512"/>
                <a:gd name="T68" fmla="*/ 168 w 512"/>
                <a:gd name="T69" fmla="*/ 126 h 512"/>
                <a:gd name="T70" fmla="*/ 191 w 512"/>
                <a:gd name="T71" fmla="*/ 118 h 512"/>
                <a:gd name="T72" fmla="*/ 200 w 512"/>
                <a:gd name="T73" fmla="*/ 117 h 512"/>
                <a:gd name="T74" fmla="*/ 206 w 512"/>
                <a:gd name="T75" fmla="*/ 110 h 512"/>
                <a:gd name="T76" fmla="*/ 224 w 512"/>
                <a:gd name="T77" fmla="*/ 93 h 512"/>
                <a:gd name="T78" fmla="*/ 247 w 512"/>
                <a:gd name="T79" fmla="*/ 99 h 512"/>
                <a:gd name="T80" fmla="*/ 256 w 512"/>
                <a:gd name="T81" fmla="*/ 102 h 512"/>
                <a:gd name="T82" fmla="*/ 264 w 512"/>
                <a:gd name="T83" fmla="*/ 99 h 512"/>
                <a:gd name="T84" fmla="*/ 288 w 512"/>
                <a:gd name="T85" fmla="*/ 93 h 512"/>
                <a:gd name="T86" fmla="*/ 306 w 512"/>
                <a:gd name="T87" fmla="*/ 110 h 512"/>
                <a:gd name="T88" fmla="*/ 311 w 512"/>
                <a:gd name="T89" fmla="*/ 117 h 512"/>
                <a:gd name="T90" fmla="*/ 320 w 512"/>
                <a:gd name="T91" fmla="*/ 118 h 512"/>
                <a:gd name="T92" fmla="*/ 343 w 512"/>
                <a:gd name="T93" fmla="*/ 126 h 512"/>
                <a:gd name="T94" fmla="*/ 351 w 512"/>
                <a:gd name="T95" fmla="*/ 148 h 512"/>
                <a:gd name="T96" fmla="*/ 352 w 512"/>
                <a:gd name="T97" fmla="*/ 158 h 512"/>
                <a:gd name="T98" fmla="*/ 359 w 512"/>
                <a:gd name="T99" fmla="*/ 163 h 512"/>
                <a:gd name="T100" fmla="*/ 375 w 512"/>
                <a:gd name="T101" fmla="*/ 181 h 512"/>
                <a:gd name="T102" fmla="*/ 370 w 512"/>
                <a:gd name="T103" fmla="*/ 204 h 512"/>
                <a:gd name="T104" fmla="*/ 367 w 512"/>
                <a:gd name="T105" fmla="*/ 213 h 512"/>
                <a:gd name="T106" fmla="*/ 370 w 512"/>
                <a:gd name="T107" fmla="*/ 222 h 512"/>
                <a:gd name="T108" fmla="*/ 375 w 512"/>
                <a:gd name="T109" fmla="*/ 24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375" y="245"/>
                  </a:moveTo>
                  <a:cubicBezTo>
                    <a:pt x="373" y="254"/>
                    <a:pt x="365" y="259"/>
                    <a:pt x="359" y="263"/>
                  </a:cubicBezTo>
                  <a:cubicBezTo>
                    <a:pt x="356" y="265"/>
                    <a:pt x="353" y="267"/>
                    <a:pt x="352" y="268"/>
                  </a:cubicBezTo>
                  <a:cubicBezTo>
                    <a:pt x="351" y="270"/>
                    <a:pt x="351" y="274"/>
                    <a:pt x="351" y="278"/>
                  </a:cubicBezTo>
                  <a:cubicBezTo>
                    <a:pt x="350" y="285"/>
                    <a:pt x="350" y="294"/>
                    <a:pt x="343" y="300"/>
                  </a:cubicBezTo>
                  <a:cubicBezTo>
                    <a:pt x="337" y="307"/>
                    <a:pt x="328" y="307"/>
                    <a:pt x="320" y="308"/>
                  </a:cubicBezTo>
                  <a:cubicBezTo>
                    <a:pt x="320" y="308"/>
                    <a:pt x="320" y="308"/>
                    <a:pt x="320" y="308"/>
                  </a:cubicBezTo>
                  <a:cubicBezTo>
                    <a:pt x="320" y="416"/>
                    <a:pt x="320" y="416"/>
                    <a:pt x="320" y="416"/>
                  </a:cubicBezTo>
                  <a:cubicBezTo>
                    <a:pt x="320" y="420"/>
                    <a:pt x="318" y="423"/>
                    <a:pt x="314" y="425"/>
                  </a:cubicBezTo>
                  <a:cubicBezTo>
                    <a:pt x="313" y="426"/>
                    <a:pt x="311" y="426"/>
                    <a:pt x="309" y="426"/>
                  </a:cubicBezTo>
                  <a:cubicBezTo>
                    <a:pt x="307" y="426"/>
                    <a:pt x="305" y="426"/>
                    <a:pt x="304" y="425"/>
                  </a:cubicBezTo>
                  <a:cubicBezTo>
                    <a:pt x="256" y="396"/>
                    <a:pt x="256" y="396"/>
                    <a:pt x="256" y="396"/>
                  </a:cubicBezTo>
                  <a:cubicBezTo>
                    <a:pt x="208" y="425"/>
                    <a:pt x="208" y="425"/>
                    <a:pt x="208" y="425"/>
                  </a:cubicBezTo>
                  <a:cubicBezTo>
                    <a:pt x="205" y="427"/>
                    <a:pt x="200" y="427"/>
                    <a:pt x="197" y="425"/>
                  </a:cubicBezTo>
                  <a:cubicBezTo>
                    <a:pt x="194" y="423"/>
                    <a:pt x="192" y="420"/>
                    <a:pt x="192" y="416"/>
                  </a:cubicBezTo>
                  <a:cubicBezTo>
                    <a:pt x="192" y="308"/>
                    <a:pt x="192" y="308"/>
                    <a:pt x="192" y="308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84" y="307"/>
                    <a:pt x="175" y="307"/>
                    <a:pt x="168" y="300"/>
                  </a:cubicBezTo>
                  <a:cubicBezTo>
                    <a:pt x="162" y="294"/>
                    <a:pt x="161" y="285"/>
                    <a:pt x="161" y="278"/>
                  </a:cubicBezTo>
                  <a:cubicBezTo>
                    <a:pt x="161" y="274"/>
                    <a:pt x="160" y="270"/>
                    <a:pt x="160" y="268"/>
                  </a:cubicBezTo>
                  <a:cubicBezTo>
                    <a:pt x="159" y="267"/>
                    <a:pt x="155" y="265"/>
                    <a:pt x="152" y="263"/>
                  </a:cubicBezTo>
                  <a:cubicBezTo>
                    <a:pt x="146" y="259"/>
                    <a:pt x="139" y="254"/>
                    <a:pt x="136" y="245"/>
                  </a:cubicBezTo>
                  <a:cubicBezTo>
                    <a:pt x="134" y="236"/>
                    <a:pt x="138" y="228"/>
                    <a:pt x="141" y="222"/>
                  </a:cubicBezTo>
                  <a:cubicBezTo>
                    <a:pt x="143" y="219"/>
                    <a:pt x="145" y="215"/>
                    <a:pt x="145" y="213"/>
                  </a:cubicBezTo>
                  <a:cubicBezTo>
                    <a:pt x="145" y="211"/>
                    <a:pt x="143" y="207"/>
                    <a:pt x="141" y="204"/>
                  </a:cubicBezTo>
                  <a:cubicBezTo>
                    <a:pt x="138" y="198"/>
                    <a:pt x="134" y="190"/>
                    <a:pt x="136" y="181"/>
                  </a:cubicBezTo>
                  <a:cubicBezTo>
                    <a:pt x="139" y="172"/>
                    <a:pt x="146" y="167"/>
                    <a:pt x="152" y="163"/>
                  </a:cubicBezTo>
                  <a:cubicBezTo>
                    <a:pt x="155" y="161"/>
                    <a:pt x="159" y="159"/>
                    <a:pt x="160" y="158"/>
                  </a:cubicBezTo>
                  <a:cubicBezTo>
                    <a:pt x="160" y="156"/>
                    <a:pt x="161" y="152"/>
                    <a:pt x="161" y="148"/>
                  </a:cubicBezTo>
                  <a:cubicBezTo>
                    <a:pt x="161" y="141"/>
                    <a:pt x="162" y="132"/>
                    <a:pt x="168" y="126"/>
                  </a:cubicBezTo>
                  <a:cubicBezTo>
                    <a:pt x="175" y="119"/>
                    <a:pt x="184" y="119"/>
                    <a:pt x="191" y="118"/>
                  </a:cubicBezTo>
                  <a:cubicBezTo>
                    <a:pt x="194" y="118"/>
                    <a:pt x="199" y="118"/>
                    <a:pt x="200" y="117"/>
                  </a:cubicBezTo>
                  <a:cubicBezTo>
                    <a:pt x="202" y="116"/>
                    <a:pt x="204" y="112"/>
                    <a:pt x="206" y="110"/>
                  </a:cubicBezTo>
                  <a:cubicBezTo>
                    <a:pt x="210" y="104"/>
                    <a:pt x="215" y="96"/>
                    <a:pt x="224" y="93"/>
                  </a:cubicBezTo>
                  <a:cubicBezTo>
                    <a:pt x="232" y="91"/>
                    <a:pt x="240" y="95"/>
                    <a:pt x="247" y="99"/>
                  </a:cubicBezTo>
                  <a:cubicBezTo>
                    <a:pt x="250" y="100"/>
                    <a:pt x="254" y="102"/>
                    <a:pt x="256" y="102"/>
                  </a:cubicBezTo>
                  <a:cubicBezTo>
                    <a:pt x="257" y="102"/>
                    <a:pt x="262" y="100"/>
                    <a:pt x="264" y="99"/>
                  </a:cubicBezTo>
                  <a:cubicBezTo>
                    <a:pt x="271" y="95"/>
                    <a:pt x="279" y="91"/>
                    <a:pt x="288" y="93"/>
                  </a:cubicBezTo>
                  <a:cubicBezTo>
                    <a:pt x="297" y="96"/>
                    <a:pt x="302" y="104"/>
                    <a:pt x="306" y="110"/>
                  </a:cubicBezTo>
                  <a:cubicBezTo>
                    <a:pt x="307" y="112"/>
                    <a:pt x="310" y="116"/>
                    <a:pt x="311" y="117"/>
                  </a:cubicBezTo>
                  <a:cubicBezTo>
                    <a:pt x="313" y="118"/>
                    <a:pt x="317" y="118"/>
                    <a:pt x="320" y="118"/>
                  </a:cubicBezTo>
                  <a:cubicBezTo>
                    <a:pt x="328" y="119"/>
                    <a:pt x="337" y="119"/>
                    <a:pt x="343" y="126"/>
                  </a:cubicBezTo>
                  <a:cubicBezTo>
                    <a:pt x="350" y="132"/>
                    <a:pt x="350" y="141"/>
                    <a:pt x="351" y="148"/>
                  </a:cubicBezTo>
                  <a:cubicBezTo>
                    <a:pt x="351" y="152"/>
                    <a:pt x="351" y="156"/>
                    <a:pt x="352" y="158"/>
                  </a:cubicBezTo>
                  <a:cubicBezTo>
                    <a:pt x="353" y="159"/>
                    <a:pt x="356" y="161"/>
                    <a:pt x="359" y="163"/>
                  </a:cubicBezTo>
                  <a:cubicBezTo>
                    <a:pt x="365" y="167"/>
                    <a:pt x="373" y="172"/>
                    <a:pt x="375" y="181"/>
                  </a:cubicBezTo>
                  <a:cubicBezTo>
                    <a:pt x="378" y="190"/>
                    <a:pt x="373" y="198"/>
                    <a:pt x="370" y="204"/>
                  </a:cubicBezTo>
                  <a:cubicBezTo>
                    <a:pt x="369" y="207"/>
                    <a:pt x="367" y="211"/>
                    <a:pt x="367" y="213"/>
                  </a:cubicBezTo>
                  <a:cubicBezTo>
                    <a:pt x="367" y="215"/>
                    <a:pt x="369" y="219"/>
                    <a:pt x="370" y="222"/>
                  </a:cubicBezTo>
                  <a:cubicBezTo>
                    <a:pt x="373" y="228"/>
                    <a:pt x="378" y="236"/>
                    <a:pt x="375" y="2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2800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94" name="Rectangle 93"/>
          <p:cNvSpPr/>
          <p:nvPr/>
        </p:nvSpPr>
        <p:spPr bwMode="gray">
          <a:xfrm>
            <a:off x="2705602" y="4112250"/>
            <a:ext cx="1800000" cy="7797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Steel Importers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65" name="Rectangle 64"/>
          <p:cNvSpPr/>
          <p:nvPr/>
        </p:nvSpPr>
        <p:spPr bwMode="gray">
          <a:xfrm>
            <a:off x="2705602" y="2166539"/>
            <a:ext cx="1800000" cy="7797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BIS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87" name="Freeform 59">
            <a:extLst>
              <a:ext uri="{FF2B5EF4-FFF2-40B4-BE49-F238E27FC236}">
                <a16:creationId xmlns:a16="http://schemas.microsoft.com/office/drawing/2014/main" id="{9920DF9A-5043-4800-805F-AAA1D155489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71280" y="4187870"/>
            <a:ext cx="466629" cy="506866"/>
          </a:xfrm>
          <a:custGeom>
            <a:avLst/>
            <a:gdLst>
              <a:gd name="T0" fmla="*/ 147 w 512"/>
              <a:gd name="T1" fmla="*/ 170 h 512"/>
              <a:gd name="T2" fmla="*/ 201 w 512"/>
              <a:gd name="T3" fmla="*/ 170 h 512"/>
              <a:gd name="T4" fmla="*/ 223 w 512"/>
              <a:gd name="T5" fmla="*/ 170 h 512"/>
              <a:gd name="T6" fmla="*/ 256 w 512"/>
              <a:gd name="T7" fmla="*/ 117 h 512"/>
              <a:gd name="T8" fmla="*/ 133 w 512"/>
              <a:gd name="T9" fmla="*/ 192 h 512"/>
              <a:gd name="T10" fmla="*/ 192 w 512"/>
              <a:gd name="T11" fmla="*/ 245 h 512"/>
              <a:gd name="T12" fmla="*/ 218 w 512"/>
              <a:gd name="T13" fmla="*/ 320 h 512"/>
              <a:gd name="T14" fmla="*/ 298 w 512"/>
              <a:gd name="T15" fmla="*/ 266 h 512"/>
              <a:gd name="T16" fmla="*/ 218 w 512"/>
              <a:gd name="T17" fmla="*/ 320 h 512"/>
              <a:gd name="T18" fmla="*/ 292 w 512"/>
              <a:gd name="T19" fmla="*/ 122 h 512"/>
              <a:gd name="T20" fmla="*/ 365 w 512"/>
              <a:gd name="T21" fmla="*/ 170 h 512"/>
              <a:gd name="T22" fmla="*/ 218 w 512"/>
              <a:gd name="T23" fmla="*/ 192 h 512"/>
              <a:gd name="T24" fmla="*/ 298 w 512"/>
              <a:gd name="T25" fmla="*/ 245 h 512"/>
              <a:gd name="T26" fmla="*/ 192 w 512"/>
              <a:gd name="T27" fmla="*/ 266 h 512"/>
              <a:gd name="T28" fmla="*/ 133 w 512"/>
              <a:gd name="T29" fmla="*/ 320 h 512"/>
              <a:gd name="T30" fmla="*/ 192 w 512"/>
              <a:gd name="T31" fmla="*/ 266 h 512"/>
              <a:gd name="T32" fmla="*/ 394 w 512"/>
              <a:gd name="T33" fmla="*/ 245 h 512"/>
              <a:gd name="T34" fmla="*/ 314 w 512"/>
              <a:gd name="T35" fmla="*/ 192 h 512"/>
              <a:gd name="T36" fmla="*/ 512 w 512"/>
              <a:gd name="T37" fmla="*/ 256 h 512"/>
              <a:gd name="T38" fmla="*/ 0 w 512"/>
              <a:gd name="T39" fmla="*/ 256 h 512"/>
              <a:gd name="T40" fmla="*/ 512 w 512"/>
              <a:gd name="T41" fmla="*/ 256 h 512"/>
              <a:gd name="T42" fmla="*/ 256 w 512"/>
              <a:gd name="T43" fmla="*/ 96 h 512"/>
              <a:gd name="T44" fmla="*/ 256 w 512"/>
              <a:gd name="T45" fmla="*/ 416 h 512"/>
              <a:gd name="T46" fmla="*/ 314 w 512"/>
              <a:gd name="T47" fmla="*/ 320 h 512"/>
              <a:gd name="T48" fmla="*/ 394 w 512"/>
              <a:gd name="T49" fmla="*/ 266 h 512"/>
              <a:gd name="T50" fmla="*/ 314 w 512"/>
              <a:gd name="T51" fmla="*/ 320 h 512"/>
              <a:gd name="T52" fmla="*/ 220 w 512"/>
              <a:gd name="T53" fmla="*/ 389 h 512"/>
              <a:gd name="T54" fmla="*/ 147 w 512"/>
              <a:gd name="T55" fmla="*/ 341 h 512"/>
              <a:gd name="T56" fmla="*/ 365 w 512"/>
              <a:gd name="T57" fmla="*/ 341 h 512"/>
              <a:gd name="T58" fmla="*/ 292 w 512"/>
              <a:gd name="T59" fmla="*/ 389 h 512"/>
              <a:gd name="T60" fmla="*/ 288 w 512"/>
              <a:gd name="T61" fmla="*/ 341 h 512"/>
              <a:gd name="T62" fmla="*/ 256 w 512"/>
              <a:gd name="T63" fmla="*/ 39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12" h="512">
                <a:moveTo>
                  <a:pt x="201" y="170"/>
                </a:moveTo>
                <a:cubicBezTo>
                  <a:pt x="147" y="170"/>
                  <a:pt x="147" y="170"/>
                  <a:pt x="147" y="170"/>
                </a:cubicBezTo>
                <a:cubicBezTo>
                  <a:pt x="165" y="147"/>
                  <a:pt x="190" y="130"/>
                  <a:pt x="220" y="122"/>
                </a:cubicBezTo>
                <a:cubicBezTo>
                  <a:pt x="212" y="135"/>
                  <a:pt x="206" y="151"/>
                  <a:pt x="201" y="170"/>
                </a:cubicBezTo>
                <a:close/>
                <a:moveTo>
                  <a:pt x="256" y="117"/>
                </a:moveTo>
                <a:cubicBezTo>
                  <a:pt x="245" y="117"/>
                  <a:pt x="232" y="137"/>
                  <a:pt x="223" y="170"/>
                </a:cubicBezTo>
                <a:cubicBezTo>
                  <a:pt x="288" y="170"/>
                  <a:pt x="288" y="170"/>
                  <a:pt x="288" y="170"/>
                </a:cubicBezTo>
                <a:cubicBezTo>
                  <a:pt x="279" y="137"/>
                  <a:pt x="266" y="117"/>
                  <a:pt x="256" y="117"/>
                </a:cubicBezTo>
                <a:close/>
                <a:moveTo>
                  <a:pt x="197" y="192"/>
                </a:moveTo>
                <a:cubicBezTo>
                  <a:pt x="133" y="192"/>
                  <a:pt x="133" y="192"/>
                  <a:pt x="133" y="192"/>
                </a:cubicBezTo>
                <a:cubicBezTo>
                  <a:pt x="124" y="208"/>
                  <a:pt x="119" y="226"/>
                  <a:pt x="118" y="245"/>
                </a:cubicBezTo>
                <a:cubicBezTo>
                  <a:pt x="192" y="245"/>
                  <a:pt x="192" y="245"/>
                  <a:pt x="192" y="245"/>
                </a:cubicBezTo>
                <a:cubicBezTo>
                  <a:pt x="192" y="227"/>
                  <a:pt x="194" y="209"/>
                  <a:pt x="197" y="192"/>
                </a:cubicBezTo>
                <a:close/>
                <a:moveTo>
                  <a:pt x="218" y="320"/>
                </a:moveTo>
                <a:cubicBezTo>
                  <a:pt x="293" y="320"/>
                  <a:pt x="293" y="320"/>
                  <a:pt x="293" y="320"/>
                </a:cubicBezTo>
                <a:cubicBezTo>
                  <a:pt x="296" y="304"/>
                  <a:pt x="298" y="286"/>
                  <a:pt x="298" y="266"/>
                </a:cubicBezTo>
                <a:cubicBezTo>
                  <a:pt x="213" y="266"/>
                  <a:pt x="213" y="266"/>
                  <a:pt x="213" y="266"/>
                </a:cubicBezTo>
                <a:cubicBezTo>
                  <a:pt x="214" y="286"/>
                  <a:pt x="216" y="304"/>
                  <a:pt x="218" y="320"/>
                </a:cubicBezTo>
                <a:close/>
                <a:moveTo>
                  <a:pt x="365" y="170"/>
                </a:moveTo>
                <a:cubicBezTo>
                  <a:pt x="347" y="147"/>
                  <a:pt x="321" y="130"/>
                  <a:pt x="292" y="122"/>
                </a:cubicBezTo>
                <a:cubicBezTo>
                  <a:pt x="299" y="135"/>
                  <a:pt x="306" y="151"/>
                  <a:pt x="310" y="170"/>
                </a:cubicBezTo>
                <a:lnTo>
                  <a:pt x="365" y="170"/>
                </a:lnTo>
                <a:close/>
                <a:moveTo>
                  <a:pt x="293" y="192"/>
                </a:moveTo>
                <a:cubicBezTo>
                  <a:pt x="218" y="192"/>
                  <a:pt x="218" y="192"/>
                  <a:pt x="218" y="192"/>
                </a:cubicBezTo>
                <a:cubicBezTo>
                  <a:pt x="216" y="207"/>
                  <a:pt x="214" y="225"/>
                  <a:pt x="213" y="245"/>
                </a:cubicBezTo>
                <a:cubicBezTo>
                  <a:pt x="298" y="245"/>
                  <a:pt x="298" y="245"/>
                  <a:pt x="298" y="245"/>
                </a:cubicBezTo>
                <a:cubicBezTo>
                  <a:pt x="298" y="225"/>
                  <a:pt x="296" y="207"/>
                  <a:pt x="293" y="192"/>
                </a:cubicBezTo>
                <a:close/>
                <a:moveTo>
                  <a:pt x="192" y="266"/>
                </a:moveTo>
                <a:cubicBezTo>
                  <a:pt x="118" y="266"/>
                  <a:pt x="118" y="266"/>
                  <a:pt x="118" y="266"/>
                </a:cubicBezTo>
                <a:cubicBezTo>
                  <a:pt x="119" y="285"/>
                  <a:pt x="124" y="303"/>
                  <a:pt x="133" y="320"/>
                </a:cubicBezTo>
                <a:cubicBezTo>
                  <a:pt x="197" y="320"/>
                  <a:pt x="197" y="320"/>
                  <a:pt x="197" y="320"/>
                </a:cubicBezTo>
                <a:cubicBezTo>
                  <a:pt x="194" y="303"/>
                  <a:pt x="192" y="284"/>
                  <a:pt x="192" y="266"/>
                </a:cubicBezTo>
                <a:close/>
                <a:moveTo>
                  <a:pt x="319" y="245"/>
                </a:moveTo>
                <a:cubicBezTo>
                  <a:pt x="394" y="245"/>
                  <a:pt x="394" y="245"/>
                  <a:pt x="394" y="245"/>
                </a:cubicBezTo>
                <a:cubicBezTo>
                  <a:pt x="392" y="226"/>
                  <a:pt x="387" y="208"/>
                  <a:pt x="379" y="192"/>
                </a:cubicBezTo>
                <a:cubicBezTo>
                  <a:pt x="314" y="192"/>
                  <a:pt x="314" y="192"/>
                  <a:pt x="314" y="192"/>
                </a:cubicBezTo>
                <a:cubicBezTo>
                  <a:pt x="317" y="209"/>
                  <a:pt x="319" y="227"/>
                  <a:pt x="319" y="245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256"/>
                </a:moveTo>
                <a:cubicBezTo>
                  <a:pt x="416" y="167"/>
                  <a:pt x="344" y="96"/>
                  <a:pt x="256" y="96"/>
                </a:cubicBezTo>
                <a:cubicBezTo>
                  <a:pt x="167" y="96"/>
                  <a:pt x="96" y="167"/>
                  <a:pt x="96" y="256"/>
                </a:cubicBezTo>
                <a:cubicBezTo>
                  <a:pt x="96" y="344"/>
                  <a:pt x="167" y="416"/>
                  <a:pt x="256" y="416"/>
                </a:cubicBezTo>
                <a:cubicBezTo>
                  <a:pt x="344" y="416"/>
                  <a:pt x="416" y="344"/>
                  <a:pt x="416" y="256"/>
                </a:cubicBezTo>
                <a:close/>
                <a:moveTo>
                  <a:pt x="314" y="320"/>
                </a:moveTo>
                <a:cubicBezTo>
                  <a:pt x="379" y="320"/>
                  <a:pt x="379" y="320"/>
                  <a:pt x="379" y="320"/>
                </a:cubicBezTo>
                <a:cubicBezTo>
                  <a:pt x="387" y="303"/>
                  <a:pt x="392" y="285"/>
                  <a:pt x="394" y="266"/>
                </a:cubicBezTo>
                <a:cubicBezTo>
                  <a:pt x="319" y="266"/>
                  <a:pt x="319" y="266"/>
                  <a:pt x="319" y="266"/>
                </a:cubicBezTo>
                <a:cubicBezTo>
                  <a:pt x="319" y="284"/>
                  <a:pt x="317" y="303"/>
                  <a:pt x="314" y="320"/>
                </a:cubicBezTo>
                <a:close/>
                <a:moveTo>
                  <a:pt x="147" y="341"/>
                </a:moveTo>
                <a:cubicBezTo>
                  <a:pt x="165" y="364"/>
                  <a:pt x="190" y="381"/>
                  <a:pt x="220" y="389"/>
                </a:cubicBezTo>
                <a:cubicBezTo>
                  <a:pt x="212" y="377"/>
                  <a:pt x="206" y="360"/>
                  <a:pt x="201" y="341"/>
                </a:cubicBezTo>
                <a:lnTo>
                  <a:pt x="147" y="341"/>
                </a:lnTo>
                <a:close/>
                <a:moveTo>
                  <a:pt x="292" y="389"/>
                </a:moveTo>
                <a:cubicBezTo>
                  <a:pt x="321" y="381"/>
                  <a:pt x="347" y="364"/>
                  <a:pt x="365" y="341"/>
                </a:cubicBezTo>
                <a:cubicBezTo>
                  <a:pt x="310" y="341"/>
                  <a:pt x="310" y="341"/>
                  <a:pt x="310" y="341"/>
                </a:cubicBezTo>
                <a:cubicBezTo>
                  <a:pt x="306" y="360"/>
                  <a:pt x="299" y="377"/>
                  <a:pt x="292" y="389"/>
                </a:cubicBezTo>
                <a:close/>
                <a:moveTo>
                  <a:pt x="256" y="394"/>
                </a:moveTo>
                <a:cubicBezTo>
                  <a:pt x="266" y="394"/>
                  <a:pt x="279" y="375"/>
                  <a:pt x="288" y="341"/>
                </a:cubicBezTo>
                <a:cubicBezTo>
                  <a:pt x="223" y="341"/>
                  <a:pt x="223" y="341"/>
                  <a:pt x="223" y="341"/>
                </a:cubicBezTo>
                <a:cubicBezTo>
                  <a:pt x="232" y="375"/>
                  <a:pt x="245" y="394"/>
                  <a:pt x="256" y="3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2000" dirty="0"/>
          </a:p>
        </p:txBody>
      </p:sp>
      <p:sp>
        <p:nvSpPr>
          <p:cNvPr id="40" name="Freeform 97"/>
          <p:cNvSpPr>
            <a:spLocks noChangeAspect="1" noEditPoints="1"/>
          </p:cNvSpPr>
          <p:nvPr/>
        </p:nvSpPr>
        <p:spPr bwMode="auto">
          <a:xfrm>
            <a:off x="5044021" y="2266424"/>
            <a:ext cx="481189" cy="516959"/>
          </a:xfrm>
          <a:custGeom>
            <a:avLst/>
            <a:gdLst>
              <a:gd name="T0" fmla="*/ 298 w 512"/>
              <a:gd name="T1" fmla="*/ 298 h 512"/>
              <a:gd name="T2" fmla="*/ 373 w 512"/>
              <a:gd name="T3" fmla="*/ 298 h 512"/>
              <a:gd name="T4" fmla="*/ 373 w 512"/>
              <a:gd name="T5" fmla="*/ 373 h 512"/>
              <a:gd name="T6" fmla="*/ 298 w 512"/>
              <a:gd name="T7" fmla="*/ 373 h 512"/>
              <a:gd name="T8" fmla="*/ 298 w 512"/>
              <a:gd name="T9" fmla="*/ 298 h 512"/>
              <a:gd name="T10" fmla="*/ 138 w 512"/>
              <a:gd name="T11" fmla="*/ 213 h 512"/>
              <a:gd name="T12" fmla="*/ 213 w 512"/>
              <a:gd name="T13" fmla="*/ 213 h 512"/>
              <a:gd name="T14" fmla="*/ 213 w 512"/>
              <a:gd name="T15" fmla="*/ 138 h 512"/>
              <a:gd name="T16" fmla="*/ 138 w 512"/>
              <a:gd name="T17" fmla="*/ 138 h 512"/>
              <a:gd name="T18" fmla="*/ 138 w 512"/>
              <a:gd name="T19" fmla="*/ 213 h 512"/>
              <a:gd name="T20" fmla="*/ 138 w 512"/>
              <a:gd name="T21" fmla="*/ 373 h 512"/>
              <a:gd name="T22" fmla="*/ 213 w 512"/>
              <a:gd name="T23" fmla="*/ 373 h 512"/>
              <a:gd name="T24" fmla="*/ 213 w 512"/>
              <a:gd name="T25" fmla="*/ 298 h 512"/>
              <a:gd name="T26" fmla="*/ 138 w 512"/>
              <a:gd name="T27" fmla="*/ 298 h 512"/>
              <a:gd name="T28" fmla="*/ 138 w 512"/>
              <a:gd name="T29" fmla="*/ 373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234 w 512"/>
              <a:gd name="T41" fmla="*/ 288 h 512"/>
              <a:gd name="T42" fmla="*/ 224 w 512"/>
              <a:gd name="T43" fmla="*/ 277 h 512"/>
              <a:gd name="T44" fmla="*/ 128 w 512"/>
              <a:gd name="T45" fmla="*/ 277 h 512"/>
              <a:gd name="T46" fmla="*/ 117 w 512"/>
              <a:gd name="T47" fmla="*/ 288 h 512"/>
              <a:gd name="T48" fmla="*/ 117 w 512"/>
              <a:gd name="T49" fmla="*/ 384 h 512"/>
              <a:gd name="T50" fmla="*/ 128 w 512"/>
              <a:gd name="T51" fmla="*/ 394 h 512"/>
              <a:gd name="T52" fmla="*/ 224 w 512"/>
              <a:gd name="T53" fmla="*/ 394 h 512"/>
              <a:gd name="T54" fmla="*/ 234 w 512"/>
              <a:gd name="T55" fmla="*/ 384 h 512"/>
              <a:gd name="T56" fmla="*/ 234 w 512"/>
              <a:gd name="T57" fmla="*/ 288 h 512"/>
              <a:gd name="T58" fmla="*/ 234 w 512"/>
              <a:gd name="T59" fmla="*/ 128 h 512"/>
              <a:gd name="T60" fmla="*/ 224 w 512"/>
              <a:gd name="T61" fmla="*/ 117 h 512"/>
              <a:gd name="T62" fmla="*/ 128 w 512"/>
              <a:gd name="T63" fmla="*/ 117 h 512"/>
              <a:gd name="T64" fmla="*/ 117 w 512"/>
              <a:gd name="T65" fmla="*/ 128 h 512"/>
              <a:gd name="T66" fmla="*/ 117 w 512"/>
              <a:gd name="T67" fmla="*/ 224 h 512"/>
              <a:gd name="T68" fmla="*/ 128 w 512"/>
              <a:gd name="T69" fmla="*/ 234 h 512"/>
              <a:gd name="T70" fmla="*/ 224 w 512"/>
              <a:gd name="T71" fmla="*/ 234 h 512"/>
              <a:gd name="T72" fmla="*/ 234 w 512"/>
              <a:gd name="T73" fmla="*/ 224 h 512"/>
              <a:gd name="T74" fmla="*/ 234 w 512"/>
              <a:gd name="T75" fmla="*/ 128 h 512"/>
              <a:gd name="T76" fmla="*/ 394 w 512"/>
              <a:gd name="T77" fmla="*/ 288 h 512"/>
              <a:gd name="T78" fmla="*/ 384 w 512"/>
              <a:gd name="T79" fmla="*/ 277 h 512"/>
              <a:gd name="T80" fmla="*/ 288 w 512"/>
              <a:gd name="T81" fmla="*/ 277 h 512"/>
              <a:gd name="T82" fmla="*/ 277 w 512"/>
              <a:gd name="T83" fmla="*/ 288 h 512"/>
              <a:gd name="T84" fmla="*/ 277 w 512"/>
              <a:gd name="T85" fmla="*/ 384 h 512"/>
              <a:gd name="T86" fmla="*/ 288 w 512"/>
              <a:gd name="T87" fmla="*/ 394 h 512"/>
              <a:gd name="T88" fmla="*/ 384 w 512"/>
              <a:gd name="T89" fmla="*/ 394 h 512"/>
              <a:gd name="T90" fmla="*/ 394 w 512"/>
              <a:gd name="T91" fmla="*/ 384 h 512"/>
              <a:gd name="T92" fmla="*/ 394 w 512"/>
              <a:gd name="T93" fmla="*/ 288 h 512"/>
              <a:gd name="T94" fmla="*/ 394 w 512"/>
              <a:gd name="T95" fmla="*/ 128 h 512"/>
              <a:gd name="T96" fmla="*/ 384 w 512"/>
              <a:gd name="T97" fmla="*/ 117 h 512"/>
              <a:gd name="T98" fmla="*/ 288 w 512"/>
              <a:gd name="T99" fmla="*/ 117 h 512"/>
              <a:gd name="T100" fmla="*/ 277 w 512"/>
              <a:gd name="T101" fmla="*/ 128 h 512"/>
              <a:gd name="T102" fmla="*/ 277 w 512"/>
              <a:gd name="T103" fmla="*/ 224 h 512"/>
              <a:gd name="T104" fmla="*/ 288 w 512"/>
              <a:gd name="T105" fmla="*/ 234 h 512"/>
              <a:gd name="T106" fmla="*/ 384 w 512"/>
              <a:gd name="T107" fmla="*/ 234 h 512"/>
              <a:gd name="T108" fmla="*/ 394 w 512"/>
              <a:gd name="T109" fmla="*/ 224 h 512"/>
              <a:gd name="T110" fmla="*/ 394 w 512"/>
              <a:gd name="T111" fmla="*/ 128 h 512"/>
              <a:gd name="T112" fmla="*/ 298 w 512"/>
              <a:gd name="T113" fmla="*/ 213 h 512"/>
              <a:gd name="T114" fmla="*/ 373 w 512"/>
              <a:gd name="T115" fmla="*/ 213 h 512"/>
              <a:gd name="T116" fmla="*/ 373 w 512"/>
              <a:gd name="T117" fmla="*/ 138 h 512"/>
              <a:gd name="T118" fmla="*/ 298 w 512"/>
              <a:gd name="T119" fmla="*/ 138 h 512"/>
              <a:gd name="T120" fmla="*/ 298 w 512"/>
              <a:gd name="T121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98" y="298"/>
                </a:moveTo>
                <a:cubicBezTo>
                  <a:pt x="373" y="298"/>
                  <a:pt x="373" y="298"/>
                  <a:pt x="373" y="298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298" y="373"/>
                  <a:pt x="298" y="373"/>
                  <a:pt x="298" y="373"/>
                </a:cubicBezTo>
                <a:lnTo>
                  <a:pt x="298" y="298"/>
                </a:lnTo>
                <a:close/>
                <a:moveTo>
                  <a:pt x="138" y="213"/>
                </a:moveTo>
                <a:cubicBezTo>
                  <a:pt x="213" y="213"/>
                  <a:pt x="213" y="213"/>
                  <a:pt x="213" y="213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138" y="138"/>
                  <a:pt x="138" y="138"/>
                  <a:pt x="138" y="138"/>
                </a:cubicBezTo>
                <a:lnTo>
                  <a:pt x="138" y="213"/>
                </a:lnTo>
                <a:close/>
                <a:moveTo>
                  <a:pt x="138" y="373"/>
                </a:moveTo>
                <a:cubicBezTo>
                  <a:pt x="213" y="373"/>
                  <a:pt x="213" y="373"/>
                  <a:pt x="213" y="373"/>
                </a:cubicBezTo>
                <a:cubicBezTo>
                  <a:pt x="213" y="298"/>
                  <a:pt x="213" y="298"/>
                  <a:pt x="213" y="298"/>
                </a:cubicBezTo>
                <a:cubicBezTo>
                  <a:pt x="138" y="298"/>
                  <a:pt x="138" y="298"/>
                  <a:pt x="138" y="298"/>
                </a:cubicBezTo>
                <a:lnTo>
                  <a:pt x="138" y="373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34" y="288"/>
                </a:moveTo>
                <a:cubicBezTo>
                  <a:pt x="234" y="282"/>
                  <a:pt x="230" y="277"/>
                  <a:pt x="224" y="277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2" y="277"/>
                  <a:pt x="117" y="282"/>
                  <a:pt x="117" y="288"/>
                </a:cubicBezTo>
                <a:cubicBezTo>
                  <a:pt x="117" y="384"/>
                  <a:pt x="117" y="384"/>
                  <a:pt x="117" y="384"/>
                </a:cubicBezTo>
                <a:cubicBezTo>
                  <a:pt x="117" y="390"/>
                  <a:pt x="122" y="394"/>
                  <a:pt x="128" y="394"/>
                </a:cubicBezTo>
                <a:cubicBezTo>
                  <a:pt x="224" y="394"/>
                  <a:pt x="224" y="394"/>
                  <a:pt x="224" y="394"/>
                </a:cubicBezTo>
                <a:cubicBezTo>
                  <a:pt x="230" y="394"/>
                  <a:pt x="234" y="390"/>
                  <a:pt x="234" y="384"/>
                </a:cubicBezTo>
                <a:lnTo>
                  <a:pt x="234" y="288"/>
                </a:lnTo>
                <a:close/>
                <a:moveTo>
                  <a:pt x="234" y="128"/>
                </a:moveTo>
                <a:cubicBezTo>
                  <a:pt x="234" y="122"/>
                  <a:pt x="230" y="117"/>
                  <a:pt x="224" y="117"/>
                </a:cubicBezTo>
                <a:cubicBezTo>
                  <a:pt x="128" y="117"/>
                  <a:pt x="128" y="117"/>
                  <a:pt x="128" y="117"/>
                </a:cubicBezTo>
                <a:cubicBezTo>
                  <a:pt x="122" y="117"/>
                  <a:pt x="117" y="122"/>
                  <a:pt x="117" y="128"/>
                </a:cubicBezTo>
                <a:cubicBezTo>
                  <a:pt x="117" y="224"/>
                  <a:pt x="117" y="224"/>
                  <a:pt x="117" y="224"/>
                </a:cubicBezTo>
                <a:cubicBezTo>
                  <a:pt x="117" y="230"/>
                  <a:pt x="122" y="234"/>
                  <a:pt x="128" y="234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30" y="234"/>
                  <a:pt x="234" y="230"/>
                  <a:pt x="234" y="224"/>
                </a:cubicBezTo>
                <a:lnTo>
                  <a:pt x="234" y="128"/>
                </a:lnTo>
                <a:close/>
                <a:moveTo>
                  <a:pt x="394" y="288"/>
                </a:moveTo>
                <a:cubicBezTo>
                  <a:pt x="394" y="282"/>
                  <a:pt x="390" y="277"/>
                  <a:pt x="384" y="277"/>
                </a:cubicBezTo>
                <a:cubicBezTo>
                  <a:pt x="288" y="277"/>
                  <a:pt x="288" y="277"/>
                  <a:pt x="288" y="277"/>
                </a:cubicBezTo>
                <a:cubicBezTo>
                  <a:pt x="282" y="277"/>
                  <a:pt x="277" y="282"/>
                  <a:pt x="277" y="288"/>
                </a:cubicBezTo>
                <a:cubicBezTo>
                  <a:pt x="277" y="384"/>
                  <a:pt x="277" y="384"/>
                  <a:pt x="277" y="384"/>
                </a:cubicBezTo>
                <a:cubicBezTo>
                  <a:pt x="277" y="390"/>
                  <a:pt x="282" y="394"/>
                  <a:pt x="288" y="394"/>
                </a:cubicBezTo>
                <a:cubicBezTo>
                  <a:pt x="384" y="394"/>
                  <a:pt x="384" y="394"/>
                  <a:pt x="384" y="394"/>
                </a:cubicBezTo>
                <a:cubicBezTo>
                  <a:pt x="390" y="394"/>
                  <a:pt x="394" y="390"/>
                  <a:pt x="394" y="384"/>
                </a:cubicBezTo>
                <a:lnTo>
                  <a:pt x="394" y="288"/>
                </a:lnTo>
                <a:close/>
                <a:moveTo>
                  <a:pt x="394" y="128"/>
                </a:moveTo>
                <a:cubicBezTo>
                  <a:pt x="394" y="122"/>
                  <a:pt x="390" y="117"/>
                  <a:pt x="384" y="117"/>
                </a:cubicBezTo>
                <a:cubicBezTo>
                  <a:pt x="288" y="117"/>
                  <a:pt x="288" y="117"/>
                  <a:pt x="288" y="117"/>
                </a:cubicBezTo>
                <a:cubicBezTo>
                  <a:pt x="282" y="117"/>
                  <a:pt x="277" y="122"/>
                  <a:pt x="277" y="128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77" y="230"/>
                  <a:pt x="282" y="234"/>
                  <a:pt x="288" y="234"/>
                </a:cubicBezTo>
                <a:cubicBezTo>
                  <a:pt x="384" y="234"/>
                  <a:pt x="384" y="234"/>
                  <a:pt x="384" y="234"/>
                </a:cubicBezTo>
                <a:cubicBezTo>
                  <a:pt x="390" y="234"/>
                  <a:pt x="394" y="230"/>
                  <a:pt x="394" y="224"/>
                </a:cubicBezTo>
                <a:lnTo>
                  <a:pt x="394" y="128"/>
                </a:lnTo>
                <a:close/>
                <a:moveTo>
                  <a:pt x="298" y="213"/>
                </a:moveTo>
                <a:cubicBezTo>
                  <a:pt x="373" y="213"/>
                  <a:pt x="373" y="213"/>
                  <a:pt x="373" y="213"/>
                </a:cubicBezTo>
                <a:cubicBezTo>
                  <a:pt x="373" y="138"/>
                  <a:pt x="373" y="138"/>
                  <a:pt x="373" y="138"/>
                </a:cubicBezTo>
                <a:cubicBezTo>
                  <a:pt x="298" y="138"/>
                  <a:pt x="298" y="138"/>
                  <a:pt x="298" y="138"/>
                </a:cubicBezTo>
                <a:lnTo>
                  <a:pt x="298" y="2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2800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58" name="Rectangle 57">
            <a:hlinkClick r:id="rId10" action="ppaction://hlinksldjump"/>
          </p:cNvPr>
          <p:cNvSpPr/>
          <p:nvPr/>
        </p:nvSpPr>
        <p:spPr bwMode="gray">
          <a:xfrm>
            <a:off x="491856" y="5055297"/>
            <a:ext cx="1911801" cy="77979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defTabSz="1565035"/>
            <a:r>
              <a:rPr lang="en-US" sz="1400" b="1" dirty="0">
                <a:solidFill>
                  <a:schemeClr val="bg1"/>
                </a:solidFill>
                <a:latin typeface="Verdana"/>
              </a:rPr>
              <a:t>Governance</a:t>
            </a:r>
            <a:endParaRPr lang="en-IN" sz="1400" b="1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47" name="Rectangle 46"/>
          <p:cNvSpPr/>
          <p:nvPr/>
        </p:nvSpPr>
        <p:spPr bwMode="gray">
          <a:xfrm>
            <a:off x="6218775" y="2151623"/>
            <a:ext cx="1800000" cy="779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Certification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2" name="Rectangle 51"/>
          <p:cNvSpPr/>
          <p:nvPr/>
        </p:nvSpPr>
        <p:spPr bwMode="gray">
          <a:xfrm>
            <a:off x="9972239" y="3123704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Process Configuration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71" name="Rectangle 70"/>
          <p:cNvSpPr/>
          <p:nvPr/>
        </p:nvSpPr>
        <p:spPr bwMode="gray">
          <a:xfrm>
            <a:off x="8095507" y="2142364"/>
            <a:ext cx="1800000" cy="779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Sample Testing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72" name="Rectangle 71"/>
          <p:cNvSpPr/>
          <p:nvPr/>
        </p:nvSpPr>
        <p:spPr bwMode="gray">
          <a:xfrm>
            <a:off x="9972239" y="2128453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Surveillance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73" name="Rectangle 72"/>
          <p:cNvSpPr/>
          <p:nvPr/>
        </p:nvSpPr>
        <p:spPr bwMode="gray">
          <a:xfrm>
            <a:off x="6218775" y="4093193"/>
            <a:ext cx="1800000" cy="77979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Registration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74" name="Rectangle 73"/>
          <p:cNvSpPr/>
          <p:nvPr/>
        </p:nvSpPr>
        <p:spPr bwMode="gray">
          <a:xfrm>
            <a:off x="8095507" y="4093192"/>
            <a:ext cx="1800000" cy="779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Harmonization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75" name="Rectangle 74"/>
          <p:cNvSpPr/>
          <p:nvPr/>
        </p:nvSpPr>
        <p:spPr bwMode="gray">
          <a:xfrm>
            <a:off x="6218775" y="5055297"/>
            <a:ext cx="1800000" cy="77979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latin typeface="Verdana"/>
              </a:rPr>
              <a:t>Product Standards</a:t>
            </a:r>
            <a:endParaRPr lang="en-IN" sz="1400" b="1" dirty="0">
              <a:latin typeface="Verdana"/>
            </a:endParaRPr>
          </a:p>
        </p:txBody>
      </p:sp>
      <p:sp>
        <p:nvSpPr>
          <p:cNvPr id="83" name="Rectangle 82"/>
          <p:cNvSpPr/>
          <p:nvPr/>
        </p:nvSpPr>
        <p:spPr bwMode="gray">
          <a:xfrm>
            <a:off x="8095507" y="5055297"/>
            <a:ext cx="1800000" cy="779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latin typeface="Verdana"/>
              </a:rPr>
              <a:t>Capability Building</a:t>
            </a:r>
            <a:endParaRPr lang="en-IN" sz="1400" b="1" dirty="0">
              <a:latin typeface="Verdana"/>
            </a:endParaRPr>
          </a:p>
        </p:txBody>
      </p:sp>
      <p:sp>
        <p:nvSpPr>
          <p:cNvPr id="84" name="Rectangle 83"/>
          <p:cNvSpPr/>
          <p:nvPr/>
        </p:nvSpPr>
        <p:spPr bwMode="gray">
          <a:xfrm>
            <a:off x="6218775" y="3107060"/>
            <a:ext cx="1800000" cy="779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Registration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85" name="Rectangle 84"/>
          <p:cNvSpPr/>
          <p:nvPr/>
        </p:nvSpPr>
        <p:spPr bwMode="gray">
          <a:xfrm>
            <a:off x="8101706" y="3114635"/>
            <a:ext cx="1800000" cy="77979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Testing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86" name="Rectangle 85"/>
          <p:cNvSpPr/>
          <p:nvPr/>
        </p:nvSpPr>
        <p:spPr bwMode="gray">
          <a:xfrm>
            <a:off x="11848972" y="3123704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Cost of Compliance</a:t>
            </a:r>
          </a:p>
        </p:txBody>
      </p:sp>
      <p:sp>
        <p:nvSpPr>
          <p:cNvPr id="88" name="Rectangle 87"/>
          <p:cNvSpPr/>
          <p:nvPr/>
        </p:nvSpPr>
        <p:spPr bwMode="gray">
          <a:xfrm>
            <a:off x="9972239" y="5055297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latin typeface="Verdana"/>
              </a:rPr>
              <a:t>Incentives</a:t>
            </a:r>
            <a:endParaRPr lang="en-IN" sz="1400" b="1" dirty="0">
              <a:latin typeface="Verdana"/>
            </a:endParaRPr>
          </a:p>
        </p:txBody>
      </p:sp>
      <p:sp>
        <p:nvSpPr>
          <p:cNvPr id="48" name="Rectangle 47"/>
          <p:cNvSpPr/>
          <p:nvPr/>
        </p:nvSpPr>
        <p:spPr bwMode="gray">
          <a:xfrm>
            <a:off x="11848972" y="2128452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Reporting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1" name="Rectangle 50"/>
          <p:cNvSpPr/>
          <p:nvPr/>
        </p:nvSpPr>
        <p:spPr bwMode="gray">
          <a:xfrm>
            <a:off x="11848972" y="5055297"/>
            <a:ext cx="1800000" cy="77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IN" sz="1400" b="1" dirty="0"/>
              <a:t>Monitoring &amp; Evaluation</a:t>
            </a:r>
            <a:endParaRPr lang="en-IN" sz="1400" b="1" dirty="0">
              <a:latin typeface="Verdana"/>
            </a:endParaRPr>
          </a:p>
        </p:txBody>
      </p:sp>
      <p:sp>
        <p:nvSpPr>
          <p:cNvPr id="56" name="Rectangle 55"/>
          <p:cNvSpPr/>
          <p:nvPr/>
        </p:nvSpPr>
        <p:spPr bwMode="gray">
          <a:xfrm>
            <a:off x="9972239" y="4093192"/>
            <a:ext cx="1800000" cy="779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Testing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7" name="Rectangle 56"/>
          <p:cNvSpPr/>
          <p:nvPr/>
        </p:nvSpPr>
        <p:spPr bwMode="gray">
          <a:xfrm>
            <a:off x="11848972" y="4089500"/>
            <a:ext cx="1800000" cy="77979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Reporting</a:t>
            </a:r>
            <a:endParaRPr lang="en-IN" sz="1400" b="1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81" name="Striped Right Arrow 80"/>
          <p:cNvSpPr/>
          <p:nvPr/>
        </p:nvSpPr>
        <p:spPr bwMode="gray">
          <a:xfrm>
            <a:off x="4855439" y="3119530"/>
            <a:ext cx="1080000" cy="779794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rgbClr val="0076A8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82" name="Freeform 97"/>
          <p:cNvSpPr>
            <a:spLocks noEditPoints="1"/>
          </p:cNvSpPr>
          <p:nvPr/>
        </p:nvSpPr>
        <p:spPr bwMode="auto">
          <a:xfrm>
            <a:off x="5054252" y="2266424"/>
            <a:ext cx="468000" cy="506866"/>
          </a:xfrm>
          <a:custGeom>
            <a:avLst/>
            <a:gdLst>
              <a:gd name="T0" fmla="*/ 298 w 512"/>
              <a:gd name="T1" fmla="*/ 298 h 512"/>
              <a:gd name="T2" fmla="*/ 373 w 512"/>
              <a:gd name="T3" fmla="*/ 298 h 512"/>
              <a:gd name="T4" fmla="*/ 373 w 512"/>
              <a:gd name="T5" fmla="*/ 373 h 512"/>
              <a:gd name="T6" fmla="*/ 298 w 512"/>
              <a:gd name="T7" fmla="*/ 373 h 512"/>
              <a:gd name="T8" fmla="*/ 298 w 512"/>
              <a:gd name="T9" fmla="*/ 298 h 512"/>
              <a:gd name="T10" fmla="*/ 138 w 512"/>
              <a:gd name="T11" fmla="*/ 213 h 512"/>
              <a:gd name="T12" fmla="*/ 213 w 512"/>
              <a:gd name="T13" fmla="*/ 213 h 512"/>
              <a:gd name="T14" fmla="*/ 213 w 512"/>
              <a:gd name="T15" fmla="*/ 138 h 512"/>
              <a:gd name="T16" fmla="*/ 138 w 512"/>
              <a:gd name="T17" fmla="*/ 138 h 512"/>
              <a:gd name="T18" fmla="*/ 138 w 512"/>
              <a:gd name="T19" fmla="*/ 213 h 512"/>
              <a:gd name="T20" fmla="*/ 138 w 512"/>
              <a:gd name="T21" fmla="*/ 373 h 512"/>
              <a:gd name="T22" fmla="*/ 213 w 512"/>
              <a:gd name="T23" fmla="*/ 373 h 512"/>
              <a:gd name="T24" fmla="*/ 213 w 512"/>
              <a:gd name="T25" fmla="*/ 298 h 512"/>
              <a:gd name="T26" fmla="*/ 138 w 512"/>
              <a:gd name="T27" fmla="*/ 298 h 512"/>
              <a:gd name="T28" fmla="*/ 138 w 512"/>
              <a:gd name="T29" fmla="*/ 373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234 w 512"/>
              <a:gd name="T41" fmla="*/ 288 h 512"/>
              <a:gd name="T42" fmla="*/ 224 w 512"/>
              <a:gd name="T43" fmla="*/ 277 h 512"/>
              <a:gd name="T44" fmla="*/ 128 w 512"/>
              <a:gd name="T45" fmla="*/ 277 h 512"/>
              <a:gd name="T46" fmla="*/ 117 w 512"/>
              <a:gd name="T47" fmla="*/ 288 h 512"/>
              <a:gd name="T48" fmla="*/ 117 w 512"/>
              <a:gd name="T49" fmla="*/ 384 h 512"/>
              <a:gd name="T50" fmla="*/ 128 w 512"/>
              <a:gd name="T51" fmla="*/ 394 h 512"/>
              <a:gd name="T52" fmla="*/ 224 w 512"/>
              <a:gd name="T53" fmla="*/ 394 h 512"/>
              <a:gd name="T54" fmla="*/ 234 w 512"/>
              <a:gd name="T55" fmla="*/ 384 h 512"/>
              <a:gd name="T56" fmla="*/ 234 w 512"/>
              <a:gd name="T57" fmla="*/ 288 h 512"/>
              <a:gd name="T58" fmla="*/ 234 w 512"/>
              <a:gd name="T59" fmla="*/ 128 h 512"/>
              <a:gd name="T60" fmla="*/ 224 w 512"/>
              <a:gd name="T61" fmla="*/ 117 h 512"/>
              <a:gd name="T62" fmla="*/ 128 w 512"/>
              <a:gd name="T63" fmla="*/ 117 h 512"/>
              <a:gd name="T64" fmla="*/ 117 w 512"/>
              <a:gd name="T65" fmla="*/ 128 h 512"/>
              <a:gd name="T66" fmla="*/ 117 w 512"/>
              <a:gd name="T67" fmla="*/ 224 h 512"/>
              <a:gd name="T68" fmla="*/ 128 w 512"/>
              <a:gd name="T69" fmla="*/ 234 h 512"/>
              <a:gd name="T70" fmla="*/ 224 w 512"/>
              <a:gd name="T71" fmla="*/ 234 h 512"/>
              <a:gd name="T72" fmla="*/ 234 w 512"/>
              <a:gd name="T73" fmla="*/ 224 h 512"/>
              <a:gd name="T74" fmla="*/ 234 w 512"/>
              <a:gd name="T75" fmla="*/ 128 h 512"/>
              <a:gd name="T76" fmla="*/ 394 w 512"/>
              <a:gd name="T77" fmla="*/ 288 h 512"/>
              <a:gd name="T78" fmla="*/ 384 w 512"/>
              <a:gd name="T79" fmla="*/ 277 h 512"/>
              <a:gd name="T80" fmla="*/ 288 w 512"/>
              <a:gd name="T81" fmla="*/ 277 h 512"/>
              <a:gd name="T82" fmla="*/ 277 w 512"/>
              <a:gd name="T83" fmla="*/ 288 h 512"/>
              <a:gd name="T84" fmla="*/ 277 w 512"/>
              <a:gd name="T85" fmla="*/ 384 h 512"/>
              <a:gd name="T86" fmla="*/ 288 w 512"/>
              <a:gd name="T87" fmla="*/ 394 h 512"/>
              <a:gd name="T88" fmla="*/ 384 w 512"/>
              <a:gd name="T89" fmla="*/ 394 h 512"/>
              <a:gd name="T90" fmla="*/ 394 w 512"/>
              <a:gd name="T91" fmla="*/ 384 h 512"/>
              <a:gd name="T92" fmla="*/ 394 w 512"/>
              <a:gd name="T93" fmla="*/ 288 h 512"/>
              <a:gd name="T94" fmla="*/ 394 w 512"/>
              <a:gd name="T95" fmla="*/ 128 h 512"/>
              <a:gd name="T96" fmla="*/ 384 w 512"/>
              <a:gd name="T97" fmla="*/ 117 h 512"/>
              <a:gd name="T98" fmla="*/ 288 w 512"/>
              <a:gd name="T99" fmla="*/ 117 h 512"/>
              <a:gd name="T100" fmla="*/ 277 w 512"/>
              <a:gd name="T101" fmla="*/ 128 h 512"/>
              <a:gd name="T102" fmla="*/ 277 w 512"/>
              <a:gd name="T103" fmla="*/ 224 h 512"/>
              <a:gd name="T104" fmla="*/ 288 w 512"/>
              <a:gd name="T105" fmla="*/ 234 h 512"/>
              <a:gd name="T106" fmla="*/ 384 w 512"/>
              <a:gd name="T107" fmla="*/ 234 h 512"/>
              <a:gd name="T108" fmla="*/ 394 w 512"/>
              <a:gd name="T109" fmla="*/ 224 h 512"/>
              <a:gd name="T110" fmla="*/ 394 w 512"/>
              <a:gd name="T111" fmla="*/ 128 h 512"/>
              <a:gd name="T112" fmla="*/ 298 w 512"/>
              <a:gd name="T113" fmla="*/ 213 h 512"/>
              <a:gd name="T114" fmla="*/ 373 w 512"/>
              <a:gd name="T115" fmla="*/ 213 h 512"/>
              <a:gd name="T116" fmla="*/ 373 w 512"/>
              <a:gd name="T117" fmla="*/ 138 h 512"/>
              <a:gd name="T118" fmla="*/ 298 w 512"/>
              <a:gd name="T119" fmla="*/ 138 h 512"/>
              <a:gd name="T120" fmla="*/ 298 w 512"/>
              <a:gd name="T121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98" y="298"/>
                </a:moveTo>
                <a:cubicBezTo>
                  <a:pt x="373" y="298"/>
                  <a:pt x="373" y="298"/>
                  <a:pt x="373" y="298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298" y="373"/>
                  <a:pt x="298" y="373"/>
                  <a:pt x="298" y="373"/>
                </a:cubicBezTo>
                <a:lnTo>
                  <a:pt x="298" y="298"/>
                </a:lnTo>
                <a:close/>
                <a:moveTo>
                  <a:pt x="138" y="213"/>
                </a:moveTo>
                <a:cubicBezTo>
                  <a:pt x="213" y="213"/>
                  <a:pt x="213" y="213"/>
                  <a:pt x="213" y="213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138" y="138"/>
                  <a:pt x="138" y="138"/>
                  <a:pt x="138" y="138"/>
                </a:cubicBezTo>
                <a:lnTo>
                  <a:pt x="138" y="213"/>
                </a:lnTo>
                <a:close/>
                <a:moveTo>
                  <a:pt x="138" y="373"/>
                </a:moveTo>
                <a:cubicBezTo>
                  <a:pt x="213" y="373"/>
                  <a:pt x="213" y="373"/>
                  <a:pt x="213" y="373"/>
                </a:cubicBezTo>
                <a:cubicBezTo>
                  <a:pt x="213" y="298"/>
                  <a:pt x="213" y="298"/>
                  <a:pt x="213" y="298"/>
                </a:cubicBezTo>
                <a:cubicBezTo>
                  <a:pt x="138" y="298"/>
                  <a:pt x="138" y="298"/>
                  <a:pt x="138" y="298"/>
                </a:cubicBezTo>
                <a:lnTo>
                  <a:pt x="138" y="373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34" y="288"/>
                </a:moveTo>
                <a:cubicBezTo>
                  <a:pt x="234" y="282"/>
                  <a:pt x="230" y="277"/>
                  <a:pt x="224" y="277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2" y="277"/>
                  <a:pt x="117" y="282"/>
                  <a:pt x="117" y="288"/>
                </a:cubicBezTo>
                <a:cubicBezTo>
                  <a:pt x="117" y="384"/>
                  <a:pt x="117" y="384"/>
                  <a:pt x="117" y="384"/>
                </a:cubicBezTo>
                <a:cubicBezTo>
                  <a:pt x="117" y="390"/>
                  <a:pt x="122" y="394"/>
                  <a:pt x="128" y="394"/>
                </a:cubicBezTo>
                <a:cubicBezTo>
                  <a:pt x="224" y="394"/>
                  <a:pt x="224" y="394"/>
                  <a:pt x="224" y="394"/>
                </a:cubicBezTo>
                <a:cubicBezTo>
                  <a:pt x="230" y="394"/>
                  <a:pt x="234" y="390"/>
                  <a:pt x="234" y="384"/>
                </a:cubicBezTo>
                <a:lnTo>
                  <a:pt x="234" y="288"/>
                </a:lnTo>
                <a:close/>
                <a:moveTo>
                  <a:pt x="234" y="128"/>
                </a:moveTo>
                <a:cubicBezTo>
                  <a:pt x="234" y="122"/>
                  <a:pt x="230" y="117"/>
                  <a:pt x="224" y="117"/>
                </a:cubicBezTo>
                <a:cubicBezTo>
                  <a:pt x="128" y="117"/>
                  <a:pt x="128" y="117"/>
                  <a:pt x="128" y="117"/>
                </a:cubicBezTo>
                <a:cubicBezTo>
                  <a:pt x="122" y="117"/>
                  <a:pt x="117" y="122"/>
                  <a:pt x="117" y="128"/>
                </a:cubicBezTo>
                <a:cubicBezTo>
                  <a:pt x="117" y="224"/>
                  <a:pt x="117" y="224"/>
                  <a:pt x="117" y="224"/>
                </a:cubicBezTo>
                <a:cubicBezTo>
                  <a:pt x="117" y="230"/>
                  <a:pt x="122" y="234"/>
                  <a:pt x="128" y="234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30" y="234"/>
                  <a:pt x="234" y="230"/>
                  <a:pt x="234" y="224"/>
                </a:cubicBezTo>
                <a:lnTo>
                  <a:pt x="234" y="128"/>
                </a:lnTo>
                <a:close/>
                <a:moveTo>
                  <a:pt x="394" y="288"/>
                </a:moveTo>
                <a:cubicBezTo>
                  <a:pt x="394" y="282"/>
                  <a:pt x="390" y="277"/>
                  <a:pt x="384" y="277"/>
                </a:cubicBezTo>
                <a:cubicBezTo>
                  <a:pt x="288" y="277"/>
                  <a:pt x="288" y="277"/>
                  <a:pt x="288" y="277"/>
                </a:cubicBezTo>
                <a:cubicBezTo>
                  <a:pt x="282" y="277"/>
                  <a:pt x="277" y="282"/>
                  <a:pt x="277" y="288"/>
                </a:cubicBezTo>
                <a:cubicBezTo>
                  <a:pt x="277" y="384"/>
                  <a:pt x="277" y="384"/>
                  <a:pt x="277" y="384"/>
                </a:cubicBezTo>
                <a:cubicBezTo>
                  <a:pt x="277" y="390"/>
                  <a:pt x="282" y="394"/>
                  <a:pt x="288" y="394"/>
                </a:cubicBezTo>
                <a:cubicBezTo>
                  <a:pt x="384" y="394"/>
                  <a:pt x="384" y="394"/>
                  <a:pt x="384" y="394"/>
                </a:cubicBezTo>
                <a:cubicBezTo>
                  <a:pt x="390" y="394"/>
                  <a:pt x="394" y="390"/>
                  <a:pt x="394" y="384"/>
                </a:cubicBezTo>
                <a:lnTo>
                  <a:pt x="394" y="288"/>
                </a:lnTo>
                <a:close/>
                <a:moveTo>
                  <a:pt x="394" y="128"/>
                </a:moveTo>
                <a:cubicBezTo>
                  <a:pt x="394" y="122"/>
                  <a:pt x="390" y="117"/>
                  <a:pt x="384" y="117"/>
                </a:cubicBezTo>
                <a:cubicBezTo>
                  <a:pt x="288" y="117"/>
                  <a:pt x="288" y="117"/>
                  <a:pt x="288" y="117"/>
                </a:cubicBezTo>
                <a:cubicBezTo>
                  <a:pt x="282" y="117"/>
                  <a:pt x="277" y="122"/>
                  <a:pt x="277" y="128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77" y="230"/>
                  <a:pt x="282" y="234"/>
                  <a:pt x="288" y="234"/>
                </a:cubicBezTo>
                <a:cubicBezTo>
                  <a:pt x="384" y="234"/>
                  <a:pt x="384" y="234"/>
                  <a:pt x="384" y="234"/>
                </a:cubicBezTo>
                <a:cubicBezTo>
                  <a:pt x="390" y="234"/>
                  <a:pt x="394" y="230"/>
                  <a:pt x="394" y="224"/>
                </a:cubicBezTo>
                <a:lnTo>
                  <a:pt x="394" y="128"/>
                </a:lnTo>
                <a:close/>
                <a:moveTo>
                  <a:pt x="298" y="213"/>
                </a:moveTo>
                <a:cubicBezTo>
                  <a:pt x="373" y="213"/>
                  <a:pt x="373" y="213"/>
                  <a:pt x="373" y="213"/>
                </a:cubicBezTo>
                <a:cubicBezTo>
                  <a:pt x="373" y="138"/>
                  <a:pt x="373" y="138"/>
                  <a:pt x="373" y="138"/>
                </a:cubicBezTo>
                <a:cubicBezTo>
                  <a:pt x="298" y="138"/>
                  <a:pt x="298" y="138"/>
                  <a:pt x="298" y="138"/>
                </a:cubicBezTo>
                <a:lnTo>
                  <a:pt x="298" y="2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2800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89" name="Freeform 751">
            <a:extLst>
              <a:ext uri="{FF2B5EF4-FFF2-40B4-BE49-F238E27FC236}">
                <a16:creationId xmlns:a16="http://schemas.microsoft.com/office/drawing/2014/main" id="{4A094DCD-FFE2-4B63-93B6-4FF3304D22E6}"/>
              </a:ext>
            </a:extLst>
          </p:cNvPr>
          <p:cNvSpPr>
            <a:spLocks noEditPoints="1"/>
          </p:cNvSpPr>
          <p:nvPr/>
        </p:nvSpPr>
        <p:spPr bwMode="auto">
          <a:xfrm>
            <a:off x="5061562" y="3235327"/>
            <a:ext cx="468000" cy="506866"/>
          </a:xfrm>
          <a:custGeom>
            <a:avLst/>
            <a:gdLst>
              <a:gd name="T0" fmla="*/ 256 w 512"/>
              <a:gd name="T1" fmla="*/ 512 h 512"/>
              <a:gd name="T2" fmla="*/ 165 w 512"/>
              <a:gd name="T3" fmla="*/ 158 h 512"/>
              <a:gd name="T4" fmla="*/ 207 w 512"/>
              <a:gd name="T5" fmla="*/ 162 h 512"/>
              <a:gd name="T6" fmla="*/ 160 w 512"/>
              <a:gd name="T7" fmla="*/ 172 h 512"/>
              <a:gd name="T8" fmla="*/ 174 w 512"/>
              <a:gd name="T9" fmla="*/ 206 h 512"/>
              <a:gd name="T10" fmla="*/ 203 w 512"/>
              <a:gd name="T11" fmla="*/ 242 h 512"/>
              <a:gd name="T12" fmla="*/ 160 w 512"/>
              <a:gd name="T13" fmla="*/ 212 h 512"/>
              <a:gd name="T14" fmla="*/ 128 w 512"/>
              <a:gd name="T15" fmla="*/ 245 h 512"/>
              <a:gd name="T16" fmla="*/ 106 w 512"/>
              <a:gd name="T17" fmla="*/ 277 h 512"/>
              <a:gd name="T18" fmla="*/ 136 w 512"/>
              <a:gd name="T19" fmla="*/ 351 h 512"/>
              <a:gd name="T20" fmla="*/ 106 w 512"/>
              <a:gd name="T21" fmla="*/ 330 h 512"/>
              <a:gd name="T22" fmla="*/ 128 w 512"/>
              <a:gd name="T23" fmla="*/ 309 h 512"/>
              <a:gd name="T24" fmla="*/ 145 w 512"/>
              <a:gd name="T25" fmla="*/ 346 h 512"/>
              <a:gd name="T26" fmla="*/ 132 w 512"/>
              <a:gd name="T27" fmla="*/ 210 h 512"/>
              <a:gd name="T28" fmla="*/ 117 w 512"/>
              <a:gd name="T29" fmla="*/ 224 h 512"/>
              <a:gd name="T30" fmla="*/ 113 w 512"/>
              <a:gd name="T31" fmla="*/ 182 h 512"/>
              <a:gd name="T32" fmla="*/ 142 w 512"/>
              <a:gd name="T33" fmla="*/ 192 h 512"/>
              <a:gd name="T34" fmla="*/ 203 w 512"/>
              <a:gd name="T35" fmla="*/ 387 h 512"/>
              <a:gd name="T36" fmla="*/ 160 w 512"/>
              <a:gd name="T37" fmla="*/ 354 h 512"/>
              <a:gd name="T38" fmla="*/ 213 w 512"/>
              <a:gd name="T39" fmla="*/ 382 h 512"/>
              <a:gd name="T40" fmla="*/ 260 w 512"/>
              <a:gd name="T41" fmla="*/ 415 h 512"/>
              <a:gd name="T42" fmla="*/ 232 w 512"/>
              <a:gd name="T43" fmla="*/ 404 h 512"/>
              <a:gd name="T44" fmla="*/ 245 w 512"/>
              <a:gd name="T45" fmla="*/ 387 h 512"/>
              <a:gd name="T46" fmla="*/ 266 w 512"/>
              <a:gd name="T47" fmla="*/ 384 h 512"/>
              <a:gd name="T48" fmla="*/ 285 w 512"/>
              <a:gd name="T49" fmla="*/ 392 h 512"/>
              <a:gd name="T50" fmla="*/ 245 w 512"/>
              <a:gd name="T51" fmla="*/ 320 h 512"/>
              <a:gd name="T52" fmla="*/ 266 w 512"/>
              <a:gd name="T53" fmla="*/ 352 h 512"/>
              <a:gd name="T54" fmla="*/ 280 w 512"/>
              <a:gd name="T55" fmla="*/ 256 h 512"/>
              <a:gd name="T56" fmla="*/ 256 w 512"/>
              <a:gd name="T57" fmla="*/ 288 h 512"/>
              <a:gd name="T58" fmla="*/ 232 w 512"/>
              <a:gd name="T59" fmla="*/ 256 h 512"/>
              <a:gd name="T60" fmla="*/ 256 w 512"/>
              <a:gd name="T61" fmla="*/ 244 h 512"/>
              <a:gd name="T62" fmla="*/ 280 w 512"/>
              <a:gd name="T63" fmla="*/ 256 h 512"/>
              <a:gd name="T64" fmla="*/ 271 w 512"/>
              <a:gd name="T65" fmla="*/ 146 h 512"/>
              <a:gd name="T66" fmla="*/ 227 w 512"/>
              <a:gd name="T67" fmla="*/ 141 h 512"/>
              <a:gd name="T68" fmla="*/ 260 w 512"/>
              <a:gd name="T69" fmla="*/ 118 h 512"/>
              <a:gd name="T70" fmla="*/ 346 w 512"/>
              <a:gd name="T71" fmla="*/ 375 h 512"/>
              <a:gd name="T72" fmla="*/ 299 w 512"/>
              <a:gd name="T73" fmla="*/ 385 h 512"/>
              <a:gd name="T74" fmla="*/ 351 w 512"/>
              <a:gd name="T75" fmla="*/ 361 h 512"/>
              <a:gd name="T76" fmla="*/ 313 w 512"/>
              <a:gd name="T77" fmla="*/ 241 h 512"/>
              <a:gd name="T78" fmla="*/ 304 w 512"/>
              <a:gd name="T79" fmla="*/ 222 h 512"/>
              <a:gd name="T80" fmla="*/ 346 w 512"/>
              <a:gd name="T81" fmla="*/ 226 h 512"/>
              <a:gd name="T82" fmla="*/ 337 w 512"/>
              <a:gd name="T83" fmla="*/ 177 h 512"/>
              <a:gd name="T84" fmla="*/ 313 w 512"/>
              <a:gd name="T85" fmla="*/ 142 h 512"/>
              <a:gd name="T86" fmla="*/ 405 w 512"/>
              <a:gd name="T87" fmla="*/ 341 h 512"/>
              <a:gd name="T88" fmla="*/ 375 w 512"/>
              <a:gd name="T89" fmla="*/ 361 h 512"/>
              <a:gd name="T90" fmla="*/ 384 w 512"/>
              <a:gd name="T91" fmla="*/ 334 h 512"/>
              <a:gd name="T92" fmla="*/ 405 w 512"/>
              <a:gd name="T93" fmla="*/ 320 h 512"/>
              <a:gd name="T94" fmla="*/ 394 w 512"/>
              <a:gd name="T95" fmla="*/ 298 h 512"/>
              <a:gd name="T96" fmla="*/ 394 w 512"/>
              <a:gd name="T97" fmla="*/ 245 h 512"/>
              <a:gd name="T98" fmla="*/ 405 w 512"/>
              <a:gd name="T99" fmla="*/ 213 h 512"/>
              <a:gd name="T100" fmla="*/ 384 w 512"/>
              <a:gd name="T101" fmla="*/ 208 h 512"/>
              <a:gd name="T102" fmla="*/ 365 w 512"/>
              <a:gd name="T103" fmla="*/ 205 h 512"/>
              <a:gd name="T104" fmla="*/ 379 w 512"/>
              <a:gd name="T105" fmla="*/ 173 h 512"/>
              <a:gd name="T106" fmla="*/ 405 w 512"/>
              <a:gd name="T107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65" y="158"/>
                </a:moveTo>
                <a:cubicBezTo>
                  <a:pt x="199" y="142"/>
                  <a:pt x="199" y="142"/>
                  <a:pt x="199" y="142"/>
                </a:cubicBezTo>
                <a:cubicBezTo>
                  <a:pt x="204" y="140"/>
                  <a:pt x="210" y="142"/>
                  <a:pt x="213" y="148"/>
                </a:cubicBezTo>
                <a:cubicBezTo>
                  <a:pt x="215" y="153"/>
                  <a:pt x="213" y="159"/>
                  <a:pt x="207" y="162"/>
                </a:cubicBezTo>
                <a:cubicBezTo>
                  <a:pt x="174" y="177"/>
                  <a:pt x="174" y="177"/>
                  <a:pt x="174" y="177"/>
                </a:cubicBezTo>
                <a:cubicBezTo>
                  <a:pt x="173" y="178"/>
                  <a:pt x="171" y="178"/>
                  <a:pt x="170" y="178"/>
                </a:cubicBezTo>
                <a:cubicBezTo>
                  <a:pt x="166" y="178"/>
                  <a:pt x="162" y="176"/>
                  <a:pt x="160" y="172"/>
                </a:cubicBezTo>
                <a:cubicBezTo>
                  <a:pt x="158" y="166"/>
                  <a:pt x="160" y="160"/>
                  <a:pt x="165" y="158"/>
                </a:cubicBezTo>
                <a:close/>
                <a:moveTo>
                  <a:pt x="160" y="212"/>
                </a:moveTo>
                <a:cubicBezTo>
                  <a:pt x="162" y="206"/>
                  <a:pt x="169" y="204"/>
                  <a:pt x="174" y="206"/>
                </a:cubicBezTo>
                <a:cubicBezTo>
                  <a:pt x="207" y="222"/>
                  <a:pt x="207" y="222"/>
                  <a:pt x="207" y="222"/>
                </a:cubicBezTo>
                <a:cubicBezTo>
                  <a:pt x="213" y="224"/>
                  <a:pt x="215" y="230"/>
                  <a:pt x="213" y="236"/>
                </a:cubicBezTo>
                <a:cubicBezTo>
                  <a:pt x="211" y="240"/>
                  <a:pt x="207" y="242"/>
                  <a:pt x="203" y="242"/>
                </a:cubicBezTo>
                <a:cubicBezTo>
                  <a:pt x="201" y="242"/>
                  <a:pt x="200" y="242"/>
                  <a:pt x="199" y="241"/>
                </a:cubicBezTo>
                <a:cubicBezTo>
                  <a:pt x="165" y="226"/>
                  <a:pt x="165" y="226"/>
                  <a:pt x="165" y="226"/>
                </a:cubicBezTo>
                <a:cubicBezTo>
                  <a:pt x="160" y="223"/>
                  <a:pt x="158" y="217"/>
                  <a:pt x="160" y="212"/>
                </a:cubicBezTo>
                <a:close/>
                <a:moveTo>
                  <a:pt x="106" y="245"/>
                </a:moveTo>
                <a:cubicBezTo>
                  <a:pt x="106" y="239"/>
                  <a:pt x="111" y="234"/>
                  <a:pt x="117" y="234"/>
                </a:cubicBezTo>
                <a:cubicBezTo>
                  <a:pt x="123" y="234"/>
                  <a:pt x="128" y="239"/>
                  <a:pt x="128" y="245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8" y="283"/>
                  <a:pt x="123" y="288"/>
                  <a:pt x="117" y="288"/>
                </a:cubicBezTo>
                <a:cubicBezTo>
                  <a:pt x="111" y="288"/>
                  <a:pt x="106" y="283"/>
                  <a:pt x="106" y="277"/>
                </a:cubicBezTo>
                <a:lnTo>
                  <a:pt x="106" y="245"/>
                </a:lnTo>
                <a:close/>
                <a:moveTo>
                  <a:pt x="145" y="346"/>
                </a:moveTo>
                <a:cubicBezTo>
                  <a:pt x="143" y="349"/>
                  <a:pt x="140" y="351"/>
                  <a:pt x="136" y="351"/>
                </a:cubicBezTo>
                <a:cubicBezTo>
                  <a:pt x="134" y="351"/>
                  <a:pt x="132" y="351"/>
                  <a:pt x="131" y="350"/>
                </a:cubicBezTo>
                <a:cubicBezTo>
                  <a:pt x="112" y="340"/>
                  <a:pt x="112" y="340"/>
                  <a:pt x="112" y="340"/>
                </a:cubicBezTo>
                <a:cubicBezTo>
                  <a:pt x="108" y="338"/>
                  <a:pt x="106" y="334"/>
                  <a:pt x="106" y="330"/>
                </a:cubicBezTo>
                <a:cubicBezTo>
                  <a:pt x="106" y="309"/>
                  <a:pt x="106" y="309"/>
                  <a:pt x="106" y="309"/>
                </a:cubicBezTo>
                <a:cubicBezTo>
                  <a:pt x="106" y="303"/>
                  <a:pt x="111" y="298"/>
                  <a:pt x="117" y="298"/>
                </a:cubicBezTo>
                <a:cubicBezTo>
                  <a:pt x="123" y="298"/>
                  <a:pt x="128" y="303"/>
                  <a:pt x="128" y="309"/>
                </a:cubicBezTo>
                <a:cubicBezTo>
                  <a:pt x="128" y="324"/>
                  <a:pt x="128" y="324"/>
                  <a:pt x="128" y="324"/>
                </a:cubicBezTo>
                <a:cubicBezTo>
                  <a:pt x="141" y="331"/>
                  <a:pt x="141" y="331"/>
                  <a:pt x="141" y="331"/>
                </a:cubicBezTo>
                <a:cubicBezTo>
                  <a:pt x="146" y="334"/>
                  <a:pt x="148" y="340"/>
                  <a:pt x="145" y="346"/>
                </a:cubicBezTo>
                <a:close/>
                <a:moveTo>
                  <a:pt x="146" y="205"/>
                </a:moveTo>
                <a:cubicBezTo>
                  <a:pt x="144" y="209"/>
                  <a:pt x="140" y="211"/>
                  <a:pt x="136" y="211"/>
                </a:cubicBezTo>
                <a:cubicBezTo>
                  <a:pt x="135" y="211"/>
                  <a:pt x="133" y="211"/>
                  <a:pt x="132" y="210"/>
                </a:cubicBezTo>
                <a:cubicBezTo>
                  <a:pt x="128" y="208"/>
                  <a:pt x="128" y="208"/>
                  <a:pt x="128" y="208"/>
                </a:cubicBezTo>
                <a:cubicBezTo>
                  <a:pt x="128" y="213"/>
                  <a:pt x="128" y="213"/>
                  <a:pt x="128" y="213"/>
                </a:cubicBezTo>
                <a:cubicBezTo>
                  <a:pt x="128" y="219"/>
                  <a:pt x="123" y="224"/>
                  <a:pt x="117" y="224"/>
                </a:cubicBezTo>
                <a:cubicBezTo>
                  <a:pt x="111" y="224"/>
                  <a:pt x="106" y="219"/>
                  <a:pt x="106" y="213"/>
                </a:cubicBezTo>
                <a:cubicBezTo>
                  <a:pt x="106" y="192"/>
                  <a:pt x="106" y="192"/>
                  <a:pt x="106" y="192"/>
                </a:cubicBezTo>
                <a:cubicBezTo>
                  <a:pt x="106" y="188"/>
                  <a:pt x="109" y="184"/>
                  <a:pt x="113" y="182"/>
                </a:cubicBezTo>
                <a:cubicBezTo>
                  <a:pt x="132" y="173"/>
                  <a:pt x="132" y="173"/>
                  <a:pt x="132" y="173"/>
                </a:cubicBezTo>
                <a:cubicBezTo>
                  <a:pt x="137" y="171"/>
                  <a:pt x="144" y="173"/>
                  <a:pt x="146" y="178"/>
                </a:cubicBezTo>
                <a:cubicBezTo>
                  <a:pt x="148" y="183"/>
                  <a:pt x="147" y="189"/>
                  <a:pt x="142" y="192"/>
                </a:cubicBezTo>
                <a:cubicBezTo>
                  <a:pt x="147" y="195"/>
                  <a:pt x="148" y="200"/>
                  <a:pt x="146" y="205"/>
                </a:cubicBezTo>
                <a:close/>
                <a:moveTo>
                  <a:pt x="213" y="382"/>
                </a:moveTo>
                <a:cubicBezTo>
                  <a:pt x="211" y="385"/>
                  <a:pt x="207" y="387"/>
                  <a:pt x="203" y="387"/>
                </a:cubicBezTo>
                <a:cubicBezTo>
                  <a:pt x="201" y="387"/>
                  <a:pt x="200" y="387"/>
                  <a:pt x="198" y="386"/>
                </a:cubicBezTo>
                <a:cubicBezTo>
                  <a:pt x="164" y="368"/>
                  <a:pt x="164" y="368"/>
                  <a:pt x="164" y="368"/>
                </a:cubicBezTo>
                <a:cubicBezTo>
                  <a:pt x="159" y="365"/>
                  <a:pt x="157" y="359"/>
                  <a:pt x="160" y="354"/>
                </a:cubicBezTo>
                <a:cubicBezTo>
                  <a:pt x="163" y="348"/>
                  <a:pt x="169" y="346"/>
                  <a:pt x="175" y="349"/>
                </a:cubicBezTo>
                <a:cubicBezTo>
                  <a:pt x="208" y="367"/>
                  <a:pt x="208" y="367"/>
                  <a:pt x="208" y="367"/>
                </a:cubicBezTo>
                <a:cubicBezTo>
                  <a:pt x="213" y="370"/>
                  <a:pt x="215" y="377"/>
                  <a:pt x="213" y="382"/>
                </a:cubicBezTo>
                <a:close/>
                <a:moveTo>
                  <a:pt x="280" y="406"/>
                </a:moveTo>
                <a:cubicBezTo>
                  <a:pt x="260" y="415"/>
                  <a:pt x="260" y="415"/>
                  <a:pt x="260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9" y="415"/>
                  <a:pt x="257" y="416"/>
                  <a:pt x="256" y="416"/>
                </a:cubicBezTo>
                <a:cubicBezTo>
                  <a:pt x="254" y="416"/>
                  <a:pt x="252" y="415"/>
                  <a:pt x="251" y="414"/>
                </a:cubicBezTo>
                <a:cubicBezTo>
                  <a:pt x="232" y="404"/>
                  <a:pt x="232" y="404"/>
                  <a:pt x="232" y="404"/>
                </a:cubicBezTo>
                <a:cubicBezTo>
                  <a:pt x="227" y="401"/>
                  <a:pt x="225" y="395"/>
                  <a:pt x="227" y="390"/>
                </a:cubicBezTo>
                <a:cubicBezTo>
                  <a:pt x="230" y="385"/>
                  <a:pt x="237" y="383"/>
                  <a:pt x="242" y="385"/>
                </a:cubicBezTo>
                <a:cubicBezTo>
                  <a:pt x="245" y="387"/>
                  <a:pt x="245" y="387"/>
                  <a:pt x="245" y="387"/>
                </a:cubicBezTo>
                <a:cubicBezTo>
                  <a:pt x="245" y="384"/>
                  <a:pt x="245" y="384"/>
                  <a:pt x="245" y="384"/>
                </a:cubicBezTo>
                <a:cubicBezTo>
                  <a:pt x="245" y="378"/>
                  <a:pt x="250" y="373"/>
                  <a:pt x="256" y="373"/>
                </a:cubicBezTo>
                <a:cubicBezTo>
                  <a:pt x="262" y="373"/>
                  <a:pt x="266" y="378"/>
                  <a:pt x="266" y="384"/>
                </a:cubicBezTo>
                <a:cubicBezTo>
                  <a:pt x="266" y="388"/>
                  <a:pt x="266" y="388"/>
                  <a:pt x="266" y="388"/>
                </a:cubicBezTo>
                <a:cubicBezTo>
                  <a:pt x="271" y="386"/>
                  <a:pt x="271" y="386"/>
                  <a:pt x="271" y="386"/>
                </a:cubicBezTo>
                <a:cubicBezTo>
                  <a:pt x="276" y="384"/>
                  <a:pt x="282" y="386"/>
                  <a:pt x="285" y="392"/>
                </a:cubicBezTo>
                <a:cubicBezTo>
                  <a:pt x="287" y="397"/>
                  <a:pt x="285" y="403"/>
                  <a:pt x="280" y="406"/>
                </a:cubicBezTo>
                <a:close/>
                <a:moveTo>
                  <a:pt x="245" y="352"/>
                </a:moveTo>
                <a:cubicBezTo>
                  <a:pt x="245" y="320"/>
                  <a:pt x="245" y="320"/>
                  <a:pt x="245" y="320"/>
                </a:cubicBezTo>
                <a:cubicBezTo>
                  <a:pt x="245" y="314"/>
                  <a:pt x="250" y="309"/>
                  <a:pt x="256" y="309"/>
                </a:cubicBezTo>
                <a:cubicBezTo>
                  <a:pt x="262" y="309"/>
                  <a:pt x="266" y="314"/>
                  <a:pt x="266" y="320"/>
                </a:cubicBezTo>
                <a:cubicBezTo>
                  <a:pt x="266" y="352"/>
                  <a:pt x="266" y="352"/>
                  <a:pt x="266" y="352"/>
                </a:cubicBezTo>
                <a:cubicBezTo>
                  <a:pt x="266" y="358"/>
                  <a:pt x="262" y="362"/>
                  <a:pt x="256" y="362"/>
                </a:cubicBezTo>
                <a:cubicBezTo>
                  <a:pt x="250" y="362"/>
                  <a:pt x="245" y="358"/>
                  <a:pt x="245" y="352"/>
                </a:cubicBezTo>
                <a:close/>
                <a:moveTo>
                  <a:pt x="280" y="256"/>
                </a:moveTo>
                <a:cubicBezTo>
                  <a:pt x="266" y="262"/>
                  <a:pt x="266" y="262"/>
                  <a:pt x="266" y="262"/>
                </a:cubicBezTo>
                <a:cubicBezTo>
                  <a:pt x="266" y="277"/>
                  <a:pt x="266" y="277"/>
                  <a:pt x="266" y="277"/>
                </a:cubicBezTo>
                <a:cubicBezTo>
                  <a:pt x="266" y="283"/>
                  <a:pt x="262" y="288"/>
                  <a:pt x="256" y="288"/>
                </a:cubicBezTo>
                <a:cubicBezTo>
                  <a:pt x="250" y="288"/>
                  <a:pt x="245" y="283"/>
                  <a:pt x="245" y="277"/>
                </a:cubicBezTo>
                <a:cubicBezTo>
                  <a:pt x="245" y="262"/>
                  <a:pt x="245" y="262"/>
                  <a:pt x="245" y="262"/>
                </a:cubicBezTo>
                <a:cubicBezTo>
                  <a:pt x="232" y="256"/>
                  <a:pt x="232" y="256"/>
                  <a:pt x="232" y="256"/>
                </a:cubicBezTo>
                <a:cubicBezTo>
                  <a:pt x="226" y="254"/>
                  <a:pt x="224" y="248"/>
                  <a:pt x="227" y="242"/>
                </a:cubicBezTo>
                <a:cubicBezTo>
                  <a:pt x="229" y="237"/>
                  <a:pt x="235" y="235"/>
                  <a:pt x="241" y="237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71" y="237"/>
                  <a:pt x="271" y="237"/>
                  <a:pt x="271" y="237"/>
                </a:cubicBezTo>
                <a:cubicBezTo>
                  <a:pt x="276" y="235"/>
                  <a:pt x="282" y="237"/>
                  <a:pt x="285" y="242"/>
                </a:cubicBezTo>
                <a:cubicBezTo>
                  <a:pt x="287" y="248"/>
                  <a:pt x="285" y="254"/>
                  <a:pt x="280" y="256"/>
                </a:cubicBezTo>
                <a:close/>
                <a:moveTo>
                  <a:pt x="285" y="141"/>
                </a:moveTo>
                <a:cubicBezTo>
                  <a:pt x="283" y="145"/>
                  <a:pt x="279" y="147"/>
                  <a:pt x="275" y="147"/>
                </a:cubicBezTo>
                <a:cubicBezTo>
                  <a:pt x="274" y="147"/>
                  <a:pt x="272" y="147"/>
                  <a:pt x="271" y="146"/>
                </a:cubicBezTo>
                <a:cubicBezTo>
                  <a:pt x="256" y="139"/>
                  <a:pt x="256" y="139"/>
                  <a:pt x="256" y="139"/>
                </a:cubicBezTo>
                <a:cubicBezTo>
                  <a:pt x="241" y="146"/>
                  <a:pt x="241" y="146"/>
                  <a:pt x="241" y="146"/>
                </a:cubicBezTo>
                <a:cubicBezTo>
                  <a:pt x="235" y="149"/>
                  <a:pt x="229" y="146"/>
                  <a:pt x="227" y="141"/>
                </a:cubicBezTo>
                <a:cubicBezTo>
                  <a:pt x="224" y="136"/>
                  <a:pt x="226" y="129"/>
                  <a:pt x="232" y="127"/>
                </a:cubicBezTo>
                <a:cubicBezTo>
                  <a:pt x="251" y="118"/>
                  <a:pt x="251" y="118"/>
                  <a:pt x="251" y="118"/>
                </a:cubicBezTo>
                <a:cubicBezTo>
                  <a:pt x="254" y="117"/>
                  <a:pt x="257" y="117"/>
                  <a:pt x="260" y="118"/>
                </a:cubicBezTo>
                <a:cubicBezTo>
                  <a:pt x="280" y="127"/>
                  <a:pt x="280" y="127"/>
                  <a:pt x="280" y="127"/>
                </a:cubicBezTo>
                <a:cubicBezTo>
                  <a:pt x="285" y="129"/>
                  <a:pt x="287" y="136"/>
                  <a:pt x="285" y="141"/>
                </a:cubicBezTo>
                <a:close/>
                <a:moveTo>
                  <a:pt x="346" y="375"/>
                </a:moveTo>
                <a:cubicBezTo>
                  <a:pt x="313" y="390"/>
                  <a:pt x="313" y="390"/>
                  <a:pt x="313" y="390"/>
                </a:cubicBezTo>
                <a:cubicBezTo>
                  <a:pt x="311" y="391"/>
                  <a:pt x="310" y="391"/>
                  <a:pt x="308" y="391"/>
                </a:cubicBezTo>
                <a:cubicBezTo>
                  <a:pt x="304" y="391"/>
                  <a:pt x="300" y="389"/>
                  <a:pt x="299" y="385"/>
                </a:cubicBezTo>
                <a:cubicBezTo>
                  <a:pt x="296" y="380"/>
                  <a:pt x="299" y="373"/>
                  <a:pt x="304" y="371"/>
                </a:cubicBezTo>
                <a:cubicBezTo>
                  <a:pt x="337" y="356"/>
                  <a:pt x="337" y="356"/>
                  <a:pt x="337" y="356"/>
                </a:cubicBezTo>
                <a:cubicBezTo>
                  <a:pt x="343" y="353"/>
                  <a:pt x="349" y="355"/>
                  <a:pt x="351" y="361"/>
                </a:cubicBezTo>
                <a:cubicBezTo>
                  <a:pt x="354" y="366"/>
                  <a:pt x="351" y="373"/>
                  <a:pt x="346" y="375"/>
                </a:cubicBezTo>
                <a:close/>
                <a:moveTo>
                  <a:pt x="346" y="226"/>
                </a:moveTo>
                <a:cubicBezTo>
                  <a:pt x="313" y="241"/>
                  <a:pt x="313" y="241"/>
                  <a:pt x="313" y="241"/>
                </a:cubicBezTo>
                <a:cubicBezTo>
                  <a:pt x="311" y="242"/>
                  <a:pt x="310" y="242"/>
                  <a:pt x="308" y="242"/>
                </a:cubicBezTo>
                <a:cubicBezTo>
                  <a:pt x="304" y="242"/>
                  <a:pt x="300" y="240"/>
                  <a:pt x="299" y="236"/>
                </a:cubicBezTo>
                <a:cubicBezTo>
                  <a:pt x="296" y="230"/>
                  <a:pt x="299" y="224"/>
                  <a:pt x="304" y="222"/>
                </a:cubicBezTo>
                <a:cubicBezTo>
                  <a:pt x="337" y="206"/>
                  <a:pt x="337" y="206"/>
                  <a:pt x="337" y="206"/>
                </a:cubicBezTo>
                <a:cubicBezTo>
                  <a:pt x="343" y="204"/>
                  <a:pt x="349" y="206"/>
                  <a:pt x="351" y="212"/>
                </a:cubicBezTo>
                <a:cubicBezTo>
                  <a:pt x="354" y="217"/>
                  <a:pt x="351" y="223"/>
                  <a:pt x="346" y="226"/>
                </a:cubicBezTo>
                <a:close/>
                <a:moveTo>
                  <a:pt x="351" y="172"/>
                </a:moveTo>
                <a:cubicBezTo>
                  <a:pt x="350" y="176"/>
                  <a:pt x="346" y="178"/>
                  <a:pt x="342" y="178"/>
                </a:cubicBezTo>
                <a:cubicBezTo>
                  <a:pt x="340" y="178"/>
                  <a:pt x="339" y="178"/>
                  <a:pt x="337" y="177"/>
                </a:cubicBezTo>
                <a:cubicBezTo>
                  <a:pt x="304" y="162"/>
                  <a:pt x="304" y="162"/>
                  <a:pt x="304" y="162"/>
                </a:cubicBezTo>
                <a:cubicBezTo>
                  <a:pt x="299" y="159"/>
                  <a:pt x="296" y="153"/>
                  <a:pt x="299" y="148"/>
                </a:cubicBezTo>
                <a:cubicBezTo>
                  <a:pt x="301" y="142"/>
                  <a:pt x="307" y="140"/>
                  <a:pt x="313" y="142"/>
                </a:cubicBezTo>
                <a:cubicBezTo>
                  <a:pt x="346" y="158"/>
                  <a:pt x="346" y="158"/>
                  <a:pt x="346" y="158"/>
                </a:cubicBezTo>
                <a:cubicBezTo>
                  <a:pt x="351" y="160"/>
                  <a:pt x="354" y="166"/>
                  <a:pt x="351" y="172"/>
                </a:cubicBezTo>
                <a:close/>
                <a:moveTo>
                  <a:pt x="405" y="341"/>
                </a:moveTo>
                <a:cubicBezTo>
                  <a:pt x="405" y="345"/>
                  <a:pt x="403" y="349"/>
                  <a:pt x="399" y="351"/>
                </a:cubicBezTo>
                <a:cubicBezTo>
                  <a:pt x="379" y="360"/>
                  <a:pt x="379" y="360"/>
                  <a:pt x="379" y="360"/>
                </a:cubicBezTo>
                <a:cubicBezTo>
                  <a:pt x="378" y="360"/>
                  <a:pt x="376" y="361"/>
                  <a:pt x="375" y="361"/>
                </a:cubicBezTo>
                <a:cubicBezTo>
                  <a:pt x="371" y="361"/>
                  <a:pt x="367" y="358"/>
                  <a:pt x="365" y="354"/>
                </a:cubicBezTo>
                <a:cubicBezTo>
                  <a:pt x="363" y="349"/>
                  <a:pt x="365" y="343"/>
                  <a:pt x="370" y="340"/>
                </a:cubicBezTo>
                <a:cubicBezTo>
                  <a:pt x="384" y="334"/>
                  <a:pt x="384" y="334"/>
                  <a:pt x="384" y="334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84" y="314"/>
                  <a:pt x="388" y="309"/>
                  <a:pt x="394" y="309"/>
                </a:cubicBezTo>
                <a:cubicBezTo>
                  <a:pt x="400" y="309"/>
                  <a:pt x="405" y="314"/>
                  <a:pt x="405" y="320"/>
                </a:cubicBezTo>
                <a:lnTo>
                  <a:pt x="405" y="341"/>
                </a:lnTo>
                <a:close/>
                <a:moveTo>
                  <a:pt x="405" y="288"/>
                </a:moveTo>
                <a:cubicBezTo>
                  <a:pt x="405" y="294"/>
                  <a:pt x="400" y="298"/>
                  <a:pt x="394" y="298"/>
                </a:cubicBezTo>
                <a:cubicBezTo>
                  <a:pt x="388" y="298"/>
                  <a:pt x="384" y="294"/>
                  <a:pt x="384" y="288"/>
                </a:cubicBezTo>
                <a:cubicBezTo>
                  <a:pt x="384" y="256"/>
                  <a:pt x="384" y="256"/>
                  <a:pt x="384" y="256"/>
                </a:cubicBezTo>
                <a:cubicBezTo>
                  <a:pt x="384" y="250"/>
                  <a:pt x="388" y="245"/>
                  <a:pt x="394" y="245"/>
                </a:cubicBezTo>
                <a:cubicBezTo>
                  <a:pt x="400" y="245"/>
                  <a:pt x="405" y="250"/>
                  <a:pt x="405" y="256"/>
                </a:cubicBezTo>
                <a:lnTo>
                  <a:pt x="405" y="288"/>
                </a:lnTo>
                <a:close/>
                <a:moveTo>
                  <a:pt x="405" y="213"/>
                </a:moveTo>
                <a:cubicBezTo>
                  <a:pt x="405" y="219"/>
                  <a:pt x="400" y="224"/>
                  <a:pt x="394" y="224"/>
                </a:cubicBezTo>
                <a:cubicBezTo>
                  <a:pt x="388" y="224"/>
                  <a:pt x="384" y="219"/>
                  <a:pt x="384" y="213"/>
                </a:cubicBezTo>
                <a:cubicBezTo>
                  <a:pt x="384" y="208"/>
                  <a:pt x="384" y="208"/>
                  <a:pt x="384" y="208"/>
                </a:cubicBezTo>
                <a:cubicBezTo>
                  <a:pt x="379" y="210"/>
                  <a:pt x="379" y="210"/>
                  <a:pt x="379" y="210"/>
                </a:cubicBezTo>
                <a:cubicBezTo>
                  <a:pt x="378" y="211"/>
                  <a:pt x="376" y="211"/>
                  <a:pt x="375" y="211"/>
                </a:cubicBezTo>
                <a:cubicBezTo>
                  <a:pt x="371" y="211"/>
                  <a:pt x="367" y="209"/>
                  <a:pt x="365" y="205"/>
                </a:cubicBezTo>
                <a:cubicBezTo>
                  <a:pt x="363" y="200"/>
                  <a:pt x="365" y="195"/>
                  <a:pt x="369" y="192"/>
                </a:cubicBezTo>
                <a:cubicBezTo>
                  <a:pt x="365" y="189"/>
                  <a:pt x="363" y="183"/>
                  <a:pt x="365" y="178"/>
                </a:cubicBezTo>
                <a:cubicBezTo>
                  <a:pt x="368" y="173"/>
                  <a:pt x="374" y="171"/>
                  <a:pt x="379" y="173"/>
                </a:cubicBezTo>
                <a:cubicBezTo>
                  <a:pt x="399" y="182"/>
                  <a:pt x="399" y="182"/>
                  <a:pt x="399" y="182"/>
                </a:cubicBezTo>
                <a:cubicBezTo>
                  <a:pt x="403" y="184"/>
                  <a:pt x="405" y="188"/>
                  <a:pt x="405" y="192"/>
                </a:cubicBezTo>
                <a:lnTo>
                  <a:pt x="405" y="2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2000" dirty="0"/>
          </a:p>
        </p:txBody>
      </p:sp>
      <p:sp>
        <p:nvSpPr>
          <p:cNvPr id="100" name="Flowchart: Connector 99"/>
          <p:cNvSpPr/>
          <p:nvPr/>
        </p:nvSpPr>
        <p:spPr bwMode="gray">
          <a:xfrm>
            <a:off x="9069549" y="6148641"/>
            <a:ext cx="432000" cy="432000"/>
          </a:xfrm>
          <a:prstGeom prst="flowChartConnector">
            <a:avLst/>
          </a:prstGeom>
          <a:solidFill>
            <a:srgbClr val="FF00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589460" y="5984316"/>
            <a:ext cx="4059512" cy="1246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Inadequate manpower for regular surveillance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High Compliance Cost and capital required for processes revamp to adhere to QCO norms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Markets price-sensitive rather than quality sensitive, low incentives for quality focused producers 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Lack of dedicated portal for information dissemination</a:t>
            </a:r>
            <a:endParaRPr lang="en-IN" sz="1100" dirty="0">
              <a:solidFill>
                <a:srgbClr val="313131"/>
              </a:solidFill>
            </a:endParaRPr>
          </a:p>
        </p:txBody>
      </p:sp>
      <p:sp>
        <p:nvSpPr>
          <p:cNvPr id="102" name="Flowchart: Connector 101"/>
          <p:cNvSpPr/>
          <p:nvPr/>
        </p:nvSpPr>
        <p:spPr bwMode="gray">
          <a:xfrm>
            <a:off x="5112813" y="6175564"/>
            <a:ext cx="432000" cy="432000"/>
          </a:xfrm>
          <a:prstGeom prst="flowChartConnector">
            <a:avLst/>
          </a:prstGeom>
          <a:solidFill>
            <a:srgbClr val="FFC0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03" name="Flowchart: Connector 102"/>
          <p:cNvSpPr/>
          <p:nvPr/>
        </p:nvSpPr>
        <p:spPr bwMode="gray">
          <a:xfrm>
            <a:off x="568537" y="6148641"/>
            <a:ext cx="432000" cy="432000"/>
          </a:xfrm>
          <a:prstGeom prst="flowChartConnector">
            <a:avLst/>
          </a:prstGeom>
          <a:solidFill>
            <a:srgbClr val="86BC2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7" name="Title 3"/>
          <p:cNvSpPr>
            <a:spLocks noGrp="1"/>
          </p:cNvSpPr>
          <p:nvPr>
            <p:ph type="title"/>
          </p:nvPr>
        </p:nvSpPr>
        <p:spPr>
          <a:xfrm>
            <a:off x="568538" y="359835"/>
            <a:ext cx="12680527" cy="417406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Our Assessment on QCO Effectiveness</a:t>
            </a:r>
            <a:endParaRPr lang="en-GB" sz="2200" i="0" dirty="0">
              <a:solidFill>
                <a:schemeClr val="tx1"/>
              </a:solidFill>
            </a:endParaRPr>
          </a:p>
        </p:txBody>
      </p:sp>
      <p:sp>
        <p:nvSpPr>
          <p:cNvPr id="68" name="Text Placeholder 2"/>
          <p:cNvSpPr txBox="1">
            <a:spLocks/>
          </p:cNvSpPr>
          <p:nvPr/>
        </p:nvSpPr>
        <p:spPr>
          <a:xfrm>
            <a:off x="568537" y="738481"/>
            <a:ext cx="12922844" cy="858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381722" rtl="0" eaLnBrk="1" latinLnBrk="0" hangingPunct="1">
              <a:spcBef>
                <a:spcPts val="0"/>
              </a:spcBef>
              <a:spcAft>
                <a:spcPts val="1511"/>
              </a:spcAft>
              <a:buSzPct val="100000"/>
              <a:buFont typeface="Arial" panose="020B0604020202020204" pitchFamily="34" charset="0"/>
              <a:buNone/>
              <a:defRPr sz="1813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Arial"/>
              <a:buNone/>
              <a:defRPr lang="en-US" sz="1813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6553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Arial" panose="020B0604020202020204" pitchFamily="34" charset="0"/>
              <a:buChar char="•"/>
              <a:defRPr lang="en-US" sz="18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545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813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5098" indent="-266553" algn="l" defTabSz="1206609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813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en-US" sz="1800" dirty="0"/>
              <a:t>While coverage of product standards have increased, renewed focus on Enforcement and Governance may be required to drive adoption and compliance levels to achieve the intended objectives</a:t>
            </a:r>
            <a:endParaRPr lang="en-IN" sz="1800" dirty="0"/>
          </a:p>
        </p:txBody>
      </p:sp>
      <p:sp>
        <p:nvSpPr>
          <p:cNvPr id="69" name="TextBox 68"/>
          <p:cNvSpPr txBox="1"/>
          <p:nvPr/>
        </p:nvSpPr>
        <p:spPr>
          <a:xfrm>
            <a:off x="5603921" y="6019821"/>
            <a:ext cx="3331357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Limited testing infrastructure, absence of testing at ports of import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Regular Technical reviews to ensure harmonization with international standards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85019" y="6019821"/>
            <a:ext cx="3595793" cy="1246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Adoption growing especially in B2B segments and Govt. procurement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Even Chinese importers are getting products certified by BIS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13131"/>
                </a:solidFill>
              </a:rPr>
              <a:t>Increasing products are coming under coverage</a:t>
            </a:r>
          </a:p>
          <a:p>
            <a:pPr>
              <a:spcBef>
                <a:spcPts val="600"/>
              </a:spcBef>
              <a:buSzPct val="100000"/>
            </a:pPr>
            <a:endParaRPr lang="en-IN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19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055643"/>
              </p:ext>
            </p:extLst>
          </p:nvPr>
        </p:nvGraphicFramePr>
        <p:xfrm>
          <a:off x="1799" y="2922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9" y="2922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0" y="1124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b="1" dirty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68537" y="405951"/>
            <a:ext cx="12389805" cy="620271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Key challenges and impact of QCO on Secondary / MSME sector</a:t>
            </a:r>
          </a:p>
        </p:txBody>
      </p:sp>
      <p:sp>
        <p:nvSpPr>
          <p:cNvPr id="55" name="Text Placeholder 2"/>
          <p:cNvSpPr txBox="1">
            <a:spLocks/>
          </p:cNvSpPr>
          <p:nvPr/>
        </p:nvSpPr>
        <p:spPr>
          <a:xfrm>
            <a:off x="568537" y="738481"/>
            <a:ext cx="12922844" cy="858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381722" rtl="0" eaLnBrk="1" latinLnBrk="0" hangingPunct="1">
              <a:spcBef>
                <a:spcPts val="0"/>
              </a:spcBef>
              <a:spcAft>
                <a:spcPts val="1511"/>
              </a:spcAft>
              <a:buSzPct val="100000"/>
              <a:buFont typeface="Arial" panose="020B0604020202020204" pitchFamily="34" charset="0"/>
              <a:buNone/>
              <a:defRPr sz="1813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Arial"/>
              <a:buNone/>
              <a:defRPr lang="en-US" sz="1813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6553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Arial" panose="020B0604020202020204" pitchFamily="34" charset="0"/>
              <a:buChar char="•"/>
              <a:defRPr lang="en-US" sz="18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545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813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5098" indent="-266553" algn="l" defTabSz="1206609" rtl="0" eaLnBrk="1" latinLnBrk="0" hangingPunct="1">
              <a:spcBef>
                <a:spcPts val="0"/>
              </a:spcBef>
              <a:spcAft>
                <a:spcPts val="1511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813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5098" indent="-266553" algn="l" defTabSz="1381722" rtl="0" eaLnBrk="1" latinLnBrk="0" hangingPunct="1">
              <a:spcBef>
                <a:spcPts val="0"/>
              </a:spcBef>
              <a:spcAft>
                <a:spcPts val="1511"/>
              </a:spcAft>
              <a:buFont typeface="Verdana" panose="020B0604030504040204" pitchFamily="34" charset="0"/>
              <a:buChar char="−"/>
              <a:defRPr sz="181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en-US" sz="1800" dirty="0"/>
              <a:t>Increasing Costs of Compliances and High Capex requirements have prevented wider adoption of the QCO norms among MSME/ secondary steel producers 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1899665" y="2732267"/>
            <a:ext cx="10181076" cy="806554"/>
            <a:chOff x="2654228" y="3598394"/>
            <a:chExt cx="5762203" cy="983103"/>
          </a:xfrm>
        </p:grpSpPr>
        <p:sp>
          <p:nvSpPr>
            <p:cNvPr id="95" name="Freeform 5"/>
            <p:cNvSpPr>
              <a:spLocks/>
            </p:cNvSpPr>
            <p:nvPr/>
          </p:nvSpPr>
          <p:spPr bwMode="auto">
            <a:xfrm>
              <a:off x="5882009" y="3598394"/>
              <a:ext cx="2534422" cy="983103"/>
            </a:xfrm>
            <a:custGeom>
              <a:avLst/>
              <a:gdLst>
                <a:gd name="T0" fmla="*/ 2248 w 2248"/>
                <a:gd name="T1" fmla="*/ 872 h 872"/>
                <a:gd name="T2" fmla="*/ 2236 w 2248"/>
                <a:gd name="T3" fmla="*/ 872 h 872"/>
                <a:gd name="T4" fmla="*/ 2236 w 2248"/>
                <a:gd name="T5" fmla="*/ 275 h 872"/>
                <a:gd name="T6" fmla="*/ 0 w 2248"/>
                <a:gd name="T7" fmla="*/ 275 h 872"/>
                <a:gd name="T8" fmla="*/ 0 w 2248"/>
                <a:gd name="T9" fmla="*/ 0 h 872"/>
                <a:gd name="T10" fmla="*/ 12 w 2248"/>
                <a:gd name="T11" fmla="*/ 0 h 872"/>
                <a:gd name="T12" fmla="*/ 12 w 2248"/>
                <a:gd name="T13" fmla="*/ 263 h 872"/>
                <a:gd name="T14" fmla="*/ 2248 w 2248"/>
                <a:gd name="T15" fmla="*/ 263 h 872"/>
                <a:gd name="T16" fmla="*/ 2248 w 2248"/>
                <a:gd name="T17" fmla="*/ 872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48" h="872">
                  <a:moveTo>
                    <a:pt x="2248" y="872"/>
                  </a:moveTo>
                  <a:lnTo>
                    <a:pt x="2236" y="872"/>
                  </a:lnTo>
                  <a:lnTo>
                    <a:pt x="2236" y="275"/>
                  </a:lnTo>
                  <a:lnTo>
                    <a:pt x="0" y="275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63"/>
                  </a:lnTo>
                  <a:lnTo>
                    <a:pt x="2248" y="263"/>
                  </a:lnTo>
                  <a:lnTo>
                    <a:pt x="2248" y="8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97" name="Freeform 8"/>
            <p:cNvSpPr>
              <a:spLocks/>
            </p:cNvSpPr>
            <p:nvPr/>
          </p:nvSpPr>
          <p:spPr bwMode="auto">
            <a:xfrm>
              <a:off x="2654228" y="3598394"/>
              <a:ext cx="2535549" cy="983103"/>
            </a:xfrm>
            <a:custGeom>
              <a:avLst/>
              <a:gdLst>
                <a:gd name="T0" fmla="*/ 12 w 2249"/>
                <a:gd name="T1" fmla="*/ 872 h 872"/>
                <a:gd name="T2" fmla="*/ 0 w 2249"/>
                <a:gd name="T3" fmla="*/ 872 h 872"/>
                <a:gd name="T4" fmla="*/ 0 w 2249"/>
                <a:gd name="T5" fmla="*/ 263 h 872"/>
                <a:gd name="T6" fmla="*/ 2237 w 2249"/>
                <a:gd name="T7" fmla="*/ 263 h 872"/>
                <a:gd name="T8" fmla="*/ 2237 w 2249"/>
                <a:gd name="T9" fmla="*/ 0 h 872"/>
                <a:gd name="T10" fmla="*/ 2249 w 2249"/>
                <a:gd name="T11" fmla="*/ 0 h 872"/>
                <a:gd name="T12" fmla="*/ 2249 w 2249"/>
                <a:gd name="T13" fmla="*/ 275 h 872"/>
                <a:gd name="T14" fmla="*/ 12 w 2249"/>
                <a:gd name="T15" fmla="*/ 275 h 872"/>
                <a:gd name="T16" fmla="*/ 12 w 2249"/>
                <a:gd name="T17" fmla="*/ 872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49" h="872">
                  <a:moveTo>
                    <a:pt x="12" y="872"/>
                  </a:moveTo>
                  <a:lnTo>
                    <a:pt x="0" y="872"/>
                  </a:lnTo>
                  <a:lnTo>
                    <a:pt x="0" y="263"/>
                  </a:lnTo>
                  <a:lnTo>
                    <a:pt x="2237" y="263"/>
                  </a:lnTo>
                  <a:lnTo>
                    <a:pt x="2237" y="0"/>
                  </a:lnTo>
                  <a:lnTo>
                    <a:pt x="2249" y="0"/>
                  </a:lnTo>
                  <a:lnTo>
                    <a:pt x="2249" y="275"/>
                  </a:lnTo>
                  <a:lnTo>
                    <a:pt x="12" y="275"/>
                  </a:lnTo>
                  <a:lnTo>
                    <a:pt x="12" y="8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</p:grpSp>
      <p:sp>
        <p:nvSpPr>
          <p:cNvPr id="74" name="Freeform 24"/>
          <p:cNvSpPr>
            <a:spLocks/>
          </p:cNvSpPr>
          <p:nvPr/>
        </p:nvSpPr>
        <p:spPr bwMode="auto">
          <a:xfrm>
            <a:off x="1117576" y="3690900"/>
            <a:ext cx="1386513" cy="1189694"/>
          </a:xfrm>
          <a:custGeom>
            <a:avLst/>
            <a:gdLst>
              <a:gd name="T0" fmla="*/ 301 w 496"/>
              <a:gd name="T1" fmla="*/ 469 h 469"/>
              <a:gd name="T2" fmla="*/ 107 w 496"/>
              <a:gd name="T3" fmla="*/ 389 h 469"/>
              <a:gd name="T4" fmla="*/ 107 w 496"/>
              <a:gd name="T5" fmla="*/ 0 h 469"/>
              <a:gd name="T6" fmla="*/ 135 w 496"/>
              <a:gd name="T7" fmla="*/ 28 h 469"/>
              <a:gd name="T8" fmla="*/ 135 w 496"/>
              <a:gd name="T9" fmla="*/ 361 h 469"/>
              <a:gd name="T10" fmla="*/ 468 w 496"/>
              <a:gd name="T11" fmla="*/ 361 h 469"/>
              <a:gd name="T12" fmla="*/ 496 w 496"/>
              <a:gd name="T13" fmla="*/ 389 h 469"/>
              <a:gd name="T14" fmla="*/ 301 w 496"/>
              <a:gd name="T15" fmla="*/ 469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6" h="469">
                <a:moveTo>
                  <a:pt x="301" y="469"/>
                </a:moveTo>
                <a:cubicBezTo>
                  <a:pt x="231" y="469"/>
                  <a:pt x="161" y="443"/>
                  <a:pt x="107" y="389"/>
                </a:cubicBezTo>
                <a:cubicBezTo>
                  <a:pt x="0" y="282"/>
                  <a:pt x="0" y="107"/>
                  <a:pt x="107" y="0"/>
                </a:cubicBezTo>
                <a:cubicBezTo>
                  <a:pt x="135" y="28"/>
                  <a:pt x="135" y="28"/>
                  <a:pt x="135" y="28"/>
                </a:cubicBezTo>
                <a:cubicBezTo>
                  <a:pt x="44" y="120"/>
                  <a:pt x="44" y="269"/>
                  <a:pt x="135" y="361"/>
                </a:cubicBezTo>
                <a:cubicBezTo>
                  <a:pt x="227" y="452"/>
                  <a:pt x="376" y="452"/>
                  <a:pt x="468" y="361"/>
                </a:cubicBezTo>
                <a:cubicBezTo>
                  <a:pt x="496" y="389"/>
                  <a:pt x="496" y="389"/>
                  <a:pt x="496" y="389"/>
                </a:cubicBezTo>
                <a:cubicBezTo>
                  <a:pt x="442" y="443"/>
                  <a:pt x="372" y="469"/>
                  <a:pt x="301" y="46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sp>
        <p:nvSpPr>
          <p:cNvPr id="75" name="Freeform 25"/>
          <p:cNvSpPr>
            <a:spLocks/>
          </p:cNvSpPr>
          <p:nvPr/>
        </p:nvSpPr>
        <p:spPr bwMode="auto">
          <a:xfrm>
            <a:off x="1449378" y="3465754"/>
            <a:ext cx="1231201" cy="1182018"/>
          </a:xfrm>
          <a:custGeom>
            <a:avLst/>
            <a:gdLst>
              <a:gd name="T0" fmla="*/ 365 w 440"/>
              <a:gd name="T1" fmla="*/ 466 h 466"/>
              <a:gd name="T2" fmla="*/ 361 w 440"/>
              <a:gd name="T3" fmla="*/ 462 h 466"/>
              <a:gd name="T4" fmla="*/ 434 w 440"/>
              <a:gd name="T5" fmla="*/ 284 h 466"/>
              <a:gd name="T6" fmla="*/ 361 w 440"/>
              <a:gd name="T7" fmla="*/ 105 h 466"/>
              <a:gd name="T8" fmla="*/ 4 w 440"/>
              <a:gd name="T9" fmla="*/ 105 h 466"/>
              <a:gd name="T10" fmla="*/ 0 w 440"/>
              <a:gd name="T11" fmla="*/ 101 h 466"/>
              <a:gd name="T12" fmla="*/ 365 w 440"/>
              <a:gd name="T13" fmla="*/ 101 h 466"/>
              <a:gd name="T14" fmla="*/ 440 w 440"/>
              <a:gd name="T15" fmla="*/ 284 h 466"/>
              <a:gd name="T16" fmla="*/ 365 w 440"/>
              <a:gd name="T17" fmla="*/ 466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" h="466">
                <a:moveTo>
                  <a:pt x="365" y="466"/>
                </a:moveTo>
                <a:cubicBezTo>
                  <a:pt x="361" y="462"/>
                  <a:pt x="361" y="462"/>
                  <a:pt x="361" y="462"/>
                </a:cubicBezTo>
                <a:cubicBezTo>
                  <a:pt x="408" y="414"/>
                  <a:pt x="434" y="351"/>
                  <a:pt x="434" y="284"/>
                </a:cubicBezTo>
                <a:cubicBezTo>
                  <a:pt x="434" y="216"/>
                  <a:pt x="408" y="153"/>
                  <a:pt x="361" y="105"/>
                </a:cubicBezTo>
                <a:cubicBezTo>
                  <a:pt x="262" y="7"/>
                  <a:pt x="102" y="7"/>
                  <a:pt x="4" y="105"/>
                </a:cubicBezTo>
                <a:cubicBezTo>
                  <a:pt x="0" y="101"/>
                  <a:pt x="0" y="101"/>
                  <a:pt x="0" y="101"/>
                </a:cubicBezTo>
                <a:cubicBezTo>
                  <a:pt x="101" y="0"/>
                  <a:pt x="264" y="0"/>
                  <a:pt x="365" y="101"/>
                </a:cubicBezTo>
                <a:cubicBezTo>
                  <a:pt x="414" y="150"/>
                  <a:pt x="440" y="215"/>
                  <a:pt x="440" y="284"/>
                </a:cubicBezTo>
                <a:cubicBezTo>
                  <a:pt x="440" y="353"/>
                  <a:pt x="414" y="417"/>
                  <a:pt x="365" y="46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sp>
        <p:nvSpPr>
          <p:cNvPr id="82" name="Freeform 32"/>
          <p:cNvSpPr>
            <a:spLocks/>
          </p:cNvSpPr>
          <p:nvPr/>
        </p:nvSpPr>
        <p:spPr bwMode="auto">
          <a:xfrm>
            <a:off x="11323771" y="4185966"/>
            <a:ext cx="1541826" cy="697187"/>
          </a:xfrm>
          <a:custGeom>
            <a:avLst/>
            <a:gdLst>
              <a:gd name="T0" fmla="*/ 276 w 551"/>
              <a:gd name="T1" fmla="*/ 275 h 275"/>
              <a:gd name="T2" fmla="*/ 0 w 551"/>
              <a:gd name="T3" fmla="*/ 0 h 275"/>
              <a:gd name="T4" fmla="*/ 40 w 551"/>
              <a:gd name="T5" fmla="*/ 0 h 275"/>
              <a:gd name="T6" fmla="*/ 276 w 551"/>
              <a:gd name="T7" fmla="*/ 235 h 275"/>
              <a:gd name="T8" fmla="*/ 511 w 551"/>
              <a:gd name="T9" fmla="*/ 0 h 275"/>
              <a:gd name="T10" fmla="*/ 551 w 551"/>
              <a:gd name="T11" fmla="*/ 0 h 275"/>
              <a:gd name="T12" fmla="*/ 276 w 551"/>
              <a:gd name="T13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1" h="275">
                <a:moveTo>
                  <a:pt x="276" y="275"/>
                </a:moveTo>
                <a:cubicBezTo>
                  <a:pt x="124" y="275"/>
                  <a:pt x="0" y="151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129"/>
                  <a:pt x="146" y="235"/>
                  <a:pt x="276" y="235"/>
                </a:cubicBezTo>
                <a:cubicBezTo>
                  <a:pt x="405" y="235"/>
                  <a:pt x="511" y="129"/>
                  <a:pt x="511" y="0"/>
                </a:cubicBezTo>
                <a:cubicBezTo>
                  <a:pt x="551" y="0"/>
                  <a:pt x="551" y="0"/>
                  <a:pt x="551" y="0"/>
                </a:cubicBezTo>
                <a:cubicBezTo>
                  <a:pt x="551" y="151"/>
                  <a:pt x="427" y="275"/>
                  <a:pt x="276" y="275"/>
                </a:cubicBez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sp>
        <p:nvSpPr>
          <p:cNvPr id="83" name="Freeform 33"/>
          <p:cNvSpPr>
            <a:spLocks/>
          </p:cNvSpPr>
          <p:nvPr/>
        </p:nvSpPr>
        <p:spPr bwMode="auto">
          <a:xfrm>
            <a:off x="11371776" y="3528437"/>
            <a:ext cx="1445815" cy="657530"/>
          </a:xfrm>
          <a:custGeom>
            <a:avLst/>
            <a:gdLst>
              <a:gd name="T0" fmla="*/ 517 w 517"/>
              <a:gd name="T1" fmla="*/ 259 h 259"/>
              <a:gd name="T2" fmla="*/ 511 w 517"/>
              <a:gd name="T3" fmla="*/ 259 h 259"/>
              <a:gd name="T4" fmla="*/ 259 w 517"/>
              <a:gd name="T5" fmla="*/ 6 h 259"/>
              <a:gd name="T6" fmla="*/ 6 w 517"/>
              <a:gd name="T7" fmla="*/ 259 h 259"/>
              <a:gd name="T8" fmla="*/ 0 w 517"/>
              <a:gd name="T9" fmla="*/ 259 h 259"/>
              <a:gd name="T10" fmla="*/ 259 w 517"/>
              <a:gd name="T11" fmla="*/ 0 h 259"/>
              <a:gd name="T12" fmla="*/ 517 w 517"/>
              <a:gd name="T13" fmla="*/ 25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7" h="259">
                <a:moveTo>
                  <a:pt x="517" y="259"/>
                </a:moveTo>
                <a:cubicBezTo>
                  <a:pt x="511" y="259"/>
                  <a:pt x="511" y="259"/>
                  <a:pt x="511" y="259"/>
                </a:cubicBezTo>
                <a:cubicBezTo>
                  <a:pt x="511" y="120"/>
                  <a:pt x="397" y="6"/>
                  <a:pt x="259" y="6"/>
                </a:cubicBezTo>
                <a:cubicBezTo>
                  <a:pt x="120" y="6"/>
                  <a:pt x="6" y="120"/>
                  <a:pt x="6" y="259"/>
                </a:cubicBezTo>
                <a:cubicBezTo>
                  <a:pt x="0" y="259"/>
                  <a:pt x="0" y="259"/>
                  <a:pt x="0" y="259"/>
                </a:cubicBezTo>
                <a:cubicBezTo>
                  <a:pt x="0" y="116"/>
                  <a:pt x="116" y="0"/>
                  <a:pt x="259" y="0"/>
                </a:cubicBezTo>
                <a:cubicBezTo>
                  <a:pt x="401" y="0"/>
                  <a:pt x="517" y="116"/>
                  <a:pt x="517" y="259"/>
                </a:cubicBez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grpSp>
        <p:nvGrpSpPr>
          <p:cNvPr id="6" name="Group 5"/>
          <p:cNvGrpSpPr/>
          <p:nvPr/>
        </p:nvGrpSpPr>
        <p:grpSpPr>
          <a:xfrm>
            <a:off x="4092309" y="1524136"/>
            <a:ext cx="5743694" cy="1208131"/>
            <a:chOff x="4092309" y="1167592"/>
            <a:chExt cx="5743694" cy="2004304"/>
          </a:xfrm>
        </p:grpSpPr>
        <p:sp>
          <p:nvSpPr>
            <p:cNvPr id="46" name="Oval 19"/>
            <p:cNvSpPr>
              <a:spLocks noChangeArrowheads="1"/>
            </p:cNvSpPr>
            <p:nvPr/>
          </p:nvSpPr>
          <p:spPr bwMode="auto">
            <a:xfrm>
              <a:off x="4092309" y="1974570"/>
              <a:ext cx="220681" cy="1963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57" name="Oval 20"/>
            <p:cNvSpPr>
              <a:spLocks noChangeArrowheads="1"/>
            </p:cNvSpPr>
            <p:nvPr/>
          </p:nvSpPr>
          <p:spPr bwMode="auto">
            <a:xfrm>
              <a:off x="9615322" y="1974570"/>
              <a:ext cx="220681" cy="1963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58" name="Freeform 21"/>
            <p:cNvSpPr>
              <a:spLocks/>
            </p:cNvSpPr>
            <p:nvPr/>
          </p:nvSpPr>
          <p:spPr bwMode="auto">
            <a:xfrm>
              <a:off x="4155929" y="1167592"/>
              <a:ext cx="5616454" cy="711510"/>
            </a:xfrm>
            <a:custGeom>
              <a:avLst/>
              <a:gdLst>
                <a:gd name="T0" fmla="*/ 1387 w 1426"/>
                <a:gd name="T1" fmla="*/ 199 h 199"/>
                <a:gd name="T2" fmla="*/ 1331 w 1426"/>
                <a:gd name="T3" fmla="*/ 102 h 199"/>
                <a:gd name="T4" fmla="*/ 1180 w 1426"/>
                <a:gd name="T5" fmla="*/ 40 h 199"/>
                <a:gd name="T6" fmla="*/ 246 w 1426"/>
                <a:gd name="T7" fmla="*/ 40 h 199"/>
                <a:gd name="T8" fmla="*/ 95 w 1426"/>
                <a:gd name="T9" fmla="*/ 102 h 199"/>
                <a:gd name="T10" fmla="*/ 39 w 1426"/>
                <a:gd name="T11" fmla="*/ 199 h 199"/>
                <a:gd name="T12" fmla="*/ 0 w 1426"/>
                <a:gd name="T13" fmla="*/ 189 h 199"/>
                <a:gd name="T14" fmla="*/ 66 w 1426"/>
                <a:gd name="T15" fmla="*/ 74 h 199"/>
                <a:gd name="T16" fmla="*/ 246 w 1426"/>
                <a:gd name="T17" fmla="*/ 0 h 199"/>
                <a:gd name="T18" fmla="*/ 1180 w 1426"/>
                <a:gd name="T19" fmla="*/ 0 h 199"/>
                <a:gd name="T20" fmla="*/ 1360 w 1426"/>
                <a:gd name="T21" fmla="*/ 74 h 199"/>
                <a:gd name="T22" fmla="*/ 1426 w 1426"/>
                <a:gd name="T23" fmla="*/ 189 h 199"/>
                <a:gd name="T24" fmla="*/ 1387 w 1426"/>
                <a:gd name="T25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199">
                  <a:moveTo>
                    <a:pt x="1387" y="199"/>
                  </a:moveTo>
                  <a:cubicBezTo>
                    <a:pt x="1377" y="162"/>
                    <a:pt x="1358" y="129"/>
                    <a:pt x="1331" y="102"/>
                  </a:cubicBezTo>
                  <a:cubicBezTo>
                    <a:pt x="1291" y="62"/>
                    <a:pt x="1237" y="40"/>
                    <a:pt x="1180" y="40"/>
                  </a:cubicBezTo>
                  <a:cubicBezTo>
                    <a:pt x="246" y="40"/>
                    <a:pt x="246" y="40"/>
                    <a:pt x="246" y="40"/>
                  </a:cubicBezTo>
                  <a:cubicBezTo>
                    <a:pt x="189" y="40"/>
                    <a:pt x="135" y="62"/>
                    <a:pt x="95" y="102"/>
                  </a:cubicBezTo>
                  <a:cubicBezTo>
                    <a:pt x="68" y="129"/>
                    <a:pt x="49" y="162"/>
                    <a:pt x="39" y="19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12" y="145"/>
                    <a:pt x="35" y="106"/>
                    <a:pt x="66" y="74"/>
                  </a:cubicBezTo>
                  <a:cubicBezTo>
                    <a:pt x="114" y="26"/>
                    <a:pt x="178" y="0"/>
                    <a:pt x="246" y="0"/>
                  </a:cubicBezTo>
                  <a:cubicBezTo>
                    <a:pt x="1180" y="0"/>
                    <a:pt x="1180" y="0"/>
                    <a:pt x="1180" y="0"/>
                  </a:cubicBezTo>
                  <a:cubicBezTo>
                    <a:pt x="1248" y="0"/>
                    <a:pt x="1312" y="26"/>
                    <a:pt x="1360" y="74"/>
                  </a:cubicBezTo>
                  <a:cubicBezTo>
                    <a:pt x="1391" y="106"/>
                    <a:pt x="1414" y="145"/>
                    <a:pt x="1426" y="189"/>
                  </a:cubicBezTo>
                  <a:lnTo>
                    <a:pt x="1387" y="1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59" name="Freeform 22"/>
            <p:cNvSpPr>
              <a:spLocks/>
            </p:cNvSpPr>
            <p:nvPr/>
          </p:nvSpPr>
          <p:spPr bwMode="auto">
            <a:xfrm>
              <a:off x="4223526" y="2286193"/>
              <a:ext cx="5481261" cy="634054"/>
            </a:xfrm>
            <a:custGeom>
              <a:avLst/>
              <a:gdLst>
                <a:gd name="T0" fmla="*/ 1163 w 1392"/>
                <a:gd name="T1" fmla="*/ 178 h 178"/>
                <a:gd name="T2" fmla="*/ 229 w 1392"/>
                <a:gd name="T3" fmla="*/ 178 h 178"/>
                <a:gd name="T4" fmla="*/ 61 w 1392"/>
                <a:gd name="T5" fmla="*/ 108 h 178"/>
                <a:gd name="T6" fmla="*/ 0 w 1392"/>
                <a:gd name="T7" fmla="*/ 1 h 178"/>
                <a:gd name="T8" fmla="*/ 6 w 1392"/>
                <a:gd name="T9" fmla="*/ 0 h 178"/>
                <a:gd name="T10" fmla="*/ 66 w 1392"/>
                <a:gd name="T11" fmla="*/ 104 h 178"/>
                <a:gd name="T12" fmla="*/ 229 w 1392"/>
                <a:gd name="T13" fmla="*/ 172 h 178"/>
                <a:gd name="T14" fmla="*/ 1163 w 1392"/>
                <a:gd name="T15" fmla="*/ 172 h 178"/>
                <a:gd name="T16" fmla="*/ 1326 w 1392"/>
                <a:gd name="T17" fmla="*/ 104 h 178"/>
                <a:gd name="T18" fmla="*/ 1386 w 1392"/>
                <a:gd name="T19" fmla="*/ 0 h 178"/>
                <a:gd name="T20" fmla="*/ 1392 w 1392"/>
                <a:gd name="T21" fmla="*/ 1 h 178"/>
                <a:gd name="T22" fmla="*/ 1331 w 1392"/>
                <a:gd name="T23" fmla="*/ 108 h 178"/>
                <a:gd name="T24" fmla="*/ 1163 w 1392"/>
                <a:gd name="T25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92" h="178">
                  <a:moveTo>
                    <a:pt x="1163" y="178"/>
                  </a:moveTo>
                  <a:cubicBezTo>
                    <a:pt x="229" y="178"/>
                    <a:pt x="229" y="178"/>
                    <a:pt x="229" y="178"/>
                  </a:cubicBezTo>
                  <a:cubicBezTo>
                    <a:pt x="166" y="178"/>
                    <a:pt x="106" y="153"/>
                    <a:pt x="61" y="108"/>
                  </a:cubicBezTo>
                  <a:cubicBezTo>
                    <a:pt x="32" y="79"/>
                    <a:pt x="10" y="42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6" y="39"/>
                    <a:pt x="37" y="75"/>
                    <a:pt x="66" y="104"/>
                  </a:cubicBezTo>
                  <a:cubicBezTo>
                    <a:pt x="109" y="148"/>
                    <a:pt x="167" y="172"/>
                    <a:pt x="229" y="172"/>
                  </a:cubicBezTo>
                  <a:cubicBezTo>
                    <a:pt x="1163" y="172"/>
                    <a:pt x="1163" y="172"/>
                    <a:pt x="1163" y="172"/>
                  </a:cubicBezTo>
                  <a:cubicBezTo>
                    <a:pt x="1225" y="172"/>
                    <a:pt x="1283" y="148"/>
                    <a:pt x="1326" y="104"/>
                  </a:cubicBezTo>
                  <a:cubicBezTo>
                    <a:pt x="1355" y="75"/>
                    <a:pt x="1376" y="39"/>
                    <a:pt x="1386" y="0"/>
                  </a:cubicBezTo>
                  <a:cubicBezTo>
                    <a:pt x="1392" y="1"/>
                    <a:pt x="1392" y="1"/>
                    <a:pt x="1392" y="1"/>
                  </a:cubicBezTo>
                  <a:cubicBezTo>
                    <a:pt x="1382" y="42"/>
                    <a:pt x="1360" y="79"/>
                    <a:pt x="1331" y="108"/>
                  </a:cubicBezTo>
                  <a:cubicBezTo>
                    <a:pt x="1286" y="153"/>
                    <a:pt x="1226" y="178"/>
                    <a:pt x="1163" y="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60" name="Freeform 23"/>
            <p:cNvSpPr>
              <a:spLocks/>
            </p:cNvSpPr>
            <p:nvPr/>
          </p:nvSpPr>
          <p:spPr bwMode="auto">
            <a:xfrm>
              <a:off x="4440231" y="1453998"/>
              <a:ext cx="5047850" cy="1242889"/>
            </a:xfrm>
            <a:custGeom>
              <a:avLst/>
              <a:gdLst>
                <a:gd name="T0" fmla="*/ 1108 w 1282"/>
                <a:gd name="T1" fmla="*/ 0 h 348"/>
                <a:gd name="T2" fmla="*/ 174 w 1282"/>
                <a:gd name="T3" fmla="*/ 0 h 348"/>
                <a:gd name="T4" fmla="*/ 0 w 1282"/>
                <a:gd name="T5" fmla="*/ 174 h 348"/>
                <a:gd name="T6" fmla="*/ 0 w 1282"/>
                <a:gd name="T7" fmla="*/ 174 h 348"/>
                <a:gd name="T8" fmla="*/ 174 w 1282"/>
                <a:gd name="T9" fmla="*/ 348 h 348"/>
                <a:gd name="T10" fmla="*/ 1108 w 1282"/>
                <a:gd name="T11" fmla="*/ 348 h 348"/>
                <a:gd name="T12" fmla="*/ 1282 w 1282"/>
                <a:gd name="T13" fmla="*/ 174 h 348"/>
                <a:gd name="T14" fmla="*/ 1282 w 1282"/>
                <a:gd name="T15" fmla="*/ 174 h 348"/>
                <a:gd name="T16" fmla="*/ 1108 w 1282"/>
                <a:gd name="T1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2" h="348">
                  <a:moveTo>
                    <a:pt x="1108" y="0"/>
                  </a:moveTo>
                  <a:cubicBezTo>
                    <a:pt x="174" y="0"/>
                    <a:pt x="174" y="0"/>
                    <a:pt x="174" y="0"/>
                  </a:cubicBezTo>
                  <a:cubicBezTo>
                    <a:pt x="78" y="0"/>
                    <a:pt x="0" y="78"/>
                    <a:pt x="0" y="174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0"/>
                    <a:pt x="78" y="348"/>
                    <a:pt x="174" y="348"/>
                  </a:cubicBezTo>
                  <a:cubicBezTo>
                    <a:pt x="1108" y="348"/>
                    <a:pt x="1108" y="348"/>
                    <a:pt x="1108" y="348"/>
                  </a:cubicBezTo>
                  <a:cubicBezTo>
                    <a:pt x="1204" y="348"/>
                    <a:pt x="1282" y="270"/>
                    <a:pt x="1282" y="174"/>
                  </a:cubicBezTo>
                  <a:cubicBezTo>
                    <a:pt x="1282" y="174"/>
                    <a:pt x="1282" y="174"/>
                    <a:pt x="1282" y="174"/>
                  </a:cubicBezTo>
                  <a:cubicBezTo>
                    <a:pt x="1282" y="78"/>
                    <a:pt x="1204" y="0"/>
                    <a:pt x="1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Impact Areas</a:t>
              </a:r>
            </a:p>
          </p:txBody>
        </p:sp>
        <p:sp>
          <p:nvSpPr>
            <p:cNvPr id="69" name="Oval 14"/>
            <p:cNvSpPr>
              <a:spLocks noChangeArrowheads="1"/>
            </p:cNvSpPr>
            <p:nvPr/>
          </p:nvSpPr>
          <p:spPr bwMode="auto">
            <a:xfrm>
              <a:off x="7529810" y="3029900"/>
              <a:ext cx="153900" cy="141996"/>
            </a:xfrm>
            <a:prstGeom prst="ellipse">
              <a:avLst/>
            </a:prstGeom>
            <a:solidFill>
              <a:srgbClr val="43B02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72" name="Oval 17"/>
            <p:cNvSpPr>
              <a:spLocks noChangeArrowheads="1"/>
            </p:cNvSpPr>
            <p:nvPr/>
          </p:nvSpPr>
          <p:spPr bwMode="auto">
            <a:xfrm>
              <a:off x="6906247" y="3029899"/>
              <a:ext cx="153900" cy="14199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  <p:sp>
          <p:nvSpPr>
            <p:cNvPr id="73" name="Oval 18"/>
            <p:cNvSpPr>
              <a:spLocks noChangeArrowheads="1"/>
            </p:cNvSpPr>
            <p:nvPr/>
          </p:nvSpPr>
          <p:spPr bwMode="auto">
            <a:xfrm>
              <a:off x="6282683" y="3029900"/>
              <a:ext cx="153900" cy="1419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600"/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438969" y="3974512"/>
            <a:ext cx="11990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Inputs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6641" y="4880594"/>
            <a:ext cx="3990779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Verdana"/>
            </a:endParaRP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Verdana"/>
              </a:rPr>
              <a:t>Input Costs </a:t>
            </a:r>
            <a:r>
              <a:rPr lang="en-US" sz="1400" dirty="0">
                <a:latin typeface="Verdana"/>
              </a:rPr>
              <a:t>typically higher due to </a:t>
            </a:r>
            <a:r>
              <a:rPr lang="en-US" sz="1400" b="1" dirty="0">
                <a:latin typeface="Verdana"/>
              </a:rPr>
              <a:t>lack of scale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Verdana"/>
            </a:endParaRP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Verdana"/>
              </a:rPr>
              <a:t>Unreliable</a:t>
            </a:r>
            <a:r>
              <a:rPr lang="en-US" sz="1400" b="1" dirty="0">
                <a:latin typeface="Verdana"/>
              </a:rPr>
              <a:t> supply of quality raw material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Verdana"/>
            </a:endParaRP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/>
              <a:t>High Investments </a:t>
            </a:r>
            <a:r>
              <a:rPr lang="en-US" sz="1400" dirty="0"/>
              <a:t>required for setting up new </a:t>
            </a:r>
            <a:r>
              <a:rPr lang="en-US" sz="1400" b="1" dirty="0"/>
              <a:t>lines, land etc.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Increased </a:t>
            </a:r>
            <a:r>
              <a:rPr lang="en-US" sz="1400" b="1" dirty="0"/>
              <a:t>financing costs</a:t>
            </a:r>
            <a:endParaRPr lang="en-US" sz="1400" b="1" dirty="0">
              <a:latin typeface="Verdana"/>
            </a:endParaRPr>
          </a:p>
        </p:txBody>
      </p:sp>
      <p:sp>
        <p:nvSpPr>
          <p:cNvPr id="76" name="Freeform 26"/>
          <p:cNvSpPr>
            <a:spLocks/>
          </p:cNvSpPr>
          <p:nvPr/>
        </p:nvSpPr>
        <p:spPr bwMode="auto">
          <a:xfrm>
            <a:off x="6200614" y="3393952"/>
            <a:ext cx="1539002" cy="699746"/>
          </a:xfrm>
          <a:custGeom>
            <a:avLst/>
            <a:gdLst>
              <a:gd name="T0" fmla="*/ 550 w 550"/>
              <a:gd name="T1" fmla="*/ 276 h 276"/>
              <a:gd name="T2" fmla="*/ 510 w 550"/>
              <a:gd name="T3" fmla="*/ 276 h 276"/>
              <a:gd name="T4" fmla="*/ 275 w 550"/>
              <a:gd name="T5" fmla="*/ 40 h 276"/>
              <a:gd name="T6" fmla="*/ 40 w 550"/>
              <a:gd name="T7" fmla="*/ 276 h 276"/>
              <a:gd name="T8" fmla="*/ 0 w 550"/>
              <a:gd name="T9" fmla="*/ 276 h 276"/>
              <a:gd name="T10" fmla="*/ 275 w 550"/>
              <a:gd name="T11" fmla="*/ 0 h 276"/>
              <a:gd name="T12" fmla="*/ 550 w 550"/>
              <a:gd name="T13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0" h="276">
                <a:moveTo>
                  <a:pt x="550" y="276"/>
                </a:moveTo>
                <a:cubicBezTo>
                  <a:pt x="510" y="276"/>
                  <a:pt x="510" y="276"/>
                  <a:pt x="510" y="276"/>
                </a:cubicBezTo>
                <a:cubicBezTo>
                  <a:pt x="510" y="146"/>
                  <a:pt x="404" y="40"/>
                  <a:pt x="275" y="40"/>
                </a:cubicBezTo>
                <a:cubicBezTo>
                  <a:pt x="145" y="40"/>
                  <a:pt x="40" y="146"/>
                  <a:pt x="40" y="276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124"/>
                  <a:pt x="123" y="0"/>
                  <a:pt x="275" y="0"/>
                </a:cubicBezTo>
                <a:cubicBezTo>
                  <a:pt x="426" y="0"/>
                  <a:pt x="550" y="124"/>
                  <a:pt x="550" y="2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sp>
        <p:nvSpPr>
          <p:cNvPr id="77" name="Freeform 27"/>
          <p:cNvSpPr>
            <a:spLocks/>
          </p:cNvSpPr>
          <p:nvPr/>
        </p:nvSpPr>
        <p:spPr bwMode="auto">
          <a:xfrm>
            <a:off x="6248620" y="4093695"/>
            <a:ext cx="1442991" cy="653693"/>
          </a:xfrm>
          <a:custGeom>
            <a:avLst/>
            <a:gdLst>
              <a:gd name="T0" fmla="*/ 258 w 516"/>
              <a:gd name="T1" fmla="*/ 258 h 258"/>
              <a:gd name="T2" fmla="*/ 0 w 516"/>
              <a:gd name="T3" fmla="*/ 0 h 258"/>
              <a:gd name="T4" fmla="*/ 6 w 516"/>
              <a:gd name="T5" fmla="*/ 0 h 258"/>
              <a:gd name="T6" fmla="*/ 258 w 516"/>
              <a:gd name="T7" fmla="*/ 252 h 258"/>
              <a:gd name="T8" fmla="*/ 510 w 516"/>
              <a:gd name="T9" fmla="*/ 0 h 258"/>
              <a:gd name="T10" fmla="*/ 516 w 516"/>
              <a:gd name="T11" fmla="*/ 0 h 258"/>
              <a:gd name="T12" fmla="*/ 258 w 516"/>
              <a:gd name="T13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6" h="258">
                <a:moveTo>
                  <a:pt x="258" y="258"/>
                </a:moveTo>
                <a:cubicBezTo>
                  <a:pt x="115" y="258"/>
                  <a:pt x="0" y="142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39"/>
                  <a:pt x="119" y="252"/>
                  <a:pt x="258" y="252"/>
                </a:cubicBezTo>
                <a:cubicBezTo>
                  <a:pt x="397" y="252"/>
                  <a:pt x="510" y="139"/>
                  <a:pt x="510" y="0"/>
                </a:cubicBezTo>
                <a:cubicBezTo>
                  <a:pt x="516" y="0"/>
                  <a:pt x="516" y="0"/>
                  <a:pt x="516" y="0"/>
                </a:cubicBezTo>
                <a:cubicBezTo>
                  <a:pt x="516" y="142"/>
                  <a:pt x="400" y="258"/>
                  <a:pt x="258" y="2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3600"/>
          </a:p>
        </p:txBody>
      </p:sp>
      <p:sp>
        <p:nvSpPr>
          <p:cNvPr id="87" name="TextBox 86"/>
          <p:cNvSpPr txBox="1"/>
          <p:nvPr/>
        </p:nvSpPr>
        <p:spPr>
          <a:xfrm>
            <a:off x="6248620" y="3984961"/>
            <a:ext cx="14878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Processing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18653" y="4880594"/>
            <a:ext cx="4369428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Low </a:t>
            </a:r>
            <a:r>
              <a:rPr lang="en-US" sz="1400" b="1" dirty="0"/>
              <a:t>control over chemical composition </a:t>
            </a:r>
            <a:r>
              <a:rPr lang="en-US" sz="1400" dirty="0"/>
              <a:t>and </a:t>
            </a:r>
            <a:r>
              <a:rPr lang="en-US" sz="1400" b="1" dirty="0"/>
              <a:t>quality</a:t>
            </a:r>
            <a:r>
              <a:rPr lang="en-US" sz="1400" dirty="0"/>
              <a:t> due to use of </a:t>
            </a:r>
            <a:r>
              <a:rPr lang="en-US" sz="1400" b="1" dirty="0"/>
              <a:t>Induction Furnaces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/>
              <a:t>Lack of access to technical Know how </a:t>
            </a:r>
            <a:r>
              <a:rPr lang="en-US" sz="1400" dirty="0"/>
              <a:t>for improving processes and quality control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/>
              <a:t>Significant Process Change / System Overhaul </a:t>
            </a:r>
            <a:r>
              <a:rPr lang="en-US" sz="1400" dirty="0"/>
              <a:t>Costs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93" name="TextBox 92"/>
          <p:cNvSpPr txBox="1"/>
          <p:nvPr/>
        </p:nvSpPr>
        <p:spPr>
          <a:xfrm>
            <a:off x="11553884" y="3988010"/>
            <a:ext cx="10289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Testing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09313" y="4880594"/>
            <a:ext cx="3758616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/>
              <a:t>Inadequate testing facilities </a:t>
            </a:r>
            <a:r>
              <a:rPr lang="en-US" sz="1400" dirty="0"/>
              <a:t>/ Lack of </a:t>
            </a:r>
            <a:r>
              <a:rPr lang="en-US" sz="1400" b="1" dirty="0"/>
              <a:t>shared testing </a:t>
            </a:r>
            <a:r>
              <a:rPr lang="en-US" sz="1400" dirty="0"/>
              <a:t>facilities</a:t>
            </a:r>
          </a:p>
          <a:p>
            <a:pPr marL="0" lvl="1">
              <a:buSzPct val="100000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Very few Secondary Players have capacity to set up private testing infra</a:t>
            </a:r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/>
              <a:t>Higher lead times for </a:t>
            </a:r>
            <a:r>
              <a:rPr lang="en-US" sz="1400" dirty="0"/>
              <a:t>sample testing</a:t>
            </a:r>
          </a:p>
          <a:p>
            <a:pPr marL="0" lvl="1">
              <a:buSzPct val="100000"/>
            </a:pPr>
            <a:endParaRPr lang="en-US" sz="1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979177" y="2732267"/>
            <a:ext cx="0" cy="667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4011047"/>
              </p:ext>
            </p:extLst>
          </p:nvPr>
        </p:nvGraphicFramePr>
        <p:xfrm>
          <a:off x="1799" y="2922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9" y="2922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0" y="1124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GB" sz="2000" b="1" dirty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tx1"/>
                </a:solidFill>
              </a:rPr>
              <a:t>Key Recommendation to improve QCO effectiveness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 bwMode="gray">
          <a:xfrm>
            <a:off x="6752206" y="1313477"/>
            <a:ext cx="2856599" cy="48505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  <a:latin typeface="Verdana"/>
              </a:rPr>
              <a:t>Recommendations</a:t>
            </a:r>
            <a:endParaRPr lang="en-IN" sz="1600" b="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39" name="Rectangle 38"/>
          <p:cNvSpPr/>
          <p:nvPr/>
        </p:nvSpPr>
        <p:spPr bwMode="gray">
          <a:xfrm>
            <a:off x="958311" y="1313477"/>
            <a:ext cx="1718046" cy="4077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</a:rPr>
              <a:t>Dimensions</a:t>
            </a:r>
            <a:endParaRPr lang="en-IN" sz="1600" b="1" dirty="0">
              <a:solidFill>
                <a:schemeClr val="accent2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519941" y="1853912"/>
            <a:ext cx="12675790" cy="28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hlinkClick r:id="rId7" action="ppaction://hlinksldjump"/>
          </p:cNvPr>
          <p:cNvSpPr/>
          <p:nvPr/>
        </p:nvSpPr>
        <p:spPr bwMode="gray">
          <a:xfrm>
            <a:off x="672417" y="2029754"/>
            <a:ext cx="2388909" cy="669731"/>
          </a:xfrm>
          <a:prstGeom prst="rect">
            <a:avLst/>
          </a:prstGeom>
          <a:solidFill>
            <a:srgbClr val="0076A8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Enforcement</a:t>
            </a:r>
          </a:p>
        </p:txBody>
      </p:sp>
      <p:sp>
        <p:nvSpPr>
          <p:cNvPr id="49" name="Rectangle 48">
            <a:hlinkClick r:id="rId8" action="ppaction://hlinksldjump"/>
          </p:cNvPr>
          <p:cNvSpPr/>
          <p:nvPr/>
        </p:nvSpPr>
        <p:spPr bwMode="gray">
          <a:xfrm>
            <a:off x="672417" y="4150953"/>
            <a:ext cx="2388909" cy="669731"/>
          </a:xfrm>
          <a:prstGeom prst="rect">
            <a:avLst/>
          </a:prstGeom>
          <a:solidFill>
            <a:srgbClr val="0076A8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chemeClr val="bg1"/>
                </a:solidFill>
              </a:rPr>
              <a:t>Indigenous Product Compliance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 bwMode="gray">
          <a:xfrm>
            <a:off x="4468761" y="2014355"/>
            <a:ext cx="2141794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  <a:latin typeface="+mj-lt"/>
              </a:rPr>
              <a:t>Test Centers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56" name="Rectangle 55"/>
          <p:cNvSpPr/>
          <p:nvPr/>
        </p:nvSpPr>
        <p:spPr bwMode="gray">
          <a:xfrm>
            <a:off x="6690729" y="2014355"/>
            <a:ext cx="2141794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  <a:latin typeface="+mj-lt"/>
              </a:rPr>
              <a:t>Surveillance Cells 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02" name="Rectangle 101"/>
          <p:cNvSpPr/>
          <p:nvPr/>
        </p:nvSpPr>
        <p:spPr bwMode="gray">
          <a:xfrm>
            <a:off x="8912697" y="2027021"/>
            <a:ext cx="2141794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  <a:latin typeface="+mj-lt"/>
              </a:rPr>
              <a:t>Dedicated Portal for Reports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0" name="Striped Right Arrow 39"/>
          <p:cNvSpPr/>
          <p:nvPr/>
        </p:nvSpPr>
        <p:spPr bwMode="gray">
          <a:xfrm>
            <a:off x="3406250" y="2029754"/>
            <a:ext cx="711770" cy="654332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42" name="Striped Right Arrow 41"/>
          <p:cNvSpPr/>
          <p:nvPr/>
        </p:nvSpPr>
        <p:spPr bwMode="gray">
          <a:xfrm>
            <a:off x="3406250" y="4150953"/>
            <a:ext cx="711770" cy="654332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52" name="Rectangle 51"/>
          <p:cNvSpPr/>
          <p:nvPr/>
        </p:nvSpPr>
        <p:spPr bwMode="gray">
          <a:xfrm>
            <a:off x="11134665" y="2027021"/>
            <a:ext cx="2141794" cy="6697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</a:rPr>
              <a:t>Cluster specific data maintenance</a:t>
            </a:r>
            <a:endParaRPr lang="en-IN" sz="1400" b="1" dirty="0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611041" y="4357787"/>
            <a:ext cx="2786301" cy="1581398"/>
            <a:chOff x="4574863" y="4988967"/>
            <a:chExt cx="2141794" cy="1581398"/>
          </a:xfrm>
        </p:grpSpPr>
        <p:sp>
          <p:nvSpPr>
            <p:cNvPr id="89" name="Rectangle 88"/>
            <p:cNvSpPr/>
            <p:nvPr/>
          </p:nvSpPr>
          <p:spPr bwMode="gray">
            <a:xfrm>
              <a:off x="4574863" y="4988967"/>
              <a:ext cx="2141794" cy="669731"/>
            </a:xfrm>
            <a:prstGeom prst="rect">
              <a:avLst/>
            </a:prstGeom>
            <a:solidFill>
              <a:srgbClr val="43B02A"/>
            </a:solidFill>
            <a:ln>
              <a:noFill/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algn="ctr" defTabSz="1565035">
                <a:defRPr/>
              </a:pPr>
              <a:r>
                <a:rPr lang="en-US" sz="1400" b="1" dirty="0">
                  <a:solidFill>
                    <a:prstClr val="white"/>
                  </a:solidFill>
                  <a:latin typeface="+mj-lt"/>
                </a:rPr>
                <a:t>Non – financial incentives </a:t>
              </a:r>
              <a:endParaRPr lang="en-IN" sz="1400" b="1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4863" y="5754757"/>
              <a:ext cx="2135105" cy="8156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Supply Guarantee of Raw materials for MSMEs</a:t>
              </a:r>
            </a:p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Tolerance limits for MSMEs can be extended for a longer period</a:t>
              </a:r>
              <a:endParaRPr lang="en-IN" sz="1200" i="1" dirty="0">
                <a:solidFill>
                  <a:srgbClr val="313131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543129" y="2696752"/>
            <a:ext cx="2060736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Increase number of test centers in each steel cluster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Shared testing facilities </a:t>
            </a:r>
            <a:endParaRPr lang="en-IN" sz="1200" i="1" dirty="0">
              <a:solidFill>
                <a:srgbClr val="31313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97965" y="2696752"/>
            <a:ext cx="2135105" cy="14465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Active sample collection should be undertaken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More number of audits should be conducted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More surprise visits to inspect non-registered factories</a:t>
            </a:r>
            <a:endParaRPr lang="en-IN" sz="1200" i="1" dirty="0">
              <a:solidFill>
                <a:srgbClr val="31313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42231" y="2696752"/>
            <a:ext cx="2135105" cy="14465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Dedicated portal to keep track of initiatives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Access to reliable data regarding overall enforcement statistics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Dashboard for monitoring compliance</a:t>
            </a:r>
            <a:endParaRPr lang="en-IN" sz="1200" i="1" dirty="0">
              <a:solidFill>
                <a:srgbClr val="31313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26039" y="2696752"/>
            <a:ext cx="213510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Cluster specific databases to improve tracking of industries</a:t>
            </a:r>
          </a:p>
          <a:p>
            <a:pPr marL="285750" indent="-2857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13131"/>
                </a:solidFill>
              </a:rPr>
              <a:t>Integration can also be done with GST database</a:t>
            </a:r>
            <a:endParaRPr lang="en-IN" sz="1200" i="1" dirty="0">
              <a:solidFill>
                <a:srgbClr val="31313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539502" y="4355558"/>
            <a:ext cx="2786301" cy="1952959"/>
            <a:chOff x="6790142" y="4986738"/>
            <a:chExt cx="2141794" cy="1952959"/>
          </a:xfrm>
        </p:grpSpPr>
        <p:sp>
          <p:nvSpPr>
            <p:cNvPr id="92" name="Rectangle 91"/>
            <p:cNvSpPr/>
            <p:nvPr/>
          </p:nvSpPr>
          <p:spPr bwMode="gray">
            <a:xfrm>
              <a:off x="6790142" y="4986738"/>
              <a:ext cx="2141794" cy="669731"/>
            </a:xfrm>
            <a:prstGeom prst="rect">
              <a:avLst/>
            </a:prstGeom>
            <a:solidFill>
              <a:srgbClr val="43B02A"/>
            </a:solidFill>
            <a:ln>
              <a:noFill/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algn="ctr" defTabSz="1565035">
                <a:defRPr/>
              </a:pPr>
              <a:r>
                <a:rPr lang="en-US" sz="1400" b="1" dirty="0">
                  <a:solidFill>
                    <a:prstClr val="white"/>
                  </a:solidFill>
                  <a:latin typeface="+mj-lt"/>
                </a:rPr>
                <a:t>Financial Incentives</a:t>
              </a:r>
              <a:endParaRPr lang="en-IN" sz="1400" b="1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96831" y="5754757"/>
              <a:ext cx="2135105" cy="11849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Loans at competitive rates for capital investment</a:t>
              </a:r>
            </a:p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Tax holidays and subsidies can be provided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0515088" y="4355558"/>
            <a:ext cx="2792328" cy="1999646"/>
            <a:chOff x="9041644" y="4986737"/>
            <a:chExt cx="2146427" cy="3360993"/>
          </a:xfrm>
        </p:grpSpPr>
        <p:sp>
          <p:nvSpPr>
            <p:cNvPr id="53" name="Rectangle 52"/>
            <p:cNvSpPr/>
            <p:nvPr/>
          </p:nvSpPr>
          <p:spPr bwMode="gray">
            <a:xfrm>
              <a:off x="9041644" y="4986737"/>
              <a:ext cx="2141794" cy="1125680"/>
            </a:xfrm>
            <a:prstGeom prst="rect">
              <a:avLst/>
            </a:prstGeom>
            <a:solidFill>
              <a:srgbClr val="43B02A"/>
            </a:solidFill>
            <a:ln>
              <a:noFill/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algn="ctr" defTabSz="1565035">
                <a:defRPr/>
              </a:pPr>
              <a:r>
                <a:rPr lang="en-US" sz="1400" b="1" dirty="0">
                  <a:solidFill>
                    <a:prstClr val="white"/>
                  </a:solidFill>
                  <a:latin typeface="+mj-lt"/>
                </a:rPr>
                <a:t>Ecosystem Building</a:t>
              </a:r>
              <a:endParaRPr lang="en-IN" sz="1400" b="1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052966" y="6270238"/>
              <a:ext cx="2135105" cy="207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Generic promotion activities for BIS standards</a:t>
              </a:r>
            </a:p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Export Promotion schemes can be beneficial</a:t>
              </a:r>
            </a:p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13131"/>
                  </a:solidFill>
                </a:rPr>
                <a:t>Technical support and guidance for revamp of process</a:t>
              </a:r>
            </a:p>
            <a:p>
              <a:pPr marL="285750" indent="-2857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endParaRPr lang="en-US" sz="1200" i="1" dirty="0">
                <a:solidFill>
                  <a:srgbClr val="313131"/>
                </a:solidFill>
              </a:endParaRPr>
            </a:p>
          </p:txBody>
        </p:sp>
      </p:grpSp>
      <p:sp>
        <p:nvSpPr>
          <p:cNvPr id="90" name="Freeform 97"/>
          <p:cNvSpPr>
            <a:spLocks noEditPoints="1"/>
          </p:cNvSpPr>
          <p:nvPr/>
        </p:nvSpPr>
        <p:spPr bwMode="auto">
          <a:xfrm>
            <a:off x="6551829" y="1313477"/>
            <a:ext cx="468000" cy="506866"/>
          </a:xfrm>
          <a:custGeom>
            <a:avLst/>
            <a:gdLst>
              <a:gd name="T0" fmla="*/ 298 w 512"/>
              <a:gd name="T1" fmla="*/ 298 h 512"/>
              <a:gd name="T2" fmla="*/ 373 w 512"/>
              <a:gd name="T3" fmla="*/ 298 h 512"/>
              <a:gd name="T4" fmla="*/ 373 w 512"/>
              <a:gd name="T5" fmla="*/ 373 h 512"/>
              <a:gd name="T6" fmla="*/ 298 w 512"/>
              <a:gd name="T7" fmla="*/ 373 h 512"/>
              <a:gd name="T8" fmla="*/ 298 w 512"/>
              <a:gd name="T9" fmla="*/ 298 h 512"/>
              <a:gd name="T10" fmla="*/ 138 w 512"/>
              <a:gd name="T11" fmla="*/ 213 h 512"/>
              <a:gd name="T12" fmla="*/ 213 w 512"/>
              <a:gd name="T13" fmla="*/ 213 h 512"/>
              <a:gd name="T14" fmla="*/ 213 w 512"/>
              <a:gd name="T15" fmla="*/ 138 h 512"/>
              <a:gd name="T16" fmla="*/ 138 w 512"/>
              <a:gd name="T17" fmla="*/ 138 h 512"/>
              <a:gd name="T18" fmla="*/ 138 w 512"/>
              <a:gd name="T19" fmla="*/ 213 h 512"/>
              <a:gd name="T20" fmla="*/ 138 w 512"/>
              <a:gd name="T21" fmla="*/ 373 h 512"/>
              <a:gd name="T22" fmla="*/ 213 w 512"/>
              <a:gd name="T23" fmla="*/ 373 h 512"/>
              <a:gd name="T24" fmla="*/ 213 w 512"/>
              <a:gd name="T25" fmla="*/ 298 h 512"/>
              <a:gd name="T26" fmla="*/ 138 w 512"/>
              <a:gd name="T27" fmla="*/ 298 h 512"/>
              <a:gd name="T28" fmla="*/ 138 w 512"/>
              <a:gd name="T29" fmla="*/ 373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234 w 512"/>
              <a:gd name="T41" fmla="*/ 288 h 512"/>
              <a:gd name="T42" fmla="*/ 224 w 512"/>
              <a:gd name="T43" fmla="*/ 277 h 512"/>
              <a:gd name="T44" fmla="*/ 128 w 512"/>
              <a:gd name="T45" fmla="*/ 277 h 512"/>
              <a:gd name="T46" fmla="*/ 117 w 512"/>
              <a:gd name="T47" fmla="*/ 288 h 512"/>
              <a:gd name="T48" fmla="*/ 117 w 512"/>
              <a:gd name="T49" fmla="*/ 384 h 512"/>
              <a:gd name="T50" fmla="*/ 128 w 512"/>
              <a:gd name="T51" fmla="*/ 394 h 512"/>
              <a:gd name="T52" fmla="*/ 224 w 512"/>
              <a:gd name="T53" fmla="*/ 394 h 512"/>
              <a:gd name="T54" fmla="*/ 234 w 512"/>
              <a:gd name="T55" fmla="*/ 384 h 512"/>
              <a:gd name="T56" fmla="*/ 234 w 512"/>
              <a:gd name="T57" fmla="*/ 288 h 512"/>
              <a:gd name="T58" fmla="*/ 234 w 512"/>
              <a:gd name="T59" fmla="*/ 128 h 512"/>
              <a:gd name="T60" fmla="*/ 224 w 512"/>
              <a:gd name="T61" fmla="*/ 117 h 512"/>
              <a:gd name="T62" fmla="*/ 128 w 512"/>
              <a:gd name="T63" fmla="*/ 117 h 512"/>
              <a:gd name="T64" fmla="*/ 117 w 512"/>
              <a:gd name="T65" fmla="*/ 128 h 512"/>
              <a:gd name="T66" fmla="*/ 117 w 512"/>
              <a:gd name="T67" fmla="*/ 224 h 512"/>
              <a:gd name="T68" fmla="*/ 128 w 512"/>
              <a:gd name="T69" fmla="*/ 234 h 512"/>
              <a:gd name="T70" fmla="*/ 224 w 512"/>
              <a:gd name="T71" fmla="*/ 234 h 512"/>
              <a:gd name="T72" fmla="*/ 234 w 512"/>
              <a:gd name="T73" fmla="*/ 224 h 512"/>
              <a:gd name="T74" fmla="*/ 234 w 512"/>
              <a:gd name="T75" fmla="*/ 128 h 512"/>
              <a:gd name="T76" fmla="*/ 394 w 512"/>
              <a:gd name="T77" fmla="*/ 288 h 512"/>
              <a:gd name="T78" fmla="*/ 384 w 512"/>
              <a:gd name="T79" fmla="*/ 277 h 512"/>
              <a:gd name="T80" fmla="*/ 288 w 512"/>
              <a:gd name="T81" fmla="*/ 277 h 512"/>
              <a:gd name="T82" fmla="*/ 277 w 512"/>
              <a:gd name="T83" fmla="*/ 288 h 512"/>
              <a:gd name="T84" fmla="*/ 277 w 512"/>
              <a:gd name="T85" fmla="*/ 384 h 512"/>
              <a:gd name="T86" fmla="*/ 288 w 512"/>
              <a:gd name="T87" fmla="*/ 394 h 512"/>
              <a:gd name="T88" fmla="*/ 384 w 512"/>
              <a:gd name="T89" fmla="*/ 394 h 512"/>
              <a:gd name="T90" fmla="*/ 394 w 512"/>
              <a:gd name="T91" fmla="*/ 384 h 512"/>
              <a:gd name="T92" fmla="*/ 394 w 512"/>
              <a:gd name="T93" fmla="*/ 288 h 512"/>
              <a:gd name="T94" fmla="*/ 394 w 512"/>
              <a:gd name="T95" fmla="*/ 128 h 512"/>
              <a:gd name="T96" fmla="*/ 384 w 512"/>
              <a:gd name="T97" fmla="*/ 117 h 512"/>
              <a:gd name="T98" fmla="*/ 288 w 512"/>
              <a:gd name="T99" fmla="*/ 117 h 512"/>
              <a:gd name="T100" fmla="*/ 277 w 512"/>
              <a:gd name="T101" fmla="*/ 128 h 512"/>
              <a:gd name="T102" fmla="*/ 277 w 512"/>
              <a:gd name="T103" fmla="*/ 224 h 512"/>
              <a:gd name="T104" fmla="*/ 288 w 512"/>
              <a:gd name="T105" fmla="*/ 234 h 512"/>
              <a:gd name="T106" fmla="*/ 384 w 512"/>
              <a:gd name="T107" fmla="*/ 234 h 512"/>
              <a:gd name="T108" fmla="*/ 394 w 512"/>
              <a:gd name="T109" fmla="*/ 224 h 512"/>
              <a:gd name="T110" fmla="*/ 394 w 512"/>
              <a:gd name="T111" fmla="*/ 128 h 512"/>
              <a:gd name="T112" fmla="*/ 298 w 512"/>
              <a:gd name="T113" fmla="*/ 213 h 512"/>
              <a:gd name="T114" fmla="*/ 373 w 512"/>
              <a:gd name="T115" fmla="*/ 213 h 512"/>
              <a:gd name="T116" fmla="*/ 373 w 512"/>
              <a:gd name="T117" fmla="*/ 138 h 512"/>
              <a:gd name="T118" fmla="*/ 298 w 512"/>
              <a:gd name="T119" fmla="*/ 138 h 512"/>
              <a:gd name="T120" fmla="*/ 298 w 512"/>
              <a:gd name="T121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98" y="298"/>
                </a:moveTo>
                <a:cubicBezTo>
                  <a:pt x="373" y="298"/>
                  <a:pt x="373" y="298"/>
                  <a:pt x="373" y="298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298" y="373"/>
                  <a:pt x="298" y="373"/>
                  <a:pt x="298" y="373"/>
                </a:cubicBezTo>
                <a:lnTo>
                  <a:pt x="298" y="298"/>
                </a:lnTo>
                <a:close/>
                <a:moveTo>
                  <a:pt x="138" y="213"/>
                </a:moveTo>
                <a:cubicBezTo>
                  <a:pt x="213" y="213"/>
                  <a:pt x="213" y="213"/>
                  <a:pt x="213" y="213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138" y="138"/>
                  <a:pt x="138" y="138"/>
                  <a:pt x="138" y="138"/>
                </a:cubicBezTo>
                <a:lnTo>
                  <a:pt x="138" y="213"/>
                </a:lnTo>
                <a:close/>
                <a:moveTo>
                  <a:pt x="138" y="373"/>
                </a:moveTo>
                <a:cubicBezTo>
                  <a:pt x="213" y="373"/>
                  <a:pt x="213" y="373"/>
                  <a:pt x="213" y="373"/>
                </a:cubicBezTo>
                <a:cubicBezTo>
                  <a:pt x="213" y="298"/>
                  <a:pt x="213" y="298"/>
                  <a:pt x="213" y="298"/>
                </a:cubicBezTo>
                <a:cubicBezTo>
                  <a:pt x="138" y="298"/>
                  <a:pt x="138" y="298"/>
                  <a:pt x="138" y="298"/>
                </a:cubicBezTo>
                <a:lnTo>
                  <a:pt x="138" y="373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34" y="288"/>
                </a:moveTo>
                <a:cubicBezTo>
                  <a:pt x="234" y="282"/>
                  <a:pt x="230" y="277"/>
                  <a:pt x="224" y="277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2" y="277"/>
                  <a:pt x="117" y="282"/>
                  <a:pt x="117" y="288"/>
                </a:cubicBezTo>
                <a:cubicBezTo>
                  <a:pt x="117" y="384"/>
                  <a:pt x="117" y="384"/>
                  <a:pt x="117" y="384"/>
                </a:cubicBezTo>
                <a:cubicBezTo>
                  <a:pt x="117" y="390"/>
                  <a:pt x="122" y="394"/>
                  <a:pt x="128" y="394"/>
                </a:cubicBezTo>
                <a:cubicBezTo>
                  <a:pt x="224" y="394"/>
                  <a:pt x="224" y="394"/>
                  <a:pt x="224" y="394"/>
                </a:cubicBezTo>
                <a:cubicBezTo>
                  <a:pt x="230" y="394"/>
                  <a:pt x="234" y="390"/>
                  <a:pt x="234" y="384"/>
                </a:cubicBezTo>
                <a:lnTo>
                  <a:pt x="234" y="288"/>
                </a:lnTo>
                <a:close/>
                <a:moveTo>
                  <a:pt x="234" y="128"/>
                </a:moveTo>
                <a:cubicBezTo>
                  <a:pt x="234" y="122"/>
                  <a:pt x="230" y="117"/>
                  <a:pt x="224" y="117"/>
                </a:cubicBezTo>
                <a:cubicBezTo>
                  <a:pt x="128" y="117"/>
                  <a:pt x="128" y="117"/>
                  <a:pt x="128" y="117"/>
                </a:cubicBezTo>
                <a:cubicBezTo>
                  <a:pt x="122" y="117"/>
                  <a:pt x="117" y="122"/>
                  <a:pt x="117" y="128"/>
                </a:cubicBezTo>
                <a:cubicBezTo>
                  <a:pt x="117" y="224"/>
                  <a:pt x="117" y="224"/>
                  <a:pt x="117" y="224"/>
                </a:cubicBezTo>
                <a:cubicBezTo>
                  <a:pt x="117" y="230"/>
                  <a:pt x="122" y="234"/>
                  <a:pt x="128" y="234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30" y="234"/>
                  <a:pt x="234" y="230"/>
                  <a:pt x="234" y="224"/>
                </a:cubicBezTo>
                <a:lnTo>
                  <a:pt x="234" y="128"/>
                </a:lnTo>
                <a:close/>
                <a:moveTo>
                  <a:pt x="394" y="288"/>
                </a:moveTo>
                <a:cubicBezTo>
                  <a:pt x="394" y="282"/>
                  <a:pt x="390" y="277"/>
                  <a:pt x="384" y="277"/>
                </a:cubicBezTo>
                <a:cubicBezTo>
                  <a:pt x="288" y="277"/>
                  <a:pt x="288" y="277"/>
                  <a:pt x="288" y="277"/>
                </a:cubicBezTo>
                <a:cubicBezTo>
                  <a:pt x="282" y="277"/>
                  <a:pt x="277" y="282"/>
                  <a:pt x="277" y="288"/>
                </a:cubicBezTo>
                <a:cubicBezTo>
                  <a:pt x="277" y="384"/>
                  <a:pt x="277" y="384"/>
                  <a:pt x="277" y="384"/>
                </a:cubicBezTo>
                <a:cubicBezTo>
                  <a:pt x="277" y="390"/>
                  <a:pt x="282" y="394"/>
                  <a:pt x="288" y="394"/>
                </a:cubicBezTo>
                <a:cubicBezTo>
                  <a:pt x="384" y="394"/>
                  <a:pt x="384" y="394"/>
                  <a:pt x="384" y="394"/>
                </a:cubicBezTo>
                <a:cubicBezTo>
                  <a:pt x="390" y="394"/>
                  <a:pt x="394" y="390"/>
                  <a:pt x="394" y="384"/>
                </a:cubicBezTo>
                <a:lnTo>
                  <a:pt x="394" y="288"/>
                </a:lnTo>
                <a:close/>
                <a:moveTo>
                  <a:pt x="394" y="128"/>
                </a:moveTo>
                <a:cubicBezTo>
                  <a:pt x="394" y="122"/>
                  <a:pt x="390" y="117"/>
                  <a:pt x="384" y="117"/>
                </a:cubicBezTo>
                <a:cubicBezTo>
                  <a:pt x="288" y="117"/>
                  <a:pt x="288" y="117"/>
                  <a:pt x="288" y="117"/>
                </a:cubicBezTo>
                <a:cubicBezTo>
                  <a:pt x="282" y="117"/>
                  <a:pt x="277" y="122"/>
                  <a:pt x="277" y="128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77" y="230"/>
                  <a:pt x="282" y="234"/>
                  <a:pt x="288" y="234"/>
                </a:cubicBezTo>
                <a:cubicBezTo>
                  <a:pt x="384" y="234"/>
                  <a:pt x="384" y="234"/>
                  <a:pt x="384" y="234"/>
                </a:cubicBezTo>
                <a:cubicBezTo>
                  <a:pt x="390" y="234"/>
                  <a:pt x="394" y="230"/>
                  <a:pt x="394" y="224"/>
                </a:cubicBezTo>
                <a:lnTo>
                  <a:pt x="394" y="128"/>
                </a:lnTo>
                <a:close/>
                <a:moveTo>
                  <a:pt x="298" y="213"/>
                </a:moveTo>
                <a:cubicBezTo>
                  <a:pt x="373" y="213"/>
                  <a:pt x="373" y="213"/>
                  <a:pt x="373" y="213"/>
                </a:cubicBezTo>
                <a:cubicBezTo>
                  <a:pt x="373" y="138"/>
                  <a:pt x="373" y="138"/>
                  <a:pt x="373" y="138"/>
                </a:cubicBezTo>
                <a:cubicBezTo>
                  <a:pt x="298" y="138"/>
                  <a:pt x="298" y="138"/>
                  <a:pt x="298" y="138"/>
                </a:cubicBezTo>
                <a:lnTo>
                  <a:pt x="298" y="2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2800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91" name="Freeform 59">
            <a:extLst>
              <a:ext uri="{FF2B5EF4-FFF2-40B4-BE49-F238E27FC236}">
                <a16:creationId xmlns:a16="http://schemas.microsoft.com/office/drawing/2014/main" id="{9920DF9A-5043-4800-805F-AAA1D155489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21730" y="1313477"/>
            <a:ext cx="466629" cy="506866"/>
          </a:xfrm>
          <a:custGeom>
            <a:avLst/>
            <a:gdLst>
              <a:gd name="T0" fmla="*/ 147 w 512"/>
              <a:gd name="T1" fmla="*/ 170 h 512"/>
              <a:gd name="T2" fmla="*/ 201 w 512"/>
              <a:gd name="T3" fmla="*/ 170 h 512"/>
              <a:gd name="T4" fmla="*/ 223 w 512"/>
              <a:gd name="T5" fmla="*/ 170 h 512"/>
              <a:gd name="T6" fmla="*/ 256 w 512"/>
              <a:gd name="T7" fmla="*/ 117 h 512"/>
              <a:gd name="T8" fmla="*/ 133 w 512"/>
              <a:gd name="T9" fmla="*/ 192 h 512"/>
              <a:gd name="T10" fmla="*/ 192 w 512"/>
              <a:gd name="T11" fmla="*/ 245 h 512"/>
              <a:gd name="T12" fmla="*/ 218 w 512"/>
              <a:gd name="T13" fmla="*/ 320 h 512"/>
              <a:gd name="T14" fmla="*/ 298 w 512"/>
              <a:gd name="T15" fmla="*/ 266 h 512"/>
              <a:gd name="T16" fmla="*/ 218 w 512"/>
              <a:gd name="T17" fmla="*/ 320 h 512"/>
              <a:gd name="T18" fmla="*/ 292 w 512"/>
              <a:gd name="T19" fmla="*/ 122 h 512"/>
              <a:gd name="T20" fmla="*/ 365 w 512"/>
              <a:gd name="T21" fmla="*/ 170 h 512"/>
              <a:gd name="T22" fmla="*/ 218 w 512"/>
              <a:gd name="T23" fmla="*/ 192 h 512"/>
              <a:gd name="T24" fmla="*/ 298 w 512"/>
              <a:gd name="T25" fmla="*/ 245 h 512"/>
              <a:gd name="T26" fmla="*/ 192 w 512"/>
              <a:gd name="T27" fmla="*/ 266 h 512"/>
              <a:gd name="T28" fmla="*/ 133 w 512"/>
              <a:gd name="T29" fmla="*/ 320 h 512"/>
              <a:gd name="T30" fmla="*/ 192 w 512"/>
              <a:gd name="T31" fmla="*/ 266 h 512"/>
              <a:gd name="T32" fmla="*/ 394 w 512"/>
              <a:gd name="T33" fmla="*/ 245 h 512"/>
              <a:gd name="T34" fmla="*/ 314 w 512"/>
              <a:gd name="T35" fmla="*/ 192 h 512"/>
              <a:gd name="T36" fmla="*/ 512 w 512"/>
              <a:gd name="T37" fmla="*/ 256 h 512"/>
              <a:gd name="T38" fmla="*/ 0 w 512"/>
              <a:gd name="T39" fmla="*/ 256 h 512"/>
              <a:gd name="T40" fmla="*/ 512 w 512"/>
              <a:gd name="T41" fmla="*/ 256 h 512"/>
              <a:gd name="T42" fmla="*/ 256 w 512"/>
              <a:gd name="T43" fmla="*/ 96 h 512"/>
              <a:gd name="T44" fmla="*/ 256 w 512"/>
              <a:gd name="T45" fmla="*/ 416 h 512"/>
              <a:gd name="T46" fmla="*/ 314 w 512"/>
              <a:gd name="T47" fmla="*/ 320 h 512"/>
              <a:gd name="T48" fmla="*/ 394 w 512"/>
              <a:gd name="T49" fmla="*/ 266 h 512"/>
              <a:gd name="T50" fmla="*/ 314 w 512"/>
              <a:gd name="T51" fmla="*/ 320 h 512"/>
              <a:gd name="T52" fmla="*/ 220 w 512"/>
              <a:gd name="T53" fmla="*/ 389 h 512"/>
              <a:gd name="T54" fmla="*/ 147 w 512"/>
              <a:gd name="T55" fmla="*/ 341 h 512"/>
              <a:gd name="T56" fmla="*/ 365 w 512"/>
              <a:gd name="T57" fmla="*/ 341 h 512"/>
              <a:gd name="T58" fmla="*/ 292 w 512"/>
              <a:gd name="T59" fmla="*/ 389 h 512"/>
              <a:gd name="T60" fmla="*/ 288 w 512"/>
              <a:gd name="T61" fmla="*/ 341 h 512"/>
              <a:gd name="T62" fmla="*/ 256 w 512"/>
              <a:gd name="T63" fmla="*/ 39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12" h="512">
                <a:moveTo>
                  <a:pt x="201" y="170"/>
                </a:moveTo>
                <a:cubicBezTo>
                  <a:pt x="147" y="170"/>
                  <a:pt x="147" y="170"/>
                  <a:pt x="147" y="170"/>
                </a:cubicBezTo>
                <a:cubicBezTo>
                  <a:pt x="165" y="147"/>
                  <a:pt x="190" y="130"/>
                  <a:pt x="220" y="122"/>
                </a:cubicBezTo>
                <a:cubicBezTo>
                  <a:pt x="212" y="135"/>
                  <a:pt x="206" y="151"/>
                  <a:pt x="201" y="170"/>
                </a:cubicBezTo>
                <a:close/>
                <a:moveTo>
                  <a:pt x="256" y="117"/>
                </a:moveTo>
                <a:cubicBezTo>
                  <a:pt x="245" y="117"/>
                  <a:pt x="232" y="137"/>
                  <a:pt x="223" y="170"/>
                </a:cubicBezTo>
                <a:cubicBezTo>
                  <a:pt x="288" y="170"/>
                  <a:pt x="288" y="170"/>
                  <a:pt x="288" y="170"/>
                </a:cubicBezTo>
                <a:cubicBezTo>
                  <a:pt x="279" y="137"/>
                  <a:pt x="266" y="117"/>
                  <a:pt x="256" y="117"/>
                </a:cubicBezTo>
                <a:close/>
                <a:moveTo>
                  <a:pt x="197" y="192"/>
                </a:moveTo>
                <a:cubicBezTo>
                  <a:pt x="133" y="192"/>
                  <a:pt x="133" y="192"/>
                  <a:pt x="133" y="192"/>
                </a:cubicBezTo>
                <a:cubicBezTo>
                  <a:pt x="124" y="208"/>
                  <a:pt x="119" y="226"/>
                  <a:pt x="118" y="245"/>
                </a:cubicBezTo>
                <a:cubicBezTo>
                  <a:pt x="192" y="245"/>
                  <a:pt x="192" y="245"/>
                  <a:pt x="192" y="245"/>
                </a:cubicBezTo>
                <a:cubicBezTo>
                  <a:pt x="192" y="227"/>
                  <a:pt x="194" y="209"/>
                  <a:pt x="197" y="192"/>
                </a:cubicBezTo>
                <a:close/>
                <a:moveTo>
                  <a:pt x="218" y="320"/>
                </a:moveTo>
                <a:cubicBezTo>
                  <a:pt x="293" y="320"/>
                  <a:pt x="293" y="320"/>
                  <a:pt x="293" y="320"/>
                </a:cubicBezTo>
                <a:cubicBezTo>
                  <a:pt x="296" y="304"/>
                  <a:pt x="298" y="286"/>
                  <a:pt x="298" y="266"/>
                </a:cubicBezTo>
                <a:cubicBezTo>
                  <a:pt x="213" y="266"/>
                  <a:pt x="213" y="266"/>
                  <a:pt x="213" y="266"/>
                </a:cubicBezTo>
                <a:cubicBezTo>
                  <a:pt x="214" y="286"/>
                  <a:pt x="216" y="304"/>
                  <a:pt x="218" y="320"/>
                </a:cubicBezTo>
                <a:close/>
                <a:moveTo>
                  <a:pt x="365" y="170"/>
                </a:moveTo>
                <a:cubicBezTo>
                  <a:pt x="347" y="147"/>
                  <a:pt x="321" y="130"/>
                  <a:pt x="292" y="122"/>
                </a:cubicBezTo>
                <a:cubicBezTo>
                  <a:pt x="299" y="135"/>
                  <a:pt x="306" y="151"/>
                  <a:pt x="310" y="170"/>
                </a:cubicBezTo>
                <a:lnTo>
                  <a:pt x="365" y="170"/>
                </a:lnTo>
                <a:close/>
                <a:moveTo>
                  <a:pt x="293" y="192"/>
                </a:moveTo>
                <a:cubicBezTo>
                  <a:pt x="218" y="192"/>
                  <a:pt x="218" y="192"/>
                  <a:pt x="218" y="192"/>
                </a:cubicBezTo>
                <a:cubicBezTo>
                  <a:pt x="216" y="207"/>
                  <a:pt x="214" y="225"/>
                  <a:pt x="213" y="245"/>
                </a:cubicBezTo>
                <a:cubicBezTo>
                  <a:pt x="298" y="245"/>
                  <a:pt x="298" y="245"/>
                  <a:pt x="298" y="245"/>
                </a:cubicBezTo>
                <a:cubicBezTo>
                  <a:pt x="298" y="225"/>
                  <a:pt x="296" y="207"/>
                  <a:pt x="293" y="192"/>
                </a:cubicBezTo>
                <a:close/>
                <a:moveTo>
                  <a:pt x="192" y="266"/>
                </a:moveTo>
                <a:cubicBezTo>
                  <a:pt x="118" y="266"/>
                  <a:pt x="118" y="266"/>
                  <a:pt x="118" y="266"/>
                </a:cubicBezTo>
                <a:cubicBezTo>
                  <a:pt x="119" y="285"/>
                  <a:pt x="124" y="303"/>
                  <a:pt x="133" y="320"/>
                </a:cubicBezTo>
                <a:cubicBezTo>
                  <a:pt x="197" y="320"/>
                  <a:pt x="197" y="320"/>
                  <a:pt x="197" y="320"/>
                </a:cubicBezTo>
                <a:cubicBezTo>
                  <a:pt x="194" y="303"/>
                  <a:pt x="192" y="284"/>
                  <a:pt x="192" y="266"/>
                </a:cubicBezTo>
                <a:close/>
                <a:moveTo>
                  <a:pt x="319" y="245"/>
                </a:moveTo>
                <a:cubicBezTo>
                  <a:pt x="394" y="245"/>
                  <a:pt x="394" y="245"/>
                  <a:pt x="394" y="245"/>
                </a:cubicBezTo>
                <a:cubicBezTo>
                  <a:pt x="392" y="226"/>
                  <a:pt x="387" y="208"/>
                  <a:pt x="379" y="192"/>
                </a:cubicBezTo>
                <a:cubicBezTo>
                  <a:pt x="314" y="192"/>
                  <a:pt x="314" y="192"/>
                  <a:pt x="314" y="192"/>
                </a:cubicBezTo>
                <a:cubicBezTo>
                  <a:pt x="317" y="209"/>
                  <a:pt x="319" y="227"/>
                  <a:pt x="319" y="245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256"/>
                </a:moveTo>
                <a:cubicBezTo>
                  <a:pt x="416" y="167"/>
                  <a:pt x="344" y="96"/>
                  <a:pt x="256" y="96"/>
                </a:cubicBezTo>
                <a:cubicBezTo>
                  <a:pt x="167" y="96"/>
                  <a:pt x="96" y="167"/>
                  <a:pt x="96" y="256"/>
                </a:cubicBezTo>
                <a:cubicBezTo>
                  <a:pt x="96" y="344"/>
                  <a:pt x="167" y="416"/>
                  <a:pt x="256" y="416"/>
                </a:cubicBezTo>
                <a:cubicBezTo>
                  <a:pt x="344" y="416"/>
                  <a:pt x="416" y="344"/>
                  <a:pt x="416" y="256"/>
                </a:cubicBezTo>
                <a:close/>
                <a:moveTo>
                  <a:pt x="314" y="320"/>
                </a:moveTo>
                <a:cubicBezTo>
                  <a:pt x="379" y="320"/>
                  <a:pt x="379" y="320"/>
                  <a:pt x="379" y="320"/>
                </a:cubicBezTo>
                <a:cubicBezTo>
                  <a:pt x="387" y="303"/>
                  <a:pt x="392" y="285"/>
                  <a:pt x="394" y="266"/>
                </a:cubicBezTo>
                <a:cubicBezTo>
                  <a:pt x="319" y="266"/>
                  <a:pt x="319" y="266"/>
                  <a:pt x="319" y="266"/>
                </a:cubicBezTo>
                <a:cubicBezTo>
                  <a:pt x="319" y="284"/>
                  <a:pt x="317" y="303"/>
                  <a:pt x="314" y="320"/>
                </a:cubicBezTo>
                <a:close/>
                <a:moveTo>
                  <a:pt x="147" y="341"/>
                </a:moveTo>
                <a:cubicBezTo>
                  <a:pt x="165" y="364"/>
                  <a:pt x="190" y="381"/>
                  <a:pt x="220" y="389"/>
                </a:cubicBezTo>
                <a:cubicBezTo>
                  <a:pt x="212" y="377"/>
                  <a:pt x="206" y="360"/>
                  <a:pt x="201" y="341"/>
                </a:cubicBezTo>
                <a:lnTo>
                  <a:pt x="147" y="341"/>
                </a:lnTo>
                <a:close/>
                <a:moveTo>
                  <a:pt x="292" y="389"/>
                </a:moveTo>
                <a:cubicBezTo>
                  <a:pt x="321" y="381"/>
                  <a:pt x="347" y="364"/>
                  <a:pt x="365" y="341"/>
                </a:cubicBezTo>
                <a:cubicBezTo>
                  <a:pt x="310" y="341"/>
                  <a:pt x="310" y="341"/>
                  <a:pt x="310" y="341"/>
                </a:cubicBezTo>
                <a:cubicBezTo>
                  <a:pt x="306" y="360"/>
                  <a:pt x="299" y="377"/>
                  <a:pt x="292" y="389"/>
                </a:cubicBezTo>
                <a:close/>
                <a:moveTo>
                  <a:pt x="256" y="394"/>
                </a:moveTo>
                <a:cubicBezTo>
                  <a:pt x="266" y="394"/>
                  <a:pt x="279" y="375"/>
                  <a:pt x="288" y="341"/>
                </a:cubicBezTo>
                <a:cubicBezTo>
                  <a:pt x="223" y="341"/>
                  <a:pt x="223" y="341"/>
                  <a:pt x="223" y="341"/>
                </a:cubicBezTo>
                <a:cubicBezTo>
                  <a:pt x="232" y="375"/>
                  <a:pt x="245" y="394"/>
                  <a:pt x="256" y="3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33680" y="6722628"/>
            <a:ext cx="13575467" cy="480812"/>
            <a:chOff x="233680" y="6722628"/>
            <a:chExt cx="13575467" cy="480812"/>
          </a:xfrm>
        </p:grpSpPr>
        <p:sp>
          <p:nvSpPr>
            <p:cNvPr id="32" name="Freeform 603">
              <a:extLst>
                <a:ext uri="{FF2B5EF4-FFF2-40B4-BE49-F238E27FC236}">
                  <a16:creationId xmlns:a16="http://schemas.microsoft.com/office/drawing/2014/main" id="{9DB6703D-8959-4F09-ABE7-FBE0ED732E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774" y="6886840"/>
              <a:ext cx="216000" cy="21600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5 w 512"/>
                <a:gd name="T11" fmla="*/ 362 h 512"/>
                <a:gd name="T12" fmla="*/ 106 w 512"/>
                <a:gd name="T13" fmla="*/ 362 h 512"/>
                <a:gd name="T14" fmla="*/ 96 w 512"/>
                <a:gd name="T15" fmla="*/ 352 h 512"/>
                <a:gd name="T16" fmla="*/ 106 w 512"/>
                <a:gd name="T17" fmla="*/ 341 h 512"/>
                <a:gd name="T18" fmla="*/ 405 w 512"/>
                <a:gd name="T19" fmla="*/ 341 h 512"/>
                <a:gd name="T20" fmla="*/ 416 w 512"/>
                <a:gd name="T21" fmla="*/ 352 h 512"/>
                <a:gd name="T22" fmla="*/ 405 w 512"/>
                <a:gd name="T23" fmla="*/ 362 h 512"/>
                <a:gd name="T24" fmla="*/ 405 w 512"/>
                <a:gd name="T25" fmla="*/ 298 h 512"/>
                <a:gd name="T26" fmla="*/ 106 w 512"/>
                <a:gd name="T27" fmla="*/ 298 h 512"/>
                <a:gd name="T28" fmla="*/ 96 w 512"/>
                <a:gd name="T29" fmla="*/ 288 h 512"/>
                <a:gd name="T30" fmla="*/ 106 w 512"/>
                <a:gd name="T31" fmla="*/ 277 h 512"/>
                <a:gd name="T32" fmla="*/ 405 w 512"/>
                <a:gd name="T33" fmla="*/ 277 h 512"/>
                <a:gd name="T34" fmla="*/ 416 w 512"/>
                <a:gd name="T35" fmla="*/ 288 h 512"/>
                <a:gd name="T36" fmla="*/ 405 w 512"/>
                <a:gd name="T37" fmla="*/ 298 h 512"/>
                <a:gd name="T38" fmla="*/ 405 w 512"/>
                <a:gd name="T39" fmla="*/ 234 h 512"/>
                <a:gd name="T40" fmla="*/ 106 w 512"/>
                <a:gd name="T41" fmla="*/ 234 h 512"/>
                <a:gd name="T42" fmla="*/ 96 w 512"/>
                <a:gd name="T43" fmla="*/ 224 h 512"/>
                <a:gd name="T44" fmla="*/ 106 w 512"/>
                <a:gd name="T45" fmla="*/ 213 h 512"/>
                <a:gd name="T46" fmla="*/ 405 w 512"/>
                <a:gd name="T47" fmla="*/ 213 h 512"/>
                <a:gd name="T48" fmla="*/ 416 w 512"/>
                <a:gd name="T49" fmla="*/ 224 h 512"/>
                <a:gd name="T50" fmla="*/ 405 w 512"/>
                <a:gd name="T51" fmla="*/ 234 h 512"/>
                <a:gd name="T52" fmla="*/ 405 w 512"/>
                <a:gd name="T53" fmla="*/ 170 h 512"/>
                <a:gd name="T54" fmla="*/ 106 w 512"/>
                <a:gd name="T55" fmla="*/ 170 h 512"/>
                <a:gd name="T56" fmla="*/ 96 w 512"/>
                <a:gd name="T57" fmla="*/ 160 h 512"/>
                <a:gd name="T58" fmla="*/ 106 w 512"/>
                <a:gd name="T59" fmla="*/ 149 h 512"/>
                <a:gd name="T60" fmla="*/ 405 w 512"/>
                <a:gd name="T61" fmla="*/ 149 h 512"/>
                <a:gd name="T62" fmla="*/ 416 w 512"/>
                <a:gd name="T63" fmla="*/ 160 h 512"/>
                <a:gd name="T64" fmla="*/ 405 w 512"/>
                <a:gd name="T65" fmla="*/ 17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5" y="362"/>
                  </a:moveTo>
                  <a:cubicBezTo>
                    <a:pt x="106" y="362"/>
                    <a:pt x="106" y="362"/>
                    <a:pt x="106" y="362"/>
                  </a:cubicBezTo>
                  <a:cubicBezTo>
                    <a:pt x="100" y="362"/>
                    <a:pt x="96" y="358"/>
                    <a:pt x="96" y="352"/>
                  </a:cubicBezTo>
                  <a:cubicBezTo>
                    <a:pt x="96" y="346"/>
                    <a:pt x="100" y="341"/>
                    <a:pt x="106" y="341"/>
                  </a:cubicBezTo>
                  <a:cubicBezTo>
                    <a:pt x="405" y="341"/>
                    <a:pt x="405" y="341"/>
                    <a:pt x="405" y="341"/>
                  </a:cubicBezTo>
                  <a:cubicBezTo>
                    <a:pt x="411" y="341"/>
                    <a:pt x="416" y="346"/>
                    <a:pt x="416" y="352"/>
                  </a:cubicBezTo>
                  <a:cubicBezTo>
                    <a:pt x="416" y="358"/>
                    <a:pt x="411" y="362"/>
                    <a:pt x="405" y="362"/>
                  </a:cubicBezTo>
                  <a:close/>
                  <a:moveTo>
                    <a:pt x="405" y="298"/>
                  </a:moveTo>
                  <a:cubicBezTo>
                    <a:pt x="106" y="298"/>
                    <a:pt x="106" y="298"/>
                    <a:pt x="106" y="298"/>
                  </a:cubicBezTo>
                  <a:cubicBezTo>
                    <a:pt x="100" y="298"/>
                    <a:pt x="96" y="294"/>
                    <a:pt x="96" y="288"/>
                  </a:cubicBezTo>
                  <a:cubicBezTo>
                    <a:pt x="96" y="282"/>
                    <a:pt x="100" y="277"/>
                    <a:pt x="106" y="277"/>
                  </a:cubicBezTo>
                  <a:cubicBezTo>
                    <a:pt x="405" y="277"/>
                    <a:pt x="405" y="277"/>
                    <a:pt x="405" y="277"/>
                  </a:cubicBezTo>
                  <a:cubicBezTo>
                    <a:pt x="411" y="277"/>
                    <a:pt x="416" y="282"/>
                    <a:pt x="416" y="288"/>
                  </a:cubicBezTo>
                  <a:cubicBezTo>
                    <a:pt x="416" y="294"/>
                    <a:pt x="411" y="298"/>
                    <a:pt x="405" y="298"/>
                  </a:cubicBezTo>
                  <a:close/>
                  <a:moveTo>
                    <a:pt x="405" y="234"/>
                  </a:moveTo>
                  <a:cubicBezTo>
                    <a:pt x="106" y="234"/>
                    <a:pt x="106" y="234"/>
                    <a:pt x="106" y="234"/>
                  </a:cubicBezTo>
                  <a:cubicBezTo>
                    <a:pt x="100" y="234"/>
                    <a:pt x="96" y="230"/>
                    <a:pt x="96" y="224"/>
                  </a:cubicBezTo>
                  <a:cubicBezTo>
                    <a:pt x="96" y="218"/>
                    <a:pt x="100" y="213"/>
                    <a:pt x="106" y="213"/>
                  </a:cubicBezTo>
                  <a:cubicBezTo>
                    <a:pt x="405" y="213"/>
                    <a:pt x="405" y="213"/>
                    <a:pt x="405" y="213"/>
                  </a:cubicBezTo>
                  <a:cubicBezTo>
                    <a:pt x="411" y="213"/>
                    <a:pt x="416" y="218"/>
                    <a:pt x="416" y="224"/>
                  </a:cubicBezTo>
                  <a:cubicBezTo>
                    <a:pt x="416" y="230"/>
                    <a:pt x="411" y="234"/>
                    <a:pt x="405" y="234"/>
                  </a:cubicBezTo>
                  <a:close/>
                  <a:moveTo>
                    <a:pt x="405" y="170"/>
                  </a:moveTo>
                  <a:cubicBezTo>
                    <a:pt x="106" y="170"/>
                    <a:pt x="106" y="170"/>
                    <a:pt x="106" y="170"/>
                  </a:cubicBezTo>
                  <a:cubicBezTo>
                    <a:pt x="100" y="170"/>
                    <a:pt x="96" y="166"/>
                    <a:pt x="96" y="160"/>
                  </a:cubicBezTo>
                  <a:cubicBezTo>
                    <a:pt x="96" y="154"/>
                    <a:pt x="100" y="149"/>
                    <a:pt x="106" y="149"/>
                  </a:cubicBezTo>
                  <a:cubicBezTo>
                    <a:pt x="405" y="149"/>
                    <a:pt x="405" y="149"/>
                    <a:pt x="405" y="149"/>
                  </a:cubicBezTo>
                  <a:cubicBezTo>
                    <a:pt x="411" y="149"/>
                    <a:pt x="416" y="154"/>
                    <a:pt x="416" y="160"/>
                  </a:cubicBezTo>
                  <a:cubicBezTo>
                    <a:pt x="416" y="166"/>
                    <a:pt x="411" y="170"/>
                    <a:pt x="405" y="17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 dirty="0"/>
            </a:p>
          </p:txBody>
        </p:sp>
        <p:grpSp>
          <p:nvGrpSpPr>
            <p:cNvPr id="33" name="Group 447"/>
            <p:cNvGrpSpPr>
              <a:grpSpLocks/>
            </p:cNvGrpSpPr>
            <p:nvPr/>
          </p:nvGrpSpPr>
          <p:grpSpPr bwMode="auto">
            <a:xfrm>
              <a:off x="2246820" y="6886840"/>
              <a:ext cx="216000" cy="216000"/>
              <a:chOff x="5601" y="1820"/>
              <a:chExt cx="340" cy="340"/>
            </a:xfrm>
            <a:solidFill>
              <a:schemeClr val="accent5"/>
            </a:solidFill>
          </p:grpSpPr>
          <p:sp>
            <p:nvSpPr>
              <p:cNvPr id="34" name="Freeform 448"/>
              <p:cNvSpPr>
                <a:spLocks noEditPoints="1"/>
              </p:cNvSpPr>
              <p:nvPr/>
            </p:nvSpPr>
            <p:spPr bwMode="auto">
              <a:xfrm>
                <a:off x="5679" y="1948"/>
                <a:ext cx="182" cy="85"/>
              </a:xfrm>
              <a:custGeom>
                <a:avLst/>
                <a:gdLst>
                  <a:gd name="T0" fmla="*/ 131 w 275"/>
                  <a:gd name="T1" fmla="*/ 43 h 128"/>
                  <a:gd name="T2" fmla="*/ 122 w 275"/>
                  <a:gd name="T3" fmla="*/ 37 h 128"/>
                  <a:gd name="T4" fmla="*/ 64 w 275"/>
                  <a:gd name="T5" fmla="*/ 0 h 128"/>
                  <a:gd name="T6" fmla="*/ 0 w 275"/>
                  <a:gd name="T7" fmla="*/ 64 h 128"/>
                  <a:gd name="T8" fmla="*/ 64 w 275"/>
                  <a:gd name="T9" fmla="*/ 128 h 128"/>
                  <a:gd name="T10" fmla="*/ 122 w 275"/>
                  <a:gd name="T11" fmla="*/ 92 h 128"/>
                  <a:gd name="T12" fmla="*/ 131 w 275"/>
                  <a:gd name="T13" fmla="*/ 86 h 128"/>
                  <a:gd name="T14" fmla="*/ 177 w 275"/>
                  <a:gd name="T15" fmla="*/ 86 h 128"/>
                  <a:gd name="T16" fmla="*/ 195 w 275"/>
                  <a:gd name="T17" fmla="*/ 67 h 128"/>
                  <a:gd name="T18" fmla="*/ 210 w 275"/>
                  <a:gd name="T19" fmla="*/ 67 h 128"/>
                  <a:gd name="T20" fmla="*/ 224 w 275"/>
                  <a:gd name="T21" fmla="*/ 81 h 128"/>
                  <a:gd name="T22" fmla="*/ 238 w 275"/>
                  <a:gd name="T23" fmla="*/ 67 h 128"/>
                  <a:gd name="T24" fmla="*/ 253 w 275"/>
                  <a:gd name="T25" fmla="*/ 67 h 128"/>
                  <a:gd name="T26" fmla="*/ 265 w 275"/>
                  <a:gd name="T27" fmla="*/ 79 h 128"/>
                  <a:gd name="T28" fmla="*/ 275 w 275"/>
                  <a:gd name="T29" fmla="*/ 64 h 128"/>
                  <a:gd name="T30" fmla="*/ 261 w 275"/>
                  <a:gd name="T31" fmla="*/ 43 h 128"/>
                  <a:gd name="T32" fmla="*/ 131 w 275"/>
                  <a:gd name="T33" fmla="*/ 43 h 128"/>
                  <a:gd name="T34" fmla="*/ 53 w 275"/>
                  <a:gd name="T35" fmla="*/ 85 h 128"/>
                  <a:gd name="T36" fmla="*/ 32 w 275"/>
                  <a:gd name="T37" fmla="*/ 64 h 128"/>
                  <a:gd name="T38" fmla="*/ 53 w 275"/>
                  <a:gd name="T39" fmla="*/ 43 h 128"/>
                  <a:gd name="T40" fmla="*/ 75 w 275"/>
                  <a:gd name="T41" fmla="*/ 64 h 128"/>
                  <a:gd name="T42" fmla="*/ 53 w 275"/>
                  <a:gd name="T43" fmla="*/ 85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5" h="128">
                    <a:moveTo>
                      <a:pt x="131" y="43"/>
                    </a:moveTo>
                    <a:cubicBezTo>
                      <a:pt x="127" y="43"/>
                      <a:pt x="124" y="41"/>
                      <a:pt x="122" y="37"/>
                    </a:cubicBezTo>
                    <a:cubicBezTo>
                      <a:pt x="111" y="15"/>
                      <a:pt x="89" y="0"/>
                      <a:pt x="64" y="0"/>
                    </a:cubicBezTo>
                    <a:cubicBezTo>
                      <a:pt x="29" y="0"/>
                      <a:pt x="0" y="29"/>
                      <a:pt x="0" y="64"/>
                    </a:cubicBezTo>
                    <a:cubicBezTo>
                      <a:pt x="0" y="99"/>
                      <a:pt x="29" y="128"/>
                      <a:pt x="64" y="128"/>
                    </a:cubicBezTo>
                    <a:cubicBezTo>
                      <a:pt x="89" y="128"/>
                      <a:pt x="111" y="114"/>
                      <a:pt x="122" y="92"/>
                    </a:cubicBezTo>
                    <a:cubicBezTo>
                      <a:pt x="124" y="88"/>
                      <a:pt x="127" y="86"/>
                      <a:pt x="131" y="86"/>
                    </a:cubicBezTo>
                    <a:cubicBezTo>
                      <a:pt x="177" y="86"/>
                      <a:pt x="177" y="86"/>
                      <a:pt x="177" y="86"/>
                    </a:cubicBezTo>
                    <a:cubicBezTo>
                      <a:pt x="195" y="67"/>
                      <a:pt x="195" y="67"/>
                      <a:pt x="195" y="67"/>
                    </a:cubicBezTo>
                    <a:cubicBezTo>
                      <a:pt x="199" y="63"/>
                      <a:pt x="206" y="63"/>
                      <a:pt x="210" y="67"/>
                    </a:cubicBezTo>
                    <a:cubicBezTo>
                      <a:pt x="224" y="81"/>
                      <a:pt x="224" y="81"/>
                      <a:pt x="224" y="81"/>
                    </a:cubicBezTo>
                    <a:cubicBezTo>
                      <a:pt x="238" y="67"/>
                      <a:pt x="238" y="67"/>
                      <a:pt x="238" y="67"/>
                    </a:cubicBezTo>
                    <a:cubicBezTo>
                      <a:pt x="242" y="63"/>
                      <a:pt x="249" y="63"/>
                      <a:pt x="253" y="67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5" y="64"/>
                      <a:pt x="275" y="64"/>
                      <a:pt x="275" y="64"/>
                    </a:cubicBezTo>
                    <a:cubicBezTo>
                      <a:pt x="261" y="43"/>
                      <a:pt x="261" y="43"/>
                      <a:pt x="261" y="43"/>
                    </a:cubicBezTo>
                    <a:lnTo>
                      <a:pt x="131" y="43"/>
                    </a:lnTo>
                    <a:close/>
                    <a:moveTo>
                      <a:pt x="53" y="85"/>
                    </a:moveTo>
                    <a:cubicBezTo>
                      <a:pt x="42" y="85"/>
                      <a:pt x="32" y="76"/>
                      <a:pt x="32" y="64"/>
                    </a:cubicBezTo>
                    <a:cubicBezTo>
                      <a:pt x="32" y="52"/>
                      <a:pt x="42" y="43"/>
                      <a:pt x="53" y="43"/>
                    </a:cubicBezTo>
                    <a:cubicBezTo>
                      <a:pt x="65" y="43"/>
                      <a:pt x="75" y="52"/>
                      <a:pt x="75" y="64"/>
                    </a:cubicBezTo>
                    <a:cubicBezTo>
                      <a:pt x="75" y="76"/>
                      <a:pt x="65" y="85"/>
                      <a:pt x="5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200"/>
              </a:p>
            </p:txBody>
          </p:sp>
          <p:sp>
            <p:nvSpPr>
              <p:cNvPr id="35" name="Freeform 449"/>
              <p:cNvSpPr>
                <a:spLocks noEditPoints="1"/>
              </p:cNvSpPr>
              <p:nvPr/>
            </p:nvSpPr>
            <p:spPr bwMode="auto">
              <a:xfrm>
                <a:off x="5601" y="1820"/>
                <a:ext cx="340" cy="340"/>
              </a:xfrm>
              <a:custGeom>
                <a:avLst/>
                <a:gdLst>
                  <a:gd name="T0" fmla="*/ 256 w 512"/>
                  <a:gd name="T1" fmla="*/ 0 h 512"/>
                  <a:gd name="T2" fmla="*/ 0 w 512"/>
                  <a:gd name="T3" fmla="*/ 256 h 512"/>
                  <a:gd name="T4" fmla="*/ 256 w 512"/>
                  <a:gd name="T5" fmla="*/ 512 h 512"/>
                  <a:gd name="T6" fmla="*/ 512 w 512"/>
                  <a:gd name="T7" fmla="*/ 256 h 512"/>
                  <a:gd name="T8" fmla="*/ 256 w 512"/>
                  <a:gd name="T9" fmla="*/ 0 h 512"/>
                  <a:gd name="T10" fmla="*/ 414 w 512"/>
                  <a:gd name="T11" fmla="*/ 262 h 512"/>
                  <a:gd name="T12" fmla="*/ 393 w 512"/>
                  <a:gd name="T13" fmla="*/ 294 h 512"/>
                  <a:gd name="T14" fmla="*/ 385 w 512"/>
                  <a:gd name="T15" fmla="*/ 299 h 512"/>
                  <a:gd name="T16" fmla="*/ 376 w 512"/>
                  <a:gd name="T17" fmla="*/ 296 h 512"/>
                  <a:gd name="T18" fmla="*/ 362 w 512"/>
                  <a:gd name="T19" fmla="*/ 282 h 512"/>
                  <a:gd name="T20" fmla="*/ 349 w 512"/>
                  <a:gd name="T21" fmla="*/ 296 h 512"/>
                  <a:gd name="T22" fmla="*/ 333 w 512"/>
                  <a:gd name="T23" fmla="*/ 296 h 512"/>
                  <a:gd name="T24" fmla="*/ 320 w 512"/>
                  <a:gd name="T25" fmla="*/ 282 h 512"/>
                  <a:gd name="T26" fmla="*/ 306 w 512"/>
                  <a:gd name="T27" fmla="*/ 296 h 512"/>
                  <a:gd name="T28" fmla="*/ 298 w 512"/>
                  <a:gd name="T29" fmla="*/ 299 h 512"/>
                  <a:gd name="T30" fmla="*/ 255 w 512"/>
                  <a:gd name="T31" fmla="*/ 299 h 512"/>
                  <a:gd name="T32" fmla="*/ 181 w 512"/>
                  <a:gd name="T33" fmla="*/ 342 h 512"/>
                  <a:gd name="T34" fmla="*/ 96 w 512"/>
                  <a:gd name="T35" fmla="*/ 256 h 512"/>
                  <a:gd name="T36" fmla="*/ 181 w 512"/>
                  <a:gd name="T37" fmla="*/ 171 h 512"/>
                  <a:gd name="T38" fmla="*/ 255 w 512"/>
                  <a:gd name="T39" fmla="*/ 214 h 512"/>
                  <a:gd name="T40" fmla="*/ 384 w 512"/>
                  <a:gd name="T41" fmla="*/ 214 h 512"/>
                  <a:gd name="T42" fmla="*/ 393 w 512"/>
                  <a:gd name="T43" fmla="*/ 218 h 512"/>
                  <a:gd name="T44" fmla="*/ 414 w 512"/>
                  <a:gd name="T45" fmla="*/ 250 h 512"/>
                  <a:gd name="T46" fmla="*/ 414 w 512"/>
                  <a:gd name="T47" fmla="*/ 262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4" y="0"/>
                      <a:pt x="0" y="115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  <a:moveTo>
                      <a:pt x="414" y="262"/>
                    </a:moveTo>
                    <a:cubicBezTo>
                      <a:pt x="393" y="294"/>
                      <a:pt x="393" y="294"/>
                      <a:pt x="393" y="294"/>
                    </a:cubicBezTo>
                    <a:cubicBezTo>
                      <a:pt x="391" y="297"/>
                      <a:pt x="388" y="298"/>
                      <a:pt x="385" y="299"/>
                    </a:cubicBezTo>
                    <a:cubicBezTo>
                      <a:pt x="381" y="299"/>
                      <a:pt x="378" y="298"/>
                      <a:pt x="376" y="296"/>
                    </a:cubicBezTo>
                    <a:cubicBezTo>
                      <a:pt x="362" y="282"/>
                      <a:pt x="362" y="282"/>
                      <a:pt x="362" y="282"/>
                    </a:cubicBezTo>
                    <a:cubicBezTo>
                      <a:pt x="349" y="296"/>
                      <a:pt x="349" y="296"/>
                      <a:pt x="349" y="296"/>
                    </a:cubicBezTo>
                    <a:cubicBezTo>
                      <a:pt x="344" y="300"/>
                      <a:pt x="338" y="300"/>
                      <a:pt x="333" y="296"/>
                    </a:cubicBezTo>
                    <a:cubicBezTo>
                      <a:pt x="320" y="282"/>
                      <a:pt x="320" y="282"/>
                      <a:pt x="320" y="282"/>
                    </a:cubicBezTo>
                    <a:cubicBezTo>
                      <a:pt x="306" y="296"/>
                      <a:pt x="306" y="296"/>
                      <a:pt x="306" y="296"/>
                    </a:cubicBezTo>
                    <a:cubicBezTo>
                      <a:pt x="304" y="298"/>
                      <a:pt x="301" y="299"/>
                      <a:pt x="298" y="299"/>
                    </a:cubicBezTo>
                    <a:cubicBezTo>
                      <a:pt x="255" y="299"/>
                      <a:pt x="255" y="299"/>
                      <a:pt x="255" y="299"/>
                    </a:cubicBezTo>
                    <a:cubicBezTo>
                      <a:pt x="240" y="325"/>
                      <a:pt x="211" y="342"/>
                      <a:pt x="181" y="342"/>
                    </a:cubicBezTo>
                    <a:cubicBezTo>
                      <a:pt x="134" y="342"/>
                      <a:pt x="96" y="303"/>
                      <a:pt x="96" y="256"/>
                    </a:cubicBezTo>
                    <a:cubicBezTo>
                      <a:pt x="96" y="209"/>
                      <a:pt x="134" y="171"/>
                      <a:pt x="181" y="171"/>
                    </a:cubicBezTo>
                    <a:cubicBezTo>
                      <a:pt x="211" y="171"/>
                      <a:pt x="240" y="187"/>
                      <a:pt x="255" y="214"/>
                    </a:cubicBezTo>
                    <a:cubicBezTo>
                      <a:pt x="384" y="214"/>
                      <a:pt x="384" y="214"/>
                      <a:pt x="384" y="214"/>
                    </a:cubicBezTo>
                    <a:cubicBezTo>
                      <a:pt x="387" y="214"/>
                      <a:pt x="391" y="215"/>
                      <a:pt x="393" y="218"/>
                    </a:cubicBezTo>
                    <a:cubicBezTo>
                      <a:pt x="414" y="250"/>
                      <a:pt x="414" y="250"/>
                      <a:pt x="414" y="250"/>
                    </a:cubicBezTo>
                    <a:cubicBezTo>
                      <a:pt x="416" y="254"/>
                      <a:pt x="416" y="258"/>
                      <a:pt x="414" y="2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200"/>
              </a:p>
            </p:txBody>
          </p:sp>
        </p:grpSp>
        <p:sp>
          <p:nvSpPr>
            <p:cNvPr id="37" name="Freeform 196"/>
            <p:cNvSpPr>
              <a:spLocks noEditPoints="1"/>
            </p:cNvSpPr>
            <p:nvPr/>
          </p:nvSpPr>
          <p:spPr bwMode="auto">
            <a:xfrm>
              <a:off x="5118890" y="6886840"/>
              <a:ext cx="216000" cy="216000"/>
            </a:xfrm>
            <a:custGeom>
              <a:avLst/>
              <a:gdLst>
                <a:gd name="T0" fmla="*/ 181 w 512"/>
                <a:gd name="T1" fmla="*/ 181 h 512"/>
                <a:gd name="T2" fmla="*/ 160 w 512"/>
                <a:gd name="T3" fmla="*/ 202 h 512"/>
                <a:gd name="T4" fmla="*/ 138 w 512"/>
                <a:gd name="T5" fmla="*/ 181 h 512"/>
                <a:gd name="T6" fmla="*/ 160 w 512"/>
                <a:gd name="T7" fmla="*/ 160 h 512"/>
                <a:gd name="T8" fmla="*/ 181 w 512"/>
                <a:gd name="T9" fmla="*/ 181 h 512"/>
                <a:gd name="T10" fmla="*/ 256 w 512"/>
                <a:gd name="T11" fmla="*/ 309 h 512"/>
                <a:gd name="T12" fmla="*/ 234 w 512"/>
                <a:gd name="T13" fmla="*/ 330 h 512"/>
                <a:gd name="T14" fmla="*/ 256 w 512"/>
                <a:gd name="T15" fmla="*/ 352 h 512"/>
                <a:gd name="T16" fmla="*/ 277 w 512"/>
                <a:gd name="T17" fmla="*/ 330 h 512"/>
                <a:gd name="T18" fmla="*/ 256 w 512"/>
                <a:gd name="T19" fmla="*/ 309 h 512"/>
                <a:gd name="T20" fmla="*/ 352 w 512"/>
                <a:gd name="T21" fmla="*/ 213 h 512"/>
                <a:gd name="T22" fmla="*/ 330 w 512"/>
                <a:gd name="T23" fmla="*/ 234 h 512"/>
                <a:gd name="T24" fmla="*/ 352 w 512"/>
                <a:gd name="T25" fmla="*/ 256 h 512"/>
                <a:gd name="T26" fmla="*/ 373 w 512"/>
                <a:gd name="T27" fmla="*/ 234 h 512"/>
                <a:gd name="T28" fmla="*/ 352 w 512"/>
                <a:gd name="T29" fmla="*/ 213 h 512"/>
                <a:gd name="T30" fmla="*/ 512 w 512"/>
                <a:gd name="T31" fmla="*/ 256 h 512"/>
                <a:gd name="T32" fmla="*/ 256 w 512"/>
                <a:gd name="T33" fmla="*/ 512 h 512"/>
                <a:gd name="T34" fmla="*/ 0 w 512"/>
                <a:gd name="T35" fmla="*/ 256 h 512"/>
                <a:gd name="T36" fmla="*/ 256 w 512"/>
                <a:gd name="T37" fmla="*/ 0 h 512"/>
                <a:gd name="T38" fmla="*/ 512 w 512"/>
                <a:gd name="T39" fmla="*/ 256 h 512"/>
                <a:gd name="T40" fmla="*/ 202 w 512"/>
                <a:gd name="T41" fmla="*/ 181 h 512"/>
                <a:gd name="T42" fmla="*/ 170 w 512"/>
                <a:gd name="T43" fmla="*/ 140 h 512"/>
                <a:gd name="T44" fmla="*/ 170 w 512"/>
                <a:gd name="T45" fmla="*/ 106 h 512"/>
                <a:gd name="T46" fmla="*/ 160 w 512"/>
                <a:gd name="T47" fmla="*/ 96 h 512"/>
                <a:gd name="T48" fmla="*/ 149 w 512"/>
                <a:gd name="T49" fmla="*/ 106 h 512"/>
                <a:gd name="T50" fmla="*/ 149 w 512"/>
                <a:gd name="T51" fmla="*/ 140 h 512"/>
                <a:gd name="T52" fmla="*/ 117 w 512"/>
                <a:gd name="T53" fmla="*/ 181 h 512"/>
                <a:gd name="T54" fmla="*/ 149 w 512"/>
                <a:gd name="T55" fmla="*/ 222 h 512"/>
                <a:gd name="T56" fmla="*/ 149 w 512"/>
                <a:gd name="T57" fmla="*/ 405 h 512"/>
                <a:gd name="T58" fmla="*/ 160 w 512"/>
                <a:gd name="T59" fmla="*/ 416 h 512"/>
                <a:gd name="T60" fmla="*/ 170 w 512"/>
                <a:gd name="T61" fmla="*/ 405 h 512"/>
                <a:gd name="T62" fmla="*/ 170 w 512"/>
                <a:gd name="T63" fmla="*/ 222 h 512"/>
                <a:gd name="T64" fmla="*/ 202 w 512"/>
                <a:gd name="T65" fmla="*/ 181 h 512"/>
                <a:gd name="T66" fmla="*/ 298 w 512"/>
                <a:gd name="T67" fmla="*/ 330 h 512"/>
                <a:gd name="T68" fmla="*/ 266 w 512"/>
                <a:gd name="T69" fmla="*/ 289 h 512"/>
                <a:gd name="T70" fmla="*/ 266 w 512"/>
                <a:gd name="T71" fmla="*/ 106 h 512"/>
                <a:gd name="T72" fmla="*/ 256 w 512"/>
                <a:gd name="T73" fmla="*/ 96 h 512"/>
                <a:gd name="T74" fmla="*/ 245 w 512"/>
                <a:gd name="T75" fmla="*/ 106 h 512"/>
                <a:gd name="T76" fmla="*/ 245 w 512"/>
                <a:gd name="T77" fmla="*/ 289 h 512"/>
                <a:gd name="T78" fmla="*/ 213 w 512"/>
                <a:gd name="T79" fmla="*/ 330 h 512"/>
                <a:gd name="T80" fmla="*/ 245 w 512"/>
                <a:gd name="T81" fmla="*/ 371 h 512"/>
                <a:gd name="T82" fmla="*/ 245 w 512"/>
                <a:gd name="T83" fmla="*/ 405 h 512"/>
                <a:gd name="T84" fmla="*/ 256 w 512"/>
                <a:gd name="T85" fmla="*/ 416 h 512"/>
                <a:gd name="T86" fmla="*/ 266 w 512"/>
                <a:gd name="T87" fmla="*/ 405 h 512"/>
                <a:gd name="T88" fmla="*/ 266 w 512"/>
                <a:gd name="T89" fmla="*/ 371 h 512"/>
                <a:gd name="T90" fmla="*/ 298 w 512"/>
                <a:gd name="T91" fmla="*/ 330 h 512"/>
                <a:gd name="T92" fmla="*/ 394 w 512"/>
                <a:gd name="T93" fmla="*/ 234 h 512"/>
                <a:gd name="T94" fmla="*/ 362 w 512"/>
                <a:gd name="T95" fmla="*/ 193 h 512"/>
                <a:gd name="T96" fmla="*/ 362 w 512"/>
                <a:gd name="T97" fmla="*/ 106 h 512"/>
                <a:gd name="T98" fmla="*/ 352 w 512"/>
                <a:gd name="T99" fmla="*/ 96 h 512"/>
                <a:gd name="T100" fmla="*/ 341 w 512"/>
                <a:gd name="T101" fmla="*/ 106 h 512"/>
                <a:gd name="T102" fmla="*/ 341 w 512"/>
                <a:gd name="T103" fmla="*/ 193 h 512"/>
                <a:gd name="T104" fmla="*/ 309 w 512"/>
                <a:gd name="T105" fmla="*/ 234 h 512"/>
                <a:gd name="T106" fmla="*/ 341 w 512"/>
                <a:gd name="T107" fmla="*/ 275 h 512"/>
                <a:gd name="T108" fmla="*/ 341 w 512"/>
                <a:gd name="T109" fmla="*/ 405 h 512"/>
                <a:gd name="T110" fmla="*/ 352 w 512"/>
                <a:gd name="T111" fmla="*/ 416 h 512"/>
                <a:gd name="T112" fmla="*/ 362 w 512"/>
                <a:gd name="T113" fmla="*/ 405 h 512"/>
                <a:gd name="T114" fmla="*/ 362 w 512"/>
                <a:gd name="T115" fmla="*/ 275 h 512"/>
                <a:gd name="T116" fmla="*/ 394 w 512"/>
                <a:gd name="T117" fmla="*/ 23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2" h="512">
                  <a:moveTo>
                    <a:pt x="181" y="181"/>
                  </a:moveTo>
                  <a:cubicBezTo>
                    <a:pt x="181" y="193"/>
                    <a:pt x="171" y="202"/>
                    <a:pt x="160" y="202"/>
                  </a:cubicBezTo>
                  <a:cubicBezTo>
                    <a:pt x="148" y="202"/>
                    <a:pt x="138" y="193"/>
                    <a:pt x="138" y="181"/>
                  </a:cubicBezTo>
                  <a:cubicBezTo>
                    <a:pt x="138" y="169"/>
                    <a:pt x="148" y="160"/>
                    <a:pt x="160" y="160"/>
                  </a:cubicBezTo>
                  <a:cubicBezTo>
                    <a:pt x="171" y="160"/>
                    <a:pt x="181" y="169"/>
                    <a:pt x="181" y="181"/>
                  </a:cubicBezTo>
                  <a:close/>
                  <a:moveTo>
                    <a:pt x="256" y="309"/>
                  </a:moveTo>
                  <a:cubicBezTo>
                    <a:pt x="244" y="309"/>
                    <a:pt x="234" y="319"/>
                    <a:pt x="234" y="330"/>
                  </a:cubicBezTo>
                  <a:cubicBezTo>
                    <a:pt x="234" y="342"/>
                    <a:pt x="244" y="352"/>
                    <a:pt x="256" y="352"/>
                  </a:cubicBezTo>
                  <a:cubicBezTo>
                    <a:pt x="267" y="352"/>
                    <a:pt x="277" y="342"/>
                    <a:pt x="277" y="330"/>
                  </a:cubicBezTo>
                  <a:cubicBezTo>
                    <a:pt x="277" y="319"/>
                    <a:pt x="267" y="309"/>
                    <a:pt x="256" y="309"/>
                  </a:cubicBezTo>
                  <a:close/>
                  <a:moveTo>
                    <a:pt x="352" y="213"/>
                  </a:moveTo>
                  <a:cubicBezTo>
                    <a:pt x="340" y="213"/>
                    <a:pt x="330" y="223"/>
                    <a:pt x="330" y="234"/>
                  </a:cubicBezTo>
                  <a:cubicBezTo>
                    <a:pt x="330" y="246"/>
                    <a:pt x="340" y="256"/>
                    <a:pt x="352" y="256"/>
                  </a:cubicBezTo>
                  <a:cubicBezTo>
                    <a:pt x="363" y="256"/>
                    <a:pt x="373" y="246"/>
                    <a:pt x="373" y="234"/>
                  </a:cubicBezTo>
                  <a:cubicBezTo>
                    <a:pt x="373" y="223"/>
                    <a:pt x="363" y="213"/>
                    <a:pt x="352" y="213"/>
                  </a:cubicBez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202" y="181"/>
                  </a:moveTo>
                  <a:cubicBezTo>
                    <a:pt x="202" y="161"/>
                    <a:pt x="189" y="145"/>
                    <a:pt x="170" y="140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0"/>
                    <a:pt x="166" y="96"/>
                    <a:pt x="160" y="96"/>
                  </a:cubicBezTo>
                  <a:cubicBezTo>
                    <a:pt x="154" y="96"/>
                    <a:pt x="149" y="100"/>
                    <a:pt x="149" y="106"/>
                  </a:cubicBezTo>
                  <a:cubicBezTo>
                    <a:pt x="149" y="140"/>
                    <a:pt x="149" y="140"/>
                    <a:pt x="149" y="140"/>
                  </a:cubicBezTo>
                  <a:cubicBezTo>
                    <a:pt x="131" y="145"/>
                    <a:pt x="117" y="161"/>
                    <a:pt x="117" y="181"/>
                  </a:cubicBezTo>
                  <a:cubicBezTo>
                    <a:pt x="117" y="201"/>
                    <a:pt x="131" y="217"/>
                    <a:pt x="149" y="222"/>
                  </a:cubicBezTo>
                  <a:cubicBezTo>
                    <a:pt x="149" y="405"/>
                    <a:pt x="149" y="405"/>
                    <a:pt x="149" y="405"/>
                  </a:cubicBezTo>
                  <a:cubicBezTo>
                    <a:pt x="149" y="411"/>
                    <a:pt x="154" y="416"/>
                    <a:pt x="160" y="416"/>
                  </a:cubicBezTo>
                  <a:cubicBezTo>
                    <a:pt x="166" y="416"/>
                    <a:pt x="170" y="411"/>
                    <a:pt x="170" y="405"/>
                  </a:cubicBezTo>
                  <a:cubicBezTo>
                    <a:pt x="170" y="222"/>
                    <a:pt x="170" y="222"/>
                    <a:pt x="170" y="222"/>
                  </a:cubicBezTo>
                  <a:cubicBezTo>
                    <a:pt x="189" y="217"/>
                    <a:pt x="202" y="201"/>
                    <a:pt x="202" y="181"/>
                  </a:cubicBezTo>
                  <a:close/>
                  <a:moveTo>
                    <a:pt x="298" y="330"/>
                  </a:moveTo>
                  <a:cubicBezTo>
                    <a:pt x="298" y="311"/>
                    <a:pt x="285" y="294"/>
                    <a:pt x="266" y="289"/>
                  </a:cubicBezTo>
                  <a:cubicBezTo>
                    <a:pt x="266" y="106"/>
                    <a:pt x="266" y="106"/>
                    <a:pt x="266" y="106"/>
                  </a:cubicBezTo>
                  <a:cubicBezTo>
                    <a:pt x="266" y="100"/>
                    <a:pt x="262" y="96"/>
                    <a:pt x="256" y="96"/>
                  </a:cubicBezTo>
                  <a:cubicBezTo>
                    <a:pt x="250" y="96"/>
                    <a:pt x="245" y="100"/>
                    <a:pt x="245" y="106"/>
                  </a:cubicBezTo>
                  <a:cubicBezTo>
                    <a:pt x="245" y="289"/>
                    <a:pt x="245" y="289"/>
                    <a:pt x="245" y="289"/>
                  </a:cubicBezTo>
                  <a:cubicBezTo>
                    <a:pt x="227" y="294"/>
                    <a:pt x="213" y="311"/>
                    <a:pt x="213" y="330"/>
                  </a:cubicBezTo>
                  <a:cubicBezTo>
                    <a:pt x="213" y="350"/>
                    <a:pt x="227" y="367"/>
                    <a:pt x="245" y="371"/>
                  </a:cubicBezTo>
                  <a:cubicBezTo>
                    <a:pt x="245" y="405"/>
                    <a:pt x="245" y="405"/>
                    <a:pt x="245" y="405"/>
                  </a:cubicBezTo>
                  <a:cubicBezTo>
                    <a:pt x="245" y="411"/>
                    <a:pt x="250" y="416"/>
                    <a:pt x="256" y="416"/>
                  </a:cubicBezTo>
                  <a:cubicBezTo>
                    <a:pt x="262" y="416"/>
                    <a:pt x="266" y="411"/>
                    <a:pt x="266" y="405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85" y="367"/>
                    <a:pt x="298" y="350"/>
                    <a:pt x="298" y="330"/>
                  </a:cubicBezTo>
                  <a:close/>
                  <a:moveTo>
                    <a:pt x="394" y="234"/>
                  </a:moveTo>
                  <a:cubicBezTo>
                    <a:pt x="394" y="215"/>
                    <a:pt x="381" y="198"/>
                    <a:pt x="362" y="193"/>
                  </a:cubicBezTo>
                  <a:cubicBezTo>
                    <a:pt x="362" y="106"/>
                    <a:pt x="362" y="106"/>
                    <a:pt x="362" y="106"/>
                  </a:cubicBezTo>
                  <a:cubicBezTo>
                    <a:pt x="362" y="100"/>
                    <a:pt x="358" y="96"/>
                    <a:pt x="352" y="96"/>
                  </a:cubicBezTo>
                  <a:cubicBezTo>
                    <a:pt x="346" y="96"/>
                    <a:pt x="341" y="100"/>
                    <a:pt x="341" y="106"/>
                  </a:cubicBezTo>
                  <a:cubicBezTo>
                    <a:pt x="341" y="193"/>
                    <a:pt x="341" y="193"/>
                    <a:pt x="341" y="193"/>
                  </a:cubicBezTo>
                  <a:cubicBezTo>
                    <a:pt x="323" y="198"/>
                    <a:pt x="309" y="215"/>
                    <a:pt x="309" y="234"/>
                  </a:cubicBezTo>
                  <a:cubicBezTo>
                    <a:pt x="309" y="254"/>
                    <a:pt x="323" y="271"/>
                    <a:pt x="341" y="275"/>
                  </a:cubicBezTo>
                  <a:cubicBezTo>
                    <a:pt x="341" y="405"/>
                    <a:pt x="341" y="405"/>
                    <a:pt x="341" y="405"/>
                  </a:cubicBezTo>
                  <a:cubicBezTo>
                    <a:pt x="341" y="411"/>
                    <a:pt x="346" y="416"/>
                    <a:pt x="352" y="416"/>
                  </a:cubicBezTo>
                  <a:cubicBezTo>
                    <a:pt x="358" y="416"/>
                    <a:pt x="362" y="411"/>
                    <a:pt x="362" y="405"/>
                  </a:cubicBezTo>
                  <a:cubicBezTo>
                    <a:pt x="362" y="275"/>
                    <a:pt x="362" y="275"/>
                    <a:pt x="362" y="275"/>
                  </a:cubicBezTo>
                  <a:cubicBezTo>
                    <a:pt x="381" y="271"/>
                    <a:pt x="394" y="254"/>
                    <a:pt x="394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/>
            </a:p>
          </p:txBody>
        </p:sp>
        <p:sp>
          <p:nvSpPr>
            <p:cNvPr id="43" name="Oval 42"/>
            <p:cNvSpPr>
              <a:spLocks/>
            </p:cNvSpPr>
            <p:nvPr/>
          </p:nvSpPr>
          <p:spPr bwMode="gray">
            <a:xfrm>
              <a:off x="3682855" y="6886840"/>
              <a:ext cx="216000" cy="216000"/>
            </a:xfrm>
            <a:prstGeom prst="ellipse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IN" sz="1200" b="1" dirty="0">
                  <a:solidFill>
                    <a:schemeClr val="bg1"/>
                  </a:solidFill>
                </a:rPr>
                <a:t>₹</a:t>
              </a:r>
            </a:p>
          </p:txBody>
        </p:sp>
        <p:sp>
          <p:nvSpPr>
            <p:cNvPr id="44" name="Freeform 375"/>
            <p:cNvSpPr>
              <a:spLocks noEditPoints="1"/>
            </p:cNvSpPr>
            <p:nvPr/>
          </p:nvSpPr>
          <p:spPr bwMode="auto">
            <a:xfrm>
              <a:off x="6644322" y="6886840"/>
              <a:ext cx="216000" cy="216000"/>
            </a:xfrm>
            <a:custGeom>
              <a:avLst/>
              <a:gdLst>
                <a:gd name="T0" fmla="*/ 297 w 512"/>
                <a:gd name="T1" fmla="*/ 213 h 512"/>
                <a:gd name="T2" fmla="*/ 382 w 512"/>
                <a:gd name="T3" fmla="*/ 221 h 512"/>
                <a:gd name="T4" fmla="*/ 323 w 512"/>
                <a:gd name="T5" fmla="*/ 280 h 512"/>
                <a:gd name="T6" fmla="*/ 320 w 512"/>
                <a:gd name="T7" fmla="*/ 290 h 512"/>
                <a:gd name="T8" fmla="*/ 337 w 512"/>
                <a:gd name="T9" fmla="*/ 374 h 512"/>
                <a:gd name="T10" fmla="*/ 261 w 512"/>
                <a:gd name="T11" fmla="*/ 332 h 512"/>
                <a:gd name="T12" fmla="*/ 256 w 512"/>
                <a:gd name="T13" fmla="*/ 330 h 512"/>
                <a:gd name="T14" fmla="*/ 250 w 512"/>
                <a:gd name="T15" fmla="*/ 332 h 512"/>
                <a:gd name="T16" fmla="*/ 175 w 512"/>
                <a:gd name="T17" fmla="*/ 374 h 512"/>
                <a:gd name="T18" fmla="*/ 191 w 512"/>
                <a:gd name="T19" fmla="*/ 290 h 512"/>
                <a:gd name="T20" fmla="*/ 189 w 512"/>
                <a:gd name="T21" fmla="*/ 280 h 512"/>
                <a:gd name="T22" fmla="*/ 130 w 512"/>
                <a:gd name="T23" fmla="*/ 221 h 512"/>
                <a:gd name="T24" fmla="*/ 214 w 512"/>
                <a:gd name="T25" fmla="*/ 213 h 512"/>
                <a:gd name="T26" fmla="*/ 223 w 512"/>
                <a:gd name="T27" fmla="*/ 207 h 512"/>
                <a:gd name="T28" fmla="*/ 256 w 512"/>
                <a:gd name="T29" fmla="*/ 133 h 512"/>
                <a:gd name="T30" fmla="*/ 289 w 512"/>
                <a:gd name="T31" fmla="*/ 207 h 512"/>
                <a:gd name="T32" fmla="*/ 297 w 512"/>
                <a:gd name="T33" fmla="*/ 213 h 512"/>
                <a:gd name="T34" fmla="*/ 512 w 512"/>
                <a:gd name="T35" fmla="*/ 256 h 512"/>
                <a:gd name="T36" fmla="*/ 256 w 512"/>
                <a:gd name="T37" fmla="*/ 512 h 512"/>
                <a:gd name="T38" fmla="*/ 0 w 512"/>
                <a:gd name="T39" fmla="*/ 256 h 512"/>
                <a:gd name="T40" fmla="*/ 256 w 512"/>
                <a:gd name="T41" fmla="*/ 0 h 512"/>
                <a:gd name="T42" fmla="*/ 512 w 512"/>
                <a:gd name="T43" fmla="*/ 256 h 512"/>
                <a:gd name="T44" fmla="*/ 415 w 512"/>
                <a:gd name="T45" fmla="*/ 209 h 512"/>
                <a:gd name="T46" fmla="*/ 406 w 512"/>
                <a:gd name="T47" fmla="*/ 202 h 512"/>
                <a:gd name="T48" fmla="*/ 306 w 512"/>
                <a:gd name="T49" fmla="*/ 192 h 512"/>
                <a:gd name="T50" fmla="*/ 265 w 512"/>
                <a:gd name="T51" fmla="*/ 102 h 512"/>
                <a:gd name="T52" fmla="*/ 256 w 512"/>
                <a:gd name="T53" fmla="*/ 96 h 512"/>
                <a:gd name="T54" fmla="*/ 246 w 512"/>
                <a:gd name="T55" fmla="*/ 102 h 512"/>
                <a:gd name="T56" fmla="*/ 206 w 512"/>
                <a:gd name="T57" fmla="*/ 192 h 512"/>
                <a:gd name="T58" fmla="*/ 105 w 512"/>
                <a:gd name="T59" fmla="*/ 202 h 512"/>
                <a:gd name="T60" fmla="*/ 96 w 512"/>
                <a:gd name="T61" fmla="*/ 209 h 512"/>
                <a:gd name="T62" fmla="*/ 99 w 512"/>
                <a:gd name="T63" fmla="*/ 221 h 512"/>
                <a:gd name="T64" fmla="*/ 169 w 512"/>
                <a:gd name="T65" fmla="*/ 291 h 512"/>
                <a:gd name="T66" fmla="*/ 149 w 512"/>
                <a:gd name="T67" fmla="*/ 392 h 512"/>
                <a:gd name="T68" fmla="*/ 153 w 512"/>
                <a:gd name="T69" fmla="*/ 403 h 512"/>
                <a:gd name="T70" fmla="*/ 165 w 512"/>
                <a:gd name="T71" fmla="*/ 404 h 512"/>
                <a:gd name="T72" fmla="*/ 256 w 512"/>
                <a:gd name="T73" fmla="*/ 353 h 512"/>
                <a:gd name="T74" fmla="*/ 346 w 512"/>
                <a:gd name="T75" fmla="*/ 404 h 512"/>
                <a:gd name="T76" fmla="*/ 352 w 512"/>
                <a:gd name="T77" fmla="*/ 405 h 512"/>
                <a:gd name="T78" fmla="*/ 358 w 512"/>
                <a:gd name="T79" fmla="*/ 403 h 512"/>
                <a:gd name="T80" fmla="*/ 362 w 512"/>
                <a:gd name="T81" fmla="*/ 392 h 512"/>
                <a:gd name="T82" fmla="*/ 342 w 512"/>
                <a:gd name="T83" fmla="*/ 291 h 512"/>
                <a:gd name="T84" fmla="*/ 413 w 512"/>
                <a:gd name="T85" fmla="*/ 221 h 512"/>
                <a:gd name="T86" fmla="*/ 415 w 512"/>
                <a:gd name="T87" fmla="*/ 209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12" h="512">
                  <a:moveTo>
                    <a:pt x="297" y="213"/>
                  </a:moveTo>
                  <a:cubicBezTo>
                    <a:pt x="382" y="221"/>
                    <a:pt x="382" y="221"/>
                    <a:pt x="382" y="221"/>
                  </a:cubicBezTo>
                  <a:cubicBezTo>
                    <a:pt x="323" y="280"/>
                    <a:pt x="323" y="280"/>
                    <a:pt x="323" y="280"/>
                  </a:cubicBezTo>
                  <a:cubicBezTo>
                    <a:pt x="320" y="283"/>
                    <a:pt x="319" y="286"/>
                    <a:pt x="320" y="290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261" y="332"/>
                    <a:pt x="261" y="332"/>
                    <a:pt x="261" y="332"/>
                  </a:cubicBezTo>
                  <a:cubicBezTo>
                    <a:pt x="259" y="331"/>
                    <a:pt x="257" y="330"/>
                    <a:pt x="256" y="330"/>
                  </a:cubicBezTo>
                  <a:cubicBezTo>
                    <a:pt x="254" y="330"/>
                    <a:pt x="252" y="331"/>
                    <a:pt x="250" y="332"/>
                  </a:cubicBezTo>
                  <a:cubicBezTo>
                    <a:pt x="175" y="374"/>
                    <a:pt x="175" y="374"/>
                    <a:pt x="175" y="374"/>
                  </a:cubicBezTo>
                  <a:cubicBezTo>
                    <a:pt x="191" y="290"/>
                    <a:pt x="191" y="290"/>
                    <a:pt x="191" y="290"/>
                  </a:cubicBezTo>
                  <a:cubicBezTo>
                    <a:pt x="192" y="286"/>
                    <a:pt x="191" y="283"/>
                    <a:pt x="189" y="280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214" y="213"/>
                    <a:pt x="214" y="213"/>
                    <a:pt x="214" y="213"/>
                  </a:cubicBezTo>
                  <a:cubicBezTo>
                    <a:pt x="218" y="213"/>
                    <a:pt x="221" y="210"/>
                    <a:pt x="223" y="207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89" y="207"/>
                    <a:pt x="289" y="207"/>
                    <a:pt x="289" y="207"/>
                  </a:cubicBezTo>
                  <a:cubicBezTo>
                    <a:pt x="290" y="210"/>
                    <a:pt x="293" y="213"/>
                    <a:pt x="297" y="213"/>
                  </a:cubicBez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415" y="209"/>
                  </a:moveTo>
                  <a:cubicBezTo>
                    <a:pt x="414" y="206"/>
                    <a:pt x="410" y="203"/>
                    <a:pt x="406" y="202"/>
                  </a:cubicBezTo>
                  <a:cubicBezTo>
                    <a:pt x="306" y="192"/>
                    <a:pt x="306" y="192"/>
                    <a:pt x="306" y="192"/>
                  </a:cubicBezTo>
                  <a:cubicBezTo>
                    <a:pt x="265" y="102"/>
                    <a:pt x="265" y="102"/>
                    <a:pt x="265" y="102"/>
                  </a:cubicBezTo>
                  <a:cubicBezTo>
                    <a:pt x="264" y="98"/>
                    <a:pt x="260" y="96"/>
                    <a:pt x="256" y="96"/>
                  </a:cubicBezTo>
                  <a:cubicBezTo>
                    <a:pt x="251" y="96"/>
                    <a:pt x="248" y="98"/>
                    <a:pt x="246" y="102"/>
                  </a:cubicBezTo>
                  <a:cubicBezTo>
                    <a:pt x="206" y="192"/>
                    <a:pt x="206" y="192"/>
                    <a:pt x="206" y="192"/>
                  </a:cubicBezTo>
                  <a:cubicBezTo>
                    <a:pt x="105" y="202"/>
                    <a:pt x="105" y="202"/>
                    <a:pt x="105" y="202"/>
                  </a:cubicBezTo>
                  <a:cubicBezTo>
                    <a:pt x="101" y="203"/>
                    <a:pt x="98" y="206"/>
                    <a:pt x="96" y="209"/>
                  </a:cubicBezTo>
                  <a:cubicBezTo>
                    <a:pt x="95" y="213"/>
                    <a:pt x="96" y="218"/>
                    <a:pt x="99" y="221"/>
                  </a:cubicBezTo>
                  <a:cubicBezTo>
                    <a:pt x="169" y="291"/>
                    <a:pt x="169" y="291"/>
                    <a:pt x="169" y="291"/>
                  </a:cubicBezTo>
                  <a:cubicBezTo>
                    <a:pt x="149" y="392"/>
                    <a:pt x="149" y="392"/>
                    <a:pt x="149" y="392"/>
                  </a:cubicBezTo>
                  <a:cubicBezTo>
                    <a:pt x="148" y="396"/>
                    <a:pt x="150" y="401"/>
                    <a:pt x="153" y="403"/>
                  </a:cubicBezTo>
                  <a:cubicBezTo>
                    <a:pt x="157" y="405"/>
                    <a:pt x="161" y="406"/>
                    <a:pt x="165" y="404"/>
                  </a:cubicBezTo>
                  <a:cubicBezTo>
                    <a:pt x="256" y="353"/>
                    <a:pt x="256" y="353"/>
                    <a:pt x="256" y="353"/>
                  </a:cubicBezTo>
                  <a:cubicBezTo>
                    <a:pt x="346" y="404"/>
                    <a:pt x="346" y="404"/>
                    <a:pt x="346" y="404"/>
                  </a:cubicBezTo>
                  <a:cubicBezTo>
                    <a:pt x="348" y="405"/>
                    <a:pt x="350" y="405"/>
                    <a:pt x="352" y="405"/>
                  </a:cubicBezTo>
                  <a:cubicBezTo>
                    <a:pt x="354" y="405"/>
                    <a:pt x="356" y="404"/>
                    <a:pt x="358" y="403"/>
                  </a:cubicBezTo>
                  <a:cubicBezTo>
                    <a:pt x="361" y="401"/>
                    <a:pt x="363" y="396"/>
                    <a:pt x="362" y="392"/>
                  </a:cubicBezTo>
                  <a:cubicBezTo>
                    <a:pt x="342" y="291"/>
                    <a:pt x="342" y="291"/>
                    <a:pt x="342" y="291"/>
                  </a:cubicBezTo>
                  <a:cubicBezTo>
                    <a:pt x="413" y="221"/>
                    <a:pt x="413" y="221"/>
                    <a:pt x="413" y="221"/>
                  </a:cubicBezTo>
                  <a:cubicBezTo>
                    <a:pt x="415" y="218"/>
                    <a:pt x="416" y="213"/>
                    <a:pt x="415" y="20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1200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632954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Adequacy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68989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Affordability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030456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Availability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505024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Accessibility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14908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Appropriateness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0504185" y="6778848"/>
              <a:ext cx="3304962" cy="323992"/>
              <a:chOff x="10509196" y="6978625"/>
              <a:chExt cx="3304962" cy="323992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10797983" y="6978625"/>
                <a:ext cx="124373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sz="1000" dirty="0">
                    <a:solidFill>
                      <a:srgbClr val="313131"/>
                    </a:solidFill>
                  </a:rPr>
                  <a:t>Long Term measures</a:t>
                </a:r>
                <a:endParaRPr lang="en-IN" sz="1000" dirty="0">
                  <a:solidFill>
                    <a:srgbClr val="313131"/>
                  </a:solidFill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12249087" y="6994840"/>
                <a:ext cx="15650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sz="1000" dirty="0">
                    <a:solidFill>
                      <a:srgbClr val="313131"/>
                    </a:solidFill>
                  </a:rPr>
                  <a:t>Short &amp; Medium term measures</a:t>
                </a:r>
                <a:endParaRPr lang="en-IN" sz="1000" dirty="0">
                  <a:solidFill>
                    <a:srgbClr val="313131"/>
                  </a:solidFill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gray">
              <a:xfrm>
                <a:off x="10509196" y="7040728"/>
                <a:ext cx="180000" cy="1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17388" tIns="58694" rIns="117388" bIns="58694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1565035">
                  <a:defRPr/>
                </a:pPr>
                <a:endParaRPr lang="en-IN" sz="1400" b="1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88" name="Rectangle 87"/>
              <p:cNvSpPr/>
              <p:nvPr/>
            </p:nvSpPr>
            <p:spPr bwMode="gray">
              <a:xfrm>
                <a:off x="12001077" y="7040728"/>
                <a:ext cx="180000" cy="180000"/>
              </a:xfrm>
              <a:prstGeom prst="rect">
                <a:avLst/>
              </a:prstGeom>
              <a:solidFill>
                <a:srgbClr val="43B02A"/>
              </a:solidFill>
              <a:ln>
                <a:noFill/>
              </a:ln>
            </p:spPr>
            <p:txBody>
              <a:bodyPr vert="horz" wrap="square" lIns="117388" tIns="58694" rIns="117388" bIns="58694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1565035">
                  <a:defRPr/>
                </a:pPr>
                <a:endParaRPr lang="en-IN" sz="1400" b="1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 bwMode="gray">
            <a:xfrm>
              <a:off x="233680" y="6722628"/>
              <a:ext cx="7939867" cy="480812"/>
            </a:xfrm>
            <a:prstGeom prst="rect">
              <a:avLst/>
            </a:prstGeom>
            <a:noFill/>
            <a:ln w="19050" algn="ctr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 bwMode="gray">
            <a:xfrm>
              <a:off x="8142650" y="6722628"/>
              <a:ext cx="1935311" cy="4808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 algn="ctr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 A Framework</a:t>
              </a:r>
              <a:endPara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4" name="Group 447"/>
          <p:cNvGrpSpPr>
            <a:grpSpLocks/>
          </p:cNvGrpSpPr>
          <p:nvPr/>
        </p:nvGrpSpPr>
        <p:grpSpPr bwMode="auto">
          <a:xfrm>
            <a:off x="4267835" y="1852294"/>
            <a:ext cx="360000" cy="360000"/>
            <a:chOff x="5601" y="1820"/>
            <a:chExt cx="340" cy="340"/>
          </a:xfrm>
          <a:solidFill>
            <a:schemeClr val="accent5"/>
          </a:solidFill>
        </p:grpSpPr>
        <p:sp>
          <p:nvSpPr>
            <p:cNvPr id="75" name="Freeform 448"/>
            <p:cNvSpPr>
              <a:spLocks noEditPoints="1"/>
            </p:cNvSpPr>
            <p:nvPr/>
          </p:nvSpPr>
          <p:spPr bwMode="auto">
            <a:xfrm>
              <a:off x="5679" y="1948"/>
              <a:ext cx="182" cy="85"/>
            </a:xfrm>
            <a:custGeom>
              <a:avLst/>
              <a:gdLst>
                <a:gd name="T0" fmla="*/ 131 w 275"/>
                <a:gd name="T1" fmla="*/ 43 h 128"/>
                <a:gd name="T2" fmla="*/ 122 w 275"/>
                <a:gd name="T3" fmla="*/ 37 h 128"/>
                <a:gd name="T4" fmla="*/ 64 w 275"/>
                <a:gd name="T5" fmla="*/ 0 h 128"/>
                <a:gd name="T6" fmla="*/ 0 w 275"/>
                <a:gd name="T7" fmla="*/ 64 h 128"/>
                <a:gd name="T8" fmla="*/ 64 w 275"/>
                <a:gd name="T9" fmla="*/ 128 h 128"/>
                <a:gd name="T10" fmla="*/ 122 w 275"/>
                <a:gd name="T11" fmla="*/ 92 h 128"/>
                <a:gd name="T12" fmla="*/ 131 w 275"/>
                <a:gd name="T13" fmla="*/ 86 h 128"/>
                <a:gd name="T14" fmla="*/ 177 w 275"/>
                <a:gd name="T15" fmla="*/ 86 h 128"/>
                <a:gd name="T16" fmla="*/ 195 w 275"/>
                <a:gd name="T17" fmla="*/ 67 h 128"/>
                <a:gd name="T18" fmla="*/ 210 w 275"/>
                <a:gd name="T19" fmla="*/ 67 h 128"/>
                <a:gd name="T20" fmla="*/ 224 w 275"/>
                <a:gd name="T21" fmla="*/ 81 h 128"/>
                <a:gd name="T22" fmla="*/ 238 w 275"/>
                <a:gd name="T23" fmla="*/ 67 h 128"/>
                <a:gd name="T24" fmla="*/ 253 w 275"/>
                <a:gd name="T25" fmla="*/ 67 h 128"/>
                <a:gd name="T26" fmla="*/ 265 w 275"/>
                <a:gd name="T27" fmla="*/ 79 h 128"/>
                <a:gd name="T28" fmla="*/ 275 w 275"/>
                <a:gd name="T29" fmla="*/ 64 h 128"/>
                <a:gd name="T30" fmla="*/ 261 w 275"/>
                <a:gd name="T31" fmla="*/ 43 h 128"/>
                <a:gd name="T32" fmla="*/ 131 w 275"/>
                <a:gd name="T33" fmla="*/ 43 h 128"/>
                <a:gd name="T34" fmla="*/ 53 w 275"/>
                <a:gd name="T35" fmla="*/ 85 h 128"/>
                <a:gd name="T36" fmla="*/ 32 w 275"/>
                <a:gd name="T37" fmla="*/ 64 h 128"/>
                <a:gd name="T38" fmla="*/ 53 w 275"/>
                <a:gd name="T39" fmla="*/ 43 h 128"/>
                <a:gd name="T40" fmla="*/ 75 w 275"/>
                <a:gd name="T41" fmla="*/ 64 h 128"/>
                <a:gd name="T42" fmla="*/ 53 w 275"/>
                <a:gd name="T43" fmla="*/ 8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5" h="128">
                  <a:moveTo>
                    <a:pt x="131" y="43"/>
                  </a:moveTo>
                  <a:cubicBezTo>
                    <a:pt x="127" y="43"/>
                    <a:pt x="124" y="41"/>
                    <a:pt x="122" y="37"/>
                  </a:cubicBezTo>
                  <a:cubicBezTo>
                    <a:pt x="111" y="15"/>
                    <a:pt x="89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89" y="128"/>
                    <a:pt x="111" y="114"/>
                    <a:pt x="122" y="92"/>
                  </a:cubicBezTo>
                  <a:cubicBezTo>
                    <a:pt x="124" y="88"/>
                    <a:pt x="127" y="86"/>
                    <a:pt x="131" y="86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95" y="67"/>
                    <a:pt x="195" y="67"/>
                    <a:pt x="195" y="67"/>
                  </a:cubicBezTo>
                  <a:cubicBezTo>
                    <a:pt x="199" y="63"/>
                    <a:pt x="206" y="63"/>
                    <a:pt x="210" y="67"/>
                  </a:cubicBezTo>
                  <a:cubicBezTo>
                    <a:pt x="224" y="81"/>
                    <a:pt x="224" y="81"/>
                    <a:pt x="224" y="81"/>
                  </a:cubicBezTo>
                  <a:cubicBezTo>
                    <a:pt x="238" y="67"/>
                    <a:pt x="238" y="67"/>
                    <a:pt x="238" y="67"/>
                  </a:cubicBezTo>
                  <a:cubicBezTo>
                    <a:pt x="242" y="63"/>
                    <a:pt x="249" y="63"/>
                    <a:pt x="253" y="67"/>
                  </a:cubicBezTo>
                  <a:cubicBezTo>
                    <a:pt x="265" y="79"/>
                    <a:pt x="265" y="79"/>
                    <a:pt x="265" y="79"/>
                  </a:cubicBezTo>
                  <a:cubicBezTo>
                    <a:pt x="275" y="64"/>
                    <a:pt x="275" y="64"/>
                    <a:pt x="275" y="64"/>
                  </a:cubicBezTo>
                  <a:cubicBezTo>
                    <a:pt x="261" y="43"/>
                    <a:pt x="261" y="43"/>
                    <a:pt x="261" y="43"/>
                  </a:cubicBezTo>
                  <a:lnTo>
                    <a:pt x="131" y="43"/>
                  </a:lnTo>
                  <a:close/>
                  <a:moveTo>
                    <a:pt x="53" y="85"/>
                  </a:moveTo>
                  <a:cubicBezTo>
                    <a:pt x="42" y="85"/>
                    <a:pt x="32" y="76"/>
                    <a:pt x="32" y="64"/>
                  </a:cubicBezTo>
                  <a:cubicBezTo>
                    <a:pt x="32" y="52"/>
                    <a:pt x="42" y="43"/>
                    <a:pt x="53" y="43"/>
                  </a:cubicBezTo>
                  <a:cubicBezTo>
                    <a:pt x="65" y="43"/>
                    <a:pt x="75" y="52"/>
                    <a:pt x="75" y="64"/>
                  </a:cubicBezTo>
                  <a:cubicBezTo>
                    <a:pt x="75" y="76"/>
                    <a:pt x="65" y="85"/>
                    <a:pt x="53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/>
            </a:p>
          </p:txBody>
        </p:sp>
        <p:sp>
          <p:nvSpPr>
            <p:cNvPr id="76" name="Freeform 449"/>
            <p:cNvSpPr>
              <a:spLocks noEditPoints="1"/>
            </p:cNvSpPr>
            <p:nvPr/>
          </p:nvSpPr>
          <p:spPr bwMode="auto">
            <a:xfrm>
              <a:off x="5601" y="1820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14 w 512"/>
                <a:gd name="T11" fmla="*/ 262 h 512"/>
                <a:gd name="T12" fmla="*/ 393 w 512"/>
                <a:gd name="T13" fmla="*/ 294 h 512"/>
                <a:gd name="T14" fmla="*/ 385 w 512"/>
                <a:gd name="T15" fmla="*/ 299 h 512"/>
                <a:gd name="T16" fmla="*/ 376 w 512"/>
                <a:gd name="T17" fmla="*/ 296 h 512"/>
                <a:gd name="T18" fmla="*/ 362 w 512"/>
                <a:gd name="T19" fmla="*/ 282 h 512"/>
                <a:gd name="T20" fmla="*/ 349 w 512"/>
                <a:gd name="T21" fmla="*/ 296 h 512"/>
                <a:gd name="T22" fmla="*/ 333 w 512"/>
                <a:gd name="T23" fmla="*/ 296 h 512"/>
                <a:gd name="T24" fmla="*/ 320 w 512"/>
                <a:gd name="T25" fmla="*/ 282 h 512"/>
                <a:gd name="T26" fmla="*/ 306 w 512"/>
                <a:gd name="T27" fmla="*/ 296 h 512"/>
                <a:gd name="T28" fmla="*/ 298 w 512"/>
                <a:gd name="T29" fmla="*/ 299 h 512"/>
                <a:gd name="T30" fmla="*/ 255 w 512"/>
                <a:gd name="T31" fmla="*/ 299 h 512"/>
                <a:gd name="T32" fmla="*/ 181 w 512"/>
                <a:gd name="T33" fmla="*/ 342 h 512"/>
                <a:gd name="T34" fmla="*/ 96 w 512"/>
                <a:gd name="T35" fmla="*/ 256 h 512"/>
                <a:gd name="T36" fmla="*/ 181 w 512"/>
                <a:gd name="T37" fmla="*/ 171 h 512"/>
                <a:gd name="T38" fmla="*/ 255 w 512"/>
                <a:gd name="T39" fmla="*/ 214 h 512"/>
                <a:gd name="T40" fmla="*/ 384 w 512"/>
                <a:gd name="T41" fmla="*/ 214 h 512"/>
                <a:gd name="T42" fmla="*/ 393 w 512"/>
                <a:gd name="T43" fmla="*/ 218 h 512"/>
                <a:gd name="T44" fmla="*/ 414 w 512"/>
                <a:gd name="T45" fmla="*/ 250 h 512"/>
                <a:gd name="T46" fmla="*/ 414 w 512"/>
                <a:gd name="T47" fmla="*/ 26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5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  <a:moveTo>
                    <a:pt x="414" y="262"/>
                  </a:moveTo>
                  <a:cubicBezTo>
                    <a:pt x="393" y="294"/>
                    <a:pt x="393" y="294"/>
                    <a:pt x="393" y="294"/>
                  </a:cubicBezTo>
                  <a:cubicBezTo>
                    <a:pt x="391" y="297"/>
                    <a:pt x="388" y="298"/>
                    <a:pt x="385" y="299"/>
                  </a:cubicBezTo>
                  <a:cubicBezTo>
                    <a:pt x="381" y="299"/>
                    <a:pt x="378" y="298"/>
                    <a:pt x="376" y="296"/>
                  </a:cubicBezTo>
                  <a:cubicBezTo>
                    <a:pt x="362" y="282"/>
                    <a:pt x="362" y="282"/>
                    <a:pt x="362" y="282"/>
                  </a:cubicBezTo>
                  <a:cubicBezTo>
                    <a:pt x="349" y="296"/>
                    <a:pt x="349" y="296"/>
                    <a:pt x="349" y="296"/>
                  </a:cubicBezTo>
                  <a:cubicBezTo>
                    <a:pt x="344" y="300"/>
                    <a:pt x="338" y="300"/>
                    <a:pt x="333" y="296"/>
                  </a:cubicBezTo>
                  <a:cubicBezTo>
                    <a:pt x="320" y="282"/>
                    <a:pt x="320" y="282"/>
                    <a:pt x="320" y="282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4" y="298"/>
                    <a:pt x="301" y="299"/>
                    <a:pt x="298" y="299"/>
                  </a:cubicBezTo>
                  <a:cubicBezTo>
                    <a:pt x="255" y="299"/>
                    <a:pt x="255" y="299"/>
                    <a:pt x="255" y="299"/>
                  </a:cubicBezTo>
                  <a:cubicBezTo>
                    <a:pt x="240" y="325"/>
                    <a:pt x="211" y="342"/>
                    <a:pt x="181" y="342"/>
                  </a:cubicBezTo>
                  <a:cubicBezTo>
                    <a:pt x="134" y="342"/>
                    <a:pt x="96" y="303"/>
                    <a:pt x="96" y="256"/>
                  </a:cubicBezTo>
                  <a:cubicBezTo>
                    <a:pt x="96" y="209"/>
                    <a:pt x="134" y="171"/>
                    <a:pt x="181" y="171"/>
                  </a:cubicBezTo>
                  <a:cubicBezTo>
                    <a:pt x="211" y="171"/>
                    <a:pt x="240" y="187"/>
                    <a:pt x="255" y="214"/>
                  </a:cubicBezTo>
                  <a:cubicBezTo>
                    <a:pt x="384" y="214"/>
                    <a:pt x="384" y="214"/>
                    <a:pt x="384" y="214"/>
                  </a:cubicBezTo>
                  <a:cubicBezTo>
                    <a:pt x="387" y="214"/>
                    <a:pt x="391" y="215"/>
                    <a:pt x="393" y="218"/>
                  </a:cubicBezTo>
                  <a:cubicBezTo>
                    <a:pt x="414" y="250"/>
                    <a:pt x="414" y="250"/>
                    <a:pt x="414" y="250"/>
                  </a:cubicBezTo>
                  <a:cubicBezTo>
                    <a:pt x="416" y="254"/>
                    <a:pt x="416" y="258"/>
                    <a:pt x="414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/>
            </a:p>
          </p:txBody>
        </p:sp>
      </p:grpSp>
      <p:sp>
        <p:nvSpPr>
          <p:cNvPr id="77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6508335" y="1885427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78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8764150" y="1866142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80" name="Freeform 375"/>
          <p:cNvSpPr>
            <a:spLocks noEditPoints="1"/>
          </p:cNvSpPr>
          <p:nvPr/>
        </p:nvSpPr>
        <p:spPr bwMode="auto">
          <a:xfrm>
            <a:off x="10989632" y="1883542"/>
            <a:ext cx="360000" cy="360000"/>
          </a:xfrm>
          <a:custGeom>
            <a:avLst/>
            <a:gdLst>
              <a:gd name="T0" fmla="*/ 297 w 512"/>
              <a:gd name="T1" fmla="*/ 213 h 512"/>
              <a:gd name="T2" fmla="*/ 382 w 512"/>
              <a:gd name="T3" fmla="*/ 221 h 512"/>
              <a:gd name="T4" fmla="*/ 323 w 512"/>
              <a:gd name="T5" fmla="*/ 280 h 512"/>
              <a:gd name="T6" fmla="*/ 320 w 512"/>
              <a:gd name="T7" fmla="*/ 290 h 512"/>
              <a:gd name="T8" fmla="*/ 337 w 512"/>
              <a:gd name="T9" fmla="*/ 374 h 512"/>
              <a:gd name="T10" fmla="*/ 261 w 512"/>
              <a:gd name="T11" fmla="*/ 332 h 512"/>
              <a:gd name="T12" fmla="*/ 256 w 512"/>
              <a:gd name="T13" fmla="*/ 330 h 512"/>
              <a:gd name="T14" fmla="*/ 250 w 512"/>
              <a:gd name="T15" fmla="*/ 332 h 512"/>
              <a:gd name="T16" fmla="*/ 175 w 512"/>
              <a:gd name="T17" fmla="*/ 374 h 512"/>
              <a:gd name="T18" fmla="*/ 191 w 512"/>
              <a:gd name="T19" fmla="*/ 290 h 512"/>
              <a:gd name="T20" fmla="*/ 189 w 512"/>
              <a:gd name="T21" fmla="*/ 280 h 512"/>
              <a:gd name="T22" fmla="*/ 130 w 512"/>
              <a:gd name="T23" fmla="*/ 221 h 512"/>
              <a:gd name="T24" fmla="*/ 214 w 512"/>
              <a:gd name="T25" fmla="*/ 213 h 512"/>
              <a:gd name="T26" fmla="*/ 223 w 512"/>
              <a:gd name="T27" fmla="*/ 207 h 512"/>
              <a:gd name="T28" fmla="*/ 256 w 512"/>
              <a:gd name="T29" fmla="*/ 133 h 512"/>
              <a:gd name="T30" fmla="*/ 289 w 512"/>
              <a:gd name="T31" fmla="*/ 207 h 512"/>
              <a:gd name="T32" fmla="*/ 297 w 512"/>
              <a:gd name="T33" fmla="*/ 213 h 512"/>
              <a:gd name="T34" fmla="*/ 512 w 512"/>
              <a:gd name="T35" fmla="*/ 256 h 512"/>
              <a:gd name="T36" fmla="*/ 256 w 512"/>
              <a:gd name="T37" fmla="*/ 512 h 512"/>
              <a:gd name="T38" fmla="*/ 0 w 512"/>
              <a:gd name="T39" fmla="*/ 256 h 512"/>
              <a:gd name="T40" fmla="*/ 256 w 512"/>
              <a:gd name="T41" fmla="*/ 0 h 512"/>
              <a:gd name="T42" fmla="*/ 512 w 512"/>
              <a:gd name="T43" fmla="*/ 256 h 512"/>
              <a:gd name="T44" fmla="*/ 415 w 512"/>
              <a:gd name="T45" fmla="*/ 209 h 512"/>
              <a:gd name="T46" fmla="*/ 406 w 512"/>
              <a:gd name="T47" fmla="*/ 202 h 512"/>
              <a:gd name="T48" fmla="*/ 306 w 512"/>
              <a:gd name="T49" fmla="*/ 192 h 512"/>
              <a:gd name="T50" fmla="*/ 265 w 512"/>
              <a:gd name="T51" fmla="*/ 102 h 512"/>
              <a:gd name="T52" fmla="*/ 256 w 512"/>
              <a:gd name="T53" fmla="*/ 96 h 512"/>
              <a:gd name="T54" fmla="*/ 246 w 512"/>
              <a:gd name="T55" fmla="*/ 102 h 512"/>
              <a:gd name="T56" fmla="*/ 206 w 512"/>
              <a:gd name="T57" fmla="*/ 192 h 512"/>
              <a:gd name="T58" fmla="*/ 105 w 512"/>
              <a:gd name="T59" fmla="*/ 202 h 512"/>
              <a:gd name="T60" fmla="*/ 96 w 512"/>
              <a:gd name="T61" fmla="*/ 209 h 512"/>
              <a:gd name="T62" fmla="*/ 99 w 512"/>
              <a:gd name="T63" fmla="*/ 221 h 512"/>
              <a:gd name="T64" fmla="*/ 169 w 512"/>
              <a:gd name="T65" fmla="*/ 291 h 512"/>
              <a:gd name="T66" fmla="*/ 149 w 512"/>
              <a:gd name="T67" fmla="*/ 392 h 512"/>
              <a:gd name="T68" fmla="*/ 153 w 512"/>
              <a:gd name="T69" fmla="*/ 403 h 512"/>
              <a:gd name="T70" fmla="*/ 165 w 512"/>
              <a:gd name="T71" fmla="*/ 404 h 512"/>
              <a:gd name="T72" fmla="*/ 256 w 512"/>
              <a:gd name="T73" fmla="*/ 353 h 512"/>
              <a:gd name="T74" fmla="*/ 346 w 512"/>
              <a:gd name="T75" fmla="*/ 404 h 512"/>
              <a:gd name="T76" fmla="*/ 352 w 512"/>
              <a:gd name="T77" fmla="*/ 405 h 512"/>
              <a:gd name="T78" fmla="*/ 358 w 512"/>
              <a:gd name="T79" fmla="*/ 403 h 512"/>
              <a:gd name="T80" fmla="*/ 362 w 512"/>
              <a:gd name="T81" fmla="*/ 392 h 512"/>
              <a:gd name="T82" fmla="*/ 342 w 512"/>
              <a:gd name="T83" fmla="*/ 291 h 512"/>
              <a:gd name="T84" fmla="*/ 413 w 512"/>
              <a:gd name="T85" fmla="*/ 221 h 512"/>
              <a:gd name="T86" fmla="*/ 415 w 512"/>
              <a:gd name="T87" fmla="*/ 20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297" y="213"/>
                </a:moveTo>
                <a:cubicBezTo>
                  <a:pt x="382" y="221"/>
                  <a:pt x="382" y="221"/>
                  <a:pt x="382" y="221"/>
                </a:cubicBezTo>
                <a:cubicBezTo>
                  <a:pt x="323" y="280"/>
                  <a:pt x="323" y="280"/>
                  <a:pt x="323" y="280"/>
                </a:cubicBezTo>
                <a:cubicBezTo>
                  <a:pt x="320" y="283"/>
                  <a:pt x="319" y="286"/>
                  <a:pt x="320" y="290"/>
                </a:cubicBezTo>
                <a:cubicBezTo>
                  <a:pt x="337" y="374"/>
                  <a:pt x="337" y="374"/>
                  <a:pt x="337" y="374"/>
                </a:cubicBezTo>
                <a:cubicBezTo>
                  <a:pt x="261" y="332"/>
                  <a:pt x="261" y="332"/>
                  <a:pt x="261" y="332"/>
                </a:cubicBezTo>
                <a:cubicBezTo>
                  <a:pt x="259" y="331"/>
                  <a:pt x="257" y="330"/>
                  <a:pt x="256" y="330"/>
                </a:cubicBezTo>
                <a:cubicBezTo>
                  <a:pt x="254" y="330"/>
                  <a:pt x="252" y="331"/>
                  <a:pt x="250" y="332"/>
                </a:cubicBezTo>
                <a:cubicBezTo>
                  <a:pt x="175" y="374"/>
                  <a:pt x="175" y="374"/>
                  <a:pt x="175" y="374"/>
                </a:cubicBezTo>
                <a:cubicBezTo>
                  <a:pt x="191" y="290"/>
                  <a:pt x="191" y="290"/>
                  <a:pt x="191" y="290"/>
                </a:cubicBezTo>
                <a:cubicBezTo>
                  <a:pt x="192" y="286"/>
                  <a:pt x="191" y="283"/>
                  <a:pt x="189" y="280"/>
                </a:cubicBezTo>
                <a:cubicBezTo>
                  <a:pt x="130" y="221"/>
                  <a:pt x="130" y="221"/>
                  <a:pt x="130" y="221"/>
                </a:cubicBezTo>
                <a:cubicBezTo>
                  <a:pt x="214" y="213"/>
                  <a:pt x="214" y="213"/>
                  <a:pt x="214" y="213"/>
                </a:cubicBezTo>
                <a:cubicBezTo>
                  <a:pt x="218" y="213"/>
                  <a:pt x="221" y="210"/>
                  <a:pt x="223" y="207"/>
                </a:cubicBezTo>
                <a:cubicBezTo>
                  <a:pt x="256" y="133"/>
                  <a:pt x="256" y="133"/>
                  <a:pt x="256" y="133"/>
                </a:cubicBezTo>
                <a:cubicBezTo>
                  <a:pt x="289" y="207"/>
                  <a:pt x="289" y="207"/>
                  <a:pt x="289" y="207"/>
                </a:cubicBezTo>
                <a:cubicBezTo>
                  <a:pt x="290" y="210"/>
                  <a:pt x="293" y="213"/>
                  <a:pt x="297" y="213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5" y="209"/>
                </a:moveTo>
                <a:cubicBezTo>
                  <a:pt x="414" y="206"/>
                  <a:pt x="410" y="203"/>
                  <a:pt x="406" y="202"/>
                </a:cubicBezTo>
                <a:cubicBezTo>
                  <a:pt x="306" y="192"/>
                  <a:pt x="306" y="192"/>
                  <a:pt x="306" y="192"/>
                </a:cubicBezTo>
                <a:cubicBezTo>
                  <a:pt x="265" y="102"/>
                  <a:pt x="265" y="102"/>
                  <a:pt x="265" y="102"/>
                </a:cubicBezTo>
                <a:cubicBezTo>
                  <a:pt x="264" y="98"/>
                  <a:pt x="260" y="96"/>
                  <a:pt x="256" y="96"/>
                </a:cubicBezTo>
                <a:cubicBezTo>
                  <a:pt x="251" y="96"/>
                  <a:pt x="248" y="98"/>
                  <a:pt x="246" y="102"/>
                </a:cubicBezTo>
                <a:cubicBezTo>
                  <a:pt x="206" y="192"/>
                  <a:pt x="206" y="192"/>
                  <a:pt x="206" y="192"/>
                </a:cubicBezTo>
                <a:cubicBezTo>
                  <a:pt x="105" y="202"/>
                  <a:pt x="105" y="202"/>
                  <a:pt x="105" y="202"/>
                </a:cubicBezTo>
                <a:cubicBezTo>
                  <a:pt x="101" y="203"/>
                  <a:pt x="98" y="206"/>
                  <a:pt x="96" y="209"/>
                </a:cubicBezTo>
                <a:cubicBezTo>
                  <a:pt x="95" y="213"/>
                  <a:pt x="96" y="218"/>
                  <a:pt x="99" y="221"/>
                </a:cubicBezTo>
                <a:cubicBezTo>
                  <a:pt x="169" y="291"/>
                  <a:pt x="169" y="291"/>
                  <a:pt x="169" y="291"/>
                </a:cubicBezTo>
                <a:cubicBezTo>
                  <a:pt x="149" y="392"/>
                  <a:pt x="149" y="392"/>
                  <a:pt x="149" y="392"/>
                </a:cubicBezTo>
                <a:cubicBezTo>
                  <a:pt x="148" y="396"/>
                  <a:pt x="150" y="401"/>
                  <a:pt x="153" y="403"/>
                </a:cubicBezTo>
                <a:cubicBezTo>
                  <a:pt x="157" y="405"/>
                  <a:pt x="161" y="406"/>
                  <a:pt x="165" y="404"/>
                </a:cubicBezTo>
                <a:cubicBezTo>
                  <a:pt x="256" y="353"/>
                  <a:pt x="256" y="353"/>
                  <a:pt x="256" y="353"/>
                </a:cubicBezTo>
                <a:cubicBezTo>
                  <a:pt x="346" y="404"/>
                  <a:pt x="346" y="404"/>
                  <a:pt x="346" y="404"/>
                </a:cubicBezTo>
                <a:cubicBezTo>
                  <a:pt x="348" y="405"/>
                  <a:pt x="350" y="405"/>
                  <a:pt x="352" y="405"/>
                </a:cubicBezTo>
                <a:cubicBezTo>
                  <a:pt x="354" y="405"/>
                  <a:pt x="356" y="404"/>
                  <a:pt x="358" y="403"/>
                </a:cubicBezTo>
                <a:cubicBezTo>
                  <a:pt x="361" y="401"/>
                  <a:pt x="363" y="396"/>
                  <a:pt x="362" y="392"/>
                </a:cubicBezTo>
                <a:cubicBezTo>
                  <a:pt x="342" y="291"/>
                  <a:pt x="342" y="291"/>
                  <a:pt x="342" y="291"/>
                </a:cubicBezTo>
                <a:cubicBezTo>
                  <a:pt x="413" y="221"/>
                  <a:pt x="413" y="221"/>
                  <a:pt x="413" y="221"/>
                </a:cubicBezTo>
                <a:cubicBezTo>
                  <a:pt x="415" y="218"/>
                  <a:pt x="416" y="213"/>
                  <a:pt x="415" y="2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1200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81" name="Freeform 196"/>
          <p:cNvSpPr>
            <a:spLocks noEditPoints="1"/>
          </p:cNvSpPr>
          <p:nvPr/>
        </p:nvSpPr>
        <p:spPr bwMode="auto">
          <a:xfrm>
            <a:off x="4350423" y="4195398"/>
            <a:ext cx="360000" cy="347483"/>
          </a:xfrm>
          <a:custGeom>
            <a:avLst/>
            <a:gdLst>
              <a:gd name="T0" fmla="*/ 181 w 512"/>
              <a:gd name="T1" fmla="*/ 181 h 512"/>
              <a:gd name="T2" fmla="*/ 160 w 512"/>
              <a:gd name="T3" fmla="*/ 202 h 512"/>
              <a:gd name="T4" fmla="*/ 138 w 512"/>
              <a:gd name="T5" fmla="*/ 181 h 512"/>
              <a:gd name="T6" fmla="*/ 160 w 512"/>
              <a:gd name="T7" fmla="*/ 160 h 512"/>
              <a:gd name="T8" fmla="*/ 181 w 512"/>
              <a:gd name="T9" fmla="*/ 181 h 512"/>
              <a:gd name="T10" fmla="*/ 256 w 512"/>
              <a:gd name="T11" fmla="*/ 309 h 512"/>
              <a:gd name="T12" fmla="*/ 234 w 512"/>
              <a:gd name="T13" fmla="*/ 330 h 512"/>
              <a:gd name="T14" fmla="*/ 256 w 512"/>
              <a:gd name="T15" fmla="*/ 352 h 512"/>
              <a:gd name="T16" fmla="*/ 277 w 512"/>
              <a:gd name="T17" fmla="*/ 330 h 512"/>
              <a:gd name="T18" fmla="*/ 256 w 512"/>
              <a:gd name="T19" fmla="*/ 309 h 512"/>
              <a:gd name="T20" fmla="*/ 352 w 512"/>
              <a:gd name="T21" fmla="*/ 213 h 512"/>
              <a:gd name="T22" fmla="*/ 330 w 512"/>
              <a:gd name="T23" fmla="*/ 234 h 512"/>
              <a:gd name="T24" fmla="*/ 352 w 512"/>
              <a:gd name="T25" fmla="*/ 256 h 512"/>
              <a:gd name="T26" fmla="*/ 373 w 512"/>
              <a:gd name="T27" fmla="*/ 234 h 512"/>
              <a:gd name="T28" fmla="*/ 352 w 512"/>
              <a:gd name="T29" fmla="*/ 213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202 w 512"/>
              <a:gd name="T41" fmla="*/ 181 h 512"/>
              <a:gd name="T42" fmla="*/ 170 w 512"/>
              <a:gd name="T43" fmla="*/ 140 h 512"/>
              <a:gd name="T44" fmla="*/ 170 w 512"/>
              <a:gd name="T45" fmla="*/ 106 h 512"/>
              <a:gd name="T46" fmla="*/ 160 w 512"/>
              <a:gd name="T47" fmla="*/ 96 h 512"/>
              <a:gd name="T48" fmla="*/ 149 w 512"/>
              <a:gd name="T49" fmla="*/ 106 h 512"/>
              <a:gd name="T50" fmla="*/ 149 w 512"/>
              <a:gd name="T51" fmla="*/ 140 h 512"/>
              <a:gd name="T52" fmla="*/ 117 w 512"/>
              <a:gd name="T53" fmla="*/ 181 h 512"/>
              <a:gd name="T54" fmla="*/ 149 w 512"/>
              <a:gd name="T55" fmla="*/ 222 h 512"/>
              <a:gd name="T56" fmla="*/ 149 w 512"/>
              <a:gd name="T57" fmla="*/ 405 h 512"/>
              <a:gd name="T58" fmla="*/ 160 w 512"/>
              <a:gd name="T59" fmla="*/ 416 h 512"/>
              <a:gd name="T60" fmla="*/ 170 w 512"/>
              <a:gd name="T61" fmla="*/ 405 h 512"/>
              <a:gd name="T62" fmla="*/ 170 w 512"/>
              <a:gd name="T63" fmla="*/ 222 h 512"/>
              <a:gd name="T64" fmla="*/ 202 w 512"/>
              <a:gd name="T65" fmla="*/ 181 h 512"/>
              <a:gd name="T66" fmla="*/ 298 w 512"/>
              <a:gd name="T67" fmla="*/ 330 h 512"/>
              <a:gd name="T68" fmla="*/ 266 w 512"/>
              <a:gd name="T69" fmla="*/ 289 h 512"/>
              <a:gd name="T70" fmla="*/ 266 w 512"/>
              <a:gd name="T71" fmla="*/ 106 h 512"/>
              <a:gd name="T72" fmla="*/ 256 w 512"/>
              <a:gd name="T73" fmla="*/ 96 h 512"/>
              <a:gd name="T74" fmla="*/ 245 w 512"/>
              <a:gd name="T75" fmla="*/ 106 h 512"/>
              <a:gd name="T76" fmla="*/ 245 w 512"/>
              <a:gd name="T77" fmla="*/ 289 h 512"/>
              <a:gd name="T78" fmla="*/ 213 w 512"/>
              <a:gd name="T79" fmla="*/ 330 h 512"/>
              <a:gd name="T80" fmla="*/ 245 w 512"/>
              <a:gd name="T81" fmla="*/ 371 h 512"/>
              <a:gd name="T82" fmla="*/ 245 w 512"/>
              <a:gd name="T83" fmla="*/ 405 h 512"/>
              <a:gd name="T84" fmla="*/ 256 w 512"/>
              <a:gd name="T85" fmla="*/ 416 h 512"/>
              <a:gd name="T86" fmla="*/ 266 w 512"/>
              <a:gd name="T87" fmla="*/ 405 h 512"/>
              <a:gd name="T88" fmla="*/ 266 w 512"/>
              <a:gd name="T89" fmla="*/ 371 h 512"/>
              <a:gd name="T90" fmla="*/ 298 w 512"/>
              <a:gd name="T91" fmla="*/ 330 h 512"/>
              <a:gd name="T92" fmla="*/ 394 w 512"/>
              <a:gd name="T93" fmla="*/ 234 h 512"/>
              <a:gd name="T94" fmla="*/ 362 w 512"/>
              <a:gd name="T95" fmla="*/ 193 h 512"/>
              <a:gd name="T96" fmla="*/ 362 w 512"/>
              <a:gd name="T97" fmla="*/ 106 h 512"/>
              <a:gd name="T98" fmla="*/ 352 w 512"/>
              <a:gd name="T99" fmla="*/ 96 h 512"/>
              <a:gd name="T100" fmla="*/ 341 w 512"/>
              <a:gd name="T101" fmla="*/ 106 h 512"/>
              <a:gd name="T102" fmla="*/ 341 w 512"/>
              <a:gd name="T103" fmla="*/ 193 h 512"/>
              <a:gd name="T104" fmla="*/ 309 w 512"/>
              <a:gd name="T105" fmla="*/ 234 h 512"/>
              <a:gd name="T106" fmla="*/ 341 w 512"/>
              <a:gd name="T107" fmla="*/ 275 h 512"/>
              <a:gd name="T108" fmla="*/ 341 w 512"/>
              <a:gd name="T109" fmla="*/ 405 h 512"/>
              <a:gd name="T110" fmla="*/ 352 w 512"/>
              <a:gd name="T111" fmla="*/ 416 h 512"/>
              <a:gd name="T112" fmla="*/ 362 w 512"/>
              <a:gd name="T113" fmla="*/ 405 h 512"/>
              <a:gd name="T114" fmla="*/ 362 w 512"/>
              <a:gd name="T115" fmla="*/ 275 h 512"/>
              <a:gd name="T116" fmla="*/ 394 w 512"/>
              <a:gd name="T117" fmla="*/ 23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12" h="512">
                <a:moveTo>
                  <a:pt x="181" y="181"/>
                </a:moveTo>
                <a:cubicBezTo>
                  <a:pt x="181" y="193"/>
                  <a:pt x="171" y="202"/>
                  <a:pt x="160" y="202"/>
                </a:cubicBezTo>
                <a:cubicBezTo>
                  <a:pt x="148" y="202"/>
                  <a:pt x="138" y="193"/>
                  <a:pt x="138" y="181"/>
                </a:cubicBezTo>
                <a:cubicBezTo>
                  <a:pt x="138" y="169"/>
                  <a:pt x="148" y="160"/>
                  <a:pt x="160" y="160"/>
                </a:cubicBezTo>
                <a:cubicBezTo>
                  <a:pt x="171" y="160"/>
                  <a:pt x="181" y="169"/>
                  <a:pt x="181" y="181"/>
                </a:cubicBezTo>
                <a:close/>
                <a:moveTo>
                  <a:pt x="256" y="309"/>
                </a:moveTo>
                <a:cubicBezTo>
                  <a:pt x="244" y="309"/>
                  <a:pt x="234" y="319"/>
                  <a:pt x="234" y="330"/>
                </a:cubicBezTo>
                <a:cubicBezTo>
                  <a:pt x="234" y="342"/>
                  <a:pt x="244" y="352"/>
                  <a:pt x="256" y="352"/>
                </a:cubicBezTo>
                <a:cubicBezTo>
                  <a:pt x="267" y="352"/>
                  <a:pt x="277" y="342"/>
                  <a:pt x="277" y="330"/>
                </a:cubicBezTo>
                <a:cubicBezTo>
                  <a:pt x="277" y="319"/>
                  <a:pt x="267" y="309"/>
                  <a:pt x="256" y="309"/>
                </a:cubicBezTo>
                <a:close/>
                <a:moveTo>
                  <a:pt x="352" y="213"/>
                </a:moveTo>
                <a:cubicBezTo>
                  <a:pt x="340" y="213"/>
                  <a:pt x="330" y="223"/>
                  <a:pt x="330" y="234"/>
                </a:cubicBezTo>
                <a:cubicBezTo>
                  <a:pt x="330" y="246"/>
                  <a:pt x="340" y="256"/>
                  <a:pt x="352" y="256"/>
                </a:cubicBezTo>
                <a:cubicBezTo>
                  <a:pt x="363" y="256"/>
                  <a:pt x="373" y="246"/>
                  <a:pt x="373" y="234"/>
                </a:cubicBezTo>
                <a:cubicBezTo>
                  <a:pt x="373" y="223"/>
                  <a:pt x="363" y="213"/>
                  <a:pt x="352" y="213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02" y="181"/>
                </a:moveTo>
                <a:cubicBezTo>
                  <a:pt x="202" y="161"/>
                  <a:pt x="189" y="145"/>
                  <a:pt x="170" y="140"/>
                </a:cubicBezTo>
                <a:cubicBezTo>
                  <a:pt x="170" y="106"/>
                  <a:pt x="170" y="106"/>
                  <a:pt x="170" y="106"/>
                </a:cubicBezTo>
                <a:cubicBezTo>
                  <a:pt x="170" y="100"/>
                  <a:pt x="166" y="96"/>
                  <a:pt x="160" y="96"/>
                </a:cubicBezTo>
                <a:cubicBezTo>
                  <a:pt x="154" y="96"/>
                  <a:pt x="149" y="100"/>
                  <a:pt x="149" y="106"/>
                </a:cubicBezTo>
                <a:cubicBezTo>
                  <a:pt x="149" y="140"/>
                  <a:pt x="149" y="140"/>
                  <a:pt x="149" y="140"/>
                </a:cubicBezTo>
                <a:cubicBezTo>
                  <a:pt x="131" y="145"/>
                  <a:pt x="117" y="161"/>
                  <a:pt x="117" y="181"/>
                </a:cubicBezTo>
                <a:cubicBezTo>
                  <a:pt x="117" y="201"/>
                  <a:pt x="131" y="217"/>
                  <a:pt x="149" y="222"/>
                </a:cubicBezTo>
                <a:cubicBezTo>
                  <a:pt x="149" y="405"/>
                  <a:pt x="149" y="405"/>
                  <a:pt x="149" y="405"/>
                </a:cubicBezTo>
                <a:cubicBezTo>
                  <a:pt x="149" y="411"/>
                  <a:pt x="154" y="416"/>
                  <a:pt x="160" y="416"/>
                </a:cubicBezTo>
                <a:cubicBezTo>
                  <a:pt x="166" y="416"/>
                  <a:pt x="170" y="411"/>
                  <a:pt x="170" y="405"/>
                </a:cubicBezTo>
                <a:cubicBezTo>
                  <a:pt x="170" y="222"/>
                  <a:pt x="170" y="222"/>
                  <a:pt x="170" y="222"/>
                </a:cubicBezTo>
                <a:cubicBezTo>
                  <a:pt x="189" y="217"/>
                  <a:pt x="202" y="201"/>
                  <a:pt x="202" y="181"/>
                </a:cubicBezTo>
                <a:close/>
                <a:moveTo>
                  <a:pt x="298" y="330"/>
                </a:moveTo>
                <a:cubicBezTo>
                  <a:pt x="298" y="311"/>
                  <a:pt x="285" y="294"/>
                  <a:pt x="266" y="289"/>
                </a:cubicBezTo>
                <a:cubicBezTo>
                  <a:pt x="266" y="106"/>
                  <a:pt x="266" y="106"/>
                  <a:pt x="266" y="106"/>
                </a:cubicBezTo>
                <a:cubicBezTo>
                  <a:pt x="266" y="100"/>
                  <a:pt x="262" y="96"/>
                  <a:pt x="256" y="96"/>
                </a:cubicBezTo>
                <a:cubicBezTo>
                  <a:pt x="250" y="96"/>
                  <a:pt x="245" y="100"/>
                  <a:pt x="245" y="106"/>
                </a:cubicBezTo>
                <a:cubicBezTo>
                  <a:pt x="245" y="289"/>
                  <a:pt x="245" y="289"/>
                  <a:pt x="245" y="289"/>
                </a:cubicBezTo>
                <a:cubicBezTo>
                  <a:pt x="227" y="294"/>
                  <a:pt x="213" y="311"/>
                  <a:pt x="213" y="330"/>
                </a:cubicBezTo>
                <a:cubicBezTo>
                  <a:pt x="213" y="350"/>
                  <a:pt x="227" y="367"/>
                  <a:pt x="245" y="371"/>
                </a:cubicBezTo>
                <a:cubicBezTo>
                  <a:pt x="245" y="405"/>
                  <a:pt x="245" y="405"/>
                  <a:pt x="245" y="405"/>
                </a:cubicBezTo>
                <a:cubicBezTo>
                  <a:pt x="245" y="411"/>
                  <a:pt x="250" y="416"/>
                  <a:pt x="256" y="416"/>
                </a:cubicBezTo>
                <a:cubicBezTo>
                  <a:pt x="262" y="416"/>
                  <a:pt x="266" y="411"/>
                  <a:pt x="266" y="405"/>
                </a:cubicBezTo>
                <a:cubicBezTo>
                  <a:pt x="266" y="371"/>
                  <a:pt x="266" y="371"/>
                  <a:pt x="266" y="371"/>
                </a:cubicBezTo>
                <a:cubicBezTo>
                  <a:pt x="285" y="367"/>
                  <a:pt x="298" y="350"/>
                  <a:pt x="298" y="330"/>
                </a:cubicBezTo>
                <a:close/>
                <a:moveTo>
                  <a:pt x="394" y="234"/>
                </a:moveTo>
                <a:cubicBezTo>
                  <a:pt x="394" y="215"/>
                  <a:pt x="381" y="198"/>
                  <a:pt x="362" y="193"/>
                </a:cubicBezTo>
                <a:cubicBezTo>
                  <a:pt x="362" y="106"/>
                  <a:pt x="362" y="106"/>
                  <a:pt x="362" y="106"/>
                </a:cubicBezTo>
                <a:cubicBezTo>
                  <a:pt x="362" y="100"/>
                  <a:pt x="358" y="96"/>
                  <a:pt x="352" y="96"/>
                </a:cubicBezTo>
                <a:cubicBezTo>
                  <a:pt x="346" y="96"/>
                  <a:pt x="341" y="100"/>
                  <a:pt x="341" y="106"/>
                </a:cubicBezTo>
                <a:cubicBezTo>
                  <a:pt x="341" y="193"/>
                  <a:pt x="341" y="193"/>
                  <a:pt x="341" y="193"/>
                </a:cubicBezTo>
                <a:cubicBezTo>
                  <a:pt x="323" y="198"/>
                  <a:pt x="309" y="215"/>
                  <a:pt x="309" y="234"/>
                </a:cubicBezTo>
                <a:cubicBezTo>
                  <a:pt x="309" y="254"/>
                  <a:pt x="323" y="271"/>
                  <a:pt x="341" y="275"/>
                </a:cubicBezTo>
                <a:cubicBezTo>
                  <a:pt x="341" y="405"/>
                  <a:pt x="341" y="405"/>
                  <a:pt x="341" y="405"/>
                </a:cubicBezTo>
                <a:cubicBezTo>
                  <a:pt x="341" y="411"/>
                  <a:pt x="346" y="416"/>
                  <a:pt x="352" y="416"/>
                </a:cubicBezTo>
                <a:cubicBezTo>
                  <a:pt x="358" y="416"/>
                  <a:pt x="362" y="411"/>
                  <a:pt x="362" y="405"/>
                </a:cubicBezTo>
                <a:cubicBezTo>
                  <a:pt x="362" y="275"/>
                  <a:pt x="362" y="275"/>
                  <a:pt x="362" y="275"/>
                </a:cubicBezTo>
                <a:cubicBezTo>
                  <a:pt x="381" y="271"/>
                  <a:pt x="394" y="254"/>
                  <a:pt x="394" y="2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/>
          </a:p>
        </p:txBody>
      </p:sp>
      <p:sp>
        <p:nvSpPr>
          <p:cNvPr id="82" name="Oval 81"/>
          <p:cNvSpPr>
            <a:spLocks/>
          </p:cNvSpPr>
          <p:nvPr/>
        </p:nvSpPr>
        <p:spPr bwMode="gray">
          <a:xfrm>
            <a:off x="7377808" y="4235945"/>
            <a:ext cx="360000" cy="347483"/>
          </a:xfrm>
          <a:prstGeom prst="ellipse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IN" sz="1200" b="1" dirty="0">
                <a:solidFill>
                  <a:schemeClr val="bg1"/>
                </a:solidFill>
              </a:rPr>
              <a:t>₹</a:t>
            </a:r>
          </a:p>
        </p:txBody>
      </p:sp>
      <p:sp>
        <p:nvSpPr>
          <p:cNvPr id="84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10349816" y="4241342"/>
            <a:ext cx="360000" cy="347483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93" name="Freeform 375"/>
          <p:cNvSpPr>
            <a:spLocks noEditPoints="1"/>
          </p:cNvSpPr>
          <p:nvPr/>
        </p:nvSpPr>
        <p:spPr bwMode="auto">
          <a:xfrm>
            <a:off x="4694512" y="4190505"/>
            <a:ext cx="360000" cy="347483"/>
          </a:xfrm>
          <a:custGeom>
            <a:avLst/>
            <a:gdLst>
              <a:gd name="T0" fmla="*/ 297 w 512"/>
              <a:gd name="T1" fmla="*/ 213 h 512"/>
              <a:gd name="T2" fmla="*/ 382 w 512"/>
              <a:gd name="T3" fmla="*/ 221 h 512"/>
              <a:gd name="T4" fmla="*/ 323 w 512"/>
              <a:gd name="T5" fmla="*/ 280 h 512"/>
              <a:gd name="T6" fmla="*/ 320 w 512"/>
              <a:gd name="T7" fmla="*/ 290 h 512"/>
              <a:gd name="T8" fmla="*/ 337 w 512"/>
              <a:gd name="T9" fmla="*/ 374 h 512"/>
              <a:gd name="T10" fmla="*/ 261 w 512"/>
              <a:gd name="T11" fmla="*/ 332 h 512"/>
              <a:gd name="T12" fmla="*/ 256 w 512"/>
              <a:gd name="T13" fmla="*/ 330 h 512"/>
              <a:gd name="T14" fmla="*/ 250 w 512"/>
              <a:gd name="T15" fmla="*/ 332 h 512"/>
              <a:gd name="T16" fmla="*/ 175 w 512"/>
              <a:gd name="T17" fmla="*/ 374 h 512"/>
              <a:gd name="T18" fmla="*/ 191 w 512"/>
              <a:gd name="T19" fmla="*/ 290 h 512"/>
              <a:gd name="T20" fmla="*/ 189 w 512"/>
              <a:gd name="T21" fmla="*/ 280 h 512"/>
              <a:gd name="T22" fmla="*/ 130 w 512"/>
              <a:gd name="T23" fmla="*/ 221 h 512"/>
              <a:gd name="T24" fmla="*/ 214 w 512"/>
              <a:gd name="T25" fmla="*/ 213 h 512"/>
              <a:gd name="T26" fmla="*/ 223 w 512"/>
              <a:gd name="T27" fmla="*/ 207 h 512"/>
              <a:gd name="T28" fmla="*/ 256 w 512"/>
              <a:gd name="T29" fmla="*/ 133 h 512"/>
              <a:gd name="T30" fmla="*/ 289 w 512"/>
              <a:gd name="T31" fmla="*/ 207 h 512"/>
              <a:gd name="T32" fmla="*/ 297 w 512"/>
              <a:gd name="T33" fmla="*/ 213 h 512"/>
              <a:gd name="T34" fmla="*/ 512 w 512"/>
              <a:gd name="T35" fmla="*/ 256 h 512"/>
              <a:gd name="T36" fmla="*/ 256 w 512"/>
              <a:gd name="T37" fmla="*/ 512 h 512"/>
              <a:gd name="T38" fmla="*/ 0 w 512"/>
              <a:gd name="T39" fmla="*/ 256 h 512"/>
              <a:gd name="T40" fmla="*/ 256 w 512"/>
              <a:gd name="T41" fmla="*/ 0 h 512"/>
              <a:gd name="T42" fmla="*/ 512 w 512"/>
              <a:gd name="T43" fmla="*/ 256 h 512"/>
              <a:gd name="T44" fmla="*/ 415 w 512"/>
              <a:gd name="T45" fmla="*/ 209 h 512"/>
              <a:gd name="T46" fmla="*/ 406 w 512"/>
              <a:gd name="T47" fmla="*/ 202 h 512"/>
              <a:gd name="T48" fmla="*/ 306 w 512"/>
              <a:gd name="T49" fmla="*/ 192 h 512"/>
              <a:gd name="T50" fmla="*/ 265 w 512"/>
              <a:gd name="T51" fmla="*/ 102 h 512"/>
              <a:gd name="T52" fmla="*/ 256 w 512"/>
              <a:gd name="T53" fmla="*/ 96 h 512"/>
              <a:gd name="T54" fmla="*/ 246 w 512"/>
              <a:gd name="T55" fmla="*/ 102 h 512"/>
              <a:gd name="T56" fmla="*/ 206 w 512"/>
              <a:gd name="T57" fmla="*/ 192 h 512"/>
              <a:gd name="T58" fmla="*/ 105 w 512"/>
              <a:gd name="T59" fmla="*/ 202 h 512"/>
              <a:gd name="T60" fmla="*/ 96 w 512"/>
              <a:gd name="T61" fmla="*/ 209 h 512"/>
              <a:gd name="T62" fmla="*/ 99 w 512"/>
              <a:gd name="T63" fmla="*/ 221 h 512"/>
              <a:gd name="T64" fmla="*/ 169 w 512"/>
              <a:gd name="T65" fmla="*/ 291 h 512"/>
              <a:gd name="T66" fmla="*/ 149 w 512"/>
              <a:gd name="T67" fmla="*/ 392 h 512"/>
              <a:gd name="T68" fmla="*/ 153 w 512"/>
              <a:gd name="T69" fmla="*/ 403 h 512"/>
              <a:gd name="T70" fmla="*/ 165 w 512"/>
              <a:gd name="T71" fmla="*/ 404 h 512"/>
              <a:gd name="T72" fmla="*/ 256 w 512"/>
              <a:gd name="T73" fmla="*/ 353 h 512"/>
              <a:gd name="T74" fmla="*/ 346 w 512"/>
              <a:gd name="T75" fmla="*/ 404 h 512"/>
              <a:gd name="T76" fmla="*/ 352 w 512"/>
              <a:gd name="T77" fmla="*/ 405 h 512"/>
              <a:gd name="T78" fmla="*/ 358 w 512"/>
              <a:gd name="T79" fmla="*/ 403 h 512"/>
              <a:gd name="T80" fmla="*/ 362 w 512"/>
              <a:gd name="T81" fmla="*/ 392 h 512"/>
              <a:gd name="T82" fmla="*/ 342 w 512"/>
              <a:gd name="T83" fmla="*/ 291 h 512"/>
              <a:gd name="T84" fmla="*/ 413 w 512"/>
              <a:gd name="T85" fmla="*/ 221 h 512"/>
              <a:gd name="T86" fmla="*/ 415 w 512"/>
              <a:gd name="T87" fmla="*/ 20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297" y="213"/>
                </a:moveTo>
                <a:cubicBezTo>
                  <a:pt x="382" y="221"/>
                  <a:pt x="382" y="221"/>
                  <a:pt x="382" y="221"/>
                </a:cubicBezTo>
                <a:cubicBezTo>
                  <a:pt x="323" y="280"/>
                  <a:pt x="323" y="280"/>
                  <a:pt x="323" y="280"/>
                </a:cubicBezTo>
                <a:cubicBezTo>
                  <a:pt x="320" y="283"/>
                  <a:pt x="319" y="286"/>
                  <a:pt x="320" y="290"/>
                </a:cubicBezTo>
                <a:cubicBezTo>
                  <a:pt x="337" y="374"/>
                  <a:pt x="337" y="374"/>
                  <a:pt x="337" y="374"/>
                </a:cubicBezTo>
                <a:cubicBezTo>
                  <a:pt x="261" y="332"/>
                  <a:pt x="261" y="332"/>
                  <a:pt x="261" y="332"/>
                </a:cubicBezTo>
                <a:cubicBezTo>
                  <a:pt x="259" y="331"/>
                  <a:pt x="257" y="330"/>
                  <a:pt x="256" y="330"/>
                </a:cubicBezTo>
                <a:cubicBezTo>
                  <a:pt x="254" y="330"/>
                  <a:pt x="252" y="331"/>
                  <a:pt x="250" y="332"/>
                </a:cubicBezTo>
                <a:cubicBezTo>
                  <a:pt x="175" y="374"/>
                  <a:pt x="175" y="374"/>
                  <a:pt x="175" y="374"/>
                </a:cubicBezTo>
                <a:cubicBezTo>
                  <a:pt x="191" y="290"/>
                  <a:pt x="191" y="290"/>
                  <a:pt x="191" y="290"/>
                </a:cubicBezTo>
                <a:cubicBezTo>
                  <a:pt x="192" y="286"/>
                  <a:pt x="191" y="283"/>
                  <a:pt x="189" y="280"/>
                </a:cubicBezTo>
                <a:cubicBezTo>
                  <a:pt x="130" y="221"/>
                  <a:pt x="130" y="221"/>
                  <a:pt x="130" y="221"/>
                </a:cubicBezTo>
                <a:cubicBezTo>
                  <a:pt x="214" y="213"/>
                  <a:pt x="214" y="213"/>
                  <a:pt x="214" y="213"/>
                </a:cubicBezTo>
                <a:cubicBezTo>
                  <a:pt x="218" y="213"/>
                  <a:pt x="221" y="210"/>
                  <a:pt x="223" y="207"/>
                </a:cubicBezTo>
                <a:cubicBezTo>
                  <a:pt x="256" y="133"/>
                  <a:pt x="256" y="133"/>
                  <a:pt x="256" y="133"/>
                </a:cubicBezTo>
                <a:cubicBezTo>
                  <a:pt x="289" y="207"/>
                  <a:pt x="289" y="207"/>
                  <a:pt x="289" y="207"/>
                </a:cubicBezTo>
                <a:cubicBezTo>
                  <a:pt x="290" y="210"/>
                  <a:pt x="293" y="213"/>
                  <a:pt x="297" y="213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5" y="209"/>
                </a:moveTo>
                <a:cubicBezTo>
                  <a:pt x="414" y="206"/>
                  <a:pt x="410" y="203"/>
                  <a:pt x="406" y="202"/>
                </a:cubicBezTo>
                <a:cubicBezTo>
                  <a:pt x="306" y="192"/>
                  <a:pt x="306" y="192"/>
                  <a:pt x="306" y="192"/>
                </a:cubicBezTo>
                <a:cubicBezTo>
                  <a:pt x="265" y="102"/>
                  <a:pt x="265" y="102"/>
                  <a:pt x="265" y="102"/>
                </a:cubicBezTo>
                <a:cubicBezTo>
                  <a:pt x="264" y="98"/>
                  <a:pt x="260" y="96"/>
                  <a:pt x="256" y="96"/>
                </a:cubicBezTo>
                <a:cubicBezTo>
                  <a:pt x="251" y="96"/>
                  <a:pt x="248" y="98"/>
                  <a:pt x="246" y="102"/>
                </a:cubicBezTo>
                <a:cubicBezTo>
                  <a:pt x="206" y="192"/>
                  <a:pt x="206" y="192"/>
                  <a:pt x="206" y="192"/>
                </a:cubicBezTo>
                <a:cubicBezTo>
                  <a:pt x="105" y="202"/>
                  <a:pt x="105" y="202"/>
                  <a:pt x="105" y="202"/>
                </a:cubicBezTo>
                <a:cubicBezTo>
                  <a:pt x="101" y="203"/>
                  <a:pt x="98" y="206"/>
                  <a:pt x="96" y="209"/>
                </a:cubicBezTo>
                <a:cubicBezTo>
                  <a:pt x="95" y="213"/>
                  <a:pt x="96" y="218"/>
                  <a:pt x="99" y="221"/>
                </a:cubicBezTo>
                <a:cubicBezTo>
                  <a:pt x="169" y="291"/>
                  <a:pt x="169" y="291"/>
                  <a:pt x="169" y="291"/>
                </a:cubicBezTo>
                <a:cubicBezTo>
                  <a:pt x="149" y="392"/>
                  <a:pt x="149" y="392"/>
                  <a:pt x="149" y="392"/>
                </a:cubicBezTo>
                <a:cubicBezTo>
                  <a:pt x="148" y="396"/>
                  <a:pt x="150" y="401"/>
                  <a:pt x="153" y="403"/>
                </a:cubicBezTo>
                <a:cubicBezTo>
                  <a:pt x="157" y="405"/>
                  <a:pt x="161" y="406"/>
                  <a:pt x="165" y="404"/>
                </a:cubicBezTo>
                <a:cubicBezTo>
                  <a:pt x="256" y="353"/>
                  <a:pt x="256" y="353"/>
                  <a:pt x="256" y="353"/>
                </a:cubicBezTo>
                <a:cubicBezTo>
                  <a:pt x="346" y="404"/>
                  <a:pt x="346" y="404"/>
                  <a:pt x="346" y="404"/>
                </a:cubicBezTo>
                <a:cubicBezTo>
                  <a:pt x="348" y="405"/>
                  <a:pt x="350" y="405"/>
                  <a:pt x="352" y="405"/>
                </a:cubicBezTo>
                <a:cubicBezTo>
                  <a:pt x="354" y="405"/>
                  <a:pt x="356" y="404"/>
                  <a:pt x="358" y="403"/>
                </a:cubicBezTo>
                <a:cubicBezTo>
                  <a:pt x="361" y="401"/>
                  <a:pt x="363" y="396"/>
                  <a:pt x="362" y="392"/>
                </a:cubicBezTo>
                <a:cubicBezTo>
                  <a:pt x="342" y="291"/>
                  <a:pt x="342" y="291"/>
                  <a:pt x="342" y="291"/>
                </a:cubicBezTo>
                <a:cubicBezTo>
                  <a:pt x="413" y="221"/>
                  <a:pt x="413" y="221"/>
                  <a:pt x="413" y="221"/>
                </a:cubicBezTo>
                <a:cubicBezTo>
                  <a:pt x="415" y="218"/>
                  <a:pt x="416" y="213"/>
                  <a:pt x="415" y="2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1200" dirty="0">
              <a:solidFill>
                <a:prstClr val="black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6162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799" y="2922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9" y="2922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0" y="1124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GB" sz="2000" b="1" dirty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tx1"/>
                </a:solidFill>
              </a:rPr>
              <a:t>Key Recommendation to improve QCO effectiveness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532153" y="1948743"/>
            <a:ext cx="12675790" cy="28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hlinkClick r:id="rId7" action="ppaction://hlinksldjump"/>
          </p:cNvPr>
          <p:cNvSpPr/>
          <p:nvPr/>
        </p:nvSpPr>
        <p:spPr bwMode="gray">
          <a:xfrm>
            <a:off x="811513" y="2316018"/>
            <a:ext cx="2388909" cy="669731"/>
          </a:xfrm>
          <a:prstGeom prst="rect">
            <a:avLst/>
          </a:prstGeom>
          <a:solidFill>
            <a:srgbClr val="0076A8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Imported product compliance</a:t>
            </a:r>
          </a:p>
        </p:txBody>
      </p:sp>
      <p:sp>
        <p:nvSpPr>
          <p:cNvPr id="49" name="Rectangle 48">
            <a:hlinkClick r:id="rId8" action="ppaction://hlinksldjump"/>
          </p:cNvPr>
          <p:cNvSpPr/>
          <p:nvPr/>
        </p:nvSpPr>
        <p:spPr bwMode="gray">
          <a:xfrm>
            <a:off x="811513" y="4221136"/>
            <a:ext cx="2388909" cy="669731"/>
          </a:xfrm>
          <a:prstGeom prst="rect">
            <a:avLst/>
          </a:prstGeom>
          <a:solidFill>
            <a:srgbClr val="0076A8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58694" rIns="0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schemeClr val="bg1"/>
                </a:solidFill>
              </a:rPr>
              <a:t>Governance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 bwMode="gray">
          <a:xfrm>
            <a:off x="4561485" y="2300619"/>
            <a:ext cx="2454396" cy="6697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prstClr val="white"/>
                </a:solidFill>
                <a:latin typeface="+mj-lt"/>
              </a:rPr>
              <a:t>Test Centers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56" name="Rectangle 55"/>
          <p:cNvSpPr/>
          <p:nvPr/>
        </p:nvSpPr>
        <p:spPr bwMode="gray">
          <a:xfrm>
            <a:off x="7650246" y="2270510"/>
            <a:ext cx="2454396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  <a:latin typeface="+mj-lt"/>
              </a:rPr>
              <a:t>Feedback/complaints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67" name="Rectangle 66"/>
          <p:cNvSpPr/>
          <p:nvPr/>
        </p:nvSpPr>
        <p:spPr bwMode="gray">
          <a:xfrm>
            <a:off x="4641659" y="4196308"/>
            <a:ext cx="2448000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</a:rPr>
              <a:t>Awards for quality focused  MSMEs</a:t>
            </a:r>
            <a:endParaRPr lang="en-IN" sz="1400" b="1" dirty="0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 bwMode="gray">
          <a:xfrm>
            <a:off x="10759943" y="4193256"/>
            <a:ext cx="2448000" cy="669731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</a:rPr>
              <a:t>Technical Reviews</a:t>
            </a:r>
            <a:endParaRPr lang="en-IN" sz="1400" b="1" dirty="0">
              <a:solidFill>
                <a:prstClr val="white"/>
              </a:solidFill>
            </a:endParaRPr>
          </a:p>
        </p:txBody>
      </p:sp>
      <p:sp>
        <p:nvSpPr>
          <p:cNvPr id="81" name="Rectangle 80"/>
          <p:cNvSpPr/>
          <p:nvPr/>
        </p:nvSpPr>
        <p:spPr bwMode="gray">
          <a:xfrm>
            <a:off x="7676763" y="4160829"/>
            <a:ext cx="2448000" cy="6697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r>
              <a:rPr lang="en-US" sz="1400" b="1" dirty="0">
                <a:solidFill>
                  <a:prstClr val="white"/>
                </a:solidFill>
              </a:rPr>
              <a:t>Fund R&amp;D </a:t>
            </a:r>
            <a:endParaRPr lang="en-IN" sz="1400" b="1" dirty="0">
              <a:solidFill>
                <a:prstClr val="white"/>
              </a:solidFill>
            </a:endParaRPr>
          </a:p>
        </p:txBody>
      </p:sp>
      <p:sp>
        <p:nvSpPr>
          <p:cNvPr id="102" name="Rectangle 101"/>
          <p:cNvSpPr/>
          <p:nvPr/>
        </p:nvSpPr>
        <p:spPr bwMode="gray">
          <a:xfrm>
            <a:off x="10753547" y="2249744"/>
            <a:ext cx="2454396" cy="6697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/>
            <a:r>
              <a:rPr lang="en-US" sz="1400" b="1" dirty="0">
                <a:solidFill>
                  <a:prstClr val="white"/>
                </a:solidFill>
                <a:latin typeface="+mj-lt"/>
              </a:rPr>
              <a:t>Harmonization</a:t>
            </a:r>
            <a:endParaRPr lang="en-IN" sz="1400" b="1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0" name="Striped Right Arrow 39"/>
          <p:cNvSpPr/>
          <p:nvPr/>
        </p:nvSpPr>
        <p:spPr bwMode="gray">
          <a:xfrm>
            <a:off x="3637743" y="2316018"/>
            <a:ext cx="711770" cy="654332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42" name="Striped Right Arrow 41"/>
          <p:cNvSpPr/>
          <p:nvPr/>
        </p:nvSpPr>
        <p:spPr bwMode="gray">
          <a:xfrm>
            <a:off x="3637743" y="4217188"/>
            <a:ext cx="711770" cy="654332"/>
          </a:xfrm>
          <a:prstGeom prst="striped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algn="ctr" defTabSz="1565035">
              <a:defRPr/>
            </a:pPr>
            <a:endParaRPr lang="en-IN" sz="1400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6" name="Rectangle 5"/>
          <p:cNvSpPr/>
          <p:nvPr/>
        </p:nvSpPr>
        <p:spPr bwMode="gray">
          <a:xfrm>
            <a:off x="4571041" y="2794174"/>
            <a:ext cx="2443479" cy="13586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Improvement in testing infra at ports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Enhancement in record keeping through SIMS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IN" sz="1200" i="1" dirty="0">
              <a:solidFill>
                <a:sysClr val="windowText" lastClr="000000"/>
              </a:solidFill>
            </a:endParaRPr>
          </a:p>
        </p:txBody>
      </p:sp>
      <p:sp>
        <p:nvSpPr>
          <p:cNvPr id="47" name="Rectangle 46"/>
          <p:cNvSpPr/>
          <p:nvPr/>
        </p:nvSpPr>
        <p:spPr bwMode="gray">
          <a:xfrm>
            <a:off x="7650144" y="2855632"/>
            <a:ext cx="2491882" cy="124354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Extensive feedback from importers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Portal for lodging of complaints and </a:t>
            </a:r>
            <a:r>
              <a:rPr lang="en-US" sz="1200" i="1" dirty="0" err="1">
                <a:solidFill>
                  <a:sysClr val="windowText" lastClr="000000"/>
                </a:solidFill>
              </a:rPr>
              <a:t>redressal</a:t>
            </a:r>
            <a:endParaRPr lang="en-US" sz="1200" i="1" dirty="0">
              <a:solidFill>
                <a:sysClr val="windowText" lastClr="000000"/>
              </a:solidFill>
            </a:endParaRPr>
          </a:p>
        </p:txBody>
      </p:sp>
      <p:grpSp>
        <p:nvGrpSpPr>
          <p:cNvPr id="48" name="Group 447"/>
          <p:cNvGrpSpPr>
            <a:grpSpLocks noChangeAspect="1"/>
          </p:cNvGrpSpPr>
          <p:nvPr/>
        </p:nvGrpSpPr>
        <p:grpSpPr bwMode="auto">
          <a:xfrm>
            <a:off x="4488000" y="1998204"/>
            <a:ext cx="400230" cy="400230"/>
            <a:chOff x="5601" y="1820"/>
            <a:chExt cx="340" cy="340"/>
          </a:xfrm>
          <a:solidFill>
            <a:schemeClr val="accent5"/>
          </a:solidFill>
        </p:grpSpPr>
        <p:sp>
          <p:nvSpPr>
            <p:cNvPr id="55" name="Freeform 448"/>
            <p:cNvSpPr>
              <a:spLocks noEditPoints="1"/>
            </p:cNvSpPr>
            <p:nvPr/>
          </p:nvSpPr>
          <p:spPr bwMode="auto">
            <a:xfrm>
              <a:off x="5679" y="1948"/>
              <a:ext cx="182" cy="85"/>
            </a:xfrm>
            <a:custGeom>
              <a:avLst/>
              <a:gdLst>
                <a:gd name="T0" fmla="*/ 131 w 275"/>
                <a:gd name="T1" fmla="*/ 43 h 128"/>
                <a:gd name="T2" fmla="*/ 122 w 275"/>
                <a:gd name="T3" fmla="*/ 37 h 128"/>
                <a:gd name="T4" fmla="*/ 64 w 275"/>
                <a:gd name="T5" fmla="*/ 0 h 128"/>
                <a:gd name="T6" fmla="*/ 0 w 275"/>
                <a:gd name="T7" fmla="*/ 64 h 128"/>
                <a:gd name="T8" fmla="*/ 64 w 275"/>
                <a:gd name="T9" fmla="*/ 128 h 128"/>
                <a:gd name="T10" fmla="*/ 122 w 275"/>
                <a:gd name="T11" fmla="*/ 92 h 128"/>
                <a:gd name="T12" fmla="*/ 131 w 275"/>
                <a:gd name="T13" fmla="*/ 86 h 128"/>
                <a:gd name="T14" fmla="*/ 177 w 275"/>
                <a:gd name="T15" fmla="*/ 86 h 128"/>
                <a:gd name="T16" fmla="*/ 195 w 275"/>
                <a:gd name="T17" fmla="*/ 67 h 128"/>
                <a:gd name="T18" fmla="*/ 210 w 275"/>
                <a:gd name="T19" fmla="*/ 67 h 128"/>
                <a:gd name="T20" fmla="*/ 224 w 275"/>
                <a:gd name="T21" fmla="*/ 81 h 128"/>
                <a:gd name="T22" fmla="*/ 238 w 275"/>
                <a:gd name="T23" fmla="*/ 67 h 128"/>
                <a:gd name="T24" fmla="*/ 253 w 275"/>
                <a:gd name="T25" fmla="*/ 67 h 128"/>
                <a:gd name="T26" fmla="*/ 265 w 275"/>
                <a:gd name="T27" fmla="*/ 79 h 128"/>
                <a:gd name="T28" fmla="*/ 275 w 275"/>
                <a:gd name="T29" fmla="*/ 64 h 128"/>
                <a:gd name="T30" fmla="*/ 261 w 275"/>
                <a:gd name="T31" fmla="*/ 43 h 128"/>
                <a:gd name="T32" fmla="*/ 131 w 275"/>
                <a:gd name="T33" fmla="*/ 43 h 128"/>
                <a:gd name="T34" fmla="*/ 53 w 275"/>
                <a:gd name="T35" fmla="*/ 85 h 128"/>
                <a:gd name="T36" fmla="*/ 32 w 275"/>
                <a:gd name="T37" fmla="*/ 64 h 128"/>
                <a:gd name="T38" fmla="*/ 53 w 275"/>
                <a:gd name="T39" fmla="*/ 43 h 128"/>
                <a:gd name="T40" fmla="*/ 75 w 275"/>
                <a:gd name="T41" fmla="*/ 64 h 128"/>
                <a:gd name="T42" fmla="*/ 53 w 275"/>
                <a:gd name="T43" fmla="*/ 8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5" h="128">
                  <a:moveTo>
                    <a:pt x="131" y="43"/>
                  </a:moveTo>
                  <a:cubicBezTo>
                    <a:pt x="127" y="43"/>
                    <a:pt x="124" y="41"/>
                    <a:pt x="122" y="37"/>
                  </a:cubicBezTo>
                  <a:cubicBezTo>
                    <a:pt x="111" y="15"/>
                    <a:pt x="89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89" y="128"/>
                    <a:pt x="111" y="114"/>
                    <a:pt x="122" y="92"/>
                  </a:cubicBezTo>
                  <a:cubicBezTo>
                    <a:pt x="124" y="88"/>
                    <a:pt x="127" y="86"/>
                    <a:pt x="131" y="86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95" y="67"/>
                    <a:pt x="195" y="67"/>
                    <a:pt x="195" y="67"/>
                  </a:cubicBezTo>
                  <a:cubicBezTo>
                    <a:pt x="199" y="63"/>
                    <a:pt x="206" y="63"/>
                    <a:pt x="210" y="67"/>
                  </a:cubicBezTo>
                  <a:cubicBezTo>
                    <a:pt x="224" y="81"/>
                    <a:pt x="224" y="81"/>
                    <a:pt x="224" y="81"/>
                  </a:cubicBezTo>
                  <a:cubicBezTo>
                    <a:pt x="238" y="67"/>
                    <a:pt x="238" y="67"/>
                    <a:pt x="238" y="67"/>
                  </a:cubicBezTo>
                  <a:cubicBezTo>
                    <a:pt x="242" y="63"/>
                    <a:pt x="249" y="63"/>
                    <a:pt x="253" y="67"/>
                  </a:cubicBezTo>
                  <a:cubicBezTo>
                    <a:pt x="265" y="79"/>
                    <a:pt x="265" y="79"/>
                    <a:pt x="265" y="79"/>
                  </a:cubicBezTo>
                  <a:cubicBezTo>
                    <a:pt x="275" y="64"/>
                    <a:pt x="275" y="64"/>
                    <a:pt x="275" y="64"/>
                  </a:cubicBezTo>
                  <a:cubicBezTo>
                    <a:pt x="261" y="43"/>
                    <a:pt x="261" y="43"/>
                    <a:pt x="261" y="43"/>
                  </a:cubicBezTo>
                  <a:lnTo>
                    <a:pt x="131" y="43"/>
                  </a:lnTo>
                  <a:close/>
                  <a:moveTo>
                    <a:pt x="53" y="85"/>
                  </a:moveTo>
                  <a:cubicBezTo>
                    <a:pt x="42" y="85"/>
                    <a:pt x="32" y="76"/>
                    <a:pt x="32" y="64"/>
                  </a:cubicBezTo>
                  <a:cubicBezTo>
                    <a:pt x="32" y="52"/>
                    <a:pt x="42" y="43"/>
                    <a:pt x="53" y="43"/>
                  </a:cubicBezTo>
                  <a:cubicBezTo>
                    <a:pt x="65" y="43"/>
                    <a:pt x="75" y="52"/>
                    <a:pt x="75" y="64"/>
                  </a:cubicBezTo>
                  <a:cubicBezTo>
                    <a:pt x="75" y="76"/>
                    <a:pt x="65" y="85"/>
                    <a:pt x="53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449"/>
            <p:cNvSpPr>
              <a:spLocks noEditPoints="1"/>
            </p:cNvSpPr>
            <p:nvPr/>
          </p:nvSpPr>
          <p:spPr bwMode="auto">
            <a:xfrm>
              <a:off x="5601" y="1820"/>
              <a:ext cx="340" cy="34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14 w 512"/>
                <a:gd name="T11" fmla="*/ 262 h 512"/>
                <a:gd name="T12" fmla="*/ 393 w 512"/>
                <a:gd name="T13" fmla="*/ 294 h 512"/>
                <a:gd name="T14" fmla="*/ 385 w 512"/>
                <a:gd name="T15" fmla="*/ 299 h 512"/>
                <a:gd name="T16" fmla="*/ 376 w 512"/>
                <a:gd name="T17" fmla="*/ 296 h 512"/>
                <a:gd name="T18" fmla="*/ 362 w 512"/>
                <a:gd name="T19" fmla="*/ 282 h 512"/>
                <a:gd name="T20" fmla="*/ 349 w 512"/>
                <a:gd name="T21" fmla="*/ 296 h 512"/>
                <a:gd name="T22" fmla="*/ 333 w 512"/>
                <a:gd name="T23" fmla="*/ 296 h 512"/>
                <a:gd name="T24" fmla="*/ 320 w 512"/>
                <a:gd name="T25" fmla="*/ 282 h 512"/>
                <a:gd name="T26" fmla="*/ 306 w 512"/>
                <a:gd name="T27" fmla="*/ 296 h 512"/>
                <a:gd name="T28" fmla="*/ 298 w 512"/>
                <a:gd name="T29" fmla="*/ 299 h 512"/>
                <a:gd name="T30" fmla="*/ 255 w 512"/>
                <a:gd name="T31" fmla="*/ 299 h 512"/>
                <a:gd name="T32" fmla="*/ 181 w 512"/>
                <a:gd name="T33" fmla="*/ 342 h 512"/>
                <a:gd name="T34" fmla="*/ 96 w 512"/>
                <a:gd name="T35" fmla="*/ 256 h 512"/>
                <a:gd name="T36" fmla="*/ 181 w 512"/>
                <a:gd name="T37" fmla="*/ 171 h 512"/>
                <a:gd name="T38" fmla="*/ 255 w 512"/>
                <a:gd name="T39" fmla="*/ 214 h 512"/>
                <a:gd name="T40" fmla="*/ 384 w 512"/>
                <a:gd name="T41" fmla="*/ 214 h 512"/>
                <a:gd name="T42" fmla="*/ 393 w 512"/>
                <a:gd name="T43" fmla="*/ 218 h 512"/>
                <a:gd name="T44" fmla="*/ 414 w 512"/>
                <a:gd name="T45" fmla="*/ 250 h 512"/>
                <a:gd name="T46" fmla="*/ 414 w 512"/>
                <a:gd name="T47" fmla="*/ 26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5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  <a:moveTo>
                    <a:pt x="414" y="262"/>
                  </a:moveTo>
                  <a:cubicBezTo>
                    <a:pt x="393" y="294"/>
                    <a:pt x="393" y="294"/>
                    <a:pt x="393" y="294"/>
                  </a:cubicBezTo>
                  <a:cubicBezTo>
                    <a:pt x="391" y="297"/>
                    <a:pt x="388" y="298"/>
                    <a:pt x="385" y="299"/>
                  </a:cubicBezTo>
                  <a:cubicBezTo>
                    <a:pt x="381" y="299"/>
                    <a:pt x="378" y="298"/>
                    <a:pt x="376" y="296"/>
                  </a:cubicBezTo>
                  <a:cubicBezTo>
                    <a:pt x="362" y="282"/>
                    <a:pt x="362" y="282"/>
                    <a:pt x="362" y="282"/>
                  </a:cubicBezTo>
                  <a:cubicBezTo>
                    <a:pt x="349" y="296"/>
                    <a:pt x="349" y="296"/>
                    <a:pt x="349" y="296"/>
                  </a:cubicBezTo>
                  <a:cubicBezTo>
                    <a:pt x="344" y="300"/>
                    <a:pt x="338" y="300"/>
                    <a:pt x="333" y="296"/>
                  </a:cubicBezTo>
                  <a:cubicBezTo>
                    <a:pt x="320" y="282"/>
                    <a:pt x="320" y="282"/>
                    <a:pt x="320" y="282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4" y="298"/>
                    <a:pt x="301" y="299"/>
                    <a:pt x="298" y="299"/>
                  </a:cubicBezTo>
                  <a:cubicBezTo>
                    <a:pt x="255" y="299"/>
                    <a:pt x="255" y="299"/>
                    <a:pt x="255" y="299"/>
                  </a:cubicBezTo>
                  <a:cubicBezTo>
                    <a:pt x="240" y="325"/>
                    <a:pt x="211" y="342"/>
                    <a:pt x="181" y="342"/>
                  </a:cubicBezTo>
                  <a:cubicBezTo>
                    <a:pt x="134" y="342"/>
                    <a:pt x="96" y="303"/>
                    <a:pt x="96" y="256"/>
                  </a:cubicBezTo>
                  <a:cubicBezTo>
                    <a:pt x="96" y="209"/>
                    <a:pt x="134" y="171"/>
                    <a:pt x="181" y="171"/>
                  </a:cubicBezTo>
                  <a:cubicBezTo>
                    <a:pt x="211" y="171"/>
                    <a:pt x="240" y="187"/>
                    <a:pt x="255" y="214"/>
                  </a:cubicBezTo>
                  <a:cubicBezTo>
                    <a:pt x="384" y="214"/>
                    <a:pt x="384" y="214"/>
                    <a:pt x="384" y="214"/>
                  </a:cubicBezTo>
                  <a:cubicBezTo>
                    <a:pt x="387" y="214"/>
                    <a:pt x="391" y="215"/>
                    <a:pt x="393" y="218"/>
                  </a:cubicBezTo>
                  <a:cubicBezTo>
                    <a:pt x="414" y="250"/>
                    <a:pt x="414" y="250"/>
                    <a:pt x="414" y="250"/>
                  </a:cubicBezTo>
                  <a:cubicBezTo>
                    <a:pt x="416" y="254"/>
                    <a:pt x="416" y="258"/>
                    <a:pt x="414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2" name="Rectangle 71"/>
          <p:cNvSpPr/>
          <p:nvPr/>
        </p:nvSpPr>
        <p:spPr bwMode="gray">
          <a:xfrm>
            <a:off x="10743127" y="2925281"/>
            <a:ext cx="2491882" cy="124354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Alignment with global standards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Reduce dependency on external certification organization</a:t>
            </a:r>
            <a:endParaRPr lang="en-IN" sz="1200" i="1" dirty="0">
              <a:solidFill>
                <a:sysClr val="windowText" lastClr="000000"/>
              </a:solidFill>
            </a:endParaRPr>
          </a:p>
        </p:txBody>
      </p:sp>
      <p:sp>
        <p:nvSpPr>
          <p:cNvPr id="37" name="Rectangle 36"/>
          <p:cNvSpPr/>
          <p:nvPr/>
        </p:nvSpPr>
        <p:spPr bwMode="gray">
          <a:xfrm>
            <a:off x="4593532" y="4840574"/>
            <a:ext cx="2448000" cy="13586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sz="1200" i="1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sz="1200" i="1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Awards for quality focused MSMEs to speed up adoption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Acknowledgement of good practices in conformance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IN" sz="1100" i="1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/>
          <p:cNvSpPr/>
          <p:nvPr/>
        </p:nvSpPr>
        <p:spPr bwMode="gray">
          <a:xfrm>
            <a:off x="7637644" y="4812740"/>
            <a:ext cx="2448000" cy="148823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R&amp;D for making quality compliant steel using induction furnaces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Integration of technologies to improve traceability</a:t>
            </a:r>
          </a:p>
        </p:txBody>
      </p:sp>
      <p:sp>
        <p:nvSpPr>
          <p:cNvPr id="44" name="Rectangle 43"/>
          <p:cNvSpPr/>
          <p:nvPr/>
        </p:nvSpPr>
        <p:spPr bwMode="gray">
          <a:xfrm>
            <a:off x="10692473" y="4812740"/>
            <a:ext cx="2448000" cy="13586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ysClr val="windowText" lastClr="000000"/>
                </a:solidFill>
              </a:rPr>
              <a:t>Streamlining of processes for changing tech specs on new standards to make it less time consuming</a:t>
            </a:r>
          </a:p>
        </p:txBody>
      </p:sp>
      <p:sp>
        <p:nvSpPr>
          <p:cNvPr id="77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10542699" y="2016621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78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7470144" y="2010676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79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4503357" y="3972854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80" name="Oval 79"/>
          <p:cNvSpPr>
            <a:spLocks/>
          </p:cNvSpPr>
          <p:nvPr/>
        </p:nvSpPr>
        <p:spPr bwMode="gray">
          <a:xfrm>
            <a:off x="7538286" y="4002511"/>
            <a:ext cx="360000" cy="360000"/>
          </a:xfrm>
          <a:prstGeom prst="ellipse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IN" sz="1200" b="1" dirty="0">
                <a:solidFill>
                  <a:schemeClr val="bg1"/>
                </a:solidFill>
              </a:rPr>
              <a:t>₹</a:t>
            </a:r>
          </a:p>
        </p:txBody>
      </p:sp>
      <p:sp>
        <p:nvSpPr>
          <p:cNvPr id="83" name="Freeform 603">
            <a:extLst>
              <a:ext uri="{FF2B5EF4-FFF2-40B4-BE49-F238E27FC236}">
                <a16:creationId xmlns:a16="http://schemas.microsoft.com/office/drawing/2014/main" id="{9DB6703D-8959-4F09-ABE7-FBE0ED732EA4}"/>
              </a:ext>
            </a:extLst>
          </p:cNvPr>
          <p:cNvSpPr>
            <a:spLocks noEditPoints="1"/>
          </p:cNvSpPr>
          <p:nvPr/>
        </p:nvSpPr>
        <p:spPr bwMode="auto">
          <a:xfrm>
            <a:off x="10542699" y="3961437"/>
            <a:ext cx="360000" cy="36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405 w 512"/>
              <a:gd name="T11" fmla="*/ 362 h 512"/>
              <a:gd name="T12" fmla="*/ 106 w 512"/>
              <a:gd name="T13" fmla="*/ 362 h 512"/>
              <a:gd name="T14" fmla="*/ 96 w 512"/>
              <a:gd name="T15" fmla="*/ 352 h 512"/>
              <a:gd name="T16" fmla="*/ 106 w 512"/>
              <a:gd name="T17" fmla="*/ 341 h 512"/>
              <a:gd name="T18" fmla="*/ 405 w 512"/>
              <a:gd name="T19" fmla="*/ 341 h 512"/>
              <a:gd name="T20" fmla="*/ 416 w 512"/>
              <a:gd name="T21" fmla="*/ 352 h 512"/>
              <a:gd name="T22" fmla="*/ 405 w 512"/>
              <a:gd name="T23" fmla="*/ 362 h 512"/>
              <a:gd name="T24" fmla="*/ 405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405 w 512"/>
              <a:gd name="T33" fmla="*/ 277 h 512"/>
              <a:gd name="T34" fmla="*/ 416 w 512"/>
              <a:gd name="T35" fmla="*/ 288 h 512"/>
              <a:gd name="T36" fmla="*/ 405 w 512"/>
              <a:gd name="T37" fmla="*/ 298 h 512"/>
              <a:gd name="T38" fmla="*/ 405 w 512"/>
              <a:gd name="T39" fmla="*/ 234 h 512"/>
              <a:gd name="T40" fmla="*/ 106 w 512"/>
              <a:gd name="T41" fmla="*/ 234 h 512"/>
              <a:gd name="T42" fmla="*/ 96 w 512"/>
              <a:gd name="T43" fmla="*/ 224 h 512"/>
              <a:gd name="T44" fmla="*/ 106 w 512"/>
              <a:gd name="T45" fmla="*/ 213 h 512"/>
              <a:gd name="T46" fmla="*/ 405 w 512"/>
              <a:gd name="T47" fmla="*/ 213 h 512"/>
              <a:gd name="T48" fmla="*/ 416 w 512"/>
              <a:gd name="T49" fmla="*/ 224 h 512"/>
              <a:gd name="T50" fmla="*/ 405 w 512"/>
              <a:gd name="T51" fmla="*/ 234 h 512"/>
              <a:gd name="T52" fmla="*/ 405 w 512"/>
              <a:gd name="T53" fmla="*/ 170 h 512"/>
              <a:gd name="T54" fmla="*/ 106 w 512"/>
              <a:gd name="T55" fmla="*/ 170 h 512"/>
              <a:gd name="T56" fmla="*/ 96 w 512"/>
              <a:gd name="T57" fmla="*/ 160 h 512"/>
              <a:gd name="T58" fmla="*/ 106 w 512"/>
              <a:gd name="T59" fmla="*/ 149 h 512"/>
              <a:gd name="T60" fmla="*/ 405 w 512"/>
              <a:gd name="T61" fmla="*/ 149 h 512"/>
              <a:gd name="T62" fmla="*/ 416 w 512"/>
              <a:gd name="T63" fmla="*/ 160 h 512"/>
              <a:gd name="T64" fmla="*/ 405 w 512"/>
              <a:gd name="T65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05" y="362"/>
                </a:moveTo>
                <a:cubicBezTo>
                  <a:pt x="106" y="362"/>
                  <a:pt x="106" y="362"/>
                  <a:pt x="106" y="362"/>
                </a:cubicBezTo>
                <a:cubicBezTo>
                  <a:pt x="100" y="362"/>
                  <a:pt x="96" y="358"/>
                  <a:pt x="96" y="352"/>
                </a:cubicBezTo>
                <a:cubicBezTo>
                  <a:pt x="96" y="346"/>
                  <a:pt x="100" y="341"/>
                  <a:pt x="106" y="341"/>
                </a:cubicBezTo>
                <a:cubicBezTo>
                  <a:pt x="405" y="341"/>
                  <a:pt x="405" y="341"/>
                  <a:pt x="405" y="341"/>
                </a:cubicBezTo>
                <a:cubicBezTo>
                  <a:pt x="411" y="341"/>
                  <a:pt x="416" y="346"/>
                  <a:pt x="416" y="352"/>
                </a:cubicBezTo>
                <a:cubicBezTo>
                  <a:pt x="416" y="358"/>
                  <a:pt x="411" y="362"/>
                  <a:pt x="405" y="362"/>
                </a:cubicBezTo>
                <a:close/>
                <a:moveTo>
                  <a:pt x="405" y="298"/>
                </a:move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405" y="277"/>
                  <a:pt x="405" y="277"/>
                  <a:pt x="405" y="277"/>
                </a:cubicBez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lose/>
                <a:moveTo>
                  <a:pt x="405" y="234"/>
                </a:move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lose/>
                <a:moveTo>
                  <a:pt x="405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100" y="170"/>
                  <a:pt x="96" y="166"/>
                  <a:pt x="96" y="160"/>
                </a:cubicBezTo>
                <a:cubicBezTo>
                  <a:pt x="96" y="154"/>
                  <a:pt x="100" y="149"/>
                  <a:pt x="106" y="149"/>
                </a:cubicBezTo>
                <a:cubicBezTo>
                  <a:pt x="405" y="149"/>
                  <a:pt x="405" y="149"/>
                  <a:pt x="405" y="149"/>
                </a:cubicBezTo>
                <a:cubicBezTo>
                  <a:pt x="411" y="149"/>
                  <a:pt x="416" y="154"/>
                  <a:pt x="416" y="160"/>
                </a:cubicBezTo>
                <a:cubicBezTo>
                  <a:pt x="416" y="166"/>
                  <a:pt x="411" y="170"/>
                  <a:pt x="405" y="1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200" dirty="0"/>
          </a:p>
        </p:txBody>
      </p:sp>
      <p:sp>
        <p:nvSpPr>
          <p:cNvPr id="84" name="Rectangle 83"/>
          <p:cNvSpPr/>
          <p:nvPr/>
        </p:nvSpPr>
        <p:spPr bwMode="gray">
          <a:xfrm>
            <a:off x="6752206" y="1313477"/>
            <a:ext cx="2856599" cy="48505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  <a:latin typeface="Verdana"/>
              </a:rPr>
              <a:t>Recommendations</a:t>
            </a:r>
            <a:endParaRPr lang="en-IN" sz="1600" b="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85" name="Rectangle 84"/>
          <p:cNvSpPr/>
          <p:nvPr/>
        </p:nvSpPr>
        <p:spPr bwMode="gray">
          <a:xfrm>
            <a:off x="958311" y="1313477"/>
            <a:ext cx="1718046" cy="4077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35">
              <a:lnSpc>
                <a:spcPct val="106000"/>
              </a:lnSpc>
              <a:defRPr/>
            </a:pPr>
            <a:r>
              <a:rPr lang="en-US" sz="1600" b="1" dirty="0">
                <a:solidFill>
                  <a:schemeClr val="accent2"/>
                </a:solidFill>
              </a:rPr>
              <a:t>Dimensions</a:t>
            </a:r>
            <a:endParaRPr lang="en-IN" sz="1600" b="1" dirty="0">
              <a:solidFill>
                <a:schemeClr val="accent2"/>
              </a:solidFill>
            </a:endParaRPr>
          </a:p>
        </p:txBody>
      </p:sp>
      <p:sp>
        <p:nvSpPr>
          <p:cNvPr id="87" name="Freeform 97"/>
          <p:cNvSpPr>
            <a:spLocks noEditPoints="1"/>
          </p:cNvSpPr>
          <p:nvPr/>
        </p:nvSpPr>
        <p:spPr bwMode="auto">
          <a:xfrm>
            <a:off x="6551829" y="1313477"/>
            <a:ext cx="468000" cy="506866"/>
          </a:xfrm>
          <a:custGeom>
            <a:avLst/>
            <a:gdLst>
              <a:gd name="T0" fmla="*/ 298 w 512"/>
              <a:gd name="T1" fmla="*/ 298 h 512"/>
              <a:gd name="T2" fmla="*/ 373 w 512"/>
              <a:gd name="T3" fmla="*/ 298 h 512"/>
              <a:gd name="T4" fmla="*/ 373 w 512"/>
              <a:gd name="T5" fmla="*/ 373 h 512"/>
              <a:gd name="T6" fmla="*/ 298 w 512"/>
              <a:gd name="T7" fmla="*/ 373 h 512"/>
              <a:gd name="T8" fmla="*/ 298 w 512"/>
              <a:gd name="T9" fmla="*/ 298 h 512"/>
              <a:gd name="T10" fmla="*/ 138 w 512"/>
              <a:gd name="T11" fmla="*/ 213 h 512"/>
              <a:gd name="T12" fmla="*/ 213 w 512"/>
              <a:gd name="T13" fmla="*/ 213 h 512"/>
              <a:gd name="T14" fmla="*/ 213 w 512"/>
              <a:gd name="T15" fmla="*/ 138 h 512"/>
              <a:gd name="T16" fmla="*/ 138 w 512"/>
              <a:gd name="T17" fmla="*/ 138 h 512"/>
              <a:gd name="T18" fmla="*/ 138 w 512"/>
              <a:gd name="T19" fmla="*/ 213 h 512"/>
              <a:gd name="T20" fmla="*/ 138 w 512"/>
              <a:gd name="T21" fmla="*/ 373 h 512"/>
              <a:gd name="T22" fmla="*/ 213 w 512"/>
              <a:gd name="T23" fmla="*/ 373 h 512"/>
              <a:gd name="T24" fmla="*/ 213 w 512"/>
              <a:gd name="T25" fmla="*/ 298 h 512"/>
              <a:gd name="T26" fmla="*/ 138 w 512"/>
              <a:gd name="T27" fmla="*/ 298 h 512"/>
              <a:gd name="T28" fmla="*/ 138 w 512"/>
              <a:gd name="T29" fmla="*/ 373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234 w 512"/>
              <a:gd name="T41" fmla="*/ 288 h 512"/>
              <a:gd name="T42" fmla="*/ 224 w 512"/>
              <a:gd name="T43" fmla="*/ 277 h 512"/>
              <a:gd name="T44" fmla="*/ 128 w 512"/>
              <a:gd name="T45" fmla="*/ 277 h 512"/>
              <a:gd name="T46" fmla="*/ 117 w 512"/>
              <a:gd name="T47" fmla="*/ 288 h 512"/>
              <a:gd name="T48" fmla="*/ 117 w 512"/>
              <a:gd name="T49" fmla="*/ 384 h 512"/>
              <a:gd name="T50" fmla="*/ 128 w 512"/>
              <a:gd name="T51" fmla="*/ 394 h 512"/>
              <a:gd name="T52" fmla="*/ 224 w 512"/>
              <a:gd name="T53" fmla="*/ 394 h 512"/>
              <a:gd name="T54" fmla="*/ 234 w 512"/>
              <a:gd name="T55" fmla="*/ 384 h 512"/>
              <a:gd name="T56" fmla="*/ 234 w 512"/>
              <a:gd name="T57" fmla="*/ 288 h 512"/>
              <a:gd name="T58" fmla="*/ 234 w 512"/>
              <a:gd name="T59" fmla="*/ 128 h 512"/>
              <a:gd name="T60" fmla="*/ 224 w 512"/>
              <a:gd name="T61" fmla="*/ 117 h 512"/>
              <a:gd name="T62" fmla="*/ 128 w 512"/>
              <a:gd name="T63" fmla="*/ 117 h 512"/>
              <a:gd name="T64" fmla="*/ 117 w 512"/>
              <a:gd name="T65" fmla="*/ 128 h 512"/>
              <a:gd name="T66" fmla="*/ 117 w 512"/>
              <a:gd name="T67" fmla="*/ 224 h 512"/>
              <a:gd name="T68" fmla="*/ 128 w 512"/>
              <a:gd name="T69" fmla="*/ 234 h 512"/>
              <a:gd name="T70" fmla="*/ 224 w 512"/>
              <a:gd name="T71" fmla="*/ 234 h 512"/>
              <a:gd name="T72" fmla="*/ 234 w 512"/>
              <a:gd name="T73" fmla="*/ 224 h 512"/>
              <a:gd name="T74" fmla="*/ 234 w 512"/>
              <a:gd name="T75" fmla="*/ 128 h 512"/>
              <a:gd name="T76" fmla="*/ 394 w 512"/>
              <a:gd name="T77" fmla="*/ 288 h 512"/>
              <a:gd name="T78" fmla="*/ 384 w 512"/>
              <a:gd name="T79" fmla="*/ 277 h 512"/>
              <a:gd name="T80" fmla="*/ 288 w 512"/>
              <a:gd name="T81" fmla="*/ 277 h 512"/>
              <a:gd name="T82" fmla="*/ 277 w 512"/>
              <a:gd name="T83" fmla="*/ 288 h 512"/>
              <a:gd name="T84" fmla="*/ 277 w 512"/>
              <a:gd name="T85" fmla="*/ 384 h 512"/>
              <a:gd name="T86" fmla="*/ 288 w 512"/>
              <a:gd name="T87" fmla="*/ 394 h 512"/>
              <a:gd name="T88" fmla="*/ 384 w 512"/>
              <a:gd name="T89" fmla="*/ 394 h 512"/>
              <a:gd name="T90" fmla="*/ 394 w 512"/>
              <a:gd name="T91" fmla="*/ 384 h 512"/>
              <a:gd name="T92" fmla="*/ 394 w 512"/>
              <a:gd name="T93" fmla="*/ 288 h 512"/>
              <a:gd name="T94" fmla="*/ 394 w 512"/>
              <a:gd name="T95" fmla="*/ 128 h 512"/>
              <a:gd name="T96" fmla="*/ 384 w 512"/>
              <a:gd name="T97" fmla="*/ 117 h 512"/>
              <a:gd name="T98" fmla="*/ 288 w 512"/>
              <a:gd name="T99" fmla="*/ 117 h 512"/>
              <a:gd name="T100" fmla="*/ 277 w 512"/>
              <a:gd name="T101" fmla="*/ 128 h 512"/>
              <a:gd name="T102" fmla="*/ 277 w 512"/>
              <a:gd name="T103" fmla="*/ 224 h 512"/>
              <a:gd name="T104" fmla="*/ 288 w 512"/>
              <a:gd name="T105" fmla="*/ 234 h 512"/>
              <a:gd name="T106" fmla="*/ 384 w 512"/>
              <a:gd name="T107" fmla="*/ 234 h 512"/>
              <a:gd name="T108" fmla="*/ 394 w 512"/>
              <a:gd name="T109" fmla="*/ 224 h 512"/>
              <a:gd name="T110" fmla="*/ 394 w 512"/>
              <a:gd name="T111" fmla="*/ 128 h 512"/>
              <a:gd name="T112" fmla="*/ 298 w 512"/>
              <a:gd name="T113" fmla="*/ 213 h 512"/>
              <a:gd name="T114" fmla="*/ 373 w 512"/>
              <a:gd name="T115" fmla="*/ 213 h 512"/>
              <a:gd name="T116" fmla="*/ 373 w 512"/>
              <a:gd name="T117" fmla="*/ 138 h 512"/>
              <a:gd name="T118" fmla="*/ 298 w 512"/>
              <a:gd name="T119" fmla="*/ 138 h 512"/>
              <a:gd name="T120" fmla="*/ 298 w 512"/>
              <a:gd name="T121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98" y="298"/>
                </a:moveTo>
                <a:cubicBezTo>
                  <a:pt x="373" y="298"/>
                  <a:pt x="373" y="298"/>
                  <a:pt x="373" y="298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298" y="373"/>
                  <a:pt x="298" y="373"/>
                  <a:pt x="298" y="373"/>
                </a:cubicBezTo>
                <a:lnTo>
                  <a:pt x="298" y="298"/>
                </a:lnTo>
                <a:close/>
                <a:moveTo>
                  <a:pt x="138" y="213"/>
                </a:moveTo>
                <a:cubicBezTo>
                  <a:pt x="213" y="213"/>
                  <a:pt x="213" y="213"/>
                  <a:pt x="213" y="213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138" y="138"/>
                  <a:pt x="138" y="138"/>
                  <a:pt x="138" y="138"/>
                </a:cubicBezTo>
                <a:lnTo>
                  <a:pt x="138" y="213"/>
                </a:lnTo>
                <a:close/>
                <a:moveTo>
                  <a:pt x="138" y="373"/>
                </a:moveTo>
                <a:cubicBezTo>
                  <a:pt x="213" y="373"/>
                  <a:pt x="213" y="373"/>
                  <a:pt x="213" y="373"/>
                </a:cubicBezTo>
                <a:cubicBezTo>
                  <a:pt x="213" y="298"/>
                  <a:pt x="213" y="298"/>
                  <a:pt x="213" y="298"/>
                </a:cubicBezTo>
                <a:cubicBezTo>
                  <a:pt x="138" y="298"/>
                  <a:pt x="138" y="298"/>
                  <a:pt x="138" y="298"/>
                </a:cubicBezTo>
                <a:lnTo>
                  <a:pt x="138" y="373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34" y="288"/>
                </a:moveTo>
                <a:cubicBezTo>
                  <a:pt x="234" y="282"/>
                  <a:pt x="230" y="277"/>
                  <a:pt x="224" y="277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2" y="277"/>
                  <a:pt x="117" y="282"/>
                  <a:pt x="117" y="288"/>
                </a:cubicBezTo>
                <a:cubicBezTo>
                  <a:pt x="117" y="384"/>
                  <a:pt x="117" y="384"/>
                  <a:pt x="117" y="384"/>
                </a:cubicBezTo>
                <a:cubicBezTo>
                  <a:pt x="117" y="390"/>
                  <a:pt x="122" y="394"/>
                  <a:pt x="128" y="394"/>
                </a:cubicBezTo>
                <a:cubicBezTo>
                  <a:pt x="224" y="394"/>
                  <a:pt x="224" y="394"/>
                  <a:pt x="224" y="394"/>
                </a:cubicBezTo>
                <a:cubicBezTo>
                  <a:pt x="230" y="394"/>
                  <a:pt x="234" y="390"/>
                  <a:pt x="234" y="384"/>
                </a:cubicBezTo>
                <a:lnTo>
                  <a:pt x="234" y="288"/>
                </a:lnTo>
                <a:close/>
                <a:moveTo>
                  <a:pt x="234" y="128"/>
                </a:moveTo>
                <a:cubicBezTo>
                  <a:pt x="234" y="122"/>
                  <a:pt x="230" y="117"/>
                  <a:pt x="224" y="117"/>
                </a:cubicBezTo>
                <a:cubicBezTo>
                  <a:pt x="128" y="117"/>
                  <a:pt x="128" y="117"/>
                  <a:pt x="128" y="117"/>
                </a:cubicBezTo>
                <a:cubicBezTo>
                  <a:pt x="122" y="117"/>
                  <a:pt x="117" y="122"/>
                  <a:pt x="117" y="128"/>
                </a:cubicBezTo>
                <a:cubicBezTo>
                  <a:pt x="117" y="224"/>
                  <a:pt x="117" y="224"/>
                  <a:pt x="117" y="224"/>
                </a:cubicBezTo>
                <a:cubicBezTo>
                  <a:pt x="117" y="230"/>
                  <a:pt x="122" y="234"/>
                  <a:pt x="128" y="234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30" y="234"/>
                  <a:pt x="234" y="230"/>
                  <a:pt x="234" y="224"/>
                </a:cubicBezTo>
                <a:lnTo>
                  <a:pt x="234" y="128"/>
                </a:lnTo>
                <a:close/>
                <a:moveTo>
                  <a:pt x="394" y="288"/>
                </a:moveTo>
                <a:cubicBezTo>
                  <a:pt x="394" y="282"/>
                  <a:pt x="390" y="277"/>
                  <a:pt x="384" y="277"/>
                </a:cubicBezTo>
                <a:cubicBezTo>
                  <a:pt x="288" y="277"/>
                  <a:pt x="288" y="277"/>
                  <a:pt x="288" y="277"/>
                </a:cubicBezTo>
                <a:cubicBezTo>
                  <a:pt x="282" y="277"/>
                  <a:pt x="277" y="282"/>
                  <a:pt x="277" y="288"/>
                </a:cubicBezTo>
                <a:cubicBezTo>
                  <a:pt x="277" y="384"/>
                  <a:pt x="277" y="384"/>
                  <a:pt x="277" y="384"/>
                </a:cubicBezTo>
                <a:cubicBezTo>
                  <a:pt x="277" y="390"/>
                  <a:pt x="282" y="394"/>
                  <a:pt x="288" y="394"/>
                </a:cubicBezTo>
                <a:cubicBezTo>
                  <a:pt x="384" y="394"/>
                  <a:pt x="384" y="394"/>
                  <a:pt x="384" y="394"/>
                </a:cubicBezTo>
                <a:cubicBezTo>
                  <a:pt x="390" y="394"/>
                  <a:pt x="394" y="390"/>
                  <a:pt x="394" y="384"/>
                </a:cubicBezTo>
                <a:lnTo>
                  <a:pt x="394" y="288"/>
                </a:lnTo>
                <a:close/>
                <a:moveTo>
                  <a:pt x="394" y="128"/>
                </a:moveTo>
                <a:cubicBezTo>
                  <a:pt x="394" y="122"/>
                  <a:pt x="390" y="117"/>
                  <a:pt x="384" y="117"/>
                </a:cubicBezTo>
                <a:cubicBezTo>
                  <a:pt x="288" y="117"/>
                  <a:pt x="288" y="117"/>
                  <a:pt x="288" y="117"/>
                </a:cubicBezTo>
                <a:cubicBezTo>
                  <a:pt x="282" y="117"/>
                  <a:pt x="277" y="122"/>
                  <a:pt x="277" y="128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77" y="230"/>
                  <a:pt x="282" y="234"/>
                  <a:pt x="288" y="234"/>
                </a:cubicBezTo>
                <a:cubicBezTo>
                  <a:pt x="384" y="234"/>
                  <a:pt x="384" y="234"/>
                  <a:pt x="384" y="234"/>
                </a:cubicBezTo>
                <a:cubicBezTo>
                  <a:pt x="390" y="234"/>
                  <a:pt x="394" y="230"/>
                  <a:pt x="394" y="224"/>
                </a:cubicBezTo>
                <a:lnTo>
                  <a:pt x="394" y="128"/>
                </a:lnTo>
                <a:close/>
                <a:moveTo>
                  <a:pt x="298" y="213"/>
                </a:moveTo>
                <a:cubicBezTo>
                  <a:pt x="373" y="213"/>
                  <a:pt x="373" y="213"/>
                  <a:pt x="373" y="213"/>
                </a:cubicBezTo>
                <a:cubicBezTo>
                  <a:pt x="373" y="138"/>
                  <a:pt x="373" y="138"/>
                  <a:pt x="373" y="138"/>
                </a:cubicBezTo>
                <a:cubicBezTo>
                  <a:pt x="298" y="138"/>
                  <a:pt x="298" y="138"/>
                  <a:pt x="298" y="138"/>
                </a:cubicBezTo>
                <a:lnTo>
                  <a:pt x="298" y="2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17388" tIns="58694" rIns="117388" bIns="58694" numCol="1" anchor="t" anchorCtr="0" compatLnSpc="1">
            <a:prstTxWarp prst="textNoShape">
              <a:avLst/>
            </a:prstTxWarp>
          </a:bodyPr>
          <a:lstStyle/>
          <a:p>
            <a:pPr defTabSz="1565035">
              <a:defRPr/>
            </a:pPr>
            <a:endParaRPr lang="en-GB" sz="2800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88" name="Freeform 59">
            <a:extLst>
              <a:ext uri="{FF2B5EF4-FFF2-40B4-BE49-F238E27FC236}">
                <a16:creationId xmlns:a16="http://schemas.microsoft.com/office/drawing/2014/main" id="{9920DF9A-5043-4800-805F-AAA1D155489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21730" y="1313477"/>
            <a:ext cx="466629" cy="506866"/>
          </a:xfrm>
          <a:custGeom>
            <a:avLst/>
            <a:gdLst>
              <a:gd name="T0" fmla="*/ 147 w 512"/>
              <a:gd name="T1" fmla="*/ 170 h 512"/>
              <a:gd name="T2" fmla="*/ 201 w 512"/>
              <a:gd name="T3" fmla="*/ 170 h 512"/>
              <a:gd name="T4" fmla="*/ 223 w 512"/>
              <a:gd name="T5" fmla="*/ 170 h 512"/>
              <a:gd name="T6" fmla="*/ 256 w 512"/>
              <a:gd name="T7" fmla="*/ 117 h 512"/>
              <a:gd name="T8" fmla="*/ 133 w 512"/>
              <a:gd name="T9" fmla="*/ 192 h 512"/>
              <a:gd name="T10" fmla="*/ 192 w 512"/>
              <a:gd name="T11" fmla="*/ 245 h 512"/>
              <a:gd name="T12" fmla="*/ 218 w 512"/>
              <a:gd name="T13" fmla="*/ 320 h 512"/>
              <a:gd name="T14" fmla="*/ 298 w 512"/>
              <a:gd name="T15" fmla="*/ 266 h 512"/>
              <a:gd name="T16" fmla="*/ 218 w 512"/>
              <a:gd name="T17" fmla="*/ 320 h 512"/>
              <a:gd name="T18" fmla="*/ 292 w 512"/>
              <a:gd name="T19" fmla="*/ 122 h 512"/>
              <a:gd name="T20" fmla="*/ 365 w 512"/>
              <a:gd name="T21" fmla="*/ 170 h 512"/>
              <a:gd name="T22" fmla="*/ 218 w 512"/>
              <a:gd name="T23" fmla="*/ 192 h 512"/>
              <a:gd name="T24" fmla="*/ 298 w 512"/>
              <a:gd name="T25" fmla="*/ 245 h 512"/>
              <a:gd name="T26" fmla="*/ 192 w 512"/>
              <a:gd name="T27" fmla="*/ 266 h 512"/>
              <a:gd name="T28" fmla="*/ 133 w 512"/>
              <a:gd name="T29" fmla="*/ 320 h 512"/>
              <a:gd name="T30" fmla="*/ 192 w 512"/>
              <a:gd name="T31" fmla="*/ 266 h 512"/>
              <a:gd name="T32" fmla="*/ 394 w 512"/>
              <a:gd name="T33" fmla="*/ 245 h 512"/>
              <a:gd name="T34" fmla="*/ 314 w 512"/>
              <a:gd name="T35" fmla="*/ 192 h 512"/>
              <a:gd name="T36" fmla="*/ 512 w 512"/>
              <a:gd name="T37" fmla="*/ 256 h 512"/>
              <a:gd name="T38" fmla="*/ 0 w 512"/>
              <a:gd name="T39" fmla="*/ 256 h 512"/>
              <a:gd name="T40" fmla="*/ 512 w 512"/>
              <a:gd name="T41" fmla="*/ 256 h 512"/>
              <a:gd name="T42" fmla="*/ 256 w 512"/>
              <a:gd name="T43" fmla="*/ 96 h 512"/>
              <a:gd name="T44" fmla="*/ 256 w 512"/>
              <a:gd name="T45" fmla="*/ 416 h 512"/>
              <a:gd name="T46" fmla="*/ 314 w 512"/>
              <a:gd name="T47" fmla="*/ 320 h 512"/>
              <a:gd name="T48" fmla="*/ 394 w 512"/>
              <a:gd name="T49" fmla="*/ 266 h 512"/>
              <a:gd name="T50" fmla="*/ 314 w 512"/>
              <a:gd name="T51" fmla="*/ 320 h 512"/>
              <a:gd name="T52" fmla="*/ 220 w 512"/>
              <a:gd name="T53" fmla="*/ 389 h 512"/>
              <a:gd name="T54" fmla="*/ 147 w 512"/>
              <a:gd name="T55" fmla="*/ 341 h 512"/>
              <a:gd name="T56" fmla="*/ 365 w 512"/>
              <a:gd name="T57" fmla="*/ 341 h 512"/>
              <a:gd name="T58" fmla="*/ 292 w 512"/>
              <a:gd name="T59" fmla="*/ 389 h 512"/>
              <a:gd name="T60" fmla="*/ 288 w 512"/>
              <a:gd name="T61" fmla="*/ 341 h 512"/>
              <a:gd name="T62" fmla="*/ 256 w 512"/>
              <a:gd name="T63" fmla="*/ 39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12" h="512">
                <a:moveTo>
                  <a:pt x="201" y="170"/>
                </a:moveTo>
                <a:cubicBezTo>
                  <a:pt x="147" y="170"/>
                  <a:pt x="147" y="170"/>
                  <a:pt x="147" y="170"/>
                </a:cubicBezTo>
                <a:cubicBezTo>
                  <a:pt x="165" y="147"/>
                  <a:pt x="190" y="130"/>
                  <a:pt x="220" y="122"/>
                </a:cubicBezTo>
                <a:cubicBezTo>
                  <a:pt x="212" y="135"/>
                  <a:pt x="206" y="151"/>
                  <a:pt x="201" y="170"/>
                </a:cubicBezTo>
                <a:close/>
                <a:moveTo>
                  <a:pt x="256" y="117"/>
                </a:moveTo>
                <a:cubicBezTo>
                  <a:pt x="245" y="117"/>
                  <a:pt x="232" y="137"/>
                  <a:pt x="223" y="170"/>
                </a:cubicBezTo>
                <a:cubicBezTo>
                  <a:pt x="288" y="170"/>
                  <a:pt x="288" y="170"/>
                  <a:pt x="288" y="170"/>
                </a:cubicBezTo>
                <a:cubicBezTo>
                  <a:pt x="279" y="137"/>
                  <a:pt x="266" y="117"/>
                  <a:pt x="256" y="117"/>
                </a:cubicBezTo>
                <a:close/>
                <a:moveTo>
                  <a:pt x="197" y="192"/>
                </a:moveTo>
                <a:cubicBezTo>
                  <a:pt x="133" y="192"/>
                  <a:pt x="133" y="192"/>
                  <a:pt x="133" y="192"/>
                </a:cubicBezTo>
                <a:cubicBezTo>
                  <a:pt x="124" y="208"/>
                  <a:pt x="119" y="226"/>
                  <a:pt x="118" y="245"/>
                </a:cubicBezTo>
                <a:cubicBezTo>
                  <a:pt x="192" y="245"/>
                  <a:pt x="192" y="245"/>
                  <a:pt x="192" y="245"/>
                </a:cubicBezTo>
                <a:cubicBezTo>
                  <a:pt x="192" y="227"/>
                  <a:pt x="194" y="209"/>
                  <a:pt x="197" y="192"/>
                </a:cubicBezTo>
                <a:close/>
                <a:moveTo>
                  <a:pt x="218" y="320"/>
                </a:moveTo>
                <a:cubicBezTo>
                  <a:pt x="293" y="320"/>
                  <a:pt x="293" y="320"/>
                  <a:pt x="293" y="320"/>
                </a:cubicBezTo>
                <a:cubicBezTo>
                  <a:pt x="296" y="304"/>
                  <a:pt x="298" y="286"/>
                  <a:pt x="298" y="266"/>
                </a:cubicBezTo>
                <a:cubicBezTo>
                  <a:pt x="213" y="266"/>
                  <a:pt x="213" y="266"/>
                  <a:pt x="213" y="266"/>
                </a:cubicBezTo>
                <a:cubicBezTo>
                  <a:pt x="214" y="286"/>
                  <a:pt x="216" y="304"/>
                  <a:pt x="218" y="320"/>
                </a:cubicBezTo>
                <a:close/>
                <a:moveTo>
                  <a:pt x="365" y="170"/>
                </a:moveTo>
                <a:cubicBezTo>
                  <a:pt x="347" y="147"/>
                  <a:pt x="321" y="130"/>
                  <a:pt x="292" y="122"/>
                </a:cubicBezTo>
                <a:cubicBezTo>
                  <a:pt x="299" y="135"/>
                  <a:pt x="306" y="151"/>
                  <a:pt x="310" y="170"/>
                </a:cubicBezTo>
                <a:lnTo>
                  <a:pt x="365" y="170"/>
                </a:lnTo>
                <a:close/>
                <a:moveTo>
                  <a:pt x="293" y="192"/>
                </a:moveTo>
                <a:cubicBezTo>
                  <a:pt x="218" y="192"/>
                  <a:pt x="218" y="192"/>
                  <a:pt x="218" y="192"/>
                </a:cubicBezTo>
                <a:cubicBezTo>
                  <a:pt x="216" y="207"/>
                  <a:pt x="214" y="225"/>
                  <a:pt x="213" y="245"/>
                </a:cubicBezTo>
                <a:cubicBezTo>
                  <a:pt x="298" y="245"/>
                  <a:pt x="298" y="245"/>
                  <a:pt x="298" y="245"/>
                </a:cubicBezTo>
                <a:cubicBezTo>
                  <a:pt x="298" y="225"/>
                  <a:pt x="296" y="207"/>
                  <a:pt x="293" y="192"/>
                </a:cubicBezTo>
                <a:close/>
                <a:moveTo>
                  <a:pt x="192" y="266"/>
                </a:moveTo>
                <a:cubicBezTo>
                  <a:pt x="118" y="266"/>
                  <a:pt x="118" y="266"/>
                  <a:pt x="118" y="266"/>
                </a:cubicBezTo>
                <a:cubicBezTo>
                  <a:pt x="119" y="285"/>
                  <a:pt x="124" y="303"/>
                  <a:pt x="133" y="320"/>
                </a:cubicBezTo>
                <a:cubicBezTo>
                  <a:pt x="197" y="320"/>
                  <a:pt x="197" y="320"/>
                  <a:pt x="197" y="320"/>
                </a:cubicBezTo>
                <a:cubicBezTo>
                  <a:pt x="194" y="303"/>
                  <a:pt x="192" y="284"/>
                  <a:pt x="192" y="266"/>
                </a:cubicBezTo>
                <a:close/>
                <a:moveTo>
                  <a:pt x="319" y="245"/>
                </a:moveTo>
                <a:cubicBezTo>
                  <a:pt x="394" y="245"/>
                  <a:pt x="394" y="245"/>
                  <a:pt x="394" y="245"/>
                </a:cubicBezTo>
                <a:cubicBezTo>
                  <a:pt x="392" y="226"/>
                  <a:pt x="387" y="208"/>
                  <a:pt x="379" y="192"/>
                </a:cubicBezTo>
                <a:cubicBezTo>
                  <a:pt x="314" y="192"/>
                  <a:pt x="314" y="192"/>
                  <a:pt x="314" y="192"/>
                </a:cubicBezTo>
                <a:cubicBezTo>
                  <a:pt x="317" y="209"/>
                  <a:pt x="319" y="227"/>
                  <a:pt x="319" y="245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256"/>
                </a:moveTo>
                <a:cubicBezTo>
                  <a:pt x="416" y="167"/>
                  <a:pt x="344" y="96"/>
                  <a:pt x="256" y="96"/>
                </a:cubicBezTo>
                <a:cubicBezTo>
                  <a:pt x="167" y="96"/>
                  <a:pt x="96" y="167"/>
                  <a:pt x="96" y="256"/>
                </a:cubicBezTo>
                <a:cubicBezTo>
                  <a:pt x="96" y="344"/>
                  <a:pt x="167" y="416"/>
                  <a:pt x="256" y="416"/>
                </a:cubicBezTo>
                <a:cubicBezTo>
                  <a:pt x="344" y="416"/>
                  <a:pt x="416" y="344"/>
                  <a:pt x="416" y="256"/>
                </a:cubicBezTo>
                <a:close/>
                <a:moveTo>
                  <a:pt x="314" y="320"/>
                </a:moveTo>
                <a:cubicBezTo>
                  <a:pt x="379" y="320"/>
                  <a:pt x="379" y="320"/>
                  <a:pt x="379" y="320"/>
                </a:cubicBezTo>
                <a:cubicBezTo>
                  <a:pt x="387" y="303"/>
                  <a:pt x="392" y="285"/>
                  <a:pt x="394" y="266"/>
                </a:cubicBezTo>
                <a:cubicBezTo>
                  <a:pt x="319" y="266"/>
                  <a:pt x="319" y="266"/>
                  <a:pt x="319" y="266"/>
                </a:cubicBezTo>
                <a:cubicBezTo>
                  <a:pt x="319" y="284"/>
                  <a:pt x="317" y="303"/>
                  <a:pt x="314" y="320"/>
                </a:cubicBezTo>
                <a:close/>
                <a:moveTo>
                  <a:pt x="147" y="341"/>
                </a:moveTo>
                <a:cubicBezTo>
                  <a:pt x="165" y="364"/>
                  <a:pt x="190" y="381"/>
                  <a:pt x="220" y="389"/>
                </a:cubicBezTo>
                <a:cubicBezTo>
                  <a:pt x="212" y="377"/>
                  <a:pt x="206" y="360"/>
                  <a:pt x="201" y="341"/>
                </a:cubicBezTo>
                <a:lnTo>
                  <a:pt x="147" y="341"/>
                </a:lnTo>
                <a:close/>
                <a:moveTo>
                  <a:pt x="292" y="389"/>
                </a:moveTo>
                <a:cubicBezTo>
                  <a:pt x="321" y="381"/>
                  <a:pt x="347" y="364"/>
                  <a:pt x="365" y="341"/>
                </a:cubicBezTo>
                <a:cubicBezTo>
                  <a:pt x="310" y="341"/>
                  <a:pt x="310" y="341"/>
                  <a:pt x="310" y="341"/>
                </a:cubicBezTo>
                <a:cubicBezTo>
                  <a:pt x="306" y="360"/>
                  <a:pt x="299" y="377"/>
                  <a:pt x="292" y="389"/>
                </a:cubicBezTo>
                <a:close/>
                <a:moveTo>
                  <a:pt x="256" y="394"/>
                </a:moveTo>
                <a:cubicBezTo>
                  <a:pt x="266" y="394"/>
                  <a:pt x="279" y="375"/>
                  <a:pt x="288" y="341"/>
                </a:cubicBezTo>
                <a:cubicBezTo>
                  <a:pt x="223" y="341"/>
                  <a:pt x="223" y="341"/>
                  <a:pt x="223" y="341"/>
                </a:cubicBezTo>
                <a:cubicBezTo>
                  <a:pt x="232" y="375"/>
                  <a:pt x="245" y="394"/>
                  <a:pt x="256" y="3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2000" dirty="0"/>
          </a:p>
        </p:txBody>
      </p:sp>
      <p:grpSp>
        <p:nvGrpSpPr>
          <p:cNvPr id="98" name="Group 97"/>
          <p:cNvGrpSpPr/>
          <p:nvPr/>
        </p:nvGrpSpPr>
        <p:grpSpPr>
          <a:xfrm>
            <a:off x="233680" y="6722628"/>
            <a:ext cx="13575467" cy="480812"/>
            <a:chOff x="233680" y="6722628"/>
            <a:chExt cx="13575467" cy="480812"/>
          </a:xfrm>
        </p:grpSpPr>
        <p:sp>
          <p:nvSpPr>
            <p:cNvPr id="99" name="Freeform 603">
              <a:extLst>
                <a:ext uri="{FF2B5EF4-FFF2-40B4-BE49-F238E27FC236}">
                  <a16:creationId xmlns:a16="http://schemas.microsoft.com/office/drawing/2014/main" id="{9DB6703D-8959-4F09-ABE7-FBE0ED732E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774" y="6886840"/>
              <a:ext cx="216000" cy="216000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5 w 512"/>
                <a:gd name="T11" fmla="*/ 362 h 512"/>
                <a:gd name="T12" fmla="*/ 106 w 512"/>
                <a:gd name="T13" fmla="*/ 362 h 512"/>
                <a:gd name="T14" fmla="*/ 96 w 512"/>
                <a:gd name="T15" fmla="*/ 352 h 512"/>
                <a:gd name="T16" fmla="*/ 106 w 512"/>
                <a:gd name="T17" fmla="*/ 341 h 512"/>
                <a:gd name="T18" fmla="*/ 405 w 512"/>
                <a:gd name="T19" fmla="*/ 341 h 512"/>
                <a:gd name="T20" fmla="*/ 416 w 512"/>
                <a:gd name="T21" fmla="*/ 352 h 512"/>
                <a:gd name="T22" fmla="*/ 405 w 512"/>
                <a:gd name="T23" fmla="*/ 362 h 512"/>
                <a:gd name="T24" fmla="*/ 405 w 512"/>
                <a:gd name="T25" fmla="*/ 298 h 512"/>
                <a:gd name="T26" fmla="*/ 106 w 512"/>
                <a:gd name="T27" fmla="*/ 298 h 512"/>
                <a:gd name="T28" fmla="*/ 96 w 512"/>
                <a:gd name="T29" fmla="*/ 288 h 512"/>
                <a:gd name="T30" fmla="*/ 106 w 512"/>
                <a:gd name="T31" fmla="*/ 277 h 512"/>
                <a:gd name="T32" fmla="*/ 405 w 512"/>
                <a:gd name="T33" fmla="*/ 277 h 512"/>
                <a:gd name="T34" fmla="*/ 416 w 512"/>
                <a:gd name="T35" fmla="*/ 288 h 512"/>
                <a:gd name="T36" fmla="*/ 405 w 512"/>
                <a:gd name="T37" fmla="*/ 298 h 512"/>
                <a:gd name="T38" fmla="*/ 405 w 512"/>
                <a:gd name="T39" fmla="*/ 234 h 512"/>
                <a:gd name="T40" fmla="*/ 106 w 512"/>
                <a:gd name="T41" fmla="*/ 234 h 512"/>
                <a:gd name="T42" fmla="*/ 96 w 512"/>
                <a:gd name="T43" fmla="*/ 224 h 512"/>
                <a:gd name="T44" fmla="*/ 106 w 512"/>
                <a:gd name="T45" fmla="*/ 213 h 512"/>
                <a:gd name="T46" fmla="*/ 405 w 512"/>
                <a:gd name="T47" fmla="*/ 213 h 512"/>
                <a:gd name="T48" fmla="*/ 416 w 512"/>
                <a:gd name="T49" fmla="*/ 224 h 512"/>
                <a:gd name="T50" fmla="*/ 405 w 512"/>
                <a:gd name="T51" fmla="*/ 234 h 512"/>
                <a:gd name="T52" fmla="*/ 405 w 512"/>
                <a:gd name="T53" fmla="*/ 170 h 512"/>
                <a:gd name="T54" fmla="*/ 106 w 512"/>
                <a:gd name="T55" fmla="*/ 170 h 512"/>
                <a:gd name="T56" fmla="*/ 96 w 512"/>
                <a:gd name="T57" fmla="*/ 160 h 512"/>
                <a:gd name="T58" fmla="*/ 106 w 512"/>
                <a:gd name="T59" fmla="*/ 149 h 512"/>
                <a:gd name="T60" fmla="*/ 405 w 512"/>
                <a:gd name="T61" fmla="*/ 149 h 512"/>
                <a:gd name="T62" fmla="*/ 416 w 512"/>
                <a:gd name="T63" fmla="*/ 160 h 512"/>
                <a:gd name="T64" fmla="*/ 405 w 512"/>
                <a:gd name="T65" fmla="*/ 17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5" y="362"/>
                  </a:moveTo>
                  <a:cubicBezTo>
                    <a:pt x="106" y="362"/>
                    <a:pt x="106" y="362"/>
                    <a:pt x="106" y="362"/>
                  </a:cubicBezTo>
                  <a:cubicBezTo>
                    <a:pt x="100" y="362"/>
                    <a:pt x="96" y="358"/>
                    <a:pt x="96" y="352"/>
                  </a:cubicBezTo>
                  <a:cubicBezTo>
                    <a:pt x="96" y="346"/>
                    <a:pt x="100" y="341"/>
                    <a:pt x="106" y="341"/>
                  </a:cubicBezTo>
                  <a:cubicBezTo>
                    <a:pt x="405" y="341"/>
                    <a:pt x="405" y="341"/>
                    <a:pt x="405" y="341"/>
                  </a:cubicBezTo>
                  <a:cubicBezTo>
                    <a:pt x="411" y="341"/>
                    <a:pt x="416" y="346"/>
                    <a:pt x="416" y="352"/>
                  </a:cubicBezTo>
                  <a:cubicBezTo>
                    <a:pt x="416" y="358"/>
                    <a:pt x="411" y="362"/>
                    <a:pt x="405" y="362"/>
                  </a:cubicBezTo>
                  <a:close/>
                  <a:moveTo>
                    <a:pt x="405" y="298"/>
                  </a:moveTo>
                  <a:cubicBezTo>
                    <a:pt x="106" y="298"/>
                    <a:pt x="106" y="298"/>
                    <a:pt x="106" y="298"/>
                  </a:cubicBezTo>
                  <a:cubicBezTo>
                    <a:pt x="100" y="298"/>
                    <a:pt x="96" y="294"/>
                    <a:pt x="96" y="288"/>
                  </a:cubicBezTo>
                  <a:cubicBezTo>
                    <a:pt x="96" y="282"/>
                    <a:pt x="100" y="277"/>
                    <a:pt x="106" y="277"/>
                  </a:cubicBezTo>
                  <a:cubicBezTo>
                    <a:pt x="405" y="277"/>
                    <a:pt x="405" y="277"/>
                    <a:pt x="405" y="277"/>
                  </a:cubicBezTo>
                  <a:cubicBezTo>
                    <a:pt x="411" y="277"/>
                    <a:pt x="416" y="282"/>
                    <a:pt x="416" y="288"/>
                  </a:cubicBezTo>
                  <a:cubicBezTo>
                    <a:pt x="416" y="294"/>
                    <a:pt x="411" y="298"/>
                    <a:pt x="405" y="298"/>
                  </a:cubicBezTo>
                  <a:close/>
                  <a:moveTo>
                    <a:pt x="405" y="234"/>
                  </a:moveTo>
                  <a:cubicBezTo>
                    <a:pt x="106" y="234"/>
                    <a:pt x="106" y="234"/>
                    <a:pt x="106" y="234"/>
                  </a:cubicBezTo>
                  <a:cubicBezTo>
                    <a:pt x="100" y="234"/>
                    <a:pt x="96" y="230"/>
                    <a:pt x="96" y="224"/>
                  </a:cubicBezTo>
                  <a:cubicBezTo>
                    <a:pt x="96" y="218"/>
                    <a:pt x="100" y="213"/>
                    <a:pt x="106" y="213"/>
                  </a:cubicBezTo>
                  <a:cubicBezTo>
                    <a:pt x="405" y="213"/>
                    <a:pt x="405" y="213"/>
                    <a:pt x="405" y="213"/>
                  </a:cubicBezTo>
                  <a:cubicBezTo>
                    <a:pt x="411" y="213"/>
                    <a:pt x="416" y="218"/>
                    <a:pt x="416" y="224"/>
                  </a:cubicBezTo>
                  <a:cubicBezTo>
                    <a:pt x="416" y="230"/>
                    <a:pt x="411" y="234"/>
                    <a:pt x="405" y="234"/>
                  </a:cubicBezTo>
                  <a:close/>
                  <a:moveTo>
                    <a:pt x="405" y="170"/>
                  </a:moveTo>
                  <a:cubicBezTo>
                    <a:pt x="106" y="170"/>
                    <a:pt x="106" y="170"/>
                    <a:pt x="106" y="170"/>
                  </a:cubicBezTo>
                  <a:cubicBezTo>
                    <a:pt x="100" y="170"/>
                    <a:pt x="96" y="166"/>
                    <a:pt x="96" y="160"/>
                  </a:cubicBezTo>
                  <a:cubicBezTo>
                    <a:pt x="96" y="154"/>
                    <a:pt x="100" y="149"/>
                    <a:pt x="106" y="149"/>
                  </a:cubicBezTo>
                  <a:cubicBezTo>
                    <a:pt x="405" y="149"/>
                    <a:pt x="405" y="149"/>
                    <a:pt x="405" y="149"/>
                  </a:cubicBezTo>
                  <a:cubicBezTo>
                    <a:pt x="411" y="149"/>
                    <a:pt x="416" y="154"/>
                    <a:pt x="416" y="160"/>
                  </a:cubicBezTo>
                  <a:cubicBezTo>
                    <a:pt x="416" y="166"/>
                    <a:pt x="411" y="170"/>
                    <a:pt x="405" y="17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 dirty="0"/>
            </a:p>
          </p:txBody>
        </p:sp>
        <p:grpSp>
          <p:nvGrpSpPr>
            <p:cNvPr id="100" name="Group 447"/>
            <p:cNvGrpSpPr>
              <a:grpSpLocks/>
            </p:cNvGrpSpPr>
            <p:nvPr/>
          </p:nvGrpSpPr>
          <p:grpSpPr bwMode="auto">
            <a:xfrm>
              <a:off x="2246820" y="6886840"/>
              <a:ext cx="216000" cy="216000"/>
              <a:chOff x="5601" y="1820"/>
              <a:chExt cx="340" cy="340"/>
            </a:xfrm>
            <a:solidFill>
              <a:schemeClr val="accent5"/>
            </a:solidFill>
          </p:grpSpPr>
          <p:sp>
            <p:nvSpPr>
              <p:cNvPr id="117" name="Freeform 448"/>
              <p:cNvSpPr>
                <a:spLocks noEditPoints="1"/>
              </p:cNvSpPr>
              <p:nvPr/>
            </p:nvSpPr>
            <p:spPr bwMode="auto">
              <a:xfrm>
                <a:off x="5679" y="1948"/>
                <a:ext cx="182" cy="85"/>
              </a:xfrm>
              <a:custGeom>
                <a:avLst/>
                <a:gdLst>
                  <a:gd name="T0" fmla="*/ 131 w 275"/>
                  <a:gd name="T1" fmla="*/ 43 h 128"/>
                  <a:gd name="T2" fmla="*/ 122 w 275"/>
                  <a:gd name="T3" fmla="*/ 37 h 128"/>
                  <a:gd name="T4" fmla="*/ 64 w 275"/>
                  <a:gd name="T5" fmla="*/ 0 h 128"/>
                  <a:gd name="T6" fmla="*/ 0 w 275"/>
                  <a:gd name="T7" fmla="*/ 64 h 128"/>
                  <a:gd name="T8" fmla="*/ 64 w 275"/>
                  <a:gd name="T9" fmla="*/ 128 h 128"/>
                  <a:gd name="T10" fmla="*/ 122 w 275"/>
                  <a:gd name="T11" fmla="*/ 92 h 128"/>
                  <a:gd name="T12" fmla="*/ 131 w 275"/>
                  <a:gd name="T13" fmla="*/ 86 h 128"/>
                  <a:gd name="T14" fmla="*/ 177 w 275"/>
                  <a:gd name="T15" fmla="*/ 86 h 128"/>
                  <a:gd name="T16" fmla="*/ 195 w 275"/>
                  <a:gd name="T17" fmla="*/ 67 h 128"/>
                  <a:gd name="T18" fmla="*/ 210 w 275"/>
                  <a:gd name="T19" fmla="*/ 67 h 128"/>
                  <a:gd name="T20" fmla="*/ 224 w 275"/>
                  <a:gd name="T21" fmla="*/ 81 h 128"/>
                  <a:gd name="T22" fmla="*/ 238 w 275"/>
                  <a:gd name="T23" fmla="*/ 67 h 128"/>
                  <a:gd name="T24" fmla="*/ 253 w 275"/>
                  <a:gd name="T25" fmla="*/ 67 h 128"/>
                  <a:gd name="T26" fmla="*/ 265 w 275"/>
                  <a:gd name="T27" fmla="*/ 79 h 128"/>
                  <a:gd name="T28" fmla="*/ 275 w 275"/>
                  <a:gd name="T29" fmla="*/ 64 h 128"/>
                  <a:gd name="T30" fmla="*/ 261 w 275"/>
                  <a:gd name="T31" fmla="*/ 43 h 128"/>
                  <a:gd name="T32" fmla="*/ 131 w 275"/>
                  <a:gd name="T33" fmla="*/ 43 h 128"/>
                  <a:gd name="T34" fmla="*/ 53 w 275"/>
                  <a:gd name="T35" fmla="*/ 85 h 128"/>
                  <a:gd name="T36" fmla="*/ 32 w 275"/>
                  <a:gd name="T37" fmla="*/ 64 h 128"/>
                  <a:gd name="T38" fmla="*/ 53 w 275"/>
                  <a:gd name="T39" fmla="*/ 43 h 128"/>
                  <a:gd name="T40" fmla="*/ 75 w 275"/>
                  <a:gd name="T41" fmla="*/ 64 h 128"/>
                  <a:gd name="T42" fmla="*/ 53 w 275"/>
                  <a:gd name="T43" fmla="*/ 85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5" h="128">
                    <a:moveTo>
                      <a:pt x="131" y="43"/>
                    </a:moveTo>
                    <a:cubicBezTo>
                      <a:pt x="127" y="43"/>
                      <a:pt x="124" y="41"/>
                      <a:pt x="122" y="37"/>
                    </a:cubicBezTo>
                    <a:cubicBezTo>
                      <a:pt x="111" y="15"/>
                      <a:pt x="89" y="0"/>
                      <a:pt x="64" y="0"/>
                    </a:cubicBezTo>
                    <a:cubicBezTo>
                      <a:pt x="29" y="0"/>
                      <a:pt x="0" y="29"/>
                      <a:pt x="0" y="64"/>
                    </a:cubicBezTo>
                    <a:cubicBezTo>
                      <a:pt x="0" y="99"/>
                      <a:pt x="29" y="128"/>
                      <a:pt x="64" y="128"/>
                    </a:cubicBezTo>
                    <a:cubicBezTo>
                      <a:pt x="89" y="128"/>
                      <a:pt x="111" y="114"/>
                      <a:pt x="122" y="92"/>
                    </a:cubicBezTo>
                    <a:cubicBezTo>
                      <a:pt x="124" y="88"/>
                      <a:pt x="127" y="86"/>
                      <a:pt x="131" y="86"/>
                    </a:cubicBezTo>
                    <a:cubicBezTo>
                      <a:pt x="177" y="86"/>
                      <a:pt x="177" y="86"/>
                      <a:pt x="177" y="86"/>
                    </a:cubicBezTo>
                    <a:cubicBezTo>
                      <a:pt x="195" y="67"/>
                      <a:pt x="195" y="67"/>
                      <a:pt x="195" y="67"/>
                    </a:cubicBezTo>
                    <a:cubicBezTo>
                      <a:pt x="199" y="63"/>
                      <a:pt x="206" y="63"/>
                      <a:pt x="210" y="67"/>
                    </a:cubicBezTo>
                    <a:cubicBezTo>
                      <a:pt x="224" y="81"/>
                      <a:pt x="224" y="81"/>
                      <a:pt x="224" y="81"/>
                    </a:cubicBezTo>
                    <a:cubicBezTo>
                      <a:pt x="238" y="67"/>
                      <a:pt x="238" y="67"/>
                      <a:pt x="238" y="67"/>
                    </a:cubicBezTo>
                    <a:cubicBezTo>
                      <a:pt x="242" y="63"/>
                      <a:pt x="249" y="63"/>
                      <a:pt x="253" y="67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5" y="64"/>
                      <a:pt x="275" y="64"/>
                      <a:pt x="275" y="64"/>
                    </a:cubicBezTo>
                    <a:cubicBezTo>
                      <a:pt x="261" y="43"/>
                      <a:pt x="261" y="43"/>
                      <a:pt x="261" y="43"/>
                    </a:cubicBezTo>
                    <a:lnTo>
                      <a:pt x="131" y="43"/>
                    </a:lnTo>
                    <a:close/>
                    <a:moveTo>
                      <a:pt x="53" y="85"/>
                    </a:moveTo>
                    <a:cubicBezTo>
                      <a:pt x="42" y="85"/>
                      <a:pt x="32" y="76"/>
                      <a:pt x="32" y="64"/>
                    </a:cubicBezTo>
                    <a:cubicBezTo>
                      <a:pt x="32" y="52"/>
                      <a:pt x="42" y="43"/>
                      <a:pt x="53" y="43"/>
                    </a:cubicBezTo>
                    <a:cubicBezTo>
                      <a:pt x="65" y="43"/>
                      <a:pt x="75" y="52"/>
                      <a:pt x="75" y="64"/>
                    </a:cubicBezTo>
                    <a:cubicBezTo>
                      <a:pt x="75" y="76"/>
                      <a:pt x="65" y="85"/>
                      <a:pt x="5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200"/>
              </a:p>
            </p:txBody>
          </p:sp>
          <p:sp>
            <p:nvSpPr>
              <p:cNvPr id="118" name="Freeform 449"/>
              <p:cNvSpPr>
                <a:spLocks noEditPoints="1"/>
              </p:cNvSpPr>
              <p:nvPr/>
            </p:nvSpPr>
            <p:spPr bwMode="auto">
              <a:xfrm>
                <a:off x="5601" y="1820"/>
                <a:ext cx="340" cy="340"/>
              </a:xfrm>
              <a:custGeom>
                <a:avLst/>
                <a:gdLst>
                  <a:gd name="T0" fmla="*/ 256 w 512"/>
                  <a:gd name="T1" fmla="*/ 0 h 512"/>
                  <a:gd name="T2" fmla="*/ 0 w 512"/>
                  <a:gd name="T3" fmla="*/ 256 h 512"/>
                  <a:gd name="T4" fmla="*/ 256 w 512"/>
                  <a:gd name="T5" fmla="*/ 512 h 512"/>
                  <a:gd name="T6" fmla="*/ 512 w 512"/>
                  <a:gd name="T7" fmla="*/ 256 h 512"/>
                  <a:gd name="T8" fmla="*/ 256 w 512"/>
                  <a:gd name="T9" fmla="*/ 0 h 512"/>
                  <a:gd name="T10" fmla="*/ 414 w 512"/>
                  <a:gd name="T11" fmla="*/ 262 h 512"/>
                  <a:gd name="T12" fmla="*/ 393 w 512"/>
                  <a:gd name="T13" fmla="*/ 294 h 512"/>
                  <a:gd name="T14" fmla="*/ 385 w 512"/>
                  <a:gd name="T15" fmla="*/ 299 h 512"/>
                  <a:gd name="T16" fmla="*/ 376 w 512"/>
                  <a:gd name="T17" fmla="*/ 296 h 512"/>
                  <a:gd name="T18" fmla="*/ 362 w 512"/>
                  <a:gd name="T19" fmla="*/ 282 h 512"/>
                  <a:gd name="T20" fmla="*/ 349 w 512"/>
                  <a:gd name="T21" fmla="*/ 296 h 512"/>
                  <a:gd name="T22" fmla="*/ 333 w 512"/>
                  <a:gd name="T23" fmla="*/ 296 h 512"/>
                  <a:gd name="T24" fmla="*/ 320 w 512"/>
                  <a:gd name="T25" fmla="*/ 282 h 512"/>
                  <a:gd name="T26" fmla="*/ 306 w 512"/>
                  <a:gd name="T27" fmla="*/ 296 h 512"/>
                  <a:gd name="T28" fmla="*/ 298 w 512"/>
                  <a:gd name="T29" fmla="*/ 299 h 512"/>
                  <a:gd name="T30" fmla="*/ 255 w 512"/>
                  <a:gd name="T31" fmla="*/ 299 h 512"/>
                  <a:gd name="T32" fmla="*/ 181 w 512"/>
                  <a:gd name="T33" fmla="*/ 342 h 512"/>
                  <a:gd name="T34" fmla="*/ 96 w 512"/>
                  <a:gd name="T35" fmla="*/ 256 h 512"/>
                  <a:gd name="T36" fmla="*/ 181 w 512"/>
                  <a:gd name="T37" fmla="*/ 171 h 512"/>
                  <a:gd name="T38" fmla="*/ 255 w 512"/>
                  <a:gd name="T39" fmla="*/ 214 h 512"/>
                  <a:gd name="T40" fmla="*/ 384 w 512"/>
                  <a:gd name="T41" fmla="*/ 214 h 512"/>
                  <a:gd name="T42" fmla="*/ 393 w 512"/>
                  <a:gd name="T43" fmla="*/ 218 h 512"/>
                  <a:gd name="T44" fmla="*/ 414 w 512"/>
                  <a:gd name="T45" fmla="*/ 250 h 512"/>
                  <a:gd name="T46" fmla="*/ 414 w 512"/>
                  <a:gd name="T47" fmla="*/ 262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4" y="0"/>
                      <a:pt x="0" y="115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  <a:moveTo>
                      <a:pt x="414" y="262"/>
                    </a:moveTo>
                    <a:cubicBezTo>
                      <a:pt x="393" y="294"/>
                      <a:pt x="393" y="294"/>
                      <a:pt x="393" y="294"/>
                    </a:cubicBezTo>
                    <a:cubicBezTo>
                      <a:pt x="391" y="297"/>
                      <a:pt x="388" y="298"/>
                      <a:pt x="385" y="299"/>
                    </a:cubicBezTo>
                    <a:cubicBezTo>
                      <a:pt x="381" y="299"/>
                      <a:pt x="378" y="298"/>
                      <a:pt x="376" y="296"/>
                    </a:cubicBezTo>
                    <a:cubicBezTo>
                      <a:pt x="362" y="282"/>
                      <a:pt x="362" y="282"/>
                      <a:pt x="362" y="282"/>
                    </a:cubicBezTo>
                    <a:cubicBezTo>
                      <a:pt x="349" y="296"/>
                      <a:pt x="349" y="296"/>
                      <a:pt x="349" y="296"/>
                    </a:cubicBezTo>
                    <a:cubicBezTo>
                      <a:pt x="344" y="300"/>
                      <a:pt x="338" y="300"/>
                      <a:pt x="333" y="296"/>
                    </a:cubicBezTo>
                    <a:cubicBezTo>
                      <a:pt x="320" y="282"/>
                      <a:pt x="320" y="282"/>
                      <a:pt x="320" y="282"/>
                    </a:cubicBezTo>
                    <a:cubicBezTo>
                      <a:pt x="306" y="296"/>
                      <a:pt x="306" y="296"/>
                      <a:pt x="306" y="296"/>
                    </a:cubicBezTo>
                    <a:cubicBezTo>
                      <a:pt x="304" y="298"/>
                      <a:pt x="301" y="299"/>
                      <a:pt x="298" y="299"/>
                    </a:cubicBezTo>
                    <a:cubicBezTo>
                      <a:pt x="255" y="299"/>
                      <a:pt x="255" y="299"/>
                      <a:pt x="255" y="299"/>
                    </a:cubicBezTo>
                    <a:cubicBezTo>
                      <a:pt x="240" y="325"/>
                      <a:pt x="211" y="342"/>
                      <a:pt x="181" y="342"/>
                    </a:cubicBezTo>
                    <a:cubicBezTo>
                      <a:pt x="134" y="342"/>
                      <a:pt x="96" y="303"/>
                      <a:pt x="96" y="256"/>
                    </a:cubicBezTo>
                    <a:cubicBezTo>
                      <a:pt x="96" y="209"/>
                      <a:pt x="134" y="171"/>
                      <a:pt x="181" y="171"/>
                    </a:cubicBezTo>
                    <a:cubicBezTo>
                      <a:pt x="211" y="171"/>
                      <a:pt x="240" y="187"/>
                      <a:pt x="255" y="214"/>
                    </a:cubicBezTo>
                    <a:cubicBezTo>
                      <a:pt x="384" y="214"/>
                      <a:pt x="384" y="214"/>
                      <a:pt x="384" y="214"/>
                    </a:cubicBezTo>
                    <a:cubicBezTo>
                      <a:pt x="387" y="214"/>
                      <a:pt x="391" y="215"/>
                      <a:pt x="393" y="218"/>
                    </a:cubicBezTo>
                    <a:cubicBezTo>
                      <a:pt x="414" y="250"/>
                      <a:pt x="414" y="250"/>
                      <a:pt x="414" y="250"/>
                    </a:cubicBezTo>
                    <a:cubicBezTo>
                      <a:pt x="416" y="254"/>
                      <a:pt x="416" y="258"/>
                      <a:pt x="414" y="2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200"/>
              </a:p>
            </p:txBody>
          </p:sp>
        </p:grpSp>
        <p:sp>
          <p:nvSpPr>
            <p:cNvPr id="101" name="Freeform 196"/>
            <p:cNvSpPr>
              <a:spLocks noEditPoints="1"/>
            </p:cNvSpPr>
            <p:nvPr/>
          </p:nvSpPr>
          <p:spPr bwMode="auto">
            <a:xfrm>
              <a:off x="5118890" y="6886840"/>
              <a:ext cx="216000" cy="216000"/>
            </a:xfrm>
            <a:custGeom>
              <a:avLst/>
              <a:gdLst>
                <a:gd name="T0" fmla="*/ 181 w 512"/>
                <a:gd name="T1" fmla="*/ 181 h 512"/>
                <a:gd name="T2" fmla="*/ 160 w 512"/>
                <a:gd name="T3" fmla="*/ 202 h 512"/>
                <a:gd name="T4" fmla="*/ 138 w 512"/>
                <a:gd name="T5" fmla="*/ 181 h 512"/>
                <a:gd name="T6" fmla="*/ 160 w 512"/>
                <a:gd name="T7" fmla="*/ 160 h 512"/>
                <a:gd name="T8" fmla="*/ 181 w 512"/>
                <a:gd name="T9" fmla="*/ 181 h 512"/>
                <a:gd name="T10" fmla="*/ 256 w 512"/>
                <a:gd name="T11" fmla="*/ 309 h 512"/>
                <a:gd name="T12" fmla="*/ 234 w 512"/>
                <a:gd name="T13" fmla="*/ 330 h 512"/>
                <a:gd name="T14" fmla="*/ 256 w 512"/>
                <a:gd name="T15" fmla="*/ 352 h 512"/>
                <a:gd name="T16" fmla="*/ 277 w 512"/>
                <a:gd name="T17" fmla="*/ 330 h 512"/>
                <a:gd name="T18" fmla="*/ 256 w 512"/>
                <a:gd name="T19" fmla="*/ 309 h 512"/>
                <a:gd name="T20" fmla="*/ 352 w 512"/>
                <a:gd name="T21" fmla="*/ 213 h 512"/>
                <a:gd name="T22" fmla="*/ 330 w 512"/>
                <a:gd name="T23" fmla="*/ 234 h 512"/>
                <a:gd name="T24" fmla="*/ 352 w 512"/>
                <a:gd name="T25" fmla="*/ 256 h 512"/>
                <a:gd name="T26" fmla="*/ 373 w 512"/>
                <a:gd name="T27" fmla="*/ 234 h 512"/>
                <a:gd name="T28" fmla="*/ 352 w 512"/>
                <a:gd name="T29" fmla="*/ 213 h 512"/>
                <a:gd name="T30" fmla="*/ 512 w 512"/>
                <a:gd name="T31" fmla="*/ 256 h 512"/>
                <a:gd name="T32" fmla="*/ 256 w 512"/>
                <a:gd name="T33" fmla="*/ 512 h 512"/>
                <a:gd name="T34" fmla="*/ 0 w 512"/>
                <a:gd name="T35" fmla="*/ 256 h 512"/>
                <a:gd name="T36" fmla="*/ 256 w 512"/>
                <a:gd name="T37" fmla="*/ 0 h 512"/>
                <a:gd name="T38" fmla="*/ 512 w 512"/>
                <a:gd name="T39" fmla="*/ 256 h 512"/>
                <a:gd name="T40" fmla="*/ 202 w 512"/>
                <a:gd name="T41" fmla="*/ 181 h 512"/>
                <a:gd name="T42" fmla="*/ 170 w 512"/>
                <a:gd name="T43" fmla="*/ 140 h 512"/>
                <a:gd name="T44" fmla="*/ 170 w 512"/>
                <a:gd name="T45" fmla="*/ 106 h 512"/>
                <a:gd name="T46" fmla="*/ 160 w 512"/>
                <a:gd name="T47" fmla="*/ 96 h 512"/>
                <a:gd name="T48" fmla="*/ 149 w 512"/>
                <a:gd name="T49" fmla="*/ 106 h 512"/>
                <a:gd name="T50" fmla="*/ 149 w 512"/>
                <a:gd name="T51" fmla="*/ 140 h 512"/>
                <a:gd name="T52" fmla="*/ 117 w 512"/>
                <a:gd name="T53" fmla="*/ 181 h 512"/>
                <a:gd name="T54" fmla="*/ 149 w 512"/>
                <a:gd name="T55" fmla="*/ 222 h 512"/>
                <a:gd name="T56" fmla="*/ 149 w 512"/>
                <a:gd name="T57" fmla="*/ 405 h 512"/>
                <a:gd name="T58" fmla="*/ 160 w 512"/>
                <a:gd name="T59" fmla="*/ 416 h 512"/>
                <a:gd name="T60" fmla="*/ 170 w 512"/>
                <a:gd name="T61" fmla="*/ 405 h 512"/>
                <a:gd name="T62" fmla="*/ 170 w 512"/>
                <a:gd name="T63" fmla="*/ 222 h 512"/>
                <a:gd name="T64" fmla="*/ 202 w 512"/>
                <a:gd name="T65" fmla="*/ 181 h 512"/>
                <a:gd name="T66" fmla="*/ 298 w 512"/>
                <a:gd name="T67" fmla="*/ 330 h 512"/>
                <a:gd name="T68" fmla="*/ 266 w 512"/>
                <a:gd name="T69" fmla="*/ 289 h 512"/>
                <a:gd name="T70" fmla="*/ 266 w 512"/>
                <a:gd name="T71" fmla="*/ 106 h 512"/>
                <a:gd name="T72" fmla="*/ 256 w 512"/>
                <a:gd name="T73" fmla="*/ 96 h 512"/>
                <a:gd name="T74" fmla="*/ 245 w 512"/>
                <a:gd name="T75" fmla="*/ 106 h 512"/>
                <a:gd name="T76" fmla="*/ 245 w 512"/>
                <a:gd name="T77" fmla="*/ 289 h 512"/>
                <a:gd name="T78" fmla="*/ 213 w 512"/>
                <a:gd name="T79" fmla="*/ 330 h 512"/>
                <a:gd name="T80" fmla="*/ 245 w 512"/>
                <a:gd name="T81" fmla="*/ 371 h 512"/>
                <a:gd name="T82" fmla="*/ 245 w 512"/>
                <a:gd name="T83" fmla="*/ 405 h 512"/>
                <a:gd name="T84" fmla="*/ 256 w 512"/>
                <a:gd name="T85" fmla="*/ 416 h 512"/>
                <a:gd name="T86" fmla="*/ 266 w 512"/>
                <a:gd name="T87" fmla="*/ 405 h 512"/>
                <a:gd name="T88" fmla="*/ 266 w 512"/>
                <a:gd name="T89" fmla="*/ 371 h 512"/>
                <a:gd name="T90" fmla="*/ 298 w 512"/>
                <a:gd name="T91" fmla="*/ 330 h 512"/>
                <a:gd name="T92" fmla="*/ 394 w 512"/>
                <a:gd name="T93" fmla="*/ 234 h 512"/>
                <a:gd name="T94" fmla="*/ 362 w 512"/>
                <a:gd name="T95" fmla="*/ 193 h 512"/>
                <a:gd name="T96" fmla="*/ 362 w 512"/>
                <a:gd name="T97" fmla="*/ 106 h 512"/>
                <a:gd name="T98" fmla="*/ 352 w 512"/>
                <a:gd name="T99" fmla="*/ 96 h 512"/>
                <a:gd name="T100" fmla="*/ 341 w 512"/>
                <a:gd name="T101" fmla="*/ 106 h 512"/>
                <a:gd name="T102" fmla="*/ 341 w 512"/>
                <a:gd name="T103" fmla="*/ 193 h 512"/>
                <a:gd name="T104" fmla="*/ 309 w 512"/>
                <a:gd name="T105" fmla="*/ 234 h 512"/>
                <a:gd name="T106" fmla="*/ 341 w 512"/>
                <a:gd name="T107" fmla="*/ 275 h 512"/>
                <a:gd name="T108" fmla="*/ 341 w 512"/>
                <a:gd name="T109" fmla="*/ 405 h 512"/>
                <a:gd name="T110" fmla="*/ 352 w 512"/>
                <a:gd name="T111" fmla="*/ 416 h 512"/>
                <a:gd name="T112" fmla="*/ 362 w 512"/>
                <a:gd name="T113" fmla="*/ 405 h 512"/>
                <a:gd name="T114" fmla="*/ 362 w 512"/>
                <a:gd name="T115" fmla="*/ 275 h 512"/>
                <a:gd name="T116" fmla="*/ 394 w 512"/>
                <a:gd name="T117" fmla="*/ 23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2" h="512">
                  <a:moveTo>
                    <a:pt x="181" y="181"/>
                  </a:moveTo>
                  <a:cubicBezTo>
                    <a:pt x="181" y="193"/>
                    <a:pt x="171" y="202"/>
                    <a:pt x="160" y="202"/>
                  </a:cubicBezTo>
                  <a:cubicBezTo>
                    <a:pt x="148" y="202"/>
                    <a:pt x="138" y="193"/>
                    <a:pt x="138" y="181"/>
                  </a:cubicBezTo>
                  <a:cubicBezTo>
                    <a:pt x="138" y="169"/>
                    <a:pt x="148" y="160"/>
                    <a:pt x="160" y="160"/>
                  </a:cubicBezTo>
                  <a:cubicBezTo>
                    <a:pt x="171" y="160"/>
                    <a:pt x="181" y="169"/>
                    <a:pt x="181" y="181"/>
                  </a:cubicBezTo>
                  <a:close/>
                  <a:moveTo>
                    <a:pt x="256" y="309"/>
                  </a:moveTo>
                  <a:cubicBezTo>
                    <a:pt x="244" y="309"/>
                    <a:pt x="234" y="319"/>
                    <a:pt x="234" y="330"/>
                  </a:cubicBezTo>
                  <a:cubicBezTo>
                    <a:pt x="234" y="342"/>
                    <a:pt x="244" y="352"/>
                    <a:pt x="256" y="352"/>
                  </a:cubicBezTo>
                  <a:cubicBezTo>
                    <a:pt x="267" y="352"/>
                    <a:pt x="277" y="342"/>
                    <a:pt x="277" y="330"/>
                  </a:cubicBezTo>
                  <a:cubicBezTo>
                    <a:pt x="277" y="319"/>
                    <a:pt x="267" y="309"/>
                    <a:pt x="256" y="309"/>
                  </a:cubicBezTo>
                  <a:close/>
                  <a:moveTo>
                    <a:pt x="352" y="213"/>
                  </a:moveTo>
                  <a:cubicBezTo>
                    <a:pt x="340" y="213"/>
                    <a:pt x="330" y="223"/>
                    <a:pt x="330" y="234"/>
                  </a:cubicBezTo>
                  <a:cubicBezTo>
                    <a:pt x="330" y="246"/>
                    <a:pt x="340" y="256"/>
                    <a:pt x="352" y="256"/>
                  </a:cubicBezTo>
                  <a:cubicBezTo>
                    <a:pt x="363" y="256"/>
                    <a:pt x="373" y="246"/>
                    <a:pt x="373" y="234"/>
                  </a:cubicBezTo>
                  <a:cubicBezTo>
                    <a:pt x="373" y="223"/>
                    <a:pt x="363" y="213"/>
                    <a:pt x="352" y="213"/>
                  </a:cubicBez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202" y="181"/>
                  </a:moveTo>
                  <a:cubicBezTo>
                    <a:pt x="202" y="161"/>
                    <a:pt x="189" y="145"/>
                    <a:pt x="170" y="140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0"/>
                    <a:pt x="166" y="96"/>
                    <a:pt x="160" y="96"/>
                  </a:cubicBezTo>
                  <a:cubicBezTo>
                    <a:pt x="154" y="96"/>
                    <a:pt x="149" y="100"/>
                    <a:pt x="149" y="106"/>
                  </a:cubicBezTo>
                  <a:cubicBezTo>
                    <a:pt x="149" y="140"/>
                    <a:pt x="149" y="140"/>
                    <a:pt x="149" y="140"/>
                  </a:cubicBezTo>
                  <a:cubicBezTo>
                    <a:pt x="131" y="145"/>
                    <a:pt x="117" y="161"/>
                    <a:pt x="117" y="181"/>
                  </a:cubicBezTo>
                  <a:cubicBezTo>
                    <a:pt x="117" y="201"/>
                    <a:pt x="131" y="217"/>
                    <a:pt x="149" y="222"/>
                  </a:cubicBezTo>
                  <a:cubicBezTo>
                    <a:pt x="149" y="405"/>
                    <a:pt x="149" y="405"/>
                    <a:pt x="149" y="405"/>
                  </a:cubicBezTo>
                  <a:cubicBezTo>
                    <a:pt x="149" y="411"/>
                    <a:pt x="154" y="416"/>
                    <a:pt x="160" y="416"/>
                  </a:cubicBezTo>
                  <a:cubicBezTo>
                    <a:pt x="166" y="416"/>
                    <a:pt x="170" y="411"/>
                    <a:pt x="170" y="405"/>
                  </a:cubicBezTo>
                  <a:cubicBezTo>
                    <a:pt x="170" y="222"/>
                    <a:pt x="170" y="222"/>
                    <a:pt x="170" y="222"/>
                  </a:cubicBezTo>
                  <a:cubicBezTo>
                    <a:pt x="189" y="217"/>
                    <a:pt x="202" y="201"/>
                    <a:pt x="202" y="181"/>
                  </a:cubicBezTo>
                  <a:close/>
                  <a:moveTo>
                    <a:pt x="298" y="330"/>
                  </a:moveTo>
                  <a:cubicBezTo>
                    <a:pt x="298" y="311"/>
                    <a:pt x="285" y="294"/>
                    <a:pt x="266" y="289"/>
                  </a:cubicBezTo>
                  <a:cubicBezTo>
                    <a:pt x="266" y="106"/>
                    <a:pt x="266" y="106"/>
                    <a:pt x="266" y="106"/>
                  </a:cubicBezTo>
                  <a:cubicBezTo>
                    <a:pt x="266" y="100"/>
                    <a:pt x="262" y="96"/>
                    <a:pt x="256" y="96"/>
                  </a:cubicBezTo>
                  <a:cubicBezTo>
                    <a:pt x="250" y="96"/>
                    <a:pt x="245" y="100"/>
                    <a:pt x="245" y="106"/>
                  </a:cubicBezTo>
                  <a:cubicBezTo>
                    <a:pt x="245" y="289"/>
                    <a:pt x="245" y="289"/>
                    <a:pt x="245" y="289"/>
                  </a:cubicBezTo>
                  <a:cubicBezTo>
                    <a:pt x="227" y="294"/>
                    <a:pt x="213" y="311"/>
                    <a:pt x="213" y="330"/>
                  </a:cubicBezTo>
                  <a:cubicBezTo>
                    <a:pt x="213" y="350"/>
                    <a:pt x="227" y="367"/>
                    <a:pt x="245" y="371"/>
                  </a:cubicBezTo>
                  <a:cubicBezTo>
                    <a:pt x="245" y="405"/>
                    <a:pt x="245" y="405"/>
                    <a:pt x="245" y="405"/>
                  </a:cubicBezTo>
                  <a:cubicBezTo>
                    <a:pt x="245" y="411"/>
                    <a:pt x="250" y="416"/>
                    <a:pt x="256" y="416"/>
                  </a:cubicBezTo>
                  <a:cubicBezTo>
                    <a:pt x="262" y="416"/>
                    <a:pt x="266" y="411"/>
                    <a:pt x="266" y="405"/>
                  </a:cubicBezTo>
                  <a:cubicBezTo>
                    <a:pt x="266" y="371"/>
                    <a:pt x="266" y="371"/>
                    <a:pt x="266" y="371"/>
                  </a:cubicBezTo>
                  <a:cubicBezTo>
                    <a:pt x="285" y="367"/>
                    <a:pt x="298" y="350"/>
                    <a:pt x="298" y="330"/>
                  </a:cubicBezTo>
                  <a:close/>
                  <a:moveTo>
                    <a:pt x="394" y="234"/>
                  </a:moveTo>
                  <a:cubicBezTo>
                    <a:pt x="394" y="215"/>
                    <a:pt x="381" y="198"/>
                    <a:pt x="362" y="193"/>
                  </a:cubicBezTo>
                  <a:cubicBezTo>
                    <a:pt x="362" y="106"/>
                    <a:pt x="362" y="106"/>
                    <a:pt x="362" y="106"/>
                  </a:cubicBezTo>
                  <a:cubicBezTo>
                    <a:pt x="362" y="100"/>
                    <a:pt x="358" y="96"/>
                    <a:pt x="352" y="96"/>
                  </a:cubicBezTo>
                  <a:cubicBezTo>
                    <a:pt x="346" y="96"/>
                    <a:pt x="341" y="100"/>
                    <a:pt x="341" y="106"/>
                  </a:cubicBezTo>
                  <a:cubicBezTo>
                    <a:pt x="341" y="193"/>
                    <a:pt x="341" y="193"/>
                    <a:pt x="341" y="193"/>
                  </a:cubicBezTo>
                  <a:cubicBezTo>
                    <a:pt x="323" y="198"/>
                    <a:pt x="309" y="215"/>
                    <a:pt x="309" y="234"/>
                  </a:cubicBezTo>
                  <a:cubicBezTo>
                    <a:pt x="309" y="254"/>
                    <a:pt x="323" y="271"/>
                    <a:pt x="341" y="275"/>
                  </a:cubicBezTo>
                  <a:cubicBezTo>
                    <a:pt x="341" y="405"/>
                    <a:pt x="341" y="405"/>
                    <a:pt x="341" y="405"/>
                  </a:cubicBezTo>
                  <a:cubicBezTo>
                    <a:pt x="341" y="411"/>
                    <a:pt x="346" y="416"/>
                    <a:pt x="352" y="416"/>
                  </a:cubicBezTo>
                  <a:cubicBezTo>
                    <a:pt x="358" y="416"/>
                    <a:pt x="362" y="411"/>
                    <a:pt x="362" y="405"/>
                  </a:cubicBezTo>
                  <a:cubicBezTo>
                    <a:pt x="362" y="275"/>
                    <a:pt x="362" y="275"/>
                    <a:pt x="362" y="275"/>
                  </a:cubicBezTo>
                  <a:cubicBezTo>
                    <a:pt x="381" y="271"/>
                    <a:pt x="394" y="254"/>
                    <a:pt x="394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200"/>
            </a:p>
          </p:txBody>
        </p:sp>
        <p:sp>
          <p:nvSpPr>
            <p:cNvPr id="103" name="Oval 102"/>
            <p:cNvSpPr>
              <a:spLocks/>
            </p:cNvSpPr>
            <p:nvPr/>
          </p:nvSpPr>
          <p:spPr bwMode="gray">
            <a:xfrm>
              <a:off x="3682855" y="6886840"/>
              <a:ext cx="216000" cy="216000"/>
            </a:xfrm>
            <a:prstGeom prst="ellipse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IN" sz="1200" b="1" dirty="0">
                  <a:solidFill>
                    <a:schemeClr val="bg1"/>
                  </a:solidFill>
                </a:rPr>
                <a:t>₹</a:t>
              </a:r>
            </a:p>
          </p:txBody>
        </p:sp>
        <p:sp>
          <p:nvSpPr>
            <p:cNvPr id="104" name="Freeform 375"/>
            <p:cNvSpPr>
              <a:spLocks noEditPoints="1"/>
            </p:cNvSpPr>
            <p:nvPr/>
          </p:nvSpPr>
          <p:spPr bwMode="auto">
            <a:xfrm>
              <a:off x="6644322" y="6886840"/>
              <a:ext cx="216000" cy="216000"/>
            </a:xfrm>
            <a:custGeom>
              <a:avLst/>
              <a:gdLst>
                <a:gd name="T0" fmla="*/ 297 w 512"/>
                <a:gd name="T1" fmla="*/ 213 h 512"/>
                <a:gd name="T2" fmla="*/ 382 w 512"/>
                <a:gd name="T3" fmla="*/ 221 h 512"/>
                <a:gd name="T4" fmla="*/ 323 w 512"/>
                <a:gd name="T5" fmla="*/ 280 h 512"/>
                <a:gd name="T6" fmla="*/ 320 w 512"/>
                <a:gd name="T7" fmla="*/ 290 h 512"/>
                <a:gd name="T8" fmla="*/ 337 w 512"/>
                <a:gd name="T9" fmla="*/ 374 h 512"/>
                <a:gd name="T10" fmla="*/ 261 w 512"/>
                <a:gd name="T11" fmla="*/ 332 h 512"/>
                <a:gd name="T12" fmla="*/ 256 w 512"/>
                <a:gd name="T13" fmla="*/ 330 h 512"/>
                <a:gd name="T14" fmla="*/ 250 w 512"/>
                <a:gd name="T15" fmla="*/ 332 h 512"/>
                <a:gd name="T16" fmla="*/ 175 w 512"/>
                <a:gd name="T17" fmla="*/ 374 h 512"/>
                <a:gd name="T18" fmla="*/ 191 w 512"/>
                <a:gd name="T19" fmla="*/ 290 h 512"/>
                <a:gd name="T20" fmla="*/ 189 w 512"/>
                <a:gd name="T21" fmla="*/ 280 h 512"/>
                <a:gd name="T22" fmla="*/ 130 w 512"/>
                <a:gd name="T23" fmla="*/ 221 h 512"/>
                <a:gd name="T24" fmla="*/ 214 w 512"/>
                <a:gd name="T25" fmla="*/ 213 h 512"/>
                <a:gd name="T26" fmla="*/ 223 w 512"/>
                <a:gd name="T27" fmla="*/ 207 h 512"/>
                <a:gd name="T28" fmla="*/ 256 w 512"/>
                <a:gd name="T29" fmla="*/ 133 h 512"/>
                <a:gd name="T30" fmla="*/ 289 w 512"/>
                <a:gd name="T31" fmla="*/ 207 h 512"/>
                <a:gd name="T32" fmla="*/ 297 w 512"/>
                <a:gd name="T33" fmla="*/ 213 h 512"/>
                <a:gd name="T34" fmla="*/ 512 w 512"/>
                <a:gd name="T35" fmla="*/ 256 h 512"/>
                <a:gd name="T36" fmla="*/ 256 w 512"/>
                <a:gd name="T37" fmla="*/ 512 h 512"/>
                <a:gd name="T38" fmla="*/ 0 w 512"/>
                <a:gd name="T39" fmla="*/ 256 h 512"/>
                <a:gd name="T40" fmla="*/ 256 w 512"/>
                <a:gd name="T41" fmla="*/ 0 h 512"/>
                <a:gd name="T42" fmla="*/ 512 w 512"/>
                <a:gd name="T43" fmla="*/ 256 h 512"/>
                <a:gd name="T44" fmla="*/ 415 w 512"/>
                <a:gd name="T45" fmla="*/ 209 h 512"/>
                <a:gd name="T46" fmla="*/ 406 w 512"/>
                <a:gd name="T47" fmla="*/ 202 h 512"/>
                <a:gd name="T48" fmla="*/ 306 w 512"/>
                <a:gd name="T49" fmla="*/ 192 h 512"/>
                <a:gd name="T50" fmla="*/ 265 w 512"/>
                <a:gd name="T51" fmla="*/ 102 h 512"/>
                <a:gd name="T52" fmla="*/ 256 w 512"/>
                <a:gd name="T53" fmla="*/ 96 h 512"/>
                <a:gd name="T54" fmla="*/ 246 w 512"/>
                <a:gd name="T55" fmla="*/ 102 h 512"/>
                <a:gd name="T56" fmla="*/ 206 w 512"/>
                <a:gd name="T57" fmla="*/ 192 h 512"/>
                <a:gd name="T58" fmla="*/ 105 w 512"/>
                <a:gd name="T59" fmla="*/ 202 h 512"/>
                <a:gd name="T60" fmla="*/ 96 w 512"/>
                <a:gd name="T61" fmla="*/ 209 h 512"/>
                <a:gd name="T62" fmla="*/ 99 w 512"/>
                <a:gd name="T63" fmla="*/ 221 h 512"/>
                <a:gd name="T64" fmla="*/ 169 w 512"/>
                <a:gd name="T65" fmla="*/ 291 h 512"/>
                <a:gd name="T66" fmla="*/ 149 w 512"/>
                <a:gd name="T67" fmla="*/ 392 h 512"/>
                <a:gd name="T68" fmla="*/ 153 w 512"/>
                <a:gd name="T69" fmla="*/ 403 h 512"/>
                <a:gd name="T70" fmla="*/ 165 w 512"/>
                <a:gd name="T71" fmla="*/ 404 h 512"/>
                <a:gd name="T72" fmla="*/ 256 w 512"/>
                <a:gd name="T73" fmla="*/ 353 h 512"/>
                <a:gd name="T74" fmla="*/ 346 w 512"/>
                <a:gd name="T75" fmla="*/ 404 h 512"/>
                <a:gd name="T76" fmla="*/ 352 w 512"/>
                <a:gd name="T77" fmla="*/ 405 h 512"/>
                <a:gd name="T78" fmla="*/ 358 w 512"/>
                <a:gd name="T79" fmla="*/ 403 h 512"/>
                <a:gd name="T80" fmla="*/ 362 w 512"/>
                <a:gd name="T81" fmla="*/ 392 h 512"/>
                <a:gd name="T82" fmla="*/ 342 w 512"/>
                <a:gd name="T83" fmla="*/ 291 h 512"/>
                <a:gd name="T84" fmla="*/ 413 w 512"/>
                <a:gd name="T85" fmla="*/ 221 h 512"/>
                <a:gd name="T86" fmla="*/ 415 w 512"/>
                <a:gd name="T87" fmla="*/ 209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12" h="512">
                  <a:moveTo>
                    <a:pt x="297" y="213"/>
                  </a:moveTo>
                  <a:cubicBezTo>
                    <a:pt x="382" y="221"/>
                    <a:pt x="382" y="221"/>
                    <a:pt x="382" y="221"/>
                  </a:cubicBezTo>
                  <a:cubicBezTo>
                    <a:pt x="323" y="280"/>
                    <a:pt x="323" y="280"/>
                    <a:pt x="323" y="280"/>
                  </a:cubicBezTo>
                  <a:cubicBezTo>
                    <a:pt x="320" y="283"/>
                    <a:pt x="319" y="286"/>
                    <a:pt x="320" y="290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261" y="332"/>
                    <a:pt x="261" y="332"/>
                    <a:pt x="261" y="332"/>
                  </a:cubicBezTo>
                  <a:cubicBezTo>
                    <a:pt x="259" y="331"/>
                    <a:pt x="257" y="330"/>
                    <a:pt x="256" y="330"/>
                  </a:cubicBezTo>
                  <a:cubicBezTo>
                    <a:pt x="254" y="330"/>
                    <a:pt x="252" y="331"/>
                    <a:pt x="250" y="332"/>
                  </a:cubicBezTo>
                  <a:cubicBezTo>
                    <a:pt x="175" y="374"/>
                    <a:pt x="175" y="374"/>
                    <a:pt x="175" y="374"/>
                  </a:cubicBezTo>
                  <a:cubicBezTo>
                    <a:pt x="191" y="290"/>
                    <a:pt x="191" y="290"/>
                    <a:pt x="191" y="290"/>
                  </a:cubicBezTo>
                  <a:cubicBezTo>
                    <a:pt x="192" y="286"/>
                    <a:pt x="191" y="283"/>
                    <a:pt x="189" y="280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214" y="213"/>
                    <a:pt x="214" y="213"/>
                    <a:pt x="214" y="213"/>
                  </a:cubicBezTo>
                  <a:cubicBezTo>
                    <a:pt x="218" y="213"/>
                    <a:pt x="221" y="210"/>
                    <a:pt x="223" y="207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89" y="207"/>
                    <a:pt x="289" y="207"/>
                    <a:pt x="289" y="207"/>
                  </a:cubicBezTo>
                  <a:cubicBezTo>
                    <a:pt x="290" y="210"/>
                    <a:pt x="293" y="213"/>
                    <a:pt x="297" y="213"/>
                  </a:cubicBez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415" y="209"/>
                  </a:moveTo>
                  <a:cubicBezTo>
                    <a:pt x="414" y="206"/>
                    <a:pt x="410" y="203"/>
                    <a:pt x="406" y="202"/>
                  </a:cubicBezTo>
                  <a:cubicBezTo>
                    <a:pt x="306" y="192"/>
                    <a:pt x="306" y="192"/>
                    <a:pt x="306" y="192"/>
                  </a:cubicBezTo>
                  <a:cubicBezTo>
                    <a:pt x="265" y="102"/>
                    <a:pt x="265" y="102"/>
                    <a:pt x="265" y="102"/>
                  </a:cubicBezTo>
                  <a:cubicBezTo>
                    <a:pt x="264" y="98"/>
                    <a:pt x="260" y="96"/>
                    <a:pt x="256" y="96"/>
                  </a:cubicBezTo>
                  <a:cubicBezTo>
                    <a:pt x="251" y="96"/>
                    <a:pt x="248" y="98"/>
                    <a:pt x="246" y="102"/>
                  </a:cubicBezTo>
                  <a:cubicBezTo>
                    <a:pt x="206" y="192"/>
                    <a:pt x="206" y="192"/>
                    <a:pt x="206" y="192"/>
                  </a:cubicBezTo>
                  <a:cubicBezTo>
                    <a:pt x="105" y="202"/>
                    <a:pt x="105" y="202"/>
                    <a:pt x="105" y="202"/>
                  </a:cubicBezTo>
                  <a:cubicBezTo>
                    <a:pt x="101" y="203"/>
                    <a:pt x="98" y="206"/>
                    <a:pt x="96" y="209"/>
                  </a:cubicBezTo>
                  <a:cubicBezTo>
                    <a:pt x="95" y="213"/>
                    <a:pt x="96" y="218"/>
                    <a:pt x="99" y="221"/>
                  </a:cubicBezTo>
                  <a:cubicBezTo>
                    <a:pt x="169" y="291"/>
                    <a:pt x="169" y="291"/>
                    <a:pt x="169" y="291"/>
                  </a:cubicBezTo>
                  <a:cubicBezTo>
                    <a:pt x="149" y="392"/>
                    <a:pt x="149" y="392"/>
                    <a:pt x="149" y="392"/>
                  </a:cubicBezTo>
                  <a:cubicBezTo>
                    <a:pt x="148" y="396"/>
                    <a:pt x="150" y="401"/>
                    <a:pt x="153" y="403"/>
                  </a:cubicBezTo>
                  <a:cubicBezTo>
                    <a:pt x="157" y="405"/>
                    <a:pt x="161" y="406"/>
                    <a:pt x="165" y="404"/>
                  </a:cubicBezTo>
                  <a:cubicBezTo>
                    <a:pt x="256" y="353"/>
                    <a:pt x="256" y="353"/>
                    <a:pt x="256" y="353"/>
                  </a:cubicBezTo>
                  <a:cubicBezTo>
                    <a:pt x="346" y="404"/>
                    <a:pt x="346" y="404"/>
                    <a:pt x="346" y="404"/>
                  </a:cubicBezTo>
                  <a:cubicBezTo>
                    <a:pt x="348" y="405"/>
                    <a:pt x="350" y="405"/>
                    <a:pt x="352" y="405"/>
                  </a:cubicBezTo>
                  <a:cubicBezTo>
                    <a:pt x="354" y="405"/>
                    <a:pt x="356" y="404"/>
                    <a:pt x="358" y="403"/>
                  </a:cubicBezTo>
                  <a:cubicBezTo>
                    <a:pt x="361" y="401"/>
                    <a:pt x="363" y="396"/>
                    <a:pt x="362" y="392"/>
                  </a:cubicBezTo>
                  <a:cubicBezTo>
                    <a:pt x="342" y="291"/>
                    <a:pt x="342" y="291"/>
                    <a:pt x="342" y="291"/>
                  </a:cubicBezTo>
                  <a:cubicBezTo>
                    <a:pt x="413" y="221"/>
                    <a:pt x="413" y="221"/>
                    <a:pt x="413" y="221"/>
                  </a:cubicBezTo>
                  <a:cubicBezTo>
                    <a:pt x="415" y="218"/>
                    <a:pt x="416" y="213"/>
                    <a:pt x="415" y="20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117388" tIns="58694" rIns="117388" bIns="58694" numCol="1" anchor="t" anchorCtr="0" compatLnSpc="1">
              <a:prstTxWarp prst="textNoShape">
                <a:avLst/>
              </a:prstTxWarp>
            </a:bodyPr>
            <a:lstStyle/>
            <a:p>
              <a:pPr defTabSz="1565035">
                <a:defRPr/>
              </a:pPr>
              <a:endParaRPr lang="en-GB" sz="1200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632954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Adequacy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068989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Affordability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30456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Availability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505024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Accessibility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14908" y="6886840"/>
              <a:ext cx="183118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000" dirty="0">
                  <a:solidFill>
                    <a:srgbClr val="313131"/>
                  </a:solidFill>
                </a:rPr>
                <a:t>Appropriateness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10504185" y="6778848"/>
              <a:ext cx="3304962" cy="323992"/>
              <a:chOff x="10509196" y="6978625"/>
              <a:chExt cx="3304962" cy="323992"/>
            </a:xfrm>
          </p:grpSpPr>
          <p:sp>
            <p:nvSpPr>
              <p:cNvPr id="113" name="TextBox 112"/>
              <p:cNvSpPr txBox="1"/>
              <p:nvPr/>
            </p:nvSpPr>
            <p:spPr>
              <a:xfrm>
                <a:off x="10797983" y="6978625"/>
                <a:ext cx="124373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sz="1000" dirty="0">
                    <a:solidFill>
                      <a:srgbClr val="313131"/>
                    </a:solidFill>
                  </a:rPr>
                  <a:t>Long Term measures</a:t>
                </a:r>
                <a:endParaRPr lang="en-IN" sz="1000" dirty="0">
                  <a:solidFill>
                    <a:srgbClr val="313131"/>
                  </a:solidFill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12249087" y="6994840"/>
                <a:ext cx="15650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sz="1000" dirty="0">
                    <a:solidFill>
                      <a:srgbClr val="313131"/>
                    </a:solidFill>
                  </a:rPr>
                  <a:t>Short &amp; Medium term measures</a:t>
                </a:r>
                <a:endParaRPr lang="en-IN" sz="1000" dirty="0">
                  <a:solidFill>
                    <a:srgbClr val="313131"/>
                  </a:solidFill>
                </a:endParaRPr>
              </a:p>
            </p:txBody>
          </p:sp>
          <p:sp>
            <p:nvSpPr>
              <p:cNvPr id="115" name="Rectangle 114"/>
              <p:cNvSpPr/>
              <p:nvPr/>
            </p:nvSpPr>
            <p:spPr bwMode="gray">
              <a:xfrm>
                <a:off x="10509196" y="7040728"/>
                <a:ext cx="180000" cy="1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17388" tIns="58694" rIns="117388" bIns="58694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1565035">
                  <a:defRPr/>
                </a:pPr>
                <a:endParaRPr lang="en-IN" sz="1400" b="1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6" name="Rectangle 115"/>
              <p:cNvSpPr/>
              <p:nvPr/>
            </p:nvSpPr>
            <p:spPr bwMode="gray">
              <a:xfrm>
                <a:off x="12001077" y="7040728"/>
                <a:ext cx="180000" cy="180000"/>
              </a:xfrm>
              <a:prstGeom prst="rect">
                <a:avLst/>
              </a:prstGeom>
              <a:solidFill>
                <a:srgbClr val="43B02A"/>
              </a:solidFill>
              <a:ln>
                <a:noFill/>
              </a:ln>
            </p:spPr>
            <p:txBody>
              <a:bodyPr vert="horz" wrap="square" lIns="117388" tIns="58694" rIns="117388" bIns="58694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1565035">
                  <a:defRPr/>
                </a:pPr>
                <a:endParaRPr lang="en-IN" sz="1400" b="1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  <p:sp>
          <p:nvSpPr>
            <p:cNvPr id="111" name="Rectangle 110"/>
            <p:cNvSpPr/>
            <p:nvPr/>
          </p:nvSpPr>
          <p:spPr bwMode="gray">
            <a:xfrm>
              <a:off x="233680" y="6722628"/>
              <a:ext cx="7939867" cy="480812"/>
            </a:xfrm>
            <a:prstGeom prst="rect">
              <a:avLst/>
            </a:prstGeom>
            <a:noFill/>
            <a:ln w="19050" algn="ctr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12" name="Rectangle 111"/>
            <p:cNvSpPr/>
            <p:nvPr/>
          </p:nvSpPr>
          <p:spPr bwMode="gray">
            <a:xfrm>
              <a:off x="8142650" y="6722628"/>
              <a:ext cx="1935311" cy="4808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 algn="ctr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 A Framework</a:t>
              </a:r>
              <a:endPara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00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1800"/>
          <a:ext cx="1800" cy="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0" y="1800"/>
                        <a:ext cx="1800" cy="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79917" cy="17991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GB" sz="22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68538" y="359835"/>
            <a:ext cx="12680527" cy="417406"/>
          </a:xfrm>
        </p:spPr>
        <p:txBody>
          <a:bodyPr/>
          <a:lstStyle/>
          <a:p>
            <a:r>
              <a:rPr lang="en-GB" sz="2200" i="0" dirty="0">
                <a:solidFill>
                  <a:schemeClr val="tx1"/>
                </a:solidFill>
              </a:rPr>
              <a:t>Governance Mechanism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67139" y="874644"/>
            <a:ext cx="12781926" cy="6321286"/>
            <a:chOff x="467139" y="874644"/>
            <a:chExt cx="12781926" cy="6321286"/>
          </a:xfrm>
        </p:grpSpPr>
        <p:pic>
          <p:nvPicPr>
            <p:cNvPr id="5" name="Picture 4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139" y="874644"/>
              <a:ext cx="12781926" cy="6321286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 bwMode="gray">
            <a:xfrm>
              <a:off x="755374" y="874644"/>
              <a:ext cx="7424530" cy="526773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05866" y="1118151"/>
            <a:ext cx="72058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US" sz="1400" dirty="0">
                <a:solidFill>
                  <a:srgbClr val="313131"/>
                </a:solidFill>
              </a:rPr>
              <a:t>Supported by a </a:t>
            </a:r>
            <a:r>
              <a:rPr lang="en-US" sz="1400" b="1" dirty="0">
                <a:solidFill>
                  <a:srgbClr val="313131"/>
                </a:solidFill>
              </a:rPr>
              <a:t>Dedicated Portal for Steel &amp; Steel Products QCO </a:t>
            </a:r>
            <a:r>
              <a:rPr lang="en-US" sz="1400" dirty="0">
                <a:solidFill>
                  <a:srgbClr val="313131"/>
                </a:solidFill>
              </a:rPr>
              <a:t>for </a:t>
            </a:r>
            <a:r>
              <a:rPr lang="en-US" sz="1400" b="1" dirty="0">
                <a:solidFill>
                  <a:srgbClr val="313131"/>
                </a:solidFill>
              </a:rPr>
              <a:t>regular</a:t>
            </a:r>
            <a:r>
              <a:rPr lang="en-US" sz="1400" dirty="0">
                <a:solidFill>
                  <a:srgbClr val="313131"/>
                </a:solidFill>
              </a:rPr>
              <a:t> </a:t>
            </a:r>
            <a:r>
              <a:rPr lang="en-US" sz="1400" b="1" dirty="0">
                <a:solidFill>
                  <a:srgbClr val="313131"/>
                </a:solidFill>
              </a:rPr>
              <a:t>reporting and updates on enforcement</a:t>
            </a:r>
            <a:endParaRPr lang="en-IN" sz="1400" b="1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6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34926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459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639425" y="7227888"/>
            <a:ext cx="3178175" cy="38893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132032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9511011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200" b="1" dirty="0">
              <a:solidFill>
                <a:prstClr val="white"/>
              </a:solidFill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499984" y="1523958"/>
            <a:ext cx="1268853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740229" y="2012049"/>
            <a:ext cx="1805078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Certification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740229" y="3589974"/>
            <a:ext cx="1805078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Testing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740229" y="6519274"/>
            <a:ext cx="1805078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Reporting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740228" y="5167899"/>
            <a:ext cx="1805079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Surveillance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29445" y="1691245"/>
            <a:ext cx="10159079" cy="5484807"/>
            <a:chOff x="3029443" y="1703087"/>
            <a:chExt cx="7845040" cy="4319008"/>
          </a:xfrm>
          <a:noFill/>
        </p:grpSpPr>
        <p:sp>
          <p:nvSpPr>
            <p:cNvPr id="74" name="Rectangle 73"/>
            <p:cNvSpPr/>
            <p:nvPr/>
          </p:nvSpPr>
          <p:spPr bwMode="gray">
            <a:xfrm>
              <a:off x="3029443" y="1703087"/>
              <a:ext cx="7845040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BIS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Certification has led to standardization of products increasing their competitiveness </a:t>
              </a: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However there is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lack of awareness specially amongst the B2C consumers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where brand power plays a significant role 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21" name="Rectangle 120"/>
            <p:cNvSpPr/>
            <p:nvPr/>
          </p:nvSpPr>
          <p:spPr bwMode="gray">
            <a:xfrm>
              <a:off x="3029444" y="2745532"/>
              <a:ext cx="7845039" cy="10616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Lack of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adequate testing infrastructure in steel clusters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, producers have to wait for a long time to send their samples for testing to far away labs </a:t>
              </a: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Some large scale players have set up their own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private testing infrastructure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, not feasible for small scale producers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36" name="Rectangle 135"/>
            <p:cNvSpPr/>
            <p:nvPr/>
          </p:nvSpPr>
          <p:spPr bwMode="gray">
            <a:xfrm>
              <a:off x="3029443" y="4187649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Limited manpower for conducting periodic inspections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and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dearth of comprehensive IT systems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 prove a major challenge for surveillance activities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41" name="Rectangle 140"/>
            <p:cNvSpPr/>
            <p:nvPr/>
          </p:nvSpPr>
          <p:spPr bwMode="gray">
            <a:xfrm>
              <a:off x="3029444" y="5230095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Absence of a </a:t>
              </a:r>
              <a:r>
                <a:rPr lang="en-US" sz="1587" b="1" dirty="0">
                  <a:solidFill>
                    <a:prstClr val="black"/>
                  </a:solidFill>
                  <a:latin typeface="Verdana"/>
                </a:rPr>
                <a:t>comprehensive database and a dedicated portal </a:t>
              </a: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providing reliable data to ascertain the quantum of non-compliant products </a:t>
              </a:r>
              <a:endParaRPr lang="en-IN" sz="1587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Focus Area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5" name="Rectangle 104"/>
          <p:cNvSpPr/>
          <p:nvPr/>
        </p:nvSpPr>
        <p:spPr bwMode="gray">
          <a:xfrm>
            <a:off x="4084984" y="939033"/>
            <a:ext cx="4094921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Key highlights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Enforcement</a:t>
            </a:r>
          </a:p>
        </p:txBody>
      </p:sp>
      <p:pic>
        <p:nvPicPr>
          <p:cNvPr id="3" name="Picture 2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5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508224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200" b="1" dirty="0">
              <a:solidFill>
                <a:prstClr val="white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499984" y="1523958"/>
            <a:ext cx="1268853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572444" y="2012049"/>
            <a:ext cx="1953122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Registration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572444" y="3422185"/>
            <a:ext cx="1953122" cy="6503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Process configuration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572444" y="6302138"/>
            <a:ext cx="1953122" cy="6503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Cost of production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572442" y="4965642"/>
            <a:ext cx="1953123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Testing</a:t>
            </a:r>
          </a:p>
        </p:txBody>
      </p:sp>
      <p:sp>
        <p:nvSpPr>
          <p:cNvPr id="74" name="Rectangle 73"/>
          <p:cNvSpPr/>
          <p:nvPr/>
        </p:nvSpPr>
        <p:spPr bwMode="gray">
          <a:xfrm>
            <a:off x="3029445" y="1746960"/>
            <a:ext cx="10159079" cy="1005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marL="323840" indent="-323840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Most </a:t>
            </a: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Integrated Players have registered 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and certified their products under QCO norms </a:t>
            </a:r>
          </a:p>
          <a:p>
            <a:pPr marL="323840" indent="-323840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However, a large number of smaller producers lack incentives to go for certifying under QCO norms since they operate in the local markets which is not so quality sensitive</a:t>
            </a:r>
            <a:endParaRPr lang="en-IN" sz="1587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121" name="Rectangle 120"/>
          <p:cNvSpPr/>
          <p:nvPr/>
        </p:nvSpPr>
        <p:spPr bwMode="gray">
          <a:xfrm>
            <a:off x="3029444" y="3167092"/>
            <a:ext cx="10159078" cy="1005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marL="285757" indent="-285757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Huge </a:t>
            </a: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capital investments 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are required for </a:t>
            </a: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overhauling existing processes 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and </a:t>
            </a: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modernization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 to meet new standards </a:t>
            </a:r>
          </a:p>
          <a:p>
            <a:pPr marL="285757" indent="-285757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Availability of </a:t>
            </a: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easy financing is a major challenge 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for many small scale players </a:t>
            </a:r>
          </a:p>
        </p:txBody>
      </p:sp>
      <p:sp>
        <p:nvSpPr>
          <p:cNvPr id="136" name="Rectangle 135"/>
          <p:cNvSpPr/>
          <p:nvPr/>
        </p:nvSpPr>
        <p:spPr bwMode="gray">
          <a:xfrm>
            <a:off x="3029445" y="4695835"/>
            <a:ext cx="10159078" cy="1005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marL="285757" indent="-285757" defTabSz="1565073">
              <a:buFont typeface="Arial" panose="020B0604020202020204" pitchFamily="34" charset="0"/>
              <a:buChar char="•"/>
              <a:defRPr/>
            </a:pPr>
            <a:r>
              <a:rPr lang="en-US" sz="1587" b="1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Testing costs </a:t>
            </a:r>
            <a:r>
              <a: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rPr>
              <a:t>add up to the product costs, rendering them less competitive in a price sensitive domestic market with no major export promotion activities for quality focused players</a:t>
            </a:r>
            <a:endParaRPr lang="en-IN" sz="1587" dirty="0">
              <a:solidFill>
                <a:srgbClr val="012169">
                  <a:lumMod val="50000"/>
                </a:srgbClr>
              </a:solidFill>
              <a:latin typeface="Verdana"/>
            </a:endParaRPr>
          </a:p>
        </p:txBody>
      </p:sp>
      <p:sp>
        <p:nvSpPr>
          <p:cNvPr id="141" name="Rectangle 140"/>
          <p:cNvSpPr/>
          <p:nvPr/>
        </p:nvSpPr>
        <p:spPr bwMode="gray">
          <a:xfrm>
            <a:off x="3029445" y="6170272"/>
            <a:ext cx="10159078" cy="1005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117388" tIns="58694" rIns="117388" bIns="58694" numCol="1" anchor="ctr" anchorCtr="0" compatLnSpc="1">
            <a:prstTxWarp prst="textNoShape">
              <a:avLst/>
            </a:prstTxWarp>
          </a:bodyPr>
          <a:lstStyle/>
          <a:p>
            <a:pPr marL="285757" indent="-285757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prstClr val="black"/>
                </a:solidFill>
                <a:latin typeface="Verdana"/>
              </a:rPr>
              <a:t>Since most small scale producers depend on Induction Furnace, </a:t>
            </a:r>
            <a:r>
              <a:rPr lang="en-US" sz="1587" b="1" dirty="0">
                <a:solidFill>
                  <a:prstClr val="black"/>
                </a:solidFill>
                <a:latin typeface="Verdana"/>
              </a:rPr>
              <a:t>availability of quality raw materials </a:t>
            </a:r>
            <a:r>
              <a:rPr lang="en-US" sz="1587" dirty="0">
                <a:solidFill>
                  <a:prstClr val="black"/>
                </a:solidFill>
                <a:latin typeface="Verdana"/>
              </a:rPr>
              <a:t>at </a:t>
            </a:r>
            <a:r>
              <a:rPr lang="en-US" sz="1587" b="1" dirty="0">
                <a:solidFill>
                  <a:prstClr val="black"/>
                </a:solidFill>
                <a:latin typeface="Verdana"/>
              </a:rPr>
              <a:t>competitive prices </a:t>
            </a:r>
            <a:r>
              <a:rPr lang="en-US" sz="1587" dirty="0">
                <a:solidFill>
                  <a:prstClr val="black"/>
                </a:solidFill>
                <a:latin typeface="Verdana"/>
              </a:rPr>
              <a:t>is key for improving quality of finished products</a:t>
            </a:r>
          </a:p>
          <a:p>
            <a:pPr marL="285757" indent="-285757" defTabSz="1565073">
              <a:buFont typeface="Arial" panose="020B0604020202020204" pitchFamily="34" charset="0"/>
              <a:buChar char="•"/>
              <a:defRPr/>
            </a:pPr>
            <a:r>
              <a:rPr lang="en-US" sz="1587" dirty="0">
                <a:solidFill>
                  <a:prstClr val="black"/>
                </a:solidFill>
                <a:latin typeface="Verdana"/>
              </a:rPr>
              <a:t>Challenges in terms of </a:t>
            </a:r>
            <a:r>
              <a:rPr lang="en-US" sz="1587" b="1" dirty="0">
                <a:solidFill>
                  <a:prstClr val="black"/>
                </a:solidFill>
                <a:latin typeface="Verdana"/>
              </a:rPr>
              <a:t>unreliable supply </a:t>
            </a:r>
            <a:r>
              <a:rPr lang="en-US" sz="1587" dirty="0">
                <a:solidFill>
                  <a:prstClr val="black"/>
                </a:solidFill>
                <a:latin typeface="Verdana"/>
              </a:rPr>
              <a:t>of quality raw materials, increasing surface transportation costs also add to the cost of production</a:t>
            </a:r>
          </a:p>
        </p:txBody>
      </p: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Focus Area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Indigenous product compliance</a:t>
            </a:r>
          </a:p>
        </p:txBody>
      </p:sp>
      <p:sp>
        <p:nvSpPr>
          <p:cNvPr id="30" name="Rectangle 29"/>
          <p:cNvSpPr/>
          <p:nvPr/>
        </p:nvSpPr>
        <p:spPr bwMode="gray">
          <a:xfrm>
            <a:off x="4084984" y="939033"/>
            <a:ext cx="4094921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Key highlights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pic>
        <p:nvPicPr>
          <p:cNvPr id="16" name="Picture 1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9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3602999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200" b="1" dirty="0">
              <a:solidFill>
                <a:prstClr val="white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499984" y="1523958"/>
            <a:ext cx="1268853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99984" y="2012049"/>
            <a:ext cx="2172096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Registration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99984" y="3570095"/>
            <a:ext cx="2172096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Harmonization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99984" y="6519274"/>
            <a:ext cx="2172096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Reporting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99982" y="4965642"/>
            <a:ext cx="2172097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Testing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29445" y="1746960"/>
            <a:ext cx="10159079" cy="5429092"/>
            <a:chOff x="3029443" y="1746960"/>
            <a:chExt cx="7845040" cy="4275135"/>
          </a:xfrm>
          <a:noFill/>
        </p:grpSpPr>
        <p:sp>
          <p:nvSpPr>
            <p:cNvPr id="74" name="Rectangle 73"/>
            <p:cNvSpPr/>
            <p:nvPr/>
          </p:nvSpPr>
          <p:spPr bwMode="gray">
            <a:xfrm>
              <a:off x="3029443" y="1746960"/>
              <a:ext cx="7845040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endParaRPr lang="en-US" sz="1600" b="1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endPara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Even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some of the Chinese exporters have focused on getting BIS certifications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for their products highlighting the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increasing adoption of these norms among global exporters</a:t>
              </a:r>
            </a:p>
            <a:p>
              <a:pPr marL="285750" indent="-285750" defTabSz="1565073">
                <a:buFont typeface="Arial" panose="020B0604020202020204" pitchFamily="34" charset="0"/>
                <a:buChar char="•"/>
                <a:defRPr/>
              </a:pPr>
              <a:endParaRPr lang="en-US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endParaRPr lang="en-IN" sz="1600" b="1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21" name="Rectangle 120"/>
            <p:cNvSpPr/>
            <p:nvPr/>
          </p:nvSpPr>
          <p:spPr bwMode="gray">
            <a:xfrm>
              <a:off x="3029444" y="2908005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There is a preference amongst certain manufacturers for international standards due to the presence of additional parameters/specific requirements</a:t>
              </a: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The feasibility is less for manufacturers manufacturing small quantities of niche products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36" name="Rectangle 135"/>
            <p:cNvSpPr/>
            <p:nvPr/>
          </p:nvSpPr>
          <p:spPr bwMode="gray">
            <a:xfrm>
              <a:off x="3029444" y="4069050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Inadequate testing infrastructure available at Indian ports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leads to dependence of Inspection Certificates from importers , increasing chances of inferior quality products entering the domestic markets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41" name="Rectangle 140"/>
            <p:cNvSpPr/>
            <p:nvPr/>
          </p:nvSpPr>
          <p:spPr bwMode="gray">
            <a:xfrm>
              <a:off x="3029444" y="5230095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b="1" dirty="0">
                  <a:solidFill>
                    <a:prstClr val="black"/>
                  </a:solidFill>
                  <a:latin typeface="Verdana"/>
                </a:rPr>
                <a:t>Steel Import Monitoring Systems (SIMS) was launched recently (fully functional from Nov 2019)</a:t>
              </a: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, providing reporting for imports (including QCO adherence)</a:t>
              </a:r>
              <a:endParaRPr lang="en-IN" sz="1587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Focus Area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Imported product compliance</a:t>
            </a:r>
          </a:p>
        </p:txBody>
      </p:sp>
      <p:sp>
        <p:nvSpPr>
          <p:cNvPr id="28" name="Rectangle 27"/>
          <p:cNvSpPr/>
          <p:nvPr/>
        </p:nvSpPr>
        <p:spPr bwMode="gray">
          <a:xfrm>
            <a:off x="4084984" y="939033"/>
            <a:ext cx="4094921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Key highlights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pic>
        <p:nvPicPr>
          <p:cNvPr id="17" name="Picture 16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2578" y="26090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1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200" b="1" dirty="0">
              <a:solidFill>
                <a:prstClr val="white"/>
              </a:solidFill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499984" y="1523958"/>
            <a:ext cx="1268853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26721" y="1859651"/>
            <a:ext cx="2007114" cy="6503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Product standards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26721" y="3437576"/>
            <a:ext cx="2007114" cy="6503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Capacity building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355495" y="6366876"/>
            <a:ext cx="2128496" cy="6503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Monitoring and evaluation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C88094-F0A9-C945-A810-C03B3F58FC9C}"/>
              </a:ext>
            </a:extLst>
          </p:cNvPr>
          <p:cNvSpPr txBox="1"/>
          <p:nvPr/>
        </p:nvSpPr>
        <p:spPr>
          <a:xfrm>
            <a:off x="426719" y="5006284"/>
            <a:ext cx="2007115" cy="371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defTabSz="1018848"/>
            <a:r>
              <a:rPr lang="en-US" sz="1813" b="1" dirty="0">
                <a:solidFill>
                  <a:prstClr val="black"/>
                </a:solidFill>
                <a:latin typeface="Verdana"/>
                <a:ea typeface="Lato" panose="020F0502020204030203" pitchFamily="34" charset="0"/>
                <a:cs typeface="Lato" panose="020F0502020204030203" pitchFamily="34" charset="0"/>
              </a:rPr>
              <a:t>Incentives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29444" y="1746960"/>
            <a:ext cx="10159080" cy="5429092"/>
            <a:chOff x="3029442" y="1746960"/>
            <a:chExt cx="7845041" cy="4275135"/>
          </a:xfrm>
          <a:noFill/>
        </p:grpSpPr>
        <p:sp>
          <p:nvSpPr>
            <p:cNvPr id="74" name="Rectangle 73"/>
            <p:cNvSpPr/>
            <p:nvPr/>
          </p:nvSpPr>
          <p:spPr bwMode="gray">
            <a:xfrm>
              <a:off x="3029443" y="1746960"/>
              <a:ext cx="7845040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Technical Review Committees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regularly meet to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review product standards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and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increase coverage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under QCO norms and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ensure overlapping technical specifications are removed</a:t>
              </a:r>
            </a:p>
          </p:txBody>
        </p:sp>
        <p:sp>
          <p:nvSpPr>
            <p:cNvPr id="121" name="Rectangle 120"/>
            <p:cNvSpPr/>
            <p:nvPr/>
          </p:nvSpPr>
          <p:spPr bwMode="gray">
            <a:xfrm>
              <a:off x="3029444" y="2908005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  <a:latin typeface="Verdana"/>
                </a:rPr>
                <a:t>There is strong need for institutional and policy support (including project monitoring, development of labs, manpower/ skills) to increase the efficacy of the framework of the quality control orders</a:t>
              </a:r>
              <a:endParaRPr lang="en-IN" sz="1587" dirty="0">
                <a:solidFill>
                  <a:srgbClr val="012169">
                    <a:lumMod val="50000"/>
                  </a:srgbClr>
                </a:solidFill>
                <a:latin typeface="Verdana"/>
              </a:endParaRPr>
            </a:p>
          </p:txBody>
        </p:sp>
        <p:sp>
          <p:nvSpPr>
            <p:cNvPr id="136" name="Rectangle 135"/>
            <p:cNvSpPr/>
            <p:nvPr/>
          </p:nvSpPr>
          <p:spPr bwMode="gray">
            <a:xfrm>
              <a:off x="3029442" y="3884528"/>
              <a:ext cx="7845039" cy="11610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Lack of incentives like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tax holidays/ EMI Moratoriums/ Subsidies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 has resulted in few SSPs investing on the required modernization/ processes for producing QCO compliant products</a:t>
              </a:r>
            </a:p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Govt. procurements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mostly happens from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large integrated players 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(as they can supply </a:t>
              </a:r>
              <a:r>
                <a:rPr lang="en-US" sz="1587" b="1" dirty="0">
                  <a:solidFill>
                    <a:srgbClr val="012169">
                      <a:lumMod val="50000"/>
                    </a:srgbClr>
                  </a:solidFill>
                </a:rPr>
                <a:t>bulk requirements</a:t>
              </a:r>
              <a:r>
                <a:rPr lang="en-US" sz="1587" dirty="0">
                  <a:solidFill>
                    <a:srgbClr val="012169">
                      <a:lumMod val="50000"/>
                    </a:srgbClr>
                  </a:solidFill>
                </a:rPr>
                <a:t>) thus impacting the demand from small scale manufacturers</a:t>
              </a:r>
            </a:p>
          </p:txBody>
        </p:sp>
        <p:sp>
          <p:nvSpPr>
            <p:cNvPr id="141" name="Rectangle 140"/>
            <p:cNvSpPr/>
            <p:nvPr/>
          </p:nvSpPr>
          <p:spPr bwMode="gray">
            <a:xfrm>
              <a:off x="3029444" y="5230095"/>
              <a:ext cx="7845039" cy="79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vert="horz" wrap="square" lIns="117388" tIns="58694" rIns="117388" bIns="58694" numCol="1" anchor="ctr" anchorCtr="0" compatLnSpc="1">
              <a:prstTxWarp prst="textNoShape">
                <a:avLst/>
              </a:prstTxWarp>
            </a:bodyPr>
            <a:lstStyle/>
            <a:p>
              <a:pPr marL="285757" indent="-285757" defTabSz="1565073">
                <a:buFont typeface="Arial" panose="020B0604020202020204" pitchFamily="34" charset="0"/>
                <a:buChar char="•"/>
                <a:defRPr/>
              </a:pP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There is a </a:t>
              </a:r>
              <a:r>
                <a:rPr lang="en-US" sz="1587" b="1" dirty="0">
                  <a:solidFill>
                    <a:prstClr val="black"/>
                  </a:solidFill>
                  <a:latin typeface="Verdana"/>
                </a:rPr>
                <a:t>need for a dedicated platform </a:t>
              </a: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to increase the access to reliable information and to </a:t>
              </a:r>
              <a:r>
                <a:rPr lang="en-US" sz="1587" b="1" dirty="0">
                  <a:solidFill>
                    <a:prstClr val="black"/>
                  </a:solidFill>
                  <a:latin typeface="Verdana"/>
                </a:rPr>
                <a:t>conduct regular assessment of the adoption/ compliance of </a:t>
              </a:r>
              <a:r>
                <a:rPr lang="en-US" sz="1587" dirty="0">
                  <a:solidFill>
                    <a:prstClr val="black"/>
                  </a:solidFill>
                  <a:latin typeface="Verdana"/>
                </a:rPr>
                <a:t>QCO norms </a:t>
              </a:r>
              <a:endParaRPr lang="en-IN" sz="1587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Focus Area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29" name="Rectangle 28"/>
          <p:cNvSpPr/>
          <p:nvPr/>
        </p:nvSpPr>
        <p:spPr bwMode="gray">
          <a:xfrm>
            <a:off x="4084984" y="939033"/>
            <a:ext cx="4094921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defTabSz="1565073">
              <a:lnSpc>
                <a:spcPct val="106000"/>
              </a:lnSpc>
              <a:defRPr/>
            </a:pPr>
            <a:r>
              <a:rPr lang="en-US" sz="1600" b="1" dirty="0">
                <a:solidFill>
                  <a:srgbClr val="046A38"/>
                </a:solidFill>
                <a:latin typeface="Verdana"/>
              </a:rPr>
              <a:t>Key highlights</a:t>
            </a: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pic>
        <p:nvPicPr>
          <p:cNvPr id="17" name="Picture 16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071938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400" b="1" dirty="0">
              <a:solidFill>
                <a:prstClr val="white"/>
              </a:solidFill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pPr defTabSz="1565073">
              <a:defRPr/>
            </a:pPr>
            <a:r>
              <a:rPr lang="en-US" sz="2400" dirty="0">
                <a:solidFill>
                  <a:srgbClr val="012169">
                    <a:lumMod val="50000"/>
                  </a:srgbClr>
                </a:solidFill>
              </a:rPr>
              <a:t>Enforcement</a:t>
            </a:r>
            <a:endParaRPr lang="en-IN" sz="2400" dirty="0">
              <a:solidFill>
                <a:srgbClr val="012169">
                  <a:lumMod val="50000"/>
                </a:srgbClr>
              </a:solidFill>
            </a:endParaRPr>
          </a:p>
        </p:txBody>
      </p:sp>
      <p:pic>
        <p:nvPicPr>
          <p:cNvPr id="32" name="Picture 6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4"/>
          <a:stretch/>
        </p:blipFill>
        <p:spPr bwMode="auto">
          <a:xfrm>
            <a:off x="511891" y="1594077"/>
            <a:ext cx="4390367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7"/>
          <p:cNvSpPr>
            <a:spLocks/>
          </p:cNvSpPr>
          <p:nvPr/>
        </p:nvSpPr>
        <p:spPr bwMode="auto">
          <a:xfrm>
            <a:off x="500743" y="1828933"/>
            <a:ext cx="3726246" cy="4414602"/>
          </a:xfrm>
          <a:custGeom>
            <a:avLst/>
            <a:gdLst>
              <a:gd name="T0" fmla="*/ 2003 w 3909"/>
              <a:gd name="T1" fmla="*/ 4928 h 5000"/>
              <a:gd name="T2" fmla="*/ 2187 w 3909"/>
              <a:gd name="T3" fmla="*/ 4877 h 5000"/>
              <a:gd name="T4" fmla="*/ 2364 w 3909"/>
              <a:gd name="T5" fmla="*/ 4811 h 5000"/>
              <a:gd name="T6" fmla="*/ 2533 w 3909"/>
              <a:gd name="T7" fmla="*/ 4734 h 5000"/>
              <a:gd name="T8" fmla="*/ 2695 w 3909"/>
              <a:gd name="T9" fmla="*/ 4645 h 5000"/>
              <a:gd name="T10" fmla="*/ 2849 w 3909"/>
              <a:gd name="T11" fmla="*/ 4545 h 5000"/>
              <a:gd name="T12" fmla="*/ 2993 w 3909"/>
              <a:gd name="T13" fmla="*/ 4434 h 5000"/>
              <a:gd name="T14" fmla="*/ 3130 w 3909"/>
              <a:gd name="T15" fmla="*/ 4314 h 5000"/>
              <a:gd name="T16" fmla="*/ 3256 w 3909"/>
              <a:gd name="T17" fmla="*/ 4185 h 5000"/>
              <a:gd name="T18" fmla="*/ 3372 w 3909"/>
              <a:gd name="T19" fmla="*/ 4049 h 5000"/>
              <a:gd name="T20" fmla="*/ 3478 w 3909"/>
              <a:gd name="T21" fmla="*/ 3903 h 5000"/>
              <a:gd name="T22" fmla="*/ 3574 w 3909"/>
              <a:gd name="T23" fmla="*/ 3750 h 5000"/>
              <a:gd name="T24" fmla="*/ 3658 w 3909"/>
              <a:gd name="T25" fmla="*/ 3591 h 5000"/>
              <a:gd name="T26" fmla="*/ 3731 w 3909"/>
              <a:gd name="T27" fmla="*/ 3427 h 5000"/>
              <a:gd name="T28" fmla="*/ 3792 w 3909"/>
              <a:gd name="T29" fmla="*/ 3256 h 5000"/>
              <a:gd name="T30" fmla="*/ 3841 w 3909"/>
              <a:gd name="T31" fmla="*/ 3082 h 5000"/>
              <a:gd name="T32" fmla="*/ 3876 w 3909"/>
              <a:gd name="T33" fmla="*/ 2902 h 5000"/>
              <a:gd name="T34" fmla="*/ 3900 w 3909"/>
              <a:gd name="T35" fmla="*/ 2720 h 5000"/>
              <a:gd name="T36" fmla="*/ 3909 w 3909"/>
              <a:gd name="T37" fmla="*/ 2536 h 5000"/>
              <a:gd name="T38" fmla="*/ 3904 w 3909"/>
              <a:gd name="T39" fmla="*/ 2349 h 5000"/>
              <a:gd name="T40" fmla="*/ 3885 w 3909"/>
              <a:gd name="T41" fmla="*/ 2159 h 5000"/>
              <a:gd name="T42" fmla="*/ 3852 w 3909"/>
              <a:gd name="T43" fmla="*/ 1970 h 5000"/>
              <a:gd name="T44" fmla="*/ 3821 w 3909"/>
              <a:gd name="T45" fmla="*/ 1846 h 5000"/>
              <a:gd name="T46" fmla="*/ 3765 w 3909"/>
              <a:gd name="T47" fmla="*/ 1664 h 5000"/>
              <a:gd name="T48" fmla="*/ 3696 w 3909"/>
              <a:gd name="T49" fmla="*/ 1488 h 5000"/>
              <a:gd name="T50" fmla="*/ 3614 w 3909"/>
              <a:gd name="T51" fmla="*/ 1321 h 5000"/>
              <a:gd name="T52" fmla="*/ 3521 w 3909"/>
              <a:gd name="T53" fmla="*/ 1162 h 5000"/>
              <a:gd name="T54" fmla="*/ 3418 w 3909"/>
              <a:gd name="T55" fmla="*/ 1012 h 5000"/>
              <a:gd name="T56" fmla="*/ 3304 w 3909"/>
              <a:gd name="T57" fmla="*/ 870 h 5000"/>
              <a:gd name="T58" fmla="*/ 3181 w 3909"/>
              <a:gd name="T59" fmla="*/ 737 h 5000"/>
              <a:gd name="T60" fmla="*/ 3050 w 3909"/>
              <a:gd name="T61" fmla="*/ 613 h 5000"/>
              <a:gd name="T62" fmla="*/ 2910 w 3909"/>
              <a:gd name="T63" fmla="*/ 501 h 5000"/>
              <a:gd name="T64" fmla="*/ 2762 w 3909"/>
              <a:gd name="T65" fmla="*/ 399 h 5000"/>
              <a:gd name="T66" fmla="*/ 2607 w 3909"/>
              <a:gd name="T67" fmla="*/ 306 h 5000"/>
              <a:gd name="T68" fmla="*/ 2446 w 3909"/>
              <a:gd name="T69" fmla="*/ 225 h 5000"/>
              <a:gd name="T70" fmla="*/ 2279 w 3909"/>
              <a:gd name="T71" fmla="*/ 157 h 5000"/>
              <a:gd name="T72" fmla="*/ 2107 w 3909"/>
              <a:gd name="T73" fmla="*/ 100 h 5000"/>
              <a:gd name="T74" fmla="*/ 1932 w 3909"/>
              <a:gd name="T75" fmla="*/ 55 h 5000"/>
              <a:gd name="T76" fmla="*/ 1751 w 3909"/>
              <a:gd name="T77" fmla="*/ 23 h 5000"/>
              <a:gd name="T78" fmla="*/ 1568 w 3909"/>
              <a:gd name="T79" fmla="*/ 5 h 5000"/>
              <a:gd name="T80" fmla="*/ 1382 w 3909"/>
              <a:gd name="T81" fmla="*/ 0 h 5000"/>
              <a:gd name="T82" fmla="*/ 1195 w 3909"/>
              <a:gd name="T83" fmla="*/ 11 h 5000"/>
              <a:gd name="T84" fmla="*/ 1006 w 3909"/>
              <a:gd name="T85" fmla="*/ 33 h 5000"/>
              <a:gd name="T86" fmla="*/ 879 w 3909"/>
              <a:gd name="T87" fmla="*/ 57 h 5000"/>
              <a:gd name="T88" fmla="*/ 700 w 3909"/>
              <a:gd name="T89" fmla="*/ 104 h 5000"/>
              <a:gd name="T90" fmla="*/ 527 w 3909"/>
              <a:gd name="T91" fmla="*/ 162 h 5000"/>
              <a:gd name="T92" fmla="*/ 360 w 3909"/>
              <a:gd name="T93" fmla="*/ 232 h 5000"/>
              <a:gd name="T94" fmla="*/ 201 w 3909"/>
              <a:gd name="T95" fmla="*/ 313 h 5000"/>
              <a:gd name="T96" fmla="*/ 49 w 3909"/>
              <a:gd name="T97" fmla="*/ 404 h 5000"/>
              <a:gd name="T98" fmla="*/ 0 w 3909"/>
              <a:gd name="T99" fmla="*/ 4564 h 5000"/>
              <a:gd name="T100" fmla="*/ 158 w 3909"/>
              <a:gd name="T101" fmla="*/ 4664 h 5000"/>
              <a:gd name="T102" fmla="*/ 322 w 3909"/>
              <a:gd name="T103" fmla="*/ 4751 h 5000"/>
              <a:gd name="T104" fmla="*/ 494 w 3909"/>
              <a:gd name="T105" fmla="*/ 4826 h 5000"/>
              <a:gd name="T106" fmla="*/ 670 w 3909"/>
              <a:gd name="T107" fmla="*/ 4889 h 5000"/>
              <a:gd name="T108" fmla="*/ 852 w 3909"/>
              <a:gd name="T109" fmla="*/ 4937 h 5000"/>
              <a:gd name="T110" fmla="*/ 1037 w 3909"/>
              <a:gd name="T111" fmla="*/ 4973 h 5000"/>
              <a:gd name="T112" fmla="*/ 1227 w 3909"/>
              <a:gd name="T113" fmla="*/ 4994 h 5000"/>
              <a:gd name="T114" fmla="*/ 1419 w 3909"/>
              <a:gd name="T115" fmla="*/ 5000 h 5000"/>
              <a:gd name="T116" fmla="*/ 1613 w 3909"/>
              <a:gd name="T117" fmla="*/ 4993 h 5000"/>
              <a:gd name="T118" fmla="*/ 1809 w 3909"/>
              <a:gd name="T119" fmla="*/ 4969 h 5000"/>
              <a:gd name="T120" fmla="*/ 1941 w 3909"/>
              <a:gd name="T121" fmla="*/ 4944 h 5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125 w 10000"/>
              <a:gd name="connsiteY146" fmla="*/ 808 h 10000"/>
              <a:gd name="connsiteX147" fmla="*/ 0 w 10000"/>
              <a:gd name="connsiteY147" fmla="*/ 9128 h 10000"/>
              <a:gd name="connsiteX148" fmla="*/ 0 w 10000"/>
              <a:gd name="connsiteY148" fmla="*/ 9128 h 10000"/>
              <a:gd name="connsiteX149" fmla="*/ 133 w 10000"/>
              <a:gd name="connsiteY149" fmla="*/ 9198 h 10000"/>
              <a:gd name="connsiteX150" fmla="*/ 269 w 10000"/>
              <a:gd name="connsiteY150" fmla="*/ 9262 h 10000"/>
              <a:gd name="connsiteX151" fmla="*/ 404 w 10000"/>
              <a:gd name="connsiteY151" fmla="*/ 9328 h 10000"/>
              <a:gd name="connsiteX152" fmla="*/ 542 w 10000"/>
              <a:gd name="connsiteY152" fmla="*/ 9390 h 10000"/>
              <a:gd name="connsiteX153" fmla="*/ 683 w 10000"/>
              <a:gd name="connsiteY153" fmla="*/ 9448 h 10000"/>
              <a:gd name="connsiteX154" fmla="*/ 824 w 10000"/>
              <a:gd name="connsiteY154" fmla="*/ 9502 h 10000"/>
              <a:gd name="connsiteX155" fmla="*/ 970 w 10000"/>
              <a:gd name="connsiteY155" fmla="*/ 9556 h 10000"/>
              <a:gd name="connsiteX156" fmla="*/ 1115 w 10000"/>
              <a:gd name="connsiteY156" fmla="*/ 9606 h 10000"/>
              <a:gd name="connsiteX157" fmla="*/ 1264 w 10000"/>
              <a:gd name="connsiteY157" fmla="*/ 9652 h 10000"/>
              <a:gd name="connsiteX158" fmla="*/ 1412 w 10000"/>
              <a:gd name="connsiteY158" fmla="*/ 9698 h 10000"/>
              <a:gd name="connsiteX159" fmla="*/ 1561 w 10000"/>
              <a:gd name="connsiteY159" fmla="*/ 9738 h 10000"/>
              <a:gd name="connsiteX160" fmla="*/ 1714 w 10000"/>
              <a:gd name="connsiteY160" fmla="*/ 9778 h 10000"/>
              <a:gd name="connsiteX161" fmla="*/ 1867 w 10000"/>
              <a:gd name="connsiteY161" fmla="*/ 9814 h 10000"/>
              <a:gd name="connsiteX162" fmla="*/ 2024 w 10000"/>
              <a:gd name="connsiteY162" fmla="*/ 9846 h 10000"/>
              <a:gd name="connsiteX163" fmla="*/ 2180 w 10000"/>
              <a:gd name="connsiteY163" fmla="*/ 9874 h 10000"/>
              <a:gd name="connsiteX164" fmla="*/ 2336 w 10000"/>
              <a:gd name="connsiteY164" fmla="*/ 9902 h 10000"/>
              <a:gd name="connsiteX165" fmla="*/ 2494 w 10000"/>
              <a:gd name="connsiteY165" fmla="*/ 9926 h 10000"/>
              <a:gd name="connsiteX166" fmla="*/ 2653 w 10000"/>
              <a:gd name="connsiteY166" fmla="*/ 9946 h 10000"/>
              <a:gd name="connsiteX167" fmla="*/ 2814 w 10000"/>
              <a:gd name="connsiteY167" fmla="*/ 9962 h 10000"/>
              <a:gd name="connsiteX168" fmla="*/ 2978 w 10000"/>
              <a:gd name="connsiteY168" fmla="*/ 9978 h 10000"/>
              <a:gd name="connsiteX169" fmla="*/ 3139 w 10000"/>
              <a:gd name="connsiteY169" fmla="*/ 9988 h 10000"/>
              <a:gd name="connsiteX170" fmla="*/ 3303 w 10000"/>
              <a:gd name="connsiteY170" fmla="*/ 9996 h 10000"/>
              <a:gd name="connsiteX171" fmla="*/ 3464 w 10000"/>
              <a:gd name="connsiteY171" fmla="*/ 10000 h 10000"/>
              <a:gd name="connsiteX172" fmla="*/ 3630 w 10000"/>
              <a:gd name="connsiteY172" fmla="*/ 10000 h 10000"/>
              <a:gd name="connsiteX173" fmla="*/ 3794 w 10000"/>
              <a:gd name="connsiteY173" fmla="*/ 9998 h 10000"/>
              <a:gd name="connsiteX174" fmla="*/ 3963 w 10000"/>
              <a:gd name="connsiteY174" fmla="*/ 9994 h 10000"/>
              <a:gd name="connsiteX175" fmla="*/ 4126 w 10000"/>
              <a:gd name="connsiteY175" fmla="*/ 9986 h 10000"/>
              <a:gd name="connsiteX176" fmla="*/ 4295 w 10000"/>
              <a:gd name="connsiteY176" fmla="*/ 9974 h 10000"/>
              <a:gd name="connsiteX177" fmla="*/ 4461 w 10000"/>
              <a:gd name="connsiteY177" fmla="*/ 9956 h 10000"/>
              <a:gd name="connsiteX178" fmla="*/ 4628 w 10000"/>
              <a:gd name="connsiteY178" fmla="*/ 9938 h 10000"/>
              <a:gd name="connsiteX179" fmla="*/ 4797 w 10000"/>
              <a:gd name="connsiteY179" fmla="*/ 9912 h 10000"/>
              <a:gd name="connsiteX180" fmla="*/ 4965 w 10000"/>
              <a:gd name="connsiteY180" fmla="*/ 9888 h 10000"/>
              <a:gd name="connsiteX181" fmla="*/ 4965 w 10000"/>
              <a:gd name="connsiteY18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0 w 10000"/>
              <a:gd name="connsiteY146" fmla="*/ 9128 h 10000"/>
              <a:gd name="connsiteX147" fmla="*/ 0 w 10000"/>
              <a:gd name="connsiteY147" fmla="*/ 9128 h 10000"/>
              <a:gd name="connsiteX148" fmla="*/ 133 w 10000"/>
              <a:gd name="connsiteY148" fmla="*/ 9198 h 10000"/>
              <a:gd name="connsiteX149" fmla="*/ 269 w 10000"/>
              <a:gd name="connsiteY149" fmla="*/ 9262 h 10000"/>
              <a:gd name="connsiteX150" fmla="*/ 404 w 10000"/>
              <a:gd name="connsiteY150" fmla="*/ 9328 h 10000"/>
              <a:gd name="connsiteX151" fmla="*/ 542 w 10000"/>
              <a:gd name="connsiteY151" fmla="*/ 9390 h 10000"/>
              <a:gd name="connsiteX152" fmla="*/ 683 w 10000"/>
              <a:gd name="connsiteY152" fmla="*/ 9448 h 10000"/>
              <a:gd name="connsiteX153" fmla="*/ 824 w 10000"/>
              <a:gd name="connsiteY153" fmla="*/ 9502 h 10000"/>
              <a:gd name="connsiteX154" fmla="*/ 970 w 10000"/>
              <a:gd name="connsiteY154" fmla="*/ 9556 h 10000"/>
              <a:gd name="connsiteX155" fmla="*/ 1115 w 10000"/>
              <a:gd name="connsiteY155" fmla="*/ 9606 h 10000"/>
              <a:gd name="connsiteX156" fmla="*/ 1264 w 10000"/>
              <a:gd name="connsiteY156" fmla="*/ 9652 h 10000"/>
              <a:gd name="connsiteX157" fmla="*/ 1412 w 10000"/>
              <a:gd name="connsiteY157" fmla="*/ 9698 h 10000"/>
              <a:gd name="connsiteX158" fmla="*/ 1561 w 10000"/>
              <a:gd name="connsiteY158" fmla="*/ 9738 h 10000"/>
              <a:gd name="connsiteX159" fmla="*/ 1714 w 10000"/>
              <a:gd name="connsiteY159" fmla="*/ 9778 h 10000"/>
              <a:gd name="connsiteX160" fmla="*/ 1867 w 10000"/>
              <a:gd name="connsiteY160" fmla="*/ 9814 h 10000"/>
              <a:gd name="connsiteX161" fmla="*/ 2024 w 10000"/>
              <a:gd name="connsiteY161" fmla="*/ 9846 h 10000"/>
              <a:gd name="connsiteX162" fmla="*/ 2180 w 10000"/>
              <a:gd name="connsiteY162" fmla="*/ 9874 h 10000"/>
              <a:gd name="connsiteX163" fmla="*/ 2336 w 10000"/>
              <a:gd name="connsiteY163" fmla="*/ 9902 h 10000"/>
              <a:gd name="connsiteX164" fmla="*/ 2494 w 10000"/>
              <a:gd name="connsiteY164" fmla="*/ 9926 h 10000"/>
              <a:gd name="connsiteX165" fmla="*/ 2653 w 10000"/>
              <a:gd name="connsiteY165" fmla="*/ 9946 h 10000"/>
              <a:gd name="connsiteX166" fmla="*/ 2814 w 10000"/>
              <a:gd name="connsiteY166" fmla="*/ 9962 h 10000"/>
              <a:gd name="connsiteX167" fmla="*/ 2978 w 10000"/>
              <a:gd name="connsiteY167" fmla="*/ 9978 h 10000"/>
              <a:gd name="connsiteX168" fmla="*/ 3139 w 10000"/>
              <a:gd name="connsiteY168" fmla="*/ 9988 h 10000"/>
              <a:gd name="connsiteX169" fmla="*/ 3303 w 10000"/>
              <a:gd name="connsiteY169" fmla="*/ 9996 h 10000"/>
              <a:gd name="connsiteX170" fmla="*/ 3464 w 10000"/>
              <a:gd name="connsiteY170" fmla="*/ 10000 h 10000"/>
              <a:gd name="connsiteX171" fmla="*/ 3630 w 10000"/>
              <a:gd name="connsiteY171" fmla="*/ 10000 h 10000"/>
              <a:gd name="connsiteX172" fmla="*/ 3794 w 10000"/>
              <a:gd name="connsiteY172" fmla="*/ 9998 h 10000"/>
              <a:gd name="connsiteX173" fmla="*/ 3963 w 10000"/>
              <a:gd name="connsiteY173" fmla="*/ 9994 h 10000"/>
              <a:gd name="connsiteX174" fmla="*/ 4126 w 10000"/>
              <a:gd name="connsiteY174" fmla="*/ 9986 h 10000"/>
              <a:gd name="connsiteX175" fmla="*/ 4295 w 10000"/>
              <a:gd name="connsiteY175" fmla="*/ 9974 h 10000"/>
              <a:gd name="connsiteX176" fmla="*/ 4461 w 10000"/>
              <a:gd name="connsiteY176" fmla="*/ 9956 h 10000"/>
              <a:gd name="connsiteX177" fmla="*/ 4628 w 10000"/>
              <a:gd name="connsiteY177" fmla="*/ 9938 h 10000"/>
              <a:gd name="connsiteX178" fmla="*/ 4797 w 10000"/>
              <a:gd name="connsiteY178" fmla="*/ 9912 h 10000"/>
              <a:gd name="connsiteX179" fmla="*/ 4965 w 10000"/>
              <a:gd name="connsiteY179" fmla="*/ 9888 h 10000"/>
              <a:gd name="connsiteX180" fmla="*/ 4965 w 10000"/>
              <a:gd name="connsiteY18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264 w 10000"/>
              <a:gd name="connsiteY155" fmla="*/ 9652 h 10000"/>
              <a:gd name="connsiteX156" fmla="*/ 1412 w 10000"/>
              <a:gd name="connsiteY156" fmla="*/ 9698 h 10000"/>
              <a:gd name="connsiteX157" fmla="*/ 1561 w 10000"/>
              <a:gd name="connsiteY157" fmla="*/ 9738 h 10000"/>
              <a:gd name="connsiteX158" fmla="*/ 1714 w 10000"/>
              <a:gd name="connsiteY158" fmla="*/ 9778 h 10000"/>
              <a:gd name="connsiteX159" fmla="*/ 1867 w 10000"/>
              <a:gd name="connsiteY159" fmla="*/ 9814 h 10000"/>
              <a:gd name="connsiteX160" fmla="*/ 2024 w 10000"/>
              <a:gd name="connsiteY160" fmla="*/ 9846 h 10000"/>
              <a:gd name="connsiteX161" fmla="*/ 2180 w 10000"/>
              <a:gd name="connsiteY161" fmla="*/ 9874 h 10000"/>
              <a:gd name="connsiteX162" fmla="*/ 2336 w 10000"/>
              <a:gd name="connsiteY162" fmla="*/ 9902 h 10000"/>
              <a:gd name="connsiteX163" fmla="*/ 2494 w 10000"/>
              <a:gd name="connsiteY163" fmla="*/ 9926 h 10000"/>
              <a:gd name="connsiteX164" fmla="*/ 2653 w 10000"/>
              <a:gd name="connsiteY164" fmla="*/ 9946 h 10000"/>
              <a:gd name="connsiteX165" fmla="*/ 2814 w 10000"/>
              <a:gd name="connsiteY165" fmla="*/ 9962 h 10000"/>
              <a:gd name="connsiteX166" fmla="*/ 2978 w 10000"/>
              <a:gd name="connsiteY166" fmla="*/ 9978 h 10000"/>
              <a:gd name="connsiteX167" fmla="*/ 3139 w 10000"/>
              <a:gd name="connsiteY167" fmla="*/ 9988 h 10000"/>
              <a:gd name="connsiteX168" fmla="*/ 3303 w 10000"/>
              <a:gd name="connsiteY168" fmla="*/ 9996 h 10000"/>
              <a:gd name="connsiteX169" fmla="*/ 3464 w 10000"/>
              <a:gd name="connsiteY169" fmla="*/ 10000 h 10000"/>
              <a:gd name="connsiteX170" fmla="*/ 3630 w 10000"/>
              <a:gd name="connsiteY170" fmla="*/ 10000 h 10000"/>
              <a:gd name="connsiteX171" fmla="*/ 3794 w 10000"/>
              <a:gd name="connsiteY171" fmla="*/ 9998 h 10000"/>
              <a:gd name="connsiteX172" fmla="*/ 3963 w 10000"/>
              <a:gd name="connsiteY172" fmla="*/ 9994 h 10000"/>
              <a:gd name="connsiteX173" fmla="*/ 4126 w 10000"/>
              <a:gd name="connsiteY173" fmla="*/ 9986 h 10000"/>
              <a:gd name="connsiteX174" fmla="*/ 4295 w 10000"/>
              <a:gd name="connsiteY174" fmla="*/ 9974 h 10000"/>
              <a:gd name="connsiteX175" fmla="*/ 4461 w 10000"/>
              <a:gd name="connsiteY175" fmla="*/ 9956 h 10000"/>
              <a:gd name="connsiteX176" fmla="*/ 4628 w 10000"/>
              <a:gd name="connsiteY176" fmla="*/ 9938 h 10000"/>
              <a:gd name="connsiteX177" fmla="*/ 4797 w 10000"/>
              <a:gd name="connsiteY177" fmla="*/ 9912 h 10000"/>
              <a:gd name="connsiteX178" fmla="*/ 4965 w 10000"/>
              <a:gd name="connsiteY178" fmla="*/ 9888 h 10000"/>
              <a:gd name="connsiteX179" fmla="*/ 4965 w 10000"/>
              <a:gd name="connsiteY179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412 w 10000"/>
              <a:gd name="connsiteY155" fmla="*/ 9698 h 10000"/>
              <a:gd name="connsiteX156" fmla="*/ 1561 w 10000"/>
              <a:gd name="connsiteY156" fmla="*/ 9738 h 10000"/>
              <a:gd name="connsiteX157" fmla="*/ 1714 w 10000"/>
              <a:gd name="connsiteY157" fmla="*/ 9778 h 10000"/>
              <a:gd name="connsiteX158" fmla="*/ 1867 w 10000"/>
              <a:gd name="connsiteY158" fmla="*/ 9814 h 10000"/>
              <a:gd name="connsiteX159" fmla="*/ 2024 w 10000"/>
              <a:gd name="connsiteY159" fmla="*/ 9846 h 10000"/>
              <a:gd name="connsiteX160" fmla="*/ 2180 w 10000"/>
              <a:gd name="connsiteY160" fmla="*/ 9874 h 10000"/>
              <a:gd name="connsiteX161" fmla="*/ 2336 w 10000"/>
              <a:gd name="connsiteY161" fmla="*/ 9902 h 10000"/>
              <a:gd name="connsiteX162" fmla="*/ 2494 w 10000"/>
              <a:gd name="connsiteY162" fmla="*/ 9926 h 10000"/>
              <a:gd name="connsiteX163" fmla="*/ 2653 w 10000"/>
              <a:gd name="connsiteY163" fmla="*/ 9946 h 10000"/>
              <a:gd name="connsiteX164" fmla="*/ 2814 w 10000"/>
              <a:gd name="connsiteY164" fmla="*/ 9962 h 10000"/>
              <a:gd name="connsiteX165" fmla="*/ 2978 w 10000"/>
              <a:gd name="connsiteY165" fmla="*/ 9978 h 10000"/>
              <a:gd name="connsiteX166" fmla="*/ 3139 w 10000"/>
              <a:gd name="connsiteY166" fmla="*/ 9988 h 10000"/>
              <a:gd name="connsiteX167" fmla="*/ 3303 w 10000"/>
              <a:gd name="connsiteY167" fmla="*/ 9996 h 10000"/>
              <a:gd name="connsiteX168" fmla="*/ 3464 w 10000"/>
              <a:gd name="connsiteY168" fmla="*/ 10000 h 10000"/>
              <a:gd name="connsiteX169" fmla="*/ 3630 w 10000"/>
              <a:gd name="connsiteY169" fmla="*/ 10000 h 10000"/>
              <a:gd name="connsiteX170" fmla="*/ 3794 w 10000"/>
              <a:gd name="connsiteY170" fmla="*/ 9998 h 10000"/>
              <a:gd name="connsiteX171" fmla="*/ 3963 w 10000"/>
              <a:gd name="connsiteY171" fmla="*/ 9994 h 10000"/>
              <a:gd name="connsiteX172" fmla="*/ 4126 w 10000"/>
              <a:gd name="connsiteY172" fmla="*/ 9986 h 10000"/>
              <a:gd name="connsiteX173" fmla="*/ 4295 w 10000"/>
              <a:gd name="connsiteY173" fmla="*/ 9974 h 10000"/>
              <a:gd name="connsiteX174" fmla="*/ 4461 w 10000"/>
              <a:gd name="connsiteY174" fmla="*/ 9956 h 10000"/>
              <a:gd name="connsiteX175" fmla="*/ 4628 w 10000"/>
              <a:gd name="connsiteY175" fmla="*/ 9938 h 10000"/>
              <a:gd name="connsiteX176" fmla="*/ 4797 w 10000"/>
              <a:gd name="connsiteY176" fmla="*/ 9912 h 10000"/>
              <a:gd name="connsiteX177" fmla="*/ 4965 w 10000"/>
              <a:gd name="connsiteY177" fmla="*/ 9888 h 10000"/>
              <a:gd name="connsiteX178" fmla="*/ 4965 w 10000"/>
              <a:gd name="connsiteY178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412 w 10000"/>
              <a:gd name="connsiteY154" fmla="*/ 9698 h 10000"/>
              <a:gd name="connsiteX155" fmla="*/ 1561 w 10000"/>
              <a:gd name="connsiteY155" fmla="*/ 9738 h 10000"/>
              <a:gd name="connsiteX156" fmla="*/ 1714 w 10000"/>
              <a:gd name="connsiteY156" fmla="*/ 9778 h 10000"/>
              <a:gd name="connsiteX157" fmla="*/ 1867 w 10000"/>
              <a:gd name="connsiteY157" fmla="*/ 9814 h 10000"/>
              <a:gd name="connsiteX158" fmla="*/ 2024 w 10000"/>
              <a:gd name="connsiteY158" fmla="*/ 9846 h 10000"/>
              <a:gd name="connsiteX159" fmla="*/ 2180 w 10000"/>
              <a:gd name="connsiteY159" fmla="*/ 9874 h 10000"/>
              <a:gd name="connsiteX160" fmla="*/ 2336 w 10000"/>
              <a:gd name="connsiteY160" fmla="*/ 9902 h 10000"/>
              <a:gd name="connsiteX161" fmla="*/ 2494 w 10000"/>
              <a:gd name="connsiteY161" fmla="*/ 9926 h 10000"/>
              <a:gd name="connsiteX162" fmla="*/ 2653 w 10000"/>
              <a:gd name="connsiteY162" fmla="*/ 9946 h 10000"/>
              <a:gd name="connsiteX163" fmla="*/ 2814 w 10000"/>
              <a:gd name="connsiteY163" fmla="*/ 9962 h 10000"/>
              <a:gd name="connsiteX164" fmla="*/ 2978 w 10000"/>
              <a:gd name="connsiteY164" fmla="*/ 9978 h 10000"/>
              <a:gd name="connsiteX165" fmla="*/ 3139 w 10000"/>
              <a:gd name="connsiteY165" fmla="*/ 9988 h 10000"/>
              <a:gd name="connsiteX166" fmla="*/ 3303 w 10000"/>
              <a:gd name="connsiteY166" fmla="*/ 9996 h 10000"/>
              <a:gd name="connsiteX167" fmla="*/ 3464 w 10000"/>
              <a:gd name="connsiteY167" fmla="*/ 10000 h 10000"/>
              <a:gd name="connsiteX168" fmla="*/ 3630 w 10000"/>
              <a:gd name="connsiteY168" fmla="*/ 10000 h 10000"/>
              <a:gd name="connsiteX169" fmla="*/ 3794 w 10000"/>
              <a:gd name="connsiteY169" fmla="*/ 9998 h 10000"/>
              <a:gd name="connsiteX170" fmla="*/ 3963 w 10000"/>
              <a:gd name="connsiteY170" fmla="*/ 9994 h 10000"/>
              <a:gd name="connsiteX171" fmla="*/ 4126 w 10000"/>
              <a:gd name="connsiteY171" fmla="*/ 9986 h 10000"/>
              <a:gd name="connsiteX172" fmla="*/ 4295 w 10000"/>
              <a:gd name="connsiteY172" fmla="*/ 9974 h 10000"/>
              <a:gd name="connsiteX173" fmla="*/ 4461 w 10000"/>
              <a:gd name="connsiteY173" fmla="*/ 9956 h 10000"/>
              <a:gd name="connsiteX174" fmla="*/ 4628 w 10000"/>
              <a:gd name="connsiteY174" fmla="*/ 9938 h 10000"/>
              <a:gd name="connsiteX175" fmla="*/ 4797 w 10000"/>
              <a:gd name="connsiteY175" fmla="*/ 9912 h 10000"/>
              <a:gd name="connsiteX176" fmla="*/ 4965 w 10000"/>
              <a:gd name="connsiteY176" fmla="*/ 9888 h 10000"/>
              <a:gd name="connsiteX177" fmla="*/ 4965 w 10000"/>
              <a:gd name="connsiteY177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1412 w 10000"/>
              <a:gd name="connsiteY153" fmla="*/ 9698 h 10000"/>
              <a:gd name="connsiteX154" fmla="*/ 1561 w 10000"/>
              <a:gd name="connsiteY154" fmla="*/ 9738 h 10000"/>
              <a:gd name="connsiteX155" fmla="*/ 1714 w 10000"/>
              <a:gd name="connsiteY155" fmla="*/ 9778 h 10000"/>
              <a:gd name="connsiteX156" fmla="*/ 1867 w 10000"/>
              <a:gd name="connsiteY156" fmla="*/ 9814 h 10000"/>
              <a:gd name="connsiteX157" fmla="*/ 2024 w 10000"/>
              <a:gd name="connsiteY157" fmla="*/ 9846 h 10000"/>
              <a:gd name="connsiteX158" fmla="*/ 2180 w 10000"/>
              <a:gd name="connsiteY158" fmla="*/ 9874 h 10000"/>
              <a:gd name="connsiteX159" fmla="*/ 2336 w 10000"/>
              <a:gd name="connsiteY159" fmla="*/ 9902 h 10000"/>
              <a:gd name="connsiteX160" fmla="*/ 2494 w 10000"/>
              <a:gd name="connsiteY160" fmla="*/ 9926 h 10000"/>
              <a:gd name="connsiteX161" fmla="*/ 2653 w 10000"/>
              <a:gd name="connsiteY161" fmla="*/ 9946 h 10000"/>
              <a:gd name="connsiteX162" fmla="*/ 2814 w 10000"/>
              <a:gd name="connsiteY162" fmla="*/ 9962 h 10000"/>
              <a:gd name="connsiteX163" fmla="*/ 2978 w 10000"/>
              <a:gd name="connsiteY163" fmla="*/ 9978 h 10000"/>
              <a:gd name="connsiteX164" fmla="*/ 3139 w 10000"/>
              <a:gd name="connsiteY164" fmla="*/ 9988 h 10000"/>
              <a:gd name="connsiteX165" fmla="*/ 3303 w 10000"/>
              <a:gd name="connsiteY165" fmla="*/ 9996 h 10000"/>
              <a:gd name="connsiteX166" fmla="*/ 3464 w 10000"/>
              <a:gd name="connsiteY166" fmla="*/ 10000 h 10000"/>
              <a:gd name="connsiteX167" fmla="*/ 3630 w 10000"/>
              <a:gd name="connsiteY167" fmla="*/ 10000 h 10000"/>
              <a:gd name="connsiteX168" fmla="*/ 3794 w 10000"/>
              <a:gd name="connsiteY168" fmla="*/ 9998 h 10000"/>
              <a:gd name="connsiteX169" fmla="*/ 3963 w 10000"/>
              <a:gd name="connsiteY169" fmla="*/ 9994 h 10000"/>
              <a:gd name="connsiteX170" fmla="*/ 4126 w 10000"/>
              <a:gd name="connsiteY170" fmla="*/ 9986 h 10000"/>
              <a:gd name="connsiteX171" fmla="*/ 4295 w 10000"/>
              <a:gd name="connsiteY171" fmla="*/ 9974 h 10000"/>
              <a:gd name="connsiteX172" fmla="*/ 4461 w 10000"/>
              <a:gd name="connsiteY172" fmla="*/ 9956 h 10000"/>
              <a:gd name="connsiteX173" fmla="*/ 4628 w 10000"/>
              <a:gd name="connsiteY173" fmla="*/ 9938 h 10000"/>
              <a:gd name="connsiteX174" fmla="*/ 4797 w 10000"/>
              <a:gd name="connsiteY174" fmla="*/ 9912 h 10000"/>
              <a:gd name="connsiteX175" fmla="*/ 4965 w 10000"/>
              <a:gd name="connsiteY175" fmla="*/ 9888 h 10000"/>
              <a:gd name="connsiteX176" fmla="*/ 4965 w 10000"/>
              <a:gd name="connsiteY176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1412 w 10000"/>
              <a:gd name="connsiteY152" fmla="*/ 9698 h 10000"/>
              <a:gd name="connsiteX153" fmla="*/ 1561 w 10000"/>
              <a:gd name="connsiteY153" fmla="*/ 9738 h 10000"/>
              <a:gd name="connsiteX154" fmla="*/ 1714 w 10000"/>
              <a:gd name="connsiteY154" fmla="*/ 9778 h 10000"/>
              <a:gd name="connsiteX155" fmla="*/ 1867 w 10000"/>
              <a:gd name="connsiteY155" fmla="*/ 9814 h 10000"/>
              <a:gd name="connsiteX156" fmla="*/ 2024 w 10000"/>
              <a:gd name="connsiteY156" fmla="*/ 9846 h 10000"/>
              <a:gd name="connsiteX157" fmla="*/ 2180 w 10000"/>
              <a:gd name="connsiteY157" fmla="*/ 9874 h 10000"/>
              <a:gd name="connsiteX158" fmla="*/ 2336 w 10000"/>
              <a:gd name="connsiteY158" fmla="*/ 9902 h 10000"/>
              <a:gd name="connsiteX159" fmla="*/ 2494 w 10000"/>
              <a:gd name="connsiteY159" fmla="*/ 9926 h 10000"/>
              <a:gd name="connsiteX160" fmla="*/ 2653 w 10000"/>
              <a:gd name="connsiteY160" fmla="*/ 9946 h 10000"/>
              <a:gd name="connsiteX161" fmla="*/ 2814 w 10000"/>
              <a:gd name="connsiteY161" fmla="*/ 9962 h 10000"/>
              <a:gd name="connsiteX162" fmla="*/ 2978 w 10000"/>
              <a:gd name="connsiteY162" fmla="*/ 9978 h 10000"/>
              <a:gd name="connsiteX163" fmla="*/ 3139 w 10000"/>
              <a:gd name="connsiteY163" fmla="*/ 9988 h 10000"/>
              <a:gd name="connsiteX164" fmla="*/ 3303 w 10000"/>
              <a:gd name="connsiteY164" fmla="*/ 9996 h 10000"/>
              <a:gd name="connsiteX165" fmla="*/ 3464 w 10000"/>
              <a:gd name="connsiteY165" fmla="*/ 10000 h 10000"/>
              <a:gd name="connsiteX166" fmla="*/ 3630 w 10000"/>
              <a:gd name="connsiteY166" fmla="*/ 10000 h 10000"/>
              <a:gd name="connsiteX167" fmla="*/ 3794 w 10000"/>
              <a:gd name="connsiteY167" fmla="*/ 9998 h 10000"/>
              <a:gd name="connsiteX168" fmla="*/ 3963 w 10000"/>
              <a:gd name="connsiteY168" fmla="*/ 9994 h 10000"/>
              <a:gd name="connsiteX169" fmla="*/ 4126 w 10000"/>
              <a:gd name="connsiteY169" fmla="*/ 9986 h 10000"/>
              <a:gd name="connsiteX170" fmla="*/ 4295 w 10000"/>
              <a:gd name="connsiteY170" fmla="*/ 9974 h 10000"/>
              <a:gd name="connsiteX171" fmla="*/ 4461 w 10000"/>
              <a:gd name="connsiteY171" fmla="*/ 9956 h 10000"/>
              <a:gd name="connsiteX172" fmla="*/ 4628 w 10000"/>
              <a:gd name="connsiteY172" fmla="*/ 9938 h 10000"/>
              <a:gd name="connsiteX173" fmla="*/ 4797 w 10000"/>
              <a:gd name="connsiteY173" fmla="*/ 9912 h 10000"/>
              <a:gd name="connsiteX174" fmla="*/ 4965 w 10000"/>
              <a:gd name="connsiteY174" fmla="*/ 9888 h 10000"/>
              <a:gd name="connsiteX175" fmla="*/ 4965 w 10000"/>
              <a:gd name="connsiteY175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1412 w 10000"/>
              <a:gd name="connsiteY151" fmla="*/ 9698 h 10000"/>
              <a:gd name="connsiteX152" fmla="*/ 1561 w 10000"/>
              <a:gd name="connsiteY152" fmla="*/ 9738 h 10000"/>
              <a:gd name="connsiteX153" fmla="*/ 1714 w 10000"/>
              <a:gd name="connsiteY153" fmla="*/ 9778 h 10000"/>
              <a:gd name="connsiteX154" fmla="*/ 1867 w 10000"/>
              <a:gd name="connsiteY154" fmla="*/ 9814 h 10000"/>
              <a:gd name="connsiteX155" fmla="*/ 2024 w 10000"/>
              <a:gd name="connsiteY155" fmla="*/ 9846 h 10000"/>
              <a:gd name="connsiteX156" fmla="*/ 2180 w 10000"/>
              <a:gd name="connsiteY156" fmla="*/ 9874 h 10000"/>
              <a:gd name="connsiteX157" fmla="*/ 2336 w 10000"/>
              <a:gd name="connsiteY157" fmla="*/ 9902 h 10000"/>
              <a:gd name="connsiteX158" fmla="*/ 2494 w 10000"/>
              <a:gd name="connsiteY158" fmla="*/ 9926 h 10000"/>
              <a:gd name="connsiteX159" fmla="*/ 2653 w 10000"/>
              <a:gd name="connsiteY159" fmla="*/ 9946 h 10000"/>
              <a:gd name="connsiteX160" fmla="*/ 2814 w 10000"/>
              <a:gd name="connsiteY160" fmla="*/ 9962 h 10000"/>
              <a:gd name="connsiteX161" fmla="*/ 2978 w 10000"/>
              <a:gd name="connsiteY161" fmla="*/ 9978 h 10000"/>
              <a:gd name="connsiteX162" fmla="*/ 3139 w 10000"/>
              <a:gd name="connsiteY162" fmla="*/ 9988 h 10000"/>
              <a:gd name="connsiteX163" fmla="*/ 3303 w 10000"/>
              <a:gd name="connsiteY163" fmla="*/ 9996 h 10000"/>
              <a:gd name="connsiteX164" fmla="*/ 3464 w 10000"/>
              <a:gd name="connsiteY164" fmla="*/ 10000 h 10000"/>
              <a:gd name="connsiteX165" fmla="*/ 3630 w 10000"/>
              <a:gd name="connsiteY165" fmla="*/ 10000 h 10000"/>
              <a:gd name="connsiteX166" fmla="*/ 3794 w 10000"/>
              <a:gd name="connsiteY166" fmla="*/ 9998 h 10000"/>
              <a:gd name="connsiteX167" fmla="*/ 3963 w 10000"/>
              <a:gd name="connsiteY167" fmla="*/ 9994 h 10000"/>
              <a:gd name="connsiteX168" fmla="*/ 4126 w 10000"/>
              <a:gd name="connsiteY168" fmla="*/ 9986 h 10000"/>
              <a:gd name="connsiteX169" fmla="*/ 4295 w 10000"/>
              <a:gd name="connsiteY169" fmla="*/ 9974 h 10000"/>
              <a:gd name="connsiteX170" fmla="*/ 4461 w 10000"/>
              <a:gd name="connsiteY170" fmla="*/ 9956 h 10000"/>
              <a:gd name="connsiteX171" fmla="*/ 4628 w 10000"/>
              <a:gd name="connsiteY171" fmla="*/ 9938 h 10000"/>
              <a:gd name="connsiteX172" fmla="*/ 4797 w 10000"/>
              <a:gd name="connsiteY172" fmla="*/ 9912 h 10000"/>
              <a:gd name="connsiteX173" fmla="*/ 4965 w 10000"/>
              <a:gd name="connsiteY173" fmla="*/ 9888 h 10000"/>
              <a:gd name="connsiteX174" fmla="*/ 4965 w 10000"/>
              <a:gd name="connsiteY174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1412 w 10000"/>
              <a:gd name="connsiteY150" fmla="*/ 9698 h 10000"/>
              <a:gd name="connsiteX151" fmla="*/ 1561 w 10000"/>
              <a:gd name="connsiteY151" fmla="*/ 9738 h 10000"/>
              <a:gd name="connsiteX152" fmla="*/ 1714 w 10000"/>
              <a:gd name="connsiteY152" fmla="*/ 9778 h 10000"/>
              <a:gd name="connsiteX153" fmla="*/ 1867 w 10000"/>
              <a:gd name="connsiteY153" fmla="*/ 9814 h 10000"/>
              <a:gd name="connsiteX154" fmla="*/ 2024 w 10000"/>
              <a:gd name="connsiteY154" fmla="*/ 9846 h 10000"/>
              <a:gd name="connsiteX155" fmla="*/ 2180 w 10000"/>
              <a:gd name="connsiteY155" fmla="*/ 9874 h 10000"/>
              <a:gd name="connsiteX156" fmla="*/ 2336 w 10000"/>
              <a:gd name="connsiteY156" fmla="*/ 9902 h 10000"/>
              <a:gd name="connsiteX157" fmla="*/ 2494 w 10000"/>
              <a:gd name="connsiteY157" fmla="*/ 9926 h 10000"/>
              <a:gd name="connsiteX158" fmla="*/ 2653 w 10000"/>
              <a:gd name="connsiteY158" fmla="*/ 9946 h 10000"/>
              <a:gd name="connsiteX159" fmla="*/ 2814 w 10000"/>
              <a:gd name="connsiteY159" fmla="*/ 9962 h 10000"/>
              <a:gd name="connsiteX160" fmla="*/ 2978 w 10000"/>
              <a:gd name="connsiteY160" fmla="*/ 9978 h 10000"/>
              <a:gd name="connsiteX161" fmla="*/ 3139 w 10000"/>
              <a:gd name="connsiteY161" fmla="*/ 9988 h 10000"/>
              <a:gd name="connsiteX162" fmla="*/ 3303 w 10000"/>
              <a:gd name="connsiteY162" fmla="*/ 9996 h 10000"/>
              <a:gd name="connsiteX163" fmla="*/ 3464 w 10000"/>
              <a:gd name="connsiteY163" fmla="*/ 10000 h 10000"/>
              <a:gd name="connsiteX164" fmla="*/ 3630 w 10000"/>
              <a:gd name="connsiteY164" fmla="*/ 10000 h 10000"/>
              <a:gd name="connsiteX165" fmla="*/ 3794 w 10000"/>
              <a:gd name="connsiteY165" fmla="*/ 9998 h 10000"/>
              <a:gd name="connsiteX166" fmla="*/ 3963 w 10000"/>
              <a:gd name="connsiteY166" fmla="*/ 9994 h 10000"/>
              <a:gd name="connsiteX167" fmla="*/ 4126 w 10000"/>
              <a:gd name="connsiteY167" fmla="*/ 9986 h 10000"/>
              <a:gd name="connsiteX168" fmla="*/ 4295 w 10000"/>
              <a:gd name="connsiteY168" fmla="*/ 9974 h 10000"/>
              <a:gd name="connsiteX169" fmla="*/ 4461 w 10000"/>
              <a:gd name="connsiteY169" fmla="*/ 9956 h 10000"/>
              <a:gd name="connsiteX170" fmla="*/ 4628 w 10000"/>
              <a:gd name="connsiteY170" fmla="*/ 9938 h 10000"/>
              <a:gd name="connsiteX171" fmla="*/ 4797 w 10000"/>
              <a:gd name="connsiteY171" fmla="*/ 9912 h 10000"/>
              <a:gd name="connsiteX172" fmla="*/ 4965 w 10000"/>
              <a:gd name="connsiteY172" fmla="*/ 9888 h 10000"/>
              <a:gd name="connsiteX173" fmla="*/ 4965 w 10000"/>
              <a:gd name="connsiteY173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1412 w 10000"/>
              <a:gd name="connsiteY149" fmla="*/ 9698 h 10000"/>
              <a:gd name="connsiteX150" fmla="*/ 1561 w 10000"/>
              <a:gd name="connsiteY150" fmla="*/ 9738 h 10000"/>
              <a:gd name="connsiteX151" fmla="*/ 1714 w 10000"/>
              <a:gd name="connsiteY151" fmla="*/ 9778 h 10000"/>
              <a:gd name="connsiteX152" fmla="*/ 1867 w 10000"/>
              <a:gd name="connsiteY152" fmla="*/ 9814 h 10000"/>
              <a:gd name="connsiteX153" fmla="*/ 2024 w 10000"/>
              <a:gd name="connsiteY153" fmla="*/ 9846 h 10000"/>
              <a:gd name="connsiteX154" fmla="*/ 2180 w 10000"/>
              <a:gd name="connsiteY154" fmla="*/ 9874 h 10000"/>
              <a:gd name="connsiteX155" fmla="*/ 2336 w 10000"/>
              <a:gd name="connsiteY155" fmla="*/ 9902 h 10000"/>
              <a:gd name="connsiteX156" fmla="*/ 2494 w 10000"/>
              <a:gd name="connsiteY156" fmla="*/ 9926 h 10000"/>
              <a:gd name="connsiteX157" fmla="*/ 2653 w 10000"/>
              <a:gd name="connsiteY157" fmla="*/ 9946 h 10000"/>
              <a:gd name="connsiteX158" fmla="*/ 2814 w 10000"/>
              <a:gd name="connsiteY158" fmla="*/ 9962 h 10000"/>
              <a:gd name="connsiteX159" fmla="*/ 2978 w 10000"/>
              <a:gd name="connsiteY159" fmla="*/ 9978 h 10000"/>
              <a:gd name="connsiteX160" fmla="*/ 3139 w 10000"/>
              <a:gd name="connsiteY160" fmla="*/ 9988 h 10000"/>
              <a:gd name="connsiteX161" fmla="*/ 3303 w 10000"/>
              <a:gd name="connsiteY161" fmla="*/ 9996 h 10000"/>
              <a:gd name="connsiteX162" fmla="*/ 3464 w 10000"/>
              <a:gd name="connsiteY162" fmla="*/ 10000 h 10000"/>
              <a:gd name="connsiteX163" fmla="*/ 3630 w 10000"/>
              <a:gd name="connsiteY163" fmla="*/ 10000 h 10000"/>
              <a:gd name="connsiteX164" fmla="*/ 3794 w 10000"/>
              <a:gd name="connsiteY164" fmla="*/ 9998 h 10000"/>
              <a:gd name="connsiteX165" fmla="*/ 3963 w 10000"/>
              <a:gd name="connsiteY165" fmla="*/ 9994 h 10000"/>
              <a:gd name="connsiteX166" fmla="*/ 4126 w 10000"/>
              <a:gd name="connsiteY166" fmla="*/ 9986 h 10000"/>
              <a:gd name="connsiteX167" fmla="*/ 4295 w 10000"/>
              <a:gd name="connsiteY167" fmla="*/ 9974 h 10000"/>
              <a:gd name="connsiteX168" fmla="*/ 4461 w 10000"/>
              <a:gd name="connsiteY168" fmla="*/ 9956 h 10000"/>
              <a:gd name="connsiteX169" fmla="*/ 4628 w 10000"/>
              <a:gd name="connsiteY169" fmla="*/ 9938 h 10000"/>
              <a:gd name="connsiteX170" fmla="*/ 4797 w 10000"/>
              <a:gd name="connsiteY170" fmla="*/ 9912 h 10000"/>
              <a:gd name="connsiteX171" fmla="*/ 4965 w 10000"/>
              <a:gd name="connsiteY171" fmla="*/ 9888 h 10000"/>
              <a:gd name="connsiteX172" fmla="*/ 4965 w 10000"/>
              <a:gd name="connsiteY172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1412 w 10000"/>
              <a:gd name="connsiteY148" fmla="*/ 9698 h 10000"/>
              <a:gd name="connsiteX149" fmla="*/ 1561 w 10000"/>
              <a:gd name="connsiteY149" fmla="*/ 9738 h 10000"/>
              <a:gd name="connsiteX150" fmla="*/ 1714 w 10000"/>
              <a:gd name="connsiteY150" fmla="*/ 9778 h 10000"/>
              <a:gd name="connsiteX151" fmla="*/ 1867 w 10000"/>
              <a:gd name="connsiteY151" fmla="*/ 9814 h 10000"/>
              <a:gd name="connsiteX152" fmla="*/ 2024 w 10000"/>
              <a:gd name="connsiteY152" fmla="*/ 9846 h 10000"/>
              <a:gd name="connsiteX153" fmla="*/ 2180 w 10000"/>
              <a:gd name="connsiteY153" fmla="*/ 9874 h 10000"/>
              <a:gd name="connsiteX154" fmla="*/ 2336 w 10000"/>
              <a:gd name="connsiteY154" fmla="*/ 9902 h 10000"/>
              <a:gd name="connsiteX155" fmla="*/ 2494 w 10000"/>
              <a:gd name="connsiteY155" fmla="*/ 9926 h 10000"/>
              <a:gd name="connsiteX156" fmla="*/ 2653 w 10000"/>
              <a:gd name="connsiteY156" fmla="*/ 9946 h 10000"/>
              <a:gd name="connsiteX157" fmla="*/ 2814 w 10000"/>
              <a:gd name="connsiteY157" fmla="*/ 9962 h 10000"/>
              <a:gd name="connsiteX158" fmla="*/ 2978 w 10000"/>
              <a:gd name="connsiteY158" fmla="*/ 9978 h 10000"/>
              <a:gd name="connsiteX159" fmla="*/ 3139 w 10000"/>
              <a:gd name="connsiteY159" fmla="*/ 9988 h 10000"/>
              <a:gd name="connsiteX160" fmla="*/ 3303 w 10000"/>
              <a:gd name="connsiteY160" fmla="*/ 9996 h 10000"/>
              <a:gd name="connsiteX161" fmla="*/ 3464 w 10000"/>
              <a:gd name="connsiteY161" fmla="*/ 10000 h 10000"/>
              <a:gd name="connsiteX162" fmla="*/ 3630 w 10000"/>
              <a:gd name="connsiteY162" fmla="*/ 10000 h 10000"/>
              <a:gd name="connsiteX163" fmla="*/ 3794 w 10000"/>
              <a:gd name="connsiteY163" fmla="*/ 9998 h 10000"/>
              <a:gd name="connsiteX164" fmla="*/ 3963 w 10000"/>
              <a:gd name="connsiteY164" fmla="*/ 9994 h 10000"/>
              <a:gd name="connsiteX165" fmla="*/ 4126 w 10000"/>
              <a:gd name="connsiteY165" fmla="*/ 9986 h 10000"/>
              <a:gd name="connsiteX166" fmla="*/ 4295 w 10000"/>
              <a:gd name="connsiteY166" fmla="*/ 9974 h 10000"/>
              <a:gd name="connsiteX167" fmla="*/ 4461 w 10000"/>
              <a:gd name="connsiteY167" fmla="*/ 9956 h 10000"/>
              <a:gd name="connsiteX168" fmla="*/ 4628 w 10000"/>
              <a:gd name="connsiteY168" fmla="*/ 9938 h 10000"/>
              <a:gd name="connsiteX169" fmla="*/ 4797 w 10000"/>
              <a:gd name="connsiteY169" fmla="*/ 9912 h 10000"/>
              <a:gd name="connsiteX170" fmla="*/ 4965 w 10000"/>
              <a:gd name="connsiteY170" fmla="*/ 9888 h 10000"/>
              <a:gd name="connsiteX171" fmla="*/ 4965 w 10000"/>
              <a:gd name="connsiteY17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412 w 10000"/>
              <a:gd name="connsiteY147" fmla="*/ 9698 h 10000"/>
              <a:gd name="connsiteX148" fmla="*/ 1561 w 10000"/>
              <a:gd name="connsiteY148" fmla="*/ 9738 h 10000"/>
              <a:gd name="connsiteX149" fmla="*/ 1714 w 10000"/>
              <a:gd name="connsiteY149" fmla="*/ 9778 h 10000"/>
              <a:gd name="connsiteX150" fmla="*/ 1867 w 10000"/>
              <a:gd name="connsiteY150" fmla="*/ 9814 h 10000"/>
              <a:gd name="connsiteX151" fmla="*/ 2024 w 10000"/>
              <a:gd name="connsiteY151" fmla="*/ 9846 h 10000"/>
              <a:gd name="connsiteX152" fmla="*/ 2180 w 10000"/>
              <a:gd name="connsiteY152" fmla="*/ 9874 h 10000"/>
              <a:gd name="connsiteX153" fmla="*/ 2336 w 10000"/>
              <a:gd name="connsiteY153" fmla="*/ 9902 h 10000"/>
              <a:gd name="connsiteX154" fmla="*/ 2494 w 10000"/>
              <a:gd name="connsiteY154" fmla="*/ 9926 h 10000"/>
              <a:gd name="connsiteX155" fmla="*/ 2653 w 10000"/>
              <a:gd name="connsiteY155" fmla="*/ 9946 h 10000"/>
              <a:gd name="connsiteX156" fmla="*/ 2814 w 10000"/>
              <a:gd name="connsiteY156" fmla="*/ 9962 h 10000"/>
              <a:gd name="connsiteX157" fmla="*/ 2978 w 10000"/>
              <a:gd name="connsiteY157" fmla="*/ 9978 h 10000"/>
              <a:gd name="connsiteX158" fmla="*/ 3139 w 10000"/>
              <a:gd name="connsiteY158" fmla="*/ 9988 h 10000"/>
              <a:gd name="connsiteX159" fmla="*/ 3303 w 10000"/>
              <a:gd name="connsiteY159" fmla="*/ 9996 h 10000"/>
              <a:gd name="connsiteX160" fmla="*/ 3464 w 10000"/>
              <a:gd name="connsiteY160" fmla="*/ 10000 h 10000"/>
              <a:gd name="connsiteX161" fmla="*/ 3630 w 10000"/>
              <a:gd name="connsiteY161" fmla="*/ 10000 h 10000"/>
              <a:gd name="connsiteX162" fmla="*/ 3794 w 10000"/>
              <a:gd name="connsiteY162" fmla="*/ 9998 h 10000"/>
              <a:gd name="connsiteX163" fmla="*/ 3963 w 10000"/>
              <a:gd name="connsiteY163" fmla="*/ 9994 h 10000"/>
              <a:gd name="connsiteX164" fmla="*/ 4126 w 10000"/>
              <a:gd name="connsiteY164" fmla="*/ 9986 h 10000"/>
              <a:gd name="connsiteX165" fmla="*/ 4295 w 10000"/>
              <a:gd name="connsiteY165" fmla="*/ 9974 h 10000"/>
              <a:gd name="connsiteX166" fmla="*/ 4461 w 10000"/>
              <a:gd name="connsiteY166" fmla="*/ 9956 h 10000"/>
              <a:gd name="connsiteX167" fmla="*/ 4628 w 10000"/>
              <a:gd name="connsiteY167" fmla="*/ 9938 h 10000"/>
              <a:gd name="connsiteX168" fmla="*/ 4797 w 10000"/>
              <a:gd name="connsiteY168" fmla="*/ 9912 h 10000"/>
              <a:gd name="connsiteX169" fmla="*/ 4965 w 10000"/>
              <a:gd name="connsiteY169" fmla="*/ 9888 h 10000"/>
              <a:gd name="connsiteX170" fmla="*/ 4965 w 10000"/>
              <a:gd name="connsiteY17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1412 w 10000"/>
              <a:gd name="connsiteY146" fmla="*/ 9698 h 10000"/>
              <a:gd name="connsiteX147" fmla="*/ 1561 w 10000"/>
              <a:gd name="connsiteY147" fmla="*/ 9738 h 10000"/>
              <a:gd name="connsiteX148" fmla="*/ 1714 w 10000"/>
              <a:gd name="connsiteY148" fmla="*/ 9778 h 10000"/>
              <a:gd name="connsiteX149" fmla="*/ 1867 w 10000"/>
              <a:gd name="connsiteY149" fmla="*/ 9814 h 10000"/>
              <a:gd name="connsiteX150" fmla="*/ 2024 w 10000"/>
              <a:gd name="connsiteY150" fmla="*/ 9846 h 10000"/>
              <a:gd name="connsiteX151" fmla="*/ 2180 w 10000"/>
              <a:gd name="connsiteY151" fmla="*/ 9874 h 10000"/>
              <a:gd name="connsiteX152" fmla="*/ 2336 w 10000"/>
              <a:gd name="connsiteY152" fmla="*/ 9902 h 10000"/>
              <a:gd name="connsiteX153" fmla="*/ 2494 w 10000"/>
              <a:gd name="connsiteY153" fmla="*/ 9926 h 10000"/>
              <a:gd name="connsiteX154" fmla="*/ 2653 w 10000"/>
              <a:gd name="connsiteY154" fmla="*/ 9946 h 10000"/>
              <a:gd name="connsiteX155" fmla="*/ 2814 w 10000"/>
              <a:gd name="connsiteY155" fmla="*/ 9962 h 10000"/>
              <a:gd name="connsiteX156" fmla="*/ 2978 w 10000"/>
              <a:gd name="connsiteY156" fmla="*/ 9978 h 10000"/>
              <a:gd name="connsiteX157" fmla="*/ 3139 w 10000"/>
              <a:gd name="connsiteY157" fmla="*/ 9988 h 10000"/>
              <a:gd name="connsiteX158" fmla="*/ 3303 w 10000"/>
              <a:gd name="connsiteY158" fmla="*/ 9996 h 10000"/>
              <a:gd name="connsiteX159" fmla="*/ 3464 w 10000"/>
              <a:gd name="connsiteY159" fmla="*/ 10000 h 10000"/>
              <a:gd name="connsiteX160" fmla="*/ 3630 w 10000"/>
              <a:gd name="connsiteY160" fmla="*/ 10000 h 10000"/>
              <a:gd name="connsiteX161" fmla="*/ 3794 w 10000"/>
              <a:gd name="connsiteY161" fmla="*/ 9998 h 10000"/>
              <a:gd name="connsiteX162" fmla="*/ 3963 w 10000"/>
              <a:gd name="connsiteY162" fmla="*/ 9994 h 10000"/>
              <a:gd name="connsiteX163" fmla="*/ 4126 w 10000"/>
              <a:gd name="connsiteY163" fmla="*/ 9986 h 10000"/>
              <a:gd name="connsiteX164" fmla="*/ 4295 w 10000"/>
              <a:gd name="connsiteY164" fmla="*/ 9974 h 10000"/>
              <a:gd name="connsiteX165" fmla="*/ 4461 w 10000"/>
              <a:gd name="connsiteY165" fmla="*/ 9956 h 10000"/>
              <a:gd name="connsiteX166" fmla="*/ 4628 w 10000"/>
              <a:gd name="connsiteY166" fmla="*/ 9938 h 10000"/>
              <a:gd name="connsiteX167" fmla="*/ 4797 w 10000"/>
              <a:gd name="connsiteY167" fmla="*/ 9912 h 10000"/>
              <a:gd name="connsiteX168" fmla="*/ 4965 w 10000"/>
              <a:gd name="connsiteY168" fmla="*/ 9888 h 10000"/>
              <a:gd name="connsiteX169" fmla="*/ 4965 w 10000"/>
              <a:gd name="connsiteY169" fmla="*/ 9888 h 10000"/>
              <a:gd name="connsiteX0" fmla="*/ 4584 w 9619"/>
              <a:gd name="connsiteY0" fmla="*/ 9888 h 10000"/>
              <a:gd name="connsiteX1" fmla="*/ 4584 w 9619"/>
              <a:gd name="connsiteY1" fmla="*/ 9888 h 10000"/>
              <a:gd name="connsiteX2" fmla="*/ 4743 w 9619"/>
              <a:gd name="connsiteY2" fmla="*/ 9856 h 10000"/>
              <a:gd name="connsiteX3" fmla="*/ 4902 w 9619"/>
              <a:gd name="connsiteY3" fmla="*/ 9826 h 10000"/>
              <a:gd name="connsiteX4" fmla="*/ 5058 w 9619"/>
              <a:gd name="connsiteY4" fmla="*/ 9792 h 10000"/>
              <a:gd name="connsiteX5" fmla="*/ 5214 w 9619"/>
              <a:gd name="connsiteY5" fmla="*/ 9754 h 10000"/>
              <a:gd name="connsiteX6" fmla="*/ 5365 w 9619"/>
              <a:gd name="connsiteY6" fmla="*/ 9712 h 10000"/>
              <a:gd name="connsiteX7" fmla="*/ 5518 w 9619"/>
              <a:gd name="connsiteY7" fmla="*/ 9670 h 10000"/>
              <a:gd name="connsiteX8" fmla="*/ 5667 w 9619"/>
              <a:gd name="connsiteY8" fmla="*/ 9622 h 10000"/>
              <a:gd name="connsiteX9" fmla="*/ 5815 w 9619"/>
              <a:gd name="connsiteY9" fmla="*/ 9574 h 10000"/>
              <a:gd name="connsiteX10" fmla="*/ 5958 w 9619"/>
              <a:gd name="connsiteY10" fmla="*/ 9524 h 10000"/>
              <a:gd name="connsiteX11" fmla="*/ 6099 w 9619"/>
              <a:gd name="connsiteY11" fmla="*/ 9468 h 10000"/>
              <a:gd name="connsiteX12" fmla="*/ 6242 w 9619"/>
              <a:gd name="connsiteY12" fmla="*/ 9412 h 10000"/>
              <a:gd name="connsiteX13" fmla="*/ 6378 w 9619"/>
              <a:gd name="connsiteY13" fmla="*/ 9352 h 10000"/>
              <a:gd name="connsiteX14" fmla="*/ 6513 w 9619"/>
              <a:gd name="connsiteY14" fmla="*/ 9290 h 10000"/>
              <a:gd name="connsiteX15" fmla="*/ 6649 w 9619"/>
              <a:gd name="connsiteY15" fmla="*/ 9224 h 10000"/>
              <a:gd name="connsiteX16" fmla="*/ 6779 w 9619"/>
              <a:gd name="connsiteY16" fmla="*/ 9160 h 10000"/>
              <a:gd name="connsiteX17" fmla="*/ 6907 w 9619"/>
              <a:gd name="connsiteY17" fmla="*/ 9090 h 10000"/>
              <a:gd name="connsiteX18" fmla="*/ 7033 w 9619"/>
              <a:gd name="connsiteY18" fmla="*/ 9018 h 10000"/>
              <a:gd name="connsiteX19" fmla="*/ 7155 w 9619"/>
              <a:gd name="connsiteY19" fmla="*/ 8944 h 10000"/>
              <a:gd name="connsiteX20" fmla="*/ 7276 w 9619"/>
              <a:gd name="connsiteY20" fmla="*/ 8868 h 10000"/>
              <a:gd name="connsiteX21" fmla="*/ 7396 w 9619"/>
              <a:gd name="connsiteY21" fmla="*/ 8792 h 10000"/>
              <a:gd name="connsiteX22" fmla="*/ 7511 w 9619"/>
              <a:gd name="connsiteY22" fmla="*/ 8712 h 10000"/>
              <a:gd name="connsiteX23" fmla="*/ 7626 w 9619"/>
              <a:gd name="connsiteY23" fmla="*/ 8628 h 10000"/>
              <a:gd name="connsiteX24" fmla="*/ 7736 w 9619"/>
              <a:gd name="connsiteY24" fmla="*/ 8544 h 10000"/>
              <a:gd name="connsiteX25" fmla="*/ 7841 w 9619"/>
              <a:gd name="connsiteY25" fmla="*/ 8458 h 10000"/>
              <a:gd name="connsiteX26" fmla="*/ 7948 w 9619"/>
              <a:gd name="connsiteY26" fmla="*/ 8370 h 10000"/>
              <a:gd name="connsiteX27" fmla="*/ 8051 w 9619"/>
              <a:gd name="connsiteY27" fmla="*/ 8282 h 10000"/>
              <a:gd name="connsiteX28" fmla="*/ 8148 w 9619"/>
              <a:gd name="connsiteY28" fmla="*/ 8190 h 10000"/>
              <a:gd name="connsiteX29" fmla="*/ 8245 w 9619"/>
              <a:gd name="connsiteY29" fmla="*/ 8098 h 10000"/>
              <a:gd name="connsiteX30" fmla="*/ 8340 w 9619"/>
              <a:gd name="connsiteY30" fmla="*/ 8002 h 10000"/>
              <a:gd name="connsiteX31" fmla="*/ 8429 w 9619"/>
              <a:gd name="connsiteY31" fmla="*/ 7906 h 10000"/>
              <a:gd name="connsiteX32" fmla="*/ 8516 w 9619"/>
              <a:gd name="connsiteY32" fmla="*/ 7806 h 10000"/>
              <a:gd name="connsiteX33" fmla="*/ 8601 w 9619"/>
              <a:gd name="connsiteY33" fmla="*/ 7706 h 10000"/>
              <a:gd name="connsiteX34" fmla="*/ 8683 w 9619"/>
              <a:gd name="connsiteY34" fmla="*/ 7604 h 10000"/>
              <a:gd name="connsiteX35" fmla="*/ 8762 w 9619"/>
              <a:gd name="connsiteY35" fmla="*/ 7500 h 10000"/>
              <a:gd name="connsiteX36" fmla="*/ 8836 w 9619"/>
              <a:gd name="connsiteY36" fmla="*/ 7398 h 10000"/>
              <a:gd name="connsiteX37" fmla="*/ 8908 w 9619"/>
              <a:gd name="connsiteY37" fmla="*/ 7292 h 10000"/>
              <a:gd name="connsiteX38" fmla="*/ 8977 w 9619"/>
              <a:gd name="connsiteY38" fmla="*/ 7182 h 10000"/>
              <a:gd name="connsiteX39" fmla="*/ 9043 w 9619"/>
              <a:gd name="connsiteY39" fmla="*/ 7074 h 10000"/>
              <a:gd name="connsiteX40" fmla="*/ 9105 w 9619"/>
              <a:gd name="connsiteY40" fmla="*/ 6964 h 10000"/>
              <a:gd name="connsiteX41" fmla="*/ 9164 w 9619"/>
              <a:gd name="connsiteY41" fmla="*/ 6854 h 10000"/>
              <a:gd name="connsiteX42" fmla="*/ 9220 w 9619"/>
              <a:gd name="connsiteY42" fmla="*/ 6740 h 10000"/>
              <a:gd name="connsiteX43" fmla="*/ 9271 w 9619"/>
              <a:gd name="connsiteY43" fmla="*/ 6626 h 10000"/>
              <a:gd name="connsiteX44" fmla="*/ 9320 w 9619"/>
              <a:gd name="connsiteY44" fmla="*/ 6512 h 10000"/>
              <a:gd name="connsiteX45" fmla="*/ 9363 w 9619"/>
              <a:gd name="connsiteY45" fmla="*/ 6396 h 10000"/>
              <a:gd name="connsiteX46" fmla="*/ 9407 w 9619"/>
              <a:gd name="connsiteY46" fmla="*/ 6280 h 10000"/>
              <a:gd name="connsiteX47" fmla="*/ 9445 w 9619"/>
              <a:gd name="connsiteY47" fmla="*/ 6164 h 10000"/>
              <a:gd name="connsiteX48" fmla="*/ 9481 w 9619"/>
              <a:gd name="connsiteY48" fmla="*/ 6044 h 10000"/>
              <a:gd name="connsiteX49" fmla="*/ 9509 w 9619"/>
              <a:gd name="connsiteY49" fmla="*/ 5926 h 10000"/>
              <a:gd name="connsiteX50" fmla="*/ 9535 w 9619"/>
              <a:gd name="connsiteY50" fmla="*/ 5804 h 10000"/>
              <a:gd name="connsiteX51" fmla="*/ 9560 w 9619"/>
              <a:gd name="connsiteY51" fmla="*/ 5684 h 10000"/>
              <a:gd name="connsiteX52" fmla="*/ 9581 w 9619"/>
              <a:gd name="connsiteY52" fmla="*/ 5562 h 10000"/>
              <a:gd name="connsiteX53" fmla="*/ 9596 w 9619"/>
              <a:gd name="connsiteY53" fmla="*/ 5440 h 10000"/>
              <a:gd name="connsiteX54" fmla="*/ 9606 w 9619"/>
              <a:gd name="connsiteY54" fmla="*/ 5316 h 10000"/>
              <a:gd name="connsiteX55" fmla="*/ 9616 w 9619"/>
              <a:gd name="connsiteY55" fmla="*/ 5196 h 10000"/>
              <a:gd name="connsiteX56" fmla="*/ 9619 w 9619"/>
              <a:gd name="connsiteY56" fmla="*/ 5072 h 10000"/>
              <a:gd name="connsiteX57" fmla="*/ 9619 w 9619"/>
              <a:gd name="connsiteY57" fmla="*/ 4948 h 10000"/>
              <a:gd name="connsiteX58" fmla="*/ 9616 w 9619"/>
              <a:gd name="connsiteY58" fmla="*/ 4822 h 10000"/>
              <a:gd name="connsiteX59" fmla="*/ 9606 w 9619"/>
              <a:gd name="connsiteY59" fmla="*/ 4698 h 10000"/>
              <a:gd name="connsiteX60" fmla="*/ 9596 w 9619"/>
              <a:gd name="connsiteY60" fmla="*/ 4572 h 10000"/>
              <a:gd name="connsiteX61" fmla="*/ 9581 w 9619"/>
              <a:gd name="connsiteY61" fmla="*/ 4444 h 10000"/>
              <a:gd name="connsiteX62" fmla="*/ 9558 w 9619"/>
              <a:gd name="connsiteY62" fmla="*/ 4318 h 10000"/>
              <a:gd name="connsiteX63" fmla="*/ 9535 w 9619"/>
              <a:gd name="connsiteY63" fmla="*/ 4192 h 10000"/>
              <a:gd name="connsiteX64" fmla="*/ 9506 w 9619"/>
              <a:gd name="connsiteY64" fmla="*/ 4066 h 10000"/>
              <a:gd name="connsiteX65" fmla="*/ 9473 w 9619"/>
              <a:gd name="connsiteY65" fmla="*/ 3940 h 10000"/>
              <a:gd name="connsiteX66" fmla="*/ 9473 w 9619"/>
              <a:gd name="connsiteY66" fmla="*/ 3940 h 10000"/>
              <a:gd name="connsiteX67" fmla="*/ 9435 w 9619"/>
              <a:gd name="connsiteY67" fmla="*/ 3816 h 10000"/>
              <a:gd name="connsiteX68" fmla="*/ 9394 w 9619"/>
              <a:gd name="connsiteY68" fmla="*/ 3692 h 10000"/>
              <a:gd name="connsiteX69" fmla="*/ 9350 w 9619"/>
              <a:gd name="connsiteY69" fmla="*/ 3568 h 10000"/>
              <a:gd name="connsiteX70" fmla="*/ 9302 w 9619"/>
              <a:gd name="connsiteY70" fmla="*/ 3446 h 10000"/>
              <a:gd name="connsiteX71" fmla="*/ 9251 w 9619"/>
              <a:gd name="connsiteY71" fmla="*/ 3328 h 10000"/>
              <a:gd name="connsiteX72" fmla="*/ 9192 w 9619"/>
              <a:gd name="connsiteY72" fmla="*/ 3208 h 10000"/>
              <a:gd name="connsiteX73" fmla="*/ 9136 w 9619"/>
              <a:gd name="connsiteY73" fmla="*/ 3092 h 10000"/>
              <a:gd name="connsiteX74" fmla="*/ 9074 w 9619"/>
              <a:gd name="connsiteY74" fmla="*/ 2976 h 10000"/>
              <a:gd name="connsiteX75" fmla="*/ 9005 w 9619"/>
              <a:gd name="connsiteY75" fmla="*/ 2864 h 10000"/>
              <a:gd name="connsiteX76" fmla="*/ 8939 w 9619"/>
              <a:gd name="connsiteY76" fmla="*/ 2754 h 10000"/>
              <a:gd name="connsiteX77" fmla="*/ 8864 w 9619"/>
              <a:gd name="connsiteY77" fmla="*/ 2642 h 10000"/>
              <a:gd name="connsiteX78" fmla="*/ 8788 w 9619"/>
              <a:gd name="connsiteY78" fmla="*/ 2536 h 10000"/>
              <a:gd name="connsiteX79" fmla="*/ 8708 w 9619"/>
              <a:gd name="connsiteY79" fmla="*/ 2430 h 10000"/>
              <a:gd name="connsiteX80" fmla="*/ 8626 w 9619"/>
              <a:gd name="connsiteY80" fmla="*/ 2324 h 10000"/>
              <a:gd name="connsiteX81" fmla="*/ 8542 w 9619"/>
              <a:gd name="connsiteY81" fmla="*/ 2222 h 10000"/>
              <a:gd name="connsiteX82" fmla="*/ 8452 w 9619"/>
              <a:gd name="connsiteY82" fmla="*/ 2122 h 10000"/>
              <a:gd name="connsiteX83" fmla="*/ 8363 w 9619"/>
              <a:gd name="connsiteY83" fmla="*/ 2024 h 10000"/>
              <a:gd name="connsiteX84" fmla="*/ 8268 w 9619"/>
              <a:gd name="connsiteY84" fmla="*/ 1928 h 10000"/>
              <a:gd name="connsiteX85" fmla="*/ 8171 w 9619"/>
              <a:gd name="connsiteY85" fmla="*/ 1834 h 10000"/>
              <a:gd name="connsiteX86" fmla="*/ 8071 w 9619"/>
              <a:gd name="connsiteY86" fmla="*/ 1740 h 10000"/>
              <a:gd name="connsiteX87" fmla="*/ 7972 w 9619"/>
              <a:gd name="connsiteY87" fmla="*/ 1648 h 10000"/>
              <a:gd name="connsiteX88" fmla="*/ 7864 w 9619"/>
              <a:gd name="connsiteY88" fmla="*/ 1560 h 10000"/>
              <a:gd name="connsiteX89" fmla="*/ 7757 w 9619"/>
              <a:gd name="connsiteY89" fmla="*/ 1474 h 10000"/>
              <a:gd name="connsiteX90" fmla="*/ 7647 w 9619"/>
              <a:gd name="connsiteY90" fmla="*/ 1392 h 10000"/>
              <a:gd name="connsiteX91" fmla="*/ 7534 w 9619"/>
              <a:gd name="connsiteY91" fmla="*/ 1308 h 10000"/>
              <a:gd name="connsiteX92" fmla="*/ 7422 w 9619"/>
              <a:gd name="connsiteY92" fmla="*/ 1226 h 10000"/>
              <a:gd name="connsiteX93" fmla="*/ 7301 w 9619"/>
              <a:gd name="connsiteY93" fmla="*/ 1150 h 10000"/>
              <a:gd name="connsiteX94" fmla="*/ 7184 w 9619"/>
              <a:gd name="connsiteY94" fmla="*/ 1076 h 10000"/>
              <a:gd name="connsiteX95" fmla="*/ 7063 w 9619"/>
              <a:gd name="connsiteY95" fmla="*/ 1002 h 10000"/>
              <a:gd name="connsiteX96" fmla="*/ 6938 w 9619"/>
              <a:gd name="connsiteY96" fmla="*/ 932 h 10000"/>
              <a:gd name="connsiteX97" fmla="*/ 6810 w 9619"/>
              <a:gd name="connsiteY97" fmla="*/ 862 h 10000"/>
              <a:gd name="connsiteX98" fmla="*/ 6685 w 9619"/>
              <a:gd name="connsiteY98" fmla="*/ 798 h 10000"/>
              <a:gd name="connsiteX99" fmla="*/ 6554 w 9619"/>
              <a:gd name="connsiteY99" fmla="*/ 734 h 10000"/>
              <a:gd name="connsiteX100" fmla="*/ 6424 w 9619"/>
              <a:gd name="connsiteY100" fmla="*/ 670 h 10000"/>
              <a:gd name="connsiteX101" fmla="*/ 6288 w 9619"/>
              <a:gd name="connsiteY101" fmla="*/ 612 h 10000"/>
              <a:gd name="connsiteX102" fmla="*/ 6150 w 9619"/>
              <a:gd name="connsiteY102" fmla="*/ 556 h 10000"/>
              <a:gd name="connsiteX103" fmla="*/ 6014 w 9619"/>
              <a:gd name="connsiteY103" fmla="*/ 504 h 10000"/>
              <a:gd name="connsiteX104" fmla="*/ 5876 w 9619"/>
              <a:gd name="connsiteY104" fmla="*/ 450 h 10000"/>
              <a:gd name="connsiteX105" fmla="*/ 5736 w 9619"/>
              <a:gd name="connsiteY105" fmla="*/ 402 h 10000"/>
              <a:gd name="connsiteX106" fmla="*/ 5595 w 9619"/>
              <a:gd name="connsiteY106" fmla="*/ 358 h 10000"/>
              <a:gd name="connsiteX107" fmla="*/ 5449 w 9619"/>
              <a:gd name="connsiteY107" fmla="*/ 314 h 10000"/>
              <a:gd name="connsiteX108" fmla="*/ 5303 w 9619"/>
              <a:gd name="connsiteY108" fmla="*/ 274 h 10000"/>
              <a:gd name="connsiteX109" fmla="*/ 5160 w 9619"/>
              <a:gd name="connsiteY109" fmla="*/ 236 h 10000"/>
              <a:gd name="connsiteX110" fmla="*/ 5009 w 9619"/>
              <a:gd name="connsiteY110" fmla="*/ 200 h 10000"/>
              <a:gd name="connsiteX111" fmla="*/ 4861 w 9619"/>
              <a:gd name="connsiteY111" fmla="*/ 168 h 10000"/>
              <a:gd name="connsiteX112" fmla="*/ 4712 w 9619"/>
              <a:gd name="connsiteY112" fmla="*/ 138 h 10000"/>
              <a:gd name="connsiteX113" fmla="*/ 4561 w 9619"/>
              <a:gd name="connsiteY113" fmla="*/ 110 h 10000"/>
              <a:gd name="connsiteX114" fmla="*/ 4408 w 9619"/>
              <a:gd name="connsiteY114" fmla="*/ 86 h 10000"/>
              <a:gd name="connsiteX115" fmla="*/ 4254 w 9619"/>
              <a:gd name="connsiteY115" fmla="*/ 66 h 10000"/>
              <a:gd name="connsiteX116" fmla="*/ 4098 w 9619"/>
              <a:gd name="connsiteY116" fmla="*/ 46 h 10000"/>
              <a:gd name="connsiteX117" fmla="*/ 3945 w 9619"/>
              <a:gd name="connsiteY117" fmla="*/ 32 h 10000"/>
              <a:gd name="connsiteX118" fmla="*/ 3789 w 9619"/>
              <a:gd name="connsiteY118" fmla="*/ 22 h 10000"/>
              <a:gd name="connsiteX119" fmla="*/ 3630 w 9619"/>
              <a:gd name="connsiteY119" fmla="*/ 10 h 10000"/>
              <a:gd name="connsiteX120" fmla="*/ 3472 w 9619"/>
              <a:gd name="connsiteY120" fmla="*/ 4 h 10000"/>
              <a:gd name="connsiteX121" fmla="*/ 3313 w 9619"/>
              <a:gd name="connsiteY121" fmla="*/ 0 h 10000"/>
              <a:gd name="connsiteX122" fmla="*/ 3154 w 9619"/>
              <a:gd name="connsiteY122" fmla="*/ 0 h 10000"/>
              <a:gd name="connsiteX123" fmla="*/ 2996 w 9619"/>
              <a:gd name="connsiteY123" fmla="*/ 4 h 10000"/>
              <a:gd name="connsiteX124" fmla="*/ 2835 w 9619"/>
              <a:gd name="connsiteY124" fmla="*/ 10 h 10000"/>
              <a:gd name="connsiteX125" fmla="*/ 2676 w 9619"/>
              <a:gd name="connsiteY125" fmla="*/ 22 h 10000"/>
              <a:gd name="connsiteX126" fmla="*/ 2515 w 9619"/>
              <a:gd name="connsiteY126" fmla="*/ 34 h 10000"/>
              <a:gd name="connsiteX127" fmla="*/ 2354 w 9619"/>
              <a:gd name="connsiteY127" fmla="*/ 48 h 10000"/>
              <a:gd name="connsiteX128" fmla="*/ 2193 w 9619"/>
              <a:gd name="connsiteY128" fmla="*/ 66 h 10000"/>
              <a:gd name="connsiteX129" fmla="*/ 2031 w 9619"/>
              <a:gd name="connsiteY129" fmla="*/ 90 h 10000"/>
              <a:gd name="connsiteX130" fmla="*/ 1868 w 9619"/>
              <a:gd name="connsiteY130" fmla="*/ 114 h 10000"/>
              <a:gd name="connsiteX131" fmla="*/ 1868 w 9619"/>
              <a:gd name="connsiteY131" fmla="*/ 114 h 10000"/>
              <a:gd name="connsiteX132" fmla="*/ 1714 w 9619"/>
              <a:gd name="connsiteY132" fmla="*/ 142 h 10000"/>
              <a:gd name="connsiteX133" fmla="*/ 1561 w 9619"/>
              <a:gd name="connsiteY133" fmla="*/ 176 h 10000"/>
              <a:gd name="connsiteX134" fmla="*/ 1410 w 9619"/>
              <a:gd name="connsiteY134" fmla="*/ 208 h 10000"/>
              <a:gd name="connsiteX135" fmla="*/ 1261 w 9619"/>
              <a:gd name="connsiteY135" fmla="*/ 244 h 10000"/>
              <a:gd name="connsiteX136" fmla="*/ 1113 w 9619"/>
              <a:gd name="connsiteY136" fmla="*/ 282 h 10000"/>
              <a:gd name="connsiteX137" fmla="*/ 967 w 9619"/>
              <a:gd name="connsiteY137" fmla="*/ 324 h 10000"/>
              <a:gd name="connsiteX138" fmla="*/ 821 w 9619"/>
              <a:gd name="connsiteY138" fmla="*/ 368 h 10000"/>
              <a:gd name="connsiteX139" fmla="*/ 678 w 9619"/>
              <a:gd name="connsiteY139" fmla="*/ 416 h 10000"/>
              <a:gd name="connsiteX140" fmla="*/ 540 w 9619"/>
              <a:gd name="connsiteY140" fmla="*/ 464 h 10000"/>
              <a:gd name="connsiteX141" fmla="*/ 402 w 9619"/>
              <a:gd name="connsiteY141" fmla="*/ 514 h 10000"/>
              <a:gd name="connsiteX142" fmla="*/ 266 w 9619"/>
              <a:gd name="connsiteY142" fmla="*/ 570 h 10000"/>
              <a:gd name="connsiteX143" fmla="*/ 133 w 9619"/>
              <a:gd name="connsiteY143" fmla="*/ 626 h 10000"/>
              <a:gd name="connsiteX144" fmla="*/ 0 w 9619"/>
              <a:gd name="connsiteY144" fmla="*/ 684 h 10000"/>
              <a:gd name="connsiteX145" fmla="*/ 1031 w 9619"/>
              <a:gd name="connsiteY145" fmla="*/ 9698 h 10000"/>
              <a:gd name="connsiteX146" fmla="*/ 1180 w 9619"/>
              <a:gd name="connsiteY146" fmla="*/ 9738 h 10000"/>
              <a:gd name="connsiteX147" fmla="*/ 1333 w 9619"/>
              <a:gd name="connsiteY147" fmla="*/ 9778 h 10000"/>
              <a:gd name="connsiteX148" fmla="*/ 1486 w 9619"/>
              <a:gd name="connsiteY148" fmla="*/ 9814 h 10000"/>
              <a:gd name="connsiteX149" fmla="*/ 1643 w 9619"/>
              <a:gd name="connsiteY149" fmla="*/ 9846 h 10000"/>
              <a:gd name="connsiteX150" fmla="*/ 1799 w 9619"/>
              <a:gd name="connsiteY150" fmla="*/ 9874 h 10000"/>
              <a:gd name="connsiteX151" fmla="*/ 1955 w 9619"/>
              <a:gd name="connsiteY151" fmla="*/ 9902 h 10000"/>
              <a:gd name="connsiteX152" fmla="*/ 2113 w 9619"/>
              <a:gd name="connsiteY152" fmla="*/ 9926 h 10000"/>
              <a:gd name="connsiteX153" fmla="*/ 2272 w 9619"/>
              <a:gd name="connsiteY153" fmla="*/ 9946 h 10000"/>
              <a:gd name="connsiteX154" fmla="*/ 2433 w 9619"/>
              <a:gd name="connsiteY154" fmla="*/ 9962 h 10000"/>
              <a:gd name="connsiteX155" fmla="*/ 2597 w 9619"/>
              <a:gd name="connsiteY155" fmla="*/ 9978 h 10000"/>
              <a:gd name="connsiteX156" fmla="*/ 2758 w 9619"/>
              <a:gd name="connsiteY156" fmla="*/ 9988 h 10000"/>
              <a:gd name="connsiteX157" fmla="*/ 2922 w 9619"/>
              <a:gd name="connsiteY157" fmla="*/ 9996 h 10000"/>
              <a:gd name="connsiteX158" fmla="*/ 3083 w 9619"/>
              <a:gd name="connsiteY158" fmla="*/ 10000 h 10000"/>
              <a:gd name="connsiteX159" fmla="*/ 3249 w 9619"/>
              <a:gd name="connsiteY159" fmla="*/ 10000 h 10000"/>
              <a:gd name="connsiteX160" fmla="*/ 3413 w 9619"/>
              <a:gd name="connsiteY160" fmla="*/ 9998 h 10000"/>
              <a:gd name="connsiteX161" fmla="*/ 3582 w 9619"/>
              <a:gd name="connsiteY161" fmla="*/ 9994 h 10000"/>
              <a:gd name="connsiteX162" fmla="*/ 3745 w 9619"/>
              <a:gd name="connsiteY162" fmla="*/ 9986 h 10000"/>
              <a:gd name="connsiteX163" fmla="*/ 3914 w 9619"/>
              <a:gd name="connsiteY163" fmla="*/ 9974 h 10000"/>
              <a:gd name="connsiteX164" fmla="*/ 4080 w 9619"/>
              <a:gd name="connsiteY164" fmla="*/ 9956 h 10000"/>
              <a:gd name="connsiteX165" fmla="*/ 4247 w 9619"/>
              <a:gd name="connsiteY165" fmla="*/ 9938 h 10000"/>
              <a:gd name="connsiteX166" fmla="*/ 4416 w 9619"/>
              <a:gd name="connsiteY166" fmla="*/ 9912 h 10000"/>
              <a:gd name="connsiteX167" fmla="*/ 4584 w 9619"/>
              <a:gd name="connsiteY167" fmla="*/ 9888 h 10000"/>
              <a:gd name="connsiteX168" fmla="*/ 4584 w 9619"/>
              <a:gd name="connsiteY168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705 w 10000"/>
              <a:gd name="connsiteY138" fmla="*/ 416 h 10000"/>
              <a:gd name="connsiteX139" fmla="*/ 561 w 10000"/>
              <a:gd name="connsiteY139" fmla="*/ 464 h 10000"/>
              <a:gd name="connsiteX140" fmla="*/ 418 w 10000"/>
              <a:gd name="connsiteY140" fmla="*/ 514 h 10000"/>
              <a:gd name="connsiteX141" fmla="*/ 277 w 10000"/>
              <a:gd name="connsiteY141" fmla="*/ 570 h 10000"/>
              <a:gd name="connsiteX142" fmla="*/ 138 w 10000"/>
              <a:gd name="connsiteY142" fmla="*/ 626 h 10000"/>
              <a:gd name="connsiteX143" fmla="*/ 0 w 10000"/>
              <a:gd name="connsiteY143" fmla="*/ 684 h 10000"/>
              <a:gd name="connsiteX144" fmla="*/ 1072 w 10000"/>
              <a:gd name="connsiteY144" fmla="*/ 9698 h 10000"/>
              <a:gd name="connsiteX145" fmla="*/ 1227 w 10000"/>
              <a:gd name="connsiteY145" fmla="*/ 9738 h 10000"/>
              <a:gd name="connsiteX146" fmla="*/ 1386 w 10000"/>
              <a:gd name="connsiteY146" fmla="*/ 9778 h 10000"/>
              <a:gd name="connsiteX147" fmla="*/ 1545 w 10000"/>
              <a:gd name="connsiteY147" fmla="*/ 9814 h 10000"/>
              <a:gd name="connsiteX148" fmla="*/ 1708 w 10000"/>
              <a:gd name="connsiteY148" fmla="*/ 9846 h 10000"/>
              <a:gd name="connsiteX149" fmla="*/ 1870 w 10000"/>
              <a:gd name="connsiteY149" fmla="*/ 9874 h 10000"/>
              <a:gd name="connsiteX150" fmla="*/ 2032 w 10000"/>
              <a:gd name="connsiteY150" fmla="*/ 9902 h 10000"/>
              <a:gd name="connsiteX151" fmla="*/ 2197 w 10000"/>
              <a:gd name="connsiteY151" fmla="*/ 9926 h 10000"/>
              <a:gd name="connsiteX152" fmla="*/ 2362 w 10000"/>
              <a:gd name="connsiteY152" fmla="*/ 9946 h 10000"/>
              <a:gd name="connsiteX153" fmla="*/ 2529 w 10000"/>
              <a:gd name="connsiteY153" fmla="*/ 9962 h 10000"/>
              <a:gd name="connsiteX154" fmla="*/ 2700 w 10000"/>
              <a:gd name="connsiteY154" fmla="*/ 9978 h 10000"/>
              <a:gd name="connsiteX155" fmla="*/ 2867 w 10000"/>
              <a:gd name="connsiteY155" fmla="*/ 9988 h 10000"/>
              <a:gd name="connsiteX156" fmla="*/ 3038 w 10000"/>
              <a:gd name="connsiteY156" fmla="*/ 9996 h 10000"/>
              <a:gd name="connsiteX157" fmla="*/ 3205 w 10000"/>
              <a:gd name="connsiteY157" fmla="*/ 10000 h 10000"/>
              <a:gd name="connsiteX158" fmla="*/ 3378 w 10000"/>
              <a:gd name="connsiteY158" fmla="*/ 10000 h 10000"/>
              <a:gd name="connsiteX159" fmla="*/ 3548 w 10000"/>
              <a:gd name="connsiteY159" fmla="*/ 9998 h 10000"/>
              <a:gd name="connsiteX160" fmla="*/ 3724 w 10000"/>
              <a:gd name="connsiteY160" fmla="*/ 9994 h 10000"/>
              <a:gd name="connsiteX161" fmla="*/ 3893 w 10000"/>
              <a:gd name="connsiteY161" fmla="*/ 9986 h 10000"/>
              <a:gd name="connsiteX162" fmla="*/ 4069 w 10000"/>
              <a:gd name="connsiteY162" fmla="*/ 9974 h 10000"/>
              <a:gd name="connsiteX163" fmla="*/ 4242 w 10000"/>
              <a:gd name="connsiteY163" fmla="*/ 9956 h 10000"/>
              <a:gd name="connsiteX164" fmla="*/ 4415 w 10000"/>
              <a:gd name="connsiteY164" fmla="*/ 9938 h 10000"/>
              <a:gd name="connsiteX165" fmla="*/ 4591 w 10000"/>
              <a:gd name="connsiteY165" fmla="*/ 9912 h 10000"/>
              <a:gd name="connsiteX166" fmla="*/ 4766 w 10000"/>
              <a:gd name="connsiteY166" fmla="*/ 9888 h 10000"/>
              <a:gd name="connsiteX167" fmla="*/ 4766 w 10000"/>
              <a:gd name="connsiteY167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561 w 10000"/>
              <a:gd name="connsiteY138" fmla="*/ 464 h 10000"/>
              <a:gd name="connsiteX139" fmla="*/ 418 w 10000"/>
              <a:gd name="connsiteY139" fmla="*/ 514 h 10000"/>
              <a:gd name="connsiteX140" fmla="*/ 277 w 10000"/>
              <a:gd name="connsiteY140" fmla="*/ 570 h 10000"/>
              <a:gd name="connsiteX141" fmla="*/ 138 w 10000"/>
              <a:gd name="connsiteY141" fmla="*/ 626 h 10000"/>
              <a:gd name="connsiteX142" fmla="*/ 0 w 10000"/>
              <a:gd name="connsiteY142" fmla="*/ 684 h 10000"/>
              <a:gd name="connsiteX143" fmla="*/ 1072 w 10000"/>
              <a:gd name="connsiteY143" fmla="*/ 9698 h 10000"/>
              <a:gd name="connsiteX144" fmla="*/ 1227 w 10000"/>
              <a:gd name="connsiteY144" fmla="*/ 9738 h 10000"/>
              <a:gd name="connsiteX145" fmla="*/ 1386 w 10000"/>
              <a:gd name="connsiteY145" fmla="*/ 9778 h 10000"/>
              <a:gd name="connsiteX146" fmla="*/ 1545 w 10000"/>
              <a:gd name="connsiteY146" fmla="*/ 9814 h 10000"/>
              <a:gd name="connsiteX147" fmla="*/ 1708 w 10000"/>
              <a:gd name="connsiteY147" fmla="*/ 9846 h 10000"/>
              <a:gd name="connsiteX148" fmla="*/ 1870 w 10000"/>
              <a:gd name="connsiteY148" fmla="*/ 9874 h 10000"/>
              <a:gd name="connsiteX149" fmla="*/ 2032 w 10000"/>
              <a:gd name="connsiteY149" fmla="*/ 9902 h 10000"/>
              <a:gd name="connsiteX150" fmla="*/ 2197 w 10000"/>
              <a:gd name="connsiteY150" fmla="*/ 9926 h 10000"/>
              <a:gd name="connsiteX151" fmla="*/ 2362 w 10000"/>
              <a:gd name="connsiteY151" fmla="*/ 9946 h 10000"/>
              <a:gd name="connsiteX152" fmla="*/ 2529 w 10000"/>
              <a:gd name="connsiteY152" fmla="*/ 9962 h 10000"/>
              <a:gd name="connsiteX153" fmla="*/ 2700 w 10000"/>
              <a:gd name="connsiteY153" fmla="*/ 9978 h 10000"/>
              <a:gd name="connsiteX154" fmla="*/ 2867 w 10000"/>
              <a:gd name="connsiteY154" fmla="*/ 9988 h 10000"/>
              <a:gd name="connsiteX155" fmla="*/ 3038 w 10000"/>
              <a:gd name="connsiteY155" fmla="*/ 9996 h 10000"/>
              <a:gd name="connsiteX156" fmla="*/ 3205 w 10000"/>
              <a:gd name="connsiteY156" fmla="*/ 10000 h 10000"/>
              <a:gd name="connsiteX157" fmla="*/ 3378 w 10000"/>
              <a:gd name="connsiteY157" fmla="*/ 10000 h 10000"/>
              <a:gd name="connsiteX158" fmla="*/ 3548 w 10000"/>
              <a:gd name="connsiteY158" fmla="*/ 9998 h 10000"/>
              <a:gd name="connsiteX159" fmla="*/ 3724 w 10000"/>
              <a:gd name="connsiteY159" fmla="*/ 9994 h 10000"/>
              <a:gd name="connsiteX160" fmla="*/ 3893 w 10000"/>
              <a:gd name="connsiteY160" fmla="*/ 9986 h 10000"/>
              <a:gd name="connsiteX161" fmla="*/ 4069 w 10000"/>
              <a:gd name="connsiteY161" fmla="*/ 9974 h 10000"/>
              <a:gd name="connsiteX162" fmla="*/ 4242 w 10000"/>
              <a:gd name="connsiteY162" fmla="*/ 9956 h 10000"/>
              <a:gd name="connsiteX163" fmla="*/ 4415 w 10000"/>
              <a:gd name="connsiteY163" fmla="*/ 9938 h 10000"/>
              <a:gd name="connsiteX164" fmla="*/ 4591 w 10000"/>
              <a:gd name="connsiteY164" fmla="*/ 9912 h 10000"/>
              <a:gd name="connsiteX165" fmla="*/ 4766 w 10000"/>
              <a:gd name="connsiteY165" fmla="*/ 9888 h 10000"/>
              <a:gd name="connsiteX166" fmla="*/ 4766 w 10000"/>
              <a:gd name="connsiteY166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418 w 10000"/>
              <a:gd name="connsiteY138" fmla="*/ 514 h 10000"/>
              <a:gd name="connsiteX139" fmla="*/ 277 w 10000"/>
              <a:gd name="connsiteY139" fmla="*/ 570 h 10000"/>
              <a:gd name="connsiteX140" fmla="*/ 138 w 10000"/>
              <a:gd name="connsiteY140" fmla="*/ 626 h 10000"/>
              <a:gd name="connsiteX141" fmla="*/ 0 w 10000"/>
              <a:gd name="connsiteY141" fmla="*/ 684 h 10000"/>
              <a:gd name="connsiteX142" fmla="*/ 1072 w 10000"/>
              <a:gd name="connsiteY142" fmla="*/ 9698 h 10000"/>
              <a:gd name="connsiteX143" fmla="*/ 1227 w 10000"/>
              <a:gd name="connsiteY143" fmla="*/ 9738 h 10000"/>
              <a:gd name="connsiteX144" fmla="*/ 1386 w 10000"/>
              <a:gd name="connsiteY144" fmla="*/ 9778 h 10000"/>
              <a:gd name="connsiteX145" fmla="*/ 1545 w 10000"/>
              <a:gd name="connsiteY145" fmla="*/ 9814 h 10000"/>
              <a:gd name="connsiteX146" fmla="*/ 1708 w 10000"/>
              <a:gd name="connsiteY146" fmla="*/ 9846 h 10000"/>
              <a:gd name="connsiteX147" fmla="*/ 1870 w 10000"/>
              <a:gd name="connsiteY147" fmla="*/ 9874 h 10000"/>
              <a:gd name="connsiteX148" fmla="*/ 2032 w 10000"/>
              <a:gd name="connsiteY148" fmla="*/ 9902 h 10000"/>
              <a:gd name="connsiteX149" fmla="*/ 2197 w 10000"/>
              <a:gd name="connsiteY149" fmla="*/ 9926 h 10000"/>
              <a:gd name="connsiteX150" fmla="*/ 2362 w 10000"/>
              <a:gd name="connsiteY150" fmla="*/ 9946 h 10000"/>
              <a:gd name="connsiteX151" fmla="*/ 2529 w 10000"/>
              <a:gd name="connsiteY151" fmla="*/ 9962 h 10000"/>
              <a:gd name="connsiteX152" fmla="*/ 2700 w 10000"/>
              <a:gd name="connsiteY152" fmla="*/ 9978 h 10000"/>
              <a:gd name="connsiteX153" fmla="*/ 2867 w 10000"/>
              <a:gd name="connsiteY153" fmla="*/ 9988 h 10000"/>
              <a:gd name="connsiteX154" fmla="*/ 3038 w 10000"/>
              <a:gd name="connsiteY154" fmla="*/ 9996 h 10000"/>
              <a:gd name="connsiteX155" fmla="*/ 3205 w 10000"/>
              <a:gd name="connsiteY155" fmla="*/ 10000 h 10000"/>
              <a:gd name="connsiteX156" fmla="*/ 3378 w 10000"/>
              <a:gd name="connsiteY156" fmla="*/ 10000 h 10000"/>
              <a:gd name="connsiteX157" fmla="*/ 3548 w 10000"/>
              <a:gd name="connsiteY157" fmla="*/ 9998 h 10000"/>
              <a:gd name="connsiteX158" fmla="*/ 3724 w 10000"/>
              <a:gd name="connsiteY158" fmla="*/ 9994 h 10000"/>
              <a:gd name="connsiteX159" fmla="*/ 3893 w 10000"/>
              <a:gd name="connsiteY159" fmla="*/ 9986 h 10000"/>
              <a:gd name="connsiteX160" fmla="*/ 4069 w 10000"/>
              <a:gd name="connsiteY160" fmla="*/ 9974 h 10000"/>
              <a:gd name="connsiteX161" fmla="*/ 4242 w 10000"/>
              <a:gd name="connsiteY161" fmla="*/ 9956 h 10000"/>
              <a:gd name="connsiteX162" fmla="*/ 4415 w 10000"/>
              <a:gd name="connsiteY162" fmla="*/ 9938 h 10000"/>
              <a:gd name="connsiteX163" fmla="*/ 4591 w 10000"/>
              <a:gd name="connsiteY163" fmla="*/ 9912 h 10000"/>
              <a:gd name="connsiteX164" fmla="*/ 4766 w 10000"/>
              <a:gd name="connsiteY164" fmla="*/ 9888 h 10000"/>
              <a:gd name="connsiteX165" fmla="*/ 4766 w 10000"/>
              <a:gd name="connsiteY165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277 w 10000"/>
              <a:gd name="connsiteY138" fmla="*/ 570 h 10000"/>
              <a:gd name="connsiteX139" fmla="*/ 138 w 10000"/>
              <a:gd name="connsiteY139" fmla="*/ 626 h 10000"/>
              <a:gd name="connsiteX140" fmla="*/ 0 w 10000"/>
              <a:gd name="connsiteY140" fmla="*/ 684 h 10000"/>
              <a:gd name="connsiteX141" fmla="*/ 1072 w 10000"/>
              <a:gd name="connsiteY141" fmla="*/ 9698 h 10000"/>
              <a:gd name="connsiteX142" fmla="*/ 1227 w 10000"/>
              <a:gd name="connsiteY142" fmla="*/ 9738 h 10000"/>
              <a:gd name="connsiteX143" fmla="*/ 1386 w 10000"/>
              <a:gd name="connsiteY143" fmla="*/ 9778 h 10000"/>
              <a:gd name="connsiteX144" fmla="*/ 1545 w 10000"/>
              <a:gd name="connsiteY144" fmla="*/ 9814 h 10000"/>
              <a:gd name="connsiteX145" fmla="*/ 1708 w 10000"/>
              <a:gd name="connsiteY145" fmla="*/ 9846 h 10000"/>
              <a:gd name="connsiteX146" fmla="*/ 1870 w 10000"/>
              <a:gd name="connsiteY146" fmla="*/ 9874 h 10000"/>
              <a:gd name="connsiteX147" fmla="*/ 2032 w 10000"/>
              <a:gd name="connsiteY147" fmla="*/ 9902 h 10000"/>
              <a:gd name="connsiteX148" fmla="*/ 2197 w 10000"/>
              <a:gd name="connsiteY148" fmla="*/ 9926 h 10000"/>
              <a:gd name="connsiteX149" fmla="*/ 2362 w 10000"/>
              <a:gd name="connsiteY149" fmla="*/ 9946 h 10000"/>
              <a:gd name="connsiteX150" fmla="*/ 2529 w 10000"/>
              <a:gd name="connsiteY150" fmla="*/ 9962 h 10000"/>
              <a:gd name="connsiteX151" fmla="*/ 2700 w 10000"/>
              <a:gd name="connsiteY151" fmla="*/ 9978 h 10000"/>
              <a:gd name="connsiteX152" fmla="*/ 2867 w 10000"/>
              <a:gd name="connsiteY152" fmla="*/ 9988 h 10000"/>
              <a:gd name="connsiteX153" fmla="*/ 3038 w 10000"/>
              <a:gd name="connsiteY153" fmla="*/ 9996 h 10000"/>
              <a:gd name="connsiteX154" fmla="*/ 3205 w 10000"/>
              <a:gd name="connsiteY154" fmla="*/ 10000 h 10000"/>
              <a:gd name="connsiteX155" fmla="*/ 3378 w 10000"/>
              <a:gd name="connsiteY155" fmla="*/ 10000 h 10000"/>
              <a:gd name="connsiteX156" fmla="*/ 3548 w 10000"/>
              <a:gd name="connsiteY156" fmla="*/ 9998 h 10000"/>
              <a:gd name="connsiteX157" fmla="*/ 3724 w 10000"/>
              <a:gd name="connsiteY157" fmla="*/ 9994 h 10000"/>
              <a:gd name="connsiteX158" fmla="*/ 3893 w 10000"/>
              <a:gd name="connsiteY158" fmla="*/ 9986 h 10000"/>
              <a:gd name="connsiteX159" fmla="*/ 4069 w 10000"/>
              <a:gd name="connsiteY159" fmla="*/ 9974 h 10000"/>
              <a:gd name="connsiteX160" fmla="*/ 4242 w 10000"/>
              <a:gd name="connsiteY160" fmla="*/ 9956 h 10000"/>
              <a:gd name="connsiteX161" fmla="*/ 4415 w 10000"/>
              <a:gd name="connsiteY161" fmla="*/ 9938 h 10000"/>
              <a:gd name="connsiteX162" fmla="*/ 4591 w 10000"/>
              <a:gd name="connsiteY162" fmla="*/ 9912 h 10000"/>
              <a:gd name="connsiteX163" fmla="*/ 4766 w 10000"/>
              <a:gd name="connsiteY163" fmla="*/ 9888 h 10000"/>
              <a:gd name="connsiteX164" fmla="*/ 4766 w 10000"/>
              <a:gd name="connsiteY164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138 w 10000"/>
              <a:gd name="connsiteY138" fmla="*/ 626 h 10000"/>
              <a:gd name="connsiteX139" fmla="*/ 0 w 10000"/>
              <a:gd name="connsiteY139" fmla="*/ 684 h 10000"/>
              <a:gd name="connsiteX140" fmla="*/ 1072 w 10000"/>
              <a:gd name="connsiteY140" fmla="*/ 9698 h 10000"/>
              <a:gd name="connsiteX141" fmla="*/ 1227 w 10000"/>
              <a:gd name="connsiteY141" fmla="*/ 9738 h 10000"/>
              <a:gd name="connsiteX142" fmla="*/ 1386 w 10000"/>
              <a:gd name="connsiteY142" fmla="*/ 9778 h 10000"/>
              <a:gd name="connsiteX143" fmla="*/ 1545 w 10000"/>
              <a:gd name="connsiteY143" fmla="*/ 9814 h 10000"/>
              <a:gd name="connsiteX144" fmla="*/ 1708 w 10000"/>
              <a:gd name="connsiteY144" fmla="*/ 9846 h 10000"/>
              <a:gd name="connsiteX145" fmla="*/ 1870 w 10000"/>
              <a:gd name="connsiteY145" fmla="*/ 9874 h 10000"/>
              <a:gd name="connsiteX146" fmla="*/ 2032 w 10000"/>
              <a:gd name="connsiteY146" fmla="*/ 9902 h 10000"/>
              <a:gd name="connsiteX147" fmla="*/ 2197 w 10000"/>
              <a:gd name="connsiteY147" fmla="*/ 9926 h 10000"/>
              <a:gd name="connsiteX148" fmla="*/ 2362 w 10000"/>
              <a:gd name="connsiteY148" fmla="*/ 9946 h 10000"/>
              <a:gd name="connsiteX149" fmla="*/ 2529 w 10000"/>
              <a:gd name="connsiteY149" fmla="*/ 9962 h 10000"/>
              <a:gd name="connsiteX150" fmla="*/ 2700 w 10000"/>
              <a:gd name="connsiteY150" fmla="*/ 9978 h 10000"/>
              <a:gd name="connsiteX151" fmla="*/ 2867 w 10000"/>
              <a:gd name="connsiteY151" fmla="*/ 9988 h 10000"/>
              <a:gd name="connsiteX152" fmla="*/ 3038 w 10000"/>
              <a:gd name="connsiteY152" fmla="*/ 9996 h 10000"/>
              <a:gd name="connsiteX153" fmla="*/ 3205 w 10000"/>
              <a:gd name="connsiteY153" fmla="*/ 10000 h 10000"/>
              <a:gd name="connsiteX154" fmla="*/ 3378 w 10000"/>
              <a:gd name="connsiteY154" fmla="*/ 10000 h 10000"/>
              <a:gd name="connsiteX155" fmla="*/ 3548 w 10000"/>
              <a:gd name="connsiteY155" fmla="*/ 9998 h 10000"/>
              <a:gd name="connsiteX156" fmla="*/ 3724 w 10000"/>
              <a:gd name="connsiteY156" fmla="*/ 9994 h 10000"/>
              <a:gd name="connsiteX157" fmla="*/ 3893 w 10000"/>
              <a:gd name="connsiteY157" fmla="*/ 9986 h 10000"/>
              <a:gd name="connsiteX158" fmla="*/ 4069 w 10000"/>
              <a:gd name="connsiteY158" fmla="*/ 9974 h 10000"/>
              <a:gd name="connsiteX159" fmla="*/ 4242 w 10000"/>
              <a:gd name="connsiteY159" fmla="*/ 9956 h 10000"/>
              <a:gd name="connsiteX160" fmla="*/ 4415 w 10000"/>
              <a:gd name="connsiteY160" fmla="*/ 9938 h 10000"/>
              <a:gd name="connsiteX161" fmla="*/ 4591 w 10000"/>
              <a:gd name="connsiteY161" fmla="*/ 9912 h 10000"/>
              <a:gd name="connsiteX162" fmla="*/ 4766 w 10000"/>
              <a:gd name="connsiteY162" fmla="*/ 9888 h 10000"/>
              <a:gd name="connsiteX163" fmla="*/ 4766 w 10000"/>
              <a:gd name="connsiteY163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0 w 10000"/>
              <a:gd name="connsiteY138" fmla="*/ 684 h 10000"/>
              <a:gd name="connsiteX139" fmla="*/ 1072 w 10000"/>
              <a:gd name="connsiteY139" fmla="*/ 9698 h 10000"/>
              <a:gd name="connsiteX140" fmla="*/ 1227 w 10000"/>
              <a:gd name="connsiteY140" fmla="*/ 9738 h 10000"/>
              <a:gd name="connsiteX141" fmla="*/ 1386 w 10000"/>
              <a:gd name="connsiteY141" fmla="*/ 9778 h 10000"/>
              <a:gd name="connsiteX142" fmla="*/ 1545 w 10000"/>
              <a:gd name="connsiteY142" fmla="*/ 9814 h 10000"/>
              <a:gd name="connsiteX143" fmla="*/ 1708 w 10000"/>
              <a:gd name="connsiteY143" fmla="*/ 9846 h 10000"/>
              <a:gd name="connsiteX144" fmla="*/ 1870 w 10000"/>
              <a:gd name="connsiteY144" fmla="*/ 9874 h 10000"/>
              <a:gd name="connsiteX145" fmla="*/ 2032 w 10000"/>
              <a:gd name="connsiteY145" fmla="*/ 9902 h 10000"/>
              <a:gd name="connsiteX146" fmla="*/ 2197 w 10000"/>
              <a:gd name="connsiteY146" fmla="*/ 9926 h 10000"/>
              <a:gd name="connsiteX147" fmla="*/ 2362 w 10000"/>
              <a:gd name="connsiteY147" fmla="*/ 9946 h 10000"/>
              <a:gd name="connsiteX148" fmla="*/ 2529 w 10000"/>
              <a:gd name="connsiteY148" fmla="*/ 9962 h 10000"/>
              <a:gd name="connsiteX149" fmla="*/ 2700 w 10000"/>
              <a:gd name="connsiteY149" fmla="*/ 9978 h 10000"/>
              <a:gd name="connsiteX150" fmla="*/ 2867 w 10000"/>
              <a:gd name="connsiteY150" fmla="*/ 9988 h 10000"/>
              <a:gd name="connsiteX151" fmla="*/ 3038 w 10000"/>
              <a:gd name="connsiteY151" fmla="*/ 9996 h 10000"/>
              <a:gd name="connsiteX152" fmla="*/ 3205 w 10000"/>
              <a:gd name="connsiteY152" fmla="*/ 10000 h 10000"/>
              <a:gd name="connsiteX153" fmla="*/ 3378 w 10000"/>
              <a:gd name="connsiteY153" fmla="*/ 10000 h 10000"/>
              <a:gd name="connsiteX154" fmla="*/ 3548 w 10000"/>
              <a:gd name="connsiteY154" fmla="*/ 9998 h 10000"/>
              <a:gd name="connsiteX155" fmla="*/ 3724 w 10000"/>
              <a:gd name="connsiteY155" fmla="*/ 9994 h 10000"/>
              <a:gd name="connsiteX156" fmla="*/ 3893 w 10000"/>
              <a:gd name="connsiteY156" fmla="*/ 9986 h 10000"/>
              <a:gd name="connsiteX157" fmla="*/ 4069 w 10000"/>
              <a:gd name="connsiteY157" fmla="*/ 9974 h 10000"/>
              <a:gd name="connsiteX158" fmla="*/ 4242 w 10000"/>
              <a:gd name="connsiteY158" fmla="*/ 9956 h 10000"/>
              <a:gd name="connsiteX159" fmla="*/ 4415 w 10000"/>
              <a:gd name="connsiteY159" fmla="*/ 9938 h 10000"/>
              <a:gd name="connsiteX160" fmla="*/ 4591 w 10000"/>
              <a:gd name="connsiteY160" fmla="*/ 9912 h 10000"/>
              <a:gd name="connsiteX161" fmla="*/ 4766 w 10000"/>
              <a:gd name="connsiteY161" fmla="*/ 9888 h 10000"/>
              <a:gd name="connsiteX162" fmla="*/ 4766 w 10000"/>
              <a:gd name="connsiteY162" fmla="*/ 9888 h 10000"/>
              <a:gd name="connsiteX0" fmla="*/ 3761 w 8995"/>
              <a:gd name="connsiteY0" fmla="*/ 9888 h 10000"/>
              <a:gd name="connsiteX1" fmla="*/ 3761 w 8995"/>
              <a:gd name="connsiteY1" fmla="*/ 9888 h 10000"/>
              <a:gd name="connsiteX2" fmla="*/ 3926 w 8995"/>
              <a:gd name="connsiteY2" fmla="*/ 9856 h 10000"/>
              <a:gd name="connsiteX3" fmla="*/ 4091 w 8995"/>
              <a:gd name="connsiteY3" fmla="*/ 9826 h 10000"/>
              <a:gd name="connsiteX4" fmla="*/ 4253 w 8995"/>
              <a:gd name="connsiteY4" fmla="*/ 9792 h 10000"/>
              <a:gd name="connsiteX5" fmla="*/ 4416 w 8995"/>
              <a:gd name="connsiteY5" fmla="*/ 9754 h 10000"/>
              <a:gd name="connsiteX6" fmla="*/ 4573 w 8995"/>
              <a:gd name="connsiteY6" fmla="*/ 9712 h 10000"/>
              <a:gd name="connsiteX7" fmla="*/ 4732 w 8995"/>
              <a:gd name="connsiteY7" fmla="*/ 9670 h 10000"/>
              <a:gd name="connsiteX8" fmla="*/ 4886 w 8995"/>
              <a:gd name="connsiteY8" fmla="*/ 9622 h 10000"/>
              <a:gd name="connsiteX9" fmla="*/ 5040 w 8995"/>
              <a:gd name="connsiteY9" fmla="*/ 9574 h 10000"/>
              <a:gd name="connsiteX10" fmla="*/ 5189 w 8995"/>
              <a:gd name="connsiteY10" fmla="*/ 9524 h 10000"/>
              <a:gd name="connsiteX11" fmla="*/ 5336 w 8995"/>
              <a:gd name="connsiteY11" fmla="*/ 9468 h 10000"/>
              <a:gd name="connsiteX12" fmla="*/ 5484 w 8995"/>
              <a:gd name="connsiteY12" fmla="*/ 9412 h 10000"/>
              <a:gd name="connsiteX13" fmla="*/ 5626 w 8995"/>
              <a:gd name="connsiteY13" fmla="*/ 9352 h 10000"/>
              <a:gd name="connsiteX14" fmla="*/ 5766 w 8995"/>
              <a:gd name="connsiteY14" fmla="*/ 9290 h 10000"/>
              <a:gd name="connsiteX15" fmla="*/ 5907 w 8995"/>
              <a:gd name="connsiteY15" fmla="*/ 9224 h 10000"/>
              <a:gd name="connsiteX16" fmla="*/ 6043 w 8995"/>
              <a:gd name="connsiteY16" fmla="*/ 9160 h 10000"/>
              <a:gd name="connsiteX17" fmla="*/ 6176 w 8995"/>
              <a:gd name="connsiteY17" fmla="*/ 9090 h 10000"/>
              <a:gd name="connsiteX18" fmla="*/ 6307 w 8995"/>
              <a:gd name="connsiteY18" fmla="*/ 9018 h 10000"/>
              <a:gd name="connsiteX19" fmla="*/ 6433 w 8995"/>
              <a:gd name="connsiteY19" fmla="*/ 8944 h 10000"/>
              <a:gd name="connsiteX20" fmla="*/ 6559 w 8995"/>
              <a:gd name="connsiteY20" fmla="*/ 8868 h 10000"/>
              <a:gd name="connsiteX21" fmla="*/ 6684 w 8995"/>
              <a:gd name="connsiteY21" fmla="*/ 8792 h 10000"/>
              <a:gd name="connsiteX22" fmla="*/ 6804 w 8995"/>
              <a:gd name="connsiteY22" fmla="*/ 8712 h 10000"/>
              <a:gd name="connsiteX23" fmla="*/ 6923 w 8995"/>
              <a:gd name="connsiteY23" fmla="*/ 8628 h 10000"/>
              <a:gd name="connsiteX24" fmla="*/ 7037 w 8995"/>
              <a:gd name="connsiteY24" fmla="*/ 8544 h 10000"/>
              <a:gd name="connsiteX25" fmla="*/ 7147 w 8995"/>
              <a:gd name="connsiteY25" fmla="*/ 8458 h 10000"/>
              <a:gd name="connsiteX26" fmla="*/ 7258 w 8995"/>
              <a:gd name="connsiteY26" fmla="*/ 8370 h 10000"/>
              <a:gd name="connsiteX27" fmla="*/ 7365 w 8995"/>
              <a:gd name="connsiteY27" fmla="*/ 8282 h 10000"/>
              <a:gd name="connsiteX28" fmla="*/ 7466 w 8995"/>
              <a:gd name="connsiteY28" fmla="*/ 8190 h 10000"/>
              <a:gd name="connsiteX29" fmla="*/ 7567 w 8995"/>
              <a:gd name="connsiteY29" fmla="*/ 8098 h 10000"/>
              <a:gd name="connsiteX30" fmla="*/ 7665 w 8995"/>
              <a:gd name="connsiteY30" fmla="*/ 8002 h 10000"/>
              <a:gd name="connsiteX31" fmla="*/ 7758 w 8995"/>
              <a:gd name="connsiteY31" fmla="*/ 7906 h 10000"/>
              <a:gd name="connsiteX32" fmla="*/ 7848 w 8995"/>
              <a:gd name="connsiteY32" fmla="*/ 7806 h 10000"/>
              <a:gd name="connsiteX33" fmla="*/ 7937 w 8995"/>
              <a:gd name="connsiteY33" fmla="*/ 7706 h 10000"/>
              <a:gd name="connsiteX34" fmla="*/ 8022 w 8995"/>
              <a:gd name="connsiteY34" fmla="*/ 7604 h 10000"/>
              <a:gd name="connsiteX35" fmla="*/ 8104 w 8995"/>
              <a:gd name="connsiteY35" fmla="*/ 7500 h 10000"/>
              <a:gd name="connsiteX36" fmla="*/ 8181 w 8995"/>
              <a:gd name="connsiteY36" fmla="*/ 7398 h 10000"/>
              <a:gd name="connsiteX37" fmla="*/ 8256 w 8995"/>
              <a:gd name="connsiteY37" fmla="*/ 7292 h 10000"/>
              <a:gd name="connsiteX38" fmla="*/ 8328 w 8995"/>
              <a:gd name="connsiteY38" fmla="*/ 7182 h 10000"/>
              <a:gd name="connsiteX39" fmla="*/ 8396 w 8995"/>
              <a:gd name="connsiteY39" fmla="*/ 7074 h 10000"/>
              <a:gd name="connsiteX40" fmla="*/ 8461 w 8995"/>
              <a:gd name="connsiteY40" fmla="*/ 6964 h 10000"/>
              <a:gd name="connsiteX41" fmla="*/ 8522 w 8995"/>
              <a:gd name="connsiteY41" fmla="*/ 6854 h 10000"/>
              <a:gd name="connsiteX42" fmla="*/ 8580 w 8995"/>
              <a:gd name="connsiteY42" fmla="*/ 6740 h 10000"/>
              <a:gd name="connsiteX43" fmla="*/ 8633 w 8995"/>
              <a:gd name="connsiteY43" fmla="*/ 6626 h 10000"/>
              <a:gd name="connsiteX44" fmla="*/ 8684 w 8995"/>
              <a:gd name="connsiteY44" fmla="*/ 6512 h 10000"/>
              <a:gd name="connsiteX45" fmla="*/ 8729 w 8995"/>
              <a:gd name="connsiteY45" fmla="*/ 6396 h 10000"/>
              <a:gd name="connsiteX46" fmla="*/ 8775 w 8995"/>
              <a:gd name="connsiteY46" fmla="*/ 6280 h 10000"/>
              <a:gd name="connsiteX47" fmla="*/ 8814 w 8995"/>
              <a:gd name="connsiteY47" fmla="*/ 6164 h 10000"/>
              <a:gd name="connsiteX48" fmla="*/ 8852 w 8995"/>
              <a:gd name="connsiteY48" fmla="*/ 6044 h 10000"/>
              <a:gd name="connsiteX49" fmla="*/ 8881 w 8995"/>
              <a:gd name="connsiteY49" fmla="*/ 5926 h 10000"/>
              <a:gd name="connsiteX50" fmla="*/ 8908 w 8995"/>
              <a:gd name="connsiteY50" fmla="*/ 5804 h 10000"/>
              <a:gd name="connsiteX51" fmla="*/ 8934 w 8995"/>
              <a:gd name="connsiteY51" fmla="*/ 5684 h 10000"/>
              <a:gd name="connsiteX52" fmla="*/ 8955 w 8995"/>
              <a:gd name="connsiteY52" fmla="*/ 5562 h 10000"/>
              <a:gd name="connsiteX53" fmla="*/ 8971 w 8995"/>
              <a:gd name="connsiteY53" fmla="*/ 5440 h 10000"/>
              <a:gd name="connsiteX54" fmla="*/ 8981 w 8995"/>
              <a:gd name="connsiteY54" fmla="*/ 5316 h 10000"/>
              <a:gd name="connsiteX55" fmla="*/ 8992 w 8995"/>
              <a:gd name="connsiteY55" fmla="*/ 5196 h 10000"/>
              <a:gd name="connsiteX56" fmla="*/ 8995 w 8995"/>
              <a:gd name="connsiteY56" fmla="*/ 5072 h 10000"/>
              <a:gd name="connsiteX57" fmla="*/ 8995 w 8995"/>
              <a:gd name="connsiteY57" fmla="*/ 4948 h 10000"/>
              <a:gd name="connsiteX58" fmla="*/ 8992 w 8995"/>
              <a:gd name="connsiteY58" fmla="*/ 4822 h 10000"/>
              <a:gd name="connsiteX59" fmla="*/ 8981 w 8995"/>
              <a:gd name="connsiteY59" fmla="*/ 4698 h 10000"/>
              <a:gd name="connsiteX60" fmla="*/ 8971 w 8995"/>
              <a:gd name="connsiteY60" fmla="*/ 4572 h 10000"/>
              <a:gd name="connsiteX61" fmla="*/ 8955 w 8995"/>
              <a:gd name="connsiteY61" fmla="*/ 4444 h 10000"/>
              <a:gd name="connsiteX62" fmla="*/ 8932 w 8995"/>
              <a:gd name="connsiteY62" fmla="*/ 4318 h 10000"/>
              <a:gd name="connsiteX63" fmla="*/ 8908 w 8995"/>
              <a:gd name="connsiteY63" fmla="*/ 4192 h 10000"/>
              <a:gd name="connsiteX64" fmla="*/ 8878 w 8995"/>
              <a:gd name="connsiteY64" fmla="*/ 4066 h 10000"/>
              <a:gd name="connsiteX65" fmla="*/ 8843 w 8995"/>
              <a:gd name="connsiteY65" fmla="*/ 3940 h 10000"/>
              <a:gd name="connsiteX66" fmla="*/ 8843 w 8995"/>
              <a:gd name="connsiteY66" fmla="*/ 3940 h 10000"/>
              <a:gd name="connsiteX67" fmla="*/ 8804 w 8995"/>
              <a:gd name="connsiteY67" fmla="*/ 3816 h 10000"/>
              <a:gd name="connsiteX68" fmla="*/ 8761 w 8995"/>
              <a:gd name="connsiteY68" fmla="*/ 3692 h 10000"/>
              <a:gd name="connsiteX69" fmla="*/ 8715 w 8995"/>
              <a:gd name="connsiteY69" fmla="*/ 3568 h 10000"/>
              <a:gd name="connsiteX70" fmla="*/ 8665 w 8995"/>
              <a:gd name="connsiteY70" fmla="*/ 3446 h 10000"/>
              <a:gd name="connsiteX71" fmla="*/ 8612 w 8995"/>
              <a:gd name="connsiteY71" fmla="*/ 3328 h 10000"/>
              <a:gd name="connsiteX72" fmla="*/ 8551 w 8995"/>
              <a:gd name="connsiteY72" fmla="*/ 3208 h 10000"/>
              <a:gd name="connsiteX73" fmla="*/ 8493 w 8995"/>
              <a:gd name="connsiteY73" fmla="*/ 3092 h 10000"/>
              <a:gd name="connsiteX74" fmla="*/ 8428 w 8995"/>
              <a:gd name="connsiteY74" fmla="*/ 2976 h 10000"/>
              <a:gd name="connsiteX75" fmla="*/ 8357 w 8995"/>
              <a:gd name="connsiteY75" fmla="*/ 2864 h 10000"/>
              <a:gd name="connsiteX76" fmla="*/ 8288 w 8995"/>
              <a:gd name="connsiteY76" fmla="*/ 2754 h 10000"/>
              <a:gd name="connsiteX77" fmla="*/ 8210 w 8995"/>
              <a:gd name="connsiteY77" fmla="*/ 2642 h 10000"/>
              <a:gd name="connsiteX78" fmla="*/ 8131 w 8995"/>
              <a:gd name="connsiteY78" fmla="*/ 2536 h 10000"/>
              <a:gd name="connsiteX79" fmla="*/ 8048 w 8995"/>
              <a:gd name="connsiteY79" fmla="*/ 2430 h 10000"/>
              <a:gd name="connsiteX80" fmla="*/ 7963 w 8995"/>
              <a:gd name="connsiteY80" fmla="*/ 2324 h 10000"/>
              <a:gd name="connsiteX81" fmla="*/ 7875 w 8995"/>
              <a:gd name="connsiteY81" fmla="*/ 2222 h 10000"/>
              <a:gd name="connsiteX82" fmla="*/ 7782 w 8995"/>
              <a:gd name="connsiteY82" fmla="*/ 2122 h 10000"/>
              <a:gd name="connsiteX83" fmla="*/ 7689 w 8995"/>
              <a:gd name="connsiteY83" fmla="*/ 2024 h 10000"/>
              <a:gd name="connsiteX84" fmla="*/ 7590 w 8995"/>
              <a:gd name="connsiteY84" fmla="*/ 1928 h 10000"/>
              <a:gd name="connsiteX85" fmla="*/ 7490 w 8995"/>
              <a:gd name="connsiteY85" fmla="*/ 1834 h 10000"/>
              <a:gd name="connsiteX86" fmla="*/ 7386 w 8995"/>
              <a:gd name="connsiteY86" fmla="*/ 1740 h 10000"/>
              <a:gd name="connsiteX87" fmla="*/ 7283 w 8995"/>
              <a:gd name="connsiteY87" fmla="*/ 1648 h 10000"/>
              <a:gd name="connsiteX88" fmla="*/ 7170 w 8995"/>
              <a:gd name="connsiteY88" fmla="*/ 1560 h 10000"/>
              <a:gd name="connsiteX89" fmla="*/ 7059 w 8995"/>
              <a:gd name="connsiteY89" fmla="*/ 1474 h 10000"/>
              <a:gd name="connsiteX90" fmla="*/ 6945 w 8995"/>
              <a:gd name="connsiteY90" fmla="*/ 1392 h 10000"/>
              <a:gd name="connsiteX91" fmla="*/ 6827 w 8995"/>
              <a:gd name="connsiteY91" fmla="*/ 1308 h 10000"/>
              <a:gd name="connsiteX92" fmla="*/ 6711 w 8995"/>
              <a:gd name="connsiteY92" fmla="*/ 1226 h 10000"/>
              <a:gd name="connsiteX93" fmla="*/ 6585 w 8995"/>
              <a:gd name="connsiteY93" fmla="*/ 1150 h 10000"/>
              <a:gd name="connsiteX94" fmla="*/ 6464 w 8995"/>
              <a:gd name="connsiteY94" fmla="*/ 1076 h 10000"/>
              <a:gd name="connsiteX95" fmla="*/ 6338 w 8995"/>
              <a:gd name="connsiteY95" fmla="*/ 1002 h 10000"/>
              <a:gd name="connsiteX96" fmla="*/ 6208 w 8995"/>
              <a:gd name="connsiteY96" fmla="*/ 932 h 10000"/>
              <a:gd name="connsiteX97" fmla="*/ 6075 w 8995"/>
              <a:gd name="connsiteY97" fmla="*/ 862 h 10000"/>
              <a:gd name="connsiteX98" fmla="*/ 5945 w 8995"/>
              <a:gd name="connsiteY98" fmla="*/ 798 h 10000"/>
              <a:gd name="connsiteX99" fmla="*/ 5809 w 8995"/>
              <a:gd name="connsiteY99" fmla="*/ 734 h 10000"/>
              <a:gd name="connsiteX100" fmla="*/ 5673 w 8995"/>
              <a:gd name="connsiteY100" fmla="*/ 670 h 10000"/>
              <a:gd name="connsiteX101" fmla="*/ 5532 w 8995"/>
              <a:gd name="connsiteY101" fmla="*/ 612 h 10000"/>
              <a:gd name="connsiteX102" fmla="*/ 5389 w 8995"/>
              <a:gd name="connsiteY102" fmla="*/ 556 h 10000"/>
              <a:gd name="connsiteX103" fmla="*/ 5247 w 8995"/>
              <a:gd name="connsiteY103" fmla="*/ 504 h 10000"/>
              <a:gd name="connsiteX104" fmla="*/ 5104 w 8995"/>
              <a:gd name="connsiteY104" fmla="*/ 450 h 10000"/>
              <a:gd name="connsiteX105" fmla="*/ 4958 w 8995"/>
              <a:gd name="connsiteY105" fmla="*/ 402 h 10000"/>
              <a:gd name="connsiteX106" fmla="*/ 4812 w 8995"/>
              <a:gd name="connsiteY106" fmla="*/ 358 h 10000"/>
              <a:gd name="connsiteX107" fmla="*/ 4660 w 8995"/>
              <a:gd name="connsiteY107" fmla="*/ 314 h 10000"/>
              <a:gd name="connsiteX108" fmla="*/ 4508 w 8995"/>
              <a:gd name="connsiteY108" fmla="*/ 274 h 10000"/>
              <a:gd name="connsiteX109" fmla="*/ 4359 w 8995"/>
              <a:gd name="connsiteY109" fmla="*/ 236 h 10000"/>
              <a:gd name="connsiteX110" fmla="*/ 4202 w 8995"/>
              <a:gd name="connsiteY110" fmla="*/ 200 h 10000"/>
              <a:gd name="connsiteX111" fmla="*/ 4049 w 8995"/>
              <a:gd name="connsiteY111" fmla="*/ 168 h 10000"/>
              <a:gd name="connsiteX112" fmla="*/ 3894 w 8995"/>
              <a:gd name="connsiteY112" fmla="*/ 138 h 10000"/>
              <a:gd name="connsiteX113" fmla="*/ 3737 w 8995"/>
              <a:gd name="connsiteY113" fmla="*/ 110 h 10000"/>
              <a:gd name="connsiteX114" fmla="*/ 3578 w 8995"/>
              <a:gd name="connsiteY114" fmla="*/ 86 h 10000"/>
              <a:gd name="connsiteX115" fmla="*/ 3417 w 8995"/>
              <a:gd name="connsiteY115" fmla="*/ 66 h 10000"/>
              <a:gd name="connsiteX116" fmla="*/ 3255 w 8995"/>
              <a:gd name="connsiteY116" fmla="*/ 46 h 10000"/>
              <a:gd name="connsiteX117" fmla="*/ 3096 w 8995"/>
              <a:gd name="connsiteY117" fmla="*/ 32 h 10000"/>
              <a:gd name="connsiteX118" fmla="*/ 2934 w 8995"/>
              <a:gd name="connsiteY118" fmla="*/ 22 h 10000"/>
              <a:gd name="connsiteX119" fmla="*/ 2769 w 8995"/>
              <a:gd name="connsiteY119" fmla="*/ 10 h 10000"/>
              <a:gd name="connsiteX120" fmla="*/ 2605 w 8995"/>
              <a:gd name="connsiteY120" fmla="*/ 4 h 10000"/>
              <a:gd name="connsiteX121" fmla="*/ 2439 w 8995"/>
              <a:gd name="connsiteY121" fmla="*/ 0 h 10000"/>
              <a:gd name="connsiteX122" fmla="*/ 2274 w 8995"/>
              <a:gd name="connsiteY122" fmla="*/ 0 h 10000"/>
              <a:gd name="connsiteX123" fmla="*/ 2110 w 8995"/>
              <a:gd name="connsiteY123" fmla="*/ 4 h 10000"/>
              <a:gd name="connsiteX124" fmla="*/ 1942 w 8995"/>
              <a:gd name="connsiteY124" fmla="*/ 10 h 10000"/>
              <a:gd name="connsiteX125" fmla="*/ 1777 w 8995"/>
              <a:gd name="connsiteY125" fmla="*/ 22 h 10000"/>
              <a:gd name="connsiteX126" fmla="*/ 1610 w 8995"/>
              <a:gd name="connsiteY126" fmla="*/ 34 h 10000"/>
              <a:gd name="connsiteX127" fmla="*/ 1442 w 8995"/>
              <a:gd name="connsiteY127" fmla="*/ 48 h 10000"/>
              <a:gd name="connsiteX128" fmla="*/ 1275 w 8995"/>
              <a:gd name="connsiteY128" fmla="*/ 66 h 10000"/>
              <a:gd name="connsiteX129" fmla="*/ 1106 w 8995"/>
              <a:gd name="connsiteY129" fmla="*/ 90 h 10000"/>
              <a:gd name="connsiteX130" fmla="*/ 937 w 8995"/>
              <a:gd name="connsiteY130" fmla="*/ 114 h 10000"/>
              <a:gd name="connsiteX131" fmla="*/ 937 w 8995"/>
              <a:gd name="connsiteY131" fmla="*/ 114 h 10000"/>
              <a:gd name="connsiteX132" fmla="*/ 777 w 8995"/>
              <a:gd name="connsiteY132" fmla="*/ 142 h 10000"/>
              <a:gd name="connsiteX133" fmla="*/ 618 w 8995"/>
              <a:gd name="connsiteY133" fmla="*/ 176 h 10000"/>
              <a:gd name="connsiteX134" fmla="*/ 461 w 8995"/>
              <a:gd name="connsiteY134" fmla="*/ 208 h 10000"/>
              <a:gd name="connsiteX135" fmla="*/ 306 w 8995"/>
              <a:gd name="connsiteY135" fmla="*/ 244 h 10000"/>
              <a:gd name="connsiteX136" fmla="*/ 152 w 8995"/>
              <a:gd name="connsiteY136" fmla="*/ 282 h 10000"/>
              <a:gd name="connsiteX137" fmla="*/ 0 w 8995"/>
              <a:gd name="connsiteY137" fmla="*/ 324 h 10000"/>
              <a:gd name="connsiteX138" fmla="*/ 67 w 8995"/>
              <a:gd name="connsiteY138" fmla="*/ 9698 h 10000"/>
              <a:gd name="connsiteX139" fmla="*/ 222 w 8995"/>
              <a:gd name="connsiteY139" fmla="*/ 9738 h 10000"/>
              <a:gd name="connsiteX140" fmla="*/ 381 w 8995"/>
              <a:gd name="connsiteY140" fmla="*/ 9778 h 10000"/>
              <a:gd name="connsiteX141" fmla="*/ 540 w 8995"/>
              <a:gd name="connsiteY141" fmla="*/ 9814 h 10000"/>
              <a:gd name="connsiteX142" fmla="*/ 703 w 8995"/>
              <a:gd name="connsiteY142" fmla="*/ 9846 h 10000"/>
              <a:gd name="connsiteX143" fmla="*/ 865 w 8995"/>
              <a:gd name="connsiteY143" fmla="*/ 9874 h 10000"/>
              <a:gd name="connsiteX144" fmla="*/ 1027 w 8995"/>
              <a:gd name="connsiteY144" fmla="*/ 9902 h 10000"/>
              <a:gd name="connsiteX145" fmla="*/ 1192 w 8995"/>
              <a:gd name="connsiteY145" fmla="*/ 9926 h 10000"/>
              <a:gd name="connsiteX146" fmla="*/ 1357 w 8995"/>
              <a:gd name="connsiteY146" fmla="*/ 9946 h 10000"/>
              <a:gd name="connsiteX147" fmla="*/ 1524 w 8995"/>
              <a:gd name="connsiteY147" fmla="*/ 9962 h 10000"/>
              <a:gd name="connsiteX148" fmla="*/ 1695 w 8995"/>
              <a:gd name="connsiteY148" fmla="*/ 9978 h 10000"/>
              <a:gd name="connsiteX149" fmla="*/ 1862 w 8995"/>
              <a:gd name="connsiteY149" fmla="*/ 9988 h 10000"/>
              <a:gd name="connsiteX150" fmla="*/ 2033 w 8995"/>
              <a:gd name="connsiteY150" fmla="*/ 9996 h 10000"/>
              <a:gd name="connsiteX151" fmla="*/ 2200 w 8995"/>
              <a:gd name="connsiteY151" fmla="*/ 10000 h 10000"/>
              <a:gd name="connsiteX152" fmla="*/ 2373 w 8995"/>
              <a:gd name="connsiteY152" fmla="*/ 10000 h 10000"/>
              <a:gd name="connsiteX153" fmla="*/ 2543 w 8995"/>
              <a:gd name="connsiteY153" fmla="*/ 9998 h 10000"/>
              <a:gd name="connsiteX154" fmla="*/ 2719 w 8995"/>
              <a:gd name="connsiteY154" fmla="*/ 9994 h 10000"/>
              <a:gd name="connsiteX155" fmla="*/ 2888 w 8995"/>
              <a:gd name="connsiteY155" fmla="*/ 9986 h 10000"/>
              <a:gd name="connsiteX156" fmla="*/ 3064 w 8995"/>
              <a:gd name="connsiteY156" fmla="*/ 9974 h 10000"/>
              <a:gd name="connsiteX157" fmla="*/ 3237 w 8995"/>
              <a:gd name="connsiteY157" fmla="*/ 9956 h 10000"/>
              <a:gd name="connsiteX158" fmla="*/ 3410 w 8995"/>
              <a:gd name="connsiteY158" fmla="*/ 9938 h 10000"/>
              <a:gd name="connsiteX159" fmla="*/ 3586 w 8995"/>
              <a:gd name="connsiteY159" fmla="*/ 9912 h 10000"/>
              <a:gd name="connsiteX160" fmla="*/ 3761 w 8995"/>
              <a:gd name="connsiteY160" fmla="*/ 9888 h 10000"/>
              <a:gd name="connsiteX161" fmla="*/ 3761 w 8995"/>
              <a:gd name="connsiteY161" fmla="*/ 988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995" h="10000">
                <a:moveTo>
                  <a:pt x="3761" y="9888"/>
                </a:moveTo>
                <a:lnTo>
                  <a:pt x="3761" y="9888"/>
                </a:lnTo>
                <a:lnTo>
                  <a:pt x="3926" y="9856"/>
                </a:lnTo>
                <a:lnTo>
                  <a:pt x="4091" y="9826"/>
                </a:lnTo>
                <a:lnTo>
                  <a:pt x="4253" y="9792"/>
                </a:lnTo>
                <a:lnTo>
                  <a:pt x="4416" y="9754"/>
                </a:lnTo>
                <a:lnTo>
                  <a:pt x="4573" y="9712"/>
                </a:lnTo>
                <a:lnTo>
                  <a:pt x="4732" y="9670"/>
                </a:lnTo>
                <a:lnTo>
                  <a:pt x="4886" y="9622"/>
                </a:lnTo>
                <a:lnTo>
                  <a:pt x="5040" y="9574"/>
                </a:lnTo>
                <a:lnTo>
                  <a:pt x="5189" y="9524"/>
                </a:lnTo>
                <a:lnTo>
                  <a:pt x="5336" y="9468"/>
                </a:lnTo>
                <a:lnTo>
                  <a:pt x="5484" y="9412"/>
                </a:lnTo>
                <a:lnTo>
                  <a:pt x="5626" y="9352"/>
                </a:lnTo>
                <a:lnTo>
                  <a:pt x="5766" y="9290"/>
                </a:lnTo>
                <a:lnTo>
                  <a:pt x="5907" y="9224"/>
                </a:lnTo>
                <a:lnTo>
                  <a:pt x="6043" y="9160"/>
                </a:lnTo>
                <a:lnTo>
                  <a:pt x="6176" y="9090"/>
                </a:lnTo>
                <a:lnTo>
                  <a:pt x="6307" y="9018"/>
                </a:lnTo>
                <a:lnTo>
                  <a:pt x="6433" y="8944"/>
                </a:lnTo>
                <a:lnTo>
                  <a:pt x="6559" y="8868"/>
                </a:lnTo>
                <a:cubicBezTo>
                  <a:pt x="6601" y="8843"/>
                  <a:pt x="6642" y="8817"/>
                  <a:pt x="6684" y="8792"/>
                </a:cubicBezTo>
                <a:cubicBezTo>
                  <a:pt x="6723" y="8765"/>
                  <a:pt x="6764" y="8739"/>
                  <a:pt x="6804" y="8712"/>
                </a:cubicBezTo>
                <a:lnTo>
                  <a:pt x="6923" y="8628"/>
                </a:lnTo>
                <a:lnTo>
                  <a:pt x="7037" y="8544"/>
                </a:lnTo>
                <a:lnTo>
                  <a:pt x="7147" y="8458"/>
                </a:lnTo>
                <a:cubicBezTo>
                  <a:pt x="7184" y="8429"/>
                  <a:pt x="7220" y="8399"/>
                  <a:pt x="7258" y="8370"/>
                </a:cubicBezTo>
                <a:cubicBezTo>
                  <a:pt x="7294" y="8341"/>
                  <a:pt x="7329" y="8311"/>
                  <a:pt x="7365" y="8282"/>
                </a:cubicBezTo>
                <a:cubicBezTo>
                  <a:pt x="7398" y="8251"/>
                  <a:pt x="7432" y="8221"/>
                  <a:pt x="7466" y="8190"/>
                </a:cubicBezTo>
                <a:cubicBezTo>
                  <a:pt x="7499" y="8159"/>
                  <a:pt x="7533" y="8129"/>
                  <a:pt x="7567" y="8098"/>
                </a:cubicBezTo>
                <a:lnTo>
                  <a:pt x="7665" y="8002"/>
                </a:lnTo>
                <a:cubicBezTo>
                  <a:pt x="7697" y="7970"/>
                  <a:pt x="7727" y="7938"/>
                  <a:pt x="7758" y="7906"/>
                </a:cubicBezTo>
                <a:cubicBezTo>
                  <a:pt x="7788" y="7873"/>
                  <a:pt x="7818" y="7839"/>
                  <a:pt x="7848" y="7806"/>
                </a:cubicBezTo>
                <a:cubicBezTo>
                  <a:pt x="7878" y="7773"/>
                  <a:pt x="7907" y="7739"/>
                  <a:pt x="7937" y="7706"/>
                </a:cubicBezTo>
                <a:cubicBezTo>
                  <a:pt x="7965" y="7672"/>
                  <a:pt x="7994" y="7638"/>
                  <a:pt x="8022" y="7604"/>
                </a:cubicBezTo>
                <a:cubicBezTo>
                  <a:pt x="8049" y="7569"/>
                  <a:pt x="8077" y="7535"/>
                  <a:pt x="8104" y="7500"/>
                </a:cubicBezTo>
                <a:cubicBezTo>
                  <a:pt x="8130" y="7466"/>
                  <a:pt x="8155" y="7432"/>
                  <a:pt x="8181" y="7398"/>
                </a:cubicBezTo>
                <a:cubicBezTo>
                  <a:pt x="8206" y="7363"/>
                  <a:pt x="8231" y="7327"/>
                  <a:pt x="8256" y="7292"/>
                </a:cubicBezTo>
                <a:cubicBezTo>
                  <a:pt x="8280" y="7255"/>
                  <a:pt x="8304" y="7219"/>
                  <a:pt x="8328" y="7182"/>
                </a:cubicBezTo>
                <a:cubicBezTo>
                  <a:pt x="8351" y="7146"/>
                  <a:pt x="8373" y="7110"/>
                  <a:pt x="8396" y="7074"/>
                </a:cubicBezTo>
                <a:cubicBezTo>
                  <a:pt x="8418" y="7037"/>
                  <a:pt x="8439" y="7001"/>
                  <a:pt x="8461" y="6964"/>
                </a:cubicBezTo>
                <a:cubicBezTo>
                  <a:pt x="8481" y="6927"/>
                  <a:pt x="8501" y="6891"/>
                  <a:pt x="8522" y="6854"/>
                </a:cubicBezTo>
                <a:cubicBezTo>
                  <a:pt x="8542" y="6816"/>
                  <a:pt x="8560" y="6778"/>
                  <a:pt x="8580" y="6740"/>
                </a:cubicBezTo>
                <a:cubicBezTo>
                  <a:pt x="8598" y="6702"/>
                  <a:pt x="8615" y="6664"/>
                  <a:pt x="8633" y="6626"/>
                </a:cubicBezTo>
                <a:cubicBezTo>
                  <a:pt x="8650" y="6588"/>
                  <a:pt x="8668" y="6550"/>
                  <a:pt x="8684" y="6512"/>
                </a:cubicBezTo>
                <a:cubicBezTo>
                  <a:pt x="8699" y="6473"/>
                  <a:pt x="8714" y="6435"/>
                  <a:pt x="8729" y="6396"/>
                </a:cubicBezTo>
                <a:cubicBezTo>
                  <a:pt x="8744" y="6357"/>
                  <a:pt x="8759" y="6319"/>
                  <a:pt x="8775" y="6280"/>
                </a:cubicBezTo>
                <a:cubicBezTo>
                  <a:pt x="8788" y="6241"/>
                  <a:pt x="8801" y="6203"/>
                  <a:pt x="8814" y="6164"/>
                </a:cubicBezTo>
                <a:cubicBezTo>
                  <a:pt x="8827" y="6124"/>
                  <a:pt x="8839" y="6084"/>
                  <a:pt x="8852" y="6044"/>
                </a:cubicBezTo>
                <a:cubicBezTo>
                  <a:pt x="8861" y="6005"/>
                  <a:pt x="8871" y="5965"/>
                  <a:pt x="8881" y="5926"/>
                </a:cubicBezTo>
                <a:cubicBezTo>
                  <a:pt x="8890" y="5885"/>
                  <a:pt x="8898" y="5845"/>
                  <a:pt x="8908" y="5804"/>
                </a:cubicBezTo>
                <a:cubicBezTo>
                  <a:pt x="8916" y="5764"/>
                  <a:pt x="8925" y="5724"/>
                  <a:pt x="8934" y="5684"/>
                </a:cubicBezTo>
                <a:cubicBezTo>
                  <a:pt x="8941" y="5643"/>
                  <a:pt x="8948" y="5603"/>
                  <a:pt x="8955" y="5562"/>
                </a:cubicBezTo>
                <a:cubicBezTo>
                  <a:pt x="8961" y="5521"/>
                  <a:pt x="8966" y="5481"/>
                  <a:pt x="8971" y="5440"/>
                </a:cubicBezTo>
                <a:cubicBezTo>
                  <a:pt x="8974" y="5399"/>
                  <a:pt x="8978" y="5357"/>
                  <a:pt x="8981" y="5316"/>
                </a:cubicBezTo>
                <a:cubicBezTo>
                  <a:pt x="8985" y="5276"/>
                  <a:pt x="8989" y="5236"/>
                  <a:pt x="8992" y="5196"/>
                </a:cubicBezTo>
                <a:cubicBezTo>
                  <a:pt x="8993" y="5155"/>
                  <a:pt x="8994" y="5113"/>
                  <a:pt x="8995" y="5072"/>
                </a:cubicBezTo>
                <a:lnTo>
                  <a:pt x="8995" y="4948"/>
                </a:lnTo>
                <a:lnTo>
                  <a:pt x="8992" y="4822"/>
                </a:lnTo>
                <a:cubicBezTo>
                  <a:pt x="8989" y="4781"/>
                  <a:pt x="8985" y="4739"/>
                  <a:pt x="8981" y="4698"/>
                </a:cubicBezTo>
                <a:cubicBezTo>
                  <a:pt x="8978" y="4656"/>
                  <a:pt x="8974" y="4614"/>
                  <a:pt x="8971" y="4572"/>
                </a:cubicBezTo>
                <a:cubicBezTo>
                  <a:pt x="8966" y="4529"/>
                  <a:pt x="8961" y="4487"/>
                  <a:pt x="8955" y="4444"/>
                </a:cubicBezTo>
                <a:cubicBezTo>
                  <a:pt x="8947" y="4402"/>
                  <a:pt x="8940" y="4360"/>
                  <a:pt x="8932" y="4318"/>
                </a:cubicBezTo>
                <a:cubicBezTo>
                  <a:pt x="8923" y="4276"/>
                  <a:pt x="8916" y="4234"/>
                  <a:pt x="8908" y="4192"/>
                </a:cubicBezTo>
                <a:cubicBezTo>
                  <a:pt x="8897" y="4150"/>
                  <a:pt x="8888" y="4108"/>
                  <a:pt x="8878" y="4066"/>
                </a:cubicBezTo>
                <a:cubicBezTo>
                  <a:pt x="8866" y="4024"/>
                  <a:pt x="8855" y="3982"/>
                  <a:pt x="8843" y="3940"/>
                </a:cubicBezTo>
                <a:lnTo>
                  <a:pt x="8843" y="3940"/>
                </a:lnTo>
                <a:cubicBezTo>
                  <a:pt x="8830" y="3899"/>
                  <a:pt x="8817" y="3857"/>
                  <a:pt x="8804" y="3816"/>
                </a:cubicBezTo>
                <a:cubicBezTo>
                  <a:pt x="8789" y="3775"/>
                  <a:pt x="8776" y="3733"/>
                  <a:pt x="8761" y="3692"/>
                </a:cubicBezTo>
                <a:cubicBezTo>
                  <a:pt x="8745" y="3651"/>
                  <a:pt x="8731" y="3609"/>
                  <a:pt x="8715" y="3568"/>
                </a:cubicBezTo>
                <a:cubicBezTo>
                  <a:pt x="8699" y="3527"/>
                  <a:pt x="8682" y="3487"/>
                  <a:pt x="8665" y="3446"/>
                </a:cubicBezTo>
                <a:cubicBezTo>
                  <a:pt x="8648" y="3407"/>
                  <a:pt x="8630" y="3367"/>
                  <a:pt x="8612" y="3328"/>
                </a:cubicBezTo>
                <a:cubicBezTo>
                  <a:pt x="8592" y="3288"/>
                  <a:pt x="8572" y="3248"/>
                  <a:pt x="8551" y="3208"/>
                </a:cubicBezTo>
                <a:cubicBezTo>
                  <a:pt x="8531" y="3169"/>
                  <a:pt x="8513" y="3131"/>
                  <a:pt x="8493" y="3092"/>
                </a:cubicBezTo>
                <a:cubicBezTo>
                  <a:pt x="8471" y="3053"/>
                  <a:pt x="8450" y="3015"/>
                  <a:pt x="8428" y="2976"/>
                </a:cubicBezTo>
                <a:cubicBezTo>
                  <a:pt x="8405" y="2939"/>
                  <a:pt x="8381" y="2901"/>
                  <a:pt x="8357" y="2864"/>
                </a:cubicBezTo>
                <a:cubicBezTo>
                  <a:pt x="8334" y="2827"/>
                  <a:pt x="8311" y="2791"/>
                  <a:pt x="8288" y="2754"/>
                </a:cubicBezTo>
                <a:cubicBezTo>
                  <a:pt x="8262" y="2717"/>
                  <a:pt x="8236" y="2679"/>
                  <a:pt x="8210" y="2642"/>
                </a:cubicBezTo>
                <a:lnTo>
                  <a:pt x="8131" y="2536"/>
                </a:lnTo>
                <a:cubicBezTo>
                  <a:pt x="8103" y="2501"/>
                  <a:pt x="8076" y="2465"/>
                  <a:pt x="8048" y="2430"/>
                </a:cubicBezTo>
                <a:lnTo>
                  <a:pt x="7963" y="2324"/>
                </a:lnTo>
                <a:cubicBezTo>
                  <a:pt x="7934" y="2290"/>
                  <a:pt x="7904" y="2256"/>
                  <a:pt x="7875" y="2222"/>
                </a:cubicBezTo>
                <a:cubicBezTo>
                  <a:pt x="7844" y="2189"/>
                  <a:pt x="7813" y="2155"/>
                  <a:pt x="7782" y="2122"/>
                </a:cubicBezTo>
                <a:cubicBezTo>
                  <a:pt x="7751" y="2089"/>
                  <a:pt x="7720" y="2057"/>
                  <a:pt x="7689" y="2024"/>
                </a:cubicBezTo>
                <a:cubicBezTo>
                  <a:pt x="7656" y="1992"/>
                  <a:pt x="7624" y="1960"/>
                  <a:pt x="7590" y="1928"/>
                </a:cubicBezTo>
                <a:lnTo>
                  <a:pt x="7490" y="1834"/>
                </a:lnTo>
                <a:cubicBezTo>
                  <a:pt x="7455" y="1803"/>
                  <a:pt x="7421" y="1771"/>
                  <a:pt x="7386" y="1740"/>
                </a:cubicBezTo>
                <a:cubicBezTo>
                  <a:pt x="7352" y="1709"/>
                  <a:pt x="7317" y="1679"/>
                  <a:pt x="7283" y="1648"/>
                </a:cubicBezTo>
                <a:cubicBezTo>
                  <a:pt x="7245" y="1619"/>
                  <a:pt x="7208" y="1589"/>
                  <a:pt x="7170" y="1560"/>
                </a:cubicBezTo>
                <a:lnTo>
                  <a:pt x="7059" y="1474"/>
                </a:lnTo>
                <a:lnTo>
                  <a:pt x="6945" y="1392"/>
                </a:lnTo>
                <a:lnTo>
                  <a:pt x="6827" y="1308"/>
                </a:lnTo>
                <a:cubicBezTo>
                  <a:pt x="6788" y="1281"/>
                  <a:pt x="6750" y="1253"/>
                  <a:pt x="6711" y="1226"/>
                </a:cubicBezTo>
                <a:lnTo>
                  <a:pt x="6585" y="1150"/>
                </a:lnTo>
                <a:cubicBezTo>
                  <a:pt x="6545" y="1125"/>
                  <a:pt x="6504" y="1101"/>
                  <a:pt x="6464" y="1076"/>
                </a:cubicBezTo>
                <a:cubicBezTo>
                  <a:pt x="6422" y="1051"/>
                  <a:pt x="6379" y="1027"/>
                  <a:pt x="6338" y="1002"/>
                </a:cubicBezTo>
                <a:cubicBezTo>
                  <a:pt x="6294" y="979"/>
                  <a:pt x="6251" y="955"/>
                  <a:pt x="6208" y="932"/>
                </a:cubicBezTo>
                <a:cubicBezTo>
                  <a:pt x="6163" y="909"/>
                  <a:pt x="6119" y="885"/>
                  <a:pt x="6075" y="862"/>
                </a:cubicBezTo>
                <a:cubicBezTo>
                  <a:pt x="6031" y="841"/>
                  <a:pt x="5988" y="819"/>
                  <a:pt x="5945" y="798"/>
                </a:cubicBezTo>
                <a:cubicBezTo>
                  <a:pt x="5899" y="777"/>
                  <a:pt x="5854" y="755"/>
                  <a:pt x="5809" y="734"/>
                </a:cubicBezTo>
                <a:lnTo>
                  <a:pt x="5673" y="670"/>
                </a:lnTo>
                <a:lnTo>
                  <a:pt x="5532" y="612"/>
                </a:lnTo>
                <a:lnTo>
                  <a:pt x="5389" y="556"/>
                </a:lnTo>
                <a:lnTo>
                  <a:pt x="5247" y="504"/>
                </a:lnTo>
                <a:lnTo>
                  <a:pt x="5104" y="450"/>
                </a:lnTo>
                <a:lnTo>
                  <a:pt x="4958" y="402"/>
                </a:lnTo>
                <a:lnTo>
                  <a:pt x="4812" y="358"/>
                </a:lnTo>
                <a:lnTo>
                  <a:pt x="4660" y="314"/>
                </a:lnTo>
                <a:lnTo>
                  <a:pt x="4508" y="274"/>
                </a:lnTo>
                <a:lnTo>
                  <a:pt x="4359" y="236"/>
                </a:lnTo>
                <a:lnTo>
                  <a:pt x="4202" y="200"/>
                </a:lnTo>
                <a:lnTo>
                  <a:pt x="4049" y="168"/>
                </a:lnTo>
                <a:lnTo>
                  <a:pt x="3894" y="138"/>
                </a:lnTo>
                <a:lnTo>
                  <a:pt x="3737" y="110"/>
                </a:lnTo>
                <a:lnTo>
                  <a:pt x="3578" y="86"/>
                </a:lnTo>
                <a:lnTo>
                  <a:pt x="3417" y="66"/>
                </a:lnTo>
                <a:lnTo>
                  <a:pt x="3255" y="46"/>
                </a:lnTo>
                <a:lnTo>
                  <a:pt x="3096" y="32"/>
                </a:lnTo>
                <a:lnTo>
                  <a:pt x="2934" y="22"/>
                </a:lnTo>
                <a:lnTo>
                  <a:pt x="2769" y="10"/>
                </a:lnTo>
                <a:lnTo>
                  <a:pt x="2605" y="4"/>
                </a:lnTo>
                <a:lnTo>
                  <a:pt x="2439" y="0"/>
                </a:lnTo>
                <a:lnTo>
                  <a:pt x="2274" y="0"/>
                </a:lnTo>
                <a:lnTo>
                  <a:pt x="2110" y="4"/>
                </a:lnTo>
                <a:lnTo>
                  <a:pt x="1942" y="10"/>
                </a:lnTo>
                <a:lnTo>
                  <a:pt x="1777" y="22"/>
                </a:lnTo>
                <a:lnTo>
                  <a:pt x="1610" y="34"/>
                </a:lnTo>
                <a:lnTo>
                  <a:pt x="1442" y="48"/>
                </a:lnTo>
                <a:lnTo>
                  <a:pt x="1275" y="66"/>
                </a:lnTo>
                <a:lnTo>
                  <a:pt x="1106" y="90"/>
                </a:lnTo>
                <a:lnTo>
                  <a:pt x="937" y="114"/>
                </a:lnTo>
                <a:lnTo>
                  <a:pt x="937" y="114"/>
                </a:lnTo>
                <a:lnTo>
                  <a:pt x="777" y="142"/>
                </a:lnTo>
                <a:lnTo>
                  <a:pt x="618" y="176"/>
                </a:lnTo>
                <a:lnTo>
                  <a:pt x="461" y="208"/>
                </a:lnTo>
                <a:lnTo>
                  <a:pt x="306" y="244"/>
                </a:lnTo>
                <a:lnTo>
                  <a:pt x="152" y="282"/>
                </a:lnTo>
                <a:lnTo>
                  <a:pt x="0" y="324"/>
                </a:lnTo>
                <a:cubicBezTo>
                  <a:pt x="22" y="3449"/>
                  <a:pt x="45" y="6573"/>
                  <a:pt x="67" y="9698"/>
                </a:cubicBezTo>
                <a:lnTo>
                  <a:pt x="222" y="9738"/>
                </a:lnTo>
                <a:lnTo>
                  <a:pt x="381" y="9778"/>
                </a:lnTo>
                <a:lnTo>
                  <a:pt x="540" y="9814"/>
                </a:lnTo>
                <a:lnTo>
                  <a:pt x="703" y="9846"/>
                </a:lnTo>
                <a:lnTo>
                  <a:pt x="865" y="9874"/>
                </a:lnTo>
                <a:lnTo>
                  <a:pt x="1027" y="9902"/>
                </a:lnTo>
                <a:lnTo>
                  <a:pt x="1192" y="9926"/>
                </a:lnTo>
                <a:lnTo>
                  <a:pt x="1357" y="9946"/>
                </a:lnTo>
                <a:lnTo>
                  <a:pt x="1524" y="9962"/>
                </a:lnTo>
                <a:lnTo>
                  <a:pt x="1695" y="9978"/>
                </a:lnTo>
                <a:lnTo>
                  <a:pt x="1862" y="9988"/>
                </a:lnTo>
                <a:lnTo>
                  <a:pt x="2033" y="9996"/>
                </a:lnTo>
                <a:lnTo>
                  <a:pt x="2200" y="10000"/>
                </a:lnTo>
                <a:lnTo>
                  <a:pt x="2373" y="10000"/>
                </a:lnTo>
                <a:lnTo>
                  <a:pt x="2543" y="9998"/>
                </a:lnTo>
                <a:lnTo>
                  <a:pt x="2719" y="9994"/>
                </a:lnTo>
                <a:lnTo>
                  <a:pt x="2888" y="9986"/>
                </a:lnTo>
                <a:lnTo>
                  <a:pt x="3064" y="9974"/>
                </a:lnTo>
                <a:lnTo>
                  <a:pt x="3237" y="9956"/>
                </a:lnTo>
                <a:lnTo>
                  <a:pt x="3410" y="9938"/>
                </a:lnTo>
                <a:lnTo>
                  <a:pt x="3586" y="9912"/>
                </a:lnTo>
                <a:lnTo>
                  <a:pt x="3761" y="9888"/>
                </a:lnTo>
                <a:lnTo>
                  <a:pt x="3761" y="9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34" name="AutoShape 3"/>
          <p:cNvSpPr>
            <a:spLocks noChangeAspect="1" noChangeArrowheads="1" noTextEdit="1"/>
          </p:cNvSpPr>
          <p:nvPr/>
        </p:nvSpPr>
        <p:spPr bwMode="auto">
          <a:xfrm>
            <a:off x="624883" y="1594077"/>
            <a:ext cx="4229554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35" name="Freeform 24"/>
          <p:cNvSpPr>
            <a:spLocks/>
          </p:cNvSpPr>
          <p:nvPr/>
        </p:nvSpPr>
        <p:spPr bwMode="auto">
          <a:xfrm>
            <a:off x="985902" y="2174755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6" name="Freeform 24"/>
          <p:cNvSpPr>
            <a:spLocks/>
          </p:cNvSpPr>
          <p:nvPr/>
        </p:nvSpPr>
        <p:spPr bwMode="auto">
          <a:xfrm rot="1450862">
            <a:off x="1431584" y="2839713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7" name="Freeform 24"/>
          <p:cNvSpPr>
            <a:spLocks/>
          </p:cNvSpPr>
          <p:nvPr/>
        </p:nvSpPr>
        <p:spPr bwMode="auto">
          <a:xfrm flipV="1">
            <a:off x="1085778" y="4308261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 rot="2592155">
            <a:off x="1425476" y="3578557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74419" y="1419741"/>
            <a:ext cx="9314198" cy="921615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  <a:latin typeface="Verdana"/>
              </a:rPr>
              <a:t>Testing Labs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dirty="0">
                <a:solidFill>
                  <a:prstClr val="black"/>
                </a:solidFill>
                <a:latin typeface="Verdana"/>
              </a:rPr>
              <a:t>Testing infrastructure needs to be ramped up to increase surveillance and to ensure better adoption of quality standards.</a:t>
            </a:r>
          </a:p>
        </p:txBody>
      </p:sp>
      <p:sp>
        <p:nvSpPr>
          <p:cNvPr id="45" name="Oval 44"/>
          <p:cNvSpPr/>
          <p:nvPr/>
        </p:nvSpPr>
        <p:spPr>
          <a:xfrm>
            <a:off x="543611" y="3405421"/>
            <a:ext cx="1537487" cy="1232452"/>
          </a:xfrm>
          <a:prstGeom prst="ellipse">
            <a:avLst/>
          </a:prstGeom>
          <a:gradFill flip="none" rotWithShape="1">
            <a:gsLst>
              <a:gs pos="0">
                <a:srgbClr val="575757">
                  <a:tint val="66000"/>
                  <a:satMod val="160000"/>
                </a:srgbClr>
              </a:gs>
              <a:gs pos="50000">
                <a:srgbClr val="575757">
                  <a:tint val="44500"/>
                  <a:satMod val="160000"/>
                </a:srgbClr>
              </a:gs>
              <a:gs pos="100000">
                <a:srgbClr val="575757">
                  <a:tint val="23500"/>
                  <a:satMod val="160000"/>
                </a:srgbClr>
              </a:gs>
            </a:gsLst>
            <a:lin ang="0" scaled="1"/>
            <a:tileRect/>
          </a:gradFill>
          <a:ln w="127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23715" y="3549793"/>
            <a:ext cx="1177281" cy="943710"/>
          </a:xfrm>
          <a:prstGeom prst="ellipse">
            <a:avLst/>
          </a:prstGeom>
          <a:gradFill flip="none" rotWithShape="1">
            <a:gsLst>
              <a:gs pos="0">
                <a:srgbClr val="575757">
                  <a:shade val="30000"/>
                  <a:satMod val="115000"/>
                </a:srgbClr>
              </a:gs>
              <a:gs pos="50000">
                <a:srgbClr val="575757">
                  <a:shade val="67500"/>
                  <a:satMod val="115000"/>
                </a:srgbClr>
              </a:gs>
              <a:gs pos="100000">
                <a:srgbClr val="575757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rot="16200000">
            <a:off x="5002023" y="3147693"/>
            <a:ext cx="72395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620635" y="1861243"/>
            <a:ext cx="71433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79128" y="227744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7203" y="319867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80971" y="4073693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6470" y="5256214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4</a:t>
            </a:r>
          </a:p>
        </p:txBody>
      </p:sp>
      <p:sp>
        <p:nvSpPr>
          <p:cNvPr id="57" name="Freeform 217"/>
          <p:cNvSpPr>
            <a:spLocks noEditPoints="1"/>
          </p:cNvSpPr>
          <p:nvPr/>
        </p:nvSpPr>
        <p:spPr bwMode="auto">
          <a:xfrm rot="16200000">
            <a:off x="3280111" y="1674834"/>
            <a:ext cx="613052" cy="350262"/>
          </a:xfrm>
          <a:custGeom>
            <a:avLst/>
            <a:gdLst>
              <a:gd name="T0" fmla="*/ 430 w 470"/>
              <a:gd name="T1" fmla="*/ 70 h 212"/>
              <a:gd name="T2" fmla="*/ 204 w 470"/>
              <a:gd name="T3" fmla="*/ 70 h 212"/>
              <a:gd name="T4" fmla="*/ 188 w 470"/>
              <a:gd name="T5" fmla="*/ 40 h 212"/>
              <a:gd name="T6" fmla="*/ 180 w 470"/>
              <a:gd name="T7" fmla="*/ 32 h 212"/>
              <a:gd name="T8" fmla="*/ 144 w 470"/>
              <a:gd name="T9" fmla="*/ 8 h 212"/>
              <a:gd name="T10" fmla="*/ 106 w 470"/>
              <a:gd name="T11" fmla="*/ 0 h 212"/>
              <a:gd name="T12" fmla="*/ 66 w 470"/>
              <a:gd name="T13" fmla="*/ 8 h 212"/>
              <a:gd name="T14" fmla="*/ 30 w 470"/>
              <a:gd name="T15" fmla="*/ 32 h 212"/>
              <a:gd name="T16" fmla="*/ 18 w 470"/>
              <a:gd name="T17" fmla="*/ 48 h 212"/>
              <a:gd name="T18" fmla="*/ 2 w 470"/>
              <a:gd name="T19" fmla="*/ 86 h 212"/>
              <a:gd name="T20" fmla="*/ 2 w 470"/>
              <a:gd name="T21" fmla="*/ 126 h 212"/>
              <a:gd name="T22" fmla="*/ 18 w 470"/>
              <a:gd name="T23" fmla="*/ 164 h 212"/>
              <a:gd name="T24" fmla="*/ 30 w 470"/>
              <a:gd name="T25" fmla="*/ 180 h 212"/>
              <a:gd name="T26" fmla="*/ 66 w 470"/>
              <a:gd name="T27" fmla="*/ 204 h 212"/>
              <a:gd name="T28" fmla="*/ 106 w 470"/>
              <a:gd name="T29" fmla="*/ 212 h 212"/>
              <a:gd name="T30" fmla="*/ 144 w 470"/>
              <a:gd name="T31" fmla="*/ 204 h 212"/>
              <a:gd name="T32" fmla="*/ 180 w 470"/>
              <a:gd name="T33" fmla="*/ 180 h 212"/>
              <a:gd name="T34" fmla="*/ 190 w 470"/>
              <a:gd name="T35" fmla="*/ 168 h 212"/>
              <a:gd name="T36" fmla="*/ 204 w 470"/>
              <a:gd name="T37" fmla="*/ 142 h 212"/>
              <a:gd name="T38" fmla="*/ 258 w 470"/>
              <a:gd name="T39" fmla="*/ 126 h 212"/>
              <a:gd name="T40" fmla="*/ 306 w 470"/>
              <a:gd name="T41" fmla="*/ 128 h 212"/>
              <a:gd name="T42" fmla="*/ 354 w 470"/>
              <a:gd name="T43" fmla="*/ 128 h 212"/>
              <a:gd name="T44" fmla="*/ 402 w 470"/>
              <a:gd name="T45" fmla="*/ 128 h 212"/>
              <a:gd name="T46" fmla="*/ 452 w 470"/>
              <a:gd name="T47" fmla="*/ 126 h 212"/>
              <a:gd name="T48" fmla="*/ 470 w 470"/>
              <a:gd name="T49" fmla="*/ 108 h 212"/>
              <a:gd name="T50" fmla="*/ 74 w 470"/>
              <a:gd name="T51" fmla="*/ 124 h 212"/>
              <a:gd name="T52" fmla="*/ 66 w 470"/>
              <a:gd name="T53" fmla="*/ 128 h 212"/>
              <a:gd name="T54" fmla="*/ 46 w 470"/>
              <a:gd name="T55" fmla="*/ 128 h 212"/>
              <a:gd name="T56" fmla="*/ 38 w 470"/>
              <a:gd name="T57" fmla="*/ 124 h 212"/>
              <a:gd name="T58" fmla="*/ 32 w 470"/>
              <a:gd name="T59" fmla="*/ 106 h 212"/>
              <a:gd name="T60" fmla="*/ 38 w 470"/>
              <a:gd name="T61" fmla="*/ 88 h 212"/>
              <a:gd name="T62" fmla="*/ 46 w 470"/>
              <a:gd name="T63" fmla="*/ 84 h 212"/>
              <a:gd name="T64" fmla="*/ 66 w 470"/>
              <a:gd name="T65" fmla="*/ 84 h 212"/>
              <a:gd name="T66" fmla="*/ 74 w 470"/>
              <a:gd name="T67" fmla="*/ 88 h 212"/>
              <a:gd name="T68" fmla="*/ 80 w 470"/>
              <a:gd name="T69" fmla="*/ 106 h 212"/>
              <a:gd name="T70" fmla="*/ 74 w 470"/>
              <a:gd name="T71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70" h="212">
                <a:moveTo>
                  <a:pt x="430" y="70"/>
                </a:moveTo>
                <a:lnTo>
                  <a:pt x="430" y="70"/>
                </a:lnTo>
                <a:lnTo>
                  <a:pt x="204" y="70"/>
                </a:lnTo>
                <a:lnTo>
                  <a:pt x="204" y="70"/>
                </a:lnTo>
                <a:lnTo>
                  <a:pt x="194" y="50"/>
                </a:lnTo>
                <a:lnTo>
                  <a:pt x="188" y="40"/>
                </a:lnTo>
                <a:lnTo>
                  <a:pt x="180" y="32"/>
                </a:lnTo>
                <a:lnTo>
                  <a:pt x="180" y="32"/>
                </a:lnTo>
                <a:lnTo>
                  <a:pt x="164" y="18"/>
                </a:lnTo>
                <a:lnTo>
                  <a:pt x="144" y="8"/>
                </a:lnTo>
                <a:lnTo>
                  <a:pt x="126" y="2"/>
                </a:lnTo>
                <a:lnTo>
                  <a:pt x="106" y="0"/>
                </a:lnTo>
                <a:lnTo>
                  <a:pt x="84" y="2"/>
                </a:lnTo>
                <a:lnTo>
                  <a:pt x="66" y="8"/>
                </a:lnTo>
                <a:lnTo>
                  <a:pt x="48" y="18"/>
                </a:lnTo>
                <a:lnTo>
                  <a:pt x="30" y="32"/>
                </a:lnTo>
                <a:lnTo>
                  <a:pt x="30" y="32"/>
                </a:lnTo>
                <a:lnTo>
                  <a:pt x="18" y="48"/>
                </a:lnTo>
                <a:lnTo>
                  <a:pt x="8" y="66"/>
                </a:lnTo>
                <a:lnTo>
                  <a:pt x="2" y="86"/>
                </a:lnTo>
                <a:lnTo>
                  <a:pt x="0" y="106"/>
                </a:lnTo>
                <a:lnTo>
                  <a:pt x="2" y="126"/>
                </a:lnTo>
                <a:lnTo>
                  <a:pt x="8" y="146"/>
                </a:lnTo>
                <a:lnTo>
                  <a:pt x="18" y="164"/>
                </a:lnTo>
                <a:lnTo>
                  <a:pt x="30" y="180"/>
                </a:lnTo>
                <a:lnTo>
                  <a:pt x="30" y="180"/>
                </a:lnTo>
                <a:lnTo>
                  <a:pt x="48" y="194"/>
                </a:lnTo>
                <a:lnTo>
                  <a:pt x="66" y="204"/>
                </a:lnTo>
                <a:lnTo>
                  <a:pt x="84" y="210"/>
                </a:lnTo>
                <a:lnTo>
                  <a:pt x="106" y="212"/>
                </a:lnTo>
                <a:lnTo>
                  <a:pt x="126" y="210"/>
                </a:lnTo>
                <a:lnTo>
                  <a:pt x="144" y="204"/>
                </a:lnTo>
                <a:lnTo>
                  <a:pt x="164" y="194"/>
                </a:lnTo>
                <a:lnTo>
                  <a:pt x="180" y="180"/>
                </a:lnTo>
                <a:lnTo>
                  <a:pt x="180" y="180"/>
                </a:lnTo>
                <a:lnTo>
                  <a:pt x="190" y="168"/>
                </a:lnTo>
                <a:lnTo>
                  <a:pt x="198" y="156"/>
                </a:lnTo>
                <a:lnTo>
                  <a:pt x="204" y="142"/>
                </a:lnTo>
                <a:lnTo>
                  <a:pt x="208" y="126"/>
                </a:lnTo>
                <a:lnTo>
                  <a:pt x="258" y="126"/>
                </a:lnTo>
                <a:lnTo>
                  <a:pt x="282" y="152"/>
                </a:lnTo>
                <a:lnTo>
                  <a:pt x="306" y="128"/>
                </a:lnTo>
                <a:lnTo>
                  <a:pt x="330" y="152"/>
                </a:lnTo>
                <a:lnTo>
                  <a:pt x="354" y="128"/>
                </a:lnTo>
                <a:lnTo>
                  <a:pt x="378" y="152"/>
                </a:lnTo>
                <a:lnTo>
                  <a:pt x="402" y="128"/>
                </a:lnTo>
                <a:lnTo>
                  <a:pt x="426" y="152"/>
                </a:lnTo>
                <a:lnTo>
                  <a:pt x="452" y="126"/>
                </a:lnTo>
                <a:lnTo>
                  <a:pt x="460" y="118"/>
                </a:lnTo>
                <a:lnTo>
                  <a:pt x="470" y="108"/>
                </a:lnTo>
                <a:lnTo>
                  <a:pt x="430" y="70"/>
                </a:lnTo>
                <a:close/>
                <a:moveTo>
                  <a:pt x="74" y="124"/>
                </a:moveTo>
                <a:lnTo>
                  <a:pt x="74" y="124"/>
                </a:lnTo>
                <a:lnTo>
                  <a:pt x="66" y="128"/>
                </a:lnTo>
                <a:lnTo>
                  <a:pt x="56" y="130"/>
                </a:lnTo>
                <a:lnTo>
                  <a:pt x="46" y="128"/>
                </a:lnTo>
                <a:lnTo>
                  <a:pt x="38" y="124"/>
                </a:lnTo>
                <a:lnTo>
                  <a:pt x="38" y="124"/>
                </a:lnTo>
                <a:lnTo>
                  <a:pt x="34" y="116"/>
                </a:lnTo>
                <a:lnTo>
                  <a:pt x="32" y="106"/>
                </a:lnTo>
                <a:lnTo>
                  <a:pt x="34" y="96"/>
                </a:lnTo>
                <a:lnTo>
                  <a:pt x="38" y="88"/>
                </a:lnTo>
                <a:lnTo>
                  <a:pt x="38" y="88"/>
                </a:lnTo>
                <a:lnTo>
                  <a:pt x="46" y="84"/>
                </a:lnTo>
                <a:lnTo>
                  <a:pt x="56" y="82"/>
                </a:lnTo>
                <a:lnTo>
                  <a:pt x="66" y="84"/>
                </a:lnTo>
                <a:lnTo>
                  <a:pt x="74" y="88"/>
                </a:lnTo>
                <a:lnTo>
                  <a:pt x="74" y="88"/>
                </a:lnTo>
                <a:lnTo>
                  <a:pt x="78" y="96"/>
                </a:lnTo>
                <a:lnTo>
                  <a:pt x="80" y="106"/>
                </a:lnTo>
                <a:lnTo>
                  <a:pt x="78" y="116"/>
                </a:lnTo>
                <a:lnTo>
                  <a:pt x="74" y="124"/>
                </a:lnTo>
                <a:lnTo>
                  <a:pt x="74" y="1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grpSp>
        <p:nvGrpSpPr>
          <p:cNvPr id="58" name="Group 57"/>
          <p:cNvGrpSpPr/>
          <p:nvPr/>
        </p:nvGrpSpPr>
        <p:grpSpPr>
          <a:xfrm flipH="1">
            <a:off x="4394053" y="2969903"/>
            <a:ext cx="810050" cy="355580"/>
            <a:chOff x="7391400" y="1254125"/>
            <a:chExt cx="1631950" cy="920750"/>
          </a:xfrm>
        </p:grpSpPr>
        <p:sp>
          <p:nvSpPr>
            <p:cNvPr id="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91400" y="1254125"/>
              <a:ext cx="1631950" cy="92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>
              <a:off x="7845425" y="1254125"/>
              <a:ext cx="879475" cy="635000"/>
            </a:xfrm>
            <a:custGeom>
              <a:avLst/>
              <a:gdLst>
                <a:gd name="T0" fmla="*/ 6 w 554"/>
                <a:gd name="T1" fmla="*/ 156 h 400"/>
                <a:gd name="T2" fmla="*/ 128 w 554"/>
                <a:gd name="T3" fmla="*/ 54 h 400"/>
                <a:gd name="T4" fmla="*/ 160 w 554"/>
                <a:gd name="T5" fmla="*/ 24 h 400"/>
                <a:gd name="T6" fmla="*/ 172 w 554"/>
                <a:gd name="T7" fmla="*/ 12 h 400"/>
                <a:gd name="T8" fmla="*/ 204 w 554"/>
                <a:gd name="T9" fmla="*/ 0 h 400"/>
                <a:gd name="T10" fmla="*/ 230 w 554"/>
                <a:gd name="T11" fmla="*/ 0 h 400"/>
                <a:gd name="T12" fmla="*/ 260 w 554"/>
                <a:gd name="T13" fmla="*/ 4 h 400"/>
                <a:gd name="T14" fmla="*/ 298 w 554"/>
                <a:gd name="T15" fmla="*/ 18 h 400"/>
                <a:gd name="T16" fmla="*/ 384 w 554"/>
                <a:gd name="T17" fmla="*/ 62 h 400"/>
                <a:gd name="T18" fmla="*/ 496 w 554"/>
                <a:gd name="T19" fmla="*/ 120 h 400"/>
                <a:gd name="T20" fmla="*/ 514 w 554"/>
                <a:gd name="T21" fmla="*/ 124 h 400"/>
                <a:gd name="T22" fmla="*/ 540 w 554"/>
                <a:gd name="T23" fmla="*/ 124 h 400"/>
                <a:gd name="T24" fmla="*/ 554 w 554"/>
                <a:gd name="T25" fmla="*/ 394 h 400"/>
                <a:gd name="T26" fmla="*/ 544 w 554"/>
                <a:gd name="T27" fmla="*/ 396 h 400"/>
                <a:gd name="T28" fmla="*/ 490 w 554"/>
                <a:gd name="T29" fmla="*/ 400 h 400"/>
                <a:gd name="T30" fmla="*/ 466 w 554"/>
                <a:gd name="T31" fmla="*/ 394 h 400"/>
                <a:gd name="T32" fmla="*/ 448 w 554"/>
                <a:gd name="T33" fmla="*/ 374 h 400"/>
                <a:gd name="T34" fmla="*/ 354 w 554"/>
                <a:gd name="T35" fmla="*/ 256 h 400"/>
                <a:gd name="T36" fmla="*/ 282 w 554"/>
                <a:gd name="T37" fmla="*/ 176 h 400"/>
                <a:gd name="T38" fmla="*/ 252 w 554"/>
                <a:gd name="T39" fmla="*/ 150 h 400"/>
                <a:gd name="T40" fmla="*/ 230 w 554"/>
                <a:gd name="T41" fmla="*/ 138 h 400"/>
                <a:gd name="T42" fmla="*/ 212 w 554"/>
                <a:gd name="T43" fmla="*/ 138 h 400"/>
                <a:gd name="T44" fmla="*/ 180 w 554"/>
                <a:gd name="T45" fmla="*/ 148 h 400"/>
                <a:gd name="T46" fmla="*/ 138 w 554"/>
                <a:gd name="T47" fmla="*/ 178 h 400"/>
                <a:gd name="T48" fmla="*/ 112 w 554"/>
                <a:gd name="T49" fmla="*/ 196 h 400"/>
                <a:gd name="T50" fmla="*/ 80 w 554"/>
                <a:gd name="T51" fmla="*/ 208 h 400"/>
                <a:gd name="T52" fmla="*/ 34 w 554"/>
                <a:gd name="T53" fmla="*/ 202 h 400"/>
                <a:gd name="T54" fmla="*/ 22 w 554"/>
                <a:gd name="T55" fmla="*/ 198 h 400"/>
                <a:gd name="T56" fmla="*/ 4 w 554"/>
                <a:gd name="T57" fmla="*/ 184 h 400"/>
                <a:gd name="T58" fmla="*/ 0 w 554"/>
                <a:gd name="T59" fmla="*/ 170 h 400"/>
                <a:gd name="T60" fmla="*/ 2 w 554"/>
                <a:gd name="T61" fmla="*/ 160 h 400"/>
                <a:gd name="T62" fmla="*/ 6 w 554"/>
                <a:gd name="T63" fmla="*/ 15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4" h="400">
                  <a:moveTo>
                    <a:pt x="6" y="156"/>
                  </a:moveTo>
                  <a:lnTo>
                    <a:pt x="6" y="156"/>
                  </a:lnTo>
                  <a:lnTo>
                    <a:pt x="78" y="96"/>
                  </a:lnTo>
                  <a:lnTo>
                    <a:pt x="128" y="54"/>
                  </a:lnTo>
                  <a:lnTo>
                    <a:pt x="148" y="36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72" y="12"/>
                  </a:lnTo>
                  <a:lnTo>
                    <a:pt x="186" y="6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44" y="0"/>
                  </a:lnTo>
                  <a:lnTo>
                    <a:pt x="260" y="4"/>
                  </a:lnTo>
                  <a:lnTo>
                    <a:pt x="278" y="10"/>
                  </a:lnTo>
                  <a:lnTo>
                    <a:pt x="298" y="18"/>
                  </a:lnTo>
                  <a:lnTo>
                    <a:pt x="340" y="38"/>
                  </a:lnTo>
                  <a:lnTo>
                    <a:pt x="384" y="62"/>
                  </a:lnTo>
                  <a:lnTo>
                    <a:pt x="466" y="106"/>
                  </a:lnTo>
                  <a:lnTo>
                    <a:pt x="496" y="120"/>
                  </a:lnTo>
                  <a:lnTo>
                    <a:pt x="506" y="124"/>
                  </a:lnTo>
                  <a:lnTo>
                    <a:pt x="514" y="124"/>
                  </a:lnTo>
                  <a:lnTo>
                    <a:pt x="514" y="124"/>
                  </a:lnTo>
                  <a:lnTo>
                    <a:pt x="540" y="124"/>
                  </a:lnTo>
                  <a:lnTo>
                    <a:pt x="554" y="122"/>
                  </a:lnTo>
                  <a:lnTo>
                    <a:pt x="554" y="394"/>
                  </a:lnTo>
                  <a:lnTo>
                    <a:pt x="554" y="394"/>
                  </a:lnTo>
                  <a:lnTo>
                    <a:pt x="544" y="396"/>
                  </a:lnTo>
                  <a:lnTo>
                    <a:pt x="520" y="398"/>
                  </a:lnTo>
                  <a:lnTo>
                    <a:pt x="490" y="400"/>
                  </a:lnTo>
                  <a:lnTo>
                    <a:pt x="476" y="398"/>
                  </a:lnTo>
                  <a:lnTo>
                    <a:pt x="466" y="394"/>
                  </a:lnTo>
                  <a:lnTo>
                    <a:pt x="466" y="394"/>
                  </a:lnTo>
                  <a:lnTo>
                    <a:pt x="448" y="374"/>
                  </a:lnTo>
                  <a:lnTo>
                    <a:pt x="422" y="342"/>
                  </a:lnTo>
                  <a:lnTo>
                    <a:pt x="354" y="256"/>
                  </a:lnTo>
                  <a:lnTo>
                    <a:pt x="318" y="214"/>
                  </a:lnTo>
                  <a:lnTo>
                    <a:pt x="282" y="176"/>
                  </a:lnTo>
                  <a:lnTo>
                    <a:pt x="266" y="160"/>
                  </a:lnTo>
                  <a:lnTo>
                    <a:pt x="252" y="150"/>
                  </a:lnTo>
                  <a:lnTo>
                    <a:pt x="240" y="142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12" y="138"/>
                  </a:lnTo>
                  <a:lnTo>
                    <a:pt x="194" y="142"/>
                  </a:lnTo>
                  <a:lnTo>
                    <a:pt x="180" y="148"/>
                  </a:lnTo>
                  <a:lnTo>
                    <a:pt x="164" y="158"/>
                  </a:lnTo>
                  <a:lnTo>
                    <a:pt x="138" y="17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96" y="204"/>
                  </a:lnTo>
                  <a:lnTo>
                    <a:pt x="80" y="208"/>
                  </a:lnTo>
                  <a:lnTo>
                    <a:pt x="58" y="206"/>
                  </a:lnTo>
                  <a:lnTo>
                    <a:pt x="34" y="202"/>
                  </a:lnTo>
                  <a:lnTo>
                    <a:pt x="34" y="202"/>
                  </a:lnTo>
                  <a:lnTo>
                    <a:pt x="22" y="198"/>
                  </a:lnTo>
                  <a:lnTo>
                    <a:pt x="12" y="192"/>
                  </a:lnTo>
                  <a:lnTo>
                    <a:pt x="4" y="184"/>
                  </a:lnTo>
                  <a:lnTo>
                    <a:pt x="2" y="178"/>
                  </a:lnTo>
                  <a:lnTo>
                    <a:pt x="0" y="170"/>
                  </a:lnTo>
                  <a:lnTo>
                    <a:pt x="0" y="164"/>
                  </a:lnTo>
                  <a:lnTo>
                    <a:pt x="2" y="160"/>
                  </a:lnTo>
                  <a:lnTo>
                    <a:pt x="6" y="156"/>
                  </a:lnTo>
                  <a:lnTo>
                    <a:pt x="6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7696200" y="1289050"/>
              <a:ext cx="904875" cy="885825"/>
            </a:xfrm>
            <a:custGeom>
              <a:avLst/>
              <a:gdLst>
                <a:gd name="T0" fmla="*/ 0 w 570"/>
                <a:gd name="T1" fmla="*/ 370 h 558"/>
                <a:gd name="T2" fmla="*/ 44 w 570"/>
                <a:gd name="T3" fmla="*/ 370 h 558"/>
                <a:gd name="T4" fmla="*/ 48 w 570"/>
                <a:gd name="T5" fmla="*/ 372 h 558"/>
                <a:gd name="T6" fmla="*/ 72 w 570"/>
                <a:gd name="T7" fmla="*/ 396 h 558"/>
                <a:gd name="T8" fmla="*/ 150 w 570"/>
                <a:gd name="T9" fmla="*/ 488 h 558"/>
                <a:gd name="T10" fmla="*/ 196 w 570"/>
                <a:gd name="T11" fmla="*/ 530 h 558"/>
                <a:gd name="T12" fmla="*/ 226 w 570"/>
                <a:gd name="T13" fmla="*/ 548 h 558"/>
                <a:gd name="T14" fmla="*/ 240 w 570"/>
                <a:gd name="T15" fmla="*/ 554 h 558"/>
                <a:gd name="T16" fmla="*/ 282 w 570"/>
                <a:gd name="T17" fmla="*/ 558 h 558"/>
                <a:gd name="T18" fmla="*/ 302 w 570"/>
                <a:gd name="T19" fmla="*/ 550 h 558"/>
                <a:gd name="T20" fmla="*/ 308 w 570"/>
                <a:gd name="T21" fmla="*/ 540 h 558"/>
                <a:gd name="T22" fmla="*/ 308 w 570"/>
                <a:gd name="T23" fmla="*/ 534 h 558"/>
                <a:gd name="T24" fmla="*/ 330 w 570"/>
                <a:gd name="T25" fmla="*/ 544 h 558"/>
                <a:gd name="T26" fmla="*/ 366 w 570"/>
                <a:gd name="T27" fmla="*/ 552 h 558"/>
                <a:gd name="T28" fmla="*/ 380 w 570"/>
                <a:gd name="T29" fmla="*/ 554 h 558"/>
                <a:gd name="T30" fmla="*/ 392 w 570"/>
                <a:gd name="T31" fmla="*/ 552 h 558"/>
                <a:gd name="T32" fmla="*/ 404 w 570"/>
                <a:gd name="T33" fmla="*/ 538 h 558"/>
                <a:gd name="T34" fmla="*/ 406 w 570"/>
                <a:gd name="T35" fmla="*/ 520 h 558"/>
                <a:gd name="T36" fmla="*/ 402 w 570"/>
                <a:gd name="T37" fmla="*/ 506 h 558"/>
                <a:gd name="T38" fmla="*/ 408 w 570"/>
                <a:gd name="T39" fmla="*/ 510 h 558"/>
                <a:gd name="T40" fmla="*/ 436 w 570"/>
                <a:gd name="T41" fmla="*/ 522 h 558"/>
                <a:gd name="T42" fmla="*/ 460 w 570"/>
                <a:gd name="T43" fmla="*/ 526 h 558"/>
                <a:gd name="T44" fmla="*/ 472 w 570"/>
                <a:gd name="T45" fmla="*/ 524 h 558"/>
                <a:gd name="T46" fmla="*/ 490 w 570"/>
                <a:gd name="T47" fmla="*/ 514 h 558"/>
                <a:gd name="T48" fmla="*/ 500 w 570"/>
                <a:gd name="T49" fmla="*/ 498 h 558"/>
                <a:gd name="T50" fmla="*/ 502 w 570"/>
                <a:gd name="T51" fmla="*/ 478 h 558"/>
                <a:gd name="T52" fmla="*/ 546 w 570"/>
                <a:gd name="T53" fmla="*/ 476 h 558"/>
                <a:gd name="T54" fmla="*/ 560 w 570"/>
                <a:gd name="T55" fmla="*/ 468 h 558"/>
                <a:gd name="T56" fmla="*/ 570 w 570"/>
                <a:gd name="T57" fmla="*/ 452 h 558"/>
                <a:gd name="T58" fmla="*/ 570 w 570"/>
                <a:gd name="T59" fmla="*/ 434 h 558"/>
                <a:gd name="T60" fmla="*/ 556 w 570"/>
                <a:gd name="T61" fmla="*/ 408 h 558"/>
                <a:gd name="T62" fmla="*/ 538 w 570"/>
                <a:gd name="T63" fmla="*/ 384 h 558"/>
                <a:gd name="T64" fmla="*/ 456 w 570"/>
                <a:gd name="T65" fmla="*/ 286 h 558"/>
                <a:gd name="T66" fmla="*/ 356 w 570"/>
                <a:gd name="T67" fmla="*/ 170 h 558"/>
                <a:gd name="T68" fmla="*/ 350 w 570"/>
                <a:gd name="T69" fmla="*/ 162 h 558"/>
                <a:gd name="T70" fmla="*/ 330 w 570"/>
                <a:gd name="T71" fmla="*/ 148 h 558"/>
                <a:gd name="T72" fmla="*/ 304 w 570"/>
                <a:gd name="T73" fmla="*/ 146 h 558"/>
                <a:gd name="T74" fmla="*/ 286 w 570"/>
                <a:gd name="T75" fmla="*/ 152 h 558"/>
                <a:gd name="T76" fmla="*/ 278 w 570"/>
                <a:gd name="T77" fmla="*/ 156 h 558"/>
                <a:gd name="T78" fmla="*/ 198 w 570"/>
                <a:gd name="T79" fmla="*/ 198 h 558"/>
                <a:gd name="T80" fmla="*/ 178 w 570"/>
                <a:gd name="T81" fmla="*/ 206 h 558"/>
                <a:gd name="T82" fmla="*/ 138 w 570"/>
                <a:gd name="T83" fmla="*/ 208 h 558"/>
                <a:gd name="T84" fmla="*/ 106 w 570"/>
                <a:gd name="T85" fmla="*/ 198 h 558"/>
                <a:gd name="T86" fmla="*/ 84 w 570"/>
                <a:gd name="T87" fmla="*/ 188 h 558"/>
                <a:gd name="T88" fmla="*/ 78 w 570"/>
                <a:gd name="T89" fmla="*/ 182 h 558"/>
                <a:gd name="T90" fmla="*/ 64 w 570"/>
                <a:gd name="T91" fmla="*/ 164 h 558"/>
                <a:gd name="T92" fmla="*/ 60 w 570"/>
                <a:gd name="T93" fmla="*/ 148 h 558"/>
                <a:gd name="T94" fmla="*/ 62 w 570"/>
                <a:gd name="T95" fmla="*/ 136 h 558"/>
                <a:gd name="T96" fmla="*/ 70 w 570"/>
                <a:gd name="T97" fmla="*/ 122 h 558"/>
                <a:gd name="T98" fmla="*/ 78 w 570"/>
                <a:gd name="T99" fmla="*/ 116 h 558"/>
                <a:gd name="T100" fmla="*/ 164 w 570"/>
                <a:gd name="T101" fmla="*/ 48 h 558"/>
                <a:gd name="T102" fmla="*/ 188 w 570"/>
                <a:gd name="T103" fmla="*/ 26 h 558"/>
                <a:gd name="T104" fmla="*/ 206 w 570"/>
                <a:gd name="T105" fmla="*/ 8 h 558"/>
                <a:gd name="T106" fmla="*/ 204 w 570"/>
                <a:gd name="T107" fmla="*/ 0 h 558"/>
                <a:gd name="T108" fmla="*/ 192 w 570"/>
                <a:gd name="T109" fmla="*/ 2 h 558"/>
                <a:gd name="T110" fmla="*/ 172 w 570"/>
                <a:gd name="T111" fmla="*/ 10 h 558"/>
                <a:gd name="T112" fmla="*/ 114 w 570"/>
                <a:gd name="T113" fmla="*/ 52 h 558"/>
                <a:gd name="T114" fmla="*/ 64 w 570"/>
                <a:gd name="T115" fmla="*/ 88 h 558"/>
                <a:gd name="T116" fmla="*/ 54 w 570"/>
                <a:gd name="T117" fmla="*/ 92 h 558"/>
                <a:gd name="T118" fmla="*/ 8 w 570"/>
                <a:gd name="T119" fmla="*/ 98 h 558"/>
                <a:gd name="T120" fmla="*/ 0 w 570"/>
                <a:gd name="T121" fmla="*/ 9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0" h="558">
                  <a:moveTo>
                    <a:pt x="0" y="98"/>
                  </a:moveTo>
                  <a:lnTo>
                    <a:pt x="0" y="370"/>
                  </a:lnTo>
                  <a:lnTo>
                    <a:pt x="0" y="370"/>
                  </a:lnTo>
                  <a:lnTo>
                    <a:pt x="44" y="370"/>
                  </a:lnTo>
                  <a:lnTo>
                    <a:pt x="44" y="370"/>
                  </a:lnTo>
                  <a:lnTo>
                    <a:pt x="48" y="372"/>
                  </a:lnTo>
                  <a:lnTo>
                    <a:pt x="54" y="378"/>
                  </a:lnTo>
                  <a:lnTo>
                    <a:pt x="72" y="396"/>
                  </a:lnTo>
                  <a:lnTo>
                    <a:pt x="120" y="456"/>
                  </a:lnTo>
                  <a:lnTo>
                    <a:pt x="150" y="488"/>
                  </a:lnTo>
                  <a:lnTo>
                    <a:pt x="180" y="518"/>
                  </a:lnTo>
                  <a:lnTo>
                    <a:pt x="196" y="530"/>
                  </a:lnTo>
                  <a:lnTo>
                    <a:pt x="212" y="540"/>
                  </a:lnTo>
                  <a:lnTo>
                    <a:pt x="226" y="548"/>
                  </a:lnTo>
                  <a:lnTo>
                    <a:pt x="240" y="554"/>
                  </a:lnTo>
                  <a:lnTo>
                    <a:pt x="240" y="554"/>
                  </a:lnTo>
                  <a:lnTo>
                    <a:pt x="264" y="558"/>
                  </a:lnTo>
                  <a:lnTo>
                    <a:pt x="282" y="558"/>
                  </a:lnTo>
                  <a:lnTo>
                    <a:pt x="294" y="554"/>
                  </a:lnTo>
                  <a:lnTo>
                    <a:pt x="302" y="550"/>
                  </a:lnTo>
                  <a:lnTo>
                    <a:pt x="306" y="544"/>
                  </a:lnTo>
                  <a:lnTo>
                    <a:pt x="308" y="540"/>
                  </a:lnTo>
                  <a:lnTo>
                    <a:pt x="308" y="534"/>
                  </a:lnTo>
                  <a:lnTo>
                    <a:pt x="308" y="534"/>
                  </a:lnTo>
                  <a:lnTo>
                    <a:pt x="314" y="538"/>
                  </a:lnTo>
                  <a:lnTo>
                    <a:pt x="330" y="544"/>
                  </a:lnTo>
                  <a:lnTo>
                    <a:pt x="354" y="550"/>
                  </a:lnTo>
                  <a:lnTo>
                    <a:pt x="366" y="552"/>
                  </a:lnTo>
                  <a:lnTo>
                    <a:pt x="380" y="554"/>
                  </a:lnTo>
                  <a:lnTo>
                    <a:pt x="380" y="554"/>
                  </a:lnTo>
                  <a:lnTo>
                    <a:pt x="388" y="552"/>
                  </a:lnTo>
                  <a:lnTo>
                    <a:pt x="392" y="552"/>
                  </a:lnTo>
                  <a:lnTo>
                    <a:pt x="400" y="546"/>
                  </a:lnTo>
                  <a:lnTo>
                    <a:pt x="404" y="538"/>
                  </a:lnTo>
                  <a:lnTo>
                    <a:pt x="406" y="530"/>
                  </a:lnTo>
                  <a:lnTo>
                    <a:pt x="406" y="520"/>
                  </a:lnTo>
                  <a:lnTo>
                    <a:pt x="404" y="512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8" y="510"/>
                  </a:lnTo>
                  <a:lnTo>
                    <a:pt x="426" y="518"/>
                  </a:lnTo>
                  <a:lnTo>
                    <a:pt x="436" y="522"/>
                  </a:lnTo>
                  <a:lnTo>
                    <a:pt x="448" y="524"/>
                  </a:lnTo>
                  <a:lnTo>
                    <a:pt x="460" y="526"/>
                  </a:lnTo>
                  <a:lnTo>
                    <a:pt x="472" y="524"/>
                  </a:lnTo>
                  <a:lnTo>
                    <a:pt x="472" y="524"/>
                  </a:lnTo>
                  <a:lnTo>
                    <a:pt x="484" y="520"/>
                  </a:lnTo>
                  <a:lnTo>
                    <a:pt x="490" y="514"/>
                  </a:lnTo>
                  <a:lnTo>
                    <a:pt x="496" y="506"/>
                  </a:lnTo>
                  <a:lnTo>
                    <a:pt x="500" y="498"/>
                  </a:lnTo>
                  <a:lnTo>
                    <a:pt x="502" y="484"/>
                  </a:lnTo>
                  <a:lnTo>
                    <a:pt x="502" y="478"/>
                  </a:lnTo>
                  <a:lnTo>
                    <a:pt x="546" y="476"/>
                  </a:lnTo>
                  <a:lnTo>
                    <a:pt x="546" y="476"/>
                  </a:lnTo>
                  <a:lnTo>
                    <a:pt x="552" y="472"/>
                  </a:lnTo>
                  <a:lnTo>
                    <a:pt x="560" y="468"/>
                  </a:lnTo>
                  <a:lnTo>
                    <a:pt x="566" y="462"/>
                  </a:lnTo>
                  <a:lnTo>
                    <a:pt x="570" y="452"/>
                  </a:lnTo>
                  <a:lnTo>
                    <a:pt x="570" y="440"/>
                  </a:lnTo>
                  <a:lnTo>
                    <a:pt x="570" y="434"/>
                  </a:lnTo>
                  <a:lnTo>
                    <a:pt x="566" y="426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38" y="384"/>
                  </a:lnTo>
                  <a:lnTo>
                    <a:pt x="514" y="354"/>
                  </a:lnTo>
                  <a:lnTo>
                    <a:pt x="456" y="286"/>
                  </a:lnTo>
                  <a:lnTo>
                    <a:pt x="398" y="218"/>
                  </a:lnTo>
                  <a:lnTo>
                    <a:pt x="356" y="170"/>
                  </a:lnTo>
                  <a:lnTo>
                    <a:pt x="356" y="170"/>
                  </a:lnTo>
                  <a:lnTo>
                    <a:pt x="350" y="162"/>
                  </a:lnTo>
                  <a:lnTo>
                    <a:pt x="344" y="156"/>
                  </a:lnTo>
                  <a:lnTo>
                    <a:pt x="330" y="148"/>
                  </a:lnTo>
                  <a:lnTo>
                    <a:pt x="316" y="146"/>
                  </a:lnTo>
                  <a:lnTo>
                    <a:pt x="304" y="146"/>
                  </a:lnTo>
                  <a:lnTo>
                    <a:pt x="294" y="148"/>
                  </a:lnTo>
                  <a:lnTo>
                    <a:pt x="286" y="152"/>
                  </a:lnTo>
                  <a:lnTo>
                    <a:pt x="278" y="156"/>
                  </a:lnTo>
                  <a:lnTo>
                    <a:pt x="278" y="156"/>
                  </a:lnTo>
                  <a:lnTo>
                    <a:pt x="198" y="198"/>
                  </a:lnTo>
                  <a:lnTo>
                    <a:pt x="198" y="198"/>
                  </a:lnTo>
                  <a:lnTo>
                    <a:pt x="188" y="204"/>
                  </a:lnTo>
                  <a:lnTo>
                    <a:pt x="178" y="206"/>
                  </a:lnTo>
                  <a:lnTo>
                    <a:pt x="158" y="208"/>
                  </a:lnTo>
                  <a:lnTo>
                    <a:pt x="138" y="208"/>
                  </a:lnTo>
                  <a:lnTo>
                    <a:pt x="122" y="204"/>
                  </a:lnTo>
                  <a:lnTo>
                    <a:pt x="106" y="198"/>
                  </a:lnTo>
                  <a:lnTo>
                    <a:pt x="94" y="194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78" y="182"/>
                  </a:lnTo>
                  <a:lnTo>
                    <a:pt x="70" y="174"/>
                  </a:lnTo>
                  <a:lnTo>
                    <a:pt x="64" y="164"/>
                  </a:lnTo>
                  <a:lnTo>
                    <a:pt x="60" y="154"/>
                  </a:lnTo>
                  <a:lnTo>
                    <a:pt x="60" y="148"/>
                  </a:lnTo>
                  <a:lnTo>
                    <a:pt x="60" y="142"/>
                  </a:lnTo>
                  <a:lnTo>
                    <a:pt x="62" y="136"/>
                  </a:lnTo>
                  <a:lnTo>
                    <a:pt x="66" y="130"/>
                  </a:lnTo>
                  <a:lnTo>
                    <a:pt x="70" y="122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138" y="70"/>
                  </a:lnTo>
                  <a:lnTo>
                    <a:pt x="164" y="48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200" y="16"/>
                  </a:lnTo>
                  <a:lnTo>
                    <a:pt x="206" y="8"/>
                  </a:lnTo>
                  <a:lnTo>
                    <a:pt x="208" y="4"/>
                  </a:lnTo>
                  <a:lnTo>
                    <a:pt x="204" y="0"/>
                  </a:lnTo>
                  <a:lnTo>
                    <a:pt x="200" y="0"/>
                  </a:lnTo>
                  <a:lnTo>
                    <a:pt x="192" y="2"/>
                  </a:lnTo>
                  <a:lnTo>
                    <a:pt x="172" y="10"/>
                  </a:lnTo>
                  <a:lnTo>
                    <a:pt x="172" y="10"/>
                  </a:lnTo>
                  <a:lnTo>
                    <a:pt x="150" y="26"/>
                  </a:lnTo>
                  <a:lnTo>
                    <a:pt x="114" y="52"/>
                  </a:lnTo>
                  <a:lnTo>
                    <a:pt x="78" y="78"/>
                  </a:lnTo>
                  <a:lnTo>
                    <a:pt x="64" y="88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24" y="96"/>
                  </a:lnTo>
                  <a:lnTo>
                    <a:pt x="8" y="98"/>
                  </a:ln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3" name="Freeform 7"/>
            <p:cNvSpPr>
              <a:spLocks noEditPoints="1"/>
            </p:cNvSpPr>
            <p:nvPr/>
          </p:nvSpPr>
          <p:spPr bwMode="auto">
            <a:xfrm>
              <a:off x="8772525" y="1327150"/>
              <a:ext cx="250825" cy="762000"/>
            </a:xfrm>
            <a:custGeom>
              <a:avLst/>
              <a:gdLst>
                <a:gd name="T0" fmla="*/ 0 w 158"/>
                <a:gd name="T1" fmla="*/ 0 h 480"/>
                <a:gd name="T2" fmla="*/ 0 w 158"/>
                <a:gd name="T3" fmla="*/ 480 h 480"/>
                <a:gd name="T4" fmla="*/ 158 w 158"/>
                <a:gd name="T5" fmla="*/ 480 h 480"/>
                <a:gd name="T6" fmla="*/ 158 w 158"/>
                <a:gd name="T7" fmla="*/ 0 h 480"/>
                <a:gd name="T8" fmla="*/ 0 w 158"/>
                <a:gd name="T9" fmla="*/ 0 h 480"/>
                <a:gd name="T10" fmla="*/ 78 w 158"/>
                <a:gd name="T11" fmla="*/ 446 h 480"/>
                <a:gd name="T12" fmla="*/ 78 w 158"/>
                <a:gd name="T13" fmla="*/ 446 h 480"/>
                <a:gd name="T14" fmla="*/ 68 w 158"/>
                <a:gd name="T15" fmla="*/ 444 h 480"/>
                <a:gd name="T16" fmla="*/ 60 w 158"/>
                <a:gd name="T17" fmla="*/ 438 h 480"/>
                <a:gd name="T18" fmla="*/ 54 w 158"/>
                <a:gd name="T19" fmla="*/ 430 h 480"/>
                <a:gd name="T20" fmla="*/ 52 w 158"/>
                <a:gd name="T21" fmla="*/ 420 h 480"/>
                <a:gd name="T22" fmla="*/ 52 w 158"/>
                <a:gd name="T23" fmla="*/ 420 h 480"/>
                <a:gd name="T24" fmla="*/ 54 w 158"/>
                <a:gd name="T25" fmla="*/ 410 h 480"/>
                <a:gd name="T26" fmla="*/ 60 w 158"/>
                <a:gd name="T27" fmla="*/ 402 h 480"/>
                <a:gd name="T28" fmla="*/ 68 w 158"/>
                <a:gd name="T29" fmla="*/ 396 h 480"/>
                <a:gd name="T30" fmla="*/ 78 w 158"/>
                <a:gd name="T31" fmla="*/ 394 h 480"/>
                <a:gd name="T32" fmla="*/ 78 w 158"/>
                <a:gd name="T33" fmla="*/ 394 h 480"/>
                <a:gd name="T34" fmla="*/ 88 w 158"/>
                <a:gd name="T35" fmla="*/ 396 h 480"/>
                <a:gd name="T36" fmla="*/ 96 w 158"/>
                <a:gd name="T37" fmla="*/ 402 h 480"/>
                <a:gd name="T38" fmla="*/ 102 w 158"/>
                <a:gd name="T39" fmla="*/ 410 h 480"/>
                <a:gd name="T40" fmla="*/ 104 w 158"/>
                <a:gd name="T41" fmla="*/ 420 h 480"/>
                <a:gd name="T42" fmla="*/ 104 w 158"/>
                <a:gd name="T43" fmla="*/ 420 h 480"/>
                <a:gd name="T44" fmla="*/ 102 w 158"/>
                <a:gd name="T45" fmla="*/ 430 h 480"/>
                <a:gd name="T46" fmla="*/ 96 w 158"/>
                <a:gd name="T47" fmla="*/ 438 h 480"/>
                <a:gd name="T48" fmla="*/ 88 w 158"/>
                <a:gd name="T49" fmla="*/ 444 h 480"/>
                <a:gd name="T50" fmla="*/ 78 w 158"/>
                <a:gd name="T51" fmla="*/ 446 h 480"/>
                <a:gd name="T52" fmla="*/ 78 w 158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8" h="480">
                  <a:moveTo>
                    <a:pt x="0" y="0"/>
                  </a:moveTo>
                  <a:lnTo>
                    <a:pt x="0" y="480"/>
                  </a:lnTo>
                  <a:lnTo>
                    <a:pt x="158" y="480"/>
                  </a:lnTo>
                  <a:lnTo>
                    <a:pt x="158" y="0"/>
                  </a:lnTo>
                  <a:lnTo>
                    <a:pt x="0" y="0"/>
                  </a:lnTo>
                  <a:close/>
                  <a:moveTo>
                    <a:pt x="78" y="446"/>
                  </a:moveTo>
                  <a:lnTo>
                    <a:pt x="78" y="446"/>
                  </a:lnTo>
                  <a:lnTo>
                    <a:pt x="68" y="444"/>
                  </a:lnTo>
                  <a:lnTo>
                    <a:pt x="60" y="438"/>
                  </a:lnTo>
                  <a:lnTo>
                    <a:pt x="54" y="430"/>
                  </a:lnTo>
                  <a:lnTo>
                    <a:pt x="52" y="420"/>
                  </a:lnTo>
                  <a:lnTo>
                    <a:pt x="52" y="420"/>
                  </a:lnTo>
                  <a:lnTo>
                    <a:pt x="54" y="410"/>
                  </a:lnTo>
                  <a:lnTo>
                    <a:pt x="60" y="402"/>
                  </a:lnTo>
                  <a:lnTo>
                    <a:pt x="68" y="396"/>
                  </a:lnTo>
                  <a:lnTo>
                    <a:pt x="78" y="394"/>
                  </a:lnTo>
                  <a:lnTo>
                    <a:pt x="78" y="394"/>
                  </a:lnTo>
                  <a:lnTo>
                    <a:pt x="88" y="396"/>
                  </a:lnTo>
                  <a:lnTo>
                    <a:pt x="96" y="402"/>
                  </a:lnTo>
                  <a:lnTo>
                    <a:pt x="102" y="410"/>
                  </a:lnTo>
                  <a:lnTo>
                    <a:pt x="104" y="420"/>
                  </a:lnTo>
                  <a:lnTo>
                    <a:pt x="104" y="420"/>
                  </a:lnTo>
                  <a:lnTo>
                    <a:pt x="102" y="430"/>
                  </a:lnTo>
                  <a:lnTo>
                    <a:pt x="96" y="438"/>
                  </a:lnTo>
                  <a:lnTo>
                    <a:pt x="88" y="444"/>
                  </a:lnTo>
                  <a:lnTo>
                    <a:pt x="78" y="446"/>
                  </a:lnTo>
                  <a:lnTo>
                    <a:pt x="78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7391400" y="1327150"/>
              <a:ext cx="254000" cy="762000"/>
            </a:xfrm>
            <a:custGeom>
              <a:avLst/>
              <a:gdLst>
                <a:gd name="T0" fmla="*/ 0 w 160"/>
                <a:gd name="T1" fmla="*/ 0 h 480"/>
                <a:gd name="T2" fmla="*/ 0 w 160"/>
                <a:gd name="T3" fmla="*/ 480 h 480"/>
                <a:gd name="T4" fmla="*/ 160 w 160"/>
                <a:gd name="T5" fmla="*/ 480 h 480"/>
                <a:gd name="T6" fmla="*/ 160 w 160"/>
                <a:gd name="T7" fmla="*/ 0 h 480"/>
                <a:gd name="T8" fmla="*/ 0 w 160"/>
                <a:gd name="T9" fmla="*/ 0 h 480"/>
                <a:gd name="T10" fmla="*/ 80 w 160"/>
                <a:gd name="T11" fmla="*/ 446 h 480"/>
                <a:gd name="T12" fmla="*/ 80 w 160"/>
                <a:gd name="T13" fmla="*/ 446 h 480"/>
                <a:gd name="T14" fmla="*/ 70 w 160"/>
                <a:gd name="T15" fmla="*/ 444 h 480"/>
                <a:gd name="T16" fmla="*/ 62 w 160"/>
                <a:gd name="T17" fmla="*/ 438 h 480"/>
                <a:gd name="T18" fmla="*/ 56 w 160"/>
                <a:gd name="T19" fmla="*/ 430 h 480"/>
                <a:gd name="T20" fmla="*/ 54 w 160"/>
                <a:gd name="T21" fmla="*/ 420 h 480"/>
                <a:gd name="T22" fmla="*/ 54 w 160"/>
                <a:gd name="T23" fmla="*/ 420 h 480"/>
                <a:gd name="T24" fmla="*/ 56 w 160"/>
                <a:gd name="T25" fmla="*/ 410 h 480"/>
                <a:gd name="T26" fmla="*/ 62 w 160"/>
                <a:gd name="T27" fmla="*/ 402 h 480"/>
                <a:gd name="T28" fmla="*/ 70 w 160"/>
                <a:gd name="T29" fmla="*/ 396 h 480"/>
                <a:gd name="T30" fmla="*/ 80 w 160"/>
                <a:gd name="T31" fmla="*/ 394 h 480"/>
                <a:gd name="T32" fmla="*/ 80 w 160"/>
                <a:gd name="T33" fmla="*/ 394 h 480"/>
                <a:gd name="T34" fmla="*/ 90 w 160"/>
                <a:gd name="T35" fmla="*/ 396 h 480"/>
                <a:gd name="T36" fmla="*/ 98 w 160"/>
                <a:gd name="T37" fmla="*/ 402 h 480"/>
                <a:gd name="T38" fmla="*/ 104 w 160"/>
                <a:gd name="T39" fmla="*/ 410 h 480"/>
                <a:gd name="T40" fmla="*/ 106 w 160"/>
                <a:gd name="T41" fmla="*/ 420 h 480"/>
                <a:gd name="T42" fmla="*/ 106 w 160"/>
                <a:gd name="T43" fmla="*/ 420 h 480"/>
                <a:gd name="T44" fmla="*/ 104 w 160"/>
                <a:gd name="T45" fmla="*/ 430 h 480"/>
                <a:gd name="T46" fmla="*/ 98 w 160"/>
                <a:gd name="T47" fmla="*/ 438 h 480"/>
                <a:gd name="T48" fmla="*/ 90 w 160"/>
                <a:gd name="T49" fmla="*/ 444 h 480"/>
                <a:gd name="T50" fmla="*/ 80 w 160"/>
                <a:gd name="T51" fmla="*/ 446 h 480"/>
                <a:gd name="T52" fmla="*/ 80 w 160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0" h="480">
                  <a:moveTo>
                    <a:pt x="0" y="0"/>
                  </a:moveTo>
                  <a:lnTo>
                    <a:pt x="0" y="480"/>
                  </a:lnTo>
                  <a:lnTo>
                    <a:pt x="160" y="480"/>
                  </a:lnTo>
                  <a:lnTo>
                    <a:pt x="160" y="0"/>
                  </a:lnTo>
                  <a:lnTo>
                    <a:pt x="0" y="0"/>
                  </a:lnTo>
                  <a:close/>
                  <a:moveTo>
                    <a:pt x="80" y="446"/>
                  </a:moveTo>
                  <a:lnTo>
                    <a:pt x="80" y="446"/>
                  </a:lnTo>
                  <a:lnTo>
                    <a:pt x="70" y="444"/>
                  </a:lnTo>
                  <a:lnTo>
                    <a:pt x="62" y="438"/>
                  </a:lnTo>
                  <a:lnTo>
                    <a:pt x="56" y="430"/>
                  </a:lnTo>
                  <a:lnTo>
                    <a:pt x="54" y="420"/>
                  </a:lnTo>
                  <a:lnTo>
                    <a:pt x="54" y="420"/>
                  </a:lnTo>
                  <a:lnTo>
                    <a:pt x="56" y="410"/>
                  </a:lnTo>
                  <a:lnTo>
                    <a:pt x="62" y="402"/>
                  </a:lnTo>
                  <a:lnTo>
                    <a:pt x="70" y="396"/>
                  </a:lnTo>
                  <a:lnTo>
                    <a:pt x="80" y="394"/>
                  </a:lnTo>
                  <a:lnTo>
                    <a:pt x="80" y="394"/>
                  </a:lnTo>
                  <a:lnTo>
                    <a:pt x="90" y="396"/>
                  </a:lnTo>
                  <a:lnTo>
                    <a:pt x="98" y="402"/>
                  </a:lnTo>
                  <a:lnTo>
                    <a:pt x="104" y="410"/>
                  </a:lnTo>
                  <a:lnTo>
                    <a:pt x="106" y="420"/>
                  </a:lnTo>
                  <a:lnTo>
                    <a:pt x="106" y="420"/>
                  </a:lnTo>
                  <a:lnTo>
                    <a:pt x="104" y="430"/>
                  </a:lnTo>
                  <a:lnTo>
                    <a:pt x="98" y="438"/>
                  </a:lnTo>
                  <a:lnTo>
                    <a:pt x="90" y="444"/>
                  </a:lnTo>
                  <a:lnTo>
                    <a:pt x="80" y="446"/>
                  </a:lnTo>
                  <a:lnTo>
                    <a:pt x="80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67" name="Freeform 214"/>
          <p:cNvSpPr>
            <a:spLocks/>
          </p:cNvSpPr>
          <p:nvPr/>
        </p:nvSpPr>
        <p:spPr bwMode="auto">
          <a:xfrm>
            <a:off x="4332532" y="4322621"/>
            <a:ext cx="1020152" cy="361262"/>
          </a:xfrm>
          <a:custGeom>
            <a:avLst/>
            <a:gdLst>
              <a:gd name="T0" fmla="*/ 466 w 472"/>
              <a:gd name="T1" fmla="*/ 78 h 218"/>
              <a:gd name="T2" fmla="*/ 246 w 472"/>
              <a:gd name="T3" fmla="*/ 2 h 218"/>
              <a:gd name="T4" fmla="*/ 246 w 472"/>
              <a:gd name="T5" fmla="*/ 2 h 218"/>
              <a:gd name="T6" fmla="*/ 236 w 472"/>
              <a:gd name="T7" fmla="*/ 0 h 218"/>
              <a:gd name="T8" fmla="*/ 226 w 472"/>
              <a:gd name="T9" fmla="*/ 2 h 218"/>
              <a:gd name="T10" fmla="*/ 4 w 472"/>
              <a:gd name="T11" fmla="*/ 80 h 218"/>
              <a:gd name="T12" fmla="*/ 4 w 472"/>
              <a:gd name="T13" fmla="*/ 80 h 218"/>
              <a:gd name="T14" fmla="*/ 2 w 472"/>
              <a:gd name="T15" fmla="*/ 82 h 218"/>
              <a:gd name="T16" fmla="*/ 0 w 472"/>
              <a:gd name="T17" fmla="*/ 84 h 218"/>
              <a:gd name="T18" fmla="*/ 2 w 472"/>
              <a:gd name="T19" fmla="*/ 84 h 218"/>
              <a:gd name="T20" fmla="*/ 4 w 472"/>
              <a:gd name="T21" fmla="*/ 86 h 218"/>
              <a:gd name="T22" fmla="*/ 96 w 472"/>
              <a:gd name="T23" fmla="*/ 118 h 218"/>
              <a:gd name="T24" fmla="*/ 96 w 472"/>
              <a:gd name="T25" fmla="*/ 184 h 218"/>
              <a:gd name="T26" fmla="*/ 96 w 472"/>
              <a:gd name="T27" fmla="*/ 184 h 218"/>
              <a:gd name="T28" fmla="*/ 108 w 472"/>
              <a:gd name="T29" fmla="*/ 178 h 218"/>
              <a:gd name="T30" fmla="*/ 126 w 472"/>
              <a:gd name="T31" fmla="*/ 178 h 218"/>
              <a:gd name="T32" fmla="*/ 146 w 472"/>
              <a:gd name="T33" fmla="*/ 178 h 218"/>
              <a:gd name="T34" fmla="*/ 168 w 472"/>
              <a:gd name="T35" fmla="*/ 184 h 218"/>
              <a:gd name="T36" fmla="*/ 168 w 472"/>
              <a:gd name="T37" fmla="*/ 184 h 218"/>
              <a:gd name="T38" fmla="*/ 188 w 472"/>
              <a:gd name="T39" fmla="*/ 190 h 218"/>
              <a:gd name="T40" fmla="*/ 206 w 472"/>
              <a:gd name="T41" fmla="*/ 198 h 218"/>
              <a:gd name="T42" fmla="*/ 220 w 472"/>
              <a:gd name="T43" fmla="*/ 208 h 218"/>
              <a:gd name="T44" fmla="*/ 230 w 472"/>
              <a:gd name="T45" fmla="*/ 218 h 218"/>
              <a:gd name="T46" fmla="*/ 230 w 472"/>
              <a:gd name="T47" fmla="*/ 218 h 218"/>
              <a:gd name="T48" fmla="*/ 238 w 472"/>
              <a:gd name="T49" fmla="*/ 218 h 218"/>
              <a:gd name="T50" fmla="*/ 238 w 472"/>
              <a:gd name="T51" fmla="*/ 218 h 218"/>
              <a:gd name="T52" fmla="*/ 248 w 472"/>
              <a:gd name="T53" fmla="*/ 208 h 218"/>
              <a:gd name="T54" fmla="*/ 262 w 472"/>
              <a:gd name="T55" fmla="*/ 198 h 218"/>
              <a:gd name="T56" fmla="*/ 278 w 472"/>
              <a:gd name="T57" fmla="*/ 190 h 218"/>
              <a:gd name="T58" fmla="*/ 300 w 472"/>
              <a:gd name="T59" fmla="*/ 184 h 218"/>
              <a:gd name="T60" fmla="*/ 300 w 472"/>
              <a:gd name="T61" fmla="*/ 184 h 218"/>
              <a:gd name="T62" fmla="*/ 318 w 472"/>
              <a:gd name="T63" fmla="*/ 180 h 218"/>
              <a:gd name="T64" fmla="*/ 336 w 472"/>
              <a:gd name="T65" fmla="*/ 178 h 218"/>
              <a:gd name="T66" fmla="*/ 352 w 472"/>
              <a:gd name="T67" fmla="*/ 178 h 218"/>
              <a:gd name="T68" fmla="*/ 366 w 472"/>
              <a:gd name="T69" fmla="*/ 180 h 218"/>
              <a:gd name="T70" fmla="*/ 366 w 472"/>
              <a:gd name="T71" fmla="*/ 120 h 218"/>
              <a:gd name="T72" fmla="*/ 406 w 472"/>
              <a:gd name="T73" fmla="*/ 106 h 218"/>
              <a:gd name="T74" fmla="*/ 406 w 472"/>
              <a:gd name="T75" fmla="*/ 122 h 218"/>
              <a:gd name="T76" fmla="*/ 406 w 472"/>
              <a:gd name="T77" fmla="*/ 122 h 218"/>
              <a:gd name="T78" fmla="*/ 400 w 472"/>
              <a:gd name="T79" fmla="*/ 126 h 218"/>
              <a:gd name="T80" fmla="*/ 398 w 472"/>
              <a:gd name="T81" fmla="*/ 130 h 218"/>
              <a:gd name="T82" fmla="*/ 398 w 472"/>
              <a:gd name="T83" fmla="*/ 134 h 218"/>
              <a:gd name="T84" fmla="*/ 398 w 472"/>
              <a:gd name="T85" fmla="*/ 134 h 218"/>
              <a:gd name="T86" fmla="*/ 398 w 472"/>
              <a:gd name="T87" fmla="*/ 138 h 218"/>
              <a:gd name="T88" fmla="*/ 402 w 472"/>
              <a:gd name="T89" fmla="*/ 142 h 218"/>
              <a:gd name="T90" fmla="*/ 392 w 472"/>
              <a:gd name="T91" fmla="*/ 208 h 218"/>
              <a:gd name="T92" fmla="*/ 430 w 472"/>
              <a:gd name="T93" fmla="*/ 208 h 218"/>
              <a:gd name="T94" fmla="*/ 418 w 472"/>
              <a:gd name="T95" fmla="*/ 144 h 218"/>
              <a:gd name="T96" fmla="*/ 418 w 472"/>
              <a:gd name="T97" fmla="*/ 144 h 218"/>
              <a:gd name="T98" fmla="*/ 422 w 472"/>
              <a:gd name="T99" fmla="*/ 140 h 218"/>
              <a:gd name="T100" fmla="*/ 424 w 472"/>
              <a:gd name="T101" fmla="*/ 134 h 218"/>
              <a:gd name="T102" fmla="*/ 424 w 472"/>
              <a:gd name="T103" fmla="*/ 134 h 218"/>
              <a:gd name="T104" fmla="*/ 422 w 472"/>
              <a:gd name="T105" fmla="*/ 130 h 218"/>
              <a:gd name="T106" fmla="*/ 420 w 472"/>
              <a:gd name="T107" fmla="*/ 126 h 218"/>
              <a:gd name="T108" fmla="*/ 416 w 472"/>
              <a:gd name="T109" fmla="*/ 122 h 218"/>
              <a:gd name="T110" fmla="*/ 416 w 472"/>
              <a:gd name="T111" fmla="*/ 102 h 218"/>
              <a:gd name="T112" fmla="*/ 466 w 472"/>
              <a:gd name="T113" fmla="*/ 84 h 218"/>
              <a:gd name="T114" fmla="*/ 466 w 472"/>
              <a:gd name="T115" fmla="*/ 84 h 218"/>
              <a:gd name="T116" fmla="*/ 470 w 472"/>
              <a:gd name="T117" fmla="*/ 82 h 218"/>
              <a:gd name="T118" fmla="*/ 472 w 472"/>
              <a:gd name="T119" fmla="*/ 82 h 218"/>
              <a:gd name="T120" fmla="*/ 470 w 472"/>
              <a:gd name="T121" fmla="*/ 80 h 218"/>
              <a:gd name="T122" fmla="*/ 466 w 472"/>
              <a:gd name="T123" fmla="*/ 78 h 218"/>
              <a:gd name="T124" fmla="*/ 466 w 472"/>
              <a:gd name="T125" fmla="*/ 7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2" h="218">
                <a:moveTo>
                  <a:pt x="466" y="78"/>
                </a:moveTo>
                <a:lnTo>
                  <a:pt x="246" y="2"/>
                </a:lnTo>
                <a:lnTo>
                  <a:pt x="246" y="2"/>
                </a:lnTo>
                <a:lnTo>
                  <a:pt x="236" y="0"/>
                </a:lnTo>
                <a:lnTo>
                  <a:pt x="226" y="2"/>
                </a:lnTo>
                <a:lnTo>
                  <a:pt x="4" y="80"/>
                </a:lnTo>
                <a:lnTo>
                  <a:pt x="4" y="80"/>
                </a:lnTo>
                <a:lnTo>
                  <a:pt x="2" y="82"/>
                </a:lnTo>
                <a:lnTo>
                  <a:pt x="0" y="84"/>
                </a:lnTo>
                <a:lnTo>
                  <a:pt x="2" y="84"/>
                </a:lnTo>
                <a:lnTo>
                  <a:pt x="4" y="86"/>
                </a:lnTo>
                <a:lnTo>
                  <a:pt x="96" y="118"/>
                </a:lnTo>
                <a:lnTo>
                  <a:pt x="96" y="184"/>
                </a:lnTo>
                <a:lnTo>
                  <a:pt x="96" y="184"/>
                </a:lnTo>
                <a:lnTo>
                  <a:pt x="108" y="178"/>
                </a:lnTo>
                <a:lnTo>
                  <a:pt x="126" y="178"/>
                </a:lnTo>
                <a:lnTo>
                  <a:pt x="146" y="178"/>
                </a:lnTo>
                <a:lnTo>
                  <a:pt x="168" y="184"/>
                </a:lnTo>
                <a:lnTo>
                  <a:pt x="168" y="184"/>
                </a:lnTo>
                <a:lnTo>
                  <a:pt x="188" y="190"/>
                </a:lnTo>
                <a:lnTo>
                  <a:pt x="206" y="198"/>
                </a:lnTo>
                <a:lnTo>
                  <a:pt x="220" y="208"/>
                </a:lnTo>
                <a:lnTo>
                  <a:pt x="230" y="218"/>
                </a:lnTo>
                <a:lnTo>
                  <a:pt x="230" y="218"/>
                </a:lnTo>
                <a:lnTo>
                  <a:pt x="238" y="218"/>
                </a:lnTo>
                <a:lnTo>
                  <a:pt x="238" y="218"/>
                </a:lnTo>
                <a:lnTo>
                  <a:pt x="248" y="208"/>
                </a:lnTo>
                <a:lnTo>
                  <a:pt x="262" y="198"/>
                </a:lnTo>
                <a:lnTo>
                  <a:pt x="278" y="190"/>
                </a:lnTo>
                <a:lnTo>
                  <a:pt x="300" y="184"/>
                </a:lnTo>
                <a:lnTo>
                  <a:pt x="300" y="184"/>
                </a:lnTo>
                <a:lnTo>
                  <a:pt x="318" y="180"/>
                </a:lnTo>
                <a:lnTo>
                  <a:pt x="336" y="178"/>
                </a:lnTo>
                <a:lnTo>
                  <a:pt x="352" y="178"/>
                </a:lnTo>
                <a:lnTo>
                  <a:pt x="366" y="180"/>
                </a:lnTo>
                <a:lnTo>
                  <a:pt x="366" y="120"/>
                </a:lnTo>
                <a:lnTo>
                  <a:pt x="406" y="106"/>
                </a:lnTo>
                <a:lnTo>
                  <a:pt x="406" y="122"/>
                </a:lnTo>
                <a:lnTo>
                  <a:pt x="406" y="122"/>
                </a:lnTo>
                <a:lnTo>
                  <a:pt x="400" y="126"/>
                </a:lnTo>
                <a:lnTo>
                  <a:pt x="398" y="130"/>
                </a:lnTo>
                <a:lnTo>
                  <a:pt x="398" y="134"/>
                </a:lnTo>
                <a:lnTo>
                  <a:pt x="398" y="134"/>
                </a:lnTo>
                <a:lnTo>
                  <a:pt x="398" y="138"/>
                </a:lnTo>
                <a:lnTo>
                  <a:pt x="402" y="142"/>
                </a:lnTo>
                <a:lnTo>
                  <a:pt x="392" y="208"/>
                </a:lnTo>
                <a:lnTo>
                  <a:pt x="430" y="208"/>
                </a:lnTo>
                <a:lnTo>
                  <a:pt x="418" y="144"/>
                </a:lnTo>
                <a:lnTo>
                  <a:pt x="418" y="144"/>
                </a:lnTo>
                <a:lnTo>
                  <a:pt x="422" y="140"/>
                </a:lnTo>
                <a:lnTo>
                  <a:pt x="424" y="134"/>
                </a:lnTo>
                <a:lnTo>
                  <a:pt x="424" y="134"/>
                </a:lnTo>
                <a:lnTo>
                  <a:pt x="422" y="130"/>
                </a:lnTo>
                <a:lnTo>
                  <a:pt x="420" y="126"/>
                </a:lnTo>
                <a:lnTo>
                  <a:pt x="416" y="122"/>
                </a:lnTo>
                <a:lnTo>
                  <a:pt x="416" y="102"/>
                </a:lnTo>
                <a:lnTo>
                  <a:pt x="466" y="84"/>
                </a:lnTo>
                <a:lnTo>
                  <a:pt x="466" y="84"/>
                </a:lnTo>
                <a:lnTo>
                  <a:pt x="470" y="82"/>
                </a:lnTo>
                <a:lnTo>
                  <a:pt x="472" y="82"/>
                </a:lnTo>
                <a:lnTo>
                  <a:pt x="470" y="80"/>
                </a:lnTo>
                <a:lnTo>
                  <a:pt x="466" y="78"/>
                </a:lnTo>
                <a:lnTo>
                  <a:pt x="466" y="78"/>
                </a:lnTo>
                <a:close/>
              </a:path>
            </a:pathLst>
          </a:custGeom>
          <a:solidFill>
            <a:srgbClr val="0027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rot="16200000">
            <a:off x="5145605" y="4503252"/>
            <a:ext cx="7239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170"/>
          <p:cNvSpPr>
            <a:spLocks noEditPoints="1"/>
          </p:cNvSpPr>
          <p:nvPr/>
        </p:nvSpPr>
        <p:spPr bwMode="auto">
          <a:xfrm>
            <a:off x="3559540" y="5723243"/>
            <a:ext cx="517053" cy="444862"/>
          </a:xfrm>
          <a:custGeom>
            <a:avLst/>
            <a:gdLst>
              <a:gd name="T0" fmla="*/ 190 w 262"/>
              <a:gd name="T1" fmla="*/ 104 h 294"/>
              <a:gd name="T2" fmla="*/ 198 w 262"/>
              <a:gd name="T3" fmla="*/ 92 h 294"/>
              <a:gd name="T4" fmla="*/ 214 w 262"/>
              <a:gd name="T5" fmla="*/ 66 h 294"/>
              <a:gd name="T6" fmla="*/ 224 w 262"/>
              <a:gd name="T7" fmla="*/ 34 h 294"/>
              <a:gd name="T8" fmla="*/ 222 w 262"/>
              <a:gd name="T9" fmla="*/ 18 h 294"/>
              <a:gd name="T10" fmla="*/ 214 w 262"/>
              <a:gd name="T11" fmla="*/ 2 h 294"/>
              <a:gd name="T12" fmla="*/ 212 w 262"/>
              <a:gd name="T13" fmla="*/ 0 h 294"/>
              <a:gd name="T14" fmla="*/ 204 w 262"/>
              <a:gd name="T15" fmla="*/ 4 h 294"/>
              <a:gd name="T16" fmla="*/ 164 w 262"/>
              <a:gd name="T17" fmla="*/ 52 h 294"/>
              <a:gd name="T18" fmla="*/ 138 w 262"/>
              <a:gd name="T19" fmla="*/ 76 h 294"/>
              <a:gd name="T20" fmla="*/ 118 w 262"/>
              <a:gd name="T21" fmla="*/ 90 h 294"/>
              <a:gd name="T22" fmla="*/ 82 w 262"/>
              <a:gd name="T23" fmla="*/ 116 h 294"/>
              <a:gd name="T24" fmla="*/ 68 w 262"/>
              <a:gd name="T25" fmla="*/ 132 h 294"/>
              <a:gd name="T26" fmla="*/ 66 w 262"/>
              <a:gd name="T27" fmla="*/ 250 h 294"/>
              <a:gd name="T28" fmla="*/ 66 w 262"/>
              <a:gd name="T29" fmla="*/ 254 h 294"/>
              <a:gd name="T30" fmla="*/ 78 w 262"/>
              <a:gd name="T31" fmla="*/ 266 h 294"/>
              <a:gd name="T32" fmla="*/ 114 w 262"/>
              <a:gd name="T33" fmla="*/ 280 h 294"/>
              <a:gd name="T34" fmla="*/ 158 w 262"/>
              <a:gd name="T35" fmla="*/ 290 h 294"/>
              <a:gd name="T36" fmla="*/ 206 w 262"/>
              <a:gd name="T37" fmla="*/ 294 h 294"/>
              <a:gd name="T38" fmla="*/ 210 w 262"/>
              <a:gd name="T39" fmla="*/ 292 h 294"/>
              <a:gd name="T40" fmla="*/ 224 w 262"/>
              <a:gd name="T41" fmla="*/ 272 h 294"/>
              <a:gd name="T42" fmla="*/ 242 w 262"/>
              <a:gd name="T43" fmla="*/ 220 h 294"/>
              <a:gd name="T44" fmla="*/ 260 w 262"/>
              <a:gd name="T45" fmla="*/ 144 h 294"/>
              <a:gd name="T46" fmla="*/ 262 w 262"/>
              <a:gd name="T47" fmla="*/ 132 h 294"/>
              <a:gd name="T48" fmla="*/ 258 w 262"/>
              <a:gd name="T49" fmla="*/ 124 h 294"/>
              <a:gd name="T50" fmla="*/ 240 w 262"/>
              <a:gd name="T51" fmla="*/ 114 h 294"/>
              <a:gd name="T52" fmla="*/ 202 w 262"/>
              <a:gd name="T53" fmla="*/ 108 h 294"/>
              <a:gd name="T54" fmla="*/ 190 w 262"/>
              <a:gd name="T55" fmla="*/ 104 h 294"/>
              <a:gd name="T56" fmla="*/ 50 w 262"/>
              <a:gd name="T57" fmla="*/ 106 h 294"/>
              <a:gd name="T58" fmla="*/ 36 w 262"/>
              <a:gd name="T59" fmla="*/ 108 h 294"/>
              <a:gd name="T60" fmla="*/ 20 w 262"/>
              <a:gd name="T61" fmla="*/ 114 h 294"/>
              <a:gd name="T62" fmla="*/ 6 w 262"/>
              <a:gd name="T63" fmla="*/ 130 h 294"/>
              <a:gd name="T64" fmla="*/ 0 w 262"/>
              <a:gd name="T65" fmla="*/ 156 h 294"/>
              <a:gd name="T66" fmla="*/ 0 w 262"/>
              <a:gd name="T67" fmla="*/ 236 h 294"/>
              <a:gd name="T68" fmla="*/ 6 w 262"/>
              <a:gd name="T69" fmla="*/ 262 h 294"/>
              <a:gd name="T70" fmla="*/ 20 w 262"/>
              <a:gd name="T71" fmla="*/ 276 h 294"/>
              <a:gd name="T72" fmla="*/ 36 w 262"/>
              <a:gd name="T73" fmla="*/ 284 h 294"/>
              <a:gd name="T74" fmla="*/ 50 w 262"/>
              <a:gd name="T75" fmla="*/ 284 h 294"/>
              <a:gd name="T76" fmla="*/ 52 w 262"/>
              <a:gd name="T77" fmla="*/ 282 h 294"/>
              <a:gd name="T78" fmla="*/ 40 w 262"/>
              <a:gd name="T79" fmla="*/ 272 h 294"/>
              <a:gd name="T80" fmla="*/ 34 w 262"/>
              <a:gd name="T81" fmla="*/ 258 h 294"/>
              <a:gd name="T82" fmla="*/ 32 w 262"/>
              <a:gd name="T83" fmla="*/ 144 h 294"/>
              <a:gd name="T84" fmla="*/ 34 w 262"/>
              <a:gd name="T85" fmla="*/ 134 h 294"/>
              <a:gd name="T86" fmla="*/ 40 w 262"/>
              <a:gd name="T87" fmla="*/ 118 h 294"/>
              <a:gd name="T88" fmla="*/ 52 w 262"/>
              <a:gd name="T89" fmla="*/ 108 h 294"/>
              <a:gd name="T90" fmla="*/ 50 w 262"/>
              <a:gd name="T91" fmla="*/ 106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62" h="294">
                <a:moveTo>
                  <a:pt x="190" y="104"/>
                </a:moveTo>
                <a:lnTo>
                  <a:pt x="190" y="104"/>
                </a:lnTo>
                <a:lnTo>
                  <a:pt x="192" y="100"/>
                </a:lnTo>
                <a:lnTo>
                  <a:pt x="198" y="92"/>
                </a:lnTo>
                <a:lnTo>
                  <a:pt x="206" y="80"/>
                </a:lnTo>
                <a:lnTo>
                  <a:pt x="214" y="66"/>
                </a:lnTo>
                <a:lnTo>
                  <a:pt x="220" y="52"/>
                </a:lnTo>
                <a:lnTo>
                  <a:pt x="224" y="34"/>
                </a:lnTo>
                <a:lnTo>
                  <a:pt x="224" y="26"/>
                </a:lnTo>
                <a:lnTo>
                  <a:pt x="222" y="18"/>
                </a:lnTo>
                <a:lnTo>
                  <a:pt x="218" y="10"/>
                </a:lnTo>
                <a:lnTo>
                  <a:pt x="214" y="2"/>
                </a:lnTo>
                <a:lnTo>
                  <a:pt x="214" y="2"/>
                </a:lnTo>
                <a:lnTo>
                  <a:pt x="212" y="0"/>
                </a:lnTo>
                <a:lnTo>
                  <a:pt x="210" y="0"/>
                </a:lnTo>
                <a:lnTo>
                  <a:pt x="204" y="4"/>
                </a:lnTo>
                <a:lnTo>
                  <a:pt x="188" y="24"/>
                </a:lnTo>
                <a:lnTo>
                  <a:pt x="164" y="52"/>
                </a:lnTo>
                <a:lnTo>
                  <a:pt x="152" y="64"/>
                </a:lnTo>
                <a:lnTo>
                  <a:pt x="138" y="76"/>
                </a:lnTo>
                <a:lnTo>
                  <a:pt x="138" y="76"/>
                </a:lnTo>
                <a:lnTo>
                  <a:pt x="118" y="90"/>
                </a:lnTo>
                <a:lnTo>
                  <a:pt x="94" y="106"/>
                </a:lnTo>
                <a:lnTo>
                  <a:pt x="82" y="116"/>
                </a:lnTo>
                <a:lnTo>
                  <a:pt x="74" y="124"/>
                </a:lnTo>
                <a:lnTo>
                  <a:pt x="68" y="132"/>
                </a:lnTo>
                <a:lnTo>
                  <a:pt x="66" y="140"/>
                </a:lnTo>
                <a:lnTo>
                  <a:pt x="66" y="250"/>
                </a:lnTo>
                <a:lnTo>
                  <a:pt x="66" y="250"/>
                </a:lnTo>
                <a:lnTo>
                  <a:pt x="66" y="254"/>
                </a:lnTo>
                <a:lnTo>
                  <a:pt x="68" y="258"/>
                </a:lnTo>
                <a:lnTo>
                  <a:pt x="78" y="266"/>
                </a:lnTo>
                <a:lnTo>
                  <a:pt x="94" y="274"/>
                </a:lnTo>
                <a:lnTo>
                  <a:pt x="114" y="280"/>
                </a:lnTo>
                <a:lnTo>
                  <a:pt x="136" y="286"/>
                </a:lnTo>
                <a:lnTo>
                  <a:pt x="158" y="290"/>
                </a:lnTo>
                <a:lnTo>
                  <a:pt x="182" y="292"/>
                </a:lnTo>
                <a:lnTo>
                  <a:pt x="206" y="294"/>
                </a:lnTo>
                <a:lnTo>
                  <a:pt x="206" y="294"/>
                </a:lnTo>
                <a:lnTo>
                  <a:pt x="210" y="292"/>
                </a:lnTo>
                <a:lnTo>
                  <a:pt x="216" y="288"/>
                </a:lnTo>
                <a:lnTo>
                  <a:pt x="224" y="272"/>
                </a:lnTo>
                <a:lnTo>
                  <a:pt x="234" y="248"/>
                </a:lnTo>
                <a:lnTo>
                  <a:pt x="242" y="220"/>
                </a:lnTo>
                <a:lnTo>
                  <a:pt x="256" y="166"/>
                </a:lnTo>
                <a:lnTo>
                  <a:pt x="260" y="144"/>
                </a:lnTo>
                <a:lnTo>
                  <a:pt x="262" y="132"/>
                </a:lnTo>
                <a:lnTo>
                  <a:pt x="262" y="132"/>
                </a:lnTo>
                <a:lnTo>
                  <a:pt x="260" y="128"/>
                </a:lnTo>
                <a:lnTo>
                  <a:pt x="258" y="124"/>
                </a:lnTo>
                <a:lnTo>
                  <a:pt x="250" y="118"/>
                </a:lnTo>
                <a:lnTo>
                  <a:pt x="240" y="114"/>
                </a:lnTo>
                <a:lnTo>
                  <a:pt x="226" y="112"/>
                </a:lnTo>
                <a:lnTo>
                  <a:pt x="202" y="108"/>
                </a:lnTo>
                <a:lnTo>
                  <a:pt x="194" y="106"/>
                </a:lnTo>
                <a:lnTo>
                  <a:pt x="190" y="104"/>
                </a:lnTo>
                <a:lnTo>
                  <a:pt x="190" y="104"/>
                </a:lnTo>
                <a:close/>
                <a:moveTo>
                  <a:pt x="50" y="106"/>
                </a:moveTo>
                <a:lnTo>
                  <a:pt x="50" y="106"/>
                </a:lnTo>
                <a:lnTo>
                  <a:pt x="36" y="108"/>
                </a:lnTo>
                <a:lnTo>
                  <a:pt x="28" y="110"/>
                </a:lnTo>
                <a:lnTo>
                  <a:pt x="20" y="114"/>
                </a:lnTo>
                <a:lnTo>
                  <a:pt x="12" y="120"/>
                </a:lnTo>
                <a:lnTo>
                  <a:pt x="6" y="130"/>
                </a:lnTo>
                <a:lnTo>
                  <a:pt x="2" y="142"/>
                </a:lnTo>
                <a:lnTo>
                  <a:pt x="0" y="156"/>
                </a:lnTo>
                <a:lnTo>
                  <a:pt x="0" y="236"/>
                </a:lnTo>
                <a:lnTo>
                  <a:pt x="0" y="236"/>
                </a:lnTo>
                <a:lnTo>
                  <a:pt x="2" y="250"/>
                </a:lnTo>
                <a:lnTo>
                  <a:pt x="6" y="262"/>
                </a:lnTo>
                <a:lnTo>
                  <a:pt x="12" y="270"/>
                </a:lnTo>
                <a:lnTo>
                  <a:pt x="20" y="276"/>
                </a:lnTo>
                <a:lnTo>
                  <a:pt x="28" y="280"/>
                </a:lnTo>
                <a:lnTo>
                  <a:pt x="36" y="284"/>
                </a:lnTo>
                <a:lnTo>
                  <a:pt x="50" y="284"/>
                </a:lnTo>
                <a:lnTo>
                  <a:pt x="50" y="284"/>
                </a:lnTo>
                <a:lnTo>
                  <a:pt x="52" y="284"/>
                </a:lnTo>
                <a:lnTo>
                  <a:pt x="52" y="282"/>
                </a:lnTo>
                <a:lnTo>
                  <a:pt x="44" y="276"/>
                </a:lnTo>
                <a:lnTo>
                  <a:pt x="40" y="272"/>
                </a:lnTo>
                <a:lnTo>
                  <a:pt x="36" y="266"/>
                </a:lnTo>
                <a:lnTo>
                  <a:pt x="34" y="258"/>
                </a:lnTo>
                <a:lnTo>
                  <a:pt x="32" y="248"/>
                </a:lnTo>
                <a:lnTo>
                  <a:pt x="32" y="144"/>
                </a:lnTo>
                <a:lnTo>
                  <a:pt x="32" y="144"/>
                </a:lnTo>
                <a:lnTo>
                  <a:pt x="34" y="134"/>
                </a:lnTo>
                <a:lnTo>
                  <a:pt x="36" y="126"/>
                </a:lnTo>
                <a:lnTo>
                  <a:pt x="40" y="118"/>
                </a:lnTo>
                <a:lnTo>
                  <a:pt x="44" y="114"/>
                </a:lnTo>
                <a:lnTo>
                  <a:pt x="52" y="108"/>
                </a:lnTo>
                <a:lnTo>
                  <a:pt x="52" y="106"/>
                </a:lnTo>
                <a:lnTo>
                  <a:pt x="50" y="106"/>
                </a:lnTo>
                <a:lnTo>
                  <a:pt x="50" y="106"/>
                </a:lnTo>
                <a:close/>
              </a:path>
            </a:pathLst>
          </a:custGeom>
          <a:solidFill>
            <a:srgbClr val="585A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 rot="5400000">
            <a:off x="3958160" y="5945674"/>
            <a:ext cx="714333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303830" y="2774263"/>
            <a:ext cx="8506123" cy="1165848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  <a:latin typeface="Verdana"/>
              </a:rPr>
              <a:t>Dedicated Portal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dirty="0">
                <a:solidFill>
                  <a:prstClr val="black"/>
                </a:solidFill>
                <a:latin typeface="Verdana"/>
              </a:rPr>
              <a:t>Dedicated portal for Steel QCO to report on compliance levels of steel producers and facilitate up to date information on all information related to QCO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8641" y="4151379"/>
            <a:ext cx="7969285" cy="923602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Cluster level database and dedicated portal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Due to lack of collection and maintenance of databases at the cluster level, knowledge dissemination becomes a major challenge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01701" y="5708783"/>
            <a:ext cx="8488847" cy="921615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  <a:latin typeface="Verdana"/>
              </a:rPr>
              <a:t>Surveillance Cell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dirty="0">
                <a:solidFill>
                  <a:prstClr val="black"/>
                </a:solidFill>
                <a:latin typeface="Verdana"/>
              </a:rPr>
              <a:t>To cater to the shortage of officers at field level and to conduct random checks and regular sessions to spread awareness amongst industry players</a:t>
            </a:r>
          </a:p>
        </p:txBody>
      </p:sp>
      <p:pic>
        <p:nvPicPr>
          <p:cNvPr id="38" name="Picture 37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2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4"/>
          <a:stretch/>
        </p:blipFill>
        <p:spPr bwMode="auto">
          <a:xfrm>
            <a:off x="543611" y="1440337"/>
            <a:ext cx="4390367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6642895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30" imgH="531" progId="TCLayout.ActiveDocument.1">
                  <p:embed/>
                </p:oleObj>
              </mc:Choice>
              <mc:Fallback>
                <p:oleObj name="think-cell Slide" r:id="rId6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400" b="1" dirty="0">
              <a:solidFill>
                <a:prstClr val="white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pPr defTabSz="1565073">
              <a:defRPr/>
            </a:pPr>
            <a:r>
              <a:rPr lang="en-US" sz="2400" dirty="0">
                <a:solidFill>
                  <a:srgbClr val="012169">
                    <a:lumMod val="50000"/>
                  </a:srgbClr>
                </a:solidFill>
              </a:rPr>
              <a:t>Indigenous Producers</a:t>
            </a:r>
            <a:endParaRPr lang="en-IN" sz="2400" dirty="0">
              <a:solidFill>
                <a:srgbClr val="012169">
                  <a:lumMod val="50000"/>
                </a:srgb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79632" y="1304060"/>
            <a:ext cx="9314198" cy="1715550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</a:rPr>
              <a:t>Non financial Incentives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Supply Guarantee Programs </a:t>
            </a:r>
            <a:r>
              <a:rPr lang="en-US" sz="1600" dirty="0">
                <a:solidFill>
                  <a:prstClr val="black"/>
                </a:solidFill>
              </a:rPr>
              <a:t>to assure quality focused MSMEs access to reliable supply of quality raw material, setting up adequate shredding units and development of dry ports for import of scraps 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313131"/>
                </a:solidFill>
              </a:rPr>
              <a:t>Tolerance limits for MSMEs can be extended for a longer period so that they can have the time to gradually build their capacity and capabilities to comply to these norms</a:t>
            </a:r>
          </a:p>
        </p:txBody>
      </p:sp>
      <p:cxnSp>
        <p:nvCxnSpPr>
          <p:cNvPr id="48" name="Straight Connector 47"/>
          <p:cNvCxnSpPr/>
          <p:nvPr/>
        </p:nvCxnSpPr>
        <p:spPr>
          <a:xfrm rot="16200000">
            <a:off x="5167543" y="3859322"/>
            <a:ext cx="72395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625848" y="1745562"/>
            <a:ext cx="71433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217"/>
          <p:cNvSpPr>
            <a:spLocks noEditPoints="1"/>
          </p:cNvSpPr>
          <p:nvPr/>
        </p:nvSpPr>
        <p:spPr bwMode="auto">
          <a:xfrm rot="16200000">
            <a:off x="3285324" y="1559153"/>
            <a:ext cx="613052" cy="350262"/>
          </a:xfrm>
          <a:custGeom>
            <a:avLst/>
            <a:gdLst>
              <a:gd name="T0" fmla="*/ 430 w 470"/>
              <a:gd name="T1" fmla="*/ 70 h 212"/>
              <a:gd name="T2" fmla="*/ 204 w 470"/>
              <a:gd name="T3" fmla="*/ 70 h 212"/>
              <a:gd name="T4" fmla="*/ 188 w 470"/>
              <a:gd name="T5" fmla="*/ 40 h 212"/>
              <a:gd name="T6" fmla="*/ 180 w 470"/>
              <a:gd name="T7" fmla="*/ 32 h 212"/>
              <a:gd name="T8" fmla="*/ 144 w 470"/>
              <a:gd name="T9" fmla="*/ 8 h 212"/>
              <a:gd name="T10" fmla="*/ 106 w 470"/>
              <a:gd name="T11" fmla="*/ 0 h 212"/>
              <a:gd name="T12" fmla="*/ 66 w 470"/>
              <a:gd name="T13" fmla="*/ 8 h 212"/>
              <a:gd name="T14" fmla="*/ 30 w 470"/>
              <a:gd name="T15" fmla="*/ 32 h 212"/>
              <a:gd name="T16" fmla="*/ 18 w 470"/>
              <a:gd name="T17" fmla="*/ 48 h 212"/>
              <a:gd name="T18" fmla="*/ 2 w 470"/>
              <a:gd name="T19" fmla="*/ 86 h 212"/>
              <a:gd name="T20" fmla="*/ 2 w 470"/>
              <a:gd name="T21" fmla="*/ 126 h 212"/>
              <a:gd name="T22" fmla="*/ 18 w 470"/>
              <a:gd name="T23" fmla="*/ 164 h 212"/>
              <a:gd name="T24" fmla="*/ 30 w 470"/>
              <a:gd name="T25" fmla="*/ 180 h 212"/>
              <a:gd name="T26" fmla="*/ 66 w 470"/>
              <a:gd name="T27" fmla="*/ 204 h 212"/>
              <a:gd name="T28" fmla="*/ 106 w 470"/>
              <a:gd name="T29" fmla="*/ 212 h 212"/>
              <a:gd name="T30" fmla="*/ 144 w 470"/>
              <a:gd name="T31" fmla="*/ 204 h 212"/>
              <a:gd name="T32" fmla="*/ 180 w 470"/>
              <a:gd name="T33" fmla="*/ 180 h 212"/>
              <a:gd name="T34" fmla="*/ 190 w 470"/>
              <a:gd name="T35" fmla="*/ 168 h 212"/>
              <a:gd name="T36" fmla="*/ 204 w 470"/>
              <a:gd name="T37" fmla="*/ 142 h 212"/>
              <a:gd name="T38" fmla="*/ 258 w 470"/>
              <a:gd name="T39" fmla="*/ 126 h 212"/>
              <a:gd name="T40" fmla="*/ 306 w 470"/>
              <a:gd name="T41" fmla="*/ 128 h 212"/>
              <a:gd name="T42" fmla="*/ 354 w 470"/>
              <a:gd name="T43" fmla="*/ 128 h 212"/>
              <a:gd name="T44" fmla="*/ 402 w 470"/>
              <a:gd name="T45" fmla="*/ 128 h 212"/>
              <a:gd name="T46" fmla="*/ 452 w 470"/>
              <a:gd name="T47" fmla="*/ 126 h 212"/>
              <a:gd name="T48" fmla="*/ 470 w 470"/>
              <a:gd name="T49" fmla="*/ 108 h 212"/>
              <a:gd name="T50" fmla="*/ 74 w 470"/>
              <a:gd name="T51" fmla="*/ 124 h 212"/>
              <a:gd name="T52" fmla="*/ 66 w 470"/>
              <a:gd name="T53" fmla="*/ 128 h 212"/>
              <a:gd name="T54" fmla="*/ 46 w 470"/>
              <a:gd name="T55" fmla="*/ 128 h 212"/>
              <a:gd name="T56" fmla="*/ 38 w 470"/>
              <a:gd name="T57" fmla="*/ 124 h 212"/>
              <a:gd name="T58" fmla="*/ 32 w 470"/>
              <a:gd name="T59" fmla="*/ 106 h 212"/>
              <a:gd name="T60" fmla="*/ 38 w 470"/>
              <a:gd name="T61" fmla="*/ 88 h 212"/>
              <a:gd name="T62" fmla="*/ 46 w 470"/>
              <a:gd name="T63" fmla="*/ 84 h 212"/>
              <a:gd name="T64" fmla="*/ 66 w 470"/>
              <a:gd name="T65" fmla="*/ 84 h 212"/>
              <a:gd name="T66" fmla="*/ 74 w 470"/>
              <a:gd name="T67" fmla="*/ 88 h 212"/>
              <a:gd name="T68" fmla="*/ 80 w 470"/>
              <a:gd name="T69" fmla="*/ 106 h 212"/>
              <a:gd name="T70" fmla="*/ 74 w 470"/>
              <a:gd name="T71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70" h="212">
                <a:moveTo>
                  <a:pt x="430" y="70"/>
                </a:moveTo>
                <a:lnTo>
                  <a:pt x="430" y="70"/>
                </a:lnTo>
                <a:lnTo>
                  <a:pt x="204" y="70"/>
                </a:lnTo>
                <a:lnTo>
                  <a:pt x="204" y="70"/>
                </a:lnTo>
                <a:lnTo>
                  <a:pt x="194" y="50"/>
                </a:lnTo>
                <a:lnTo>
                  <a:pt x="188" y="40"/>
                </a:lnTo>
                <a:lnTo>
                  <a:pt x="180" y="32"/>
                </a:lnTo>
                <a:lnTo>
                  <a:pt x="180" y="32"/>
                </a:lnTo>
                <a:lnTo>
                  <a:pt x="164" y="18"/>
                </a:lnTo>
                <a:lnTo>
                  <a:pt x="144" y="8"/>
                </a:lnTo>
                <a:lnTo>
                  <a:pt x="126" y="2"/>
                </a:lnTo>
                <a:lnTo>
                  <a:pt x="106" y="0"/>
                </a:lnTo>
                <a:lnTo>
                  <a:pt x="84" y="2"/>
                </a:lnTo>
                <a:lnTo>
                  <a:pt x="66" y="8"/>
                </a:lnTo>
                <a:lnTo>
                  <a:pt x="48" y="18"/>
                </a:lnTo>
                <a:lnTo>
                  <a:pt x="30" y="32"/>
                </a:lnTo>
                <a:lnTo>
                  <a:pt x="30" y="32"/>
                </a:lnTo>
                <a:lnTo>
                  <a:pt x="18" y="48"/>
                </a:lnTo>
                <a:lnTo>
                  <a:pt x="8" y="66"/>
                </a:lnTo>
                <a:lnTo>
                  <a:pt x="2" y="86"/>
                </a:lnTo>
                <a:lnTo>
                  <a:pt x="0" y="106"/>
                </a:lnTo>
                <a:lnTo>
                  <a:pt x="2" y="126"/>
                </a:lnTo>
                <a:lnTo>
                  <a:pt x="8" y="146"/>
                </a:lnTo>
                <a:lnTo>
                  <a:pt x="18" y="164"/>
                </a:lnTo>
                <a:lnTo>
                  <a:pt x="30" y="180"/>
                </a:lnTo>
                <a:lnTo>
                  <a:pt x="30" y="180"/>
                </a:lnTo>
                <a:lnTo>
                  <a:pt x="48" y="194"/>
                </a:lnTo>
                <a:lnTo>
                  <a:pt x="66" y="204"/>
                </a:lnTo>
                <a:lnTo>
                  <a:pt x="84" y="210"/>
                </a:lnTo>
                <a:lnTo>
                  <a:pt x="106" y="212"/>
                </a:lnTo>
                <a:lnTo>
                  <a:pt x="126" y="210"/>
                </a:lnTo>
                <a:lnTo>
                  <a:pt x="144" y="204"/>
                </a:lnTo>
                <a:lnTo>
                  <a:pt x="164" y="194"/>
                </a:lnTo>
                <a:lnTo>
                  <a:pt x="180" y="180"/>
                </a:lnTo>
                <a:lnTo>
                  <a:pt x="180" y="180"/>
                </a:lnTo>
                <a:lnTo>
                  <a:pt x="190" y="168"/>
                </a:lnTo>
                <a:lnTo>
                  <a:pt x="198" y="156"/>
                </a:lnTo>
                <a:lnTo>
                  <a:pt x="204" y="142"/>
                </a:lnTo>
                <a:lnTo>
                  <a:pt x="208" y="126"/>
                </a:lnTo>
                <a:lnTo>
                  <a:pt x="258" y="126"/>
                </a:lnTo>
                <a:lnTo>
                  <a:pt x="282" y="152"/>
                </a:lnTo>
                <a:lnTo>
                  <a:pt x="306" y="128"/>
                </a:lnTo>
                <a:lnTo>
                  <a:pt x="330" y="152"/>
                </a:lnTo>
                <a:lnTo>
                  <a:pt x="354" y="128"/>
                </a:lnTo>
                <a:lnTo>
                  <a:pt x="378" y="152"/>
                </a:lnTo>
                <a:lnTo>
                  <a:pt x="402" y="128"/>
                </a:lnTo>
                <a:lnTo>
                  <a:pt x="426" y="152"/>
                </a:lnTo>
                <a:lnTo>
                  <a:pt x="452" y="126"/>
                </a:lnTo>
                <a:lnTo>
                  <a:pt x="460" y="118"/>
                </a:lnTo>
                <a:lnTo>
                  <a:pt x="470" y="108"/>
                </a:lnTo>
                <a:lnTo>
                  <a:pt x="430" y="70"/>
                </a:lnTo>
                <a:close/>
                <a:moveTo>
                  <a:pt x="74" y="124"/>
                </a:moveTo>
                <a:lnTo>
                  <a:pt x="74" y="124"/>
                </a:lnTo>
                <a:lnTo>
                  <a:pt x="66" y="128"/>
                </a:lnTo>
                <a:lnTo>
                  <a:pt x="56" y="130"/>
                </a:lnTo>
                <a:lnTo>
                  <a:pt x="46" y="128"/>
                </a:lnTo>
                <a:lnTo>
                  <a:pt x="38" y="124"/>
                </a:lnTo>
                <a:lnTo>
                  <a:pt x="38" y="124"/>
                </a:lnTo>
                <a:lnTo>
                  <a:pt x="34" y="116"/>
                </a:lnTo>
                <a:lnTo>
                  <a:pt x="32" y="106"/>
                </a:lnTo>
                <a:lnTo>
                  <a:pt x="34" y="96"/>
                </a:lnTo>
                <a:lnTo>
                  <a:pt x="38" y="88"/>
                </a:lnTo>
                <a:lnTo>
                  <a:pt x="38" y="88"/>
                </a:lnTo>
                <a:lnTo>
                  <a:pt x="46" y="84"/>
                </a:lnTo>
                <a:lnTo>
                  <a:pt x="56" y="82"/>
                </a:lnTo>
                <a:lnTo>
                  <a:pt x="66" y="84"/>
                </a:lnTo>
                <a:lnTo>
                  <a:pt x="74" y="88"/>
                </a:lnTo>
                <a:lnTo>
                  <a:pt x="74" y="88"/>
                </a:lnTo>
                <a:lnTo>
                  <a:pt x="78" y="96"/>
                </a:lnTo>
                <a:lnTo>
                  <a:pt x="80" y="106"/>
                </a:lnTo>
                <a:lnTo>
                  <a:pt x="78" y="116"/>
                </a:lnTo>
                <a:lnTo>
                  <a:pt x="74" y="124"/>
                </a:lnTo>
                <a:lnTo>
                  <a:pt x="74" y="1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grpSp>
        <p:nvGrpSpPr>
          <p:cNvPr id="58" name="Group 57"/>
          <p:cNvGrpSpPr/>
          <p:nvPr/>
        </p:nvGrpSpPr>
        <p:grpSpPr>
          <a:xfrm flipH="1">
            <a:off x="4567617" y="3536848"/>
            <a:ext cx="810050" cy="355580"/>
            <a:chOff x="7391400" y="1254125"/>
            <a:chExt cx="1631950" cy="920750"/>
          </a:xfrm>
        </p:grpSpPr>
        <p:sp>
          <p:nvSpPr>
            <p:cNvPr id="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91400" y="1254125"/>
              <a:ext cx="1631950" cy="92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>
              <a:off x="7845425" y="1254125"/>
              <a:ext cx="879475" cy="635000"/>
            </a:xfrm>
            <a:custGeom>
              <a:avLst/>
              <a:gdLst>
                <a:gd name="T0" fmla="*/ 6 w 554"/>
                <a:gd name="T1" fmla="*/ 156 h 400"/>
                <a:gd name="T2" fmla="*/ 128 w 554"/>
                <a:gd name="T3" fmla="*/ 54 h 400"/>
                <a:gd name="T4" fmla="*/ 160 w 554"/>
                <a:gd name="T5" fmla="*/ 24 h 400"/>
                <a:gd name="T6" fmla="*/ 172 w 554"/>
                <a:gd name="T7" fmla="*/ 12 h 400"/>
                <a:gd name="T8" fmla="*/ 204 w 554"/>
                <a:gd name="T9" fmla="*/ 0 h 400"/>
                <a:gd name="T10" fmla="*/ 230 w 554"/>
                <a:gd name="T11" fmla="*/ 0 h 400"/>
                <a:gd name="T12" fmla="*/ 260 w 554"/>
                <a:gd name="T13" fmla="*/ 4 h 400"/>
                <a:gd name="T14" fmla="*/ 298 w 554"/>
                <a:gd name="T15" fmla="*/ 18 h 400"/>
                <a:gd name="T16" fmla="*/ 384 w 554"/>
                <a:gd name="T17" fmla="*/ 62 h 400"/>
                <a:gd name="T18" fmla="*/ 496 w 554"/>
                <a:gd name="T19" fmla="*/ 120 h 400"/>
                <a:gd name="T20" fmla="*/ 514 w 554"/>
                <a:gd name="T21" fmla="*/ 124 h 400"/>
                <a:gd name="T22" fmla="*/ 540 w 554"/>
                <a:gd name="T23" fmla="*/ 124 h 400"/>
                <a:gd name="T24" fmla="*/ 554 w 554"/>
                <a:gd name="T25" fmla="*/ 394 h 400"/>
                <a:gd name="T26" fmla="*/ 544 w 554"/>
                <a:gd name="T27" fmla="*/ 396 h 400"/>
                <a:gd name="T28" fmla="*/ 490 w 554"/>
                <a:gd name="T29" fmla="*/ 400 h 400"/>
                <a:gd name="T30" fmla="*/ 466 w 554"/>
                <a:gd name="T31" fmla="*/ 394 h 400"/>
                <a:gd name="T32" fmla="*/ 448 w 554"/>
                <a:gd name="T33" fmla="*/ 374 h 400"/>
                <a:gd name="T34" fmla="*/ 354 w 554"/>
                <a:gd name="T35" fmla="*/ 256 h 400"/>
                <a:gd name="T36" fmla="*/ 282 w 554"/>
                <a:gd name="T37" fmla="*/ 176 h 400"/>
                <a:gd name="T38" fmla="*/ 252 w 554"/>
                <a:gd name="T39" fmla="*/ 150 h 400"/>
                <a:gd name="T40" fmla="*/ 230 w 554"/>
                <a:gd name="T41" fmla="*/ 138 h 400"/>
                <a:gd name="T42" fmla="*/ 212 w 554"/>
                <a:gd name="T43" fmla="*/ 138 h 400"/>
                <a:gd name="T44" fmla="*/ 180 w 554"/>
                <a:gd name="T45" fmla="*/ 148 h 400"/>
                <a:gd name="T46" fmla="*/ 138 w 554"/>
                <a:gd name="T47" fmla="*/ 178 h 400"/>
                <a:gd name="T48" fmla="*/ 112 w 554"/>
                <a:gd name="T49" fmla="*/ 196 h 400"/>
                <a:gd name="T50" fmla="*/ 80 w 554"/>
                <a:gd name="T51" fmla="*/ 208 h 400"/>
                <a:gd name="T52" fmla="*/ 34 w 554"/>
                <a:gd name="T53" fmla="*/ 202 h 400"/>
                <a:gd name="T54" fmla="*/ 22 w 554"/>
                <a:gd name="T55" fmla="*/ 198 h 400"/>
                <a:gd name="T56" fmla="*/ 4 w 554"/>
                <a:gd name="T57" fmla="*/ 184 h 400"/>
                <a:gd name="T58" fmla="*/ 0 w 554"/>
                <a:gd name="T59" fmla="*/ 170 h 400"/>
                <a:gd name="T60" fmla="*/ 2 w 554"/>
                <a:gd name="T61" fmla="*/ 160 h 400"/>
                <a:gd name="T62" fmla="*/ 6 w 554"/>
                <a:gd name="T63" fmla="*/ 15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4" h="400">
                  <a:moveTo>
                    <a:pt x="6" y="156"/>
                  </a:moveTo>
                  <a:lnTo>
                    <a:pt x="6" y="156"/>
                  </a:lnTo>
                  <a:lnTo>
                    <a:pt x="78" y="96"/>
                  </a:lnTo>
                  <a:lnTo>
                    <a:pt x="128" y="54"/>
                  </a:lnTo>
                  <a:lnTo>
                    <a:pt x="148" y="36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72" y="12"/>
                  </a:lnTo>
                  <a:lnTo>
                    <a:pt x="186" y="6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44" y="0"/>
                  </a:lnTo>
                  <a:lnTo>
                    <a:pt x="260" y="4"/>
                  </a:lnTo>
                  <a:lnTo>
                    <a:pt x="278" y="10"/>
                  </a:lnTo>
                  <a:lnTo>
                    <a:pt x="298" y="18"/>
                  </a:lnTo>
                  <a:lnTo>
                    <a:pt x="340" y="38"/>
                  </a:lnTo>
                  <a:lnTo>
                    <a:pt x="384" y="62"/>
                  </a:lnTo>
                  <a:lnTo>
                    <a:pt x="466" y="106"/>
                  </a:lnTo>
                  <a:lnTo>
                    <a:pt x="496" y="120"/>
                  </a:lnTo>
                  <a:lnTo>
                    <a:pt x="506" y="124"/>
                  </a:lnTo>
                  <a:lnTo>
                    <a:pt x="514" y="124"/>
                  </a:lnTo>
                  <a:lnTo>
                    <a:pt x="514" y="124"/>
                  </a:lnTo>
                  <a:lnTo>
                    <a:pt x="540" y="124"/>
                  </a:lnTo>
                  <a:lnTo>
                    <a:pt x="554" y="122"/>
                  </a:lnTo>
                  <a:lnTo>
                    <a:pt x="554" y="394"/>
                  </a:lnTo>
                  <a:lnTo>
                    <a:pt x="554" y="394"/>
                  </a:lnTo>
                  <a:lnTo>
                    <a:pt x="544" y="396"/>
                  </a:lnTo>
                  <a:lnTo>
                    <a:pt x="520" y="398"/>
                  </a:lnTo>
                  <a:lnTo>
                    <a:pt x="490" y="400"/>
                  </a:lnTo>
                  <a:lnTo>
                    <a:pt x="476" y="398"/>
                  </a:lnTo>
                  <a:lnTo>
                    <a:pt x="466" y="394"/>
                  </a:lnTo>
                  <a:lnTo>
                    <a:pt x="466" y="394"/>
                  </a:lnTo>
                  <a:lnTo>
                    <a:pt x="448" y="374"/>
                  </a:lnTo>
                  <a:lnTo>
                    <a:pt x="422" y="342"/>
                  </a:lnTo>
                  <a:lnTo>
                    <a:pt x="354" y="256"/>
                  </a:lnTo>
                  <a:lnTo>
                    <a:pt x="318" y="214"/>
                  </a:lnTo>
                  <a:lnTo>
                    <a:pt x="282" y="176"/>
                  </a:lnTo>
                  <a:lnTo>
                    <a:pt x="266" y="160"/>
                  </a:lnTo>
                  <a:lnTo>
                    <a:pt x="252" y="150"/>
                  </a:lnTo>
                  <a:lnTo>
                    <a:pt x="240" y="142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12" y="138"/>
                  </a:lnTo>
                  <a:lnTo>
                    <a:pt x="194" y="142"/>
                  </a:lnTo>
                  <a:lnTo>
                    <a:pt x="180" y="148"/>
                  </a:lnTo>
                  <a:lnTo>
                    <a:pt x="164" y="158"/>
                  </a:lnTo>
                  <a:lnTo>
                    <a:pt x="138" y="17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96" y="204"/>
                  </a:lnTo>
                  <a:lnTo>
                    <a:pt x="80" y="208"/>
                  </a:lnTo>
                  <a:lnTo>
                    <a:pt x="58" y="206"/>
                  </a:lnTo>
                  <a:lnTo>
                    <a:pt x="34" y="202"/>
                  </a:lnTo>
                  <a:lnTo>
                    <a:pt x="34" y="202"/>
                  </a:lnTo>
                  <a:lnTo>
                    <a:pt x="22" y="198"/>
                  </a:lnTo>
                  <a:lnTo>
                    <a:pt x="12" y="192"/>
                  </a:lnTo>
                  <a:lnTo>
                    <a:pt x="4" y="184"/>
                  </a:lnTo>
                  <a:lnTo>
                    <a:pt x="2" y="178"/>
                  </a:lnTo>
                  <a:lnTo>
                    <a:pt x="0" y="170"/>
                  </a:lnTo>
                  <a:lnTo>
                    <a:pt x="0" y="164"/>
                  </a:lnTo>
                  <a:lnTo>
                    <a:pt x="2" y="160"/>
                  </a:lnTo>
                  <a:lnTo>
                    <a:pt x="6" y="156"/>
                  </a:lnTo>
                  <a:lnTo>
                    <a:pt x="6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7696200" y="1289050"/>
              <a:ext cx="904875" cy="885825"/>
            </a:xfrm>
            <a:custGeom>
              <a:avLst/>
              <a:gdLst>
                <a:gd name="T0" fmla="*/ 0 w 570"/>
                <a:gd name="T1" fmla="*/ 370 h 558"/>
                <a:gd name="T2" fmla="*/ 44 w 570"/>
                <a:gd name="T3" fmla="*/ 370 h 558"/>
                <a:gd name="T4" fmla="*/ 48 w 570"/>
                <a:gd name="T5" fmla="*/ 372 h 558"/>
                <a:gd name="T6" fmla="*/ 72 w 570"/>
                <a:gd name="T7" fmla="*/ 396 h 558"/>
                <a:gd name="T8" fmla="*/ 150 w 570"/>
                <a:gd name="T9" fmla="*/ 488 h 558"/>
                <a:gd name="T10" fmla="*/ 196 w 570"/>
                <a:gd name="T11" fmla="*/ 530 h 558"/>
                <a:gd name="T12" fmla="*/ 226 w 570"/>
                <a:gd name="T13" fmla="*/ 548 h 558"/>
                <a:gd name="T14" fmla="*/ 240 w 570"/>
                <a:gd name="T15" fmla="*/ 554 h 558"/>
                <a:gd name="T16" fmla="*/ 282 w 570"/>
                <a:gd name="T17" fmla="*/ 558 h 558"/>
                <a:gd name="T18" fmla="*/ 302 w 570"/>
                <a:gd name="T19" fmla="*/ 550 h 558"/>
                <a:gd name="T20" fmla="*/ 308 w 570"/>
                <a:gd name="T21" fmla="*/ 540 h 558"/>
                <a:gd name="T22" fmla="*/ 308 w 570"/>
                <a:gd name="T23" fmla="*/ 534 h 558"/>
                <a:gd name="T24" fmla="*/ 330 w 570"/>
                <a:gd name="T25" fmla="*/ 544 h 558"/>
                <a:gd name="T26" fmla="*/ 366 w 570"/>
                <a:gd name="T27" fmla="*/ 552 h 558"/>
                <a:gd name="T28" fmla="*/ 380 w 570"/>
                <a:gd name="T29" fmla="*/ 554 h 558"/>
                <a:gd name="T30" fmla="*/ 392 w 570"/>
                <a:gd name="T31" fmla="*/ 552 h 558"/>
                <a:gd name="T32" fmla="*/ 404 w 570"/>
                <a:gd name="T33" fmla="*/ 538 h 558"/>
                <a:gd name="T34" fmla="*/ 406 w 570"/>
                <a:gd name="T35" fmla="*/ 520 h 558"/>
                <a:gd name="T36" fmla="*/ 402 w 570"/>
                <a:gd name="T37" fmla="*/ 506 h 558"/>
                <a:gd name="T38" fmla="*/ 408 w 570"/>
                <a:gd name="T39" fmla="*/ 510 h 558"/>
                <a:gd name="T40" fmla="*/ 436 w 570"/>
                <a:gd name="T41" fmla="*/ 522 h 558"/>
                <a:gd name="T42" fmla="*/ 460 w 570"/>
                <a:gd name="T43" fmla="*/ 526 h 558"/>
                <a:gd name="T44" fmla="*/ 472 w 570"/>
                <a:gd name="T45" fmla="*/ 524 h 558"/>
                <a:gd name="T46" fmla="*/ 490 w 570"/>
                <a:gd name="T47" fmla="*/ 514 h 558"/>
                <a:gd name="T48" fmla="*/ 500 w 570"/>
                <a:gd name="T49" fmla="*/ 498 h 558"/>
                <a:gd name="T50" fmla="*/ 502 w 570"/>
                <a:gd name="T51" fmla="*/ 478 h 558"/>
                <a:gd name="T52" fmla="*/ 546 w 570"/>
                <a:gd name="T53" fmla="*/ 476 h 558"/>
                <a:gd name="T54" fmla="*/ 560 w 570"/>
                <a:gd name="T55" fmla="*/ 468 h 558"/>
                <a:gd name="T56" fmla="*/ 570 w 570"/>
                <a:gd name="T57" fmla="*/ 452 h 558"/>
                <a:gd name="T58" fmla="*/ 570 w 570"/>
                <a:gd name="T59" fmla="*/ 434 h 558"/>
                <a:gd name="T60" fmla="*/ 556 w 570"/>
                <a:gd name="T61" fmla="*/ 408 h 558"/>
                <a:gd name="T62" fmla="*/ 538 w 570"/>
                <a:gd name="T63" fmla="*/ 384 h 558"/>
                <a:gd name="T64" fmla="*/ 456 w 570"/>
                <a:gd name="T65" fmla="*/ 286 h 558"/>
                <a:gd name="T66" fmla="*/ 356 w 570"/>
                <a:gd name="T67" fmla="*/ 170 h 558"/>
                <a:gd name="T68" fmla="*/ 350 w 570"/>
                <a:gd name="T69" fmla="*/ 162 h 558"/>
                <a:gd name="T70" fmla="*/ 330 w 570"/>
                <a:gd name="T71" fmla="*/ 148 h 558"/>
                <a:gd name="T72" fmla="*/ 304 w 570"/>
                <a:gd name="T73" fmla="*/ 146 h 558"/>
                <a:gd name="T74" fmla="*/ 286 w 570"/>
                <a:gd name="T75" fmla="*/ 152 h 558"/>
                <a:gd name="T76" fmla="*/ 278 w 570"/>
                <a:gd name="T77" fmla="*/ 156 h 558"/>
                <a:gd name="T78" fmla="*/ 198 w 570"/>
                <a:gd name="T79" fmla="*/ 198 h 558"/>
                <a:gd name="T80" fmla="*/ 178 w 570"/>
                <a:gd name="T81" fmla="*/ 206 h 558"/>
                <a:gd name="T82" fmla="*/ 138 w 570"/>
                <a:gd name="T83" fmla="*/ 208 h 558"/>
                <a:gd name="T84" fmla="*/ 106 w 570"/>
                <a:gd name="T85" fmla="*/ 198 h 558"/>
                <a:gd name="T86" fmla="*/ 84 w 570"/>
                <a:gd name="T87" fmla="*/ 188 h 558"/>
                <a:gd name="T88" fmla="*/ 78 w 570"/>
                <a:gd name="T89" fmla="*/ 182 h 558"/>
                <a:gd name="T90" fmla="*/ 64 w 570"/>
                <a:gd name="T91" fmla="*/ 164 h 558"/>
                <a:gd name="T92" fmla="*/ 60 w 570"/>
                <a:gd name="T93" fmla="*/ 148 h 558"/>
                <a:gd name="T94" fmla="*/ 62 w 570"/>
                <a:gd name="T95" fmla="*/ 136 h 558"/>
                <a:gd name="T96" fmla="*/ 70 w 570"/>
                <a:gd name="T97" fmla="*/ 122 h 558"/>
                <a:gd name="T98" fmla="*/ 78 w 570"/>
                <a:gd name="T99" fmla="*/ 116 h 558"/>
                <a:gd name="T100" fmla="*/ 164 w 570"/>
                <a:gd name="T101" fmla="*/ 48 h 558"/>
                <a:gd name="T102" fmla="*/ 188 w 570"/>
                <a:gd name="T103" fmla="*/ 26 h 558"/>
                <a:gd name="T104" fmla="*/ 206 w 570"/>
                <a:gd name="T105" fmla="*/ 8 h 558"/>
                <a:gd name="T106" fmla="*/ 204 w 570"/>
                <a:gd name="T107" fmla="*/ 0 h 558"/>
                <a:gd name="T108" fmla="*/ 192 w 570"/>
                <a:gd name="T109" fmla="*/ 2 h 558"/>
                <a:gd name="T110" fmla="*/ 172 w 570"/>
                <a:gd name="T111" fmla="*/ 10 h 558"/>
                <a:gd name="T112" fmla="*/ 114 w 570"/>
                <a:gd name="T113" fmla="*/ 52 h 558"/>
                <a:gd name="T114" fmla="*/ 64 w 570"/>
                <a:gd name="T115" fmla="*/ 88 h 558"/>
                <a:gd name="T116" fmla="*/ 54 w 570"/>
                <a:gd name="T117" fmla="*/ 92 h 558"/>
                <a:gd name="T118" fmla="*/ 8 w 570"/>
                <a:gd name="T119" fmla="*/ 98 h 558"/>
                <a:gd name="T120" fmla="*/ 0 w 570"/>
                <a:gd name="T121" fmla="*/ 9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0" h="558">
                  <a:moveTo>
                    <a:pt x="0" y="98"/>
                  </a:moveTo>
                  <a:lnTo>
                    <a:pt x="0" y="370"/>
                  </a:lnTo>
                  <a:lnTo>
                    <a:pt x="0" y="370"/>
                  </a:lnTo>
                  <a:lnTo>
                    <a:pt x="44" y="370"/>
                  </a:lnTo>
                  <a:lnTo>
                    <a:pt x="44" y="370"/>
                  </a:lnTo>
                  <a:lnTo>
                    <a:pt x="48" y="372"/>
                  </a:lnTo>
                  <a:lnTo>
                    <a:pt x="54" y="378"/>
                  </a:lnTo>
                  <a:lnTo>
                    <a:pt x="72" y="396"/>
                  </a:lnTo>
                  <a:lnTo>
                    <a:pt x="120" y="456"/>
                  </a:lnTo>
                  <a:lnTo>
                    <a:pt x="150" y="488"/>
                  </a:lnTo>
                  <a:lnTo>
                    <a:pt x="180" y="518"/>
                  </a:lnTo>
                  <a:lnTo>
                    <a:pt x="196" y="530"/>
                  </a:lnTo>
                  <a:lnTo>
                    <a:pt x="212" y="540"/>
                  </a:lnTo>
                  <a:lnTo>
                    <a:pt x="226" y="548"/>
                  </a:lnTo>
                  <a:lnTo>
                    <a:pt x="240" y="554"/>
                  </a:lnTo>
                  <a:lnTo>
                    <a:pt x="240" y="554"/>
                  </a:lnTo>
                  <a:lnTo>
                    <a:pt x="264" y="558"/>
                  </a:lnTo>
                  <a:lnTo>
                    <a:pt x="282" y="558"/>
                  </a:lnTo>
                  <a:lnTo>
                    <a:pt x="294" y="554"/>
                  </a:lnTo>
                  <a:lnTo>
                    <a:pt x="302" y="550"/>
                  </a:lnTo>
                  <a:lnTo>
                    <a:pt x="306" y="544"/>
                  </a:lnTo>
                  <a:lnTo>
                    <a:pt x="308" y="540"/>
                  </a:lnTo>
                  <a:lnTo>
                    <a:pt x="308" y="534"/>
                  </a:lnTo>
                  <a:lnTo>
                    <a:pt x="308" y="534"/>
                  </a:lnTo>
                  <a:lnTo>
                    <a:pt x="314" y="538"/>
                  </a:lnTo>
                  <a:lnTo>
                    <a:pt x="330" y="544"/>
                  </a:lnTo>
                  <a:lnTo>
                    <a:pt x="354" y="550"/>
                  </a:lnTo>
                  <a:lnTo>
                    <a:pt x="366" y="552"/>
                  </a:lnTo>
                  <a:lnTo>
                    <a:pt x="380" y="554"/>
                  </a:lnTo>
                  <a:lnTo>
                    <a:pt x="380" y="554"/>
                  </a:lnTo>
                  <a:lnTo>
                    <a:pt x="388" y="552"/>
                  </a:lnTo>
                  <a:lnTo>
                    <a:pt x="392" y="552"/>
                  </a:lnTo>
                  <a:lnTo>
                    <a:pt x="400" y="546"/>
                  </a:lnTo>
                  <a:lnTo>
                    <a:pt x="404" y="538"/>
                  </a:lnTo>
                  <a:lnTo>
                    <a:pt x="406" y="530"/>
                  </a:lnTo>
                  <a:lnTo>
                    <a:pt x="406" y="520"/>
                  </a:lnTo>
                  <a:lnTo>
                    <a:pt x="404" y="512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8" y="510"/>
                  </a:lnTo>
                  <a:lnTo>
                    <a:pt x="426" y="518"/>
                  </a:lnTo>
                  <a:lnTo>
                    <a:pt x="436" y="522"/>
                  </a:lnTo>
                  <a:lnTo>
                    <a:pt x="448" y="524"/>
                  </a:lnTo>
                  <a:lnTo>
                    <a:pt x="460" y="526"/>
                  </a:lnTo>
                  <a:lnTo>
                    <a:pt x="472" y="524"/>
                  </a:lnTo>
                  <a:lnTo>
                    <a:pt x="472" y="524"/>
                  </a:lnTo>
                  <a:lnTo>
                    <a:pt x="484" y="520"/>
                  </a:lnTo>
                  <a:lnTo>
                    <a:pt x="490" y="514"/>
                  </a:lnTo>
                  <a:lnTo>
                    <a:pt x="496" y="506"/>
                  </a:lnTo>
                  <a:lnTo>
                    <a:pt x="500" y="498"/>
                  </a:lnTo>
                  <a:lnTo>
                    <a:pt x="502" y="484"/>
                  </a:lnTo>
                  <a:lnTo>
                    <a:pt x="502" y="478"/>
                  </a:lnTo>
                  <a:lnTo>
                    <a:pt x="546" y="476"/>
                  </a:lnTo>
                  <a:lnTo>
                    <a:pt x="546" y="476"/>
                  </a:lnTo>
                  <a:lnTo>
                    <a:pt x="552" y="472"/>
                  </a:lnTo>
                  <a:lnTo>
                    <a:pt x="560" y="468"/>
                  </a:lnTo>
                  <a:lnTo>
                    <a:pt x="566" y="462"/>
                  </a:lnTo>
                  <a:lnTo>
                    <a:pt x="570" y="452"/>
                  </a:lnTo>
                  <a:lnTo>
                    <a:pt x="570" y="440"/>
                  </a:lnTo>
                  <a:lnTo>
                    <a:pt x="570" y="434"/>
                  </a:lnTo>
                  <a:lnTo>
                    <a:pt x="566" y="426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38" y="384"/>
                  </a:lnTo>
                  <a:lnTo>
                    <a:pt x="514" y="354"/>
                  </a:lnTo>
                  <a:lnTo>
                    <a:pt x="456" y="286"/>
                  </a:lnTo>
                  <a:lnTo>
                    <a:pt x="398" y="218"/>
                  </a:lnTo>
                  <a:lnTo>
                    <a:pt x="356" y="170"/>
                  </a:lnTo>
                  <a:lnTo>
                    <a:pt x="356" y="170"/>
                  </a:lnTo>
                  <a:lnTo>
                    <a:pt x="350" y="162"/>
                  </a:lnTo>
                  <a:lnTo>
                    <a:pt x="344" y="156"/>
                  </a:lnTo>
                  <a:lnTo>
                    <a:pt x="330" y="148"/>
                  </a:lnTo>
                  <a:lnTo>
                    <a:pt x="316" y="146"/>
                  </a:lnTo>
                  <a:lnTo>
                    <a:pt x="304" y="146"/>
                  </a:lnTo>
                  <a:lnTo>
                    <a:pt x="294" y="148"/>
                  </a:lnTo>
                  <a:lnTo>
                    <a:pt x="286" y="152"/>
                  </a:lnTo>
                  <a:lnTo>
                    <a:pt x="278" y="156"/>
                  </a:lnTo>
                  <a:lnTo>
                    <a:pt x="278" y="156"/>
                  </a:lnTo>
                  <a:lnTo>
                    <a:pt x="198" y="198"/>
                  </a:lnTo>
                  <a:lnTo>
                    <a:pt x="198" y="198"/>
                  </a:lnTo>
                  <a:lnTo>
                    <a:pt x="188" y="204"/>
                  </a:lnTo>
                  <a:lnTo>
                    <a:pt x="178" y="206"/>
                  </a:lnTo>
                  <a:lnTo>
                    <a:pt x="158" y="208"/>
                  </a:lnTo>
                  <a:lnTo>
                    <a:pt x="138" y="208"/>
                  </a:lnTo>
                  <a:lnTo>
                    <a:pt x="122" y="204"/>
                  </a:lnTo>
                  <a:lnTo>
                    <a:pt x="106" y="198"/>
                  </a:lnTo>
                  <a:lnTo>
                    <a:pt x="94" y="194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78" y="182"/>
                  </a:lnTo>
                  <a:lnTo>
                    <a:pt x="70" y="174"/>
                  </a:lnTo>
                  <a:lnTo>
                    <a:pt x="64" y="164"/>
                  </a:lnTo>
                  <a:lnTo>
                    <a:pt x="60" y="154"/>
                  </a:lnTo>
                  <a:lnTo>
                    <a:pt x="60" y="148"/>
                  </a:lnTo>
                  <a:lnTo>
                    <a:pt x="60" y="142"/>
                  </a:lnTo>
                  <a:lnTo>
                    <a:pt x="62" y="136"/>
                  </a:lnTo>
                  <a:lnTo>
                    <a:pt x="66" y="130"/>
                  </a:lnTo>
                  <a:lnTo>
                    <a:pt x="70" y="122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138" y="70"/>
                  </a:lnTo>
                  <a:lnTo>
                    <a:pt x="164" y="48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200" y="16"/>
                  </a:lnTo>
                  <a:lnTo>
                    <a:pt x="206" y="8"/>
                  </a:lnTo>
                  <a:lnTo>
                    <a:pt x="208" y="4"/>
                  </a:lnTo>
                  <a:lnTo>
                    <a:pt x="204" y="0"/>
                  </a:lnTo>
                  <a:lnTo>
                    <a:pt x="200" y="0"/>
                  </a:lnTo>
                  <a:lnTo>
                    <a:pt x="192" y="2"/>
                  </a:lnTo>
                  <a:lnTo>
                    <a:pt x="172" y="10"/>
                  </a:lnTo>
                  <a:lnTo>
                    <a:pt x="172" y="10"/>
                  </a:lnTo>
                  <a:lnTo>
                    <a:pt x="150" y="26"/>
                  </a:lnTo>
                  <a:lnTo>
                    <a:pt x="114" y="52"/>
                  </a:lnTo>
                  <a:lnTo>
                    <a:pt x="78" y="78"/>
                  </a:lnTo>
                  <a:lnTo>
                    <a:pt x="64" y="88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24" y="96"/>
                  </a:lnTo>
                  <a:lnTo>
                    <a:pt x="8" y="98"/>
                  </a:ln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3" name="Freeform 7"/>
            <p:cNvSpPr>
              <a:spLocks noEditPoints="1"/>
            </p:cNvSpPr>
            <p:nvPr/>
          </p:nvSpPr>
          <p:spPr bwMode="auto">
            <a:xfrm>
              <a:off x="8772525" y="1327150"/>
              <a:ext cx="250825" cy="762000"/>
            </a:xfrm>
            <a:custGeom>
              <a:avLst/>
              <a:gdLst>
                <a:gd name="T0" fmla="*/ 0 w 158"/>
                <a:gd name="T1" fmla="*/ 0 h 480"/>
                <a:gd name="T2" fmla="*/ 0 w 158"/>
                <a:gd name="T3" fmla="*/ 480 h 480"/>
                <a:gd name="T4" fmla="*/ 158 w 158"/>
                <a:gd name="T5" fmla="*/ 480 h 480"/>
                <a:gd name="T6" fmla="*/ 158 w 158"/>
                <a:gd name="T7" fmla="*/ 0 h 480"/>
                <a:gd name="T8" fmla="*/ 0 w 158"/>
                <a:gd name="T9" fmla="*/ 0 h 480"/>
                <a:gd name="T10" fmla="*/ 78 w 158"/>
                <a:gd name="T11" fmla="*/ 446 h 480"/>
                <a:gd name="T12" fmla="*/ 78 w 158"/>
                <a:gd name="T13" fmla="*/ 446 h 480"/>
                <a:gd name="T14" fmla="*/ 68 w 158"/>
                <a:gd name="T15" fmla="*/ 444 h 480"/>
                <a:gd name="T16" fmla="*/ 60 w 158"/>
                <a:gd name="T17" fmla="*/ 438 h 480"/>
                <a:gd name="T18" fmla="*/ 54 w 158"/>
                <a:gd name="T19" fmla="*/ 430 h 480"/>
                <a:gd name="T20" fmla="*/ 52 w 158"/>
                <a:gd name="T21" fmla="*/ 420 h 480"/>
                <a:gd name="T22" fmla="*/ 52 w 158"/>
                <a:gd name="T23" fmla="*/ 420 h 480"/>
                <a:gd name="T24" fmla="*/ 54 w 158"/>
                <a:gd name="T25" fmla="*/ 410 h 480"/>
                <a:gd name="T26" fmla="*/ 60 w 158"/>
                <a:gd name="T27" fmla="*/ 402 h 480"/>
                <a:gd name="T28" fmla="*/ 68 w 158"/>
                <a:gd name="T29" fmla="*/ 396 h 480"/>
                <a:gd name="T30" fmla="*/ 78 w 158"/>
                <a:gd name="T31" fmla="*/ 394 h 480"/>
                <a:gd name="T32" fmla="*/ 78 w 158"/>
                <a:gd name="T33" fmla="*/ 394 h 480"/>
                <a:gd name="T34" fmla="*/ 88 w 158"/>
                <a:gd name="T35" fmla="*/ 396 h 480"/>
                <a:gd name="T36" fmla="*/ 96 w 158"/>
                <a:gd name="T37" fmla="*/ 402 h 480"/>
                <a:gd name="T38" fmla="*/ 102 w 158"/>
                <a:gd name="T39" fmla="*/ 410 h 480"/>
                <a:gd name="T40" fmla="*/ 104 w 158"/>
                <a:gd name="T41" fmla="*/ 420 h 480"/>
                <a:gd name="T42" fmla="*/ 104 w 158"/>
                <a:gd name="T43" fmla="*/ 420 h 480"/>
                <a:gd name="T44" fmla="*/ 102 w 158"/>
                <a:gd name="T45" fmla="*/ 430 h 480"/>
                <a:gd name="T46" fmla="*/ 96 w 158"/>
                <a:gd name="T47" fmla="*/ 438 h 480"/>
                <a:gd name="T48" fmla="*/ 88 w 158"/>
                <a:gd name="T49" fmla="*/ 444 h 480"/>
                <a:gd name="T50" fmla="*/ 78 w 158"/>
                <a:gd name="T51" fmla="*/ 446 h 480"/>
                <a:gd name="T52" fmla="*/ 78 w 158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8" h="480">
                  <a:moveTo>
                    <a:pt x="0" y="0"/>
                  </a:moveTo>
                  <a:lnTo>
                    <a:pt x="0" y="480"/>
                  </a:lnTo>
                  <a:lnTo>
                    <a:pt x="158" y="480"/>
                  </a:lnTo>
                  <a:lnTo>
                    <a:pt x="158" y="0"/>
                  </a:lnTo>
                  <a:lnTo>
                    <a:pt x="0" y="0"/>
                  </a:lnTo>
                  <a:close/>
                  <a:moveTo>
                    <a:pt x="78" y="446"/>
                  </a:moveTo>
                  <a:lnTo>
                    <a:pt x="78" y="446"/>
                  </a:lnTo>
                  <a:lnTo>
                    <a:pt x="68" y="444"/>
                  </a:lnTo>
                  <a:lnTo>
                    <a:pt x="60" y="438"/>
                  </a:lnTo>
                  <a:lnTo>
                    <a:pt x="54" y="430"/>
                  </a:lnTo>
                  <a:lnTo>
                    <a:pt x="52" y="420"/>
                  </a:lnTo>
                  <a:lnTo>
                    <a:pt x="52" y="420"/>
                  </a:lnTo>
                  <a:lnTo>
                    <a:pt x="54" y="410"/>
                  </a:lnTo>
                  <a:lnTo>
                    <a:pt x="60" y="402"/>
                  </a:lnTo>
                  <a:lnTo>
                    <a:pt x="68" y="396"/>
                  </a:lnTo>
                  <a:lnTo>
                    <a:pt x="78" y="394"/>
                  </a:lnTo>
                  <a:lnTo>
                    <a:pt x="78" y="394"/>
                  </a:lnTo>
                  <a:lnTo>
                    <a:pt x="88" y="396"/>
                  </a:lnTo>
                  <a:lnTo>
                    <a:pt x="96" y="402"/>
                  </a:lnTo>
                  <a:lnTo>
                    <a:pt x="102" y="410"/>
                  </a:lnTo>
                  <a:lnTo>
                    <a:pt x="104" y="420"/>
                  </a:lnTo>
                  <a:lnTo>
                    <a:pt x="104" y="420"/>
                  </a:lnTo>
                  <a:lnTo>
                    <a:pt x="102" y="430"/>
                  </a:lnTo>
                  <a:lnTo>
                    <a:pt x="96" y="438"/>
                  </a:lnTo>
                  <a:lnTo>
                    <a:pt x="88" y="444"/>
                  </a:lnTo>
                  <a:lnTo>
                    <a:pt x="78" y="446"/>
                  </a:lnTo>
                  <a:lnTo>
                    <a:pt x="78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7391400" y="1327150"/>
              <a:ext cx="254000" cy="762000"/>
            </a:xfrm>
            <a:custGeom>
              <a:avLst/>
              <a:gdLst>
                <a:gd name="T0" fmla="*/ 0 w 160"/>
                <a:gd name="T1" fmla="*/ 0 h 480"/>
                <a:gd name="T2" fmla="*/ 0 w 160"/>
                <a:gd name="T3" fmla="*/ 480 h 480"/>
                <a:gd name="T4" fmla="*/ 160 w 160"/>
                <a:gd name="T5" fmla="*/ 480 h 480"/>
                <a:gd name="T6" fmla="*/ 160 w 160"/>
                <a:gd name="T7" fmla="*/ 0 h 480"/>
                <a:gd name="T8" fmla="*/ 0 w 160"/>
                <a:gd name="T9" fmla="*/ 0 h 480"/>
                <a:gd name="T10" fmla="*/ 80 w 160"/>
                <a:gd name="T11" fmla="*/ 446 h 480"/>
                <a:gd name="T12" fmla="*/ 80 w 160"/>
                <a:gd name="T13" fmla="*/ 446 h 480"/>
                <a:gd name="T14" fmla="*/ 70 w 160"/>
                <a:gd name="T15" fmla="*/ 444 h 480"/>
                <a:gd name="T16" fmla="*/ 62 w 160"/>
                <a:gd name="T17" fmla="*/ 438 h 480"/>
                <a:gd name="T18" fmla="*/ 56 w 160"/>
                <a:gd name="T19" fmla="*/ 430 h 480"/>
                <a:gd name="T20" fmla="*/ 54 w 160"/>
                <a:gd name="T21" fmla="*/ 420 h 480"/>
                <a:gd name="T22" fmla="*/ 54 w 160"/>
                <a:gd name="T23" fmla="*/ 420 h 480"/>
                <a:gd name="T24" fmla="*/ 56 w 160"/>
                <a:gd name="T25" fmla="*/ 410 h 480"/>
                <a:gd name="T26" fmla="*/ 62 w 160"/>
                <a:gd name="T27" fmla="*/ 402 h 480"/>
                <a:gd name="T28" fmla="*/ 70 w 160"/>
                <a:gd name="T29" fmla="*/ 396 h 480"/>
                <a:gd name="T30" fmla="*/ 80 w 160"/>
                <a:gd name="T31" fmla="*/ 394 h 480"/>
                <a:gd name="T32" fmla="*/ 80 w 160"/>
                <a:gd name="T33" fmla="*/ 394 h 480"/>
                <a:gd name="T34" fmla="*/ 90 w 160"/>
                <a:gd name="T35" fmla="*/ 396 h 480"/>
                <a:gd name="T36" fmla="*/ 98 w 160"/>
                <a:gd name="T37" fmla="*/ 402 h 480"/>
                <a:gd name="T38" fmla="*/ 104 w 160"/>
                <a:gd name="T39" fmla="*/ 410 h 480"/>
                <a:gd name="T40" fmla="*/ 106 w 160"/>
                <a:gd name="T41" fmla="*/ 420 h 480"/>
                <a:gd name="T42" fmla="*/ 106 w 160"/>
                <a:gd name="T43" fmla="*/ 420 h 480"/>
                <a:gd name="T44" fmla="*/ 104 w 160"/>
                <a:gd name="T45" fmla="*/ 430 h 480"/>
                <a:gd name="T46" fmla="*/ 98 w 160"/>
                <a:gd name="T47" fmla="*/ 438 h 480"/>
                <a:gd name="T48" fmla="*/ 90 w 160"/>
                <a:gd name="T49" fmla="*/ 444 h 480"/>
                <a:gd name="T50" fmla="*/ 80 w 160"/>
                <a:gd name="T51" fmla="*/ 446 h 480"/>
                <a:gd name="T52" fmla="*/ 80 w 160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0" h="480">
                  <a:moveTo>
                    <a:pt x="0" y="0"/>
                  </a:moveTo>
                  <a:lnTo>
                    <a:pt x="0" y="480"/>
                  </a:lnTo>
                  <a:lnTo>
                    <a:pt x="160" y="480"/>
                  </a:lnTo>
                  <a:lnTo>
                    <a:pt x="160" y="0"/>
                  </a:lnTo>
                  <a:lnTo>
                    <a:pt x="0" y="0"/>
                  </a:lnTo>
                  <a:close/>
                  <a:moveTo>
                    <a:pt x="80" y="446"/>
                  </a:moveTo>
                  <a:lnTo>
                    <a:pt x="80" y="446"/>
                  </a:lnTo>
                  <a:lnTo>
                    <a:pt x="70" y="444"/>
                  </a:lnTo>
                  <a:lnTo>
                    <a:pt x="62" y="438"/>
                  </a:lnTo>
                  <a:lnTo>
                    <a:pt x="56" y="430"/>
                  </a:lnTo>
                  <a:lnTo>
                    <a:pt x="54" y="420"/>
                  </a:lnTo>
                  <a:lnTo>
                    <a:pt x="54" y="420"/>
                  </a:lnTo>
                  <a:lnTo>
                    <a:pt x="56" y="410"/>
                  </a:lnTo>
                  <a:lnTo>
                    <a:pt x="62" y="402"/>
                  </a:lnTo>
                  <a:lnTo>
                    <a:pt x="70" y="396"/>
                  </a:lnTo>
                  <a:lnTo>
                    <a:pt x="80" y="394"/>
                  </a:lnTo>
                  <a:lnTo>
                    <a:pt x="80" y="394"/>
                  </a:lnTo>
                  <a:lnTo>
                    <a:pt x="90" y="396"/>
                  </a:lnTo>
                  <a:lnTo>
                    <a:pt x="98" y="402"/>
                  </a:lnTo>
                  <a:lnTo>
                    <a:pt x="104" y="410"/>
                  </a:lnTo>
                  <a:lnTo>
                    <a:pt x="106" y="420"/>
                  </a:lnTo>
                  <a:lnTo>
                    <a:pt x="106" y="420"/>
                  </a:lnTo>
                  <a:lnTo>
                    <a:pt x="104" y="430"/>
                  </a:lnTo>
                  <a:lnTo>
                    <a:pt x="98" y="438"/>
                  </a:lnTo>
                  <a:lnTo>
                    <a:pt x="90" y="444"/>
                  </a:lnTo>
                  <a:lnTo>
                    <a:pt x="80" y="446"/>
                  </a:lnTo>
                  <a:lnTo>
                    <a:pt x="80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</p:grpSp>
      <p:cxnSp>
        <p:nvCxnSpPr>
          <p:cNvPr id="71" name="Straight Connector 70"/>
          <p:cNvCxnSpPr/>
          <p:nvPr/>
        </p:nvCxnSpPr>
        <p:spPr>
          <a:xfrm rot="5400000">
            <a:off x="4145511" y="5642711"/>
            <a:ext cx="714333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704115" y="3524794"/>
            <a:ext cx="7969285" cy="1475035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Financial Incentives</a:t>
            </a:r>
          </a:p>
          <a:p>
            <a:pPr marL="194304" indent="-194304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Tax Holidays or Subsidize 20-30% Investments </a:t>
            </a:r>
            <a:r>
              <a:rPr lang="en-US" sz="1600" dirty="0">
                <a:solidFill>
                  <a:prstClr val="black"/>
                </a:solidFill>
              </a:rPr>
              <a:t>for small units going for modernization (EAF/ LRL units)</a:t>
            </a:r>
          </a:p>
          <a:p>
            <a:pPr marL="194304" indent="-194304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Arranging loans at </a:t>
            </a:r>
            <a:r>
              <a:rPr lang="en-US" sz="1600" b="1" dirty="0"/>
              <a:t>subsidized rates </a:t>
            </a:r>
            <a:r>
              <a:rPr lang="en-US" sz="1600" dirty="0"/>
              <a:t>or entering into Tripartite Financing   partnership</a:t>
            </a:r>
            <a:endParaRPr lang="en-US" sz="1813" b="1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89052" y="5405820"/>
            <a:ext cx="8886915" cy="2554818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Ecosystem Development</a:t>
            </a:r>
          </a:p>
          <a:p>
            <a:pPr marL="323840" indent="-323840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Generic promotion amongst end consumers </a:t>
            </a:r>
            <a:r>
              <a:rPr lang="en-US" sz="1600" dirty="0">
                <a:solidFill>
                  <a:prstClr val="black"/>
                </a:solidFill>
              </a:rPr>
              <a:t>on importance of conformity to Quality standards will help in </a:t>
            </a:r>
            <a:r>
              <a:rPr lang="en-US" sz="1600" b="1" dirty="0">
                <a:solidFill>
                  <a:prstClr val="black"/>
                </a:solidFill>
              </a:rPr>
              <a:t>wider adoption </a:t>
            </a:r>
            <a:r>
              <a:rPr lang="en-US" sz="1600" dirty="0">
                <a:solidFill>
                  <a:prstClr val="black"/>
                </a:solidFill>
              </a:rPr>
              <a:t>and </a:t>
            </a:r>
            <a:r>
              <a:rPr lang="en-US" sz="1600" b="1" dirty="0">
                <a:solidFill>
                  <a:prstClr val="black"/>
                </a:solidFill>
              </a:rPr>
              <a:t>acceptance</a:t>
            </a:r>
            <a:r>
              <a:rPr lang="en-US" sz="1600" dirty="0">
                <a:solidFill>
                  <a:prstClr val="black"/>
                </a:solidFill>
              </a:rPr>
              <a:t> of </a:t>
            </a:r>
            <a:r>
              <a:rPr lang="en-US" sz="1600" b="1" dirty="0">
                <a:solidFill>
                  <a:prstClr val="black"/>
                </a:solidFill>
              </a:rPr>
              <a:t>QCO </a:t>
            </a:r>
            <a:r>
              <a:rPr lang="en-US" sz="1600" dirty="0">
                <a:solidFill>
                  <a:prstClr val="black"/>
                </a:solidFill>
              </a:rPr>
              <a:t> and lesser dependency on Brand </a:t>
            </a:r>
          </a:p>
          <a:p>
            <a:pPr marL="323840" indent="-323840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Export Promotion Cells </a:t>
            </a:r>
            <a:r>
              <a:rPr lang="en-US" sz="1600" dirty="0">
                <a:solidFill>
                  <a:prstClr val="black"/>
                </a:solidFill>
              </a:rPr>
              <a:t>in Steel Clusters helping in knowledge dissemination on importance of quality standards , key export markets , harmonization etc.</a:t>
            </a:r>
          </a:p>
          <a:p>
            <a:pPr marL="323840" indent="-323840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13131"/>
                </a:solidFill>
              </a:rPr>
              <a:t>Technical support and guidance for MSMEs </a:t>
            </a:r>
            <a:r>
              <a:rPr lang="en-US" sz="1600" dirty="0">
                <a:solidFill>
                  <a:srgbClr val="313131"/>
                </a:solidFill>
              </a:rPr>
              <a:t>helping them revamp of process for improving quality production and process control</a:t>
            </a:r>
          </a:p>
          <a:p>
            <a:pPr defTabSz="710777">
              <a:spcAft>
                <a:spcPts val="400"/>
              </a:spcAft>
            </a:pPr>
            <a:endParaRPr lang="en-US" sz="1600" dirty="0">
              <a:solidFill>
                <a:prstClr val="black"/>
              </a:solidFill>
            </a:endParaRPr>
          </a:p>
        </p:txBody>
      </p:sp>
      <p:pic>
        <p:nvPicPr>
          <p:cNvPr id="32" name="Picture 31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  <p:sp>
        <p:nvSpPr>
          <p:cNvPr id="33" name="Freeform 214"/>
          <p:cNvSpPr>
            <a:spLocks/>
          </p:cNvSpPr>
          <p:nvPr/>
        </p:nvSpPr>
        <p:spPr bwMode="auto">
          <a:xfrm>
            <a:off x="3416719" y="5549571"/>
            <a:ext cx="1020152" cy="361262"/>
          </a:xfrm>
          <a:custGeom>
            <a:avLst/>
            <a:gdLst>
              <a:gd name="T0" fmla="*/ 466 w 472"/>
              <a:gd name="T1" fmla="*/ 78 h 218"/>
              <a:gd name="T2" fmla="*/ 246 w 472"/>
              <a:gd name="T3" fmla="*/ 2 h 218"/>
              <a:gd name="T4" fmla="*/ 246 w 472"/>
              <a:gd name="T5" fmla="*/ 2 h 218"/>
              <a:gd name="T6" fmla="*/ 236 w 472"/>
              <a:gd name="T7" fmla="*/ 0 h 218"/>
              <a:gd name="T8" fmla="*/ 226 w 472"/>
              <a:gd name="T9" fmla="*/ 2 h 218"/>
              <a:gd name="T10" fmla="*/ 4 w 472"/>
              <a:gd name="T11" fmla="*/ 80 h 218"/>
              <a:gd name="T12" fmla="*/ 4 w 472"/>
              <a:gd name="T13" fmla="*/ 80 h 218"/>
              <a:gd name="T14" fmla="*/ 2 w 472"/>
              <a:gd name="T15" fmla="*/ 82 h 218"/>
              <a:gd name="T16" fmla="*/ 0 w 472"/>
              <a:gd name="T17" fmla="*/ 84 h 218"/>
              <a:gd name="T18" fmla="*/ 2 w 472"/>
              <a:gd name="T19" fmla="*/ 84 h 218"/>
              <a:gd name="T20" fmla="*/ 4 w 472"/>
              <a:gd name="T21" fmla="*/ 86 h 218"/>
              <a:gd name="T22" fmla="*/ 96 w 472"/>
              <a:gd name="T23" fmla="*/ 118 h 218"/>
              <a:gd name="T24" fmla="*/ 96 w 472"/>
              <a:gd name="T25" fmla="*/ 184 h 218"/>
              <a:gd name="T26" fmla="*/ 96 w 472"/>
              <a:gd name="T27" fmla="*/ 184 h 218"/>
              <a:gd name="T28" fmla="*/ 108 w 472"/>
              <a:gd name="T29" fmla="*/ 178 h 218"/>
              <a:gd name="T30" fmla="*/ 126 w 472"/>
              <a:gd name="T31" fmla="*/ 178 h 218"/>
              <a:gd name="T32" fmla="*/ 146 w 472"/>
              <a:gd name="T33" fmla="*/ 178 h 218"/>
              <a:gd name="T34" fmla="*/ 168 w 472"/>
              <a:gd name="T35" fmla="*/ 184 h 218"/>
              <a:gd name="T36" fmla="*/ 168 w 472"/>
              <a:gd name="T37" fmla="*/ 184 h 218"/>
              <a:gd name="T38" fmla="*/ 188 w 472"/>
              <a:gd name="T39" fmla="*/ 190 h 218"/>
              <a:gd name="T40" fmla="*/ 206 w 472"/>
              <a:gd name="T41" fmla="*/ 198 h 218"/>
              <a:gd name="T42" fmla="*/ 220 w 472"/>
              <a:gd name="T43" fmla="*/ 208 h 218"/>
              <a:gd name="T44" fmla="*/ 230 w 472"/>
              <a:gd name="T45" fmla="*/ 218 h 218"/>
              <a:gd name="T46" fmla="*/ 230 w 472"/>
              <a:gd name="T47" fmla="*/ 218 h 218"/>
              <a:gd name="T48" fmla="*/ 238 w 472"/>
              <a:gd name="T49" fmla="*/ 218 h 218"/>
              <a:gd name="T50" fmla="*/ 238 w 472"/>
              <a:gd name="T51" fmla="*/ 218 h 218"/>
              <a:gd name="T52" fmla="*/ 248 w 472"/>
              <a:gd name="T53" fmla="*/ 208 h 218"/>
              <a:gd name="T54" fmla="*/ 262 w 472"/>
              <a:gd name="T55" fmla="*/ 198 h 218"/>
              <a:gd name="T56" fmla="*/ 278 w 472"/>
              <a:gd name="T57" fmla="*/ 190 h 218"/>
              <a:gd name="T58" fmla="*/ 300 w 472"/>
              <a:gd name="T59" fmla="*/ 184 h 218"/>
              <a:gd name="T60" fmla="*/ 300 w 472"/>
              <a:gd name="T61" fmla="*/ 184 h 218"/>
              <a:gd name="T62" fmla="*/ 318 w 472"/>
              <a:gd name="T63" fmla="*/ 180 h 218"/>
              <a:gd name="T64" fmla="*/ 336 w 472"/>
              <a:gd name="T65" fmla="*/ 178 h 218"/>
              <a:gd name="T66" fmla="*/ 352 w 472"/>
              <a:gd name="T67" fmla="*/ 178 h 218"/>
              <a:gd name="T68" fmla="*/ 366 w 472"/>
              <a:gd name="T69" fmla="*/ 180 h 218"/>
              <a:gd name="T70" fmla="*/ 366 w 472"/>
              <a:gd name="T71" fmla="*/ 120 h 218"/>
              <a:gd name="T72" fmla="*/ 406 w 472"/>
              <a:gd name="T73" fmla="*/ 106 h 218"/>
              <a:gd name="T74" fmla="*/ 406 w 472"/>
              <a:gd name="T75" fmla="*/ 122 h 218"/>
              <a:gd name="T76" fmla="*/ 406 w 472"/>
              <a:gd name="T77" fmla="*/ 122 h 218"/>
              <a:gd name="T78" fmla="*/ 400 w 472"/>
              <a:gd name="T79" fmla="*/ 126 h 218"/>
              <a:gd name="T80" fmla="*/ 398 w 472"/>
              <a:gd name="T81" fmla="*/ 130 h 218"/>
              <a:gd name="T82" fmla="*/ 398 w 472"/>
              <a:gd name="T83" fmla="*/ 134 h 218"/>
              <a:gd name="T84" fmla="*/ 398 w 472"/>
              <a:gd name="T85" fmla="*/ 134 h 218"/>
              <a:gd name="T86" fmla="*/ 398 w 472"/>
              <a:gd name="T87" fmla="*/ 138 h 218"/>
              <a:gd name="T88" fmla="*/ 402 w 472"/>
              <a:gd name="T89" fmla="*/ 142 h 218"/>
              <a:gd name="T90" fmla="*/ 392 w 472"/>
              <a:gd name="T91" fmla="*/ 208 h 218"/>
              <a:gd name="T92" fmla="*/ 430 w 472"/>
              <a:gd name="T93" fmla="*/ 208 h 218"/>
              <a:gd name="T94" fmla="*/ 418 w 472"/>
              <a:gd name="T95" fmla="*/ 144 h 218"/>
              <a:gd name="T96" fmla="*/ 418 w 472"/>
              <a:gd name="T97" fmla="*/ 144 h 218"/>
              <a:gd name="T98" fmla="*/ 422 w 472"/>
              <a:gd name="T99" fmla="*/ 140 h 218"/>
              <a:gd name="T100" fmla="*/ 424 w 472"/>
              <a:gd name="T101" fmla="*/ 134 h 218"/>
              <a:gd name="T102" fmla="*/ 424 w 472"/>
              <a:gd name="T103" fmla="*/ 134 h 218"/>
              <a:gd name="T104" fmla="*/ 422 w 472"/>
              <a:gd name="T105" fmla="*/ 130 h 218"/>
              <a:gd name="T106" fmla="*/ 420 w 472"/>
              <a:gd name="T107" fmla="*/ 126 h 218"/>
              <a:gd name="T108" fmla="*/ 416 w 472"/>
              <a:gd name="T109" fmla="*/ 122 h 218"/>
              <a:gd name="T110" fmla="*/ 416 w 472"/>
              <a:gd name="T111" fmla="*/ 102 h 218"/>
              <a:gd name="T112" fmla="*/ 466 w 472"/>
              <a:gd name="T113" fmla="*/ 84 h 218"/>
              <a:gd name="T114" fmla="*/ 466 w 472"/>
              <a:gd name="T115" fmla="*/ 84 h 218"/>
              <a:gd name="T116" fmla="*/ 470 w 472"/>
              <a:gd name="T117" fmla="*/ 82 h 218"/>
              <a:gd name="T118" fmla="*/ 472 w 472"/>
              <a:gd name="T119" fmla="*/ 82 h 218"/>
              <a:gd name="T120" fmla="*/ 470 w 472"/>
              <a:gd name="T121" fmla="*/ 80 h 218"/>
              <a:gd name="T122" fmla="*/ 466 w 472"/>
              <a:gd name="T123" fmla="*/ 78 h 218"/>
              <a:gd name="T124" fmla="*/ 466 w 472"/>
              <a:gd name="T125" fmla="*/ 7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2" h="218">
                <a:moveTo>
                  <a:pt x="466" y="78"/>
                </a:moveTo>
                <a:lnTo>
                  <a:pt x="246" y="2"/>
                </a:lnTo>
                <a:lnTo>
                  <a:pt x="246" y="2"/>
                </a:lnTo>
                <a:lnTo>
                  <a:pt x="236" y="0"/>
                </a:lnTo>
                <a:lnTo>
                  <a:pt x="226" y="2"/>
                </a:lnTo>
                <a:lnTo>
                  <a:pt x="4" y="80"/>
                </a:lnTo>
                <a:lnTo>
                  <a:pt x="4" y="80"/>
                </a:lnTo>
                <a:lnTo>
                  <a:pt x="2" y="82"/>
                </a:lnTo>
                <a:lnTo>
                  <a:pt x="0" y="84"/>
                </a:lnTo>
                <a:lnTo>
                  <a:pt x="2" y="84"/>
                </a:lnTo>
                <a:lnTo>
                  <a:pt x="4" y="86"/>
                </a:lnTo>
                <a:lnTo>
                  <a:pt x="96" y="118"/>
                </a:lnTo>
                <a:lnTo>
                  <a:pt x="96" y="184"/>
                </a:lnTo>
                <a:lnTo>
                  <a:pt x="96" y="184"/>
                </a:lnTo>
                <a:lnTo>
                  <a:pt x="108" y="178"/>
                </a:lnTo>
                <a:lnTo>
                  <a:pt x="126" y="178"/>
                </a:lnTo>
                <a:lnTo>
                  <a:pt x="146" y="178"/>
                </a:lnTo>
                <a:lnTo>
                  <a:pt x="168" y="184"/>
                </a:lnTo>
                <a:lnTo>
                  <a:pt x="168" y="184"/>
                </a:lnTo>
                <a:lnTo>
                  <a:pt x="188" y="190"/>
                </a:lnTo>
                <a:lnTo>
                  <a:pt x="206" y="198"/>
                </a:lnTo>
                <a:lnTo>
                  <a:pt x="220" y="208"/>
                </a:lnTo>
                <a:lnTo>
                  <a:pt x="230" y="218"/>
                </a:lnTo>
                <a:lnTo>
                  <a:pt x="230" y="218"/>
                </a:lnTo>
                <a:lnTo>
                  <a:pt x="238" y="218"/>
                </a:lnTo>
                <a:lnTo>
                  <a:pt x="238" y="218"/>
                </a:lnTo>
                <a:lnTo>
                  <a:pt x="248" y="208"/>
                </a:lnTo>
                <a:lnTo>
                  <a:pt x="262" y="198"/>
                </a:lnTo>
                <a:lnTo>
                  <a:pt x="278" y="190"/>
                </a:lnTo>
                <a:lnTo>
                  <a:pt x="300" y="184"/>
                </a:lnTo>
                <a:lnTo>
                  <a:pt x="300" y="184"/>
                </a:lnTo>
                <a:lnTo>
                  <a:pt x="318" y="180"/>
                </a:lnTo>
                <a:lnTo>
                  <a:pt x="336" y="178"/>
                </a:lnTo>
                <a:lnTo>
                  <a:pt x="352" y="178"/>
                </a:lnTo>
                <a:lnTo>
                  <a:pt x="366" y="180"/>
                </a:lnTo>
                <a:lnTo>
                  <a:pt x="366" y="120"/>
                </a:lnTo>
                <a:lnTo>
                  <a:pt x="406" y="106"/>
                </a:lnTo>
                <a:lnTo>
                  <a:pt x="406" y="122"/>
                </a:lnTo>
                <a:lnTo>
                  <a:pt x="406" y="122"/>
                </a:lnTo>
                <a:lnTo>
                  <a:pt x="400" y="126"/>
                </a:lnTo>
                <a:lnTo>
                  <a:pt x="398" y="130"/>
                </a:lnTo>
                <a:lnTo>
                  <a:pt x="398" y="134"/>
                </a:lnTo>
                <a:lnTo>
                  <a:pt x="398" y="134"/>
                </a:lnTo>
                <a:lnTo>
                  <a:pt x="398" y="138"/>
                </a:lnTo>
                <a:lnTo>
                  <a:pt x="402" y="142"/>
                </a:lnTo>
                <a:lnTo>
                  <a:pt x="392" y="208"/>
                </a:lnTo>
                <a:lnTo>
                  <a:pt x="430" y="208"/>
                </a:lnTo>
                <a:lnTo>
                  <a:pt x="418" y="144"/>
                </a:lnTo>
                <a:lnTo>
                  <a:pt x="418" y="144"/>
                </a:lnTo>
                <a:lnTo>
                  <a:pt x="422" y="140"/>
                </a:lnTo>
                <a:lnTo>
                  <a:pt x="424" y="134"/>
                </a:lnTo>
                <a:lnTo>
                  <a:pt x="424" y="134"/>
                </a:lnTo>
                <a:lnTo>
                  <a:pt x="422" y="130"/>
                </a:lnTo>
                <a:lnTo>
                  <a:pt x="420" y="126"/>
                </a:lnTo>
                <a:lnTo>
                  <a:pt x="416" y="122"/>
                </a:lnTo>
                <a:lnTo>
                  <a:pt x="416" y="102"/>
                </a:lnTo>
                <a:lnTo>
                  <a:pt x="466" y="84"/>
                </a:lnTo>
                <a:lnTo>
                  <a:pt x="466" y="84"/>
                </a:lnTo>
                <a:lnTo>
                  <a:pt x="470" y="82"/>
                </a:lnTo>
                <a:lnTo>
                  <a:pt x="472" y="82"/>
                </a:lnTo>
                <a:lnTo>
                  <a:pt x="470" y="80"/>
                </a:lnTo>
                <a:lnTo>
                  <a:pt x="466" y="78"/>
                </a:lnTo>
                <a:lnTo>
                  <a:pt x="466" y="78"/>
                </a:lnTo>
                <a:close/>
              </a:path>
            </a:pathLst>
          </a:custGeom>
          <a:solidFill>
            <a:srgbClr val="0027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34" name="Freeform 7"/>
          <p:cNvSpPr>
            <a:spLocks/>
          </p:cNvSpPr>
          <p:nvPr/>
        </p:nvSpPr>
        <p:spPr bwMode="auto">
          <a:xfrm>
            <a:off x="500743" y="1828933"/>
            <a:ext cx="3726246" cy="4414602"/>
          </a:xfrm>
          <a:custGeom>
            <a:avLst/>
            <a:gdLst>
              <a:gd name="T0" fmla="*/ 2003 w 3909"/>
              <a:gd name="T1" fmla="*/ 4928 h 5000"/>
              <a:gd name="T2" fmla="*/ 2187 w 3909"/>
              <a:gd name="T3" fmla="*/ 4877 h 5000"/>
              <a:gd name="T4" fmla="*/ 2364 w 3909"/>
              <a:gd name="T5" fmla="*/ 4811 h 5000"/>
              <a:gd name="T6" fmla="*/ 2533 w 3909"/>
              <a:gd name="T7" fmla="*/ 4734 h 5000"/>
              <a:gd name="T8" fmla="*/ 2695 w 3909"/>
              <a:gd name="T9" fmla="*/ 4645 h 5000"/>
              <a:gd name="T10" fmla="*/ 2849 w 3909"/>
              <a:gd name="T11" fmla="*/ 4545 h 5000"/>
              <a:gd name="T12" fmla="*/ 2993 w 3909"/>
              <a:gd name="T13" fmla="*/ 4434 h 5000"/>
              <a:gd name="T14" fmla="*/ 3130 w 3909"/>
              <a:gd name="T15" fmla="*/ 4314 h 5000"/>
              <a:gd name="T16" fmla="*/ 3256 w 3909"/>
              <a:gd name="T17" fmla="*/ 4185 h 5000"/>
              <a:gd name="T18" fmla="*/ 3372 w 3909"/>
              <a:gd name="T19" fmla="*/ 4049 h 5000"/>
              <a:gd name="T20" fmla="*/ 3478 w 3909"/>
              <a:gd name="T21" fmla="*/ 3903 h 5000"/>
              <a:gd name="T22" fmla="*/ 3574 w 3909"/>
              <a:gd name="T23" fmla="*/ 3750 h 5000"/>
              <a:gd name="T24" fmla="*/ 3658 w 3909"/>
              <a:gd name="T25" fmla="*/ 3591 h 5000"/>
              <a:gd name="T26" fmla="*/ 3731 w 3909"/>
              <a:gd name="T27" fmla="*/ 3427 h 5000"/>
              <a:gd name="T28" fmla="*/ 3792 w 3909"/>
              <a:gd name="T29" fmla="*/ 3256 h 5000"/>
              <a:gd name="T30" fmla="*/ 3841 w 3909"/>
              <a:gd name="T31" fmla="*/ 3082 h 5000"/>
              <a:gd name="T32" fmla="*/ 3876 w 3909"/>
              <a:gd name="T33" fmla="*/ 2902 h 5000"/>
              <a:gd name="T34" fmla="*/ 3900 w 3909"/>
              <a:gd name="T35" fmla="*/ 2720 h 5000"/>
              <a:gd name="T36" fmla="*/ 3909 w 3909"/>
              <a:gd name="T37" fmla="*/ 2536 h 5000"/>
              <a:gd name="T38" fmla="*/ 3904 w 3909"/>
              <a:gd name="T39" fmla="*/ 2349 h 5000"/>
              <a:gd name="T40" fmla="*/ 3885 w 3909"/>
              <a:gd name="T41" fmla="*/ 2159 h 5000"/>
              <a:gd name="T42" fmla="*/ 3852 w 3909"/>
              <a:gd name="T43" fmla="*/ 1970 h 5000"/>
              <a:gd name="T44" fmla="*/ 3821 w 3909"/>
              <a:gd name="T45" fmla="*/ 1846 h 5000"/>
              <a:gd name="T46" fmla="*/ 3765 w 3909"/>
              <a:gd name="T47" fmla="*/ 1664 h 5000"/>
              <a:gd name="T48" fmla="*/ 3696 w 3909"/>
              <a:gd name="T49" fmla="*/ 1488 h 5000"/>
              <a:gd name="T50" fmla="*/ 3614 w 3909"/>
              <a:gd name="T51" fmla="*/ 1321 h 5000"/>
              <a:gd name="T52" fmla="*/ 3521 w 3909"/>
              <a:gd name="T53" fmla="*/ 1162 h 5000"/>
              <a:gd name="T54" fmla="*/ 3418 w 3909"/>
              <a:gd name="T55" fmla="*/ 1012 h 5000"/>
              <a:gd name="T56" fmla="*/ 3304 w 3909"/>
              <a:gd name="T57" fmla="*/ 870 h 5000"/>
              <a:gd name="T58" fmla="*/ 3181 w 3909"/>
              <a:gd name="T59" fmla="*/ 737 h 5000"/>
              <a:gd name="T60" fmla="*/ 3050 w 3909"/>
              <a:gd name="T61" fmla="*/ 613 h 5000"/>
              <a:gd name="T62" fmla="*/ 2910 w 3909"/>
              <a:gd name="T63" fmla="*/ 501 h 5000"/>
              <a:gd name="T64" fmla="*/ 2762 w 3909"/>
              <a:gd name="T65" fmla="*/ 399 h 5000"/>
              <a:gd name="T66" fmla="*/ 2607 w 3909"/>
              <a:gd name="T67" fmla="*/ 306 h 5000"/>
              <a:gd name="T68" fmla="*/ 2446 w 3909"/>
              <a:gd name="T69" fmla="*/ 225 h 5000"/>
              <a:gd name="T70" fmla="*/ 2279 w 3909"/>
              <a:gd name="T71" fmla="*/ 157 h 5000"/>
              <a:gd name="T72" fmla="*/ 2107 w 3909"/>
              <a:gd name="T73" fmla="*/ 100 h 5000"/>
              <a:gd name="T74" fmla="*/ 1932 w 3909"/>
              <a:gd name="T75" fmla="*/ 55 h 5000"/>
              <a:gd name="T76" fmla="*/ 1751 w 3909"/>
              <a:gd name="T77" fmla="*/ 23 h 5000"/>
              <a:gd name="T78" fmla="*/ 1568 w 3909"/>
              <a:gd name="T79" fmla="*/ 5 h 5000"/>
              <a:gd name="T80" fmla="*/ 1382 w 3909"/>
              <a:gd name="T81" fmla="*/ 0 h 5000"/>
              <a:gd name="T82" fmla="*/ 1195 w 3909"/>
              <a:gd name="T83" fmla="*/ 11 h 5000"/>
              <a:gd name="T84" fmla="*/ 1006 w 3909"/>
              <a:gd name="T85" fmla="*/ 33 h 5000"/>
              <a:gd name="T86" fmla="*/ 879 w 3909"/>
              <a:gd name="T87" fmla="*/ 57 h 5000"/>
              <a:gd name="T88" fmla="*/ 700 w 3909"/>
              <a:gd name="T89" fmla="*/ 104 h 5000"/>
              <a:gd name="T90" fmla="*/ 527 w 3909"/>
              <a:gd name="T91" fmla="*/ 162 h 5000"/>
              <a:gd name="T92" fmla="*/ 360 w 3909"/>
              <a:gd name="T93" fmla="*/ 232 h 5000"/>
              <a:gd name="T94" fmla="*/ 201 w 3909"/>
              <a:gd name="T95" fmla="*/ 313 h 5000"/>
              <a:gd name="T96" fmla="*/ 49 w 3909"/>
              <a:gd name="T97" fmla="*/ 404 h 5000"/>
              <a:gd name="T98" fmla="*/ 0 w 3909"/>
              <a:gd name="T99" fmla="*/ 4564 h 5000"/>
              <a:gd name="T100" fmla="*/ 158 w 3909"/>
              <a:gd name="T101" fmla="*/ 4664 h 5000"/>
              <a:gd name="T102" fmla="*/ 322 w 3909"/>
              <a:gd name="T103" fmla="*/ 4751 h 5000"/>
              <a:gd name="T104" fmla="*/ 494 w 3909"/>
              <a:gd name="T105" fmla="*/ 4826 h 5000"/>
              <a:gd name="T106" fmla="*/ 670 w 3909"/>
              <a:gd name="T107" fmla="*/ 4889 h 5000"/>
              <a:gd name="T108" fmla="*/ 852 w 3909"/>
              <a:gd name="T109" fmla="*/ 4937 h 5000"/>
              <a:gd name="T110" fmla="*/ 1037 w 3909"/>
              <a:gd name="T111" fmla="*/ 4973 h 5000"/>
              <a:gd name="T112" fmla="*/ 1227 w 3909"/>
              <a:gd name="T113" fmla="*/ 4994 h 5000"/>
              <a:gd name="T114" fmla="*/ 1419 w 3909"/>
              <a:gd name="T115" fmla="*/ 5000 h 5000"/>
              <a:gd name="T116" fmla="*/ 1613 w 3909"/>
              <a:gd name="T117" fmla="*/ 4993 h 5000"/>
              <a:gd name="T118" fmla="*/ 1809 w 3909"/>
              <a:gd name="T119" fmla="*/ 4969 h 5000"/>
              <a:gd name="T120" fmla="*/ 1941 w 3909"/>
              <a:gd name="T121" fmla="*/ 4944 h 5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125 w 10000"/>
              <a:gd name="connsiteY146" fmla="*/ 808 h 10000"/>
              <a:gd name="connsiteX147" fmla="*/ 0 w 10000"/>
              <a:gd name="connsiteY147" fmla="*/ 9128 h 10000"/>
              <a:gd name="connsiteX148" fmla="*/ 0 w 10000"/>
              <a:gd name="connsiteY148" fmla="*/ 9128 h 10000"/>
              <a:gd name="connsiteX149" fmla="*/ 133 w 10000"/>
              <a:gd name="connsiteY149" fmla="*/ 9198 h 10000"/>
              <a:gd name="connsiteX150" fmla="*/ 269 w 10000"/>
              <a:gd name="connsiteY150" fmla="*/ 9262 h 10000"/>
              <a:gd name="connsiteX151" fmla="*/ 404 w 10000"/>
              <a:gd name="connsiteY151" fmla="*/ 9328 h 10000"/>
              <a:gd name="connsiteX152" fmla="*/ 542 w 10000"/>
              <a:gd name="connsiteY152" fmla="*/ 9390 h 10000"/>
              <a:gd name="connsiteX153" fmla="*/ 683 w 10000"/>
              <a:gd name="connsiteY153" fmla="*/ 9448 h 10000"/>
              <a:gd name="connsiteX154" fmla="*/ 824 w 10000"/>
              <a:gd name="connsiteY154" fmla="*/ 9502 h 10000"/>
              <a:gd name="connsiteX155" fmla="*/ 970 w 10000"/>
              <a:gd name="connsiteY155" fmla="*/ 9556 h 10000"/>
              <a:gd name="connsiteX156" fmla="*/ 1115 w 10000"/>
              <a:gd name="connsiteY156" fmla="*/ 9606 h 10000"/>
              <a:gd name="connsiteX157" fmla="*/ 1264 w 10000"/>
              <a:gd name="connsiteY157" fmla="*/ 9652 h 10000"/>
              <a:gd name="connsiteX158" fmla="*/ 1412 w 10000"/>
              <a:gd name="connsiteY158" fmla="*/ 9698 h 10000"/>
              <a:gd name="connsiteX159" fmla="*/ 1561 w 10000"/>
              <a:gd name="connsiteY159" fmla="*/ 9738 h 10000"/>
              <a:gd name="connsiteX160" fmla="*/ 1714 w 10000"/>
              <a:gd name="connsiteY160" fmla="*/ 9778 h 10000"/>
              <a:gd name="connsiteX161" fmla="*/ 1867 w 10000"/>
              <a:gd name="connsiteY161" fmla="*/ 9814 h 10000"/>
              <a:gd name="connsiteX162" fmla="*/ 2024 w 10000"/>
              <a:gd name="connsiteY162" fmla="*/ 9846 h 10000"/>
              <a:gd name="connsiteX163" fmla="*/ 2180 w 10000"/>
              <a:gd name="connsiteY163" fmla="*/ 9874 h 10000"/>
              <a:gd name="connsiteX164" fmla="*/ 2336 w 10000"/>
              <a:gd name="connsiteY164" fmla="*/ 9902 h 10000"/>
              <a:gd name="connsiteX165" fmla="*/ 2494 w 10000"/>
              <a:gd name="connsiteY165" fmla="*/ 9926 h 10000"/>
              <a:gd name="connsiteX166" fmla="*/ 2653 w 10000"/>
              <a:gd name="connsiteY166" fmla="*/ 9946 h 10000"/>
              <a:gd name="connsiteX167" fmla="*/ 2814 w 10000"/>
              <a:gd name="connsiteY167" fmla="*/ 9962 h 10000"/>
              <a:gd name="connsiteX168" fmla="*/ 2978 w 10000"/>
              <a:gd name="connsiteY168" fmla="*/ 9978 h 10000"/>
              <a:gd name="connsiteX169" fmla="*/ 3139 w 10000"/>
              <a:gd name="connsiteY169" fmla="*/ 9988 h 10000"/>
              <a:gd name="connsiteX170" fmla="*/ 3303 w 10000"/>
              <a:gd name="connsiteY170" fmla="*/ 9996 h 10000"/>
              <a:gd name="connsiteX171" fmla="*/ 3464 w 10000"/>
              <a:gd name="connsiteY171" fmla="*/ 10000 h 10000"/>
              <a:gd name="connsiteX172" fmla="*/ 3630 w 10000"/>
              <a:gd name="connsiteY172" fmla="*/ 10000 h 10000"/>
              <a:gd name="connsiteX173" fmla="*/ 3794 w 10000"/>
              <a:gd name="connsiteY173" fmla="*/ 9998 h 10000"/>
              <a:gd name="connsiteX174" fmla="*/ 3963 w 10000"/>
              <a:gd name="connsiteY174" fmla="*/ 9994 h 10000"/>
              <a:gd name="connsiteX175" fmla="*/ 4126 w 10000"/>
              <a:gd name="connsiteY175" fmla="*/ 9986 h 10000"/>
              <a:gd name="connsiteX176" fmla="*/ 4295 w 10000"/>
              <a:gd name="connsiteY176" fmla="*/ 9974 h 10000"/>
              <a:gd name="connsiteX177" fmla="*/ 4461 w 10000"/>
              <a:gd name="connsiteY177" fmla="*/ 9956 h 10000"/>
              <a:gd name="connsiteX178" fmla="*/ 4628 w 10000"/>
              <a:gd name="connsiteY178" fmla="*/ 9938 h 10000"/>
              <a:gd name="connsiteX179" fmla="*/ 4797 w 10000"/>
              <a:gd name="connsiteY179" fmla="*/ 9912 h 10000"/>
              <a:gd name="connsiteX180" fmla="*/ 4965 w 10000"/>
              <a:gd name="connsiteY180" fmla="*/ 9888 h 10000"/>
              <a:gd name="connsiteX181" fmla="*/ 4965 w 10000"/>
              <a:gd name="connsiteY18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0 w 10000"/>
              <a:gd name="connsiteY146" fmla="*/ 9128 h 10000"/>
              <a:gd name="connsiteX147" fmla="*/ 0 w 10000"/>
              <a:gd name="connsiteY147" fmla="*/ 9128 h 10000"/>
              <a:gd name="connsiteX148" fmla="*/ 133 w 10000"/>
              <a:gd name="connsiteY148" fmla="*/ 9198 h 10000"/>
              <a:gd name="connsiteX149" fmla="*/ 269 w 10000"/>
              <a:gd name="connsiteY149" fmla="*/ 9262 h 10000"/>
              <a:gd name="connsiteX150" fmla="*/ 404 w 10000"/>
              <a:gd name="connsiteY150" fmla="*/ 9328 h 10000"/>
              <a:gd name="connsiteX151" fmla="*/ 542 w 10000"/>
              <a:gd name="connsiteY151" fmla="*/ 9390 h 10000"/>
              <a:gd name="connsiteX152" fmla="*/ 683 w 10000"/>
              <a:gd name="connsiteY152" fmla="*/ 9448 h 10000"/>
              <a:gd name="connsiteX153" fmla="*/ 824 w 10000"/>
              <a:gd name="connsiteY153" fmla="*/ 9502 h 10000"/>
              <a:gd name="connsiteX154" fmla="*/ 970 w 10000"/>
              <a:gd name="connsiteY154" fmla="*/ 9556 h 10000"/>
              <a:gd name="connsiteX155" fmla="*/ 1115 w 10000"/>
              <a:gd name="connsiteY155" fmla="*/ 9606 h 10000"/>
              <a:gd name="connsiteX156" fmla="*/ 1264 w 10000"/>
              <a:gd name="connsiteY156" fmla="*/ 9652 h 10000"/>
              <a:gd name="connsiteX157" fmla="*/ 1412 w 10000"/>
              <a:gd name="connsiteY157" fmla="*/ 9698 h 10000"/>
              <a:gd name="connsiteX158" fmla="*/ 1561 w 10000"/>
              <a:gd name="connsiteY158" fmla="*/ 9738 h 10000"/>
              <a:gd name="connsiteX159" fmla="*/ 1714 w 10000"/>
              <a:gd name="connsiteY159" fmla="*/ 9778 h 10000"/>
              <a:gd name="connsiteX160" fmla="*/ 1867 w 10000"/>
              <a:gd name="connsiteY160" fmla="*/ 9814 h 10000"/>
              <a:gd name="connsiteX161" fmla="*/ 2024 w 10000"/>
              <a:gd name="connsiteY161" fmla="*/ 9846 h 10000"/>
              <a:gd name="connsiteX162" fmla="*/ 2180 w 10000"/>
              <a:gd name="connsiteY162" fmla="*/ 9874 h 10000"/>
              <a:gd name="connsiteX163" fmla="*/ 2336 w 10000"/>
              <a:gd name="connsiteY163" fmla="*/ 9902 h 10000"/>
              <a:gd name="connsiteX164" fmla="*/ 2494 w 10000"/>
              <a:gd name="connsiteY164" fmla="*/ 9926 h 10000"/>
              <a:gd name="connsiteX165" fmla="*/ 2653 w 10000"/>
              <a:gd name="connsiteY165" fmla="*/ 9946 h 10000"/>
              <a:gd name="connsiteX166" fmla="*/ 2814 w 10000"/>
              <a:gd name="connsiteY166" fmla="*/ 9962 h 10000"/>
              <a:gd name="connsiteX167" fmla="*/ 2978 w 10000"/>
              <a:gd name="connsiteY167" fmla="*/ 9978 h 10000"/>
              <a:gd name="connsiteX168" fmla="*/ 3139 w 10000"/>
              <a:gd name="connsiteY168" fmla="*/ 9988 h 10000"/>
              <a:gd name="connsiteX169" fmla="*/ 3303 w 10000"/>
              <a:gd name="connsiteY169" fmla="*/ 9996 h 10000"/>
              <a:gd name="connsiteX170" fmla="*/ 3464 w 10000"/>
              <a:gd name="connsiteY170" fmla="*/ 10000 h 10000"/>
              <a:gd name="connsiteX171" fmla="*/ 3630 w 10000"/>
              <a:gd name="connsiteY171" fmla="*/ 10000 h 10000"/>
              <a:gd name="connsiteX172" fmla="*/ 3794 w 10000"/>
              <a:gd name="connsiteY172" fmla="*/ 9998 h 10000"/>
              <a:gd name="connsiteX173" fmla="*/ 3963 w 10000"/>
              <a:gd name="connsiteY173" fmla="*/ 9994 h 10000"/>
              <a:gd name="connsiteX174" fmla="*/ 4126 w 10000"/>
              <a:gd name="connsiteY174" fmla="*/ 9986 h 10000"/>
              <a:gd name="connsiteX175" fmla="*/ 4295 w 10000"/>
              <a:gd name="connsiteY175" fmla="*/ 9974 h 10000"/>
              <a:gd name="connsiteX176" fmla="*/ 4461 w 10000"/>
              <a:gd name="connsiteY176" fmla="*/ 9956 h 10000"/>
              <a:gd name="connsiteX177" fmla="*/ 4628 w 10000"/>
              <a:gd name="connsiteY177" fmla="*/ 9938 h 10000"/>
              <a:gd name="connsiteX178" fmla="*/ 4797 w 10000"/>
              <a:gd name="connsiteY178" fmla="*/ 9912 h 10000"/>
              <a:gd name="connsiteX179" fmla="*/ 4965 w 10000"/>
              <a:gd name="connsiteY179" fmla="*/ 9888 h 10000"/>
              <a:gd name="connsiteX180" fmla="*/ 4965 w 10000"/>
              <a:gd name="connsiteY18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264 w 10000"/>
              <a:gd name="connsiteY155" fmla="*/ 9652 h 10000"/>
              <a:gd name="connsiteX156" fmla="*/ 1412 w 10000"/>
              <a:gd name="connsiteY156" fmla="*/ 9698 h 10000"/>
              <a:gd name="connsiteX157" fmla="*/ 1561 w 10000"/>
              <a:gd name="connsiteY157" fmla="*/ 9738 h 10000"/>
              <a:gd name="connsiteX158" fmla="*/ 1714 w 10000"/>
              <a:gd name="connsiteY158" fmla="*/ 9778 h 10000"/>
              <a:gd name="connsiteX159" fmla="*/ 1867 w 10000"/>
              <a:gd name="connsiteY159" fmla="*/ 9814 h 10000"/>
              <a:gd name="connsiteX160" fmla="*/ 2024 w 10000"/>
              <a:gd name="connsiteY160" fmla="*/ 9846 h 10000"/>
              <a:gd name="connsiteX161" fmla="*/ 2180 w 10000"/>
              <a:gd name="connsiteY161" fmla="*/ 9874 h 10000"/>
              <a:gd name="connsiteX162" fmla="*/ 2336 w 10000"/>
              <a:gd name="connsiteY162" fmla="*/ 9902 h 10000"/>
              <a:gd name="connsiteX163" fmla="*/ 2494 w 10000"/>
              <a:gd name="connsiteY163" fmla="*/ 9926 h 10000"/>
              <a:gd name="connsiteX164" fmla="*/ 2653 w 10000"/>
              <a:gd name="connsiteY164" fmla="*/ 9946 h 10000"/>
              <a:gd name="connsiteX165" fmla="*/ 2814 w 10000"/>
              <a:gd name="connsiteY165" fmla="*/ 9962 h 10000"/>
              <a:gd name="connsiteX166" fmla="*/ 2978 w 10000"/>
              <a:gd name="connsiteY166" fmla="*/ 9978 h 10000"/>
              <a:gd name="connsiteX167" fmla="*/ 3139 w 10000"/>
              <a:gd name="connsiteY167" fmla="*/ 9988 h 10000"/>
              <a:gd name="connsiteX168" fmla="*/ 3303 w 10000"/>
              <a:gd name="connsiteY168" fmla="*/ 9996 h 10000"/>
              <a:gd name="connsiteX169" fmla="*/ 3464 w 10000"/>
              <a:gd name="connsiteY169" fmla="*/ 10000 h 10000"/>
              <a:gd name="connsiteX170" fmla="*/ 3630 w 10000"/>
              <a:gd name="connsiteY170" fmla="*/ 10000 h 10000"/>
              <a:gd name="connsiteX171" fmla="*/ 3794 w 10000"/>
              <a:gd name="connsiteY171" fmla="*/ 9998 h 10000"/>
              <a:gd name="connsiteX172" fmla="*/ 3963 w 10000"/>
              <a:gd name="connsiteY172" fmla="*/ 9994 h 10000"/>
              <a:gd name="connsiteX173" fmla="*/ 4126 w 10000"/>
              <a:gd name="connsiteY173" fmla="*/ 9986 h 10000"/>
              <a:gd name="connsiteX174" fmla="*/ 4295 w 10000"/>
              <a:gd name="connsiteY174" fmla="*/ 9974 h 10000"/>
              <a:gd name="connsiteX175" fmla="*/ 4461 w 10000"/>
              <a:gd name="connsiteY175" fmla="*/ 9956 h 10000"/>
              <a:gd name="connsiteX176" fmla="*/ 4628 w 10000"/>
              <a:gd name="connsiteY176" fmla="*/ 9938 h 10000"/>
              <a:gd name="connsiteX177" fmla="*/ 4797 w 10000"/>
              <a:gd name="connsiteY177" fmla="*/ 9912 h 10000"/>
              <a:gd name="connsiteX178" fmla="*/ 4965 w 10000"/>
              <a:gd name="connsiteY178" fmla="*/ 9888 h 10000"/>
              <a:gd name="connsiteX179" fmla="*/ 4965 w 10000"/>
              <a:gd name="connsiteY179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412 w 10000"/>
              <a:gd name="connsiteY155" fmla="*/ 9698 h 10000"/>
              <a:gd name="connsiteX156" fmla="*/ 1561 w 10000"/>
              <a:gd name="connsiteY156" fmla="*/ 9738 h 10000"/>
              <a:gd name="connsiteX157" fmla="*/ 1714 w 10000"/>
              <a:gd name="connsiteY157" fmla="*/ 9778 h 10000"/>
              <a:gd name="connsiteX158" fmla="*/ 1867 w 10000"/>
              <a:gd name="connsiteY158" fmla="*/ 9814 h 10000"/>
              <a:gd name="connsiteX159" fmla="*/ 2024 w 10000"/>
              <a:gd name="connsiteY159" fmla="*/ 9846 h 10000"/>
              <a:gd name="connsiteX160" fmla="*/ 2180 w 10000"/>
              <a:gd name="connsiteY160" fmla="*/ 9874 h 10000"/>
              <a:gd name="connsiteX161" fmla="*/ 2336 w 10000"/>
              <a:gd name="connsiteY161" fmla="*/ 9902 h 10000"/>
              <a:gd name="connsiteX162" fmla="*/ 2494 w 10000"/>
              <a:gd name="connsiteY162" fmla="*/ 9926 h 10000"/>
              <a:gd name="connsiteX163" fmla="*/ 2653 w 10000"/>
              <a:gd name="connsiteY163" fmla="*/ 9946 h 10000"/>
              <a:gd name="connsiteX164" fmla="*/ 2814 w 10000"/>
              <a:gd name="connsiteY164" fmla="*/ 9962 h 10000"/>
              <a:gd name="connsiteX165" fmla="*/ 2978 w 10000"/>
              <a:gd name="connsiteY165" fmla="*/ 9978 h 10000"/>
              <a:gd name="connsiteX166" fmla="*/ 3139 w 10000"/>
              <a:gd name="connsiteY166" fmla="*/ 9988 h 10000"/>
              <a:gd name="connsiteX167" fmla="*/ 3303 w 10000"/>
              <a:gd name="connsiteY167" fmla="*/ 9996 h 10000"/>
              <a:gd name="connsiteX168" fmla="*/ 3464 w 10000"/>
              <a:gd name="connsiteY168" fmla="*/ 10000 h 10000"/>
              <a:gd name="connsiteX169" fmla="*/ 3630 w 10000"/>
              <a:gd name="connsiteY169" fmla="*/ 10000 h 10000"/>
              <a:gd name="connsiteX170" fmla="*/ 3794 w 10000"/>
              <a:gd name="connsiteY170" fmla="*/ 9998 h 10000"/>
              <a:gd name="connsiteX171" fmla="*/ 3963 w 10000"/>
              <a:gd name="connsiteY171" fmla="*/ 9994 h 10000"/>
              <a:gd name="connsiteX172" fmla="*/ 4126 w 10000"/>
              <a:gd name="connsiteY172" fmla="*/ 9986 h 10000"/>
              <a:gd name="connsiteX173" fmla="*/ 4295 w 10000"/>
              <a:gd name="connsiteY173" fmla="*/ 9974 h 10000"/>
              <a:gd name="connsiteX174" fmla="*/ 4461 w 10000"/>
              <a:gd name="connsiteY174" fmla="*/ 9956 h 10000"/>
              <a:gd name="connsiteX175" fmla="*/ 4628 w 10000"/>
              <a:gd name="connsiteY175" fmla="*/ 9938 h 10000"/>
              <a:gd name="connsiteX176" fmla="*/ 4797 w 10000"/>
              <a:gd name="connsiteY176" fmla="*/ 9912 h 10000"/>
              <a:gd name="connsiteX177" fmla="*/ 4965 w 10000"/>
              <a:gd name="connsiteY177" fmla="*/ 9888 h 10000"/>
              <a:gd name="connsiteX178" fmla="*/ 4965 w 10000"/>
              <a:gd name="connsiteY178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412 w 10000"/>
              <a:gd name="connsiteY154" fmla="*/ 9698 h 10000"/>
              <a:gd name="connsiteX155" fmla="*/ 1561 w 10000"/>
              <a:gd name="connsiteY155" fmla="*/ 9738 h 10000"/>
              <a:gd name="connsiteX156" fmla="*/ 1714 w 10000"/>
              <a:gd name="connsiteY156" fmla="*/ 9778 h 10000"/>
              <a:gd name="connsiteX157" fmla="*/ 1867 w 10000"/>
              <a:gd name="connsiteY157" fmla="*/ 9814 h 10000"/>
              <a:gd name="connsiteX158" fmla="*/ 2024 w 10000"/>
              <a:gd name="connsiteY158" fmla="*/ 9846 h 10000"/>
              <a:gd name="connsiteX159" fmla="*/ 2180 w 10000"/>
              <a:gd name="connsiteY159" fmla="*/ 9874 h 10000"/>
              <a:gd name="connsiteX160" fmla="*/ 2336 w 10000"/>
              <a:gd name="connsiteY160" fmla="*/ 9902 h 10000"/>
              <a:gd name="connsiteX161" fmla="*/ 2494 w 10000"/>
              <a:gd name="connsiteY161" fmla="*/ 9926 h 10000"/>
              <a:gd name="connsiteX162" fmla="*/ 2653 w 10000"/>
              <a:gd name="connsiteY162" fmla="*/ 9946 h 10000"/>
              <a:gd name="connsiteX163" fmla="*/ 2814 w 10000"/>
              <a:gd name="connsiteY163" fmla="*/ 9962 h 10000"/>
              <a:gd name="connsiteX164" fmla="*/ 2978 w 10000"/>
              <a:gd name="connsiteY164" fmla="*/ 9978 h 10000"/>
              <a:gd name="connsiteX165" fmla="*/ 3139 w 10000"/>
              <a:gd name="connsiteY165" fmla="*/ 9988 h 10000"/>
              <a:gd name="connsiteX166" fmla="*/ 3303 w 10000"/>
              <a:gd name="connsiteY166" fmla="*/ 9996 h 10000"/>
              <a:gd name="connsiteX167" fmla="*/ 3464 w 10000"/>
              <a:gd name="connsiteY167" fmla="*/ 10000 h 10000"/>
              <a:gd name="connsiteX168" fmla="*/ 3630 w 10000"/>
              <a:gd name="connsiteY168" fmla="*/ 10000 h 10000"/>
              <a:gd name="connsiteX169" fmla="*/ 3794 w 10000"/>
              <a:gd name="connsiteY169" fmla="*/ 9998 h 10000"/>
              <a:gd name="connsiteX170" fmla="*/ 3963 w 10000"/>
              <a:gd name="connsiteY170" fmla="*/ 9994 h 10000"/>
              <a:gd name="connsiteX171" fmla="*/ 4126 w 10000"/>
              <a:gd name="connsiteY171" fmla="*/ 9986 h 10000"/>
              <a:gd name="connsiteX172" fmla="*/ 4295 w 10000"/>
              <a:gd name="connsiteY172" fmla="*/ 9974 h 10000"/>
              <a:gd name="connsiteX173" fmla="*/ 4461 w 10000"/>
              <a:gd name="connsiteY173" fmla="*/ 9956 h 10000"/>
              <a:gd name="connsiteX174" fmla="*/ 4628 w 10000"/>
              <a:gd name="connsiteY174" fmla="*/ 9938 h 10000"/>
              <a:gd name="connsiteX175" fmla="*/ 4797 w 10000"/>
              <a:gd name="connsiteY175" fmla="*/ 9912 h 10000"/>
              <a:gd name="connsiteX176" fmla="*/ 4965 w 10000"/>
              <a:gd name="connsiteY176" fmla="*/ 9888 h 10000"/>
              <a:gd name="connsiteX177" fmla="*/ 4965 w 10000"/>
              <a:gd name="connsiteY177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1412 w 10000"/>
              <a:gd name="connsiteY153" fmla="*/ 9698 h 10000"/>
              <a:gd name="connsiteX154" fmla="*/ 1561 w 10000"/>
              <a:gd name="connsiteY154" fmla="*/ 9738 h 10000"/>
              <a:gd name="connsiteX155" fmla="*/ 1714 w 10000"/>
              <a:gd name="connsiteY155" fmla="*/ 9778 h 10000"/>
              <a:gd name="connsiteX156" fmla="*/ 1867 w 10000"/>
              <a:gd name="connsiteY156" fmla="*/ 9814 h 10000"/>
              <a:gd name="connsiteX157" fmla="*/ 2024 w 10000"/>
              <a:gd name="connsiteY157" fmla="*/ 9846 h 10000"/>
              <a:gd name="connsiteX158" fmla="*/ 2180 w 10000"/>
              <a:gd name="connsiteY158" fmla="*/ 9874 h 10000"/>
              <a:gd name="connsiteX159" fmla="*/ 2336 w 10000"/>
              <a:gd name="connsiteY159" fmla="*/ 9902 h 10000"/>
              <a:gd name="connsiteX160" fmla="*/ 2494 w 10000"/>
              <a:gd name="connsiteY160" fmla="*/ 9926 h 10000"/>
              <a:gd name="connsiteX161" fmla="*/ 2653 w 10000"/>
              <a:gd name="connsiteY161" fmla="*/ 9946 h 10000"/>
              <a:gd name="connsiteX162" fmla="*/ 2814 w 10000"/>
              <a:gd name="connsiteY162" fmla="*/ 9962 h 10000"/>
              <a:gd name="connsiteX163" fmla="*/ 2978 w 10000"/>
              <a:gd name="connsiteY163" fmla="*/ 9978 h 10000"/>
              <a:gd name="connsiteX164" fmla="*/ 3139 w 10000"/>
              <a:gd name="connsiteY164" fmla="*/ 9988 h 10000"/>
              <a:gd name="connsiteX165" fmla="*/ 3303 w 10000"/>
              <a:gd name="connsiteY165" fmla="*/ 9996 h 10000"/>
              <a:gd name="connsiteX166" fmla="*/ 3464 w 10000"/>
              <a:gd name="connsiteY166" fmla="*/ 10000 h 10000"/>
              <a:gd name="connsiteX167" fmla="*/ 3630 w 10000"/>
              <a:gd name="connsiteY167" fmla="*/ 10000 h 10000"/>
              <a:gd name="connsiteX168" fmla="*/ 3794 w 10000"/>
              <a:gd name="connsiteY168" fmla="*/ 9998 h 10000"/>
              <a:gd name="connsiteX169" fmla="*/ 3963 w 10000"/>
              <a:gd name="connsiteY169" fmla="*/ 9994 h 10000"/>
              <a:gd name="connsiteX170" fmla="*/ 4126 w 10000"/>
              <a:gd name="connsiteY170" fmla="*/ 9986 h 10000"/>
              <a:gd name="connsiteX171" fmla="*/ 4295 w 10000"/>
              <a:gd name="connsiteY171" fmla="*/ 9974 h 10000"/>
              <a:gd name="connsiteX172" fmla="*/ 4461 w 10000"/>
              <a:gd name="connsiteY172" fmla="*/ 9956 h 10000"/>
              <a:gd name="connsiteX173" fmla="*/ 4628 w 10000"/>
              <a:gd name="connsiteY173" fmla="*/ 9938 h 10000"/>
              <a:gd name="connsiteX174" fmla="*/ 4797 w 10000"/>
              <a:gd name="connsiteY174" fmla="*/ 9912 h 10000"/>
              <a:gd name="connsiteX175" fmla="*/ 4965 w 10000"/>
              <a:gd name="connsiteY175" fmla="*/ 9888 h 10000"/>
              <a:gd name="connsiteX176" fmla="*/ 4965 w 10000"/>
              <a:gd name="connsiteY176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1412 w 10000"/>
              <a:gd name="connsiteY152" fmla="*/ 9698 h 10000"/>
              <a:gd name="connsiteX153" fmla="*/ 1561 w 10000"/>
              <a:gd name="connsiteY153" fmla="*/ 9738 h 10000"/>
              <a:gd name="connsiteX154" fmla="*/ 1714 w 10000"/>
              <a:gd name="connsiteY154" fmla="*/ 9778 h 10000"/>
              <a:gd name="connsiteX155" fmla="*/ 1867 w 10000"/>
              <a:gd name="connsiteY155" fmla="*/ 9814 h 10000"/>
              <a:gd name="connsiteX156" fmla="*/ 2024 w 10000"/>
              <a:gd name="connsiteY156" fmla="*/ 9846 h 10000"/>
              <a:gd name="connsiteX157" fmla="*/ 2180 w 10000"/>
              <a:gd name="connsiteY157" fmla="*/ 9874 h 10000"/>
              <a:gd name="connsiteX158" fmla="*/ 2336 w 10000"/>
              <a:gd name="connsiteY158" fmla="*/ 9902 h 10000"/>
              <a:gd name="connsiteX159" fmla="*/ 2494 w 10000"/>
              <a:gd name="connsiteY159" fmla="*/ 9926 h 10000"/>
              <a:gd name="connsiteX160" fmla="*/ 2653 w 10000"/>
              <a:gd name="connsiteY160" fmla="*/ 9946 h 10000"/>
              <a:gd name="connsiteX161" fmla="*/ 2814 w 10000"/>
              <a:gd name="connsiteY161" fmla="*/ 9962 h 10000"/>
              <a:gd name="connsiteX162" fmla="*/ 2978 w 10000"/>
              <a:gd name="connsiteY162" fmla="*/ 9978 h 10000"/>
              <a:gd name="connsiteX163" fmla="*/ 3139 w 10000"/>
              <a:gd name="connsiteY163" fmla="*/ 9988 h 10000"/>
              <a:gd name="connsiteX164" fmla="*/ 3303 w 10000"/>
              <a:gd name="connsiteY164" fmla="*/ 9996 h 10000"/>
              <a:gd name="connsiteX165" fmla="*/ 3464 w 10000"/>
              <a:gd name="connsiteY165" fmla="*/ 10000 h 10000"/>
              <a:gd name="connsiteX166" fmla="*/ 3630 w 10000"/>
              <a:gd name="connsiteY166" fmla="*/ 10000 h 10000"/>
              <a:gd name="connsiteX167" fmla="*/ 3794 w 10000"/>
              <a:gd name="connsiteY167" fmla="*/ 9998 h 10000"/>
              <a:gd name="connsiteX168" fmla="*/ 3963 w 10000"/>
              <a:gd name="connsiteY168" fmla="*/ 9994 h 10000"/>
              <a:gd name="connsiteX169" fmla="*/ 4126 w 10000"/>
              <a:gd name="connsiteY169" fmla="*/ 9986 h 10000"/>
              <a:gd name="connsiteX170" fmla="*/ 4295 w 10000"/>
              <a:gd name="connsiteY170" fmla="*/ 9974 h 10000"/>
              <a:gd name="connsiteX171" fmla="*/ 4461 w 10000"/>
              <a:gd name="connsiteY171" fmla="*/ 9956 h 10000"/>
              <a:gd name="connsiteX172" fmla="*/ 4628 w 10000"/>
              <a:gd name="connsiteY172" fmla="*/ 9938 h 10000"/>
              <a:gd name="connsiteX173" fmla="*/ 4797 w 10000"/>
              <a:gd name="connsiteY173" fmla="*/ 9912 h 10000"/>
              <a:gd name="connsiteX174" fmla="*/ 4965 w 10000"/>
              <a:gd name="connsiteY174" fmla="*/ 9888 h 10000"/>
              <a:gd name="connsiteX175" fmla="*/ 4965 w 10000"/>
              <a:gd name="connsiteY175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1412 w 10000"/>
              <a:gd name="connsiteY151" fmla="*/ 9698 h 10000"/>
              <a:gd name="connsiteX152" fmla="*/ 1561 w 10000"/>
              <a:gd name="connsiteY152" fmla="*/ 9738 h 10000"/>
              <a:gd name="connsiteX153" fmla="*/ 1714 w 10000"/>
              <a:gd name="connsiteY153" fmla="*/ 9778 h 10000"/>
              <a:gd name="connsiteX154" fmla="*/ 1867 w 10000"/>
              <a:gd name="connsiteY154" fmla="*/ 9814 h 10000"/>
              <a:gd name="connsiteX155" fmla="*/ 2024 w 10000"/>
              <a:gd name="connsiteY155" fmla="*/ 9846 h 10000"/>
              <a:gd name="connsiteX156" fmla="*/ 2180 w 10000"/>
              <a:gd name="connsiteY156" fmla="*/ 9874 h 10000"/>
              <a:gd name="connsiteX157" fmla="*/ 2336 w 10000"/>
              <a:gd name="connsiteY157" fmla="*/ 9902 h 10000"/>
              <a:gd name="connsiteX158" fmla="*/ 2494 w 10000"/>
              <a:gd name="connsiteY158" fmla="*/ 9926 h 10000"/>
              <a:gd name="connsiteX159" fmla="*/ 2653 w 10000"/>
              <a:gd name="connsiteY159" fmla="*/ 9946 h 10000"/>
              <a:gd name="connsiteX160" fmla="*/ 2814 w 10000"/>
              <a:gd name="connsiteY160" fmla="*/ 9962 h 10000"/>
              <a:gd name="connsiteX161" fmla="*/ 2978 w 10000"/>
              <a:gd name="connsiteY161" fmla="*/ 9978 h 10000"/>
              <a:gd name="connsiteX162" fmla="*/ 3139 w 10000"/>
              <a:gd name="connsiteY162" fmla="*/ 9988 h 10000"/>
              <a:gd name="connsiteX163" fmla="*/ 3303 w 10000"/>
              <a:gd name="connsiteY163" fmla="*/ 9996 h 10000"/>
              <a:gd name="connsiteX164" fmla="*/ 3464 w 10000"/>
              <a:gd name="connsiteY164" fmla="*/ 10000 h 10000"/>
              <a:gd name="connsiteX165" fmla="*/ 3630 w 10000"/>
              <a:gd name="connsiteY165" fmla="*/ 10000 h 10000"/>
              <a:gd name="connsiteX166" fmla="*/ 3794 w 10000"/>
              <a:gd name="connsiteY166" fmla="*/ 9998 h 10000"/>
              <a:gd name="connsiteX167" fmla="*/ 3963 w 10000"/>
              <a:gd name="connsiteY167" fmla="*/ 9994 h 10000"/>
              <a:gd name="connsiteX168" fmla="*/ 4126 w 10000"/>
              <a:gd name="connsiteY168" fmla="*/ 9986 h 10000"/>
              <a:gd name="connsiteX169" fmla="*/ 4295 w 10000"/>
              <a:gd name="connsiteY169" fmla="*/ 9974 h 10000"/>
              <a:gd name="connsiteX170" fmla="*/ 4461 w 10000"/>
              <a:gd name="connsiteY170" fmla="*/ 9956 h 10000"/>
              <a:gd name="connsiteX171" fmla="*/ 4628 w 10000"/>
              <a:gd name="connsiteY171" fmla="*/ 9938 h 10000"/>
              <a:gd name="connsiteX172" fmla="*/ 4797 w 10000"/>
              <a:gd name="connsiteY172" fmla="*/ 9912 h 10000"/>
              <a:gd name="connsiteX173" fmla="*/ 4965 w 10000"/>
              <a:gd name="connsiteY173" fmla="*/ 9888 h 10000"/>
              <a:gd name="connsiteX174" fmla="*/ 4965 w 10000"/>
              <a:gd name="connsiteY174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1412 w 10000"/>
              <a:gd name="connsiteY150" fmla="*/ 9698 h 10000"/>
              <a:gd name="connsiteX151" fmla="*/ 1561 w 10000"/>
              <a:gd name="connsiteY151" fmla="*/ 9738 h 10000"/>
              <a:gd name="connsiteX152" fmla="*/ 1714 w 10000"/>
              <a:gd name="connsiteY152" fmla="*/ 9778 h 10000"/>
              <a:gd name="connsiteX153" fmla="*/ 1867 w 10000"/>
              <a:gd name="connsiteY153" fmla="*/ 9814 h 10000"/>
              <a:gd name="connsiteX154" fmla="*/ 2024 w 10000"/>
              <a:gd name="connsiteY154" fmla="*/ 9846 h 10000"/>
              <a:gd name="connsiteX155" fmla="*/ 2180 w 10000"/>
              <a:gd name="connsiteY155" fmla="*/ 9874 h 10000"/>
              <a:gd name="connsiteX156" fmla="*/ 2336 w 10000"/>
              <a:gd name="connsiteY156" fmla="*/ 9902 h 10000"/>
              <a:gd name="connsiteX157" fmla="*/ 2494 w 10000"/>
              <a:gd name="connsiteY157" fmla="*/ 9926 h 10000"/>
              <a:gd name="connsiteX158" fmla="*/ 2653 w 10000"/>
              <a:gd name="connsiteY158" fmla="*/ 9946 h 10000"/>
              <a:gd name="connsiteX159" fmla="*/ 2814 w 10000"/>
              <a:gd name="connsiteY159" fmla="*/ 9962 h 10000"/>
              <a:gd name="connsiteX160" fmla="*/ 2978 w 10000"/>
              <a:gd name="connsiteY160" fmla="*/ 9978 h 10000"/>
              <a:gd name="connsiteX161" fmla="*/ 3139 w 10000"/>
              <a:gd name="connsiteY161" fmla="*/ 9988 h 10000"/>
              <a:gd name="connsiteX162" fmla="*/ 3303 w 10000"/>
              <a:gd name="connsiteY162" fmla="*/ 9996 h 10000"/>
              <a:gd name="connsiteX163" fmla="*/ 3464 w 10000"/>
              <a:gd name="connsiteY163" fmla="*/ 10000 h 10000"/>
              <a:gd name="connsiteX164" fmla="*/ 3630 w 10000"/>
              <a:gd name="connsiteY164" fmla="*/ 10000 h 10000"/>
              <a:gd name="connsiteX165" fmla="*/ 3794 w 10000"/>
              <a:gd name="connsiteY165" fmla="*/ 9998 h 10000"/>
              <a:gd name="connsiteX166" fmla="*/ 3963 w 10000"/>
              <a:gd name="connsiteY166" fmla="*/ 9994 h 10000"/>
              <a:gd name="connsiteX167" fmla="*/ 4126 w 10000"/>
              <a:gd name="connsiteY167" fmla="*/ 9986 h 10000"/>
              <a:gd name="connsiteX168" fmla="*/ 4295 w 10000"/>
              <a:gd name="connsiteY168" fmla="*/ 9974 h 10000"/>
              <a:gd name="connsiteX169" fmla="*/ 4461 w 10000"/>
              <a:gd name="connsiteY169" fmla="*/ 9956 h 10000"/>
              <a:gd name="connsiteX170" fmla="*/ 4628 w 10000"/>
              <a:gd name="connsiteY170" fmla="*/ 9938 h 10000"/>
              <a:gd name="connsiteX171" fmla="*/ 4797 w 10000"/>
              <a:gd name="connsiteY171" fmla="*/ 9912 h 10000"/>
              <a:gd name="connsiteX172" fmla="*/ 4965 w 10000"/>
              <a:gd name="connsiteY172" fmla="*/ 9888 h 10000"/>
              <a:gd name="connsiteX173" fmla="*/ 4965 w 10000"/>
              <a:gd name="connsiteY173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1412 w 10000"/>
              <a:gd name="connsiteY149" fmla="*/ 9698 h 10000"/>
              <a:gd name="connsiteX150" fmla="*/ 1561 w 10000"/>
              <a:gd name="connsiteY150" fmla="*/ 9738 h 10000"/>
              <a:gd name="connsiteX151" fmla="*/ 1714 w 10000"/>
              <a:gd name="connsiteY151" fmla="*/ 9778 h 10000"/>
              <a:gd name="connsiteX152" fmla="*/ 1867 w 10000"/>
              <a:gd name="connsiteY152" fmla="*/ 9814 h 10000"/>
              <a:gd name="connsiteX153" fmla="*/ 2024 w 10000"/>
              <a:gd name="connsiteY153" fmla="*/ 9846 h 10000"/>
              <a:gd name="connsiteX154" fmla="*/ 2180 w 10000"/>
              <a:gd name="connsiteY154" fmla="*/ 9874 h 10000"/>
              <a:gd name="connsiteX155" fmla="*/ 2336 w 10000"/>
              <a:gd name="connsiteY155" fmla="*/ 9902 h 10000"/>
              <a:gd name="connsiteX156" fmla="*/ 2494 w 10000"/>
              <a:gd name="connsiteY156" fmla="*/ 9926 h 10000"/>
              <a:gd name="connsiteX157" fmla="*/ 2653 w 10000"/>
              <a:gd name="connsiteY157" fmla="*/ 9946 h 10000"/>
              <a:gd name="connsiteX158" fmla="*/ 2814 w 10000"/>
              <a:gd name="connsiteY158" fmla="*/ 9962 h 10000"/>
              <a:gd name="connsiteX159" fmla="*/ 2978 w 10000"/>
              <a:gd name="connsiteY159" fmla="*/ 9978 h 10000"/>
              <a:gd name="connsiteX160" fmla="*/ 3139 w 10000"/>
              <a:gd name="connsiteY160" fmla="*/ 9988 h 10000"/>
              <a:gd name="connsiteX161" fmla="*/ 3303 w 10000"/>
              <a:gd name="connsiteY161" fmla="*/ 9996 h 10000"/>
              <a:gd name="connsiteX162" fmla="*/ 3464 w 10000"/>
              <a:gd name="connsiteY162" fmla="*/ 10000 h 10000"/>
              <a:gd name="connsiteX163" fmla="*/ 3630 w 10000"/>
              <a:gd name="connsiteY163" fmla="*/ 10000 h 10000"/>
              <a:gd name="connsiteX164" fmla="*/ 3794 w 10000"/>
              <a:gd name="connsiteY164" fmla="*/ 9998 h 10000"/>
              <a:gd name="connsiteX165" fmla="*/ 3963 w 10000"/>
              <a:gd name="connsiteY165" fmla="*/ 9994 h 10000"/>
              <a:gd name="connsiteX166" fmla="*/ 4126 w 10000"/>
              <a:gd name="connsiteY166" fmla="*/ 9986 h 10000"/>
              <a:gd name="connsiteX167" fmla="*/ 4295 w 10000"/>
              <a:gd name="connsiteY167" fmla="*/ 9974 h 10000"/>
              <a:gd name="connsiteX168" fmla="*/ 4461 w 10000"/>
              <a:gd name="connsiteY168" fmla="*/ 9956 h 10000"/>
              <a:gd name="connsiteX169" fmla="*/ 4628 w 10000"/>
              <a:gd name="connsiteY169" fmla="*/ 9938 h 10000"/>
              <a:gd name="connsiteX170" fmla="*/ 4797 w 10000"/>
              <a:gd name="connsiteY170" fmla="*/ 9912 h 10000"/>
              <a:gd name="connsiteX171" fmla="*/ 4965 w 10000"/>
              <a:gd name="connsiteY171" fmla="*/ 9888 h 10000"/>
              <a:gd name="connsiteX172" fmla="*/ 4965 w 10000"/>
              <a:gd name="connsiteY172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1412 w 10000"/>
              <a:gd name="connsiteY148" fmla="*/ 9698 h 10000"/>
              <a:gd name="connsiteX149" fmla="*/ 1561 w 10000"/>
              <a:gd name="connsiteY149" fmla="*/ 9738 h 10000"/>
              <a:gd name="connsiteX150" fmla="*/ 1714 w 10000"/>
              <a:gd name="connsiteY150" fmla="*/ 9778 h 10000"/>
              <a:gd name="connsiteX151" fmla="*/ 1867 w 10000"/>
              <a:gd name="connsiteY151" fmla="*/ 9814 h 10000"/>
              <a:gd name="connsiteX152" fmla="*/ 2024 w 10000"/>
              <a:gd name="connsiteY152" fmla="*/ 9846 h 10000"/>
              <a:gd name="connsiteX153" fmla="*/ 2180 w 10000"/>
              <a:gd name="connsiteY153" fmla="*/ 9874 h 10000"/>
              <a:gd name="connsiteX154" fmla="*/ 2336 w 10000"/>
              <a:gd name="connsiteY154" fmla="*/ 9902 h 10000"/>
              <a:gd name="connsiteX155" fmla="*/ 2494 w 10000"/>
              <a:gd name="connsiteY155" fmla="*/ 9926 h 10000"/>
              <a:gd name="connsiteX156" fmla="*/ 2653 w 10000"/>
              <a:gd name="connsiteY156" fmla="*/ 9946 h 10000"/>
              <a:gd name="connsiteX157" fmla="*/ 2814 w 10000"/>
              <a:gd name="connsiteY157" fmla="*/ 9962 h 10000"/>
              <a:gd name="connsiteX158" fmla="*/ 2978 w 10000"/>
              <a:gd name="connsiteY158" fmla="*/ 9978 h 10000"/>
              <a:gd name="connsiteX159" fmla="*/ 3139 w 10000"/>
              <a:gd name="connsiteY159" fmla="*/ 9988 h 10000"/>
              <a:gd name="connsiteX160" fmla="*/ 3303 w 10000"/>
              <a:gd name="connsiteY160" fmla="*/ 9996 h 10000"/>
              <a:gd name="connsiteX161" fmla="*/ 3464 w 10000"/>
              <a:gd name="connsiteY161" fmla="*/ 10000 h 10000"/>
              <a:gd name="connsiteX162" fmla="*/ 3630 w 10000"/>
              <a:gd name="connsiteY162" fmla="*/ 10000 h 10000"/>
              <a:gd name="connsiteX163" fmla="*/ 3794 w 10000"/>
              <a:gd name="connsiteY163" fmla="*/ 9998 h 10000"/>
              <a:gd name="connsiteX164" fmla="*/ 3963 w 10000"/>
              <a:gd name="connsiteY164" fmla="*/ 9994 h 10000"/>
              <a:gd name="connsiteX165" fmla="*/ 4126 w 10000"/>
              <a:gd name="connsiteY165" fmla="*/ 9986 h 10000"/>
              <a:gd name="connsiteX166" fmla="*/ 4295 w 10000"/>
              <a:gd name="connsiteY166" fmla="*/ 9974 h 10000"/>
              <a:gd name="connsiteX167" fmla="*/ 4461 w 10000"/>
              <a:gd name="connsiteY167" fmla="*/ 9956 h 10000"/>
              <a:gd name="connsiteX168" fmla="*/ 4628 w 10000"/>
              <a:gd name="connsiteY168" fmla="*/ 9938 h 10000"/>
              <a:gd name="connsiteX169" fmla="*/ 4797 w 10000"/>
              <a:gd name="connsiteY169" fmla="*/ 9912 h 10000"/>
              <a:gd name="connsiteX170" fmla="*/ 4965 w 10000"/>
              <a:gd name="connsiteY170" fmla="*/ 9888 h 10000"/>
              <a:gd name="connsiteX171" fmla="*/ 4965 w 10000"/>
              <a:gd name="connsiteY17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412 w 10000"/>
              <a:gd name="connsiteY147" fmla="*/ 9698 h 10000"/>
              <a:gd name="connsiteX148" fmla="*/ 1561 w 10000"/>
              <a:gd name="connsiteY148" fmla="*/ 9738 h 10000"/>
              <a:gd name="connsiteX149" fmla="*/ 1714 w 10000"/>
              <a:gd name="connsiteY149" fmla="*/ 9778 h 10000"/>
              <a:gd name="connsiteX150" fmla="*/ 1867 w 10000"/>
              <a:gd name="connsiteY150" fmla="*/ 9814 h 10000"/>
              <a:gd name="connsiteX151" fmla="*/ 2024 w 10000"/>
              <a:gd name="connsiteY151" fmla="*/ 9846 h 10000"/>
              <a:gd name="connsiteX152" fmla="*/ 2180 w 10000"/>
              <a:gd name="connsiteY152" fmla="*/ 9874 h 10000"/>
              <a:gd name="connsiteX153" fmla="*/ 2336 w 10000"/>
              <a:gd name="connsiteY153" fmla="*/ 9902 h 10000"/>
              <a:gd name="connsiteX154" fmla="*/ 2494 w 10000"/>
              <a:gd name="connsiteY154" fmla="*/ 9926 h 10000"/>
              <a:gd name="connsiteX155" fmla="*/ 2653 w 10000"/>
              <a:gd name="connsiteY155" fmla="*/ 9946 h 10000"/>
              <a:gd name="connsiteX156" fmla="*/ 2814 w 10000"/>
              <a:gd name="connsiteY156" fmla="*/ 9962 h 10000"/>
              <a:gd name="connsiteX157" fmla="*/ 2978 w 10000"/>
              <a:gd name="connsiteY157" fmla="*/ 9978 h 10000"/>
              <a:gd name="connsiteX158" fmla="*/ 3139 w 10000"/>
              <a:gd name="connsiteY158" fmla="*/ 9988 h 10000"/>
              <a:gd name="connsiteX159" fmla="*/ 3303 w 10000"/>
              <a:gd name="connsiteY159" fmla="*/ 9996 h 10000"/>
              <a:gd name="connsiteX160" fmla="*/ 3464 w 10000"/>
              <a:gd name="connsiteY160" fmla="*/ 10000 h 10000"/>
              <a:gd name="connsiteX161" fmla="*/ 3630 w 10000"/>
              <a:gd name="connsiteY161" fmla="*/ 10000 h 10000"/>
              <a:gd name="connsiteX162" fmla="*/ 3794 w 10000"/>
              <a:gd name="connsiteY162" fmla="*/ 9998 h 10000"/>
              <a:gd name="connsiteX163" fmla="*/ 3963 w 10000"/>
              <a:gd name="connsiteY163" fmla="*/ 9994 h 10000"/>
              <a:gd name="connsiteX164" fmla="*/ 4126 w 10000"/>
              <a:gd name="connsiteY164" fmla="*/ 9986 h 10000"/>
              <a:gd name="connsiteX165" fmla="*/ 4295 w 10000"/>
              <a:gd name="connsiteY165" fmla="*/ 9974 h 10000"/>
              <a:gd name="connsiteX166" fmla="*/ 4461 w 10000"/>
              <a:gd name="connsiteY166" fmla="*/ 9956 h 10000"/>
              <a:gd name="connsiteX167" fmla="*/ 4628 w 10000"/>
              <a:gd name="connsiteY167" fmla="*/ 9938 h 10000"/>
              <a:gd name="connsiteX168" fmla="*/ 4797 w 10000"/>
              <a:gd name="connsiteY168" fmla="*/ 9912 h 10000"/>
              <a:gd name="connsiteX169" fmla="*/ 4965 w 10000"/>
              <a:gd name="connsiteY169" fmla="*/ 9888 h 10000"/>
              <a:gd name="connsiteX170" fmla="*/ 4965 w 10000"/>
              <a:gd name="connsiteY17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1412 w 10000"/>
              <a:gd name="connsiteY146" fmla="*/ 9698 h 10000"/>
              <a:gd name="connsiteX147" fmla="*/ 1561 w 10000"/>
              <a:gd name="connsiteY147" fmla="*/ 9738 h 10000"/>
              <a:gd name="connsiteX148" fmla="*/ 1714 w 10000"/>
              <a:gd name="connsiteY148" fmla="*/ 9778 h 10000"/>
              <a:gd name="connsiteX149" fmla="*/ 1867 w 10000"/>
              <a:gd name="connsiteY149" fmla="*/ 9814 h 10000"/>
              <a:gd name="connsiteX150" fmla="*/ 2024 w 10000"/>
              <a:gd name="connsiteY150" fmla="*/ 9846 h 10000"/>
              <a:gd name="connsiteX151" fmla="*/ 2180 w 10000"/>
              <a:gd name="connsiteY151" fmla="*/ 9874 h 10000"/>
              <a:gd name="connsiteX152" fmla="*/ 2336 w 10000"/>
              <a:gd name="connsiteY152" fmla="*/ 9902 h 10000"/>
              <a:gd name="connsiteX153" fmla="*/ 2494 w 10000"/>
              <a:gd name="connsiteY153" fmla="*/ 9926 h 10000"/>
              <a:gd name="connsiteX154" fmla="*/ 2653 w 10000"/>
              <a:gd name="connsiteY154" fmla="*/ 9946 h 10000"/>
              <a:gd name="connsiteX155" fmla="*/ 2814 w 10000"/>
              <a:gd name="connsiteY155" fmla="*/ 9962 h 10000"/>
              <a:gd name="connsiteX156" fmla="*/ 2978 w 10000"/>
              <a:gd name="connsiteY156" fmla="*/ 9978 h 10000"/>
              <a:gd name="connsiteX157" fmla="*/ 3139 w 10000"/>
              <a:gd name="connsiteY157" fmla="*/ 9988 h 10000"/>
              <a:gd name="connsiteX158" fmla="*/ 3303 w 10000"/>
              <a:gd name="connsiteY158" fmla="*/ 9996 h 10000"/>
              <a:gd name="connsiteX159" fmla="*/ 3464 w 10000"/>
              <a:gd name="connsiteY159" fmla="*/ 10000 h 10000"/>
              <a:gd name="connsiteX160" fmla="*/ 3630 w 10000"/>
              <a:gd name="connsiteY160" fmla="*/ 10000 h 10000"/>
              <a:gd name="connsiteX161" fmla="*/ 3794 w 10000"/>
              <a:gd name="connsiteY161" fmla="*/ 9998 h 10000"/>
              <a:gd name="connsiteX162" fmla="*/ 3963 w 10000"/>
              <a:gd name="connsiteY162" fmla="*/ 9994 h 10000"/>
              <a:gd name="connsiteX163" fmla="*/ 4126 w 10000"/>
              <a:gd name="connsiteY163" fmla="*/ 9986 h 10000"/>
              <a:gd name="connsiteX164" fmla="*/ 4295 w 10000"/>
              <a:gd name="connsiteY164" fmla="*/ 9974 h 10000"/>
              <a:gd name="connsiteX165" fmla="*/ 4461 w 10000"/>
              <a:gd name="connsiteY165" fmla="*/ 9956 h 10000"/>
              <a:gd name="connsiteX166" fmla="*/ 4628 w 10000"/>
              <a:gd name="connsiteY166" fmla="*/ 9938 h 10000"/>
              <a:gd name="connsiteX167" fmla="*/ 4797 w 10000"/>
              <a:gd name="connsiteY167" fmla="*/ 9912 h 10000"/>
              <a:gd name="connsiteX168" fmla="*/ 4965 w 10000"/>
              <a:gd name="connsiteY168" fmla="*/ 9888 h 10000"/>
              <a:gd name="connsiteX169" fmla="*/ 4965 w 10000"/>
              <a:gd name="connsiteY169" fmla="*/ 9888 h 10000"/>
              <a:gd name="connsiteX0" fmla="*/ 4584 w 9619"/>
              <a:gd name="connsiteY0" fmla="*/ 9888 h 10000"/>
              <a:gd name="connsiteX1" fmla="*/ 4584 w 9619"/>
              <a:gd name="connsiteY1" fmla="*/ 9888 h 10000"/>
              <a:gd name="connsiteX2" fmla="*/ 4743 w 9619"/>
              <a:gd name="connsiteY2" fmla="*/ 9856 h 10000"/>
              <a:gd name="connsiteX3" fmla="*/ 4902 w 9619"/>
              <a:gd name="connsiteY3" fmla="*/ 9826 h 10000"/>
              <a:gd name="connsiteX4" fmla="*/ 5058 w 9619"/>
              <a:gd name="connsiteY4" fmla="*/ 9792 h 10000"/>
              <a:gd name="connsiteX5" fmla="*/ 5214 w 9619"/>
              <a:gd name="connsiteY5" fmla="*/ 9754 h 10000"/>
              <a:gd name="connsiteX6" fmla="*/ 5365 w 9619"/>
              <a:gd name="connsiteY6" fmla="*/ 9712 h 10000"/>
              <a:gd name="connsiteX7" fmla="*/ 5518 w 9619"/>
              <a:gd name="connsiteY7" fmla="*/ 9670 h 10000"/>
              <a:gd name="connsiteX8" fmla="*/ 5667 w 9619"/>
              <a:gd name="connsiteY8" fmla="*/ 9622 h 10000"/>
              <a:gd name="connsiteX9" fmla="*/ 5815 w 9619"/>
              <a:gd name="connsiteY9" fmla="*/ 9574 h 10000"/>
              <a:gd name="connsiteX10" fmla="*/ 5958 w 9619"/>
              <a:gd name="connsiteY10" fmla="*/ 9524 h 10000"/>
              <a:gd name="connsiteX11" fmla="*/ 6099 w 9619"/>
              <a:gd name="connsiteY11" fmla="*/ 9468 h 10000"/>
              <a:gd name="connsiteX12" fmla="*/ 6242 w 9619"/>
              <a:gd name="connsiteY12" fmla="*/ 9412 h 10000"/>
              <a:gd name="connsiteX13" fmla="*/ 6378 w 9619"/>
              <a:gd name="connsiteY13" fmla="*/ 9352 h 10000"/>
              <a:gd name="connsiteX14" fmla="*/ 6513 w 9619"/>
              <a:gd name="connsiteY14" fmla="*/ 9290 h 10000"/>
              <a:gd name="connsiteX15" fmla="*/ 6649 w 9619"/>
              <a:gd name="connsiteY15" fmla="*/ 9224 h 10000"/>
              <a:gd name="connsiteX16" fmla="*/ 6779 w 9619"/>
              <a:gd name="connsiteY16" fmla="*/ 9160 h 10000"/>
              <a:gd name="connsiteX17" fmla="*/ 6907 w 9619"/>
              <a:gd name="connsiteY17" fmla="*/ 9090 h 10000"/>
              <a:gd name="connsiteX18" fmla="*/ 7033 w 9619"/>
              <a:gd name="connsiteY18" fmla="*/ 9018 h 10000"/>
              <a:gd name="connsiteX19" fmla="*/ 7155 w 9619"/>
              <a:gd name="connsiteY19" fmla="*/ 8944 h 10000"/>
              <a:gd name="connsiteX20" fmla="*/ 7276 w 9619"/>
              <a:gd name="connsiteY20" fmla="*/ 8868 h 10000"/>
              <a:gd name="connsiteX21" fmla="*/ 7396 w 9619"/>
              <a:gd name="connsiteY21" fmla="*/ 8792 h 10000"/>
              <a:gd name="connsiteX22" fmla="*/ 7511 w 9619"/>
              <a:gd name="connsiteY22" fmla="*/ 8712 h 10000"/>
              <a:gd name="connsiteX23" fmla="*/ 7626 w 9619"/>
              <a:gd name="connsiteY23" fmla="*/ 8628 h 10000"/>
              <a:gd name="connsiteX24" fmla="*/ 7736 w 9619"/>
              <a:gd name="connsiteY24" fmla="*/ 8544 h 10000"/>
              <a:gd name="connsiteX25" fmla="*/ 7841 w 9619"/>
              <a:gd name="connsiteY25" fmla="*/ 8458 h 10000"/>
              <a:gd name="connsiteX26" fmla="*/ 7948 w 9619"/>
              <a:gd name="connsiteY26" fmla="*/ 8370 h 10000"/>
              <a:gd name="connsiteX27" fmla="*/ 8051 w 9619"/>
              <a:gd name="connsiteY27" fmla="*/ 8282 h 10000"/>
              <a:gd name="connsiteX28" fmla="*/ 8148 w 9619"/>
              <a:gd name="connsiteY28" fmla="*/ 8190 h 10000"/>
              <a:gd name="connsiteX29" fmla="*/ 8245 w 9619"/>
              <a:gd name="connsiteY29" fmla="*/ 8098 h 10000"/>
              <a:gd name="connsiteX30" fmla="*/ 8340 w 9619"/>
              <a:gd name="connsiteY30" fmla="*/ 8002 h 10000"/>
              <a:gd name="connsiteX31" fmla="*/ 8429 w 9619"/>
              <a:gd name="connsiteY31" fmla="*/ 7906 h 10000"/>
              <a:gd name="connsiteX32" fmla="*/ 8516 w 9619"/>
              <a:gd name="connsiteY32" fmla="*/ 7806 h 10000"/>
              <a:gd name="connsiteX33" fmla="*/ 8601 w 9619"/>
              <a:gd name="connsiteY33" fmla="*/ 7706 h 10000"/>
              <a:gd name="connsiteX34" fmla="*/ 8683 w 9619"/>
              <a:gd name="connsiteY34" fmla="*/ 7604 h 10000"/>
              <a:gd name="connsiteX35" fmla="*/ 8762 w 9619"/>
              <a:gd name="connsiteY35" fmla="*/ 7500 h 10000"/>
              <a:gd name="connsiteX36" fmla="*/ 8836 w 9619"/>
              <a:gd name="connsiteY36" fmla="*/ 7398 h 10000"/>
              <a:gd name="connsiteX37" fmla="*/ 8908 w 9619"/>
              <a:gd name="connsiteY37" fmla="*/ 7292 h 10000"/>
              <a:gd name="connsiteX38" fmla="*/ 8977 w 9619"/>
              <a:gd name="connsiteY38" fmla="*/ 7182 h 10000"/>
              <a:gd name="connsiteX39" fmla="*/ 9043 w 9619"/>
              <a:gd name="connsiteY39" fmla="*/ 7074 h 10000"/>
              <a:gd name="connsiteX40" fmla="*/ 9105 w 9619"/>
              <a:gd name="connsiteY40" fmla="*/ 6964 h 10000"/>
              <a:gd name="connsiteX41" fmla="*/ 9164 w 9619"/>
              <a:gd name="connsiteY41" fmla="*/ 6854 h 10000"/>
              <a:gd name="connsiteX42" fmla="*/ 9220 w 9619"/>
              <a:gd name="connsiteY42" fmla="*/ 6740 h 10000"/>
              <a:gd name="connsiteX43" fmla="*/ 9271 w 9619"/>
              <a:gd name="connsiteY43" fmla="*/ 6626 h 10000"/>
              <a:gd name="connsiteX44" fmla="*/ 9320 w 9619"/>
              <a:gd name="connsiteY44" fmla="*/ 6512 h 10000"/>
              <a:gd name="connsiteX45" fmla="*/ 9363 w 9619"/>
              <a:gd name="connsiteY45" fmla="*/ 6396 h 10000"/>
              <a:gd name="connsiteX46" fmla="*/ 9407 w 9619"/>
              <a:gd name="connsiteY46" fmla="*/ 6280 h 10000"/>
              <a:gd name="connsiteX47" fmla="*/ 9445 w 9619"/>
              <a:gd name="connsiteY47" fmla="*/ 6164 h 10000"/>
              <a:gd name="connsiteX48" fmla="*/ 9481 w 9619"/>
              <a:gd name="connsiteY48" fmla="*/ 6044 h 10000"/>
              <a:gd name="connsiteX49" fmla="*/ 9509 w 9619"/>
              <a:gd name="connsiteY49" fmla="*/ 5926 h 10000"/>
              <a:gd name="connsiteX50" fmla="*/ 9535 w 9619"/>
              <a:gd name="connsiteY50" fmla="*/ 5804 h 10000"/>
              <a:gd name="connsiteX51" fmla="*/ 9560 w 9619"/>
              <a:gd name="connsiteY51" fmla="*/ 5684 h 10000"/>
              <a:gd name="connsiteX52" fmla="*/ 9581 w 9619"/>
              <a:gd name="connsiteY52" fmla="*/ 5562 h 10000"/>
              <a:gd name="connsiteX53" fmla="*/ 9596 w 9619"/>
              <a:gd name="connsiteY53" fmla="*/ 5440 h 10000"/>
              <a:gd name="connsiteX54" fmla="*/ 9606 w 9619"/>
              <a:gd name="connsiteY54" fmla="*/ 5316 h 10000"/>
              <a:gd name="connsiteX55" fmla="*/ 9616 w 9619"/>
              <a:gd name="connsiteY55" fmla="*/ 5196 h 10000"/>
              <a:gd name="connsiteX56" fmla="*/ 9619 w 9619"/>
              <a:gd name="connsiteY56" fmla="*/ 5072 h 10000"/>
              <a:gd name="connsiteX57" fmla="*/ 9619 w 9619"/>
              <a:gd name="connsiteY57" fmla="*/ 4948 h 10000"/>
              <a:gd name="connsiteX58" fmla="*/ 9616 w 9619"/>
              <a:gd name="connsiteY58" fmla="*/ 4822 h 10000"/>
              <a:gd name="connsiteX59" fmla="*/ 9606 w 9619"/>
              <a:gd name="connsiteY59" fmla="*/ 4698 h 10000"/>
              <a:gd name="connsiteX60" fmla="*/ 9596 w 9619"/>
              <a:gd name="connsiteY60" fmla="*/ 4572 h 10000"/>
              <a:gd name="connsiteX61" fmla="*/ 9581 w 9619"/>
              <a:gd name="connsiteY61" fmla="*/ 4444 h 10000"/>
              <a:gd name="connsiteX62" fmla="*/ 9558 w 9619"/>
              <a:gd name="connsiteY62" fmla="*/ 4318 h 10000"/>
              <a:gd name="connsiteX63" fmla="*/ 9535 w 9619"/>
              <a:gd name="connsiteY63" fmla="*/ 4192 h 10000"/>
              <a:gd name="connsiteX64" fmla="*/ 9506 w 9619"/>
              <a:gd name="connsiteY64" fmla="*/ 4066 h 10000"/>
              <a:gd name="connsiteX65" fmla="*/ 9473 w 9619"/>
              <a:gd name="connsiteY65" fmla="*/ 3940 h 10000"/>
              <a:gd name="connsiteX66" fmla="*/ 9473 w 9619"/>
              <a:gd name="connsiteY66" fmla="*/ 3940 h 10000"/>
              <a:gd name="connsiteX67" fmla="*/ 9435 w 9619"/>
              <a:gd name="connsiteY67" fmla="*/ 3816 h 10000"/>
              <a:gd name="connsiteX68" fmla="*/ 9394 w 9619"/>
              <a:gd name="connsiteY68" fmla="*/ 3692 h 10000"/>
              <a:gd name="connsiteX69" fmla="*/ 9350 w 9619"/>
              <a:gd name="connsiteY69" fmla="*/ 3568 h 10000"/>
              <a:gd name="connsiteX70" fmla="*/ 9302 w 9619"/>
              <a:gd name="connsiteY70" fmla="*/ 3446 h 10000"/>
              <a:gd name="connsiteX71" fmla="*/ 9251 w 9619"/>
              <a:gd name="connsiteY71" fmla="*/ 3328 h 10000"/>
              <a:gd name="connsiteX72" fmla="*/ 9192 w 9619"/>
              <a:gd name="connsiteY72" fmla="*/ 3208 h 10000"/>
              <a:gd name="connsiteX73" fmla="*/ 9136 w 9619"/>
              <a:gd name="connsiteY73" fmla="*/ 3092 h 10000"/>
              <a:gd name="connsiteX74" fmla="*/ 9074 w 9619"/>
              <a:gd name="connsiteY74" fmla="*/ 2976 h 10000"/>
              <a:gd name="connsiteX75" fmla="*/ 9005 w 9619"/>
              <a:gd name="connsiteY75" fmla="*/ 2864 h 10000"/>
              <a:gd name="connsiteX76" fmla="*/ 8939 w 9619"/>
              <a:gd name="connsiteY76" fmla="*/ 2754 h 10000"/>
              <a:gd name="connsiteX77" fmla="*/ 8864 w 9619"/>
              <a:gd name="connsiteY77" fmla="*/ 2642 h 10000"/>
              <a:gd name="connsiteX78" fmla="*/ 8788 w 9619"/>
              <a:gd name="connsiteY78" fmla="*/ 2536 h 10000"/>
              <a:gd name="connsiteX79" fmla="*/ 8708 w 9619"/>
              <a:gd name="connsiteY79" fmla="*/ 2430 h 10000"/>
              <a:gd name="connsiteX80" fmla="*/ 8626 w 9619"/>
              <a:gd name="connsiteY80" fmla="*/ 2324 h 10000"/>
              <a:gd name="connsiteX81" fmla="*/ 8542 w 9619"/>
              <a:gd name="connsiteY81" fmla="*/ 2222 h 10000"/>
              <a:gd name="connsiteX82" fmla="*/ 8452 w 9619"/>
              <a:gd name="connsiteY82" fmla="*/ 2122 h 10000"/>
              <a:gd name="connsiteX83" fmla="*/ 8363 w 9619"/>
              <a:gd name="connsiteY83" fmla="*/ 2024 h 10000"/>
              <a:gd name="connsiteX84" fmla="*/ 8268 w 9619"/>
              <a:gd name="connsiteY84" fmla="*/ 1928 h 10000"/>
              <a:gd name="connsiteX85" fmla="*/ 8171 w 9619"/>
              <a:gd name="connsiteY85" fmla="*/ 1834 h 10000"/>
              <a:gd name="connsiteX86" fmla="*/ 8071 w 9619"/>
              <a:gd name="connsiteY86" fmla="*/ 1740 h 10000"/>
              <a:gd name="connsiteX87" fmla="*/ 7972 w 9619"/>
              <a:gd name="connsiteY87" fmla="*/ 1648 h 10000"/>
              <a:gd name="connsiteX88" fmla="*/ 7864 w 9619"/>
              <a:gd name="connsiteY88" fmla="*/ 1560 h 10000"/>
              <a:gd name="connsiteX89" fmla="*/ 7757 w 9619"/>
              <a:gd name="connsiteY89" fmla="*/ 1474 h 10000"/>
              <a:gd name="connsiteX90" fmla="*/ 7647 w 9619"/>
              <a:gd name="connsiteY90" fmla="*/ 1392 h 10000"/>
              <a:gd name="connsiteX91" fmla="*/ 7534 w 9619"/>
              <a:gd name="connsiteY91" fmla="*/ 1308 h 10000"/>
              <a:gd name="connsiteX92" fmla="*/ 7422 w 9619"/>
              <a:gd name="connsiteY92" fmla="*/ 1226 h 10000"/>
              <a:gd name="connsiteX93" fmla="*/ 7301 w 9619"/>
              <a:gd name="connsiteY93" fmla="*/ 1150 h 10000"/>
              <a:gd name="connsiteX94" fmla="*/ 7184 w 9619"/>
              <a:gd name="connsiteY94" fmla="*/ 1076 h 10000"/>
              <a:gd name="connsiteX95" fmla="*/ 7063 w 9619"/>
              <a:gd name="connsiteY95" fmla="*/ 1002 h 10000"/>
              <a:gd name="connsiteX96" fmla="*/ 6938 w 9619"/>
              <a:gd name="connsiteY96" fmla="*/ 932 h 10000"/>
              <a:gd name="connsiteX97" fmla="*/ 6810 w 9619"/>
              <a:gd name="connsiteY97" fmla="*/ 862 h 10000"/>
              <a:gd name="connsiteX98" fmla="*/ 6685 w 9619"/>
              <a:gd name="connsiteY98" fmla="*/ 798 h 10000"/>
              <a:gd name="connsiteX99" fmla="*/ 6554 w 9619"/>
              <a:gd name="connsiteY99" fmla="*/ 734 h 10000"/>
              <a:gd name="connsiteX100" fmla="*/ 6424 w 9619"/>
              <a:gd name="connsiteY100" fmla="*/ 670 h 10000"/>
              <a:gd name="connsiteX101" fmla="*/ 6288 w 9619"/>
              <a:gd name="connsiteY101" fmla="*/ 612 h 10000"/>
              <a:gd name="connsiteX102" fmla="*/ 6150 w 9619"/>
              <a:gd name="connsiteY102" fmla="*/ 556 h 10000"/>
              <a:gd name="connsiteX103" fmla="*/ 6014 w 9619"/>
              <a:gd name="connsiteY103" fmla="*/ 504 h 10000"/>
              <a:gd name="connsiteX104" fmla="*/ 5876 w 9619"/>
              <a:gd name="connsiteY104" fmla="*/ 450 h 10000"/>
              <a:gd name="connsiteX105" fmla="*/ 5736 w 9619"/>
              <a:gd name="connsiteY105" fmla="*/ 402 h 10000"/>
              <a:gd name="connsiteX106" fmla="*/ 5595 w 9619"/>
              <a:gd name="connsiteY106" fmla="*/ 358 h 10000"/>
              <a:gd name="connsiteX107" fmla="*/ 5449 w 9619"/>
              <a:gd name="connsiteY107" fmla="*/ 314 h 10000"/>
              <a:gd name="connsiteX108" fmla="*/ 5303 w 9619"/>
              <a:gd name="connsiteY108" fmla="*/ 274 h 10000"/>
              <a:gd name="connsiteX109" fmla="*/ 5160 w 9619"/>
              <a:gd name="connsiteY109" fmla="*/ 236 h 10000"/>
              <a:gd name="connsiteX110" fmla="*/ 5009 w 9619"/>
              <a:gd name="connsiteY110" fmla="*/ 200 h 10000"/>
              <a:gd name="connsiteX111" fmla="*/ 4861 w 9619"/>
              <a:gd name="connsiteY111" fmla="*/ 168 h 10000"/>
              <a:gd name="connsiteX112" fmla="*/ 4712 w 9619"/>
              <a:gd name="connsiteY112" fmla="*/ 138 h 10000"/>
              <a:gd name="connsiteX113" fmla="*/ 4561 w 9619"/>
              <a:gd name="connsiteY113" fmla="*/ 110 h 10000"/>
              <a:gd name="connsiteX114" fmla="*/ 4408 w 9619"/>
              <a:gd name="connsiteY114" fmla="*/ 86 h 10000"/>
              <a:gd name="connsiteX115" fmla="*/ 4254 w 9619"/>
              <a:gd name="connsiteY115" fmla="*/ 66 h 10000"/>
              <a:gd name="connsiteX116" fmla="*/ 4098 w 9619"/>
              <a:gd name="connsiteY116" fmla="*/ 46 h 10000"/>
              <a:gd name="connsiteX117" fmla="*/ 3945 w 9619"/>
              <a:gd name="connsiteY117" fmla="*/ 32 h 10000"/>
              <a:gd name="connsiteX118" fmla="*/ 3789 w 9619"/>
              <a:gd name="connsiteY118" fmla="*/ 22 h 10000"/>
              <a:gd name="connsiteX119" fmla="*/ 3630 w 9619"/>
              <a:gd name="connsiteY119" fmla="*/ 10 h 10000"/>
              <a:gd name="connsiteX120" fmla="*/ 3472 w 9619"/>
              <a:gd name="connsiteY120" fmla="*/ 4 h 10000"/>
              <a:gd name="connsiteX121" fmla="*/ 3313 w 9619"/>
              <a:gd name="connsiteY121" fmla="*/ 0 h 10000"/>
              <a:gd name="connsiteX122" fmla="*/ 3154 w 9619"/>
              <a:gd name="connsiteY122" fmla="*/ 0 h 10000"/>
              <a:gd name="connsiteX123" fmla="*/ 2996 w 9619"/>
              <a:gd name="connsiteY123" fmla="*/ 4 h 10000"/>
              <a:gd name="connsiteX124" fmla="*/ 2835 w 9619"/>
              <a:gd name="connsiteY124" fmla="*/ 10 h 10000"/>
              <a:gd name="connsiteX125" fmla="*/ 2676 w 9619"/>
              <a:gd name="connsiteY125" fmla="*/ 22 h 10000"/>
              <a:gd name="connsiteX126" fmla="*/ 2515 w 9619"/>
              <a:gd name="connsiteY126" fmla="*/ 34 h 10000"/>
              <a:gd name="connsiteX127" fmla="*/ 2354 w 9619"/>
              <a:gd name="connsiteY127" fmla="*/ 48 h 10000"/>
              <a:gd name="connsiteX128" fmla="*/ 2193 w 9619"/>
              <a:gd name="connsiteY128" fmla="*/ 66 h 10000"/>
              <a:gd name="connsiteX129" fmla="*/ 2031 w 9619"/>
              <a:gd name="connsiteY129" fmla="*/ 90 h 10000"/>
              <a:gd name="connsiteX130" fmla="*/ 1868 w 9619"/>
              <a:gd name="connsiteY130" fmla="*/ 114 h 10000"/>
              <a:gd name="connsiteX131" fmla="*/ 1868 w 9619"/>
              <a:gd name="connsiteY131" fmla="*/ 114 h 10000"/>
              <a:gd name="connsiteX132" fmla="*/ 1714 w 9619"/>
              <a:gd name="connsiteY132" fmla="*/ 142 h 10000"/>
              <a:gd name="connsiteX133" fmla="*/ 1561 w 9619"/>
              <a:gd name="connsiteY133" fmla="*/ 176 h 10000"/>
              <a:gd name="connsiteX134" fmla="*/ 1410 w 9619"/>
              <a:gd name="connsiteY134" fmla="*/ 208 h 10000"/>
              <a:gd name="connsiteX135" fmla="*/ 1261 w 9619"/>
              <a:gd name="connsiteY135" fmla="*/ 244 h 10000"/>
              <a:gd name="connsiteX136" fmla="*/ 1113 w 9619"/>
              <a:gd name="connsiteY136" fmla="*/ 282 h 10000"/>
              <a:gd name="connsiteX137" fmla="*/ 967 w 9619"/>
              <a:gd name="connsiteY137" fmla="*/ 324 h 10000"/>
              <a:gd name="connsiteX138" fmla="*/ 821 w 9619"/>
              <a:gd name="connsiteY138" fmla="*/ 368 h 10000"/>
              <a:gd name="connsiteX139" fmla="*/ 678 w 9619"/>
              <a:gd name="connsiteY139" fmla="*/ 416 h 10000"/>
              <a:gd name="connsiteX140" fmla="*/ 540 w 9619"/>
              <a:gd name="connsiteY140" fmla="*/ 464 h 10000"/>
              <a:gd name="connsiteX141" fmla="*/ 402 w 9619"/>
              <a:gd name="connsiteY141" fmla="*/ 514 h 10000"/>
              <a:gd name="connsiteX142" fmla="*/ 266 w 9619"/>
              <a:gd name="connsiteY142" fmla="*/ 570 h 10000"/>
              <a:gd name="connsiteX143" fmla="*/ 133 w 9619"/>
              <a:gd name="connsiteY143" fmla="*/ 626 h 10000"/>
              <a:gd name="connsiteX144" fmla="*/ 0 w 9619"/>
              <a:gd name="connsiteY144" fmla="*/ 684 h 10000"/>
              <a:gd name="connsiteX145" fmla="*/ 1031 w 9619"/>
              <a:gd name="connsiteY145" fmla="*/ 9698 h 10000"/>
              <a:gd name="connsiteX146" fmla="*/ 1180 w 9619"/>
              <a:gd name="connsiteY146" fmla="*/ 9738 h 10000"/>
              <a:gd name="connsiteX147" fmla="*/ 1333 w 9619"/>
              <a:gd name="connsiteY147" fmla="*/ 9778 h 10000"/>
              <a:gd name="connsiteX148" fmla="*/ 1486 w 9619"/>
              <a:gd name="connsiteY148" fmla="*/ 9814 h 10000"/>
              <a:gd name="connsiteX149" fmla="*/ 1643 w 9619"/>
              <a:gd name="connsiteY149" fmla="*/ 9846 h 10000"/>
              <a:gd name="connsiteX150" fmla="*/ 1799 w 9619"/>
              <a:gd name="connsiteY150" fmla="*/ 9874 h 10000"/>
              <a:gd name="connsiteX151" fmla="*/ 1955 w 9619"/>
              <a:gd name="connsiteY151" fmla="*/ 9902 h 10000"/>
              <a:gd name="connsiteX152" fmla="*/ 2113 w 9619"/>
              <a:gd name="connsiteY152" fmla="*/ 9926 h 10000"/>
              <a:gd name="connsiteX153" fmla="*/ 2272 w 9619"/>
              <a:gd name="connsiteY153" fmla="*/ 9946 h 10000"/>
              <a:gd name="connsiteX154" fmla="*/ 2433 w 9619"/>
              <a:gd name="connsiteY154" fmla="*/ 9962 h 10000"/>
              <a:gd name="connsiteX155" fmla="*/ 2597 w 9619"/>
              <a:gd name="connsiteY155" fmla="*/ 9978 h 10000"/>
              <a:gd name="connsiteX156" fmla="*/ 2758 w 9619"/>
              <a:gd name="connsiteY156" fmla="*/ 9988 h 10000"/>
              <a:gd name="connsiteX157" fmla="*/ 2922 w 9619"/>
              <a:gd name="connsiteY157" fmla="*/ 9996 h 10000"/>
              <a:gd name="connsiteX158" fmla="*/ 3083 w 9619"/>
              <a:gd name="connsiteY158" fmla="*/ 10000 h 10000"/>
              <a:gd name="connsiteX159" fmla="*/ 3249 w 9619"/>
              <a:gd name="connsiteY159" fmla="*/ 10000 h 10000"/>
              <a:gd name="connsiteX160" fmla="*/ 3413 w 9619"/>
              <a:gd name="connsiteY160" fmla="*/ 9998 h 10000"/>
              <a:gd name="connsiteX161" fmla="*/ 3582 w 9619"/>
              <a:gd name="connsiteY161" fmla="*/ 9994 h 10000"/>
              <a:gd name="connsiteX162" fmla="*/ 3745 w 9619"/>
              <a:gd name="connsiteY162" fmla="*/ 9986 h 10000"/>
              <a:gd name="connsiteX163" fmla="*/ 3914 w 9619"/>
              <a:gd name="connsiteY163" fmla="*/ 9974 h 10000"/>
              <a:gd name="connsiteX164" fmla="*/ 4080 w 9619"/>
              <a:gd name="connsiteY164" fmla="*/ 9956 h 10000"/>
              <a:gd name="connsiteX165" fmla="*/ 4247 w 9619"/>
              <a:gd name="connsiteY165" fmla="*/ 9938 h 10000"/>
              <a:gd name="connsiteX166" fmla="*/ 4416 w 9619"/>
              <a:gd name="connsiteY166" fmla="*/ 9912 h 10000"/>
              <a:gd name="connsiteX167" fmla="*/ 4584 w 9619"/>
              <a:gd name="connsiteY167" fmla="*/ 9888 h 10000"/>
              <a:gd name="connsiteX168" fmla="*/ 4584 w 9619"/>
              <a:gd name="connsiteY168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705 w 10000"/>
              <a:gd name="connsiteY138" fmla="*/ 416 h 10000"/>
              <a:gd name="connsiteX139" fmla="*/ 561 w 10000"/>
              <a:gd name="connsiteY139" fmla="*/ 464 h 10000"/>
              <a:gd name="connsiteX140" fmla="*/ 418 w 10000"/>
              <a:gd name="connsiteY140" fmla="*/ 514 h 10000"/>
              <a:gd name="connsiteX141" fmla="*/ 277 w 10000"/>
              <a:gd name="connsiteY141" fmla="*/ 570 h 10000"/>
              <a:gd name="connsiteX142" fmla="*/ 138 w 10000"/>
              <a:gd name="connsiteY142" fmla="*/ 626 h 10000"/>
              <a:gd name="connsiteX143" fmla="*/ 0 w 10000"/>
              <a:gd name="connsiteY143" fmla="*/ 684 h 10000"/>
              <a:gd name="connsiteX144" fmla="*/ 1072 w 10000"/>
              <a:gd name="connsiteY144" fmla="*/ 9698 h 10000"/>
              <a:gd name="connsiteX145" fmla="*/ 1227 w 10000"/>
              <a:gd name="connsiteY145" fmla="*/ 9738 h 10000"/>
              <a:gd name="connsiteX146" fmla="*/ 1386 w 10000"/>
              <a:gd name="connsiteY146" fmla="*/ 9778 h 10000"/>
              <a:gd name="connsiteX147" fmla="*/ 1545 w 10000"/>
              <a:gd name="connsiteY147" fmla="*/ 9814 h 10000"/>
              <a:gd name="connsiteX148" fmla="*/ 1708 w 10000"/>
              <a:gd name="connsiteY148" fmla="*/ 9846 h 10000"/>
              <a:gd name="connsiteX149" fmla="*/ 1870 w 10000"/>
              <a:gd name="connsiteY149" fmla="*/ 9874 h 10000"/>
              <a:gd name="connsiteX150" fmla="*/ 2032 w 10000"/>
              <a:gd name="connsiteY150" fmla="*/ 9902 h 10000"/>
              <a:gd name="connsiteX151" fmla="*/ 2197 w 10000"/>
              <a:gd name="connsiteY151" fmla="*/ 9926 h 10000"/>
              <a:gd name="connsiteX152" fmla="*/ 2362 w 10000"/>
              <a:gd name="connsiteY152" fmla="*/ 9946 h 10000"/>
              <a:gd name="connsiteX153" fmla="*/ 2529 w 10000"/>
              <a:gd name="connsiteY153" fmla="*/ 9962 h 10000"/>
              <a:gd name="connsiteX154" fmla="*/ 2700 w 10000"/>
              <a:gd name="connsiteY154" fmla="*/ 9978 h 10000"/>
              <a:gd name="connsiteX155" fmla="*/ 2867 w 10000"/>
              <a:gd name="connsiteY155" fmla="*/ 9988 h 10000"/>
              <a:gd name="connsiteX156" fmla="*/ 3038 w 10000"/>
              <a:gd name="connsiteY156" fmla="*/ 9996 h 10000"/>
              <a:gd name="connsiteX157" fmla="*/ 3205 w 10000"/>
              <a:gd name="connsiteY157" fmla="*/ 10000 h 10000"/>
              <a:gd name="connsiteX158" fmla="*/ 3378 w 10000"/>
              <a:gd name="connsiteY158" fmla="*/ 10000 h 10000"/>
              <a:gd name="connsiteX159" fmla="*/ 3548 w 10000"/>
              <a:gd name="connsiteY159" fmla="*/ 9998 h 10000"/>
              <a:gd name="connsiteX160" fmla="*/ 3724 w 10000"/>
              <a:gd name="connsiteY160" fmla="*/ 9994 h 10000"/>
              <a:gd name="connsiteX161" fmla="*/ 3893 w 10000"/>
              <a:gd name="connsiteY161" fmla="*/ 9986 h 10000"/>
              <a:gd name="connsiteX162" fmla="*/ 4069 w 10000"/>
              <a:gd name="connsiteY162" fmla="*/ 9974 h 10000"/>
              <a:gd name="connsiteX163" fmla="*/ 4242 w 10000"/>
              <a:gd name="connsiteY163" fmla="*/ 9956 h 10000"/>
              <a:gd name="connsiteX164" fmla="*/ 4415 w 10000"/>
              <a:gd name="connsiteY164" fmla="*/ 9938 h 10000"/>
              <a:gd name="connsiteX165" fmla="*/ 4591 w 10000"/>
              <a:gd name="connsiteY165" fmla="*/ 9912 h 10000"/>
              <a:gd name="connsiteX166" fmla="*/ 4766 w 10000"/>
              <a:gd name="connsiteY166" fmla="*/ 9888 h 10000"/>
              <a:gd name="connsiteX167" fmla="*/ 4766 w 10000"/>
              <a:gd name="connsiteY167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561 w 10000"/>
              <a:gd name="connsiteY138" fmla="*/ 464 h 10000"/>
              <a:gd name="connsiteX139" fmla="*/ 418 w 10000"/>
              <a:gd name="connsiteY139" fmla="*/ 514 h 10000"/>
              <a:gd name="connsiteX140" fmla="*/ 277 w 10000"/>
              <a:gd name="connsiteY140" fmla="*/ 570 h 10000"/>
              <a:gd name="connsiteX141" fmla="*/ 138 w 10000"/>
              <a:gd name="connsiteY141" fmla="*/ 626 h 10000"/>
              <a:gd name="connsiteX142" fmla="*/ 0 w 10000"/>
              <a:gd name="connsiteY142" fmla="*/ 684 h 10000"/>
              <a:gd name="connsiteX143" fmla="*/ 1072 w 10000"/>
              <a:gd name="connsiteY143" fmla="*/ 9698 h 10000"/>
              <a:gd name="connsiteX144" fmla="*/ 1227 w 10000"/>
              <a:gd name="connsiteY144" fmla="*/ 9738 h 10000"/>
              <a:gd name="connsiteX145" fmla="*/ 1386 w 10000"/>
              <a:gd name="connsiteY145" fmla="*/ 9778 h 10000"/>
              <a:gd name="connsiteX146" fmla="*/ 1545 w 10000"/>
              <a:gd name="connsiteY146" fmla="*/ 9814 h 10000"/>
              <a:gd name="connsiteX147" fmla="*/ 1708 w 10000"/>
              <a:gd name="connsiteY147" fmla="*/ 9846 h 10000"/>
              <a:gd name="connsiteX148" fmla="*/ 1870 w 10000"/>
              <a:gd name="connsiteY148" fmla="*/ 9874 h 10000"/>
              <a:gd name="connsiteX149" fmla="*/ 2032 w 10000"/>
              <a:gd name="connsiteY149" fmla="*/ 9902 h 10000"/>
              <a:gd name="connsiteX150" fmla="*/ 2197 w 10000"/>
              <a:gd name="connsiteY150" fmla="*/ 9926 h 10000"/>
              <a:gd name="connsiteX151" fmla="*/ 2362 w 10000"/>
              <a:gd name="connsiteY151" fmla="*/ 9946 h 10000"/>
              <a:gd name="connsiteX152" fmla="*/ 2529 w 10000"/>
              <a:gd name="connsiteY152" fmla="*/ 9962 h 10000"/>
              <a:gd name="connsiteX153" fmla="*/ 2700 w 10000"/>
              <a:gd name="connsiteY153" fmla="*/ 9978 h 10000"/>
              <a:gd name="connsiteX154" fmla="*/ 2867 w 10000"/>
              <a:gd name="connsiteY154" fmla="*/ 9988 h 10000"/>
              <a:gd name="connsiteX155" fmla="*/ 3038 w 10000"/>
              <a:gd name="connsiteY155" fmla="*/ 9996 h 10000"/>
              <a:gd name="connsiteX156" fmla="*/ 3205 w 10000"/>
              <a:gd name="connsiteY156" fmla="*/ 10000 h 10000"/>
              <a:gd name="connsiteX157" fmla="*/ 3378 w 10000"/>
              <a:gd name="connsiteY157" fmla="*/ 10000 h 10000"/>
              <a:gd name="connsiteX158" fmla="*/ 3548 w 10000"/>
              <a:gd name="connsiteY158" fmla="*/ 9998 h 10000"/>
              <a:gd name="connsiteX159" fmla="*/ 3724 w 10000"/>
              <a:gd name="connsiteY159" fmla="*/ 9994 h 10000"/>
              <a:gd name="connsiteX160" fmla="*/ 3893 w 10000"/>
              <a:gd name="connsiteY160" fmla="*/ 9986 h 10000"/>
              <a:gd name="connsiteX161" fmla="*/ 4069 w 10000"/>
              <a:gd name="connsiteY161" fmla="*/ 9974 h 10000"/>
              <a:gd name="connsiteX162" fmla="*/ 4242 w 10000"/>
              <a:gd name="connsiteY162" fmla="*/ 9956 h 10000"/>
              <a:gd name="connsiteX163" fmla="*/ 4415 w 10000"/>
              <a:gd name="connsiteY163" fmla="*/ 9938 h 10000"/>
              <a:gd name="connsiteX164" fmla="*/ 4591 w 10000"/>
              <a:gd name="connsiteY164" fmla="*/ 9912 h 10000"/>
              <a:gd name="connsiteX165" fmla="*/ 4766 w 10000"/>
              <a:gd name="connsiteY165" fmla="*/ 9888 h 10000"/>
              <a:gd name="connsiteX166" fmla="*/ 4766 w 10000"/>
              <a:gd name="connsiteY166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418 w 10000"/>
              <a:gd name="connsiteY138" fmla="*/ 514 h 10000"/>
              <a:gd name="connsiteX139" fmla="*/ 277 w 10000"/>
              <a:gd name="connsiteY139" fmla="*/ 570 h 10000"/>
              <a:gd name="connsiteX140" fmla="*/ 138 w 10000"/>
              <a:gd name="connsiteY140" fmla="*/ 626 h 10000"/>
              <a:gd name="connsiteX141" fmla="*/ 0 w 10000"/>
              <a:gd name="connsiteY141" fmla="*/ 684 h 10000"/>
              <a:gd name="connsiteX142" fmla="*/ 1072 w 10000"/>
              <a:gd name="connsiteY142" fmla="*/ 9698 h 10000"/>
              <a:gd name="connsiteX143" fmla="*/ 1227 w 10000"/>
              <a:gd name="connsiteY143" fmla="*/ 9738 h 10000"/>
              <a:gd name="connsiteX144" fmla="*/ 1386 w 10000"/>
              <a:gd name="connsiteY144" fmla="*/ 9778 h 10000"/>
              <a:gd name="connsiteX145" fmla="*/ 1545 w 10000"/>
              <a:gd name="connsiteY145" fmla="*/ 9814 h 10000"/>
              <a:gd name="connsiteX146" fmla="*/ 1708 w 10000"/>
              <a:gd name="connsiteY146" fmla="*/ 9846 h 10000"/>
              <a:gd name="connsiteX147" fmla="*/ 1870 w 10000"/>
              <a:gd name="connsiteY147" fmla="*/ 9874 h 10000"/>
              <a:gd name="connsiteX148" fmla="*/ 2032 w 10000"/>
              <a:gd name="connsiteY148" fmla="*/ 9902 h 10000"/>
              <a:gd name="connsiteX149" fmla="*/ 2197 w 10000"/>
              <a:gd name="connsiteY149" fmla="*/ 9926 h 10000"/>
              <a:gd name="connsiteX150" fmla="*/ 2362 w 10000"/>
              <a:gd name="connsiteY150" fmla="*/ 9946 h 10000"/>
              <a:gd name="connsiteX151" fmla="*/ 2529 w 10000"/>
              <a:gd name="connsiteY151" fmla="*/ 9962 h 10000"/>
              <a:gd name="connsiteX152" fmla="*/ 2700 w 10000"/>
              <a:gd name="connsiteY152" fmla="*/ 9978 h 10000"/>
              <a:gd name="connsiteX153" fmla="*/ 2867 w 10000"/>
              <a:gd name="connsiteY153" fmla="*/ 9988 h 10000"/>
              <a:gd name="connsiteX154" fmla="*/ 3038 w 10000"/>
              <a:gd name="connsiteY154" fmla="*/ 9996 h 10000"/>
              <a:gd name="connsiteX155" fmla="*/ 3205 w 10000"/>
              <a:gd name="connsiteY155" fmla="*/ 10000 h 10000"/>
              <a:gd name="connsiteX156" fmla="*/ 3378 w 10000"/>
              <a:gd name="connsiteY156" fmla="*/ 10000 h 10000"/>
              <a:gd name="connsiteX157" fmla="*/ 3548 w 10000"/>
              <a:gd name="connsiteY157" fmla="*/ 9998 h 10000"/>
              <a:gd name="connsiteX158" fmla="*/ 3724 w 10000"/>
              <a:gd name="connsiteY158" fmla="*/ 9994 h 10000"/>
              <a:gd name="connsiteX159" fmla="*/ 3893 w 10000"/>
              <a:gd name="connsiteY159" fmla="*/ 9986 h 10000"/>
              <a:gd name="connsiteX160" fmla="*/ 4069 w 10000"/>
              <a:gd name="connsiteY160" fmla="*/ 9974 h 10000"/>
              <a:gd name="connsiteX161" fmla="*/ 4242 w 10000"/>
              <a:gd name="connsiteY161" fmla="*/ 9956 h 10000"/>
              <a:gd name="connsiteX162" fmla="*/ 4415 w 10000"/>
              <a:gd name="connsiteY162" fmla="*/ 9938 h 10000"/>
              <a:gd name="connsiteX163" fmla="*/ 4591 w 10000"/>
              <a:gd name="connsiteY163" fmla="*/ 9912 h 10000"/>
              <a:gd name="connsiteX164" fmla="*/ 4766 w 10000"/>
              <a:gd name="connsiteY164" fmla="*/ 9888 h 10000"/>
              <a:gd name="connsiteX165" fmla="*/ 4766 w 10000"/>
              <a:gd name="connsiteY165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277 w 10000"/>
              <a:gd name="connsiteY138" fmla="*/ 570 h 10000"/>
              <a:gd name="connsiteX139" fmla="*/ 138 w 10000"/>
              <a:gd name="connsiteY139" fmla="*/ 626 h 10000"/>
              <a:gd name="connsiteX140" fmla="*/ 0 w 10000"/>
              <a:gd name="connsiteY140" fmla="*/ 684 h 10000"/>
              <a:gd name="connsiteX141" fmla="*/ 1072 w 10000"/>
              <a:gd name="connsiteY141" fmla="*/ 9698 h 10000"/>
              <a:gd name="connsiteX142" fmla="*/ 1227 w 10000"/>
              <a:gd name="connsiteY142" fmla="*/ 9738 h 10000"/>
              <a:gd name="connsiteX143" fmla="*/ 1386 w 10000"/>
              <a:gd name="connsiteY143" fmla="*/ 9778 h 10000"/>
              <a:gd name="connsiteX144" fmla="*/ 1545 w 10000"/>
              <a:gd name="connsiteY144" fmla="*/ 9814 h 10000"/>
              <a:gd name="connsiteX145" fmla="*/ 1708 w 10000"/>
              <a:gd name="connsiteY145" fmla="*/ 9846 h 10000"/>
              <a:gd name="connsiteX146" fmla="*/ 1870 w 10000"/>
              <a:gd name="connsiteY146" fmla="*/ 9874 h 10000"/>
              <a:gd name="connsiteX147" fmla="*/ 2032 w 10000"/>
              <a:gd name="connsiteY147" fmla="*/ 9902 h 10000"/>
              <a:gd name="connsiteX148" fmla="*/ 2197 w 10000"/>
              <a:gd name="connsiteY148" fmla="*/ 9926 h 10000"/>
              <a:gd name="connsiteX149" fmla="*/ 2362 w 10000"/>
              <a:gd name="connsiteY149" fmla="*/ 9946 h 10000"/>
              <a:gd name="connsiteX150" fmla="*/ 2529 w 10000"/>
              <a:gd name="connsiteY150" fmla="*/ 9962 h 10000"/>
              <a:gd name="connsiteX151" fmla="*/ 2700 w 10000"/>
              <a:gd name="connsiteY151" fmla="*/ 9978 h 10000"/>
              <a:gd name="connsiteX152" fmla="*/ 2867 w 10000"/>
              <a:gd name="connsiteY152" fmla="*/ 9988 h 10000"/>
              <a:gd name="connsiteX153" fmla="*/ 3038 w 10000"/>
              <a:gd name="connsiteY153" fmla="*/ 9996 h 10000"/>
              <a:gd name="connsiteX154" fmla="*/ 3205 w 10000"/>
              <a:gd name="connsiteY154" fmla="*/ 10000 h 10000"/>
              <a:gd name="connsiteX155" fmla="*/ 3378 w 10000"/>
              <a:gd name="connsiteY155" fmla="*/ 10000 h 10000"/>
              <a:gd name="connsiteX156" fmla="*/ 3548 w 10000"/>
              <a:gd name="connsiteY156" fmla="*/ 9998 h 10000"/>
              <a:gd name="connsiteX157" fmla="*/ 3724 w 10000"/>
              <a:gd name="connsiteY157" fmla="*/ 9994 h 10000"/>
              <a:gd name="connsiteX158" fmla="*/ 3893 w 10000"/>
              <a:gd name="connsiteY158" fmla="*/ 9986 h 10000"/>
              <a:gd name="connsiteX159" fmla="*/ 4069 w 10000"/>
              <a:gd name="connsiteY159" fmla="*/ 9974 h 10000"/>
              <a:gd name="connsiteX160" fmla="*/ 4242 w 10000"/>
              <a:gd name="connsiteY160" fmla="*/ 9956 h 10000"/>
              <a:gd name="connsiteX161" fmla="*/ 4415 w 10000"/>
              <a:gd name="connsiteY161" fmla="*/ 9938 h 10000"/>
              <a:gd name="connsiteX162" fmla="*/ 4591 w 10000"/>
              <a:gd name="connsiteY162" fmla="*/ 9912 h 10000"/>
              <a:gd name="connsiteX163" fmla="*/ 4766 w 10000"/>
              <a:gd name="connsiteY163" fmla="*/ 9888 h 10000"/>
              <a:gd name="connsiteX164" fmla="*/ 4766 w 10000"/>
              <a:gd name="connsiteY164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138 w 10000"/>
              <a:gd name="connsiteY138" fmla="*/ 626 h 10000"/>
              <a:gd name="connsiteX139" fmla="*/ 0 w 10000"/>
              <a:gd name="connsiteY139" fmla="*/ 684 h 10000"/>
              <a:gd name="connsiteX140" fmla="*/ 1072 w 10000"/>
              <a:gd name="connsiteY140" fmla="*/ 9698 h 10000"/>
              <a:gd name="connsiteX141" fmla="*/ 1227 w 10000"/>
              <a:gd name="connsiteY141" fmla="*/ 9738 h 10000"/>
              <a:gd name="connsiteX142" fmla="*/ 1386 w 10000"/>
              <a:gd name="connsiteY142" fmla="*/ 9778 h 10000"/>
              <a:gd name="connsiteX143" fmla="*/ 1545 w 10000"/>
              <a:gd name="connsiteY143" fmla="*/ 9814 h 10000"/>
              <a:gd name="connsiteX144" fmla="*/ 1708 w 10000"/>
              <a:gd name="connsiteY144" fmla="*/ 9846 h 10000"/>
              <a:gd name="connsiteX145" fmla="*/ 1870 w 10000"/>
              <a:gd name="connsiteY145" fmla="*/ 9874 h 10000"/>
              <a:gd name="connsiteX146" fmla="*/ 2032 w 10000"/>
              <a:gd name="connsiteY146" fmla="*/ 9902 h 10000"/>
              <a:gd name="connsiteX147" fmla="*/ 2197 w 10000"/>
              <a:gd name="connsiteY147" fmla="*/ 9926 h 10000"/>
              <a:gd name="connsiteX148" fmla="*/ 2362 w 10000"/>
              <a:gd name="connsiteY148" fmla="*/ 9946 h 10000"/>
              <a:gd name="connsiteX149" fmla="*/ 2529 w 10000"/>
              <a:gd name="connsiteY149" fmla="*/ 9962 h 10000"/>
              <a:gd name="connsiteX150" fmla="*/ 2700 w 10000"/>
              <a:gd name="connsiteY150" fmla="*/ 9978 h 10000"/>
              <a:gd name="connsiteX151" fmla="*/ 2867 w 10000"/>
              <a:gd name="connsiteY151" fmla="*/ 9988 h 10000"/>
              <a:gd name="connsiteX152" fmla="*/ 3038 w 10000"/>
              <a:gd name="connsiteY152" fmla="*/ 9996 h 10000"/>
              <a:gd name="connsiteX153" fmla="*/ 3205 w 10000"/>
              <a:gd name="connsiteY153" fmla="*/ 10000 h 10000"/>
              <a:gd name="connsiteX154" fmla="*/ 3378 w 10000"/>
              <a:gd name="connsiteY154" fmla="*/ 10000 h 10000"/>
              <a:gd name="connsiteX155" fmla="*/ 3548 w 10000"/>
              <a:gd name="connsiteY155" fmla="*/ 9998 h 10000"/>
              <a:gd name="connsiteX156" fmla="*/ 3724 w 10000"/>
              <a:gd name="connsiteY156" fmla="*/ 9994 h 10000"/>
              <a:gd name="connsiteX157" fmla="*/ 3893 w 10000"/>
              <a:gd name="connsiteY157" fmla="*/ 9986 h 10000"/>
              <a:gd name="connsiteX158" fmla="*/ 4069 w 10000"/>
              <a:gd name="connsiteY158" fmla="*/ 9974 h 10000"/>
              <a:gd name="connsiteX159" fmla="*/ 4242 w 10000"/>
              <a:gd name="connsiteY159" fmla="*/ 9956 h 10000"/>
              <a:gd name="connsiteX160" fmla="*/ 4415 w 10000"/>
              <a:gd name="connsiteY160" fmla="*/ 9938 h 10000"/>
              <a:gd name="connsiteX161" fmla="*/ 4591 w 10000"/>
              <a:gd name="connsiteY161" fmla="*/ 9912 h 10000"/>
              <a:gd name="connsiteX162" fmla="*/ 4766 w 10000"/>
              <a:gd name="connsiteY162" fmla="*/ 9888 h 10000"/>
              <a:gd name="connsiteX163" fmla="*/ 4766 w 10000"/>
              <a:gd name="connsiteY163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0 w 10000"/>
              <a:gd name="connsiteY138" fmla="*/ 684 h 10000"/>
              <a:gd name="connsiteX139" fmla="*/ 1072 w 10000"/>
              <a:gd name="connsiteY139" fmla="*/ 9698 h 10000"/>
              <a:gd name="connsiteX140" fmla="*/ 1227 w 10000"/>
              <a:gd name="connsiteY140" fmla="*/ 9738 h 10000"/>
              <a:gd name="connsiteX141" fmla="*/ 1386 w 10000"/>
              <a:gd name="connsiteY141" fmla="*/ 9778 h 10000"/>
              <a:gd name="connsiteX142" fmla="*/ 1545 w 10000"/>
              <a:gd name="connsiteY142" fmla="*/ 9814 h 10000"/>
              <a:gd name="connsiteX143" fmla="*/ 1708 w 10000"/>
              <a:gd name="connsiteY143" fmla="*/ 9846 h 10000"/>
              <a:gd name="connsiteX144" fmla="*/ 1870 w 10000"/>
              <a:gd name="connsiteY144" fmla="*/ 9874 h 10000"/>
              <a:gd name="connsiteX145" fmla="*/ 2032 w 10000"/>
              <a:gd name="connsiteY145" fmla="*/ 9902 h 10000"/>
              <a:gd name="connsiteX146" fmla="*/ 2197 w 10000"/>
              <a:gd name="connsiteY146" fmla="*/ 9926 h 10000"/>
              <a:gd name="connsiteX147" fmla="*/ 2362 w 10000"/>
              <a:gd name="connsiteY147" fmla="*/ 9946 h 10000"/>
              <a:gd name="connsiteX148" fmla="*/ 2529 w 10000"/>
              <a:gd name="connsiteY148" fmla="*/ 9962 h 10000"/>
              <a:gd name="connsiteX149" fmla="*/ 2700 w 10000"/>
              <a:gd name="connsiteY149" fmla="*/ 9978 h 10000"/>
              <a:gd name="connsiteX150" fmla="*/ 2867 w 10000"/>
              <a:gd name="connsiteY150" fmla="*/ 9988 h 10000"/>
              <a:gd name="connsiteX151" fmla="*/ 3038 w 10000"/>
              <a:gd name="connsiteY151" fmla="*/ 9996 h 10000"/>
              <a:gd name="connsiteX152" fmla="*/ 3205 w 10000"/>
              <a:gd name="connsiteY152" fmla="*/ 10000 h 10000"/>
              <a:gd name="connsiteX153" fmla="*/ 3378 w 10000"/>
              <a:gd name="connsiteY153" fmla="*/ 10000 h 10000"/>
              <a:gd name="connsiteX154" fmla="*/ 3548 w 10000"/>
              <a:gd name="connsiteY154" fmla="*/ 9998 h 10000"/>
              <a:gd name="connsiteX155" fmla="*/ 3724 w 10000"/>
              <a:gd name="connsiteY155" fmla="*/ 9994 h 10000"/>
              <a:gd name="connsiteX156" fmla="*/ 3893 w 10000"/>
              <a:gd name="connsiteY156" fmla="*/ 9986 h 10000"/>
              <a:gd name="connsiteX157" fmla="*/ 4069 w 10000"/>
              <a:gd name="connsiteY157" fmla="*/ 9974 h 10000"/>
              <a:gd name="connsiteX158" fmla="*/ 4242 w 10000"/>
              <a:gd name="connsiteY158" fmla="*/ 9956 h 10000"/>
              <a:gd name="connsiteX159" fmla="*/ 4415 w 10000"/>
              <a:gd name="connsiteY159" fmla="*/ 9938 h 10000"/>
              <a:gd name="connsiteX160" fmla="*/ 4591 w 10000"/>
              <a:gd name="connsiteY160" fmla="*/ 9912 h 10000"/>
              <a:gd name="connsiteX161" fmla="*/ 4766 w 10000"/>
              <a:gd name="connsiteY161" fmla="*/ 9888 h 10000"/>
              <a:gd name="connsiteX162" fmla="*/ 4766 w 10000"/>
              <a:gd name="connsiteY162" fmla="*/ 9888 h 10000"/>
              <a:gd name="connsiteX0" fmla="*/ 3761 w 8995"/>
              <a:gd name="connsiteY0" fmla="*/ 9888 h 10000"/>
              <a:gd name="connsiteX1" fmla="*/ 3761 w 8995"/>
              <a:gd name="connsiteY1" fmla="*/ 9888 h 10000"/>
              <a:gd name="connsiteX2" fmla="*/ 3926 w 8995"/>
              <a:gd name="connsiteY2" fmla="*/ 9856 h 10000"/>
              <a:gd name="connsiteX3" fmla="*/ 4091 w 8995"/>
              <a:gd name="connsiteY3" fmla="*/ 9826 h 10000"/>
              <a:gd name="connsiteX4" fmla="*/ 4253 w 8995"/>
              <a:gd name="connsiteY4" fmla="*/ 9792 h 10000"/>
              <a:gd name="connsiteX5" fmla="*/ 4416 w 8995"/>
              <a:gd name="connsiteY5" fmla="*/ 9754 h 10000"/>
              <a:gd name="connsiteX6" fmla="*/ 4573 w 8995"/>
              <a:gd name="connsiteY6" fmla="*/ 9712 h 10000"/>
              <a:gd name="connsiteX7" fmla="*/ 4732 w 8995"/>
              <a:gd name="connsiteY7" fmla="*/ 9670 h 10000"/>
              <a:gd name="connsiteX8" fmla="*/ 4886 w 8995"/>
              <a:gd name="connsiteY8" fmla="*/ 9622 h 10000"/>
              <a:gd name="connsiteX9" fmla="*/ 5040 w 8995"/>
              <a:gd name="connsiteY9" fmla="*/ 9574 h 10000"/>
              <a:gd name="connsiteX10" fmla="*/ 5189 w 8995"/>
              <a:gd name="connsiteY10" fmla="*/ 9524 h 10000"/>
              <a:gd name="connsiteX11" fmla="*/ 5336 w 8995"/>
              <a:gd name="connsiteY11" fmla="*/ 9468 h 10000"/>
              <a:gd name="connsiteX12" fmla="*/ 5484 w 8995"/>
              <a:gd name="connsiteY12" fmla="*/ 9412 h 10000"/>
              <a:gd name="connsiteX13" fmla="*/ 5626 w 8995"/>
              <a:gd name="connsiteY13" fmla="*/ 9352 h 10000"/>
              <a:gd name="connsiteX14" fmla="*/ 5766 w 8995"/>
              <a:gd name="connsiteY14" fmla="*/ 9290 h 10000"/>
              <a:gd name="connsiteX15" fmla="*/ 5907 w 8995"/>
              <a:gd name="connsiteY15" fmla="*/ 9224 h 10000"/>
              <a:gd name="connsiteX16" fmla="*/ 6043 w 8995"/>
              <a:gd name="connsiteY16" fmla="*/ 9160 h 10000"/>
              <a:gd name="connsiteX17" fmla="*/ 6176 w 8995"/>
              <a:gd name="connsiteY17" fmla="*/ 9090 h 10000"/>
              <a:gd name="connsiteX18" fmla="*/ 6307 w 8995"/>
              <a:gd name="connsiteY18" fmla="*/ 9018 h 10000"/>
              <a:gd name="connsiteX19" fmla="*/ 6433 w 8995"/>
              <a:gd name="connsiteY19" fmla="*/ 8944 h 10000"/>
              <a:gd name="connsiteX20" fmla="*/ 6559 w 8995"/>
              <a:gd name="connsiteY20" fmla="*/ 8868 h 10000"/>
              <a:gd name="connsiteX21" fmla="*/ 6684 w 8995"/>
              <a:gd name="connsiteY21" fmla="*/ 8792 h 10000"/>
              <a:gd name="connsiteX22" fmla="*/ 6804 w 8995"/>
              <a:gd name="connsiteY22" fmla="*/ 8712 h 10000"/>
              <a:gd name="connsiteX23" fmla="*/ 6923 w 8995"/>
              <a:gd name="connsiteY23" fmla="*/ 8628 h 10000"/>
              <a:gd name="connsiteX24" fmla="*/ 7037 w 8995"/>
              <a:gd name="connsiteY24" fmla="*/ 8544 h 10000"/>
              <a:gd name="connsiteX25" fmla="*/ 7147 w 8995"/>
              <a:gd name="connsiteY25" fmla="*/ 8458 h 10000"/>
              <a:gd name="connsiteX26" fmla="*/ 7258 w 8995"/>
              <a:gd name="connsiteY26" fmla="*/ 8370 h 10000"/>
              <a:gd name="connsiteX27" fmla="*/ 7365 w 8995"/>
              <a:gd name="connsiteY27" fmla="*/ 8282 h 10000"/>
              <a:gd name="connsiteX28" fmla="*/ 7466 w 8995"/>
              <a:gd name="connsiteY28" fmla="*/ 8190 h 10000"/>
              <a:gd name="connsiteX29" fmla="*/ 7567 w 8995"/>
              <a:gd name="connsiteY29" fmla="*/ 8098 h 10000"/>
              <a:gd name="connsiteX30" fmla="*/ 7665 w 8995"/>
              <a:gd name="connsiteY30" fmla="*/ 8002 h 10000"/>
              <a:gd name="connsiteX31" fmla="*/ 7758 w 8995"/>
              <a:gd name="connsiteY31" fmla="*/ 7906 h 10000"/>
              <a:gd name="connsiteX32" fmla="*/ 7848 w 8995"/>
              <a:gd name="connsiteY32" fmla="*/ 7806 h 10000"/>
              <a:gd name="connsiteX33" fmla="*/ 7937 w 8995"/>
              <a:gd name="connsiteY33" fmla="*/ 7706 h 10000"/>
              <a:gd name="connsiteX34" fmla="*/ 8022 w 8995"/>
              <a:gd name="connsiteY34" fmla="*/ 7604 h 10000"/>
              <a:gd name="connsiteX35" fmla="*/ 8104 w 8995"/>
              <a:gd name="connsiteY35" fmla="*/ 7500 h 10000"/>
              <a:gd name="connsiteX36" fmla="*/ 8181 w 8995"/>
              <a:gd name="connsiteY36" fmla="*/ 7398 h 10000"/>
              <a:gd name="connsiteX37" fmla="*/ 8256 w 8995"/>
              <a:gd name="connsiteY37" fmla="*/ 7292 h 10000"/>
              <a:gd name="connsiteX38" fmla="*/ 8328 w 8995"/>
              <a:gd name="connsiteY38" fmla="*/ 7182 h 10000"/>
              <a:gd name="connsiteX39" fmla="*/ 8396 w 8995"/>
              <a:gd name="connsiteY39" fmla="*/ 7074 h 10000"/>
              <a:gd name="connsiteX40" fmla="*/ 8461 w 8995"/>
              <a:gd name="connsiteY40" fmla="*/ 6964 h 10000"/>
              <a:gd name="connsiteX41" fmla="*/ 8522 w 8995"/>
              <a:gd name="connsiteY41" fmla="*/ 6854 h 10000"/>
              <a:gd name="connsiteX42" fmla="*/ 8580 w 8995"/>
              <a:gd name="connsiteY42" fmla="*/ 6740 h 10000"/>
              <a:gd name="connsiteX43" fmla="*/ 8633 w 8995"/>
              <a:gd name="connsiteY43" fmla="*/ 6626 h 10000"/>
              <a:gd name="connsiteX44" fmla="*/ 8684 w 8995"/>
              <a:gd name="connsiteY44" fmla="*/ 6512 h 10000"/>
              <a:gd name="connsiteX45" fmla="*/ 8729 w 8995"/>
              <a:gd name="connsiteY45" fmla="*/ 6396 h 10000"/>
              <a:gd name="connsiteX46" fmla="*/ 8775 w 8995"/>
              <a:gd name="connsiteY46" fmla="*/ 6280 h 10000"/>
              <a:gd name="connsiteX47" fmla="*/ 8814 w 8995"/>
              <a:gd name="connsiteY47" fmla="*/ 6164 h 10000"/>
              <a:gd name="connsiteX48" fmla="*/ 8852 w 8995"/>
              <a:gd name="connsiteY48" fmla="*/ 6044 h 10000"/>
              <a:gd name="connsiteX49" fmla="*/ 8881 w 8995"/>
              <a:gd name="connsiteY49" fmla="*/ 5926 h 10000"/>
              <a:gd name="connsiteX50" fmla="*/ 8908 w 8995"/>
              <a:gd name="connsiteY50" fmla="*/ 5804 h 10000"/>
              <a:gd name="connsiteX51" fmla="*/ 8934 w 8995"/>
              <a:gd name="connsiteY51" fmla="*/ 5684 h 10000"/>
              <a:gd name="connsiteX52" fmla="*/ 8955 w 8995"/>
              <a:gd name="connsiteY52" fmla="*/ 5562 h 10000"/>
              <a:gd name="connsiteX53" fmla="*/ 8971 w 8995"/>
              <a:gd name="connsiteY53" fmla="*/ 5440 h 10000"/>
              <a:gd name="connsiteX54" fmla="*/ 8981 w 8995"/>
              <a:gd name="connsiteY54" fmla="*/ 5316 h 10000"/>
              <a:gd name="connsiteX55" fmla="*/ 8992 w 8995"/>
              <a:gd name="connsiteY55" fmla="*/ 5196 h 10000"/>
              <a:gd name="connsiteX56" fmla="*/ 8995 w 8995"/>
              <a:gd name="connsiteY56" fmla="*/ 5072 h 10000"/>
              <a:gd name="connsiteX57" fmla="*/ 8995 w 8995"/>
              <a:gd name="connsiteY57" fmla="*/ 4948 h 10000"/>
              <a:gd name="connsiteX58" fmla="*/ 8992 w 8995"/>
              <a:gd name="connsiteY58" fmla="*/ 4822 h 10000"/>
              <a:gd name="connsiteX59" fmla="*/ 8981 w 8995"/>
              <a:gd name="connsiteY59" fmla="*/ 4698 h 10000"/>
              <a:gd name="connsiteX60" fmla="*/ 8971 w 8995"/>
              <a:gd name="connsiteY60" fmla="*/ 4572 h 10000"/>
              <a:gd name="connsiteX61" fmla="*/ 8955 w 8995"/>
              <a:gd name="connsiteY61" fmla="*/ 4444 h 10000"/>
              <a:gd name="connsiteX62" fmla="*/ 8932 w 8995"/>
              <a:gd name="connsiteY62" fmla="*/ 4318 h 10000"/>
              <a:gd name="connsiteX63" fmla="*/ 8908 w 8995"/>
              <a:gd name="connsiteY63" fmla="*/ 4192 h 10000"/>
              <a:gd name="connsiteX64" fmla="*/ 8878 w 8995"/>
              <a:gd name="connsiteY64" fmla="*/ 4066 h 10000"/>
              <a:gd name="connsiteX65" fmla="*/ 8843 w 8995"/>
              <a:gd name="connsiteY65" fmla="*/ 3940 h 10000"/>
              <a:gd name="connsiteX66" fmla="*/ 8843 w 8995"/>
              <a:gd name="connsiteY66" fmla="*/ 3940 h 10000"/>
              <a:gd name="connsiteX67" fmla="*/ 8804 w 8995"/>
              <a:gd name="connsiteY67" fmla="*/ 3816 h 10000"/>
              <a:gd name="connsiteX68" fmla="*/ 8761 w 8995"/>
              <a:gd name="connsiteY68" fmla="*/ 3692 h 10000"/>
              <a:gd name="connsiteX69" fmla="*/ 8715 w 8995"/>
              <a:gd name="connsiteY69" fmla="*/ 3568 h 10000"/>
              <a:gd name="connsiteX70" fmla="*/ 8665 w 8995"/>
              <a:gd name="connsiteY70" fmla="*/ 3446 h 10000"/>
              <a:gd name="connsiteX71" fmla="*/ 8612 w 8995"/>
              <a:gd name="connsiteY71" fmla="*/ 3328 h 10000"/>
              <a:gd name="connsiteX72" fmla="*/ 8551 w 8995"/>
              <a:gd name="connsiteY72" fmla="*/ 3208 h 10000"/>
              <a:gd name="connsiteX73" fmla="*/ 8493 w 8995"/>
              <a:gd name="connsiteY73" fmla="*/ 3092 h 10000"/>
              <a:gd name="connsiteX74" fmla="*/ 8428 w 8995"/>
              <a:gd name="connsiteY74" fmla="*/ 2976 h 10000"/>
              <a:gd name="connsiteX75" fmla="*/ 8357 w 8995"/>
              <a:gd name="connsiteY75" fmla="*/ 2864 h 10000"/>
              <a:gd name="connsiteX76" fmla="*/ 8288 w 8995"/>
              <a:gd name="connsiteY76" fmla="*/ 2754 h 10000"/>
              <a:gd name="connsiteX77" fmla="*/ 8210 w 8995"/>
              <a:gd name="connsiteY77" fmla="*/ 2642 h 10000"/>
              <a:gd name="connsiteX78" fmla="*/ 8131 w 8995"/>
              <a:gd name="connsiteY78" fmla="*/ 2536 h 10000"/>
              <a:gd name="connsiteX79" fmla="*/ 8048 w 8995"/>
              <a:gd name="connsiteY79" fmla="*/ 2430 h 10000"/>
              <a:gd name="connsiteX80" fmla="*/ 7963 w 8995"/>
              <a:gd name="connsiteY80" fmla="*/ 2324 h 10000"/>
              <a:gd name="connsiteX81" fmla="*/ 7875 w 8995"/>
              <a:gd name="connsiteY81" fmla="*/ 2222 h 10000"/>
              <a:gd name="connsiteX82" fmla="*/ 7782 w 8995"/>
              <a:gd name="connsiteY82" fmla="*/ 2122 h 10000"/>
              <a:gd name="connsiteX83" fmla="*/ 7689 w 8995"/>
              <a:gd name="connsiteY83" fmla="*/ 2024 h 10000"/>
              <a:gd name="connsiteX84" fmla="*/ 7590 w 8995"/>
              <a:gd name="connsiteY84" fmla="*/ 1928 h 10000"/>
              <a:gd name="connsiteX85" fmla="*/ 7490 w 8995"/>
              <a:gd name="connsiteY85" fmla="*/ 1834 h 10000"/>
              <a:gd name="connsiteX86" fmla="*/ 7386 w 8995"/>
              <a:gd name="connsiteY86" fmla="*/ 1740 h 10000"/>
              <a:gd name="connsiteX87" fmla="*/ 7283 w 8995"/>
              <a:gd name="connsiteY87" fmla="*/ 1648 h 10000"/>
              <a:gd name="connsiteX88" fmla="*/ 7170 w 8995"/>
              <a:gd name="connsiteY88" fmla="*/ 1560 h 10000"/>
              <a:gd name="connsiteX89" fmla="*/ 7059 w 8995"/>
              <a:gd name="connsiteY89" fmla="*/ 1474 h 10000"/>
              <a:gd name="connsiteX90" fmla="*/ 6945 w 8995"/>
              <a:gd name="connsiteY90" fmla="*/ 1392 h 10000"/>
              <a:gd name="connsiteX91" fmla="*/ 6827 w 8995"/>
              <a:gd name="connsiteY91" fmla="*/ 1308 h 10000"/>
              <a:gd name="connsiteX92" fmla="*/ 6711 w 8995"/>
              <a:gd name="connsiteY92" fmla="*/ 1226 h 10000"/>
              <a:gd name="connsiteX93" fmla="*/ 6585 w 8995"/>
              <a:gd name="connsiteY93" fmla="*/ 1150 h 10000"/>
              <a:gd name="connsiteX94" fmla="*/ 6464 w 8995"/>
              <a:gd name="connsiteY94" fmla="*/ 1076 h 10000"/>
              <a:gd name="connsiteX95" fmla="*/ 6338 w 8995"/>
              <a:gd name="connsiteY95" fmla="*/ 1002 h 10000"/>
              <a:gd name="connsiteX96" fmla="*/ 6208 w 8995"/>
              <a:gd name="connsiteY96" fmla="*/ 932 h 10000"/>
              <a:gd name="connsiteX97" fmla="*/ 6075 w 8995"/>
              <a:gd name="connsiteY97" fmla="*/ 862 h 10000"/>
              <a:gd name="connsiteX98" fmla="*/ 5945 w 8995"/>
              <a:gd name="connsiteY98" fmla="*/ 798 h 10000"/>
              <a:gd name="connsiteX99" fmla="*/ 5809 w 8995"/>
              <a:gd name="connsiteY99" fmla="*/ 734 h 10000"/>
              <a:gd name="connsiteX100" fmla="*/ 5673 w 8995"/>
              <a:gd name="connsiteY100" fmla="*/ 670 h 10000"/>
              <a:gd name="connsiteX101" fmla="*/ 5532 w 8995"/>
              <a:gd name="connsiteY101" fmla="*/ 612 h 10000"/>
              <a:gd name="connsiteX102" fmla="*/ 5389 w 8995"/>
              <a:gd name="connsiteY102" fmla="*/ 556 h 10000"/>
              <a:gd name="connsiteX103" fmla="*/ 5247 w 8995"/>
              <a:gd name="connsiteY103" fmla="*/ 504 h 10000"/>
              <a:gd name="connsiteX104" fmla="*/ 5104 w 8995"/>
              <a:gd name="connsiteY104" fmla="*/ 450 h 10000"/>
              <a:gd name="connsiteX105" fmla="*/ 4958 w 8995"/>
              <a:gd name="connsiteY105" fmla="*/ 402 h 10000"/>
              <a:gd name="connsiteX106" fmla="*/ 4812 w 8995"/>
              <a:gd name="connsiteY106" fmla="*/ 358 h 10000"/>
              <a:gd name="connsiteX107" fmla="*/ 4660 w 8995"/>
              <a:gd name="connsiteY107" fmla="*/ 314 h 10000"/>
              <a:gd name="connsiteX108" fmla="*/ 4508 w 8995"/>
              <a:gd name="connsiteY108" fmla="*/ 274 h 10000"/>
              <a:gd name="connsiteX109" fmla="*/ 4359 w 8995"/>
              <a:gd name="connsiteY109" fmla="*/ 236 h 10000"/>
              <a:gd name="connsiteX110" fmla="*/ 4202 w 8995"/>
              <a:gd name="connsiteY110" fmla="*/ 200 h 10000"/>
              <a:gd name="connsiteX111" fmla="*/ 4049 w 8995"/>
              <a:gd name="connsiteY111" fmla="*/ 168 h 10000"/>
              <a:gd name="connsiteX112" fmla="*/ 3894 w 8995"/>
              <a:gd name="connsiteY112" fmla="*/ 138 h 10000"/>
              <a:gd name="connsiteX113" fmla="*/ 3737 w 8995"/>
              <a:gd name="connsiteY113" fmla="*/ 110 h 10000"/>
              <a:gd name="connsiteX114" fmla="*/ 3578 w 8995"/>
              <a:gd name="connsiteY114" fmla="*/ 86 h 10000"/>
              <a:gd name="connsiteX115" fmla="*/ 3417 w 8995"/>
              <a:gd name="connsiteY115" fmla="*/ 66 h 10000"/>
              <a:gd name="connsiteX116" fmla="*/ 3255 w 8995"/>
              <a:gd name="connsiteY116" fmla="*/ 46 h 10000"/>
              <a:gd name="connsiteX117" fmla="*/ 3096 w 8995"/>
              <a:gd name="connsiteY117" fmla="*/ 32 h 10000"/>
              <a:gd name="connsiteX118" fmla="*/ 2934 w 8995"/>
              <a:gd name="connsiteY118" fmla="*/ 22 h 10000"/>
              <a:gd name="connsiteX119" fmla="*/ 2769 w 8995"/>
              <a:gd name="connsiteY119" fmla="*/ 10 h 10000"/>
              <a:gd name="connsiteX120" fmla="*/ 2605 w 8995"/>
              <a:gd name="connsiteY120" fmla="*/ 4 h 10000"/>
              <a:gd name="connsiteX121" fmla="*/ 2439 w 8995"/>
              <a:gd name="connsiteY121" fmla="*/ 0 h 10000"/>
              <a:gd name="connsiteX122" fmla="*/ 2274 w 8995"/>
              <a:gd name="connsiteY122" fmla="*/ 0 h 10000"/>
              <a:gd name="connsiteX123" fmla="*/ 2110 w 8995"/>
              <a:gd name="connsiteY123" fmla="*/ 4 h 10000"/>
              <a:gd name="connsiteX124" fmla="*/ 1942 w 8995"/>
              <a:gd name="connsiteY124" fmla="*/ 10 h 10000"/>
              <a:gd name="connsiteX125" fmla="*/ 1777 w 8995"/>
              <a:gd name="connsiteY125" fmla="*/ 22 h 10000"/>
              <a:gd name="connsiteX126" fmla="*/ 1610 w 8995"/>
              <a:gd name="connsiteY126" fmla="*/ 34 h 10000"/>
              <a:gd name="connsiteX127" fmla="*/ 1442 w 8995"/>
              <a:gd name="connsiteY127" fmla="*/ 48 h 10000"/>
              <a:gd name="connsiteX128" fmla="*/ 1275 w 8995"/>
              <a:gd name="connsiteY128" fmla="*/ 66 h 10000"/>
              <a:gd name="connsiteX129" fmla="*/ 1106 w 8995"/>
              <a:gd name="connsiteY129" fmla="*/ 90 h 10000"/>
              <a:gd name="connsiteX130" fmla="*/ 937 w 8995"/>
              <a:gd name="connsiteY130" fmla="*/ 114 h 10000"/>
              <a:gd name="connsiteX131" fmla="*/ 937 w 8995"/>
              <a:gd name="connsiteY131" fmla="*/ 114 h 10000"/>
              <a:gd name="connsiteX132" fmla="*/ 777 w 8995"/>
              <a:gd name="connsiteY132" fmla="*/ 142 h 10000"/>
              <a:gd name="connsiteX133" fmla="*/ 618 w 8995"/>
              <a:gd name="connsiteY133" fmla="*/ 176 h 10000"/>
              <a:gd name="connsiteX134" fmla="*/ 461 w 8995"/>
              <a:gd name="connsiteY134" fmla="*/ 208 h 10000"/>
              <a:gd name="connsiteX135" fmla="*/ 306 w 8995"/>
              <a:gd name="connsiteY135" fmla="*/ 244 h 10000"/>
              <a:gd name="connsiteX136" fmla="*/ 152 w 8995"/>
              <a:gd name="connsiteY136" fmla="*/ 282 h 10000"/>
              <a:gd name="connsiteX137" fmla="*/ 0 w 8995"/>
              <a:gd name="connsiteY137" fmla="*/ 324 h 10000"/>
              <a:gd name="connsiteX138" fmla="*/ 67 w 8995"/>
              <a:gd name="connsiteY138" fmla="*/ 9698 h 10000"/>
              <a:gd name="connsiteX139" fmla="*/ 222 w 8995"/>
              <a:gd name="connsiteY139" fmla="*/ 9738 h 10000"/>
              <a:gd name="connsiteX140" fmla="*/ 381 w 8995"/>
              <a:gd name="connsiteY140" fmla="*/ 9778 h 10000"/>
              <a:gd name="connsiteX141" fmla="*/ 540 w 8995"/>
              <a:gd name="connsiteY141" fmla="*/ 9814 h 10000"/>
              <a:gd name="connsiteX142" fmla="*/ 703 w 8995"/>
              <a:gd name="connsiteY142" fmla="*/ 9846 h 10000"/>
              <a:gd name="connsiteX143" fmla="*/ 865 w 8995"/>
              <a:gd name="connsiteY143" fmla="*/ 9874 h 10000"/>
              <a:gd name="connsiteX144" fmla="*/ 1027 w 8995"/>
              <a:gd name="connsiteY144" fmla="*/ 9902 h 10000"/>
              <a:gd name="connsiteX145" fmla="*/ 1192 w 8995"/>
              <a:gd name="connsiteY145" fmla="*/ 9926 h 10000"/>
              <a:gd name="connsiteX146" fmla="*/ 1357 w 8995"/>
              <a:gd name="connsiteY146" fmla="*/ 9946 h 10000"/>
              <a:gd name="connsiteX147" fmla="*/ 1524 w 8995"/>
              <a:gd name="connsiteY147" fmla="*/ 9962 h 10000"/>
              <a:gd name="connsiteX148" fmla="*/ 1695 w 8995"/>
              <a:gd name="connsiteY148" fmla="*/ 9978 h 10000"/>
              <a:gd name="connsiteX149" fmla="*/ 1862 w 8995"/>
              <a:gd name="connsiteY149" fmla="*/ 9988 h 10000"/>
              <a:gd name="connsiteX150" fmla="*/ 2033 w 8995"/>
              <a:gd name="connsiteY150" fmla="*/ 9996 h 10000"/>
              <a:gd name="connsiteX151" fmla="*/ 2200 w 8995"/>
              <a:gd name="connsiteY151" fmla="*/ 10000 h 10000"/>
              <a:gd name="connsiteX152" fmla="*/ 2373 w 8995"/>
              <a:gd name="connsiteY152" fmla="*/ 10000 h 10000"/>
              <a:gd name="connsiteX153" fmla="*/ 2543 w 8995"/>
              <a:gd name="connsiteY153" fmla="*/ 9998 h 10000"/>
              <a:gd name="connsiteX154" fmla="*/ 2719 w 8995"/>
              <a:gd name="connsiteY154" fmla="*/ 9994 h 10000"/>
              <a:gd name="connsiteX155" fmla="*/ 2888 w 8995"/>
              <a:gd name="connsiteY155" fmla="*/ 9986 h 10000"/>
              <a:gd name="connsiteX156" fmla="*/ 3064 w 8995"/>
              <a:gd name="connsiteY156" fmla="*/ 9974 h 10000"/>
              <a:gd name="connsiteX157" fmla="*/ 3237 w 8995"/>
              <a:gd name="connsiteY157" fmla="*/ 9956 h 10000"/>
              <a:gd name="connsiteX158" fmla="*/ 3410 w 8995"/>
              <a:gd name="connsiteY158" fmla="*/ 9938 h 10000"/>
              <a:gd name="connsiteX159" fmla="*/ 3586 w 8995"/>
              <a:gd name="connsiteY159" fmla="*/ 9912 h 10000"/>
              <a:gd name="connsiteX160" fmla="*/ 3761 w 8995"/>
              <a:gd name="connsiteY160" fmla="*/ 9888 h 10000"/>
              <a:gd name="connsiteX161" fmla="*/ 3761 w 8995"/>
              <a:gd name="connsiteY161" fmla="*/ 988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995" h="10000">
                <a:moveTo>
                  <a:pt x="3761" y="9888"/>
                </a:moveTo>
                <a:lnTo>
                  <a:pt x="3761" y="9888"/>
                </a:lnTo>
                <a:lnTo>
                  <a:pt x="3926" y="9856"/>
                </a:lnTo>
                <a:lnTo>
                  <a:pt x="4091" y="9826"/>
                </a:lnTo>
                <a:lnTo>
                  <a:pt x="4253" y="9792"/>
                </a:lnTo>
                <a:lnTo>
                  <a:pt x="4416" y="9754"/>
                </a:lnTo>
                <a:lnTo>
                  <a:pt x="4573" y="9712"/>
                </a:lnTo>
                <a:lnTo>
                  <a:pt x="4732" y="9670"/>
                </a:lnTo>
                <a:lnTo>
                  <a:pt x="4886" y="9622"/>
                </a:lnTo>
                <a:lnTo>
                  <a:pt x="5040" y="9574"/>
                </a:lnTo>
                <a:lnTo>
                  <a:pt x="5189" y="9524"/>
                </a:lnTo>
                <a:lnTo>
                  <a:pt x="5336" y="9468"/>
                </a:lnTo>
                <a:lnTo>
                  <a:pt x="5484" y="9412"/>
                </a:lnTo>
                <a:lnTo>
                  <a:pt x="5626" y="9352"/>
                </a:lnTo>
                <a:lnTo>
                  <a:pt x="5766" y="9290"/>
                </a:lnTo>
                <a:lnTo>
                  <a:pt x="5907" y="9224"/>
                </a:lnTo>
                <a:lnTo>
                  <a:pt x="6043" y="9160"/>
                </a:lnTo>
                <a:lnTo>
                  <a:pt x="6176" y="9090"/>
                </a:lnTo>
                <a:lnTo>
                  <a:pt x="6307" y="9018"/>
                </a:lnTo>
                <a:lnTo>
                  <a:pt x="6433" y="8944"/>
                </a:lnTo>
                <a:lnTo>
                  <a:pt x="6559" y="8868"/>
                </a:lnTo>
                <a:cubicBezTo>
                  <a:pt x="6601" y="8843"/>
                  <a:pt x="6642" y="8817"/>
                  <a:pt x="6684" y="8792"/>
                </a:cubicBezTo>
                <a:cubicBezTo>
                  <a:pt x="6723" y="8765"/>
                  <a:pt x="6764" y="8739"/>
                  <a:pt x="6804" y="8712"/>
                </a:cubicBezTo>
                <a:lnTo>
                  <a:pt x="6923" y="8628"/>
                </a:lnTo>
                <a:lnTo>
                  <a:pt x="7037" y="8544"/>
                </a:lnTo>
                <a:lnTo>
                  <a:pt x="7147" y="8458"/>
                </a:lnTo>
                <a:cubicBezTo>
                  <a:pt x="7184" y="8429"/>
                  <a:pt x="7220" y="8399"/>
                  <a:pt x="7258" y="8370"/>
                </a:cubicBezTo>
                <a:cubicBezTo>
                  <a:pt x="7294" y="8341"/>
                  <a:pt x="7329" y="8311"/>
                  <a:pt x="7365" y="8282"/>
                </a:cubicBezTo>
                <a:cubicBezTo>
                  <a:pt x="7398" y="8251"/>
                  <a:pt x="7432" y="8221"/>
                  <a:pt x="7466" y="8190"/>
                </a:cubicBezTo>
                <a:cubicBezTo>
                  <a:pt x="7499" y="8159"/>
                  <a:pt x="7533" y="8129"/>
                  <a:pt x="7567" y="8098"/>
                </a:cubicBezTo>
                <a:lnTo>
                  <a:pt x="7665" y="8002"/>
                </a:lnTo>
                <a:cubicBezTo>
                  <a:pt x="7697" y="7970"/>
                  <a:pt x="7727" y="7938"/>
                  <a:pt x="7758" y="7906"/>
                </a:cubicBezTo>
                <a:cubicBezTo>
                  <a:pt x="7788" y="7873"/>
                  <a:pt x="7818" y="7839"/>
                  <a:pt x="7848" y="7806"/>
                </a:cubicBezTo>
                <a:cubicBezTo>
                  <a:pt x="7878" y="7773"/>
                  <a:pt x="7907" y="7739"/>
                  <a:pt x="7937" y="7706"/>
                </a:cubicBezTo>
                <a:cubicBezTo>
                  <a:pt x="7965" y="7672"/>
                  <a:pt x="7994" y="7638"/>
                  <a:pt x="8022" y="7604"/>
                </a:cubicBezTo>
                <a:cubicBezTo>
                  <a:pt x="8049" y="7569"/>
                  <a:pt x="8077" y="7535"/>
                  <a:pt x="8104" y="7500"/>
                </a:cubicBezTo>
                <a:cubicBezTo>
                  <a:pt x="8130" y="7466"/>
                  <a:pt x="8155" y="7432"/>
                  <a:pt x="8181" y="7398"/>
                </a:cubicBezTo>
                <a:cubicBezTo>
                  <a:pt x="8206" y="7363"/>
                  <a:pt x="8231" y="7327"/>
                  <a:pt x="8256" y="7292"/>
                </a:cubicBezTo>
                <a:cubicBezTo>
                  <a:pt x="8280" y="7255"/>
                  <a:pt x="8304" y="7219"/>
                  <a:pt x="8328" y="7182"/>
                </a:cubicBezTo>
                <a:cubicBezTo>
                  <a:pt x="8351" y="7146"/>
                  <a:pt x="8373" y="7110"/>
                  <a:pt x="8396" y="7074"/>
                </a:cubicBezTo>
                <a:cubicBezTo>
                  <a:pt x="8418" y="7037"/>
                  <a:pt x="8439" y="7001"/>
                  <a:pt x="8461" y="6964"/>
                </a:cubicBezTo>
                <a:cubicBezTo>
                  <a:pt x="8481" y="6927"/>
                  <a:pt x="8501" y="6891"/>
                  <a:pt x="8522" y="6854"/>
                </a:cubicBezTo>
                <a:cubicBezTo>
                  <a:pt x="8542" y="6816"/>
                  <a:pt x="8560" y="6778"/>
                  <a:pt x="8580" y="6740"/>
                </a:cubicBezTo>
                <a:cubicBezTo>
                  <a:pt x="8598" y="6702"/>
                  <a:pt x="8615" y="6664"/>
                  <a:pt x="8633" y="6626"/>
                </a:cubicBezTo>
                <a:cubicBezTo>
                  <a:pt x="8650" y="6588"/>
                  <a:pt x="8668" y="6550"/>
                  <a:pt x="8684" y="6512"/>
                </a:cubicBezTo>
                <a:cubicBezTo>
                  <a:pt x="8699" y="6473"/>
                  <a:pt x="8714" y="6435"/>
                  <a:pt x="8729" y="6396"/>
                </a:cubicBezTo>
                <a:cubicBezTo>
                  <a:pt x="8744" y="6357"/>
                  <a:pt x="8759" y="6319"/>
                  <a:pt x="8775" y="6280"/>
                </a:cubicBezTo>
                <a:cubicBezTo>
                  <a:pt x="8788" y="6241"/>
                  <a:pt x="8801" y="6203"/>
                  <a:pt x="8814" y="6164"/>
                </a:cubicBezTo>
                <a:cubicBezTo>
                  <a:pt x="8827" y="6124"/>
                  <a:pt x="8839" y="6084"/>
                  <a:pt x="8852" y="6044"/>
                </a:cubicBezTo>
                <a:cubicBezTo>
                  <a:pt x="8861" y="6005"/>
                  <a:pt x="8871" y="5965"/>
                  <a:pt x="8881" y="5926"/>
                </a:cubicBezTo>
                <a:cubicBezTo>
                  <a:pt x="8890" y="5885"/>
                  <a:pt x="8898" y="5845"/>
                  <a:pt x="8908" y="5804"/>
                </a:cubicBezTo>
                <a:cubicBezTo>
                  <a:pt x="8916" y="5764"/>
                  <a:pt x="8925" y="5724"/>
                  <a:pt x="8934" y="5684"/>
                </a:cubicBezTo>
                <a:cubicBezTo>
                  <a:pt x="8941" y="5643"/>
                  <a:pt x="8948" y="5603"/>
                  <a:pt x="8955" y="5562"/>
                </a:cubicBezTo>
                <a:cubicBezTo>
                  <a:pt x="8961" y="5521"/>
                  <a:pt x="8966" y="5481"/>
                  <a:pt x="8971" y="5440"/>
                </a:cubicBezTo>
                <a:cubicBezTo>
                  <a:pt x="8974" y="5399"/>
                  <a:pt x="8978" y="5357"/>
                  <a:pt x="8981" y="5316"/>
                </a:cubicBezTo>
                <a:cubicBezTo>
                  <a:pt x="8985" y="5276"/>
                  <a:pt x="8989" y="5236"/>
                  <a:pt x="8992" y="5196"/>
                </a:cubicBezTo>
                <a:cubicBezTo>
                  <a:pt x="8993" y="5155"/>
                  <a:pt x="8994" y="5113"/>
                  <a:pt x="8995" y="5072"/>
                </a:cubicBezTo>
                <a:lnTo>
                  <a:pt x="8995" y="4948"/>
                </a:lnTo>
                <a:lnTo>
                  <a:pt x="8992" y="4822"/>
                </a:lnTo>
                <a:cubicBezTo>
                  <a:pt x="8989" y="4781"/>
                  <a:pt x="8985" y="4739"/>
                  <a:pt x="8981" y="4698"/>
                </a:cubicBezTo>
                <a:cubicBezTo>
                  <a:pt x="8978" y="4656"/>
                  <a:pt x="8974" y="4614"/>
                  <a:pt x="8971" y="4572"/>
                </a:cubicBezTo>
                <a:cubicBezTo>
                  <a:pt x="8966" y="4529"/>
                  <a:pt x="8961" y="4487"/>
                  <a:pt x="8955" y="4444"/>
                </a:cubicBezTo>
                <a:cubicBezTo>
                  <a:pt x="8947" y="4402"/>
                  <a:pt x="8940" y="4360"/>
                  <a:pt x="8932" y="4318"/>
                </a:cubicBezTo>
                <a:cubicBezTo>
                  <a:pt x="8923" y="4276"/>
                  <a:pt x="8916" y="4234"/>
                  <a:pt x="8908" y="4192"/>
                </a:cubicBezTo>
                <a:cubicBezTo>
                  <a:pt x="8897" y="4150"/>
                  <a:pt x="8888" y="4108"/>
                  <a:pt x="8878" y="4066"/>
                </a:cubicBezTo>
                <a:cubicBezTo>
                  <a:pt x="8866" y="4024"/>
                  <a:pt x="8855" y="3982"/>
                  <a:pt x="8843" y="3940"/>
                </a:cubicBezTo>
                <a:lnTo>
                  <a:pt x="8843" y="3940"/>
                </a:lnTo>
                <a:cubicBezTo>
                  <a:pt x="8830" y="3899"/>
                  <a:pt x="8817" y="3857"/>
                  <a:pt x="8804" y="3816"/>
                </a:cubicBezTo>
                <a:cubicBezTo>
                  <a:pt x="8789" y="3775"/>
                  <a:pt x="8776" y="3733"/>
                  <a:pt x="8761" y="3692"/>
                </a:cubicBezTo>
                <a:cubicBezTo>
                  <a:pt x="8745" y="3651"/>
                  <a:pt x="8731" y="3609"/>
                  <a:pt x="8715" y="3568"/>
                </a:cubicBezTo>
                <a:cubicBezTo>
                  <a:pt x="8699" y="3527"/>
                  <a:pt x="8682" y="3487"/>
                  <a:pt x="8665" y="3446"/>
                </a:cubicBezTo>
                <a:cubicBezTo>
                  <a:pt x="8648" y="3407"/>
                  <a:pt x="8630" y="3367"/>
                  <a:pt x="8612" y="3328"/>
                </a:cubicBezTo>
                <a:cubicBezTo>
                  <a:pt x="8592" y="3288"/>
                  <a:pt x="8572" y="3248"/>
                  <a:pt x="8551" y="3208"/>
                </a:cubicBezTo>
                <a:cubicBezTo>
                  <a:pt x="8531" y="3169"/>
                  <a:pt x="8513" y="3131"/>
                  <a:pt x="8493" y="3092"/>
                </a:cubicBezTo>
                <a:cubicBezTo>
                  <a:pt x="8471" y="3053"/>
                  <a:pt x="8450" y="3015"/>
                  <a:pt x="8428" y="2976"/>
                </a:cubicBezTo>
                <a:cubicBezTo>
                  <a:pt x="8405" y="2939"/>
                  <a:pt x="8381" y="2901"/>
                  <a:pt x="8357" y="2864"/>
                </a:cubicBezTo>
                <a:cubicBezTo>
                  <a:pt x="8334" y="2827"/>
                  <a:pt x="8311" y="2791"/>
                  <a:pt x="8288" y="2754"/>
                </a:cubicBezTo>
                <a:cubicBezTo>
                  <a:pt x="8262" y="2717"/>
                  <a:pt x="8236" y="2679"/>
                  <a:pt x="8210" y="2642"/>
                </a:cubicBezTo>
                <a:lnTo>
                  <a:pt x="8131" y="2536"/>
                </a:lnTo>
                <a:cubicBezTo>
                  <a:pt x="8103" y="2501"/>
                  <a:pt x="8076" y="2465"/>
                  <a:pt x="8048" y="2430"/>
                </a:cubicBezTo>
                <a:lnTo>
                  <a:pt x="7963" y="2324"/>
                </a:lnTo>
                <a:cubicBezTo>
                  <a:pt x="7934" y="2290"/>
                  <a:pt x="7904" y="2256"/>
                  <a:pt x="7875" y="2222"/>
                </a:cubicBezTo>
                <a:cubicBezTo>
                  <a:pt x="7844" y="2189"/>
                  <a:pt x="7813" y="2155"/>
                  <a:pt x="7782" y="2122"/>
                </a:cubicBezTo>
                <a:cubicBezTo>
                  <a:pt x="7751" y="2089"/>
                  <a:pt x="7720" y="2057"/>
                  <a:pt x="7689" y="2024"/>
                </a:cubicBezTo>
                <a:cubicBezTo>
                  <a:pt x="7656" y="1992"/>
                  <a:pt x="7624" y="1960"/>
                  <a:pt x="7590" y="1928"/>
                </a:cubicBezTo>
                <a:lnTo>
                  <a:pt x="7490" y="1834"/>
                </a:lnTo>
                <a:cubicBezTo>
                  <a:pt x="7455" y="1803"/>
                  <a:pt x="7421" y="1771"/>
                  <a:pt x="7386" y="1740"/>
                </a:cubicBezTo>
                <a:cubicBezTo>
                  <a:pt x="7352" y="1709"/>
                  <a:pt x="7317" y="1679"/>
                  <a:pt x="7283" y="1648"/>
                </a:cubicBezTo>
                <a:cubicBezTo>
                  <a:pt x="7245" y="1619"/>
                  <a:pt x="7208" y="1589"/>
                  <a:pt x="7170" y="1560"/>
                </a:cubicBezTo>
                <a:lnTo>
                  <a:pt x="7059" y="1474"/>
                </a:lnTo>
                <a:lnTo>
                  <a:pt x="6945" y="1392"/>
                </a:lnTo>
                <a:lnTo>
                  <a:pt x="6827" y="1308"/>
                </a:lnTo>
                <a:cubicBezTo>
                  <a:pt x="6788" y="1281"/>
                  <a:pt x="6750" y="1253"/>
                  <a:pt x="6711" y="1226"/>
                </a:cubicBezTo>
                <a:lnTo>
                  <a:pt x="6585" y="1150"/>
                </a:lnTo>
                <a:cubicBezTo>
                  <a:pt x="6545" y="1125"/>
                  <a:pt x="6504" y="1101"/>
                  <a:pt x="6464" y="1076"/>
                </a:cubicBezTo>
                <a:cubicBezTo>
                  <a:pt x="6422" y="1051"/>
                  <a:pt x="6379" y="1027"/>
                  <a:pt x="6338" y="1002"/>
                </a:cubicBezTo>
                <a:cubicBezTo>
                  <a:pt x="6294" y="979"/>
                  <a:pt x="6251" y="955"/>
                  <a:pt x="6208" y="932"/>
                </a:cubicBezTo>
                <a:cubicBezTo>
                  <a:pt x="6163" y="909"/>
                  <a:pt x="6119" y="885"/>
                  <a:pt x="6075" y="862"/>
                </a:cubicBezTo>
                <a:cubicBezTo>
                  <a:pt x="6031" y="841"/>
                  <a:pt x="5988" y="819"/>
                  <a:pt x="5945" y="798"/>
                </a:cubicBezTo>
                <a:cubicBezTo>
                  <a:pt x="5899" y="777"/>
                  <a:pt x="5854" y="755"/>
                  <a:pt x="5809" y="734"/>
                </a:cubicBezTo>
                <a:lnTo>
                  <a:pt x="5673" y="670"/>
                </a:lnTo>
                <a:lnTo>
                  <a:pt x="5532" y="612"/>
                </a:lnTo>
                <a:lnTo>
                  <a:pt x="5389" y="556"/>
                </a:lnTo>
                <a:lnTo>
                  <a:pt x="5247" y="504"/>
                </a:lnTo>
                <a:lnTo>
                  <a:pt x="5104" y="450"/>
                </a:lnTo>
                <a:lnTo>
                  <a:pt x="4958" y="402"/>
                </a:lnTo>
                <a:lnTo>
                  <a:pt x="4812" y="358"/>
                </a:lnTo>
                <a:lnTo>
                  <a:pt x="4660" y="314"/>
                </a:lnTo>
                <a:lnTo>
                  <a:pt x="4508" y="274"/>
                </a:lnTo>
                <a:lnTo>
                  <a:pt x="4359" y="236"/>
                </a:lnTo>
                <a:lnTo>
                  <a:pt x="4202" y="200"/>
                </a:lnTo>
                <a:lnTo>
                  <a:pt x="4049" y="168"/>
                </a:lnTo>
                <a:lnTo>
                  <a:pt x="3894" y="138"/>
                </a:lnTo>
                <a:lnTo>
                  <a:pt x="3737" y="110"/>
                </a:lnTo>
                <a:lnTo>
                  <a:pt x="3578" y="86"/>
                </a:lnTo>
                <a:lnTo>
                  <a:pt x="3417" y="66"/>
                </a:lnTo>
                <a:lnTo>
                  <a:pt x="3255" y="46"/>
                </a:lnTo>
                <a:lnTo>
                  <a:pt x="3096" y="32"/>
                </a:lnTo>
                <a:lnTo>
                  <a:pt x="2934" y="22"/>
                </a:lnTo>
                <a:lnTo>
                  <a:pt x="2769" y="10"/>
                </a:lnTo>
                <a:lnTo>
                  <a:pt x="2605" y="4"/>
                </a:lnTo>
                <a:lnTo>
                  <a:pt x="2439" y="0"/>
                </a:lnTo>
                <a:lnTo>
                  <a:pt x="2274" y="0"/>
                </a:lnTo>
                <a:lnTo>
                  <a:pt x="2110" y="4"/>
                </a:lnTo>
                <a:lnTo>
                  <a:pt x="1942" y="10"/>
                </a:lnTo>
                <a:lnTo>
                  <a:pt x="1777" y="22"/>
                </a:lnTo>
                <a:lnTo>
                  <a:pt x="1610" y="34"/>
                </a:lnTo>
                <a:lnTo>
                  <a:pt x="1442" y="48"/>
                </a:lnTo>
                <a:lnTo>
                  <a:pt x="1275" y="66"/>
                </a:lnTo>
                <a:lnTo>
                  <a:pt x="1106" y="90"/>
                </a:lnTo>
                <a:lnTo>
                  <a:pt x="937" y="114"/>
                </a:lnTo>
                <a:lnTo>
                  <a:pt x="937" y="114"/>
                </a:lnTo>
                <a:lnTo>
                  <a:pt x="777" y="142"/>
                </a:lnTo>
                <a:lnTo>
                  <a:pt x="618" y="176"/>
                </a:lnTo>
                <a:lnTo>
                  <a:pt x="461" y="208"/>
                </a:lnTo>
                <a:lnTo>
                  <a:pt x="306" y="244"/>
                </a:lnTo>
                <a:lnTo>
                  <a:pt x="152" y="282"/>
                </a:lnTo>
                <a:lnTo>
                  <a:pt x="0" y="324"/>
                </a:lnTo>
                <a:cubicBezTo>
                  <a:pt x="22" y="3449"/>
                  <a:pt x="45" y="6573"/>
                  <a:pt x="67" y="9698"/>
                </a:cubicBezTo>
                <a:lnTo>
                  <a:pt x="222" y="9738"/>
                </a:lnTo>
                <a:lnTo>
                  <a:pt x="381" y="9778"/>
                </a:lnTo>
                <a:lnTo>
                  <a:pt x="540" y="9814"/>
                </a:lnTo>
                <a:lnTo>
                  <a:pt x="703" y="9846"/>
                </a:lnTo>
                <a:lnTo>
                  <a:pt x="865" y="9874"/>
                </a:lnTo>
                <a:lnTo>
                  <a:pt x="1027" y="9902"/>
                </a:lnTo>
                <a:lnTo>
                  <a:pt x="1192" y="9926"/>
                </a:lnTo>
                <a:lnTo>
                  <a:pt x="1357" y="9946"/>
                </a:lnTo>
                <a:lnTo>
                  <a:pt x="1524" y="9962"/>
                </a:lnTo>
                <a:lnTo>
                  <a:pt x="1695" y="9978"/>
                </a:lnTo>
                <a:lnTo>
                  <a:pt x="1862" y="9988"/>
                </a:lnTo>
                <a:lnTo>
                  <a:pt x="2033" y="9996"/>
                </a:lnTo>
                <a:lnTo>
                  <a:pt x="2200" y="10000"/>
                </a:lnTo>
                <a:lnTo>
                  <a:pt x="2373" y="10000"/>
                </a:lnTo>
                <a:lnTo>
                  <a:pt x="2543" y="9998"/>
                </a:lnTo>
                <a:lnTo>
                  <a:pt x="2719" y="9994"/>
                </a:lnTo>
                <a:lnTo>
                  <a:pt x="2888" y="9986"/>
                </a:lnTo>
                <a:lnTo>
                  <a:pt x="3064" y="9974"/>
                </a:lnTo>
                <a:lnTo>
                  <a:pt x="3237" y="9956"/>
                </a:lnTo>
                <a:lnTo>
                  <a:pt x="3410" y="9938"/>
                </a:lnTo>
                <a:lnTo>
                  <a:pt x="3586" y="9912"/>
                </a:lnTo>
                <a:lnTo>
                  <a:pt x="3761" y="9888"/>
                </a:lnTo>
                <a:lnTo>
                  <a:pt x="3761" y="9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41" name="Freeform 24"/>
          <p:cNvSpPr>
            <a:spLocks/>
          </p:cNvSpPr>
          <p:nvPr/>
        </p:nvSpPr>
        <p:spPr bwMode="auto">
          <a:xfrm>
            <a:off x="985902" y="2174755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2" name="Freeform 24"/>
          <p:cNvSpPr>
            <a:spLocks/>
          </p:cNvSpPr>
          <p:nvPr/>
        </p:nvSpPr>
        <p:spPr bwMode="auto">
          <a:xfrm flipV="1">
            <a:off x="1085778" y="4308261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3" name="Freeform 24"/>
          <p:cNvSpPr>
            <a:spLocks/>
          </p:cNvSpPr>
          <p:nvPr/>
        </p:nvSpPr>
        <p:spPr bwMode="auto">
          <a:xfrm rot="2592155">
            <a:off x="1424188" y="3278439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rgbClr val="62B5E5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43611" y="3405421"/>
            <a:ext cx="1537487" cy="1232452"/>
          </a:xfrm>
          <a:prstGeom prst="ellipse">
            <a:avLst/>
          </a:prstGeom>
          <a:gradFill flip="none" rotWithShape="1">
            <a:gsLst>
              <a:gs pos="0">
                <a:srgbClr val="575757">
                  <a:tint val="66000"/>
                  <a:satMod val="160000"/>
                </a:srgbClr>
              </a:gs>
              <a:gs pos="50000">
                <a:srgbClr val="575757">
                  <a:tint val="44500"/>
                  <a:satMod val="160000"/>
                </a:srgbClr>
              </a:gs>
              <a:gs pos="100000">
                <a:srgbClr val="575757">
                  <a:tint val="23500"/>
                  <a:satMod val="160000"/>
                </a:srgbClr>
              </a:gs>
            </a:gsLst>
            <a:lin ang="0" scaled="1"/>
            <a:tileRect/>
          </a:gradFill>
          <a:ln w="127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23715" y="3549793"/>
            <a:ext cx="1177281" cy="943710"/>
          </a:xfrm>
          <a:prstGeom prst="ellipse">
            <a:avLst/>
          </a:prstGeom>
          <a:gradFill flip="none" rotWithShape="1">
            <a:gsLst>
              <a:gs pos="0">
                <a:srgbClr val="575757">
                  <a:shade val="30000"/>
                  <a:satMod val="115000"/>
                </a:srgbClr>
              </a:gs>
              <a:gs pos="50000">
                <a:srgbClr val="575757">
                  <a:shade val="67500"/>
                  <a:satMod val="115000"/>
                </a:srgbClr>
              </a:gs>
              <a:gs pos="100000">
                <a:srgbClr val="575757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79128" y="227744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203" y="319867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7763" y="3867485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6470" y="5256214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4445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8344545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400" b="1" dirty="0">
              <a:solidFill>
                <a:prstClr val="white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pPr defTabSz="1565073">
              <a:defRPr/>
            </a:pPr>
            <a:r>
              <a:rPr lang="en-US" sz="2400" dirty="0">
                <a:solidFill>
                  <a:srgbClr val="012169">
                    <a:lumMod val="50000"/>
                  </a:srgbClr>
                </a:solidFill>
              </a:rPr>
              <a:t>Imported Products Compliance</a:t>
            </a:r>
            <a:endParaRPr lang="en-IN" sz="2400" dirty="0">
              <a:solidFill>
                <a:srgbClr val="012169">
                  <a:lumMod val="50000"/>
                </a:srgbClr>
              </a:solidFill>
            </a:endParaRPr>
          </a:p>
        </p:txBody>
      </p:sp>
      <p:pic>
        <p:nvPicPr>
          <p:cNvPr id="32" name="Picture 6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4"/>
          <a:stretch/>
        </p:blipFill>
        <p:spPr bwMode="auto">
          <a:xfrm>
            <a:off x="543611" y="1440337"/>
            <a:ext cx="4390367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7"/>
          <p:cNvSpPr>
            <a:spLocks/>
          </p:cNvSpPr>
          <p:nvPr/>
        </p:nvSpPr>
        <p:spPr bwMode="auto">
          <a:xfrm>
            <a:off x="500743" y="1828933"/>
            <a:ext cx="3726246" cy="4414602"/>
          </a:xfrm>
          <a:custGeom>
            <a:avLst/>
            <a:gdLst>
              <a:gd name="T0" fmla="*/ 2003 w 3909"/>
              <a:gd name="T1" fmla="*/ 4928 h 5000"/>
              <a:gd name="T2" fmla="*/ 2187 w 3909"/>
              <a:gd name="T3" fmla="*/ 4877 h 5000"/>
              <a:gd name="T4" fmla="*/ 2364 w 3909"/>
              <a:gd name="T5" fmla="*/ 4811 h 5000"/>
              <a:gd name="T6" fmla="*/ 2533 w 3909"/>
              <a:gd name="T7" fmla="*/ 4734 h 5000"/>
              <a:gd name="T8" fmla="*/ 2695 w 3909"/>
              <a:gd name="T9" fmla="*/ 4645 h 5000"/>
              <a:gd name="T10" fmla="*/ 2849 w 3909"/>
              <a:gd name="T11" fmla="*/ 4545 h 5000"/>
              <a:gd name="T12" fmla="*/ 2993 w 3909"/>
              <a:gd name="T13" fmla="*/ 4434 h 5000"/>
              <a:gd name="T14" fmla="*/ 3130 w 3909"/>
              <a:gd name="T15" fmla="*/ 4314 h 5000"/>
              <a:gd name="T16" fmla="*/ 3256 w 3909"/>
              <a:gd name="T17" fmla="*/ 4185 h 5000"/>
              <a:gd name="T18" fmla="*/ 3372 w 3909"/>
              <a:gd name="T19" fmla="*/ 4049 h 5000"/>
              <a:gd name="T20" fmla="*/ 3478 w 3909"/>
              <a:gd name="T21" fmla="*/ 3903 h 5000"/>
              <a:gd name="T22" fmla="*/ 3574 w 3909"/>
              <a:gd name="T23" fmla="*/ 3750 h 5000"/>
              <a:gd name="T24" fmla="*/ 3658 w 3909"/>
              <a:gd name="T25" fmla="*/ 3591 h 5000"/>
              <a:gd name="T26" fmla="*/ 3731 w 3909"/>
              <a:gd name="T27" fmla="*/ 3427 h 5000"/>
              <a:gd name="T28" fmla="*/ 3792 w 3909"/>
              <a:gd name="T29" fmla="*/ 3256 h 5000"/>
              <a:gd name="T30" fmla="*/ 3841 w 3909"/>
              <a:gd name="T31" fmla="*/ 3082 h 5000"/>
              <a:gd name="T32" fmla="*/ 3876 w 3909"/>
              <a:gd name="T33" fmla="*/ 2902 h 5000"/>
              <a:gd name="T34" fmla="*/ 3900 w 3909"/>
              <a:gd name="T35" fmla="*/ 2720 h 5000"/>
              <a:gd name="T36" fmla="*/ 3909 w 3909"/>
              <a:gd name="T37" fmla="*/ 2536 h 5000"/>
              <a:gd name="T38" fmla="*/ 3904 w 3909"/>
              <a:gd name="T39" fmla="*/ 2349 h 5000"/>
              <a:gd name="T40" fmla="*/ 3885 w 3909"/>
              <a:gd name="T41" fmla="*/ 2159 h 5000"/>
              <a:gd name="T42" fmla="*/ 3852 w 3909"/>
              <a:gd name="T43" fmla="*/ 1970 h 5000"/>
              <a:gd name="T44" fmla="*/ 3821 w 3909"/>
              <a:gd name="T45" fmla="*/ 1846 h 5000"/>
              <a:gd name="T46" fmla="*/ 3765 w 3909"/>
              <a:gd name="T47" fmla="*/ 1664 h 5000"/>
              <a:gd name="T48" fmla="*/ 3696 w 3909"/>
              <a:gd name="T49" fmla="*/ 1488 h 5000"/>
              <a:gd name="T50" fmla="*/ 3614 w 3909"/>
              <a:gd name="T51" fmla="*/ 1321 h 5000"/>
              <a:gd name="T52" fmla="*/ 3521 w 3909"/>
              <a:gd name="T53" fmla="*/ 1162 h 5000"/>
              <a:gd name="T54" fmla="*/ 3418 w 3909"/>
              <a:gd name="T55" fmla="*/ 1012 h 5000"/>
              <a:gd name="T56" fmla="*/ 3304 w 3909"/>
              <a:gd name="T57" fmla="*/ 870 h 5000"/>
              <a:gd name="T58" fmla="*/ 3181 w 3909"/>
              <a:gd name="T59" fmla="*/ 737 h 5000"/>
              <a:gd name="T60" fmla="*/ 3050 w 3909"/>
              <a:gd name="T61" fmla="*/ 613 h 5000"/>
              <a:gd name="T62" fmla="*/ 2910 w 3909"/>
              <a:gd name="T63" fmla="*/ 501 h 5000"/>
              <a:gd name="T64" fmla="*/ 2762 w 3909"/>
              <a:gd name="T65" fmla="*/ 399 h 5000"/>
              <a:gd name="T66" fmla="*/ 2607 w 3909"/>
              <a:gd name="T67" fmla="*/ 306 h 5000"/>
              <a:gd name="T68" fmla="*/ 2446 w 3909"/>
              <a:gd name="T69" fmla="*/ 225 h 5000"/>
              <a:gd name="T70" fmla="*/ 2279 w 3909"/>
              <a:gd name="T71" fmla="*/ 157 h 5000"/>
              <a:gd name="T72" fmla="*/ 2107 w 3909"/>
              <a:gd name="T73" fmla="*/ 100 h 5000"/>
              <a:gd name="T74" fmla="*/ 1932 w 3909"/>
              <a:gd name="T75" fmla="*/ 55 h 5000"/>
              <a:gd name="T76" fmla="*/ 1751 w 3909"/>
              <a:gd name="T77" fmla="*/ 23 h 5000"/>
              <a:gd name="T78" fmla="*/ 1568 w 3909"/>
              <a:gd name="T79" fmla="*/ 5 h 5000"/>
              <a:gd name="T80" fmla="*/ 1382 w 3909"/>
              <a:gd name="T81" fmla="*/ 0 h 5000"/>
              <a:gd name="T82" fmla="*/ 1195 w 3909"/>
              <a:gd name="T83" fmla="*/ 11 h 5000"/>
              <a:gd name="T84" fmla="*/ 1006 w 3909"/>
              <a:gd name="T85" fmla="*/ 33 h 5000"/>
              <a:gd name="T86" fmla="*/ 879 w 3909"/>
              <a:gd name="T87" fmla="*/ 57 h 5000"/>
              <a:gd name="T88" fmla="*/ 700 w 3909"/>
              <a:gd name="T89" fmla="*/ 104 h 5000"/>
              <a:gd name="T90" fmla="*/ 527 w 3909"/>
              <a:gd name="T91" fmla="*/ 162 h 5000"/>
              <a:gd name="T92" fmla="*/ 360 w 3909"/>
              <a:gd name="T93" fmla="*/ 232 h 5000"/>
              <a:gd name="T94" fmla="*/ 201 w 3909"/>
              <a:gd name="T95" fmla="*/ 313 h 5000"/>
              <a:gd name="T96" fmla="*/ 49 w 3909"/>
              <a:gd name="T97" fmla="*/ 404 h 5000"/>
              <a:gd name="T98" fmla="*/ 0 w 3909"/>
              <a:gd name="T99" fmla="*/ 4564 h 5000"/>
              <a:gd name="T100" fmla="*/ 158 w 3909"/>
              <a:gd name="T101" fmla="*/ 4664 h 5000"/>
              <a:gd name="T102" fmla="*/ 322 w 3909"/>
              <a:gd name="T103" fmla="*/ 4751 h 5000"/>
              <a:gd name="T104" fmla="*/ 494 w 3909"/>
              <a:gd name="T105" fmla="*/ 4826 h 5000"/>
              <a:gd name="T106" fmla="*/ 670 w 3909"/>
              <a:gd name="T107" fmla="*/ 4889 h 5000"/>
              <a:gd name="T108" fmla="*/ 852 w 3909"/>
              <a:gd name="T109" fmla="*/ 4937 h 5000"/>
              <a:gd name="T110" fmla="*/ 1037 w 3909"/>
              <a:gd name="T111" fmla="*/ 4973 h 5000"/>
              <a:gd name="T112" fmla="*/ 1227 w 3909"/>
              <a:gd name="T113" fmla="*/ 4994 h 5000"/>
              <a:gd name="T114" fmla="*/ 1419 w 3909"/>
              <a:gd name="T115" fmla="*/ 5000 h 5000"/>
              <a:gd name="T116" fmla="*/ 1613 w 3909"/>
              <a:gd name="T117" fmla="*/ 4993 h 5000"/>
              <a:gd name="T118" fmla="*/ 1809 w 3909"/>
              <a:gd name="T119" fmla="*/ 4969 h 5000"/>
              <a:gd name="T120" fmla="*/ 1941 w 3909"/>
              <a:gd name="T121" fmla="*/ 4944 h 5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125 w 10000"/>
              <a:gd name="connsiteY146" fmla="*/ 808 h 10000"/>
              <a:gd name="connsiteX147" fmla="*/ 0 w 10000"/>
              <a:gd name="connsiteY147" fmla="*/ 9128 h 10000"/>
              <a:gd name="connsiteX148" fmla="*/ 0 w 10000"/>
              <a:gd name="connsiteY148" fmla="*/ 9128 h 10000"/>
              <a:gd name="connsiteX149" fmla="*/ 133 w 10000"/>
              <a:gd name="connsiteY149" fmla="*/ 9198 h 10000"/>
              <a:gd name="connsiteX150" fmla="*/ 269 w 10000"/>
              <a:gd name="connsiteY150" fmla="*/ 9262 h 10000"/>
              <a:gd name="connsiteX151" fmla="*/ 404 w 10000"/>
              <a:gd name="connsiteY151" fmla="*/ 9328 h 10000"/>
              <a:gd name="connsiteX152" fmla="*/ 542 w 10000"/>
              <a:gd name="connsiteY152" fmla="*/ 9390 h 10000"/>
              <a:gd name="connsiteX153" fmla="*/ 683 w 10000"/>
              <a:gd name="connsiteY153" fmla="*/ 9448 h 10000"/>
              <a:gd name="connsiteX154" fmla="*/ 824 w 10000"/>
              <a:gd name="connsiteY154" fmla="*/ 9502 h 10000"/>
              <a:gd name="connsiteX155" fmla="*/ 970 w 10000"/>
              <a:gd name="connsiteY155" fmla="*/ 9556 h 10000"/>
              <a:gd name="connsiteX156" fmla="*/ 1115 w 10000"/>
              <a:gd name="connsiteY156" fmla="*/ 9606 h 10000"/>
              <a:gd name="connsiteX157" fmla="*/ 1264 w 10000"/>
              <a:gd name="connsiteY157" fmla="*/ 9652 h 10000"/>
              <a:gd name="connsiteX158" fmla="*/ 1412 w 10000"/>
              <a:gd name="connsiteY158" fmla="*/ 9698 h 10000"/>
              <a:gd name="connsiteX159" fmla="*/ 1561 w 10000"/>
              <a:gd name="connsiteY159" fmla="*/ 9738 h 10000"/>
              <a:gd name="connsiteX160" fmla="*/ 1714 w 10000"/>
              <a:gd name="connsiteY160" fmla="*/ 9778 h 10000"/>
              <a:gd name="connsiteX161" fmla="*/ 1867 w 10000"/>
              <a:gd name="connsiteY161" fmla="*/ 9814 h 10000"/>
              <a:gd name="connsiteX162" fmla="*/ 2024 w 10000"/>
              <a:gd name="connsiteY162" fmla="*/ 9846 h 10000"/>
              <a:gd name="connsiteX163" fmla="*/ 2180 w 10000"/>
              <a:gd name="connsiteY163" fmla="*/ 9874 h 10000"/>
              <a:gd name="connsiteX164" fmla="*/ 2336 w 10000"/>
              <a:gd name="connsiteY164" fmla="*/ 9902 h 10000"/>
              <a:gd name="connsiteX165" fmla="*/ 2494 w 10000"/>
              <a:gd name="connsiteY165" fmla="*/ 9926 h 10000"/>
              <a:gd name="connsiteX166" fmla="*/ 2653 w 10000"/>
              <a:gd name="connsiteY166" fmla="*/ 9946 h 10000"/>
              <a:gd name="connsiteX167" fmla="*/ 2814 w 10000"/>
              <a:gd name="connsiteY167" fmla="*/ 9962 h 10000"/>
              <a:gd name="connsiteX168" fmla="*/ 2978 w 10000"/>
              <a:gd name="connsiteY168" fmla="*/ 9978 h 10000"/>
              <a:gd name="connsiteX169" fmla="*/ 3139 w 10000"/>
              <a:gd name="connsiteY169" fmla="*/ 9988 h 10000"/>
              <a:gd name="connsiteX170" fmla="*/ 3303 w 10000"/>
              <a:gd name="connsiteY170" fmla="*/ 9996 h 10000"/>
              <a:gd name="connsiteX171" fmla="*/ 3464 w 10000"/>
              <a:gd name="connsiteY171" fmla="*/ 10000 h 10000"/>
              <a:gd name="connsiteX172" fmla="*/ 3630 w 10000"/>
              <a:gd name="connsiteY172" fmla="*/ 10000 h 10000"/>
              <a:gd name="connsiteX173" fmla="*/ 3794 w 10000"/>
              <a:gd name="connsiteY173" fmla="*/ 9998 h 10000"/>
              <a:gd name="connsiteX174" fmla="*/ 3963 w 10000"/>
              <a:gd name="connsiteY174" fmla="*/ 9994 h 10000"/>
              <a:gd name="connsiteX175" fmla="*/ 4126 w 10000"/>
              <a:gd name="connsiteY175" fmla="*/ 9986 h 10000"/>
              <a:gd name="connsiteX176" fmla="*/ 4295 w 10000"/>
              <a:gd name="connsiteY176" fmla="*/ 9974 h 10000"/>
              <a:gd name="connsiteX177" fmla="*/ 4461 w 10000"/>
              <a:gd name="connsiteY177" fmla="*/ 9956 h 10000"/>
              <a:gd name="connsiteX178" fmla="*/ 4628 w 10000"/>
              <a:gd name="connsiteY178" fmla="*/ 9938 h 10000"/>
              <a:gd name="connsiteX179" fmla="*/ 4797 w 10000"/>
              <a:gd name="connsiteY179" fmla="*/ 9912 h 10000"/>
              <a:gd name="connsiteX180" fmla="*/ 4965 w 10000"/>
              <a:gd name="connsiteY180" fmla="*/ 9888 h 10000"/>
              <a:gd name="connsiteX181" fmla="*/ 4965 w 10000"/>
              <a:gd name="connsiteY18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0 w 10000"/>
              <a:gd name="connsiteY146" fmla="*/ 9128 h 10000"/>
              <a:gd name="connsiteX147" fmla="*/ 0 w 10000"/>
              <a:gd name="connsiteY147" fmla="*/ 9128 h 10000"/>
              <a:gd name="connsiteX148" fmla="*/ 133 w 10000"/>
              <a:gd name="connsiteY148" fmla="*/ 9198 h 10000"/>
              <a:gd name="connsiteX149" fmla="*/ 269 w 10000"/>
              <a:gd name="connsiteY149" fmla="*/ 9262 h 10000"/>
              <a:gd name="connsiteX150" fmla="*/ 404 w 10000"/>
              <a:gd name="connsiteY150" fmla="*/ 9328 h 10000"/>
              <a:gd name="connsiteX151" fmla="*/ 542 w 10000"/>
              <a:gd name="connsiteY151" fmla="*/ 9390 h 10000"/>
              <a:gd name="connsiteX152" fmla="*/ 683 w 10000"/>
              <a:gd name="connsiteY152" fmla="*/ 9448 h 10000"/>
              <a:gd name="connsiteX153" fmla="*/ 824 w 10000"/>
              <a:gd name="connsiteY153" fmla="*/ 9502 h 10000"/>
              <a:gd name="connsiteX154" fmla="*/ 970 w 10000"/>
              <a:gd name="connsiteY154" fmla="*/ 9556 h 10000"/>
              <a:gd name="connsiteX155" fmla="*/ 1115 w 10000"/>
              <a:gd name="connsiteY155" fmla="*/ 9606 h 10000"/>
              <a:gd name="connsiteX156" fmla="*/ 1264 w 10000"/>
              <a:gd name="connsiteY156" fmla="*/ 9652 h 10000"/>
              <a:gd name="connsiteX157" fmla="*/ 1412 w 10000"/>
              <a:gd name="connsiteY157" fmla="*/ 9698 h 10000"/>
              <a:gd name="connsiteX158" fmla="*/ 1561 w 10000"/>
              <a:gd name="connsiteY158" fmla="*/ 9738 h 10000"/>
              <a:gd name="connsiteX159" fmla="*/ 1714 w 10000"/>
              <a:gd name="connsiteY159" fmla="*/ 9778 h 10000"/>
              <a:gd name="connsiteX160" fmla="*/ 1867 w 10000"/>
              <a:gd name="connsiteY160" fmla="*/ 9814 h 10000"/>
              <a:gd name="connsiteX161" fmla="*/ 2024 w 10000"/>
              <a:gd name="connsiteY161" fmla="*/ 9846 h 10000"/>
              <a:gd name="connsiteX162" fmla="*/ 2180 w 10000"/>
              <a:gd name="connsiteY162" fmla="*/ 9874 h 10000"/>
              <a:gd name="connsiteX163" fmla="*/ 2336 w 10000"/>
              <a:gd name="connsiteY163" fmla="*/ 9902 h 10000"/>
              <a:gd name="connsiteX164" fmla="*/ 2494 w 10000"/>
              <a:gd name="connsiteY164" fmla="*/ 9926 h 10000"/>
              <a:gd name="connsiteX165" fmla="*/ 2653 w 10000"/>
              <a:gd name="connsiteY165" fmla="*/ 9946 h 10000"/>
              <a:gd name="connsiteX166" fmla="*/ 2814 w 10000"/>
              <a:gd name="connsiteY166" fmla="*/ 9962 h 10000"/>
              <a:gd name="connsiteX167" fmla="*/ 2978 w 10000"/>
              <a:gd name="connsiteY167" fmla="*/ 9978 h 10000"/>
              <a:gd name="connsiteX168" fmla="*/ 3139 w 10000"/>
              <a:gd name="connsiteY168" fmla="*/ 9988 h 10000"/>
              <a:gd name="connsiteX169" fmla="*/ 3303 w 10000"/>
              <a:gd name="connsiteY169" fmla="*/ 9996 h 10000"/>
              <a:gd name="connsiteX170" fmla="*/ 3464 w 10000"/>
              <a:gd name="connsiteY170" fmla="*/ 10000 h 10000"/>
              <a:gd name="connsiteX171" fmla="*/ 3630 w 10000"/>
              <a:gd name="connsiteY171" fmla="*/ 10000 h 10000"/>
              <a:gd name="connsiteX172" fmla="*/ 3794 w 10000"/>
              <a:gd name="connsiteY172" fmla="*/ 9998 h 10000"/>
              <a:gd name="connsiteX173" fmla="*/ 3963 w 10000"/>
              <a:gd name="connsiteY173" fmla="*/ 9994 h 10000"/>
              <a:gd name="connsiteX174" fmla="*/ 4126 w 10000"/>
              <a:gd name="connsiteY174" fmla="*/ 9986 h 10000"/>
              <a:gd name="connsiteX175" fmla="*/ 4295 w 10000"/>
              <a:gd name="connsiteY175" fmla="*/ 9974 h 10000"/>
              <a:gd name="connsiteX176" fmla="*/ 4461 w 10000"/>
              <a:gd name="connsiteY176" fmla="*/ 9956 h 10000"/>
              <a:gd name="connsiteX177" fmla="*/ 4628 w 10000"/>
              <a:gd name="connsiteY177" fmla="*/ 9938 h 10000"/>
              <a:gd name="connsiteX178" fmla="*/ 4797 w 10000"/>
              <a:gd name="connsiteY178" fmla="*/ 9912 h 10000"/>
              <a:gd name="connsiteX179" fmla="*/ 4965 w 10000"/>
              <a:gd name="connsiteY179" fmla="*/ 9888 h 10000"/>
              <a:gd name="connsiteX180" fmla="*/ 4965 w 10000"/>
              <a:gd name="connsiteY18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264 w 10000"/>
              <a:gd name="connsiteY155" fmla="*/ 9652 h 10000"/>
              <a:gd name="connsiteX156" fmla="*/ 1412 w 10000"/>
              <a:gd name="connsiteY156" fmla="*/ 9698 h 10000"/>
              <a:gd name="connsiteX157" fmla="*/ 1561 w 10000"/>
              <a:gd name="connsiteY157" fmla="*/ 9738 h 10000"/>
              <a:gd name="connsiteX158" fmla="*/ 1714 w 10000"/>
              <a:gd name="connsiteY158" fmla="*/ 9778 h 10000"/>
              <a:gd name="connsiteX159" fmla="*/ 1867 w 10000"/>
              <a:gd name="connsiteY159" fmla="*/ 9814 h 10000"/>
              <a:gd name="connsiteX160" fmla="*/ 2024 w 10000"/>
              <a:gd name="connsiteY160" fmla="*/ 9846 h 10000"/>
              <a:gd name="connsiteX161" fmla="*/ 2180 w 10000"/>
              <a:gd name="connsiteY161" fmla="*/ 9874 h 10000"/>
              <a:gd name="connsiteX162" fmla="*/ 2336 w 10000"/>
              <a:gd name="connsiteY162" fmla="*/ 9902 h 10000"/>
              <a:gd name="connsiteX163" fmla="*/ 2494 w 10000"/>
              <a:gd name="connsiteY163" fmla="*/ 9926 h 10000"/>
              <a:gd name="connsiteX164" fmla="*/ 2653 w 10000"/>
              <a:gd name="connsiteY164" fmla="*/ 9946 h 10000"/>
              <a:gd name="connsiteX165" fmla="*/ 2814 w 10000"/>
              <a:gd name="connsiteY165" fmla="*/ 9962 h 10000"/>
              <a:gd name="connsiteX166" fmla="*/ 2978 w 10000"/>
              <a:gd name="connsiteY166" fmla="*/ 9978 h 10000"/>
              <a:gd name="connsiteX167" fmla="*/ 3139 w 10000"/>
              <a:gd name="connsiteY167" fmla="*/ 9988 h 10000"/>
              <a:gd name="connsiteX168" fmla="*/ 3303 w 10000"/>
              <a:gd name="connsiteY168" fmla="*/ 9996 h 10000"/>
              <a:gd name="connsiteX169" fmla="*/ 3464 w 10000"/>
              <a:gd name="connsiteY169" fmla="*/ 10000 h 10000"/>
              <a:gd name="connsiteX170" fmla="*/ 3630 w 10000"/>
              <a:gd name="connsiteY170" fmla="*/ 10000 h 10000"/>
              <a:gd name="connsiteX171" fmla="*/ 3794 w 10000"/>
              <a:gd name="connsiteY171" fmla="*/ 9998 h 10000"/>
              <a:gd name="connsiteX172" fmla="*/ 3963 w 10000"/>
              <a:gd name="connsiteY172" fmla="*/ 9994 h 10000"/>
              <a:gd name="connsiteX173" fmla="*/ 4126 w 10000"/>
              <a:gd name="connsiteY173" fmla="*/ 9986 h 10000"/>
              <a:gd name="connsiteX174" fmla="*/ 4295 w 10000"/>
              <a:gd name="connsiteY174" fmla="*/ 9974 h 10000"/>
              <a:gd name="connsiteX175" fmla="*/ 4461 w 10000"/>
              <a:gd name="connsiteY175" fmla="*/ 9956 h 10000"/>
              <a:gd name="connsiteX176" fmla="*/ 4628 w 10000"/>
              <a:gd name="connsiteY176" fmla="*/ 9938 h 10000"/>
              <a:gd name="connsiteX177" fmla="*/ 4797 w 10000"/>
              <a:gd name="connsiteY177" fmla="*/ 9912 h 10000"/>
              <a:gd name="connsiteX178" fmla="*/ 4965 w 10000"/>
              <a:gd name="connsiteY178" fmla="*/ 9888 h 10000"/>
              <a:gd name="connsiteX179" fmla="*/ 4965 w 10000"/>
              <a:gd name="connsiteY179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412 w 10000"/>
              <a:gd name="connsiteY155" fmla="*/ 9698 h 10000"/>
              <a:gd name="connsiteX156" fmla="*/ 1561 w 10000"/>
              <a:gd name="connsiteY156" fmla="*/ 9738 h 10000"/>
              <a:gd name="connsiteX157" fmla="*/ 1714 w 10000"/>
              <a:gd name="connsiteY157" fmla="*/ 9778 h 10000"/>
              <a:gd name="connsiteX158" fmla="*/ 1867 w 10000"/>
              <a:gd name="connsiteY158" fmla="*/ 9814 h 10000"/>
              <a:gd name="connsiteX159" fmla="*/ 2024 w 10000"/>
              <a:gd name="connsiteY159" fmla="*/ 9846 h 10000"/>
              <a:gd name="connsiteX160" fmla="*/ 2180 w 10000"/>
              <a:gd name="connsiteY160" fmla="*/ 9874 h 10000"/>
              <a:gd name="connsiteX161" fmla="*/ 2336 w 10000"/>
              <a:gd name="connsiteY161" fmla="*/ 9902 h 10000"/>
              <a:gd name="connsiteX162" fmla="*/ 2494 w 10000"/>
              <a:gd name="connsiteY162" fmla="*/ 9926 h 10000"/>
              <a:gd name="connsiteX163" fmla="*/ 2653 w 10000"/>
              <a:gd name="connsiteY163" fmla="*/ 9946 h 10000"/>
              <a:gd name="connsiteX164" fmla="*/ 2814 w 10000"/>
              <a:gd name="connsiteY164" fmla="*/ 9962 h 10000"/>
              <a:gd name="connsiteX165" fmla="*/ 2978 w 10000"/>
              <a:gd name="connsiteY165" fmla="*/ 9978 h 10000"/>
              <a:gd name="connsiteX166" fmla="*/ 3139 w 10000"/>
              <a:gd name="connsiteY166" fmla="*/ 9988 h 10000"/>
              <a:gd name="connsiteX167" fmla="*/ 3303 w 10000"/>
              <a:gd name="connsiteY167" fmla="*/ 9996 h 10000"/>
              <a:gd name="connsiteX168" fmla="*/ 3464 w 10000"/>
              <a:gd name="connsiteY168" fmla="*/ 10000 h 10000"/>
              <a:gd name="connsiteX169" fmla="*/ 3630 w 10000"/>
              <a:gd name="connsiteY169" fmla="*/ 10000 h 10000"/>
              <a:gd name="connsiteX170" fmla="*/ 3794 w 10000"/>
              <a:gd name="connsiteY170" fmla="*/ 9998 h 10000"/>
              <a:gd name="connsiteX171" fmla="*/ 3963 w 10000"/>
              <a:gd name="connsiteY171" fmla="*/ 9994 h 10000"/>
              <a:gd name="connsiteX172" fmla="*/ 4126 w 10000"/>
              <a:gd name="connsiteY172" fmla="*/ 9986 h 10000"/>
              <a:gd name="connsiteX173" fmla="*/ 4295 w 10000"/>
              <a:gd name="connsiteY173" fmla="*/ 9974 h 10000"/>
              <a:gd name="connsiteX174" fmla="*/ 4461 w 10000"/>
              <a:gd name="connsiteY174" fmla="*/ 9956 h 10000"/>
              <a:gd name="connsiteX175" fmla="*/ 4628 w 10000"/>
              <a:gd name="connsiteY175" fmla="*/ 9938 h 10000"/>
              <a:gd name="connsiteX176" fmla="*/ 4797 w 10000"/>
              <a:gd name="connsiteY176" fmla="*/ 9912 h 10000"/>
              <a:gd name="connsiteX177" fmla="*/ 4965 w 10000"/>
              <a:gd name="connsiteY177" fmla="*/ 9888 h 10000"/>
              <a:gd name="connsiteX178" fmla="*/ 4965 w 10000"/>
              <a:gd name="connsiteY178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412 w 10000"/>
              <a:gd name="connsiteY154" fmla="*/ 9698 h 10000"/>
              <a:gd name="connsiteX155" fmla="*/ 1561 w 10000"/>
              <a:gd name="connsiteY155" fmla="*/ 9738 h 10000"/>
              <a:gd name="connsiteX156" fmla="*/ 1714 w 10000"/>
              <a:gd name="connsiteY156" fmla="*/ 9778 h 10000"/>
              <a:gd name="connsiteX157" fmla="*/ 1867 w 10000"/>
              <a:gd name="connsiteY157" fmla="*/ 9814 h 10000"/>
              <a:gd name="connsiteX158" fmla="*/ 2024 w 10000"/>
              <a:gd name="connsiteY158" fmla="*/ 9846 h 10000"/>
              <a:gd name="connsiteX159" fmla="*/ 2180 w 10000"/>
              <a:gd name="connsiteY159" fmla="*/ 9874 h 10000"/>
              <a:gd name="connsiteX160" fmla="*/ 2336 w 10000"/>
              <a:gd name="connsiteY160" fmla="*/ 9902 h 10000"/>
              <a:gd name="connsiteX161" fmla="*/ 2494 w 10000"/>
              <a:gd name="connsiteY161" fmla="*/ 9926 h 10000"/>
              <a:gd name="connsiteX162" fmla="*/ 2653 w 10000"/>
              <a:gd name="connsiteY162" fmla="*/ 9946 h 10000"/>
              <a:gd name="connsiteX163" fmla="*/ 2814 w 10000"/>
              <a:gd name="connsiteY163" fmla="*/ 9962 h 10000"/>
              <a:gd name="connsiteX164" fmla="*/ 2978 w 10000"/>
              <a:gd name="connsiteY164" fmla="*/ 9978 h 10000"/>
              <a:gd name="connsiteX165" fmla="*/ 3139 w 10000"/>
              <a:gd name="connsiteY165" fmla="*/ 9988 h 10000"/>
              <a:gd name="connsiteX166" fmla="*/ 3303 w 10000"/>
              <a:gd name="connsiteY166" fmla="*/ 9996 h 10000"/>
              <a:gd name="connsiteX167" fmla="*/ 3464 w 10000"/>
              <a:gd name="connsiteY167" fmla="*/ 10000 h 10000"/>
              <a:gd name="connsiteX168" fmla="*/ 3630 w 10000"/>
              <a:gd name="connsiteY168" fmla="*/ 10000 h 10000"/>
              <a:gd name="connsiteX169" fmla="*/ 3794 w 10000"/>
              <a:gd name="connsiteY169" fmla="*/ 9998 h 10000"/>
              <a:gd name="connsiteX170" fmla="*/ 3963 w 10000"/>
              <a:gd name="connsiteY170" fmla="*/ 9994 h 10000"/>
              <a:gd name="connsiteX171" fmla="*/ 4126 w 10000"/>
              <a:gd name="connsiteY171" fmla="*/ 9986 h 10000"/>
              <a:gd name="connsiteX172" fmla="*/ 4295 w 10000"/>
              <a:gd name="connsiteY172" fmla="*/ 9974 h 10000"/>
              <a:gd name="connsiteX173" fmla="*/ 4461 w 10000"/>
              <a:gd name="connsiteY173" fmla="*/ 9956 h 10000"/>
              <a:gd name="connsiteX174" fmla="*/ 4628 w 10000"/>
              <a:gd name="connsiteY174" fmla="*/ 9938 h 10000"/>
              <a:gd name="connsiteX175" fmla="*/ 4797 w 10000"/>
              <a:gd name="connsiteY175" fmla="*/ 9912 h 10000"/>
              <a:gd name="connsiteX176" fmla="*/ 4965 w 10000"/>
              <a:gd name="connsiteY176" fmla="*/ 9888 h 10000"/>
              <a:gd name="connsiteX177" fmla="*/ 4965 w 10000"/>
              <a:gd name="connsiteY177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1412 w 10000"/>
              <a:gd name="connsiteY153" fmla="*/ 9698 h 10000"/>
              <a:gd name="connsiteX154" fmla="*/ 1561 w 10000"/>
              <a:gd name="connsiteY154" fmla="*/ 9738 h 10000"/>
              <a:gd name="connsiteX155" fmla="*/ 1714 w 10000"/>
              <a:gd name="connsiteY155" fmla="*/ 9778 h 10000"/>
              <a:gd name="connsiteX156" fmla="*/ 1867 w 10000"/>
              <a:gd name="connsiteY156" fmla="*/ 9814 h 10000"/>
              <a:gd name="connsiteX157" fmla="*/ 2024 w 10000"/>
              <a:gd name="connsiteY157" fmla="*/ 9846 h 10000"/>
              <a:gd name="connsiteX158" fmla="*/ 2180 w 10000"/>
              <a:gd name="connsiteY158" fmla="*/ 9874 h 10000"/>
              <a:gd name="connsiteX159" fmla="*/ 2336 w 10000"/>
              <a:gd name="connsiteY159" fmla="*/ 9902 h 10000"/>
              <a:gd name="connsiteX160" fmla="*/ 2494 w 10000"/>
              <a:gd name="connsiteY160" fmla="*/ 9926 h 10000"/>
              <a:gd name="connsiteX161" fmla="*/ 2653 w 10000"/>
              <a:gd name="connsiteY161" fmla="*/ 9946 h 10000"/>
              <a:gd name="connsiteX162" fmla="*/ 2814 w 10000"/>
              <a:gd name="connsiteY162" fmla="*/ 9962 h 10000"/>
              <a:gd name="connsiteX163" fmla="*/ 2978 w 10000"/>
              <a:gd name="connsiteY163" fmla="*/ 9978 h 10000"/>
              <a:gd name="connsiteX164" fmla="*/ 3139 w 10000"/>
              <a:gd name="connsiteY164" fmla="*/ 9988 h 10000"/>
              <a:gd name="connsiteX165" fmla="*/ 3303 w 10000"/>
              <a:gd name="connsiteY165" fmla="*/ 9996 h 10000"/>
              <a:gd name="connsiteX166" fmla="*/ 3464 w 10000"/>
              <a:gd name="connsiteY166" fmla="*/ 10000 h 10000"/>
              <a:gd name="connsiteX167" fmla="*/ 3630 w 10000"/>
              <a:gd name="connsiteY167" fmla="*/ 10000 h 10000"/>
              <a:gd name="connsiteX168" fmla="*/ 3794 w 10000"/>
              <a:gd name="connsiteY168" fmla="*/ 9998 h 10000"/>
              <a:gd name="connsiteX169" fmla="*/ 3963 w 10000"/>
              <a:gd name="connsiteY169" fmla="*/ 9994 h 10000"/>
              <a:gd name="connsiteX170" fmla="*/ 4126 w 10000"/>
              <a:gd name="connsiteY170" fmla="*/ 9986 h 10000"/>
              <a:gd name="connsiteX171" fmla="*/ 4295 w 10000"/>
              <a:gd name="connsiteY171" fmla="*/ 9974 h 10000"/>
              <a:gd name="connsiteX172" fmla="*/ 4461 w 10000"/>
              <a:gd name="connsiteY172" fmla="*/ 9956 h 10000"/>
              <a:gd name="connsiteX173" fmla="*/ 4628 w 10000"/>
              <a:gd name="connsiteY173" fmla="*/ 9938 h 10000"/>
              <a:gd name="connsiteX174" fmla="*/ 4797 w 10000"/>
              <a:gd name="connsiteY174" fmla="*/ 9912 h 10000"/>
              <a:gd name="connsiteX175" fmla="*/ 4965 w 10000"/>
              <a:gd name="connsiteY175" fmla="*/ 9888 h 10000"/>
              <a:gd name="connsiteX176" fmla="*/ 4965 w 10000"/>
              <a:gd name="connsiteY176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1412 w 10000"/>
              <a:gd name="connsiteY152" fmla="*/ 9698 h 10000"/>
              <a:gd name="connsiteX153" fmla="*/ 1561 w 10000"/>
              <a:gd name="connsiteY153" fmla="*/ 9738 h 10000"/>
              <a:gd name="connsiteX154" fmla="*/ 1714 w 10000"/>
              <a:gd name="connsiteY154" fmla="*/ 9778 h 10000"/>
              <a:gd name="connsiteX155" fmla="*/ 1867 w 10000"/>
              <a:gd name="connsiteY155" fmla="*/ 9814 h 10000"/>
              <a:gd name="connsiteX156" fmla="*/ 2024 w 10000"/>
              <a:gd name="connsiteY156" fmla="*/ 9846 h 10000"/>
              <a:gd name="connsiteX157" fmla="*/ 2180 w 10000"/>
              <a:gd name="connsiteY157" fmla="*/ 9874 h 10000"/>
              <a:gd name="connsiteX158" fmla="*/ 2336 w 10000"/>
              <a:gd name="connsiteY158" fmla="*/ 9902 h 10000"/>
              <a:gd name="connsiteX159" fmla="*/ 2494 w 10000"/>
              <a:gd name="connsiteY159" fmla="*/ 9926 h 10000"/>
              <a:gd name="connsiteX160" fmla="*/ 2653 w 10000"/>
              <a:gd name="connsiteY160" fmla="*/ 9946 h 10000"/>
              <a:gd name="connsiteX161" fmla="*/ 2814 w 10000"/>
              <a:gd name="connsiteY161" fmla="*/ 9962 h 10000"/>
              <a:gd name="connsiteX162" fmla="*/ 2978 w 10000"/>
              <a:gd name="connsiteY162" fmla="*/ 9978 h 10000"/>
              <a:gd name="connsiteX163" fmla="*/ 3139 w 10000"/>
              <a:gd name="connsiteY163" fmla="*/ 9988 h 10000"/>
              <a:gd name="connsiteX164" fmla="*/ 3303 w 10000"/>
              <a:gd name="connsiteY164" fmla="*/ 9996 h 10000"/>
              <a:gd name="connsiteX165" fmla="*/ 3464 w 10000"/>
              <a:gd name="connsiteY165" fmla="*/ 10000 h 10000"/>
              <a:gd name="connsiteX166" fmla="*/ 3630 w 10000"/>
              <a:gd name="connsiteY166" fmla="*/ 10000 h 10000"/>
              <a:gd name="connsiteX167" fmla="*/ 3794 w 10000"/>
              <a:gd name="connsiteY167" fmla="*/ 9998 h 10000"/>
              <a:gd name="connsiteX168" fmla="*/ 3963 w 10000"/>
              <a:gd name="connsiteY168" fmla="*/ 9994 h 10000"/>
              <a:gd name="connsiteX169" fmla="*/ 4126 w 10000"/>
              <a:gd name="connsiteY169" fmla="*/ 9986 h 10000"/>
              <a:gd name="connsiteX170" fmla="*/ 4295 w 10000"/>
              <a:gd name="connsiteY170" fmla="*/ 9974 h 10000"/>
              <a:gd name="connsiteX171" fmla="*/ 4461 w 10000"/>
              <a:gd name="connsiteY171" fmla="*/ 9956 h 10000"/>
              <a:gd name="connsiteX172" fmla="*/ 4628 w 10000"/>
              <a:gd name="connsiteY172" fmla="*/ 9938 h 10000"/>
              <a:gd name="connsiteX173" fmla="*/ 4797 w 10000"/>
              <a:gd name="connsiteY173" fmla="*/ 9912 h 10000"/>
              <a:gd name="connsiteX174" fmla="*/ 4965 w 10000"/>
              <a:gd name="connsiteY174" fmla="*/ 9888 h 10000"/>
              <a:gd name="connsiteX175" fmla="*/ 4965 w 10000"/>
              <a:gd name="connsiteY175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1412 w 10000"/>
              <a:gd name="connsiteY151" fmla="*/ 9698 h 10000"/>
              <a:gd name="connsiteX152" fmla="*/ 1561 w 10000"/>
              <a:gd name="connsiteY152" fmla="*/ 9738 h 10000"/>
              <a:gd name="connsiteX153" fmla="*/ 1714 w 10000"/>
              <a:gd name="connsiteY153" fmla="*/ 9778 h 10000"/>
              <a:gd name="connsiteX154" fmla="*/ 1867 w 10000"/>
              <a:gd name="connsiteY154" fmla="*/ 9814 h 10000"/>
              <a:gd name="connsiteX155" fmla="*/ 2024 w 10000"/>
              <a:gd name="connsiteY155" fmla="*/ 9846 h 10000"/>
              <a:gd name="connsiteX156" fmla="*/ 2180 w 10000"/>
              <a:gd name="connsiteY156" fmla="*/ 9874 h 10000"/>
              <a:gd name="connsiteX157" fmla="*/ 2336 w 10000"/>
              <a:gd name="connsiteY157" fmla="*/ 9902 h 10000"/>
              <a:gd name="connsiteX158" fmla="*/ 2494 w 10000"/>
              <a:gd name="connsiteY158" fmla="*/ 9926 h 10000"/>
              <a:gd name="connsiteX159" fmla="*/ 2653 w 10000"/>
              <a:gd name="connsiteY159" fmla="*/ 9946 h 10000"/>
              <a:gd name="connsiteX160" fmla="*/ 2814 w 10000"/>
              <a:gd name="connsiteY160" fmla="*/ 9962 h 10000"/>
              <a:gd name="connsiteX161" fmla="*/ 2978 w 10000"/>
              <a:gd name="connsiteY161" fmla="*/ 9978 h 10000"/>
              <a:gd name="connsiteX162" fmla="*/ 3139 w 10000"/>
              <a:gd name="connsiteY162" fmla="*/ 9988 h 10000"/>
              <a:gd name="connsiteX163" fmla="*/ 3303 w 10000"/>
              <a:gd name="connsiteY163" fmla="*/ 9996 h 10000"/>
              <a:gd name="connsiteX164" fmla="*/ 3464 w 10000"/>
              <a:gd name="connsiteY164" fmla="*/ 10000 h 10000"/>
              <a:gd name="connsiteX165" fmla="*/ 3630 w 10000"/>
              <a:gd name="connsiteY165" fmla="*/ 10000 h 10000"/>
              <a:gd name="connsiteX166" fmla="*/ 3794 w 10000"/>
              <a:gd name="connsiteY166" fmla="*/ 9998 h 10000"/>
              <a:gd name="connsiteX167" fmla="*/ 3963 w 10000"/>
              <a:gd name="connsiteY167" fmla="*/ 9994 h 10000"/>
              <a:gd name="connsiteX168" fmla="*/ 4126 w 10000"/>
              <a:gd name="connsiteY168" fmla="*/ 9986 h 10000"/>
              <a:gd name="connsiteX169" fmla="*/ 4295 w 10000"/>
              <a:gd name="connsiteY169" fmla="*/ 9974 h 10000"/>
              <a:gd name="connsiteX170" fmla="*/ 4461 w 10000"/>
              <a:gd name="connsiteY170" fmla="*/ 9956 h 10000"/>
              <a:gd name="connsiteX171" fmla="*/ 4628 w 10000"/>
              <a:gd name="connsiteY171" fmla="*/ 9938 h 10000"/>
              <a:gd name="connsiteX172" fmla="*/ 4797 w 10000"/>
              <a:gd name="connsiteY172" fmla="*/ 9912 h 10000"/>
              <a:gd name="connsiteX173" fmla="*/ 4965 w 10000"/>
              <a:gd name="connsiteY173" fmla="*/ 9888 h 10000"/>
              <a:gd name="connsiteX174" fmla="*/ 4965 w 10000"/>
              <a:gd name="connsiteY174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1412 w 10000"/>
              <a:gd name="connsiteY150" fmla="*/ 9698 h 10000"/>
              <a:gd name="connsiteX151" fmla="*/ 1561 w 10000"/>
              <a:gd name="connsiteY151" fmla="*/ 9738 h 10000"/>
              <a:gd name="connsiteX152" fmla="*/ 1714 w 10000"/>
              <a:gd name="connsiteY152" fmla="*/ 9778 h 10000"/>
              <a:gd name="connsiteX153" fmla="*/ 1867 w 10000"/>
              <a:gd name="connsiteY153" fmla="*/ 9814 h 10000"/>
              <a:gd name="connsiteX154" fmla="*/ 2024 w 10000"/>
              <a:gd name="connsiteY154" fmla="*/ 9846 h 10000"/>
              <a:gd name="connsiteX155" fmla="*/ 2180 w 10000"/>
              <a:gd name="connsiteY155" fmla="*/ 9874 h 10000"/>
              <a:gd name="connsiteX156" fmla="*/ 2336 w 10000"/>
              <a:gd name="connsiteY156" fmla="*/ 9902 h 10000"/>
              <a:gd name="connsiteX157" fmla="*/ 2494 w 10000"/>
              <a:gd name="connsiteY157" fmla="*/ 9926 h 10000"/>
              <a:gd name="connsiteX158" fmla="*/ 2653 w 10000"/>
              <a:gd name="connsiteY158" fmla="*/ 9946 h 10000"/>
              <a:gd name="connsiteX159" fmla="*/ 2814 w 10000"/>
              <a:gd name="connsiteY159" fmla="*/ 9962 h 10000"/>
              <a:gd name="connsiteX160" fmla="*/ 2978 w 10000"/>
              <a:gd name="connsiteY160" fmla="*/ 9978 h 10000"/>
              <a:gd name="connsiteX161" fmla="*/ 3139 w 10000"/>
              <a:gd name="connsiteY161" fmla="*/ 9988 h 10000"/>
              <a:gd name="connsiteX162" fmla="*/ 3303 w 10000"/>
              <a:gd name="connsiteY162" fmla="*/ 9996 h 10000"/>
              <a:gd name="connsiteX163" fmla="*/ 3464 w 10000"/>
              <a:gd name="connsiteY163" fmla="*/ 10000 h 10000"/>
              <a:gd name="connsiteX164" fmla="*/ 3630 w 10000"/>
              <a:gd name="connsiteY164" fmla="*/ 10000 h 10000"/>
              <a:gd name="connsiteX165" fmla="*/ 3794 w 10000"/>
              <a:gd name="connsiteY165" fmla="*/ 9998 h 10000"/>
              <a:gd name="connsiteX166" fmla="*/ 3963 w 10000"/>
              <a:gd name="connsiteY166" fmla="*/ 9994 h 10000"/>
              <a:gd name="connsiteX167" fmla="*/ 4126 w 10000"/>
              <a:gd name="connsiteY167" fmla="*/ 9986 h 10000"/>
              <a:gd name="connsiteX168" fmla="*/ 4295 w 10000"/>
              <a:gd name="connsiteY168" fmla="*/ 9974 h 10000"/>
              <a:gd name="connsiteX169" fmla="*/ 4461 w 10000"/>
              <a:gd name="connsiteY169" fmla="*/ 9956 h 10000"/>
              <a:gd name="connsiteX170" fmla="*/ 4628 w 10000"/>
              <a:gd name="connsiteY170" fmla="*/ 9938 h 10000"/>
              <a:gd name="connsiteX171" fmla="*/ 4797 w 10000"/>
              <a:gd name="connsiteY171" fmla="*/ 9912 h 10000"/>
              <a:gd name="connsiteX172" fmla="*/ 4965 w 10000"/>
              <a:gd name="connsiteY172" fmla="*/ 9888 h 10000"/>
              <a:gd name="connsiteX173" fmla="*/ 4965 w 10000"/>
              <a:gd name="connsiteY173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1412 w 10000"/>
              <a:gd name="connsiteY149" fmla="*/ 9698 h 10000"/>
              <a:gd name="connsiteX150" fmla="*/ 1561 w 10000"/>
              <a:gd name="connsiteY150" fmla="*/ 9738 h 10000"/>
              <a:gd name="connsiteX151" fmla="*/ 1714 w 10000"/>
              <a:gd name="connsiteY151" fmla="*/ 9778 h 10000"/>
              <a:gd name="connsiteX152" fmla="*/ 1867 w 10000"/>
              <a:gd name="connsiteY152" fmla="*/ 9814 h 10000"/>
              <a:gd name="connsiteX153" fmla="*/ 2024 w 10000"/>
              <a:gd name="connsiteY153" fmla="*/ 9846 h 10000"/>
              <a:gd name="connsiteX154" fmla="*/ 2180 w 10000"/>
              <a:gd name="connsiteY154" fmla="*/ 9874 h 10000"/>
              <a:gd name="connsiteX155" fmla="*/ 2336 w 10000"/>
              <a:gd name="connsiteY155" fmla="*/ 9902 h 10000"/>
              <a:gd name="connsiteX156" fmla="*/ 2494 w 10000"/>
              <a:gd name="connsiteY156" fmla="*/ 9926 h 10000"/>
              <a:gd name="connsiteX157" fmla="*/ 2653 w 10000"/>
              <a:gd name="connsiteY157" fmla="*/ 9946 h 10000"/>
              <a:gd name="connsiteX158" fmla="*/ 2814 w 10000"/>
              <a:gd name="connsiteY158" fmla="*/ 9962 h 10000"/>
              <a:gd name="connsiteX159" fmla="*/ 2978 w 10000"/>
              <a:gd name="connsiteY159" fmla="*/ 9978 h 10000"/>
              <a:gd name="connsiteX160" fmla="*/ 3139 w 10000"/>
              <a:gd name="connsiteY160" fmla="*/ 9988 h 10000"/>
              <a:gd name="connsiteX161" fmla="*/ 3303 w 10000"/>
              <a:gd name="connsiteY161" fmla="*/ 9996 h 10000"/>
              <a:gd name="connsiteX162" fmla="*/ 3464 w 10000"/>
              <a:gd name="connsiteY162" fmla="*/ 10000 h 10000"/>
              <a:gd name="connsiteX163" fmla="*/ 3630 w 10000"/>
              <a:gd name="connsiteY163" fmla="*/ 10000 h 10000"/>
              <a:gd name="connsiteX164" fmla="*/ 3794 w 10000"/>
              <a:gd name="connsiteY164" fmla="*/ 9998 h 10000"/>
              <a:gd name="connsiteX165" fmla="*/ 3963 w 10000"/>
              <a:gd name="connsiteY165" fmla="*/ 9994 h 10000"/>
              <a:gd name="connsiteX166" fmla="*/ 4126 w 10000"/>
              <a:gd name="connsiteY166" fmla="*/ 9986 h 10000"/>
              <a:gd name="connsiteX167" fmla="*/ 4295 w 10000"/>
              <a:gd name="connsiteY167" fmla="*/ 9974 h 10000"/>
              <a:gd name="connsiteX168" fmla="*/ 4461 w 10000"/>
              <a:gd name="connsiteY168" fmla="*/ 9956 h 10000"/>
              <a:gd name="connsiteX169" fmla="*/ 4628 w 10000"/>
              <a:gd name="connsiteY169" fmla="*/ 9938 h 10000"/>
              <a:gd name="connsiteX170" fmla="*/ 4797 w 10000"/>
              <a:gd name="connsiteY170" fmla="*/ 9912 h 10000"/>
              <a:gd name="connsiteX171" fmla="*/ 4965 w 10000"/>
              <a:gd name="connsiteY171" fmla="*/ 9888 h 10000"/>
              <a:gd name="connsiteX172" fmla="*/ 4965 w 10000"/>
              <a:gd name="connsiteY172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1412 w 10000"/>
              <a:gd name="connsiteY148" fmla="*/ 9698 h 10000"/>
              <a:gd name="connsiteX149" fmla="*/ 1561 w 10000"/>
              <a:gd name="connsiteY149" fmla="*/ 9738 h 10000"/>
              <a:gd name="connsiteX150" fmla="*/ 1714 w 10000"/>
              <a:gd name="connsiteY150" fmla="*/ 9778 h 10000"/>
              <a:gd name="connsiteX151" fmla="*/ 1867 w 10000"/>
              <a:gd name="connsiteY151" fmla="*/ 9814 h 10000"/>
              <a:gd name="connsiteX152" fmla="*/ 2024 w 10000"/>
              <a:gd name="connsiteY152" fmla="*/ 9846 h 10000"/>
              <a:gd name="connsiteX153" fmla="*/ 2180 w 10000"/>
              <a:gd name="connsiteY153" fmla="*/ 9874 h 10000"/>
              <a:gd name="connsiteX154" fmla="*/ 2336 w 10000"/>
              <a:gd name="connsiteY154" fmla="*/ 9902 h 10000"/>
              <a:gd name="connsiteX155" fmla="*/ 2494 w 10000"/>
              <a:gd name="connsiteY155" fmla="*/ 9926 h 10000"/>
              <a:gd name="connsiteX156" fmla="*/ 2653 w 10000"/>
              <a:gd name="connsiteY156" fmla="*/ 9946 h 10000"/>
              <a:gd name="connsiteX157" fmla="*/ 2814 w 10000"/>
              <a:gd name="connsiteY157" fmla="*/ 9962 h 10000"/>
              <a:gd name="connsiteX158" fmla="*/ 2978 w 10000"/>
              <a:gd name="connsiteY158" fmla="*/ 9978 h 10000"/>
              <a:gd name="connsiteX159" fmla="*/ 3139 w 10000"/>
              <a:gd name="connsiteY159" fmla="*/ 9988 h 10000"/>
              <a:gd name="connsiteX160" fmla="*/ 3303 w 10000"/>
              <a:gd name="connsiteY160" fmla="*/ 9996 h 10000"/>
              <a:gd name="connsiteX161" fmla="*/ 3464 w 10000"/>
              <a:gd name="connsiteY161" fmla="*/ 10000 h 10000"/>
              <a:gd name="connsiteX162" fmla="*/ 3630 w 10000"/>
              <a:gd name="connsiteY162" fmla="*/ 10000 h 10000"/>
              <a:gd name="connsiteX163" fmla="*/ 3794 w 10000"/>
              <a:gd name="connsiteY163" fmla="*/ 9998 h 10000"/>
              <a:gd name="connsiteX164" fmla="*/ 3963 w 10000"/>
              <a:gd name="connsiteY164" fmla="*/ 9994 h 10000"/>
              <a:gd name="connsiteX165" fmla="*/ 4126 w 10000"/>
              <a:gd name="connsiteY165" fmla="*/ 9986 h 10000"/>
              <a:gd name="connsiteX166" fmla="*/ 4295 w 10000"/>
              <a:gd name="connsiteY166" fmla="*/ 9974 h 10000"/>
              <a:gd name="connsiteX167" fmla="*/ 4461 w 10000"/>
              <a:gd name="connsiteY167" fmla="*/ 9956 h 10000"/>
              <a:gd name="connsiteX168" fmla="*/ 4628 w 10000"/>
              <a:gd name="connsiteY168" fmla="*/ 9938 h 10000"/>
              <a:gd name="connsiteX169" fmla="*/ 4797 w 10000"/>
              <a:gd name="connsiteY169" fmla="*/ 9912 h 10000"/>
              <a:gd name="connsiteX170" fmla="*/ 4965 w 10000"/>
              <a:gd name="connsiteY170" fmla="*/ 9888 h 10000"/>
              <a:gd name="connsiteX171" fmla="*/ 4965 w 10000"/>
              <a:gd name="connsiteY17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412 w 10000"/>
              <a:gd name="connsiteY147" fmla="*/ 9698 h 10000"/>
              <a:gd name="connsiteX148" fmla="*/ 1561 w 10000"/>
              <a:gd name="connsiteY148" fmla="*/ 9738 h 10000"/>
              <a:gd name="connsiteX149" fmla="*/ 1714 w 10000"/>
              <a:gd name="connsiteY149" fmla="*/ 9778 h 10000"/>
              <a:gd name="connsiteX150" fmla="*/ 1867 w 10000"/>
              <a:gd name="connsiteY150" fmla="*/ 9814 h 10000"/>
              <a:gd name="connsiteX151" fmla="*/ 2024 w 10000"/>
              <a:gd name="connsiteY151" fmla="*/ 9846 h 10000"/>
              <a:gd name="connsiteX152" fmla="*/ 2180 w 10000"/>
              <a:gd name="connsiteY152" fmla="*/ 9874 h 10000"/>
              <a:gd name="connsiteX153" fmla="*/ 2336 w 10000"/>
              <a:gd name="connsiteY153" fmla="*/ 9902 h 10000"/>
              <a:gd name="connsiteX154" fmla="*/ 2494 w 10000"/>
              <a:gd name="connsiteY154" fmla="*/ 9926 h 10000"/>
              <a:gd name="connsiteX155" fmla="*/ 2653 w 10000"/>
              <a:gd name="connsiteY155" fmla="*/ 9946 h 10000"/>
              <a:gd name="connsiteX156" fmla="*/ 2814 w 10000"/>
              <a:gd name="connsiteY156" fmla="*/ 9962 h 10000"/>
              <a:gd name="connsiteX157" fmla="*/ 2978 w 10000"/>
              <a:gd name="connsiteY157" fmla="*/ 9978 h 10000"/>
              <a:gd name="connsiteX158" fmla="*/ 3139 w 10000"/>
              <a:gd name="connsiteY158" fmla="*/ 9988 h 10000"/>
              <a:gd name="connsiteX159" fmla="*/ 3303 w 10000"/>
              <a:gd name="connsiteY159" fmla="*/ 9996 h 10000"/>
              <a:gd name="connsiteX160" fmla="*/ 3464 w 10000"/>
              <a:gd name="connsiteY160" fmla="*/ 10000 h 10000"/>
              <a:gd name="connsiteX161" fmla="*/ 3630 w 10000"/>
              <a:gd name="connsiteY161" fmla="*/ 10000 h 10000"/>
              <a:gd name="connsiteX162" fmla="*/ 3794 w 10000"/>
              <a:gd name="connsiteY162" fmla="*/ 9998 h 10000"/>
              <a:gd name="connsiteX163" fmla="*/ 3963 w 10000"/>
              <a:gd name="connsiteY163" fmla="*/ 9994 h 10000"/>
              <a:gd name="connsiteX164" fmla="*/ 4126 w 10000"/>
              <a:gd name="connsiteY164" fmla="*/ 9986 h 10000"/>
              <a:gd name="connsiteX165" fmla="*/ 4295 w 10000"/>
              <a:gd name="connsiteY165" fmla="*/ 9974 h 10000"/>
              <a:gd name="connsiteX166" fmla="*/ 4461 w 10000"/>
              <a:gd name="connsiteY166" fmla="*/ 9956 h 10000"/>
              <a:gd name="connsiteX167" fmla="*/ 4628 w 10000"/>
              <a:gd name="connsiteY167" fmla="*/ 9938 h 10000"/>
              <a:gd name="connsiteX168" fmla="*/ 4797 w 10000"/>
              <a:gd name="connsiteY168" fmla="*/ 9912 h 10000"/>
              <a:gd name="connsiteX169" fmla="*/ 4965 w 10000"/>
              <a:gd name="connsiteY169" fmla="*/ 9888 h 10000"/>
              <a:gd name="connsiteX170" fmla="*/ 4965 w 10000"/>
              <a:gd name="connsiteY17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1412 w 10000"/>
              <a:gd name="connsiteY146" fmla="*/ 9698 h 10000"/>
              <a:gd name="connsiteX147" fmla="*/ 1561 w 10000"/>
              <a:gd name="connsiteY147" fmla="*/ 9738 h 10000"/>
              <a:gd name="connsiteX148" fmla="*/ 1714 w 10000"/>
              <a:gd name="connsiteY148" fmla="*/ 9778 h 10000"/>
              <a:gd name="connsiteX149" fmla="*/ 1867 w 10000"/>
              <a:gd name="connsiteY149" fmla="*/ 9814 h 10000"/>
              <a:gd name="connsiteX150" fmla="*/ 2024 w 10000"/>
              <a:gd name="connsiteY150" fmla="*/ 9846 h 10000"/>
              <a:gd name="connsiteX151" fmla="*/ 2180 w 10000"/>
              <a:gd name="connsiteY151" fmla="*/ 9874 h 10000"/>
              <a:gd name="connsiteX152" fmla="*/ 2336 w 10000"/>
              <a:gd name="connsiteY152" fmla="*/ 9902 h 10000"/>
              <a:gd name="connsiteX153" fmla="*/ 2494 w 10000"/>
              <a:gd name="connsiteY153" fmla="*/ 9926 h 10000"/>
              <a:gd name="connsiteX154" fmla="*/ 2653 w 10000"/>
              <a:gd name="connsiteY154" fmla="*/ 9946 h 10000"/>
              <a:gd name="connsiteX155" fmla="*/ 2814 w 10000"/>
              <a:gd name="connsiteY155" fmla="*/ 9962 h 10000"/>
              <a:gd name="connsiteX156" fmla="*/ 2978 w 10000"/>
              <a:gd name="connsiteY156" fmla="*/ 9978 h 10000"/>
              <a:gd name="connsiteX157" fmla="*/ 3139 w 10000"/>
              <a:gd name="connsiteY157" fmla="*/ 9988 h 10000"/>
              <a:gd name="connsiteX158" fmla="*/ 3303 w 10000"/>
              <a:gd name="connsiteY158" fmla="*/ 9996 h 10000"/>
              <a:gd name="connsiteX159" fmla="*/ 3464 w 10000"/>
              <a:gd name="connsiteY159" fmla="*/ 10000 h 10000"/>
              <a:gd name="connsiteX160" fmla="*/ 3630 w 10000"/>
              <a:gd name="connsiteY160" fmla="*/ 10000 h 10000"/>
              <a:gd name="connsiteX161" fmla="*/ 3794 w 10000"/>
              <a:gd name="connsiteY161" fmla="*/ 9998 h 10000"/>
              <a:gd name="connsiteX162" fmla="*/ 3963 w 10000"/>
              <a:gd name="connsiteY162" fmla="*/ 9994 h 10000"/>
              <a:gd name="connsiteX163" fmla="*/ 4126 w 10000"/>
              <a:gd name="connsiteY163" fmla="*/ 9986 h 10000"/>
              <a:gd name="connsiteX164" fmla="*/ 4295 w 10000"/>
              <a:gd name="connsiteY164" fmla="*/ 9974 h 10000"/>
              <a:gd name="connsiteX165" fmla="*/ 4461 w 10000"/>
              <a:gd name="connsiteY165" fmla="*/ 9956 h 10000"/>
              <a:gd name="connsiteX166" fmla="*/ 4628 w 10000"/>
              <a:gd name="connsiteY166" fmla="*/ 9938 h 10000"/>
              <a:gd name="connsiteX167" fmla="*/ 4797 w 10000"/>
              <a:gd name="connsiteY167" fmla="*/ 9912 h 10000"/>
              <a:gd name="connsiteX168" fmla="*/ 4965 w 10000"/>
              <a:gd name="connsiteY168" fmla="*/ 9888 h 10000"/>
              <a:gd name="connsiteX169" fmla="*/ 4965 w 10000"/>
              <a:gd name="connsiteY169" fmla="*/ 9888 h 10000"/>
              <a:gd name="connsiteX0" fmla="*/ 4584 w 9619"/>
              <a:gd name="connsiteY0" fmla="*/ 9888 h 10000"/>
              <a:gd name="connsiteX1" fmla="*/ 4584 w 9619"/>
              <a:gd name="connsiteY1" fmla="*/ 9888 h 10000"/>
              <a:gd name="connsiteX2" fmla="*/ 4743 w 9619"/>
              <a:gd name="connsiteY2" fmla="*/ 9856 h 10000"/>
              <a:gd name="connsiteX3" fmla="*/ 4902 w 9619"/>
              <a:gd name="connsiteY3" fmla="*/ 9826 h 10000"/>
              <a:gd name="connsiteX4" fmla="*/ 5058 w 9619"/>
              <a:gd name="connsiteY4" fmla="*/ 9792 h 10000"/>
              <a:gd name="connsiteX5" fmla="*/ 5214 w 9619"/>
              <a:gd name="connsiteY5" fmla="*/ 9754 h 10000"/>
              <a:gd name="connsiteX6" fmla="*/ 5365 w 9619"/>
              <a:gd name="connsiteY6" fmla="*/ 9712 h 10000"/>
              <a:gd name="connsiteX7" fmla="*/ 5518 w 9619"/>
              <a:gd name="connsiteY7" fmla="*/ 9670 h 10000"/>
              <a:gd name="connsiteX8" fmla="*/ 5667 w 9619"/>
              <a:gd name="connsiteY8" fmla="*/ 9622 h 10000"/>
              <a:gd name="connsiteX9" fmla="*/ 5815 w 9619"/>
              <a:gd name="connsiteY9" fmla="*/ 9574 h 10000"/>
              <a:gd name="connsiteX10" fmla="*/ 5958 w 9619"/>
              <a:gd name="connsiteY10" fmla="*/ 9524 h 10000"/>
              <a:gd name="connsiteX11" fmla="*/ 6099 w 9619"/>
              <a:gd name="connsiteY11" fmla="*/ 9468 h 10000"/>
              <a:gd name="connsiteX12" fmla="*/ 6242 w 9619"/>
              <a:gd name="connsiteY12" fmla="*/ 9412 h 10000"/>
              <a:gd name="connsiteX13" fmla="*/ 6378 w 9619"/>
              <a:gd name="connsiteY13" fmla="*/ 9352 h 10000"/>
              <a:gd name="connsiteX14" fmla="*/ 6513 w 9619"/>
              <a:gd name="connsiteY14" fmla="*/ 9290 h 10000"/>
              <a:gd name="connsiteX15" fmla="*/ 6649 w 9619"/>
              <a:gd name="connsiteY15" fmla="*/ 9224 h 10000"/>
              <a:gd name="connsiteX16" fmla="*/ 6779 w 9619"/>
              <a:gd name="connsiteY16" fmla="*/ 9160 h 10000"/>
              <a:gd name="connsiteX17" fmla="*/ 6907 w 9619"/>
              <a:gd name="connsiteY17" fmla="*/ 9090 h 10000"/>
              <a:gd name="connsiteX18" fmla="*/ 7033 w 9619"/>
              <a:gd name="connsiteY18" fmla="*/ 9018 h 10000"/>
              <a:gd name="connsiteX19" fmla="*/ 7155 w 9619"/>
              <a:gd name="connsiteY19" fmla="*/ 8944 h 10000"/>
              <a:gd name="connsiteX20" fmla="*/ 7276 w 9619"/>
              <a:gd name="connsiteY20" fmla="*/ 8868 h 10000"/>
              <a:gd name="connsiteX21" fmla="*/ 7396 w 9619"/>
              <a:gd name="connsiteY21" fmla="*/ 8792 h 10000"/>
              <a:gd name="connsiteX22" fmla="*/ 7511 w 9619"/>
              <a:gd name="connsiteY22" fmla="*/ 8712 h 10000"/>
              <a:gd name="connsiteX23" fmla="*/ 7626 w 9619"/>
              <a:gd name="connsiteY23" fmla="*/ 8628 h 10000"/>
              <a:gd name="connsiteX24" fmla="*/ 7736 w 9619"/>
              <a:gd name="connsiteY24" fmla="*/ 8544 h 10000"/>
              <a:gd name="connsiteX25" fmla="*/ 7841 w 9619"/>
              <a:gd name="connsiteY25" fmla="*/ 8458 h 10000"/>
              <a:gd name="connsiteX26" fmla="*/ 7948 w 9619"/>
              <a:gd name="connsiteY26" fmla="*/ 8370 h 10000"/>
              <a:gd name="connsiteX27" fmla="*/ 8051 w 9619"/>
              <a:gd name="connsiteY27" fmla="*/ 8282 h 10000"/>
              <a:gd name="connsiteX28" fmla="*/ 8148 w 9619"/>
              <a:gd name="connsiteY28" fmla="*/ 8190 h 10000"/>
              <a:gd name="connsiteX29" fmla="*/ 8245 w 9619"/>
              <a:gd name="connsiteY29" fmla="*/ 8098 h 10000"/>
              <a:gd name="connsiteX30" fmla="*/ 8340 w 9619"/>
              <a:gd name="connsiteY30" fmla="*/ 8002 h 10000"/>
              <a:gd name="connsiteX31" fmla="*/ 8429 w 9619"/>
              <a:gd name="connsiteY31" fmla="*/ 7906 h 10000"/>
              <a:gd name="connsiteX32" fmla="*/ 8516 w 9619"/>
              <a:gd name="connsiteY32" fmla="*/ 7806 h 10000"/>
              <a:gd name="connsiteX33" fmla="*/ 8601 w 9619"/>
              <a:gd name="connsiteY33" fmla="*/ 7706 h 10000"/>
              <a:gd name="connsiteX34" fmla="*/ 8683 w 9619"/>
              <a:gd name="connsiteY34" fmla="*/ 7604 h 10000"/>
              <a:gd name="connsiteX35" fmla="*/ 8762 w 9619"/>
              <a:gd name="connsiteY35" fmla="*/ 7500 h 10000"/>
              <a:gd name="connsiteX36" fmla="*/ 8836 w 9619"/>
              <a:gd name="connsiteY36" fmla="*/ 7398 h 10000"/>
              <a:gd name="connsiteX37" fmla="*/ 8908 w 9619"/>
              <a:gd name="connsiteY37" fmla="*/ 7292 h 10000"/>
              <a:gd name="connsiteX38" fmla="*/ 8977 w 9619"/>
              <a:gd name="connsiteY38" fmla="*/ 7182 h 10000"/>
              <a:gd name="connsiteX39" fmla="*/ 9043 w 9619"/>
              <a:gd name="connsiteY39" fmla="*/ 7074 h 10000"/>
              <a:gd name="connsiteX40" fmla="*/ 9105 w 9619"/>
              <a:gd name="connsiteY40" fmla="*/ 6964 h 10000"/>
              <a:gd name="connsiteX41" fmla="*/ 9164 w 9619"/>
              <a:gd name="connsiteY41" fmla="*/ 6854 h 10000"/>
              <a:gd name="connsiteX42" fmla="*/ 9220 w 9619"/>
              <a:gd name="connsiteY42" fmla="*/ 6740 h 10000"/>
              <a:gd name="connsiteX43" fmla="*/ 9271 w 9619"/>
              <a:gd name="connsiteY43" fmla="*/ 6626 h 10000"/>
              <a:gd name="connsiteX44" fmla="*/ 9320 w 9619"/>
              <a:gd name="connsiteY44" fmla="*/ 6512 h 10000"/>
              <a:gd name="connsiteX45" fmla="*/ 9363 w 9619"/>
              <a:gd name="connsiteY45" fmla="*/ 6396 h 10000"/>
              <a:gd name="connsiteX46" fmla="*/ 9407 w 9619"/>
              <a:gd name="connsiteY46" fmla="*/ 6280 h 10000"/>
              <a:gd name="connsiteX47" fmla="*/ 9445 w 9619"/>
              <a:gd name="connsiteY47" fmla="*/ 6164 h 10000"/>
              <a:gd name="connsiteX48" fmla="*/ 9481 w 9619"/>
              <a:gd name="connsiteY48" fmla="*/ 6044 h 10000"/>
              <a:gd name="connsiteX49" fmla="*/ 9509 w 9619"/>
              <a:gd name="connsiteY49" fmla="*/ 5926 h 10000"/>
              <a:gd name="connsiteX50" fmla="*/ 9535 w 9619"/>
              <a:gd name="connsiteY50" fmla="*/ 5804 h 10000"/>
              <a:gd name="connsiteX51" fmla="*/ 9560 w 9619"/>
              <a:gd name="connsiteY51" fmla="*/ 5684 h 10000"/>
              <a:gd name="connsiteX52" fmla="*/ 9581 w 9619"/>
              <a:gd name="connsiteY52" fmla="*/ 5562 h 10000"/>
              <a:gd name="connsiteX53" fmla="*/ 9596 w 9619"/>
              <a:gd name="connsiteY53" fmla="*/ 5440 h 10000"/>
              <a:gd name="connsiteX54" fmla="*/ 9606 w 9619"/>
              <a:gd name="connsiteY54" fmla="*/ 5316 h 10000"/>
              <a:gd name="connsiteX55" fmla="*/ 9616 w 9619"/>
              <a:gd name="connsiteY55" fmla="*/ 5196 h 10000"/>
              <a:gd name="connsiteX56" fmla="*/ 9619 w 9619"/>
              <a:gd name="connsiteY56" fmla="*/ 5072 h 10000"/>
              <a:gd name="connsiteX57" fmla="*/ 9619 w 9619"/>
              <a:gd name="connsiteY57" fmla="*/ 4948 h 10000"/>
              <a:gd name="connsiteX58" fmla="*/ 9616 w 9619"/>
              <a:gd name="connsiteY58" fmla="*/ 4822 h 10000"/>
              <a:gd name="connsiteX59" fmla="*/ 9606 w 9619"/>
              <a:gd name="connsiteY59" fmla="*/ 4698 h 10000"/>
              <a:gd name="connsiteX60" fmla="*/ 9596 w 9619"/>
              <a:gd name="connsiteY60" fmla="*/ 4572 h 10000"/>
              <a:gd name="connsiteX61" fmla="*/ 9581 w 9619"/>
              <a:gd name="connsiteY61" fmla="*/ 4444 h 10000"/>
              <a:gd name="connsiteX62" fmla="*/ 9558 w 9619"/>
              <a:gd name="connsiteY62" fmla="*/ 4318 h 10000"/>
              <a:gd name="connsiteX63" fmla="*/ 9535 w 9619"/>
              <a:gd name="connsiteY63" fmla="*/ 4192 h 10000"/>
              <a:gd name="connsiteX64" fmla="*/ 9506 w 9619"/>
              <a:gd name="connsiteY64" fmla="*/ 4066 h 10000"/>
              <a:gd name="connsiteX65" fmla="*/ 9473 w 9619"/>
              <a:gd name="connsiteY65" fmla="*/ 3940 h 10000"/>
              <a:gd name="connsiteX66" fmla="*/ 9473 w 9619"/>
              <a:gd name="connsiteY66" fmla="*/ 3940 h 10000"/>
              <a:gd name="connsiteX67" fmla="*/ 9435 w 9619"/>
              <a:gd name="connsiteY67" fmla="*/ 3816 h 10000"/>
              <a:gd name="connsiteX68" fmla="*/ 9394 w 9619"/>
              <a:gd name="connsiteY68" fmla="*/ 3692 h 10000"/>
              <a:gd name="connsiteX69" fmla="*/ 9350 w 9619"/>
              <a:gd name="connsiteY69" fmla="*/ 3568 h 10000"/>
              <a:gd name="connsiteX70" fmla="*/ 9302 w 9619"/>
              <a:gd name="connsiteY70" fmla="*/ 3446 h 10000"/>
              <a:gd name="connsiteX71" fmla="*/ 9251 w 9619"/>
              <a:gd name="connsiteY71" fmla="*/ 3328 h 10000"/>
              <a:gd name="connsiteX72" fmla="*/ 9192 w 9619"/>
              <a:gd name="connsiteY72" fmla="*/ 3208 h 10000"/>
              <a:gd name="connsiteX73" fmla="*/ 9136 w 9619"/>
              <a:gd name="connsiteY73" fmla="*/ 3092 h 10000"/>
              <a:gd name="connsiteX74" fmla="*/ 9074 w 9619"/>
              <a:gd name="connsiteY74" fmla="*/ 2976 h 10000"/>
              <a:gd name="connsiteX75" fmla="*/ 9005 w 9619"/>
              <a:gd name="connsiteY75" fmla="*/ 2864 h 10000"/>
              <a:gd name="connsiteX76" fmla="*/ 8939 w 9619"/>
              <a:gd name="connsiteY76" fmla="*/ 2754 h 10000"/>
              <a:gd name="connsiteX77" fmla="*/ 8864 w 9619"/>
              <a:gd name="connsiteY77" fmla="*/ 2642 h 10000"/>
              <a:gd name="connsiteX78" fmla="*/ 8788 w 9619"/>
              <a:gd name="connsiteY78" fmla="*/ 2536 h 10000"/>
              <a:gd name="connsiteX79" fmla="*/ 8708 w 9619"/>
              <a:gd name="connsiteY79" fmla="*/ 2430 h 10000"/>
              <a:gd name="connsiteX80" fmla="*/ 8626 w 9619"/>
              <a:gd name="connsiteY80" fmla="*/ 2324 h 10000"/>
              <a:gd name="connsiteX81" fmla="*/ 8542 w 9619"/>
              <a:gd name="connsiteY81" fmla="*/ 2222 h 10000"/>
              <a:gd name="connsiteX82" fmla="*/ 8452 w 9619"/>
              <a:gd name="connsiteY82" fmla="*/ 2122 h 10000"/>
              <a:gd name="connsiteX83" fmla="*/ 8363 w 9619"/>
              <a:gd name="connsiteY83" fmla="*/ 2024 h 10000"/>
              <a:gd name="connsiteX84" fmla="*/ 8268 w 9619"/>
              <a:gd name="connsiteY84" fmla="*/ 1928 h 10000"/>
              <a:gd name="connsiteX85" fmla="*/ 8171 w 9619"/>
              <a:gd name="connsiteY85" fmla="*/ 1834 h 10000"/>
              <a:gd name="connsiteX86" fmla="*/ 8071 w 9619"/>
              <a:gd name="connsiteY86" fmla="*/ 1740 h 10000"/>
              <a:gd name="connsiteX87" fmla="*/ 7972 w 9619"/>
              <a:gd name="connsiteY87" fmla="*/ 1648 h 10000"/>
              <a:gd name="connsiteX88" fmla="*/ 7864 w 9619"/>
              <a:gd name="connsiteY88" fmla="*/ 1560 h 10000"/>
              <a:gd name="connsiteX89" fmla="*/ 7757 w 9619"/>
              <a:gd name="connsiteY89" fmla="*/ 1474 h 10000"/>
              <a:gd name="connsiteX90" fmla="*/ 7647 w 9619"/>
              <a:gd name="connsiteY90" fmla="*/ 1392 h 10000"/>
              <a:gd name="connsiteX91" fmla="*/ 7534 w 9619"/>
              <a:gd name="connsiteY91" fmla="*/ 1308 h 10000"/>
              <a:gd name="connsiteX92" fmla="*/ 7422 w 9619"/>
              <a:gd name="connsiteY92" fmla="*/ 1226 h 10000"/>
              <a:gd name="connsiteX93" fmla="*/ 7301 w 9619"/>
              <a:gd name="connsiteY93" fmla="*/ 1150 h 10000"/>
              <a:gd name="connsiteX94" fmla="*/ 7184 w 9619"/>
              <a:gd name="connsiteY94" fmla="*/ 1076 h 10000"/>
              <a:gd name="connsiteX95" fmla="*/ 7063 w 9619"/>
              <a:gd name="connsiteY95" fmla="*/ 1002 h 10000"/>
              <a:gd name="connsiteX96" fmla="*/ 6938 w 9619"/>
              <a:gd name="connsiteY96" fmla="*/ 932 h 10000"/>
              <a:gd name="connsiteX97" fmla="*/ 6810 w 9619"/>
              <a:gd name="connsiteY97" fmla="*/ 862 h 10000"/>
              <a:gd name="connsiteX98" fmla="*/ 6685 w 9619"/>
              <a:gd name="connsiteY98" fmla="*/ 798 h 10000"/>
              <a:gd name="connsiteX99" fmla="*/ 6554 w 9619"/>
              <a:gd name="connsiteY99" fmla="*/ 734 h 10000"/>
              <a:gd name="connsiteX100" fmla="*/ 6424 w 9619"/>
              <a:gd name="connsiteY100" fmla="*/ 670 h 10000"/>
              <a:gd name="connsiteX101" fmla="*/ 6288 w 9619"/>
              <a:gd name="connsiteY101" fmla="*/ 612 h 10000"/>
              <a:gd name="connsiteX102" fmla="*/ 6150 w 9619"/>
              <a:gd name="connsiteY102" fmla="*/ 556 h 10000"/>
              <a:gd name="connsiteX103" fmla="*/ 6014 w 9619"/>
              <a:gd name="connsiteY103" fmla="*/ 504 h 10000"/>
              <a:gd name="connsiteX104" fmla="*/ 5876 w 9619"/>
              <a:gd name="connsiteY104" fmla="*/ 450 h 10000"/>
              <a:gd name="connsiteX105" fmla="*/ 5736 w 9619"/>
              <a:gd name="connsiteY105" fmla="*/ 402 h 10000"/>
              <a:gd name="connsiteX106" fmla="*/ 5595 w 9619"/>
              <a:gd name="connsiteY106" fmla="*/ 358 h 10000"/>
              <a:gd name="connsiteX107" fmla="*/ 5449 w 9619"/>
              <a:gd name="connsiteY107" fmla="*/ 314 h 10000"/>
              <a:gd name="connsiteX108" fmla="*/ 5303 w 9619"/>
              <a:gd name="connsiteY108" fmla="*/ 274 h 10000"/>
              <a:gd name="connsiteX109" fmla="*/ 5160 w 9619"/>
              <a:gd name="connsiteY109" fmla="*/ 236 h 10000"/>
              <a:gd name="connsiteX110" fmla="*/ 5009 w 9619"/>
              <a:gd name="connsiteY110" fmla="*/ 200 h 10000"/>
              <a:gd name="connsiteX111" fmla="*/ 4861 w 9619"/>
              <a:gd name="connsiteY111" fmla="*/ 168 h 10000"/>
              <a:gd name="connsiteX112" fmla="*/ 4712 w 9619"/>
              <a:gd name="connsiteY112" fmla="*/ 138 h 10000"/>
              <a:gd name="connsiteX113" fmla="*/ 4561 w 9619"/>
              <a:gd name="connsiteY113" fmla="*/ 110 h 10000"/>
              <a:gd name="connsiteX114" fmla="*/ 4408 w 9619"/>
              <a:gd name="connsiteY114" fmla="*/ 86 h 10000"/>
              <a:gd name="connsiteX115" fmla="*/ 4254 w 9619"/>
              <a:gd name="connsiteY115" fmla="*/ 66 h 10000"/>
              <a:gd name="connsiteX116" fmla="*/ 4098 w 9619"/>
              <a:gd name="connsiteY116" fmla="*/ 46 h 10000"/>
              <a:gd name="connsiteX117" fmla="*/ 3945 w 9619"/>
              <a:gd name="connsiteY117" fmla="*/ 32 h 10000"/>
              <a:gd name="connsiteX118" fmla="*/ 3789 w 9619"/>
              <a:gd name="connsiteY118" fmla="*/ 22 h 10000"/>
              <a:gd name="connsiteX119" fmla="*/ 3630 w 9619"/>
              <a:gd name="connsiteY119" fmla="*/ 10 h 10000"/>
              <a:gd name="connsiteX120" fmla="*/ 3472 w 9619"/>
              <a:gd name="connsiteY120" fmla="*/ 4 h 10000"/>
              <a:gd name="connsiteX121" fmla="*/ 3313 w 9619"/>
              <a:gd name="connsiteY121" fmla="*/ 0 h 10000"/>
              <a:gd name="connsiteX122" fmla="*/ 3154 w 9619"/>
              <a:gd name="connsiteY122" fmla="*/ 0 h 10000"/>
              <a:gd name="connsiteX123" fmla="*/ 2996 w 9619"/>
              <a:gd name="connsiteY123" fmla="*/ 4 h 10000"/>
              <a:gd name="connsiteX124" fmla="*/ 2835 w 9619"/>
              <a:gd name="connsiteY124" fmla="*/ 10 h 10000"/>
              <a:gd name="connsiteX125" fmla="*/ 2676 w 9619"/>
              <a:gd name="connsiteY125" fmla="*/ 22 h 10000"/>
              <a:gd name="connsiteX126" fmla="*/ 2515 w 9619"/>
              <a:gd name="connsiteY126" fmla="*/ 34 h 10000"/>
              <a:gd name="connsiteX127" fmla="*/ 2354 w 9619"/>
              <a:gd name="connsiteY127" fmla="*/ 48 h 10000"/>
              <a:gd name="connsiteX128" fmla="*/ 2193 w 9619"/>
              <a:gd name="connsiteY128" fmla="*/ 66 h 10000"/>
              <a:gd name="connsiteX129" fmla="*/ 2031 w 9619"/>
              <a:gd name="connsiteY129" fmla="*/ 90 h 10000"/>
              <a:gd name="connsiteX130" fmla="*/ 1868 w 9619"/>
              <a:gd name="connsiteY130" fmla="*/ 114 h 10000"/>
              <a:gd name="connsiteX131" fmla="*/ 1868 w 9619"/>
              <a:gd name="connsiteY131" fmla="*/ 114 h 10000"/>
              <a:gd name="connsiteX132" fmla="*/ 1714 w 9619"/>
              <a:gd name="connsiteY132" fmla="*/ 142 h 10000"/>
              <a:gd name="connsiteX133" fmla="*/ 1561 w 9619"/>
              <a:gd name="connsiteY133" fmla="*/ 176 h 10000"/>
              <a:gd name="connsiteX134" fmla="*/ 1410 w 9619"/>
              <a:gd name="connsiteY134" fmla="*/ 208 h 10000"/>
              <a:gd name="connsiteX135" fmla="*/ 1261 w 9619"/>
              <a:gd name="connsiteY135" fmla="*/ 244 h 10000"/>
              <a:gd name="connsiteX136" fmla="*/ 1113 w 9619"/>
              <a:gd name="connsiteY136" fmla="*/ 282 h 10000"/>
              <a:gd name="connsiteX137" fmla="*/ 967 w 9619"/>
              <a:gd name="connsiteY137" fmla="*/ 324 h 10000"/>
              <a:gd name="connsiteX138" fmla="*/ 821 w 9619"/>
              <a:gd name="connsiteY138" fmla="*/ 368 h 10000"/>
              <a:gd name="connsiteX139" fmla="*/ 678 w 9619"/>
              <a:gd name="connsiteY139" fmla="*/ 416 h 10000"/>
              <a:gd name="connsiteX140" fmla="*/ 540 w 9619"/>
              <a:gd name="connsiteY140" fmla="*/ 464 h 10000"/>
              <a:gd name="connsiteX141" fmla="*/ 402 w 9619"/>
              <a:gd name="connsiteY141" fmla="*/ 514 h 10000"/>
              <a:gd name="connsiteX142" fmla="*/ 266 w 9619"/>
              <a:gd name="connsiteY142" fmla="*/ 570 h 10000"/>
              <a:gd name="connsiteX143" fmla="*/ 133 w 9619"/>
              <a:gd name="connsiteY143" fmla="*/ 626 h 10000"/>
              <a:gd name="connsiteX144" fmla="*/ 0 w 9619"/>
              <a:gd name="connsiteY144" fmla="*/ 684 h 10000"/>
              <a:gd name="connsiteX145" fmla="*/ 1031 w 9619"/>
              <a:gd name="connsiteY145" fmla="*/ 9698 h 10000"/>
              <a:gd name="connsiteX146" fmla="*/ 1180 w 9619"/>
              <a:gd name="connsiteY146" fmla="*/ 9738 h 10000"/>
              <a:gd name="connsiteX147" fmla="*/ 1333 w 9619"/>
              <a:gd name="connsiteY147" fmla="*/ 9778 h 10000"/>
              <a:gd name="connsiteX148" fmla="*/ 1486 w 9619"/>
              <a:gd name="connsiteY148" fmla="*/ 9814 h 10000"/>
              <a:gd name="connsiteX149" fmla="*/ 1643 w 9619"/>
              <a:gd name="connsiteY149" fmla="*/ 9846 h 10000"/>
              <a:gd name="connsiteX150" fmla="*/ 1799 w 9619"/>
              <a:gd name="connsiteY150" fmla="*/ 9874 h 10000"/>
              <a:gd name="connsiteX151" fmla="*/ 1955 w 9619"/>
              <a:gd name="connsiteY151" fmla="*/ 9902 h 10000"/>
              <a:gd name="connsiteX152" fmla="*/ 2113 w 9619"/>
              <a:gd name="connsiteY152" fmla="*/ 9926 h 10000"/>
              <a:gd name="connsiteX153" fmla="*/ 2272 w 9619"/>
              <a:gd name="connsiteY153" fmla="*/ 9946 h 10000"/>
              <a:gd name="connsiteX154" fmla="*/ 2433 w 9619"/>
              <a:gd name="connsiteY154" fmla="*/ 9962 h 10000"/>
              <a:gd name="connsiteX155" fmla="*/ 2597 w 9619"/>
              <a:gd name="connsiteY155" fmla="*/ 9978 h 10000"/>
              <a:gd name="connsiteX156" fmla="*/ 2758 w 9619"/>
              <a:gd name="connsiteY156" fmla="*/ 9988 h 10000"/>
              <a:gd name="connsiteX157" fmla="*/ 2922 w 9619"/>
              <a:gd name="connsiteY157" fmla="*/ 9996 h 10000"/>
              <a:gd name="connsiteX158" fmla="*/ 3083 w 9619"/>
              <a:gd name="connsiteY158" fmla="*/ 10000 h 10000"/>
              <a:gd name="connsiteX159" fmla="*/ 3249 w 9619"/>
              <a:gd name="connsiteY159" fmla="*/ 10000 h 10000"/>
              <a:gd name="connsiteX160" fmla="*/ 3413 w 9619"/>
              <a:gd name="connsiteY160" fmla="*/ 9998 h 10000"/>
              <a:gd name="connsiteX161" fmla="*/ 3582 w 9619"/>
              <a:gd name="connsiteY161" fmla="*/ 9994 h 10000"/>
              <a:gd name="connsiteX162" fmla="*/ 3745 w 9619"/>
              <a:gd name="connsiteY162" fmla="*/ 9986 h 10000"/>
              <a:gd name="connsiteX163" fmla="*/ 3914 w 9619"/>
              <a:gd name="connsiteY163" fmla="*/ 9974 h 10000"/>
              <a:gd name="connsiteX164" fmla="*/ 4080 w 9619"/>
              <a:gd name="connsiteY164" fmla="*/ 9956 h 10000"/>
              <a:gd name="connsiteX165" fmla="*/ 4247 w 9619"/>
              <a:gd name="connsiteY165" fmla="*/ 9938 h 10000"/>
              <a:gd name="connsiteX166" fmla="*/ 4416 w 9619"/>
              <a:gd name="connsiteY166" fmla="*/ 9912 h 10000"/>
              <a:gd name="connsiteX167" fmla="*/ 4584 w 9619"/>
              <a:gd name="connsiteY167" fmla="*/ 9888 h 10000"/>
              <a:gd name="connsiteX168" fmla="*/ 4584 w 9619"/>
              <a:gd name="connsiteY168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705 w 10000"/>
              <a:gd name="connsiteY138" fmla="*/ 416 h 10000"/>
              <a:gd name="connsiteX139" fmla="*/ 561 w 10000"/>
              <a:gd name="connsiteY139" fmla="*/ 464 h 10000"/>
              <a:gd name="connsiteX140" fmla="*/ 418 w 10000"/>
              <a:gd name="connsiteY140" fmla="*/ 514 h 10000"/>
              <a:gd name="connsiteX141" fmla="*/ 277 w 10000"/>
              <a:gd name="connsiteY141" fmla="*/ 570 h 10000"/>
              <a:gd name="connsiteX142" fmla="*/ 138 w 10000"/>
              <a:gd name="connsiteY142" fmla="*/ 626 h 10000"/>
              <a:gd name="connsiteX143" fmla="*/ 0 w 10000"/>
              <a:gd name="connsiteY143" fmla="*/ 684 h 10000"/>
              <a:gd name="connsiteX144" fmla="*/ 1072 w 10000"/>
              <a:gd name="connsiteY144" fmla="*/ 9698 h 10000"/>
              <a:gd name="connsiteX145" fmla="*/ 1227 w 10000"/>
              <a:gd name="connsiteY145" fmla="*/ 9738 h 10000"/>
              <a:gd name="connsiteX146" fmla="*/ 1386 w 10000"/>
              <a:gd name="connsiteY146" fmla="*/ 9778 h 10000"/>
              <a:gd name="connsiteX147" fmla="*/ 1545 w 10000"/>
              <a:gd name="connsiteY147" fmla="*/ 9814 h 10000"/>
              <a:gd name="connsiteX148" fmla="*/ 1708 w 10000"/>
              <a:gd name="connsiteY148" fmla="*/ 9846 h 10000"/>
              <a:gd name="connsiteX149" fmla="*/ 1870 w 10000"/>
              <a:gd name="connsiteY149" fmla="*/ 9874 h 10000"/>
              <a:gd name="connsiteX150" fmla="*/ 2032 w 10000"/>
              <a:gd name="connsiteY150" fmla="*/ 9902 h 10000"/>
              <a:gd name="connsiteX151" fmla="*/ 2197 w 10000"/>
              <a:gd name="connsiteY151" fmla="*/ 9926 h 10000"/>
              <a:gd name="connsiteX152" fmla="*/ 2362 w 10000"/>
              <a:gd name="connsiteY152" fmla="*/ 9946 h 10000"/>
              <a:gd name="connsiteX153" fmla="*/ 2529 w 10000"/>
              <a:gd name="connsiteY153" fmla="*/ 9962 h 10000"/>
              <a:gd name="connsiteX154" fmla="*/ 2700 w 10000"/>
              <a:gd name="connsiteY154" fmla="*/ 9978 h 10000"/>
              <a:gd name="connsiteX155" fmla="*/ 2867 w 10000"/>
              <a:gd name="connsiteY155" fmla="*/ 9988 h 10000"/>
              <a:gd name="connsiteX156" fmla="*/ 3038 w 10000"/>
              <a:gd name="connsiteY156" fmla="*/ 9996 h 10000"/>
              <a:gd name="connsiteX157" fmla="*/ 3205 w 10000"/>
              <a:gd name="connsiteY157" fmla="*/ 10000 h 10000"/>
              <a:gd name="connsiteX158" fmla="*/ 3378 w 10000"/>
              <a:gd name="connsiteY158" fmla="*/ 10000 h 10000"/>
              <a:gd name="connsiteX159" fmla="*/ 3548 w 10000"/>
              <a:gd name="connsiteY159" fmla="*/ 9998 h 10000"/>
              <a:gd name="connsiteX160" fmla="*/ 3724 w 10000"/>
              <a:gd name="connsiteY160" fmla="*/ 9994 h 10000"/>
              <a:gd name="connsiteX161" fmla="*/ 3893 w 10000"/>
              <a:gd name="connsiteY161" fmla="*/ 9986 h 10000"/>
              <a:gd name="connsiteX162" fmla="*/ 4069 w 10000"/>
              <a:gd name="connsiteY162" fmla="*/ 9974 h 10000"/>
              <a:gd name="connsiteX163" fmla="*/ 4242 w 10000"/>
              <a:gd name="connsiteY163" fmla="*/ 9956 h 10000"/>
              <a:gd name="connsiteX164" fmla="*/ 4415 w 10000"/>
              <a:gd name="connsiteY164" fmla="*/ 9938 h 10000"/>
              <a:gd name="connsiteX165" fmla="*/ 4591 w 10000"/>
              <a:gd name="connsiteY165" fmla="*/ 9912 h 10000"/>
              <a:gd name="connsiteX166" fmla="*/ 4766 w 10000"/>
              <a:gd name="connsiteY166" fmla="*/ 9888 h 10000"/>
              <a:gd name="connsiteX167" fmla="*/ 4766 w 10000"/>
              <a:gd name="connsiteY167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561 w 10000"/>
              <a:gd name="connsiteY138" fmla="*/ 464 h 10000"/>
              <a:gd name="connsiteX139" fmla="*/ 418 w 10000"/>
              <a:gd name="connsiteY139" fmla="*/ 514 h 10000"/>
              <a:gd name="connsiteX140" fmla="*/ 277 w 10000"/>
              <a:gd name="connsiteY140" fmla="*/ 570 h 10000"/>
              <a:gd name="connsiteX141" fmla="*/ 138 w 10000"/>
              <a:gd name="connsiteY141" fmla="*/ 626 h 10000"/>
              <a:gd name="connsiteX142" fmla="*/ 0 w 10000"/>
              <a:gd name="connsiteY142" fmla="*/ 684 h 10000"/>
              <a:gd name="connsiteX143" fmla="*/ 1072 w 10000"/>
              <a:gd name="connsiteY143" fmla="*/ 9698 h 10000"/>
              <a:gd name="connsiteX144" fmla="*/ 1227 w 10000"/>
              <a:gd name="connsiteY144" fmla="*/ 9738 h 10000"/>
              <a:gd name="connsiteX145" fmla="*/ 1386 w 10000"/>
              <a:gd name="connsiteY145" fmla="*/ 9778 h 10000"/>
              <a:gd name="connsiteX146" fmla="*/ 1545 w 10000"/>
              <a:gd name="connsiteY146" fmla="*/ 9814 h 10000"/>
              <a:gd name="connsiteX147" fmla="*/ 1708 w 10000"/>
              <a:gd name="connsiteY147" fmla="*/ 9846 h 10000"/>
              <a:gd name="connsiteX148" fmla="*/ 1870 w 10000"/>
              <a:gd name="connsiteY148" fmla="*/ 9874 h 10000"/>
              <a:gd name="connsiteX149" fmla="*/ 2032 w 10000"/>
              <a:gd name="connsiteY149" fmla="*/ 9902 h 10000"/>
              <a:gd name="connsiteX150" fmla="*/ 2197 w 10000"/>
              <a:gd name="connsiteY150" fmla="*/ 9926 h 10000"/>
              <a:gd name="connsiteX151" fmla="*/ 2362 w 10000"/>
              <a:gd name="connsiteY151" fmla="*/ 9946 h 10000"/>
              <a:gd name="connsiteX152" fmla="*/ 2529 w 10000"/>
              <a:gd name="connsiteY152" fmla="*/ 9962 h 10000"/>
              <a:gd name="connsiteX153" fmla="*/ 2700 w 10000"/>
              <a:gd name="connsiteY153" fmla="*/ 9978 h 10000"/>
              <a:gd name="connsiteX154" fmla="*/ 2867 w 10000"/>
              <a:gd name="connsiteY154" fmla="*/ 9988 h 10000"/>
              <a:gd name="connsiteX155" fmla="*/ 3038 w 10000"/>
              <a:gd name="connsiteY155" fmla="*/ 9996 h 10000"/>
              <a:gd name="connsiteX156" fmla="*/ 3205 w 10000"/>
              <a:gd name="connsiteY156" fmla="*/ 10000 h 10000"/>
              <a:gd name="connsiteX157" fmla="*/ 3378 w 10000"/>
              <a:gd name="connsiteY157" fmla="*/ 10000 h 10000"/>
              <a:gd name="connsiteX158" fmla="*/ 3548 w 10000"/>
              <a:gd name="connsiteY158" fmla="*/ 9998 h 10000"/>
              <a:gd name="connsiteX159" fmla="*/ 3724 w 10000"/>
              <a:gd name="connsiteY159" fmla="*/ 9994 h 10000"/>
              <a:gd name="connsiteX160" fmla="*/ 3893 w 10000"/>
              <a:gd name="connsiteY160" fmla="*/ 9986 h 10000"/>
              <a:gd name="connsiteX161" fmla="*/ 4069 w 10000"/>
              <a:gd name="connsiteY161" fmla="*/ 9974 h 10000"/>
              <a:gd name="connsiteX162" fmla="*/ 4242 w 10000"/>
              <a:gd name="connsiteY162" fmla="*/ 9956 h 10000"/>
              <a:gd name="connsiteX163" fmla="*/ 4415 w 10000"/>
              <a:gd name="connsiteY163" fmla="*/ 9938 h 10000"/>
              <a:gd name="connsiteX164" fmla="*/ 4591 w 10000"/>
              <a:gd name="connsiteY164" fmla="*/ 9912 h 10000"/>
              <a:gd name="connsiteX165" fmla="*/ 4766 w 10000"/>
              <a:gd name="connsiteY165" fmla="*/ 9888 h 10000"/>
              <a:gd name="connsiteX166" fmla="*/ 4766 w 10000"/>
              <a:gd name="connsiteY166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418 w 10000"/>
              <a:gd name="connsiteY138" fmla="*/ 514 h 10000"/>
              <a:gd name="connsiteX139" fmla="*/ 277 w 10000"/>
              <a:gd name="connsiteY139" fmla="*/ 570 h 10000"/>
              <a:gd name="connsiteX140" fmla="*/ 138 w 10000"/>
              <a:gd name="connsiteY140" fmla="*/ 626 h 10000"/>
              <a:gd name="connsiteX141" fmla="*/ 0 w 10000"/>
              <a:gd name="connsiteY141" fmla="*/ 684 h 10000"/>
              <a:gd name="connsiteX142" fmla="*/ 1072 w 10000"/>
              <a:gd name="connsiteY142" fmla="*/ 9698 h 10000"/>
              <a:gd name="connsiteX143" fmla="*/ 1227 w 10000"/>
              <a:gd name="connsiteY143" fmla="*/ 9738 h 10000"/>
              <a:gd name="connsiteX144" fmla="*/ 1386 w 10000"/>
              <a:gd name="connsiteY144" fmla="*/ 9778 h 10000"/>
              <a:gd name="connsiteX145" fmla="*/ 1545 w 10000"/>
              <a:gd name="connsiteY145" fmla="*/ 9814 h 10000"/>
              <a:gd name="connsiteX146" fmla="*/ 1708 w 10000"/>
              <a:gd name="connsiteY146" fmla="*/ 9846 h 10000"/>
              <a:gd name="connsiteX147" fmla="*/ 1870 w 10000"/>
              <a:gd name="connsiteY147" fmla="*/ 9874 h 10000"/>
              <a:gd name="connsiteX148" fmla="*/ 2032 w 10000"/>
              <a:gd name="connsiteY148" fmla="*/ 9902 h 10000"/>
              <a:gd name="connsiteX149" fmla="*/ 2197 w 10000"/>
              <a:gd name="connsiteY149" fmla="*/ 9926 h 10000"/>
              <a:gd name="connsiteX150" fmla="*/ 2362 w 10000"/>
              <a:gd name="connsiteY150" fmla="*/ 9946 h 10000"/>
              <a:gd name="connsiteX151" fmla="*/ 2529 w 10000"/>
              <a:gd name="connsiteY151" fmla="*/ 9962 h 10000"/>
              <a:gd name="connsiteX152" fmla="*/ 2700 w 10000"/>
              <a:gd name="connsiteY152" fmla="*/ 9978 h 10000"/>
              <a:gd name="connsiteX153" fmla="*/ 2867 w 10000"/>
              <a:gd name="connsiteY153" fmla="*/ 9988 h 10000"/>
              <a:gd name="connsiteX154" fmla="*/ 3038 w 10000"/>
              <a:gd name="connsiteY154" fmla="*/ 9996 h 10000"/>
              <a:gd name="connsiteX155" fmla="*/ 3205 w 10000"/>
              <a:gd name="connsiteY155" fmla="*/ 10000 h 10000"/>
              <a:gd name="connsiteX156" fmla="*/ 3378 w 10000"/>
              <a:gd name="connsiteY156" fmla="*/ 10000 h 10000"/>
              <a:gd name="connsiteX157" fmla="*/ 3548 w 10000"/>
              <a:gd name="connsiteY157" fmla="*/ 9998 h 10000"/>
              <a:gd name="connsiteX158" fmla="*/ 3724 w 10000"/>
              <a:gd name="connsiteY158" fmla="*/ 9994 h 10000"/>
              <a:gd name="connsiteX159" fmla="*/ 3893 w 10000"/>
              <a:gd name="connsiteY159" fmla="*/ 9986 h 10000"/>
              <a:gd name="connsiteX160" fmla="*/ 4069 w 10000"/>
              <a:gd name="connsiteY160" fmla="*/ 9974 h 10000"/>
              <a:gd name="connsiteX161" fmla="*/ 4242 w 10000"/>
              <a:gd name="connsiteY161" fmla="*/ 9956 h 10000"/>
              <a:gd name="connsiteX162" fmla="*/ 4415 w 10000"/>
              <a:gd name="connsiteY162" fmla="*/ 9938 h 10000"/>
              <a:gd name="connsiteX163" fmla="*/ 4591 w 10000"/>
              <a:gd name="connsiteY163" fmla="*/ 9912 h 10000"/>
              <a:gd name="connsiteX164" fmla="*/ 4766 w 10000"/>
              <a:gd name="connsiteY164" fmla="*/ 9888 h 10000"/>
              <a:gd name="connsiteX165" fmla="*/ 4766 w 10000"/>
              <a:gd name="connsiteY165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277 w 10000"/>
              <a:gd name="connsiteY138" fmla="*/ 570 h 10000"/>
              <a:gd name="connsiteX139" fmla="*/ 138 w 10000"/>
              <a:gd name="connsiteY139" fmla="*/ 626 h 10000"/>
              <a:gd name="connsiteX140" fmla="*/ 0 w 10000"/>
              <a:gd name="connsiteY140" fmla="*/ 684 h 10000"/>
              <a:gd name="connsiteX141" fmla="*/ 1072 w 10000"/>
              <a:gd name="connsiteY141" fmla="*/ 9698 h 10000"/>
              <a:gd name="connsiteX142" fmla="*/ 1227 w 10000"/>
              <a:gd name="connsiteY142" fmla="*/ 9738 h 10000"/>
              <a:gd name="connsiteX143" fmla="*/ 1386 w 10000"/>
              <a:gd name="connsiteY143" fmla="*/ 9778 h 10000"/>
              <a:gd name="connsiteX144" fmla="*/ 1545 w 10000"/>
              <a:gd name="connsiteY144" fmla="*/ 9814 h 10000"/>
              <a:gd name="connsiteX145" fmla="*/ 1708 w 10000"/>
              <a:gd name="connsiteY145" fmla="*/ 9846 h 10000"/>
              <a:gd name="connsiteX146" fmla="*/ 1870 w 10000"/>
              <a:gd name="connsiteY146" fmla="*/ 9874 h 10000"/>
              <a:gd name="connsiteX147" fmla="*/ 2032 w 10000"/>
              <a:gd name="connsiteY147" fmla="*/ 9902 h 10000"/>
              <a:gd name="connsiteX148" fmla="*/ 2197 w 10000"/>
              <a:gd name="connsiteY148" fmla="*/ 9926 h 10000"/>
              <a:gd name="connsiteX149" fmla="*/ 2362 w 10000"/>
              <a:gd name="connsiteY149" fmla="*/ 9946 h 10000"/>
              <a:gd name="connsiteX150" fmla="*/ 2529 w 10000"/>
              <a:gd name="connsiteY150" fmla="*/ 9962 h 10000"/>
              <a:gd name="connsiteX151" fmla="*/ 2700 w 10000"/>
              <a:gd name="connsiteY151" fmla="*/ 9978 h 10000"/>
              <a:gd name="connsiteX152" fmla="*/ 2867 w 10000"/>
              <a:gd name="connsiteY152" fmla="*/ 9988 h 10000"/>
              <a:gd name="connsiteX153" fmla="*/ 3038 w 10000"/>
              <a:gd name="connsiteY153" fmla="*/ 9996 h 10000"/>
              <a:gd name="connsiteX154" fmla="*/ 3205 w 10000"/>
              <a:gd name="connsiteY154" fmla="*/ 10000 h 10000"/>
              <a:gd name="connsiteX155" fmla="*/ 3378 w 10000"/>
              <a:gd name="connsiteY155" fmla="*/ 10000 h 10000"/>
              <a:gd name="connsiteX156" fmla="*/ 3548 w 10000"/>
              <a:gd name="connsiteY156" fmla="*/ 9998 h 10000"/>
              <a:gd name="connsiteX157" fmla="*/ 3724 w 10000"/>
              <a:gd name="connsiteY157" fmla="*/ 9994 h 10000"/>
              <a:gd name="connsiteX158" fmla="*/ 3893 w 10000"/>
              <a:gd name="connsiteY158" fmla="*/ 9986 h 10000"/>
              <a:gd name="connsiteX159" fmla="*/ 4069 w 10000"/>
              <a:gd name="connsiteY159" fmla="*/ 9974 h 10000"/>
              <a:gd name="connsiteX160" fmla="*/ 4242 w 10000"/>
              <a:gd name="connsiteY160" fmla="*/ 9956 h 10000"/>
              <a:gd name="connsiteX161" fmla="*/ 4415 w 10000"/>
              <a:gd name="connsiteY161" fmla="*/ 9938 h 10000"/>
              <a:gd name="connsiteX162" fmla="*/ 4591 w 10000"/>
              <a:gd name="connsiteY162" fmla="*/ 9912 h 10000"/>
              <a:gd name="connsiteX163" fmla="*/ 4766 w 10000"/>
              <a:gd name="connsiteY163" fmla="*/ 9888 h 10000"/>
              <a:gd name="connsiteX164" fmla="*/ 4766 w 10000"/>
              <a:gd name="connsiteY164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138 w 10000"/>
              <a:gd name="connsiteY138" fmla="*/ 626 h 10000"/>
              <a:gd name="connsiteX139" fmla="*/ 0 w 10000"/>
              <a:gd name="connsiteY139" fmla="*/ 684 h 10000"/>
              <a:gd name="connsiteX140" fmla="*/ 1072 w 10000"/>
              <a:gd name="connsiteY140" fmla="*/ 9698 h 10000"/>
              <a:gd name="connsiteX141" fmla="*/ 1227 w 10000"/>
              <a:gd name="connsiteY141" fmla="*/ 9738 h 10000"/>
              <a:gd name="connsiteX142" fmla="*/ 1386 w 10000"/>
              <a:gd name="connsiteY142" fmla="*/ 9778 h 10000"/>
              <a:gd name="connsiteX143" fmla="*/ 1545 w 10000"/>
              <a:gd name="connsiteY143" fmla="*/ 9814 h 10000"/>
              <a:gd name="connsiteX144" fmla="*/ 1708 w 10000"/>
              <a:gd name="connsiteY144" fmla="*/ 9846 h 10000"/>
              <a:gd name="connsiteX145" fmla="*/ 1870 w 10000"/>
              <a:gd name="connsiteY145" fmla="*/ 9874 h 10000"/>
              <a:gd name="connsiteX146" fmla="*/ 2032 w 10000"/>
              <a:gd name="connsiteY146" fmla="*/ 9902 h 10000"/>
              <a:gd name="connsiteX147" fmla="*/ 2197 w 10000"/>
              <a:gd name="connsiteY147" fmla="*/ 9926 h 10000"/>
              <a:gd name="connsiteX148" fmla="*/ 2362 w 10000"/>
              <a:gd name="connsiteY148" fmla="*/ 9946 h 10000"/>
              <a:gd name="connsiteX149" fmla="*/ 2529 w 10000"/>
              <a:gd name="connsiteY149" fmla="*/ 9962 h 10000"/>
              <a:gd name="connsiteX150" fmla="*/ 2700 w 10000"/>
              <a:gd name="connsiteY150" fmla="*/ 9978 h 10000"/>
              <a:gd name="connsiteX151" fmla="*/ 2867 w 10000"/>
              <a:gd name="connsiteY151" fmla="*/ 9988 h 10000"/>
              <a:gd name="connsiteX152" fmla="*/ 3038 w 10000"/>
              <a:gd name="connsiteY152" fmla="*/ 9996 h 10000"/>
              <a:gd name="connsiteX153" fmla="*/ 3205 w 10000"/>
              <a:gd name="connsiteY153" fmla="*/ 10000 h 10000"/>
              <a:gd name="connsiteX154" fmla="*/ 3378 w 10000"/>
              <a:gd name="connsiteY154" fmla="*/ 10000 h 10000"/>
              <a:gd name="connsiteX155" fmla="*/ 3548 w 10000"/>
              <a:gd name="connsiteY155" fmla="*/ 9998 h 10000"/>
              <a:gd name="connsiteX156" fmla="*/ 3724 w 10000"/>
              <a:gd name="connsiteY156" fmla="*/ 9994 h 10000"/>
              <a:gd name="connsiteX157" fmla="*/ 3893 w 10000"/>
              <a:gd name="connsiteY157" fmla="*/ 9986 h 10000"/>
              <a:gd name="connsiteX158" fmla="*/ 4069 w 10000"/>
              <a:gd name="connsiteY158" fmla="*/ 9974 h 10000"/>
              <a:gd name="connsiteX159" fmla="*/ 4242 w 10000"/>
              <a:gd name="connsiteY159" fmla="*/ 9956 h 10000"/>
              <a:gd name="connsiteX160" fmla="*/ 4415 w 10000"/>
              <a:gd name="connsiteY160" fmla="*/ 9938 h 10000"/>
              <a:gd name="connsiteX161" fmla="*/ 4591 w 10000"/>
              <a:gd name="connsiteY161" fmla="*/ 9912 h 10000"/>
              <a:gd name="connsiteX162" fmla="*/ 4766 w 10000"/>
              <a:gd name="connsiteY162" fmla="*/ 9888 h 10000"/>
              <a:gd name="connsiteX163" fmla="*/ 4766 w 10000"/>
              <a:gd name="connsiteY163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0 w 10000"/>
              <a:gd name="connsiteY138" fmla="*/ 684 h 10000"/>
              <a:gd name="connsiteX139" fmla="*/ 1072 w 10000"/>
              <a:gd name="connsiteY139" fmla="*/ 9698 h 10000"/>
              <a:gd name="connsiteX140" fmla="*/ 1227 w 10000"/>
              <a:gd name="connsiteY140" fmla="*/ 9738 h 10000"/>
              <a:gd name="connsiteX141" fmla="*/ 1386 w 10000"/>
              <a:gd name="connsiteY141" fmla="*/ 9778 h 10000"/>
              <a:gd name="connsiteX142" fmla="*/ 1545 w 10000"/>
              <a:gd name="connsiteY142" fmla="*/ 9814 h 10000"/>
              <a:gd name="connsiteX143" fmla="*/ 1708 w 10000"/>
              <a:gd name="connsiteY143" fmla="*/ 9846 h 10000"/>
              <a:gd name="connsiteX144" fmla="*/ 1870 w 10000"/>
              <a:gd name="connsiteY144" fmla="*/ 9874 h 10000"/>
              <a:gd name="connsiteX145" fmla="*/ 2032 w 10000"/>
              <a:gd name="connsiteY145" fmla="*/ 9902 h 10000"/>
              <a:gd name="connsiteX146" fmla="*/ 2197 w 10000"/>
              <a:gd name="connsiteY146" fmla="*/ 9926 h 10000"/>
              <a:gd name="connsiteX147" fmla="*/ 2362 w 10000"/>
              <a:gd name="connsiteY147" fmla="*/ 9946 h 10000"/>
              <a:gd name="connsiteX148" fmla="*/ 2529 w 10000"/>
              <a:gd name="connsiteY148" fmla="*/ 9962 h 10000"/>
              <a:gd name="connsiteX149" fmla="*/ 2700 w 10000"/>
              <a:gd name="connsiteY149" fmla="*/ 9978 h 10000"/>
              <a:gd name="connsiteX150" fmla="*/ 2867 w 10000"/>
              <a:gd name="connsiteY150" fmla="*/ 9988 h 10000"/>
              <a:gd name="connsiteX151" fmla="*/ 3038 w 10000"/>
              <a:gd name="connsiteY151" fmla="*/ 9996 h 10000"/>
              <a:gd name="connsiteX152" fmla="*/ 3205 w 10000"/>
              <a:gd name="connsiteY152" fmla="*/ 10000 h 10000"/>
              <a:gd name="connsiteX153" fmla="*/ 3378 w 10000"/>
              <a:gd name="connsiteY153" fmla="*/ 10000 h 10000"/>
              <a:gd name="connsiteX154" fmla="*/ 3548 w 10000"/>
              <a:gd name="connsiteY154" fmla="*/ 9998 h 10000"/>
              <a:gd name="connsiteX155" fmla="*/ 3724 w 10000"/>
              <a:gd name="connsiteY155" fmla="*/ 9994 h 10000"/>
              <a:gd name="connsiteX156" fmla="*/ 3893 w 10000"/>
              <a:gd name="connsiteY156" fmla="*/ 9986 h 10000"/>
              <a:gd name="connsiteX157" fmla="*/ 4069 w 10000"/>
              <a:gd name="connsiteY157" fmla="*/ 9974 h 10000"/>
              <a:gd name="connsiteX158" fmla="*/ 4242 w 10000"/>
              <a:gd name="connsiteY158" fmla="*/ 9956 h 10000"/>
              <a:gd name="connsiteX159" fmla="*/ 4415 w 10000"/>
              <a:gd name="connsiteY159" fmla="*/ 9938 h 10000"/>
              <a:gd name="connsiteX160" fmla="*/ 4591 w 10000"/>
              <a:gd name="connsiteY160" fmla="*/ 9912 h 10000"/>
              <a:gd name="connsiteX161" fmla="*/ 4766 w 10000"/>
              <a:gd name="connsiteY161" fmla="*/ 9888 h 10000"/>
              <a:gd name="connsiteX162" fmla="*/ 4766 w 10000"/>
              <a:gd name="connsiteY162" fmla="*/ 9888 h 10000"/>
              <a:gd name="connsiteX0" fmla="*/ 3761 w 8995"/>
              <a:gd name="connsiteY0" fmla="*/ 9888 h 10000"/>
              <a:gd name="connsiteX1" fmla="*/ 3761 w 8995"/>
              <a:gd name="connsiteY1" fmla="*/ 9888 h 10000"/>
              <a:gd name="connsiteX2" fmla="*/ 3926 w 8995"/>
              <a:gd name="connsiteY2" fmla="*/ 9856 h 10000"/>
              <a:gd name="connsiteX3" fmla="*/ 4091 w 8995"/>
              <a:gd name="connsiteY3" fmla="*/ 9826 h 10000"/>
              <a:gd name="connsiteX4" fmla="*/ 4253 w 8995"/>
              <a:gd name="connsiteY4" fmla="*/ 9792 h 10000"/>
              <a:gd name="connsiteX5" fmla="*/ 4416 w 8995"/>
              <a:gd name="connsiteY5" fmla="*/ 9754 h 10000"/>
              <a:gd name="connsiteX6" fmla="*/ 4573 w 8995"/>
              <a:gd name="connsiteY6" fmla="*/ 9712 h 10000"/>
              <a:gd name="connsiteX7" fmla="*/ 4732 w 8995"/>
              <a:gd name="connsiteY7" fmla="*/ 9670 h 10000"/>
              <a:gd name="connsiteX8" fmla="*/ 4886 w 8995"/>
              <a:gd name="connsiteY8" fmla="*/ 9622 h 10000"/>
              <a:gd name="connsiteX9" fmla="*/ 5040 w 8995"/>
              <a:gd name="connsiteY9" fmla="*/ 9574 h 10000"/>
              <a:gd name="connsiteX10" fmla="*/ 5189 w 8995"/>
              <a:gd name="connsiteY10" fmla="*/ 9524 h 10000"/>
              <a:gd name="connsiteX11" fmla="*/ 5336 w 8995"/>
              <a:gd name="connsiteY11" fmla="*/ 9468 h 10000"/>
              <a:gd name="connsiteX12" fmla="*/ 5484 w 8995"/>
              <a:gd name="connsiteY12" fmla="*/ 9412 h 10000"/>
              <a:gd name="connsiteX13" fmla="*/ 5626 w 8995"/>
              <a:gd name="connsiteY13" fmla="*/ 9352 h 10000"/>
              <a:gd name="connsiteX14" fmla="*/ 5766 w 8995"/>
              <a:gd name="connsiteY14" fmla="*/ 9290 h 10000"/>
              <a:gd name="connsiteX15" fmla="*/ 5907 w 8995"/>
              <a:gd name="connsiteY15" fmla="*/ 9224 h 10000"/>
              <a:gd name="connsiteX16" fmla="*/ 6043 w 8995"/>
              <a:gd name="connsiteY16" fmla="*/ 9160 h 10000"/>
              <a:gd name="connsiteX17" fmla="*/ 6176 w 8995"/>
              <a:gd name="connsiteY17" fmla="*/ 9090 h 10000"/>
              <a:gd name="connsiteX18" fmla="*/ 6307 w 8995"/>
              <a:gd name="connsiteY18" fmla="*/ 9018 h 10000"/>
              <a:gd name="connsiteX19" fmla="*/ 6433 w 8995"/>
              <a:gd name="connsiteY19" fmla="*/ 8944 h 10000"/>
              <a:gd name="connsiteX20" fmla="*/ 6559 w 8995"/>
              <a:gd name="connsiteY20" fmla="*/ 8868 h 10000"/>
              <a:gd name="connsiteX21" fmla="*/ 6684 w 8995"/>
              <a:gd name="connsiteY21" fmla="*/ 8792 h 10000"/>
              <a:gd name="connsiteX22" fmla="*/ 6804 w 8995"/>
              <a:gd name="connsiteY22" fmla="*/ 8712 h 10000"/>
              <a:gd name="connsiteX23" fmla="*/ 6923 w 8995"/>
              <a:gd name="connsiteY23" fmla="*/ 8628 h 10000"/>
              <a:gd name="connsiteX24" fmla="*/ 7037 w 8995"/>
              <a:gd name="connsiteY24" fmla="*/ 8544 h 10000"/>
              <a:gd name="connsiteX25" fmla="*/ 7147 w 8995"/>
              <a:gd name="connsiteY25" fmla="*/ 8458 h 10000"/>
              <a:gd name="connsiteX26" fmla="*/ 7258 w 8995"/>
              <a:gd name="connsiteY26" fmla="*/ 8370 h 10000"/>
              <a:gd name="connsiteX27" fmla="*/ 7365 w 8995"/>
              <a:gd name="connsiteY27" fmla="*/ 8282 h 10000"/>
              <a:gd name="connsiteX28" fmla="*/ 7466 w 8995"/>
              <a:gd name="connsiteY28" fmla="*/ 8190 h 10000"/>
              <a:gd name="connsiteX29" fmla="*/ 7567 w 8995"/>
              <a:gd name="connsiteY29" fmla="*/ 8098 h 10000"/>
              <a:gd name="connsiteX30" fmla="*/ 7665 w 8995"/>
              <a:gd name="connsiteY30" fmla="*/ 8002 h 10000"/>
              <a:gd name="connsiteX31" fmla="*/ 7758 w 8995"/>
              <a:gd name="connsiteY31" fmla="*/ 7906 h 10000"/>
              <a:gd name="connsiteX32" fmla="*/ 7848 w 8995"/>
              <a:gd name="connsiteY32" fmla="*/ 7806 h 10000"/>
              <a:gd name="connsiteX33" fmla="*/ 7937 w 8995"/>
              <a:gd name="connsiteY33" fmla="*/ 7706 h 10000"/>
              <a:gd name="connsiteX34" fmla="*/ 8022 w 8995"/>
              <a:gd name="connsiteY34" fmla="*/ 7604 h 10000"/>
              <a:gd name="connsiteX35" fmla="*/ 8104 w 8995"/>
              <a:gd name="connsiteY35" fmla="*/ 7500 h 10000"/>
              <a:gd name="connsiteX36" fmla="*/ 8181 w 8995"/>
              <a:gd name="connsiteY36" fmla="*/ 7398 h 10000"/>
              <a:gd name="connsiteX37" fmla="*/ 8256 w 8995"/>
              <a:gd name="connsiteY37" fmla="*/ 7292 h 10000"/>
              <a:gd name="connsiteX38" fmla="*/ 8328 w 8995"/>
              <a:gd name="connsiteY38" fmla="*/ 7182 h 10000"/>
              <a:gd name="connsiteX39" fmla="*/ 8396 w 8995"/>
              <a:gd name="connsiteY39" fmla="*/ 7074 h 10000"/>
              <a:gd name="connsiteX40" fmla="*/ 8461 w 8995"/>
              <a:gd name="connsiteY40" fmla="*/ 6964 h 10000"/>
              <a:gd name="connsiteX41" fmla="*/ 8522 w 8995"/>
              <a:gd name="connsiteY41" fmla="*/ 6854 h 10000"/>
              <a:gd name="connsiteX42" fmla="*/ 8580 w 8995"/>
              <a:gd name="connsiteY42" fmla="*/ 6740 h 10000"/>
              <a:gd name="connsiteX43" fmla="*/ 8633 w 8995"/>
              <a:gd name="connsiteY43" fmla="*/ 6626 h 10000"/>
              <a:gd name="connsiteX44" fmla="*/ 8684 w 8995"/>
              <a:gd name="connsiteY44" fmla="*/ 6512 h 10000"/>
              <a:gd name="connsiteX45" fmla="*/ 8729 w 8995"/>
              <a:gd name="connsiteY45" fmla="*/ 6396 h 10000"/>
              <a:gd name="connsiteX46" fmla="*/ 8775 w 8995"/>
              <a:gd name="connsiteY46" fmla="*/ 6280 h 10000"/>
              <a:gd name="connsiteX47" fmla="*/ 8814 w 8995"/>
              <a:gd name="connsiteY47" fmla="*/ 6164 h 10000"/>
              <a:gd name="connsiteX48" fmla="*/ 8852 w 8995"/>
              <a:gd name="connsiteY48" fmla="*/ 6044 h 10000"/>
              <a:gd name="connsiteX49" fmla="*/ 8881 w 8995"/>
              <a:gd name="connsiteY49" fmla="*/ 5926 h 10000"/>
              <a:gd name="connsiteX50" fmla="*/ 8908 w 8995"/>
              <a:gd name="connsiteY50" fmla="*/ 5804 h 10000"/>
              <a:gd name="connsiteX51" fmla="*/ 8934 w 8995"/>
              <a:gd name="connsiteY51" fmla="*/ 5684 h 10000"/>
              <a:gd name="connsiteX52" fmla="*/ 8955 w 8995"/>
              <a:gd name="connsiteY52" fmla="*/ 5562 h 10000"/>
              <a:gd name="connsiteX53" fmla="*/ 8971 w 8995"/>
              <a:gd name="connsiteY53" fmla="*/ 5440 h 10000"/>
              <a:gd name="connsiteX54" fmla="*/ 8981 w 8995"/>
              <a:gd name="connsiteY54" fmla="*/ 5316 h 10000"/>
              <a:gd name="connsiteX55" fmla="*/ 8992 w 8995"/>
              <a:gd name="connsiteY55" fmla="*/ 5196 h 10000"/>
              <a:gd name="connsiteX56" fmla="*/ 8995 w 8995"/>
              <a:gd name="connsiteY56" fmla="*/ 5072 h 10000"/>
              <a:gd name="connsiteX57" fmla="*/ 8995 w 8995"/>
              <a:gd name="connsiteY57" fmla="*/ 4948 h 10000"/>
              <a:gd name="connsiteX58" fmla="*/ 8992 w 8995"/>
              <a:gd name="connsiteY58" fmla="*/ 4822 h 10000"/>
              <a:gd name="connsiteX59" fmla="*/ 8981 w 8995"/>
              <a:gd name="connsiteY59" fmla="*/ 4698 h 10000"/>
              <a:gd name="connsiteX60" fmla="*/ 8971 w 8995"/>
              <a:gd name="connsiteY60" fmla="*/ 4572 h 10000"/>
              <a:gd name="connsiteX61" fmla="*/ 8955 w 8995"/>
              <a:gd name="connsiteY61" fmla="*/ 4444 h 10000"/>
              <a:gd name="connsiteX62" fmla="*/ 8932 w 8995"/>
              <a:gd name="connsiteY62" fmla="*/ 4318 h 10000"/>
              <a:gd name="connsiteX63" fmla="*/ 8908 w 8995"/>
              <a:gd name="connsiteY63" fmla="*/ 4192 h 10000"/>
              <a:gd name="connsiteX64" fmla="*/ 8878 w 8995"/>
              <a:gd name="connsiteY64" fmla="*/ 4066 h 10000"/>
              <a:gd name="connsiteX65" fmla="*/ 8843 w 8995"/>
              <a:gd name="connsiteY65" fmla="*/ 3940 h 10000"/>
              <a:gd name="connsiteX66" fmla="*/ 8843 w 8995"/>
              <a:gd name="connsiteY66" fmla="*/ 3940 h 10000"/>
              <a:gd name="connsiteX67" fmla="*/ 8804 w 8995"/>
              <a:gd name="connsiteY67" fmla="*/ 3816 h 10000"/>
              <a:gd name="connsiteX68" fmla="*/ 8761 w 8995"/>
              <a:gd name="connsiteY68" fmla="*/ 3692 h 10000"/>
              <a:gd name="connsiteX69" fmla="*/ 8715 w 8995"/>
              <a:gd name="connsiteY69" fmla="*/ 3568 h 10000"/>
              <a:gd name="connsiteX70" fmla="*/ 8665 w 8995"/>
              <a:gd name="connsiteY70" fmla="*/ 3446 h 10000"/>
              <a:gd name="connsiteX71" fmla="*/ 8612 w 8995"/>
              <a:gd name="connsiteY71" fmla="*/ 3328 h 10000"/>
              <a:gd name="connsiteX72" fmla="*/ 8551 w 8995"/>
              <a:gd name="connsiteY72" fmla="*/ 3208 h 10000"/>
              <a:gd name="connsiteX73" fmla="*/ 8493 w 8995"/>
              <a:gd name="connsiteY73" fmla="*/ 3092 h 10000"/>
              <a:gd name="connsiteX74" fmla="*/ 8428 w 8995"/>
              <a:gd name="connsiteY74" fmla="*/ 2976 h 10000"/>
              <a:gd name="connsiteX75" fmla="*/ 8357 w 8995"/>
              <a:gd name="connsiteY75" fmla="*/ 2864 h 10000"/>
              <a:gd name="connsiteX76" fmla="*/ 8288 w 8995"/>
              <a:gd name="connsiteY76" fmla="*/ 2754 h 10000"/>
              <a:gd name="connsiteX77" fmla="*/ 8210 w 8995"/>
              <a:gd name="connsiteY77" fmla="*/ 2642 h 10000"/>
              <a:gd name="connsiteX78" fmla="*/ 8131 w 8995"/>
              <a:gd name="connsiteY78" fmla="*/ 2536 h 10000"/>
              <a:gd name="connsiteX79" fmla="*/ 8048 w 8995"/>
              <a:gd name="connsiteY79" fmla="*/ 2430 h 10000"/>
              <a:gd name="connsiteX80" fmla="*/ 7963 w 8995"/>
              <a:gd name="connsiteY80" fmla="*/ 2324 h 10000"/>
              <a:gd name="connsiteX81" fmla="*/ 7875 w 8995"/>
              <a:gd name="connsiteY81" fmla="*/ 2222 h 10000"/>
              <a:gd name="connsiteX82" fmla="*/ 7782 w 8995"/>
              <a:gd name="connsiteY82" fmla="*/ 2122 h 10000"/>
              <a:gd name="connsiteX83" fmla="*/ 7689 w 8995"/>
              <a:gd name="connsiteY83" fmla="*/ 2024 h 10000"/>
              <a:gd name="connsiteX84" fmla="*/ 7590 w 8995"/>
              <a:gd name="connsiteY84" fmla="*/ 1928 h 10000"/>
              <a:gd name="connsiteX85" fmla="*/ 7490 w 8995"/>
              <a:gd name="connsiteY85" fmla="*/ 1834 h 10000"/>
              <a:gd name="connsiteX86" fmla="*/ 7386 w 8995"/>
              <a:gd name="connsiteY86" fmla="*/ 1740 h 10000"/>
              <a:gd name="connsiteX87" fmla="*/ 7283 w 8995"/>
              <a:gd name="connsiteY87" fmla="*/ 1648 h 10000"/>
              <a:gd name="connsiteX88" fmla="*/ 7170 w 8995"/>
              <a:gd name="connsiteY88" fmla="*/ 1560 h 10000"/>
              <a:gd name="connsiteX89" fmla="*/ 7059 w 8995"/>
              <a:gd name="connsiteY89" fmla="*/ 1474 h 10000"/>
              <a:gd name="connsiteX90" fmla="*/ 6945 w 8995"/>
              <a:gd name="connsiteY90" fmla="*/ 1392 h 10000"/>
              <a:gd name="connsiteX91" fmla="*/ 6827 w 8995"/>
              <a:gd name="connsiteY91" fmla="*/ 1308 h 10000"/>
              <a:gd name="connsiteX92" fmla="*/ 6711 w 8995"/>
              <a:gd name="connsiteY92" fmla="*/ 1226 h 10000"/>
              <a:gd name="connsiteX93" fmla="*/ 6585 w 8995"/>
              <a:gd name="connsiteY93" fmla="*/ 1150 h 10000"/>
              <a:gd name="connsiteX94" fmla="*/ 6464 w 8995"/>
              <a:gd name="connsiteY94" fmla="*/ 1076 h 10000"/>
              <a:gd name="connsiteX95" fmla="*/ 6338 w 8995"/>
              <a:gd name="connsiteY95" fmla="*/ 1002 h 10000"/>
              <a:gd name="connsiteX96" fmla="*/ 6208 w 8995"/>
              <a:gd name="connsiteY96" fmla="*/ 932 h 10000"/>
              <a:gd name="connsiteX97" fmla="*/ 6075 w 8995"/>
              <a:gd name="connsiteY97" fmla="*/ 862 h 10000"/>
              <a:gd name="connsiteX98" fmla="*/ 5945 w 8995"/>
              <a:gd name="connsiteY98" fmla="*/ 798 h 10000"/>
              <a:gd name="connsiteX99" fmla="*/ 5809 w 8995"/>
              <a:gd name="connsiteY99" fmla="*/ 734 h 10000"/>
              <a:gd name="connsiteX100" fmla="*/ 5673 w 8995"/>
              <a:gd name="connsiteY100" fmla="*/ 670 h 10000"/>
              <a:gd name="connsiteX101" fmla="*/ 5532 w 8995"/>
              <a:gd name="connsiteY101" fmla="*/ 612 h 10000"/>
              <a:gd name="connsiteX102" fmla="*/ 5389 w 8995"/>
              <a:gd name="connsiteY102" fmla="*/ 556 h 10000"/>
              <a:gd name="connsiteX103" fmla="*/ 5247 w 8995"/>
              <a:gd name="connsiteY103" fmla="*/ 504 h 10000"/>
              <a:gd name="connsiteX104" fmla="*/ 5104 w 8995"/>
              <a:gd name="connsiteY104" fmla="*/ 450 h 10000"/>
              <a:gd name="connsiteX105" fmla="*/ 4958 w 8995"/>
              <a:gd name="connsiteY105" fmla="*/ 402 h 10000"/>
              <a:gd name="connsiteX106" fmla="*/ 4812 w 8995"/>
              <a:gd name="connsiteY106" fmla="*/ 358 h 10000"/>
              <a:gd name="connsiteX107" fmla="*/ 4660 w 8995"/>
              <a:gd name="connsiteY107" fmla="*/ 314 h 10000"/>
              <a:gd name="connsiteX108" fmla="*/ 4508 w 8995"/>
              <a:gd name="connsiteY108" fmla="*/ 274 h 10000"/>
              <a:gd name="connsiteX109" fmla="*/ 4359 w 8995"/>
              <a:gd name="connsiteY109" fmla="*/ 236 h 10000"/>
              <a:gd name="connsiteX110" fmla="*/ 4202 w 8995"/>
              <a:gd name="connsiteY110" fmla="*/ 200 h 10000"/>
              <a:gd name="connsiteX111" fmla="*/ 4049 w 8995"/>
              <a:gd name="connsiteY111" fmla="*/ 168 h 10000"/>
              <a:gd name="connsiteX112" fmla="*/ 3894 w 8995"/>
              <a:gd name="connsiteY112" fmla="*/ 138 h 10000"/>
              <a:gd name="connsiteX113" fmla="*/ 3737 w 8995"/>
              <a:gd name="connsiteY113" fmla="*/ 110 h 10000"/>
              <a:gd name="connsiteX114" fmla="*/ 3578 w 8995"/>
              <a:gd name="connsiteY114" fmla="*/ 86 h 10000"/>
              <a:gd name="connsiteX115" fmla="*/ 3417 w 8995"/>
              <a:gd name="connsiteY115" fmla="*/ 66 h 10000"/>
              <a:gd name="connsiteX116" fmla="*/ 3255 w 8995"/>
              <a:gd name="connsiteY116" fmla="*/ 46 h 10000"/>
              <a:gd name="connsiteX117" fmla="*/ 3096 w 8995"/>
              <a:gd name="connsiteY117" fmla="*/ 32 h 10000"/>
              <a:gd name="connsiteX118" fmla="*/ 2934 w 8995"/>
              <a:gd name="connsiteY118" fmla="*/ 22 h 10000"/>
              <a:gd name="connsiteX119" fmla="*/ 2769 w 8995"/>
              <a:gd name="connsiteY119" fmla="*/ 10 h 10000"/>
              <a:gd name="connsiteX120" fmla="*/ 2605 w 8995"/>
              <a:gd name="connsiteY120" fmla="*/ 4 h 10000"/>
              <a:gd name="connsiteX121" fmla="*/ 2439 w 8995"/>
              <a:gd name="connsiteY121" fmla="*/ 0 h 10000"/>
              <a:gd name="connsiteX122" fmla="*/ 2274 w 8995"/>
              <a:gd name="connsiteY122" fmla="*/ 0 h 10000"/>
              <a:gd name="connsiteX123" fmla="*/ 2110 w 8995"/>
              <a:gd name="connsiteY123" fmla="*/ 4 h 10000"/>
              <a:gd name="connsiteX124" fmla="*/ 1942 w 8995"/>
              <a:gd name="connsiteY124" fmla="*/ 10 h 10000"/>
              <a:gd name="connsiteX125" fmla="*/ 1777 w 8995"/>
              <a:gd name="connsiteY125" fmla="*/ 22 h 10000"/>
              <a:gd name="connsiteX126" fmla="*/ 1610 w 8995"/>
              <a:gd name="connsiteY126" fmla="*/ 34 h 10000"/>
              <a:gd name="connsiteX127" fmla="*/ 1442 w 8995"/>
              <a:gd name="connsiteY127" fmla="*/ 48 h 10000"/>
              <a:gd name="connsiteX128" fmla="*/ 1275 w 8995"/>
              <a:gd name="connsiteY128" fmla="*/ 66 h 10000"/>
              <a:gd name="connsiteX129" fmla="*/ 1106 w 8995"/>
              <a:gd name="connsiteY129" fmla="*/ 90 h 10000"/>
              <a:gd name="connsiteX130" fmla="*/ 937 w 8995"/>
              <a:gd name="connsiteY130" fmla="*/ 114 h 10000"/>
              <a:gd name="connsiteX131" fmla="*/ 937 w 8995"/>
              <a:gd name="connsiteY131" fmla="*/ 114 h 10000"/>
              <a:gd name="connsiteX132" fmla="*/ 777 w 8995"/>
              <a:gd name="connsiteY132" fmla="*/ 142 h 10000"/>
              <a:gd name="connsiteX133" fmla="*/ 618 w 8995"/>
              <a:gd name="connsiteY133" fmla="*/ 176 h 10000"/>
              <a:gd name="connsiteX134" fmla="*/ 461 w 8995"/>
              <a:gd name="connsiteY134" fmla="*/ 208 h 10000"/>
              <a:gd name="connsiteX135" fmla="*/ 306 w 8995"/>
              <a:gd name="connsiteY135" fmla="*/ 244 h 10000"/>
              <a:gd name="connsiteX136" fmla="*/ 152 w 8995"/>
              <a:gd name="connsiteY136" fmla="*/ 282 h 10000"/>
              <a:gd name="connsiteX137" fmla="*/ 0 w 8995"/>
              <a:gd name="connsiteY137" fmla="*/ 324 h 10000"/>
              <a:gd name="connsiteX138" fmla="*/ 67 w 8995"/>
              <a:gd name="connsiteY138" fmla="*/ 9698 h 10000"/>
              <a:gd name="connsiteX139" fmla="*/ 222 w 8995"/>
              <a:gd name="connsiteY139" fmla="*/ 9738 h 10000"/>
              <a:gd name="connsiteX140" fmla="*/ 381 w 8995"/>
              <a:gd name="connsiteY140" fmla="*/ 9778 h 10000"/>
              <a:gd name="connsiteX141" fmla="*/ 540 w 8995"/>
              <a:gd name="connsiteY141" fmla="*/ 9814 h 10000"/>
              <a:gd name="connsiteX142" fmla="*/ 703 w 8995"/>
              <a:gd name="connsiteY142" fmla="*/ 9846 h 10000"/>
              <a:gd name="connsiteX143" fmla="*/ 865 w 8995"/>
              <a:gd name="connsiteY143" fmla="*/ 9874 h 10000"/>
              <a:gd name="connsiteX144" fmla="*/ 1027 w 8995"/>
              <a:gd name="connsiteY144" fmla="*/ 9902 h 10000"/>
              <a:gd name="connsiteX145" fmla="*/ 1192 w 8995"/>
              <a:gd name="connsiteY145" fmla="*/ 9926 h 10000"/>
              <a:gd name="connsiteX146" fmla="*/ 1357 w 8995"/>
              <a:gd name="connsiteY146" fmla="*/ 9946 h 10000"/>
              <a:gd name="connsiteX147" fmla="*/ 1524 w 8995"/>
              <a:gd name="connsiteY147" fmla="*/ 9962 h 10000"/>
              <a:gd name="connsiteX148" fmla="*/ 1695 w 8995"/>
              <a:gd name="connsiteY148" fmla="*/ 9978 h 10000"/>
              <a:gd name="connsiteX149" fmla="*/ 1862 w 8995"/>
              <a:gd name="connsiteY149" fmla="*/ 9988 h 10000"/>
              <a:gd name="connsiteX150" fmla="*/ 2033 w 8995"/>
              <a:gd name="connsiteY150" fmla="*/ 9996 h 10000"/>
              <a:gd name="connsiteX151" fmla="*/ 2200 w 8995"/>
              <a:gd name="connsiteY151" fmla="*/ 10000 h 10000"/>
              <a:gd name="connsiteX152" fmla="*/ 2373 w 8995"/>
              <a:gd name="connsiteY152" fmla="*/ 10000 h 10000"/>
              <a:gd name="connsiteX153" fmla="*/ 2543 w 8995"/>
              <a:gd name="connsiteY153" fmla="*/ 9998 h 10000"/>
              <a:gd name="connsiteX154" fmla="*/ 2719 w 8995"/>
              <a:gd name="connsiteY154" fmla="*/ 9994 h 10000"/>
              <a:gd name="connsiteX155" fmla="*/ 2888 w 8995"/>
              <a:gd name="connsiteY155" fmla="*/ 9986 h 10000"/>
              <a:gd name="connsiteX156" fmla="*/ 3064 w 8995"/>
              <a:gd name="connsiteY156" fmla="*/ 9974 h 10000"/>
              <a:gd name="connsiteX157" fmla="*/ 3237 w 8995"/>
              <a:gd name="connsiteY157" fmla="*/ 9956 h 10000"/>
              <a:gd name="connsiteX158" fmla="*/ 3410 w 8995"/>
              <a:gd name="connsiteY158" fmla="*/ 9938 h 10000"/>
              <a:gd name="connsiteX159" fmla="*/ 3586 w 8995"/>
              <a:gd name="connsiteY159" fmla="*/ 9912 h 10000"/>
              <a:gd name="connsiteX160" fmla="*/ 3761 w 8995"/>
              <a:gd name="connsiteY160" fmla="*/ 9888 h 10000"/>
              <a:gd name="connsiteX161" fmla="*/ 3761 w 8995"/>
              <a:gd name="connsiteY161" fmla="*/ 988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995" h="10000">
                <a:moveTo>
                  <a:pt x="3761" y="9888"/>
                </a:moveTo>
                <a:lnTo>
                  <a:pt x="3761" y="9888"/>
                </a:lnTo>
                <a:lnTo>
                  <a:pt x="3926" y="9856"/>
                </a:lnTo>
                <a:lnTo>
                  <a:pt x="4091" y="9826"/>
                </a:lnTo>
                <a:lnTo>
                  <a:pt x="4253" y="9792"/>
                </a:lnTo>
                <a:lnTo>
                  <a:pt x="4416" y="9754"/>
                </a:lnTo>
                <a:lnTo>
                  <a:pt x="4573" y="9712"/>
                </a:lnTo>
                <a:lnTo>
                  <a:pt x="4732" y="9670"/>
                </a:lnTo>
                <a:lnTo>
                  <a:pt x="4886" y="9622"/>
                </a:lnTo>
                <a:lnTo>
                  <a:pt x="5040" y="9574"/>
                </a:lnTo>
                <a:lnTo>
                  <a:pt x="5189" y="9524"/>
                </a:lnTo>
                <a:lnTo>
                  <a:pt x="5336" y="9468"/>
                </a:lnTo>
                <a:lnTo>
                  <a:pt x="5484" y="9412"/>
                </a:lnTo>
                <a:lnTo>
                  <a:pt x="5626" y="9352"/>
                </a:lnTo>
                <a:lnTo>
                  <a:pt x="5766" y="9290"/>
                </a:lnTo>
                <a:lnTo>
                  <a:pt x="5907" y="9224"/>
                </a:lnTo>
                <a:lnTo>
                  <a:pt x="6043" y="9160"/>
                </a:lnTo>
                <a:lnTo>
                  <a:pt x="6176" y="9090"/>
                </a:lnTo>
                <a:lnTo>
                  <a:pt x="6307" y="9018"/>
                </a:lnTo>
                <a:lnTo>
                  <a:pt x="6433" y="8944"/>
                </a:lnTo>
                <a:lnTo>
                  <a:pt x="6559" y="8868"/>
                </a:lnTo>
                <a:cubicBezTo>
                  <a:pt x="6601" y="8843"/>
                  <a:pt x="6642" y="8817"/>
                  <a:pt x="6684" y="8792"/>
                </a:cubicBezTo>
                <a:cubicBezTo>
                  <a:pt x="6723" y="8765"/>
                  <a:pt x="6764" y="8739"/>
                  <a:pt x="6804" y="8712"/>
                </a:cubicBezTo>
                <a:lnTo>
                  <a:pt x="6923" y="8628"/>
                </a:lnTo>
                <a:lnTo>
                  <a:pt x="7037" y="8544"/>
                </a:lnTo>
                <a:lnTo>
                  <a:pt x="7147" y="8458"/>
                </a:lnTo>
                <a:cubicBezTo>
                  <a:pt x="7184" y="8429"/>
                  <a:pt x="7220" y="8399"/>
                  <a:pt x="7258" y="8370"/>
                </a:cubicBezTo>
                <a:cubicBezTo>
                  <a:pt x="7294" y="8341"/>
                  <a:pt x="7329" y="8311"/>
                  <a:pt x="7365" y="8282"/>
                </a:cubicBezTo>
                <a:cubicBezTo>
                  <a:pt x="7398" y="8251"/>
                  <a:pt x="7432" y="8221"/>
                  <a:pt x="7466" y="8190"/>
                </a:cubicBezTo>
                <a:cubicBezTo>
                  <a:pt x="7499" y="8159"/>
                  <a:pt x="7533" y="8129"/>
                  <a:pt x="7567" y="8098"/>
                </a:cubicBezTo>
                <a:lnTo>
                  <a:pt x="7665" y="8002"/>
                </a:lnTo>
                <a:cubicBezTo>
                  <a:pt x="7697" y="7970"/>
                  <a:pt x="7727" y="7938"/>
                  <a:pt x="7758" y="7906"/>
                </a:cubicBezTo>
                <a:cubicBezTo>
                  <a:pt x="7788" y="7873"/>
                  <a:pt x="7818" y="7839"/>
                  <a:pt x="7848" y="7806"/>
                </a:cubicBezTo>
                <a:cubicBezTo>
                  <a:pt x="7878" y="7773"/>
                  <a:pt x="7907" y="7739"/>
                  <a:pt x="7937" y="7706"/>
                </a:cubicBezTo>
                <a:cubicBezTo>
                  <a:pt x="7965" y="7672"/>
                  <a:pt x="7994" y="7638"/>
                  <a:pt x="8022" y="7604"/>
                </a:cubicBezTo>
                <a:cubicBezTo>
                  <a:pt x="8049" y="7569"/>
                  <a:pt x="8077" y="7535"/>
                  <a:pt x="8104" y="7500"/>
                </a:cubicBezTo>
                <a:cubicBezTo>
                  <a:pt x="8130" y="7466"/>
                  <a:pt x="8155" y="7432"/>
                  <a:pt x="8181" y="7398"/>
                </a:cubicBezTo>
                <a:cubicBezTo>
                  <a:pt x="8206" y="7363"/>
                  <a:pt x="8231" y="7327"/>
                  <a:pt x="8256" y="7292"/>
                </a:cubicBezTo>
                <a:cubicBezTo>
                  <a:pt x="8280" y="7255"/>
                  <a:pt x="8304" y="7219"/>
                  <a:pt x="8328" y="7182"/>
                </a:cubicBezTo>
                <a:cubicBezTo>
                  <a:pt x="8351" y="7146"/>
                  <a:pt x="8373" y="7110"/>
                  <a:pt x="8396" y="7074"/>
                </a:cubicBezTo>
                <a:cubicBezTo>
                  <a:pt x="8418" y="7037"/>
                  <a:pt x="8439" y="7001"/>
                  <a:pt x="8461" y="6964"/>
                </a:cubicBezTo>
                <a:cubicBezTo>
                  <a:pt x="8481" y="6927"/>
                  <a:pt x="8501" y="6891"/>
                  <a:pt x="8522" y="6854"/>
                </a:cubicBezTo>
                <a:cubicBezTo>
                  <a:pt x="8542" y="6816"/>
                  <a:pt x="8560" y="6778"/>
                  <a:pt x="8580" y="6740"/>
                </a:cubicBezTo>
                <a:cubicBezTo>
                  <a:pt x="8598" y="6702"/>
                  <a:pt x="8615" y="6664"/>
                  <a:pt x="8633" y="6626"/>
                </a:cubicBezTo>
                <a:cubicBezTo>
                  <a:pt x="8650" y="6588"/>
                  <a:pt x="8668" y="6550"/>
                  <a:pt x="8684" y="6512"/>
                </a:cubicBezTo>
                <a:cubicBezTo>
                  <a:pt x="8699" y="6473"/>
                  <a:pt x="8714" y="6435"/>
                  <a:pt x="8729" y="6396"/>
                </a:cubicBezTo>
                <a:cubicBezTo>
                  <a:pt x="8744" y="6357"/>
                  <a:pt x="8759" y="6319"/>
                  <a:pt x="8775" y="6280"/>
                </a:cubicBezTo>
                <a:cubicBezTo>
                  <a:pt x="8788" y="6241"/>
                  <a:pt x="8801" y="6203"/>
                  <a:pt x="8814" y="6164"/>
                </a:cubicBezTo>
                <a:cubicBezTo>
                  <a:pt x="8827" y="6124"/>
                  <a:pt x="8839" y="6084"/>
                  <a:pt x="8852" y="6044"/>
                </a:cubicBezTo>
                <a:cubicBezTo>
                  <a:pt x="8861" y="6005"/>
                  <a:pt x="8871" y="5965"/>
                  <a:pt x="8881" y="5926"/>
                </a:cubicBezTo>
                <a:cubicBezTo>
                  <a:pt x="8890" y="5885"/>
                  <a:pt x="8898" y="5845"/>
                  <a:pt x="8908" y="5804"/>
                </a:cubicBezTo>
                <a:cubicBezTo>
                  <a:pt x="8916" y="5764"/>
                  <a:pt x="8925" y="5724"/>
                  <a:pt x="8934" y="5684"/>
                </a:cubicBezTo>
                <a:cubicBezTo>
                  <a:pt x="8941" y="5643"/>
                  <a:pt x="8948" y="5603"/>
                  <a:pt x="8955" y="5562"/>
                </a:cubicBezTo>
                <a:cubicBezTo>
                  <a:pt x="8961" y="5521"/>
                  <a:pt x="8966" y="5481"/>
                  <a:pt x="8971" y="5440"/>
                </a:cubicBezTo>
                <a:cubicBezTo>
                  <a:pt x="8974" y="5399"/>
                  <a:pt x="8978" y="5357"/>
                  <a:pt x="8981" y="5316"/>
                </a:cubicBezTo>
                <a:cubicBezTo>
                  <a:pt x="8985" y="5276"/>
                  <a:pt x="8989" y="5236"/>
                  <a:pt x="8992" y="5196"/>
                </a:cubicBezTo>
                <a:cubicBezTo>
                  <a:pt x="8993" y="5155"/>
                  <a:pt x="8994" y="5113"/>
                  <a:pt x="8995" y="5072"/>
                </a:cubicBezTo>
                <a:lnTo>
                  <a:pt x="8995" y="4948"/>
                </a:lnTo>
                <a:lnTo>
                  <a:pt x="8992" y="4822"/>
                </a:lnTo>
                <a:cubicBezTo>
                  <a:pt x="8989" y="4781"/>
                  <a:pt x="8985" y="4739"/>
                  <a:pt x="8981" y="4698"/>
                </a:cubicBezTo>
                <a:cubicBezTo>
                  <a:pt x="8978" y="4656"/>
                  <a:pt x="8974" y="4614"/>
                  <a:pt x="8971" y="4572"/>
                </a:cubicBezTo>
                <a:cubicBezTo>
                  <a:pt x="8966" y="4529"/>
                  <a:pt x="8961" y="4487"/>
                  <a:pt x="8955" y="4444"/>
                </a:cubicBezTo>
                <a:cubicBezTo>
                  <a:pt x="8947" y="4402"/>
                  <a:pt x="8940" y="4360"/>
                  <a:pt x="8932" y="4318"/>
                </a:cubicBezTo>
                <a:cubicBezTo>
                  <a:pt x="8923" y="4276"/>
                  <a:pt x="8916" y="4234"/>
                  <a:pt x="8908" y="4192"/>
                </a:cubicBezTo>
                <a:cubicBezTo>
                  <a:pt x="8897" y="4150"/>
                  <a:pt x="8888" y="4108"/>
                  <a:pt x="8878" y="4066"/>
                </a:cubicBezTo>
                <a:cubicBezTo>
                  <a:pt x="8866" y="4024"/>
                  <a:pt x="8855" y="3982"/>
                  <a:pt x="8843" y="3940"/>
                </a:cubicBezTo>
                <a:lnTo>
                  <a:pt x="8843" y="3940"/>
                </a:lnTo>
                <a:cubicBezTo>
                  <a:pt x="8830" y="3899"/>
                  <a:pt x="8817" y="3857"/>
                  <a:pt x="8804" y="3816"/>
                </a:cubicBezTo>
                <a:cubicBezTo>
                  <a:pt x="8789" y="3775"/>
                  <a:pt x="8776" y="3733"/>
                  <a:pt x="8761" y="3692"/>
                </a:cubicBezTo>
                <a:cubicBezTo>
                  <a:pt x="8745" y="3651"/>
                  <a:pt x="8731" y="3609"/>
                  <a:pt x="8715" y="3568"/>
                </a:cubicBezTo>
                <a:cubicBezTo>
                  <a:pt x="8699" y="3527"/>
                  <a:pt x="8682" y="3487"/>
                  <a:pt x="8665" y="3446"/>
                </a:cubicBezTo>
                <a:cubicBezTo>
                  <a:pt x="8648" y="3407"/>
                  <a:pt x="8630" y="3367"/>
                  <a:pt x="8612" y="3328"/>
                </a:cubicBezTo>
                <a:cubicBezTo>
                  <a:pt x="8592" y="3288"/>
                  <a:pt x="8572" y="3248"/>
                  <a:pt x="8551" y="3208"/>
                </a:cubicBezTo>
                <a:cubicBezTo>
                  <a:pt x="8531" y="3169"/>
                  <a:pt x="8513" y="3131"/>
                  <a:pt x="8493" y="3092"/>
                </a:cubicBezTo>
                <a:cubicBezTo>
                  <a:pt x="8471" y="3053"/>
                  <a:pt x="8450" y="3015"/>
                  <a:pt x="8428" y="2976"/>
                </a:cubicBezTo>
                <a:cubicBezTo>
                  <a:pt x="8405" y="2939"/>
                  <a:pt x="8381" y="2901"/>
                  <a:pt x="8357" y="2864"/>
                </a:cubicBezTo>
                <a:cubicBezTo>
                  <a:pt x="8334" y="2827"/>
                  <a:pt x="8311" y="2791"/>
                  <a:pt x="8288" y="2754"/>
                </a:cubicBezTo>
                <a:cubicBezTo>
                  <a:pt x="8262" y="2717"/>
                  <a:pt x="8236" y="2679"/>
                  <a:pt x="8210" y="2642"/>
                </a:cubicBezTo>
                <a:lnTo>
                  <a:pt x="8131" y="2536"/>
                </a:lnTo>
                <a:cubicBezTo>
                  <a:pt x="8103" y="2501"/>
                  <a:pt x="8076" y="2465"/>
                  <a:pt x="8048" y="2430"/>
                </a:cubicBezTo>
                <a:lnTo>
                  <a:pt x="7963" y="2324"/>
                </a:lnTo>
                <a:cubicBezTo>
                  <a:pt x="7934" y="2290"/>
                  <a:pt x="7904" y="2256"/>
                  <a:pt x="7875" y="2222"/>
                </a:cubicBezTo>
                <a:cubicBezTo>
                  <a:pt x="7844" y="2189"/>
                  <a:pt x="7813" y="2155"/>
                  <a:pt x="7782" y="2122"/>
                </a:cubicBezTo>
                <a:cubicBezTo>
                  <a:pt x="7751" y="2089"/>
                  <a:pt x="7720" y="2057"/>
                  <a:pt x="7689" y="2024"/>
                </a:cubicBezTo>
                <a:cubicBezTo>
                  <a:pt x="7656" y="1992"/>
                  <a:pt x="7624" y="1960"/>
                  <a:pt x="7590" y="1928"/>
                </a:cubicBezTo>
                <a:lnTo>
                  <a:pt x="7490" y="1834"/>
                </a:lnTo>
                <a:cubicBezTo>
                  <a:pt x="7455" y="1803"/>
                  <a:pt x="7421" y="1771"/>
                  <a:pt x="7386" y="1740"/>
                </a:cubicBezTo>
                <a:cubicBezTo>
                  <a:pt x="7352" y="1709"/>
                  <a:pt x="7317" y="1679"/>
                  <a:pt x="7283" y="1648"/>
                </a:cubicBezTo>
                <a:cubicBezTo>
                  <a:pt x="7245" y="1619"/>
                  <a:pt x="7208" y="1589"/>
                  <a:pt x="7170" y="1560"/>
                </a:cubicBezTo>
                <a:lnTo>
                  <a:pt x="7059" y="1474"/>
                </a:lnTo>
                <a:lnTo>
                  <a:pt x="6945" y="1392"/>
                </a:lnTo>
                <a:lnTo>
                  <a:pt x="6827" y="1308"/>
                </a:lnTo>
                <a:cubicBezTo>
                  <a:pt x="6788" y="1281"/>
                  <a:pt x="6750" y="1253"/>
                  <a:pt x="6711" y="1226"/>
                </a:cubicBezTo>
                <a:lnTo>
                  <a:pt x="6585" y="1150"/>
                </a:lnTo>
                <a:cubicBezTo>
                  <a:pt x="6545" y="1125"/>
                  <a:pt x="6504" y="1101"/>
                  <a:pt x="6464" y="1076"/>
                </a:cubicBezTo>
                <a:cubicBezTo>
                  <a:pt x="6422" y="1051"/>
                  <a:pt x="6379" y="1027"/>
                  <a:pt x="6338" y="1002"/>
                </a:cubicBezTo>
                <a:cubicBezTo>
                  <a:pt x="6294" y="979"/>
                  <a:pt x="6251" y="955"/>
                  <a:pt x="6208" y="932"/>
                </a:cubicBezTo>
                <a:cubicBezTo>
                  <a:pt x="6163" y="909"/>
                  <a:pt x="6119" y="885"/>
                  <a:pt x="6075" y="862"/>
                </a:cubicBezTo>
                <a:cubicBezTo>
                  <a:pt x="6031" y="841"/>
                  <a:pt x="5988" y="819"/>
                  <a:pt x="5945" y="798"/>
                </a:cubicBezTo>
                <a:cubicBezTo>
                  <a:pt x="5899" y="777"/>
                  <a:pt x="5854" y="755"/>
                  <a:pt x="5809" y="734"/>
                </a:cubicBezTo>
                <a:lnTo>
                  <a:pt x="5673" y="670"/>
                </a:lnTo>
                <a:lnTo>
                  <a:pt x="5532" y="612"/>
                </a:lnTo>
                <a:lnTo>
                  <a:pt x="5389" y="556"/>
                </a:lnTo>
                <a:lnTo>
                  <a:pt x="5247" y="504"/>
                </a:lnTo>
                <a:lnTo>
                  <a:pt x="5104" y="450"/>
                </a:lnTo>
                <a:lnTo>
                  <a:pt x="4958" y="402"/>
                </a:lnTo>
                <a:lnTo>
                  <a:pt x="4812" y="358"/>
                </a:lnTo>
                <a:lnTo>
                  <a:pt x="4660" y="314"/>
                </a:lnTo>
                <a:lnTo>
                  <a:pt x="4508" y="274"/>
                </a:lnTo>
                <a:lnTo>
                  <a:pt x="4359" y="236"/>
                </a:lnTo>
                <a:lnTo>
                  <a:pt x="4202" y="200"/>
                </a:lnTo>
                <a:lnTo>
                  <a:pt x="4049" y="168"/>
                </a:lnTo>
                <a:lnTo>
                  <a:pt x="3894" y="138"/>
                </a:lnTo>
                <a:lnTo>
                  <a:pt x="3737" y="110"/>
                </a:lnTo>
                <a:lnTo>
                  <a:pt x="3578" y="86"/>
                </a:lnTo>
                <a:lnTo>
                  <a:pt x="3417" y="66"/>
                </a:lnTo>
                <a:lnTo>
                  <a:pt x="3255" y="46"/>
                </a:lnTo>
                <a:lnTo>
                  <a:pt x="3096" y="32"/>
                </a:lnTo>
                <a:lnTo>
                  <a:pt x="2934" y="22"/>
                </a:lnTo>
                <a:lnTo>
                  <a:pt x="2769" y="10"/>
                </a:lnTo>
                <a:lnTo>
                  <a:pt x="2605" y="4"/>
                </a:lnTo>
                <a:lnTo>
                  <a:pt x="2439" y="0"/>
                </a:lnTo>
                <a:lnTo>
                  <a:pt x="2274" y="0"/>
                </a:lnTo>
                <a:lnTo>
                  <a:pt x="2110" y="4"/>
                </a:lnTo>
                <a:lnTo>
                  <a:pt x="1942" y="10"/>
                </a:lnTo>
                <a:lnTo>
                  <a:pt x="1777" y="22"/>
                </a:lnTo>
                <a:lnTo>
                  <a:pt x="1610" y="34"/>
                </a:lnTo>
                <a:lnTo>
                  <a:pt x="1442" y="48"/>
                </a:lnTo>
                <a:lnTo>
                  <a:pt x="1275" y="66"/>
                </a:lnTo>
                <a:lnTo>
                  <a:pt x="1106" y="90"/>
                </a:lnTo>
                <a:lnTo>
                  <a:pt x="937" y="114"/>
                </a:lnTo>
                <a:lnTo>
                  <a:pt x="937" y="114"/>
                </a:lnTo>
                <a:lnTo>
                  <a:pt x="777" y="142"/>
                </a:lnTo>
                <a:lnTo>
                  <a:pt x="618" y="176"/>
                </a:lnTo>
                <a:lnTo>
                  <a:pt x="461" y="208"/>
                </a:lnTo>
                <a:lnTo>
                  <a:pt x="306" y="244"/>
                </a:lnTo>
                <a:lnTo>
                  <a:pt x="152" y="282"/>
                </a:lnTo>
                <a:lnTo>
                  <a:pt x="0" y="324"/>
                </a:lnTo>
                <a:cubicBezTo>
                  <a:pt x="22" y="3449"/>
                  <a:pt x="45" y="6573"/>
                  <a:pt x="67" y="9698"/>
                </a:cubicBezTo>
                <a:lnTo>
                  <a:pt x="222" y="9738"/>
                </a:lnTo>
                <a:lnTo>
                  <a:pt x="381" y="9778"/>
                </a:lnTo>
                <a:lnTo>
                  <a:pt x="540" y="9814"/>
                </a:lnTo>
                <a:lnTo>
                  <a:pt x="703" y="9846"/>
                </a:lnTo>
                <a:lnTo>
                  <a:pt x="865" y="9874"/>
                </a:lnTo>
                <a:lnTo>
                  <a:pt x="1027" y="9902"/>
                </a:lnTo>
                <a:lnTo>
                  <a:pt x="1192" y="9926"/>
                </a:lnTo>
                <a:lnTo>
                  <a:pt x="1357" y="9946"/>
                </a:lnTo>
                <a:lnTo>
                  <a:pt x="1524" y="9962"/>
                </a:lnTo>
                <a:lnTo>
                  <a:pt x="1695" y="9978"/>
                </a:lnTo>
                <a:lnTo>
                  <a:pt x="1862" y="9988"/>
                </a:lnTo>
                <a:lnTo>
                  <a:pt x="2033" y="9996"/>
                </a:lnTo>
                <a:lnTo>
                  <a:pt x="2200" y="10000"/>
                </a:lnTo>
                <a:lnTo>
                  <a:pt x="2373" y="10000"/>
                </a:lnTo>
                <a:lnTo>
                  <a:pt x="2543" y="9998"/>
                </a:lnTo>
                <a:lnTo>
                  <a:pt x="2719" y="9994"/>
                </a:lnTo>
                <a:lnTo>
                  <a:pt x="2888" y="9986"/>
                </a:lnTo>
                <a:lnTo>
                  <a:pt x="3064" y="9974"/>
                </a:lnTo>
                <a:lnTo>
                  <a:pt x="3237" y="9956"/>
                </a:lnTo>
                <a:lnTo>
                  <a:pt x="3410" y="9938"/>
                </a:lnTo>
                <a:lnTo>
                  <a:pt x="3586" y="9912"/>
                </a:lnTo>
                <a:lnTo>
                  <a:pt x="3761" y="9888"/>
                </a:lnTo>
                <a:lnTo>
                  <a:pt x="3761" y="9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34" name="AutoShape 3"/>
          <p:cNvSpPr>
            <a:spLocks noChangeAspect="1" noChangeArrowheads="1" noTextEdit="1"/>
          </p:cNvSpPr>
          <p:nvPr/>
        </p:nvSpPr>
        <p:spPr bwMode="auto">
          <a:xfrm>
            <a:off x="624883" y="1594077"/>
            <a:ext cx="4229554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35" name="Freeform 24"/>
          <p:cNvSpPr>
            <a:spLocks/>
          </p:cNvSpPr>
          <p:nvPr/>
        </p:nvSpPr>
        <p:spPr bwMode="auto">
          <a:xfrm>
            <a:off x="985902" y="2174755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7" name="Freeform 24"/>
          <p:cNvSpPr>
            <a:spLocks/>
          </p:cNvSpPr>
          <p:nvPr/>
        </p:nvSpPr>
        <p:spPr bwMode="auto">
          <a:xfrm flipV="1">
            <a:off x="1085778" y="4308261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 rot="2592155">
            <a:off x="1424188" y="3278439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rgbClr val="62B5E5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74419" y="1419742"/>
            <a:ext cx="9314198" cy="1200601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Testing Labs at Ports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To reduce dependency on the inspection certificates provided by exporters, testing labs can be set up at all major ports where bulk quantitates of steel and steel products are imported</a:t>
            </a:r>
          </a:p>
        </p:txBody>
      </p:sp>
      <p:sp>
        <p:nvSpPr>
          <p:cNvPr id="45" name="Oval 44"/>
          <p:cNvSpPr/>
          <p:nvPr/>
        </p:nvSpPr>
        <p:spPr>
          <a:xfrm>
            <a:off x="543611" y="3405421"/>
            <a:ext cx="1537487" cy="1232452"/>
          </a:xfrm>
          <a:prstGeom prst="ellipse">
            <a:avLst/>
          </a:prstGeom>
          <a:gradFill flip="none" rotWithShape="1">
            <a:gsLst>
              <a:gs pos="0">
                <a:srgbClr val="575757">
                  <a:tint val="66000"/>
                  <a:satMod val="160000"/>
                </a:srgbClr>
              </a:gs>
              <a:gs pos="50000">
                <a:srgbClr val="575757">
                  <a:tint val="44500"/>
                  <a:satMod val="160000"/>
                </a:srgbClr>
              </a:gs>
              <a:gs pos="100000">
                <a:srgbClr val="575757">
                  <a:tint val="23500"/>
                  <a:satMod val="160000"/>
                </a:srgbClr>
              </a:gs>
            </a:gsLst>
            <a:lin ang="0" scaled="1"/>
            <a:tileRect/>
          </a:gradFill>
          <a:ln w="127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23715" y="3549793"/>
            <a:ext cx="1177281" cy="943710"/>
          </a:xfrm>
          <a:prstGeom prst="ellipse">
            <a:avLst/>
          </a:prstGeom>
          <a:gradFill flip="none" rotWithShape="1">
            <a:gsLst>
              <a:gs pos="0">
                <a:srgbClr val="575757">
                  <a:shade val="30000"/>
                  <a:satMod val="115000"/>
                </a:srgbClr>
              </a:gs>
              <a:gs pos="50000">
                <a:srgbClr val="575757">
                  <a:shade val="67500"/>
                  <a:satMod val="115000"/>
                </a:srgbClr>
              </a:gs>
              <a:gs pos="100000">
                <a:srgbClr val="575757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rot="16200000">
            <a:off x="5049844" y="4036488"/>
            <a:ext cx="72395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620635" y="1861243"/>
            <a:ext cx="71433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79128" y="227744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7203" y="319867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7763" y="3867485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6470" y="5256214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3</a:t>
            </a:r>
          </a:p>
        </p:txBody>
      </p:sp>
      <p:sp>
        <p:nvSpPr>
          <p:cNvPr id="57" name="Freeform 217"/>
          <p:cNvSpPr>
            <a:spLocks noEditPoints="1"/>
          </p:cNvSpPr>
          <p:nvPr/>
        </p:nvSpPr>
        <p:spPr bwMode="auto">
          <a:xfrm rot="16200000">
            <a:off x="3280111" y="1674834"/>
            <a:ext cx="613052" cy="350262"/>
          </a:xfrm>
          <a:custGeom>
            <a:avLst/>
            <a:gdLst>
              <a:gd name="T0" fmla="*/ 430 w 470"/>
              <a:gd name="T1" fmla="*/ 70 h 212"/>
              <a:gd name="T2" fmla="*/ 204 w 470"/>
              <a:gd name="T3" fmla="*/ 70 h 212"/>
              <a:gd name="T4" fmla="*/ 188 w 470"/>
              <a:gd name="T5" fmla="*/ 40 h 212"/>
              <a:gd name="T6" fmla="*/ 180 w 470"/>
              <a:gd name="T7" fmla="*/ 32 h 212"/>
              <a:gd name="T8" fmla="*/ 144 w 470"/>
              <a:gd name="T9" fmla="*/ 8 h 212"/>
              <a:gd name="T10" fmla="*/ 106 w 470"/>
              <a:gd name="T11" fmla="*/ 0 h 212"/>
              <a:gd name="T12" fmla="*/ 66 w 470"/>
              <a:gd name="T13" fmla="*/ 8 h 212"/>
              <a:gd name="T14" fmla="*/ 30 w 470"/>
              <a:gd name="T15" fmla="*/ 32 h 212"/>
              <a:gd name="T16" fmla="*/ 18 w 470"/>
              <a:gd name="T17" fmla="*/ 48 h 212"/>
              <a:gd name="T18" fmla="*/ 2 w 470"/>
              <a:gd name="T19" fmla="*/ 86 h 212"/>
              <a:gd name="T20" fmla="*/ 2 w 470"/>
              <a:gd name="T21" fmla="*/ 126 h 212"/>
              <a:gd name="T22" fmla="*/ 18 w 470"/>
              <a:gd name="T23" fmla="*/ 164 h 212"/>
              <a:gd name="T24" fmla="*/ 30 w 470"/>
              <a:gd name="T25" fmla="*/ 180 h 212"/>
              <a:gd name="T26" fmla="*/ 66 w 470"/>
              <a:gd name="T27" fmla="*/ 204 h 212"/>
              <a:gd name="T28" fmla="*/ 106 w 470"/>
              <a:gd name="T29" fmla="*/ 212 h 212"/>
              <a:gd name="T30" fmla="*/ 144 w 470"/>
              <a:gd name="T31" fmla="*/ 204 h 212"/>
              <a:gd name="T32" fmla="*/ 180 w 470"/>
              <a:gd name="T33" fmla="*/ 180 h 212"/>
              <a:gd name="T34" fmla="*/ 190 w 470"/>
              <a:gd name="T35" fmla="*/ 168 h 212"/>
              <a:gd name="T36" fmla="*/ 204 w 470"/>
              <a:gd name="T37" fmla="*/ 142 h 212"/>
              <a:gd name="T38" fmla="*/ 258 w 470"/>
              <a:gd name="T39" fmla="*/ 126 h 212"/>
              <a:gd name="T40" fmla="*/ 306 w 470"/>
              <a:gd name="T41" fmla="*/ 128 h 212"/>
              <a:gd name="T42" fmla="*/ 354 w 470"/>
              <a:gd name="T43" fmla="*/ 128 h 212"/>
              <a:gd name="T44" fmla="*/ 402 w 470"/>
              <a:gd name="T45" fmla="*/ 128 h 212"/>
              <a:gd name="T46" fmla="*/ 452 w 470"/>
              <a:gd name="T47" fmla="*/ 126 h 212"/>
              <a:gd name="T48" fmla="*/ 470 w 470"/>
              <a:gd name="T49" fmla="*/ 108 h 212"/>
              <a:gd name="T50" fmla="*/ 74 w 470"/>
              <a:gd name="T51" fmla="*/ 124 h 212"/>
              <a:gd name="T52" fmla="*/ 66 w 470"/>
              <a:gd name="T53" fmla="*/ 128 h 212"/>
              <a:gd name="T54" fmla="*/ 46 w 470"/>
              <a:gd name="T55" fmla="*/ 128 h 212"/>
              <a:gd name="T56" fmla="*/ 38 w 470"/>
              <a:gd name="T57" fmla="*/ 124 h 212"/>
              <a:gd name="T58" fmla="*/ 32 w 470"/>
              <a:gd name="T59" fmla="*/ 106 h 212"/>
              <a:gd name="T60" fmla="*/ 38 w 470"/>
              <a:gd name="T61" fmla="*/ 88 h 212"/>
              <a:gd name="T62" fmla="*/ 46 w 470"/>
              <a:gd name="T63" fmla="*/ 84 h 212"/>
              <a:gd name="T64" fmla="*/ 66 w 470"/>
              <a:gd name="T65" fmla="*/ 84 h 212"/>
              <a:gd name="T66" fmla="*/ 74 w 470"/>
              <a:gd name="T67" fmla="*/ 88 h 212"/>
              <a:gd name="T68" fmla="*/ 80 w 470"/>
              <a:gd name="T69" fmla="*/ 106 h 212"/>
              <a:gd name="T70" fmla="*/ 74 w 470"/>
              <a:gd name="T71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70" h="212">
                <a:moveTo>
                  <a:pt x="430" y="70"/>
                </a:moveTo>
                <a:lnTo>
                  <a:pt x="430" y="70"/>
                </a:lnTo>
                <a:lnTo>
                  <a:pt x="204" y="70"/>
                </a:lnTo>
                <a:lnTo>
                  <a:pt x="204" y="70"/>
                </a:lnTo>
                <a:lnTo>
                  <a:pt x="194" y="50"/>
                </a:lnTo>
                <a:lnTo>
                  <a:pt x="188" y="40"/>
                </a:lnTo>
                <a:lnTo>
                  <a:pt x="180" y="32"/>
                </a:lnTo>
                <a:lnTo>
                  <a:pt x="180" y="32"/>
                </a:lnTo>
                <a:lnTo>
                  <a:pt x="164" y="18"/>
                </a:lnTo>
                <a:lnTo>
                  <a:pt x="144" y="8"/>
                </a:lnTo>
                <a:lnTo>
                  <a:pt x="126" y="2"/>
                </a:lnTo>
                <a:lnTo>
                  <a:pt x="106" y="0"/>
                </a:lnTo>
                <a:lnTo>
                  <a:pt x="84" y="2"/>
                </a:lnTo>
                <a:lnTo>
                  <a:pt x="66" y="8"/>
                </a:lnTo>
                <a:lnTo>
                  <a:pt x="48" y="18"/>
                </a:lnTo>
                <a:lnTo>
                  <a:pt x="30" y="32"/>
                </a:lnTo>
                <a:lnTo>
                  <a:pt x="30" y="32"/>
                </a:lnTo>
                <a:lnTo>
                  <a:pt x="18" y="48"/>
                </a:lnTo>
                <a:lnTo>
                  <a:pt x="8" y="66"/>
                </a:lnTo>
                <a:lnTo>
                  <a:pt x="2" y="86"/>
                </a:lnTo>
                <a:lnTo>
                  <a:pt x="0" y="106"/>
                </a:lnTo>
                <a:lnTo>
                  <a:pt x="2" y="126"/>
                </a:lnTo>
                <a:lnTo>
                  <a:pt x="8" y="146"/>
                </a:lnTo>
                <a:lnTo>
                  <a:pt x="18" y="164"/>
                </a:lnTo>
                <a:lnTo>
                  <a:pt x="30" y="180"/>
                </a:lnTo>
                <a:lnTo>
                  <a:pt x="30" y="180"/>
                </a:lnTo>
                <a:lnTo>
                  <a:pt x="48" y="194"/>
                </a:lnTo>
                <a:lnTo>
                  <a:pt x="66" y="204"/>
                </a:lnTo>
                <a:lnTo>
                  <a:pt x="84" y="210"/>
                </a:lnTo>
                <a:lnTo>
                  <a:pt x="106" y="212"/>
                </a:lnTo>
                <a:lnTo>
                  <a:pt x="126" y="210"/>
                </a:lnTo>
                <a:lnTo>
                  <a:pt x="144" y="204"/>
                </a:lnTo>
                <a:lnTo>
                  <a:pt x="164" y="194"/>
                </a:lnTo>
                <a:lnTo>
                  <a:pt x="180" y="180"/>
                </a:lnTo>
                <a:lnTo>
                  <a:pt x="180" y="180"/>
                </a:lnTo>
                <a:lnTo>
                  <a:pt x="190" y="168"/>
                </a:lnTo>
                <a:lnTo>
                  <a:pt x="198" y="156"/>
                </a:lnTo>
                <a:lnTo>
                  <a:pt x="204" y="142"/>
                </a:lnTo>
                <a:lnTo>
                  <a:pt x="208" y="126"/>
                </a:lnTo>
                <a:lnTo>
                  <a:pt x="258" y="126"/>
                </a:lnTo>
                <a:lnTo>
                  <a:pt x="282" y="152"/>
                </a:lnTo>
                <a:lnTo>
                  <a:pt x="306" y="128"/>
                </a:lnTo>
                <a:lnTo>
                  <a:pt x="330" y="152"/>
                </a:lnTo>
                <a:lnTo>
                  <a:pt x="354" y="128"/>
                </a:lnTo>
                <a:lnTo>
                  <a:pt x="378" y="152"/>
                </a:lnTo>
                <a:lnTo>
                  <a:pt x="402" y="128"/>
                </a:lnTo>
                <a:lnTo>
                  <a:pt x="426" y="152"/>
                </a:lnTo>
                <a:lnTo>
                  <a:pt x="452" y="126"/>
                </a:lnTo>
                <a:lnTo>
                  <a:pt x="460" y="118"/>
                </a:lnTo>
                <a:lnTo>
                  <a:pt x="470" y="108"/>
                </a:lnTo>
                <a:lnTo>
                  <a:pt x="430" y="70"/>
                </a:lnTo>
                <a:close/>
                <a:moveTo>
                  <a:pt x="74" y="124"/>
                </a:moveTo>
                <a:lnTo>
                  <a:pt x="74" y="124"/>
                </a:lnTo>
                <a:lnTo>
                  <a:pt x="66" y="128"/>
                </a:lnTo>
                <a:lnTo>
                  <a:pt x="56" y="130"/>
                </a:lnTo>
                <a:lnTo>
                  <a:pt x="46" y="128"/>
                </a:lnTo>
                <a:lnTo>
                  <a:pt x="38" y="124"/>
                </a:lnTo>
                <a:lnTo>
                  <a:pt x="38" y="124"/>
                </a:lnTo>
                <a:lnTo>
                  <a:pt x="34" y="116"/>
                </a:lnTo>
                <a:lnTo>
                  <a:pt x="32" y="106"/>
                </a:lnTo>
                <a:lnTo>
                  <a:pt x="34" y="96"/>
                </a:lnTo>
                <a:lnTo>
                  <a:pt x="38" y="88"/>
                </a:lnTo>
                <a:lnTo>
                  <a:pt x="38" y="88"/>
                </a:lnTo>
                <a:lnTo>
                  <a:pt x="46" y="84"/>
                </a:lnTo>
                <a:lnTo>
                  <a:pt x="56" y="82"/>
                </a:lnTo>
                <a:lnTo>
                  <a:pt x="66" y="84"/>
                </a:lnTo>
                <a:lnTo>
                  <a:pt x="74" y="88"/>
                </a:lnTo>
                <a:lnTo>
                  <a:pt x="74" y="88"/>
                </a:lnTo>
                <a:lnTo>
                  <a:pt x="78" y="96"/>
                </a:lnTo>
                <a:lnTo>
                  <a:pt x="80" y="106"/>
                </a:lnTo>
                <a:lnTo>
                  <a:pt x="78" y="116"/>
                </a:lnTo>
                <a:lnTo>
                  <a:pt x="74" y="124"/>
                </a:lnTo>
                <a:lnTo>
                  <a:pt x="74" y="1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grpSp>
        <p:nvGrpSpPr>
          <p:cNvPr id="58" name="Group 57"/>
          <p:cNvGrpSpPr/>
          <p:nvPr/>
        </p:nvGrpSpPr>
        <p:grpSpPr>
          <a:xfrm flipH="1">
            <a:off x="4441874" y="3858698"/>
            <a:ext cx="810050" cy="355580"/>
            <a:chOff x="7391400" y="1254125"/>
            <a:chExt cx="1631950" cy="920750"/>
          </a:xfrm>
        </p:grpSpPr>
        <p:sp>
          <p:nvSpPr>
            <p:cNvPr id="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91400" y="1254125"/>
              <a:ext cx="1631950" cy="92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>
              <a:off x="7845425" y="1254125"/>
              <a:ext cx="879475" cy="635000"/>
            </a:xfrm>
            <a:custGeom>
              <a:avLst/>
              <a:gdLst>
                <a:gd name="T0" fmla="*/ 6 w 554"/>
                <a:gd name="T1" fmla="*/ 156 h 400"/>
                <a:gd name="T2" fmla="*/ 128 w 554"/>
                <a:gd name="T3" fmla="*/ 54 h 400"/>
                <a:gd name="T4" fmla="*/ 160 w 554"/>
                <a:gd name="T5" fmla="*/ 24 h 400"/>
                <a:gd name="T6" fmla="*/ 172 w 554"/>
                <a:gd name="T7" fmla="*/ 12 h 400"/>
                <a:gd name="T8" fmla="*/ 204 w 554"/>
                <a:gd name="T9" fmla="*/ 0 h 400"/>
                <a:gd name="T10" fmla="*/ 230 w 554"/>
                <a:gd name="T11" fmla="*/ 0 h 400"/>
                <a:gd name="T12" fmla="*/ 260 w 554"/>
                <a:gd name="T13" fmla="*/ 4 h 400"/>
                <a:gd name="T14" fmla="*/ 298 w 554"/>
                <a:gd name="T15" fmla="*/ 18 h 400"/>
                <a:gd name="T16" fmla="*/ 384 w 554"/>
                <a:gd name="T17" fmla="*/ 62 h 400"/>
                <a:gd name="T18" fmla="*/ 496 w 554"/>
                <a:gd name="T19" fmla="*/ 120 h 400"/>
                <a:gd name="T20" fmla="*/ 514 w 554"/>
                <a:gd name="T21" fmla="*/ 124 h 400"/>
                <a:gd name="T22" fmla="*/ 540 w 554"/>
                <a:gd name="T23" fmla="*/ 124 h 400"/>
                <a:gd name="T24" fmla="*/ 554 w 554"/>
                <a:gd name="T25" fmla="*/ 394 h 400"/>
                <a:gd name="T26" fmla="*/ 544 w 554"/>
                <a:gd name="T27" fmla="*/ 396 h 400"/>
                <a:gd name="T28" fmla="*/ 490 w 554"/>
                <a:gd name="T29" fmla="*/ 400 h 400"/>
                <a:gd name="T30" fmla="*/ 466 w 554"/>
                <a:gd name="T31" fmla="*/ 394 h 400"/>
                <a:gd name="T32" fmla="*/ 448 w 554"/>
                <a:gd name="T33" fmla="*/ 374 h 400"/>
                <a:gd name="T34" fmla="*/ 354 w 554"/>
                <a:gd name="T35" fmla="*/ 256 h 400"/>
                <a:gd name="T36" fmla="*/ 282 w 554"/>
                <a:gd name="T37" fmla="*/ 176 h 400"/>
                <a:gd name="T38" fmla="*/ 252 w 554"/>
                <a:gd name="T39" fmla="*/ 150 h 400"/>
                <a:gd name="T40" fmla="*/ 230 w 554"/>
                <a:gd name="T41" fmla="*/ 138 h 400"/>
                <a:gd name="T42" fmla="*/ 212 w 554"/>
                <a:gd name="T43" fmla="*/ 138 h 400"/>
                <a:gd name="T44" fmla="*/ 180 w 554"/>
                <a:gd name="T45" fmla="*/ 148 h 400"/>
                <a:gd name="T46" fmla="*/ 138 w 554"/>
                <a:gd name="T47" fmla="*/ 178 h 400"/>
                <a:gd name="T48" fmla="*/ 112 w 554"/>
                <a:gd name="T49" fmla="*/ 196 h 400"/>
                <a:gd name="T50" fmla="*/ 80 w 554"/>
                <a:gd name="T51" fmla="*/ 208 h 400"/>
                <a:gd name="T52" fmla="*/ 34 w 554"/>
                <a:gd name="T53" fmla="*/ 202 h 400"/>
                <a:gd name="T54" fmla="*/ 22 w 554"/>
                <a:gd name="T55" fmla="*/ 198 h 400"/>
                <a:gd name="T56" fmla="*/ 4 w 554"/>
                <a:gd name="T57" fmla="*/ 184 h 400"/>
                <a:gd name="T58" fmla="*/ 0 w 554"/>
                <a:gd name="T59" fmla="*/ 170 h 400"/>
                <a:gd name="T60" fmla="*/ 2 w 554"/>
                <a:gd name="T61" fmla="*/ 160 h 400"/>
                <a:gd name="T62" fmla="*/ 6 w 554"/>
                <a:gd name="T63" fmla="*/ 15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4" h="400">
                  <a:moveTo>
                    <a:pt x="6" y="156"/>
                  </a:moveTo>
                  <a:lnTo>
                    <a:pt x="6" y="156"/>
                  </a:lnTo>
                  <a:lnTo>
                    <a:pt x="78" y="96"/>
                  </a:lnTo>
                  <a:lnTo>
                    <a:pt x="128" y="54"/>
                  </a:lnTo>
                  <a:lnTo>
                    <a:pt x="148" y="36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72" y="12"/>
                  </a:lnTo>
                  <a:lnTo>
                    <a:pt x="186" y="6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44" y="0"/>
                  </a:lnTo>
                  <a:lnTo>
                    <a:pt x="260" y="4"/>
                  </a:lnTo>
                  <a:lnTo>
                    <a:pt x="278" y="10"/>
                  </a:lnTo>
                  <a:lnTo>
                    <a:pt x="298" y="18"/>
                  </a:lnTo>
                  <a:lnTo>
                    <a:pt x="340" y="38"/>
                  </a:lnTo>
                  <a:lnTo>
                    <a:pt x="384" y="62"/>
                  </a:lnTo>
                  <a:lnTo>
                    <a:pt x="466" y="106"/>
                  </a:lnTo>
                  <a:lnTo>
                    <a:pt x="496" y="120"/>
                  </a:lnTo>
                  <a:lnTo>
                    <a:pt x="506" y="124"/>
                  </a:lnTo>
                  <a:lnTo>
                    <a:pt x="514" y="124"/>
                  </a:lnTo>
                  <a:lnTo>
                    <a:pt x="514" y="124"/>
                  </a:lnTo>
                  <a:lnTo>
                    <a:pt x="540" y="124"/>
                  </a:lnTo>
                  <a:lnTo>
                    <a:pt x="554" y="122"/>
                  </a:lnTo>
                  <a:lnTo>
                    <a:pt x="554" y="394"/>
                  </a:lnTo>
                  <a:lnTo>
                    <a:pt x="554" y="394"/>
                  </a:lnTo>
                  <a:lnTo>
                    <a:pt x="544" y="396"/>
                  </a:lnTo>
                  <a:lnTo>
                    <a:pt x="520" y="398"/>
                  </a:lnTo>
                  <a:lnTo>
                    <a:pt x="490" y="400"/>
                  </a:lnTo>
                  <a:lnTo>
                    <a:pt x="476" y="398"/>
                  </a:lnTo>
                  <a:lnTo>
                    <a:pt x="466" y="394"/>
                  </a:lnTo>
                  <a:lnTo>
                    <a:pt x="466" y="394"/>
                  </a:lnTo>
                  <a:lnTo>
                    <a:pt x="448" y="374"/>
                  </a:lnTo>
                  <a:lnTo>
                    <a:pt x="422" y="342"/>
                  </a:lnTo>
                  <a:lnTo>
                    <a:pt x="354" y="256"/>
                  </a:lnTo>
                  <a:lnTo>
                    <a:pt x="318" y="214"/>
                  </a:lnTo>
                  <a:lnTo>
                    <a:pt x="282" y="176"/>
                  </a:lnTo>
                  <a:lnTo>
                    <a:pt x="266" y="160"/>
                  </a:lnTo>
                  <a:lnTo>
                    <a:pt x="252" y="150"/>
                  </a:lnTo>
                  <a:lnTo>
                    <a:pt x="240" y="142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12" y="138"/>
                  </a:lnTo>
                  <a:lnTo>
                    <a:pt x="194" y="142"/>
                  </a:lnTo>
                  <a:lnTo>
                    <a:pt x="180" y="148"/>
                  </a:lnTo>
                  <a:lnTo>
                    <a:pt x="164" y="158"/>
                  </a:lnTo>
                  <a:lnTo>
                    <a:pt x="138" y="17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96" y="204"/>
                  </a:lnTo>
                  <a:lnTo>
                    <a:pt x="80" y="208"/>
                  </a:lnTo>
                  <a:lnTo>
                    <a:pt x="58" y="206"/>
                  </a:lnTo>
                  <a:lnTo>
                    <a:pt x="34" y="202"/>
                  </a:lnTo>
                  <a:lnTo>
                    <a:pt x="34" y="202"/>
                  </a:lnTo>
                  <a:lnTo>
                    <a:pt x="22" y="198"/>
                  </a:lnTo>
                  <a:lnTo>
                    <a:pt x="12" y="192"/>
                  </a:lnTo>
                  <a:lnTo>
                    <a:pt x="4" y="184"/>
                  </a:lnTo>
                  <a:lnTo>
                    <a:pt x="2" y="178"/>
                  </a:lnTo>
                  <a:lnTo>
                    <a:pt x="0" y="170"/>
                  </a:lnTo>
                  <a:lnTo>
                    <a:pt x="0" y="164"/>
                  </a:lnTo>
                  <a:lnTo>
                    <a:pt x="2" y="160"/>
                  </a:lnTo>
                  <a:lnTo>
                    <a:pt x="6" y="156"/>
                  </a:lnTo>
                  <a:lnTo>
                    <a:pt x="6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7696200" y="1289050"/>
              <a:ext cx="904875" cy="885825"/>
            </a:xfrm>
            <a:custGeom>
              <a:avLst/>
              <a:gdLst>
                <a:gd name="T0" fmla="*/ 0 w 570"/>
                <a:gd name="T1" fmla="*/ 370 h 558"/>
                <a:gd name="T2" fmla="*/ 44 w 570"/>
                <a:gd name="T3" fmla="*/ 370 h 558"/>
                <a:gd name="T4" fmla="*/ 48 w 570"/>
                <a:gd name="T5" fmla="*/ 372 h 558"/>
                <a:gd name="T6" fmla="*/ 72 w 570"/>
                <a:gd name="T7" fmla="*/ 396 h 558"/>
                <a:gd name="T8" fmla="*/ 150 w 570"/>
                <a:gd name="T9" fmla="*/ 488 h 558"/>
                <a:gd name="T10" fmla="*/ 196 w 570"/>
                <a:gd name="T11" fmla="*/ 530 h 558"/>
                <a:gd name="T12" fmla="*/ 226 w 570"/>
                <a:gd name="T13" fmla="*/ 548 h 558"/>
                <a:gd name="T14" fmla="*/ 240 w 570"/>
                <a:gd name="T15" fmla="*/ 554 h 558"/>
                <a:gd name="T16" fmla="*/ 282 w 570"/>
                <a:gd name="T17" fmla="*/ 558 h 558"/>
                <a:gd name="T18" fmla="*/ 302 w 570"/>
                <a:gd name="T19" fmla="*/ 550 h 558"/>
                <a:gd name="T20" fmla="*/ 308 w 570"/>
                <a:gd name="T21" fmla="*/ 540 h 558"/>
                <a:gd name="T22" fmla="*/ 308 w 570"/>
                <a:gd name="T23" fmla="*/ 534 h 558"/>
                <a:gd name="T24" fmla="*/ 330 w 570"/>
                <a:gd name="T25" fmla="*/ 544 h 558"/>
                <a:gd name="T26" fmla="*/ 366 w 570"/>
                <a:gd name="T27" fmla="*/ 552 h 558"/>
                <a:gd name="T28" fmla="*/ 380 w 570"/>
                <a:gd name="T29" fmla="*/ 554 h 558"/>
                <a:gd name="T30" fmla="*/ 392 w 570"/>
                <a:gd name="T31" fmla="*/ 552 h 558"/>
                <a:gd name="T32" fmla="*/ 404 w 570"/>
                <a:gd name="T33" fmla="*/ 538 h 558"/>
                <a:gd name="T34" fmla="*/ 406 w 570"/>
                <a:gd name="T35" fmla="*/ 520 h 558"/>
                <a:gd name="T36" fmla="*/ 402 w 570"/>
                <a:gd name="T37" fmla="*/ 506 h 558"/>
                <a:gd name="T38" fmla="*/ 408 w 570"/>
                <a:gd name="T39" fmla="*/ 510 h 558"/>
                <a:gd name="T40" fmla="*/ 436 w 570"/>
                <a:gd name="T41" fmla="*/ 522 h 558"/>
                <a:gd name="T42" fmla="*/ 460 w 570"/>
                <a:gd name="T43" fmla="*/ 526 h 558"/>
                <a:gd name="T44" fmla="*/ 472 w 570"/>
                <a:gd name="T45" fmla="*/ 524 h 558"/>
                <a:gd name="T46" fmla="*/ 490 w 570"/>
                <a:gd name="T47" fmla="*/ 514 h 558"/>
                <a:gd name="T48" fmla="*/ 500 w 570"/>
                <a:gd name="T49" fmla="*/ 498 h 558"/>
                <a:gd name="T50" fmla="*/ 502 w 570"/>
                <a:gd name="T51" fmla="*/ 478 h 558"/>
                <a:gd name="T52" fmla="*/ 546 w 570"/>
                <a:gd name="T53" fmla="*/ 476 h 558"/>
                <a:gd name="T54" fmla="*/ 560 w 570"/>
                <a:gd name="T55" fmla="*/ 468 h 558"/>
                <a:gd name="T56" fmla="*/ 570 w 570"/>
                <a:gd name="T57" fmla="*/ 452 h 558"/>
                <a:gd name="T58" fmla="*/ 570 w 570"/>
                <a:gd name="T59" fmla="*/ 434 h 558"/>
                <a:gd name="T60" fmla="*/ 556 w 570"/>
                <a:gd name="T61" fmla="*/ 408 h 558"/>
                <a:gd name="T62" fmla="*/ 538 w 570"/>
                <a:gd name="T63" fmla="*/ 384 h 558"/>
                <a:gd name="T64" fmla="*/ 456 w 570"/>
                <a:gd name="T65" fmla="*/ 286 h 558"/>
                <a:gd name="T66" fmla="*/ 356 w 570"/>
                <a:gd name="T67" fmla="*/ 170 h 558"/>
                <a:gd name="T68" fmla="*/ 350 w 570"/>
                <a:gd name="T69" fmla="*/ 162 h 558"/>
                <a:gd name="T70" fmla="*/ 330 w 570"/>
                <a:gd name="T71" fmla="*/ 148 h 558"/>
                <a:gd name="T72" fmla="*/ 304 w 570"/>
                <a:gd name="T73" fmla="*/ 146 h 558"/>
                <a:gd name="T74" fmla="*/ 286 w 570"/>
                <a:gd name="T75" fmla="*/ 152 h 558"/>
                <a:gd name="T76" fmla="*/ 278 w 570"/>
                <a:gd name="T77" fmla="*/ 156 h 558"/>
                <a:gd name="T78" fmla="*/ 198 w 570"/>
                <a:gd name="T79" fmla="*/ 198 h 558"/>
                <a:gd name="T80" fmla="*/ 178 w 570"/>
                <a:gd name="T81" fmla="*/ 206 h 558"/>
                <a:gd name="T82" fmla="*/ 138 w 570"/>
                <a:gd name="T83" fmla="*/ 208 h 558"/>
                <a:gd name="T84" fmla="*/ 106 w 570"/>
                <a:gd name="T85" fmla="*/ 198 h 558"/>
                <a:gd name="T86" fmla="*/ 84 w 570"/>
                <a:gd name="T87" fmla="*/ 188 h 558"/>
                <a:gd name="T88" fmla="*/ 78 w 570"/>
                <a:gd name="T89" fmla="*/ 182 h 558"/>
                <a:gd name="T90" fmla="*/ 64 w 570"/>
                <a:gd name="T91" fmla="*/ 164 h 558"/>
                <a:gd name="T92" fmla="*/ 60 w 570"/>
                <a:gd name="T93" fmla="*/ 148 h 558"/>
                <a:gd name="T94" fmla="*/ 62 w 570"/>
                <a:gd name="T95" fmla="*/ 136 h 558"/>
                <a:gd name="T96" fmla="*/ 70 w 570"/>
                <a:gd name="T97" fmla="*/ 122 h 558"/>
                <a:gd name="T98" fmla="*/ 78 w 570"/>
                <a:gd name="T99" fmla="*/ 116 h 558"/>
                <a:gd name="T100" fmla="*/ 164 w 570"/>
                <a:gd name="T101" fmla="*/ 48 h 558"/>
                <a:gd name="T102" fmla="*/ 188 w 570"/>
                <a:gd name="T103" fmla="*/ 26 h 558"/>
                <a:gd name="T104" fmla="*/ 206 w 570"/>
                <a:gd name="T105" fmla="*/ 8 h 558"/>
                <a:gd name="T106" fmla="*/ 204 w 570"/>
                <a:gd name="T107" fmla="*/ 0 h 558"/>
                <a:gd name="T108" fmla="*/ 192 w 570"/>
                <a:gd name="T109" fmla="*/ 2 h 558"/>
                <a:gd name="T110" fmla="*/ 172 w 570"/>
                <a:gd name="T111" fmla="*/ 10 h 558"/>
                <a:gd name="T112" fmla="*/ 114 w 570"/>
                <a:gd name="T113" fmla="*/ 52 h 558"/>
                <a:gd name="T114" fmla="*/ 64 w 570"/>
                <a:gd name="T115" fmla="*/ 88 h 558"/>
                <a:gd name="T116" fmla="*/ 54 w 570"/>
                <a:gd name="T117" fmla="*/ 92 h 558"/>
                <a:gd name="T118" fmla="*/ 8 w 570"/>
                <a:gd name="T119" fmla="*/ 98 h 558"/>
                <a:gd name="T120" fmla="*/ 0 w 570"/>
                <a:gd name="T121" fmla="*/ 9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0" h="558">
                  <a:moveTo>
                    <a:pt x="0" y="98"/>
                  </a:moveTo>
                  <a:lnTo>
                    <a:pt x="0" y="370"/>
                  </a:lnTo>
                  <a:lnTo>
                    <a:pt x="0" y="370"/>
                  </a:lnTo>
                  <a:lnTo>
                    <a:pt x="44" y="370"/>
                  </a:lnTo>
                  <a:lnTo>
                    <a:pt x="44" y="370"/>
                  </a:lnTo>
                  <a:lnTo>
                    <a:pt x="48" y="372"/>
                  </a:lnTo>
                  <a:lnTo>
                    <a:pt x="54" y="378"/>
                  </a:lnTo>
                  <a:lnTo>
                    <a:pt x="72" y="396"/>
                  </a:lnTo>
                  <a:lnTo>
                    <a:pt x="120" y="456"/>
                  </a:lnTo>
                  <a:lnTo>
                    <a:pt x="150" y="488"/>
                  </a:lnTo>
                  <a:lnTo>
                    <a:pt x="180" y="518"/>
                  </a:lnTo>
                  <a:lnTo>
                    <a:pt x="196" y="530"/>
                  </a:lnTo>
                  <a:lnTo>
                    <a:pt x="212" y="540"/>
                  </a:lnTo>
                  <a:lnTo>
                    <a:pt x="226" y="548"/>
                  </a:lnTo>
                  <a:lnTo>
                    <a:pt x="240" y="554"/>
                  </a:lnTo>
                  <a:lnTo>
                    <a:pt x="240" y="554"/>
                  </a:lnTo>
                  <a:lnTo>
                    <a:pt x="264" y="558"/>
                  </a:lnTo>
                  <a:lnTo>
                    <a:pt x="282" y="558"/>
                  </a:lnTo>
                  <a:lnTo>
                    <a:pt x="294" y="554"/>
                  </a:lnTo>
                  <a:lnTo>
                    <a:pt x="302" y="550"/>
                  </a:lnTo>
                  <a:lnTo>
                    <a:pt x="306" y="544"/>
                  </a:lnTo>
                  <a:lnTo>
                    <a:pt x="308" y="540"/>
                  </a:lnTo>
                  <a:lnTo>
                    <a:pt x="308" y="534"/>
                  </a:lnTo>
                  <a:lnTo>
                    <a:pt x="308" y="534"/>
                  </a:lnTo>
                  <a:lnTo>
                    <a:pt x="314" y="538"/>
                  </a:lnTo>
                  <a:lnTo>
                    <a:pt x="330" y="544"/>
                  </a:lnTo>
                  <a:lnTo>
                    <a:pt x="354" y="550"/>
                  </a:lnTo>
                  <a:lnTo>
                    <a:pt x="366" y="552"/>
                  </a:lnTo>
                  <a:lnTo>
                    <a:pt x="380" y="554"/>
                  </a:lnTo>
                  <a:lnTo>
                    <a:pt x="380" y="554"/>
                  </a:lnTo>
                  <a:lnTo>
                    <a:pt x="388" y="552"/>
                  </a:lnTo>
                  <a:lnTo>
                    <a:pt x="392" y="552"/>
                  </a:lnTo>
                  <a:lnTo>
                    <a:pt x="400" y="546"/>
                  </a:lnTo>
                  <a:lnTo>
                    <a:pt x="404" y="538"/>
                  </a:lnTo>
                  <a:lnTo>
                    <a:pt x="406" y="530"/>
                  </a:lnTo>
                  <a:lnTo>
                    <a:pt x="406" y="520"/>
                  </a:lnTo>
                  <a:lnTo>
                    <a:pt x="404" y="512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8" y="510"/>
                  </a:lnTo>
                  <a:lnTo>
                    <a:pt x="426" y="518"/>
                  </a:lnTo>
                  <a:lnTo>
                    <a:pt x="436" y="522"/>
                  </a:lnTo>
                  <a:lnTo>
                    <a:pt x="448" y="524"/>
                  </a:lnTo>
                  <a:lnTo>
                    <a:pt x="460" y="526"/>
                  </a:lnTo>
                  <a:lnTo>
                    <a:pt x="472" y="524"/>
                  </a:lnTo>
                  <a:lnTo>
                    <a:pt x="472" y="524"/>
                  </a:lnTo>
                  <a:lnTo>
                    <a:pt x="484" y="520"/>
                  </a:lnTo>
                  <a:lnTo>
                    <a:pt x="490" y="514"/>
                  </a:lnTo>
                  <a:lnTo>
                    <a:pt x="496" y="506"/>
                  </a:lnTo>
                  <a:lnTo>
                    <a:pt x="500" y="498"/>
                  </a:lnTo>
                  <a:lnTo>
                    <a:pt x="502" y="484"/>
                  </a:lnTo>
                  <a:lnTo>
                    <a:pt x="502" y="478"/>
                  </a:lnTo>
                  <a:lnTo>
                    <a:pt x="546" y="476"/>
                  </a:lnTo>
                  <a:lnTo>
                    <a:pt x="546" y="476"/>
                  </a:lnTo>
                  <a:lnTo>
                    <a:pt x="552" y="472"/>
                  </a:lnTo>
                  <a:lnTo>
                    <a:pt x="560" y="468"/>
                  </a:lnTo>
                  <a:lnTo>
                    <a:pt x="566" y="462"/>
                  </a:lnTo>
                  <a:lnTo>
                    <a:pt x="570" y="452"/>
                  </a:lnTo>
                  <a:lnTo>
                    <a:pt x="570" y="440"/>
                  </a:lnTo>
                  <a:lnTo>
                    <a:pt x="570" y="434"/>
                  </a:lnTo>
                  <a:lnTo>
                    <a:pt x="566" y="426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38" y="384"/>
                  </a:lnTo>
                  <a:lnTo>
                    <a:pt x="514" y="354"/>
                  </a:lnTo>
                  <a:lnTo>
                    <a:pt x="456" y="286"/>
                  </a:lnTo>
                  <a:lnTo>
                    <a:pt x="398" y="218"/>
                  </a:lnTo>
                  <a:lnTo>
                    <a:pt x="356" y="170"/>
                  </a:lnTo>
                  <a:lnTo>
                    <a:pt x="356" y="170"/>
                  </a:lnTo>
                  <a:lnTo>
                    <a:pt x="350" y="162"/>
                  </a:lnTo>
                  <a:lnTo>
                    <a:pt x="344" y="156"/>
                  </a:lnTo>
                  <a:lnTo>
                    <a:pt x="330" y="148"/>
                  </a:lnTo>
                  <a:lnTo>
                    <a:pt x="316" y="146"/>
                  </a:lnTo>
                  <a:lnTo>
                    <a:pt x="304" y="146"/>
                  </a:lnTo>
                  <a:lnTo>
                    <a:pt x="294" y="148"/>
                  </a:lnTo>
                  <a:lnTo>
                    <a:pt x="286" y="152"/>
                  </a:lnTo>
                  <a:lnTo>
                    <a:pt x="278" y="156"/>
                  </a:lnTo>
                  <a:lnTo>
                    <a:pt x="278" y="156"/>
                  </a:lnTo>
                  <a:lnTo>
                    <a:pt x="198" y="198"/>
                  </a:lnTo>
                  <a:lnTo>
                    <a:pt x="198" y="198"/>
                  </a:lnTo>
                  <a:lnTo>
                    <a:pt x="188" y="204"/>
                  </a:lnTo>
                  <a:lnTo>
                    <a:pt x="178" y="206"/>
                  </a:lnTo>
                  <a:lnTo>
                    <a:pt x="158" y="208"/>
                  </a:lnTo>
                  <a:lnTo>
                    <a:pt x="138" y="208"/>
                  </a:lnTo>
                  <a:lnTo>
                    <a:pt x="122" y="204"/>
                  </a:lnTo>
                  <a:lnTo>
                    <a:pt x="106" y="198"/>
                  </a:lnTo>
                  <a:lnTo>
                    <a:pt x="94" y="194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78" y="182"/>
                  </a:lnTo>
                  <a:lnTo>
                    <a:pt x="70" y="174"/>
                  </a:lnTo>
                  <a:lnTo>
                    <a:pt x="64" y="164"/>
                  </a:lnTo>
                  <a:lnTo>
                    <a:pt x="60" y="154"/>
                  </a:lnTo>
                  <a:lnTo>
                    <a:pt x="60" y="148"/>
                  </a:lnTo>
                  <a:lnTo>
                    <a:pt x="60" y="142"/>
                  </a:lnTo>
                  <a:lnTo>
                    <a:pt x="62" y="136"/>
                  </a:lnTo>
                  <a:lnTo>
                    <a:pt x="66" y="130"/>
                  </a:lnTo>
                  <a:lnTo>
                    <a:pt x="70" y="122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138" y="70"/>
                  </a:lnTo>
                  <a:lnTo>
                    <a:pt x="164" y="48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200" y="16"/>
                  </a:lnTo>
                  <a:lnTo>
                    <a:pt x="206" y="8"/>
                  </a:lnTo>
                  <a:lnTo>
                    <a:pt x="208" y="4"/>
                  </a:lnTo>
                  <a:lnTo>
                    <a:pt x="204" y="0"/>
                  </a:lnTo>
                  <a:lnTo>
                    <a:pt x="200" y="0"/>
                  </a:lnTo>
                  <a:lnTo>
                    <a:pt x="192" y="2"/>
                  </a:lnTo>
                  <a:lnTo>
                    <a:pt x="172" y="10"/>
                  </a:lnTo>
                  <a:lnTo>
                    <a:pt x="172" y="10"/>
                  </a:lnTo>
                  <a:lnTo>
                    <a:pt x="150" y="26"/>
                  </a:lnTo>
                  <a:lnTo>
                    <a:pt x="114" y="52"/>
                  </a:lnTo>
                  <a:lnTo>
                    <a:pt x="78" y="78"/>
                  </a:lnTo>
                  <a:lnTo>
                    <a:pt x="64" y="88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24" y="96"/>
                  </a:lnTo>
                  <a:lnTo>
                    <a:pt x="8" y="98"/>
                  </a:ln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3" name="Freeform 7"/>
            <p:cNvSpPr>
              <a:spLocks noEditPoints="1"/>
            </p:cNvSpPr>
            <p:nvPr/>
          </p:nvSpPr>
          <p:spPr bwMode="auto">
            <a:xfrm>
              <a:off x="8772525" y="1327150"/>
              <a:ext cx="250825" cy="762000"/>
            </a:xfrm>
            <a:custGeom>
              <a:avLst/>
              <a:gdLst>
                <a:gd name="T0" fmla="*/ 0 w 158"/>
                <a:gd name="T1" fmla="*/ 0 h 480"/>
                <a:gd name="T2" fmla="*/ 0 w 158"/>
                <a:gd name="T3" fmla="*/ 480 h 480"/>
                <a:gd name="T4" fmla="*/ 158 w 158"/>
                <a:gd name="T5" fmla="*/ 480 h 480"/>
                <a:gd name="T6" fmla="*/ 158 w 158"/>
                <a:gd name="T7" fmla="*/ 0 h 480"/>
                <a:gd name="T8" fmla="*/ 0 w 158"/>
                <a:gd name="T9" fmla="*/ 0 h 480"/>
                <a:gd name="T10" fmla="*/ 78 w 158"/>
                <a:gd name="T11" fmla="*/ 446 h 480"/>
                <a:gd name="T12" fmla="*/ 78 w 158"/>
                <a:gd name="T13" fmla="*/ 446 h 480"/>
                <a:gd name="T14" fmla="*/ 68 w 158"/>
                <a:gd name="T15" fmla="*/ 444 h 480"/>
                <a:gd name="T16" fmla="*/ 60 w 158"/>
                <a:gd name="T17" fmla="*/ 438 h 480"/>
                <a:gd name="T18" fmla="*/ 54 w 158"/>
                <a:gd name="T19" fmla="*/ 430 h 480"/>
                <a:gd name="T20" fmla="*/ 52 w 158"/>
                <a:gd name="T21" fmla="*/ 420 h 480"/>
                <a:gd name="T22" fmla="*/ 52 w 158"/>
                <a:gd name="T23" fmla="*/ 420 h 480"/>
                <a:gd name="T24" fmla="*/ 54 w 158"/>
                <a:gd name="T25" fmla="*/ 410 h 480"/>
                <a:gd name="T26" fmla="*/ 60 w 158"/>
                <a:gd name="T27" fmla="*/ 402 h 480"/>
                <a:gd name="T28" fmla="*/ 68 w 158"/>
                <a:gd name="T29" fmla="*/ 396 h 480"/>
                <a:gd name="T30" fmla="*/ 78 w 158"/>
                <a:gd name="T31" fmla="*/ 394 h 480"/>
                <a:gd name="T32" fmla="*/ 78 w 158"/>
                <a:gd name="T33" fmla="*/ 394 h 480"/>
                <a:gd name="T34" fmla="*/ 88 w 158"/>
                <a:gd name="T35" fmla="*/ 396 h 480"/>
                <a:gd name="T36" fmla="*/ 96 w 158"/>
                <a:gd name="T37" fmla="*/ 402 h 480"/>
                <a:gd name="T38" fmla="*/ 102 w 158"/>
                <a:gd name="T39" fmla="*/ 410 h 480"/>
                <a:gd name="T40" fmla="*/ 104 w 158"/>
                <a:gd name="T41" fmla="*/ 420 h 480"/>
                <a:gd name="T42" fmla="*/ 104 w 158"/>
                <a:gd name="T43" fmla="*/ 420 h 480"/>
                <a:gd name="T44" fmla="*/ 102 w 158"/>
                <a:gd name="T45" fmla="*/ 430 h 480"/>
                <a:gd name="T46" fmla="*/ 96 w 158"/>
                <a:gd name="T47" fmla="*/ 438 h 480"/>
                <a:gd name="T48" fmla="*/ 88 w 158"/>
                <a:gd name="T49" fmla="*/ 444 h 480"/>
                <a:gd name="T50" fmla="*/ 78 w 158"/>
                <a:gd name="T51" fmla="*/ 446 h 480"/>
                <a:gd name="T52" fmla="*/ 78 w 158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8" h="480">
                  <a:moveTo>
                    <a:pt x="0" y="0"/>
                  </a:moveTo>
                  <a:lnTo>
                    <a:pt x="0" y="480"/>
                  </a:lnTo>
                  <a:lnTo>
                    <a:pt x="158" y="480"/>
                  </a:lnTo>
                  <a:lnTo>
                    <a:pt x="158" y="0"/>
                  </a:lnTo>
                  <a:lnTo>
                    <a:pt x="0" y="0"/>
                  </a:lnTo>
                  <a:close/>
                  <a:moveTo>
                    <a:pt x="78" y="446"/>
                  </a:moveTo>
                  <a:lnTo>
                    <a:pt x="78" y="446"/>
                  </a:lnTo>
                  <a:lnTo>
                    <a:pt x="68" y="444"/>
                  </a:lnTo>
                  <a:lnTo>
                    <a:pt x="60" y="438"/>
                  </a:lnTo>
                  <a:lnTo>
                    <a:pt x="54" y="430"/>
                  </a:lnTo>
                  <a:lnTo>
                    <a:pt x="52" y="420"/>
                  </a:lnTo>
                  <a:lnTo>
                    <a:pt x="52" y="420"/>
                  </a:lnTo>
                  <a:lnTo>
                    <a:pt x="54" y="410"/>
                  </a:lnTo>
                  <a:lnTo>
                    <a:pt x="60" y="402"/>
                  </a:lnTo>
                  <a:lnTo>
                    <a:pt x="68" y="396"/>
                  </a:lnTo>
                  <a:lnTo>
                    <a:pt x="78" y="394"/>
                  </a:lnTo>
                  <a:lnTo>
                    <a:pt x="78" y="394"/>
                  </a:lnTo>
                  <a:lnTo>
                    <a:pt x="88" y="396"/>
                  </a:lnTo>
                  <a:lnTo>
                    <a:pt x="96" y="402"/>
                  </a:lnTo>
                  <a:lnTo>
                    <a:pt x="102" y="410"/>
                  </a:lnTo>
                  <a:lnTo>
                    <a:pt x="104" y="420"/>
                  </a:lnTo>
                  <a:lnTo>
                    <a:pt x="104" y="420"/>
                  </a:lnTo>
                  <a:lnTo>
                    <a:pt x="102" y="430"/>
                  </a:lnTo>
                  <a:lnTo>
                    <a:pt x="96" y="438"/>
                  </a:lnTo>
                  <a:lnTo>
                    <a:pt x="88" y="444"/>
                  </a:lnTo>
                  <a:lnTo>
                    <a:pt x="78" y="446"/>
                  </a:lnTo>
                  <a:lnTo>
                    <a:pt x="78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7391400" y="1327150"/>
              <a:ext cx="254000" cy="762000"/>
            </a:xfrm>
            <a:custGeom>
              <a:avLst/>
              <a:gdLst>
                <a:gd name="T0" fmla="*/ 0 w 160"/>
                <a:gd name="T1" fmla="*/ 0 h 480"/>
                <a:gd name="T2" fmla="*/ 0 w 160"/>
                <a:gd name="T3" fmla="*/ 480 h 480"/>
                <a:gd name="T4" fmla="*/ 160 w 160"/>
                <a:gd name="T5" fmla="*/ 480 h 480"/>
                <a:gd name="T6" fmla="*/ 160 w 160"/>
                <a:gd name="T7" fmla="*/ 0 h 480"/>
                <a:gd name="T8" fmla="*/ 0 w 160"/>
                <a:gd name="T9" fmla="*/ 0 h 480"/>
                <a:gd name="T10" fmla="*/ 80 w 160"/>
                <a:gd name="T11" fmla="*/ 446 h 480"/>
                <a:gd name="T12" fmla="*/ 80 w 160"/>
                <a:gd name="T13" fmla="*/ 446 h 480"/>
                <a:gd name="T14" fmla="*/ 70 w 160"/>
                <a:gd name="T15" fmla="*/ 444 h 480"/>
                <a:gd name="T16" fmla="*/ 62 w 160"/>
                <a:gd name="T17" fmla="*/ 438 h 480"/>
                <a:gd name="T18" fmla="*/ 56 w 160"/>
                <a:gd name="T19" fmla="*/ 430 h 480"/>
                <a:gd name="T20" fmla="*/ 54 w 160"/>
                <a:gd name="T21" fmla="*/ 420 h 480"/>
                <a:gd name="T22" fmla="*/ 54 w 160"/>
                <a:gd name="T23" fmla="*/ 420 h 480"/>
                <a:gd name="T24" fmla="*/ 56 w 160"/>
                <a:gd name="T25" fmla="*/ 410 h 480"/>
                <a:gd name="T26" fmla="*/ 62 w 160"/>
                <a:gd name="T27" fmla="*/ 402 h 480"/>
                <a:gd name="T28" fmla="*/ 70 w 160"/>
                <a:gd name="T29" fmla="*/ 396 h 480"/>
                <a:gd name="T30" fmla="*/ 80 w 160"/>
                <a:gd name="T31" fmla="*/ 394 h 480"/>
                <a:gd name="T32" fmla="*/ 80 w 160"/>
                <a:gd name="T33" fmla="*/ 394 h 480"/>
                <a:gd name="T34" fmla="*/ 90 w 160"/>
                <a:gd name="T35" fmla="*/ 396 h 480"/>
                <a:gd name="T36" fmla="*/ 98 w 160"/>
                <a:gd name="T37" fmla="*/ 402 h 480"/>
                <a:gd name="T38" fmla="*/ 104 w 160"/>
                <a:gd name="T39" fmla="*/ 410 h 480"/>
                <a:gd name="T40" fmla="*/ 106 w 160"/>
                <a:gd name="T41" fmla="*/ 420 h 480"/>
                <a:gd name="T42" fmla="*/ 106 w 160"/>
                <a:gd name="T43" fmla="*/ 420 h 480"/>
                <a:gd name="T44" fmla="*/ 104 w 160"/>
                <a:gd name="T45" fmla="*/ 430 h 480"/>
                <a:gd name="T46" fmla="*/ 98 w 160"/>
                <a:gd name="T47" fmla="*/ 438 h 480"/>
                <a:gd name="T48" fmla="*/ 90 w 160"/>
                <a:gd name="T49" fmla="*/ 444 h 480"/>
                <a:gd name="T50" fmla="*/ 80 w 160"/>
                <a:gd name="T51" fmla="*/ 446 h 480"/>
                <a:gd name="T52" fmla="*/ 80 w 160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0" h="480">
                  <a:moveTo>
                    <a:pt x="0" y="0"/>
                  </a:moveTo>
                  <a:lnTo>
                    <a:pt x="0" y="480"/>
                  </a:lnTo>
                  <a:lnTo>
                    <a:pt x="160" y="480"/>
                  </a:lnTo>
                  <a:lnTo>
                    <a:pt x="160" y="0"/>
                  </a:lnTo>
                  <a:lnTo>
                    <a:pt x="0" y="0"/>
                  </a:lnTo>
                  <a:close/>
                  <a:moveTo>
                    <a:pt x="80" y="446"/>
                  </a:moveTo>
                  <a:lnTo>
                    <a:pt x="80" y="446"/>
                  </a:lnTo>
                  <a:lnTo>
                    <a:pt x="70" y="444"/>
                  </a:lnTo>
                  <a:lnTo>
                    <a:pt x="62" y="438"/>
                  </a:lnTo>
                  <a:lnTo>
                    <a:pt x="56" y="430"/>
                  </a:lnTo>
                  <a:lnTo>
                    <a:pt x="54" y="420"/>
                  </a:lnTo>
                  <a:lnTo>
                    <a:pt x="54" y="420"/>
                  </a:lnTo>
                  <a:lnTo>
                    <a:pt x="56" y="410"/>
                  </a:lnTo>
                  <a:lnTo>
                    <a:pt x="62" y="402"/>
                  </a:lnTo>
                  <a:lnTo>
                    <a:pt x="70" y="396"/>
                  </a:lnTo>
                  <a:lnTo>
                    <a:pt x="80" y="394"/>
                  </a:lnTo>
                  <a:lnTo>
                    <a:pt x="80" y="394"/>
                  </a:lnTo>
                  <a:lnTo>
                    <a:pt x="90" y="396"/>
                  </a:lnTo>
                  <a:lnTo>
                    <a:pt x="98" y="402"/>
                  </a:lnTo>
                  <a:lnTo>
                    <a:pt x="104" y="410"/>
                  </a:lnTo>
                  <a:lnTo>
                    <a:pt x="106" y="420"/>
                  </a:lnTo>
                  <a:lnTo>
                    <a:pt x="106" y="420"/>
                  </a:lnTo>
                  <a:lnTo>
                    <a:pt x="104" y="430"/>
                  </a:lnTo>
                  <a:lnTo>
                    <a:pt x="98" y="438"/>
                  </a:lnTo>
                  <a:lnTo>
                    <a:pt x="90" y="444"/>
                  </a:lnTo>
                  <a:lnTo>
                    <a:pt x="80" y="446"/>
                  </a:lnTo>
                  <a:lnTo>
                    <a:pt x="80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67" name="Freeform 214"/>
          <p:cNvSpPr>
            <a:spLocks/>
          </p:cNvSpPr>
          <p:nvPr/>
        </p:nvSpPr>
        <p:spPr bwMode="auto">
          <a:xfrm>
            <a:off x="3455369" y="5777183"/>
            <a:ext cx="1020152" cy="361262"/>
          </a:xfrm>
          <a:custGeom>
            <a:avLst/>
            <a:gdLst>
              <a:gd name="T0" fmla="*/ 466 w 472"/>
              <a:gd name="T1" fmla="*/ 78 h 218"/>
              <a:gd name="T2" fmla="*/ 246 w 472"/>
              <a:gd name="T3" fmla="*/ 2 h 218"/>
              <a:gd name="T4" fmla="*/ 246 w 472"/>
              <a:gd name="T5" fmla="*/ 2 h 218"/>
              <a:gd name="T6" fmla="*/ 236 w 472"/>
              <a:gd name="T7" fmla="*/ 0 h 218"/>
              <a:gd name="T8" fmla="*/ 226 w 472"/>
              <a:gd name="T9" fmla="*/ 2 h 218"/>
              <a:gd name="T10" fmla="*/ 4 w 472"/>
              <a:gd name="T11" fmla="*/ 80 h 218"/>
              <a:gd name="T12" fmla="*/ 4 w 472"/>
              <a:gd name="T13" fmla="*/ 80 h 218"/>
              <a:gd name="T14" fmla="*/ 2 w 472"/>
              <a:gd name="T15" fmla="*/ 82 h 218"/>
              <a:gd name="T16" fmla="*/ 0 w 472"/>
              <a:gd name="T17" fmla="*/ 84 h 218"/>
              <a:gd name="T18" fmla="*/ 2 w 472"/>
              <a:gd name="T19" fmla="*/ 84 h 218"/>
              <a:gd name="T20" fmla="*/ 4 w 472"/>
              <a:gd name="T21" fmla="*/ 86 h 218"/>
              <a:gd name="T22" fmla="*/ 96 w 472"/>
              <a:gd name="T23" fmla="*/ 118 h 218"/>
              <a:gd name="T24" fmla="*/ 96 w 472"/>
              <a:gd name="T25" fmla="*/ 184 h 218"/>
              <a:gd name="T26" fmla="*/ 96 w 472"/>
              <a:gd name="T27" fmla="*/ 184 h 218"/>
              <a:gd name="T28" fmla="*/ 108 w 472"/>
              <a:gd name="T29" fmla="*/ 178 h 218"/>
              <a:gd name="T30" fmla="*/ 126 w 472"/>
              <a:gd name="T31" fmla="*/ 178 h 218"/>
              <a:gd name="T32" fmla="*/ 146 w 472"/>
              <a:gd name="T33" fmla="*/ 178 h 218"/>
              <a:gd name="T34" fmla="*/ 168 w 472"/>
              <a:gd name="T35" fmla="*/ 184 h 218"/>
              <a:gd name="T36" fmla="*/ 168 w 472"/>
              <a:gd name="T37" fmla="*/ 184 h 218"/>
              <a:gd name="T38" fmla="*/ 188 w 472"/>
              <a:gd name="T39" fmla="*/ 190 h 218"/>
              <a:gd name="T40" fmla="*/ 206 w 472"/>
              <a:gd name="T41" fmla="*/ 198 h 218"/>
              <a:gd name="T42" fmla="*/ 220 w 472"/>
              <a:gd name="T43" fmla="*/ 208 h 218"/>
              <a:gd name="T44" fmla="*/ 230 w 472"/>
              <a:gd name="T45" fmla="*/ 218 h 218"/>
              <a:gd name="T46" fmla="*/ 230 w 472"/>
              <a:gd name="T47" fmla="*/ 218 h 218"/>
              <a:gd name="T48" fmla="*/ 238 w 472"/>
              <a:gd name="T49" fmla="*/ 218 h 218"/>
              <a:gd name="T50" fmla="*/ 238 w 472"/>
              <a:gd name="T51" fmla="*/ 218 h 218"/>
              <a:gd name="T52" fmla="*/ 248 w 472"/>
              <a:gd name="T53" fmla="*/ 208 h 218"/>
              <a:gd name="T54" fmla="*/ 262 w 472"/>
              <a:gd name="T55" fmla="*/ 198 h 218"/>
              <a:gd name="T56" fmla="*/ 278 w 472"/>
              <a:gd name="T57" fmla="*/ 190 h 218"/>
              <a:gd name="T58" fmla="*/ 300 w 472"/>
              <a:gd name="T59" fmla="*/ 184 h 218"/>
              <a:gd name="T60" fmla="*/ 300 w 472"/>
              <a:gd name="T61" fmla="*/ 184 h 218"/>
              <a:gd name="T62" fmla="*/ 318 w 472"/>
              <a:gd name="T63" fmla="*/ 180 h 218"/>
              <a:gd name="T64" fmla="*/ 336 w 472"/>
              <a:gd name="T65" fmla="*/ 178 h 218"/>
              <a:gd name="T66" fmla="*/ 352 w 472"/>
              <a:gd name="T67" fmla="*/ 178 h 218"/>
              <a:gd name="T68" fmla="*/ 366 w 472"/>
              <a:gd name="T69" fmla="*/ 180 h 218"/>
              <a:gd name="T70" fmla="*/ 366 w 472"/>
              <a:gd name="T71" fmla="*/ 120 h 218"/>
              <a:gd name="T72" fmla="*/ 406 w 472"/>
              <a:gd name="T73" fmla="*/ 106 h 218"/>
              <a:gd name="T74" fmla="*/ 406 w 472"/>
              <a:gd name="T75" fmla="*/ 122 h 218"/>
              <a:gd name="T76" fmla="*/ 406 w 472"/>
              <a:gd name="T77" fmla="*/ 122 h 218"/>
              <a:gd name="T78" fmla="*/ 400 w 472"/>
              <a:gd name="T79" fmla="*/ 126 h 218"/>
              <a:gd name="T80" fmla="*/ 398 w 472"/>
              <a:gd name="T81" fmla="*/ 130 h 218"/>
              <a:gd name="T82" fmla="*/ 398 w 472"/>
              <a:gd name="T83" fmla="*/ 134 h 218"/>
              <a:gd name="T84" fmla="*/ 398 w 472"/>
              <a:gd name="T85" fmla="*/ 134 h 218"/>
              <a:gd name="T86" fmla="*/ 398 w 472"/>
              <a:gd name="T87" fmla="*/ 138 h 218"/>
              <a:gd name="T88" fmla="*/ 402 w 472"/>
              <a:gd name="T89" fmla="*/ 142 h 218"/>
              <a:gd name="T90" fmla="*/ 392 w 472"/>
              <a:gd name="T91" fmla="*/ 208 h 218"/>
              <a:gd name="T92" fmla="*/ 430 w 472"/>
              <a:gd name="T93" fmla="*/ 208 h 218"/>
              <a:gd name="T94" fmla="*/ 418 w 472"/>
              <a:gd name="T95" fmla="*/ 144 h 218"/>
              <a:gd name="T96" fmla="*/ 418 w 472"/>
              <a:gd name="T97" fmla="*/ 144 h 218"/>
              <a:gd name="T98" fmla="*/ 422 w 472"/>
              <a:gd name="T99" fmla="*/ 140 h 218"/>
              <a:gd name="T100" fmla="*/ 424 w 472"/>
              <a:gd name="T101" fmla="*/ 134 h 218"/>
              <a:gd name="T102" fmla="*/ 424 w 472"/>
              <a:gd name="T103" fmla="*/ 134 h 218"/>
              <a:gd name="T104" fmla="*/ 422 w 472"/>
              <a:gd name="T105" fmla="*/ 130 h 218"/>
              <a:gd name="T106" fmla="*/ 420 w 472"/>
              <a:gd name="T107" fmla="*/ 126 h 218"/>
              <a:gd name="T108" fmla="*/ 416 w 472"/>
              <a:gd name="T109" fmla="*/ 122 h 218"/>
              <a:gd name="T110" fmla="*/ 416 w 472"/>
              <a:gd name="T111" fmla="*/ 102 h 218"/>
              <a:gd name="T112" fmla="*/ 466 w 472"/>
              <a:gd name="T113" fmla="*/ 84 h 218"/>
              <a:gd name="T114" fmla="*/ 466 w 472"/>
              <a:gd name="T115" fmla="*/ 84 h 218"/>
              <a:gd name="T116" fmla="*/ 470 w 472"/>
              <a:gd name="T117" fmla="*/ 82 h 218"/>
              <a:gd name="T118" fmla="*/ 472 w 472"/>
              <a:gd name="T119" fmla="*/ 82 h 218"/>
              <a:gd name="T120" fmla="*/ 470 w 472"/>
              <a:gd name="T121" fmla="*/ 80 h 218"/>
              <a:gd name="T122" fmla="*/ 466 w 472"/>
              <a:gd name="T123" fmla="*/ 78 h 218"/>
              <a:gd name="T124" fmla="*/ 466 w 472"/>
              <a:gd name="T125" fmla="*/ 7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2" h="218">
                <a:moveTo>
                  <a:pt x="466" y="78"/>
                </a:moveTo>
                <a:lnTo>
                  <a:pt x="246" y="2"/>
                </a:lnTo>
                <a:lnTo>
                  <a:pt x="246" y="2"/>
                </a:lnTo>
                <a:lnTo>
                  <a:pt x="236" y="0"/>
                </a:lnTo>
                <a:lnTo>
                  <a:pt x="226" y="2"/>
                </a:lnTo>
                <a:lnTo>
                  <a:pt x="4" y="80"/>
                </a:lnTo>
                <a:lnTo>
                  <a:pt x="4" y="80"/>
                </a:lnTo>
                <a:lnTo>
                  <a:pt x="2" y="82"/>
                </a:lnTo>
                <a:lnTo>
                  <a:pt x="0" y="84"/>
                </a:lnTo>
                <a:lnTo>
                  <a:pt x="2" y="84"/>
                </a:lnTo>
                <a:lnTo>
                  <a:pt x="4" y="86"/>
                </a:lnTo>
                <a:lnTo>
                  <a:pt x="96" y="118"/>
                </a:lnTo>
                <a:lnTo>
                  <a:pt x="96" y="184"/>
                </a:lnTo>
                <a:lnTo>
                  <a:pt x="96" y="184"/>
                </a:lnTo>
                <a:lnTo>
                  <a:pt x="108" y="178"/>
                </a:lnTo>
                <a:lnTo>
                  <a:pt x="126" y="178"/>
                </a:lnTo>
                <a:lnTo>
                  <a:pt x="146" y="178"/>
                </a:lnTo>
                <a:lnTo>
                  <a:pt x="168" y="184"/>
                </a:lnTo>
                <a:lnTo>
                  <a:pt x="168" y="184"/>
                </a:lnTo>
                <a:lnTo>
                  <a:pt x="188" y="190"/>
                </a:lnTo>
                <a:lnTo>
                  <a:pt x="206" y="198"/>
                </a:lnTo>
                <a:lnTo>
                  <a:pt x="220" y="208"/>
                </a:lnTo>
                <a:lnTo>
                  <a:pt x="230" y="218"/>
                </a:lnTo>
                <a:lnTo>
                  <a:pt x="230" y="218"/>
                </a:lnTo>
                <a:lnTo>
                  <a:pt x="238" y="218"/>
                </a:lnTo>
                <a:lnTo>
                  <a:pt x="238" y="218"/>
                </a:lnTo>
                <a:lnTo>
                  <a:pt x="248" y="208"/>
                </a:lnTo>
                <a:lnTo>
                  <a:pt x="262" y="198"/>
                </a:lnTo>
                <a:lnTo>
                  <a:pt x="278" y="190"/>
                </a:lnTo>
                <a:lnTo>
                  <a:pt x="300" y="184"/>
                </a:lnTo>
                <a:lnTo>
                  <a:pt x="300" y="184"/>
                </a:lnTo>
                <a:lnTo>
                  <a:pt x="318" y="180"/>
                </a:lnTo>
                <a:lnTo>
                  <a:pt x="336" y="178"/>
                </a:lnTo>
                <a:lnTo>
                  <a:pt x="352" y="178"/>
                </a:lnTo>
                <a:lnTo>
                  <a:pt x="366" y="180"/>
                </a:lnTo>
                <a:lnTo>
                  <a:pt x="366" y="120"/>
                </a:lnTo>
                <a:lnTo>
                  <a:pt x="406" y="106"/>
                </a:lnTo>
                <a:lnTo>
                  <a:pt x="406" y="122"/>
                </a:lnTo>
                <a:lnTo>
                  <a:pt x="406" y="122"/>
                </a:lnTo>
                <a:lnTo>
                  <a:pt x="400" y="126"/>
                </a:lnTo>
                <a:lnTo>
                  <a:pt x="398" y="130"/>
                </a:lnTo>
                <a:lnTo>
                  <a:pt x="398" y="134"/>
                </a:lnTo>
                <a:lnTo>
                  <a:pt x="398" y="134"/>
                </a:lnTo>
                <a:lnTo>
                  <a:pt x="398" y="138"/>
                </a:lnTo>
                <a:lnTo>
                  <a:pt x="402" y="142"/>
                </a:lnTo>
                <a:lnTo>
                  <a:pt x="392" y="208"/>
                </a:lnTo>
                <a:lnTo>
                  <a:pt x="430" y="208"/>
                </a:lnTo>
                <a:lnTo>
                  <a:pt x="418" y="144"/>
                </a:lnTo>
                <a:lnTo>
                  <a:pt x="418" y="144"/>
                </a:lnTo>
                <a:lnTo>
                  <a:pt x="422" y="140"/>
                </a:lnTo>
                <a:lnTo>
                  <a:pt x="424" y="134"/>
                </a:lnTo>
                <a:lnTo>
                  <a:pt x="424" y="134"/>
                </a:lnTo>
                <a:lnTo>
                  <a:pt x="422" y="130"/>
                </a:lnTo>
                <a:lnTo>
                  <a:pt x="420" y="126"/>
                </a:lnTo>
                <a:lnTo>
                  <a:pt x="416" y="122"/>
                </a:lnTo>
                <a:lnTo>
                  <a:pt x="416" y="102"/>
                </a:lnTo>
                <a:lnTo>
                  <a:pt x="466" y="84"/>
                </a:lnTo>
                <a:lnTo>
                  <a:pt x="466" y="84"/>
                </a:lnTo>
                <a:lnTo>
                  <a:pt x="470" y="82"/>
                </a:lnTo>
                <a:lnTo>
                  <a:pt x="472" y="82"/>
                </a:lnTo>
                <a:lnTo>
                  <a:pt x="470" y="80"/>
                </a:lnTo>
                <a:lnTo>
                  <a:pt x="466" y="78"/>
                </a:lnTo>
                <a:lnTo>
                  <a:pt x="466" y="78"/>
                </a:lnTo>
                <a:close/>
              </a:path>
            </a:pathLst>
          </a:custGeom>
          <a:solidFill>
            <a:srgbClr val="0027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rot="16200000">
            <a:off x="4268442" y="5957814"/>
            <a:ext cx="7239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351651" y="3663058"/>
            <a:ext cx="8506123" cy="1253886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Harmonization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</a:rPr>
              <a:t>Low awareness amongst manufacturers and additional parameters covered under international standards lead to a preference for them</a:t>
            </a:r>
          </a:p>
          <a:p>
            <a:pPr defTabSz="710777">
              <a:spcAft>
                <a:spcPts val="400"/>
              </a:spcAft>
            </a:pPr>
            <a:endParaRPr lang="en-US" sz="1813" b="1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651479" y="5605942"/>
            <a:ext cx="8637138" cy="953098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00" b="1" dirty="0">
                <a:solidFill>
                  <a:prstClr val="black"/>
                </a:solidFill>
              </a:rPr>
              <a:t>Feedback/complaints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ysClr val="windowText" lastClr="000000"/>
                </a:solidFill>
              </a:rPr>
              <a:t>Extensive feedback from importers 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ysClr val="windowText" lastClr="000000"/>
                </a:solidFill>
              </a:rPr>
              <a:t>Portal for lodging of complaints and grievance </a:t>
            </a:r>
            <a:r>
              <a:rPr lang="en-US" sz="1600" i="1" dirty="0" err="1">
                <a:solidFill>
                  <a:sysClr val="windowText" lastClr="000000"/>
                </a:solidFill>
              </a:rPr>
              <a:t>redressal</a:t>
            </a:r>
            <a:endParaRPr lang="en-US" sz="1600" i="1" dirty="0">
              <a:solidFill>
                <a:sysClr val="windowText" lastClr="000000"/>
              </a:solidFill>
            </a:endParaRPr>
          </a:p>
        </p:txBody>
      </p:sp>
      <p:pic>
        <p:nvPicPr>
          <p:cNvPr id="38" name="Picture 37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1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4164399"/>
              </p:ext>
            </p:extLst>
          </p:nvPr>
        </p:nvGraphicFramePr>
        <p:xfrm>
          <a:off x="1800" y="2923"/>
          <a:ext cx="1799" cy="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" y="2923"/>
                        <a:ext cx="1799" cy="1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>
          <a:xfrm>
            <a:off x="2" y="1125"/>
            <a:ext cx="179823" cy="179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18848"/>
            <a:endParaRPr lang="en-US" sz="2400" b="1" dirty="0">
              <a:solidFill>
                <a:prstClr val="white"/>
              </a:solidFill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pic>
        <p:nvPicPr>
          <p:cNvPr id="68" name="Picture 6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4"/>
          <a:stretch/>
        </p:blipFill>
        <p:spPr bwMode="auto">
          <a:xfrm>
            <a:off x="511891" y="1594077"/>
            <a:ext cx="4390367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Rectangle 99"/>
          <p:cNvSpPr/>
          <p:nvPr/>
        </p:nvSpPr>
        <p:spPr bwMode="gray">
          <a:xfrm>
            <a:off x="799185" y="903687"/>
            <a:ext cx="1718046" cy="40779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114127" tIns="114127" rIns="114127" bIns="114127" rtlCol="0" anchor="ctr"/>
          <a:lstStyle/>
          <a:p>
            <a:pPr algn="ctr" defTabSz="1565073">
              <a:lnSpc>
                <a:spcPct val="106000"/>
              </a:lnSpc>
              <a:defRPr/>
            </a:pPr>
            <a:endParaRPr lang="en-IN" sz="1600" b="1" dirty="0">
              <a:solidFill>
                <a:srgbClr val="046A38"/>
              </a:solidFill>
              <a:latin typeface="Verdana"/>
            </a:endParaRPr>
          </a:p>
        </p:txBody>
      </p:sp>
      <p:sp>
        <p:nvSpPr>
          <p:cNvPr id="107" name="Title 1"/>
          <p:cNvSpPr>
            <a:spLocks noGrp="1"/>
          </p:cNvSpPr>
          <p:nvPr>
            <p:ph type="title"/>
          </p:nvPr>
        </p:nvSpPr>
        <p:spPr>
          <a:xfrm>
            <a:off x="500744" y="405929"/>
            <a:ext cx="12389805" cy="620271"/>
          </a:xfrm>
        </p:spPr>
        <p:txBody>
          <a:bodyPr/>
          <a:lstStyle/>
          <a:p>
            <a:pPr defTabSz="1565073">
              <a:defRPr/>
            </a:pPr>
            <a:r>
              <a:rPr lang="en-US" sz="2400" dirty="0">
                <a:solidFill>
                  <a:srgbClr val="012169">
                    <a:lumMod val="50000"/>
                  </a:srgbClr>
                </a:solidFill>
              </a:rPr>
              <a:t>Governance</a:t>
            </a:r>
            <a:endParaRPr lang="en-IN" sz="2400" dirty="0">
              <a:solidFill>
                <a:srgbClr val="012169">
                  <a:lumMod val="50000"/>
                </a:srgbClr>
              </a:solidFill>
            </a:endParaRPr>
          </a:p>
        </p:txBody>
      </p:sp>
      <p:sp>
        <p:nvSpPr>
          <p:cNvPr id="34" name="AutoShape 3"/>
          <p:cNvSpPr>
            <a:spLocks noChangeAspect="1" noChangeArrowheads="1" noTextEdit="1"/>
          </p:cNvSpPr>
          <p:nvPr/>
        </p:nvSpPr>
        <p:spPr bwMode="auto">
          <a:xfrm>
            <a:off x="624883" y="1594077"/>
            <a:ext cx="4229554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74419" y="1419742"/>
            <a:ext cx="9314198" cy="1217144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</a:rPr>
              <a:t>Review of technical specifications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dirty="0">
                <a:solidFill>
                  <a:prstClr val="black"/>
                </a:solidFill>
              </a:rPr>
              <a:t>Taking into account local context and domestic ore quality is of utmost importance during review of standards for different categories</a:t>
            </a:r>
          </a:p>
          <a:p>
            <a:pPr defTabSz="710777">
              <a:spcAft>
                <a:spcPts val="400"/>
              </a:spcAft>
            </a:pPr>
            <a:endParaRPr lang="en-US" sz="1587" b="1" dirty="0"/>
          </a:p>
        </p:txBody>
      </p:sp>
      <p:cxnSp>
        <p:nvCxnSpPr>
          <p:cNvPr id="48" name="Straight Connector 47"/>
          <p:cNvCxnSpPr/>
          <p:nvPr/>
        </p:nvCxnSpPr>
        <p:spPr>
          <a:xfrm rot="16200000">
            <a:off x="5000735" y="4000004"/>
            <a:ext cx="72395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620635" y="1861243"/>
            <a:ext cx="71433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217"/>
          <p:cNvSpPr>
            <a:spLocks noEditPoints="1"/>
          </p:cNvSpPr>
          <p:nvPr/>
        </p:nvSpPr>
        <p:spPr bwMode="auto">
          <a:xfrm rot="16200000">
            <a:off x="3280111" y="1674834"/>
            <a:ext cx="613052" cy="350262"/>
          </a:xfrm>
          <a:custGeom>
            <a:avLst/>
            <a:gdLst>
              <a:gd name="T0" fmla="*/ 430 w 470"/>
              <a:gd name="T1" fmla="*/ 70 h 212"/>
              <a:gd name="T2" fmla="*/ 204 w 470"/>
              <a:gd name="T3" fmla="*/ 70 h 212"/>
              <a:gd name="T4" fmla="*/ 188 w 470"/>
              <a:gd name="T5" fmla="*/ 40 h 212"/>
              <a:gd name="T6" fmla="*/ 180 w 470"/>
              <a:gd name="T7" fmla="*/ 32 h 212"/>
              <a:gd name="T8" fmla="*/ 144 w 470"/>
              <a:gd name="T9" fmla="*/ 8 h 212"/>
              <a:gd name="T10" fmla="*/ 106 w 470"/>
              <a:gd name="T11" fmla="*/ 0 h 212"/>
              <a:gd name="T12" fmla="*/ 66 w 470"/>
              <a:gd name="T13" fmla="*/ 8 h 212"/>
              <a:gd name="T14" fmla="*/ 30 w 470"/>
              <a:gd name="T15" fmla="*/ 32 h 212"/>
              <a:gd name="T16" fmla="*/ 18 w 470"/>
              <a:gd name="T17" fmla="*/ 48 h 212"/>
              <a:gd name="T18" fmla="*/ 2 w 470"/>
              <a:gd name="T19" fmla="*/ 86 h 212"/>
              <a:gd name="T20" fmla="*/ 2 w 470"/>
              <a:gd name="T21" fmla="*/ 126 h 212"/>
              <a:gd name="T22" fmla="*/ 18 w 470"/>
              <a:gd name="T23" fmla="*/ 164 h 212"/>
              <a:gd name="T24" fmla="*/ 30 w 470"/>
              <a:gd name="T25" fmla="*/ 180 h 212"/>
              <a:gd name="T26" fmla="*/ 66 w 470"/>
              <a:gd name="T27" fmla="*/ 204 h 212"/>
              <a:gd name="T28" fmla="*/ 106 w 470"/>
              <a:gd name="T29" fmla="*/ 212 h 212"/>
              <a:gd name="T30" fmla="*/ 144 w 470"/>
              <a:gd name="T31" fmla="*/ 204 h 212"/>
              <a:gd name="T32" fmla="*/ 180 w 470"/>
              <a:gd name="T33" fmla="*/ 180 h 212"/>
              <a:gd name="T34" fmla="*/ 190 w 470"/>
              <a:gd name="T35" fmla="*/ 168 h 212"/>
              <a:gd name="T36" fmla="*/ 204 w 470"/>
              <a:gd name="T37" fmla="*/ 142 h 212"/>
              <a:gd name="T38" fmla="*/ 258 w 470"/>
              <a:gd name="T39" fmla="*/ 126 h 212"/>
              <a:gd name="T40" fmla="*/ 306 w 470"/>
              <a:gd name="T41" fmla="*/ 128 h 212"/>
              <a:gd name="T42" fmla="*/ 354 w 470"/>
              <a:gd name="T43" fmla="*/ 128 h 212"/>
              <a:gd name="T44" fmla="*/ 402 w 470"/>
              <a:gd name="T45" fmla="*/ 128 h 212"/>
              <a:gd name="T46" fmla="*/ 452 w 470"/>
              <a:gd name="T47" fmla="*/ 126 h 212"/>
              <a:gd name="T48" fmla="*/ 470 w 470"/>
              <a:gd name="T49" fmla="*/ 108 h 212"/>
              <a:gd name="T50" fmla="*/ 74 w 470"/>
              <a:gd name="T51" fmla="*/ 124 h 212"/>
              <a:gd name="T52" fmla="*/ 66 w 470"/>
              <a:gd name="T53" fmla="*/ 128 h 212"/>
              <a:gd name="T54" fmla="*/ 46 w 470"/>
              <a:gd name="T55" fmla="*/ 128 h 212"/>
              <a:gd name="T56" fmla="*/ 38 w 470"/>
              <a:gd name="T57" fmla="*/ 124 h 212"/>
              <a:gd name="T58" fmla="*/ 32 w 470"/>
              <a:gd name="T59" fmla="*/ 106 h 212"/>
              <a:gd name="T60" fmla="*/ 38 w 470"/>
              <a:gd name="T61" fmla="*/ 88 h 212"/>
              <a:gd name="T62" fmla="*/ 46 w 470"/>
              <a:gd name="T63" fmla="*/ 84 h 212"/>
              <a:gd name="T64" fmla="*/ 66 w 470"/>
              <a:gd name="T65" fmla="*/ 84 h 212"/>
              <a:gd name="T66" fmla="*/ 74 w 470"/>
              <a:gd name="T67" fmla="*/ 88 h 212"/>
              <a:gd name="T68" fmla="*/ 80 w 470"/>
              <a:gd name="T69" fmla="*/ 106 h 212"/>
              <a:gd name="T70" fmla="*/ 74 w 470"/>
              <a:gd name="T71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70" h="212">
                <a:moveTo>
                  <a:pt x="430" y="70"/>
                </a:moveTo>
                <a:lnTo>
                  <a:pt x="430" y="70"/>
                </a:lnTo>
                <a:lnTo>
                  <a:pt x="204" y="70"/>
                </a:lnTo>
                <a:lnTo>
                  <a:pt x="204" y="70"/>
                </a:lnTo>
                <a:lnTo>
                  <a:pt x="194" y="50"/>
                </a:lnTo>
                <a:lnTo>
                  <a:pt x="188" y="40"/>
                </a:lnTo>
                <a:lnTo>
                  <a:pt x="180" y="32"/>
                </a:lnTo>
                <a:lnTo>
                  <a:pt x="180" y="32"/>
                </a:lnTo>
                <a:lnTo>
                  <a:pt x="164" y="18"/>
                </a:lnTo>
                <a:lnTo>
                  <a:pt x="144" y="8"/>
                </a:lnTo>
                <a:lnTo>
                  <a:pt x="126" y="2"/>
                </a:lnTo>
                <a:lnTo>
                  <a:pt x="106" y="0"/>
                </a:lnTo>
                <a:lnTo>
                  <a:pt x="84" y="2"/>
                </a:lnTo>
                <a:lnTo>
                  <a:pt x="66" y="8"/>
                </a:lnTo>
                <a:lnTo>
                  <a:pt x="48" y="18"/>
                </a:lnTo>
                <a:lnTo>
                  <a:pt x="30" y="32"/>
                </a:lnTo>
                <a:lnTo>
                  <a:pt x="30" y="32"/>
                </a:lnTo>
                <a:lnTo>
                  <a:pt x="18" y="48"/>
                </a:lnTo>
                <a:lnTo>
                  <a:pt x="8" y="66"/>
                </a:lnTo>
                <a:lnTo>
                  <a:pt x="2" y="86"/>
                </a:lnTo>
                <a:lnTo>
                  <a:pt x="0" y="106"/>
                </a:lnTo>
                <a:lnTo>
                  <a:pt x="2" y="126"/>
                </a:lnTo>
                <a:lnTo>
                  <a:pt x="8" y="146"/>
                </a:lnTo>
                <a:lnTo>
                  <a:pt x="18" y="164"/>
                </a:lnTo>
                <a:lnTo>
                  <a:pt x="30" y="180"/>
                </a:lnTo>
                <a:lnTo>
                  <a:pt x="30" y="180"/>
                </a:lnTo>
                <a:lnTo>
                  <a:pt x="48" y="194"/>
                </a:lnTo>
                <a:lnTo>
                  <a:pt x="66" y="204"/>
                </a:lnTo>
                <a:lnTo>
                  <a:pt x="84" y="210"/>
                </a:lnTo>
                <a:lnTo>
                  <a:pt x="106" y="212"/>
                </a:lnTo>
                <a:lnTo>
                  <a:pt x="126" y="210"/>
                </a:lnTo>
                <a:lnTo>
                  <a:pt x="144" y="204"/>
                </a:lnTo>
                <a:lnTo>
                  <a:pt x="164" y="194"/>
                </a:lnTo>
                <a:lnTo>
                  <a:pt x="180" y="180"/>
                </a:lnTo>
                <a:lnTo>
                  <a:pt x="180" y="180"/>
                </a:lnTo>
                <a:lnTo>
                  <a:pt x="190" y="168"/>
                </a:lnTo>
                <a:lnTo>
                  <a:pt x="198" y="156"/>
                </a:lnTo>
                <a:lnTo>
                  <a:pt x="204" y="142"/>
                </a:lnTo>
                <a:lnTo>
                  <a:pt x="208" y="126"/>
                </a:lnTo>
                <a:lnTo>
                  <a:pt x="258" y="126"/>
                </a:lnTo>
                <a:lnTo>
                  <a:pt x="282" y="152"/>
                </a:lnTo>
                <a:lnTo>
                  <a:pt x="306" y="128"/>
                </a:lnTo>
                <a:lnTo>
                  <a:pt x="330" y="152"/>
                </a:lnTo>
                <a:lnTo>
                  <a:pt x="354" y="128"/>
                </a:lnTo>
                <a:lnTo>
                  <a:pt x="378" y="152"/>
                </a:lnTo>
                <a:lnTo>
                  <a:pt x="402" y="128"/>
                </a:lnTo>
                <a:lnTo>
                  <a:pt x="426" y="152"/>
                </a:lnTo>
                <a:lnTo>
                  <a:pt x="452" y="126"/>
                </a:lnTo>
                <a:lnTo>
                  <a:pt x="460" y="118"/>
                </a:lnTo>
                <a:lnTo>
                  <a:pt x="470" y="108"/>
                </a:lnTo>
                <a:lnTo>
                  <a:pt x="430" y="70"/>
                </a:lnTo>
                <a:close/>
                <a:moveTo>
                  <a:pt x="74" y="124"/>
                </a:moveTo>
                <a:lnTo>
                  <a:pt x="74" y="124"/>
                </a:lnTo>
                <a:lnTo>
                  <a:pt x="66" y="128"/>
                </a:lnTo>
                <a:lnTo>
                  <a:pt x="56" y="130"/>
                </a:lnTo>
                <a:lnTo>
                  <a:pt x="46" y="128"/>
                </a:lnTo>
                <a:lnTo>
                  <a:pt x="38" y="124"/>
                </a:lnTo>
                <a:lnTo>
                  <a:pt x="38" y="124"/>
                </a:lnTo>
                <a:lnTo>
                  <a:pt x="34" y="116"/>
                </a:lnTo>
                <a:lnTo>
                  <a:pt x="32" y="106"/>
                </a:lnTo>
                <a:lnTo>
                  <a:pt x="34" y="96"/>
                </a:lnTo>
                <a:lnTo>
                  <a:pt x="38" y="88"/>
                </a:lnTo>
                <a:lnTo>
                  <a:pt x="38" y="88"/>
                </a:lnTo>
                <a:lnTo>
                  <a:pt x="46" y="84"/>
                </a:lnTo>
                <a:lnTo>
                  <a:pt x="56" y="82"/>
                </a:lnTo>
                <a:lnTo>
                  <a:pt x="66" y="84"/>
                </a:lnTo>
                <a:lnTo>
                  <a:pt x="74" y="88"/>
                </a:lnTo>
                <a:lnTo>
                  <a:pt x="74" y="88"/>
                </a:lnTo>
                <a:lnTo>
                  <a:pt x="78" y="96"/>
                </a:lnTo>
                <a:lnTo>
                  <a:pt x="80" y="106"/>
                </a:lnTo>
                <a:lnTo>
                  <a:pt x="78" y="116"/>
                </a:lnTo>
                <a:lnTo>
                  <a:pt x="74" y="124"/>
                </a:lnTo>
                <a:lnTo>
                  <a:pt x="74" y="1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grpSp>
        <p:nvGrpSpPr>
          <p:cNvPr id="58" name="Group 57"/>
          <p:cNvGrpSpPr/>
          <p:nvPr/>
        </p:nvGrpSpPr>
        <p:grpSpPr>
          <a:xfrm flipH="1">
            <a:off x="4392766" y="3822214"/>
            <a:ext cx="810050" cy="355580"/>
            <a:chOff x="7391400" y="1254125"/>
            <a:chExt cx="1631950" cy="920750"/>
          </a:xfrm>
        </p:grpSpPr>
        <p:sp>
          <p:nvSpPr>
            <p:cNvPr id="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91400" y="1254125"/>
              <a:ext cx="1631950" cy="92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>
              <a:off x="7845425" y="1254125"/>
              <a:ext cx="879475" cy="635000"/>
            </a:xfrm>
            <a:custGeom>
              <a:avLst/>
              <a:gdLst>
                <a:gd name="T0" fmla="*/ 6 w 554"/>
                <a:gd name="T1" fmla="*/ 156 h 400"/>
                <a:gd name="T2" fmla="*/ 128 w 554"/>
                <a:gd name="T3" fmla="*/ 54 h 400"/>
                <a:gd name="T4" fmla="*/ 160 w 554"/>
                <a:gd name="T5" fmla="*/ 24 h 400"/>
                <a:gd name="T6" fmla="*/ 172 w 554"/>
                <a:gd name="T7" fmla="*/ 12 h 400"/>
                <a:gd name="T8" fmla="*/ 204 w 554"/>
                <a:gd name="T9" fmla="*/ 0 h 400"/>
                <a:gd name="T10" fmla="*/ 230 w 554"/>
                <a:gd name="T11" fmla="*/ 0 h 400"/>
                <a:gd name="T12" fmla="*/ 260 w 554"/>
                <a:gd name="T13" fmla="*/ 4 h 400"/>
                <a:gd name="T14" fmla="*/ 298 w 554"/>
                <a:gd name="T15" fmla="*/ 18 h 400"/>
                <a:gd name="T16" fmla="*/ 384 w 554"/>
                <a:gd name="T17" fmla="*/ 62 h 400"/>
                <a:gd name="T18" fmla="*/ 496 w 554"/>
                <a:gd name="T19" fmla="*/ 120 h 400"/>
                <a:gd name="T20" fmla="*/ 514 w 554"/>
                <a:gd name="T21" fmla="*/ 124 h 400"/>
                <a:gd name="T22" fmla="*/ 540 w 554"/>
                <a:gd name="T23" fmla="*/ 124 h 400"/>
                <a:gd name="T24" fmla="*/ 554 w 554"/>
                <a:gd name="T25" fmla="*/ 394 h 400"/>
                <a:gd name="T26" fmla="*/ 544 w 554"/>
                <a:gd name="T27" fmla="*/ 396 h 400"/>
                <a:gd name="T28" fmla="*/ 490 w 554"/>
                <a:gd name="T29" fmla="*/ 400 h 400"/>
                <a:gd name="T30" fmla="*/ 466 w 554"/>
                <a:gd name="T31" fmla="*/ 394 h 400"/>
                <a:gd name="T32" fmla="*/ 448 w 554"/>
                <a:gd name="T33" fmla="*/ 374 h 400"/>
                <a:gd name="T34" fmla="*/ 354 w 554"/>
                <a:gd name="T35" fmla="*/ 256 h 400"/>
                <a:gd name="T36" fmla="*/ 282 w 554"/>
                <a:gd name="T37" fmla="*/ 176 h 400"/>
                <a:gd name="T38" fmla="*/ 252 w 554"/>
                <a:gd name="T39" fmla="*/ 150 h 400"/>
                <a:gd name="T40" fmla="*/ 230 w 554"/>
                <a:gd name="T41" fmla="*/ 138 h 400"/>
                <a:gd name="T42" fmla="*/ 212 w 554"/>
                <a:gd name="T43" fmla="*/ 138 h 400"/>
                <a:gd name="T44" fmla="*/ 180 w 554"/>
                <a:gd name="T45" fmla="*/ 148 h 400"/>
                <a:gd name="T46" fmla="*/ 138 w 554"/>
                <a:gd name="T47" fmla="*/ 178 h 400"/>
                <a:gd name="T48" fmla="*/ 112 w 554"/>
                <a:gd name="T49" fmla="*/ 196 h 400"/>
                <a:gd name="T50" fmla="*/ 80 w 554"/>
                <a:gd name="T51" fmla="*/ 208 h 400"/>
                <a:gd name="T52" fmla="*/ 34 w 554"/>
                <a:gd name="T53" fmla="*/ 202 h 400"/>
                <a:gd name="T54" fmla="*/ 22 w 554"/>
                <a:gd name="T55" fmla="*/ 198 h 400"/>
                <a:gd name="T56" fmla="*/ 4 w 554"/>
                <a:gd name="T57" fmla="*/ 184 h 400"/>
                <a:gd name="T58" fmla="*/ 0 w 554"/>
                <a:gd name="T59" fmla="*/ 170 h 400"/>
                <a:gd name="T60" fmla="*/ 2 w 554"/>
                <a:gd name="T61" fmla="*/ 160 h 400"/>
                <a:gd name="T62" fmla="*/ 6 w 554"/>
                <a:gd name="T63" fmla="*/ 15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4" h="400">
                  <a:moveTo>
                    <a:pt x="6" y="156"/>
                  </a:moveTo>
                  <a:lnTo>
                    <a:pt x="6" y="156"/>
                  </a:lnTo>
                  <a:lnTo>
                    <a:pt x="78" y="96"/>
                  </a:lnTo>
                  <a:lnTo>
                    <a:pt x="128" y="54"/>
                  </a:lnTo>
                  <a:lnTo>
                    <a:pt x="148" y="36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72" y="12"/>
                  </a:lnTo>
                  <a:lnTo>
                    <a:pt x="186" y="6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44" y="0"/>
                  </a:lnTo>
                  <a:lnTo>
                    <a:pt x="260" y="4"/>
                  </a:lnTo>
                  <a:lnTo>
                    <a:pt x="278" y="10"/>
                  </a:lnTo>
                  <a:lnTo>
                    <a:pt x="298" y="18"/>
                  </a:lnTo>
                  <a:lnTo>
                    <a:pt x="340" y="38"/>
                  </a:lnTo>
                  <a:lnTo>
                    <a:pt x="384" y="62"/>
                  </a:lnTo>
                  <a:lnTo>
                    <a:pt x="466" y="106"/>
                  </a:lnTo>
                  <a:lnTo>
                    <a:pt x="496" y="120"/>
                  </a:lnTo>
                  <a:lnTo>
                    <a:pt x="506" y="124"/>
                  </a:lnTo>
                  <a:lnTo>
                    <a:pt x="514" y="124"/>
                  </a:lnTo>
                  <a:lnTo>
                    <a:pt x="514" y="124"/>
                  </a:lnTo>
                  <a:lnTo>
                    <a:pt x="540" y="124"/>
                  </a:lnTo>
                  <a:lnTo>
                    <a:pt x="554" y="122"/>
                  </a:lnTo>
                  <a:lnTo>
                    <a:pt x="554" y="394"/>
                  </a:lnTo>
                  <a:lnTo>
                    <a:pt x="554" y="394"/>
                  </a:lnTo>
                  <a:lnTo>
                    <a:pt x="544" y="396"/>
                  </a:lnTo>
                  <a:lnTo>
                    <a:pt x="520" y="398"/>
                  </a:lnTo>
                  <a:lnTo>
                    <a:pt x="490" y="400"/>
                  </a:lnTo>
                  <a:lnTo>
                    <a:pt x="476" y="398"/>
                  </a:lnTo>
                  <a:lnTo>
                    <a:pt x="466" y="394"/>
                  </a:lnTo>
                  <a:lnTo>
                    <a:pt x="466" y="394"/>
                  </a:lnTo>
                  <a:lnTo>
                    <a:pt x="448" y="374"/>
                  </a:lnTo>
                  <a:lnTo>
                    <a:pt x="422" y="342"/>
                  </a:lnTo>
                  <a:lnTo>
                    <a:pt x="354" y="256"/>
                  </a:lnTo>
                  <a:lnTo>
                    <a:pt x="318" y="214"/>
                  </a:lnTo>
                  <a:lnTo>
                    <a:pt x="282" y="176"/>
                  </a:lnTo>
                  <a:lnTo>
                    <a:pt x="266" y="160"/>
                  </a:lnTo>
                  <a:lnTo>
                    <a:pt x="252" y="150"/>
                  </a:lnTo>
                  <a:lnTo>
                    <a:pt x="240" y="142"/>
                  </a:lnTo>
                  <a:lnTo>
                    <a:pt x="230" y="138"/>
                  </a:lnTo>
                  <a:lnTo>
                    <a:pt x="230" y="138"/>
                  </a:lnTo>
                  <a:lnTo>
                    <a:pt x="212" y="138"/>
                  </a:lnTo>
                  <a:lnTo>
                    <a:pt x="194" y="142"/>
                  </a:lnTo>
                  <a:lnTo>
                    <a:pt x="180" y="148"/>
                  </a:lnTo>
                  <a:lnTo>
                    <a:pt x="164" y="158"/>
                  </a:lnTo>
                  <a:lnTo>
                    <a:pt x="138" y="17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96" y="204"/>
                  </a:lnTo>
                  <a:lnTo>
                    <a:pt x="80" y="208"/>
                  </a:lnTo>
                  <a:lnTo>
                    <a:pt x="58" y="206"/>
                  </a:lnTo>
                  <a:lnTo>
                    <a:pt x="34" y="202"/>
                  </a:lnTo>
                  <a:lnTo>
                    <a:pt x="34" y="202"/>
                  </a:lnTo>
                  <a:lnTo>
                    <a:pt x="22" y="198"/>
                  </a:lnTo>
                  <a:lnTo>
                    <a:pt x="12" y="192"/>
                  </a:lnTo>
                  <a:lnTo>
                    <a:pt x="4" y="184"/>
                  </a:lnTo>
                  <a:lnTo>
                    <a:pt x="2" y="178"/>
                  </a:lnTo>
                  <a:lnTo>
                    <a:pt x="0" y="170"/>
                  </a:lnTo>
                  <a:lnTo>
                    <a:pt x="0" y="164"/>
                  </a:lnTo>
                  <a:lnTo>
                    <a:pt x="2" y="160"/>
                  </a:lnTo>
                  <a:lnTo>
                    <a:pt x="6" y="156"/>
                  </a:lnTo>
                  <a:lnTo>
                    <a:pt x="6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7696200" y="1289050"/>
              <a:ext cx="904875" cy="885825"/>
            </a:xfrm>
            <a:custGeom>
              <a:avLst/>
              <a:gdLst>
                <a:gd name="T0" fmla="*/ 0 w 570"/>
                <a:gd name="T1" fmla="*/ 370 h 558"/>
                <a:gd name="T2" fmla="*/ 44 w 570"/>
                <a:gd name="T3" fmla="*/ 370 h 558"/>
                <a:gd name="T4" fmla="*/ 48 w 570"/>
                <a:gd name="T5" fmla="*/ 372 h 558"/>
                <a:gd name="T6" fmla="*/ 72 w 570"/>
                <a:gd name="T7" fmla="*/ 396 h 558"/>
                <a:gd name="T8" fmla="*/ 150 w 570"/>
                <a:gd name="T9" fmla="*/ 488 h 558"/>
                <a:gd name="T10" fmla="*/ 196 w 570"/>
                <a:gd name="T11" fmla="*/ 530 h 558"/>
                <a:gd name="T12" fmla="*/ 226 w 570"/>
                <a:gd name="T13" fmla="*/ 548 h 558"/>
                <a:gd name="T14" fmla="*/ 240 w 570"/>
                <a:gd name="T15" fmla="*/ 554 h 558"/>
                <a:gd name="T16" fmla="*/ 282 w 570"/>
                <a:gd name="T17" fmla="*/ 558 h 558"/>
                <a:gd name="T18" fmla="*/ 302 w 570"/>
                <a:gd name="T19" fmla="*/ 550 h 558"/>
                <a:gd name="T20" fmla="*/ 308 w 570"/>
                <a:gd name="T21" fmla="*/ 540 h 558"/>
                <a:gd name="T22" fmla="*/ 308 w 570"/>
                <a:gd name="T23" fmla="*/ 534 h 558"/>
                <a:gd name="T24" fmla="*/ 330 w 570"/>
                <a:gd name="T25" fmla="*/ 544 h 558"/>
                <a:gd name="T26" fmla="*/ 366 w 570"/>
                <a:gd name="T27" fmla="*/ 552 h 558"/>
                <a:gd name="T28" fmla="*/ 380 w 570"/>
                <a:gd name="T29" fmla="*/ 554 h 558"/>
                <a:gd name="T30" fmla="*/ 392 w 570"/>
                <a:gd name="T31" fmla="*/ 552 h 558"/>
                <a:gd name="T32" fmla="*/ 404 w 570"/>
                <a:gd name="T33" fmla="*/ 538 h 558"/>
                <a:gd name="T34" fmla="*/ 406 w 570"/>
                <a:gd name="T35" fmla="*/ 520 h 558"/>
                <a:gd name="T36" fmla="*/ 402 w 570"/>
                <a:gd name="T37" fmla="*/ 506 h 558"/>
                <a:gd name="T38" fmla="*/ 408 w 570"/>
                <a:gd name="T39" fmla="*/ 510 h 558"/>
                <a:gd name="T40" fmla="*/ 436 w 570"/>
                <a:gd name="T41" fmla="*/ 522 h 558"/>
                <a:gd name="T42" fmla="*/ 460 w 570"/>
                <a:gd name="T43" fmla="*/ 526 h 558"/>
                <a:gd name="T44" fmla="*/ 472 w 570"/>
                <a:gd name="T45" fmla="*/ 524 h 558"/>
                <a:gd name="T46" fmla="*/ 490 w 570"/>
                <a:gd name="T47" fmla="*/ 514 h 558"/>
                <a:gd name="T48" fmla="*/ 500 w 570"/>
                <a:gd name="T49" fmla="*/ 498 h 558"/>
                <a:gd name="T50" fmla="*/ 502 w 570"/>
                <a:gd name="T51" fmla="*/ 478 h 558"/>
                <a:gd name="T52" fmla="*/ 546 w 570"/>
                <a:gd name="T53" fmla="*/ 476 h 558"/>
                <a:gd name="T54" fmla="*/ 560 w 570"/>
                <a:gd name="T55" fmla="*/ 468 h 558"/>
                <a:gd name="T56" fmla="*/ 570 w 570"/>
                <a:gd name="T57" fmla="*/ 452 h 558"/>
                <a:gd name="T58" fmla="*/ 570 w 570"/>
                <a:gd name="T59" fmla="*/ 434 h 558"/>
                <a:gd name="T60" fmla="*/ 556 w 570"/>
                <a:gd name="T61" fmla="*/ 408 h 558"/>
                <a:gd name="T62" fmla="*/ 538 w 570"/>
                <a:gd name="T63" fmla="*/ 384 h 558"/>
                <a:gd name="T64" fmla="*/ 456 w 570"/>
                <a:gd name="T65" fmla="*/ 286 h 558"/>
                <a:gd name="T66" fmla="*/ 356 w 570"/>
                <a:gd name="T67" fmla="*/ 170 h 558"/>
                <a:gd name="T68" fmla="*/ 350 w 570"/>
                <a:gd name="T69" fmla="*/ 162 h 558"/>
                <a:gd name="T70" fmla="*/ 330 w 570"/>
                <a:gd name="T71" fmla="*/ 148 h 558"/>
                <a:gd name="T72" fmla="*/ 304 w 570"/>
                <a:gd name="T73" fmla="*/ 146 h 558"/>
                <a:gd name="T74" fmla="*/ 286 w 570"/>
                <a:gd name="T75" fmla="*/ 152 h 558"/>
                <a:gd name="T76" fmla="*/ 278 w 570"/>
                <a:gd name="T77" fmla="*/ 156 h 558"/>
                <a:gd name="T78" fmla="*/ 198 w 570"/>
                <a:gd name="T79" fmla="*/ 198 h 558"/>
                <a:gd name="T80" fmla="*/ 178 w 570"/>
                <a:gd name="T81" fmla="*/ 206 h 558"/>
                <a:gd name="T82" fmla="*/ 138 w 570"/>
                <a:gd name="T83" fmla="*/ 208 h 558"/>
                <a:gd name="T84" fmla="*/ 106 w 570"/>
                <a:gd name="T85" fmla="*/ 198 h 558"/>
                <a:gd name="T86" fmla="*/ 84 w 570"/>
                <a:gd name="T87" fmla="*/ 188 h 558"/>
                <a:gd name="T88" fmla="*/ 78 w 570"/>
                <a:gd name="T89" fmla="*/ 182 h 558"/>
                <a:gd name="T90" fmla="*/ 64 w 570"/>
                <a:gd name="T91" fmla="*/ 164 h 558"/>
                <a:gd name="T92" fmla="*/ 60 w 570"/>
                <a:gd name="T93" fmla="*/ 148 h 558"/>
                <a:gd name="T94" fmla="*/ 62 w 570"/>
                <a:gd name="T95" fmla="*/ 136 h 558"/>
                <a:gd name="T96" fmla="*/ 70 w 570"/>
                <a:gd name="T97" fmla="*/ 122 h 558"/>
                <a:gd name="T98" fmla="*/ 78 w 570"/>
                <a:gd name="T99" fmla="*/ 116 h 558"/>
                <a:gd name="T100" fmla="*/ 164 w 570"/>
                <a:gd name="T101" fmla="*/ 48 h 558"/>
                <a:gd name="T102" fmla="*/ 188 w 570"/>
                <a:gd name="T103" fmla="*/ 26 h 558"/>
                <a:gd name="T104" fmla="*/ 206 w 570"/>
                <a:gd name="T105" fmla="*/ 8 h 558"/>
                <a:gd name="T106" fmla="*/ 204 w 570"/>
                <a:gd name="T107" fmla="*/ 0 h 558"/>
                <a:gd name="T108" fmla="*/ 192 w 570"/>
                <a:gd name="T109" fmla="*/ 2 h 558"/>
                <a:gd name="T110" fmla="*/ 172 w 570"/>
                <a:gd name="T111" fmla="*/ 10 h 558"/>
                <a:gd name="T112" fmla="*/ 114 w 570"/>
                <a:gd name="T113" fmla="*/ 52 h 558"/>
                <a:gd name="T114" fmla="*/ 64 w 570"/>
                <a:gd name="T115" fmla="*/ 88 h 558"/>
                <a:gd name="T116" fmla="*/ 54 w 570"/>
                <a:gd name="T117" fmla="*/ 92 h 558"/>
                <a:gd name="T118" fmla="*/ 8 w 570"/>
                <a:gd name="T119" fmla="*/ 98 h 558"/>
                <a:gd name="T120" fmla="*/ 0 w 570"/>
                <a:gd name="T121" fmla="*/ 9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0" h="558">
                  <a:moveTo>
                    <a:pt x="0" y="98"/>
                  </a:moveTo>
                  <a:lnTo>
                    <a:pt x="0" y="370"/>
                  </a:lnTo>
                  <a:lnTo>
                    <a:pt x="0" y="370"/>
                  </a:lnTo>
                  <a:lnTo>
                    <a:pt x="44" y="370"/>
                  </a:lnTo>
                  <a:lnTo>
                    <a:pt x="44" y="370"/>
                  </a:lnTo>
                  <a:lnTo>
                    <a:pt x="48" y="372"/>
                  </a:lnTo>
                  <a:lnTo>
                    <a:pt x="54" y="378"/>
                  </a:lnTo>
                  <a:lnTo>
                    <a:pt x="72" y="396"/>
                  </a:lnTo>
                  <a:lnTo>
                    <a:pt x="120" y="456"/>
                  </a:lnTo>
                  <a:lnTo>
                    <a:pt x="150" y="488"/>
                  </a:lnTo>
                  <a:lnTo>
                    <a:pt x="180" y="518"/>
                  </a:lnTo>
                  <a:lnTo>
                    <a:pt x="196" y="530"/>
                  </a:lnTo>
                  <a:lnTo>
                    <a:pt x="212" y="540"/>
                  </a:lnTo>
                  <a:lnTo>
                    <a:pt x="226" y="548"/>
                  </a:lnTo>
                  <a:lnTo>
                    <a:pt x="240" y="554"/>
                  </a:lnTo>
                  <a:lnTo>
                    <a:pt x="240" y="554"/>
                  </a:lnTo>
                  <a:lnTo>
                    <a:pt x="264" y="558"/>
                  </a:lnTo>
                  <a:lnTo>
                    <a:pt x="282" y="558"/>
                  </a:lnTo>
                  <a:lnTo>
                    <a:pt x="294" y="554"/>
                  </a:lnTo>
                  <a:lnTo>
                    <a:pt x="302" y="550"/>
                  </a:lnTo>
                  <a:lnTo>
                    <a:pt x="306" y="544"/>
                  </a:lnTo>
                  <a:lnTo>
                    <a:pt x="308" y="540"/>
                  </a:lnTo>
                  <a:lnTo>
                    <a:pt x="308" y="534"/>
                  </a:lnTo>
                  <a:lnTo>
                    <a:pt x="308" y="534"/>
                  </a:lnTo>
                  <a:lnTo>
                    <a:pt x="314" y="538"/>
                  </a:lnTo>
                  <a:lnTo>
                    <a:pt x="330" y="544"/>
                  </a:lnTo>
                  <a:lnTo>
                    <a:pt x="354" y="550"/>
                  </a:lnTo>
                  <a:lnTo>
                    <a:pt x="366" y="552"/>
                  </a:lnTo>
                  <a:lnTo>
                    <a:pt x="380" y="554"/>
                  </a:lnTo>
                  <a:lnTo>
                    <a:pt x="380" y="554"/>
                  </a:lnTo>
                  <a:lnTo>
                    <a:pt x="388" y="552"/>
                  </a:lnTo>
                  <a:lnTo>
                    <a:pt x="392" y="552"/>
                  </a:lnTo>
                  <a:lnTo>
                    <a:pt x="400" y="546"/>
                  </a:lnTo>
                  <a:lnTo>
                    <a:pt x="404" y="538"/>
                  </a:lnTo>
                  <a:lnTo>
                    <a:pt x="406" y="530"/>
                  </a:lnTo>
                  <a:lnTo>
                    <a:pt x="406" y="520"/>
                  </a:lnTo>
                  <a:lnTo>
                    <a:pt x="404" y="512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8" y="510"/>
                  </a:lnTo>
                  <a:lnTo>
                    <a:pt x="426" y="518"/>
                  </a:lnTo>
                  <a:lnTo>
                    <a:pt x="436" y="522"/>
                  </a:lnTo>
                  <a:lnTo>
                    <a:pt x="448" y="524"/>
                  </a:lnTo>
                  <a:lnTo>
                    <a:pt x="460" y="526"/>
                  </a:lnTo>
                  <a:lnTo>
                    <a:pt x="472" y="524"/>
                  </a:lnTo>
                  <a:lnTo>
                    <a:pt x="472" y="524"/>
                  </a:lnTo>
                  <a:lnTo>
                    <a:pt x="484" y="520"/>
                  </a:lnTo>
                  <a:lnTo>
                    <a:pt x="490" y="514"/>
                  </a:lnTo>
                  <a:lnTo>
                    <a:pt x="496" y="506"/>
                  </a:lnTo>
                  <a:lnTo>
                    <a:pt x="500" y="498"/>
                  </a:lnTo>
                  <a:lnTo>
                    <a:pt x="502" y="484"/>
                  </a:lnTo>
                  <a:lnTo>
                    <a:pt x="502" y="478"/>
                  </a:lnTo>
                  <a:lnTo>
                    <a:pt x="546" y="476"/>
                  </a:lnTo>
                  <a:lnTo>
                    <a:pt x="546" y="476"/>
                  </a:lnTo>
                  <a:lnTo>
                    <a:pt x="552" y="472"/>
                  </a:lnTo>
                  <a:lnTo>
                    <a:pt x="560" y="468"/>
                  </a:lnTo>
                  <a:lnTo>
                    <a:pt x="566" y="462"/>
                  </a:lnTo>
                  <a:lnTo>
                    <a:pt x="570" y="452"/>
                  </a:lnTo>
                  <a:lnTo>
                    <a:pt x="570" y="440"/>
                  </a:lnTo>
                  <a:lnTo>
                    <a:pt x="570" y="434"/>
                  </a:lnTo>
                  <a:lnTo>
                    <a:pt x="566" y="426"/>
                  </a:lnTo>
                  <a:lnTo>
                    <a:pt x="556" y="408"/>
                  </a:lnTo>
                  <a:lnTo>
                    <a:pt x="556" y="408"/>
                  </a:lnTo>
                  <a:lnTo>
                    <a:pt x="538" y="384"/>
                  </a:lnTo>
                  <a:lnTo>
                    <a:pt x="514" y="354"/>
                  </a:lnTo>
                  <a:lnTo>
                    <a:pt x="456" y="286"/>
                  </a:lnTo>
                  <a:lnTo>
                    <a:pt x="398" y="218"/>
                  </a:lnTo>
                  <a:lnTo>
                    <a:pt x="356" y="170"/>
                  </a:lnTo>
                  <a:lnTo>
                    <a:pt x="356" y="170"/>
                  </a:lnTo>
                  <a:lnTo>
                    <a:pt x="350" y="162"/>
                  </a:lnTo>
                  <a:lnTo>
                    <a:pt x="344" y="156"/>
                  </a:lnTo>
                  <a:lnTo>
                    <a:pt x="330" y="148"/>
                  </a:lnTo>
                  <a:lnTo>
                    <a:pt x="316" y="146"/>
                  </a:lnTo>
                  <a:lnTo>
                    <a:pt x="304" y="146"/>
                  </a:lnTo>
                  <a:lnTo>
                    <a:pt x="294" y="148"/>
                  </a:lnTo>
                  <a:lnTo>
                    <a:pt x="286" y="152"/>
                  </a:lnTo>
                  <a:lnTo>
                    <a:pt x="278" y="156"/>
                  </a:lnTo>
                  <a:lnTo>
                    <a:pt x="278" y="156"/>
                  </a:lnTo>
                  <a:lnTo>
                    <a:pt x="198" y="198"/>
                  </a:lnTo>
                  <a:lnTo>
                    <a:pt x="198" y="198"/>
                  </a:lnTo>
                  <a:lnTo>
                    <a:pt x="188" y="204"/>
                  </a:lnTo>
                  <a:lnTo>
                    <a:pt x="178" y="206"/>
                  </a:lnTo>
                  <a:lnTo>
                    <a:pt x="158" y="208"/>
                  </a:lnTo>
                  <a:lnTo>
                    <a:pt x="138" y="208"/>
                  </a:lnTo>
                  <a:lnTo>
                    <a:pt x="122" y="204"/>
                  </a:lnTo>
                  <a:lnTo>
                    <a:pt x="106" y="198"/>
                  </a:lnTo>
                  <a:lnTo>
                    <a:pt x="94" y="194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78" y="182"/>
                  </a:lnTo>
                  <a:lnTo>
                    <a:pt x="70" y="174"/>
                  </a:lnTo>
                  <a:lnTo>
                    <a:pt x="64" y="164"/>
                  </a:lnTo>
                  <a:lnTo>
                    <a:pt x="60" y="154"/>
                  </a:lnTo>
                  <a:lnTo>
                    <a:pt x="60" y="148"/>
                  </a:lnTo>
                  <a:lnTo>
                    <a:pt x="60" y="142"/>
                  </a:lnTo>
                  <a:lnTo>
                    <a:pt x="62" y="136"/>
                  </a:lnTo>
                  <a:lnTo>
                    <a:pt x="66" y="130"/>
                  </a:lnTo>
                  <a:lnTo>
                    <a:pt x="70" y="122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138" y="70"/>
                  </a:lnTo>
                  <a:lnTo>
                    <a:pt x="164" y="48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200" y="16"/>
                  </a:lnTo>
                  <a:lnTo>
                    <a:pt x="206" y="8"/>
                  </a:lnTo>
                  <a:lnTo>
                    <a:pt x="208" y="4"/>
                  </a:lnTo>
                  <a:lnTo>
                    <a:pt x="204" y="0"/>
                  </a:lnTo>
                  <a:lnTo>
                    <a:pt x="200" y="0"/>
                  </a:lnTo>
                  <a:lnTo>
                    <a:pt x="192" y="2"/>
                  </a:lnTo>
                  <a:lnTo>
                    <a:pt x="172" y="10"/>
                  </a:lnTo>
                  <a:lnTo>
                    <a:pt x="172" y="10"/>
                  </a:lnTo>
                  <a:lnTo>
                    <a:pt x="150" y="26"/>
                  </a:lnTo>
                  <a:lnTo>
                    <a:pt x="114" y="52"/>
                  </a:lnTo>
                  <a:lnTo>
                    <a:pt x="78" y="78"/>
                  </a:lnTo>
                  <a:lnTo>
                    <a:pt x="64" y="88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24" y="96"/>
                  </a:lnTo>
                  <a:lnTo>
                    <a:pt x="8" y="98"/>
                  </a:ln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3" name="Freeform 7"/>
            <p:cNvSpPr>
              <a:spLocks noEditPoints="1"/>
            </p:cNvSpPr>
            <p:nvPr/>
          </p:nvSpPr>
          <p:spPr bwMode="auto">
            <a:xfrm>
              <a:off x="8772525" y="1327150"/>
              <a:ext cx="250825" cy="762000"/>
            </a:xfrm>
            <a:custGeom>
              <a:avLst/>
              <a:gdLst>
                <a:gd name="T0" fmla="*/ 0 w 158"/>
                <a:gd name="T1" fmla="*/ 0 h 480"/>
                <a:gd name="T2" fmla="*/ 0 w 158"/>
                <a:gd name="T3" fmla="*/ 480 h 480"/>
                <a:gd name="T4" fmla="*/ 158 w 158"/>
                <a:gd name="T5" fmla="*/ 480 h 480"/>
                <a:gd name="T6" fmla="*/ 158 w 158"/>
                <a:gd name="T7" fmla="*/ 0 h 480"/>
                <a:gd name="T8" fmla="*/ 0 w 158"/>
                <a:gd name="T9" fmla="*/ 0 h 480"/>
                <a:gd name="T10" fmla="*/ 78 w 158"/>
                <a:gd name="T11" fmla="*/ 446 h 480"/>
                <a:gd name="T12" fmla="*/ 78 w 158"/>
                <a:gd name="T13" fmla="*/ 446 h 480"/>
                <a:gd name="T14" fmla="*/ 68 w 158"/>
                <a:gd name="T15" fmla="*/ 444 h 480"/>
                <a:gd name="T16" fmla="*/ 60 w 158"/>
                <a:gd name="T17" fmla="*/ 438 h 480"/>
                <a:gd name="T18" fmla="*/ 54 w 158"/>
                <a:gd name="T19" fmla="*/ 430 h 480"/>
                <a:gd name="T20" fmla="*/ 52 w 158"/>
                <a:gd name="T21" fmla="*/ 420 h 480"/>
                <a:gd name="T22" fmla="*/ 52 w 158"/>
                <a:gd name="T23" fmla="*/ 420 h 480"/>
                <a:gd name="T24" fmla="*/ 54 w 158"/>
                <a:gd name="T25" fmla="*/ 410 h 480"/>
                <a:gd name="T26" fmla="*/ 60 w 158"/>
                <a:gd name="T27" fmla="*/ 402 h 480"/>
                <a:gd name="T28" fmla="*/ 68 w 158"/>
                <a:gd name="T29" fmla="*/ 396 h 480"/>
                <a:gd name="T30" fmla="*/ 78 w 158"/>
                <a:gd name="T31" fmla="*/ 394 h 480"/>
                <a:gd name="T32" fmla="*/ 78 w 158"/>
                <a:gd name="T33" fmla="*/ 394 h 480"/>
                <a:gd name="T34" fmla="*/ 88 w 158"/>
                <a:gd name="T35" fmla="*/ 396 h 480"/>
                <a:gd name="T36" fmla="*/ 96 w 158"/>
                <a:gd name="T37" fmla="*/ 402 h 480"/>
                <a:gd name="T38" fmla="*/ 102 w 158"/>
                <a:gd name="T39" fmla="*/ 410 h 480"/>
                <a:gd name="T40" fmla="*/ 104 w 158"/>
                <a:gd name="T41" fmla="*/ 420 h 480"/>
                <a:gd name="T42" fmla="*/ 104 w 158"/>
                <a:gd name="T43" fmla="*/ 420 h 480"/>
                <a:gd name="T44" fmla="*/ 102 w 158"/>
                <a:gd name="T45" fmla="*/ 430 h 480"/>
                <a:gd name="T46" fmla="*/ 96 w 158"/>
                <a:gd name="T47" fmla="*/ 438 h 480"/>
                <a:gd name="T48" fmla="*/ 88 w 158"/>
                <a:gd name="T49" fmla="*/ 444 h 480"/>
                <a:gd name="T50" fmla="*/ 78 w 158"/>
                <a:gd name="T51" fmla="*/ 446 h 480"/>
                <a:gd name="T52" fmla="*/ 78 w 158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8" h="480">
                  <a:moveTo>
                    <a:pt x="0" y="0"/>
                  </a:moveTo>
                  <a:lnTo>
                    <a:pt x="0" y="480"/>
                  </a:lnTo>
                  <a:lnTo>
                    <a:pt x="158" y="480"/>
                  </a:lnTo>
                  <a:lnTo>
                    <a:pt x="158" y="0"/>
                  </a:lnTo>
                  <a:lnTo>
                    <a:pt x="0" y="0"/>
                  </a:lnTo>
                  <a:close/>
                  <a:moveTo>
                    <a:pt x="78" y="446"/>
                  </a:moveTo>
                  <a:lnTo>
                    <a:pt x="78" y="446"/>
                  </a:lnTo>
                  <a:lnTo>
                    <a:pt x="68" y="444"/>
                  </a:lnTo>
                  <a:lnTo>
                    <a:pt x="60" y="438"/>
                  </a:lnTo>
                  <a:lnTo>
                    <a:pt x="54" y="430"/>
                  </a:lnTo>
                  <a:lnTo>
                    <a:pt x="52" y="420"/>
                  </a:lnTo>
                  <a:lnTo>
                    <a:pt x="52" y="420"/>
                  </a:lnTo>
                  <a:lnTo>
                    <a:pt x="54" y="410"/>
                  </a:lnTo>
                  <a:lnTo>
                    <a:pt x="60" y="402"/>
                  </a:lnTo>
                  <a:lnTo>
                    <a:pt x="68" y="396"/>
                  </a:lnTo>
                  <a:lnTo>
                    <a:pt x="78" y="394"/>
                  </a:lnTo>
                  <a:lnTo>
                    <a:pt x="78" y="394"/>
                  </a:lnTo>
                  <a:lnTo>
                    <a:pt x="88" y="396"/>
                  </a:lnTo>
                  <a:lnTo>
                    <a:pt x="96" y="402"/>
                  </a:lnTo>
                  <a:lnTo>
                    <a:pt x="102" y="410"/>
                  </a:lnTo>
                  <a:lnTo>
                    <a:pt x="104" y="420"/>
                  </a:lnTo>
                  <a:lnTo>
                    <a:pt x="104" y="420"/>
                  </a:lnTo>
                  <a:lnTo>
                    <a:pt x="102" y="430"/>
                  </a:lnTo>
                  <a:lnTo>
                    <a:pt x="96" y="438"/>
                  </a:lnTo>
                  <a:lnTo>
                    <a:pt x="88" y="444"/>
                  </a:lnTo>
                  <a:lnTo>
                    <a:pt x="78" y="446"/>
                  </a:lnTo>
                  <a:lnTo>
                    <a:pt x="78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7391400" y="1327150"/>
              <a:ext cx="254000" cy="762000"/>
            </a:xfrm>
            <a:custGeom>
              <a:avLst/>
              <a:gdLst>
                <a:gd name="T0" fmla="*/ 0 w 160"/>
                <a:gd name="T1" fmla="*/ 0 h 480"/>
                <a:gd name="T2" fmla="*/ 0 w 160"/>
                <a:gd name="T3" fmla="*/ 480 h 480"/>
                <a:gd name="T4" fmla="*/ 160 w 160"/>
                <a:gd name="T5" fmla="*/ 480 h 480"/>
                <a:gd name="T6" fmla="*/ 160 w 160"/>
                <a:gd name="T7" fmla="*/ 0 h 480"/>
                <a:gd name="T8" fmla="*/ 0 w 160"/>
                <a:gd name="T9" fmla="*/ 0 h 480"/>
                <a:gd name="T10" fmla="*/ 80 w 160"/>
                <a:gd name="T11" fmla="*/ 446 h 480"/>
                <a:gd name="T12" fmla="*/ 80 w 160"/>
                <a:gd name="T13" fmla="*/ 446 h 480"/>
                <a:gd name="T14" fmla="*/ 70 w 160"/>
                <a:gd name="T15" fmla="*/ 444 h 480"/>
                <a:gd name="T16" fmla="*/ 62 w 160"/>
                <a:gd name="T17" fmla="*/ 438 h 480"/>
                <a:gd name="T18" fmla="*/ 56 w 160"/>
                <a:gd name="T19" fmla="*/ 430 h 480"/>
                <a:gd name="T20" fmla="*/ 54 w 160"/>
                <a:gd name="T21" fmla="*/ 420 h 480"/>
                <a:gd name="T22" fmla="*/ 54 w 160"/>
                <a:gd name="T23" fmla="*/ 420 h 480"/>
                <a:gd name="T24" fmla="*/ 56 w 160"/>
                <a:gd name="T25" fmla="*/ 410 h 480"/>
                <a:gd name="T26" fmla="*/ 62 w 160"/>
                <a:gd name="T27" fmla="*/ 402 h 480"/>
                <a:gd name="T28" fmla="*/ 70 w 160"/>
                <a:gd name="T29" fmla="*/ 396 h 480"/>
                <a:gd name="T30" fmla="*/ 80 w 160"/>
                <a:gd name="T31" fmla="*/ 394 h 480"/>
                <a:gd name="T32" fmla="*/ 80 w 160"/>
                <a:gd name="T33" fmla="*/ 394 h 480"/>
                <a:gd name="T34" fmla="*/ 90 w 160"/>
                <a:gd name="T35" fmla="*/ 396 h 480"/>
                <a:gd name="T36" fmla="*/ 98 w 160"/>
                <a:gd name="T37" fmla="*/ 402 h 480"/>
                <a:gd name="T38" fmla="*/ 104 w 160"/>
                <a:gd name="T39" fmla="*/ 410 h 480"/>
                <a:gd name="T40" fmla="*/ 106 w 160"/>
                <a:gd name="T41" fmla="*/ 420 h 480"/>
                <a:gd name="T42" fmla="*/ 106 w 160"/>
                <a:gd name="T43" fmla="*/ 420 h 480"/>
                <a:gd name="T44" fmla="*/ 104 w 160"/>
                <a:gd name="T45" fmla="*/ 430 h 480"/>
                <a:gd name="T46" fmla="*/ 98 w 160"/>
                <a:gd name="T47" fmla="*/ 438 h 480"/>
                <a:gd name="T48" fmla="*/ 90 w 160"/>
                <a:gd name="T49" fmla="*/ 444 h 480"/>
                <a:gd name="T50" fmla="*/ 80 w 160"/>
                <a:gd name="T51" fmla="*/ 446 h 480"/>
                <a:gd name="T52" fmla="*/ 80 w 160"/>
                <a:gd name="T53" fmla="*/ 44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0" h="480">
                  <a:moveTo>
                    <a:pt x="0" y="0"/>
                  </a:moveTo>
                  <a:lnTo>
                    <a:pt x="0" y="480"/>
                  </a:lnTo>
                  <a:lnTo>
                    <a:pt x="160" y="480"/>
                  </a:lnTo>
                  <a:lnTo>
                    <a:pt x="160" y="0"/>
                  </a:lnTo>
                  <a:lnTo>
                    <a:pt x="0" y="0"/>
                  </a:lnTo>
                  <a:close/>
                  <a:moveTo>
                    <a:pt x="80" y="446"/>
                  </a:moveTo>
                  <a:lnTo>
                    <a:pt x="80" y="446"/>
                  </a:lnTo>
                  <a:lnTo>
                    <a:pt x="70" y="444"/>
                  </a:lnTo>
                  <a:lnTo>
                    <a:pt x="62" y="438"/>
                  </a:lnTo>
                  <a:lnTo>
                    <a:pt x="56" y="430"/>
                  </a:lnTo>
                  <a:lnTo>
                    <a:pt x="54" y="420"/>
                  </a:lnTo>
                  <a:lnTo>
                    <a:pt x="54" y="420"/>
                  </a:lnTo>
                  <a:lnTo>
                    <a:pt x="56" y="410"/>
                  </a:lnTo>
                  <a:lnTo>
                    <a:pt x="62" y="402"/>
                  </a:lnTo>
                  <a:lnTo>
                    <a:pt x="70" y="396"/>
                  </a:lnTo>
                  <a:lnTo>
                    <a:pt x="80" y="394"/>
                  </a:lnTo>
                  <a:lnTo>
                    <a:pt x="80" y="394"/>
                  </a:lnTo>
                  <a:lnTo>
                    <a:pt x="90" y="396"/>
                  </a:lnTo>
                  <a:lnTo>
                    <a:pt x="98" y="402"/>
                  </a:lnTo>
                  <a:lnTo>
                    <a:pt x="104" y="410"/>
                  </a:lnTo>
                  <a:lnTo>
                    <a:pt x="106" y="420"/>
                  </a:lnTo>
                  <a:lnTo>
                    <a:pt x="106" y="420"/>
                  </a:lnTo>
                  <a:lnTo>
                    <a:pt x="104" y="430"/>
                  </a:lnTo>
                  <a:lnTo>
                    <a:pt x="98" y="438"/>
                  </a:lnTo>
                  <a:lnTo>
                    <a:pt x="90" y="444"/>
                  </a:lnTo>
                  <a:lnTo>
                    <a:pt x="80" y="446"/>
                  </a:lnTo>
                  <a:lnTo>
                    <a:pt x="80" y="4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18848"/>
              <a:endParaRPr lang="en-US" dirty="0">
                <a:solidFill>
                  <a:prstClr val="black"/>
                </a:solidFill>
                <a:latin typeface="Verdana"/>
              </a:endParaRPr>
            </a:p>
          </p:txBody>
        </p:sp>
      </p:grpSp>
      <p:sp>
        <p:nvSpPr>
          <p:cNvPr id="67" name="Freeform 214"/>
          <p:cNvSpPr>
            <a:spLocks/>
          </p:cNvSpPr>
          <p:nvPr/>
        </p:nvSpPr>
        <p:spPr bwMode="auto">
          <a:xfrm>
            <a:off x="3560270" y="5672732"/>
            <a:ext cx="1020152" cy="361262"/>
          </a:xfrm>
          <a:custGeom>
            <a:avLst/>
            <a:gdLst>
              <a:gd name="T0" fmla="*/ 466 w 472"/>
              <a:gd name="T1" fmla="*/ 78 h 218"/>
              <a:gd name="T2" fmla="*/ 246 w 472"/>
              <a:gd name="T3" fmla="*/ 2 h 218"/>
              <a:gd name="T4" fmla="*/ 246 w 472"/>
              <a:gd name="T5" fmla="*/ 2 h 218"/>
              <a:gd name="T6" fmla="*/ 236 w 472"/>
              <a:gd name="T7" fmla="*/ 0 h 218"/>
              <a:gd name="T8" fmla="*/ 226 w 472"/>
              <a:gd name="T9" fmla="*/ 2 h 218"/>
              <a:gd name="T10" fmla="*/ 4 w 472"/>
              <a:gd name="T11" fmla="*/ 80 h 218"/>
              <a:gd name="T12" fmla="*/ 4 w 472"/>
              <a:gd name="T13" fmla="*/ 80 h 218"/>
              <a:gd name="T14" fmla="*/ 2 w 472"/>
              <a:gd name="T15" fmla="*/ 82 h 218"/>
              <a:gd name="T16" fmla="*/ 0 w 472"/>
              <a:gd name="T17" fmla="*/ 84 h 218"/>
              <a:gd name="T18" fmla="*/ 2 w 472"/>
              <a:gd name="T19" fmla="*/ 84 h 218"/>
              <a:gd name="T20" fmla="*/ 4 w 472"/>
              <a:gd name="T21" fmla="*/ 86 h 218"/>
              <a:gd name="T22" fmla="*/ 96 w 472"/>
              <a:gd name="T23" fmla="*/ 118 h 218"/>
              <a:gd name="T24" fmla="*/ 96 w 472"/>
              <a:gd name="T25" fmla="*/ 184 h 218"/>
              <a:gd name="T26" fmla="*/ 96 w 472"/>
              <a:gd name="T27" fmla="*/ 184 h 218"/>
              <a:gd name="T28" fmla="*/ 108 w 472"/>
              <a:gd name="T29" fmla="*/ 178 h 218"/>
              <a:gd name="T30" fmla="*/ 126 w 472"/>
              <a:gd name="T31" fmla="*/ 178 h 218"/>
              <a:gd name="T32" fmla="*/ 146 w 472"/>
              <a:gd name="T33" fmla="*/ 178 h 218"/>
              <a:gd name="T34" fmla="*/ 168 w 472"/>
              <a:gd name="T35" fmla="*/ 184 h 218"/>
              <a:gd name="T36" fmla="*/ 168 w 472"/>
              <a:gd name="T37" fmla="*/ 184 h 218"/>
              <a:gd name="T38" fmla="*/ 188 w 472"/>
              <a:gd name="T39" fmla="*/ 190 h 218"/>
              <a:gd name="T40" fmla="*/ 206 w 472"/>
              <a:gd name="T41" fmla="*/ 198 h 218"/>
              <a:gd name="T42" fmla="*/ 220 w 472"/>
              <a:gd name="T43" fmla="*/ 208 h 218"/>
              <a:gd name="T44" fmla="*/ 230 w 472"/>
              <a:gd name="T45" fmla="*/ 218 h 218"/>
              <a:gd name="T46" fmla="*/ 230 w 472"/>
              <a:gd name="T47" fmla="*/ 218 h 218"/>
              <a:gd name="T48" fmla="*/ 238 w 472"/>
              <a:gd name="T49" fmla="*/ 218 h 218"/>
              <a:gd name="T50" fmla="*/ 238 w 472"/>
              <a:gd name="T51" fmla="*/ 218 h 218"/>
              <a:gd name="T52" fmla="*/ 248 w 472"/>
              <a:gd name="T53" fmla="*/ 208 h 218"/>
              <a:gd name="T54" fmla="*/ 262 w 472"/>
              <a:gd name="T55" fmla="*/ 198 h 218"/>
              <a:gd name="T56" fmla="*/ 278 w 472"/>
              <a:gd name="T57" fmla="*/ 190 h 218"/>
              <a:gd name="T58" fmla="*/ 300 w 472"/>
              <a:gd name="T59" fmla="*/ 184 h 218"/>
              <a:gd name="T60" fmla="*/ 300 w 472"/>
              <a:gd name="T61" fmla="*/ 184 h 218"/>
              <a:gd name="T62" fmla="*/ 318 w 472"/>
              <a:gd name="T63" fmla="*/ 180 h 218"/>
              <a:gd name="T64" fmla="*/ 336 w 472"/>
              <a:gd name="T65" fmla="*/ 178 h 218"/>
              <a:gd name="T66" fmla="*/ 352 w 472"/>
              <a:gd name="T67" fmla="*/ 178 h 218"/>
              <a:gd name="T68" fmla="*/ 366 w 472"/>
              <a:gd name="T69" fmla="*/ 180 h 218"/>
              <a:gd name="T70" fmla="*/ 366 w 472"/>
              <a:gd name="T71" fmla="*/ 120 h 218"/>
              <a:gd name="T72" fmla="*/ 406 w 472"/>
              <a:gd name="T73" fmla="*/ 106 h 218"/>
              <a:gd name="T74" fmla="*/ 406 w 472"/>
              <a:gd name="T75" fmla="*/ 122 h 218"/>
              <a:gd name="T76" fmla="*/ 406 w 472"/>
              <a:gd name="T77" fmla="*/ 122 h 218"/>
              <a:gd name="T78" fmla="*/ 400 w 472"/>
              <a:gd name="T79" fmla="*/ 126 h 218"/>
              <a:gd name="T80" fmla="*/ 398 w 472"/>
              <a:gd name="T81" fmla="*/ 130 h 218"/>
              <a:gd name="T82" fmla="*/ 398 w 472"/>
              <a:gd name="T83" fmla="*/ 134 h 218"/>
              <a:gd name="T84" fmla="*/ 398 w 472"/>
              <a:gd name="T85" fmla="*/ 134 h 218"/>
              <a:gd name="T86" fmla="*/ 398 w 472"/>
              <a:gd name="T87" fmla="*/ 138 h 218"/>
              <a:gd name="T88" fmla="*/ 402 w 472"/>
              <a:gd name="T89" fmla="*/ 142 h 218"/>
              <a:gd name="T90" fmla="*/ 392 w 472"/>
              <a:gd name="T91" fmla="*/ 208 h 218"/>
              <a:gd name="T92" fmla="*/ 430 w 472"/>
              <a:gd name="T93" fmla="*/ 208 h 218"/>
              <a:gd name="T94" fmla="*/ 418 w 472"/>
              <a:gd name="T95" fmla="*/ 144 h 218"/>
              <a:gd name="T96" fmla="*/ 418 w 472"/>
              <a:gd name="T97" fmla="*/ 144 h 218"/>
              <a:gd name="T98" fmla="*/ 422 w 472"/>
              <a:gd name="T99" fmla="*/ 140 h 218"/>
              <a:gd name="T100" fmla="*/ 424 w 472"/>
              <a:gd name="T101" fmla="*/ 134 h 218"/>
              <a:gd name="T102" fmla="*/ 424 w 472"/>
              <a:gd name="T103" fmla="*/ 134 h 218"/>
              <a:gd name="T104" fmla="*/ 422 w 472"/>
              <a:gd name="T105" fmla="*/ 130 h 218"/>
              <a:gd name="T106" fmla="*/ 420 w 472"/>
              <a:gd name="T107" fmla="*/ 126 h 218"/>
              <a:gd name="T108" fmla="*/ 416 w 472"/>
              <a:gd name="T109" fmla="*/ 122 h 218"/>
              <a:gd name="T110" fmla="*/ 416 w 472"/>
              <a:gd name="T111" fmla="*/ 102 h 218"/>
              <a:gd name="T112" fmla="*/ 466 w 472"/>
              <a:gd name="T113" fmla="*/ 84 h 218"/>
              <a:gd name="T114" fmla="*/ 466 w 472"/>
              <a:gd name="T115" fmla="*/ 84 h 218"/>
              <a:gd name="T116" fmla="*/ 470 w 472"/>
              <a:gd name="T117" fmla="*/ 82 h 218"/>
              <a:gd name="T118" fmla="*/ 472 w 472"/>
              <a:gd name="T119" fmla="*/ 82 h 218"/>
              <a:gd name="T120" fmla="*/ 470 w 472"/>
              <a:gd name="T121" fmla="*/ 80 h 218"/>
              <a:gd name="T122" fmla="*/ 466 w 472"/>
              <a:gd name="T123" fmla="*/ 78 h 218"/>
              <a:gd name="T124" fmla="*/ 466 w 472"/>
              <a:gd name="T125" fmla="*/ 7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2" h="218">
                <a:moveTo>
                  <a:pt x="466" y="78"/>
                </a:moveTo>
                <a:lnTo>
                  <a:pt x="246" y="2"/>
                </a:lnTo>
                <a:lnTo>
                  <a:pt x="246" y="2"/>
                </a:lnTo>
                <a:lnTo>
                  <a:pt x="236" y="0"/>
                </a:lnTo>
                <a:lnTo>
                  <a:pt x="226" y="2"/>
                </a:lnTo>
                <a:lnTo>
                  <a:pt x="4" y="80"/>
                </a:lnTo>
                <a:lnTo>
                  <a:pt x="4" y="80"/>
                </a:lnTo>
                <a:lnTo>
                  <a:pt x="2" y="82"/>
                </a:lnTo>
                <a:lnTo>
                  <a:pt x="0" y="84"/>
                </a:lnTo>
                <a:lnTo>
                  <a:pt x="2" y="84"/>
                </a:lnTo>
                <a:lnTo>
                  <a:pt x="4" y="86"/>
                </a:lnTo>
                <a:lnTo>
                  <a:pt x="96" y="118"/>
                </a:lnTo>
                <a:lnTo>
                  <a:pt x="96" y="184"/>
                </a:lnTo>
                <a:lnTo>
                  <a:pt x="96" y="184"/>
                </a:lnTo>
                <a:lnTo>
                  <a:pt x="108" y="178"/>
                </a:lnTo>
                <a:lnTo>
                  <a:pt x="126" y="178"/>
                </a:lnTo>
                <a:lnTo>
                  <a:pt x="146" y="178"/>
                </a:lnTo>
                <a:lnTo>
                  <a:pt x="168" y="184"/>
                </a:lnTo>
                <a:lnTo>
                  <a:pt x="168" y="184"/>
                </a:lnTo>
                <a:lnTo>
                  <a:pt x="188" y="190"/>
                </a:lnTo>
                <a:lnTo>
                  <a:pt x="206" y="198"/>
                </a:lnTo>
                <a:lnTo>
                  <a:pt x="220" y="208"/>
                </a:lnTo>
                <a:lnTo>
                  <a:pt x="230" y="218"/>
                </a:lnTo>
                <a:lnTo>
                  <a:pt x="230" y="218"/>
                </a:lnTo>
                <a:lnTo>
                  <a:pt x="238" y="218"/>
                </a:lnTo>
                <a:lnTo>
                  <a:pt x="238" y="218"/>
                </a:lnTo>
                <a:lnTo>
                  <a:pt x="248" y="208"/>
                </a:lnTo>
                <a:lnTo>
                  <a:pt x="262" y="198"/>
                </a:lnTo>
                <a:lnTo>
                  <a:pt x="278" y="190"/>
                </a:lnTo>
                <a:lnTo>
                  <a:pt x="300" y="184"/>
                </a:lnTo>
                <a:lnTo>
                  <a:pt x="300" y="184"/>
                </a:lnTo>
                <a:lnTo>
                  <a:pt x="318" y="180"/>
                </a:lnTo>
                <a:lnTo>
                  <a:pt x="336" y="178"/>
                </a:lnTo>
                <a:lnTo>
                  <a:pt x="352" y="178"/>
                </a:lnTo>
                <a:lnTo>
                  <a:pt x="366" y="180"/>
                </a:lnTo>
                <a:lnTo>
                  <a:pt x="366" y="120"/>
                </a:lnTo>
                <a:lnTo>
                  <a:pt x="406" y="106"/>
                </a:lnTo>
                <a:lnTo>
                  <a:pt x="406" y="122"/>
                </a:lnTo>
                <a:lnTo>
                  <a:pt x="406" y="122"/>
                </a:lnTo>
                <a:lnTo>
                  <a:pt x="400" y="126"/>
                </a:lnTo>
                <a:lnTo>
                  <a:pt x="398" y="130"/>
                </a:lnTo>
                <a:lnTo>
                  <a:pt x="398" y="134"/>
                </a:lnTo>
                <a:lnTo>
                  <a:pt x="398" y="134"/>
                </a:lnTo>
                <a:lnTo>
                  <a:pt x="398" y="138"/>
                </a:lnTo>
                <a:lnTo>
                  <a:pt x="402" y="142"/>
                </a:lnTo>
                <a:lnTo>
                  <a:pt x="392" y="208"/>
                </a:lnTo>
                <a:lnTo>
                  <a:pt x="430" y="208"/>
                </a:lnTo>
                <a:lnTo>
                  <a:pt x="418" y="144"/>
                </a:lnTo>
                <a:lnTo>
                  <a:pt x="418" y="144"/>
                </a:lnTo>
                <a:lnTo>
                  <a:pt x="422" y="140"/>
                </a:lnTo>
                <a:lnTo>
                  <a:pt x="424" y="134"/>
                </a:lnTo>
                <a:lnTo>
                  <a:pt x="424" y="134"/>
                </a:lnTo>
                <a:lnTo>
                  <a:pt x="422" y="130"/>
                </a:lnTo>
                <a:lnTo>
                  <a:pt x="420" y="126"/>
                </a:lnTo>
                <a:lnTo>
                  <a:pt x="416" y="122"/>
                </a:lnTo>
                <a:lnTo>
                  <a:pt x="416" y="102"/>
                </a:lnTo>
                <a:lnTo>
                  <a:pt x="466" y="84"/>
                </a:lnTo>
                <a:lnTo>
                  <a:pt x="466" y="84"/>
                </a:lnTo>
                <a:lnTo>
                  <a:pt x="470" y="82"/>
                </a:lnTo>
                <a:lnTo>
                  <a:pt x="472" y="82"/>
                </a:lnTo>
                <a:lnTo>
                  <a:pt x="470" y="80"/>
                </a:lnTo>
                <a:lnTo>
                  <a:pt x="466" y="78"/>
                </a:lnTo>
                <a:lnTo>
                  <a:pt x="466" y="78"/>
                </a:lnTo>
                <a:close/>
              </a:path>
            </a:pathLst>
          </a:custGeom>
          <a:solidFill>
            <a:srgbClr val="0027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rot="16200000">
            <a:off x="4464821" y="5883714"/>
            <a:ext cx="72395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436784" y="3626574"/>
            <a:ext cx="8371881" cy="1165848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</a:rPr>
              <a:t>Awards for quality focused  MSMEs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>
                <a:solidFill>
                  <a:prstClr val="black"/>
                </a:solidFill>
              </a:rPr>
              <a:t>More rewards </a:t>
            </a:r>
            <a:r>
              <a:rPr lang="en-US" sz="1587" dirty="0">
                <a:solidFill>
                  <a:prstClr val="black"/>
                </a:solidFill>
              </a:rPr>
              <a:t>and recognition for MSMEs in steel who have regularly complied to quality norms to encourage further adoption of these norms across all MSMEs</a:t>
            </a:r>
            <a:endParaRPr lang="en-US" sz="1587" dirty="0"/>
          </a:p>
        </p:txBody>
      </p:sp>
      <p:sp>
        <p:nvSpPr>
          <p:cNvPr id="76" name="Rectangle 75"/>
          <p:cNvSpPr/>
          <p:nvPr/>
        </p:nvSpPr>
        <p:spPr>
          <a:xfrm>
            <a:off x="4847857" y="5531841"/>
            <a:ext cx="7969285" cy="1461378"/>
          </a:xfrm>
          <a:prstGeom prst="rect">
            <a:avLst/>
          </a:prstGeom>
        </p:spPr>
        <p:txBody>
          <a:bodyPr wrap="square" lIns="101870" tIns="50935" rIns="101870" bIns="50935">
            <a:spAutoFit/>
          </a:bodyPr>
          <a:lstStyle/>
          <a:p>
            <a:pPr defTabSz="710777">
              <a:spcAft>
                <a:spcPts val="400"/>
              </a:spcAft>
            </a:pPr>
            <a:r>
              <a:rPr lang="en-US" sz="1813" b="1" dirty="0">
                <a:solidFill>
                  <a:prstClr val="black"/>
                </a:solidFill>
                <a:latin typeface="Verdana"/>
              </a:rPr>
              <a:t>Commissioning Research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b="1" dirty="0"/>
              <a:t>Fund R&amp;D </a:t>
            </a:r>
            <a:r>
              <a:rPr lang="en-US" sz="1587" dirty="0"/>
              <a:t>in top technical institutes focusing on </a:t>
            </a:r>
            <a:r>
              <a:rPr lang="en-US" sz="1587" b="1" dirty="0"/>
              <a:t>making quality compliant steel even using Induction furnaces</a:t>
            </a:r>
          </a:p>
          <a:p>
            <a:pPr marL="171454" indent="-171454" defTabSz="710777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87" dirty="0">
                <a:solidFill>
                  <a:prstClr val="black"/>
                </a:solidFill>
              </a:rPr>
              <a:t>Research on making quality compliant steel using induction furnaces majorly used by MSMEs can go a long way in quality improvement</a:t>
            </a:r>
          </a:p>
        </p:txBody>
      </p:sp>
      <p:sp>
        <p:nvSpPr>
          <p:cNvPr id="70" name="Freeform 7"/>
          <p:cNvSpPr>
            <a:spLocks/>
          </p:cNvSpPr>
          <p:nvPr/>
        </p:nvSpPr>
        <p:spPr bwMode="auto">
          <a:xfrm>
            <a:off x="500743" y="1828933"/>
            <a:ext cx="3726246" cy="4414602"/>
          </a:xfrm>
          <a:custGeom>
            <a:avLst/>
            <a:gdLst>
              <a:gd name="T0" fmla="*/ 2003 w 3909"/>
              <a:gd name="T1" fmla="*/ 4928 h 5000"/>
              <a:gd name="T2" fmla="*/ 2187 w 3909"/>
              <a:gd name="T3" fmla="*/ 4877 h 5000"/>
              <a:gd name="T4" fmla="*/ 2364 w 3909"/>
              <a:gd name="T5" fmla="*/ 4811 h 5000"/>
              <a:gd name="T6" fmla="*/ 2533 w 3909"/>
              <a:gd name="T7" fmla="*/ 4734 h 5000"/>
              <a:gd name="T8" fmla="*/ 2695 w 3909"/>
              <a:gd name="T9" fmla="*/ 4645 h 5000"/>
              <a:gd name="T10" fmla="*/ 2849 w 3909"/>
              <a:gd name="T11" fmla="*/ 4545 h 5000"/>
              <a:gd name="T12" fmla="*/ 2993 w 3909"/>
              <a:gd name="T13" fmla="*/ 4434 h 5000"/>
              <a:gd name="T14" fmla="*/ 3130 w 3909"/>
              <a:gd name="T15" fmla="*/ 4314 h 5000"/>
              <a:gd name="T16" fmla="*/ 3256 w 3909"/>
              <a:gd name="T17" fmla="*/ 4185 h 5000"/>
              <a:gd name="T18" fmla="*/ 3372 w 3909"/>
              <a:gd name="T19" fmla="*/ 4049 h 5000"/>
              <a:gd name="T20" fmla="*/ 3478 w 3909"/>
              <a:gd name="T21" fmla="*/ 3903 h 5000"/>
              <a:gd name="T22" fmla="*/ 3574 w 3909"/>
              <a:gd name="T23" fmla="*/ 3750 h 5000"/>
              <a:gd name="T24" fmla="*/ 3658 w 3909"/>
              <a:gd name="T25" fmla="*/ 3591 h 5000"/>
              <a:gd name="T26" fmla="*/ 3731 w 3909"/>
              <a:gd name="T27" fmla="*/ 3427 h 5000"/>
              <a:gd name="T28" fmla="*/ 3792 w 3909"/>
              <a:gd name="T29" fmla="*/ 3256 h 5000"/>
              <a:gd name="T30" fmla="*/ 3841 w 3909"/>
              <a:gd name="T31" fmla="*/ 3082 h 5000"/>
              <a:gd name="T32" fmla="*/ 3876 w 3909"/>
              <a:gd name="T33" fmla="*/ 2902 h 5000"/>
              <a:gd name="T34" fmla="*/ 3900 w 3909"/>
              <a:gd name="T35" fmla="*/ 2720 h 5000"/>
              <a:gd name="T36" fmla="*/ 3909 w 3909"/>
              <a:gd name="T37" fmla="*/ 2536 h 5000"/>
              <a:gd name="T38" fmla="*/ 3904 w 3909"/>
              <a:gd name="T39" fmla="*/ 2349 h 5000"/>
              <a:gd name="T40" fmla="*/ 3885 w 3909"/>
              <a:gd name="T41" fmla="*/ 2159 h 5000"/>
              <a:gd name="T42" fmla="*/ 3852 w 3909"/>
              <a:gd name="T43" fmla="*/ 1970 h 5000"/>
              <a:gd name="T44" fmla="*/ 3821 w 3909"/>
              <a:gd name="T45" fmla="*/ 1846 h 5000"/>
              <a:gd name="T46" fmla="*/ 3765 w 3909"/>
              <a:gd name="T47" fmla="*/ 1664 h 5000"/>
              <a:gd name="T48" fmla="*/ 3696 w 3909"/>
              <a:gd name="T49" fmla="*/ 1488 h 5000"/>
              <a:gd name="T50" fmla="*/ 3614 w 3909"/>
              <a:gd name="T51" fmla="*/ 1321 h 5000"/>
              <a:gd name="T52" fmla="*/ 3521 w 3909"/>
              <a:gd name="T53" fmla="*/ 1162 h 5000"/>
              <a:gd name="T54" fmla="*/ 3418 w 3909"/>
              <a:gd name="T55" fmla="*/ 1012 h 5000"/>
              <a:gd name="T56" fmla="*/ 3304 w 3909"/>
              <a:gd name="T57" fmla="*/ 870 h 5000"/>
              <a:gd name="T58" fmla="*/ 3181 w 3909"/>
              <a:gd name="T59" fmla="*/ 737 h 5000"/>
              <a:gd name="T60" fmla="*/ 3050 w 3909"/>
              <a:gd name="T61" fmla="*/ 613 h 5000"/>
              <a:gd name="T62" fmla="*/ 2910 w 3909"/>
              <a:gd name="T63" fmla="*/ 501 h 5000"/>
              <a:gd name="T64" fmla="*/ 2762 w 3909"/>
              <a:gd name="T65" fmla="*/ 399 h 5000"/>
              <a:gd name="T66" fmla="*/ 2607 w 3909"/>
              <a:gd name="T67" fmla="*/ 306 h 5000"/>
              <a:gd name="T68" fmla="*/ 2446 w 3909"/>
              <a:gd name="T69" fmla="*/ 225 h 5000"/>
              <a:gd name="T70" fmla="*/ 2279 w 3909"/>
              <a:gd name="T71" fmla="*/ 157 h 5000"/>
              <a:gd name="T72" fmla="*/ 2107 w 3909"/>
              <a:gd name="T73" fmla="*/ 100 h 5000"/>
              <a:gd name="T74" fmla="*/ 1932 w 3909"/>
              <a:gd name="T75" fmla="*/ 55 h 5000"/>
              <a:gd name="T76" fmla="*/ 1751 w 3909"/>
              <a:gd name="T77" fmla="*/ 23 h 5000"/>
              <a:gd name="T78" fmla="*/ 1568 w 3909"/>
              <a:gd name="T79" fmla="*/ 5 h 5000"/>
              <a:gd name="T80" fmla="*/ 1382 w 3909"/>
              <a:gd name="T81" fmla="*/ 0 h 5000"/>
              <a:gd name="T82" fmla="*/ 1195 w 3909"/>
              <a:gd name="T83" fmla="*/ 11 h 5000"/>
              <a:gd name="T84" fmla="*/ 1006 w 3909"/>
              <a:gd name="T85" fmla="*/ 33 h 5000"/>
              <a:gd name="T86" fmla="*/ 879 w 3909"/>
              <a:gd name="T87" fmla="*/ 57 h 5000"/>
              <a:gd name="T88" fmla="*/ 700 w 3909"/>
              <a:gd name="T89" fmla="*/ 104 h 5000"/>
              <a:gd name="T90" fmla="*/ 527 w 3909"/>
              <a:gd name="T91" fmla="*/ 162 h 5000"/>
              <a:gd name="T92" fmla="*/ 360 w 3909"/>
              <a:gd name="T93" fmla="*/ 232 h 5000"/>
              <a:gd name="T94" fmla="*/ 201 w 3909"/>
              <a:gd name="T95" fmla="*/ 313 h 5000"/>
              <a:gd name="T96" fmla="*/ 49 w 3909"/>
              <a:gd name="T97" fmla="*/ 404 h 5000"/>
              <a:gd name="T98" fmla="*/ 0 w 3909"/>
              <a:gd name="T99" fmla="*/ 4564 h 5000"/>
              <a:gd name="T100" fmla="*/ 158 w 3909"/>
              <a:gd name="T101" fmla="*/ 4664 h 5000"/>
              <a:gd name="T102" fmla="*/ 322 w 3909"/>
              <a:gd name="T103" fmla="*/ 4751 h 5000"/>
              <a:gd name="T104" fmla="*/ 494 w 3909"/>
              <a:gd name="T105" fmla="*/ 4826 h 5000"/>
              <a:gd name="T106" fmla="*/ 670 w 3909"/>
              <a:gd name="T107" fmla="*/ 4889 h 5000"/>
              <a:gd name="T108" fmla="*/ 852 w 3909"/>
              <a:gd name="T109" fmla="*/ 4937 h 5000"/>
              <a:gd name="T110" fmla="*/ 1037 w 3909"/>
              <a:gd name="T111" fmla="*/ 4973 h 5000"/>
              <a:gd name="T112" fmla="*/ 1227 w 3909"/>
              <a:gd name="T113" fmla="*/ 4994 h 5000"/>
              <a:gd name="T114" fmla="*/ 1419 w 3909"/>
              <a:gd name="T115" fmla="*/ 5000 h 5000"/>
              <a:gd name="T116" fmla="*/ 1613 w 3909"/>
              <a:gd name="T117" fmla="*/ 4993 h 5000"/>
              <a:gd name="T118" fmla="*/ 1809 w 3909"/>
              <a:gd name="T119" fmla="*/ 4969 h 5000"/>
              <a:gd name="T120" fmla="*/ 1941 w 3909"/>
              <a:gd name="T121" fmla="*/ 4944 h 5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125 w 10000"/>
              <a:gd name="connsiteY146" fmla="*/ 808 h 10000"/>
              <a:gd name="connsiteX147" fmla="*/ 0 w 10000"/>
              <a:gd name="connsiteY147" fmla="*/ 9128 h 10000"/>
              <a:gd name="connsiteX148" fmla="*/ 0 w 10000"/>
              <a:gd name="connsiteY148" fmla="*/ 9128 h 10000"/>
              <a:gd name="connsiteX149" fmla="*/ 133 w 10000"/>
              <a:gd name="connsiteY149" fmla="*/ 9198 h 10000"/>
              <a:gd name="connsiteX150" fmla="*/ 269 w 10000"/>
              <a:gd name="connsiteY150" fmla="*/ 9262 h 10000"/>
              <a:gd name="connsiteX151" fmla="*/ 404 w 10000"/>
              <a:gd name="connsiteY151" fmla="*/ 9328 h 10000"/>
              <a:gd name="connsiteX152" fmla="*/ 542 w 10000"/>
              <a:gd name="connsiteY152" fmla="*/ 9390 h 10000"/>
              <a:gd name="connsiteX153" fmla="*/ 683 w 10000"/>
              <a:gd name="connsiteY153" fmla="*/ 9448 h 10000"/>
              <a:gd name="connsiteX154" fmla="*/ 824 w 10000"/>
              <a:gd name="connsiteY154" fmla="*/ 9502 h 10000"/>
              <a:gd name="connsiteX155" fmla="*/ 970 w 10000"/>
              <a:gd name="connsiteY155" fmla="*/ 9556 h 10000"/>
              <a:gd name="connsiteX156" fmla="*/ 1115 w 10000"/>
              <a:gd name="connsiteY156" fmla="*/ 9606 h 10000"/>
              <a:gd name="connsiteX157" fmla="*/ 1264 w 10000"/>
              <a:gd name="connsiteY157" fmla="*/ 9652 h 10000"/>
              <a:gd name="connsiteX158" fmla="*/ 1412 w 10000"/>
              <a:gd name="connsiteY158" fmla="*/ 9698 h 10000"/>
              <a:gd name="connsiteX159" fmla="*/ 1561 w 10000"/>
              <a:gd name="connsiteY159" fmla="*/ 9738 h 10000"/>
              <a:gd name="connsiteX160" fmla="*/ 1714 w 10000"/>
              <a:gd name="connsiteY160" fmla="*/ 9778 h 10000"/>
              <a:gd name="connsiteX161" fmla="*/ 1867 w 10000"/>
              <a:gd name="connsiteY161" fmla="*/ 9814 h 10000"/>
              <a:gd name="connsiteX162" fmla="*/ 2024 w 10000"/>
              <a:gd name="connsiteY162" fmla="*/ 9846 h 10000"/>
              <a:gd name="connsiteX163" fmla="*/ 2180 w 10000"/>
              <a:gd name="connsiteY163" fmla="*/ 9874 h 10000"/>
              <a:gd name="connsiteX164" fmla="*/ 2336 w 10000"/>
              <a:gd name="connsiteY164" fmla="*/ 9902 h 10000"/>
              <a:gd name="connsiteX165" fmla="*/ 2494 w 10000"/>
              <a:gd name="connsiteY165" fmla="*/ 9926 h 10000"/>
              <a:gd name="connsiteX166" fmla="*/ 2653 w 10000"/>
              <a:gd name="connsiteY166" fmla="*/ 9946 h 10000"/>
              <a:gd name="connsiteX167" fmla="*/ 2814 w 10000"/>
              <a:gd name="connsiteY167" fmla="*/ 9962 h 10000"/>
              <a:gd name="connsiteX168" fmla="*/ 2978 w 10000"/>
              <a:gd name="connsiteY168" fmla="*/ 9978 h 10000"/>
              <a:gd name="connsiteX169" fmla="*/ 3139 w 10000"/>
              <a:gd name="connsiteY169" fmla="*/ 9988 h 10000"/>
              <a:gd name="connsiteX170" fmla="*/ 3303 w 10000"/>
              <a:gd name="connsiteY170" fmla="*/ 9996 h 10000"/>
              <a:gd name="connsiteX171" fmla="*/ 3464 w 10000"/>
              <a:gd name="connsiteY171" fmla="*/ 10000 h 10000"/>
              <a:gd name="connsiteX172" fmla="*/ 3630 w 10000"/>
              <a:gd name="connsiteY172" fmla="*/ 10000 h 10000"/>
              <a:gd name="connsiteX173" fmla="*/ 3794 w 10000"/>
              <a:gd name="connsiteY173" fmla="*/ 9998 h 10000"/>
              <a:gd name="connsiteX174" fmla="*/ 3963 w 10000"/>
              <a:gd name="connsiteY174" fmla="*/ 9994 h 10000"/>
              <a:gd name="connsiteX175" fmla="*/ 4126 w 10000"/>
              <a:gd name="connsiteY175" fmla="*/ 9986 h 10000"/>
              <a:gd name="connsiteX176" fmla="*/ 4295 w 10000"/>
              <a:gd name="connsiteY176" fmla="*/ 9974 h 10000"/>
              <a:gd name="connsiteX177" fmla="*/ 4461 w 10000"/>
              <a:gd name="connsiteY177" fmla="*/ 9956 h 10000"/>
              <a:gd name="connsiteX178" fmla="*/ 4628 w 10000"/>
              <a:gd name="connsiteY178" fmla="*/ 9938 h 10000"/>
              <a:gd name="connsiteX179" fmla="*/ 4797 w 10000"/>
              <a:gd name="connsiteY179" fmla="*/ 9912 h 10000"/>
              <a:gd name="connsiteX180" fmla="*/ 4965 w 10000"/>
              <a:gd name="connsiteY180" fmla="*/ 9888 h 10000"/>
              <a:gd name="connsiteX181" fmla="*/ 4965 w 10000"/>
              <a:gd name="connsiteY18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253 w 10000"/>
              <a:gd name="connsiteY145" fmla="*/ 744 h 10000"/>
              <a:gd name="connsiteX146" fmla="*/ 0 w 10000"/>
              <a:gd name="connsiteY146" fmla="*/ 9128 h 10000"/>
              <a:gd name="connsiteX147" fmla="*/ 0 w 10000"/>
              <a:gd name="connsiteY147" fmla="*/ 9128 h 10000"/>
              <a:gd name="connsiteX148" fmla="*/ 133 w 10000"/>
              <a:gd name="connsiteY148" fmla="*/ 9198 h 10000"/>
              <a:gd name="connsiteX149" fmla="*/ 269 w 10000"/>
              <a:gd name="connsiteY149" fmla="*/ 9262 h 10000"/>
              <a:gd name="connsiteX150" fmla="*/ 404 w 10000"/>
              <a:gd name="connsiteY150" fmla="*/ 9328 h 10000"/>
              <a:gd name="connsiteX151" fmla="*/ 542 w 10000"/>
              <a:gd name="connsiteY151" fmla="*/ 9390 h 10000"/>
              <a:gd name="connsiteX152" fmla="*/ 683 w 10000"/>
              <a:gd name="connsiteY152" fmla="*/ 9448 h 10000"/>
              <a:gd name="connsiteX153" fmla="*/ 824 w 10000"/>
              <a:gd name="connsiteY153" fmla="*/ 9502 h 10000"/>
              <a:gd name="connsiteX154" fmla="*/ 970 w 10000"/>
              <a:gd name="connsiteY154" fmla="*/ 9556 h 10000"/>
              <a:gd name="connsiteX155" fmla="*/ 1115 w 10000"/>
              <a:gd name="connsiteY155" fmla="*/ 9606 h 10000"/>
              <a:gd name="connsiteX156" fmla="*/ 1264 w 10000"/>
              <a:gd name="connsiteY156" fmla="*/ 9652 h 10000"/>
              <a:gd name="connsiteX157" fmla="*/ 1412 w 10000"/>
              <a:gd name="connsiteY157" fmla="*/ 9698 h 10000"/>
              <a:gd name="connsiteX158" fmla="*/ 1561 w 10000"/>
              <a:gd name="connsiteY158" fmla="*/ 9738 h 10000"/>
              <a:gd name="connsiteX159" fmla="*/ 1714 w 10000"/>
              <a:gd name="connsiteY159" fmla="*/ 9778 h 10000"/>
              <a:gd name="connsiteX160" fmla="*/ 1867 w 10000"/>
              <a:gd name="connsiteY160" fmla="*/ 9814 h 10000"/>
              <a:gd name="connsiteX161" fmla="*/ 2024 w 10000"/>
              <a:gd name="connsiteY161" fmla="*/ 9846 h 10000"/>
              <a:gd name="connsiteX162" fmla="*/ 2180 w 10000"/>
              <a:gd name="connsiteY162" fmla="*/ 9874 h 10000"/>
              <a:gd name="connsiteX163" fmla="*/ 2336 w 10000"/>
              <a:gd name="connsiteY163" fmla="*/ 9902 h 10000"/>
              <a:gd name="connsiteX164" fmla="*/ 2494 w 10000"/>
              <a:gd name="connsiteY164" fmla="*/ 9926 h 10000"/>
              <a:gd name="connsiteX165" fmla="*/ 2653 w 10000"/>
              <a:gd name="connsiteY165" fmla="*/ 9946 h 10000"/>
              <a:gd name="connsiteX166" fmla="*/ 2814 w 10000"/>
              <a:gd name="connsiteY166" fmla="*/ 9962 h 10000"/>
              <a:gd name="connsiteX167" fmla="*/ 2978 w 10000"/>
              <a:gd name="connsiteY167" fmla="*/ 9978 h 10000"/>
              <a:gd name="connsiteX168" fmla="*/ 3139 w 10000"/>
              <a:gd name="connsiteY168" fmla="*/ 9988 h 10000"/>
              <a:gd name="connsiteX169" fmla="*/ 3303 w 10000"/>
              <a:gd name="connsiteY169" fmla="*/ 9996 h 10000"/>
              <a:gd name="connsiteX170" fmla="*/ 3464 w 10000"/>
              <a:gd name="connsiteY170" fmla="*/ 10000 h 10000"/>
              <a:gd name="connsiteX171" fmla="*/ 3630 w 10000"/>
              <a:gd name="connsiteY171" fmla="*/ 10000 h 10000"/>
              <a:gd name="connsiteX172" fmla="*/ 3794 w 10000"/>
              <a:gd name="connsiteY172" fmla="*/ 9998 h 10000"/>
              <a:gd name="connsiteX173" fmla="*/ 3963 w 10000"/>
              <a:gd name="connsiteY173" fmla="*/ 9994 h 10000"/>
              <a:gd name="connsiteX174" fmla="*/ 4126 w 10000"/>
              <a:gd name="connsiteY174" fmla="*/ 9986 h 10000"/>
              <a:gd name="connsiteX175" fmla="*/ 4295 w 10000"/>
              <a:gd name="connsiteY175" fmla="*/ 9974 h 10000"/>
              <a:gd name="connsiteX176" fmla="*/ 4461 w 10000"/>
              <a:gd name="connsiteY176" fmla="*/ 9956 h 10000"/>
              <a:gd name="connsiteX177" fmla="*/ 4628 w 10000"/>
              <a:gd name="connsiteY177" fmla="*/ 9938 h 10000"/>
              <a:gd name="connsiteX178" fmla="*/ 4797 w 10000"/>
              <a:gd name="connsiteY178" fmla="*/ 9912 h 10000"/>
              <a:gd name="connsiteX179" fmla="*/ 4965 w 10000"/>
              <a:gd name="connsiteY179" fmla="*/ 9888 h 10000"/>
              <a:gd name="connsiteX180" fmla="*/ 4965 w 10000"/>
              <a:gd name="connsiteY18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264 w 10000"/>
              <a:gd name="connsiteY155" fmla="*/ 9652 h 10000"/>
              <a:gd name="connsiteX156" fmla="*/ 1412 w 10000"/>
              <a:gd name="connsiteY156" fmla="*/ 9698 h 10000"/>
              <a:gd name="connsiteX157" fmla="*/ 1561 w 10000"/>
              <a:gd name="connsiteY157" fmla="*/ 9738 h 10000"/>
              <a:gd name="connsiteX158" fmla="*/ 1714 w 10000"/>
              <a:gd name="connsiteY158" fmla="*/ 9778 h 10000"/>
              <a:gd name="connsiteX159" fmla="*/ 1867 w 10000"/>
              <a:gd name="connsiteY159" fmla="*/ 9814 h 10000"/>
              <a:gd name="connsiteX160" fmla="*/ 2024 w 10000"/>
              <a:gd name="connsiteY160" fmla="*/ 9846 h 10000"/>
              <a:gd name="connsiteX161" fmla="*/ 2180 w 10000"/>
              <a:gd name="connsiteY161" fmla="*/ 9874 h 10000"/>
              <a:gd name="connsiteX162" fmla="*/ 2336 w 10000"/>
              <a:gd name="connsiteY162" fmla="*/ 9902 h 10000"/>
              <a:gd name="connsiteX163" fmla="*/ 2494 w 10000"/>
              <a:gd name="connsiteY163" fmla="*/ 9926 h 10000"/>
              <a:gd name="connsiteX164" fmla="*/ 2653 w 10000"/>
              <a:gd name="connsiteY164" fmla="*/ 9946 h 10000"/>
              <a:gd name="connsiteX165" fmla="*/ 2814 w 10000"/>
              <a:gd name="connsiteY165" fmla="*/ 9962 h 10000"/>
              <a:gd name="connsiteX166" fmla="*/ 2978 w 10000"/>
              <a:gd name="connsiteY166" fmla="*/ 9978 h 10000"/>
              <a:gd name="connsiteX167" fmla="*/ 3139 w 10000"/>
              <a:gd name="connsiteY167" fmla="*/ 9988 h 10000"/>
              <a:gd name="connsiteX168" fmla="*/ 3303 w 10000"/>
              <a:gd name="connsiteY168" fmla="*/ 9996 h 10000"/>
              <a:gd name="connsiteX169" fmla="*/ 3464 w 10000"/>
              <a:gd name="connsiteY169" fmla="*/ 10000 h 10000"/>
              <a:gd name="connsiteX170" fmla="*/ 3630 w 10000"/>
              <a:gd name="connsiteY170" fmla="*/ 10000 h 10000"/>
              <a:gd name="connsiteX171" fmla="*/ 3794 w 10000"/>
              <a:gd name="connsiteY171" fmla="*/ 9998 h 10000"/>
              <a:gd name="connsiteX172" fmla="*/ 3963 w 10000"/>
              <a:gd name="connsiteY172" fmla="*/ 9994 h 10000"/>
              <a:gd name="connsiteX173" fmla="*/ 4126 w 10000"/>
              <a:gd name="connsiteY173" fmla="*/ 9986 h 10000"/>
              <a:gd name="connsiteX174" fmla="*/ 4295 w 10000"/>
              <a:gd name="connsiteY174" fmla="*/ 9974 h 10000"/>
              <a:gd name="connsiteX175" fmla="*/ 4461 w 10000"/>
              <a:gd name="connsiteY175" fmla="*/ 9956 h 10000"/>
              <a:gd name="connsiteX176" fmla="*/ 4628 w 10000"/>
              <a:gd name="connsiteY176" fmla="*/ 9938 h 10000"/>
              <a:gd name="connsiteX177" fmla="*/ 4797 w 10000"/>
              <a:gd name="connsiteY177" fmla="*/ 9912 h 10000"/>
              <a:gd name="connsiteX178" fmla="*/ 4965 w 10000"/>
              <a:gd name="connsiteY178" fmla="*/ 9888 h 10000"/>
              <a:gd name="connsiteX179" fmla="*/ 4965 w 10000"/>
              <a:gd name="connsiteY179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115 w 10000"/>
              <a:gd name="connsiteY154" fmla="*/ 9606 h 10000"/>
              <a:gd name="connsiteX155" fmla="*/ 1412 w 10000"/>
              <a:gd name="connsiteY155" fmla="*/ 9698 h 10000"/>
              <a:gd name="connsiteX156" fmla="*/ 1561 w 10000"/>
              <a:gd name="connsiteY156" fmla="*/ 9738 h 10000"/>
              <a:gd name="connsiteX157" fmla="*/ 1714 w 10000"/>
              <a:gd name="connsiteY157" fmla="*/ 9778 h 10000"/>
              <a:gd name="connsiteX158" fmla="*/ 1867 w 10000"/>
              <a:gd name="connsiteY158" fmla="*/ 9814 h 10000"/>
              <a:gd name="connsiteX159" fmla="*/ 2024 w 10000"/>
              <a:gd name="connsiteY159" fmla="*/ 9846 h 10000"/>
              <a:gd name="connsiteX160" fmla="*/ 2180 w 10000"/>
              <a:gd name="connsiteY160" fmla="*/ 9874 h 10000"/>
              <a:gd name="connsiteX161" fmla="*/ 2336 w 10000"/>
              <a:gd name="connsiteY161" fmla="*/ 9902 h 10000"/>
              <a:gd name="connsiteX162" fmla="*/ 2494 w 10000"/>
              <a:gd name="connsiteY162" fmla="*/ 9926 h 10000"/>
              <a:gd name="connsiteX163" fmla="*/ 2653 w 10000"/>
              <a:gd name="connsiteY163" fmla="*/ 9946 h 10000"/>
              <a:gd name="connsiteX164" fmla="*/ 2814 w 10000"/>
              <a:gd name="connsiteY164" fmla="*/ 9962 h 10000"/>
              <a:gd name="connsiteX165" fmla="*/ 2978 w 10000"/>
              <a:gd name="connsiteY165" fmla="*/ 9978 h 10000"/>
              <a:gd name="connsiteX166" fmla="*/ 3139 w 10000"/>
              <a:gd name="connsiteY166" fmla="*/ 9988 h 10000"/>
              <a:gd name="connsiteX167" fmla="*/ 3303 w 10000"/>
              <a:gd name="connsiteY167" fmla="*/ 9996 h 10000"/>
              <a:gd name="connsiteX168" fmla="*/ 3464 w 10000"/>
              <a:gd name="connsiteY168" fmla="*/ 10000 h 10000"/>
              <a:gd name="connsiteX169" fmla="*/ 3630 w 10000"/>
              <a:gd name="connsiteY169" fmla="*/ 10000 h 10000"/>
              <a:gd name="connsiteX170" fmla="*/ 3794 w 10000"/>
              <a:gd name="connsiteY170" fmla="*/ 9998 h 10000"/>
              <a:gd name="connsiteX171" fmla="*/ 3963 w 10000"/>
              <a:gd name="connsiteY171" fmla="*/ 9994 h 10000"/>
              <a:gd name="connsiteX172" fmla="*/ 4126 w 10000"/>
              <a:gd name="connsiteY172" fmla="*/ 9986 h 10000"/>
              <a:gd name="connsiteX173" fmla="*/ 4295 w 10000"/>
              <a:gd name="connsiteY173" fmla="*/ 9974 h 10000"/>
              <a:gd name="connsiteX174" fmla="*/ 4461 w 10000"/>
              <a:gd name="connsiteY174" fmla="*/ 9956 h 10000"/>
              <a:gd name="connsiteX175" fmla="*/ 4628 w 10000"/>
              <a:gd name="connsiteY175" fmla="*/ 9938 h 10000"/>
              <a:gd name="connsiteX176" fmla="*/ 4797 w 10000"/>
              <a:gd name="connsiteY176" fmla="*/ 9912 h 10000"/>
              <a:gd name="connsiteX177" fmla="*/ 4965 w 10000"/>
              <a:gd name="connsiteY177" fmla="*/ 9888 h 10000"/>
              <a:gd name="connsiteX178" fmla="*/ 4965 w 10000"/>
              <a:gd name="connsiteY178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970 w 10000"/>
              <a:gd name="connsiteY153" fmla="*/ 9556 h 10000"/>
              <a:gd name="connsiteX154" fmla="*/ 1412 w 10000"/>
              <a:gd name="connsiteY154" fmla="*/ 9698 h 10000"/>
              <a:gd name="connsiteX155" fmla="*/ 1561 w 10000"/>
              <a:gd name="connsiteY155" fmla="*/ 9738 h 10000"/>
              <a:gd name="connsiteX156" fmla="*/ 1714 w 10000"/>
              <a:gd name="connsiteY156" fmla="*/ 9778 h 10000"/>
              <a:gd name="connsiteX157" fmla="*/ 1867 w 10000"/>
              <a:gd name="connsiteY157" fmla="*/ 9814 h 10000"/>
              <a:gd name="connsiteX158" fmla="*/ 2024 w 10000"/>
              <a:gd name="connsiteY158" fmla="*/ 9846 h 10000"/>
              <a:gd name="connsiteX159" fmla="*/ 2180 w 10000"/>
              <a:gd name="connsiteY159" fmla="*/ 9874 h 10000"/>
              <a:gd name="connsiteX160" fmla="*/ 2336 w 10000"/>
              <a:gd name="connsiteY160" fmla="*/ 9902 h 10000"/>
              <a:gd name="connsiteX161" fmla="*/ 2494 w 10000"/>
              <a:gd name="connsiteY161" fmla="*/ 9926 h 10000"/>
              <a:gd name="connsiteX162" fmla="*/ 2653 w 10000"/>
              <a:gd name="connsiteY162" fmla="*/ 9946 h 10000"/>
              <a:gd name="connsiteX163" fmla="*/ 2814 w 10000"/>
              <a:gd name="connsiteY163" fmla="*/ 9962 h 10000"/>
              <a:gd name="connsiteX164" fmla="*/ 2978 w 10000"/>
              <a:gd name="connsiteY164" fmla="*/ 9978 h 10000"/>
              <a:gd name="connsiteX165" fmla="*/ 3139 w 10000"/>
              <a:gd name="connsiteY165" fmla="*/ 9988 h 10000"/>
              <a:gd name="connsiteX166" fmla="*/ 3303 w 10000"/>
              <a:gd name="connsiteY166" fmla="*/ 9996 h 10000"/>
              <a:gd name="connsiteX167" fmla="*/ 3464 w 10000"/>
              <a:gd name="connsiteY167" fmla="*/ 10000 h 10000"/>
              <a:gd name="connsiteX168" fmla="*/ 3630 w 10000"/>
              <a:gd name="connsiteY168" fmla="*/ 10000 h 10000"/>
              <a:gd name="connsiteX169" fmla="*/ 3794 w 10000"/>
              <a:gd name="connsiteY169" fmla="*/ 9998 h 10000"/>
              <a:gd name="connsiteX170" fmla="*/ 3963 w 10000"/>
              <a:gd name="connsiteY170" fmla="*/ 9994 h 10000"/>
              <a:gd name="connsiteX171" fmla="*/ 4126 w 10000"/>
              <a:gd name="connsiteY171" fmla="*/ 9986 h 10000"/>
              <a:gd name="connsiteX172" fmla="*/ 4295 w 10000"/>
              <a:gd name="connsiteY172" fmla="*/ 9974 h 10000"/>
              <a:gd name="connsiteX173" fmla="*/ 4461 w 10000"/>
              <a:gd name="connsiteY173" fmla="*/ 9956 h 10000"/>
              <a:gd name="connsiteX174" fmla="*/ 4628 w 10000"/>
              <a:gd name="connsiteY174" fmla="*/ 9938 h 10000"/>
              <a:gd name="connsiteX175" fmla="*/ 4797 w 10000"/>
              <a:gd name="connsiteY175" fmla="*/ 9912 h 10000"/>
              <a:gd name="connsiteX176" fmla="*/ 4965 w 10000"/>
              <a:gd name="connsiteY176" fmla="*/ 9888 h 10000"/>
              <a:gd name="connsiteX177" fmla="*/ 4965 w 10000"/>
              <a:gd name="connsiteY177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824 w 10000"/>
              <a:gd name="connsiteY152" fmla="*/ 9502 h 10000"/>
              <a:gd name="connsiteX153" fmla="*/ 1412 w 10000"/>
              <a:gd name="connsiteY153" fmla="*/ 9698 h 10000"/>
              <a:gd name="connsiteX154" fmla="*/ 1561 w 10000"/>
              <a:gd name="connsiteY154" fmla="*/ 9738 h 10000"/>
              <a:gd name="connsiteX155" fmla="*/ 1714 w 10000"/>
              <a:gd name="connsiteY155" fmla="*/ 9778 h 10000"/>
              <a:gd name="connsiteX156" fmla="*/ 1867 w 10000"/>
              <a:gd name="connsiteY156" fmla="*/ 9814 h 10000"/>
              <a:gd name="connsiteX157" fmla="*/ 2024 w 10000"/>
              <a:gd name="connsiteY157" fmla="*/ 9846 h 10000"/>
              <a:gd name="connsiteX158" fmla="*/ 2180 w 10000"/>
              <a:gd name="connsiteY158" fmla="*/ 9874 h 10000"/>
              <a:gd name="connsiteX159" fmla="*/ 2336 w 10000"/>
              <a:gd name="connsiteY159" fmla="*/ 9902 h 10000"/>
              <a:gd name="connsiteX160" fmla="*/ 2494 w 10000"/>
              <a:gd name="connsiteY160" fmla="*/ 9926 h 10000"/>
              <a:gd name="connsiteX161" fmla="*/ 2653 w 10000"/>
              <a:gd name="connsiteY161" fmla="*/ 9946 h 10000"/>
              <a:gd name="connsiteX162" fmla="*/ 2814 w 10000"/>
              <a:gd name="connsiteY162" fmla="*/ 9962 h 10000"/>
              <a:gd name="connsiteX163" fmla="*/ 2978 w 10000"/>
              <a:gd name="connsiteY163" fmla="*/ 9978 h 10000"/>
              <a:gd name="connsiteX164" fmla="*/ 3139 w 10000"/>
              <a:gd name="connsiteY164" fmla="*/ 9988 h 10000"/>
              <a:gd name="connsiteX165" fmla="*/ 3303 w 10000"/>
              <a:gd name="connsiteY165" fmla="*/ 9996 h 10000"/>
              <a:gd name="connsiteX166" fmla="*/ 3464 w 10000"/>
              <a:gd name="connsiteY166" fmla="*/ 10000 h 10000"/>
              <a:gd name="connsiteX167" fmla="*/ 3630 w 10000"/>
              <a:gd name="connsiteY167" fmla="*/ 10000 h 10000"/>
              <a:gd name="connsiteX168" fmla="*/ 3794 w 10000"/>
              <a:gd name="connsiteY168" fmla="*/ 9998 h 10000"/>
              <a:gd name="connsiteX169" fmla="*/ 3963 w 10000"/>
              <a:gd name="connsiteY169" fmla="*/ 9994 h 10000"/>
              <a:gd name="connsiteX170" fmla="*/ 4126 w 10000"/>
              <a:gd name="connsiteY170" fmla="*/ 9986 h 10000"/>
              <a:gd name="connsiteX171" fmla="*/ 4295 w 10000"/>
              <a:gd name="connsiteY171" fmla="*/ 9974 h 10000"/>
              <a:gd name="connsiteX172" fmla="*/ 4461 w 10000"/>
              <a:gd name="connsiteY172" fmla="*/ 9956 h 10000"/>
              <a:gd name="connsiteX173" fmla="*/ 4628 w 10000"/>
              <a:gd name="connsiteY173" fmla="*/ 9938 h 10000"/>
              <a:gd name="connsiteX174" fmla="*/ 4797 w 10000"/>
              <a:gd name="connsiteY174" fmla="*/ 9912 h 10000"/>
              <a:gd name="connsiteX175" fmla="*/ 4965 w 10000"/>
              <a:gd name="connsiteY175" fmla="*/ 9888 h 10000"/>
              <a:gd name="connsiteX176" fmla="*/ 4965 w 10000"/>
              <a:gd name="connsiteY176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683 w 10000"/>
              <a:gd name="connsiteY151" fmla="*/ 9448 h 10000"/>
              <a:gd name="connsiteX152" fmla="*/ 1412 w 10000"/>
              <a:gd name="connsiteY152" fmla="*/ 9698 h 10000"/>
              <a:gd name="connsiteX153" fmla="*/ 1561 w 10000"/>
              <a:gd name="connsiteY153" fmla="*/ 9738 h 10000"/>
              <a:gd name="connsiteX154" fmla="*/ 1714 w 10000"/>
              <a:gd name="connsiteY154" fmla="*/ 9778 h 10000"/>
              <a:gd name="connsiteX155" fmla="*/ 1867 w 10000"/>
              <a:gd name="connsiteY155" fmla="*/ 9814 h 10000"/>
              <a:gd name="connsiteX156" fmla="*/ 2024 w 10000"/>
              <a:gd name="connsiteY156" fmla="*/ 9846 h 10000"/>
              <a:gd name="connsiteX157" fmla="*/ 2180 w 10000"/>
              <a:gd name="connsiteY157" fmla="*/ 9874 h 10000"/>
              <a:gd name="connsiteX158" fmla="*/ 2336 w 10000"/>
              <a:gd name="connsiteY158" fmla="*/ 9902 h 10000"/>
              <a:gd name="connsiteX159" fmla="*/ 2494 w 10000"/>
              <a:gd name="connsiteY159" fmla="*/ 9926 h 10000"/>
              <a:gd name="connsiteX160" fmla="*/ 2653 w 10000"/>
              <a:gd name="connsiteY160" fmla="*/ 9946 h 10000"/>
              <a:gd name="connsiteX161" fmla="*/ 2814 w 10000"/>
              <a:gd name="connsiteY161" fmla="*/ 9962 h 10000"/>
              <a:gd name="connsiteX162" fmla="*/ 2978 w 10000"/>
              <a:gd name="connsiteY162" fmla="*/ 9978 h 10000"/>
              <a:gd name="connsiteX163" fmla="*/ 3139 w 10000"/>
              <a:gd name="connsiteY163" fmla="*/ 9988 h 10000"/>
              <a:gd name="connsiteX164" fmla="*/ 3303 w 10000"/>
              <a:gd name="connsiteY164" fmla="*/ 9996 h 10000"/>
              <a:gd name="connsiteX165" fmla="*/ 3464 w 10000"/>
              <a:gd name="connsiteY165" fmla="*/ 10000 h 10000"/>
              <a:gd name="connsiteX166" fmla="*/ 3630 w 10000"/>
              <a:gd name="connsiteY166" fmla="*/ 10000 h 10000"/>
              <a:gd name="connsiteX167" fmla="*/ 3794 w 10000"/>
              <a:gd name="connsiteY167" fmla="*/ 9998 h 10000"/>
              <a:gd name="connsiteX168" fmla="*/ 3963 w 10000"/>
              <a:gd name="connsiteY168" fmla="*/ 9994 h 10000"/>
              <a:gd name="connsiteX169" fmla="*/ 4126 w 10000"/>
              <a:gd name="connsiteY169" fmla="*/ 9986 h 10000"/>
              <a:gd name="connsiteX170" fmla="*/ 4295 w 10000"/>
              <a:gd name="connsiteY170" fmla="*/ 9974 h 10000"/>
              <a:gd name="connsiteX171" fmla="*/ 4461 w 10000"/>
              <a:gd name="connsiteY171" fmla="*/ 9956 h 10000"/>
              <a:gd name="connsiteX172" fmla="*/ 4628 w 10000"/>
              <a:gd name="connsiteY172" fmla="*/ 9938 h 10000"/>
              <a:gd name="connsiteX173" fmla="*/ 4797 w 10000"/>
              <a:gd name="connsiteY173" fmla="*/ 9912 h 10000"/>
              <a:gd name="connsiteX174" fmla="*/ 4965 w 10000"/>
              <a:gd name="connsiteY174" fmla="*/ 9888 h 10000"/>
              <a:gd name="connsiteX175" fmla="*/ 4965 w 10000"/>
              <a:gd name="connsiteY175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542 w 10000"/>
              <a:gd name="connsiteY150" fmla="*/ 9390 h 10000"/>
              <a:gd name="connsiteX151" fmla="*/ 1412 w 10000"/>
              <a:gd name="connsiteY151" fmla="*/ 9698 h 10000"/>
              <a:gd name="connsiteX152" fmla="*/ 1561 w 10000"/>
              <a:gd name="connsiteY152" fmla="*/ 9738 h 10000"/>
              <a:gd name="connsiteX153" fmla="*/ 1714 w 10000"/>
              <a:gd name="connsiteY153" fmla="*/ 9778 h 10000"/>
              <a:gd name="connsiteX154" fmla="*/ 1867 w 10000"/>
              <a:gd name="connsiteY154" fmla="*/ 9814 h 10000"/>
              <a:gd name="connsiteX155" fmla="*/ 2024 w 10000"/>
              <a:gd name="connsiteY155" fmla="*/ 9846 h 10000"/>
              <a:gd name="connsiteX156" fmla="*/ 2180 w 10000"/>
              <a:gd name="connsiteY156" fmla="*/ 9874 h 10000"/>
              <a:gd name="connsiteX157" fmla="*/ 2336 w 10000"/>
              <a:gd name="connsiteY157" fmla="*/ 9902 h 10000"/>
              <a:gd name="connsiteX158" fmla="*/ 2494 w 10000"/>
              <a:gd name="connsiteY158" fmla="*/ 9926 h 10000"/>
              <a:gd name="connsiteX159" fmla="*/ 2653 w 10000"/>
              <a:gd name="connsiteY159" fmla="*/ 9946 h 10000"/>
              <a:gd name="connsiteX160" fmla="*/ 2814 w 10000"/>
              <a:gd name="connsiteY160" fmla="*/ 9962 h 10000"/>
              <a:gd name="connsiteX161" fmla="*/ 2978 w 10000"/>
              <a:gd name="connsiteY161" fmla="*/ 9978 h 10000"/>
              <a:gd name="connsiteX162" fmla="*/ 3139 w 10000"/>
              <a:gd name="connsiteY162" fmla="*/ 9988 h 10000"/>
              <a:gd name="connsiteX163" fmla="*/ 3303 w 10000"/>
              <a:gd name="connsiteY163" fmla="*/ 9996 h 10000"/>
              <a:gd name="connsiteX164" fmla="*/ 3464 w 10000"/>
              <a:gd name="connsiteY164" fmla="*/ 10000 h 10000"/>
              <a:gd name="connsiteX165" fmla="*/ 3630 w 10000"/>
              <a:gd name="connsiteY165" fmla="*/ 10000 h 10000"/>
              <a:gd name="connsiteX166" fmla="*/ 3794 w 10000"/>
              <a:gd name="connsiteY166" fmla="*/ 9998 h 10000"/>
              <a:gd name="connsiteX167" fmla="*/ 3963 w 10000"/>
              <a:gd name="connsiteY167" fmla="*/ 9994 h 10000"/>
              <a:gd name="connsiteX168" fmla="*/ 4126 w 10000"/>
              <a:gd name="connsiteY168" fmla="*/ 9986 h 10000"/>
              <a:gd name="connsiteX169" fmla="*/ 4295 w 10000"/>
              <a:gd name="connsiteY169" fmla="*/ 9974 h 10000"/>
              <a:gd name="connsiteX170" fmla="*/ 4461 w 10000"/>
              <a:gd name="connsiteY170" fmla="*/ 9956 h 10000"/>
              <a:gd name="connsiteX171" fmla="*/ 4628 w 10000"/>
              <a:gd name="connsiteY171" fmla="*/ 9938 h 10000"/>
              <a:gd name="connsiteX172" fmla="*/ 4797 w 10000"/>
              <a:gd name="connsiteY172" fmla="*/ 9912 h 10000"/>
              <a:gd name="connsiteX173" fmla="*/ 4965 w 10000"/>
              <a:gd name="connsiteY173" fmla="*/ 9888 h 10000"/>
              <a:gd name="connsiteX174" fmla="*/ 4965 w 10000"/>
              <a:gd name="connsiteY174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404 w 10000"/>
              <a:gd name="connsiteY149" fmla="*/ 9328 h 10000"/>
              <a:gd name="connsiteX150" fmla="*/ 1412 w 10000"/>
              <a:gd name="connsiteY150" fmla="*/ 9698 h 10000"/>
              <a:gd name="connsiteX151" fmla="*/ 1561 w 10000"/>
              <a:gd name="connsiteY151" fmla="*/ 9738 h 10000"/>
              <a:gd name="connsiteX152" fmla="*/ 1714 w 10000"/>
              <a:gd name="connsiteY152" fmla="*/ 9778 h 10000"/>
              <a:gd name="connsiteX153" fmla="*/ 1867 w 10000"/>
              <a:gd name="connsiteY153" fmla="*/ 9814 h 10000"/>
              <a:gd name="connsiteX154" fmla="*/ 2024 w 10000"/>
              <a:gd name="connsiteY154" fmla="*/ 9846 h 10000"/>
              <a:gd name="connsiteX155" fmla="*/ 2180 w 10000"/>
              <a:gd name="connsiteY155" fmla="*/ 9874 h 10000"/>
              <a:gd name="connsiteX156" fmla="*/ 2336 w 10000"/>
              <a:gd name="connsiteY156" fmla="*/ 9902 h 10000"/>
              <a:gd name="connsiteX157" fmla="*/ 2494 w 10000"/>
              <a:gd name="connsiteY157" fmla="*/ 9926 h 10000"/>
              <a:gd name="connsiteX158" fmla="*/ 2653 w 10000"/>
              <a:gd name="connsiteY158" fmla="*/ 9946 h 10000"/>
              <a:gd name="connsiteX159" fmla="*/ 2814 w 10000"/>
              <a:gd name="connsiteY159" fmla="*/ 9962 h 10000"/>
              <a:gd name="connsiteX160" fmla="*/ 2978 w 10000"/>
              <a:gd name="connsiteY160" fmla="*/ 9978 h 10000"/>
              <a:gd name="connsiteX161" fmla="*/ 3139 w 10000"/>
              <a:gd name="connsiteY161" fmla="*/ 9988 h 10000"/>
              <a:gd name="connsiteX162" fmla="*/ 3303 w 10000"/>
              <a:gd name="connsiteY162" fmla="*/ 9996 h 10000"/>
              <a:gd name="connsiteX163" fmla="*/ 3464 w 10000"/>
              <a:gd name="connsiteY163" fmla="*/ 10000 h 10000"/>
              <a:gd name="connsiteX164" fmla="*/ 3630 w 10000"/>
              <a:gd name="connsiteY164" fmla="*/ 10000 h 10000"/>
              <a:gd name="connsiteX165" fmla="*/ 3794 w 10000"/>
              <a:gd name="connsiteY165" fmla="*/ 9998 h 10000"/>
              <a:gd name="connsiteX166" fmla="*/ 3963 w 10000"/>
              <a:gd name="connsiteY166" fmla="*/ 9994 h 10000"/>
              <a:gd name="connsiteX167" fmla="*/ 4126 w 10000"/>
              <a:gd name="connsiteY167" fmla="*/ 9986 h 10000"/>
              <a:gd name="connsiteX168" fmla="*/ 4295 w 10000"/>
              <a:gd name="connsiteY168" fmla="*/ 9974 h 10000"/>
              <a:gd name="connsiteX169" fmla="*/ 4461 w 10000"/>
              <a:gd name="connsiteY169" fmla="*/ 9956 h 10000"/>
              <a:gd name="connsiteX170" fmla="*/ 4628 w 10000"/>
              <a:gd name="connsiteY170" fmla="*/ 9938 h 10000"/>
              <a:gd name="connsiteX171" fmla="*/ 4797 w 10000"/>
              <a:gd name="connsiteY171" fmla="*/ 9912 h 10000"/>
              <a:gd name="connsiteX172" fmla="*/ 4965 w 10000"/>
              <a:gd name="connsiteY172" fmla="*/ 9888 h 10000"/>
              <a:gd name="connsiteX173" fmla="*/ 4965 w 10000"/>
              <a:gd name="connsiteY173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269 w 10000"/>
              <a:gd name="connsiteY148" fmla="*/ 9262 h 10000"/>
              <a:gd name="connsiteX149" fmla="*/ 1412 w 10000"/>
              <a:gd name="connsiteY149" fmla="*/ 9698 h 10000"/>
              <a:gd name="connsiteX150" fmla="*/ 1561 w 10000"/>
              <a:gd name="connsiteY150" fmla="*/ 9738 h 10000"/>
              <a:gd name="connsiteX151" fmla="*/ 1714 w 10000"/>
              <a:gd name="connsiteY151" fmla="*/ 9778 h 10000"/>
              <a:gd name="connsiteX152" fmla="*/ 1867 w 10000"/>
              <a:gd name="connsiteY152" fmla="*/ 9814 h 10000"/>
              <a:gd name="connsiteX153" fmla="*/ 2024 w 10000"/>
              <a:gd name="connsiteY153" fmla="*/ 9846 h 10000"/>
              <a:gd name="connsiteX154" fmla="*/ 2180 w 10000"/>
              <a:gd name="connsiteY154" fmla="*/ 9874 h 10000"/>
              <a:gd name="connsiteX155" fmla="*/ 2336 w 10000"/>
              <a:gd name="connsiteY155" fmla="*/ 9902 h 10000"/>
              <a:gd name="connsiteX156" fmla="*/ 2494 w 10000"/>
              <a:gd name="connsiteY156" fmla="*/ 9926 h 10000"/>
              <a:gd name="connsiteX157" fmla="*/ 2653 w 10000"/>
              <a:gd name="connsiteY157" fmla="*/ 9946 h 10000"/>
              <a:gd name="connsiteX158" fmla="*/ 2814 w 10000"/>
              <a:gd name="connsiteY158" fmla="*/ 9962 h 10000"/>
              <a:gd name="connsiteX159" fmla="*/ 2978 w 10000"/>
              <a:gd name="connsiteY159" fmla="*/ 9978 h 10000"/>
              <a:gd name="connsiteX160" fmla="*/ 3139 w 10000"/>
              <a:gd name="connsiteY160" fmla="*/ 9988 h 10000"/>
              <a:gd name="connsiteX161" fmla="*/ 3303 w 10000"/>
              <a:gd name="connsiteY161" fmla="*/ 9996 h 10000"/>
              <a:gd name="connsiteX162" fmla="*/ 3464 w 10000"/>
              <a:gd name="connsiteY162" fmla="*/ 10000 h 10000"/>
              <a:gd name="connsiteX163" fmla="*/ 3630 w 10000"/>
              <a:gd name="connsiteY163" fmla="*/ 10000 h 10000"/>
              <a:gd name="connsiteX164" fmla="*/ 3794 w 10000"/>
              <a:gd name="connsiteY164" fmla="*/ 9998 h 10000"/>
              <a:gd name="connsiteX165" fmla="*/ 3963 w 10000"/>
              <a:gd name="connsiteY165" fmla="*/ 9994 h 10000"/>
              <a:gd name="connsiteX166" fmla="*/ 4126 w 10000"/>
              <a:gd name="connsiteY166" fmla="*/ 9986 h 10000"/>
              <a:gd name="connsiteX167" fmla="*/ 4295 w 10000"/>
              <a:gd name="connsiteY167" fmla="*/ 9974 h 10000"/>
              <a:gd name="connsiteX168" fmla="*/ 4461 w 10000"/>
              <a:gd name="connsiteY168" fmla="*/ 9956 h 10000"/>
              <a:gd name="connsiteX169" fmla="*/ 4628 w 10000"/>
              <a:gd name="connsiteY169" fmla="*/ 9938 h 10000"/>
              <a:gd name="connsiteX170" fmla="*/ 4797 w 10000"/>
              <a:gd name="connsiteY170" fmla="*/ 9912 h 10000"/>
              <a:gd name="connsiteX171" fmla="*/ 4965 w 10000"/>
              <a:gd name="connsiteY171" fmla="*/ 9888 h 10000"/>
              <a:gd name="connsiteX172" fmla="*/ 4965 w 10000"/>
              <a:gd name="connsiteY172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33 w 10000"/>
              <a:gd name="connsiteY147" fmla="*/ 9198 h 10000"/>
              <a:gd name="connsiteX148" fmla="*/ 1412 w 10000"/>
              <a:gd name="connsiteY148" fmla="*/ 9698 h 10000"/>
              <a:gd name="connsiteX149" fmla="*/ 1561 w 10000"/>
              <a:gd name="connsiteY149" fmla="*/ 9738 h 10000"/>
              <a:gd name="connsiteX150" fmla="*/ 1714 w 10000"/>
              <a:gd name="connsiteY150" fmla="*/ 9778 h 10000"/>
              <a:gd name="connsiteX151" fmla="*/ 1867 w 10000"/>
              <a:gd name="connsiteY151" fmla="*/ 9814 h 10000"/>
              <a:gd name="connsiteX152" fmla="*/ 2024 w 10000"/>
              <a:gd name="connsiteY152" fmla="*/ 9846 h 10000"/>
              <a:gd name="connsiteX153" fmla="*/ 2180 w 10000"/>
              <a:gd name="connsiteY153" fmla="*/ 9874 h 10000"/>
              <a:gd name="connsiteX154" fmla="*/ 2336 w 10000"/>
              <a:gd name="connsiteY154" fmla="*/ 9902 h 10000"/>
              <a:gd name="connsiteX155" fmla="*/ 2494 w 10000"/>
              <a:gd name="connsiteY155" fmla="*/ 9926 h 10000"/>
              <a:gd name="connsiteX156" fmla="*/ 2653 w 10000"/>
              <a:gd name="connsiteY156" fmla="*/ 9946 h 10000"/>
              <a:gd name="connsiteX157" fmla="*/ 2814 w 10000"/>
              <a:gd name="connsiteY157" fmla="*/ 9962 h 10000"/>
              <a:gd name="connsiteX158" fmla="*/ 2978 w 10000"/>
              <a:gd name="connsiteY158" fmla="*/ 9978 h 10000"/>
              <a:gd name="connsiteX159" fmla="*/ 3139 w 10000"/>
              <a:gd name="connsiteY159" fmla="*/ 9988 h 10000"/>
              <a:gd name="connsiteX160" fmla="*/ 3303 w 10000"/>
              <a:gd name="connsiteY160" fmla="*/ 9996 h 10000"/>
              <a:gd name="connsiteX161" fmla="*/ 3464 w 10000"/>
              <a:gd name="connsiteY161" fmla="*/ 10000 h 10000"/>
              <a:gd name="connsiteX162" fmla="*/ 3630 w 10000"/>
              <a:gd name="connsiteY162" fmla="*/ 10000 h 10000"/>
              <a:gd name="connsiteX163" fmla="*/ 3794 w 10000"/>
              <a:gd name="connsiteY163" fmla="*/ 9998 h 10000"/>
              <a:gd name="connsiteX164" fmla="*/ 3963 w 10000"/>
              <a:gd name="connsiteY164" fmla="*/ 9994 h 10000"/>
              <a:gd name="connsiteX165" fmla="*/ 4126 w 10000"/>
              <a:gd name="connsiteY165" fmla="*/ 9986 h 10000"/>
              <a:gd name="connsiteX166" fmla="*/ 4295 w 10000"/>
              <a:gd name="connsiteY166" fmla="*/ 9974 h 10000"/>
              <a:gd name="connsiteX167" fmla="*/ 4461 w 10000"/>
              <a:gd name="connsiteY167" fmla="*/ 9956 h 10000"/>
              <a:gd name="connsiteX168" fmla="*/ 4628 w 10000"/>
              <a:gd name="connsiteY168" fmla="*/ 9938 h 10000"/>
              <a:gd name="connsiteX169" fmla="*/ 4797 w 10000"/>
              <a:gd name="connsiteY169" fmla="*/ 9912 h 10000"/>
              <a:gd name="connsiteX170" fmla="*/ 4965 w 10000"/>
              <a:gd name="connsiteY170" fmla="*/ 9888 h 10000"/>
              <a:gd name="connsiteX171" fmla="*/ 4965 w 10000"/>
              <a:gd name="connsiteY171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0 w 10000"/>
              <a:gd name="connsiteY146" fmla="*/ 9128 h 10000"/>
              <a:gd name="connsiteX147" fmla="*/ 1412 w 10000"/>
              <a:gd name="connsiteY147" fmla="*/ 9698 h 10000"/>
              <a:gd name="connsiteX148" fmla="*/ 1561 w 10000"/>
              <a:gd name="connsiteY148" fmla="*/ 9738 h 10000"/>
              <a:gd name="connsiteX149" fmla="*/ 1714 w 10000"/>
              <a:gd name="connsiteY149" fmla="*/ 9778 h 10000"/>
              <a:gd name="connsiteX150" fmla="*/ 1867 w 10000"/>
              <a:gd name="connsiteY150" fmla="*/ 9814 h 10000"/>
              <a:gd name="connsiteX151" fmla="*/ 2024 w 10000"/>
              <a:gd name="connsiteY151" fmla="*/ 9846 h 10000"/>
              <a:gd name="connsiteX152" fmla="*/ 2180 w 10000"/>
              <a:gd name="connsiteY152" fmla="*/ 9874 h 10000"/>
              <a:gd name="connsiteX153" fmla="*/ 2336 w 10000"/>
              <a:gd name="connsiteY153" fmla="*/ 9902 h 10000"/>
              <a:gd name="connsiteX154" fmla="*/ 2494 w 10000"/>
              <a:gd name="connsiteY154" fmla="*/ 9926 h 10000"/>
              <a:gd name="connsiteX155" fmla="*/ 2653 w 10000"/>
              <a:gd name="connsiteY155" fmla="*/ 9946 h 10000"/>
              <a:gd name="connsiteX156" fmla="*/ 2814 w 10000"/>
              <a:gd name="connsiteY156" fmla="*/ 9962 h 10000"/>
              <a:gd name="connsiteX157" fmla="*/ 2978 w 10000"/>
              <a:gd name="connsiteY157" fmla="*/ 9978 h 10000"/>
              <a:gd name="connsiteX158" fmla="*/ 3139 w 10000"/>
              <a:gd name="connsiteY158" fmla="*/ 9988 h 10000"/>
              <a:gd name="connsiteX159" fmla="*/ 3303 w 10000"/>
              <a:gd name="connsiteY159" fmla="*/ 9996 h 10000"/>
              <a:gd name="connsiteX160" fmla="*/ 3464 w 10000"/>
              <a:gd name="connsiteY160" fmla="*/ 10000 h 10000"/>
              <a:gd name="connsiteX161" fmla="*/ 3630 w 10000"/>
              <a:gd name="connsiteY161" fmla="*/ 10000 h 10000"/>
              <a:gd name="connsiteX162" fmla="*/ 3794 w 10000"/>
              <a:gd name="connsiteY162" fmla="*/ 9998 h 10000"/>
              <a:gd name="connsiteX163" fmla="*/ 3963 w 10000"/>
              <a:gd name="connsiteY163" fmla="*/ 9994 h 10000"/>
              <a:gd name="connsiteX164" fmla="*/ 4126 w 10000"/>
              <a:gd name="connsiteY164" fmla="*/ 9986 h 10000"/>
              <a:gd name="connsiteX165" fmla="*/ 4295 w 10000"/>
              <a:gd name="connsiteY165" fmla="*/ 9974 h 10000"/>
              <a:gd name="connsiteX166" fmla="*/ 4461 w 10000"/>
              <a:gd name="connsiteY166" fmla="*/ 9956 h 10000"/>
              <a:gd name="connsiteX167" fmla="*/ 4628 w 10000"/>
              <a:gd name="connsiteY167" fmla="*/ 9938 h 10000"/>
              <a:gd name="connsiteX168" fmla="*/ 4797 w 10000"/>
              <a:gd name="connsiteY168" fmla="*/ 9912 h 10000"/>
              <a:gd name="connsiteX169" fmla="*/ 4965 w 10000"/>
              <a:gd name="connsiteY169" fmla="*/ 9888 h 10000"/>
              <a:gd name="connsiteX170" fmla="*/ 4965 w 10000"/>
              <a:gd name="connsiteY170" fmla="*/ 9888 h 10000"/>
              <a:gd name="connsiteX0" fmla="*/ 4965 w 10000"/>
              <a:gd name="connsiteY0" fmla="*/ 9888 h 10000"/>
              <a:gd name="connsiteX1" fmla="*/ 4965 w 10000"/>
              <a:gd name="connsiteY1" fmla="*/ 9888 h 10000"/>
              <a:gd name="connsiteX2" fmla="*/ 5124 w 10000"/>
              <a:gd name="connsiteY2" fmla="*/ 9856 h 10000"/>
              <a:gd name="connsiteX3" fmla="*/ 5283 w 10000"/>
              <a:gd name="connsiteY3" fmla="*/ 9826 h 10000"/>
              <a:gd name="connsiteX4" fmla="*/ 5439 w 10000"/>
              <a:gd name="connsiteY4" fmla="*/ 9792 h 10000"/>
              <a:gd name="connsiteX5" fmla="*/ 5595 w 10000"/>
              <a:gd name="connsiteY5" fmla="*/ 9754 h 10000"/>
              <a:gd name="connsiteX6" fmla="*/ 5746 w 10000"/>
              <a:gd name="connsiteY6" fmla="*/ 9712 h 10000"/>
              <a:gd name="connsiteX7" fmla="*/ 5899 w 10000"/>
              <a:gd name="connsiteY7" fmla="*/ 9670 h 10000"/>
              <a:gd name="connsiteX8" fmla="*/ 6048 w 10000"/>
              <a:gd name="connsiteY8" fmla="*/ 9622 h 10000"/>
              <a:gd name="connsiteX9" fmla="*/ 6196 w 10000"/>
              <a:gd name="connsiteY9" fmla="*/ 9574 h 10000"/>
              <a:gd name="connsiteX10" fmla="*/ 6339 w 10000"/>
              <a:gd name="connsiteY10" fmla="*/ 9524 h 10000"/>
              <a:gd name="connsiteX11" fmla="*/ 6480 w 10000"/>
              <a:gd name="connsiteY11" fmla="*/ 9468 h 10000"/>
              <a:gd name="connsiteX12" fmla="*/ 6623 w 10000"/>
              <a:gd name="connsiteY12" fmla="*/ 9412 h 10000"/>
              <a:gd name="connsiteX13" fmla="*/ 6759 w 10000"/>
              <a:gd name="connsiteY13" fmla="*/ 9352 h 10000"/>
              <a:gd name="connsiteX14" fmla="*/ 6894 w 10000"/>
              <a:gd name="connsiteY14" fmla="*/ 9290 h 10000"/>
              <a:gd name="connsiteX15" fmla="*/ 7030 w 10000"/>
              <a:gd name="connsiteY15" fmla="*/ 9224 h 10000"/>
              <a:gd name="connsiteX16" fmla="*/ 7160 w 10000"/>
              <a:gd name="connsiteY16" fmla="*/ 9160 h 10000"/>
              <a:gd name="connsiteX17" fmla="*/ 7288 w 10000"/>
              <a:gd name="connsiteY17" fmla="*/ 9090 h 10000"/>
              <a:gd name="connsiteX18" fmla="*/ 7414 w 10000"/>
              <a:gd name="connsiteY18" fmla="*/ 9018 h 10000"/>
              <a:gd name="connsiteX19" fmla="*/ 7536 w 10000"/>
              <a:gd name="connsiteY19" fmla="*/ 8944 h 10000"/>
              <a:gd name="connsiteX20" fmla="*/ 7657 w 10000"/>
              <a:gd name="connsiteY20" fmla="*/ 8868 h 10000"/>
              <a:gd name="connsiteX21" fmla="*/ 7777 w 10000"/>
              <a:gd name="connsiteY21" fmla="*/ 8792 h 10000"/>
              <a:gd name="connsiteX22" fmla="*/ 7892 w 10000"/>
              <a:gd name="connsiteY22" fmla="*/ 8712 h 10000"/>
              <a:gd name="connsiteX23" fmla="*/ 8007 w 10000"/>
              <a:gd name="connsiteY23" fmla="*/ 8628 h 10000"/>
              <a:gd name="connsiteX24" fmla="*/ 8117 w 10000"/>
              <a:gd name="connsiteY24" fmla="*/ 8544 h 10000"/>
              <a:gd name="connsiteX25" fmla="*/ 8222 w 10000"/>
              <a:gd name="connsiteY25" fmla="*/ 8458 h 10000"/>
              <a:gd name="connsiteX26" fmla="*/ 8329 w 10000"/>
              <a:gd name="connsiteY26" fmla="*/ 8370 h 10000"/>
              <a:gd name="connsiteX27" fmla="*/ 8432 w 10000"/>
              <a:gd name="connsiteY27" fmla="*/ 8282 h 10000"/>
              <a:gd name="connsiteX28" fmla="*/ 8529 w 10000"/>
              <a:gd name="connsiteY28" fmla="*/ 8190 h 10000"/>
              <a:gd name="connsiteX29" fmla="*/ 8626 w 10000"/>
              <a:gd name="connsiteY29" fmla="*/ 8098 h 10000"/>
              <a:gd name="connsiteX30" fmla="*/ 8721 w 10000"/>
              <a:gd name="connsiteY30" fmla="*/ 8002 h 10000"/>
              <a:gd name="connsiteX31" fmla="*/ 8810 w 10000"/>
              <a:gd name="connsiteY31" fmla="*/ 7906 h 10000"/>
              <a:gd name="connsiteX32" fmla="*/ 8897 w 10000"/>
              <a:gd name="connsiteY32" fmla="*/ 7806 h 10000"/>
              <a:gd name="connsiteX33" fmla="*/ 8982 w 10000"/>
              <a:gd name="connsiteY33" fmla="*/ 7706 h 10000"/>
              <a:gd name="connsiteX34" fmla="*/ 9064 w 10000"/>
              <a:gd name="connsiteY34" fmla="*/ 7604 h 10000"/>
              <a:gd name="connsiteX35" fmla="*/ 9143 w 10000"/>
              <a:gd name="connsiteY35" fmla="*/ 7500 h 10000"/>
              <a:gd name="connsiteX36" fmla="*/ 9217 w 10000"/>
              <a:gd name="connsiteY36" fmla="*/ 7398 h 10000"/>
              <a:gd name="connsiteX37" fmla="*/ 9289 w 10000"/>
              <a:gd name="connsiteY37" fmla="*/ 7292 h 10000"/>
              <a:gd name="connsiteX38" fmla="*/ 9358 w 10000"/>
              <a:gd name="connsiteY38" fmla="*/ 7182 h 10000"/>
              <a:gd name="connsiteX39" fmla="*/ 9424 w 10000"/>
              <a:gd name="connsiteY39" fmla="*/ 7074 h 10000"/>
              <a:gd name="connsiteX40" fmla="*/ 9486 w 10000"/>
              <a:gd name="connsiteY40" fmla="*/ 6964 h 10000"/>
              <a:gd name="connsiteX41" fmla="*/ 9545 w 10000"/>
              <a:gd name="connsiteY41" fmla="*/ 6854 h 10000"/>
              <a:gd name="connsiteX42" fmla="*/ 9601 w 10000"/>
              <a:gd name="connsiteY42" fmla="*/ 6740 h 10000"/>
              <a:gd name="connsiteX43" fmla="*/ 9652 w 10000"/>
              <a:gd name="connsiteY43" fmla="*/ 6626 h 10000"/>
              <a:gd name="connsiteX44" fmla="*/ 9701 w 10000"/>
              <a:gd name="connsiteY44" fmla="*/ 6512 h 10000"/>
              <a:gd name="connsiteX45" fmla="*/ 9744 w 10000"/>
              <a:gd name="connsiteY45" fmla="*/ 6396 h 10000"/>
              <a:gd name="connsiteX46" fmla="*/ 9788 w 10000"/>
              <a:gd name="connsiteY46" fmla="*/ 6280 h 10000"/>
              <a:gd name="connsiteX47" fmla="*/ 9826 w 10000"/>
              <a:gd name="connsiteY47" fmla="*/ 6164 h 10000"/>
              <a:gd name="connsiteX48" fmla="*/ 9862 w 10000"/>
              <a:gd name="connsiteY48" fmla="*/ 6044 h 10000"/>
              <a:gd name="connsiteX49" fmla="*/ 9890 w 10000"/>
              <a:gd name="connsiteY49" fmla="*/ 5926 h 10000"/>
              <a:gd name="connsiteX50" fmla="*/ 9916 w 10000"/>
              <a:gd name="connsiteY50" fmla="*/ 5804 h 10000"/>
              <a:gd name="connsiteX51" fmla="*/ 9941 w 10000"/>
              <a:gd name="connsiteY51" fmla="*/ 5684 h 10000"/>
              <a:gd name="connsiteX52" fmla="*/ 9962 w 10000"/>
              <a:gd name="connsiteY52" fmla="*/ 5562 h 10000"/>
              <a:gd name="connsiteX53" fmla="*/ 9977 w 10000"/>
              <a:gd name="connsiteY53" fmla="*/ 5440 h 10000"/>
              <a:gd name="connsiteX54" fmla="*/ 9987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7 w 10000"/>
              <a:gd name="connsiteY59" fmla="*/ 4698 h 10000"/>
              <a:gd name="connsiteX60" fmla="*/ 9977 w 10000"/>
              <a:gd name="connsiteY60" fmla="*/ 4572 h 10000"/>
              <a:gd name="connsiteX61" fmla="*/ 9962 w 10000"/>
              <a:gd name="connsiteY61" fmla="*/ 4444 h 10000"/>
              <a:gd name="connsiteX62" fmla="*/ 9939 w 10000"/>
              <a:gd name="connsiteY62" fmla="*/ 4318 h 10000"/>
              <a:gd name="connsiteX63" fmla="*/ 9916 w 10000"/>
              <a:gd name="connsiteY63" fmla="*/ 4192 h 10000"/>
              <a:gd name="connsiteX64" fmla="*/ 9887 w 10000"/>
              <a:gd name="connsiteY64" fmla="*/ 4066 h 10000"/>
              <a:gd name="connsiteX65" fmla="*/ 9854 w 10000"/>
              <a:gd name="connsiteY65" fmla="*/ 3940 h 10000"/>
              <a:gd name="connsiteX66" fmla="*/ 9854 w 10000"/>
              <a:gd name="connsiteY66" fmla="*/ 3940 h 10000"/>
              <a:gd name="connsiteX67" fmla="*/ 9816 w 10000"/>
              <a:gd name="connsiteY67" fmla="*/ 3816 h 10000"/>
              <a:gd name="connsiteX68" fmla="*/ 9775 w 10000"/>
              <a:gd name="connsiteY68" fmla="*/ 3692 h 10000"/>
              <a:gd name="connsiteX69" fmla="*/ 9731 w 10000"/>
              <a:gd name="connsiteY69" fmla="*/ 3568 h 10000"/>
              <a:gd name="connsiteX70" fmla="*/ 9683 w 10000"/>
              <a:gd name="connsiteY70" fmla="*/ 3446 h 10000"/>
              <a:gd name="connsiteX71" fmla="*/ 9632 w 10000"/>
              <a:gd name="connsiteY71" fmla="*/ 3328 h 10000"/>
              <a:gd name="connsiteX72" fmla="*/ 9573 w 10000"/>
              <a:gd name="connsiteY72" fmla="*/ 3208 h 10000"/>
              <a:gd name="connsiteX73" fmla="*/ 9517 w 10000"/>
              <a:gd name="connsiteY73" fmla="*/ 3092 h 10000"/>
              <a:gd name="connsiteX74" fmla="*/ 9455 w 10000"/>
              <a:gd name="connsiteY74" fmla="*/ 2976 h 10000"/>
              <a:gd name="connsiteX75" fmla="*/ 9386 w 10000"/>
              <a:gd name="connsiteY75" fmla="*/ 2864 h 10000"/>
              <a:gd name="connsiteX76" fmla="*/ 9320 w 10000"/>
              <a:gd name="connsiteY76" fmla="*/ 2754 h 10000"/>
              <a:gd name="connsiteX77" fmla="*/ 9245 w 10000"/>
              <a:gd name="connsiteY77" fmla="*/ 2642 h 10000"/>
              <a:gd name="connsiteX78" fmla="*/ 9169 w 10000"/>
              <a:gd name="connsiteY78" fmla="*/ 2536 h 10000"/>
              <a:gd name="connsiteX79" fmla="*/ 9089 w 10000"/>
              <a:gd name="connsiteY79" fmla="*/ 2430 h 10000"/>
              <a:gd name="connsiteX80" fmla="*/ 9007 w 10000"/>
              <a:gd name="connsiteY80" fmla="*/ 2324 h 10000"/>
              <a:gd name="connsiteX81" fmla="*/ 8923 w 10000"/>
              <a:gd name="connsiteY81" fmla="*/ 2222 h 10000"/>
              <a:gd name="connsiteX82" fmla="*/ 8833 w 10000"/>
              <a:gd name="connsiteY82" fmla="*/ 2122 h 10000"/>
              <a:gd name="connsiteX83" fmla="*/ 8744 w 10000"/>
              <a:gd name="connsiteY83" fmla="*/ 2024 h 10000"/>
              <a:gd name="connsiteX84" fmla="*/ 8649 w 10000"/>
              <a:gd name="connsiteY84" fmla="*/ 1928 h 10000"/>
              <a:gd name="connsiteX85" fmla="*/ 8552 w 10000"/>
              <a:gd name="connsiteY85" fmla="*/ 1834 h 10000"/>
              <a:gd name="connsiteX86" fmla="*/ 8452 w 10000"/>
              <a:gd name="connsiteY86" fmla="*/ 1740 h 10000"/>
              <a:gd name="connsiteX87" fmla="*/ 8353 w 10000"/>
              <a:gd name="connsiteY87" fmla="*/ 1648 h 10000"/>
              <a:gd name="connsiteX88" fmla="*/ 8245 w 10000"/>
              <a:gd name="connsiteY88" fmla="*/ 1560 h 10000"/>
              <a:gd name="connsiteX89" fmla="*/ 8138 w 10000"/>
              <a:gd name="connsiteY89" fmla="*/ 1474 h 10000"/>
              <a:gd name="connsiteX90" fmla="*/ 8028 w 10000"/>
              <a:gd name="connsiteY90" fmla="*/ 1392 h 10000"/>
              <a:gd name="connsiteX91" fmla="*/ 7915 w 10000"/>
              <a:gd name="connsiteY91" fmla="*/ 1308 h 10000"/>
              <a:gd name="connsiteX92" fmla="*/ 7803 w 10000"/>
              <a:gd name="connsiteY92" fmla="*/ 1226 h 10000"/>
              <a:gd name="connsiteX93" fmla="*/ 7682 w 10000"/>
              <a:gd name="connsiteY93" fmla="*/ 1150 h 10000"/>
              <a:gd name="connsiteX94" fmla="*/ 7565 w 10000"/>
              <a:gd name="connsiteY94" fmla="*/ 1076 h 10000"/>
              <a:gd name="connsiteX95" fmla="*/ 7444 w 10000"/>
              <a:gd name="connsiteY95" fmla="*/ 1002 h 10000"/>
              <a:gd name="connsiteX96" fmla="*/ 7319 w 10000"/>
              <a:gd name="connsiteY96" fmla="*/ 932 h 10000"/>
              <a:gd name="connsiteX97" fmla="*/ 7191 w 10000"/>
              <a:gd name="connsiteY97" fmla="*/ 862 h 10000"/>
              <a:gd name="connsiteX98" fmla="*/ 7066 w 10000"/>
              <a:gd name="connsiteY98" fmla="*/ 798 h 10000"/>
              <a:gd name="connsiteX99" fmla="*/ 6935 w 10000"/>
              <a:gd name="connsiteY99" fmla="*/ 734 h 10000"/>
              <a:gd name="connsiteX100" fmla="*/ 6805 w 10000"/>
              <a:gd name="connsiteY100" fmla="*/ 670 h 10000"/>
              <a:gd name="connsiteX101" fmla="*/ 6669 w 10000"/>
              <a:gd name="connsiteY101" fmla="*/ 612 h 10000"/>
              <a:gd name="connsiteX102" fmla="*/ 6531 w 10000"/>
              <a:gd name="connsiteY102" fmla="*/ 556 h 10000"/>
              <a:gd name="connsiteX103" fmla="*/ 6395 w 10000"/>
              <a:gd name="connsiteY103" fmla="*/ 504 h 10000"/>
              <a:gd name="connsiteX104" fmla="*/ 6257 w 10000"/>
              <a:gd name="connsiteY104" fmla="*/ 450 h 10000"/>
              <a:gd name="connsiteX105" fmla="*/ 6117 w 10000"/>
              <a:gd name="connsiteY105" fmla="*/ 402 h 10000"/>
              <a:gd name="connsiteX106" fmla="*/ 5976 w 10000"/>
              <a:gd name="connsiteY106" fmla="*/ 358 h 10000"/>
              <a:gd name="connsiteX107" fmla="*/ 5830 w 10000"/>
              <a:gd name="connsiteY107" fmla="*/ 314 h 10000"/>
              <a:gd name="connsiteX108" fmla="*/ 5684 w 10000"/>
              <a:gd name="connsiteY108" fmla="*/ 274 h 10000"/>
              <a:gd name="connsiteX109" fmla="*/ 5541 w 10000"/>
              <a:gd name="connsiteY109" fmla="*/ 236 h 10000"/>
              <a:gd name="connsiteX110" fmla="*/ 5390 w 10000"/>
              <a:gd name="connsiteY110" fmla="*/ 200 h 10000"/>
              <a:gd name="connsiteX111" fmla="*/ 5242 w 10000"/>
              <a:gd name="connsiteY111" fmla="*/ 168 h 10000"/>
              <a:gd name="connsiteX112" fmla="*/ 5093 w 10000"/>
              <a:gd name="connsiteY112" fmla="*/ 138 h 10000"/>
              <a:gd name="connsiteX113" fmla="*/ 4942 w 10000"/>
              <a:gd name="connsiteY113" fmla="*/ 110 h 10000"/>
              <a:gd name="connsiteX114" fmla="*/ 4789 w 10000"/>
              <a:gd name="connsiteY114" fmla="*/ 86 h 10000"/>
              <a:gd name="connsiteX115" fmla="*/ 4635 w 10000"/>
              <a:gd name="connsiteY115" fmla="*/ 66 h 10000"/>
              <a:gd name="connsiteX116" fmla="*/ 4479 w 10000"/>
              <a:gd name="connsiteY116" fmla="*/ 46 h 10000"/>
              <a:gd name="connsiteX117" fmla="*/ 4326 w 10000"/>
              <a:gd name="connsiteY117" fmla="*/ 32 h 10000"/>
              <a:gd name="connsiteX118" fmla="*/ 4170 w 10000"/>
              <a:gd name="connsiteY118" fmla="*/ 22 h 10000"/>
              <a:gd name="connsiteX119" fmla="*/ 4011 w 10000"/>
              <a:gd name="connsiteY119" fmla="*/ 10 h 10000"/>
              <a:gd name="connsiteX120" fmla="*/ 3853 w 10000"/>
              <a:gd name="connsiteY120" fmla="*/ 4 h 10000"/>
              <a:gd name="connsiteX121" fmla="*/ 3694 w 10000"/>
              <a:gd name="connsiteY121" fmla="*/ 0 h 10000"/>
              <a:gd name="connsiteX122" fmla="*/ 3535 w 10000"/>
              <a:gd name="connsiteY122" fmla="*/ 0 h 10000"/>
              <a:gd name="connsiteX123" fmla="*/ 3377 w 10000"/>
              <a:gd name="connsiteY123" fmla="*/ 4 h 10000"/>
              <a:gd name="connsiteX124" fmla="*/ 3216 w 10000"/>
              <a:gd name="connsiteY124" fmla="*/ 10 h 10000"/>
              <a:gd name="connsiteX125" fmla="*/ 3057 w 10000"/>
              <a:gd name="connsiteY125" fmla="*/ 22 h 10000"/>
              <a:gd name="connsiteX126" fmla="*/ 2896 w 10000"/>
              <a:gd name="connsiteY126" fmla="*/ 34 h 10000"/>
              <a:gd name="connsiteX127" fmla="*/ 2735 w 10000"/>
              <a:gd name="connsiteY127" fmla="*/ 48 h 10000"/>
              <a:gd name="connsiteX128" fmla="*/ 2574 w 10000"/>
              <a:gd name="connsiteY128" fmla="*/ 66 h 10000"/>
              <a:gd name="connsiteX129" fmla="*/ 2412 w 10000"/>
              <a:gd name="connsiteY129" fmla="*/ 90 h 10000"/>
              <a:gd name="connsiteX130" fmla="*/ 2249 w 10000"/>
              <a:gd name="connsiteY130" fmla="*/ 114 h 10000"/>
              <a:gd name="connsiteX131" fmla="*/ 2249 w 10000"/>
              <a:gd name="connsiteY131" fmla="*/ 114 h 10000"/>
              <a:gd name="connsiteX132" fmla="*/ 2095 w 10000"/>
              <a:gd name="connsiteY132" fmla="*/ 142 h 10000"/>
              <a:gd name="connsiteX133" fmla="*/ 1942 w 10000"/>
              <a:gd name="connsiteY133" fmla="*/ 176 h 10000"/>
              <a:gd name="connsiteX134" fmla="*/ 1791 w 10000"/>
              <a:gd name="connsiteY134" fmla="*/ 208 h 10000"/>
              <a:gd name="connsiteX135" fmla="*/ 1642 w 10000"/>
              <a:gd name="connsiteY135" fmla="*/ 244 h 10000"/>
              <a:gd name="connsiteX136" fmla="*/ 1494 w 10000"/>
              <a:gd name="connsiteY136" fmla="*/ 282 h 10000"/>
              <a:gd name="connsiteX137" fmla="*/ 1348 w 10000"/>
              <a:gd name="connsiteY137" fmla="*/ 324 h 10000"/>
              <a:gd name="connsiteX138" fmla="*/ 1202 w 10000"/>
              <a:gd name="connsiteY138" fmla="*/ 368 h 10000"/>
              <a:gd name="connsiteX139" fmla="*/ 1059 w 10000"/>
              <a:gd name="connsiteY139" fmla="*/ 416 h 10000"/>
              <a:gd name="connsiteX140" fmla="*/ 921 w 10000"/>
              <a:gd name="connsiteY140" fmla="*/ 464 h 10000"/>
              <a:gd name="connsiteX141" fmla="*/ 783 w 10000"/>
              <a:gd name="connsiteY141" fmla="*/ 514 h 10000"/>
              <a:gd name="connsiteX142" fmla="*/ 647 w 10000"/>
              <a:gd name="connsiteY142" fmla="*/ 570 h 10000"/>
              <a:gd name="connsiteX143" fmla="*/ 514 w 10000"/>
              <a:gd name="connsiteY143" fmla="*/ 626 h 10000"/>
              <a:gd name="connsiteX144" fmla="*/ 381 w 10000"/>
              <a:gd name="connsiteY144" fmla="*/ 684 h 10000"/>
              <a:gd name="connsiteX145" fmla="*/ 0 w 10000"/>
              <a:gd name="connsiteY145" fmla="*/ 9128 h 10000"/>
              <a:gd name="connsiteX146" fmla="*/ 1412 w 10000"/>
              <a:gd name="connsiteY146" fmla="*/ 9698 h 10000"/>
              <a:gd name="connsiteX147" fmla="*/ 1561 w 10000"/>
              <a:gd name="connsiteY147" fmla="*/ 9738 h 10000"/>
              <a:gd name="connsiteX148" fmla="*/ 1714 w 10000"/>
              <a:gd name="connsiteY148" fmla="*/ 9778 h 10000"/>
              <a:gd name="connsiteX149" fmla="*/ 1867 w 10000"/>
              <a:gd name="connsiteY149" fmla="*/ 9814 h 10000"/>
              <a:gd name="connsiteX150" fmla="*/ 2024 w 10000"/>
              <a:gd name="connsiteY150" fmla="*/ 9846 h 10000"/>
              <a:gd name="connsiteX151" fmla="*/ 2180 w 10000"/>
              <a:gd name="connsiteY151" fmla="*/ 9874 h 10000"/>
              <a:gd name="connsiteX152" fmla="*/ 2336 w 10000"/>
              <a:gd name="connsiteY152" fmla="*/ 9902 h 10000"/>
              <a:gd name="connsiteX153" fmla="*/ 2494 w 10000"/>
              <a:gd name="connsiteY153" fmla="*/ 9926 h 10000"/>
              <a:gd name="connsiteX154" fmla="*/ 2653 w 10000"/>
              <a:gd name="connsiteY154" fmla="*/ 9946 h 10000"/>
              <a:gd name="connsiteX155" fmla="*/ 2814 w 10000"/>
              <a:gd name="connsiteY155" fmla="*/ 9962 h 10000"/>
              <a:gd name="connsiteX156" fmla="*/ 2978 w 10000"/>
              <a:gd name="connsiteY156" fmla="*/ 9978 h 10000"/>
              <a:gd name="connsiteX157" fmla="*/ 3139 w 10000"/>
              <a:gd name="connsiteY157" fmla="*/ 9988 h 10000"/>
              <a:gd name="connsiteX158" fmla="*/ 3303 w 10000"/>
              <a:gd name="connsiteY158" fmla="*/ 9996 h 10000"/>
              <a:gd name="connsiteX159" fmla="*/ 3464 w 10000"/>
              <a:gd name="connsiteY159" fmla="*/ 10000 h 10000"/>
              <a:gd name="connsiteX160" fmla="*/ 3630 w 10000"/>
              <a:gd name="connsiteY160" fmla="*/ 10000 h 10000"/>
              <a:gd name="connsiteX161" fmla="*/ 3794 w 10000"/>
              <a:gd name="connsiteY161" fmla="*/ 9998 h 10000"/>
              <a:gd name="connsiteX162" fmla="*/ 3963 w 10000"/>
              <a:gd name="connsiteY162" fmla="*/ 9994 h 10000"/>
              <a:gd name="connsiteX163" fmla="*/ 4126 w 10000"/>
              <a:gd name="connsiteY163" fmla="*/ 9986 h 10000"/>
              <a:gd name="connsiteX164" fmla="*/ 4295 w 10000"/>
              <a:gd name="connsiteY164" fmla="*/ 9974 h 10000"/>
              <a:gd name="connsiteX165" fmla="*/ 4461 w 10000"/>
              <a:gd name="connsiteY165" fmla="*/ 9956 h 10000"/>
              <a:gd name="connsiteX166" fmla="*/ 4628 w 10000"/>
              <a:gd name="connsiteY166" fmla="*/ 9938 h 10000"/>
              <a:gd name="connsiteX167" fmla="*/ 4797 w 10000"/>
              <a:gd name="connsiteY167" fmla="*/ 9912 h 10000"/>
              <a:gd name="connsiteX168" fmla="*/ 4965 w 10000"/>
              <a:gd name="connsiteY168" fmla="*/ 9888 h 10000"/>
              <a:gd name="connsiteX169" fmla="*/ 4965 w 10000"/>
              <a:gd name="connsiteY169" fmla="*/ 9888 h 10000"/>
              <a:gd name="connsiteX0" fmla="*/ 4584 w 9619"/>
              <a:gd name="connsiteY0" fmla="*/ 9888 h 10000"/>
              <a:gd name="connsiteX1" fmla="*/ 4584 w 9619"/>
              <a:gd name="connsiteY1" fmla="*/ 9888 h 10000"/>
              <a:gd name="connsiteX2" fmla="*/ 4743 w 9619"/>
              <a:gd name="connsiteY2" fmla="*/ 9856 h 10000"/>
              <a:gd name="connsiteX3" fmla="*/ 4902 w 9619"/>
              <a:gd name="connsiteY3" fmla="*/ 9826 h 10000"/>
              <a:gd name="connsiteX4" fmla="*/ 5058 w 9619"/>
              <a:gd name="connsiteY4" fmla="*/ 9792 h 10000"/>
              <a:gd name="connsiteX5" fmla="*/ 5214 w 9619"/>
              <a:gd name="connsiteY5" fmla="*/ 9754 h 10000"/>
              <a:gd name="connsiteX6" fmla="*/ 5365 w 9619"/>
              <a:gd name="connsiteY6" fmla="*/ 9712 h 10000"/>
              <a:gd name="connsiteX7" fmla="*/ 5518 w 9619"/>
              <a:gd name="connsiteY7" fmla="*/ 9670 h 10000"/>
              <a:gd name="connsiteX8" fmla="*/ 5667 w 9619"/>
              <a:gd name="connsiteY8" fmla="*/ 9622 h 10000"/>
              <a:gd name="connsiteX9" fmla="*/ 5815 w 9619"/>
              <a:gd name="connsiteY9" fmla="*/ 9574 h 10000"/>
              <a:gd name="connsiteX10" fmla="*/ 5958 w 9619"/>
              <a:gd name="connsiteY10" fmla="*/ 9524 h 10000"/>
              <a:gd name="connsiteX11" fmla="*/ 6099 w 9619"/>
              <a:gd name="connsiteY11" fmla="*/ 9468 h 10000"/>
              <a:gd name="connsiteX12" fmla="*/ 6242 w 9619"/>
              <a:gd name="connsiteY12" fmla="*/ 9412 h 10000"/>
              <a:gd name="connsiteX13" fmla="*/ 6378 w 9619"/>
              <a:gd name="connsiteY13" fmla="*/ 9352 h 10000"/>
              <a:gd name="connsiteX14" fmla="*/ 6513 w 9619"/>
              <a:gd name="connsiteY14" fmla="*/ 9290 h 10000"/>
              <a:gd name="connsiteX15" fmla="*/ 6649 w 9619"/>
              <a:gd name="connsiteY15" fmla="*/ 9224 h 10000"/>
              <a:gd name="connsiteX16" fmla="*/ 6779 w 9619"/>
              <a:gd name="connsiteY16" fmla="*/ 9160 h 10000"/>
              <a:gd name="connsiteX17" fmla="*/ 6907 w 9619"/>
              <a:gd name="connsiteY17" fmla="*/ 9090 h 10000"/>
              <a:gd name="connsiteX18" fmla="*/ 7033 w 9619"/>
              <a:gd name="connsiteY18" fmla="*/ 9018 h 10000"/>
              <a:gd name="connsiteX19" fmla="*/ 7155 w 9619"/>
              <a:gd name="connsiteY19" fmla="*/ 8944 h 10000"/>
              <a:gd name="connsiteX20" fmla="*/ 7276 w 9619"/>
              <a:gd name="connsiteY20" fmla="*/ 8868 h 10000"/>
              <a:gd name="connsiteX21" fmla="*/ 7396 w 9619"/>
              <a:gd name="connsiteY21" fmla="*/ 8792 h 10000"/>
              <a:gd name="connsiteX22" fmla="*/ 7511 w 9619"/>
              <a:gd name="connsiteY22" fmla="*/ 8712 h 10000"/>
              <a:gd name="connsiteX23" fmla="*/ 7626 w 9619"/>
              <a:gd name="connsiteY23" fmla="*/ 8628 h 10000"/>
              <a:gd name="connsiteX24" fmla="*/ 7736 w 9619"/>
              <a:gd name="connsiteY24" fmla="*/ 8544 h 10000"/>
              <a:gd name="connsiteX25" fmla="*/ 7841 w 9619"/>
              <a:gd name="connsiteY25" fmla="*/ 8458 h 10000"/>
              <a:gd name="connsiteX26" fmla="*/ 7948 w 9619"/>
              <a:gd name="connsiteY26" fmla="*/ 8370 h 10000"/>
              <a:gd name="connsiteX27" fmla="*/ 8051 w 9619"/>
              <a:gd name="connsiteY27" fmla="*/ 8282 h 10000"/>
              <a:gd name="connsiteX28" fmla="*/ 8148 w 9619"/>
              <a:gd name="connsiteY28" fmla="*/ 8190 h 10000"/>
              <a:gd name="connsiteX29" fmla="*/ 8245 w 9619"/>
              <a:gd name="connsiteY29" fmla="*/ 8098 h 10000"/>
              <a:gd name="connsiteX30" fmla="*/ 8340 w 9619"/>
              <a:gd name="connsiteY30" fmla="*/ 8002 h 10000"/>
              <a:gd name="connsiteX31" fmla="*/ 8429 w 9619"/>
              <a:gd name="connsiteY31" fmla="*/ 7906 h 10000"/>
              <a:gd name="connsiteX32" fmla="*/ 8516 w 9619"/>
              <a:gd name="connsiteY32" fmla="*/ 7806 h 10000"/>
              <a:gd name="connsiteX33" fmla="*/ 8601 w 9619"/>
              <a:gd name="connsiteY33" fmla="*/ 7706 h 10000"/>
              <a:gd name="connsiteX34" fmla="*/ 8683 w 9619"/>
              <a:gd name="connsiteY34" fmla="*/ 7604 h 10000"/>
              <a:gd name="connsiteX35" fmla="*/ 8762 w 9619"/>
              <a:gd name="connsiteY35" fmla="*/ 7500 h 10000"/>
              <a:gd name="connsiteX36" fmla="*/ 8836 w 9619"/>
              <a:gd name="connsiteY36" fmla="*/ 7398 h 10000"/>
              <a:gd name="connsiteX37" fmla="*/ 8908 w 9619"/>
              <a:gd name="connsiteY37" fmla="*/ 7292 h 10000"/>
              <a:gd name="connsiteX38" fmla="*/ 8977 w 9619"/>
              <a:gd name="connsiteY38" fmla="*/ 7182 h 10000"/>
              <a:gd name="connsiteX39" fmla="*/ 9043 w 9619"/>
              <a:gd name="connsiteY39" fmla="*/ 7074 h 10000"/>
              <a:gd name="connsiteX40" fmla="*/ 9105 w 9619"/>
              <a:gd name="connsiteY40" fmla="*/ 6964 h 10000"/>
              <a:gd name="connsiteX41" fmla="*/ 9164 w 9619"/>
              <a:gd name="connsiteY41" fmla="*/ 6854 h 10000"/>
              <a:gd name="connsiteX42" fmla="*/ 9220 w 9619"/>
              <a:gd name="connsiteY42" fmla="*/ 6740 h 10000"/>
              <a:gd name="connsiteX43" fmla="*/ 9271 w 9619"/>
              <a:gd name="connsiteY43" fmla="*/ 6626 h 10000"/>
              <a:gd name="connsiteX44" fmla="*/ 9320 w 9619"/>
              <a:gd name="connsiteY44" fmla="*/ 6512 h 10000"/>
              <a:gd name="connsiteX45" fmla="*/ 9363 w 9619"/>
              <a:gd name="connsiteY45" fmla="*/ 6396 h 10000"/>
              <a:gd name="connsiteX46" fmla="*/ 9407 w 9619"/>
              <a:gd name="connsiteY46" fmla="*/ 6280 h 10000"/>
              <a:gd name="connsiteX47" fmla="*/ 9445 w 9619"/>
              <a:gd name="connsiteY47" fmla="*/ 6164 h 10000"/>
              <a:gd name="connsiteX48" fmla="*/ 9481 w 9619"/>
              <a:gd name="connsiteY48" fmla="*/ 6044 h 10000"/>
              <a:gd name="connsiteX49" fmla="*/ 9509 w 9619"/>
              <a:gd name="connsiteY49" fmla="*/ 5926 h 10000"/>
              <a:gd name="connsiteX50" fmla="*/ 9535 w 9619"/>
              <a:gd name="connsiteY50" fmla="*/ 5804 h 10000"/>
              <a:gd name="connsiteX51" fmla="*/ 9560 w 9619"/>
              <a:gd name="connsiteY51" fmla="*/ 5684 h 10000"/>
              <a:gd name="connsiteX52" fmla="*/ 9581 w 9619"/>
              <a:gd name="connsiteY52" fmla="*/ 5562 h 10000"/>
              <a:gd name="connsiteX53" fmla="*/ 9596 w 9619"/>
              <a:gd name="connsiteY53" fmla="*/ 5440 h 10000"/>
              <a:gd name="connsiteX54" fmla="*/ 9606 w 9619"/>
              <a:gd name="connsiteY54" fmla="*/ 5316 h 10000"/>
              <a:gd name="connsiteX55" fmla="*/ 9616 w 9619"/>
              <a:gd name="connsiteY55" fmla="*/ 5196 h 10000"/>
              <a:gd name="connsiteX56" fmla="*/ 9619 w 9619"/>
              <a:gd name="connsiteY56" fmla="*/ 5072 h 10000"/>
              <a:gd name="connsiteX57" fmla="*/ 9619 w 9619"/>
              <a:gd name="connsiteY57" fmla="*/ 4948 h 10000"/>
              <a:gd name="connsiteX58" fmla="*/ 9616 w 9619"/>
              <a:gd name="connsiteY58" fmla="*/ 4822 h 10000"/>
              <a:gd name="connsiteX59" fmla="*/ 9606 w 9619"/>
              <a:gd name="connsiteY59" fmla="*/ 4698 h 10000"/>
              <a:gd name="connsiteX60" fmla="*/ 9596 w 9619"/>
              <a:gd name="connsiteY60" fmla="*/ 4572 h 10000"/>
              <a:gd name="connsiteX61" fmla="*/ 9581 w 9619"/>
              <a:gd name="connsiteY61" fmla="*/ 4444 h 10000"/>
              <a:gd name="connsiteX62" fmla="*/ 9558 w 9619"/>
              <a:gd name="connsiteY62" fmla="*/ 4318 h 10000"/>
              <a:gd name="connsiteX63" fmla="*/ 9535 w 9619"/>
              <a:gd name="connsiteY63" fmla="*/ 4192 h 10000"/>
              <a:gd name="connsiteX64" fmla="*/ 9506 w 9619"/>
              <a:gd name="connsiteY64" fmla="*/ 4066 h 10000"/>
              <a:gd name="connsiteX65" fmla="*/ 9473 w 9619"/>
              <a:gd name="connsiteY65" fmla="*/ 3940 h 10000"/>
              <a:gd name="connsiteX66" fmla="*/ 9473 w 9619"/>
              <a:gd name="connsiteY66" fmla="*/ 3940 h 10000"/>
              <a:gd name="connsiteX67" fmla="*/ 9435 w 9619"/>
              <a:gd name="connsiteY67" fmla="*/ 3816 h 10000"/>
              <a:gd name="connsiteX68" fmla="*/ 9394 w 9619"/>
              <a:gd name="connsiteY68" fmla="*/ 3692 h 10000"/>
              <a:gd name="connsiteX69" fmla="*/ 9350 w 9619"/>
              <a:gd name="connsiteY69" fmla="*/ 3568 h 10000"/>
              <a:gd name="connsiteX70" fmla="*/ 9302 w 9619"/>
              <a:gd name="connsiteY70" fmla="*/ 3446 h 10000"/>
              <a:gd name="connsiteX71" fmla="*/ 9251 w 9619"/>
              <a:gd name="connsiteY71" fmla="*/ 3328 h 10000"/>
              <a:gd name="connsiteX72" fmla="*/ 9192 w 9619"/>
              <a:gd name="connsiteY72" fmla="*/ 3208 h 10000"/>
              <a:gd name="connsiteX73" fmla="*/ 9136 w 9619"/>
              <a:gd name="connsiteY73" fmla="*/ 3092 h 10000"/>
              <a:gd name="connsiteX74" fmla="*/ 9074 w 9619"/>
              <a:gd name="connsiteY74" fmla="*/ 2976 h 10000"/>
              <a:gd name="connsiteX75" fmla="*/ 9005 w 9619"/>
              <a:gd name="connsiteY75" fmla="*/ 2864 h 10000"/>
              <a:gd name="connsiteX76" fmla="*/ 8939 w 9619"/>
              <a:gd name="connsiteY76" fmla="*/ 2754 h 10000"/>
              <a:gd name="connsiteX77" fmla="*/ 8864 w 9619"/>
              <a:gd name="connsiteY77" fmla="*/ 2642 h 10000"/>
              <a:gd name="connsiteX78" fmla="*/ 8788 w 9619"/>
              <a:gd name="connsiteY78" fmla="*/ 2536 h 10000"/>
              <a:gd name="connsiteX79" fmla="*/ 8708 w 9619"/>
              <a:gd name="connsiteY79" fmla="*/ 2430 h 10000"/>
              <a:gd name="connsiteX80" fmla="*/ 8626 w 9619"/>
              <a:gd name="connsiteY80" fmla="*/ 2324 h 10000"/>
              <a:gd name="connsiteX81" fmla="*/ 8542 w 9619"/>
              <a:gd name="connsiteY81" fmla="*/ 2222 h 10000"/>
              <a:gd name="connsiteX82" fmla="*/ 8452 w 9619"/>
              <a:gd name="connsiteY82" fmla="*/ 2122 h 10000"/>
              <a:gd name="connsiteX83" fmla="*/ 8363 w 9619"/>
              <a:gd name="connsiteY83" fmla="*/ 2024 h 10000"/>
              <a:gd name="connsiteX84" fmla="*/ 8268 w 9619"/>
              <a:gd name="connsiteY84" fmla="*/ 1928 h 10000"/>
              <a:gd name="connsiteX85" fmla="*/ 8171 w 9619"/>
              <a:gd name="connsiteY85" fmla="*/ 1834 h 10000"/>
              <a:gd name="connsiteX86" fmla="*/ 8071 w 9619"/>
              <a:gd name="connsiteY86" fmla="*/ 1740 h 10000"/>
              <a:gd name="connsiteX87" fmla="*/ 7972 w 9619"/>
              <a:gd name="connsiteY87" fmla="*/ 1648 h 10000"/>
              <a:gd name="connsiteX88" fmla="*/ 7864 w 9619"/>
              <a:gd name="connsiteY88" fmla="*/ 1560 h 10000"/>
              <a:gd name="connsiteX89" fmla="*/ 7757 w 9619"/>
              <a:gd name="connsiteY89" fmla="*/ 1474 h 10000"/>
              <a:gd name="connsiteX90" fmla="*/ 7647 w 9619"/>
              <a:gd name="connsiteY90" fmla="*/ 1392 h 10000"/>
              <a:gd name="connsiteX91" fmla="*/ 7534 w 9619"/>
              <a:gd name="connsiteY91" fmla="*/ 1308 h 10000"/>
              <a:gd name="connsiteX92" fmla="*/ 7422 w 9619"/>
              <a:gd name="connsiteY92" fmla="*/ 1226 h 10000"/>
              <a:gd name="connsiteX93" fmla="*/ 7301 w 9619"/>
              <a:gd name="connsiteY93" fmla="*/ 1150 h 10000"/>
              <a:gd name="connsiteX94" fmla="*/ 7184 w 9619"/>
              <a:gd name="connsiteY94" fmla="*/ 1076 h 10000"/>
              <a:gd name="connsiteX95" fmla="*/ 7063 w 9619"/>
              <a:gd name="connsiteY95" fmla="*/ 1002 h 10000"/>
              <a:gd name="connsiteX96" fmla="*/ 6938 w 9619"/>
              <a:gd name="connsiteY96" fmla="*/ 932 h 10000"/>
              <a:gd name="connsiteX97" fmla="*/ 6810 w 9619"/>
              <a:gd name="connsiteY97" fmla="*/ 862 h 10000"/>
              <a:gd name="connsiteX98" fmla="*/ 6685 w 9619"/>
              <a:gd name="connsiteY98" fmla="*/ 798 h 10000"/>
              <a:gd name="connsiteX99" fmla="*/ 6554 w 9619"/>
              <a:gd name="connsiteY99" fmla="*/ 734 h 10000"/>
              <a:gd name="connsiteX100" fmla="*/ 6424 w 9619"/>
              <a:gd name="connsiteY100" fmla="*/ 670 h 10000"/>
              <a:gd name="connsiteX101" fmla="*/ 6288 w 9619"/>
              <a:gd name="connsiteY101" fmla="*/ 612 h 10000"/>
              <a:gd name="connsiteX102" fmla="*/ 6150 w 9619"/>
              <a:gd name="connsiteY102" fmla="*/ 556 h 10000"/>
              <a:gd name="connsiteX103" fmla="*/ 6014 w 9619"/>
              <a:gd name="connsiteY103" fmla="*/ 504 h 10000"/>
              <a:gd name="connsiteX104" fmla="*/ 5876 w 9619"/>
              <a:gd name="connsiteY104" fmla="*/ 450 h 10000"/>
              <a:gd name="connsiteX105" fmla="*/ 5736 w 9619"/>
              <a:gd name="connsiteY105" fmla="*/ 402 h 10000"/>
              <a:gd name="connsiteX106" fmla="*/ 5595 w 9619"/>
              <a:gd name="connsiteY106" fmla="*/ 358 h 10000"/>
              <a:gd name="connsiteX107" fmla="*/ 5449 w 9619"/>
              <a:gd name="connsiteY107" fmla="*/ 314 h 10000"/>
              <a:gd name="connsiteX108" fmla="*/ 5303 w 9619"/>
              <a:gd name="connsiteY108" fmla="*/ 274 h 10000"/>
              <a:gd name="connsiteX109" fmla="*/ 5160 w 9619"/>
              <a:gd name="connsiteY109" fmla="*/ 236 h 10000"/>
              <a:gd name="connsiteX110" fmla="*/ 5009 w 9619"/>
              <a:gd name="connsiteY110" fmla="*/ 200 h 10000"/>
              <a:gd name="connsiteX111" fmla="*/ 4861 w 9619"/>
              <a:gd name="connsiteY111" fmla="*/ 168 h 10000"/>
              <a:gd name="connsiteX112" fmla="*/ 4712 w 9619"/>
              <a:gd name="connsiteY112" fmla="*/ 138 h 10000"/>
              <a:gd name="connsiteX113" fmla="*/ 4561 w 9619"/>
              <a:gd name="connsiteY113" fmla="*/ 110 h 10000"/>
              <a:gd name="connsiteX114" fmla="*/ 4408 w 9619"/>
              <a:gd name="connsiteY114" fmla="*/ 86 h 10000"/>
              <a:gd name="connsiteX115" fmla="*/ 4254 w 9619"/>
              <a:gd name="connsiteY115" fmla="*/ 66 h 10000"/>
              <a:gd name="connsiteX116" fmla="*/ 4098 w 9619"/>
              <a:gd name="connsiteY116" fmla="*/ 46 h 10000"/>
              <a:gd name="connsiteX117" fmla="*/ 3945 w 9619"/>
              <a:gd name="connsiteY117" fmla="*/ 32 h 10000"/>
              <a:gd name="connsiteX118" fmla="*/ 3789 w 9619"/>
              <a:gd name="connsiteY118" fmla="*/ 22 h 10000"/>
              <a:gd name="connsiteX119" fmla="*/ 3630 w 9619"/>
              <a:gd name="connsiteY119" fmla="*/ 10 h 10000"/>
              <a:gd name="connsiteX120" fmla="*/ 3472 w 9619"/>
              <a:gd name="connsiteY120" fmla="*/ 4 h 10000"/>
              <a:gd name="connsiteX121" fmla="*/ 3313 w 9619"/>
              <a:gd name="connsiteY121" fmla="*/ 0 h 10000"/>
              <a:gd name="connsiteX122" fmla="*/ 3154 w 9619"/>
              <a:gd name="connsiteY122" fmla="*/ 0 h 10000"/>
              <a:gd name="connsiteX123" fmla="*/ 2996 w 9619"/>
              <a:gd name="connsiteY123" fmla="*/ 4 h 10000"/>
              <a:gd name="connsiteX124" fmla="*/ 2835 w 9619"/>
              <a:gd name="connsiteY124" fmla="*/ 10 h 10000"/>
              <a:gd name="connsiteX125" fmla="*/ 2676 w 9619"/>
              <a:gd name="connsiteY125" fmla="*/ 22 h 10000"/>
              <a:gd name="connsiteX126" fmla="*/ 2515 w 9619"/>
              <a:gd name="connsiteY126" fmla="*/ 34 h 10000"/>
              <a:gd name="connsiteX127" fmla="*/ 2354 w 9619"/>
              <a:gd name="connsiteY127" fmla="*/ 48 h 10000"/>
              <a:gd name="connsiteX128" fmla="*/ 2193 w 9619"/>
              <a:gd name="connsiteY128" fmla="*/ 66 h 10000"/>
              <a:gd name="connsiteX129" fmla="*/ 2031 w 9619"/>
              <a:gd name="connsiteY129" fmla="*/ 90 h 10000"/>
              <a:gd name="connsiteX130" fmla="*/ 1868 w 9619"/>
              <a:gd name="connsiteY130" fmla="*/ 114 h 10000"/>
              <a:gd name="connsiteX131" fmla="*/ 1868 w 9619"/>
              <a:gd name="connsiteY131" fmla="*/ 114 h 10000"/>
              <a:gd name="connsiteX132" fmla="*/ 1714 w 9619"/>
              <a:gd name="connsiteY132" fmla="*/ 142 h 10000"/>
              <a:gd name="connsiteX133" fmla="*/ 1561 w 9619"/>
              <a:gd name="connsiteY133" fmla="*/ 176 h 10000"/>
              <a:gd name="connsiteX134" fmla="*/ 1410 w 9619"/>
              <a:gd name="connsiteY134" fmla="*/ 208 h 10000"/>
              <a:gd name="connsiteX135" fmla="*/ 1261 w 9619"/>
              <a:gd name="connsiteY135" fmla="*/ 244 h 10000"/>
              <a:gd name="connsiteX136" fmla="*/ 1113 w 9619"/>
              <a:gd name="connsiteY136" fmla="*/ 282 h 10000"/>
              <a:gd name="connsiteX137" fmla="*/ 967 w 9619"/>
              <a:gd name="connsiteY137" fmla="*/ 324 h 10000"/>
              <a:gd name="connsiteX138" fmla="*/ 821 w 9619"/>
              <a:gd name="connsiteY138" fmla="*/ 368 h 10000"/>
              <a:gd name="connsiteX139" fmla="*/ 678 w 9619"/>
              <a:gd name="connsiteY139" fmla="*/ 416 h 10000"/>
              <a:gd name="connsiteX140" fmla="*/ 540 w 9619"/>
              <a:gd name="connsiteY140" fmla="*/ 464 h 10000"/>
              <a:gd name="connsiteX141" fmla="*/ 402 w 9619"/>
              <a:gd name="connsiteY141" fmla="*/ 514 h 10000"/>
              <a:gd name="connsiteX142" fmla="*/ 266 w 9619"/>
              <a:gd name="connsiteY142" fmla="*/ 570 h 10000"/>
              <a:gd name="connsiteX143" fmla="*/ 133 w 9619"/>
              <a:gd name="connsiteY143" fmla="*/ 626 h 10000"/>
              <a:gd name="connsiteX144" fmla="*/ 0 w 9619"/>
              <a:gd name="connsiteY144" fmla="*/ 684 h 10000"/>
              <a:gd name="connsiteX145" fmla="*/ 1031 w 9619"/>
              <a:gd name="connsiteY145" fmla="*/ 9698 h 10000"/>
              <a:gd name="connsiteX146" fmla="*/ 1180 w 9619"/>
              <a:gd name="connsiteY146" fmla="*/ 9738 h 10000"/>
              <a:gd name="connsiteX147" fmla="*/ 1333 w 9619"/>
              <a:gd name="connsiteY147" fmla="*/ 9778 h 10000"/>
              <a:gd name="connsiteX148" fmla="*/ 1486 w 9619"/>
              <a:gd name="connsiteY148" fmla="*/ 9814 h 10000"/>
              <a:gd name="connsiteX149" fmla="*/ 1643 w 9619"/>
              <a:gd name="connsiteY149" fmla="*/ 9846 h 10000"/>
              <a:gd name="connsiteX150" fmla="*/ 1799 w 9619"/>
              <a:gd name="connsiteY150" fmla="*/ 9874 h 10000"/>
              <a:gd name="connsiteX151" fmla="*/ 1955 w 9619"/>
              <a:gd name="connsiteY151" fmla="*/ 9902 h 10000"/>
              <a:gd name="connsiteX152" fmla="*/ 2113 w 9619"/>
              <a:gd name="connsiteY152" fmla="*/ 9926 h 10000"/>
              <a:gd name="connsiteX153" fmla="*/ 2272 w 9619"/>
              <a:gd name="connsiteY153" fmla="*/ 9946 h 10000"/>
              <a:gd name="connsiteX154" fmla="*/ 2433 w 9619"/>
              <a:gd name="connsiteY154" fmla="*/ 9962 h 10000"/>
              <a:gd name="connsiteX155" fmla="*/ 2597 w 9619"/>
              <a:gd name="connsiteY155" fmla="*/ 9978 h 10000"/>
              <a:gd name="connsiteX156" fmla="*/ 2758 w 9619"/>
              <a:gd name="connsiteY156" fmla="*/ 9988 h 10000"/>
              <a:gd name="connsiteX157" fmla="*/ 2922 w 9619"/>
              <a:gd name="connsiteY157" fmla="*/ 9996 h 10000"/>
              <a:gd name="connsiteX158" fmla="*/ 3083 w 9619"/>
              <a:gd name="connsiteY158" fmla="*/ 10000 h 10000"/>
              <a:gd name="connsiteX159" fmla="*/ 3249 w 9619"/>
              <a:gd name="connsiteY159" fmla="*/ 10000 h 10000"/>
              <a:gd name="connsiteX160" fmla="*/ 3413 w 9619"/>
              <a:gd name="connsiteY160" fmla="*/ 9998 h 10000"/>
              <a:gd name="connsiteX161" fmla="*/ 3582 w 9619"/>
              <a:gd name="connsiteY161" fmla="*/ 9994 h 10000"/>
              <a:gd name="connsiteX162" fmla="*/ 3745 w 9619"/>
              <a:gd name="connsiteY162" fmla="*/ 9986 h 10000"/>
              <a:gd name="connsiteX163" fmla="*/ 3914 w 9619"/>
              <a:gd name="connsiteY163" fmla="*/ 9974 h 10000"/>
              <a:gd name="connsiteX164" fmla="*/ 4080 w 9619"/>
              <a:gd name="connsiteY164" fmla="*/ 9956 h 10000"/>
              <a:gd name="connsiteX165" fmla="*/ 4247 w 9619"/>
              <a:gd name="connsiteY165" fmla="*/ 9938 h 10000"/>
              <a:gd name="connsiteX166" fmla="*/ 4416 w 9619"/>
              <a:gd name="connsiteY166" fmla="*/ 9912 h 10000"/>
              <a:gd name="connsiteX167" fmla="*/ 4584 w 9619"/>
              <a:gd name="connsiteY167" fmla="*/ 9888 h 10000"/>
              <a:gd name="connsiteX168" fmla="*/ 4584 w 9619"/>
              <a:gd name="connsiteY168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705 w 10000"/>
              <a:gd name="connsiteY138" fmla="*/ 416 h 10000"/>
              <a:gd name="connsiteX139" fmla="*/ 561 w 10000"/>
              <a:gd name="connsiteY139" fmla="*/ 464 h 10000"/>
              <a:gd name="connsiteX140" fmla="*/ 418 w 10000"/>
              <a:gd name="connsiteY140" fmla="*/ 514 h 10000"/>
              <a:gd name="connsiteX141" fmla="*/ 277 w 10000"/>
              <a:gd name="connsiteY141" fmla="*/ 570 h 10000"/>
              <a:gd name="connsiteX142" fmla="*/ 138 w 10000"/>
              <a:gd name="connsiteY142" fmla="*/ 626 h 10000"/>
              <a:gd name="connsiteX143" fmla="*/ 0 w 10000"/>
              <a:gd name="connsiteY143" fmla="*/ 684 h 10000"/>
              <a:gd name="connsiteX144" fmla="*/ 1072 w 10000"/>
              <a:gd name="connsiteY144" fmla="*/ 9698 h 10000"/>
              <a:gd name="connsiteX145" fmla="*/ 1227 w 10000"/>
              <a:gd name="connsiteY145" fmla="*/ 9738 h 10000"/>
              <a:gd name="connsiteX146" fmla="*/ 1386 w 10000"/>
              <a:gd name="connsiteY146" fmla="*/ 9778 h 10000"/>
              <a:gd name="connsiteX147" fmla="*/ 1545 w 10000"/>
              <a:gd name="connsiteY147" fmla="*/ 9814 h 10000"/>
              <a:gd name="connsiteX148" fmla="*/ 1708 w 10000"/>
              <a:gd name="connsiteY148" fmla="*/ 9846 h 10000"/>
              <a:gd name="connsiteX149" fmla="*/ 1870 w 10000"/>
              <a:gd name="connsiteY149" fmla="*/ 9874 h 10000"/>
              <a:gd name="connsiteX150" fmla="*/ 2032 w 10000"/>
              <a:gd name="connsiteY150" fmla="*/ 9902 h 10000"/>
              <a:gd name="connsiteX151" fmla="*/ 2197 w 10000"/>
              <a:gd name="connsiteY151" fmla="*/ 9926 h 10000"/>
              <a:gd name="connsiteX152" fmla="*/ 2362 w 10000"/>
              <a:gd name="connsiteY152" fmla="*/ 9946 h 10000"/>
              <a:gd name="connsiteX153" fmla="*/ 2529 w 10000"/>
              <a:gd name="connsiteY153" fmla="*/ 9962 h 10000"/>
              <a:gd name="connsiteX154" fmla="*/ 2700 w 10000"/>
              <a:gd name="connsiteY154" fmla="*/ 9978 h 10000"/>
              <a:gd name="connsiteX155" fmla="*/ 2867 w 10000"/>
              <a:gd name="connsiteY155" fmla="*/ 9988 h 10000"/>
              <a:gd name="connsiteX156" fmla="*/ 3038 w 10000"/>
              <a:gd name="connsiteY156" fmla="*/ 9996 h 10000"/>
              <a:gd name="connsiteX157" fmla="*/ 3205 w 10000"/>
              <a:gd name="connsiteY157" fmla="*/ 10000 h 10000"/>
              <a:gd name="connsiteX158" fmla="*/ 3378 w 10000"/>
              <a:gd name="connsiteY158" fmla="*/ 10000 h 10000"/>
              <a:gd name="connsiteX159" fmla="*/ 3548 w 10000"/>
              <a:gd name="connsiteY159" fmla="*/ 9998 h 10000"/>
              <a:gd name="connsiteX160" fmla="*/ 3724 w 10000"/>
              <a:gd name="connsiteY160" fmla="*/ 9994 h 10000"/>
              <a:gd name="connsiteX161" fmla="*/ 3893 w 10000"/>
              <a:gd name="connsiteY161" fmla="*/ 9986 h 10000"/>
              <a:gd name="connsiteX162" fmla="*/ 4069 w 10000"/>
              <a:gd name="connsiteY162" fmla="*/ 9974 h 10000"/>
              <a:gd name="connsiteX163" fmla="*/ 4242 w 10000"/>
              <a:gd name="connsiteY163" fmla="*/ 9956 h 10000"/>
              <a:gd name="connsiteX164" fmla="*/ 4415 w 10000"/>
              <a:gd name="connsiteY164" fmla="*/ 9938 h 10000"/>
              <a:gd name="connsiteX165" fmla="*/ 4591 w 10000"/>
              <a:gd name="connsiteY165" fmla="*/ 9912 h 10000"/>
              <a:gd name="connsiteX166" fmla="*/ 4766 w 10000"/>
              <a:gd name="connsiteY166" fmla="*/ 9888 h 10000"/>
              <a:gd name="connsiteX167" fmla="*/ 4766 w 10000"/>
              <a:gd name="connsiteY167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561 w 10000"/>
              <a:gd name="connsiteY138" fmla="*/ 464 h 10000"/>
              <a:gd name="connsiteX139" fmla="*/ 418 w 10000"/>
              <a:gd name="connsiteY139" fmla="*/ 514 h 10000"/>
              <a:gd name="connsiteX140" fmla="*/ 277 w 10000"/>
              <a:gd name="connsiteY140" fmla="*/ 570 h 10000"/>
              <a:gd name="connsiteX141" fmla="*/ 138 w 10000"/>
              <a:gd name="connsiteY141" fmla="*/ 626 h 10000"/>
              <a:gd name="connsiteX142" fmla="*/ 0 w 10000"/>
              <a:gd name="connsiteY142" fmla="*/ 684 h 10000"/>
              <a:gd name="connsiteX143" fmla="*/ 1072 w 10000"/>
              <a:gd name="connsiteY143" fmla="*/ 9698 h 10000"/>
              <a:gd name="connsiteX144" fmla="*/ 1227 w 10000"/>
              <a:gd name="connsiteY144" fmla="*/ 9738 h 10000"/>
              <a:gd name="connsiteX145" fmla="*/ 1386 w 10000"/>
              <a:gd name="connsiteY145" fmla="*/ 9778 h 10000"/>
              <a:gd name="connsiteX146" fmla="*/ 1545 w 10000"/>
              <a:gd name="connsiteY146" fmla="*/ 9814 h 10000"/>
              <a:gd name="connsiteX147" fmla="*/ 1708 w 10000"/>
              <a:gd name="connsiteY147" fmla="*/ 9846 h 10000"/>
              <a:gd name="connsiteX148" fmla="*/ 1870 w 10000"/>
              <a:gd name="connsiteY148" fmla="*/ 9874 h 10000"/>
              <a:gd name="connsiteX149" fmla="*/ 2032 w 10000"/>
              <a:gd name="connsiteY149" fmla="*/ 9902 h 10000"/>
              <a:gd name="connsiteX150" fmla="*/ 2197 w 10000"/>
              <a:gd name="connsiteY150" fmla="*/ 9926 h 10000"/>
              <a:gd name="connsiteX151" fmla="*/ 2362 w 10000"/>
              <a:gd name="connsiteY151" fmla="*/ 9946 h 10000"/>
              <a:gd name="connsiteX152" fmla="*/ 2529 w 10000"/>
              <a:gd name="connsiteY152" fmla="*/ 9962 h 10000"/>
              <a:gd name="connsiteX153" fmla="*/ 2700 w 10000"/>
              <a:gd name="connsiteY153" fmla="*/ 9978 h 10000"/>
              <a:gd name="connsiteX154" fmla="*/ 2867 w 10000"/>
              <a:gd name="connsiteY154" fmla="*/ 9988 h 10000"/>
              <a:gd name="connsiteX155" fmla="*/ 3038 w 10000"/>
              <a:gd name="connsiteY155" fmla="*/ 9996 h 10000"/>
              <a:gd name="connsiteX156" fmla="*/ 3205 w 10000"/>
              <a:gd name="connsiteY156" fmla="*/ 10000 h 10000"/>
              <a:gd name="connsiteX157" fmla="*/ 3378 w 10000"/>
              <a:gd name="connsiteY157" fmla="*/ 10000 h 10000"/>
              <a:gd name="connsiteX158" fmla="*/ 3548 w 10000"/>
              <a:gd name="connsiteY158" fmla="*/ 9998 h 10000"/>
              <a:gd name="connsiteX159" fmla="*/ 3724 w 10000"/>
              <a:gd name="connsiteY159" fmla="*/ 9994 h 10000"/>
              <a:gd name="connsiteX160" fmla="*/ 3893 w 10000"/>
              <a:gd name="connsiteY160" fmla="*/ 9986 h 10000"/>
              <a:gd name="connsiteX161" fmla="*/ 4069 w 10000"/>
              <a:gd name="connsiteY161" fmla="*/ 9974 h 10000"/>
              <a:gd name="connsiteX162" fmla="*/ 4242 w 10000"/>
              <a:gd name="connsiteY162" fmla="*/ 9956 h 10000"/>
              <a:gd name="connsiteX163" fmla="*/ 4415 w 10000"/>
              <a:gd name="connsiteY163" fmla="*/ 9938 h 10000"/>
              <a:gd name="connsiteX164" fmla="*/ 4591 w 10000"/>
              <a:gd name="connsiteY164" fmla="*/ 9912 h 10000"/>
              <a:gd name="connsiteX165" fmla="*/ 4766 w 10000"/>
              <a:gd name="connsiteY165" fmla="*/ 9888 h 10000"/>
              <a:gd name="connsiteX166" fmla="*/ 4766 w 10000"/>
              <a:gd name="connsiteY166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418 w 10000"/>
              <a:gd name="connsiteY138" fmla="*/ 514 h 10000"/>
              <a:gd name="connsiteX139" fmla="*/ 277 w 10000"/>
              <a:gd name="connsiteY139" fmla="*/ 570 h 10000"/>
              <a:gd name="connsiteX140" fmla="*/ 138 w 10000"/>
              <a:gd name="connsiteY140" fmla="*/ 626 h 10000"/>
              <a:gd name="connsiteX141" fmla="*/ 0 w 10000"/>
              <a:gd name="connsiteY141" fmla="*/ 684 h 10000"/>
              <a:gd name="connsiteX142" fmla="*/ 1072 w 10000"/>
              <a:gd name="connsiteY142" fmla="*/ 9698 h 10000"/>
              <a:gd name="connsiteX143" fmla="*/ 1227 w 10000"/>
              <a:gd name="connsiteY143" fmla="*/ 9738 h 10000"/>
              <a:gd name="connsiteX144" fmla="*/ 1386 w 10000"/>
              <a:gd name="connsiteY144" fmla="*/ 9778 h 10000"/>
              <a:gd name="connsiteX145" fmla="*/ 1545 w 10000"/>
              <a:gd name="connsiteY145" fmla="*/ 9814 h 10000"/>
              <a:gd name="connsiteX146" fmla="*/ 1708 w 10000"/>
              <a:gd name="connsiteY146" fmla="*/ 9846 h 10000"/>
              <a:gd name="connsiteX147" fmla="*/ 1870 w 10000"/>
              <a:gd name="connsiteY147" fmla="*/ 9874 h 10000"/>
              <a:gd name="connsiteX148" fmla="*/ 2032 w 10000"/>
              <a:gd name="connsiteY148" fmla="*/ 9902 h 10000"/>
              <a:gd name="connsiteX149" fmla="*/ 2197 w 10000"/>
              <a:gd name="connsiteY149" fmla="*/ 9926 h 10000"/>
              <a:gd name="connsiteX150" fmla="*/ 2362 w 10000"/>
              <a:gd name="connsiteY150" fmla="*/ 9946 h 10000"/>
              <a:gd name="connsiteX151" fmla="*/ 2529 w 10000"/>
              <a:gd name="connsiteY151" fmla="*/ 9962 h 10000"/>
              <a:gd name="connsiteX152" fmla="*/ 2700 w 10000"/>
              <a:gd name="connsiteY152" fmla="*/ 9978 h 10000"/>
              <a:gd name="connsiteX153" fmla="*/ 2867 w 10000"/>
              <a:gd name="connsiteY153" fmla="*/ 9988 h 10000"/>
              <a:gd name="connsiteX154" fmla="*/ 3038 w 10000"/>
              <a:gd name="connsiteY154" fmla="*/ 9996 h 10000"/>
              <a:gd name="connsiteX155" fmla="*/ 3205 w 10000"/>
              <a:gd name="connsiteY155" fmla="*/ 10000 h 10000"/>
              <a:gd name="connsiteX156" fmla="*/ 3378 w 10000"/>
              <a:gd name="connsiteY156" fmla="*/ 10000 h 10000"/>
              <a:gd name="connsiteX157" fmla="*/ 3548 w 10000"/>
              <a:gd name="connsiteY157" fmla="*/ 9998 h 10000"/>
              <a:gd name="connsiteX158" fmla="*/ 3724 w 10000"/>
              <a:gd name="connsiteY158" fmla="*/ 9994 h 10000"/>
              <a:gd name="connsiteX159" fmla="*/ 3893 w 10000"/>
              <a:gd name="connsiteY159" fmla="*/ 9986 h 10000"/>
              <a:gd name="connsiteX160" fmla="*/ 4069 w 10000"/>
              <a:gd name="connsiteY160" fmla="*/ 9974 h 10000"/>
              <a:gd name="connsiteX161" fmla="*/ 4242 w 10000"/>
              <a:gd name="connsiteY161" fmla="*/ 9956 h 10000"/>
              <a:gd name="connsiteX162" fmla="*/ 4415 w 10000"/>
              <a:gd name="connsiteY162" fmla="*/ 9938 h 10000"/>
              <a:gd name="connsiteX163" fmla="*/ 4591 w 10000"/>
              <a:gd name="connsiteY163" fmla="*/ 9912 h 10000"/>
              <a:gd name="connsiteX164" fmla="*/ 4766 w 10000"/>
              <a:gd name="connsiteY164" fmla="*/ 9888 h 10000"/>
              <a:gd name="connsiteX165" fmla="*/ 4766 w 10000"/>
              <a:gd name="connsiteY165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277 w 10000"/>
              <a:gd name="connsiteY138" fmla="*/ 570 h 10000"/>
              <a:gd name="connsiteX139" fmla="*/ 138 w 10000"/>
              <a:gd name="connsiteY139" fmla="*/ 626 h 10000"/>
              <a:gd name="connsiteX140" fmla="*/ 0 w 10000"/>
              <a:gd name="connsiteY140" fmla="*/ 684 h 10000"/>
              <a:gd name="connsiteX141" fmla="*/ 1072 w 10000"/>
              <a:gd name="connsiteY141" fmla="*/ 9698 h 10000"/>
              <a:gd name="connsiteX142" fmla="*/ 1227 w 10000"/>
              <a:gd name="connsiteY142" fmla="*/ 9738 h 10000"/>
              <a:gd name="connsiteX143" fmla="*/ 1386 w 10000"/>
              <a:gd name="connsiteY143" fmla="*/ 9778 h 10000"/>
              <a:gd name="connsiteX144" fmla="*/ 1545 w 10000"/>
              <a:gd name="connsiteY144" fmla="*/ 9814 h 10000"/>
              <a:gd name="connsiteX145" fmla="*/ 1708 w 10000"/>
              <a:gd name="connsiteY145" fmla="*/ 9846 h 10000"/>
              <a:gd name="connsiteX146" fmla="*/ 1870 w 10000"/>
              <a:gd name="connsiteY146" fmla="*/ 9874 h 10000"/>
              <a:gd name="connsiteX147" fmla="*/ 2032 w 10000"/>
              <a:gd name="connsiteY147" fmla="*/ 9902 h 10000"/>
              <a:gd name="connsiteX148" fmla="*/ 2197 w 10000"/>
              <a:gd name="connsiteY148" fmla="*/ 9926 h 10000"/>
              <a:gd name="connsiteX149" fmla="*/ 2362 w 10000"/>
              <a:gd name="connsiteY149" fmla="*/ 9946 h 10000"/>
              <a:gd name="connsiteX150" fmla="*/ 2529 w 10000"/>
              <a:gd name="connsiteY150" fmla="*/ 9962 h 10000"/>
              <a:gd name="connsiteX151" fmla="*/ 2700 w 10000"/>
              <a:gd name="connsiteY151" fmla="*/ 9978 h 10000"/>
              <a:gd name="connsiteX152" fmla="*/ 2867 w 10000"/>
              <a:gd name="connsiteY152" fmla="*/ 9988 h 10000"/>
              <a:gd name="connsiteX153" fmla="*/ 3038 w 10000"/>
              <a:gd name="connsiteY153" fmla="*/ 9996 h 10000"/>
              <a:gd name="connsiteX154" fmla="*/ 3205 w 10000"/>
              <a:gd name="connsiteY154" fmla="*/ 10000 h 10000"/>
              <a:gd name="connsiteX155" fmla="*/ 3378 w 10000"/>
              <a:gd name="connsiteY155" fmla="*/ 10000 h 10000"/>
              <a:gd name="connsiteX156" fmla="*/ 3548 w 10000"/>
              <a:gd name="connsiteY156" fmla="*/ 9998 h 10000"/>
              <a:gd name="connsiteX157" fmla="*/ 3724 w 10000"/>
              <a:gd name="connsiteY157" fmla="*/ 9994 h 10000"/>
              <a:gd name="connsiteX158" fmla="*/ 3893 w 10000"/>
              <a:gd name="connsiteY158" fmla="*/ 9986 h 10000"/>
              <a:gd name="connsiteX159" fmla="*/ 4069 w 10000"/>
              <a:gd name="connsiteY159" fmla="*/ 9974 h 10000"/>
              <a:gd name="connsiteX160" fmla="*/ 4242 w 10000"/>
              <a:gd name="connsiteY160" fmla="*/ 9956 h 10000"/>
              <a:gd name="connsiteX161" fmla="*/ 4415 w 10000"/>
              <a:gd name="connsiteY161" fmla="*/ 9938 h 10000"/>
              <a:gd name="connsiteX162" fmla="*/ 4591 w 10000"/>
              <a:gd name="connsiteY162" fmla="*/ 9912 h 10000"/>
              <a:gd name="connsiteX163" fmla="*/ 4766 w 10000"/>
              <a:gd name="connsiteY163" fmla="*/ 9888 h 10000"/>
              <a:gd name="connsiteX164" fmla="*/ 4766 w 10000"/>
              <a:gd name="connsiteY164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138 w 10000"/>
              <a:gd name="connsiteY138" fmla="*/ 626 h 10000"/>
              <a:gd name="connsiteX139" fmla="*/ 0 w 10000"/>
              <a:gd name="connsiteY139" fmla="*/ 684 h 10000"/>
              <a:gd name="connsiteX140" fmla="*/ 1072 w 10000"/>
              <a:gd name="connsiteY140" fmla="*/ 9698 h 10000"/>
              <a:gd name="connsiteX141" fmla="*/ 1227 w 10000"/>
              <a:gd name="connsiteY141" fmla="*/ 9738 h 10000"/>
              <a:gd name="connsiteX142" fmla="*/ 1386 w 10000"/>
              <a:gd name="connsiteY142" fmla="*/ 9778 h 10000"/>
              <a:gd name="connsiteX143" fmla="*/ 1545 w 10000"/>
              <a:gd name="connsiteY143" fmla="*/ 9814 h 10000"/>
              <a:gd name="connsiteX144" fmla="*/ 1708 w 10000"/>
              <a:gd name="connsiteY144" fmla="*/ 9846 h 10000"/>
              <a:gd name="connsiteX145" fmla="*/ 1870 w 10000"/>
              <a:gd name="connsiteY145" fmla="*/ 9874 h 10000"/>
              <a:gd name="connsiteX146" fmla="*/ 2032 w 10000"/>
              <a:gd name="connsiteY146" fmla="*/ 9902 h 10000"/>
              <a:gd name="connsiteX147" fmla="*/ 2197 w 10000"/>
              <a:gd name="connsiteY147" fmla="*/ 9926 h 10000"/>
              <a:gd name="connsiteX148" fmla="*/ 2362 w 10000"/>
              <a:gd name="connsiteY148" fmla="*/ 9946 h 10000"/>
              <a:gd name="connsiteX149" fmla="*/ 2529 w 10000"/>
              <a:gd name="connsiteY149" fmla="*/ 9962 h 10000"/>
              <a:gd name="connsiteX150" fmla="*/ 2700 w 10000"/>
              <a:gd name="connsiteY150" fmla="*/ 9978 h 10000"/>
              <a:gd name="connsiteX151" fmla="*/ 2867 w 10000"/>
              <a:gd name="connsiteY151" fmla="*/ 9988 h 10000"/>
              <a:gd name="connsiteX152" fmla="*/ 3038 w 10000"/>
              <a:gd name="connsiteY152" fmla="*/ 9996 h 10000"/>
              <a:gd name="connsiteX153" fmla="*/ 3205 w 10000"/>
              <a:gd name="connsiteY153" fmla="*/ 10000 h 10000"/>
              <a:gd name="connsiteX154" fmla="*/ 3378 w 10000"/>
              <a:gd name="connsiteY154" fmla="*/ 10000 h 10000"/>
              <a:gd name="connsiteX155" fmla="*/ 3548 w 10000"/>
              <a:gd name="connsiteY155" fmla="*/ 9998 h 10000"/>
              <a:gd name="connsiteX156" fmla="*/ 3724 w 10000"/>
              <a:gd name="connsiteY156" fmla="*/ 9994 h 10000"/>
              <a:gd name="connsiteX157" fmla="*/ 3893 w 10000"/>
              <a:gd name="connsiteY157" fmla="*/ 9986 h 10000"/>
              <a:gd name="connsiteX158" fmla="*/ 4069 w 10000"/>
              <a:gd name="connsiteY158" fmla="*/ 9974 h 10000"/>
              <a:gd name="connsiteX159" fmla="*/ 4242 w 10000"/>
              <a:gd name="connsiteY159" fmla="*/ 9956 h 10000"/>
              <a:gd name="connsiteX160" fmla="*/ 4415 w 10000"/>
              <a:gd name="connsiteY160" fmla="*/ 9938 h 10000"/>
              <a:gd name="connsiteX161" fmla="*/ 4591 w 10000"/>
              <a:gd name="connsiteY161" fmla="*/ 9912 h 10000"/>
              <a:gd name="connsiteX162" fmla="*/ 4766 w 10000"/>
              <a:gd name="connsiteY162" fmla="*/ 9888 h 10000"/>
              <a:gd name="connsiteX163" fmla="*/ 4766 w 10000"/>
              <a:gd name="connsiteY163" fmla="*/ 9888 h 10000"/>
              <a:gd name="connsiteX0" fmla="*/ 4766 w 10000"/>
              <a:gd name="connsiteY0" fmla="*/ 9888 h 10000"/>
              <a:gd name="connsiteX1" fmla="*/ 4766 w 10000"/>
              <a:gd name="connsiteY1" fmla="*/ 9888 h 10000"/>
              <a:gd name="connsiteX2" fmla="*/ 4931 w 10000"/>
              <a:gd name="connsiteY2" fmla="*/ 9856 h 10000"/>
              <a:gd name="connsiteX3" fmla="*/ 5096 w 10000"/>
              <a:gd name="connsiteY3" fmla="*/ 9826 h 10000"/>
              <a:gd name="connsiteX4" fmla="*/ 5258 w 10000"/>
              <a:gd name="connsiteY4" fmla="*/ 9792 h 10000"/>
              <a:gd name="connsiteX5" fmla="*/ 5421 w 10000"/>
              <a:gd name="connsiteY5" fmla="*/ 9754 h 10000"/>
              <a:gd name="connsiteX6" fmla="*/ 5578 w 10000"/>
              <a:gd name="connsiteY6" fmla="*/ 9712 h 10000"/>
              <a:gd name="connsiteX7" fmla="*/ 5737 w 10000"/>
              <a:gd name="connsiteY7" fmla="*/ 9670 h 10000"/>
              <a:gd name="connsiteX8" fmla="*/ 5891 w 10000"/>
              <a:gd name="connsiteY8" fmla="*/ 9622 h 10000"/>
              <a:gd name="connsiteX9" fmla="*/ 6045 w 10000"/>
              <a:gd name="connsiteY9" fmla="*/ 9574 h 10000"/>
              <a:gd name="connsiteX10" fmla="*/ 6194 w 10000"/>
              <a:gd name="connsiteY10" fmla="*/ 9524 h 10000"/>
              <a:gd name="connsiteX11" fmla="*/ 6341 w 10000"/>
              <a:gd name="connsiteY11" fmla="*/ 9468 h 10000"/>
              <a:gd name="connsiteX12" fmla="*/ 6489 w 10000"/>
              <a:gd name="connsiteY12" fmla="*/ 9412 h 10000"/>
              <a:gd name="connsiteX13" fmla="*/ 6631 w 10000"/>
              <a:gd name="connsiteY13" fmla="*/ 9352 h 10000"/>
              <a:gd name="connsiteX14" fmla="*/ 6771 w 10000"/>
              <a:gd name="connsiteY14" fmla="*/ 9290 h 10000"/>
              <a:gd name="connsiteX15" fmla="*/ 6912 w 10000"/>
              <a:gd name="connsiteY15" fmla="*/ 9224 h 10000"/>
              <a:gd name="connsiteX16" fmla="*/ 7048 w 10000"/>
              <a:gd name="connsiteY16" fmla="*/ 9160 h 10000"/>
              <a:gd name="connsiteX17" fmla="*/ 7181 w 10000"/>
              <a:gd name="connsiteY17" fmla="*/ 9090 h 10000"/>
              <a:gd name="connsiteX18" fmla="*/ 7312 w 10000"/>
              <a:gd name="connsiteY18" fmla="*/ 9018 h 10000"/>
              <a:gd name="connsiteX19" fmla="*/ 7438 w 10000"/>
              <a:gd name="connsiteY19" fmla="*/ 8944 h 10000"/>
              <a:gd name="connsiteX20" fmla="*/ 7564 w 10000"/>
              <a:gd name="connsiteY20" fmla="*/ 8868 h 10000"/>
              <a:gd name="connsiteX21" fmla="*/ 7689 w 10000"/>
              <a:gd name="connsiteY21" fmla="*/ 8792 h 10000"/>
              <a:gd name="connsiteX22" fmla="*/ 7809 w 10000"/>
              <a:gd name="connsiteY22" fmla="*/ 8712 h 10000"/>
              <a:gd name="connsiteX23" fmla="*/ 7928 w 10000"/>
              <a:gd name="connsiteY23" fmla="*/ 8628 h 10000"/>
              <a:gd name="connsiteX24" fmla="*/ 8042 w 10000"/>
              <a:gd name="connsiteY24" fmla="*/ 8544 h 10000"/>
              <a:gd name="connsiteX25" fmla="*/ 8152 w 10000"/>
              <a:gd name="connsiteY25" fmla="*/ 8458 h 10000"/>
              <a:gd name="connsiteX26" fmla="*/ 8263 w 10000"/>
              <a:gd name="connsiteY26" fmla="*/ 8370 h 10000"/>
              <a:gd name="connsiteX27" fmla="*/ 8370 w 10000"/>
              <a:gd name="connsiteY27" fmla="*/ 8282 h 10000"/>
              <a:gd name="connsiteX28" fmla="*/ 8471 w 10000"/>
              <a:gd name="connsiteY28" fmla="*/ 8190 h 10000"/>
              <a:gd name="connsiteX29" fmla="*/ 8572 w 10000"/>
              <a:gd name="connsiteY29" fmla="*/ 8098 h 10000"/>
              <a:gd name="connsiteX30" fmla="*/ 8670 w 10000"/>
              <a:gd name="connsiteY30" fmla="*/ 8002 h 10000"/>
              <a:gd name="connsiteX31" fmla="*/ 8763 w 10000"/>
              <a:gd name="connsiteY31" fmla="*/ 7906 h 10000"/>
              <a:gd name="connsiteX32" fmla="*/ 8853 w 10000"/>
              <a:gd name="connsiteY32" fmla="*/ 7806 h 10000"/>
              <a:gd name="connsiteX33" fmla="*/ 8942 w 10000"/>
              <a:gd name="connsiteY33" fmla="*/ 7706 h 10000"/>
              <a:gd name="connsiteX34" fmla="*/ 9027 w 10000"/>
              <a:gd name="connsiteY34" fmla="*/ 7604 h 10000"/>
              <a:gd name="connsiteX35" fmla="*/ 9109 w 10000"/>
              <a:gd name="connsiteY35" fmla="*/ 7500 h 10000"/>
              <a:gd name="connsiteX36" fmla="*/ 9186 w 10000"/>
              <a:gd name="connsiteY36" fmla="*/ 7398 h 10000"/>
              <a:gd name="connsiteX37" fmla="*/ 9261 w 10000"/>
              <a:gd name="connsiteY37" fmla="*/ 7292 h 10000"/>
              <a:gd name="connsiteX38" fmla="*/ 9333 w 10000"/>
              <a:gd name="connsiteY38" fmla="*/ 7182 h 10000"/>
              <a:gd name="connsiteX39" fmla="*/ 9401 w 10000"/>
              <a:gd name="connsiteY39" fmla="*/ 7074 h 10000"/>
              <a:gd name="connsiteX40" fmla="*/ 9466 w 10000"/>
              <a:gd name="connsiteY40" fmla="*/ 6964 h 10000"/>
              <a:gd name="connsiteX41" fmla="*/ 9527 w 10000"/>
              <a:gd name="connsiteY41" fmla="*/ 6854 h 10000"/>
              <a:gd name="connsiteX42" fmla="*/ 9585 w 10000"/>
              <a:gd name="connsiteY42" fmla="*/ 6740 h 10000"/>
              <a:gd name="connsiteX43" fmla="*/ 9638 w 10000"/>
              <a:gd name="connsiteY43" fmla="*/ 6626 h 10000"/>
              <a:gd name="connsiteX44" fmla="*/ 9689 w 10000"/>
              <a:gd name="connsiteY44" fmla="*/ 6512 h 10000"/>
              <a:gd name="connsiteX45" fmla="*/ 9734 w 10000"/>
              <a:gd name="connsiteY45" fmla="*/ 6396 h 10000"/>
              <a:gd name="connsiteX46" fmla="*/ 9780 w 10000"/>
              <a:gd name="connsiteY46" fmla="*/ 6280 h 10000"/>
              <a:gd name="connsiteX47" fmla="*/ 9819 w 10000"/>
              <a:gd name="connsiteY47" fmla="*/ 6164 h 10000"/>
              <a:gd name="connsiteX48" fmla="*/ 9857 w 10000"/>
              <a:gd name="connsiteY48" fmla="*/ 6044 h 10000"/>
              <a:gd name="connsiteX49" fmla="*/ 9886 w 10000"/>
              <a:gd name="connsiteY49" fmla="*/ 5926 h 10000"/>
              <a:gd name="connsiteX50" fmla="*/ 9913 w 10000"/>
              <a:gd name="connsiteY50" fmla="*/ 5804 h 10000"/>
              <a:gd name="connsiteX51" fmla="*/ 9939 w 10000"/>
              <a:gd name="connsiteY51" fmla="*/ 5684 h 10000"/>
              <a:gd name="connsiteX52" fmla="*/ 9960 w 10000"/>
              <a:gd name="connsiteY52" fmla="*/ 5562 h 10000"/>
              <a:gd name="connsiteX53" fmla="*/ 9976 w 10000"/>
              <a:gd name="connsiteY53" fmla="*/ 5440 h 10000"/>
              <a:gd name="connsiteX54" fmla="*/ 9986 w 10000"/>
              <a:gd name="connsiteY54" fmla="*/ 5316 h 10000"/>
              <a:gd name="connsiteX55" fmla="*/ 9997 w 10000"/>
              <a:gd name="connsiteY55" fmla="*/ 5196 h 10000"/>
              <a:gd name="connsiteX56" fmla="*/ 10000 w 10000"/>
              <a:gd name="connsiteY56" fmla="*/ 5072 h 10000"/>
              <a:gd name="connsiteX57" fmla="*/ 10000 w 10000"/>
              <a:gd name="connsiteY57" fmla="*/ 4948 h 10000"/>
              <a:gd name="connsiteX58" fmla="*/ 9997 w 10000"/>
              <a:gd name="connsiteY58" fmla="*/ 4822 h 10000"/>
              <a:gd name="connsiteX59" fmla="*/ 9986 w 10000"/>
              <a:gd name="connsiteY59" fmla="*/ 4698 h 10000"/>
              <a:gd name="connsiteX60" fmla="*/ 9976 w 10000"/>
              <a:gd name="connsiteY60" fmla="*/ 4572 h 10000"/>
              <a:gd name="connsiteX61" fmla="*/ 9960 w 10000"/>
              <a:gd name="connsiteY61" fmla="*/ 4444 h 10000"/>
              <a:gd name="connsiteX62" fmla="*/ 9937 w 10000"/>
              <a:gd name="connsiteY62" fmla="*/ 4318 h 10000"/>
              <a:gd name="connsiteX63" fmla="*/ 9913 w 10000"/>
              <a:gd name="connsiteY63" fmla="*/ 4192 h 10000"/>
              <a:gd name="connsiteX64" fmla="*/ 9883 w 10000"/>
              <a:gd name="connsiteY64" fmla="*/ 4066 h 10000"/>
              <a:gd name="connsiteX65" fmla="*/ 9848 w 10000"/>
              <a:gd name="connsiteY65" fmla="*/ 3940 h 10000"/>
              <a:gd name="connsiteX66" fmla="*/ 9848 w 10000"/>
              <a:gd name="connsiteY66" fmla="*/ 3940 h 10000"/>
              <a:gd name="connsiteX67" fmla="*/ 9809 w 10000"/>
              <a:gd name="connsiteY67" fmla="*/ 3816 h 10000"/>
              <a:gd name="connsiteX68" fmla="*/ 9766 w 10000"/>
              <a:gd name="connsiteY68" fmla="*/ 3692 h 10000"/>
              <a:gd name="connsiteX69" fmla="*/ 9720 w 10000"/>
              <a:gd name="connsiteY69" fmla="*/ 3568 h 10000"/>
              <a:gd name="connsiteX70" fmla="*/ 9670 w 10000"/>
              <a:gd name="connsiteY70" fmla="*/ 3446 h 10000"/>
              <a:gd name="connsiteX71" fmla="*/ 9617 w 10000"/>
              <a:gd name="connsiteY71" fmla="*/ 3328 h 10000"/>
              <a:gd name="connsiteX72" fmla="*/ 9556 w 10000"/>
              <a:gd name="connsiteY72" fmla="*/ 3208 h 10000"/>
              <a:gd name="connsiteX73" fmla="*/ 9498 w 10000"/>
              <a:gd name="connsiteY73" fmla="*/ 3092 h 10000"/>
              <a:gd name="connsiteX74" fmla="*/ 9433 w 10000"/>
              <a:gd name="connsiteY74" fmla="*/ 2976 h 10000"/>
              <a:gd name="connsiteX75" fmla="*/ 9362 w 10000"/>
              <a:gd name="connsiteY75" fmla="*/ 2864 h 10000"/>
              <a:gd name="connsiteX76" fmla="*/ 9293 w 10000"/>
              <a:gd name="connsiteY76" fmla="*/ 2754 h 10000"/>
              <a:gd name="connsiteX77" fmla="*/ 9215 w 10000"/>
              <a:gd name="connsiteY77" fmla="*/ 2642 h 10000"/>
              <a:gd name="connsiteX78" fmla="*/ 9136 w 10000"/>
              <a:gd name="connsiteY78" fmla="*/ 2536 h 10000"/>
              <a:gd name="connsiteX79" fmla="*/ 9053 w 10000"/>
              <a:gd name="connsiteY79" fmla="*/ 2430 h 10000"/>
              <a:gd name="connsiteX80" fmla="*/ 8968 w 10000"/>
              <a:gd name="connsiteY80" fmla="*/ 2324 h 10000"/>
              <a:gd name="connsiteX81" fmla="*/ 8880 w 10000"/>
              <a:gd name="connsiteY81" fmla="*/ 2222 h 10000"/>
              <a:gd name="connsiteX82" fmla="*/ 8787 w 10000"/>
              <a:gd name="connsiteY82" fmla="*/ 2122 h 10000"/>
              <a:gd name="connsiteX83" fmla="*/ 8694 w 10000"/>
              <a:gd name="connsiteY83" fmla="*/ 2024 h 10000"/>
              <a:gd name="connsiteX84" fmla="*/ 8595 w 10000"/>
              <a:gd name="connsiteY84" fmla="*/ 1928 h 10000"/>
              <a:gd name="connsiteX85" fmla="*/ 8495 w 10000"/>
              <a:gd name="connsiteY85" fmla="*/ 1834 h 10000"/>
              <a:gd name="connsiteX86" fmla="*/ 8391 w 10000"/>
              <a:gd name="connsiteY86" fmla="*/ 1740 h 10000"/>
              <a:gd name="connsiteX87" fmla="*/ 8288 w 10000"/>
              <a:gd name="connsiteY87" fmla="*/ 1648 h 10000"/>
              <a:gd name="connsiteX88" fmla="*/ 8175 w 10000"/>
              <a:gd name="connsiteY88" fmla="*/ 1560 h 10000"/>
              <a:gd name="connsiteX89" fmla="*/ 8064 w 10000"/>
              <a:gd name="connsiteY89" fmla="*/ 1474 h 10000"/>
              <a:gd name="connsiteX90" fmla="*/ 7950 w 10000"/>
              <a:gd name="connsiteY90" fmla="*/ 1392 h 10000"/>
              <a:gd name="connsiteX91" fmla="*/ 7832 w 10000"/>
              <a:gd name="connsiteY91" fmla="*/ 1308 h 10000"/>
              <a:gd name="connsiteX92" fmla="*/ 7716 w 10000"/>
              <a:gd name="connsiteY92" fmla="*/ 1226 h 10000"/>
              <a:gd name="connsiteX93" fmla="*/ 7590 w 10000"/>
              <a:gd name="connsiteY93" fmla="*/ 1150 h 10000"/>
              <a:gd name="connsiteX94" fmla="*/ 7469 w 10000"/>
              <a:gd name="connsiteY94" fmla="*/ 1076 h 10000"/>
              <a:gd name="connsiteX95" fmla="*/ 7343 w 10000"/>
              <a:gd name="connsiteY95" fmla="*/ 1002 h 10000"/>
              <a:gd name="connsiteX96" fmla="*/ 7213 w 10000"/>
              <a:gd name="connsiteY96" fmla="*/ 932 h 10000"/>
              <a:gd name="connsiteX97" fmla="*/ 7080 w 10000"/>
              <a:gd name="connsiteY97" fmla="*/ 862 h 10000"/>
              <a:gd name="connsiteX98" fmla="*/ 6950 w 10000"/>
              <a:gd name="connsiteY98" fmla="*/ 798 h 10000"/>
              <a:gd name="connsiteX99" fmla="*/ 6814 w 10000"/>
              <a:gd name="connsiteY99" fmla="*/ 734 h 10000"/>
              <a:gd name="connsiteX100" fmla="*/ 6678 w 10000"/>
              <a:gd name="connsiteY100" fmla="*/ 670 h 10000"/>
              <a:gd name="connsiteX101" fmla="*/ 6537 w 10000"/>
              <a:gd name="connsiteY101" fmla="*/ 612 h 10000"/>
              <a:gd name="connsiteX102" fmla="*/ 6394 w 10000"/>
              <a:gd name="connsiteY102" fmla="*/ 556 h 10000"/>
              <a:gd name="connsiteX103" fmla="*/ 6252 w 10000"/>
              <a:gd name="connsiteY103" fmla="*/ 504 h 10000"/>
              <a:gd name="connsiteX104" fmla="*/ 6109 w 10000"/>
              <a:gd name="connsiteY104" fmla="*/ 450 h 10000"/>
              <a:gd name="connsiteX105" fmla="*/ 5963 w 10000"/>
              <a:gd name="connsiteY105" fmla="*/ 402 h 10000"/>
              <a:gd name="connsiteX106" fmla="*/ 5817 w 10000"/>
              <a:gd name="connsiteY106" fmla="*/ 358 h 10000"/>
              <a:gd name="connsiteX107" fmla="*/ 5665 w 10000"/>
              <a:gd name="connsiteY107" fmla="*/ 314 h 10000"/>
              <a:gd name="connsiteX108" fmla="*/ 5513 w 10000"/>
              <a:gd name="connsiteY108" fmla="*/ 274 h 10000"/>
              <a:gd name="connsiteX109" fmla="*/ 5364 w 10000"/>
              <a:gd name="connsiteY109" fmla="*/ 236 h 10000"/>
              <a:gd name="connsiteX110" fmla="*/ 5207 w 10000"/>
              <a:gd name="connsiteY110" fmla="*/ 200 h 10000"/>
              <a:gd name="connsiteX111" fmla="*/ 5054 w 10000"/>
              <a:gd name="connsiteY111" fmla="*/ 168 h 10000"/>
              <a:gd name="connsiteX112" fmla="*/ 4899 w 10000"/>
              <a:gd name="connsiteY112" fmla="*/ 138 h 10000"/>
              <a:gd name="connsiteX113" fmla="*/ 4742 w 10000"/>
              <a:gd name="connsiteY113" fmla="*/ 110 h 10000"/>
              <a:gd name="connsiteX114" fmla="*/ 4583 w 10000"/>
              <a:gd name="connsiteY114" fmla="*/ 86 h 10000"/>
              <a:gd name="connsiteX115" fmla="*/ 4422 w 10000"/>
              <a:gd name="connsiteY115" fmla="*/ 66 h 10000"/>
              <a:gd name="connsiteX116" fmla="*/ 4260 w 10000"/>
              <a:gd name="connsiteY116" fmla="*/ 46 h 10000"/>
              <a:gd name="connsiteX117" fmla="*/ 4101 w 10000"/>
              <a:gd name="connsiteY117" fmla="*/ 32 h 10000"/>
              <a:gd name="connsiteX118" fmla="*/ 3939 w 10000"/>
              <a:gd name="connsiteY118" fmla="*/ 22 h 10000"/>
              <a:gd name="connsiteX119" fmla="*/ 3774 w 10000"/>
              <a:gd name="connsiteY119" fmla="*/ 10 h 10000"/>
              <a:gd name="connsiteX120" fmla="*/ 3610 w 10000"/>
              <a:gd name="connsiteY120" fmla="*/ 4 h 10000"/>
              <a:gd name="connsiteX121" fmla="*/ 3444 w 10000"/>
              <a:gd name="connsiteY121" fmla="*/ 0 h 10000"/>
              <a:gd name="connsiteX122" fmla="*/ 3279 w 10000"/>
              <a:gd name="connsiteY122" fmla="*/ 0 h 10000"/>
              <a:gd name="connsiteX123" fmla="*/ 3115 w 10000"/>
              <a:gd name="connsiteY123" fmla="*/ 4 h 10000"/>
              <a:gd name="connsiteX124" fmla="*/ 2947 w 10000"/>
              <a:gd name="connsiteY124" fmla="*/ 10 h 10000"/>
              <a:gd name="connsiteX125" fmla="*/ 2782 w 10000"/>
              <a:gd name="connsiteY125" fmla="*/ 22 h 10000"/>
              <a:gd name="connsiteX126" fmla="*/ 2615 w 10000"/>
              <a:gd name="connsiteY126" fmla="*/ 34 h 10000"/>
              <a:gd name="connsiteX127" fmla="*/ 2447 w 10000"/>
              <a:gd name="connsiteY127" fmla="*/ 48 h 10000"/>
              <a:gd name="connsiteX128" fmla="*/ 2280 w 10000"/>
              <a:gd name="connsiteY128" fmla="*/ 66 h 10000"/>
              <a:gd name="connsiteX129" fmla="*/ 2111 w 10000"/>
              <a:gd name="connsiteY129" fmla="*/ 90 h 10000"/>
              <a:gd name="connsiteX130" fmla="*/ 1942 w 10000"/>
              <a:gd name="connsiteY130" fmla="*/ 114 h 10000"/>
              <a:gd name="connsiteX131" fmla="*/ 1942 w 10000"/>
              <a:gd name="connsiteY131" fmla="*/ 114 h 10000"/>
              <a:gd name="connsiteX132" fmla="*/ 1782 w 10000"/>
              <a:gd name="connsiteY132" fmla="*/ 142 h 10000"/>
              <a:gd name="connsiteX133" fmla="*/ 1623 w 10000"/>
              <a:gd name="connsiteY133" fmla="*/ 176 h 10000"/>
              <a:gd name="connsiteX134" fmla="*/ 1466 w 10000"/>
              <a:gd name="connsiteY134" fmla="*/ 208 h 10000"/>
              <a:gd name="connsiteX135" fmla="*/ 1311 w 10000"/>
              <a:gd name="connsiteY135" fmla="*/ 244 h 10000"/>
              <a:gd name="connsiteX136" fmla="*/ 1157 w 10000"/>
              <a:gd name="connsiteY136" fmla="*/ 282 h 10000"/>
              <a:gd name="connsiteX137" fmla="*/ 1005 w 10000"/>
              <a:gd name="connsiteY137" fmla="*/ 324 h 10000"/>
              <a:gd name="connsiteX138" fmla="*/ 0 w 10000"/>
              <a:gd name="connsiteY138" fmla="*/ 684 h 10000"/>
              <a:gd name="connsiteX139" fmla="*/ 1072 w 10000"/>
              <a:gd name="connsiteY139" fmla="*/ 9698 h 10000"/>
              <a:gd name="connsiteX140" fmla="*/ 1227 w 10000"/>
              <a:gd name="connsiteY140" fmla="*/ 9738 h 10000"/>
              <a:gd name="connsiteX141" fmla="*/ 1386 w 10000"/>
              <a:gd name="connsiteY141" fmla="*/ 9778 h 10000"/>
              <a:gd name="connsiteX142" fmla="*/ 1545 w 10000"/>
              <a:gd name="connsiteY142" fmla="*/ 9814 h 10000"/>
              <a:gd name="connsiteX143" fmla="*/ 1708 w 10000"/>
              <a:gd name="connsiteY143" fmla="*/ 9846 h 10000"/>
              <a:gd name="connsiteX144" fmla="*/ 1870 w 10000"/>
              <a:gd name="connsiteY144" fmla="*/ 9874 h 10000"/>
              <a:gd name="connsiteX145" fmla="*/ 2032 w 10000"/>
              <a:gd name="connsiteY145" fmla="*/ 9902 h 10000"/>
              <a:gd name="connsiteX146" fmla="*/ 2197 w 10000"/>
              <a:gd name="connsiteY146" fmla="*/ 9926 h 10000"/>
              <a:gd name="connsiteX147" fmla="*/ 2362 w 10000"/>
              <a:gd name="connsiteY147" fmla="*/ 9946 h 10000"/>
              <a:gd name="connsiteX148" fmla="*/ 2529 w 10000"/>
              <a:gd name="connsiteY148" fmla="*/ 9962 h 10000"/>
              <a:gd name="connsiteX149" fmla="*/ 2700 w 10000"/>
              <a:gd name="connsiteY149" fmla="*/ 9978 h 10000"/>
              <a:gd name="connsiteX150" fmla="*/ 2867 w 10000"/>
              <a:gd name="connsiteY150" fmla="*/ 9988 h 10000"/>
              <a:gd name="connsiteX151" fmla="*/ 3038 w 10000"/>
              <a:gd name="connsiteY151" fmla="*/ 9996 h 10000"/>
              <a:gd name="connsiteX152" fmla="*/ 3205 w 10000"/>
              <a:gd name="connsiteY152" fmla="*/ 10000 h 10000"/>
              <a:gd name="connsiteX153" fmla="*/ 3378 w 10000"/>
              <a:gd name="connsiteY153" fmla="*/ 10000 h 10000"/>
              <a:gd name="connsiteX154" fmla="*/ 3548 w 10000"/>
              <a:gd name="connsiteY154" fmla="*/ 9998 h 10000"/>
              <a:gd name="connsiteX155" fmla="*/ 3724 w 10000"/>
              <a:gd name="connsiteY155" fmla="*/ 9994 h 10000"/>
              <a:gd name="connsiteX156" fmla="*/ 3893 w 10000"/>
              <a:gd name="connsiteY156" fmla="*/ 9986 h 10000"/>
              <a:gd name="connsiteX157" fmla="*/ 4069 w 10000"/>
              <a:gd name="connsiteY157" fmla="*/ 9974 h 10000"/>
              <a:gd name="connsiteX158" fmla="*/ 4242 w 10000"/>
              <a:gd name="connsiteY158" fmla="*/ 9956 h 10000"/>
              <a:gd name="connsiteX159" fmla="*/ 4415 w 10000"/>
              <a:gd name="connsiteY159" fmla="*/ 9938 h 10000"/>
              <a:gd name="connsiteX160" fmla="*/ 4591 w 10000"/>
              <a:gd name="connsiteY160" fmla="*/ 9912 h 10000"/>
              <a:gd name="connsiteX161" fmla="*/ 4766 w 10000"/>
              <a:gd name="connsiteY161" fmla="*/ 9888 h 10000"/>
              <a:gd name="connsiteX162" fmla="*/ 4766 w 10000"/>
              <a:gd name="connsiteY162" fmla="*/ 9888 h 10000"/>
              <a:gd name="connsiteX0" fmla="*/ 3761 w 8995"/>
              <a:gd name="connsiteY0" fmla="*/ 9888 h 10000"/>
              <a:gd name="connsiteX1" fmla="*/ 3761 w 8995"/>
              <a:gd name="connsiteY1" fmla="*/ 9888 h 10000"/>
              <a:gd name="connsiteX2" fmla="*/ 3926 w 8995"/>
              <a:gd name="connsiteY2" fmla="*/ 9856 h 10000"/>
              <a:gd name="connsiteX3" fmla="*/ 4091 w 8995"/>
              <a:gd name="connsiteY3" fmla="*/ 9826 h 10000"/>
              <a:gd name="connsiteX4" fmla="*/ 4253 w 8995"/>
              <a:gd name="connsiteY4" fmla="*/ 9792 h 10000"/>
              <a:gd name="connsiteX5" fmla="*/ 4416 w 8995"/>
              <a:gd name="connsiteY5" fmla="*/ 9754 h 10000"/>
              <a:gd name="connsiteX6" fmla="*/ 4573 w 8995"/>
              <a:gd name="connsiteY6" fmla="*/ 9712 h 10000"/>
              <a:gd name="connsiteX7" fmla="*/ 4732 w 8995"/>
              <a:gd name="connsiteY7" fmla="*/ 9670 h 10000"/>
              <a:gd name="connsiteX8" fmla="*/ 4886 w 8995"/>
              <a:gd name="connsiteY8" fmla="*/ 9622 h 10000"/>
              <a:gd name="connsiteX9" fmla="*/ 5040 w 8995"/>
              <a:gd name="connsiteY9" fmla="*/ 9574 h 10000"/>
              <a:gd name="connsiteX10" fmla="*/ 5189 w 8995"/>
              <a:gd name="connsiteY10" fmla="*/ 9524 h 10000"/>
              <a:gd name="connsiteX11" fmla="*/ 5336 w 8995"/>
              <a:gd name="connsiteY11" fmla="*/ 9468 h 10000"/>
              <a:gd name="connsiteX12" fmla="*/ 5484 w 8995"/>
              <a:gd name="connsiteY12" fmla="*/ 9412 h 10000"/>
              <a:gd name="connsiteX13" fmla="*/ 5626 w 8995"/>
              <a:gd name="connsiteY13" fmla="*/ 9352 h 10000"/>
              <a:gd name="connsiteX14" fmla="*/ 5766 w 8995"/>
              <a:gd name="connsiteY14" fmla="*/ 9290 h 10000"/>
              <a:gd name="connsiteX15" fmla="*/ 5907 w 8995"/>
              <a:gd name="connsiteY15" fmla="*/ 9224 h 10000"/>
              <a:gd name="connsiteX16" fmla="*/ 6043 w 8995"/>
              <a:gd name="connsiteY16" fmla="*/ 9160 h 10000"/>
              <a:gd name="connsiteX17" fmla="*/ 6176 w 8995"/>
              <a:gd name="connsiteY17" fmla="*/ 9090 h 10000"/>
              <a:gd name="connsiteX18" fmla="*/ 6307 w 8995"/>
              <a:gd name="connsiteY18" fmla="*/ 9018 h 10000"/>
              <a:gd name="connsiteX19" fmla="*/ 6433 w 8995"/>
              <a:gd name="connsiteY19" fmla="*/ 8944 h 10000"/>
              <a:gd name="connsiteX20" fmla="*/ 6559 w 8995"/>
              <a:gd name="connsiteY20" fmla="*/ 8868 h 10000"/>
              <a:gd name="connsiteX21" fmla="*/ 6684 w 8995"/>
              <a:gd name="connsiteY21" fmla="*/ 8792 h 10000"/>
              <a:gd name="connsiteX22" fmla="*/ 6804 w 8995"/>
              <a:gd name="connsiteY22" fmla="*/ 8712 h 10000"/>
              <a:gd name="connsiteX23" fmla="*/ 6923 w 8995"/>
              <a:gd name="connsiteY23" fmla="*/ 8628 h 10000"/>
              <a:gd name="connsiteX24" fmla="*/ 7037 w 8995"/>
              <a:gd name="connsiteY24" fmla="*/ 8544 h 10000"/>
              <a:gd name="connsiteX25" fmla="*/ 7147 w 8995"/>
              <a:gd name="connsiteY25" fmla="*/ 8458 h 10000"/>
              <a:gd name="connsiteX26" fmla="*/ 7258 w 8995"/>
              <a:gd name="connsiteY26" fmla="*/ 8370 h 10000"/>
              <a:gd name="connsiteX27" fmla="*/ 7365 w 8995"/>
              <a:gd name="connsiteY27" fmla="*/ 8282 h 10000"/>
              <a:gd name="connsiteX28" fmla="*/ 7466 w 8995"/>
              <a:gd name="connsiteY28" fmla="*/ 8190 h 10000"/>
              <a:gd name="connsiteX29" fmla="*/ 7567 w 8995"/>
              <a:gd name="connsiteY29" fmla="*/ 8098 h 10000"/>
              <a:gd name="connsiteX30" fmla="*/ 7665 w 8995"/>
              <a:gd name="connsiteY30" fmla="*/ 8002 h 10000"/>
              <a:gd name="connsiteX31" fmla="*/ 7758 w 8995"/>
              <a:gd name="connsiteY31" fmla="*/ 7906 h 10000"/>
              <a:gd name="connsiteX32" fmla="*/ 7848 w 8995"/>
              <a:gd name="connsiteY32" fmla="*/ 7806 h 10000"/>
              <a:gd name="connsiteX33" fmla="*/ 7937 w 8995"/>
              <a:gd name="connsiteY33" fmla="*/ 7706 h 10000"/>
              <a:gd name="connsiteX34" fmla="*/ 8022 w 8995"/>
              <a:gd name="connsiteY34" fmla="*/ 7604 h 10000"/>
              <a:gd name="connsiteX35" fmla="*/ 8104 w 8995"/>
              <a:gd name="connsiteY35" fmla="*/ 7500 h 10000"/>
              <a:gd name="connsiteX36" fmla="*/ 8181 w 8995"/>
              <a:gd name="connsiteY36" fmla="*/ 7398 h 10000"/>
              <a:gd name="connsiteX37" fmla="*/ 8256 w 8995"/>
              <a:gd name="connsiteY37" fmla="*/ 7292 h 10000"/>
              <a:gd name="connsiteX38" fmla="*/ 8328 w 8995"/>
              <a:gd name="connsiteY38" fmla="*/ 7182 h 10000"/>
              <a:gd name="connsiteX39" fmla="*/ 8396 w 8995"/>
              <a:gd name="connsiteY39" fmla="*/ 7074 h 10000"/>
              <a:gd name="connsiteX40" fmla="*/ 8461 w 8995"/>
              <a:gd name="connsiteY40" fmla="*/ 6964 h 10000"/>
              <a:gd name="connsiteX41" fmla="*/ 8522 w 8995"/>
              <a:gd name="connsiteY41" fmla="*/ 6854 h 10000"/>
              <a:gd name="connsiteX42" fmla="*/ 8580 w 8995"/>
              <a:gd name="connsiteY42" fmla="*/ 6740 h 10000"/>
              <a:gd name="connsiteX43" fmla="*/ 8633 w 8995"/>
              <a:gd name="connsiteY43" fmla="*/ 6626 h 10000"/>
              <a:gd name="connsiteX44" fmla="*/ 8684 w 8995"/>
              <a:gd name="connsiteY44" fmla="*/ 6512 h 10000"/>
              <a:gd name="connsiteX45" fmla="*/ 8729 w 8995"/>
              <a:gd name="connsiteY45" fmla="*/ 6396 h 10000"/>
              <a:gd name="connsiteX46" fmla="*/ 8775 w 8995"/>
              <a:gd name="connsiteY46" fmla="*/ 6280 h 10000"/>
              <a:gd name="connsiteX47" fmla="*/ 8814 w 8995"/>
              <a:gd name="connsiteY47" fmla="*/ 6164 h 10000"/>
              <a:gd name="connsiteX48" fmla="*/ 8852 w 8995"/>
              <a:gd name="connsiteY48" fmla="*/ 6044 h 10000"/>
              <a:gd name="connsiteX49" fmla="*/ 8881 w 8995"/>
              <a:gd name="connsiteY49" fmla="*/ 5926 h 10000"/>
              <a:gd name="connsiteX50" fmla="*/ 8908 w 8995"/>
              <a:gd name="connsiteY50" fmla="*/ 5804 h 10000"/>
              <a:gd name="connsiteX51" fmla="*/ 8934 w 8995"/>
              <a:gd name="connsiteY51" fmla="*/ 5684 h 10000"/>
              <a:gd name="connsiteX52" fmla="*/ 8955 w 8995"/>
              <a:gd name="connsiteY52" fmla="*/ 5562 h 10000"/>
              <a:gd name="connsiteX53" fmla="*/ 8971 w 8995"/>
              <a:gd name="connsiteY53" fmla="*/ 5440 h 10000"/>
              <a:gd name="connsiteX54" fmla="*/ 8981 w 8995"/>
              <a:gd name="connsiteY54" fmla="*/ 5316 h 10000"/>
              <a:gd name="connsiteX55" fmla="*/ 8992 w 8995"/>
              <a:gd name="connsiteY55" fmla="*/ 5196 h 10000"/>
              <a:gd name="connsiteX56" fmla="*/ 8995 w 8995"/>
              <a:gd name="connsiteY56" fmla="*/ 5072 h 10000"/>
              <a:gd name="connsiteX57" fmla="*/ 8995 w 8995"/>
              <a:gd name="connsiteY57" fmla="*/ 4948 h 10000"/>
              <a:gd name="connsiteX58" fmla="*/ 8992 w 8995"/>
              <a:gd name="connsiteY58" fmla="*/ 4822 h 10000"/>
              <a:gd name="connsiteX59" fmla="*/ 8981 w 8995"/>
              <a:gd name="connsiteY59" fmla="*/ 4698 h 10000"/>
              <a:gd name="connsiteX60" fmla="*/ 8971 w 8995"/>
              <a:gd name="connsiteY60" fmla="*/ 4572 h 10000"/>
              <a:gd name="connsiteX61" fmla="*/ 8955 w 8995"/>
              <a:gd name="connsiteY61" fmla="*/ 4444 h 10000"/>
              <a:gd name="connsiteX62" fmla="*/ 8932 w 8995"/>
              <a:gd name="connsiteY62" fmla="*/ 4318 h 10000"/>
              <a:gd name="connsiteX63" fmla="*/ 8908 w 8995"/>
              <a:gd name="connsiteY63" fmla="*/ 4192 h 10000"/>
              <a:gd name="connsiteX64" fmla="*/ 8878 w 8995"/>
              <a:gd name="connsiteY64" fmla="*/ 4066 h 10000"/>
              <a:gd name="connsiteX65" fmla="*/ 8843 w 8995"/>
              <a:gd name="connsiteY65" fmla="*/ 3940 h 10000"/>
              <a:gd name="connsiteX66" fmla="*/ 8843 w 8995"/>
              <a:gd name="connsiteY66" fmla="*/ 3940 h 10000"/>
              <a:gd name="connsiteX67" fmla="*/ 8804 w 8995"/>
              <a:gd name="connsiteY67" fmla="*/ 3816 h 10000"/>
              <a:gd name="connsiteX68" fmla="*/ 8761 w 8995"/>
              <a:gd name="connsiteY68" fmla="*/ 3692 h 10000"/>
              <a:gd name="connsiteX69" fmla="*/ 8715 w 8995"/>
              <a:gd name="connsiteY69" fmla="*/ 3568 h 10000"/>
              <a:gd name="connsiteX70" fmla="*/ 8665 w 8995"/>
              <a:gd name="connsiteY70" fmla="*/ 3446 h 10000"/>
              <a:gd name="connsiteX71" fmla="*/ 8612 w 8995"/>
              <a:gd name="connsiteY71" fmla="*/ 3328 h 10000"/>
              <a:gd name="connsiteX72" fmla="*/ 8551 w 8995"/>
              <a:gd name="connsiteY72" fmla="*/ 3208 h 10000"/>
              <a:gd name="connsiteX73" fmla="*/ 8493 w 8995"/>
              <a:gd name="connsiteY73" fmla="*/ 3092 h 10000"/>
              <a:gd name="connsiteX74" fmla="*/ 8428 w 8995"/>
              <a:gd name="connsiteY74" fmla="*/ 2976 h 10000"/>
              <a:gd name="connsiteX75" fmla="*/ 8357 w 8995"/>
              <a:gd name="connsiteY75" fmla="*/ 2864 h 10000"/>
              <a:gd name="connsiteX76" fmla="*/ 8288 w 8995"/>
              <a:gd name="connsiteY76" fmla="*/ 2754 h 10000"/>
              <a:gd name="connsiteX77" fmla="*/ 8210 w 8995"/>
              <a:gd name="connsiteY77" fmla="*/ 2642 h 10000"/>
              <a:gd name="connsiteX78" fmla="*/ 8131 w 8995"/>
              <a:gd name="connsiteY78" fmla="*/ 2536 h 10000"/>
              <a:gd name="connsiteX79" fmla="*/ 8048 w 8995"/>
              <a:gd name="connsiteY79" fmla="*/ 2430 h 10000"/>
              <a:gd name="connsiteX80" fmla="*/ 7963 w 8995"/>
              <a:gd name="connsiteY80" fmla="*/ 2324 h 10000"/>
              <a:gd name="connsiteX81" fmla="*/ 7875 w 8995"/>
              <a:gd name="connsiteY81" fmla="*/ 2222 h 10000"/>
              <a:gd name="connsiteX82" fmla="*/ 7782 w 8995"/>
              <a:gd name="connsiteY82" fmla="*/ 2122 h 10000"/>
              <a:gd name="connsiteX83" fmla="*/ 7689 w 8995"/>
              <a:gd name="connsiteY83" fmla="*/ 2024 h 10000"/>
              <a:gd name="connsiteX84" fmla="*/ 7590 w 8995"/>
              <a:gd name="connsiteY84" fmla="*/ 1928 h 10000"/>
              <a:gd name="connsiteX85" fmla="*/ 7490 w 8995"/>
              <a:gd name="connsiteY85" fmla="*/ 1834 h 10000"/>
              <a:gd name="connsiteX86" fmla="*/ 7386 w 8995"/>
              <a:gd name="connsiteY86" fmla="*/ 1740 h 10000"/>
              <a:gd name="connsiteX87" fmla="*/ 7283 w 8995"/>
              <a:gd name="connsiteY87" fmla="*/ 1648 h 10000"/>
              <a:gd name="connsiteX88" fmla="*/ 7170 w 8995"/>
              <a:gd name="connsiteY88" fmla="*/ 1560 h 10000"/>
              <a:gd name="connsiteX89" fmla="*/ 7059 w 8995"/>
              <a:gd name="connsiteY89" fmla="*/ 1474 h 10000"/>
              <a:gd name="connsiteX90" fmla="*/ 6945 w 8995"/>
              <a:gd name="connsiteY90" fmla="*/ 1392 h 10000"/>
              <a:gd name="connsiteX91" fmla="*/ 6827 w 8995"/>
              <a:gd name="connsiteY91" fmla="*/ 1308 h 10000"/>
              <a:gd name="connsiteX92" fmla="*/ 6711 w 8995"/>
              <a:gd name="connsiteY92" fmla="*/ 1226 h 10000"/>
              <a:gd name="connsiteX93" fmla="*/ 6585 w 8995"/>
              <a:gd name="connsiteY93" fmla="*/ 1150 h 10000"/>
              <a:gd name="connsiteX94" fmla="*/ 6464 w 8995"/>
              <a:gd name="connsiteY94" fmla="*/ 1076 h 10000"/>
              <a:gd name="connsiteX95" fmla="*/ 6338 w 8995"/>
              <a:gd name="connsiteY95" fmla="*/ 1002 h 10000"/>
              <a:gd name="connsiteX96" fmla="*/ 6208 w 8995"/>
              <a:gd name="connsiteY96" fmla="*/ 932 h 10000"/>
              <a:gd name="connsiteX97" fmla="*/ 6075 w 8995"/>
              <a:gd name="connsiteY97" fmla="*/ 862 h 10000"/>
              <a:gd name="connsiteX98" fmla="*/ 5945 w 8995"/>
              <a:gd name="connsiteY98" fmla="*/ 798 h 10000"/>
              <a:gd name="connsiteX99" fmla="*/ 5809 w 8995"/>
              <a:gd name="connsiteY99" fmla="*/ 734 h 10000"/>
              <a:gd name="connsiteX100" fmla="*/ 5673 w 8995"/>
              <a:gd name="connsiteY100" fmla="*/ 670 h 10000"/>
              <a:gd name="connsiteX101" fmla="*/ 5532 w 8995"/>
              <a:gd name="connsiteY101" fmla="*/ 612 h 10000"/>
              <a:gd name="connsiteX102" fmla="*/ 5389 w 8995"/>
              <a:gd name="connsiteY102" fmla="*/ 556 h 10000"/>
              <a:gd name="connsiteX103" fmla="*/ 5247 w 8995"/>
              <a:gd name="connsiteY103" fmla="*/ 504 h 10000"/>
              <a:gd name="connsiteX104" fmla="*/ 5104 w 8995"/>
              <a:gd name="connsiteY104" fmla="*/ 450 h 10000"/>
              <a:gd name="connsiteX105" fmla="*/ 4958 w 8995"/>
              <a:gd name="connsiteY105" fmla="*/ 402 h 10000"/>
              <a:gd name="connsiteX106" fmla="*/ 4812 w 8995"/>
              <a:gd name="connsiteY106" fmla="*/ 358 h 10000"/>
              <a:gd name="connsiteX107" fmla="*/ 4660 w 8995"/>
              <a:gd name="connsiteY107" fmla="*/ 314 h 10000"/>
              <a:gd name="connsiteX108" fmla="*/ 4508 w 8995"/>
              <a:gd name="connsiteY108" fmla="*/ 274 h 10000"/>
              <a:gd name="connsiteX109" fmla="*/ 4359 w 8995"/>
              <a:gd name="connsiteY109" fmla="*/ 236 h 10000"/>
              <a:gd name="connsiteX110" fmla="*/ 4202 w 8995"/>
              <a:gd name="connsiteY110" fmla="*/ 200 h 10000"/>
              <a:gd name="connsiteX111" fmla="*/ 4049 w 8995"/>
              <a:gd name="connsiteY111" fmla="*/ 168 h 10000"/>
              <a:gd name="connsiteX112" fmla="*/ 3894 w 8995"/>
              <a:gd name="connsiteY112" fmla="*/ 138 h 10000"/>
              <a:gd name="connsiteX113" fmla="*/ 3737 w 8995"/>
              <a:gd name="connsiteY113" fmla="*/ 110 h 10000"/>
              <a:gd name="connsiteX114" fmla="*/ 3578 w 8995"/>
              <a:gd name="connsiteY114" fmla="*/ 86 h 10000"/>
              <a:gd name="connsiteX115" fmla="*/ 3417 w 8995"/>
              <a:gd name="connsiteY115" fmla="*/ 66 h 10000"/>
              <a:gd name="connsiteX116" fmla="*/ 3255 w 8995"/>
              <a:gd name="connsiteY116" fmla="*/ 46 h 10000"/>
              <a:gd name="connsiteX117" fmla="*/ 3096 w 8995"/>
              <a:gd name="connsiteY117" fmla="*/ 32 h 10000"/>
              <a:gd name="connsiteX118" fmla="*/ 2934 w 8995"/>
              <a:gd name="connsiteY118" fmla="*/ 22 h 10000"/>
              <a:gd name="connsiteX119" fmla="*/ 2769 w 8995"/>
              <a:gd name="connsiteY119" fmla="*/ 10 h 10000"/>
              <a:gd name="connsiteX120" fmla="*/ 2605 w 8995"/>
              <a:gd name="connsiteY120" fmla="*/ 4 h 10000"/>
              <a:gd name="connsiteX121" fmla="*/ 2439 w 8995"/>
              <a:gd name="connsiteY121" fmla="*/ 0 h 10000"/>
              <a:gd name="connsiteX122" fmla="*/ 2274 w 8995"/>
              <a:gd name="connsiteY122" fmla="*/ 0 h 10000"/>
              <a:gd name="connsiteX123" fmla="*/ 2110 w 8995"/>
              <a:gd name="connsiteY123" fmla="*/ 4 h 10000"/>
              <a:gd name="connsiteX124" fmla="*/ 1942 w 8995"/>
              <a:gd name="connsiteY124" fmla="*/ 10 h 10000"/>
              <a:gd name="connsiteX125" fmla="*/ 1777 w 8995"/>
              <a:gd name="connsiteY125" fmla="*/ 22 h 10000"/>
              <a:gd name="connsiteX126" fmla="*/ 1610 w 8995"/>
              <a:gd name="connsiteY126" fmla="*/ 34 h 10000"/>
              <a:gd name="connsiteX127" fmla="*/ 1442 w 8995"/>
              <a:gd name="connsiteY127" fmla="*/ 48 h 10000"/>
              <a:gd name="connsiteX128" fmla="*/ 1275 w 8995"/>
              <a:gd name="connsiteY128" fmla="*/ 66 h 10000"/>
              <a:gd name="connsiteX129" fmla="*/ 1106 w 8995"/>
              <a:gd name="connsiteY129" fmla="*/ 90 h 10000"/>
              <a:gd name="connsiteX130" fmla="*/ 937 w 8995"/>
              <a:gd name="connsiteY130" fmla="*/ 114 h 10000"/>
              <a:gd name="connsiteX131" fmla="*/ 937 w 8995"/>
              <a:gd name="connsiteY131" fmla="*/ 114 h 10000"/>
              <a:gd name="connsiteX132" fmla="*/ 777 w 8995"/>
              <a:gd name="connsiteY132" fmla="*/ 142 h 10000"/>
              <a:gd name="connsiteX133" fmla="*/ 618 w 8995"/>
              <a:gd name="connsiteY133" fmla="*/ 176 h 10000"/>
              <a:gd name="connsiteX134" fmla="*/ 461 w 8995"/>
              <a:gd name="connsiteY134" fmla="*/ 208 h 10000"/>
              <a:gd name="connsiteX135" fmla="*/ 306 w 8995"/>
              <a:gd name="connsiteY135" fmla="*/ 244 h 10000"/>
              <a:gd name="connsiteX136" fmla="*/ 152 w 8995"/>
              <a:gd name="connsiteY136" fmla="*/ 282 h 10000"/>
              <a:gd name="connsiteX137" fmla="*/ 0 w 8995"/>
              <a:gd name="connsiteY137" fmla="*/ 324 h 10000"/>
              <a:gd name="connsiteX138" fmla="*/ 67 w 8995"/>
              <a:gd name="connsiteY138" fmla="*/ 9698 h 10000"/>
              <a:gd name="connsiteX139" fmla="*/ 222 w 8995"/>
              <a:gd name="connsiteY139" fmla="*/ 9738 h 10000"/>
              <a:gd name="connsiteX140" fmla="*/ 381 w 8995"/>
              <a:gd name="connsiteY140" fmla="*/ 9778 h 10000"/>
              <a:gd name="connsiteX141" fmla="*/ 540 w 8995"/>
              <a:gd name="connsiteY141" fmla="*/ 9814 h 10000"/>
              <a:gd name="connsiteX142" fmla="*/ 703 w 8995"/>
              <a:gd name="connsiteY142" fmla="*/ 9846 h 10000"/>
              <a:gd name="connsiteX143" fmla="*/ 865 w 8995"/>
              <a:gd name="connsiteY143" fmla="*/ 9874 h 10000"/>
              <a:gd name="connsiteX144" fmla="*/ 1027 w 8995"/>
              <a:gd name="connsiteY144" fmla="*/ 9902 h 10000"/>
              <a:gd name="connsiteX145" fmla="*/ 1192 w 8995"/>
              <a:gd name="connsiteY145" fmla="*/ 9926 h 10000"/>
              <a:gd name="connsiteX146" fmla="*/ 1357 w 8995"/>
              <a:gd name="connsiteY146" fmla="*/ 9946 h 10000"/>
              <a:gd name="connsiteX147" fmla="*/ 1524 w 8995"/>
              <a:gd name="connsiteY147" fmla="*/ 9962 h 10000"/>
              <a:gd name="connsiteX148" fmla="*/ 1695 w 8995"/>
              <a:gd name="connsiteY148" fmla="*/ 9978 h 10000"/>
              <a:gd name="connsiteX149" fmla="*/ 1862 w 8995"/>
              <a:gd name="connsiteY149" fmla="*/ 9988 h 10000"/>
              <a:gd name="connsiteX150" fmla="*/ 2033 w 8995"/>
              <a:gd name="connsiteY150" fmla="*/ 9996 h 10000"/>
              <a:gd name="connsiteX151" fmla="*/ 2200 w 8995"/>
              <a:gd name="connsiteY151" fmla="*/ 10000 h 10000"/>
              <a:gd name="connsiteX152" fmla="*/ 2373 w 8995"/>
              <a:gd name="connsiteY152" fmla="*/ 10000 h 10000"/>
              <a:gd name="connsiteX153" fmla="*/ 2543 w 8995"/>
              <a:gd name="connsiteY153" fmla="*/ 9998 h 10000"/>
              <a:gd name="connsiteX154" fmla="*/ 2719 w 8995"/>
              <a:gd name="connsiteY154" fmla="*/ 9994 h 10000"/>
              <a:gd name="connsiteX155" fmla="*/ 2888 w 8995"/>
              <a:gd name="connsiteY155" fmla="*/ 9986 h 10000"/>
              <a:gd name="connsiteX156" fmla="*/ 3064 w 8995"/>
              <a:gd name="connsiteY156" fmla="*/ 9974 h 10000"/>
              <a:gd name="connsiteX157" fmla="*/ 3237 w 8995"/>
              <a:gd name="connsiteY157" fmla="*/ 9956 h 10000"/>
              <a:gd name="connsiteX158" fmla="*/ 3410 w 8995"/>
              <a:gd name="connsiteY158" fmla="*/ 9938 h 10000"/>
              <a:gd name="connsiteX159" fmla="*/ 3586 w 8995"/>
              <a:gd name="connsiteY159" fmla="*/ 9912 h 10000"/>
              <a:gd name="connsiteX160" fmla="*/ 3761 w 8995"/>
              <a:gd name="connsiteY160" fmla="*/ 9888 h 10000"/>
              <a:gd name="connsiteX161" fmla="*/ 3761 w 8995"/>
              <a:gd name="connsiteY161" fmla="*/ 988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995" h="10000">
                <a:moveTo>
                  <a:pt x="3761" y="9888"/>
                </a:moveTo>
                <a:lnTo>
                  <a:pt x="3761" y="9888"/>
                </a:lnTo>
                <a:lnTo>
                  <a:pt x="3926" y="9856"/>
                </a:lnTo>
                <a:lnTo>
                  <a:pt x="4091" y="9826"/>
                </a:lnTo>
                <a:lnTo>
                  <a:pt x="4253" y="9792"/>
                </a:lnTo>
                <a:lnTo>
                  <a:pt x="4416" y="9754"/>
                </a:lnTo>
                <a:lnTo>
                  <a:pt x="4573" y="9712"/>
                </a:lnTo>
                <a:lnTo>
                  <a:pt x="4732" y="9670"/>
                </a:lnTo>
                <a:lnTo>
                  <a:pt x="4886" y="9622"/>
                </a:lnTo>
                <a:lnTo>
                  <a:pt x="5040" y="9574"/>
                </a:lnTo>
                <a:lnTo>
                  <a:pt x="5189" y="9524"/>
                </a:lnTo>
                <a:lnTo>
                  <a:pt x="5336" y="9468"/>
                </a:lnTo>
                <a:lnTo>
                  <a:pt x="5484" y="9412"/>
                </a:lnTo>
                <a:lnTo>
                  <a:pt x="5626" y="9352"/>
                </a:lnTo>
                <a:lnTo>
                  <a:pt x="5766" y="9290"/>
                </a:lnTo>
                <a:lnTo>
                  <a:pt x="5907" y="9224"/>
                </a:lnTo>
                <a:lnTo>
                  <a:pt x="6043" y="9160"/>
                </a:lnTo>
                <a:lnTo>
                  <a:pt x="6176" y="9090"/>
                </a:lnTo>
                <a:lnTo>
                  <a:pt x="6307" y="9018"/>
                </a:lnTo>
                <a:lnTo>
                  <a:pt x="6433" y="8944"/>
                </a:lnTo>
                <a:lnTo>
                  <a:pt x="6559" y="8868"/>
                </a:lnTo>
                <a:cubicBezTo>
                  <a:pt x="6601" y="8843"/>
                  <a:pt x="6642" y="8817"/>
                  <a:pt x="6684" y="8792"/>
                </a:cubicBezTo>
                <a:cubicBezTo>
                  <a:pt x="6723" y="8765"/>
                  <a:pt x="6764" y="8739"/>
                  <a:pt x="6804" y="8712"/>
                </a:cubicBezTo>
                <a:lnTo>
                  <a:pt x="6923" y="8628"/>
                </a:lnTo>
                <a:lnTo>
                  <a:pt x="7037" y="8544"/>
                </a:lnTo>
                <a:lnTo>
                  <a:pt x="7147" y="8458"/>
                </a:lnTo>
                <a:cubicBezTo>
                  <a:pt x="7184" y="8429"/>
                  <a:pt x="7220" y="8399"/>
                  <a:pt x="7258" y="8370"/>
                </a:cubicBezTo>
                <a:cubicBezTo>
                  <a:pt x="7294" y="8341"/>
                  <a:pt x="7329" y="8311"/>
                  <a:pt x="7365" y="8282"/>
                </a:cubicBezTo>
                <a:cubicBezTo>
                  <a:pt x="7398" y="8251"/>
                  <a:pt x="7432" y="8221"/>
                  <a:pt x="7466" y="8190"/>
                </a:cubicBezTo>
                <a:cubicBezTo>
                  <a:pt x="7499" y="8159"/>
                  <a:pt x="7533" y="8129"/>
                  <a:pt x="7567" y="8098"/>
                </a:cubicBezTo>
                <a:lnTo>
                  <a:pt x="7665" y="8002"/>
                </a:lnTo>
                <a:cubicBezTo>
                  <a:pt x="7697" y="7970"/>
                  <a:pt x="7727" y="7938"/>
                  <a:pt x="7758" y="7906"/>
                </a:cubicBezTo>
                <a:cubicBezTo>
                  <a:pt x="7788" y="7873"/>
                  <a:pt x="7818" y="7839"/>
                  <a:pt x="7848" y="7806"/>
                </a:cubicBezTo>
                <a:cubicBezTo>
                  <a:pt x="7878" y="7773"/>
                  <a:pt x="7907" y="7739"/>
                  <a:pt x="7937" y="7706"/>
                </a:cubicBezTo>
                <a:cubicBezTo>
                  <a:pt x="7965" y="7672"/>
                  <a:pt x="7994" y="7638"/>
                  <a:pt x="8022" y="7604"/>
                </a:cubicBezTo>
                <a:cubicBezTo>
                  <a:pt x="8049" y="7569"/>
                  <a:pt x="8077" y="7535"/>
                  <a:pt x="8104" y="7500"/>
                </a:cubicBezTo>
                <a:cubicBezTo>
                  <a:pt x="8130" y="7466"/>
                  <a:pt x="8155" y="7432"/>
                  <a:pt x="8181" y="7398"/>
                </a:cubicBezTo>
                <a:cubicBezTo>
                  <a:pt x="8206" y="7363"/>
                  <a:pt x="8231" y="7327"/>
                  <a:pt x="8256" y="7292"/>
                </a:cubicBezTo>
                <a:cubicBezTo>
                  <a:pt x="8280" y="7255"/>
                  <a:pt x="8304" y="7219"/>
                  <a:pt x="8328" y="7182"/>
                </a:cubicBezTo>
                <a:cubicBezTo>
                  <a:pt x="8351" y="7146"/>
                  <a:pt x="8373" y="7110"/>
                  <a:pt x="8396" y="7074"/>
                </a:cubicBezTo>
                <a:cubicBezTo>
                  <a:pt x="8418" y="7037"/>
                  <a:pt x="8439" y="7001"/>
                  <a:pt x="8461" y="6964"/>
                </a:cubicBezTo>
                <a:cubicBezTo>
                  <a:pt x="8481" y="6927"/>
                  <a:pt x="8501" y="6891"/>
                  <a:pt x="8522" y="6854"/>
                </a:cubicBezTo>
                <a:cubicBezTo>
                  <a:pt x="8542" y="6816"/>
                  <a:pt x="8560" y="6778"/>
                  <a:pt x="8580" y="6740"/>
                </a:cubicBezTo>
                <a:cubicBezTo>
                  <a:pt x="8598" y="6702"/>
                  <a:pt x="8615" y="6664"/>
                  <a:pt x="8633" y="6626"/>
                </a:cubicBezTo>
                <a:cubicBezTo>
                  <a:pt x="8650" y="6588"/>
                  <a:pt x="8668" y="6550"/>
                  <a:pt x="8684" y="6512"/>
                </a:cubicBezTo>
                <a:cubicBezTo>
                  <a:pt x="8699" y="6473"/>
                  <a:pt x="8714" y="6435"/>
                  <a:pt x="8729" y="6396"/>
                </a:cubicBezTo>
                <a:cubicBezTo>
                  <a:pt x="8744" y="6357"/>
                  <a:pt x="8759" y="6319"/>
                  <a:pt x="8775" y="6280"/>
                </a:cubicBezTo>
                <a:cubicBezTo>
                  <a:pt x="8788" y="6241"/>
                  <a:pt x="8801" y="6203"/>
                  <a:pt x="8814" y="6164"/>
                </a:cubicBezTo>
                <a:cubicBezTo>
                  <a:pt x="8827" y="6124"/>
                  <a:pt x="8839" y="6084"/>
                  <a:pt x="8852" y="6044"/>
                </a:cubicBezTo>
                <a:cubicBezTo>
                  <a:pt x="8861" y="6005"/>
                  <a:pt x="8871" y="5965"/>
                  <a:pt x="8881" y="5926"/>
                </a:cubicBezTo>
                <a:cubicBezTo>
                  <a:pt x="8890" y="5885"/>
                  <a:pt x="8898" y="5845"/>
                  <a:pt x="8908" y="5804"/>
                </a:cubicBezTo>
                <a:cubicBezTo>
                  <a:pt x="8916" y="5764"/>
                  <a:pt x="8925" y="5724"/>
                  <a:pt x="8934" y="5684"/>
                </a:cubicBezTo>
                <a:cubicBezTo>
                  <a:pt x="8941" y="5643"/>
                  <a:pt x="8948" y="5603"/>
                  <a:pt x="8955" y="5562"/>
                </a:cubicBezTo>
                <a:cubicBezTo>
                  <a:pt x="8961" y="5521"/>
                  <a:pt x="8966" y="5481"/>
                  <a:pt x="8971" y="5440"/>
                </a:cubicBezTo>
                <a:cubicBezTo>
                  <a:pt x="8974" y="5399"/>
                  <a:pt x="8978" y="5357"/>
                  <a:pt x="8981" y="5316"/>
                </a:cubicBezTo>
                <a:cubicBezTo>
                  <a:pt x="8985" y="5276"/>
                  <a:pt x="8989" y="5236"/>
                  <a:pt x="8992" y="5196"/>
                </a:cubicBezTo>
                <a:cubicBezTo>
                  <a:pt x="8993" y="5155"/>
                  <a:pt x="8994" y="5113"/>
                  <a:pt x="8995" y="5072"/>
                </a:cubicBezTo>
                <a:lnTo>
                  <a:pt x="8995" y="4948"/>
                </a:lnTo>
                <a:lnTo>
                  <a:pt x="8992" y="4822"/>
                </a:lnTo>
                <a:cubicBezTo>
                  <a:pt x="8989" y="4781"/>
                  <a:pt x="8985" y="4739"/>
                  <a:pt x="8981" y="4698"/>
                </a:cubicBezTo>
                <a:cubicBezTo>
                  <a:pt x="8978" y="4656"/>
                  <a:pt x="8974" y="4614"/>
                  <a:pt x="8971" y="4572"/>
                </a:cubicBezTo>
                <a:cubicBezTo>
                  <a:pt x="8966" y="4529"/>
                  <a:pt x="8961" y="4487"/>
                  <a:pt x="8955" y="4444"/>
                </a:cubicBezTo>
                <a:cubicBezTo>
                  <a:pt x="8947" y="4402"/>
                  <a:pt x="8940" y="4360"/>
                  <a:pt x="8932" y="4318"/>
                </a:cubicBezTo>
                <a:cubicBezTo>
                  <a:pt x="8923" y="4276"/>
                  <a:pt x="8916" y="4234"/>
                  <a:pt x="8908" y="4192"/>
                </a:cubicBezTo>
                <a:cubicBezTo>
                  <a:pt x="8897" y="4150"/>
                  <a:pt x="8888" y="4108"/>
                  <a:pt x="8878" y="4066"/>
                </a:cubicBezTo>
                <a:cubicBezTo>
                  <a:pt x="8866" y="4024"/>
                  <a:pt x="8855" y="3982"/>
                  <a:pt x="8843" y="3940"/>
                </a:cubicBezTo>
                <a:lnTo>
                  <a:pt x="8843" y="3940"/>
                </a:lnTo>
                <a:cubicBezTo>
                  <a:pt x="8830" y="3899"/>
                  <a:pt x="8817" y="3857"/>
                  <a:pt x="8804" y="3816"/>
                </a:cubicBezTo>
                <a:cubicBezTo>
                  <a:pt x="8789" y="3775"/>
                  <a:pt x="8776" y="3733"/>
                  <a:pt x="8761" y="3692"/>
                </a:cubicBezTo>
                <a:cubicBezTo>
                  <a:pt x="8745" y="3651"/>
                  <a:pt x="8731" y="3609"/>
                  <a:pt x="8715" y="3568"/>
                </a:cubicBezTo>
                <a:cubicBezTo>
                  <a:pt x="8699" y="3527"/>
                  <a:pt x="8682" y="3487"/>
                  <a:pt x="8665" y="3446"/>
                </a:cubicBezTo>
                <a:cubicBezTo>
                  <a:pt x="8648" y="3407"/>
                  <a:pt x="8630" y="3367"/>
                  <a:pt x="8612" y="3328"/>
                </a:cubicBezTo>
                <a:cubicBezTo>
                  <a:pt x="8592" y="3288"/>
                  <a:pt x="8572" y="3248"/>
                  <a:pt x="8551" y="3208"/>
                </a:cubicBezTo>
                <a:cubicBezTo>
                  <a:pt x="8531" y="3169"/>
                  <a:pt x="8513" y="3131"/>
                  <a:pt x="8493" y="3092"/>
                </a:cubicBezTo>
                <a:cubicBezTo>
                  <a:pt x="8471" y="3053"/>
                  <a:pt x="8450" y="3015"/>
                  <a:pt x="8428" y="2976"/>
                </a:cubicBezTo>
                <a:cubicBezTo>
                  <a:pt x="8405" y="2939"/>
                  <a:pt x="8381" y="2901"/>
                  <a:pt x="8357" y="2864"/>
                </a:cubicBezTo>
                <a:cubicBezTo>
                  <a:pt x="8334" y="2827"/>
                  <a:pt x="8311" y="2791"/>
                  <a:pt x="8288" y="2754"/>
                </a:cubicBezTo>
                <a:cubicBezTo>
                  <a:pt x="8262" y="2717"/>
                  <a:pt x="8236" y="2679"/>
                  <a:pt x="8210" y="2642"/>
                </a:cubicBezTo>
                <a:lnTo>
                  <a:pt x="8131" y="2536"/>
                </a:lnTo>
                <a:cubicBezTo>
                  <a:pt x="8103" y="2501"/>
                  <a:pt x="8076" y="2465"/>
                  <a:pt x="8048" y="2430"/>
                </a:cubicBezTo>
                <a:lnTo>
                  <a:pt x="7963" y="2324"/>
                </a:lnTo>
                <a:cubicBezTo>
                  <a:pt x="7934" y="2290"/>
                  <a:pt x="7904" y="2256"/>
                  <a:pt x="7875" y="2222"/>
                </a:cubicBezTo>
                <a:cubicBezTo>
                  <a:pt x="7844" y="2189"/>
                  <a:pt x="7813" y="2155"/>
                  <a:pt x="7782" y="2122"/>
                </a:cubicBezTo>
                <a:cubicBezTo>
                  <a:pt x="7751" y="2089"/>
                  <a:pt x="7720" y="2057"/>
                  <a:pt x="7689" y="2024"/>
                </a:cubicBezTo>
                <a:cubicBezTo>
                  <a:pt x="7656" y="1992"/>
                  <a:pt x="7624" y="1960"/>
                  <a:pt x="7590" y="1928"/>
                </a:cubicBezTo>
                <a:lnTo>
                  <a:pt x="7490" y="1834"/>
                </a:lnTo>
                <a:cubicBezTo>
                  <a:pt x="7455" y="1803"/>
                  <a:pt x="7421" y="1771"/>
                  <a:pt x="7386" y="1740"/>
                </a:cubicBezTo>
                <a:cubicBezTo>
                  <a:pt x="7352" y="1709"/>
                  <a:pt x="7317" y="1679"/>
                  <a:pt x="7283" y="1648"/>
                </a:cubicBezTo>
                <a:cubicBezTo>
                  <a:pt x="7245" y="1619"/>
                  <a:pt x="7208" y="1589"/>
                  <a:pt x="7170" y="1560"/>
                </a:cubicBezTo>
                <a:lnTo>
                  <a:pt x="7059" y="1474"/>
                </a:lnTo>
                <a:lnTo>
                  <a:pt x="6945" y="1392"/>
                </a:lnTo>
                <a:lnTo>
                  <a:pt x="6827" y="1308"/>
                </a:lnTo>
                <a:cubicBezTo>
                  <a:pt x="6788" y="1281"/>
                  <a:pt x="6750" y="1253"/>
                  <a:pt x="6711" y="1226"/>
                </a:cubicBezTo>
                <a:lnTo>
                  <a:pt x="6585" y="1150"/>
                </a:lnTo>
                <a:cubicBezTo>
                  <a:pt x="6545" y="1125"/>
                  <a:pt x="6504" y="1101"/>
                  <a:pt x="6464" y="1076"/>
                </a:cubicBezTo>
                <a:cubicBezTo>
                  <a:pt x="6422" y="1051"/>
                  <a:pt x="6379" y="1027"/>
                  <a:pt x="6338" y="1002"/>
                </a:cubicBezTo>
                <a:cubicBezTo>
                  <a:pt x="6294" y="979"/>
                  <a:pt x="6251" y="955"/>
                  <a:pt x="6208" y="932"/>
                </a:cubicBezTo>
                <a:cubicBezTo>
                  <a:pt x="6163" y="909"/>
                  <a:pt x="6119" y="885"/>
                  <a:pt x="6075" y="862"/>
                </a:cubicBezTo>
                <a:cubicBezTo>
                  <a:pt x="6031" y="841"/>
                  <a:pt x="5988" y="819"/>
                  <a:pt x="5945" y="798"/>
                </a:cubicBezTo>
                <a:cubicBezTo>
                  <a:pt x="5899" y="777"/>
                  <a:pt x="5854" y="755"/>
                  <a:pt x="5809" y="734"/>
                </a:cubicBezTo>
                <a:lnTo>
                  <a:pt x="5673" y="670"/>
                </a:lnTo>
                <a:lnTo>
                  <a:pt x="5532" y="612"/>
                </a:lnTo>
                <a:lnTo>
                  <a:pt x="5389" y="556"/>
                </a:lnTo>
                <a:lnTo>
                  <a:pt x="5247" y="504"/>
                </a:lnTo>
                <a:lnTo>
                  <a:pt x="5104" y="450"/>
                </a:lnTo>
                <a:lnTo>
                  <a:pt x="4958" y="402"/>
                </a:lnTo>
                <a:lnTo>
                  <a:pt x="4812" y="358"/>
                </a:lnTo>
                <a:lnTo>
                  <a:pt x="4660" y="314"/>
                </a:lnTo>
                <a:lnTo>
                  <a:pt x="4508" y="274"/>
                </a:lnTo>
                <a:lnTo>
                  <a:pt x="4359" y="236"/>
                </a:lnTo>
                <a:lnTo>
                  <a:pt x="4202" y="200"/>
                </a:lnTo>
                <a:lnTo>
                  <a:pt x="4049" y="168"/>
                </a:lnTo>
                <a:lnTo>
                  <a:pt x="3894" y="138"/>
                </a:lnTo>
                <a:lnTo>
                  <a:pt x="3737" y="110"/>
                </a:lnTo>
                <a:lnTo>
                  <a:pt x="3578" y="86"/>
                </a:lnTo>
                <a:lnTo>
                  <a:pt x="3417" y="66"/>
                </a:lnTo>
                <a:lnTo>
                  <a:pt x="3255" y="46"/>
                </a:lnTo>
                <a:lnTo>
                  <a:pt x="3096" y="32"/>
                </a:lnTo>
                <a:lnTo>
                  <a:pt x="2934" y="22"/>
                </a:lnTo>
                <a:lnTo>
                  <a:pt x="2769" y="10"/>
                </a:lnTo>
                <a:lnTo>
                  <a:pt x="2605" y="4"/>
                </a:lnTo>
                <a:lnTo>
                  <a:pt x="2439" y="0"/>
                </a:lnTo>
                <a:lnTo>
                  <a:pt x="2274" y="0"/>
                </a:lnTo>
                <a:lnTo>
                  <a:pt x="2110" y="4"/>
                </a:lnTo>
                <a:lnTo>
                  <a:pt x="1942" y="10"/>
                </a:lnTo>
                <a:lnTo>
                  <a:pt x="1777" y="22"/>
                </a:lnTo>
                <a:lnTo>
                  <a:pt x="1610" y="34"/>
                </a:lnTo>
                <a:lnTo>
                  <a:pt x="1442" y="48"/>
                </a:lnTo>
                <a:lnTo>
                  <a:pt x="1275" y="66"/>
                </a:lnTo>
                <a:lnTo>
                  <a:pt x="1106" y="90"/>
                </a:lnTo>
                <a:lnTo>
                  <a:pt x="937" y="114"/>
                </a:lnTo>
                <a:lnTo>
                  <a:pt x="937" y="114"/>
                </a:lnTo>
                <a:lnTo>
                  <a:pt x="777" y="142"/>
                </a:lnTo>
                <a:lnTo>
                  <a:pt x="618" y="176"/>
                </a:lnTo>
                <a:lnTo>
                  <a:pt x="461" y="208"/>
                </a:lnTo>
                <a:lnTo>
                  <a:pt x="306" y="244"/>
                </a:lnTo>
                <a:lnTo>
                  <a:pt x="152" y="282"/>
                </a:lnTo>
                <a:lnTo>
                  <a:pt x="0" y="324"/>
                </a:lnTo>
                <a:cubicBezTo>
                  <a:pt x="22" y="3449"/>
                  <a:pt x="45" y="6573"/>
                  <a:pt x="67" y="9698"/>
                </a:cubicBezTo>
                <a:lnTo>
                  <a:pt x="222" y="9738"/>
                </a:lnTo>
                <a:lnTo>
                  <a:pt x="381" y="9778"/>
                </a:lnTo>
                <a:lnTo>
                  <a:pt x="540" y="9814"/>
                </a:lnTo>
                <a:lnTo>
                  <a:pt x="703" y="9846"/>
                </a:lnTo>
                <a:lnTo>
                  <a:pt x="865" y="9874"/>
                </a:lnTo>
                <a:lnTo>
                  <a:pt x="1027" y="9902"/>
                </a:lnTo>
                <a:lnTo>
                  <a:pt x="1192" y="9926"/>
                </a:lnTo>
                <a:lnTo>
                  <a:pt x="1357" y="9946"/>
                </a:lnTo>
                <a:lnTo>
                  <a:pt x="1524" y="9962"/>
                </a:lnTo>
                <a:lnTo>
                  <a:pt x="1695" y="9978"/>
                </a:lnTo>
                <a:lnTo>
                  <a:pt x="1862" y="9988"/>
                </a:lnTo>
                <a:lnTo>
                  <a:pt x="2033" y="9996"/>
                </a:lnTo>
                <a:lnTo>
                  <a:pt x="2200" y="10000"/>
                </a:lnTo>
                <a:lnTo>
                  <a:pt x="2373" y="10000"/>
                </a:lnTo>
                <a:lnTo>
                  <a:pt x="2543" y="9998"/>
                </a:lnTo>
                <a:lnTo>
                  <a:pt x="2719" y="9994"/>
                </a:lnTo>
                <a:lnTo>
                  <a:pt x="2888" y="9986"/>
                </a:lnTo>
                <a:lnTo>
                  <a:pt x="3064" y="9974"/>
                </a:lnTo>
                <a:lnTo>
                  <a:pt x="3237" y="9956"/>
                </a:lnTo>
                <a:lnTo>
                  <a:pt x="3410" y="9938"/>
                </a:lnTo>
                <a:lnTo>
                  <a:pt x="3586" y="9912"/>
                </a:lnTo>
                <a:lnTo>
                  <a:pt x="3761" y="9888"/>
                </a:lnTo>
                <a:lnTo>
                  <a:pt x="3761" y="9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71" name="AutoShape 3"/>
          <p:cNvSpPr>
            <a:spLocks noChangeAspect="1" noChangeArrowheads="1" noTextEdit="1"/>
          </p:cNvSpPr>
          <p:nvPr/>
        </p:nvSpPr>
        <p:spPr bwMode="auto">
          <a:xfrm>
            <a:off x="624883" y="1594077"/>
            <a:ext cx="4229554" cy="48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defTabSz="1018848"/>
            <a:endParaRPr lang="en-US" dirty="0">
              <a:solidFill>
                <a:prstClr val="black"/>
              </a:solidFill>
              <a:latin typeface="Verdana"/>
            </a:endParaRPr>
          </a:p>
        </p:txBody>
      </p:sp>
      <p:sp>
        <p:nvSpPr>
          <p:cNvPr id="72" name="Freeform 24"/>
          <p:cNvSpPr>
            <a:spLocks/>
          </p:cNvSpPr>
          <p:nvPr/>
        </p:nvSpPr>
        <p:spPr bwMode="auto">
          <a:xfrm>
            <a:off x="985902" y="2174755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74" name="Freeform 24"/>
          <p:cNvSpPr>
            <a:spLocks/>
          </p:cNvSpPr>
          <p:nvPr/>
        </p:nvSpPr>
        <p:spPr bwMode="auto">
          <a:xfrm flipV="1">
            <a:off x="1085778" y="4308261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75" name="Freeform 24"/>
          <p:cNvSpPr>
            <a:spLocks/>
          </p:cNvSpPr>
          <p:nvPr/>
        </p:nvSpPr>
        <p:spPr bwMode="auto">
          <a:xfrm rot="2592155">
            <a:off x="1424188" y="3278439"/>
            <a:ext cx="1889823" cy="1485573"/>
          </a:xfrm>
          <a:custGeom>
            <a:avLst/>
            <a:gdLst>
              <a:gd name="T0" fmla="*/ 1364 w 1964"/>
              <a:gd name="T1" fmla="*/ 0 h 1926"/>
              <a:gd name="T2" fmla="*/ 0 w 1964"/>
              <a:gd name="T3" fmla="*/ 1670 h 1926"/>
              <a:gd name="T4" fmla="*/ 256 w 1964"/>
              <a:gd name="T5" fmla="*/ 1926 h 1926"/>
              <a:gd name="T6" fmla="*/ 1964 w 1964"/>
              <a:gd name="T7" fmla="*/ 604 h 1926"/>
              <a:gd name="T8" fmla="*/ 1876 w 1964"/>
              <a:gd name="T9" fmla="*/ 92 h 1926"/>
              <a:gd name="T10" fmla="*/ 1364 w 1964"/>
              <a:gd name="T11" fmla="*/ 0 h 1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4" h="1926">
                <a:moveTo>
                  <a:pt x="1364" y="0"/>
                </a:moveTo>
                <a:lnTo>
                  <a:pt x="0" y="1670"/>
                </a:lnTo>
                <a:lnTo>
                  <a:pt x="256" y="1926"/>
                </a:lnTo>
                <a:lnTo>
                  <a:pt x="1964" y="604"/>
                </a:lnTo>
                <a:lnTo>
                  <a:pt x="1876" y="92"/>
                </a:lnTo>
                <a:lnTo>
                  <a:pt x="1364" y="0"/>
                </a:lnTo>
                <a:close/>
              </a:path>
            </a:pathLst>
          </a:custGeom>
          <a:solidFill>
            <a:srgbClr val="62B5E5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70" tIns="50935" rIns="101870" bIns="5093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543611" y="3405421"/>
            <a:ext cx="1537487" cy="1232452"/>
          </a:xfrm>
          <a:prstGeom prst="ellipse">
            <a:avLst/>
          </a:prstGeom>
          <a:gradFill flip="none" rotWithShape="1">
            <a:gsLst>
              <a:gs pos="0">
                <a:srgbClr val="575757">
                  <a:tint val="66000"/>
                  <a:satMod val="160000"/>
                </a:srgbClr>
              </a:gs>
              <a:gs pos="50000">
                <a:srgbClr val="575757">
                  <a:tint val="44500"/>
                  <a:satMod val="160000"/>
                </a:srgbClr>
              </a:gs>
              <a:gs pos="100000">
                <a:srgbClr val="575757">
                  <a:tint val="23500"/>
                  <a:satMod val="160000"/>
                </a:srgbClr>
              </a:gs>
            </a:gsLst>
            <a:lin ang="0" scaled="1"/>
            <a:tileRect/>
          </a:gradFill>
          <a:ln w="127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723715" y="3549793"/>
            <a:ext cx="1177281" cy="943710"/>
          </a:xfrm>
          <a:prstGeom prst="ellipse">
            <a:avLst/>
          </a:prstGeom>
          <a:gradFill flip="none" rotWithShape="1">
            <a:gsLst>
              <a:gs pos="0">
                <a:srgbClr val="575757">
                  <a:shade val="30000"/>
                  <a:satMod val="115000"/>
                </a:srgbClr>
              </a:gs>
              <a:gs pos="50000">
                <a:srgbClr val="575757">
                  <a:shade val="67500"/>
                  <a:satMod val="115000"/>
                </a:srgbClr>
              </a:gs>
              <a:gs pos="100000">
                <a:srgbClr val="575757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8848"/>
            <a:endParaRPr lang="en-US" sz="2200" dirty="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179128" y="227744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7203" y="3198677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77763" y="3867485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36470" y="5256214"/>
            <a:ext cx="608351" cy="410641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pPr defTabSz="1018848"/>
            <a:r>
              <a:rPr lang="en-US" sz="2000" dirty="0">
                <a:solidFill>
                  <a:prstClr val="white"/>
                </a:solidFill>
                <a:latin typeface="Verdana"/>
              </a:rPr>
              <a:t>3</a:t>
            </a:r>
          </a:p>
        </p:txBody>
      </p:sp>
      <p:pic>
        <p:nvPicPr>
          <p:cNvPr id="35" name="Picture 34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2578" y="250742"/>
            <a:ext cx="37188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5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688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m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4&quot;&gt;&lt;elem m_fUsage=&quot;1.38509999999999999787E+00&quot;&gt;&lt;m_msothmcolidx val=&quot;0&quot;/&gt;&lt;m_rgb r=&quot;E8&quot; g=&quot;F6&quot; b=&quot;CF&quot;/&gt;&lt;m_nBrightness tagver0=&quot;26206&quot; tagname0=&quot;m_nBrightnessUNRECOGNIZED&quot; val=&quot;0&quot;/&gt;&lt;/elem&gt;&lt;elem m_fUsage=&quot;1.00000000000000000000E+00&quot;&gt;&lt;m_msothmcolidx val=&quot;0&quot;/&gt;&lt;m_rgb r=&quot;BF&quot; g=&quot;BF&quot; b=&quot;BF&quot;/&gt;&lt;m_nBrightness tagver0=&quot;26206&quot; tagname0=&quot;m_nBrightnessUNRECOGNIZED&quot; val=&quot;0&quot;/&gt;&lt;/elem&gt;&lt;elem m_fUsage=&quot;9.00000000000000022204E-01&quot;&gt;&lt;m_msothmcolidx val=&quot;0&quot;/&gt;&lt;m_rgb r=&quot;AF&quot; g=&quot;C7&quot; b=&quot;FE&quot;/&gt;&lt;m_nBrightness tagver0=&quot;26206&quot; tagname0=&quot;m_nBrightnessUNRECOGNIZED&quot; val=&quot;0&quot;/&gt;&lt;/elem&gt;&lt;elem m_fUsage=&quot;8.10000000000000053291E-01&quot;&gt;&lt;m_msothmcolidx val=&quot;0&quot;/&gt;&lt;m_rgb r=&quot;E0&quot; g=&quot;F0&quot; b=&quot;FA&quot;/&gt;&lt;m_nBrightness tagver0=&quot;26206&quot; tagname0=&quot;m_nBrightnessUNRECOGNIZED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sSnIN1ST.x5SIXq9ug8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6pwSqKSzi4e0Ni7A.IS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.sZO4BTH6TFxrXM_.oX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ENT" val="&lt;content&gt;&#10;  &lt;element&gt;&#10;    &lt;prefix&gt;&lt;/prefix&gt;&#10;    &lt;value&gt;%SD_USR_Name%&lt;/value&gt;&#10;    &lt;postfix&gt;, &lt;/postfix&gt;&#10;  &lt;/element&gt;&#10;  &lt;element&gt;&#10;    &lt;prefix&gt;&lt;/prefix&gt;&#10;    &lt;value&gt;%SD_FLD_DocumentDate%&lt;/value&gt;&#10;    &lt;postfix&gt;&lt;/postfix&gt;&#10;  &lt;/element&gt;&#10;&lt;/content&gt;"/>
  <p:tag name="TEMPLAFYSLIDEID" val="6361352744248624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B0xUzzRayi20qJY5iE5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B0xUzzRayi20qJY5iE5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Xjwmk2n79a_21XqYG_b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KI6ykysERfmYH79IxZ.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7nvTRiNIfElUP_8jVDr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scbl3_pf9NNhhHr5FB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YirXjV9nbxuL3BR456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UYfIJJ1INEORdnXKxt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51_DmHAp5dOuk.jSRbF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KYWEfa8RPvVHkrh2TQt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O4tqdRzJ8lQPhc4L37z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lwAnkz0aw9tbVN2Ds63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B0xUzzRayi20qJY5iE5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P1bhSHLhuk.n5oyaz2s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s0KXb2UD0lXOOeAilb7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RXsaSQQ9F.6Eba2Y2.YR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I0J4Pbh8QoUKaGzUQp1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_sKiJzPll7E2rCbl7sQ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w4xfc2TJodRUklDjrSBT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zC2bUy8XfnooJkSDqmB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E5JY_YViecpiuw.sH5S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V7ME7JH8_4pFo2MrFQD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PlKYCT.GeiAXh7WguAc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B0xUzzRayi20qJY5iE5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sNI4u0lT4decIc891v9g"/>
</p:tagLst>
</file>

<file path=ppt/theme/theme1.xml><?xml version="1.0" encoding="utf-8"?>
<a:theme xmlns:a="http://schemas.openxmlformats.org/drawingml/2006/main" name="1_Deloitte 16_9 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�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4_3_Onscreen.potx" id="{300F3ED9-9C4C-4838-B157-107BB206E623}" vid="{ABD9136E-862F-4680-B56C-E8832C898B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165895-FFB5-4EB2-A190-DCA24D1A5BDA}">
  <ds:schemaRefs>
    <ds:schemaRef ds:uri="c5e00675-a632-4c17-8f27-6eb2aeddd372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0d1b0e00-a362-4fa4-bcac-08b857d0c80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3C8921D-494D-44EF-8DBD-0EB86285549F}"/>
</file>

<file path=customXml/itemProps3.xml><?xml version="1.0" encoding="utf-8"?>
<ds:datastoreItem xmlns:ds="http://schemas.openxmlformats.org/officeDocument/2006/customXml" ds:itemID="{8567DB1E-EA34-41ED-8756-16A5488249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107151</TotalTime>
  <Words>2239</Words>
  <Application>Microsoft Office PowerPoint</Application>
  <PresentationFormat>Custom</PresentationFormat>
  <Paragraphs>374</Paragraphs>
  <Slides>19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CorpoS</vt:lpstr>
      <vt:lpstr>Verdana</vt:lpstr>
      <vt:lpstr>Wingdings</vt:lpstr>
      <vt:lpstr>Wingdings 2</vt:lpstr>
      <vt:lpstr>1_Deloitte 16_9 onscreen</vt:lpstr>
      <vt:lpstr>think-cell Slide</vt:lpstr>
      <vt:lpstr>PowerPoint Presentation</vt:lpstr>
      <vt:lpstr>Introduction</vt:lpstr>
      <vt:lpstr>Steel &amp; Steel Products Coverage (1/2)</vt:lpstr>
      <vt:lpstr>Steel &amp; Steel Products Coverage (2/2)</vt:lpstr>
      <vt:lpstr>Our Assessment on QCO Effectiveness</vt:lpstr>
      <vt:lpstr>Key challenges and impact of QCO on Secondary / MSME sector</vt:lpstr>
      <vt:lpstr>Key Recommendation to improve QCO effectiveness</vt:lpstr>
      <vt:lpstr>Key Recommendation to improve QCO effectiveness</vt:lpstr>
      <vt:lpstr>Governance Mechanism</vt:lpstr>
      <vt:lpstr>PowerPoint Presentation</vt:lpstr>
      <vt:lpstr>PowerPoint Presentation</vt:lpstr>
      <vt:lpstr>Enforcement</vt:lpstr>
      <vt:lpstr>Indigenous product compliance</vt:lpstr>
      <vt:lpstr>Imported product compliance</vt:lpstr>
      <vt:lpstr>Governance</vt:lpstr>
      <vt:lpstr>Enforcement</vt:lpstr>
      <vt:lpstr>Indigenous Producers</vt:lpstr>
      <vt:lpstr>Imported Products Compliance</vt:lpstr>
      <vt:lpstr>Governance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Ahuja, Sumit (IN - Delhi)</dc:creator>
  <cp:lastModifiedBy>Mukherjee, Shouvik</cp:lastModifiedBy>
  <cp:revision>3291</cp:revision>
  <cp:lastPrinted>2014-06-25T02:16:22Z</cp:lastPrinted>
  <dcterms:created xsi:type="dcterms:W3CDTF">2016-06-16T10:55:50Z</dcterms:created>
  <dcterms:modified xsi:type="dcterms:W3CDTF">2023-08-13T15:32:46Z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  <property fmtid="{D5CDD505-2E9C-101B-9397-08002B2CF9AE}" pid="3" name="m5a082bc1528471a83b2d8c0b2f8cc4d">
    <vt:lpwstr/>
  </property>
  <property fmtid="{D5CDD505-2E9C-101B-9397-08002B2CF9AE}" pid="4" name="Keyword0">
    <vt:lpwstr/>
  </property>
  <property fmtid="{D5CDD505-2E9C-101B-9397-08002B2CF9AE}" pid="5" name="KeyWord">
    <vt:lpwstr/>
  </property>
  <property fmtid="{D5CDD505-2E9C-101B-9397-08002B2CF9AE}" pid="6" name="MSIP_Label_ea60d57e-af5b-4752-ac57-3e4f28ca11dc_Enabled">
    <vt:lpwstr>true</vt:lpwstr>
  </property>
  <property fmtid="{D5CDD505-2E9C-101B-9397-08002B2CF9AE}" pid="7" name="MSIP_Label_ea60d57e-af5b-4752-ac57-3e4f28ca11dc_SetDate">
    <vt:lpwstr>2023-08-13T15:32:36Z</vt:lpwstr>
  </property>
  <property fmtid="{D5CDD505-2E9C-101B-9397-08002B2CF9AE}" pid="8" name="MSIP_Label_ea60d57e-af5b-4752-ac57-3e4f28ca11dc_Method">
    <vt:lpwstr>Standard</vt:lpwstr>
  </property>
  <property fmtid="{D5CDD505-2E9C-101B-9397-08002B2CF9AE}" pid="9" name="MSIP_Label_ea60d57e-af5b-4752-ac57-3e4f28ca11dc_Name">
    <vt:lpwstr>ea60d57e-af5b-4752-ac57-3e4f28ca11dc</vt:lpwstr>
  </property>
  <property fmtid="{D5CDD505-2E9C-101B-9397-08002B2CF9AE}" pid="10" name="MSIP_Label_ea60d57e-af5b-4752-ac57-3e4f28ca11dc_SiteId">
    <vt:lpwstr>36da45f1-dd2c-4d1f-af13-5abe46b99921</vt:lpwstr>
  </property>
  <property fmtid="{D5CDD505-2E9C-101B-9397-08002B2CF9AE}" pid="11" name="MSIP_Label_ea60d57e-af5b-4752-ac57-3e4f28ca11dc_ActionId">
    <vt:lpwstr>dfe57b06-f9d3-42fd-8617-5ff589a9dd57</vt:lpwstr>
  </property>
  <property fmtid="{D5CDD505-2E9C-101B-9397-08002B2CF9AE}" pid="12" name="MSIP_Label_ea60d57e-af5b-4752-ac57-3e4f28ca11dc_ContentBits">
    <vt:lpwstr>0</vt:lpwstr>
  </property>
</Properties>
</file>