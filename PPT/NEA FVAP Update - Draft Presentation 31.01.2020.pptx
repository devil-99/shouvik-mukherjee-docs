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45.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43.xml" ContentType="application/vnd.openxmlformats-officedocument.presentationml.slide+xml"/>
  <Override PartName="/ppt/slides/slide87.xml" ContentType="application/vnd.openxmlformats-officedocument.presentationml.slide+xml"/>
  <Override PartName="/ppt/slides/slide86.xml" ContentType="application/vnd.openxmlformats-officedocument.presentationml.slide+xml"/>
  <Override PartName="/ppt/slides/slide85.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44.xml" ContentType="application/vnd.openxmlformats-officedocument.presentationml.slide+xml"/>
  <Override PartName="/ppt/slides/slide25.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24.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39.xml" ContentType="application/vnd.openxmlformats-officedocument.presentationml.slideLayout+xml"/>
  <Override PartName="/ppt/slideLayouts/slideLayout35.xml" ContentType="application/vnd.openxmlformats-officedocument.presentationml.slideLayout+xml"/>
  <Override PartName="/ppt/slideLayouts/slideLayout4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40.xml" ContentType="application/vnd.openxmlformats-officedocument.presentationml.slideLayout+xml"/>
  <Override PartName="/ppt/charts/colors4.xml" ContentType="application/vnd.ms-office.chartcolorstyle+xml"/>
  <Override PartName="/ppt/charts/style4.xml" ContentType="application/vnd.ms-office.chartstyle+xml"/>
  <Override PartName="/ppt/charts/chart4.xml" ContentType="application/vnd.openxmlformats-officedocument.drawingml.chart+xml"/>
  <Override PartName="/ppt/charts/colors3.xml" ContentType="application/vnd.ms-office.chartcolor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charts/style3.xml" ContentType="application/vnd.ms-office.chartstyle+xml"/>
  <Override PartName="/ppt/theme/theme3.xml" ContentType="application/vnd.openxmlformats-officedocument.theme+xml"/>
  <Override PartName="/ppt/theme/theme2.xml" ContentType="application/vnd.openxmlformats-officedocument.them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olors1.xml" ContentType="application/vnd.ms-office.chartcolorstyl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2.xml" ContentType="application/vnd.openxmlformats-officedocument.presentationml.tags+xml"/>
  <Override PartName="/ppt/tags/tag1.xml" ContentType="application/vnd.openxmlformats-officedocument.presentationml.tags+xml"/>
  <Override PartName="/docProps/core.xml" ContentType="application/vnd.openxmlformats-package.core-properties+xml"/>
  <Override PartName="/ppt/tags/tag3.xml" ContentType="application/vnd.openxmlformats-officedocument.presentationml.tags+xml"/>
  <Override PartName="/docProps/app.xml" ContentType="application/vnd.openxmlformats-officedocument.extended-properties+xml"/>
  <Override PartName="/ppt/tags/tag4.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4"/>
  </p:notesMasterIdLst>
  <p:handoutMasterIdLst>
    <p:handoutMasterId r:id="rId95"/>
  </p:handoutMasterIdLst>
  <p:sldIdLst>
    <p:sldId id="436" r:id="rId2"/>
    <p:sldId id="447" r:id="rId3"/>
    <p:sldId id="438" r:id="rId4"/>
    <p:sldId id="439" r:id="rId5"/>
    <p:sldId id="528" r:id="rId6"/>
    <p:sldId id="441" r:id="rId7"/>
    <p:sldId id="442" r:id="rId8"/>
    <p:sldId id="542" r:id="rId9"/>
    <p:sldId id="533" r:id="rId10"/>
    <p:sldId id="534" r:id="rId11"/>
    <p:sldId id="535" r:id="rId12"/>
    <p:sldId id="443" r:id="rId13"/>
    <p:sldId id="468" r:id="rId14"/>
    <p:sldId id="451" r:id="rId15"/>
    <p:sldId id="530" r:id="rId16"/>
    <p:sldId id="459" r:id="rId17"/>
    <p:sldId id="531" r:id="rId18"/>
    <p:sldId id="463" r:id="rId19"/>
    <p:sldId id="465" r:id="rId20"/>
    <p:sldId id="466" r:id="rId21"/>
    <p:sldId id="536" r:id="rId22"/>
    <p:sldId id="469" r:id="rId23"/>
    <p:sldId id="551" r:id="rId24"/>
    <p:sldId id="552" r:id="rId25"/>
    <p:sldId id="471" r:id="rId26"/>
    <p:sldId id="473" r:id="rId27"/>
    <p:sldId id="522" r:id="rId28"/>
    <p:sldId id="523" r:id="rId29"/>
    <p:sldId id="524" r:id="rId30"/>
    <p:sldId id="525" r:id="rId31"/>
    <p:sldId id="526" r:id="rId32"/>
    <p:sldId id="527" r:id="rId33"/>
    <p:sldId id="550" r:id="rId34"/>
    <p:sldId id="537" r:id="rId35"/>
    <p:sldId id="483" r:id="rId36"/>
    <p:sldId id="484" r:id="rId37"/>
    <p:sldId id="485" r:id="rId38"/>
    <p:sldId id="486" r:id="rId39"/>
    <p:sldId id="487" r:id="rId40"/>
    <p:sldId id="488" r:id="rId41"/>
    <p:sldId id="489" r:id="rId42"/>
    <p:sldId id="490" r:id="rId43"/>
    <p:sldId id="491" r:id="rId44"/>
    <p:sldId id="492" r:id="rId45"/>
    <p:sldId id="493" r:id="rId46"/>
    <p:sldId id="494" r:id="rId47"/>
    <p:sldId id="495" r:id="rId48"/>
    <p:sldId id="496" r:id="rId49"/>
    <p:sldId id="497" r:id="rId50"/>
    <p:sldId id="498" r:id="rId51"/>
    <p:sldId id="499" r:id="rId52"/>
    <p:sldId id="500" r:id="rId53"/>
    <p:sldId id="501" r:id="rId54"/>
    <p:sldId id="502" r:id="rId55"/>
    <p:sldId id="544" r:id="rId56"/>
    <p:sldId id="545" r:id="rId57"/>
    <p:sldId id="546" r:id="rId58"/>
    <p:sldId id="547" r:id="rId59"/>
    <p:sldId id="548" r:id="rId60"/>
    <p:sldId id="503" r:id="rId61"/>
    <p:sldId id="504" r:id="rId62"/>
    <p:sldId id="505" r:id="rId63"/>
    <p:sldId id="506" r:id="rId64"/>
    <p:sldId id="507" r:id="rId65"/>
    <p:sldId id="508" r:id="rId66"/>
    <p:sldId id="509" r:id="rId67"/>
    <p:sldId id="510" r:id="rId68"/>
    <p:sldId id="511" r:id="rId69"/>
    <p:sldId id="512" r:id="rId70"/>
    <p:sldId id="558" r:id="rId71"/>
    <p:sldId id="559" r:id="rId72"/>
    <p:sldId id="560" r:id="rId73"/>
    <p:sldId id="561" r:id="rId74"/>
    <p:sldId id="562" r:id="rId75"/>
    <p:sldId id="513" r:id="rId76"/>
    <p:sldId id="514" r:id="rId77"/>
    <p:sldId id="515" r:id="rId78"/>
    <p:sldId id="516" r:id="rId79"/>
    <p:sldId id="517" r:id="rId80"/>
    <p:sldId id="563" r:id="rId81"/>
    <p:sldId id="564" r:id="rId82"/>
    <p:sldId id="565" r:id="rId83"/>
    <p:sldId id="566" r:id="rId84"/>
    <p:sldId id="567" r:id="rId85"/>
    <p:sldId id="457" r:id="rId86"/>
    <p:sldId id="482" r:id="rId87"/>
    <p:sldId id="553" r:id="rId88"/>
    <p:sldId id="554" r:id="rId89"/>
    <p:sldId id="555" r:id="rId90"/>
    <p:sldId id="556" r:id="rId91"/>
    <p:sldId id="557" r:id="rId92"/>
    <p:sldId id="449" r:id="rId93"/>
  </p:sldIdLst>
  <p:sldSz cx="12192000" cy="6858000"/>
  <p:notesSz cx="7315200" cy="9601200"/>
  <p:custDataLst>
    <p:tags r:id="rId96"/>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047" userDrawn="1">
          <p15:clr>
            <a:srgbClr val="A4A3A4"/>
          </p15:clr>
        </p15:guide>
        <p15:guide id="12" orient="horz" pos="1593" userDrawn="1">
          <p15:clr>
            <a:srgbClr val="A4A3A4"/>
          </p15:clr>
        </p15:guide>
        <p15:guide id="13" orient="horz" pos="2568" userDrawn="1">
          <p15:clr>
            <a:srgbClr val="A4A3A4"/>
          </p15:clr>
        </p15:guide>
        <p15:guide id="14" orient="horz" pos="3090" userDrawn="1">
          <p15:clr>
            <a:srgbClr val="A4A3A4"/>
          </p15:clr>
        </p15:guide>
        <p15:guide id="15" orient="horz" pos="3589"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Goel, Rajat" initials="GR" lastIdx="11" clrIdx="0">
    <p:extLst>
      <p:ext uri="{19B8F6BF-5375-455C-9EA6-DF929625EA0E}">
        <p15:presenceInfo xmlns:p15="http://schemas.microsoft.com/office/powerpoint/2012/main" userId="S-1-5-21-776561741-1482476501-682003330-115817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0000"/>
    <a:srgbClr val="FFCD00"/>
    <a:srgbClr val="ED8B00"/>
    <a:srgbClr val="DB291C"/>
    <a:srgbClr val="FF9900"/>
    <a:srgbClr val="3C8A2E"/>
    <a:srgbClr val="DCDCDC"/>
    <a:srgbClr val="B4B4B4"/>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42" autoAdjust="0"/>
    <p:restoredTop sz="94799" autoAdjust="0"/>
  </p:normalViewPr>
  <p:slideViewPr>
    <p:cSldViewPr snapToGrid="0" showGuides="1">
      <p:cViewPr varScale="1">
        <p:scale>
          <a:sx n="74" d="100"/>
          <a:sy n="74" d="100"/>
        </p:scale>
        <p:origin x="106" y="298"/>
      </p:cViewPr>
      <p:guideLst>
        <p:guide/>
        <p:guide orient="horz" pos="2047"/>
        <p:guide orient="horz" pos="1593"/>
        <p:guide orient="horz" pos="2568"/>
        <p:guide orient="horz" pos="3090"/>
        <p:guide orient="horz" pos="3589"/>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ustomXml" Target="../customXml/item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104" Type="http://schemas.openxmlformats.org/officeDocument/2006/relationships/customXml" Target="../customXml/item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2455831692913383E-2"/>
          <c:y val="0.17650669435859409"/>
          <c:w val="0.91254416830708662"/>
          <c:h val="0.65973132920539779"/>
        </c:manualLayout>
      </c:layout>
      <c:lineChart>
        <c:grouping val="standard"/>
        <c:varyColors val="0"/>
        <c:ser>
          <c:idx val="0"/>
          <c:order val="0"/>
          <c:tx>
            <c:strRef>
              <c:f>Sheet1!$B$1</c:f>
              <c:strCache>
                <c:ptCount val="1"/>
                <c:pt idx="0">
                  <c:v>T&amp;D Loss</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FY19</c:v>
                </c:pt>
                <c:pt idx="1">
                  <c:v>FY20</c:v>
                </c:pt>
                <c:pt idx="2">
                  <c:v>FY21</c:v>
                </c:pt>
                <c:pt idx="3">
                  <c:v>FY22</c:v>
                </c:pt>
                <c:pt idx="4">
                  <c:v>FY23</c:v>
                </c:pt>
                <c:pt idx="5">
                  <c:v>FY24</c:v>
                </c:pt>
                <c:pt idx="6">
                  <c:v>FY25</c:v>
                </c:pt>
                <c:pt idx="7">
                  <c:v>FY26</c:v>
                </c:pt>
                <c:pt idx="8">
                  <c:v>FY27</c:v>
                </c:pt>
                <c:pt idx="9">
                  <c:v>FY28</c:v>
                </c:pt>
                <c:pt idx="10">
                  <c:v>FY29</c:v>
                </c:pt>
              </c:strCache>
            </c:strRef>
          </c:cat>
          <c:val>
            <c:numRef>
              <c:f>Sheet1!$B$2:$B$12</c:f>
              <c:numCache>
                <c:formatCode>0.0%</c:formatCode>
                <c:ptCount val="11"/>
                <c:pt idx="0">
                  <c:v>0.1532002071185754</c:v>
                </c:pt>
                <c:pt idx="1">
                  <c:v>0.14000000000000001</c:v>
                </c:pt>
                <c:pt idx="2">
                  <c:v>0.13</c:v>
                </c:pt>
                <c:pt idx="3">
                  <c:v>0.12</c:v>
                </c:pt>
                <c:pt idx="4">
                  <c:v>0.11499999999999999</c:v>
                </c:pt>
                <c:pt idx="5">
                  <c:v>0.10999999999999999</c:v>
                </c:pt>
                <c:pt idx="6">
                  <c:v>0.10499999999999998</c:v>
                </c:pt>
                <c:pt idx="7">
                  <c:v>9.9999999999999978E-2</c:v>
                </c:pt>
                <c:pt idx="8">
                  <c:v>9.4999999999999973E-2</c:v>
                </c:pt>
                <c:pt idx="9">
                  <c:v>8.9999999999999969E-2</c:v>
                </c:pt>
                <c:pt idx="10">
                  <c:v>8.4999999999999964E-2</c:v>
                </c:pt>
              </c:numCache>
            </c:numRef>
          </c:val>
          <c:smooth val="0"/>
          <c:extLst>
            <c:ext xmlns:c16="http://schemas.microsoft.com/office/drawing/2014/chart" uri="{C3380CC4-5D6E-409C-BE32-E72D297353CC}">
              <c16:uniqueId val="{00000000-2160-4D96-A1B6-52C77C5ECF1F}"/>
            </c:ext>
          </c:extLst>
        </c:ser>
        <c:ser>
          <c:idx val="1"/>
          <c:order val="1"/>
          <c:tx>
            <c:strRef>
              <c:f>Sheet1!$C$1</c:f>
              <c:strCache>
                <c:ptCount val="1"/>
                <c:pt idx="0">
                  <c:v>Transmission Loss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FY19</c:v>
                </c:pt>
                <c:pt idx="1">
                  <c:v>FY20</c:v>
                </c:pt>
                <c:pt idx="2">
                  <c:v>FY21</c:v>
                </c:pt>
                <c:pt idx="3">
                  <c:v>FY22</c:v>
                </c:pt>
                <c:pt idx="4">
                  <c:v>FY23</c:v>
                </c:pt>
                <c:pt idx="5">
                  <c:v>FY24</c:v>
                </c:pt>
                <c:pt idx="6">
                  <c:v>FY25</c:v>
                </c:pt>
                <c:pt idx="7">
                  <c:v>FY26</c:v>
                </c:pt>
                <c:pt idx="8">
                  <c:v>FY27</c:v>
                </c:pt>
                <c:pt idx="9">
                  <c:v>FY28</c:v>
                </c:pt>
                <c:pt idx="10">
                  <c:v>FY29</c:v>
                </c:pt>
              </c:strCache>
            </c:strRef>
          </c:cat>
          <c:val>
            <c:numRef>
              <c:f>Sheet1!$C$2:$C$12</c:f>
              <c:numCache>
                <c:formatCode>0.0%</c:formatCode>
                <c:ptCount val="11"/>
                <c:pt idx="0">
                  <c:v>4.3499999999999997E-2</c:v>
                </c:pt>
                <c:pt idx="1">
                  <c:v>4.2499999999999996E-2</c:v>
                </c:pt>
                <c:pt idx="2">
                  <c:v>4.1499999999999995E-2</c:v>
                </c:pt>
                <c:pt idx="3">
                  <c:v>4.0499999999999994E-2</c:v>
                </c:pt>
                <c:pt idx="4">
                  <c:v>3.9499999999999993E-2</c:v>
                </c:pt>
                <c:pt idx="5">
                  <c:v>3.8499999999999993E-2</c:v>
                </c:pt>
                <c:pt idx="6">
                  <c:v>3.7499999999999992E-2</c:v>
                </c:pt>
                <c:pt idx="7">
                  <c:v>3.6499999999999991E-2</c:v>
                </c:pt>
                <c:pt idx="8">
                  <c:v>3.549999999999999E-2</c:v>
                </c:pt>
                <c:pt idx="9">
                  <c:v>3.4499999999999989E-2</c:v>
                </c:pt>
                <c:pt idx="10">
                  <c:v>3.3499999999999988E-2</c:v>
                </c:pt>
              </c:numCache>
            </c:numRef>
          </c:val>
          <c:smooth val="0"/>
          <c:extLst>
            <c:ext xmlns:c16="http://schemas.microsoft.com/office/drawing/2014/chart" uri="{C3380CC4-5D6E-409C-BE32-E72D297353CC}">
              <c16:uniqueId val="{00000001-2160-4D96-A1B6-52C77C5ECF1F}"/>
            </c:ext>
          </c:extLst>
        </c:ser>
        <c:ser>
          <c:idx val="2"/>
          <c:order val="2"/>
          <c:tx>
            <c:strRef>
              <c:f>Sheet1!$D$1</c:f>
              <c:strCache>
                <c:ptCount val="1"/>
                <c:pt idx="0">
                  <c:v>Distribution Loss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FY19</c:v>
                </c:pt>
                <c:pt idx="1">
                  <c:v>FY20</c:v>
                </c:pt>
                <c:pt idx="2">
                  <c:v>FY21</c:v>
                </c:pt>
                <c:pt idx="3">
                  <c:v>FY22</c:v>
                </c:pt>
                <c:pt idx="4">
                  <c:v>FY23</c:v>
                </c:pt>
                <c:pt idx="5">
                  <c:v>FY24</c:v>
                </c:pt>
                <c:pt idx="6">
                  <c:v>FY25</c:v>
                </c:pt>
                <c:pt idx="7">
                  <c:v>FY26</c:v>
                </c:pt>
                <c:pt idx="8">
                  <c:v>FY27</c:v>
                </c:pt>
                <c:pt idx="9">
                  <c:v>FY28</c:v>
                </c:pt>
                <c:pt idx="10">
                  <c:v>FY29</c:v>
                </c:pt>
              </c:strCache>
            </c:strRef>
          </c:cat>
          <c:val>
            <c:numRef>
              <c:f>Sheet1!$D$2:$D$12</c:f>
              <c:numCache>
                <c:formatCode>0.0%</c:formatCode>
                <c:ptCount val="11"/>
                <c:pt idx="0">
                  <c:v>0.11468918674184569</c:v>
                </c:pt>
                <c:pt idx="1">
                  <c:v>0.10182767624020894</c:v>
                </c:pt>
                <c:pt idx="2">
                  <c:v>9.2331768388106417E-2</c:v>
                </c:pt>
                <c:pt idx="3">
                  <c:v>8.2855653986451339E-2</c:v>
                </c:pt>
                <c:pt idx="4">
                  <c:v>7.8604893284747512E-2</c:v>
                </c:pt>
                <c:pt idx="5">
                  <c:v>7.4362974518980773E-2</c:v>
                </c:pt>
                <c:pt idx="6">
                  <c:v>7.0129870129870153E-2</c:v>
                </c:pt>
                <c:pt idx="7">
                  <c:v>6.5905552672548051E-2</c:v>
                </c:pt>
                <c:pt idx="8">
                  <c:v>6.168999481596682E-2</c:v>
                </c:pt>
                <c:pt idx="9">
                  <c:v>5.7483169342309681E-2</c:v>
                </c:pt>
                <c:pt idx="10">
                  <c:v>5.3285049146404528E-2</c:v>
                </c:pt>
              </c:numCache>
            </c:numRef>
          </c:val>
          <c:smooth val="0"/>
          <c:extLst>
            <c:ext xmlns:c16="http://schemas.microsoft.com/office/drawing/2014/chart" uri="{C3380CC4-5D6E-409C-BE32-E72D297353CC}">
              <c16:uniqueId val="{00000002-2160-4D96-A1B6-52C77C5ECF1F}"/>
            </c:ext>
          </c:extLst>
        </c:ser>
        <c:dLbls>
          <c:showLegendKey val="0"/>
          <c:showVal val="0"/>
          <c:showCatName val="0"/>
          <c:showSerName val="0"/>
          <c:showPercent val="0"/>
          <c:showBubbleSize val="0"/>
        </c:dLbls>
        <c:smooth val="0"/>
        <c:axId val="1027968936"/>
        <c:axId val="1027969592"/>
      </c:lineChart>
      <c:catAx>
        <c:axId val="1027968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027969592"/>
        <c:crosses val="autoZero"/>
        <c:auto val="1"/>
        <c:lblAlgn val="ctr"/>
        <c:lblOffset val="100"/>
        <c:noMultiLvlLbl val="0"/>
      </c:catAx>
      <c:valAx>
        <c:axId val="1027969592"/>
        <c:scaling>
          <c:orientation val="minMax"/>
        </c:scaling>
        <c:delete val="0"/>
        <c:axPos val="l"/>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027968936"/>
        <c:crosses val="autoZero"/>
        <c:crossBetween val="between"/>
      </c:valAx>
      <c:spPr>
        <a:noFill/>
        <a:ln>
          <a:noFill/>
        </a:ln>
        <a:effectLst/>
      </c:spPr>
    </c:plotArea>
    <c:legend>
      <c:legendPos val="b"/>
      <c:layout>
        <c:manualLayout>
          <c:xMode val="edge"/>
          <c:yMode val="edge"/>
          <c:x val="0.54207692717868516"/>
          <c:y val="6.2259816524927368E-2"/>
          <c:w val="0.42840502301772099"/>
          <c:h val="9.1984092738640916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r>
              <a:rPr lang="en-US"/>
              <a:t>Revenue and Cost Structure (Bn NPR)</a:t>
            </a:r>
            <a:endParaRPr lang="en-IN"/>
          </a:p>
        </c:rich>
      </c:tx>
      <c:layout/>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Cost</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Sheet1!$A$2:$A$30</c:f>
              <c:strCache>
                <c:ptCount val="28"/>
                <c:pt idx="0">
                  <c:v>FY20</c:v>
                </c:pt>
                <c:pt idx="3">
                  <c:v>FY21</c:v>
                </c:pt>
                <c:pt idx="6">
                  <c:v>FY22</c:v>
                </c:pt>
                <c:pt idx="9">
                  <c:v>FY23</c:v>
                </c:pt>
                <c:pt idx="12">
                  <c:v>FY24</c:v>
                </c:pt>
                <c:pt idx="15">
                  <c:v>FY25</c:v>
                </c:pt>
                <c:pt idx="18">
                  <c:v>FY26</c:v>
                </c:pt>
                <c:pt idx="21">
                  <c:v>FY27</c:v>
                </c:pt>
                <c:pt idx="24">
                  <c:v>FY28</c:v>
                </c:pt>
                <c:pt idx="27">
                  <c:v>FY29</c:v>
                </c:pt>
              </c:strCache>
            </c:strRef>
          </c:cat>
          <c:val>
            <c:numRef>
              <c:f>Sheet1!$B$2:$B$30</c:f>
              <c:numCache>
                <c:formatCode>_ * #,##0_ ;_ * \-#,##0_ ;_ * "-"??_ ;_ @_ </c:formatCode>
                <c:ptCount val="29"/>
                <c:pt idx="0">
                  <c:v>75.366890978378791</c:v>
                </c:pt>
                <c:pt idx="3">
                  <c:v>106.42548766044696</c:v>
                </c:pt>
                <c:pt idx="6">
                  <c:v>140.77616935677781</c:v>
                </c:pt>
                <c:pt idx="9">
                  <c:v>165.57487450196541</c:v>
                </c:pt>
                <c:pt idx="12">
                  <c:v>195.71953815389654</c:v>
                </c:pt>
                <c:pt idx="15">
                  <c:v>225.45622636556396</c:v>
                </c:pt>
                <c:pt idx="18">
                  <c:v>280.37189284147883</c:v>
                </c:pt>
                <c:pt idx="21">
                  <c:v>327.49890864925248</c:v>
                </c:pt>
                <c:pt idx="24">
                  <c:v>371.53769060178513</c:v>
                </c:pt>
                <c:pt idx="27">
                  <c:v>382.95457916903121</c:v>
                </c:pt>
              </c:numCache>
            </c:numRef>
          </c:val>
          <c:extLst>
            <c:ext xmlns:c16="http://schemas.microsoft.com/office/drawing/2014/chart" uri="{C3380CC4-5D6E-409C-BE32-E72D297353CC}">
              <c16:uniqueId val="{00000000-1E5B-4B16-9F17-1AAF93790AE7}"/>
            </c:ext>
          </c:extLst>
        </c:ser>
        <c:ser>
          <c:idx val="1"/>
          <c:order val="1"/>
          <c:tx>
            <c:strRef>
              <c:f>Sheet1!$C$1</c:f>
              <c:strCache>
                <c:ptCount val="1"/>
                <c:pt idx="0">
                  <c:v>Return</c:v>
                </c:pt>
              </c:strCache>
            </c:strRef>
          </c:tx>
          <c:spPr>
            <a:solidFill>
              <a:schemeClr val="accent2"/>
            </a:solidFill>
            <a:ln>
              <a:noFill/>
            </a:ln>
            <a:effectLst/>
          </c:spPr>
          <c:invertIfNegative val="0"/>
          <c:dLbls>
            <c:dLbl>
              <c:idx val="0"/>
              <c:layout>
                <c:manualLayout>
                  <c:x val="-2.5955579172180642E-3"/>
                  <c:y val="-5.9868430873568405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1E5B-4B16-9F17-1AAF93790AE7}"/>
                </c:ext>
              </c:extLst>
            </c:dLbl>
            <c:dLbl>
              <c:idx val="3"/>
              <c:layout>
                <c:manualLayout>
                  <c:x val="-2.5955579172180763E-3"/>
                  <c:y val="-6.3194454810988995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1E5B-4B16-9F17-1AAF93790AE7}"/>
                </c:ext>
              </c:extLst>
            </c:dLbl>
            <c:dLbl>
              <c:idx val="6"/>
              <c:layout>
                <c:manualLayout>
                  <c:x val="-4.1542487152851351E-17"/>
                  <c:y val="-5.1485164570098878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1E5B-4B16-9F17-1AAF93790AE7}"/>
                </c:ext>
              </c:extLst>
            </c:dLbl>
            <c:dLbl>
              <c:idx val="9"/>
              <c:layout>
                <c:manualLayout>
                  <c:x val="0"/>
                  <c:y val="-6.0066025331782104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6-1E5B-4B16-9F17-1AAF93790AE7}"/>
                </c:ext>
              </c:extLst>
            </c:dLbl>
            <c:dLbl>
              <c:idx val="12"/>
              <c:layout>
                <c:manualLayout>
                  <c:x val="0"/>
                  <c:y val="-5.1485164570098878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5-1E5B-4B16-9F17-1AAF93790AE7}"/>
                </c:ext>
              </c:extLst>
            </c:dLbl>
            <c:dLbl>
              <c:idx val="15"/>
              <c:layout>
                <c:manualLayout>
                  <c:x val="0"/>
                  <c:y val="-5.5775594950940491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4-1E5B-4B16-9F17-1AAF93790AE7}"/>
                </c:ext>
              </c:extLst>
            </c:dLbl>
            <c:dLbl>
              <c:idx val="18"/>
              <c:layout>
                <c:manualLayout>
                  <c:x val="0"/>
                  <c:y val="-6.864688609346521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3-1E5B-4B16-9F17-1AAF93790AE7}"/>
                </c:ext>
              </c:extLst>
            </c:dLbl>
            <c:dLbl>
              <c:idx val="21"/>
              <c:layout>
                <c:manualLayout>
                  <c:x val="0"/>
                  <c:y val="-7.7227746855148355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2-1E5B-4B16-9F17-1AAF93790AE7}"/>
                </c:ext>
              </c:extLst>
            </c:dLbl>
            <c:dLbl>
              <c:idx val="24"/>
              <c:layout>
                <c:manualLayout>
                  <c:x val="-1.1329900105965789E-3"/>
                  <c:y val="-6.43564557126236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1-1E5B-4B16-9F17-1AAF93790AE7}"/>
                </c:ext>
              </c:extLst>
            </c:dLbl>
            <c:dLbl>
              <c:idx val="27"/>
              <c:layout>
                <c:manualLayout>
                  <c:x val="-1.1329900105965789E-3"/>
                  <c:y val="-5.1485164570098885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0-1E5B-4B16-9F17-1AAF93790AE7}"/>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Sheet1!$A$2:$A$30</c:f>
              <c:strCache>
                <c:ptCount val="28"/>
                <c:pt idx="0">
                  <c:v>FY20</c:v>
                </c:pt>
                <c:pt idx="3">
                  <c:v>FY21</c:v>
                </c:pt>
                <c:pt idx="6">
                  <c:v>FY22</c:v>
                </c:pt>
                <c:pt idx="9">
                  <c:v>FY23</c:v>
                </c:pt>
                <c:pt idx="12">
                  <c:v>FY24</c:v>
                </c:pt>
                <c:pt idx="15">
                  <c:v>FY25</c:v>
                </c:pt>
                <c:pt idx="18">
                  <c:v>FY26</c:v>
                </c:pt>
                <c:pt idx="21">
                  <c:v>FY27</c:v>
                </c:pt>
                <c:pt idx="24">
                  <c:v>FY28</c:v>
                </c:pt>
                <c:pt idx="27">
                  <c:v>FY29</c:v>
                </c:pt>
              </c:strCache>
            </c:strRef>
          </c:cat>
          <c:val>
            <c:numRef>
              <c:f>Sheet1!$C$2:$C$30</c:f>
              <c:numCache>
                <c:formatCode>_ * #,##0_ ;_ * \-#,##0_ ;_ * "-"??_ ;_ @_ </c:formatCode>
                <c:ptCount val="29"/>
                <c:pt idx="0">
                  <c:v>23.256263189112069</c:v>
                </c:pt>
                <c:pt idx="3">
                  <c:v>32.157945482080166</c:v>
                </c:pt>
                <c:pt idx="6">
                  <c:v>25.05580846047831</c:v>
                </c:pt>
                <c:pt idx="9">
                  <c:v>38.687106201458384</c:v>
                </c:pt>
                <c:pt idx="12">
                  <c:v>35.435699830559656</c:v>
                </c:pt>
                <c:pt idx="15">
                  <c:v>57.584964423697592</c:v>
                </c:pt>
                <c:pt idx="18">
                  <c:v>41.857833668165632</c:v>
                </c:pt>
                <c:pt idx="21">
                  <c:v>59.101220776890095</c:v>
                </c:pt>
                <c:pt idx="24">
                  <c:v>66.194127887054421</c:v>
                </c:pt>
                <c:pt idx="27">
                  <c:v>62.565501951295182</c:v>
                </c:pt>
              </c:numCache>
            </c:numRef>
          </c:val>
          <c:extLst>
            <c:ext xmlns:c16="http://schemas.microsoft.com/office/drawing/2014/chart" uri="{C3380CC4-5D6E-409C-BE32-E72D297353CC}">
              <c16:uniqueId val="{00000003-1E5B-4B16-9F17-1AAF93790AE7}"/>
            </c:ext>
          </c:extLst>
        </c:ser>
        <c:ser>
          <c:idx val="2"/>
          <c:order val="2"/>
          <c:tx>
            <c:strRef>
              <c:f>Sheet1!$D$1</c:f>
              <c:strCache>
                <c:ptCount val="1"/>
                <c:pt idx="0">
                  <c:v>Revenue from Tariff</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Sheet1!$A$2:$A$30</c:f>
              <c:strCache>
                <c:ptCount val="28"/>
                <c:pt idx="0">
                  <c:v>FY20</c:v>
                </c:pt>
                <c:pt idx="3">
                  <c:v>FY21</c:v>
                </c:pt>
                <c:pt idx="6">
                  <c:v>FY22</c:v>
                </c:pt>
                <c:pt idx="9">
                  <c:v>FY23</c:v>
                </c:pt>
                <c:pt idx="12">
                  <c:v>FY24</c:v>
                </c:pt>
                <c:pt idx="15">
                  <c:v>FY25</c:v>
                </c:pt>
                <c:pt idx="18">
                  <c:v>FY26</c:v>
                </c:pt>
                <c:pt idx="21">
                  <c:v>FY27</c:v>
                </c:pt>
                <c:pt idx="24">
                  <c:v>FY28</c:v>
                </c:pt>
                <c:pt idx="27">
                  <c:v>FY29</c:v>
                </c:pt>
              </c:strCache>
            </c:strRef>
          </c:cat>
          <c:val>
            <c:numRef>
              <c:f>Sheet1!$D$2:$D$30</c:f>
              <c:numCache>
                <c:formatCode>_ * #,##0_ ;_ * \-#,##0_ ;_ * "-"??_ ;_ @_ </c:formatCode>
                <c:ptCount val="29"/>
                <c:pt idx="1">
                  <c:v>97.590746257420619</c:v>
                </c:pt>
                <c:pt idx="4">
                  <c:v>129.85501373452712</c:v>
                </c:pt>
                <c:pt idx="7">
                  <c:v>148.77640652125615</c:v>
                </c:pt>
                <c:pt idx="10">
                  <c:v>182.68322454342382</c:v>
                </c:pt>
                <c:pt idx="13">
                  <c:v>201.78136534445622</c:v>
                </c:pt>
                <c:pt idx="16">
                  <c:v>247.78025878926161</c:v>
                </c:pt>
                <c:pt idx="19">
                  <c:v>272.82571306964445</c:v>
                </c:pt>
                <c:pt idx="22">
                  <c:v>320.7881132661426</c:v>
                </c:pt>
                <c:pt idx="25">
                  <c:v>363.87386712883955</c:v>
                </c:pt>
                <c:pt idx="28">
                  <c:v>369.87524384032645</c:v>
                </c:pt>
              </c:numCache>
            </c:numRef>
          </c:val>
          <c:extLst>
            <c:ext xmlns:c16="http://schemas.microsoft.com/office/drawing/2014/chart" uri="{C3380CC4-5D6E-409C-BE32-E72D297353CC}">
              <c16:uniqueId val="{00000004-1E5B-4B16-9F17-1AAF93790AE7}"/>
            </c:ext>
          </c:extLst>
        </c:ser>
        <c:ser>
          <c:idx val="3"/>
          <c:order val="3"/>
          <c:tx>
            <c:strRef>
              <c:f>Sheet1!$E$1</c:f>
              <c:strCache>
                <c:ptCount val="1"/>
                <c:pt idx="0">
                  <c:v>Revenue from Export</c:v>
                </c:pt>
              </c:strCache>
            </c:strRef>
          </c:tx>
          <c:spPr>
            <a:solidFill>
              <a:schemeClr val="accent4"/>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5-1E5B-4B16-9F17-1AAF93790AE7}"/>
                </c:ext>
              </c:extLst>
            </c:dLbl>
            <c:dLbl>
              <c:idx val="7"/>
              <c:layout>
                <c:manualLayout>
                  <c:x val="0"/>
                  <c:y val="-5.1485164570098878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1E5B-4B16-9F17-1AAF93790AE7}"/>
                </c:ext>
              </c:extLst>
            </c:dLbl>
            <c:dLbl>
              <c:idx val="10"/>
              <c:layout>
                <c:manualLayout>
                  <c:x val="0"/>
                  <c:y val="-6.435645571262359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1E5B-4B16-9F17-1AAF93790AE7}"/>
                </c:ext>
              </c:extLst>
            </c:dLbl>
            <c:dLbl>
              <c:idx val="13"/>
              <c:layout>
                <c:manualLayout>
                  <c:x val="3.3989700317897369E-3"/>
                  <c:y val="-6.435645571262359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1E5B-4B16-9F17-1AAF93790AE7}"/>
                </c:ext>
              </c:extLst>
            </c:dLbl>
            <c:dLbl>
              <c:idx val="16"/>
              <c:layout>
                <c:manualLayout>
                  <c:x val="0"/>
                  <c:y val="-6.864688609346521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1E5B-4B16-9F17-1AAF93790AE7}"/>
                </c:ext>
              </c:extLst>
            </c:dLbl>
            <c:dLbl>
              <c:idx val="19"/>
              <c:layout>
                <c:manualLayout>
                  <c:x val="-1.1329900105966622E-3"/>
                  <c:y val="-8.151817723598985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C-1E5B-4B16-9F17-1AAF93790AE7}"/>
                </c:ext>
              </c:extLst>
            </c:dLbl>
            <c:dLbl>
              <c:idx val="22"/>
              <c:layout>
                <c:manualLayout>
                  <c:x val="-1.661699486114054E-16"/>
                  <c:y val="-8.5808607616831498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D-1E5B-4B16-9F17-1AAF93790AE7}"/>
                </c:ext>
              </c:extLst>
            </c:dLbl>
            <c:dLbl>
              <c:idx val="25"/>
              <c:layout>
                <c:manualLayout>
                  <c:x val="0"/>
                  <c:y val="-9.0099037997673034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E-1E5B-4B16-9F17-1AAF93790AE7}"/>
                </c:ext>
              </c:extLst>
            </c:dLbl>
            <c:dLbl>
              <c:idx val="28"/>
              <c:layout>
                <c:manualLayout>
                  <c:x val="0"/>
                  <c:y val="-7.7227746855148313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F-1E5B-4B16-9F17-1AAF93790AE7}"/>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Sheet1!$A$2:$A$30</c:f>
              <c:strCache>
                <c:ptCount val="28"/>
                <c:pt idx="0">
                  <c:v>FY20</c:v>
                </c:pt>
                <c:pt idx="3">
                  <c:v>FY21</c:v>
                </c:pt>
                <c:pt idx="6">
                  <c:v>FY22</c:v>
                </c:pt>
                <c:pt idx="9">
                  <c:v>FY23</c:v>
                </c:pt>
                <c:pt idx="12">
                  <c:v>FY24</c:v>
                </c:pt>
                <c:pt idx="15">
                  <c:v>FY25</c:v>
                </c:pt>
                <c:pt idx="18">
                  <c:v>FY26</c:v>
                </c:pt>
                <c:pt idx="21">
                  <c:v>FY27</c:v>
                </c:pt>
                <c:pt idx="24">
                  <c:v>FY28</c:v>
                </c:pt>
                <c:pt idx="27">
                  <c:v>FY29</c:v>
                </c:pt>
              </c:strCache>
            </c:strRef>
          </c:cat>
          <c:val>
            <c:numRef>
              <c:f>Sheet1!$E$2:$E$30</c:f>
              <c:numCache>
                <c:formatCode>_ * #,##0_ ;_ * \-#,##0_ ;_ * "-"??_ ;_ @_ </c:formatCode>
                <c:ptCount val="29"/>
                <c:pt idx="1">
                  <c:v>1.0324079100702572</c:v>
                </c:pt>
                <c:pt idx="4">
                  <c:v>8.728419407999997</c:v>
                </c:pt>
                <c:pt idx="7">
                  <c:v>17.055571295999997</c:v>
                </c:pt>
                <c:pt idx="10">
                  <c:v>21.578756160000001</c:v>
                </c:pt>
                <c:pt idx="13">
                  <c:v>29.373872639999998</c:v>
                </c:pt>
                <c:pt idx="16">
                  <c:v>35.260931999999997</c:v>
                </c:pt>
                <c:pt idx="19">
                  <c:v>49.40401344</c:v>
                </c:pt>
                <c:pt idx="22">
                  <c:v>65.812016160000013</c:v>
                </c:pt>
                <c:pt idx="25">
                  <c:v>73.857951360000001</c:v>
                </c:pt>
                <c:pt idx="28">
                  <c:v>75.644837280000004</c:v>
                </c:pt>
              </c:numCache>
            </c:numRef>
          </c:val>
          <c:extLst>
            <c:ext xmlns:c16="http://schemas.microsoft.com/office/drawing/2014/chart" uri="{C3380CC4-5D6E-409C-BE32-E72D297353CC}">
              <c16:uniqueId val="{00000006-1E5B-4B16-9F17-1AAF93790AE7}"/>
            </c:ext>
          </c:extLst>
        </c:ser>
        <c:dLbls>
          <c:dLblPos val="ctr"/>
          <c:showLegendKey val="0"/>
          <c:showVal val="1"/>
          <c:showCatName val="0"/>
          <c:showSerName val="0"/>
          <c:showPercent val="0"/>
          <c:showBubbleSize val="0"/>
        </c:dLbls>
        <c:gapWidth val="0"/>
        <c:overlap val="100"/>
        <c:axId val="642213440"/>
        <c:axId val="642226232"/>
      </c:barChart>
      <c:catAx>
        <c:axId val="642213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42226232"/>
        <c:crosses val="autoZero"/>
        <c:auto val="1"/>
        <c:lblAlgn val="ctr"/>
        <c:lblOffset val="100"/>
        <c:noMultiLvlLbl val="0"/>
      </c:catAx>
      <c:valAx>
        <c:axId val="642226232"/>
        <c:scaling>
          <c:orientation val="minMax"/>
          <c:max val="450"/>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64221344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Sheet1!$A$2</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Sheet1!$B$2:$I$2</c:f>
              <c:numCache>
                <c:formatCode>_ * #,##0.0_ ;_ * \-#,##0.0_ ;_ * "-"??_ ;_ @_ </c:formatCode>
                <c:ptCount val="8"/>
                <c:pt idx="0">
                  <c:v>13.614422407908725</c:v>
                </c:pt>
              </c:numCache>
            </c:numRef>
          </c:val>
          <c:extLst>
            <c:ext xmlns:c16="http://schemas.microsoft.com/office/drawing/2014/chart" uri="{C3380CC4-5D6E-409C-BE32-E72D297353CC}">
              <c16:uniqueId val="{00000000-35D0-4D6E-B6D5-F0B4D8FF0EC2}"/>
            </c:ext>
          </c:extLst>
        </c:ser>
        <c:ser>
          <c:idx val="1"/>
          <c:order val="1"/>
          <c:tx>
            <c:strRef>
              <c:f>Sheet1!$A$3</c:f>
              <c:strCache>
                <c:ptCount val="1"/>
                <c:pt idx="0">
                  <c:v>Export</c:v>
                </c:pt>
              </c:strCache>
            </c:strRef>
          </c:tx>
          <c:spPr>
            <a:solidFill>
              <a:schemeClr val="accent2"/>
            </a:solidFill>
            <a:ln>
              <a:noFill/>
            </a:ln>
            <a:effectLst/>
          </c:spPr>
          <c:invertIfNegative val="0"/>
          <c:dPt>
            <c:idx val="1"/>
            <c:invertIfNegative val="0"/>
            <c:bubble3D val="0"/>
            <c:spPr>
              <a:solidFill>
                <a:srgbClr val="FFCD00"/>
              </a:solidFill>
              <a:ln>
                <a:noFill/>
              </a:ln>
              <a:effectLst/>
            </c:spPr>
            <c:extLst>
              <c:ext xmlns:c16="http://schemas.microsoft.com/office/drawing/2014/chart" uri="{C3380CC4-5D6E-409C-BE32-E72D297353CC}">
                <c16:uniqueId val="{00000002-35D0-4D6E-B6D5-F0B4D8FF0EC2}"/>
              </c:ext>
            </c:extLst>
          </c:dPt>
          <c:dLbls>
            <c:dLbl>
              <c:idx val="0"/>
              <c:layout>
                <c:manualLayout>
                  <c:x val="-5.9967416423844866E-3"/>
                  <c:y val="7.6904530563150844E-3"/>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Sheet1!$B$3:$I$3</c:f>
              <c:numCache>
                <c:formatCode>_ * #,##0.0_ ;_ * \-#,##0.0_ ;_ * "-"??_ ;_ @_ </c:formatCode>
                <c:ptCount val="8"/>
                <c:pt idx="0">
                  <c:v>2.139125641310812</c:v>
                </c:pt>
              </c:numCache>
            </c:numRef>
          </c:val>
          <c:extLst>
            <c:ext xmlns:c16="http://schemas.microsoft.com/office/drawing/2014/chart" uri="{C3380CC4-5D6E-409C-BE32-E72D297353CC}">
              <c16:uniqueId val="{00000004-35D0-4D6E-B6D5-F0B4D8FF0EC2}"/>
            </c:ext>
          </c:extLst>
        </c:ser>
        <c:ser>
          <c:idx val="2"/>
          <c:order val="2"/>
          <c:tx>
            <c:strRef>
              <c:f>Sheet1!$A$4</c:f>
              <c:strCache>
                <c:ptCount val="1"/>
                <c:pt idx="0">
                  <c:v>Other Income</c:v>
                </c:pt>
              </c:strCache>
            </c:strRef>
          </c:tx>
          <c:spPr>
            <a:solidFill>
              <a:schemeClr val="accent3"/>
            </a:solidFill>
            <a:ln>
              <a:noFill/>
            </a:ln>
            <a:effectLst/>
          </c:spPr>
          <c:invertIfNegative val="0"/>
          <c:dLbls>
            <c:dLbl>
              <c:idx val="0"/>
              <c:layout>
                <c:manualLayout>
                  <c:x val="-5.3249475890985321E-3"/>
                  <c:y val="-5.5498891333170784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Sheet1!$B$4:$I$4</c:f>
              <c:numCache>
                <c:formatCode>_ * #,##0.0_ ;_ * \-#,##0.0_ ;_ * "-"??_ ;_ @_ </c:formatCode>
                <c:ptCount val="8"/>
                <c:pt idx="0">
                  <c:v>1.0801225653424174</c:v>
                </c:pt>
              </c:numCache>
            </c:numRef>
          </c:val>
          <c:extLst>
            <c:ext xmlns:c16="http://schemas.microsoft.com/office/drawing/2014/chart" uri="{C3380CC4-5D6E-409C-BE32-E72D297353CC}">
              <c16:uniqueId val="{00000006-35D0-4D6E-B6D5-F0B4D8FF0EC2}"/>
            </c:ext>
          </c:extLst>
        </c:ser>
        <c:ser>
          <c:idx val="3"/>
          <c:order val="3"/>
          <c:tx>
            <c:strRef>
              <c:f>Sheet1!$A$5</c:f>
              <c:strCache>
                <c:ptCount val="1"/>
                <c:pt idx="0">
                  <c:v>Revenue Subsidy</c:v>
                </c:pt>
              </c:strCache>
            </c:strRef>
          </c:tx>
          <c:spPr>
            <a:solidFill>
              <a:schemeClr val="accent4"/>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08-35D0-4D6E-B6D5-F0B4D8FF0EC2}"/>
              </c:ext>
            </c:extLst>
          </c:dPt>
          <c:dPt>
            <c:idx val="3"/>
            <c:invertIfNegative val="0"/>
            <c:bubble3D val="0"/>
            <c:spPr>
              <a:noFill/>
              <a:ln>
                <a:noFill/>
              </a:ln>
              <a:effectLst/>
            </c:spPr>
            <c:extLst>
              <c:ext xmlns:c16="http://schemas.microsoft.com/office/drawing/2014/chart" uri="{C3380CC4-5D6E-409C-BE32-E72D297353CC}">
                <c16:uniqueId val="{0000000A-35D0-4D6E-B6D5-F0B4D8FF0EC2}"/>
              </c:ext>
            </c:extLst>
          </c:dPt>
          <c:dPt>
            <c:idx val="4"/>
            <c:invertIfNegative val="0"/>
            <c:bubble3D val="0"/>
            <c:spPr>
              <a:noFill/>
              <a:ln>
                <a:noFill/>
              </a:ln>
              <a:effectLst/>
            </c:spPr>
            <c:extLst>
              <c:ext xmlns:c16="http://schemas.microsoft.com/office/drawing/2014/chart" uri="{C3380CC4-5D6E-409C-BE32-E72D297353CC}">
                <c16:uniqueId val="{0000000C-35D0-4D6E-B6D5-F0B4D8FF0EC2}"/>
              </c:ext>
            </c:extLst>
          </c:dPt>
          <c:dPt>
            <c:idx val="5"/>
            <c:invertIfNegative val="0"/>
            <c:bubble3D val="0"/>
            <c:spPr>
              <a:noFill/>
              <a:ln>
                <a:noFill/>
              </a:ln>
              <a:effectLst/>
            </c:spPr>
            <c:extLst>
              <c:ext xmlns:c16="http://schemas.microsoft.com/office/drawing/2014/chart" uri="{C3380CC4-5D6E-409C-BE32-E72D297353CC}">
                <c16:uniqueId val="{0000000E-35D0-4D6E-B6D5-F0B4D8FF0EC2}"/>
              </c:ext>
            </c:extLst>
          </c:dPt>
          <c:dPt>
            <c:idx val="6"/>
            <c:invertIfNegative val="0"/>
            <c:bubble3D val="0"/>
            <c:spPr>
              <a:noFill/>
              <a:ln>
                <a:noFill/>
              </a:ln>
              <a:effectLst/>
            </c:spPr>
            <c:extLst>
              <c:ext xmlns:c16="http://schemas.microsoft.com/office/drawing/2014/chart" uri="{C3380CC4-5D6E-409C-BE32-E72D297353CC}">
                <c16:uniqueId val="{00000010-35D0-4D6E-B6D5-F0B4D8FF0EC2}"/>
              </c:ext>
            </c:extLst>
          </c:dPt>
          <c:dLbls>
            <c:dLbl>
              <c:idx val="1"/>
              <c:layout>
                <c:manualLayout>
                  <c:x val="5.3451178451178451E-2"/>
                  <c:y val="0.11070558550246329"/>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35D0-4D6E-B6D5-F0B4D8FF0EC2}"/>
                </c:ext>
              </c:extLst>
            </c:dLbl>
            <c:dLbl>
              <c:idx val="2"/>
              <c:delete val="1"/>
              <c:extLst>
                <c:ext xmlns:c15="http://schemas.microsoft.com/office/drawing/2012/chart" uri="{CE6537A1-D6FC-4f65-9D91-7224C49458BB}"/>
                <c:ext xmlns:c16="http://schemas.microsoft.com/office/drawing/2014/chart" uri="{C3380CC4-5D6E-409C-BE32-E72D297353CC}">
                  <c16:uniqueId val="{00000008-35D0-4D6E-B6D5-F0B4D8FF0EC2}"/>
                </c:ext>
              </c:extLst>
            </c:dLbl>
            <c:dLbl>
              <c:idx val="3"/>
              <c:delete val="1"/>
              <c:extLst>
                <c:ext xmlns:c15="http://schemas.microsoft.com/office/drawing/2012/chart" uri="{CE6537A1-D6FC-4f65-9D91-7224C49458BB}"/>
                <c:ext xmlns:c16="http://schemas.microsoft.com/office/drawing/2014/chart" uri="{C3380CC4-5D6E-409C-BE32-E72D297353CC}">
                  <c16:uniqueId val="{0000000A-35D0-4D6E-B6D5-F0B4D8FF0EC2}"/>
                </c:ext>
              </c:extLst>
            </c:dLbl>
            <c:dLbl>
              <c:idx val="4"/>
              <c:delete val="1"/>
              <c:extLst>
                <c:ext xmlns:c15="http://schemas.microsoft.com/office/drawing/2012/chart" uri="{CE6537A1-D6FC-4f65-9D91-7224C49458BB}"/>
                <c:ext xmlns:c16="http://schemas.microsoft.com/office/drawing/2014/chart" uri="{C3380CC4-5D6E-409C-BE32-E72D297353CC}">
                  <c16:uniqueId val="{0000000C-35D0-4D6E-B6D5-F0B4D8FF0EC2}"/>
                </c:ext>
              </c:extLst>
            </c:dLbl>
            <c:dLbl>
              <c:idx val="5"/>
              <c:delete val="1"/>
              <c:extLst>
                <c:ext xmlns:c15="http://schemas.microsoft.com/office/drawing/2012/chart" uri="{CE6537A1-D6FC-4f65-9D91-7224C49458BB}"/>
                <c:ext xmlns:c16="http://schemas.microsoft.com/office/drawing/2014/chart" uri="{C3380CC4-5D6E-409C-BE32-E72D297353CC}">
                  <c16:uniqueId val="{0000000E-35D0-4D6E-B6D5-F0B4D8FF0EC2}"/>
                </c:ext>
              </c:extLst>
            </c:dLbl>
            <c:dLbl>
              <c:idx val="6"/>
              <c:delete val="1"/>
              <c:extLst>
                <c:ext xmlns:c15="http://schemas.microsoft.com/office/drawing/2012/chart" uri="{CE6537A1-D6FC-4f65-9D91-7224C49458BB}"/>
                <c:ext xmlns:c16="http://schemas.microsoft.com/office/drawing/2014/chart" uri="{C3380CC4-5D6E-409C-BE32-E72D297353CC}">
                  <c16:uniqueId val="{00000010-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Sheet1!$B$5:$I$5</c:f>
              <c:numCache>
                <c:formatCode>_ * #,##0.0_ ;_ * \-#,##0.0_ ;_ * "-"??_ ;_ @_ </c:formatCode>
                <c:ptCount val="8"/>
                <c:pt idx="0">
                  <c:v>0</c:v>
                </c:pt>
              </c:numCache>
            </c:numRef>
          </c:val>
          <c:extLst>
            <c:ext xmlns:c16="http://schemas.microsoft.com/office/drawing/2014/chart" uri="{C3380CC4-5D6E-409C-BE32-E72D297353CC}">
              <c16:uniqueId val="{00000012-35D0-4D6E-B6D5-F0B4D8FF0EC2}"/>
            </c:ext>
          </c:extLst>
        </c:ser>
        <c:ser>
          <c:idx val="4"/>
          <c:order val="4"/>
          <c:tx>
            <c:strRef>
              <c:f>Sheet1!$A$6</c:f>
              <c:strCache>
                <c:ptCount val="1"/>
                <c:pt idx="0">
                  <c:v>Misc</c:v>
                </c:pt>
              </c:strCache>
            </c:strRef>
          </c:tx>
          <c:spPr>
            <a:solidFill>
              <a:schemeClr val="accent5"/>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14-35D0-4D6E-B6D5-F0B4D8FF0EC2}"/>
              </c:ext>
            </c:extLst>
          </c:dPt>
          <c:dPt>
            <c:idx val="3"/>
            <c:invertIfNegative val="0"/>
            <c:bubble3D val="0"/>
            <c:spPr>
              <a:noFill/>
              <a:ln>
                <a:noFill/>
              </a:ln>
              <a:effectLst/>
            </c:spPr>
            <c:extLst>
              <c:ext xmlns:c16="http://schemas.microsoft.com/office/drawing/2014/chart" uri="{C3380CC4-5D6E-409C-BE32-E72D297353CC}">
                <c16:uniqueId val="{00000016-35D0-4D6E-B6D5-F0B4D8FF0EC2}"/>
              </c:ext>
            </c:extLst>
          </c:dPt>
          <c:dPt>
            <c:idx val="4"/>
            <c:invertIfNegative val="0"/>
            <c:bubble3D val="0"/>
            <c:spPr>
              <a:noFill/>
              <a:ln>
                <a:noFill/>
              </a:ln>
              <a:effectLst/>
            </c:spPr>
            <c:extLst>
              <c:ext xmlns:c16="http://schemas.microsoft.com/office/drawing/2014/chart" uri="{C3380CC4-5D6E-409C-BE32-E72D297353CC}">
                <c16:uniqueId val="{00000018-35D0-4D6E-B6D5-F0B4D8FF0EC2}"/>
              </c:ext>
            </c:extLst>
          </c:dPt>
          <c:dPt>
            <c:idx val="5"/>
            <c:invertIfNegative val="0"/>
            <c:bubble3D val="0"/>
            <c:spPr>
              <a:noFill/>
              <a:ln>
                <a:noFill/>
              </a:ln>
              <a:effectLst/>
            </c:spPr>
            <c:extLst>
              <c:ext xmlns:c16="http://schemas.microsoft.com/office/drawing/2014/chart" uri="{C3380CC4-5D6E-409C-BE32-E72D297353CC}">
                <c16:uniqueId val="{0000001A-35D0-4D6E-B6D5-F0B4D8FF0EC2}"/>
              </c:ext>
            </c:extLst>
          </c:dPt>
          <c:dPt>
            <c:idx val="6"/>
            <c:invertIfNegative val="0"/>
            <c:bubble3D val="0"/>
            <c:spPr>
              <a:noFill/>
              <a:ln>
                <a:noFill/>
              </a:ln>
              <a:effectLst/>
            </c:spPr>
            <c:extLst>
              <c:ext xmlns:c16="http://schemas.microsoft.com/office/drawing/2014/chart" uri="{C3380CC4-5D6E-409C-BE32-E72D297353CC}">
                <c16:uniqueId val="{0000001C-35D0-4D6E-B6D5-F0B4D8FF0EC2}"/>
              </c:ext>
            </c:extLst>
          </c:dPt>
          <c:dLbls>
            <c:dLbl>
              <c:idx val="2"/>
              <c:delete val="1"/>
              <c:extLst>
                <c:ext xmlns:c15="http://schemas.microsoft.com/office/drawing/2012/chart" uri="{CE6537A1-D6FC-4f65-9D91-7224C49458BB}"/>
                <c:ext xmlns:c16="http://schemas.microsoft.com/office/drawing/2014/chart" uri="{C3380CC4-5D6E-409C-BE32-E72D297353CC}">
                  <c16:uniqueId val="{00000014-35D0-4D6E-B6D5-F0B4D8FF0EC2}"/>
                </c:ext>
              </c:extLst>
            </c:dLbl>
            <c:dLbl>
              <c:idx val="3"/>
              <c:delete val="1"/>
              <c:extLst>
                <c:ext xmlns:c15="http://schemas.microsoft.com/office/drawing/2012/chart" uri="{CE6537A1-D6FC-4f65-9D91-7224C49458BB}"/>
                <c:ext xmlns:c16="http://schemas.microsoft.com/office/drawing/2014/chart" uri="{C3380CC4-5D6E-409C-BE32-E72D297353CC}">
                  <c16:uniqueId val="{00000016-35D0-4D6E-B6D5-F0B4D8FF0EC2}"/>
                </c:ext>
              </c:extLst>
            </c:dLbl>
            <c:dLbl>
              <c:idx val="4"/>
              <c:delete val="1"/>
              <c:extLst>
                <c:ext xmlns:c15="http://schemas.microsoft.com/office/drawing/2012/chart" uri="{CE6537A1-D6FC-4f65-9D91-7224C49458BB}"/>
                <c:ext xmlns:c16="http://schemas.microsoft.com/office/drawing/2014/chart" uri="{C3380CC4-5D6E-409C-BE32-E72D297353CC}">
                  <c16:uniqueId val="{00000018-35D0-4D6E-B6D5-F0B4D8FF0EC2}"/>
                </c:ext>
              </c:extLst>
            </c:dLbl>
            <c:dLbl>
              <c:idx val="5"/>
              <c:delete val="1"/>
              <c:extLst>
                <c:ext xmlns:c15="http://schemas.microsoft.com/office/drawing/2012/chart" uri="{CE6537A1-D6FC-4f65-9D91-7224C49458BB}"/>
                <c:ext xmlns:c16="http://schemas.microsoft.com/office/drawing/2014/chart" uri="{C3380CC4-5D6E-409C-BE32-E72D297353CC}">
                  <c16:uniqueId val="{0000001A-35D0-4D6E-B6D5-F0B4D8FF0EC2}"/>
                </c:ext>
              </c:extLst>
            </c:dLbl>
            <c:dLbl>
              <c:idx val="6"/>
              <c:delete val="1"/>
              <c:extLst>
                <c:ext xmlns:c15="http://schemas.microsoft.com/office/drawing/2012/chart" uri="{CE6537A1-D6FC-4f65-9D91-7224C49458BB}"/>
                <c:ext xmlns:c16="http://schemas.microsoft.com/office/drawing/2014/chart" uri="{C3380CC4-5D6E-409C-BE32-E72D297353CC}">
                  <c16:uniqueId val="{0000001C-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Sheet1!$B$6:$I$6</c:f>
              <c:numCache>
                <c:formatCode>_ * #,##0.0_ ;_ * \-#,##0.0_ ;_ * "-"??_ ;_ @_ </c:formatCode>
                <c:ptCount val="8"/>
                <c:pt idx="1">
                  <c:v>16.833670614561953</c:v>
                </c:pt>
                <c:pt idx="2">
                  <c:v>7.4248937777247104</c:v>
                </c:pt>
                <c:pt idx="3">
                  <c:v>6.262011247329097</c:v>
                </c:pt>
                <c:pt idx="4">
                  <c:v>4.5928835469963118</c:v>
                </c:pt>
                <c:pt idx="5">
                  <c:v>2.5805727101206433</c:v>
                </c:pt>
                <c:pt idx="6">
                  <c:v>1.9354295325904829</c:v>
                </c:pt>
                <c:pt idx="7">
                  <c:v>0</c:v>
                </c:pt>
              </c:numCache>
            </c:numRef>
          </c:val>
          <c:extLst>
            <c:ext xmlns:c16="http://schemas.microsoft.com/office/drawing/2014/chart" uri="{C3380CC4-5D6E-409C-BE32-E72D297353CC}">
              <c16:uniqueId val="{0000001D-35D0-4D6E-B6D5-F0B4D8FF0EC2}"/>
            </c:ext>
          </c:extLst>
        </c:ser>
        <c:ser>
          <c:idx val="5"/>
          <c:order val="5"/>
          <c:tx>
            <c:strRef>
              <c:f>Sheet1!$A$7</c:f>
              <c:strCache>
                <c:ptCount val="1"/>
                <c:pt idx="0">
                  <c:v>PP Cost</c:v>
                </c:pt>
              </c:strCache>
            </c:strRef>
          </c:tx>
          <c:spPr>
            <a:solidFill>
              <a:schemeClr val="accent6"/>
            </a:solidFill>
            <a:ln>
              <a:noFill/>
            </a:ln>
            <a:effectLst/>
          </c:spPr>
          <c:invertIfNegative val="0"/>
          <c:dLbls>
            <c:dLbl>
              <c:idx val="3"/>
              <c:layout>
                <c:manualLayout>
                  <c:x val="7.8980099502487557E-3"/>
                  <c:y val="-7.66423284247822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35D0-4D6E-B6D5-F0B4D8FF0EC2}"/>
                </c:ext>
              </c:extLst>
            </c:dLbl>
            <c:dLbl>
              <c:idx val="4"/>
              <c:layout>
                <c:manualLayout>
                  <c:x val="3.4612159329140461E-2"/>
                  <c:y val="-0.142379018874028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Sheet1!$B$7:$I$7</c:f>
              <c:numCache>
                <c:formatCode>_ * #,##0.0_ ;_ * \-#,##0.0_ ;_ * "-"??_ ;_ @_ </c:formatCode>
                <c:ptCount val="8"/>
                <c:pt idx="2">
                  <c:v>9.4087768368372426</c:v>
                </c:pt>
              </c:numCache>
            </c:numRef>
          </c:val>
          <c:extLst>
            <c:ext xmlns:c16="http://schemas.microsoft.com/office/drawing/2014/chart" uri="{C3380CC4-5D6E-409C-BE32-E72D297353CC}">
              <c16:uniqueId val="{00000020-35D0-4D6E-B6D5-F0B4D8FF0EC2}"/>
            </c:ext>
          </c:extLst>
        </c:ser>
        <c:ser>
          <c:idx val="6"/>
          <c:order val="6"/>
          <c:tx>
            <c:strRef>
              <c:f>Sheet1!$A$8</c:f>
              <c:strCache>
                <c:ptCount val="1"/>
                <c:pt idx="0">
                  <c:v>T&amp;D Loss</c:v>
                </c:pt>
              </c:strCache>
            </c:strRef>
          </c:tx>
          <c:spPr>
            <a:solidFill>
              <a:schemeClr val="accent1">
                <a:lumMod val="60000"/>
              </a:schemeClr>
            </a:solidFill>
            <a:ln>
              <a:noFill/>
            </a:ln>
            <a:effectLst/>
          </c:spPr>
          <c:invertIfNegative val="0"/>
          <c:dLbls>
            <c:dLbl>
              <c:idx val="3"/>
              <c:layout>
                <c:manualLayout>
                  <c:x val="3.1592039800995023E-2"/>
                  <c:y val="-5.9610699885941809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1-35D0-4D6E-B6D5-F0B4D8FF0EC2}"/>
                </c:ext>
              </c:extLst>
            </c:dLbl>
            <c:dLbl>
              <c:idx val="4"/>
              <c:layout>
                <c:manualLayout>
                  <c:x val="3.6857379767827526E-2"/>
                  <c:y val="-7.66423284247822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35D0-4D6E-B6D5-F0B4D8FF0EC2}"/>
                </c:ext>
              </c:extLst>
            </c:dLbl>
            <c:dLbl>
              <c:idx val="5"/>
              <c:layout>
                <c:manualLayout>
                  <c:x val="1.5974842767295501E-2"/>
                  <c:y val="-0.1118692291153081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Sheet1!$B$8:$I$8</c:f>
              <c:numCache>
                <c:formatCode>_ * #,##0.0_ ;_ * \-#,##0.0_ ;_ * "-"??_ ;_ @_ </c:formatCode>
                <c:ptCount val="8"/>
                <c:pt idx="3">
                  <c:v>1.1628825303956138</c:v>
                </c:pt>
              </c:numCache>
            </c:numRef>
          </c:val>
          <c:extLst>
            <c:ext xmlns:c16="http://schemas.microsoft.com/office/drawing/2014/chart" uri="{C3380CC4-5D6E-409C-BE32-E72D297353CC}">
              <c16:uniqueId val="{00000024-35D0-4D6E-B6D5-F0B4D8FF0EC2}"/>
            </c:ext>
          </c:extLst>
        </c:ser>
        <c:ser>
          <c:idx val="7"/>
          <c:order val="7"/>
          <c:tx>
            <c:strRef>
              <c:f>Sheet1!$A$9</c:f>
              <c:strCache>
                <c:ptCount val="1"/>
                <c:pt idx="0">
                  <c:v>O&amp;M</c:v>
                </c:pt>
              </c:strCache>
            </c:strRef>
          </c:tx>
          <c:spPr>
            <a:solidFill>
              <a:schemeClr val="accent2">
                <a:lumMod val="60000"/>
              </a:schemeClr>
            </a:solidFill>
            <a:ln>
              <a:noFill/>
            </a:ln>
            <a:effectLst/>
          </c:spPr>
          <c:invertIfNegative val="0"/>
          <c:dLbls>
            <c:dLbl>
              <c:idx val="4"/>
              <c:layout>
                <c:manualLayout>
                  <c:x val="4.4755389718076286E-2"/>
                  <c:y val="-8.941604982891267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5-35D0-4D6E-B6D5-F0B4D8FF0EC2}"/>
                </c:ext>
              </c:extLst>
            </c:dLbl>
            <c:dLbl>
              <c:idx val="5"/>
              <c:layout>
                <c:manualLayout>
                  <c:x val="3.9490049751243685E-2"/>
                  <c:y val="-9.793186409833284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Sheet1!$B$9:$I$9</c:f>
              <c:numCache>
                <c:formatCode>_ * #,##0.0_ ;_ * \-#,##0.0_ ;_ * "-"??_ ;_ @_ </c:formatCode>
                <c:ptCount val="8"/>
                <c:pt idx="4">
                  <c:v>1.6691277003327858</c:v>
                </c:pt>
              </c:numCache>
            </c:numRef>
          </c:val>
          <c:extLst>
            <c:ext xmlns:c16="http://schemas.microsoft.com/office/drawing/2014/chart" uri="{C3380CC4-5D6E-409C-BE32-E72D297353CC}">
              <c16:uniqueId val="{00000027-35D0-4D6E-B6D5-F0B4D8FF0EC2}"/>
            </c:ext>
          </c:extLst>
        </c:ser>
        <c:ser>
          <c:idx val="8"/>
          <c:order val="8"/>
          <c:tx>
            <c:strRef>
              <c:f>Sheet1!$A$10</c:f>
              <c:strCache>
                <c:ptCount val="1"/>
                <c:pt idx="0">
                  <c:v>Financing</c:v>
                </c:pt>
              </c:strCache>
            </c:strRef>
          </c:tx>
          <c:spPr>
            <a:solidFill>
              <a:schemeClr val="accent3">
                <a:lumMod val="60000"/>
              </a:schemeClr>
            </a:solidFill>
            <a:ln>
              <a:noFill/>
            </a:ln>
            <a:effectLst/>
          </c:spPr>
          <c:invertIfNegative val="0"/>
          <c:dLbls>
            <c:dLbl>
              <c:idx val="5"/>
              <c:layout>
                <c:manualLayout>
                  <c:x val="6.3184079601989948E-2"/>
                  <c:y val="-4.6836978481811439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8-35D0-4D6E-B6D5-F0B4D8FF0EC2}"/>
                </c:ext>
              </c:extLst>
            </c:dLbl>
            <c:dLbl>
              <c:idx val="6"/>
              <c:layout>
                <c:manualLayout>
                  <c:x val="2.2786972311137268E-3"/>
                  <c:y val="-5.16068093898205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Sheet1!$B$10:$I$10</c:f>
              <c:numCache>
                <c:formatCode>_ * #,##0.0_ ;_ * \-#,##0.0_ ;_ * "-"??_ ;_ @_ </c:formatCode>
                <c:ptCount val="8"/>
                <c:pt idx="5">
                  <c:v>2.0123108368756677</c:v>
                </c:pt>
              </c:numCache>
            </c:numRef>
          </c:val>
          <c:extLst>
            <c:ext xmlns:c16="http://schemas.microsoft.com/office/drawing/2014/chart" uri="{C3380CC4-5D6E-409C-BE32-E72D297353CC}">
              <c16:uniqueId val="{0000002A-35D0-4D6E-B6D5-F0B4D8FF0EC2}"/>
            </c:ext>
          </c:extLst>
        </c:ser>
        <c:ser>
          <c:idx val="9"/>
          <c:order val="9"/>
          <c:tx>
            <c:strRef>
              <c:f>Sheet1!$A$11</c:f>
              <c:strCache>
                <c:ptCount val="1"/>
                <c:pt idx="0">
                  <c:v>Tax</c:v>
                </c:pt>
              </c:strCache>
            </c:strRef>
          </c:tx>
          <c:spPr>
            <a:solidFill>
              <a:schemeClr val="accent4">
                <a:lumMod val="60000"/>
              </a:schemeClr>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2B-35D0-4D6E-B6D5-F0B4D8FF0EC2}"/>
                </c:ext>
              </c:extLst>
            </c:dLbl>
            <c:dLbl>
              <c:idx val="6"/>
              <c:layout>
                <c:manualLayout>
                  <c:x val="2.3694029850746267E-2"/>
                  <c:y val="-5.53527927512316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C-35D0-4D6E-B6D5-F0B4D8FF0EC2}"/>
                </c:ext>
              </c:extLst>
            </c:dLbl>
            <c:dLbl>
              <c:idx val="7"/>
              <c:layout>
                <c:manualLayout>
                  <c:x val="-1.061048922056404E-2"/>
                  <c:y val="-8.5158142694202396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Sheet1!$B$11:$I$11</c:f>
              <c:numCache>
                <c:formatCode>_ * #,##0.0_ ;_ * \-#,##0.0_ ;_ * "-"??_ ;_ @_ </c:formatCode>
                <c:ptCount val="8"/>
                <c:pt idx="6">
                  <c:v>0.64514317753016037</c:v>
                </c:pt>
              </c:numCache>
            </c:numRef>
          </c:val>
          <c:extLst>
            <c:ext xmlns:c16="http://schemas.microsoft.com/office/drawing/2014/chart" uri="{C3380CC4-5D6E-409C-BE32-E72D297353CC}">
              <c16:uniqueId val="{0000002E-35D0-4D6E-B6D5-F0B4D8FF0EC2}"/>
            </c:ext>
          </c:extLst>
        </c:ser>
        <c:ser>
          <c:idx val="10"/>
          <c:order val="10"/>
          <c:tx>
            <c:strRef>
              <c:f>Sheet1!$A$12</c:f>
              <c:strCache>
                <c:ptCount val="1"/>
                <c:pt idx="0">
                  <c:v>Return</c:v>
                </c:pt>
              </c:strCache>
            </c:strRef>
          </c:tx>
          <c:spPr>
            <a:solidFill>
              <a:schemeClr val="accent5">
                <a:lumMod val="60000"/>
              </a:schemeClr>
            </a:solidFill>
            <a:ln>
              <a:noFill/>
            </a:ln>
            <a:effectLst/>
          </c:spPr>
          <c:invertIfNegative val="0"/>
          <c:dLbls>
            <c:dLbl>
              <c:idx val="7"/>
              <c:layout>
                <c:manualLayout>
                  <c:x val="1.5796019900497511E-2"/>
                  <c:y val="-6.386860702065184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F-35D0-4D6E-B6D5-F0B4D8FF0E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Sheet1!$B$12:$I$12</c:f>
              <c:numCache>
                <c:formatCode>_ * #,##0.0_ ;_ * \-#,##0.0_ ;_ * "-"??_ ;_ @_ </c:formatCode>
                <c:ptCount val="8"/>
                <c:pt idx="7">
                  <c:v>1.9354295325904838</c:v>
                </c:pt>
              </c:numCache>
            </c:numRef>
          </c:val>
          <c:extLst>
            <c:ext xmlns:c16="http://schemas.microsoft.com/office/drawing/2014/chart" uri="{C3380CC4-5D6E-409C-BE32-E72D297353CC}">
              <c16:uniqueId val="{00000030-35D0-4D6E-B6D5-F0B4D8FF0EC2}"/>
            </c:ext>
          </c:extLst>
        </c:ser>
        <c:dLbls>
          <c:dLblPos val="ctr"/>
          <c:showLegendKey val="0"/>
          <c:showVal val="1"/>
          <c:showCatName val="0"/>
          <c:showSerName val="0"/>
          <c:showPercent val="0"/>
          <c:showBubbleSize val="0"/>
        </c:dLbls>
        <c:gapWidth val="150"/>
        <c:overlap val="100"/>
        <c:axId val="652685672"/>
        <c:axId val="652684032"/>
      </c:barChart>
      <c:catAx>
        <c:axId val="652685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652684032"/>
        <c:crosses val="autoZero"/>
        <c:auto val="1"/>
        <c:lblAlgn val="ctr"/>
        <c:lblOffset val="100"/>
        <c:noMultiLvlLbl val="0"/>
      </c:catAx>
      <c:valAx>
        <c:axId val="652684032"/>
        <c:scaling>
          <c:orientation val="minMax"/>
        </c:scaling>
        <c:delete val="0"/>
        <c:axPos val="l"/>
        <c:numFmt formatCode="_ * #,##0.0_ ;_ * \-#,##0.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52685672"/>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10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Sheet1!$A$2</c:f>
              <c:strCache>
                <c:ptCount val="1"/>
                <c:pt idx="0">
                  <c:v>Revenue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Sheet1!$B$2:$I$2</c:f>
              <c:numCache>
                <c:formatCode>_ * #,##0.0_ ;_ * \-#,##0.0_ ;_ * "-"??_ ;_ @_ </c:formatCode>
                <c:ptCount val="8"/>
                <c:pt idx="0">
                  <c:v>10.386346054248342</c:v>
                </c:pt>
              </c:numCache>
            </c:numRef>
          </c:val>
          <c:extLst>
            <c:ext xmlns:c16="http://schemas.microsoft.com/office/drawing/2014/chart" uri="{C3380CC4-5D6E-409C-BE32-E72D297353CC}">
              <c16:uniqueId val="{00000000-55E1-4EAF-83A2-20ECE1D38928}"/>
            </c:ext>
          </c:extLst>
        </c:ser>
        <c:ser>
          <c:idx val="1"/>
          <c:order val="1"/>
          <c:tx>
            <c:strRef>
              <c:f>Sheet1!$A$3</c:f>
              <c:strCache>
                <c:ptCount val="1"/>
                <c:pt idx="0">
                  <c:v>Export</c:v>
                </c:pt>
              </c:strCache>
            </c:strRef>
          </c:tx>
          <c:spPr>
            <a:solidFill>
              <a:schemeClr val="accent2"/>
            </a:solidFill>
            <a:ln>
              <a:noFill/>
            </a:ln>
            <a:effectLst/>
          </c:spPr>
          <c:invertIfNegative val="0"/>
          <c:dPt>
            <c:idx val="1"/>
            <c:invertIfNegative val="0"/>
            <c:bubble3D val="0"/>
            <c:spPr>
              <a:solidFill>
                <a:srgbClr val="FFCD00"/>
              </a:solidFill>
              <a:ln>
                <a:noFill/>
              </a:ln>
              <a:effectLst/>
            </c:spPr>
            <c:extLst>
              <c:ext xmlns:c16="http://schemas.microsoft.com/office/drawing/2014/chart" uri="{C3380CC4-5D6E-409C-BE32-E72D297353CC}">
                <c16:uniqueId val="{00000002-55E1-4EAF-83A2-20ECE1D38928}"/>
              </c:ext>
            </c:extLst>
          </c:dPt>
          <c:dLbls>
            <c:dLbl>
              <c:idx val="0"/>
              <c:layout>
                <c:manualLayout>
                  <c:x val="-5.9967416423844866E-3"/>
                  <c:y val="7.6904530563150844E-3"/>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Sheet1!$B$3:$I$3</c:f>
              <c:numCache>
                <c:formatCode>_ * #,##0.0_ ;_ * \-#,##0.0_ ;_ * "-"??_ ;_ @_ </c:formatCode>
                <c:ptCount val="8"/>
                <c:pt idx="0">
                  <c:v>5.4575783222051595E-3</c:v>
                </c:pt>
              </c:numCache>
            </c:numRef>
          </c:val>
          <c:extLst>
            <c:ext xmlns:c16="http://schemas.microsoft.com/office/drawing/2014/chart" uri="{C3380CC4-5D6E-409C-BE32-E72D297353CC}">
              <c16:uniqueId val="{00000004-55E1-4EAF-83A2-20ECE1D38928}"/>
            </c:ext>
          </c:extLst>
        </c:ser>
        <c:ser>
          <c:idx val="2"/>
          <c:order val="2"/>
          <c:tx>
            <c:strRef>
              <c:f>Sheet1!$A$4</c:f>
              <c:strCache>
                <c:ptCount val="1"/>
                <c:pt idx="0">
                  <c:v>Other Income</c:v>
                </c:pt>
              </c:strCache>
            </c:strRef>
          </c:tx>
          <c:spPr>
            <a:solidFill>
              <a:schemeClr val="accent3"/>
            </a:solidFill>
            <a:ln>
              <a:noFill/>
            </a:ln>
            <a:effectLst/>
          </c:spPr>
          <c:invertIfNegative val="0"/>
          <c:dLbls>
            <c:dLbl>
              <c:idx val="0"/>
              <c:layout>
                <c:manualLayout>
                  <c:x val="-5.3249475890985321E-3"/>
                  <c:y val="-5.5498891333170784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Sheet1!$B$4:$I$4</c:f>
              <c:numCache>
                <c:formatCode>_ * #,##0.0_ ;_ * \-#,##0.0_ ;_ * "-"??_ ;_ @_ </c:formatCode>
                <c:ptCount val="8"/>
                <c:pt idx="0">
                  <c:v>1.183196328037476</c:v>
                </c:pt>
              </c:numCache>
            </c:numRef>
          </c:val>
          <c:extLst>
            <c:ext xmlns:c16="http://schemas.microsoft.com/office/drawing/2014/chart" uri="{C3380CC4-5D6E-409C-BE32-E72D297353CC}">
              <c16:uniqueId val="{00000006-55E1-4EAF-83A2-20ECE1D38928}"/>
            </c:ext>
          </c:extLst>
        </c:ser>
        <c:ser>
          <c:idx val="3"/>
          <c:order val="3"/>
          <c:tx>
            <c:strRef>
              <c:f>Sheet1!$A$5</c:f>
              <c:strCache>
                <c:ptCount val="1"/>
                <c:pt idx="0">
                  <c:v>Revenue Subsidy</c:v>
                </c:pt>
              </c:strCache>
            </c:strRef>
          </c:tx>
          <c:spPr>
            <a:solidFill>
              <a:schemeClr val="accent4"/>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08-55E1-4EAF-83A2-20ECE1D38928}"/>
              </c:ext>
            </c:extLst>
          </c:dPt>
          <c:dPt>
            <c:idx val="3"/>
            <c:invertIfNegative val="0"/>
            <c:bubble3D val="0"/>
            <c:spPr>
              <a:noFill/>
              <a:ln>
                <a:noFill/>
              </a:ln>
              <a:effectLst/>
            </c:spPr>
            <c:extLst>
              <c:ext xmlns:c16="http://schemas.microsoft.com/office/drawing/2014/chart" uri="{C3380CC4-5D6E-409C-BE32-E72D297353CC}">
                <c16:uniqueId val="{0000000A-55E1-4EAF-83A2-20ECE1D38928}"/>
              </c:ext>
            </c:extLst>
          </c:dPt>
          <c:dPt>
            <c:idx val="4"/>
            <c:invertIfNegative val="0"/>
            <c:bubble3D val="0"/>
            <c:spPr>
              <a:noFill/>
              <a:ln>
                <a:noFill/>
              </a:ln>
              <a:effectLst/>
            </c:spPr>
            <c:extLst>
              <c:ext xmlns:c16="http://schemas.microsoft.com/office/drawing/2014/chart" uri="{C3380CC4-5D6E-409C-BE32-E72D297353CC}">
                <c16:uniqueId val="{0000000C-55E1-4EAF-83A2-20ECE1D38928}"/>
              </c:ext>
            </c:extLst>
          </c:dPt>
          <c:dPt>
            <c:idx val="5"/>
            <c:invertIfNegative val="0"/>
            <c:bubble3D val="0"/>
            <c:spPr>
              <a:noFill/>
              <a:ln>
                <a:noFill/>
              </a:ln>
              <a:effectLst/>
            </c:spPr>
            <c:extLst>
              <c:ext xmlns:c16="http://schemas.microsoft.com/office/drawing/2014/chart" uri="{C3380CC4-5D6E-409C-BE32-E72D297353CC}">
                <c16:uniqueId val="{0000000E-55E1-4EAF-83A2-20ECE1D38928}"/>
              </c:ext>
            </c:extLst>
          </c:dPt>
          <c:dPt>
            <c:idx val="6"/>
            <c:invertIfNegative val="0"/>
            <c:bubble3D val="0"/>
            <c:spPr>
              <a:noFill/>
              <a:ln>
                <a:noFill/>
              </a:ln>
              <a:effectLst/>
            </c:spPr>
            <c:extLst>
              <c:ext xmlns:c16="http://schemas.microsoft.com/office/drawing/2014/chart" uri="{C3380CC4-5D6E-409C-BE32-E72D297353CC}">
                <c16:uniqueId val="{00000010-55E1-4EAF-83A2-20ECE1D38928}"/>
              </c:ext>
            </c:extLst>
          </c:dPt>
          <c:dLbls>
            <c:dLbl>
              <c:idx val="1"/>
              <c:layout>
                <c:manualLayout>
                  <c:x val="5.3451178451178451E-2"/>
                  <c:y val="0.11070558550246329"/>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5E1-4EAF-83A2-20ECE1D38928}"/>
                </c:ext>
              </c:extLst>
            </c:dLbl>
            <c:dLbl>
              <c:idx val="2"/>
              <c:delete val="1"/>
              <c:extLst>
                <c:ext xmlns:c15="http://schemas.microsoft.com/office/drawing/2012/chart" uri="{CE6537A1-D6FC-4f65-9D91-7224C49458BB}"/>
                <c:ext xmlns:c16="http://schemas.microsoft.com/office/drawing/2014/chart" uri="{C3380CC4-5D6E-409C-BE32-E72D297353CC}">
                  <c16:uniqueId val="{00000008-55E1-4EAF-83A2-20ECE1D38928}"/>
                </c:ext>
              </c:extLst>
            </c:dLbl>
            <c:dLbl>
              <c:idx val="3"/>
              <c:delete val="1"/>
              <c:extLst>
                <c:ext xmlns:c15="http://schemas.microsoft.com/office/drawing/2012/chart" uri="{CE6537A1-D6FC-4f65-9D91-7224C49458BB}"/>
                <c:ext xmlns:c16="http://schemas.microsoft.com/office/drawing/2014/chart" uri="{C3380CC4-5D6E-409C-BE32-E72D297353CC}">
                  <c16:uniqueId val="{0000000A-55E1-4EAF-83A2-20ECE1D38928}"/>
                </c:ext>
              </c:extLst>
            </c:dLbl>
            <c:dLbl>
              <c:idx val="4"/>
              <c:delete val="1"/>
              <c:extLst>
                <c:ext xmlns:c15="http://schemas.microsoft.com/office/drawing/2012/chart" uri="{CE6537A1-D6FC-4f65-9D91-7224C49458BB}"/>
                <c:ext xmlns:c16="http://schemas.microsoft.com/office/drawing/2014/chart" uri="{C3380CC4-5D6E-409C-BE32-E72D297353CC}">
                  <c16:uniqueId val="{0000000C-55E1-4EAF-83A2-20ECE1D38928}"/>
                </c:ext>
              </c:extLst>
            </c:dLbl>
            <c:dLbl>
              <c:idx val="5"/>
              <c:delete val="1"/>
              <c:extLst>
                <c:ext xmlns:c15="http://schemas.microsoft.com/office/drawing/2012/chart" uri="{CE6537A1-D6FC-4f65-9D91-7224C49458BB}"/>
                <c:ext xmlns:c16="http://schemas.microsoft.com/office/drawing/2014/chart" uri="{C3380CC4-5D6E-409C-BE32-E72D297353CC}">
                  <c16:uniqueId val="{0000000E-55E1-4EAF-83A2-20ECE1D38928}"/>
                </c:ext>
              </c:extLst>
            </c:dLbl>
            <c:dLbl>
              <c:idx val="6"/>
              <c:delete val="1"/>
              <c:extLst>
                <c:ext xmlns:c15="http://schemas.microsoft.com/office/drawing/2012/chart" uri="{CE6537A1-D6FC-4f65-9D91-7224C49458BB}"/>
                <c:ext xmlns:c16="http://schemas.microsoft.com/office/drawing/2014/chart" uri="{C3380CC4-5D6E-409C-BE32-E72D297353CC}">
                  <c16:uniqueId val="{00000010-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Sheet1!$B$5:$I$5</c:f>
              <c:numCache>
                <c:formatCode>_ * #,##0.0_ ;_ * \-#,##0.0_ ;_ * "-"??_ ;_ @_ </c:formatCode>
                <c:ptCount val="8"/>
                <c:pt idx="0">
                  <c:v>0</c:v>
                </c:pt>
              </c:numCache>
            </c:numRef>
          </c:val>
          <c:extLst>
            <c:ext xmlns:c16="http://schemas.microsoft.com/office/drawing/2014/chart" uri="{C3380CC4-5D6E-409C-BE32-E72D297353CC}">
              <c16:uniqueId val="{00000012-55E1-4EAF-83A2-20ECE1D38928}"/>
            </c:ext>
          </c:extLst>
        </c:ser>
        <c:ser>
          <c:idx val="4"/>
          <c:order val="4"/>
          <c:tx>
            <c:strRef>
              <c:f>Sheet1!$A$6</c:f>
              <c:strCache>
                <c:ptCount val="1"/>
                <c:pt idx="0">
                  <c:v>Misc</c:v>
                </c:pt>
              </c:strCache>
            </c:strRef>
          </c:tx>
          <c:spPr>
            <a:solidFill>
              <a:schemeClr val="accent5"/>
            </a:solidFill>
            <a:ln>
              <a:noFill/>
            </a:ln>
            <a:effectLst/>
          </c:spPr>
          <c:invertIfNegative val="0"/>
          <c:dPt>
            <c:idx val="2"/>
            <c:invertIfNegative val="0"/>
            <c:bubble3D val="0"/>
            <c:spPr>
              <a:noFill/>
              <a:ln>
                <a:noFill/>
              </a:ln>
              <a:effectLst/>
            </c:spPr>
            <c:extLst>
              <c:ext xmlns:c16="http://schemas.microsoft.com/office/drawing/2014/chart" uri="{C3380CC4-5D6E-409C-BE32-E72D297353CC}">
                <c16:uniqueId val="{00000014-55E1-4EAF-83A2-20ECE1D38928}"/>
              </c:ext>
            </c:extLst>
          </c:dPt>
          <c:dPt>
            <c:idx val="3"/>
            <c:invertIfNegative val="0"/>
            <c:bubble3D val="0"/>
            <c:spPr>
              <a:noFill/>
              <a:ln>
                <a:noFill/>
              </a:ln>
              <a:effectLst/>
            </c:spPr>
            <c:extLst>
              <c:ext xmlns:c16="http://schemas.microsoft.com/office/drawing/2014/chart" uri="{C3380CC4-5D6E-409C-BE32-E72D297353CC}">
                <c16:uniqueId val="{00000016-55E1-4EAF-83A2-20ECE1D38928}"/>
              </c:ext>
            </c:extLst>
          </c:dPt>
          <c:dPt>
            <c:idx val="4"/>
            <c:invertIfNegative val="0"/>
            <c:bubble3D val="0"/>
            <c:spPr>
              <a:noFill/>
              <a:ln>
                <a:noFill/>
              </a:ln>
              <a:effectLst/>
            </c:spPr>
            <c:extLst>
              <c:ext xmlns:c16="http://schemas.microsoft.com/office/drawing/2014/chart" uri="{C3380CC4-5D6E-409C-BE32-E72D297353CC}">
                <c16:uniqueId val="{00000018-55E1-4EAF-83A2-20ECE1D38928}"/>
              </c:ext>
            </c:extLst>
          </c:dPt>
          <c:dPt>
            <c:idx val="5"/>
            <c:invertIfNegative val="0"/>
            <c:bubble3D val="0"/>
            <c:spPr>
              <a:noFill/>
              <a:ln>
                <a:noFill/>
              </a:ln>
              <a:effectLst/>
            </c:spPr>
            <c:extLst>
              <c:ext xmlns:c16="http://schemas.microsoft.com/office/drawing/2014/chart" uri="{C3380CC4-5D6E-409C-BE32-E72D297353CC}">
                <c16:uniqueId val="{0000001A-55E1-4EAF-83A2-20ECE1D38928}"/>
              </c:ext>
            </c:extLst>
          </c:dPt>
          <c:dPt>
            <c:idx val="6"/>
            <c:invertIfNegative val="0"/>
            <c:bubble3D val="0"/>
            <c:spPr>
              <a:noFill/>
              <a:ln>
                <a:noFill/>
              </a:ln>
              <a:effectLst/>
            </c:spPr>
            <c:extLst>
              <c:ext xmlns:c16="http://schemas.microsoft.com/office/drawing/2014/chart" uri="{C3380CC4-5D6E-409C-BE32-E72D297353CC}">
                <c16:uniqueId val="{0000001C-55E1-4EAF-83A2-20ECE1D38928}"/>
              </c:ext>
            </c:extLst>
          </c:dPt>
          <c:dLbls>
            <c:dLbl>
              <c:idx val="2"/>
              <c:delete val="1"/>
              <c:extLst>
                <c:ext xmlns:c15="http://schemas.microsoft.com/office/drawing/2012/chart" uri="{CE6537A1-D6FC-4f65-9D91-7224C49458BB}"/>
                <c:ext xmlns:c16="http://schemas.microsoft.com/office/drawing/2014/chart" uri="{C3380CC4-5D6E-409C-BE32-E72D297353CC}">
                  <c16:uniqueId val="{00000014-55E1-4EAF-83A2-20ECE1D38928}"/>
                </c:ext>
              </c:extLst>
            </c:dLbl>
            <c:dLbl>
              <c:idx val="3"/>
              <c:delete val="1"/>
              <c:extLst>
                <c:ext xmlns:c15="http://schemas.microsoft.com/office/drawing/2012/chart" uri="{CE6537A1-D6FC-4f65-9D91-7224C49458BB}"/>
                <c:ext xmlns:c16="http://schemas.microsoft.com/office/drawing/2014/chart" uri="{C3380CC4-5D6E-409C-BE32-E72D297353CC}">
                  <c16:uniqueId val="{00000016-55E1-4EAF-83A2-20ECE1D38928}"/>
                </c:ext>
              </c:extLst>
            </c:dLbl>
            <c:dLbl>
              <c:idx val="4"/>
              <c:delete val="1"/>
              <c:extLst>
                <c:ext xmlns:c15="http://schemas.microsoft.com/office/drawing/2012/chart" uri="{CE6537A1-D6FC-4f65-9D91-7224C49458BB}"/>
                <c:ext xmlns:c16="http://schemas.microsoft.com/office/drawing/2014/chart" uri="{C3380CC4-5D6E-409C-BE32-E72D297353CC}">
                  <c16:uniqueId val="{00000018-55E1-4EAF-83A2-20ECE1D38928}"/>
                </c:ext>
              </c:extLst>
            </c:dLbl>
            <c:dLbl>
              <c:idx val="5"/>
              <c:delete val="1"/>
              <c:extLst>
                <c:ext xmlns:c15="http://schemas.microsoft.com/office/drawing/2012/chart" uri="{CE6537A1-D6FC-4f65-9D91-7224C49458BB}"/>
                <c:ext xmlns:c16="http://schemas.microsoft.com/office/drawing/2014/chart" uri="{C3380CC4-5D6E-409C-BE32-E72D297353CC}">
                  <c16:uniqueId val="{0000001A-55E1-4EAF-83A2-20ECE1D38928}"/>
                </c:ext>
              </c:extLst>
            </c:dLbl>
            <c:dLbl>
              <c:idx val="6"/>
              <c:delete val="1"/>
              <c:extLst>
                <c:ext xmlns:c15="http://schemas.microsoft.com/office/drawing/2012/chart" uri="{CE6537A1-D6FC-4f65-9D91-7224C49458BB}"/>
                <c:ext xmlns:c16="http://schemas.microsoft.com/office/drawing/2014/chart" uri="{C3380CC4-5D6E-409C-BE32-E72D297353CC}">
                  <c16:uniqueId val="{0000001C-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Sheet1!$B$6:$I$6</c:f>
              <c:numCache>
                <c:formatCode>_ * #,##0.0_ ;_ * \-#,##0.0_ ;_ * "-"??_ ;_ @_ </c:formatCode>
                <c:ptCount val="8"/>
                <c:pt idx="1">
                  <c:v>11.574999960608023</c:v>
                </c:pt>
                <c:pt idx="2">
                  <c:v>6.2775429875792783</c:v>
                </c:pt>
                <c:pt idx="3">
                  <c:v>5.3191446597901413</c:v>
                </c:pt>
                <c:pt idx="4">
                  <c:v>2.6204551506585565</c:v>
                </c:pt>
                <c:pt idx="5">
                  <c:v>1.135221627140758</c:v>
                </c:pt>
                <c:pt idx="6">
                  <c:v>1.135221627140758</c:v>
                </c:pt>
                <c:pt idx="7">
                  <c:v>0</c:v>
                </c:pt>
              </c:numCache>
            </c:numRef>
          </c:val>
          <c:extLst>
            <c:ext xmlns:c16="http://schemas.microsoft.com/office/drawing/2014/chart" uri="{C3380CC4-5D6E-409C-BE32-E72D297353CC}">
              <c16:uniqueId val="{0000001D-55E1-4EAF-83A2-20ECE1D38928}"/>
            </c:ext>
          </c:extLst>
        </c:ser>
        <c:ser>
          <c:idx val="5"/>
          <c:order val="5"/>
          <c:tx>
            <c:strRef>
              <c:f>Sheet1!$A$7</c:f>
              <c:strCache>
                <c:ptCount val="1"/>
                <c:pt idx="0">
                  <c:v>PP Cost</c:v>
                </c:pt>
              </c:strCache>
            </c:strRef>
          </c:tx>
          <c:spPr>
            <a:solidFill>
              <a:schemeClr val="accent6"/>
            </a:solidFill>
            <a:ln>
              <a:noFill/>
            </a:ln>
            <a:effectLst/>
          </c:spPr>
          <c:invertIfNegative val="0"/>
          <c:dLbls>
            <c:dLbl>
              <c:idx val="3"/>
              <c:layout>
                <c:manualLayout>
                  <c:x val="7.8980099502487557E-3"/>
                  <c:y val="-7.66423284247822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55E1-4EAF-83A2-20ECE1D38928}"/>
                </c:ext>
              </c:extLst>
            </c:dLbl>
            <c:dLbl>
              <c:idx val="4"/>
              <c:layout>
                <c:manualLayout>
                  <c:x val="3.4612159329140461E-2"/>
                  <c:y val="-0.142379018874028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Sheet1!$B$7:$I$7</c:f>
              <c:numCache>
                <c:formatCode>_ * #,##0.0_ ;_ * \-#,##0.0_ ;_ * "-"??_ ;_ @_ </c:formatCode>
                <c:ptCount val="8"/>
                <c:pt idx="2">
                  <c:v>5.2974569730287451</c:v>
                </c:pt>
              </c:numCache>
            </c:numRef>
          </c:val>
          <c:extLst>
            <c:ext xmlns:c16="http://schemas.microsoft.com/office/drawing/2014/chart" uri="{C3380CC4-5D6E-409C-BE32-E72D297353CC}">
              <c16:uniqueId val="{00000020-55E1-4EAF-83A2-20ECE1D38928}"/>
            </c:ext>
          </c:extLst>
        </c:ser>
        <c:ser>
          <c:idx val="6"/>
          <c:order val="6"/>
          <c:tx>
            <c:strRef>
              <c:f>Sheet1!$A$8</c:f>
              <c:strCache>
                <c:ptCount val="1"/>
                <c:pt idx="0">
                  <c:v>T&amp;D Loss</c:v>
                </c:pt>
              </c:strCache>
            </c:strRef>
          </c:tx>
          <c:spPr>
            <a:solidFill>
              <a:schemeClr val="accent1">
                <a:lumMod val="60000"/>
              </a:schemeClr>
            </a:solidFill>
            <a:ln>
              <a:noFill/>
            </a:ln>
            <a:effectLst/>
          </c:spPr>
          <c:invertIfNegative val="0"/>
          <c:dLbls>
            <c:dLbl>
              <c:idx val="3"/>
              <c:layout>
                <c:manualLayout>
                  <c:x val="3.1592039800995023E-2"/>
                  <c:y val="-5.9610699885941809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1-55E1-4EAF-83A2-20ECE1D38928}"/>
                </c:ext>
              </c:extLst>
            </c:dLbl>
            <c:dLbl>
              <c:idx val="4"/>
              <c:layout>
                <c:manualLayout>
                  <c:x val="3.6857379767827526E-2"/>
                  <c:y val="-7.664232842478223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55E1-4EAF-83A2-20ECE1D38928}"/>
                </c:ext>
              </c:extLst>
            </c:dLbl>
            <c:dLbl>
              <c:idx val="5"/>
              <c:layout>
                <c:manualLayout>
                  <c:x val="1.5974842767295501E-2"/>
                  <c:y val="-0.1118692291153081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Sheet1!$B$8:$I$8</c:f>
              <c:numCache>
                <c:formatCode>_ * #,##0.0_ ;_ * \-#,##0.0_ ;_ * "-"??_ ;_ @_ </c:formatCode>
                <c:ptCount val="8"/>
                <c:pt idx="3">
                  <c:v>0.95839832778913703</c:v>
                </c:pt>
              </c:numCache>
            </c:numRef>
          </c:val>
          <c:extLst>
            <c:ext xmlns:c16="http://schemas.microsoft.com/office/drawing/2014/chart" uri="{C3380CC4-5D6E-409C-BE32-E72D297353CC}">
              <c16:uniqueId val="{00000024-55E1-4EAF-83A2-20ECE1D38928}"/>
            </c:ext>
          </c:extLst>
        </c:ser>
        <c:ser>
          <c:idx val="7"/>
          <c:order val="7"/>
          <c:tx>
            <c:strRef>
              <c:f>Sheet1!$A$9</c:f>
              <c:strCache>
                <c:ptCount val="1"/>
                <c:pt idx="0">
                  <c:v>O&amp;M</c:v>
                </c:pt>
              </c:strCache>
            </c:strRef>
          </c:tx>
          <c:spPr>
            <a:solidFill>
              <a:schemeClr val="accent2">
                <a:lumMod val="60000"/>
              </a:schemeClr>
            </a:solidFill>
            <a:ln>
              <a:noFill/>
            </a:ln>
            <a:effectLst/>
          </c:spPr>
          <c:invertIfNegative val="0"/>
          <c:dLbls>
            <c:dLbl>
              <c:idx val="4"/>
              <c:layout>
                <c:manualLayout>
                  <c:x val="4.4755389718076286E-2"/>
                  <c:y val="-8.9416049828912672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5-55E1-4EAF-83A2-20ECE1D38928}"/>
                </c:ext>
              </c:extLst>
            </c:dLbl>
            <c:dLbl>
              <c:idx val="5"/>
              <c:layout>
                <c:manualLayout>
                  <c:x val="3.9490049751243685E-2"/>
                  <c:y val="-9.793186409833284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Sheet1!$B$9:$I$9</c:f>
              <c:numCache>
                <c:formatCode>_ * #,##0.0_ ;_ * \-#,##0.0_ ;_ * "-"??_ ;_ @_ </c:formatCode>
                <c:ptCount val="8"/>
                <c:pt idx="4">
                  <c:v>2.6986895091315852</c:v>
                </c:pt>
              </c:numCache>
            </c:numRef>
          </c:val>
          <c:extLst>
            <c:ext xmlns:c16="http://schemas.microsoft.com/office/drawing/2014/chart" uri="{C3380CC4-5D6E-409C-BE32-E72D297353CC}">
              <c16:uniqueId val="{00000027-55E1-4EAF-83A2-20ECE1D38928}"/>
            </c:ext>
          </c:extLst>
        </c:ser>
        <c:ser>
          <c:idx val="8"/>
          <c:order val="8"/>
          <c:tx>
            <c:strRef>
              <c:f>Sheet1!$A$10</c:f>
              <c:strCache>
                <c:ptCount val="1"/>
                <c:pt idx="0">
                  <c:v>Financing</c:v>
                </c:pt>
              </c:strCache>
            </c:strRef>
          </c:tx>
          <c:spPr>
            <a:solidFill>
              <a:schemeClr val="accent3">
                <a:lumMod val="60000"/>
              </a:schemeClr>
            </a:solidFill>
            <a:ln>
              <a:noFill/>
            </a:ln>
            <a:effectLst/>
          </c:spPr>
          <c:invertIfNegative val="0"/>
          <c:dLbls>
            <c:dLbl>
              <c:idx val="5"/>
              <c:layout>
                <c:manualLayout>
                  <c:x val="6.3184079601989948E-2"/>
                  <c:y val="-4.6836978481811439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8-55E1-4EAF-83A2-20ECE1D38928}"/>
                </c:ext>
              </c:extLst>
            </c:dLbl>
            <c:dLbl>
              <c:idx val="6"/>
              <c:layout>
                <c:manualLayout>
                  <c:x val="2.2786972311137268E-3"/>
                  <c:y val="-5.16068093898205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Sheet1!$B$10:$I$10</c:f>
              <c:numCache>
                <c:formatCode>_ * #,##0.0_ ;_ * \-#,##0.0_ ;_ * "-"??_ ;_ @_ </c:formatCode>
                <c:ptCount val="8"/>
                <c:pt idx="5">
                  <c:v>1.485233523517798</c:v>
                </c:pt>
              </c:numCache>
            </c:numRef>
          </c:val>
          <c:extLst>
            <c:ext xmlns:c16="http://schemas.microsoft.com/office/drawing/2014/chart" uri="{C3380CC4-5D6E-409C-BE32-E72D297353CC}">
              <c16:uniqueId val="{0000002A-55E1-4EAF-83A2-20ECE1D38928}"/>
            </c:ext>
          </c:extLst>
        </c:ser>
        <c:ser>
          <c:idx val="9"/>
          <c:order val="9"/>
          <c:tx>
            <c:strRef>
              <c:f>Sheet1!$A$11</c:f>
              <c:strCache>
                <c:ptCount val="1"/>
                <c:pt idx="0">
                  <c:v>Tax</c:v>
                </c:pt>
              </c:strCache>
            </c:strRef>
          </c:tx>
          <c:spPr>
            <a:solidFill>
              <a:schemeClr val="accent4">
                <a:lumMod val="60000"/>
              </a:schemeClr>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2B-55E1-4EAF-83A2-20ECE1D38928}"/>
                </c:ext>
              </c:extLst>
            </c:dLbl>
            <c:dLbl>
              <c:idx val="6"/>
              <c:layout>
                <c:manualLayout>
                  <c:x val="2.3694029850746267E-2"/>
                  <c:y val="-5.535279275123161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C-55E1-4EAF-83A2-20ECE1D38928}"/>
                </c:ext>
              </c:extLst>
            </c:dLbl>
            <c:dLbl>
              <c:idx val="7"/>
              <c:layout>
                <c:manualLayout>
                  <c:x val="-1.061048922056404E-2"/>
                  <c:y val="-8.5158142694202396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Sheet1!$B$11:$I$11</c:f>
              <c:numCache>
                <c:formatCode>_ * #,##0.0_ ;_ * \-#,##0.0_ ;_ * "-"??_ ;_ @_ </c:formatCode>
                <c:ptCount val="8"/>
                <c:pt idx="6">
                  <c:v>0</c:v>
                </c:pt>
              </c:numCache>
            </c:numRef>
          </c:val>
          <c:extLst>
            <c:ext xmlns:c16="http://schemas.microsoft.com/office/drawing/2014/chart" uri="{C3380CC4-5D6E-409C-BE32-E72D297353CC}">
              <c16:uniqueId val="{0000002E-55E1-4EAF-83A2-20ECE1D38928}"/>
            </c:ext>
          </c:extLst>
        </c:ser>
        <c:ser>
          <c:idx val="10"/>
          <c:order val="10"/>
          <c:tx>
            <c:strRef>
              <c:f>Sheet1!$A$12</c:f>
              <c:strCache>
                <c:ptCount val="1"/>
                <c:pt idx="0">
                  <c:v>Return</c:v>
                </c:pt>
              </c:strCache>
            </c:strRef>
          </c:tx>
          <c:spPr>
            <a:solidFill>
              <a:schemeClr val="accent5">
                <a:lumMod val="60000"/>
              </a:schemeClr>
            </a:solidFill>
            <a:ln>
              <a:noFill/>
            </a:ln>
            <a:effectLst/>
          </c:spPr>
          <c:invertIfNegative val="0"/>
          <c:dLbls>
            <c:dLbl>
              <c:idx val="7"/>
              <c:layout>
                <c:manualLayout>
                  <c:x val="1.5796019900497511E-2"/>
                  <c:y val="-6.3868607020651849E-2"/>
                </c:manualLayout>
              </c:layout>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2F-55E1-4EAF-83A2-20ECE1D38928}"/>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Sheet1!$B$1:$I$1</c:f>
              <c:strCache>
                <c:ptCount val="8"/>
                <c:pt idx="0">
                  <c:v> Revenue, Export, OI &amp; Subsidy </c:v>
                </c:pt>
                <c:pt idx="1">
                  <c:v>Total Cost</c:v>
                </c:pt>
                <c:pt idx="2">
                  <c:v>PP Cost</c:v>
                </c:pt>
                <c:pt idx="3">
                  <c:v>T&amp;D Loss</c:v>
                </c:pt>
                <c:pt idx="4">
                  <c:v>O&amp;M</c:v>
                </c:pt>
                <c:pt idx="5">
                  <c:v>Financing</c:v>
                </c:pt>
                <c:pt idx="6">
                  <c:v>Tax</c:v>
                </c:pt>
                <c:pt idx="7">
                  <c:v>Return</c:v>
                </c:pt>
              </c:strCache>
            </c:strRef>
          </c:cat>
          <c:val>
            <c:numRef>
              <c:f>Sheet1!$B$12:$I$12</c:f>
              <c:numCache>
                <c:formatCode>_ * #,##0.0_ ;_ * \-#,##0.0_ ;_ * "-"??_ ;_ @_ </c:formatCode>
                <c:ptCount val="8"/>
                <c:pt idx="7">
                  <c:v>1.135221627140756</c:v>
                </c:pt>
              </c:numCache>
            </c:numRef>
          </c:val>
          <c:extLst>
            <c:ext xmlns:c16="http://schemas.microsoft.com/office/drawing/2014/chart" uri="{C3380CC4-5D6E-409C-BE32-E72D297353CC}">
              <c16:uniqueId val="{00000030-55E1-4EAF-83A2-20ECE1D38928}"/>
            </c:ext>
          </c:extLst>
        </c:ser>
        <c:dLbls>
          <c:dLblPos val="ctr"/>
          <c:showLegendKey val="0"/>
          <c:showVal val="1"/>
          <c:showCatName val="0"/>
          <c:showSerName val="0"/>
          <c:showPercent val="0"/>
          <c:showBubbleSize val="0"/>
        </c:dLbls>
        <c:gapWidth val="150"/>
        <c:overlap val="100"/>
        <c:axId val="652685672"/>
        <c:axId val="652684032"/>
      </c:barChart>
      <c:catAx>
        <c:axId val="652685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n-US"/>
          </a:p>
        </c:txPr>
        <c:crossAx val="652684032"/>
        <c:crosses val="autoZero"/>
        <c:auto val="1"/>
        <c:lblAlgn val="ctr"/>
        <c:lblOffset val="100"/>
        <c:noMultiLvlLbl val="0"/>
      </c:catAx>
      <c:valAx>
        <c:axId val="652684032"/>
        <c:scaling>
          <c:orientation val="minMax"/>
        </c:scaling>
        <c:delete val="0"/>
        <c:axPos val="l"/>
        <c:numFmt formatCode="_ * #,##0.0_ ;_ * \-#,##0.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52685672"/>
        <c:crosses val="autoZero"/>
        <c:crossBetween val="between"/>
      </c:valAx>
      <c:spPr>
        <a:noFill/>
        <a:ln>
          <a:noFill/>
        </a:ln>
        <a:effectLst/>
      </c:spPr>
    </c:plotArea>
    <c:plotVisOnly val="1"/>
    <c:dispBlanksAs val="gap"/>
    <c:showDLblsOverMax val="0"/>
  </c:chart>
  <c:spPr>
    <a:noFill/>
    <a:ln>
      <a:solidFill>
        <a:schemeClr val="tx1"/>
      </a:solid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1/31/2020</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1/31/2020</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2900207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a:pPr/>
              <a:t>92</a:t>
            </a:fld>
            <a:endParaRPr lang="en-US" dirty="0"/>
          </a:p>
        </p:txBody>
      </p:sp>
    </p:spTree>
    <p:extLst>
      <p:ext uri="{BB962C8B-B14F-4D97-AF65-F5344CB8AC3E}">
        <p14:creationId xmlns:p14="http://schemas.microsoft.com/office/powerpoint/2010/main" val="2968036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75200" y="5530390"/>
            <a:ext cx="5592012" cy="324000"/>
          </a:xfrm>
        </p:spPr>
        <p:txBody>
          <a:bodyPr anchor="t" anchorCtr="0">
            <a:noAutofit/>
          </a:bodyPr>
          <a:lstStyle>
            <a:lvl1pPr algn="l">
              <a:lnSpc>
                <a:spcPct val="100000"/>
              </a:lnSpc>
              <a:defRPr sz="180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smtClean="0"/>
              <a:t>Click icon to add picture</a:t>
            </a:r>
            <a:endParaRPr lang="en-US" noProof="0" dirty="0"/>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75325" y="553039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rm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smtClean="0"/>
              <a:t>Click icon to add picture</a:t>
            </a:r>
            <a:endParaRPr lang="en-US" noProof="0" dirty="0"/>
          </a:p>
        </p:txBody>
      </p:sp>
    </p:spTree>
    <p:extLst>
      <p:ext uri="{BB962C8B-B14F-4D97-AF65-F5344CB8AC3E}">
        <p14:creationId xmlns:p14="http://schemas.microsoft.com/office/powerpoint/2010/main" val="2783079461"/>
      </p:ext>
    </p:extLst>
  </p:cSld>
  <p:clrMapOvr>
    <a:masterClrMapping/>
  </p:clrMapOvr>
  <p:transition>
    <p:fade/>
  </p:transition>
  <p:extLst mod="1">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smtClean="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rm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mod="1">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bg1"/>
                </a:solidFill>
              </a:rPr>
              <a:t>FVAP (Update)</a:t>
            </a:r>
            <a:r>
              <a:rPr lang="en-US" sz="650" baseline="0" noProof="0" dirty="0" smtClean="0">
                <a:solidFill>
                  <a:schemeClr val="bg1"/>
                </a:solidFill>
              </a:rPr>
              <a:t> of NEA</a:t>
            </a:r>
            <a:endParaRPr lang="en-US" sz="650" noProof="0" dirty="0">
              <a:solidFill>
                <a:schemeClr val="bg1"/>
              </a:solidFill>
            </a:endParaRPr>
          </a:p>
        </p:txBody>
      </p:sp>
      <p:sp>
        <p:nvSpPr>
          <p:cNvPr id="8" name="TextBox 7"/>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bg1"/>
                </a:solidFill>
              </a:rPr>
              <a:t>Deloitte </a:t>
            </a:r>
            <a:r>
              <a:rPr lang="en-US" sz="650" noProof="0" dirty="0" err="1" smtClean="0">
                <a:solidFill>
                  <a:schemeClr val="bg1"/>
                </a:solidFill>
              </a:rPr>
              <a:t>Touche</a:t>
            </a:r>
            <a:r>
              <a:rPr lang="en-US" sz="650" noProof="0" dirty="0" smtClean="0">
                <a:solidFill>
                  <a:schemeClr val="bg1"/>
                </a:solidFill>
              </a:rPr>
              <a:t> Tohmatsu India LLP</a:t>
            </a:r>
            <a:endParaRPr lang="en-US" sz="650"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bg1"/>
                </a:solidFill>
              </a:rPr>
              <a:t>FVAP (Update)</a:t>
            </a:r>
            <a:r>
              <a:rPr lang="en-US" sz="650" baseline="0" noProof="0" dirty="0" smtClean="0">
                <a:solidFill>
                  <a:schemeClr val="bg1"/>
                </a:solidFill>
              </a:rPr>
              <a:t> of NEA</a:t>
            </a:r>
            <a:endParaRPr lang="en-US" sz="650" noProof="0" dirty="0">
              <a:solidFill>
                <a:schemeClr val="bg1"/>
              </a:solidFill>
            </a:endParaRPr>
          </a:p>
        </p:txBody>
      </p:sp>
      <p:sp>
        <p:nvSpPr>
          <p:cNvPr id="8" name="TextBox 7"/>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bg1"/>
                </a:solidFill>
              </a:rPr>
              <a:t>Deloitte </a:t>
            </a:r>
            <a:r>
              <a:rPr lang="en-US" sz="650" noProof="0" dirty="0" err="1" smtClean="0">
                <a:solidFill>
                  <a:schemeClr val="bg1"/>
                </a:solidFill>
              </a:rPr>
              <a:t>Touche</a:t>
            </a:r>
            <a:r>
              <a:rPr lang="en-US" sz="650" noProof="0" dirty="0" smtClean="0">
                <a:solidFill>
                  <a:schemeClr val="bg1"/>
                </a:solidFill>
              </a:rPr>
              <a:t> Tohmatsu India LLP</a:t>
            </a:r>
            <a:endParaRPr lang="en-US" sz="650"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0" name="TextBox 9"/>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bg1"/>
                </a:solidFill>
              </a:rPr>
              <a:t>FVAP (Update)</a:t>
            </a:r>
            <a:r>
              <a:rPr lang="en-US" sz="650" baseline="0" noProof="0" dirty="0" smtClean="0">
                <a:solidFill>
                  <a:schemeClr val="bg1"/>
                </a:solidFill>
              </a:rPr>
              <a:t> of NEA</a:t>
            </a:r>
            <a:endParaRPr lang="en-US" sz="650" noProof="0" dirty="0">
              <a:solidFill>
                <a:schemeClr val="bg1"/>
              </a:solidFill>
            </a:endParaRPr>
          </a:p>
        </p:txBody>
      </p:sp>
      <p:sp>
        <p:nvSpPr>
          <p:cNvPr id="11" name="TextBox 10"/>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bg1"/>
                </a:solidFill>
              </a:rPr>
              <a:t>Deloitte </a:t>
            </a:r>
            <a:r>
              <a:rPr lang="en-US" sz="650" noProof="0" dirty="0" err="1" smtClean="0">
                <a:solidFill>
                  <a:schemeClr val="bg1"/>
                </a:solidFill>
              </a:rPr>
              <a:t>Touche</a:t>
            </a:r>
            <a:r>
              <a:rPr lang="en-US" sz="650" noProof="0" dirty="0" smtClean="0">
                <a:solidFill>
                  <a:schemeClr val="bg1"/>
                </a:solidFill>
              </a:rPr>
              <a:t> Tohmatsu India LLP</a:t>
            </a:r>
            <a:endParaRPr lang="en-US" sz="650"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bg1"/>
                </a:solidFill>
              </a:rPr>
              <a:t>FVAP (Update)</a:t>
            </a:r>
            <a:r>
              <a:rPr lang="en-US" sz="650" baseline="0" noProof="0" dirty="0" smtClean="0">
                <a:solidFill>
                  <a:schemeClr val="bg1"/>
                </a:solidFill>
              </a:rPr>
              <a:t> of NEA</a:t>
            </a:r>
            <a:endParaRPr lang="en-US" sz="650" noProof="0" dirty="0">
              <a:solidFill>
                <a:schemeClr val="bg1"/>
              </a:solidFill>
            </a:endParaRPr>
          </a:p>
        </p:txBody>
      </p:sp>
      <p:sp>
        <p:nvSpPr>
          <p:cNvPr id="8" name="TextBox 7"/>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bg1"/>
                </a:solidFill>
              </a:rPr>
              <a:t>Deloitte </a:t>
            </a:r>
            <a:r>
              <a:rPr lang="en-US" sz="650" noProof="0" dirty="0" err="1" smtClean="0">
                <a:solidFill>
                  <a:schemeClr val="bg1"/>
                </a:solidFill>
              </a:rPr>
              <a:t>Touche</a:t>
            </a:r>
            <a:r>
              <a:rPr lang="en-US" sz="650" noProof="0" dirty="0" smtClean="0">
                <a:solidFill>
                  <a:schemeClr val="bg1"/>
                </a:solidFill>
              </a:rPr>
              <a:t> Tohmatsu India LLP</a:t>
            </a:r>
            <a:endParaRPr lang="en-US" sz="650"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7" name="TextBox 6"/>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bg1"/>
                </a:solidFill>
              </a:rPr>
              <a:t>FVAP (Update)</a:t>
            </a:r>
            <a:r>
              <a:rPr lang="en-US" sz="650" baseline="0" noProof="0" dirty="0" smtClean="0">
                <a:solidFill>
                  <a:schemeClr val="bg1"/>
                </a:solidFill>
              </a:rPr>
              <a:t> of NEA</a:t>
            </a:r>
            <a:endParaRPr lang="en-US" sz="650" noProof="0" dirty="0">
              <a:solidFill>
                <a:schemeClr val="bg1"/>
              </a:solidFill>
            </a:endParaRPr>
          </a:p>
        </p:txBody>
      </p:sp>
      <p:sp>
        <p:nvSpPr>
          <p:cNvPr id="8" name="TextBox 7"/>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bg1"/>
                </a:solidFill>
              </a:rPr>
              <a:t>Deloitte </a:t>
            </a:r>
            <a:r>
              <a:rPr lang="en-US" sz="650" noProof="0" dirty="0" err="1" smtClean="0">
                <a:solidFill>
                  <a:schemeClr val="bg1"/>
                </a:solidFill>
              </a:rPr>
              <a:t>Touche</a:t>
            </a:r>
            <a:r>
              <a:rPr lang="en-US" sz="650" noProof="0" dirty="0" smtClean="0">
                <a:solidFill>
                  <a:schemeClr val="bg1"/>
                </a:solidFill>
              </a:rPr>
              <a:t> Tohmatsu India LLP</a:t>
            </a:r>
            <a:endParaRPr lang="en-US" sz="650"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smtClean="0"/>
              <a:t>Click to edit Master title style</a:t>
            </a:r>
            <a:endParaRPr lang="en-US"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smtClean="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smtClean="0"/>
              <a:t>Edit Master text styles</a:t>
            </a:r>
          </a:p>
        </p:txBody>
      </p:sp>
      <p:sp>
        <p:nvSpPr>
          <p:cNvPr id="9" name="TextBox 8"/>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0" y="6477000"/>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smtClean="0"/>
              <a:t>Edit Master text styles</a:t>
            </a:r>
          </a:p>
        </p:txBody>
      </p:sp>
      <p:sp>
        <p:nvSpPr>
          <p:cNvPr id="14" name="TextBox 13"/>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0" y="6477000"/>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smtClean="0"/>
              <a:t>Edit Master text styles</a:t>
            </a:r>
          </a:p>
        </p:txBody>
      </p:sp>
      <p:sp>
        <p:nvSpPr>
          <p:cNvPr id="18" name="TextBox 17"/>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0" y="6477000"/>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smtClean="0"/>
              <a:t>Edit Master text styles</a:t>
            </a:r>
          </a:p>
        </p:txBody>
      </p:sp>
      <p:sp>
        <p:nvSpPr>
          <p:cNvPr id="14" name="TextBox 13"/>
          <p:cNvSpPr txBox="1"/>
          <p:nvPr userDrawn="1"/>
        </p:nvSpPr>
        <p:spPr>
          <a:xfrm>
            <a:off x="5825067" y="6477000"/>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0" y="6477000"/>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smtClean="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smtClean="0"/>
              <a:t>Click icon to add picture</a:t>
            </a:r>
            <a:endParaRPr lang="en-US" noProof="0" dirty="0"/>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US" noProof="0" smtClean="0"/>
              <a:t>Click icon to add chart</a:t>
            </a:r>
            <a:endParaRPr lang="en-US"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US" noProof="0" smtClean="0"/>
              <a:t>Edit Master text styles</a:t>
            </a:r>
          </a:p>
        </p:txBody>
      </p:sp>
      <p:sp>
        <p:nvSpPr>
          <p:cNvPr id="19" name="Text Placeholder 7"/>
          <p:cNvSpPr>
            <a:spLocks noGrp="1"/>
          </p:cNvSpPr>
          <p:nvPr>
            <p:ph type="body" sz="quarter" idx="23"/>
          </p:nvPr>
        </p:nvSpPr>
        <p:spPr>
          <a:xfrm>
            <a:off x="468000" y="5982790"/>
            <a:ext cx="11252201" cy="316411"/>
          </a:xfrm>
        </p:spPr>
        <p:txBody>
          <a:bodyPr>
            <a:normAutofit/>
          </a:bodyPr>
          <a:lstStyle>
            <a:lvl1pPr>
              <a:spcAft>
                <a:spcPts val="0"/>
              </a:spcAft>
              <a:defRPr sz="900"/>
            </a:lvl1pPr>
          </a:lstStyle>
          <a:p>
            <a:pPr lvl="0"/>
            <a:r>
              <a:rPr lang="en-US" noProof="0" smtClean="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smtClean="0"/>
              <a:t>Click icon to add chart</a:t>
            </a:r>
            <a:endParaRPr lang="en-US" noProof="0" dirty="0"/>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smtClean="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smtClean="0"/>
              <a:t>Click icon to add chart</a:t>
            </a:r>
            <a:endParaRPr lang="en-US" noProof="0" dirty="0"/>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smtClean="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smtClean="0"/>
              <a:t>Click icon to add chart</a:t>
            </a:r>
            <a:endParaRPr lang="en-US" noProof="0" dirty="0"/>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smtClean="0"/>
              <a:t>Edit Master text styles</a:t>
            </a:r>
          </a:p>
        </p:txBody>
      </p:sp>
      <p:sp>
        <p:nvSpPr>
          <p:cNvPr id="11" name="Text Placeholder 7"/>
          <p:cNvSpPr>
            <a:spLocks noGrp="1"/>
          </p:cNvSpPr>
          <p:nvPr>
            <p:ph type="body" sz="quarter" idx="23"/>
          </p:nvPr>
        </p:nvSpPr>
        <p:spPr>
          <a:xfrm>
            <a:off x="468000" y="5982790"/>
            <a:ext cx="11252201" cy="316411"/>
          </a:xfrm>
        </p:spPr>
        <p:txBody>
          <a:bodyPr>
            <a:normAutofit/>
          </a:bodyPr>
          <a:lstStyle>
            <a:lvl1pPr>
              <a:spcAft>
                <a:spcPts val="0"/>
              </a:spcAft>
              <a:defRPr sz="900"/>
            </a:lvl1pPr>
          </a:lstStyle>
          <a:p>
            <a:pPr lvl="0"/>
            <a:r>
              <a:rPr lang="en-US" noProof="0" smtClean="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smtClean="0"/>
              <a:t>Click icon to add chart</a:t>
            </a:r>
            <a:endParaRPr lang="en-US" noProof="0" dirty="0"/>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smtClean="0"/>
              <a:t>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smtClean="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smtClean="0"/>
              <a:t>Click icon to add chart</a:t>
            </a:r>
            <a:endParaRPr lang="en-US" noProof="0" dirty="0"/>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smtClean="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smtClean="0"/>
              <a:t>Click icon to add chart</a:t>
            </a:r>
            <a:endParaRPr lang="en-US" noProof="0" dirty="0"/>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smtClean="0"/>
              <a:t>Edit Master text styles</a:t>
            </a:r>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smtClean="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smtClean="0"/>
              <a:t>Click icon to add picture</a:t>
            </a:r>
            <a:endParaRPr lang="en-US" noProof="0" dirty="0"/>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smtClean="0"/>
              <a:t>Click icon to add picture</a:t>
            </a:r>
            <a:endParaRPr lang="en-US" noProof="0" dirty="0"/>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smtClean="0"/>
              <a:t>Click icon to add picture</a:t>
            </a:r>
            <a:endParaRPr lang="en-US" noProof="0" dirty="0"/>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smtClean="0"/>
              <a:t>Click icon to add picture</a:t>
            </a:r>
            <a:endParaRPr lang="en-US" noProof="0" dirty="0"/>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smtClean="0"/>
              <a:t>Click icon to add picture</a:t>
            </a:r>
            <a:endParaRPr lang="en-US" noProof="0" dirty="0"/>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smtClean="0"/>
              <a:t>Click icon to add picture</a:t>
            </a:r>
            <a:endParaRPr lang="en-US" noProof="0" dirty="0"/>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smtClean="0"/>
              <a:t>Click icon to add picture</a:t>
            </a:r>
            <a:endParaRPr lang="en-US" noProof="0" dirty="0"/>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smtClean="0"/>
              <a:t>Click icon to add picture</a:t>
            </a:r>
            <a:endParaRPr lang="en-US" noProof="0" dirty="0"/>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smtClean="0"/>
              <a:t>Edit Master text styles</a:t>
            </a:r>
          </a:p>
          <a:p>
            <a:pPr lvl="1"/>
            <a:r>
              <a:rPr lang="en-US" noProof="0" smtClean="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smtClean="0"/>
              <a:t>Edit Master text styles</a:t>
            </a:r>
          </a:p>
          <a:p>
            <a:pPr lvl="1"/>
            <a:r>
              <a:rPr lang="en-US" noProof="0" smtClean="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smtClean="0"/>
              <a:t>Edit Master text styles</a:t>
            </a:r>
          </a:p>
          <a:p>
            <a:pPr lvl="1"/>
            <a:r>
              <a:rPr lang="en-US" noProof="0" smtClean="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smtClean="0"/>
              <a:t>Edit Master text styles</a:t>
            </a:r>
          </a:p>
          <a:p>
            <a:pPr lvl="1"/>
            <a:r>
              <a:rPr lang="en-US" noProof="0" smtClean="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US" noProof="0" smtClean="0"/>
              <a:t>Click icon to add picture</a:t>
            </a:r>
            <a:endParaRPr lang="en-US" noProof="0" dirty="0"/>
          </a:p>
        </p:txBody>
      </p:sp>
      <p:sp>
        <p:nvSpPr>
          <p:cNvPr id="5" name="Picture Placeholder 7"/>
          <p:cNvSpPr>
            <a:spLocks noGrp="1"/>
          </p:cNvSpPr>
          <p:nvPr>
            <p:ph type="pic" sz="quarter" idx="14"/>
          </p:nvPr>
        </p:nvSpPr>
        <p:spPr>
          <a:xfrm>
            <a:off x="8082784" y="1700213"/>
            <a:ext cx="3639316" cy="2059099"/>
          </a:xfrm>
        </p:spPr>
        <p:txBody>
          <a:bodyPr/>
          <a:lstStyle/>
          <a:p>
            <a:r>
              <a:rPr lang="en-US" noProof="0" smtClean="0"/>
              <a:t>Click icon to add picture</a:t>
            </a:r>
            <a:endParaRPr lang="en-US" noProof="0" dirty="0"/>
          </a:p>
        </p:txBody>
      </p:sp>
      <p:sp>
        <p:nvSpPr>
          <p:cNvPr id="6" name="Picture Placeholder 7"/>
          <p:cNvSpPr>
            <a:spLocks noGrp="1"/>
          </p:cNvSpPr>
          <p:nvPr>
            <p:ph type="pic" sz="quarter" idx="15"/>
          </p:nvPr>
        </p:nvSpPr>
        <p:spPr>
          <a:xfrm>
            <a:off x="4284188" y="1700212"/>
            <a:ext cx="3636962" cy="2057767"/>
          </a:xfrm>
        </p:spPr>
        <p:txBody>
          <a:bodyPr/>
          <a:lstStyle/>
          <a:p>
            <a:r>
              <a:rPr lang="en-US" noProof="0" smtClean="0"/>
              <a:t>Click icon to add picture</a:t>
            </a:r>
            <a:endParaRPr lang="en-US" noProof="0" dirty="0"/>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dirty="0">
                <a:solidFill>
                  <a:schemeClr val="bg1"/>
                </a:solidFill>
              </a:rPr>
              <a:t>Co-brand</a:t>
            </a:r>
            <a:br>
              <a:rPr lang="en-US" sz="1600" noProof="0" dirty="0">
                <a:solidFill>
                  <a:schemeClr val="bg1"/>
                </a:solidFill>
              </a:rPr>
            </a:br>
            <a:r>
              <a:rPr lang="en-US" sz="1600" noProof="0" dirty="0">
                <a:solidFill>
                  <a:schemeClr val="bg1"/>
                </a:solidFill>
              </a:rPr>
              <a:t>Logo</a:t>
            </a:r>
          </a:p>
          <a:p>
            <a:endParaRPr lang="en-US"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3" name="TextBox 12"/>
          <p:cNvSpPr txBox="1"/>
          <p:nvPr userDrawn="1"/>
        </p:nvSpPr>
        <p:spPr>
          <a:xfrm>
            <a:off x="6335184" y="6477001"/>
            <a:ext cx="4896560" cy="266868"/>
          </a:xfrm>
          <a:prstGeom prst="rect">
            <a:avLst/>
          </a:prstGeom>
          <a:noFill/>
        </p:spPr>
        <p:txBody>
          <a:bodyPr wrap="square" lIns="0" tIns="0" rIns="0" bIns="0" rtlCol="0">
            <a:spAutoFit/>
          </a:bodyPr>
          <a:lstStyle/>
          <a:p>
            <a:pPr marL="0" indent="0" algn="r">
              <a:spcBef>
                <a:spcPts val="0"/>
              </a:spcBef>
              <a:buSzPct val="100000"/>
              <a:buFont typeface="Arial"/>
              <a:buNone/>
            </a:pPr>
            <a:r>
              <a:rPr lang="en-US" sz="867" noProof="0" dirty="0">
                <a:solidFill>
                  <a:schemeClr val="bg1"/>
                </a:solidFill>
              </a:rPr>
              <a:t>Presentation title</a:t>
            </a:r>
            <a:br>
              <a:rPr lang="en-US" sz="867" noProof="0" dirty="0">
                <a:solidFill>
                  <a:schemeClr val="bg1"/>
                </a:solidFill>
              </a:rPr>
            </a:br>
            <a:r>
              <a:rPr lang="en-US" sz="867" noProof="0" dirty="0">
                <a:solidFill>
                  <a:schemeClr val="bg1"/>
                </a:solidFill>
              </a:rPr>
              <a:t>[To edit, click View &gt; Slide Master &gt; Slide Master]</a:t>
            </a:r>
          </a:p>
        </p:txBody>
      </p:sp>
      <p:sp>
        <p:nvSpPr>
          <p:cNvPr id="14" name="TextBox 13"/>
          <p:cNvSpPr txBox="1"/>
          <p:nvPr userDrawn="1"/>
        </p:nvSpPr>
        <p:spPr>
          <a:xfrm>
            <a:off x="501653" y="6477000"/>
            <a:ext cx="5355167" cy="266868"/>
          </a:xfrm>
          <a:prstGeom prst="rect">
            <a:avLst/>
          </a:prstGeom>
          <a:noFill/>
        </p:spPr>
        <p:txBody>
          <a:bodyPr wrap="square" lIns="0" tIns="0" rIns="0" bIns="0" rtlCol="0">
            <a:spAutoFit/>
          </a:bodyPr>
          <a:lstStyle/>
          <a:p>
            <a:pPr marL="0" indent="0">
              <a:spcBef>
                <a:spcPts val="800"/>
              </a:spcBef>
              <a:buSzPct val="100000"/>
              <a:buFont typeface="Arial"/>
              <a:buNone/>
            </a:pPr>
            <a:r>
              <a:rPr lang="en-US" sz="867" noProof="0" dirty="0">
                <a:solidFill>
                  <a:schemeClr val="bg1"/>
                </a:solidFill>
              </a:rPr>
              <a:t>Member firms and DTTL: Insert appropriate copyright</a:t>
            </a:r>
            <a:br>
              <a:rPr lang="en-US" sz="867" noProof="0" dirty="0">
                <a:solidFill>
                  <a:schemeClr val="bg1"/>
                </a:solidFill>
              </a:rPr>
            </a:br>
            <a:r>
              <a:rPr lang="en-US" sz="867" noProof="0" dirty="0">
                <a:solidFill>
                  <a:schemeClr val="bg1"/>
                </a:solidFill>
              </a:rPr>
              <a:t>[To edit, click View &gt; Slide Master &gt; Slide Master]</a:t>
            </a:r>
          </a:p>
        </p:txBody>
      </p:sp>
      <p:sp>
        <p:nvSpPr>
          <p:cNvPr id="15" name="TextBox 14"/>
          <p:cNvSpPr txBox="1"/>
          <p:nvPr userDrawn="1"/>
        </p:nvSpPr>
        <p:spPr>
          <a:xfrm>
            <a:off x="11382378" y="6477001"/>
            <a:ext cx="307975" cy="133434"/>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867" noProof="0" smtClean="0">
                <a:solidFill>
                  <a:schemeClr val="bg1"/>
                </a:solidFill>
              </a:rPr>
              <a:pPr marL="0" indent="0" algn="r">
                <a:spcBef>
                  <a:spcPts val="800"/>
                </a:spcBef>
                <a:buSzPct val="100000"/>
                <a:buFont typeface="Arial"/>
                <a:buNone/>
              </a:pPr>
              <a:t>‹#›</a:t>
            </a:fld>
            <a:endParaRPr lang="en-US" sz="867" noProof="0" dirty="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bg1"/>
                </a:solidFill>
              </a:defRPr>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smtClean="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extLst/>
          </a:blip>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82993192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4"/>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2344" name="think-cell Slide" r:id="rId45" imgW="270" imgH="270" progId="TCLayout.ActiveDocument.1">
                  <p:embed/>
                </p:oleObj>
              </mc:Choice>
              <mc:Fallback>
                <p:oleObj name="think-cell Slide" r:id="rId45" imgW="270" imgH="270" progId="TCLayout.ActiveDocument.1">
                  <p:embed/>
                  <p:pic>
                    <p:nvPicPr>
                      <p:cNvPr id="0" name=""/>
                      <p:cNvPicPr/>
                      <p:nvPr/>
                    </p:nvPicPr>
                    <p:blipFill>
                      <a:blip r:embed="rId46"/>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smtClean="0"/>
              <a:t>Click to edit Master title style</a:t>
            </a:r>
            <a:endParaRPr lang="en-US"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10" name="TextBox 9"/>
          <p:cNvSpPr txBox="1"/>
          <p:nvPr userDrawn="1"/>
        </p:nvSpPr>
        <p:spPr>
          <a:xfrm>
            <a:off x="6514393" y="6475467"/>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smtClean="0">
                <a:solidFill>
                  <a:schemeClr val="tx1"/>
                </a:solidFill>
              </a:rPr>
              <a:t>FVAP (Update)</a:t>
            </a:r>
            <a:r>
              <a:rPr lang="en-US" sz="650" baseline="0" noProof="0" dirty="0" smtClean="0">
                <a:solidFill>
                  <a:schemeClr val="tx1"/>
                </a:solidFill>
              </a:rPr>
              <a:t> of NEA</a:t>
            </a:r>
            <a:endParaRPr lang="en-US" sz="650" noProof="0" dirty="0">
              <a:solidFill>
                <a:schemeClr val="tx1"/>
              </a:solidFill>
            </a:endParaRPr>
          </a:p>
        </p:txBody>
      </p:sp>
      <p:sp>
        <p:nvSpPr>
          <p:cNvPr id="11" name="TextBox 10"/>
          <p:cNvSpPr txBox="1"/>
          <p:nvPr userDrawn="1"/>
        </p:nvSpPr>
        <p:spPr>
          <a:xfrm>
            <a:off x="469900" y="6475467"/>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smtClean="0">
                <a:solidFill>
                  <a:schemeClr val="tx1"/>
                </a:solidFill>
              </a:rPr>
              <a:t>Deloitte </a:t>
            </a:r>
            <a:r>
              <a:rPr lang="en-US" sz="650" noProof="0" dirty="0" err="1" smtClean="0">
                <a:solidFill>
                  <a:schemeClr val="tx1"/>
                </a:solidFill>
              </a:rPr>
              <a:t>Touche</a:t>
            </a:r>
            <a:r>
              <a:rPr lang="en-US" sz="650" noProof="0" dirty="0" smtClean="0">
                <a:solidFill>
                  <a:schemeClr val="tx1"/>
                </a:solidFill>
              </a:rPr>
              <a:t> Tohmatsu India LLP</a:t>
            </a:r>
            <a:endParaRPr lang="en-US" sz="650" noProof="0" dirty="0">
              <a:solidFill>
                <a:schemeClr val="tx1"/>
              </a:solidFill>
            </a:endParaRPr>
          </a:p>
        </p:txBody>
      </p:sp>
      <p:sp>
        <p:nvSpPr>
          <p:cNvPr id="12" name="TextBox 11"/>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5" r:id="rId24"/>
    <p:sldLayoutId id="2147483716" r:id="rId25"/>
    <p:sldLayoutId id="2147483717" r:id="rId26"/>
    <p:sldLayoutId id="2147483718"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757" r:id="rId41"/>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tags" Target="../tags/tag3.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1.xml"/><Relationship Id="rId1" Type="http://schemas.openxmlformats.org/officeDocument/2006/relationships/tags" Target="../tags/tag4.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475325" y="5548678"/>
            <a:ext cx="9400195" cy="324000"/>
          </a:xfrm>
        </p:spPr>
        <p:txBody>
          <a:bodyPr/>
          <a:lstStyle/>
          <a:p>
            <a:r>
              <a:rPr lang="en-US" dirty="0"/>
              <a:t>Financial Analysis and Viability Action Plan (Update) of </a:t>
            </a:r>
            <a:r>
              <a:rPr lang="en-US" dirty="0" smtClean="0"/>
              <a:t>NEA</a:t>
            </a:r>
            <a:br>
              <a:rPr lang="en-US" dirty="0" smtClean="0"/>
            </a:br>
            <a:r>
              <a:rPr lang="en-US" dirty="0" smtClean="0"/>
              <a:t>The World Bank</a:t>
            </a:r>
            <a:endParaRPr lang="en-US" dirty="0"/>
          </a:p>
        </p:txBody>
      </p:sp>
      <p:sp>
        <p:nvSpPr>
          <p:cNvPr id="5" name="Text Placeholder 4"/>
          <p:cNvSpPr>
            <a:spLocks noGrp="1"/>
          </p:cNvSpPr>
          <p:nvPr>
            <p:ph type="body" sz="quarter" idx="10"/>
          </p:nvPr>
        </p:nvSpPr>
        <p:spPr>
          <a:xfrm>
            <a:off x="502757" y="6188963"/>
            <a:ext cx="5594349" cy="298451"/>
          </a:xfrm>
        </p:spPr>
        <p:txBody>
          <a:bodyPr/>
          <a:lstStyle/>
          <a:p>
            <a:r>
              <a:rPr lang="en-US" dirty="0" smtClean="0"/>
              <a:t>January 2020</a:t>
            </a:r>
            <a:endParaRPr lang="en-US" noProof="0" dirty="0"/>
          </a:p>
        </p:txBody>
      </p:sp>
      <p:pic>
        <p:nvPicPr>
          <p:cNvPr id="6" name="Picture 5"/>
          <p:cNvPicPr>
            <a:picLocks noChangeAspect="1"/>
          </p:cNvPicPr>
          <p:nvPr/>
        </p:nvPicPr>
        <p:blipFill>
          <a:blip r:embed="rId3"/>
          <a:stretch>
            <a:fillRect/>
          </a:stretch>
        </p:blipFill>
        <p:spPr>
          <a:xfrm>
            <a:off x="3723616" y="542048"/>
            <a:ext cx="4962640" cy="4962640"/>
          </a:xfrm>
          <a:prstGeom prst="rect">
            <a:avLst/>
          </a:prstGeom>
        </p:spPr>
      </p:pic>
    </p:spTree>
    <p:extLst>
      <p:ext uri="{BB962C8B-B14F-4D97-AF65-F5344CB8AC3E}">
        <p14:creationId xmlns:p14="http://schemas.microsoft.com/office/powerpoint/2010/main" val="1406319231"/>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 name="Object 76"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306" name="think-cell Slide" r:id="rId4" imgW="530" imgH="531" progId="TCLayout.ActiveDocument.1">
                  <p:embed/>
                </p:oleObj>
              </mc:Choice>
              <mc:Fallback>
                <p:oleObj name="think-cell Slide" r:id="rId4" imgW="530" imgH="531" progId="TCLayout.ActiveDocument.1">
                  <p:embed/>
                  <p:pic>
                    <p:nvPicPr>
                      <p:cNvPr id="77" name="Object 76"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2" name="Text Placeholder 2"/>
          <p:cNvSpPr txBox="1">
            <a:spLocks/>
          </p:cNvSpPr>
          <p:nvPr/>
        </p:nvSpPr>
        <p:spPr>
          <a:xfrm>
            <a:off x="469900" y="73668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333"/>
              </a:spcAft>
              <a:buClrTx/>
              <a:buSzPct val="100000"/>
              <a:buFont typeface="Arial" panose="020B0604020202020204" pitchFamily="34" charset="0"/>
              <a:buNone/>
              <a:defRPr sz="2000" b="0" kern="1200">
                <a:solidFill>
                  <a:srgbClr val="575757"/>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a:lstStyle>
          <a:p>
            <a:pPr lvl="0"/>
            <a:endParaRPr lang="en-US" dirty="0"/>
          </a:p>
        </p:txBody>
      </p:sp>
      <p:sp>
        <p:nvSpPr>
          <p:cNvPr id="75" name="Title 1"/>
          <p:cNvSpPr txBox="1">
            <a:spLocks/>
          </p:cNvSpPr>
          <p:nvPr/>
        </p:nvSpPr>
        <p:spPr bwMode="gray">
          <a:xfrm>
            <a:off x="469900" y="402586"/>
            <a:ext cx="11252200" cy="698501"/>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lvl="0">
              <a:defRPr/>
            </a:pPr>
            <a:r>
              <a:rPr lang="en-US" dirty="0" smtClean="0"/>
              <a:t>Contents</a:t>
            </a:r>
            <a:endParaRPr kumimoji="0" lang="en-IN" sz="2000" b="0" i="0" u="none" strike="noStrike" kern="1200" cap="none" spc="0" normalizeH="0" baseline="0" noProof="0" dirty="0">
              <a:ln>
                <a:noFill/>
              </a:ln>
              <a:solidFill>
                <a:srgbClr val="000000"/>
              </a:solidFill>
              <a:effectLst/>
              <a:uLnTx/>
              <a:uFillTx/>
              <a:latin typeface="Verdana"/>
              <a:ea typeface="+mj-ea"/>
              <a:cs typeface="+mj-cs"/>
            </a:endParaRPr>
          </a:p>
        </p:txBody>
      </p:sp>
      <p:sp>
        <p:nvSpPr>
          <p:cNvPr id="8" name="Rectangle 7"/>
          <p:cNvSpPr/>
          <p:nvPr/>
        </p:nvSpPr>
        <p:spPr bwMode="gray">
          <a:xfrm>
            <a:off x="907104" y="1435189"/>
            <a:ext cx="146342" cy="4320000"/>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800" b="1" dirty="0" smtClean="0">
              <a:solidFill>
                <a:schemeClr val="bg1"/>
              </a:solidFill>
            </a:endParaRPr>
          </a:p>
        </p:txBody>
      </p:sp>
      <p:sp>
        <p:nvSpPr>
          <p:cNvPr id="9" name="Oval 8"/>
          <p:cNvSpPr/>
          <p:nvPr/>
        </p:nvSpPr>
        <p:spPr>
          <a:xfrm>
            <a:off x="854275" y="173259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0" name="Oval 9"/>
          <p:cNvSpPr/>
          <p:nvPr/>
        </p:nvSpPr>
        <p:spPr>
          <a:xfrm>
            <a:off x="854275" y="244172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1" name="Oval 10"/>
          <p:cNvSpPr/>
          <p:nvPr/>
        </p:nvSpPr>
        <p:spPr>
          <a:xfrm>
            <a:off x="854275" y="315085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2" name="Oval 11"/>
          <p:cNvSpPr/>
          <p:nvPr/>
        </p:nvSpPr>
        <p:spPr>
          <a:xfrm>
            <a:off x="854275" y="385998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13" name="Rectangle 12"/>
          <p:cNvSpPr>
            <a:spLocks/>
          </p:cNvSpPr>
          <p:nvPr/>
        </p:nvSpPr>
        <p:spPr>
          <a:xfrm>
            <a:off x="1518467" y="1673926"/>
            <a:ext cx="1608133" cy="369332"/>
          </a:xfrm>
          <a:prstGeom prst="rect">
            <a:avLst/>
          </a:prstGeom>
        </p:spPr>
        <p:txBody>
          <a:bodyPr wrap="none" anchor="ctr">
            <a:spAutoFit/>
          </a:bodyPr>
          <a:lstStyle/>
          <a:p>
            <a:r>
              <a:rPr lang="en-US" sz="1800" dirty="0" smtClean="0"/>
              <a:t>Introduction</a:t>
            </a:r>
            <a:endParaRPr lang="en-IN" sz="1800" dirty="0"/>
          </a:p>
        </p:txBody>
      </p:sp>
      <p:sp>
        <p:nvSpPr>
          <p:cNvPr id="14" name="Rectangle 13"/>
          <p:cNvSpPr>
            <a:spLocks/>
          </p:cNvSpPr>
          <p:nvPr/>
        </p:nvSpPr>
        <p:spPr>
          <a:xfrm>
            <a:off x="1518467" y="2382310"/>
            <a:ext cx="2994731" cy="369332"/>
          </a:xfrm>
          <a:prstGeom prst="rect">
            <a:avLst/>
          </a:prstGeom>
        </p:spPr>
        <p:txBody>
          <a:bodyPr wrap="none" anchor="ctr">
            <a:spAutoFit/>
          </a:bodyPr>
          <a:lstStyle/>
          <a:p>
            <a:r>
              <a:rPr lang="en-US" sz="1800" dirty="0" smtClean="0"/>
              <a:t>Inputs and Assumptions</a:t>
            </a:r>
            <a:endParaRPr lang="en-IN" sz="1800" dirty="0"/>
          </a:p>
        </p:txBody>
      </p:sp>
      <p:sp>
        <p:nvSpPr>
          <p:cNvPr id="15" name="Rectangle 14"/>
          <p:cNvSpPr>
            <a:spLocks/>
          </p:cNvSpPr>
          <p:nvPr/>
        </p:nvSpPr>
        <p:spPr>
          <a:xfrm>
            <a:off x="1518467" y="3090694"/>
            <a:ext cx="5107937" cy="369332"/>
          </a:xfrm>
          <a:prstGeom prst="rect">
            <a:avLst/>
          </a:prstGeom>
        </p:spPr>
        <p:txBody>
          <a:bodyPr wrap="none" anchor="ctr">
            <a:spAutoFit/>
          </a:bodyPr>
          <a:lstStyle/>
          <a:p>
            <a:r>
              <a:rPr lang="en-US" sz="1800" dirty="0" smtClean="0"/>
              <a:t>Financial </a:t>
            </a:r>
            <a:r>
              <a:rPr lang="en-US" sz="1800" dirty="0"/>
              <a:t>A</a:t>
            </a:r>
            <a:r>
              <a:rPr lang="en-US" sz="1800" dirty="0" smtClean="0"/>
              <a:t>nalysis and Viability Action Plan</a:t>
            </a:r>
            <a:endParaRPr lang="en-IN" sz="1800" dirty="0"/>
          </a:p>
        </p:txBody>
      </p:sp>
      <p:sp>
        <p:nvSpPr>
          <p:cNvPr id="16" name="Rectangle 15"/>
          <p:cNvSpPr>
            <a:spLocks/>
          </p:cNvSpPr>
          <p:nvPr/>
        </p:nvSpPr>
        <p:spPr>
          <a:xfrm>
            <a:off x="1518467" y="3799078"/>
            <a:ext cx="3515706" cy="369332"/>
          </a:xfrm>
          <a:prstGeom prst="rect">
            <a:avLst/>
          </a:prstGeom>
        </p:spPr>
        <p:txBody>
          <a:bodyPr wrap="none" anchor="ctr">
            <a:spAutoFit/>
          </a:bodyPr>
          <a:lstStyle/>
          <a:p>
            <a:r>
              <a:rPr lang="en-US" sz="1800" dirty="0" smtClean="0"/>
              <a:t>Suggestions on Action Items</a:t>
            </a:r>
            <a:endParaRPr lang="en-IN" sz="1800" dirty="0"/>
          </a:p>
        </p:txBody>
      </p:sp>
      <p:sp>
        <p:nvSpPr>
          <p:cNvPr id="17" name="Rectangle 16"/>
          <p:cNvSpPr>
            <a:spLocks/>
          </p:cNvSpPr>
          <p:nvPr/>
        </p:nvSpPr>
        <p:spPr>
          <a:xfrm>
            <a:off x="1518467" y="4507462"/>
            <a:ext cx="3785011" cy="369332"/>
          </a:xfrm>
          <a:prstGeom prst="rect">
            <a:avLst/>
          </a:prstGeom>
        </p:spPr>
        <p:txBody>
          <a:bodyPr wrap="none" anchor="ctr">
            <a:spAutoFit/>
          </a:bodyPr>
          <a:lstStyle/>
          <a:p>
            <a:r>
              <a:rPr lang="en-US" sz="1800" dirty="0" smtClean="0"/>
              <a:t>Projected Financial Statements</a:t>
            </a:r>
            <a:endParaRPr lang="en-IN" sz="1800" dirty="0"/>
          </a:p>
        </p:txBody>
      </p:sp>
      <p:sp>
        <p:nvSpPr>
          <p:cNvPr id="19" name="Oval 18"/>
          <p:cNvSpPr/>
          <p:nvPr/>
        </p:nvSpPr>
        <p:spPr>
          <a:xfrm>
            <a:off x="854275" y="4569112"/>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
        <p:nvSpPr>
          <p:cNvPr id="22" name="Rectangle 21"/>
          <p:cNvSpPr>
            <a:spLocks/>
          </p:cNvSpPr>
          <p:nvPr/>
        </p:nvSpPr>
        <p:spPr>
          <a:xfrm>
            <a:off x="1518467" y="5215845"/>
            <a:ext cx="1409360" cy="369332"/>
          </a:xfrm>
          <a:prstGeom prst="rect">
            <a:avLst/>
          </a:prstGeom>
        </p:spPr>
        <p:txBody>
          <a:bodyPr wrap="none" anchor="ctr">
            <a:spAutoFit/>
          </a:bodyPr>
          <a:lstStyle/>
          <a:p>
            <a:r>
              <a:rPr lang="en-US" sz="1800" dirty="0" smtClean="0"/>
              <a:t>Annexures</a:t>
            </a:r>
            <a:endParaRPr lang="en-IN" sz="1800" dirty="0"/>
          </a:p>
        </p:txBody>
      </p:sp>
      <p:sp>
        <p:nvSpPr>
          <p:cNvPr id="23" name="Oval 22"/>
          <p:cNvSpPr/>
          <p:nvPr/>
        </p:nvSpPr>
        <p:spPr>
          <a:xfrm>
            <a:off x="854275" y="5278243"/>
            <a:ext cx="252000" cy="252000"/>
          </a:xfrm>
          <a:prstGeom prst="ellipse">
            <a:avLst/>
          </a:prstGeom>
          <a:solidFill>
            <a:schemeClr val="bg2"/>
          </a:solidFill>
          <a:ln w="38100">
            <a:solidFill>
              <a:srgbClr val="004F59"/>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sz="1800" b="1" dirty="0">
              <a:solidFill>
                <a:schemeClr val="bg2"/>
              </a:solidFill>
            </a:endParaRPr>
          </a:p>
        </p:txBody>
      </p:sp>
    </p:spTree>
    <p:extLst>
      <p:ext uri="{BB962C8B-B14F-4D97-AF65-F5344CB8AC3E}">
        <p14:creationId xmlns:p14="http://schemas.microsoft.com/office/powerpoint/2010/main" val="4127838859"/>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743273520"/>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Scope of Work</a:t>
            </a:r>
            <a:endParaRPr lang="en-IN" dirty="0"/>
          </a:p>
        </p:txBody>
      </p:sp>
      <p:sp>
        <p:nvSpPr>
          <p:cNvPr id="3" name="Title 2"/>
          <p:cNvSpPr>
            <a:spLocks noGrp="1"/>
          </p:cNvSpPr>
          <p:nvPr>
            <p:ph type="title"/>
          </p:nvPr>
        </p:nvSpPr>
        <p:spPr/>
        <p:txBody>
          <a:bodyPr/>
          <a:lstStyle/>
          <a:p>
            <a:r>
              <a:rPr lang="en-US" dirty="0"/>
              <a:t>Financial Analysis and Viability Action Plan (Update) of NEA</a:t>
            </a:r>
            <a:endParaRPr lang="en-IN" dirty="0"/>
          </a:p>
        </p:txBody>
      </p:sp>
      <p:sp>
        <p:nvSpPr>
          <p:cNvPr id="4" name="Content Placeholder 3"/>
          <p:cNvSpPr txBox="1">
            <a:spLocks/>
          </p:cNvSpPr>
          <p:nvPr/>
        </p:nvSpPr>
        <p:spPr>
          <a:xfrm>
            <a:off x="469899" y="1753696"/>
            <a:ext cx="5973067" cy="4061888"/>
          </a:xfrm>
          <a:prstGeom prst="rect">
            <a:avLst/>
          </a:prstGeom>
        </p:spPr>
        <p:txBody>
          <a:bodyPr wrap="square">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indent="-285750">
              <a:buFont typeface="Arial" panose="020B0604020202020204" pitchFamily="34" charset="0"/>
              <a:buChar char="•"/>
            </a:pPr>
            <a:r>
              <a:rPr lang="en-US" sz="1400" dirty="0" smtClean="0">
                <a:ea typeface="Verdana" panose="020B0604030504040204" pitchFamily="34" charset="0"/>
                <a:cs typeface="Times New Roman" panose="02020603050405020304" pitchFamily="18" charset="0"/>
              </a:rPr>
              <a:t>The World Bank had supported NEA to come up with draft Financial Viability Action Plan (FVAP) which was adopted by NEA Board on June 7, 2018</a:t>
            </a:r>
            <a:endParaRPr lang="en-IN" sz="1400" dirty="0" smtClean="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IN" sz="1400" dirty="0" smtClean="0">
                <a:ea typeface="Verdana" panose="020B0604030504040204" pitchFamily="34" charset="0"/>
                <a:cs typeface="Times New Roman" panose="02020603050405020304" pitchFamily="18" charset="0"/>
              </a:rPr>
              <a:t>Deloitte </a:t>
            </a:r>
            <a:r>
              <a:rPr lang="en-IN" sz="1400" dirty="0" err="1" smtClean="0">
                <a:ea typeface="Verdana" panose="020B0604030504040204" pitchFamily="34" charset="0"/>
                <a:cs typeface="Times New Roman" panose="02020603050405020304" pitchFamily="18" charset="0"/>
              </a:rPr>
              <a:t>Touche</a:t>
            </a:r>
            <a:r>
              <a:rPr lang="en-IN" sz="1400" dirty="0" smtClean="0">
                <a:ea typeface="Verdana" panose="020B0604030504040204" pitchFamily="34" charset="0"/>
                <a:cs typeface="Times New Roman" panose="02020603050405020304" pitchFamily="18" charset="0"/>
              </a:rPr>
              <a:t> Tohmatsu India LLP (“Deloitte”) has been appointed as a Consultant by The World Bank to </a:t>
            </a:r>
            <a:r>
              <a:rPr lang="en-US" sz="1400" dirty="0" smtClean="0"/>
              <a:t>update this FVAP and provide advice on its implementation by close coordination and consultation with NEA and World Bank</a:t>
            </a:r>
          </a:p>
          <a:p>
            <a:pPr marL="285750" indent="-285750">
              <a:buFont typeface="Arial" panose="020B0604020202020204" pitchFamily="34" charset="0"/>
              <a:buChar char="•"/>
            </a:pPr>
            <a:r>
              <a:rPr lang="en-US" sz="1400" dirty="0" smtClean="0"/>
              <a:t>Based on the interactions with various departments under NEA to collect data related to commercial, technical and financial parameters; energy balance simulations carried out by NEA etc. the Deloitte team has updated the last financial model (</a:t>
            </a:r>
            <a:r>
              <a:rPr lang="en-US" sz="1400" dirty="0"/>
              <a:t>which was projected based on data till 2016-17</a:t>
            </a:r>
            <a:r>
              <a:rPr lang="en-US" sz="1400" dirty="0" smtClean="0"/>
              <a:t>). </a:t>
            </a:r>
          </a:p>
          <a:p>
            <a:pPr marL="285750" indent="-285750">
              <a:buFont typeface="Arial" panose="020B0604020202020204" pitchFamily="34" charset="0"/>
              <a:buChar char="•"/>
            </a:pPr>
            <a:r>
              <a:rPr lang="en-US" sz="1400" dirty="0" smtClean="0"/>
              <a:t>The initial scope was to update the base year from FY 2016-17 to FY 2017-18. However, based on WB request, the base year has been updated to FY 2018-19 and financials have been forecasted for the next 10 years period from FY 2019-20 to FY 2028-29</a:t>
            </a:r>
            <a:endParaRPr lang="en-IN" sz="1400" dirty="0"/>
          </a:p>
        </p:txBody>
      </p:sp>
      <p:grpSp>
        <p:nvGrpSpPr>
          <p:cNvPr id="5" name="Group 10"/>
          <p:cNvGrpSpPr>
            <a:grpSpLocks noChangeAspect="1"/>
          </p:cNvGrpSpPr>
          <p:nvPr/>
        </p:nvGrpSpPr>
        <p:grpSpPr bwMode="auto">
          <a:xfrm>
            <a:off x="7288528" y="1970557"/>
            <a:ext cx="3732126" cy="3012923"/>
            <a:chOff x="7698" y="4800"/>
            <a:chExt cx="768" cy="620"/>
          </a:xfrm>
          <a:solidFill>
            <a:schemeClr val="accent4"/>
          </a:solidFill>
        </p:grpSpPr>
        <p:sp>
          <p:nvSpPr>
            <p:cNvPr id="6" name="Rectangle 11"/>
            <p:cNvSpPr>
              <a:spLocks noChangeArrowheads="1"/>
            </p:cNvSpPr>
            <p:nvPr/>
          </p:nvSpPr>
          <p:spPr bwMode="auto">
            <a:xfrm>
              <a:off x="7698" y="5394"/>
              <a:ext cx="768" cy="2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12"/>
            <p:cNvSpPr>
              <a:spLocks noEditPoints="1"/>
            </p:cNvSpPr>
            <p:nvPr/>
          </p:nvSpPr>
          <p:spPr bwMode="auto">
            <a:xfrm>
              <a:off x="7726" y="4850"/>
              <a:ext cx="474" cy="474"/>
            </a:xfrm>
            <a:custGeom>
              <a:avLst/>
              <a:gdLst>
                <a:gd name="T0" fmla="*/ 186 w 474"/>
                <a:gd name="T1" fmla="*/ 346 h 474"/>
                <a:gd name="T2" fmla="*/ 198 w 474"/>
                <a:gd name="T3" fmla="*/ 318 h 474"/>
                <a:gd name="T4" fmla="*/ 224 w 474"/>
                <a:gd name="T5" fmla="*/ 282 h 474"/>
                <a:gd name="T6" fmla="*/ 262 w 474"/>
                <a:gd name="T7" fmla="*/ 302 h 474"/>
                <a:gd name="T8" fmla="*/ 302 w 474"/>
                <a:gd name="T9" fmla="*/ 312 h 474"/>
                <a:gd name="T10" fmla="*/ 356 w 474"/>
                <a:gd name="T11" fmla="*/ 308 h 474"/>
                <a:gd name="T12" fmla="*/ 394 w 474"/>
                <a:gd name="T13" fmla="*/ 294 h 474"/>
                <a:gd name="T14" fmla="*/ 430 w 474"/>
                <a:gd name="T15" fmla="*/ 268 h 474"/>
                <a:gd name="T16" fmla="*/ 450 w 474"/>
                <a:gd name="T17" fmla="*/ 242 h 474"/>
                <a:gd name="T18" fmla="*/ 468 w 474"/>
                <a:gd name="T19" fmla="*/ 202 h 474"/>
                <a:gd name="T20" fmla="*/ 474 w 474"/>
                <a:gd name="T21" fmla="*/ 156 h 474"/>
                <a:gd name="T22" fmla="*/ 468 w 474"/>
                <a:gd name="T23" fmla="*/ 112 h 474"/>
                <a:gd name="T24" fmla="*/ 450 w 474"/>
                <a:gd name="T25" fmla="*/ 70 h 474"/>
                <a:gd name="T26" fmla="*/ 430 w 474"/>
                <a:gd name="T27" fmla="*/ 46 h 474"/>
                <a:gd name="T28" fmla="*/ 392 w 474"/>
                <a:gd name="T29" fmla="*/ 18 h 474"/>
                <a:gd name="T30" fmla="*/ 348 w 474"/>
                <a:gd name="T31" fmla="*/ 4 h 474"/>
                <a:gd name="T32" fmla="*/ 304 w 474"/>
                <a:gd name="T33" fmla="*/ 0 h 474"/>
                <a:gd name="T34" fmla="*/ 260 w 474"/>
                <a:gd name="T35" fmla="*/ 12 h 474"/>
                <a:gd name="T36" fmla="*/ 220 w 474"/>
                <a:gd name="T37" fmla="*/ 36 h 474"/>
                <a:gd name="T38" fmla="*/ 198 w 474"/>
                <a:gd name="T39" fmla="*/ 56 h 474"/>
                <a:gd name="T40" fmla="*/ 176 w 474"/>
                <a:gd name="T41" fmla="*/ 92 h 474"/>
                <a:gd name="T42" fmla="*/ 164 w 474"/>
                <a:gd name="T43" fmla="*/ 132 h 474"/>
                <a:gd name="T44" fmla="*/ 166 w 474"/>
                <a:gd name="T45" fmla="*/ 186 h 474"/>
                <a:gd name="T46" fmla="*/ 178 w 474"/>
                <a:gd name="T47" fmla="*/ 226 h 474"/>
                <a:gd name="T48" fmla="*/ 166 w 474"/>
                <a:gd name="T49" fmla="*/ 278 h 474"/>
                <a:gd name="T50" fmla="*/ 146 w 474"/>
                <a:gd name="T51" fmla="*/ 278 h 474"/>
                <a:gd name="T52" fmla="*/ 12 w 474"/>
                <a:gd name="T53" fmla="*/ 404 h 474"/>
                <a:gd name="T54" fmla="*/ 4 w 474"/>
                <a:gd name="T55" fmla="*/ 418 h 474"/>
                <a:gd name="T56" fmla="*/ 2 w 474"/>
                <a:gd name="T57" fmla="*/ 442 h 474"/>
                <a:gd name="T58" fmla="*/ 12 w 474"/>
                <a:gd name="T59" fmla="*/ 462 h 474"/>
                <a:gd name="T60" fmla="*/ 26 w 474"/>
                <a:gd name="T61" fmla="*/ 472 h 474"/>
                <a:gd name="T62" fmla="*/ 50 w 474"/>
                <a:gd name="T63" fmla="*/ 474 h 474"/>
                <a:gd name="T64" fmla="*/ 70 w 474"/>
                <a:gd name="T65" fmla="*/ 462 h 474"/>
                <a:gd name="T66" fmla="*/ 240 w 474"/>
                <a:gd name="T67" fmla="*/ 78 h 474"/>
                <a:gd name="T68" fmla="*/ 298 w 474"/>
                <a:gd name="T69" fmla="*/ 46 h 474"/>
                <a:gd name="T70" fmla="*/ 360 w 474"/>
                <a:gd name="T71" fmla="*/ 54 h 474"/>
                <a:gd name="T72" fmla="*/ 398 w 474"/>
                <a:gd name="T73" fmla="*/ 78 h 474"/>
                <a:gd name="T74" fmla="*/ 428 w 474"/>
                <a:gd name="T75" fmla="*/ 136 h 474"/>
                <a:gd name="T76" fmla="*/ 422 w 474"/>
                <a:gd name="T77" fmla="*/ 198 h 474"/>
                <a:gd name="T78" fmla="*/ 398 w 474"/>
                <a:gd name="T79" fmla="*/ 236 h 474"/>
                <a:gd name="T80" fmla="*/ 340 w 474"/>
                <a:gd name="T81" fmla="*/ 266 h 474"/>
                <a:gd name="T82" fmla="*/ 276 w 474"/>
                <a:gd name="T83" fmla="*/ 260 h 474"/>
                <a:gd name="T84" fmla="*/ 240 w 474"/>
                <a:gd name="T85" fmla="*/ 236 h 474"/>
                <a:gd name="T86" fmla="*/ 208 w 474"/>
                <a:gd name="T87" fmla="*/ 178 h 474"/>
                <a:gd name="T88" fmla="*/ 214 w 474"/>
                <a:gd name="T89" fmla="*/ 114 h 474"/>
                <a:gd name="T90" fmla="*/ 240 w 474"/>
                <a:gd name="T91" fmla="*/ 78 h 4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4" h="474">
                  <a:moveTo>
                    <a:pt x="70" y="462"/>
                  </a:moveTo>
                  <a:lnTo>
                    <a:pt x="186" y="346"/>
                  </a:lnTo>
                  <a:lnTo>
                    <a:pt x="186" y="346"/>
                  </a:lnTo>
                  <a:lnTo>
                    <a:pt x="192" y="338"/>
                  </a:lnTo>
                  <a:lnTo>
                    <a:pt x="196" y="328"/>
                  </a:lnTo>
                  <a:lnTo>
                    <a:pt x="198" y="318"/>
                  </a:lnTo>
                  <a:lnTo>
                    <a:pt x="198" y="308"/>
                  </a:lnTo>
                  <a:lnTo>
                    <a:pt x="224" y="282"/>
                  </a:lnTo>
                  <a:lnTo>
                    <a:pt x="224" y="282"/>
                  </a:lnTo>
                  <a:lnTo>
                    <a:pt x="236" y="290"/>
                  </a:lnTo>
                  <a:lnTo>
                    <a:pt x="248" y="296"/>
                  </a:lnTo>
                  <a:lnTo>
                    <a:pt x="262" y="302"/>
                  </a:lnTo>
                  <a:lnTo>
                    <a:pt x="274" y="306"/>
                  </a:lnTo>
                  <a:lnTo>
                    <a:pt x="288" y="310"/>
                  </a:lnTo>
                  <a:lnTo>
                    <a:pt x="302" y="312"/>
                  </a:lnTo>
                  <a:lnTo>
                    <a:pt x="330" y="312"/>
                  </a:lnTo>
                  <a:lnTo>
                    <a:pt x="342" y="312"/>
                  </a:lnTo>
                  <a:lnTo>
                    <a:pt x="356" y="308"/>
                  </a:lnTo>
                  <a:lnTo>
                    <a:pt x="370" y="304"/>
                  </a:lnTo>
                  <a:lnTo>
                    <a:pt x="382" y="300"/>
                  </a:lnTo>
                  <a:lnTo>
                    <a:pt x="394" y="294"/>
                  </a:lnTo>
                  <a:lnTo>
                    <a:pt x="406" y="286"/>
                  </a:lnTo>
                  <a:lnTo>
                    <a:pt x="418" y="278"/>
                  </a:lnTo>
                  <a:lnTo>
                    <a:pt x="430" y="268"/>
                  </a:lnTo>
                  <a:lnTo>
                    <a:pt x="430" y="268"/>
                  </a:lnTo>
                  <a:lnTo>
                    <a:pt x="440" y="256"/>
                  </a:lnTo>
                  <a:lnTo>
                    <a:pt x="450" y="242"/>
                  </a:lnTo>
                  <a:lnTo>
                    <a:pt x="456" y="230"/>
                  </a:lnTo>
                  <a:lnTo>
                    <a:pt x="464" y="216"/>
                  </a:lnTo>
                  <a:lnTo>
                    <a:pt x="468" y="202"/>
                  </a:lnTo>
                  <a:lnTo>
                    <a:pt x="472" y="186"/>
                  </a:lnTo>
                  <a:lnTo>
                    <a:pt x="474" y="172"/>
                  </a:lnTo>
                  <a:lnTo>
                    <a:pt x="474" y="156"/>
                  </a:lnTo>
                  <a:lnTo>
                    <a:pt x="474" y="142"/>
                  </a:lnTo>
                  <a:lnTo>
                    <a:pt x="472" y="126"/>
                  </a:lnTo>
                  <a:lnTo>
                    <a:pt x="468" y="112"/>
                  </a:lnTo>
                  <a:lnTo>
                    <a:pt x="464" y="98"/>
                  </a:lnTo>
                  <a:lnTo>
                    <a:pt x="456" y="84"/>
                  </a:lnTo>
                  <a:lnTo>
                    <a:pt x="450" y="70"/>
                  </a:lnTo>
                  <a:lnTo>
                    <a:pt x="440" y="58"/>
                  </a:lnTo>
                  <a:lnTo>
                    <a:pt x="430" y="46"/>
                  </a:lnTo>
                  <a:lnTo>
                    <a:pt x="430" y="46"/>
                  </a:lnTo>
                  <a:lnTo>
                    <a:pt x="418" y="36"/>
                  </a:lnTo>
                  <a:lnTo>
                    <a:pt x="404" y="26"/>
                  </a:lnTo>
                  <a:lnTo>
                    <a:pt x="392" y="18"/>
                  </a:lnTo>
                  <a:lnTo>
                    <a:pt x="378" y="12"/>
                  </a:lnTo>
                  <a:lnTo>
                    <a:pt x="362" y="6"/>
                  </a:lnTo>
                  <a:lnTo>
                    <a:pt x="348" y="4"/>
                  </a:lnTo>
                  <a:lnTo>
                    <a:pt x="334" y="0"/>
                  </a:lnTo>
                  <a:lnTo>
                    <a:pt x="318" y="0"/>
                  </a:lnTo>
                  <a:lnTo>
                    <a:pt x="304" y="0"/>
                  </a:lnTo>
                  <a:lnTo>
                    <a:pt x="288" y="4"/>
                  </a:lnTo>
                  <a:lnTo>
                    <a:pt x="274" y="6"/>
                  </a:lnTo>
                  <a:lnTo>
                    <a:pt x="260" y="12"/>
                  </a:lnTo>
                  <a:lnTo>
                    <a:pt x="246" y="18"/>
                  </a:lnTo>
                  <a:lnTo>
                    <a:pt x="232" y="26"/>
                  </a:lnTo>
                  <a:lnTo>
                    <a:pt x="220" y="36"/>
                  </a:lnTo>
                  <a:lnTo>
                    <a:pt x="208" y="46"/>
                  </a:lnTo>
                  <a:lnTo>
                    <a:pt x="208" y="46"/>
                  </a:lnTo>
                  <a:lnTo>
                    <a:pt x="198" y="56"/>
                  </a:lnTo>
                  <a:lnTo>
                    <a:pt x="190" y="68"/>
                  </a:lnTo>
                  <a:lnTo>
                    <a:pt x="182" y="80"/>
                  </a:lnTo>
                  <a:lnTo>
                    <a:pt x="176" y="92"/>
                  </a:lnTo>
                  <a:lnTo>
                    <a:pt x="170" y="106"/>
                  </a:lnTo>
                  <a:lnTo>
                    <a:pt x="166" y="118"/>
                  </a:lnTo>
                  <a:lnTo>
                    <a:pt x="164" y="132"/>
                  </a:lnTo>
                  <a:lnTo>
                    <a:pt x="162" y="146"/>
                  </a:lnTo>
                  <a:lnTo>
                    <a:pt x="164" y="174"/>
                  </a:lnTo>
                  <a:lnTo>
                    <a:pt x="166" y="186"/>
                  </a:lnTo>
                  <a:lnTo>
                    <a:pt x="168" y="200"/>
                  </a:lnTo>
                  <a:lnTo>
                    <a:pt x="172" y="214"/>
                  </a:lnTo>
                  <a:lnTo>
                    <a:pt x="178" y="226"/>
                  </a:lnTo>
                  <a:lnTo>
                    <a:pt x="186" y="238"/>
                  </a:lnTo>
                  <a:lnTo>
                    <a:pt x="194" y="250"/>
                  </a:lnTo>
                  <a:lnTo>
                    <a:pt x="166" y="278"/>
                  </a:lnTo>
                  <a:lnTo>
                    <a:pt x="166" y="278"/>
                  </a:lnTo>
                  <a:lnTo>
                    <a:pt x="156" y="276"/>
                  </a:lnTo>
                  <a:lnTo>
                    <a:pt x="146" y="278"/>
                  </a:lnTo>
                  <a:lnTo>
                    <a:pt x="138" y="282"/>
                  </a:lnTo>
                  <a:lnTo>
                    <a:pt x="130" y="288"/>
                  </a:lnTo>
                  <a:lnTo>
                    <a:pt x="12" y="404"/>
                  </a:lnTo>
                  <a:lnTo>
                    <a:pt x="12" y="404"/>
                  </a:lnTo>
                  <a:lnTo>
                    <a:pt x="8" y="412"/>
                  </a:lnTo>
                  <a:lnTo>
                    <a:pt x="4" y="418"/>
                  </a:lnTo>
                  <a:lnTo>
                    <a:pt x="2" y="426"/>
                  </a:lnTo>
                  <a:lnTo>
                    <a:pt x="0" y="434"/>
                  </a:lnTo>
                  <a:lnTo>
                    <a:pt x="2" y="442"/>
                  </a:lnTo>
                  <a:lnTo>
                    <a:pt x="4" y="448"/>
                  </a:lnTo>
                  <a:lnTo>
                    <a:pt x="8" y="456"/>
                  </a:lnTo>
                  <a:lnTo>
                    <a:pt x="12" y="462"/>
                  </a:lnTo>
                  <a:lnTo>
                    <a:pt x="12" y="462"/>
                  </a:lnTo>
                  <a:lnTo>
                    <a:pt x="20" y="468"/>
                  </a:lnTo>
                  <a:lnTo>
                    <a:pt x="26" y="472"/>
                  </a:lnTo>
                  <a:lnTo>
                    <a:pt x="34" y="474"/>
                  </a:lnTo>
                  <a:lnTo>
                    <a:pt x="42" y="474"/>
                  </a:lnTo>
                  <a:lnTo>
                    <a:pt x="50" y="474"/>
                  </a:lnTo>
                  <a:lnTo>
                    <a:pt x="56" y="472"/>
                  </a:lnTo>
                  <a:lnTo>
                    <a:pt x="64" y="468"/>
                  </a:lnTo>
                  <a:lnTo>
                    <a:pt x="70" y="462"/>
                  </a:lnTo>
                  <a:lnTo>
                    <a:pt x="70" y="462"/>
                  </a:lnTo>
                  <a:close/>
                  <a:moveTo>
                    <a:pt x="240" y="78"/>
                  </a:moveTo>
                  <a:lnTo>
                    <a:pt x="240" y="78"/>
                  </a:lnTo>
                  <a:lnTo>
                    <a:pt x="256" y="64"/>
                  </a:lnTo>
                  <a:lnTo>
                    <a:pt x="276" y="54"/>
                  </a:lnTo>
                  <a:lnTo>
                    <a:pt x="298" y="46"/>
                  </a:lnTo>
                  <a:lnTo>
                    <a:pt x="318" y="44"/>
                  </a:lnTo>
                  <a:lnTo>
                    <a:pt x="340" y="46"/>
                  </a:lnTo>
                  <a:lnTo>
                    <a:pt x="360" y="54"/>
                  </a:lnTo>
                  <a:lnTo>
                    <a:pt x="380" y="64"/>
                  </a:lnTo>
                  <a:lnTo>
                    <a:pt x="398" y="78"/>
                  </a:lnTo>
                  <a:lnTo>
                    <a:pt x="398" y="78"/>
                  </a:lnTo>
                  <a:lnTo>
                    <a:pt x="412" y="96"/>
                  </a:lnTo>
                  <a:lnTo>
                    <a:pt x="422" y="114"/>
                  </a:lnTo>
                  <a:lnTo>
                    <a:pt x="428" y="136"/>
                  </a:lnTo>
                  <a:lnTo>
                    <a:pt x="430" y="156"/>
                  </a:lnTo>
                  <a:lnTo>
                    <a:pt x="428" y="178"/>
                  </a:lnTo>
                  <a:lnTo>
                    <a:pt x="422" y="198"/>
                  </a:lnTo>
                  <a:lnTo>
                    <a:pt x="412" y="218"/>
                  </a:lnTo>
                  <a:lnTo>
                    <a:pt x="398" y="236"/>
                  </a:lnTo>
                  <a:lnTo>
                    <a:pt x="398" y="236"/>
                  </a:lnTo>
                  <a:lnTo>
                    <a:pt x="380" y="250"/>
                  </a:lnTo>
                  <a:lnTo>
                    <a:pt x="360" y="260"/>
                  </a:lnTo>
                  <a:lnTo>
                    <a:pt x="340" y="266"/>
                  </a:lnTo>
                  <a:lnTo>
                    <a:pt x="318" y="268"/>
                  </a:lnTo>
                  <a:lnTo>
                    <a:pt x="298" y="266"/>
                  </a:lnTo>
                  <a:lnTo>
                    <a:pt x="276" y="260"/>
                  </a:lnTo>
                  <a:lnTo>
                    <a:pt x="256" y="250"/>
                  </a:lnTo>
                  <a:lnTo>
                    <a:pt x="240" y="236"/>
                  </a:lnTo>
                  <a:lnTo>
                    <a:pt x="240" y="236"/>
                  </a:lnTo>
                  <a:lnTo>
                    <a:pt x="226" y="218"/>
                  </a:lnTo>
                  <a:lnTo>
                    <a:pt x="214" y="198"/>
                  </a:lnTo>
                  <a:lnTo>
                    <a:pt x="208" y="178"/>
                  </a:lnTo>
                  <a:lnTo>
                    <a:pt x="206" y="156"/>
                  </a:lnTo>
                  <a:lnTo>
                    <a:pt x="208" y="136"/>
                  </a:lnTo>
                  <a:lnTo>
                    <a:pt x="214" y="114"/>
                  </a:lnTo>
                  <a:lnTo>
                    <a:pt x="226" y="96"/>
                  </a:lnTo>
                  <a:lnTo>
                    <a:pt x="240" y="78"/>
                  </a:lnTo>
                  <a:lnTo>
                    <a:pt x="24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Rectangle 13"/>
            <p:cNvSpPr>
              <a:spLocks noChangeArrowheads="1"/>
            </p:cNvSpPr>
            <p:nvPr/>
          </p:nvSpPr>
          <p:spPr bwMode="auto">
            <a:xfrm>
              <a:off x="8350" y="4800"/>
              <a:ext cx="60" cy="5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14"/>
            <p:cNvSpPr>
              <a:spLocks/>
            </p:cNvSpPr>
            <p:nvPr/>
          </p:nvSpPr>
          <p:spPr bwMode="auto">
            <a:xfrm>
              <a:off x="8226" y="4894"/>
              <a:ext cx="60" cy="482"/>
            </a:xfrm>
            <a:custGeom>
              <a:avLst/>
              <a:gdLst>
                <a:gd name="T0" fmla="*/ 60 w 60"/>
                <a:gd name="T1" fmla="*/ 0 h 482"/>
                <a:gd name="T2" fmla="*/ 0 w 60"/>
                <a:gd name="T3" fmla="*/ 0 h 482"/>
                <a:gd name="T4" fmla="*/ 0 w 60"/>
                <a:gd name="T5" fmla="*/ 68 h 482"/>
                <a:gd name="T6" fmla="*/ 0 w 60"/>
                <a:gd name="T7" fmla="*/ 68 h 482"/>
                <a:gd name="T8" fmla="*/ 6 w 60"/>
                <a:gd name="T9" fmla="*/ 92 h 482"/>
                <a:gd name="T10" fmla="*/ 6 w 60"/>
                <a:gd name="T11" fmla="*/ 116 h 482"/>
                <a:gd name="T12" fmla="*/ 6 w 60"/>
                <a:gd name="T13" fmla="*/ 116 h 482"/>
                <a:gd name="T14" fmla="*/ 6 w 60"/>
                <a:gd name="T15" fmla="*/ 138 h 482"/>
                <a:gd name="T16" fmla="*/ 0 w 60"/>
                <a:gd name="T17" fmla="*/ 162 h 482"/>
                <a:gd name="T18" fmla="*/ 0 w 60"/>
                <a:gd name="T19" fmla="*/ 482 h 482"/>
                <a:gd name="T20" fmla="*/ 60 w 60"/>
                <a:gd name="T21" fmla="*/ 482 h 482"/>
                <a:gd name="T22" fmla="*/ 60 w 60"/>
                <a:gd name="T23" fmla="*/ 0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482">
                  <a:moveTo>
                    <a:pt x="60" y="0"/>
                  </a:moveTo>
                  <a:lnTo>
                    <a:pt x="0" y="0"/>
                  </a:lnTo>
                  <a:lnTo>
                    <a:pt x="0" y="68"/>
                  </a:lnTo>
                  <a:lnTo>
                    <a:pt x="0" y="68"/>
                  </a:lnTo>
                  <a:lnTo>
                    <a:pt x="6" y="92"/>
                  </a:lnTo>
                  <a:lnTo>
                    <a:pt x="6" y="116"/>
                  </a:lnTo>
                  <a:lnTo>
                    <a:pt x="6" y="116"/>
                  </a:lnTo>
                  <a:lnTo>
                    <a:pt x="6" y="138"/>
                  </a:lnTo>
                  <a:lnTo>
                    <a:pt x="0" y="162"/>
                  </a:lnTo>
                  <a:lnTo>
                    <a:pt x="0" y="482"/>
                  </a:lnTo>
                  <a:lnTo>
                    <a:pt x="60" y="482"/>
                  </a:lnTo>
                  <a:lnTo>
                    <a:pt x="6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5"/>
            <p:cNvSpPr>
              <a:spLocks/>
            </p:cNvSpPr>
            <p:nvPr/>
          </p:nvSpPr>
          <p:spPr bwMode="auto">
            <a:xfrm>
              <a:off x="8098" y="5160"/>
              <a:ext cx="60" cy="216"/>
            </a:xfrm>
            <a:custGeom>
              <a:avLst/>
              <a:gdLst>
                <a:gd name="T0" fmla="*/ 0 w 60"/>
                <a:gd name="T1" fmla="*/ 216 h 216"/>
                <a:gd name="T2" fmla="*/ 60 w 60"/>
                <a:gd name="T3" fmla="*/ 216 h 216"/>
                <a:gd name="T4" fmla="*/ 60 w 60"/>
                <a:gd name="T5" fmla="*/ 0 h 216"/>
                <a:gd name="T6" fmla="*/ 60 w 60"/>
                <a:gd name="T7" fmla="*/ 0 h 216"/>
                <a:gd name="T8" fmla="*/ 46 w 60"/>
                <a:gd name="T9" fmla="*/ 10 h 216"/>
                <a:gd name="T10" fmla="*/ 30 w 60"/>
                <a:gd name="T11" fmla="*/ 18 h 216"/>
                <a:gd name="T12" fmla="*/ 16 w 60"/>
                <a:gd name="T13" fmla="*/ 24 h 216"/>
                <a:gd name="T14" fmla="*/ 0 w 60"/>
                <a:gd name="T15" fmla="*/ 30 h 216"/>
                <a:gd name="T16" fmla="*/ 0 w 60"/>
                <a:gd name="T17" fmla="*/ 21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216">
                  <a:moveTo>
                    <a:pt x="0" y="216"/>
                  </a:moveTo>
                  <a:lnTo>
                    <a:pt x="60" y="216"/>
                  </a:lnTo>
                  <a:lnTo>
                    <a:pt x="60" y="0"/>
                  </a:lnTo>
                  <a:lnTo>
                    <a:pt x="60" y="0"/>
                  </a:lnTo>
                  <a:lnTo>
                    <a:pt x="46" y="10"/>
                  </a:lnTo>
                  <a:lnTo>
                    <a:pt x="30" y="18"/>
                  </a:lnTo>
                  <a:lnTo>
                    <a:pt x="16" y="24"/>
                  </a:lnTo>
                  <a:lnTo>
                    <a:pt x="0" y="30"/>
                  </a:lnTo>
                  <a:lnTo>
                    <a:pt x="0" y="2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6"/>
            <p:cNvSpPr>
              <a:spLocks/>
            </p:cNvSpPr>
            <p:nvPr/>
          </p:nvSpPr>
          <p:spPr bwMode="auto">
            <a:xfrm>
              <a:off x="7964" y="5190"/>
              <a:ext cx="60" cy="186"/>
            </a:xfrm>
            <a:custGeom>
              <a:avLst/>
              <a:gdLst>
                <a:gd name="T0" fmla="*/ 0 w 60"/>
                <a:gd name="T1" fmla="*/ 186 h 186"/>
                <a:gd name="T2" fmla="*/ 60 w 60"/>
                <a:gd name="T3" fmla="*/ 186 h 186"/>
                <a:gd name="T4" fmla="*/ 60 w 60"/>
                <a:gd name="T5" fmla="*/ 6 h 186"/>
                <a:gd name="T6" fmla="*/ 60 w 60"/>
                <a:gd name="T7" fmla="*/ 6 h 186"/>
                <a:gd name="T8" fmla="*/ 44 w 60"/>
                <a:gd name="T9" fmla="*/ 4 h 186"/>
                <a:gd name="T10" fmla="*/ 28 w 60"/>
                <a:gd name="T11" fmla="*/ 0 h 186"/>
                <a:gd name="T12" fmla="*/ 0 w 60"/>
                <a:gd name="T13" fmla="*/ 0 h 186"/>
                <a:gd name="T14" fmla="*/ 0 w 60"/>
                <a:gd name="T15" fmla="*/ 186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86">
                  <a:moveTo>
                    <a:pt x="0" y="186"/>
                  </a:moveTo>
                  <a:lnTo>
                    <a:pt x="60" y="186"/>
                  </a:lnTo>
                  <a:lnTo>
                    <a:pt x="60" y="6"/>
                  </a:lnTo>
                  <a:lnTo>
                    <a:pt x="60" y="6"/>
                  </a:lnTo>
                  <a:lnTo>
                    <a:pt x="44" y="4"/>
                  </a:lnTo>
                  <a:lnTo>
                    <a:pt x="28" y="0"/>
                  </a:lnTo>
                  <a:lnTo>
                    <a:pt x="0" y="0"/>
                  </a:lnTo>
                  <a:lnTo>
                    <a:pt x="0" y="18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7"/>
            <p:cNvSpPr>
              <a:spLocks/>
            </p:cNvSpPr>
            <p:nvPr/>
          </p:nvSpPr>
          <p:spPr bwMode="auto">
            <a:xfrm>
              <a:off x="7828" y="5282"/>
              <a:ext cx="60" cy="94"/>
            </a:xfrm>
            <a:custGeom>
              <a:avLst/>
              <a:gdLst>
                <a:gd name="T0" fmla="*/ 0 w 60"/>
                <a:gd name="T1" fmla="*/ 94 h 94"/>
                <a:gd name="T2" fmla="*/ 60 w 60"/>
                <a:gd name="T3" fmla="*/ 94 h 94"/>
                <a:gd name="T4" fmla="*/ 60 w 60"/>
                <a:gd name="T5" fmla="*/ 0 h 94"/>
                <a:gd name="T6" fmla="*/ 46 w 60"/>
                <a:gd name="T7" fmla="*/ 0 h 94"/>
                <a:gd name="T8" fmla="*/ 0 w 60"/>
                <a:gd name="T9" fmla="*/ 46 h 94"/>
                <a:gd name="T10" fmla="*/ 0 w 60"/>
                <a:gd name="T11" fmla="*/ 94 h 94"/>
              </a:gdLst>
              <a:ahLst/>
              <a:cxnLst>
                <a:cxn ang="0">
                  <a:pos x="T0" y="T1"/>
                </a:cxn>
                <a:cxn ang="0">
                  <a:pos x="T2" y="T3"/>
                </a:cxn>
                <a:cxn ang="0">
                  <a:pos x="T4" y="T5"/>
                </a:cxn>
                <a:cxn ang="0">
                  <a:pos x="T6" y="T7"/>
                </a:cxn>
                <a:cxn ang="0">
                  <a:pos x="T8" y="T9"/>
                </a:cxn>
                <a:cxn ang="0">
                  <a:pos x="T10" y="T11"/>
                </a:cxn>
              </a:cxnLst>
              <a:rect l="0" t="0" r="r" b="b"/>
              <a:pathLst>
                <a:path w="60" h="94">
                  <a:moveTo>
                    <a:pt x="0" y="94"/>
                  </a:moveTo>
                  <a:lnTo>
                    <a:pt x="60" y="94"/>
                  </a:lnTo>
                  <a:lnTo>
                    <a:pt x="60" y="0"/>
                  </a:lnTo>
                  <a:lnTo>
                    <a:pt x="46" y="0"/>
                  </a:lnTo>
                  <a:lnTo>
                    <a:pt x="0" y="46"/>
                  </a:lnTo>
                  <a:lnTo>
                    <a:pt x="0" y="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06181091"/>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A5A771EB-91A9-4873-890D-A91B392DB048}"/>
              </a:ext>
            </a:extLst>
          </p:cNvPr>
          <p:cNvSpPr/>
          <p:nvPr/>
        </p:nvSpPr>
        <p:spPr bwMode="gray">
          <a:xfrm>
            <a:off x="5295001" y="1828045"/>
            <a:ext cx="2844000" cy="4239415"/>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a:spcAft>
                <a:spcPts val="300"/>
              </a:spcAft>
            </a:pPr>
            <a:endParaRPr lang="en-US" sz="1200" dirty="0"/>
          </a:p>
        </p:txBody>
      </p:sp>
      <p:sp>
        <p:nvSpPr>
          <p:cNvPr id="65" name="Rectangle 64">
            <a:extLst>
              <a:ext uri="{FF2B5EF4-FFF2-40B4-BE49-F238E27FC236}">
                <a16:creationId xmlns:a16="http://schemas.microsoft.com/office/drawing/2014/main" id="{A5A771EB-91A9-4873-890D-A91B392DB048}"/>
              </a:ext>
            </a:extLst>
          </p:cNvPr>
          <p:cNvSpPr/>
          <p:nvPr/>
        </p:nvSpPr>
        <p:spPr bwMode="gray">
          <a:xfrm>
            <a:off x="469900" y="1832096"/>
            <a:ext cx="4060683" cy="4239415"/>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a:spcAft>
                <a:spcPts val="300"/>
              </a:spcAft>
            </a:pPr>
            <a:endParaRPr lang="en-US" sz="1200" dirty="0"/>
          </a:p>
        </p:txBody>
      </p:sp>
      <p:sp>
        <p:nvSpPr>
          <p:cNvPr id="2" name="Text Placeholder 1"/>
          <p:cNvSpPr>
            <a:spLocks noGrp="1"/>
          </p:cNvSpPr>
          <p:nvPr>
            <p:ph type="body" sz="quarter" idx="13"/>
          </p:nvPr>
        </p:nvSpPr>
        <p:spPr/>
        <p:txBody>
          <a:bodyPr/>
          <a:lstStyle/>
          <a:p>
            <a:r>
              <a:rPr lang="en-IN" dirty="0" smtClean="0"/>
              <a:t>For performance and financial viability assessment of NEA</a:t>
            </a:r>
            <a:endParaRPr lang="en-IN" dirty="0"/>
          </a:p>
        </p:txBody>
      </p:sp>
      <p:sp>
        <p:nvSpPr>
          <p:cNvPr id="3" name="Title 2"/>
          <p:cNvSpPr>
            <a:spLocks noGrp="1"/>
          </p:cNvSpPr>
          <p:nvPr>
            <p:ph type="title"/>
          </p:nvPr>
        </p:nvSpPr>
        <p:spPr/>
        <p:txBody>
          <a:bodyPr/>
          <a:lstStyle/>
          <a:p>
            <a:r>
              <a:rPr lang="en-IN" dirty="0" smtClean="0"/>
              <a:t>Structure of the FVAP model</a:t>
            </a:r>
            <a:endParaRPr lang="en-IN" dirty="0"/>
          </a:p>
        </p:txBody>
      </p:sp>
      <p:sp>
        <p:nvSpPr>
          <p:cNvPr id="15" name="Rectangle 14"/>
          <p:cNvSpPr/>
          <p:nvPr/>
        </p:nvSpPr>
        <p:spPr>
          <a:xfrm>
            <a:off x="469902" y="1976520"/>
            <a:ext cx="4032000" cy="630557"/>
          </a:xfrm>
          <a:prstGeom prst="rect">
            <a:avLst/>
          </a:prstGeom>
        </p:spPr>
        <p:txBody>
          <a:bodyPr wrap="square">
            <a:spAutoFit/>
          </a:bodyPr>
          <a:lstStyle/>
          <a:p>
            <a:pPr>
              <a:lnSpc>
                <a:spcPct val="106000"/>
              </a:lnSpc>
            </a:pPr>
            <a:r>
              <a:rPr lang="en-US" sz="1100" b="1" dirty="0" smtClean="0">
                <a:solidFill>
                  <a:schemeClr val="accent1"/>
                </a:solidFill>
              </a:rPr>
              <a:t>Energy Balance</a:t>
            </a:r>
            <a:r>
              <a:rPr lang="en-US" sz="1100" dirty="0" smtClean="0"/>
              <a:t> including energy </a:t>
            </a:r>
            <a:r>
              <a:rPr lang="en-US" sz="1100" dirty="0"/>
              <a:t>availability and demand for dry and wet seasons, prepared in line with schedule of upcoming plants</a:t>
            </a:r>
          </a:p>
        </p:txBody>
      </p:sp>
      <p:sp>
        <p:nvSpPr>
          <p:cNvPr id="34" name="Rectangle 33"/>
          <p:cNvSpPr/>
          <p:nvPr/>
        </p:nvSpPr>
        <p:spPr>
          <a:xfrm>
            <a:off x="469902" y="3509478"/>
            <a:ext cx="4032000" cy="630557"/>
          </a:xfrm>
          <a:prstGeom prst="rect">
            <a:avLst/>
          </a:prstGeom>
        </p:spPr>
        <p:txBody>
          <a:bodyPr wrap="square">
            <a:spAutoFit/>
          </a:bodyPr>
          <a:lstStyle/>
          <a:p>
            <a:pPr>
              <a:lnSpc>
                <a:spcPct val="106000"/>
              </a:lnSpc>
            </a:pPr>
            <a:r>
              <a:rPr lang="en-US" sz="1100" b="1" dirty="0" smtClean="0">
                <a:solidFill>
                  <a:schemeClr val="accent1"/>
                </a:solidFill>
              </a:rPr>
              <a:t>Existing and upcoming plants</a:t>
            </a:r>
            <a:r>
              <a:rPr lang="en-US" sz="1100" dirty="0" smtClean="0">
                <a:solidFill>
                  <a:schemeClr val="accent1"/>
                </a:solidFill>
              </a:rPr>
              <a:t> </a:t>
            </a:r>
            <a:r>
              <a:rPr lang="en-US" sz="1100" dirty="0" smtClean="0"/>
              <a:t>including their COD</a:t>
            </a:r>
            <a:r>
              <a:rPr lang="en-US" sz="1100" dirty="0"/>
              <a:t>, </a:t>
            </a:r>
            <a:r>
              <a:rPr lang="en-US" sz="1100" dirty="0" smtClean="0"/>
              <a:t>generation capacity</a:t>
            </a:r>
            <a:r>
              <a:rPr lang="en-US" sz="1100" dirty="0"/>
              <a:t>, generation units and power purchase </a:t>
            </a:r>
            <a:r>
              <a:rPr lang="en-US" sz="1100" dirty="0" smtClean="0"/>
              <a:t>rate</a:t>
            </a:r>
            <a:endParaRPr lang="en-US" sz="1100" dirty="0"/>
          </a:p>
        </p:txBody>
      </p:sp>
      <p:sp>
        <p:nvSpPr>
          <p:cNvPr id="51" name="Rectangle 50"/>
          <p:cNvSpPr/>
          <p:nvPr/>
        </p:nvSpPr>
        <p:spPr>
          <a:xfrm>
            <a:off x="469902" y="4275957"/>
            <a:ext cx="4032000" cy="451149"/>
          </a:xfrm>
          <a:prstGeom prst="rect">
            <a:avLst/>
          </a:prstGeom>
        </p:spPr>
        <p:txBody>
          <a:bodyPr wrap="square">
            <a:spAutoFit/>
          </a:bodyPr>
          <a:lstStyle/>
          <a:p>
            <a:pPr>
              <a:lnSpc>
                <a:spcPct val="106000"/>
              </a:lnSpc>
            </a:pPr>
            <a:r>
              <a:rPr lang="en-US" sz="1100" b="1" dirty="0" smtClean="0">
                <a:solidFill>
                  <a:schemeClr val="accent1"/>
                </a:solidFill>
              </a:rPr>
              <a:t>Loan schedule</a:t>
            </a:r>
            <a:r>
              <a:rPr lang="en-US" sz="1100" dirty="0" smtClean="0"/>
              <a:t> for existing and new loans, with their y-o-y repayment and interest projections</a:t>
            </a:r>
            <a:endParaRPr lang="en-US" sz="1100" dirty="0"/>
          </a:p>
        </p:txBody>
      </p:sp>
      <p:sp>
        <p:nvSpPr>
          <p:cNvPr id="52" name="Rectangle 51"/>
          <p:cNvSpPr/>
          <p:nvPr/>
        </p:nvSpPr>
        <p:spPr>
          <a:xfrm>
            <a:off x="469902" y="4863028"/>
            <a:ext cx="4032000" cy="451149"/>
          </a:xfrm>
          <a:prstGeom prst="rect">
            <a:avLst/>
          </a:prstGeom>
        </p:spPr>
        <p:txBody>
          <a:bodyPr wrap="square">
            <a:spAutoFit/>
          </a:bodyPr>
          <a:lstStyle/>
          <a:p>
            <a:pPr>
              <a:lnSpc>
                <a:spcPct val="106000"/>
              </a:lnSpc>
            </a:pPr>
            <a:r>
              <a:rPr lang="en-US" sz="1100" b="1" dirty="0" smtClean="0">
                <a:solidFill>
                  <a:schemeClr val="accent1"/>
                </a:solidFill>
              </a:rPr>
              <a:t>Commercial parameters</a:t>
            </a:r>
            <a:r>
              <a:rPr lang="en-US" sz="1100" dirty="0" smtClean="0"/>
              <a:t> like sales, revenue, average billing rate, T&amp;D losses</a:t>
            </a:r>
            <a:endParaRPr lang="en-US" sz="1100" dirty="0"/>
          </a:p>
        </p:txBody>
      </p:sp>
      <p:sp>
        <p:nvSpPr>
          <p:cNvPr id="53" name="Rectangle 52"/>
          <p:cNvSpPr/>
          <p:nvPr/>
        </p:nvSpPr>
        <p:spPr>
          <a:xfrm>
            <a:off x="469901" y="5450099"/>
            <a:ext cx="4032000" cy="630557"/>
          </a:xfrm>
          <a:prstGeom prst="rect">
            <a:avLst/>
          </a:prstGeom>
        </p:spPr>
        <p:txBody>
          <a:bodyPr wrap="square">
            <a:spAutoFit/>
          </a:bodyPr>
          <a:lstStyle/>
          <a:p>
            <a:pPr>
              <a:lnSpc>
                <a:spcPct val="106000"/>
              </a:lnSpc>
            </a:pPr>
            <a:r>
              <a:rPr lang="en-US" sz="1100" b="1" dirty="0" smtClean="0">
                <a:solidFill>
                  <a:schemeClr val="accent1"/>
                </a:solidFill>
              </a:rPr>
              <a:t>Other parameters</a:t>
            </a:r>
            <a:r>
              <a:rPr lang="en-US" sz="1100" dirty="0" smtClean="0"/>
              <a:t> like CWIP of existing assets,, depreciation rates, ROE/ ROA, O&amp;M costs, royalty and Dividend Income</a:t>
            </a:r>
            <a:endParaRPr lang="en-US" sz="1100" dirty="0"/>
          </a:p>
        </p:txBody>
      </p:sp>
      <p:sp>
        <p:nvSpPr>
          <p:cNvPr id="31" name="Right Arrow 30"/>
          <p:cNvSpPr/>
          <p:nvPr/>
        </p:nvSpPr>
        <p:spPr bwMode="gray">
          <a:xfrm>
            <a:off x="4815711" y="3490811"/>
            <a:ext cx="347472" cy="649224"/>
          </a:xfrm>
          <a:prstGeom prst="rightArrow">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1" name="Isosceles Triangle 60"/>
          <p:cNvSpPr/>
          <p:nvPr/>
        </p:nvSpPr>
        <p:spPr bwMode="gray">
          <a:xfrm flipH="1">
            <a:off x="3561677" y="1601112"/>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2" name="Isosceles Triangle 61"/>
          <p:cNvSpPr/>
          <p:nvPr/>
        </p:nvSpPr>
        <p:spPr bwMode="gray">
          <a:xfrm>
            <a:off x="997130" y="1601112"/>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3" name="Trapezoid 62"/>
          <p:cNvSpPr/>
          <p:nvPr/>
        </p:nvSpPr>
        <p:spPr bwMode="gray">
          <a:xfrm rot="10800000">
            <a:off x="1055234" y="1601112"/>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4" name="Rectangle 63"/>
          <p:cNvSpPr/>
          <p:nvPr/>
        </p:nvSpPr>
        <p:spPr>
          <a:xfrm>
            <a:off x="1267568" y="1602693"/>
            <a:ext cx="2292615" cy="276999"/>
          </a:xfrm>
          <a:prstGeom prst="rect">
            <a:avLst/>
          </a:prstGeom>
        </p:spPr>
        <p:txBody>
          <a:bodyPr wrap="none">
            <a:spAutoFit/>
          </a:bodyPr>
          <a:lstStyle/>
          <a:p>
            <a:pPr>
              <a:spcAft>
                <a:spcPts val="300"/>
              </a:spcAft>
            </a:pPr>
            <a:r>
              <a:rPr lang="en-US" sz="1200" b="1" dirty="0" smtClean="0">
                <a:solidFill>
                  <a:schemeClr val="bg1"/>
                </a:solidFill>
              </a:rPr>
              <a:t>Inputs and Assumptions</a:t>
            </a:r>
            <a:endParaRPr lang="en-US" sz="1200" b="1" dirty="0">
              <a:solidFill>
                <a:schemeClr val="bg1"/>
              </a:solidFill>
            </a:endParaRPr>
          </a:p>
        </p:txBody>
      </p:sp>
      <p:sp>
        <p:nvSpPr>
          <p:cNvPr id="66" name="Isosceles Triangle 65"/>
          <p:cNvSpPr/>
          <p:nvPr/>
        </p:nvSpPr>
        <p:spPr bwMode="gray">
          <a:xfrm flipH="1">
            <a:off x="7710005" y="1599531"/>
            <a:ext cx="263599" cy="228514"/>
          </a:xfrm>
          <a:prstGeom prst="triangle">
            <a:avLst>
              <a:gd name="adj" fmla="val 22763"/>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7" name="Isosceles Triangle 66"/>
          <p:cNvSpPr/>
          <p:nvPr/>
        </p:nvSpPr>
        <p:spPr bwMode="gray">
          <a:xfrm>
            <a:off x="5419778" y="1590387"/>
            <a:ext cx="263599" cy="228514"/>
          </a:xfrm>
          <a:prstGeom prst="triangle">
            <a:avLst>
              <a:gd name="adj" fmla="val 22763"/>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8" name="Trapezoid 67"/>
          <p:cNvSpPr/>
          <p:nvPr/>
        </p:nvSpPr>
        <p:spPr bwMode="gray">
          <a:xfrm rot="10800000">
            <a:off x="5503500" y="1599531"/>
            <a:ext cx="2412000" cy="322424"/>
          </a:xfrm>
          <a:prstGeom prst="trapezoid">
            <a:avLst>
              <a:gd name="adj" fmla="val 68631"/>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69" name="Rectangle 68"/>
          <p:cNvSpPr/>
          <p:nvPr/>
        </p:nvSpPr>
        <p:spPr>
          <a:xfrm>
            <a:off x="5810612" y="1601112"/>
            <a:ext cx="1571264" cy="276999"/>
          </a:xfrm>
          <a:prstGeom prst="rect">
            <a:avLst/>
          </a:prstGeom>
        </p:spPr>
        <p:txBody>
          <a:bodyPr wrap="none">
            <a:spAutoFit/>
          </a:bodyPr>
          <a:lstStyle/>
          <a:p>
            <a:pPr>
              <a:spcAft>
                <a:spcPts val="300"/>
              </a:spcAft>
            </a:pPr>
            <a:r>
              <a:rPr lang="en-US" sz="1200" b="1" dirty="0" smtClean="0">
                <a:solidFill>
                  <a:schemeClr val="bg1"/>
                </a:solidFill>
              </a:rPr>
              <a:t>Model Workings</a:t>
            </a:r>
            <a:endParaRPr lang="en-US" sz="1200" b="1" dirty="0">
              <a:solidFill>
                <a:schemeClr val="bg1"/>
              </a:solidFill>
            </a:endParaRPr>
          </a:p>
        </p:txBody>
      </p:sp>
      <p:sp>
        <p:nvSpPr>
          <p:cNvPr id="71" name="Rectangle 70"/>
          <p:cNvSpPr/>
          <p:nvPr/>
        </p:nvSpPr>
        <p:spPr>
          <a:xfrm>
            <a:off x="5404104" y="1976520"/>
            <a:ext cx="2770632" cy="1886414"/>
          </a:xfrm>
          <a:prstGeom prst="rect">
            <a:avLst/>
          </a:prstGeom>
        </p:spPr>
        <p:txBody>
          <a:bodyPr wrap="square">
            <a:spAutoFit/>
          </a:bodyPr>
          <a:lstStyle/>
          <a:p>
            <a:pPr>
              <a:lnSpc>
                <a:spcPct val="106000"/>
              </a:lnSpc>
            </a:pPr>
            <a:r>
              <a:rPr lang="en-US" sz="1100" b="1" dirty="0" smtClean="0">
                <a:solidFill>
                  <a:schemeClr val="accent3"/>
                </a:solidFill>
              </a:rPr>
              <a:t>Cost projection</a:t>
            </a:r>
            <a:r>
              <a:rPr lang="en-US" sz="1100" dirty="0" smtClean="0"/>
              <a:t> workings for – </a:t>
            </a:r>
          </a:p>
          <a:p>
            <a:pPr marL="171450" indent="-171450">
              <a:lnSpc>
                <a:spcPct val="106000"/>
              </a:lnSpc>
              <a:buFont typeface="Arial" panose="020B0604020202020204" pitchFamily="34" charset="0"/>
              <a:buChar char="•"/>
            </a:pPr>
            <a:r>
              <a:rPr lang="en-US" sz="1100" dirty="0" smtClean="0"/>
              <a:t>Power purchase</a:t>
            </a:r>
          </a:p>
          <a:p>
            <a:pPr marL="171450" indent="-171450">
              <a:lnSpc>
                <a:spcPct val="106000"/>
              </a:lnSpc>
              <a:buFont typeface="Arial" panose="020B0604020202020204" pitchFamily="34" charset="0"/>
              <a:buChar char="•"/>
            </a:pPr>
            <a:r>
              <a:rPr lang="en-US" sz="1100" dirty="0"/>
              <a:t>O&amp;M</a:t>
            </a:r>
          </a:p>
          <a:p>
            <a:pPr marL="171450" indent="-171450">
              <a:lnSpc>
                <a:spcPct val="106000"/>
              </a:lnSpc>
              <a:buFont typeface="Arial" panose="020B0604020202020204" pitchFamily="34" charset="0"/>
              <a:buChar char="•"/>
            </a:pPr>
            <a:r>
              <a:rPr lang="en-US" sz="1100" dirty="0" smtClean="0"/>
              <a:t>Royalty</a:t>
            </a:r>
          </a:p>
          <a:p>
            <a:pPr marL="171450" indent="-171450">
              <a:lnSpc>
                <a:spcPct val="106000"/>
              </a:lnSpc>
              <a:buFont typeface="Arial" panose="020B0604020202020204" pitchFamily="34" charset="0"/>
              <a:buChar char="•"/>
            </a:pPr>
            <a:r>
              <a:rPr lang="en-US" sz="1100" dirty="0" smtClean="0"/>
              <a:t>Wheeling charges</a:t>
            </a:r>
          </a:p>
          <a:p>
            <a:pPr marL="171450" indent="-171450">
              <a:lnSpc>
                <a:spcPct val="106000"/>
              </a:lnSpc>
              <a:buFont typeface="Arial" panose="020B0604020202020204" pitchFamily="34" charset="0"/>
              <a:buChar char="•"/>
            </a:pPr>
            <a:r>
              <a:rPr lang="en-US" sz="1100" dirty="0" smtClean="0"/>
              <a:t>Depreciation</a:t>
            </a:r>
          </a:p>
          <a:p>
            <a:pPr marL="171450" indent="-171450">
              <a:lnSpc>
                <a:spcPct val="106000"/>
              </a:lnSpc>
              <a:buFont typeface="Arial" panose="020B0604020202020204" pitchFamily="34" charset="0"/>
              <a:buChar char="•"/>
            </a:pPr>
            <a:r>
              <a:rPr lang="en-US" sz="1100" dirty="0" smtClean="0"/>
              <a:t>Interest on loans</a:t>
            </a:r>
          </a:p>
          <a:p>
            <a:pPr marL="171450" indent="-171450">
              <a:lnSpc>
                <a:spcPct val="106000"/>
              </a:lnSpc>
              <a:buFont typeface="Arial" panose="020B0604020202020204" pitchFamily="34" charset="0"/>
              <a:buChar char="•"/>
            </a:pPr>
            <a:r>
              <a:rPr lang="en-US" sz="1100" dirty="0" smtClean="0"/>
              <a:t>Interest on working capital</a:t>
            </a:r>
          </a:p>
          <a:p>
            <a:pPr marL="171450" indent="-171450">
              <a:lnSpc>
                <a:spcPct val="106000"/>
              </a:lnSpc>
              <a:buFont typeface="Arial" panose="020B0604020202020204" pitchFamily="34" charset="0"/>
              <a:buChar char="•"/>
            </a:pPr>
            <a:r>
              <a:rPr lang="en-US" sz="1100" dirty="0" smtClean="0"/>
              <a:t>Foreign exchange gain/ (loss)</a:t>
            </a:r>
          </a:p>
          <a:p>
            <a:pPr marL="171450" indent="-171450">
              <a:lnSpc>
                <a:spcPct val="106000"/>
              </a:lnSpc>
              <a:buFont typeface="Arial" panose="020B0604020202020204" pitchFamily="34" charset="0"/>
              <a:buChar char="•"/>
            </a:pPr>
            <a:r>
              <a:rPr lang="en-US" sz="1100" dirty="0" smtClean="0"/>
              <a:t>Tax</a:t>
            </a:r>
          </a:p>
        </p:txBody>
      </p:sp>
      <p:sp>
        <p:nvSpPr>
          <p:cNvPr id="72" name="Rectangle 71"/>
          <p:cNvSpPr/>
          <p:nvPr/>
        </p:nvSpPr>
        <p:spPr>
          <a:xfrm>
            <a:off x="5404104" y="4134434"/>
            <a:ext cx="2770632" cy="989373"/>
          </a:xfrm>
          <a:prstGeom prst="rect">
            <a:avLst/>
          </a:prstGeom>
        </p:spPr>
        <p:txBody>
          <a:bodyPr wrap="square">
            <a:spAutoFit/>
          </a:bodyPr>
          <a:lstStyle/>
          <a:p>
            <a:pPr>
              <a:lnSpc>
                <a:spcPct val="106000"/>
              </a:lnSpc>
            </a:pPr>
            <a:r>
              <a:rPr lang="en-US" sz="1100" b="1" dirty="0" smtClean="0">
                <a:solidFill>
                  <a:schemeClr val="accent3"/>
                </a:solidFill>
              </a:rPr>
              <a:t>Revenue projection</a:t>
            </a:r>
            <a:r>
              <a:rPr lang="en-US" sz="1100" dirty="0" smtClean="0">
                <a:solidFill>
                  <a:schemeClr val="accent3"/>
                </a:solidFill>
              </a:rPr>
              <a:t> </a:t>
            </a:r>
            <a:r>
              <a:rPr lang="en-US" sz="1100" dirty="0" smtClean="0"/>
              <a:t>workings for – </a:t>
            </a:r>
          </a:p>
          <a:p>
            <a:pPr marL="171450" indent="-171450">
              <a:lnSpc>
                <a:spcPct val="106000"/>
              </a:lnSpc>
              <a:buFont typeface="Arial" panose="020B0604020202020204" pitchFamily="34" charset="0"/>
              <a:buChar char="•"/>
            </a:pPr>
            <a:r>
              <a:rPr lang="en-US" sz="1100" dirty="0" smtClean="0"/>
              <a:t>Sale of power</a:t>
            </a:r>
          </a:p>
          <a:p>
            <a:pPr marL="171450" indent="-171450">
              <a:lnSpc>
                <a:spcPct val="106000"/>
              </a:lnSpc>
              <a:buFont typeface="Arial" panose="020B0604020202020204" pitchFamily="34" charset="0"/>
              <a:buChar char="•"/>
            </a:pPr>
            <a:r>
              <a:rPr lang="en-US" sz="1100" dirty="0" smtClean="0"/>
              <a:t>Export of power</a:t>
            </a:r>
          </a:p>
          <a:p>
            <a:pPr marL="171450" indent="-171450">
              <a:lnSpc>
                <a:spcPct val="106000"/>
              </a:lnSpc>
              <a:buFont typeface="Arial" panose="020B0604020202020204" pitchFamily="34" charset="0"/>
              <a:buChar char="•"/>
            </a:pPr>
            <a:r>
              <a:rPr lang="en-US" sz="1100" dirty="0" smtClean="0"/>
              <a:t>Dividend income</a:t>
            </a:r>
          </a:p>
          <a:p>
            <a:pPr marL="171450" indent="-171450">
              <a:lnSpc>
                <a:spcPct val="106000"/>
              </a:lnSpc>
              <a:buFont typeface="Arial" panose="020B0604020202020204" pitchFamily="34" charset="0"/>
              <a:buChar char="•"/>
            </a:pPr>
            <a:r>
              <a:rPr lang="en-US" sz="1100" dirty="0" smtClean="0"/>
              <a:t>Other income</a:t>
            </a:r>
          </a:p>
        </p:txBody>
      </p:sp>
      <p:sp>
        <p:nvSpPr>
          <p:cNvPr id="73" name="Right Arrow 72"/>
          <p:cNvSpPr/>
          <p:nvPr/>
        </p:nvSpPr>
        <p:spPr bwMode="gray">
          <a:xfrm>
            <a:off x="8422019" y="3485210"/>
            <a:ext cx="347472" cy="649224"/>
          </a:xfrm>
          <a:prstGeom prst="rightArrow">
            <a:avLst/>
          </a:prstGeom>
          <a:solidFill>
            <a:schemeClr val="accent6">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74" name="Rectangle 73">
            <a:extLst>
              <a:ext uri="{FF2B5EF4-FFF2-40B4-BE49-F238E27FC236}">
                <a16:creationId xmlns:a16="http://schemas.microsoft.com/office/drawing/2014/main" id="{A5A771EB-91A9-4873-890D-A91B392DB048}"/>
              </a:ext>
            </a:extLst>
          </p:cNvPr>
          <p:cNvSpPr/>
          <p:nvPr/>
        </p:nvSpPr>
        <p:spPr bwMode="gray">
          <a:xfrm>
            <a:off x="8989925" y="1828045"/>
            <a:ext cx="2772000" cy="4239415"/>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a:spcAft>
                <a:spcPts val="300"/>
              </a:spcAft>
            </a:pPr>
            <a:endParaRPr lang="en-US" sz="1200" dirty="0"/>
          </a:p>
        </p:txBody>
      </p:sp>
      <p:sp>
        <p:nvSpPr>
          <p:cNvPr id="75" name="Isosceles Triangle 74"/>
          <p:cNvSpPr/>
          <p:nvPr/>
        </p:nvSpPr>
        <p:spPr bwMode="gray">
          <a:xfrm flipH="1">
            <a:off x="11388466" y="1599531"/>
            <a:ext cx="263599" cy="228514"/>
          </a:xfrm>
          <a:prstGeom prst="triangle">
            <a:avLst>
              <a:gd name="adj" fmla="val 40232"/>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76" name="Isosceles Triangle 75"/>
          <p:cNvSpPr/>
          <p:nvPr/>
        </p:nvSpPr>
        <p:spPr bwMode="gray">
          <a:xfrm>
            <a:off x="9117942" y="1599531"/>
            <a:ext cx="263599" cy="228514"/>
          </a:xfrm>
          <a:prstGeom prst="triangle">
            <a:avLst>
              <a:gd name="adj" fmla="val 33993"/>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77" name="Trapezoid 76"/>
          <p:cNvSpPr/>
          <p:nvPr/>
        </p:nvSpPr>
        <p:spPr bwMode="gray">
          <a:xfrm rot="10800000">
            <a:off x="9218837" y="1599530"/>
            <a:ext cx="2340000" cy="322425"/>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78" name="Rectangle 77"/>
          <p:cNvSpPr/>
          <p:nvPr/>
        </p:nvSpPr>
        <p:spPr>
          <a:xfrm>
            <a:off x="9746520" y="1601112"/>
            <a:ext cx="1284326" cy="276999"/>
          </a:xfrm>
          <a:prstGeom prst="rect">
            <a:avLst/>
          </a:prstGeom>
        </p:spPr>
        <p:txBody>
          <a:bodyPr wrap="none">
            <a:spAutoFit/>
          </a:bodyPr>
          <a:lstStyle/>
          <a:p>
            <a:pPr>
              <a:spcAft>
                <a:spcPts val="300"/>
              </a:spcAft>
            </a:pPr>
            <a:r>
              <a:rPr lang="en-US" sz="1200" b="1" dirty="0" smtClean="0">
                <a:solidFill>
                  <a:schemeClr val="bg1"/>
                </a:solidFill>
              </a:rPr>
              <a:t>FVAP Output</a:t>
            </a:r>
            <a:endParaRPr lang="en-US" sz="1200" b="1" dirty="0">
              <a:solidFill>
                <a:schemeClr val="bg1"/>
              </a:solidFill>
            </a:endParaRPr>
          </a:p>
        </p:txBody>
      </p:sp>
      <p:sp>
        <p:nvSpPr>
          <p:cNvPr id="81" name="Rectangle 80"/>
          <p:cNvSpPr/>
          <p:nvPr/>
        </p:nvSpPr>
        <p:spPr>
          <a:xfrm>
            <a:off x="9070645" y="1976706"/>
            <a:ext cx="2489980" cy="3588355"/>
          </a:xfrm>
          <a:prstGeom prst="rect">
            <a:avLst/>
          </a:prstGeom>
        </p:spPr>
        <p:txBody>
          <a:bodyPr wrap="square">
            <a:spAutoFit/>
          </a:bodyPr>
          <a:lstStyle/>
          <a:p>
            <a:pPr>
              <a:lnSpc>
                <a:spcPct val="106000"/>
              </a:lnSpc>
              <a:spcAft>
                <a:spcPts val="600"/>
              </a:spcAft>
            </a:pPr>
            <a:r>
              <a:rPr lang="en-US" sz="1100" b="1" dirty="0" smtClean="0">
                <a:solidFill>
                  <a:schemeClr val="accent5"/>
                </a:solidFill>
              </a:rPr>
              <a:t>Tariff hike trajectory </a:t>
            </a:r>
            <a:r>
              <a:rPr lang="en-US" sz="1100" dirty="0" smtClean="0"/>
              <a:t>required for recovery of costs - cost reflective tariff trajectory and smooth tariff hike trajectory</a:t>
            </a:r>
          </a:p>
          <a:p>
            <a:pPr>
              <a:lnSpc>
                <a:spcPct val="106000"/>
              </a:lnSpc>
              <a:spcAft>
                <a:spcPts val="600"/>
              </a:spcAft>
            </a:pPr>
            <a:endParaRPr lang="en-US" sz="1100" dirty="0" smtClean="0"/>
          </a:p>
          <a:p>
            <a:pPr>
              <a:lnSpc>
                <a:spcPct val="106000"/>
              </a:lnSpc>
              <a:spcAft>
                <a:spcPts val="600"/>
              </a:spcAft>
            </a:pPr>
            <a:r>
              <a:rPr lang="en-US" sz="1100" b="1" dirty="0" smtClean="0">
                <a:solidFill>
                  <a:schemeClr val="accent5"/>
                </a:solidFill>
              </a:rPr>
              <a:t>Tariff hike scenarios and VGF requirements </a:t>
            </a:r>
            <a:r>
              <a:rPr lang="en-US" sz="1100" dirty="0" smtClean="0"/>
              <a:t>to fund revenue gap</a:t>
            </a:r>
          </a:p>
          <a:p>
            <a:pPr>
              <a:lnSpc>
                <a:spcPct val="106000"/>
              </a:lnSpc>
              <a:spcAft>
                <a:spcPts val="600"/>
              </a:spcAft>
            </a:pPr>
            <a:endParaRPr lang="en-US" sz="1100" b="1" dirty="0" smtClean="0">
              <a:solidFill>
                <a:schemeClr val="accent5"/>
              </a:solidFill>
            </a:endParaRPr>
          </a:p>
          <a:p>
            <a:pPr>
              <a:lnSpc>
                <a:spcPct val="106000"/>
              </a:lnSpc>
              <a:spcAft>
                <a:spcPts val="600"/>
              </a:spcAft>
            </a:pPr>
            <a:r>
              <a:rPr lang="en-US" sz="1100" b="1" dirty="0" smtClean="0">
                <a:solidFill>
                  <a:schemeClr val="accent5"/>
                </a:solidFill>
              </a:rPr>
              <a:t>Financial </a:t>
            </a:r>
            <a:r>
              <a:rPr lang="en-US" sz="1100" b="1" dirty="0">
                <a:solidFill>
                  <a:schemeClr val="accent5"/>
                </a:solidFill>
              </a:rPr>
              <a:t>statement projections</a:t>
            </a:r>
            <a:r>
              <a:rPr lang="en-US" sz="1100" dirty="0"/>
              <a:t> of P&amp;L, Balance Sheet and Cash Flows for 10 years period </a:t>
            </a:r>
            <a:r>
              <a:rPr lang="en-US" sz="1100" i="1" dirty="0"/>
              <a:t>from </a:t>
            </a:r>
            <a:r>
              <a:rPr lang="en-US" sz="1100" i="1" dirty="0" smtClean="0"/>
              <a:t>2019-20 </a:t>
            </a:r>
            <a:r>
              <a:rPr lang="en-US" sz="1100" i="1" dirty="0"/>
              <a:t>to </a:t>
            </a:r>
            <a:r>
              <a:rPr lang="en-US" sz="1100" i="1" dirty="0" smtClean="0"/>
              <a:t>2028-29</a:t>
            </a:r>
            <a:endParaRPr lang="en-US" sz="1100" dirty="0" smtClean="0"/>
          </a:p>
          <a:p>
            <a:pPr>
              <a:lnSpc>
                <a:spcPct val="106000"/>
              </a:lnSpc>
              <a:spcAft>
                <a:spcPts val="600"/>
              </a:spcAft>
            </a:pPr>
            <a:endParaRPr lang="en-US" sz="1100" b="1" dirty="0" smtClean="0">
              <a:solidFill>
                <a:schemeClr val="accent5"/>
              </a:solidFill>
            </a:endParaRPr>
          </a:p>
          <a:p>
            <a:pPr>
              <a:lnSpc>
                <a:spcPct val="106000"/>
              </a:lnSpc>
              <a:spcAft>
                <a:spcPts val="600"/>
              </a:spcAft>
            </a:pPr>
            <a:r>
              <a:rPr lang="en-US" sz="1100" b="1" dirty="0" smtClean="0">
                <a:solidFill>
                  <a:schemeClr val="accent5"/>
                </a:solidFill>
              </a:rPr>
              <a:t>Financial ratio analysis</a:t>
            </a:r>
            <a:r>
              <a:rPr lang="en-US" sz="1100" dirty="0" smtClean="0"/>
              <a:t> of NEA</a:t>
            </a:r>
            <a:endParaRPr lang="en-US" sz="1100" dirty="0"/>
          </a:p>
        </p:txBody>
      </p:sp>
      <p:sp>
        <p:nvSpPr>
          <p:cNvPr id="30" name="Rectangle 29"/>
          <p:cNvSpPr/>
          <p:nvPr/>
        </p:nvSpPr>
        <p:spPr>
          <a:xfrm>
            <a:off x="467565" y="2742999"/>
            <a:ext cx="4032000" cy="630557"/>
          </a:xfrm>
          <a:prstGeom prst="rect">
            <a:avLst/>
          </a:prstGeom>
        </p:spPr>
        <p:txBody>
          <a:bodyPr wrap="square">
            <a:spAutoFit/>
          </a:bodyPr>
          <a:lstStyle/>
          <a:p>
            <a:pPr>
              <a:lnSpc>
                <a:spcPct val="106000"/>
              </a:lnSpc>
            </a:pPr>
            <a:r>
              <a:rPr lang="en-US" sz="1100" b="1" dirty="0" smtClean="0">
                <a:solidFill>
                  <a:schemeClr val="accent1"/>
                </a:solidFill>
              </a:rPr>
              <a:t>Capital expenditure and investments</a:t>
            </a:r>
            <a:r>
              <a:rPr lang="en-US" sz="1100" dirty="0" smtClean="0"/>
              <a:t> for upcoming </a:t>
            </a:r>
            <a:r>
              <a:rPr lang="en-US" sz="1100" dirty="0"/>
              <a:t>projects of NEA </a:t>
            </a:r>
            <a:r>
              <a:rPr lang="en-US" sz="1100" dirty="0" smtClean="0"/>
              <a:t>and subsidiaries of NEA along with their funding pattern</a:t>
            </a:r>
            <a:endParaRPr lang="en-US" sz="1100" dirty="0"/>
          </a:p>
        </p:txBody>
      </p:sp>
    </p:spTree>
    <p:extLst>
      <p:ext uri="{BB962C8B-B14F-4D97-AF65-F5344CB8AC3E}">
        <p14:creationId xmlns:p14="http://schemas.microsoft.com/office/powerpoint/2010/main" val="52995484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Based on inputs provided by NEA and discussions with World Bank</a:t>
            </a:r>
            <a:endParaRPr lang="en-IN" dirty="0"/>
          </a:p>
        </p:txBody>
      </p:sp>
      <p:sp>
        <p:nvSpPr>
          <p:cNvPr id="3" name="Title 2"/>
          <p:cNvSpPr>
            <a:spLocks noGrp="1"/>
          </p:cNvSpPr>
          <p:nvPr>
            <p:ph type="title"/>
          </p:nvPr>
        </p:nvSpPr>
        <p:spPr/>
        <p:txBody>
          <a:bodyPr/>
          <a:lstStyle/>
          <a:p>
            <a:r>
              <a:rPr lang="en-IN" dirty="0" smtClean="0"/>
              <a:t>Summary of updates made in this FVAP</a:t>
            </a:r>
            <a:endParaRPr lang="en-IN" dirty="0"/>
          </a:p>
        </p:txBody>
      </p:sp>
      <p:graphicFrame>
        <p:nvGraphicFramePr>
          <p:cNvPr id="16" name="Table 15"/>
          <p:cNvGraphicFramePr>
            <a:graphicFrameLocks noGrp="1"/>
          </p:cNvGraphicFramePr>
          <p:nvPr>
            <p:extLst>
              <p:ext uri="{D42A27DB-BD31-4B8C-83A1-F6EECF244321}">
                <p14:modId xmlns:p14="http://schemas.microsoft.com/office/powerpoint/2010/main" val="2399574284"/>
              </p:ext>
            </p:extLst>
          </p:nvPr>
        </p:nvGraphicFramePr>
        <p:xfrm>
          <a:off x="469899" y="1854113"/>
          <a:ext cx="11252201" cy="4069080"/>
        </p:xfrm>
        <a:graphic>
          <a:graphicData uri="http://schemas.openxmlformats.org/drawingml/2006/table">
            <a:tbl>
              <a:tblPr bandRow="1">
                <a:tableStyleId>{7E9639D4-E3E2-4D34-9284-5A2195B3D0D7}</a:tableStyleId>
              </a:tblPr>
              <a:tblGrid>
                <a:gridCol w="1944116">
                  <a:extLst>
                    <a:ext uri="{9D8B030D-6E8A-4147-A177-3AD203B41FA5}">
                      <a16:colId xmlns:a16="http://schemas.microsoft.com/office/drawing/2014/main" val="3089764561"/>
                    </a:ext>
                  </a:extLst>
                </a:gridCol>
                <a:gridCol w="4608576">
                  <a:extLst>
                    <a:ext uri="{9D8B030D-6E8A-4147-A177-3AD203B41FA5}">
                      <a16:colId xmlns:a16="http://schemas.microsoft.com/office/drawing/2014/main" val="166611912"/>
                    </a:ext>
                  </a:extLst>
                </a:gridCol>
                <a:gridCol w="4699509">
                  <a:extLst>
                    <a:ext uri="{9D8B030D-6E8A-4147-A177-3AD203B41FA5}">
                      <a16:colId xmlns:a16="http://schemas.microsoft.com/office/drawing/2014/main" val="3968840363"/>
                    </a:ext>
                  </a:extLst>
                </a:gridCol>
              </a:tblGrid>
              <a:tr h="467336">
                <a:tc>
                  <a:txBody>
                    <a:bodyPr/>
                    <a:lstStyle/>
                    <a:p>
                      <a:pPr>
                        <a:spcAft>
                          <a:spcPts val="0"/>
                        </a:spcAft>
                      </a:pPr>
                      <a:r>
                        <a:rPr lang="en-IN" sz="1200" dirty="0" smtClean="0"/>
                        <a:t>Base year of model updated from 2016-17 </a:t>
                      </a:r>
                    </a:p>
                    <a:p>
                      <a:pPr>
                        <a:spcAft>
                          <a:spcPts val="600"/>
                        </a:spcAft>
                      </a:pPr>
                      <a:r>
                        <a:rPr lang="en-IN" sz="1200" dirty="0" smtClean="0"/>
                        <a:t>to 2018-19</a:t>
                      </a:r>
                      <a:endParaRPr lang="en-IN" sz="12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Financial statements</a:t>
                      </a:r>
                      <a:r>
                        <a:rPr lang="en-IN" sz="1200" baseline="0" dirty="0" smtClean="0"/>
                        <a:t> and accounts of NEA for FY 2017-18 and FY 2018-19</a:t>
                      </a:r>
                    </a:p>
                    <a:p>
                      <a:pPr marL="171450" indent="-171450">
                        <a:spcAft>
                          <a:spcPts val="600"/>
                        </a:spcAft>
                        <a:buFont typeface="Arial" panose="020B0604020202020204" pitchFamily="34" charset="0"/>
                        <a:buChar char="•"/>
                      </a:pPr>
                      <a:r>
                        <a:rPr lang="en-IN" sz="1200" dirty="0" smtClean="0"/>
                        <a:t>GFA, accumulated</a:t>
                      </a:r>
                      <a:r>
                        <a:rPr lang="en-IN" sz="1200" baseline="0" dirty="0" smtClean="0"/>
                        <a:t> depreciation and CWIP for GTD functions of NEA</a:t>
                      </a:r>
                      <a:endParaRPr lang="en-IN" sz="1200" dirty="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US" sz="1200" dirty="0" smtClean="0"/>
                        <a:t>Based on the audited</a:t>
                      </a:r>
                      <a:r>
                        <a:rPr lang="en-US" sz="1200" baseline="0" dirty="0" smtClean="0"/>
                        <a:t> </a:t>
                      </a:r>
                      <a:r>
                        <a:rPr lang="en-US" sz="1200" dirty="0" smtClean="0"/>
                        <a:t>financial</a:t>
                      </a:r>
                      <a:r>
                        <a:rPr lang="en-US" sz="1200" baseline="0" dirty="0" smtClean="0"/>
                        <a:t> statements for FY2017-18 and </a:t>
                      </a:r>
                      <a:r>
                        <a:rPr lang="en-US" sz="1200" dirty="0" smtClean="0"/>
                        <a:t>provisional statements for FY2018-19, the base year is updated, with projections made from 2019-20 onwards</a:t>
                      </a:r>
                      <a:endParaRPr lang="en-IN" sz="12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48903341"/>
                  </a:ext>
                </a:extLst>
              </a:tr>
              <a:tr h="0">
                <a:tc>
                  <a:txBody>
                    <a:bodyPr/>
                    <a:lstStyle/>
                    <a:p>
                      <a:pPr>
                        <a:spcAft>
                          <a:spcPts val="0"/>
                        </a:spcAft>
                      </a:pPr>
                      <a:endParaRPr lang="en-IN" sz="3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0"/>
                        </a:spcAft>
                        <a:buFont typeface="Arial" panose="020B0604020202020204" pitchFamily="34" charset="0"/>
                        <a:buChar char="•"/>
                      </a:pPr>
                      <a:endParaRPr lang="en-IN" sz="300" dirty="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0"/>
                        </a:spcAft>
                        <a:buFont typeface="Arial" panose="020B0604020202020204" pitchFamily="34" charset="0"/>
                        <a:buChar char="•"/>
                      </a:pPr>
                      <a:endParaRPr lang="en-IN" sz="3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446990846"/>
                  </a:ext>
                </a:extLst>
              </a:tr>
              <a:tr h="467336">
                <a:tc>
                  <a:txBody>
                    <a:bodyPr/>
                    <a:lstStyle/>
                    <a:p>
                      <a:pPr>
                        <a:spcAft>
                          <a:spcPts val="600"/>
                        </a:spcAft>
                      </a:pPr>
                      <a:r>
                        <a:rPr lang="en-US" sz="1200" dirty="0" smtClean="0"/>
                        <a:t>Planned capital</a:t>
                      </a:r>
                      <a:r>
                        <a:rPr lang="en-US" sz="1200" baseline="0" dirty="0" smtClean="0"/>
                        <a:t> expenditure and investments</a:t>
                      </a:r>
                      <a:endParaRPr lang="en-IN" sz="12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951059"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IN" sz="1200" dirty="0" smtClean="0"/>
                        <a:t>Project</a:t>
                      </a:r>
                      <a:r>
                        <a:rPr lang="en-IN" sz="1200" baseline="0" dirty="0" smtClean="0"/>
                        <a:t> wise capex for generation, transmission and distribution projects</a:t>
                      </a:r>
                    </a:p>
                    <a:p>
                      <a:pPr marL="171450" marR="0" lvl="0" indent="-171450" algn="l" defTabSz="951059"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IN" sz="1200" baseline="0" dirty="0" smtClean="0"/>
                        <a:t>Planned investments in NEA subsidiaries</a:t>
                      </a: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Total capital</a:t>
                      </a:r>
                      <a:r>
                        <a:rPr lang="en-IN" sz="1200" baseline="0" dirty="0" smtClean="0"/>
                        <a:t> expenditure of NPR 650 </a:t>
                      </a:r>
                      <a:r>
                        <a:rPr lang="en-IN" sz="1200" baseline="0" dirty="0" err="1" smtClean="0"/>
                        <a:t>Bn</a:t>
                      </a:r>
                      <a:r>
                        <a:rPr lang="en-IN" sz="1200" baseline="0" dirty="0" smtClean="0"/>
                        <a:t> on GTD projects and investments of NPR 665 </a:t>
                      </a:r>
                      <a:r>
                        <a:rPr lang="en-IN" sz="1200" baseline="0" dirty="0" err="1" smtClean="0"/>
                        <a:t>Bn</a:t>
                      </a:r>
                      <a:r>
                        <a:rPr lang="en-IN" sz="1200" baseline="0" dirty="0" smtClean="0"/>
                        <a:t> in subsidiaries</a:t>
                      </a:r>
                    </a:p>
                    <a:p>
                      <a:pPr marL="171450" indent="-171450">
                        <a:spcAft>
                          <a:spcPts val="600"/>
                        </a:spcAft>
                        <a:buFont typeface="Arial" panose="020B0604020202020204" pitchFamily="34" charset="0"/>
                        <a:buChar char="•"/>
                      </a:pPr>
                      <a:r>
                        <a:rPr lang="en-IN" sz="1200" baseline="0" dirty="0" smtClean="0"/>
                        <a:t>Details provided in slides 12 and 14</a:t>
                      </a:r>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56925943"/>
                  </a:ext>
                </a:extLst>
              </a:tr>
              <a:tr h="0">
                <a:tc>
                  <a:txBody>
                    <a:bodyPr/>
                    <a:lstStyle/>
                    <a:p>
                      <a:pPr>
                        <a:spcAft>
                          <a:spcPts val="0"/>
                        </a:spcAft>
                      </a:pPr>
                      <a:endParaRPr lang="en-IN" sz="3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marR="0" lvl="0" indent="-171450" algn="l" defTabSz="951059"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300" baseline="0" dirty="0" smtClean="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0"/>
                        </a:spcAft>
                        <a:buFont typeface="Arial" panose="020B0604020202020204" pitchFamily="34" charset="0"/>
                        <a:buChar char="•"/>
                      </a:pPr>
                      <a:endParaRPr lang="en-IN" sz="300" baseline="0" dirty="0" smtClean="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306239938"/>
                  </a:ext>
                </a:extLst>
              </a:tr>
              <a:tr h="467336">
                <a:tc>
                  <a:txBody>
                    <a:bodyPr/>
                    <a:lstStyle/>
                    <a:p>
                      <a:pPr marL="0" marR="0" lvl="0" indent="0" algn="l" defTabSz="951059" rtl="0" eaLnBrk="1" fontAlgn="auto" latinLnBrk="0" hangingPunct="1">
                        <a:lnSpc>
                          <a:spcPct val="100000"/>
                        </a:lnSpc>
                        <a:spcBef>
                          <a:spcPts val="0"/>
                        </a:spcBef>
                        <a:spcAft>
                          <a:spcPts val="600"/>
                        </a:spcAft>
                        <a:buClrTx/>
                        <a:buSzTx/>
                        <a:buFontTx/>
                        <a:buNone/>
                        <a:tabLst/>
                        <a:defRPr/>
                      </a:pPr>
                      <a:r>
                        <a:rPr lang="en-IN" sz="1200" dirty="0" smtClean="0"/>
                        <a:t>Energy balance projections</a:t>
                      </a:r>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Energy</a:t>
                      </a:r>
                      <a:r>
                        <a:rPr lang="en-IN" sz="1200" baseline="0" dirty="0" smtClean="0"/>
                        <a:t> Balance and u</a:t>
                      </a:r>
                      <a:r>
                        <a:rPr lang="en-IN" sz="1200" dirty="0" smtClean="0"/>
                        <a:t>pdated list of upcoming plants</a:t>
                      </a:r>
                      <a:r>
                        <a:rPr lang="en-IN" sz="1200" baseline="0" dirty="0" smtClean="0"/>
                        <a:t> along with </a:t>
                      </a:r>
                      <a:r>
                        <a:rPr lang="en-IN" sz="1200" dirty="0" smtClean="0"/>
                        <a:t>their capacity</a:t>
                      </a:r>
                      <a:r>
                        <a:rPr lang="en-IN" sz="1200" baseline="0" dirty="0" smtClean="0"/>
                        <a:t> and COD</a:t>
                      </a:r>
                      <a:endParaRPr lang="en-IN" sz="1200" dirty="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As per energy balance</a:t>
                      </a:r>
                      <a:r>
                        <a:rPr lang="en-IN" sz="1200" baseline="0" dirty="0" smtClean="0"/>
                        <a:t> provided by NEA, s</a:t>
                      </a:r>
                      <a:r>
                        <a:rPr lang="en-IN" sz="1200" dirty="0" smtClean="0"/>
                        <a:t>ignificant quantum of surplus power would be available for export</a:t>
                      </a:r>
                    </a:p>
                    <a:p>
                      <a:pPr marL="171450" indent="-171450">
                        <a:spcAft>
                          <a:spcPts val="600"/>
                        </a:spcAft>
                        <a:buFont typeface="Arial" panose="020B0604020202020204" pitchFamily="34" charset="0"/>
                        <a:buChar char="•"/>
                      </a:pPr>
                      <a:r>
                        <a:rPr lang="en-IN" sz="1200" dirty="0" smtClean="0"/>
                        <a:t>Details</a:t>
                      </a:r>
                      <a:r>
                        <a:rPr lang="en-IN" sz="1200" baseline="0" dirty="0" smtClean="0"/>
                        <a:t> provided in slide 10 and 11</a:t>
                      </a:r>
                      <a:endParaRPr lang="en-IN" sz="12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1618629"/>
                  </a:ext>
                </a:extLst>
              </a:tr>
              <a:tr h="0">
                <a:tc>
                  <a:txBody>
                    <a:bodyPr/>
                    <a:lstStyle/>
                    <a:p>
                      <a:pPr marL="0" marR="0" lvl="0" indent="0" algn="l" defTabSz="951059" rtl="0" eaLnBrk="1" fontAlgn="auto" latinLnBrk="0" hangingPunct="1">
                        <a:lnSpc>
                          <a:spcPct val="100000"/>
                        </a:lnSpc>
                        <a:spcBef>
                          <a:spcPts val="0"/>
                        </a:spcBef>
                        <a:spcAft>
                          <a:spcPts val="600"/>
                        </a:spcAft>
                        <a:buClrTx/>
                        <a:buSzTx/>
                        <a:buFontTx/>
                        <a:buNone/>
                        <a:tabLst/>
                        <a:defRPr/>
                      </a:pPr>
                      <a:endParaRPr lang="en-IN" sz="300" dirty="0" smtClean="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endParaRPr lang="en-IN" sz="300" dirty="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endParaRPr lang="en-IN" sz="3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481468560"/>
                  </a:ext>
                </a:extLst>
              </a:tr>
              <a:tr h="298300">
                <a:tc>
                  <a:txBody>
                    <a:bodyPr/>
                    <a:lstStyle/>
                    <a:p>
                      <a:pPr>
                        <a:spcAft>
                          <a:spcPts val="600"/>
                        </a:spcAft>
                      </a:pPr>
                      <a:r>
                        <a:rPr lang="en-IN" sz="1200" dirty="0" smtClean="0"/>
                        <a:t>Schedule of existing loans</a:t>
                      </a:r>
                      <a:endParaRPr lang="en-IN" sz="12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Closing balance</a:t>
                      </a:r>
                      <a:r>
                        <a:rPr lang="en-IN" sz="1200" baseline="0" dirty="0" smtClean="0"/>
                        <a:t> of existing loans along with their schedule for repayment and interest</a:t>
                      </a: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Based on details of existing loans shared by NEA, the projections for loans revised</a:t>
                      </a:r>
                      <a:endParaRPr lang="en-IN" sz="12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75316068"/>
                  </a:ext>
                </a:extLst>
              </a:tr>
              <a:tr h="178980">
                <a:tc>
                  <a:txBody>
                    <a:bodyPr/>
                    <a:lstStyle/>
                    <a:p>
                      <a:pPr>
                        <a:spcAft>
                          <a:spcPts val="600"/>
                        </a:spcAft>
                      </a:pPr>
                      <a:endParaRPr lang="en-IN" sz="12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endParaRPr lang="en-IN" sz="1200" baseline="0" dirty="0" smtClean="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endParaRPr lang="en-IN" sz="12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6178285"/>
                  </a:ext>
                </a:extLst>
              </a:tr>
              <a:tr h="0">
                <a:tc>
                  <a:txBody>
                    <a:bodyPr/>
                    <a:lstStyle/>
                    <a:p>
                      <a:pPr>
                        <a:spcAft>
                          <a:spcPts val="600"/>
                        </a:spcAft>
                      </a:pPr>
                      <a:endParaRPr lang="en-IN" sz="3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endParaRPr lang="en-IN" sz="300" baseline="0" dirty="0" smtClean="0"/>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marL="171450" indent="-171450">
                        <a:spcAft>
                          <a:spcPts val="600"/>
                        </a:spcAft>
                        <a:buFont typeface="Arial" panose="020B0604020202020204" pitchFamily="34" charset="0"/>
                        <a:buChar char="•"/>
                      </a:pPr>
                      <a:endParaRPr lang="en-IN" sz="3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982243942"/>
                  </a:ext>
                </a:extLst>
              </a:tr>
              <a:tr h="178980">
                <a:tc>
                  <a:txBody>
                    <a:bodyPr/>
                    <a:lstStyle/>
                    <a:p>
                      <a:pPr>
                        <a:spcAft>
                          <a:spcPts val="0"/>
                        </a:spcAft>
                      </a:pPr>
                      <a:r>
                        <a:rPr lang="en-IN" sz="1200" dirty="0" smtClean="0"/>
                        <a:t>Existing and </a:t>
                      </a:r>
                    </a:p>
                    <a:p>
                      <a:pPr>
                        <a:spcAft>
                          <a:spcPts val="0"/>
                        </a:spcAft>
                      </a:pPr>
                      <a:r>
                        <a:rPr lang="en-IN" sz="1200" dirty="0" smtClean="0"/>
                        <a:t>upcoming plants</a:t>
                      </a:r>
                      <a:endParaRPr lang="en-IN" sz="1200" dirty="0"/>
                    </a:p>
                  </a:txBody>
                  <a:tcPr>
                    <a:lnL w="9525" cap="flat" cmpd="sng" algn="ctr">
                      <a:noFill/>
                      <a:prstDash val="solid"/>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baseline="0" dirty="0" err="1" smtClean="0"/>
                        <a:t>CoD</a:t>
                      </a:r>
                      <a:r>
                        <a:rPr lang="en-IN" sz="1200" baseline="0" dirty="0" smtClean="0"/>
                        <a:t>, generation capacity, generation units (dry &amp; wet), power purchase rate (dry &amp; wet with escalations)</a:t>
                      </a:r>
                    </a:p>
                  </a:txBody>
                  <a:tcPr>
                    <a:lnL>
                      <a:noFill/>
                    </a:lnL>
                    <a:lnR>
                      <a:noFill/>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tc>
                  <a:txBody>
                    <a:bodyPr/>
                    <a:lstStyle/>
                    <a:p>
                      <a:pPr marL="171450" indent="-171450">
                        <a:spcAft>
                          <a:spcPts val="600"/>
                        </a:spcAft>
                        <a:buFont typeface="Arial" panose="020B0604020202020204" pitchFamily="34" charset="0"/>
                        <a:buChar char="•"/>
                      </a:pPr>
                      <a:r>
                        <a:rPr lang="en-IN" sz="1200" dirty="0" smtClean="0"/>
                        <a:t>Based on updated list of plants,</a:t>
                      </a:r>
                      <a:r>
                        <a:rPr lang="en-IN" sz="1200" baseline="0" dirty="0" smtClean="0"/>
                        <a:t> </a:t>
                      </a:r>
                      <a:r>
                        <a:rPr lang="en-IN" sz="1200" dirty="0" smtClean="0"/>
                        <a:t>power purchase cost projections updated</a:t>
                      </a:r>
                      <a:endParaRPr lang="en-IN" sz="1200" dirty="0"/>
                    </a:p>
                  </a:txBody>
                  <a:tcPr>
                    <a:lnL>
                      <a:noFill/>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29351758"/>
                  </a:ext>
                </a:extLst>
              </a:tr>
            </a:tbl>
          </a:graphicData>
        </a:graphic>
      </p:graphicFrame>
      <p:sp>
        <p:nvSpPr>
          <p:cNvPr id="18" name="Rectangle 17"/>
          <p:cNvSpPr/>
          <p:nvPr/>
        </p:nvSpPr>
        <p:spPr bwMode="gray">
          <a:xfrm>
            <a:off x="469900" y="1493945"/>
            <a:ext cx="1898396" cy="261704"/>
          </a:xfrm>
          <a:prstGeom prst="rect">
            <a:avLst/>
          </a:prstGeom>
          <a:solidFill>
            <a:schemeClr val="tx1"/>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defTabSz="1219170" rtl="0" eaLnBrk="1" fontAlgn="auto" latinLnBrk="0" hangingPunct="1">
              <a:buClrTx/>
              <a:buSzTx/>
              <a:buFont typeface="Wingdings 2" pitchFamily="18" charset="2"/>
              <a:buNone/>
              <a:tabLst/>
              <a:defRPr/>
            </a:pPr>
            <a:r>
              <a:rPr kumimoji="0" lang="en-US" sz="1100" b="1" i="0" u="none" strike="noStrike" kern="1200" cap="none" spc="0" normalizeH="0" baseline="0" noProof="0" dirty="0" smtClean="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Updates</a:t>
            </a:r>
            <a:endParaRPr kumimoji="0" lang="en-US" sz="11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9" name="Rectangle 18"/>
          <p:cNvSpPr/>
          <p:nvPr/>
        </p:nvSpPr>
        <p:spPr bwMode="gray">
          <a:xfrm>
            <a:off x="2524251" y="1493945"/>
            <a:ext cx="4498339" cy="261704"/>
          </a:xfrm>
          <a:prstGeom prst="rect">
            <a:avLst/>
          </a:prstGeom>
          <a:solidFill>
            <a:schemeClr val="accent3"/>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defTabSz="1219170" rtl="0" eaLnBrk="1" fontAlgn="auto" latinLnBrk="0" hangingPunct="1">
              <a:buClrTx/>
              <a:buSzTx/>
              <a:buFont typeface="Wingdings 2" pitchFamily="18" charset="2"/>
              <a:buNone/>
              <a:tabLst/>
              <a:defRPr/>
            </a:pPr>
            <a:r>
              <a:rPr kumimoji="0" lang="en-US" sz="1100" b="1" i="0" u="none" strike="noStrike" kern="1200" cap="none" spc="0" normalizeH="0" baseline="0" noProof="0" dirty="0" smtClean="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Inputs</a:t>
            </a:r>
            <a:endParaRPr kumimoji="0" lang="en-US" sz="11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0" name="Rectangle 19"/>
          <p:cNvSpPr/>
          <p:nvPr/>
        </p:nvSpPr>
        <p:spPr bwMode="gray">
          <a:xfrm>
            <a:off x="7178545" y="1493944"/>
            <a:ext cx="4543554" cy="261704"/>
          </a:xfrm>
          <a:prstGeom prst="rect">
            <a:avLst/>
          </a:prstGeom>
          <a:solidFill>
            <a:schemeClr val="accent5"/>
          </a:solid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0" marR="0" lvl="0" indent="0" defTabSz="1219170" rtl="0" eaLnBrk="1" fontAlgn="auto" latinLnBrk="0" hangingPunct="1">
              <a:buClrTx/>
              <a:buSzTx/>
              <a:buFont typeface="Wingdings 2" pitchFamily="18" charset="2"/>
              <a:buNone/>
              <a:tabLst/>
              <a:defRPr/>
            </a:pPr>
            <a:r>
              <a:rPr kumimoji="0" lang="en-US" sz="1100" b="1" i="0" u="none" strike="noStrike" kern="1200" cap="none" spc="0" normalizeH="0" baseline="0" noProof="0" dirty="0" smtClean="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Remarks</a:t>
            </a:r>
            <a:endParaRPr kumimoji="0" lang="en-US" sz="11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21" name="Content Placeholder 3"/>
          <p:cNvSpPr txBox="1">
            <a:spLocks/>
          </p:cNvSpPr>
          <p:nvPr/>
        </p:nvSpPr>
        <p:spPr>
          <a:xfrm>
            <a:off x="469899" y="5919723"/>
            <a:ext cx="11252200" cy="642629"/>
          </a:xfrm>
          <a:prstGeom prst="rect">
            <a:avLst/>
          </a:prstGeom>
        </p:spPr>
        <p:txBody>
          <a:bodyPr vert="horz" lIns="0" tIns="0" rIns="0" bIns="0" rtlCol="0">
            <a:normAutofit/>
          </a:bodyPr>
          <a:lstStyle>
            <a:lvl1pPr marL="0" indent="0" algn="l" defTabSz="951059" rtl="0" eaLnBrk="1" latinLnBrk="0" hangingPunct="1">
              <a:spcBef>
                <a:spcPts val="0"/>
              </a:spcBef>
              <a:spcAft>
                <a:spcPts val="1041"/>
              </a:spcAft>
              <a:buSzPct val="100000"/>
              <a:buFont typeface="Arial" panose="020B0604020202020204" pitchFamily="34" charset="0"/>
              <a:buNone/>
              <a:defRPr sz="1401" b="0" kern="1200">
                <a:solidFill>
                  <a:schemeClr val="tx1"/>
                </a:solidFill>
                <a:latin typeface="+mn-lt"/>
                <a:ea typeface="+mn-ea"/>
                <a:cs typeface="+mn-cs"/>
              </a:defRPr>
            </a:lvl1pPr>
            <a:lvl2pPr marL="0" indent="0" algn="l" defTabSz="951059" rtl="0" eaLnBrk="1" latinLnBrk="0" hangingPunct="1">
              <a:spcBef>
                <a:spcPts val="0"/>
              </a:spcBef>
              <a:spcAft>
                <a:spcPts val="1041"/>
              </a:spcAft>
              <a:buClrTx/>
              <a:buSzPct val="100000"/>
              <a:buFont typeface="Arial"/>
              <a:buNone/>
              <a:defRPr lang="en-US" sz="1401" b="1" kern="1200">
                <a:solidFill>
                  <a:schemeClr val="tx1"/>
                </a:solidFill>
                <a:latin typeface="+mn-lt"/>
                <a:ea typeface="+mn-ea"/>
                <a:cs typeface="+mn-cs"/>
              </a:defRPr>
            </a:lvl2pPr>
            <a:lvl3pPr marL="183472" indent="-183472" algn="l" defTabSz="951059" rtl="0" eaLnBrk="1" latinLnBrk="0" hangingPunct="1">
              <a:spcBef>
                <a:spcPts val="0"/>
              </a:spcBef>
              <a:spcAft>
                <a:spcPts val="1041"/>
              </a:spcAft>
              <a:buClrTx/>
              <a:buSzPct val="100000"/>
              <a:buFont typeface="Arial" panose="020B0604020202020204" pitchFamily="34" charset="0"/>
              <a:buChar char="•"/>
              <a:defRPr lang="en-US" sz="1401" kern="1200">
                <a:solidFill>
                  <a:schemeClr val="tx1"/>
                </a:solidFill>
                <a:latin typeface="+mn-lt"/>
                <a:ea typeface="+mn-ea"/>
                <a:cs typeface="+mn-cs"/>
              </a:defRPr>
            </a:lvl3pPr>
            <a:lvl4pPr marL="370688" indent="-183472" algn="l" defTabSz="951059" rtl="0" eaLnBrk="1" latinLnBrk="0" hangingPunct="1">
              <a:spcBef>
                <a:spcPts val="0"/>
              </a:spcBef>
              <a:spcAft>
                <a:spcPts val="1041"/>
              </a:spcAft>
              <a:buClrTx/>
              <a:buSzPct val="100000"/>
              <a:buFont typeface="Verdana" panose="020B0604030504040204" pitchFamily="34" charset="0"/>
              <a:buChar char="−"/>
              <a:defRPr lang="en-US" sz="1401" kern="1200" baseline="0">
                <a:solidFill>
                  <a:schemeClr val="tx1"/>
                </a:solidFill>
                <a:latin typeface="+mn-lt"/>
                <a:ea typeface="+mn-ea"/>
                <a:cs typeface="+mn-cs"/>
              </a:defRPr>
            </a:lvl4pPr>
            <a:lvl5pPr marL="554160" indent="-183472" algn="l" defTabSz="830524" rtl="0" eaLnBrk="1" latinLnBrk="0" hangingPunct="1">
              <a:spcBef>
                <a:spcPts val="0"/>
              </a:spcBef>
              <a:spcAft>
                <a:spcPts val="1041"/>
              </a:spcAft>
              <a:buClrTx/>
              <a:buSzPct val="100000"/>
              <a:buFont typeface="Verdana" panose="020B0604030504040204" pitchFamily="34" charset="0"/>
              <a:buChar char="−"/>
              <a:tabLst/>
              <a:defRPr lang="en-US" sz="1401" kern="1200" baseline="0">
                <a:solidFill>
                  <a:schemeClr val="tx1"/>
                </a:solidFill>
                <a:latin typeface="+mn-lt"/>
                <a:ea typeface="+mn-ea"/>
                <a:cs typeface="+mn-cs"/>
              </a:defRPr>
            </a:lvl5pPr>
            <a:lvl6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6pPr>
            <a:lvl7pPr marL="554160" indent="-183472" algn="l" defTabSz="951059" rtl="0" eaLnBrk="1" latinLnBrk="0" hangingPunct="1">
              <a:spcBef>
                <a:spcPts val="0"/>
              </a:spcBef>
              <a:spcAft>
                <a:spcPts val="1041"/>
              </a:spcAft>
              <a:buFont typeface="Verdana" panose="020B0604030504040204" pitchFamily="34" charset="0"/>
              <a:buChar char="−"/>
              <a:defRPr sz="1248" kern="1200">
                <a:solidFill>
                  <a:schemeClr val="tx1"/>
                </a:solidFill>
                <a:latin typeface="+mn-lt"/>
                <a:ea typeface="+mn-ea"/>
                <a:cs typeface="+mn-cs"/>
              </a:defRPr>
            </a:lvl7pPr>
            <a:lvl8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8pPr>
            <a:lvl9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9pPr>
          </a:lstStyle>
          <a:p>
            <a:pPr marL="182563" indent="-182563">
              <a:spcAft>
                <a:spcPts val="0"/>
              </a:spcAft>
              <a:buFont typeface="Arial" panose="020B0604020202020204" pitchFamily="34" charset="0"/>
              <a:buChar char="•"/>
            </a:pPr>
            <a:r>
              <a:rPr lang="en-US" sz="1000" i="1" dirty="0" smtClean="0">
                <a:ea typeface="Verdana" panose="020B0604030504040204" pitchFamily="34" charset="0"/>
                <a:cs typeface="Times New Roman" panose="02020603050405020304" pitchFamily="18" charset="0"/>
              </a:rPr>
              <a:t>Data inputs as specified above were collected from NEA </a:t>
            </a:r>
            <a:r>
              <a:rPr lang="en-US" sz="1000" i="1" dirty="0" smtClean="0"/>
              <a:t>for </a:t>
            </a:r>
            <a:r>
              <a:rPr lang="en-US" sz="1000" i="1" dirty="0"/>
              <a:t>10 years period from </a:t>
            </a:r>
            <a:r>
              <a:rPr lang="en-US" sz="1000" i="1" dirty="0" smtClean="0"/>
              <a:t>2019-20 </a:t>
            </a:r>
            <a:r>
              <a:rPr lang="en-US" sz="1000" i="1" dirty="0"/>
              <a:t>to </a:t>
            </a:r>
            <a:r>
              <a:rPr lang="en-US" sz="1000" i="1" dirty="0" smtClean="0"/>
              <a:t>2028-29</a:t>
            </a:r>
          </a:p>
          <a:p>
            <a:pPr marL="182563" indent="-182563">
              <a:spcAft>
                <a:spcPts val="0"/>
              </a:spcAft>
              <a:buFont typeface="Arial" panose="020B0604020202020204" pitchFamily="34" charset="0"/>
              <a:buChar char="•"/>
            </a:pPr>
            <a:r>
              <a:rPr lang="en-US" sz="1000" i="1" dirty="0" smtClean="0"/>
              <a:t>Suitable assumptions were taken for segregation of assets and loans related data into GTD functions</a:t>
            </a:r>
          </a:p>
          <a:p>
            <a:pPr marL="182563" indent="-182563">
              <a:spcAft>
                <a:spcPts val="0"/>
              </a:spcAft>
              <a:buFont typeface="Arial" panose="020B0604020202020204" pitchFamily="34" charset="0"/>
              <a:buChar char="•"/>
            </a:pPr>
            <a:r>
              <a:rPr lang="en-US" sz="1000" i="1" dirty="0" smtClean="0"/>
              <a:t>Other information and assumptions taken as per previous FVAP model</a:t>
            </a:r>
          </a:p>
        </p:txBody>
      </p:sp>
    </p:spTree>
    <p:extLst>
      <p:ext uri="{BB962C8B-B14F-4D97-AF65-F5344CB8AC3E}">
        <p14:creationId xmlns:p14="http://schemas.microsoft.com/office/powerpoint/2010/main" val="1279259126"/>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Inputs and Assumptions</a:t>
            </a:r>
            <a:endParaRPr lang="en-IN" dirty="0"/>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50446565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138379" y="2321320"/>
            <a:ext cx="4600511" cy="4064272"/>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572899" y="2326618"/>
            <a:ext cx="5327809" cy="4058974"/>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a:t>Tariff/ Average Billing Rate</a:t>
            </a:r>
          </a:p>
        </p:txBody>
      </p:sp>
      <p:sp>
        <p:nvSpPr>
          <p:cNvPr id="3" name="Title 2"/>
          <p:cNvSpPr>
            <a:spLocks noGrp="1"/>
          </p:cNvSpPr>
          <p:nvPr>
            <p:ph type="title"/>
          </p:nvPr>
        </p:nvSpPr>
        <p:spPr/>
        <p:txBody>
          <a:bodyPr/>
          <a:lstStyle/>
          <a:p>
            <a:r>
              <a:rPr lang="en-IN" dirty="0"/>
              <a:t>Commercial Parameters</a:t>
            </a:r>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542554"/>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smtClean="0"/>
              <a:t>      Cost Reflective Tariff</a:t>
            </a:r>
            <a:endParaRPr lang="en-US" sz="1400" dirty="0"/>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2400731"/>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a:solidFill>
                  <a:schemeClr val="bg1"/>
                </a:solidFill>
              </a:rPr>
              <a:t>1</a:t>
            </a:r>
            <a:endParaRPr lang="en-US" sz="1200" b="1" dirty="0">
              <a:solidFill>
                <a:schemeClr val="bg1"/>
              </a:solidFill>
            </a:endParaRPr>
          </a:p>
        </p:txBody>
      </p:sp>
      <p:sp>
        <p:nvSpPr>
          <p:cNvPr id="20" name="Rectangle 19"/>
          <p:cNvSpPr/>
          <p:nvPr/>
        </p:nvSpPr>
        <p:spPr>
          <a:xfrm>
            <a:off x="1691639" y="3043454"/>
            <a:ext cx="5120641" cy="1005916"/>
          </a:xfrm>
          <a:prstGeom prst="rect">
            <a:avLst/>
          </a:prstGeom>
        </p:spPr>
        <p:txBody>
          <a:bodyPr wrap="square">
            <a:spAutoFit/>
          </a:bodyPr>
          <a:lstStyle/>
          <a:p>
            <a:pPr marL="180975" indent="-180975">
              <a:lnSpc>
                <a:spcPct val="106000"/>
              </a:lnSpc>
              <a:buFont typeface="Arial" panose="020B0604020202020204" pitchFamily="34" charset="0"/>
              <a:buChar char="•"/>
            </a:pPr>
            <a:r>
              <a:rPr lang="en-US" sz="1400" dirty="0"/>
              <a:t>The intention is to find out the average billing rate required, y-o-y, to cover all costs of the NEA - Power Purchase, O&amp;M, Depreciation, Interest on Loan, return on </a:t>
            </a:r>
            <a:r>
              <a:rPr lang="en-US" sz="1400" dirty="0" smtClean="0"/>
              <a:t>equity/ </a:t>
            </a:r>
            <a:r>
              <a:rPr lang="en-US" sz="1400" dirty="0"/>
              <a:t>assets, etc. </a:t>
            </a:r>
          </a:p>
        </p:txBody>
      </p:sp>
      <p:sp>
        <p:nvSpPr>
          <p:cNvPr id="21" name="Rectangle 20"/>
          <p:cNvSpPr/>
          <p:nvPr/>
        </p:nvSpPr>
        <p:spPr>
          <a:xfrm>
            <a:off x="7304870" y="3043454"/>
            <a:ext cx="4237235" cy="1005916"/>
          </a:xfrm>
          <a:prstGeom prst="rect">
            <a:avLst/>
          </a:prstGeom>
        </p:spPr>
        <p:txBody>
          <a:bodyPr wrap="square">
            <a:spAutoFit/>
          </a:bodyPr>
          <a:lstStyle/>
          <a:p>
            <a:pPr marL="180975" indent="-180975">
              <a:lnSpc>
                <a:spcPct val="106000"/>
              </a:lnSpc>
              <a:buFont typeface="Arial" panose="020B0604020202020204" pitchFamily="34" charset="0"/>
              <a:buChar char="•"/>
            </a:pPr>
            <a:r>
              <a:rPr lang="en-US" sz="1400" dirty="0"/>
              <a:t>Tariff adequacy check</a:t>
            </a:r>
          </a:p>
          <a:p>
            <a:pPr marL="180975" indent="-180975">
              <a:lnSpc>
                <a:spcPct val="106000"/>
              </a:lnSpc>
              <a:buFont typeface="Arial" panose="020B0604020202020204" pitchFamily="34" charset="0"/>
              <a:buChar char="•"/>
            </a:pPr>
            <a:r>
              <a:rPr lang="en-US" sz="1400" dirty="0"/>
              <a:t>In case it leads to a tariff shock, difficult to absorb by the consumers, an interim approach will be selected</a:t>
            </a:r>
          </a:p>
        </p:txBody>
      </p:sp>
      <p:sp>
        <p:nvSpPr>
          <p:cNvPr id="22" name="Isosceles Triangle 21"/>
          <p:cNvSpPr/>
          <p:nvPr/>
        </p:nvSpPr>
        <p:spPr bwMode="gray">
          <a:xfrm flipH="1">
            <a:off x="5317324" y="2098105"/>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2098105"/>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2098105"/>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2127118"/>
            <a:ext cx="1003801" cy="276999"/>
          </a:xfrm>
          <a:prstGeom prst="rect">
            <a:avLst/>
          </a:prstGeom>
        </p:spPr>
        <p:txBody>
          <a:bodyPr wrap="none">
            <a:spAutoFit/>
          </a:bodyPr>
          <a:lstStyle/>
          <a:p>
            <a:pPr>
              <a:spcAft>
                <a:spcPts val="300"/>
              </a:spcAft>
            </a:pPr>
            <a:r>
              <a:rPr lang="en-US" sz="1200" b="1" dirty="0" smtClean="0">
                <a:solidFill>
                  <a:schemeClr val="bg1"/>
                </a:solidFill>
              </a:rPr>
              <a:t>Approach</a:t>
            </a:r>
            <a:endParaRPr lang="en-US" sz="1200" b="1" dirty="0">
              <a:solidFill>
                <a:schemeClr val="bg1"/>
              </a:solidFill>
            </a:endParaRPr>
          </a:p>
        </p:txBody>
      </p:sp>
      <p:sp>
        <p:nvSpPr>
          <p:cNvPr id="27" name="Isosceles Triangle 26"/>
          <p:cNvSpPr/>
          <p:nvPr/>
        </p:nvSpPr>
        <p:spPr bwMode="gray">
          <a:xfrm flipH="1">
            <a:off x="10622939" y="2096100"/>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058392" y="2096100"/>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116496" y="2096100"/>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8993812" y="2125113"/>
            <a:ext cx="957314" cy="276999"/>
          </a:xfrm>
          <a:prstGeom prst="rect">
            <a:avLst/>
          </a:prstGeom>
        </p:spPr>
        <p:txBody>
          <a:bodyPr wrap="none">
            <a:spAutoFit/>
          </a:bodyPr>
          <a:lstStyle/>
          <a:p>
            <a:pPr algn="ctr">
              <a:spcAft>
                <a:spcPts val="300"/>
              </a:spcAft>
            </a:pPr>
            <a:r>
              <a:rPr lang="en-US" sz="1200" b="1" dirty="0" smtClean="0">
                <a:solidFill>
                  <a:schemeClr val="bg1"/>
                </a:solidFill>
              </a:rPr>
              <a:t>Outcome</a:t>
            </a:r>
            <a:endParaRPr lang="en-US" sz="1200" b="1" dirty="0">
              <a:solidFill>
                <a:schemeClr val="bg1"/>
              </a:solidFill>
            </a:endParaRPr>
          </a:p>
        </p:txBody>
      </p:sp>
      <p:sp>
        <p:nvSpPr>
          <p:cNvPr id="40" name="Rectangle 39">
            <a:extLst>
              <a:ext uri="{FF2B5EF4-FFF2-40B4-BE49-F238E27FC236}">
                <a16:creationId xmlns:a16="http://schemas.microsoft.com/office/drawing/2014/main" id="{DEC2BDF0-84B7-45C6-B559-282EB5CACFC2}"/>
              </a:ext>
            </a:extLst>
          </p:cNvPr>
          <p:cNvSpPr/>
          <p:nvPr/>
        </p:nvSpPr>
        <p:spPr bwMode="gray">
          <a:xfrm>
            <a:off x="469899" y="4080480"/>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smtClean="0"/>
              <a:t>      Smoothen </a:t>
            </a:r>
            <a:r>
              <a:rPr lang="en-US" sz="1400" dirty="0"/>
              <a:t>the tariff trajectory by assuming certain acceptable tariff hikes</a:t>
            </a:r>
          </a:p>
        </p:txBody>
      </p:sp>
      <p:sp>
        <p:nvSpPr>
          <p:cNvPr id="41" name="Freeform 33">
            <a:extLst>
              <a:ext uri="{FF2B5EF4-FFF2-40B4-BE49-F238E27FC236}">
                <a16:creationId xmlns:a16="http://schemas.microsoft.com/office/drawing/2014/main" id="{8DBD5DB1-DDBE-49C3-8B35-21E9F438FC96}"/>
              </a:ext>
            </a:extLst>
          </p:cNvPr>
          <p:cNvSpPr>
            <a:spLocks/>
          </p:cNvSpPr>
          <p:nvPr/>
        </p:nvSpPr>
        <p:spPr bwMode="auto">
          <a:xfrm>
            <a:off x="564759" y="3938657"/>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US" sz="1200" b="1" dirty="0" smtClean="0">
                <a:solidFill>
                  <a:schemeClr val="bg1"/>
                </a:solidFill>
              </a:rPr>
              <a:t>2</a:t>
            </a:r>
            <a:endParaRPr lang="en-US" sz="1200" b="1" dirty="0">
              <a:solidFill>
                <a:schemeClr val="bg1"/>
              </a:solidFill>
            </a:endParaRPr>
          </a:p>
        </p:txBody>
      </p:sp>
      <p:sp>
        <p:nvSpPr>
          <p:cNvPr id="4" name="Rectangle 3"/>
          <p:cNvSpPr/>
          <p:nvPr/>
        </p:nvSpPr>
        <p:spPr>
          <a:xfrm>
            <a:off x="1691639" y="4630480"/>
            <a:ext cx="5120641" cy="1691104"/>
          </a:xfrm>
          <a:prstGeom prst="rect">
            <a:avLst/>
          </a:prstGeom>
        </p:spPr>
        <p:txBody>
          <a:bodyPr wrap="square">
            <a:spAutoFit/>
          </a:bodyPr>
          <a:lstStyle/>
          <a:p>
            <a:pPr marL="180975" indent="-180975">
              <a:lnSpc>
                <a:spcPct val="106000"/>
              </a:lnSpc>
              <a:buFont typeface="Arial" panose="020B0604020202020204" pitchFamily="34" charset="0"/>
              <a:buChar char="•"/>
            </a:pPr>
            <a:r>
              <a:rPr lang="en-US" sz="1400" dirty="0"/>
              <a:t>If a cost reflective tariff is not practical to be implemented for few years, in order to smoothen the curve, an inflationary tariff increase is applied till the time the cost reflective tariff is achieved</a:t>
            </a:r>
          </a:p>
          <a:p>
            <a:pPr marL="180975" indent="-180975">
              <a:lnSpc>
                <a:spcPct val="106000"/>
              </a:lnSpc>
              <a:buFont typeface="Arial" panose="020B0604020202020204" pitchFamily="34" charset="0"/>
              <a:buChar char="•"/>
            </a:pPr>
            <a:r>
              <a:rPr lang="en-US" sz="1400" dirty="0"/>
              <a:t>If a tariff trajectory is not uniform based on cost reflective tariffs, assume a certain acceptable tariff hike to smoothen the curve </a:t>
            </a:r>
          </a:p>
        </p:txBody>
      </p:sp>
      <p:sp>
        <p:nvSpPr>
          <p:cNvPr id="5" name="Rectangle 4"/>
          <p:cNvSpPr/>
          <p:nvPr/>
        </p:nvSpPr>
        <p:spPr>
          <a:xfrm>
            <a:off x="7304870" y="4630480"/>
            <a:ext cx="4237235" cy="1691104"/>
          </a:xfrm>
          <a:prstGeom prst="rect">
            <a:avLst/>
          </a:prstGeom>
        </p:spPr>
        <p:txBody>
          <a:bodyPr wrap="square">
            <a:spAutoFit/>
          </a:bodyPr>
          <a:lstStyle/>
          <a:p>
            <a:pPr marL="180975" indent="-180975">
              <a:lnSpc>
                <a:spcPct val="106000"/>
              </a:lnSpc>
              <a:buFont typeface="Arial" panose="020B0604020202020204" pitchFamily="34" charset="0"/>
              <a:buChar char="•"/>
            </a:pPr>
            <a:r>
              <a:rPr lang="en-US" sz="1400" dirty="0"/>
              <a:t>There could be ups and downs in tariff trajectory based on sales projection, cost build-up, etc. A downward revision in tariff may not be actionable always. Instead, a no-tariff hike for a year or two followed by a year of tariff increase could be much more acceptable</a:t>
            </a:r>
          </a:p>
        </p:txBody>
      </p:sp>
      <p:sp>
        <p:nvSpPr>
          <p:cNvPr id="31" name="Content Placeholder 2"/>
          <p:cNvSpPr txBox="1">
            <a:spLocks/>
          </p:cNvSpPr>
          <p:nvPr/>
        </p:nvSpPr>
        <p:spPr>
          <a:xfrm>
            <a:off x="469899" y="1602321"/>
            <a:ext cx="11269605" cy="484298"/>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indent="-285750" algn="just">
              <a:lnSpc>
                <a:spcPct val="110000"/>
              </a:lnSpc>
              <a:spcAft>
                <a:spcPts val="600"/>
              </a:spcAft>
              <a:buFont typeface="Arial" panose="020B0604020202020204" pitchFamily="34" charset="0"/>
              <a:buChar char="•"/>
            </a:pPr>
            <a:r>
              <a:rPr lang="en-US" sz="1400" dirty="0" smtClean="0"/>
              <a:t>For the purpose of projecting revenue in financial projections of NEA, two approaches are built in the model as described below - </a:t>
            </a:r>
          </a:p>
        </p:txBody>
      </p:sp>
    </p:spTree>
    <p:extLst>
      <p:ext uri="{BB962C8B-B14F-4D97-AF65-F5344CB8AC3E}">
        <p14:creationId xmlns:p14="http://schemas.microsoft.com/office/powerpoint/2010/main" val="27319299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T&amp;D Losses</a:t>
            </a:r>
            <a:endParaRPr lang="en-IN" dirty="0"/>
          </a:p>
        </p:txBody>
      </p:sp>
      <p:sp>
        <p:nvSpPr>
          <p:cNvPr id="3" name="Title 2"/>
          <p:cNvSpPr>
            <a:spLocks noGrp="1"/>
          </p:cNvSpPr>
          <p:nvPr>
            <p:ph type="title"/>
          </p:nvPr>
        </p:nvSpPr>
        <p:spPr/>
        <p:txBody>
          <a:bodyPr/>
          <a:lstStyle/>
          <a:p>
            <a:r>
              <a:rPr lang="en-IN" dirty="0" smtClean="0"/>
              <a:t>Commercial Parameters</a:t>
            </a:r>
            <a:endParaRPr lang="en-IN" dirty="0"/>
          </a:p>
        </p:txBody>
      </p:sp>
      <p:sp>
        <p:nvSpPr>
          <p:cNvPr id="5" name="Content Placeholder 3"/>
          <p:cNvSpPr txBox="1">
            <a:spLocks/>
          </p:cNvSpPr>
          <p:nvPr/>
        </p:nvSpPr>
        <p:spPr>
          <a:xfrm>
            <a:off x="469900" y="1493943"/>
            <a:ext cx="11252200" cy="2163657"/>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180975" indent="-180975">
              <a:spcAft>
                <a:spcPts val="1200"/>
              </a:spcAft>
              <a:buFont typeface="Arial" panose="020B0604020202020204" pitchFamily="34" charset="0"/>
              <a:buChar char="•"/>
            </a:pPr>
            <a:r>
              <a:rPr lang="en-US" sz="1400" dirty="0" smtClean="0"/>
              <a:t>T&amp;D loss trajectory has been projected based on following assumptions on T&amp;D Losses reduction :</a:t>
            </a:r>
          </a:p>
          <a:p>
            <a:pPr marL="656163" lvl="3" indent="-180975">
              <a:spcAft>
                <a:spcPts val="0"/>
              </a:spcAft>
            </a:pPr>
            <a:r>
              <a:rPr lang="en-US" sz="1400" dirty="0" smtClean="0"/>
              <a:t>1</a:t>
            </a:r>
            <a:r>
              <a:rPr lang="en-US" sz="1400" dirty="0"/>
              <a:t>% when </a:t>
            </a:r>
            <a:r>
              <a:rPr lang="en-US" sz="1400" dirty="0" smtClean="0"/>
              <a:t>T&amp;D loss </a:t>
            </a:r>
            <a:r>
              <a:rPr lang="en-US" sz="1400" dirty="0"/>
              <a:t>&gt;</a:t>
            </a:r>
            <a:r>
              <a:rPr lang="en-US" sz="1400" dirty="0" smtClean="0"/>
              <a:t>12%</a:t>
            </a:r>
            <a:endParaRPr lang="en-US" sz="1400" dirty="0"/>
          </a:p>
          <a:p>
            <a:pPr marL="656163" lvl="3" indent="-180975">
              <a:spcAft>
                <a:spcPts val="1200"/>
              </a:spcAft>
            </a:pPr>
            <a:r>
              <a:rPr lang="en-US" sz="1400" dirty="0" smtClean="0"/>
              <a:t>0.5% </a:t>
            </a:r>
            <a:r>
              <a:rPr lang="en-US" sz="1400" dirty="0"/>
              <a:t>when </a:t>
            </a:r>
            <a:r>
              <a:rPr lang="en-US" sz="1400" dirty="0" smtClean="0"/>
              <a:t>T&amp;D loss </a:t>
            </a:r>
            <a:r>
              <a:rPr lang="en-US" sz="1400" dirty="0"/>
              <a:t>&lt;</a:t>
            </a:r>
            <a:r>
              <a:rPr lang="en-US" sz="1400" dirty="0" smtClean="0"/>
              <a:t>12%</a:t>
            </a:r>
            <a:endParaRPr lang="en-US" sz="1400" dirty="0"/>
          </a:p>
          <a:p>
            <a:pPr marL="180975" indent="-180975">
              <a:spcAft>
                <a:spcPts val="1200"/>
              </a:spcAft>
              <a:buFont typeface="Arial" panose="020B0604020202020204" pitchFamily="34" charset="0"/>
              <a:buChar char="•"/>
            </a:pPr>
            <a:r>
              <a:rPr lang="en-US" sz="1400" dirty="0" smtClean="0"/>
              <a:t>Existing transmission Loss has been gradually reduced from 4.35% to 3.63% over the next 10 years</a:t>
            </a:r>
          </a:p>
          <a:p>
            <a:pPr marL="180975" indent="-180975">
              <a:spcAft>
                <a:spcPts val="1200"/>
              </a:spcAft>
              <a:buFont typeface="Arial" panose="020B0604020202020204" pitchFamily="34" charset="0"/>
              <a:buChar char="•"/>
            </a:pPr>
            <a:r>
              <a:rPr lang="en-US" sz="1400" dirty="0" smtClean="0"/>
              <a:t>T&amp;D losses has been applied on energy availability, to project energy sales for NEA over the next 10 years</a:t>
            </a:r>
          </a:p>
        </p:txBody>
      </p:sp>
      <p:graphicFrame>
        <p:nvGraphicFramePr>
          <p:cNvPr id="22" name="Chart 21"/>
          <p:cNvGraphicFramePr/>
          <p:nvPr>
            <p:extLst>
              <p:ext uri="{D42A27DB-BD31-4B8C-83A1-F6EECF244321}">
                <p14:modId xmlns:p14="http://schemas.microsoft.com/office/powerpoint/2010/main" val="421481342"/>
              </p:ext>
            </p:extLst>
          </p:nvPr>
        </p:nvGraphicFramePr>
        <p:xfrm>
          <a:off x="469900" y="3822192"/>
          <a:ext cx="11252200" cy="26558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1549186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smtClean="0"/>
              <a:t>Energy Balance</a:t>
            </a:r>
            <a:endParaRPr lang="en-IN" dirty="0"/>
          </a:p>
        </p:txBody>
      </p:sp>
      <p:sp>
        <p:nvSpPr>
          <p:cNvPr id="3" name="Title 2"/>
          <p:cNvSpPr>
            <a:spLocks noGrp="1"/>
          </p:cNvSpPr>
          <p:nvPr>
            <p:ph type="title"/>
          </p:nvPr>
        </p:nvSpPr>
        <p:spPr/>
        <p:txBody>
          <a:bodyPr/>
          <a:lstStyle/>
          <a:p>
            <a:r>
              <a:rPr lang="en-IN" dirty="0" smtClean="0"/>
              <a:t>Commercial Parameters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950588693"/>
              </p:ext>
            </p:extLst>
          </p:nvPr>
        </p:nvGraphicFramePr>
        <p:xfrm>
          <a:off x="469900" y="2433223"/>
          <a:ext cx="11282356" cy="4008120"/>
        </p:xfrm>
        <a:graphic>
          <a:graphicData uri="http://schemas.openxmlformats.org/drawingml/2006/table">
            <a:tbl>
              <a:tblPr firstRow="1">
                <a:tableStyleId>{793D81CF-94F2-401A-BA57-92F5A7B2D0C5}</a:tableStyleId>
              </a:tblPr>
              <a:tblGrid>
                <a:gridCol w="2657348">
                  <a:extLst>
                    <a:ext uri="{9D8B030D-6E8A-4147-A177-3AD203B41FA5}">
                      <a16:colId xmlns:a16="http://schemas.microsoft.com/office/drawing/2014/main" val="691066506"/>
                    </a:ext>
                  </a:extLst>
                </a:gridCol>
                <a:gridCol w="932688">
                  <a:extLst>
                    <a:ext uri="{9D8B030D-6E8A-4147-A177-3AD203B41FA5}">
                      <a16:colId xmlns:a16="http://schemas.microsoft.com/office/drawing/2014/main" val="767024378"/>
                    </a:ext>
                  </a:extLst>
                </a:gridCol>
                <a:gridCol w="769232">
                  <a:extLst>
                    <a:ext uri="{9D8B030D-6E8A-4147-A177-3AD203B41FA5}">
                      <a16:colId xmlns:a16="http://schemas.microsoft.com/office/drawing/2014/main" val="717944450"/>
                    </a:ext>
                  </a:extLst>
                </a:gridCol>
                <a:gridCol w="769232">
                  <a:extLst>
                    <a:ext uri="{9D8B030D-6E8A-4147-A177-3AD203B41FA5}">
                      <a16:colId xmlns:a16="http://schemas.microsoft.com/office/drawing/2014/main" val="1573940898"/>
                    </a:ext>
                  </a:extLst>
                </a:gridCol>
                <a:gridCol w="769232">
                  <a:extLst>
                    <a:ext uri="{9D8B030D-6E8A-4147-A177-3AD203B41FA5}">
                      <a16:colId xmlns:a16="http://schemas.microsoft.com/office/drawing/2014/main" val="1030158973"/>
                    </a:ext>
                  </a:extLst>
                </a:gridCol>
                <a:gridCol w="769232">
                  <a:extLst>
                    <a:ext uri="{9D8B030D-6E8A-4147-A177-3AD203B41FA5}">
                      <a16:colId xmlns:a16="http://schemas.microsoft.com/office/drawing/2014/main" val="2808795746"/>
                    </a:ext>
                  </a:extLst>
                </a:gridCol>
                <a:gridCol w="769232">
                  <a:extLst>
                    <a:ext uri="{9D8B030D-6E8A-4147-A177-3AD203B41FA5}">
                      <a16:colId xmlns:a16="http://schemas.microsoft.com/office/drawing/2014/main" val="3698412274"/>
                    </a:ext>
                  </a:extLst>
                </a:gridCol>
                <a:gridCol w="769232">
                  <a:extLst>
                    <a:ext uri="{9D8B030D-6E8A-4147-A177-3AD203B41FA5}">
                      <a16:colId xmlns:a16="http://schemas.microsoft.com/office/drawing/2014/main" val="2245610178"/>
                    </a:ext>
                  </a:extLst>
                </a:gridCol>
                <a:gridCol w="769232">
                  <a:extLst>
                    <a:ext uri="{9D8B030D-6E8A-4147-A177-3AD203B41FA5}">
                      <a16:colId xmlns:a16="http://schemas.microsoft.com/office/drawing/2014/main" val="3513746487"/>
                    </a:ext>
                  </a:extLst>
                </a:gridCol>
                <a:gridCol w="769232">
                  <a:extLst>
                    <a:ext uri="{9D8B030D-6E8A-4147-A177-3AD203B41FA5}">
                      <a16:colId xmlns:a16="http://schemas.microsoft.com/office/drawing/2014/main" val="1665823349"/>
                    </a:ext>
                  </a:extLst>
                </a:gridCol>
                <a:gridCol w="769232">
                  <a:extLst>
                    <a:ext uri="{9D8B030D-6E8A-4147-A177-3AD203B41FA5}">
                      <a16:colId xmlns:a16="http://schemas.microsoft.com/office/drawing/2014/main" val="970440006"/>
                    </a:ext>
                  </a:extLst>
                </a:gridCol>
                <a:gridCol w="769232">
                  <a:extLst>
                    <a:ext uri="{9D8B030D-6E8A-4147-A177-3AD203B41FA5}">
                      <a16:colId xmlns:a16="http://schemas.microsoft.com/office/drawing/2014/main" val="2662298946"/>
                    </a:ext>
                  </a:extLst>
                </a:gridCol>
              </a:tblGrid>
              <a:tr h="0">
                <a:tc>
                  <a:txBody>
                    <a:bodyPr/>
                    <a:lstStyle/>
                    <a:p>
                      <a:pPr algn="l" fontAlgn="b"/>
                      <a:r>
                        <a:rPr lang="en-US" sz="1100" b="1" i="0" u="none" strike="noStrike" dirty="0" smtClean="0">
                          <a:solidFill>
                            <a:schemeClr val="bg1"/>
                          </a:solidFill>
                          <a:effectLst/>
                          <a:latin typeface="+mj-lt"/>
                        </a:rPr>
                        <a:t>MUs/</a:t>
                      </a:r>
                      <a:r>
                        <a:rPr lang="en-US" sz="1100" b="1" i="0" u="none" strike="noStrike" dirty="0" err="1" smtClean="0">
                          <a:solidFill>
                            <a:schemeClr val="bg1"/>
                          </a:solidFill>
                          <a:effectLst/>
                          <a:latin typeface="+mj-lt"/>
                        </a:rPr>
                        <a:t>Gwh</a:t>
                      </a:r>
                      <a:endParaRPr lang="en-IN" sz="1100" b="1" i="0" u="none" strike="noStrike" dirty="0">
                        <a:solidFill>
                          <a:schemeClr val="bg1"/>
                        </a:solidFill>
                        <a:effectLst/>
                        <a:latin typeface="+mj-lt"/>
                      </a:endParaRPr>
                    </a:p>
                  </a:txBody>
                  <a:tcPr marL="10800" marR="10800" marT="0"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fontAlgn="b"/>
                      <a:r>
                        <a:rPr lang="en-US" sz="1100" b="1" i="0" u="none" strike="noStrike" dirty="0" smtClean="0">
                          <a:solidFill>
                            <a:srgbClr val="000000"/>
                          </a:solidFill>
                          <a:effectLst/>
                          <a:latin typeface="+mj-lt"/>
                        </a:rPr>
                        <a:t>Formulas</a:t>
                      </a:r>
                      <a:endParaRPr lang="en-IN" sz="1100" b="1"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FY20</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FY21</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FY22</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FY23</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FY24</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FY25</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FY26</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a:effectLst/>
                          <a:latin typeface="+mj-lt"/>
                        </a:rPr>
                        <a:t>FY27</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smtClean="0">
                          <a:effectLst/>
                          <a:latin typeface="+mj-lt"/>
                        </a:rPr>
                        <a:t>FY28</a:t>
                      </a:r>
                      <a:endParaRPr lang="en-IN" sz="1100" b="0" i="0" u="none" strike="noStrike" dirty="0">
                        <a:solidFill>
                          <a:srgbClr val="000000"/>
                        </a:solidFill>
                        <a:effectLst/>
                        <a:latin typeface="+mj-lt"/>
                      </a:endParaRPr>
                    </a:p>
                  </a:txBody>
                  <a:tcPr marL="10800" marR="10800" marT="0" marB="0" anchor="ctr">
                    <a:lnT w="12700" cap="flat" cmpd="sng" algn="ctr">
                      <a:noFill/>
                      <a:prstDash val="solid"/>
                      <a:round/>
                      <a:headEnd type="none" w="med" len="med"/>
                      <a:tailEnd type="none" w="med" len="med"/>
                    </a:lnT>
                  </a:tcPr>
                </a:tc>
                <a:tc>
                  <a:txBody>
                    <a:bodyPr/>
                    <a:lstStyle/>
                    <a:p>
                      <a:pPr algn="ctr" fontAlgn="b"/>
                      <a:r>
                        <a:rPr lang="en-IN" sz="1100" u="none" strike="noStrike" dirty="0" smtClean="0">
                          <a:effectLst/>
                          <a:latin typeface="+mj-lt"/>
                        </a:rPr>
                        <a:t>FY29</a:t>
                      </a:r>
                      <a:endParaRPr lang="en-IN" sz="1100" b="0" i="0" u="none" strike="noStrike" dirty="0">
                        <a:solidFill>
                          <a:srgbClr val="000000"/>
                        </a:solidFill>
                        <a:effectLst/>
                        <a:latin typeface="+mj-lt"/>
                      </a:endParaRPr>
                    </a:p>
                  </a:txBody>
                  <a:tcPr marL="10800" marR="10800" marT="0" marB="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651055959"/>
                  </a:ext>
                </a:extLst>
              </a:tr>
              <a:tr h="0">
                <a:tc>
                  <a:txBody>
                    <a:bodyPr/>
                    <a:lstStyle/>
                    <a:p>
                      <a:pPr algn="l" fontAlgn="b"/>
                      <a:r>
                        <a:rPr lang="en-US" sz="1100" b="1" i="0" u="none" strike="noStrike" kern="1200" dirty="0" smtClean="0">
                          <a:solidFill>
                            <a:srgbClr val="000000"/>
                          </a:solidFill>
                          <a:effectLst/>
                          <a:latin typeface="+mj-lt"/>
                          <a:ea typeface="+mn-ea"/>
                          <a:cs typeface="+mn-cs"/>
                        </a:rPr>
                        <a:t>Wet Season: June to Nov</a:t>
                      </a:r>
                      <a:endParaRPr lang="en-IN" sz="1100" b="1" i="0" u="none" strike="noStrike" kern="1200" dirty="0">
                        <a:solidFill>
                          <a:srgbClr val="000000"/>
                        </a:solidFill>
                        <a:effectLst/>
                        <a:latin typeface="+mj-lt"/>
                        <a:ea typeface="+mn-ea"/>
                        <a:cs typeface="+mn-cs"/>
                      </a:endParaRPr>
                    </a:p>
                  </a:txBody>
                  <a:tcPr marL="10800" marR="10800" marT="0" marB="0" anchor="ctr">
                    <a:lnL w="12700" cap="flat" cmpd="sng" algn="ctr">
                      <a:noFill/>
                      <a:prstDash val="solid"/>
                      <a:round/>
                      <a:headEnd type="none" w="med" len="med"/>
                      <a:tailEnd type="none" w="med" len="med"/>
                    </a:lnL>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solidFill>
                      <a:schemeClr val="accent6">
                        <a:lumMod val="20000"/>
                        <a:lumOff val="80000"/>
                      </a:schemeClr>
                    </a:solidFill>
                  </a:tcPr>
                </a:tc>
                <a:tc>
                  <a:txBody>
                    <a:bodyPr/>
                    <a:lstStyle/>
                    <a:p>
                      <a:pPr algn="r" fontAlgn="b"/>
                      <a:endParaRPr lang="en-IN" sz="1100" b="1" i="0" u="none" strike="noStrike" dirty="0">
                        <a:solidFill>
                          <a:srgbClr val="000000"/>
                        </a:solidFill>
                        <a:effectLst/>
                        <a:latin typeface="+mj-lt"/>
                      </a:endParaRPr>
                    </a:p>
                  </a:txBody>
                  <a:tcPr marL="10800" marR="10800" marT="0" marB="0" anchor="ctr">
                    <a:lnR w="12700" cap="flat" cmpd="sng" algn="ctr">
                      <a:noFill/>
                      <a:prstDash val="solid"/>
                      <a:round/>
                      <a:headEnd type="none" w="med" len="med"/>
                      <a:tailEnd type="none" w="med" len="med"/>
                    </a:lnR>
                    <a:solidFill>
                      <a:schemeClr val="accent6">
                        <a:lumMod val="20000"/>
                        <a:lumOff val="80000"/>
                      </a:schemeClr>
                    </a:solidFill>
                  </a:tcPr>
                </a:tc>
                <a:extLst>
                  <a:ext uri="{0D108BD9-81ED-4DB2-BD59-A6C34878D82A}">
                    <a16:rowId xmlns:a16="http://schemas.microsoft.com/office/drawing/2014/main" val="173566096"/>
                  </a:ext>
                </a:extLst>
              </a:tr>
              <a:tr h="0">
                <a:tc>
                  <a:txBody>
                    <a:bodyPr/>
                    <a:lstStyle/>
                    <a:p>
                      <a:pPr algn="l" fontAlgn="b"/>
                      <a:r>
                        <a:rPr lang="en-IN" sz="1100" b="0" i="0" u="none" strike="noStrike" dirty="0">
                          <a:solidFill>
                            <a:srgbClr val="000000"/>
                          </a:solidFill>
                          <a:effectLst/>
                          <a:latin typeface="+mj-lt"/>
                        </a:rPr>
                        <a:t>Demand projected by NEA</a:t>
                      </a:r>
                    </a:p>
                  </a:txBody>
                  <a:tcPr marL="10800" marR="10800" marT="7620" marB="0" anchor="ctr">
                    <a:lnL w="12700"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a</a:t>
                      </a:r>
                    </a:p>
                  </a:txBody>
                  <a:tcPr marL="10800" marR="10800" marT="762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5,149</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6,104</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7,086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7,787</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8,568</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9,436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10,455</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11,593</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12,866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12,866</a:t>
                      </a:r>
                    </a:p>
                  </a:txBody>
                  <a:tcPr marL="0" marR="0" marT="0" marB="0" anchor="ctr">
                    <a:lnR w="12700"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19380043"/>
                  </a:ext>
                </a:extLst>
              </a:tr>
              <a:tr h="0">
                <a:tc>
                  <a:txBody>
                    <a:bodyPr/>
                    <a:lstStyle/>
                    <a:p>
                      <a:pPr algn="l" fontAlgn="b"/>
                      <a:r>
                        <a:rPr lang="en-IN" sz="1100" b="0" i="0" u="none" strike="noStrike" dirty="0">
                          <a:solidFill>
                            <a:srgbClr val="000000"/>
                          </a:solidFill>
                          <a:effectLst/>
                          <a:latin typeface="+mj-lt"/>
                        </a:rPr>
                        <a:t>Energy Generation - IPP +NEA</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b</a:t>
                      </a: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5,352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9,362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12,941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14,905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17,803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20,108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24,479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29,548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32,142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32,142</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45894840"/>
                  </a:ext>
                </a:extLst>
              </a:tr>
              <a:tr h="0">
                <a:tc>
                  <a:txBody>
                    <a:bodyPr/>
                    <a:lstStyle/>
                    <a:p>
                      <a:pPr algn="l" fontAlgn="b"/>
                      <a:r>
                        <a:rPr lang="en-IN" sz="1100" b="0" i="0" u="none" strike="noStrike" dirty="0">
                          <a:solidFill>
                            <a:srgbClr val="000000"/>
                          </a:solidFill>
                          <a:effectLst/>
                          <a:latin typeface="+mj-lt"/>
                        </a:rPr>
                        <a:t>Import</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c</a:t>
                      </a: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253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24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0</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37551126"/>
                  </a:ext>
                </a:extLst>
              </a:tr>
              <a:tr h="0">
                <a:tc>
                  <a:txBody>
                    <a:bodyPr/>
                    <a:lstStyle/>
                    <a:p>
                      <a:pPr algn="l" fontAlgn="b"/>
                      <a:r>
                        <a:rPr lang="en-IN" sz="1100" b="0" i="0" u="none" strike="noStrike" dirty="0">
                          <a:solidFill>
                            <a:srgbClr val="000000"/>
                          </a:solidFill>
                          <a:effectLst/>
                          <a:latin typeface="+mj-lt"/>
                        </a:rPr>
                        <a:t>Energy </a:t>
                      </a:r>
                      <a:r>
                        <a:rPr lang="en-IN" sz="1100" b="0" i="0" u="none" strike="noStrike" dirty="0" smtClean="0">
                          <a:solidFill>
                            <a:srgbClr val="000000"/>
                          </a:solidFill>
                          <a:effectLst/>
                          <a:latin typeface="+mj-lt"/>
                        </a:rPr>
                        <a:t>Deficit/ Import</a:t>
                      </a:r>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d</a:t>
                      </a: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0</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192344761"/>
                  </a:ext>
                </a:extLst>
              </a:tr>
              <a:tr h="0">
                <a:tc>
                  <a:txBody>
                    <a:bodyPr/>
                    <a:lstStyle/>
                    <a:p>
                      <a:pPr algn="l" fontAlgn="b"/>
                      <a:r>
                        <a:rPr lang="en-IN" sz="1100" b="0" i="0" u="none" strike="noStrike" dirty="0">
                          <a:solidFill>
                            <a:srgbClr val="000000"/>
                          </a:solidFill>
                          <a:effectLst/>
                          <a:latin typeface="+mj-lt"/>
                        </a:rPr>
                        <a:t>Energy Available</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e=</a:t>
                      </a:r>
                      <a:r>
                        <a:rPr lang="en-IN" sz="1100" b="0" i="0" u="none" strike="noStrike" dirty="0" err="1">
                          <a:solidFill>
                            <a:srgbClr val="000000"/>
                          </a:solidFill>
                          <a:effectLst/>
                          <a:latin typeface="+mj-lt"/>
                        </a:rPr>
                        <a:t>b+c+d</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5,738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9,387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12,949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14,913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17,805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20,110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24,479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29,548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32,142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32,142</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37577735"/>
                  </a:ext>
                </a:extLst>
              </a:tr>
              <a:tr h="0">
                <a:tc>
                  <a:txBody>
                    <a:bodyPr/>
                    <a:lstStyle/>
                    <a:p>
                      <a:pPr algn="l" fontAlgn="b"/>
                      <a:r>
                        <a:rPr lang="en-IN" sz="1100" b="0" i="0" u="none" strike="noStrike" dirty="0">
                          <a:solidFill>
                            <a:srgbClr val="000000"/>
                          </a:solidFill>
                          <a:effectLst/>
                          <a:latin typeface="+mj-lt"/>
                        </a:rPr>
                        <a:t>Energy </a:t>
                      </a:r>
                      <a:r>
                        <a:rPr lang="en-IN" sz="1100" b="0" i="0" u="none" strike="noStrike" dirty="0" smtClean="0">
                          <a:solidFill>
                            <a:srgbClr val="000000"/>
                          </a:solidFill>
                          <a:effectLst/>
                          <a:latin typeface="+mj-lt"/>
                        </a:rPr>
                        <a:t>Surplus/ Export</a:t>
                      </a:r>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f</a:t>
                      </a: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592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3,287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5,863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7,125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9,237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10,673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14,024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17,955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19,276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19,276</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56796722"/>
                  </a:ext>
                </a:extLst>
              </a:tr>
              <a:tr h="0">
                <a:tc>
                  <a:txBody>
                    <a:bodyPr/>
                    <a:lstStyle/>
                    <a:p>
                      <a:pPr algn="l" fontAlgn="b"/>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71430859"/>
                  </a:ext>
                </a:extLst>
              </a:tr>
              <a:tr h="0">
                <a:tc>
                  <a:txBody>
                    <a:bodyPr/>
                    <a:lstStyle/>
                    <a:p>
                      <a:pPr algn="l" fontAlgn="b"/>
                      <a:r>
                        <a:rPr lang="en-IN" sz="1100" b="0" i="0" u="none" strike="noStrike" dirty="0">
                          <a:solidFill>
                            <a:srgbClr val="000000"/>
                          </a:solidFill>
                          <a:effectLst/>
                          <a:latin typeface="+mj-lt"/>
                        </a:rPr>
                        <a:t>T&amp;D Loss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g</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98823463"/>
                  </a:ext>
                </a:extLst>
              </a:tr>
              <a:tr h="0">
                <a:tc>
                  <a:txBody>
                    <a:bodyPr/>
                    <a:lstStyle/>
                    <a:p>
                      <a:pPr algn="l" fontAlgn="b"/>
                      <a:r>
                        <a:rPr lang="en-IN" sz="1100" b="0" i="0" u="none" strike="noStrike" dirty="0">
                          <a:solidFill>
                            <a:srgbClr val="000000"/>
                          </a:solidFill>
                          <a:effectLst/>
                          <a:latin typeface="+mj-lt"/>
                        </a:rPr>
                        <a:t>T&amp;D Loss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h=e*g</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803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1,220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1,554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1,715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1,959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2,112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2,448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2,807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2,893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2,732</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04197544"/>
                  </a:ext>
                </a:extLst>
              </a:tr>
              <a:tr h="0">
                <a:tc>
                  <a:txBody>
                    <a:bodyPr/>
                    <a:lstStyle/>
                    <a:p>
                      <a:pPr algn="l" fontAlgn="b"/>
                      <a:r>
                        <a:rPr lang="en-IN" sz="1100" b="0" i="0" u="none" strike="noStrike" dirty="0">
                          <a:solidFill>
                            <a:srgbClr val="000000"/>
                          </a:solidFill>
                          <a:effectLst/>
                          <a:latin typeface="+mj-lt"/>
                        </a:rPr>
                        <a:t>Sales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i</a:t>
                      </a:r>
                      <a:r>
                        <a:rPr lang="en-IN" sz="1100" b="0" i="0" u="none" strike="noStrike" dirty="0" smtClean="0">
                          <a:solidFill>
                            <a:srgbClr val="000000"/>
                          </a:solidFill>
                          <a:effectLst/>
                          <a:latin typeface="+mj-lt"/>
                        </a:rPr>
                        <a:t>=e-f-h</a:t>
                      </a:r>
                      <a:endParaRPr lang="en-IN" sz="11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4,343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4,881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5,533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6,072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6,610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7,325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8,008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8,787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9,974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10,134</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27421608"/>
                  </a:ext>
                </a:extLst>
              </a:tr>
              <a:tr h="0">
                <a:tc>
                  <a:txBody>
                    <a:bodyPr/>
                    <a:lstStyle/>
                    <a:p>
                      <a:pPr algn="l" fontAlgn="b"/>
                      <a:r>
                        <a:rPr lang="en-US" sz="1100" b="1" i="0" u="none" strike="noStrike" dirty="0" smtClean="0">
                          <a:solidFill>
                            <a:srgbClr val="000000"/>
                          </a:solidFill>
                          <a:effectLst/>
                          <a:latin typeface="+mj-lt"/>
                        </a:rPr>
                        <a:t>Dry Season: Dec to May</a:t>
                      </a:r>
                      <a:endParaRPr lang="en-IN" sz="1100" b="1" i="0" u="none" strike="noStrike" dirty="0">
                        <a:solidFill>
                          <a:srgbClr val="000000"/>
                        </a:solidFill>
                        <a:effectLst/>
                        <a:latin typeface="+mj-lt"/>
                      </a:endParaRPr>
                    </a:p>
                  </a:txBody>
                  <a:tcPr marL="10800" marR="10800" marT="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endParaRPr lang="en-IN" sz="1100" b="0" i="0" u="none" strike="noStrike" dirty="0">
                        <a:solidFill>
                          <a:srgbClr val="000000"/>
                        </a:solidFill>
                        <a:effectLst/>
                        <a:latin typeface="+mj-lt"/>
                      </a:endParaRPr>
                    </a:p>
                  </a:txBody>
                  <a:tcPr marL="10800" marR="1080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3687826587"/>
                  </a:ext>
                </a:extLst>
              </a:tr>
              <a:tr h="0">
                <a:tc>
                  <a:txBody>
                    <a:bodyPr/>
                    <a:lstStyle/>
                    <a:p>
                      <a:pPr algn="l" fontAlgn="b"/>
                      <a:r>
                        <a:rPr lang="en-IN" sz="1100" b="0" i="0" u="none" strike="noStrike" dirty="0">
                          <a:solidFill>
                            <a:srgbClr val="000000"/>
                          </a:solidFill>
                          <a:effectLst/>
                          <a:latin typeface="+mj-lt"/>
                        </a:rPr>
                        <a:t>Demand projected by NEA</a:t>
                      </a:r>
                    </a:p>
                  </a:txBody>
                  <a:tcPr marL="10800" marR="10800" marT="7620" marB="0" anchor="ctr">
                    <a:lnL w="12700"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smtClean="0">
                          <a:solidFill>
                            <a:srgbClr val="000000"/>
                          </a:solidFill>
                          <a:effectLst/>
                          <a:latin typeface="+mj-lt"/>
                        </a:rPr>
                        <a:t>a</a:t>
                      </a:r>
                      <a:endParaRPr lang="en-IN" sz="1100" b="0" i="0" u="none" strike="noStrike" dirty="0">
                        <a:solidFill>
                          <a:srgbClr val="000000"/>
                        </a:solidFill>
                        <a:effectLst/>
                        <a:latin typeface="+mj-lt"/>
                      </a:endParaRPr>
                    </a:p>
                  </a:txBody>
                  <a:tcPr marL="10800" marR="10800" marT="762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4,990</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5,915</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6,866</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7,546</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8,302</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9,144</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10,131</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11,234</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12,467</a:t>
                      </a:r>
                    </a:p>
                  </a:txBody>
                  <a:tcPr marL="0" marR="0" marT="0" marB="0" anchor="b">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12,467</a:t>
                      </a:r>
                    </a:p>
                  </a:txBody>
                  <a:tcPr marL="0" marR="0" marT="0" marB="0" anchor="b">
                    <a:lnR w="12700"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32170532"/>
                  </a:ext>
                </a:extLst>
              </a:tr>
              <a:tr h="0">
                <a:tc>
                  <a:txBody>
                    <a:bodyPr/>
                    <a:lstStyle/>
                    <a:p>
                      <a:pPr algn="l" fontAlgn="b"/>
                      <a:r>
                        <a:rPr lang="en-IN" sz="1100" b="0" i="0" u="none" strike="noStrike" dirty="0">
                          <a:solidFill>
                            <a:srgbClr val="000000"/>
                          </a:solidFill>
                          <a:effectLst/>
                          <a:latin typeface="+mj-lt"/>
                        </a:rPr>
                        <a:t>Energy Generation - IPP +NEA</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smtClean="0">
                          <a:solidFill>
                            <a:srgbClr val="000000"/>
                          </a:solidFill>
                          <a:effectLst/>
                          <a:latin typeface="+mj-lt"/>
                        </a:rPr>
                        <a:t>b</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3,954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5,321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7,118</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8,091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9,461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10,744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13,349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15,822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17,963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17,963</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99999120"/>
                  </a:ext>
                </a:extLst>
              </a:tr>
              <a:tr h="0">
                <a:tc>
                  <a:txBody>
                    <a:bodyPr/>
                    <a:lstStyle/>
                    <a:p>
                      <a:pPr algn="l" fontAlgn="b"/>
                      <a:r>
                        <a:rPr lang="en-IN" sz="1100" b="0" i="0" u="none" strike="noStrike" dirty="0">
                          <a:solidFill>
                            <a:srgbClr val="000000"/>
                          </a:solidFill>
                          <a:effectLst/>
                          <a:latin typeface="+mj-lt"/>
                        </a:rPr>
                        <a:t>Import</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smtClean="0">
                          <a:solidFill>
                            <a:srgbClr val="000000"/>
                          </a:solidFill>
                          <a:effectLst/>
                          <a:latin typeface="+mj-lt"/>
                        </a:rPr>
                        <a:t>c</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1,001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802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519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468</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454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419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35</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65393205"/>
                  </a:ext>
                </a:extLst>
              </a:tr>
              <a:tr h="0">
                <a:tc>
                  <a:txBody>
                    <a:bodyPr/>
                    <a:lstStyle/>
                    <a:p>
                      <a:pPr algn="l" fontAlgn="b"/>
                      <a:r>
                        <a:rPr lang="en-IN" sz="1100" b="0" i="0" u="none" strike="noStrike" dirty="0">
                          <a:solidFill>
                            <a:srgbClr val="000000"/>
                          </a:solidFill>
                          <a:effectLst/>
                          <a:latin typeface="+mj-lt"/>
                        </a:rPr>
                        <a:t>Energy </a:t>
                      </a:r>
                      <a:r>
                        <a:rPr lang="en-IN" sz="1100" b="0" i="0" u="none" strike="noStrike" dirty="0" smtClean="0">
                          <a:solidFill>
                            <a:srgbClr val="000000"/>
                          </a:solidFill>
                          <a:effectLst/>
                          <a:latin typeface="+mj-lt"/>
                        </a:rPr>
                        <a:t>Deficit/ Import</a:t>
                      </a:r>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smtClean="0">
                          <a:solidFill>
                            <a:srgbClr val="000000"/>
                          </a:solidFill>
                          <a:effectLst/>
                          <a:latin typeface="+mj-lt"/>
                        </a:rPr>
                        <a:t>d</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210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198</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158</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25</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05235442"/>
                  </a:ext>
                </a:extLst>
              </a:tr>
              <a:tr h="0">
                <a:tc>
                  <a:txBody>
                    <a:bodyPr/>
                    <a:lstStyle/>
                    <a:p>
                      <a:pPr algn="l" fontAlgn="b"/>
                      <a:r>
                        <a:rPr lang="en-IN" sz="1100" b="0" i="0" u="none" strike="noStrike" dirty="0">
                          <a:solidFill>
                            <a:srgbClr val="000000"/>
                          </a:solidFill>
                          <a:effectLst/>
                          <a:latin typeface="+mj-lt"/>
                        </a:rPr>
                        <a:t>Energy Available</a:t>
                      </a: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e=</a:t>
                      </a:r>
                      <a:r>
                        <a:rPr lang="en-IN" sz="1100" b="0" i="0" u="none" strike="noStrike" dirty="0" err="1">
                          <a:solidFill>
                            <a:srgbClr val="000000"/>
                          </a:solidFill>
                          <a:effectLst/>
                          <a:latin typeface="+mj-lt"/>
                        </a:rPr>
                        <a:t>b+c+d</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5,165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6,321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7,754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8,717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10,020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11,300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13,583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16,003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18,023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18,023</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321683624"/>
                  </a:ext>
                </a:extLst>
              </a:tr>
              <a:tr h="0">
                <a:tc>
                  <a:txBody>
                    <a:bodyPr/>
                    <a:lstStyle/>
                    <a:p>
                      <a:pPr algn="l" fontAlgn="b"/>
                      <a:r>
                        <a:rPr lang="en-IN" sz="1100" b="0" i="0" u="none" strike="noStrike" dirty="0">
                          <a:solidFill>
                            <a:srgbClr val="000000"/>
                          </a:solidFill>
                          <a:effectLst/>
                          <a:latin typeface="+mj-lt"/>
                        </a:rPr>
                        <a:t>Energy </a:t>
                      </a:r>
                      <a:r>
                        <a:rPr lang="en-IN" sz="1100" b="0" i="0" u="none" strike="noStrike" dirty="0" smtClean="0">
                          <a:solidFill>
                            <a:srgbClr val="000000"/>
                          </a:solidFill>
                          <a:effectLst/>
                          <a:latin typeface="+mj-lt"/>
                        </a:rPr>
                        <a:t>Surplus/ Export</a:t>
                      </a:r>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smtClean="0">
                          <a:solidFill>
                            <a:srgbClr val="000000"/>
                          </a:solidFill>
                          <a:effectLst/>
                          <a:latin typeface="+mj-lt"/>
                        </a:rPr>
                        <a:t>f</a:t>
                      </a:r>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182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443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959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1,282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1,796</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2,239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3,501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4,795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5,567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5,567</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84584482"/>
                  </a:ext>
                </a:extLst>
              </a:tr>
              <a:tr h="0">
                <a:tc>
                  <a:txBody>
                    <a:bodyPr/>
                    <a:lstStyle/>
                    <a:p>
                      <a:pPr algn="l" fontAlgn="b"/>
                      <a:endParaRPr lang="en-IN" sz="11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endParaRPr lang="en-IN" sz="11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100" b="0" i="0" u="none" strike="noStrike">
                        <a:solidFill>
                          <a:srgbClr val="000000"/>
                        </a:solidFill>
                        <a:effectLst/>
                        <a:latin typeface="+mj-lt"/>
                      </a:endParaRP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517954218"/>
                  </a:ext>
                </a:extLst>
              </a:tr>
              <a:tr h="0">
                <a:tc>
                  <a:txBody>
                    <a:bodyPr/>
                    <a:lstStyle/>
                    <a:p>
                      <a:pPr algn="l" fontAlgn="b"/>
                      <a:r>
                        <a:rPr lang="en-IN" sz="1100" b="0" i="0" u="none" strike="noStrike" dirty="0">
                          <a:solidFill>
                            <a:srgbClr val="000000"/>
                          </a:solidFill>
                          <a:effectLst/>
                          <a:latin typeface="+mj-lt"/>
                        </a:rPr>
                        <a:t>T&amp;D Loss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g</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456959903"/>
                  </a:ext>
                </a:extLst>
              </a:tr>
              <a:tr h="0">
                <a:tc>
                  <a:txBody>
                    <a:bodyPr/>
                    <a:lstStyle/>
                    <a:p>
                      <a:pPr algn="l" fontAlgn="b"/>
                      <a:r>
                        <a:rPr lang="en-IN" sz="1100" b="0" i="0" u="none" strike="noStrike">
                          <a:solidFill>
                            <a:srgbClr val="000000"/>
                          </a:solidFill>
                          <a:effectLst/>
                          <a:latin typeface="+mj-lt"/>
                        </a:rPr>
                        <a:t>T&amp;D Loss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h=e*g</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723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822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930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1,002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1,102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1,187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1,358</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1,520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1,622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1,532</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54353965"/>
                  </a:ext>
                </a:extLst>
              </a:tr>
              <a:tr h="0">
                <a:tc>
                  <a:txBody>
                    <a:bodyPr/>
                    <a:lstStyle/>
                    <a:p>
                      <a:pPr algn="l" fontAlgn="b"/>
                      <a:r>
                        <a:rPr lang="en-IN" sz="1100" b="0" i="0" u="none" strike="noStrike" dirty="0">
                          <a:solidFill>
                            <a:srgbClr val="000000"/>
                          </a:solidFill>
                          <a:effectLst/>
                          <a:latin typeface="+mj-lt"/>
                        </a:rPr>
                        <a:t>Sales</a:t>
                      </a:r>
                    </a:p>
                  </a:txBody>
                  <a:tcPr marL="7620" marR="762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l" fontAlgn="b"/>
                      <a:r>
                        <a:rPr lang="en-IN" sz="1100" b="0" i="0" u="none" strike="noStrike" dirty="0">
                          <a:solidFill>
                            <a:srgbClr val="000000"/>
                          </a:solidFill>
                          <a:effectLst/>
                          <a:latin typeface="+mj-lt"/>
                        </a:rPr>
                        <a:t>i</a:t>
                      </a:r>
                      <a:r>
                        <a:rPr lang="en-IN" sz="1100" b="0" i="0" u="none" strike="noStrike" dirty="0" smtClean="0">
                          <a:solidFill>
                            <a:srgbClr val="000000"/>
                          </a:solidFill>
                          <a:effectLst/>
                          <a:latin typeface="+mj-lt"/>
                        </a:rPr>
                        <a:t>=e-f-h</a:t>
                      </a:r>
                      <a:endParaRPr lang="en-IN" sz="11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4,260</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5,056</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5,865</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6,433</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7,122</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7,874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8,724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a:solidFill>
                            <a:srgbClr val="000000"/>
                          </a:solidFill>
                          <a:effectLst/>
                          <a:latin typeface="+mj-lt"/>
                        </a:rPr>
                        <a:t>9,687</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10,834</a:t>
                      </a:r>
                    </a:p>
                  </a:txBody>
                  <a:tcPr marL="0" marR="0" marT="0" marB="0" anchor="b">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fontAlgn="b"/>
                      <a:r>
                        <a:rPr lang="en-IN" sz="1100" b="0" i="0" u="none" strike="noStrike" dirty="0">
                          <a:solidFill>
                            <a:srgbClr val="000000"/>
                          </a:solidFill>
                          <a:effectLst/>
                          <a:latin typeface="+mj-lt"/>
                        </a:rPr>
                        <a:t>10,924</a:t>
                      </a:r>
                    </a:p>
                  </a:txBody>
                  <a:tcPr marL="0" marR="0" marT="0" marB="0" anchor="b">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1835354"/>
                  </a:ext>
                </a:extLst>
              </a:tr>
            </a:tbl>
          </a:graphicData>
        </a:graphic>
      </p:graphicFrame>
      <p:sp>
        <p:nvSpPr>
          <p:cNvPr id="31" name="Rectangle 30"/>
          <p:cNvSpPr/>
          <p:nvPr/>
        </p:nvSpPr>
        <p:spPr>
          <a:xfrm>
            <a:off x="439742" y="1756418"/>
            <a:ext cx="11282358" cy="523220"/>
          </a:xfrm>
          <a:prstGeom prst="rect">
            <a:avLst/>
          </a:prstGeom>
        </p:spPr>
        <p:txBody>
          <a:bodyPr wrap="square">
            <a:spAutoFit/>
          </a:bodyPr>
          <a:lstStyle/>
          <a:p>
            <a:pPr marL="203200" indent="-203200">
              <a:spcAft>
                <a:spcPts val="1200"/>
              </a:spcAft>
              <a:buSzPct val="100000"/>
              <a:buFont typeface="Arial"/>
              <a:buChar char="•"/>
            </a:pPr>
            <a:r>
              <a:rPr lang="en-US" sz="1400" dirty="0">
                <a:solidFill>
                  <a:srgbClr val="313131"/>
                </a:solidFill>
              </a:rPr>
              <a:t>Month wise energy demand, energy deficit and energy surplus numbers have been provided by NEA. The same has been aggregated to compute the seasonal demand, surplus and deficit as summarized below:</a:t>
            </a:r>
          </a:p>
        </p:txBody>
      </p:sp>
    </p:spTree>
    <p:extLst>
      <p:ext uri="{BB962C8B-B14F-4D97-AF65-F5344CB8AC3E}">
        <p14:creationId xmlns:p14="http://schemas.microsoft.com/office/powerpoint/2010/main" val="4240509318"/>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5A771EB-91A9-4873-890D-A91B392DB048}"/>
              </a:ext>
            </a:extLst>
          </p:cNvPr>
          <p:cNvSpPr/>
          <p:nvPr/>
        </p:nvSpPr>
        <p:spPr bwMode="gray">
          <a:xfrm>
            <a:off x="469900" y="2047108"/>
            <a:ext cx="5400000" cy="2160000"/>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a:spcAft>
                <a:spcPts val="300"/>
              </a:spcAft>
            </a:pPr>
            <a:endParaRPr lang="en-US" sz="1200" dirty="0"/>
          </a:p>
        </p:txBody>
      </p:sp>
      <p:sp>
        <p:nvSpPr>
          <p:cNvPr id="16" name="Rectangle 15">
            <a:extLst>
              <a:ext uri="{FF2B5EF4-FFF2-40B4-BE49-F238E27FC236}">
                <a16:creationId xmlns:a16="http://schemas.microsoft.com/office/drawing/2014/main" id="{A5A771EB-91A9-4873-890D-A91B392DB048}"/>
              </a:ext>
            </a:extLst>
          </p:cNvPr>
          <p:cNvSpPr/>
          <p:nvPr/>
        </p:nvSpPr>
        <p:spPr bwMode="gray">
          <a:xfrm>
            <a:off x="6322100" y="2047108"/>
            <a:ext cx="5400000" cy="2160000"/>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a:spcAft>
                <a:spcPts val="300"/>
              </a:spcAft>
            </a:pPr>
            <a:endParaRPr lang="en-US" sz="1200" dirty="0"/>
          </a:p>
        </p:txBody>
      </p:sp>
      <p:sp>
        <p:nvSpPr>
          <p:cNvPr id="2" name="Text Placeholder 1"/>
          <p:cNvSpPr>
            <a:spLocks noGrp="1"/>
          </p:cNvSpPr>
          <p:nvPr>
            <p:ph type="body" sz="quarter" idx="13"/>
          </p:nvPr>
        </p:nvSpPr>
        <p:spPr/>
        <p:txBody>
          <a:bodyPr/>
          <a:lstStyle/>
          <a:p>
            <a:r>
              <a:rPr lang="en-IN" dirty="0"/>
              <a:t>Treatment of power deficit and surplus</a:t>
            </a:r>
          </a:p>
        </p:txBody>
      </p:sp>
      <p:sp>
        <p:nvSpPr>
          <p:cNvPr id="3" name="Title 2"/>
          <p:cNvSpPr>
            <a:spLocks noGrp="1"/>
          </p:cNvSpPr>
          <p:nvPr>
            <p:ph type="title"/>
          </p:nvPr>
        </p:nvSpPr>
        <p:spPr/>
        <p:txBody>
          <a:bodyPr/>
          <a:lstStyle/>
          <a:p>
            <a:r>
              <a:rPr lang="en-IN" dirty="0" smtClean="0"/>
              <a:t>Commercial Parameters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654849981"/>
              </p:ext>
            </p:extLst>
          </p:nvPr>
        </p:nvGraphicFramePr>
        <p:xfrm>
          <a:off x="454821" y="4562542"/>
          <a:ext cx="11282358" cy="1560324"/>
        </p:xfrm>
        <a:graphic>
          <a:graphicData uri="http://schemas.openxmlformats.org/drawingml/2006/table">
            <a:tbl>
              <a:tblPr>
                <a:tableStyleId>{793D81CF-94F2-401A-BA57-92F5A7B2D0C5}</a:tableStyleId>
              </a:tblPr>
              <a:tblGrid>
                <a:gridCol w="2817864">
                  <a:extLst>
                    <a:ext uri="{9D8B030D-6E8A-4147-A177-3AD203B41FA5}">
                      <a16:colId xmlns:a16="http://schemas.microsoft.com/office/drawing/2014/main" val="691066506"/>
                    </a:ext>
                  </a:extLst>
                </a:gridCol>
                <a:gridCol w="911304">
                  <a:extLst>
                    <a:ext uri="{9D8B030D-6E8A-4147-A177-3AD203B41FA5}">
                      <a16:colId xmlns:a16="http://schemas.microsoft.com/office/drawing/2014/main" val="767024378"/>
                    </a:ext>
                  </a:extLst>
                </a:gridCol>
                <a:gridCol w="755319">
                  <a:extLst>
                    <a:ext uri="{9D8B030D-6E8A-4147-A177-3AD203B41FA5}">
                      <a16:colId xmlns:a16="http://schemas.microsoft.com/office/drawing/2014/main" val="717944450"/>
                    </a:ext>
                  </a:extLst>
                </a:gridCol>
                <a:gridCol w="755319">
                  <a:extLst>
                    <a:ext uri="{9D8B030D-6E8A-4147-A177-3AD203B41FA5}">
                      <a16:colId xmlns:a16="http://schemas.microsoft.com/office/drawing/2014/main" val="1573940898"/>
                    </a:ext>
                  </a:extLst>
                </a:gridCol>
                <a:gridCol w="755319">
                  <a:extLst>
                    <a:ext uri="{9D8B030D-6E8A-4147-A177-3AD203B41FA5}">
                      <a16:colId xmlns:a16="http://schemas.microsoft.com/office/drawing/2014/main" val="1030158973"/>
                    </a:ext>
                  </a:extLst>
                </a:gridCol>
                <a:gridCol w="755319">
                  <a:extLst>
                    <a:ext uri="{9D8B030D-6E8A-4147-A177-3AD203B41FA5}">
                      <a16:colId xmlns:a16="http://schemas.microsoft.com/office/drawing/2014/main" val="2808795746"/>
                    </a:ext>
                  </a:extLst>
                </a:gridCol>
                <a:gridCol w="755319">
                  <a:extLst>
                    <a:ext uri="{9D8B030D-6E8A-4147-A177-3AD203B41FA5}">
                      <a16:colId xmlns:a16="http://schemas.microsoft.com/office/drawing/2014/main" val="3698412274"/>
                    </a:ext>
                  </a:extLst>
                </a:gridCol>
                <a:gridCol w="755319">
                  <a:extLst>
                    <a:ext uri="{9D8B030D-6E8A-4147-A177-3AD203B41FA5}">
                      <a16:colId xmlns:a16="http://schemas.microsoft.com/office/drawing/2014/main" val="2245610178"/>
                    </a:ext>
                  </a:extLst>
                </a:gridCol>
                <a:gridCol w="755319">
                  <a:extLst>
                    <a:ext uri="{9D8B030D-6E8A-4147-A177-3AD203B41FA5}">
                      <a16:colId xmlns:a16="http://schemas.microsoft.com/office/drawing/2014/main" val="3513746487"/>
                    </a:ext>
                  </a:extLst>
                </a:gridCol>
                <a:gridCol w="755319">
                  <a:extLst>
                    <a:ext uri="{9D8B030D-6E8A-4147-A177-3AD203B41FA5}">
                      <a16:colId xmlns:a16="http://schemas.microsoft.com/office/drawing/2014/main" val="1665823349"/>
                    </a:ext>
                  </a:extLst>
                </a:gridCol>
                <a:gridCol w="755319">
                  <a:extLst>
                    <a:ext uri="{9D8B030D-6E8A-4147-A177-3AD203B41FA5}">
                      <a16:colId xmlns:a16="http://schemas.microsoft.com/office/drawing/2014/main" val="970440006"/>
                    </a:ext>
                  </a:extLst>
                </a:gridCol>
                <a:gridCol w="755319">
                  <a:extLst>
                    <a:ext uri="{9D8B030D-6E8A-4147-A177-3AD203B41FA5}">
                      <a16:colId xmlns:a16="http://schemas.microsoft.com/office/drawing/2014/main" val="2662298946"/>
                    </a:ext>
                  </a:extLst>
                </a:gridCol>
              </a:tblGrid>
              <a:tr h="216712">
                <a:tc>
                  <a:txBody>
                    <a:bodyPr/>
                    <a:lstStyle/>
                    <a:p>
                      <a:pPr algn="l" fontAlgn="b"/>
                      <a:endParaRPr lang="en-IN" sz="1200" b="1" i="0" u="none" strike="noStrike" kern="1200" dirty="0">
                        <a:solidFill>
                          <a:schemeClr val="bg1"/>
                        </a:solidFill>
                        <a:effectLst/>
                        <a:latin typeface="+mj-lt"/>
                        <a:ea typeface="+mn-ea"/>
                        <a:cs typeface="+mn-cs"/>
                      </a:endParaRPr>
                    </a:p>
                  </a:txBody>
                  <a:tcPr marL="10800" marR="10800" marT="0" marB="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tx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FY20</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FY21</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FY22</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FY23</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FY24</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FY25</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FY26</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FY27</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FY28</a:t>
                      </a:r>
                      <a:endParaRPr lang="en-IN" sz="1200" b="1" i="0" u="none" strike="noStrike" dirty="0">
                        <a:solidFill>
                          <a:schemeClr val="bg1"/>
                        </a:solidFill>
                        <a:effectLst/>
                        <a:latin typeface="+mj-lt"/>
                      </a:endParaRPr>
                    </a:p>
                  </a:txBody>
                  <a:tcPr marL="10800" marR="10800" marT="0" marB="0" anchor="ctr">
                    <a:lnT w="12700" cap="flat" cmpd="sng" algn="ctr">
                      <a:noFill/>
                      <a:prstDash val="solid"/>
                      <a:round/>
                      <a:headEnd type="none" w="med" len="med"/>
                      <a:tailEnd type="none" w="med" len="med"/>
                    </a:lnT>
                    <a:solidFill>
                      <a:schemeClr val="tx1"/>
                    </a:solidFill>
                  </a:tcPr>
                </a:tc>
                <a:tc>
                  <a:txBody>
                    <a:bodyPr/>
                    <a:lstStyle/>
                    <a:p>
                      <a:pPr algn="r" fontAlgn="b"/>
                      <a:r>
                        <a:rPr lang="en-IN" sz="1200" b="1" i="0" u="none" strike="noStrike" dirty="0" smtClean="0">
                          <a:solidFill>
                            <a:schemeClr val="bg1"/>
                          </a:solidFill>
                          <a:effectLst/>
                          <a:latin typeface="+mj-lt"/>
                        </a:rPr>
                        <a:t>FY20</a:t>
                      </a:r>
                      <a:endParaRPr lang="en-IN" sz="1200" b="1" i="0" u="none" strike="noStrike" dirty="0">
                        <a:solidFill>
                          <a:schemeClr val="bg1"/>
                        </a:solidFill>
                        <a:effectLst/>
                        <a:latin typeface="+mj-lt"/>
                      </a:endParaRPr>
                    </a:p>
                  </a:txBody>
                  <a:tcPr marL="10800" marR="10800" marT="0" marB="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tx1"/>
                    </a:solidFill>
                  </a:tcPr>
                </a:tc>
                <a:extLst>
                  <a:ext uri="{0D108BD9-81ED-4DB2-BD59-A6C34878D82A}">
                    <a16:rowId xmlns:a16="http://schemas.microsoft.com/office/drawing/2014/main" val="644037884"/>
                  </a:ext>
                </a:extLst>
              </a:tr>
              <a:tr h="216712">
                <a:tc>
                  <a:txBody>
                    <a:bodyPr/>
                    <a:lstStyle/>
                    <a:p>
                      <a:pPr algn="l" fontAlgn="b"/>
                      <a:r>
                        <a:rPr lang="en-US" sz="1200" b="1" i="0" u="none" strike="noStrike" kern="1200" dirty="0" smtClean="0">
                          <a:solidFill>
                            <a:schemeClr val="bg1"/>
                          </a:solidFill>
                          <a:effectLst/>
                          <a:latin typeface="+mj-lt"/>
                          <a:ea typeface="+mn-ea"/>
                          <a:cs typeface="+mn-cs"/>
                        </a:rPr>
                        <a:t>Banking</a:t>
                      </a:r>
                      <a:endParaRPr lang="en-IN" sz="1200" b="1" i="0" u="none" strike="noStrike" kern="1200" dirty="0">
                        <a:solidFill>
                          <a:schemeClr val="bg1"/>
                        </a:solidFill>
                        <a:effectLst/>
                        <a:latin typeface="+mj-lt"/>
                        <a:ea typeface="+mn-ea"/>
                        <a:cs typeface="+mn-cs"/>
                      </a:endParaRPr>
                    </a:p>
                  </a:txBody>
                  <a:tcPr marL="10800" marR="10800" marT="0" marB="0" anchor="ctr">
                    <a:lnL w="12700" cap="flat" cmpd="sng" algn="ctr">
                      <a:noFill/>
                      <a:prstDash val="solid"/>
                      <a:round/>
                      <a:headEnd type="none" w="med" len="med"/>
                      <a:tailEnd type="none" w="med" len="med"/>
                    </a:lnL>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solidFill>
                      <a:schemeClr val="accent1"/>
                    </a:solidFill>
                  </a:tcPr>
                </a:tc>
                <a:tc>
                  <a:txBody>
                    <a:bodyPr/>
                    <a:lstStyle/>
                    <a:p>
                      <a:pPr algn="r" fontAlgn="b"/>
                      <a:endParaRPr lang="en-IN" sz="1200" b="1" i="0" u="none" strike="noStrike" dirty="0">
                        <a:solidFill>
                          <a:schemeClr val="bg1"/>
                        </a:solidFill>
                        <a:effectLst/>
                        <a:latin typeface="+mj-lt"/>
                      </a:endParaRPr>
                    </a:p>
                  </a:txBody>
                  <a:tcPr marL="10800" marR="10800" marT="0" marB="0" anchor="ctr">
                    <a:lnR w="12700" cap="flat" cmpd="sng" algn="ctr">
                      <a:noFill/>
                      <a:prstDash val="solid"/>
                      <a:round/>
                      <a:headEnd type="none" w="med" len="med"/>
                      <a:tailEnd type="none" w="med" len="med"/>
                    </a:lnR>
                    <a:solidFill>
                      <a:schemeClr val="accent1"/>
                    </a:solidFill>
                  </a:tcPr>
                </a:tc>
                <a:extLst>
                  <a:ext uri="{0D108BD9-81ED-4DB2-BD59-A6C34878D82A}">
                    <a16:rowId xmlns:a16="http://schemas.microsoft.com/office/drawing/2014/main" val="173566096"/>
                  </a:ext>
                </a:extLst>
              </a:tr>
              <a:tr h="227547">
                <a:tc>
                  <a:txBody>
                    <a:bodyPr/>
                    <a:lstStyle/>
                    <a:p>
                      <a:pPr algn="l" fontAlgn="b"/>
                      <a:r>
                        <a:rPr lang="en-IN" sz="1200" b="0" i="0" u="none" strike="noStrike" dirty="0" smtClean="0">
                          <a:solidFill>
                            <a:srgbClr val="000000"/>
                          </a:solidFill>
                          <a:effectLst/>
                          <a:latin typeface="+mj-lt"/>
                        </a:rPr>
                        <a:t>Energy</a:t>
                      </a:r>
                      <a:endParaRPr lang="en-IN" sz="12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l" fontAlgn="b"/>
                      <a:r>
                        <a:rPr lang="en-IN" sz="1200" b="0" i="0" u="none" strike="noStrike" dirty="0" smtClean="0">
                          <a:solidFill>
                            <a:srgbClr val="000000"/>
                          </a:solidFill>
                          <a:effectLst/>
                          <a:latin typeface="+mj-lt"/>
                        </a:rPr>
                        <a:t>MUs</a:t>
                      </a:r>
                      <a:endParaRPr lang="en-IN" sz="1200" b="0" i="0" u="none" strike="noStrike" dirty="0">
                        <a:solidFill>
                          <a:srgbClr val="000000"/>
                        </a:solidFill>
                        <a:effectLst/>
                        <a:latin typeface="+mj-lt"/>
                      </a:endParaRPr>
                    </a:p>
                  </a:txBody>
                  <a:tcPr marL="10800" marR="10800" marT="762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343</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199</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117</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158</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105</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137</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79</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87</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25</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25</a:t>
                      </a:r>
                    </a:p>
                  </a:txBody>
                  <a:tcPr marL="0" marR="0" marT="0" marB="0" anchor="ctr">
                    <a:lnR w="12700"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19380043"/>
                  </a:ext>
                </a:extLst>
              </a:tr>
              <a:tr h="227547">
                <a:tc>
                  <a:txBody>
                    <a:bodyPr/>
                    <a:lstStyle/>
                    <a:p>
                      <a:pPr algn="l" fontAlgn="b"/>
                      <a:r>
                        <a:rPr lang="en-IN" sz="1200" b="0" i="0" u="none" strike="noStrike" dirty="0" smtClean="0">
                          <a:solidFill>
                            <a:srgbClr val="000000"/>
                          </a:solidFill>
                          <a:effectLst/>
                          <a:latin typeface="+mj-lt"/>
                        </a:rPr>
                        <a:t>Savings</a:t>
                      </a:r>
                      <a:endParaRPr lang="en-IN" sz="12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200" b="0" i="0" u="none" strike="noStrike" dirty="0" err="1" smtClean="0">
                          <a:solidFill>
                            <a:srgbClr val="000000"/>
                          </a:solidFill>
                          <a:effectLst/>
                          <a:latin typeface="+mj-lt"/>
                        </a:rPr>
                        <a:t>Bn</a:t>
                      </a:r>
                      <a:r>
                        <a:rPr lang="en-IN" sz="1200" b="0" i="0" u="none" strike="noStrike" dirty="0" smtClean="0">
                          <a:solidFill>
                            <a:srgbClr val="000000"/>
                          </a:solidFill>
                          <a:effectLst/>
                          <a:latin typeface="+mj-lt"/>
                        </a:rPr>
                        <a:t> NPR</a:t>
                      </a:r>
                      <a:endParaRPr lang="en-IN" sz="12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0</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45894840"/>
                  </a:ext>
                </a:extLst>
              </a:tr>
              <a:tr h="216712">
                <a:tc>
                  <a:txBody>
                    <a:bodyPr/>
                    <a:lstStyle/>
                    <a:p>
                      <a:pPr algn="l" fontAlgn="b"/>
                      <a:r>
                        <a:rPr lang="en-US" sz="1200" b="1" i="0" u="none" strike="noStrike" dirty="0" smtClean="0">
                          <a:solidFill>
                            <a:schemeClr val="bg1"/>
                          </a:solidFill>
                          <a:effectLst/>
                          <a:latin typeface="+mj-lt"/>
                        </a:rPr>
                        <a:t>Surplus Export</a:t>
                      </a:r>
                      <a:endParaRPr lang="en-IN" sz="1200" b="1" i="0" u="none" strike="noStrike" dirty="0">
                        <a:solidFill>
                          <a:schemeClr val="bg1"/>
                        </a:solidFill>
                        <a:effectLst/>
                        <a:latin typeface="+mj-lt"/>
                      </a:endParaRPr>
                    </a:p>
                  </a:txBody>
                  <a:tcPr marL="10800" marR="10800" marT="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dirty="0">
                        <a:solidFill>
                          <a:schemeClr val="bg1"/>
                        </a:solidFill>
                        <a:effectLst/>
                        <a:latin typeface="+mj-lt"/>
                      </a:endParaRPr>
                    </a:p>
                  </a:txBody>
                  <a:tcPr marL="10800" marR="1080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solidFill>
                      <a:schemeClr val="accent5"/>
                    </a:solidFill>
                  </a:tcPr>
                </a:tc>
                <a:tc>
                  <a:txBody>
                    <a:bodyPr/>
                    <a:lstStyle/>
                    <a:p>
                      <a:pPr algn="r" fontAlgn="b"/>
                      <a:endParaRPr lang="en-IN" sz="1200" b="0" i="0" u="none" strike="noStrike">
                        <a:solidFill>
                          <a:srgbClr val="000000"/>
                        </a:solidFill>
                        <a:effectLst/>
                        <a:latin typeface="Verdana" panose="020B0604030504040204" pitchFamily="34" charset="0"/>
                      </a:endParaRP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solidFill>
                      <a:schemeClr val="accent5"/>
                    </a:solidFill>
                  </a:tcPr>
                </a:tc>
                <a:extLst>
                  <a:ext uri="{0D108BD9-81ED-4DB2-BD59-A6C34878D82A}">
                    <a16:rowId xmlns:a16="http://schemas.microsoft.com/office/drawing/2014/main" val="3687826587"/>
                  </a:ext>
                </a:extLst>
              </a:tr>
              <a:tr h="227547">
                <a:tc>
                  <a:txBody>
                    <a:bodyPr/>
                    <a:lstStyle/>
                    <a:p>
                      <a:pPr algn="l" fontAlgn="b"/>
                      <a:r>
                        <a:rPr lang="en-IN" sz="1200" b="0" i="0" u="none" strike="noStrike" dirty="0" smtClean="0">
                          <a:solidFill>
                            <a:srgbClr val="000000"/>
                          </a:solidFill>
                          <a:effectLst/>
                          <a:latin typeface="+mj-lt"/>
                        </a:rPr>
                        <a:t>Energy</a:t>
                      </a:r>
                      <a:endParaRPr lang="en-IN" sz="12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l" fontAlgn="b"/>
                      <a:r>
                        <a:rPr lang="en-IN" sz="1200" b="0" i="0" u="none" strike="noStrike" dirty="0" smtClean="0">
                          <a:solidFill>
                            <a:srgbClr val="000000"/>
                          </a:solidFill>
                          <a:effectLst/>
                          <a:latin typeface="+mj-lt"/>
                        </a:rPr>
                        <a:t>MUs</a:t>
                      </a:r>
                      <a:endParaRPr lang="en-IN" sz="1200" b="0" i="0" u="none" strike="noStrike" dirty="0">
                        <a:solidFill>
                          <a:srgbClr val="000000"/>
                        </a:solidFill>
                        <a:effectLst/>
                        <a:latin typeface="+mj-lt"/>
                      </a:endParaRPr>
                    </a:p>
                  </a:txBody>
                  <a:tcPr marL="10800" marR="10800" marT="762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215</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1,765</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3,352</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4,124</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5,464</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6,388</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8,722</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11,331</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12,409</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12,409</a:t>
                      </a:r>
                    </a:p>
                  </a:txBody>
                  <a:tcPr marL="0" marR="0" marT="0" marB="0" anchor="ctr">
                    <a:lnR w="12700"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32170532"/>
                  </a:ext>
                </a:extLst>
              </a:tr>
              <a:tr h="227547">
                <a:tc>
                  <a:txBody>
                    <a:bodyPr/>
                    <a:lstStyle/>
                    <a:p>
                      <a:pPr algn="l" fontAlgn="b"/>
                      <a:r>
                        <a:rPr lang="en-IN" sz="1200" b="0" i="0" u="none" strike="noStrike" dirty="0" smtClean="0">
                          <a:solidFill>
                            <a:srgbClr val="000000"/>
                          </a:solidFill>
                          <a:effectLst/>
                          <a:latin typeface="+mj-lt"/>
                        </a:rPr>
                        <a:t>Revenue</a:t>
                      </a:r>
                      <a:endParaRPr lang="en-IN" sz="1200" b="0" i="0" u="none" strike="noStrike" dirty="0">
                        <a:solidFill>
                          <a:srgbClr val="000000"/>
                        </a:solidFill>
                        <a:effectLst/>
                        <a:latin typeface="+mj-lt"/>
                      </a:endParaRPr>
                    </a:p>
                  </a:txBody>
                  <a:tcPr marL="10800" marR="10800" marT="7620" marB="0"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IN" sz="1200" b="0" i="0" u="none" strike="noStrike" dirty="0" err="1" smtClean="0">
                          <a:solidFill>
                            <a:srgbClr val="000000"/>
                          </a:solidFill>
                          <a:effectLst/>
                          <a:latin typeface="+mj-lt"/>
                        </a:rPr>
                        <a:t>Bn</a:t>
                      </a:r>
                      <a:r>
                        <a:rPr lang="en-IN" sz="1200" b="0" i="0" u="none" strike="noStrike" dirty="0" smtClean="0">
                          <a:solidFill>
                            <a:srgbClr val="000000"/>
                          </a:solidFill>
                          <a:effectLst/>
                          <a:latin typeface="+mj-lt"/>
                        </a:rPr>
                        <a:t> NPR</a:t>
                      </a:r>
                      <a:endParaRPr lang="en-IN" sz="1200" b="0" i="0" u="none" strike="noStrike" dirty="0">
                        <a:solidFill>
                          <a:srgbClr val="000000"/>
                        </a:solidFill>
                        <a:effectLst/>
                        <a:latin typeface="+mj-lt"/>
                      </a:endParaRPr>
                    </a:p>
                  </a:txBody>
                  <a:tcPr marL="10800" marR="1080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17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29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35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49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66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a:solidFill>
                            <a:srgbClr val="000000"/>
                          </a:solidFill>
                          <a:effectLst/>
                          <a:latin typeface="Verdana" panose="020B0604030504040204" pitchFamily="34" charset="0"/>
                        </a:rPr>
                        <a:t>74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r>
                        <a:rPr lang="en-IN" sz="1200" b="0" i="0" u="none" strike="noStrike" dirty="0">
                          <a:solidFill>
                            <a:srgbClr val="000000"/>
                          </a:solidFill>
                          <a:effectLst/>
                          <a:latin typeface="Verdana" panose="020B0604030504040204" pitchFamily="34" charset="0"/>
                        </a:rPr>
                        <a:t>76</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99999120"/>
                  </a:ext>
                </a:extLst>
              </a:tr>
            </a:tbl>
          </a:graphicData>
        </a:graphic>
      </p:graphicFrame>
      <p:sp>
        <p:nvSpPr>
          <p:cNvPr id="6" name="Isosceles Triangle 5"/>
          <p:cNvSpPr/>
          <p:nvPr/>
        </p:nvSpPr>
        <p:spPr bwMode="gray">
          <a:xfrm flipH="1">
            <a:off x="4478503" y="1820175"/>
            <a:ext cx="263599" cy="228514"/>
          </a:xfrm>
          <a:prstGeom prst="triangle">
            <a:avLst>
              <a:gd name="adj" fmla="val 40461"/>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7" name="Isosceles Triangle 6"/>
          <p:cNvSpPr/>
          <p:nvPr/>
        </p:nvSpPr>
        <p:spPr bwMode="gray">
          <a:xfrm>
            <a:off x="1652702" y="1820175"/>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8" name="Trapezoid 7"/>
          <p:cNvSpPr/>
          <p:nvPr/>
        </p:nvSpPr>
        <p:spPr bwMode="gray">
          <a:xfrm rot="10800000">
            <a:off x="1710805" y="1820175"/>
            <a:ext cx="2935842"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9" name="Rectangle 8"/>
          <p:cNvSpPr/>
          <p:nvPr/>
        </p:nvSpPr>
        <p:spPr>
          <a:xfrm>
            <a:off x="1923140" y="1821756"/>
            <a:ext cx="2502608" cy="276999"/>
          </a:xfrm>
          <a:prstGeom prst="rect">
            <a:avLst/>
          </a:prstGeom>
        </p:spPr>
        <p:txBody>
          <a:bodyPr wrap="none">
            <a:spAutoFit/>
          </a:bodyPr>
          <a:lstStyle/>
          <a:p>
            <a:pPr>
              <a:spcAft>
                <a:spcPts val="300"/>
              </a:spcAft>
            </a:pPr>
            <a:r>
              <a:rPr lang="en-US" sz="1200" b="1" dirty="0" smtClean="0">
                <a:solidFill>
                  <a:schemeClr val="bg1"/>
                </a:solidFill>
              </a:rPr>
              <a:t>Treatment of power deficit</a:t>
            </a:r>
            <a:endParaRPr lang="en-US" sz="1200" b="1" dirty="0">
              <a:solidFill>
                <a:schemeClr val="bg1"/>
              </a:solidFill>
            </a:endParaRPr>
          </a:p>
        </p:txBody>
      </p:sp>
      <p:sp>
        <p:nvSpPr>
          <p:cNvPr id="10" name="Isosceles Triangle 9"/>
          <p:cNvSpPr/>
          <p:nvPr/>
        </p:nvSpPr>
        <p:spPr bwMode="gray">
          <a:xfrm flipH="1">
            <a:off x="10380050" y="1818594"/>
            <a:ext cx="263599" cy="228514"/>
          </a:xfrm>
          <a:prstGeom prst="triangle">
            <a:avLst>
              <a:gd name="adj" fmla="val 36922"/>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1" name="Isosceles Triangle 10"/>
          <p:cNvSpPr/>
          <p:nvPr/>
        </p:nvSpPr>
        <p:spPr bwMode="gray">
          <a:xfrm>
            <a:off x="7628892" y="1818594"/>
            <a:ext cx="263599" cy="228514"/>
          </a:xfrm>
          <a:prstGeom prst="triangle">
            <a:avLst>
              <a:gd name="adj" fmla="val 22763"/>
            </a:avLst>
          </a:prstGeom>
          <a:solidFill>
            <a:schemeClr val="accent4">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2" name="Trapezoid 11"/>
          <p:cNvSpPr/>
          <p:nvPr/>
        </p:nvSpPr>
        <p:spPr bwMode="gray">
          <a:xfrm rot="10800000">
            <a:off x="7686995" y="1818594"/>
            <a:ext cx="2856594" cy="322424"/>
          </a:xfrm>
          <a:prstGeom prst="trapezoid">
            <a:avLst>
              <a:gd name="adj" fmla="val 68631"/>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13" name="Rectangle 12"/>
          <p:cNvSpPr/>
          <p:nvPr/>
        </p:nvSpPr>
        <p:spPr>
          <a:xfrm>
            <a:off x="7836843" y="1820175"/>
            <a:ext cx="2598788" cy="276999"/>
          </a:xfrm>
          <a:prstGeom prst="rect">
            <a:avLst/>
          </a:prstGeom>
        </p:spPr>
        <p:txBody>
          <a:bodyPr wrap="none">
            <a:spAutoFit/>
          </a:bodyPr>
          <a:lstStyle/>
          <a:p>
            <a:pPr>
              <a:spcAft>
                <a:spcPts val="300"/>
              </a:spcAft>
            </a:pPr>
            <a:r>
              <a:rPr lang="en-US" sz="1200" b="1" dirty="0" smtClean="0">
                <a:solidFill>
                  <a:schemeClr val="bg1"/>
                </a:solidFill>
              </a:rPr>
              <a:t>Treatment of power surplus</a:t>
            </a:r>
            <a:endParaRPr lang="en-US" sz="1200" b="1" dirty="0">
              <a:solidFill>
                <a:schemeClr val="bg1"/>
              </a:solidFill>
            </a:endParaRPr>
          </a:p>
        </p:txBody>
      </p:sp>
      <p:sp>
        <p:nvSpPr>
          <p:cNvPr id="17" name="Rectangle 16"/>
          <p:cNvSpPr/>
          <p:nvPr/>
        </p:nvSpPr>
        <p:spPr>
          <a:xfrm>
            <a:off x="645747" y="2249459"/>
            <a:ext cx="5040000" cy="1921936"/>
          </a:xfrm>
          <a:prstGeom prst="rect">
            <a:avLst/>
          </a:prstGeom>
        </p:spPr>
        <p:txBody>
          <a:bodyPr wrap="square">
            <a:spAutoFit/>
          </a:bodyPr>
          <a:lstStyle/>
          <a:p>
            <a:pPr>
              <a:lnSpc>
                <a:spcPct val="106000"/>
              </a:lnSpc>
              <a:spcAft>
                <a:spcPts val="600"/>
              </a:spcAft>
            </a:pPr>
            <a:r>
              <a:rPr lang="en-US" sz="1400" b="1" dirty="0" smtClean="0"/>
              <a:t>Banking</a:t>
            </a:r>
          </a:p>
          <a:p>
            <a:pPr marL="171450" indent="-171450">
              <a:lnSpc>
                <a:spcPct val="106000"/>
              </a:lnSpc>
              <a:spcAft>
                <a:spcPts val="600"/>
              </a:spcAft>
              <a:buFont typeface="Arial" panose="020B0604020202020204" pitchFamily="34" charset="0"/>
              <a:buChar char="•"/>
            </a:pPr>
            <a:r>
              <a:rPr lang="en-US" sz="1400" dirty="0" smtClean="0"/>
              <a:t>Quantum </a:t>
            </a:r>
            <a:r>
              <a:rPr lang="en-US" sz="1400" dirty="0"/>
              <a:t>of energy deficit </a:t>
            </a:r>
            <a:r>
              <a:rPr lang="en-US" sz="1400" dirty="0" smtClean="0"/>
              <a:t>in a year is adjusted with </a:t>
            </a:r>
            <a:r>
              <a:rPr lang="en-US" sz="1400" dirty="0"/>
              <a:t>energy surplus </a:t>
            </a:r>
            <a:r>
              <a:rPr lang="en-US" sz="1400" dirty="0" smtClean="0"/>
              <a:t>in that year through banking</a:t>
            </a:r>
          </a:p>
          <a:p>
            <a:pPr marL="171450" indent="-171450">
              <a:lnSpc>
                <a:spcPct val="106000"/>
              </a:lnSpc>
              <a:spcAft>
                <a:spcPts val="600"/>
              </a:spcAft>
              <a:buFont typeface="Arial" panose="020B0604020202020204" pitchFamily="34" charset="0"/>
              <a:buChar char="•"/>
            </a:pPr>
            <a:r>
              <a:rPr lang="en-US" sz="1400" dirty="0" smtClean="0"/>
              <a:t>Lower of energy deficit or energy surplus in a year is taken as energy banked</a:t>
            </a:r>
          </a:p>
          <a:p>
            <a:pPr marL="171450" indent="-171450">
              <a:lnSpc>
                <a:spcPct val="106000"/>
              </a:lnSpc>
              <a:spcAft>
                <a:spcPts val="600"/>
              </a:spcAft>
              <a:buFont typeface="Arial" panose="020B0604020202020204" pitchFamily="34" charset="0"/>
              <a:buChar char="•"/>
            </a:pPr>
            <a:r>
              <a:rPr lang="en-US" sz="1400" dirty="0" smtClean="0"/>
              <a:t>~7 </a:t>
            </a:r>
            <a:r>
              <a:rPr lang="en-US" sz="1400" dirty="0" err="1"/>
              <a:t>Bn</a:t>
            </a:r>
            <a:r>
              <a:rPr lang="en-US" sz="1400" dirty="0"/>
              <a:t> NPR over 10 years </a:t>
            </a:r>
            <a:r>
              <a:rPr lang="en-US" sz="1400" dirty="0" smtClean="0"/>
              <a:t>could be saved through </a:t>
            </a:r>
            <a:r>
              <a:rPr lang="en-US" sz="1400" dirty="0"/>
              <a:t>banking</a:t>
            </a:r>
            <a:endParaRPr lang="en-US" sz="1400" dirty="0" smtClean="0"/>
          </a:p>
        </p:txBody>
      </p:sp>
      <p:sp>
        <p:nvSpPr>
          <p:cNvPr id="18" name="Rectangle 17"/>
          <p:cNvSpPr/>
          <p:nvPr/>
        </p:nvSpPr>
        <p:spPr>
          <a:xfrm>
            <a:off x="6471145" y="2241129"/>
            <a:ext cx="5040000" cy="1921936"/>
          </a:xfrm>
          <a:prstGeom prst="rect">
            <a:avLst/>
          </a:prstGeom>
        </p:spPr>
        <p:txBody>
          <a:bodyPr wrap="square">
            <a:spAutoFit/>
          </a:bodyPr>
          <a:lstStyle/>
          <a:p>
            <a:pPr>
              <a:lnSpc>
                <a:spcPct val="106000"/>
              </a:lnSpc>
              <a:spcAft>
                <a:spcPts val="600"/>
              </a:spcAft>
            </a:pPr>
            <a:r>
              <a:rPr lang="en-US" sz="1400" b="1" dirty="0" smtClean="0"/>
              <a:t>Export</a:t>
            </a:r>
          </a:p>
          <a:p>
            <a:pPr marL="171450" indent="-171450">
              <a:lnSpc>
                <a:spcPct val="106000"/>
              </a:lnSpc>
              <a:spcAft>
                <a:spcPts val="600"/>
              </a:spcAft>
              <a:buFont typeface="Arial" panose="020B0604020202020204" pitchFamily="34" charset="0"/>
              <a:buChar char="•"/>
            </a:pPr>
            <a:r>
              <a:rPr lang="en-US" sz="1400" dirty="0"/>
              <a:t>50% of the remaining surplus after banking is assumed to be </a:t>
            </a:r>
            <a:r>
              <a:rPr lang="en-US" sz="1400" dirty="0" smtClean="0"/>
              <a:t>exported</a:t>
            </a:r>
          </a:p>
          <a:p>
            <a:pPr marL="171450" indent="-171450">
              <a:lnSpc>
                <a:spcPct val="106000"/>
              </a:lnSpc>
              <a:spcAft>
                <a:spcPts val="600"/>
              </a:spcAft>
              <a:buFont typeface="Arial" panose="020B0604020202020204" pitchFamily="34" charset="0"/>
              <a:buChar char="•"/>
            </a:pPr>
            <a:r>
              <a:rPr lang="en-US" sz="1400" dirty="0"/>
              <a:t>The price per unit of export is assumed at 4.80 NPR/kWh with an escalation of 3</a:t>
            </a:r>
            <a:r>
              <a:rPr lang="en-US" sz="1400" dirty="0" smtClean="0"/>
              <a:t>% each year</a:t>
            </a:r>
            <a:endParaRPr lang="en-US" sz="1400" dirty="0"/>
          </a:p>
          <a:p>
            <a:pPr marL="171450" indent="-171450">
              <a:lnSpc>
                <a:spcPct val="106000"/>
              </a:lnSpc>
              <a:spcAft>
                <a:spcPts val="600"/>
              </a:spcAft>
              <a:buFont typeface="Arial" panose="020B0604020202020204" pitchFamily="34" charset="0"/>
              <a:buChar char="•"/>
            </a:pPr>
            <a:r>
              <a:rPr lang="en-US" sz="1400" dirty="0" smtClean="0"/>
              <a:t>Revenue </a:t>
            </a:r>
            <a:r>
              <a:rPr lang="en-US" sz="1400" dirty="0"/>
              <a:t>of </a:t>
            </a:r>
            <a:r>
              <a:rPr lang="en-US" sz="1400" dirty="0" smtClean="0"/>
              <a:t>~378 </a:t>
            </a:r>
            <a:r>
              <a:rPr lang="en-US" sz="1400" dirty="0" err="1"/>
              <a:t>Bn</a:t>
            </a:r>
            <a:r>
              <a:rPr lang="en-US" sz="1400" dirty="0"/>
              <a:t> NPR </a:t>
            </a:r>
            <a:r>
              <a:rPr lang="en-US" sz="1400" dirty="0" smtClean="0"/>
              <a:t>could be generated over </a:t>
            </a:r>
            <a:r>
              <a:rPr lang="en-US" sz="1400" dirty="0"/>
              <a:t>next 10 </a:t>
            </a:r>
            <a:r>
              <a:rPr lang="en-US" sz="1400" dirty="0" smtClean="0"/>
              <a:t>years through export of surplus power</a:t>
            </a:r>
          </a:p>
        </p:txBody>
      </p:sp>
    </p:spTree>
    <p:extLst>
      <p:ext uri="{BB962C8B-B14F-4D97-AF65-F5344CB8AC3E}">
        <p14:creationId xmlns:p14="http://schemas.microsoft.com/office/powerpoint/2010/main" val="205581019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Capital Expenditure Assumptions</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sp>
        <p:nvSpPr>
          <p:cNvPr id="4" name="Rectangle 3"/>
          <p:cNvSpPr/>
          <p:nvPr/>
        </p:nvSpPr>
        <p:spPr>
          <a:xfrm>
            <a:off x="469900" y="2220834"/>
            <a:ext cx="1593341" cy="1121270"/>
          </a:xfrm>
          <a:prstGeom prst="rect">
            <a:avLst/>
          </a:prstGeom>
          <a:solidFill>
            <a:srgbClr val="86B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44000" anchor="t"/>
          <a:lstStyle/>
          <a:p>
            <a:pPr algn="ctr" defTabSz="914400" fontAlgn="base">
              <a:spcBef>
                <a:spcPct val="0"/>
              </a:spcBef>
              <a:spcAft>
                <a:spcPct val="0"/>
              </a:spcAft>
              <a:buSzPct val="90000"/>
              <a:defRPr/>
            </a:pPr>
            <a:r>
              <a:rPr lang="en-GB" sz="1400" b="1" dirty="0">
                <a:solidFill>
                  <a:prstClr val="white"/>
                </a:solidFill>
                <a:latin typeface="+mj-lt"/>
                <a:ea typeface="ＭＳ Ｐゴシック"/>
                <a:cs typeface="Arial" pitchFamily="34" charset="0"/>
              </a:rPr>
              <a:t>Generation</a:t>
            </a:r>
          </a:p>
        </p:txBody>
      </p:sp>
      <p:grpSp>
        <p:nvGrpSpPr>
          <p:cNvPr id="5" name="Group 4"/>
          <p:cNvGrpSpPr/>
          <p:nvPr/>
        </p:nvGrpSpPr>
        <p:grpSpPr>
          <a:xfrm>
            <a:off x="646933" y="2713122"/>
            <a:ext cx="1244858" cy="354190"/>
            <a:chOff x="1185546" y="2245760"/>
            <a:chExt cx="1818430" cy="477165"/>
          </a:xfrm>
          <a:solidFill>
            <a:schemeClr val="bg1"/>
          </a:solidFill>
        </p:grpSpPr>
        <p:grpSp>
          <p:nvGrpSpPr>
            <p:cNvPr id="6" name="Group 5"/>
            <p:cNvGrpSpPr>
              <a:grpSpLocks noChangeAspect="1"/>
            </p:cNvGrpSpPr>
            <p:nvPr/>
          </p:nvGrpSpPr>
          <p:grpSpPr>
            <a:xfrm>
              <a:off x="2200288" y="2382154"/>
              <a:ext cx="456909" cy="337084"/>
              <a:chOff x="1880434" y="2382352"/>
              <a:chExt cx="793247" cy="585216"/>
            </a:xfrm>
            <a:grpFill/>
          </p:grpSpPr>
          <p:sp>
            <p:nvSpPr>
              <p:cNvPr id="28" name="object 12"/>
              <p:cNvSpPr/>
              <p:nvPr/>
            </p:nvSpPr>
            <p:spPr>
              <a:xfrm>
                <a:off x="2141094" y="2659462"/>
                <a:ext cx="532587" cy="307050"/>
              </a:xfrm>
              <a:custGeom>
                <a:avLst/>
                <a:gdLst/>
                <a:ahLst/>
                <a:cxnLst/>
                <a:rect l="l" t="t" r="r" b="b"/>
                <a:pathLst>
                  <a:path w="181610" h="135255">
                    <a:moveTo>
                      <a:pt x="177343" y="0"/>
                    </a:moveTo>
                    <a:lnTo>
                      <a:pt x="140" y="165"/>
                    </a:lnTo>
                    <a:lnTo>
                      <a:pt x="0" y="8108"/>
                    </a:lnTo>
                    <a:lnTo>
                      <a:pt x="6728" y="71785"/>
                    </a:lnTo>
                    <a:lnTo>
                      <a:pt x="8020" y="83661"/>
                    </a:lnTo>
                    <a:lnTo>
                      <a:pt x="9351" y="96189"/>
                    </a:lnTo>
                    <a:lnTo>
                      <a:pt x="10659" y="109897"/>
                    </a:lnTo>
                    <a:lnTo>
                      <a:pt x="12204" y="122336"/>
                    </a:lnTo>
                    <a:lnTo>
                      <a:pt x="12040" y="134975"/>
                    </a:lnTo>
                    <a:lnTo>
                      <a:pt x="177635" y="135127"/>
                    </a:lnTo>
                    <a:lnTo>
                      <a:pt x="179858" y="133870"/>
                    </a:lnTo>
                    <a:lnTo>
                      <a:pt x="181267" y="131102"/>
                    </a:lnTo>
                    <a:lnTo>
                      <a:pt x="181267" y="78752"/>
                    </a:lnTo>
                    <a:lnTo>
                      <a:pt x="14885" y="78739"/>
                    </a:lnTo>
                    <a:lnTo>
                      <a:pt x="12787" y="76555"/>
                    </a:lnTo>
                    <a:lnTo>
                      <a:pt x="12824" y="24803"/>
                    </a:lnTo>
                    <a:lnTo>
                      <a:pt x="14935" y="22631"/>
                    </a:lnTo>
                    <a:lnTo>
                      <a:pt x="181267" y="22631"/>
                    </a:lnTo>
                    <a:lnTo>
                      <a:pt x="181267" y="3632"/>
                    </a:lnTo>
                    <a:lnTo>
                      <a:pt x="179489" y="1320"/>
                    </a:lnTo>
                    <a:lnTo>
                      <a:pt x="177343" y="0"/>
                    </a:lnTo>
                    <a:close/>
                  </a:path>
                  <a:path w="181610" h="135255">
                    <a:moveTo>
                      <a:pt x="181267" y="22631"/>
                    </a:moveTo>
                    <a:lnTo>
                      <a:pt x="66650" y="22631"/>
                    </a:lnTo>
                    <a:lnTo>
                      <a:pt x="68656" y="24637"/>
                    </a:lnTo>
                    <a:lnTo>
                      <a:pt x="68771" y="76873"/>
                    </a:lnTo>
                    <a:lnTo>
                      <a:pt x="66942" y="78739"/>
                    </a:lnTo>
                    <a:lnTo>
                      <a:pt x="14897" y="78752"/>
                    </a:lnTo>
                    <a:lnTo>
                      <a:pt x="93498" y="78752"/>
                    </a:lnTo>
                    <a:lnTo>
                      <a:pt x="91478" y="76555"/>
                    </a:lnTo>
                    <a:lnTo>
                      <a:pt x="91491" y="24637"/>
                    </a:lnTo>
                    <a:lnTo>
                      <a:pt x="93434" y="22669"/>
                    </a:lnTo>
                    <a:lnTo>
                      <a:pt x="181267" y="22656"/>
                    </a:lnTo>
                    <a:close/>
                  </a:path>
                  <a:path w="181610" h="135255">
                    <a:moveTo>
                      <a:pt x="181267" y="22656"/>
                    </a:moveTo>
                    <a:lnTo>
                      <a:pt x="145199" y="22656"/>
                    </a:lnTo>
                    <a:lnTo>
                      <a:pt x="147405" y="24803"/>
                    </a:lnTo>
                    <a:lnTo>
                      <a:pt x="147487" y="76555"/>
                    </a:lnTo>
                    <a:lnTo>
                      <a:pt x="145352" y="78752"/>
                    </a:lnTo>
                    <a:lnTo>
                      <a:pt x="181267" y="78752"/>
                    </a:lnTo>
                    <a:lnTo>
                      <a:pt x="181267" y="22656"/>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29" name="object 13"/>
              <p:cNvSpPr/>
              <p:nvPr/>
            </p:nvSpPr>
            <p:spPr>
              <a:xfrm>
                <a:off x="1880434" y="2455817"/>
                <a:ext cx="268156" cy="511751"/>
              </a:xfrm>
              <a:custGeom>
                <a:avLst/>
                <a:gdLst/>
                <a:ahLst/>
                <a:cxnLst/>
                <a:rect l="l" t="t" r="r" b="b"/>
                <a:pathLst>
                  <a:path w="91440" h="225425">
                    <a:moveTo>
                      <a:pt x="65747" y="0"/>
                    </a:moveTo>
                    <a:lnTo>
                      <a:pt x="25095" y="0"/>
                    </a:lnTo>
                    <a:lnTo>
                      <a:pt x="23304" y="1523"/>
                    </a:lnTo>
                    <a:lnTo>
                      <a:pt x="22378" y="9688"/>
                    </a:lnTo>
                    <a:lnTo>
                      <a:pt x="21264" y="20167"/>
                    </a:lnTo>
                    <a:lnTo>
                      <a:pt x="14171" y="88694"/>
                    </a:lnTo>
                    <a:lnTo>
                      <a:pt x="7244" y="153518"/>
                    </a:lnTo>
                    <a:lnTo>
                      <a:pt x="0" y="222427"/>
                    </a:lnTo>
                    <a:lnTo>
                      <a:pt x="2120" y="224815"/>
                    </a:lnTo>
                    <a:lnTo>
                      <a:pt x="45326" y="224828"/>
                    </a:lnTo>
                    <a:lnTo>
                      <a:pt x="88125" y="224815"/>
                    </a:lnTo>
                    <a:lnTo>
                      <a:pt x="90830" y="222084"/>
                    </a:lnTo>
                    <a:lnTo>
                      <a:pt x="82838" y="147188"/>
                    </a:lnTo>
                    <a:lnTo>
                      <a:pt x="77552" y="96175"/>
                    </a:lnTo>
                    <a:lnTo>
                      <a:pt x="73681" y="60067"/>
                    </a:lnTo>
                    <a:lnTo>
                      <a:pt x="69313" y="18804"/>
                    </a:lnTo>
                    <a:lnTo>
                      <a:pt x="67449" y="1435"/>
                    </a:lnTo>
                    <a:lnTo>
                      <a:pt x="65747"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30" name="object 14"/>
              <p:cNvSpPr/>
              <p:nvPr/>
            </p:nvSpPr>
            <p:spPr>
              <a:xfrm>
                <a:off x="2094405" y="2382352"/>
                <a:ext cx="465549" cy="102350"/>
              </a:xfrm>
              <a:custGeom>
                <a:avLst/>
                <a:gdLst/>
                <a:ahLst/>
                <a:cxnLst/>
                <a:rect l="l" t="t" r="r" b="b"/>
                <a:pathLst>
                  <a:path w="158750" h="45084">
                    <a:moveTo>
                      <a:pt x="154156" y="25436"/>
                    </a:moveTo>
                    <a:lnTo>
                      <a:pt x="10080" y="25436"/>
                    </a:lnTo>
                    <a:lnTo>
                      <a:pt x="22075" y="25825"/>
                    </a:lnTo>
                    <a:lnTo>
                      <a:pt x="35143" y="28848"/>
                    </a:lnTo>
                    <a:lnTo>
                      <a:pt x="71637" y="41109"/>
                    </a:lnTo>
                    <a:lnTo>
                      <a:pt x="83796" y="43810"/>
                    </a:lnTo>
                    <a:lnTo>
                      <a:pt x="95976" y="44904"/>
                    </a:lnTo>
                    <a:lnTo>
                      <a:pt x="108200" y="44250"/>
                    </a:lnTo>
                    <a:lnTo>
                      <a:pt x="120490" y="41712"/>
                    </a:lnTo>
                    <a:lnTo>
                      <a:pt x="132869" y="37149"/>
                    </a:lnTo>
                    <a:lnTo>
                      <a:pt x="144103" y="31261"/>
                    </a:lnTo>
                    <a:lnTo>
                      <a:pt x="154156" y="25436"/>
                    </a:lnTo>
                    <a:close/>
                  </a:path>
                  <a:path w="158750" h="45084">
                    <a:moveTo>
                      <a:pt x="52031" y="0"/>
                    </a:moveTo>
                    <a:lnTo>
                      <a:pt x="14908" y="9205"/>
                    </a:lnTo>
                    <a:lnTo>
                      <a:pt x="0" y="19100"/>
                    </a:lnTo>
                    <a:lnTo>
                      <a:pt x="1536" y="24206"/>
                    </a:lnTo>
                    <a:lnTo>
                      <a:pt x="3619" y="25628"/>
                    </a:lnTo>
                    <a:lnTo>
                      <a:pt x="7848" y="25615"/>
                    </a:lnTo>
                    <a:lnTo>
                      <a:pt x="10080" y="25436"/>
                    </a:lnTo>
                    <a:lnTo>
                      <a:pt x="154156" y="25436"/>
                    </a:lnTo>
                    <a:lnTo>
                      <a:pt x="157759" y="23368"/>
                    </a:lnTo>
                    <a:lnTo>
                      <a:pt x="158508" y="20383"/>
                    </a:lnTo>
                    <a:lnTo>
                      <a:pt x="157629" y="18287"/>
                    </a:lnTo>
                    <a:lnTo>
                      <a:pt x="127095" y="18287"/>
                    </a:lnTo>
                    <a:lnTo>
                      <a:pt x="114025" y="16263"/>
                    </a:lnTo>
                    <a:lnTo>
                      <a:pt x="104713" y="13521"/>
                    </a:lnTo>
                    <a:lnTo>
                      <a:pt x="77089" y="4445"/>
                    </a:lnTo>
                    <a:lnTo>
                      <a:pt x="64758" y="1476"/>
                    </a:lnTo>
                    <a:lnTo>
                      <a:pt x="52031" y="0"/>
                    </a:lnTo>
                    <a:close/>
                  </a:path>
                  <a:path w="158750" h="45084">
                    <a:moveTo>
                      <a:pt x="153644" y="13957"/>
                    </a:moveTo>
                    <a:lnTo>
                      <a:pt x="149771" y="14808"/>
                    </a:lnTo>
                    <a:lnTo>
                      <a:pt x="148958" y="15125"/>
                    </a:lnTo>
                    <a:lnTo>
                      <a:pt x="139295" y="17482"/>
                    </a:lnTo>
                    <a:lnTo>
                      <a:pt x="127095" y="18287"/>
                    </a:lnTo>
                    <a:lnTo>
                      <a:pt x="157629" y="18287"/>
                    </a:lnTo>
                    <a:lnTo>
                      <a:pt x="156349" y="15240"/>
                    </a:lnTo>
                    <a:lnTo>
                      <a:pt x="153644" y="13957"/>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31" name="object 16"/>
              <p:cNvSpPr/>
              <p:nvPr/>
            </p:nvSpPr>
            <p:spPr>
              <a:xfrm>
                <a:off x="2211426" y="2736450"/>
                <a:ext cx="98696" cy="76402"/>
              </a:xfrm>
              <a:custGeom>
                <a:avLst/>
                <a:gdLst/>
                <a:ahLst/>
                <a:cxnLst/>
                <a:rect l="l" t="t" r="r" b="b"/>
                <a:pathLst>
                  <a:path w="33655" h="33655">
                    <a:moveTo>
                      <a:pt x="0" y="16802"/>
                    </a:moveTo>
                    <a:lnTo>
                      <a:pt x="33566" y="16802"/>
                    </a:lnTo>
                  </a:path>
                </a:pathLst>
              </a:custGeom>
              <a:grpFill/>
              <a:ln w="34874">
                <a:noFill/>
              </a:ln>
            </p:spPr>
            <p:txBody>
              <a:bodyPr wrap="square" lIns="0" tIns="0" rIns="0" bIns="0" rtlCol="0"/>
              <a:lstStyle/>
              <a:p>
                <a:pPr defTabSz="711981">
                  <a:defRPr/>
                </a:pPr>
                <a:endParaRPr sz="1400" kern="0" dirty="0">
                  <a:solidFill>
                    <a:prstClr val="white"/>
                  </a:solidFill>
                  <a:latin typeface="+mj-lt"/>
                </a:endParaRPr>
              </a:p>
            </p:txBody>
          </p:sp>
          <p:sp>
            <p:nvSpPr>
              <p:cNvPr id="32" name="object 16"/>
              <p:cNvSpPr/>
              <p:nvPr/>
            </p:nvSpPr>
            <p:spPr>
              <a:xfrm>
                <a:off x="2438134" y="2736450"/>
                <a:ext cx="98696" cy="76402"/>
              </a:xfrm>
              <a:custGeom>
                <a:avLst/>
                <a:gdLst/>
                <a:ahLst/>
                <a:cxnLst/>
                <a:rect l="l" t="t" r="r" b="b"/>
                <a:pathLst>
                  <a:path w="33655" h="33655">
                    <a:moveTo>
                      <a:pt x="0" y="16802"/>
                    </a:moveTo>
                    <a:lnTo>
                      <a:pt x="33566" y="16802"/>
                    </a:lnTo>
                  </a:path>
                </a:pathLst>
              </a:custGeom>
              <a:grpFill/>
              <a:ln w="34874">
                <a:noFill/>
              </a:ln>
            </p:spPr>
            <p:txBody>
              <a:bodyPr wrap="square" lIns="0" tIns="0" rIns="0" bIns="0" rtlCol="0"/>
              <a:lstStyle/>
              <a:p>
                <a:pPr defTabSz="711981">
                  <a:defRPr/>
                </a:pPr>
                <a:endParaRPr sz="1400" kern="0" dirty="0">
                  <a:solidFill>
                    <a:prstClr val="white"/>
                  </a:solidFill>
                  <a:latin typeface="+mj-lt"/>
                </a:endParaRPr>
              </a:p>
            </p:txBody>
          </p:sp>
        </p:grpSp>
        <p:grpSp>
          <p:nvGrpSpPr>
            <p:cNvPr id="7" name="Group 6"/>
            <p:cNvGrpSpPr>
              <a:grpSpLocks noChangeAspect="1"/>
            </p:cNvGrpSpPr>
            <p:nvPr/>
          </p:nvGrpSpPr>
          <p:grpSpPr>
            <a:xfrm>
              <a:off x="1185546" y="2405172"/>
              <a:ext cx="480251" cy="314066"/>
              <a:chOff x="1148676" y="2548966"/>
              <a:chExt cx="417610" cy="273101"/>
            </a:xfrm>
            <a:grpFill/>
          </p:grpSpPr>
          <p:sp>
            <p:nvSpPr>
              <p:cNvPr id="25" name="Freeform 27"/>
              <p:cNvSpPr>
                <a:spLocks/>
              </p:cNvSpPr>
              <p:nvPr/>
            </p:nvSpPr>
            <p:spPr bwMode="auto">
              <a:xfrm>
                <a:off x="1148676" y="2548966"/>
                <a:ext cx="89889" cy="273101"/>
              </a:xfrm>
              <a:custGeom>
                <a:avLst/>
                <a:gdLst>
                  <a:gd name="T0" fmla="*/ 144 w 144"/>
                  <a:gd name="T1" fmla="*/ 525 h 525"/>
                  <a:gd name="T2" fmla="*/ 0 w 144"/>
                  <a:gd name="T3" fmla="*/ 525 h 525"/>
                  <a:gd name="T4" fmla="*/ 0 w 144"/>
                  <a:gd name="T5" fmla="*/ 0 h 525"/>
                  <a:gd name="T6" fmla="*/ 78 w 144"/>
                  <a:gd name="T7" fmla="*/ 0 h 525"/>
                  <a:gd name="T8" fmla="*/ 144 w 144"/>
                  <a:gd name="T9" fmla="*/ 525 h 525"/>
                </a:gdLst>
                <a:ahLst/>
                <a:cxnLst>
                  <a:cxn ang="0">
                    <a:pos x="T0" y="T1"/>
                  </a:cxn>
                  <a:cxn ang="0">
                    <a:pos x="T2" y="T3"/>
                  </a:cxn>
                  <a:cxn ang="0">
                    <a:pos x="T4" y="T5"/>
                  </a:cxn>
                  <a:cxn ang="0">
                    <a:pos x="T6" y="T7"/>
                  </a:cxn>
                  <a:cxn ang="0">
                    <a:pos x="T8" y="T9"/>
                  </a:cxn>
                </a:cxnLst>
                <a:rect l="0" t="0" r="r" b="b"/>
                <a:pathLst>
                  <a:path w="144" h="525">
                    <a:moveTo>
                      <a:pt x="144" y="525"/>
                    </a:moveTo>
                    <a:lnTo>
                      <a:pt x="0" y="525"/>
                    </a:lnTo>
                    <a:lnTo>
                      <a:pt x="0" y="0"/>
                    </a:lnTo>
                    <a:lnTo>
                      <a:pt x="78" y="0"/>
                    </a:lnTo>
                    <a:lnTo>
                      <a:pt x="144" y="525"/>
                    </a:lnTo>
                    <a:close/>
                  </a:path>
                </a:pathLst>
              </a:custGeom>
              <a:grpFill/>
              <a:ln>
                <a:noFill/>
              </a:ln>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26" name="Freeform 28"/>
              <p:cNvSpPr>
                <a:spLocks/>
              </p:cNvSpPr>
              <p:nvPr/>
            </p:nvSpPr>
            <p:spPr bwMode="auto">
              <a:xfrm>
                <a:off x="1216093" y="2548966"/>
                <a:ext cx="319606" cy="84791"/>
              </a:xfrm>
              <a:custGeom>
                <a:avLst/>
                <a:gdLst>
                  <a:gd name="T0" fmla="*/ 69 w 85"/>
                  <a:gd name="T1" fmla="*/ 0 h 27"/>
                  <a:gd name="T2" fmla="*/ 69 w 85"/>
                  <a:gd name="T3" fmla="*/ 4 h 27"/>
                  <a:gd name="T4" fmla="*/ 0 w 85"/>
                  <a:gd name="T5" fmla="*/ 4 h 27"/>
                  <a:gd name="T6" fmla="*/ 2 w 85"/>
                  <a:gd name="T7" fmla="*/ 27 h 27"/>
                  <a:gd name="T8" fmla="*/ 7 w 85"/>
                  <a:gd name="T9" fmla="*/ 27 h 27"/>
                  <a:gd name="T10" fmla="*/ 7 w 85"/>
                  <a:gd name="T11" fmla="*/ 16 h 27"/>
                  <a:gd name="T12" fmla="*/ 7 w 85"/>
                  <a:gd name="T13" fmla="*/ 12 h 27"/>
                  <a:gd name="T14" fmla="*/ 11 w 85"/>
                  <a:gd name="T15" fmla="*/ 12 h 27"/>
                  <a:gd name="T16" fmla="*/ 22 w 85"/>
                  <a:gd name="T17" fmla="*/ 12 h 27"/>
                  <a:gd name="T18" fmla="*/ 22 w 85"/>
                  <a:gd name="T19" fmla="*/ 16 h 27"/>
                  <a:gd name="T20" fmla="*/ 11 w 85"/>
                  <a:gd name="T21" fmla="*/ 16 h 27"/>
                  <a:gd name="T22" fmla="*/ 11 w 85"/>
                  <a:gd name="T23" fmla="*/ 27 h 27"/>
                  <a:gd name="T24" fmla="*/ 16 w 85"/>
                  <a:gd name="T25" fmla="*/ 27 h 27"/>
                  <a:gd name="T26" fmla="*/ 14 w 85"/>
                  <a:gd name="T27" fmla="*/ 19 h 27"/>
                  <a:gd name="T28" fmla="*/ 22 w 85"/>
                  <a:gd name="T29" fmla="*/ 19 h 27"/>
                  <a:gd name="T30" fmla="*/ 27 w 85"/>
                  <a:gd name="T31" fmla="*/ 27 h 27"/>
                  <a:gd name="T32" fmla="*/ 30 w 85"/>
                  <a:gd name="T33" fmla="*/ 27 h 27"/>
                  <a:gd name="T34" fmla="*/ 30 w 85"/>
                  <a:gd name="T35" fmla="*/ 16 h 27"/>
                  <a:gd name="T36" fmla="*/ 30 w 85"/>
                  <a:gd name="T37" fmla="*/ 12 h 27"/>
                  <a:gd name="T38" fmla="*/ 34 w 85"/>
                  <a:gd name="T39" fmla="*/ 12 h 27"/>
                  <a:gd name="T40" fmla="*/ 45 w 85"/>
                  <a:gd name="T41" fmla="*/ 12 h 27"/>
                  <a:gd name="T42" fmla="*/ 45 w 85"/>
                  <a:gd name="T43" fmla="*/ 16 h 27"/>
                  <a:gd name="T44" fmla="*/ 34 w 85"/>
                  <a:gd name="T45" fmla="*/ 16 h 27"/>
                  <a:gd name="T46" fmla="*/ 34 w 85"/>
                  <a:gd name="T47" fmla="*/ 27 h 27"/>
                  <a:gd name="T48" fmla="*/ 39 w 85"/>
                  <a:gd name="T49" fmla="*/ 27 h 27"/>
                  <a:gd name="T50" fmla="*/ 37 w 85"/>
                  <a:gd name="T51" fmla="*/ 19 h 27"/>
                  <a:gd name="T52" fmla="*/ 45 w 85"/>
                  <a:gd name="T53" fmla="*/ 19 h 27"/>
                  <a:gd name="T54" fmla="*/ 50 w 85"/>
                  <a:gd name="T55" fmla="*/ 27 h 27"/>
                  <a:gd name="T56" fmla="*/ 53 w 85"/>
                  <a:gd name="T57" fmla="*/ 27 h 27"/>
                  <a:gd name="T58" fmla="*/ 53 w 85"/>
                  <a:gd name="T59" fmla="*/ 16 h 27"/>
                  <a:gd name="T60" fmla="*/ 53 w 85"/>
                  <a:gd name="T61" fmla="*/ 12 h 27"/>
                  <a:gd name="T62" fmla="*/ 57 w 85"/>
                  <a:gd name="T63" fmla="*/ 12 h 27"/>
                  <a:gd name="T64" fmla="*/ 67 w 85"/>
                  <a:gd name="T65" fmla="*/ 12 h 27"/>
                  <a:gd name="T66" fmla="*/ 67 w 85"/>
                  <a:gd name="T67" fmla="*/ 16 h 27"/>
                  <a:gd name="T68" fmla="*/ 57 w 85"/>
                  <a:gd name="T69" fmla="*/ 16 h 27"/>
                  <a:gd name="T70" fmla="*/ 57 w 85"/>
                  <a:gd name="T71" fmla="*/ 27 h 27"/>
                  <a:gd name="T72" fmla="*/ 62 w 85"/>
                  <a:gd name="T73" fmla="*/ 27 h 27"/>
                  <a:gd name="T74" fmla="*/ 59 w 85"/>
                  <a:gd name="T75" fmla="*/ 19 h 27"/>
                  <a:gd name="T76" fmla="*/ 67 w 85"/>
                  <a:gd name="T77" fmla="*/ 19 h 27"/>
                  <a:gd name="T78" fmla="*/ 72 w 85"/>
                  <a:gd name="T79" fmla="*/ 27 h 27"/>
                  <a:gd name="T80" fmla="*/ 85 w 85"/>
                  <a:gd name="T81" fmla="*/ 27 h 27"/>
                  <a:gd name="T82" fmla="*/ 82 w 85"/>
                  <a:gd name="T83" fmla="*/ 0 h 27"/>
                  <a:gd name="T84" fmla="*/ 69 w 85"/>
                  <a:gd name="T85"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5" h="27">
                    <a:moveTo>
                      <a:pt x="69" y="0"/>
                    </a:moveTo>
                    <a:cubicBezTo>
                      <a:pt x="69" y="4"/>
                      <a:pt x="69" y="4"/>
                      <a:pt x="69" y="4"/>
                    </a:cubicBezTo>
                    <a:cubicBezTo>
                      <a:pt x="0" y="4"/>
                      <a:pt x="0" y="4"/>
                      <a:pt x="0" y="4"/>
                    </a:cubicBezTo>
                    <a:cubicBezTo>
                      <a:pt x="2" y="27"/>
                      <a:pt x="2" y="27"/>
                      <a:pt x="2" y="27"/>
                    </a:cubicBezTo>
                    <a:cubicBezTo>
                      <a:pt x="7" y="27"/>
                      <a:pt x="7" y="27"/>
                      <a:pt x="7" y="27"/>
                    </a:cubicBezTo>
                    <a:cubicBezTo>
                      <a:pt x="7" y="16"/>
                      <a:pt x="7" y="16"/>
                      <a:pt x="7" y="16"/>
                    </a:cubicBezTo>
                    <a:cubicBezTo>
                      <a:pt x="7" y="12"/>
                      <a:pt x="7" y="12"/>
                      <a:pt x="7" y="12"/>
                    </a:cubicBezTo>
                    <a:cubicBezTo>
                      <a:pt x="11" y="12"/>
                      <a:pt x="11" y="12"/>
                      <a:pt x="11" y="12"/>
                    </a:cubicBezTo>
                    <a:cubicBezTo>
                      <a:pt x="22" y="12"/>
                      <a:pt x="22" y="12"/>
                      <a:pt x="22" y="12"/>
                    </a:cubicBezTo>
                    <a:cubicBezTo>
                      <a:pt x="22" y="16"/>
                      <a:pt x="22" y="16"/>
                      <a:pt x="22" y="16"/>
                    </a:cubicBezTo>
                    <a:cubicBezTo>
                      <a:pt x="11" y="16"/>
                      <a:pt x="11" y="16"/>
                      <a:pt x="11" y="16"/>
                    </a:cubicBezTo>
                    <a:cubicBezTo>
                      <a:pt x="11" y="27"/>
                      <a:pt x="11" y="27"/>
                      <a:pt x="11" y="27"/>
                    </a:cubicBezTo>
                    <a:cubicBezTo>
                      <a:pt x="16" y="27"/>
                      <a:pt x="16" y="27"/>
                      <a:pt x="16" y="27"/>
                    </a:cubicBezTo>
                    <a:cubicBezTo>
                      <a:pt x="15" y="21"/>
                      <a:pt x="14" y="19"/>
                      <a:pt x="14" y="19"/>
                    </a:cubicBezTo>
                    <a:cubicBezTo>
                      <a:pt x="22" y="19"/>
                      <a:pt x="22" y="19"/>
                      <a:pt x="22" y="19"/>
                    </a:cubicBezTo>
                    <a:cubicBezTo>
                      <a:pt x="22" y="19"/>
                      <a:pt x="24" y="21"/>
                      <a:pt x="27" y="27"/>
                    </a:cubicBezTo>
                    <a:cubicBezTo>
                      <a:pt x="30" y="27"/>
                      <a:pt x="30" y="27"/>
                      <a:pt x="30" y="27"/>
                    </a:cubicBezTo>
                    <a:cubicBezTo>
                      <a:pt x="30" y="16"/>
                      <a:pt x="30" y="16"/>
                      <a:pt x="30" y="16"/>
                    </a:cubicBezTo>
                    <a:cubicBezTo>
                      <a:pt x="30" y="12"/>
                      <a:pt x="30" y="12"/>
                      <a:pt x="30" y="12"/>
                    </a:cubicBezTo>
                    <a:cubicBezTo>
                      <a:pt x="34" y="12"/>
                      <a:pt x="34" y="12"/>
                      <a:pt x="34" y="12"/>
                    </a:cubicBezTo>
                    <a:cubicBezTo>
                      <a:pt x="45" y="12"/>
                      <a:pt x="45" y="12"/>
                      <a:pt x="45" y="12"/>
                    </a:cubicBezTo>
                    <a:cubicBezTo>
                      <a:pt x="45" y="16"/>
                      <a:pt x="45" y="16"/>
                      <a:pt x="45" y="16"/>
                    </a:cubicBezTo>
                    <a:cubicBezTo>
                      <a:pt x="34" y="16"/>
                      <a:pt x="34" y="16"/>
                      <a:pt x="34" y="16"/>
                    </a:cubicBezTo>
                    <a:cubicBezTo>
                      <a:pt x="34" y="27"/>
                      <a:pt x="34" y="27"/>
                      <a:pt x="34" y="27"/>
                    </a:cubicBezTo>
                    <a:cubicBezTo>
                      <a:pt x="39" y="27"/>
                      <a:pt x="39" y="27"/>
                      <a:pt x="39" y="27"/>
                    </a:cubicBezTo>
                    <a:cubicBezTo>
                      <a:pt x="38" y="21"/>
                      <a:pt x="37" y="19"/>
                      <a:pt x="37" y="19"/>
                    </a:cubicBezTo>
                    <a:cubicBezTo>
                      <a:pt x="45" y="19"/>
                      <a:pt x="45" y="19"/>
                      <a:pt x="45" y="19"/>
                    </a:cubicBezTo>
                    <a:cubicBezTo>
                      <a:pt x="45" y="19"/>
                      <a:pt x="47" y="21"/>
                      <a:pt x="50" y="27"/>
                    </a:cubicBezTo>
                    <a:cubicBezTo>
                      <a:pt x="53" y="27"/>
                      <a:pt x="53" y="27"/>
                      <a:pt x="53" y="27"/>
                    </a:cubicBezTo>
                    <a:cubicBezTo>
                      <a:pt x="53" y="16"/>
                      <a:pt x="53" y="16"/>
                      <a:pt x="53" y="16"/>
                    </a:cubicBezTo>
                    <a:cubicBezTo>
                      <a:pt x="53" y="12"/>
                      <a:pt x="53" y="12"/>
                      <a:pt x="53" y="12"/>
                    </a:cubicBezTo>
                    <a:cubicBezTo>
                      <a:pt x="57" y="12"/>
                      <a:pt x="57" y="12"/>
                      <a:pt x="57" y="12"/>
                    </a:cubicBezTo>
                    <a:cubicBezTo>
                      <a:pt x="67" y="12"/>
                      <a:pt x="67" y="12"/>
                      <a:pt x="67" y="12"/>
                    </a:cubicBezTo>
                    <a:cubicBezTo>
                      <a:pt x="67" y="16"/>
                      <a:pt x="67" y="16"/>
                      <a:pt x="67" y="16"/>
                    </a:cubicBezTo>
                    <a:cubicBezTo>
                      <a:pt x="57" y="16"/>
                      <a:pt x="57" y="16"/>
                      <a:pt x="57" y="16"/>
                    </a:cubicBezTo>
                    <a:cubicBezTo>
                      <a:pt x="57" y="27"/>
                      <a:pt x="57" y="27"/>
                      <a:pt x="57" y="27"/>
                    </a:cubicBezTo>
                    <a:cubicBezTo>
                      <a:pt x="62" y="27"/>
                      <a:pt x="62" y="27"/>
                      <a:pt x="62" y="27"/>
                    </a:cubicBezTo>
                    <a:cubicBezTo>
                      <a:pt x="60" y="21"/>
                      <a:pt x="59" y="19"/>
                      <a:pt x="59" y="19"/>
                    </a:cubicBezTo>
                    <a:cubicBezTo>
                      <a:pt x="67" y="19"/>
                      <a:pt x="67" y="19"/>
                      <a:pt x="67" y="19"/>
                    </a:cubicBezTo>
                    <a:cubicBezTo>
                      <a:pt x="67" y="19"/>
                      <a:pt x="69" y="21"/>
                      <a:pt x="72" y="27"/>
                    </a:cubicBezTo>
                    <a:cubicBezTo>
                      <a:pt x="85" y="27"/>
                      <a:pt x="85" y="27"/>
                      <a:pt x="85" y="27"/>
                    </a:cubicBezTo>
                    <a:cubicBezTo>
                      <a:pt x="82" y="0"/>
                      <a:pt x="82" y="0"/>
                      <a:pt x="82" y="0"/>
                    </a:cubicBezTo>
                    <a:lnTo>
                      <a:pt x="69" y="0"/>
                    </a:lnTo>
                    <a:close/>
                  </a:path>
                </a:pathLst>
              </a:custGeom>
              <a:grpFill/>
              <a:ln>
                <a:noFill/>
              </a:ln>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27" name="Freeform 29"/>
              <p:cNvSpPr>
                <a:spLocks/>
              </p:cNvSpPr>
              <p:nvPr/>
            </p:nvSpPr>
            <p:spPr bwMode="auto">
              <a:xfrm>
                <a:off x="1223584" y="2633757"/>
                <a:ext cx="342702" cy="188310"/>
              </a:xfrm>
              <a:custGeom>
                <a:avLst/>
                <a:gdLst>
                  <a:gd name="T0" fmla="*/ 84 w 91"/>
                  <a:gd name="T1" fmla="*/ 56 h 60"/>
                  <a:gd name="T2" fmla="*/ 65 w 91"/>
                  <a:gd name="T3" fmla="*/ 56 h 60"/>
                  <a:gd name="T4" fmla="*/ 60 w 91"/>
                  <a:gd name="T5" fmla="*/ 0 h 60"/>
                  <a:gd name="T6" fmla="*/ 55 w 91"/>
                  <a:gd name="T7" fmla="*/ 0 h 60"/>
                  <a:gd name="T8" fmla="*/ 51 w 91"/>
                  <a:gd name="T9" fmla="*/ 0 h 60"/>
                  <a:gd name="T10" fmla="*/ 48 w 91"/>
                  <a:gd name="T11" fmla="*/ 0 h 60"/>
                  <a:gd name="T12" fmla="*/ 61 w 91"/>
                  <a:gd name="T13" fmla="*/ 56 h 60"/>
                  <a:gd name="T14" fmla="*/ 43 w 91"/>
                  <a:gd name="T15" fmla="*/ 56 h 60"/>
                  <a:gd name="T16" fmla="*/ 37 w 91"/>
                  <a:gd name="T17" fmla="*/ 0 h 60"/>
                  <a:gd name="T18" fmla="*/ 32 w 91"/>
                  <a:gd name="T19" fmla="*/ 0 h 60"/>
                  <a:gd name="T20" fmla="*/ 28 w 91"/>
                  <a:gd name="T21" fmla="*/ 0 h 60"/>
                  <a:gd name="T22" fmla="*/ 25 w 91"/>
                  <a:gd name="T23" fmla="*/ 0 h 60"/>
                  <a:gd name="T24" fmla="*/ 39 w 91"/>
                  <a:gd name="T25" fmla="*/ 56 h 60"/>
                  <a:gd name="T26" fmla="*/ 20 w 91"/>
                  <a:gd name="T27" fmla="*/ 56 h 60"/>
                  <a:gd name="T28" fmla="*/ 14 w 91"/>
                  <a:gd name="T29" fmla="*/ 0 h 60"/>
                  <a:gd name="T30" fmla="*/ 9 w 91"/>
                  <a:gd name="T31" fmla="*/ 0 h 60"/>
                  <a:gd name="T32" fmla="*/ 5 w 91"/>
                  <a:gd name="T33" fmla="*/ 0 h 60"/>
                  <a:gd name="T34" fmla="*/ 0 w 91"/>
                  <a:gd name="T35" fmla="*/ 0 h 60"/>
                  <a:gd name="T36" fmla="*/ 8 w 91"/>
                  <a:gd name="T37" fmla="*/ 60 h 60"/>
                  <a:gd name="T38" fmla="*/ 67 w 91"/>
                  <a:gd name="T39" fmla="*/ 60 h 60"/>
                  <a:gd name="T40" fmla="*/ 71 w 91"/>
                  <a:gd name="T41" fmla="*/ 60 h 60"/>
                  <a:gd name="T42" fmla="*/ 91 w 91"/>
                  <a:gd name="T43" fmla="*/ 60 h 60"/>
                  <a:gd name="T44" fmla="*/ 83 w 91"/>
                  <a:gd name="T45" fmla="*/ 0 h 60"/>
                  <a:gd name="T46" fmla="*/ 70 w 91"/>
                  <a:gd name="T47" fmla="*/ 0 h 60"/>
                  <a:gd name="T48" fmla="*/ 84 w 91"/>
                  <a:gd name="T49"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60">
                    <a:moveTo>
                      <a:pt x="84" y="56"/>
                    </a:moveTo>
                    <a:cubicBezTo>
                      <a:pt x="65" y="56"/>
                      <a:pt x="65" y="56"/>
                      <a:pt x="65" y="56"/>
                    </a:cubicBezTo>
                    <a:cubicBezTo>
                      <a:pt x="65" y="27"/>
                      <a:pt x="62" y="9"/>
                      <a:pt x="60" y="0"/>
                    </a:cubicBezTo>
                    <a:cubicBezTo>
                      <a:pt x="55" y="0"/>
                      <a:pt x="55" y="0"/>
                      <a:pt x="55" y="0"/>
                    </a:cubicBezTo>
                    <a:cubicBezTo>
                      <a:pt x="51" y="0"/>
                      <a:pt x="51" y="0"/>
                      <a:pt x="51" y="0"/>
                    </a:cubicBezTo>
                    <a:cubicBezTo>
                      <a:pt x="48" y="0"/>
                      <a:pt x="48" y="0"/>
                      <a:pt x="48" y="0"/>
                    </a:cubicBezTo>
                    <a:cubicBezTo>
                      <a:pt x="53" y="10"/>
                      <a:pt x="61" y="30"/>
                      <a:pt x="61" y="56"/>
                    </a:cubicBezTo>
                    <a:cubicBezTo>
                      <a:pt x="43" y="56"/>
                      <a:pt x="43" y="56"/>
                      <a:pt x="43" y="56"/>
                    </a:cubicBezTo>
                    <a:cubicBezTo>
                      <a:pt x="43" y="27"/>
                      <a:pt x="39" y="9"/>
                      <a:pt x="37" y="0"/>
                    </a:cubicBezTo>
                    <a:cubicBezTo>
                      <a:pt x="32" y="0"/>
                      <a:pt x="32" y="0"/>
                      <a:pt x="32" y="0"/>
                    </a:cubicBezTo>
                    <a:cubicBezTo>
                      <a:pt x="28" y="0"/>
                      <a:pt x="28" y="0"/>
                      <a:pt x="28" y="0"/>
                    </a:cubicBezTo>
                    <a:cubicBezTo>
                      <a:pt x="25" y="0"/>
                      <a:pt x="25" y="0"/>
                      <a:pt x="25" y="0"/>
                    </a:cubicBezTo>
                    <a:cubicBezTo>
                      <a:pt x="30" y="10"/>
                      <a:pt x="39" y="30"/>
                      <a:pt x="39" y="56"/>
                    </a:cubicBezTo>
                    <a:cubicBezTo>
                      <a:pt x="20" y="56"/>
                      <a:pt x="20" y="56"/>
                      <a:pt x="20" y="56"/>
                    </a:cubicBezTo>
                    <a:cubicBezTo>
                      <a:pt x="20" y="27"/>
                      <a:pt x="17" y="9"/>
                      <a:pt x="14" y="0"/>
                    </a:cubicBezTo>
                    <a:cubicBezTo>
                      <a:pt x="9" y="0"/>
                      <a:pt x="9" y="0"/>
                      <a:pt x="9" y="0"/>
                    </a:cubicBezTo>
                    <a:cubicBezTo>
                      <a:pt x="5" y="0"/>
                      <a:pt x="5" y="0"/>
                      <a:pt x="5" y="0"/>
                    </a:cubicBezTo>
                    <a:cubicBezTo>
                      <a:pt x="0" y="0"/>
                      <a:pt x="0" y="0"/>
                      <a:pt x="0" y="0"/>
                    </a:cubicBezTo>
                    <a:cubicBezTo>
                      <a:pt x="8" y="60"/>
                      <a:pt x="8" y="60"/>
                      <a:pt x="8" y="60"/>
                    </a:cubicBezTo>
                    <a:cubicBezTo>
                      <a:pt x="67" y="60"/>
                      <a:pt x="67" y="60"/>
                      <a:pt x="67" y="60"/>
                    </a:cubicBezTo>
                    <a:cubicBezTo>
                      <a:pt x="71" y="60"/>
                      <a:pt x="71" y="60"/>
                      <a:pt x="71" y="60"/>
                    </a:cubicBezTo>
                    <a:cubicBezTo>
                      <a:pt x="91" y="60"/>
                      <a:pt x="91" y="60"/>
                      <a:pt x="91" y="60"/>
                    </a:cubicBezTo>
                    <a:cubicBezTo>
                      <a:pt x="83" y="0"/>
                      <a:pt x="83" y="0"/>
                      <a:pt x="83" y="0"/>
                    </a:cubicBezTo>
                    <a:cubicBezTo>
                      <a:pt x="70" y="0"/>
                      <a:pt x="70" y="0"/>
                      <a:pt x="70" y="0"/>
                    </a:cubicBezTo>
                    <a:cubicBezTo>
                      <a:pt x="76" y="10"/>
                      <a:pt x="84" y="30"/>
                      <a:pt x="84" y="56"/>
                    </a:cubicBezTo>
                    <a:close/>
                  </a:path>
                </a:pathLst>
              </a:custGeom>
              <a:grpFill/>
              <a:ln>
                <a:noFill/>
              </a:ln>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grpSp>
        <p:grpSp>
          <p:nvGrpSpPr>
            <p:cNvPr id="8" name="Group 7"/>
            <p:cNvGrpSpPr>
              <a:grpSpLocks noChangeAspect="1"/>
            </p:cNvGrpSpPr>
            <p:nvPr/>
          </p:nvGrpSpPr>
          <p:grpSpPr>
            <a:xfrm>
              <a:off x="1716756" y="2245760"/>
              <a:ext cx="455076" cy="473478"/>
              <a:chOff x="610539" y="3494734"/>
              <a:chExt cx="888821" cy="924761"/>
            </a:xfrm>
            <a:grpFill/>
          </p:grpSpPr>
          <p:grpSp>
            <p:nvGrpSpPr>
              <p:cNvPr id="19" name="Group 18"/>
              <p:cNvGrpSpPr/>
              <p:nvPr/>
            </p:nvGrpSpPr>
            <p:grpSpPr>
              <a:xfrm>
                <a:off x="902885" y="3494734"/>
                <a:ext cx="596475" cy="924761"/>
                <a:chOff x="9962062" y="2023153"/>
                <a:chExt cx="339328" cy="526086"/>
              </a:xfrm>
              <a:grpFill/>
            </p:grpSpPr>
            <p:sp>
              <p:nvSpPr>
                <p:cNvPr id="23" name="object 127"/>
                <p:cNvSpPr/>
                <p:nvPr/>
              </p:nvSpPr>
              <p:spPr>
                <a:xfrm>
                  <a:off x="9962062" y="2023153"/>
                  <a:ext cx="339328" cy="315516"/>
                </a:xfrm>
                <a:custGeom>
                  <a:avLst/>
                  <a:gdLst/>
                  <a:ahLst/>
                  <a:cxnLst/>
                  <a:rect l="l" t="t" r="r" b="b"/>
                  <a:pathLst>
                    <a:path w="217169" h="201929">
                      <a:moveTo>
                        <a:pt x="50926" y="126568"/>
                      </a:moveTo>
                      <a:lnTo>
                        <a:pt x="49999" y="126898"/>
                      </a:lnTo>
                      <a:lnTo>
                        <a:pt x="33319" y="147053"/>
                      </a:lnTo>
                      <a:lnTo>
                        <a:pt x="0" y="187134"/>
                      </a:lnTo>
                      <a:lnTo>
                        <a:pt x="8635" y="201333"/>
                      </a:lnTo>
                      <a:lnTo>
                        <a:pt x="9829" y="200621"/>
                      </a:lnTo>
                      <a:lnTo>
                        <a:pt x="88582" y="147053"/>
                      </a:lnTo>
                      <a:lnTo>
                        <a:pt x="89877" y="147015"/>
                      </a:lnTo>
                      <a:lnTo>
                        <a:pt x="118959" y="147015"/>
                      </a:lnTo>
                      <a:lnTo>
                        <a:pt x="123024" y="144894"/>
                      </a:lnTo>
                      <a:lnTo>
                        <a:pt x="123977" y="144106"/>
                      </a:lnTo>
                      <a:lnTo>
                        <a:pt x="124790" y="142468"/>
                      </a:lnTo>
                      <a:lnTo>
                        <a:pt x="158476" y="142468"/>
                      </a:lnTo>
                      <a:lnTo>
                        <a:pt x="150022" y="137591"/>
                      </a:lnTo>
                      <a:lnTo>
                        <a:pt x="74040" y="137591"/>
                      </a:lnTo>
                      <a:lnTo>
                        <a:pt x="64922" y="132994"/>
                      </a:lnTo>
                      <a:lnTo>
                        <a:pt x="58762" y="130416"/>
                      </a:lnTo>
                      <a:lnTo>
                        <a:pt x="50926" y="126568"/>
                      </a:lnTo>
                      <a:close/>
                    </a:path>
                    <a:path w="217169" h="201929">
                      <a:moveTo>
                        <a:pt x="163099" y="145135"/>
                      </a:moveTo>
                      <a:lnTo>
                        <a:pt x="131241" y="145135"/>
                      </a:lnTo>
                      <a:lnTo>
                        <a:pt x="131013" y="155409"/>
                      </a:lnTo>
                      <a:lnTo>
                        <a:pt x="131394" y="162090"/>
                      </a:lnTo>
                      <a:lnTo>
                        <a:pt x="131381" y="170827"/>
                      </a:lnTo>
                      <a:lnTo>
                        <a:pt x="132168" y="171538"/>
                      </a:lnTo>
                      <a:lnTo>
                        <a:pt x="141439" y="173672"/>
                      </a:lnTo>
                      <a:lnTo>
                        <a:pt x="148729" y="175564"/>
                      </a:lnTo>
                      <a:lnTo>
                        <a:pt x="206705" y="189928"/>
                      </a:lnTo>
                      <a:lnTo>
                        <a:pt x="208368" y="189534"/>
                      </a:lnTo>
                      <a:lnTo>
                        <a:pt x="211696" y="184835"/>
                      </a:lnTo>
                      <a:lnTo>
                        <a:pt x="214287" y="180644"/>
                      </a:lnTo>
                      <a:lnTo>
                        <a:pt x="217068" y="176364"/>
                      </a:lnTo>
                      <a:lnTo>
                        <a:pt x="216115" y="175780"/>
                      </a:lnTo>
                      <a:lnTo>
                        <a:pt x="215315" y="175259"/>
                      </a:lnTo>
                      <a:lnTo>
                        <a:pt x="163099" y="145135"/>
                      </a:lnTo>
                      <a:close/>
                    </a:path>
                    <a:path w="217169" h="201929">
                      <a:moveTo>
                        <a:pt x="118959" y="147015"/>
                      </a:moveTo>
                      <a:lnTo>
                        <a:pt x="89877" y="147015"/>
                      </a:lnTo>
                      <a:lnTo>
                        <a:pt x="100076" y="151042"/>
                      </a:lnTo>
                      <a:lnTo>
                        <a:pt x="112111" y="150587"/>
                      </a:lnTo>
                      <a:lnTo>
                        <a:pt x="118959" y="147015"/>
                      </a:lnTo>
                      <a:close/>
                    </a:path>
                    <a:path w="217169" h="201929">
                      <a:moveTo>
                        <a:pt x="158476" y="142468"/>
                      </a:moveTo>
                      <a:lnTo>
                        <a:pt x="124790" y="142468"/>
                      </a:lnTo>
                      <a:lnTo>
                        <a:pt x="128155" y="145237"/>
                      </a:lnTo>
                      <a:lnTo>
                        <a:pt x="131241" y="145135"/>
                      </a:lnTo>
                      <a:lnTo>
                        <a:pt x="163099" y="145135"/>
                      </a:lnTo>
                      <a:lnTo>
                        <a:pt x="158476" y="142468"/>
                      </a:lnTo>
                      <a:close/>
                    </a:path>
                    <a:path w="217169" h="201929">
                      <a:moveTo>
                        <a:pt x="94627" y="0"/>
                      </a:moveTo>
                      <a:lnTo>
                        <a:pt x="94640" y="96583"/>
                      </a:lnTo>
                      <a:lnTo>
                        <a:pt x="94322" y="97574"/>
                      </a:lnTo>
                      <a:lnTo>
                        <a:pt x="82778" y="106445"/>
                      </a:lnTo>
                      <a:lnTo>
                        <a:pt x="77754" y="117297"/>
                      </a:lnTo>
                      <a:lnTo>
                        <a:pt x="77684" y="123443"/>
                      </a:lnTo>
                      <a:lnTo>
                        <a:pt x="77788" y="130416"/>
                      </a:lnTo>
                      <a:lnTo>
                        <a:pt x="78016" y="131419"/>
                      </a:lnTo>
                      <a:lnTo>
                        <a:pt x="78028" y="133324"/>
                      </a:lnTo>
                      <a:lnTo>
                        <a:pt x="75514" y="135051"/>
                      </a:lnTo>
                      <a:lnTo>
                        <a:pt x="74040" y="137591"/>
                      </a:lnTo>
                      <a:lnTo>
                        <a:pt x="150022" y="137591"/>
                      </a:lnTo>
                      <a:lnTo>
                        <a:pt x="145091" y="134746"/>
                      </a:lnTo>
                      <a:lnTo>
                        <a:pt x="111023" y="134746"/>
                      </a:lnTo>
                      <a:lnTo>
                        <a:pt x="98844" y="134531"/>
                      </a:lnTo>
                      <a:lnTo>
                        <a:pt x="93878" y="129527"/>
                      </a:lnTo>
                      <a:lnTo>
                        <a:pt x="93891" y="117297"/>
                      </a:lnTo>
                      <a:lnTo>
                        <a:pt x="98996" y="112229"/>
                      </a:lnTo>
                      <a:lnTo>
                        <a:pt x="131106" y="112229"/>
                      </a:lnTo>
                      <a:lnTo>
                        <a:pt x="124523" y="102158"/>
                      </a:lnTo>
                      <a:lnTo>
                        <a:pt x="118897" y="98272"/>
                      </a:lnTo>
                      <a:lnTo>
                        <a:pt x="111861" y="96227"/>
                      </a:lnTo>
                      <a:lnTo>
                        <a:pt x="111975" y="94373"/>
                      </a:lnTo>
                      <a:lnTo>
                        <a:pt x="111366" y="90589"/>
                      </a:lnTo>
                      <a:lnTo>
                        <a:pt x="112547" y="88823"/>
                      </a:lnTo>
                      <a:lnTo>
                        <a:pt x="120535" y="84454"/>
                      </a:lnTo>
                      <a:lnTo>
                        <a:pt x="125615" y="81064"/>
                      </a:lnTo>
                      <a:lnTo>
                        <a:pt x="132867" y="76987"/>
                      </a:lnTo>
                      <a:lnTo>
                        <a:pt x="133083" y="75933"/>
                      </a:lnTo>
                      <a:lnTo>
                        <a:pt x="130873" y="68986"/>
                      </a:lnTo>
                      <a:lnTo>
                        <a:pt x="129539" y="63944"/>
                      </a:lnTo>
                      <a:lnTo>
                        <a:pt x="111747" y="2362"/>
                      </a:lnTo>
                      <a:lnTo>
                        <a:pt x="100063" y="266"/>
                      </a:lnTo>
                      <a:lnTo>
                        <a:pt x="94627" y="0"/>
                      </a:lnTo>
                      <a:close/>
                    </a:path>
                    <a:path w="217169" h="201929">
                      <a:moveTo>
                        <a:pt x="131106" y="112229"/>
                      </a:moveTo>
                      <a:lnTo>
                        <a:pt x="98996" y="112229"/>
                      </a:lnTo>
                      <a:lnTo>
                        <a:pt x="111264" y="112420"/>
                      </a:lnTo>
                      <a:lnTo>
                        <a:pt x="116065" y="117297"/>
                      </a:lnTo>
                      <a:lnTo>
                        <a:pt x="116090" y="129666"/>
                      </a:lnTo>
                      <a:lnTo>
                        <a:pt x="111023" y="134746"/>
                      </a:lnTo>
                      <a:lnTo>
                        <a:pt x="145091" y="134746"/>
                      </a:lnTo>
                      <a:lnTo>
                        <a:pt x="133578" y="128104"/>
                      </a:lnTo>
                      <a:lnTo>
                        <a:pt x="132664" y="127139"/>
                      </a:lnTo>
                      <a:lnTo>
                        <a:pt x="133349" y="118783"/>
                      </a:lnTo>
                      <a:lnTo>
                        <a:pt x="131762" y="113233"/>
                      </a:lnTo>
                      <a:lnTo>
                        <a:pt x="131106" y="112229"/>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24" name="object 128"/>
                <p:cNvSpPr/>
                <p:nvPr/>
              </p:nvSpPr>
              <p:spPr>
                <a:xfrm>
                  <a:off x="10090585" y="2270434"/>
                  <a:ext cx="70445" cy="278805"/>
                </a:xfrm>
                <a:custGeom>
                  <a:avLst/>
                  <a:gdLst/>
                  <a:ahLst/>
                  <a:cxnLst/>
                  <a:rect l="l" t="t" r="r" b="b"/>
                  <a:pathLst>
                    <a:path w="45085" h="178435">
                      <a:moveTo>
                        <a:pt x="13690" y="0"/>
                      </a:moveTo>
                      <a:lnTo>
                        <a:pt x="12941" y="825"/>
                      </a:lnTo>
                      <a:lnTo>
                        <a:pt x="12246" y="16155"/>
                      </a:lnTo>
                      <a:lnTo>
                        <a:pt x="11008" y="41525"/>
                      </a:lnTo>
                      <a:lnTo>
                        <a:pt x="9660" y="96743"/>
                      </a:lnTo>
                      <a:lnTo>
                        <a:pt x="9180" y="148497"/>
                      </a:lnTo>
                      <a:lnTo>
                        <a:pt x="0" y="150863"/>
                      </a:lnTo>
                      <a:lnTo>
                        <a:pt x="0" y="178384"/>
                      </a:lnTo>
                      <a:lnTo>
                        <a:pt x="44602" y="178384"/>
                      </a:lnTo>
                      <a:lnTo>
                        <a:pt x="44602" y="150863"/>
                      </a:lnTo>
                      <a:lnTo>
                        <a:pt x="40322" y="150863"/>
                      </a:lnTo>
                      <a:lnTo>
                        <a:pt x="38658" y="145662"/>
                      </a:lnTo>
                      <a:lnTo>
                        <a:pt x="37519" y="132485"/>
                      </a:lnTo>
                      <a:lnTo>
                        <a:pt x="36797" y="114966"/>
                      </a:lnTo>
                      <a:lnTo>
                        <a:pt x="36388" y="96743"/>
                      </a:lnTo>
                      <a:lnTo>
                        <a:pt x="36075" y="72725"/>
                      </a:lnTo>
                      <a:lnTo>
                        <a:pt x="34203" y="34510"/>
                      </a:lnTo>
                      <a:lnTo>
                        <a:pt x="33197" y="14414"/>
                      </a:lnTo>
                      <a:lnTo>
                        <a:pt x="32753" y="7480"/>
                      </a:lnTo>
                      <a:lnTo>
                        <a:pt x="32341" y="292"/>
                      </a:lnTo>
                      <a:lnTo>
                        <a:pt x="21602" y="292"/>
                      </a:lnTo>
                      <a:lnTo>
                        <a:pt x="13690" y="0"/>
                      </a:lnTo>
                      <a:close/>
                    </a:path>
                    <a:path w="45085" h="178435">
                      <a:moveTo>
                        <a:pt x="32334" y="165"/>
                      </a:moveTo>
                      <a:lnTo>
                        <a:pt x="21602" y="292"/>
                      </a:lnTo>
                      <a:lnTo>
                        <a:pt x="32341" y="292"/>
                      </a:lnTo>
                      <a:close/>
                    </a:path>
                  </a:pathLst>
                </a:custGeom>
                <a:grpFill/>
              </p:spPr>
              <p:txBody>
                <a:bodyPr wrap="square" lIns="0" tIns="0" rIns="0" bIns="0" rtlCol="0"/>
                <a:lstStyle/>
                <a:p>
                  <a:pPr defTabSz="711981">
                    <a:defRPr/>
                  </a:pPr>
                  <a:endParaRPr sz="1400" kern="0" dirty="0">
                    <a:solidFill>
                      <a:prstClr val="white"/>
                    </a:solidFill>
                    <a:latin typeface="+mj-lt"/>
                  </a:endParaRPr>
                </a:p>
              </p:txBody>
            </p:sp>
          </p:grpSp>
          <p:grpSp>
            <p:nvGrpSpPr>
              <p:cNvPr id="20" name="Group 19"/>
              <p:cNvGrpSpPr/>
              <p:nvPr/>
            </p:nvGrpSpPr>
            <p:grpSpPr>
              <a:xfrm>
                <a:off x="610539" y="3834672"/>
                <a:ext cx="376720" cy="584823"/>
                <a:chOff x="10249790" y="2217153"/>
                <a:chExt cx="214312" cy="332699"/>
              </a:xfrm>
              <a:grpFill/>
            </p:grpSpPr>
            <p:sp>
              <p:nvSpPr>
                <p:cNvPr id="21" name="object 129"/>
                <p:cNvSpPr/>
                <p:nvPr/>
              </p:nvSpPr>
              <p:spPr>
                <a:xfrm>
                  <a:off x="10249790" y="2217153"/>
                  <a:ext cx="214312" cy="199430"/>
                </a:xfrm>
                <a:custGeom>
                  <a:avLst/>
                  <a:gdLst/>
                  <a:ahLst/>
                  <a:cxnLst/>
                  <a:rect l="l" t="t" r="r" b="b"/>
                  <a:pathLst>
                    <a:path w="137160" h="127635">
                      <a:moveTo>
                        <a:pt x="32143" y="79882"/>
                      </a:moveTo>
                      <a:lnTo>
                        <a:pt x="31559" y="80086"/>
                      </a:lnTo>
                      <a:lnTo>
                        <a:pt x="21034" y="92811"/>
                      </a:lnTo>
                      <a:lnTo>
                        <a:pt x="0" y="118122"/>
                      </a:lnTo>
                      <a:lnTo>
                        <a:pt x="5448" y="127076"/>
                      </a:lnTo>
                      <a:lnTo>
                        <a:pt x="6197" y="126631"/>
                      </a:lnTo>
                      <a:lnTo>
                        <a:pt x="55905" y="92811"/>
                      </a:lnTo>
                      <a:lnTo>
                        <a:pt x="56730" y="92786"/>
                      </a:lnTo>
                      <a:lnTo>
                        <a:pt x="76065" y="92786"/>
                      </a:lnTo>
                      <a:lnTo>
                        <a:pt x="78244" y="90957"/>
                      </a:lnTo>
                      <a:lnTo>
                        <a:pt x="78765" y="89928"/>
                      </a:lnTo>
                      <a:lnTo>
                        <a:pt x="100042" y="89928"/>
                      </a:lnTo>
                      <a:lnTo>
                        <a:pt x="94693" y="86842"/>
                      </a:lnTo>
                      <a:lnTo>
                        <a:pt x="46736" y="86842"/>
                      </a:lnTo>
                      <a:lnTo>
                        <a:pt x="40982" y="83934"/>
                      </a:lnTo>
                      <a:lnTo>
                        <a:pt x="37084" y="82321"/>
                      </a:lnTo>
                      <a:lnTo>
                        <a:pt x="32143" y="79882"/>
                      </a:lnTo>
                      <a:close/>
                    </a:path>
                    <a:path w="137160" h="127635">
                      <a:moveTo>
                        <a:pt x="102948" y="91605"/>
                      </a:moveTo>
                      <a:lnTo>
                        <a:pt x="82842" y="91605"/>
                      </a:lnTo>
                      <a:lnTo>
                        <a:pt x="82702" y="98082"/>
                      </a:lnTo>
                      <a:lnTo>
                        <a:pt x="82931" y="102311"/>
                      </a:lnTo>
                      <a:lnTo>
                        <a:pt x="83042" y="107923"/>
                      </a:lnTo>
                      <a:lnTo>
                        <a:pt x="83426" y="108267"/>
                      </a:lnTo>
                      <a:lnTo>
                        <a:pt x="89281" y="109613"/>
                      </a:lnTo>
                      <a:lnTo>
                        <a:pt x="93878" y="110807"/>
                      </a:lnTo>
                      <a:lnTo>
                        <a:pt x="130467" y="119887"/>
                      </a:lnTo>
                      <a:lnTo>
                        <a:pt x="131521" y="119633"/>
                      </a:lnTo>
                      <a:lnTo>
                        <a:pt x="133629" y="116662"/>
                      </a:lnTo>
                      <a:lnTo>
                        <a:pt x="135255" y="114020"/>
                      </a:lnTo>
                      <a:lnTo>
                        <a:pt x="137007" y="111315"/>
                      </a:lnTo>
                      <a:lnTo>
                        <a:pt x="135902" y="110616"/>
                      </a:lnTo>
                      <a:lnTo>
                        <a:pt x="102948" y="91605"/>
                      </a:lnTo>
                      <a:close/>
                    </a:path>
                    <a:path w="137160" h="127635">
                      <a:moveTo>
                        <a:pt x="76065" y="92786"/>
                      </a:moveTo>
                      <a:lnTo>
                        <a:pt x="56730" y="92786"/>
                      </a:lnTo>
                      <a:lnTo>
                        <a:pt x="64389" y="96977"/>
                      </a:lnTo>
                      <a:lnTo>
                        <a:pt x="72085" y="96126"/>
                      </a:lnTo>
                      <a:lnTo>
                        <a:pt x="76065" y="92786"/>
                      </a:lnTo>
                      <a:close/>
                    </a:path>
                    <a:path w="137160" h="127635">
                      <a:moveTo>
                        <a:pt x="100042" y="89928"/>
                      </a:moveTo>
                      <a:lnTo>
                        <a:pt x="78765" y="89928"/>
                      </a:lnTo>
                      <a:lnTo>
                        <a:pt x="80899" y="91668"/>
                      </a:lnTo>
                      <a:lnTo>
                        <a:pt x="82842" y="91605"/>
                      </a:lnTo>
                      <a:lnTo>
                        <a:pt x="102948" y="91605"/>
                      </a:lnTo>
                      <a:lnTo>
                        <a:pt x="100042" y="89928"/>
                      </a:lnTo>
                      <a:close/>
                    </a:path>
                    <a:path w="137160" h="127635">
                      <a:moveTo>
                        <a:pt x="59728" y="0"/>
                      </a:moveTo>
                      <a:lnTo>
                        <a:pt x="59740" y="60959"/>
                      </a:lnTo>
                      <a:lnTo>
                        <a:pt x="59537" y="61582"/>
                      </a:lnTo>
                      <a:lnTo>
                        <a:pt x="50914" y="65874"/>
                      </a:lnTo>
                      <a:lnTo>
                        <a:pt x="47180" y="74066"/>
                      </a:lnTo>
                      <a:lnTo>
                        <a:pt x="49250" y="82943"/>
                      </a:lnTo>
                      <a:lnTo>
                        <a:pt x="49250" y="84150"/>
                      </a:lnTo>
                      <a:lnTo>
                        <a:pt x="47663" y="85242"/>
                      </a:lnTo>
                      <a:lnTo>
                        <a:pt x="46736" y="86842"/>
                      </a:lnTo>
                      <a:lnTo>
                        <a:pt x="94693" y="86842"/>
                      </a:lnTo>
                      <a:lnTo>
                        <a:pt x="91589" y="85051"/>
                      </a:lnTo>
                      <a:lnTo>
                        <a:pt x="70078" y="85051"/>
                      </a:lnTo>
                      <a:lnTo>
                        <a:pt x="62382" y="84912"/>
                      </a:lnTo>
                      <a:lnTo>
                        <a:pt x="59358" y="81851"/>
                      </a:lnTo>
                      <a:lnTo>
                        <a:pt x="59271" y="74028"/>
                      </a:lnTo>
                      <a:lnTo>
                        <a:pt x="62484" y="70840"/>
                      </a:lnTo>
                      <a:lnTo>
                        <a:pt x="82760" y="70840"/>
                      </a:lnTo>
                      <a:lnTo>
                        <a:pt x="78587" y="64477"/>
                      </a:lnTo>
                      <a:lnTo>
                        <a:pt x="75057" y="62026"/>
                      </a:lnTo>
                      <a:lnTo>
                        <a:pt x="70599" y="60744"/>
                      </a:lnTo>
                      <a:lnTo>
                        <a:pt x="70586" y="59042"/>
                      </a:lnTo>
                      <a:lnTo>
                        <a:pt x="70294" y="57175"/>
                      </a:lnTo>
                      <a:lnTo>
                        <a:pt x="71043" y="56070"/>
                      </a:lnTo>
                      <a:lnTo>
                        <a:pt x="76085" y="53301"/>
                      </a:lnTo>
                      <a:lnTo>
                        <a:pt x="79286" y="51155"/>
                      </a:lnTo>
                      <a:lnTo>
                        <a:pt x="83870" y="48590"/>
                      </a:lnTo>
                      <a:lnTo>
                        <a:pt x="83997" y="47929"/>
                      </a:lnTo>
                      <a:lnTo>
                        <a:pt x="82600" y="43535"/>
                      </a:lnTo>
                      <a:lnTo>
                        <a:pt x="81762" y="40360"/>
                      </a:lnTo>
                      <a:lnTo>
                        <a:pt x="70523" y="1498"/>
                      </a:lnTo>
                      <a:lnTo>
                        <a:pt x="63157" y="165"/>
                      </a:lnTo>
                      <a:lnTo>
                        <a:pt x="59728" y="0"/>
                      </a:lnTo>
                      <a:close/>
                    </a:path>
                    <a:path w="137160" h="127635">
                      <a:moveTo>
                        <a:pt x="82760" y="70840"/>
                      </a:moveTo>
                      <a:lnTo>
                        <a:pt x="62484" y="70840"/>
                      </a:lnTo>
                      <a:lnTo>
                        <a:pt x="70231" y="70954"/>
                      </a:lnTo>
                      <a:lnTo>
                        <a:pt x="73253" y="74028"/>
                      </a:lnTo>
                      <a:lnTo>
                        <a:pt x="73279" y="81851"/>
                      </a:lnTo>
                      <a:lnTo>
                        <a:pt x="70078" y="85051"/>
                      </a:lnTo>
                      <a:lnTo>
                        <a:pt x="91589" y="85051"/>
                      </a:lnTo>
                      <a:lnTo>
                        <a:pt x="84302" y="80848"/>
                      </a:lnTo>
                      <a:lnTo>
                        <a:pt x="83731" y="80238"/>
                      </a:lnTo>
                      <a:lnTo>
                        <a:pt x="84162" y="74980"/>
                      </a:lnTo>
                      <a:lnTo>
                        <a:pt x="83172" y="71462"/>
                      </a:lnTo>
                      <a:lnTo>
                        <a:pt x="82760" y="7084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22" name="object 130"/>
                <p:cNvSpPr/>
                <p:nvPr/>
              </p:nvSpPr>
              <p:spPr>
                <a:xfrm>
                  <a:off x="10330927" y="2373243"/>
                  <a:ext cx="44648" cy="176609"/>
                </a:xfrm>
                <a:custGeom>
                  <a:avLst/>
                  <a:gdLst/>
                  <a:ahLst/>
                  <a:cxnLst/>
                  <a:rect l="l" t="t" r="r" b="b"/>
                  <a:pathLst>
                    <a:path w="28575" h="113029">
                      <a:moveTo>
                        <a:pt x="8623" y="0"/>
                      </a:moveTo>
                      <a:lnTo>
                        <a:pt x="8153" y="508"/>
                      </a:lnTo>
                      <a:lnTo>
                        <a:pt x="7490" y="15025"/>
                      </a:lnTo>
                      <a:lnTo>
                        <a:pt x="6228" y="40239"/>
                      </a:lnTo>
                      <a:lnTo>
                        <a:pt x="5778" y="93846"/>
                      </a:lnTo>
                      <a:lnTo>
                        <a:pt x="0" y="95211"/>
                      </a:lnTo>
                      <a:lnTo>
                        <a:pt x="0" y="112585"/>
                      </a:lnTo>
                      <a:lnTo>
                        <a:pt x="28143" y="112585"/>
                      </a:lnTo>
                      <a:lnTo>
                        <a:pt x="28143" y="95211"/>
                      </a:lnTo>
                      <a:lnTo>
                        <a:pt x="25450" y="95211"/>
                      </a:lnTo>
                      <a:lnTo>
                        <a:pt x="23936" y="87531"/>
                      </a:lnTo>
                      <a:lnTo>
                        <a:pt x="23159" y="70577"/>
                      </a:lnTo>
                      <a:lnTo>
                        <a:pt x="22849" y="53482"/>
                      </a:lnTo>
                      <a:lnTo>
                        <a:pt x="22283" y="37878"/>
                      </a:lnTo>
                      <a:lnTo>
                        <a:pt x="21756" y="25567"/>
                      </a:lnTo>
                      <a:lnTo>
                        <a:pt x="20942" y="9080"/>
                      </a:lnTo>
                      <a:lnTo>
                        <a:pt x="20400" y="177"/>
                      </a:lnTo>
                      <a:lnTo>
                        <a:pt x="13627" y="177"/>
                      </a:lnTo>
                      <a:lnTo>
                        <a:pt x="8623" y="0"/>
                      </a:lnTo>
                      <a:close/>
                    </a:path>
                    <a:path w="28575" h="113029">
                      <a:moveTo>
                        <a:pt x="20396" y="101"/>
                      </a:moveTo>
                      <a:lnTo>
                        <a:pt x="13627" y="177"/>
                      </a:lnTo>
                      <a:lnTo>
                        <a:pt x="20400" y="177"/>
                      </a:lnTo>
                      <a:close/>
                    </a:path>
                  </a:pathLst>
                </a:custGeom>
                <a:grpFill/>
              </p:spPr>
              <p:txBody>
                <a:bodyPr wrap="square" lIns="0" tIns="0" rIns="0" bIns="0" rtlCol="0"/>
                <a:lstStyle/>
                <a:p>
                  <a:pPr defTabSz="711981">
                    <a:defRPr/>
                  </a:pPr>
                  <a:endParaRPr sz="1400" kern="0" dirty="0">
                    <a:solidFill>
                      <a:prstClr val="white"/>
                    </a:solidFill>
                    <a:latin typeface="+mj-lt"/>
                  </a:endParaRPr>
                </a:p>
              </p:txBody>
            </p:sp>
          </p:grpSp>
        </p:grpSp>
        <p:grpSp>
          <p:nvGrpSpPr>
            <p:cNvPr id="9" name="Group 8"/>
            <p:cNvGrpSpPr/>
            <p:nvPr/>
          </p:nvGrpSpPr>
          <p:grpSpPr>
            <a:xfrm>
              <a:off x="2720210" y="2412440"/>
              <a:ext cx="283766" cy="310485"/>
              <a:chOff x="2131557" y="3941199"/>
              <a:chExt cx="443385" cy="485133"/>
            </a:xfrm>
            <a:grpFill/>
          </p:grpSpPr>
          <p:sp>
            <p:nvSpPr>
              <p:cNvPr id="10" name="object 134"/>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1" name="object 135"/>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2" name="object 136"/>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3" name="object 137"/>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4" name="object 138"/>
              <p:cNvSpPr/>
              <p:nvPr/>
            </p:nvSpPr>
            <p:spPr>
              <a:xfrm>
                <a:off x="2418881" y="4238544"/>
                <a:ext cx="79063" cy="52710"/>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5" name="object 139"/>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6" name="object 140"/>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7" name="object 142"/>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sp>
            <p:nvSpPr>
              <p:cNvPr id="18" name="object 137"/>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711981">
                  <a:defRPr/>
                </a:pPr>
                <a:endParaRPr sz="1400" kern="0" dirty="0">
                  <a:solidFill>
                    <a:prstClr val="white"/>
                  </a:solidFill>
                  <a:latin typeface="+mj-lt"/>
                </a:endParaRPr>
              </a:p>
            </p:txBody>
          </p:sp>
        </p:grpSp>
      </p:grpSp>
      <p:sp>
        <p:nvSpPr>
          <p:cNvPr id="33" name="Rectangle 32"/>
          <p:cNvSpPr/>
          <p:nvPr/>
        </p:nvSpPr>
        <p:spPr>
          <a:xfrm>
            <a:off x="469900" y="3468263"/>
            <a:ext cx="1593341" cy="930720"/>
          </a:xfrm>
          <a:prstGeom prst="rect">
            <a:avLst/>
          </a:prstGeom>
          <a:solidFill>
            <a:schemeClr val="accent6">
              <a:lumMod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44000" anchor="t"/>
          <a:lstStyle/>
          <a:p>
            <a:pPr algn="ctr" defTabSz="914400" fontAlgn="base">
              <a:spcBef>
                <a:spcPct val="0"/>
              </a:spcBef>
              <a:spcAft>
                <a:spcPct val="0"/>
              </a:spcAft>
              <a:buSzPct val="90000"/>
              <a:defRPr/>
            </a:pPr>
            <a:r>
              <a:rPr lang="en-GB" sz="1400" b="1" dirty="0">
                <a:solidFill>
                  <a:prstClr val="white"/>
                </a:solidFill>
                <a:latin typeface="+mj-lt"/>
                <a:ea typeface="ＭＳ Ｐゴシック"/>
                <a:cs typeface="Arial" pitchFamily="34" charset="0"/>
              </a:rPr>
              <a:t>Transmission</a:t>
            </a:r>
          </a:p>
        </p:txBody>
      </p:sp>
      <p:grpSp>
        <p:nvGrpSpPr>
          <p:cNvPr id="34" name="Group 33"/>
          <p:cNvGrpSpPr/>
          <p:nvPr/>
        </p:nvGrpSpPr>
        <p:grpSpPr>
          <a:xfrm>
            <a:off x="787120" y="3828660"/>
            <a:ext cx="1016788" cy="471193"/>
            <a:chOff x="4140641" y="1387549"/>
            <a:chExt cx="1005812" cy="596560"/>
          </a:xfrm>
          <a:solidFill>
            <a:schemeClr val="bg1"/>
          </a:solidFill>
        </p:grpSpPr>
        <p:sp>
          <p:nvSpPr>
            <p:cNvPr id="35" name="Arc 34"/>
            <p:cNvSpPr>
              <a:spLocks noChangeAspect="1"/>
            </p:cNvSpPr>
            <p:nvPr/>
          </p:nvSpPr>
          <p:spPr>
            <a:xfrm flipH="1" flipV="1">
              <a:off x="4504798" y="1387549"/>
              <a:ext cx="641655" cy="487228"/>
            </a:xfrm>
            <a:prstGeom prst="arc">
              <a:avLst>
                <a:gd name="adj1" fmla="val 15230594"/>
                <a:gd name="adj2" fmla="val 21235661"/>
              </a:avLst>
            </a:prstGeom>
            <a:noFill/>
            <a:ln w="12700" cap="flat" cmpd="sng" algn="ctr">
              <a:solidFill>
                <a:schemeClr val="bg1"/>
              </a:solidFill>
              <a:prstDash val="solid"/>
              <a:miter lim="800000"/>
            </a:ln>
            <a:effectLst/>
          </p:spPr>
          <p:txBody>
            <a:bodyPr rtlCol="0" anchor="ctr"/>
            <a:lstStyle/>
            <a:p>
              <a:pPr algn="ctr" defTabSz="711981">
                <a:defRPr/>
              </a:pPr>
              <a:endParaRPr lang="en-US" sz="1400" kern="0" dirty="0">
                <a:solidFill>
                  <a:srgbClr val="5C5C5C"/>
                </a:solidFill>
                <a:latin typeface="+mj-lt"/>
              </a:endParaRPr>
            </a:p>
          </p:txBody>
        </p:sp>
        <p:grpSp>
          <p:nvGrpSpPr>
            <p:cNvPr id="36" name="Group 35"/>
            <p:cNvGrpSpPr/>
            <p:nvPr/>
          </p:nvGrpSpPr>
          <p:grpSpPr>
            <a:xfrm>
              <a:off x="4865650" y="1803895"/>
              <a:ext cx="117808" cy="178998"/>
              <a:chOff x="5080869" y="2514246"/>
              <a:chExt cx="260945" cy="312539"/>
            </a:xfrm>
            <a:grpFill/>
          </p:grpSpPr>
          <p:sp>
            <p:nvSpPr>
              <p:cNvPr id="52" name="object 112"/>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grpFill/>
            </p:spPr>
            <p:txBody>
              <a:bodyPr wrap="square" lIns="0" tIns="0" rIns="0" bIns="0" rtlCol="0"/>
              <a:lstStyle/>
              <a:p>
                <a:pPr defTabSz="711981">
                  <a:defRPr/>
                </a:pPr>
                <a:endParaRPr sz="1400" kern="0" dirty="0">
                  <a:solidFill>
                    <a:prstClr val="black"/>
                  </a:solidFill>
                  <a:latin typeface="+mj-lt"/>
                </a:endParaRPr>
              </a:p>
            </p:txBody>
          </p:sp>
          <p:sp>
            <p:nvSpPr>
              <p:cNvPr id="53" name="object 113"/>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grpFill/>
            </p:spPr>
            <p:txBody>
              <a:bodyPr wrap="square" lIns="0" tIns="0" rIns="0" bIns="0" rtlCol="0"/>
              <a:lstStyle/>
              <a:p>
                <a:pPr defTabSz="711981">
                  <a:defRPr/>
                </a:pPr>
                <a:endParaRPr sz="1400" kern="0" dirty="0">
                  <a:solidFill>
                    <a:prstClr val="black"/>
                  </a:solidFill>
                  <a:latin typeface="+mj-lt"/>
                </a:endParaRPr>
              </a:p>
            </p:txBody>
          </p:sp>
        </p:grpSp>
        <p:grpSp>
          <p:nvGrpSpPr>
            <p:cNvPr id="37" name="Group 36"/>
            <p:cNvGrpSpPr/>
            <p:nvPr/>
          </p:nvGrpSpPr>
          <p:grpSpPr>
            <a:xfrm>
              <a:off x="4994464" y="1803895"/>
              <a:ext cx="117808" cy="178998"/>
              <a:chOff x="5080869" y="2514246"/>
              <a:chExt cx="260945" cy="312539"/>
            </a:xfrm>
            <a:grpFill/>
          </p:grpSpPr>
          <p:sp>
            <p:nvSpPr>
              <p:cNvPr id="50" name="object 112"/>
              <p:cNvSpPr/>
              <p:nvPr/>
            </p:nvSpPr>
            <p:spPr>
              <a:xfrm>
                <a:off x="5146100" y="2553419"/>
                <a:ext cx="129976" cy="91280"/>
              </a:xfrm>
              <a:custGeom>
                <a:avLst/>
                <a:gdLst/>
                <a:ahLst/>
                <a:cxnLst/>
                <a:rect l="l" t="t" r="r" b="b"/>
                <a:pathLst>
                  <a:path w="83184" h="58419">
                    <a:moveTo>
                      <a:pt x="83007" y="0"/>
                    </a:moveTo>
                    <a:lnTo>
                      <a:pt x="0" y="0"/>
                    </a:lnTo>
                    <a:lnTo>
                      <a:pt x="0" y="58026"/>
                    </a:lnTo>
                    <a:lnTo>
                      <a:pt x="83007" y="58026"/>
                    </a:lnTo>
                    <a:lnTo>
                      <a:pt x="83007" y="49872"/>
                    </a:lnTo>
                    <a:lnTo>
                      <a:pt x="45199" y="49872"/>
                    </a:lnTo>
                    <a:lnTo>
                      <a:pt x="45044" y="49733"/>
                    </a:lnTo>
                    <a:lnTo>
                      <a:pt x="8267" y="49733"/>
                    </a:lnTo>
                    <a:lnTo>
                      <a:pt x="8267" y="8407"/>
                    </a:lnTo>
                    <a:lnTo>
                      <a:pt x="83007" y="8407"/>
                    </a:lnTo>
                    <a:lnTo>
                      <a:pt x="83007" y="0"/>
                    </a:lnTo>
                    <a:close/>
                  </a:path>
                  <a:path w="83184" h="58419">
                    <a:moveTo>
                      <a:pt x="83007" y="8407"/>
                    </a:moveTo>
                    <a:lnTo>
                      <a:pt x="74574" y="8407"/>
                    </a:lnTo>
                    <a:lnTo>
                      <a:pt x="74574" y="49834"/>
                    </a:lnTo>
                    <a:lnTo>
                      <a:pt x="45199" y="49872"/>
                    </a:lnTo>
                    <a:lnTo>
                      <a:pt x="83007" y="49872"/>
                    </a:lnTo>
                    <a:lnTo>
                      <a:pt x="83007" y="8407"/>
                    </a:lnTo>
                    <a:close/>
                  </a:path>
                  <a:path w="83184" h="58419">
                    <a:moveTo>
                      <a:pt x="35623" y="16510"/>
                    </a:moveTo>
                    <a:lnTo>
                      <a:pt x="30099" y="18173"/>
                    </a:lnTo>
                    <a:lnTo>
                      <a:pt x="29188" y="25407"/>
                    </a:lnTo>
                    <a:lnTo>
                      <a:pt x="36410" y="49733"/>
                    </a:lnTo>
                    <a:lnTo>
                      <a:pt x="45044" y="49733"/>
                    </a:lnTo>
                    <a:lnTo>
                      <a:pt x="44691" y="49415"/>
                    </a:lnTo>
                    <a:lnTo>
                      <a:pt x="42990" y="43088"/>
                    </a:lnTo>
                    <a:lnTo>
                      <a:pt x="36258" y="18592"/>
                    </a:lnTo>
                    <a:lnTo>
                      <a:pt x="35623" y="16510"/>
                    </a:lnTo>
                    <a:close/>
                  </a:path>
                </a:pathLst>
              </a:custGeom>
              <a:grpFill/>
            </p:spPr>
            <p:txBody>
              <a:bodyPr wrap="square" lIns="0" tIns="0" rIns="0" bIns="0" rtlCol="0"/>
              <a:lstStyle/>
              <a:p>
                <a:pPr defTabSz="711981">
                  <a:defRPr/>
                </a:pPr>
                <a:endParaRPr sz="1400" kern="0" dirty="0">
                  <a:solidFill>
                    <a:prstClr val="black"/>
                  </a:solidFill>
                  <a:latin typeface="+mj-lt"/>
                </a:endParaRPr>
              </a:p>
            </p:txBody>
          </p:sp>
          <p:sp>
            <p:nvSpPr>
              <p:cNvPr id="51" name="object 113"/>
              <p:cNvSpPr/>
              <p:nvPr/>
            </p:nvSpPr>
            <p:spPr>
              <a:xfrm>
                <a:off x="5080869" y="2514246"/>
                <a:ext cx="260945" cy="312539"/>
              </a:xfrm>
              <a:custGeom>
                <a:avLst/>
                <a:gdLst/>
                <a:ahLst/>
                <a:cxnLst/>
                <a:rect l="l" t="t" r="r" b="b"/>
                <a:pathLst>
                  <a:path w="167005" h="200025">
                    <a:moveTo>
                      <a:pt x="5194" y="182727"/>
                    </a:moveTo>
                    <a:lnTo>
                      <a:pt x="1651" y="184416"/>
                    </a:lnTo>
                    <a:lnTo>
                      <a:pt x="0" y="189191"/>
                    </a:lnTo>
                    <a:lnTo>
                      <a:pt x="0" y="199732"/>
                    </a:lnTo>
                    <a:lnTo>
                      <a:pt x="166573" y="199732"/>
                    </a:lnTo>
                    <a:lnTo>
                      <a:pt x="166408" y="186283"/>
                    </a:lnTo>
                    <a:lnTo>
                      <a:pt x="163195" y="183083"/>
                    </a:lnTo>
                    <a:lnTo>
                      <a:pt x="157911" y="183019"/>
                    </a:lnTo>
                    <a:lnTo>
                      <a:pt x="9994" y="182994"/>
                    </a:lnTo>
                    <a:lnTo>
                      <a:pt x="5194" y="182727"/>
                    </a:lnTo>
                    <a:close/>
                  </a:path>
                  <a:path w="167005" h="200025">
                    <a:moveTo>
                      <a:pt x="146786" y="0"/>
                    </a:moveTo>
                    <a:lnTo>
                      <a:pt x="19735" y="0"/>
                    </a:lnTo>
                    <a:lnTo>
                      <a:pt x="16764" y="2933"/>
                    </a:lnTo>
                    <a:lnTo>
                      <a:pt x="16611" y="8712"/>
                    </a:lnTo>
                    <a:lnTo>
                      <a:pt x="16611" y="183007"/>
                    </a:lnTo>
                    <a:lnTo>
                      <a:pt x="149885" y="183007"/>
                    </a:lnTo>
                    <a:lnTo>
                      <a:pt x="33451" y="182880"/>
                    </a:lnTo>
                    <a:lnTo>
                      <a:pt x="33451" y="16852"/>
                    </a:lnTo>
                    <a:lnTo>
                      <a:pt x="149791" y="16852"/>
                    </a:lnTo>
                    <a:lnTo>
                      <a:pt x="149683" y="2933"/>
                    </a:lnTo>
                    <a:lnTo>
                      <a:pt x="146786" y="0"/>
                    </a:lnTo>
                    <a:close/>
                  </a:path>
                  <a:path w="167005" h="200025">
                    <a:moveTo>
                      <a:pt x="149791" y="16852"/>
                    </a:moveTo>
                    <a:lnTo>
                      <a:pt x="132956" y="16852"/>
                    </a:lnTo>
                    <a:lnTo>
                      <a:pt x="132956" y="182880"/>
                    </a:lnTo>
                    <a:lnTo>
                      <a:pt x="149885" y="182880"/>
                    </a:lnTo>
                    <a:lnTo>
                      <a:pt x="149791" y="16852"/>
                    </a:lnTo>
                    <a:close/>
                  </a:path>
                </a:pathLst>
              </a:custGeom>
              <a:grpFill/>
            </p:spPr>
            <p:txBody>
              <a:bodyPr wrap="square" lIns="0" tIns="0" rIns="0" bIns="0" rtlCol="0"/>
              <a:lstStyle/>
              <a:p>
                <a:pPr defTabSz="711981">
                  <a:defRPr/>
                </a:pPr>
                <a:endParaRPr sz="1400" kern="0" dirty="0">
                  <a:solidFill>
                    <a:prstClr val="black"/>
                  </a:solidFill>
                  <a:latin typeface="+mj-lt"/>
                </a:endParaRPr>
              </a:p>
            </p:txBody>
          </p:sp>
        </p:grpSp>
        <p:grpSp>
          <p:nvGrpSpPr>
            <p:cNvPr id="38" name="Group 37"/>
            <p:cNvGrpSpPr>
              <a:grpSpLocks noChangeAspect="1"/>
            </p:cNvGrpSpPr>
            <p:nvPr/>
          </p:nvGrpSpPr>
          <p:grpSpPr>
            <a:xfrm>
              <a:off x="4162713" y="1677854"/>
              <a:ext cx="257190" cy="306255"/>
              <a:chOff x="9131304" y="3548423"/>
              <a:chExt cx="2303463" cy="2162175"/>
            </a:xfrm>
            <a:grpFill/>
          </p:grpSpPr>
          <p:sp>
            <p:nvSpPr>
              <p:cNvPr id="46" name="Freeform 183"/>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7" name="Freeform 184"/>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8" name="Freeform 185"/>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9" name="Freeform 186"/>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grpSp>
        <p:grpSp>
          <p:nvGrpSpPr>
            <p:cNvPr id="39" name="Group 38"/>
            <p:cNvGrpSpPr>
              <a:grpSpLocks noChangeAspect="1"/>
            </p:cNvGrpSpPr>
            <p:nvPr/>
          </p:nvGrpSpPr>
          <p:grpSpPr>
            <a:xfrm>
              <a:off x="4444259" y="1555352"/>
              <a:ext cx="360067" cy="428757"/>
              <a:chOff x="9131304" y="3548423"/>
              <a:chExt cx="2303463" cy="2162175"/>
            </a:xfrm>
            <a:grpFill/>
          </p:grpSpPr>
          <p:sp>
            <p:nvSpPr>
              <p:cNvPr id="42" name="Freeform 183"/>
              <p:cNvSpPr>
                <a:spLocks/>
              </p:cNvSpPr>
              <p:nvPr/>
            </p:nvSpPr>
            <p:spPr bwMode="auto">
              <a:xfrm>
                <a:off x="10080630" y="3942123"/>
                <a:ext cx="403225" cy="212725"/>
              </a:xfrm>
              <a:custGeom>
                <a:avLst/>
                <a:gdLst>
                  <a:gd name="T0" fmla="*/ 42 w 42"/>
                  <a:gd name="T1" fmla="*/ 3 h 22"/>
                  <a:gd name="T2" fmla="*/ 42 w 42"/>
                  <a:gd name="T3" fmla="*/ 1 h 22"/>
                  <a:gd name="T4" fmla="*/ 40 w 42"/>
                  <a:gd name="T5" fmla="*/ 1 h 22"/>
                  <a:gd name="T6" fmla="*/ 25 w 42"/>
                  <a:gd name="T7" fmla="*/ 16 h 22"/>
                  <a:gd name="T8" fmla="*/ 24 w 42"/>
                  <a:gd name="T9" fmla="*/ 16 h 22"/>
                  <a:gd name="T10" fmla="*/ 19 w 42"/>
                  <a:gd name="T11" fmla="*/ 16 h 22"/>
                  <a:gd name="T12" fmla="*/ 18 w 42"/>
                  <a:gd name="T13" fmla="*/ 16 h 22"/>
                  <a:gd name="T14" fmla="*/ 3 w 42"/>
                  <a:gd name="T15" fmla="*/ 1 h 22"/>
                  <a:gd name="T16" fmla="*/ 1 w 42"/>
                  <a:gd name="T17" fmla="*/ 1 h 22"/>
                  <a:gd name="T18" fmla="*/ 1 w 42"/>
                  <a:gd name="T19" fmla="*/ 3 h 22"/>
                  <a:gd name="T20" fmla="*/ 16 w 42"/>
                  <a:gd name="T21" fmla="*/ 18 h 22"/>
                  <a:gd name="T22" fmla="*/ 15 w 42"/>
                  <a:gd name="T23" fmla="*/ 19 h 22"/>
                  <a:gd name="T24" fmla="*/ 19 w 42"/>
                  <a:gd name="T25" fmla="*/ 22 h 22"/>
                  <a:gd name="T26" fmla="*/ 24 w 42"/>
                  <a:gd name="T27" fmla="*/ 22 h 22"/>
                  <a:gd name="T28" fmla="*/ 27 w 42"/>
                  <a:gd name="T29" fmla="*/ 19 h 22"/>
                  <a:gd name="T30" fmla="*/ 27 w 42"/>
                  <a:gd name="T31" fmla="*/ 18 h 22"/>
                  <a:gd name="T32" fmla="*/ 42 w 42"/>
                  <a:gd name="T33" fmla="*/ 3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2" y="3"/>
                    </a:moveTo>
                    <a:cubicBezTo>
                      <a:pt x="42" y="2"/>
                      <a:pt x="42" y="1"/>
                      <a:pt x="42" y="1"/>
                    </a:cubicBezTo>
                    <a:cubicBezTo>
                      <a:pt x="41" y="0"/>
                      <a:pt x="40" y="0"/>
                      <a:pt x="40" y="1"/>
                    </a:cubicBezTo>
                    <a:cubicBezTo>
                      <a:pt x="25" y="16"/>
                      <a:pt x="25" y="16"/>
                      <a:pt x="25" y="16"/>
                    </a:cubicBezTo>
                    <a:cubicBezTo>
                      <a:pt x="24"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lnTo>
                      <a:pt x="42"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3" name="Freeform 184"/>
              <p:cNvSpPr>
                <a:spLocks/>
              </p:cNvSpPr>
              <p:nvPr/>
            </p:nvSpPr>
            <p:spPr bwMode="auto">
              <a:xfrm>
                <a:off x="9342442" y="3942123"/>
                <a:ext cx="403225" cy="212725"/>
              </a:xfrm>
              <a:custGeom>
                <a:avLst/>
                <a:gdLst>
                  <a:gd name="T0" fmla="*/ 40 w 42"/>
                  <a:gd name="T1" fmla="*/ 1 h 22"/>
                  <a:gd name="T2" fmla="*/ 25 w 42"/>
                  <a:gd name="T3" fmla="*/ 16 h 22"/>
                  <a:gd name="T4" fmla="*/ 24 w 42"/>
                  <a:gd name="T5" fmla="*/ 16 h 22"/>
                  <a:gd name="T6" fmla="*/ 18 w 42"/>
                  <a:gd name="T7" fmla="*/ 16 h 22"/>
                  <a:gd name="T8" fmla="*/ 17 w 42"/>
                  <a:gd name="T9" fmla="*/ 16 h 22"/>
                  <a:gd name="T10" fmla="*/ 2 w 42"/>
                  <a:gd name="T11" fmla="*/ 1 h 22"/>
                  <a:gd name="T12" fmla="*/ 1 w 42"/>
                  <a:gd name="T13" fmla="*/ 1 h 22"/>
                  <a:gd name="T14" fmla="*/ 1 w 42"/>
                  <a:gd name="T15" fmla="*/ 3 h 22"/>
                  <a:gd name="T16" fmla="*/ 15 w 42"/>
                  <a:gd name="T17" fmla="*/ 18 h 22"/>
                  <a:gd name="T18" fmla="*/ 15 w 42"/>
                  <a:gd name="T19" fmla="*/ 19 h 22"/>
                  <a:gd name="T20" fmla="*/ 18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4" y="16"/>
                      <a:pt x="24" y="16"/>
                      <a:pt x="24" y="16"/>
                    </a:cubicBezTo>
                    <a:cubicBezTo>
                      <a:pt x="18" y="16"/>
                      <a:pt x="18" y="16"/>
                      <a:pt x="18" y="16"/>
                    </a:cubicBezTo>
                    <a:cubicBezTo>
                      <a:pt x="18" y="16"/>
                      <a:pt x="18" y="16"/>
                      <a:pt x="17" y="16"/>
                    </a:cubicBezTo>
                    <a:cubicBezTo>
                      <a:pt x="2" y="1"/>
                      <a:pt x="2" y="1"/>
                      <a:pt x="2" y="1"/>
                    </a:cubicBezTo>
                    <a:cubicBezTo>
                      <a:pt x="2" y="0"/>
                      <a:pt x="1" y="0"/>
                      <a:pt x="1" y="1"/>
                    </a:cubicBezTo>
                    <a:cubicBezTo>
                      <a:pt x="0" y="1"/>
                      <a:pt x="0" y="2"/>
                      <a:pt x="1" y="3"/>
                    </a:cubicBezTo>
                    <a:cubicBezTo>
                      <a:pt x="15" y="18"/>
                      <a:pt x="15" y="18"/>
                      <a:pt x="15" y="18"/>
                    </a:cubicBezTo>
                    <a:cubicBezTo>
                      <a:pt x="15" y="18"/>
                      <a:pt x="15" y="19"/>
                      <a:pt x="15" y="19"/>
                    </a:cubicBezTo>
                    <a:cubicBezTo>
                      <a:pt x="15" y="21"/>
                      <a:pt x="17" y="22"/>
                      <a:pt x="18" y="22"/>
                    </a:cubicBezTo>
                    <a:cubicBezTo>
                      <a:pt x="24" y="22"/>
                      <a:pt x="24" y="22"/>
                      <a:pt x="24" y="22"/>
                    </a:cubicBezTo>
                    <a:cubicBezTo>
                      <a:pt x="25"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4" name="Freeform 185"/>
              <p:cNvSpPr>
                <a:spLocks noEditPoints="1"/>
              </p:cNvSpPr>
              <p:nvPr/>
            </p:nvSpPr>
            <p:spPr bwMode="auto">
              <a:xfrm>
                <a:off x="9131304" y="3548423"/>
                <a:ext cx="2303463" cy="2162175"/>
              </a:xfrm>
              <a:custGeom>
                <a:avLst/>
                <a:gdLst>
                  <a:gd name="T0" fmla="*/ 184 w 240"/>
                  <a:gd name="T1" fmla="*/ 8 h 225"/>
                  <a:gd name="T2" fmla="*/ 173 w 240"/>
                  <a:gd name="T3" fmla="*/ 3 h 225"/>
                  <a:gd name="T4" fmla="*/ 68 w 240"/>
                  <a:gd name="T5" fmla="*/ 3 h 225"/>
                  <a:gd name="T6" fmla="*/ 57 w 240"/>
                  <a:gd name="T7" fmla="*/ 8 h 225"/>
                  <a:gd name="T8" fmla="*/ 0 w 240"/>
                  <a:gd name="T9" fmla="*/ 40 h 225"/>
                  <a:gd name="T10" fmla="*/ 73 w 240"/>
                  <a:gd name="T11" fmla="*/ 220 h 225"/>
                  <a:gd name="T12" fmla="*/ 85 w 240"/>
                  <a:gd name="T13" fmla="*/ 224 h 225"/>
                  <a:gd name="T14" fmla="*/ 157 w 240"/>
                  <a:gd name="T15" fmla="*/ 225 h 225"/>
                  <a:gd name="T16" fmla="*/ 143 w 240"/>
                  <a:gd name="T17" fmla="*/ 142 h 225"/>
                  <a:gd name="T18" fmla="*/ 240 w 240"/>
                  <a:gd name="T19" fmla="*/ 40 h 225"/>
                  <a:gd name="T20" fmla="*/ 97 w 240"/>
                  <a:gd name="T21" fmla="*/ 183 h 225"/>
                  <a:gd name="T22" fmla="*/ 102 w 240"/>
                  <a:gd name="T23" fmla="*/ 162 h 225"/>
                  <a:gd name="T24" fmla="*/ 98 w 240"/>
                  <a:gd name="T25" fmla="*/ 156 h 225"/>
                  <a:gd name="T26" fmla="*/ 120 w 240"/>
                  <a:gd name="T27" fmla="*/ 155 h 225"/>
                  <a:gd name="T28" fmla="*/ 96 w 240"/>
                  <a:gd name="T29" fmla="*/ 164 h 225"/>
                  <a:gd name="T30" fmla="*/ 90 w 240"/>
                  <a:gd name="T31" fmla="*/ 184 h 225"/>
                  <a:gd name="T32" fmla="*/ 129 w 240"/>
                  <a:gd name="T33" fmla="*/ 199 h 225"/>
                  <a:gd name="T34" fmla="*/ 149 w 240"/>
                  <a:gd name="T35" fmla="*/ 178 h 225"/>
                  <a:gd name="T36" fmla="*/ 142 w 240"/>
                  <a:gd name="T37" fmla="*/ 156 h 225"/>
                  <a:gd name="T38" fmla="*/ 129 w 240"/>
                  <a:gd name="T39" fmla="*/ 122 h 225"/>
                  <a:gd name="T40" fmla="*/ 117 w 240"/>
                  <a:gd name="T41" fmla="*/ 104 h 225"/>
                  <a:gd name="T42" fmla="*/ 124 w 240"/>
                  <a:gd name="T43" fmla="*/ 99 h 225"/>
                  <a:gd name="T44" fmla="*/ 96 w 240"/>
                  <a:gd name="T45" fmla="*/ 40 h 225"/>
                  <a:gd name="T46" fmla="*/ 124 w 240"/>
                  <a:gd name="T47" fmla="*/ 98 h 225"/>
                  <a:gd name="T48" fmla="*/ 92 w 240"/>
                  <a:gd name="T49" fmla="*/ 35 h 225"/>
                  <a:gd name="T50" fmla="*/ 142 w 240"/>
                  <a:gd name="T51" fmla="*/ 35 h 225"/>
                  <a:gd name="T52" fmla="*/ 98 w 240"/>
                  <a:gd name="T53" fmla="*/ 35 h 225"/>
                  <a:gd name="T54" fmla="*/ 168 w 240"/>
                  <a:gd name="T55" fmla="*/ 21 h 225"/>
                  <a:gd name="T56" fmla="*/ 148 w 240"/>
                  <a:gd name="T57" fmla="*/ 35 h 225"/>
                  <a:gd name="T58" fmla="*/ 168 w 240"/>
                  <a:gd name="T59" fmla="*/ 15 h 225"/>
                  <a:gd name="T60" fmla="*/ 176 w 240"/>
                  <a:gd name="T61" fmla="*/ 15 h 225"/>
                  <a:gd name="T62" fmla="*/ 155 w 240"/>
                  <a:gd name="T63" fmla="*/ 21 h 225"/>
                  <a:gd name="T64" fmla="*/ 114 w 240"/>
                  <a:gd name="T65" fmla="*/ 21 h 225"/>
                  <a:gd name="T66" fmla="*/ 65 w 240"/>
                  <a:gd name="T67" fmla="*/ 15 h 225"/>
                  <a:gd name="T68" fmla="*/ 16 w 240"/>
                  <a:gd name="T69" fmla="*/ 33 h 225"/>
                  <a:gd name="T70" fmla="*/ 55 w 240"/>
                  <a:gd name="T71" fmla="*/ 35 h 225"/>
                  <a:gd name="T72" fmla="*/ 55 w 240"/>
                  <a:gd name="T73" fmla="*/ 35 h 225"/>
                  <a:gd name="T74" fmla="*/ 80 w 240"/>
                  <a:gd name="T75" fmla="*/ 66 h 225"/>
                  <a:gd name="T76" fmla="*/ 83 w 240"/>
                  <a:gd name="T77" fmla="*/ 72 h 225"/>
                  <a:gd name="T78" fmla="*/ 82 w 240"/>
                  <a:gd name="T79" fmla="*/ 72 h 225"/>
                  <a:gd name="T80" fmla="*/ 102 w 240"/>
                  <a:gd name="T81" fmla="*/ 135 h 225"/>
                  <a:gd name="T82" fmla="*/ 82 w 240"/>
                  <a:gd name="T83" fmla="*/ 220 h 225"/>
                  <a:gd name="T84" fmla="*/ 82 w 240"/>
                  <a:gd name="T85" fmla="*/ 220 h 225"/>
                  <a:gd name="T86" fmla="*/ 161 w 240"/>
                  <a:gd name="T87" fmla="*/ 220 h 225"/>
                  <a:gd name="T88" fmla="*/ 138 w 240"/>
                  <a:gd name="T89" fmla="*/ 135 h 225"/>
                  <a:gd name="T90" fmla="*/ 140 w 240"/>
                  <a:gd name="T91" fmla="*/ 135 h 225"/>
                  <a:gd name="T92" fmla="*/ 158 w 240"/>
                  <a:gd name="T93" fmla="*/ 72 h 225"/>
                  <a:gd name="T94" fmla="*/ 159 w 240"/>
                  <a:gd name="T95" fmla="*/ 65 h 225"/>
                  <a:gd name="T96" fmla="*/ 168 w 240"/>
                  <a:gd name="T97" fmla="*/ 40 h 225"/>
                  <a:gd name="T98" fmla="*/ 186 w 240"/>
                  <a:gd name="T99" fmla="*/ 35 h 225"/>
                  <a:gd name="T100" fmla="*/ 198 w 240"/>
                  <a:gd name="T101" fmla="*/ 2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0" h="225">
                    <a:moveTo>
                      <a:pt x="240" y="29"/>
                    </a:moveTo>
                    <a:cubicBezTo>
                      <a:pt x="230" y="29"/>
                      <a:pt x="230" y="29"/>
                      <a:pt x="230" y="29"/>
                    </a:cubicBezTo>
                    <a:cubicBezTo>
                      <a:pt x="181" y="17"/>
                      <a:pt x="181" y="17"/>
                      <a:pt x="181" y="17"/>
                    </a:cubicBezTo>
                    <a:cubicBezTo>
                      <a:pt x="184" y="8"/>
                      <a:pt x="184" y="8"/>
                      <a:pt x="184" y="8"/>
                    </a:cubicBezTo>
                    <a:cubicBezTo>
                      <a:pt x="186" y="8"/>
                      <a:pt x="186" y="8"/>
                      <a:pt x="186" y="8"/>
                    </a:cubicBezTo>
                    <a:cubicBezTo>
                      <a:pt x="186" y="0"/>
                      <a:pt x="186" y="0"/>
                      <a:pt x="186" y="0"/>
                    </a:cubicBezTo>
                    <a:cubicBezTo>
                      <a:pt x="173" y="0"/>
                      <a:pt x="173" y="0"/>
                      <a:pt x="173" y="0"/>
                    </a:cubicBezTo>
                    <a:cubicBezTo>
                      <a:pt x="173" y="3"/>
                      <a:pt x="173" y="3"/>
                      <a:pt x="173" y="3"/>
                    </a:cubicBezTo>
                    <a:cubicBezTo>
                      <a:pt x="160" y="15"/>
                      <a:pt x="160" y="15"/>
                      <a:pt x="160" y="15"/>
                    </a:cubicBezTo>
                    <a:cubicBezTo>
                      <a:pt x="120" y="15"/>
                      <a:pt x="120" y="15"/>
                      <a:pt x="120" y="15"/>
                    </a:cubicBezTo>
                    <a:cubicBezTo>
                      <a:pt x="80" y="15"/>
                      <a:pt x="80" y="15"/>
                      <a:pt x="80" y="15"/>
                    </a:cubicBezTo>
                    <a:cubicBezTo>
                      <a:pt x="68" y="3"/>
                      <a:pt x="68" y="3"/>
                      <a:pt x="68" y="3"/>
                    </a:cubicBezTo>
                    <a:cubicBezTo>
                      <a:pt x="68" y="0"/>
                      <a:pt x="68" y="0"/>
                      <a:pt x="68" y="0"/>
                    </a:cubicBezTo>
                    <a:cubicBezTo>
                      <a:pt x="54" y="0"/>
                      <a:pt x="54" y="0"/>
                      <a:pt x="54" y="0"/>
                    </a:cubicBezTo>
                    <a:cubicBezTo>
                      <a:pt x="54" y="8"/>
                      <a:pt x="54" y="8"/>
                      <a:pt x="54" y="8"/>
                    </a:cubicBezTo>
                    <a:cubicBezTo>
                      <a:pt x="57" y="8"/>
                      <a:pt x="57" y="8"/>
                      <a:pt x="57" y="8"/>
                    </a:cubicBezTo>
                    <a:cubicBezTo>
                      <a:pt x="59" y="17"/>
                      <a:pt x="59" y="17"/>
                      <a:pt x="59" y="17"/>
                    </a:cubicBezTo>
                    <a:cubicBezTo>
                      <a:pt x="10" y="29"/>
                      <a:pt x="10" y="29"/>
                      <a:pt x="10" y="29"/>
                    </a:cubicBezTo>
                    <a:cubicBezTo>
                      <a:pt x="0" y="29"/>
                      <a:pt x="0" y="29"/>
                      <a:pt x="0" y="29"/>
                    </a:cubicBezTo>
                    <a:cubicBezTo>
                      <a:pt x="0" y="40"/>
                      <a:pt x="0" y="40"/>
                      <a:pt x="0" y="40"/>
                    </a:cubicBezTo>
                    <a:cubicBezTo>
                      <a:pt x="66" y="40"/>
                      <a:pt x="66" y="40"/>
                      <a:pt x="66" y="40"/>
                    </a:cubicBezTo>
                    <a:cubicBezTo>
                      <a:pt x="66" y="40"/>
                      <a:pt x="66" y="40"/>
                      <a:pt x="66" y="40"/>
                    </a:cubicBezTo>
                    <a:cubicBezTo>
                      <a:pt x="66" y="40"/>
                      <a:pt x="97" y="141"/>
                      <a:pt x="97" y="142"/>
                    </a:cubicBezTo>
                    <a:cubicBezTo>
                      <a:pt x="73" y="220"/>
                      <a:pt x="73" y="220"/>
                      <a:pt x="73" y="220"/>
                    </a:cubicBezTo>
                    <a:cubicBezTo>
                      <a:pt x="67" y="220"/>
                      <a:pt x="67" y="220"/>
                      <a:pt x="67" y="220"/>
                    </a:cubicBezTo>
                    <a:cubicBezTo>
                      <a:pt x="67" y="225"/>
                      <a:pt x="67" y="225"/>
                      <a:pt x="67" y="225"/>
                    </a:cubicBezTo>
                    <a:cubicBezTo>
                      <a:pt x="83" y="225"/>
                      <a:pt x="83" y="225"/>
                      <a:pt x="83" y="225"/>
                    </a:cubicBezTo>
                    <a:cubicBezTo>
                      <a:pt x="85" y="224"/>
                      <a:pt x="85" y="224"/>
                      <a:pt x="85" y="224"/>
                    </a:cubicBezTo>
                    <a:cubicBezTo>
                      <a:pt x="102" y="204"/>
                      <a:pt x="102" y="204"/>
                      <a:pt x="102" y="204"/>
                    </a:cubicBezTo>
                    <a:cubicBezTo>
                      <a:pt x="138" y="204"/>
                      <a:pt x="138" y="204"/>
                      <a:pt x="138" y="204"/>
                    </a:cubicBezTo>
                    <a:cubicBezTo>
                      <a:pt x="155" y="224"/>
                      <a:pt x="155" y="224"/>
                      <a:pt x="155" y="224"/>
                    </a:cubicBezTo>
                    <a:cubicBezTo>
                      <a:pt x="157" y="225"/>
                      <a:pt x="157" y="225"/>
                      <a:pt x="157" y="225"/>
                    </a:cubicBezTo>
                    <a:cubicBezTo>
                      <a:pt x="173" y="225"/>
                      <a:pt x="173" y="225"/>
                      <a:pt x="173" y="225"/>
                    </a:cubicBezTo>
                    <a:cubicBezTo>
                      <a:pt x="173" y="220"/>
                      <a:pt x="173" y="220"/>
                      <a:pt x="173" y="220"/>
                    </a:cubicBezTo>
                    <a:cubicBezTo>
                      <a:pt x="167" y="220"/>
                      <a:pt x="167" y="220"/>
                      <a:pt x="167" y="220"/>
                    </a:cubicBezTo>
                    <a:cubicBezTo>
                      <a:pt x="143" y="142"/>
                      <a:pt x="143" y="142"/>
                      <a:pt x="143" y="142"/>
                    </a:cubicBezTo>
                    <a:cubicBezTo>
                      <a:pt x="144" y="141"/>
                      <a:pt x="174" y="40"/>
                      <a:pt x="174" y="40"/>
                    </a:cubicBezTo>
                    <a:cubicBezTo>
                      <a:pt x="175" y="40"/>
                      <a:pt x="175" y="40"/>
                      <a:pt x="175" y="40"/>
                    </a:cubicBezTo>
                    <a:cubicBezTo>
                      <a:pt x="229" y="40"/>
                      <a:pt x="229" y="40"/>
                      <a:pt x="229" y="40"/>
                    </a:cubicBezTo>
                    <a:cubicBezTo>
                      <a:pt x="240" y="40"/>
                      <a:pt x="240" y="40"/>
                      <a:pt x="240" y="40"/>
                    </a:cubicBezTo>
                    <a:lnTo>
                      <a:pt x="240" y="29"/>
                    </a:lnTo>
                    <a:close/>
                    <a:moveTo>
                      <a:pt x="143" y="183"/>
                    </a:moveTo>
                    <a:cubicBezTo>
                      <a:pt x="120" y="198"/>
                      <a:pt x="120" y="198"/>
                      <a:pt x="120" y="198"/>
                    </a:cubicBezTo>
                    <a:cubicBezTo>
                      <a:pt x="97" y="183"/>
                      <a:pt x="97" y="183"/>
                      <a:pt x="97" y="183"/>
                    </a:cubicBezTo>
                    <a:lnTo>
                      <a:pt x="143" y="183"/>
                    </a:lnTo>
                    <a:close/>
                    <a:moveTo>
                      <a:pt x="138" y="162"/>
                    </a:moveTo>
                    <a:cubicBezTo>
                      <a:pt x="120" y="177"/>
                      <a:pt x="120" y="177"/>
                      <a:pt x="120" y="177"/>
                    </a:cubicBezTo>
                    <a:cubicBezTo>
                      <a:pt x="102" y="162"/>
                      <a:pt x="102" y="162"/>
                      <a:pt x="102" y="162"/>
                    </a:cubicBezTo>
                    <a:lnTo>
                      <a:pt x="138" y="162"/>
                    </a:lnTo>
                    <a:close/>
                    <a:moveTo>
                      <a:pt x="102" y="143"/>
                    </a:moveTo>
                    <a:cubicBezTo>
                      <a:pt x="114" y="156"/>
                      <a:pt x="114" y="156"/>
                      <a:pt x="114" y="156"/>
                    </a:cubicBezTo>
                    <a:cubicBezTo>
                      <a:pt x="98" y="156"/>
                      <a:pt x="98" y="156"/>
                      <a:pt x="98" y="156"/>
                    </a:cubicBezTo>
                    <a:lnTo>
                      <a:pt x="102" y="143"/>
                    </a:lnTo>
                    <a:close/>
                    <a:moveTo>
                      <a:pt x="107" y="141"/>
                    </a:moveTo>
                    <a:cubicBezTo>
                      <a:pt x="133" y="141"/>
                      <a:pt x="133" y="141"/>
                      <a:pt x="133" y="141"/>
                    </a:cubicBezTo>
                    <a:cubicBezTo>
                      <a:pt x="120" y="155"/>
                      <a:pt x="120" y="155"/>
                      <a:pt x="120" y="155"/>
                    </a:cubicBezTo>
                    <a:lnTo>
                      <a:pt x="107" y="141"/>
                    </a:lnTo>
                    <a:close/>
                    <a:moveTo>
                      <a:pt x="113" y="178"/>
                    </a:moveTo>
                    <a:cubicBezTo>
                      <a:pt x="92" y="178"/>
                      <a:pt x="92" y="178"/>
                      <a:pt x="92" y="178"/>
                    </a:cubicBezTo>
                    <a:cubicBezTo>
                      <a:pt x="96" y="164"/>
                      <a:pt x="96" y="164"/>
                      <a:pt x="96" y="164"/>
                    </a:cubicBezTo>
                    <a:lnTo>
                      <a:pt x="113" y="178"/>
                    </a:lnTo>
                    <a:close/>
                    <a:moveTo>
                      <a:pt x="111" y="199"/>
                    </a:moveTo>
                    <a:cubicBezTo>
                      <a:pt x="85" y="199"/>
                      <a:pt x="85" y="199"/>
                      <a:pt x="85" y="199"/>
                    </a:cubicBezTo>
                    <a:cubicBezTo>
                      <a:pt x="90" y="184"/>
                      <a:pt x="90" y="184"/>
                      <a:pt x="90" y="184"/>
                    </a:cubicBezTo>
                    <a:lnTo>
                      <a:pt x="111" y="199"/>
                    </a:lnTo>
                    <a:close/>
                    <a:moveTo>
                      <a:pt x="151" y="184"/>
                    </a:moveTo>
                    <a:cubicBezTo>
                      <a:pt x="155" y="199"/>
                      <a:pt x="155" y="199"/>
                      <a:pt x="155" y="199"/>
                    </a:cubicBezTo>
                    <a:cubicBezTo>
                      <a:pt x="129" y="199"/>
                      <a:pt x="129" y="199"/>
                      <a:pt x="129" y="199"/>
                    </a:cubicBezTo>
                    <a:lnTo>
                      <a:pt x="151" y="184"/>
                    </a:lnTo>
                    <a:close/>
                    <a:moveTo>
                      <a:pt x="128" y="178"/>
                    </a:moveTo>
                    <a:cubicBezTo>
                      <a:pt x="144" y="164"/>
                      <a:pt x="144" y="164"/>
                      <a:pt x="144" y="164"/>
                    </a:cubicBezTo>
                    <a:cubicBezTo>
                      <a:pt x="149" y="178"/>
                      <a:pt x="149" y="178"/>
                      <a:pt x="149" y="178"/>
                    </a:cubicBezTo>
                    <a:lnTo>
                      <a:pt x="128" y="178"/>
                    </a:lnTo>
                    <a:close/>
                    <a:moveTo>
                      <a:pt x="126" y="156"/>
                    </a:moveTo>
                    <a:cubicBezTo>
                      <a:pt x="138" y="143"/>
                      <a:pt x="138" y="143"/>
                      <a:pt x="138" y="143"/>
                    </a:cubicBezTo>
                    <a:cubicBezTo>
                      <a:pt x="142" y="156"/>
                      <a:pt x="142" y="156"/>
                      <a:pt x="142" y="156"/>
                    </a:cubicBezTo>
                    <a:lnTo>
                      <a:pt x="126" y="156"/>
                    </a:lnTo>
                    <a:close/>
                    <a:moveTo>
                      <a:pt x="107" y="135"/>
                    </a:moveTo>
                    <a:cubicBezTo>
                      <a:pt x="111" y="122"/>
                      <a:pt x="111" y="122"/>
                      <a:pt x="111" y="122"/>
                    </a:cubicBezTo>
                    <a:cubicBezTo>
                      <a:pt x="129" y="122"/>
                      <a:pt x="129" y="122"/>
                      <a:pt x="129" y="122"/>
                    </a:cubicBezTo>
                    <a:cubicBezTo>
                      <a:pt x="133" y="135"/>
                      <a:pt x="133" y="135"/>
                      <a:pt x="133" y="135"/>
                    </a:cubicBezTo>
                    <a:lnTo>
                      <a:pt x="107" y="135"/>
                    </a:lnTo>
                    <a:close/>
                    <a:moveTo>
                      <a:pt x="113" y="117"/>
                    </a:moveTo>
                    <a:cubicBezTo>
                      <a:pt x="117" y="104"/>
                      <a:pt x="117" y="104"/>
                      <a:pt x="117" y="104"/>
                    </a:cubicBezTo>
                    <a:cubicBezTo>
                      <a:pt x="123" y="104"/>
                      <a:pt x="123" y="104"/>
                      <a:pt x="123" y="104"/>
                    </a:cubicBezTo>
                    <a:cubicBezTo>
                      <a:pt x="127" y="117"/>
                      <a:pt x="127" y="117"/>
                      <a:pt x="127" y="117"/>
                    </a:cubicBezTo>
                    <a:lnTo>
                      <a:pt x="113" y="117"/>
                    </a:lnTo>
                    <a:close/>
                    <a:moveTo>
                      <a:pt x="124" y="99"/>
                    </a:moveTo>
                    <a:cubicBezTo>
                      <a:pt x="117" y="99"/>
                      <a:pt x="117" y="99"/>
                      <a:pt x="117" y="99"/>
                    </a:cubicBezTo>
                    <a:cubicBezTo>
                      <a:pt x="117" y="99"/>
                      <a:pt x="116" y="98"/>
                      <a:pt x="116" y="98"/>
                    </a:cubicBezTo>
                    <a:cubicBezTo>
                      <a:pt x="87" y="69"/>
                      <a:pt x="87" y="69"/>
                      <a:pt x="87" y="69"/>
                    </a:cubicBezTo>
                    <a:cubicBezTo>
                      <a:pt x="96" y="40"/>
                      <a:pt x="96" y="40"/>
                      <a:pt x="96" y="40"/>
                    </a:cubicBezTo>
                    <a:cubicBezTo>
                      <a:pt x="120" y="40"/>
                      <a:pt x="120" y="40"/>
                      <a:pt x="120" y="40"/>
                    </a:cubicBezTo>
                    <a:cubicBezTo>
                      <a:pt x="144" y="40"/>
                      <a:pt x="144" y="40"/>
                      <a:pt x="144" y="40"/>
                    </a:cubicBezTo>
                    <a:cubicBezTo>
                      <a:pt x="153" y="69"/>
                      <a:pt x="153" y="69"/>
                      <a:pt x="153" y="69"/>
                    </a:cubicBezTo>
                    <a:cubicBezTo>
                      <a:pt x="124" y="98"/>
                      <a:pt x="124" y="98"/>
                      <a:pt x="124" y="98"/>
                    </a:cubicBezTo>
                    <a:cubicBezTo>
                      <a:pt x="124" y="98"/>
                      <a:pt x="124" y="99"/>
                      <a:pt x="124" y="99"/>
                    </a:cubicBezTo>
                    <a:close/>
                    <a:moveTo>
                      <a:pt x="66" y="21"/>
                    </a:moveTo>
                    <a:cubicBezTo>
                      <a:pt x="78" y="21"/>
                      <a:pt x="78" y="21"/>
                      <a:pt x="78" y="21"/>
                    </a:cubicBezTo>
                    <a:cubicBezTo>
                      <a:pt x="92" y="35"/>
                      <a:pt x="92" y="35"/>
                      <a:pt x="92" y="35"/>
                    </a:cubicBezTo>
                    <a:cubicBezTo>
                      <a:pt x="70" y="35"/>
                      <a:pt x="70" y="35"/>
                      <a:pt x="70" y="35"/>
                    </a:cubicBezTo>
                    <a:lnTo>
                      <a:pt x="66" y="21"/>
                    </a:lnTo>
                    <a:close/>
                    <a:moveTo>
                      <a:pt x="125" y="26"/>
                    </a:moveTo>
                    <a:cubicBezTo>
                      <a:pt x="142" y="35"/>
                      <a:pt x="142" y="35"/>
                      <a:pt x="142" y="35"/>
                    </a:cubicBezTo>
                    <a:cubicBezTo>
                      <a:pt x="125" y="35"/>
                      <a:pt x="125" y="35"/>
                      <a:pt x="125" y="35"/>
                    </a:cubicBezTo>
                    <a:lnTo>
                      <a:pt x="125" y="26"/>
                    </a:lnTo>
                    <a:close/>
                    <a:moveTo>
                      <a:pt x="115" y="35"/>
                    </a:moveTo>
                    <a:cubicBezTo>
                      <a:pt x="98" y="35"/>
                      <a:pt x="98" y="35"/>
                      <a:pt x="98" y="35"/>
                    </a:cubicBezTo>
                    <a:cubicBezTo>
                      <a:pt x="115" y="26"/>
                      <a:pt x="115" y="26"/>
                      <a:pt x="115" y="26"/>
                    </a:cubicBezTo>
                    <a:lnTo>
                      <a:pt x="115" y="35"/>
                    </a:lnTo>
                    <a:close/>
                    <a:moveTo>
                      <a:pt x="162" y="21"/>
                    </a:moveTo>
                    <a:cubicBezTo>
                      <a:pt x="168" y="21"/>
                      <a:pt x="168" y="21"/>
                      <a:pt x="168" y="21"/>
                    </a:cubicBezTo>
                    <a:cubicBezTo>
                      <a:pt x="174" y="21"/>
                      <a:pt x="174" y="21"/>
                      <a:pt x="174" y="21"/>
                    </a:cubicBezTo>
                    <a:cubicBezTo>
                      <a:pt x="170" y="35"/>
                      <a:pt x="170" y="35"/>
                      <a:pt x="170" y="35"/>
                    </a:cubicBezTo>
                    <a:cubicBezTo>
                      <a:pt x="161" y="35"/>
                      <a:pt x="161" y="35"/>
                      <a:pt x="161" y="35"/>
                    </a:cubicBezTo>
                    <a:cubicBezTo>
                      <a:pt x="148" y="35"/>
                      <a:pt x="148" y="35"/>
                      <a:pt x="148" y="35"/>
                    </a:cubicBezTo>
                    <a:lnTo>
                      <a:pt x="162" y="21"/>
                    </a:lnTo>
                    <a:close/>
                    <a:moveTo>
                      <a:pt x="176" y="15"/>
                    </a:moveTo>
                    <a:cubicBezTo>
                      <a:pt x="175" y="15"/>
                      <a:pt x="175" y="15"/>
                      <a:pt x="175" y="15"/>
                    </a:cubicBezTo>
                    <a:cubicBezTo>
                      <a:pt x="168" y="15"/>
                      <a:pt x="168" y="15"/>
                      <a:pt x="168" y="15"/>
                    </a:cubicBezTo>
                    <a:cubicBezTo>
                      <a:pt x="168" y="15"/>
                      <a:pt x="168" y="15"/>
                      <a:pt x="168" y="15"/>
                    </a:cubicBezTo>
                    <a:cubicBezTo>
                      <a:pt x="175" y="8"/>
                      <a:pt x="175" y="8"/>
                      <a:pt x="175" y="8"/>
                    </a:cubicBezTo>
                    <a:cubicBezTo>
                      <a:pt x="178" y="8"/>
                      <a:pt x="178" y="8"/>
                      <a:pt x="178" y="8"/>
                    </a:cubicBezTo>
                    <a:lnTo>
                      <a:pt x="176" y="15"/>
                    </a:lnTo>
                    <a:close/>
                    <a:moveTo>
                      <a:pt x="155" y="21"/>
                    </a:moveTo>
                    <a:cubicBezTo>
                      <a:pt x="145" y="30"/>
                      <a:pt x="145" y="30"/>
                      <a:pt x="145" y="30"/>
                    </a:cubicBezTo>
                    <a:cubicBezTo>
                      <a:pt x="126" y="21"/>
                      <a:pt x="126" y="21"/>
                      <a:pt x="126" y="21"/>
                    </a:cubicBezTo>
                    <a:lnTo>
                      <a:pt x="155" y="21"/>
                    </a:lnTo>
                    <a:close/>
                    <a:moveTo>
                      <a:pt x="114" y="21"/>
                    </a:moveTo>
                    <a:cubicBezTo>
                      <a:pt x="95" y="30"/>
                      <a:pt x="95" y="30"/>
                      <a:pt x="95" y="30"/>
                    </a:cubicBezTo>
                    <a:cubicBezTo>
                      <a:pt x="86" y="21"/>
                      <a:pt x="86" y="21"/>
                      <a:pt x="86" y="21"/>
                    </a:cubicBezTo>
                    <a:lnTo>
                      <a:pt x="114" y="21"/>
                    </a:lnTo>
                    <a:close/>
                    <a:moveTo>
                      <a:pt x="65" y="8"/>
                    </a:moveTo>
                    <a:cubicBezTo>
                      <a:pt x="73" y="15"/>
                      <a:pt x="73" y="15"/>
                      <a:pt x="73" y="15"/>
                    </a:cubicBezTo>
                    <a:cubicBezTo>
                      <a:pt x="72" y="15"/>
                      <a:pt x="72" y="15"/>
                      <a:pt x="72" y="15"/>
                    </a:cubicBezTo>
                    <a:cubicBezTo>
                      <a:pt x="65" y="15"/>
                      <a:pt x="65" y="15"/>
                      <a:pt x="65" y="15"/>
                    </a:cubicBezTo>
                    <a:cubicBezTo>
                      <a:pt x="62" y="8"/>
                      <a:pt x="62" y="8"/>
                      <a:pt x="62" y="8"/>
                    </a:cubicBezTo>
                    <a:lnTo>
                      <a:pt x="65" y="8"/>
                    </a:lnTo>
                    <a:close/>
                    <a:moveTo>
                      <a:pt x="16" y="35"/>
                    </a:moveTo>
                    <a:cubicBezTo>
                      <a:pt x="16" y="33"/>
                      <a:pt x="16" y="33"/>
                      <a:pt x="16" y="33"/>
                    </a:cubicBezTo>
                    <a:cubicBezTo>
                      <a:pt x="42" y="27"/>
                      <a:pt x="42" y="27"/>
                      <a:pt x="42" y="27"/>
                    </a:cubicBezTo>
                    <a:cubicBezTo>
                      <a:pt x="43" y="27"/>
                      <a:pt x="48" y="35"/>
                      <a:pt x="48" y="35"/>
                    </a:cubicBezTo>
                    <a:lnTo>
                      <a:pt x="16" y="35"/>
                    </a:lnTo>
                    <a:close/>
                    <a:moveTo>
                      <a:pt x="55" y="35"/>
                    </a:moveTo>
                    <a:cubicBezTo>
                      <a:pt x="55" y="34"/>
                      <a:pt x="48" y="25"/>
                      <a:pt x="48" y="25"/>
                    </a:cubicBezTo>
                    <a:cubicBezTo>
                      <a:pt x="61" y="22"/>
                      <a:pt x="61" y="22"/>
                      <a:pt x="61" y="22"/>
                    </a:cubicBezTo>
                    <a:cubicBezTo>
                      <a:pt x="65" y="35"/>
                      <a:pt x="65" y="35"/>
                      <a:pt x="65" y="35"/>
                    </a:cubicBezTo>
                    <a:lnTo>
                      <a:pt x="55" y="35"/>
                    </a:lnTo>
                    <a:close/>
                    <a:moveTo>
                      <a:pt x="90" y="40"/>
                    </a:moveTo>
                    <a:cubicBezTo>
                      <a:pt x="83" y="66"/>
                      <a:pt x="83" y="66"/>
                      <a:pt x="83" y="66"/>
                    </a:cubicBezTo>
                    <a:cubicBezTo>
                      <a:pt x="82" y="65"/>
                      <a:pt x="82" y="65"/>
                      <a:pt x="81" y="65"/>
                    </a:cubicBezTo>
                    <a:cubicBezTo>
                      <a:pt x="81" y="65"/>
                      <a:pt x="80" y="65"/>
                      <a:pt x="80" y="66"/>
                    </a:cubicBezTo>
                    <a:cubicBezTo>
                      <a:pt x="72" y="40"/>
                      <a:pt x="72" y="40"/>
                      <a:pt x="72" y="40"/>
                    </a:cubicBezTo>
                    <a:lnTo>
                      <a:pt x="90" y="40"/>
                    </a:lnTo>
                    <a:close/>
                    <a:moveTo>
                      <a:pt x="82" y="72"/>
                    </a:moveTo>
                    <a:cubicBezTo>
                      <a:pt x="83" y="72"/>
                      <a:pt x="83" y="72"/>
                      <a:pt x="83" y="72"/>
                    </a:cubicBezTo>
                    <a:cubicBezTo>
                      <a:pt x="109" y="99"/>
                      <a:pt x="109" y="99"/>
                      <a:pt x="109" y="99"/>
                    </a:cubicBezTo>
                    <a:cubicBezTo>
                      <a:pt x="91" y="99"/>
                      <a:pt x="91" y="99"/>
                      <a:pt x="91" y="99"/>
                    </a:cubicBezTo>
                    <a:cubicBezTo>
                      <a:pt x="91" y="99"/>
                      <a:pt x="90" y="99"/>
                      <a:pt x="90" y="100"/>
                    </a:cubicBezTo>
                    <a:lnTo>
                      <a:pt x="82" y="72"/>
                    </a:lnTo>
                    <a:close/>
                    <a:moveTo>
                      <a:pt x="91" y="104"/>
                    </a:moveTo>
                    <a:cubicBezTo>
                      <a:pt x="111" y="104"/>
                      <a:pt x="111" y="104"/>
                      <a:pt x="111" y="104"/>
                    </a:cubicBezTo>
                    <a:cubicBezTo>
                      <a:pt x="107" y="120"/>
                      <a:pt x="107" y="120"/>
                      <a:pt x="107" y="120"/>
                    </a:cubicBezTo>
                    <a:cubicBezTo>
                      <a:pt x="102" y="135"/>
                      <a:pt x="102" y="135"/>
                      <a:pt x="102" y="135"/>
                    </a:cubicBezTo>
                    <a:cubicBezTo>
                      <a:pt x="101" y="135"/>
                      <a:pt x="101" y="135"/>
                      <a:pt x="101" y="135"/>
                    </a:cubicBezTo>
                    <a:cubicBezTo>
                      <a:pt x="101" y="135"/>
                      <a:pt x="101" y="135"/>
                      <a:pt x="100" y="135"/>
                    </a:cubicBezTo>
                    <a:lnTo>
                      <a:pt x="91" y="104"/>
                    </a:lnTo>
                    <a:close/>
                    <a:moveTo>
                      <a:pt x="82" y="220"/>
                    </a:moveTo>
                    <a:cubicBezTo>
                      <a:pt x="79" y="220"/>
                      <a:pt x="79" y="220"/>
                      <a:pt x="79" y="220"/>
                    </a:cubicBezTo>
                    <a:cubicBezTo>
                      <a:pt x="84" y="204"/>
                      <a:pt x="84" y="204"/>
                      <a:pt x="84" y="204"/>
                    </a:cubicBezTo>
                    <a:cubicBezTo>
                      <a:pt x="95" y="204"/>
                      <a:pt x="95" y="204"/>
                      <a:pt x="95" y="204"/>
                    </a:cubicBezTo>
                    <a:lnTo>
                      <a:pt x="82" y="220"/>
                    </a:lnTo>
                    <a:close/>
                    <a:moveTo>
                      <a:pt x="158" y="220"/>
                    </a:moveTo>
                    <a:cubicBezTo>
                      <a:pt x="145" y="204"/>
                      <a:pt x="145" y="204"/>
                      <a:pt x="145" y="204"/>
                    </a:cubicBezTo>
                    <a:cubicBezTo>
                      <a:pt x="157" y="204"/>
                      <a:pt x="157" y="204"/>
                      <a:pt x="157" y="204"/>
                    </a:cubicBezTo>
                    <a:cubicBezTo>
                      <a:pt x="161" y="220"/>
                      <a:pt x="161" y="220"/>
                      <a:pt x="161" y="220"/>
                    </a:cubicBezTo>
                    <a:lnTo>
                      <a:pt x="158" y="220"/>
                    </a:lnTo>
                    <a:close/>
                    <a:moveTo>
                      <a:pt x="140" y="135"/>
                    </a:moveTo>
                    <a:cubicBezTo>
                      <a:pt x="140" y="135"/>
                      <a:pt x="139" y="135"/>
                      <a:pt x="139" y="135"/>
                    </a:cubicBezTo>
                    <a:cubicBezTo>
                      <a:pt x="138" y="135"/>
                      <a:pt x="138" y="135"/>
                      <a:pt x="138" y="135"/>
                    </a:cubicBezTo>
                    <a:cubicBezTo>
                      <a:pt x="134" y="120"/>
                      <a:pt x="134" y="120"/>
                      <a:pt x="134" y="120"/>
                    </a:cubicBezTo>
                    <a:cubicBezTo>
                      <a:pt x="129" y="104"/>
                      <a:pt x="129" y="104"/>
                      <a:pt x="129" y="104"/>
                    </a:cubicBezTo>
                    <a:cubicBezTo>
                      <a:pt x="149" y="104"/>
                      <a:pt x="149" y="104"/>
                      <a:pt x="149" y="104"/>
                    </a:cubicBezTo>
                    <a:lnTo>
                      <a:pt x="140" y="135"/>
                    </a:lnTo>
                    <a:close/>
                    <a:moveTo>
                      <a:pt x="151" y="100"/>
                    </a:moveTo>
                    <a:cubicBezTo>
                      <a:pt x="150" y="99"/>
                      <a:pt x="150" y="99"/>
                      <a:pt x="149" y="99"/>
                    </a:cubicBezTo>
                    <a:cubicBezTo>
                      <a:pt x="131" y="99"/>
                      <a:pt x="131" y="99"/>
                      <a:pt x="131" y="99"/>
                    </a:cubicBezTo>
                    <a:cubicBezTo>
                      <a:pt x="158" y="72"/>
                      <a:pt x="158" y="72"/>
                      <a:pt x="158" y="72"/>
                    </a:cubicBezTo>
                    <a:cubicBezTo>
                      <a:pt x="159" y="72"/>
                      <a:pt x="159" y="72"/>
                      <a:pt x="159" y="72"/>
                    </a:cubicBezTo>
                    <a:lnTo>
                      <a:pt x="151" y="100"/>
                    </a:lnTo>
                    <a:close/>
                    <a:moveTo>
                      <a:pt x="161" y="66"/>
                    </a:moveTo>
                    <a:cubicBezTo>
                      <a:pt x="160" y="65"/>
                      <a:pt x="160" y="65"/>
                      <a:pt x="159" y="65"/>
                    </a:cubicBezTo>
                    <a:cubicBezTo>
                      <a:pt x="159" y="65"/>
                      <a:pt x="158" y="65"/>
                      <a:pt x="158" y="66"/>
                    </a:cubicBezTo>
                    <a:cubicBezTo>
                      <a:pt x="150" y="40"/>
                      <a:pt x="150" y="40"/>
                      <a:pt x="150" y="40"/>
                    </a:cubicBezTo>
                    <a:cubicBezTo>
                      <a:pt x="161" y="40"/>
                      <a:pt x="161" y="40"/>
                      <a:pt x="161" y="40"/>
                    </a:cubicBezTo>
                    <a:cubicBezTo>
                      <a:pt x="168" y="40"/>
                      <a:pt x="168" y="40"/>
                      <a:pt x="168" y="40"/>
                    </a:cubicBezTo>
                    <a:lnTo>
                      <a:pt x="161" y="66"/>
                    </a:lnTo>
                    <a:close/>
                    <a:moveTo>
                      <a:pt x="179" y="22"/>
                    </a:moveTo>
                    <a:cubicBezTo>
                      <a:pt x="192" y="25"/>
                      <a:pt x="192" y="25"/>
                      <a:pt x="192" y="25"/>
                    </a:cubicBezTo>
                    <a:cubicBezTo>
                      <a:pt x="192" y="25"/>
                      <a:pt x="186" y="34"/>
                      <a:pt x="186" y="35"/>
                    </a:cubicBezTo>
                    <a:cubicBezTo>
                      <a:pt x="176" y="35"/>
                      <a:pt x="176" y="35"/>
                      <a:pt x="176" y="35"/>
                    </a:cubicBezTo>
                    <a:lnTo>
                      <a:pt x="179" y="22"/>
                    </a:lnTo>
                    <a:close/>
                    <a:moveTo>
                      <a:pt x="192" y="35"/>
                    </a:moveTo>
                    <a:cubicBezTo>
                      <a:pt x="192" y="35"/>
                      <a:pt x="198" y="27"/>
                      <a:pt x="198" y="27"/>
                    </a:cubicBezTo>
                    <a:cubicBezTo>
                      <a:pt x="224" y="33"/>
                      <a:pt x="224" y="33"/>
                      <a:pt x="224" y="33"/>
                    </a:cubicBezTo>
                    <a:cubicBezTo>
                      <a:pt x="224" y="35"/>
                      <a:pt x="224" y="35"/>
                      <a:pt x="224" y="35"/>
                    </a:cubicBezTo>
                    <a:lnTo>
                      <a:pt x="192"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sp>
            <p:nvSpPr>
              <p:cNvPr id="45" name="Freeform 186"/>
              <p:cNvSpPr>
                <a:spLocks/>
              </p:cNvSpPr>
              <p:nvPr/>
            </p:nvSpPr>
            <p:spPr bwMode="auto">
              <a:xfrm>
                <a:off x="10820405" y="3942123"/>
                <a:ext cx="403225" cy="212725"/>
              </a:xfrm>
              <a:custGeom>
                <a:avLst/>
                <a:gdLst>
                  <a:gd name="T0" fmla="*/ 40 w 42"/>
                  <a:gd name="T1" fmla="*/ 1 h 22"/>
                  <a:gd name="T2" fmla="*/ 25 w 42"/>
                  <a:gd name="T3" fmla="*/ 16 h 22"/>
                  <a:gd name="T4" fmla="*/ 24 w 42"/>
                  <a:gd name="T5" fmla="*/ 16 h 22"/>
                  <a:gd name="T6" fmla="*/ 19 w 42"/>
                  <a:gd name="T7" fmla="*/ 16 h 22"/>
                  <a:gd name="T8" fmla="*/ 18 w 42"/>
                  <a:gd name="T9" fmla="*/ 16 h 22"/>
                  <a:gd name="T10" fmla="*/ 3 w 42"/>
                  <a:gd name="T11" fmla="*/ 1 h 22"/>
                  <a:gd name="T12" fmla="*/ 1 w 42"/>
                  <a:gd name="T13" fmla="*/ 1 h 22"/>
                  <a:gd name="T14" fmla="*/ 1 w 42"/>
                  <a:gd name="T15" fmla="*/ 3 h 22"/>
                  <a:gd name="T16" fmla="*/ 16 w 42"/>
                  <a:gd name="T17" fmla="*/ 18 h 22"/>
                  <a:gd name="T18" fmla="*/ 15 w 42"/>
                  <a:gd name="T19" fmla="*/ 19 h 22"/>
                  <a:gd name="T20" fmla="*/ 19 w 42"/>
                  <a:gd name="T21" fmla="*/ 22 h 22"/>
                  <a:gd name="T22" fmla="*/ 24 w 42"/>
                  <a:gd name="T23" fmla="*/ 22 h 22"/>
                  <a:gd name="T24" fmla="*/ 27 w 42"/>
                  <a:gd name="T25" fmla="*/ 19 h 22"/>
                  <a:gd name="T26" fmla="*/ 27 w 42"/>
                  <a:gd name="T27" fmla="*/ 18 h 22"/>
                  <a:gd name="T28" fmla="*/ 42 w 42"/>
                  <a:gd name="T29" fmla="*/ 3 h 22"/>
                  <a:gd name="T30" fmla="*/ 42 w 42"/>
                  <a:gd name="T31" fmla="*/ 1 h 22"/>
                  <a:gd name="T32" fmla="*/ 40 w 42"/>
                  <a:gd name="T33" fmla="*/ 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22">
                    <a:moveTo>
                      <a:pt x="40" y="1"/>
                    </a:moveTo>
                    <a:cubicBezTo>
                      <a:pt x="25" y="16"/>
                      <a:pt x="25" y="16"/>
                      <a:pt x="25" y="16"/>
                    </a:cubicBezTo>
                    <a:cubicBezTo>
                      <a:pt x="25" y="16"/>
                      <a:pt x="24" y="16"/>
                      <a:pt x="24" y="16"/>
                    </a:cubicBezTo>
                    <a:cubicBezTo>
                      <a:pt x="19" y="16"/>
                      <a:pt x="19" y="16"/>
                      <a:pt x="19" y="16"/>
                    </a:cubicBezTo>
                    <a:cubicBezTo>
                      <a:pt x="18" y="16"/>
                      <a:pt x="18" y="16"/>
                      <a:pt x="18" y="16"/>
                    </a:cubicBezTo>
                    <a:cubicBezTo>
                      <a:pt x="3" y="1"/>
                      <a:pt x="3" y="1"/>
                      <a:pt x="3" y="1"/>
                    </a:cubicBezTo>
                    <a:cubicBezTo>
                      <a:pt x="2" y="0"/>
                      <a:pt x="1" y="0"/>
                      <a:pt x="1" y="1"/>
                    </a:cubicBezTo>
                    <a:cubicBezTo>
                      <a:pt x="0" y="1"/>
                      <a:pt x="0" y="2"/>
                      <a:pt x="1" y="3"/>
                    </a:cubicBezTo>
                    <a:cubicBezTo>
                      <a:pt x="16" y="18"/>
                      <a:pt x="16" y="18"/>
                      <a:pt x="16" y="18"/>
                    </a:cubicBezTo>
                    <a:cubicBezTo>
                      <a:pt x="15" y="18"/>
                      <a:pt x="15" y="19"/>
                      <a:pt x="15" y="19"/>
                    </a:cubicBezTo>
                    <a:cubicBezTo>
                      <a:pt x="15" y="21"/>
                      <a:pt x="17" y="22"/>
                      <a:pt x="19" y="22"/>
                    </a:cubicBezTo>
                    <a:cubicBezTo>
                      <a:pt x="24" y="22"/>
                      <a:pt x="24" y="22"/>
                      <a:pt x="24" y="22"/>
                    </a:cubicBezTo>
                    <a:cubicBezTo>
                      <a:pt x="26" y="22"/>
                      <a:pt x="27" y="21"/>
                      <a:pt x="27" y="19"/>
                    </a:cubicBezTo>
                    <a:cubicBezTo>
                      <a:pt x="27" y="19"/>
                      <a:pt x="27" y="18"/>
                      <a:pt x="27" y="18"/>
                    </a:cubicBezTo>
                    <a:cubicBezTo>
                      <a:pt x="42" y="3"/>
                      <a:pt x="42" y="3"/>
                      <a:pt x="42" y="3"/>
                    </a:cubicBezTo>
                    <a:cubicBezTo>
                      <a:pt x="42" y="2"/>
                      <a:pt x="42" y="1"/>
                      <a:pt x="42" y="1"/>
                    </a:cubicBezTo>
                    <a:cubicBezTo>
                      <a:pt x="41" y="0"/>
                      <a:pt x="40" y="0"/>
                      <a:pt x="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1189" tIns="35595" rIns="71189" bIns="35595" numCol="1" anchor="t" anchorCtr="0" compatLnSpc="1">
                <a:prstTxWarp prst="textNoShape">
                  <a:avLst/>
                </a:prstTxWarp>
              </a:bodyPr>
              <a:lstStyle/>
              <a:p>
                <a:pPr defTabSz="711981">
                  <a:defRPr/>
                </a:pPr>
                <a:endParaRPr lang="en-US" sz="1400" kern="0" dirty="0">
                  <a:solidFill>
                    <a:srgbClr val="5C5C5C"/>
                  </a:solidFill>
                  <a:latin typeface="+mj-lt"/>
                </a:endParaRPr>
              </a:p>
            </p:txBody>
          </p:sp>
        </p:grpSp>
        <p:sp>
          <p:nvSpPr>
            <p:cNvPr id="40" name="Arc 39"/>
            <p:cNvSpPr>
              <a:spLocks noChangeAspect="1"/>
            </p:cNvSpPr>
            <p:nvPr/>
          </p:nvSpPr>
          <p:spPr>
            <a:xfrm flipH="1" flipV="1">
              <a:off x="4288690" y="1418556"/>
              <a:ext cx="462723" cy="386069"/>
            </a:xfrm>
            <a:prstGeom prst="arc">
              <a:avLst>
                <a:gd name="adj1" fmla="val 11577148"/>
                <a:gd name="adj2" fmla="val 19257702"/>
              </a:avLst>
            </a:prstGeom>
            <a:noFill/>
            <a:ln w="12700" cap="flat" cmpd="sng" algn="ctr">
              <a:solidFill>
                <a:schemeClr val="bg1"/>
              </a:solidFill>
              <a:prstDash val="solid"/>
              <a:miter lim="800000"/>
            </a:ln>
            <a:effectLst/>
          </p:spPr>
          <p:txBody>
            <a:bodyPr rtlCol="0" anchor="ctr"/>
            <a:lstStyle/>
            <a:p>
              <a:pPr algn="ctr" defTabSz="711981">
                <a:defRPr/>
              </a:pPr>
              <a:endParaRPr lang="en-US" sz="1400" kern="0" dirty="0">
                <a:solidFill>
                  <a:srgbClr val="5C5C5C"/>
                </a:solidFill>
                <a:latin typeface="+mj-lt"/>
              </a:endParaRPr>
            </a:p>
          </p:txBody>
        </p:sp>
        <p:sp>
          <p:nvSpPr>
            <p:cNvPr id="41" name="Arc 40"/>
            <p:cNvSpPr>
              <a:spLocks noChangeAspect="1"/>
            </p:cNvSpPr>
            <p:nvPr/>
          </p:nvSpPr>
          <p:spPr>
            <a:xfrm flipH="1" flipV="1">
              <a:off x="4140641" y="1421295"/>
              <a:ext cx="379410" cy="386069"/>
            </a:xfrm>
            <a:prstGeom prst="arc">
              <a:avLst>
                <a:gd name="adj1" fmla="val 11577148"/>
                <a:gd name="adj2" fmla="val 19058909"/>
              </a:avLst>
            </a:prstGeom>
            <a:noFill/>
            <a:ln w="12700" cap="flat" cmpd="sng" algn="ctr">
              <a:solidFill>
                <a:schemeClr val="bg1"/>
              </a:solidFill>
              <a:prstDash val="solid"/>
              <a:miter lim="800000"/>
            </a:ln>
            <a:effectLst/>
          </p:spPr>
          <p:txBody>
            <a:bodyPr rtlCol="0" anchor="ctr"/>
            <a:lstStyle/>
            <a:p>
              <a:pPr algn="ctr" defTabSz="711981">
                <a:defRPr/>
              </a:pPr>
              <a:endParaRPr lang="en-US" sz="1400" kern="0" dirty="0">
                <a:solidFill>
                  <a:srgbClr val="5C5C5C"/>
                </a:solidFill>
                <a:latin typeface="+mj-lt"/>
              </a:endParaRPr>
            </a:p>
          </p:txBody>
        </p:sp>
      </p:grpSp>
      <p:sp>
        <p:nvSpPr>
          <p:cNvPr id="54" name="Rectangle 53"/>
          <p:cNvSpPr/>
          <p:nvPr/>
        </p:nvSpPr>
        <p:spPr>
          <a:xfrm>
            <a:off x="469900" y="4517053"/>
            <a:ext cx="1593341" cy="740936"/>
          </a:xfrm>
          <a:prstGeom prst="rect">
            <a:avLst/>
          </a:prstGeom>
          <a:solidFill>
            <a:srgbClr val="00A3E0"/>
          </a:solidFill>
          <a:ln w="12700">
            <a:noFill/>
          </a:ln>
        </p:spPr>
        <p:style>
          <a:lnRef idx="2">
            <a:schemeClr val="accent1">
              <a:shade val="50000"/>
            </a:schemeClr>
          </a:lnRef>
          <a:fillRef idx="1">
            <a:schemeClr val="accent1"/>
          </a:fillRef>
          <a:effectRef idx="0">
            <a:schemeClr val="accent1"/>
          </a:effectRef>
          <a:fontRef idx="minor">
            <a:schemeClr val="lt1"/>
          </a:fontRef>
        </p:style>
        <p:txBody>
          <a:bodyPr tIns="144000" anchor="t"/>
          <a:lstStyle/>
          <a:p>
            <a:pPr algn="ctr" defTabSz="914400" fontAlgn="base">
              <a:spcBef>
                <a:spcPct val="0"/>
              </a:spcBef>
              <a:spcAft>
                <a:spcPct val="0"/>
              </a:spcAft>
              <a:buSzPct val="90000"/>
              <a:defRPr/>
            </a:pPr>
            <a:r>
              <a:rPr lang="en-GB" sz="1400" b="1" dirty="0">
                <a:solidFill>
                  <a:prstClr val="white"/>
                </a:solidFill>
                <a:latin typeface="+mj-lt"/>
                <a:ea typeface="ＭＳ Ｐゴシック"/>
                <a:cs typeface="Arial" pitchFamily="34" charset="0"/>
              </a:rPr>
              <a:t>Distribution</a:t>
            </a:r>
          </a:p>
        </p:txBody>
      </p:sp>
      <p:grpSp>
        <p:nvGrpSpPr>
          <p:cNvPr id="55" name="Group 54"/>
          <p:cNvGrpSpPr/>
          <p:nvPr/>
        </p:nvGrpSpPr>
        <p:grpSpPr>
          <a:xfrm>
            <a:off x="851662" y="4923607"/>
            <a:ext cx="767966" cy="239222"/>
            <a:chOff x="1444157" y="5419048"/>
            <a:chExt cx="961157" cy="387767"/>
          </a:xfrm>
        </p:grpSpPr>
        <p:grpSp>
          <p:nvGrpSpPr>
            <p:cNvPr id="56" name="Group 55"/>
            <p:cNvGrpSpPr/>
            <p:nvPr/>
          </p:nvGrpSpPr>
          <p:grpSpPr>
            <a:xfrm flipH="1">
              <a:off x="1808071" y="5577856"/>
              <a:ext cx="117325" cy="105305"/>
              <a:chOff x="1340484" y="2602166"/>
              <a:chExt cx="528301" cy="396000"/>
            </a:xfrm>
            <a:solidFill>
              <a:schemeClr val="bg1"/>
            </a:solidFill>
            <a:scene3d>
              <a:camera prst="orthographicFront">
                <a:rot lat="0" lon="0" rev="0"/>
              </a:camera>
              <a:lightRig rig="threePt" dir="t"/>
            </a:scene3d>
          </p:grpSpPr>
          <p:cxnSp>
            <p:nvCxnSpPr>
              <p:cNvPr id="77" name="Straight Connector 76"/>
              <p:cNvCxnSpPr/>
              <p:nvPr/>
            </p:nvCxnSpPr>
            <p:spPr>
              <a:xfrm flipH="1" flipV="1">
                <a:off x="1390955" y="2743200"/>
                <a:ext cx="71460" cy="253553"/>
              </a:xfrm>
              <a:prstGeom prst="line">
                <a:avLst/>
              </a:prstGeom>
              <a:grpFill/>
              <a:ln w="19050" cap="flat" cmpd="sng" algn="ctr">
                <a:solidFill>
                  <a:schemeClr val="bg1"/>
                </a:solidFill>
                <a:prstDash val="solid"/>
              </a:ln>
              <a:effectLst/>
            </p:spPr>
          </p:cxnSp>
          <p:cxnSp>
            <p:nvCxnSpPr>
              <p:cNvPr id="78" name="Straight Connector 77"/>
              <p:cNvCxnSpPr/>
              <p:nvPr/>
            </p:nvCxnSpPr>
            <p:spPr>
              <a:xfrm flipV="1">
                <a:off x="1677399" y="2602166"/>
                <a:ext cx="134397" cy="396000"/>
              </a:xfrm>
              <a:prstGeom prst="line">
                <a:avLst/>
              </a:prstGeom>
              <a:grpFill/>
              <a:ln w="19050" cap="flat" cmpd="sng" algn="ctr">
                <a:solidFill>
                  <a:schemeClr val="bg1"/>
                </a:solidFill>
                <a:prstDash val="solid"/>
              </a:ln>
              <a:effectLst/>
            </p:spPr>
          </p:cxnSp>
          <p:cxnSp>
            <p:nvCxnSpPr>
              <p:cNvPr id="79" name="Straight Connector 78"/>
              <p:cNvCxnSpPr/>
              <p:nvPr/>
            </p:nvCxnSpPr>
            <p:spPr>
              <a:xfrm>
                <a:off x="1702461" y="2647924"/>
                <a:ext cx="166324" cy="56966"/>
              </a:xfrm>
              <a:prstGeom prst="line">
                <a:avLst/>
              </a:prstGeom>
              <a:grpFill/>
              <a:ln w="19050" cap="flat" cmpd="sng" algn="ctr">
                <a:solidFill>
                  <a:schemeClr val="bg1"/>
                </a:solidFill>
                <a:prstDash val="solid"/>
              </a:ln>
              <a:effectLst/>
            </p:spPr>
          </p:cxnSp>
          <p:cxnSp>
            <p:nvCxnSpPr>
              <p:cNvPr id="80" name="Straight Connector 79"/>
              <p:cNvCxnSpPr/>
              <p:nvPr/>
            </p:nvCxnSpPr>
            <p:spPr>
              <a:xfrm>
                <a:off x="1661435" y="2763024"/>
                <a:ext cx="166324" cy="56966"/>
              </a:xfrm>
              <a:prstGeom prst="line">
                <a:avLst/>
              </a:prstGeom>
              <a:grpFill/>
              <a:ln w="19050" cap="flat" cmpd="sng" algn="ctr">
                <a:solidFill>
                  <a:schemeClr val="bg1"/>
                </a:solidFill>
                <a:prstDash val="solid"/>
              </a:ln>
              <a:effectLst/>
            </p:spPr>
          </p:cxnSp>
          <p:cxnSp>
            <p:nvCxnSpPr>
              <p:cNvPr id="81" name="Straight Connector 80"/>
              <p:cNvCxnSpPr/>
              <p:nvPr/>
            </p:nvCxnSpPr>
            <p:spPr>
              <a:xfrm>
                <a:off x="1623575" y="2867648"/>
                <a:ext cx="166324" cy="56966"/>
              </a:xfrm>
              <a:prstGeom prst="line">
                <a:avLst/>
              </a:prstGeom>
              <a:grpFill/>
              <a:ln w="19050" cap="flat" cmpd="sng" algn="ctr">
                <a:solidFill>
                  <a:schemeClr val="bg1"/>
                </a:solidFill>
                <a:prstDash val="solid"/>
              </a:ln>
              <a:effectLst/>
            </p:spPr>
          </p:cxnSp>
          <p:cxnSp>
            <p:nvCxnSpPr>
              <p:cNvPr id="82" name="Straight Connector 81"/>
              <p:cNvCxnSpPr/>
              <p:nvPr/>
            </p:nvCxnSpPr>
            <p:spPr>
              <a:xfrm flipH="1">
                <a:off x="1340484" y="2795369"/>
                <a:ext cx="128370" cy="36162"/>
              </a:xfrm>
              <a:prstGeom prst="line">
                <a:avLst/>
              </a:prstGeom>
              <a:grpFill/>
              <a:ln w="19050" cap="flat" cmpd="sng" algn="ctr">
                <a:solidFill>
                  <a:schemeClr val="bg1"/>
                </a:solidFill>
                <a:prstDash val="solid"/>
              </a:ln>
              <a:effectLst/>
            </p:spPr>
          </p:cxnSp>
          <p:cxnSp>
            <p:nvCxnSpPr>
              <p:cNvPr id="83" name="Straight Connector 82"/>
              <p:cNvCxnSpPr/>
              <p:nvPr/>
            </p:nvCxnSpPr>
            <p:spPr>
              <a:xfrm flipH="1">
                <a:off x="1369059" y="2881094"/>
                <a:ext cx="128370" cy="36162"/>
              </a:xfrm>
              <a:prstGeom prst="line">
                <a:avLst/>
              </a:prstGeom>
              <a:grpFill/>
              <a:ln w="19050" cap="flat" cmpd="sng" algn="ctr">
                <a:solidFill>
                  <a:schemeClr val="bg1"/>
                </a:solidFill>
                <a:prstDash val="solid"/>
              </a:ln>
              <a:effectLst/>
            </p:spPr>
          </p:cxnSp>
        </p:grpSp>
        <p:grpSp>
          <p:nvGrpSpPr>
            <p:cNvPr id="57" name="Group 56"/>
            <p:cNvGrpSpPr/>
            <p:nvPr/>
          </p:nvGrpSpPr>
          <p:grpSpPr>
            <a:xfrm>
              <a:off x="1444157" y="5440927"/>
              <a:ext cx="209024" cy="365888"/>
              <a:chOff x="4054122" y="5230003"/>
              <a:chExt cx="288000" cy="612000"/>
            </a:xfrm>
            <a:solidFill>
              <a:schemeClr val="bg1"/>
            </a:solidFill>
            <a:scene3d>
              <a:camera prst="orthographicFront">
                <a:rot lat="0" lon="0" rev="0"/>
              </a:camera>
              <a:lightRig rig="threePt" dir="t"/>
            </a:scene3d>
          </p:grpSpPr>
          <p:cxnSp>
            <p:nvCxnSpPr>
              <p:cNvPr id="75" name="Straight Connector 74"/>
              <p:cNvCxnSpPr/>
              <p:nvPr/>
            </p:nvCxnSpPr>
            <p:spPr>
              <a:xfrm>
                <a:off x="4207275" y="5230003"/>
                <a:ext cx="0" cy="612000"/>
              </a:xfrm>
              <a:prstGeom prst="line">
                <a:avLst/>
              </a:prstGeom>
              <a:grpFill/>
              <a:ln w="28575" cap="flat" cmpd="sng" algn="ctr">
                <a:solidFill>
                  <a:schemeClr val="bg1"/>
                </a:solidFill>
                <a:prstDash val="solid"/>
              </a:ln>
              <a:effectLst/>
            </p:spPr>
          </p:cxnSp>
          <p:cxnSp>
            <p:nvCxnSpPr>
              <p:cNvPr id="76" name="Straight Connector 75"/>
              <p:cNvCxnSpPr/>
              <p:nvPr/>
            </p:nvCxnSpPr>
            <p:spPr>
              <a:xfrm rot="16200000">
                <a:off x="4198122" y="5262589"/>
                <a:ext cx="0" cy="288000"/>
              </a:xfrm>
              <a:prstGeom prst="line">
                <a:avLst/>
              </a:prstGeom>
              <a:grpFill/>
              <a:ln w="28575" cap="flat" cmpd="sng" algn="ctr">
                <a:solidFill>
                  <a:schemeClr val="bg1"/>
                </a:solidFill>
                <a:prstDash val="solid"/>
              </a:ln>
              <a:effectLst/>
            </p:spPr>
          </p:cxnSp>
        </p:grpSp>
        <p:grpSp>
          <p:nvGrpSpPr>
            <p:cNvPr id="58" name="Group 57"/>
            <p:cNvGrpSpPr/>
            <p:nvPr/>
          </p:nvGrpSpPr>
          <p:grpSpPr>
            <a:xfrm>
              <a:off x="2106412" y="5419048"/>
              <a:ext cx="298902" cy="372815"/>
              <a:chOff x="7950804" y="4285150"/>
              <a:chExt cx="938885" cy="833314"/>
            </a:xfrm>
            <a:solidFill>
              <a:schemeClr val="bg1"/>
            </a:solidFill>
          </p:grpSpPr>
          <p:grpSp>
            <p:nvGrpSpPr>
              <p:cNvPr id="62" name="Group 61"/>
              <p:cNvGrpSpPr/>
              <p:nvPr/>
            </p:nvGrpSpPr>
            <p:grpSpPr>
              <a:xfrm>
                <a:off x="7950804" y="4285150"/>
                <a:ext cx="938885" cy="833314"/>
                <a:chOff x="6216747" y="5485003"/>
                <a:chExt cx="943560" cy="959498"/>
              </a:xfrm>
              <a:grpFill/>
              <a:scene3d>
                <a:camera prst="orthographicFront">
                  <a:rot lat="0" lon="0" rev="0"/>
                </a:camera>
                <a:lightRig rig="threePt" dir="t"/>
              </a:scene3d>
            </p:grpSpPr>
            <p:sp>
              <p:nvSpPr>
                <p:cNvPr id="64" name="Freeform 320"/>
                <p:cNvSpPr>
                  <a:spLocks noEditPoints="1"/>
                </p:cNvSpPr>
                <p:nvPr/>
              </p:nvSpPr>
              <p:spPr bwMode="auto">
                <a:xfrm>
                  <a:off x="6216747" y="5780640"/>
                  <a:ext cx="943560" cy="663861"/>
                </a:xfrm>
                <a:custGeom>
                  <a:avLst/>
                  <a:gdLst>
                    <a:gd name="T0" fmla="*/ 317 w 322"/>
                    <a:gd name="T1" fmla="*/ 131 h 299"/>
                    <a:gd name="T2" fmla="*/ 168 w 322"/>
                    <a:gd name="T3" fmla="*/ 3 h 299"/>
                    <a:gd name="T4" fmla="*/ 154 w 322"/>
                    <a:gd name="T5" fmla="*/ 3 h 299"/>
                    <a:gd name="T6" fmla="*/ 4 w 322"/>
                    <a:gd name="T7" fmla="*/ 131 h 299"/>
                    <a:gd name="T8" fmla="*/ 1 w 322"/>
                    <a:gd name="T9" fmla="*/ 143 h 299"/>
                    <a:gd name="T10" fmla="*/ 11 w 322"/>
                    <a:gd name="T11" fmla="*/ 150 h 299"/>
                    <a:gd name="T12" fmla="*/ 33 w 322"/>
                    <a:gd name="T13" fmla="*/ 150 h 299"/>
                    <a:gd name="T14" fmla="*/ 33 w 322"/>
                    <a:gd name="T15" fmla="*/ 289 h 299"/>
                    <a:gd name="T16" fmla="*/ 43 w 322"/>
                    <a:gd name="T17" fmla="*/ 299 h 299"/>
                    <a:gd name="T18" fmla="*/ 139 w 322"/>
                    <a:gd name="T19" fmla="*/ 299 h 299"/>
                    <a:gd name="T20" fmla="*/ 150 w 322"/>
                    <a:gd name="T21" fmla="*/ 289 h 299"/>
                    <a:gd name="T22" fmla="*/ 150 w 322"/>
                    <a:gd name="T23" fmla="*/ 235 h 299"/>
                    <a:gd name="T24" fmla="*/ 171 w 322"/>
                    <a:gd name="T25" fmla="*/ 235 h 299"/>
                    <a:gd name="T26" fmla="*/ 171 w 322"/>
                    <a:gd name="T27" fmla="*/ 289 h 299"/>
                    <a:gd name="T28" fmla="*/ 182 w 322"/>
                    <a:gd name="T29" fmla="*/ 299 h 299"/>
                    <a:gd name="T30" fmla="*/ 278 w 322"/>
                    <a:gd name="T31" fmla="*/ 299 h 299"/>
                    <a:gd name="T32" fmla="*/ 289 w 322"/>
                    <a:gd name="T33" fmla="*/ 289 h 299"/>
                    <a:gd name="T34" fmla="*/ 289 w 322"/>
                    <a:gd name="T35" fmla="*/ 150 h 299"/>
                    <a:gd name="T36" fmla="*/ 310 w 322"/>
                    <a:gd name="T37" fmla="*/ 150 h 299"/>
                    <a:gd name="T38" fmla="*/ 320 w 322"/>
                    <a:gd name="T39" fmla="*/ 143 h 299"/>
                    <a:gd name="T40" fmla="*/ 317 w 322"/>
                    <a:gd name="T41" fmla="*/ 131 h 299"/>
                    <a:gd name="T42" fmla="*/ 278 w 322"/>
                    <a:gd name="T43" fmla="*/ 129 h 299"/>
                    <a:gd name="T44" fmla="*/ 267 w 322"/>
                    <a:gd name="T45" fmla="*/ 139 h 299"/>
                    <a:gd name="T46" fmla="*/ 267 w 322"/>
                    <a:gd name="T47" fmla="*/ 278 h 299"/>
                    <a:gd name="T48" fmla="*/ 193 w 322"/>
                    <a:gd name="T49" fmla="*/ 278 h 299"/>
                    <a:gd name="T50" fmla="*/ 193 w 322"/>
                    <a:gd name="T51" fmla="*/ 225 h 299"/>
                    <a:gd name="T52" fmla="*/ 182 w 322"/>
                    <a:gd name="T53" fmla="*/ 214 h 299"/>
                    <a:gd name="T54" fmla="*/ 139 w 322"/>
                    <a:gd name="T55" fmla="*/ 214 h 299"/>
                    <a:gd name="T56" fmla="*/ 129 w 322"/>
                    <a:gd name="T57" fmla="*/ 225 h 299"/>
                    <a:gd name="T58" fmla="*/ 129 w 322"/>
                    <a:gd name="T59" fmla="*/ 278 h 299"/>
                    <a:gd name="T60" fmla="*/ 54 w 322"/>
                    <a:gd name="T61" fmla="*/ 278 h 299"/>
                    <a:gd name="T62" fmla="*/ 54 w 322"/>
                    <a:gd name="T63" fmla="*/ 139 h 299"/>
                    <a:gd name="T64" fmla="*/ 43 w 322"/>
                    <a:gd name="T65" fmla="*/ 129 h 299"/>
                    <a:gd name="T66" fmla="*/ 40 w 322"/>
                    <a:gd name="T67" fmla="*/ 129 h 299"/>
                    <a:gd name="T68" fmla="*/ 161 w 322"/>
                    <a:gd name="T69" fmla="*/ 25 h 299"/>
                    <a:gd name="T70" fmla="*/ 281 w 322"/>
                    <a:gd name="T71" fmla="*/ 129 h 299"/>
                    <a:gd name="T72" fmla="*/ 278 w 322"/>
                    <a:gd name="T73" fmla="*/ 129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22" h="299">
                      <a:moveTo>
                        <a:pt x="317" y="131"/>
                      </a:moveTo>
                      <a:cubicBezTo>
                        <a:pt x="168" y="3"/>
                        <a:pt x="168" y="3"/>
                        <a:pt x="168" y="3"/>
                      </a:cubicBezTo>
                      <a:cubicBezTo>
                        <a:pt x="164" y="0"/>
                        <a:pt x="158" y="0"/>
                        <a:pt x="154" y="3"/>
                      </a:cubicBezTo>
                      <a:cubicBezTo>
                        <a:pt x="4" y="131"/>
                        <a:pt x="4" y="131"/>
                        <a:pt x="4" y="131"/>
                      </a:cubicBezTo>
                      <a:cubicBezTo>
                        <a:pt x="1" y="134"/>
                        <a:pt x="0" y="139"/>
                        <a:pt x="1" y="143"/>
                      </a:cubicBezTo>
                      <a:cubicBezTo>
                        <a:pt x="3" y="147"/>
                        <a:pt x="7" y="150"/>
                        <a:pt x="11" y="150"/>
                      </a:cubicBezTo>
                      <a:cubicBezTo>
                        <a:pt x="33" y="150"/>
                        <a:pt x="33" y="150"/>
                        <a:pt x="33" y="150"/>
                      </a:cubicBezTo>
                      <a:cubicBezTo>
                        <a:pt x="33" y="289"/>
                        <a:pt x="33" y="289"/>
                        <a:pt x="33" y="289"/>
                      </a:cubicBezTo>
                      <a:cubicBezTo>
                        <a:pt x="33" y="295"/>
                        <a:pt x="37" y="299"/>
                        <a:pt x="43" y="299"/>
                      </a:cubicBezTo>
                      <a:cubicBezTo>
                        <a:pt x="139" y="299"/>
                        <a:pt x="139" y="299"/>
                        <a:pt x="139" y="299"/>
                      </a:cubicBezTo>
                      <a:cubicBezTo>
                        <a:pt x="145" y="299"/>
                        <a:pt x="150" y="295"/>
                        <a:pt x="150" y="289"/>
                      </a:cubicBezTo>
                      <a:cubicBezTo>
                        <a:pt x="150" y="235"/>
                        <a:pt x="150" y="235"/>
                        <a:pt x="150" y="235"/>
                      </a:cubicBezTo>
                      <a:cubicBezTo>
                        <a:pt x="171" y="235"/>
                        <a:pt x="171" y="235"/>
                        <a:pt x="171" y="235"/>
                      </a:cubicBezTo>
                      <a:cubicBezTo>
                        <a:pt x="171" y="289"/>
                        <a:pt x="171" y="289"/>
                        <a:pt x="171" y="289"/>
                      </a:cubicBezTo>
                      <a:cubicBezTo>
                        <a:pt x="171" y="295"/>
                        <a:pt x="176" y="299"/>
                        <a:pt x="182" y="299"/>
                      </a:cubicBezTo>
                      <a:cubicBezTo>
                        <a:pt x="278" y="299"/>
                        <a:pt x="278" y="299"/>
                        <a:pt x="278" y="299"/>
                      </a:cubicBezTo>
                      <a:cubicBezTo>
                        <a:pt x="284" y="299"/>
                        <a:pt x="289" y="295"/>
                        <a:pt x="289" y="289"/>
                      </a:cubicBezTo>
                      <a:cubicBezTo>
                        <a:pt x="289" y="150"/>
                        <a:pt x="289" y="150"/>
                        <a:pt x="289" y="150"/>
                      </a:cubicBezTo>
                      <a:cubicBezTo>
                        <a:pt x="310" y="150"/>
                        <a:pt x="310" y="150"/>
                        <a:pt x="310" y="150"/>
                      </a:cubicBezTo>
                      <a:cubicBezTo>
                        <a:pt x="314" y="150"/>
                        <a:pt x="318" y="147"/>
                        <a:pt x="320" y="143"/>
                      </a:cubicBezTo>
                      <a:cubicBezTo>
                        <a:pt x="322" y="139"/>
                        <a:pt x="320" y="134"/>
                        <a:pt x="317" y="131"/>
                      </a:cubicBezTo>
                      <a:close/>
                      <a:moveTo>
                        <a:pt x="278" y="129"/>
                      </a:moveTo>
                      <a:cubicBezTo>
                        <a:pt x="272" y="129"/>
                        <a:pt x="267" y="133"/>
                        <a:pt x="267" y="139"/>
                      </a:cubicBezTo>
                      <a:cubicBezTo>
                        <a:pt x="267" y="278"/>
                        <a:pt x="267" y="278"/>
                        <a:pt x="267" y="278"/>
                      </a:cubicBezTo>
                      <a:cubicBezTo>
                        <a:pt x="193" y="278"/>
                        <a:pt x="193" y="278"/>
                        <a:pt x="193" y="278"/>
                      </a:cubicBezTo>
                      <a:cubicBezTo>
                        <a:pt x="193" y="225"/>
                        <a:pt x="193" y="225"/>
                        <a:pt x="193" y="225"/>
                      </a:cubicBezTo>
                      <a:cubicBezTo>
                        <a:pt x="193" y="219"/>
                        <a:pt x="188" y="214"/>
                        <a:pt x="182" y="214"/>
                      </a:cubicBezTo>
                      <a:cubicBezTo>
                        <a:pt x="139" y="214"/>
                        <a:pt x="139" y="214"/>
                        <a:pt x="139" y="214"/>
                      </a:cubicBezTo>
                      <a:cubicBezTo>
                        <a:pt x="133" y="214"/>
                        <a:pt x="129" y="219"/>
                        <a:pt x="129" y="225"/>
                      </a:cubicBezTo>
                      <a:cubicBezTo>
                        <a:pt x="129" y="278"/>
                        <a:pt x="129" y="278"/>
                        <a:pt x="129" y="278"/>
                      </a:cubicBezTo>
                      <a:cubicBezTo>
                        <a:pt x="54" y="278"/>
                        <a:pt x="54" y="278"/>
                        <a:pt x="54" y="278"/>
                      </a:cubicBezTo>
                      <a:cubicBezTo>
                        <a:pt x="54" y="139"/>
                        <a:pt x="54" y="139"/>
                        <a:pt x="54" y="139"/>
                      </a:cubicBezTo>
                      <a:cubicBezTo>
                        <a:pt x="54" y="133"/>
                        <a:pt x="49" y="129"/>
                        <a:pt x="43" y="129"/>
                      </a:cubicBezTo>
                      <a:cubicBezTo>
                        <a:pt x="40" y="129"/>
                        <a:pt x="40" y="129"/>
                        <a:pt x="40" y="129"/>
                      </a:cubicBezTo>
                      <a:cubicBezTo>
                        <a:pt x="161" y="25"/>
                        <a:pt x="161" y="25"/>
                        <a:pt x="161" y="25"/>
                      </a:cubicBezTo>
                      <a:cubicBezTo>
                        <a:pt x="281" y="129"/>
                        <a:pt x="281" y="129"/>
                        <a:pt x="281" y="129"/>
                      </a:cubicBezTo>
                      <a:lnTo>
                        <a:pt x="278" y="129"/>
                      </a:lnTo>
                      <a:close/>
                    </a:path>
                  </a:pathLst>
                </a:custGeom>
                <a:grpFill/>
                <a:ln w="3175">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74879" tIns="37439" rIns="74879" bIns="37439" numCol="1" anchor="t" anchorCtr="0" compatLnSpc="1">
                  <a:prstTxWarp prst="textNoShape">
                    <a:avLst/>
                  </a:prstTxWarp>
                </a:bodyPr>
                <a:lstStyle/>
                <a:p>
                  <a:pPr defTabSz="374374">
                    <a:defRPr/>
                  </a:pPr>
                  <a:endParaRPr lang="en-GB" sz="1633" kern="0" dirty="0">
                    <a:solidFill>
                      <a:srgbClr val="86BC25">
                        <a:lumMod val="60000"/>
                        <a:lumOff val="40000"/>
                      </a:srgbClr>
                    </a:solidFill>
                    <a:latin typeface="Calibri" panose="020F0502020204030204"/>
                  </a:endParaRPr>
                </a:p>
              </p:txBody>
            </p:sp>
            <p:grpSp>
              <p:nvGrpSpPr>
                <p:cNvPr id="65" name="Group 64"/>
                <p:cNvGrpSpPr/>
                <p:nvPr/>
              </p:nvGrpSpPr>
              <p:grpSpPr>
                <a:xfrm rot="161775">
                  <a:off x="6374082" y="5485003"/>
                  <a:ext cx="426988" cy="459375"/>
                  <a:chOff x="2131557" y="3941199"/>
                  <a:chExt cx="443385" cy="485133"/>
                </a:xfrm>
                <a:grpFill/>
              </p:grpSpPr>
              <p:sp>
                <p:nvSpPr>
                  <p:cNvPr id="66" name="object 134"/>
                  <p:cNvSpPr/>
                  <p:nvPr/>
                </p:nvSpPr>
                <p:spPr>
                  <a:xfrm>
                    <a:off x="2131557" y="4119709"/>
                    <a:ext cx="443385" cy="238748"/>
                  </a:xfrm>
                  <a:custGeom>
                    <a:avLst/>
                    <a:gdLst/>
                    <a:ahLst/>
                    <a:cxnLst/>
                    <a:rect l="l" t="t" r="r" b="b"/>
                    <a:pathLst>
                      <a:path w="181610" h="97789">
                        <a:moveTo>
                          <a:pt x="28333" y="0"/>
                        </a:moveTo>
                        <a:lnTo>
                          <a:pt x="24333" y="139"/>
                        </a:lnTo>
                        <a:lnTo>
                          <a:pt x="22009" y="1955"/>
                        </a:lnTo>
                        <a:lnTo>
                          <a:pt x="3352" y="70332"/>
                        </a:lnTo>
                        <a:lnTo>
                          <a:pt x="1592" y="76504"/>
                        </a:lnTo>
                        <a:lnTo>
                          <a:pt x="0" y="82194"/>
                        </a:lnTo>
                        <a:lnTo>
                          <a:pt x="0" y="92100"/>
                        </a:lnTo>
                        <a:lnTo>
                          <a:pt x="444" y="92887"/>
                        </a:lnTo>
                        <a:lnTo>
                          <a:pt x="1879" y="95846"/>
                        </a:lnTo>
                        <a:lnTo>
                          <a:pt x="3860" y="97282"/>
                        </a:lnTo>
                        <a:lnTo>
                          <a:pt x="172681" y="97434"/>
                        </a:lnTo>
                        <a:lnTo>
                          <a:pt x="176809" y="97751"/>
                        </a:lnTo>
                        <a:lnTo>
                          <a:pt x="179781" y="96266"/>
                        </a:lnTo>
                        <a:lnTo>
                          <a:pt x="181051" y="92100"/>
                        </a:lnTo>
                        <a:lnTo>
                          <a:pt x="181051" y="81483"/>
                        </a:lnTo>
                        <a:lnTo>
                          <a:pt x="180784" y="80860"/>
                        </a:lnTo>
                        <a:lnTo>
                          <a:pt x="180428" y="80251"/>
                        </a:lnTo>
                        <a:lnTo>
                          <a:pt x="179401" y="76504"/>
                        </a:lnTo>
                        <a:lnTo>
                          <a:pt x="16116" y="76504"/>
                        </a:lnTo>
                        <a:lnTo>
                          <a:pt x="16649" y="74485"/>
                        </a:lnTo>
                        <a:lnTo>
                          <a:pt x="32994" y="14325"/>
                        </a:lnTo>
                        <a:lnTo>
                          <a:pt x="33604" y="13855"/>
                        </a:lnTo>
                        <a:lnTo>
                          <a:pt x="162300" y="13855"/>
                        </a:lnTo>
                        <a:lnTo>
                          <a:pt x="159423" y="3289"/>
                        </a:lnTo>
                        <a:lnTo>
                          <a:pt x="158064" y="1231"/>
                        </a:lnTo>
                        <a:lnTo>
                          <a:pt x="154139" y="50"/>
                        </a:lnTo>
                        <a:lnTo>
                          <a:pt x="28333" y="0"/>
                        </a:lnTo>
                        <a:close/>
                      </a:path>
                      <a:path w="181610" h="97789">
                        <a:moveTo>
                          <a:pt x="162300" y="13855"/>
                        </a:moveTo>
                        <a:lnTo>
                          <a:pt x="33604" y="13855"/>
                        </a:lnTo>
                        <a:lnTo>
                          <a:pt x="147434" y="13868"/>
                        </a:lnTo>
                        <a:lnTo>
                          <a:pt x="148031" y="14224"/>
                        </a:lnTo>
                        <a:lnTo>
                          <a:pt x="151084" y="25523"/>
                        </a:lnTo>
                        <a:lnTo>
                          <a:pt x="164617" y="75145"/>
                        </a:lnTo>
                        <a:lnTo>
                          <a:pt x="164719" y="75768"/>
                        </a:lnTo>
                        <a:lnTo>
                          <a:pt x="164896" y="76504"/>
                        </a:lnTo>
                        <a:lnTo>
                          <a:pt x="179401" y="76504"/>
                        </a:lnTo>
                        <a:lnTo>
                          <a:pt x="173588" y="55303"/>
                        </a:lnTo>
                        <a:lnTo>
                          <a:pt x="162300" y="13855"/>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67" name="object 135"/>
                  <p:cNvSpPr/>
                  <p:nvPr/>
                </p:nvSpPr>
                <p:spPr>
                  <a:xfrm>
                    <a:off x="2267529" y="4375172"/>
                    <a:ext cx="170533" cy="51160"/>
                  </a:xfrm>
                  <a:custGeom>
                    <a:avLst/>
                    <a:gdLst/>
                    <a:ahLst/>
                    <a:cxnLst/>
                    <a:rect l="l" t="t" r="r" b="b"/>
                    <a:pathLst>
                      <a:path w="69850" h="20954">
                        <a:moveTo>
                          <a:pt x="10312" y="6794"/>
                        </a:moveTo>
                        <a:lnTo>
                          <a:pt x="2882" y="7086"/>
                        </a:lnTo>
                        <a:lnTo>
                          <a:pt x="558" y="9131"/>
                        </a:lnTo>
                        <a:lnTo>
                          <a:pt x="0" y="14935"/>
                        </a:lnTo>
                        <a:lnTo>
                          <a:pt x="190" y="17830"/>
                        </a:lnTo>
                        <a:lnTo>
                          <a:pt x="177" y="20700"/>
                        </a:lnTo>
                        <a:lnTo>
                          <a:pt x="69494" y="20700"/>
                        </a:lnTo>
                        <a:lnTo>
                          <a:pt x="69570" y="9512"/>
                        </a:lnTo>
                        <a:lnTo>
                          <a:pt x="66878" y="6857"/>
                        </a:lnTo>
                        <a:lnTo>
                          <a:pt x="49151" y="6845"/>
                        </a:lnTo>
                        <a:lnTo>
                          <a:pt x="20472" y="6845"/>
                        </a:lnTo>
                        <a:lnTo>
                          <a:pt x="10312" y="6794"/>
                        </a:lnTo>
                        <a:close/>
                      </a:path>
                      <a:path w="69850" h="20954">
                        <a:moveTo>
                          <a:pt x="48717" y="0"/>
                        </a:moveTo>
                        <a:lnTo>
                          <a:pt x="20942" y="0"/>
                        </a:lnTo>
                        <a:lnTo>
                          <a:pt x="20853" y="3428"/>
                        </a:lnTo>
                        <a:lnTo>
                          <a:pt x="21069" y="6527"/>
                        </a:lnTo>
                        <a:lnTo>
                          <a:pt x="20472" y="6845"/>
                        </a:lnTo>
                        <a:lnTo>
                          <a:pt x="49151" y="6845"/>
                        </a:lnTo>
                        <a:lnTo>
                          <a:pt x="48590" y="6527"/>
                        </a:lnTo>
                        <a:lnTo>
                          <a:pt x="48816" y="3428"/>
                        </a:lnTo>
                        <a:lnTo>
                          <a:pt x="48717"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68" name="object 136"/>
                  <p:cNvSpPr>
                    <a:spLocks noChangeAspect="1"/>
                  </p:cNvSpPr>
                  <p:nvPr/>
                </p:nvSpPr>
                <p:spPr>
                  <a:xfrm>
                    <a:off x="2213785" y="3941199"/>
                    <a:ext cx="277114" cy="166272"/>
                  </a:xfrm>
                  <a:custGeom>
                    <a:avLst/>
                    <a:gdLst/>
                    <a:ahLst/>
                    <a:cxnLst/>
                    <a:rect l="l" t="t" r="r" b="b"/>
                    <a:pathLst>
                      <a:path w="82550" h="49529">
                        <a:moveTo>
                          <a:pt x="67477" y="20414"/>
                        </a:moveTo>
                        <a:lnTo>
                          <a:pt x="43105" y="20414"/>
                        </a:lnTo>
                        <a:lnTo>
                          <a:pt x="55363" y="25656"/>
                        </a:lnTo>
                        <a:lnTo>
                          <a:pt x="61798" y="35798"/>
                        </a:lnTo>
                        <a:lnTo>
                          <a:pt x="61417" y="48386"/>
                        </a:lnTo>
                        <a:lnTo>
                          <a:pt x="65379" y="48640"/>
                        </a:lnTo>
                        <a:lnTo>
                          <a:pt x="69265" y="49060"/>
                        </a:lnTo>
                        <a:lnTo>
                          <a:pt x="72948" y="45821"/>
                        </a:lnTo>
                        <a:lnTo>
                          <a:pt x="73545" y="45618"/>
                        </a:lnTo>
                        <a:lnTo>
                          <a:pt x="82550" y="41541"/>
                        </a:lnTo>
                        <a:lnTo>
                          <a:pt x="81876" y="41274"/>
                        </a:lnTo>
                        <a:lnTo>
                          <a:pt x="81330" y="41084"/>
                        </a:lnTo>
                        <a:lnTo>
                          <a:pt x="77330" y="39281"/>
                        </a:lnTo>
                        <a:lnTo>
                          <a:pt x="73787" y="37845"/>
                        </a:lnTo>
                        <a:lnTo>
                          <a:pt x="67106" y="34289"/>
                        </a:lnTo>
                        <a:lnTo>
                          <a:pt x="65138" y="31508"/>
                        </a:lnTo>
                        <a:lnTo>
                          <a:pt x="66433" y="24637"/>
                        </a:lnTo>
                        <a:lnTo>
                          <a:pt x="67081" y="21767"/>
                        </a:lnTo>
                        <a:lnTo>
                          <a:pt x="67477" y="20414"/>
                        </a:lnTo>
                        <a:close/>
                      </a:path>
                      <a:path w="82550" h="49529">
                        <a:moveTo>
                          <a:pt x="11760" y="12191"/>
                        </a:moveTo>
                        <a:lnTo>
                          <a:pt x="12357" y="13563"/>
                        </a:lnTo>
                        <a:lnTo>
                          <a:pt x="14439" y="18999"/>
                        </a:lnTo>
                        <a:lnTo>
                          <a:pt x="16535" y="23812"/>
                        </a:lnTo>
                        <a:lnTo>
                          <a:pt x="17030" y="31191"/>
                        </a:lnTo>
                        <a:lnTo>
                          <a:pt x="16408" y="32880"/>
                        </a:lnTo>
                        <a:lnTo>
                          <a:pt x="12890" y="35255"/>
                        </a:lnTo>
                        <a:lnTo>
                          <a:pt x="11112" y="36537"/>
                        </a:lnTo>
                        <a:lnTo>
                          <a:pt x="6197" y="38950"/>
                        </a:lnTo>
                        <a:lnTo>
                          <a:pt x="3073" y="40157"/>
                        </a:lnTo>
                        <a:lnTo>
                          <a:pt x="0" y="41478"/>
                        </a:lnTo>
                        <a:lnTo>
                          <a:pt x="241" y="41770"/>
                        </a:lnTo>
                        <a:lnTo>
                          <a:pt x="13741" y="48183"/>
                        </a:lnTo>
                        <a:lnTo>
                          <a:pt x="14401" y="48475"/>
                        </a:lnTo>
                        <a:lnTo>
                          <a:pt x="18808" y="48488"/>
                        </a:lnTo>
                        <a:lnTo>
                          <a:pt x="22279" y="31940"/>
                        </a:lnTo>
                        <a:lnTo>
                          <a:pt x="31873" y="22276"/>
                        </a:lnTo>
                        <a:lnTo>
                          <a:pt x="43105" y="20414"/>
                        </a:lnTo>
                        <a:lnTo>
                          <a:pt x="67477" y="20414"/>
                        </a:lnTo>
                        <a:lnTo>
                          <a:pt x="68134" y="18173"/>
                        </a:lnTo>
                        <a:lnTo>
                          <a:pt x="54102" y="18173"/>
                        </a:lnTo>
                        <a:lnTo>
                          <a:pt x="51274" y="17513"/>
                        </a:lnTo>
                        <a:lnTo>
                          <a:pt x="30365" y="17513"/>
                        </a:lnTo>
                        <a:lnTo>
                          <a:pt x="22860" y="16776"/>
                        </a:lnTo>
                        <a:lnTo>
                          <a:pt x="17929" y="14592"/>
                        </a:lnTo>
                        <a:lnTo>
                          <a:pt x="13322" y="12776"/>
                        </a:lnTo>
                        <a:lnTo>
                          <a:pt x="11760" y="12191"/>
                        </a:lnTo>
                        <a:close/>
                      </a:path>
                      <a:path w="82550" h="49529">
                        <a:moveTo>
                          <a:pt x="70472" y="12204"/>
                        </a:moveTo>
                        <a:lnTo>
                          <a:pt x="69456" y="12687"/>
                        </a:lnTo>
                        <a:lnTo>
                          <a:pt x="65087" y="14325"/>
                        </a:lnTo>
                        <a:lnTo>
                          <a:pt x="61175" y="15963"/>
                        </a:lnTo>
                        <a:lnTo>
                          <a:pt x="54102" y="18173"/>
                        </a:lnTo>
                        <a:lnTo>
                          <a:pt x="68134" y="18173"/>
                        </a:lnTo>
                        <a:lnTo>
                          <a:pt x="68554" y="16738"/>
                        </a:lnTo>
                        <a:lnTo>
                          <a:pt x="69550" y="14592"/>
                        </a:lnTo>
                        <a:lnTo>
                          <a:pt x="70472" y="12204"/>
                        </a:lnTo>
                        <a:close/>
                      </a:path>
                      <a:path w="82550" h="49529">
                        <a:moveTo>
                          <a:pt x="41173" y="0"/>
                        </a:moveTo>
                        <a:lnTo>
                          <a:pt x="40843" y="800"/>
                        </a:lnTo>
                        <a:lnTo>
                          <a:pt x="40652" y="1320"/>
                        </a:lnTo>
                        <a:lnTo>
                          <a:pt x="38481" y="6438"/>
                        </a:lnTo>
                        <a:lnTo>
                          <a:pt x="36753" y="11150"/>
                        </a:lnTo>
                        <a:lnTo>
                          <a:pt x="32092" y="16840"/>
                        </a:lnTo>
                        <a:lnTo>
                          <a:pt x="30365" y="17513"/>
                        </a:lnTo>
                        <a:lnTo>
                          <a:pt x="51274" y="17513"/>
                        </a:lnTo>
                        <a:lnTo>
                          <a:pt x="45948" y="9143"/>
                        </a:lnTo>
                        <a:lnTo>
                          <a:pt x="43205" y="4381"/>
                        </a:lnTo>
                        <a:lnTo>
                          <a:pt x="42303" y="2298"/>
                        </a:lnTo>
                        <a:lnTo>
                          <a:pt x="41173"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69" name="object 137"/>
                  <p:cNvSpPr/>
                  <p:nvPr/>
                </p:nvSpPr>
                <p:spPr>
                  <a:xfrm>
                    <a:off x="2316342" y="4238622"/>
                    <a:ext cx="72864" cy="51160"/>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70" name="object 138"/>
                  <p:cNvSpPr/>
                  <p:nvPr/>
                </p:nvSpPr>
                <p:spPr>
                  <a:xfrm>
                    <a:off x="2418881" y="4238544"/>
                    <a:ext cx="79063" cy="52710"/>
                  </a:xfrm>
                  <a:custGeom>
                    <a:avLst/>
                    <a:gdLst/>
                    <a:ahLst/>
                    <a:cxnLst/>
                    <a:rect l="l" t="t" r="r" b="b"/>
                    <a:pathLst>
                      <a:path w="32385" h="21589">
                        <a:moveTo>
                          <a:pt x="26568" y="0"/>
                        </a:moveTo>
                        <a:lnTo>
                          <a:pt x="0" y="152"/>
                        </a:lnTo>
                        <a:lnTo>
                          <a:pt x="215" y="2743"/>
                        </a:lnTo>
                        <a:lnTo>
                          <a:pt x="876" y="8178"/>
                        </a:lnTo>
                        <a:lnTo>
                          <a:pt x="1625" y="13601"/>
                        </a:lnTo>
                        <a:lnTo>
                          <a:pt x="2374" y="20510"/>
                        </a:lnTo>
                        <a:lnTo>
                          <a:pt x="2857" y="21005"/>
                        </a:lnTo>
                        <a:lnTo>
                          <a:pt x="32003" y="20853"/>
                        </a:lnTo>
                        <a:lnTo>
                          <a:pt x="31749" y="19202"/>
                        </a:lnTo>
                        <a:lnTo>
                          <a:pt x="30276" y="13322"/>
                        </a:lnTo>
                        <a:lnTo>
                          <a:pt x="28752" y="7467"/>
                        </a:lnTo>
                        <a:lnTo>
                          <a:pt x="27050" y="355"/>
                        </a:lnTo>
                        <a:lnTo>
                          <a:pt x="26568"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71" name="object 139"/>
                  <p:cNvSpPr/>
                  <p:nvPr/>
                </p:nvSpPr>
                <p:spPr>
                  <a:xfrm>
                    <a:off x="2207888" y="4238569"/>
                    <a:ext cx="79063" cy="51160"/>
                  </a:xfrm>
                  <a:custGeom>
                    <a:avLst/>
                    <a:gdLst/>
                    <a:ahLst/>
                    <a:cxnLst/>
                    <a:rect l="l" t="t" r="r" b="b"/>
                    <a:pathLst>
                      <a:path w="32385" h="20954">
                        <a:moveTo>
                          <a:pt x="5143" y="0"/>
                        </a:moveTo>
                        <a:lnTo>
                          <a:pt x="5041" y="673"/>
                        </a:lnTo>
                        <a:lnTo>
                          <a:pt x="1295" y="15430"/>
                        </a:lnTo>
                        <a:lnTo>
                          <a:pt x="0" y="20701"/>
                        </a:lnTo>
                        <a:lnTo>
                          <a:pt x="29552" y="20701"/>
                        </a:lnTo>
                        <a:lnTo>
                          <a:pt x="32130" y="368"/>
                        </a:lnTo>
                        <a:lnTo>
                          <a:pt x="31762" y="139"/>
                        </a:lnTo>
                        <a:lnTo>
                          <a:pt x="5143"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72" name="object 140"/>
                  <p:cNvSpPr/>
                  <p:nvPr/>
                </p:nvSpPr>
                <p:spPr>
                  <a:xfrm>
                    <a:off x="2410200" y="4170953"/>
                    <a:ext cx="68213" cy="41858"/>
                  </a:xfrm>
                  <a:custGeom>
                    <a:avLst/>
                    <a:gdLst/>
                    <a:ahLst/>
                    <a:cxnLst/>
                    <a:rect l="l" t="t" r="r" b="b"/>
                    <a:pathLst>
                      <a:path w="27939" h="17145">
                        <a:moveTo>
                          <a:pt x="23139" y="0"/>
                        </a:moveTo>
                        <a:lnTo>
                          <a:pt x="1079" y="50"/>
                        </a:lnTo>
                        <a:lnTo>
                          <a:pt x="0" y="177"/>
                        </a:lnTo>
                        <a:lnTo>
                          <a:pt x="2095" y="16891"/>
                        </a:lnTo>
                        <a:lnTo>
                          <a:pt x="27762" y="16891"/>
                        </a:lnTo>
                        <a:lnTo>
                          <a:pt x="26441" y="11582"/>
                        </a:lnTo>
                        <a:lnTo>
                          <a:pt x="25133" y="6527"/>
                        </a:lnTo>
                        <a:lnTo>
                          <a:pt x="23672" y="254"/>
                        </a:lnTo>
                        <a:lnTo>
                          <a:pt x="23139"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73" name="object 142"/>
                  <p:cNvSpPr/>
                  <p:nvPr/>
                </p:nvSpPr>
                <p:spPr>
                  <a:xfrm>
                    <a:off x="2227668" y="4170929"/>
                    <a:ext cx="68213" cy="41858"/>
                  </a:xfrm>
                  <a:custGeom>
                    <a:avLst/>
                    <a:gdLst/>
                    <a:ahLst/>
                    <a:cxnLst/>
                    <a:rect l="l" t="t" r="r" b="b"/>
                    <a:pathLst>
                      <a:path w="27939" h="17145">
                        <a:moveTo>
                          <a:pt x="4584" y="0"/>
                        </a:moveTo>
                        <a:lnTo>
                          <a:pt x="3911" y="736"/>
                        </a:lnTo>
                        <a:lnTo>
                          <a:pt x="2514" y="6019"/>
                        </a:lnTo>
                        <a:lnTo>
                          <a:pt x="165" y="15620"/>
                        </a:lnTo>
                        <a:lnTo>
                          <a:pt x="0" y="16878"/>
                        </a:lnTo>
                        <a:lnTo>
                          <a:pt x="25412" y="16878"/>
                        </a:lnTo>
                        <a:lnTo>
                          <a:pt x="26428" y="9347"/>
                        </a:lnTo>
                        <a:lnTo>
                          <a:pt x="26949" y="4787"/>
                        </a:lnTo>
                        <a:lnTo>
                          <a:pt x="27508" y="279"/>
                        </a:lnTo>
                        <a:lnTo>
                          <a:pt x="27190" y="88"/>
                        </a:lnTo>
                        <a:lnTo>
                          <a:pt x="4584"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sp>
                <p:nvSpPr>
                  <p:cNvPr id="74" name="object 137"/>
                  <p:cNvSpPr/>
                  <p:nvPr/>
                </p:nvSpPr>
                <p:spPr>
                  <a:xfrm>
                    <a:off x="2316339" y="4169018"/>
                    <a:ext cx="72864" cy="42863"/>
                  </a:xfrm>
                  <a:custGeom>
                    <a:avLst/>
                    <a:gdLst/>
                    <a:ahLst/>
                    <a:cxnLst/>
                    <a:rect l="l" t="t" r="r" b="b"/>
                    <a:pathLst>
                      <a:path w="29845" h="20954">
                        <a:moveTo>
                          <a:pt x="1371" y="0"/>
                        </a:moveTo>
                        <a:lnTo>
                          <a:pt x="0" y="20764"/>
                        </a:lnTo>
                        <a:lnTo>
                          <a:pt x="29578" y="20764"/>
                        </a:lnTo>
                        <a:lnTo>
                          <a:pt x="29629" y="19824"/>
                        </a:lnTo>
                        <a:lnTo>
                          <a:pt x="29260" y="13665"/>
                        </a:lnTo>
                        <a:lnTo>
                          <a:pt x="28854" y="7493"/>
                        </a:lnTo>
                        <a:lnTo>
                          <a:pt x="28473" y="38"/>
                        </a:lnTo>
                        <a:lnTo>
                          <a:pt x="1371" y="0"/>
                        </a:lnTo>
                        <a:close/>
                      </a:path>
                    </a:pathLst>
                  </a:custGeom>
                  <a:grpFill/>
                </p:spPr>
                <p:txBody>
                  <a:bodyPr wrap="square" lIns="0" tIns="0" rIns="0" bIns="0" rtlCol="0"/>
                  <a:lstStyle/>
                  <a:p>
                    <a:pPr defTabSz="374374">
                      <a:defRPr/>
                    </a:pPr>
                    <a:endParaRPr sz="1633" kern="0" dirty="0">
                      <a:solidFill>
                        <a:srgbClr val="86BC25">
                          <a:lumMod val="60000"/>
                          <a:lumOff val="40000"/>
                        </a:srgbClr>
                      </a:solidFill>
                      <a:latin typeface="Calibri Light" panose="020F0302020204030204"/>
                    </a:endParaRPr>
                  </a:p>
                </p:txBody>
              </p:sp>
            </p:grpSp>
          </p:grpSp>
          <p:sp>
            <p:nvSpPr>
              <p:cNvPr id="63" name="Freeform 439"/>
              <p:cNvSpPr>
                <a:spLocks noEditPoints="1"/>
              </p:cNvSpPr>
              <p:nvPr/>
            </p:nvSpPr>
            <p:spPr bwMode="auto">
              <a:xfrm rot="10800000" flipH="1">
                <a:off x="8207298" y="4718654"/>
                <a:ext cx="394039" cy="125062"/>
              </a:xfrm>
              <a:custGeom>
                <a:avLst/>
                <a:gdLst>
                  <a:gd name="T0" fmla="*/ 309 w 320"/>
                  <a:gd name="T1" fmla="*/ 43 h 171"/>
                  <a:gd name="T2" fmla="*/ 277 w 320"/>
                  <a:gd name="T3" fmla="*/ 43 h 171"/>
                  <a:gd name="T4" fmla="*/ 277 w 320"/>
                  <a:gd name="T5" fmla="*/ 11 h 171"/>
                  <a:gd name="T6" fmla="*/ 266 w 320"/>
                  <a:gd name="T7" fmla="*/ 0 h 171"/>
                  <a:gd name="T8" fmla="*/ 10 w 320"/>
                  <a:gd name="T9" fmla="*/ 0 h 171"/>
                  <a:gd name="T10" fmla="*/ 0 w 320"/>
                  <a:gd name="T11" fmla="*/ 11 h 171"/>
                  <a:gd name="T12" fmla="*/ 0 w 320"/>
                  <a:gd name="T13" fmla="*/ 160 h 171"/>
                  <a:gd name="T14" fmla="*/ 10 w 320"/>
                  <a:gd name="T15" fmla="*/ 171 h 171"/>
                  <a:gd name="T16" fmla="*/ 266 w 320"/>
                  <a:gd name="T17" fmla="*/ 171 h 171"/>
                  <a:gd name="T18" fmla="*/ 277 w 320"/>
                  <a:gd name="T19" fmla="*/ 160 h 171"/>
                  <a:gd name="T20" fmla="*/ 277 w 320"/>
                  <a:gd name="T21" fmla="*/ 128 h 171"/>
                  <a:gd name="T22" fmla="*/ 309 w 320"/>
                  <a:gd name="T23" fmla="*/ 128 h 171"/>
                  <a:gd name="T24" fmla="*/ 320 w 320"/>
                  <a:gd name="T25" fmla="*/ 118 h 171"/>
                  <a:gd name="T26" fmla="*/ 320 w 320"/>
                  <a:gd name="T27" fmla="*/ 54 h 171"/>
                  <a:gd name="T28" fmla="*/ 309 w 320"/>
                  <a:gd name="T29" fmla="*/ 43 h 171"/>
                  <a:gd name="T30" fmla="*/ 256 w 320"/>
                  <a:gd name="T31" fmla="*/ 150 h 171"/>
                  <a:gd name="T32" fmla="*/ 21 w 320"/>
                  <a:gd name="T33" fmla="*/ 150 h 171"/>
                  <a:gd name="T34" fmla="*/ 21 w 320"/>
                  <a:gd name="T35" fmla="*/ 22 h 171"/>
                  <a:gd name="T36" fmla="*/ 256 w 320"/>
                  <a:gd name="T37" fmla="*/ 22 h 171"/>
                  <a:gd name="T38" fmla="*/ 256 w 320"/>
                  <a:gd name="T39" fmla="*/ 150 h 171"/>
                  <a:gd name="T40" fmla="*/ 298 w 320"/>
                  <a:gd name="T41" fmla="*/ 107 h 171"/>
                  <a:gd name="T42" fmla="*/ 277 w 320"/>
                  <a:gd name="T43" fmla="*/ 107 h 171"/>
                  <a:gd name="T44" fmla="*/ 277 w 320"/>
                  <a:gd name="T45" fmla="*/ 64 h 171"/>
                  <a:gd name="T46" fmla="*/ 298 w 320"/>
                  <a:gd name="T47" fmla="*/ 64 h 171"/>
                  <a:gd name="T48" fmla="*/ 298 w 320"/>
                  <a:gd name="T49" fmla="*/ 107 h 171"/>
                  <a:gd name="T50" fmla="*/ 42 w 320"/>
                  <a:gd name="T51" fmla="*/ 118 h 171"/>
                  <a:gd name="T52" fmla="*/ 42 w 320"/>
                  <a:gd name="T53" fmla="*/ 54 h 171"/>
                  <a:gd name="T54" fmla="*/ 53 w 320"/>
                  <a:gd name="T55" fmla="*/ 43 h 171"/>
                  <a:gd name="T56" fmla="*/ 64 w 320"/>
                  <a:gd name="T57" fmla="*/ 54 h 171"/>
                  <a:gd name="T58" fmla="*/ 64 w 320"/>
                  <a:gd name="T59" fmla="*/ 118 h 171"/>
                  <a:gd name="T60" fmla="*/ 53 w 320"/>
                  <a:gd name="T61" fmla="*/ 128 h 171"/>
                  <a:gd name="T62" fmla="*/ 42 w 320"/>
                  <a:gd name="T63" fmla="*/ 118 h 171"/>
                  <a:gd name="T64" fmla="*/ 85 w 320"/>
                  <a:gd name="T65" fmla="*/ 118 h 171"/>
                  <a:gd name="T66" fmla="*/ 85 w 320"/>
                  <a:gd name="T67" fmla="*/ 54 h 171"/>
                  <a:gd name="T68" fmla="*/ 96 w 320"/>
                  <a:gd name="T69" fmla="*/ 43 h 171"/>
                  <a:gd name="T70" fmla="*/ 106 w 320"/>
                  <a:gd name="T71" fmla="*/ 54 h 171"/>
                  <a:gd name="T72" fmla="*/ 106 w 320"/>
                  <a:gd name="T73" fmla="*/ 118 h 171"/>
                  <a:gd name="T74" fmla="*/ 96 w 320"/>
                  <a:gd name="T75" fmla="*/ 128 h 171"/>
                  <a:gd name="T76" fmla="*/ 85 w 320"/>
                  <a:gd name="T77" fmla="*/ 118 h 171"/>
                  <a:gd name="T78" fmla="*/ 128 w 320"/>
                  <a:gd name="T79" fmla="*/ 118 h 171"/>
                  <a:gd name="T80" fmla="*/ 128 w 320"/>
                  <a:gd name="T81" fmla="*/ 54 h 171"/>
                  <a:gd name="T82" fmla="*/ 138 w 320"/>
                  <a:gd name="T83" fmla="*/ 43 h 171"/>
                  <a:gd name="T84" fmla="*/ 149 w 320"/>
                  <a:gd name="T85" fmla="*/ 54 h 171"/>
                  <a:gd name="T86" fmla="*/ 149 w 320"/>
                  <a:gd name="T87" fmla="*/ 118 h 171"/>
                  <a:gd name="T88" fmla="*/ 138 w 320"/>
                  <a:gd name="T89" fmla="*/ 128 h 171"/>
                  <a:gd name="T90" fmla="*/ 128 w 320"/>
                  <a:gd name="T91" fmla="*/ 118 h 171"/>
                  <a:gd name="T92" fmla="*/ 170 w 320"/>
                  <a:gd name="T93" fmla="*/ 118 h 171"/>
                  <a:gd name="T94" fmla="*/ 170 w 320"/>
                  <a:gd name="T95" fmla="*/ 54 h 171"/>
                  <a:gd name="T96" fmla="*/ 181 w 320"/>
                  <a:gd name="T97" fmla="*/ 43 h 171"/>
                  <a:gd name="T98" fmla="*/ 192 w 320"/>
                  <a:gd name="T99" fmla="*/ 54 h 171"/>
                  <a:gd name="T100" fmla="*/ 192 w 320"/>
                  <a:gd name="T101" fmla="*/ 118 h 171"/>
                  <a:gd name="T102" fmla="*/ 181 w 320"/>
                  <a:gd name="T103" fmla="*/ 128 h 171"/>
                  <a:gd name="T104" fmla="*/ 170 w 320"/>
                  <a:gd name="T105" fmla="*/ 118 h 171"/>
                  <a:gd name="T106" fmla="*/ 213 w 320"/>
                  <a:gd name="T107" fmla="*/ 118 h 171"/>
                  <a:gd name="T108" fmla="*/ 213 w 320"/>
                  <a:gd name="T109" fmla="*/ 54 h 171"/>
                  <a:gd name="T110" fmla="*/ 224 w 320"/>
                  <a:gd name="T111" fmla="*/ 43 h 171"/>
                  <a:gd name="T112" fmla="*/ 234 w 320"/>
                  <a:gd name="T113" fmla="*/ 54 h 171"/>
                  <a:gd name="T114" fmla="*/ 234 w 320"/>
                  <a:gd name="T115" fmla="*/ 118 h 171"/>
                  <a:gd name="T116" fmla="*/ 224 w 320"/>
                  <a:gd name="T117" fmla="*/ 128 h 171"/>
                  <a:gd name="T118" fmla="*/ 213 w 320"/>
                  <a:gd name="T119" fmla="*/ 11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0" h="171">
                    <a:moveTo>
                      <a:pt x="309" y="43"/>
                    </a:moveTo>
                    <a:cubicBezTo>
                      <a:pt x="277" y="43"/>
                      <a:pt x="277" y="43"/>
                      <a:pt x="277" y="43"/>
                    </a:cubicBezTo>
                    <a:cubicBezTo>
                      <a:pt x="277" y="11"/>
                      <a:pt x="277" y="11"/>
                      <a:pt x="277" y="11"/>
                    </a:cubicBezTo>
                    <a:cubicBezTo>
                      <a:pt x="277" y="5"/>
                      <a:pt x="272" y="0"/>
                      <a:pt x="266" y="0"/>
                    </a:cubicBezTo>
                    <a:cubicBezTo>
                      <a:pt x="10" y="0"/>
                      <a:pt x="10" y="0"/>
                      <a:pt x="10" y="0"/>
                    </a:cubicBezTo>
                    <a:cubicBezTo>
                      <a:pt x="4" y="0"/>
                      <a:pt x="0" y="5"/>
                      <a:pt x="0" y="11"/>
                    </a:cubicBezTo>
                    <a:cubicBezTo>
                      <a:pt x="0" y="160"/>
                      <a:pt x="0" y="160"/>
                      <a:pt x="0" y="160"/>
                    </a:cubicBezTo>
                    <a:cubicBezTo>
                      <a:pt x="0" y="166"/>
                      <a:pt x="4" y="171"/>
                      <a:pt x="10" y="171"/>
                    </a:cubicBezTo>
                    <a:cubicBezTo>
                      <a:pt x="266" y="171"/>
                      <a:pt x="266" y="171"/>
                      <a:pt x="266" y="171"/>
                    </a:cubicBezTo>
                    <a:cubicBezTo>
                      <a:pt x="272" y="171"/>
                      <a:pt x="277" y="166"/>
                      <a:pt x="277" y="160"/>
                    </a:cubicBezTo>
                    <a:cubicBezTo>
                      <a:pt x="277" y="128"/>
                      <a:pt x="277" y="128"/>
                      <a:pt x="277" y="128"/>
                    </a:cubicBezTo>
                    <a:cubicBezTo>
                      <a:pt x="309" y="128"/>
                      <a:pt x="309" y="128"/>
                      <a:pt x="309" y="128"/>
                    </a:cubicBezTo>
                    <a:cubicBezTo>
                      <a:pt x="315" y="128"/>
                      <a:pt x="320" y="124"/>
                      <a:pt x="320" y="118"/>
                    </a:cubicBezTo>
                    <a:cubicBezTo>
                      <a:pt x="320" y="54"/>
                      <a:pt x="320" y="54"/>
                      <a:pt x="320" y="54"/>
                    </a:cubicBezTo>
                    <a:cubicBezTo>
                      <a:pt x="320" y="48"/>
                      <a:pt x="315" y="43"/>
                      <a:pt x="309" y="43"/>
                    </a:cubicBezTo>
                    <a:close/>
                    <a:moveTo>
                      <a:pt x="256" y="150"/>
                    </a:moveTo>
                    <a:cubicBezTo>
                      <a:pt x="21" y="150"/>
                      <a:pt x="21" y="150"/>
                      <a:pt x="21" y="150"/>
                    </a:cubicBezTo>
                    <a:cubicBezTo>
                      <a:pt x="21" y="22"/>
                      <a:pt x="21" y="22"/>
                      <a:pt x="21" y="22"/>
                    </a:cubicBezTo>
                    <a:cubicBezTo>
                      <a:pt x="256" y="22"/>
                      <a:pt x="256" y="22"/>
                      <a:pt x="256" y="22"/>
                    </a:cubicBezTo>
                    <a:lnTo>
                      <a:pt x="256" y="150"/>
                    </a:lnTo>
                    <a:close/>
                    <a:moveTo>
                      <a:pt x="298" y="107"/>
                    </a:moveTo>
                    <a:cubicBezTo>
                      <a:pt x="277" y="107"/>
                      <a:pt x="277" y="107"/>
                      <a:pt x="277" y="107"/>
                    </a:cubicBezTo>
                    <a:cubicBezTo>
                      <a:pt x="277" y="64"/>
                      <a:pt x="277" y="64"/>
                      <a:pt x="277" y="64"/>
                    </a:cubicBezTo>
                    <a:cubicBezTo>
                      <a:pt x="298" y="64"/>
                      <a:pt x="298" y="64"/>
                      <a:pt x="298" y="64"/>
                    </a:cubicBezTo>
                    <a:lnTo>
                      <a:pt x="298" y="107"/>
                    </a:lnTo>
                    <a:close/>
                    <a:moveTo>
                      <a:pt x="42" y="118"/>
                    </a:moveTo>
                    <a:cubicBezTo>
                      <a:pt x="42" y="54"/>
                      <a:pt x="42" y="54"/>
                      <a:pt x="42" y="54"/>
                    </a:cubicBezTo>
                    <a:cubicBezTo>
                      <a:pt x="42" y="48"/>
                      <a:pt x="47" y="43"/>
                      <a:pt x="53" y="43"/>
                    </a:cubicBezTo>
                    <a:cubicBezTo>
                      <a:pt x="59" y="43"/>
                      <a:pt x="64" y="48"/>
                      <a:pt x="64" y="54"/>
                    </a:cubicBezTo>
                    <a:cubicBezTo>
                      <a:pt x="64" y="118"/>
                      <a:pt x="64" y="118"/>
                      <a:pt x="64" y="118"/>
                    </a:cubicBezTo>
                    <a:cubicBezTo>
                      <a:pt x="64" y="124"/>
                      <a:pt x="59" y="128"/>
                      <a:pt x="53" y="128"/>
                    </a:cubicBezTo>
                    <a:cubicBezTo>
                      <a:pt x="47" y="128"/>
                      <a:pt x="42" y="124"/>
                      <a:pt x="42" y="118"/>
                    </a:cubicBezTo>
                    <a:close/>
                    <a:moveTo>
                      <a:pt x="85" y="118"/>
                    </a:moveTo>
                    <a:cubicBezTo>
                      <a:pt x="85" y="54"/>
                      <a:pt x="85" y="54"/>
                      <a:pt x="85" y="54"/>
                    </a:cubicBezTo>
                    <a:cubicBezTo>
                      <a:pt x="85" y="48"/>
                      <a:pt x="90" y="43"/>
                      <a:pt x="96" y="43"/>
                    </a:cubicBezTo>
                    <a:cubicBezTo>
                      <a:pt x="102" y="43"/>
                      <a:pt x="106" y="48"/>
                      <a:pt x="106" y="54"/>
                    </a:cubicBezTo>
                    <a:cubicBezTo>
                      <a:pt x="106" y="118"/>
                      <a:pt x="106" y="118"/>
                      <a:pt x="106" y="118"/>
                    </a:cubicBezTo>
                    <a:cubicBezTo>
                      <a:pt x="106" y="124"/>
                      <a:pt x="102" y="128"/>
                      <a:pt x="96" y="128"/>
                    </a:cubicBezTo>
                    <a:cubicBezTo>
                      <a:pt x="90" y="128"/>
                      <a:pt x="85" y="124"/>
                      <a:pt x="85" y="118"/>
                    </a:cubicBezTo>
                    <a:close/>
                    <a:moveTo>
                      <a:pt x="128" y="118"/>
                    </a:moveTo>
                    <a:cubicBezTo>
                      <a:pt x="128" y="54"/>
                      <a:pt x="128" y="54"/>
                      <a:pt x="128" y="54"/>
                    </a:cubicBezTo>
                    <a:cubicBezTo>
                      <a:pt x="128" y="48"/>
                      <a:pt x="132" y="43"/>
                      <a:pt x="138" y="43"/>
                    </a:cubicBezTo>
                    <a:cubicBezTo>
                      <a:pt x="144" y="43"/>
                      <a:pt x="149" y="48"/>
                      <a:pt x="149" y="54"/>
                    </a:cubicBezTo>
                    <a:cubicBezTo>
                      <a:pt x="149" y="118"/>
                      <a:pt x="149" y="118"/>
                      <a:pt x="149" y="118"/>
                    </a:cubicBezTo>
                    <a:cubicBezTo>
                      <a:pt x="149" y="124"/>
                      <a:pt x="144" y="128"/>
                      <a:pt x="138" y="128"/>
                    </a:cubicBezTo>
                    <a:cubicBezTo>
                      <a:pt x="132" y="128"/>
                      <a:pt x="128" y="124"/>
                      <a:pt x="128" y="118"/>
                    </a:cubicBezTo>
                    <a:close/>
                    <a:moveTo>
                      <a:pt x="170" y="118"/>
                    </a:moveTo>
                    <a:cubicBezTo>
                      <a:pt x="170" y="54"/>
                      <a:pt x="170" y="54"/>
                      <a:pt x="170" y="54"/>
                    </a:cubicBezTo>
                    <a:cubicBezTo>
                      <a:pt x="170" y="48"/>
                      <a:pt x="175" y="43"/>
                      <a:pt x="181" y="43"/>
                    </a:cubicBezTo>
                    <a:cubicBezTo>
                      <a:pt x="187" y="43"/>
                      <a:pt x="192" y="48"/>
                      <a:pt x="192" y="54"/>
                    </a:cubicBezTo>
                    <a:cubicBezTo>
                      <a:pt x="192" y="118"/>
                      <a:pt x="192" y="118"/>
                      <a:pt x="192" y="118"/>
                    </a:cubicBezTo>
                    <a:cubicBezTo>
                      <a:pt x="192" y="124"/>
                      <a:pt x="187" y="128"/>
                      <a:pt x="181" y="128"/>
                    </a:cubicBezTo>
                    <a:cubicBezTo>
                      <a:pt x="175" y="128"/>
                      <a:pt x="170" y="124"/>
                      <a:pt x="170" y="118"/>
                    </a:cubicBezTo>
                    <a:close/>
                    <a:moveTo>
                      <a:pt x="213" y="118"/>
                    </a:moveTo>
                    <a:cubicBezTo>
                      <a:pt x="213" y="54"/>
                      <a:pt x="213" y="54"/>
                      <a:pt x="213" y="54"/>
                    </a:cubicBezTo>
                    <a:cubicBezTo>
                      <a:pt x="213" y="48"/>
                      <a:pt x="218" y="43"/>
                      <a:pt x="224" y="43"/>
                    </a:cubicBezTo>
                    <a:cubicBezTo>
                      <a:pt x="230" y="43"/>
                      <a:pt x="234" y="48"/>
                      <a:pt x="234" y="54"/>
                    </a:cubicBezTo>
                    <a:cubicBezTo>
                      <a:pt x="234" y="118"/>
                      <a:pt x="234" y="118"/>
                      <a:pt x="234" y="118"/>
                    </a:cubicBezTo>
                    <a:cubicBezTo>
                      <a:pt x="234" y="124"/>
                      <a:pt x="230" y="128"/>
                      <a:pt x="224" y="128"/>
                    </a:cubicBezTo>
                    <a:cubicBezTo>
                      <a:pt x="218" y="128"/>
                      <a:pt x="213" y="124"/>
                      <a:pt x="213" y="118"/>
                    </a:cubicBezTo>
                    <a:close/>
                  </a:path>
                </a:pathLst>
              </a:custGeom>
              <a:grpFill/>
              <a:ln>
                <a:noFill/>
              </a:ln>
              <a:scene3d>
                <a:camera prst="orthographicFront">
                  <a:rot lat="0" lon="0" rev="0"/>
                </a:camera>
                <a:lightRig rig="threePt" dir="t"/>
              </a:scene3d>
              <a:extLst>
                <a:ext uri="{91240B29-F687-4f45-9708-019B960494DF}">
                  <a14:hiddenLine xmlns:a14="http://schemas.microsoft.com/office/drawing/2010/main" xmlns="" w="9525">
                    <a:solidFill>
                      <a:srgbClr val="000000"/>
                    </a:solidFill>
                    <a:round/>
                    <a:headEnd/>
                    <a:tailEnd/>
                  </a14:hiddenLine>
                </a:ext>
              </a:extLst>
            </p:spPr>
            <p:txBody>
              <a:bodyPr vert="horz" wrap="square" lIns="74879" tIns="37439" rIns="74879" bIns="37439" numCol="1" anchor="t" anchorCtr="0" compatLnSpc="1">
                <a:prstTxWarp prst="textNoShape">
                  <a:avLst/>
                </a:prstTxWarp>
              </a:bodyPr>
              <a:lstStyle/>
              <a:p>
                <a:pPr defTabSz="374374">
                  <a:defRPr/>
                </a:pPr>
                <a:endParaRPr lang="en-GB" sz="1633" kern="0" dirty="0">
                  <a:solidFill>
                    <a:srgbClr val="86BC25">
                      <a:lumMod val="60000"/>
                      <a:lumOff val="40000"/>
                    </a:srgbClr>
                  </a:solidFill>
                  <a:latin typeface="Calibri" panose="020F0502020204030204"/>
                </a:endParaRPr>
              </a:p>
            </p:txBody>
          </p:sp>
        </p:grpSp>
        <p:sp>
          <p:nvSpPr>
            <p:cNvPr id="59" name="Arc 58"/>
            <p:cNvSpPr>
              <a:spLocks noChangeAspect="1"/>
            </p:cNvSpPr>
            <p:nvPr/>
          </p:nvSpPr>
          <p:spPr>
            <a:xfrm rot="1486483" flipH="1" flipV="1">
              <a:off x="1605319" y="5434880"/>
              <a:ext cx="261648" cy="206032"/>
            </a:xfrm>
            <a:prstGeom prst="arc">
              <a:avLst>
                <a:gd name="adj1" fmla="val 11577148"/>
                <a:gd name="adj2" fmla="val 19257702"/>
              </a:avLst>
            </a:prstGeom>
            <a:noFill/>
            <a:ln w="9525" cap="flat" cmpd="sng" algn="ctr">
              <a:solidFill>
                <a:schemeClr val="bg1"/>
              </a:solidFill>
              <a:prstDash val="solid"/>
              <a:miter lim="800000"/>
            </a:ln>
            <a:effectLst/>
          </p:spPr>
          <p:txBody>
            <a:bodyPr rtlCol="0" anchor="ctr"/>
            <a:lstStyle/>
            <a:p>
              <a:pPr algn="ctr" defTabSz="711981">
                <a:defRPr/>
              </a:pPr>
              <a:endParaRPr lang="en-US" sz="1400" kern="0" dirty="0">
                <a:solidFill>
                  <a:srgbClr val="5C5C5C"/>
                </a:solidFill>
                <a:latin typeface="+mj-lt"/>
              </a:endParaRPr>
            </a:p>
          </p:txBody>
        </p:sp>
        <p:sp>
          <p:nvSpPr>
            <p:cNvPr id="60" name="Arc 59"/>
            <p:cNvSpPr>
              <a:spLocks noChangeAspect="1"/>
            </p:cNvSpPr>
            <p:nvPr/>
          </p:nvSpPr>
          <p:spPr>
            <a:xfrm rot="1486483" flipH="1" flipV="1">
              <a:off x="1906110" y="5499371"/>
              <a:ext cx="261648" cy="206032"/>
            </a:xfrm>
            <a:prstGeom prst="arc">
              <a:avLst>
                <a:gd name="adj1" fmla="val 11577148"/>
                <a:gd name="adj2" fmla="val 19257702"/>
              </a:avLst>
            </a:prstGeom>
            <a:noFill/>
            <a:ln w="9525" cap="flat" cmpd="sng" algn="ctr">
              <a:solidFill>
                <a:schemeClr val="bg1"/>
              </a:solidFill>
              <a:prstDash val="solid"/>
              <a:miter lim="800000"/>
            </a:ln>
            <a:effectLst/>
          </p:spPr>
          <p:txBody>
            <a:bodyPr rtlCol="0" anchor="ctr"/>
            <a:lstStyle/>
            <a:p>
              <a:pPr algn="ctr" defTabSz="711981">
                <a:defRPr/>
              </a:pPr>
              <a:endParaRPr lang="en-US" sz="1400" kern="0" dirty="0">
                <a:solidFill>
                  <a:srgbClr val="5C5C5C"/>
                </a:solidFill>
                <a:latin typeface="+mj-lt"/>
              </a:endParaRPr>
            </a:p>
          </p:txBody>
        </p:sp>
        <p:sp>
          <p:nvSpPr>
            <p:cNvPr id="61" name="Rectangle 60"/>
            <p:cNvSpPr/>
            <p:nvPr/>
          </p:nvSpPr>
          <p:spPr>
            <a:xfrm flipH="1">
              <a:off x="1778982" y="5682767"/>
              <a:ext cx="181141" cy="108686"/>
            </a:xfrm>
            <a:prstGeom prst="rect">
              <a:avLst/>
            </a:prstGeom>
            <a:noFill/>
            <a:ln w="19050" cap="flat" cmpd="sng" algn="ctr">
              <a:solidFill>
                <a:schemeClr val="bg1"/>
              </a:solidFill>
              <a:prstDash val="solid"/>
            </a:ln>
            <a:effectLst/>
            <a:scene3d>
              <a:camera prst="orthographicFront">
                <a:rot lat="0" lon="0" rev="0"/>
              </a:camera>
              <a:lightRig rig="threePt" dir="t"/>
            </a:scene3d>
          </p:spPr>
          <p:txBody>
            <a:bodyPr rtlCol="0" anchor="ctr"/>
            <a:lstStyle/>
            <a:p>
              <a:pPr algn="ctr" defTabSz="374374">
                <a:defRPr/>
              </a:pPr>
              <a:endParaRPr lang="en-IN" sz="1633" kern="0" dirty="0">
                <a:solidFill>
                  <a:srgbClr val="86BC25">
                    <a:lumMod val="60000"/>
                    <a:lumOff val="40000"/>
                  </a:srgbClr>
                </a:solidFill>
              </a:endParaRPr>
            </a:p>
          </p:txBody>
        </p:sp>
      </p:grpSp>
      <p:graphicFrame>
        <p:nvGraphicFramePr>
          <p:cNvPr id="84" name="Table 83"/>
          <p:cNvGraphicFramePr>
            <a:graphicFrameLocks noGrp="1"/>
          </p:cNvGraphicFramePr>
          <p:nvPr>
            <p:extLst>
              <p:ext uri="{D42A27DB-BD31-4B8C-83A1-F6EECF244321}">
                <p14:modId xmlns:p14="http://schemas.microsoft.com/office/powerpoint/2010/main" val="2138248272"/>
              </p:ext>
            </p:extLst>
          </p:nvPr>
        </p:nvGraphicFramePr>
        <p:xfrm>
          <a:off x="2307377" y="2220834"/>
          <a:ext cx="9420568" cy="1135440"/>
        </p:xfrm>
        <a:graphic>
          <a:graphicData uri="http://schemas.openxmlformats.org/drawingml/2006/table">
            <a:tbl>
              <a:tblPr>
                <a:tableStyleId>{793D81CF-94F2-401A-BA57-92F5A7B2D0C5}</a:tableStyleId>
              </a:tblPr>
              <a:tblGrid>
                <a:gridCol w="1441663">
                  <a:extLst>
                    <a:ext uri="{9D8B030D-6E8A-4147-A177-3AD203B41FA5}">
                      <a16:colId xmlns:a16="http://schemas.microsoft.com/office/drawing/2014/main" val="691066506"/>
                    </a:ext>
                  </a:extLst>
                </a:gridCol>
                <a:gridCol w="725355">
                  <a:extLst>
                    <a:ext uri="{9D8B030D-6E8A-4147-A177-3AD203B41FA5}">
                      <a16:colId xmlns:a16="http://schemas.microsoft.com/office/drawing/2014/main" val="717944450"/>
                    </a:ext>
                  </a:extLst>
                </a:gridCol>
                <a:gridCol w="725355">
                  <a:extLst>
                    <a:ext uri="{9D8B030D-6E8A-4147-A177-3AD203B41FA5}">
                      <a16:colId xmlns:a16="http://schemas.microsoft.com/office/drawing/2014/main" val="1573940898"/>
                    </a:ext>
                  </a:extLst>
                </a:gridCol>
                <a:gridCol w="725355">
                  <a:extLst>
                    <a:ext uri="{9D8B030D-6E8A-4147-A177-3AD203B41FA5}">
                      <a16:colId xmlns:a16="http://schemas.microsoft.com/office/drawing/2014/main" val="1030158973"/>
                    </a:ext>
                  </a:extLst>
                </a:gridCol>
                <a:gridCol w="725355">
                  <a:extLst>
                    <a:ext uri="{9D8B030D-6E8A-4147-A177-3AD203B41FA5}">
                      <a16:colId xmlns:a16="http://schemas.microsoft.com/office/drawing/2014/main" val="2808795746"/>
                    </a:ext>
                  </a:extLst>
                </a:gridCol>
                <a:gridCol w="725355">
                  <a:extLst>
                    <a:ext uri="{9D8B030D-6E8A-4147-A177-3AD203B41FA5}">
                      <a16:colId xmlns:a16="http://schemas.microsoft.com/office/drawing/2014/main" val="3698412274"/>
                    </a:ext>
                  </a:extLst>
                </a:gridCol>
                <a:gridCol w="725355">
                  <a:extLst>
                    <a:ext uri="{9D8B030D-6E8A-4147-A177-3AD203B41FA5}">
                      <a16:colId xmlns:a16="http://schemas.microsoft.com/office/drawing/2014/main" val="2245610178"/>
                    </a:ext>
                  </a:extLst>
                </a:gridCol>
                <a:gridCol w="725355">
                  <a:extLst>
                    <a:ext uri="{9D8B030D-6E8A-4147-A177-3AD203B41FA5}">
                      <a16:colId xmlns:a16="http://schemas.microsoft.com/office/drawing/2014/main" val="3513746487"/>
                    </a:ext>
                  </a:extLst>
                </a:gridCol>
                <a:gridCol w="725355">
                  <a:extLst>
                    <a:ext uri="{9D8B030D-6E8A-4147-A177-3AD203B41FA5}">
                      <a16:colId xmlns:a16="http://schemas.microsoft.com/office/drawing/2014/main" val="1665823349"/>
                    </a:ext>
                  </a:extLst>
                </a:gridCol>
                <a:gridCol w="725355">
                  <a:extLst>
                    <a:ext uri="{9D8B030D-6E8A-4147-A177-3AD203B41FA5}">
                      <a16:colId xmlns:a16="http://schemas.microsoft.com/office/drawing/2014/main" val="970440006"/>
                    </a:ext>
                  </a:extLst>
                </a:gridCol>
                <a:gridCol w="725355">
                  <a:extLst>
                    <a:ext uri="{9D8B030D-6E8A-4147-A177-3AD203B41FA5}">
                      <a16:colId xmlns:a16="http://schemas.microsoft.com/office/drawing/2014/main" val="2662298946"/>
                    </a:ext>
                  </a:extLst>
                </a:gridCol>
                <a:gridCol w="725355">
                  <a:extLst>
                    <a:ext uri="{9D8B030D-6E8A-4147-A177-3AD203B41FA5}">
                      <a16:colId xmlns:a16="http://schemas.microsoft.com/office/drawing/2014/main" val="497091191"/>
                    </a:ext>
                  </a:extLst>
                </a:gridCol>
              </a:tblGrid>
              <a:tr h="91936">
                <a:tc>
                  <a:txBody>
                    <a:bodyPr/>
                    <a:lstStyle/>
                    <a:p>
                      <a:pPr algn="l" fontAlgn="b"/>
                      <a:r>
                        <a:rPr lang="en-IN" sz="1100" b="0" i="0" u="none" strike="noStrike" dirty="0" err="1" smtClean="0">
                          <a:solidFill>
                            <a:srgbClr val="000000"/>
                          </a:solidFill>
                          <a:effectLst/>
                          <a:latin typeface="+mj-lt"/>
                        </a:rPr>
                        <a:t>Kulekhani</a:t>
                      </a:r>
                      <a:r>
                        <a:rPr lang="en-IN" sz="1100" b="0" i="0" u="none" strike="noStrike" dirty="0" smtClean="0">
                          <a:solidFill>
                            <a:srgbClr val="000000"/>
                          </a:solidFill>
                          <a:effectLst/>
                          <a:latin typeface="+mj-lt"/>
                        </a:rPr>
                        <a:t> </a:t>
                      </a:r>
                      <a:r>
                        <a:rPr lang="en-IN" sz="1100" b="0" i="0" u="none" strike="noStrike" dirty="0">
                          <a:solidFill>
                            <a:srgbClr val="000000"/>
                          </a:solidFill>
                          <a:effectLst/>
                          <a:latin typeface="+mj-lt"/>
                        </a:rPr>
                        <a:t>III </a:t>
                      </a:r>
                    </a:p>
                  </a:txBody>
                  <a:tcPr marL="10800" marR="10800" marT="10800" marB="10800" anchor="ctr">
                    <a:lnL w="12700" cmpd="sng">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140 </a:t>
                      </a:r>
                      <a:endParaRPr lang="en-IN" sz="1100" b="0" i="0" u="none" strike="noStrike" dirty="0">
                        <a:solidFill>
                          <a:srgbClr val="000000"/>
                        </a:solidFill>
                        <a:effectLst/>
                        <a:latin typeface="+mj-lt"/>
                      </a:endParaRP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smtClean="0">
                          <a:solidFill>
                            <a:srgbClr val="000000"/>
                          </a:solidFill>
                          <a:effectLst/>
                          <a:latin typeface="+mj-lt"/>
                        </a:rPr>
                        <a:t>140 </a:t>
                      </a:r>
                      <a:endParaRPr lang="en-IN" sz="1100" b="1" i="0" u="none" strike="noStrike" dirty="0">
                        <a:solidFill>
                          <a:srgbClr val="000000"/>
                        </a:solidFill>
                        <a:effectLst/>
                        <a:latin typeface="+mj-lt"/>
                      </a:endParaRPr>
                    </a:p>
                  </a:txBody>
                  <a:tcPr marL="0" marR="0" marT="0" marB="0" anchor="ctr">
                    <a:lnL>
                      <a:noFill/>
                    </a:lnL>
                    <a:lnR w="12700" cmpd="sng">
                      <a:noFill/>
                    </a:lnR>
                    <a:lnT w="28575"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5894840"/>
                  </a:ext>
                </a:extLst>
              </a:tr>
              <a:tr h="91936">
                <a:tc>
                  <a:txBody>
                    <a:bodyPr/>
                    <a:lstStyle/>
                    <a:p>
                      <a:pPr algn="l" fontAlgn="b"/>
                      <a:r>
                        <a:rPr lang="en-IN" sz="1100" b="0" i="0" u="none" strike="noStrike" dirty="0" smtClean="0">
                          <a:solidFill>
                            <a:srgbClr val="000000"/>
                          </a:solidFill>
                          <a:effectLst/>
                          <a:latin typeface="+mj-lt"/>
                        </a:rPr>
                        <a:t>Upper </a:t>
                      </a:r>
                      <a:r>
                        <a:rPr lang="en-IN" sz="1100" b="0" i="0" u="none" strike="noStrike" dirty="0" err="1">
                          <a:solidFill>
                            <a:srgbClr val="000000"/>
                          </a:solidFill>
                          <a:effectLst/>
                          <a:latin typeface="+mj-lt"/>
                        </a:rPr>
                        <a:t>Trisuli</a:t>
                      </a:r>
                      <a:r>
                        <a:rPr lang="en-IN" sz="1100" b="0" i="0" u="none" strike="noStrike" dirty="0">
                          <a:solidFill>
                            <a:srgbClr val="000000"/>
                          </a:solidFill>
                          <a:effectLst/>
                          <a:latin typeface="+mj-lt"/>
                        </a:rPr>
                        <a:t> 3A </a:t>
                      </a: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1,800 </a:t>
                      </a:r>
                      <a:endParaRPr lang="en-IN" sz="1100" b="0" i="0" u="none" strike="noStrike" dirty="0">
                        <a:solidFill>
                          <a:srgbClr val="000000"/>
                        </a:solidFill>
                        <a:effectLst/>
                        <a:latin typeface="+mj-lt"/>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600 </a:t>
                      </a:r>
                      <a:endParaRPr lang="en-IN" sz="1100" b="0" i="0" u="none" strike="noStrike" dirty="0">
                        <a:solidFill>
                          <a:srgbClr val="000000"/>
                        </a:solidFill>
                        <a:effectLst/>
                        <a:latin typeface="+mj-lt"/>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smtClean="0">
                          <a:solidFill>
                            <a:srgbClr val="000000"/>
                          </a:solidFill>
                          <a:effectLst/>
                          <a:latin typeface="+mj-lt"/>
                        </a:rPr>
                        <a:t>2,400 </a:t>
                      </a:r>
                      <a:endParaRPr lang="en-IN" sz="1100" b="1" i="0" u="none" strike="noStrike" dirty="0">
                        <a:solidFill>
                          <a:srgbClr val="000000"/>
                        </a:solidFill>
                        <a:effectLst/>
                        <a:latin typeface="+mj-lt"/>
                      </a:endParaRP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7551126"/>
                  </a:ext>
                </a:extLst>
              </a:tr>
              <a:tr h="91936">
                <a:tc>
                  <a:txBody>
                    <a:bodyPr/>
                    <a:lstStyle/>
                    <a:p>
                      <a:pPr algn="l" fontAlgn="b"/>
                      <a:r>
                        <a:rPr lang="en-IN" sz="1100" b="0" i="0" u="none" strike="noStrike" dirty="0" smtClean="0">
                          <a:solidFill>
                            <a:srgbClr val="000000"/>
                          </a:solidFill>
                          <a:effectLst/>
                          <a:latin typeface="+mj-lt"/>
                        </a:rPr>
                        <a:t>Solar</a:t>
                      </a:r>
                      <a:endParaRPr lang="en-IN" sz="1100" b="0" i="0" u="none" strike="noStrike" dirty="0">
                        <a:solidFill>
                          <a:srgbClr val="000000"/>
                        </a:solidFill>
                        <a:effectLst/>
                        <a:latin typeface="+mj-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2,750 </a:t>
                      </a:r>
                      <a:endParaRPr lang="en-IN" sz="1100" b="0" i="0" u="none" strike="noStrike" dirty="0">
                        <a:solidFill>
                          <a:srgbClr val="000000"/>
                        </a:solidFill>
                        <a:effectLst/>
                        <a:latin typeface="+mj-lt"/>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smtClean="0">
                          <a:solidFill>
                            <a:srgbClr val="000000"/>
                          </a:solidFill>
                          <a:effectLst/>
                          <a:latin typeface="+mj-lt"/>
                        </a:rPr>
                        <a:t>2,750 </a:t>
                      </a:r>
                      <a:endParaRPr lang="en-IN" sz="1100" b="1" i="0" u="none" strike="noStrike" dirty="0">
                        <a:solidFill>
                          <a:srgbClr val="000000"/>
                        </a:solidFill>
                        <a:effectLst/>
                        <a:latin typeface="+mj-lt"/>
                      </a:endParaRP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2344761"/>
                  </a:ext>
                </a:extLst>
              </a:tr>
              <a:tr h="91936">
                <a:tc>
                  <a:txBody>
                    <a:bodyPr/>
                    <a:lstStyle/>
                    <a:p>
                      <a:pPr algn="l" fontAlgn="b"/>
                      <a:r>
                        <a:rPr lang="en-IN" sz="1100" b="0" i="0" u="none" strike="noStrike" dirty="0" err="1" smtClean="0">
                          <a:solidFill>
                            <a:srgbClr val="000000"/>
                          </a:solidFill>
                          <a:effectLst/>
                          <a:latin typeface="+mj-lt"/>
                        </a:rPr>
                        <a:t>Maint</a:t>
                      </a:r>
                      <a:r>
                        <a:rPr lang="en-IN" sz="1100" b="0" i="0" u="none" strike="noStrike" dirty="0" smtClean="0">
                          <a:solidFill>
                            <a:srgbClr val="000000"/>
                          </a:solidFill>
                          <a:effectLst/>
                          <a:latin typeface="+mj-lt"/>
                        </a:rPr>
                        <a:t>. &amp; Rehab.</a:t>
                      </a:r>
                      <a:endParaRPr lang="en-IN" sz="1100" b="0" i="0" u="none" strike="noStrike" dirty="0">
                        <a:solidFill>
                          <a:srgbClr val="000000"/>
                        </a:solidFill>
                        <a:effectLst/>
                        <a:latin typeface="+mj-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2,088 </a:t>
                      </a:r>
                      <a:endParaRPr lang="en-IN" sz="1100" b="0" i="0" u="none" strike="noStrike" dirty="0">
                        <a:solidFill>
                          <a:srgbClr val="000000"/>
                        </a:solidFill>
                        <a:effectLst/>
                        <a:latin typeface="+mj-lt"/>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mj-lt"/>
                        </a:rPr>
                        <a:t>3,254 </a:t>
                      </a:r>
                      <a:endParaRPr lang="en-IN" sz="1100" b="0" i="0" u="none" strike="noStrike" dirty="0">
                        <a:solidFill>
                          <a:srgbClr val="000000"/>
                        </a:solidFill>
                        <a:effectLst/>
                        <a:latin typeface="+mj-lt"/>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smtClean="0">
                          <a:solidFill>
                            <a:srgbClr val="000000"/>
                          </a:solidFill>
                          <a:effectLst/>
                          <a:latin typeface="+mj-lt"/>
                        </a:rPr>
                        <a:t>5,342 </a:t>
                      </a:r>
                      <a:endParaRPr lang="en-IN" sz="1100" b="1" i="0" u="none" strike="noStrike" dirty="0">
                        <a:solidFill>
                          <a:srgbClr val="000000"/>
                        </a:solidFill>
                        <a:effectLst/>
                        <a:latin typeface="+mj-lt"/>
                      </a:endParaRP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6074112"/>
                  </a:ext>
                </a:extLst>
              </a:tr>
              <a:tr h="91936">
                <a:tc>
                  <a:txBody>
                    <a:bodyPr/>
                    <a:lstStyle/>
                    <a:p>
                      <a:pPr algn="l" fontAlgn="b"/>
                      <a:r>
                        <a:rPr lang="en-IN" sz="1100" b="0" i="0" u="none" strike="noStrike" dirty="0" smtClean="0">
                          <a:solidFill>
                            <a:srgbClr val="000000"/>
                          </a:solidFill>
                          <a:effectLst/>
                          <a:latin typeface="+mj-lt"/>
                        </a:rPr>
                        <a:t>Energy </a:t>
                      </a:r>
                      <a:r>
                        <a:rPr lang="en-IN" sz="1100" b="0" i="0" u="none" strike="noStrike" dirty="0">
                          <a:solidFill>
                            <a:srgbClr val="000000"/>
                          </a:solidFill>
                          <a:effectLst/>
                          <a:latin typeface="+mj-lt"/>
                        </a:rPr>
                        <a:t>Efficiency</a:t>
                      </a: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smtClean="0">
                          <a:solidFill>
                            <a:srgbClr val="000000"/>
                          </a:solidFill>
                          <a:effectLst/>
                          <a:latin typeface="+mj-lt"/>
                        </a:rPr>
                        <a:t>-   </a:t>
                      </a:r>
                      <a:endParaRPr lang="en-IN" sz="1100" b="1" i="0" u="none" strike="noStrike" dirty="0">
                        <a:solidFill>
                          <a:srgbClr val="000000"/>
                        </a:solidFill>
                        <a:effectLst/>
                        <a:latin typeface="+mj-lt"/>
                      </a:endParaRP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37577735"/>
                  </a:ext>
                </a:extLst>
              </a:tr>
              <a:tr h="91936">
                <a:tc>
                  <a:txBody>
                    <a:bodyPr/>
                    <a:lstStyle/>
                    <a:p>
                      <a:pPr algn="l" fontAlgn="b"/>
                      <a:r>
                        <a:rPr lang="en-IN" sz="1100" b="0" i="0" u="none" strike="noStrike" dirty="0" smtClean="0">
                          <a:solidFill>
                            <a:srgbClr val="000000"/>
                          </a:solidFill>
                          <a:effectLst/>
                          <a:latin typeface="+mj-lt"/>
                        </a:rPr>
                        <a:t>Sub-Total</a:t>
                      </a:r>
                      <a:endParaRPr lang="en-IN" sz="1100" b="0" i="0" u="none" strike="noStrike" dirty="0">
                        <a:solidFill>
                          <a:srgbClr val="000000"/>
                        </a:solidFill>
                        <a:effectLst/>
                        <a:latin typeface="+mj-lt"/>
                      </a:endParaRPr>
                    </a:p>
                  </a:txBody>
                  <a:tcPr marL="10800" marR="10800" marT="10800" marB="10800" anchor="ctr">
                    <a:lnL w="12700" cmpd="sng">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smtClean="0">
                          <a:solidFill>
                            <a:srgbClr val="000000"/>
                          </a:solidFill>
                          <a:effectLst/>
                          <a:latin typeface="+mj-lt"/>
                        </a:rPr>
                        <a:t>6,778 </a:t>
                      </a:r>
                      <a:endParaRPr lang="en-IN" sz="1100" b="0" i="0" u="none" strike="noStrike" dirty="0">
                        <a:solidFill>
                          <a:srgbClr val="000000"/>
                        </a:solidFill>
                        <a:effectLst/>
                        <a:latin typeface="+mj-lt"/>
                      </a:endParaRP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smtClean="0">
                          <a:solidFill>
                            <a:srgbClr val="000000"/>
                          </a:solidFill>
                          <a:effectLst/>
                          <a:latin typeface="+mj-lt"/>
                        </a:rPr>
                        <a:t>3,854 </a:t>
                      </a:r>
                      <a:endParaRPr lang="en-IN" sz="1100" b="0" i="0" u="none" strike="noStrike" dirty="0">
                        <a:solidFill>
                          <a:srgbClr val="000000"/>
                        </a:solidFill>
                        <a:effectLst/>
                        <a:latin typeface="+mj-lt"/>
                      </a:endParaRP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0" i="0" u="none" strike="noStrike" dirty="0">
                          <a:solidFill>
                            <a:srgbClr val="000000"/>
                          </a:solidFill>
                          <a:effectLst/>
                          <a:latin typeface="+mj-lt"/>
                        </a:rPr>
                        <a:t>            -   </a:t>
                      </a:r>
                    </a:p>
                  </a:txBody>
                  <a:tcPr marL="0" marR="0" marT="0" marB="0" anchor="ctr">
                    <a:lnL>
                      <a:noFill/>
                    </a:lnL>
                    <a:lnR>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fontAlgn="b"/>
                      <a:r>
                        <a:rPr lang="en-IN" sz="1100" b="1" i="0" u="none" strike="noStrike" dirty="0" smtClean="0">
                          <a:solidFill>
                            <a:srgbClr val="000000"/>
                          </a:solidFill>
                          <a:effectLst/>
                          <a:latin typeface="+mj-lt"/>
                        </a:rPr>
                        <a:t>10,632 </a:t>
                      </a:r>
                      <a:endParaRPr lang="en-IN" sz="1100" b="1" i="0" u="none" strike="noStrike" dirty="0">
                        <a:solidFill>
                          <a:srgbClr val="000000"/>
                        </a:solidFill>
                        <a:effectLst/>
                        <a:latin typeface="+mj-lt"/>
                      </a:endParaRPr>
                    </a:p>
                  </a:txBody>
                  <a:tcPr marL="0" marR="0" marT="0" marB="0" anchor="ctr">
                    <a:lnL>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56796722"/>
                  </a:ext>
                </a:extLst>
              </a:tr>
            </a:tbl>
          </a:graphicData>
        </a:graphic>
      </p:graphicFrame>
      <p:graphicFrame>
        <p:nvGraphicFramePr>
          <p:cNvPr id="85" name="Table 84"/>
          <p:cNvGraphicFramePr>
            <a:graphicFrameLocks noGrp="1"/>
          </p:cNvGraphicFramePr>
          <p:nvPr>
            <p:extLst>
              <p:ext uri="{D42A27DB-BD31-4B8C-83A1-F6EECF244321}">
                <p14:modId xmlns:p14="http://schemas.microsoft.com/office/powerpoint/2010/main" val="672553878"/>
              </p:ext>
            </p:extLst>
          </p:nvPr>
        </p:nvGraphicFramePr>
        <p:xfrm>
          <a:off x="2307377" y="1918503"/>
          <a:ext cx="9420569" cy="195624"/>
        </p:xfrm>
        <a:graphic>
          <a:graphicData uri="http://schemas.openxmlformats.org/drawingml/2006/table">
            <a:tbl>
              <a:tblPr firstRow="1">
                <a:tableStyleId>{793D81CF-94F2-401A-BA57-92F5A7B2D0C5}</a:tableStyleId>
              </a:tblPr>
              <a:tblGrid>
                <a:gridCol w="1395173">
                  <a:extLst>
                    <a:ext uri="{9D8B030D-6E8A-4147-A177-3AD203B41FA5}">
                      <a16:colId xmlns:a16="http://schemas.microsoft.com/office/drawing/2014/main" val="691066506"/>
                    </a:ext>
                  </a:extLst>
                </a:gridCol>
                <a:gridCol w="719691">
                  <a:extLst>
                    <a:ext uri="{9D8B030D-6E8A-4147-A177-3AD203B41FA5}">
                      <a16:colId xmlns:a16="http://schemas.microsoft.com/office/drawing/2014/main" val="717944450"/>
                    </a:ext>
                  </a:extLst>
                </a:gridCol>
                <a:gridCol w="719691">
                  <a:extLst>
                    <a:ext uri="{9D8B030D-6E8A-4147-A177-3AD203B41FA5}">
                      <a16:colId xmlns:a16="http://schemas.microsoft.com/office/drawing/2014/main" val="1573940898"/>
                    </a:ext>
                  </a:extLst>
                </a:gridCol>
                <a:gridCol w="719691">
                  <a:extLst>
                    <a:ext uri="{9D8B030D-6E8A-4147-A177-3AD203B41FA5}">
                      <a16:colId xmlns:a16="http://schemas.microsoft.com/office/drawing/2014/main" val="1030158973"/>
                    </a:ext>
                  </a:extLst>
                </a:gridCol>
                <a:gridCol w="719691">
                  <a:extLst>
                    <a:ext uri="{9D8B030D-6E8A-4147-A177-3AD203B41FA5}">
                      <a16:colId xmlns:a16="http://schemas.microsoft.com/office/drawing/2014/main" val="2808795746"/>
                    </a:ext>
                  </a:extLst>
                </a:gridCol>
                <a:gridCol w="719691">
                  <a:extLst>
                    <a:ext uri="{9D8B030D-6E8A-4147-A177-3AD203B41FA5}">
                      <a16:colId xmlns:a16="http://schemas.microsoft.com/office/drawing/2014/main" val="3698412274"/>
                    </a:ext>
                  </a:extLst>
                </a:gridCol>
                <a:gridCol w="719691">
                  <a:extLst>
                    <a:ext uri="{9D8B030D-6E8A-4147-A177-3AD203B41FA5}">
                      <a16:colId xmlns:a16="http://schemas.microsoft.com/office/drawing/2014/main" val="2245610178"/>
                    </a:ext>
                  </a:extLst>
                </a:gridCol>
                <a:gridCol w="719691">
                  <a:extLst>
                    <a:ext uri="{9D8B030D-6E8A-4147-A177-3AD203B41FA5}">
                      <a16:colId xmlns:a16="http://schemas.microsoft.com/office/drawing/2014/main" val="3513746487"/>
                    </a:ext>
                  </a:extLst>
                </a:gridCol>
                <a:gridCol w="719691">
                  <a:extLst>
                    <a:ext uri="{9D8B030D-6E8A-4147-A177-3AD203B41FA5}">
                      <a16:colId xmlns:a16="http://schemas.microsoft.com/office/drawing/2014/main" val="1665823349"/>
                    </a:ext>
                  </a:extLst>
                </a:gridCol>
                <a:gridCol w="719691">
                  <a:extLst>
                    <a:ext uri="{9D8B030D-6E8A-4147-A177-3AD203B41FA5}">
                      <a16:colId xmlns:a16="http://schemas.microsoft.com/office/drawing/2014/main" val="970440006"/>
                    </a:ext>
                  </a:extLst>
                </a:gridCol>
                <a:gridCol w="719691">
                  <a:extLst>
                    <a:ext uri="{9D8B030D-6E8A-4147-A177-3AD203B41FA5}">
                      <a16:colId xmlns:a16="http://schemas.microsoft.com/office/drawing/2014/main" val="2662298946"/>
                    </a:ext>
                  </a:extLst>
                </a:gridCol>
                <a:gridCol w="828486">
                  <a:extLst>
                    <a:ext uri="{9D8B030D-6E8A-4147-A177-3AD203B41FA5}">
                      <a16:colId xmlns:a16="http://schemas.microsoft.com/office/drawing/2014/main" val="497091191"/>
                    </a:ext>
                  </a:extLst>
                </a:gridCol>
              </a:tblGrid>
              <a:tr h="195624">
                <a:tc>
                  <a:txBody>
                    <a:bodyPr/>
                    <a:lstStyle/>
                    <a:p>
                      <a:pPr algn="l" fontAlgn="b"/>
                      <a:r>
                        <a:rPr lang="en-US" sz="1100" b="1" i="0" u="none" strike="noStrike" dirty="0" err="1" smtClean="0">
                          <a:solidFill>
                            <a:schemeClr val="bg1"/>
                          </a:solidFill>
                          <a:effectLst/>
                          <a:latin typeface="+mn-lt"/>
                        </a:rPr>
                        <a:t>Mn</a:t>
                      </a:r>
                      <a:r>
                        <a:rPr lang="en-US" sz="1100" b="1" i="0" u="none" strike="noStrike" dirty="0" smtClean="0">
                          <a:solidFill>
                            <a:schemeClr val="bg1"/>
                          </a:solidFill>
                          <a:effectLst/>
                          <a:latin typeface="+mn-lt"/>
                        </a:rPr>
                        <a:t> NPR#</a:t>
                      </a:r>
                      <a:endParaRPr lang="en-IN" sz="1100" b="1" i="0" u="none" strike="noStrike" dirty="0">
                        <a:solidFill>
                          <a:schemeClr val="bg1"/>
                        </a:solidFill>
                        <a:effectLst/>
                        <a:latin typeface="+mn-lt"/>
                      </a:endParaRPr>
                    </a:p>
                  </a:txBody>
                  <a:tcPr marL="0" marR="0" marT="0" marB="0" anchor="ctr"/>
                </a:tc>
                <a:tc>
                  <a:txBody>
                    <a:bodyPr/>
                    <a:lstStyle/>
                    <a:p>
                      <a:pPr algn="ctr" fontAlgn="b"/>
                      <a:r>
                        <a:rPr lang="en-IN" sz="1100" u="none" strike="noStrike" dirty="0">
                          <a:effectLst/>
                          <a:latin typeface="+mn-lt"/>
                        </a:rPr>
                        <a:t>FY20</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FY21</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FY22</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FY23</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FY24</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FY25</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FY26</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a:effectLst/>
                          <a:latin typeface="+mn-lt"/>
                        </a:rPr>
                        <a:t>FY27</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smtClean="0">
                          <a:effectLst/>
                          <a:latin typeface="+mn-lt"/>
                        </a:rPr>
                        <a:t>FY28</a:t>
                      </a:r>
                      <a:endParaRPr lang="en-IN" sz="1100" b="0" i="0" u="none" strike="noStrike" dirty="0">
                        <a:solidFill>
                          <a:srgbClr val="000000"/>
                        </a:solidFill>
                        <a:effectLst/>
                        <a:latin typeface="+mn-lt"/>
                      </a:endParaRPr>
                    </a:p>
                  </a:txBody>
                  <a:tcPr marL="0" marR="0" marT="0" marB="0" anchor="ctr"/>
                </a:tc>
                <a:tc>
                  <a:txBody>
                    <a:bodyPr/>
                    <a:lstStyle/>
                    <a:p>
                      <a:pPr algn="ctr" fontAlgn="b"/>
                      <a:r>
                        <a:rPr lang="en-IN" sz="1100" u="none" strike="noStrike" dirty="0" smtClean="0">
                          <a:effectLst/>
                          <a:latin typeface="+mn-lt"/>
                        </a:rPr>
                        <a:t>FY29</a:t>
                      </a:r>
                      <a:endParaRPr lang="en-IN" sz="1100" b="0" i="0" u="none" strike="noStrike" dirty="0">
                        <a:solidFill>
                          <a:srgbClr val="000000"/>
                        </a:solidFill>
                        <a:effectLst/>
                        <a:latin typeface="+mn-lt"/>
                      </a:endParaRPr>
                    </a:p>
                  </a:txBody>
                  <a:tcPr marL="0" marR="0" marT="0" marB="0" anchor="ctr"/>
                </a:tc>
                <a:tc>
                  <a:txBody>
                    <a:bodyPr/>
                    <a:lstStyle/>
                    <a:p>
                      <a:pPr algn="ctr" fontAlgn="b"/>
                      <a:r>
                        <a:rPr lang="en-US" sz="1100" b="1" i="0" u="none" strike="noStrike" dirty="0" smtClean="0">
                          <a:solidFill>
                            <a:schemeClr val="bg1"/>
                          </a:solidFill>
                          <a:effectLst/>
                          <a:latin typeface="+mn-lt"/>
                        </a:rPr>
                        <a:t>Total</a:t>
                      </a:r>
                      <a:endParaRPr lang="en-IN" sz="1100" b="1" i="0" u="none" strike="noStrike" dirty="0">
                        <a:solidFill>
                          <a:schemeClr val="bg1"/>
                        </a:solidFill>
                        <a:effectLst/>
                        <a:latin typeface="+mn-lt"/>
                      </a:endParaRPr>
                    </a:p>
                  </a:txBody>
                  <a:tcPr marL="0" marR="0" marT="0" marB="0" anchor="ctr"/>
                </a:tc>
                <a:extLst>
                  <a:ext uri="{0D108BD9-81ED-4DB2-BD59-A6C34878D82A}">
                    <a16:rowId xmlns:a16="http://schemas.microsoft.com/office/drawing/2014/main" val="3651055959"/>
                  </a:ext>
                </a:extLst>
              </a:tr>
            </a:tbl>
          </a:graphicData>
        </a:graphic>
      </p:graphicFrame>
      <p:graphicFrame>
        <p:nvGraphicFramePr>
          <p:cNvPr id="86" name="Table 85"/>
          <p:cNvGraphicFramePr>
            <a:graphicFrameLocks noGrp="1"/>
          </p:cNvGraphicFramePr>
          <p:nvPr>
            <p:extLst>
              <p:ext uri="{D42A27DB-BD31-4B8C-83A1-F6EECF244321}">
                <p14:modId xmlns:p14="http://schemas.microsoft.com/office/powerpoint/2010/main" val="3178212205"/>
              </p:ext>
            </p:extLst>
          </p:nvPr>
        </p:nvGraphicFramePr>
        <p:xfrm>
          <a:off x="2281707" y="3462981"/>
          <a:ext cx="9420573" cy="946200"/>
        </p:xfrm>
        <a:graphic>
          <a:graphicData uri="http://schemas.openxmlformats.org/drawingml/2006/table">
            <a:tbl>
              <a:tblPr>
                <a:tableStyleId>{793D81CF-94F2-401A-BA57-92F5A7B2D0C5}</a:tableStyleId>
              </a:tblPr>
              <a:tblGrid>
                <a:gridCol w="1494765">
                  <a:extLst>
                    <a:ext uri="{9D8B030D-6E8A-4147-A177-3AD203B41FA5}">
                      <a16:colId xmlns:a16="http://schemas.microsoft.com/office/drawing/2014/main" val="691066506"/>
                    </a:ext>
                  </a:extLst>
                </a:gridCol>
                <a:gridCol w="720528">
                  <a:extLst>
                    <a:ext uri="{9D8B030D-6E8A-4147-A177-3AD203B41FA5}">
                      <a16:colId xmlns:a16="http://schemas.microsoft.com/office/drawing/2014/main" val="717944450"/>
                    </a:ext>
                  </a:extLst>
                </a:gridCol>
                <a:gridCol w="720528">
                  <a:extLst>
                    <a:ext uri="{9D8B030D-6E8A-4147-A177-3AD203B41FA5}">
                      <a16:colId xmlns:a16="http://schemas.microsoft.com/office/drawing/2014/main" val="1573940898"/>
                    </a:ext>
                  </a:extLst>
                </a:gridCol>
                <a:gridCol w="720528">
                  <a:extLst>
                    <a:ext uri="{9D8B030D-6E8A-4147-A177-3AD203B41FA5}">
                      <a16:colId xmlns:a16="http://schemas.microsoft.com/office/drawing/2014/main" val="1030158973"/>
                    </a:ext>
                  </a:extLst>
                </a:gridCol>
                <a:gridCol w="720528">
                  <a:extLst>
                    <a:ext uri="{9D8B030D-6E8A-4147-A177-3AD203B41FA5}">
                      <a16:colId xmlns:a16="http://schemas.microsoft.com/office/drawing/2014/main" val="2808795746"/>
                    </a:ext>
                  </a:extLst>
                </a:gridCol>
                <a:gridCol w="720528">
                  <a:extLst>
                    <a:ext uri="{9D8B030D-6E8A-4147-A177-3AD203B41FA5}">
                      <a16:colId xmlns:a16="http://schemas.microsoft.com/office/drawing/2014/main" val="3698412274"/>
                    </a:ext>
                  </a:extLst>
                </a:gridCol>
                <a:gridCol w="720528">
                  <a:extLst>
                    <a:ext uri="{9D8B030D-6E8A-4147-A177-3AD203B41FA5}">
                      <a16:colId xmlns:a16="http://schemas.microsoft.com/office/drawing/2014/main" val="2245610178"/>
                    </a:ext>
                  </a:extLst>
                </a:gridCol>
                <a:gridCol w="720528">
                  <a:extLst>
                    <a:ext uri="{9D8B030D-6E8A-4147-A177-3AD203B41FA5}">
                      <a16:colId xmlns:a16="http://schemas.microsoft.com/office/drawing/2014/main" val="3513746487"/>
                    </a:ext>
                  </a:extLst>
                </a:gridCol>
                <a:gridCol w="720528">
                  <a:extLst>
                    <a:ext uri="{9D8B030D-6E8A-4147-A177-3AD203B41FA5}">
                      <a16:colId xmlns:a16="http://schemas.microsoft.com/office/drawing/2014/main" val="1665823349"/>
                    </a:ext>
                  </a:extLst>
                </a:gridCol>
                <a:gridCol w="720528">
                  <a:extLst>
                    <a:ext uri="{9D8B030D-6E8A-4147-A177-3AD203B41FA5}">
                      <a16:colId xmlns:a16="http://schemas.microsoft.com/office/drawing/2014/main" val="970440006"/>
                    </a:ext>
                  </a:extLst>
                </a:gridCol>
                <a:gridCol w="720528">
                  <a:extLst>
                    <a:ext uri="{9D8B030D-6E8A-4147-A177-3AD203B41FA5}">
                      <a16:colId xmlns:a16="http://schemas.microsoft.com/office/drawing/2014/main" val="2662298946"/>
                    </a:ext>
                  </a:extLst>
                </a:gridCol>
                <a:gridCol w="720528">
                  <a:extLst>
                    <a:ext uri="{9D8B030D-6E8A-4147-A177-3AD203B41FA5}">
                      <a16:colId xmlns:a16="http://schemas.microsoft.com/office/drawing/2014/main" val="497091191"/>
                    </a:ext>
                  </a:extLst>
                </a:gridCol>
              </a:tblGrid>
              <a:tr h="87700">
                <a:tc>
                  <a:txBody>
                    <a:bodyPr/>
                    <a:lstStyle/>
                    <a:p>
                      <a:pPr algn="l" fontAlgn="b"/>
                      <a:r>
                        <a:rPr lang="en-IN" sz="1100" b="0" i="0" u="none" strike="noStrike" dirty="0" smtClean="0">
                          <a:solidFill>
                            <a:srgbClr val="000000"/>
                          </a:solidFill>
                          <a:effectLst/>
                          <a:latin typeface="+mn-lt"/>
                        </a:rPr>
                        <a:t>132 kV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8,665</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16,679</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13,832</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6,515</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4,265</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4,281</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1,440</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524</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116</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050" b="1" i="0" u="none" strike="noStrike" dirty="0">
                          <a:solidFill>
                            <a:srgbClr val="000000"/>
                          </a:solidFill>
                          <a:effectLst/>
                          <a:latin typeface="Verdana" panose="020B0604030504040204" pitchFamily="34" charset="0"/>
                        </a:rPr>
                        <a:t>56,318</a:t>
                      </a:r>
                    </a:p>
                  </a:txBody>
                  <a:tcPr marL="0" marR="0" marT="0" marB="0" anchor="ctr">
                    <a:lnL>
                      <a:noFill/>
                    </a:lnL>
                    <a:lnR w="12700" cmpd="sng">
                      <a:noFill/>
                    </a:lnR>
                    <a:lnT w="28575"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5894840"/>
                  </a:ext>
                </a:extLst>
              </a:tr>
              <a:tr h="87700">
                <a:tc>
                  <a:txBody>
                    <a:bodyPr/>
                    <a:lstStyle/>
                    <a:p>
                      <a:pPr algn="l" fontAlgn="b"/>
                      <a:r>
                        <a:rPr lang="en-IN" sz="1100" b="0" i="0" u="none" strike="noStrike" dirty="0" smtClean="0">
                          <a:solidFill>
                            <a:srgbClr val="000000"/>
                          </a:solidFill>
                          <a:effectLst/>
                          <a:latin typeface="+mn-lt"/>
                        </a:rPr>
                        <a:t>220 kV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7,114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10,955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8,260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5,024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204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757</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3,495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6,640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5,825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1" i="0" u="none" strike="noStrike" dirty="0">
                          <a:solidFill>
                            <a:srgbClr val="000000"/>
                          </a:solidFill>
                          <a:effectLst/>
                          <a:latin typeface="Verdana" panose="020B0604030504040204" pitchFamily="34" charset="0"/>
                        </a:rPr>
                        <a:t>48,274</a:t>
                      </a: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7551126"/>
                  </a:ext>
                </a:extLst>
              </a:tr>
              <a:tr h="87700">
                <a:tc>
                  <a:txBody>
                    <a:bodyPr/>
                    <a:lstStyle/>
                    <a:p>
                      <a:pPr algn="l" fontAlgn="b"/>
                      <a:r>
                        <a:rPr lang="en-IN" sz="1100" b="0" i="0" u="none" strike="noStrike" dirty="0" smtClean="0">
                          <a:solidFill>
                            <a:srgbClr val="000000"/>
                          </a:solidFill>
                          <a:effectLst/>
                          <a:latin typeface="+mn-lt"/>
                        </a:rPr>
                        <a:t>400 kV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5,304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11,294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5,198</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4,893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37,559</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58,130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56,255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34,697</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18,615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1" i="0" u="none" strike="noStrike" dirty="0">
                          <a:solidFill>
                            <a:srgbClr val="000000"/>
                          </a:solidFill>
                          <a:effectLst/>
                          <a:latin typeface="Verdana" panose="020B0604030504040204" pitchFamily="34" charset="0"/>
                        </a:rPr>
                        <a:t>2,31,945</a:t>
                      </a: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2344761"/>
                  </a:ext>
                </a:extLst>
              </a:tr>
              <a:tr h="87700">
                <a:tc>
                  <a:txBody>
                    <a:bodyPr/>
                    <a:lstStyle/>
                    <a:p>
                      <a:pPr algn="l" fontAlgn="b"/>
                      <a:r>
                        <a:rPr lang="sv-SE" sz="1100" b="0" i="0" u="none" strike="noStrike" dirty="0" smtClean="0">
                          <a:solidFill>
                            <a:srgbClr val="000000"/>
                          </a:solidFill>
                          <a:effectLst/>
                          <a:latin typeface="+mn-lt"/>
                        </a:rPr>
                        <a:t>PMD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156</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467</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3,556</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12,900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dirty="0">
                          <a:solidFill>
                            <a:srgbClr val="000000"/>
                          </a:solidFill>
                          <a:effectLst/>
                          <a:latin typeface="Verdana" panose="020B0604030504040204" pitchFamily="34" charset="0"/>
                        </a:rPr>
                        <a:t>29,144</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0" i="0" u="none" strike="noStrike">
                          <a:solidFill>
                            <a:srgbClr val="000000"/>
                          </a:solidFill>
                          <a:effectLst/>
                          <a:latin typeface="Verdana" panose="020B0604030504040204" pitchFamily="34" charset="0"/>
                        </a:rPr>
                        <a:t>37,266</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050" b="1" i="0" u="none" strike="noStrike" dirty="0">
                          <a:solidFill>
                            <a:srgbClr val="000000"/>
                          </a:solidFill>
                          <a:effectLst/>
                          <a:latin typeface="Verdana" panose="020B0604030504040204" pitchFamily="34" charset="0"/>
                        </a:rPr>
                        <a:t>83,488</a:t>
                      </a: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76074112"/>
                  </a:ext>
                </a:extLst>
              </a:tr>
              <a:tr h="87700">
                <a:tc>
                  <a:txBody>
                    <a:bodyPr/>
                    <a:lstStyle/>
                    <a:p>
                      <a:pPr algn="l" fontAlgn="b"/>
                      <a:r>
                        <a:rPr lang="en-IN" sz="1100" b="0" i="0" u="none" strike="noStrike" dirty="0" smtClean="0">
                          <a:solidFill>
                            <a:srgbClr val="000000"/>
                          </a:solidFill>
                          <a:effectLst/>
                          <a:latin typeface="+mn-lt"/>
                        </a:rPr>
                        <a:t>Sub-Total</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21,239</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39,395</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30,846</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29,332</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71,172</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1,00,433</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61,190</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41,861</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24,557</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100" b="1" i="0" u="none" strike="noStrike" dirty="0">
                          <a:solidFill>
                            <a:srgbClr val="000000"/>
                          </a:solidFill>
                          <a:effectLst/>
                          <a:latin typeface="Verdana" panose="020B0604030504040204" pitchFamily="34" charset="0"/>
                        </a:rPr>
                        <a:t>            -   </a:t>
                      </a:r>
                    </a:p>
                  </a:txBody>
                  <a:tcPr marL="0" marR="0" marT="0" marB="0" anchor="ctr">
                    <a:lnL>
                      <a:noFill/>
                    </a:lnL>
                    <a:lnR>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b"/>
                      <a:r>
                        <a:rPr lang="en-IN" sz="1050" b="1" i="0" u="none" strike="noStrike" dirty="0">
                          <a:solidFill>
                            <a:srgbClr val="000000"/>
                          </a:solidFill>
                          <a:effectLst/>
                          <a:latin typeface="Verdana" panose="020B0604030504040204" pitchFamily="34" charset="0"/>
                        </a:rPr>
                        <a:t>4,20,025</a:t>
                      </a:r>
                    </a:p>
                  </a:txBody>
                  <a:tcPr marL="0" marR="0" marT="0" marB="0" anchor="ctr">
                    <a:lnL>
                      <a:noFill/>
                    </a:lnL>
                    <a:lnR w="12700" cmpd="sng">
                      <a:noFill/>
                    </a:lnR>
                    <a:lnT w="12700" cmpd="sng">
                      <a:noFill/>
                    </a:lnT>
                    <a:lnB w="285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56796722"/>
                  </a:ext>
                </a:extLst>
              </a:tr>
            </a:tbl>
          </a:graphicData>
        </a:graphic>
      </p:graphicFrame>
      <p:graphicFrame>
        <p:nvGraphicFramePr>
          <p:cNvPr id="87" name="Table 86"/>
          <p:cNvGraphicFramePr>
            <a:graphicFrameLocks noGrp="1"/>
          </p:cNvGraphicFramePr>
          <p:nvPr>
            <p:extLst>
              <p:ext uri="{D42A27DB-BD31-4B8C-83A1-F6EECF244321}">
                <p14:modId xmlns:p14="http://schemas.microsoft.com/office/powerpoint/2010/main" val="752613122"/>
              </p:ext>
            </p:extLst>
          </p:nvPr>
        </p:nvGraphicFramePr>
        <p:xfrm>
          <a:off x="2255465" y="4515888"/>
          <a:ext cx="9466635" cy="756960"/>
        </p:xfrm>
        <a:graphic>
          <a:graphicData uri="http://schemas.openxmlformats.org/drawingml/2006/table">
            <a:tbl>
              <a:tblPr>
                <a:tableStyleId>{793D81CF-94F2-401A-BA57-92F5A7B2D0C5}</a:tableStyleId>
              </a:tblPr>
              <a:tblGrid>
                <a:gridCol w="1490381">
                  <a:extLst>
                    <a:ext uri="{9D8B030D-6E8A-4147-A177-3AD203B41FA5}">
                      <a16:colId xmlns:a16="http://schemas.microsoft.com/office/drawing/2014/main" val="691066506"/>
                    </a:ext>
                  </a:extLst>
                </a:gridCol>
                <a:gridCol w="725114">
                  <a:extLst>
                    <a:ext uri="{9D8B030D-6E8A-4147-A177-3AD203B41FA5}">
                      <a16:colId xmlns:a16="http://schemas.microsoft.com/office/drawing/2014/main" val="717944450"/>
                    </a:ext>
                  </a:extLst>
                </a:gridCol>
                <a:gridCol w="725114">
                  <a:extLst>
                    <a:ext uri="{9D8B030D-6E8A-4147-A177-3AD203B41FA5}">
                      <a16:colId xmlns:a16="http://schemas.microsoft.com/office/drawing/2014/main" val="1573940898"/>
                    </a:ext>
                  </a:extLst>
                </a:gridCol>
                <a:gridCol w="725114">
                  <a:extLst>
                    <a:ext uri="{9D8B030D-6E8A-4147-A177-3AD203B41FA5}">
                      <a16:colId xmlns:a16="http://schemas.microsoft.com/office/drawing/2014/main" val="1030158973"/>
                    </a:ext>
                  </a:extLst>
                </a:gridCol>
                <a:gridCol w="725114">
                  <a:extLst>
                    <a:ext uri="{9D8B030D-6E8A-4147-A177-3AD203B41FA5}">
                      <a16:colId xmlns:a16="http://schemas.microsoft.com/office/drawing/2014/main" val="2808795746"/>
                    </a:ext>
                  </a:extLst>
                </a:gridCol>
                <a:gridCol w="725114">
                  <a:extLst>
                    <a:ext uri="{9D8B030D-6E8A-4147-A177-3AD203B41FA5}">
                      <a16:colId xmlns:a16="http://schemas.microsoft.com/office/drawing/2014/main" val="3698412274"/>
                    </a:ext>
                  </a:extLst>
                </a:gridCol>
                <a:gridCol w="725114">
                  <a:extLst>
                    <a:ext uri="{9D8B030D-6E8A-4147-A177-3AD203B41FA5}">
                      <a16:colId xmlns:a16="http://schemas.microsoft.com/office/drawing/2014/main" val="2245610178"/>
                    </a:ext>
                  </a:extLst>
                </a:gridCol>
                <a:gridCol w="725114">
                  <a:extLst>
                    <a:ext uri="{9D8B030D-6E8A-4147-A177-3AD203B41FA5}">
                      <a16:colId xmlns:a16="http://schemas.microsoft.com/office/drawing/2014/main" val="3513746487"/>
                    </a:ext>
                  </a:extLst>
                </a:gridCol>
                <a:gridCol w="725114">
                  <a:extLst>
                    <a:ext uri="{9D8B030D-6E8A-4147-A177-3AD203B41FA5}">
                      <a16:colId xmlns:a16="http://schemas.microsoft.com/office/drawing/2014/main" val="1665823349"/>
                    </a:ext>
                  </a:extLst>
                </a:gridCol>
                <a:gridCol w="725114">
                  <a:extLst>
                    <a:ext uri="{9D8B030D-6E8A-4147-A177-3AD203B41FA5}">
                      <a16:colId xmlns:a16="http://schemas.microsoft.com/office/drawing/2014/main" val="970440006"/>
                    </a:ext>
                  </a:extLst>
                </a:gridCol>
                <a:gridCol w="725114">
                  <a:extLst>
                    <a:ext uri="{9D8B030D-6E8A-4147-A177-3AD203B41FA5}">
                      <a16:colId xmlns:a16="http://schemas.microsoft.com/office/drawing/2014/main" val="2662298946"/>
                    </a:ext>
                  </a:extLst>
                </a:gridCol>
                <a:gridCol w="725114">
                  <a:extLst>
                    <a:ext uri="{9D8B030D-6E8A-4147-A177-3AD203B41FA5}">
                      <a16:colId xmlns:a16="http://schemas.microsoft.com/office/drawing/2014/main" val="497091191"/>
                    </a:ext>
                  </a:extLst>
                </a:gridCol>
              </a:tblGrid>
              <a:tr h="0">
                <a:tc>
                  <a:txBody>
                    <a:bodyPr/>
                    <a:lstStyle/>
                    <a:p>
                      <a:pPr algn="l" fontAlgn="b"/>
                      <a:r>
                        <a:rPr lang="en-IN" sz="1100" b="0" i="0" u="none" strike="noStrike" dirty="0" smtClean="0">
                          <a:solidFill>
                            <a:srgbClr val="000000"/>
                          </a:solidFill>
                          <a:effectLst/>
                          <a:latin typeface="+mn-lt"/>
                        </a:rPr>
                        <a:t>Distribution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10,000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10,000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10,000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8,125</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8,117</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8,152</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8,000</a:t>
                      </a:r>
                    </a:p>
                  </a:txBody>
                  <a:tcPr marL="0" marR="0" marT="0" marB="0" anchor="ctr">
                    <a:lnL>
                      <a:noFill/>
                    </a:lnL>
                    <a:lnR>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a:solidFill>
                            <a:srgbClr val="000000"/>
                          </a:solidFill>
                          <a:effectLst/>
                          <a:latin typeface="Verdana" panose="020B0604030504040204" pitchFamily="34" charset="0"/>
                        </a:rPr>
                        <a:t>81,394</a:t>
                      </a:r>
                    </a:p>
                  </a:txBody>
                  <a:tcPr marL="0" marR="0" marT="0" marB="0" anchor="ctr">
                    <a:lnL>
                      <a:noFill/>
                    </a:lnL>
                    <a:lnR w="12700" cmpd="sng">
                      <a:noFill/>
                    </a:lnR>
                    <a:lnT w="28575"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5894840"/>
                  </a:ext>
                </a:extLst>
              </a:tr>
              <a:tr h="0">
                <a:tc>
                  <a:txBody>
                    <a:bodyPr/>
                    <a:lstStyle/>
                    <a:p>
                      <a:pPr algn="l" fontAlgn="b"/>
                      <a:r>
                        <a:rPr lang="en-IN" sz="1100" b="0" i="0" u="none" strike="noStrike" dirty="0" smtClean="0">
                          <a:solidFill>
                            <a:srgbClr val="000000"/>
                          </a:solidFill>
                          <a:effectLst/>
                          <a:latin typeface="+mn-lt"/>
                        </a:rPr>
                        <a:t>Rural Electrification</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20,000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20,000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18,000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13,000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3,773</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a:solidFill>
                            <a:srgbClr val="000000"/>
                          </a:solidFill>
                          <a:effectLst/>
                          <a:latin typeface="Verdana" panose="020B0604030504040204" pitchFamily="34" charset="0"/>
                        </a:rPr>
                        <a:t>93,638</a:t>
                      </a: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37551126"/>
                  </a:ext>
                </a:extLst>
              </a:tr>
              <a:tr h="0">
                <a:tc>
                  <a:txBody>
                    <a:bodyPr/>
                    <a:lstStyle/>
                    <a:p>
                      <a:pPr algn="l" fontAlgn="b"/>
                      <a:r>
                        <a:rPr lang="en-IN" sz="1100" b="0" i="0" u="none" strike="noStrike" dirty="0" smtClean="0">
                          <a:solidFill>
                            <a:srgbClr val="000000"/>
                          </a:solidFill>
                          <a:effectLst/>
                          <a:latin typeface="+mn-lt"/>
                        </a:rPr>
                        <a:t>PMD projects</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8,000</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10,525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13,025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a:solidFill>
                            <a:srgbClr val="000000"/>
                          </a:solidFill>
                          <a:effectLst/>
                          <a:latin typeface="Verdana" panose="020B0604030504040204" pitchFamily="34" charset="0"/>
                        </a:rPr>
                        <a:t>13,025</a:t>
                      </a: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US"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0" i="0" u="none" strike="noStrike" dirty="0" smtClean="0">
                          <a:solidFill>
                            <a:srgbClr val="000000"/>
                          </a:solidFill>
                          <a:effectLst/>
                          <a:latin typeface="Verdana" panose="020B0604030504040204" pitchFamily="34" charset="0"/>
                        </a:rPr>
                        <a:t>-</a:t>
                      </a:r>
                      <a:endParaRPr lang="en-IN" sz="1100" b="0" i="0" u="none" strike="noStrike" dirty="0">
                        <a:solidFill>
                          <a:srgbClr val="000000"/>
                        </a:solidFill>
                        <a:effectLst/>
                        <a:latin typeface="Verdana" panose="020B0604030504040204" pitchFamily="34" charset="0"/>
                      </a:endParaRPr>
                    </a:p>
                  </a:txBody>
                  <a:tcPr marL="0" marR="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r" fontAlgn="b"/>
                      <a:r>
                        <a:rPr lang="en-IN" sz="1100" b="1" i="0" u="none" strike="noStrike" dirty="0">
                          <a:solidFill>
                            <a:srgbClr val="000000"/>
                          </a:solidFill>
                          <a:effectLst/>
                          <a:latin typeface="Verdana" panose="020B0604030504040204" pitchFamily="34" charset="0"/>
                        </a:rPr>
                        <a:t>44,575</a:t>
                      </a:r>
                    </a:p>
                  </a:txBody>
                  <a:tcPr marL="0" marR="0" marT="0" marB="0" anchor="ct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2344761"/>
                  </a:ext>
                </a:extLst>
              </a:tr>
              <a:tr h="0">
                <a:tc>
                  <a:txBody>
                    <a:bodyPr/>
                    <a:lstStyle/>
                    <a:p>
                      <a:pPr algn="l" fontAlgn="b"/>
                      <a:r>
                        <a:rPr lang="en-IN" sz="1100" b="0" i="0" u="none" strike="noStrike" dirty="0" smtClean="0">
                          <a:solidFill>
                            <a:srgbClr val="000000"/>
                          </a:solidFill>
                          <a:effectLst/>
                          <a:latin typeface="+mn-lt"/>
                        </a:rPr>
                        <a:t>Sub-Total</a:t>
                      </a:r>
                      <a:endParaRPr lang="en-IN" sz="1100" b="0" i="0" u="none" strike="noStrike" dirty="0">
                        <a:solidFill>
                          <a:srgbClr val="000000"/>
                        </a:solidFill>
                        <a:effectLst/>
                        <a:latin typeface="+mn-lt"/>
                      </a:endParaRPr>
                    </a:p>
                  </a:txBody>
                  <a:tcPr marL="10800" marR="10800" marT="10800" marB="10800" anchor="ctr">
                    <a:lnL w="12700" cmpd="sng">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31,000</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40,525</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41,025</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36,025</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11,898</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11,890</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11,925</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11,773</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11,773</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0" i="0" u="none" strike="noStrike" dirty="0">
                          <a:solidFill>
                            <a:srgbClr val="000000"/>
                          </a:solidFill>
                          <a:effectLst/>
                          <a:latin typeface="Verdana" panose="020B0604030504040204" pitchFamily="34" charset="0"/>
                        </a:rPr>
                        <a:t>11,773</a:t>
                      </a:r>
                    </a:p>
                  </a:txBody>
                  <a:tcPr marL="0" marR="0" marT="0" marB="0" anchor="ctr">
                    <a:lnL>
                      <a:noFill/>
                    </a:lnL>
                    <a:lnR>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r" fontAlgn="b"/>
                      <a:r>
                        <a:rPr lang="en-IN" sz="1100" b="1" i="0" u="none" strike="noStrike" dirty="0">
                          <a:solidFill>
                            <a:srgbClr val="000000"/>
                          </a:solidFill>
                          <a:effectLst/>
                          <a:latin typeface="Verdana" panose="020B0604030504040204" pitchFamily="34" charset="0"/>
                        </a:rPr>
                        <a:t>2,19,607</a:t>
                      </a:r>
                    </a:p>
                  </a:txBody>
                  <a:tcPr marL="0" marR="0" marT="0" marB="0" anchor="ctr">
                    <a:lnL>
                      <a:noFill/>
                    </a:lnL>
                    <a:lnR w="12700" cmpd="sng">
                      <a:noFill/>
                    </a:lnR>
                    <a:lnT w="12700" cmpd="sng">
                      <a:noFill/>
                    </a:lnT>
                    <a:lnB w="28575"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756796722"/>
                  </a:ext>
                </a:extLst>
              </a:tr>
            </a:tbl>
          </a:graphicData>
        </a:graphic>
      </p:graphicFrame>
      <p:graphicFrame>
        <p:nvGraphicFramePr>
          <p:cNvPr id="90" name="Table 89"/>
          <p:cNvGraphicFramePr>
            <a:graphicFrameLocks noGrp="1"/>
          </p:cNvGraphicFramePr>
          <p:nvPr>
            <p:extLst>
              <p:ext uri="{D42A27DB-BD31-4B8C-83A1-F6EECF244321}">
                <p14:modId xmlns:p14="http://schemas.microsoft.com/office/powerpoint/2010/main" val="1371700513"/>
              </p:ext>
            </p:extLst>
          </p:nvPr>
        </p:nvGraphicFramePr>
        <p:xfrm>
          <a:off x="2255465" y="5379556"/>
          <a:ext cx="9420566" cy="211658"/>
        </p:xfrm>
        <a:graphic>
          <a:graphicData uri="http://schemas.openxmlformats.org/drawingml/2006/table">
            <a:tbl>
              <a:tblPr>
                <a:tableStyleId>{793D81CF-94F2-401A-BA57-92F5A7B2D0C5}</a:tableStyleId>
              </a:tblPr>
              <a:tblGrid>
                <a:gridCol w="1411279">
                  <a:extLst>
                    <a:ext uri="{9D8B030D-6E8A-4147-A177-3AD203B41FA5}">
                      <a16:colId xmlns:a16="http://schemas.microsoft.com/office/drawing/2014/main" val="691066506"/>
                    </a:ext>
                  </a:extLst>
                </a:gridCol>
                <a:gridCol w="728117">
                  <a:extLst>
                    <a:ext uri="{9D8B030D-6E8A-4147-A177-3AD203B41FA5}">
                      <a16:colId xmlns:a16="http://schemas.microsoft.com/office/drawing/2014/main" val="717944450"/>
                    </a:ext>
                  </a:extLst>
                </a:gridCol>
                <a:gridCol w="728117">
                  <a:extLst>
                    <a:ext uri="{9D8B030D-6E8A-4147-A177-3AD203B41FA5}">
                      <a16:colId xmlns:a16="http://schemas.microsoft.com/office/drawing/2014/main" val="1573940898"/>
                    </a:ext>
                  </a:extLst>
                </a:gridCol>
                <a:gridCol w="728117">
                  <a:extLst>
                    <a:ext uri="{9D8B030D-6E8A-4147-A177-3AD203B41FA5}">
                      <a16:colId xmlns:a16="http://schemas.microsoft.com/office/drawing/2014/main" val="1030158973"/>
                    </a:ext>
                  </a:extLst>
                </a:gridCol>
                <a:gridCol w="728117">
                  <a:extLst>
                    <a:ext uri="{9D8B030D-6E8A-4147-A177-3AD203B41FA5}">
                      <a16:colId xmlns:a16="http://schemas.microsoft.com/office/drawing/2014/main" val="2808795746"/>
                    </a:ext>
                  </a:extLst>
                </a:gridCol>
                <a:gridCol w="728117">
                  <a:extLst>
                    <a:ext uri="{9D8B030D-6E8A-4147-A177-3AD203B41FA5}">
                      <a16:colId xmlns:a16="http://schemas.microsoft.com/office/drawing/2014/main" val="3698412274"/>
                    </a:ext>
                  </a:extLst>
                </a:gridCol>
                <a:gridCol w="728117">
                  <a:extLst>
                    <a:ext uri="{9D8B030D-6E8A-4147-A177-3AD203B41FA5}">
                      <a16:colId xmlns:a16="http://schemas.microsoft.com/office/drawing/2014/main" val="2245610178"/>
                    </a:ext>
                  </a:extLst>
                </a:gridCol>
                <a:gridCol w="728117">
                  <a:extLst>
                    <a:ext uri="{9D8B030D-6E8A-4147-A177-3AD203B41FA5}">
                      <a16:colId xmlns:a16="http://schemas.microsoft.com/office/drawing/2014/main" val="3513746487"/>
                    </a:ext>
                  </a:extLst>
                </a:gridCol>
                <a:gridCol w="728117">
                  <a:extLst>
                    <a:ext uri="{9D8B030D-6E8A-4147-A177-3AD203B41FA5}">
                      <a16:colId xmlns:a16="http://schemas.microsoft.com/office/drawing/2014/main" val="1665823349"/>
                    </a:ext>
                  </a:extLst>
                </a:gridCol>
                <a:gridCol w="728117">
                  <a:extLst>
                    <a:ext uri="{9D8B030D-6E8A-4147-A177-3AD203B41FA5}">
                      <a16:colId xmlns:a16="http://schemas.microsoft.com/office/drawing/2014/main" val="970440006"/>
                    </a:ext>
                  </a:extLst>
                </a:gridCol>
                <a:gridCol w="728117">
                  <a:extLst>
                    <a:ext uri="{9D8B030D-6E8A-4147-A177-3AD203B41FA5}">
                      <a16:colId xmlns:a16="http://schemas.microsoft.com/office/drawing/2014/main" val="2662298946"/>
                    </a:ext>
                  </a:extLst>
                </a:gridCol>
                <a:gridCol w="728117">
                  <a:extLst>
                    <a:ext uri="{9D8B030D-6E8A-4147-A177-3AD203B41FA5}">
                      <a16:colId xmlns:a16="http://schemas.microsoft.com/office/drawing/2014/main" val="497091191"/>
                    </a:ext>
                  </a:extLst>
                </a:gridCol>
              </a:tblGrid>
              <a:tr h="211658">
                <a:tc>
                  <a:txBody>
                    <a:bodyPr/>
                    <a:lstStyle/>
                    <a:p>
                      <a:pPr algn="l" fontAlgn="b"/>
                      <a:r>
                        <a:rPr lang="en-IN" sz="1050" b="1" i="0" u="none" strike="noStrike" dirty="0" smtClean="0">
                          <a:solidFill>
                            <a:schemeClr val="bg1"/>
                          </a:solidFill>
                          <a:effectLst/>
                          <a:latin typeface="+mn-lt"/>
                        </a:rPr>
                        <a:t>Total</a:t>
                      </a:r>
                      <a:endParaRPr lang="en-IN" sz="1050" b="1" i="0" u="none" strike="noStrike" dirty="0">
                        <a:solidFill>
                          <a:schemeClr val="bg1"/>
                        </a:solidFill>
                        <a:effectLst/>
                        <a:latin typeface="+mn-lt"/>
                      </a:endParaRPr>
                    </a:p>
                  </a:txBody>
                  <a:tcPr marL="10800" marR="10800" marT="10800" marB="10800" anchor="ctr">
                    <a:lnL w="12700" cmpd="sng">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59,017</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83,773</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71,871</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65,357</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83,070</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1,12,323</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73,115</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53,634</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36,330</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11,773</a:t>
                      </a:r>
                    </a:p>
                  </a:txBody>
                  <a:tcPr marL="0" marR="0" marT="0" marB="0" anchor="ctr">
                    <a:lnL>
                      <a:noFill/>
                    </a:lnL>
                    <a:lnR>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fontAlgn="b"/>
                      <a:r>
                        <a:rPr lang="en-IN" sz="1100" b="1" i="0" u="none" strike="noStrike" dirty="0">
                          <a:solidFill>
                            <a:schemeClr val="bg1"/>
                          </a:solidFill>
                          <a:effectLst/>
                          <a:latin typeface="Verdana" panose="020B0604030504040204" pitchFamily="34" charset="0"/>
                        </a:rPr>
                        <a:t>6,50,263</a:t>
                      </a:r>
                    </a:p>
                  </a:txBody>
                  <a:tcPr marL="0" marR="0" marT="0" marB="0" anchor="ctr">
                    <a:lnL>
                      <a:noFill/>
                    </a:lnL>
                    <a:lnR w="12700" cmpd="sng">
                      <a:noFill/>
                    </a:lnR>
                    <a:lnT w="12700" cmpd="sng">
                      <a:noFill/>
                    </a:lnT>
                    <a:lnB w="28575"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756796722"/>
                  </a:ext>
                </a:extLst>
              </a:tr>
            </a:tbl>
          </a:graphicData>
        </a:graphic>
      </p:graphicFrame>
      <p:sp>
        <p:nvSpPr>
          <p:cNvPr id="92" name="TextBox 91"/>
          <p:cNvSpPr txBox="1"/>
          <p:nvPr/>
        </p:nvSpPr>
        <p:spPr>
          <a:xfrm>
            <a:off x="2281707" y="5668267"/>
            <a:ext cx="9324000" cy="138499"/>
          </a:xfrm>
          <a:prstGeom prst="rect">
            <a:avLst/>
          </a:prstGeom>
          <a:noFill/>
        </p:spPr>
        <p:txBody>
          <a:bodyPr wrap="square" lIns="0" tIns="0" rIns="0" bIns="0" rtlCol="0">
            <a:spAutoFit/>
          </a:bodyPr>
          <a:lstStyle/>
          <a:p>
            <a:pPr>
              <a:buSzPct val="100000"/>
            </a:pPr>
            <a:r>
              <a:rPr lang="en-US" sz="900" i="1" dirty="0" smtClean="0">
                <a:solidFill>
                  <a:srgbClr val="313131"/>
                </a:solidFill>
              </a:rPr>
              <a:t>#Capex provided in </a:t>
            </a:r>
            <a:r>
              <a:rPr lang="en-US" sz="900" i="1" dirty="0" err="1" smtClean="0">
                <a:solidFill>
                  <a:srgbClr val="313131"/>
                </a:solidFill>
              </a:rPr>
              <a:t>Mn</a:t>
            </a:r>
            <a:r>
              <a:rPr lang="en-US" sz="900" i="1" dirty="0" smtClean="0">
                <a:solidFill>
                  <a:srgbClr val="313131"/>
                </a:solidFill>
              </a:rPr>
              <a:t> USD has been converted using an exchange rate of 116.49 NPR/USD</a:t>
            </a:r>
          </a:p>
        </p:txBody>
      </p:sp>
      <p:sp>
        <p:nvSpPr>
          <p:cNvPr id="93" name="Content Placeholder 2"/>
          <p:cNvSpPr txBox="1">
            <a:spLocks/>
          </p:cNvSpPr>
          <p:nvPr/>
        </p:nvSpPr>
        <p:spPr>
          <a:xfrm>
            <a:off x="469900" y="5900231"/>
            <a:ext cx="11206134" cy="491468"/>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indent="-285750">
              <a:lnSpc>
                <a:spcPct val="110000"/>
              </a:lnSpc>
              <a:spcAft>
                <a:spcPts val="1200"/>
              </a:spcAft>
              <a:buFont typeface="Arial" panose="020B0604020202020204" pitchFamily="34" charset="0"/>
              <a:buChar char="•"/>
            </a:pPr>
            <a:r>
              <a:rPr lang="en-US" sz="1400" dirty="0" smtClean="0"/>
              <a:t>Capex in generation sector is planned majorly through IPPs and NEA Subsidiaries (discussed in further slides); therefore NEA’s capex is mostly concentrated in Transmission and Distribution system strengthening and augmentation</a:t>
            </a:r>
          </a:p>
        </p:txBody>
      </p:sp>
      <p:sp>
        <p:nvSpPr>
          <p:cNvPr id="91" name="Content Placeholder 2"/>
          <p:cNvSpPr txBox="1">
            <a:spLocks/>
          </p:cNvSpPr>
          <p:nvPr/>
        </p:nvSpPr>
        <p:spPr>
          <a:xfrm>
            <a:off x="467460" y="1539632"/>
            <a:ext cx="11206134" cy="303324"/>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indent="-285750">
              <a:lnSpc>
                <a:spcPct val="110000"/>
              </a:lnSpc>
              <a:spcAft>
                <a:spcPts val="1200"/>
              </a:spcAft>
              <a:buFont typeface="Arial" panose="020B0604020202020204" pitchFamily="34" charset="0"/>
              <a:buChar char="•"/>
            </a:pPr>
            <a:r>
              <a:rPr lang="en-US" sz="1400" dirty="0"/>
              <a:t>Data for capital </a:t>
            </a:r>
            <a:r>
              <a:rPr lang="en-US" sz="1400" dirty="0" smtClean="0"/>
              <a:t>expenditure </a:t>
            </a:r>
            <a:r>
              <a:rPr lang="en-US" sz="1400" dirty="0"/>
              <a:t>has </a:t>
            </a:r>
            <a:r>
              <a:rPr lang="en-US" sz="1400" dirty="0" smtClean="0"/>
              <a:t>been provided </a:t>
            </a:r>
            <a:r>
              <a:rPr lang="en-US" sz="1400" dirty="0"/>
              <a:t>by NEA for G, T, D as given below:</a:t>
            </a:r>
            <a:endParaRPr lang="en-US" sz="1400" dirty="0" smtClean="0"/>
          </a:p>
        </p:txBody>
      </p:sp>
    </p:spTree>
    <p:extLst>
      <p:ext uri="{BB962C8B-B14F-4D97-AF65-F5344CB8AC3E}">
        <p14:creationId xmlns:p14="http://schemas.microsoft.com/office/powerpoint/2010/main" val="4127294509"/>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Funding </a:t>
            </a:r>
            <a:r>
              <a:rPr lang="en-US" dirty="0" smtClean="0"/>
              <a:t>Assumptions for </a:t>
            </a:r>
            <a:r>
              <a:rPr lang="en-US" dirty="0"/>
              <a:t>capital </a:t>
            </a:r>
            <a:r>
              <a:rPr lang="en-US" dirty="0" smtClean="0"/>
              <a:t>expenditure</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graphicFrame>
        <p:nvGraphicFramePr>
          <p:cNvPr id="89" name="Table 88"/>
          <p:cNvGraphicFramePr>
            <a:graphicFrameLocks noGrp="1"/>
          </p:cNvGraphicFramePr>
          <p:nvPr>
            <p:extLst>
              <p:ext uri="{D42A27DB-BD31-4B8C-83A1-F6EECF244321}">
                <p14:modId xmlns:p14="http://schemas.microsoft.com/office/powerpoint/2010/main" val="4076752769"/>
              </p:ext>
            </p:extLst>
          </p:nvPr>
        </p:nvGraphicFramePr>
        <p:xfrm>
          <a:off x="514008" y="2830471"/>
          <a:ext cx="11206132" cy="1506596"/>
        </p:xfrm>
        <a:graphic>
          <a:graphicData uri="http://schemas.openxmlformats.org/drawingml/2006/table">
            <a:tbl>
              <a:tblPr firstRow="1">
                <a:tableStyleId>{793D81CF-94F2-401A-BA57-92F5A7B2D0C5}</a:tableStyleId>
              </a:tblPr>
              <a:tblGrid>
                <a:gridCol w="4916127">
                  <a:extLst>
                    <a:ext uri="{9D8B030D-6E8A-4147-A177-3AD203B41FA5}">
                      <a16:colId xmlns:a16="http://schemas.microsoft.com/office/drawing/2014/main" val="117600224"/>
                    </a:ext>
                  </a:extLst>
                </a:gridCol>
                <a:gridCol w="1514551">
                  <a:extLst>
                    <a:ext uri="{9D8B030D-6E8A-4147-A177-3AD203B41FA5}">
                      <a16:colId xmlns:a16="http://schemas.microsoft.com/office/drawing/2014/main" val="2182730116"/>
                    </a:ext>
                  </a:extLst>
                </a:gridCol>
                <a:gridCol w="1591818">
                  <a:extLst>
                    <a:ext uri="{9D8B030D-6E8A-4147-A177-3AD203B41FA5}">
                      <a16:colId xmlns:a16="http://schemas.microsoft.com/office/drawing/2014/main" val="3665905863"/>
                    </a:ext>
                  </a:extLst>
                </a:gridCol>
                <a:gridCol w="1591818">
                  <a:extLst>
                    <a:ext uri="{9D8B030D-6E8A-4147-A177-3AD203B41FA5}">
                      <a16:colId xmlns:a16="http://schemas.microsoft.com/office/drawing/2014/main" val="2721405417"/>
                    </a:ext>
                  </a:extLst>
                </a:gridCol>
                <a:gridCol w="1591818">
                  <a:extLst>
                    <a:ext uri="{9D8B030D-6E8A-4147-A177-3AD203B41FA5}">
                      <a16:colId xmlns:a16="http://schemas.microsoft.com/office/drawing/2014/main" val="1603510285"/>
                    </a:ext>
                  </a:extLst>
                </a:gridCol>
              </a:tblGrid>
              <a:tr h="602639">
                <a:tc>
                  <a:txBody>
                    <a:bodyPr/>
                    <a:lstStyle/>
                    <a:p>
                      <a:endParaRPr lang="en-IN" sz="1200" dirty="0"/>
                    </a:p>
                  </a:txBody>
                  <a:tcPr marL="45720" marR="45720" marT="0" marB="0" anchor="ctr"/>
                </a:tc>
                <a:tc>
                  <a:txBody>
                    <a:bodyPr/>
                    <a:lstStyle/>
                    <a:p>
                      <a:pPr algn="ctr"/>
                      <a:r>
                        <a:rPr lang="en-US" sz="1200" dirty="0" smtClean="0"/>
                        <a:t>Generation</a:t>
                      </a:r>
                      <a:endParaRPr lang="en-IN" sz="1200" dirty="0"/>
                    </a:p>
                  </a:txBody>
                  <a:tcPr marL="45720" marR="45720" marT="0" marB="0" anchor="ctr"/>
                </a:tc>
                <a:tc>
                  <a:txBody>
                    <a:bodyPr/>
                    <a:lstStyle/>
                    <a:p>
                      <a:pPr algn="ctr"/>
                      <a:r>
                        <a:rPr lang="en-US" sz="1200" dirty="0" smtClean="0"/>
                        <a:t>Transmission</a:t>
                      </a:r>
                      <a:endParaRPr lang="en-IN" sz="1200" dirty="0"/>
                    </a:p>
                  </a:txBody>
                  <a:tcPr marL="45720" marR="45720" marT="0" marB="0" anchor="ctr"/>
                </a:tc>
                <a:tc>
                  <a:txBody>
                    <a:bodyPr/>
                    <a:lstStyle/>
                    <a:p>
                      <a:pPr algn="ctr"/>
                      <a:r>
                        <a:rPr lang="en-US" sz="1200" dirty="0" smtClean="0"/>
                        <a:t>Distribution</a:t>
                      </a:r>
                      <a:endParaRPr lang="en-IN" sz="1200" dirty="0"/>
                    </a:p>
                  </a:txBody>
                  <a:tcPr marL="45720" marR="45720" marT="0" marB="0" anchor="ctr"/>
                </a:tc>
                <a:tc>
                  <a:txBody>
                    <a:bodyPr/>
                    <a:lstStyle/>
                    <a:p>
                      <a:pPr algn="ctr"/>
                      <a:r>
                        <a:rPr lang="en-US" sz="1200" dirty="0" smtClean="0"/>
                        <a:t>Rural Electrification</a:t>
                      </a:r>
                      <a:endParaRPr lang="en-IN" sz="1200" dirty="0"/>
                    </a:p>
                  </a:txBody>
                  <a:tcPr marL="45720" marR="45720" marT="0" marB="0" anchor="ctr"/>
                </a:tc>
                <a:extLst>
                  <a:ext uri="{0D108BD9-81ED-4DB2-BD59-A6C34878D82A}">
                    <a16:rowId xmlns:a16="http://schemas.microsoft.com/office/drawing/2014/main" val="826428033"/>
                  </a:ext>
                </a:extLst>
              </a:tr>
              <a:tr h="301319">
                <a:tc>
                  <a:txBody>
                    <a:bodyPr/>
                    <a:lstStyle/>
                    <a:p>
                      <a:r>
                        <a:rPr lang="en-US" sz="1200" dirty="0" smtClean="0"/>
                        <a:t>Multilateral Loan</a:t>
                      </a:r>
                    </a:p>
                  </a:txBody>
                  <a:tcPr marL="45720" marR="45720" marT="0" marB="0" anchor="ctr"/>
                </a:tc>
                <a:tc>
                  <a:txBody>
                    <a:bodyPr/>
                    <a:lstStyle/>
                    <a:p>
                      <a:pPr algn="ctr"/>
                      <a:r>
                        <a:rPr lang="en-US" sz="1200" dirty="0" smtClean="0"/>
                        <a:t>80%</a:t>
                      </a:r>
                      <a:endParaRPr lang="en-IN" sz="1200" dirty="0"/>
                    </a:p>
                  </a:txBody>
                  <a:tcPr marL="45720" marR="45720" marT="0" marB="0" anchor="ctr"/>
                </a:tc>
                <a:tc>
                  <a:txBody>
                    <a:bodyPr/>
                    <a:lstStyle/>
                    <a:p>
                      <a:pPr algn="ctr"/>
                      <a:r>
                        <a:rPr lang="en-US" sz="1200" dirty="0" smtClean="0"/>
                        <a:t>80%</a:t>
                      </a:r>
                      <a:endParaRPr lang="en-IN" sz="1200" dirty="0"/>
                    </a:p>
                  </a:txBody>
                  <a:tcPr marL="45720" marR="45720" marT="0" marB="0" anchor="ctr"/>
                </a:tc>
                <a:tc>
                  <a:txBody>
                    <a:bodyPr/>
                    <a:lstStyle/>
                    <a:p>
                      <a:pPr algn="ctr"/>
                      <a:r>
                        <a:rPr lang="en-US" sz="1200" dirty="0" smtClean="0"/>
                        <a:t>70%</a:t>
                      </a:r>
                      <a:endParaRPr lang="en-IN" sz="1200" dirty="0"/>
                    </a:p>
                  </a:txBody>
                  <a:tcPr marL="45720" marR="45720" marT="0" marB="0" anchor="ctr"/>
                </a:tc>
                <a:tc>
                  <a:txBody>
                    <a:bodyPr/>
                    <a:lstStyle/>
                    <a:p>
                      <a:pPr algn="ctr"/>
                      <a:r>
                        <a:rPr lang="en-US" sz="1200" dirty="0" smtClean="0"/>
                        <a:t>-</a:t>
                      </a:r>
                      <a:endParaRPr lang="en-IN" sz="1200" dirty="0"/>
                    </a:p>
                  </a:txBody>
                  <a:tcPr marL="45720" marR="45720" marT="0" marB="0" anchor="ctr"/>
                </a:tc>
                <a:extLst>
                  <a:ext uri="{0D108BD9-81ED-4DB2-BD59-A6C34878D82A}">
                    <a16:rowId xmlns:a16="http://schemas.microsoft.com/office/drawing/2014/main" val="1318688677"/>
                  </a:ext>
                </a:extLst>
              </a:tr>
              <a:tr h="301319">
                <a:tc>
                  <a:txBody>
                    <a:bodyPr/>
                    <a:lstStyle/>
                    <a:p>
                      <a:r>
                        <a:rPr lang="en-US" sz="1200" dirty="0" smtClean="0"/>
                        <a:t>Government</a:t>
                      </a:r>
                      <a:r>
                        <a:rPr lang="en-US" sz="1200" baseline="0" dirty="0" smtClean="0"/>
                        <a:t> of Nepal</a:t>
                      </a:r>
                      <a:endParaRPr lang="en-IN" sz="1200" dirty="0"/>
                    </a:p>
                  </a:txBody>
                  <a:tcPr marL="45720" marR="45720" marT="0" marB="0" anchor="ctr"/>
                </a:tc>
                <a:tc>
                  <a:txBody>
                    <a:bodyPr/>
                    <a:lstStyle/>
                    <a:p>
                      <a:pPr algn="ctr"/>
                      <a:r>
                        <a:rPr lang="en-US" sz="1200" dirty="0" smtClean="0"/>
                        <a:t>10%</a:t>
                      </a:r>
                      <a:endParaRPr lang="en-IN" sz="1200" dirty="0"/>
                    </a:p>
                  </a:txBody>
                  <a:tcPr marL="45720" marR="45720" marT="0" marB="0" anchor="ctr"/>
                </a:tc>
                <a:tc>
                  <a:txBody>
                    <a:bodyPr/>
                    <a:lstStyle/>
                    <a:p>
                      <a:pPr algn="ctr"/>
                      <a:r>
                        <a:rPr lang="en-US" sz="1200" dirty="0" smtClean="0"/>
                        <a:t>10%</a:t>
                      </a:r>
                      <a:endParaRPr lang="en-IN" sz="1200" dirty="0"/>
                    </a:p>
                  </a:txBody>
                  <a:tcPr marL="45720" marR="45720" marT="0" marB="0" anchor="ctr"/>
                </a:tc>
                <a:tc>
                  <a:txBody>
                    <a:bodyPr/>
                    <a:lstStyle/>
                    <a:p>
                      <a:pPr algn="ctr"/>
                      <a:r>
                        <a:rPr lang="en-US" sz="1200" dirty="0" smtClean="0"/>
                        <a:t>15%</a:t>
                      </a:r>
                      <a:endParaRPr lang="en-IN" sz="1200" dirty="0"/>
                    </a:p>
                  </a:txBody>
                  <a:tcPr marL="45720" marR="45720" marT="0" marB="0" anchor="ctr"/>
                </a:tc>
                <a:tc>
                  <a:txBody>
                    <a:bodyPr/>
                    <a:lstStyle/>
                    <a:p>
                      <a:pPr algn="ctr"/>
                      <a:r>
                        <a:rPr lang="en-US" sz="1200" dirty="0" smtClean="0"/>
                        <a:t>100%</a:t>
                      </a:r>
                      <a:endParaRPr lang="en-IN" sz="1200" dirty="0"/>
                    </a:p>
                  </a:txBody>
                  <a:tcPr marL="45720" marR="45720" marT="0" marB="0" anchor="ctr"/>
                </a:tc>
                <a:extLst>
                  <a:ext uri="{0D108BD9-81ED-4DB2-BD59-A6C34878D82A}">
                    <a16:rowId xmlns:a16="http://schemas.microsoft.com/office/drawing/2014/main" val="1056187653"/>
                  </a:ext>
                </a:extLst>
              </a:tr>
              <a:tr h="301319">
                <a:tc>
                  <a:txBody>
                    <a:bodyPr/>
                    <a:lstStyle/>
                    <a:p>
                      <a:r>
                        <a:rPr lang="en-US" sz="1200" dirty="0" smtClean="0"/>
                        <a:t>IRG (Funding through </a:t>
                      </a:r>
                      <a:r>
                        <a:rPr lang="en-US" sz="1200" dirty="0" err="1" smtClean="0"/>
                        <a:t>GoN</a:t>
                      </a:r>
                      <a:r>
                        <a:rPr lang="en-US" sz="1200" dirty="0" smtClean="0"/>
                        <a:t> in case of unavailability of IRG)</a:t>
                      </a:r>
                      <a:endParaRPr lang="en-IN" sz="1200" dirty="0"/>
                    </a:p>
                  </a:txBody>
                  <a:tcPr marL="45720" marR="45720" marT="0" marB="0" anchor="ctr"/>
                </a:tc>
                <a:tc>
                  <a:txBody>
                    <a:bodyPr/>
                    <a:lstStyle/>
                    <a:p>
                      <a:pPr algn="ctr"/>
                      <a:r>
                        <a:rPr lang="en-US" sz="1200" dirty="0" smtClean="0"/>
                        <a:t>10%</a:t>
                      </a:r>
                      <a:endParaRPr lang="en-IN" sz="1200" dirty="0"/>
                    </a:p>
                  </a:txBody>
                  <a:tcPr marL="45720" marR="45720" marT="0" marB="0" anchor="ctr"/>
                </a:tc>
                <a:tc>
                  <a:txBody>
                    <a:bodyPr/>
                    <a:lstStyle/>
                    <a:p>
                      <a:pPr algn="ctr"/>
                      <a:r>
                        <a:rPr lang="en-US" sz="1200" dirty="0" smtClean="0"/>
                        <a:t>10%</a:t>
                      </a:r>
                      <a:endParaRPr lang="en-IN" sz="1200" dirty="0"/>
                    </a:p>
                  </a:txBody>
                  <a:tcPr marL="45720" marR="45720" marT="0" marB="0" anchor="ctr"/>
                </a:tc>
                <a:tc>
                  <a:txBody>
                    <a:bodyPr/>
                    <a:lstStyle/>
                    <a:p>
                      <a:pPr algn="ctr"/>
                      <a:r>
                        <a:rPr lang="en-US" sz="1200" dirty="0" smtClean="0"/>
                        <a:t>15%</a:t>
                      </a:r>
                      <a:endParaRPr lang="en-IN" sz="1200" dirty="0"/>
                    </a:p>
                  </a:txBody>
                  <a:tcPr marL="45720" marR="45720" marT="0" marB="0" anchor="ctr"/>
                </a:tc>
                <a:tc>
                  <a:txBody>
                    <a:bodyPr/>
                    <a:lstStyle/>
                    <a:p>
                      <a:pPr algn="ctr"/>
                      <a:r>
                        <a:rPr lang="en-US" sz="1200" dirty="0" smtClean="0"/>
                        <a:t>-</a:t>
                      </a:r>
                      <a:endParaRPr lang="en-IN" sz="1200" dirty="0"/>
                    </a:p>
                  </a:txBody>
                  <a:tcPr marL="45720" marR="45720" marT="0" marB="0" anchor="ctr"/>
                </a:tc>
                <a:extLst>
                  <a:ext uri="{0D108BD9-81ED-4DB2-BD59-A6C34878D82A}">
                    <a16:rowId xmlns:a16="http://schemas.microsoft.com/office/drawing/2014/main" val="2497902558"/>
                  </a:ext>
                </a:extLst>
              </a:tr>
            </a:tbl>
          </a:graphicData>
        </a:graphic>
      </p:graphicFrame>
      <p:sp>
        <p:nvSpPr>
          <p:cNvPr id="92" name="TextBox 91"/>
          <p:cNvSpPr txBox="1"/>
          <p:nvPr/>
        </p:nvSpPr>
        <p:spPr>
          <a:xfrm>
            <a:off x="2255465" y="6459307"/>
            <a:ext cx="9859879" cy="138499"/>
          </a:xfrm>
          <a:prstGeom prst="rect">
            <a:avLst/>
          </a:prstGeom>
          <a:noFill/>
        </p:spPr>
        <p:txBody>
          <a:bodyPr wrap="square" lIns="0" tIns="0" rIns="0" bIns="0" rtlCol="0">
            <a:spAutoFit/>
          </a:bodyPr>
          <a:lstStyle/>
          <a:p>
            <a:pPr>
              <a:buSzPct val="100000"/>
            </a:pPr>
            <a:r>
              <a:rPr lang="en-US" sz="900" i="1" dirty="0" smtClean="0">
                <a:solidFill>
                  <a:srgbClr val="313131"/>
                </a:solidFill>
              </a:rPr>
              <a:t>#Capex provided in </a:t>
            </a:r>
            <a:r>
              <a:rPr lang="en-US" sz="900" i="1" dirty="0" err="1" smtClean="0">
                <a:solidFill>
                  <a:srgbClr val="313131"/>
                </a:solidFill>
              </a:rPr>
              <a:t>Mn</a:t>
            </a:r>
            <a:r>
              <a:rPr lang="en-US" sz="900" i="1" dirty="0" smtClean="0">
                <a:solidFill>
                  <a:srgbClr val="313131"/>
                </a:solidFill>
              </a:rPr>
              <a:t> USD has been converted using an exchange rate of 113 NPR/USD</a:t>
            </a:r>
          </a:p>
        </p:txBody>
      </p:sp>
      <p:sp>
        <p:nvSpPr>
          <p:cNvPr id="93" name="TextBox 92"/>
          <p:cNvSpPr txBox="1"/>
          <p:nvPr/>
        </p:nvSpPr>
        <p:spPr>
          <a:xfrm>
            <a:off x="514008" y="1622278"/>
            <a:ext cx="11185525" cy="723275"/>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400" dirty="0" smtClean="0">
                <a:solidFill>
                  <a:srgbClr val="313131"/>
                </a:solidFill>
              </a:rPr>
              <a:t>For all future capex, it is assumed that 80% will be financed through Development Loans by MDBs </a:t>
            </a:r>
            <a:r>
              <a:rPr lang="en-US" sz="1400" dirty="0">
                <a:solidFill>
                  <a:srgbClr val="313131"/>
                </a:solidFill>
              </a:rPr>
              <a:t>(70%, in case of capex for distribution sector and rural electrification)</a:t>
            </a:r>
            <a:endParaRPr lang="en-US" sz="1400" dirty="0" smtClean="0">
              <a:solidFill>
                <a:srgbClr val="313131"/>
              </a:solidFill>
            </a:endParaRPr>
          </a:p>
          <a:p>
            <a:pPr marL="203200" indent="-203200">
              <a:spcBef>
                <a:spcPts val="600"/>
              </a:spcBef>
              <a:buSzPct val="100000"/>
              <a:buFont typeface="Arial"/>
              <a:buChar char="•"/>
            </a:pPr>
            <a:r>
              <a:rPr lang="en-US" sz="1400" dirty="0" smtClean="0">
                <a:solidFill>
                  <a:srgbClr val="313131"/>
                </a:solidFill>
              </a:rPr>
              <a:t>In absence of Internal Resource Generation, the balancing investment for capex will come from </a:t>
            </a:r>
            <a:r>
              <a:rPr lang="en-US" sz="1400" dirty="0" err="1" smtClean="0">
                <a:solidFill>
                  <a:srgbClr val="313131"/>
                </a:solidFill>
              </a:rPr>
              <a:t>GoN</a:t>
            </a:r>
            <a:endParaRPr lang="en-US" sz="1400" dirty="0" smtClean="0">
              <a:solidFill>
                <a:srgbClr val="313131"/>
              </a:solidFill>
            </a:endParaRPr>
          </a:p>
        </p:txBody>
      </p:sp>
    </p:spTree>
    <p:extLst>
      <p:ext uri="{BB962C8B-B14F-4D97-AF65-F5344CB8AC3E}">
        <p14:creationId xmlns:p14="http://schemas.microsoft.com/office/powerpoint/2010/main" val="1560131204"/>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Capital Investment planned in subsidiaries of NEA along with share of NEA</a:t>
            </a:r>
            <a:endParaRPr lang="en-IN" dirty="0"/>
          </a:p>
        </p:txBody>
      </p:sp>
      <p:sp>
        <p:nvSpPr>
          <p:cNvPr id="3" name="Title 2"/>
          <p:cNvSpPr>
            <a:spLocks noGrp="1"/>
          </p:cNvSpPr>
          <p:nvPr>
            <p:ph type="title"/>
          </p:nvPr>
        </p:nvSpPr>
        <p:spPr/>
        <p:txBody>
          <a:bodyPr/>
          <a:lstStyle/>
          <a:p>
            <a:r>
              <a:rPr lang="en-US" dirty="0" smtClean="0"/>
              <a:t>Financial Parameters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122244617"/>
              </p:ext>
            </p:extLst>
          </p:nvPr>
        </p:nvGraphicFramePr>
        <p:xfrm>
          <a:off x="469900" y="1875389"/>
          <a:ext cx="11252200" cy="3936175"/>
        </p:xfrm>
        <a:graphic>
          <a:graphicData uri="http://schemas.openxmlformats.org/drawingml/2006/table">
            <a:tbl>
              <a:tblPr firstRow="1">
                <a:tableStyleId>{793D81CF-94F2-401A-BA57-92F5A7B2D0C5}</a:tableStyleId>
              </a:tblPr>
              <a:tblGrid>
                <a:gridCol w="1390819">
                  <a:extLst>
                    <a:ext uri="{9D8B030D-6E8A-4147-A177-3AD203B41FA5}">
                      <a16:colId xmlns:a16="http://schemas.microsoft.com/office/drawing/2014/main" val="691066506"/>
                    </a:ext>
                  </a:extLst>
                </a:gridCol>
                <a:gridCol w="705252">
                  <a:extLst>
                    <a:ext uri="{9D8B030D-6E8A-4147-A177-3AD203B41FA5}">
                      <a16:colId xmlns:a16="http://schemas.microsoft.com/office/drawing/2014/main" val="717944450"/>
                    </a:ext>
                  </a:extLst>
                </a:gridCol>
                <a:gridCol w="705252">
                  <a:extLst>
                    <a:ext uri="{9D8B030D-6E8A-4147-A177-3AD203B41FA5}">
                      <a16:colId xmlns:a16="http://schemas.microsoft.com/office/drawing/2014/main" val="1573940898"/>
                    </a:ext>
                  </a:extLst>
                </a:gridCol>
                <a:gridCol w="705252">
                  <a:extLst>
                    <a:ext uri="{9D8B030D-6E8A-4147-A177-3AD203B41FA5}">
                      <a16:colId xmlns:a16="http://schemas.microsoft.com/office/drawing/2014/main" val="1030158973"/>
                    </a:ext>
                  </a:extLst>
                </a:gridCol>
                <a:gridCol w="705252">
                  <a:extLst>
                    <a:ext uri="{9D8B030D-6E8A-4147-A177-3AD203B41FA5}">
                      <a16:colId xmlns:a16="http://schemas.microsoft.com/office/drawing/2014/main" val="2808795746"/>
                    </a:ext>
                  </a:extLst>
                </a:gridCol>
                <a:gridCol w="783336">
                  <a:extLst>
                    <a:ext uri="{9D8B030D-6E8A-4147-A177-3AD203B41FA5}">
                      <a16:colId xmlns:a16="http://schemas.microsoft.com/office/drawing/2014/main" val="3698412274"/>
                    </a:ext>
                  </a:extLst>
                </a:gridCol>
                <a:gridCol w="783336">
                  <a:extLst>
                    <a:ext uri="{9D8B030D-6E8A-4147-A177-3AD203B41FA5}">
                      <a16:colId xmlns:a16="http://schemas.microsoft.com/office/drawing/2014/main" val="2245610178"/>
                    </a:ext>
                  </a:extLst>
                </a:gridCol>
                <a:gridCol w="783336">
                  <a:extLst>
                    <a:ext uri="{9D8B030D-6E8A-4147-A177-3AD203B41FA5}">
                      <a16:colId xmlns:a16="http://schemas.microsoft.com/office/drawing/2014/main" val="3513746487"/>
                    </a:ext>
                  </a:extLst>
                </a:gridCol>
                <a:gridCol w="704088">
                  <a:extLst>
                    <a:ext uri="{9D8B030D-6E8A-4147-A177-3AD203B41FA5}">
                      <a16:colId xmlns:a16="http://schemas.microsoft.com/office/drawing/2014/main" val="1665823349"/>
                    </a:ext>
                  </a:extLst>
                </a:gridCol>
                <a:gridCol w="704088">
                  <a:extLst>
                    <a:ext uri="{9D8B030D-6E8A-4147-A177-3AD203B41FA5}">
                      <a16:colId xmlns:a16="http://schemas.microsoft.com/office/drawing/2014/main" val="970440006"/>
                    </a:ext>
                  </a:extLst>
                </a:gridCol>
                <a:gridCol w="704088">
                  <a:extLst>
                    <a:ext uri="{9D8B030D-6E8A-4147-A177-3AD203B41FA5}">
                      <a16:colId xmlns:a16="http://schemas.microsoft.com/office/drawing/2014/main" val="2662298946"/>
                    </a:ext>
                  </a:extLst>
                </a:gridCol>
                <a:gridCol w="847710">
                  <a:extLst>
                    <a:ext uri="{9D8B030D-6E8A-4147-A177-3AD203B41FA5}">
                      <a16:colId xmlns:a16="http://schemas.microsoft.com/office/drawing/2014/main" val="497091191"/>
                    </a:ext>
                  </a:extLst>
                </a:gridCol>
                <a:gridCol w="663073">
                  <a:extLst>
                    <a:ext uri="{9D8B030D-6E8A-4147-A177-3AD203B41FA5}">
                      <a16:colId xmlns:a16="http://schemas.microsoft.com/office/drawing/2014/main" val="1932164464"/>
                    </a:ext>
                  </a:extLst>
                </a:gridCol>
                <a:gridCol w="1067318">
                  <a:extLst>
                    <a:ext uri="{9D8B030D-6E8A-4147-A177-3AD203B41FA5}">
                      <a16:colId xmlns:a16="http://schemas.microsoft.com/office/drawing/2014/main" val="562501861"/>
                    </a:ext>
                  </a:extLst>
                </a:gridCol>
              </a:tblGrid>
              <a:tr h="348415">
                <a:tc>
                  <a:txBody>
                    <a:bodyPr/>
                    <a:lstStyle/>
                    <a:p>
                      <a:pPr algn="l" fontAlgn="b"/>
                      <a:r>
                        <a:rPr lang="en-IN" sz="1100" b="1" i="0" u="none" strike="noStrike" dirty="0" smtClean="0">
                          <a:solidFill>
                            <a:schemeClr val="bg1"/>
                          </a:solidFill>
                          <a:effectLst/>
                          <a:latin typeface="+mj-lt"/>
                        </a:rPr>
                        <a:t>NPR </a:t>
                      </a:r>
                      <a:r>
                        <a:rPr lang="en-IN" sz="1100" b="1" i="0" u="none" strike="noStrike" dirty="0" err="1" smtClean="0">
                          <a:solidFill>
                            <a:schemeClr val="bg1"/>
                          </a:solidFill>
                          <a:effectLst/>
                          <a:latin typeface="+mj-lt"/>
                        </a:rPr>
                        <a:t>Mn</a:t>
                      </a:r>
                      <a:endParaRPr lang="en-IN" sz="1100" b="1" i="0" u="none" strike="noStrike" dirty="0">
                        <a:solidFill>
                          <a:schemeClr val="bg1"/>
                        </a:solidFill>
                        <a:effectLst/>
                        <a:latin typeface="+mj-lt"/>
                      </a:endParaRPr>
                    </a:p>
                  </a:txBody>
                  <a:tcPr marL="0" marR="0" marT="0" marB="0" anchor="ctr">
                    <a:lnL w="9525" cap="flat" cmpd="sng" algn="ctr">
                      <a:no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FY20</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FY21</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FY22</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FY23</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FY24</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FY25</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FY26</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a:effectLst/>
                          <a:latin typeface="+mj-lt"/>
                        </a:rPr>
                        <a:t>FY27</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smtClean="0">
                          <a:effectLst/>
                          <a:latin typeface="+mj-lt"/>
                        </a:rPr>
                        <a:t>FY28</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u="none" strike="noStrike" dirty="0" smtClean="0">
                          <a:effectLst/>
                          <a:latin typeface="+mj-lt"/>
                        </a:rPr>
                        <a:t>FY29</a:t>
                      </a:r>
                      <a:endParaRPr lang="en-IN" sz="1100" b="0" i="0" u="none" strike="noStrike" dirty="0">
                        <a:solidFill>
                          <a:srgbClr val="000000"/>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US" sz="1100" b="1" i="0" u="none" strike="noStrike" dirty="0" smtClean="0">
                          <a:solidFill>
                            <a:schemeClr val="bg1"/>
                          </a:solidFill>
                          <a:effectLst/>
                          <a:latin typeface="+mj-lt"/>
                        </a:rPr>
                        <a:t>Total</a:t>
                      </a:r>
                      <a:endParaRPr lang="en-IN" sz="1100" b="1" i="0" u="none" strike="noStrike" dirty="0">
                        <a:solidFill>
                          <a:schemeClr val="bg1"/>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b="1" i="0" u="none" strike="noStrike" dirty="0" smtClean="0">
                          <a:solidFill>
                            <a:schemeClr val="bg1"/>
                          </a:solidFill>
                          <a:effectLst/>
                          <a:latin typeface="+mj-lt"/>
                        </a:rPr>
                        <a:t>Equity %</a:t>
                      </a:r>
                      <a:endParaRPr lang="en-IN" sz="1100" b="1" i="0" u="none" strike="noStrike" dirty="0">
                        <a:solidFill>
                          <a:schemeClr val="bg1"/>
                        </a:solidFill>
                        <a:effectLst/>
                        <a:latin typeface="+mj-lt"/>
                      </a:endParaRPr>
                    </a:p>
                  </a:txBody>
                  <a:tcPr marL="0" marR="0" marT="0" marB="0" anchor="ctr">
                    <a:lnT w="28575" cap="flat" cmpd="sng" algn="ctr">
                      <a:solidFill>
                        <a:schemeClr val="tx1"/>
                      </a:solidFill>
                      <a:prstDash val="solid"/>
                      <a:round/>
                      <a:headEnd type="none" w="med" len="med"/>
                      <a:tailEnd type="none" w="med" len="med"/>
                    </a:lnT>
                  </a:tcPr>
                </a:tc>
                <a:tc>
                  <a:txBody>
                    <a:bodyPr/>
                    <a:lstStyle/>
                    <a:p>
                      <a:pPr algn="ctr" fontAlgn="b"/>
                      <a:r>
                        <a:rPr lang="en-IN" sz="1100" b="1" i="0" u="none" strike="noStrike" dirty="0" smtClean="0">
                          <a:solidFill>
                            <a:schemeClr val="bg1"/>
                          </a:solidFill>
                          <a:effectLst/>
                          <a:latin typeface="+mj-lt"/>
                        </a:rPr>
                        <a:t>NEA’s share in equity</a:t>
                      </a:r>
                      <a:endParaRPr lang="en-IN" sz="1100" b="1" i="0" u="none" strike="noStrike" dirty="0">
                        <a:solidFill>
                          <a:schemeClr val="bg1"/>
                        </a:solidFill>
                        <a:effectLst/>
                        <a:latin typeface="+mj-lt"/>
                      </a:endParaRPr>
                    </a:p>
                  </a:txBody>
                  <a:tcPr marL="0" marR="0" marT="0" marB="0" anchor="ctr">
                    <a:lnR w="952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51055959"/>
                  </a:ext>
                </a:extLst>
              </a:tr>
              <a:tr h="176451">
                <a:tc>
                  <a:txBody>
                    <a:bodyPr/>
                    <a:lstStyle/>
                    <a:p>
                      <a:pPr algn="l" fontAlgn="b"/>
                      <a:r>
                        <a:rPr lang="en-IN" sz="1100" b="0" i="0" u="none" strike="noStrike" dirty="0" smtClean="0">
                          <a:solidFill>
                            <a:srgbClr val="000000"/>
                          </a:solidFill>
                          <a:effectLst/>
                          <a:latin typeface="+mj-lt"/>
                        </a:rPr>
                        <a:t>Upper </a:t>
                      </a:r>
                      <a:r>
                        <a:rPr lang="en-IN" sz="1100" b="0" i="0" u="none" strike="noStrike" dirty="0" err="1" smtClean="0">
                          <a:solidFill>
                            <a:srgbClr val="000000"/>
                          </a:solidFill>
                          <a:effectLst/>
                          <a:latin typeface="+mj-lt"/>
                        </a:rPr>
                        <a:t>Tamakoshi</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19380043"/>
                  </a:ext>
                </a:extLst>
              </a:tr>
              <a:tr h="176451">
                <a:tc>
                  <a:txBody>
                    <a:bodyPr/>
                    <a:lstStyle/>
                    <a:p>
                      <a:pPr algn="l" fontAlgn="b"/>
                      <a:r>
                        <a:rPr lang="en-US" sz="1100" b="0" i="0" u="none" strike="noStrike" dirty="0" err="1" smtClean="0">
                          <a:solidFill>
                            <a:srgbClr val="000000"/>
                          </a:solidFill>
                          <a:effectLst/>
                          <a:latin typeface="+mj-lt"/>
                        </a:rPr>
                        <a:t>Sanjen</a:t>
                      </a:r>
                      <a:r>
                        <a:rPr lang="en-US" sz="1100" b="0" i="0" u="none" strike="noStrike" dirty="0" smtClean="0">
                          <a:solidFill>
                            <a:srgbClr val="000000"/>
                          </a:solidFill>
                          <a:effectLst/>
                          <a:latin typeface="+mj-lt"/>
                        </a:rPr>
                        <a:t> Hydro</a:t>
                      </a:r>
                      <a:endParaRPr lang="en-US"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45894840"/>
                  </a:ext>
                </a:extLst>
              </a:tr>
              <a:tr h="176451">
                <a:tc>
                  <a:txBody>
                    <a:bodyPr/>
                    <a:lstStyle/>
                    <a:p>
                      <a:pPr algn="l" fontAlgn="b"/>
                      <a:r>
                        <a:rPr lang="en-IN" sz="1100" b="0" i="0" u="none" strike="noStrike" dirty="0" err="1" smtClean="0">
                          <a:solidFill>
                            <a:srgbClr val="000000"/>
                          </a:solidFill>
                          <a:effectLst/>
                          <a:latin typeface="+mj-lt"/>
                        </a:rPr>
                        <a:t>Rashuwagadhi</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37551126"/>
                  </a:ext>
                </a:extLst>
              </a:tr>
              <a:tr h="176451">
                <a:tc>
                  <a:txBody>
                    <a:bodyPr/>
                    <a:lstStyle/>
                    <a:p>
                      <a:pPr algn="l" fontAlgn="b"/>
                      <a:r>
                        <a:rPr lang="en-US" sz="1100" b="0" i="0" u="none" strike="noStrike" dirty="0" err="1" smtClean="0">
                          <a:solidFill>
                            <a:srgbClr val="000000"/>
                          </a:solidFill>
                          <a:effectLst/>
                          <a:latin typeface="+mj-lt"/>
                        </a:rPr>
                        <a:t>Trishuli</a:t>
                      </a:r>
                      <a:r>
                        <a:rPr lang="en-US" sz="1100" b="0" i="0" u="none" strike="noStrike" dirty="0" smtClean="0">
                          <a:solidFill>
                            <a:srgbClr val="000000"/>
                          </a:solidFill>
                          <a:effectLst/>
                          <a:latin typeface="+mj-lt"/>
                        </a:rPr>
                        <a:t> </a:t>
                      </a:r>
                      <a:r>
                        <a:rPr lang="en-US" sz="1100" b="0" i="0" u="none" strike="noStrike" dirty="0">
                          <a:solidFill>
                            <a:srgbClr val="000000"/>
                          </a:solidFill>
                          <a:effectLst/>
                          <a:latin typeface="+mj-lt"/>
                        </a:rPr>
                        <a:t>Jal </a:t>
                      </a:r>
                      <a:r>
                        <a:rPr lang="en-US" sz="1100" b="0" i="0" u="none" strike="noStrike" dirty="0" err="1" smtClean="0">
                          <a:solidFill>
                            <a:srgbClr val="000000"/>
                          </a:solidFill>
                          <a:effectLst/>
                          <a:latin typeface="+mj-lt"/>
                        </a:rPr>
                        <a:t>Bidhyut</a:t>
                      </a:r>
                      <a:endParaRPr lang="en-US"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2,100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2,158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4,258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92344761"/>
                  </a:ext>
                </a:extLst>
              </a:tr>
              <a:tr h="176451">
                <a:tc>
                  <a:txBody>
                    <a:bodyPr/>
                    <a:lstStyle/>
                    <a:p>
                      <a:pPr algn="l" fontAlgn="b"/>
                      <a:r>
                        <a:rPr lang="en-US" sz="1100" b="0" i="0" u="none" strike="noStrike" dirty="0" smtClean="0">
                          <a:solidFill>
                            <a:srgbClr val="000000"/>
                          </a:solidFill>
                          <a:effectLst/>
                          <a:latin typeface="+mj-lt"/>
                        </a:rPr>
                        <a:t>Middle </a:t>
                      </a:r>
                      <a:r>
                        <a:rPr lang="en-US" sz="1100" b="0" i="0" u="none" strike="noStrike" dirty="0" err="1" smtClean="0">
                          <a:solidFill>
                            <a:srgbClr val="000000"/>
                          </a:solidFill>
                          <a:effectLst/>
                          <a:latin typeface="+mj-lt"/>
                        </a:rPr>
                        <a:t>Bhotekoshi</a:t>
                      </a:r>
                      <a:endParaRPr lang="en-US"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37577735"/>
                  </a:ext>
                </a:extLst>
              </a:tr>
              <a:tr h="176451">
                <a:tc>
                  <a:txBody>
                    <a:bodyPr/>
                    <a:lstStyle/>
                    <a:p>
                      <a:pPr algn="l" fontAlgn="b"/>
                      <a:r>
                        <a:rPr lang="en-US" sz="1100" b="0" i="0" u="none" strike="noStrike" dirty="0" err="1" smtClean="0">
                          <a:solidFill>
                            <a:srgbClr val="000000"/>
                          </a:solidFill>
                          <a:effectLst/>
                          <a:latin typeface="+mj-lt"/>
                        </a:rPr>
                        <a:t>Tanahun</a:t>
                      </a:r>
                      <a:endParaRPr lang="en-US"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8,119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8,508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10,764</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16,530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43,921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56796722"/>
                  </a:ext>
                </a:extLst>
              </a:tr>
              <a:tr h="176451">
                <a:tc>
                  <a:txBody>
                    <a:bodyPr/>
                    <a:lstStyle/>
                    <a:p>
                      <a:pPr algn="l" fontAlgn="b"/>
                      <a:r>
                        <a:rPr lang="en-IN" sz="1100" b="0" i="0" u="none" strike="noStrike" dirty="0" err="1" smtClean="0">
                          <a:solidFill>
                            <a:srgbClr val="000000"/>
                          </a:solidFill>
                          <a:effectLst/>
                          <a:latin typeface="+mj-lt"/>
                        </a:rPr>
                        <a:t>Tamor</a:t>
                      </a:r>
                      <a:r>
                        <a:rPr lang="en-IN" sz="1100" b="0" i="0" u="none" strike="noStrike" dirty="0" smtClean="0">
                          <a:solidFill>
                            <a:srgbClr val="000000"/>
                          </a:solidFill>
                          <a:effectLst/>
                          <a:latin typeface="+mj-lt"/>
                        </a:rPr>
                        <a:t>  </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48607418"/>
                  </a:ext>
                </a:extLst>
              </a:tr>
              <a:tr h="176451">
                <a:tc>
                  <a:txBody>
                    <a:bodyPr/>
                    <a:lstStyle/>
                    <a:p>
                      <a:pPr algn="l" fontAlgn="b"/>
                      <a:r>
                        <a:rPr lang="en-IN" sz="1100" b="0" i="0" u="none" strike="noStrike" dirty="0" err="1" smtClean="0">
                          <a:solidFill>
                            <a:srgbClr val="000000"/>
                          </a:solidFill>
                          <a:effectLst/>
                          <a:latin typeface="+mj-lt"/>
                        </a:rPr>
                        <a:t>Andhikhola</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416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1,312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1,416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2,600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9,205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9,205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26,966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5889379"/>
                  </a:ext>
                </a:extLst>
              </a:tr>
              <a:tr h="176451">
                <a:tc>
                  <a:txBody>
                    <a:bodyPr/>
                    <a:lstStyle/>
                    <a:p>
                      <a:pPr algn="l" fontAlgn="b"/>
                      <a:r>
                        <a:rPr lang="en-IN" sz="1100" b="0" i="0" u="none" strike="noStrike" dirty="0" err="1" smtClean="0">
                          <a:solidFill>
                            <a:srgbClr val="000000"/>
                          </a:solidFill>
                          <a:effectLst/>
                          <a:latin typeface="+mj-lt"/>
                        </a:rPr>
                        <a:t>Tamakoshi</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2,150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5,425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5,235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3,150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15,960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35817673"/>
                  </a:ext>
                </a:extLst>
              </a:tr>
              <a:tr h="176451">
                <a:tc>
                  <a:txBody>
                    <a:bodyPr/>
                    <a:lstStyle/>
                    <a:p>
                      <a:pPr algn="l" fontAlgn="b"/>
                      <a:r>
                        <a:rPr lang="en-IN" sz="1100" b="0" i="0" u="none" strike="noStrike" dirty="0" err="1" smtClean="0">
                          <a:solidFill>
                            <a:srgbClr val="000000"/>
                          </a:solidFill>
                          <a:effectLst/>
                          <a:latin typeface="+mj-lt"/>
                        </a:rPr>
                        <a:t>Dudhkoshi</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2,946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10,912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14,452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32,056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32,056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32,056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32,056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14,539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14,539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1,86,613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40953231"/>
                  </a:ext>
                </a:extLst>
              </a:tr>
              <a:tr h="176451">
                <a:tc>
                  <a:txBody>
                    <a:bodyPr/>
                    <a:lstStyle/>
                    <a:p>
                      <a:pPr algn="l" fontAlgn="b"/>
                      <a:r>
                        <a:rPr lang="en-IN" sz="1100" b="0" i="0" u="none" strike="noStrike" dirty="0" smtClean="0">
                          <a:solidFill>
                            <a:srgbClr val="000000"/>
                          </a:solidFill>
                          <a:effectLst/>
                          <a:latin typeface="+mj-lt"/>
                        </a:rPr>
                        <a:t>Modi </a:t>
                      </a:r>
                      <a:r>
                        <a:rPr lang="en-IN" sz="1100" b="0" i="0" u="none" strike="noStrike" dirty="0" err="1" smtClean="0">
                          <a:solidFill>
                            <a:srgbClr val="000000"/>
                          </a:solidFill>
                          <a:effectLst/>
                          <a:latin typeface="+mj-lt"/>
                        </a:rPr>
                        <a:t>Jalvidyut</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1,035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3,060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3,281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3,882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1,895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540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13,693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47102715"/>
                  </a:ext>
                </a:extLst>
              </a:tr>
              <a:tr h="176451">
                <a:tc>
                  <a:txBody>
                    <a:bodyPr/>
                    <a:lstStyle/>
                    <a:p>
                      <a:pPr algn="l" fontAlgn="b"/>
                      <a:r>
                        <a:rPr lang="en-IN" sz="1100" b="0" i="0" u="none" strike="noStrike" dirty="0" err="1" smtClean="0">
                          <a:solidFill>
                            <a:srgbClr val="000000"/>
                          </a:solidFill>
                          <a:effectLst/>
                          <a:latin typeface="+mj-lt"/>
                        </a:rPr>
                        <a:t>Uttarganga</a:t>
                      </a:r>
                      <a:r>
                        <a:rPr lang="en-IN" sz="1100" b="0" i="0" u="none" strike="noStrike" dirty="0" smtClean="0">
                          <a:solidFill>
                            <a:srgbClr val="000000"/>
                          </a:solidFill>
                          <a:effectLst/>
                          <a:latin typeface="+mj-lt"/>
                        </a:rPr>
                        <a:t> Power</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10,727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29,557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1,95,067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39472191"/>
                  </a:ext>
                </a:extLst>
              </a:tr>
              <a:tr h="176451">
                <a:tc>
                  <a:txBody>
                    <a:bodyPr/>
                    <a:lstStyle/>
                    <a:p>
                      <a:pPr algn="l" fontAlgn="b"/>
                      <a:r>
                        <a:rPr lang="en-IN" sz="1100" b="0" i="0" u="none" strike="noStrike" dirty="0" err="1" smtClean="0">
                          <a:solidFill>
                            <a:srgbClr val="000000"/>
                          </a:solidFill>
                          <a:effectLst/>
                          <a:latin typeface="+mj-lt"/>
                        </a:rPr>
                        <a:t>Raghuganga</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2,299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2,343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1,530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6,172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9163583"/>
                  </a:ext>
                </a:extLst>
              </a:tr>
              <a:tr h="176451">
                <a:tc>
                  <a:txBody>
                    <a:bodyPr/>
                    <a:lstStyle/>
                    <a:p>
                      <a:pPr algn="l" fontAlgn="b"/>
                      <a:r>
                        <a:rPr lang="en-US" sz="1100" b="0" i="0" u="none" strike="noStrike" dirty="0" smtClean="0">
                          <a:solidFill>
                            <a:srgbClr val="000000"/>
                          </a:solidFill>
                          <a:effectLst/>
                          <a:latin typeface="+mj-lt"/>
                        </a:rPr>
                        <a:t>Upper </a:t>
                      </a:r>
                      <a:r>
                        <a:rPr lang="en-US" sz="1100" b="0" i="0" u="none" strike="noStrike" dirty="0">
                          <a:solidFill>
                            <a:srgbClr val="000000"/>
                          </a:solidFill>
                          <a:effectLst/>
                          <a:latin typeface="+mj-lt"/>
                        </a:rPr>
                        <a:t>Arun </a:t>
                      </a:r>
                      <a:r>
                        <a:rPr lang="en-US" sz="1100" b="0" i="0" u="none" strike="noStrike" dirty="0" smtClean="0">
                          <a:solidFill>
                            <a:srgbClr val="000000"/>
                          </a:solidFill>
                          <a:effectLst/>
                          <a:latin typeface="+mj-lt"/>
                        </a:rPr>
                        <a:t>Hydro</a:t>
                      </a:r>
                      <a:endParaRPr lang="en-US"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4,300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4,300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2,111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2,939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38,324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38,324</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38,324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1,28,622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96104154"/>
                  </a:ext>
                </a:extLst>
              </a:tr>
              <a:tr h="176451">
                <a:tc>
                  <a:txBody>
                    <a:bodyPr/>
                    <a:lstStyle/>
                    <a:p>
                      <a:pPr algn="l" fontAlgn="b"/>
                      <a:r>
                        <a:rPr lang="en-IN" sz="1100" b="0" i="0" u="none" strike="noStrike" dirty="0" err="1" smtClean="0">
                          <a:solidFill>
                            <a:srgbClr val="000000"/>
                          </a:solidFill>
                          <a:effectLst/>
                          <a:latin typeface="+mj-lt"/>
                        </a:rPr>
                        <a:t>Chainpur</a:t>
                      </a:r>
                      <a:r>
                        <a:rPr lang="en-IN" sz="1100" b="0" i="0" u="none" strike="noStrike" dirty="0" smtClean="0">
                          <a:solidFill>
                            <a:srgbClr val="000000"/>
                          </a:solidFill>
                          <a:effectLst/>
                          <a:latin typeface="+mj-lt"/>
                        </a:rPr>
                        <a:t> </a:t>
                      </a:r>
                      <a:r>
                        <a:rPr lang="en-IN" sz="1100" b="0" i="0" u="none" strike="noStrike" dirty="0" err="1">
                          <a:solidFill>
                            <a:srgbClr val="000000"/>
                          </a:solidFill>
                          <a:effectLst/>
                          <a:latin typeface="+mj-lt"/>
                        </a:rPr>
                        <a:t>Seti</a:t>
                      </a:r>
                      <a:r>
                        <a:rPr lang="en-IN" sz="1100" b="0" i="0" u="none" strike="noStrike" dirty="0">
                          <a:solidFill>
                            <a:srgbClr val="000000"/>
                          </a:solidFill>
                          <a:effectLst/>
                          <a:latin typeface="+mj-lt"/>
                        </a:rPr>
                        <a:t> </a:t>
                      </a: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535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607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5,028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9,320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9,320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9,320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9,320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43,503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16045896"/>
                  </a:ext>
                </a:extLst>
              </a:tr>
              <a:tr h="176451">
                <a:tc>
                  <a:txBody>
                    <a:bodyPr/>
                    <a:lstStyle/>
                    <a:p>
                      <a:pPr algn="l" fontAlgn="b"/>
                      <a:r>
                        <a:rPr lang="en-IN" sz="1100" b="0" i="0" u="none" strike="noStrike" dirty="0" err="1" smtClean="0">
                          <a:solidFill>
                            <a:srgbClr val="000000"/>
                          </a:solidFill>
                          <a:effectLst/>
                          <a:latin typeface="+mj-lt"/>
                        </a:rPr>
                        <a:t>Begnas</a:t>
                      </a:r>
                      <a:r>
                        <a:rPr lang="en-IN" sz="1100" b="0" i="0" u="none" strike="noStrike" dirty="0" smtClean="0">
                          <a:solidFill>
                            <a:srgbClr val="000000"/>
                          </a:solidFill>
                          <a:effectLst/>
                          <a:latin typeface="+mj-lt"/>
                        </a:rPr>
                        <a:t> </a:t>
                      </a:r>
                      <a:r>
                        <a:rPr lang="en-IN" sz="1100" b="0" i="0" u="none" strike="noStrike" dirty="0" err="1">
                          <a:solidFill>
                            <a:srgbClr val="000000"/>
                          </a:solidFill>
                          <a:effectLst/>
                          <a:latin typeface="+mj-lt"/>
                        </a:rPr>
                        <a:t>Rupa</a:t>
                      </a:r>
                      <a:r>
                        <a:rPr lang="en-IN" sz="1100" b="0" i="0" u="none" strike="noStrike" dirty="0">
                          <a:solidFill>
                            <a:srgbClr val="000000"/>
                          </a:solidFill>
                          <a:effectLst/>
                          <a:latin typeface="+mj-lt"/>
                        </a:rPr>
                        <a:t> HPP </a:t>
                      </a: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100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4169222"/>
                  </a:ext>
                </a:extLst>
              </a:tr>
              <a:tr h="176451">
                <a:tc>
                  <a:txBody>
                    <a:bodyPr/>
                    <a:lstStyle/>
                    <a:p>
                      <a:pPr algn="l" fontAlgn="b"/>
                      <a:r>
                        <a:rPr lang="en-US" sz="1100" b="0" i="0" u="none" strike="noStrike" dirty="0" smtClean="0">
                          <a:solidFill>
                            <a:srgbClr val="000000"/>
                          </a:solidFill>
                          <a:effectLst/>
                          <a:latin typeface="+mj-lt"/>
                        </a:rPr>
                        <a:t>Upper </a:t>
                      </a:r>
                      <a:r>
                        <a:rPr lang="en-US" sz="1100" b="0" i="0" u="none" strike="noStrike" dirty="0" err="1" smtClean="0">
                          <a:solidFill>
                            <a:srgbClr val="000000"/>
                          </a:solidFill>
                          <a:effectLst/>
                          <a:latin typeface="+mj-lt"/>
                        </a:rPr>
                        <a:t>Sanjen</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44351846"/>
                  </a:ext>
                </a:extLst>
              </a:tr>
              <a:tr h="176451">
                <a:tc>
                  <a:txBody>
                    <a:bodyPr/>
                    <a:lstStyle/>
                    <a:p>
                      <a:pPr algn="l" fontAlgn="b"/>
                      <a:r>
                        <a:rPr lang="en-IN" sz="1100" b="0" i="0" u="none" strike="noStrike" dirty="0" err="1" smtClean="0">
                          <a:solidFill>
                            <a:srgbClr val="000000"/>
                          </a:solidFill>
                          <a:effectLst/>
                          <a:latin typeface="+mj-lt"/>
                        </a:rPr>
                        <a:t>Budhigandaki</a:t>
                      </a:r>
                      <a:r>
                        <a:rPr lang="en-IN" sz="1100" b="0" i="0" u="none" strike="noStrike" dirty="0" smtClean="0">
                          <a:solidFill>
                            <a:srgbClr val="000000"/>
                          </a:solidFill>
                          <a:effectLst/>
                          <a:latin typeface="+mj-lt"/>
                        </a:rPr>
                        <a:t>  </a:t>
                      </a:r>
                      <a:endParaRPr lang="en-IN" sz="1100" b="0" i="0" u="none" strike="noStrike" dirty="0">
                        <a:solidFill>
                          <a:srgbClr val="000000"/>
                        </a:solidFill>
                        <a:effectLst/>
                        <a:latin typeface="+mj-lt"/>
                      </a:endParaRP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91631926"/>
                  </a:ext>
                </a:extLst>
              </a:tr>
              <a:tr h="178167">
                <a:tc>
                  <a:txBody>
                    <a:bodyPr/>
                    <a:lstStyle/>
                    <a:p>
                      <a:pPr algn="l" fontAlgn="b"/>
                      <a:r>
                        <a:rPr lang="en-IN" sz="1100" b="0" i="0" u="none" strike="noStrike" dirty="0">
                          <a:solidFill>
                            <a:srgbClr val="000000"/>
                          </a:solidFill>
                          <a:effectLst/>
                          <a:latin typeface="+mj-lt"/>
                        </a:rPr>
                        <a:t>Total</a:t>
                      </a: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23,370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30,691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39,940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57,808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1,12,151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1,11,108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1,10,672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73,532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53,301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53,301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6,65,875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pPr>
                      <a:endParaRPr lang="en-IN" sz="1100">
                        <a:effectLst/>
                        <a:latin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tc>
                  <a:txBody>
                    <a:bodyPr/>
                    <a:lstStyle/>
                    <a:p>
                      <a:pPr algn="r">
                        <a:lnSpc>
                          <a:spcPct val="107000"/>
                        </a:lnSpc>
                      </a:pPr>
                      <a:endParaRPr lang="en-IN" sz="1100">
                        <a:effectLst/>
                        <a:latin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5270977"/>
                  </a:ext>
                </a:extLst>
              </a:tr>
              <a:tr h="178167">
                <a:tc>
                  <a:txBody>
                    <a:bodyPr/>
                    <a:lstStyle/>
                    <a:p>
                      <a:pPr algn="l" fontAlgn="b"/>
                      <a:r>
                        <a:rPr lang="en-IN" sz="1100" b="0" i="0" u="none" strike="noStrike" dirty="0">
                          <a:solidFill>
                            <a:srgbClr val="000000"/>
                          </a:solidFill>
                          <a:effectLst/>
                          <a:latin typeface="+mj-lt"/>
                        </a:rPr>
                        <a:t>NEA's Share</a:t>
                      </a:r>
                    </a:p>
                  </a:txBody>
                  <a:tcPr marL="0" marR="0" marT="0" marB="0" anchor="b">
                    <a:lnL w="9525" cap="flat" cmpd="sng" algn="ctr">
                      <a:noFill/>
                      <a:prstDash val="solid"/>
                      <a:round/>
                      <a:headEnd type="none" w="med" len="med"/>
                      <a:tailEnd type="none" w="med" len="med"/>
                    </a:lnL>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2,708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3,831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4,632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6,531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13,692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13,520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13,449</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7,819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5,330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5,330</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spcAft>
                          <a:spcPts val="0"/>
                        </a:spcAft>
                      </a:pPr>
                      <a:r>
                        <a:rPr lang="en-IN" sz="1100" dirty="0">
                          <a:solidFill>
                            <a:srgbClr val="000000"/>
                          </a:solidFill>
                          <a:effectLst/>
                          <a:latin typeface="Verdana" panose="020B0604030504040204" pitchFamily="34" charset="0"/>
                          <a:ea typeface="Times New Roman" panose="02020603050405020304" pitchFamily="18" charset="0"/>
                          <a:cs typeface="Calibri" panose="020F0502020204030204" pitchFamily="34" charset="0"/>
                        </a:rPr>
                        <a:t>76,842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pPr>
                      <a:endParaRPr lang="en-IN" sz="1100">
                        <a:effectLst/>
                        <a:latin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r">
                        <a:lnSpc>
                          <a:spcPct val="107000"/>
                        </a:lnSpc>
                      </a:pPr>
                      <a:endParaRPr lang="en-IN" sz="1100" dirty="0">
                        <a:effectLst/>
                        <a:latin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74582412"/>
                  </a:ext>
                </a:extLst>
              </a:tr>
            </a:tbl>
          </a:graphicData>
        </a:graphic>
      </p:graphicFrame>
      <p:sp>
        <p:nvSpPr>
          <p:cNvPr id="5" name="Rectangle 4"/>
          <p:cNvSpPr/>
          <p:nvPr/>
        </p:nvSpPr>
        <p:spPr>
          <a:xfrm>
            <a:off x="396748" y="5756255"/>
            <a:ext cx="11325352" cy="692497"/>
          </a:xfrm>
          <a:prstGeom prst="rect">
            <a:avLst/>
          </a:prstGeom>
          <a:noFill/>
        </p:spPr>
        <p:txBody>
          <a:bodyPr wrap="square">
            <a:spAutoFit/>
          </a:bodyPr>
          <a:lstStyle/>
          <a:p>
            <a:pPr marL="180975" indent="-180975">
              <a:spcAft>
                <a:spcPts val="600"/>
              </a:spcAft>
              <a:buFont typeface="Arial" panose="020B0604020202020204" pitchFamily="34" charset="0"/>
              <a:buChar char="•"/>
            </a:pPr>
            <a:r>
              <a:rPr lang="en-US" sz="1300" dirty="0"/>
              <a:t>NEA’s </a:t>
            </a:r>
            <a:r>
              <a:rPr lang="en-US" sz="1300" dirty="0" smtClean="0"/>
              <a:t>equity share </a:t>
            </a:r>
            <a:r>
              <a:rPr lang="en-US" sz="1300" dirty="0"/>
              <a:t>in </a:t>
            </a:r>
            <a:r>
              <a:rPr lang="en-US" sz="1300" dirty="0" smtClean="0"/>
              <a:t>Upper </a:t>
            </a:r>
            <a:r>
              <a:rPr lang="en-US" sz="1300" dirty="0" err="1" smtClean="0"/>
              <a:t>Tamakoshi</a:t>
            </a:r>
            <a:r>
              <a:rPr lang="en-US" sz="1300" dirty="0" smtClean="0"/>
              <a:t>, </a:t>
            </a:r>
            <a:r>
              <a:rPr lang="en-US" sz="1300" dirty="0" err="1" smtClean="0"/>
              <a:t>Sanjen</a:t>
            </a:r>
            <a:r>
              <a:rPr lang="en-US" sz="1300" dirty="0"/>
              <a:t>, </a:t>
            </a:r>
            <a:r>
              <a:rPr lang="en-US" sz="1300" dirty="0" err="1"/>
              <a:t>Rashuwagadhi</a:t>
            </a:r>
            <a:r>
              <a:rPr lang="en-US" sz="1300" dirty="0"/>
              <a:t> and Middle </a:t>
            </a:r>
            <a:r>
              <a:rPr lang="en-US" sz="1300" dirty="0" err="1"/>
              <a:t>Bhotekoshi</a:t>
            </a:r>
            <a:r>
              <a:rPr lang="en-US" sz="1300" dirty="0"/>
              <a:t> is </a:t>
            </a:r>
            <a:r>
              <a:rPr lang="en-US" sz="1300" dirty="0" smtClean="0"/>
              <a:t>41%, 10</a:t>
            </a:r>
            <a:r>
              <a:rPr lang="en-US" sz="1300" dirty="0"/>
              <a:t>%, 18% and 10</a:t>
            </a:r>
            <a:r>
              <a:rPr lang="en-US" sz="1300" dirty="0" smtClean="0"/>
              <a:t>% respectively. </a:t>
            </a:r>
            <a:r>
              <a:rPr lang="en-US" sz="1300" dirty="0"/>
              <a:t>S</a:t>
            </a:r>
            <a:r>
              <a:rPr lang="en-US" sz="1300" dirty="0" smtClean="0"/>
              <a:t>ince NEA </a:t>
            </a:r>
            <a:r>
              <a:rPr lang="en-US" sz="1300" dirty="0"/>
              <a:t>has already funded its share </a:t>
            </a:r>
            <a:r>
              <a:rPr lang="en-US" sz="1300" dirty="0" smtClean="0"/>
              <a:t>of capital investment in these plants, no additional </a:t>
            </a:r>
            <a:r>
              <a:rPr lang="en-US" sz="1300" dirty="0"/>
              <a:t>contribution from NEA </a:t>
            </a:r>
            <a:r>
              <a:rPr lang="en-US" sz="1300" dirty="0" smtClean="0"/>
              <a:t>is expected in future; Break-up </a:t>
            </a:r>
            <a:r>
              <a:rPr lang="en-US" sz="1300" dirty="0"/>
              <a:t>of NEA’s </a:t>
            </a:r>
            <a:r>
              <a:rPr lang="en-US" sz="1300" dirty="0" smtClean="0"/>
              <a:t>share of investments </a:t>
            </a:r>
            <a:r>
              <a:rPr lang="en-US" sz="1300" dirty="0"/>
              <a:t>in each of the </a:t>
            </a:r>
            <a:r>
              <a:rPr lang="en-US" sz="1300" dirty="0" smtClean="0"/>
              <a:t>subsidiaries over </a:t>
            </a:r>
            <a:r>
              <a:rPr lang="en-US" sz="1300" dirty="0"/>
              <a:t>the next 10 years is presented in the </a:t>
            </a:r>
            <a:r>
              <a:rPr lang="en-US" sz="1300" dirty="0" smtClean="0"/>
              <a:t>Annexure</a:t>
            </a:r>
            <a:endParaRPr lang="en-IN" sz="1300" dirty="0"/>
          </a:p>
        </p:txBody>
      </p:sp>
      <p:sp>
        <p:nvSpPr>
          <p:cNvPr id="6" name="Rectangle 5"/>
          <p:cNvSpPr/>
          <p:nvPr/>
        </p:nvSpPr>
        <p:spPr>
          <a:xfrm>
            <a:off x="469900" y="1295855"/>
            <a:ext cx="11340000" cy="523220"/>
          </a:xfrm>
          <a:prstGeom prst="rect">
            <a:avLst/>
          </a:prstGeom>
          <a:noFill/>
        </p:spPr>
        <p:txBody>
          <a:bodyPr wrap="square">
            <a:spAutoFit/>
          </a:bodyPr>
          <a:lstStyle/>
          <a:p>
            <a:pPr marL="180975" indent="-180975">
              <a:spcAft>
                <a:spcPts val="600"/>
              </a:spcAft>
              <a:buFont typeface="Arial" panose="020B0604020202020204" pitchFamily="34" charset="0"/>
              <a:buChar char="•"/>
            </a:pPr>
            <a:r>
              <a:rPr lang="en-US" sz="1400" dirty="0" smtClean="0"/>
              <a:t>Capital </a:t>
            </a:r>
            <a:r>
              <a:rPr lang="en-US" sz="1400" dirty="0"/>
              <a:t>investment planned for each </a:t>
            </a:r>
            <a:r>
              <a:rPr lang="en-US" sz="1400" dirty="0" smtClean="0"/>
              <a:t>subsidiary is given below. </a:t>
            </a:r>
            <a:r>
              <a:rPr lang="en-US" sz="1400" dirty="0"/>
              <a:t>NEA share, summed up across all subsidiaries is separately outlined at the </a:t>
            </a:r>
            <a:r>
              <a:rPr lang="en-US" sz="1400" dirty="0" smtClean="0"/>
              <a:t>end of table</a:t>
            </a:r>
            <a:r>
              <a:rPr lang="en-US" sz="1400" dirty="0"/>
              <a:t>. For each subsidiary, NEA’s overall share (%) </a:t>
            </a:r>
            <a:r>
              <a:rPr lang="en-US" sz="1400" dirty="0" smtClean="0"/>
              <a:t>in equity </a:t>
            </a:r>
            <a:r>
              <a:rPr lang="en-US" sz="1400" dirty="0"/>
              <a:t>is mentioned in </a:t>
            </a:r>
            <a:r>
              <a:rPr lang="en-US" sz="1400" dirty="0" smtClean="0"/>
              <a:t>rightmost </a:t>
            </a:r>
            <a:r>
              <a:rPr lang="en-US" sz="1400" dirty="0"/>
              <a:t>column.</a:t>
            </a:r>
            <a:endParaRPr lang="en-IN" sz="1400" dirty="0"/>
          </a:p>
        </p:txBody>
      </p:sp>
    </p:spTree>
    <p:extLst>
      <p:ext uri="{BB962C8B-B14F-4D97-AF65-F5344CB8AC3E}">
        <p14:creationId xmlns:p14="http://schemas.microsoft.com/office/powerpoint/2010/main" val="88729455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Depreciation</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graphicFrame>
        <p:nvGraphicFramePr>
          <p:cNvPr id="4" name="Table 3"/>
          <p:cNvGraphicFramePr>
            <a:graphicFrameLocks noGrp="1"/>
          </p:cNvGraphicFramePr>
          <p:nvPr>
            <p:extLst/>
          </p:nvPr>
        </p:nvGraphicFramePr>
        <p:xfrm>
          <a:off x="469900" y="3361570"/>
          <a:ext cx="11252200" cy="2875680"/>
        </p:xfrm>
        <a:graphic>
          <a:graphicData uri="http://schemas.openxmlformats.org/drawingml/2006/table">
            <a:tbl>
              <a:tblPr firstRow="1">
                <a:tableStyleId>{793D81CF-94F2-401A-BA57-92F5A7B2D0C5}</a:tableStyleId>
              </a:tblPr>
              <a:tblGrid>
                <a:gridCol w="2739915">
                  <a:extLst>
                    <a:ext uri="{9D8B030D-6E8A-4147-A177-3AD203B41FA5}">
                      <a16:colId xmlns:a16="http://schemas.microsoft.com/office/drawing/2014/main" val="3255729242"/>
                    </a:ext>
                  </a:extLst>
                </a:gridCol>
                <a:gridCol w="1681437">
                  <a:extLst>
                    <a:ext uri="{9D8B030D-6E8A-4147-A177-3AD203B41FA5}">
                      <a16:colId xmlns:a16="http://schemas.microsoft.com/office/drawing/2014/main" val="2947384394"/>
                    </a:ext>
                  </a:extLst>
                </a:gridCol>
                <a:gridCol w="2066770">
                  <a:extLst>
                    <a:ext uri="{9D8B030D-6E8A-4147-A177-3AD203B41FA5}">
                      <a16:colId xmlns:a16="http://schemas.microsoft.com/office/drawing/2014/main" val="3039417246"/>
                    </a:ext>
                  </a:extLst>
                </a:gridCol>
                <a:gridCol w="2276948">
                  <a:extLst>
                    <a:ext uri="{9D8B030D-6E8A-4147-A177-3AD203B41FA5}">
                      <a16:colId xmlns:a16="http://schemas.microsoft.com/office/drawing/2014/main" val="488688445"/>
                    </a:ext>
                  </a:extLst>
                </a:gridCol>
                <a:gridCol w="2487130">
                  <a:extLst>
                    <a:ext uri="{9D8B030D-6E8A-4147-A177-3AD203B41FA5}">
                      <a16:colId xmlns:a16="http://schemas.microsoft.com/office/drawing/2014/main" val="2040152821"/>
                    </a:ext>
                  </a:extLst>
                </a:gridCol>
              </a:tblGrid>
              <a:tr h="141350">
                <a:tc rowSpan="2">
                  <a:txBody>
                    <a:bodyPr/>
                    <a:lstStyle/>
                    <a:p>
                      <a:pPr algn="l" fontAlgn="b"/>
                      <a:r>
                        <a:rPr lang="en-US" sz="1100" b="1" i="0" u="none" strike="noStrike" dirty="0" smtClean="0">
                          <a:solidFill>
                            <a:schemeClr val="bg1"/>
                          </a:solidFill>
                          <a:effectLst/>
                          <a:latin typeface="+mn-lt"/>
                        </a:rPr>
                        <a:t>Asset Category</a:t>
                      </a:r>
                      <a:endParaRPr lang="en-IN" sz="1100" b="1" i="0" u="none" strike="noStrike" dirty="0">
                        <a:solidFill>
                          <a:schemeClr val="bg1"/>
                        </a:solidFill>
                        <a:effectLst/>
                        <a:latin typeface="+mn-lt"/>
                      </a:endParaRPr>
                    </a:p>
                  </a:txBody>
                  <a:tcPr marL="45720" marR="45720" marT="36000" marB="36000" anchor="b"/>
                </a:tc>
                <a:tc rowSpan="2">
                  <a:txBody>
                    <a:bodyPr/>
                    <a:lstStyle/>
                    <a:p>
                      <a:pPr algn="ctr" fontAlgn="ctr"/>
                      <a:r>
                        <a:rPr lang="en-IN" sz="1100" u="none" strike="noStrike" dirty="0">
                          <a:solidFill>
                            <a:schemeClr val="bg1"/>
                          </a:solidFill>
                          <a:effectLst/>
                          <a:latin typeface="+mn-lt"/>
                        </a:rPr>
                        <a:t>Depreciation Rate</a:t>
                      </a:r>
                      <a:endParaRPr lang="en-IN" sz="1100" b="0" i="0" u="none" strike="noStrike" dirty="0">
                        <a:solidFill>
                          <a:schemeClr val="bg1"/>
                        </a:solidFill>
                        <a:effectLst/>
                        <a:latin typeface="+mn-lt"/>
                      </a:endParaRPr>
                    </a:p>
                  </a:txBody>
                  <a:tcPr marL="45720" marR="45720" marT="36000" marB="36000" anchor="ctr"/>
                </a:tc>
                <a:tc gridSpan="3">
                  <a:txBody>
                    <a:bodyPr/>
                    <a:lstStyle/>
                    <a:p>
                      <a:pPr algn="ctr" fontAlgn="ctr"/>
                      <a:r>
                        <a:rPr lang="en-US" sz="1100" b="1" i="0" u="none" strike="noStrike" dirty="0" smtClean="0">
                          <a:solidFill>
                            <a:schemeClr val="bg1"/>
                          </a:solidFill>
                          <a:effectLst/>
                          <a:latin typeface="+mn-lt"/>
                        </a:rPr>
                        <a:t>Breakup of Assets</a:t>
                      </a:r>
                      <a:endParaRPr lang="en-IN" sz="1100" b="1" i="0" u="none" strike="noStrike" dirty="0">
                        <a:solidFill>
                          <a:schemeClr val="bg1"/>
                        </a:solidFill>
                        <a:effectLst/>
                        <a:latin typeface="+mn-lt"/>
                      </a:endParaRPr>
                    </a:p>
                  </a:txBody>
                  <a:tcPr marL="45720" marR="45720" marT="36000" marB="36000" anchor="ctr"/>
                </a:tc>
                <a:tc hMerge="1">
                  <a:txBody>
                    <a:bodyPr/>
                    <a:lstStyle/>
                    <a:p>
                      <a:pPr algn="ctr" fontAlgn="ctr"/>
                      <a:endParaRPr lang="en-IN" sz="1100" b="0" i="0" u="none" strike="noStrike" dirty="0">
                        <a:solidFill>
                          <a:srgbClr val="000000"/>
                        </a:solidFill>
                        <a:effectLst/>
                        <a:latin typeface="Calibri" panose="020F0502020204030204" pitchFamily="34" charset="0"/>
                      </a:endParaRPr>
                    </a:p>
                  </a:txBody>
                  <a:tcPr marL="7620" marR="7620" marT="7620" marB="0" anchor="ctr"/>
                </a:tc>
                <a:tc hMerge="1">
                  <a:txBody>
                    <a:bodyPr/>
                    <a:lstStyle/>
                    <a:p>
                      <a:pPr algn="ctr" fontAlgn="ctr"/>
                      <a:endParaRPr lang="en-IN" sz="11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906203990"/>
                  </a:ext>
                </a:extLst>
              </a:tr>
              <a:tr h="141350">
                <a:tc vMerge="1">
                  <a:txBody>
                    <a:bodyPr/>
                    <a:lstStyle/>
                    <a:p>
                      <a:pPr algn="l" fontAlgn="b"/>
                      <a:endParaRPr lang="en-IN" sz="1100" b="0" i="0" u="none" strike="noStrike" dirty="0">
                        <a:solidFill>
                          <a:srgbClr val="000000"/>
                        </a:solidFill>
                        <a:effectLst/>
                        <a:latin typeface="Calibri" panose="020F0502020204030204" pitchFamily="34" charset="0"/>
                      </a:endParaRPr>
                    </a:p>
                  </a:txBody>
                  <a:tcPr marL="7620" marR="7620" marT="7620" marB="0" anchor="b"/>
                </a:tc>
                <a:tc vMerge="1">
                  <a:txBody>
                    <a:bodyPr/>
                    <a:lstStyle/>
                    <a:p>
                      <a:pPr algn="ctr" fontAlgn="ctr"/>
                      <a:endParaRPr lang="en-IN" sz="11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IN" sz="1100" u="none" strike="noStrike" dirty="0">
                          <a:solidFill>
                            <a:schemeClr val="tx1"/>
                          </a:solidFill>
                          <a:effectLst/>
                          <a:latin typeface="+mn-lt"/>
                        </a:rPr>
                        <a:t>Generation</a:t>
                      </a:r>
                      <a:endParaRPr lang="en-IN" sz="1100" b="0" i="0" u="none" strike="noStrike" dirty="0">
                        <a:solidFill>
                          <a:schemeClr val="tx1"/>
                        </a:solidFill>
                        <a:effectLst/>
                        <a:latin typeface="+mn-lt"/>
                      </a:endParaRPr>
                    </a:p>
                  </a:txBody>
                  <a:tcPr marL="45720" marR="45720" marT="36000" marB="36000" anchor="ctr">
                    <a:solidFill>
                      <a:schemeClr val="accent6">
                        <a:lumMod val="20000"/>
                        <a:lumOff val="80000"/>
                      </a:schemeClr>
                    </a:solidFill>
                  </a:tcPr>
                </a:tc>
                <a:tc>
                  <a:txBody>
                    <a:bodyPr/>
                    <a:lstStyle/>
                    <a:p>
                      <a:pPr algn="ctr" fontAlgn="ctr"/>
                      <a:r>
                        <a:rPr lang="en-IN" sz="1100" u="none" strike="noStrike" dirty="0" smtClean="0">
                          <a:solidFill>
                            <a:schemeClr val="tx1"/>
                          </a:solidFill>
                          <a:effectLst/>
                          <a:latin typeface="+mn-lt"/>
                        </a:rPr>
                        <a:t>Transmission</a:t>
                      </a:r>
                      <a:endParaRPr lang="en-IN" sz="1100" b="0" i="0" u="none" strike="noStrike" dirty="0">
                        <a:solidFill>
                          <a:schemeClr val="tx1"/>
                        </a:solidFill>
                        <a:effectLst/>
                        <a:latin typeface="+mn-lt"/>
                      </a:endParaRPr>
                    </a:p>
                  </a:txBody>
                  <a:tcPr marL="45720" marR="45720" marT="36000" marB="36000" anchor="ctr">
                    <a:solidFill>
                      <a:schemeClr val="accent6">
                        <a:lumMod val="20000"/>
                        <a:lumOff val="80000"/>
                      </a:schemeClr>
                    </a:solidFill>
                  </a:tcPr>
                </a:tc>
                <a:tc>
                  <a:txBody>
                    <a:bodyPr/>
                    <a:lstStyle/>
                    <a:p>
                      <a:pPr algn="ctr" fontAlgn="ctr"/>
                      <a:r>
                        <a:rPr lang="en-IN" sz="1100" u="none" strike="noStrike" dirty="0">
                          <a:solidFill>
                            <a:schemeClr val="tx1"/>
                          </a:solidFill>
                          <a:effectLst/>
                          <a:latin typeface="+mn-lt"/>
                        </a:rPr>
                        <a:t>Distribution</a:t>
                      </a:r>
                      <a:endParaRPr lang="en-IN" sz="1100" b="0" i="0" u="none" strike="noStrike" dirty="0">
                        <a:solidFill>
                          <a:schemeClr val="tx1"/>
                        </a:solidFill>
                        <a:effectLst/>
                        <a:latin typeface="+mn-lt"/>
                      </a:endParaRPr>
                    </a:p>
                  </a:txBody>
                  <a:tcPr marL="45720" marR="45720" marT="36000" marB="36000" anchor="ctr">
                    <a:solidFill>
                      <a:schemeClr val="accent6">
                        <a:lumMod val="20000"/>
                        <a:lumOff val="80000"/>
                      </a:schemeClr>
                    </a:solidFill>
                  </a:tcPr>
                </a:tc>
                <a:extLst>
                  <a:ext uri="{0D108BD9-81ED-4DB2-BD59-A6C34878D82A}">
                    <a16:rowId xmlns:a16="http://schemas.microsoft.com/office/drawing/2014/main" val="3157775693"/>
                  </a:ext>
                </a:extLst>
              </a:tr>
              <a:tr h="141350">
                <a:tc>
                  <a:txBody>
                    <a:bodyPr/>
                    <a:lstStyle/>
                    <a:p>
                      <a:pPr algn="l" fontAlgn="b"/>
                      <a:r>
                        <a:rPr lang="en-IN" sz="1100" u="none" strike="noStrike" dirty="0">
                          <a:effectLst/>
                          <a:latin typeface="+mn-lt"/>
                        </a:rPr>
                        <a:t>Land</a:t>
                      </a:r>
                      <a:endParaRPr lang="en-IN" sz="1100" b="0" i="0" u="none" strike="noStrike" dirty="0">
                        <a:solidFill>
                          <a:srgbClr val="000000"/>
                        </a:solidFill>
                        <a:effectLst/>
                        <a:latin typeface="+mn-lt"/>
                      </a:endParaRPr>
                    </a:p>
                  </a:txBody>
                  <a:tcPr marL="45720" marR="45720" marT="36000" marB="36000" anchor="b">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dirty="0">
                          <a:effectLst/>
                          <a:latin typeface="+mn-lt"/>
                          <a:ea typeface="Calibri" panose="020F0502020204030204" pitchFamily="34" charset="0"/>
                        </a:rPr>
                        <a:t>0.00%</a:t>
                      </a:r>
                    </a:p>
                  </a:txBody>
                  <a:tcPr marL="45720" marR="45720" marT="36000" marB="36000" anchor="ctr">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0.45%</a:t>
                      </a:r>
                    </a:p>
                  </a:txBody>
                  <a:tcPr marL="45720" marR="45720" marT="36000" marB="36000" anchor="ctr">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1.35%</a:t>
                      </a:r>
                    </a:p>
                  </a:txBody>
                  <a:tcPr marL="45720" marR="45720" marT="36000" marB="36000" anchor="ctr">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0.93%</a:t>
                      </a:r>
                    </a:p>
                  </a:txBody>
                  <a:tcPr marL="45720" marR="45720" marT="36000" marB="36000" anchor="ct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242535210"/>
                  </a:ext>
                </a:extLst>
              </a:tr>
              <a:tr h="141350">
                <a:tc>
                  <a:txBody>
                    <a:bodyPr/>
                    <a:lstStyle/>
                    <a:p>
                      <a:pPr algn="l" fontAlgn="b"/>
                      <a:r>
                        <a:rPr lang="en-IN" sz="1100" u="none" strike="noStrike" dirty="0">
                          <a:effectLst/>
                          <a:latin typeface="+mn-lt"/>
                        </a:rPr>
                        <a:t>Building</a:t>
                      </a:r>
                      <a:endParaRPr lang="en-IN" sz="1100" b="0" i="0" u="none" strike="noStrike" dirty="0">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2.00%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7.87%</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3.57%</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3.00%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5548483"/>
                  </a:ext>
                </a:extLst>
              </a:tr>
              <a:tr h="141350">
                <a:tc>
                  <a:txBody>
                    <a:bodyPr/>
                    <a:lstStyle/>
                    <a:p>
                      <a:pPr algn="l" fontAlgn="b"/>
                      <a:r>
                        <a:rPr lang="en-IN" sz="1100" u="none" strike="noStrike" dirty="0">
                          <a:effectLst/>
                          <a:latin typeface="+mn-lt"/>
                        </a:rPr>
                        <a:t>Plant &amp; Machinery</a:t>
                      </a:r>
                      <a:endParaRPr lang="en-IN" sz="1100" b="0" i="0" u="none" strike="noStrike" dirty="0">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dirty="0">
                          <a:effectLst/>
                          <a:latin typeface="+mn-lt"/>
                          <a:ea typeface="Calibri" panose="020F0502020204030204" pitchFamily="34" charset="0"/>
                        </a:rPr>
                        <a:t>3.00%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91.02%</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94.41%</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91.67%</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64255674"/>
                  </a:ext>
                </a:extLst>
              </a:tr>
              <a:tr h="141350">
                <a:tc>
                  <a:txBody>
                    <a:bodyPr/>
                    <a:lstStyle/>
                    <a:p>
                      <a:pPr algn="l" fontAlgn="b"/>
                      <a:r>
                        <a:rPr lang="en-IN" sz="1100" u="none" strike="noStrike" dirty="0">
                          <a:effectLst/>
                          <a:latin typeface="+mn-lt"/>
                        </a:rPr>
                        <a:t>Furniture &amp; Fixture</a:t>
                      </a:r>
                      <a:endParaRPr lang="en-IN" sz="1100" b="0" i="0" u="none" strike="noStrike" dirty="0">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20.00%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0.08%</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0.04%</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0.23%</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7503140"/>
                  </a:ext>
                </a:extLst>
              </a:tr>
              <a:tr h="141350">
                <a:tc>
                  <a:txBody>
                    <a:bodyPr/>
                    <a:lstStyle/>
                    <a:p>
                      <a:pPr algn="l" fontAlgn="b"/>
                      <a:r>
                        <a:rPr lang="en-IN" sz="1100" u="none" strike="noStrike">
                          <a:effectLst/>
                          <a:latin typeface="+mn-lt"/>
                        </a:rPr>
                        <a:t>Office Equipment</a:t>
                      </a:r>
                      <a:endParaRPr lang="en-IN" sz="1100" b="0" i="0" u="none" strike="noStrike">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dirty="0">
                          <a:effectLst/>
                          <a:latin typeface="+mn-lt"/>
                          <a:ea typeface="Calibri" panose="020F0502020204030204" pitchFamily="34" charset="0"/>
                        </a:rPr>
                        <a:t>15.00%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0.16%</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0.19%</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2.00%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980966818"/>
                  </a:ext>
                </a:extLst>
              </a:tr>
              <a:tr h="141350">
                <a:tc>
                  <a:txBody>
                    <a:bodyPr/>
                    <a:lstStyle/>
                    <a:p>
                      <a:pPr algn="l" fontAlgn="b"/>
                      <a:r>
                        <a:rPr lang="en-IN" sz="1100" u="none" strike="noStrike">
                          <a:effectLst/>
                          <a:latin typeface="+mn-lt"/>
                        </a:rPr>
                        <a:t>Misc.Property</a:t>
                      </a:r>
                      <a:endParaRPr lang="en-IN" sz="1100" b="0" i="0" u="none" strike="noStrike">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dirty="0">
                          <a:effectLst/>
                          <a:latin typeface="+mn-lt"/>
                          <a:ea typeface="Calibri" panose="020F0502020204030204" pitchFamily="34" charset="0"/>
                        </a:rPr>
                        <a:t>50.00%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0.04%</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0.01%</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0.17%</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522859743"/>
                  </a:ext>
                </a:extLst>
              </a:tr>
              <a:tr h="141350">
                <a:tc>
                  <a:txBody>
                    <a:bodyPr/>
                    <a:lstStyle/>
                    <a:p>
                      <a:pPr algn="l" fontAlgn="b"/>
                      <a:r>
                        <a:rPr lang="en-IN" sz="1100" u="none" strike="noStrike">
                          <a:effectLst/>
                          <a:latin typeface="+mn-lt"/>
                        </a:rPr>
                        <a:t>Vehicles</a:t>
                      </a:r>
                      <a:endParaRPr lang="en-IN" sz="1100" b="0" i="0" u="none" strike="noStrike">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20.00%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dirty="0">
                          <a:effectLst/>
                          <a:latin typeface="+mn-lt"/>
                          <a:ea typeface="Calibri" panose="020F0502020204030204" pitchFamily="34" charset="0"/>
                        </a:rPr>
                        <a:t>0.38%</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0.43%</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IN" sz="1100">
                          <a:effectLst/>
                          <a:latin typeface="+mn-lt"/>
                          <a:ea typeface="Calibri" panose="020F0502020204030204" pitchFamily="34" charset="0"/>
                        </a:rPr>
                        <a:t>2.00%</a:t>
                      </a: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88919290"/>
                  </a:ext>
                </a:extLst>
              </a:tr>
              <a:tr h="141350">
                <a:tc>
                  <a:txBody>
                    <a:bodyPr/>
                    <a:lstStyle/>
                    <a:p>
                      <a:pPr algn="l" fontAlgn="b"/>
                      <a:r>
                        <a:rPr lang="en-US" sz="1100" b="0" i="0" u="none" strike="noStrike" dirty="0" smtClean="0">
                          <a:solidFill>
                            <a:srgbClr val="000000"/>
                          </a:solidFill>
                          <a:effectLst/>
                          <a:latin typeface="+mn-lt"/>
                        </a:rPr>
                        <a:t>Total</a:t>
                      </a:r>
                      <a:endParaRPr lang="en-IN" sz="1100" b="0" i="0" u="none" strike="noStrike" dirty="0">
                        <a:solidFill>
                          <a:srgbClr val="000000"/>
                        </a:solidFill>
                        <a:effectLst/>
                        <a:latin typeface="+mn-lt"/>
                      </a:endParaRPr>
                    </a:p>
                  </a:txBody>
                  <a:tcPr marL="45720" marR="45720" marT="36000" marB="36000" anchor="b">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endParaRPr lang="en-IN" sz="1100">
                        <a:effectLst/>
                        <a:latin typeface="+mn-lt"/>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dirty="0">
                          <a:effectLst/>
                          <a:latin typeface="+mn-lt"/>
                          <a:ea typeface="Calibri" panose="020F0502020204030204" pitchFamily="34" charset="0"/>
                        </a:rPr>
                        <a:t>100.00%</a:t>
                      </a:r>
                      <a:endParaRPr lang="en-IN" sz="1100" dirty="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dirty="0">
                          <a:effectLst/>
                          <a:latin typeface="+mn-lt"/>
                          <a:ea typeface="Calibri" panose="020F0502020204030204" pitchFamily="34" charset="0"/>
                        </a:rPr>
                        <a:t>100.00%</a:t>
                      </a:r>
                      <a:endParaRPr lang="en-IN" sz="1100" dirty="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a:effectLst/>
                          <a:latin typeface="+mn-lt"/>
                          <a:ea typeface="Calibri" panose="020F0502020204030204" pitchFamily="34" charset="0"/>
                        </a:rPr>
                        <a:t>100.00%</a:t>
                      </a:r>
                      <a:endParaRPr lang="en-IN" sz="110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851228080"/>
                  </a:ext>
                </a:extLst>
              </a:tr>
              <a:tr h="141350">
                <a:tc>
                  <a:txBody>
                    <a:bodyPr/>
                    <a:lstStyle/>
                    <a:p>
                      <a:pPr algn="l" fontAlgn="b"/>
                      <a:r>
                        <a:rPr lang="en-US" sz="1100" b="1" i="0" u="none" strike="noStrike" dirty="0" smtClean="0">
                          <a:solidFill>
                            <a:srgbClr val="000000"/>
                          </a:solidFill>
                          <a:effectLst/>
                          <a:latin typeface="+mn-lt"/>
                        </a:rPr>
                        <a:t>Depreciation Rate (%)</a:t>
                      </a:r>
                      <a:endParaRPr lang="en-IN" sz="1100" b="1" i="0" u="none" strike="noStrike" dirty="0">
                        <a:solidFill>
                          <a:srgbClr val="000000"/>
                        </a:solidFill>
                        <a:effectLst/>
                        <a:latin typeface="+mn-lt"/>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endParaRPr lang="en-IN" sz="1100">
                        <a:effectLst/>
                        <a:latin typeface="+mn-lt"/>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b="1">
                          <a:effectLst/>
                          <a:latin typeface="+mn-lt"/>
                          <a:ea typeface="Calibri" panose="020F0502020204030204" pitchFamily="34" charset="0"/>
                        </a:rPr>
                        <a:t>3.02%</a:t>
                      </a:r>
                      <a:endParaRPr lang="en-IN" sz="110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b="1" dirty="0">
                          <a:effectLst/>
                          <a:latin typeface="+mn-lt"/>
                          <a:ea typeface="Calibri" panose="020F0502020204030204" pitchFamily="34" charset="0"/>
                        </a:rPr>
                        <a:t>3.03%</a:t>
                      </a:r>
                      <a:endParaRPr lang="en-IN" sz="1100" dirty="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spcAft>
                          <a:spcPts val="0"/>
                        </a:spcAft>
                      </a:pPr>
                      <a:r>
                        <a:rPr lang="en-US" sz="1100" b="1" dirty="0">
                          <a:effectLst/>
                          <a:latin typeface="+mn-lt"/>
                          <a:ea typeface="Calibri" panose="020F0502020204030204" pitchFamily="34" charset="0"/>
                        </a:rPr>
                        <a:t>3.64%</a:t>
                      </a:r>
                      <a:endParaRPr lang="en-IN" sz="1100" dirty="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4036643102"/>
                  </a:ext>
                </a:extLst>
              </a:tr>
              <a:tr h="141350">
                <a:tc>
                  <a:txBody>
                    <a:bodyPr/>
                    <a:lstStyle/>
                    <a:p>
                      <a:pPr algn="l" fontAlgn="b"/>
                      <a:r>
                        <a:rPr lang="en-US" sz="1100" b="1" i="0" u="none" strike="noStrike" dirty="0" smtClean="0">
                          <a:solidFill>
                            <a:srgbClr val="000000"/>
                          </a:solidFill>
                          <a:effectLst/>
                          <a:latin typeface="+mn-lt"/>
                        </a:rPr>
                        <a:t>Maximum Depreciation</a:t>
                      </a:r>
                      <a:r>
                        <a:rPr lang="en-US" sz="1100" b="1" i="0" u="none" strike="noStrike" baseline="0" dirty="0" smtClean="0">
                          <a:solidFill>
                            <a:srgbClr val="000000"/>
                          </a:solidFill>
                          <a:effectLst/>
                          <a:latin typeface="+mn-lt"/>
                        </a:rPr>
                        <a:t> (%)</a:t>
                      </a:r>
                      <a:endParaRPr lang="en-IN" sz="1100" b="1" i="0" u="none" strike="noStrike" dirty="0">
                        <a:solidFill>
                          <a:srgbClr val="000000"/>
                        </a:solidFill>
                        <a:effectLst/>
                        <a:latin typeface="+mn-lt"/>
                      </a:endParaRPr>
                    </a:p>
                  </a:txBody>
                  <a:tcPr marL="45720" marR="45720" marT="36000" marB="36000" anchor="ctr">
                    <a:lnT w="9525" cap="flat" cmpd="sng" algn="ctr">
                      <a:solidFill>
                        <a:schemeClr val="bg1">
                          <a:lumMod val="85000"/>
                        </a:schemeClr>
                      </a:solidFill>
                      <a:prstDash val="solid"/>
                      <a:round/>
                      <a:headEnd type="none" w="med" len="med"/>
                      <a:tailEnd type="none" w="med" len="med"/>
                    </a:lnT>
                  </a:tcPr>
                </a:tc>
                <a:tc>
                  <a:txBody>
                    <a:bodyPr/>
                    <a:lstStyle/>
                    <a:p>
                      <a:pPr algn="r"/>
                      <a:endParaRPr lang="en-IN" sz="1100">
                        <a:effectLst/>
                        <a:latin typeface="+mn-lt"/>
                      </a:endParaRPr>
                    </a:p>
                  </a:txBody>
                  <a:tcPr marL="45720" marR="45720" marT="36000" marB="36000" anchor="ctr">
                    <a:lnT w="9525" cap="flat" cmpd="sng" algn="ctr">
                      <a:solidFill>
                        <a:schemeClr val="bg1">
                          <a:lumMod val="85000"/>
                        </a:schemeClr>
                      </a:solidFill>
                      <a:prstDash val="solid"/>
                      <a:round/>
                      <a:headEnd type="none" w="med" len="med"/>
                      <a:tailEnd type="none" w="med" len="med"/>
                    </a:lnT>
                  </a:tcPr>
                </a:tc>
                <a:tc>
                  <a:txBody>
                    <a:bodyPr/>
                    <a:lstStyle/>
                    <a:p>
                      <a:pPr algn="r">
                        <a:spcAft>
                          <a:spcPts val="0"/>
                        </a:spcAft>
                      </a:pPr>
                      <a:r>
                        <a:rPr lang="en-US" sz="1100" b="1">
                          <a:effectLst/>
                          <a:latin typeface="+mn-lt"/>
                          <a:ea typeface="Calibri" panose="020F0502020204030204" pitchFamily="34" charset="0"/>
                        </a:rPr>
                        <a:t>90%</a:t>
                      </a:r>
                      <a:endParaRPr lang="en-IN" sz="110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tcPr>
                </a:tc>
                <a:tc>
                  <a:txBody>
                    <a:bodyPr/>
                    <a:lstStyle/>
                    <a:p>
                      <a:pPr algn="r">
                        <a:spcAft>
                          <a:spcPts val="0"/>
                        </a:spcAft>
                      </a:pPr>
                      <a:r>
                        <a:rPr lang="en-US" sz="1100" b="1">
                          <a:effectLst/>
                          <a:latin typeface="+mn-lt"/>
                          <a:ea typeface="Calibri" panose="020F0502020204030204" pitchFamily="34" charset="0"/>
                        </a:rPr>
                        <a:t>90%</a:t>
                      </a:r>
                      <a:endParaRPr lang="en-IN" sz="110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tcPr>
                </a:tc>
                <a:tc>
                  <a:txBody>
                    <a:bodyPr/>
                    <a:lstStyle/>
                    <a:p>
                      <a:pPr algn="r">
                        <a:spcAft>
                          <a:spcPts val="0"/>
                        </a:spcAft>
                      </a:pPr>
                      <a:r>
                        <a:rPr lang="en-US" sz="1100" b="1" dirty="0">
                          <a:effectLst/>
                          <a:latin typeface="+mn-lt"/>
                          <a:ea typeface="Calibri" panose="020F0502020204030204" pitchFamily="34" charset="0"/>
                        </a:rPr>
                        <a:t>90%</a:t>
                      </a:r>
                      <a:endParaRPr lang="en-IN" sz="1100" dirty="0">
                        <a:effectLst/>
                        <a:latin typeface="+mn-lt"/>
                        <a:ea typeface="Calibri" panose="020F0502020204030204" pitchFamily="34" charset="0"/>
                      </a:endParaRPr>
                    </a:p>
                  </a:txBody>
                  <a:tcPr marL="45720" marR="45720" marT="36000" marB="36000" anchor="ctr">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771247790"/>
                  </a:ext>
                </a:extLst>
              </a:tr>
            </a:tbl>
          </a:graphicData>
        </a:graphic>
      </p:graphicFrame>
      <p:sp>
        <p:nvSpPr>
          <p:cNvPr id="5" name="TextBox 4"/>
          <p:cNvSpPr txBox="1"/>
          <p:nvPr/>
        </p:nvSpPr>
        <p:spPr>
          <a:xfrm>
            <a:off x="469900" y="1435189"/>
            <a:ext cx="11252200" cy="584775"/>
          </a:xfrm>
          <a:prstGeom prst="rect">
            <a:avLst/>
          </a:prstGeom>
          <a:noFill/>
        </p:spPr>
        <p:txBody>
          <a:bodyPr wrap="square" lIns="0" tIns="0" rIns="0" bIns="0" rtlCol="0">
            <a:spAutoFit/>
          </a:bodyPr>
          <a:lstStyle/>
          <a:p>
            <a:pPr>
              <a:spcAft>
                <a:spcPts val="1200"/>
              </a:spcAft>
              <a:buSzPct val="100000"/>
            </a:pPr>
            <a:r>
              <a:rPr lang="en-US" sz="1400" b="1" dirty="0" smtClean="0">
                <a:solidFill>
                  <a:schemeClr val="accent1"/>
                </a:solidFill>
              </a:rPr>
              <a:t>Existing Assets:</a:t>
            </a:r>
          </a:p>
          <a:p>
            <a:pPr marL="203200" indent="-203200">
              <a:spcAft>
                <a:spcPts val="1200"/>
              </a:spcAft>
              <a:buSzPct val="100000"/>
              <a:buFont typeface="Arial"/>
              <a:buChar char="•"/>
            </a:pPr>
            <a:r>
              <a:rPr lang="en-US" sz="1400" dirty="0" smtClean="0">
                <a:solidFill>
                  <a:srgbClr val="313131"/>
                </a:solidFill>
              </a:rPr>
              <a:t>Average of Depreciation rate for last 3 years is taken for projecting future depreciation from asset base</a:t>
            </a:r>
          </a:p>
        </p:txBody>
      </p:sp>
      <p:sp>
        <p:nvSpPr>
          <p:cNvPr id="6" name="TextBox 5"/>
          <p:cNvSpPr txBox="1"/>
          <p:nvPr/>
        </p:nvSpPr>
        <p:spPr>
          <a:xfrm>
            <a:off x="469900" y="2144463"/>
            <a:ext cx="11252200" cy="1169551"/>
          </a:xfrm>
          <a:prstGeom prst="rect">
            <a:avLst/>
          </a:prstGeom>
          <a:noFill/>
        </p:spPr>
        <p:txBody>
          <a:bodyPr wrap="square" lIns="0" tIns="0" rIns="0" bIns="0" rtlCol="0">
            <a:spAutoFit/>
          </a:bodyPr>
          <a:lstStyle/>
          <a:p>
            <a:pPr>
              <a:spcAft>
                <a:spcPts val="1200"/>
              </a:spcAft>
              <a:buSzPct val="100000"/>
            </a:pPr>
            <a:r>
              <a:rPr lang="en-US" sz="1400" b="1" dirty="0" smtClean="0">
                <a:solidFill>
                  <a:schemeClr val="accent1"/>
                </a:solidFill>
              </a:rPr>
              <a:t>New Assets:</a:t>
            </a:r>
          </a:p>
          <a:p>
            <a:pPr marL="203200" indent="-203200">
              <a:spcAft>
                <a:spcPts val="1200"/>
              </a:spcAft>
              <a:buSzPct val="100000"/>
              <a:buFont typeface="Arial"/>
              <a:buChar char="•"/>
            </a:pPr>
            <a:r>
              <a:rPr lang="en-US" sz="1400" dirty="0" smtClean="0">
                <a:solidFill>
                  <a:srgbClr val="313131"/>
                </a:solidFill>
              </a:rPr>
              <a:t>Typical breakup of assets into various asset class for G, T and D is determined</a:t>
            </a:r>
          </a:p>
          <a:p>
            <a:pPr marL="203200" indent="-203200">
              <a:spcAft>
                <a:spcPts val="1200"/>
              </a:spcAft>
              <a:buSzPct val="100000"/>
              <a:buFont typeface="Arial"/>
              <a:buChar char="•"/>
            </a:pPr>
            <a:r>
              <a:rPr lang="en-US" sz="1400" dirty="0" smtClean="0">
                <a:solidFill>
                  <a:srgbClr val="313131"/>
                </a:solidFill>
              </a:rPr>
              <a:t>The same is multiplied with deprecation rate for that asset class to determine the weighted average depreciation rates as given  below:</a:t>
            </a:r>
            <a:endParaRPr lang="en-US" sz="1400" dirty="0">
              <a:solidFill>
                <a:srgbClr val="313131"/>
              </a:solidFill>
            </a:endParaRPr>
          </a:p>
        </p:txBody>
      </p:sp>
    </p:spTree>
    <p:extLst>
      <p:ext uri="{BB962C8B-B14F-4D97-AF65-F5344CB8AC3E}">
        <p14:creationId xmlns:p14="http://schemas.microsoft.com/office/powerpoint/2010/main" val="1195864145"/>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Debt Covenants</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sp>
        <p:nvSpPr>
          <p:cNvPr id="6" name="TextBox 5"/>
          <p:cNvSpPr txBox="1"/>
          <p:nvPr/>
        </p:nvSpPr>
        <p:spPr>
          <a:xfrm>
            <a:off x="439741" y="1504089"/>
            <a:ext cx="11252199" cy="584775"/>
          </a:xfrm>
          <a:prstGeom prst="rect">
            <a:avLst/>
          </a:prstGeom>
          <a:noFill/>
        </p:spPr>
        <p:txBody>
          <a:bodyPr wrap="square" lIns="0" tIns="0" rIns="0" bIns="0" rtlCol="0">
            <a:spAutoFit/>
          </a:bodyPr>
          <a:lstStyle/>
          <a:p>
            <a:pPr>
              <a:spcAft>
                <a:spcPts val="1200"/>
              </a:spcAft>
              <a:buSzPct val="100000"/>
            </a:pPr>
            <a:r>
              <a:rPr lang="en-US" sz="1400" b="1" dirty="0" smtClean="0">
                <a:solidFill>
                  <a:schemeClr val="accent1"/>
                </a:solidFill>
              </a:rPr>
              <a:t>Existing Loans:</a:t>
            </a:r>
          </a:p>
          <a:p>
            <a:pPr marL="203200" indent="-203200">
              <a:spcAft>
                <a:spcPts val="1200"/>
              </a:spcAft>
              <a:buSzPct val="100000"/>
              <a:buFont typeface="Arial"/>
              <a:buChar char="•"/>
            </a:pPr>
            <a:r>
              <a:rPr lang="en-US" sz="1400" dirty="0">
                <a:solidFill>
                  <a:srgbClr val="313131"/>
                </a:solidFill>
              </a:rPr>
              <a:t>For existing loans, the repayment and interest schedule for next 10 years, is taken as provided by NEA</a:t>
            </a:r>
            <a:endParaRPr lang="en-IN" sz="1400" dirty="0">
              <a:solidFill>
                <a:srgbClr val="313131"/>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636945048"/>
              </p:ext>
            </p:extLst>
          </p:nvPr>
        </p:nvGraphicFramePr>
        <p:xfrm>
          <a:off x="439742" y="3424071"/>
          <a:ext cx="11252199" cy="1737360"/>
        </p:xfrm>
        <a:graphic>
          <a:graphicData uri="http://schemas.openxmlformats.org/drawingml/2006/table">
            <a:tbl>
              <a:tblPr firstRow="1">
                <a:tableStyleId>{793D81CF-94F2-401A-BA57-92F5A7B2D0C5}</a:tableStyleId>
              </a:tblPr>
              <a:tblGrid>
                <a:gridCol w="2685206">
                  <a:extLst>
                    <a:ext uri="{9D8B030D-6E8A-4147-A177-3AD203B41FA5}">
                      <a16:colId xmlns:a16="http://schemas.microsoft.com/office/drawing/2014/main" val="117600224"/>
                    </a:ext>
                  </a:extLst>
                </a:gridCol>
                <a:gridCol w="2158345">
                  <a:extLst>
                    <a:ext uri="{9D8B030D-6E8A-4147-A177-3AD203B41FA5}">
                      <a16:colId xmlns:a16="http://schemas.microsoft.com/office/drawing/2014/main" val="2182730116"/>
                    </a:ext>
                  </a:extLst>
                </a:gridCol>
                <a:gridCol w="2136216">
                  <a:extLst>
                    <a:ext uri="{9D8B030D-6E8A-4147-A177-3AD203B41FA5}">
                      <a16:colId xmlns:a16="http://schemas.microsoft.com/office/drawing/2014/main" val="3665905863"/>
                    </a:ext>
                  </a:extLst>
                </a:gridCol>
                <a:gridCol w="2136216">
                  <a:extLst>
                    <a:ext uri="{9D8B030D-6E8A-4147-A177-3AD203B41FA5}">
                      <a16:colId xmlns:a16="http://schemas.microsoft.com/office/drawing/2014/main" val="2721405417"/>
                    </a:ext>
                  </a:extLst>
                </a:gridCol>
                <a:gridCol w="2136216">
                  <a:extLst>
                    <a:ext uri="{9D8B030D-6E8A-4147-A177-3AD203B41FA5}">
                      <a16:colId xmlns:a16="http://schemas.microsoft.com/office/drawing/2014/main" val="1968777614"/>
                    </a:ext>
                  </a:extLst>
                </a:gridCol>
              </a:tblGrid>
              <a:tr h="170462">
                <a:tc>
                  <a:txBody>
                    <a:bodyPr/>
                    <a:lstStyle/>
                    <a:p>
                      <a:endParaRPr lang="en-IN" sz="1200" dirty="0"/>
                    </a:p>
                  </a:txBody>
                  <a:tcPr/>
                </a:tc>
                <a:tc>
                  <a:txBody>
                    <a:bodyPr/>
                    <a:lstStyle/>
                    <a:p>
                      <a:pPr algn="ctr"/>
                      <a:r>
                        <a:rPr lang="en-US" sz="1200" dirty="0" smtClean="0"/>
                        <a:t>Generation</a:t>
                      </a:r>
                      <a:endParaRPr lang="en-IN" sz="1200" dirty="0"/>
                    </a:p>
                  </a:txBody>
                  <a:tcPr anchor="ctr"/>
                </a:tc>
                <a:tc>
                  <a:txBody>
                    <a:bodyPr/>
                    <a:lstStyle/>
                    <a:p>
                      <a:pPr algn="ctr"/>
                      <a:r>
                        <a:rPr lang="en-US" sz="1200" dirty="0" smtClean="0"/>
                        <a:t>Transmission</a:t>
                      </a:r>
                      <a:endParaRPr lang="en-IN" sz="1200" dirty="0"/>
                    </a:p>
                  </a:txBody>
                  <a:tcPr anchor="ctr"/>
                </a:tc>
                <a:tc>
                  <a:txBody>
                    <a:bodyPr/>
                    <a:lstStyle/>
                    <a:p>
                      <a:pPr algn="ctr"/>
                      <a:r>
                        <a:rPr lang="en-US" sz="1200" dirty="0" smtClean="0"/>
                        <a:t>Distribution</a:t>
                      </a:r>
                      <a:endParaRPr lang="en-IN" sz="1200" dirty="0"/>
                    </a:p>
                  </a:txBody>
                  <a:tcPr anchor="ctr"/>
                </a:tc>
                <a:tc>
                  <a:txBody>
                    <a:bodyPr/>
                    <a:lstStyle/>
                    <a:p>
                      <a:pPr algn="ctr"/>
                      <a:r>
                        <a:rPr lang="en-US" sz="1200" dirty="0" smtClean="0"/>
                        <a:t>Rural Electrification</a:t>
                      </a:r>
                      <a:endParaRPr lang="en-IN" sz="1200" dirty="0"/>
                    </a:p>
                  </a:txBody>
                  <a:tcPr anchor="ctr"/>
                </a:tc>
                <a:extLst>
                  <a:ext uri="{0D108BD9-81ED-4DB2-BD59-A6C34878D82A}">
                    <a16:rowId xmlns:a16="http://schemas.microsoft.com/office/drawing/2014/main" val="826428033"/>
                  </a:ext>
                </a:extLst>
              </a:tr>
              <a:tr h="139443">
                <a:tc>
                  <a:txBody>
                    <a:bodyPr/>
                    <a:lstStyle/>
                    <a:p>
                      <a:r>
                        <a:rPr lang="en-US" sz="1200" b="1" dirty="0" smtClean="0"/>
                        <a:t>New Multilateral Loan</a:t>
                      </a:r>
                      <a:endParaRPr lang="en-IN" sz="1200" b="1" dirty="0"/>
                    </a:p>
                  </a:txBody>
                  <a:tcPr anchor="ctr">
                    <a:solidFill>
                      <a:schemeClr val="accent6">
                        <a:lumMod val="20000"/>
                        <a:lumOff val="80000"/>
                      </a:schemeClr>
                    </a:solidFill>
                  </a:tcPr>
                </a:tc>
                <a:tc>
                  <a:txBody>
                    <a:bodyPr/>
                    <a:lstStyle/>
                    <a:p>
                      <a:pPr algn="ctr"/>
                      <a:endParaRPr lang="en-IN" sz="1200" dirty="0"/>
                    </a:p>
                  </a:txBody>
                  <a:tcPr anchor="ctr">
                    <a:solidFill>
                      <a:schemeClr val="accent6">
                        <a:lumMod val="20000"/>
                        <a:lumOff val="80000"/>
                      </a:schemeClr>
                    </a:solidFill>
                  </a:tcPr>
                </a:tc>
                <a:tc>
                  <a:txBody>
                    <a:bodyPr/>
                    <a:lstStyle/>
                    <a:p>
                      <a:pPr algn="ctr"/>
                      <a:endParaRPr lang="en-IN" sz="1200" dirty="0"/>
                    </a:p>
                  </a:txBody>
                  <a:tcPr anchor="ctr">
                    <a:solidFill>
                      <a:schemeClr val="accent6">
                        <a:lumMod val="20000"/>
                        <a:lumOff val="80000"/>
                      </a:schemeClr>
                    </a:solidFill>
                  </a:tcPr>
                </a:tc>
                <a:tc>
                  <a:txBody>
                    <a:bodyPr/>
                    <a:lstStyle/>
                    <a:p>
                      <a:pPr algn="ctr"/>
                      <a:endParaRPr lang="en-IN" sz="1200" dirty="0"/>
                    </a:p>
                  </a:txBody>
                  <a:tcPr anchor="ctr">
                    <a:solidFill>
                      <a:schemeClr val="accent6">
                        <a:lumMod val="20000"/>
                        <a:lumOff val="80000"/>
                      </a:schemeClr>
                    </a:solidFill>
                  </a:tcPr>
                </a:tc>
                <a:tc>
                  <a:txBody>
                    <a:bodyPr/>
                    <a:lstStyle/>
                    <a:p>
                      <a:pPr algn="ctr"/>
                      <a:endParaRPr lang="en-IN" sz="1200" dirty="0"/>
                    </a:p>
                  </a:txBody>
                  <a:tcPr anchor="ctr">
                    <a:solidFill>
                      <a:schemeClr val="accent6">
                        <a:lumMod val="20000"/>
                        <a:lumOff val="80000"/>
                      </a:schemeClr>
                    </a:solidFill>
                  </a:tcPr>
                </a:tc>
                <a:extLst>
                  <a:ext uri="{0D108BD9-81ED-4DB2-BD59-A6C34878D82A}">
                    <a16:rowId xmlns:a16="http://schemas.microsoft.com/office/drawing/2014/main" val="4099287382"/>
                  </a:ext>
                </a:extLst>
              </a:tr>
              <a:tr h="228179">
                <a:tc>
                  <a:txBody>
                    <a:bodyPr/>
                    <a:lstStyle/>
                    <a:p>
                      <a:r>
                        <a:rPr lang="en-US" sz="1200" dirty="0" smtClean="0"/>
                        <a:t>Grace Period</a:t>
                      </a:r>
                    </a:p>
                  </a:txBody>
                  <a:tcPr anchor="ctr">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a:r>
                        <a:rPr lang="en-US" sz="1200" dirty="0" smtClean="0">
                          <a:solidFill>
                            <a:schemeClr val="tx1"/>
                          </a:solidFill>
                        </a:rPr>
                        <a:t>7</a:t>
                      </a:r>
                      <a:r>
                        <a:rPr lang="en-US" sz="1200" baseline="0" dirty="0" smtClean="0">
                          <a:solidFill>
                            <a:schemeClr val="tx1"/>
                          </a:solidFill>
                        </a:rPr>
                        <a:t> years (project construction period)</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a:r>
                        <a:rPr lang="en-US" sz="1200" baseline="0" dirty="0" smtClean="0">
                          <a:solidFill>
                            <a:schemeClr val="tx1"/>
                          </a:solidFill>
                        </a:rPr>
                        <a:t>5 years</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a:r>
                        <a:rPr lang="en-US" sz="1200" baseline="0" dirty="0" smtClean="0">
                          <a:solidFill>
                            <a:schemeClr val="tx1"/>
                          </a:solidFill>
                        </a:rPr>
                        <a:t>5 years</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a:r>
                        <a:rPr lang="en-US" sz="1200" dirty="0" smtClean="0">
                          <a:solidFill>
                            <a:schemeClr val="tx1"/>
                          </a:solidFill>
                        </a:rPr>
                        <a:t>NA</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18688677"/>
                  </a:ext>
                </a:extLst>
              </a:tr>
              <a:tr h="139443">
                <a:tc>
                  <a:txBody>
                    <a:bodyPr/>
                    <a:lstStyle/>
                    <a:p>
                      <a:r>
                        <a:rPr lang="en-US" sz="1200" dirty="0" smtClean="0"/>
                        <a:t>Repayment Period</a:t>
                      </a:r>
                      <a:endParaRPr lang="en-IN" sz="1200" dirty="0"/>
                    </a:p>
                  </a:txBody>
                  <a:tcPr anchor="ctr">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dirty="0" smtClean="0">
                          <a:solidFill>
                            <a:schemeClr val="tx1"/>
                          </a:solidFill>
                        </a:rPr>
                        <a:t>18</a:t>
                      </a:r>
                      <a:r>
                        <a:rPr lang="en-US" sz="1200" baseline="0" dirty="0" smtClean="0">
                          <a:solidFill>
                            <a:schemeClr val="tx1"/>
                          </a:solidFill>
                        </a:rPr>
                        <a:t> years</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aseline="0" dirty="0" smtClean="0">
                          <a:solidFill>
                            <a:schemeClr val="tx1"/>
                          </a:solidFill>
                        </a:rPr>
                        <a:t>20 years</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baseline="0" dirty="0" smtClean="0">
                          <a:solidFill>
                            <a:schemeClr val="tx1"/>
                          </a:solidFill>
                        </a:rPr>
                        <a:t>20 years</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a:r>
                        <a:rPr lang="en-US" sz="1200" dirty="0" smtClean="0">
                          <a:solidFill>
                            <a:schemeClr val="tx1"/>
                          </a:solidFill>
                        </a:rPr>
                        <a:t>NA</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56187653"/>
                  </a:ext>
                </a:extLst>
              </a:tr>
              <a:tr h="228179">
                <a:tc>
                  <a:txBody>
                    <a:bodyPr/>
                    <a:lstStyle/>
                    <a:p>
                      <a:r>
                        <a:rPr lang="en-US" sz="1200" dirty="0" smtClean="0"/>
                        <a:t>Interest Rate </a:t>
                      </a:r>
                      <a:endParaRPr lang="en-IN" sz="1200" dirty="0"/>
                    </a:p>
                  </a:txBody>
                  <a:tcPr anchor="ctr">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tcPr>
                </a:tc>
                <a:tc gridSpan="3">
                  <a:txBody>
                    <a:bodyPr/>
                    <a:lstStyle/>
                    <a:p>
                      <a:pPr algn="ctr"/>
                      <a:r>
                        <a:rPr lang="en-US" sz="1200" dirty="0" smtClean="0">
                          <a:solidFill>
                            <a:schemeClr val="tx1"/>
                          </a:solidFill>
                        </a:rPr>
                        <a:t>5% - NPR;</a:t>
                      </a:r>
                    </a:p>
                    <a:p>
                      <a:pPr algn="ctr"/>
                      <a:r>
                        <a:rPr lang="en-US" sz="1200" dirty="0" smtClean="0">
                          <a:solidFill>
                            <a:schemeClr val="tx1"/>
                          </a:solidFill>
                        </a:rPr>
                        <a:t>1.5% - USD (with currency devaluation of 3.2% Y-</a:t>
                      </a:r>
                      <a:r>
                        <a:rPr lang="en-US" sz="1200" dirty="0" err="1" smtClean="0">
                          <a:solidFill>
                            <a:schemeClr val="tx1"/>
                          </a:solidFill>
                        </a:rPr>
                        <a:t>oY</a:t>
                      </a:r>
                      <a:r>
                        <a:rPr lang="en-IN" sz="1200" baseline="0" dirty="0" smtClean="0">
                          <a:solidFill>
                            <a:schemeClr val="tx1"/>
                          </a:solidFill>
                        </a:rPr>
                        <a:t>)</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tcPr>
                </a:tc>
                <a:tc hMerge="1">
                  <a:txBody>
                    <a:bodyPr/>
                    <a:lstStyle/>
                    <a:p>
                      <a:pPr algn="ctr"/>
                      <a:endParaRPr lang="en-IN" sz="1200" dirty="0">
                        <a:solidFill>
                          <a:schemeClr val="tx1"/>
                        </a:solidFill>
                      </a:endParaRPr>
                    </a:p>
                  </a:txBody>
                  <a:tcPr anchor="ctr"/>
                </a:tc>
                <a:tc hMerge="1">
                  <a:txBody>
                    <a:bodyPr/>
                    <a:lstStyle/>
                    <a:p>
                      <a:pPr algn="ctr"/>
                      <a:endParaRPr lang="en-IN" sz="1200" dirty="0">
                        <a:solidFill>
                          <a:schemeClr val="tx1"/>
                        </a:solidFill>
                      </a:endParaRPr>
                    </a:p>
                  </a:txBody>
                  <a:tcPr anchor="ctr"/>
                </a:tc>
                <a:tc>
                  <a:txBody>
                    <a:bodyPr/>
                    <a:lstStyle/>
                    <a:p>
                      <a:pPr algn="ctr"/>
                      <a:r>
                        <a:rPr lang="en-US" sz="1200" dirty="0" smtClean="0">
                          <a:solidFill>
                            <a:schemeClr val="tx1"/>
                          </a:solidFill>
                        </a:rPr>
                        <a:t>NA</a:t>
                      </a:r>
                      <a:endParaRPr lang="en-IN" sz="1200" dirty="0">
                        <a:solidFill>
                          <a:schemeClr val="tx1"/>
                        </a:solidFill>
                      </a:endParaRPr>
                    </a:p>
                  </a:txBody>
                  <a:tcPr anchor="ctr">
                    <a:lnL w="9525" cap="flat" cmpd="sng" algn="ctr">
                      <a:solidFill>
                        <a:schemeClr val="bg1">
                          <a:lumMod val="85000"/>
                        </a:schemeClr>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497902558"/>
                  </a:ext>
                </a:extLst>
              </a:tr>
            </a:tbl>
          </a:graphicData>
        </a:graphic>
      </p:graphicFrame>
      <p:sp>
        <p:nvSpPr>
          <p:cNvPr id="8" name="TextBox 7"/>
          <p:cNvSpPr txBox="1"/>
          <p:nvPr/>
        </p:nvSpPr>
        <p:spPr>
          <a:xfrm>
            <a:off x="469900" y="2400072"/>
            <a:ext cx="11252200" cy="584775"/>
          </a:xfrm>
          <a:prstGeom prst="rect">
            <a:avLst/>
          </a:prstGeom>
          <a:noFill/>
        </p:spPr>
        <p:txBody>
          <a:bodyPr wrap="square" lIns="0" tIns="0" rIns="0" bIns="0" rtlCol="0">
            <a:spAutoFit/>
          </a:bodyPr>
          <a:lstStyle/>
          <a:p>
            <a:pPr>
              <a:spcAft>
                <a:spcPts val="1200"/>
              </a:spcAft>
              <a:buSzPct val="100000"/>
            </a:pPr>
            <a:r>
              <a:rPr lang="en-US" sz="1400" b="1" dirty="0" smtClean="0">
                <a:solidFill>
                  <a:schemeClr val="accent1"/>
                </a:solidFill>
              </a:rPr>
              <a:t>New Loans:</a:t>
            </a:r>
          </a:p>
          <a:p>
            <a:pPr marL="203200" indent="-203200">
              <a:spcAft>
                <a:spcPts val="1200"/>
              </a:spcAft>
              <a:buSzPct val="100000"/>
              <a:buFont typeface="Arial"/>
              <a:buChar char="•"/>
            </a:pPr>
            <a:r>
              <a:rPr lang="en-US" sz="1400" dirty="0">
                <a:solidFill>
                  <a:srgbClr val="313131"/>
                </a:solidFill>
              </a:rPr>
              <a:t>Assumptions for projecting interest cost related to new debt for future capex, is provided in the table below:</a:t>
            </a:r>
            <a:endParaRPr lang="en-IN" sz="1400" dirty="0">
              <a:solidFill>
                <a:srgbClr val="313131"/>
              </a:solidFill>
            </a:endParaRPr>
          </a:p>
        </p:txBody>
      </p:sp>
    </p:spTree>
    <p:extLst>
      <p:ext uri="{BB962C8B-B14F-4D97-AF65-F5344CB8AC3E}">
        <p14:creationId xmlns:p14="http://schemas.microsoft.com/office/powerpoint/2010/main" val="312226994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Return on investment</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sp>
        <p:nvSpPr>
          <p:cNvPr id="4" name="Content Placeholder 3"/>
          <p:cNvSpPr txBox="1">
            <a:spLocks/>
          </p:cNvSpPr>
          <p:nvPr/>
        </p:nvSpPr>
        <p:spPr>
          <a:xfrm>
            <a:off x="439791" y="2600270"/>
            <a:ext cx="11282308" cy="1165954"/>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lvl="3" defTabSz="1078348">
              <a:spcBef>
                <a:spcPts val="600"/>
              </a:spcBef>
              <a:buFont typeface="Verdana" panose="020B0604030504040204" pitchFamily="34" charset="0"/>
              <a:buChar char="-"/>
            </a:pPr>
            <a:r>
              <a:rPr lang="en-US" sz="1400" b="1" dirty="0" smtClean="0">
                <a:solidFill>
                  <a:schemeClr val="accent1"/>
                </a:solidFill>
              </a:rPr>
              <a:t>Return on Equity (</a:t>
            </a:r>
            <a:r>
              <a:rPr lang="en-US" sz="1400" b="1" dirty="0" err="1" smtClean="0">
                <a:solidFill>
                  <a:schemeClr val="accent1"/>
                </a:solidFill>
              </a:rPr>
              <a:t>RoE</a:t>
            </a:r>
            <a:r>
              <a:rPr lang="en-US" sz="1400" b="1" dirty="0" smtClean="0">
                <a:solidFill>
                  <a:schemeClr val="accent1"/>
                </a:solidFill>
              </a:rPr>
              <a:t>) Approach: </a:t>
            </a:r>
            <a:r>
              <a:rPr lang="en-US" sz="1400" dirty="0" smtClean="0">
                <a:solidFill>
                  <a:srgbClr val="313131"/>
                </a:solidFill>
              </a:rPr>
              <a:t>The average of opening and closing equity for the financial year is multiplied with fixed rate of return on equity</a:t>
            </a:r>
          </a:p>
          <a:p>
            <a:pPr lvl="3" defTabSz="1078348">
              <a:spcBef>
                <a:spcPts val="600"/>
              </a:spcBef>
              <a:buFont typeface="Verdana" panose="020B0604030504040204" pitchFamily="34" charset="0"/>
              <a:buChar char="-"/>
            </a:pPr>
            <a:r>
              <a:rPr lang="en-US" sz="1400" b="1" dirty="0" smtClean="0">
                <a:solidFill>
                  <a:schemeClr val="accent1"/>
                </a:solidFill>
              </a:rPr>
              <a:t>Return on Assets (</a:t>
            </a:r>
            <a:r>
              <a:rPr lang="en-US" sz="1400" b="1" dirty="0" err="1" smtClean="0">
                <a:solidFill>
                  <a:schemeClr val="accent1"/>
                </a:solidFill>
              </a:rPr>
              <a:t>RoA</a:t>
            </a:r>
            <a:r>
              <a:rPr lang="en-US" sz="1400" b="1" dirty="0" smtClean="0">
                <a:solidFill>
                  <a:schemeClr val="accent1"/>
                </a:solidFill>
              </a:rPr>
              <a:t>) Approach:</a:t>
            </a:r>
            <a:r>
              <a:rPr lang="en-US" sz="1400" dirty="0" smtClean="0">
                <a:solidFill>
                  <a:srgbClr val="313131"/>
                </a:solidFill>
              </a:rPr>
              <a:t> The average of opening and closing Net Fixed Assets for 2 financial years (n-1,n) is multiplied with fixed rate of return on asset</a:t>
            </a:r>
            <a:endParaRPr lang="en-US" sz="1400" dirty="0">
              <a:solidFill>
                <a:srgbClr val="313131"/>
              </a:solidFill>
            </a:endParaRPr>
          </a:p>
        </p:txBody>
      </p:sp>
      <p:sp>
        <p:nvSpPr>
          <p:cNvPr id="6" name="Content Placeholder 3"/>
          <p:cNvSpPr txBox="1">
            <a:spLocks/>
          </p:cNvSpPr>
          <p:nvPr/>
        </p:nvSpPr>
        <p:spPr>
          <a:xfrm>
            <a:off x="439790" y="5436684"/>
            <a:ext cx="11282309" cy="443005"/>
          </a:xfrm>
          <a:prstGeom prst="rect">
            <a:avLst/>
          </a:prstGeom>
        </p:spPr>
        <p:txBody>
          <a:bodyPr vert="horz" lIns="0" tIns="0" rIns="0" bIns="0" rtlCol="0">
            <a:noAutofit/>
          </a:bodyPr>
          <a:lstStyle>
            <a:lvl1pPr marL="0" indent="0" algn="l" defTabSz="951059" rtl="0" eaLnBrk="1" latinLnBrk="0" hangingPunct="1">
              <a:spcBef>
                <a:spcPts val="0"/>
              </a:spcBef>
              <a:spcAft>
                <a:spcPts val="1041"/>
              </a:spcAft>
              <a:buSzPct val="100000"/>
              <a:buFont typeface="Arial" panose="020B0604020202020204" pitchFamily="34" charset="0"/>
              <a:buNone/>
              <a:defRPr sz="1401" b="0" kern="1200">
                <a:solidFill>
                  <a:schemeClr val="tx1"/>
                </a:solidFill>
                <a:latin typeface="+mn-lt"/>
                <a:ea typeface="+mn-ea"/>
                <a:cs typeface="+mn-cs"/>
              </a:defRPr>
            </a:lvl1pPr>
            <a:lvl2pPr marL="0" indent="0" algn="l" defTabSz="951059" rtl="0" eaLnBrk="1" latinLnBrk="0" hangingPunct="1">
              <a:spcBef>
                <a:spcPts val="0"/>
              </a:spcBef>
              <a:spcAft>
                <a:spcPts val="1041"/>
              </a:spcAft>
              <a:buClrTx/>
              <a:buSzPct val="100000"/>
              <a:buFont typeface="Arial"/>
              <a:buNone/>
              <a:defRPr lang="en-US" sz="1401" b="1" kern="1200">
                <a:solidFill>
                  <a:schemeClr val="tx1"/>
                </a:solidFill>
                <a:latin typeface="+mn-lt"/>
                <a:ea typeface="+mn-ea"/>
                <a:cs typeface="+mn-cs"/>
              </a:defRPr>
            </a:lvl2pPr>
            <a:lvl3pPr marL="183472" indent="-183472" algn="l" defTabSz="951059" rtl="0" eaLnBrk="1" latinLnBrk="0" hangingPunct="1">
              <a:spcBef>
                <a:spcPts val="0"/>
              </a:spcBef>
              <a:spcAft>
                <a:spcPts val="1041"/>
              </a:spcAft>
              <a:buClrTx/>
              <a:buSzPct val="100000"/>
              <a:buFont typeface="Arial" panose="020B0604020202020204" pitchFamily="34" charset="0"/>
              <a:buChar char="•"/>
              <a:defRPr lang="en-US" sz="1401" kern="1200">
                <a:solidFill>
                  <a:schemeClr val="tx1"/>
                </a:solidFill>
                <a:latin typeface="+mn-lt"/>
                <a:ea typeface="+mn-ea"/>
                <a:cs typeface="+mn-cs"/>
              </a:defRPr>
            </a:lvl3pPr>
            <a:lvl4pPr marL="370688" indent="-183472" algn="l" defTabSz="951059" rtl="0" eaLnBrk="1" latinLnBrk="0" hangingPunct="1">
              <a:spcBef>
                <a:spcPts val="0"/>
              </a:spcBef>
              <a:spcAft>
                <a:spcPts val="1041"/>
              </a:spcAft>
              <a:buClrTx/>
              <a:buSzPct val="100000"/>
              <a:buFont typeface="Verdana" panose="020B0604030504040204" pitchFamily="34" charset="0"/>
              <a:buChar char="−"/>
              <a:defRPr lang="en-US" sz="1401" kern="1200" baseline="0">
                <a:solidFill>
                  <a:schemeClr val="tx1"/>
                </a:solidFill>
                <a:latin typeface="+mn-lt"/>
                <a:ea typeface="+mn-ea"/>
                <a:cs typeface="+mn-cs"/>
              </a:defRPr>
            </a:lvl4pPr>
            <a:lvl5pPr marL="554160" indent="-183472" algn="l" defTabSz="830524" rtl="0" eaLnBrk="1" latinLnBrk="0" hangingPunct="1">
              <a:spcBef>
                <a:spcPts val="0"/>
              </a:spcBef>
              <a:spcAft>
                <a:spcPts val="1041"/>
              </a:spcAft>
              <a:buClrTx/>
              <a:buSzPct val="100000"/>
              <a:buFont typeface="Verdana" panose="020B0604030504040204" pitchFamily="34" charset="0"/>
              <a:buChar char="−"/>
              <a:tabLst/>
              <a:defRPr lang="en-US" sz="1401" kern="1200" baseline="0">
                <a:solidFill>
                  <a:schemeClr val="tx1"/>
                </a:solidFill>
                <a:latin typeface="+mn-lt"/>
                <a:ea typeface="+mn-ea"/>
                <a:cs typeface="+mn-cs"/>
              </a:defRPr>
            </a:lvl5pPr>
            <a:lvl6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6pPr>
            <a:lvl7pPr marL="554160" indent="-183472" algn="l" defTabSz="951059" rtl="0" eaLnBrk="1" latinLnBrk="0" hangingPunct="1">
              <a:spcBef>
                <a:spcPts val="0"/>
              </a:spcBef>
              <a:spcAft>
                <a:spcPts val="1041"/>
              </a:spcAft>
              <a:buFont typeface="Verdana" panose="020B0604030504040204" pitchFamily="34" charset="0"/>
              <a:buChar char="−"/>
              <a:defRPr sz="1248" kern="1200">
                <a:solidFill>
                  <a:schemeClr val="tx1"/>
                </a:solidFill>
                <a:latin typeface="+mn-lt"/>
                <a:ea typeface="+mn-ea"/>
                <a:cs typeface="+mn-cs"/>
              </a:defRPr>
            </a:lvl7pPr>
            <a:lvl8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8pPr>
            <a:lvl9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9pPr>
          </a:lstStyle>
          <a:p>
            <a:pPr marL="203200" lvl="2" indent="-203200" defTabSz="1219170">
              <a:spcBef>
                <a:spcPts val="600"/>
              </a:spcBef>
              <a:buFont typeface="Arial"/>
              <a:buChar char="•"/>
            </a:pPr>
            <a:r>
              <a:rPr lang="en-US" sz="1400" dirty="0">
                <a:solidFill>
                  <a:srgbClr val="313131"/>
                </a:solidFill>
              </a:rPr>
              <a:t>As per the discussions with stakeholders, the Base case in the model assumes </a:t>
            </a:r>
            <a:r>
              <a:rPr lang="en-US" sz="1400" dirty="0" err="1">
                <a:solidFill>
                  <a:srgbClr val="313131"/>
                </a:solidFill>
              </a:rPr>
              <a:t>RoA</a:t>
            </a:r>
            <a:r>
              <a:rPr lang="en-US" sz="1400" dirty="0">
                <a:solidFill>
                  <a:srgbClr val="313131"/>
                </a:solidFill>
              </a:rPr>
              <a:t> approach for calculating interest on investments</a:t>
            </a:r>
          </a:p>
        </p:txBody>
      </p:sp>
      <p:sp>
        <p:nvSpPr>
          <p:cNvPr id="7" name="TextBox 6"/>
          <p:cNvSpPr txBox="1"/>
          <p:nvPr/>
        </p:nvSpPr>
        <p:spPr>
          <a:xfrm>
            <a:off x="439790" y="1730514"/>
            <a:ext cx="11282309" cy="646331"/>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400" dirty="0">
                <a:solidFill>
                  <a:srgbClr val="313131"/>
                </a:solidFill>
              </a:rPr>
              <a:t>While currently Return on Investment is not taken by NEA while calculating its costs of supply, since the NEA intends to improve its self financing ratio for future capex, the Return component is built into future cost projections of NEA. There are two approaches available for calculating Return on investments as follows - </a:t>
            </a:r>
            <a:endParaRPr lang="en-IN" sz="1400" dirty="0">
              <a:solidFill>
                <a:srgbClr val="313131"/>
              </a:solidFill>
            </a:endParaRPr>
          </a:p>
        </p:txBody>
      </p:sp>
      <p:graphicFrame>
        <p:nvGraphicFramePr>
          <p:cNvPr id="8" name="Table 7"/>
          <p:cNvGraphicFramePr>
            <a:graphicFrameLocks noGrp="1"/>
          </p:cNvGraphicFramePr>
          <p:nvPr>
            <p:extLst>
              <p:ext uri="{D42A27DB-BD31-4B8C-83A1-F6EECF244321}">
                <p14:modId xmlns:p14="http://schemas.microsoft.com/office/powerpoint/2010/main" val="392859902"/>
              </p:ext>
            </p:extLst>
          </p:nvPr>
        </p:nvGraphicFramePr>
        <p:xfrm>
          <a:off x="469904" y="3989649"/>
          <a:ext cx="11252195" cy="996522"/>
        </p:xfrm>
        <a:graphic>
          <a:graphicData uri="http://schemas.openxmlformats.org/drawingml/2006/table">
            <a:tbl>
              <a:tblPr>
                <a:tableStyleId>{793D81CF-94F2-401A-BA57-92F5A7B2D0C5}</a:tableStyleId>
              </a:tblPr>
              <a:tblGrid>
                <a:gridCol w="3057275">
                  <a:extLst>
                    <a:ext uri="{9D8B030D-6E8A-4147-A177-3AD203B41FA5}">
                      <a16:colId xmlns:a16="http://schemas.microsoft.com/office/drawing/2014/main" val="691066506"/>
                    </a:ext>
                  </a:extLst>
                </a:gridCol>
                <a:gridCol w="819492">
                  <a:extLst>
                    <a:ext uri="{9D8B030D-6E8A-4147-A177-3AD203B41FA5}">
                      <a16:colId xmlns:a16="http://schemas.microsoft.com/office/drawing/2014/main" val="717944450"/>
                    </a:ext>
                  </a:extLst>
                </a:gridCol>
                <a:gridCol w="819492">
                  <a:extLst>
                    <a:ext uri="{9D8B030D-6E8A-4147-A177-3AD203B41FA5}">
                      <a16:colId xmlns:a16="http://schemas.microsoft.com/office/drawing/2014/main" val="1573940898"/>
                    </a:ext>
                  </a:extLst>
                </a:gridCol>
                <a:gridCol w="819492">
                  <a:extLst>
                    <a:ext uri="{9D8B030D-6E8A-4147-A177-3AD203B41FA5}">
                      <a16:colId xmlns:a16="http://schemas.microsoft.com/office/drawing/2014/main" val="1030158973"/>
                    </a:ext>
                  </a:extLst>
                </a:gridCol>
                <a:gridCol w="819492">
                  <a:extLst>
                    <a:ext uri="{9D8B030D-6E8A-4147-A177-3AD203B41FA5}">
                      <a16:colId xmlns:a16="http://schemas.microsoft.com/office/drawing/2014/main" val="2808795746"/>
                    </a:ext>
                  </a:extLst>
                </a:gridCol>
                <a:gridCol w="819492">
                  <a:extLst>
                    <a:ext uri="{9D8B030D-6E8A-4147-A177-3AD203B41FA5}">
                      <a16:colId xmlns:a16="http://schemas.microsoft.com/office/drawing/2014/main" val="3698412274"/>
                    </a:ext>
                  </a:extLst>
                </a:gridCol>
                <a:gridCol w="819492">
                  <a:extLst>
                    <a:ext uri="{9D8B030D-6E8A-4147-A177-3AD203B41FA5}">
                      <a16:colId xmlns:a16="http://schemas.microsoft.com/office/drawing/2014/main" val="2245610178"/>
                    </a:ext>
                  </a:extLst>
                </a:gridCol>
                <a:gridCol w="819492">
                  <a:extLst>
                    <a:ext uri="{9D8B030D-6E8A-4147-A177-3AD203B41FA5}">
                      <a16:colId xmlns:a16="http://schemas.microsoft.com/office/drawing/2014/main" val="3513746487"/>
                    </a:ext>
                  </a:extLst>
                </a:gridCol>
                <a:gridCol w="819492">
                  <a:extLst>
                    <a:ext uri="{9D8B030D-6E8A-4147-A177-3AD203B41FA5}">
                      <a16:colId xmlns:a16="http://schemas.microsoft.com/office/drawing/2014/main" val="1665823349"/>
                    </a:ext>
                  </a:extLst>
                </a:gridCol>
                <a:gridCol w="819492">
                  <a:extLst>
                    <a:ext uri="{9D8B030D-6E8A-4147-A177-3AD203B41FA5}">
                      <a16:colId xmlns:a16="http://schemas.microsoft.com/office/drawing/2014/main" val="970440006"/>
                    </a:ext>
                  </a:extLst>
                </a:gridCol>
                <a:gridCol w="819492">
                  <a:extLst>
                    <a:ext uri="{9D8B030D-6E8A-4147-A177-3AD203B41FA5}">
                      <a16:colId xmlns:a16="http://schemas.microsoft.com/office/drawing/2014/main" val="2662298946"/>
                    </a:ext>
                  </a:extLst>
                </a:gridCol>
              </a:tblGrid>
              <a:tr h="332174">
                <a:tc>
                  <a:txBody>
                    <a:bodyPr/>
                    <a:lstStyle/>
                    <a:p>
                      <a:pPr algn="l" fontAlgn="b"/>
                      <a:endParaRPr lang="en-IN" sz="1200" b="1" i="0" u="none" strike="noStrike" kern="1200" dirty="0">
                        <a:solidFill>
                          <a:schemeClr val="bg1"/>
                        </a:solidFill>
                        <a:effectLst/>
                        <a:latin typeface="+mn-lt"/>
                        <a:ea typeface="+mn-ea"/>
                        <a:cs typeface="+mn-cs"/>
                      </a:endParaRPr>
                    </a:p>
                  </a:txBody>
                  <a:tcPr marL="45720" marR="4572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FY20</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FY21</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FY22</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FY23</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FY24</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FY25</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FY26</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FY27</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FY28</a:t>
                      </a:r>
                      <a:endParaRPr lang="en-IN" sz="1200" b="1" i="0" u="none" strike="noStrike" dirty="0">
                        <a:solidFill>
                          <a:schemeClr val="bg1"/>
                        </a:solidFill>
                        <a:effectLst/>
                        <a:latin typeface="+mn-lt"/>
                      </a:endParaRPr>
                    </a:p>
                  </a:txBody>
                  <a:tcPr marL="45720" marR="45720" anchor="ctr">
                    <a:lnT w="12700" cap="flat" cmpd="sng" algn="ctr">
                      <a:noFill/>
                      <a:prstDash val="solid"/>
                      <a:round/>
                      <a:headEnd type="none" w="med" len="med"/>
                      <a:tailEnd type="none" w="med" len="med"/>
                    </a:lnT>
                    <a:solidFill>
                      <a:schemeClr val="tx1"/>
                    </a:solidFill>
                  </a:tcPr>
                </a:tc>
                <a:tc>
                  <a:txBody>
                    <a:bodyPr/>
                    <a:lstStyle/>
                    <a:p>
                      <a:pPr algn="ctr" fontAlgn="b"/>
                      <a:r>
                        <a:rPr lang="en-IN" sz="1200" b="1" i="0" u="none" strike="noStrike" dirty="0" smtClean="0">
                          <a:solidFill>
                            <a:schemeClr val="bg1"/>
                          </a:solidFill>
                          <a:effectLst/>
                          <a:latin typeface="+mn-lt"/>
                        </a:rPr>
                        <a:t>FY29</a:t>
                      </a:r>
                      <a:endParaRPr lang="en-IN" sz="1200" b="1" i="0" u="none" strike="noStrike" dirty="0">
                        <a:solidFill>
                          <a:schemeClr val="bg1"/>
                        </a:solidFill>
                        <a:effectLst/>
                        <a:latin typeface="+mn-lt"/>
                      </a:endParaRPr>
                    </a:p>
                  </a:txBody>
                  <a:tcPr marL="45720" marR="4572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tx1"/>
                    </a:solidFill>
                  </a:tcPr>
                </a:tc>
                <a:extLst>
                  <a:ext uri="{0D108BD9-81ED-4DB2-BD59-A6C34878D82A}">
                    <a16:rowId xmlns:a16="http://schemas.microsoft.com/office/drawing/2014/main" val="644037884"/>
                  </a:ext>
                </a:extLst>
              </a:tr>
              <a:tr h="332174">
                <a:tc>
                  <a:txBody>
                    <a:bodyPr/>
                    <a:lstStyle/>
                    <a:p>
                      <a:r>
                        <a:rPr lang="en-US" sz="1200" dirty="0" smtClean="0"/>
                        <a:t>Post Tax - Return on Equity</a:t>
                      </a:r>
                    </a:p>
                  </a:txBody>
                  <a:tcPr anchor="ctr">
                    <a:lnL w="12700"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16%</a:t>
                      </a:r>
                      <a:endParaRPr lang="en-IN" sz="1200" b="0" i="0" u="none" strike="noStrike" dirty="0">
                        <a:solidFill>
                          <a:srgbClr val="000000"/>
                        </a:solidFill>
                        <a:effectLst/>
                        <a:latin typeface="Verdana" panose="020B0604030504040204" pitchFamily="34" charset="0"/>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16%</a:t>
                      </a:r>
                      <a:endParaRPr lang="en-IN" sz="1200" b="0" i="0" u="none" strike="noStrike" dirty="0">
                        <a:solidFill>
                          <a:srgbClr val="000000"/>
                        </a:solidFill>
                        <a:effectLst/>
                        <a:latin typeface="Verdana" panose="020B0604030504040204" pitchFamily="34" charset="0"/>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16%</a:t>
                      </a:r>
                      <a:endParaRPr lang="en-IN" sz="1200" b="0" i="0" u="none" strike="noStrike" dirty="0">
                        <a:solidFill>
                          <a:srgbClr val="000000"/>
                        </a:solidFill>
                        <a:effectLst/>
                        <a:latin typeface="Verdana" panose="020B0604030504040204" pitchFamily="34" charset="0"/>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16%</a:t>
                      </a:r>
                      <a:endParaRPr lang="en-IN" sz="1200" b="0" i="0" u="none" strike="noStrike" dirty="0">
                        <a:solidFill>
                          <a:srgbClr val="000000"/>
                        </a:solidFill>
                        <a:effectLst/>
                        <a:latin typeface="Verdana" panose="020B0604030504040204" pitchFamily="34" charset="0"/>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16%</a:t>
                      </a:r>
                    </a:p>
                  </a:txBody>
                  <a:tcPr marL="0" marR="0" marT="0" marB="0" anchor="ctr">
                    <a:lnR w="12700"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19380043"/>
                  </a:ext>
                </a:extLst>
              </a:tr>
              <a:tr h="332174">
                <a:tc>
                  <a:txBody>
                    <a:bodyPr/>
                    <a:lstStyle/>
                    <a:p>
                      <a:r>
                        <a:rPr lang="en-US" sz="1200" dirty="0" smtClean="0"/>
                        <a:t>Post Tax</a:t>
                      </a:r>
                      <a:r>
                        <a:rPr lang="en-US" sz="1200" baseline="0" dirty="0" smtClean="0"/>
                        <a:t> - </a:t>
                      </a:r>
                      <a:r>
                        <a:rPr lang="en-US" sz="1200" dirty="0" smtClean="0"/>
                        <a:t>Return on NFA</a:t>
                      </a:r>
                      <a:endParaRPr lang="en-IN" sz="1200" dirty="0"/>
                    </a:p>
                  </a:txBody>
                  <a:tcPr anchor="ctr">
                    <a:lnL w="12700"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5</a:t>
                      </a:r>
                      <a:r>
                        <a:rPr lang="en-IN" sz="1200" b="0" i="0" u="none" strike="noStrike" dirty="0" smtClean="0">
                          <a:solidFill>
                            <a:srgbClr val="000000"/>
                          </a:solidFill>
                          <a:effectLst/>
                          <a:latin typeface="Verdana" panose="020B0604030504040204" pitchFamily="34" charset="0"/>
                        </a:rPr>
                        <a:t>%</a:t>
                      </a:r>
                      <a:endParaRPr lang="en-IN" sz="1200" b="0" i="0" u="none" strike="noStrike" dirty="0">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5%</a:t>
                      </a:r>
                      <a:endParaRPr lang="en-IN" sz="1200" b="0" i="0" u="none" strike="noStrike" dirty="0">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5%</a:t>
                      </a:r>
                      <a:endParaRPr lang="en-IN" sz="1200" b="0" i="0" u="none" strike="noStrike" dirty="0">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6</a:t>
                      </a:r>
                      <a:r>
                        <a:rPr lang="en-IN" sz="1200" b="0" i="0" u="none" strike="noStrike" dirty="0" smtClean="0">
                          <a:solidFill>
                            <a:srgbClr val="000000"/>
                          </a:solidFill>
                          <a:effectLst/>
                          <a:latin typeface="Verdana" panose="020B0604030504040204" pitchFamily="34" charset="0"/>
                        </a:rPr>
                        <a:t>%</a:t>
                      </a:r>
                      <a:endParaRPr lang="en-IN" sz="1200" b="0" i="0" u="none" strike="noStrike" dirty="0">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Verdana" panose="020B0604030504040204" pitchFamily="34" charset="0"/>
                        </a:rPr>
                        <a:t>6%</a:t>
                      </a:r>
                      <a:endParaRPr lang="en-IN" sz="1200" b="0" i="0" u="none" strike="noStrike" dirty="0">
                        <a:solidFill>
                          <a:srgbClr val="000000"/>
                        </a:solidFill>
                        <a:effectLst/>
                        <a:latin typeface="Verdana" panose="020B0604030504040204" pitchFamily="34" charset="0"/>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Verdana" panose="020B0604030504040204" pitchFamily="34" charset="0"/>
                        </a:rPr>
                        <a:t>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Verdana" panose="020B0604030504040204" pitchFamily="34" charset="0"/>
                        </a:rPr>
                        <a:t>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Verdana" panose="020B0604030504040204" pitchFamily="34" charset="0"/>
                        </a:rPr>
                        <a:t>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Verdana" panose="020B0604030504040204" pitchFamily="34" charset="0"/>
                        </a:rPr>
                        <a:t>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Verdana" panose="020B0604030504040204" pitchFamily="34" charset="0"/>
                        </a:rPr>
                        <a:t>6%</a:t>
                      </a:r>
                    </a:p>
                  </a:txBody>
                  <a:tcPr marL="0" marR="0" marT="0" marB="0" anchor="ctr">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45894840"/>
                  </a:ext>
                </a:extLst>
              </a:tr>
            </a:tbl>
          </a:graphicData>
        </a:graphic>
      </p:graphicFrame>
    </p:spTree>
    <p:extLst>
      <p:ext uri="{BB962C8B-B14F-4D97-AF65-F5344CB8AC3E}">
        <p14:creationId xmlns:p14="http://schemas.microsoft.com/office/powerpoint/2010/main" val="124724186"/>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Operation and Maintenance (O&amp;M) cost</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sp>
        <p:nvSpPr>
          <p:cNvPr id="15" name="TextBox 14"/>
          <p:cNvSpPr txBox="1"/>
          <p:nvPr/>
        </p:nvSpPr>
        <p:spPr>
          <a:xfrm>
            <a:off x="536575" y="4524211"/>
            <a:ext cx="11252200" cy="215444"/>
          </a:xfrm>
          <a:prstGeom prst="rect">
            <a:avLst/>
          </a:prstGeom>
          <a:noFill/>
        </p:spPr>
        <p:txBody>
          <a:bodyPr wrap="square" lIns="0" tIns="0" rIns="0" bIns="0" rtlCol="0">
            <a:spAutoFit/>
          </a:bodyPr>
          <a:lstStyle/>
          <a:p>
            <a:pPr marL="203200" indent="-203200">
              <a:spcBef>
                <a:spcPts val="600"/>
              </a:spcBef>
              <a:buSzPct val="100000"/>
              <a:buFont typeface="Arial"/>
              <a:buChar char="•"/>
            </a:pPr>
            <a:r>
              <a:rPr lang="en-US" sz="1400" dirty="0" smtClean="0">
                <a:solidFill>
                  <a:srgbClr val="313131"/>
                </a:solidFill>
              </a:rPr>
              <a:t>Average inflation rate for last 5 years is nearly 6% </a:t>
            </a:r>
            <a:endParaRPr lang="en-US" sz="1400" dirty="0">
              <a:solidFill>
                <a:srgbClr val="313131"/>
              </a:solidFill>
            </a:endParaRPr>
          </a:p>
        </p:txBody>
      </p:sp>
      <p:graphicFrame>
        <p:nvGraphicFramePr>
          <p:cNvPr id="97" name="Table 96"/>
          <p:cNvGraphicFramePr>
            <a:graphicFrameLocks noGrp="1"/>
          </p:cNvGraphicFramePr>
          <p:nvPr>
            <p:extLst>
              <p:ext uri="{D42A27DB-BD31-4B8C-83A1-F6EECF244321}">
                <p14:modId xmlns:p14="http://schemas.microsoft.com/office/powerpoint/2010/main" val="1433176205"/>
              </p:ext>
            </p:extLst>
          </p:nvPr>
        </p:nvGraphicFramePr>
        <p:xfrm>
          <a:off x="536575" y="2377591"/>
          <a:ext cx="11185525" cy="1920240"/>
        </p:xfrm>
        <a:graphic>
          <a:graphicData uri="http://schemas.openxmlformats.org/drawingml/2006/table">
            <a:tbl>
              <a:tblPr firstRow="1">
                <a:tableStyleId>{793D81CF-94F2-401A-BA57-92F5A7B2D0C5}</a:tableStyleId>
              </a:tblPr>
              <a:tblGrid>
                <a:gridCol w="1401118">
                  <a:extLst>
                    <a:ext uri="{9D8B030D-6E8A-4147-A177-3AD203B41FA5}">
                      <a16:colId xmlns:a16="http://schemas.microsoft.com/office/drawing/2014/main" val="436756911"/>
                    </a:ext>
                  </a:extLst>
                </a:gridCol>
                <a:gridCol w="3230187">
                  <a:extLst>
                    <a:ext uri="{9D8B030D-6E8A-4147-A177-3AD203B41FA5}">
                      <a16:colId xmlns:a16="http://schemas.microsoft.com/office/drawing/2014/main" val="3514582486"/>
                    </a:ext>
                  </a:extLst>
                </a:gridCol>
                <a:gridCol w="2184740">
                  <a:extLst>
                    <a:ext uri="{9D8B030D-6E8A-4147-A177-3AD203B41FA5}">
                      <a16:colId xmlns:a16="http://schemas.microsoft.com/office/drawing/2014/main" val="2983423924"/>
                    </a:ext>
                  </a:extLst>
                </a:gridCol>
                <a:gridCol w="2184740">
                  <a:extLst>
                    <a:ext uri="{9D8B030D-6E8A-4147-A177-3AD203B41FA5}">
                      <a16:colId xmlns:a16="http://schemas.microsoft.com/office/drawing/2014/main" val="4127322218"/>
                    </a:ext>
                  </a:extLst>
                </a:gridCol>
                <a:gridCol w="2184740">
                  <a:extLst>
                    <a:ext uri="{9D8B030D-6E8A-4147-A177-3AD203B41FA5}">
                      <a16:colId xmlns:a16="http://schemas.microsoft.com/office/drawing/2014/main" val="1495792658"/>
                    </a:ext>
                  </a:extLst>
                </a:gridCol>
              </a:tblGrid>
              <a:tr h="221332">
                <a:tc>
                  <a:txBody>
                    <a:bodyPr/>
                    <a:lstStyle/>
                    <a:p>
                      <a:pPr algn="ctr" fontAlgn="b"/>
                      <a:endParaRPr lang="en-IN" sz="1200" b="1" i="0" u="none" strike="noStrike" dirty="0">
                        <a:solidFill>
                          <a:schemeClr val="bg1"/>
                        </a:solidFill>
                        <a:effectLst/>
                        <a:latin typeface="+mj-lt"/>
                      </a:endParaRPr>
                    </a:p>
                  </a:txBody>
                  <a:tcPr marL="45720" marR="45720" anchor="ctr">
                    <a:lnR w="12700" cap="flat" cmpd="sng" algn="ctr">
                      <a:solidFill>
                        <a:schemeClr val="tx1"/>
                      </a:solidFill>
                      <a:prstDash val="solid"/>
                      <a:round/>
                      <a:headEnd type="none" w="med" len="med"/>
                      <a:tailEnd type="none" w="med" len="med"/>
                    </a:lnR>
                  </a:tcPr>
                </a:tc>
                <a:tc>
                  <a:txBody>
                    <a:bodyPr/>
                    <a:lstStyle/>
                    <a:p>
                      <a:pPr algn="ctr" fontAlgn="b"/>
                      <a:r>
                        <a:rPr lang="en-US" sz="1200" b="1" i="0" u="none" strike="noStrike" dirty="0" smtClean="0">
                          <a:solidFill>
                            <a:schemeClr val="bg1"/>
                          </a:solidFill>
                          <a:effectLst/>
                          <a:latin typeface="+mj-lt"/>
                        </a:rPr>
                        <a:t>Approach</a:t>
                      </a:r>
                      <a:endParaRPr lang="en-IN" sz="1200" b="1" i="0" u="none" strike="noStrike" dirty="0">
                        <a:solidFill>
                          <a:schemeClr val="bg1"/>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gridSpan="3">
                  <a:txBody>
                    <a:bodyPr/>
                    <a:lstStyle/>
                    <a:p>
                      <a:pPr algn="ctr" fontAlgn="b"/>
                      <a:r>
                        <a:rPr lang="en-US" sz="1200" b="1" i="0" u="none" strike="noStrike" dirty="0" smtClean="0">
                          <a:solidFill>
                            <a:schemeClr val="bg1"/>
                          </a:solidFill>
                          <a:effectLst/>
                          <a:latin typeface="+mj-lt"/>
                        </a:rPr>
                        <a:t>Y-o-Y Escalation Rate or</a:t>
                      </a:r>
                      <a:r>
                        <a:rPr lang="en-US" sz="1200" b="1" i="0" u="none" strike="noStrike" baseline="0" dirty="0" smtClean="0">
                          <a:solidFill>
                            <a:schemeClr val="bg1"/>
                          </a:solidFill>
                          <a:effectLst/>
                          <a:latin typeface="+mj-lt"/>
                        </a:rPr>
                        <a:t> </a:t>
                      </a:r>
                      <a:r>
                        <a:rPr lang="en-US" sz="1200" b="1" i="0" u="none" strike="noStrike" dirty="0" smtClean="0">
                          <a:solidFill>
                            <a:schemeClr val="bg1"/>
                          </a:solidFill>
                          <a:effectLst/>
                          <a:latin typeface="+mj-lt"/>
                        </a:rPr>
                        <a:t> % of GFA</a:t>
                      </a:r>
                      <a:endParaRPr lang="en-IN" sz="1200" b="1" i="0" u="none" strike="noStrike" dirty="0">
                        <a:solidFill>
                          <a:schemeClr val="bg1"/>
                        </a:solidFill>
                        <a:effectLst/>
                        <a:latin typeface="+mj-lt"/>
                      </a:endParaRPr>
                    </a:p>
                  </a:txBody>
                  <a:tcPr marL="45720" marR="45720" anchor="ctr">
                    <a:lnL w="12700" cap="flat" cmpd="sng" algn="ctr">
                      <a:solidFill>
                        <a:schemeClr val="tx1"/>
                      </a:solidFill>
                      <a:prstDash val="solid"/>
                      <a:round/>
                      <a:headEnd type="none" w="med" len="med"/>
                      <a:tailEnd type="none" w="med" len="med"/>
                    </a:lnL>
                  </a:tcPr>
                </a:tc>
                <a:tc hMerge="1">
                  <a:txBody>
                    <a:bodyPr/>
                    <a:lstStyle/>
                    <a:p>
                      <a:pPr algn="ctr" fontAlgn="b"/>
                      <a:endParaRPr lang="en-IN" sz="1200" b="1" i="0" u="none" strike="noStrike" dirty="0">
                        <a:solidFill>
                          <a:schemeClr val="bg1"/>
                        </a:solidFill>
                        <a:effectLst/>
                        <a:latin typeface="+mj-lt"/>
                      </a:endParaRPr>
                    </a:p>
                  </a:txBody>
                  <a:tcPr marL="45720" marR="45720" anchor="ctr"/>
                </a:tc>
                <a:tc hMerge="1">
                  <a:txBody>
                    <a:bodyPr/>
                    <a:lstStyle/>
                    <a:p>
                      <a:pPr algn="ctr" fontAlgn="b"/>
                      <a:endParaRPr lang="en-IN" sz="1200" b="1" i="0" u="none" strike="noStrike" dirty="0">
                        <a:solidFill>
                          <a:schemeClr val="bg1"/>
                        </a:solidFill>
                        <a:effectLst/>
                        <a:latin typeface="+mj-lt"/>
                      </a:endParaRPr>
                    </a:p>
                  </a:txBody>
                  <a:tcPr marL="45720" marR="45720" anchor="ctr"/>
                </a:tc>
                <a:extLst>
                  <a:ext uri="{0D108BD9-81ED-4DB2-BD59-A6C34878D82A}">
                    <a16:rowId xmlns:a16="http://schemas.microsoft.com/office/drawing/2014/main" val="2035513967"/>
                  </a:ext>
                </a:extLst>
              </a:tr>
              <a:tr h="221332">
                <a:tc>
                  <a:txBody>
                    <a:bodyPr/>
                    <a:lstStyle/>
                    <a:p>
                      <a:pPr algn="l" fontAlgn="b"/>
                      <a:endParaRPr lang="en-IN" sz="1200" b="0" i="0" u="none" strike="noStrike" dirty="0">
                        <a:solidFill>
                          <a:srgbClr val="000000"/>
                        </a:solidFill>
                        <a:effectLst/>
                        <a:latin typeface="+mj-lt"/>
                      </a:endParaRPr>
                    </a:p>
                  </a:txBody>
                  <a:tcPr marL="45720" marR="45720" anchor="ctr">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20000"/>
                        <a:lumOff val="80000"/>
                      </a:schemeClr>
                    </a:solidFill>
                  </a:tcPr>
                </a:tc>
                <a:tc>
                  <a:txBody>
                    <a:bodyPr/>
                    <a:lstStyle/>
                    <a:p>
                      <a:pPr algn="ctr" fontAlgn="b"/>
                      <a:r>
                        <a:rPr lang="en-US" sz="1200" b="1" i="0" u="none" strike="noStrike" dirty="0" smtClean="0">
                          <a:solidFill>
                            <a:srgbClr val="000000"/>
                          </a:solidFill>
                          <a:effectLst/>
                          <a:latin typeface="+mj-lt"/>
                        </a:rPr>
                        <a:t>Generation</a:t>
                      </a:r>
                      <a:endParaRPr lang="en-IN" sz="1200" b="1"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solidFill>
                      <a:schemeClr val="accent6">
                        <a:lumMod val="20000"/>
                        <a:lumOff val="80000"/>
                      </a:schemeClr>
                    </a:solidFill>
                  </a:tcPr>
                </a:tc>
                <a:tc>
                  <a:txBody>
                    <a:bodyPr/>
                    <a:lstStyle/>
                    <a:p>
                      <a:pPr algn="ctr" fontAlgn="b"/>
                      <a:r>
                        <a:rPr lang="en-US" sz="1200" b="1" i="0" u="none" strike="noStrike" dirty="0" smtClean="0">
                          <a:solidFill>
                            <a:srgbClr val="000000"/>
                          </a:solidFill>
                          <a:effectLst/>
                          <a:latin typeface="+mj-lt"/>
                        </a:rPr>
                        <a:t>Transmission</a:t>
                      </a:r>
                      <a:endParaRPr lang="en-IN" sz="1200" b="1" i="0" u="none" strike="noStrike" dirty="0">
                        <a:solidFill>
                          <a:srgbClr val="000000"/>
                        </a:solidFill>
                        <a:effectLst/>
                        <a:latin typeface="+mj-lt"/>
                      </a:endParaRPr>
                    </a:p>
                  </a:txBody>
                  <a:tcPr marL="45720" marR="45720" anchor="ctr">
                    <a:solidFill>
                      <a:schemeClr val="accent6">
                        <a:lumMod val="20000"/>
                        <a:lumOff val="80000"/>
                      </a:schemeClr>
                    </a:solidFill>
                  </a:tcPr>
                </a:tc>
                <a:tc>
                  <a:txBody>
                    <a:bodyPr/>
                    <a:lstStyle/>
                    <a:p>
                      <a:pPr algn="ctr" fontAlgn="b"/>
                      <a:r>
                        <a:rPr lang="en-US" sz="1200" b="1" i="0" u="none" strike="noStrike" dirty="0" smtClean="0">
                          <a:solidFill>
                            <a:srgbClr val="000000"/>
                          </a:solidFill>
                          <a:effectLst/>
                          <a:latin typeface="+mj-lt"/>
                        </a:rPr>
                        <a:t>Distribution</a:t>
                      </a:r>
                      <a:endParaRPr lang="en-IN" sz="1200" b="1" i="0" u="none" strike="noStrike" dirty="0">
                        <a:solidFill>
                          <a:srgbClr val="000000"/>
                        </a:solidFill>
                        <a:effectLst/>
                        <a:latin typeface="+mj-lt"/>
                      </a:endParaRPr>
                    </a:p>
                  </a:txBody>
                  <a:tcPr marL="45720" marR="45720" anchor="ctr">
                    <a:solidFill>
                      <a:schemeClr val="accent6">
                        <a:lumMod val="20000"/>
                        <a:lumOff val="80000"/>
                      </a:schemeClr>
                    </a:solidFill>
                  </a:tcPr>
                </a:tc>
                <a:extLst>
                  <a:ext uri="{0D108BD9-81ED-4DB2-BD59-A6C34878D82A}">
                    <a16:rowId xmlns:a16="http://schemas.microsoft.com/office/drawing/2014/main" val="1213495178"/>
                  </a:ext>
                </a:extLst>
              </a:tr>
              <a:tr h="368887">
                <a:tc>
                  <a:txBody>
                    <a:bodyPr/>
                    <a:lstStyle/>
                    <a:p>
                      <a:pPr algn="l" fontAlgn="b"/>
                      <a:r>
                        <a:rPr lang="en-IN" sz="1200" u="none" strike="noStrike" dirty="0" smtClean="0">
                          <a:effectLst/>
                          <a:latin typeface="+mj-lt"/>
                        </a:rPr>
                        <a:t>Employee Expense</a:t>
                      </a:r>
                      <a:endParaRPr lang="en-IN" sz="1200" b="0" i="0" u="none" strike="noStrike" dirty="0">
                        <a:solidFill>
                          <a:srgbClr val="000000"/>
                        </a:solidFill>
                        <a:effectLst/>
                        <a:latin typeface="+mj-lt"/>
                      </a:endParaRPr>
                    </a:p>
                  </a:txBody>
                  <a:tcPr marL="45720" marR="45720" anchor="ctr">
                    <a:lnR w="12700" cap="flat" cmpd="sng" algn="ctr">
                      <a:solidFill>
                        <a:schemeClr val="tx1"/>
                      </a:solidFill>
                      <a:prstDash val="solid"/>
                      <a:round/>
                      <a:headEnd type="none" w="med" len="med"/>
                      <a:tailEnd type="none" w="med" len="med"/>
                    </a:lnR>
                  </a:tcPr>
                </a:tc>
                <a:tc>
                  <a:txBody>
                    <a:bodyPr/>
                    <a:lstStyle/>
                    <a:p>
                      <a:pPr algn="l" fontAlgn="b"/>
                      <a:r>
                        <a:rPr lang="en-US" sz="1200" b="0" i="0" u="none" strike="noStrike" dirty="0" smtClean="0">
                          <a:solidFill>
                            <a:srgbClr val="000000"/>
                          </a:solidFill>
                          <a:effectLst/>
                          <a:latin typeface="+mj-lt"/>
                        </a:rPr>
                        <a:t>Based on Annual Escalation Rates</a:t>
                      </a:r>
                      <a:endParaRPr lang="en-IN" sz="1200" b="0"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tcP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tc>
                <a:extLst>
                  <a:ext uri="{0D108BD9-81ED-4DB2-BD59-A6C34878D82A}">
                    <a16:rowId xmlns:a16="http://schemas.microsoft.com/office/drawing/2014/main" val="2691039793"/>
                  </a:ext>
                </a:extLst>
              </a:tr>
              <a:tr h="221332">
                <a:tc>
                  <a:txBody>
                    <a:bodyPr/>
                    <a:lstStyle/>
                    <a:p>
                      <a:pPr algn="l" fontAlgn="b"/>
                      <a:r>
                        <a:rPr lang="en-IN" sz="1200" u="none" strike="noStrike" dirty="0" smtClean="0">
                          <a:effectLst/>
                          <a:latin typeface="+mj-lt"/>
                        </a:rPr>
                        <a:t>R&amp;M</a:t>
                      </a:r>
                      <a:endParaRPr lang="en-IN" sz="1200" b="0" i="0" u="none" strike="noStrike" dirty="0">
                        <a:solidFill>
                          <a:srgbClr val="000000"/>
                        </a:solidFill>
                        <a:effectLst/>
                        <a:latin typeface="+mj-lt"/>
                      </a:endParaRPr>
                    </a:p>
                  </a:txBody>
                  <a:tcPr marL="45720" marR="45720" anchor="ctr">
                    <a:lnR w="12700" cap="flat" cmpd="sng" algn="ctr">
                      <a:solidFill>
                        <a:schemeClr val="tx1"/>
                      </a:solidFill>
                      <a:prstDash val="solid"/>
                      <a:round/>
                      <a:headEnd type="none" w="med" len="med"/>
                      <a:tailEnd type="none" w="med" len="med"/>
                    </a:lnR>
                  </a:tcPr>
                </a:tc>
                <a:tc>
                  <a:txBody>
                    <a:bodyPr/>
                    <a:lstStyle/>
                    <a:p>
                      <a:pPr algn="l" fontAlgn="b"/>
                      <a:r>
                        <a:rPr lang="en-US" sz="1200" b="0" i="0" u="none" strike="noStrike" kern="1200" dirty="0" smtClean="0">
                          <a:solidFill>
                            <a:srgbClr val="000000"/>
                          </a:solidFill>
                          <a:effectLst/>
                          <a:latin typeface="+mn-lt"/>
                          <a:ea typeface="+mn-ea"/>
                          <a:cs typeface="+mn-cs"/>
                        </a:rPr>
                        <a:t>Based on Annual Escalation Rates</a:t>
                      </a:r>
                      <a:endParaRPr lang="en-IN" sz="1200" b="0"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Verdana"/>
                          <a:ea typeface="+mn-ea"/>
                          <a:cs typeface="+mn-cs"/>
                        </a:rPr>
                        <a:t>Average inflation for last 5 years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45720" marR="45720" anchor="ctr">
                    <a:lnL w="12700" cap="flat" cmpd="sng" algn="ctr">
                      <a:solidFill>
                        <a:schemeClr val="tx1"/>
                      </a:solidFill>
                      <a:prstDash val="solid"/>
                      <a:round/>
                      <a:headEnd type="none" w="med" len="med"/>
                      <a:tailEnd type="none" w="med" len="med"/>
                    </a:ln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Verdana"/>
                          <a:ea typeface="+mn-ea"/>
                          <a:cs typeface="+mn-cs"/>
                        </a:rPr>
                        <a:t>Average inflation for last 5 years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45720" marR="45720" anchor="ct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Verdana"/>
                          <a:ea typeface="+mn-ea"/>
                          <a:cs typeface="+mn-cs"/>
                        </a:rPr>
                        <a:t>Average inflation for last 5 years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45720" marR="45720" anchor="ctr"/>
                </a:tc>
                <a:extLst>
                  <a:ext uri="{0D108BD9-81ED-4DB2-BD59-A6C34878D82A}">
                    <a16:rowId xmlns:a16="http://schemas.microsoft.com/office/drawing/2014/main" val="3609493907"/>
                  </a:ext>
                </a:extLst>
              </a:tr>
              <a:tr h="368887">
                <a:tc>
                  <a:txBody>
                    <a:bodyPr/>
                    <a:lstStyle/>
                    <a:p>
                      <a:pPr algn="l" fontAlgn="b"/>
                      <a:r>
                        <a:rPr lang="en-IN" sz="1200" u="none" strike="noStrike" dirty="0" smtClean="0">
                          <a:effectLst/>
                          <a:latin typeface="+mj-lt"/>
                        </a:rPr>
                        <a:t>A&amp;G</a:t>
                      </a:r>
                      <a:endParaRPr lang="en-IN" sz="1200" b="0" i="0" u="none" strike="noStrike" dirty="0">
                        <a:solidFill>
                          <a:srgbClr val="000000"/>
                        </a:solidFill>
                        <a:effectLst/>
                        <a:latin typeface="+mj-lt"/>
                      </a:endParaRPr>
                    </a:p>
                  </a:txBody>
                  <a:tcPr marL="45720" marR="45720" anchor="ctr">
                    <a:lnR w="12700" cap="flat" cmpd="sng" algn="ctr">
                      <a:solidFill>
                        <a:schemeClr val="tx1"/>
                      </a:solidFill>
                      <a:prstDash val="solid"/>
                      <a:round/>
                      <a:headEnd type="none" w="med" len="med"/>
                      <a:tailEnd type="none" w="med" len="med"/>
                    </a:lnR>
                  </a:tcPr>
                </a:tc>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n-lt"/>
                          <a:ea typeface="+mn-ea"/>
                          <a:cs typeface="+mn-cs"/>
                        </a:rPr>
                        <a:t>Based on Annual Escalation Rates</a:t>
                      </a:r>
                      <a:endParaRPr lang="en-IN" sz="1200" b="0" i="0" u="none" strike="noStrike" kern="1200" dirty="0" smtClean="0">
                        <a:solidFill>
                          <a:srgbClr val="000000"/>
                        </a:solidFill>
                        <a:effectLst/>
                        <a:latin typeface="+mn-lt"/>
                        <a:ea typeface="+mn-ea"/>
                        <a:cs typeface="+mn-cs"/>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lnL w="12700" cap="flat" cmpd="sng" algn="ctr">
                      <a:solidFill>
                        <a:schemeClr val="tx1"/>
                      </a:solidFill>
                      <a:prstDash val="solid"/>
                      <a:round/>
                      <a:headEnd type="none" w="med" len="med"/>
                      <a:tailEnd type="none" w="med" len="med"/>
                    </a:lnL>
                  </a:tcP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tc>
                <a:tc>
                  <a:txBody>
                    <a:bodyPr/>
                    <a:lstStyle/>
                    <a:p>
                      <a:pPr algn="ctr" fontAlgn="b"/>
                      <a:r>
                        <a:rPr lang="en-US" sz="1200" b="0" i="0" u="none" strike="noStrike" baseline="0" dirty="0" smtClean="0">
                          <a:solidFill>
                            <a:srgbClr val="000000"/>
                          </a:solidFill>
                          <a:effectLst/>
                          <a:latin typeface="+mj-lt"/>
                        </a:rPr>
                        <a:t>Average inflation for last 5 years</a:t>
                      </a:r>
                      <a:endParaRPr lang="en-IN" sz="1200" b="0" i="0" u="none" strike="noStrike" dirty="0">
                        <a:solidFill>
                          <a:srgbClr val="000000"/>
                        </a:solidFill>
                        <a:effectLst/>
                        <a:latin typeface="+mj-lt"/>
                      </a:endParaRPr>
                    </a:p>
                  </a:txBody>
                  <a:tcPr marL="45720" marR="45720" anchor="ctr"/>
                </a:tc>
                <a:extLst>
                  <a:ext uri="{0D108BD9-81ED-4DB2-BD59-A6C34878D82A}">
                    <a16:rowId xmlns:a16="http://schemas.microsoft.com/office/drawing/2014/main" val="852836009"/>
                  </a:ext>
                </a:extLst>
              </a:tr>
            </a:tbl>
          </a:graphicData>
        </a:graphic>
      </p:graphicFrame>
      <p:sp>
        <p:nvSpPr>
          <p:cNvPr id="98" name="TextBox 97"/>
          <p:cNvSpPr txBox="1"/>
          <p:nvPr/>
        </p:nvSpPr>
        <p:spPr>
          <a:xfrm>
            <a:off x="536575" y="1828045"/>
            <a:ext cx="11252200" cy="215444"/>
          </a:xfrm>
          <a:prstGeom prst="rect">
            <a:avLst/>
          </a:prstGeom>
          <a:noFill/>
        </p:spPr>
        <p:txBody>
          <a:bodyPr wrap="square" lIns="0" tIns="0" rIns="0" bIns="0" rtlCol="0">
            <a:spAutoFit/>
          </a:bodyPr>
          <a:lstStyle/>
          <a:p>
            <a:pPr marL="203200" indent="-203200">
              <a:spcAft>
                <a:spcPts val="1200"/>
              </a:spcAft>
              <a:buSzPct val="100000"/>
              <a:buFont typeface="Arial"/>
              <a:buChar char="•"/>
            </a:pPr>
            <a:r>
              <a:rPr lang="en-US" sz="1400" dirty="0" smtClean="0">
                <a:solidFill>
                  <a:srgbClr val="313131"/>
                </a:solidFill>
              </a:rPr>
              <a:t>O&amp;M cost of Generation, transmission and distribution functions escalated at average inflation rate of last 5 year</a:t>
            </a:r>
          </a:p>
        </p:txBody>
      </p:sp>
    </p:spTree>
    <p:extLst>
      <p:ext uri="{BB962C8B-B14F-4D97-AF65-F5344CB8AC3E}">
        <p14:creationId xmlns:p14="http://schemas.microsoft.com/office/powerpoint/2010/main" val="1256669559"/>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Working Capital and other parameters</a:t>
            </a:r>
            <a:endParaRPr lang="en-IN" dirty="0"/>
          </a:p>
        </p:txBody>
      </p:sp>
      <p:sp>
        <p:nvSpPr>
          <p:cNvPr id="3" name="Title 2"/>
          <p:cNvSpPr>
            <a:spLocks noGrp="1"/>
          </p:cNvSpPr>
          <p:nvPr>
            <p:ph type="title"/>
          </p:nvPr>
        </p:nvSpPr>
        <p:spPr/>
        <p:txBody>
          <a:bodyPr/>
          <a:lstStyle/>
          <a:p>
            <a:r>
              <a:rPr lang="en-IN" dirty="0" smtClean="0"/>
              <a:t>Financial Parameters</a:t>
            </a:r>
            <a:endParaRPr lang="en-IN" dirty="0"/>
          </a:p>
        </p:txBody>
      </p:sp>
      <p:sp>
        <p:nvSpPr>
          <p:cNvPr id="4" name="Content Placeholder 3"/>
          <p:cNvSpPr txBox="1">
            <a:spLocks/>
          </p:cNvSpPr>
          <p:nvPr/>
        </p:nvSpPr>
        <p:spPr>
          <a:xfrm>
            <a:off x="469901" y="1500933"/>
            <a:ext cx="11252200" cy="1091631"/>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a:spcAft>
                <a:spcPts val="1200"/>
              </a:spcAft>
            </a:pPr>
            <a:r>
              <a:rPr lang="en-US" sz="1400" b="1" dirty="0" smtClean="0">
                <a:solidFill>
                  <a:schemeClr val="accent1"/>
                </a:solidFill>
              </a:rPr>
              <a:t>Working Capital:</a:t>
            </a:r>
          </a:p>
          <a:p>
            <a:pPr marL="203200" indent="-203200">
              <a:spcAft>
                <a:spcPts val="1200"/>
              </a:spcAft>
              <a:buFont typeface="Arial"/>
              <a:buChar char="•"/>
            </a:pPr>
            <a:r>
              <a:rPr lang="en-US" sz="1400" dirty="0">
                <a:solidFill>
                  <a:srgbClr val="313131"/>
                </a:solidFill>
              </a:rPr>
              <a:t>The cost projections calculate working capital requirement to funds net current assets. Interest on working capital loan is taken as an expense item in overall costs of NEA; Following assumptions has been considered for the computation of Working Capital requirement</a:t>
            </a:r>
          </a:p>
          <a:p>
            <a:pPr>
              <a:spcAft>
                <a:spcPts val="1200"/>
              </a:spcAft>
            </a:pPr>
            <a:endParaRPr lang="en-US" sz="1400" dirty="0" smtClean="0"/>
          </a:p>
          <a:p>
            <a:pPr>
              <a:spcAft>
                <a:spcPts val="1200"/>
              </a:spcAft>
            </a:pPr>
            <a:endParaRPr lang="en-IN" sz="1400" dirty="0"/>
          </a:p>
        </p:txBody>
      </p:sp>
      <p:graphicFrame>
        <p:nvGraphicFramePr>
          <p:cNvPr id="5" name="Table 4"/>
          <p:cNvGraphicFramePr>
            <a:graphicFrameLocks noGrp="1"/>
          </p:cNvGraphicFramePr>
          <p:nvPr>
            <p:extLst>
              <p:ext uri="{D42A27DB-BD31-4B8C-83A1-F6EECF244321}">
                <p14:modId xmlns:p14="http://schemas.microsoft.com/office/powerpoint/2010/main" val="2354244688"/>
              </p:ext>
            </p:extLst>
          </p:nvPr>
        </p:nvGraphicFramePr>
        <p:xfrm>
          <a:off x="439796" y="2616687"/>
          <a:ext cx="11282307" cy="1907686"/>
        </p:xfrm>
        <a:graphic>
          <a:graphicData uri="http://schemas.openxmlformats.org/drawingml/2006/table">
            <a:tbl>
              <a:tblPr firstRow="1">
                <a:tableStyleId>{793D81CF-94F2-401A-BA57-92F5A7B2D0C5}</a:tableStyleId>
              </a:tblPr>
              <a:tblGrid>
                <a:gridCol w="2910024">
                  <a:extLst>
                    <a:ext uri="{9D8B030D-6E8A-4147-A177-3AD203B41FA5}">
                      <a16:colId xmlns:a16="http://schemas.microsoft.com/office/drawing/2014/main" val="863297677"/>
                    </a:ext>
                  </a:extLst>
                </a:gridCol>
                <a:gridCol w="1813431">
                  <a:extLst>
                    <a:ext uri="{9D8B030D-6E8A-4147-A177-3AD203B41FA5}">
                      <a16:colId xmlns:a16="http://schemas.microsoft.com/office/drawing/2014/main" val="2194572462"/>
                    </a:ext>
                  </a:extLst>
                </a:gridCol>
                <a:gridCol w="1093142">
                  <a:extLst>
                    <a:ext uri="{9D8B030D-6E8A-4147-A177-3AD203B41FA5}">
                      <a16:colId xmlns:a16="http://schemas.microsoft.com/office/drawing/2014/main" val="1517990252"/>
                    </a:ext>
                  </a:extLst>
                </a:gridCol>
                <a:gridCol w="1093142">
                  <a:extLst>
                    <a:ext uri="{9D8B030D-6E8A-4147-A177-3AD203B41FA5}">
                      <a16:colId xmlns:a16="http://schemas.microsoft.com/office/drawing/2014/main" val="3661073675"/>
                    </a:ext>
                  </a:extLst>
                </a:gridCol>
                <a:gridCol w="1093142">
                  <a:extLst>
                    <a:ext uri="{9D8B030D-6E8A-4147-A177-3AD203B41FA5}">
                      <a16:colId xmlns:a16="http://schemas.microsoft.com/office/drawing/2014/main" val="616871923"/>
                    </a:ext>
                  </a:extLst>
                </a:gridCol>
                <a:gridCol w="1093142">
                  <a:extLst>
                    <a:ext uri="{9D8B030D-6E8A-4147-A177-3AD203B41FA5}">
                      <a16:colId xmlns:a16="http://schemas.microsoft.com/office/drawing/2014/main" val="1374176261"/>
                    </a:ext>
                  </a:extLst>
                </a:gridCol>
                <a:gridCol w="1093142">
                  <a:extLst>
                    <a:ext uri="{9D8B030D-6E8A-4147-A177-3AD203B41FA5}">
                      <a16:colId xmlns:a16="http://schemas.microsoft.com/office/drawing/2014/main" val="1701904554"/>
                    </a:ext>
                  </a:extLst>
                </a:gridCol>
                <a:gridCol w="1093142">
                  <a:extLst>
                    <a:ext uri="{9D8B030D-6E8A-4147-A177-3AD203B41FA5}">
                      <a16:colId xmlns:a16="http://schemas.microsoft.com/office/drawing/2014/main" val="2676333302"/>
                    </a:ext>
                  </a:extLst>
                </a:gridCol>
              </a:tblGrid>
              <a:tr h="423931">
                <a:tc>
                  <a:txBody>
                    <a:bodyPr/>
                    <a:lstStyle/>
                    <a:p>
                      <a:pPr algn="ctr" fontAlgn="b"/>
                      <a:r>
                        <a:rPr lang="en-US" sz="1200" b="1" i="0" u="none" strike="noStrike" dirty="0" smtClean="0">
                          <a:solidFill>
                            <a:schemeClr val="bg1"/>
                          </a:solidFill>
                          <a:effectLst/>
                          <a:latin typeface="+mj-lt"/>
                        </a:rPr>
                        <a:t>Parameters</a:t>
                      </a:r>
                      <a:endParaRPr lang="en-IN" sz="1200" b="1" i="0" u="none" strike="noStrike" dirty="0">
                        <a:solidFill>
                          <a:schemeClr val="bg1"/>
                        </a:solidFill>
                        <a:effectLst/>
                        <a:latin typeface="+mj-lt"/>
                      </a:endParaRPr>
                    </a:p>
                  </a:txBody>
                  <a:tcPr marL="0" marR="0" marT="0" marB="0" anchor="ctr"/>
                </a:tc>
                <a:tc>
                  <a:txBody>
                    <a:bodyPr/>
                    <a:lstStyle/>
                    <a:p>
                      <a:pPr algn="ctr" fontAlgn="ctr"/>
                      <a:r>
                        <a:rPr lang="en-US" sz="1200" b="1" i="0" u="none" strike="noStrike" dirty="0" smtClean="0">
                          <a:solidFill>
                            <a:schemeClr val="bg1"/>
                          </a:solidFill>
                          <a:effectLst/>
                          <a:latin typeface="+mj-lt"/>
                        </a:rPr>
                        <a:t>Units</a:t>
                      </a:r>
                      <a:endParaRPr lang="en-IN" sz="1200" b="1" i="0" u="none" strike="noStrike" dirty="0">
                        <a:solidFill>
                          <a:schemeClr val="bg1"/>
                        </a:solidFill>
                        <a:effectLst/>
                        <a:latin typeface="+mj-lt"/>
                      </a:endParaRPr>
                    </a:p>
                  </a:txBody>
                  <a:tcPr marL="0" marR="0" marT="0" marB="0" anchor="ctr"/>
                </a:tc>
                <a:tc>
                  <a:txBody>
                    <a:bodyPr/>
                    <a:lstStyle/>
                    <a:p>
                      <a:pPr algn="ctr" fontAlgn="b"/>
                      <a:r>
                        <a:rPr lang="en-US" sz="1200" b="1" i="0" u="none" strike="noStrike" dirty="0" smtClean="0">
                          <a:solidFill>
                            <a:schemeClr val="bg1"/>
                          </a:solidFill>
                          <a:effectLst/>
                          <a:latin typeface="+mj-lt"/>
                        </a:rPr>
                        <a:t>Values</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b="1" i="0" u="none" strike="noStrike" dirty="0" smtClean="0">
                          <a:solidFill>
                            <a:schemeClr val="bg1"/>
                          </a:solidFill>
                          <a:effectLst/>
                          <a:latin typeface="+mj-lt"/>
                        </a:rPr>
                        <a:t>FY20</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b="1" i="0" u="none" strike="noStrike" dirty="0" smtClean="0">
                          <a:solidFill>
                            <a:schemeClr val="bg1"/>
                          </a:solidFill>
                          <a:effectLst/>
                          <a:latin typeface="+mj-lt"/>
                        </a:rPr>
                        <a:t>FY21</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b="1" i="0" u="none" strike="noStrike" dirty="0" smtClean="0">
                          <a:solidFill>
                            <a:schemeClr val="bg1"/>
                          </a:solidFill>
                          <a:effectLst/>
                          <a:latin typeface="+mj-lt"/>
                        </a:rPr>
                        <a:t>FY22</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b="1" i="0" u="none" strike="noStrike" dirty="0" smtClean="0">
                          <a:solidFill>
                            <a:schemeClr val="bg1"/>
                          </a:solidFill>
                          <a:effectLst/>
                          <a:latin typeface="+mj-lt"/>
                        </a:rPr>
                        <a:t>FY23</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b="1" i="0" u="none" strike="noStrike" dirty="0" smtClean="0">
                          <a:solidFill>
                            <a:schemeClr val="bg1"/>
                          </a:solidFill>
                          <a:effectLst/>
                          <a:latin typeface="+mj-lt"/>
                        </a:rPr>
                        <a:t>FY24</a:t>
                      </a:r>
                      <a:r>
                        <a:rPr lang="en-IN" sz="1200" b="1" i="0" u="none" strike="noStrike" baseline="0" dirty="0" smtClean="0">
                          <a:solidFill>
                            <a:schemeClr val="bg1"/>
                          </a:solidFill>
                          <a:effectLst/>
                          <a:latin typeface="+mj-lt"/>
                        </a:rPr>
                        <a:t> </a:t>
                      </a:r>
                      <a:r>
                        <a:rPr lang="en-IN" sz="1200" b="1" i="0" u="none" strike="noStrike" dirty="0" smtClean="0">
                          <a:solidFill>
                            <a:schemeClr val="bg1"/>
                          </a:solidFill>
                          <a:effectLst/>
                          <a:latin typeface="+mj-lt"/>
                        </a:rPr>
                        <a:t>onwards</a:t>
                      </a:r>
                      <a:endParaRPr lang="en-IN" sz="1200" b="1" i="0" u="none" strike="noStrike" dirty="0">
                        <a:solidFill>
                          <a:schemeClr val="bg1"/>
                        </a:solidFill>
                        <a:effectLst/>
                        <a:latin typeface="+mj-lt"/>
                      </a:endParaRPr>
                    </a:p>
                  </a:txBody>
                  <a:tcPr marL="0" marR="0" marT="0" marB="0" anchor="ctr"/>
                </a:tc>
                <a:extLst>
                  <a:ext uri="{0D108BD9-81ED-4DB2-BD59-A6C34878D82A}">
                    <a16:rowId xmlns:a16="http://schemas.microsoft.com/office/drawing/2014/main" val="338543218"/>
                  </a:ext>
                </a:extLst>
              </a:tr>
              <a:tr h="211965">
                <a:tc>
                  <a:txBody>
                    <a:bodyPr/>
                    <a:lstStyle/>
                    <a:p>
                      <a:pPr algn="l" fontAlgn="b"/>
                      <a:r>
                        <a:rPr lang="en-IN" sz="1200" u="none" strike="noStrike" dirty="0">
                          <a:effectLst/>
                        </a:rPr>
                        <a:t> Receivables  </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dirty="0">
                          <a:effectLst/>
                        </a:rPr>
                        <a:t>Days</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180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150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120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90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60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34356397"/>
                  </a:ext>
                </a:extLst>
              </a:tr>
              <a:tr h="211965">
                <a:tc>
                  <a:txBody>
                    <a:bodyPr/>
                    <a:lstStyle/>
                    <a:p>
                      <a:pPr algn="l" fontAlgn="b"/>
                      <a:r>
                        <a:rPr lang="en-IN" sz="1200" u="none" strike="noStrike" dirty="0">
                          <a:effectLst/>
                        </a:rPr>
                        <a:t> Store Spare equivalent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dirty="0">
                          <a:effectLst/>
                        </a:rPr>
                        <a:t>% of O&amp;M</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u="none" strike="noStrike" dirty="0">
                          <a:effectLst/>
                        </a:rPr>
                        <a:t>15%</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293347447"/>
                  </a:ext>
                </a:extLst>
              </a:tr>
              <a:tr h="211965">
                <a:tc>
                  <a:txBody>
                    <a:bodyPr/>
                    <a:lstStyle/>
                    <a:p>
                      <a:pPr algn="l" fontAlgn="b"/>
                      <a:r>
                        <a:rPr lang="en-US" sz="1200" u="none" strike="noStrike" dirty="0">
                          <a:effectLst/>
                        </a:rPr>
                        <a:t> O &amp; M Expenses for one month </a:t>
                      </a:r>
                      <a:endParaRPr lang="en-US"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dirty="0">
                          <a:effectLst/>
                        </a:rPr>
                        <a:t>Days</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u="none" strike="noStrike" dirty="0">
                          <a:effectLst/>
                        </a:rPr>
                        <a:t>30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961332791"/>
                  </a:ext>
                </a:extLst>
              </a:tr>
              <a:tr h="211965">
                <a:tc>
                  <a:txBody>
                    <a:bodyPr/>
                    <a:lstStyle/>
                    <a:p>
                      <a:pPr algn="l" fontAlgn="b"/>
                      <a:r>
                        <a:rPr lang="en-IN" sz="1200" u="none" strike="noStrike" dirty="0">
                          <a:effectLst/>
                        </a:rPr>
                        <a:t> Power Purchase Cost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ctr"/>
                      <a:r>
                        <a:rPr lang="en-IN" sz="1200" u="none" strike="noStrike" dirty="0">
                          <a:effectLst/>
                        </a:rPr>
                        <a:t>Days</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US" sz="1200" b="0" i="0" u="none" strike="noStrike" dirty="0" smtClean="0">
                          <a:solidFill>
                            <a:srgbClr val="000000"/>
                          </a:solidFill>
                          <a:effectLst/>
                          <a:latin typeface="+mj-lt"/>
                        </a:rPr>
                        <a:t>360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US" sz="1200" b="0" i="0" u="none" strike="noStrike" dirty="0" smtClean="0">
                          <a:solidFill>
                            <a:srgbClr val="000000"/>
                          </a:solidFill>
                          <a:effectLst/>
                          <a:latin typeface="+mj-lt"/>
                        </a:rPr>
                        <a:t>240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US" sz="1200" b="0" i="0" u="none" strike="noStrike" dirty="0" smtClean="0">
                          <a:solidFill>
                            <a:srgbClr val="000000"/>
                          </a:solidFill>
                          <a:effectLst/>
                          <a:latin typeface="+mj-lt"/>
                        </a:rPr>
                        <a:t>165</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US" sz="1200" b="0" i="0" u="none" strike="noStrike" dirty="0" smtClean="0">
                          <a:solidFill>
                            <a:srgbClr val="000000"/>
                          </a:solidFill>
                          <a:effectLst/>
                          <a:latin typeface="+mj-lt"/>
                        </a:rPr>
                        <a:t>90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US" sz="1200" b="0" i="0" u="none" strike="noStrike" dirty="0" smtClean="0">
                          <a:solidFill>
                            <a:srgbClr val="000000"/>
                          </a:solidFill>
                          <a:effectLst/>
                          <a:latin typeface="+mj-lt"/>
                        </a:rPr>
                        <a:t>30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216167169"/>
                  </a:ext>
                </a:extLst>
              </a:tr>
              <a:tr h="211965">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ctr" fontAlgn="ctr"/>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ctr"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tc>
                  <a:txBody>
                    <a:bodyPr/>
                    <a:lstStyle/>
                    <a:p>
                      <a:pPr algn="l" fontAlgn="b"/>
                      <a:endParaRPr lang="en-IN" sz="1200" b="0" i="0" u="none" strike="noStrike" dirty="0">
                        <a:solidFill>
                          <a:srgbClr val="000000"/>
                        </a:solidFill>
                        <a:effectLst/>
                        <a:latin typeface="+mj-lt"/>
                      </a:endParaRPr>
                    </a:p>
                  </a:txBody>
                  <a:tcPr marL="0" marR="0" marT="0" marB="0" anchor="ctr">
                    <a:solidFill>
                      <a:schemeClr val="accent6">
                        <a:lumMod val="20000"/>
                        <a:lumOff val="80000"/>
                      </a:schemeClr>
                    </a:solidFill>
                  </a:tcPr>
                </a:tc>
                <a:extLst>
                  <a:ext uri="{0D108BD9-81ED-4DB2-BD59-A6C34878D82A}">
                    <a16:rowId xmlns:a16="http://schemas.microsoft.com/office/drawing/2014/main" val="1755339485"/>
                  </a:ext>
                </a:extLst>
              </a:tr>
              <a:tr h="211965">
                <a:tc>
                  <a:txBody>
                    <a:bodyPr/>
                    <a:lstStyle/>
                    <a:p>
                      <a:pPr algn="l" fontAlgn="b"/>
                      <a:r>
                        <a:rPr lang="en-IN" sz="1200" u="none" strike="noStrike" dirty="0">
                          <a:effectLst/>
                        </a:rPr>
                        <a:t> Interest on working Capital </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dirty="0">
                          <a:effectLst/>
                        </a:rPr>
                        <a:t>%</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u="none" strike="noStrike" dirty="0">
                          <a:effectLst/>
                        </a:rPr>
                        <a:t>10.00%</a:t>
                      </a:r>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fontAlgn="b"/>
                      <a:endParaRPr lang="en-IN" sz="1200" b="0" i="0" u="none" strike="noStrike" dirty="0">
                        <a:solidFill>
                          <a:srgbClr val="000000"/>
                        </a:solidFill>
                        <a:effectLst/>
                        <a:latin typeface="+mj-lt"/>
                      </a:endParaRPr>
                    </a:p>
                  </a:txBody>
                  <a:tcPr marL="0" marR="0" marT="0" marB="0" anchor="ct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86340783"/>
                  </a:ext>
                </a:extLst>
              </a:tr>
              <a:tr h="211965">
                <a:tc>
                  <a:txBody>
                    <a:bodyPr/>
                    <a:lstStyle/>
                    <a:p>
                      <a:pPr algn="l" fontAlgn="b"/>
                      <a:r>
                        <a:rPr lang="en-IN" sz="1200" u="none" strike="noStrike" dirty="0">
                          <a:effectLst/>
                        </a:rPr>
                        <a:t> Margin Money for WC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ctr"/>
                      <a:r>
                        <a:rPr lang="en-IN" sz="1200" u="none" strike="noStrike" dirty="0">
                          <a:effectLst/>
                        </a:rPr>
                        <a:t>%</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ctr" fontAlgn="b"/>
                      <a:r>
                        <a:rPr lang="en-IN" sz="1200" u="none" strike="noStrike" dirty="0">
                          <a:effectLst/>
                        </a:rPr>
                        <a:t>30.00%</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tc>
                  <a:txBody>
                    <a:bodyPr/>
                    <a:lstStyle/>
                    <a:p>
                      <a:pPr algn="r" fontAlgn="b"/>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85860486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63148728"/>
              </p:ext>
            </p:extLst>
          </p:nvPr>
        </p:nvGraphicFramePr>
        <p:xfrm>
          <a:off x="437108" y="4926330"/>
          <a:ext cx="11284992" cy="1460160"/>
        </p:xfrm>
        <a:graphic>
          <a:graphicData uri="http://schemas.openxmlformats.org/drawingml/2006/table">
            <a:tbl>
              <a:tblPr firstRow="1">
                <a:tableStyleId>{793D81CF-94F2-401A-BA57-92F5A7B2D0C5}</a:tableStyleId>
              </a:tblPr>
              <a:tblGrid>
                <a:gridCol w="2534692">
                  <a:extLst>
                    <a:ext uri="{9D8B030D-6E8A-4147-A177-3AD203B41FA5}">
                      <a16:colId xmlns:a16="http://schemas.microsoft.com/office/drawing/2014/main" val="436756911"/>
                    </a:ext>
                  </a:extLst>
                </a:gridCol>
                <a:gridCol w="8750300">
                  <a:extLst>
                    <a:ext uri="{9D8B030D-6E8A-4147-A177-3AD203B41FA5}">
                      <a16:colId xmlns:a16="http://schemas.microsoft.com/office/drawing/2014/main" val="3514582486"/>
                    </a:ext>
                  </a:extLst>
                </a:gridCol>
              </a:tblGrid>
              <a:tr h="0">
                <a:tc>
                  <a:txBody>
                    <a:bodyPr/>
                    <a:lstStyle/>
                    <a:p>
                      <a:pPr algn="ctr" fontAlgn="b"/>
                      <a:r>
                        <a:rPr lang="en-US" sz="1200" b="1" i="0" u="none" strike="noStrike" dirty="0" smtClean="0">
                          <a:solidFill>
                            <a:schemeClr val="bg1"/>
                          </a:solidFill>
                          <a:effectLst/>
                          <a:latin typeface="+mj-lt"/>
                        </a:rPr>
                        <a:t>Parameters</a:t>
                      </a:r>
                      <a:endParaRPr lang="en-IN" sz="1200" b="1" i="0" u="none" strike="noStrike" dirty="0">
                        <a:solidFill>
                          <a:schemeClr val="bg1"/>
                        </a:solidFill>
                        <a:effectLst/>
                        <a:latin typeface="+mj-lt"/>
                      </a:endParaRPr>
                    </a:p>
                  </a:txBody>
                  <a:tcPr marL="45720" marR="45720" marT="18000" marB="18000" anchor="ctr">
                    <a:lnR w="12700" cap="flat" cmpd="sng" algn="ctr">
                      <a:solidFill>
                        <a:schemeClr val="tx1"/>
                      </a:solidFill>
                      <a:prstDash val="solid"/>
                      <a:round/>
                      <a:headEnd type="none" w="med" len="med"/>
                      <a:tailEnd type="none" w="med" len="med"/>
                    </a:lnR>
                  </a:tcPr>
                </a:tc>
                <a:tc>
                  <a:txBody>
                    <a:bodyPr/>
                    <a:lstStyle/>
                    <a:p>
                      <a:pPr algn="ctr" fontAlgn="b"/>
                      <a:r>
                        <a:rPr lang="en-US" sz="1200" b="1" i="0" u="none" strike="noStrike" dirty="0" smtClean="0">
                          <a:solidFill>
                            <a:schemeClr val="bg1"/>
                          </a:solidFill>
                          <a:effectLst/>
                          <a:latin typeface="+mj-lt"/>
                        </a:rPr>
                        <a:t>Approach</a:t>
                      </a:r>
                      <a:endParaRPr lang="en-IN" sz="1200" b="1" i="0" u="none" strike="noStrike" dirty="0">
                        <a:solidFill>
                          <a:schemeClr val="bg1"/>
                        </a:solidFill>
                        <a:effectLst/>
                        <a:latin typeface="+mj-lt"/>
                      </a:endParaRPr>
                    </a:p>
                  </a:txBody>
                  <a:tcPr marL="45720" marR="4572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35513967"/>
                  </a:ext>
                </a:extLst>
              </a:tr>
              <a:tr h="0">
                <a:tc>
                  <a:txBody>
                    <a:bodyPr/>
                    <a:lstStyle/>
                    <a:p>
                      <a:pPr algn="l" fontAlgn="b"/>
                      <a:r>
                        <a:rPr lang="en-IN" sz="1200" u="none" strike="noStrike" dirty="0" smtClean="0">
                          <a:effectLst/>
                          <a:latin typeface="+mj-lt"/>
                        </a:rPr>
                        <a:t>Other Income</a:t>
                      </a:r>
                      <a:endParaRPr lang="en-IN" sz="1200" b="0" i="0" u="none" strike="noStrike" dirty="0">
                        <a:solidFill>
                          <a:srgbClr val="000000"/>
                        </a:solidFill>
                        <a:effectLst/>
                        <a:latin typeface="+mj-lt"/>
                      </a:endParaRPr>
                    </a:p>
                  </a:txBody>
                  <a:tcPr marL="45720" marR="45720" marT="18000" marB="18000" anchor="ctr">
                    <a:lnR w="9525"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l" fontAlgn="b"/>
                      <a:r>
                        <a:rPr lang="en-US" sz="1200" b="0" i="0" u="none" strike="noStrike" dirty="0" smtClean="0">
                          <a:solidFill>
                            <a:srgbClr val="000000"/>
                          </a:solidFill>
                          <a:effectLst/>
                          <a:latin typeface="+mj-lt"/>
                        </a:rPr>
                        <a:t>To</a:t>
                      </a:r>
                      <a:r>
                        <a:rPr lang="en-US" sz="1200" b="0" i="0" u="none" strike="noStrike" baseline="0" dirty="0" smtClean="0">
                          <a:solidFill>
                            <a:srgbClr val="000000"/>
                          </a:solidFill>
                          <a:effectLst/>
                          <a:latin typeface="+mj-lt"/>
                        </a:rPr>
                        <a:t> be e</a:t>
                      </a:r>
                      <a:r>
                        <a:rPr lang="en-US" sz="1200" b="0" i="0" u="none" strike="noStrike" dirty="0" smtClean="0">
                          <a:solidFill>
                            <a:srgbClr val="000000"/>
                          </a:solidFill>
                          <a:effectLst/>
                          <a:latin typeface="+mj-lt"/>
                        </a:rPr>
                        <a:t>scalated at a rate of 10% per annum</a:t>
                      </a:r>
                      <a:endParaRPr lang="en-IN" sz="1200" b="0" i="0" u="none" strike="noStrike" dirty="0">
                        <a:solidFill>
                          <a:srgbClr val="000000"/>
                        </a:solidFill>
                        <a:effectLst/>
                        <a:latin typeface="+mj-lt"/>
                      </a:endParaRPr>
                    </a:p>
                  </a:txBody>
                  <a:tcPr marL="45720" marR="45720" marT="18000" marB="180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691039793"/>
                  </a:ext>
                </a:extLst>
              </a:tr>
              <a:tr h="0">
                <a:tc>
                  <a:txBody>
                    <a:bodyPr/>
                    <a:lstStyle/>
                    <a:p>
                      <a:pPr algn="l" fontAlgn="b"/>
                      <a:r>
                        <a:rPr lang="en-US" sz="1200" b="0" i="0" u="none" strike="noStrike" dirty="0" smtClean="0">
                          <a:solidFill>
                            <a:srgbClr val="000000"/>
                          </a:solidFill>
                          <a:effectLst/>
                          <a:latin typeface="+mj-lt"/>
                        </a:rPr>
                        <a:t>Dividend Income</a:t>
                      </a:r>
                      <a:endParaRPr lang="en-IN" sz="1200" b="0" i="0" u="none" strike="noStrike" dirty="0">
                        <a:solidFill>
                          <a:srgbClr val="000000"/>
                        </a:solidFill>
                        <a:effectLst/>
                        <a:latin typeface="+mj-lt"/>
                      </a:endParaRPr>
                    </a:p>
                  </a:txBody>
                  <a:tcPr marL="45720" marR="45720" marT="18000" marB="1800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US" sz="1200" b="0" i="0" u="none" strike="noStrike" dirty="0" smtClean="0">
                          <a:solidFill>
                            <a:srgbClr val="000000"/>
                          </a:solidFill>
                          <a:effectLst/>
                          <a:latin typeface="+mj-lt"/>
                        </a:rPr>
                        <a:t>Dividend Income for past investments in 4 subsidiaries computes to be 27% and the same is used for projection of dividend income for past investments; For future investment/projects, a dividend rate of 16% has been assumed as per suggestions of NEA/WB</a:t>
                      </a:r>
                      <a:endParaRPr lang="en-IN" sz="1200" b="0" i="0" u="none" strike="noStrike" dirty="0">
                        <a:solidFill>
                          <a:srgbClr val="000000"/>
                        </a:solidFill>
                        <a:effectLst/>
                        <a:latin typeface="+mj-lt"/>
                      </a:endParaRPr>
                    </a:p>
                  </a:txBody>
                  <a:tcPr marL="45720" marR="45720" marT="18000" marB="180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483010378"/>
                  </a:ext>
                </a:extLst>
              </a:tr>
              <a:tr h="0">
                <a:tc>
                  <a:txBody>
                    <a:bodyPr/>
                    <a:lstStyle/>
                    <a:p>
                      <a:pPr algn="l" fontAlgn="b"/>
                      <a:r>
                        <a:rPr lang="en-IN" sz="1200" b="0" i="0" u="none" strike="noStrike" dirty="0" smtClean="0">
                          <a:solidFill>
                            <a:srgbClr val="000000"/>
                          </a:solidFill>
                          <a:effectLst/>
                          <a:latin typeface="+mj-lt"/>
                        </a:rPr>
                        <a:t>Transmission/Wheeling Charge</a:t>
                      </a:r>
                      <a:endParaRPr lang="en-IN" sz="1200" b="0" i="0" u="none" strike="noStrike" dirty="0">
                        <a:solidFill>
                          <a:srgbClr val="000000"/>
                        </a:solidFill>
                        <a:effectLst/>
                        <a:latin typeface="+mj-lt"/>
                      </a:endParaRPr>
                    </a:p>
                  </a:txBody>
                  <a:tcPr marL="45720" marR="45720" marT="18000" marB="1800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l" fontAlgn="b"/>
                      <a:r>
                        <a:rPr lang="en-US" sz="1200" b="0" i="0" u="none" strike="noStrike" dirty="0" smtClean="0">
                          <a:solidFill>
                            <a:srgbClr val="000000"/>
                          </a:solidFill>
                          <a:effectLst/>
                          <a:latin typeface="+mj-lt"/>
                        </a:rPr>
                        <a:t>No escalation</a:t>
                      </a:r>
                      <a:endParaRPr lang="en-IN" sz="1200" b="0" i="0" u="none" strike="noStrike" dirty="0">
                        <a:solidFill>
                          <a:srgbClr val="000000"/>
                        </a:solidFill>
                        <a:effectLst/>
                        <a:latin typeface="+mj-lt"/>
                      </a:endParaRPr>
                    </a:p>
                  </a:txBody>
                  <a:tcPr marL="45720" marR="45720" marT="18000" marB="180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12575924"/>
                  </a:ext>
                </a:extLst>
              </a:tr>
              <a:tr h="0">
                <a:tc>
                  <a:txBody>
                    <a:bodyPr/>
                    <a:lstStyle/>
                    <a:p>
                      <a:pPr algn="l" fontAlgn="b"/>
                      <a:r>
                        <a:rPr lang="en-US" sz="1200" b="0" i="0" u="none" strike="noStrike" dirty="0" smtClean="0">
                          <a:solidFill>
                            <a:srgbClr val="000000"/>
                          </a:solidFill>
                          <a:effectLst/>
                          <a:latin typeface="+mj-lt"/>
                        </a:rPr>
                        <a:t>Tax Rates</a:t>
                      </a:r>
                      <a:endParaRPr lang="en-IN" sz="1200" b="0" i="0" u="none" strike="noStrike" dirty="0">
                        <a:solidFill>
                          <a:srgbClr val="000000"/>
                        </a:solidFill>
                        <a:effectLst/>
                        <a:latin typeface="+mj-lt"/>
                      </a:endParaRPr>
                    </a:p>
                  </a:txBody>
                  <a:tcPr marL="45720" marR="45720" marT="18000" marB="1800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tcPr>
                </a:tc>
                <a:tc>
                  <a:txBody>
                    <a:bodyPr/>
                    <a:lstStyle/>
                    <a:p>
                      <a:pPr algn="l" fontAlgn="b"/>
                      <a:r>
                        <a:rPr lang="en-US" sz="1200" b="0" i="0" u="none" strike="noStrike" dirty="0" smtClean="0">
                          <a:solidFill>
                            <a:srgbClr val="000000"/>
                          </a:solidFill>
                          <a:effectLst/>
                          <a:latin typeface="+mj-lt"/>
                        </a:rPr>
                        <a:t>25%</a:t>
                      </a:r>
                      <a:endParaRPr lang="en-IN" sz="1200" b="0" i="0" u="none" strike="noStrike" dirty="0">
                        <a:solidFill>
                          <a:srgbClr val="000000"/>
                        </a:solidFill>
                        <a:effectLst/>
                        <a:latin typeface="+mj-lt"/>
                      </a:endParaRPr>
                    </a:p>
                  </a:txBody>
                  <a:tcPr marL="45720" marR="45720" marT="18000" marB="18000" anchor="ctr">
                    <a:lnL w="9525"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954734803"/>
                  </a:ext>
                </a:extLst>
              </a:tr>
            </a:tbl>
          </a:graphicData>
        </a:graphic>
      </p:graphicFrame>
      <p:sp>
        <p:nvSpPr>
          <p:cNvPr id="7" name="Content Placeholder 3"/>
          <p:cNvSpPr txBox="1">
            <a:spLocks/>
          </p:cNvSpPr>
          <p:nvPr/>
        </p:nvSpPr>
        <p:spPr>
          <a:xfrm>
            <a:off x="437108" y="4639935"/>
            <a:ext cx="9788638" cy="348606"/>
          </a:xfrm>
          <a:prstGeom prst="rect">
            <a:avLst/>
          </a:prstGeom>
        </p:spPr>
        <p:txBody>
          <a:bodyPr vert="horz" lIns="0" tIns="0" rIns="0" bIns="0" rtlCol="0">
            <a:normAutofit/>
          </a:bodyPr>
          <a:lstStyle>
            <a:lvl1pPr marL="0" indent="0" algn="l" defTabSz="951059" rtl="0" eaLnBrk="1" latinLnBrk="0" hangingPunct="1">
              <a:spcBef>
                <a:spcPts val="0"/>
              </a:spcBef>
              <a:spcAft>
                <a:spcPts val="1041"/>
              </a:spcAft>
              <a:buSzPct val="100000"/>
              <a:buFont typeface="Arial" panose="020B0604020202020204" pitchFamily="34" charset="0"/>
              <a:buNone/>
              <a:defRPr sz="1401" b="0" kern="1200">
                <a:solidFill>
                  <a:schemeClr val="tx1"/>
                </a:solidFill>
                <a:latin typeface="+mn-lt"/>
                <a:ea typeface="+mn-ea"/>
                <a:cs typeface="+mn-cs"/>
              </a:defRPr>
            </a:lvl1pPr>
            <a:lvl2pPr marL="0" indent="0" algn="l" defTabSz="951059" rtl="0" eaLnBrk="1" latinLnBrk="0" hangingPunct="1">
              <a:spcBef>
                <a:spcPts val="0"/>
              </a:spcBef>
              <a:spcAft>
                <a:spcPts val="1041"/>
              </a:spcAft>
              <a:buClrTx/>
              <a:buSzPct val="100000"/>
              <a:buFont typeface="Arial"/>
              <a:buNone/>
              <a:defRPr lang="en-US" sz="1401" b="1" kern="1200">
                <a:solidFill>
                  <a:schemeClr val="tx1"/>
                </a:solidFill>
                <a:latin typeface="+mn-lt"/>
                <a:ea typeface="+mn-ea"/>
                <a:cs typeface="+mn-cs"/>
              </a:defRPr>
            </a:lvl2pPr>
            <a:lvl3pPr marL="183472" indent="-183472" algn="l" defTabSz="951059" rtl="0" eaLnBrk="1" latinLnBrk="0" hangingPunct="1">
              <a:spcBef>
                <a:spcPts val="0"/>
              </a:spcBef>
              <a:spcAft>
                <a:spcPts val="1041"/>
              </a:spcAft>
              <a:buClrTx/>
              <a:buSzPct val="100000"/>
              <a:buFont typeface="Arial" panose="020B0604020202020204" pitchFamily="34" charset="0"/>
              <a:buChar char="•"/>
              <a:defRPr lang="en-US" sz="1401" kern="1200">
                <a:solidFill>
                  <a:schemeClr val="tx1"/>
                </a:solidFill>
                <a:latin typeface="+mn-lt"/>
                <a:ea typeface="+mn-ea"/>
                <a:cs typeface="+mn-cs"/>
              </a:defRPr>
            </a:lvl3pPr>
            <a:lvl4pPr marL="370688" indent="-183472" algn="l" defTabSz="951059" rtl="0" eaLnBrk="1" latinLnBrk="0" hangingPunct="1">
              <a:spcBef>
                <a:spcPts val="0"/>
              </a:spcBef>
              <a:spcAft>
                <a:spcPts val="1041"/>
              </a:spcAft>
              <a:buClrTx/>
              <a:buSzPct val="100000"/>
              <a:buFont typeface="Verdana" panose="020B0604030504040204" pitchFamily="34" charset="0"/>
              <a:buChar char="−"/>
              <a:defRPr lang="en-US" sz="1401" kern="1200" baseline="0">
                <a:solidFill>
                  <a:schemeClr val="tx1"/>
                </a:solidFill>
                <a:latin typeface="+mn-lt"/>
                <a:ea typeface="+mn-ea"/>
                <a:cs typeface="+mn-cs"/>
              </a:defRPr>
            </a:lvl4pPr>
            <a:lvl5pPr marL="554160" indent="-183472" algn="l" defTabSz="830524" rtl="0" eaLnBrk="1" latinLnBrk="0" hangingPunct="1">
              <a:spcBef>
                <a:spcPts val="0"/>
              </a:spcBef>
              <a:spcAft>
                <a:spcPts val="1041"/>
              </a:spcAft>
              <a:buClrTx/>
              <a:buSzPct val="100000"/>
              <a:buFont typeface="Verdana" panose="020B0604030504040204" pitchFamily="34" charset="0"/>
              <a:buChar char="−"/>
              <a:tabLst/>
              <a:defRPr lang="en-US" sz="1401" kern="1200" baseline="0">
                <a:solidFill>
                  <a:schemeClr val="tx1"/>
                </a:solidFill>
                <a:latin typeface="+mn-lt"/>
                <a:ea typeface="+mn-ea"/>
                <a:cs typeface="+mn-cs"/>
              </a:defRPr>
            </a:lvl5pPr>
            <a:lvl6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6pPr>
            <a:lvl7pPr marL="554160" indent="-183472" algn="l" defTabSz="951059" rtl="0" eaLnBrk="1" latinLnBrk="0" hangingPunct="1">
              <a:spcBef>
                <a:spcPts val="0"/>
              </a:spcBef>
              <a:spcAft>
                <a:spcPts val="1041"/>
              </a:spcAft>
              <a:buFont typeface="Verdana" panose="020B0604030504040204" pitchFamily="34" charset="0"/>
              <a:buChar char="−"/>
              <a:defRPr sz="1248" kern="1200">
                <a:solidFill>
                  <a:schemeClr val="tx1"/>
                </a:solidFill>
                <a:latin typeface="+mn-lt"/>
                <a:ea typeface="+mn-ea"/>
                <a:cs typeface="+mn-cs"/>
              </a:defRPr>
            </a:lvl7pPr>
            <a:lvl8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8pPr>
            <a:lvl9pPr marL="554160" indent="-183472" algn="l" defTabSz="951059" rtl="0" eaLnBrk="1" latinLnBrk="0" hangingPunct="1">
              <a:spcBef>
                <a:spcPts val="0"/>
              </a:spcBef>
              <a:spcAft>
                <a:spcPts val="1041"/>
              </a:spcAft>
              <a:buFont typeface="Verdana" panose="020B0604030504040204" pitchFamily="34" charset="0"/>
              <a:buChar char="−"/>
              <a:defRPr sz="1248" kern="1200" baseline="0">
                <a:solidFill>
                  <a:schemeClr val="tx1"/>
                </a:solidFill>
                <a:latin typeface="+mn-lt"/>
                <a:ea typeface="+mn-ea"/>
                <a:cs typeface="+mn-cs"/>
              </a:defRPr>
            </a:lvl9pPr>
          </a:lstStyle>
          <a:p>
            <a:r>
              <a:rPr lang="en-US" sz="1400" b="1" dirty="0" smtClean="0">
                <a:solidFill>
                  <a:schemeClr val="accent1"/>
                </a:solidFill>
              </a:rPr>
              <a:t>Other Parameters:</a:t>
            </a:r>
          </a:p>
        </p:txBody>
      </p:sp>
    </p:spTree>
    <p:extLst>
      <p:ext uri="{BB962C8B-B14F-4D97-AF65-F5344CB8AC3E}">
        <p14:creationId xmlns:p14="http://schemas.microsoft.com/office/powerpoint/2010/main" val="246321615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Financial Analysis and Viability Action </a:t>
            </a:r>
            <a:r>
              <a:rPr lang="en-US" sz="4000" dirty="0" smtClean="0"/>
              <a:t>Plan</a:t>
            </a:r>
            <a:endParaRPr lang="en-IN" dirty="0"/>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932645929"/>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Year on year tariff hike required to recover all costs of NEA</a:t>
            </a:r>
            <a:endParaRPr lang="en-IN" dirty="0"/>
          </a:p>
        </p:txBody>
      </p:sp>
      <p:sp>
        <p:nvSpPr>
          <p:cNvPr id="3" name="Title 2"/>
          <p:cNvSpPr>
            <a:spLocks noGrp="1"/>
          </p:cNvSpPr>
          <p:nvPr>
            <p:ph type="title"/>
          </p:nvPr>
        </p:nvSpPr>
        <p:spPr/>
        <p:txBody>
          <a:bodyPr/>
          <a:lstStyle/>
          <a:p>
            <a:r>
              <a:rPr lang="en-IN" dirty="0" smtClean="0"/>
              <a:t>Cost Reflective Tariff</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939023531"/>
              </p:ext>
            </p:extLst>
          </p:nvPr>
        </p:nvGraphicFramePr>
        <p:xfrm>
          <a:off x="469905" y="3737618"/>
          <a:ext cx="11252195" cy="2334380"/>
        </p:xfrm>
        <a:graphic>
          <a:graphicData uri="http://schemas.openxmlformats.org/drawingml/2006/table">
            <a:tbl>
              <a:tblPr firstRow="1">
                <a:tableStyleId>{793D81CF-94F2-401A-BA57-92F5A7B2D0C5}</a:tableStyleId>
              </a:tblPr>
              <a:tblGrid>
                <a:gridCol w="2035175">
                  <a:extLst>
                    <a:ext uri="{9D8B030D-6E8A-4147-A177-3AD203B41FA5}">
                      <a16:colId xmlns:a16="http://schemas.microsoft.com/office/drawing/2014/main" val="848816575"/>
                    </a:ext>
                  </a:extLst>
                </a:gridCol>
                <a:gridCol w="723900">
                  <a:extLst>
                    <a:ext uri="{9D8B030D-6E8A-4147-A177-3AD203B41FA5}">
                      <a16:colId xmlns:a16="http://schemas.microsoft.com/office/drawing/2014/main" val="3126413431"/>
                    </a:ext>
                  </a:extLst>
                </a:gridCol>
                <a:gridCol w="707760">
                  <a:extLst>
                    <a:ext uri="{9D8B030D-6E8A-4147-A177-3AD203B41FA5}">
                      <a16:colId xmlns:a16="http://schemas.microsoft.com/office/drawing/2014/main" val="2901133281"/>
                    </a:ext>
                  </a:extLst>
                </a:gridCol>
                <a:gridCol w="707760">
                  <a:extLst>
                    <a:ext uri="{9D8B030D-6E8A-4147-A177-3AD203B41FA5}">
                      <a16:colId xmlns:a16="http://schemas.microsoft.com/office/drawing/2014/main" val="2735057225"/>
                    </a:ext>
                  </a:extLst>
                </a:gridCol>
                <a:gridCol w="707760">
                  <a:extLst>
                    <a:ext uri="{9D8B030D-6E8A-4147-A177-3AD203B41FA5}">
                      <a16:colId xmlns:a16="http://schemas.microsoft.com/office/drawing/2014/main" val="1497138449"/>
                    </a:ext>
                  </a:extLst>
                </a:gridCol>
                <a:gridCol w="707760">
                  <a:extLst>
                    <a:ext uri="{9D8B030D-6E8A-4147-A177-3AD203B41FA5}">
                      <a16:colId xmlns:a16="http://schemas.microsoft.com/office/drawing/2014/main" val="2520425688"/>
                    </a:ext>
                  </a:extLst>
                </a:gridCol>
                <a:gridCol w="707760">
                  <a:extLst>
                    <a:ext uri="{9D8B030D-6E8A-4147-A177-3AD203B41FA5}">
                      <a16:colId xmlns:a16="http://schemas.microsoft.com/office/drawing/2014/main" val="3805077629"/>
                    </a:ext>
                  </a:extLst>
                </a:gridCol>
                <a:gridCol w="707760">
                  <a:extLst>
                    <a:ext uri="{9D8B030D-6E8A-4147-A177-3AD203B41FA5}">
                      <a16:colId xmlns:a16="http://schemas.microsoft.com/office/drawing/2014/main" val="3286273223"/>
                    </a:ext>
                  </a:extLst>
                </a:gridCol>
                <a:gridCol w="707760">
                  <a:extLst>
                    <a:ext uri="{9D8B030D-6E8A-4147-A177-3AD203B41FA5}">
                      <a16:colId xmlns:a16="http://schemas.microsoft.com/office/drawing/2014/main" val="881297906"/>
                    </a:ext>
                  </a:extLst>
                </a:gridCol>
                <a:gridCol w="707760">
                  <a:extLst>
                    <a:ext uri="{9D8B030D-6E8A-4147-A177-3AD203B41FA5}">
                      <a16:colId xmlns:a16="http://schemas.microsoft.com/office/drawing/2014/main" val="3112577901"/>
                    </a:ext>
                  </a:extLst>
                </a:gridCol>
                <a:gridCol w="707760">
                  <a:extLst>
                    <a:ext uri="{9D8B030D-6E8A-4147-A177-3AD203B41FA5}">
                      <a16:colId xmlns:a16="http://schemas.microsoft.com/office/drawing/2014/main" val="1008337934"/>
                    </a:ext>
                  </a:extLst>
                </a:gridCol>
                <a:gridCol w="707760">
                  <a:extLst>
                    <a:ext uri="{9D8B030D-6E8A-4147-A177-3AD203B41FA5}">
                      <a16:colId xmlns:a16="http://schemas.microsoft.com/office/drawing/2014/main" val="3565695246"/>
                    </a:ext>
                  </a:extLst>
                </a:gridCol>
                <a:gridCol w="707760">
                  <a:extLst>
                    <a:ext uri="{9D8B030D-6E8A-4147-A177-3AD203B41FA5}">
                      <a16:colId xmlns:a16="http://schemas.microsoft.com/office/drawing/2014/main" val="1493329046"/>
                    </a:ext>
                  </a:extLst>
                </a:gridCol>
                <a:gridCol w="707760">
                  <a:extLst>
                    <a:ext uri="{9D8B030D-6E8A-4147-A177-3AD203B41FA5}">
                      <a16:colId xmlns:a16="http://schemas.microsoft.com/office/drawing/2014/main" val="4238566119"/>
                    </a:ext>
                  </a:extLst>
                </a:gridCol>
              </a:tblGrid>
              <a:tr h="233438">
                <a:tc>
                  <a:txBody>
                    <a:bodyPr/>
                    <a:lstStyle/>
                    <a:p>
                      <a:pPr algn="ctr" fontAlgn="ctr"/>
                      <a:r>
                        <a:rPr lang="en-IN" sz="1200" u="none" strike="noStrike" dirty="0">
                          <a:effectLst/>
                          <a:latin typeface="+mn-lt"/>
                        </a:rPr>
                        <a:t> </a:t>
                      </a:r>
                      <a:endParaRPr lang="en-IN" sz="1200" b="1" i="0" u="none" strike="noStrike" dirty="0">
                        <a:solidFill>
                          <a:srgbClr val="FFFFFF"/>
                        </a:solidFill>
                        <a:effectLst/>
                        <a:latin typeface="+mn-lt"/>
                      </a:endParaRPr>
                    </a:p>
                  </a:txBody>
                  <a:tcPr marL="0" marR="0" marT="0" marB="0" anchor="ctr">
                    <a:lnL w="9525" cap="flat" cmpd="sng" algn="ctr">
                      <a:noFill/>
                      <a:prstDash val="solid"/>
                      <a:round/>
                      <a:headEnd type="none" w="med" len="med"/>
                      <a:tailEnd type="none" w="med" len="med"/>
                    </a:lnL>
                    <a:lnT w="9525" cap="flat" cmpd="sng" algn="ctr">
                      <a:noFill/>
                      <a:prstDash val="solid"/>
                      <a:round/>
                      <a:headEnd type="none" w="med" len="med"/>
                      <a:tailEnd type="none" w="med" len="med"/>
                    </a:lnT>
                  </a:tcPr>
                </a:tc>
                <a:tc>
                  <a:txBody>
                    <a:bodyPr/>
                    <a:lstStyle/>
                    <a:p>
                      <a:pPr algn="ctr" fontAlgn="ctr"/>
                      <a:r>
                        <a:rPr lang="en-IN" sz="1200" u="none" strike="noStrike" dirty="0">
                          <a:effectLst/>
                          <a:latin typeface="+mn-lt"/>
                        </a:rPr>
                        <a:t> </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smtClean="0">
                          <a:effectLst/>
                          <a:latin typeface="+mn-lt"/>
                        </a:rPr>
                        <a:t>FY18</a:t>
                      </a:r>
                      <a:r>
                        <a:rPr lang="en-IN" sz="1200" u="none" strike="noStrike" baseline="30000" dirty="0" smtClean="0">
                          <a:effectLst/>
                          <a:latin typeface="+mn-lt"/>
                        </a:rPr>
                        <a:t>*</a:t>
                      </a:r>
                      <a:endParaRPr lang="en-IN" sz="1200" b="1" i="0" u="none" strike="noStrike" baseline="30000"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smtClean="0">
                          <a:effectLst/>
                          <a:latin typeface="+mn-lt"/>
                        </a:rPr>
                        <a:t>FY19</a:t>
                      </a:r>
                      <a:r>
                        <a:rPr lang="en-IN" sz="1200" u="none" strike="noStrike" baseline="30000" dirty="0" smtClean="0">
                          <a:effectLst/>
                          <a:latin typeface="+mn-lt"/>
                        </a:rPr>
                        <a:t>*</a:t>
                      </a:r>
                      <a:endParaRPr lang="en-IN" sz="1200" b="1" i="0" u="none" strike="noStrike" baseline="30000"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smtClean="0">
                          <a:effectLst/>
                          <a:latin typeface="+mn-lt"/>
                        </a:rPr>
                        <a:t>FY20</a:t>
                      </a:r>
                      <a:r>
                        <a:rPr lang="en-IN" sz="1200" b="1" i="0" u="none" strike="noStrike" baseline="30000" dirty="0" smtClean="0">
                          <a:solidFill>
                            <a:srgbClr val="FFFFFF"/>
                          </a:solidFill>
                          <a:effectLst/>
                          <a:latin typeface="+mn-lt"/>
                        </a:rPr>
                        <a:t>#</a:t>
                      </a:r>
                      <a:endParaRPr lang="en-IN" sz="1200" b="1" i="0" u="none" strike="noStrike" baseline="30000"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FY21</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FY22</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FY23</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FY24</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FY25</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FY26</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a:effectLst/>
                          <a:latin typeface="+mn-lt"/>
                        </a:rPr>
                        <a:t>FY27</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b="1" i="0" u="none" strike="noStrike" dirty="0" smtClean="0">
                          <a:solidFill>
                            <a:srgbClr val="FFFFFF"/>
                          </a:solidFill>
                          <a:effectLst/>
                          <a:latin typeface="+mn-lt"/>
                        </a:rPr>
                        <a:t>FY28</a:t>
                      </a:r>
                      <a:endParaRPr lang="en-IN" sz="1200" b="1" i="0" u="none" strike="noStrike" dirty="0">
                        <a:solidFill>
                          <a:srgbClr val="FFFFFF"/>
                        </a:solidFill>
                        <a:effectLst/>
                        <a:latin typeface="+mn-lt"/>
                      </a:endParaRPr>
                    </a:p>
                  </a:txBody>
                  <a:tcPr marL="0" marR="0" marT="0" marB="0" anchor="ctr">
                    <a:lnT w="9525" cap="flat" cmpd="sng" algn="ctr">
                      <a:noFill/>
                      <a:prstDash val="solid"/>
                      <a:round/>
                      <a:headEnd type="none" w="med" len="med"/>
                      <a:tailEnd type="none" w="med" len="med"/>
                    </a:lnT>
                  </a:tcPr>
                </a:tc>
                <a:tc>
                  <a:txBody>
                    <a:bodyPr/>
                    <a:lstStyle/>
                    <a:p>
                      <a:pPr algn="r" fontAlgn="ctr"/>
                      <a:r>
                        <a:rPr lang="en-IN" sz="1200" u="none" strike="noStrike" dirty="0" smtClean="0">
                          <a:effectLst/>
                          <a:latin typeface="+mn-lt"/>
                        </a:rPr>
                        <a:t>FY29</a:t>
                      </a:r>
                      <a:endParaRPr lang="en-IN" sz="1200" b="1" i="0" u="none" strike="noStrike" dirty="0">
                        <a:solidFill>
                          <a:srgbClr val="FFFFFF"/>
                        </a:solidFill>
                        <a:effectLst/>
                        <a:latin typeface="+mn-lt"/>
                      </a:endParaRPr>
                    </a:p>
                  </a:txBody>
                  <a:tcPr marL="0" marR="0" marT="0" marB="0" anchor="ctr">
                    <a:lnR w="9525" cap="flat" cmpd="sng" algn="ctr">
                      <a:noFill/>
                      <a:prstDash val="solid"/>
                      <a:round/>
                      <a:headEnd type="none" w="med" len="med"/>
                      <a:tailEnd type="none" w="med" len="med"/>
                    </a:lnR>
                    <a:lnT w="9525" cap="flat" cmpd="sng" algn="ctr">
                      <a:noFill/>
                      <a:prstDash val="solid"/>
                      <a:round/>
                      <a:headEnd type="none" w="med" len="med"/>
                      <a:tailEnd type="none" w="med" len="med"/>
                    </a:lnT>
                  </a:tcPr>
                </a:tc>
                <a:extLst>
                  <a:ext uri="{0D108BD9-81ED-4DB2-BD59-A6C34878D82A}">
                    <a16:rowId xmlns:a16="http://schemas.microsoft.com/office/drawing/2014/main" val="1097258522"/>
                  </a:ext>
                </a:extLst>
              </a:tr>
              <a:tr h="350157">
                <a:tc>
                  <a:txBody>
                    <a:bodyPr/>
                    <a:lstStyle/>
                    <a:p>
                      <a:pPr algn="l" fontAlgn="ctr"/>
                      <a:r>
                        <a:rPr lang="en-IN" sz="1200" b="0" i="0" u="none" strike="noStrike" dirty="0" smtClean="0">
                          <a:solidFill>
                            <a:srgbClr val="000000"/>
                          </a:solidFill>
                          <a:effectLst/>
                          <a:latin typeface="+mn-lt"/>
                        </a:rPr>
                        <a:t>Revenue Requirement</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ctr" latinLnBrk="0" hangingPunct="1">
                        <a:lnSpc>
                          <a:spcPct val="100000"/>
                        </a:lnSpc>
                        <a:spcBef>
                          <a:spcPts val="0"/>
                        </a:spcBef>
                        <a:spcAft>
                          <a:spcPts val="0"/>
                        </a:spcAft>
                        <a:buClrTx/>
                        <a:buSzTx/>
                        <a:buFontTx/>
                        <a:buNone/>
                        <a:tabLst/>
                        <a:defRPr/>
                      </a:pPr>
                      <a:r>
                        <a:rPr lang="en-IN" sz="1200" u="none" strike="noStrike" kern="1200" dirty="0" err="1" smtClean="0">
                          <a:solidFill>
                            <a:schemeClr val="dk1"/>
                          </a:solidFill>
                          <a:effectLst/>
                          <a:latin typeface="+mn-lt"/>
                          <a:ea typeface="+mn-ea"/>
                          <a:cs typeface="+mn-cs"/>
                        </a:rPr>
                        <a:t>Bn</a:t>
                      </a:r>
                      <a:r>
                        <a:rPr lang="en-IN" sz="1200" u="none" strike="noStrike" kern="1200" dirty="0" smtClean="0">
                          <a:solidFill>
                            <a:schemeClr val="dk1"/>
                          </a:solidFill>
                          <a:effectLst/>
                          <a:latin typeface="+mn-lt"/>
                          <a:ea typeface="+mn-ea"/>
                          <a:cs typeface="+mn-cs"/>
                        </a:rPr>
                        <a:t> NPR</a:t>
                      </a:r>
                      <a:endParaRPr lang="en-IN" sz="1200" b="0" i="0" u="none" strike="noStrike" kern="1200" dirty="0" smtClean="0">
                        <a:solidFill>
                          <a:srgbClr val="000000"/>
                        </a:solidFill>
                        <a:effectLst/>
                        <a:latin typeface="+mn-lt"/>
                        <a:ea typeface="+mn-ea"/>
                        <a:cs typeface="+mn-cs"/>
                      </a:endParaRP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55</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66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90</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115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154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184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214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246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304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351</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399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414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86730586"/>
                  </a:ext>
                </a:extLst>
              </a:tr>
              <a:tr h="350157">
                <a:tc>
                  <a:txBody>
                    <a:bodyPr/>
                    <a:lstStyle/>
                    <a:p>
                      <a:pPr algn="l" fontAlgn="ctr"/>
                      <a:r>
                        <a:rPr lang="en-IN" sz="1200" b="0" i="0" u="none" strike="noStrike" dirty="0" smtClean="0">
                          <a:solidFill>
                            <a:srgbClr val="000000"/>
                          </a:solidFill>
                          <a:effectLst/>
                          <a:latin typeface="+mn-lt"/>
                        </a:rPr>
                        <a:t>Less: Export Revenue</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ctr" latinLnBrk="0" hangingPunct="1">
                        <a:lnSpc>
                          <a:spcPct val="100000"/>
                        </a:lnSpc>
                        <a:spcBef>
                          <a:spcPts val="0"/>
                        </a:spcBef>
                        <a:spcAft>
                          <a:spcPts val="0"/>
                        </a:spcAft>
                        <a:buClrTx/>
                        <a:buSzTx/>
                        <a:buFontTx/>
                        <a:buNone/>
                        <a:tabLst/>
                        <a:defRPr/>
                      </a:pPr>
                      <a:r>
                        <a:rPr lang="en-IN" sz="1200" u="none" strike="noStrike" kern="1200" dirty="0" err="1" smtClean="0">
                          <a:solidFill>
                            <a:schemeClr val="dk1"/>
                          </a:solidFill>
                          <a:effectLst/>
                          <a:latin typeface="+mn-lt"/>
                          <a:ea typeface="+mn-ea"/>
                          <a:cs typeface="+mn-cs"/>
                        </a:rPr>
                        <a:t>Bn</a:t>
                      </a:r>
                      <a:r>
                        <a:rPr lang="en-IN" sz="1200" u="none" strike="noStrike" kern="1200" dirty="0" smtClean="0">
                          <a:solidFill>
                            <a:schemeClr val="dk1"/>
                          </a:solidFill>
                          <a:effectLst/>
                          <a:latin typeface="+mn-lt"/>
                          <a:ea typeface="+mn-ea"/>
                          <a:cs typeface="+mn-cs"/>
                        </a:rPr>
                        <a:t> NPR</a:t>
                      </a:r>
                      <a:endParaRPr lang="en-IN" sz="1200" b="0" i="0" u="none" strike="noStrike" kern="1200" dirty="0" smtClean="0">
                        <a:solidFill>
                          <a:srgbClr val="000000"/>
                        </a:solidFill>
                        <a:effectLst/>
                        <a:latin typeface="+mn-lt"/>
                        <a:ea typeface="+mn-ea"/>
                        <a:cs typeface="+mn-cs"/>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0</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0</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17</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22</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49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66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74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76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333692287"/>
                  </a:ext>
                </a:extLst>
              </a:tr>
              <a:tr h="350157">
                <a:tc>
                  <a:txBody>
                    <a:bodyPr/>
                    <a:lstStyle/>
                    <a:p>
                      <a:pPr algn="l" fontAlgn="ctr"/>
                      <a:r>
                        <a:rPr lang="en-IN" sz="1200" u="none" strike="noStrike" dirty="0" smtClean="0">
                          <a:effectLst/>
                          <a:latin typeface="+mn-lt"/>
                        </a:rPr>
                        <a:t>Net Revenue Requirement</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dirty="0" err="1">
                          <a:effectLst/>
                          <a:latin typeface="+mn-lt"/>
                        </a:rPr>
                        <a:t>Bn</a:t>
                      </a:r>
                      <a:r>
                        <a:rPr lang="en-IN" sz="1200" u="none" strike="noStrike" dirty="0">
                          <a:effectLst/>
                          <a:latin typeface="+mn-lt"/>
                        </a:rPr>
                        <a:t> </a:t>
                      </a:r>
                      <a:r>
                        <a:rPr lang="en-IN" sz="1200" u="none" strike="noStrike" dirty="0" smtClean="0">
                          <a:effectLst/>
                          <a:latin typeface="+mn-lt"/>
                        </a:rPr>
                        <a:t>NPR</a:t>
                      </a:r>
                      <a:endParaRPr lang="en-IN" sz="1200" b="0" i="0" u="none" strike="noStrike" dirty="0">
                        <a:solidFill>
                          <a:srgbClr val="000000"/>
                        </a:solidFill>
                        <a:effectLst/>
                        <a:latin typeface="+mn-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55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66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89</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106</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137</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162</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185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211</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255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285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325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338</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355134608"/>
                  </a:ext>
                </a:extLst>
              </a:tr>
              <a:tr h="350157">
                <a:tc>
                  <a:txBody>
                    <a:bodyPr/>
                    <a:lstStyle/>
                    <a:p>
                      <a:pPr algn="l" fontAlgn="ctr"/>
                      <a:r>
                        <a:rPr lang="en-IN" sz="1200" u="none" strike="noStrike" dirty="0" smtClean="0">
                          <a:effectLst/>
                          <a:latin typeface="+mn-lt"/>
                        </a:rPr>
                        <a:t>Sales Projection</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ctr"/>
                      <a:r>
                        <a:rPr lang="en-IN" sz="1200" u="none" strike="noStrike">
                          <a:effectLst/>
                          <a:latin typeface="+mn-lt"/>
                        </a:rPr>
                        <a:t>GWh</a:t>
                      </a:r>
                      <a:endParaRPr lang="en-IN" sz="1200" b="0" i="0" u="none" strike="noStrike">
                        <a:solidFill>
                          <a:srgbClr val="000000"/>
                        </a:solidFill>
                        <a:effectLst/>
                        <a:latin typeface="+mn-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5,560</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6,346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8,603</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9,937</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11,397</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12,505</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13,732</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15,199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16,732</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18,474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20,808</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21,059</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358191357"/>
                  </a:ext>
                </a:extLst>
              </a:tr>
              <a:tr h="350157">
                <a:tc>
                  <a:txBody>
                    <a:bodyPr/>
                    <a:lstStyle/>
                    <a:p>
                      <a:pPr algn="l" fontAlgn="ctr"/>
                      <a:r>
                        <a:rPr lang="en-IN" sz="1200" u="none" strike="noStrike" dirty="0" smtClean="0">
                          <a:effectLst/>
                          <a:latin typeface="+mn-lt"/>
                        </a:rPr>
                        <a:t>ABR (Cost Reflective)</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fontAlgn="ctr"/>
                      <a:r>
                        <a:rPr lang="en-IN" sz="1200" u="none" strike="noStrike" dirty="0" smtClean="0">
                          <a:effectLst/>
                          <a:latin typeface="+mn-lt"/>
                        </a:rPr>
                        <a:t>NPR/kWh </a:t>
                      </a:r>
                      <a:endParaRPr lang="en-IN" sz="1200" b="0" i="0" u="none" strike="noStrike" dirty="0">
                        <a:solidFill>
                          <a:srgbClr val="000000"/>
                        </a:solidFill>
                        <a:effectLst/>
                        <a:latin typeface="+mn-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10.0</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10.4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10.4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dirty="0" smtClean="0">
                          <a:solidFill>
                            <a:srgbClr val="000000"/>
                          </a:solidFill>
                          <a:effectLst/>
                          <a:latin typeface="+mj-lt"/>
                          <a:ea typeface="Times New Roman" panose="02020603050405020304" pitchFamily="18" charset="0"/>
                          <a:cs typeface="Calibri" panose="020F0502020204030204" pitchFamily="34" charset="0"/>
                        </a:rPr>
                        <a:t>10.7</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12.0</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13.0</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13.5</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13.9</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15.2</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15.4</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15.6</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16.1</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82416603"/>
                  </a:ext>
                </a:extLst>
              </a:tr>
              <a:tr h="350157">
                <a:tc>
                  <a:txBody>
                    <a:bodyPr/>
                    <a:lstStyle/>
                    <a:p>
                      <a:pPr algn="l" fontAlgn="ctr"/>
                      <a:r>
                        <a:rPr lang="en-IN" sz="1200" u="none" strike="noStrike" dirty="0">
                          <a:effectLst/>
                          <a:latin typeface="+mn-lt"/>
                        </a:rPr>
                        <a:t>Growth</a:t>
                      </a:r>
                      <a:endParaRPr lang="en-IN" sz="1200" b="0" i="0" u="none" strike="noStrike" dirty="0">
                        <a:solidFill>
                          <a:srgbClr val="000000"/>
                        </a:solidFill>
                        <a:effectLst/>
                        <a:latin typeface="+mn-lt"/>
                      </a:endParaRPr>
                    </a:p>
                  </a:txBody>
                  <a:tcPr marL="0" marR="0" marT="0"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ctr"/>
                      <a:r>
                        <a:rPr lang="en-IN" sz="1200" u="none" strike="noStrike" dirty="0">
                          <a:effectLst/>
                          <a:latin typeface="+mn-lt"/>
                        </a:rPr>
                        <a:t>%</a:t>
                      </a:r>
                      <a:endParaRPr lang="en-IN" sz="1200" b="0" i="0" u="none" strike="noStrike" dirty="0">
                        <a:solidFill>
                          <a:srgbClr val="000000"/>
                        </a:solidFill>
                        <a:effectLst/>
                        <a:latin typeface="+mn-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pPr>
                      <a:endParaRPr lang="en-IN" sz="1200">
                        <a:effectLst/>
                        <a:latin typeface="+mj-lt"/>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pPr>
                      <a:endParaRPr lang="en-IN" sz="1200">
                        <a:effectLst/>
                        <a:latin typeface="+mj-lt"/>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pPr>
                      <a:endParaRPr lang="en-IN" sz="1200">
                        <a:effectLst/>
                        <a:latin typeface="+mj-lt"/>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2%</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a:solidFill>
                            <a:srgbClr val="000000"/>
                          </a:solidFill>
                          <a:effectLst/>
                          <a:latin typeface="+mj-lt"/>
                          <a:ea typeface="Times New Roman" panose="02020603050405020304" pitchFamily="18" charset="0"/>
                          <a:cs typeface="Calibri" panose="020F0502020204030204" pitchFamily="34" charset="0"/>
                        </a:rPr>
                        <a:t>13%</a:t>
                      </a:r>
                      <a:endParaRPr lang="en-IN" sz="120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8%</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4%</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3%</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10%</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1%</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en-IN" sz="1200" dirty="0">
                          <a:solidFill>
                            <a:srgbClr val="000000"/>
                          </a:solidFill>
                          <a:effectLst/>
                          <a:latin typeface="+mj-lt"/>
                          <a:ea typeface="Times New Roman" panose="02020603050405020304" pitchFamily="18" charset="0"/>
                          <a:cs typeface="Calibri" panose="020F0502020204030204" pitchFamily="34" charset="0"/>
                        </a:rPr>
                        <a:t>3%</a:t>
                      </a:r>
                      <a:endParaRPr lang="en-IN" sz="1200" dirty="0">
                        <a:effectLst/>
                        <a:latin typeface="+mj-lt"/>
                        <a:ea typeface="Calibri" panose="020F0502020204030204" pitchFamily="34" charset="0"/>
                        <a:cs typeface="Times New Roman" panose="02020603050405020304" pitchFamily="18" charset="0"/>
                      </a:endParaRPr>
                    </a:p>
                  </a:txBody>
                  <a:tcPr marL="68580" marR="68580" marT="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5487652"/>
                  </a:ext>
                </a:extLst>
              </a:tr>
            </a:tbl>
          </a:graphicData>
        </a:graphic>
      </p:graphicFrame>
      <p:sp>
        <p:nvSpPr>
          <p:cNvPr id="6" name="TextBox 5"/>
          <p:cNvSpPr txBox="1"/>
          <p:nvPr/>
        </p:nvSpPr>
        <p:spPr>
          <a:xfrm>
            <a:off x="469900" y="6150529"/>
            <a:ext cx="9788638" cy="138499"/>
          </a:xfrm>
          <a:prstGeom prst="rect">
            <a:avLst/>
          </a:prstGeom>
          <a:noFill/>
        </p:spPr>
        <p:txBody>
          <a:bodyPr wrap="square" lIns="0" tIns="0" rIns="0" bIns="0" rtlCol="0">
            <a:spAutoFit/>
          </a:bodyPr>
          <a:lstStyle/>
          <a:p>
            <a:pPr>
              <a:spcBef>
                <a:spcPts val="600"/>
              </a:spcBef>
              <a:buSzPct val="100000"/>
            </a:pPr>
            <a:r>
              <a:rPr lang="en-US" sz="900" i="1" dirty="0" smtClean="0">
                <a:solidFill>
                  <a:srgbClr val="313131"/>
                </a:solidFill>
              </a:rPr>
              <a:t>*Actual for FY18 &amp; FY19; # Provisional for FY20 (No increase in tariff in FY20)</a:t>
            </a:r>
          </a:p>
        </p:txBody>
      </p:sp>
      <p:sp>
        <p:nvSpPr>
          <p:cNvPr id="7" name="Content Placeholder 3"/>
          <p:cNvSpPr txBox="1">
            <a:spLocks/>
          </p:cNvSpPr>
          <p:nvPr/>
        </p:nvSpPr>
        <p:spPr>
          <a:xfrm>
            <a:off x="469900" y="1493943"/>
            <a:ext cx="11252200" cy="2165144"/>
          </a:xfrm>
          <a:prstGeom prst="rect">
            <a:avLst/>
          </a:prstGeom>
        </p:spPr>
        <p:txBody>
          <a:bodyPr>
            <a:noAutofit/>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smtClean="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03200" indent="-203200">
              <a:spcAft>
                <a:spcPts val="1200"/>
              </a:spcAft>
              <a:buFont typeface="Arial"/>
              <a:buChar char="•"/>
            </a:pPr>
            <a:r>
              <a:rPr lang="en-US" sz="1400" dirty="0">
                <a:solidFill>
                  <a:srgbClr val="313131"/>
                </a:solidFill>
              </a:rPr>
              <a:t>Base case assumes that NEA earns a minimum post tax Return on Assets (</a:t>
            </a:r>
            <a:r>
              <a:rPr lang="en-US" sz="1400" dirty="0" err="1" smtClean="0">
                <a:solidFill>
                  <a:srgbClr val="313131"/>
                </a:solidFill>
              </a:rPr>
              <a:t>RoA</a:t>
            </a:r>
            <a:r>
              <a:rPr lang="en-US" sz="1400" dirty="0" smtClean="0">
                <a:solidFill>
                  <a:srgbClr val="313131"/>
                </a:solidFill>
              </a:rPr>
              <a:t>) </a:t>
            </a:r>
            <a:r>
              <a:rPr lang="en-US" sz="1400" dirty="0">
                <a:solidFill>
                  <a:srgbClr val="313131"/>
                </a:solidFill>
              </a:rPr>
              <a:t>of 5% from </a:t>
            </a:r>
            <a:r>
              <a:rPr lang="en-US" sz="1400" dirty="0" smtClean="0">
                <a:solidFill>
                  <a:srgbClr val="313131"/>
                </a:solidFill>
              </a:rPr>
              <a:t>FY20 </a:t>
            </a:r>
            <a:r>
              <a:rPr lang="en-US" sz="1400" dirty="0">
                <a:solidFill>
                  <a:srgbClr val="313131"/>
                </a:solidFill>
              </a:rPr>
              <a:t>onwards which is gradually increased to 6%. It also assumes that banking of energy with India is effective to net off import cost of electricity. Further, 50% surplus of energy, after banking requirements, is exported to India at a price of 4.8 NPR/kWh with 3% escalation</a:t>
            </a:r>
          </a:p>
          <a:p>
            <a:pPr marL="203200" indent="-203200">
              <a:spcAft>
                <a:spcPts val="1200"/>
              </a:spcAft>
              <a:buFont typeface="Arial"/>
              <a:buChar char="•"/>
            </a:pPr>
            <a:r>
              <a:rPr lang="en-US" sz="1400" dirty="0">
                <a:solidFill>
                  <a:srgbClr val="313131"/>
                </a:solidFill>
              </a:rPr>
              <a:t>Based on the above base case assumptions, the table below provides the year-on-year revenue requirement (Cost + Return) of NEA.</a:t>
            </a:r>
          </a:p>
          <a:p>
            <a:pPr marL="203200" indent="-203200">
              <a:spcAft>
                <a:spcPts val="1200"/>
              </a:spcAft>
              <a:buFont typeface="Arial"/>
              <a:buChar char="•"/>
            </a:pPr>
            <a:r>
              <a:rPr lang="en-US" sz="1400" dirty="0">
                <a:solidFill>
                  <a:srgbClr val="313131"/>
                </a:solidFill>
              </a:rPr>
              <a:t>Based on the projected revenue requirement and sales, the year-on-year consumer ABR required to meet costs and earn a reasonable return for NEA, is provided in the table below:</a:t>
            </a:r>
          </a:p>
        </p:txBody>
      </p:sp>
    </p:spTree>
    <p:extLst>
      <p:ext uri="{BB962C8B-B14F-4D97-AF65-F5344CB8AC3E}">
        <p14:creationId xmlns:p14="http://schemas.microsoft.com/office/powerpoint/2010/main" val="322606337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Tariff hike required by NEA can be smoothened by providing an increase in tariff of </a:t>
            </a:r>
            <a:r>
              <a:rPr lang="en-US" dirty="0" smtClean="0"/>
              <a:t>16% </a:t>
            </a:r>
            <a:r>
              <a:rPr lang="en-US" dirty="0" smtClean="0"/>
              <a:t>in FY21, then </a:t>
            </a:r>
            <a:r>
              <a:rPr lang="en-US" dirty="0" smtClean="0"/>
              <a:t>13% in FY23, then 12% in FY25 and then </a:t>
            </a:r>
            <a:r>
              <a:rPr lang="en-US" dirty="0"/>
              <a:t>6</a:t>
            </a:r>
            <a:r>
              <a:rPr lang="en-US" dirty="0" smtClean="0"/>
              <a:t>% in FY27</a:t>
            </a:r>
            <a:endParaRPr lang="en-US" dirty="0"/>
          </a:p>
        </p:txBody>
      </p:sp>
      <p:sp>
        <p:nvSpPr>
          <p:cNvPr id="3" name="Title 2"/>
          <p:cNvSpPr>
            <a:spLocks noGrp="1"/>
          </p:cNvSpPr>
          <p:nvPr>
            <p:ph type="title"/>
          </p:nvPr>
        </p:nvSpPr>
        <p:spPr/>
        <p:txBody>
          <a:bodyPr/>
          <a:lstStyle/>
          <a:p>
            <a:r>
              <a:rPr lang="en-IN" dirty="0" smtClean="0"/>
              <a:t>Smoothed out Tariff Trajectory</a:t>
            </a:r>
            <a:endParaRPr lang="en-IN" dirty="0"/>
          </a:p>
        </p:txBody>
      </p:sp>
      <p:graphicFrame>
        <p:nvGraphicFramePr>
          <p:cNvPr id="4" name="Chart 3"/>
          <p:cNvGraphicFramePr/>
          <p:nvPr>
            <p:extLst>
              <p:ext uri="{D42A27DB-BD31-4B8C-83A1-F6EECF244321}">
                <p14:modId xmlns:p14="http://schemas.microsoft.com/office/powerpoint/2010/main" val="3734442692"/>
              </p:ext>
            </p:extLst>
          </p:nvPr>
        </p:nvGraphicFramePr>
        <p:xfrm>
          <a:off x="469900" y="1828045"/>
          <a:ext cx="11209278" cy="2960076"/>
        </p:xfrm>
        <a:graphic>
          <a:graphicData uri="http://schemas.openxmlformats.org/drawingml/2006/chart">
            <c:chart xmlns:c="http://schemas.openxmlformats.org/drawingml/2006/chart" xmlns:r="http://schemas.openxmlformats.org/officeDocument/2006/relationships" r:id="rId2"/>
          </a:graphicData>
        </a:graphic>
      </p:graphicFrame>
      <p:sp>
        <p:nvSpPr>
          <p:cNvPr id="5" name="Content Placeholder 2"/>
          <p:cNvSpPr txBox="1">
            <a:spLocks/>
          </p:cNvSpPr>
          <p:nvPr/>
        </p:nvSpPr>
        <p:spPr>
          <a:xfrm>
            <a:off x="469900" y="4957082"/>
            <a:ext cx="11252200" cy="1221266"/>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a:solidFill>
                  <a:srgbClr val="313131"/>
                </a:solidFill>
                <a:ea typeface="+mn-ea"/>
                <a:cs typeface="+mn-cs"/>
              </a:rPr>
              <a:t>A </a:t>
            </a:r>
            <a:r>
              <a:rPr lang="en-US" sz="1400" dirty="0" smtClean="0">
                <a:solidFill>
                  <a:srgbClr val="313131"/>
                </a:solidFill>
                <a:ea typeface="+mn-ea"/>
                <a:cs typeface="+mn-cs"/>
              </a:rPr>
              <a:t>16% </a:t>
            </a:r>
            <a:r>
              <a:rPr lang="en-US" sz="1400" dirty="0">
                <a:solidFill>
                  <a:srgbClr val="313131"/>
                </a:solidFill>
                <a:ea typeface="+mn-ea"/>
                <a:cs typeface="+mn-cs"/>
              </a:rPr>
              <a:t>tariff hike in </a:t>
            </a:r>
            <a:r>
              <a:rPr lang="en-US" sz="1400" dirty="0" smtClean="0">
                <a:solidFill>
                  <a:srgbClr val="313131"/>
                </a:solidFill>
                <a:ea typeface="+mn-ea"/>
                <a:cs typeface="+mn-cs"/>
              </a:rPr>
              <a:t>year </a:t>
            </a:r>
            <a:r>
              <a:rPr lang="en-US" sz="1400" dirty="0" smtClean="0">
                <a:solidFill>
                  <a:srgbClr val="313131"/>
                </a:solidFill>
                <a:ea typeface="+mn-ea"/>
                <a:cs typeface="+mn-cs"/>
              </a:rPr>
              <a:t>FY21, </a:t>
            </a:r>
            <a:r>
              <a:rPr lang="en-US" sz="1400" dirty="0" smtClean="0">
                <a:solidFill>
                  <a:srgbClr val="313131"/>
                </a:solidFill>
                <a:ea typeface="+mn-ea"/>
                <a:cs typeface="+mn-cs"/>
              </a:rPr>
              <a:t>13% </a:t>
            </a:r>
            <a:r>
              <a:rPr lang="en-US" sz="1400" dirty="0">
                <a:solidFill>
                  <a:srgbClr val="313131"/>
                </a:solidFill>
                <a:ea typeface="+mn-ea"/>
                <a:cs typeface="+mn-cs"/>
              </a:rPr>
              <a:t>tariff hike in </a:t>
            </a:r>
            <a:r>
              <a:rPr lang="en-US" sz="1400" dirty="0" smtClean="0">
                <a:solidFill>
                  <a:srgbClr val="313131"/>
                </a:solidFill>
                <a:ea typeface="+mn-ea"/>
                <a:cs typeface="+mn-cs"/>
              </a:rPr>
              <a:t>FY23, 12% tariff hike in FY25 and 6</a:t>
            </a:r>
            <a:r>
              <a:rPr lang="en-US" sz="1400" dirty="0" smtClean="0">
                <a:solidFill>
                  <a:srgbClr val="313131"/>
                </a:solidFill>
                <a:ea typeface="+mn-ea"/>
                <a:cs typeface="+mn-cs"/>
              </a:rPr>
              <a:t>% tariff hike in FY27 </a:t>
            </a:r>
            <a:r>
              <a:rPr lang="en-US" sz="1400" dirty="0">
                <a:solidFill>
                  <a:srgbClr val="313131"/>
                </a:solidFill>
                <a:ea typeface="+mn-ea"/>
                <a:cs typeface="+mn-cs"/>
              </a:rPr>
              <a:t>will be adequate to cover all costs and earn reasonable return for NEA</a:t>
            </a:r>
          </a:p>
          <a:p>
            <a:pPr marL="203200" lvl="1" indent="-203200" defTabSz="1219170">
              <a:spcAft>
                <a:spcPts val="1200"/>
              </a:spcAft>
              <a:buSzPct val="100000"/>
              <a:buFont typeface="Arial"/>
              <a:buChar char="•"/>
            </a:pPr>
            <a:r>
              <a:rPr lang="en-US" sz="1400" dirty="0">
                <a:solidFill>
                  <a:srgbClr val="313131"/>
                </a:solidFill>
                <a:ea typeface="+mn-ea"/>
                <a:cs typeface="+mn-cs"/>
              </a:rPr>
              <a:t>VGF requirement of </a:t>
            </a:r>
            <a:r>
              <a:rPr lang="en-US" sz="1400" dirty="0" smtClean="0">
                <a:solidFill>
                  <a:srgbClr val="313131"/>
                </a:solidFill>
                <a:ea typeface="+mn-ea"/>
                <a:cs typeface="+mn-cs"/>
              </a:rPr>
              <a:t>545 </a:t>
            </a:r>
            <a:r>
              <a:rPr lang="en-US" sz="1400" dirty="0" err="1">
                <a:solidFill>
                  <a:srgbClr val="313131"/>
                </a:solidFill>
                <a:ea typeface="+mn-ea"/>
                <a:cs typeface="+mn-cs"/>
              </a:rPr>
              <a:t>Bn</a:t>
            </a:r>
            <a:r>
              <a:rPr lang="en-US" sz="1400" dirty="0">
                <a:solidFill>
                  <a:srgbClr val="313131"/>
                </a:solidFill>
                <a:ea typeface="+mn-ea"/>
                <a:cs typeface="+mn-cs"/>
              </a:rPr>
              <a:t> NPR (</a:t>
            </a:r>
            <a:r>
              <a:rPr lang="en-US" sz="1400" dirty="0" smtClean="0">
                <a:solidFill>
                  <a:srgbClr val="313131"/>
                </a:solidFill>
                <a:ea typeface="+mn-ea"/>
                <a:cs typeface="+mn-cs"/>
              </a:rPr>
              <a:t>4.7 </a:t>
            </a:r>
            <a:r>
              <a:rPr lang="en-US" sz="1400" dirty="0" err="1">
                <a:solidFill>
                  <a:srgbClr val="313131"/>
                </a:solidFill>
                <a:ea typeface="+mn-ea"/>
                <a:cs typeface="+mn-cs"/>
              </a:rPr>
              <a:t>Bn</a:t>
            </a:r>
            <a:r>
              <a:rPr lang="en-US" sz="1400" dirty="0">
                <a:solidFill>
                  <a:srgbClr val="313131"/>
                </a:solidFill>
                <a:ea typeface="+mn-ea"/>
                <a:cs typeface="+mn-cs"/>
              </a:rPr>
              <a:t> USD) would be required over next 10 years, if there is no tariff increase assumed for the next 10 years, after taking into consideration revenue from export of power</a:t>
            </a:r>
          </a:p>
        </p:txBody>
      </p:sp>
    </p:spTree>
    <p:extLst>
      <p:ext uri="{BB962C8B-B14F-4D97-AF65-F5344CB8AC3E}">
        <p14:creationId xmlns:p14="http://schemas.microsoft.com/office/powerpoint/2010/main" val="206088840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The two levers of financial sustainability</a:t>
            </a:r>
            <a:endParaRPr lang="en-IN" dirty="0"/>
          </a:p>
        </p:txBody>
      </p:sp>
      <p:sp>
        <p:nvSpPr>
          <p:cNvPr id="3" name="Title 2"/>
          <p:cNvSpPr>
            <a:spLocks noGrp="1"/>
          </p:cNvSpPr>
          <p:nvPr>
            <p:ph type="title"/>
          </p:nvPr>
        </p:nvSpPr>
        <p:spPr/>
        <p:txBody>
          <a:bodyPr/>
          <a:lstStyle/>
          <a:p>
            <a:r>
              <a:rPr lang="en-IN" dirty="0" smtClean="0"/>
              <a:t>Tariff hike scenarios and VGF requirements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467854639"/>
              </p:ext>
            </p:extLst>
          </p:nvPr>
        </p:nvGraphicFramePr>
        <p:xfrm>
          <a:off x="439796" y="2670341"/>
          <a:ext cx="11282304" cy="2774299"/>
        </p:xfrm>
        <a:graphic>
          <a:graphicData uri="http://schemas.openxmlformats.org/drawingml/2006/table">
            <a:tbl>
              <a:tblPr firstRow="1">
                <a:tableStyleId>{793D81CF-94F2-401A-BA57-92F5A7B2D0C5}</a:tableStyleId>
              </a:tblPr>
              <a:tblGrid>
                <a:gridCol w="1404454">
                  <a:extLst>
                    <a:ext uri="{9D8B030D-6E8A-4147-A177-3AD203B41FA5}">
                      <a16:colId xmlns:a16="http://schemas.microsoft.com/office/drawing/2014/main" val="2296850150"/>
                    </a:ext>
                  </a:extLst>
                </a:gridCol>
                <a:gridCol w="915202">
                  <a:extLst>
                    <a:ext uri="{9D8B030D-6E8A-4147-A177-3AD203B41FA5}">
                      <a16:colId xmlns:a16="http://schemas.microsoft.com/office/drawing/2014/main" val="2817488969"/>
                    </a:ext>
                  </a:extLst>
                </a:gridCol>
                <a:gridCol w="915202">
                  <a:extLst>
                    <a:ext uri="{9D8B030D-6E8A-4147-A177-3AD203B41FA5}">
                      <a16:colId xmlns:a16="http://schemas.microsoft.com/office/drawing/2014/main" val="2586368616"/>
                    </a:ext>
                  </a:extLst>
                </a:gridCol>
                <a:gridCol w="731586">
                  <a:extLst>
                    <a:ext uri="{9D8B030D-6E8A-4147-A177-3AD203B41FA5}">
                      <a16:colId xmlns:a16="http://schemas.microsoft.com/office/drawing/2014/main" val="2995444355"/>
                    </a:ext>
                  </a:extLst>
                </a:gridCol>
                <a:gridCol w="731586">
                  <a:extLst>
                    <a:ext uri="{9D8B030D-6E8A-4147-A177-3AD203B41FA5}">
                      <a16:colId xmlns:a16="http://schemas.microsoft.com/office/drawing/2014/main" val="3595342630"/>
                    </a:ext>
                  </a:extLst>
                </a:gridCol>
                <a:gridCol w="731586">
                  <a:extLst>
                    <a:ext uri="{9D8B030D-6E8A-4147-A177-3AD203B41FA5}">
                      <a16:colId xmlns:a16="http://schemas.microsoft.com/office/drawing/2014/main" val="4216194"/>
                    </a:ext>
                  </a:extLst>
                </a:gridCol>
                <a:gridCol w="731586">
                  <a:extLst>
                    <a:ext uri="{9D8B030D-6E8A-4147-A177-3AD203B41FA5}">
                      <a16:colId xmlns:a16="http://schemas.microsoft.com/office/drawing/2014/main" val="4074475058"/>
                    </a:ext>
                  </a:extLst>
                </a:gridCol>
                <a:gridCol w="731586">
                  <a:extLst>
                    <a:ext uri="{9D8B030D-6E8A-4147-A177-3AD203B41FA5}">
                      <a16:colId xmlns:a16="http://schemas.microsoft.com/office/drawing/2014/main" val="722350917"/>
                    </a:ext>
                  </a:extLst>
                </a:gridCol>
                <a:gridCol w="731586">
                  <a:extLst>
                    <a:ext uri="{9D8B030D-6E8A-4147-A177-3AD203B41FA5}">
                      <a16:colId xmlns:a16="http://schemas.microsoft.com/office/drawing/2014/main" val="1246558864"/>
                    </a:ext>
                  </a:extLst>
                </a:gridCol>
                <a:gridCol w="731586">
                  <a:extLst>
                    <a:ext uri="{9D8B030D-6E8A-4147-A177-3AD203B41FA5}">
                      <a16:colId xmlns:a16="http://schemas.microsoft.com/office/drawing/2014/main" val="130530371"/>
                    </a:ext>
                  </a:extLst>
                </a:gridCol>
                <a:gridCol w="731586">
                  <a:extLst>
                    <a:ext uri="{9D8B030D-6E8A-4147-A177-3AD203B41FA5}">
                      <a16:colId xmlns:a16="http://schemas.microsoft.com/office/drawing/2014/main" val="4159936873"/>
                    </a:ext>
                  </a:extLst>
                </a:gridCol>
                <a:gridCol w="731586">
                  <a:extLst>
                    <a:ext uri="{9D8B030D-6E8A-4147-A177-3AD203B41FA5}">
                      <a16:colId xmlns:a16="http://schemas.microsoft.com/office/drawing/2014/main" val="679363937"/>
                    </a:ext>
                  </a:extLst>
                </a:gridCol>
                <a:gridCol w="731586">
                  <a:extLst>
                    <a:ext uri="{9D8B030D-6E8A-4147-A177-3AD203B41FA5}">
                      <a16:colId xmlns:a16="http://schemas.microsoft.com/office/drawing/2014/main" val="2282574559"/>
                    </a:ext>
                  </a:extLst>
                </a:gridCol>
                <a:gridCol w="731586">
                  <a:extLst>
                    <a:ext uri="{9D8B030D-6E8A-4147-A177-3AD203B41FA5}">
                      <a16:colId xmlns:a16="http://schemas.microsoft.com/office/drawing/2014/main" val="1904768664"/>
                    </a:ext>
                  </a:extLst>
                </a:gridCol>
              </a:tblGrid>
              <a:tr h="184976">
                <a:tc gridSpan="3">
                  <a:txBody>
                    <a:bodyPr/>
                    <a:lstStyle/>
                    <a:p>
                      <a:pPr algn="ctr" fontAlgn="b"/>
                      <a:r>
                        <a:rPr lang="en-US" sz="1200" b="1" i="0" u="none" strike="noStrike" dirty="0" smtClean="0">
                          <a:solidFill>
                            <a:schemeClr val="bg1"/>
                          </a:solidFill>
                          <a:effectLst/>
                          <a:latin typeface="+mj-lt"/>
                        </a:rPr>
                        <a:t>Scenario</a:t>
                      </a:r>
                      <a:endParaRPr lang="en-IN" sz="1200" b="1" i="0" u="none" strike="noStrike" dirty="0">
                        <a:solidFill>
                          <a:schemeClr val="bg1"/>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IN" sz="1200" b="0" i="0" u="none" strike="noStrike" dirty="0">
                        <a:solidFill>
                          <a:srgbClr val="000000"/>
                        </a:solidFill>
                        <a:effectLst/>
                        <a:latin typeface="+mj-lt"/>
                      </a:endParaRPr>
                    </a:p>
                  </a:txBody>
                  <a:tcPr marL="6554" marR="6554" marT="6554" marB="0" anchor="ctr"/>
                </a:tc>
                <a:tc hMerge="1">
                  <a:txBody>
                    <a:bodyPr/>
                    <a:lstStyle/>
                    <a:p>
                      <a:pPr algn="ctr" fontAlgn="b"/>
                      <a:endParaRPr lang="en-IN" sz="1200" b="0" i="0" u="none" strike="noStrike" dirty="0">
                        <a:solidFill>
                          <a:srgbClr val="000000"/>
                        </a:solidFill>
                        <a:effectLst/>
                        <a:latin typeface="+mj-lt"/>
                      </a:endParaRPr>
                    </a:p>
                  </a:txBody>
                  <a:tcPr marL="6554" marR="6554" marT="6554" marB="0" anchor="ctr"/>
                </a:tc>
                <a:tc gridSpan="10">
                  <a:txBody>
                    <a:bodyPr/>
                    <a:lstStyle/>
                    <a:p>
                      <a:pPr algn="ctr" fontAlgn="b"/>
                      <a:r>
                        <a:rPr lang="en-IN" sz="1200" u="none" strike="noStrike" dirty="0">
                          <a:effectLst/>
                          <a:latin typeface="+mj-lt"/>
                        </a:rPr>
                        <a:t>Y-o-Y </a:t>
                      </a:r>
                      <a:r>
                        <a:rPr lang="en-IN" sz="1200" u="none" strike="noStrike" dirty="0" smtClean="0">
                          <a:effectLst/>
                          <a:latin typeface="+mj-lt"/>
                        </a:rPr>
                        <a:t>Tariff Increase (%)</a:t>
                      </a:r>
                      <a:endParaRPr lang="en-IN" sz="1200" b="0" i="0" u="none" strike="noStrike" dirty="0">
                        <a:solidFill>
                          <a:srgbClr val="000000"/>
                        </a:solidFill>
                        <a:effectLst/>
                        <a:latin typeface="+mj-lt"/>
                      </a:endParaRPr>
                    </a:p>
                  </a:txBody>
                  <a:tcPr marL="6554" marR="6554" marT="6554" marB="0" anchor="ctr">
                    <a:lnR w="12700" cap="flat" cmpd="sng" algn="ctr">
                      <a:solidFill>
                        <a:schemeClr val="tx1"/>
                      </a:solidFill>
                      <a:prstDash val="sysDash"/>
                      <a:round/>
                      <a:headEnd type="none" w="med" len="med"/>
                      <a:tailEnd type="none" w="med" len="med"/>
                    </a:lnR>
                    <a:lnT w="9525" cap="flat" cmpd="sng" algn="ctr">
                      <a:noFill/>
                      <a:prstDash val="solid"/>
                      <a:round/>
                      <a:headEnd type="none" w="med" len="med"/>
                      <a:tailEnd type="none" w="med" len="med"/>
                    </a:lnT>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rowSpan="2">
                  <a:txBody>
                    <a:bodyPr/>
                    <a:lstStyle/>
                    <a:p>
                      <a:pPr algn="ctr" fontAlgn="b"/>
                      <a:r>
                        <a:rPr lang="en-IN" sz="1200" b="1" u="none" strike="noStrike" dirty="0" smtClean="0">
                          <a:solidFill>
                            <a:schemeClr val="bg1"/>
                          </a:solidFill>
                          <a:effectLst/>
                          <a:latin typeface="+mj-lt"/>
                        </a:rPr>
                        <a:t>VGF</a:t>
                      </a:r>
                    </a:p>
                    <a:p>
                      <a:pPr algn="ctr" fontAlgn="b"/>
                      <a:r>
                        <a:rPr lang="en-US" sz="1200" b="1" i="0" u="none" strike="noStrike" dirty="0" smtClean="0">
                          <a:solidFill>
                            <a:schemeClr val="bg1"/>
                          </a:solidFill>
                          <a:effectLst/>
                          <a:latin typeface="+mj-lt"/>
                        </a:rPr>
                        <a:t>(</a:t>
                      </a:r>
                      <a:r>
                        <a:rPr lang="en-US" sz="1200" b="1" i="0" u="none" strike="noStrike" dirty="0" err="1" smtClean="0">
                          <a:solidFill>
                            <a:schemeClr val="bg1"/>
                          </a:solidFill>
                          <a:effectLst/>
                          <a:latin typeface="+mj-lt"/>
                        </a:rPr>
                        <a:t>Bn</a:t>
                      </a:r>
                      <a:r>
                        <a:rPr lang="en-US" sz="1200" b="1" i="0" u="none" strike="noStrike" dirty="0" smtClean="0">
                          <a:solidFill>
                            <a:schemeClr val="bg1"/>
                          </a:solidFill>
                          <a:effectLst/>
                          <a:latin typeface="+mj-lt"/>
                        </a:rPr>
                        <a:t> NPR)</a:t>
                      </a:r>
                      <a:endParaRPr lang="en-IN" sz="1200" b="1" i="0" u="none" strike="noStrike" dirty="0">
                        <a:solidFill>
                          <a:schemeClr val="bg1"/>
                        </a:solidFill>
                        <a:effectLst/>
                        <a:latin typeface="+mj-lt"/>
                      </a:endParaRPr>
                    </a:p>
                  </a:txBody>
                  <a:tcPr marL="36000" marR="6554" marT="36000" marB="0" anchor="ctr">
                    <a:lnL w="12700" cap="flat" cmpd="sng" algn="ctr">
                      <a:solidFill>
                        <a:schemeClr val="tx1"/>
                      </a:solidFill>
                      <a:prstDash val="sysDash"/>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tcPr>
                </a:tc>
                <a:extLst>
                  <a:ext uri="{0D108BD9-81ED-4DB2-BD59-A6C34878D82A}">
                    <a16:rowId xmlns:a16="http://schemas.microsoft.com/office/drawing/2014/main" val="1579024121"/>
                  </a:ext>
                </a:extLst>
              </a:tr>
              <a:tr h="378678">
                <a:tc>
                  <a:txBody>
                    <a:bodyPr/>
                    <a:lstStyle/>
                    <a:p>
                      <a:pPr algn="l" fontAlgn="b"/>
                      <a:r>
                        <a:rPr lang="en-IN" sz="1200" b="1" i="0" u="none" strike="noStrike" dirty="0" smtClean="0">
                          <a:solidFill>
                            <a:schemeClr val="tx1"/>
                          </a:solidFill>
                          <a:effectLst/>
                          <a:latin typeface="+mn-lt"/>
                        </a:rPr>
                        <a:t>Scenario No.</a:t>
                      </a:r>
                      <a:endParaRPr lang="en-IN" sz="1200" b="1" i="0" u="none" strike="noStrike" dirty="0">
                        <a:solidFill>
                          <a:schemeClr val="tx1"/>
                        </a:solidFill>
                        <a:effectLst/>
                        <a:latin typeface="+mn-lt"/>
                      </a:endParaRPr>
                    </a:p>
                  </a:txBody>
                  <a:tcPr marL="6554" marR="6554" marT="6554"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IN" sz="1200" b="1" dirty="0" smtClean="0">
                          <a:latin typeface="+mn-lt"/>
                        </a:rPr>
                        <a:t>Export</a:t>
                      </a:r>
                      <a:endParaRPr lang="en-IN" sz="1200" b="1" dirty="0">
                        <a:latin typeface="+mn-lt"/>
                      </a:endParaRPr>
                    </a:p>
                  </a:txBody>
                  <a:tcPr marL="36000" marR="6554"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IN" sz="1200" b="1" dirty="0" smtClean="0">
                          <a:latin typeface="+mn-lt"/>
                        </a:rPr>
                        <a:t>Banking</a:t>
                      </a:r>
                      <a:endParaRPr lang="en-IN" sz="1200" b="1" dirty="0">
                        <a:latin typeface="+mn-lt"/>
                      </a:endParaRPr>
                    </a:p>
                  </a:txBody>
                  <a:tcPr marL="36000" marR="6554" marT="3600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200" b="1" i="0" u="none" strike="noStrike" dirty="0">
                          <a:effectLst/>
                          <a:latin typeface="+mj-lt"/>
                        </a:rPr>
                        <a:t>FY20</a:t>
                      </a:r>
                      <a:endParaRPr lang="en-IN" sz="1200" b="1" i="0" u="none" strike="noStrike" dirty="0">
                        <a:solidFill>
                          <a:srgbClr val="000000"/>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tcPr>
                </a:tc>
                <a:tc>
                  <a:txBody>
                    <a:bodyPr/>
                    <a:lstStyle/>
                    <a:p>
                      <a:pPr algn="ctr" fontAlgn="b"/>
                      <a:r>
                        <a:rPr lang="en-IN" sz="1200" b="1" i="0" u="none" strike="noStrike" dirty="0">
                          <a:effectLst/>
                          <a:latin typeface="+mj-lt"/>
                        </a:rPr>
                        <a:t>FY21</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a:effectLst/>
                          <a:latin typeface="+mj-lt"/>
                        </a:rPr>
                        <a:t>FY22</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a:effectLst/>
                          <a:latin typeface="+mj-lt"/>
                        </a:rPr>
                        <a:t>FY23</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FY24</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FY25</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FY26</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FY27</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FY28</a:t>
                      </a:r>
                      <a:endParaRPr lang="en-IN" sz="1200" b="1" i="0" u="none" strike="noStrike" dirty="0">
                        <a:solidFill>
                          <a:srgbClr val="000000"/>
                        </a:solidFill>
                        <a:effectLst/>
                        <a:latin typeface="+mj-lt"/>
                      </a:endParaRPr>
                    </a:p>
                  </a:txBody>
                  <a:tcPr marL="36000" marR="6554" marT="36000" marB="0" anchor="ctr"/>
                </a:tc>
                <a:tc>
                  <a:txBody>
                    <a:bodyPr/>
                    <a:lstStyle/>
                    <a:p>
                      <a:pPr algn="ctr" fontAlgn="b"/>
                      <a:r>
                        <a:rPr lang="en-IN" sz="1200" b="1" i="0" u="none" strike="noStrike" dirty="0" smtClean="0">
                          <a:effectLst/>
                          <a:latin typeface="+mj-lt"/>
                        </a:rPr>
                        <a:t>FY29</a:t>
                      </a:r>
                      <a:endParaRPr lang="en-IN" sz="1200" b="1" i="0" u="none" strike="noStrike" dirty="0">
                        <a:solidFill>
                          <a:srgbClr val="000000"/>
                        </a:solidFill>
                        <a:effectLst/>
                        <a:latin typeface="+mj-lt"/>
                      </a:endParaRPr>
                    </a:p>
                  </a:txBody>
                  <a:tcPr marL="36000" marR="6554" marT="36000" marB="0" anchor="ctr"/>
                </a:tc>
                <a:tc vMerge="1">
                  <a:txBody>
                    <a:bodyPr/>
                    <a:lstStyle/>
                    <a:p>
                      <a:endParaRPr lang="en-IN"/>
                    </a:p>
                  </a:txBody>
                  <a:tcPr/>
                </a:tc>
                <a:extLst>
                  <a:ext uri="{0D108BD9-81ED-4DB2-BD59-A6C34878D82A}">
                    <a16:rowId xmlns:a16="http://schemas.microsoft.com/office/drawing/2014/main" val="4128328913"/>
                  </a:ext>
                </a:extLst>
              </a:tr>
              <a:tr h="219739">
                <a:tc>
                  <a:txBody>
                    <a:bodyPr/>
                    <a:lstStyle/>
                    <a:p>
                      <a:pPr algn="ctr" fontAlgn="b"/>
                      <a:r>
                        <a:rPr lang="en-US" sz="1200" b="0" i="0" u="none" strike="noStrike" dirty="0" smtClean="0">
                          <a:solidFill>
                            <a:srgbClr val="000000"/>
                          </a:solidFill>
                          <a:effectLst/>
                          <a:latin typeface="+mj-lt"/>
                        </a:rPr>
                        <a:t>Base Case</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50%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16%</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13%</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12%</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6%</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rgbClr val="000000"/>
                          </a:solidFill>
                          <a:effectLst/>
                          <a:latin typeface="+mj-lt"/>
                        </a:rPr>
                        <a:t>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dk1"/>
                          </a:solidFill>
                          <a:effectLst/>
                          <a:latin typeface="+mj-lt"/>
                        </a:rPr>
                        <a:t>0</a:t>
                      </a:r>
                      <a:endParaRPr lang="en-IN" sz="1200" b="0" i="0" u="none" strike="noStrike" dirty="0">
                        <a:solidFill>
                          <a:srgbClr val="000000"/>
                        </a:solidFill>
                        <a:effectLst/>
                        <a:latin typeface="+mj-lt"/>
                      </a:endParaRPr>
                    </a:p>
                  </a:txBody>
                  <a:tcPr marL="36000" marR="6554" marT="36000" marB="0" anchor="ctr">
                    <a:lnR w="9525" cap="flat" cmpd="sng" algn="ctr">
                      <a:no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6416385"/>
                  </a:ext>
                </a:extLst>
              </a:tr>
              <a:tr h="213729">
                <a:tc>
                  <a:txBody>
                    <a:bodyPr/>
                    <a:lstStyle/>
                    <a:p>
                      <a:pPr algn="ctr" fontAlgn="b"/>
                      <a:r>
                        <a:rPr lang="en-IN" sz="1200" b="0" i="0" u="none" strike="noStrike" dirty="0" smtClean="0">
                          <a:solidFill>
                            <a:srgbClr val="000000"/>
                          </a:solidFill>
                          <a:effectLst/>
                          <a:latin typeface="+mj-lt"/>
                        </a:rPr>
                        <a:t>1</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50%</a:t>
                      </a:r>
                      <a:endParaRPr lang="en-IN" sz="1200" b="0" i="0" u="none" strike="noStrike" dirty="0">
                        <a:solidFill>
                          <a:srgbClr val="000000"/>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US" sz="1200" b="0" i="0" u="none" strike="noStrike" dirty="0" smtClean="0">
                          <a:solidFill>
                            <a:schemeClr val="tx1"/>
                          </a:solidFill>
                          <a:effectLst/>
                          <a:latin typeface="+mj-lt"/>
                        </a:rPr>
                        <a:t>545</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26458473"/>
                  </a:ext>
                </a:extLst>
              </a:tr>
              <a:tr h="213729">
                <a:tc>
                  <a:txBody>
                    <a:bodyPr/>
                    <a:lstStyle/>
                    <a:p>
                      <a:pPr algn="ctr" fontAlgn="b"/>
                      <a:r>
                        <a:rPr lang="en-US" sz="1200" b="0" i="0" u="none" strike="noStrike" dirty="0" smtClean="0">
                          <a:solidFill>
                            <a:srgbClr val="000000"/>
                          </a:solidFill>
                          <a:effectLst/>
                          <a:latin typeface="+mj-lt"/>
                        </a:rPr>
                        <a:t>2</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50%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kumimoji="0" lang="en-US" sz="1200" b="0" i="0" u="none" strike="noStrike" kern="1200" cap="none" spc="0" normalizeH="0" baseline="0" noProof="0" dirty="0" smtClean="0">
                          <a:ln>
                            <a:noFill/>
                          </a:ln>
                          <a:solidFill>
                            <a:schemeClr val="tx1"/>
                          </a:solidFill>
                          <a:effectLst/>
                          <a:uLnTx/>
                          <a:uFillTx/>
                          <a:latin typeface="Verdana"/>
                          <a:ea typeface="+mn-ea"/>
                          <a:cs typeface="+mn-cs"/>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16914181"/>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n-lt"/>
                          <a:ea typeface="+mn-ea"/>
                          <a:cs typeface="+mn-cs"/>
                        </a:rPr>
                        <a:t>3</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50%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16%</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16%</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11%</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4%</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72</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7625081"/>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n-lt"/>
                          <a:ea typeface="+mn-ea"/>
                          <a:cs typeface="+mn-cs"/>
                        </a:rPr>
                        <a:t>4</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75%</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11%</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9%</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4%</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0003554"/>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n-lt"/>
                          <a:ea typeface="+mn-ea"/>
                          <a:cs typeface="+mn-cs"/>
                        </a:rPr>
                        <a:t>5</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90%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8%</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7%</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7%</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3%</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66921348"/>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n-lt"/>
                          <a:ea typeface="+mn-ea"/>
                          <a:cs typeface="+mn-cs"/>
                        </a:rPr>
                        <a:t>6</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15%</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14%</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6.5%</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55292235"/>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n-lt"/>
                          <a:ea typeface="+mn-ea"/>
                          <a:cs typeface="+mn-cs"/>
                        </a:rPr>
                        <a:t>7</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Verdana"/>
                          <a:ea typeface="+mn-ea"/>
                          <a:cs typeface="+mn-cs"/>
                        </a:rPr>
                        <a:t>Yes</a:t>
                      </a:r>
                      <a:endParaRPr kumimoji="0" lang="en-IN" sz="1200" b="0" i="0" u="none" strike="noStrike" kern="1200" cap="none" spc="0" normalizeH="0" baseline="0" noProof="0" dirty="0">
                        <a:ln>
                          <a:noFill/>
                        </a:ln>
                        <a:solidFill>
                          <a:srgbClr val="000000"/>
                        </a:solidFill>
                        <a:effectLst/>
                        <a:uLnTx/>
                        <a:uFillTx/>
                        <a:latin typeface="Verdana"/>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922</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87417192"/>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n-lt"/>
                          <a:ea typeface="+mn-ea"/>
                          <a:cs typeface="+mn-cs"/>
                        </a:rPr>
                        <a:t>8</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No</a:t>
                      </a:r>
                      <a:endParaRPr lang="en-IN" sz="1200" b="0" i="0" u="none" strike="noStrike" dirty="0">
                        <a:solidFill>
                          <a:schemeClr val="tx1"/>
                        </a:solidFill>
                        <a:effectLst/>
                        <a:latin typeface="+mj-lt"/>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15.5%</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14%</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10%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6.5%</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Verdana"/>
                          <a:ea typeface="+mn-ea"/>
                          <a:cs typeface="+mn-cs"/>
                        </a:rPr>
                        <a:t>6%</a:t>
                      </a:r>
                      <a:endParaRPr kumimoji="0" lang="en-IN" sz="1200" b="0" i="0" u="none" strike="noStrike" kern="1200" cap="none" spc="0" normalizeH="0" baseline="0" noProof="0" dirty="0">
                        <a:ln>
                          <a:noFill/>
                        </a:ln>
                        <a:solidFill>
                          <a:prstClr val="black"/>
                        </a:solidFill>
                        <a:effectLst/>
                        <a:uLnTx/>
                        <a:uFillTx/>
                        <a:latin typeface="Verdana"/>
                        <a:ea typeface="+mn-ea"/>
                        <a:cs typeface="+mn-cs"/>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32097268"/>
                  </a:ext>
                </a:extLst>
              </a:tr>
              <a:tr h="21372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n-lt"/>
                          <a:ea typeface="+mn-ea"/>
                          <a:cs typeface="+mn-cs"/>
                        </a:rPr>
                        <a:t>9</a:t>
                      </a:r>
                      <a:endParaRPr lang="en-IN" sz="1200" b="0" i="0" u="none" strike="noStrike" kern="1200" dirty="0" smtClean="0">
                        <a:solidFill>
                          <a:srgbClr val="000000"/>
                        </a:solidFill>
                        <a:effectLst/>
                        <a:latin typeface="+mn-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No</a:t>
                      </a:r>
                      <a:endParaRPr lang="en-IN" sz="1200" b="0" i="0" u="none" strike="noStrike" dirty="0">
                        <a:solidFill>
                          <a:schemeClr val="tx1"/>
                        </a:solidFill>
                        <a:effectLst/>
                        <a:latin typeface="+mj-lt"/>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927</a:t>
                      </a:r>
                      <a:endParaRPr lang="en-IN" sz="1200" b="0" i="0" u="none" strike="noStrike" dirty="0">
                        <a:solidFill>
                          <a:schemeClr val="tx1"/>
                        </a:solidFill>
                        <a:effectLst/>
                        <a:latin typeface="+mj-lt"/>
                      </a:endParaRPr>
                    </a:p>
                  </a:txBody>
                  <a:tcPr marL="36000" marR="6554" marT="36000" marB="0" anchor="ctr">
                    <a:lnR w="9525"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49024742"/>
                  </a:ext>
                </a:extLst>
              </a:tr>
            </a:tbl>
          </a:graphicData>
        </a:graphic>
      </p:graphicFrame>
      <p:sp>
        <p:nvSpPr>
          <p:cNvPr id="5" name="Content Placeholder 2"/>
          <p:cNvSpPr txBox="1">
            <a:spLocks/>
          </p:cNvSpPr>
          <p:nvPr/>
        </p:nvSpPr>
        <p:spPr>
          <a:xfrm>
            <a:off x="439796" y="5550408"/>
            <a:ext cx="11282304" cy="886602"/>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a:solidFill>
                  <a:srgbClr val="313131"/>
                </a:solidFill>
                <a:ea typeface="+mn-ea"/>
                <a:cs typeface="+mn-cs"/>
              </a:rPr>
              <a:t>A minimum hike of </a:t>
            </a:r>
            <a:r>
              <a:rPr lang="en-US" sz="1400" dirty="0" smtClean="0">
                <a:solidFill>
                  <a:srgbClr val="313131"/>
                </a:solidFill>
                <a:ea typeface="+mn-ea"/>
                <a:cs typeface="+mn-cs"/>
              </a:rPr>
              <a:t>16% </a:t>
            </a:r>
            <a:r>
              <a:rPr lang="en-US" sz="1400" dirty="0" smtClean="0">
                <a:solidFill>
                  <a:srgbClr val="313131"/>
                </a:solidFill>
                <a:ea typeface="+mn-ea"/>
                <a:cs typeface="+mn-cs"/>
              </a:rPr>
              <a:t>over next 2 years would </a:t>
            </a:r>
            <a:r>
              <a:rPr lang="en-US" sz="1400" dirty="0">
                <a:solidFill>
                  <a:srgbClr val="313131"/>
                </a:solidFill>
                <a:ea typeface="+mn-ea"/>
                <a:cs typeface="+mn-cs"/>
              </a:rPr>
              <a:t>be required to ensure no dependency on government funding for revenue/ capex support</a:t>
            </a:r>
          </a:p>
          <a:p>
            <a:pPr marL="203200" lvl="1" indent="-203200" defTabSz="1219170">
              <a:spcAft>
                <a:spcPts val="1200"/>
              </a:spcAft>
              <a:buSzPct val="100000"/>
              <a:buFont typeface="Arial"/>
              <a:buChar char="•"/>
            </a:pPr>
            <a:r>
              <a:rPr lang="en-US" sz="1400" dirty="0">
                <a:solidFill>
                  <a:srgbClr val="313131"/>
                </a:solidFill>
                <a:ea typeface="+mn-ea"/>
                <a:cs typeface="+mn-cs"/>
              </a:rPr>
              <a:t>In case there is a increase in exports quantum of the surplus power to India, a lesser increase in tariff will be required</a:t>
            </a:r>
          </a:p>
        </p:txBody>
      </p:sp>
      <p:sp>
        <p:nvSpPr>
          <p:cNvPr id="6" name="Content Placeholder 2"/>
          <p:cNvSpPr txBox="1">
            <a:spLocks/>
          </p:cNvSpPr>
          <p:nvPr/>
        </p:nvSpPr>
        <p:spPr>
          <a:xfrm>
            <a:off x="469900" y="1493943"/>
            <a:ext cx="11282304" cy="112541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a:solidFill>
                  <a:srgbClr val="313131"/>
                </a:solidFill>
                <a:ea typeface="+mn-ea"/>
                <a:cs typeface="+mn-cs"/>
              </a:rPr>
              <a:t>With nil tariff increase over the next 10 years, NEA would require a Viability Gap Funding (VGF) of </a:t>
            </a:r>
            <a:r>
              <a:rPr lang="en-US" sz="1400" dirty="0" smtClean="0">
                <a:solidFill>
                  <a:srgbClr val="313131"/>
                </a:solidFill>
                <a:ea typeface="+mn-ea"/>
                <a:cs typeface="+mn-cs"/>
              </a:rPr>
              <a:t>545 </a:t>
            </a:r>
            <a:r>
              <a:rPr lang="en-US" sz="1400" dirty="0" err="1">
                <a:solidFill>
                  <a:srgbClr val="313131"/>
                </a:solidFill>
                <a:ea typeface="+mn-ea"/>
                <a:cs typeface="+mn-cs"/>
              </a:rPr>
              <a:t>Bn</a:t>
            </a:r>
            <a:r>
              <a:rPr lang="en-US" sz="1400" dirty="0">
                <a:solidFill>
                  <a:srgbClr val="313131"/>
                </a:solidFill>
                <a:ea typeface="+mn-ea"/>
                <a:cs typeface="+mn-cs"/>
              </a:rPr>
              <a:t> NPR to recover its costs and return</a:t>
            </a:r>
          </a:p>
          <a:p>
            <a:pPr marL="203200" lvl="1" indent="-203200" defTabSz="1219170">
              <a:spcAft>
                <a:spcPts val="1200"/>
              </a:spcAft>
              <a:buSzPct val="100000"/>
              <a:buFont typeface="Arial"/>
              <a:buChar char="•"/>
            </a:pPr>
            <a:r>
              <a:rPr lang="en-US" sz="1400" dirty="0">
                <a:solidFill>
                  <a:srgbClr val="313131"/>
                </a:solidFill>
                <a:ea typeface="+mn-ea"/>
                <a:cs typeface="+mn-cs"/>
              </a:rPr>
              <a:t>Also the table below provides the tariff hike trajectory required to ensure nil VGF requirement under different scenarios of power export and banking</a:t>
            </a:r>
          </a:p>
        </p:txBody>
      </p:sp>
    </p:spTree>
    <p:extLst>
      <p:ext uri="{BB962C8B-B14F-4D97-AF65-F5344CB8AC3E}">
        <p14:creationId xmlns:p14="http://schemas.microsoft.com/office/powerpoint/2010/main" val="14532497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dirty="0"/>
          </a:p>
        </p:txBody>
      </p:sp>
      <p:sp>
        <p:nvSpPr>
          <p:cNvPr id="3" name="Title 2"/>
          <p:cNvSpPr>
            <a:spLocks noGrp="1"/>
          </p:cNvSpPr>
          <p:nvPr>
            <p:ph type="title"/>
          </p:nvPr>
        </p:nvSpPr>
        <p:spPr/>
        <p:txBody>
          <a:bodyPr/>
          <a:lstStyle/>
          <a:p>
            <a:r>
              <a:rPr lang="en-US" dirty="0" smtClean="0"/>
              <a:t>Ratio Analysis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994403763"/>
              </p:ext>
            </p:extLst>
          </p:nvPr>
        </p:nvGraphicFramePr>
        <p:xfrm>
          <a:off x="439796" y="2670340"/>
          <a:ext cx="11282307" cy="3269494"/>
        </p:xfrm>
        <a:graphic>
          <a:graphicData uri="http://schemas.openxmlformats.org/drawingml/2006/table">
            <a:tbl>
              <a:tblPr firstRow="1">
                <a:tableStyleId>{793D81CF-94F2-401A-BA57-92F5A7B2D0C5}</a:tableStyleId>
              </a:tblPr>
              <a:tblGrid>
                <a:gridCol w="1319489">
                  <a:extLst>
                    <a:ext uri="{9D8B030D-6E8A-4147-A177-3AD203B41FA5}">
                      <a16:colId xmlns:a16="http://schemas.microsoft.com/office/drawing/2014/main" val="2296850150"/>
                    </a:ext>
                  </a:extLst>
                </a:gridCol>
                <a:gridCol w="1319489">
                  <a:extLst>
                    <a:ext uri="{9D8B030D-6E8A-4147-A177-3AD203B41FA5}">
                      <a16:colId xmlns:a16="http://schemas.microsoft.com/office/drawing/2014/main" val="2817488969"/>
                    </a:ext>
                  </a:extLst>
                </a:gridCol>
                <a:gridCol w="1319489">
                  <a:extLst>
                    <a:ext uri="{9D8B030D-6E8A-4147-A177-3AD203B41FA5}">
                      <a16:colId xmlns:a16="http://schemas.microsoft.com/office/drawing/2014/main" val="2586368616"/>
                    </a:ext>
                  </a:extLst>
                </a:gridCol>
                <a:gridCol w="1220640">
                  <a:extLst>
                    <a:ext uri="{9D8B030D-6E8A-4147-A177-3AD203B41FA5}">
                      <a16:colId xmlns:a16="http://schemas.microsoft.com/office/drawing/2014/main" val="2995444355"/>
                    </a:ext>
                  </a:extLst>
                </a:gridCol>
                <a:gridCol w="1220640">
                  <a:extLst>
                    <a:ext uri="{9D8B030D-6E8A-4147-A177-3AD203B41FA5}">
                      <a16:colId xmlns:a16="http://schemas.microsoft.com/office/drawing/2014/main" val="3595342630"/>
                    </a:ext>
                  </a:extLst>
                </a:gridCol>
                <a:gridCol w="1220640">
                  <a:extLst>
                    <a:ext uri="{9D8B030D-6E8A-4147-A177-3AD203B41FA5}">
                      <a16:colId xmlns:a16="http://schemas.microsoft.com/office/drawing/2014/main" val="4216194"/>
                    </a:ext>
                  </a:extLst>
                </a:gridCol>
                <a:gridCol w="1220640">
                  <a:extLst>
                    <a:ext uri="{9D8B030D-6E8A-4147-A177-3AD203B41FA5}">
                      <a16:colId xmlns:a16="http://schemas.microsoft.com/office/drawing/2014/main" val="4074475058"/>
                    </a:ext>
                  </a:extLst>
                </a:gridCol>
                <a:gridCol w="1220640">
                  <a:extLst>
                    <a:ext uri="{9D8B030D-6E8A-4147-A177-3AD203B41FA5}">
                      <a16:colId xmlns:a16="http://schemas.microsoft.com/office/drawing/2014/main" val="722350917"/>
                    </a:ext>
                  </a:extLst>
                </a:gridCol>
                <a:gridCol w="1220640">
                  <a:extLst>
                    <a:ext uri="{9D8B030D-6E8A-4147-A177-3AD203B41FA5}">
                      <a16:colId xmlns:a16="http://schemas.microsoft.com/office/drawing/2014/main" val="1246558864"/>
                    </a:ext>
                  </a:extLst>
                </a:gridCol>
              </a:tblGrid>
              <a:tr h="223914">
                <a:tc gridSpan="3">
                  <a:txBody>
                    <a:bodyPr/>
                    <a:lstStyle/>
                    <a:p>
                      <a:pPr algn="ctr" fontAlgn="b"/>
                      <a:r>
                        <a:rPr lang="en-US" sz="1200" b="1" i="0" u="none" strike="noStrike" dirty="0" smtClean="0">
                          <a:solidFill>
                            <a:schemeClr val="bg1"/>
                          </a:solidFill>
                          <a:effectLst/>
                          <a:latin typeface="+mj-lt"/>
                        </a:rPr>
                        <a:t>Scenario</a:t>
                      </a:r>
                      <a:endParaRPr lang="en-IN" sz="1200" b="1" i="0" u="none" strike="noStrike" dirty="0">
                        <a:solidFill>
                          <a:schemeClr val="bg1"/>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b"/>
                      <a:endParaRPr lang="en-IN" sz="1200" b="0" i="0" u="none" strike="noStrike" dirty="0">
                        <a:solidFill>
                          <a:srgbClr val="000000"/>
                        </a:solidFill>
                        <a:effectLst/>
                        <a:latin typeface="+mj-lt"/>
                      </a:endParaRPr>
                    </a:p>
                  </a:txBody>
                  <a:tcPr marL="6554" marR="6554" marT="6554" marB="0" anchor="ctr"/>
                </a:tc>
                <a:tc hMerge="1">
                  <a:txBody>
                    <a:bodyPr/>
                    <a:lstStyle/>
                    <a:p>
                      <a:pPr algn="ctr" fontAlgn="b"/>
                      <a:endParaRPr lang="en-IN" sz="1200" b="0" i="0" u="none" strike="noStrike" dirty="0">
                        <a:solidFill>
                          <a:srgbClr val="000000"/>
                        </a:solidFill>
                        <a:effectLst/>
                        <a:latin typeface="+mj-lt"/>
                      </a:endParaRPr>
                    </a:p>
                  </a:txBody>
                  <a:tcPr marL="6554" marR="6554" marT="6554" marB="0" anchor="ctr"/>
                </a:tc>
                <a:tc gridSpan="6">
                  <a:txBody>
                    <a:bodyPr/>
                    <a:lstStyle/>
                    <a:p>
                      <a:pPr algn="ctr" fontAlgn="b"/>
                      <a:r>
                        <a:rPr lang="en-IN" sz="1200" u="none" strike="noStrike" dirty="0" smtClean="0">
                          <a:effectLst/>
                          <a:latin typeface="+mj-lt"/>
                        </a:rPr>
                        <a:t>Average</a:t>
                      </a:r>
                      <a:r>
                        <a:rPr lang="en-IN" sz="1200" u="none" strike="noStrike" baseline="0" dirty="0" smtClean="0">
                          <a:effectLst/>
                          <a:latin typeface="+mj-lt"/>
                        </a:rPr>
                        <a:t> of </a:t>
                      </a:r>
                      <a:r>
                        <a:rPr lang="en-IN" sz="1200" u="none" strike="noStrike" dirty="0" smtClean="0">
                          <a:effectLst/>
                          <a:latin typeface="+mj-lt"/>
                        </a:rPr>
                        <a:t>Ratio from</a:t>
                      </a:r>
                      <a:r>
                        <a:rPr lang="en-IN" sz="1200" u="none" strike="noStrike" baseline="0" dirty="0" smtClean="0">
                          <a:effectLst/>
                          <a:latin typeface="+mj-lt"/>
                        </a:rPr>
                        <a:t> FY 20 to FY24</a:t>
                      </a:r>
                      <a:endParaRPr lang="en-IN" sz="1200" b="0" i="0" u="none" strike="noStrike" dirty="0">
                        <a:solidFill>
                          <a:srgbClr val="000000"/>
                        </a:solidFill>
                        <a:effectLst/>
                        <a:latin typeface="+mj-lt"/>
                      </a:endParaRPr>
                    </a:p>
                  </a:txBody>
                  <a:tcPr marL="6554" marR="6554" marT="6554" marB="0" anchor="ctr">
                    <a:lnR w="12700" cap="flat" cmpd="sng" algn="ctr">
                      <a:solidFill>
                        <a:schemeClr val="tx1"/>
                      </a:solidFill>
                      <a:prstDash val="sysDash"/>
                      <a:round/>
                      <a:headEnd type="none" w="med" len="med"/>
                      <a:tailEnd type="none" w="med" len="med"/>
                    </a:lnR>
                    <a:lnT w="9525" cap="flat" cmpd="sng" algn="ctr">
                      <a:noFill/>
                      <a:prstDash val="solid"/>
                      <a:round/>
                      <a:headEnd type="none" w="med" len="med"/>
                      <a:tailEnd type="none" w="med" len="med"/>
                    </a:lnT>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579024121"/>
                  </a:ext>
                </a:extLst>
              </a:tr>
              <a:tr h="458390">
                <a:tc>
                  <a:txBody>
                    <a:bodyPr/>
                    <a:lstStyle/>
                    <a:p>
                      <a:pPr algn="ctr" fontAlgn="b"/>
                      <a:r>
                        <a:rPr lang="en-IN" sz="1200" b="1" i="0" u="none" strike="noStrike" dirty="0" smtClean="0">
                          <a:solidFill>
                            <a:schemeClr val="tx1"/>
                          </a:solidFill>
                          <a:effectLst/>
                          <a:latin typeface="+mj-lt"/>
                        </a:rPr>
                        <a:t>Scenario No.</a:t>
                      </a:r>
                      <a:endParaRPr lang="en-IN" sz="1200" b="1" i="0" u="none" strike="noStrike" dirty="0">
                        <a:solidFill>
                          <a:schemeClr val="tx1"/>
                        </a:solidFill>
                        <a:effectLst/>
                        <a:latin typeface="+mj-lt"/>
                      </a:endParaRPr>
                    </a:p>
                  </a:txBody>
                  <a:tcPr marL="6554" marR="6554" marT="6554" marB="0" anchor="ctr">
                    <a:lnL w="952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IN" sz="1200" b="1" dirty="0" smtClean="0">
                          <a:latin typeface="+mj-lt"/>
                        </a:rPr>
                        <a:t>Export</a:t>
                      </a:r>
                      <a:endParaRPr lang="en-IN" sz="1200" b="1" dirty="0">
                        <a:latin typeface="+mj-lt"/>
                      </a:endParaRPr>
                    </a:p>
                  </a:txBody>
                  <a:tcPr marL="36000" marR="6554" marT="3600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IN" sz="1200" b="1" dirty="0" smtClean="0">
                          <a:latin typeface="+mj-lt"/>
                        </a:rPr>
                        <a:t>Banking</a:t>
                      </a:r>
                      <a:endParaRPr lang="en-IN" sz="1200" b="1" dirty="0">
                        <a:latin typeface="+mj-lt"/>
                      </a:endParaRPr>
                    </a:p>
                  </a:txBody>
                  <a:tcPr marL="36000" marR="6554" marT="3600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200" b="1" i="0" u="none" strike="noStrike" dirty="0">
                          <a:solidFill>
                            <a:srgbClr val="000000"/>
                          </a:solidFill>
                          <a:effectLst/>
                          <a:latin typeface="+mj-lt"/>
                        </a:rPr>
                        <a:t>ROA</a:t>
                      </a:r>
                    </a:p>
                  </a:txBody>
                  <a:tcPr marL="0" marR="0" marT="0" marB="0" anchor="ctr">
                    <a:lnL w="12700" cap="flat" cmpd="sng" algn="ctr">
                      <a:solidFill>
                        <a:schemeClr val="tx1"/>
                      </a:solidFill>
                      <a:prstDash val="solid"/>
                      <a:round/>
                      <a:headEnd type="none" w="med" len="med"/>
                      <a:tailEnd type="none" w="med" len="med"/>
                    </a:lnL>
                  </a:tcPr>
                </a:tc>
                <a:tc>
                  <a:txBody>
                    <a:bodyPr/>
                    <a:lstStyle/>
                    <a:p>
                      <a:pPr algn="ctr" fontAlgn="b"/>
                      <a:r>
                        <a:rPr lang="en-IN" sz="1200" b="1" i="0" u="none" strike="noStrike" dirty="0">
                          <a:solidFill>
                            <a:srgbClr val="000000"/>
                          </a:solidFill>
                          <a:effectLst/>
                          <a:latin typeface="+mj-lt"/>
                        </a:rPr>
                        <a:t>ROE</a:t>
                      </a:r>
                    </a:p>
                  </a:txBody>
                  <a:tcPr marL="0" marR="0" marT="0" marB="0" anchor="ctr"/>
                </a:tc>
                <a:tc>
                  <a:txBody>
                    <a:bodyPr/>
                    <a:lstStyle/>
                    <a:p>
                      <a:pPr algn="ctr" fontAlgn="b"/>
                      <a:r>
                        <a:rPr lang="en-IN" sz="1200" b="1" i="0" u="none" strike="noStrike" dirty="0">
                          <a:solidFill>
                            <a:srgbClr val="000000"/>
                          </a:solidFill>
                          <a:effectLst/>
                          <a:latin typeface="+mj-lt"/>
                        </a:rPr>
                        <a:t>DSCR</a:t>
                      </a:r>
                    </a:p>
                  </a:txBody>
                  <a:tcPr marL="0" marR="0" marT="0" marB="0" anchor="ctr"/>
                </a:tc>
                <a:tc>
                  <a:txBody>
                    <a:bodyPr/>
                    <a:lstStyle/>
                    <a:p>
                      <a:pPr algn="ctr" fontAlgn="b"/>
                      <a:r>
                        <a:rPr lang="en-IN" sz="1200" b="1" i="0" u="none" strike="noStrike" dirty="0">
                          <a:solidFill>
                            <a:srgbClr val="000000"/>
                          </a:solidFill>
                          <a:effectLst/>
                          <a:latin typeface="+mj-lt"/>
                        </a:rPr>
                        <a:t>ISCR</a:t>
                      </a:r>
                    </a:p>
                  </a:txBody>
                  <a:tcPr marL="0" marR="0" marT="0" marB="0" anchor="ctr"/>
                </a:tc>
                <a:tc>
                  <a:txBody>
                    <a:bodyPr/>
                    <a:lstStyle/>
                    <a:p>
                      <a:pPr algn="ctr" fontAlgn="b"/>
                      <a:r>
                        <a:rPr lang="en-IN" sz="1200" b="1" i="0" u="none" strike="noStrike" dirty="0">
                          <a:solidFill>
                            <a:srgbClr val="000000"/>
                          </a:solidFill>
                          <a:effectLst/>
                          <a:latin typeface="+mj-lt"/>
                        </a:rPr>
                        <a:t>SFR</a:t>
                      </a:r>
                    </a:p>
                  </a:txBody>
                  <a:tcPr marL="0" marR="0" marT="0" marB="0" anchor="ctr"/>
                </a:tc>
                <a:tc>
                  <a:txBody>
                    <a:bodyPr/>
                    <a:lstStyle/>
                    <a:p>
                      <a:pPr algn="ctr" fontAlgn="b"/>
                      <a:r>
                        <a:rPr lang="en-IN" sz="1200" b="1" i="0" u="none" strike="noStrike" dirty="0" smtClean="0">
                          <a:solidFill>
                            <a:srgbClr val="000000"/>
                          </a:solidFill>
                          <a:effectLst/>
                          <a:latin typeface="+mj-lt"/>
                        </a:rPr>
                        <a:t>Current</a:t>
                      </a:r>
                      <a:r>
                        <a:rPr lang="en-IN" sz="1200" b="1" i="0" u="none" strike="noStrike" baseline="0" dirty="0" smtClean="0">
                          <a:solidFill>
                            <a:srgbClr val="000000"/>
                          </a:solidFill>
                          <a:effectLst/>
                          <a:latin typeface="+mj-lt"/>
                        </a:rPr>
                        <a:t> Ratio</a:t>
                      </a:r>
                      <a:endParaRPr lang="en-IN" sz="1200" b="1" i="0" u="none" strike="noStrike" dirty="0">
                        <a:solidFill>
                          <a:srgbClr val="000000"/>
                        </a:solidFill>
                        <a:effectLst/>
                        <a:latin typeface="+mj-lt"/>
                      </a:endParaRPr>
                    </a:p>
                  </a:txBody>
                  <a:tcPr marL="0" marR="0" marT="0" marB="0" anchor="ctr"/>
                </a:tc>
                <a:extLst>
                  <a:ext uri="{0D108BD9-81ED-4DB2-BD59-A6C34878D82A}">
                    <a16:rowId xmlns:a16="http://schemas.microsoft.com/office/drawing/2014/main" val="4128328913"/>
                  </a:ext>
                </a:extLst>
              </a:tr>
              <a:tr h="258719">
                <a:tc>
                  <a:txBody>
                    <a:bodyPr/>
                    <a:lstStyle/>
                    <a:p>
                      <a:pPr algn="ctr" fontAlgn="b"/>
                      <a:r>
                        <a:rPr lang="en-US" sz="1200" b="0" i="0" u="none" strike="noStrike" dirty="0" smtClean="0">
                          <a:solidFill>
                            <a:srgbClr val="000000"/>
                          </a:solidFill>
                          <a:effectLst/>
                          <a:latin typeface="+mj-lt"/>
                        </a:rPr>
                        <a:t>Base Case</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50%</a:t>
                      </a:r>
                      <a:endParaRPr lang="en-IN" sz="1200" b="0" i="0" u="none" strike="noStrike" dirty="0">
                        <a:solidFill>
                          <a:srgbClr val="000000"/>
                        </a:solidFill>
                        <a:effectLst/>
                        <a:latin typeface="+mj-lt"/>
                      </a:endParaRPr>
                    </a:p>
                  </a:txBody>
                  <a:tcPr marL="36000" marR="6554" marT="36000" marB="0" anchor="ctr">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mj-lt"/>
                        </a:rPr>
                        <a:t>8%</a:t>
                      </a:r>
                    </a:p>
                  </a:txBody>
                  <a:tcPr marL="0" marR="0" marT="0" marB="0" anchor="ctr">
                    <a:lnL w="12700" cap="flat" cmpd="sng" algn="ctr">
                      <a:solidFill>
                        <a:schemeClr val="tx1"/>
                      </a:solidFill>
                      <a:prstDash val="solid"/>
                      <a:round/>
                      <a:headEnd type="none" w="med" len="med"/>
                      <a:tailEnd type="none" w="med" len="med"/>
                    </a:lnL>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13%</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2.62</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5.13</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0.49</a:t>
                      </a:r>
                    </a:p>
                  </a:txBody>
                  <a:tcPr marL="0" marR="0" marT="0" marB="0" anchor="ctr">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mj-lt"/>
                        </a:rPr>
                        <a:t>1.45</a:t>
                      </a:r>
                    </a:p>
                  </a:txBody>
                  <a:tcPr marL="0" marR="0" marT="0" marB="0" anchor="ctr">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6416385"/>
                  </a:ext>
                </a:extLst>
              </a:tr>
              <a:tr h="258719">
                <a:tc>
                  <a:txBody>
                    <a:bodyPr/>
                    <a:lstStyle/>
                    <a:p>
                      <a:pPr algn="ctr" fontAlgn="b"/>
                      <a:r>
                        <a:rPr lang="en-IN" sz="1200" b="0" i="0" u="none" strike="noStrike" dirty="0" smtClean="0">
                          <a:solidFill>
                            <a:srgbClr val="000000"/>
                          </a:solidFill>
                          <a:effectLst/>
                          <a:latin typeface="+mj-lt"/>
                        </a:rPr>
                        <a:t>1</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smtClean="0">
                          <a:solidFill>
                            <a:srgbClr val="000000"/>
                          </a:solidFill>
                          <a:effectLst/>
                          <a:latin typeface="+mj-lt"/>
                        </a:rPr>
                        <a:t>50%</a:t>
                      </a:r>
                      <a:endParaRPr lang="en-IN" sz="1200" b="0" i="0" u="none" strike="noStrike" dirty="0">
                        <a:solidFill>
                          <a:srgbClr val="000000"/>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mj-lt"/>
                        </a:rPr>
                        <a:t>7%</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mj-lt"/>
                        </a:rPr>
                        <a:t>11%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2.40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4.71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mj-lt"/>
                        </a:rPr>
                        <a:t>0.46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mj-lt"/>
                        </a:rPr>
                        <a:t>1.33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726458473"/>
                  </a:ext>
                </a:extLst>
              </a:tr>
              <a:tr h="258719">
                <a:tc>
                  <a:txBody>
                    <a:bodyPr/>
                    <a:lstStyle/>
                    <a:p>
                      <a:pPr algn="ctr" fontAlgn="b"/>
                      <a:r>
                        <a:rPr lang="en-US" sz="1200" b="0" i="0" u="none" strike="noStrike" dirty="0" smtClean="0">
                          <a:solidFill>
                            <a:srgbClr val="000000"/>
                          </a:solidFill>
                          <a:effectLst/>
                          <a:latin typeface="+mj-lt"/>
                        </a:rPr>
                        <a:t>2</a:t>
                      </a:r>
                      <a:endParaRPr lang="en-IN" sz="1200" b="0" i="0" u="none" strike="noStrike" dirty="0">
                        <a:solidFill>
                          <a:srgbClr val="000000"/>
                        </a:solidFill>
                        <a:effectLst/>
                        <a:latin typeface="+mj-lt"/>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50%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8%</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2.54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4.99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0.47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1.38</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16914181"/>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j-lt"/>
                          <a:ea typeface="+mn-ea"/>
                          <a:cs typeface="+mn-cs"/>
                        </a:rPr>
                        <a:t>3</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US" sz="1200" b="0" i="0" u="none" strike="noStrike" dirty="0" smtClean="0">
                          <a:solidFill>
                            <a:schemeClr val="tx1"/>
                          </a:solidFill>
                          <a:effectLst/>
                          <a:latin typeface="+mj-lt"/>
                        </a:rPr>
                        <a:t>50%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7%</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2.40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4.71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0.45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1.32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97625081"/>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j-lt"/>
                          <a:ea typeface="+mn-ea"/>
                          <a:cs typeface="+mn-cs"/>
                        </a:rPr>
                        <a:t>4</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75%</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8%</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2.65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5.20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0.50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1.49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0003554"/>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j-lt"/>
                          <a:ea typeface="+mn-ea"/>
                          <a:cs typeface="+mn-cs"/>
                        </a:rPr>
                        <a:t>5</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90%</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8%</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2.65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5.19</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0.50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1.50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6921348"/>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j-lt"/>
                          <a:ea typeface="+mn-ea"/>
                          <a:cs typeface="+mn-cs"/>
                        </a:rPr>
                        <a:t>6</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8%</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2.54</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5.00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0.46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1.35</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55292235"/>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j-lt"/>
                          <a:ea typeface="+mn-ea"/>
                          <a:cs typeface="+mn-cs"/>
                        </a:rPr>
                        <a:t>7</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smtClean="0">
                          <a:ln>
                            <a:noFill/>
                          </a:ln>
                          <a:solidFill>
                            <a:srgbClr val="000000"/>
                          </a:solidFill>
                          <a:effectLst/>
                          <a:uLnTx/>
                          <a:uFillTx/>
                          <a:latin typeface="+mj-lt"/>
                          <a:ea typeface="+mn-ea"/>
                          <a:cs typeface="+mn-cs"/>
                        </a:rPr>
                        <a:t>Yes</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7%</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11%</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2.39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4.69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0.45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1.32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506768158"/>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baseline="0" dirty="0" smtClean="0">
                          <a:solidFill>
                            <a:srgbClr val="000000"/>
                          </a:solidFill>
                          <a:effectLst/>
                          <a:latin typeface="+mj-lt"/>
                          <a:ea typeface="+mn-ea"/>
                          <a:cs typeface="+mn-cs"/>
                        </a:rPr>
                        <a:t>8</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No</a:t>
                      </a:r>
                      <a:endParaRPr lang="en-IN" sz="1200" b="0" i="0" u="none" strike="noStrike" dirty="0">
                        <a:solidFill>
                          <a:schemeClr val="tx1"/>
                        </a:solidFill>
                        <a:effectLst/>
                        <a:latin typeface="+mj-lt"/>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7%</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2.52</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4.97</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0.46</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ctr" fontAlgn="b"/>
                      <a:r>
                        <a:rPr lang="en-IN" sz="1200" b="0" i="0" u="none" strike="noStrike" dirty="0">
                          <a:solidFill>
                            <a:srgbClr val="000000"/>
                          </a:solidFill>
                          <a:effectLst/>
                          <a:latin typeface="+mj-lt"/>
                        </a:rPr>
                        <a:t>1.33</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832097268"/>
                  </a:ext>
                </a:extLst>
              </a:tr>
              <a:tr h="258719">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lang="en-US" sz="1200" b="0" i="0" u="none" strike="noStrike" kern="1200" dirty="0" smtClean="0">
                          <a:solidFill>
                            <a:srgbClr val="000000"/>
                          </a:solidFill>
                          <a:effectLst/>
                          <a:latin typeface="+mj-lt"/>
                          <a:ea typeface="+mn-ea"/>
                          <a:cs typeface="+mn-cs"/>
                        </a:rPr>
                        <a:t>9</a:t>
                      </a:r>
                      <a:endParaRPr lang="en-IN" sz="1200" b="0" i="0" u="none" strike="noStrike" kern="1200" dirty="0" smtClean="0">
                        <a:solidFill>
                          <a:srgbClr val="000000"/>
                        </a:solidFill>
                        <a:effectLst/>
                        <a:latin typeface="+mj-lt"/>
                        <a:ea typeface="+mn-ea"/>
                        <a:cs typeface="+mn-cs"/>
                      </a:endParaRPr>
                    </a:p>
                  </a:txBody>
                  <a:tcPr marL="6554" marR="6554" marT="6554" marB="0" anchor="ctr">
                    <a:lnL w="9525" cap="flat" cmpd="sng" algn="ctr">
                      <a:no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chemeClr val="tx1"/>
                          </a:solidFill>
                          <a:effectLst/>
                          <a:latin typeface="+mj-lt"/>
                        </a:rPr>
                        <a:t>Nil</a:t>
                      </a:r>
                      <a:endParaRPr lang="en-IN" sz="1200" b="0" i="0" u="none" strike="noStrike" dirty="0">
                        <a:solidFill>
                          <a:schemeClr val="tx1"/>
                        </a:solidFill>
                        <a:effectLst/>
                        <a:latin typeface="+mj-lt"/>
                      </a:endParaRPr>
                    </a:p>
                  </a:txBody>
                  <a:tcPr marL="36000" marR="6554" marT="3600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51059"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mj-lt"/>
                          <a:ea typeface="+mn-ea"/>
                          <a:cs typeface="+mn-cs"/>
                        </a:rPr>
                        <a:t>No</a:t>
                      </a:r>
                      <a:endParaRPr kumimoji="0" lang="en-IN" sz="1200" b="0" i="0" u="none" strike="noStrike" kern="1200" cap="none" spc="0" normalizeH="0" baseline="0" noProof="0" dirty="0">
                        <a:ln>
                          <a:noFill/>
                        </a:ln>
                        <a:solidFill>
                          <a:srgbClr val="000000"/>
                        </a:solidFill>
                        <a:effectLst/>
                        <a:uLnTx/>
                        <a:uFillTx/>
                        <a:latin typeface="+mj-lt"/>
                        <a:ea typeface="+mn-ea"/>
                        <a:cs typeface="+mn-cs"/>
                      </a:endParaRPr>
                    </a:p>
                  </a:txBody>
                  <a:tcPr marL="36000" marR="6554" marT="36000" marB="0" anchor="ctr">
                    <a:lnR w="12700" cap="flat" cmpd="sng" algn="ctr">
                      <a:solidFill>
                        <a:schemeClr val="tx1"/>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7%</a:t>
                      </a:r>
                    </a:p>
                  </a:txBody>
                  <a:tcPr marL="0" marR="0" marT="0" marB="0" anchor="ctr">
                    <a:lnL w="12700" cap="flat" cmpd="sng" algn="ctr">
                      <a:solidFill>
                        <a:schemeClr val="tx1"/>
                      </a:solidFill>
                      <a:prstDash val="solid"/>
                      <a:round/>
                      <a:headEnd type="none" w="med" len="med"/>
                      <a:tailEnd type="none" w="med" len="med"/>
                    </a:lnL>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a:solidFill>
                            <a:srgbClr val="000000"/>
                          </a:solidFill>
                          <a:effectLst/>
                          <a:latin typeface="+mj-lt"/>
                        </a:rPr>
                        <a:t>10%</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2.37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4.66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0.45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fontAlgn="b"/>
                      <a:r>
                        <a:rPr lang="en-IN" sz="1200" b="0" i="0" u="none" strike="noStrike" dirty="0" smtClean="0">
                          <a:solidFill>
                            <a:srgbClr val="000000"/>
                          </a:solidFill>
                          <a:effectLst/>
                          <a:latin typeface="+mj-lt"/>
                        </a:rPr>
                        <a:t>1.30 </a:t>
                      </a:r>
                      <a:endParaRPr lang="en-IN" sz="1200" b="0" i="0" u="none" strike="noStrike" dirty="0">
                        <a:solidFill>
                          <a:srgbClr val="000000"/>
                        </a:solidFill>
                        <a:effectLst/>
                        <a:latin typeface="+mj-lt"/>
                      </a:endParaRP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8311526"/>
                  </a:ext>
                </a:extLst>
              </a:tr>
            </a:tbl>
          </a:graphicData>
        </a:graphic>
      </p:graphicFrame>
      <p:sp>
        <p:nvSpPr>
          <p:cNvPr id="6" name="Content Placeholder 2"/>
          <p:cNvSpPr txBox="1">
            <a:spLocks/>
          </p:cNvSpPr>
          <p:nvPr/>
        </p:nvSpPr>
        <p:spPr>
          <a:xfrm>
            <a:off x="469900" y="1493943"/>
            <a:ext cx="11282304" cy="1125415"/>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smtClean="0">
                <a:solidFill>
                  <a:srgbClr val="313131"/>
                </a:solidFill>
                <a:ea typeface="+mn-ea"/>
                <a:cs typeface="+mn-cs"/>
              </a:rPr>
              <a:t>The year-on-year ratios for each of the </a:t>
            </a:r>
            <a:r>
              <a:rPr lang="en-US" sz="1400" dirty="0" err="1" smtClean="0">
                <a:solidFill>
                  <a:srgbClr val="313131"/>
                </a:solidFill>
                <a:ea typeface="+mn-ea"/>
                <a:cs typeface="+mn-cs"/>
              </a:rPr>
              <a:t>scnearios</a:t>
            </a:r>
            <a:r>
              <a:rPr lang="en-US" sz="1400" dirty="0" smtClean="0">
                <a:solidFill>
                  <a:srgbClr val="313131"/>
                </a:solidFill>
                <a:ea typeface="+mn-ea"/>
                <a:cs typeface="+mn-cs"/>
              </a:rPr>
              <a:t> mentioned in the previous slide is given in the </a:t>
            </a:r>
            <a:r>
              <a:rPr lang="en-US" sz="1400" dirty="0" smtClean="0">
                <a:solidFill>
                  <a:srgbClr val="313131"/>
                </a:solidFill>
                <a:ea typeface="+mn-ea"/>
                <a:cs typeface="+mn-cs"/>
              </a:rPr>
              <a:t>annexure. </a:t>
            </a:r>
          </a:p>
          <a:p>
            <a:pPr marL="203200" lvl="1" indent="-203200" defTabSz="1219170">
              <a:spcAft>
                <a:spcPts val="1200"/>
              </a:spcAft>
              <a:buSzPct val="100000"/>
              <a:buFont typeface="Arial"/>
              <a:buChar char="•"/>
            </a:pPr>
            <a:r>
              <a:rPr lang="en-US" sz="1400" dirty="0" smtClean="0">
                <a:solidFill>
                  <a:srgbClr val="313131"/>
                </a:solidFill>
                <a:ea typeface="+mn-ea"/>
                <a:cs typeface="+mn-cs"/>
              </a:rPr>
              <a:t>The average of ratio for first 5 years (FY20 to FY24) is presented below:</a:t>
            </a:r>
            <a:endParaRPr lang="en-US" sz="1400" dirty="0">
              <a:solidFill>
                <a:srgbClr val="313131"/>
              </a:solidFill>
              <a:ea typeface="+mn-ea"/>
              <a:cs typeface="+mn-cs"/>
            </a:endParaRPr>
          </a:p>
        </p:txBody>
      </p:sp>
    </p:spTree>
    <p:extLst>
      <p:ext uri="{BB962C8B-B14F-4D97-AF65-F5344CB8AC3E}">
        <p14:creationId xmlns:p14="http://schemas.microsoft.com/office/powerpoint/2010/main" val="223841411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Power Purchase cost to be the major component in cost structure in FY </a:t>
            </a:r>
            <a:r>
              <a:rPr lang="en-US" dirty="0" smtClean="0"/>
              <a:t>2023-24</a:t>
            </a:r>
            <a:endParaRPr lang="en-US" dirty="0"/>
          </a:p>
        </p:txBody>
      </p:sp>
      <p:sp>
        <p:nvSpPr>
          <p:cNvPr id="3" name="Title 2"/>
          <p:cNvSpPr>
            <a:spLocks noGrp="1"/>
          </p:cNvSpPr>
          <p:nvPr>
            <p:ph type="title"/>
          </p:nvPr>
        </p:nvSpPr>
        <p:spPr/>
        <p:txBody>
          <a:bodyPr/>
          <a:lstStyle/>
          <a:p>
            <a:r>
              <a:rPr lang="en-IN" dirty="0" smtClean="0"/>
              <a:t>Cost Projections</a:t>
            </a:r>
            <a:endParaRPr lang="en-IN" dirty="0"/>
          </a:p>
        </p:txBody>
      </p:sp>
      <p:sp>
        <p:nvSpPr>
          <p:cNvPr id="4" name="Line 5"/>
          <p:cNvSpPr>
            <a:spLocks noChangeShapeType="1"/>
          </p:cNvSpPr>
          <p:nvPr/>
        </p:nvSpPr>
        <p:spPr bwMode="gray">
          <a:xfrm>
            <a:off x="6350778" y="2242383"/>
            <a:ext cx="5371321" cy="0"/>
          </a:xfrm>
          <a:prstGeom prst="line">
            <a:avLst/>
          </a:prstGeom>
          <a:noFill/>
          <a:ln w="12700" cap="rnd">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dirty="0">
              <a:solidFill>
                <a:srgbClr val="002060"/>
              </a:solidFill>
            </a:endParaRPr>
          </a:p>
        </p:txBody>
      </p:sp>
      <p:sp>
        <p:nvSpPr>
          <p:cNvPr id="5" name="Rectangle 6"/>
          <p:cNvSpPr>
            <a:spLocks noChangeArrowheads="1"/>
          </p:cNvSpPr>
          <p:nvPr/>
        </p:nvSpPr>
        <p:spPr bwMode="gray">
          <a:xfrm>
            <a:off x="7322877" y="2167677"/>
            <a:ext cx="3584655" cy="190052"/>
          </a:xfrm>
          <a:prstGeom prst="rect">
            <a:avLst/>
          </a:prstGeom>
          <a:solidFill>
            <a:schemeClr val="bg1"/>
          </a:solidFill>
          <a:ln>
            <a:noFill/>
          </a:ln>
          <a:extLst>
            <a:ext uri="{91240B29-F687-4F45-9708-019B960494DF}">
              <a14:hiddenLine xmlns:a14="http://schemas.microsoft.com/office/drawing/2010/main" w="12700" cap="rnd" algn="ctr">
                <a:solidFill>
                  <a:srgbClr val="000000"/>
                </a:solidFill>
                <a:miter lim="800000"/>
                <a:headEnd/>
                <a:tailEnd/>
              </a14:hiddenLine>
            </a:ext>
          </a:extLst>
        </p:spPr>
        <p:txBody>
          <a:bodyPr wrap="square" lIns="72000" tIns="0" rIns="72000" bIns="0" anchor="b" anchorCtr="1">
            <a:spAutoFit/>
          </a:bodyPr>
          <a:lstStyle/>
          <a:p>
            <a:pPr algn="ctr" eaLnBrk="0" hangingPunct="0">
              <a:lnSpc>
                <a:spcPct val="95000"/>
              </a:lnSpc>
            </a:pPr>
            <a:r>
              <a:rPr lang="en-US" sz="1300" b="1" dirty="0">
                <a:solidFill>
                  <a:srgbClr val="002060"/>
                </a:solidFill>
              </a:rPr>
              <a:t>Cost Structure – </a:t>
            </a:r>
            <a:r>
              <a:rPr lang="en-US" sz="1300" b="1" dirty="0" smtClean="0">
                <a:solidFill>
                  <a:srgbClr val="002060"/>
                </a:solidFill>
              </a:rPr>
              <a:t>FY24 </a:t>
            </a:r>
            <a:r>
              <a:rPr lang="en-US" sz="1300" b="1" dirty="0">
                <a:solidFill>
                  <a:srgbClr val="002060"/>
                </a:solidFill>
              </a:rPr>
              <a:t>(NPR/kWh)</a:t>
            </a:r>
          </a:p>
        </p:txBody>
      </p:sp>
      <p:sp>
        <p:nvSpPr>
          <p:cNvPr id="6" name="Line 5"/>
          <p:cNvSpPr>
            <a:spLocks noChangeShapeType="1"/>
          </p:cNvSpPr>
          <p:nvPr/>
        </p:nvSpPr>
        <p:spPr bwMode="gray">
          <a:xfrm>
            <a:off x="469900" y="2260339"/>
            <a:ext cx="5400000" cy="0"/>
          </a:xfrm>
          <a:prstGeom prst="line">
            <a:avLst/>
          </a:prstGeom>
          <a:noFill/>
          <a:ln w="12700" cap="rnd">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2060"/>
              </a:solidFill>
            </a:endParaRPr>
          </a:p>
        </p:txBody>
      </p:sp>
      <p:sp>
        <p:nvSpPr>
          <p:cNvPr id="7" name="Rectangle 6"/>
          <p:cNvSpPr>
            <a:spLocks noChangeArrowheads="1"/>
          </p:cNvSpPr>
          <p:nvPr/>
        </p:nvSpPr>
        <p:spPr bwMode="gray">
          <a:xfrm>
            <a:off x="1482433" y="2165313"/>
            <a:ext cx="3427585" cy="190052"/>
          </a:xfrm>
          <a:prstGeom prst="rect">
            <a:avLst/>
          </a:prstGeom>
          <a:solidFill>
            <a:schemeClr val="bg1"/>
          </a:solidFill>
          <a:ln>
            <a:noFill/>
          </a:ln>
          <a:extLst>
            <a:ext uri="{91240B29-F687-4F45-9708-019B960494DF}">
              <a14:hiddenLine xmlns:a14="http://schemas.microsoft.com/office/drawing/2010/main" w="12700" cap="rnd" algn="ctr">
                <a:solidFill>
                  <a:srgbClr val="000000"/>
                </a:solidFill>
                <a:miter lim="800000"/>
                <a:headEnd/>
                <a:tailEnd/>
              </a14:hiddenLine>
            </a:ext>
          </a:extLst>
        </p:spPr>
        <p:txBody>
          <a:bodyPr wrap="square" lIns="72000" tIns="0" rIns="72000" bIns="0" anchor="b" anchorCtr="1">
            <a:spAutoFit/>
          </a:bodyPr>
          <a:lstStyle/>
          <a:p>
            <a:pPr algn="ctr" eaLnBrk="0" hangingPunct="0">
              <a:lnSpc>
                <a:spcPct val="95000"/>
              </a:lnSpc>
            </a:pPr>
            <a:r>
              <a:rPr lang="en-US" sz="1300" b="1" dirty="0" smtClean="0">
                <a:solidFill>
                  <a:srgbClr val="002060"/>
                </a:solidFill>
              </a:rPr>
              <a:t>Cost Structure – FY19 (NPR/kWh)</a:t>
            </a:r>
            <a:endParaRPr lang="en-US" sz="1300" b="1" dirty="0">
              <a:solidFill>
                <a:srgbClr val="002060"/>
              </a:solidFill>
            </a:endParaRPr>
          </a:p>
        </p:txBody>
      </p:sp>
      <p:graphicFrame>
        <p:nvGraphicFramePr>
          <p:cNvPr id="8" name="Chart 7"/>
          <p:cNvGraphicFramePr/>
          <p:nvPr>
            <p:extLst>
              <p:ext uri="{D42A27DB-BD31-4B8C-83A1-F6EECF244321}">
                <p14:modId xmlns:p14="http://schemas.microsoft.com/office/powerpoint/2010/main" val="1699644868"/>
              </p:ext>
            </p:extLst>
          </p:nvPr>
        </p:nvGraphicFramePr>
        <p:xfrm>
          <a:off x="6322100" y="2450391"/>
          <a:ext cx="5400000" cy="22331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p:nvPr>
            <p:extLst>
              <p:ext uri="{D42A27DB-BD31-4B8C-83A1-F6EECF244321}">
                <p14:modId xmlns:p14="http://schemas.microsoft.com/office/powerpoint/2010/main" val="463075342"/>
              </p:ext>
            </p:extLst>
          </p:nvPr>
        </p:nvGraphicFramePr>
        <p:xfrm>
          <a:off x="469900" y="2450391"/>
          <a:ext cx="5400000" cy="2233177"/>
        </p:xfrm>
        <a:graphic>
          <a:graphicData uri="http://schemas.openxmlformats.org/drawingml/2006/chart">
            <c:chart xmlns:c="http://schemas.openxmlformats.org/drawingml/2006/chart" xmlns:r="http://schemas.openxmlformats.org/officeDocument/2006/relationships" r:id="rId3"/>
          </a:graphicData>
        </a:graphic>
      </p:graphicFrame>
      <p:sp>
        <p:nvSpPr>
          <p:cNvPr id="10" name="Content Placeholder 2"/>
          <p:cNvSpPr txBox="1">
            <a:spLocks/>
          </p:cNvSpPr>
          <p:nvPr/>
        </p:nvSpPr>
        <p:spPr>
          <a:xfrm>
            <a:off x="469900" y="4873619"/>
            <a:ext cx="11252199" cy="1242302"/>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a:solidFill>
                  <a:srgbClr val="313131"/>
                </a:solidFill>
                <a:ea typeface="+mn-ea"/>
                <a:cs typeface="+mn-cs"/>
              </a:rPr>
              <a:t>It can be observed that in terms of share in total cost and in absolute terms, power purchase cost and Financing cost (depreciation, interest on loan) are likely to increase in future due to escalating power purchase cost and planned future capital expenditure respectively</a:t>
            </a:r>
          </a:p>
          <a:p>
            <a:pPr marL="203200" lvl="1" indent="-203200" defTabSz="1219170">
              <a:spcAft>
                <a:spcPts val="1200"/>
              </a:spcAft>
              <a:buSzPct val="100000"/>
              <a:buFont typeface="Arial"/>
              <a:buChar char="•"/>
            </a:pPr>
            <a:r>
              <a:rPr lang="en-US" sz="1400" dirty="0">
                <a:solidFill>
                  <a:srgbClr val="313131"/>
                </a:solidFill>
                <a:ea typeface="+mn-ea"/>
                <a:cs typeface="+mn-cs"/>
              </a:rPr>
              <a:t>If export revenue from surplus power is not considered</a:t>
            </a:r>
            <a:r>
              <a:rPr lang="en-GB" sz="1400" dirty="0">
                <a:solidFill>
                  <a:srgbClr val="313131"/>
                </a:solidFill>
                <a:ea typeface="+mn-ea"/>
                <a:cs typeface="+mn-cs"/>
              </a:rPr>
              <a:t>, t</a:t>
            </a:r>
            <a:r>
              <a:rPr lang="en-US" sz="1400" dirty="0" err="1">
                <a:solidFill>
                  <a:srgbClr val="313131"/>
                </a:solidFill>
                <a:ea typeface="+mn-ea"/>
                <a:cs typeface="+mn-cs"/>
              </a:rPr>
              <a:t>ariff</a:t>
            </a:r>
            <a:r>
              <a:rPr lang="en-US" sz="1400" dirty="0">
                <a:solidFill>
                  <a:srgbClr val="313131"/>
                </a:solidFill>
                <a:ea typeface="+mn-ea"/>
                <a:cs typeface="+mn-cs"/>
              </a:rPr>
              <a:t> requirement increases from ~</a:t>
            </a:r>
            <a:r>
              <a:rPr lang="en-US" sz="1400" dirty="0" smtClean="0">
                <a:solidFill>
                  <a:srgbClr val="313131"/>
                </a:solidFill>
                <a:ea typeface="+mn-ea"/>
                <a:cs typeface="+mn-cs"/>
              </a:rPr>
              <a:t>10.4 </a:t>
            </a:r>
            <a:r>
              <a:rPr lang="en-US" sz="1400" dirty="0">
                <a:solidFill>
                  <a:srgbClr val="313131"/>
                </a:solidFill>
                <a:ea typeface="+mn-ea"/>
                <a:cs typeface="+mn-cs"/>
              </a:rPr>
              <a:t>NPR/kWh in </a:t>
            </a:r>
            <a:r>
              <a:rPr lang="en-US" sz="1400" dirty="0" smtClean="0">
                <a:solidFill>
                  <a:srgbClr val="313131"/>
                </a:solidFill>
                <a:ea typeface="+mn-ea"/>
                <a:cs typeface="+mn-cs"/>
              </a:rPr>
              <a:t>FY19 </a:t>
            </a:r>
            <a:r>
              <a:rPr lang="en-US" sz="1400" dirty="0">
                <a:solidFill>
                  <a:srgbClr val="313131"/>
                </a:solidFill>
                <a:ea typeface="+mn-ea"/>
                <a:cs typeface="+mn-cs"/>
              </a:rPr>
              <a:t>to ~</a:t>
            </a:r>
            <a:r>
              <a:rPr lang="en-US" sz="1400" dirty="0" smtClean="0">
                <a:solidFill>
                  <a:srgbClr val="313131"/>
                </a:solidFill>
                <a:ea typeface="+mn-ea"/>
                <a:cs typeface="+mn-cs"/>
              </a:rPr>
              <a:t>15.7 </a:t>
            </a:r>
            <a:r>
              <a:rPr lang="en-US" sz="1400" dirty="0">
                <a:solidFill>
                  <a:srgbClr val="313131"/>
                </a:solidFill>
                <a:ea typeface="+mn-ea"/>
                <a:cs typeface="+mn-cs"/>
              </a:rPr>
              <a:t>NPR/kWh in </a:t>
            </a:r>
            <a:r>
              <a:rPr lang="en-US" sz="1400" dirty="0" smtClean="0">
                <a:solidFill>
                  <a:srgbClr val="313131"/>
                </a:solidFill>
                <a:ea typeface="+mn-ea"/>
                <a:cs typeface="+mn-cs"/>
              </a:rPr>
              <a:t>FY24 </a:t>
            </a:r>
            <a:r>
              <a:rPr lang="en-US" sz="1400" dirty="0">
                <a:solidFill>
                  <a:srgbClr val="313131"/>
                </a:solidFill>
                <a:ea typeface="+mn-ea"/>
                <a:cs typeface="+mn-cs"/>
              </a:rPr>
              <a:t>(</a:t>
            </a:r>
            <a:r>
              <a:rPr lang="en-US" sz="1400" dirty="0" smtClean="0">
                <a:solidFill>
                  <a:srgbClr val="313131"/>
                </a:solidFill>
                <a:ea typeface="+mn-ea"/>
                <a:cs typeface="+mn-cs"/>
              </a:rPr>
              <a:t>13.6 </a:t>
            </a:r>
            <a:r>
              <a:rPr lang="en-US" sz="1400" dirty="0">
                <a:solidFill>
                  <a:srgbClr val="313131"/>
                </a:solidFill>
                <a:ea typeface="+mn-ea"/>
                <a:cs typeface="+mn-cs"/>
              </a:rPr>
              <a:t>NPR/kWh + </a:t>
            </a:r>
            <a:r>
              <a:rPr lang="en-US" sz="1400" dirty="0" smtClean="0">
                <a:solidFill>
                  <a:srgbClr val="313131"/>
                </a:solidFill>
                <a:ea typeface="+mn-ea"/>
                <a:cs typeface="+mn-cs"/>
              </a:rPr>
              <a:t>2.1 </a:t>
            </a:r>
            <a:r>
              <a:rPr lang="en-US" sz="1400" dirty="0">
                <a:solidFill>
                  <a:srgbClr val="313131"/>
                </a:solidFill>
                <a:ea typeface="+mn-ea"/>
                <a:cs typeface="+mn-cs"/>
              </a:rPr>
              <a:t>NPR/kWh); ~1.5 times increase in next 5 years</a:t>
            </a:r>
            <a:endParaRPr lang="en-GB" sz="1400" dirty="0">
              <a:solidFill>
                <a:srgbClr val="313131"/>
              </a:solidFill>
              <a:ea typeface="+mn-ea"/>
              <a:cs typeface="+mn-cs"/>
            </a:endParaRPr>
          </a:p>
        </p:txBody>
      </p:sp>
      <p:sp>
        <p:nvSpPr>
          <p:cNvPr id="12" name="Content Placeholder 2"/>
          <p:cNvSpPr txBox="1">
            <a:spLocks/>
          </p:cNvSpPr>
          <p:nvPr/>
        </p:nvSpPr>
        <p:spPr>
          <a:xfrm>
            <a:off x="469900" y="1683994"/>
            <a:ext cx="11252199" cy="373439"/>
          </a:xfrm>
          <a:prstGeom prst="rect">
            <a:avLst/>
          </a:prstGeom>
        </p:spPr>
        <p:txBody>
          <a:bodyPr vert="horz" lIns="0" tIns="0" rIns="0" bIns="0" rtlCol="0" anchor="t" anchorCtr="0">
            <a:noAutofit/>
          </a:bodyPr>
          <a:lstStyle>
            <a:lvl1pPr marL="0" indent="0" algn="l" defTabSz="914400" rtl="0" eaLnBrk="1" latinLnBrk="0" hangingPunct="1">
              <a:spcBef>
                <a:spcPts val="0"/>
              </a:spcBef>
              <a:spcAft>
                <a:spcPts val="300"/>
              </a:spcAft>
              <a:buFont typeface="Arial" pitchFamily="34" charset="0"/>
              <a:buNone/>
              <a:defRPr lang="en-US" sz="1800" kern="1200" dirty="0" smtClean="0">
                <a:solidFill>
                  <a:schemeClr val="accent1"/>
                </a:solidFill>
                <a:latin typeface="+mn-lt"/>
                <a:ea typeface="+mj-ea"/>
                <a:cs typeface="+mj-cs"/>
              </a:defRPr>
            </a:lvl1pPr>
            <a:lvl2pPr marL="182563" indent="-182563"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2pPr>
            <a:lvl3pPr marL="357188" indent="-174625" algn="l" defTabSz="914400" rtl="0" eaLnBrk="1" latinLnBrk="0" hangingPunct="1">
              <a:spcBef>
                <a:spcPts val="0"/>
              </a:spcBef>
              <a:spcAft>
                <a:spcPts val="300"/>
              </a:spcAft>
              <a:buFont typeface="Arial" pitchFamily="34" charset="0"/>
              <a:buChar char="‒"/>
              <a:defRPr lang="en-US" sz="1800" kern="1200" dirty="0" smtClean="0">
                <a:solidFill>
                  <a:schemeClr val="accent1"/>
                </a:solidFill>
                <a:latin typeface="+mn-lt"/>
                <a:ea typeface="+mj-ea"/>
                <a:cs typeface="+mj-cs"/>
              </a:defRPr>
            </a:lvl3pPr>
            <a:lvl4pPr marL="539750" indent="-182563" algn="l" defTabSz="914400" rtl="0" eaLnBrk="1" latinLnBrk="0" hangingPunct="1">
              <a:spcBef>
                <a:spcPts val="0"/>
              </a:spcBef>
              <a:spcAft>
                <a:spcPts val="300"/>
              </a:spcAft>
              <a:buFont typeface="Arial" pitchFamily="34" charset="0"/>
              <a:buChar char="•"/>
              <a:defRPr lang="en-US" sz="1600" kern="1200" dirty="0" smtClean="0">
                <a:solidFill>
                  <a:schemeClr val="accent1"/>
                </a:solidFill>
                <a:latin typeface="+mn-lt"/>
                <a:ea typeface="+mj-ea"/>
                <a:cs typeface="+mj-cs"/>
              </a:defRPr>
            </a:lvl4pPr>
            <a:lvl5pPr marL="712788" indent="-173038" algn="l" defTabSz="914400" rtl="0" eaLnBrk="1" latinLnBrk="0" hangingPunct="1">
              <a:spcBef>
                <a:spcPts val="0"/>
              </a:spcBef>
              <a:spcAft>
                <a:spcPts val="300"/>
              </a:spcAft>
              <a:buFont typeface="Arial" pitchFamily="34" charset="0"/>
              <a:buChar char="‒"/>
              <a:defRPr lang="en-GB" sz="1600" kern="1200" baseline="0" dirty="0" smtClean="0">
                <a:solidFill>
                  <a:schemeClr val="accent1"/>
                </a:solidFill>
                <a:latin typeface="+mn-lt"/>
                <a:ea typeface="+mj-ea"/>
                <a:cs typeface="+mj-cs"/>
              </a:defRPr>
            </a:lvl5pPr>
            <a:lvl6pPr marL="895350" indent="-182563" algn="l" defTabSz="914400" rtl="0" eaLnBrk="1" latinLnBrk="0" hangingPunct="1">
              <a:spcBef>
                <a:spcPts val="0"/>
              </a:spcBef>
              <a:spcAft>
                <a:spcPts val="300"/>
              </a:spcAft>
              <a:buFont typeface="Arial" pitchFamily="34" charset="0"/>
              <a:buChar char="•"/>
              <a:defRPr sz="1600" kern="1200" baseline="0">
                <a:solidFill>
                  <a:schemeClr val="accent1"/>
                </a:solidFill>
                <a:latin typeface="+mn-lt"/>
                <a:ea typeface="+mn-ea"/>
                <a:cs typeface="+mn-cs"/>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03200" lvl="1" indent="-203200" defTabSz="1219170">
              <a:spcAft>
                <a:spcPts val="1200"/>
              </a:spcAft>
              <a:buSzPct val="100000"/>
              <a:buFont typeface="Arial"/>
              <a:buChar char="•"/>
            </a:pPr>
            <a:r>
              <a:rPr lang="en-US" sz="1400" dirty="0">
                <a:solidFill>
                  <a:srgbClr val="313131"/>
                </a:solidFill>
                <a:ea typeface="+mn-ea"/>
                <a:cs typeface="+mn-cs"/>
              </a:rPr>
              <a:t>The figures below compares the current cost structure of NEA in FY18 and projected cost structure in </a:t>
            </a:r>
            <a:r>
              <a:rPr lang="en-US" sz="1400" dirty="0" smtClean="0">
                <a:solidFill>
                  <a:srgbClr val="313131"/>
                </a:solidFill>
                <a:ea typeface="+mn-ea"/>
                <a:cs typeface="+mn-cs"/>
              </a:rPr>
              <a:t>FY23</a:t>
            </a:r>
            <a:endParaRPr lang="en-GB" sz="1400" dirty="0">
              <a:solidFill>
                <a:srgbClr val="313131"/>
              </a:solidFill>
              <a:ea typeface="+mn-ea"/>
              <a:cs typeface="+mn-cs"/>
            </a:endParaRPr>
          </a:p>
        </p:txBody>
      </p:sp>
    </p:spTree>
    <p:extLst>
      <p:ext uri="{BB962C8B-B14F-4D97-AF65-F5344CB8AC3E}">
        <p14:creationId xmlns:p14="http://schemas.microsoft.com/office/powerpoint/2010/main" val="3178418605"/>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Suggestions on action items</a:t>
            </a:r>
            <a:endParaRPr lang="en-IN" dirty="0"/>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314821207"/>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4628120"/>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4628120"/>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smtClean="0"/>
              <a:t>Cost Optimisation</a:t>
            </a:r>
            <a:endParaRPr lang="en-IN" dirty="0"/>
          </a:p>
        </p:txBody>
      </p:sp>
      <p:sp>
        <p:nvSpPr>
          <p:cNvPr id="3" name="Title 2"/>
          <p:cNvSpPr>
            <a:spLocks noGrp="1"/>
          </p:cNvSpPr>
          <p:nvPr>
            <p:ph type="title"/>
          </p:nvPr>
        </p:nvSpPr>
        <p:spPr/>
        <p:txBody>
          <a:bodyPr/>
          <a:lstStyle/>
          <a:p>
            <a:r>
              <a:rPr lang="en-US" dirty="0"/>
              <a:t>Action </a:t>
            </a:r>
            <a:r>
              <a:rPr lang="en-US" dirty="0" smtClean="0"/>
              <a:t>Items – High Impact Ones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0944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Explore possibility of restructuring / rationalizing tariff signed between Hydro IPPs and NEA</a:t>
            </a:r>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19526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a:solidFill>
                  <a:schemeClr val="bg1"/>
                </a:solidFill>
              </a:rPr>
              <a:t>01</a:t>
            </a:r>
            <a:endParaRPr lang="en-US" sz="1200" b="1" dirty="0">
              <a:solidFill>
                <a:schemeClr val="bg1"/>
              </a:solidFill>
            </a:endParaRPr>
          </a:p>
        </p:txBody>
      </p:sp>
      <p:sp>
        <p:nvSpPr>
          <p:cNvPr id="20" name="Rectangle 19"/>
          <p:cNvSpPr/>
          <p:nvPr/>
        </p:nvSpPr>
        <p:spPr>
          <a:xfrm>
            <a:off x="1318863" y="2595398"/>
            <a:ext cx="6100743" cy="1200329"/>
          </a:xfrm>
          <a:prstGeom prst="rect">
            <a:avLst/>
          </a:prstGeom>
        </p:spPr>
        <p:txBody>
          <a:bodyPr wrap="square">
            <a:spAutoFit/>
          </a:bodyPr>
          <a:lstStyle/>
          <a:p>
            <a:r>
              <a:rPr lang="en-US" sz="1200" dirty="0"/>
              <a:t>Hydro projects have depreciating cost profiles unlike coal/ gas based </a:t>
            </a:r>
            <a:r>
              <a:rPr lang="en-US" sz="1200" dirty="0" smtClean="0"/>
              <a:t>projects which have an escalating cost profile. </a:t>
            </a:r>
            <a:r>
              <a:rPr lang="en-US" sz="1200" dirty="0"/>
              <a:t>Benefits of depreciated hydro assets over time gets eroded </a:t>
            </a:r>
            <a:r>
              <a:rPr lang="en-US" sz="1200" dirty="0" smtClean="0"/>
              <a:t>if hydro tariffs are structured in an escalated profile, as the case in Nepal. There is a possibility that escalating </a:t>
            </a:r>
            <a:r>
              <a:rPr lang="en-US" sz="1200" dirty="0"/>
              <a:t>hydro tariffs </a:t>
            </a:r>
            <a:r>
              <a:rPr lang="en-US" sz="1200" dirty="0" smtClean="0"/>
              <a:t>burden </a:t>
            </a:r>
            <a:r>
              <a:rPr lang="en-US" sz="1200" dirty="0"/>
              <a:t>the utility </a:t>
            </a:r>
            <a:r>
              <a:rPr lang="en-US" sz="1200" dirty="0" smtClean="0"/>
              <a:t>further in </a:t>
            </a:r>
            <a:r>
              <a:rPr lang="en-US" sz="1200" dirty="0"/>
              <a:t>the </a:t>
            </a:r>
            <a:r>
              <a:rPr lang="en-US" sz="1200" dirty="0" smtClean="0"/>
              <a:t>future, </a:t>
            </a:r>
            <a:r>
              <a:rPr lang="en-US" sz="1200" dirty="0"/>
              <a:t>since all other costs </a:t>
            </a:r>
            <a:r>
              <a:rPr lang="en-US" sz="1200" dirty="0" smtClean="0"/>
              <a:t>(Salary</a:t>
            </a:r>
            <a:r>
              <a:rPr lang="en-US" sz="1200" dirty="0"/>
              <a:t>, R&amp;M, A&amp;G, etc.) </a:t>
            </a:r>
            <a:r>
              <a:rPr lang="en-US" sz="1200" dirty="0" smtClean="0"/>
              <a:t>have an escalated profile.</a:t>
            </a:r>
            <a:endParaRPr lang="en-US" sz="1200" dirty="0"/>
          </a:p>
        </p:txBody>
      </p:sp>
      <p:sp>
        <p:nvSpPr>
          <p:cNvPr id="21" name="Rectangle 20"/>
          <p:cNvSpPr/>
          <p:nvPr/>
        </p:nvSpPr>
        <p:spPr>
          <a:xfrm>
            <a:off x="7936497" y="2595398"/>
            <a:ext cx="3867404" cy="1384995"/>
          </a:xfrm>
          <a:prstGeom prst="rect">
            <a:avLst/>
          </a:prstGeom>
        </p:spPr>
        <p:txBody>
          <a:bodyPr wrap="square">
            <a:spAutoFit/>
          </a:bodyPr>
          <a:lstStyle/>
          <a:p>
            <a:r>
              <a:rPr lang="en-US" sz="1200" dirty="0"/>
              <a:t>There could be a marginal increase in upfront tariff leading to higher initial subsidy support from </a:t>
            </a:r>
            <a:r>
              <a:rPr lang="en-US" sz="1200" dirty="0" err="1"/>
              <a:t>GoN</a:t>
            </a:r>
            <a:r>
              <a:rPr lang="en-US" sz="1200" dirty="0"/>
              <a:t>, but it assures future financial </a:t>
            </a:r>
            <a:r>
              <a:rPr lang="en-US" sz="1200" dirty="0" smtClean="0"/>
              <a:t>sustainability of NEA. Innovative structuring could be explored so that it doesn’t burden the present financial situation, but at the same time assures of a future financial sustainability </a:t>
            </a:r>
            <a:endParaRPr lang="en-US" sz="1200" dirty="0"/>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31" name="Isosceles Triangle 30"/>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2" name="Isosceles Triangle 31"/>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3" name="Trapezoid 32"/>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4" name="Rectangle 33"/>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36" name="Rectangle 35">
            <a:extLst>
              <a:ext uri="{FF2B5EF4-FFF2-40B4-BE49-F238E27FC236}">
                <a16:creationId xmlns:a16="http://schemas.microsoft.com/office/drawing/2014/main" id="{DEC2BDF0-84B7-45C6-B559-282EB5CACFC2}"/>
              </a:ext>
            </a:extLst>
          </p:cNvPr>
          <p:cNvSpPr/>
          <p:nvPr/>
        </p:nvSpPr>
        <p:spPr bwMode="gray">
          <a:xfrm>
            <a:off x="469899" y="4073116"/>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Developing a robust foreign exchange management mechanism to cover foreign exchange risks</a:t>
            </a:r>
          </a:p>
        </p:txBody>
      </p:sp>
      <p:sp>
        <p:nvSpPr>
          <p:cNvPr id="37" name="Freeform 33">
            <a:extLst>
              <a:ext uri="{FF2B5EF4-FFF2-40B4-BE49-F238E27FC236}">
                <a16:creationId xmlns:a16="http://schemas.microsoft.com/office/drawing/2014/main" id="{8DBD5DB1-DDBE-49C3-8B35-21E9F438FC96}"/>
              </a:ext>
            </a:extLst>
          </p:cNvPr>
          <p:cNvSpPr>
            <a:spLocks/>
          </p:cNvSpPr>
          <p:nvPr/>
        </p:nvSpPr>
        <p:spPr bwMode="auto">
          <a:xfrm>
            <a:off x="564759" y="3920212"/>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02</a:t>
            </a:r>
            <a:endParaRPr lang="en-US" sz="1200" b="1" dirty="0">
              <a:solidFill>
                <a:schemeClr val="bg1"/>
              </a:solidFill>
            </a:endParaRPr>
          </a:p>
        </p:txBody>
      </p:sp>
      <p:sp>
        <p:nvSpPr>
          <p:cNvPr id="38" name="Rectangle 37"/>
          <p:cNvSpPr/>
          <p:nvPr/>
        </p:nvSpPr>
        <p:spPr>
          <a:xfrm>
            <a:off x="1323606" y="4525473"/>
            <a:ext cx="6096000" cy="1754326"/>
          </a:xfrm>
          <a:prstGeom prst="rect">
            <a:avLst/>
          </a:prstGeom>
        </p:spPr>
        <p:txBody>
          <a:bodyPr>
            <a:spAutoFit/>
          </a:bodyPr>
          <a:lstStyle/>
          <a:p>
            <a:r>
              <a:rPr lang="en-US" sz="1200" dirty="0"/>
              <a:t>Nepal would largely depend on foreign investors / foreign investment to build large Hydro Projects in the country. Borrowing funds in </a:t>
            </a:r>
            <a:r>
              <a:rPr lang="en-US" sz="1200" dirty="0" smtClean="0"/>
              <a:t>NPR/INR or signing power purchase agreements in NPR would reduce the forex </a:t>
            </a:r>
            <a:r>
              <a:rPr lang="en-US" sz="1200" dirty="0"/>
              <a:t>exposure or risk of currency devaluation for NEA. </a:t>
            </a:r>
            <a:endParaRPr lang="en-US" sz="1200" dirty="0" smtClean="0"/>
          </a:p>
          <a:p>
            <a:endParaRPr lang="en-US" sz="1200" dirty="0" smtClean="0"/>
          </a:p>
          <a:p>
            <a:r>
              <a:rPr lang="en-US" sz="1200" dirty="0" smtClean="0"/>
              <a:t>It is also advised to have a corporate </a:t>
            </a:r>
            <a:r>
              <a:rPr lang="en-US" sz="1200" dirty="0"/>
              <a:t>level hedging policy, to cover </a:t>
            </a:r>
            <a:r>
              <a:rPr lang="en-US" sz="1200" dirty="0" smtClean="0"/>
              <a:t>for existing </a:t>
            </a:r>
            <a:r>
              <a:rPr lang="en-US" sz="1200" dirty="0"/>
              <a:t>forex </a:t>
            </a:r>
            <a:r>
              <a:rPr lang="en-US" sz="1200" dirty="0" smtClean="0"/>
              <a:t>risks, if any, to </a:t>
            </a:r>
            <a:r>
              <a:rPr lang="en-US" sz="1200" dirty="0"/>
              <a:t>avoid currency shocks and financial pitfalls</a:t>
            </a:r>
            <a:r>
              <a:rPr lang="en-US" sz="1200" dirty="0" smtClean="0"/>
              <a:t>. This could be investments considered in currency hedged funds, foreign currency bonds, global diversification, etc.   </a:t>
            </a:r>
            <a:endParaRPr lang="en-US" sz="1200" dirty="0"/>
          </a:p>
        </p:txBody>
      </p:sp>
      <p:sp>
        <p:nvSpPr>
          <p:cNvPr id="39" name="Rectangle 38"/>
          <p:cNvSpPr/>
          <p:nvPr/>
        </p:nvSpPr>
        <p:spPr>
          <a:xfrm>
            <a:off x="7936497" y="4548264"/>
            <a:ext cx="3785603" cy="1384995"/>
          </a:xfrm>
          <a:prstGeom prst="rect">
            <a:avLst/>
          </a:prstGeom>
        </p:spPr>
        <p:txBody>
          <a:bodyPr wrap="square">
            <a:spAutoFit/>
          </a:bodyPr>
          <a:lstStyle/>
          <a:p>
            <a:r>
              <a:rPr lang="en-US" sz="1200" dirty="0" smtClean="0"/>
              <a:t>Liabilities stay clear of uncertainties pertaining to currency fluctuations. This would help in providing clarity to NEA/ Regulatory Commission in terms of tariff requirement for financial sustainability</a:t>
            </a:r>
          </a:p>
          <a:p>
            <a:endParaRPr lang="en-US" sz="1200" dirty="0" smtClean="0"/>
          </a:p>
          <a:p>
            <a:endParaRPr lang="en-US" sz="1200" dirty="0"/>
          </a:p>
        </p:txBody>
      </p:sp>
    </p:spTree>
    <p:extLst>
      <p:ext uri="{BB962C8B-B14F-4D97-AF65-F5344CB8AC3E}">
        <p14:creationId xmlns:p14="http://schemas.microsoft.com/office/powerpoint/2010/main" val="92427705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4609832"/>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4609832"/>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smtClean="0"/>
              <a:t>Cost Optimisation</a:t>
            </a:r>
            <a:endParaRPr lang="en-IN" dirty="0"/>
          </a:p>
        </p:txBody>
      </p:sp>
      <p:sp>
        <p:nvSpPr>
          <p:cNvPr id="3" name="Title 2"/>
          <p:cNvSpPr>
            <a:spLocks noGrp="1"/>
          </p:cNvSpPr>
          <p:nvPr>
            <p:ph type="title"/>
          </p:nvPr>
        </p:nvSpPr>
        <p:spPr/>
        <p:txBody>
          <a:bodyPr/>
          <a:lstStyle/>
          <a:p>
            <a:r>
              <a:rPr lang="en-US" dirty="0"/>
              <a:t>Action </a:t>
            </a:r>
            <a:r>
              <a:rPr lang="en-US" dirty="0" smtClean="0"/>
              <a:t>Items – High Impact Ones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0944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Aggressive T&amp;D loss </a:t>
            </a:r>
            <a:r>
              <a:rPr lang="en-US" sz="1400" dirty="0" smtClean="0"/>
              <a:t>targets and achieving the </a:t>
            </a:r>
            <a:r>
              <a:rPr lang="en-US" sz="1400" dirty="0"/>
              <a:t>targets</a:t>
            </a:r>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19526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03</a:t>
            </a:r>
            <a:endParaRPr lang="en-US" sz="1200" b="1" dirty="0">
              <a:solidFill>
                <a:schemeClr val="bg1"/>
              </a:solidFill>
            </a:endParaRPr>
          </a:p>
        </p:txBody>
      </p:sp>
      <p:sp>
        <p:nvSpPr>
          <p:cNvPr id="20" name="Rectangle 19"/>
          <p:cNvSpPr/>
          <p:nvPr/>
        </p:nvSpPr>
        <p:spPr>
          <a:xfrm>
            <a:off x="1318863" y="2595398"/>
            <a:ext cx="6100743" cy="1384995"/>
          </a:xfrm>
          <a:prstGeom prst="rect">
            <a:avLst/>
          </a:prstGeom>
        </p:spPr>
        <p:txBody>
          <a:bodyPr wrap="square">
            <a:spAutoFit/>
          </a:bodyPr>
          <a:lstStyle/>
          <a:p>
            <a:r>
              <a:rPr lang="en-US" sz="1200" dirty="0"/>
              <a:t>Operational efficiency improvement would have significant impact in NEA’s financial sustainability as any improvement would add directly to profitability and revenue </a:t>
            </a:r>
            <a:r>
              <a:rPr lang="en-US" sz="1200" dirty="0" smtClean="0"/>
              <a:t>enhancement.</a:t>
            </a:r>
          </a:p>
          <a:p>
            <a:endParaRPr lang="en-US" sz="1200" dirty="0"/>
          </a:p>
          <a:p>
            <a:r>
              <a:rPr lang="en-US" sz="1200" dirty="0" smtClean="0"/>
              <a:t>T&amp;D losses adversely affect bottom line and topline. If losses are not managed appropriately and target levels are not achieved, financial losses will immediately show up in NEA’s books</a:t>
            </a:r>
            <a:endParaRPr lang="en-US" sz="1200" dirty="0"/>
          </a:p>
        </p:txBody>
      </p:sp>
      <p:sp>
        <p:nvSpPr>
          <p:cNvPr id="21" name="Rectangle 20"/>
          <p:cNvSpPr/>
          <p:nvPr/>
        </p:nvSpPr>
        <p:spPr>
          <a:xfrm>
            <a:off x="7823768" y="2595398"/>
            <a:ext cx="3980133" cy="1277273"/>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a:t>Any lack / delay in achieving </a:t>
            </a:r>
            <a:r>
              <a:rPr lang="en-US" sz="1200" dirty="0" smtClean="0"/>
              <a:t>targeted </a:t>
            </a:r>
            <a:r>
              <a:rPr lang="en-US" sz="1200" dirty="0"/>
              <a:t>T&amp;D loss reduction (by 2% in first 5 years) would reduce profit by NPR </a:t>
            </a:r>
            <a:r>
              <a:rPr lang="en-US" sz="1200" dirty="0" smtClean="0"/>
              <a:t>37 </a:t>
            </a:r>
            <a:r>
              <a:rPr lang="en-US" sz="1200" dirty="0" err="1"/>
              <a:t>Bn</a:t>
            </a:r>
            <a:r>
              <a:rPr lang="en-US" sz="1200" dirty="0"/>
              <a:t> over next 10 </a:t>
            </a:r>
            <a:r>
              <a:rPr lang="en-US" sz="1200" dirty="0" smtClean="0"/>
              <a:t>years</a:t>
            </a:r>
            <a:endParaRPr lang="en-US" sz="1200" dirty="0"/>
          </a:p>
          <a:p>
            <a:pPr marL="171450" indent="-171450">
              <a:spcAft>
                <a:spcPts val="600"/>
              </a:spcAft>
              <a:buFont typeface="Arial" panose="020B0604020202020204" pitchFamily="34" charset="0"/>
              <a:buChar char="•"/>
            </a:pPr>
            <a:r>
              <a:rPr lang="en-US" sz="1200" dirty="0" smtClean="0"/>
              <a:t>Any </a:t>
            </a:r>
            <a:r>
              <a:rPr lang="en-US" sz="1200" dirty="0"/>
              <a:t>improvement in T&amp;D loss reduction profile (2% within first 5 years) would increase profits by NPR </a:t>
            </a:r>
            <a:r>
              <a:rPr lang="en-US" sz="1200" dirty="0" smtClean="0"/>
              <a:t>68 </a:t>
            </a:r>
            <a:r>
              <a:rPr lang="en-US" sz="1200" dirty="0" err="1"/>
              <a:t>Bn</a:t>
            </a:r>
            <a:r>
              <a:rPr lang="en-US" sz="1200" dirty="0"/>
              <a:t> over next 10 </a:t>
            </a:r>
            <a:r>
              <a:rPr lang="en-US" sz="1200" dirty="0" smtClean="0"/>
              <a:t>years</a:t>
            </a:r>
            <a:endParaRPr lang="en-US" sz="1200" dirty="0"/>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31" name="Isosceles Triangle 30"/>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2" name="Isosceles Triangle 31"/>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3" name="Trapezoid 32"/>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4" name="Rectangle 33"/>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36" name="Rectangle 35">
            <a:extLst>
              <a:ext uri="{FF2B5EF4-FFF2-40B4-BE49-F238E27FC236}">
                <a16:creationId xmlns:a16="http://schemas.microsoft.com/office/drawing/2014/main" id="{DEC2BDF0-84B7-45C6-B559-282EB5CACFC2}"/>
              </a:ext>
            </a:extLst>
          </p:cNvPr>
          <p:cNvSpPr/>
          <p:nvPr/>
        </p:nvSpPr>
        <p:spPr bwMode="gray">
          <a:xfrm>
            <a:off x="469899" y="40167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Developing a </a:t>
            </a:r>
            <a:r>
              <a:rPr lang="en-US" sz="1400" dirty="0" smtClean="0"/>
              <a:t>least cost generation master plan </a:t>
            </a:r>
            <a:r>
              <a:rPr lang="en-US" sz="1400" dirty="0"/>
              <a:t>to optimize generation cost for the Nepal Power Sector</a:t>
            </a:r>
          </a:p>
        </p:txBody>
      </p:sp>
      <p:sp>
        <p:nvSpPr>
          <p:cNvPr id="37" name="Freeform 33">
            <a:extLst>
              <a:ext uri="{FF2B5EF4-FFF2-40B4-BE49-F238E27FC236}">
                <a16:creationId xmlns:a16="http://schemas.microsoft.com/office/drawing/2014/main" id="{8DBD5DB1-DDBE-49C3-8B35-21E9F438FC96}"/>
              </a:ext>
            </a:extLst>
          </p:cNvPr>
          <p:cNvSpPr>
            <a:spLocks/>
          </p:cNvSpPr>
          <p:nvPr/>
        </p:nvSpPr>
        <p:spPr bwMode="auto">
          <a:xfrm>
            <a:off x="564759" y="38749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04</a:t>
            </a:r>
            <a:endParaRPr lang="en-US" sz="1200" b="1" dirty="0">
              <a:solidFill>
                <a:schemeClr val="bg1"/>
              </a:solidFill>
            </a:endParaRPr>
          </a:p>
        </p:txBody>
      </p:sp>
      <p:sp>
        <p:nvSpPr>
          <p:cNvPr id="38" name="Rectangle 37"/>
          <p:cNvSpPr/>
          <p:nvPr/>
        </p:nvSpPr>
        <p:spPr>
          <a:xfrm>
            <a:off x="1323606" y="4543761"/>
            <a:ext cx="6096000" cy="1461939"/>
          </a:xfrm>
          <a:prstGeom prst="rect">
            <a:avLst/>
          </a:prstGeom>
        </p:spPr>
        <p:txBody>
          <a:bodyPr>
            <a:spAutoFit/>
          </a:bodyPr>
          <a:lstStyle/>
          <a:p>
            <a:pPr>
              <a:spcAft>
                <a:spcPts val="600"/>
              </a:spcAft>
            </a:pPr>
            <a:r>
              <a:rPr lang="en-US" sz="1200" dirty="0" smtClean="0"/>
              <a:t>A Least </a:t>
            </a:r>
            <a:r>
              <a:rPr lang="en-US" sz="1200" dirty="0"/>
              <a:t>cost generation plan </a:t>
            </a:r>
            <a:r>
              <a:rPr lang="en-US" sz="1200" dirty="0" smtClean="0"/>
              <a:t>should form the basis for all planning related activities. It provides guidance to </a:t>
            </a:r>
            <a:r>
              <a:rPr lang="en-US" sz="1200" dirty="0"/>
              <a:t>the </a:t>
            </a:r>
            <a:r>
              <a:rPr lang="en-US" sz="1200" dirty="0" smtClean="0"/>
              <a:t>investor </a:t>
            </a:r>
            <a:r>
              <a:rPr lang="en-US" sz="1200" dirty="0"/>
              <a:t>community </a:t>
            </a:r>
            <a:r>
              <a:rPr lang="en-US" sz="1200" dirty="0" smtClean="0"/>
              <a:t>in putting </a:t>
            </a:r>
            <a:r>
              <a:rPr lang="en-US" sz="1200" dirty="0"/>
              <a:t>up new projects based on the requirement to serve the load.</a:t>
            </a:r>
            <a:endParaRPr lang="en-US" sz="1200" dirty="0" smtClean="0"/>
          </a:p>
          <a:p>
            <a:pPr>
              <a:spcAft>
                <a:spcPts val="600"/>
              </a:spcAft>
            </a:pPr>
            <a:r>
              <a:rPr lang="en-US" sz="1200" dirty="0"/>
              <a:t>As per projected energy balance, surplus energy would be more than 50% of energy demand in Nepal after FY22. </a:t>
            </a:r>
            <a:r>
              <a:rPr lang="en-US" sz="1200" dirty="0" smtClean="0"/>
              <a:t>A least cost generation plan would </a:t>
            </a:r>
            <a:r>
              <a:rPr lang="en-US" sz="1200" dirty="0"/>
              <a:t>validate </a:t>
            </a:r>
            <a:r>
              <a:rPr lang="en-US" sz="1200" dirty="0" smtClean="0"/>
              <a:t>some of these assumptions on initiating/ delaying few </a:t>
            </a:r>
            <a:r>
              <a:rPr lang="en-US" sz="1200" dirty="0"/>
              <a:t>of the projects </a:t>
            </a:r>
            <a:r>
              <a:rPr lang="en-US" sz="1200" dirty="0" smtClean="0"/>
              <a:t>so that the overall system cost is lowest</a:t>
            </a:r>
            <a:endParaRPr lang="en-US" sz="1200" dirty="0"/>
          </a:p>
        </p:txBody>
      </p:sp>
      <p:sp>
        <p:nvSpPr>
          <p:cNvPr id="39" name="Rectangle 38"/>
          <p:cNvSpPr/>
          <p:nvPr/>
        </p:nvSpPr>
        <p:spPr>
          <a:xfrm>
            <a:off x="7936497" y="4566552"/>
            <a:ext cx="3785603" cy="646331"/>
          </a:xfrm>
          <a:prstGeom prst="rect">
            <a:avLst/>
          </a:prstGeom>
        </p:spPr>
        <p:txBody>
          <a:bodyPr wrap="square">
            <a:spAutoFit/>
          </a:bodyPr>
          <a:lstStyle/>
          <a:p>
            <a:r>
              <a:rPr lang="en-US" sz="1200" dirty="0"/>
              <a:t>Reduced capital investments/ sunk cost would lead to reduced power procurement cost and requirement for revenue subsidy</a:t>
            </a:r>
          </a:p>
        </p:txBody>
      </p:sp>
    </p:spTree>
    <p:extLst>
      <p:ext uri="{BB962C8B-B14F-4D97-AF65-F5344CB8AC3E}">
        <p14:creationId xmlns:p14="http://schemas.microsoft.com/office/powerpoint/2010/main" val="52501460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4637264"/>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4637264"/>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smtClean="0"/>
              <a:t>Cost Optimisation</a:t>
            </a:r>
            <a:endParaRPr lang="en-IN" dirty="0"/>
          </a:p>
        </p:txBody>
      </p:sp>
      <p:sp>
        <p:nvSpPr>
          <p:cNvPr id="3" name="Title 2"/>
          <p:cNvSpPr>
            <a:spLocks noGrp="1"/>
          </p:cNvSpPr>
          <p:nvPr>
            <p:ph type="title"/>
          </p:nvPr>
        </p:nvSpPr>
        <p:spPr/>
        <p:txBody>
          <a:bodyPr/>
          <a:lstStyle/>
          <a:p>
            <a:r>
              <a:rPr lang="en-US" dirty="0"/>
              <a:t>Action </a:t>
            </a:r>
            <a:r>
              <a:rPr lang="en-US" dirty="0" smtClean="0"/>
              <a:t>Items – High Impact Ones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0944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Explore possibility of competitive </a:t>
            </a:r>
            <a:r>
              <a:rPr lang="en-US" sz="1400" dirty="0" smtClean="0"/>
              <a:t>procurement of electricity</a:t>
            </a:r>
            <a:endParaRPr lang="en-US" sz="1400" dirty="0"/>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19526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05</a:t>
            </a:r>
            <a:endParaRPr lang="en-US" sz="1200" b="1" dirty="0">
              <a:solidFill>
                <a:schemeClr val="bg1"/>
              </a:solidFill>
            </a:endParaRPr>
          </a:p>
        </p:txBody>
      </p:sp>
      <p:sp>
        <p:nvSpPr>
          <p:cNvPr id="20" name="Rectangle 19"/>
          <p:cNvSpPr/>
          <p:nvPr/>
        </p:nvSpPr>
        <p:spPr>
          <a:xfrm>
            <a:off x="1318863" y="2528023"/>
            <a:ext cx="6100743" cy="2015936"/>
          </a:xfrm>
          <a:prstGeom prst="rect">
            <a:avLst/>
          </a:prstGeom>
        </p:spPr>
        <p:txBody>
          <a:bodyPr wrap="square">
            <a:spAutoFit/>
          </a:bodyPr>
          <a:lstStyle/>
          <a:p>
            <a:pPr>
              <a:spcAft>
                <a:spcPts val="600"/>
              </a:spcAft>
            </a:pPr>
            <a:r>
              <a:rPr lang="en-US" sz="1200" dirty="0" smtClean="0"/>
              <a:t>Competition in procurement is expected to yield the following benefits to NEA: 1) Lower power procurement cost; 2) improved efficiency and less of delays in commissioning projects; 3) optimum utilization of country’s natural resources; 4) flexibility in offtake of electricity (NEA can put conditions in offtake as per seasonal demand requirement) 5) free up NEA’s resources in putting up own generation, which can be utilized more optimally elsewhere </a:t>
            </a:r>
          </a:p>
          <a:p>
            <a:pPr>
              <a:spcAft>
                <a:spcPts val="600"/>
              </a:spcAft>
            </a:pPr>
            <a:r>
              <a:rPr lang="en-US" sz="1200" dirty="0" smtClean="0"/>
              <a:t>If the current </a:t>
            </a:r>
            <a:r>
              <a:rPr lang="en-US" sz="1200" dirty="0"/>
              <a:t>legal </a:t>
            </a:r>
            <a:r>
              <a:rPr lang="en-US" sz="1200" dirty="0" smtClean="0"/>
              <a:t>framework doesn’t allow NEA to hold competitive </a:t>
            </a:r>
            <a:r>
              <a:rPr lang="en-US" sz="1200" dirty="0"/>
              <a:t>power </a:t>
            </a:r>
            <a:r>
              <a:rPr lang="en-US" sz="1200" dirty="0" smtClean="0"/>
              <a:t>procurement, NEA </a:t>
            </a:r>
            <a:r>
              <a:rPr lang="en-US" sz="1200" dirty="0"/>
              <a:t>could explore the possibility to prioritize projects with high degree of readiness and  favorable </a:t>
            </a:r>
            <a:r>
              <a:rPr lang="en-US" sz="1200" dirty="0" smtClean="0"/>
              <a:t>economics through developing a least cost master plan.</a:t>
            </a:r>
            <a:endParaRPr lang="en-US" sz="1200" dirty="0"/>
          </a:p>
        </p:txBody>
      </p:sp>
      <p:sp>
        <p:nvSpPr>
          <p:cNvPr id="21" name="Rectangle 20"/>
          <p:cNvSpPr/>
          <p:nvPr/>
        </p:nvSpPr>
        <p:spPr>
          <a:xfrm>
            <a:off x="7823768" y="2595398"/>
            <a:ext cx="3980133" cy="461665"/>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smtClean="0"/>
              <a:t>A reduction </a:t>
            </a:r>
            <a:r>
              <a:rPr lang="en-US" sz="1200" dirty="0"/>
              <a:t>in IPP tariff by 10% would improve profits by </a:t>
            </a:r>
            <a:r>
              <a:rPr lang="en-US" sz="1200" dirty="0" smtClean="0"/>
              <a:t>72 </a:t>
            </a:r>
            <a:r>
              <a:rPr lang="en-US" sz="1200" dirty="0" err="1"/>
              <a:t>Bn</a:t>
            </a:r>
            <a:r>
              <a:rPr lang="en-US" sz="1200" dirty="0"/>
              <a:t> NPR, over next 10 years</a:t>
            </a:r>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27" name="Isosceles Triangle 26"/>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40" name="Rectangle 39">
            <a:extLst>
              <a:ext uri="{FF2B5EF4-FFF2-40B4-BE49-F238E27FC236}">
                <a16:creationId xmlns:a16="http://schemas.microsoft.com/office/drawing/2014/main" id="{DEC2BDF0-84B7-45C6-B559-282EB5CACFC2}"/>
              </a:ext>
            </a:extLst>
          </p:cNvPr>
          <p:cNvSpPr/>
          <p:nvPr/>
        </p:nvSpPr>
        <p:spPr bwMode="gray">
          <a:xfrm>
            <a:off x="469899" y="4519392"/>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VGF Support from Government of Nepal in absence of competitive </a:t>
            </a:r>
            <a:r>
              <a:rPr lang="en-US" sz="1400" dirty="0" smtClean="0"/>
              <a:t>procurement</a:t>
            </a:r>
            <a:endParaRPr lang="en-US" sz="1400" dirty="0"/>
          </a:p>
        </p:txBody>
      </p:sp>
      <p:sp>
        <p:nvSpPr>
          <p:cNvPr id="41" name="Freeform 33">
            <a:extLst>
              <a:ext uri="{FF2B5EF4-FFF2-40B4-BE49-F238E27FC236}">
                <a16:creationId xmlns:a16="http://schemas.microsoft.com/office/drawing/2014/main" id="{8DBD5DB1-DDBE-49C3-8B35-21E9F438FC96}"/>
              </a:ext>
            </a:extLst>
          </p:cNvPr>
          <p:cNvSpPr>
            <a:spLocks/>
          </p:cNvSpPr>
          <p:nvPr/>
        </p:nvSpPr>
        <p:spPr bwMode="auto">
          <a:xfrm>
            <a:off x="564759" y="4377569"/>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06</a:t>
            </a:r>
            <a:endParaRPr lang="en-US" sz="1200" b="1" dirty="0">
              <a:solidFill>
                <a:schemeClr val="bg1"/>
              </a:solidFill>
            </a:endParaRPr>
          </a:p>
        </p:txBody>
      </p:sp>
      <p:sp>
        <p:nvSpPr>
          <p:cNvPr id="4" name="Rectangle 3"/>
          <p:cNvSpPr/>
          <p:nvPr/>
        </p:nvSpPr>
        <p:spPr>
          <a:xfrm>
            <a:off x="1318863" y="5004903"/>
            <a:ext cx="6096000" cy="1200329"/>
          </a:xfrm>
          <a:prstGeom prst="rect">
            <a:avLst/>
          </a:prstGeom>
        </p:spPr>
        <p:txBody>
          <a:bodyPr>
            <a:spAutoFit/>
          </a:bodyPr>
          <a:lstStyle/>
          <a:p>
            <a:r>
              <a:rPr lang="en-US" sz="1200" dirty="0"/>
              <a:t>In absence of </a:t>
            </a:r>
            <a:r>
              <a:rPr lang="en-US" sz="1200" dirty="0" smtClean="0"/>
              <a:t>competitive procurement leading to optimized cost and offtake, NEA has to provide a </a:t>
            </a:r>
            <a:r>
              <a:rPr lang="en-US" sz="1200" dirty="0"/>
              <a:t>100% offtake guarantee </a:t>
            </a:r>
            <a:r>
              <a:rPr lang="en-US" sz="1200" dirty="0" smtClean="0"/>
              <a:t>to </a:t>
            </a:r>
            <a:r>
              <a:rPr lang="en-US" sz="1200" dirty="0"/>
              <a:t>all IPPs. </a:t>
            </a:r>
            <a:r>
              <a:rPr lang="en-US" sz="1200" dirty="0" smtClean="0"/>
              <a:t>NEA is expected to experience surplus </a:t>
            </a:r>
            <a:r>
              <a:rPr lang="en-US" sz="1200" dirty="0"/>
              <a:t>power </a:t>
            </a:r>
            <a:r>
              <a:rPr lang="en-US" sz="1200" dirty="0" smtClean="0"/>
              <a:t>availability going forward. Unless this surplus electricity is traded effectively with neighboring countries, NEA may face issues in recovering the cost of procuring that power leading to insurmountable losses</a:t>
            </a:r>
            <a:endParaRPr lang="en-US" sz="1200" dirty="0"/>
          </a:p>
        </p:txBody>
      </p:sp>
      <p:sp>
        <p:nvSpPr>
          <p:cNvPr id="5" name="Rectangle 4"/>
          <p:cNvSpPr/>
          <p:nvPr/>
        </p:nvSpPr>
        <p:spPr>
          <a:xfrm>
            <a:off x="7830971" y="5004903"/>
            <a:ext cx="3891129" cy="1015663"/>
          </a:xfrm>
          <a:prstGeom prst="rect">
            <a:avLst/>
          </a:prstGeom>
        </p:spPr>
        <p:txBody>
          <a:bodyPr wrap="square">
            <a:spAutoFit/>
          </a:bodyPr>
          <a:lstStyle/>
          <a:p>
            <a:pPr marL="171450" indent="-171450">
              <a:buFont typeface="Arial" panose="020B0604020202020204" pitchFamily="34" charset="0"/>
              <a:buChar char="•"/>
            </a:pPr>
            <a:r>
              <a:rPr lang="en-US" sz="1200" dirty="0"/>
              <a:t>Compensation by Government of Nepal in form of grant or VGF, in case there is a spillage of energy and NEA unable to recover cost of power procurement, would ensure financial viability for NEA</a:t>
            </a:r>
          </a:p>
        </p:txBody>
      </p:sp>
    </p:spTree>
    <p:extLst>
      <p:ext uri="{BB962C8B-B14F-4D97-AF65-F5344CB8AC3E}">
        <p14:creationId xmlns:p14="http://schemas.microsoft.com/office/powerpoint/2010/main" val="109599462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4672308"/>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4672308"/>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smtClean="0"/>
              <a:t>Revenue Optimisation</a:t>
            </a:r>
            <a:endParaRPr lang="en-IN" dirty="0"/>
          </a:p>
        </p:txBody>
      </p:sp>
      <p:sp>
        <p:nvSpPr>
          <p:cNvPr id="3" name="Title 2"/>
          <p:cNvSpPr>
            <a:spLocks noGrp="1"/>
          </p:cNvSpPr>
          <p:nvPr>
            <p:ph type="title"/>
          </p:nvPr>
        </p:nvSpPr>
        <p:spPr/>
        <p:txBody>
          <a:bodyPr/>
          <a:lstStyle/>
          <a:p>
            <a:r>
              <a:rPr lang="en-US" dirty="0"/>
              <a:t>Action </a:t>
            </a:r>
            <a:r>
              <a:rPr lang="en-US" dirty="0" smtClean="0"/>
              <a:t>Items – High Impact Ones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0944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Strengthening the Electricity Trading Department for power import/export and formulating export strategy</a:t>
            </a:r>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19526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07</a:t>
            </a:r>
            <a:endParaRPr lang="en-US" sz="1200" b="1" dirty="0">
              <a:solidFill>
                <a:schemeClr val="bg1"/>
              </a:solidFill>
            </a:endParaRPr>
          </a:p>
        </p:txBody>
      </p:sp>
      <p:sp>
        <p:nvSpPr>
          <p:cNvPr id="20" name="Rectangle 19"/>
          <p:cNvSpPr/>
          <p:nvPr/>
        </p:nvSpPr>
        <p:spPr>
          <a:xfrm>
            <a:off x="1318863" y="2540534"/>
            <a:ext cx="6100743" cy="1754326"/>
          </a:xfrm>
          <a:prstGeom prst="rect">
            <a:avLst/>
          </a:prstGeom>
        </p:spPr>
        <p:txBody>
          <a:bodyPr wrap="square">
            <a:spAutoFit/>
          </a:bodyPr>
          <a:lstStyle/>
          <a:p>
            <a:pPr>
              <a:spcAft>
                <a:spcPts val="600"/>
              </a:spcAft>
            </a:pPr>
            <a:r>
              <a:rPr lang="en-US" sz="1200" dirty="0"/>
              <a:t>Nepal is poised to become power surplus in </a:t>
            </a:r>
            <a:r>
              <a:rPr lang="en-US" sz="1200" dirty="0" smtClean="0"/>
              <a:t>near future</a:t>
            </a:r>
            <a:r>
              <a:rPr lang="en-US" sz="1200" dirty="0"/>
              <a:t>. Export of surplus power can generate additional revenue, reducing the requirement of tariff hike or subsidy from </a:t>
            </a:r>
            <a:r>
              <a:rPr lang="en-US" sz="1200" dirty="0" err="1"/>
              <a:t>GoN</a:t>
            </a:r>
            <a:r>
              <a:rPr lang="en-US" sz="1200" dirty="0"/>
              <a:t>. Regional coordination in terms of trading of electricity, banking of power, etc. could greatly reduce the needs of new capital investments in power plants, reduce cost of import of power, increase revenue from export of power, reduce load shedding, increase industrial </a:t>
            </a:r>
            <a:r>
              <a:rPr lang="en-US" sz="1200" dirty="0" smtClean="0"/>
              <a:t>activity. On the other hand, if the surplus power is not traded effectively, NEA is expected to face huge losses. Hence, the trading function will become critical to NEA’s financial sustainability</a:t>
            </a:r>
            <a:endParaRPr lang="en-US" sz="1200" dirty="0"/>
          </a:p>
        </p:txBody>
      </p:sp>
      <p:sp>
        <p:nvSpPr>
          <p:cNvPr id="21" name="Rectangle 20"/>
          <p:cNvSpPr/>
          <p:nvPr/>
        </p:nvSpPr>
        <p:spPr>
          <a:xfrm>
            <a:off x="7823768" y="2540534"/>
            <a:ext cx="3915121" cy="1646605"/>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a:t>Increase in export of power from 50% to 90% of surplus would lead to increase in profit by NPR </a:t>
            </a:r>
            <a:r>
              <a:rPr lang="en-US" sz="1200" dirty="0" smtClean="0"/>
              <a:t>227 </a:t>
            </a:r>
            <a:r>
              <a:rPr lang="en-US" sz="1200" dirty="0" err="1"/>
              <a:t>Bn</a:t>
            </a:r>
            <a:r>
              <a:rPr lang="en-US" sz="1200" dirty="0"/>
              <a:t> </a:t>
            </a:r>
            <a:r>
              <a:rPr lang="en-US" sz="1200" dirty="0" smtClean="0"/>
              <a:t>over </a:t>
            </a:r>
            <a:r>
              <a:rPr lang="en-US" sz="1200" dirty="0"/>
              <a:t>next 10 years . Sale of Power could become a major source of revenue for Nepal’s </a:t>
            </a:r>
            <a:r>
              <a:rPr lang="en-US" sz="1200" dirty="0" smtClean="0"/>
              <a:t>economy</a:t>
            </a:r>
            <a:endParaRPr lang="en-US" sz="1200" dirty="0"/>
          </a:p>
          <a:p>
            <a:pPr marL="171450" indent="-171450">
              <a:spcAft>
                <a:spcPts val="600"/>
              </a:spcAft>
              <a:buFont typeface="Arial" panose="020B0604020202020204" pitchFamily="34" charset="0"/>
              <a:buChar char="•"/>
            </a:pPr>
            <a:r>
              <a:rPr lang="en-US" sz="1200" dirty="0"/>
              <a:t>Trading dept. can </a:t>
            </a:r>
            <a:r>
              <a:rPr lang="en-US" sz="1200" dirty="0" smtClean="0"/>
              <a:t>also analyze </a:t>
            </a:r>
            <a:r>
              <a:rPr lang="en-US" sz="1200" dirty="0"/>
              <a:t>possibility of </a:t>
            </a:r>
            <a:r>
              <a:rPr lang="en-US" sz="1200" dirty="0" smtClean="0"/>
              <a:t>banking of electricity </a:t>
            </a:r>
            <a:r>
              <a:rPr lang="en-US" sz="1200" dirty="0"/>
              <a:t>with India/ neighboring countries</a:t>
            </a:r>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27" name="Isosceles Triangle 26"/>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40" name="Rectangle 39">
            <a:extLst>
              <a:ext uri="{FF2B5EF4-FFF2-40B4-BE49-F238E27FC236}">
                <a16:creationId xmlns:a16="http://schemas.microsoft.com/office/drawing/2014/main" id="{DEC2BDF0-84B7-45C6-B559-282EB5CACFC2}"/>
              </a:ext>
            </a:extLst>
          </p:cNvPr>
          <p:cNvSpPr/>
          <p:nvPr/>
        </p:nvSpPr>
        <p:spPr bwMode="gray">
          <a:xfrm>
            <a:off x="469899" y="4263360"/>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smtClean="0"/>
              <a:t>Establishment of a dedicated </a:t>
            </a:r>
            <a:r>
              <a:rPr lang="en-US" sz="1400" dirty="0"/>
              <a:t>Corporate Planning </a:t>
            </a:r>
            <a:r>
              <a:rPr lang="en-US" sz="1400" dirty="0" smtClean="0"/>
              <a:t>department within NEA</a:t>
            </a:r>
            <a:endParaRPr lang="en-US" sz="1400" dirty="0"/>
          </a:p>
        </p:txBody>
      </p:sp>
      <p:sp>
        <p:nvSpPr>
          <p:cNvPr id="41" name="Freeform 33">
            <a:extLst>
              <a:ext uri="{FF2B5EF4-FFF2-40B4-BE49-F238E27FC236}">
                <a16:creationId xmlns:a16="http://schemas.microsoft.com/office/drawing/2014/main" id="{8DBD5DB1-DDBE-49C3-8B35-21E9F438FC96}"/>
              </a:ext>
            </a:extLst>
          </p:cNvPr>
          <p:cNvSpPr>
            <a:spLocks/>
          </p:cNvSpPr>
          <p:nvPr/>
        </p:nvSpPr>
        <p:spPr bwMode="auto">
          <a:xfrm>
            <a:off x="564759" y="4121537"/>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08</a:t>
            </a:r>
            <a:endParaRPr lang="en-US" sz="1200" b="1" dirty="0">
              <a:solidFill>
                <a:schemeClr val="bg1"/>
              </a:solidFill>
            </a:endParaRPr>
          </a:p>
        </p:txBody>
      </p:sp>
      <p:sp>
        <p:nvSpPr>
          <p:cNvPr id="4" name="Rectangle 3"/>
          <p:cNvSpPr/>
          <p:nvPr/>
        </p:nvSpPr>
        <p:spPr>
          <a:xfrm>
            <a:off x="1318863" y="4694007"/>
            <a:ext cx="6096000" cy="1461939"/>
          </a:xfrm>
          <a:prstGeom prst="rect">
            <a:avLst/>
          </a:prstGeom>
        </p:spPr>
        <p:txBody>
          <a:bodyPr>
            <a:spAutoFit/>
          </a:bodyPr>
          <a:lstStyle/>
          <a:p>
            <a:pPr>
              <a:spcAft>
                <a:spcPts val="600"/>
              </a:spcAft>
            </a:pPr>
            <a:r>
              <a:rPr lang="en-US" sz="1200" dirty="0"/>
              <a:t>The FVAP is an important tool for developing corporate strategy and the analysis needs to be carried forward on an ongoing </a:t>
            </a:r>
            <a:r>
              <a:rPr lang="en-US" sz="1200" dirty="0" smtClean="0"/>
              <a:t>basis. Operational and financial strategies could be easily derived from this analysis. Moreover, once the Electricity Regulatory Commission is fully functional, the FVAP analysis will form a continuous basis for all submissions and approvals including annual revenue requirements, multi-year tariff frameworks, etc.</a:t>
            </a:r>
            <a:endParaRPr lang="en-US" sz="1200" dirty="0"/>
          </a:p>
          <a:p>
            <a:pPr>
              <a:spcAft>
                <a:spcPts val="600"/>
              </a:spcAft>
            </a:pPr>
            <a:endParaRPr lang="en-US" sz="1200" dirty="0"/>
          </a:p>
        </p:txBody>
      </p:sp>
      <p:sp>
        <p:nvSpPr>
          <p:cNvPr id="5" name="Rectangle 4"/>
          <p:cNvSpPr/>
          <p:nvPr/>
        </p:nvSpPr>
        <p:spPr>
          <a:xfrm>
            <a:off x="7830971" y="4694007"/>
            <a:ext cx="3907918" cy="1723549"/>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a:t>All FIs would have a requirement of corporate level business plan as an ongoing monitoring tool. </a:t>
            </a:r>
          </a:p>
          <a:p>
            <a:pPr marL="171450" indent="-171450">
              <a:spcAft>
                <a:spcPts val="600"/>
              </a:spcAft>
              <a:buFont typeface="Arial" panose="020B0604020202020204" pitchFamily="34" charset="0"/>
              <a:buChar char="•"/>
            </a:pPr>
            <a:r>
              <a:rPr lang="en-US" sz="1200" dirty="0" smtClean="0"/>
              <a:t>Operational and financial strategies could be appropriately derived from FVAP analysis as it provides the necessary data visualization</a:t>
            </a:r>
            <a:endParaRPr lang="en-US" sz="1200" dirty="0"/>
          </a:p>
          <a:p>
            <a:pPr marL="171450" indent="-171450">
              <a:spcAft>
                <a:spcPts val="600"/>
              </a:spcAft>
              <a:buFont typeface="Arial" panose="020B0604020202020204" pitchFamily="34" charset="0"/>
              <a:buChar char="•"/>
            </a:pPr>
            <a:r>
              <a:rPr lang="en-US" sz="1200" dirty="0" smtClean="0"/>
              <a:t>FVAP is a prerequisite for any tariff related submissions to Regulatory Commission</a:t>
            </a:r>
            <a:endParaRPr lang="en-US" sz="1200" dirty="0"/>
          </a:p>
        </p:txBody>
      </p:sp>
    </p:spTree>
    <p:extLst>
      <p:ext uri="{BB962C8B-B14F-4D97-AF65-F5344CB8AC3E}">
        <p14:creationId xmlns:p14="http://schemas.microsoft.com/office/powerpoint/2010/main" val="263524965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2614996"/>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2609698"/>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IN" dirty="0" smtClean="0"/>
              <a:t>Revenue Optimisation</a:t>
            </a:r>
            <a:endParaRPr lang="en-IN" dirty="0"/>
          </a:p>
        </p:txBody>
      </p:sp>
      <p:sp>
        <p:nvSpPr>
          <p:cNvPr id="3" name="Title 2"/>
          <p:cNvSpPr>
            <a:spLocks noGrp="1"/>
          </p:cNvSpPr>
          <p:nvPr>
            <p:ph type="title"/>
          </p:nvPr>
        </p:nvSpPr>
        <p:spPr/>
        <p:txBody>
          <a:bodyPr/>
          <a:lstStyle/>
          <a:p>
            <a:r>
              <a:rPr lang="en-US" dirty="0"/>
              <a:t>Action </a:t>
            </a:r>
            <a:r>
              <a:rPr lang="en-US" dirty="0" smtClean="0"/>
              <a:t>Items – High Impact Ones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2094498"/>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Waiving of past liabilities </a:t>
            </a:r>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64759" y="1952675"/>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09</a:t>
            </a:r>
            <a:endParaRPr lang="en-US" sz="1200" b="1" dirty="0">
              <a:solidFill>
                <a:schemeClr val="bg1"/>
              </a:solidFill>
            </a:endParaRPr>
          </a:p>
        </p:txBody>
      </p:sp>
      <p:sp>
        <p:nvSpPr>
          <p:cNvPr id="20" name="Rectangle 19"/>
          <p:cNvSpPr/>
          <p:nvPr/>
        </p:nvSpPr>
        <p:spPr>
          <a:xfrm>
            <a:off x="1318863" y="2540534"/>
            <a:ext cx="6100743" cy="830997"/>
          </a:xfrm>
          <a:prstGeom prst="rect">
            <a:avLst/>
          </a:prstGeom>
        </p:spPr>
        <p:txBody>
          <a:bodyPr wrap="square">
            <a:spAutoFit/>
          </a:bodyPr>
          <a:lstStyle/>
          <a:p>
            <a:pPr>
              <a:spcAft>
                <a:spcPts val="600"/>
              </a:spcAft>
            </a:pPr>
            <a:r>
              <a:rPr lang="en-US" sz="1200" dirty="0"/>
              <a:t>Past cumulative losses </a:t>
            </a:r>
            <a:r>
              <a:rPr lang="en-US" sz="1200" dirty="0" smtClean="0"/>
              <a:t>(~15 </a:t>
            </a:r>
            <a:r>
              <a:rPr lang="en-US" sz="1200" dirty="0" err="1"/>
              <a:t>Bn</a:t>
            </a:r>
            <a:r>
              <a:rPr lang="en-US" sz="1200" dirty="0"/>
              <a:t> NPR), </a:t>
            </a:r>
            <a:r>
              <a:rPr lang="en-US" sz="1200" dirty="0" smtClean="0"/>
              <a:t>which is currently reflected in the annual financial statements of NEA, </a:t>
            </a:r>
            <a:r>
              <a:rPr lang="en-US" sz="1200" dirty="0"/>
              <a:t>would affect investor/ borrower </a:t>
            </a:r>
            <a:r>
              <a:rPr lang="en-US" sz="1200" dirty="0" smtClean="0"/>
              <a:t>perspective. Waiver of such losses can provide NEA a fresh start as it improves the future perspective</a:t>
            </a:r>
            <a:endParaRPr lang="en-US" sz="1200" dirty="0"/>
          </a:p>
        </p:txBody>
      </p:sp>
      <p:sp>
        <p:nvSpPr>
          <p:cNvPr id="21" name="Rectangle 20"/>
          <p:cNvSpPr/>
          <p:nvPr/>
        </p:nvSpPr>
        <p:spPr>
          <a:xfrm>
            <a:off x="7805480" y="2540534"/>
            <a:ext cx="4045144" cy="1831271"/>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a:t>NEA would be able to secure commercial loan from financial institutions at cheaper interest rates as it increases the credibility </a:t>
            </a:r>
            <a:r>
              <a:rPr lang="en-US" sz="1200" dirty="0" smtClean="0"/>
              <a:t>and rating of NEA</a:t>
            </a:r>
            <a:endParaRPr lang="en-US" sz="1200" dirty="0"/>
          </a:p>
          <a:p>
            <a:pPr marL="171450" indent="-171450">
              <a:spcAft>
                <a:spcPts val="600"/>
              </a:spcAft>
              <a:buFont typeface="Arial" panose="020B0604020202020204" pitchFamily="34" charset="0"/>
              <a:buChar char="•"/>
            </a:pPr>
            <a:r>
              <a:rPr lang="en-US" sz="1200" dirty="0" smtClean="0"/>
              <a:t>If </a:t>
            </a:r>
            <a:r>
              <a:rPr lang="en-US" sz="1200" dirty="0"/>
              <a:t>Government wishes to bring in new investors in NEA (could be through public listing, strategic partners or bringing in institutional investors), the premium and valuation of shares could substantially increase</a:t>
            </a:r>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27" name="Isosceles Triangle 26"/>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Tree>
    <p:extLst>
      <p:ext uri="{BB962C8B-B14F-4D97-AF65-F5344CB8AC3E}">
        <p14:creationId xmlns:p14="http://schemas.microsoft.com/office/powerpoint/2010/main" val="214995452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4672308"/>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4672308"/>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US" dirty="0"/>
              <a:t>Other necessary measures from Long Term perspective</a:t>
            </a:r>
          </a:p>
        </p:txBody>
      </p:sp>
      <p:sp>
        <p:nvSpPr>
          <p:cNvPr id="3" name="Title 2"/>
          <p:cNvSpPr>
            <a:spLocks noGrp="1"/>
          </p:cNvSpPr>
          <p:nvPr>
            <p:ph type="title"/>
          </p:nvPr>
        </p:nvSpPr>
        <p:spPr/>
        <p:txBody>
          <a:bodyPr/>
          <a:lstStyle/>
          <a:p>
            <a:r>
              <a:rPr lang="en-US" dirty="0"/>
              <a:t>Action </a:t>
            </a:r>
            <a:r>
              <a:rPr lang="en-US" dirty="0" smtClean="0"/>
              <a:t>Items</a:t>
            </a:r>
            <a:endParaRPr lang="en-IN" dirty="0"/>
          </a:p>
        </p:txBody>
      </p:sp>
      <p:sp>
        <p:nvSpPr>
          <p:cNvPr id="18" name="Rectangle 17">
            <a:extLst>
              <a:ext uri="{FF2B5EF4-FFF2-40B4-BE49-F238E27FC236}">
                <a16:creationId xmlns:a16="http://schemas.microsoft.com/office/drawing/2014/main" id="{DEC2BDF0-84B7-45C6-B559-282EB5CACFC2}"/>
              </a:ext>
            </a:extLst>
          </p:cNvPr>
          <p:cNvSpPr/>
          <p:nvPr/>
        </p:nvSpPr>
        <p:spPr bwMode="gray">
          <a:xfrm>
            <a:off x="469899" y="4217105"/>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Adoption of Energy Efficiency measures</a:t>
            </a:r>
          </a:p>
        </p:txBody>
      </p:sp>
      <p:sp>
        <p:nvSpPr>
          <p:cNvPr id="19" name="Freeform 33">
            <a:extLst>
              <a:ext uri="{FF2B5EF4-FFF2-40B4-BE49-F238E27FC236}">
                <a16:creationId xmlns:a16="http://schemas.microsoft.com/office/drawing/2014/main" id="{8DBD5DB1-DDBE-49C3-8B35-21E9F438FC96}"/>
              </a:ext>
            </a:extLst>
          </p:cNvPr>
          <p:cNvSpPr>
            <a:spLocks/>
          </p:cNvSpPr>
          <p:nvPr/>
        </p:nvSpPr>
        <p:spPr bwMode="auto">
          <a:xfrm>
            <a:off x="517107" y="4081402"/>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11</a:t>
            </a:r>
            <a:endParaRPr lang="en-US" sz="1200" b="1" dirty="0">
              <a:solidFill>
                <a:schemeClr val="bg1"/>
              </a:solidFill>
            </a:endParaRPr>
          </a:p>
        </p:txBody>
      </p:sp>
      <p:sp>
        <p:nvSpPr>
          <p:cNvPr id="20" name="Rectangle 19"/>
          <p:cNvSpPr/>
          <p:nvPr/>
        </p:nvSpPr>
        <p:spPr>
          <a:xfrm>
            <a:off x="1314120" y="4747616"/>
            <a:ext cx="6100743" cy="1461939"/>
          </a:xfrm>
          <a:prstGeom prst="rect">
            <a:avLst/>
          </a:prstGeom>
        </p:spPr>
        <p:txBody>
          <a:bodyPr wrap="square">
            <a:spAutoFit/>
          </a:bodyPr>
          <a:lstStyle/>
          <a:p>
            <a:pPr>
              <a:spcAft>
                <a:spcPts val="600"/>
              </a:spcAft>
            </a:pPr>
            <a:r>
              <a:rPr lang="en-US" sz="1200" dirty="0" smtClean="0"/>
              <a:t>NEA should take an active role in promoting energy efficiency measures in industries, municipalities, etc. This would reduce the requirement of overall electricity demand and helps in flattening the load curve leading to reduced requirement of peak energy procurement.  </a:t>
            </a:r>
          </a:p>
          <a:p>
            <a:pPr>
              <a:spcAft>
                <a:spcPts val="600"/>
              </a:spcAft>
            </a:pPr>
            <a:r>
              <a:rPr lang="en-US" sz="1200" dirty="0" smtClean="0"/>
              <a:t>Schemes for consumers could be run by NEA in coordination with Government of Nepal in adoption of energy efficient lights, appliances, machines, etc. and incentive structures could be designed around that</a:t>
            </a:r>
            <a:endParaRPr lang="en-US" sz="1200" dirty="0"/>
          </a:p>
        </p:txBody>
      </p:sp>
      <p:sp>
        <p:nvSpPr>
          <p:cNvPr id="21" name="Rectangle 20"/>
          <p:cNvSpPr/>
          <p:nvPr/>
        </p:nvSpPr>
        <p:spPr>
          <a:xfrm>
            <a:off x="7805480" y="5039894"/>
            <a:ext cx="4045144" cy="800219"/>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smtClean="0"/>
              <a:t>Reduced requirement of electricity demand</a:t>
            </a:r>
          </a:p>
          <a:p>
            <a:pPr marL="171450" indent="-171450">
              <a:spcAft>
                <a:spcPts val="600"/>
              </a:spcAft>
              <a:buFont typeface="Arial" panose="020B0604020202020204" pitchFamily="34" charset="0"/>
              <a:buChar char="•"/>
            </a:pPr>
            <a:r>
              <a:rPr lang="en-US" sz="1200" dirty="0" smtClean="0"/>
              <a:t>Reduced </a:t>
            </a:r>
            <a:r>
              <a:rPr lang="en-US" sz="1200" dirty="0"/>
              <a:t>load shedding during evening </a:t>
            </a:r>
            <a:r>
              <a:rPr lang="en-US" sz="1200" dirty="0" smtClean="0"/>
              <a:t>hours</a:t>
            </a:r>
          </a:p>
          <a:p>
            <a:pPr marL="171450" indent="-171450">
              <a:spcAft>
                <a:spcPts val="600"/>
              </a:spcAft>
              <a:buFont typeface="Arial" panose="020B0604020202020204" pitchFamily="34" charset="0"/>
              <a:buChar char="•"/>
            </a:pPr>
            <a:r>
              <a:rPr lang="en-US" sz="1200" dirty="0" smtClean="0"/>
              <a:t>Reduced </a:t>
            </a:r>
            <a:r>
              <a:rPr lang="en-US" sz="1200" dirty="0"/>
              <a:t>power procurement cost</a:t>
            </a:r>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27" name="Isosceles Triangle 26"/>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31" name="Rectangle 30">
            <a:extLst>
              <a:ext uri="{FF2B5EF4-FFF2-40B4-BE49-F238E27FC236}">
                <a16:creationId xmlns:a16="http://schemas.microsoft.com/office/drawing/2014/main" id="{DEC2BDF0-84B7-45C6-B559-282EB5CACFC2}"/>
              </a:ext>
            </a:extLst>
          </p:cNvPr>
          <p:cNvSpPr/>
          <p:nvPr/>
        </p:nvSpPr>
        <p:spPr bwMode="gray">
          <a:xfrm>
            <a:off x="469899" y="2058640"/>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a:t>Establishment of the Transmission function as a separate state owned entity / company</a:t>
            </a:r>
          </a:p>
        </p:txBody>
      </p:sp>
      <p:sp>
        <p:nvSpPr>
          <p:cNvPr id="32" name="Freeform 33">
            <a:extLst>
              <a:ext uri="{FF2B5EF4-FFF2-40B4-BE49-F238E27FC236}">
                <a16:creationId xmlns:a16="http://schemas.microsoft.com/office/drawing/2014/main" id="{8DBD5DB1-DDBE-49C3-8B35-21E9F438FC96}"/>
              </a:ext>
            </a:extLst>
          </p:cNvPr>
          <p:cNvSpPr>
            <a:spLocks/>
          </p:cNvSpPr>
          <p:nvPr/>
        </p:nvSpPr>
        <p:spPr bwMode="auto">
          <a:xfrm>
            <a:off x="564759" y="1916817"/>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10</a:t>
            </a:r>
            <a:endParaRPr lang="en-US" sz="1200" b="1" dirty="0">
              <a:solidFill>
                <a:schemeClr val="bg1"/>
              </a:solidFill>
            </a:endParaRPr>
          </a:p>
        </p:txBody>
      </p:sp>
      <p:sp>
        <p:nvSpPr>
          <p:cNvPr id="33" name="Rectangle 32"/>
          <p:cNvSpPr/>
          <p:nvPr/>
        </p:nvSpPr>
        <p:spPr>
          <a:xfrm>
            <a:off x="1318863" y="2489287"/>
            <a:ext cx="6096000" cy="1461939"/>
          </a:xfrm>
          <a:prstGeom prst="rect">
            <a:avLst/>
          </a:prstGeom>
        </p:spPr>
        <p:txBody>
          <a:bodyPr>
            <a:spAutoFit/>
          </a:bodyPr>
          <a:lstStyle/>
          <a:p>
            <a:pPr>
              <a:spcAft>
                <a:spcPts val="600"/>
              </a:spcAft>
            </a:pPr>
            <a:r>
              <a:rPr lang="en-US" sz="1200" dirty="0"/>
              <a:t>With sizeable investments being projected in the transmission sector, it is recommended to corporatize transmission business of </a:t>
            </a:r>
            <a:r>
              <a:rPr lang="en-US" sz="1200" dirty="0" smtClean="0"/>
              <a:t>NEA</a:t>
            </a:r>
            <a:r>
              <a:rPr lang="en-US" sz="1200" dirty="0"/>
              <a:t> </a:t>
            </a:r>
            <a:r>
              <a:rPr lang="en-US" sz="1200" dirty="0" smtClean="0"/>
              <a:t>in future. </a:t>
            </a:r>
          </a:p>
          <a:p>
            <a:pPr>
              <a:spcAft>
                <a:spcPts val="600"/>
              </a:spcAft>
            </a:pPr>
            <a:r>
              <a:rPr lang="en-US" sz="1200" dirty="0" smtClean="0"/>
              <a:t>Going </a:t>
            </a:r>
            <a:r>
              <a:rPr lang="en-US" sz="1200" dirty="0"/>
              <a:t>forward, when investment requirement increases and NEA faces budget </a:t>
            </a:r>
            <a:r>
              <a:rPr lang="en-US" sz="1200" dirty="0" smtClean="0"/>
              <a:t>constraint, it </a:t>
            </a:r>
            <a:r>
              <a:rPr lang="en-US" sz="1200" dirty="0"/>
              <a:t>would make sense for NEA to build </a:t>
            </a:r>
            <a:r>
              <a:rPr lang="en-US" sz="1200" dirty="0" smtClean="0"/>
              <a:t>transmission lines </a:t>
            </a:r>
            <a:r>
              <a:rPr lang="en-US" sz="1200" dirty="0"/>
              <a:t>through Public Private Partnership (PPP)/ competitive bidding. </a:t>
            </a:r>
            <a:r>
              <a:rPr lang="en-US" sz="1200" dirty="0" smtClean="0"/>
              <a:t>Separation of risks from retail supply business would be critical for enabling any </a:t>
            </a:r>
            <a:r>
              <a:rPr lang="en-US" sz="1200" dirty="0"/>
              <a:t>PPP/ competitive bidding </a:t>
            </a:r>
            <a:r>
              <a:rPr lang="en-US" sz="1200" dirty="0" smtClean="0"/>
              <a:t>procurement in Transmission sector.</a:t>
            </a:r>
            <a:endParaRPr lang="en-US" sz="1200" dirty="0"/>
          </a:p>
        </p:txBody>
      </p:sp>
      <p:sp>
        <p:nvSpPr>
          <p:cNvPr id="34" name="Rectangle 33"/>
          <p:cNvSpPr/>
          <p:nvPr/>
        </p:nvSpPr>
        <p:spPr>
          <a:xfrm>
            <a:off x="7830971" y="2489287"/>
            <a:ext cx="3907918" cy="1538883"/>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a:t>Independent </a:t>
            </a:r>
            <a:r>
              <a:rPr lang="en-US" sz="1200" dirty="0" smtClean="0"/>
              <a:t>transmission operations </a:t>
            </a:r>
            <a:r>
              <a:rPr lang="en-US" sz="1200" dirty="0"/>
              <a:t>is required for enabling electricity competition and market </a:t>
            </a:r>
            <a:r>
              <a:rPr lang="en-US" sz="1200" dirty="0" smtClean="0"/>
              <a:t>operations</a:t>
            </a:r>
            <a:endParaRPr lang="en-US" sz="1200" dirty="0"/>
          </a:p>
          <a:p>
            <a:pPr marL="171450" indent="-171450">
              <a:spcAft>
                <a:spcPts val="600"/>
              </a:spcAft>
              <a:buFont typeface="Arial" panose="020B0604020202020204" pitchFamily="34" charset="0"/>
              <a:buChar char="•"/>
            </a:pPr>
            <a:r>
              <a:rPr lang="en-US" sz="1200" dirty="0"/>
              <a:t>Helps in specialization, autonomy and accountability in </a:t>
            </a:r>
            <a:r>
              <a:rPr lang="en-US" sz="1200" dirty="0" smtClean="0"/>
              <a:t>operations</a:t>
            </a:r>
            <a:endParaRPr lang="en-US" sz="1200" dirty="0"/>
          </a:p>
          <a:p>
            <a:pPr marL="171450" indent="-171450">
              <a:spcAft>
                <a:spcPts val="600"/>
              </a:spcAft>
              <a:buFont typeface="Arial" panose="020B0604020202020204" pitchFamily="34" charset="0"/>
              <a:buChar char="•"/>
            </a:pPr>
            <a:r>
              <a:rPr lang="en-US" sz="1200" dirty="0"/>
              <a:t>Creates the bedrock for private participation across the value </a:t>
            </a:r>
            <a:r>
              <a:rPr lang="en-US" sz="1200" dirty="0" smtClean="0"/>
              <a:t>chain</a:t>
            </a:r>
            <a:endParaRPr lang="en-US" sz="1200" dirty="0"/>
          </a:p>
        </p:txBody>
      </p:sp>
    </p:spTree>
    <p:extLst>
      <p:ext uri="{BB962C8B-B14F-4D97-AF65-F5344CB8AC3E}">
        <p14:creationId xmlns:p14="http://schemas.microsoft.com/office/powerpoint/2010/main" val="175303659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5A771EB-91A9-4873-890D-A91B392DB048}"/>
              </a:ext>
            </a:extLst>
          </p:cNvPr>
          <p:cNvSpPr/>
          <p:nvPr/>
        </p:nvSpPr>
        <p:spPr bwMode="gray">
          <a:xfrm>
            <a:off x="7823768" y="1745248"/>
            <a:ext cx="3915121" cy="2506712"/>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6" name="Rectangle 25">
            <a:extLst>
              <a:ext uri="{FF2B5EF4-FFF2-40B4-BE49-F238E27FC236}">
                <a16:creationId xmlns:a16="http://schemas.microsoft.com/office/drawing/2014/main" id="{A5A771EB-91A9-4873-890D-A91B392DB048}"/>
              </a:ext>
            </a:extLst>
          </p:cNvPr>
          <p:cNvSpPr/>
          <p:nvPr/>
        </p:nvSpPr>
        <p:spPr bwMode="gray">
          <a:xfrm>
            <a:off x="1185526" y="1750546"/>
            <a:ext cx="6367418" cy="2501414"/>
          </a:xfrm>
          <a:prstGeom prst="rect">
            <a:avLst/>
          </a:prstGeom>
          <a:pattFill prst="pct5">
            <a:fgClr>
              <a:schemeClr val="accent1"/>
            </a:fgClr>
            <a:bgClr>
              <a:schemeClr val="bg1"/>
            </a:bgClr>
          </a:pattFill>
          <a:ln w="12700" algn="ctr">
            <a:solidFill>
              <a:schemeClr val="accent1">
                <a:lumMod val="75000"/>
              </a:schemeClr>
            </a:solidFill>
            <a:miter lim="800000"/>
            <a:headEnd/>
            <a:tailEnd/>
          </a:ln>
        </p:spPr>
        <p:txBody>
          <a:bodyPr wrap="square" lIns="88900" tIns="182880" rIns="88900" bIns="88900" rtlCol="0" anchor="t"/>
          <a:lstStyle/>
          <a:p>
            <a:pPr marL="171450" indent="-171450">
              <a:spcAft>
                <a:spcPts val="300"/>
              </a:spcAft>
              <a:buFont typeface="Arial" panose="020B0604020202020204" pitchFamily="34" charset="0"/>
              <a:buChar char="•"/>
            </a:pPr>
            <a:endParaRPr lang="en-US" sz="1200" dirty="0"/>
          </a:p>
        </p:txBody>
      </p:sp>
      <p:sp>
        <p:nvSpPr>
          <p:cNvPr id="2" name="Text Placeholder 1"/>
          <p:cNvSpPr>
            <a:spLocks noGrp="1"/>
          </p:cNvSpPr>
          <p:nvPr>
            <p:ph type="body" sz="quarter" idx="13"/>
          </p:nvPr>
        </p:nvSpPr>
        <p:spPr/>
        <p:txBody>
          <a:bodyPr/>
          <a:lstStyle/>
          <a:p>
            <a:r>
              <a:rPr lang="en-US" dirty="0"/>
              <a:t>Other necessary measures from Long Term perspective</a:t>
            </a:r>
          </a:p>
        </p:txBody>
      </p:sp>
      <p:sp>
        <p:nvSpPr>
          <p:cNvPr id="3" name="Title 2"/>
          <p:cNvSpPr>
            <a:spLocks noGrp="1"/>
          </p:cNvSpPr>
          <p:nvPr>
            <p:ph type="title"/>
          </p:nvPr>
        </p:nvSpPr>
        <p:spPr/>
        <p:txBody>
          <a:bodyPr/>
          <a:lstStyle/>
          <a:p>
            <a:r>
              <a:rPr lang="en-US" dirty="0"/>
              <a:t>Action </a:t>
            </a:r>
            <a:r>
              <a:rPr lang="en-US" dirty="0" smtClean="0"/>
              <a:t>Items</a:t>
            </a:r>
            <a:endParaRPr lang="en-IN" dirty="0"/>
          </a:p>
        </p:txBody>
      </p:sp>
      <p:sp>
        <p:nvSpPr>
          <p:cNvPr id="22" name="Isosceles Triangle 21"/>
          <p:cNvSpPr/>
          <p:nvPr/>
        </p:nvSpPr>
        <p:spPr bwMode="gray">
          <a:xfrm flipH="1">
            <a:off x="5317324"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3" name="Isosceles Triangle 22"/>
          <p:cNvSpPr/>
          <p:nvPr/>
        </p:nvSpPr>
        <p:spPr bwMode="gray">
          <a:xfrm>
            <a:off x="2752777" y="1522033"/>
            <a:ext cx="263599" cy="228514"/>
          </a:xfrm>
          <a:prstGeom prst="triangle">
            <a:avLst>
              <a:gd name="adj" fmla="val 22763"/>
            </a:avLst>
          </a:prstGeom>
          <a:solidFill>
            <a:schemeClr val="accent1">
              <a:lumMod val="75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4" name="Trapezoid 23"/>
          <p:cNvSpPr/>
          <p:nvPr/>
        </p:nvSpPr>
        <p:spPr bwMode="gray">
          <a:xfrm rot="10800000">
            <a:off x="2810881" y="1522033"/>
            <a:ext cx="2711939" cy="322424"/>
          </a:xfrm>
          <a:prstGeom prst="trapezoid">
            <a:avLst>
              <a:gd name="adj" fmla="val 68631"/>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5" name="Rectangle 24"/>
          <p:cNvSpPr/>
          <p:nvPr/>
        </p:nvSpPr>
        <p:spPr>
          <a:xfrm>
            <a:off x="3599287" y="1551046"/>
            <a:ext cx="1003801" cy="276999"/>
          </a:xfrm>
          <a:prstGeom prst="rect">
            <a:avLst/>
          </a:prstGeom>
        </p:spPr>
        <p:txBody>
          <a:bodyPr wrap="none">
            <a:spAutoFit/>
          </a:bodyPr>
          <a:lstStyle/>
          <a:p>
            <a:pPr>
              <a:spcAft>
                <a:spcPts val="300"/>
              </a:spcAft>
            </a:pPr>
            <a:r>
              <a:rPr lang="en-US" sz="1200" b="1" dirty="0" smtClean="0">
                <a:solidFill>
                  <a:schemeClr val="bg1"/>
                </a:solidFill>
              </a:rPr>
              <a:t>Rationale</a:t>
            </a:r>
            <a:endParaRPr lang="en-US" sz="1200" b="1" dirty="0">
              <a:solidFill>
                <a:schemeClr val="bg1"/>
              </a:solidFill>
            </a:endParaRPr>
          </a:p>
        </p:txBody>
      </p:sp>
      <p:sp>
        <p:nvSpPr>
          <p:cNvPr id="27" name="Isosceles Triangle 26"/>
          <p:cNvSpPr/>
          <p:nvPr/>
        </p:nvSpPr>
        <p:spPr bwMode="gray">
          <a:xfrm flipH="1">
            <a:off x="10878971"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8" name="Isosceles Triangle 27"/>
          <p:cNvSpPr/>
          <p:nvPr/>
        </p:nvSpPr>
        <p:spPr bwMode="gray">
          <a:xfrm>
            <a:off x="8314424" y="1520028"/>
            <a:ext cx="263599" cy="228514"/>
          </a:xfrm>
          <a:prstGeom prst="triangle">
            <a:avLst>
              <a:gd name="adj" fmla="val 22763"/>
            </a:avLst>
          </a:prstGeom>
          <a:solidFill>
            <a:schemeClr val="accent5">
              <a:lumMod val="5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29" name="Trapezoid 28"/>
          <p:cNvSpPr/>
          <p:nvPr/>
        </p:nvSpPr>
        <p:spPr bwMode="gray">
          <a:xfrm rot="10800000">
            <a:off x="8372528" y="1520028"/>
            <a:ext cx="2711939" cy="322424"/>
          </a:xfrm>
          <a:prstGeom prst="trapezoid">
            <a:avLst>
              <a:gd name="adj" fmla="val 68631"/>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smtClean="0">
              <a:solidFill>
                <a:schemeClr val="bg1"/>
              </a:solidFill>
            </a:endParaRPr>
          </a:p>
        </p:txBody>
      </p:sp>
      <p:sp>
        <p:nvSpPr>
          <p:cNvPr id="30" name="Rectangle 29"/>
          <p:cNvSpPr/>
          <p:nvPr/>
        </p:nvSpPr>
        <p:spPr>
          <a:xfrm>
            <a:off x="9047062" y="1549041"/>
            <a:ext cx="1362874" cy="276999"/>
          </a:xfrm>
          <a:prstGeom prst="rect">
            <a:avLst/>
          </a:prstGeom>
        </p:spPr>
        <p:txBody>
          <a:bodyPr wrap="none">
            <a:spAutoFit/>
          </a:bodyPr>
          <a:lstStyle/>
          <a:p>
            <a:pPr algn="ctr">
              <a:spcAft>
                <a:spcPts val="300"/>
              </a:spcAft>
            </a:pPr>
            <a:r>
              <a:rPr lang="en-US" sz="1200" b="1" dirty="0" smtClean="0">
                <a:solidFill>
                  <a:schemeClr val="bg1"/>
                </a:solidFill>
              </a:rPr>
              <a:t>Likely Impact</a:t>
            </a:r>
            <a:endParaRPr lang="en-US" sz="1200" b="1" dirty="0">
              <a:solidFill>
                <a:schemeClr val="bg1"/>
              </a:solidFill>
            </a:endParaRPr>
          </a:p>
        </p:txBody>
      </p:sp>
      <p:sp>
        <p:nvSpPr>
          <p:cNvPr id="31" name="Rectangle 30">
            <a:extLst>
              <a:ext uri="{FF2B5EF4-FFF2-40B4-BE49-F238E27FC236}">
                <a16:creationId xmlns:a16="http://schemas.microsoft.com/office/drawing/2014/main" id="{DEC2BDF0-84B7-45C6-B559-282EB5CACFC2}"/>
              </a:ext>
            </a:extLst>
          </p:cNvPr>
          <p:cNvSpPr/>
          <p:nvPr/>
        </p:nvSpPr>
        <p:spPr bwMode="gray">
          <a:xfrm>
            <a:off x="469899" y="2058640"/>
            <a:ext cx="11399013" cy="408177"/>
          </a:xfrm>
          <a:prstGeom prst="rect">
            <a:avLst/>
          </a:prstGeom>
          <a:solidFill>
            <a:schemeClr val="bg2"/>
          </a:solidFill>
          <a:ln w="19050" algn="ctr">
            <a:noFill/>
            <a:miter lim="800000"/>
            <a:headEnd/>
            <a:tailEnd/>
          </a:ln>
        </p:spPr>
        <p:txBody>
          <a:bodyPr wrap="square" lIns="822960" tIns="88900" rIns="88900" bIns="88900" rtlCol="0" anchor="ctr"/>
          <a:lstStyle/>
          <a:p>
            <a:pPr marL="92075">
              <a:spcBef>
                <a:spcPts val="1200"/>
              </a:spcBef>
              <a:buSzPct val="100000"/>
            </a:pPr>
            <a:r>
              <a:rPr lang="en-US" sz="1400" dirty="0" smtClean="0"/>
              <a:t>Promotion of electric vehicles, industrial and domestic demand</a:t>
            </a:r>
            <a:endParaRPr lang="en-US" sz="1400" dirty="0"/>
          </a:p>
        </p:txBody>
      </p:sp>
      <p:sp>
        <p:nvSpPr>
          <p:cNvPr id="32" name="Freeform 33">
            <a:extLst>
              <a:ext uri="{FF2B5EF4-FFF2-40B4-BE49-F238E27FC236}">
                <a16:creationId xmlns:a16="http://schemas.microsoft.com/office/drawing/2014/main" id="{8DBD5DB1-DDBE-49C3-8B35-21E9F438FC96}"/>
              </a:ext>
            </a:extLst>
          </p:cNvPr>
          <p:cNvSpPr>
            <a:spLocks/>
          </p:cNvSpPr>
          <p:nvPr/>
        </p:nvSpPr>
        <p:spPr bwMode="auto">
          <a:xfrm>
            <a:off x="564759" y="1916817"/>
            <a:ext cx="603978" cy="564633"/>
          </a:xfrm>
          <a:custGeom>
            <a:avLst/>
            <a:gdLst>
              <a:gd name="T0" fmla="*/ 729 w 1472"/>
              <a:gd name="T1" fmla="*/ 1694 h 1694"/>
              <a:gd name="T2" fmla="*/ 0 w 1472"/>
              <a:gd name="T3" fmla="*/ 425 h 1694"/>
              <a:gd name="T4" fmla="*/ 732 w 1472"/>
              <a:gd name="T5" fmla="*/ 0 h 1694"/>
              <a:gd name="T6" fmla="*/ 1472 w 1472"/>
              <a:gd name="T7" fmla="*/ 430 h 1694"/>
              <a:gd name="T8" fmla="*/ 729 w 1472"/>
              <a:gd name="T9" fmla="*/ 1694 h 1694"/>
            </a:gdLst>
            <a:ahLst/>
            <a:cxnLst>
              <a:cxn ang="0">
                <a:pos x="T0" y="T1"/>
              </a:cxn>
              <a:cxn ang="0">
                <a:pos x="T2" y="T3"/>
              </a:cxn>
              <a:cxn ang="0">
                <a:pos x="T4" y="T5"/>
              </a:cxn>
              <a:cxn ang="0">
                <a:pos x="T6" y="T7"/>
              </a:cxn>
              <a:cxn ang="0">
                <a:pos x="T8" y="T9"/>
              </a:cxn>
            </a:cxnLst>
            <a:rect l="0" t="0" r="r" b="b"/>
            <a:pathLst>
              <a:path w="1472" h="1694">
                <a:moveTo>
                  <a:pt x="729" y="1694"/>
                </a:moveTo>
                <a:lnTo>
                  <a:pt x="0" y="425"/>
                </a:lnTo>
                <a:lnTo>
                  <a:pt x="732" y="0"/>
                </a:lnTo>
                <a:lnTo>
                  <a:pt x="1472" y="430"/>
                </a:lnTo>
                <a:lnTo>
                  <a:pt x="729" y="1694"/>
                </a:lnTo>
                <a:close/>
              </a:path>
            </a:pathLst>
          </a:custGeom>
          <a:solidFill>
            <a:schemeClr val="tx1"/>
          </a:solidFill>
          <a:ln w="34925" cap="flat">
            <a:solidFill>
              <a:srgbClr val="FFFFFF"/>
            </a:solidFill>
            <a:prstDash val="solid"/>
            <a:miter lim="800000"/>
            <a:headEnd/>
            <a:tailEnd/>
          </a:ln>
        </p:spPr>
        <p:txBody>
          <a:bodyPr vert="horz" wrap="square" lIns="91440" tIns="137160" rIns="91440" bIns="45720" numCol="1" anchor="t" anchorCtr="0" compatLnSpc="1">
            <a:prstTxWarp prst="textNoShape">
              <a:avLst/>
            </a:prstTxWarp>
          </a:bodyPr>
          <a:lstStyle/>
          <a:p>
            <a:pPr algn="ctr"/>
            <a:r>
              <a:rPr lang="en-GB" sz="1200" b="1" dirty="0" smtClean="0">
                <a:solidFill>
                  <a:schemeClr val="bg1"/>
                </a:solidFill>
              </a:rPr>
              <a:t>12</a:t>
            </a:r>
            <a:endParaRPr lang="en-US" sz="1200" b="1" dirty="0">
              <a:solidFill>
                <a:schemeClr val="bg1"/>
              </a:solidFill>
            </a:endParaRPr>
          </a:p>
        </p:txBody>
      </p:sp>
      <p:sp>
        <p:nvSpPr>
          <p:cNvPr id="33" name="Rectangle 32"/>
          <p:cNvSpPr/>
          <p:nvPr/>
        </p:nvSpPr>
        <p:spPr>
          <a:xfrm>
            <a:off x="1318863" y="2489287"/>
            <a:ext cx="6096000" cy="646331"/>
          </a:xfrm>
          <a:prstGeom prst="rect">
            <a:avLst/>
          </a:prstGeom>
        </p:spPr>
        <p:txBody>
          <a:bodyPr>
            <a:spAutoFit/>
          </a:bodyPr>
          <a:lstStyle/>
          <a:p>
            <a:pPr>
              <a:spcAft>
                <a:spcPts val="600"/>
              </a:spcAft>
            </a:pPr>
            <a:r>
              <a:rPr lang="en-US" sz="1200" dirty="0" smtClean="0"/>
              <a:t>Promotion of electric vehicles and favorable industrial policy (including adoption of policy measures for promotion of electricity use in cooking) will boost domestic demand</a:t>
            </a:r>
            <a:endParaRPr lang="en-US" sz="1200" dirty="0"/>
          </a:p>
        </p:txBody>
      </p:sp>
      <p:sp>
        <p:nvSpPr>
          <p:cNvPr id="34" name="Rectangle 33"/>
          <p:cNvSpPr/>
          <p:nvPr/>
        </p:nvSpPr>
        <p:spPr>
          <a:xfrm>
            <a:off x="7830971" y="2489287"/>
            <a:ext cx="3907918" cy="907941"/>
          </a:xfrm>
          <a:prstGeom prst="rect">
            <a:avLst/>
          </a:prstGeom>
        </p:spPr>
        <p:txBody>
          <a:bodyPr wrap="square">
            <a:spAutoFit/>
          </a:bodyPr>
          <a:lstStyle/>
          <a:p>
            <a:pPr marL="171450" indent="-171450">
              <a:spcAft>
                <a:spcPts val="600"/>
              </a:spcAft>
              <a:buFont typeface="Arial" panose="020B0604020202020204" pitchFamily="34" charset="0"/>
              <a:buChar char="•"/>
            </a:pPr>
            <a:r>
              <a:rPr lang="en-US" sz="1200" dirty="0" smtClean="0"/>
              <a:t>Increased demand will lead to less dependence on export for surplus power</a:t>
            </a:r>
          </a:p>
          <a:p>
            <a:pPr marL="171450" indent="-171450">
              <a:spcAft>
                <a:spcPts val="600"/>
              </a:spcAft>
              <a:buFont typeface="Arial" panose="020B0604020202020204" pitchFamily="34" charset="0"/>
              <a:buChar char="•"/>
            </a:pPr>
            <a:r>
              <a:rPr lang="en-US" sz="1200" dirty="0" smtClean="0"/>
              <a:t>Financial sustainability would depend less on price realization from export market</a:t>
            </a:r>
            <a:endParaRPr lang="en-US" sz="1200" dirty="0"/>
          </a:p>
        </p:txBody>
      </p:sp>
    </p:spTree>
    <p:extLst>
      <p:ext uri="{BB962C8B-B14F-4D97-AF65-F5344CB8AC3E}">
        <p14:creationId xmlns:p14="http://schemas.microsoft.com/office/powerpoint/2010/main" val="292142891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3288547"/>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Base Case </a:t>
            </a:r>
            <a:r>
              <a:rPr lang="en-US" dirty="0" smtClean="0"/>
              <a:t>(tariff </a:t>
            </a:r>
            <a:r>
              <a:rPr lang="en-US" dirty="0"/>
              <a:t>increase of </a:t>
            </a:r>
            <a:r>
              <a:rPr lang="en-US" dirty="0" smtClean="0"/>
              <a:t>16% </a:t>
            </a:r>
            <a:r>
              <a:rPr lang="en-US" dirty="0" smtClean="0"/>
              <a:t>in FY21; 13% in </a:t>
            </a:r>
            <a:r>
              <a:rPr lang="en-US" dirty="0" smtClean="0"/>
              <a:t>FY23, 12% in FY25</a:t>
            </a:r>
            <a:r>
              <a:rPr lang="en-US" dirty="0" smtClean="0"/>
              <a:t>; 6% in FY27; 50% of surplus power export)</a:t>
            </a:r>
            <a:endParaRPr lang="en-IN" dirty="0"/>
          </a:p>
        </p:txBody>
      </p:sp>
    </p:spTree>
    <p:extLst>
      <p:ext uri="{BB962C8B-B14F-4D97-AF65-F5344CB8AC3E}">
        <p14:creationId xmlns:p14="http://schemas.microsoft.com/office/powerpoint/2010/main" val="3477740264"/>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499407399"/>
              </p:ext>
            </p:extLst>
          </p:nvPr>
        </p:nvGraphicFramePr>
        <p:xfrm>
          <a:off x="469900" y="1267715"/>
          <a:ext cx="11252205" cy="5161650"/>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3">
                  <a:extLst>
                    <a:ext uri="{9D8B030D-6E8A-4147-A177-3AD203B41FA5}">
                      <a16:colId xmlns:a16="http://schemas.microsoft.com/office/drawing/2014/main" val="1239126305"/>
                    </a:ext>
                  </a:extLst>
                </a:gridCol>
                <a:gridCol w="869063">
                  <a:extLst>
                    <a:ext uri="{9D8B030D-6E8A-4147-A177-3AD203B41FA5}">
                      <a16:colId xmlns:a16="http://schemas.microsoft.com/office/drawing/2014/main" val="1093410609"/>
                    </a:ext>
                  </a:extLst>
                </a:gridCol>
                <a:gridCol w="869063">
                  <a:extLst>
                    <a:ext uri="{9D8B030D-6E8A-4147-A177-3AD203B41FA5}">
                      <a16:colId xmlns:a16="http://schemas.microsoft.com/office/drawing/2014/main" val="2196093282"/>
                    </a:ext>
                  </a:extLst>
                </a:gridCol>
                <a:gridCol w="869063">
                  <a:extLst>
                    <a:ext uri="{9D8B030D-6E8A-4147-A177-3AD203B41FA5}">
                      <a16:colId xmlns:a16="http://schemas.microsoft.com/office/drawing/2014/main" val="2910930358"/>
                    </a:ext>
                  </a:extLst>
                </a:gridCol>
                <a:gridCol w="869063">
                  <a:extLst>
                    <a:ext uri="{9D8B030D-6E8A-4147-A177-3AD203B41FA5}">
                      <a16:colId xmlns:a16="http://schemas.microsoft.com/office/drawing/2014/main" val="3239141934"/>
                    </a:ext>
                  </a:extLst>
                </a:gridCol>
                <a:gridCol w="869063">
                  <a:extLst>
                    <a:ext uri="{9D8B030D-6E8A-4147-A177-3AD203B41FA5}">
                      <a16:colId xmlns:a16="http://schemas.microsoft.com/office/drawing/2014/main" val="799653384"/>
                    </a:ext>
                  </a:extLst>
                </a:gridCol>
                <a:gridCol w="869063">
                  <a:extLst>
                    <a:ext uri="{9D8B030D-6E8A-4147-A177-3AD203B41FA5}">
                      <a16:colId xmlns:a16="http://schemas.microsoft.com/office/drawing/2014/main" val="3579717024"/>
                    </a:ext>
                  </a:extLst>
                </a:gridCol>
                <a:gridCol w="869063">
                  <a:extLst>
                    <a:ext uri="{9D8B030D-6E8A-4147-A177-3AD203B41FA5}">
                      <a16:colId xmlns:a16="http://schemas.microsoft.com/office/drawing/2014/main" val="36818028"/>
                    </a:ext>
                  </a:extLst>
                </a:gridCol>
                <a:gridCol w="869063">
                  <a:extLst>
                    <a:ext uri="{9D8B030D-6E8A-4147-A177-3AD203B41FA5}">
                      <a16:colId xmlns:a16="http://schemas.microsoft.com/office/drawing/2014/main" val="1695051336"/>
                    </a:ext>
                  </a:extLst>
                </a:gridCol>
                <a:gridCol w="869063">
                  <a:extLst>
                    <a:ext uri="{9D8B030D-6E8A-4147-A177-3AD203B41FA5}">
                      <a16:colId xmlns:a16="http://schemas.microsoft.com/office/drawing/2014/main" val="589558514"/>
                    </a:ext>
                  </a:extLst>
                </a:gridCol>
              </a:tblGrid>
              <a:tr h="198525">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98525">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dirty="0">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1,19,719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1,37,313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1,86,949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2,31,764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2,55,135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3,36,319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3,40,373</a:t>
                      </a:r>
                    </a:p>
                  </a:txBody>
                  <a:tcPr marL="0" marR="0" marT="0" marB="0" anchor="ctr"/>
                </a:tc>
                <a:extLst>
                  <a:ext uri="{0D108BD9-81ED-4DB2-BD59-A6C34878D82A}">
                    <a16:rowId xmlns:a16="http://schemas.microsoft.com/office/drawing/2014/main" val="4072018794"/>
                  </a:ext>
                </a:extLst>
              </a:tr>
              <a:tr h="198525">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337111832"/>
                  </a:ext>
                </a:extLst>
              </a:tr>
              <a:tr h="198525">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98525">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98525">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98525">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98525">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98525">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98525">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98525">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98525">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98525">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98525">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98525">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98525">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98525">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63,068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78,125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99,383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1,13,166</a:t>
                      </a:r>
                    </a:p>
                  </a:txBody>
                  <a:tcPr marL="0" marR="0" marT="0" marB="0" anchor="ctr"/>
                </a:tc>
                <a:extLst>
                  <a:ext uri="{0D108BD9-81ED-4DB2-BD59-A6C34878D82A}">
                    <a16:rowId xmlns:a16="http://schemas.microsoft.com/office/drawing/2014/main" val="2764137017"/>
                  </a:ext>
                </a:extLst>
              </a:tr>
              <a:tr h="198525">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98525">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40,877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33,829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49,012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47,082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57,310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75,313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83,024</a:t>
                      </a:r>
                    </a:p>
                  </a:txBody>
                  <a:tcPr marL="0" marR="0" marT="0" marB="0" anchor="ctr"/>
                </a:tc>
                <a:extLst>
                  <a:ext uri="{0D108BD9-81ED-4DB2-BD59-A6C34878D82A}">
                    <a16:rowId xmlns:a16="http://schemas.microsoft.com/office/drawing/2014/main" val="3727563565"/>
                  </a:ext>
                </a:extLst>
              </a:tr>
              <a:tr h="198525">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98525">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2,698</a:t>
                      </a:r>
                    </a:p>
                  </a:txBody>
                  <a:tcPr marL="0" marR="0" marT="0" marB="0" anchor="ctr"/>
                </a:tc>
                <a:extLst>
                  <a:ext uri="{0D108BD9-81ED-4DB2-BD59-A6C34878D82A}">
                    <a16:rowId xmlns:a16="http://schemas.microsoft.com/office/drawing/2014/main" val="4242091421"/>
                  </a:ext>
                </a:extLst>
              </a:tr>
              <a:tr h="198525">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98525">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98525">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32,158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35,436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57,585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62,566</a:t>
                      </a:r>
                    </a:p>
                  </a:txBody>
                  <a:tcPr marL="0" marR="0" marT="0" marB="0" anchor="ctr"/>
                </a:tc>
                <a:extLst>
                  <a:ext uri="{0D108BD9-81ED-4DB2-BD59-A6C34878D82A}">
                    <a16:rowId xmlns:a16="http://schemas.microsoft.com/office/drawing/2014/main" val="346634298"/>
                  </a:ext>
                </a:extLst>
              </a:tr>
              <a:tr h="198525">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14,775</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16,549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15,641</a:t>
                      </a:r>
                    </a:p>
                  </a:txBody>
                  <a:tcPr marL="0" marR="0" marT="0" marB="0" anchor="ctr"/>
                </a:tc>
                <a:extLst>
                  <a:ext uri="{0D108BD9-81ED-4DB2-BD59-A6C34878D82A}">
                    <a16:rowId xmlns:a16="http://schemas.microsoft.com/office/drawing/2014/main" val="536878580"/>
                  </a:ext>
                </a:extLst>
              </a:tr>
              <a:tr h="198525">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29,015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43,189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44,326</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49,646</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46,924</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2428194408"/>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036254960"/>
              </p:ext>
            </p:extLst>
          </p:nvPr>
        </p:nvGraphicFramePr>
        <p:xfrm>
          <a:off x="469899" y="1166281"/>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95591">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9004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1,19,719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1,37,313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1,70,252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1,86,949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2,31,764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2,55,135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2,98,591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3,36,319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3,40,373</a:t>
                      </a:r>
                    </a:p>
                  </a:txBody>
                  <a:tcPr marL="0" marR="0" marT="0" marB="0" anchor="b"/>
                </a:tc>
                <a:extLst>
                  <a:ext uri="{0D108BD9-81ED-4DB2-BD59-A6C34878D82A}">
                    <a16:rowId xmlns:a16="http://schemas.microsoft.com/office/drawing/2014/main" val="4006978157"/>
                  </a:ext>
                </a:extLst>
              </a:tr>
              <a:tr h="9004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b"/>
                </a:tc>
                <a:extLst>
                  <a:ext uri="{0D108BD9-81ED-4DB2-BD59-A6C34878D82A}">
                    <a16:rowId xmlns:a16="http://schemas.microsoft.com/office/drawing/2014/main" val="4110510597"/>
                  </a:ext>
                </a:extLst>
              </a:tr>
              <a:tr h="9004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9004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9004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9004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9004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9004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9004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9004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9004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-8,039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-16,549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-15,641</a:t>
                      </a:r>
                    </a:p>
                  </a:txBody>
                  <a:tcPr marL="0" marR="0" marT="0" marB="0" anchor="b"/>
                </a:tc>
                <a:extLst>
                  <a:ext uri="{0D108BD9-81ED-4DB2-BD59-A6C34878D82A}">
                    <a16:rowId xmlns:a16="http://schemas.microsoft.com/office/drawing/2014/main" val="58039412"/>
                  </a:ext>
                </a:extLst>
              </a:tr>
              <a:tr h="9004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-12,041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-5,741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-633</a:t>
                      </a:r>
                    </a:p>
                  </a:txBody>
                  <a:tcPr marL="0" marR="0" marT="0" marB="0" anchor="b"/>
                </a:tc>
                <a:extLst>
                  <a:ext uri="{0D108BD9-81ED-4DB2-BD59-A6C34878D82A}">
                    <a16:rowId xmlns:a16="http://schemas.microsoft.com/office/drawing/2014/main" val="3645480185"/>
                  </a:ext>
                </a:extLst>
              </a:tr>
              <a:tr h="9004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9,342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42,546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44,109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42,408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48,398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68,837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67,473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80,522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93,405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96,892</a:t>
                      </a:r>
                    </a:p>
                  </a:txBody>
                  <a:tcPr marL="0" marR="0" marT="0" marB="0" anchor="b"/>
                </a:tc>
                <a:extLst>
                  <a:ext uri="{0D108BD9-81ED-4DB2-BD59-A6C34878D82A}">
                    <a16:rowId xmlns:a16="http://schemas.microsoft.com/office/drawing/2014/main" val="1782741670"/>
                  </a:ext>
                </a:extLst>
              </a:tr>
              <a:tr h="9004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9004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9004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9004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9004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9004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9004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9004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9004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9004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9004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443</a:t>
                      </a:r>
                    </a:p>
                  </a:txBody>
                  <a:tcPr marL="0" marR="0" marT="0" marB="0" anchor="b"/>
                </a:tc>
                <a:extLst>
                  <a:ext uri="{0D108BD9-81ED-4DB2-BD59-A6C34878D82A}">
                    <a16:rowId xmlns:a16="http://schemas.microsoft.com/office/drawing/2014/main" val="2333252169"/>
                  </a:ext>
                </a:extLst>
              </a:tr>
              <a:tr h="9004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9004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-2,103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-2,698</a:t>
                      </a:r>
                    </a:p>
                  </a:txBody>
                  <a:tcPr marL="0" marR="0" marT="0" marB="0" anchor="b"/>
                </a:tc>
                <a:extLst>
                  <a:ext uri="{0D108BD9-81ED-4DB2-BD59-A6C34878D82A}">
                    <a16:rowId xmlns:a16="http://schemas.microsoft.com/office/drawing/2014/main" val="1317293939"/>
                  </a:ext>
                </a:extLst>
              </a:tr>
              <a:tr h="9004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9004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9004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62,593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48,968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59,933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89,047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44,590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24,907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-39,968</a:t>
                      </a:r>
                    </a:p>
                  </a:txBody>
                  <a:tcPr marL="0" marR="0" marT="0" marB="0" anchor="b"/>
                </a:tc>
                <a:extLst>
                  <a:ext uri="{0D108BD9-81ED-4DB2-BD59-A6C34878D82A}">
                    <a16:rowId xmlns:a16="http://schemas.microsoft.com/office/drawing/2014/main" val="678220124"/>
                  </a:ext>
                </a:extLst>
              </a:tr>
              <a:tr h="9004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9004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9004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42,535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56,394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73,971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79,826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1,01,093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1,13,862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1,47,511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1,92,741</a:t>
                      </a:r>
                    </a:p>
                  </a:txBody>
                  <a:tcPr marL="0" marR="0" marT="0" marB="0" anchor="b"/>
                </a:tc>
                <a:extLst>
                  <a:ext uri="{0D108BD9-81ED-4DB2-BD59-A6C34878D82A}">
                    <a16:rowId xmlns:a16="http://schemas.microsoft.com/office/drawing/2014/main" val="697929680"/>
                  </a:ext>
                </a:extLst>
              </a:tr>
              <a:tr h="9004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-4,885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16,275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13,859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17,577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12,770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33,649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45,230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39,820</a:t>
                      </a:r>
                    </a:p>
                  </a:txBody>
                  <a:tcPr marL="0" marR="0" marT="0" marB="0" anchor="b"/>
                </a:tc>
                <a:extLst>
                  <a:ext uri="{0D108BD9-81ED-4DB2-BD59-A6C34878D82A}">
                    <a16:rowId xmlns:a16="http://schemas.microsoft.com/office/drawing/2014/main" val="3564589224"/>
                  </a:ext>
                </a:extLst>
              </a:tr>
              <a:tr h="9004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42,535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56,394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73,971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79,826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1,01,093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1,13,862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1,47,511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1,92,741</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2,32,561</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2979600278"/>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691771314"/>
              </p:ext>
            </p:extLst>
          </p:nvPr>
        </p:nvGraphicFramePr>
        <p:xfrm>
          <a:off x="469895" y="1195956"/>
          <a:ext cx="11252205" cy="4871473"/>
        </p:xfrm>
        <a:graphic>
          <a:graphicData uri="http://schemas.openxmlformats.org/drawingml/2006/table">
            <a:tbl>
              <a:tblPr firstRow="1">
                <a:tableStyleId>{793D81CF-94F2-401A-BA57-92F5A7B2D0C5}</a:tableStyleId>
              </a:tblPr>
              <a:tblGrid>
                <a:gridCol w="2002351">
                  <a:extLst>
                    <a:ext uri="{9D8B030D-6E8A-4147-A177-3AD203B41FA5}">
                      <a16:colId xmlns:a16="http://schemas.microsoft.com/office/drawing/2014/main" val="2897572859"/>
                    </a:ext>
                  </a:extLst>
                </a:gridCol>
                <a:gridCol w="896708">
                  <a:extLst>
                    <a:ext uri="{9D8B030D-6E8A-4147-A177-3AD203B41FA5}">
                      <a16:colId xmlns:a16="http://schemas.microsoft.com/office/drawing/2014/main" val="2866218434"/>
                    </a:ext>
                  </a:extLst>
                </a:gridCol>
                <a:gridCol w="896708">
                  <a:extLst>
                    <a:ext uri="{9D8B030D-6E8A-4147-A177-3AD203B41FA5}">
                      <a16:colId xmlns:a16="http://schemas.microsoft.com/office/drawing/2014/main" val="2446171039"/>
                    </a:ext>
                  </a:extLst>
                </a:gridCol>
                <a:gridCol w="896708">
                  <a:extLst>
                    <a:ext uri="{9D8B030D-6E8A-4147-A177-3AD203B41FA5}">
                      <a16:colId xmlns:a16="http://schemas.microsoft.com/office/drawing/2014/main" val="2830535041"/>
                    </a:ext>
                  </a:extLst>
                </a:gridCol>
                <a:gridCol w="896708">
                  <a:extLst>
                    <a:ext uri="{9D8B030D-6E8A-4147-A177-3AD203B41FA5}">
                      <a16:colId xmlns:a16="http://schemas.microsoft.com/office/drawing/2014/main" val="2125919646"/>
                    </a:ext>
                  </a:extLst>
                </a:gridCol>
                <a:gridCol w="896708">
                  <a:extLst>
                    <a:ext uri="{9D8B030D-6E8A-4147-A177-3AD203B41FA5}">
                      <a16:colId xmlns:a16="http://schemas.microsoft.com/office/drawing/2014/main" val="3085071553"/>
                    </a:ext>
                  </a:extLst>
                </a:gridCol>
                <a:gridCol w="896708">
                  <a:extLst>
                    <a:ext uri="{9D8B030D-6E8A-4147-A177-3AD203B41FA5}">
                      <a16:colId xmlns:a16="http://schemas.microsoft.com/office/drawing/2014/main" val="3685491337"/>
                    </a:ext>
                  </a:extLst>
                </a:gridCol>
                <a:gridCol w="896708">
                  <a:extLst>
                    <a:ext uri="{9D8B030D-6E8A-4147-A177-3AD203B41FA5}">
                      <a16:colId xmlns:a16="http://schemas.microsoft.com/office/drawing/2014/main" val="572051433"/>
                    </a:ext>
                  </a:extLst>
                </a:gridCol>
                <a:gridCol w="896708">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90350">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90350">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95251">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dirty="0">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95251">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95251">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95251">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95251">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95251">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95251">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53,668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49,881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35,964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43,739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47,920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55,422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61,846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63,074 </a:t>
                      </a:r>
                    </a:p>
                  </a:txBody>
                  <a:tcPr marL="0" marR="0" marT="0" marB="0" anchor="ctr"/>
                </a:tc>
                <a:extLst>
                  <a:ext uri="{0D108BD9-81ED-4DB2-BD59-A6C34878D82A}">
                    <a16:rowId xmlns:a16="http://schemas.microsoft.com/office/drawing/2014/main" val="2156494103"/>
                  </a:ext>
                </a:extLst>
              </a:tr>
              <a:tr h="195251">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26,260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42,535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56,394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73,971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79,826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1,01,093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1,13,862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1,47,511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1,92,741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2,32,561 </a:t>
                      </a:r>
                    </a:p>
                  </a:txBody>
                  <a:tcPr marL="0" marR="0" marT="0" marB="0" anchor="ctr"/>
                </a:tc>
                <a:extLst>
                  <a:ext uri="{0D108BD9-81ED-4DB2-BD59-A6C34878D82A}">
                    <a16:rowId xmlns:a16="http://schemas.microsoft.com/office/drawing/2014/main" val="2072041813"/>
                  </a:ext>
                </a:extLst>
              </a:tr>
              <a:tr h="1952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dirty="0">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95251">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4,94,773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5,70,720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6,44,108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7,25,417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8,71,971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9,67,400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10,56,261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11,26,899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11,54,908 </a:t>
                      </a:r>
                    </a:p>
                  </a:txBody>
                  <a:tcPr marL="0" marR="0" marT="0" marB="0" anchor="ctr"/>
                </a:tc>
                <a:extLst>
                  <a:ext uri="{0D108BD9-81ED-4DB2-BD59-A6C34878D82A}">
                    <a16:rowId xmlns:a16="http://schemas.microsoft.com/office/drawing/2014/main" val="3908092861"/>
                  </a:ext>
                </a:extLst>
              </a:tr>
              <a:tr h="1952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dirty="0">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952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95251">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95251">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28,431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47,223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76,238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1,02,815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1,46,004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1,77,397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2,21,723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2,71,369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3,18,293 </a:t>
                      </a:r>
                    </a:p>
                  </a:txBody>
                  <a:tcPr marL="0" marR="0" marT="0" marB="0" anchor="ctr"/>
                </a:tc>
                <a:extLst>
                  <a:ext uri="{0D108BD9-81ED-4DB2-BD59-A6C34878D82A}">
                    <a16:rowId xmlns:a16="http://schemas.microsoft.com/office/drawing/2014/main" val="1133694758"/>
                  </a:ext>
                </a:extLst>
              </a:tr>
              <a:tr h="1952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dirty="0">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95251">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95251">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95251">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dirty="0">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95251">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4,516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17,012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21,031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21,162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24,022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26,532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26,975 </a:t>
                      </a:r>
                    </a:p>
                  </a:txBody>
                  <a:tcPr marL="0" marR="0" marT="0" marB="0" anchor="ctr"/>
                </a:tc>
                <a:extLst>
                  <a:ext uri="{0D108BD9-81ED-4DB2-BD59-A6C34878D82A}">
                    <a16:rowId xmlns:a16="http://schemas.microsoft.com/office/drawing/2014/main" val="3477130744"/>
                  </a:ext>
                </a:extLst>
              </a:tr>
              <a:tr h="195251">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95251">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952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dirty="0">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95251">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4,94,773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5,70,720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6,44,108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7,25,417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8,71,971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9,67,400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10,56,261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11,26,899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11,54,908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747984282"/>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658126554"/>
              </p:ext>
            </p:extLst>
          </p:nvPr>
        </p:nvGraphicFramePr>
        <p:xfrm>
          <a:off x="469900" y="122055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8.23</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3.65</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4.64</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5.34</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2990550110"/>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1 </a:t>
            </a:r>
            <a:r>
              <a:rPr lang="en-US" dirty="0" smtClean="0"/>
              <a:t>(No Tariff Increase; 50</a:t>
            </a:r>
            <a:r>
              <a:rPr lang="en-US" dirty="0"/>
              <a:t>% of surplus power </a:t>
            </a:r>
            <a:r>
              <a:rPr lang="en-US" dirty="0" smtClean="0"/>
              <a:t>export)</a:t>
            </a:r>
            <a:endParaRPr lang="en-IN" dirty="0"/>
          </a:p>
        </p:txBody>
      </p:sp>
    </p:spTree>
    <p:extLst>
      <p:ext uri="{BB962C8B-B14F-4D97-AF65-F5344CB8AC3E}">
        <p14:creationId xmlns:p14="http://schemas.microsoft.com/office/powerpoint/2010/main" val="3328893894"/>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622935739"/>
              </p:ext>
            </p:extLst>
          </p:nvPr>
        </p:nvGraphicFramePr>
        <p:xfrm>
          <a:off x="469900" y="1115321"/>
          <a:ext cx="11252195" cy="5075928"/>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95228">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95228">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72018794"/>
                  </a:ext>
                </a:extLst>
              </a:tr>
              <a:tr h="195228">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337111832"/>
                  </a:ext>
                </a:extLst>
              </a:tr>
              <a:tr h="195228">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41,756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52,395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1,07,760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1,18,246</a:t>
                      </a:r>
                    </a:p>
                  </a:txBody>
                  <a:tcPr marL="0" marR="0" marT="0" marB="0" anchor="ctr"/>
                </a:tc>
                <a:extLst>
                  <a:ext uri="{0D108BD9-81ED-4DB2-BD59-A6C34878D82A}">
                    <a16:rowId xmlns:a16="http://schemas.microsoft.com/office/drawing/2014/main" val="1402098511"/>
                  </a:ext>
                </a:extLst>
              </a:tr>
              <a:tr h="195228">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95228">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95228">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95228">
                <a:tc>
                  <a:txBody>
                    <a:bodyPr/>
                    <a:lstStyle/>
                    <a:p>
                      <a:pPr algn="l" fontAlgn="b"/>
                      <a:r>
                        <a:rPr lang="en-IN" sz="900" u="none" strike="noStrike" dirty="0">
                          <a:effectLst/>
                          <a:latin typeface="+mj-lt"/>
                        </a:rPr>
                        <a:t> O&amp;M Cost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95228">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95228">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95228">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95228">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95228">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95228">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95228">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95228">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95228">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45,962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55,332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67,473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84,833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1,09,763</a:t>
                      </a:r>
                    </a:p>
                  </a:txBody>
                  <a:tcPr marL="0" marR="0" marT="0" marB="0" anchor="ctr"/>
                </a:tc>
                <a:extLst>
                  <a:ext uri="{0D108BD9-81ED-4DB2-BD59-A6C34878D82A}">
                    <a16:rowId xmlns:a16="http://schemas.microsoft.com/office/drawing/2014/main" val="2764137017"/>
                  </a:ext>
                </a:extLst>
              </a:tr>
              <a:tr h="195228">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95228">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55,863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60,763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71,386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79,621</a:t>
                      </a:r>
                    </a:p>
                  </a:txBody>
                  <a:tcPr marL="0" marR="0" marT="0" marB="0" anchor="ctr"/>
                </a:tc>
                <a:extLst>
                  <a:ext uri="{0D108BD9-81ED-4DB2-BD59-A6C34878D82A}">
                    <a16:rowId xmlns:a16="http://schemas.microsoft.com/office/drawing/2014/main" val="3727563565"/>
                  </a:ext>
                </a:extLst>
              </a:tr>
              <a:tr h="195228">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95228">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ctr"/>
                </a:tc>
                <a:extLst>
                  <a:ext uri="{0D108BD9-81ED-4DB2-BD59-A6C34878D82A}">
                    <a16:rowId xmlns:a16="http://schemas.microsoft.com/office/drawing/2014/main" val="4242091421"/>
                  </a:ext>
                </a:extLst>
              </a:tr>
              <a:tr h="195228">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95228">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95228">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55,133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60,562</a:t>
                      </a:r>
                    </a:p>
                  </a:txBody>
                  <a:tcPr marL="0" marR="0" marT="0" marB="0" anchor="ctr"/>
                </a:tc>
                <a:extLst>
                  <a:ext uri="{0D108BD9-81ED-4DB2-BD59-A6C34878D82A}">
                    <a16:rowId xmlns:a16="http://schemas.microsoft.com/office/drawing/2014/main" val="346634298"/>
                  </a:ext>
                </a:extLst>
              </a:tr>
              <a:tr h="195228">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ctr"/>
                </a:tc>
                <a:extLst>
                  <a:ext uri="{0D108BD9-81ED-4DB2-BD59-A6C34878D82A}">
                    <a16:rowId xmlns:a16="http://schemas.microsoft.com/office/drawing/2014/main" val="536878580"/>
                  </a:ext>
                </a:extLst>
              </a:tr>
              <a:tr h="195228">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31,011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34,334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41,350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45,421</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390021688"/>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87453492"/>
              </p:ext>
            </p:extLst>
          </p:nvPr>
        </p:nvGraphicFramePr>
        <p:xfrm>
          <a:off x="469900" y="1182454"/>
          <a:ext cx="11252201" cy="5036728"/>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42917">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43954">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06978157"/>
                  </a:ext>
                </a:extLst>
              </a:tr>
              <a:tr h="143954">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4110510597"/>
                  </a:ext>
                </a:extLst>
              </a:tr>
              <a:tr h="143954">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41,756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52,395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1,07,760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1,18,246</a:t>
                      </a:r>
                    </a:p>
                  </a:txBody>
                  <a:tcPr marL="0" marR="0" marT="0" marB="0" anchor="ctr"/>
                </a:tc>
                <a:extLst>
                  <a:ext uri="{0D108BD9-81ED-4DB2-BD59-A6C34878D82A}">
                    <a16:rowId xmlns:a16="http://schemas.microsoft.com/office/drawing/2014/main" val="3346025163"/>
                  </a:ext>
                </a:extLst>
              </a:tr>
              <a:tr h="143954">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2489710694"/>
                  </a:ext>
                </a:extLst>
              </a:tr>
              <a:tr h="143954">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2602410829"/>
                  </a:ext>
                </a:extLst>
              </a:tr>
              <a:tr h="143954">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144525191"/>
                  </a:ext>
                </a:extLst>
              </a:tr>
              <a:tr h="143954">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2808376300"/>
                  </a:ext>
                </a:extLst>
              </a:tr>
              <a:tr h="143954">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74417724"/>
                  </a:ext>
                </a:extLst>
              </a:tr>
              <a:tr h="143954">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2992026430"/>
                  </a:ext>
                </a:extLst>
              </a:tr>
              <a:tr h="143954">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3040190722"/>
                  </a:ext>
                </a:extLst>
              </a:tr>
              <a:tr h="143954">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ctr"/>
                </a:tc>
                <a:extLst>
                  <a:ext uri="{0D108BD9-81ED-4DB2-BD59-A6C34878D82A}">
                    <a16:rowId xmlns:a16="http://schemas.microsoft.com/office/drawing/2014/main" val="58039412"/>
                  </a:ext>
                </a:extLst>
              </a:tr>
              <a:tr h="143954">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ctr"/>
                </a:tc>
                <a:extLst>
                  <a:ext uri="{0D108BD9-81ED-4DB2-BD59-A6C34878D82A}">
                    <a16:rowId xmlns:a16="http://schemas.microsoft.com/office/drawing/2014/main" val="3645480185"/>
                  </a:ext>
                </a:extLst>
              </a:tr>
              <a:tr h="143954">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9,342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39,013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43,065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39,369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43,656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57,379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67,379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73,472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94,281</a:t>
                      </a:r>
                    </a:p>
                  </a:txBody>
                  <a:tcPr marL="0" marR="0" marT="0" marB="0" anchor="ctr"/>
                </a:tc>
                <a:extLst>
                  <a:ext uri="{0D108BD9-81ED-4DB2-BD59-A6C34878D82A}">
                    <a16:rowId xmlns:a16="http://schemas.microsoft.com/office/drawing/2014/main" val="1782741670"/>
                  </a:ext>
                </a:extLst>
              </a:tr>
              <a:tr h="143954">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409114620"/>
                  </a:ext>
                </a:extLst>
              </a:tr>
              <a:tr h="143954">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extLst>
                  <a:ext uri="{0D108BD9-81ED-4DB2-BD59-A6C34878D82A}">
                    <a16:rowId xmlns:a16="http://schemas.microsoft.com/office/drawing/2014/main" val="3484534696"/>
                  </a:ext>
                </a:extLst>
              </a:tr>
              <a:tr h="143954">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ctr"/>
                </a:tc>
                <a:extLst>
                  <a:ext uri="{0D108BD9-81ED-4DB2-BD59-A6C34878D82A}">
                    <a16:rowId xmlns:a16="http://schemas.microsoft.com/office/drawing/2014/main" val="3010940323"/>
                  </a:ext>
                </a:extLst>
              </a:tr>
              <a:tr h="134445">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ctr"/>
                </a:tc>
                <a:extLst>
                  <a:ext uri="{0D108BD9-81ED-4DB2-BD59-A6C34878D82A}">
                    <a16:rowId xmlns:a16="http://schemas.microsoft.com/office/drawing/2014/main" val="4155677060"/>
                  </a:ext>
                </a:extLst>
              </a:tr>
              <a:tr h="143954">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355475617"/>
                  </a:ext>
                </a:extLst>
              </a:tr>
              <a:tr h="143954">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ctr"/>
                </a:tc>
                <a:extLst>
                  <a:ext uri="{0D108BD9-81ED-4DB2-BD59-A6C34878D82A}">
                    <a16:rowId xmlns:a16="http://schemas.microsoft.com/office/drawing/2014/main" val="4189674888"/>
                  </a:ext>
                </a:extLst>
              </a:tr>
              <a:tr h="143954">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ctr"/>
                </a:tc>
                <a:extLst>
                  <a:ext uri="{0D108BD9-81ED-4DB2-BD59-A6C34878D82A}">
                    <a16:rowId xmlns:a16="http://schemas.microsoft.com/office/drawing/2014/main" val="577385477"/>
                  </a:ext>
                </a:extLst>
              </a:tr>
              <a:tr h="143954">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064564187"/>
                  </a:ext>
                </a:extLst>
              </a:tr>
              <a:tr h="143954">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ctr"/>
                </a:tc>
                <a:extLst>
                  <a:ext uri="{0D108BD9-81ED-4DB2-BD59-A6C34878D82A}">
                    <a16:rowId xmlns:a16="http://schemas.microsoft.com/office/drawing/2014/main" val="408993191"/>
                  </a:ext>
                </a:extLst>
              </a:tr>
              <a:tr h="143954">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052684966"/>
                  </a:ext>
                </a:extLst>
              </a:tr>
              <a:tr h="143954">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239</a:t>
                      </a:r>
                    </a:p>
                  </a:txBody>
                  <a:tcPr marL="0" marR="0" marT="0" marB="0" anchor="ctr"/>
                </a:tc>
                <a:extLst>
                  <a:ext uri="{0D108BD9-81ED-4DB2-BD59-A6C34878D82A}">
                    <a16:rowId xmlns:a16="http://schemas.microsoft.com/office/drawing/2014/main" val="2333252169"/>
                  </a:ext>
                </a:extLst>
              </a:tr>
              <a:tr h="143954">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3993393994"/>
                  </a:ext>
                </a:extLst>
              </a:tr>
              <a:tr h="143954">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ctr"/>
                </a:tc>
                <a:extLst>
                  <a:ext uri="{0D108BD9-81ED-4DB2-BD59-A6C34878D82A}">
                    <a16:rowId xmlns:a16="http://schemas.microsoft.com/office/drawing/2014/main" val="1317293939"/>
                  </a:ext>
                </a:extLst>
              </a:tr>
              <a:tr h="143954">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221922248"/>
                  </a:ext>
                </a:extLst>
              </a:tr>
              <a:tr h="143954">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870784524"/>
                  </a:ext>
                </a:extLst>
              </a:tr>
              <a:tr h="143954">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49,086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62,322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86,481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44,669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-38,773</a:t>
                      </a:r>
                    </a:p>
                  </a:txBody>
                  <a:tcPr marL="0" marR="0" marT="0" marB="0" anchor="ctr"/>
                </a:tc>
                <a:extLst>
                  <a:ext uri="{0D108BD9-81ED-4DB2-BD59-A6C34878D82A}">
                    <a16:rowId xmlns:a16="http://schemas.microsoft.com/office/drawing/2014/main" val="678220124"/>
                  </a:ext>
                </a:extLst>
              </a:tr>
              <a:tr h="143954">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712584802"/>
                  </a:ext>
                </a:extLst>
              </a:tr>
              <a:tr h="143954">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183728130"/>
                  </a:ext>
                </a:extLst>
              </a:tr>
              <a:tr h="143954">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34,727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60,995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1,09,402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1,46,984</a:t>
                      </a:r>
                    </a:p>
                  </a:txBody>
                  <a:tcPr marL="0" marR="0" marT="0" marB="0" anchor="ctr"/>
                </a:tc>
                <a:extLst>
                  <a:ext uri="{0D108BD9-81ED-4DB2-BD59-A6C34878D82A}">
                    <a16:rowId xmlns:a16="http://schemas.microsoft.com/office/drawing/2014/main" val="697929680"/>
                  </a:ext>
                </a:extLst>
              </a:tr>
              <a:tr h="143954">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-4,885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8,467</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13,642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37,582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38,405</a:t>
                      </a:r>
                    </a:p>
                  </a:txBody>
                  <a:tcPr marL="0" marR="0" marT="0" marB="0" anchor="ctr"/>
                </a:tc>
                <a:extLst>
                  <a:ext uri="{0D108BD9-81ED-4DB2-BD59-A6C34878D82A}">
                    <a16:rowId xmlns:a16="http://schemas.microsoft.com/office/drawing/2014/main" val="3564589224"/>
                  </a:ext>
                </a:extLst>
              </a:tr>
              <a:tr h="143954">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34,727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60,995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1,09,402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1,46,984</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1,85,390</a:t>
                      </a:r>
                    </a:p>
                  </a:txBody>
                  <a:tcPr marL="0" marR="0" marT="0" marB="0" anchor="ctr"/>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4229843894"/>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988628331"/>
              </p:ext>
            </p:extLst>
          </p:nvPr>
        </p:nvGraphicFramePr>
        <p:xfrm>
          <a:off x="469900" y="1205481"/>
          <a:ext cx="11252198" cy="479527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87373">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8737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92197">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92197">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92197">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92197">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92197">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92197">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92197">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43,654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28,697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31,592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34,547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37,879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42,141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43,076 </a:t>
                      </a:r>
                    </a:p>
                  </a:txBody>
                  <a:tcPr marL="0" marR="0" marT="0" marB="0" anchor="ctr"/>
                </a:tc>
                <a:extLst>
                  <a:ext uri="{0D108BD9-81ED-4DB2-BD59-A6C34878D82A}">
                    <a16:rowId xmlns:a16="http://schemas.microsoft.com/office/drawing/2014/main" val="2156494103"/>
                  </a:ext>
                </a:extLst>
              </a:tr>
              <a:tr h="192197">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26,260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48,369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60,995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64,498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71,740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84,494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1,09,402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1,46,984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1,85,390 </a:t>
                      </a:r>
                    </a:p>
                  </a:txBody>
                  <a:tcPr marL="0" marR="0" marT="0" marB="0" anchor="ctr"/>
                </a:tc>
                <a:extLst>
                  <a:ext uri="{0D108BD9-81ED-4DB2-BD59-A6C34878D82A}">
                    <a16:rowId xmlns:a16="http://schemas.microsoft.com/office/drawing/2014/main" val="2072041813"/>
                  </a:ext>
                </a:extLst>
              </a:tr>
              <a:tr h="192197">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92197">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4,80,178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5,56,469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6,21,179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7,02,822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8,30,470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9,24,659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10,00,610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10,61,438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10,87,740 </a:t>
                      </a:r>
                    </a:p>
                  </a:txBody>
                  <a:tcPr marL="0" marR="0" marT="0" marB="0" anchor="ctr"/>
                </a:tc>
                <a:extLst>
                  <a:ext uri="{0D108BD9-81ED-4DB2-BD59-A6C34878D82A}">
                    <a16:rowId xmlns:a16="http://schemas.microsoft.com/office/drawing/2014/main" val="3908092861"/>
                  </a:ext>
                </a:extLst>
              </a:tr>
              <a:tr h="192197">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92197">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92197">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92197">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18,587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37,330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60,277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85,307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1,13,007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1,44,017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1,78,351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2,19,701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2,65,122 </a:t>
                      </a:r>
                    </a:p>
                  </a:txBody>
                  <a:tcPr marL="0" marR="0" marT="0" marB="0" anchor="ctr"/>
                </a:tc>
                <a:extLst>
                  <a:ext uri="{0D108BD9-81ED-4DB2-BD59-A6C34878D82A}">
                    <a16:rowId xmlns:a16="http://schemas.microsoft.com/office/drawing/2014/main" val="1133694758"/>
                  </a:ext>
                </a:extLst>
              </a:tr>
              <a:tr h="192197">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92197">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92197">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92197">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92197">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12,528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11,801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12,739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12,977 </a:t>
                      </a:r>
                    </a:p>
                  </a:txBody>
                  <a:tcPr marL="0" marR="0" marT="0" marB="0" anchor="ctr"/>
                </a:tc>
                <a:extLst>
                  <a:ext uri="{0D108BD9-81ED-4DB2-BD59-A6C34878D82A}">
                    <a16:rowId xmlns:a16="http://schemas.microsoft.com/office/drawing/2014/main" val="3477130744"/>
                  </a:ext>
                </a:extLst>
              </a:tr>
              <a:tr h="192197">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92197">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92197">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92197">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4,80,178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5,56,469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6,21,179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7,02,822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8,30,470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9,24,659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10,00,610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10,61,438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10,87,740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1503082174"/>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40482814"/>
              </p:ext>
            </p:extLst>
          </p:nvPr>
        </p:nvGraphicFramePr>
        <p:xfrm>
          <a:off x="469900" y="122055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FY-20</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FY-21</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FY-22</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FY-23</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FY-24</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FY-25</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FY-26</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FY-27</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FY-28</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0.85</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2.00</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6.13</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8.01</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3.42</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4.10</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507332129"/>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2 (8% tariff </a:t>
            </a:r>
            <a:r>
              <a:rPr lang="en-US" dirty="0" smtClean="0"/>
              <a:t>increase from </a:t>
            </a:r>
            <a:r>
              <a:rPr lang="en-US" dirty="0"/>
              <a:t>FY20 to </a:t>
            </a:r>
            <a:r>
              <a:rPr lang="en-US" dirty="0" smtClean="0"/>
              <a:t>FY26; 50% </a:t>
            </a:r>
            <a:r>
              <a:rPr lang="en-US" dirty="0"/>
              <a:t>of surplus power </a:t>
            </a:r>
            <a:r>
              <a:rPr lang="en-US" dirty="0" smtClean="0"/>
              <a:t>export;)</a:t>
            </a:r>
            <a:endParaRPr lang="en-IN" dirty="0"/>
          </a:p>
        </p:txBody>
      </p:sp>
    </p:spTree>
    <p:extLst>
      <p:ext uri="{BB962C8B-B14F-4D97-AF65-F5344CB8AC3E}">
        <p14:creationId xmlns:p14="http://schemas.microsoft.com/office/powerpoint/2010/main" val="2020983242"/>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284988168"/>
              </p:ext>
            </p:extLst>
          </p:nvPr>
        </p:nvGraphicFramePr>
        <p:xfrm>
          <a:off x="469895" y="1115315"/>
          <a:ext cx="11252205" cy="4990206"/>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3">
                  <a:extLst>
                    <a:ext uri="{9D8B030D-6E8A-4147-A177-3AD203B41FA5}">
                      <a16:colId xmlns:a16="http://schemas.microsoft.com/office/drawing/2014/main" val="1239126305"/>
                    </a:ext>
                  </a:extLst>
                </a:gridCol>
                <a:gridCol w="869063">
                  <a:extLst>
                    <a:ext uri="{9D8B030D-6E8A-4147-A177-3AD203B41FA5}">
                      <a16:colId xmlns:a16="http://schemas.microsoft.com/office/drawing/2014/main" val="1093410609"/>
                    </a:ext>
                  </a:extLst>
                </a:gridCol>
                <a:gridCol w="869063">
                  <a:extLst>
                    <a:ext uri="{9D8B030D-6E8A-4147-A177-3AD203B41FA5}">
                      <a16:colId xmlns:a16="http://schemas.microsoft.com/office/drawing/2014/main" val="2196093282"/>
                    </a:ext>
                  </a:extLst>
                </a:gridCol>
                <a:gridCol w="869063">
                  <a:extLst>
                    <a:ext uri="{9D8B030D-6E8A-4147-A177-3AD203B41FA5}">
                      <a16:colId xmlns:a16="http://schemas.microsoft.com/office/drawing/2014/main" val="2910930358"/>
                    </a:ext>
                  </a:extLst>
                </a:gridCol>
                <a:gridCol w="869063">
                  <a:extLst>
                    <a:ext uri="{9D8B030D-6E8A-4147-A177-3AD203B41FA5}">
                      <a16:colId xmlns:a16="http://schemas.microsoft.com/office/drawing/2014/main" val="3239141934"/>
                    </a:ext>
                  </a:extLst>
                </a:gridCol>
                <a:gridCol w="869063">
                  <a:extLst>
                    <a:ext uri="{9D8B030D-6E8A-4147-A177-3AD203B41FA5}">
                      <a16:colId xmlns:a16="http://schemas.microsoft.com/office/drawing/2014/main" val="799653384"/>
                    </a:ext>
                  </a:extLst>
                </a:gridCol>
                <a:gridCol w="869063">
                  <a:extLst>
                    <a:ext uri="{9D8B030D-6E8A-4147-A177-3AD203B41FA5}">
                      <a16:colId xmlns:a16="http://schemas.microsoft.com/office/drawing/2014/main" val="3579717024"/>
                    </a:ext>
                  </a:extLst>
                </a:gridCol>
                <a:gridCol w="869063">
                  <a:extLst>
                    <a:ext uri="{9D8B030D-6E8A-4147-A177-3AD203B41FA5}">
                      <a16:colId xmlns:a16="http://schemas.microsoft.com/office/drawing/2014/main" val="36818028"/>
                    </a:ext>
                  </a:extLst>
                </a:gridCol>
                <a:gridCol w="869063">
                  <a:extLst>
                    <a:ext uri="{9D8B030D-6E8A-4147-A177-3AD203B41FA5}">
                      <a16:colId xmlns:a16="http://schemas.microsoft.com/office/drawing/2014/main" val="1695051336"/>
                    </a:ext>
                  </a:extLst>
                </a:gridCol>
                <a:gridCol w="869063">
                  <a:extLst>
                    <a:ext uri="{9D8B030D-6E8A-4147-A177-3AD203B41FA5}">
                      <a16:colId xmlns:a16="http://schemas.microsoft.com/office/drawing/2014/main" val="589558514"/>
                    </a:ext>
                  </a:extLst>
                </a:gridCol>
              </a:tblGrid>
              <a:tr h="191931">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91931">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1,38,071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1,63,617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2,31,959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2,75,777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3,04,480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3,42,952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3,47,086</a:t>
                      </a:r>
                    </a:p>
                  </a:txBody>
                  <a:tcPr marL="0" marR="0" marT="0" marB="0" anchor="ctr"/>
                </a:tc>
                <a:extLst>
                  <a:ext uri="{0D108BD9-81ED-4DB2-BD59-A6C34878D82A}">
                    <a16:rowId xmlns:a16="http://schemas.microsoft.com/office/drawing/2014/main" val="4072018794"/>
                  </a:ext>
                </a:extLst>
              </a:tr>
              <a:tr h="191931">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337111832"/>
                  </a:ext>
                </a:extLst>
              </a:tr>
              <a:tr h="191931">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91931">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91931">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91931">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91931">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91931">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91931">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91931">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91931">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91931">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91931">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91931">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91931">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91931">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47,220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57,485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89,170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98,767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1,05,272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1,20,173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1,19,879</a:t>
                      </a:r>
                    </a:p>
                  </a:txBody>
                  <a:tcPr marL="0" marR="0" marT="0" marB="0" anchor="ctr"/>
                </a:tc>
                <a:extLst>
                  <a:ext uri="{0D108BD9-81ED-4DB2-BD59-A6C34878D82A}">
                    <a16:rowId xmlns:a16="http://schemas.microsoft.com/office/drawing/2014/main" val="2764137017"/>
                  </a:ext>
                </a:extLst>
              </a:tr>
              <a:tr h="191931">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91931">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54,169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70,064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77,952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81,202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90,460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89,738</a:t>
                      </a:r>
                    </a:p>
                  </a:txBody>
                  <a:tcPr marL="0" marR="0" marT="0" marB="0" anchor="ctr"/>
                </a:tc>
                <a:extLst>
                  <a:ext uri="{0D108BD9-81ED-4DB2-BD59-A6C34878D82A}">
                    <a16:rowId xmlns:a16="http://schemas.microsoft.com/office/drawing/2014/main" val="3727563565"/>
                  </a:ext>
                </a:extLst>
              </a:tr>
              <a:tr h="191931">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91931">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2,775</a:t>
                      </a:r>
                    </a:p>
                  </a:txBody>
                  <a:tcPr marL="0" marR="0" marT="0" marB="0" anchor="ctr"/>
                </a:tc>
                <a:extLst>
                  <a:ext uri="{0D108BD9-81ED-4DB2-BD59-A6C34878D82A}">
                    <a16:rowId xmlns:a16="http://schemas.microsoft.com/office/drawing/2014/main" val="4242091421"/>
                  </a:ext>
                </a:extLst>
              </a:tr>
              <a:tr h="191931">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91931">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91931">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24,139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32,166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42,441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57,777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62,262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64,923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72,751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69,201</a:t>
                      </a:r>
                    </a:p>
                  </a:txBody>
                  <a:tcPr marL="0" marR="0" marT="0" marB="0" anchor="ctr"/>
                </a:tc>
                <a:extLst>
                  <a:ext uri="{0D108BD9-81ED-4DB2-BD59-A6C34878D82A}">
                    <a16:rowId xmlns:a16="http://schemas.microsoft.com/office/drawing/2014/main" val="346634298"/>
                  </a:ext>
                </a:extLst>
              </a:tr>
              <a:tr h="191931">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17,300</a:t>
                      </a:r>
                    </a:p>
                  </a:txBody>
                  <a:tcPr marL="0" marR="0" marT="0" marB="0" anchor="ctr"/>
                </a:tc>
                <a:extLst>
                  <a:ext uri="{0D108BD9-81ED-4DB2-BD59-A6C34878D82A}">
                    <a16:rowId xmlns:a16="http://schemas.microsoft.com/office/drawing/2014/main" val="536878580"/>
                  </a:ext>
                </a:extLst>
              </a:tr>
              <a:tr h="191931">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24,125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31,831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43,333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46,697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54,563</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51,901</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2996790788"/>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642003613"/>
              </p:ext>
            </p:extLst>
          </p:nvPr>
        </p:nvGraphicFramePr>
        <p:xfrm>
          <a:off x="469900" y="1170983"/>
          <a:ext cx="11252201" cy="5075512"/>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44056">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45101">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1,11,462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1,38,071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1,63,617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1,94,036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2,31,959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2,75,777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3,04,480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3,42,952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3,47,086</a:t>
                      </a:r>
                    </a:p>
                  </a:txBody>
                  <a:tcPr marL="0" marR="0" marT="0" marB="0" anchor="b"/>
                </a:tc>
                <a:extLst>
                  <a:ext uri="{0D108BD9-81ED-4DB2-BD59-A6C34878D82A}">
                    <a16:rowId xmlns:a16="http://schemas.microsoft.com/office/drawing/2014/main" val="4006978157"/>
                  </a:ext>
                </a:extLst>
              </a:tr>
              <a:tr h="145101">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b"/>
                </a:tc>
                <a:extLst>
                  <a:ext uri="{0D108BD9-81ED-4DB2-BD59-A6C34878D82A}">
                    <a16:rowId xmlns:a16="http://schemas.microsoft.com/office/drawing/2014/main" val="4110510597"/>
                  </a:ext>
                </a:extLst>
              </a:tr>
              <a:tr h="145101">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145101">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45101">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45101">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45101">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145101">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45101">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45101">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45101">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-8,042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-14,444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-16,231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-17,300</a:t>
                      </a:r>
                    </a:p>
                  </a:txBody>
                  <a:tcPr marL="0" marR="0" marT="0" marB="0" anchor="b"/>
                </a:tc>
                <a:extLst>
                  <a:ext uri="{0D108BD9-81ED-4DB2-BD59-A6C34878D82A}">
                    <a16:rowId xmlns:a16="http://schemas.microsoft.com/office/drawing/2014/main" val="58039412"/>
                  </a:ext>
                </a:extLst>
              </a:tr>
              <a:tr h="145101">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3,400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-8,609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-3,705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-650</a:t>
                      </a:r>
                    </a:p>
                  </a:txBody>
                  <a:tcPr marL="0" marR="0" marT="0" marB="0" anchor="b"/>
                </a:tc>
                <a:extLst>
                  <a:ext uri="{0D108BD9-81ED-4DB2-BD59-A6C34878D82A}">
                    <a16:rowId xmlns:a16="http://schemas.microsoft.com/office/drawing/2014/main" val="3645480185"/>
                  </a:ext>
                </a:extLst>
              </a:tr>
              <a:tr h="145101">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9,342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39,688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41,040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39,288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79,653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87,381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1,01,930</a:t>
                      </a:r>
                    </a:p>
                  </a:txBody>
                  <a:tcPr marL="0" marR="0" marT="0" marB="0" anchor="b"/>
                </a:tc>
                <a:extLst>
                  <a:ext uri="{0D108BD9-81ED-4DB2-BD59-A6C34878D82A}">
                    <a16:rowId xmlns:a16="http://schemas.microsoft.com/office/drawing/2014/main" val="1782741670"/>
                  </a:ext>
                </a:extLst>
              </a:tr>
              <a:tr h="14510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45101">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45101">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5516">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4510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45101">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45101">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45101">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45101">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45101">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45101">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3,228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455</a:t>
                      </a:r>
                    </a:p>
                  </a:txBody>
                  <a:tcPr marL="0" marR="0" marT="0" marB="0" anchor="b"/>
                </a:tc>
                <a:extLst>
                  <a:ext uri="{0D108BD9-81ED-4DB2-BD59-A6C34878D82A}">
                    <a16:rowId xmlns:a16="http://schemas.microsoft.com/office/drawing/2014/main" val="2333252169"/>
                  </a:ext>
                </a:extLst>
              </a:tr>
              <a:tr h="145101">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45101">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-2,105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-2,775</a:t>
                      </a:r>
                    </a:p>
                  </a:txBody>
                  <a:tcPr marL="0" marR="0" marT="0" marB="0" anchor="b"/>
                </a:tc>
                <a:extLst>
                  <a:ext uri="{0D108BD9-81ED-4DB2-BD59-A6C34878D82A}">
                    <a16:rowId xmlns:a16="http://schemas.microsoft.com/office/drawing/2014/main" val="1317293939"/>
                  </a:ext>
                </a:extLst>
              </a:tr>
              <a:tr h="145101">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45101">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45101">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60,456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50,790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47,763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88,254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46,706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23,142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-40,034</a:t>
                      </a:r>
                    </a:p>
                  </a:txBody>
                  <a:tcPr marL="0" marR="0" marT="0" marB="0" anchor="b"/>
                </a:tc>
                <a:extLst>
                  <a:ext uri="{0D108BD9-81ED-4DB2-BD59-A6C34878D82A}">
                    <a16:rowId xmlns:a16="http://schemas.microsoft.com/office/drawing/2014/main" val="678220124"/>
                  </a:ext>
                </a:extLst>
              </a:tr>
              <a:tr h="14510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45101">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45101">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37,539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50,860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74,381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96,131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1,61,938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2,12,050</a:t>
                      </a:r>
                    </a:p>
                  </a:txBody>
                  <a:tcPr marL="0" marR="0" marT="0" marB="0" anchor="b"/>
                </a:tc>
                <a:extLst>
                  <a:ext uri="{0D108BD9-81ED-4DB2-BD59-A6C34878D82A}">
                    <a16:rowId xmlns:a16="http://schemas.microsoft.com/office/drawing/2014/main" val="697929680"/>
                  </a:ext>
                </a:extLst>
              </a:tr>
              <a:tr h="145101">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-4,885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11,279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13,252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21,750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27,065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38,742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44,793</a:t>
                      </a:r>
                    </a:p>
                  </a:txBody>
                  <a:tcPr marL="0" marR="0" marT="0" marB="0" anchor="b"/>
                </a:tc>
                <a:extLst>
                  <a:ext uri="{0D108BD9-81ED-4DB2-BD59-A6C34878D82A}">
                    <a16:rowId xmlns:a16="http://schemas.microsoft.com/office/drawing/2014/main" val="3564589224"/>
                  </a:ext>
                </a:extLst>
              </a:tr>
              <a:tr h="145101">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37,539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50,860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74,381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96,131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1,61,938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2,12,050</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2,56,843</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2486831272"/>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199228590"/>
              </p:ext>
            </p:extLst>
          </p:nvPr>
        </p:nvGraphicFramePr>
        <p:xfrm>
          <a:off x="469900" y="1195956"/>
          <a:ext cx="11252198" cy="4766685"/>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86256">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86256">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91051">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91051">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91051">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91051">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91051">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91051">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91051">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50,275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45,364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43,771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56,390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62,934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64,177 </a:t>
                      </a:r>
                    </a:p>
                  </a:txBody>
                  <a:tcPr marL="0" marR="0" marT="0" marB="0" anchor="ctr"/>
                </a:tc>
                <a:extLst>
                  <a:ext uri="{0D108BD9-81ED-4DB2-BD59-A6C34878D82A}">
                    <a16:rowId xmlns:a16="http://schemas.microsoft.com/office/drawing/2014/main" val="2156494103"/>
                  </a:ext>
                </a:extLst>
              </a:tr>
              <a:tr h="191051">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26,260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37,539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50,860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64,112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74,381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96,131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1,23,196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1,61,938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2,56,843 </a:t>
                      </a:r>
                    </a:p>
                  </a:txBody>
                  <a:tcPr marL="0" marR="0" marT="0" marB="0" anchor="ctr"/>
                </a:tc>
                <a:extLst>
                  <a:ext uri="{0D108BD9-81ED-4DB2-BD59-A6C34878D82A}">
                    <a16:rowId xmlns:a16="http://schemas.microsoft.com/office/drawing/2014/main" val="2072041813"/>
                  </a:ext>
                </a:extLst>
              </a:tr>
              <a:tr h="191051">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91051">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5,65,436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6,32,613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7,21,134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8,67,042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9,80,127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10,71,657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11,47,296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11,80,293 </a:t>
                      </a:r>
                    </a:p>
                  </a:txBody>
                  <a:tcPr marL="0" marR="0" marT="0" marB="0" anchor="ctr"/>
                </a:tc>
                <a:extLst>
                  <a:ext uri="{0D108BD9-81ED-4DB2-BD59-A6C34878D82A}">
                    <a16:rowId xmlns:a16="http://schemas.microsoft.com/office/drawing/2014/main" val="3908092861"/>
                  </a:ext>
                </a:extLst>
              </a:tr>
              <a:tr h="1910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910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91051">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91051">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22,417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41,764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65,888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97,719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1,41,052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1,87,749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2,36,441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2,91,004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3,42,905 </a:t>
                      </a:r>
                    </a:p>
                  </a:txBody>
                  <a:tcPr marL="0" marR="0" marT="0" marB="0" anchor="ctr"/>
                </a:tc>
                <a:extLst>
                  <a:ext uri="{0D108BD9-81ED-4DB2-BD59-A6C34878D82A}">
                    <a16:rowId xmlns:a16="http://schemas.microsoft.com/office/drawing/2014/main" val="1133694758"/>
                  </a:ext>
                </a:extLst>
              </a:tr>
              <a:tr h="1910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91051">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91051">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91051">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91051">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11,799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17,825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21,053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23,537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24,700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27,748 </a:t>
                      </a:r>
                    </a:p>
                  </a:txBody>
                  <a:tcPr marL="0" marR="0" marT="0" marB="0" anchor="ctr"/>
                </a:tc>
                <a:extLst>
                  <a:ext uri="{0D108BD9-81ED-4DB2-BD59-A6C34878D82A}">
                    <a16:rowId xmlns:a16="http://schemas.microsoft.com/office/drawing/2014/main" val="3477130744"/>
                  </a:ext>
                </a:extLst>
              </a:tr>
              <a:tr h="191051">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91051">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91051">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91051">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5,65,436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6,32,613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7,21,134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8,67,042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9,80,127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10,71,657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11,47,296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11,80,293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1092574163"/>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738515335"/>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0.75</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2.14</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8.66</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3.93</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5.02</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5.81</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1868556607"/>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smtClean="0"/>
              <a:t>3 </a:t>
            </a:r>
            <a:r>
              <a:rPr lang="en-US" dirty="0"/>
              <a:t>(Tariff increase of 16% in </a:t>
            </a:r>
            <a:r>
              <a:rPr lang="en-US" dirty="0" smtClean="0"/>
              <a:t>FY24 and FY25, </a:t>
            </a:r>
            <a:r>
              <a:rPr lang="en-US" dirty="0"/>
              <a:t>11% in </a:t>
            </a:r>
            <a:r>
              <a:rPr lang="en-US" dirty="0" smtClean="0"/>
              <a:t>FY26; </a:t>
            </a:r>
            <a:r>
              <a:rPr lang="en-US" dirty="0"/>
              <a:t>4% in </a:t>
            </a:r>
            <a:r>
              <a:rPr lang="en-US" dirty="0" smtClean="0"/>
              <a:t>FY28, </a:t>
            </a:r>
            <a:r>
              <a:rPr lang="en-US" dirty="0"/>
              <a:t>50% of surplus power export )</a:t>
            </a:r>
          </a:p>
        </p:txBody>
      </p:sp>
    </p:spTree>
    <p:extLst>
      <p:ext uri="{BB962C8B-B14F-4D97-AF65-F5344CB8AC3E}">
        <p14:creationId xmlns:p14="http://schemas.microsoft.com/office/powerpoint/2010/main" val="23541223"/>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189316143"/>
              </p:ext>
            </p:extLst>
          </p:nvPr>
        </p:nvGraphicFramePr>
        <p:xfrm>
          <a:off x="469900" y="123550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1,65,442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2,12,426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2,59,570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2,86,586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3,35,709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3,39,756</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dirty="0">
                          <a:effectLst/>
                          <a:latin typeface="+mj-lt"/>
                        </a:rPr>
                        <a:t> Dividend Income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45,962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55,332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60,759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69,637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82,560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87,378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1,12,930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1,12,549</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44,774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50,531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61,745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63,308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82,407</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2,690</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38,469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46,242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47,235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61,956</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16,398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15,489</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28,852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34,681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35,426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49,194</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46,467</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445759839"/>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915589801"/>
              </p:ext>
            </p:extLst>
          </p:nvPr>
        </p:nvGraphicFramePr>
        <p:xfrm>
          <a:off x="469900" y="1151933"/>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8554">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3955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1,65,442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2,12,426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2,59,570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2,86,586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3,35,709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3,39,756</a:t>
                      </a:r>
                    </a:p>
                  </a:txBody>
                  <a:tcPr marL="0" marR="0" marT="0" marB="0" anchor="b"/>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b"/>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18,439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31,580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19,199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-16,398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-15,489</a:t>
                      </a:r>
                    </a:p>
                  </a:txBody>
                  <a:tcPr marL="0" marR="0" marT="0" marB="0" anchor="b"/>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-12,239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-5,459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-632</a:t>
                      </a:r>
                    </a:p>
                  </a:txBody>
                  <a:tcPr marL="0" marR="0" marT="0" marB="0" anchor="b"/>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9,342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39,013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43,065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40,177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53,931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66,904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74,186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91,073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96,428</a:t>
                      </a:r>
                    </a:p>
                  </a:txBody>
                  <a:tcPr marL="0" marR="0" marT="0" marB="0" anchor="b"/>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442</a:t>
                      </a:r>
                    </a:p>
                  </a:txBody>
                  <a:tcPr marL="0" marR="0" marT="0" marB="0" anchor="b"/>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-2,690</a:t>
                      </a:r>
                    </a:p>
                  </a:txBody>
                  <a:tcPr marL="0" marR="0" marT="0" marB="0" anchor="b"/>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49,086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47,056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64,679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89,513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47,275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23,154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-39,962</a:t>
                      </a:r>
                    </a:p>
                  </a:txBody>
                  <a:tcPr marL="0" marR="0" marT="0" marB="0" anchor="b"/>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34,727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60,995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63,375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70,201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1,54,862</a:t>
                      </a:r>
                    </a:p>
                  </a:txBody>
                  <a:tcPr marL="0" marR="0" marT="0" marB="0" anchor="b"/>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-4,885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6,826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14,885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25,560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44,216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39,363</a:t>
                      </a:r>
                    </a:p>
                  </a:txBody>
                  <a:tcPr marL="0" marR="0" marT="0" marB="0" anchor="b"/>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34,727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60,995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63,375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70,201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1,54,862</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1,94,225</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1663164096"/>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897707422"/>
              </p:ext>
            </p:extLst>
          </p:nvPr>
        </p:nvGraphicFramePr>
        <p:xfrm>
          <a:off x="469900" y="120548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43,654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32,438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40,561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53,448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61,747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62,972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26,260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48,369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60,995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63,375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70,201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85,087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1,10,646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1,54,862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1,94,225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4,80,178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5,56,469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6,21,179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7,05,440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8,37,901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9,39,353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10,17,423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10,88,921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11,16,471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18,587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37,330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60,277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85,307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1,14,159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1,48,840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1,84,266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2,33,460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2,79,926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18,806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21,672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22,641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26,462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26,904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4,80,178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5,56,469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6,21,179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7,05,440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8,37,901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9,39,353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10,17,423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10,88,921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11,16,471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3427062003"/>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358300033"/>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0.83</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2.02</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6.20</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8.19</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3.18</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3.93</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4.63</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3909666562"/>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smtClean="0"/>
              <a:t>Scenario 4 </a:t>
            </a:r>
            <a:r>
              <a:rPr lang="en-US" dirty="0"/>
              <a:t>(Tariff increase of 11% in FY21, 10% in FY23; 9% in FY25, </a:t>
            </a:r>
            <a:r>
              <a:rPr lang="en-US" dirty="0"/>
              <a:t>4</a:t>
            </a:r>
            <a:r>
              <a:rPr lang="en-US" dirty="0" smtClean="0"/>
              <a:t>% </a:t>
            </a:r>
            <a:r>
              <a:rPr lang="en-US" dirty="0"/>
              <a:t>in FY27; 75% of surplus power export )</a:t>
            </a:r>
            <a:endParaRPr lang="en-IN" dirty="0"/>
          </a:p>
          <a:p>
            <a:endParaRPr lang="en-IN" dirty="0"/>
          </a:p>
        </p:txBody>
      </p:sp>
    </p:spTree>
    <p:extLst>
      <p:ext uri="{BB962C8B-B14F-4D97-AF65-F5344CB8AC3E}">
        <p14:creationId xmlns:p14="http://schemas.microsoft.com/office/powerpoint/2010/main" val="3188101185"/>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995792904"/>
              </p:ext>
            </p:extLst>
          </p:nvPr>
        </p:nvGraphicFramePr>
        <p:xfrm>
          <a:off x="469900" y="123550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1,14,558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1,31,395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1,58,589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2,31,290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2,99,135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3,02,740</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1,549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13,093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52,891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74,106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98,718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1,10,787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1,13,467</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dirty="0">
                          <a:effectLst/>
                          <a:latin typeface="+mj-lt"/>
                        </a:rPr>
                        <a:t> Dividend Income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39,668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49,071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63,246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64,948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84,945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78,982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1,13,284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1,13,356</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32,391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40,081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48,138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48,962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83,571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83,214</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2,265</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23,772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38,014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53,804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42,990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66,365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63,188</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5,943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9,366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14,843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15,797</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17,829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32,242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44,530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49,774</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47,391</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1640292926"/>
      </p:ext>
    </p:extLst>
  </p:cSld>
  <p:clrMapOvr>
    <a:masterClrMapping/>
  </p:clrMapOvr>
  <p:transition>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591248495"/>
              </p:ext>
            </p:extLst>
          </p:nvPr>
        </p:nvGraphicFramePr>
        <p:xfrm>
          <a:off x="469900" y="1151933"/>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8554">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 </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3955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1,14,558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1,31,395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1,58,589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2,31,290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2,99,135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3,02,740</a:t>
                      </a:r>
                    </a:p>
                  </a:txBody>
                  <a:tcPr marL="0" marR="0" marT="0" marB="0" anchor="ctr"/>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1,549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13,093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52,891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74,106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98,718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1,10,787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1,13,467</a:t>
                      </a:r>
                    </a:p>
                  </a:txBody>
                  <a:tcPr marL="0" marR="0" marT="0" marB="0" anchor="ctr"/>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-5,943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-9,366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-14,843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-15,797</a:t>
                      </a:r>
                    </a:p>
                  </a:txBody>
                  <a:tcPr marL="0" marR="0" marT="0" marB="0" anchor="ctr"/>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-543</a:t>
                      </a:r>
                    </a:p>
                  </a:txBody>
                  <a:tcPr marL="0" marR="0" marT="0" marB="0" anchor="ctr"/>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9,730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44,033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45,857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42,632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48,995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67,214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68,406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93,776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97,016</a:t>
                      </a:r>
                    </a:p>
                  </a:txBody>
                  <a:tcPr marL="0" marR="0" marT="0" marB="0" anchor="ctr"/>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ctr"/>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ctr"/>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ctr"/>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ctr"/>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ctr"/>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7,778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380</a:t>
                      </a:r>
                    </a:p>
                  </a:txBody>
                  <a:tcPr marL="0" marR="0" marT="0" marB="0" anchor="ctr"/>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-2,265</a:t>
                      </a:r>
                    </a:p>
                  </a:txBody>
                  <a:tcPr marL="0" marR="0" marT="0" marB="0" anchor="ctr"/>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61,257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48,517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48,519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44,614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-39,598</a:t>
                      </a:r>
                    </a:p>
                  </a:txBody>
                  <a:tcPr marL="0" marR="0" marT="0" marB="0" anchor="ctr"/>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26,647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43,073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58,938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76,289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1,02,301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1,16,027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1,50,333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1,95,891</a:t>
                      </a:r>
                    </a:p>
                  </a:txBody>
                  <a:tcPr marL="0" marR="0" marT="0" marB="0" anchor="ctr"/>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34,305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45,559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40,315</a:t>
                      </a:r>
                    </a:p>
                  </a:txBody>
                  <a:tcPr marL="0" marR="0" marT="0" marB="0" anchor="ctr"/>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26,647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43,073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58,938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76,289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1,02,301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1,16,027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1,50,333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1,95,891</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2,36,206</a:t>
                      </a:r>
                    </a:p>
                  </a:txBody>
                  <a:tcPr marL="0" marR="0" marT="0" marB="0" anchor="ctr"/>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614915369"/>
      </p:ext>
    </p:extLst>
  </p:cSld>
  <p:clrMapOvr>
    <a:masterClrMapping/>
  </p:clrMapOvr>
  <p:transition>
    <p:fad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57593717"/>
              </p:ext>
            </p:extLst>
          </p:nvPr>
        </p:nvGraphicFramePr>
        <p:xfrm>
          <a:off x="469900" y="120548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47,935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44,125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33,865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40,179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49,995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56,887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26,647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43,073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58,938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76,289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83,431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1,02,301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1,16,027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1,50,333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1,95,891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2,36,206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3,94,211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4,93,190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5,71,319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6,43,551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7,26,922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8,69,618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9,65,645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10,53,656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11,23,954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11,52,367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4,700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28,333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49,183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77,694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1,05,791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1,46,144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1,78,386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2,22,917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2,72,691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3,20,082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15,542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18,539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18,418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20,223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22,265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22,645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3,94,211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4,93,190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5,71,319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6,43,551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7,26,922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8,69,618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9,65,645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10,53,656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11,23,954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11,52,367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1905126071"/>
      </p:ext>
    </p:extLst>
  </p:cSld>
  <p:clrMapOvr>
    <a:masterClrMapping/>
  </p:clrMapOvr>
  <p:transition>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4133958418"/>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0.77</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6.27</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8.24</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3.82</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4.59</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5.30</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3882723542"/>
      </p:ext>
    </p:extLst>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smtClean="0"/>
              <a:t>5 (Tariff </a:t>
            </a:r>
            <a:r>
              <a:rPr lang="en-US" dirty="0"/>
              <a:t>increase of 8</a:t>
            </a:r>
            <a:r>
              <a:rPr lang="en-US" dirty="0" smtClean="0"/>
              <a:t>% </a:t>
            </a:r>
            <a:r>
              <a:rPr lang="en-US" dirty="0"/>
              <a:t>in </a:t>
            </a:r>
            <a:r>
              <a:rPr lang="en-US" dirty="0" smtClean="0"/>
              <a:t>FY21; </a:t>
            </a:r>
            <a:r>
              <a:rPr lang="en-US" dirty="0"/>
              <a:t>7</a:t>
            </a:r>
            <a:r>
              <a:rPr lang="en-US" dirty="0" smtClean="0"/>
              <a:t>% </a:t>
            </a:r>
            <a:r>
              <a:rPr lang="en-US" dirty="0"/>
              <a:t>in </a:t>
            </a:r>
            <a:r>
              <a:rPr lang="en-US" dirty="0" smtClean="0"/>
              <a:t>FY23</a:t>
            </a:r>
            <a:r>
              <a:rPr lang="en-US" dirty="0"/>
              <a:t>;</a:t>
            </a:r>
            <a:r>
              <a:rPr lang="en-US" dirty="0" smtClean="0"/>
              <a:t> </a:t>
            </a:r>
            <a:r>
              <a:rPr lang="en-US" dirty="0"/>
              <a:t>7</a:t>
            </a:r>
            <a:r>
              <a:rPr lang="en-US" dirty="0" smtClean="0"/>
              <a:t>% </a:t>
            </a:r>
            <a:r>
              <a:rPr lang="en-US" dirty="0"/>
              <a:t>in </a:t>
            </a:r>
            <a:r>
              <a:rPr lang="en-US" dirty="0" smtClean="0"/>
              <a:t>FY25; 3% in FY27; </a:t>
            </a:r>
            <a:r>
              <a:rPr lang="en-US" dirty="0"/>
              <a:t>90% of surplus power </a:t>
            </a:r>
            <a:r>
              <a:rPr lang="en-US" dirty="0" smtClean="0"/>
              <a:t>export)</a:t>
            </a:r>
            <a:endParaRPr lang="en-IN" dirty="0"/>
          </a:p>
        </p:txBody>
      </p:sp>
    </p:spTree>
    <p:extLst>
      <p:ext uri="{BB962C8B-B14F-4D97-AF65-F5344CB8AC3E}">
        <p14:creationId xmlns:p14="http://schemas.microsoft.com/office/powerpoint/2010/main" val="682146083"/>
      </p:ext>
    </p:extLst>
  </p:cSld>
  <p:clrMapOvr>
    <a:masterClrMapping/>
  </p:clrMapOvr>
  <p:transition>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197211065"/>
              </p:ext>
            </p:extLst>
          </p:nvPr>
        </p:nvGraphicFramePr>
        <p:xfrm>
          <a:off x="469900" y="121645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1,50,094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1,95,202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2,14,885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2,44,369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2,75,245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2,78,563</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30,700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52,873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63,470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88,927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1,32,944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1,36,161</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dirty="0">
                          <a:effectLst/>
                          <a:latin typeface="+mj-lt"/>
                        </a:rPr>
                        <a:t> Other Income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dirty="0">
                          <a:effectLst/>
                          <a:latin typeface="+mj-lt"/>
                        </a:rPr>
                        <a:t> Employee Expenses </a:t>
                      </a:r>
                      <a:endParaRPr lang="en-IN" sz="900" b="0" i="0" u="none" strike="noStrike" dirty="0">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39,978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49,305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50,637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64,432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80,621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77,398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97,810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1,11,552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1,11,872</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32,700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39,603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38,004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46,117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48,446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61,515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56,583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73,740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81,839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81,730</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1,986</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31,122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29,448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36,140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37,054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49,652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64,907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61,983</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6,021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7,780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9,035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15,496</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18,062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22,086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37,239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43,614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48,681</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46,487</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2798395904"/>
      </p:ext>
    </p:extLst>
  </p:cSld>
  <p:clrMapOvr>
    <a:masterClrMapping/>
  </p:clrMapOvr>
  <p:transition>
    <p:fad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725872407"/>
              </p:ext>
            </p:extLst>
          </p:nvPr>
        </p:nvGraphicFramePr>
        <p:xfrm>
          <a:off x="469900" y="1268179"/>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8554">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3955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1,11,462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1,27,844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1,50,094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1,64,814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1,95,202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2,14,885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2,44,369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2,75,245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2,78,563</a:t>
                      </a:r>
                    </a:p>
                  </a:txBody>
                  <a:tcPr marL="0" marR="0" marT="0" marB="0" anchor="b"/>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1,858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30,700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52,873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63,470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88,927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1,18,462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1,32,944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1,36,161</a:t>
                      </a:r>
                    </a:p>
                  </a:txBody>
                  <a:tcPr marL="0" marR="0" marT="0" marB="0" anchor="b"/>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-6,021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-9,035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-9,263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-14,538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-16,227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-15,496</a:t>
                      </a:r>
                    </a:p>
                  </a:txBody>
                  <a:tcPr marL="0" marR="0" marT="0" marB="0" anchor="b"/>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3,400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3,631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-485</a:t>
                      </a:r>
                    </a:p>
                  </a:txBody>
                  <a:tcPr marL="0" marR="0" marT="0" marB="0" anchor="b"/>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9,962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44,925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46,906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42,006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48,016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67,418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81,483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92,838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95,891</a:t>
                      </a:r>
                    </a:p>
                  </a:txBody>
                  <a:tcPr marL="0" marR="0" marT="0" marB="0" anchor="b"/>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339</a:t>
                      </a:r>
                    </a:p>
                  </a:txBody>
                  <a:tcPr marL="0" marR="0" marT="0" marB="0" anchor="b"/>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-1,986</a:t>
                      </a:r>
                    </a:p>
                  </a:txBody>
                  <a:tcPr marL="0" marR="0" marT="0" marB="0" anchor="b"/>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60,456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48,016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61,126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44,629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23,923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-39,361</a:t>
                      </a:r>
                    </a:p>
                  </a:txBody>
                  <a:tcPr marL="0" marR="0" marT="0" marB="0" anchor="b"/>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26,880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60,465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76,688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99,386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1,12,140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1,45,766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1,90,360</a:t>
                      </a:r>
                    </a:p>
                  </a:txBody>
                  <a:tcPr marL="0" marR="0" marT="0" marB="0" anchor="b"/>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-4,265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16,516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17,069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16,224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16,031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12,754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33,626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44,594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39,428</a:t>
                      </a:r>
                    </a:p>
                  </a:txBody>
                  <a:tcPr marL="0" marR="0" marT="0" marB="0" anchor="b"/>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26,880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60,465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76,688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99,386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1,12,140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1,45,766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1,90,360</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2,29,788</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4252948349"/>
      </p:ext>
    </p:extLst>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479831816"/>
              </p:ext>
            </p:extLst>
          </p:nvPr>
        </p:nvGraphicFramePr>
        <p:xfrm>
          <a:off x="469900" y="124358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50,275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46,767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42,030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32,335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37,729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41,303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46,509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51,834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52,913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26,880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43,396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60,465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83,354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99,386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1,12,140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1,45,766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1,90,360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2,29,788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3,94,444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4,92,241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5,71,678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6,41,855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7,25,316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8,64,254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9,59,061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10,45,603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11,14,507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11,41,974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4,932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28,273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50,360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77,465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1,05,255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1,42,494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1,73,690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2,17,304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2,65,984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3,12,471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9,465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14,472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16,824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16,531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17,783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19,524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19,863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3,94,444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4,92,241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5,71,678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6,41,855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7,25,316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8,64,254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9,59,061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10,45,603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11,14,507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11,41,974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1443814363"/>
      </p:ext>
    </p:extLst>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340418750"/>
              </p:ext>
            </p:extLst>
          </p:nvPr>
        </p:nvGraphicFramePr>
        <p:xfrm>
          <a:off x="469900" y="1170983"/>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2.02</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6.21</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8.15</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3.83</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4.41</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5.11</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725974748"/>
      </p:ext>
    </p:extLst>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smtClean="0"/>
              <a:t>6 (Tariff </a:t>
            </a:r>
            <a:r>
              <a:rPr lang="en-US" dirty="0"/>
              <a:t>increase of </a:t>
            </a:r>
            <a:r>
              <a:rPr lang="en-US" dirty="0" smtClean="0"/>
              <a:t>15% in FY21, 14% in FY22, </a:t>
            </a:r>
            <a:r>
              <a:rPr lang="en-US" dirty="0" smtClean="0"/>
              <a:t>10% </a:t>
            </a:r>
            <a:r>
              <a:rPr lang="en-US" dirty="0" smtClean="0"/>
              <a:t>from </a:t>
            </a:r>
            <a:r>
              <a:rPr lang="en-US" dirty="0"/>
              <a:t>FY23 to </a:t>
            </a:r>
            <a:r>
              <a:rPr lang="en-US" dirty="0" smtClean="0"/>
              <a:t>FY24, 6.5% in FY25, 6% in FY26 and FY27</a:t>
            </a:r>
            <a:r>
              <a:rPr lang="en-US" dirty="0" smtClean="0"/>
              <a:t>; </a:t>
            </a:r>
            <a:r>
              <a:rPr lang="en-US" dirty="0"/>
              <a:t>Nil power export; )</a:t>
            </a:r>
            <a:endParaRPr lang="en-IN" dirty="0"/>
          </a:p>
        </p:txBody>
      </p:sp>
    </p:spTree>
    <p:extLst>
      <p:ext uri="{BB962C8B-B14F-4D97-AF65-F5344CB8AC3E}">
        <p14:creationId xmlns:p14="http://schemas.microsoft.com/office/powerpoint/2010/main" val="708993436"/>
      </p:ext>
    </p:extLst>
  </p:cSld>
  <p:clrMapOvr>
    <a:masterClrMapping/>
  </p:clrMapOvr>
  <p:transition>
    <p:fad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257707967"/>
              </p:ext>
            </p:extLst>
          </p:nvPr>
        </p:nvGraphicFramePr>
        <p:xfrm>
          <a:off x="469900" y="1206932"/>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1,18,687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1,55,188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1,87,306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2,26,243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2,66,704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3,11,214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4,10,242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4,15,188</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dirty="0">
                          <a:effectLst/>
                          <a:latin typeface="+mj-lt"/>
                        </a:rPr>
                        <a:t> Other Income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38,120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40,818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72,988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88,654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1,13,605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1,12,336</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31,116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44,487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57,002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69,548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63,985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82,194</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3,558</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22,427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33,868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44,905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56,862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47,887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58,165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65,411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60,874</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5,556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16,353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15,219</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16,668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33,679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35,916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43,624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49,058</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45,656</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2628036645"/>
      </p:ext>
    </p:extLst>
  </p:cSld>
  <p:clrMapOvr>
    <a:masterClrMapping/>
  </p:clrMapOvr>
  <p:transition>
    <p:fad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154502426"/>
              </p:ext>
            </p:extLst>
          </p:nvPr>
        </p:nvGraphicFramePr>
        <p:xfrm>
          <a:off x="469900" y="1211029"/>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14851">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08888">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1,18,687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1,55,188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1,87,306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2,26,243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2,66,704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3,11,214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3,64,222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4,10,242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4,15,188</a:t>
                      </a:r>
                    </a:p>
                  </a:txBody>
                  <a:tcPr marL="0" marR="0" marT="0" marB="0" anchor="b"/>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-5,556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-11,226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-14,215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-11,972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-14,541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-16,353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-15,219</a:t>
                      </a:r>
                    </a:p>
                  </a:txBody>
                  <a:tcPr marL="0" marR="0" marT="0" marB="0" anchor="b"/>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-3,662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a:t>
                      </a:r>
                    </a:p>
                  </a:txBody>
                  <a:tcPr marL="0" marR="0" marT="0" marB="0" anchor="b"/>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8,568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35,643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38,525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40,759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53,714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69,395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69,165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79,004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92,337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96,304</a:t>
                      </a:r>
                    </a:p>
                  </a:txBody>
                  <a:tcPr marL="0" marR="0" marT="0" marB="0" anchor="b"/>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5,633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569</a:t>
                      </a:r>
                    </a:p>
                  </a:txBody>
                  <a:tcPr marL="0" marR="0" marT="0" marB="0" anchor="b"/>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-863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-1,589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-2,505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-3,558</a:t>
                      </a:r>
                    </a:p>
                  </a:txBody>
                  <a:tcPr marL="0" marR="0" marT="0" marB="0" anchor="b"/>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62,326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52,257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61,047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25,251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-40,703</a:t>
                      </a:r>
                    </a:p>
                  </a:txBody>
                  <a:tcPr marL="0" marR="0" marT="0" marB="0" anchor="b"/>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25,486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34,590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61,328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94,548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1,10,797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1,43,273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1,87,516</a:t>
                      </a:r>
                    </a:p>
                  </a:txBody>
                  <a:tcPr marL="0" marR="0" marT="0" marB="0" anchor="b"/>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-5,659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9,104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12,274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14,464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12,286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20,934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16,249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32,475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44,243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38,498</a:t>
                      </a:r>
                    </a:p>
                  </a:txBody>
                  <a:tcPr marL="0" marR="0" marT="0" marB="0" anchor="b"/>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25,486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34,590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61,328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94,548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1,10,797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1,43,273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1,87,516</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2,26,014</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1236661215"/>
      </p:ext>
    </p:extLst>
  </p:cSld>
  <p:clrMapOvr>
    <a:masterClrMapping/>
  </p:clrMapOvr>
  <p:transition>
    <p:fad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104262065"/>
              </p:ext>
            </p:extLst>
          </p:nvPr>
        </p:nvGraphicFramePr>
        <p:xfrm>
          <a:off x="469900" y="1253106"/>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dirty="0">
                          <a:effectLst/>
                          <a:latin typeface="+mj-lt"/>
                        </a:rPr>
                        <a:t> Net Fixed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51,206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42,406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49,483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57,138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66,210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73,965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75,372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25,486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34,590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61,328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73,614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94,548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1,10,797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1,43,273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1,87,516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2,26,014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4,86,404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5,67,067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6,35,671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7,25,646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8,71,169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9,73,553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10,62,811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11,33,793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11,60,659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3,538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20,359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39,456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64,857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98,536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1,41,182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1,77,098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2,20,721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2,69,780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3,15,435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8,629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21,521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27,615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35,584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4,86,404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5,67,067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6,35,671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7,25,646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8,71,169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9,73,553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10,62,811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11,33,793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11,60,659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3956261733"/>
      </p:ext>
    </p:extLst>
  </p:cSld>
  <p:clrMapOvr>
    <a:masterClrMapping/>
  </p:clrMapOvr>
  <p:transition>
    <p:fad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619413959"/>
              </p:ext>
            </p:extLst>
          </p:nvPr>
        </p:nvGraphicFramePr>
        <p:xfrm>
          <a:off x="469900" y="1230079"/>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2.00</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6.15</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8.18</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3.36</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4.77</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5.45</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2516667067"/>
      </p:ext>
    </p:extLst>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a:t>7</a:t>
            </a:r>
            <a:r>
              <a:rPr lang="en-US" dirty="0" smtClean="0"/>
              <a:t> (No Tariff increase; </a:t>
            </a:r>
            <a:r>
              <a:rPr lang="en-US" dirty="0"/>
              <a:t>Nil power export; )</a:t>
            </a:r>
            <a:endParaRPr lang="en-IN" dirty="0"/>
          </a:p>
        </p:txBody>
      </p:sp>
    </p:spTree>
    <p:extLst>
      <p:ext uri="{BB962C8B-B14F-4D97-AF65-F5344CB8AC3E}">
        <p14:creationId xmlns:p14="http://schemas.microsoft.com/office/powerpoint/2010/main" val="349318566"/>
      </p:ext>
    </p:extLst>
  </p:cSld>
  <p:clrMapOvr>
    <a:masterClrMapping/>
  </p:clrMapOvr>
  <p:transition>
    <p:fad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154354216"/>
              </p:ext>
            </p:extLst>
          </p:nvPr>
        </p:nvGraphicFramePr>
        <p:xfrm>
          <a:off x="469900" y="1206932"/>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35,495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53,158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71,130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87,656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1,29,306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1,57,979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1,81,618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1,93,891</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dirty="0">
                          <a:effectLst/>
                          <a:latin typeface="+mj-lt"/>
                        </a:rPr>
                        <a:t> Other Income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38,120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45,962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55,332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67,473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84,833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1,09,763</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55,863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60,763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71,386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79,621</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55,133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60,562</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5,556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16,668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31,011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34,334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41,350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45,421</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3403880028"/>
      </p:ext>
    </p:extLst>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367426957"/>
              </p:ext>
            </p:extLst>
          </p:nvPr>
        </p:nvGraphicFramePr>
        <p:xfrm>
          <a:off x="469900" y="1211029"/>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14851">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08888">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b"/>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35,495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53,158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71,130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87,656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1,29,306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1,57,979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1,93,891</a:t>
                      </a:r>
                    </a:p>
                  </a:txBody>
                  <a:tcPr marL="0" marR="0" marT="0" marB="0" anchor="b"/>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b"/>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-5,556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b"/>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b"/>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8,568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39,013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43,065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39,369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43,656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57,379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67,379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73,472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94,281</a:t>
                      </a:r>
                    </a:p>
                  </a:txBody>
                  <a:tcPr marL="0" marR="0" marT="0" marB="0" anchor="b"/>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239</a:t>
                      </a:r>
                    </a:p>
                  </a:txBody>
                  <a:tcPr marL="0" marR="0" marT="0" marB="0" anchor="b"/>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b"/>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58,318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49,086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47,056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62,322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86,481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44,669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23,216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-38,773</a:t>
                      </a:r>
                    </a:p>
                  </a:txBody>
                  <a:tcPr marL="0" marR="0" marT="0" marB="0" anchor="b"/>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25,486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33,952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60,221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63,723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70,965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83,720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1,08,628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1,46,210</a:t>
                      </a:r>
                    </a:p>
                  </a:txBody>
                  <a:tcPr marL="0" marR="0" marT="0" marB="0" anchor="b"/>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-5,659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3,502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12,754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24,908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37,582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38,405</a:t>
                      </a:r>
                    </a:p>
                  </a:txBody>
                  <a:tcPr marL="0" marR="0" marT="0" marB="0" anchor="b"/>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25,486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33,952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60,221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63,723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70,965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83,720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1,08,628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1,46,210</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1,84,616</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3928356279"/>
      </p:ext>
    </p:extLst>
  </p:cSld>
  <p:clrMapOvr>
    <a:masterClrMapping/>
  </p:clrMapOvr>
  <p:transition>
    <p:fad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857916338"/>
              </p:ext>
            </p:extLst>
          </p:nvPr>
        </p:nvGraphicFramePr>
        <p:xfrm>
          <a:off x="469900" y="1253106"/>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dirty="0">
                          <a:effectLst/>
                          <a:latin typeface="+mj-lt"/>
                        </a:rPr>
                        <a:t> Net Fixed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43,654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28,697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31,592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34,547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37,879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42,141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43,076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25,486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33,952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47,595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60,221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63,723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70,965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83,720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1,08,628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1,46,210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1,84,616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4,79,404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5,55,694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6,20,405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7,02,047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8,29,696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9,23,885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9,99,836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10,60,664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10,86,965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3,538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17,812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36,556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59,502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84,533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1,12,232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1,43,243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1,77,577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2,18,927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2,64,348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12,528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11,801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12,739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12,977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4,79,404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5,55,694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6,20,405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7,02,047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8,29,696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9,23,885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9,99,836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10,60,664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10,86,965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616189508"/>
      </p:ext>
    </p:extLst>
  </p:cSld>
  <p:clrMapOvr>
    <a:masterClrMapping/>
  </p:clrMapOvr>
  <p:transition>
    <p:fad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082562548"/>
              </p:ext>
            </p:extLst>
          </p:nvPr>
        </p:nvGraphicFramePr>
        <p:xfrm>
          <a:off x="469900" y="1230079"/>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0.85</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2.00</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6.13</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8.01</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3.40</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4.09</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351353353"/>
      </p:ext>
    </p:extLst>
  </p:cSld>
  <p:clrMapOvr>
    <a:masterClrMapping/>
  </p:clrMapOvr>
  <p:transition>
    <p:fad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a:t>8</a:t>
            </a:r>
            <a:r>
              <a:rPr lang="en-US" dirty="0" smtClean="0"/>
              <a:t> </a:t>
            </a:r>
            <a:r>
              <a:rPr lang="en-US" dirty="0" smtClean="0"/>
              <a:t>(Tariff </a:t>
            </a:r>
            <a:r>
              <a:rPr lang="en-US" dirty="0"/>
              <a:t>increase of </a:t>
            </a:r>
            <a:r>
              <a:rPr lang="en-US" dirty="0" smtClean="0"/>
              <a:t>15.5% </a:t>
            </a:r>
            <a:r>
              <a:rPr lang="en-US" dirty="0"/>
              <a:t>in FY21, 14% in FY22, 10% </a:t>
            </a:r>
            <a:r>
              <a:rPr lang="en-US" dirty="0" smtClean="0"/>
              <a:t>from </a:t>
            </a:r>
            <a:r>
              <a:rPr lang="en-US" dirty="0"/>
              <a:t>FY23 to FY24, 6.5% in FY25, 6% in FY26 and FY27; Nil power </a:t>
            </a:r>
            <a:r>
              <a:rPr lang="en-US" dirty="0" smtClean="0"/>
              <a:t>export</a:t>
            </a:r>
            <a:r>
              <a:rPr lang="en-US" dirty="0" smtClean="0"/>
              <a:t>; </a:t>
            </a:r>
            <a:r>
              <a:rPr lang="en-US" dirty="0"/>
              <a:t>No power </a:t>
            </a:r>
            <a:r>
              <a:rPr lang="en-US" dirty="0" smtClean="0"/>
              <a:t>banking)</a:t>
            </a:r>
            <a:endParaRPr lang="en-IN" dirty="0"/>
          </a:p>
        </p:txBody>
      </p:sp>
    </p:spTree>
    <p:extLst>
      <p:ext uri="{BB962C8B-B14F-4D97-AF65-F5344CB8AC3E}">
        <p14:creationId xmlns:p14="http://schemas.microsoft.com/office/powerpoint/2010/main" val="1792002696"/>
      </p:ext>
    </p:extLst>
  </p:cSld>
  <p:clrMapOvr>
    <a:masterClrMapping/>
  </p:clrMapOvr>
  <p:transition>
    <p:fad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679211446"/>
              </p:ext>
            </p:extLst>
          </p:nvPr>
        </p:nvGraphicFramePr>
        <p:xfrm>
          <a:off x="469900" y="119740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1,19,203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2,27,227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2,67,864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3,12,567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3,65,806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4,12,026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4,16,993</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40,065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66,845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96,669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1,42,832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1,67,382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2,15,655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2,92,259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2,98,688</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61,119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88,988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1,19,967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1,40,969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1,68,652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1,94,823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2,44,554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3,24,341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3,32,506</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36,472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47,359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59,582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73,407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89,056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85,704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1,00,277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1,13,989</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29,195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44,474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57,422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69,950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64,889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76,208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85,527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83,847</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612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3,578</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20,690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21,990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33,855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67,026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62,507</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14,314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14,806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16,757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15,627</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15,517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42,941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36,584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44,419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50,270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46,880</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3529260786"/>
      </p:ext>
    </p:extLst>
  </p:cSld>
  <p:clrMapOvr>
    <a:masterClrMapping/>
  </p:clrMapOvr>
  <p:transition>
    <p:fad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717713713"/>
              </p:ext>
            </p:extLst>
          </p:nvPr>
        </p:nvGraphicFramePr>
        <p:xfrm>
          <a:off x="469900" y="1238250"/>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9908">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0909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1,19,203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1,55,863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2,27,227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2,67,864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3,12,567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3,65,806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4,12,026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4,16,993</a:t>
                      </a:r>
                    </a:p>
                  </a:txBody>
                  <a:tcPr marL="0" marR="0" marT="0" marB="0" anchor="b"/>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b"/>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b"/>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b"/>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-40,065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-66,845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-96,669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-1,42,832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-1,67,382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-2,15,655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-2,57,281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-2,92,259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-2,98,688</a:t>
                      </a:r>
                    </a:p>
                  </a:txBody>
                  <a:tcPr marL="0" marR="0" marT="0" marB="0" anchor="b"/>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b"/>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b"/>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-5,172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-5,498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-11,329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-12,195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-14,806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-16,757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-15,627</a:t>
                      </a:r>
                    </a:p>
                  </a:txBody>
                  <a:tcPr marL="0" marR="0" marT="0" marB="0" anchor="b"/>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-22,375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-755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-10,414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-8,166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-5,057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-3,719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-5,689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-817</a:t>
                      </a:r>
                    </a:p>
                  </a:txBody>
                  <a:tcPr marL="0" marR="0" marT="0" marB="0" anchor="b"/>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34,099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40,704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53,912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69,686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69,790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79,782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93,506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97,545</a:t>
                      </a:r>
                    </a:p>
                  </a:txBody>
                  <a:tcPr marL="0" marR="0" marT="0" marB="0" anchor="b"/>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b"/>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b"/>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b"/>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b"/>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b"/>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b"/>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6,124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1,943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7,290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5,716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3,540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2,604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3,982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3,484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572</a:t>
                      </a:r>
                    </a:p>
                  </a:txBody>
                  <a:tcPr marL="0" marR="0" marT="0" marB="0" anchor="b"/>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b"/>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-665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-1,589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-2,160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-2,514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-2,774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-3,173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-3,578</a:t>
                      </a:r>
                    </a:p>
                  </a:txBody>
                  <a:tcPr marL="0" marR="0" marT="0" marB="0" anchor="b"/>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b"/>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b"/>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46,477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63,187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52,531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47,535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61,122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88,157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46,405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25,259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628</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-40,720</a:t>
                      </a:r>
                    </a:p>
                  </a:txBody>
                  <a:tcPr marL="0" marR="0" marT="0" marB="0" anchor="b"/>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b"/>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24,821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33,243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45,462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59,903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72,461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93,686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1,43,847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1,89,284</a:t>
                      </a:r>
                    </a:p>
                  </a:txBody>
                  <a:tcPr marL="0" marR="0" marT="0" marB="0" anchor="b"/>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-6,324</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8,421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12,219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14,441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12,559</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21,225</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16,901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33,261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45,436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39,721</a:t>
                      </a:r>
                    </a:p>
                  </a:txBody>
                  <a:tcPr marL="0" marR="0" marT="0" marB="0" anchor="b"/>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24,821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33,243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45,462</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59,903</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72,461</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93,686</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1,10,587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1,43,847</a:t>
                      </a:r>
                    </a:p>
                  </a:txBody>
                  <a:tcPr marL="0" marR="0" marT="0" marB="0" anchor="b"/>
                </a:tc>
                <a:tc>
                  <a:txBody>
                    <a:bodyPr/>
                    <a:lstStyle/>
                    <a:p>
                      <a:pPr algn="r" fontAlgn="b"/>
                      <a:r>
                        <a:rPr lang="en-IN" sz="900" b="0" i="0" u="none" strike="noStrike">
                          <a:solidFill>
                            <a:srgbClr val="000000"/>
                          </a:solidFill>
                          <a:effectLst/>
                          <a:latin typeface="Verdana" panose="020B0604030504040204" pitchFamily="34" charset="0"/>
                        </a:rPr>
                        <a:t>1,89,284</a:t>
                      </a:r>
                    </a:p>
                  </a:txBody>
                  <a:tcPr marL="0" marR="0" marT="0" marB="0" anchor="b"/>
                </a:tc>
                <a:tc>
                  <a:txBody>
                    <a:bodyPr/>
                    <a:lstStyle/>
                    <a:p>
                      <a:pPr algn="r" fontAlgn="b"/>
                      <a:r>
                        <a:rPr lang="en-IN" sz="900" b="0" i="0" u="none" strike="noStrike" dirty="0">
                          <a:solidFill>
                            <a:srgbClr val="000000"/>
                          </a:solidFill>
                          <a:effectLst/>
                          <a:latin typeface="Verdana" panose="020B0604030504040204" pitchFamily="34" charset="0"/>
                        </a:rPr>
                        <a:t>2,29,005</a:t>
                      </a:r>
                    </a:p>
                  </a:txBody>
                  <a:tcPr marL="0" marR="0" marT="0" marB="0" anchor="b"/>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1306400833"/>
      </p:ext>
    </p:extLst>
  </p:cSld>
  <p:clrMapOvr>
    <a:masterClrMapping/>
  </p:clrMapOvr>
  <p:transition>
    <p:fad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113573372"/>
              </p:ext>
            </p:extLst>
          </p:nvPr>
        </p:nvGraphicFramePr>
        <p:xfrm>
          <a:off x="469900" y="122453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53,456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55,979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51,407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42,567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49,674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57,360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66,471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74,257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75,669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24,821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33,243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45,462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59,903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72,461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93,686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1,10,587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1,43,847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1,89,284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2,29,005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3,92,385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4,85,268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5,65,886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6,34,446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7,24,655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8,70,498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9,73,565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10,63,647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11,35,853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11,63,947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18,881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38,039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63,430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97,417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1,40,359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1,76,943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2,21,362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2,71,631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3,18,512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6,124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21,602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25,141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27,745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31,727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35,783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68,853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73,397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73,144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58,158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43,202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53,400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53,994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3,92,385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4,85,268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5,65,886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6,34,446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7,24,655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8,70,498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9,73,565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10,63,647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11,35,853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11,63,947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576424643"/>
      </p:ext>
    </p:extLst>
  </p:cSld>
  <p:clrMapOvr>
    <a:masterClrMapping/>
  </p:clrMapOvr>
  <p:transition>
    <p:fad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413658947"/>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6.23</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4.81</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5.51</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2316519215"/>
      </p:ext>
    </p:extLst>
  </p:cSld>
  <p:clrMapOvr>
    <a:masterClrMapping/>
  </p:clrMapOvr>
  <p:transition>
    <p:fad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a:t>Scenario </a:t>
            </a:r>
            <a:r>
              <a:rPr lang="en-US" dirty="0" smtClean="0"/>
              <a:t>9 </a:t>
            </a:r>
            <a:r>
              <a:rPr lang="en-US" dirty="0" smtClean="0"/>
              <a:t>(No Tariff increase; </a:t>
            </a:r>
            <a:r>
              <a:rPr lang="en-US" dirty="0"/>
              <a:t>Nil power </a:t>
            </a:r>
            <a:r>
              <a:rPr lang="en-US" dirty="0" smtClean="0"/>
              <a:t>export</a:t>
            </a:r>
            <a:r>
              <a:rPr lang="en-US" dirty="0" smtClean="0"/>
              <a:t>; </a:t>
            </a:r>
            <a:r>
              <a:rPr lang="en-US" dirty="0"/>
              <a:t>No power </a:t>
            </a:r>
            <a:r>
              <a:rPr lang="en-US" dirty="0" smtClean="0"/>
              <a:t>banking)</a:t>
            </a:r>
            <a:endParaRPr lang="en-IN" dirty="0"/>
          </a:p>
        </p:txBody>
      </p:sp>
    </p:spTree>
    <p:extLst>
      <p:ext uri="{BB962C8B-B14F-4D97-AF65-F5344CB8AC3E}">
        <p14:creationId xmlns:p14="http://schemas.microsoft.com/office/powerpoint/2010/main" val="486293770"/>
      </p:ext>
    </p:extLst>
  </p:cSld>
  <p:clrMapOvr>
    <a:masterClrMapping/>
  </p:clrMapOvr>
  <p:transition>
    <p:fad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667502433"/>
              </p:ext>
            </p:extLst>
          </p:nvPr>
        </p:nvGraphicFramePr>
        <p:xfrm>
          <a:off x="469900" y="119740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53,971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1,29,752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1,58,484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1,81,766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1,94,043</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40,065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66,845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96,669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1,42,832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1,67,382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2,15,655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2,92,259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2,98,688</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61,119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88,988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1,19,967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1,40,969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1,68,652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1,94,823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2,44,554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3,24,341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3,32,506</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36,472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45,943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60,494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67,468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76,676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84,830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1,09,762</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29,195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44,509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48,362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60,760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71,385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79,620</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612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1,297</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20,690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36,933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55,133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60,562</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15,517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27,700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31,011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34,334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41,350</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45,421</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358806901"/>
      </p:ext>
    </p:extLst>
  </p:cSld>
  <p:clrMapOvr>
    <a:masterClrMapping/>
  </p:clrMapOvr>
  <p:transition>
    <p:fade/>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397973931"/>
              </p:ext>
            </p:extLst>
          </p:nvPr>
        </p:nvGraphicFramePr>
        <p:xfrm>
          <a:off x="469900" y="1238250"/>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9908">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0909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53,971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1,29,752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1,58,484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1,81,766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1,94,043</a:t>
                      </a:r>
                    </a:p>
                  </a:txBody>
                  <a:tcPr marL="0" marR="0" marT="0" marB="0" anchor="ctr"/>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-40,065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-66,845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-96,669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-1,42,832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-1,67,382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-2,15,655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-2,57,281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-2,92,259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-2,98,688</a:t>
                      </a:r>
                    </a:p>
                  </a:txBody>
                  <a:tcPr marL="0" marR="0" marT="0" marB="0" anchor="ctr"/>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-7,649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-13,783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-15,140</a:t>
                      </a:r>
                    </a:p>
                  </a:txBody>
                  <a:tcPr marL="0" marR="0" marT="0" marB="0" anchor="ctr"/>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-22,375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ctr"/>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37,994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42,670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39,289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57,391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73,474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94,281</a:t>
                      </a:r>
                    </a:p>
                  </a:txBody>
                  <a:tcPr marL="0" marR="0" marT="0" marB="0" anchor="ctr"/>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ctr"/>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ctr"/>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ctr"/>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ctr"/>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ctr"/>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239</a:t>
                      </a:r>
                    </a:p>
                  </a:txBody>
                  <a:tcPr marL="0" marR="0" marT="0" marB="0" anchor="ctr"/>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-1,297</a:t>
                      </a:r>
                    </a:p>
                  </a:txBody>
                  <a:tcPr marL="0" marR="0" marT="0" marB="0" anchor="ctr"/>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46,477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59,045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47,117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62,436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86,474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44,689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-38,772</a:t>
                      </a:r>
                    </a:p>
                  </a:txBody>
                  <a:tcPr marL="0" marR="0" marT="0" marB="0" anchor="ctr"/>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24,821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46,525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69,834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82,580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1,07,490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1,45,063</a:t>
                      </a:r>
                    </a:p>
                  </a:txBody>
                  <a:tcPr marL="0" marR="0" marT="0" marB="0" anchor="ctr"/>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-6,324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13,529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37,574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38,405</a:t>
                      </a:r>
                    </a:p>
                  </a:txBody>
                  <a:tcPr marL="0" marR="0" marT="0" marB="0" anchor="ctr"/>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24,821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46,525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69,834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82,580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1,07,490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1,45,063</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1,83,469</a:t>
                      </a:r>
                    </a:p>
                  </a:txBody>
                  <a:tcPr marL="0" marR="0" marT="0" marB="0" anchor="ctr"/>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738453800"/>
      </p:ext>
    </p:extLst>
  </p:cSld>
  <p:clrMapOvr>
    <a:masterClrMapping/>
  </p:clrMapOvr>
  <p:transition>
    <p:fade/>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073442252"/>
              </p:ext>
            </p:extLst>
          </p:nvPr>
        </p:nvGraphicFramePr>
        <p:xfrm>
          <a:off x="469900" y="122453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43,654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28,697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31,592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34,547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37,879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42,141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43,076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24,821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46,525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59,132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62,587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69,834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82,580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1,07,490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1,45,063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1,83,469 </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3,92,385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4,78,448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5,54,625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6,19,315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7,00,911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8,28,564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9,22,745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9,98,698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10,59,517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10,85,819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16,662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35,405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58,352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83,382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1,11,082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1,42,092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1,76,427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2,17,776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2,63,198 </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6,124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12,484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12,730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12,969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68,853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73,397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73,144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58,158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43,202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53,400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53,994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3,92,385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4,78,448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5,54,625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6,19,315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7,00,911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8,28,564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9,22,745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9,98,698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10,59,517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10,85,819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3253023291"/>
      </p:ext>
    </p:extLst>
  </p:cSld>
  <p:clrMapOvr>
    <a:masterClrMapping/>
  </p:clrMapOvr>
  <p:transition>
    <p:fade/>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838347657"/>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50%</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0.85</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2.00</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6.13</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8.01</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3.38</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3.38</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4.06</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148510567"/>
      </p:ext>
    </p:extLst>
  </p:cSld>
  <p:clrMapOvr>
    <a:masterClrMapping/>
  </p:clrMapOvr>
  <p:transition>
    <p:fade/>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Annexures</a:t>
            </a:r>
            <a:endParaRPr lang="en-IN" dirty="0"/>
          </a:p>
        </p:txBody>
      </p:sp>
      <p:sp>
        <p:nvSpPr>
          <p:cNvPr id="4" name="Text Placeholder 3"/>
          <p:cNvSpPr>
            <a:spLocks noGrp="1"/>
          </p:cNvSpPr>
          <p:nvPr>
            <p:ph type="body" idx="1"/>
          </p:nvPr>
        </p:nvSpPr>
        <p:spPr/>
        <p:txBody>
          <a:bodyPr/>
          <a:lstStyle/>
          <a:p>
            <a:endParaRPr lang="en-IN"/>
          </a:p>
        </p:txBody>
      </p:sp>
    </p:spTree>
    <p:extLst>
      <p:ext uri="{BB962C8B-B14F-4D97-AF65-F5344CB8AC3E}">
        <p14:creationId xmlns:p14="http://schemas.microsoft.com/office/powerpoint/2010/main" val="1758939842"/>
      </p:ext>
    </p:extLst>
  </p:cSld>
  <p:clrMapOvr>
    <a:masterClrMapping/>
  </p:clrMapOvr>
  <p:transition>
    <p:fade/>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IN" dirty="0" smtClean="0"/>
              <a:t>NEA’s share</a:t>
            </a:r>
            <a:endParaRPr lang="en-IN" dirty="0"/>
          </a:p>
        </p:txBody>
      </p:sp>
      <p:sp>
        <p:nvSpPr>
          <p:cNvPr id="3" name="Title 2"/>
          <p:cNvSpPr>
            <a:spLocks noGrp="1"/>
          </p:cNvSpPr>
          <p:nvPr>
            <p:ph type="title"/>
          </p:nvPr>
        </p:nvSpPr>
        <p:spPr/>
        <p:txBody>
          <a:bodyPr/>
          <a:lstStyle/>
          <a:p>
            <a:r>
              <a:rPr lang="en-IN" dirty="0" smtClean="0"/>
              <a:t>Investment in subsidiaries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925807774"/>
              </p:ext>
            </p:extLst>
          </p:nvPr>
        </p:nvGraphicFramePr>
        <p:xfrm>
          <a:off x="469899" y="1723263"/>
          <a:ext cx="11252206" cy="4382261"/>
        </p:xfrm>
        <a:graphic>
          <a:graphicData uri="http://schemas.openxmlformats.org/drawingml/2006/table">
            <a:tbl>
              <a:tblPr firstRow="1">
                <a:tableStyleId>{793D81CF-94F2-401A-BA57-92F5A7B2D0C5}</a:tableStyleId>
              </a:tblPr>
              <a:tblGrid>
                <a:gridCol w="1682591">
                  <a:extLst>
                    <a:ext uri="{9D8B030D-6E8A-4147-A177-3AD203B41FA5}">
                      <a16:colId xmlns:a16="http://schemas.microsoft.com/office/drawing/2014/main" val="691066506"/>
                    </a:ext>
                  </a:extLst>
                </a:gridCol>
                <a:gridCol w="869965">
                  <a:extLst>
                    <a:ext uri="{9D8B030D-6E8A-4147-A177-3AD203B41FA5}">
                      <a16:colId xmlns:a16="http://schemas.microsoft.com/office/drawing/2014/main" val="717944450"/>
                    </a:ext>
                  </a:extLst>
                </a:gridCol>
                <a:gridCol w="869965">
                  <a:extLst>
                    <a:ext uri="{9D8B030D-6E8A-4147-A177-3AD203B41FA5}">
                      <a16:colId xmlns:a16="http://schemas.microsoft.com/office/drawing/2014/main" val="1573940898"/>
                    </a:ext>
                  </a:extLst>
                </a:gridCol>
                <a:gridCol w="869965">
                  <a:extLst>
                    <a:ext uri="{9D8B030D-6E8A-4147-A177-3AD203B41FA5}">
                      <a16:colId xmlns:a16="http://schemas.microsoft.com/office/drawing/2014/main" val="1030158973"/>
                    </a:ext>
                  </a:extLst>
                </a:gridCol>
                <a:gridCol w="869965">
                  <a:extLst>
                    <a:ext uri="{9D8B030D-6E8A-4147-A177-3AD203B41FA5}">
                      <a16:colId xmlns:a16="http://schemas.microsoft.com/office/drawing/2014/main" val="2808795746"/>
                    </a:ext>
                  </a:extLst>
                </a:gridCol>
                <a:gridCol w="869965">
                  <a:extLst>
                    <a:ext uri="{9D8B030D-6E8A-4147-A177-3AD203B41FA5}">
                      <a16:colId xmlns:a16="http://schemas.microsoft.com/office/drawing/2014/main" val="3698412274"/>
                    </a:ext>
                  </a:extLst>
                </a:gridCol>
                <a:gridCol w="869965">
                  <a:extLst>
                    <a:ext uri="{9D8B030D-6E8A-4147-A177-3AD203B41FA5}">
                      <a16:colId xmlns:a16="http://schemas.microsoft.com/office/drawing/2014/main" val="2245610178"/>
                    </a:ext>
                  </a:extLst>
                </a:gridCol>
                <a:gridCol w="869965">
                  <a:extLst>
                    <a:ext uri="{9D8B030D-6E8A-4147-A177-3AD203B41FA5}">
                      <a16:colId xmlns:a16="http://schemas.microsoft.com/office/drawing/2014/main" val="3513746487"/>
                    </a:ext>
                  </a:extLst>
                </a:gridCol>
                <a:gridCol w="869965">
                  <a:extLst>
                    <a:ext uri="{9D8B030D-6E8A-4147-A177-3AD203B41FA5}">
                      <a16:colId xmlns:a16="http://schemas.microsoft.com/office/drawing/2014/main" val="1665823349"/>
                    </a:ext>
                  </a:extLst>
                </a:gridCol>
                <a:gridCol w="869965">
                  <a:extLst>
                    <a:ext uri="{9D8B030D-6E8A-4147-A177-3AD203B41FA5}">
                      <a16:colId xmlns:a16="http://schemas.microsoft.com/office/drawing/2014/main" val="970440006"/>
                    </a:ext>
                  </a:extLst>
                </a:gridCol>
                <a:gridCol w="869965">
                  <a:extLst>
                    <a:ext uri="{9D8B030D-6E8A-4147-A177-3AD203B41FA5}">
                      <a16:colId xmlns:a16="http://schemas.microsoft.com/office/drawing/2014/main" val="2662298946"/>
                    </a:ext>
                  </a:extLst>
                </a:gridCol>
                <a:gridCol w="869965">
                  <a:extLst>
                    <a:ext uri="{9D8B030D-6E8A-4147-A177-3AD203B41FA5}">
                      <a16:colId xmlns:a16="http://schemas.microsoft.com/office/drawing/2014/main" val="497091191"/>
                    </a:ext>
                  </a:extLst>
                </a:gridCol>
              </a:tblGrid>
              <a:tr h="209177">
                <a:tc>
                  <a:txBody>
                    <a:bodyPr/>
                    <a:lstStyle/>
                    <a:p>
                      <a:pPr algn="l" fontAlgn="b"/>
                      <a:r>
                        <a:rPr lang="en-IN" sz="1200" b="1" i="0" u="none" strike="noStrike" dirty="0" smtClean="0">
                          <a:solidFill>
                            <a:schemeClr val="bg1"/>
                          </a:solidFill>
                          <a:effectLst/>
                          <a:latin typeface="+mj-lt"/>
                        </a:rPr>
                        <a:t>NPR </a:t>
                      </a:r>
                      <a:r>
                        <a:rPr lang="en-IN" sz="1200" b="1" i="0" u="none" strike="noStrike" dirty="0" err="1" smtClean="0">
                          <a:solidFill>
                            <a:schemeClr val="bg1"/>
                          </a:solidFill>
                          <a:effectLst/>
                          <a:latin typeface="+mj-lt"/>
                        </a:rPr>
                        <a:t>Mn</a:t>
                      </a:r>
                      <a:endParaRPr lang="en-IN" sz="1200" b="1" i="0" u="none" strike="noStrike" dirty="0">
                        <a:solidFill>
                          <a:schemeClr val="bg1"/>
                        </a:solidFill>
                        <a:effectLst/>
                        <a:latin typeface="+mj-lt"/>
                      </a:endParaRPr>
                    </a:p>
                  </a:txBody>
                  <a:tcPr marL="0" marR="0" marT="0" marB="0" anchor="ctr"/>
                </a:tc>
                <a:tc>
                  <a:txBody>
                    <a:bodyPr/>
                    <a:lstStyle/>
                    <a:p>
                      <a:pPr algn="ctr" fontAlgn="b"/>
                      <a:r>
                        <a:rPr lang="en-IN" sz="1200" u="none" strike="noStrike" dirty="0">
                          <a:effectLst/>
                          <a:latin typeface="+mj-lt"/>
                        </a:rPr>
                        <a:t>FY19</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FY20</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FY21</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FY22</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FY23</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FY24</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FY25</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FY26</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a:effectLst/>
                          <a:latin typeface="+mj-lt"/>
                        </a:rPr>
                        <a:t>FY27</a:t>
                      </a:r>
                      <a:endParaRPr lang="en-IN" sz="1200" b="0" i="0" u="none" strike="noStrike" dirty="0">
                        <a:solidFill>
                          <a:srgbClr val="000000"/>
                        </a:solidFill>
                        <a:effectLst/>
                        <a:latin typeface="+mj-lt"/>
                      </a:endParaRPr>
                    </a:p>
                  </a:txBody>
                  <a:tcPr marL="0" marR="0" marT="0" marB="0" anchor="ctr"/>
                </a:tc>
                <a:tc>
                  <a:txBody>
                    <a:bodyPr/>
                    <a:lstStyle/>
                    <a:p>
                      <a:pPr algn="ctr" fontAlgn="b"/>
                      <a:r>
                        <a:rPr lang="en-IN" sz="1200" u="none" strike="noStrike" dirty="0" smtClean="0">
                          <a:effectLst/>
                          <a:latin typeface="+mj-lt"/>
                        </a:rPr>
                        <a:t>FY28</a:t>
                      </a:r>
                      <a:endParaRPr lang="en-IN" sz="1200" b="0" i="0" u="none" strike="noStrike" dirty="0">
                        <a:solidFill>
                          <a:srgbClr val="000000"/>
                        </a:solidFill>
                        <a:effectLst/>
                        <a:latin typeface="+mj-lt"/>
                      </a:endParaRPr>
                    </a:p>
                  </a:txBody>
                  <a:tcPr marL="0" marR="0" marT="0" marB="0" anchor="ctr"/>
                </a:tc>
                <a:tc>
                  <a:txBody>
                    <a:bodyPr/>
                    <a:lstStyle/>
                    <a:p>
                      <a:pPr algn="ctr" fontAlgn="b"/>
                      <a:r>
                        <a:rPr lang="en-US" sz="1200" b="1" i="0" u="none" strike="noStrike" dirty="0" smtClean="0">
                          <a:solidFill>
                            <a:schemeClr val="bg1"/>
                          </a:solidFill>
                          <a:effectLst/>
                          <a:latin typeface="+mj-lt"/>
                        </a:rPr>
                        <a:t>Total</a:t>
                      </a:r>
                      <a:endParaRPr lang="en-IN" sz="1200" b="1" i="0" u="none" strike="noStrike" dirty="0">
                        <a:solidFill>
                          <a:schemeClr val="bg1"/>
                        </a:solidFill>
                        <a:effectLst/>
                        <a:latin typeface="+mj-lt"/>
                      </a:endParaRPr>
                    </a:p>
                  </a:txBody>
                  <a:tcPr marL="0" marR="0" marT="0" marB="0" anchor="ctr"/>
                </a:tc>
                <a:extLst>
                  <a:ext uri="{0D108BD9-81ED-4DB2-BD59-A6C34878D82A}">
                    <a16:rowId xmlns:a16="http://schemas.microsoft.com/office/drawing/2014/main" val="3651055959"/>
                  </a:ext>
                </a:extLst>
              </a:tr>
              <a:tr h="219636">
                <a:tc>
                  <a:txBody>
                    <a:bodyPr/>
                    <a:lstStyle/>
                    <a:p>
                      <a:pPr algn="l" fontAlgn="b"/>
                      <a:r>
                        <a:rPr lang="en-IN" sz="1200" b="0" i="0" u="none" strike="noStrike" dirty="0" smtClean="0">
                          <a:solidFill>
                            <a:srgbClr val="000000"/>
                          </a:solidFill>
                          <a:effectLst/>
                          <a:latin typeface="+mj-lt"/>
                        </a:rPr>
                        <a:t>Upper </a:t>
                      </a:r>
                      <a:r>
                        <a:rPr lang="en-IN" sz="1200" b="0" i="0" u="none" strike="noStrike" dirty="0" err="1" smtClean="0">
                          <a:solidFill>
                            <a:srgbClr val="000000"/>
                          </a:solidFill>
                          <a:effectLst/>
                          <a:latin typeface="+mj-lt"/>
                        </a:rPr>
                        <a:t>Tamakoshi</a:t>
                      </a:r>
                      <a:endParaRPr lang="en-IN" sz="1200" b="0" i="0" u="none" strike="noStrike" dirty="0">
                        <a:solidFill>
                          <a:srgbClr val="000000"/>
                        </a:solidFill>
                        <a:effectLst/>
                        <a:latin typeface="+mj-lt"/>
                      </a:endParaRPr>
                    </a:p>
                  </a:txBody>
                  <a:tcPr marL="7620" marR="7620" marT="762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0 </a:t>
                      </a:r>
                    </a:p>
                  </a:txBody>
                  <a:tcPr marL="0" marR="0" marT="0" marB="0" anchor="ctr">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19380043"/>
                  </a:ext>
                </a:extLst>
              </a:tr>
              <a:tr h="219636">
                <a:tc>
                  <a:txBody>
                    <a:bodyPr/>
                    <a:lstStyle/>
                    <a:p>
                      <a:pPr algn="l" fontAlgn="b"/>
                      <a:r>
                        <a:rPr lang="en-US" sz="1200" b="0" i="0" u="none" strike="noStrike" dirty="0" err="1" smtClean="0">
                          <a:solidFill>
                            <a:srgbClr val="000000"/>
                          </a:solidFill>
                          <a:effectLst/>
                          <a:latin typeface="+mj-lt"/>
                        </a:rPr>
                        <a:t>Sanjen</a:t>
                      </a:r>
                      <a:r>
                        <a:rPr lang="en-US" sz="1200" b="0" i="0" u="none" strike="noStrike" dirty="0" smtClean="0">
                          <a:solidFill>
                            <a:srgbClr val="000000"/>
                          </a:solidFill>
                          <a:effectLst/>
                          <a:latin typeface="+mj-lt"/>
                        </a:rPr>
                        <a:t> </a:t>
                      </a:r>
                      <a:r>
                        <a:rPr lang="en-US" sz="1200" b="0" i="0" u="none" strike="noStrike" dirty="0">
                          <a:solidFill>
                            <a:srgbClr val="000000"/>
                          </a:solidFill>
                          <a:effectLst/>
                          <a:latin typeface="+mj-lt"/>
                        </a:rPr>
                        <a:t>Hydro </a:t>
                      </a:r>
                      <a:r>
                        <a:rPr lang="en-US" sz="1200" b="0" i="0" u="none" strike="noStrike" dirty="0" smtClean="0">
                          <a:solidFill>
                            <a:srgbClr val="000000"/>
                          </a:solidFill>
                          <a:effectLst/>
                          <a:latin typeface="+mj-lt"/>
                        </a:rPr>
                        <a:t>Power</a:t>
                      </a:r>
                      <a:endParaRPr lang="en-US"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045894840"/>
                  </a:ext>
                </a:extLst>
              </a:tr>
              <a:tr h="219636">
                <a:tc>
                  <a:txBody>
                    <a:bodyPr/>
                    <a:lstStyle/>
                    <a:p>
                      <a:pPr algn="l" fontAlgn="b"/>
                      <a:r>
                        <a:rPr lang="en-IN" sz="1200" b="0" i="0" u="none" strike="noStrike" dirty="0" err="1" smtClean="0">
                          <a:solidFill>
                            <a:srgbClr val="000000"/>
                          </a:solidFill>
                          <a:effectLst/>
                          <a:latin typeface="+mj-lt"/>
                        </a:rPr>
                        <a:t>Rashuwagadhi</a:t>
                      </a:r>
                      <a:r>
                        <a:rPr lang="en-IN" sz="1200" b="0" i="0" u="none" strike="noStrike" dirty="0" smtClean="0">
                          <a:solidFill>
                            <a:srgbClr val="000000"/>
                          </a:solidFill>
                          <a:effectLst/>
                          <a:latin typeface="+mj-lt"/>
                        </a:rPr>
                        <a:t> Hydro</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37551126"/>
                  </a:ext>
                </a:extLst>
              </a:tr>
              <a:tr h="219636">
                <a:tc>
                  <a:txBody>
                    <a:bodyPr/>
                    <a:lstStyle/>
                    <a:p>
                      <a:pPr algn="l" fontAlgn="b"/>
                      <a:r>
                        <a:rPr lang="en-US" sz="1200" b="0" i="0" u="none" strike="noStrike" dirty="0" err="1" smtClean="0">
                          <a:solidFill>
                            <a:srgbClr val="000000"/>
                          </a:solidFill>
                          <a:effectLst/>
                          <a:latin typeface="+mj-lt"/>
                        </a:rPr>
                        <a:t>Trishuli</a:t>
                      </a:r>
                      <a:r>
                        <a:rPr lang="en-US" sz="1200" b="0" i="0" u="none" strike="noStrike" dirty="0" smtClean="0">
                          <a:solidFill>
                            <a:srgbClr val="000000"/>
                          </a:solidFill>
                          <a:effectLst/>
                          <a:latin typeface="+mj-lt"/>
                        </a:rPr>
                        <a:t> </a:t>
                      </a:r>
                      <a:r>
                        <a:rPr lang="en-US" sz="1200" b="0" i="0" u="none" strike="noStrike" dirty="0">
                          <a:solidFill>
                            <a:srgbClr val="000000"/>
                          </a:solidFill>
                          <a:effectLst/>
                          <a:latin typeface="+mj-lt"/>
                        </a:rPr>
                        <a:t>Jal </a:t>
                      </a:r>
                      <a:r>
                        <a:rPr lang="en-US" sz="1200" b="0" i="0" u="none" strike="noStrike" dirty="0" err="1" smtClean="0">
                          <a:solidFill>
                            <a:srgbClr val="000000"/>
                          </a:solidFill>
                          <a:effectLst/>
                          <a:latin typeface="+mj-lt"/>
                        </a:rPr>
                        <a:t>Bidhyut</a:t>
                      </a:r>
                      <a:endParaRPr lang="en-US"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189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194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383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92344761"/>
                  </a:ext>
                </a:extLst>
              </a:tr>
              <a:tr h="219636">
                <a:tc>
                  <a:txBody>
                    <a:bodyPr/>
                    <a:lstStyle/>
                    <a:p>
                      <a:pPr algn="l" fontAlgn="b"/>
                      <a:r>
                        <a:rPr lang="en-US" sz="1200" b="0" i="0" u="none" strike="noStrike" dirty="0" smtClean="0">
                          <a:solidFill>
                            <a:srgbClr val="000000"/>
                          </a:solidFill>
                          <a:effectLst/>
                          <a:latin typeface="+mj-lt"/>
                        </a:rPr>
                        <a:t>Middle </a:t>
                      </a:r>
                      <a:r>
                        <a:rPr lang="en-US" sz="1200" b="0" i="0" u="none" strike="noStrike" dirty="0" err="1" smtClean="0">
                          <a:solidFill>
                            <a:srgbClr val="000000"/>
                          </a:solidFill>
                          <a:effectLst/>
                          <a:latin typeface="+mj-lt"/>
                        </a:rPr>
                        <a:t>Bhotekoshi</a:t>
                      </a:r>
                      <a:endParaRPr lang="en-US"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37577735"/>
                  </a:ext>
                </a:extLst>
              </a:tr>
              <a:tr h="219636">
                <a:tc>
                  <a:txBody>
                    <a:bodyPr/>
                    <a:lstStyle/>
                    <a:p>
                      <a:pPr algn="l" fontAlgn="b"/>
                      <a:r>
                        <a:rPr lang="en-US" sz="1200" b="0" i="0" u="none" strike="noStrike" dirty="0" err="1" smtClean="0">
                          <a:solidFill>
                            <a:srgbClr val="000000"/>
                          </a:solidFill>
                          <a:effectLst/>
                          <a:latin typeface="+mj-lt"/>
                        </a:rPr>
                        <a:t>Tanahun</a:t>
                      </a:r>
                      <a:r>
                        <a:rPr lang="en-US" sz="1200" b="0" i="0" u="none" strike="noStrike" dirty="0" smtClean="0">
                          <a:solidFill>
                            <a:srgbClr val="000000"/>
                          </a:solidFill>
                          <a:effectLst/>
                          <a:latin typeface="+mj-lt"/>
                        </a:rPr>
                        <a:t> Hydropower</a:t>
                      </a:r>
                      <a:endParaRPr lang="en-US"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812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851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1,076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1,653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4,392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56796722"/>
                  </a:ext>
                </a:extLst>
              </a:tr>
              <a:tr h="219636">
                <a:tc>
                  <a:txBody>
                    <a:bodyPr/>
                    <a:lstStyle/>
                    <a:p>
                      <a:pPr algn="l" fontAlgn="b"/>
                      <a:r>
                        <a:rPr lang="en-IN" sz="1200" b="0" i="0" u="none" strike="noStrike" dirty="0" err="1" smtClean="0">
                          <a:solidFill>
                            <a:srgbClr val="000000"/>
                          </a:solidFill>
                          <a:effectLst/>
                          <a:latin typeface="+mj-lt"/>
                        </a:rPr>
                        <a:t>Tamor</a:t>
                      </a:r>
                      <a:r>
                        <a:rPr lang="en-IN" sz="1200" b="0" i="0" u="none" strike="noStrike" dirty="0" smtClean="0">
                          <a:solidFill>
                            <a:srgbClr val="000000"/>
                          </a:solidFill>
                          <a:effectLst/>
                          <a:latin typeface="+mj-lt"/>
                        </a:rPr>
                        <a:t>  </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68223903"/>
                  </a:ext>
                </a:extLst>
              </a:tr>
              <a:tr h="219636">
                <a:tc>
                  <a:txBody>
                    <a:bodyPr/>
                    <a:lstStyle/>
                    <a:p>
                      <a:pPr algn="l" fontAlgn="b"/>
                      <a:r>
                        <a:rPr lang="en-IN" sz="1200" b="0" i="0" u="none" strike="noStrike" dirty="0" err="1" smtClean="0">
                          <a:solidFill>
                            <a:srgbClr val="000000"/>
                          </a:solidFill>
                          <a:effectLst/>
                          <a:latin typeface="+mj-lt"/>
                        </a:rPr>
                        <a:t>Andhikhola</a:t>
                      </a:r>
                      <a:r>
                        <a:rPr lang="en-IN" sz="1200" b="0" i="0" u="none" strike="noStrike" dirty="0" smtClean="0">
                          <a:solidFill>
                            <a:srgbClr val="000000"/>
                          </a:solidFill>
                          <a:effectLst/>
                          <a:latin typeface="+mj-lt"/>
                        </a:rPr>
                        <a:t> Power</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42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50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100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131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142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260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921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921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2,697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5889379"/>
                  </a:ext>
                </a:extLst>
              </a:tr>
              <a:tr h="219636">
                <a:tc>
                  <a:txBody>
                    <a:bodyPr/>
                    <a:lstStyle/>
                    <a:p>
                      <a:pPr algn="l" fontAlgn="b"/>
                      <a:r>
                        <a:rPr lang="en-IN" sz="1200" b="0" i="0" u="none" strike="noStrike" dirty="0" err="1" smtClean="0">
                          <a:solidFill>
                            <a:srgbClr val="000000"/>
                          </a:solidFill>
                          <a:effectLst/>
                          <a:latin typeface="+mj-lt"/>
                        </a:rPr>
                        <a:t>Tamakoshi</a:t>
                      </a:r>
                      <a:r>
                        <a:rPr lang="en-IN" sz="1200" b="0" i="0" u="none" strike="noStrike" dirty="0" smtClean="0">
                          <a:solidFill>
                            <a:srgbClr val="000000"/>
                          </a:solidFill>
                          <a:effectLst/>
                          <a:latin typeface="+mj-lt"/>
                        </a:rPr>
                        <a:t> </a:t>
                      </a:r>
                      <a:r>
                        <a:rPr lang="en-IN" sz="1200" b="0" i="0" u="none" strike="noStrike" dirty="0" err="1" smtClean="0">
                          <a:solidFill>
                            <a:srgbClr val="000000"/>
                          </a:solidFill>
                          <a:effectLst/>
                          <a:latin typeface="+mj-lt"/>
                        </a:rPr>
                        <a:t>Jalvidyut</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323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814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785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473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2,394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35817673"/>
                  </a:ext>
                </a:extLst>
              </a:tr>
              <a:tr h="219636">
                <a:tc>
                  <a:txBody>
                    <a:bodyPr/>
                    <a:lstStyle/>
                    <a:p>
                      <a:pPr algn="l" fontAlgn="b"/>
                      <a:r>
                        <a:rPr lang="en-IN" sz="1200" b="0" i="0" u="none" strike="noStrike" dirty="0" err="1" smtClean="0">
                          <a:solidFill>
                            <a:srgbClr val="000000"/>
                          </a:solidFill>
                          <a:effectLst/>
                          <a:latin typeface="+mj-lt"/>
                        </a:rPr>
                        <a:t>Dudhkoshi</a:t>
                      </a:r>
                      <a:r>
                        <a:rPr lang="en-IN" sz="1200" b="0" i="0" u="none" strike="noStrike" dirty="0" smtClean="0">
                          <a:solidFill>
                            <a:srgbClr val="000000"/>
                          </a:solidFill>
                          <a:effectLst/>
                          <a:latin typeface="+mj-lt"/>
                        </a:rPr>
                        <a:t> </a:t>
                      </a:r>
                      <a:r>
                        <a:rPr lang="en-IN" sz="1200" b="0" i="0" u="none" strike="noStrike" dirty="0" err="1" smtClean="0">
                          <a:solidFill>
                            <a:srgbClr val="000000"/>
                          </a:solidFill>
                          <a:effectLst/>
                          <a:latin typeface="+mj-lt"/>
                        </a:rPr>
                        <a:t>Jalvidyut</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1,091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1,445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3,206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3,206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3,206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3,206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1,454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1,454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18,661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40953231"/>
                  </a:ext>
                </a:extLst>
              </a:tr>
              <a:tr h="219636">
                <a:tc>
                  <a:txBody>
                    <a:bodyPr/>
                    <a:lstStyle/>
                    <a:p>
                      <a:pPr algn="l" fontAlgn="b"/>
                      <a:r>
                        <a:rPr lang="en-IN" sz="1200" b="0" i="0" u="none" strike="noStrike" dirty="0" smtClean="0">
                          <a:solidFill>
                            <a:srgbClr val="000000"/>
                          </a:solidFill>
                          <a:effectLst/>
                          <a:latin typeface="+mj-lt"/>
                        </a:rPr>
                        <a:t>Modi </a:t>
                      </a:r>
                      <a:r>
                        <a:rPr lang="en-IN" sz="1200" b="0" i="0" u="none" strike="noStrike" dirty="0" err="1" smtClean="0">
                          <a:solidFill>
                            <a:srgbClr val="000000"/>
                          </a:solidFill>
                          <a:effectLst/>
                          <a:latin typeface="+mj-lt"/>
                        </a:rPr>
                        <a:t>Jalvidyut</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155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459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492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582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284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81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2,054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47102715"/>
                  </a:ext>
                </a:extLst>
              </a:tr>
              <a:tr h="219636">
                <a:tc>
                  <a:txBody>
                    <a:bodyPr/>
                    <a:lstStyle/>
                    <a:p>
                      <a:pPr algn="l" fontAlgn="b"/>
                      <a:r>
                        <a:rPr lang="en-IN" sz="1200" b="0" i="0" u="none" strike="noStrike" dirty="0" err="1" smtClean="0">
                          <a:solidFill>
                            <a:srgbClr val="000000"/>
                          </a:solidFill>
                          <a:effectLst/>
                          <a:latin typeface="+mj-lt"/>
                        </a:rPr>
                        <a:t>Uttarganga</a:t>
                      </a:r>
                      <a:r>
                        <a:rPr lang="en-IN" sz="1200" b="0" i="0" u="none" strike="noStrike" dirty="0" smtClean="0">
                          <a:solidFill>
                            <a:srgbClr val="000000"/>
                          </a:solidFill>
                          <a:effectLst/>
                          <a:latin typeface="+mj-lt"/>
                        </a:rPr>
                        <a:t> Power</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500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1,073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2,956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a:solidFill>
                            <a:srgbClr val="000000"/>
                          </a:solidFill>
                          <a:effectLst/>
                          <a:latin typeface="+mj-lt"/>
                        </a:rPr>
                        <a:t>19,507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539472191"/>
                  </a:ext>
                </a:extLst>
              </a:tr>
              <a:tr h="219636">
                <a:tc>
                  <a:txBody>
                    <a:bodyPr/>
                    <a:lstStyle/>
                    <a:p>
                      <a:pPr algn="l" fontAlgn="b"/>
                      <a:r>
                        <a:rPr lang="en-IN" sz="1200" b="0" i="0" u="none" strike="noStrike" dirty="0" err="1" smtClean="0">
                          <a:solidFill>
                            <a:srgbClr val="000000"/>
                          </a:solidFill>
                          <a:effectLst/>
                          <a:latin typeface="+mj-lt"/>
                        </a:rPr>
                        <a:t>Raghuganga</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345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351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230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926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9163583"/>
                  </a:ext>
                </a:extLst>
              </a:tr>
              <a:tr h="219636">
                <a:tc>
                  <a:txBody>
                    <a:bodyPr/>
                    <a:lstStyle/>
                    <a:p>
                      <a:pPr algn="l" fontAlgn="b"/>
                      <a:r>
                        <a:rPr lang="en-US" sz="1200" b="0" i="0" u="none" strike="noStrike" dirty="0" smtClean="0">
                          <a:solidFill>
                            <a:srgbClr val="000000"/>
                          </a:solidFill>
                          <a:effectLst/>
                          <a:latin typeface="+mj-lt"/>
                        </a:rPr>
                        <a:t>Upper </a:t>
                      </a:r>
                      <a:r>
                        <a:rPr lang="en-US" sz="1200" b="0" i="0" u="none" strike="noStrike" dirty="0">
                          <a:solidFill>
                            <a:srgbClr val="000000"/>
                          </a:solidFill>
                          <a:effectLst/>
                          <a:latin typeface="+mj-lt"/>
                        </a:rPr>
                        <a:t>Arun </a:t>
                      </a:r>
                      <a:r>
                        <a:rPr lang="en-US" sz="1200" b="0" i="0" u="none" strike="noStrike" dirty="0" smtClean="0">
                          <a:solidFill>
                            <a:srgbClr val="000000"/>
                          </a:solidFill>
                          <a:effectLst/>
                          <a:latin typeface="+mj-lt"/>
                        </a:rPr>
                        <a:t>Hydro</a:t>
                      </a:r>
                      <a:endParaRPr lang="en-US"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645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645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317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441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5,749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5,749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5,749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19,293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96104154"/>
                  </a:ext>
                </a:extLst>
              </a:tr>
              <a:tr h="219636">
                <a:tc>
                  <a:txBody>
                    <a:bodyPr/>
                    <a:lstStyle/>
                    <a:p>
                      <a:pPr algn="l" fontAlgn="b"/>
                      <a:r>
                        <a:rPr lang="en-IN" sz="1200" b="0" i="0" u="none" strike="noStrike" dirty="0" err="1" smtClean="0">
                          <a:solidFill>
                            <a:srgbClr val="000000"/>
                          </a:solidFill>
                          <a:effectLst/>
                          <a:latin typeface="+mj-lt"/>
                        </a:rPr>
                        <a:t>Chainpur</a:t>
                      </a:r>
                      <a:r>
                        <a:rPr lang="en-IN" sz="1200" b="0" i="0" u="none" strike="noStrike" dirty="0" smtClean="0">
                          <a:solidFill>
                            <a:srgbClr val="000000"/>
                          </a:solidFill>
                          <a:effectLst/>
                          <a:latin typeface="+mj-lt"/>
                        </a:rPr>
                        <a:t> </a:t>
                      </a:r>
                      <a:r>
                        <a:rPr lang="en-IN" sz="1200" b="0" i="0" u="none" strike="noStrike" dirty="0" err="1">
                          <a:solidFill>
                            <a:srgbClr val="000000"/>
                          </a:solidFill>
                          <a:effectLst/>
                          <a:latin typeface="+mj-lt"/>
                        </a:rPr>
                        <a:t>Seti</a:t>
                      </a:r>
                      <a:r>
                        <a:rPr lang="en-IN" sz="1200" b="0" i="0" u="none" strike="noStrike" dirty="0">
                          <a:solidFill>
                            <a:srgbClr val="000000"/>
                          </a:solidFill>
                          <a:effectLst/>
                          <a:latin typeface="+mj-lt"/>
                        </a:rPr>
                        <a:t> </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8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80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91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754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1,398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1,398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1,398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1,398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6,525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16045896"/>
                  </a:ext>
                </a:extLst>
              </a:tr>
              <a:tr h="219636">
                <a:tc>
                  <a:txBody>
                    <a:bodyPr/>
                    <a:lstStyle/>
                    <a:p>
                      <a:pPr algn="l" fontAlgn="b"/>
                      <a:r>
                        <a:rPr lang="en-IN" sz="1200" b="0" i="0" u="none" strike="noStrike" dirty="0" err="1" smtClean="0">
                          <a:solidFill>
                            <a:srgbClr val="000000"/>
                          </a:solidFill>
                          <a:effectLst/>
                          <a:latin typeface="+mj-lt"/>
                        </a:rPr>
                        <a:t>Begnas</a:t>
                      </a:r>
                      <a:r>
                        <a:rPr lang="en-IN" sz="1200" b="0" i="0" u="none" strike="noStrike" dirty="0" smtClean="0">
                          <a:solidFill>
                            <a:srgbClr val="000000"/>
                          </a:solidFill>
                          <a:effectLst/>
                          <a:latin typeface="+mj-lt"/>
                        </a:rPr>
                        <a:t> </a:t>
                      </a:r>
                      <a:r>
                        <a:rPr lang="en-IN" sz="1200" b="0" i="0" u="none" strike="noStrike" dirty="0" err="1">
                          <a:solidFill>
                            <a:srgbClr val="000000"/>
                          </a:solidFill>
                          <a:effectLst/>
                          <a:latin typeface="+mj-lt"/>
                        </a:rPr>
                        <a:t>Rupa</a:t>
                      </a:r>
                      <a:r>
                        <a:rPr lang="en-IN" sz="1200" b="0" i="0" u="none" strike="noStrike" dirty="0">
                          <a:solidFill>
                            <a:srgbClr val="000000"/>
                          </a:solidFill>
                          <a:effectLst/>
                          <a:latin typeface="+mj-lt"/>
                        </a:rPr>
                        <a:t> HPP </a:t>
                      </a: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10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10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4169222"/>
                  </a:ext>
                </a:extLst>
              </a:tr>
              <a:tr h="219636">
                <a:tc>
                  <a:txBody>
                    <a:bodyPr/>
                    <a:lstStyle/>
                    <a:p>
                      <a:pPr algn="l" fontAlgn="b"/>
                      <a:r>
                        <a:rPr lang="en-IN" sz="1200" b="0" i="0" u="none" strike="noStrike" dirty="0" smtClean="0">
                          <a:solidFill>
                            <a:srgbClr val="000000"/>
                          </a:solidFill>
                          <a:effectLst/>
                          <a:latin typeface="+mj-lt"/>
                        </a:rPr>
                        <a:t>Upper </a:t>
                      </a:r>
                      <a:r>
                        <a:rPr lang="en-IN" sz="1200" b="0" i="0" u="none" strike="noStrike" dirty="0" err="1" smtClean="0">
                          <a:solidFill>
                            <a:srgbClr val="000000"/>
                          </a:solidFill>
                          <a:effectLst/>
                          <a:latin typeface="+mj-lt"/>
                        </a:rPr>
                        <a:t>Sanjen</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791631926"/>
                  </a:ext>
                </a:extLst>
              </a:tr>
              <a:tr h="219636">
                <a:tc>
                  <a:txBody>
                    <a:bodyPr/>
                    <a:lstStyle/>
                    <a:p>
                      <a:pPr algn="l" fontAlgn="b"/>
                      <a:r>
                        <a:rPr lang="en-IN" sz="1200" b="0" i="0" u="none" strike="noStrike" dirty="0" err="1" smtClean="0">
                          <a:solidFill>
                            <a:srgbClr val="000000"/>
                          </a:solidFill>
                          <a:effectLst/>
                          <a:latin typeface="+mj-lt"/>
                        </a:rPr>
                        <a:t>Budhigandaki</a:t>
                      </a:r>
                      <a:r>
                        <a:rPr lang="en-IN" sz="1200" b="0" i="0" u="none" strike="noStrike" dirty="0" smtClean="0">
                          <a:solidFill>
                            <a:srgbClr val="000000"/>
                          </a:solidFill>
                          <a:effectLst/>
                          <a:latin typeface="+mj-lt"/>
                        </a:rPr>
                        <a:t>  </a:t>
                      </a:r>
                      <a:endParaRPr lang="en-IN" sz="1200" b="0"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0"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noFill/>
                  </a:tcPr>
                </a:tc>
                <a:tc>
                  <a:txBody>
                    <a:bodyPr/>
                    <a:lstStyle/>
                    <a:p>
                      <a:pPr algn="r" fontAlgn="b"/>
                      <a:r>
                        <a:rPr lang="en-IN" sz="1200" b="1" i="0" u="none" strike="noStrike" dirty="0">
                          <a:solidFill>
                            <a:srgbClr val="000000"/>
                          </a:solidFill>
                          <a:effectLst/>
                          <a:latin typeface="+mj-lt"/>
                        </a:rPr>
                        <a:t>0 </a:t>
                      </a:r>
                    </a:p>
                  </a:txBody>
                  <a:tcPr marL="0" marR="0" marT="0" marB="0" anchor="ct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304150382"/>
                  </a:ext>
                </a:extLst>
              </a:tr>
              <a:tr h="219636">
                <a:tc>
                  <a:txBody>
                    <a:bodyPr/>
                    <a:lstStyle/>
                    <a:p>
                      <a:pPr algn="l" fontAlgn="b"/>
                      <a:r>
                        <a:rPr lang="en-IN" sz="1200" b="1" i="0" u="none" strike="noStrike" dirty="0" smtClean="0">
                          <a:solidFill>
                            <a:srgbClr val="000000"/>
                          </a:solidFill>
                          <a:effectLst/>
                          <a:latin typeface="+mj-lt"/>
                        </a:rPr>
                        <a:t>Total NEA’s Share</a:t>
                      </a:r>
                      <a:endParaRPr lang="en-IN" sz="1200" b="1" i="0" u="none" strike="noStrike" dirty="0">
                        <a:solidFill>
                          <a:srgbClr val="000000"/>
                        </a:solidFill>
                        <a:effectLst/>
                        <a:latin typeface="+mj-lt"/>
                      </a:endParaRPr>
                    </a:p>
                  </a:txBody>
                  <a:tcPr marL="7620" marR="7620" marT="762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2,708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3,831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a:solidFill>
                            <a:srgbClr val="000000"/>
                          </a:solidFill>
                          <a:effectLst/>
                          <a:latin typeface="+mj-lt"/>
                        </a:rPr>
                        <a:t>4,632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6,531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13,692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13,520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13,449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7,819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5,330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5,330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tc>
                  <a:txBody>
                    <a:bodyPr/>
                    <a:lstStyle/>
                    <a:p>
                      <a:pPr algn="r" fontAlgn="b"/>
                      <a:r>
                        <a:rPr lang="en-IN" sz="1200" b="1" i="0" u="none" strike="noStrike" dirty="0">
                          <a:solidFill>
                            <a:srgbClr val="000000"/>
                          </a:solidFill>
                          <a:effectLst/>
                          <a:latin typeface="+mj-lt"/>
                        </a:rPr>
                        <a:t>76,842 </a:t>
                      </a:r>
                    </a:p>
                  </a:txBody>
                  <a:tcPr marL="0" marR="0" marT="0" marB="0" anchor="ctr">
                    <a:lnT w="9525" cap="flat" cmpd="sng" algn="ctr">
                      <a:solidFill>
                        <a:schemeClr val="bg1">
                          <a:lumMod val="85000"/>
                        </a:schemeClr>
                      </a:solidFill>
                      <a:prstDash val="solid"/>
                      <a:round/>
                      <a:headEnd type="none" w="med" len="med"/>
                      <a:tailEnd type="none" w="med" len="med"/>
                    </a:lnT>
                    <a:solidFill>
                      <a:schemeClr val="accent6">
                        <a:lumMod val="20000"/>
                        <a:lumOff val="80000"/>
                      </a:schemeClr>
                    </a:solidFill>
                  </a:tcPr>
                </a:tc>
                <a:extLst>
                  <a:ext uri="{0D108BD9-81ED-4DB2-BD59-A6C34878D82A}">
                    <a16:rowId xmlns:a16="http://schemas.microsoft.com/office/drawing/2014/main" val="285270977"/>
                  </a:ext>
                </a:extLst>
              </a:tr>
            </a:tbl>
          </a:graphicData>
        </a:graphic>
      </p:graphicFrame>
    </p:spTree>
    <p:extLst>
      <p:ext uri="{BB962C8B-B14F-4D97-AF65-F5344CB8AC3E}">
        <p14:creationId xmlns:p14="http://schemas.microsoft.com/office/powerpoint/2010/main" val="3795301116"/>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Projected Financial Statements</a:t>
            </a:r>
            <a:endParaRPr lang="en-IN" dirty="0"/>
          </a:p>
        </p:txBody>
      </p:sp>
      <p:sp>
        <p:nvSpPr>
          <p:cNvPr id="4" name="Text Placeholder 3"/>
          <p:cNvSpPr>
            <a:spLocks noGrp="1"/>
          </p:cNvSpPr>
          <p:nvPr>
            <p:ph type="body" idx="1"/>
          </p:nvPr>
        </p:nvSpPr>
        <p:spPr/>
        <p:txBody>
          <a:bodyPr/>
          <a:lstStyle/>
          <a:p>
            <a:r>
              <a:rPr lang="en-US" dirty="0" smtClean="0"/>
              <a:t>No </a:t>
            </a:r>
            <a:r>
              <a:rPr lang="en-US" dirty="0"/>
              <a:t>Tariff Increase; 50% of surplus power </a:t>
            </a:r>
            <a:r>
              <a:rPr lang="en-US" dirty="0" smtClean="0"/>
              <a:t>export, No Revenue Subsidy, No Cash deficit loan</a:t>
            </a:r>
            <a:endParaRPr lang="en-IN" dirty="0"/>
          </a:p>
        </p:txBody>
      </p:sp>
    </p:spTree>
    <p:extLst>
      <p:ext uri="{BB962C8B-B14F-4D97-AF65-F5344CB8AC3E}">
        <p14:creationId xmlns:p14="http://schemas.microsoft.com/office/powerpoint/2010/main" val="3765525824"/>
      </p:ext>
    </p:extLst>
  </p:cSld>
  <p:clrMapOvr>
    <a:masterClrMapping/>
  </p:clrMapOvr>
  <p:transition>
    <p:fad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P&amp;L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4138989171"/>
              </p:ext>
            </p:extLst>
          </p:nvPr>
        </p:nvGraphicFramePr>
        <p:xfrm>
          <a:off x="469900" y="1197407"/>
          <a:ext cx="11252195" cy="4829292"/>
        </p:xfrm>
        <a:graphic>
          <a:graphicData uri="http://schemas.openxmlformats.org/drawingml/2006/table">
            <a:tbl>
              <a:tblPr firstRow="1">
                <a:tableStyleId>{793D81CF-94F2-401A-BA57-92F5A7B2D0C5}</a:tableStyleId>
              </a:tblPr>
              <a:tblGrid>
                <a:gridCol w="2561575">
                  <a:extLst>
                    <a:ext uri="{9D8B030D-6E8A-4147-A177-3AD203B41FA5}">
                      <a16:colId xmlns:a16="http://schemas.microsoft.com/office/drawing/2014/main" val="350733334"/>
                    </a:ext>
                  </a:extLst>
                </a:gridCol>
                <a:gridCol w="869062">
                  <a:extLst>
                    <a:ext uri="{9D8B030D-6E8A-4147-A177-3AD203B41FA5}">
                      <a16:colId xmlns:a16="http://schemas.microsoft.com/office/drawing/2014/main" val="1239126305"/>
                    </a:ext>
                  </a:extLst>
                </a:gridCol>
                <a:gridCol w="869062">
                  <a:extLst>
                    <a:ext uri="{9D8B030D-6E8A-4147-A177-3AD203B41FA5}">
                      <a16:colId xmlns:a16="http://schemas.microsoft.com/office/drawing/2014/main" val="1093410609"/>
                    </a:ext>
                  </a:extLst>
                </a:gridCol>
                <a:gridCol w="869062">
                  <a:extLst>
                    <a:ext uri="{9D8B030D-6E8A-4147-A177-3AD203B41FA5}">
                      <a16:colId xmlns:a16="http://schemas.microsoft.com/office/drawing/2014/main" val="2196093282"/>
                    </a:ext>
                  </a:extLst>
                </a:gridCol>
                <a:gridCol w="869062">
                  <a:extLst>
                    <a:ext uri="{9D8B030D-6E8A-4147-A177-3AD203B41FA5}">
                      <a16:colId xmlns:a16="http://schemas.microsoft.com/office/drawing/2014/main" val="2910930358"/>
                    </a:ext>
                  </a:extLst>
                </a:gridCol>
                <a:gridCol w="869062">
                  <a:extLst>
                    <a:ext uri="{9D8B030D-6E8A-4147-A177-3AD203B41FA5}">
                      <a16:colId xmlns:a16="http://schemas.microsoft.com/office/drawing/2014/main" val="3239141934"/>
                    </a:ext>
                  </a:extLst>
                </a:gridCol>
                <a:gridCol w="869062">
                  <a:extLst>
                    <a:ext uri="{9D8B030D-6E8A-4147-A177-3AD203B41FA5}">
                      <a16:colId xmlns:a16="http://schemas.microsoft.com/office/drawing/2014/main" val="799653384"/>
                    </a:ext>
                  </a:extLst>
                </a:gridCol>
                <a:gridCol w="869062">
                  <a:extLst>
                    <a:ext uri="{9D8B030D-6E8A-4147-A177-3AD203B41FA5}">
                      <a16:colId xmlns:a16="http://schemas.microsoft.com/office/drawing/2014/main" val="3579717024"/>
                    </a:ext>
                  </a:extLst>
                </a:gridCol>
                <a:gridCol w="869062">
                  <a:extLst>
                    <a:ext uri="{9D8B030D-6E8A-4147-A177-3AD203B41FA5}">
                      <a16:colId xmlns:a16="http://schemas.microsoft.com/office/drawing/2014/main" val="36818028"/>
                    </a:ext>
                  </a:extLst>
                </a:gridCol>
                <a:gridCol w="869062">
                  <a:extLst>
                    <a:ext uri="{9D8B030D-6E8A-4147-A177-3AD203B41FA5}">
                      <a16:colId xmlns:a16="http://schemas.microsoft.com/office/drawing/2014/main" val="1695051336"/>
                    </a:ext>
                  </a:extLst>
                </a:gridCol>
                <a:gridCol w="869062">
                  <a:extLst>
                    <a:ext uri="{9D8B030D-6E8A-4147-A177-3AD203B41FA5}">
                      <a16:colId xmlns:a16="http://schemas.microsoft.com/office/drawing/2014/main" val="589558514"/>
                    </a:ext>
                  </a:extLst>
                </a:gridCol>
              </a:tblGrid>
              <a:tr h="185742">
                <a:tc>
                  <a:txBody>
                    <a:bodyPr/>
                    <a:lstStyle/>
                    <a:p>
                      <a:pPr algn="l" fontAlgn="b"/>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120807174"/>
                  </a:ext>
                </a:extLst>
              </a:tr>
              <a:tr h="185742">
                <a:tc>
                  <a:txBody>
                    <a:bodyPr/>
                    <a:lstStyle/>
                    <a:p>
                      <a:pPr algn="l" fontAlgn="b"/>
                      <a:r>
                        <a:rPr lang="en-US" sz="900" b="1" u="none" strike="noStrike" dirty="0">
                          <a:effectLst/>
                          <a:latin typeface="+mj-lt"/>
                        </a:rPr>
                        <a:t> Revenue from Sale of </a:t>
                      </a:r>
                      <a:r>
                        <a:rPr lang="en-US" sz="900" b="1" u="none" strike="noStrike" dirty="0" smtClean="0">
                          <a:effectLst/>
                          <a:latin typeface="+mj-lt"/>
                        </a:rPr>
                        <a:t>Power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72018794"/>
                  </a:ext>
                </a:extLst>
              </a:tr>
              <a:tr h="185742">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337111832"/>
                  </a:ext>
                </a:extLst>
              </a:tr>
              <a:tr h="185742">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02098511"/>
                  </a:ext>
                </a:extLst>
              </a:tr>
              <a:tr h="185742">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4126853125"/>
                  </a:ext>
                </a:extLst>
              </a:tr>
              <a:tr h="185742">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1500806653"/>
                  </a:ext>
                </a:extLst>
              </a:tr>
              <a:tr h="185742">
                <a:tc>
                  <a:txBody>
                    <a:bodyPr/>
                    <a:lstStyle/>
                    <a:p>
                      <a:pPr algn="l" fontAlgn="b"/>
                      <a:r>
                        <a:rPr lang="en-IN" sz="900" u="none" strike="noStrike">
                          <a:effectLst/>
                          <a:latin typeface="+mj-lt"/>
                        </a:rPr>
                        <a:t> Expenditure </a:t>
                      </a:r>
                      <a:endParaRPr lang="en-IN" sz="900" b="1"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3161295"/>
                  </a:ext>
                </a:extLst>
              </a:tr>
              <a:tr h="185742">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795330765"/>
                  </a:ext>
                </a:extLst>
              </a:tr>
              <a:tr h="185742">
                <a:tc>
                  <a:txBody>
                    <a:bodyPr/>
                    <a:lstStyle/>
                    <a:p>
                      <a:pPr algn="l" fontAlgn="b"/>
                      <a:r>
                        <a:rPr lang="en-IN" sz="900" u="none" strike="noStrike">
                          <a:effectLst/>
                          <a:latin typeface="+mj-lt"/>
                        </a:rPr>
                        <a:t> Employee Expenses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12,869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14,460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15,327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17,222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18,255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21,742</a:t>
                      </a:r>
                    </a:p>
                  </a:txBody>
                  <a:tcPr marL="0" marR="0" marT="0" marB="0" anchor="ctr"/>
                </a:tc>
                <a:extLst>
                  <a:ext uri="{0D108BD9-81ED-4DB2-BD59-A6C34878D82A}">
                    <a16:rowId xmlns:a16="http://schemas.microsoft.com/office/drawing/2014/main" val="693021232"/>
                  </a:ext>
                </a:extLst>
              </a:tr>
              <a:tr h="185742">
                <a:tc>
                  <a:txBody>
                    <a:bodyPr/>
                    <a:lstStyle/>
                    <a:p>
                      <a:pPr algn="l" fontAlgn="b"/>
                      <a:r>
                        <a:rPr lang="en-IN" sz="900" u="none" strike="noStrike">
                          <a:effectLst/>
                          <a:latin typeface="+mj-lt"/>
                        </a:rPr>
                        <a:t> R&amp;M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2,890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4,882</a:t>
                      </a:r>
                    </a:p>
                  </a:txBody>
                  <a:tcPr marL="0" marR="0" marT="0" marB="0" anchor="ctr"/>
                </a:tc>
                <a:extLst>
                  <a:ext uri="{0D108BD9-81ED-4DB2-BD59-A6C34878D82A}">
                    <a16:rowId xmlns:a16="http://schemas.microsoft.com/office/drawing/2014/main" val="3589918772"/>
                  </a:ext>
                </a:extLst>
              </a:tr>
              <a:tr h="185742">
                <a:tc>
                  <a:txBody>
                    <a:bodyPr/>
                    <a:lstStyle/>
                    <a:p>
                      <a:pPr algn="l" fontAlgn="b"/>
                      <a:r>
                        <a:rPr lang="en-IN" sz="900" u="none" strike="noStrike">
                          <a:effectLst/>
                          <a:latin typeface="+mj-lt"/>
                        </a:rPr>
                        <a:t> A&amp;G </a:t>
                      </a:r>
                      <a:endParaRPr lang="en-IN" sz="900" b="0" i="0" u="none" strike="noStrike">
                        <a:solidFill>
                          <a:srgbClr val="000000"/>
                        </a:solidFill>
                        <a:effectLst/>
                        <a:latin typeface="+mj-lt"/>
                      </a:endParaRPr>
                    </a:p>
                  </a:txBody>
                  <a:tcPr marL="286229" marR="5963" marT="5963" marB="0" anchor="ctr"/>
                </a:tc>
                <a:tc>
                  <a:txBody>
                    <a:bodyPr/>
                    <a:lstStyle/>
                    <a:p>
                      <a:pPr algn="r" fontAlgn="b"/>
                      <a:r>
                        <a:rPr lang="en-IN" sz="900" b="0" i="0" u="none" strike="noStrike">
                          <a:solidFill>
                            <a:srgbClr val="000000"/>
                          </a:solidFill>
                          <a:effectLst/>
                          <a:latin typeface="Verdana" panose="020B0604030504040204" pitchFamily="34" charset="0"/>
                        </a:rPr>
                        <a:t>2,396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4,048</a:t>
                      </a:r>
                    </a:p>
                  </a:txBody>
                  <a:tcPr marL="0" marR="0" marT="0" marB="0" anchor="ctr"/>
                </a:tc>
                <a:extLst>
                  <a:ext uri="{0D108BD9-81ED-4DB2-BD59-A6C34878D82A}">
                    <a16:rowId xmlns:a16="http://schemas.microsoft.com/office/drawing/2014/main" val="3718492728"/>
                  </a:ext>
                </a:extLst>
              </a:tr>
              <a:tr h="185742">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930220297"/>
                  </a:ext>
                </a:extLst>
              </a:tr>
              <a:tr h="185742">
                <a:tc>
                  <a:txBody>
                    <a:bodyPr/>
                    <a:lstStyle/>
                    <a:p>
                      <a:pPr algn="l" fontAlgn="b"/>
                      <a:r>
                        <a:rPr lang="en-IN" sz="900" u="none" strike="noStrike" dirty="0">
                          <a:effectLst/>
                          <a:latin typeface="+mj-lt"/>
                        </a:rPr>
                        <a:t> Fuel consumption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441961385"/>
                  </a:ext>
                </a:extLst>
              </a:tr>
              <a:tr h="185742">
                <a:tc>
                  <a:txBody>
                    <a:bodyPr/>
                    <a:lstStyle/>
                    <a:p>
                      <a:pPr algn="l" fontAlgn="b"/>
                      <a:r>
                        <a:rPr lang="en-IN" sz="900" u="none" strike="noStrike" dirty="0">
                          <a:effectLst/>
                          <a:latin typeface="+mj-lt"/>
                        </a:rPr>
                        <a:t> Royalty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4104020651"/>
                  </a:ext>
                </a:extLst>
              </a:tr>
              <a:tr h="185742">
                <a:tc>
                  <a:txBody>
                    <a:bodyPr/>
                    <a:lstStyle/>
                    <a:p>
                      <a:pPr algn="l" fontAlgn="b"/>
                      <a:r>
                        <a:rPr lang="en-IN" sz="900" u="none" strike="noStrike">
                          <a:effectLst/>
                          <a:latin typeface="+mj-lt"/>
                        </a:rPr>
                        <a:t> Transmission/Wheeling Charge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1201593536"/>
                  </a:ext>
                </a:extLst>
              </a:tr>
              <a:tr h="185742">
                <a:tc>
                  <a:txBody>
                    <a:bodyPr/>
                    <a:lstStyle/>
                    <a:p>
                      <a:pPr algn="l" fontAlgn="b"/>
                      <a:r>
                        <a:rPr lang="en-IN" sz="900" u="none" strike="noStrike" dirty="0">
                          <a:effectLst/>
                          <a:latin typeface="+mj-lt"/>
                        </a:rPr>
                        <a:t> Total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59,471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88,005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1,40,142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1,68,087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2,44,105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2,87,217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3,24,192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3,32,354</a:t>
                      </a:r>
                    </a:p>
                  </a:txBody>
                  <a:tcPr marL="0" marR="0" marT="0" marB="0" anchor="ctr"/>
                </a:tc>
                <a:extLst>
                  <a:ext uri="{0D108BD9-81ED-4DB2-BD59-A6C34878D82A}">
                    <a16:rowId xmlns:a16="http://schemas.microsoft.com/office/drawing/2014/main" val="2469937933"/>
                  </a:ext>
                </a:extLst>
              </a:tr>
              <a:tr h="185742">
                <a:tc>
                  <a:txBody>
                    <a:bodyPr/>
                    <a:lstStyle/>
                    <a:p>
                      <a:pPr algn="l" fontAlgn="b"/>
                      <a:r>
                        <a:rPr lang="en-IN" sz="900" b="1" u="none" strike="noStrike" dirty="0">
                          <a:effectLst/>
                          <a:latin typeface="+mj-lt"/>
                        </a:rPr>
                        <a:t> PBITDA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39,152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34,066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23,752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-8,484</a:t>
                      </a:r>
                    </a:p>
                  </a:txBody>
                  <a:tcPr marL="0" marR="0" marT="0" marB="0" anchor="ctr"/>
                </a:tc>
                <a:extLst>
                  <a:ext uri="{0D108BD9-81ED-4DB2-BD59-A6C34878D82A}">
                    <a16:rowId xmlns:a16="http://schemas.microsoft.com/office/drawing/2014/main" val="2764137017"/>
                  </a:ext>
                </a:extLst>
              </a:tr>
              <a:tr h="185742">
                <a:tc>
                  <a:txBody>
                    <a:bodyPr/>
                    <a:lstStyle/>
                    <a:p>
                      <a:pPr algn="l" fontAlgn="b"/>
                      <a:r>
                        <a:rPr lang="en-IN" sz="900" u="none" strike="noStrike" dirty="0">
                          <a:effectLst/>
                          <a:latin typeface="+mj-lt"/>
                        </a:rPr>
                        <a:t> Depreciation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9,702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15,986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29,713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30,142</a:t>
                      </a:r>
                    </a:p>
                  </a:txBody>
                  <a:tcPr marL="0" marR="0" marT="0" marB="0" anchor="ctr"/>
                </a:tc>
                <a:extLst>
                  <a:ext uri="{0D108BD9-81ED-4DB2-BD59-A6C34878D82A}">
                    <a16:rowId xmlns:a16="http://schemas.microsoft.com/office/drawing/2014/main" val="1842728969"/>
                  </a:ext>
                </a:extLst>
              </a:tr>
              <a:tr h="185742">
                <a:tc>
                  <a:txBody>
                    <a:bodyPr/>
                    <a:lstStyle/>
                    <a:p>
                      <a:pPr algn="l" fontAlgn="b"/>
                      <a:r>
                        <a:rPr lang="en-IN" sz="900" b="1" u="none" strike="noStrike" dirty="0">
                          <a:effectLst/>
                          <a:latin typeface="+mj-lt"/>
                        </a:rPr>
                        <a:t> PBIT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24,364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14,889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-24,039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-38,625</a:t>
                      </a:r>
                    </a:p>
                  </a:txBody>
                  <a:tcPr marL="0" marR="0" marT="0" marB="0" anchor="ctr"/>
                </a:tc>
                <a:extLst>
                  <a:ext uri="{0D108BD9-81ED-4DB2-BD59-A6C34878D82A}">
                    <a16:rowId xmlns:a16="http://schemas.microsoft.com/office/drawing/2014/main" val="3727563565"/>
                  </a:ext>
                </a:extLst>
              </a:tr>
              <a:tr h="185742">
                <a:tc>
                  <a:txBody>
                    <a:bodyPr/>
                    <a:lstStyle/>
                    <a:p>
                      <a:pPr algn="l" fontAlgn="b"/>
                      <a:r>
                        <a:rPr lang="en-IN" sz="900" u="none" strike="noStrike" dirty="0">
                          <a:effectLst/>
                          <a:latin typeface="+mj-lt"/>
                        </a:rPr>
                        <a:t> Interest on Loan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2735086070"/>
                  </a:ext>
                </a:extLst>
              </a:tr>
              <a:tr h="185742">
                <a:tc>
                  <a:txBody>
                    <a:bodyPr/>
                    <a:lstStyle/>
                    <a:p>
                      <a:pPr algn="l" fontAlgn="b"/>
                      <a:r>
                        <a:rPr lang="en-US" sz="900" b="0" i="0" u="none" strike="noStrike" dirty="0" smtClean="0">
                          <a:solidFill>
                            <a:srgbClr val="000000"/>
                          </a:solidFill>
                          <a:effectLst/>
                          <a:latin typeface="+mj-lt"/>
                        </a:rPr>
                        <a:t> Interest on WC Loan</a:t>
                      </a:r>
                      <a:endParaRPr lang="en-US"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ctr"/>
                </a:tc>
                <a:extLst>
                  <a:ext uri="{0D108BD9-81ED-4DB2-BD59-A6C34878D82A}">
                    <a16:rowId xmlns:a16="http://schemas.microsoft.com/office/drawing/2014/main" val="4242091421"/>
                  </a:ext>
                </a:extLst>
              </a:tr>
              <a:tr h="185742">
                <a:tc>
                  <a:txBody>
                    <a:bodyPr/>
                    <a:lstStyle/>
                    <a:p>
                      <a:pPr algn="l" fontAlgn="b"/>
                      <a:r>
                        <a:rPr lang="en-US" sz="900" b="0" i="0" u="none" strike="noStrike" dirty="0" smtClean="0">
                          <a:solidFill>
                            <a:srgbClr val="000000"/>
                          </a:solidFill>
                          <a:effectLst/>
                          <a:latin typeface="+mj-lt"/>
                        </a:rPr>
                        <a:t>(Gain)/Loss on Foreign Exchange</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4274250684"/>
                  </a:ext>
                </a:extLst>
              </a:tr>
              <a:tr h="185742">
                <a:tc>
                  <a:txBody>
                    <a:bodyPr/>
                    <a:lstStyle/>
                    <a:p>
                      <a:pPr algn="l" fontAlgn="b"/>
                      <a:r>
                        <a:rPr lang="en-IN" sz="900" u="none" strike="noStrike" dirty="0">
                          <a:effectLst/>
                          <a:latin typeface="+mj-lt"/>
                        </a:rPr>
                        <a:t> </a:t>
                      </a:r>
                      <a:r>
                        <a:rPr lang="en-IN" sz="900" u="none" strike="noStrike" dirty="0" smtClean="0">
                          <a:effectLst/>
                          <a:latin typeface="+mj-lt"/>
                        </a:rPr>
                        <a:t>Interest on Cash Deficit Loan</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15065473"/>
                  </a:ext>
                </a:extLst>
              </a:tr>
              <a:tr h="185742">
                <a:tc>
                  <a:txBody>
                    <a:bodyPr/>
                    <a:lstStyle/>
                    <a:p>
                      <a:pPr algn="l" fontAlgn="b"/>
                      <a:r>
                        <a:rPr lang="en-IN" sz="900" b="1" u="none" strike="noStrike" dirty="0">
                          <a:effectLst/>
                          <a:latin typeface="+mj-lt"/>
                        </a:rPr>
                        <a:t> Profits Before Tax (PBT)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23,256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-38,555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-52,627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-57,685</a:t>
                      </a:r>
                    </a:p>
                  </a:txBody>
                  <a:tcPr marL="0" marR="0" marT="0" marB="0" anchor="ctr"/>
                </a:tc>
                <a:extLst>
                  <a:ext uri="{0D108BD9-81ED-4DB2-BD59-A6C34878D82A}">
                    <a16:rowId xmlns:a16="http://schemas.microsoft.com/office/drawing/2014/main" val="346634298"/>
                  </a:ext>
                </a:extLst>
              </a:tr>
              <a:tr h="185742">
                <a:tc>
                  <a:txBody>
                    <a:bodyPr/>
                    <a:lstStyle/>
                    <a:p>
                      <a:pPr algn="l" fontAlgn="b"/>
                      <a:r>
                        <a:rPr lang="en-IN" sz="900" u="none" strike="noStrike" dirty="0">
                          <a:effectLst/>
                          <a:latin typeface="+mj-lt"/>
                        </a:rPr>
                        <a:t> Tax Payable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536878580"/>
                  </a:ext>
                </a:extLst>
              </a:tr>
              <a:tr h="185742">
                <a:tc>
                  <a:txBody>
                    <a:bodyPr/>
                    <a:lstStyle/>
                    <a:p>
                      <a:pPr algn="l" fontAlgn="b"/>
                      <a:r>
                        <a:rPr lang="en-IN" sz="900" b="1" u="none" strike="noStrike" dirty="0">
                          <a:effectLst/>
                          <a:latin typeface="+mj-lt"/>
                        </a:rPr>
                        <a:t> Profit After Tax (PAT)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17,442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12,090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-15,462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-38,555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-52,627</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-57,685</a:t>
                      </a:r>
                    </a:p>
                  </a:txBody>
                  <a:tcPr marL="0" marR="0" marT="0" marB="0" anchor="ctr"/>
                </a:tc>
                <a:extLst>
                  <a:ext uri="{0D108BD9-81ED-4DB2-BD59-A6C34878D82A}">
                    <a16:rowId xmlns:a16="http://schemas.microsoft.com/office/drawing/2014/main" val="633975800"/>
                  </a:ext>
                </a:extLst>
              </a:tr>
            </a:tbl>
          </a:graphicData>
        </a:graphic>
      </p:graphicFrame>
    </p:spTree>
    <p:extLst>
      <p:ext uri="{BB962C8B-B14F-4D97-AF65-F5344CB8AC3E}">
        <p14:creationId xmlns:p14="http://schemas.microsoft.com/office/powerpoint/2010/main" val="2283523415"/>
      </p:ext>
    </p:extLst>
  </p:cSld>
  <p:clrMapOvr>
    <a:masterClrMapping/>
  </p:clrMapOvr>
  <p:transition>
    <p:fade/>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CF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461516485"/>
              </p:ext>
            </p:extLst>
          </p:nvPr>
        </p:nvGraphicFramePr>
        <p:xfrm>
          <a:off x="469900" y="1238250"/>
          <a:ext cx="11252201" cy="5009305"/>
        </p:xfrm>
        <a:graphic>
          <a:graphicData uri="http://schemas.openxmlformats.org/drawingml/2006/table">
            <a:tbl>
              <a:tblPr firstRow="1">
                <a:tableStyleId>{793D81CF-94F2-401A-BA57-92F5A7B2D0C5}</a:tableStyleId>
              </a:tblPr>
              <a:tblGrid>
                <a:gridCol w="2369031">
                  <a:extLst>
                    <a:ext uri="{9D8B030D-6E8A-4147-A177-3AD203B41FA5}">
                      <a16:colId xmlns:a16="http://schemas.microsoft.com/office/drawing/2014/main" val="4082553980"/>
                    </a:ext>
                  </a:extLst>
                </a:gridCol>
                <a:gridCol w="888317">
                  <a:extLst>
                    <a:ext uri="{9D8B030D-6E8A-4147-A177-3AD203B41FA5}">
                      <a16:colId xmlns:a16="http://schemas.microsoft.com/office/drawing/2014/main" val="133236086"/>
                    </a:ext>
                  </a:extLst>
                </a:gridCol>
                <a:gridCol w="888317">
                  <a:extLst>
                    <a:ext uri="{9D8B030D-6E8A-4147-A177-3AD203B41FA5}">
                      <a16:colId xmlns:a16="http://schemas.microsoft.com/office/drawing/2014/main" val="828764196"/>
                    </a:ext>
                  </a:extLst>
                </a:gridCol>
                <a:gridCol w="888317">
                  <a:extLst>
                    <a:ext uri="{9D8B030D-6E8A-4147-A177-3AD203B41FA5}">
                      <a16:colId xmlns:a16="http://schemas.microsoft.com/office/drawing/2014/main" val="1454049465"/>
                    </a:ext>
                  </a:extLst>
                </a:gridCol>
                <a:gridCol w="888317">
                  <a:extLst>
                    <a:ext uri="{9D8B030D-6E8A-4147-A177-3AD203B41FA5}">
                      <a16:colId xmlns:a16="http://schemas.microsoft.com/office/drawing/2014/main" val="2795677598"/>
                    </a:ext>
                  </a:extLst>
                </a:gridCol>
                <a:gridCol w="888317">
                  <a:extLst>
                    <a:ext uri="{9D8B030D-6E8A-4147-A177-3AD203B41FA5}">
                      <a16:colId xmlns:a16="http://schemas.microsoft.com/office/drawing/2014/main" val="3969887253"/>
                    </a:ext>
                  </a:extLst>
                </a:gridCol>
                <a:gridCol w="888317">
                  <a:extLst>
                    <a:ext uri="{9D8B030D-6E8A-4147-A177-3AD203B41FA5}">
                      <a16:colId xmlns:a16="http://schemas.microsoft.com/office/drawing/2014/main" val="115857465"/>
                    </a:ext>
                  </a:extLst>
                </a:gridCol>
                <a:gridCol w="888317">
                  <a:extLst>
                    <a:ext uri="{9D8B030D-6E8A-4147-A177-3AD203B41FA5}">
                      <a16:colId xmlns:a16="http://schemas.microsoft.com/office/drawing/2014/main" val="3045466965"/>
                    </a:ext>
                  </a:extLst>
                </a:gridCol>
                <a:gridCol w="888317">
                  <a:extLst>
                    <a:ext uri="{9D8B030D-6E8A-4147-A177-3AD203B41FA5}">
                      <a16:colId xmlns:a16="http://schemas.microsoft.com/office/drawing/2014/main" val="4104168210"/>
                    </a:ext>
                  </a:extLst>
                </a:gridCol>
                <a:gridCol w="888317">
                  <a:extLst>
                    <a:ext uri="{9D8B030D-6E8A-4147-A177-3AD203B41FA5}">
                      <a16:colId xmlns:a16="http://schemas.microsoft.com/office/drawing/2014/main" val="3916127272"/>
                    </a:ext>
                  </a:extLst>
                </a:gridCol>
                <a:gridCol w="888317">
                  <a:extLst>
                    <a:ext uri="{9D8B030D-6E8A-4147-A177-3AD203B41FA5}">
                      <a16:colId xmlns:a16="http://schemas.microsoft.com/office/drawing/2014/main" val="2518664685"/>
                    </a:ext>
                  </a:extLst>
                </a:gridCol>
              </a:tblGrid>
              <a:tr h="139908">
                <a:tc>
                  <a:txBody>
                    <a:bodyPr/>
                    <a:lstStyle/>
                    <a:p>
                      <a:pPr algn="l" fontAlgn="b"/>
                      <a:r>
                        <a:rPr lang="en-IN" sz="900" u="none" strike="noStrike" dirty="0">
                          <a:effectLst/>
                          <a:latin typeface="+mj-lt"/>
                        </a:rPr>
                        <a:t> </a:t>
                      </a:r>
                      <a:r>
                        <a:rPr lang="en-IN" sz="900" b="1" u="none" strike="noStrike" kern="1200" dirty="0" err="1" smtClean="0">
                          <a:solidFill>
                            <a:schemeClr val="lt1"/>
                          </a:solidFill>
                          <a:effectLst/>
                          <a:latin typeface="+mn-lt"/>
                          <a:ea typeface="+mn-ea"/>
                          <a:cs typeface="+mn-cs"/>
                        </a:rPr>
                        <a:t>Mn</a:t>
                      </a:r>
                      <a:r>
                        <a:rPr lang="en-IN" sz="900" b="1" u="none" strike="noStrike" kern="1200" dirty="0" smtClean="0">
                          <a:solidFill>
                            <a:schemeClr val="lt1"/>
                          </a:solidFill>
                          <a:effectLst/>
                          <a:latin typeface="+mn-lt"/>
                          <a:ea typeface="+mn-ea"/>
                          <a:cs typeface="+mn-cs"/>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917603805"/>
                  </a:ext>
                </a:extLst>
              </a:tr>
              <a:tr h="109099">
                <a:tc>
                  <a:txBody>
                    <a:bodyPr/>
                    <a:lstStyle/>
                    <a:p>
                      <a:pPr algn="l" fontAlgn="b"/>
                      <a:r>
                        <a:rPr lang="en-IN" sz="900" u="none" strike="noStrike" dirty="0">
                          <a:effectLst/>
                          <a:latin typeface="+mj-lt"/>
                        </a:rPr>
                        <a:t> Revenue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89,354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1,42,622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1,57,867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1,73,786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1,91,874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2,18,723</a:t>
                      </a:r>
                    </a:p>
                  </a:txBody>
                  <a:tcPr marL="0" marR="0" marT="0" marB="0" anchor="ctr"/>
                </a:tc>
                <a:extLst>
                  <a:ext uri="{0D108BD9-81ED-4DB2-BD59-A6C34878D82A}">
                    <a16:rowId xmlns:a16="http://schemas.microsoft.com/office/drawing/2014/main" val="4006978157"/>
                  </a:ext>
                </a:extLst>
              </a:tr>
              <a:tr h="139559">
                <a:tc>
                  <a:txBody>
                    <a:bodyPr/>
                    <a:lstStyle/>
                    <a:p>
                      <a:pPr algn="l" fontAlgn="b"/>
                      <a:r>
                        <a:rPr lang="en-US" sz="900" u="none" strike="noStrike" dirty="0">
                          <a:effectLst/>
                          <a:latin typeface="+mj-lt"/>
                        </a:rPr>
                        <a:t> Revenue from export to India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8,728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29,374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75,645</a:t>
                      </a:r>
                    </a:p>
                  </a:txBody>
                  <a:tcPr marL="0" marR="0" marT="0" marB="0" anchor="ctr"/>
                </a:tc>
                <a:extLst>
                  <a:ext uri="{0D108BD9-81ED-4DB2-BD59-A6C34878D82A}">
                    <a16:rowId xmlns:a16="http://schemas.microsoft.com/office/drawing/2014/main" val="4110510597"/>
                  </a:ext>
                </a:extLst>
              </a:tr>
              <a:tr h="139559">
                <a:tc>
                  <a:txBody>
                    <a:bodyPr/>
                    <a:lstStyle/>
                    <a:p>
                      <a:pPr algn="l" fontAlgn="b"/>
                      <a:r>
                        <a:rPr lang="en-IN" sz="900" u="none" strike="noStrike">
                          <a:effectLst/>
                          <a:latin typeface="+mj-lt"/>
                        </a:rPr>
                        <a:t> Revenue Subsidy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3346025163"/>
                  </a:ext>
                </a:extLst>
              </a:tr>
              <a:tr h="139559">
                <a:tc>
                  <a:txBody>
                    <a:bodyPr/>
                    <a:lstStyle/>
                    <a:p>
                      <a:pPr algn="l" fontAlgn="b"/>
                      <a:r>
                        <a:rPr lang="en-IN" sz="900" u="none" strike="noStrike">
                          <a:effectLst/>
                          <a:latin typeface="+mj-lt"/>
                        </a:rPr>
                        <a:t> Other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7,999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12,882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14,170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18,861</a:t>
                      </a:r>
                    </a:p>
                  </a:txBody>
                  <a:tcPr marL="0" marR="0" marT="0" marB="0" anchor="ctr"/>
                </a:tc>
                <a:extLst>
                  <a:ext uri="{0D108BD9-81ED-4DB2-BD59-A6C34878D82A}">
                    <a16:rowId xmlns:a16="http://schemas.microsoft.com/office/drawing/2014/main" val="2489710694"/>
                  </a:ext>
                </a:extLst>
              </a:tr>
              <a:tr h="139559">
                <a:tc>
                  <a:txBody>
                    <a:bodyPr/>
                    <a:lstStyle/>
                    <a:p>
                      <a:pPr algn="l" fontAlgn="b"/>
                      <a:r>
                        <a:rPr lang="en-IN" sz="900" u="none" strike="noStrike">
                          <a:effectLst/>
                          <a:latin typeface="+mj-lt"/>
                        </a:rPr>
                        <a:t> Dividend Income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6,610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10,642</a:t>
                      </a:r>
                    </a:p>
                  </a:txBody>
                  <a:tcPr marL="0" marR="0" marT="0" marB="0" anchor="ctr"/>
                </a:tc>
                <a:extLst>
                  <a:ext uri="{0D108BD9-81ED-4DB2-BD59-A6C34878D82A}">
                    <a16:rowId xmlns:a16="http://schemas.microsoft.com/office/drawing/2014/main" val="2602410829"/>
                  </a:ext>
                </a:extLst>
              </a:tr>
              <a:tr h="139559">
                <a:tc>
                  <a:txBody>
                    <a:bodyPr/>
                    <a:lstStyle/>
                    <a:p>
                      <a:pPr algn="l" fontAlgn="b"/>
                      <a:r>
                        <a:rPr lang="en-IN" sz="900" u="none" strike="noStrike">
                          <a:effectLst/>
                          <a:latin typeface="+mj-lt"/>
                        </a:rPr>
                        <a:t> O&amp;M Cost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-21,623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-22,920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-24,295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-25,753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-27,298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-28,936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-30,672</a:t>
                      </a:r>
                    </a:p>
                  </a:txBody>
                  <a:tcPr marL="0" marR="0" marT="0" marB="0" anchor="ctr"/>
                </a:tc>
                <a:extLst>
                  <a:ext uri="{0D108BD9-81ED-4DB2-BD59-A6C34878D82A}">
                    <a16:rowId xmlns:a16="http://schemas.microsoft.com/office/drawing/2014/main" val="3144525191"/>
                  </a:ext>
                </a:extLst>
              </a:tr>
              <a:tr h="139559">
                <a:tc>
                  <a:txBody>
                    <a:bodyPr/>
                    <a:lstStyle/>
                    <a:p>
                      <a:pPr algn="l" fontAlgn="b"/>
                      <a:r>
                        <a:rPr lang="en-IN" sz="900" u="none" strike="noStrike">
                          <a:effectLst/>
                          <a:latin typeface="+mj-lt"/>
                        </a:rPr>
                        <a:t> Purchase of Power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-38,417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-96,072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-1,15,620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-1,66,625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-2,15,206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-2,56,773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-2,98,536</a:t>
                      </a:r>
                    </a:p>
                  </a:txBody>
                  <a:tcPr marL="0" marR="0" marT="0" marB="0" anchor="ctr"/>
                </a:tc>
                <a:extLst>
                  <a:ext uri="{0D108BD9-81ED-4DB2-BD59-A6C34878D82A}">
                    <a16:rowId xmlns:a16="http://schemas.microsoft.com/office/drawing/2014/main" val="2808376300"/>
                  </a:ext>
                </a:extLst>
              </a:tr>
              <a:tr h="139559">
                <a:tc>
                  <a:txBody>
                    <a:bodyPr/>
                    <a:lstStyle/>
                    <a:p>
                      <a:pPr algn="l" fontAlgn="b"/>
                      <a:r>
                        <a:rPr lang="en-IN" sz="900" u="none" strike="noStrike">
                          <a:effectLst/>
                          <a:latin typeface="+mj-lt"/>
                        </a:rPr>
                        <a:t> Fuel Consumption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474417724"/>
                  </a:ext>
                </a:extLst>
              </a:tr>
              <a:tr h="139559">
                <a:tc>
                  <a:txBody>
                    <a:bodyPr/>
                    <a:lstStyle/>
                    <a:p>
                      <a:pPr algn="l" fontAlgn="b"/>
                      <a:r>
                        <a:rPr lang="en-IN" sz="900" u="none" strike="noStrike">
                          <a:effectLst/>
                          <a:latin typeface="+mj-lt"/>
                        </a:rPr>
                        <a:t> Royalty </a:t>
                      </a:r>
                      <a:endParaRPr lang="en-IN" sz="900" b="0" i="0" u="none" strike="noStrike">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-2,048</a:t>
                      </a:r>
                    </a:p>
                  </a:txBody>
                  <a:tcPr marL="0" marR="0" marT="0" marB="0" anchor="ctr"/>
                </a:tc>
                <a:extLst>
                  <a:ext uri="{0D108BD9-81ED-4DB2-BD59-A6C34878D82A}">
                    <a16:rowId xmlns:a16="http://schemas.microsoft.com/office/drawing/2014/main" val="2992026430"/>
                  </a:ext>
                </a:extLst>
              </a:tr>
              <a:tr h="139559">
                <a:tc>
                  <a:txBody>
                    <a:bodyPr/>
                    <a:lstStyle/>
                    <a:p>
                      <a:pPr algn="l" fontAlgn="b"/>
                      <a:r>
                        <a:rPr lang="en-IN" sz="900" u="none" strike="noStrike" dirty="0">
                          <a:effectLst/>
                          <a:latin typeface="+mj-lt"/>
                        </a:rPr>
                        <a:t> Transmission/Wheeling Charge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-1,098</a:t>
                      </a:r>
                    </a:p>
                  </a:txBody>
                  <a:tcPr marL="0" marR="0" marT="0" marB="0" anchor="ctr"/>
                </a:tc>
                <a:extLst>
                  <a:ext uri="{0D108BD9-81ED-4DB2-BD59-A6C34878D82A}">
                    <a16:rowId xmlns:a16="http://schemas.microsoft.com/office/drawing/2014/main" val="3040190722"/>
                  </a:ext>
                </a:extLst>
              </a:tr>
              <a:tr h="139559">
                <a:tc>
                  <a:txBody>
                    <a:bodyPr/>
                    <a:lstStyle/>
                    <a:p>
                      <a:pPr algn="l" fontAlgn="b"/>
                      <a:r>
                        <a:rPr lang="en-IN" sz="900" u="none" strike="noStrike" dirty="0">
                          <a:effectLst/>
                          <a:latin typeface="+mj-lt"/>
                        </a:rPr>
                        <a:t> Taxes </a:t>
                      </a:r>
                      <a:endParaRPr lang="en-IN" sz="900" b="0" i="0" u="none" strike="noStrike" dirty="0">
                        <a:solidFill>
                          <a:srgbClr val="000000"/>
                        </a:solidFill>
                        <a:effectLst/>
                        <a:latin typeface="+mj-lt"/>
                      </a:endParaRPr>
                    </a:p>
                  </a:txBody>
                  <a:tcPr marL="143114" marR="5963" marT="5963" marB="0" anchor="ctr"/>
                </a:tc>
                <a:tc>
                  <a:txBody>
                    <a:bodyPr/>
                    <a:lstStyle/>
                    <a:p>
                      <a:pPr algn="r" fontAlgn="b"/>
                      <a:r>
                        <a:rPr lang="en-IN" sz="900" b="0" i="0" u="none" strike="noStrike">
                          <a:solidFill>
                            <a:srgbClr val="000000"/>
                          </a:solidFill>
                          <a:effectLst/>
                          <a:latin typeface="Verdana" panose="020B0604030504040204" pitchFamily="34" charset="0"/>
                        </a:rPr>
                        <a:t>-5,814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58039412"/>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-23,996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-8,314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-341</a:t>
                      </a:r>
                    </a:p>
                  </a:txBody>
                  <a:tcPr marL="0" marR="0" marT="0" marB="0" anchor="ctr"/>
                </a:tc>
                <a:extLst>
                  <a:ext uri="{0D108BD9-81ED-4DB2-BD59-A6C34878D82A}">
                    <a16:rowId xmlns:a16="http://schemas.microsoft.com/office/drawing/2014/main" val="3645480185"/>
                  </a:ext>
                </a:extLst>
              </a:tr>
              <a:tr h="139559">
                <a:tc>
                  <a:txBody>
                    <a:bodyPr/>
                    <a:lstStyle/>
                    <a:p>
                      <a:pPr algn="l" fontAlgn="b"/>
                      <a:r>
                        <a:rPr lang="en-US" sz="900" b="1" u="none" strike="noStrike" dirty="0" smtClean="0">
                          <a:effectLst/>
                          <a:latin typeface="+mj-lt"/>
                        </a:rPr>
                        <a:t> CF from Operating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9,342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36,829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29,236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15,438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14,217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-8,084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-8,825</a:t>
                      </a:r>
                    </a:p>
                  </a:txBody>
                  <a:tcPr marL="0" marR="0" marT="0" marB="0" anchor="ctr"/>
                </a:tc>
                <a:extLst>
                  <a:ext uri="{0D108BD9-81ED-4DB2-BD59-A6C34878D82A}">
                    <a16:rowId xmlns:a16="http://schemas.microsoft.com/office/drawing/2014/main" val="178274167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409114620"/>
                  </a:ext>
                </a:extLst>
              </a:tr>
              <a:tr h="139559">
                <a:tc>
                  <a:txBody>
                    <a:bodyPr/>
                    <a:lstStyle/>
                    <a:p>
                      <a:pPr algn="l" fontAlgn="b"/>
                      <a:r>
                        <a:rPr lang="en-IN" sz="900" u="none" strike="noStrike" dirty="0">
                          <a:effectLst/>
                          <a:latin typeface="+mj-lt"/>
                        </a:rPr>
                        <a:t> Change in </a:t>
                      </a:r>
                      <a:r>
                        <a:rPr lang="en-IN" sz="900" u="none" strike="noStrike" dirty="0" smtClean="0">
                          <a:effectLst/>
                          <a:latin typeface="+mj-lt"/>
                        </a:rPr>
                        <a:t>Investments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-2,708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-4,632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-6,531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-13,520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-5,330</a:t>
                      </a:r>
                    </a:p>
                  </a:txBody>
                  <a:tcPr marL="0" marR="0" marT="0" marB="0" anchor="ctr"/>
                </a:tc>
                <a:extLst>
                  <a:ext uri="{0D108BD9-81ED-4DB2-BD59-A6C34878D82A}">
                    <a16:rowId xmlns:a16="http://schemas.microsoft.com/office/drawing/2014/main" val="3484534696"/>
                  </a:ext>
                </a:extLst>
              </a:tr>
              <a:tr h="139559">
                <a:tc>
                  <a:txBody>
                    <a:bodyPr/>
                    <a:lstStyle/>
                    <a:p>
                      <a:pPr algn="l" fontAlgn="b"/>
                      <a:r>
                        <a:rPr lang="en-IN" sz="900" u="none" strike="noStrike" dirty="0">
                          <a:effectLst/>
                          <a:latin typeface="+mj-lt"/>
                        </a:rPr>
                        <a:t> Capital Expenditure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-59,017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-85,034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-73,876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-67,268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-88,784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-85,844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-63,961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-43,367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-11,773</a:t>
                      </a:r>
                    </a:p>
                  </a:txBody>
                  <a:tcPr marL="0" marR="0" marT="0" marB="0" anchor="ctr"/>
                </a:tc>
                <a:extLst>
                  <a:ext uri="{0D108BD9-81ED-4DB2-BD59-A6C34878D82A}">
                    <a16:rowId xmlns:a16="http://schemas.microsoft.com/office/drawing/2014/main" val="3010940323"/>
                  </a:ext>
                </a:extLst>
              </a:tr>
              <a:tr h="130340">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Investing </a:t>
                      </a:r>
                      <a:r>
                        <a:rPr lang="en-US" sz="900" b="1" u="none" strike="noStrike" dirty="0" smtClean="0">
                          <a:effectLst/>
                          <a:latin typeface="+mj-lt"/>
                        </a:rPr>
                        <a:t>Activities</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-61,725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-88,864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-78,509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-73,799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-1,02,476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-1,36,618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-99,294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-71,780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-48,697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-17,103</a:t>
                      </a:r>
                    </a:p>
                  </a:txBody>
                  <a:tcPr marL="0" marR="0" marT="0" marB="0" anchor="ctr"/>
                </a:tc>
                <a:extLst>
                  <a:ext uri="{0D108BD9-81ED-4DB2-BD59-A6C34878D82A}">
                    <a16:rowId xmlns:a16="http://schemas.microsoft.com/office/drawing/2014/main" val="4155677060"/>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355475617"/>
                  </a:ext>
                </a:extLst>
              </a:tr>
              <a:tr h="139559">
                <a:tc>
                  <a:txBody>
                    <a:bodyPr/>
                    <a:lstStyle/>
                    <a:p>
                      <a:pPr algn="l" fontAlgn="b"/>
                      <a:r>
                        <a:rPr lang="en-IN" sz="900" u="none" strike="noStrike" dirty="0">
                          <a:effectLst/>
                          <a:latin typeface="+mj-lt"/>
                        </a:rPr>
                        <a:t>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30,114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49,975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42,399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41,112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67,196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94,648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64,842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47,351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30,875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5,600</a:t>
                      </a:r>
                    </a:p>
                  </a:txBody>
                  <a:tcPr marL="0" marR="0" marT="0" marB="0" anchor="ctr"/>
                </a:tc>
                <a:extLst>
                  <a:ext uri="{0D108BD9-81ED-4DB2-BD59-A6C34878D82A}">
                    <a16:rowId xmlns:a16="http://schemas.microsoft.com/office/drawing/2014/main" val="4189674888"/>
                  </a:ext>
                </a:extLst>
              </a:tr>
              <a:tr h="139559">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24,452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27,530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24,739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19,578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16,111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12,388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8,132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4,973</a:t>
                      </a:r>
                    </a:p>
                  </a:txBody>
                  <a:tcPr marL="0" marR="0" marT="0" marB="0" anchor="ctr"/>
                </a:tc>
                <a:extLst>
                  <a:ext uri="{0D108BD9-81ED-4DB2-BD59-A6C34878D82A}">
                    <a16:rowId xmlns:a16="http://schemas.microsoft.com/office/drawing/2014/main" val="577385477"/>
                  </a:ext>
                </a:extLst>
              </a:tr>
              <a:tr h="139559">
                <a:tc>
                  <a:txBody>
                    <a:bodyPr/>
                    <a:lstStyle/>
                    <a:p>
                      <a:pPr algn="l" fontAlgn="b"/>
                      <a:r>
                        <a:rPr lang="en-IN" sz="900" u="none" strike="noStrike" dirty="0">
                          <a:effectLst/>
                          <a:latin typeface="+mj-lt"/>
                        </a:rPr>
                        <a:t> Cash Deficit Loan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1064564187"/>
                  </a:ext>
                </a:extLst>
              </a:tr>
              <a:tr h="139559">
                <a:tc>
                  <a:txBody>
                    <a:bodyPr/>
                    <a:lstStyle/>
                    <a:p>
                      <a:pPr algn="l" fontAlgn="b"/>
                      <a:r>
                        <a:rPr lang="en-IN" sz="900" u="none" strike="noStrike" dirty="0">
                          <a:effectLst/>
                          <a:latin typeface="+mj-lt"/>
                        </a:rPr>
                        <a:t> Debt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-5,707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-6,187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-7,368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-9,825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-13,447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-23,364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-30,525</a:t>
                      </a:r>
                    </a:p>
                  </a:txBody>
                  <a:tcPr marL="0" marR="0" marT="0" marB="0" anchor="ctr"/>
                </a:tc>
                <a:extLst>
                  <a:ext uri="{0D108BD9-81ED-4DB2-BD59-A6C34878D82A}">
                    <a16:rowId xmlns:a16="http://schemas.microsoft.com/office/drawing/2014/main" val="408993191"/>
                  </a:ext>
                </a:extLst>
              </a:tr>
              <a:tr h="139559">
                <a:tc>
                  <a:txBody>
                    <a:bodyPr/>
                    <a:lstStyle/>
                    <a:p>
                      <a:pPr algn="l" fontAlgn="b"/>
                      <a:r>
                        <a:rPr lang="en-IN" sz="900" u="none" strike="noStrike" dirty="0">
                          <a:effectLst/>
                          <a:latin typeface="+mj-lt"/>
                        </a:rPr>
                        <a:t> Cash Deficit Loan Repayment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4052684966"/>
                  </a:ext>
                </a:extLst>
              </a:tr>
              <a:tr h="139559">
                <a:tc>
                  <a:txBody>
                    <a:bodyPr/>
                    <a:lstStyle/>
                    <a:p>
                      <a:pPr algn="l" fontAlgn="b"/>
                      <a:r>
                        <a:rPr lang="en-US" sz="900" b="0" i="0" u="none" strike="noStrike" dirty="0" smtClean="0">
                          <a:solidFill>
                            <a:srgbClr val="000000"/>
                          </a:solidFill>
                          <a:effectLst/>
                          <a:latin typeface="+mj-lt"/>
                        </a:rPr>
                        <a:t>Change in Working</a:t>
                      </a:r>
                      <a:r>
                        <a:rPr lang="en-US" sz="900" b="0" i="0" u="none" strike="noStrike" baseline="0" dirty="0" smtClean="0">
                          <a:solidFill>
                            <a:srgbClr val="000000"/>
                          </a:solidFill>
                          <a:effectLst/>
                          <a:latin typeface="+mj-lt"/>
                        </a:rPr>
                        <a:t>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7,258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-2,346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602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996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239</a:t>
                      </a:r>
                    </a:p>
                  </a:txBody>
                  <a:tcPr marL="0" marR="0" marT="0" marB="0" anchor="ctr"/>
                </a:tc>
                <a:extLst>
                  <a:ext uri="{0D108BD9-81ED-4DB2-BD59-A6C34878D82A}">
                    <a16:rowId xmlns:a16="http://schemas.microsoft.com/office/drawing/2014/main" val="2333252169"/>
                  </a:ext>
                </a:extLst>
              </a:tr>
              <a:tr h="139559">
                <a:tc>
                  <a:txBody>
                    <a:bodyPr/>
                    <a:lstStyle/>
                    <a:p>
                      <a:pPr algn="l" fontAlgn="b"/>
                      <a:r>
                        <a:rPr lang="en-IN" sz="900" u="none" strike="noStrike" dirty="0">
                          <a:effectLst/>
                          <a:latin typeface="+mj-lt"/>
                        </a:rPr>
                        <a:t> Interest on Debt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-7,892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-7,992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-8,292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-9,523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-12,642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-13,167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-14,720</a:t>
                      </a:r>
                    </a:p>
                  </a:txBody>
                  <a:tcPr marL="0" marR="0" marT="0" marB="0" anchor="ctr"/>
                </a:tc>
                <a:extLst>
                  <a:ext uri="{0D108BD9-81ED-4DB2-BD59-A6C34878D82A}">
                    <a16:rowId xmlns:a16="http://schemas.microsoft.com/office/drawing/2014/main" val="3993393994"/>
                  </a:ext>
                </a:extLst>
              </a:tr>
              <a:tr h="139559">
                <a:tc>
                  <a:txBody>
                    <a:bodyPr/>
                    <a:lstStyle/>
                    <a:p>
                      <a:pPr algn="l" fontAlgn="b"/>
                      <a:r>
                        <a:rPr lang="en-US" sz="900" b="0" i="0" u="none" strike="noStrike" dirty="0" smtClean="0">
                          <a:solidFill>
                            <a:srgbClr val="000000"/>
                          </a:solidFill>
                          <a:effectLst/>
                          <a:latin typeface="+mj-lt"/>
                        </a:rPr>
                        <a:t>Interest on WC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-726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-250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-1,193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-1,298</a:t>
                      </a:r>
                    </a:p>
                  </a:txBody>
                  <a:tcPr marL="0" marR="0" marT="0" marB="0" anchor="ctr"/>
                </a:tc>
                <a:extLst>
                  <a:ext uri="{0D108BD9-81ED-4DB2-BD59-A6C34878D82A}">
                    <a16:rowId xmlns:a16="http://schemas.microsoft.com/office/drawing/2014/main" val="1317293939"/>
                  </a:ext>
                </a:extLst>
              </a:tr>
              <a:tr h="139559">
                <a:tc>
                  <a:txBody>
                    <a:bodyPr/>
                    <a:lstStyle/>
                    <a:p>
                      <a:pPr algn="l" fontAlgn="b"/>
                      <a:r>
                        <a:rPr lang="en-US" sz="900" b="0" i="0" u="none" strike="noStrike" dirty="0" smtClean="0">
                          <a:solidFill>
                            <a:srgbClr val="000000"/>
                          </a:solidFill>
                          <a:effectLst/>
                          <a:latin typeface="+mj-lt"/>
                        </a:rPr>
                        <a:t>Gain/(Loss) on Foreign Exchange</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-1,168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-3,042</a:t>
                      </a:r>
                    </a:p>
                  </a:txBody>
                  <a:tcPr marL="0" marR="0" marT="0" marB="0" anchor="ctr"/>
                </a:tc>
                <a:extLst>
                  <a:ext uri="{0D108BD9-81ED-4DB2-BD59-A6C34878D82A}">
                    <a16:rowId xmlns:a16="http://schemas.microsoft.com/office/drawing/2014/main" val="221922248"/>
                  </a:ext>
                </a:extLst>
              </a:tr>
              <a:tr h="139559">
                <a:tc>
                  <a:txBody>
                    <a:bodyPr/>
                    <a:lstStyle/>
                    <a:p>
                      <a:pPr algn="l" fontAlgn="b"/>
                      <a:r>
                        <a:rPr lang="en-US" sz="900" u="none" strike="noStrike" dirty="0">
                          <a:effectLst/>
                          <a:latin typeface="+mj-lt"/>
                        </a:rPr>
                        <a:t> Interest on Cash Deficit Loan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extLst>
                  <a:ext uri="{0D108BD9-81ED-4DB2-BD59-A6C34878D82A}">
                    <a16:rowId xmlns:a16="http://schemas.microsoft.com/office/drawing/2014/main" val="2870784524"/>
                  </a:ext>
                </a:extLst>
              </a:tr>
              <a:tr h="139559">
                <a:tc>
                  <a:txBody>
                    <a:bodyPr/>
                    <a:lstStyle/>
                    <a:p>
                      <a:pPr algn="l" fontAlgn="b"/>
                      <a:r>
                        <a:rPr lang="en-US" sz="900" b="1" u="none" strike="noStrike" dirty="0">
                          <a:effectLst/>
                          <a:latin typeface="+mj-lt"/>
                        </a:rPr>
                        <a:t> </a:t>
                      </a:r>
                      <a:r>
                        <a:rPr lang="en-US" sz="900" b="1" u="none" strike="noStrike" dirty="0" smtClean="0">
                          <a:effectLst/>
                          <a:latin typeface="+mj-lt"/>
                        </a:rPr>
                        <a:t>CF from </a:t>
                      </a:r>
                      <a:r>
                        <a:rPr lang="en-US" sz="900" b="1" u="none" strike="noStrike" dirty="0">
                          <a:effectLst/>
                          <a:latin typeface="+mj-lt"/>
                        </a:rPr>
                        <a:t>Financing Activities </a:t>
                      </a:r>
                      <a:endParaRPr lang="en-US"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47,498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58,318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49,086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47,056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62,322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86,481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44,669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23,216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-38,773</a:t>
                      </a:r>
                    </a:p>
                  </a:txBody>
                  <a:tcPr marL="0" marR="0" marT="0" marB="0" anchor="ctr"/>
                </a:tc>
                <a:extLst>
                  <a:ext uri="{0D108BD9-81ED-4DB2-BD59-A6C34878D82A}">
                    <a16:rowId xmlns:a16="http://schemas.microsoft.com/office/drawing/2014/main" val="678220124"/>
                  </a:ext>
                </a:extLst>
              </a:tr>
              <a:tr h="139559">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712584802"/>
                  </a:ext>
                </a:extLst>
              </a:tr>
              <a:tr h="139559">
                <a:tc>
                  <a:txBody>
                    <a:bodyPr/>
                    <a:lstStyle/>
                    <a:p>
                      <a:pPr algn="l" fontAlgn="b"/>
                      <a:r>
                        <a:rPr lang="en-IN" sz="900" u="none" strike="noStrike" dirty="0">
                          <a:effectLst/>
                          <a:latin typeface="+mj-lt"/>
                        </a:rPr>
                        <a:t> Cash Schedule </a:t>
                      </a:r>
                      <a:endParaRPr lang="en-IN" sz="900" b="1"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183728130"/>
                  </a:ext>
                </a:extLst>
              </a:tr>
              <a:tr h="139559">
                <a:tc>
                  <a:txBody>
                    <a:bodyPr/>
                    <a:lstStyle/>
                    <a:p>
                      <a:pPr algn="l" fontAlgn="b"/>
                      <a:r>
                        <a:rPr lang="en-IN" sz="900" u="none" strike="noStrike" dirty="0">
                          <a:effectLst/>
                          <a:latin typeface="+mj-lt"/>
                        </a:rPr>
                        <a:t> Opening cash balance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31,145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32,543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32,356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-1,01,590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-2,13,798</a:t>
                      </a:r>
                    </a:p>
                  </a:txBody>
                  <a:tcPr marL="0" marR="0" marT="0" marB="0" anchor="ctr"/>
                </a:tc>
                <a:extLst>
                  <a:ext uri="{0D108BD9-81ED-4DB2-BD59-A6C34878D82A}">
                    <a16:rowId xmlns:a16="http://schemas.microsoft.com/office/drawing/2014/main" val="697929680"/>
                  </a:ext>
                </a:extLst>
              </a:tr>
              <a:tr h="139559">
                <a:tc>
                  <a:txBody>
                    <a:bodyPr/>
                    <a:lstStyle/>
                    <a:p>
                      <a:pPr algn="l" fontAlgn="b"/>
                      <a:r>
                        <a:rPr lang="en-US" sz="900" u="none" strike="noStrike" dirty="0">
                          <a:effectLst/>
                          <a:latin typeface="+mj-lt"/>
                        </a:rPr>
                        <a:t> Cash generated during the year </a:t>
                      </a:r>
                      <a:endParaRPr lang="en-US"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-4,885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6,283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-11,305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-29,911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-35,919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-56,811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-55,814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-56,395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-64,701</a:t>
                      </a:r>
                    </a:p>
                  </a:txBody>
                  <a:tcPr marL="0" marR="0" marT="0" marB="0" anchor="ctr"/>
                </a:tc>
                <a:extLst>
                  <a:ext uri="{0D108BD9-81ED-4DB2-BD59-A6C34878D82A}">
                    <a16:rowId xmlns:a16="http://schemas.microsoft.com/office/drawing/2014/main" val="3564589224"/>
                  </a:ext>
                </a:extLst>
              </a:tr>
              <a:tr h="139559">
                <a:tc>
                  <a:txBody>
                    <a:bodyPr/>
                    <a:lstStyle/>
                    <a:p>
                      <a:pPr algn="l" fontAlgn="b"/>
                      <a:r>
                        <a:rPr lang="en-IN" sz="900" b="1" u="none" strike="noStrike" dirty="0">
                          <a:effectLst/>
                          <a:latin typeface="+mj-lt"/>
                        </a:rPr>
                        <a:t> Closing Cash Balance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26,260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32,543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32,356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21,051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-8,860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-44,779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-1,01,590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-1,57,404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-2,13,798</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-2,78,499</a:t>
                      </a:r>
                    </a:p>
                  </a:txBody>
                  <a:tcPr marL="0" marR="0" marT="0" marB="0" anchor="ctr"/>
                </a:tc>
                <a:extLst>
                  <a:ext uri="{0D108BD9-81ED-4DB2-BD59-A6C34878D82A}">
                    <a16:rowId xmlns:a16="http://schemas.microsoft.com/office/drawing/2014/main" val="3095342605"/>
                  </a:ext>
                </a:extLst>
              </a:tr>
            </a:tbl>
          </a:graphicData>
        </a:graphic>
      </p:graphicFrame>
    </p:spTree>
    <p:extLst>
      <p:ext uri="{BB962C8B-B14F-4D97-AF65-F5344CB8AC3E}">
        <p14:creationId xmlns:p14="http://schemas.microsoft.com/office/powerpoint/2010/main" val="3455703597"/>
      </p:ext>
    </p:extLst>
  </p:cSld>
  <p:clrMapOvr>
    <a:masterClrMapping/>
  </p:clrMapOvr>
  <p:transition>
    <p:fad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Projected BS Statement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503461562"/>
              </p:ext>
            </p:extLst>
          </p:nvPr>
        </p:nvGraphicFramePr>
        <p:xfrm>
          <a:off x="469900" y="1224531"/>
          <a:ext cx="11252198" cy="4561897"/>
        </p:xfrm>
        <a:graphic>
          <a:graphicData uri="http://schemas.openxmlformats.org/drawingml/2006/table">
            <a:tbl>
              <a:tblPr firstRow="1">
                <a:tableStyleId>{793D81CF-94F2-401A-BA57-92F5A7B2D0C5}</a:tableStyleId>
              </a:tblPr>
              <a:tblGrid>
                <a:gridCol w="2002352">
                  <a:extLst>
                    <a:ext uri="{9D8B030D-6E8A-4147-A177-3AD203B41FA5}">
                      <a16:colId xmlns:a16="http://schemas.microsoft.com/office/drawing/2014/main" val="2897572859"/>
                    </a:ext>
                  </a:extLst>
                </a:gridCol>
                <a:gridCol w="896707">
                  <a:extLst>
                    <a:ext uri="{9D8B030D-6E8A-4147-A177-3AD203B41FA5}">
                      <a16:colId xmlns:a16="http://schemas.microsoft.com/office/drawing/2014/main" val="2866218434"/>
                    </a:ext>
                  </a:extLst>
                </a:gridCol>
                <a:gridCol w="896707">
                  <a:extLst>
                    <a:ext uri="{9D8B030D-6E8A-4147-A177-3AD203B41FA5}">
                      <a16:colId xmlns:a16="http://schemas.microsoft.com/office/drawing/2014/main" val="2446171039"/>
                    </a:ext>
                  </a:extLst>
                </a:gridCol>
                <a:gridCol w="896707">
                  <a:extLst>
                    <a:ext uri="{9D8B030D-6E8A-4147-A177-3AD203B41FA5}">
                      <a16:colId xmlns:a16="http://schemas.microsoft.com/office/drawing/2014/main" val="2830535041"/>
                    </a:ext>
                  </a:extLst>
                </a:gridCol>
                <a:gridCol w="896707">
                  <a:extLst>
                    <a:ext uri="{9D8B030D-6E8A-4147-A177-3AD203B41FA5}">
                      <a16:colId xmlns:a16="http://schemas.microsoft.com/office/drawing/2014/main" val="2125919646"/>
                    </a:ext>
                  </a:extLst>
                </a:gridCol>
                <a:gridCol w="896707">
                  <a:extLst>
                    <a:ext uri="{9D8B030D-6E8A-4147-A177-3AD203B41FA5}">
                      <a16:colId xmlns:a16="http://schemas.microsoft.com/office/drawing/2014/main" val="3085071553"/>
                    </a:ext>
                  </a:extLst>
                </a:gridCol>
                <a:gridCol w="896707">
                  <a:extLst>
                    <a:ext uri="{9D8B030D-6E8A-4147-A177-3AD203B41FA5}">
                      <a16:colId xmlns:a16="http://schemas.microsoft.com/office/drawing/2014/main" val="3685491337"/>
                    </a:ext>
                  </a:extLst>
                </a:gridCol>
                <a:gridCol w="896707">
                  <a:extLst>
                    <a:ext uri="{9D8B030D-6E8A-4147-A177-3AD203B41FA5}">
                      <a16:colId xmlns:a16="http://schemas.microsoft.com/office/drawing/2014/main" val="572051433"/>
                    </a:ext>
                  </a:extLst>
                </a:gridCol>
                <a:gridCol w="896707">
                  <a:extLst>
                    <a:ext uri="{9D8B030D-6E8A-4147-A177-3AD203B41FA5}">
                      <a16:colId xmlns:a16="http://schemas.microsoft.com/office/drawing/2014/main" val="668721978"/>
                    </a:ext>
                  </a:extLst>
                </a:gridCol>
                <a:gridCol w="1038095">
                  <a:extLst>
                    <a:ext uri="{9D8B030D-6E8A-4147-A177-3AD203B41FA5}">
                      <a16:colId xmlns:a16="http://schemas.microsoft.com/office/drawing/2014/main" val="4252960023"/>
                    </a:ext>
                  </a:extLst>
                </a:gridCol>
                <a:gridCol w="1038095">
                  <a:extLst>
                    <a:ext uri="{9D8B030D-6E8A-4147-A177-3AD203B41FA5}">
                      <a16:colId xmlns:a16="http://schemas.microsoft.com/office/drawing/2014/main" val="2728699512"/>
                    </a:ext>
                  </a:extLst>
                </a:gridCol>
              </a:tblGrid>
              <a:tr h="178254">
                <a:tc>
                  <a:txBody>
                    <a:bodyPr/>
                    <a:lstStyle/>
                    <a:p>
                      <a:pPr algn="l" fontAlgn="b"/>
                      <a:r>
                        <a:rPr lang="en-IN" sz="900" u="none" strike="noStrike" dirty="0">
                          <a:effectLst/>
                          <a:latin typeface="+mj-lt"/>
                        </a:rPr>
                        <a:t> </a:t>
                      </a:r>
                      <a:r>
                        <a:rPr lang="en-IN" sz="900" u="none" strike="noStrike" dirty="0" err="1" smtClean="0">
                          <a:effectLst/>
                          <a:latin typeface="+mj-lt"/>
                        </a:rPr>
                        <a:t>Mn</a:t>
                      </a:r>
                      <a:r>
                        <a:rPr lang="en-IN" sz="900" u="none" strike="noStrike" dirty="0" smtClean="0">
                          <a:effectLst/>
                          <a:latin typeface="+mj-lt"/>
                        </a:rPr>
                        <a:t> NPR</a:t>
                      </a:r>
                      <a:endParaRPr lang="en-IN" sz="900" b="0"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854130866"/>
                  </a:ext>
                </a:extLst>
              </a:tr>
              <a:tr h="178254">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733367259"/>
                  </a:ext>
                </a:extLst>
              </a:tr>
              <a:tr h="182843">
                <a:tc>
                  <a:txBody>
                    <a:bodyPr/>
                    <a:lstStyle/>
                    <a:p>
                      <a:pPr algn="l" fontAlgn="b"/>
                      <a:r>
                        <a:rPr lang="en-IN" sz="900" u="none" strike="noStrike" dirty="0">
                          <a:effectLst/>
                          <a:latin typeface="+mj-lt"/>
                        </a:rPr>
                        <a:t> GFA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2,69,154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3,47,534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4,40,475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5,15,382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6,39,453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6,91,309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7,95,126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9,78,937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9,90,710 </a:t>
                      </a:r>
                    </a:p>
                  </a:txBody>
                  <a:tcPr marL="0" marR="0" marT="0" marB="0" anchor="ctr"/>
                </a:tc>
                <a:extLst>
                  <a:ext uri="{0D108BD9-81ED-4DB2-BD59-A6C34878D82A}">
                    <a16:rowId xmlns:a16="http://schemas.microsoft.com/office/drawing/2014/main" val="3277971028"/>
                  </a:ext>
                </a:extLst>
              </a:tr>
              <a:tr h="182843">
                <a:tc>
                  <a:txBody>
                    <a:bodyPr/>
                    <a:lstStyle/>
                    <a:p>
                      <a:pPr algn="l" fontAlgn="b"/>
                      <a:r>
                        <a:rPr lang="en-IN" sz="900" u="none" strike="noStrike">
                          <a:effectLst/>
                          <a:latin typeface="+mj-lt"/>
                        </a:rPr>
                        <a:t> Accumulated Depreciation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65,596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75,298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87,931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1,03,039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1,19,025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1,38,131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1,58,945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1,83,015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2,12,728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2,42,870 </a:t>
                      </a:r>
                    </a:p>
                  </a:txBody>
                  <a:tcPr marL="0" marR="0" marT="0" marB="0" anchor="ctr"/>
                </a:tc>
                <a:extLst>
                  <a:ext uri="{0D108BD9-81ED-4DB2-BD59-A6C34878D82A}">
                    <a16:rowId xmlns:a16="http://schemas.microsoft.com/office/drawing/2014/main" val="2508431847"/>
                  </a:ext>
                </a:extLst>
              </a:tr>
              <a:tr h="182843">
                <a:tc>
                  <a:txBody>
                    <a:bodyPr/>
                    <a:lstStyle/>
                    <a:p>
                      <a:pPr algn="l" fontAlgn="b"/>
                      <a:r>
                        <a:rPr lang="en-IN" sz="900" u="none" strike="noStrike">
                          <a:effectLst/>
                          <a:latin typeface="+mj-lt"/>
                        </a:rPr>
                        <a:t> Net Fixed Assets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2,03,558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2,72,236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3,52,544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4,12,343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4,22,001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5,01,323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5,32,363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6,12,111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7,66,208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7,47,840 </a:t>
                      </a:r>
                    </a:p>
                  </a:txBody>
                  <a:tcPr marL="0" marR="0" marT="0" marB="0" anchor="ctr"/>
                </a:tc>
                <a:extLst>
                  <a:ext uri="{0D108BD9-81ED-4DB2-BD59-A6C34878D82A}">
                    <a16:rowId xmlns:a16="http://schemas.microsoft.com/office/drawing/2014/main" val="3318529740"/>
                  </a:ext>
                </a:extLst>
              </a:tr>
              <a:tr h="182843">
                <a:tc>
                  <a:txBody>
                    <a:bodyPr/>
                    <a:lstStyle/>
                    <a:p>
                      <a:pPr algn="l" fontAlgn="b"/>
                      <a:r>
                        <a:rPr lang="en-IN" sz="900" u="none" strike="noStrike">
                          <a:effectLst/>
                          <a:latin typeface="+mj-lt"/>
                        </a:rPr>
                        <a:t> Capital work in Progress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78,550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85,204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66,139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58,501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1,21,640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1,46,311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1,80,300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1,40,443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747574949"/>
                  </a:ext>
                </a:extLst>
              </a:tr>
              <a:tr h="182843">
                <a:tc>
                  <a:txBody>
                    <a:bodyPr/>
                    <a:lstStyle/>
                    <a:p>
                      <a:pPr algn="l" fontAlgn="b"/>
                      <a:r>
                        <a:rPr lang="en-IN" sz="900" u="none" strike="noStrike">
                          <a:effectLst/>
                          <a:latin typeface="+mj-lt"/>
                        </a:rPr>
                        <a:t> Investments </a:t>
                      </a:r>
                      <a:endParaRPr lang="en-IN" sz="900" b="1"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37,300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41,130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45,762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52,293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65,985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79,505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92,955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1,00,774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1,06,104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1,11,434 </a:t>
                      </a:r>
                    </a:p>
                  </a:txBody>
                  <a:tcPr marL="0" marR="0" marT="0" marB="0" anchor="ctr"/>
                </a:tc>
                <a:extLst>
                  <a:ext uri="{0D108BD9-81ED-4DB2-BD59-A6C34878D82A}">
                    <a16:rowId xmlns:a16="http://schemas.microsoft.com/office/drawing/2014/main" val="1277287048"/>
                  </a:ext>
                </a:extLst>
              </a:tr>
              <a:tr h="182843">
                <a:tc>
                  <a:txBody>
                    <a:bodyPr/>
                    <a:lstStyle/>
                    <a:p>
                      <a:pPr algn="l" fontAlgn="b"/>
                      <a:endParaRPr lang="en-IN" sz="900" b="1"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378905697"/>
                  </a:ext>
                </a:extLst>
              </a:tr>
              <a:tr h="182843">
                <a:tc>
                  <a:txBody>
                    <a:bodyPr/>
                    <a:lstStyle/>
                    <a:p>
                      <a:pPr algn="l" fontAlgn="b"/>
                      <a:r>
                        <a:rPr lang="en-IN" sz="900" u="none" strike="noStrike">
                          <a:effectLst/>
                          <a:latin typeface="+mj-lt"/>
                        </a:rPr>
                        <a:t> Current Assets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48,156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46,882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43,654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37,047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28,697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31,592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34,547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37,879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42,141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43,076 </a:t>
                      </a:r>
                    </a:p>
                  </a:txBody>
                  <a:tcPr marL="0" marR="0" marT="0" marB="0" anchor="ctr"/>
                </a:tc>
                <a:extLst>
                  <a:ext uri="{0D108BD9-81ED-4DB2-BD59-A6C34878D82A}">
                    <a16:rowId xmlns:a16="http://schemas.microsoft.com/office/drawing/2014/main" val="2156494103"/>
                  </a:ext>
                </a:extLst>
              </a:tr>
              <a:tr h="182843">
                <a:tc>
                  <a:txBody>
                    <a:bodyPr/>
                    <a:lstStyle/>
                    <a:p>
                      <a:pPr algn="l" fontAlgn="b"/>
                      <a:r>
                        <a:rPr lang="en-IN" sz="900" u="none" strike="noStrike">
                          <a:effectLst/>
                          <a:latin typeface="+mj-lt"/>
                        </a:rPr>
                        <a:t> Cash &amp; Bank Balance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26,260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32,543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32,356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21,051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(8,860)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(44,779)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(1,01,590)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(1,57,404)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(2,13,798)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(2,78,499)</a:t>
                      </a:r>
                    </a:p>
                  </a:txBody>
                  <a:tcPr marL="0" marR="0" marT="0" marB="0" anchor="ctr"/>
                </a:tc>
                <a:extLst>
                  <a:ext uri="{0D108BD9-81ED-4DB2-BD59-A6C34878D82A}">
                    <a16:rowId xmlns:a16="http://schemas.microsoft.com/office/drawing/2014/main" val="2072041813"/>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740843065"/>
                  </a:ext>
                </a:extLst>
              </a:tr>
              <a:tr h="182843">
                <a:tc>
                  <a:txBody>
                    <a:bodyPr/>
                    <a:lstStyle/>
                    <a:p>
                      <a:pPr algn="l" fontAlgn="b"/>
                      <a:r>
                        <a:rPr lang="en-IN" sz="900" b="1" u="none" strike="noStrike" dirty="0">
                          <a:effectLst/>
                          <a:latin typeface="+mj-lt"/>
                        </a:rPr>
                        <a:t> TOTAL ASSETS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4,77,995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5,40,455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5,81,235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6,29,465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7,13,952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7,38,575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7,33,804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7,00,655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6,23,851 </a:t>
                      </a:r>
                    </a:p>
                  </a:txBody>
                  <a:tcPr marL="0" marR="0" marT="0" marB="0" anchor="ctr"/>
                </a:tc>
                <a:extLst>
                  <a:ext uri="{0D108BD9-81ED-4DB2-BD59-A6C34878D82A}">
                    <a16:rowId xmlns:a16="http://schemas.microsoft.com/office/drawing/2014/main" val="3908092861"/>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152754460"/>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037395821"/>
                  </a:ext>
                </a:extLst>
              </a:tr>
              <a:tr h="182843">
                <a:tc>
                  <a:txBody>
                    <a:bodyPr/>
                    <a:lstStyle/>
                    <a:p>
                      <a:pPr algn="l" fontAlgn="b"/>
                      <a:r>
                        <a:rPr lang="en-IN" sz="900" u="none" strike="noStrike" dirty="0">
                          <a:effectLst/>
                          <a:latin typeface="+mj-lt"/>
                        </a:rPr>
                        <a:t> Equity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1,49,676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1,77,205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2,01,944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2,21,522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2,34,203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2,50,314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2,62,702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2,72,893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2,81,026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2,85,999 </a:t>
                      </a:r>
                    </a:p>
                  </a:txBody>
                  <a:tcPr marL="0" marR="0" marT="0" marB="0" anchor="ctr"/>
                </a:tc>
                <a:extLst>
                  <a:ext uri="{0D108BD9-81ED-4DB2-BD59-A6C34878D82A}">
                    <a16:rowId xmlns:a16="http://schemas.microsoft.com/office/drawing/2014/main" val="1420917055"/>
                  </a:ext>
                </a:extLst>
              </a:tr>
              <a:tr h="182843">
                <a:tc>
                  <a:txBody>
                    <a:bodyPr/>
                    <a:lstStyle/>
                    <a:p>
                      <a:pPr algn="l" fontAlgn="b"/>
                      <a:r>
                        <a:rPr lang="en-IN" sz="900" u="none" strike="noStrike" dirty="0">
                          <a:effectLst/>
                          <a:latin typeface="+mj-lt"/>
                        </a:rPr>
                        <a:t> Reserve and Surplus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4,313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16,403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21,317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20,332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11,950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(3,512)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(42,067)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(88,454)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(1,41,082)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(1,98,766)</a:t>
                      </a:r>
                    </a:p>
                  </a:txBody>
                  <a:tcPr marL="0" marR="0" marT="0" marB="0" anchor="ctr"/>
                </a:tc>
                <a:extLst>
                  <a:ext uri="{0D108BD9-81ED-4DB2-BD59-A6C34878D82A}">
                    <a16:rowId xmlns:a16="http://schemas.microsoft.com/office/drawing/2014/main" val="1133694758"/>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866307401"/>
                  </a:ext>
                </a:extLst>
              </a:tr>
              <a:tr h="182843">
                <a:tc>
                  <a:txBody>
                    <a:bodyPr/>
                    <a:lstStyle/>
                    <a:p>
                      <a:pPr algn="l" fontAlgn="b"/>
                      <a:r>
                        <a:rPr lang="en-IN" sz="900" u="none" strike="noStrike" dirty="0">
                          <a:effectLst/>
                          <a:latin typeface="+mj-lt"/>
                        </a:rPr>
                        <a:t> Non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693 </a:t>
                      </a:r>
                    </a:p>
                  </a:txBody>
                  <a:tcPr marL="0" marR="0" marT="0" marB="0" anchor="ctr"/>
                </a:tc>
                <a:extLst>
                  <a:ext uri="{0D108BD9-81ED-4DB2-BD59-A6C34878D82A}">
                    <a16:rowId xmlns:a16="http://schemas.microsoft.com/office/drawing/2014/main" val="1884773589"/>
                  </a:ext>
                </a:extLst>
              </a:tr>
              <a:tr h="182843">
                <a:tc>
                  <a:txBody>
                    <a:bodyPr/>
                    <a:lstStyle/>
                    <a:p>
                      <a:pPr algn="l" fontAlgn="b"/>
                      <a:r>
                        <a:rPr lang="en-IN" sz="900" u="none" strike="noStrike">
                          <a:effectLst/>
                          <a:latin typeface="+mj-lt"/>
                        </a:rPr>
                        <a:t> Long Term Loans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1,64,652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2,08,440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2,43,470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2,74,757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3,29,588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4,10,789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4,58,313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4,86,380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4,93,891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4,68,966 </a:t>
                      </a:r>
                    </a:p>
                  </a:txBody>
                  <a:tcPr marL="0" marR="0" marT="0" marB="0" anchor="ctr"/>
                </a:tc>
                <a:extLst>
                  <a:ext uri="{0D108BD9-81ED-4DB2-BD59-A6C34878D82A}">
                    <a16:rowId xmlns:a16="http://schemas.microsoft.com/office/drawing/2014/main" val="710154230"/>
                  </a:ext>
                </a:extLst>
              </a:tr>
              <a:tr h="182843">
                <a:tc>
                  <a:txBody>
                    <a:bodyPr/>
                    <a:lstStyle/>
                    <a:p>
                      <a:pPr algn="l" fontAlgn="b"/>
                      <a:endParaRPr lang="en-IN" sz="900" b="0" i="0" u="none" strike="noStrike">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250685179"/>
                  </a:ext>
                </a:extLst>
              </a:tr>
              <a:tr h="182843">
                <a:tc>
                  <a:txBody>
                    <a:bodyPr/>
                    <a:lstStyle/>
                    <a:p>
                      <a:pPr algn="l" fontAlgn="b"/>
                      <a:r>
                        <a:rPr lang="en-US" sz="900" b="0" i="0" u="none" strike="noStrike" dirty="0" smtClean="0">
                          <a:solidFill>
                            <a:srgbClr val="000000"/>
                          </a:solidFill>
                          <a:effectLst/>
                          <a:latin typeface="+mj-lt"/>
                        </a:rPr>
                        <a:t>Working Capital Loan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7,258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2,503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157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5,976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11,925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12,528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11,801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11,742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12,739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12,977 </a:t>
                      </a:r>
                    </a:p>
                  </a:txBody>
                  <a:tcPr marL="0" marR="0" marT="0" marB="0" anchor="ctr"/>
                </a:tc>
                <a:extLst>
                  <a:ext uri="{0D108BD9-81ED-4DB2-BD59-A6C34878D82A}">
                    <a16:rowId xmlns:a16="http://schemas.microsoft.com/office/drawing/2014/main" val="3477130744"/>
                  </a:ext>
                </a:extLst>
              </a:tr>
              <a:tr h="182843">
                <a:tc>
                  <a:txBody>
                    <a:bodyPr/>
                    <a:lstStyle/>
                    <a:p>
                      <a:pPr algn="l" fontAlgn="b"/>
                      <a:r>
                        <a:rPr lang="en-IN" sz="900" u="none" strike="noStrike">
                          <a:effectLst/>
                          <a:latin typeface="+mj-lt"/>
                        </a:rPr>
                        <a:t> Cash Deficit Loan </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   </a:t>
                      </a:r>
                    </a:p>
                  </a:txBody>
                  <a:tcPr marL="0" marR="0" marT="0" marB="0" anchor="ctr"/>
                </a:tc>
                <a:extLst>
                  <a:ext uri="{0D108BD9-81ED-4DB2-BD59-A6C34878D82A}">
                    <a16:rowId xmlns:a16="http://schemas.microsoft.com/office/drawing/2014/main" val="3280666168"/>
                  </a:ext>
                </a:extLst>
              </a:tr>
              <a:tr h="182843">
                <a:tc>
                  <a:txBody>
                    <a:bodyPr/>
                    <a:lstStyle/>
                    <a:p>
                      <a:pPr algn="l" fontAlgn="b"/>
                      <a:r>
                        <a:rPr lang="en-IN" sz="900" u="none" strike="noStrike" dirty="0">
                          <a:effectLst/>
                          <a:latin typeface="+mj-lt"/>
                        </a:rPr>
                        <a:t> Current Liabilities </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67,232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72,751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72,875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57,954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41,106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43,140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47,133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50,549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53,388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53,982 </a:t>
                      </a:r>
                    </a:p>
                  </a:txBody>
                  <a:tcPr marL="0" marR="0" marT="0" marB="0" anchor="ctr"/>
                </a:tc>
                <a:extLst>
                  <a:ext uri="{0D108BD9-81ED-4DB2-BD59-A6C34878D82A}">
                    <a16:rowId xmlns:a16="http://schemas.microsoft.com/office/drawing/2014/main" val="4049950973"/>
                  </a:ext>
                </a:extLst>
              </a:tr>
              <a:tr h="182843">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r"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89583288"/>
                  </a:ext>
                </a:extLst>
              </a:tr>
              <a:tr h="182843">
                <a:tc>
                  <a:txBody>
                    <a:bodyPr/>
                    <a:lstStyle/>
                    <a:p>
                      <a:pPr algn="l" fontAlgn="b"/>
                      <a:r>
                        <a:rPr lang="en-IN" sz="900" b="1" u="none" strike="noStrike" dirty="0">
                          <a:effectLst/>
                          <a:latin typeface="+mj-lt"/>
                        </a:rPr>
                        <a:t> TOTAL LIABILITIES </a:t>
                      </a:r>
                      <a:endParaRPr lang="en-IN" sz="900" b="1"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   3,93,824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4,77,995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5,40,455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5,81,235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6,29,465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7,13,952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7,38,575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7,33,804 </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    7,00,655 </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    6,23,851 </a:t>
                      </a:r>
                    </a:p>
                  </a:txBody>
                  <a:tcPr marL="0" marR="0" marT="0" marB="0" anchor="ctr"/>
                </a:tc>
                <a:extLst>
                  <a:ext uri="{0D108BD9-81ED-4DB2-BD59-A6C34878D82A}">
                    <a16:rowId xmlns:a16="http://schemas.microsoft.com/office/drawing/2014/main" val="1097840004"/>
                  </a:ext>
                </a:extLst>
              </a:tr>
            </a:tbl>
          </a:graphicData>
        </a:graphic>
      </p:graphicFrame>
    </p:spTree>
    <p:extLst>
      <p:ext uri="{BB962C8B-B14F-4D97-AF65-F5344CB8AC3E}">
        <p14:creationId xmlns:p14="http://schemas.microsoft.com/office/powerpoint/2010/main" val="3347148102"/>
      </p:ext>
    </p:extLst>
  </p:cSld>
  <p:clrMapOvr>
    <a:masterClrMapping/>
  </p:clrMapOvr>
  <p:transition>
    <p:fade/>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lang="en-IN"/>
          </a:p>
        </p:txBody>
      </p:sp>
      <p:sp>
        <p:nvSpPr>
          <p:cNvPr id="3" name="Title 2"/>
          <p:cNvSpPr>
            <a:spLocks noGrp="1"/>
          </p:cNvSpPr>
          <p:nvPr>
            <p:ph type="title"/>
          </p:nvPr>
        </p:nvSpPr>
        <p:spPr/>
        <p:txBody>
          <a:bodyPr/>
          <a:lstStyle/>
          <a:p>
            <a:r>
              <a:rPr lang="en-US" dirty="0" smtClean="0"/>
              <a:t>Key Financial Ratios</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2703033262"/>
              </p:ext>
            </p:extLst>
          </p:nvPr>
        </p:nvGraphicFramePr>
        <p:xfrm>
          <a:off x="469900" y="1239604"/>
          <a:ext cx="11252197" cy="4924185"/>
        </p:xfrm>
        <a:graphic>
          <a:graphicData uri="http://schemas.openxmlformats.org/drawingml/2006/table">
            <a:tbl>
              <a:tblPr firstRow="1">
                <a:tableStyleId>{793D81CF-94F2-401A-BA57-92F5A7B2D0C5}</a:tableStyleId>
              </a:tblPr>
              <a:tblGrid>
                <a:gridCol w="3243651">
                  <a:extLst>
                    <a:ext uri="{9D8B030D-6E8A-4147-A177-3AD203B41FA5}">
                      <a16:colId xmlns:a16="http://schemas.microsoft.com/office/drawing/2014/main" val="3340619968"/>
                    </a:ext>
                  </a:extLst>
                </a:gridCol>
                <a:gridCol w="754337">
                  <a:extLst>
                    <a:ext uri="{9D8B030D-6E8A-4147-A177-3AD203B41FA5}">
                      <a16:colId xmlns:a16="http://schemas.microsoft.com/office/drawing/2014/main" val="2473333079"/>
                    </a:ext>
                  </a:extLst>
                </a:gridCol>
                <a:gridCol w="754337">
                  <a:extLst>
                    <a:ext uri="{9D8B030D-6E8A-4147-A177-3AD203B41FA5}">
                      <a16:colId xmlns:a16="http://schemas.microsoft.com/office/drawing/2014/main" val="3823895913"/>
                    </a:ext>
                  </a:extLst>
                </a:gridCol>
                <a:gridCol w="754337">
                  <a:extLst>
                    <a:ext uri="{9D8B030D-6E8A-4147-A177-3AD203B41FA5}">
                      <a16:colId xmlns:a16="http://schemas.microsoft.com/office/drawing/2014/main" val="3681307447"/>
                    </a:ext>
                  </a:extLst>
                </a:gridCol>
                <a:gridCol w="766909">
                  <a:extLst>
                    <a:ext uri="{9D8B030D-6E8A-4147-A177-3AD203B41FA5}">
                      <a16:colId xmlns:a16="http://schemas.microsoft.com/office/drawing/2014/main" val="1849965115"/>
                    </a:ext>
                  </a:extLst>
                </a:gridCol>
                <a:gridCol w="829771">
                  <a:extLst>
                    <a:ext uri="{9D8B030D-6E8A-4147-A177-3AD203B41FA5}">
                      <a16:colId xmlns:a16="http://schemas.microsoft.com/office/drawing/2014/main" val="2574932302"/>
                    </a:ext>
                  </a:extLst>
                </a:gridCol>
                <a:gridCol w="829771">
                  <a:extLst>
                    <a:ext uri="{9D8B030D-6E8A-4147-A177-3AD203B41FA5}">
                      <a16:colId xmlns:a16="http://schemas.microsoft.com/office/drawing/2014/main" val="3286240395"/>
                    </a:ext>
                  </a:extLst>
                </a:gridCol>
                <a:gridCol w="829771">
                  <a:extLst>
                    <a:ext uri="{9D8B030D-6E8A-4147-A177-3AD203B41FA5}">
                      <a16:colId xmlns:a16="http://schemas.microsoft.com/office/drawing/2014/main" val="3576271899"/>
                    </a:ext>
                  </a:extLst>
                </a:gridCol>
                <a:gridCol w="829771">
                  <a:extLst>
                    <a:ext uri="{9D8B030D-6E8A-4147-A177-3AD203B41FA5}">
                      <a16:colId xmlns:a16="http://schemas.microsoft.com/office/drawing/2014/main" val="2874893857"/>
                    </a:ext>
                  </a:extLst>
                </a:gridCol>
                <a:gridCol w="829771">
                  <a:extLst>
                    <a:ext uri="{9D8B030D-6E8A-4147-A177-3AD203B41FA5}">
                      <a16:colId xmlns:a16="http://schemas.microsoft.com/office/drawing/2014/main" val="2878349541"/>
                    </a:ext>
                  </a:extLst>
                </a:gridCol>
                <a:gridCol w="829771">
                  <a:extLst>
                    <a:ext uri="{9D8B030D-6E8A-4147-A177-3AD203B41FA5}">
                      <a16:colId xmlns:a16="http://schemas.microsoft.com/office/drawing/2014/main" val="1925174175"/>
                    </a:ext>
                  </a:extLst>
                </a:gridCol>
              </a:tblGrid>
              <a:tr h="214095">
                <a:tc>
                  <a:txBody>
                    <a:bodyPr/>
                    <a:lstStyle/>
                    <a:p>
                      <a:pPr algn="l" fontAlgn="b"/>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FY-20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FY-21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FY-22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FY-23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FY-24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FY-25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FY-26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FY-27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a:effectLst/>
                          <a:latin typeface="+mj-lt"/>
                        </a:rPr>
                        <a:t> </a:t>
                      </a:r>
                      <a:r>
                        <a:rPr lang="en-IN" sz="900" b="1" u="none" strike="noStrike" dirty="0" smtClean="0">
                          <a:effectLst/>
                          <a:latin typeface="+mj-lt"/>
                        </a:rPr>
                        <a:t>FY-28 </a:t>
                      </a:r>
                      <a:endParaRPr lang="en-IN" sz="900" b="1" i="0" u="none" strike="noStrike" dirty="0">
                        <a:solidFill>
                          <a:srgbClr val="000000"/>
                        </a:solidFill>
                        <a:effectLst/>
                        <a:latin typeface="+mj-lt"/>
                      </a:endParaRPr>
                    </a:p>
                  </a:txBody>
                  <a:tcPr marL="5963" marR="5963" marT="5963" marB="0" anchor="ctr"/>
                </a:tc>
                <a:tc>
                  <a:txBody>
                    <a:bodyPr/>
                    <a:lstStyle/>
                    <a:p>
                      <a:pPr algn="ctr" fontAlgn="b"/>
                      <a:r>
                        <a:rPr lang="en-IN" sz="900" b="1" u="none" strike="noStrike" dirty="0" smtClean="0">
                          <a:effectLst/>
                          <a:latin typeface="+mj-lt"/>
                        </a:rPr>
                        <a:t>FY-29</a:t>
                      </a:r>
                      <a:endParaRPr lang="en-IN" sz="900" b="1" i="0" u="none" strike="noStrike" dirty="0">
                        <a:solidFill>
                          <a:srgbClr val="000000"/>
                        </a:solidFill>
                        <a:effectLst/>
                        <a:latin typeface="+mj-lt"/>
                      </a:endParaRPr>
                    </a:p>
                  </a:txBody>
                  <a:tcPr marL="5963" marR="5963" marT="5963" marB="0" anchor="ctr"/>
                </a:tc>
                <a:extLst>
                  <a:ext uri="{0D108BD9-81ED-4DB2-BD59-A6C34878D82A}">
                    <a16:rowId xmlns:a16="http://schemas.microsoft.com/office/drawing/2014/main" val="2365795727"/>
                  </a:ext>
                </a:extLst>
              </a:tr>
              <a:tr h="214095">
                <a:tc>
                  <a:txBody>
                    <a:bodyPr/>
                    <a:lstStyle/>
                    <a:p>
                      <a:pPr algn="l" fontAlgn="b"/>
                      <a:r>
                        <a:rPr lang="en-IN" sz="900" b="1" u="none" strike="noStrike" dirty="0">
                          <a:effectLst/>
                          <a:latin typeface="+mj-lt"/>
                        </a:rPr>
                        <a:t>Profitability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extLst>
                  <a:ext uri="{0D108BD9-81ED-4DB2-BD59-A6C34878D82A}">
                    <a16:rowId xmlns:a16="http://schemas.microsoft.com/office/drawing/2014/main" val="909696667"/>
                  </a:ext>
                </a:extLst>
              </a:tr>
              <a:tr h="214095">
                <a:tc>
                  <a:txBody>
                    <a:bodyPr/>
                    <a:lstStyle/>
                    <a:p>
                      <a:pPr algn="l" fontAlgn="b"/>
                      <a:r>
                        <a:rPr lang="en-IN" sz="900" u="none" strike="noStrike" dirty="0">
                          <a:effectLst/>
                          <a:latin typeface="+mj-lt"/>
                        </a:rPr>
                        <a:t>PBITDA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extLst>
                  <a:ext uri="{0D108BD9-81ED-4DB2-BD59-A6C34878D82A}">
                    <a16:rowId xmlns:a16="http://schemas.microsoft.com/office/drawing/2014/main" val="2639223952"/>
                  </a:ext>
                </a:extLst>
              </a:tr>
              <a:tr h="214095">
                <a:tc>
                  <a:txBody>
                    <a:bodyPr/>
                    <a:lstStyle/>
                    <a:p>
                      <a:pPr algn="l" fontAlgn="b"/>
                      <a:r>
                        <a:rPr lang="en-IN" sz="900" u="none" strike="noStrike" dirty="0">
                          <a:effectLst/>
                          <a:latin typeface="+mj-lt"/>
                        </a:rPr>
                        <a:t>PAT Margin</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a:t>
                      </a:r>
                    </a:p>
                  </a:txBody>
                  <a:tcPr marL="0" marR="0" marT="0" marB="0" anchor="ctr"/>
                </a:tc>
                <a:extLst>
                  <a:ext uri="{0D108BD9-81ED-4DB2-BD59-A6C34878D82A}">
                    <a16:rowId xmlns:a16="http://schemas.microsoft.com/office/drawing/2014/main" val="4177111069"/>
                  </a:ext>
                </a:extLst>
              </a:tr>
              <a:tr h="214095">
                <a:tc>
                  <a:txBody>
                    <a:bodyPr/>
                    <a:lstStyle/>
                    <a:p>
                      <a:pPr algn="l" fontAlgn="b"/>
                      <a:r>
                        <a:rPr lang="en-IN" sz="900" u="none" strike="noStrike" dirty="0">
                          <a:effectLst/>
                          <a:latin typeface="+mj-lt"/>
                        </a:rPr>
                        <a:t>Return on Equity</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a:t>
                      </a:r>
                    </a:p>
                  </a:txBody>
                  <a:tcPr marL="0" marR="0" marT="0" marB="0" anchor="ctr"/>
                </a:tc>
                <a:extLst>
                  <a:ext uri="{0D108BD9-81ED-4DB2-BD59-A6C34878D82A}">
                    <a16:rowId xmlns:a16="http://schemas.microsoft.com/office/drawing/2014/main" val="2577654813"/>
                  </a:ext>
                </a:extLst>
              </a:tr>
              <a:tr h="214095">
                <a:tc>
                  <a:txBody>
                    <a:bodyPr/>
                    <a:lstStyle/>
                    <a:p>
                      <a:pPr algn="l" fontAlgn="b"/>
                      <a:r>
                        <a:rPr lang="en-IN" sz="900" u="none" strike="noStrike" dirty="0">
                          <a:effectLst/>
                          <a:latin typeface="+mj-lt"/>
                        </a:rPr>
                        <a:t>Return on </a:t>
                      </a:r>
                      <a:r>
                        <a:rPr lang="en-IN" sz="900" u="none" strike="noStrike" dirty="0" smtClean="0">
                          <a:effectLst/>
                          <a:latin typeface="+mj-lt"/>
                        </a:rPr>
                        <a:t>Net</a:t>
                      </a:r>
                      <a:r>
                        <a:rPr lang="en-IN" sz="900" u="none" strike="noStrike" baseline="0" dirty="0" smtClean="0">
                          <a:effectLst/>
                          <a:latin typeface="+mj-lt"/>
                        </a:rPr>
                        <a:t> Worth</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-51%</a:t>
                      </a:r>
                    </a:p>
                  </a:txBody>
                  <a:tcPr marL="0" marR="0" marT="0" marB="0" anchor="ctr"/>
                </a:tc>
                <a:extLst>
                  <a:ext uri="{0D108BD9-81ED-4DB2-BD59-A6C34878D82A}">
                    <a16:rowId xmlns:a16="http://schemas.microsoft.com/office/drawing/2014/main" val="1326381336"/>
                  </a:ext>
                </a:extLst>
              </a:tr>
              <a:tr h="214095">
                <a:tc>
                  <a:txBody>
                    <a:bodyPr/>
                    <a:lstStyle/>
                    <a:p>
                      <a:pPr algn="l" fontAlgn="b"/>
                      <a:r>
                        <a:rPr lang="en-IN" sz="900" u="none" strike="noStrike" dirty="0">
                          <a:effectLst/>
                          <a:latin typeface="+mj-lt"/>
                        </a:rPr>
                        <a:t>Return on GFA</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extLst>
                  <a:ext uri="{0D108BD9-81ED-4DB2-BD59-A6C34878D82A}">
                    <a16:rowId xmlns:a16="http://schemas.microsoft.com/office/drawing/2014/main" val="3208153487"/>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2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705738409"/>
                  </a:ext>
                </a:extLst>
              </a:tr>
              <a:tr h="214095">
                <a:tc>
                  <a:txBody>
                    <a:bodyPr/>
                    <a:lstStyle/>
                    <a:p>
                      <a:pPr algn="l" fontAlgn="b"/>
                      <a:r>
                        <a:rPr lang="en-US" sz="900" b="0" i="0" u="none" strike="noStrike" dirty="0" smtClean="0">
                          <a:solidFill>
                            <a:srgbClr val="000000"/>
                          </a:solidFill>
                          <a:effectLst/>
                          <a:latin typeface="+mj-lt"/>
                        </a:rPr>
                        <a:t>Return </a:t>
                      </a:r>
                      <a:r>
                        <a:rPr lang="en-US" sz="900" b="0" i="0" u="none" strike="noStrike" dirty="0">
                          <a:solidFill>
                            <a:srgbClr val="000000"/>
                          </a:solidFill>
                          <a:effectLst/>
                          <a:latin typeface="+mj-lt"/>
                        </a:rPr>
                        <a:t>on NFA (Average of 3 years) </a:t>
                      </a:r>
                    </a:p>
                  </a:txBody>
                  <a:tcPr marL="6910" marR="6910" marT="691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-8%</a:t>
                      </a:r>
                    </a:p>
                  </a:txBody>
                  <a:tcPr marL="0" marR="0" marT="0" marB="0" anchor="ctr"/>
                </a:tc>
                <a:extLst>
                  <a:ext uri="{0D108BD9-81ED-4DB2-BD59-A6C34878D82A}">
                    <a16:rowId xmlns:a16="http://schemas.microsoft.com/office/drawing/2014/main" val="4064222649"/>
                  </a:ext>
                </a:extLst>
              </a:tr>
              <a:tr h="214095">
                <a:tc>
                  <a:txBody>
                    <a:bodyPr/>
                    <a:lstStyle/>
                    <a:p>
                      <a:pPr algn="l" fontAlgn="b"/>
                      <a:r>
                        <a:rPr lang="en-IN" sz="900" u="none" strike="noStrike" dirty="0">
                          <a:effectLst/>
                          <a:latin typeface="+mj-lt"/>
                        </a:rPr>
                        <a:t>Return on Total Assets</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-9%</a:t>
                      </a:r>
                    </a:p>
                  </a:txBody>
                  <a:tcPr marL="0" marR="0" marT="0" marB="0" anchor="ctr"/>
                </a:tc>
                <a:extLst>
                  <a:ext uri="{0D108BD9-81ED-4DB2-BD59-A6C34878D82A}">
                    <a16:rowId xmlns:a16="http://schemas.microsoft.com/office/drawing/2014/main" val="4046757847"/>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2991783536"/>
                  </a:ext>
                </a:extLst>
              </a:tr>
              <a:tr h="214095">
                <a:tc>
                  <a:txBody>
                    <a:bodyPr/>
                    <a:lstStyle/>
                    <a:p>
                      <a:pPr algn="l" fontAlgn="b"/>
                      <a:r>
                        <a:rPr lang="en-IN" sz="900" b="1" u="none" strike="noStrike" dirty="0">
                          <a:effectLst/>
                          <a:latin typeface="+mj-lt"/>
                        </a:rPr>
                        <a:t>Leverage Ratios</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659097331"/>
                  </a:ext>
                </a:extLst>
              </a:tr>
              <a:tr h="214095">
                <a:tc>
                  <a:txBody>
                    <a:bodyPr/>
                    <a:lstStyle/>
                    <a:p>
                      <a:pPr algn="l" fontAlgn="b"/>
                      <a:r>
                        <a:rPr lang="en-IN" sz="900" u="none" strike="noStrike">
                          <a:effectLst/>
                          <a:latin typeface="+mj-lt"/>
                        </a:rPr>
                        <a:t>Debt to Equity Ratio</a:t>
                      </a:r>
                      <a:endParaRPr lang="en-IN" sz="900" b="0" i="0" u="none" strike="noStrike">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1.41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1.76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1.64</a:t>
                      </a:r>
                    </a:p>
                  </a:txBody>
                  <a:tcPr marL="0" marR="0" marT="0" marB="0" anchor="ctr"/>
                </a:tc>
                <a:extLst>
                  <a:ext uri="{0D108BD9-81ED-4DB2-BD59-A6C34878D82A}">
                    <a16:rowId xmlns:a16="http://schemas.microsoft.com/office/drawing/2014/main" val="3072304071"/>
                  </a:ext>
                </a:extLst>
              </a:tr>
              <a:tr h="214095">
                <a:tc>
                  <a:txBody>
                    <a:bodyPr/>
                    <a:lstStyle/>
                    <a:p>
                      <a:pPr algn="l" fontAlgn="b"/>
                      <a:r>
                        <a:rPr lang="en-IN" sz="900" u="none" strike="noStrike" dirty="0">
                          <a:effectLst/>
                          <a:latin typeface="+mj-lt"/>
                        </a:rPr>
                        <a:t>Debt to </a:t>
                      </a:r>
                      <a:r>
                        <a:rPr lang="en-IN" sz="900" u="none" strike="noStrike" dirty="0" smtClean="0">
                          <a:effectLst/>
                          <a:latin typeface="+mj-lt"/>
                        </a:rPr>
                        <a:t>Net Worth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2.08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5.38</a:t>
                      </a:r>
                    </a:p>
                  </a:txBody>
                  <a:tcPr marL="0" marR="0" marT="0" marB="0" anchor="ctr"/>
                </a:tc>
                <a:extLst>
                  <a:ext uri="{0D108BD9-81ED-4DB2-BD59-A6C34878D82A}">
                    <a16:rowId xmlns:a16="http://schemas.microsoft.com/office/drawing/2014/main" val="538242708"/>
                  </a:ext>
                </a:extLst>
              </a:tr>
              <a:tr h="214095">
                <a:tc>
                  <a:txBody>
                    <a:bodyPr/>
                    <a:lstStyle/>
                    <a:p>
                      <a:pPr algn="l" fontAlgn="b"/>
                      <a:r>
                        <a:rPr lang="en-IN" sz="900" u="none" strike="noStrike" dirty="0">
                          <a:effectLst/>
                          <a:latin typeface="+mj-lt"/>
                        </a:rPr>
                        <a:t>DSCR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2.40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2.10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1.65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0.57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-0.18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-0.30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-0.27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-0.28</a:t>
                      </a:r>
                    </a:p>
                  </a:txBody>
                  <a:tcPr marL="0" marR="0" marT="0" marB="0" anchor="ctr"/>
                </a:tc>
                <a:extLst>
                  <a:ext uri="{0D108BD9-81ED-4DB2-BD59-A6C34878D82A}">
                    <a16:rowId xmlns:a16="http://schemas.microsoft.com/office/drawing/2014/main" val="2870963823"/>
                  </a:ext>
                </a:extLst>
              </a:tr>
              <a:tr h="214095">
                <a:tc>
                  <a:txBody>
                    <a:bodyPr/>
                    <a:lstStyle/>
                    <a:p>
                      <a:pPr algn="l" fontAlgn="b"/>
                      <a:r>
                        <a:rPr lang="en-IN" sz="900" u="none" strike="noStrike" dirty="0">
                          <a:effectLst/>
                          <a:latin typeface="+mj-lt"/>
                        </a:rPr>
                        <a:t>ISCR</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4.13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3.73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1.80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1.38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-0.87</a:t>
                      </a:r>
                    </a:p>
                  </a:txBody>
                  <a:tcPr marL="0" marR="0" marT="0" marB="0" anchor="ctr"/>
                </a:tc>
                <a:extLst>
                  <a:ext uri="{0D108BD9-81ED-4DB2-BD59-A6C34878D82A}">
                    <a16:rowId xmlns:a16="http://schemas.microsoft.com/office/drawing/2014/main" val="333705213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550335642"/>
                  </a:ext>
                </a:extLst>
              </a:tr>
              <a:tr h="214095">
                <a:tc>
                  <a:txBody>
                    <a:bodyPr/>
                    <a:lstStyle/>
                    <a:p>
                      <a:pPr algn="l" fontAlgn="b"/>
                      <a:r>
                        <a:rPr lang="en-US" sz="900" b="1" i="0" u="none" strike="noStrike" dirty="0" smtClean="0">
                          <a:solidFill>
                            <a:srgbClr val="000000"/>
                          </a:solidFill>
                          <a:effectLst/>
                          <a:latin typeface="+mj-lt"/>
                        </a:rPr>
                        <a:t>Self Financing Ratio</a:t>
                      </a:r>
                      <a:endParaRPr lang="en-IN" sz="900" b="1" i="0" u="none" strike="noStrike" dirty="0">
                        <a:solidFill>
                          <a:srgbClr val="000000"/>
                        </a:solidFill>
                        <a:effectLst/>
                        <a:latin typeface="+mj-lt"/>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3420624495"/>
                  </a:ext>
                </a:extLst>
              </a:tr>
              <a:tr h="214095">
                <a:tc>
                  <a:txBody>
                    <a:bodyPr/>
                    <a:lstStyle/>
                    <a:p>
                      <a:pPr algn="l" fontAlgn="b"/>
                      <a:r>
                        <a:rPr lang="en-US" sz="900" b="0" i="0" u="none" strike="noStrike" dirty="0" smtClean="0">
                          <a:solidFill>
                            <a:srgbClr val="000000"/>
                          </a:solidFill>
                          <a:effectLst/>
                          <a:latin typeface="+mj-lt"/>
                        </a:rPr>
                        <a:t>Self Financing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0.16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0.23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0.12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-0.11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-0.19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-0.75</a:t>
                      </a:r>
                    </a:p>
                  </a:txBody>
                  <a:tcPr marL="0" marR="0" marT="0" marB="0" anchor="ctr"/>
                </a:tc>
                <a:extLst>
                  <a:ext uri="{0D108BD9-81ED-4DB2-BD59-A6C34878D82A}">
                    <a16:rowId xmlns:a16="http://schemas.microsoft.com/office/drawing/2014/main" val="3492353003"/>
                  </a:ext>
                </a:extLst>
              </a:tr>
              <a:tr h="214095">
                <a:tc>
                  <a:txBody>
                    <a:bodyPr/>
                    <a:lstStyle/>
                    <a:p>
                      <a:pPr algn="l" fontAlgn="b"/>
                      <a:endParaRPr lang="en-IN" sz="900" b="0" i="0" u="none" strike="noStrike" dirty="0">
                        <a:solidFill>
                          <a:srgbClr val="000000"/>
                        </a:solidFill>
                        <a:effectLst/>
                        <a:latin typeface="+mj-lt"/>
                      </a:endParaRPr>
                    </a:p>
                  </a:txBody>
                  <a:tcPr marL="5963" marR="5963" marT="5963"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tc>
                <a:extLst>
                  <a:ext uri="{0D108BD9-81ED-4DB2-BD59-A6C34878D82A}">
                    <a16:rowId xmlns:a16="http://schemas.microsoft.com/office/drawing/2014/main" val="3887558813"/>
                  </a:ext>
                </a:extLst>
              </a:tr>
              <a:tr h="214095">
                <a:tc>
                  <a:txBody>
                    <a:bodyPr/>
                    <a:lstStyle/>
                    <a:p>
                      <a:pPr marL="0" marR="0" lvl="0" indent="0" algn="l" defTabSz="951059" rtl="0" eaLnBrk="1" fontAlgn="b" latinLnBrk="0" hangingPunct="1">
                        <a:lnSpc>
                          <a:spcPct val="100000"/>
                        </a:lnSpc>
                        <a:spcBef>
                          <a:spcPts val="0"/>
                        </a:spcBef>
                        <a:spcAft>
                          <a:spcPts val="0"/>
                        </a:spcAft>
                        <a:buClrTx/>
                        <a:buSzTx/>
                        <a:buFontTx/>
                        <a:buNone/>
                        <a:tabLst/>
                        <a:defRPr/>
                      </a:pPr>
                      <a:r>
                        <a:rPr lang="en-US" sz="900" b="1" i="0" u="none" strike="noStrike" kern="1200" dirty="0" smtClean="0">
                          <a:solidFill>
                            <a:srgbClr val="000000"/>
                          </a:solidFill>
                          <a:effectLst/>
                          <a:latin typeface="+mn-lt"/>
                          <a:ea typeface="+mn-ea"/>
                          <a:cs typeface="+mn-cs"/>
                        </a:rPr>
                        <a:t>Liquidity Ratio</a:t>
                      </a:r>
                      <a:endParaRPr lang="en-IN" sz="900" b="1" i="0" u="none" strike="noStrike" kern="1200" dirty="0" smtClean="0">
                        <a:solidFill>
                          <a:srgbClr val="000000"/>
                        </a:solidFill>
                        <a:effectLst/>
                        <a:latin typeface="+mn-lt"/>
                        <a:ea typeface="+mn-ea"/>
                        <a:cs typeface="+mn-cs"/>
                      </a:endParaRPr>
                    </a:p>
                  </a:txBody>
                  <a:tcPr marL="5963" marR="5963" marT="5963"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tc>
                  <a:txBody>
                    <a:bodyPr/>
                    <a:lstStyle/>
                    <a:p>
                      <a:pPr algn="l" fontAlgn="b"/>
                      <a:endParaRPr lang="en-IN" sz="900" b="0" i="0" u="none" strike="noStrike">
                        <a:solidFill>
                          <a:srgbClr val="000000"/>
                        </a:solidFill>
                        <a:effectLst/>
                        <a:latin typeface="Verdana" panose="020B0604030504040204" pitchFamily="34" charset="0"/>
                      </a:endParaRPr>
                    </a:p>
                  </a:txBody>
                  <a:tcPr marL="0" marR="0" marT="0" marB="0" anchor="ctr">
                    <a:solidFill>
                      <a:schemeClr val="accent6">
                        <a:lumMod val="20000"/>
                        <a:lumOff val="80000"/>
                      </a:schemeClr>
                    </a:solidFill>
                  </a:tcPr>
                </a:tc>
                <a:extLst>
                  <a:ext uri="{0D108BD9-81ED-4DB2-BD59-A6C34878D82A}">
                    <a16:rowId xmlns:a16="http://schemas.microsoft.com/office/drawing/2014/main" val="1915826524"/>
                  </a:ext>
                </a:extLst>
              </a:tr>
              <a:tr h="214095">
                <a:tc>
                  <a:txBody>
                    <a:bodyPr/>
                    <a:lstStyle/>
                    <a:p>
                      <a:pPr algn="l" fontAlgn="b"/>
                      <a:r>
                        <a:rPr lang="en-IN" sz="900" b="0" i="0" u="none" strike="noStrike" dirty="0" smtClean="0">
                          <a:solidFill>
                            <a:srgbClr val="000000"/>
                          </a:solidFill>
                          <a:effectLst/>
                          <a:latin typeface="+mj-lt"/>
                        </a:rPr>
                        <a:t>Current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1.06</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0.91</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0.37</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-0.24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-1.14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-2.60</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-3.52</a:t>
                      </a:r>
                    </a:p>
                  </a:txBody>
                  <a:tcPr marL="0" marR="0" marT="0" marB="0" anchor="ctr"/>
                </a:tc>
                <a:extLst>
                  <a:ext uri="{0D108BD9-81ED-4DB2-BD59-A6C34878D82A}">
                    <a16:rowId xmlns:a16="http://schemas.microsoft.com/office/drawing/2014/main" val="108795085"/>
                  </a:ext>
                </a:extLst>
              </a:tr>
              <a:tr h="214095">
                <a:tc>
                  <a:txBody>
                    <a:bodyPr/>
                    <a:lstStyle/>
                    <a:p>
                      <a:pPr algn="l" fontAlgn="b"/>
                      <a:r>
                        <a:rPr lang="en-IN" sz="900" b="0" i="0" u="none" strike="noStrike" dirty="0" smtClean="0">
                          <a:solidFill>
                            <a:srgbClr val="000000"/>
                          </a:solidFill>
                          <a:effectLst/>
                          <a:latin typeface="+mj-lt"/>
                        </a:rPr>
                        <a:t>Quick Ratio</a:t>
                      </a:r>
                      <a:endParaRPr lang="en-IN" sz="900" b="0" i="0" u="none" strike="noStrike" dirty="0">
                        <a:solidFill>
                          <a:srgbClr val="000000"/>
                        </a:solidFill>
                        <a:effectLst/>
                        <a:latin typeface="+mj-lt"/>
                      </a:endParaRPr>
                    </a:p>
                  </a:txBody>
                  <a:tcPr marL="5963" marR="5963" marT="5963" marB="0" anchor="ctr"/>
                </a:tc>
                <a:tc>
                  <a:txBody>
                    <a:bodyPr/>
                    <a:lstStyle/>
                    <a:p>
                      <a:pPr algn="r" fontAlgn="b"/>
                      <a:r>
                        <a:rPr lang="en-IN" sz="900" b="0" i="0" u="none" strike="noStrike">
                          <a:solidFill>
                            <a:srgbClr val="000000"/>
                          </a:solidFill>
                          <a:effectLst/>
                          <a:latin typeface="Verdana" panose="020B0604030504040204" pitchFamily="34" charset="0"/>
                        </a:rPr>
                        <a:t>1.04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1.03</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0.98</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0.92</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0.35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-0.44</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-1.55</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-2.49</a:t>
                      </a:r>
                    </a:p>
                  </a:txBody>
                  <a:tcPr marL="0" marR="0" marT="0" marB="0" anchor="ctr"/>
                </a:tc>
                <a:tc>
                  <a:txBody>
                    <a:bodyPr/>
                    <a:lstStyle/>
                    <a:p>
                      <a:pPr algn="r" fontAlgn="b"/>
                      <a:r>
                        <a:rPr lang="en-IN" sz="900" b="0" i="0" u="none" strike="noStrike">
                          <a:solidFill>
                            <a:srgbClr val="000000"/>
                          </a:solidFill>
                          <a:effectLst/>
                          <a:latin typeface="Verdana" panose="020B0604030504040204" pitchFamily="34" charset="0"/>
                        </a:rPr>
                        <a:t>-3.34</a:t>
                      </a:r>
                    </a:p>
                  </a:txBody>
                  <a:tcPr marL="0" marR="0" marT="0" marB="0" anchor="ctr"/>
                </a:tc>
                <a:tc>
                  <a:txBody>
                    <a:bodyPr/>
                    <a:lstStyle/>
                    <a:p>
                      <a:pPr algn="r" fontAlgn="b"/>
                      <a:r>
                        <a:rPr lang="en-IN" sz="900" b="0" i="0" u="none" strike="noStrike" dirty="0">
                          <a:solidFill>
                            <a:srgbClr val="000000"/>
                          </a:solidFill>
                          <a:effectLst/>
                          <a:latin typeface="Verdana" panose="020B0604030504040204" pitchFamily="34" charset="0"/>
                        </a:rPr>
                        <a:t>-4.49</a:t>
                      </a:r>
                    </a:p>
                  </a:txBody>
                  <a:tcPr marL="0" marR="0" marT="0" marB="0" anchor="ctr"/>
                </a:tc>
                <a:extLst>
                  <a:ext uri="{0D108BD9-81ED-4DB2-BD59-A6C34878D82A}">
                    <a16:rowId xmlns:a16="http://schemas.microsoft.com/office/drawing/2014/main" val="2150965169"/>
                  </a:ext>
                </a:extLst>
              </a:tr>
            </a:tbl>
          </a:graphicData>
        </a:graphic>
      </p:graphicFrame>
    </p:spTree>
    <p:extLst>
      <p:ext uri="{BB962C8B-B14F-4D97-AF65-F5344CB8AC3E}">
        <p14:creationId xmlns:p14="http://schemas.microsoft.com/office/powerpoint/2010/main" val="1742396643"/>
      </p:ext>
    </p:extLst>
  </p:cSld>
  <p:clrMapOvr>
    <a:masterClrMapping/>
  </p:clrMapOvr>
  <p:transition>
    <p:fade/>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2799" b="12799"/>
          <a:stretch>
            <a:fillRect/>
          </a:stretch>
        </p:blipFill>
        <p:spPr>
          <a:xfrm>
            <a:off x="5506721" y="1214962"/>
            <a:ext cx="6370320" cy="4738797"/>
          </a:xfrm>
        </p:spPr>
      </p:pic>
      <p:sp>
        <p:nvSpPr>
          <p:cNvPr id="4" name="Rectangle 3"/>
          <p:cNvSpPr/>
          <p:nvPr/>
        </p:nvSpPr>
        <p:spPr>
          <a:xfrm>
            <a:off x="386743" y="1132452"/>
            <a:ext cx="5353657" cy="5139869"/>
          </a:xfrm>
          <a:prstGeom prst="rect">
            <a:avLst/>
          </a:prstGeom>
        </p:spPr>
        <p:txBody>
          <a:bodyPr wrap="square">
            <a:spAutoFit/>
          </a:bodyPr>
          <a:lstStyle/>
          <a:p>
            <a:pPr defTabSz="1019175">
              <a:spcAft>
                <a:spcPts val="600"/>
              </a:spcAft>
              <a:buClr>
                <a:schemeClr val="tx1"/>
              </a:buClr>
              <a:buSzPct val="80000"/>
              <a:buFont typeface="Wingdings" pitchFamily="2" charset="2"/>
              <a:buNone/>
            </a:pPr>
            <a:r>
              <a:rPr lang="en-US" sz="1100" noProof="1"/>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1019175">
              <a:spcAft>
                <a:spcPts val="600"/>
              </a:spcAft>
              <a:buClr>
                <a:schemeClr val="tx1"/>
              </a:buClr>
              <a:buSzPct val="80000"/>
              <a:buFont typeface="Wingdings" pitchFamily="2" charset="2"/>
              <a:buNone/>
            </a:pPr>
            <a:r>
              <a:rPr lang="en-US" sz="1100" noProof="1"/>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1019175">
              <a:spcAft>
                <a:spcPts val="600"/>
              </a:spcAft>
              <a:buClr>
                <a:schemeClr val="tx1"/>
              </a:buClr>
              <a:buSzPct val="80000"/>
              <a:buFont typeface="Wingdings" pitchFamily="2" charset="2"/>
              <a:buNone/>
            </a:pPr>
            <a:r>
              <a:rPr lang="en-US" sz="1100" noProof="1"/>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1019175">
              <a:spcAft>
                <a:spcPts val="600"/>
              </a:spcAft>
              <a:buClr>
                <a:schemeClr val="tx1"/>
              </a:buClr>
              <a:buSzPct val="80000"/>
              <a:buFont typeface="Wingdings" pitchFamily="2" charset="2"/>
              <a:buNone/>
            </a:pPr>
            <a:r>
              <a:rPr lang="en-US" sz="1100" noProof="1"/>
              <a:t>©2019 Deloitte Touche Tohmatsu India LLP. Member of Deloitte Touche Tohmatsu Limited</a:t>
            </a:r>
          </a:p>
          <a:p>
            <a:pPr defTabSz="1019175">
              <a:spcAft>
                <a:spcPts val="600"/>
              </a:spcAft>
              <a:buClr>
                <a:schemeClr val="tx1"/>
              </a:buClr>
              <a:buSzPct val="80000"/>
              <a:buFont typeface="Wingdings" pitchFamily="2" charset="2"/>
              <a:buNone/>
            </a:pPr>
            <a:r>
              <a:rPr lang="en-US" sz="1100" noProof="1"/>
              <a:t>Deloitte Touche Tohmatsu India Private Limited (U74140MH199 5PTC093339), a private company limited by shares, was converted into Deloitte Touche Tohmatsu India LLP, a limited liability partnership (LLP Identification No. AAE-8458),with effect from October 1, 2015.</a:t>
            </a:r>
          </a:p>
        </p:txBody>
      </p:sp>
    </p:spTree>
    <p:custDataLst>
      <p:tags r:id="rId1"/>
    </p:custDataLst>
    <p:extLst>
      <p:ext uri="{BB962C8B-B14F-4D97-AF65-F5344CB8AC3E}">
        <p14:creationId xmlns:p14="http://schemas.microsoft.com/office/powerpoint/2010/main" val="166573434"/>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extLst>
    <a:ext uri="{05A4C25C-085E-4340-85A3-A5531E510DB2}">
      <thm15:themeFamily xmlns:thm15="http://schemas.microsoft.com/office/thememl/2012/main" name="Presentation3" id="{B6131D4A-6D06-A545-84A0-5EA998671E86}" vid="{BE248F2D-C897-7A4C-A651-C1F199A639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7F692CA5-FE38-4F54-850E-4D00B2C7AD86}"/>
</file>

<file path=customXml/itemProps2.xml><?xml version="1.0" encoding="utf-8"?>
<ds:datastoreItem xmlns:ds="http://schemas.openxmlformats.org/officeDocument/2006/customXml" ds:itemID="{EF93236C-50FC-4FA2-B7F9-85B817F83BDB}"/>
</file>

<file path=customXml/itemProps3.xml><?xml version="1.0" encoding="utf-8"?>
<ds:datastoreItem xmlns:ds="http://schemas.openxmlformats.org/officeDocument/2006/customXml" ds:itemID="{0F9ED57B-2C2A-4278-919D-76D551B5070B}"/>
</file>

<file path=docProps/app.xml><?xml version="1.0" encoding="utf-8"?>
<Properties xmlns="http://schemas.openxmlformats.org/officeDocument/2006/extended-properties" xmlns:vt="http://schemas.openxmlformats.org/officeDocument/2006/docPropsVTypes">
  <Template>Deloitte_16_9_Onscreen</Template>
  <TotalTime>4772</TotalTime>
  <Words>25030</Words>
  <Application>Microsoft Office PowerPoint</Application>
  <PresentationFormat>Widescreen</PresentationFormat>
  <Paragraphs>12781</Paragraphs>
  <Slides>92</Slides>
  <Notes>2</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103" baseType="lpstr">
      <vt:lpstr>ＭＳ Ｐゴシック</vt:lpstr>
      <vt:lpstr>Arial</vt:lpstr>
      <vt:lpstr>Calibri</vt:lpstr>
      <vt:lpstr>Calibri Light</vt:lpstr>
      <vt:lpstr>Open Sans</vt:lpstr>
      <vt:lpstr>Times New Roman</vt:lpstr>
      <vt:lpstr>Verdana</vt:lpstr>
      <vt:lpstr>Wingdings</vt:lpstr>
      <vt:lpstr>Wingdings 2</vt:lpstr>
      <vt:lpstr>Deloitte_US_Onscreen</vt:lpstr>
      <vt:lpstr>think-cell Slide</vt:lpstr>
      <vt:lpstr>Financial Analysis and Viability Action Plan (Update) of NEA The World Bank</vt:lpstr>
      <vt:lpstr>PowerPoint Presentation</vt:lpstr>
      <vt:lpstr>Introduction</vt:lpstr>
      <vt:lpstr>Financial Analysis and Viability Action Plan (Update) of NEA</vt:lpstr>
      <vt:lpstr>Structure of the FVAP model</vt:lpstr>
      <vt:lpstr>Summary of updates made in this FVAP</vt:lpstr>
      <vt:lpstr>Inputs and Assumptions</vt:lpstr>
      <vt:lpstr>Commercial Parameters</vt:lpstr>
      <vt:lpstr>Commercial Parameters</vt:lpstr>
      <vt:lpstr>Commercial Parameters</vt:lpstr>
      <vt:lpstr>Commercial Parameters</vt:lpstr>
      <vt:lpstr>Financial Parameters</vt:lpstr>
      <vt:lpstr>Financial Parameters</vt:lpstr>
      <vt:lpstr>Financial Parameters</vt:lpstr>
      <vt:lpstr>Financial Parameters</vt:lpstr>
      <vt:lpstr>Financial Parameters</vt:lpstr>
      <vt:lpstr>Financial Parameters</vt:lpstr>
      <vt:lpstr>Financial Parameters</vt:lpstr>
      <vt:lpstr>Financial Parameters</vt:lpstr>
      <vt:lpstr>Financial Analysis and Viability Action Plan</vt:lpstr>
      <vt:lpstr>Cost Reflective Tariff</vt:lpstr>
      <vt:lpstr>Smoothed out Tariff Trajectory</vt:lpstr>
      <vt:lpstr>Tariff hike scenarios and VGF requirements</vt:lpstr>
      <vt:lpstr>Ratio Analysis</vt:lpstr>
      <vt:lpstr>Cost Projections</vt:lpstr>
      <vt:lpstr>Suggestions on action items</vt:lpstr>
      <vt:lpstr>Action Items – High Impact Ones</vt:lpstr>
      <vt:lpstr>Action Items – High Impact Ones</vt:lpstr>
      <vt:lpstr>Action Items – High Impact Ones</vt:lpstr>
      <vt:lpstr>Action Items – High Impact Ones</vt:lpstr>
      <vt:lpstr>Action Items – High Impact Ones</vt:lpstr>
      <vt:lpstr>Action Items</vt:lpstr>
      <vt:lpstr>Action Items</vt:lpstr>
      <vt:lpstr>Projected Financial Statements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Projected Financial Statements</vt:lpstr>
      <vt:lpstr>Projected P&amp;L Statement</vt:lpstr>
      <vt:lpstr>Projected CF Statement</vt:lpstr>
      <vt:lpstr>Projected BS Statement</vt:lpstr>
      <vt:lpstr>Key Financial Ratios</vt:lpstr>
      <vt:lpstr>Annexures</vt:lpstr>
      <vt:lpstr>Investment in subsidiaries</vt:lpstr>
      <vt:lpstr>Projected Financial Statements</vt:lpstr>
      <vt:lpstr>Projected P&amp;L Statement</vt:lpstr>
      <vt:lpstr>Projected CF Statement</vt:lpstr>
      <vt:lpstr>Projected BS Statement</vt:lpstr>
      <vt:lpstr>Key Financial Ratios</vt:lpstr>
      <vt:lpstr>PowerPoint Presentation</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Verdana Bold</dc:title>
  <dc:creator>pgoinka@DELOITTE.com</dc:creator>
  <cp:lastModifiedBy>Goinka, Pankaj Kumar</cp:lastModifiedBy>
  <cp:revision>153</cp:revision>
  <cp:lastPrinted>2014-06-25T02:16:22Z</cp:lastPrinted>
  <dcterms:created xsi:type="dcterms:W3CDTF">2018-08-07T09:56:03Z</dcterms:created>
  <dcterms:modified xsi:type="dcterms:W3CDTF">2020-01-31T15:38:49Z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ies>
</file>