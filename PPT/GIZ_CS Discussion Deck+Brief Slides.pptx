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0.xml" ContentType="application/vnd.openxmlformats-officedocument.presentationml.slideLayout+xml"/>
  <Override PartName="/ppt/slideLayouts/slideLayout28.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3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diagrams/drawing1.xml" ContentType="application/vnd.ms-office.drawingml.diagramDrawing+xml"/>
  <Override PartName="/ppt/diagrams/quickStyle1.xml" ContentType="application/vnd.openxmlformats-officedocument.drawingml.diagramStyle+xml"/>
  <Override PartName="/ppt/theme/theme2.xml" ContentType="application/vnd.openxmlformats-officedocument.theme+xml"/>
  <Override PartName="/ppt/diagrams/colors1.xml" ContentType="application/vnd.openxmlformats-officedocument.drawingml.diagramColors+xml"/>
  <Override PartName="/ppt/charts/style1.xml" ContentType="application/vnd.ms-office.chartstyle+xml"/>
  <Override PartName="/ppt/diagrams/layout1.xml" ContentType="application/vnd.openxmlformats-officedocument.drawingml.diagramLayout+xml"/>
  <Override PartName="/ppt/charts/chart1.xml" ContentType="application/vnd.openxmlformats-officedocument.drawingml.chart+xml"/>
  <Override PartName="/ppt/charts/colors1.xml" ContentType="application/vnd.ms-office.chartcolor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tags/tag1.xml" ContentType="application/vnd.openxmlformats-officedocument.presentationml.tag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7" r:id="rId2"/>
    <p:sldId id="278" r:id="rId3"/>
    <p:sldId id="280" r:id="rId4"/>
    <p:sldId id="261" r:id="rId5"/>
    <p:sldId id="274" r:id="rId6"/>
    <p:sldId id="275" r:id="rId7"/>
    <p:sldId id="277" r:id="rId8"/>
    <p:sldId id="262" r:id="rId9"/>
    <p:sldId id="263" r:id="rId10"/>
    <p:sldId id="264" r:id="rId11"/>
    <p:sldId id="265" r:id="rId12"/>
    <p:sldId id="272" r:id="rId13"/>
    <p:sldId id="266" r:id="rId14"/>
    <p:sldId id="267" r:id="rId15"/>
    <p:sldId id="268" r:id="rId16"/>
    <p:sldId id="269" r:id="rId17"/>
    <p:sldId id="270" r:id="rId18"/>
    <p:sldId id="273" r:id="rId19"/>
    <p:sldId id="271" r:id="rId20"/>
    <p:sldId id="281" r:id="rId21"/>
    <p:sldId id="287" r:id="rId22"/>
    <p:sldId id="282" r:id="rId23"/>
    <p:sldId id="283" r:id="rId24"/>
    <p:sldId id="284" r:id="rId25"/>
    <p:sldId id="285"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0" d="100"/>
          <a:sy n="80" d="100"/>
        </p:scale>
        <p:origin x="782" y="226"/>
      </p:cViewPr>
      <p:guideLst/>
    </p:cSldViewPr>
  </p:slideViewPr>
  <p:notesTextViewPr>
    <p:cViewPr>
      <p:scale>
        <a:sx n="1" d="1"/>
        <a:sy n="1" d="1"/>
      </p:scale>
      <p:origin x="0" y="0"/>
    </p:cViewPr>
  </p:notesTextViewPr>
  <p:sorterViewPr>
    <p:cViewPr varScale="1">
      <p:scale>
        <a:sx n="100" d="100"/>
        <a:sy n="100" d="100"/>
      </p:scale>
      <p:origin x="0" y="-5933"/>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amallick\AppData\Local\Microsoft\Windows\INetCache\Content.Outlook\EX6NHP7C\Book4.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r>
              <a:rPr lang="en-IN" sz="1200" b="1" dirty="0"/>
              <a:t>RPO Compliance (</a:t>
            </a:r>
            <a:r>
              <a:rPr lang="en-IN" sz="1200" b="1" dirty="0" smtClean="0"/>
              <a:t>FY</a:t>
            </a:r>
            <a:r>
              <a:rPr lang="en-IN" sz="1200" b="1" baseline="0" dirty="0" smtClean="0"/>
              <a:t> </a:t>
            </a:r>
            <a:r>
              <a:rPr lang="en-IN" sz="1200" b="1" dirty="0" smtClean="0"/>
              <a:t>17-19</a:t>
            </a:r>
            <a:r>
              <a:rPr lang="en-IN" sz="1200" b="1" dirty="0"/>
              <a:t>)</a:t>
            </a:r>
          </a:p>
        </c:rich>
      </c:tx>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title>
    <c:autoTitleDeleted val="0"/>
    <c:plotArea>
      <c:layout/>
      <c:barChart>
        <c:barDir val="col"/>
        <c:grouping val="clustered"/>
        <c:varyColors val="0"/>
        <c:ser>
          <c:idx val="0"/>
          <c:order val="0"/>
          <c:tx>
            <c:strRef>
              <c:f>Sheet1!$C$4</c:f>
              <c:strCache>
                <c:ptCount val="1"/>
                <c:pt idx="0">
                  <c:v>Target set for RPO (MU)</c:v>
                </c:pt>
              </c:strCache>
            </c:strRef>
          </c:tx>
          <c:spPr>
            <a:solidFill>
              <a:schemeClr val="accent1"/>
            </a:solidFill>
            <a:ln>
              <a:noFill/>
            </a:ln>
            <a:effectLst/>
          </c:spPr>
          <c:invertIfNegative val="0"/>
          <c:dLbls>
            <c:dLbl>
              <c:idx val="2"/>
              <c:layout>
                <c:manualLayout>
                  <c:x val="-2.0215633423180591E-2"/>
                  <c:y val="-2.6455026455026454E-2"/>
                </c:manualLayout>
              </c:layout>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8E9E-48CC-A9B7-1DF24885080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Sheet1!$D$3:$F$3</c:f>
              <c:strCache>
                <c:ptCount val="3"/>
                <c:pt idx="0">
                  <c:v>FY 17</c:v>
                </c:pt>
                <c:pt idx="1">
                  <c:v>FY 18</c:v>
                </c:pt>
                <c:pt idx="2">
                  <c:v>FY 19</c:v>
                </c:pt>
              </c:strCache>
            </c:strRef>
          </c:cat>
          <c:val>
            <c:numRef>
              <c:f>Sheet1!$D$4:$F$4</c:f>
              <c:numCache>
                <c:formatCode>General</c:formatCode>
                <c:ptCount val="3"/>
                <c:pt idx="0">
                  <c:v>561.35</c:v>
                </c:pt>
                <c:pt idx="1">
                  <c:v>841.27</c:v>
                </c:pt>
                <c:pt idx="2">
                  <c:v>1185.96</c:v>
                </c:pt>
              </c:numCache>
            </c:numRef>
          </c:val>
          <c:extLst>
            <c:ext xmlns:c16="http://schemas.microsoft.com/office/drawing/2014/chart" uri="{C3380CC4-5D6E-409C-BE32-E72D297353CC}">
              <c16:uniqueId val="{00000001-8E9E-48CC-A9B7-1DF24885080D}"/>
            </c:ext>
          </c:extLst>
        </c:ser>
        <c:ser>
          <c:idx val="1"/>
          <c:order val="1"/>
          <c:tx>
            <c:strRef>
              <c:f>Sheet1!$C$5</c:f>
              <c:strCache>
                <c:ptCount val="1"/>
                <c:pt idx="0">
                  <c:v>RPO Achieved (MU)</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Sheet1!$D$3:$F$3</c:f>
              <c:strCache>
                <c:ptCount val="3"/>
                <c:pt idx="0">
                  <c:v>FY 17</c:v>
                </c:pt>
                <c:pt idx="1">
                  <c:v>FY 18</c:v>
                </c:pt>
                <c:pt idx="2">
                  <c:v>FY 19</c:v>
                </c:pt>
              </c:strCache>
            </c:strRef>
          </c:cat>
          <c:val>
            <c:numRef>
              <c:f>Sheet1!$D$5:$F$5</c:f>
              <c:numCache>
                <c:formatCode>General</c:formatCode>
                <c:ptCount val="3"/>
                <c:pt idx="0">
                  <c:v>38.78</c:v>
                </c:pt>
                <c:pt idx="1">
                  <c:v>39.47</c:v>
                </c:pt>
                <c:pt idx="2">
                  <c:v>155.04</c:v>
                </c:pt>
              </c:numCache>
            </c:numRef>
          </c:val>
          <c:extLst>
            <c:ext xmlns:c16="http://schemas.microsoft.com/office/drawing/2014/chart" uri="{C3380CC4-5D6E-409C-BE32-E72D297353CC}">
              <c16:uniqueId val="{00000002-8E9E-48CC-A9B7-1DF24885080D}"/>
            </c:ext>
          </c:extLst>
        </c:ser>
        <c:dLbls>
          <c:dLblPos val="outEnd"/>
          <c:showLegendKey val="0"/>
          <c:showVal val="1"/>
          <c:showCatName val="0"/>
          <c:showSerName val="0"/>
          <c:showPercent val="0"/>
          <c:showBubbleSize val="0"/>
        </c:dLbls>
        <c:gapWidth val="219"/>
        <c:axId val="432216032"/>
        <c:axId val="432215376"/>
      </c:barChart>
      <c:lineChart>
        <c:grouping val="standard"/>
        <c:varyColors val="0"/>
        <c:ser>
          <c:idx val="2"/>
          <c:order val="2"/>
          <c:tx>
            <c:strRef>
              <c:f>Sheet1!$C$6</c:f>
              <c:strCache>
                <c:ptCount val="1"/>
                <c:pt idx="0">
                  <c:v>Percentage</c:v>
                </c:pt>
              </c:strCache>
            </c:strRef>
          </c:tx>
          <c:spPr>
            <a:ln w="28575" cap="rnd">
              <a:solidFill>
                <a:schemeClr val="accent3"/>
              </a:solidFill>
              <a:round/>
            </a:ln>
            <a:effectLst/>
          </c:spPr>
          <c:marker>
            <c:symbol val="none"/>
          </c:marker>
          <c:dLbls>
            <c:dLbl>
              <c:idx val="0"/>
              <c:layout>
                <c:manualLayout>
                  <c:x val="1.3477088948787021E-2"/>
                  <c:y val="-2.645502645502645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8E9E-48CC-A9B7-1DF24885080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Sheet1!$D$3:$F$3</c:f>
              <c:strCache>
                <c:ptCount val="3"/>
                <c:pt idx="0">
                  <c:v>FY 17</c:v>
                </c:pt>
                <c:pt idx="1">
                  <c:v>FY 18</c:v>
                </c:pt>
                <c:pt idx="2">
                  <c:v>FY 19</c:v>
                </c:pt>
              </c:strCache>
            </c:strRef>
          </c:cat>
          <c:val>
            <c:numRef>
              <c:f>Sheet1!$D$6:$F$6</c:f>
              <c:numCache>
                <c:formatCode>0.00%</c:formatCode>
                <c:ptCount val="3"/>
                <c:pt idx="0">
                  <c:v>6.9083459517235241E-2</c:v>
                </c:pt>
                <c:pt idx="1">
                  <c:v>4.6917160959026233E-2</c:v>
                </c:pt>
                <c:pt idx="2">
                  <c:v>0.13072953556612363</c:v>
                </c:pt>
              </c:numCache>
            </c:numRef>
          </c:val>
          <c:smooth val="0"/>
          <c:extLst>
            <c:ext xmlns:c16="http://schemas.microsoft.com/office/drawing/2014/chart" uri="{C3380CC4-5D6E-409C-BE32-E72D297353CC}">
              <c16:uniqueId val="{00000004-8E9E-48CC-A9B7-1DF24885080D}"/>
            </c:ext>
          </c:extLst>
        </c:ser>
        <c:dLbls>
          <c:showLegendKey val="0"/>
          <c:showVal val="1"/>
          <c:showCatName val="0"/>
          <c:showSerName val="0"/>
          <c:showPercent val="0"/>
          <c:showBubbleSize val="0"/>
        </c:dLbls>
        <c:marker val="1"/>
        <c:smooth val="0"/>
        <c:axId val="434628864"/>
        <c:axId val="434628208"/>
      </c:lineChart>
      <c:catAx>
        <c:axId val="4322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432215376"/>
        <c:crosses val="autoZero"/>
        <c:auto val="1"/>
        <c:lblAlgn val="ctr"/>
        <c:lblOffset val="100"/>
        <c:noMultiLvlLbl val="0"/>
      </c:catAx>
      <c:valAx>
        <c:axId val="4322153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432216032"/>
        <c:crosses val="autoZero"/>
        <c:crossBetween val="between"/>
      </c:valAx>
      <c:valAx>
        <c:axId val="434628208"/>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434628864"/>
        <c:crosses val="max"/>
        <c:crossBetween val="between"/>
      </c:valAx>
      <c:catAx>
        <c:axId val="434628864"/>
        <c:scaling>
          <c:orientation val="minMax"/>
        </c:scaling>
        <c:delete val="1"/>
        <c:axPos val="b"/>
        <c:numFmt formatCode="General" sourceLinked="1"/>
        <c:majorTickMark val="out"/>
        <c:minorTickMark val="none"/>
        <c:tickLblPos val="nextTo"/>
        <c:crossAx val="434628208"/>
        <c:crosses val="autoZero"/>
        <c:auto val="1"/>
        <c:lblAlgn val="ctr"/>
        <c:lblOffset val="100"/>
        <c:noMultiLvlLbl val="0"/>
      </c:cat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showDLblsOverMax val="0"/>
  </c:chart>
  <c:spPr>
    <a:noFill/>
    <a:ln>
      <a:noFill/>
    </a:ln>
    <a:effectLst>
      <a:outerShdw blurRad="50800" dist="38100" dir="2700000" algn="tl" rotWithShape="0">
        <a:prstClr val="black">
          <a:alpha val="40000"/>
        </a:prstClr>
      </a:outerShdw>
    </a:effectLst>
  </c:spPr>
  <c:txPr>
    <a:bodyPr/>
    <a:lstStyle/>
    <a:p>
      <a:pPr>
        <a:defRPr sz="900">
          <a:latin typeface="Verdana" panose="020B0604030504040204" pitchFamily="34" charset="0"/>
          <a:ea typeface="Verdana" panose="020B060403050404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589F15-F054-49D4-8763-C82FE286875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228E1A9-30D5-4203-90A8-B8D082AD3EE9}">
      <dgm:prSet phldrT="[Text]" custT="1"/>
      <dgm:spPr/>
      <dgm:t>
        <a:bodyPr/>
        <a:lstStyle/>
        <a:p>
          <a:r>
            <a:rPr lang="en-US" sz="1300" dirty="0" smtClean="0"/>
            <a:t>Vision Document: Enabling Access to Energy (Context)</a:t>
          </a:r>
          <a:endParaRPr lang="en-US" sz="1300" dirty="0"/>
        </a:p>
      </dgm:t>
    </dgm:pt>
    <dgm:pt modelId="{01AC6666-C490-4084-96D4-28DCB0E9F7F8}" type="parTrans" cxnId="{1EFEAC24-AE6D-4907-A959-C8916FFD28BA}">
      <dgm:prSet/>
      <dgm:spPr/>
      <dgm:t>
        <a:bodyPr/>
        <a:lstStyle/>
        <a:p>
          <a:endParaRPr lang="en-US" sz="1300"/>
        </a:p>
      </dgm:t>
    </dgm:pt>
    <dgm:pt modelId="{46A628E0-F8F3-4E71-AAA7-386D93C6DA72}" type="sibTrans" cxnId="{1EFEAC24-AE6D-4907-A959-C8916FFD28BA}">
      <dgm:prSet/>
      <dgm:spPr/>
      <dgm:t>
        <a:bodyPr/>
        <a:lstStyle/>
        <a:p>
          <a:endParaRPr lang="en-US" sz="1300"/>
        </a:p>
      </dgm:t>
    </dgm:pt>
    <dgm:pt modelId="{494897A6-BB70-4384-9B62-E51028FCDED4}">
      <dgm:prSet phldrT="[Text]" custT="1"/>
      <dgm:spPr/>
      <dgm:t>
        <a:bodyPr/>
        <a:lstStyle/>
        <a:p>
          <a:r>
            <a:rPr lang="en-US" sz="1300" i="1" dirty="0" smtClean="0"/>
            <a:t>“Jharkhand has also recognized the importance of Sustainable Development Goals (Goal #7) to ensure universal access to affordable, reliable &amp; modern technology services”</a:t>
          </a:r>
          <a:endParaRPr lang="en-US" sz="1300" i="1" dirty="0"/>
        </a:p>
      </dgm:t>
    </dgm:pt>
    <dgm:pt modelId="{7F086539-32EC-44E9-82EC-C5771FF3E00B}" type="parTrans" cxnId="{04DB2460-408E-4096-B8D7-1D1B9260048F}">
      <dgm:prSet/>
      <dgm:spPr/>
      <dgm:t>
        <a:bodyPr/>
        <a:lstStyle/>
        <a:p>
          <a:endParaRPr lang="en-US" sz="1300"/>
        </a:p>
      </dgm:t>
    </dgm:pt>
    <dgm:pt modelId="{66F44C71-7E11-4703-AFE9-4A7E29016FE1}" type="sibTrans" cxnId="{04DB2460-408E-4096-B8D7-1D1B9260048F}">
      <dgm:prSet/>
      <dgm:spPr/>
      <dgm:t>
        <a:bodyPr/>
        <a:lstStyle/>
        <a:p>
          <a:endParaRPr lang="en-US" sz="1300"/>
        </a:p>
      </dgm:t>
    </dgm:pt>
    <dgm:pt modelId="{000CC37D-64FC-4666-86AD-5E9BB2DA7BB7}">
      <dgm:prSet phldrT="[Text]" custT="1"/>
      <dgm:spPr/>
      <dgm:t>
        <a:bodyPr/>
        <a:lstStyle/>
        <a:p>
          <a:r>
            <a:rPr lang="en-US" sz="1300" dirty="0" smtClean="0"/>
            <a:t>Vision Document: Enabling Access to Energy (Convergence)</a:t>
          </a:r>
          <a:endParaRPr lang="en-US" sz="1300" dirty="0"/>
        </a:p>
      </dgm:t>
    </dgm:pt>
    <dgm:pt modelId="{C706FFAA-0D80-4250-B063-81DD0CA4BD9A}" type="parTrans" cxnId="{DB6F2D21-BCC8-4282-89DE-B02EA5DDB8C0}">
      <dgm:prSet/>
      <dgm:spPr/>
      <dgm:t>
        <a:bodyPr/>
        <a:lstStyle/>
        <a:p>
          <a:endParaRPr lang="en-US" sz="1300"/>
        </a:p>
      </dgm:t>
    </dgm:pt>
    <dgm:pt modelId="{1E933696-18CA-47BF-BCCC-6ABE4C110890}" type="sibTrans" cxnId="{DB6F2D21-BCC8-4282-89DE-B02EA5DDB8C0}">
      <dgm:prSet/>
      <dgm:spPr/>
      <dgm:t>
        <a:bodyPr/>
        <a:lstStyle/>
        <a:p>
          <a:endParaRPr lang="en-US" sz="1300"/>
        </a:p>
      </dgm:t>
    </dgm:pt>
    <dgm:pt modelId="{12E9BDC3-17E0-4ADA-897C-78583BD049EC}">
      <dgm:prSet phldrT="[Text]" custT="1"/>
      <dgm:spPr/>
      <dgm:t>
        <a:bodyPr/>
        <a:lstStyle/>
        <a:p>
          <a:r>
            <a:rPr lang="en-US" sz="1300" i="1" dirty="0" smtClean="0"/>
            <a:t>“To achieve the laid down targets, it is also crucial to understand the dependence of the Energy sector on other departments and sectors”</a:t>
          </a:r>
          <a:endParaRPr lang="en-US" sz="1300" i="1" dirty="0"/>
        </a:p>
      </dgm:t>
    </dgm:pt>
    <dgm:pt modelId="{E52716A8-31FD-4D1B-B789-507ABFB72F8C}" type="parTrans" cxnId="{077FA626-28AF-40E1-9DBC-124BE69FCB65}">
      <dgm:prSet/>
      <dgm:spPr/>
      <dgm:t>
        <a:bodyPr/>
        <a:lstStyle/>
        <a:p>
          <a:endParaRPr lang="en-US" sz="1300"/>
        </a:p>
      </dgm:t>
    </dgm:pt>
    <dgm:pt modelId="{E6570781-35C2-4EA1-9533-7F934F1C7967}" type="sibTrans" cxnId="{077FA626-28AF-40E1-9DBC-124BE69FCB65}">
      <dgm:prSet/>
      <dgm:spPr/>
      <dgm:t>
        <a:bodyPr/>
        <a:lstStyle/>
        <a:p>
          <a:endParaRPr lang="en-US" sz="1300"/>
        </a:p>
      </dgm:t>
    </dgm:pt>
    <dgm:pt modelId="{36EFF018-B125-4090-A2EF-26F27414F4CE}">
      <dgm:prSet phldrT="[Text]" custT="1"/>
      <dgm:spPr/>
      <dgm:t>
        <a:bodyPr/>
        <a:lstStyle/>
        <a:p>
          <a:r>
            <a:rPr lang="en-US" sz="1300" dirty="0" smtClean="0"/>
            <a:t>Jharkhand Power Policy (Draft) 2018: Objective</a:t>
          </a:r>
          <a:endParaRPr lang="en-US" sz="1300" dirty="0"/>
        </a:p>
      </dgm:t>
    </dgm:pt>
    <dgm:pt modelId="{86980C72-EBF5-4375-953E-67F4D577A810}" type="parTrans" cxnId="{8ECD59CA-3D79-432F-8E85-1065F18B734E}">
      <dgm:prSet/>
      <dgm:spPr/>
      <dgm:t>
        <a:bodyPr/>
        <a:lstStyle/>
        <a:p>
          <a:endParaRPr lang="en-US" sz="1300"/>
        </a:p>
      </dgm:t>
    </dgm:pt>
    <dgm:pt modelId="{CD297C1B-359D-47FE-9256-3A98FF191631}" type="sibTrans" cxnId="{8ECD59CA-3D79-432F-8E85-1065F18B734E}">
      <dgm:prSet/>
      <dgm:spPr/>
      <dgm:t>
        <a:bodyPr/>
        <a:lstStyle/>
        <a:p>
          <a:endParaRPr lang="en-US" sz="1300"/>
        </a:p>
      </dgm:t>
    </dgm:pt>
    <dgm:pt modelId="{3FF29331-F50B-4B6D-9A4A-4A7F05BDC214}">
      <dgm:prSet phldrT="[Text]" custT="1"/>
      <dgm:spPr/>
      <dgm:t>
        <a:bodyPr/>
        <a:lstStyle/>
        <a:p>
          <a:r>
            <a:rPr lang="en-US" sz="1300" i="1" dirty="0" smtClean="0"/>
            <a:t>“The main objective of this power policy is to ensure that the power sector acts as a driver to the socio-economic development in the state”</a:t>
          </a:r>
          <a:endParaRPr lang="en-US" sz="1300" i="1" dirty="0"/>
        </a:p>
      </dgm:t>
    </dgm:pt>
    <dgm:pt modelId="{E4D88756-B72B-4000-B17F-96AAF0687759}" type="parTrans" cxnId="{D621B955-00AC-4E69-AA91-7127A5463FBC}">
      <dgm:prSet/>
      <dgm:spPr/>
      <dgm:t>
        <a:bodyPr/>
        <a:lstStyle/>
        <a:p>
          <a:endParaRPr lang="en-US" sz="1300"/>
        </a:p>
      </dgm:t>
    </dgm:pt>
    <dgm:pt modelId="{902A74BC-4F18-4F26-80E0-C26C3AD928DE}" type="sibTrans" cxnId="{D621B955-00AC-4E69-AA91-7127A5463FBC}">
      <dgm:prSet/>
      <dgm:spPr/>
      <dgm:t>
        <a:bodyPr/>
        <a:lstStyle/>
        <a:p>
          <a:endParaRPr lang="en-US" sz="1300"/>
        </a:p>
      </dgm:t>
    </dgm:pt>
    <dgm:pt modelId="{4C19E3BC-FA7C-41DD-BD50-DDEB9888E21F}">
      <dgm:prSet phldrT="[Text]" custT="1"/>
      <dgm:spPr/>
      <dgm:t>
        <a:bodyPr/>
        <a:lstStyle/>
        <a:p>
          <a:r>
            <a:rPr lang="en-US" sz="1300" i="1" dirty="0" smtClean="0"/>
            <a:t>“It will reduce the level of poverty, offer new avenues for local entrepreneurship, generate employment, provide impetus to industries particularly prevailing in rural areas and improve the standard of living of the people”</a:t>
          </a:r>
          <a:endParaRPr lang="en-US" sz="1300" i="1" dirty="0"/>
        </a:p>
      </dgm:t>
    </dgm:pt>
    <dgm:pt modelId="{FAD5C563-7FCE-4307-98C0-E714B0B15F91}" type="parTrans" cxnId="{8B72D8DB-5379-4384-8CB5-FB205A275423}">
      <dgm:prSet/>
      <dgm:spPr/>
      <dgm:t>
        <a:bodyPr/>
        <a:lstStyle/>
        <a:p>
          <a:endParaRPr lang="en-US" sz="1300"/>
        </a:p>
      </dgm:t>
    </dgm:pt>
    <dgm:pt modelId="{E5D5F76A-E3C1-4236-8AEC-37D368779C00}" type="sibTrans" cxnId="{8B72D8DB-5379-4384-8CB5-FB205A275423}">
      <dgm:prSet/>
      <dgm:spPr/>
      <dgm:t>
        <a:bodyPr/>
        <a:lstStyle/>
        <a:p>
          <a:endParaRPr lang="en-US" sz="1300"/>
        </a:p>
      </dgm:t>
    </dgm:pt>
    <dgm:pt modelId="{AEE1D04A-C55B-4703-8B31-E7D7887B9D52}">
      <dgm:prSet phldrT="[Text]" custT="1"/>
      <dgm:spPr/>
      <dgm:t>
        <a:bodyPr/>
        <a:lstStyle/>
        <a:p>
          <a:r>
            <a:rPr lang="en-US" sz="1300" dirty="0" smtClean="0"/>
            <a:t>Jharkhand Power Policy (Draft) 2018: Clause 12.2 (h)</a:t>
          </a:r>
        </a:p>
      </dgm:t>
    </dgm:pt>
    <dgm:pt modelId="{790E4017-D49C-4F00-95D0-5FFC6FDF14CE}" type="parTrans" cxnId="{CBF2AAEB-6D85-491D-9CF5-4603C8159D69}">
      <dgm:prSet/>
      <dgm:spPr/>
      <dgm:t>
        <a:bodyPr/>
        <a:lstStyle/>
        <a:p>
          <a:endParaRPr lang="en-US" sz="1300"/>
        </a:p>
      </dgm:t>
    </dgm:pt>
    <dgm:pt modelId="{43626987-18BC-48BA-93AF-408D4F50E5B6}" type="sibTrans" cxnId="{CBF2AAEB-6D85-491D-9CF5-4603C8159D69}">
      <dgm:prSet/>
      <dgm:spPr/>
      <dgm:t>
        <a:bodyPr/>
        <a:lstStyle/>
        <a:p>
          <a:endParaRPr lang="en-US" sz="1300"/>
        </a:p>
      </dgm:t>
    </dgm:pt>
    <dgm:pt modelId="{C5D39705-582A-4E5A-91C0-AD8623FFAD90}">
      <dgm:prSet phldrT="[Text]" custT="1"/>
      <dgm:spPr/>
      <dgm:t>
        <a:bodyPr/>
        <a:lstStyle/>
        <a:p>
          <a:r>
            <a:rPr lang="en-US" sz="1300" i="1" dirty="0" smtClean="0"/>
            <a:t>“The Government will endeavor to create and strengthen robust State Nodal Agencies (SNAs), and strive to achieve an achieve an active co-operation in implementing energy efficiency </a:t>
          </a:r>
          <a:r>
            <a:rPr lang="en-US" sz="1300" i="1" dirty="0" err="1" smtClean="0"/>
            <a:t>programmes</a:t>
          </a:r>
          <a:r>
            <a:rPr lang="en-US" sz="1300" i="1" dirty="0" smtClean="0"/>
            <a:t>”</a:t>
          </a:r>
        </a:p>
      </dgm:t>
    </dgm:pt>
    <dgm:pt modelId="{3F4398EC-821D-4D4D-AB2A-93F008B659EB}" type="parTrans" cxnId="{9B2E230C-F22B-47C2-8165-C6EA6A55C7CE}">
      <dgm:prSet/>
      <dgm:spPr/>
      <dgm:t>
        <a:bodyPr/>
        <a:lstStyle/>
        <a:p>
          <a:endParaRPr lang="en-US" sz="1300"/>
        </a:p>
      </dgm:t>
    </dgm:pt>
    <dgm:pt modelId="{A17E3267-BEE7-4900-BE03-A69E8472EB7A}" type="sibTrans" cxnId="{9B2E230C-F22B-47C2-8165-C6EA6A55C7CE}">
      <dgm:prSet/>
      <dgm:spPr/>
      <dgm:t>
        <a:bodyPr/>
        <a:lstStyle/>
        <a:p>
          <a:endParaRPr lang="en-US" sz="1300"/>
        </a:p>
      </dgm:t>
    </dgm:pt>
    <dgm:pt modelId="{D8295E69-4548-42E9-9F8A-0EC66640D32E}">
      <dgm:prSet phldrT="[Text]" custT="1"/>
      <dgm:spPr/>
      <dgm:t>
        <a:bodyPr/>
        <a:lstStyle/>
        <a:p>
          <a:r>
            <a:rPr lang="en-US" sz="1300" dirty="0" smtClean="0"/>
            <a:t>Jharkhand Power Policy (Draft) 2018: Clause 10.4 (f)</a:t>
          </a:r>
        </a:p>
      </dgm:t>
    </dgm:pt>
    <dgm:pt modelId="{0749B957-1FB4-4C48-84F8-0282ABCA5BCF}" type="parTrans" cxnId="{A5744055-7E6B-4108-925B-C53A0952253E}">
      <dgm:prSet/>
      <dgm:spPr/>
      <dgm:t>
        <a:bodyPr/>
        <a:lstStyle/>
        <a:p>
          <a:endParaRPr lang="en-US"/>
        </a:p>
      </dgm:t>
    </dgm:pt>
    <dgm:pt modelId="{9BF7D097-2E81-4F38-A888-036E2582F1F6}" type="sibTrans" cxnId="{A5744055-7E6B-4108-925B-C53A0952253E}">
      <dgm:prSet/>
      <dgm:spPr/>
      <dgm:t>
        <a:bodyPr/>
        <a:lstStyle/>
        <a:p>
          <a:endParaRPr lang="en-US"/>
        </a:p>
      </dgm:t>
    </dgm:pt>
    <dgm:pt modelId="{D85B51AE-B078-460E-864B-DD1FF9F0645F}">
      <dgm:prSet phldrT="[Text]" custT="1"/>
      <dgm:spPr/>
      <dgm:t>
        <a:bodyPr/>
        <a:lstStyle/>
        <a:p>
          <a:r>
            <a:rPr lang="en-US" sz="1300" i="1" dirty="0" smtClean="0"/>
            <a:t>“(</a:t>
          </a:r>
          <a:r>
            <a:rPr lang="en-US" sz="1300" i="1" dirty="0" err="1" smtClean="0"/>
            <a:t>i</a:t>
          </a:r>
          <a:r>
            <a:rPr lang="en-US" sz="1300" i="1" dirty="0" smtClean="0"/>
            <a:t>). Set-up Project Management Cell to ensure timely execution of distribution network augmentation” </a:t>
          </a:r>
        </a:p>
      </dgm:t>
    </dgm:pt>
    <dgm:pt modelId="{C557A1E3-46F8-40DD-83B9-282AE839A361}" type="parTrans" cxnId="{DD706A4B-9017-4DF4-A859-EF306DA08367}">
      <dgm:prSet/>
      <dgm:spPr/>
      <dgm:t>
        <a:bodyPr/>
        <a:lstStyle/>
        <a:p>
          <a:endParaRPr lang="en-US"/>
        </a:p>
      </dgm:t>
    </dgm:pt>
    <dgm:pt modelId="{30A6D8E9-7284-4735-A2C3-13AFD7E5E313}" type="sibTrans" cxnId="{DD706A4B-9017-4DF4-A859-EF306DA08367}">
      <dgm:prSet/>
      <dgm:spPr/>
      <dgm:t>
        <a:bodyPr/>
        <a:lstStyle/>
        <a:p>
          <a:endParaRPr lang="en-US"/>
        </a:p>
      </dgm:t>
    </dgm:pt>
    <dgm:pt modelId="{D89AD9E3-D056-407B-8492-8792A7338703}" type="pres">
      <dgm:prSet presAssocID="{EC589F15-F054-49D4-8763-C82FE2868751}" presName="linear" presStyleCnt="0">
        <dgm:presLayoutVars>
          <dgm:animLvl val="lvl"/>
          <dgm:resizeHandles val="exact"/>
        </dgm:presLayoutVars>
      </dgm:prSet>
      <dgm:spPr/>
      <dgm:t>
        <a:bodyPr/>
        <a:lstStyle/>
        <a:p>
          <a:endParaRPr lang="en-US"/>
        </a:p>
      </dgm:t>
    </dgm:pt>
    <dgm:pt modelId="{A89D4E55-A31F-4DC7-A774-0EC2A387B29C}" type="pres">
      <dgm:prSet presAssocID="{C228E1A9-30D5-4203-90A8-B8D082AD3EE9}" presName="parentText" presStyleLbl="node1" presStyleIdx="0" presStyleCnt="5">
        <dgm:presLayoutVars>
          <dgm:chMax val="0"/>
          <dgm:bulletEnabled val="1"/>
        </dgm:presLayoutVars>
      </dgm:prSet>
      <dgm:spPr/>
      <dgm:t>
        <a:bodyPr/>
        <a:lstStyle/>
        <a:p>
          <a:endParaRPr lang="en-US"/>
        </a:p>
      </dgm:t>
    </dgm:pt>
    <dgm:pt modelId="{A3B6AC0B-8E79-4C9D-A263-1E3B33AF3C7A}" type="pres">
      <dgm:prSet presAssocID="{C228E1A9-30D5-4203-90A8-B8D082AD3EE9}" presName="childText" presStyleLbl="revTx" presStyleIdx="0" presStyleCnt="5">
        <dgm:presLayoutVars>
          <dgm:bulletEnabled val="1"/>
        </dgm:presLayoutVars>
      </dgm:prSet>
      <dgm:spPr/>
      <dgm:t>
        <a:bodyPr/>
        <a:lstStyle/>
        <a:p>
          <a:endParaRPr lang="en-US"/>
        </a:p>
      </dgm:t>
    </dgm:pt>
    <dgm:pt modelId="{08FBC581-9076-4B07-B642-58118EF8E32A}" type="pres">
      <dgm:prSet presAssocID="{000CC37D-64FC-4666-86AD-5E9BB2DA7BB7}" presName="parentText" presStyleLbl="node1" presStyleIdx="1" presStyleCnt="5">
        <dgm:presLayoutVars>
          <dgm:chMax val="0"/>
          <dgm:bulletEnabled val="1"/>
        </dgm:presLayoutVars>
      </dgm:prSet>
      <dgm:spPr/>
      <dgm:t>
        <a:bodyPr/>
        <a:lstStyle/>
        <a:p>
          <a:endParaRPr lang="en-US"/>
        </a:p>
      </dgm:t>
    </dgm:pt>
    <dgm:pt modelId="{355AA8AF-2EC1-4DFB-9574-330669D669C2}" type="pres">
      <dgm:prSet presAssocID="{000CC37D-64FC-4666-86AD-5E9BB2DA7BB7}" presName="childText" presStyleLbl="revTx" presStyleIdx="1" presStyleCnt="5">
        <dgm:presLayoutVars>
          <dgm:bulletEnabled val="1"/>
        </dgm:presLayoutVars>
      </dgm:prSet>
      <dgm:spPr/>
      <dgm:t>
        <a:bodyPr/>
        <a:lstStyle/>
        <a:p>
          <a:endParaRPr lang="en-US"/>
        </a:p>
      </dgm:t>
    </dgm:pt>
    <dgm:pt modelId="{E77EB9CC-5082-416D-B138-FCFDCEAAF10F}" type="pres">
      <dgm:prSet presAssocID="{36EFF018-B125-4090-A2EF-26F27414F4CE}" presName="parentText" presStyleLbl="node1" presStyleIdx="2" presStyleCnt="5">
        <dgm:presLayoutVars>
          <dgm:chMax val="0"/>
          <dgm:bulletEnabled val="1"/>
        </dgm:presLayoutVars>
      </dgm:prSet>
      <dgm:spPr/>
      <dgm:t>
        <a:bodyPr/>
        <a:lstStyle/>
        <a:p>
          <a:endParaRPr lang="en-US"/>
        </a:p>
      </dgm:t>
    </dgm:pt>
    <dgm:pt modelId="{192B2540-C077-43CC-9770-38B0CE663530}" type="pres">
      <dgm:prSet presAssocID="{36EFF018-B125-4090-A2EF-26F27414F4CE}" presName="childText" presStyleLbl="revTx" presStyleIdx="2" presStyleCnt="5">
        <dgm:presLayoutVars>
          <dgm:bulletEnabled val="1"/>
        </dgm:presLayoutVars>
      </dgm:prSet>
      <dgm:spPr/>
      <dgm:t>
        <a:bodyPr/>
        <a:lstStyle/>
        <a:p>
          <a:endParaRPr lang="en-US"/>
        </a:p>
      </dgm:t>
    </dgm:pt>
    <dgm:pt modelId="{4ED1927C-F6B9-4AF3-9E72-7038B8F4D8E6}" type="pres">
      <dgm:prSet presAssocID="{AEE1D04A-C55B-4703-8B31-E7D7887B9D52}" presName="parentText" presStyleLbl="node1" presStyleIdx="3" presStyleCnt="5">
        <dgm:presLayoutVars>
          <dgm:chMax val="0"/>
          <dgm:bulletEnabled val="1"/>
        </dgm:presLayoutVars>
      </dgm:prSet>
      <dgm:spPr/>
      <dgm:t>
        <a:bodyPr/>
        <a:lstStyle/>
        <a:p>
          <a:endParaRPr lang="en-US"/>
        </a:p>
      </dgm:t>
    </dgm:pt>
    <dgm:pt modelId="{B86BCCB1-A8C1-4EE9-82FC-32C5A8321AD4}" type="pres">
      <dgm:prSet presAssocID="{AEE1D04A-C55B-4703-8B31-E7D7887B9D52}" presName="childText" presStyleLbl="revTx" presStyleIdx="3" presStyleCnt="5">
        <dgm:presLayoutVars>
          <dgm:bulletEnabled val="1"/>
        </dgm:presLayoutVars>
      </dgm:prSet>
      <dgm:spPr/>
      <dgm:t>
        <a:bodyPr/>
        <a:lstStyle/>
        <a:p>
          <a:endParaRPr lang="en-US"/>
        </a:p>
      </dgm:t>
    </dgm:pt>
    <dgm:pt modelId="{8EFA4808-1273-4931-A371-1F6626AC2271}" type="pres">
      <dgm:prSet presAssocID="{D8295E69-4548-42E9-9F8A-0EC66640D32E}" presName="parentText" presStyleLbl="node1" presStyleIdx="4" presStyleCnt="5">
        <dgm:presLayoutVars>
          <dgm:chMax val="0"/>
          <dgm:bulletEnabled val="1"/>
        </dgm:presLayoutVars>
      </dgm:prSet>
      <dgm:spPr/>
      <dgm:t>
        <a:bodyPr/>
        <a:lstStyle/>
        <a:p>
          <a:endParaRPr lang="en-US"/>
        </a:p>
      </dgm:t>
    </dgm:pt>
    <dgm:pt modelId="{47451CDC-3778-4035-B7A9-36B791D366BC}" type="pres">
      <dgm:prSet presAssocID="{D8295E69-4548-42E9-9F8A-0EC66640D32E}" presName="childText" presStyleLbl="revTx" presStyleIdx="4" presStyleCnt="5">
        <dgm:presLayoutVars>
          <dgm:bulletEnabled val="1"/>
        </dgm:presLayoutVars>
      </dgm:prSet>
      <dgm:spPr/>
      <dgm:t>
        <a:bodyPr/>
        <a:lstStyle/>
        <a:p>
          <a:endParaRPr lang="en-US"/>
        </a:p>
      </dgm:t>
    </dgm:pt>
  </dgm:ptLst>
  <dgm:cxnLst>
    <dgm:cxn modelId="{A5744055-7E6B-4108-925B-C53A0952253E}" srcId="{EC589F15-F054-49D4-8763-C82FE2868751}" destId="{D8295E69-4548-42E9-9F8A-0EC66640D32E}" srcOrd="4" destOrd="0" parTransId="{0749B957-1FB4-4C48-84F8-0282ABCA5BCF}" sibTransId="{9BF7D097-2E81-4F38-A888-036E2582F1F6}"/>
    <dgm:cxn modelId="{9B2E230C-F22B-47C2-8165-C6EA6A55C7CE}" srcId="{AEE1D04A-C55B-4703-8B31-E7D7887B9D52}" destId="{C5D39705-582A-4E5A-91C0-AD8623FFAD90}" srcOrd="0" destOrd="0" parTransId="{3F4398EC-821D-4D4D-AB2A-93F008B659EB}" sibTransId="{A17E3267-BEE7-4900-BE03-A69E8472EB7A}"/>
    <dgm:cxn modelId="{47686C1D-B46D-4724-B1E2-140B3F2580DB}" type="presOf" srcId="{EC589F15-F054-49D4-8763-C82FE2868751}" destId="{D89AD9E3-D056-407B-8492-8792A7338703}" srcOrd="0" destOrd="0" presId="urn:microsoft.com/office/officeart/2005/8/layout/vList2"/>
    <dgm:cxn modelId="{F0946926-8131-4152-8227-E0A81664099F}" type="presOf" srcId="{AEE1D04A-C55B-4703-8B31-E7D7887B9D52}" destId="{4ED1927C-F6B9-4AF3-9E72-7038B8F4D8E6}" srcOrd="0" destOrd="0" presId="urn:microsoft.com/office/officeart/2005/8/layout/vList2"/>
    <dgm:cxn modelId="{DD706A4B-9017-4DF4-A859-EF306DA08367}" srcId="{D8295E69-4548-42E9-9F8A-0EC66640D32E}" destId="{D85B51AE-B078-460E-864B-DD1FF9F0645F}" srcOrd="0" destOrd="0" parTransId="{C557A1E3-46F8-40DD-83B9-282AE839A361}" sibTransId="{30A6D8E9-7284-4735-A2C3-13AFD7E5E313}"/>
    <dgm:cxn modelId="{9D586CDF-8925-4120-A8D0-F58C9C81AE0D}" type="presOf" srcId="{D85B51AE-B078-460E-864B-DD1FF9F0645F}" destId="{47451CDC-3778-4035-B7A9-36B791D366BC}" srcOrd="0" destOrd="0" presId="urn:microsoft.com/office/officeart/2005/8/layout/vList2"/>
    <dgm:cxn modelId="{04DB2460-408E-4096-B8D7-1D1B9260048F}" srcId="{C228E1A9-30D5-4203-90A8-B8D082AD3EE9}" destId="{494897A6-BB70-4384-9B62-E51028FCDED4}" srcOrd="0" destOrd="0" parTransId="{7F086539-32EC-44E9-82EC-C5771FF3E00B}" sibTransId="{66F44C71-7E11-4703-AFE9-4A7E29016FE1}"/>
    <dgm:cxn modelId="{8ECD59CA-3D79-432F-8E85-1065F18B734E}" srcId="{EC589F15-F054-49D4-8763-C82FE2868751}" destId="{36EFF018-B125-4090-A2EF-26F27414F4CE}" srcOrd="2" destOrd="0" parTransId="{86980C72-EBF5-4375-953E-67F4D577A810}" sibTransId="{CD297C1B-359D-47FE-9256-3A98FF191631}"/>
    <dgm:cxn modelId="{85451210-5304-4477-8BA7-A0F88298A28D}" type="presOf" srcId="{000CC37D-64FC-4666-86AD-5E9BB2DA7BB7}" destId="{08FBC581-9076-4B07-B642-58118EF8E32A}" srcOrd="0" destOrd="0" presId="urn:microsoft.com/office/officeart/2005/8/layout/vList2"/>
    <dgm:cxn modelId="{DB6F2D21-BCC8-4282-89DE-B02EA5DDB8C0}" srcId="{EC589F15-F054-49D4-8763-C82FE2868751}" destId="{000CC37D-64FC-4666-86AD-5E9BB2DA7BB7}" srcOrd="1" destOrd="0" parTransId="{C706FFAA-0D80-4250-B063-81DD0CA4BD9A}" sibTransId="{1E933696-18CA-47BF-BCCC-6ABE4C110890}"/>
    <dgm:cxn modelId="{CBF2AAEB-6D85-491D-9CF5-4603C8159D69}" srcId="{EC589F15-F054-49D4-8763-C82FE2868751}" destId="{AEE1D04A-C55B-4703-8B31-E7D7887B9D52}" srcOrd="3" destOrd="0" parTransId="{790E4017-D49C-4F00-95D0-5FFC6FDF14CE}" sibTransId="{43626987-18BC-48BA-93AF-408D4F50E5B6}"/>
    <dgm:cxn modelId="{827EBC6D-121B-4B8F-BE52-4C04A276F7FA}" type="presOf" srcId="{3FF29331-F50B-4B6D-9A4A-4A7F05BDC214}" destId="{192B2540-C077-43CC-9770-38B0CE663530}" srcOrd="0" destOrd="0" presId="urn:microsoft.com/office/officeart/2005/8/layout/vList2"/>
    <dgm:cxn modelId="{52E9EEDD-CF61-4FD5-B220-6836BACE8C16}" type="presOf" srcId="{4C19E3BC-FA7C-41DD-BD50-DDEB9888E21F}" destId="{192B2540-C077-43CC-9770-38B0CE663530}" srcOrd="0" destOrd="1" presId="urn:microsoft.com/office/officeart/2005/8/layout/vList2"/>
    <dgm:cxn modelId="{E570FCE9-B37D-41A8-89CD-B4CF70820574}" type="presOf" srcId="{494897A6-BB70-4384-9B62-E51028FCDED4}" destId="{A3B6AC0B-8E79-4C9D-A263-1E3B33AF3C7A}" srcOrd="0" destOrd="0" presId="urn:microsoft.com/office/officeart/2005/8/layout/vList2"/>
    <dgm:cxn modelId="{CBA7EE51-65CF-4CB5-975E-D418AE8F6E72}" type="presOf" srcId="{D8295E69-4548-42E9-9F8A-0EC66640D32E}" destId="{8EFA4808-1273-4931-A371-1F6626AC2271}" srcOrd="0" destOrd="0" presId="urn:microsoft.com/office/officeart/2005/8/layout/vList2"/>
    <dgm:cxn modelId="{C013B1F8-7A03-4EF0-971C-FE5E9E8BCFC6}" type="presOf" srcId="{C5D39705-582A-4E5A-91C0-AD8623FFAD90}" destId="{B86BCCB1-A8C1-4EE9-82FC-32C5A8321AD4}" srcOrd="0" destOrd="0" presId="urn:microsoft.com/office/officeart/2005/8/layout/vList2"/>
    <dgm:cxn modelId="{0A294376-E8ED-47AA-BFD0-2805FCEED64D}" type="presOf" srcId="{36EFF018-B125-4090-A2EF-26F27414F4CE}" destId="{E77EB9CC-5082-416D-B138-FCFDCEAAF10F}" srcOrd="0" destOrd="0" presId="urn:microsoft.com/office/officeart/2005/8/layout/vList2"/>
    <dgm:cxn modelId="{D621B955-00AC-4E69-AA91-7127A5463FBC}" srcId="{36EFF018-B125-4090-A2EF-26F27414F4CE}" destId="{3FF29331-F50B-4B6D-9A4A-4A7F05BDC214}" srcOrd="0" destOrd="0" parTransId="{E4D88756-B72B-4000-B17F-96AAF0687759}" sibTransId="{902A74BC-4F18-4F26-80E0-C26C3AD928DE}"/>
    <dgm:cxn modelId="{077FA626-28AF-40E1-9DBC-124BE69FCB65}" srcId="{000CC37D-64FC-4666-86AD-5E9BB2DA7BB7}" destId="{12E9BDC3-17E0-4ADA-897C-78583BD049EC}" srcOrd="0" destOrd="0" parTransId="{E52716A8-31FD-4D1B-B789-507ABFB72F8C}" sibTransId="{E6570781-35C2-4EA1-9533-7F934F1C7967}"/>
    <dgm:cxn modelId="{8B72D8DB-5379-4384-8CB5-FB205A275423}" srcId="{36EFF018-B125-4090-A2EF-26F27414F4CE}" destId="{4C19E3BC-FA7C-41DD-BD50-DDEB9888E21F}" srcOrd="1" destOrd="0" parTransId="{FAD5C563-7FCE-4307-98C0-E714B0B15F91}" sibTransId="{E5D5F76A-E3C1-4236-8AEC-37D368779C00}"/>
    <dgm:cxn modelId="{1EFEAC24-AE6D-4907-A959-C8916FFD28BA}" srcId="{EC589F15-F054-49D4-8763-C82FE2868751}" destId="{C228E1A9-30D5-4203-90A8-B8D082AD3EE9}" srcOrd="0" destOrd="0" parTransId="{01AC6666-C490-4084-96D4-28DCB0E9F7F8}" sibTransId="{46A628E0-F8F3-4E71-AAA7-386D93C6DA72}"/>
    <dgm:cxn modelId="{E92BC2E3-F4A3-47B9-823F-9283B8DA08B8}" type="presOf" srcId="{12E9BDC3-17E0-4ADA-897C-78583BD049EC}" destId="{355AA8AF-2EC1-4DFB-9574-330669D669C2}" srcOrd="0" destOrd="0" presId="urn:microsoft.com/office/officeart/2005/8/layout/vList2"/>
    <dgm:cxn modelId="{51670FDB-5884-42E2-B64D-56B126A30762}" type="presOf" srcId="{C228E1A9-30D5-4203-90A8-B8D082AD3EE9}" destId="{A89D4E55-A31F-4DC7-A774-0EC2A387B29C}" srcOrd="0" destOrd="0" presId="urn:microsoft.com/office/officeart/2005/8/layout/vList2"/>
    <dgm:cxn modelId="{DE426E4B-BE5D-4C3D-8F5F-85C8232F81B3}" type="presParOf" srcId="{D89AD9E3-D056-407B-8492-8792A7338703}" destId="{A89D4E55-A31F-4DC7-A774-0EC2A387B29C}" srcOrd="0" destOrd="0" presId="urn:microsoft.com/office/officeart/2005/8/layout/vList2"/>
    <dgm:cxn modelId="{C0228C84-DC4D-4373-84DC-611DE6D632B6}" type="presParOf" srcId="{D89AD9E3-D056-407B-8492-8792A7338703}" destId="{A3B6AC0B-8E79-4C9D-A263-1E3B33AF3C7A}" srcOrd="1" destOrd="0" presId="urn:microsoft.com/office/officeart/2005/8/layout/vList2"/>
    <dgm:cxn modelId="{A3DB1335-918C-4DAE-BCB8-F71E856E7A2D}" type="presParOf" srcId="{D89AD9E3-D056-407B-8492-8792A7338703}" destId="{08FBC581-9076-4B07-B642-58118EF8E32A}" srcOrd="2" destOrd="0" presId="urn:microsoft.com/office/officeart/2005/8/layout/vList2"/>
    <dgm:cxn modelId="{3291C1D7-DA4B-4ADD-98E9-3C6215E0059A}" type="presParOf" srcId="{D89AD9E3-D056-407B-8492-8792A7338703}" destId="{355AA8AF-2EC1-4DFB-9574-330669D669C2}" srcOrd="3" destOrd="0" presId="urn:microsoft.com/office/officeart/2005/8/layout/vList2"/>
    <dgm:cxn modelId="{7A7154C7-A5E7-4072-96FD-B21B744FF584}" type="presParOf" srcId="{D89AD9E3-D056-407B-8492-8792A7338703}" destId="{E77EB9CC-5082-416D-B138-FCFDCEAAF10F}" srcOrd="4" destOrd="0" presId="urn:microsoft.com/office/officeart/2005/8/layout/vList2"/>
    <dgm:cxn modelId="{C5F87CE9-E3A2-45DD-A76B-16C79025C290}" type="presParOf" srcId="{D89AD9E3-D056-407B-8492-8792A7338703}" destId="{192B2540-C077-43CC-9770-38B0CE663530}" srcOrd="5" destOrd="0" presId="urn:microsoft.com/office/officeart/2005/8/layout/vList2"/>
    <dgm:cxn modelId="{B6376AC4-B6B1-48B4-8EBC-ADD2069DDB1F}" type="presParOf" srcId="{D89AD9E3-D056-407B-8492-8792A7338703}" destId="{4ED1927C-F6B9-4AF3-9E72-7038B8F4D8E6}" srcOrd="6" destOrd="0" presId="urn:microsoft.com/office/officeart/2005/8/layout/vList2"/>
    <dgm:cxn modelId="{5C9DAD09-2930-460E-BA81-C6440A0E0AE9}" type="presParOf" srcId="{D89AD9E3-D056-407B-8492-8792A7338703}" destId="{B86BCCB1-A8C1-4EE9-82FC-32C5A8321AD4}" srcOrd="7" destOrd="0" presId="urn:microsoft.com/office/officeart/2005/8/layout/vList2"/>
    <dgm:cxn modelId="{283BBBAD-76A7-46C2-8CFF-2988B21849E5}" type="presParOf" srcId="{D89AD9E3-D056-407B-8492-8792A7338703}" destId="{8EFA4808-1273-4931-A371-1F6626AC2271}" srcOrd="8" destOrd="0" presId="urn:microsoft.com/office/officeart/2005/8/layout/vList2"/>
    <dgm:cxn modelId="{A1DA7A7F-2E2D-4CE9-9865-FCD3378E5DA4}" type="presParOf" srcId="{D89AD9E3-D056-407B-8492-8792A7338703}" destId="{47451CDC-3778-4035-B7A9-36B791D366BC}"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D4E55-A31F-4DC7-A774-0EC2A387B29C}">
      <dsp:nvSpPr>
        <dsp:cNvPr id="0" name=""/>
        <dsp:cNvSpPr/>
      </dsp:nvSpPr>
      <dsp:spPr>
        <a:xfrm>
          <a:off x="0" y="8941"/>
          <a:ext cx="10935857" cy="35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dirty="0" smtClean="0"/>
            <a:t>Vision Document: Enabling Access to Energy (Context)</a:t>
          </a:r>
          <a:endParaRPr lang="en-US" sz="1300" kern="1200" dirty="0"/>
        </a:p>
      </dsp:txBody>
      <dsp:txXfrm>
        <a:off x="17363" y="26304"/>
        <a:ext cx="10901131" cy="320954"/>
      </dsp:txXfrm>
    </dsp:sp>
    <dsp:sp modelId="{A3B6AC0B-8E79-4C9D-A263-1E3B33AF3C7A}">
      <dsp:nvSpPr>
        <dsp:cNvPr id="0" name=""/>
        <dsp:cNvSpPr/>
      </dsp:nvSpPr>
      <dsp:spPr>
        <a:xfrm>
          <a:off x="0" y="364621"/>
          <a:ext cx="10935857" cy="403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213" tIns="16510" rIns="92456" bIns="16510" numCol="1" spcCol="1270" anchor="t" anchorCtr="0">
          <a:noAutofit/>
        </a:bodyPr>
        <a:lstStyle/>
        <a:p>
          <a:pPr marL="114300" lvl="1" indent="-114300" algn="l" defTabSz="577850">
            <a:lnSpc>
              <a:spcPct val="90000"/>
            </a:lnSpc>
            <a:spcBef>
              <a:spcPct val="0"/>
            </a:spcBef>
            <a:spcAft>
              <a:spcPct val="20000"/>
            </a:spcAft>
            <a:buChar char="••"/>
          </a:pPr>
          <a:r>
            <a:rPr lang="en-US" sz="1300" i="1" kern="1200" dirty="0" smtClean="0"/>
            <a:t>“Jharkhand has also recognized the importance of Sustainable Development Goals (Goal #7) to ensure universal access to affordable, reliable &amp; modern technology services”</a:t>
          </a:r>
          <a:endParaRPr lang="en-US" sz="1300" i="1" kern="1200" dirty="0"/>
        </a:p>
      </dsp:txBody>
      <dsp:txXfrm>
        <a:off x="0" y="364621"/>
        <a:ext cx="10935857" cy="403132"/>
      </dsp:txXfrm>
    </dsp:sp>
    <dsp:sp modelId="{08FBC581-9076-4B07-B642-58118EF8E32A}">
      <dsp:nvSpPr>
        <dsp:cNvPr id="0" name=""/>
        <dsp:cNvSpPr/>
      </dsp:nvSpPr>
      <dsp:spPr>
        <a:xfrm>
          <a:off x="0" y="767753"/>
          <a:ext cx="10935857" cy="35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dirty="0" smtClean="0"/>
            <a:t>Vision Document: Enabling Access to Energy (Convergence)</a:t>
          </a:r>
          <a:endParaRPr lang="en-US" sz="1300" kern="1200" dirty="0"/>
        </a:p>
      </dsp:txBody>
      <dsp:txXfrm>
        <a:off x="17363" y="785116"/>
        <a:ext cx="10901131" cy="320954"/>
      </dsp:txXfrm>
    </dsp:sp>
    <dsp:sp modelId="{355AA8AF-2EC1-4DFB-9574-330669D669C2}">
      <dsp:nvSpPr>
        <dsp:cNvPr id="0" name=""/>
        <dsp:cNvSpPr/>
      </dsp:nvSpPr>
      <dsp:spPr>
        <a:xfrm>
          <a:off x="0" y="1123433"/>
          <a:ext cx="10935857" cy="403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213" tIns="16510" rIns="92456" bIns="16510" numCol="1" spcCol="1270" anchor="t" anchorCtr="0">
          <a:noAutofit/>
        </a:bodyPr>
        <a:lstStyle/>
        <a:p>
          <a:pPr marL="114300" lvl="1" indent="-114300" algn="l" defTabSz="577850">
            <a:lnSpc>
              <a:spcPct val="90000"/>
            </a:lnSpc>
            <a:spcBef>
              <a:spcPct val="0"/>
            </a:spcBef>
            <a:spcAft>
              <a:spcPct val="20000"/>
            </a:spcAft>
            <a:buChar char="••"/>
          </a:pPr>
          <a:r>
            <a:rPr lang="en-US" sz="1300" i="1" kern="1200" dirty="0" smtClean="0"/>
            <a:t>“To achieve the laid down targets, it is also crucial to understand the dependence of the Energy sector on other departments and sectors”</a:t>
          </a:r>
          <a:endParaRPr lang="en-US" sz="1300" i="1" kern="1200" dirty="0"/>
        </a:p>
      </dsp:txBody>
      <dsp:txXfrm>
        <a:off x="0" y="1123433"/>
        <a:ext cx="10935857" cy="403132"/>
      </dsp:txXfrm>
    </dsp:sp>
    <dsp:sp modelId="{E77EB9CC-5082-416D-B138-FCFDCEAAF10F}">
      <dsp:nvSpPr>
        <dsp:cNvPr id="0" name=""/>
        <dsp:cNvSpPr/>
      </dsp:nvSpPr>
      <dsp:spPr>
        <a:xfrm>
          <a:off x="0" y="1526566"/>
          <a:ext cx="10935857" cy="35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dirty="0" smtClean="0"/>
            <a:t>Jharkhand Power Policy (Draft) 2018: Objective</a:t>
          </a:r>
          <a:endParaRPr lang="en-US" sz="1300" kern="1200" dirty="0"/>
        </a:p>
      </dsp:txBody>
      <dsp:txXfrm>
        <a:off x="17363" y="1543929"/>
        <a:ext cx="10901131" cy="320954"/>
      </dsp:txXfrm>
    </dsp:sp>
    <dsp:sp modelId="{192B2540-C077-43CC-9770-38B0CE663530}">
      <dsp:nvSpPr>
        <dsp:cNvPr id="0" name=""/>
        <dsp:cNvSpPr/>
      </dsp:nvSpPr>
      <dsp:spPr>
        <a:xfrm>
          <a:off x="0" y="1882246"/>
          <a:ext cx="10935857" cy="8062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213" tIns="16510" rIns="92456" bIns="16510" numCol="1" spcCol="1270" anchor="t" anchorCtr="0">
          <a:noAutofit/>
        </a:bodyPr>
        <a:lstStyle/>
        <a:p>
          <a:pPr marL="114300" lvl="1" indent="-114300" algn="l" defTabSz="577850">
            <a:lnSpc>
              <a:spcPct val="90000"/>
            </a:lnSpc>
            <a:spcBef>
              <a:spcPct val="0"/>
            </a:spcBef>
            <a:spcAft>
              <a:spcPct val="20000"/>
            </a:spcAft>
            <a:buChar char="••"/>
          </a:pPr>
          <a:r>
            <a:rPr lang="en-US" sz="1300" i="1" kern="1200" dirty="0" smtClean="0"/>
            <a:t>“The main objective of this power policy is to ensure that the power sector acts as a driver to the socio-economic development in the state”</a:t>
          </a:r>
          <a:endParaRPr lang="en-US" sz="1300" i="1" kern="1200" dirty="0"/>
        </a:p>
        <a:p>
          <a:pPr marL="114300" lvl="1" indent="-114300" algn="l" defTabSz="577850">
            <a:lnSpc>
              <a:spcPct val="90000"/>
            </a:lnSpc>
            <a:spcBef>
              <a:spcPct val="0"/>
            </a:spcBef>
            <a:spcAft>
              <a:spcPct val="20000"/>
            </a:spcAft>
            <a:buChar char="••"/>
          </a:pPr>
          <a:r>
            <a:rPr lang="en-US" sz="1300" i="1" kern="1200" dirty="0" smtClean="0"/>
            <a:t>“It will reduce the level of poverty, offer new avenues for local entrepreneurship, generate employment, provide impetus to industries particularly prevailing in rural areas and improve the standard of living of the people”</a:t>
          </a:r>
          <a:endParaRPr lang="en-US" sz="1300" i="1" kern="1200" dirty="0"/>
        </a:p>
      </dsp:txBody>
      <dsp:txXfrm>
        <a:off x="0" y="1882246"/>
        <a:ext cx="10935857" cy="806264"/>
      </dsp:txXfrm>
    </dsp:sp>
    <dsp:sp modelId="{4ED1927C-F6B9-4AF3-9E72-7038B8F4D8E6}">
      <dsp:nvSpPr>
        <dsp:cNvPr id="0" name=""/>
        <dsp:cNvSpPr/>
      </dsp:nvSpPr>
      <dsp:spPr>
        <a:xfrm>
          <a:off x="0" y="2688511"/>
          <a:ext cx="10935857" cy="35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dirty="0" smtClean="0"/>
            <a:t>Jharkhand Power Policy (Draft) 2018: Clause 12.2 (h)</a:t>
          </a:r>
        </a:p>
      </dsp:txBody>
      <dsp:txXfrm>
        <a:off x="17363" y="2705874"/>
        <a:ext cx="10901131" cy="320954"/>
      </dsp:txXfrm>
    </dsp:sp>
    <dsp:sp modelId="{B86BCCB1-A8C1-4EE9-82FC-32C5A8321AD4}">
      <dsp:nvSpPr>
        <dsp:cNvPr id="0" name=""/>
        <dsp:cNvSpPr/>
      </dsp:nvSpPr>
      <dsp:spPr>
        <a:xfrm>
          <a:off x="0" y="3044191"/>
          <a:ext cx="10935857" cy="4031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213" tIns="16510" rIns="92456" bIns="16510" numCol="1" spcCol="1270" anchor="t" anchorCtr="0">
          <a:noAutofit/>
        </a:bodyPr>
        <a:lstStyle/>
        <a:p>
          <a:pPr marL="114300" lvl="1" indent="-114300" algn="l" defTabSz="577850">
            <a:lnSpc>
              <a:spcPct val="90000"/>
            </a:lnSpc>
            <a:spcBef>
              <a:spcPct val="0"/>
            </a:spcBef>
            <a:spcAft>
              <a:spcPct val="20000"/>
            </a:spcAft>
            <a:buChar char="••"/>
          </a:pPr>
          <a:r>
            <a:rPr lang="en-US" sz="1300" i="1" kern="1200" dirty="0" smtClean="0"/>
            <a:t>“The Government will endeavor to create and strengthen robust State Nodal Agencies (SNAs), and strive to achieve an achieve an active co-operation in implementing energy efficiency </a:t>
          </a:r>
          <a:r>
            <a:rPr lang="en-US" sz="1300" i="1" kern="1200" dirty="0" err="1" smtClean="0"/>
            <a:t>programmes</a:t>
          </a:r>
          <a:r>
            <a:rPr lang="en-US" sz="1300" i="1" kern="1200" dirty="0" smtClean="0"/>
            <a:t>”</a:t>
          </a:r>
        </a:p>
      </dsp:txBody>
      <dsp:txXfrm>
        <a:off x="0" y="3044191"/>
        <a:ext cx="10935857" cy="403132"/>
      </dsp:txXfrm>
    </dsp:sp>
    <dsp:sp modelId="{8EFA4808-1273-4931-A371-1F6626AC2271}">
      <dsp:nvSpPr>
        <dsp:cNvPr id="0" name=""/>
        <dsp:cNvSpPr/>
      </dsp:nvSpPr>
      <dsp:spPr>
        <a:xfrm>
          <a:off x="0" y="3447323"/>
          <a:ext cx="10935857" cy="35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dirty="0" smtClean="0"/>
            <a:t>Jharkhand Power Policy (Draft) 2018: Clause 10.4 (f)</a:t>
          </a:r>
        </a:p>
      </dsp:txBody>
      <dsp:txXfrm>
        <a:off x="17363" y="3464686"/>
        <a:ext cx="10901131" cy="320954"/>
      </dsp:txXfrm>
    </dsp:sp>
    <dsp:sp modelId="{47451CDC-3778-4035-B7A9-36B791D366BC}">
      <dsp:nvSpPr>
        <dsp:cNvPr id="0" name=""/>
        <dsp:cNvSpPr/>
      </dsp:nvSpPr>
      <dsp:spPr>
        <a:xfrm>
          <a:off x="0" y="3803003"/>
          <a:ext cx="10935857" cy="31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213" tIns="16510" rIns="92456" bIns="16510" numCol="1" spcCol="1270" anchor="t" anchorCtr="0">
          <a:noAutofit/>
        </a:bodyPr>
        <a:lstStyle/>
        <a:p>
          <a:pPr marL="114300" lvl="1" indent="-114300" algn="l" defTabSz="577850">
            <a:lnSpc>
              <a:spcPct val="90000"/>
            </a:lnSpc>
            <a:spcBef>
              <a:spcPct val="0"/>
            </a:spcBef>
            <a:spcAft>
              <a:spcPct val="20000"/>
            </a:spcAft>
            <a:buChar char="••"/>
          </a:pPr>
          <a:r>
            <a:rPr lang="en-US" sz="1300" i="1" kern="1200" dirty="0" smtClean="0"/>
            <a:t>“(</a:t>
          </a:r>
          <a:r>
            <a:rPr lang="en-US" sz="1300" i="1" kern="1200" dirty="0" err="1" smtClean="0"/>
            <a:t>i</a:t>
          </a:r>
          <a:r>
            <a:rPr lang="en-US" sz="1300" i="1" kern="1200" dirty="0" smtClean="0"/>
            <a:t>). Set-up Project Management Cell to ensure timely execution of distribution network augmentation” </a:t>
          </a:r>
        </a:p>
      </dsp:txBody>
      <dsp:txXfrm>
        <a:off x="0" y="3803003"/>
        <a:ext cx="10935857" cy="3146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4A0BE-71E9-47DC-9436-EE58ECF92960}" type="datetimeFigureOut">
              <a:rPr lang="en-IN" smtClean="0"/>
              <a:t>30-07-2020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693FE6-3BFB-4BB9-A36E-9BFC9C217F48}" type="slidenum">
              <a:rPr lang="en-IN" smtClean="0"/>
              <a:t>‹#›</a:t>
            </a:fld>
            <a:endParaRPr lang="en-IN"/>
          </a:p>
        </p:txBody>
      </p:sp>
    </p:spTree>
    <p:extLst>
      <p:ext uri="{BB962C8B-B14F-4D97-AF65-F5344CB8AC3E}">
        <p14:creationId xmlns:p14="http://schemas.microsoft.com/office/powerpoint/2010/main" val="844906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320FA-62E3-4023-BD58-F68E9B6E0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3240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320FA-62E3-4023-BD58-F68E9B6E0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6180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320FA-62E3-4023-BD58-F68E9B6E0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1202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320FA-62E3-4023-BD58-F68E9B6E0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2417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320FA-62E3-4023-BD58-F68E9B6E02F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150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smtClean="0"/>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3295647552"/>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915541080"/>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Tree>
    <p:extLst>
      <p:ext uri="{BB962C8B-B14F-4D97-AF65-F5344CB8AC3E}">
        <p14:creationId xmlns:p14="http://schemas.microsoft.com/office/powerpoint/2010/main" val="1661643087"/>
      </p:ext>
    </p:extLst>
  </p:cSld>
  <p:clrMapOvr>
    <a:masterClrMapping/>
  </p:clrMapOvr>
  <p:transition>
    <p:fade/>
  </p:transition>
  <p:extLst mod="1">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rmAutofit/>
          </a:bodyPr>
          <a:lstStyle>
            <a:lvl1pPr>
              <a:spcBef>
                <a:spcPts val="3600"/>
              </a:spcBef>
              <a:defRPr sz="22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smtClean="0"/>
              <a:t>Edit Master text styles</a:t>
            </a:r>
          </a:p>
        </p:txBody>
      </p:sp>
    </p:spTree>
    <p:extLst>
      <p:ext uri="{BB962C8B-B14F-4D97-AF65-F5344CB8AC3E}">
        <p14:creationId xmlns:p14="http://schemas.microsoft.com/office/powerpoint/2010/main" val="20396212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smtClean="0"/>
              <a:t>Edit Master text styles</a:t>
            </a:r>
          </a:p>
        </p:txBody>
      </p:sp>
      <p:sp>
        <p:nvSpPr>
          <p:cNvPr id="7" name="Text Placeholder 6"/>
          <p:cNvSpPr>
            <a:spLocks noGrp="1"/>
          </p:cNvSpPr>
          <p:nvPr>
            <p:ph type="body" sz="quarter" idx="11"/>
          </p:nvPr>
        </p:nvSpPr>
        <p:spPr>
          <a:xfrm>
            <a:off x="525586" y="1700214"/>
            <a:ext cx="2766255" cy="4656835"/>
          </a:xfrm>
        </p:spPr>
        <p:txBody>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smtClean="0"/>
              <a:t>Edit Master text styles</a:t>
            </a:r>
          </a:p>
        </p:txBody>
      </p:sp>
      <p:sp>
        <p:nvSpPr>
          <p:cNvPr id="9" name="Text Placeholder 8"/>
          <p:cNvSpPr>
            <a:spLocks noGrp="1"/>
          </p:cNvSpPr>
          <p:nvPr>
            <p:ph type="body" sz="quarter" idx="12"/>
          </p:nvPr>
        </p:nvSpPr>
        <p:spPr>
          <a:xfrm>
            <a:off x="3780369" y="1700212"/>
            <a:ext cx="7886049" cy="4657726"/>
          </a:xfrm>
        </p:spPr>
        <p:txBody>
          <a:bodyPr/>
          <a:lstStyle>
            <a:lvl1pPr>
              <a:spcBef>
                <a:spcPts val="1662"/>
              </a:spcBef>
              <a:defRPr/>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grpSp>
        <p:nvGrpSpPr>
          <p:cNvPr id="6" name="Group 5"/>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274973665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86869889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smtClean="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420992004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smtClean="0"/>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12196846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10650796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smtClean="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52633571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smtClean="0"/>
              <a:t>Click icon to add chart</a:t>
            </a:r>
            <a:endParaRPr lang="en-GB" dirty="0"/>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smtClean="0"/>
              <a:t>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smtClean="0"/>
              <a:t>Edit Master text styles</a:t>
            </a:r>
          </a:p>
        </p:txBody>
      </p:sp>
    </p:spTree>
    <p:extLst>
      <p:ext uri="{BB962C8B-B14F-4D97-AF65-F5344CB8AC3E}">
        <p14:creationId xmlns:p14="http://schemas.microsoft.com/office/powerpoint/2010/main" val="179421514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smtClean="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smtClean="0"/>
              <a:t>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smtClean="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smtClean="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smtClean="0"/>
              <a:t>Click icon to add chart</a:t>
            </a:r>
            <a:endParaRPr lang="en-US" noProof="0" dirty="0"/>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smtClean="0"/>
              <a:t>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smtClean="0"/>
              <a:t>Edit Master text styles</a:t>
            </a:r>
          </a:p>
        </p:txBody>
      </p:sp>
    </p:spTree>
    <p:extLst>
      <p:ext uri="{BB962C8B-B14F-4D97-AF65-F5344CB8AC3E}">
        <p14:creationId xmlns:p14="http://schemas.microsoft.com/office/powerpoint/2010/main" val="280267662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41094778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501650"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2356606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smtClean="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smtClean="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0"/>
            </a:lvl1pPr>
          </a:lstStyle>
          <a:p>
            <a:pPr lvl="0"/>
            <a:r>
              <a:rPr lang="en-US" smtClean="0"/>
              <a:t>Edit Master text styles</a:t>
            </a:r>
          </a:p>
        </p:txBody>
      </p:sp>
    </p:spTree>
    <p:extLst>
      <p:ext uri="{BB962C8B-B14F-4D97-AF65-F5344CB8AC3E}">
        <p14:creationId xmlns:p14="http://schemas.microsoft.com/office/powerpoint/2010/main" val="212253358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smtClean="0"/>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smtClean="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smtClean="0"/>
              <a:t>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smtClean="0"/>
              <a:t>Click icon to add chart</a:t>
            </a:r>
            <a:endParaRPr lang="en-GB"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smtClean="0"/>
              <a:t>Edit Master text styles</a:t>
            </a:r>
          </a:p>
        </p:txBody>
      </p:sp>
    </p:spTree>
    <p:extLst>
      <p:ext uri="{BB962C8B-B14F-4D97-AF65-F5344CB8AC3E}">
        <p14:creationId xmlns:p14="http://schemas.microsoft.com/office/powerpoint/2010/main" val="130873234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21395700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2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8693874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smtClean="0"/>
              <a:t>Click to edit Master title style</a:t>
            </a:r>
            <a:endParaRPr lang="en-GB"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smtClean="0"/>
              <a:t>Click icon to add picture</a:t>
            </a:r>
            <a:endParaRPr lang="en-US" noProof="0" dirty="0"/>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smtClean="0"/>
              <a:t>Click icon to add picture</a:t>
            </a:r>
            <a:endParaRPr lang="en-US" noProof="0" dirty="0"/>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smtClean="0"/>
              <a:t>Click icon to add picture</a:t>
            </a:r>
            <a:endParaRPr lang="en-US" noProof="0" dirty="0"/>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smtClean="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97421931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noProof="0" smtClean="0"/>
              <a:t>Click to edit Master title style</a:t>
            </a:r>
            <a:endParaRPr lang="en-US" noProof="0" dirty="0"/>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smtClean="0"/>
              <a:t>Click icon to add picture</a:t>
            </a:r>
            <a:endParaRPr lang="en-GB" dirty="0"/>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smtClean="0"/>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smtClean="0"/>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smtClean="0"/>
              <a:t>Click icon to add picture</a:t>
            </a:r>
            <a:endParaRPr lang="en-GB"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smtClean="0"/>
              <a:t>Edit Master text styles</a:t>
            </a:r>
          </a:p>
          <a:p>
            <a:pPr lvl="1"/>
            <a:r>
              <a:rPr lang="en-US" smtClean="0"/>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smtClean="0"/>
              <a:t>Edit Master text styles</a:t>
            </a:r>
          </a:p>
          <a:p>
            <a:pPr lvl="1"/>
            <a:r>
              <a:rPr lang="en-US" smtClean="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smtClean="0"/>
              <a:t>Edit Master text styles</a:t>
            </a:r>
          </a:p>
          <a:p>
            <a:pPr lvl="1"/>
            <a:r>
              <a:rPr lang="en-US" smtClean="0"/>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smtClean="0"/>
              <a:t>Edit Master text styles</a:t>
            </a:r>
          </a:p>
          <a:p>
            <a:pPr lvl="1"/>
            <a:r>
              <a:rPr lang="en-US" smtClean="0"/>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1481962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698499"/>
          </a:xfrm>
        </p:spPr>
        <p:txBody>
          <a:bodyPr/>
          <a:lstStyle/>
          <a:p>
            <a:r>
              <a:rPr lang="en-US" noProof="0" smtClean="0"/>
              <a:t>Click to edit Master title style</a:t>
            </a:r>
            <a:endParaRPr lang="en-US" noProof="0" dirty="0"/>
          </a:p>
        </p:txBody>
      </p:sp>
      <p:sp>
        <p:nvSpPr>
          <p:cNvPr id="4" name="Picture Placeholder 7"/>
          <p:cNvSpPr>
            <a:spLocks noGrp="1"/>
          </p:cNvSpPr>
          <p:nvPr>
            <p:ph type="pic" sz="quarter" idx="13"/>
          </p:nvPr>
        </p:nvSpPr>
        <p:spPr>
          <a:xfrm>
            <a:off x="501651" y="1700214"/>
            <a:ext cx="3695700" cy="1971675"/>
          </a:xfrm>
        </p:spPr>
        <p:txBody>
          <a:bodyPr/>
          <a:lstStyle/>
          <a:p>
            <a:r>
              <a:rPr lang="en-US" noProof="0" smtClean="0"/>
              <a:t>Click icon to add picture</a:t>
            </a:r>
            <a:endParaRPr lang="en-US" noProof="0" dirty="0"/>
          </a:p>
        </p:txBody>
      </p:sp>
      <p:sp>
        <p:nvSpPr>
          <p:cNvPr id="5" name="Picture Placeholder 7"/>
          <p:cNvSpPr>
            <a:spLocks noGrp="1"/>
          </p:cNvSpPr>
          <p:nvPr>
            <p:ph type="pic" sz="quarter" idx="14"/>
          </p:nvPr>
        </p:nvSpPr>
        <p:spPr>
          <a:xfrm>
            <a:off x="8006398" y="1700214"/>
            <a:ext cx="3683953" cy="1971675"/>
          </a:xfrm>
        </p:spPr>
        <p:txBody>
          <a:bodyPr/>
          <a:lstStyle/>
          <a:p>
            <a:r>
              <a:rPr lang="en-US" noProof="0" smtClean="0"/>
              <a:t>Click icon to add picture</a:t>
            </a:r>
            <a:endParaRPr lang="en-US" noProof="0" dirty="0"/>
          </a:p>
        </p:txBody>
      </p:sp>
      <p:sp>
        <p:nvSpPr>
          <p:cNvPr id="6" name="Picture Placeholder 7"/>
          <p:cNvSpPr>
            <a:spLocks noGrp="1"/>
          </p:cNvSpPr>
          <p:nvPr>
            <p:ph type="pic" sz="quarter" idx="15"/>
          </p:nvPr>
        </p:nvSpPr>
        <p:spPr>
          <a:xfrm>
            <a:off x="4273075" y="1700214"/>
            <a:ext cx="3657600" cy="1971675"/>
          </a:xfrm>
        </p:spPr>
        <p:txBody>
          <a:bodyPr/>
          <a:lstStyle/>
          <a:p>
            <a:r>
              <a:rPr lang="en-US" noProof="0" smtClean="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10078910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83459173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2" name="Title 1"/>
          <p:cNvSpPr>
            <a:spLocks noGrp="1"/>
          </p:cNvSpPr>
          <p:nvPr>
            <p:ph type="title"/>
          </p:nvPr>
        </p:nvSpPr>
        <p:spPr>
          <a:xfrm>
            <a:off x="501651" y="317502"/>
            <a:ext cx="11188700" cy="698499"/>
          </a:xfrm>
        </p:spPr>
        <p:txBody>
          <a:bodyPr/>
          <a:lstStyle/>
          <a:p>
            <a:r>
              <a:rPr lang="en-US" noProof="0" smtClean="0"/>
              <a:t>Click to edit Master title style</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00704326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21"/>
          </p:nvPr>
        </p:nvSpPr>
        <p:spPr>
          <a:xfrm>
            <a:off x="6246195"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a:xfrm>
            <a:off x="501651" y="317501"/>
            <a:ext cx="11188700" cy="697888"/>
          </a:xfrm>
        </p:spPr>
        <p:txBody>
          <a:bodyPr/>
          <a:lstStyle/>
          <a:p>
            <a:r>
              <a:rPr lang="en-US" smtClean="0"/>
              <a:t>Click to edit Master title style</a:t>
            </a:r>
            <a:endParaRPr lang="en-GB"/>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0" name="Text Placeholder 8"/>
          <p:cNvSpPr>
            <a:spLocks noGrp="1"/>
          </p:cNvSpPr>
          <p:nvPr>
            <p:ph type="body" sz="quarter" idx="22"/>
          </p:nvPr>
        </p:nvSpPr>
        <p:spPr>
          <a:xfrm>
            <a:off x="504000"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8"/>
          <p:cNvSpPr>
            <a:spLocks noGrp="1"/>
          </p:cNvSpPr>
          <p:nvPr>
            <p:ph type="body" sz="quarter" idx="23"/>
          </p:nvPr>
        </p:nvSpPr>
        <p:spPr>
          <a:xfrm>
            <a:off x="6246194"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7"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Tree>
    <p:extLst>
      <p:ext uri="{BB962C8B-B14F-4D97-AF65-F5344CB8AC3E}">
        <p14:creationId xmlns:p14="http://schemas.microsoft.com/office/powerpoint/2010/main" val="251771508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smtClean="0"/>
              <a:t>Click to edit Master title style</a:t>
            </a:r>
            <a:endParaRPr lang="en-US" noProof="0" dirty="0"/>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1458440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705184"/>
          </a:xfrm>
        </p:spPr>
        <p:txBody>
          <a:bodyPr/>
          <a:lstStyle/>
          <a:p>
            <a:r>
              <a:rPr lang="en-US" noProof="0" smtClean="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64066363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2292971948"/>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extLst>
      <p:ext uri="{BB962C8B-B14F-4D97-AF65-F5344CB8AC3E}">
        <p14:creationId xmlns:p14="http://schemas.microsoft.com/office/powerpoint/2010/main" val="259676425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49246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lstStyle>
            <a:lvl1pPr>
              <a:lnSpc>
                <a:spcPct val="100000"/>
              </a:lnSpc>
              <a:spcAft>
                <a:spcPts val="600"/>
              </a:spcAft>
              <a:defRPr sz="900"/>
            </a:lvl1pPr>
          </a:lstStyle>
          <a:p>
            <a:pPr lvl="0"/>
            <a:r>
              <a:rPr lang="en-US" smtClean="0"/>
              <a:t>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lstStyle>
            <a:lvl1pPr>
              <a:lnSpc>
                <a:spcPct val="100000"/>
              </a:lnSpc>
              <a:defRPr sz="950"/>
            </a:lvl1pPr>
          </a:lstStyle>
          <a:p>
            <a:pPr lvl="0"/>
            <a:r>
              <a:rPr lang="en-US" smtClean="0"/>
              <a:t>Edit Master text styles</a:t>
            </a:r>
          </a:p>
        </p:txBody>
      </p:sp>
      <p:grpSp>
        <p:nvGrpSpPr>
          <p:cNvPr id="9" name="Group 8"/>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40058904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Box 3"/>
          <p:cNvSpPr txBox="1"/>
          <p:nvPr userDrawn="1"/>
        </p:nvSpPr>
        <p:spPr>
          <a:xfrm>
            <a:off x="6335184" y="6477000"/>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tx1"/>
                </a:solidFill>
              </a:rPr>
              <a:t>Discussion</a:t>
            </a:r>
            <a:r>
              <a:rPr lang="en-US" sz="650" baseline="0" noProof="0" dirty="0" smtClean="0">
                <a:solidFill>
                  <a:schemeClr val="tx1"/>
                </a:solidFill>
              </a:rPr>
              <a:t> on IGEN Access II</a:t>
            </a:r>
            <a:endParaRPr lang="en-US" sz="650" noProof="0" dirty="0">
              <a:solidFill>
                <a:schemeClr val="tx1"/>
              </a:solidFill>
            </a:endParaRPr>
          </a:p>
        </p:txBody>
      </p:sp>
      <p:sp>
        <p:nvSpPr>
          <p:cNvPr id="5" name="TextBox 4"/>
          <p:cNvSpPr txBox="1"/>
          <p:nvPr userDrawn="1"/>
        </p:nvSpPr>
        <p:spPr>
          <a:xfrm>
            <a:off x="501649"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smtClean="0">
                <a:solidFill>
                  <a:schemeClr val="tx1"/>
                </a:solidFill>
              </a:rPr>
              <a:t>Dept.</a:t>
            </a:r>
            <a:r>
              <a:rPr lang="en-US" sz="650" baseline="0" noProof="0" dirty="0" smtClean="0">
                <a:solidFill>
                  <a:schemeClr val="tx1"/>
                </a:solidFill>
              </a:rPr>
              <a:t> of Energy, </a:t>
            </a:r>
            <a:r>
              <a:rPr lang="en-US" sz="650" baseline="0" noProof="0" dirty="0" err="1" smtClean="0">
                <a:solidFill>
                  <a:schemeClr val="tx1"/>
                </a:solidFill>
              </a:rPr>
              <a:t>GoJ</a:t>
            </a:r>
            <a:endParaRPr lang="en-US" sz="650" noProof="0" dirty="0">
              <a:solidFill>
                <a:schemeClr val="tx1"/>
              </a:solidFill>
            </a:endParaRPr>
          </a:p>
        </p:txBody>
      </p:sp>
      <p:sp>
        <p:nvSpPr>
          <p:cNvPr id="6" name="TextBox 5"/>
          <p:cNvSpPr txBox="1"/>
          <p:nvPr userDrawn="1"/>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3143049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4"/>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79" name="think-cell Slide" r:id="rId35" imgW="270" imgH="270" progId="TCLayout.ActiveDocument.1">
                  <p:embed/>
                </p:oleObj>
              </mc:Choice>
              <mc:Fallback>
                <p:oleObj name="think-cell Slide" r:id="rId35" imgW="270" imgH="270" progId="TCLayout.ActiveDocument.1">
                  <p:embed/>
                  <p:pic>
                    <p:nvPicPr>
                      <p:cNvPr id="4" name="Object 3" hidden="1"/>
                      <p:cNvPicPr/>
                      <p:nvPr/>
                    </p:nvPicPr>
                    <p:blipFill>
                      <a:blip r:embed="rId36"/>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smtClean="0"/>
              <a:t>Click to edit Master title style</a:t>
            </a:r>
            <a:endParaRPr lang="en-US" noProof="0" dirty="0"/>
          </a:p>
        </p:txBody>
      </p:sp>
      <p:sp>
        <p:nvSpPr>
          <p:cNvPr id="15" name="TextBox 14"/>
          <p:cNvSpPr txBox="1"/>
          <p:nvPr/>
        </p:nvSpPr>
        <p:spPr>
          <a:xfrm>
            <a:off x="6335184" y="6477000"/>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tx1"/>
                </a:solidFill>
              </a:rPr>
              <a:t>Policy Landscape of Electricity Sector</a:t>
            </a:r>
            <a:endParaRPr lang="en-US" sz="650" noProof="0" dirty="0">
              <a:solidFill>
                <a:schemeClr val="tx1"/>
              </a:solidFill>
            </a:endParaRPr>
          </a:p>
        </p:txBody>
      </p:sp>
      <p:sp>
        <p:nvSpPr>
          <p:cNvPr id="18" name="TextBox 17"/>
          <p:cNvSpPr txBox="1"/>
          <p:nvPr/>
        </p:nvSpPr>
        <p:spPr>
          <a:xfrm>
            <a:off x="501649" y="6477000"/>
            <a:ext cx="5355168" cy="100027"/>
          </a:xfrm>
          <a:prstGeom prst="rect">
            <a:avLst/>
          </a:prstGeom>
          <a:noFill/>
        </p:spPr>
        <p:txBody>
          <a:bodyPr wrap="square" lIns="0" tIns="0" rIns="0" bIns="0" rtlCol="0">
            <a:spAutoFit/>
          </a:bodyPr>
          <a:lstStyle/>
          <a:p>
            <a:pPr marL="0" indent="0">
              <a:spcBef>
                <a:spcPts val="600"/>
              </a:spcBef>
              <a:buSzPct val="100000"/>
              <a:buFont typeface="Arial"/>
              <a:buNone/>
            </a:pPr>
            <a:r>
              <a:rPr lang="en-US" sz="650" noProof="0" dirty="0" smtClean="0">
                <a:solidFill>
                  <a:schemeClr val="tx1"/>
                </a:solidFill>
              </a:rPr>
              <a:t>JBVNL</a:t>
            </a:r>
            <a:endParaRPr lang="en-US" sz="650" noProof="0" dirty="0">
              <a:solidFill>
                <a:schemeClr val="tx1"/>
              </a:solidFill>
            </a:endParaRP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TextBox 2"/>
          <p:cNvSpPr txBox="1"/>
          <p:nvPr/>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36910569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transition>
    <p:fade/>
  </p:transition>
  <p:hf hdr="0" ft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1" orient="horz" pos="1049">
          <p15:clr>
            <a:srgbClr val="F26B43"/>
          </p15:clr>
        </p15:guide>
        <p15:guide id="22" orient="horz" pos="6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31.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chart" Target="../charts/chart1.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slide" Target="slide2.xml"/><Relationship Id="rId2" Type="http://schemas.openxmlformats.org/officeDocument/2006/relationships/diagramData" Target="../diagrams/data1.xml"/><Relationship Id="rId1" Type="http://schemas.openxmlformats.org/officeDocument/2006/relationships/slideLayout" Target="../slideLayouts/slideLayout3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3.png"/><Relationship Id="rId1" Type="http://schemas.openxmlformats.org/officeDocument/2006/relationships/slideLayout" Target="../slideLayouts/slideLayout31.xml"/><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3.png"/><Relationship Id="rId1" Type="http://schemas.openxmlformats.org/officeDocument/2006/relationships/slideLayout" Target="../slideLayouts/slideLayout31.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png"/><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2.xml"/><Relationship Id="rId2" Type="http://schemas.openxmlformats.org/officeDocument/2006/relationships/image" Target="../media/image4.emf"/><Relationship Id="rId1" Type="http://schemas.openxmlformats.org/officeDocument/2006/relationships/slideLayout" Target="../slideLayouts/slideLayout31.xml"/><Relationship Id="rId6" Type="http://schemas.openxmlformats.org/officeDocument/2006/relationships/slide" Target="slide15.xml"/><Relationship Id="rId5" Type="http://schemas.openxmlformats.org/officeDocument/2006/relationships/slide" Target="slide16.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Image result for uday scheme logo"/>
          <p:cNvSpPr>
            <a:spLocks noChangeAspect="1" noChangeArrowheads="1"/>
          </p:cNvSpPr>
          <p:nvPr/>
        </p:nvSpPr>
        <p:spPr bwMode="auto">
          <a:xfrm>
            <a:off x="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4" name="Slide Number Placeholder 3"/>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Half Frame 5"/>
          <p:cNvSpPr/>
          <p:nvPr/>
        </p:nvSpPr>
        <p:spPr bwMode="gray">
          <a:xfrm>
            <a:off x="572655" y="716634"/>
            <a:ext cx="895927" cy="1703294"/>
          </a:xfrm>
          <a:prstGeom prst="halfFram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prstClr val="white"/>
              </a:solidFill>
              <a:effectLst/>
              <a:uLnTx/>
              <a:uFillTx/>
              <a:latin typeface="Verdana"/>
              <a:ea typeface="+mn-ea"/>
              <a:cs typeface="+mn-cs"/>
            </a:endParaRPr>
          </a:p>
        </p:txBody>
      </p:sp>
      <p:sp>
        <p:nvSpPr>
          <p:cNvPr id="9" name="Rectangle 8"/>
          <p:cNvSpPr/>
          <p:nvPr/>
        </p:nvSpPr>
        <p:spPr>
          <a:xfrm>
            <a:off x="895927" y="1000361"/>
            <a:ext cx="9809017"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Indo-German Energy (IGEN) Access II Program  </a:t>
            </a:r>
            <a:r>
              <a:rPr kumimoji="0" lang="en-US" sz="2800" b="1"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Discussion on Possible Areas of Engagement</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US" sz="28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 name="Half Frame 9"/>
          <p:cNvSpPr/>
          <p:nvPr/>
        </p:nvSpPr>
        <p:spPr bwMode="gray">
          <a:xfrm rot="10800000">
            <a:off x="10824371" y="4461980"/>
            <a:ext cx="895927" cy="1703294"/>
          </a:xfrm>
          <a:prstGeom prst="halfFram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prstClr val="white"/>
              </a:solidFill>
              <a:effectLst/>
              <a:uLnTx/>
              <a:uFillTx/>
              <a:latin typeface="Verdana"/>
              <a:ea typeface="+mn-ea"/>
              <a:cs typeface="+mn-cs"/>
            </a:endParaRPr>
          </a:p>
        </p:txBody>
      </p:sp>
      <p:sp>
        <p:nvSpPr>
          <p:cNvPr id="11" name="Rectangle 10"/>
          <p:cNvSpPr/>
          <p:nvPr/>
        </p:nvSpPr>
        <p:spPr>
          <a:xfrm>
            <a:off x="4747489" y="5143519"/>
            <a:ext cx="6653230" cy="707886"/>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Department of </a:t>
            </a: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Energy </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Government </a:t>
            </a: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of </a:t>
            </a: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Jharkhand</a:t>
            </a:r>
            <a:endParaRPr kumimoji="0" lang="en-US" sz="2000" b="1" i="1" u="none" strike="noStrike" kern="1200" cap="none" spc="0" normalizeH="0" baseline="0" noProof="0" dirty="0" smtClean="0">
              <a:ln>
                <a:noFill/>
              </a:ln>
              <a:solidFill>
                <a:prstClr val="black">
                  <a:lumMod val="75000"/>
                  <a:lumOff val="25000"/>
                </a:prstClr>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80954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Image result for uday scheme logo"/>
          <p:cNvSpPr>
            <a:spLocks noChangeAspect="1" noChangeArrowheads="1"/>
          </p:cNvSpPr>
          <p:nvPr/>
        </p:nvSpPr>
        <p:spPr bwMode="auto">
          <a:xfrm>
            <a:off x="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4" name="Slide Number Placeholder 3"/>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Half Frame 5"/>
          <p:cNvSpPr/>
          <p:nvPr/>
        </p:nvSpPr>
        <p:spPr bwMode="gray">
          <a:xfrm>
            <a:off x="572655" y="716634"/>
            <a:ext cx="895927" cy="1703294"/>
          </a:xfrm>
          <a:prstGeom prst="halfFram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prstClr val="white"/>
              </a:solidFill>
              <a:effectLst/>
              <a:uLnTx/>
              <a:uFillTx/>
              <a:latin typeface="Verdana"/>
              <a:ea typeface="+mn-ea"/>
              <a:cs typeface="+mn-cs"/>
            </a:endParaRPr>
          </a:p>
        </p:txBody>
      </p:sp>
      <p:sp>
        <p:nvSpPr>
          <p:cNvPr id="9" name="Rectangle 8"/>
          <p:cNvSpPr/>
          <p:nvPr/>
        </p:nvSpPr>
        <p:spPr>
          <a:xfrm>
            <a:off x="895928" y="1000361"/>
            <a:ext cx="1005782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Agenda</a:t>
            </a:r>
            <a:endParaRPr kumimoji="0" lang="en-US" sz="2800" b="1"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280078338"/>
              </p:ext>
            </p:extLst>
          </p:nvPr>
        </p:nvGraphicFramePr>
        <p:xfrm>
          <a:off x="1383031" y="2703655"/>
          <a:ext cx="9570719" cy="1029870"/>
        </p:xfrm>
        <a:graphic>
          <a:graphicData uri="http://schemas.openxmlformats.org/drawingml/2006/table">
            <a:tbl>
              <a:tblPr bandRow="1">
                <a:tableStyleId>{2D5ABB26-0587-4C30-8999-92F81FD0307C}</a:tableStyleId>
              </a:tblPr>
              <a:tblGrid>
                <a:gridCol w="517237">
                  <a:extLst>
                    <a:ext uri="{9D8B030D-6E8A-4147-A177-3AD203B41FA5}">
                      <a16:colId xmlns:a16="http://schemas.microsoft.com/office/drawing/2014/main" val="1703433368"/>
                    </a:ext>
                  </a:extLst>
                </a:gridCol>
                <a:gridCol w="9053482">
                  <a:extLst>
                    <a:ext uri="{9D8B030D-6E8A-4147-A177-3AD203B41FA5}">
                      <a16:colId xmlns:a16="http://schemas.microsoft.com/office/drawing/2014/main" val="3792425437"/>
                    </a:ext>
                  </a:extLst>
                </a:gridCol>
              </a:tblGrid>
              <a:tr h="514935">
                <a:tc>
                  <a:txBody>
                    <a:bodyPr/>
                    <a:lstStyle/>
                    <a:p>
                      <a:r>
                        <a:rPr lang="en-US" sz="1800" b="0" dirty="0" smtClean="0">
                          <a:latin typeface="Verdana" panose="020B0604030504040204" pitchFamily="34" charset="0"/>
                          <a:ea typeface="Verdana" panose="020B0604030504040204" pitchFamily="34" charset="0"/>
                          <a:cs typeface="Verdana" panose="020B0604030504040204" pitchFamily="34" charset="0"/>
                        </a:rPr>
                        <a:t>1</a:t>
                      </a:r>
                      <a:endParaRPr lang="en-IN" sz="1800" b="0" dirty="0">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noFill/>
                      <a:prstDash val="solid"/>
                      <a:round/>
                      <a:headEnd type="none" w="med" len="med"/>
                      <a:tailEnd type="none" w="med" len="med"/>
                    </a:lnL>
                    <a:lnR w="12700" cap="flat" cmpd="sng" algn="ctr">
                      <a:noFill/>
                      <a:prstDash val="dot"/>
                      <a:round/>
                      <a:headEnd type="none" w="med" len="med"/>
                      <a:tailEnd type="none" w="med" len="med"/>
                    </a:lnR>
                    <a:lnT w="12700" cap="flat" cmpd="sng" algn="ctr">
                      <a:no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r>
                        <a:rPr lang="en-US" sz="1800" i="1" baseline="0" dirty="0" smtClean="0">
                          <a:latin typeface="Verdana" panose="020B0604030504040204" pitchFamily="34" charset="0"/>
                          <a:ea typeface="Verdana" panose="020B0604030504040204" pitchFamily="34" charset="0"/>
                          <a:cs typeface="Verdana" panose="020B0604030504040204" pitchFamily="34" charset="0"/>
                        </a:rPr>
                        <a:t>Macro-Economic Landscape of Electricity Sector </a:t>
                      </a:r>
                      <a:endParaRPr lang="en-IN" sz="1800" i="1" dirty="0">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no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647178"/>
                  </a:ext>
                </a:extLst>
              </a:tr>
              <a:tr h="514935">
                <a:tc>
                  <a:txBody>
                    <a:bodyPr/>
                    <a:lstStyle/>
                    <a:p>
                      <a:r>
                        <a:rPr lang="en-US" sz="1800" b="0" dirty="0" smtClean="0">
                          <a:latin typeface="Verdana" panose="020B0604030504040204" pitchFamily="34" charset="0"/>
                          <a:ea typeface="Verdana" panose="020B0604030504040204" pitchFamily="34" charset="0"/>
                          <a:cs typeface="Verdana" panose="020B0604030504040204" pitchFamily="34" charset="0"/>
                        </a:rPr>
                        <a:t>2</a:t>
                      </a:r>
                      <a:endParaRPr lang="en-IN" sz="1800" b="1" dirty="0">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noFill/>
                      <a:prstDash val="solid"/>
                      <a:round/>
                      <a:headEnd type="none" w="med" len="med"/>
                      <a:tailEnd type="none" w="med" len="med"/>
                    </a:lnL>
                    <a:lnR w="12700" cap="flat" cmpd="sng" algn="ctr">
                      <a:noFill/>
                      <a:prstDash val="dot"/>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sz="1800" i="1" dirty="0" smtClean="0">
                          <a:latin typeface="Verdana" panose="020B0604030504040204" pitchFamily="34" charset="0"/>
                          <a:ea typeface="Verdana" panose="020B0604030504040204" pitchFamily="34" charset="0"/>
                          <a:cs typeface="Verdana" panose="020B0604030504040204" pitchFamily="34" charset="0"/>
                        </a:rPr>
                        <a:t>Key</a:t>
                      </a:r>
                      <a:r>
                        <a:rPr lang="en-US" sz="1800" i="1" baseline="0" dirty="0" smtClean="0">
                          <a:latin typeface="Verdana" panose="020B0604030504040204" pitchFamily="34" charset="0"/>
                          <a:ea typeface="Verdana" panose="020B0604030504040204" pitchFamily="34" charset="0"/>
                          <a:cs typeface="Verdana" panose="020B0604030504040204" pitchFamily="34" charset="0"/>
                        </a:rPr>
                        <a:t> Takeaways of IGEN Access II</a:t>
                      </a:r>
                      <a:r>
                        <a:rPr lang="en-US" sz="1800" i="1" dirty="0" smtClean="0">
                          <a:latin typeface="Verdana" panose="020B0604030504040204" pitchFamily="34" charset="0"/>
                          <a:ea typeface="Verdana" panose="020B0604030504040204" pitchFamily="34" charset="0"/>
                          <a:cs typeface="Verdana" panose="020B0604030504040204" pitchFamily="34" charset="0"/>
                        </a:rPr>
                        <a:t> </a:t>
                      </a:r>
                      <a:endParaRPr lang="en-IN" sz="1800" i="1" dirty="0">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no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dot"/>
                      <a:round/>
                      <a:headEnd type="none" w="med" len="med"/>
                      <a:tailEnd type="none" w="med" len="med"/>
                    </a:lnT>
                    <a:lnB w="12700" cap="flat" cmpd="sng" algn="ctr">
                      <a:no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6318058"/>
                  </a:ext>
                </a:extLst>
              </a:tr>
            </a:tbl>
          </a:graphicData>
        </a:graphic>
      </p:graphicFrame>
      <p:sp>
        <p:nvSpPr>
          <p:cNvPr id="8" name="Oval 7">
            <a:hlinkClick r:id="rId3" action="ppaction://hlinksldjump"/>
          </p:cNvPr>
          <p:cNvSpPr/>
          <p:nvPr/>
        </p:nvSpPr>
        <p:spPr bwMode="gray">
          <a:xfrm>
            <a:off x="10554739" y="2878412"/>
            <a:ext cx="212437" cy="193376"/>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0" name="Oval 9">
            <a:hlinkClick r:id="rId4" action="ppaction://hlinksldjump"/>
          </p:cNvPr>
          <p:cNvSpPr/>
          <p:nvPr/>
        </p:nvSpPr>
        <p:spPr bwMode="gray">
          <a:xfrm>
            <a:off x="10554739" y="3395334"/>
            <a:ext cx="212437" cy="193376"/>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8609422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Image result for uday scheme logo"/>
          <p:cNvSpPr>
            <a:spLocks noChangeAspect="1" noChangeArrowheads="1"/>
          </p:cNvSpPr>
          <p:nvPr/>
        </p:nvSpPr>
        <p:spPr bwMode="auto">
          <a:xfrm>
            <a:off x="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4" name="Slide Number Placeholder 3"/>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Half Frame 5"/>
          <p:cNvSpPr/>
          <p:nvPr/>
        </p:nvSpPr>
        <p:spPr bwMode="gray">
          <a:xfrm>
            <a:off x="572655" y="716634"/>
            <a:ext cx="895927" cy="1703294"/>
          </a:xfrm>
          <a:prstGeom prst="halfFram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prstClr val="white"/>
              </a:solidFill>
              <a:effectLst/>
              <a:uLnTx/>
              <a:uFillTx/>
              <a:latin typeface="Verdana"/>
              <a:ea typeface="+mn-ea"/>
              <a:cs typeface="+mn-cs"/>
            </a:endParaRPr>
          </a:p>
        </p:txBody>
      </p:sp>
      <p:sp>
        <p:nvSpPr>
          <p:cNvPr id="9" name="Rectangle 8"/>
          <p:cNvSpPr/>
          <p:nvPr/>
        </p:nvSpPr>
        <p:spPr>
          <a:xfrm>
            <a:off x="895928" y="1000361"/>
            <a:ext cx="10057822"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Macro-Economic Landscape of Electricity Sector   </a:t>
            </a:r>
            <a:r>
              <a:rPr kumimoji="0" lang="en-US" sz="2800" b="1"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Policy | Development Goals | Program Objective/ Outcome</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US" sz="28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 name="Pentagon 7">
            <a:hlinkClick r:id="rId3"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13435776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Jharkhand: Policy Push for the State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Oval 6"/>
          <p:cNvSpPr/>
          <p:nvPr/>
        </p:nvSpPr>
        <p:spPr bwMode="gray">
          <a:xfrm>
            <a:off x="501651" y="1263107"/>
            <a:ext cx="4871646" cy="4871646"/>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8" name="Flowchart: Process 7"/>
          <p:cNvSpPr/>
          <p:nvPr/>
        </p:nvSpPr>
        <p:spPr bwMode="gray">
          <a:xfrm>
            <a:off x="1790275" y="993547"/>
            <a:ext cx="466090" cy="5295917"/>
          </a:xfrm>
          <a:prstGeom prst="flowChartProcess">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9" name="Oval 8"/>
          <p:cNvSpPr/>
          <p:nvPr/>
        </p:nvSpPr>
        <p:spPr bwMode="gray">
          <a:xfrm>
            <a:off x="2177780" y="1250537"/>
            <a:ext cx="184815" cy="184815"/>
          </a:xfrm>
          <a:prstGeom prst="ellipse">
            <a:avLst/>
          </a:prstGeom>
          <a:solidFill>
            <a:schemeClr val="tx1">
              <a:lumMod val="50000"/>
              <a:lumOff val="50000"/>
            </a:schemeClr>
          </a:solidFill>
          <a:ln w="19050" algn="ctr">
            <a:solidFill>
              <a:schemeClr val="tx1">
                <a:lumMod val="50000"/>
                <a:lumOff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 name="Oval 9"/>
          <p:cNvSpPr/>
          <p:nvPr/>
        </p:nvSpPr>
        <p:spPr bwMode="gray">
          <a:xfrm>
            <a:off x="2176742" y="5959358"/>
            <a:ext cx="184815" cy="184815"/>
          </a:xfrm>
          <a:prstGeom prst="ellipse">
            <a:avLst/>
          </a:prstGeom>
          <a:solidFill>
            <a:schemeClr val="tx1">
              <a:lumMod val="50000"/>
              <a:lumOff val="50000"/>
            </a:schemeClr>
          </a:solidFill>
          <a:ln w="19050" algn="ctr">
            <a:solidFill>
              <a:schemeClr val="tx1">
                <a:lumMod val="50000"/>
                <a:lumOff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1" name="Rectangle 10"/>
          <p:cNvSpPr/>
          <p:nvPr/>
        </p:nvSpPr>
        <p:spPr>
          <a:xfrm>
            <a:off x="1406892" y="1901143"/>
            <a:ext cx="3061164" cy="34778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u="none" strike="noStrike" kern="1200" cap="none" spc="0" normalizeH="0" baseline="0" noProof="0" dirty="0" smtClean="0">
                <a:ln>
                  <a:noFill/>
                </a:ln>
                <a:solidFill>
                  <a:schemeClr val="accent1">
                    <a:lumMod val="50000"/>
                  </a:schemeClr>
                </a:solidFill>
                <a:effectLst/>
                <a:uLnTx/>
                <a:uFillTx/>
                <a:ea typeface="+mn-ea"/>
                <a:cs typeface="+mn-cs"/>
              </a:rPr>
              <a:t>Ongoing &amp; Planned Projects</a:t>
            </a:r>
            <a:endParaRPr lang="en-US" sz="2200" b="1" dirty="0">
              <a:solidFill>
                <a:schemeClr val="accent1">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1" u="none" strike="noStrike" kern="1200" cap="none" spc="0" normalizeH="0" baseline="0" noProof="0" dirty="0" smtClean="0">
              <a:ln>
                <a:noFill/>
              </a:ln>
              <a:solidFill>
                <a:schemeClr val="accent1">
                  <a:lumMod val="50000"/>
                </a:schemeClr>
              </a:solidFill>
              <a:effectLst/>
              <a:uLnTx/>
              <a:uFillTx/>
              <a:ea typeface="+mn-ea"/>
              <a:cs typeface="+mn-cs"/>
            </a:endParaRPr>
          </a:p>
          <a:p>
            <a:pPr marL="285750" marR="0" lvl="0" indent="-2857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noProof="0" dirty="0" smtClean="0"/>
              <a:t>The state is at a critical juncture on socio-economic aspects</a:t>
            </a:r>
          </a:p>
          <a:p>
            <a:pPr marR="0" lvl="0" defTabSz="914400" rtl="0" eaLnBrk="1" fontAlgn="auto" latinLnBrk="0" hangingPunct="1">
              <a:lnSpc>
                <a:spcPct val="100000"/>
              </a:lnSpc>
              <a:spcBef>
                <a:spcPts val="0"/>
              </a:spcBef>
              <a:spcAft>
                <a:spcPts val="0"/>
              </a:spcAft>
              <a:buClrTx/>
              <a:buSzTx/>
              <a:tabLst/>
              <a:defRPr/>
            </a:pPr>
            <a:endParaRPr lang="en-US" sz="1400" noProof="0" dirty="0" smtClean="0"/>
          </a:p>
          <a:p>
            <a:pPr marL="285750" marR="0" lvl="0" indent="-2857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u="none" strike="noStrike" kern="1200" cap="none" spc="0" normalizeH="0" baseline="0" dirty="0" smtClean="0">
                <a:ln>
                  <a:noFill/>
                </a:ln>
                <a:effectLst/>
                <a:uLnTx/>
                <a:uFillTx/>
              </a:rPr>
              <a:t>Political</a:t>
            </a:r>
            <a:r>
              <a:rPr kumimoji="0" lang="en-US" sz="1400" u="none" strike="noStrike" kern="1200" cap="none" spc="0" normalizeH="0" dirty="0" smtClean="0">
                <a:ln>
                  <a:noFill/>
                </a:ln>
                <a:effectLst/>
                <a:uLnTx/>
                <a:uFillTx/>
              </a:rPr>
              <a:t> stability has been attained and Jharkhand is set to traverse a defined growth path on business sentiments &amp; grass-root development of its’ Human Resources</a:t>
            </a:r>
            <a:endParaRPr kumimoji="0" lang="en-US" sz="1400" u="none" strike="noStrike" kern="1200" cap="none" spc="0" normalizeH="0" baseline="0" noProof="0" dirty="0">
              <a:ln>
                <a:noFill/>
              </a:ln>
              <a:effectLst/>
              <a:uLnTx/>
              <a:uFillTx/>
            </a:endParaRPr>
          </a:p>
        </p:txBody>
      </p:sp>
      <p:grpSp>
        <p:nvGrpSpPr>
          <p:cNvPr id="12" name="Group 11"/>
          <p:cNvGrpSpPr/>
          <p:nvPr/>
        </p:nvGrpSpPr>
        <p:grpSpPr>
          <a:xfrm>
            <a:off x="4061595" y="1206939"/>
            <a:ext cx="6815741" cy="884210"/>
            <a:chOff x="2271319" y="976644"/>
            <a:chExt cx="6815741" cy="884210"/>
          </a:xfrm>
        </p:grpSpPr>
        <p:grpSp>
          <p:nvGrpSpPr>
            <p:cNvPr id="13" name="Group 12"/>
            <p:cNvGrpSpPr/>
            <p:nvPr/>
          </p:nvGrpSpPr>
          <p:grpSpPr>
            <a:xfrm>
              <a:off x="3797255" y="976644"/>
              <a:ext cx="783023" cy="783023"/>
              <a:chOff x="3193797" y="1167547"/>
              <a:chExt cx="1136224" cy="1136224"/>
            </a:xfrm>
          </p:grpSpPr>
          <p:sp>
            <p:nvSpPr>
              <p:cNvPr id="17" name="Freeform 538"/>
              <p:cNvSpPr>
                <a:spLocks noChangeAspect="1" noEditPoints="1"/>
              </p:cNvSpPr>
              <p:nvPr/>
            </p:nvSpPr>
            <p:spPr bwMode="auto">
              <a:xfrm>
                <a:off x="3267550" y="1244763"/>
                <a:ext cx="981795" cy="981795"/>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rgbClr val="004F5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Light"/>
                  <a:ea typeface="+mn-ea"/>
                  <a:cs typeface="+mn-cs"/>
                </a:endParaRPr>
              </a:p>
            </p:txBody>
          </p:sp>
          <p:sp>
            <p:nvSpPr>
              <p:cNvPr id="18" name="Oval 17"/>
              <p:cNvSpPr/>
              <p:nvPr/>
            </p:nvSpPr>
            <p:spPr bwMode="gray">
              <a:xfrm>
                <a:off x="3193797" y="1167547"/>
                <a:ext cx="1136224" cy="1136224"/>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grpSp>
        <p:cxnSp>
          <p:nvCxnSpPr>
            <p:cNvPr id="14" name="Straight Connector 13"/>
            <p:cNvCxnSpPr>
              <a:stCxn id="15" idx="6"/>
            </p:cNvCxnSpPr>
            <p:nvPr/>
          </p:nvCxnSpPr>
          <p:spPr>
            <a:xfrm>
              <a:off x="2456134" y="1370661"/>
              <a:ext cx="1341121" cy="0"/>
            </a:xfrm>
            <a:prstGeom prst="line">
              <a:avLst/>
            </a:prstGeom>
            <a:noFill/>
            <a:ln w="22225" algn="ctr">
              <a:solidFill>
                <a:schemeClr val="tx1">
                  <a:lumMod val="50000"/>
                  <a:lumOff val="50000"/>
                </a:schemeClr>
              </a:solidFill>
              <a:prstDash val="sysDot"/>
              <a:miter lim="800000"/>
              <a:headEnd/>
              <a:tailEnd/>
            </a:ln>
          </p:spPr>
        </p:cxnSp>
        <p:sp>
          <p:nvSpPr>
            <p:cNvPr id="15" name="Oval 14"/>
            <p:cNvSpPr/>
            <p:nvPr/>
          </p:nvSpPr>
          <p:spPr bwMode="gray">
            <a:xfrm>
              <a:off x="2271319" y="1278253"/>
              <a:ext cx="184815" cy="184815"/>
            </a:xfrm>
            <a:prstGeom prst="ellipse">
              <a:avLst/>
            </a:prstGeom>
            <a:solidFill>
              <a:schemeClr val="bg1"/>
            </a:solidFill>
            <a:ln w="34925" algn="ctr">
              <a:solidFill>
                <a:srgbClr val="004F59"/>
              </a:solid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6" name="Rectangle 15"/>
            <p:cNvSpPr/>
            <p:nvPr/>
          </p:nvSpPr>
          <p:spPr>
            <a:xfrm>
              <a:off x="4948522" y="1029857"/>
              <a:ext cx="4138538"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004F59"/>
                  </a:solidFill>
                </a:rPr>
                <a:t>Ranchi Smart City</a:t>
              </a:r>
              <a:endParaRPr kumimoji="0" lang="en-US" sz="1800" b="1" i="0" u="none" strike="noStrike" kern="1200" cap="none" spc="0" normalizeH="0" baseline="0" noProof="0" dirty="0">
                <a:ln>
                  <a:noFill/>
                </a:ln>
                <a:solidFill>
                  <a:srgbClr val="004F59"/>
                </a:solidFill>
                <a:effectLst/>
                <a:uLnTx/>
                <a:uFillTx/>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smtClean="0">
                  <a:ln>
                    <a:noFill/>
                  </a:ln>
                  <a:solidFill>
                    <a:prstClr val="black"/>
                  </a:solidFill>
                  <a:effectLst/>
                  <a:uLnTx/>
                  <a:uFillTx/>
                  <a:ea typeface="+mn-ea"/>
                  <a:cs typeface="+mn-cs"/>
                </a:rPr>
                <a:t>Inaugurated</a:t>
              </a:r>
              <a:r>
                <a:rPr kumimoji="0" lang="en-US" sz="1000" b="0" i="0" u="none" strike="noStrike" kern="1200" cap="none" spc="0" normalizeH="0" noProof="0" dirty="0" smtClean="0">
                  <a:ln>
                    <a:noFill/>
                  </a:ln>
                  <a:solidFill>
                    <a:prstClr val="black"/>
                  </a:solidFill>
                  <a:effectLst/>
                  <a:uLnTx/>
                  <a:uFillTx/>
                  <a:ea typeface="+mn-ea"/>
                  <a:cs typeface="+mn-cs"/>
                </a:rPr>
                <a:t> by Hon’ble Vice President in 2017, the project is at a critical juncture and is a vital cog in overall development of Jharkhand State</a:t>
              </a:r>
              <a:r>
                <a:rPr kumimoji="0" lang="en-US" sz="1000" b="0" i="0" u="none" strike="noStrike" kern="1200" cap="none" spc="0" normalizeH="0" baseline="0" noProof="0" dirty="0" smtClean="0">
                  <a:ln>
                    <a:noFill/>
                  </a:ln>
                  <a:solidFill>
                    <a:prstClr val="black"/>
                  </a:solidFill>
                  <a:effectLst/>
                  <a:uLnTx/>
                  <a:uFillTx/>
                  <a:ea typeface="+mn-ea"/>
                  <a:cs typeface="+mn-cs"/>
                </a:rPr>
                <a:t> </a:t>
              </a:r>
              <a:endParaRPr kumimoji="0" lang="en-US" sz="1000" b="1" i="0" u="none" strike="noStrike" kern="1200" cap="none" spc="0" normalizeH="0" baseline="0" noProof="0" dirty="0">
                <a:ln>
                  <a:noFill/>
                </a:ln>
                <a:solidFill>
                  <a:srgbClr val="000000"/>
                </a:solidFill>
                <a:effectLst/>
                <a:uLnTx/>
                <a:uFillTx/>
                <a:ea typeface="+mn-ea"/>
                <a:cs typeface="+mn-cs"/>
              </a:endParaRPr>
            </a:p>
          </p:txBody>
        </p:sp>
      </p:grpSp>
      <p:grpSp>
        <p:nvGrpSpPr>
          <p:cNvPr id="19" name="Group 18"/>
          <p:cNvGrpSpPr/>
          <p:nvPr/>
        </p:nvGrpSpPr>
        <p:grpSpPr>
          <a:xfrm>
            <a:off x="5188483" y="2563094"/>
            <a:ext cx="5687235" cy="1179769"/>
            <a:chOff x="3398207" y="2086438"/>
            <a:chExt cx="5687235" cy="1179769"/>
          </a:xfrm>
        </p:grpSpPr>
        <p:cxnSp>
          <p:nvCxnSpPr>
            <p:cNvPr id="21" name="Straight Connector 20"/>
            <p:cNvCxnSpPr>
              <a:stCxn id="22" idx="6"/>
            </p:cNvCxnSpPr>
            <p:nvPr/>
          </p:nvCxnSpPr>
          <p:spPr>
            <a:xfrm flipV="1">
              <a:off x="3583022" y="2481378"/>
              <a:ext cx="211738" cy="2439"/>
            </a:xfrm>
            <a:prstGeom prst="line">
              <a:avLst/>
            </a:prstGeom>
            <a:noFill/>
            <a:ln w="22225" algn="ctr">
              <a:solidFill>
                <a:schemeClr val="tx1">
                  <a:lumMod val="50000"/>
                  <a:lumOff val="50000"/>
                </a:schemeClr>
              </a:solidFill>
              <a:prstDash val="sysDot"/>
              <a:miter lim="800000"/>
              <a:headEnd/>
              <a:tailEnd/>
            </a:ln>
          </p:spPr>
        </p:cxnSp>
        <p:sp>
          <p:nvSpPr>
            <p:cNvPr id="22" name="Oval 21"/>
            <p:cNvSpPr/>
            <p:nvPr/>
          </p:nvSpPr>
          <p:spPr bwMode="gray">
            <a:xfrm>
              <a:off x="3398207" y="2391409"/>
              <a:ext cx="184815" cy="184815"/>
            </a:xfrm>
            <a:prstGeom prst="ellipse">
              <a:avLst/>
            </a:prstGeom>
            <a:solidFill>
              <a:schemeClr val="bg1"/>
            </a:solidFill>
            <a:ln w="34925" algn="ctr">
              <a:solidFill>
                <a:srgbClr val="046A38"/>
              </a:solid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grpSp>
          <p:nvGrpSpPr>
            <p:cNvPr id="23" name="Group 22"/>
            <p:cNvGrpSpPr/>
            <p:nvPr/>
          </p:nvGrpSpPr>
          <p:grpSpPr>
            <a:xfrm>
              <a:off x="3794760" y="2086438"/>
              <a:ext cx="789880" cy="789880"/>
              <a:chOff x="6262417" y="2938689"/>
              <a:chExt cx="919874" cy="919874"/>
            </a:xfrm>
          </p:grpSpPr>
          <p:sp>
            <p:nvSpPr>
              <p:cNvPr id="25" name="Oval 24"/>
              <p:cNvSpPr/>
              <p:nvPr/>
            </p:nvSpPr>
            <p:spPr bwMode="gray">
              <a:xfrm>
                <a:off x="6262417" y="2938689"/>
                <a:ext cx="919874" cy="919874"/>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sp>
            <p:nvSpPr>
              <p:cNvPr id="26" name="Freeform 917"/>
              <p:cNvSpPr>
                <a:spLocks noChangeAspect="1" noEditPoints="1"/>
              </p:cNvSpPr>
              <p:nvPr/>
            </p:nvSpPr>
            <p:spPr bwMode="auto">
              <a:xfrm>
                <a:off x="6324590" y="3000862"/>
                <a:ext cx="795528" cy="795528"/>
              </a:xfrm>
              <a:custGeom>
                <a:avLst/>
                <a:gdLst>
                  <a:gd name="T0" fmla="*/ 245 w 512"/>
                  <a:gd name="T1" fmla="*/ 128 h 512"/>
                  <a:gd name="T2" fmla="*/ 256 w 512"/>
                  <a:gd name="T3" fmla="*/ 117 h 512"/>
                  <a:gd name="T4" fmla="*/ 266 w 512"/>
                  <a:gd name="T5" fmla="*/ 128 h 512"/>
                  <a:gd name="T6" fmla="*/ 256 w 512"/>
                  <a:gd name="T7" fmla="*/ 138 h 512"/>
                  <a:gd name="T8" fmla="*/ 245 w 512"/>
                  <a:gd name="T9" fmla="*/ 128 h 512"/>
                  <a:gd name="T10" fmla="*/ 269 w 512"/>
                  <a:gd name="T11" fmla="*/ 245 h 512"/>
                  <a:gd name="T12" fmla="*/ 243 w 512"/>
                  <a:gd name="T13" fmla="*/ 245 h 512"/>
                  <a:gd name="T14" fmla="*/ 216 w 512"/>
                  <a:gd name="T15" fmla="*/ 352 h 512"/>
                  <a:gd name="T16" fmla="*/ 295 w 512"/>
                  <a:gd name="T17" fmla="*/ 352 h 512"/>
                  <a:gd name="T18" fmla="*/ 269 w 512"/>
                  <a:gd name="T19" fmla="*/ 245 h 512"/>
                  <a:gd name="T20" fmla="*/ 238 w 512"/>
                  <a:gd name="T21" fmla="*/ 224 h 512"/>
                  <a:gd name="T22" fmla="*/ 273 w 512"/>
                  <a:gd name="T23" fmla="*/ 224 h 512"/>
                  <a:gd name="T24" fmla="*/ 288 w 512"/>
                  <a:gd name="T25" fmla="*/ 192 h 512"/>
                  <a:gd name="T26" fmla="*/ 287 w 512"/>
                  <a:gd name="T27" fmla="*/ 186 h 512"/>
                  <a:gd name="T28" fmla="*/ 274 w 512"/>
                  <a:gd name="T29" fmla="*/ 199 h 512"/>
                  <a:gd name="T30" fmla="*/ 266 w 512"/>
                  <a:gd name="T31" fmla="*/ 202 h 512"/>
                  <a:gd name="T32" fmla="*/ 259 w 512"/>
                  <a:gd name="T33" fmla="*/ 199 h 512"/>
                  <a:gd name="T34" fmla="*/ 259 w 512"/>
                  <a:gd name="T35" fmla="*/ 184 h 512"/>
                  <a:gd name="T36" fmla="*/ 273 w 512"/>
                  <a:gd name="T37" fmla="*/ 170 h 512"/>
                  <a:gd name="T38" fmla="*/ 256 w 512"/>
                  <a:gd name="T39" fmla="*/ 160 h 512"/>
                  <a:gd name="T40" fmla="*/ 224 w 512"/>
                  <a:gd name="T41" fmla="*/ 192 h 512"/>
                  <a:gd name="T42" fmla="*/ 238 w 512"/>
                  <a:gd name="T43" fmla="*/ 224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30 w 512"/>
                  <a:gd name="T55" fmla="*/ 362 h 512"/>
                  <a:gd name="T56" fmla="*/ 320 w 512"/>
                  <a:gd name="T57" fmla="*/ 352 h 512"/>
                  <a:gd name="T58" fmla="*/ 317 w 512"/>
                  <a:gd name="T59" fmla="*/ 352 h 512"/>
                  <a:gd name="T60" fmla="*/ 289 w 512"/>
                  <a:gd name="T61" fmla="*/ 238 h 512"/>
                  <a:gd name="T62" fmla="*/ 309 w 512"/>
                  <a:gd name="T63" fmla="*/ 192 h 512"/>
                  <a:gd name="T64" fmla="*/ 279 w 512"/>
                  <a:gd name="T65" fmla="*/ 149 h 512"/>
                  <a:gd name="T66" fmla="*/ 288 w 512"/>
                  <a:gd name="T67" fmla="*/ 128 h 512"/>
                  <a:gd name="T68" fmla="*/ 256 w 512"/>
                  <a:gd name="T69" fmla="*/ 96 h 512"/>
                  <a:gd name="T70" fmla="*/ 224 w 512"/>
                  <a:gd name="T71" fmla="*/ 128 h 512"/>
                  <a:gd name="T72" fmla="*/ 232 w 512"/>
                  <a:gd name="T73" fmla="*/ 149 h 512"/>
                  <a:gd name="T74" fmla="*/ 202 w 512"/>
                  <a:gd name="T75" fmla="*/ 192 h 512"/>
                  <a:gd name="T76" fmla="*/ 222 w 512"/>
                  <a:gd name="T77" fmla="*/ 238 h 512"/>
                  <a:gd name="T78" fmla="*/ 194 w 512"/>
                  <a:gd name="T79" fmla="*/ 352 h 512"/>
                  <a:gd name="T80" fmla="*/ 192 w 512"/>
                  <a:gd name="T81" fmla="*/ 352 h 512"/>
                  <a:gd name="T82" fmla="*/ 181 w 512"/>
                  <a:gd name="T83" fmla="*/ 362 h 512"/>
                  <a:gd name="T84" fmla="*/ 181 w 512"/>
                  <a:gd name="T85" fmla="*/ 405 h 512"/>
                  <a:gd name="T86" fmla="*/ 192 w 512"/>
                  <a:gd name="T87" fmla="*/ 416 h 512"/>
                  <a:gd name="T88" fmla="*/ 320 w 512"/>
                  <a:gd name="T89" fmla="*/ 416 h 512"/>
                  <a:gd name="T90" fmla="*/ 330 w 512"/>
                  <a:gd name="T91" fmla="*/ 405 h 512"/>
                  <a:gd name="T92" fmla="*/ 330 w 512"/>
                  <a:gd name="T93" fmla="*/ 362 h 512"/>
                  <a:gd name="T94" fmla="*/ 202 w 512"/>
                  <a:gd name="T95" fmla="*/ 394 h 512"/>
                  <a:gd name="T96" fmla="*/ 309 w 512"/>
                  <a:gd name="T97" fmla="*/ 394 h 512"/>
                  <a:gd name="T98" fmla="*/ 309 w 512"/>
                  <a:gd name="T99" fmla="*/ 373 h 512"/>
                  <a:gd name="T100" fmla="*/ 202 w 512"/>
                  <a:gd name="T101" fmla="*/ 373 h 512"/>
                  <a:gd name="T102" fmla="*/ 202 w 512"/>
                  <a:gd name="T10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45" y="128"/>
                    </a:moveTo>
                    <a:cubicBezTo>
                      <a:pt x="245" y="122"/>
                      <a:pt x="250" y="117"/>
                      <a:pt x="256" y="117"/>
                    </a:cubicBezTo>
                    <a:cubicBezTo>
                      <a:pt x="262" y="117"/>
                      <a:pt x="266" y="122"/>
                      <a:pt x="266" y="128"/>
                    </a:cubicBezTo>
                    <a:cubicBezTo>
                      <a:pt x="266" y="134"/>
                      <a:pt x="262" y="138"/>
                      <a:pt x="256" y="138"/>
                    </a:cubicBezTo>
                    <a:cubicBezTo>
                      <a:pt x="250" y="138"/>
                      <a:pt x="245" y="134"/>
                      <a:pt x="245" y="128"/>
                    </a:cubicBezTo>
                    <a:close/>
                    <a:moveTo>
                      <a:pt x="269" y="245"/>
                    </a:moveTo>
                    <a:cubicBezTo>
                      <a:pt x="243" y="245"/>
                      <a:pt x="243" y="245"/>
                      <a:pt x="243" y="245"/>
                    </a:cubicBezTo>
                    <a:cubicBezTo>
                      <a:pt x="216" y="352"/>
                      <a:pt x="216" y="352"/>
                      <a:pt x="216" y="352"/>
                    </a:cubicBezTo>
                    <a:cubicBezTo>
                      <a:pt x="295" y="352"/>
                      <a:pt x="295" y="352"/>
                      <a:pt x="295" y="352"/>
                    </a:cubicBezTo>
                    <a:lnTo>
                      <a:pt x="269" y="245"/>
                    </a:lnTo>
                    <a:close/>
                    <a:moveTo>
                      <a:pt x="238" y="224"/>
                    </a:moveTo>
                    <a:cubicBezTo>
                      <a:pt x="273" y="224"/>
                      <a:pt x="273" y="224"/>
                      <a:pt x="273" y="224"/>
                    </a:cubicBezTo>
                    <a:cubicBezTo>
                      <a:pt x="278" y="219"/>
                      <a:pt x="288" y="209"/>
                      <a:pt x="288" y="192"/>
                    </a:cubicBezTo>
                    <a:cubicBezTo>
                      <a:pt x="288" y="190"/>
                      <a:pt x="287" y="188"/>
                      <a:pt x="287" y="186"/>
                    </a:cubicBezTo>
                    <a:cubicBezTo>
                      <a:pt x="274" y="199"/>
                      <a:pt x="274" y="199"/>
                      <a:pt x="274" y="199"/>
                    </a:cubicBezTo>
                    <a:cubicBezTo>
                      <a:pt x="272" y="201"/>
                      <a:pt x="269" y="202"/>
                      <a:pt x="266" y="202"/>
                    </a:cubicBezTo>
                    <a:cubicBezTo>
                      <a:pt x="264" y="202"/>
                      <a:pt x="261" y="201"/>
                      <a:pt x="259" y="199"/>
                    </a:cubicBezTo>
                    <a:cubicBezTo>
                      <a:pt x="255" y="195"/>
                      <a:pt x="255" y="188"/>
                      <a:pt x="259" y="184"/>
                    </a:cubicBezTo>
                    <a:cubicBezTo>
                      <a:pt x="273" y="170"/>
                      <a:pt x="273" y="170"/>
                      <a:pt x="273" y="170"/>
                    </a:cubicBezTo>
                    <a:cubicBezTo>
                      <a:pt x="267" y="166"/>
                      <a:pt x="260" y="163"/>
                      <a:pt x="256" y="160"/>
                    </a:cubicBezTo>
                    <a:cubicBezTo>
                      <a:pt x="245" y="165"/>
                      <a:pt x="224" y="177"/>
                      <a:pt x="224" y="192"/>
                    </a:cubicBezTo>
                    <a:cubicBezTo>
                      <a:pt x="224" y="208"/>
                      <a:pt x="234" y="219"/>
                      <a:pt x="238" y="224"/>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362"/>
                    </a:moveTo>
                    <a:cubicBezTo>
                      <a:pt x="330" y="356"/>
                      <a:pt x="326" y="352"/>
                      <a:pt x="320" y="352"/>
                    </a:cubicBezTo>
                    <a:cubicBezTo>
                      <a:pt x="317" y="352"/>
                      <a:pt x="317" y="352"/>
                      <a:pt x="317" y="352"/>
                    </a:cubicBezTo>
                    <a:cubicBezTo>
                      <a:pt x="289" y="238"/>
                      <a:pt x="289" y="238"/>
                      <a:pt x="289" y="238"/>
                    </a:cubicBezTo>
                    <a:cubicBezTo>
                      <a:pt x="297" y="231"/>
                      <a:pt x="309" y="215"/>
                      <a:pt x="309" y="192"/>
                    </a:cubicBezTo>
                    <a:cubicBezTo>
                      <a:pt x="309" y="172"/>
                      <a:pt x="293" y="158"/>
                      <a:pt x="279" y="149"/>
                    </a:cubicBezTo>
                    <a:cubicBezTo>
                      <a:pt x="284" y="143"/>
                      <a:pt x="288" y="136"/>
                      <a:pt x="288" y="128"/>
                    </a:cubicBezTo>
                    <a:cubicBezTo>
                      <a:pt x="288" y="110"/>
                      <a:pt x="273" y="96"/>
                      <a:pt x="256" y="96"/>
                    </a:cubicBezTo>
                    <a:cubicBezTo>
                      <a:pt x="238" y="96"/>
                      <a:pt x="224" y="110"/>
                      <a:pt x="224" y="128"/>
                    </a:cubicBezTo>
                    <a:cubicBezTo>
                      <a:pt x="224" y="136"/>
                      <a:pt x="227" y="143"/>
                      <a:pt x="232" y="149"/>
                    </a:cubicBezTo>
                    <a:cubicBezTo>
                      <a:pt x="218" y="158"/>
                      <a:pt x="202" y="172"/>
                      <a:pt x="202" y="192"/>
                    </a:cubicBezTo>
                    <a:cubicBezTo>
                      <a:pt x="202" y="215"/>
                      <a:pt x="215" y="231"/>
                      <a:pt x="222" y="238"/>
                    </a:cubicBezTo>
                    <a:cubicBezTo>
                      <a:pt x="194" y="352"/>
                      <a:pt x="194" y="352"/>
                      <a:pt x="194" y="352"/>
                    </a:cubicBezTo>
                    <a:cubicBezTo>
                      <a:pt x="192" y="352"/>
                      <a:pt x="192" y="352"/>
                      <a:pt x="192" y="352"/>
                    </a:cubicBezTo>
                    <a:cubicBezTo>
                      <a:pt x="186" y="352"/>
                      <a:pt x="181" y="356"/>
                      <a:pt x="181" y="362"/>
                    </a:cubicBezTo>
                    <a:cubicBezTo>
                      <a:pt x="181" y="405"/>
                      <a:pt x="181" y="405"/>
                      <a:pt x="181" y="405"/>
                    </a:cubicBezTo>
                    <a:cubicBezTo>
                      <a:pt x="181" y="411"/>
                      <a:pt x="186" y="416"/>
                      <a:pt x="192" y="416"/>
                    </a:cubicBezTo>
                    <a:cubicBezTo>
                      <a:pt x="320" y="416"/>
                      <a:pt x="320" y="416"/>
                      <a:pt x="320" y="416"/>
                    </a:cubicBezTo>
                    <a:cubicBezTo>
                      <a:pt x="326" y="416"/>
                      <a:pt x="330" y="411"/>
                      <a:pt x="330" y="405"/>
                    </a:cubicBezTo>
                    <a:lnTo>
                      <a:pt x="330" y="362"/>
                    </a:lnTo>
                    <a:close/>
                    <a:moveTo>
                      <a:pt x="202" y="394"/>
                    </a:moveTo>
                    <a:cubicBezTo>
                      <a:pt x="309" y="394"/>
                      <a:pt x="309" y="394"/>
                      <a:pt x="309" y="394"/>
                    </a:cubicBezTo>
                    <a:cubicBezTo>
                      <a:pt x="309" y="373"/>
                      <a:pt x="309" y="373"/>
                      <a:pt x="309" y="373"/>
                    </a:cubicBezTo>
                    <a:cubicBezTo>
                      <a:pt x="202" y="373"/>
                      <a:pt x="202" y="373"/>
                      <a:pt x="202" y="373"/>
                    </a:cubicBezTo>
                    <a:lnTo>
                      <a:pt x="202" y="394"/>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ea typeface="+mn-ea"/>
                  <a:cs typeface="+mn-cs"/>
                </a:endParaRPr>
              </a:p>
            </p:txBody>
          </p:sp>
        </p:grpSp>
        <p:sp>
          <p:nvSpPr>
            <p:cNvPr id="24" name="Rectangle 23"/>
            <p:cNvSpPr/>
            <p:nvPr/>
          </p:nvSpPr>
          <p:spPr>
            <a:xfrm>
              <a:off x="4946904" y="2127434"/>
              <a:ext cx="4138538" cy="11387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046A38"/>
                  </a:solidFill>
                </a:rPr>
                <a:t>Tribal Welfare</a:t>
              </a:r>
              <a:endParaRPr kumimoji="0" lang="en-US" sz="1800" b="1" i="0" u="none" strike="noStrike" kern="1200" cap="none" spc="0" normalizeH="0" baseline="0" noProof="0" dirty="0">
                <a:ln>
                  <a:noFill/>
                </a:ln>
                <a:solidFill>
                  <a:srgbClr val="046A38"/>
                </a:solidFill>
                <a:effectLst/>
                <a:uLnTx/>
                <a:uFillTx/>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smtClean="0">
                  <a:ln>
                    <a:noFill/>
                  </a:ln>
                  <a:solidFill>
                    <a:prstClr val="black"/>
                  </a:solidFill>
                  <a:effectLst/>
                  <a:uLnTx/>
                  <a:uFillTx/>
                  <a:ea typeface="+mn-ea"/>
                  <a:cs typeface="+mn-cs"/>
                </a:rPr>
                <a:t>In Union Budget 2020, it</a:t>
              </a:r>
              <a:r>
                <a:rPr kumimoji="0" lang="en-US" sz="1000" b="0" i="0" u="none" strike="noStrike" kern="1200" cap="none" spc="0" normalizeH="0" noProof="0" dirty="0" smtClean="0">
                  <a:ln>
                    <a:noFill/>
                  </a:ln>
                  <a:solidFill>
                    <a:prstClr val="black"/>
                  </a:solidFill>
                  <a:effectLst/>
                  <a:uLnTx/>
                  <a:uFillTx/>
                  <a:ea typeface="+mn-ea"/>
                  <a:cs typeface="+mn-cs"/>
                </a:rPr>
                <a:t> has been announced that a world-class tribal museum will come-up in Ranchi at a budgeted cost of 500 – 1000 Cr. </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noProof="0" dirty="0" smtClean="0">
                  <a:ln>
                    <a:noFill/>
                  </a:ln>
                  <a:solidFill>
                    <a:prstClr val="black"/>
                  </a:solidFill>
                  <a:effectLst/>
                  <a:uLnTx/>
                  <a:uFillTx/>
                  <a:ea typeface="+mn-ea"/>
                  <a:cs typeface="+mn-cs"/>
                </a:rPr>
                <a:t>Tribal budget increased to about 54,000 Cr. including 1,200 Cr. special grant to Union Ministry of Tribal Affairs  </a:t>
              </a:r>
              <a:endParaRPr kumimoji="0" lang="en-US" sz="1000" b="1" i="0" u="none" strike="noStrike" kern="1200" cap="none" spc="0" normalizeH="0" baseline="0" noProof="0" dirty="0">
                <a:ln>
                  <a:noFill/>
                </a:ln>
                <a:solidFill>
                  <a:srgbClr val="000000"/>
                </a:solidFill>
                <a:effectLst/>
                <a:uLnTx/>
                <a:uFillTx/>
                <a:ea typeface="+mn-ea"/>
                <a:cs typeface="+mn-cs"/>
              </a:endParaRPr>
            </a:p>
          </p:txBody>
        </p:sp>
      </p:grpSp>
      <p:grpSp>
        <p:nvGrpSpPr>
          <p:cNvPr id="27" name="Group 26"/>
          <p:cNvGrpSpPr/>
          <p:nvPr/>
        </p:nvGrpSpPr>
        <p:grpSpPr>
          <a:xfrm>
            <a:off x="5191843" y="3926107"/>
            <a:ext cx="5683874" cy="1363795"/>
            <a:chOff x="3401568" y="3695813"/>
            <a:chExt cx="5683874" cy="1363795"/>
          </a:xfrm>
        </p:grpSpPr>
        <p:cxnSp>
          <p:nvCxnSpPr>
            <p:cNvPr id="28" name="Straight Connector 27"/>
            <p:cNvCxnSpPr/>
            <p:nvPr/>
          </p:nvCxnSpPr>
          <p:spPr>
            <a:xfrm flipV="1">
              <a:off x="3551622" y="4087257"/>
              <a:ext cx="211738" cy="2439"/>
            </a:xfrm>
            <a:prstGeom prst="line">
              <a:avLst/>
            </a:prstGeom>
            <a:noFill/>
            <a:ln w="22225" algn="ctr">
              <a:solidFill>
                <a:schemeClr val="tx1">
                  <a:lumMod val="50000"/>
                  <a:lumOff val="50000"/>
                </a:schemeClr>
              </a:solidFill>
              <a:prstDash val="sysDot"/>
              <a:miter lim="800000"/>
              <a:headEnd/>
              <a:tailEnd/>
            </a:ln>
          </p:spPr>
        </p:cxnSp>
        <p:grpSp>
          <p:nvGrpSpPr>
            <p:cNvPr id="29" name="Group 28"/>
            <p:cNvGrpSpPr/>
            <p:nvPr/>
          </p:nvGrpSpPr>
          <p:grpSpPr>
            <a:xfrm>
              <a:off x="3401568" y="3695813"/>
              <a:ext cx="5683874" cy="1363795"/>
              <a:chOff x="3401568" y="3261423"/>
              <a:chExt cx="5683874" cy="1363795"/>
            </a:xfrm>
          </p:grpSpPr>
          <p:sp>
            <p:nvSpPr>
              <p:cNvPr id="33" name="Oval 32"/>
              <p:cNvSpPr/>
              <p:nvPr/>
            </p:nvSpPr>
            <p:spPr bwMode="gray">
              <a:xfrm>
                <a:off x="3794760" y="3261423"/>
                <a:ext cx="787162" cy="787162"/>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sp>
            <p:nvSpPr>
              <p:cNvPr id="31" name="Rectangle 30"/>
              <p:cNvSpPr/>
              <p:nvPr/>
            </p:nvSpPr>
            <p:spPr>
              <a:xfrm>
                <a:off x="4946904" y="3332556"/>
                <a:ext cx="4138538" cy="129266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012169"/>
                    </a:solidFill>
                  </a:rPr>
                  <a:t>Rural Employment Scheme</a:t>
                </a:r>
                <a:endParaRPr kumimoji="0" lang="en-US" sz="1800" b="1" i="0" u="none" strike="noStrike" kern="1200" cap="none" spc="0" normalizeH="0" baseline="0" noProof="0" dirty="0">
                  <a:ln>
                    <a:noFill/>
                  </a:ln>
                  <a:solidFill>
                    <a:srgbClr val="012169"/>
                  </a:solidFill>
                  <a:effectLst/>
                  <a:uLnTx/>
                  <a:uFillTx/>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smtClean="0">
                    <a:ln>
                      <a:noFill/>
                    </a:ln>
                    <a:solidFill>
                      <a:prstClr val="black"/>
                    </a:solidFill>
                    <a:effectLst/>
                    <a:uLnTx/>
                    <a:uFillTx/>
                    <a:ea typeface="+mn-ea"/>
                    <a:cs typeface="+mn-cs"/>
                  </a:rPr>
                  <a:t>Keeping in mind </a:t>
                </a:r>
                <a:r>
                  <a:rPr lang="en-US" sz="1000" dirty="0" smtClean="0">
                    <a:solidFill>
                      <a:prstClr val="black"/>
                    </a:solidFill>
                  </a:rPr>
                  <a:t>reverse-migration of laborers due to COVID 19, three schemes have been launched by Hon’ble Chief Minister</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1" i="0" u="none" strike="noStrike" kern="1200" cap="none" spc="0" normalizeH="0" baseline="0" noProof="0" dirty="0" err="1" smtClean="0">
                    <a:ln>
                      <a:noFill/>
                    </a:ln>
                    <a:solidFill>
                      <a:prstClr val="black"/>
                    </a:solidFill>
                    <a:effectLst/>
                    <a:uLnTx/>
                    <a:uFillTx/>
                    <a:ea typeface="+mn-ea"/>
                    <a:cs typeface="+mn-cs"/>
                  </a:rPr>
                  <a:t>Birsa</a:t>
                </a:r>
                <a:r>
                  <a:rPr kumimoji="0" lang="en-US" sz="1000" b="1" i="0" u="none" strike="noStrike" kern="1200" cap="none" spc="0" normalizeH="0" noProof="0" dirty="0" smtClean="0">
                    <a:ln>
                      <a:noFill/>
                    </a:ln>
                    <a:solidFill>
                      <a:prstClr val="black"/>
                    </a:solidFill>
                    <a:effectLst/>
                    <a:uLnTx/>
                    <a:uFillTx/>
                    <a:ea typeface="+mn-ea"/>
                    <a:cs typeface="+mn-cs"/>
                  </a:rPr>
                  <a:t> </a:t>
                </a:r>
                <a:r>
                  <a:rPr kumimoji="0" lang="en-US" sz="1000" b="1" i="0" u="none" strike="noStrike" kern="1200" cap="none" spc="0" normalizeH="0" noProof="0" dirty="0" err="1" smtClean="0">
                    <a:ln>
                      <a:noFill/>
                    </a:ln>
                    <a:solidFill>
                      <a:prstClr val="black"/>
                    </a:solidFill>
                    <a:effectLst/>
                    <a:uLnTx/>
                    <a:uFillTx/>
                    <a:ea typeface="+mn-ea"/>
                    <a:cs typeface="+mn-cs"/>
                  </a:rPr>
                  <a:t>Harit</a:t>
                </a:r>
                <a:r>
                  <a:rPr kumimoji="0" lang="en-US" sz="1000" b="1" i="0" u="none" strike="noStrike" kern="1200" cap="none" spc="0" normalizeH="0" noProof="0" dirty="0" smtClean="0">
                    <a:ln>
                      <a:noFill/>
                    </a:ln>
                    <a:solidFill>
                      <a:prstClr val="black"/>
                    </a:solidFill>
                    <a:effectLst/>
                    <a:uLnTx/>
                    <a:uFillTx/>
                    <a:ea typeface="+mn-ea"/>
                    <a:cs typeface="+mn-cs"/>
                  </a:rPr>
                  <a:t> Gram </a:t>
                </a:r>
                <a:r>
                  <a:rPr kumimoji="0" lang="en-US" sz="1000" b="1" i="0" u="none" strike="noStrike" kern="1200" cap="none" spc="0" normalizeH="0" noProof="0" dirty="0" err="1" smtClean="0">
                    <a:ln>
                      <a:noFill/>
                    </a:ln>
                    <a:solidFill>
                      <a:prstClr val="black"/>
                    </a:solidFill>
                    <a:effectLst/>
                    <a:uLnTx/>
                    <a:uFillTx/>
                    <a:ea typeface="+mn-ea"/>
                    <a:cs typeface="+mn-cs"/>
                  </a:rPr>
                  <a:t>Yojana</a:t>
                </a:r>
                <a:r>
                  <a:rPr lang="en-US" sz="1000" b="1" dirty="0" smtClean="0">
                    <a:solidFill>
                      <a:prstClr val="black"/>
                    </a:solidFill>
                  </a:rPr>
                  <a:t>, </a:t>
                </a:r>
                <a:r>
                  <a:rPr lang="en-US" sz="1000" b="1" dirty="0" err="1" smtClean="0">
                    <a:solidFill>
                      <a:prstClr val="black"/>
                    </a:solidFill>
                  </a:rPr>
                  <a:t>Neelambar</a:t>
                </a:r>
                <a:r>
                  <a:rPr lang="en-US" sz="1000" b="1" dirty="0" smtClean="0">
                    <a:solidFill>
                      <a:prstClr val="black"/>
                    </a:solidFill>
                  </a:rPr>
                  <a:t> </a:t>
                </a:r>
                <a:r>
                  <a:rPr lang="en-US" sz="1000" b="1" dirty="0" err="1" smtClean="0">
                    <a:solidFill>
                      <a:prstClr val="black"/>
                    </a:solidFill>
                  </a:rPr>
                  <a:t>Pitambar</a:t>
                </a:r>
                <a:r>
                  <a:rPr lang="en-US" sz="1000" b="1" dirty="0" smtClean="0">
                    <a:solidFill>
                      <a:prstClr val="black"/>
                    </a:solidFill>
                  </a:rPr>
                  <a:t> Jal </a:t>
                </a:r>
                <a:r>
                  <a:rPr lang="en-US" sz="1000" b="1" dirty="0" err="1" smtClean="0">
                    <a:solidFill>
                      <a:prstClr val="black"/>
                    </a:solidFill>
                  </a:rPr>
                  <a:t>Samriddhi</a:t>
                </a:r>
                <a:r>
                  <a:rPr lang="en-US" sz="1000" b="1" dirty="0" smtClean="0">
                    <a:solidFill>
                      <a:prstClr val="black"/>
                    </a:solidFill>
                  </a:rPr>
                  <a:t> </a:t>
                </a:r>
                <a:r>
                  <a:rPr lang="en-US" sz="1000" b="1" dirty="0" err="1" smtClean="0">
                    <a:solidFill>
                      <a:prstClr val="black"/>
                    </a:solidFill>
                  </a:rPr>
                  <a:t>Yojana</a:t>
                </a:r>
                <a:r>
                  <a:rPr lang="en-US" sz="1000" b="1" dirty="0" smtClean="0">
                    <a:solidFill>
                      <a:prstClr val="black"/>
                    </a:solidFill>
                  </a:rPr>
                  <a:t> </a:t>
                </a:r>
                <a:r>
                  <a:rPr lang="en-US" sz="1000" dirty="0" smtClean="0">
                    <a:solidFill>
                      <a:prstClr val="black"/>
                    </a:solidFill>
                  </a:rPr>
                  <a:t>&amp;</a:t>
                </a:r>
                <a:r>
                  <a:rPr lang="en-US" sz="1000" b="1" dirty="0" smtClean="0">
                    <a:solidFill>
                      <a:prstClr val="black"/>
                    </a:solidFill>
                  </a:rPr>
                  <a:t> </a:t>
                </a:r>
                <a:r>
                  <a:rPr lang="en-US" sz="1000" b="1" dirty="0" err="1" smtClean="0">
                    <a:solidFill>
                      <a:prstClr val="black"/>
                    </a:solidFill>
                  </a:rPr>
                  <a:t>Poto</a:t>
                </a:r>
                <a:r>
                  <a:rPr lang="en-US" sz="1000" b="1" dirty="0" smtClean="0">
                    <a:solidFill>
                      <a:prstClr val="black"/>
                    </a:solidFill>
                  </a:rPr>
                  <a:t> Ho Khel </a:t>
                </a:r>
                <a:r>
                  <a:rPr lang="en-US" sz="1000" b="1" dirty="0" err="1" smtClean="0">
                    <a:solidFill>
                      <a:prstClr val="black"/>
                    </a:solidFill>
                  </a:rPr>
                  <a:t>Vikas</a:t>
                </a:r>
                <a:r>
                  <a:rPr lang="en-US" sz="1000" b="1" dirty="0" smtClean="0">
                    <a:solidFill>
                      <a:prstClr val="black"/>
                    </a:solidFill>
                  </a:rPr>
                  <a:t> </a:t>
                </a:r>
                <a:r>
                  <a:rPr lang="en-US" sz="1000" b="1" dirty="0" err="1" smtClean="0">
                    <a:solidFill>
                      <a:prstClr val="black"/>
                    </a:solidFill>
                  </a:rPr>
                  <a:t>Yojana</a:t>
                </a:r>
                <a:r>
                  <a:rPr lang="en-US" sz="1000" b="1" dirty="0" smtClean="0">
                    <a:solidFill>
                      <a:prstClr val="black"/>
                    </a:solidFill>
                  </a:rPr>
                  <a:t> </a:t>
                </a:r>
                <a:r>
                  <a:rPr lang="en-US" sz="1000" dirty="0" smtClean="0">
                    <a:solidFill>
                      <a:prstClr val="black"/>
                    </a:solidFill>
                  </a:rPr>
                  <a:t>will be run by Rural Development Department </a:t>
                </a:r>
                <a:endParaRPr kumimoji="0" lang="en-US" sz="1000" b="1" i="0" u="none" strike="noStrike" kern="1200" cap="none" spc="0" normalizeH="0" baseline="0" noProof="0" dirty="0">
                  <a:ln>
                    <a:noFill/>
                  </a:ln>
                  <a:solidFill>
                    <a:srgbClr val="000000"/>
                  </a:solidFill>
                  <a:effectLst/>
                  <a:uLnTx/>
                  <a:uFillTx/>
                  <a:ea typeface="+mn-ea"/>
                  <a:cs typeface="+mn-cs"/>
                </a:endParaRPr>
              </a:p>
            </p:txBody>
          </p:sp>
          <p:sp>
            <p:nvSpPr>
              <p:cNvPr id="32" name="Oval 31"/>
              <p:cNvSpPr/>
              <p:nvPr/>
            </p:nvSpPr>
            <p:spPr bwMode="gray">
              <a:xfrm>
                <a:off x="3401568" y="3560001"/>
                <a:ext cx="184815" cy="184815"/>
              </a:xfrm>
              <a:prstGeom prst="ellipse">
                <a:avLst/>
              </a:prstGeom>
              <a:solidFill>
                <a:schemeClr val="bg1"/>
              </a:solidFill>
              <a:ln w="34925" algn="ctr">
                <a:solidFill>
                  <a:srgbClr val="012169"/>
                </a:solid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grpSp>
      </p:grpSp>
      <p:grpSp>
        <p:nvGrpSpPr>
          <p:cNvPr id="35" name="Group 34"/>
          <p:cNvGrpSpPr/>
          <p:nvPr/>
        </p:nvGrpSpPr>
        <p:grpSpPr>
          <a:xfrm>
            <a:off x="4264695" y="5286404"/>
            <a:ext cx="6611023" cy="1177631"/>
            <a:chOff x="2474419" y="5056109"/>
            <a:chExt cx="6611023" cy="1177631"/>
          </a:xfrm>
        </p:grpSpPr>
        <p:cxnSp>
          <p:nvCxnSpPr>
            <p:cNvPr id="36" name="Straight Connector 35"/>
            <p:cNvCxnSpPr/>
            <p:nvPr/>
          </p:nvCxnSpPr>
          <p:spPr>
            <a:xfrm>
              <a:off x="2545976" y="5448910"/>
              <a:ext cx="1248784" cy="0"/>
            </a:xfrm>
            <a:prstGeom prst="line">
              <a:avLst/>
            </a:prstGeom>
            <a:noFill/>
            <a:ln w="22225" algn="ctr">
              <a:solidFill>
                <a:schemeClr val="tx1">
                  <a:lumMod val="50000"/>
                  <a:lumOff val="50000"/>
                </a:schemeClr>
              </a:solidFill>
              <a:prstDash val="sysDot"/>
              <a:miter lim="800000"/>
              <a:headEnd/>
              <a:tailEnd/>
            </a:ln>
          </p:spPr>
        </p:cxnSp>
        <p:sp>
          <p:nvSpPr>
            <p:cNvPr id="37" name="Oval 36"/>
            <p:cNvSpPr/>
            <p:nvPr/>
          </p:nvSpPr>
          <p:spPr bwMode="gray">
            <a:xfrm>
              <a:off x="2474419" y="5362200"/>
              <a:ext cx="184815" cy="184815"/>
            </a:xfrm>
            <a:prstGeom prst="ellipse">
              <a:avLst/>
            </a:prstGeom>
            <a:solidFill>
              <a:schemeClr val="bg1"/>
            </a:solidFill>
            <a:ln w="34925" algn="ctr">
              <a:solidFill>
                <a:srgbClr val="2C5234"/>
              </a:solid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grpSp>
          <p:nvGrpSpPr>
            <p:cNvPr id="39" name="Group 38"/>
            <p:cNvGrpSpPr/>
            <p:nvPr/>
          </p:nvGrpSpPr>
          <p:grpSpPr>
            <a:xfrm>
              <a:off x="3798644" y="5056109"/>
              <a:ext cx="5286798" cy="1177631"/>
              <a:chOff x="3798644" y="5056109"/>
              <a:chExt cx="5286798" cy="1177631"/>
            </a:xfrm>
          </p:grpSpPr>
          <p:sp>
            <p:nvSpPr>
              <p:cNvPr id="42" name="Oval 41"/>
              <p:cNvSpPr/>
              <p:nvPr/>
            </p:nvSpPr>
            <p:spPr bwMode="gray">
              <a:xfrm>
                <a:off x="3798644" y="5056109"/>
                <a:ext cx="789051" cy="789051"/>
              </a:xfrm>
              <a:prstGeom prst="ellipse">
                <a:avLst/>
              </a:prstGeom>
              <a:noFill/>
              <a:ln w="22225" algn="ctr">
                <a:solidFill>
                  <a:schemeClr val="tx1">
                    <a:lumMod val="50000"/>
                    <a:lumOff val="50000"/>
                  </a:schemeClr>
                </a:solidFill>
                <a:prstDash val="sysDot"/>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ea typeface="+mn-ea"/>
                  <a:cs typeface="+mn-cs"/>
                </a:endParaRPr>
              </a:p>
            </p:txBody>
          </p:sp>
          <p:sp>
            <p:nvSpPr>
              <p:cNvPr id="41" name="Rectangle 40"/>
              <p:cNvSpPr/>
              <p:nvPr/>
            </p:nvSpPr>
            <p:spPr>
              <a:xfrm>
                <a:off x="4946904" y="5094967"/>
                <a:ext cx="4138538" cy="113877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2C5234"/>
                    </a:solidFill>
                  </a:rPr>
                  <a:t>Mining Reforms</a:t>
                </a:r>
                <a:endParaRPr kumimoji="0" lang="en-US" sz="1800" b="1" i="0" u="none" strike="noStrike" kern="1200" cap="none" spc="0" normalizeH="0" baseline="0" noProof="0" dirty="0">
                  <a:ln>
                    <a:noFill/>
                  </a:ln>
                  <a:solidFill>
                    <a:srgbClr val="2C5234"/>
                  </a:solidFill>
                  <a:effectLst/>
                  <a:uLnTx/>
                  <a:uFillTx/>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dirty="0" smtClean="0">
                    <a:ln>
                      <a:noFill/>
                    </a:ln>
                    <a:solidFill>
                      <a:prstClr val="black"/>
                    </a:solidFill>
                    <a:effectLst/>
                    <a:uLnTx/>
                    <a:uFillTx/>
                    <a:ea typeface="+mn-ea"/>
                    <a:cs typeface="+mn-cs"/>
                  </a:rPr>
                  <a:t>Commercial mining opened-up</a:t>
                </a:r>
                <a:r>
                  <a:rPr kumimoji="0" lang="en-US" sz="1000" b="0" i="0" u="none" strike="noStrike" kern="1200" cap="none" spc="0" normalizeH="0" noProof="0" dirty="0" smtClean="0">
                    <a:ln>
                      <a:noFill/>
                    </a:ln>
                    <a:solidFill>
                      <a:prstClr val="black"/>
                    </a:solidFill>
                    <a:effectLst/>
                    <a:uLnTx/>
                    <a:uFillTx/>
                    <a:ea typeface="+mn-ea"/>
                    <a:cs typeface="+mn-cs"/>
                  </a:rPr>
                  <a:t> further with revenue-sharing arrangement, to boost the fuel’s production in India. The same has been part of forth tranche of           </a:t>
                </a:r>
                <a:r>
                  <a:rPr kumimoji="0" lang="en-US" sz="1000" b="0" i="0" u="none" strike="noStrike" kern="1200" cap="none" spc="0" normalizeH="0" noProof="0" dirty="0" err="1" smtClean="0">
                    <a:ln>
                      <a:noFill/>
                    </a:ln>
                    <a:solidFill>
                      <a:prstClr val="black"/>
                    </a:solidFill>
                    <a:effectLst/>
                    <a:uLnTx/>
                    <a:uFillTx/>
                    <a:ea typeface="+mn-ea"/>
                    <a:cs typeface="+mn-cs"/>
                  </a:rPr>
                  <a:t>Rs</a:t>
                </a:r>
                <a:r>
                  <a:rPr kumimoji="0" lang="en-US" sz="1000" b="0" i="0" u="none" strike="noStrike" kern="1200" cap="none" spc="0" normalizeH="0" noProof="0" dirty="0" smtClean="0">
                    <a:ln>
                      <a:noFill/>
                    </a:ln>
                    <a:solidFill>
                      <a:prstClr val="black"/>
                    </a:solidFill>
                    <a:effectLst/>
                    <a:uLnTx/>
                    <a:uFillTx/>
                    <a:ea typeface="+mn-ea"/>
                    <a:cs typeface="+mn-cs"/>
                  </a:rPr>
                  <a:t> 20 trillion stimulus package to mitigate economic fallout from COVID 19 </a:t>
                </a:r>
                <a:endParaRPr kumimoji="0" lang="en-US" sz="1000" b="1" i="0" u="none" strike="noStrike" kern="1200" cap="none" spc="0" normalizeH="0" baseline="0" noProof="0" dirty="0">
                  <a:ln>
                    <a:noFill/>
                  </a:ln>
                  <a:solidFill>
                    <a:srgbClr val="000000"/>
                  </a:solidFill>
                  <a:effectLst/>
                  <a:uLnTx/>
                  <a:uFillTx/>
                  <a:ea typeface="+mn-ea"/>
                  <a:cs typeface="+mn-cs"/>
                </a:endParaRPr>
              </a:p>
            </p:txBody>
          </p:sp>
        </p:grpSp>
      </p:grpSp>
      <p:grpSp>
        <p:nvGrpSpPr>
          <p:cNvPr id="44" name="Group 927">
            <a:extLst>
              <a:ext uri="{FF2B5EF4-FFF2-40B4-BE49-F238E27FC236}">
                <a16:creationId xmlns:a16="http://schemas.microsoft.com/office/drawing/2014/main" id="{36FD8244-527D-434B-9CE3-AB6B75B1205E}"/>
              </a:ext>
            </a:extLst>
          </p:cNvPr>
          <p:cNvGrpSpPr>
            <a:grpSpLocks noChangeAspect="1"/>
          </p:cNvGrpSpPr>
          <p:nvPr/>
        </p:nvGrpSpPr>
        <p:grpSpPr bwMode="auto">
          <a:xfrm>
            <a:off x="5620892" y="3965155"/>
            <a:ext cx="724610" cy="708142"/>
            <a:chOff x="5420" y="3568"/>
            <a:chExt cx="352" cy="344"/>
          </a:xfrm>
          <a:solidFill>
            <a:schemeClr val="accent4"/>
          </a:solidFill>
        </p:grpSpPr>
        <p:sp>
          <p:nvSpPr>
            <p:cNvPr id="45" name="Freeform 928">
              <a:extLst>
                <a:ext uri="{FF2B5EF4-FFF2-40B4-BE49-F238E27FC236}">
                  <a16:creationId xmlns:a16="http://schemas.microsoft.com/office/drawing/2014/main" id="{7885526D-A1B9-45A5-9804-63B9B75BE369}"/>
                </a:ext>
              </a:extLst>
            </p:cNvPr>
            <p:cNvSpPr>
              <a:spLocks noEditPoints="1"/>
            </p:cNvSpPr>
            <p:nvPr/>
          </p:nvSpPr>
          <p:spPr bwMode="auto">
            <a:xfrm>
              <a:off x="5432" y="3568"/>
              <a:ext cx="340" cy="340"/>
            </a:xfrm>
            <a:custGeom>
              <a:avLst/>
              <a:gdLst>
                <a:gd name="T0" fmla="*/ 332 w 512"/>
                <a:gd name="T1" fmla="*/ 245 h 512"/>
                <a:gd name="T2" fmla="*/ 340 w 512"/>
                <a:gd name="T3" fmla="*/ 305 h 512"/>
                <a:gd name="T4" fmla="*/ 256 w 512"/>
                <a:gd name="T5" fmla="*/ 341 h 512"/>
                <a:gd name="T6" fmla="*/ 171 w 512"/>
                <a:gd name="T7" fmla="*/ 306 h 512"/>
                <a:gd name="T8" fmla="*/ 179 w 512"/>
                <a:gd name="T9" fmla="*/ 245 h 512"/>
                <a:gd name="T10" fmla="*/ 251 w 512"/>
                <a:gd name="T11" fmla="*/ 276 h 512"/>
                <a:gd name="T12" fmla="*/ 256 w 512"/>
                <a:gd name="T13" fmla="*/ 277 h 512"/>
                <a:gd name="T14" fmla="*/ 260 w 512"/>
                <a:gd name="T15" fmla="*/ 276 h 512"/>
                <a:gd name="T16" fmla="*/ 332 w 512"/>
                <a:gd name="T17" fmla="*/ 245 h 512"/>
                <a:gd name="T18" fmla="*/ 136 w 512"/>
                <a:gd name="T19" fmla="*/ 203 h 512"/>
                <a:gd name="T20" fmla="*/ 256 w 512"/>
                <a:gd name="T21" fmla="*/ 255 h 512"/>
                <a:gd name="T22" fmla="*/ 376 w 512"/>
                <a:gd name="T23" fmla="*/ 203 h 512"/>
                <a:gd name="T24" fmla="*/ 256 w 512"/>
                <a:gd name="T25" fmla="*/ 160 h 512"/>
                <a:gd name="T26" fmla="*/ 136 w 512"/>
                <a:gd name="T27" fmla="*/ 203 h 512"/>
                <a:gd name="T28" fmla="*/ 512 w 512"/>
                <a:gd name="T29" fmla="*/ 256 h 512"/>
                <a:gd name="T30" fmla="*/ 256 w 512"/>
                <a:gd name="T31" fmla="*/ 512 h 512"/>
                <a:gd name="T32" fmla="*/ 0 w 512"/>
                <a:gd name="T33" fmla="*/ 256 h 512"/>
                <a:gd name="T34" fmla="*/ 256 w 512"/>
                <a:gd name="T35" fmla="*/ 0 h 512"/>
                <a:gd name="T36" fmla="*/ 512 w 512"/>
                <a:gd name="T37" fmla="*/ 256 h 512"/>
                <a:gd name="T38" fmla="*/ 416 w 512"/>
                <a:gd name="T39" fmla="*/ 202 h 512"/>
                <a:gd name="T40" fmla="*/ 409 w 512"/>
                <a:gd name="T41" fmla="*/ 192 h 512"/>
                <a:gd name="T42" fmla="*/ 259 w 512"/>
                <a:gd name="T43" fmla="*/ 139 h 512"/>
                <a:gd name="T44" fmla="*/ 252 w 512"/>
                <a:gd name="T45" fmla="*/ 139 h 512"/>
                <a:gd name="T46" fmla="*/ 103 w 512"/>
                <a:gd name="T47" fmla="*/ 192 h 512"/>
                <a:gd name="T48" fmla="*/ 96 w 512"/>
                <a:gd name="T49" fmla="*/ 202 h 512"/>
                <a:gd name="T50" fmla="*/ 102 w 512"/>
                <a:gd name="T51" fmla="*/ 212 h 512"/>
                <a:gd name="T52" fmla="*/ 159 w 512"/>
                <a:gd name="T53" fmla="*/ 236 h 512"/>
                <a:gd name="T54" fmla="*/ 149 w 512"/>
                <a:gd name="T55" fmla="*/ 308 h 512"/>
                <a:gd name="T56" fmla="*/ 150 w 512"/>
                <a:gd name="T57" fmla="*/ 314 h 512"/>
                <a:gd name="T58" fmla="*/ 256 w 512"/>
                <a:gd name="T59" fmla="*/ 362 h 512"/>
                <a:gd name="T60" fmla="*/ 360 w 512"/>
                <a:gd name="T61" fmla="*/ 316 h 512"/>
                <a:gd name="T62" fmla="*/ 362 w 512"/>
                <a:gd name="T63" fmla="*/ 308 h 512"/>
                <a:gd name="T64" fmla="*/ 353 w 512"/>
                <a:gd name="T65" fmla="*/ 236 h 512"/>
                <a:gd name="T66" fmla="*/ 384 w 512"/>
                <a:gd name="T67" fmla="*/ 223 h 512"/>
                <a:gd name="T68" fmla="*/ 384 w 512"/>
                <a:gd name="T69" fmla="*/ 352 h 512"/>
                <a:gd name="T70" fmla="*/ 394 w 512"/>
                <a:gd name="T71" fmla="*/ 362 h 512"/>
                <a:gd name="T72" fmla="*/ 405 w 512"/>
                <a:gd name="T73" fmla="*/ 352 h 512"/>
                <a:gd name="T74" fmla="*/ 405 w 512"/>
                <a:gd name="T75" fmla="*/ 214 h 512"/>
                <a:gd name="T76" fmla="*/ 409 w 512"/>
                <a:gd name="T77" fmla="*/ 212 h 512"/>
                <a:gd name="T78" fmla="*/ 416 w 512"/>
                <a:gd name="T79"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512">
                  <a:moveTo>
                    <a:pt x="332" y="245"/>
                  </a:moveTo>
                  <a:cubicBezTo>
                    <a:pt x="340" y="305"/>
                    <a:pt x="340" y="305"/>
                    <a:pt x="340" y="305"/>
                  </a:cubicBezTo>
                  <a:cubicBezTo>
                    <a:pt x="331" y="315"/>
                    <a:pt x="299" y="341"/>
                    <a:pt x="256" y="341"/>
                  </a:cubicBezTo>
                  <a:cubicBezTo>
                    <a:pt x="201" y="341"/>
                    <a:pt x="177" y="315"/>
                    <a:pt x="171" y="306"/>
                  </a:cubicBezTo>
                  <a:cubicBezTo>
                    <a:pt x="179" y="245"/>
                    <a:pt x="179" y="245"/>
                    <a:pt x="179" y="245"/>
                  </a:cubicBezTo>
                  <a:cubicBezTo>
                    <a:pt x="251" y="276"/>
                    <a:pt x="251" y="276"/>
                    <a:pt x="251" y="276"/>
                  </a:cubicBezTo>
                  <a:cubicBezTo>
                    <a:pt x="253" y="277"/>
                    <a:pt x="254" y="277"/>
                    <a:pt x="256" y="277"/>
                  </a:cubicBezTo>
                  <a:cubicBezTo>
                    <a:pt x="257" y="277"/>
                    <a:pt x="259" y="277"/>
                    <a:pt x="260" y="276"/>
                  </a:cubicBezTo>
                  <a:lnTo>
                    <a:pt x="332" y="245"/>
                  </a:lnTo>
                  <a:close/>
                  <a:moveTo>
                    <a:pt x="136" y="203"/>
                  </a:moveTo>
                  <a:cubicBezTo>
                    <a:pt x="256" y="255"/>
                    <a:pt x="256" y="255"/>
                    <a:pt x="256" y="255"/>
                  </a:cubicBezTo>
                  <a:cubicBezTo>
                    <a:pt x="376" y="203"/>
                    <a:pt x="376" y="203"/>
                    <a:pt x="376" y="203"/>
                  </a:cubicBezTo>
                  <a:cubicBezTo>
                    <a:pt x="256" y="160"/>
                    <a:pt x="256" y="160"/>
                    <a:pt x="256" y="160"/>
                  </a:cubicBezTo>
                  <a:lnTo>
                    <a:pt x="136" y="20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02"/>
                  </a:moveTo>
                  <a:cubicBezTo>
                    <a:pt x="416" y="198"/>
                    <a:pt x="413" y="194"/>
                    <a:pt x="409" y="192"/>
                  </a:cubicBezTo>
                  <a:cubicBezTo>
                    <a:pt x="259" y="139"/>
                    <a:pt x="259" y="139"/>
                    <a:pt x="259" y="139"/>
                  </a:cubicBezTo>
                  <a:cubicBezTo>
                    <a:pt x="257" y="138"/>
                    <a:pt x="254" y="138"/>
                    <a:pt x="252" y="139"/>
                  </a:cubicBezTo>
                  <a:cubicBezTo>
                    <a:pt x="103" y="192"/>
                    <a:pt x="103" y="192"/>
                    <a:pt x="103" y="192"/>
                  </a:cubicBezTo>
                  <a:cubicBezTo>
                    <a:pt x="99" y="194"/>
                    <a:pt x="96" y="198"/>
                    <a:pt x="96" y="202"/>
                  </a:cubicBezTo>
                  <a:cubicBezTo>
                    <a:pt x="96" y="206"/>
                    <a:pt x="98" y="210"/>
                    <a:pt x="102" y="212"/>
                  </a:cubicBezTo>
                  <a:cubicBezTo>
                    <a:pt x="159" y="236"/>
                    <a:pt x="159" y="236"/>
                    <a:pt x="159" y="236"/>
                  </a:cubicBezTo>
                  <a:cubicBezTo>
                    <a:pt x="149" y="308"/>
                    <a:pt x="149" y="308"/>
                    <a:pt x="149" y="308"/>
                  </a:cubicBezTo>
                  <a:cubicBezTo>
                    <a:pt x="149" y="310"/>
                    <a:pt x="149" y="312"/>
                    <a:pt x="150" y="314"/>
                  </a:cubicBezTo>
                  <a:cubicBezTo>
                    <a:pt x="152" y="316"/>
                    <a:pt x="179" y="362"/>
                    <a:pt x="256" y="362"/>
                  </a:cubicBezTo>
                  <a:cubicBezTo>
                    <a:pt x="319" y="362"/>
                    <a:pt x="358" y="318"/>
                    <a:pt x="360" y="316"/>
                  </a:cubicBezTo>
                  <a:cubicBezTo>
                    <a:pt x="362" y="314"/>
                    <a:pt x="363" y="311"/>
                    <a:pt x="362" y="308"/>
                  </a:cubicBezTo>
                  <a:cubicBezTo>
                    <a:pt x="353" y="236"/>
                    <a:pt x="353" y="236"/>
                    <a:pt x="353" y="236"/>
                  </a:cubicBezTo>
                  <a:cubicBezTo>
                    <a:pt x="384" y="223"/>
                    <a:pt x="384" y="223"/>
                    <a:pt x="384" y="223"/>
                  </a:cubicBezTo>
                  <a:cubicBezTo>
                    <a:pt x="384" y="352"/>
                    <a:pt x="384" y="352"/>
                    <a:pt x="384" y="352"/>
                  </a:cubicBezTo>
                  <a:cubicBezTo>
                    <a:pt x="384" y="358"/>
                    <a:pt x="388" y="362"/>
                    <a:pt x="394" y="362"/>
                  </a:cubicBezTo>
                  <a:cubicBezTo>
                    <a:pt x="400" y="362"/>
                    <a:pt x="405" y="358"/>
                    <a:pt x="405" y="352"/>
                  </a:cubicBezTo>
                  <a:cubicBezTo>
                    <a:pt x="405" y="214"/>
                    <a:pt x="405" y="214"/>
                    <a:pt x="405" y="214"/>
                  </a:cubicBezTo>
                  <a:cubicBezTo>
                    <a:pt x="409" y="212"/>
                    <a:pt x="409" y="212"/>
                    <a:pt x="409" y="212"/>
                  </a:cubicBezTo>
                  <a:cubicBezTo>
                    <a:pt x="413" y="210"/>
                    <a:pt x="416" y="206"/>
                    <a:pt x="416" y="20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6" name="Freeform 929">
              <a:extLst>
                <a:ext uri="{FF2B5EF4-FFF2-40B4-BE49-F238E27FC236}">
                  <a16:creationId xmlns:a16="http://schemas.microsoft.com/office/drawing/2014/main" id="{F3E4111E-1933-4D27-BB02-B8C7F81A620D}"/>
                </a:ext>
              </a:extLst>
            </p:cNvPr>
            <p:cNvSpPr>
              <a:spLocks noEditPoints="1"/>
            </p:cNvSpPr>
            <p:nvPr/>
          </p:nvSpPr>
          <p:spPr bwMode="auto">
            <a:xfrm>
              <a:off x="5420" y="3572"/>
              <a:ext cx="340" cy="340"/>
            </a:xfrm>
            <a:custGeom>
              <a:avLst/>
              <a:gdLst>
                <a:gd name="T0" fmla="*/ 332 w 512"/>
                <a:gd name="T1" fmla="*/ 245 h 512"/>
                <a:gd name="T2" fmla="*/ 340 w 512"/>
                <a:gd name="T3" fmla="*/ 305 h 512"/>
                <a:gd name="T4" fmla="*/ 256 w 512"/>
                <a:gd name="T5" fmla="*/ 341 h 512"/>
                <a:gd name="T6" fmla="*/ 171 w 512"/>
                <a:gd name="T7" fmla="*/ 306 h 512"/>
                <a:gd name="T8" fmla="*/ 179 w 512"/>
                <a:gd name="T9" fmla="*/ 245 h 512"/>
                <a:gd name="T10" fmla="*/ 251 w 512"/>
                <a:gd name="T11" fmla="*/ 276 h 512"/>
                <a:gd name="T12" fmla="*/ 256 w 512"/>
                <a:gd name="T13" fmla="*/ 277 h 512"/>
                <a:gd name="T14" fmla="*/ 260 w 512"/>
                <a:gd name="T15" fmla="*/ 276 h 512"/>
                <a:gd name="T16" fmla="*/ 332 w 512"/>
                <a:gd name="T17" fmla="*/ 245 h 512"/>
                <a:gd name="T18" fmla="*/ 136 w 512"/>
                <a:gd name="T19" fmla="*/ 203 h 512"/>
                <a:gd name="T20" fmla="*/ 256 w 512"/>
                <a:gd name="T21" fmla="*/ 255 h 512"/>
                <a:gd name="T22" fmla="*/ 376 w 512"/>
                <a:gd name="T23" fmla="*/ 203 h 512"/>
                <a:gd name="T24" fmla="*/ 256 w 512"/>
                <a:gd name="T25" fmla="*/ 160 h 512"/>
                <a:gd name="T26" fmla="*/ 136 w 512"/>
                <a:gd name="T27" fmla="*/ 203 h 512"/>
                <a:gd name="T28" fmla="*/ 512 w 512"/>
                <a:gd name="T29" fmla="*/ 256 h 512"/>
                <a:gd name="T30" fmla="*/ 256 w 512"/>
                <a:gd name="T31" fmla="*/ 512 h 512"/>
                <a:gd name="T32" fmla="*/ 0 w 512"/>
                <a:gd name="T33" fmla="*/ 256 h 512"/>
                <a:gd name="T34" fmla="*/ 256 w 512"/>
                <a:gd name="T35" fmla="*/ 0 h 512"/>
                <a:gd name="T36" fmla="*/ 512 w 512"/>
                <a:gd name="T37" fmla="*/ 256 h 512"/>
                <a:gd name="T38" fmla="*/ 416 w 512"/>
                <a:gd name="T39" fmla="*/ 202 h 512"/>
                <a:gd name="T40" fmla="*/ 409 w 512"/>
                <a:gd name="T41" fmla="*/ 192 h 512"/>
                <a:gd name="T42" fmla="*/ 259 w 512"/>
                <a:gd name="T43" fmla="*/ 139 h 512"/>
                <a:gd name="T44" fmla="*/ 252 w 512"/>
                <a:gd name="T45" fmla="*/ 139 h 512"/>
                <a:gd name="T46" fmla="*/ 103 w 512"/>
                <a:gd name="T47" fmla="*/ 192 h 512"/>
                <a:gd name="T48" fmla="*/ 96 w 512"/>
                <a:gd name="T49" fmla="*/ 202 h 512"/>
                <a:gd name="T50" fmla="*/ 102 w 512"/>
                <a:gd name="T51" fmla="*/ 212 h 512"/>
                <a:gd name="T52" fmla="*/ 159 w 512"/>
                <a:gd name="T53" fmla="*/ 236 h 512"/>
                <a:gd name="T54" fmla="*/ 149 w 512"/>
                <a:gd name="T55" fmla="*/ 308 h 512"/>
                <a:gd name="T56" fmla="*/ 150 w 512"/>
                <a:gd name="T57" fmla="*/ 314 h 512"/>
                <a:gd name="T58" fmla="*/ 256 w 512"/>
                <a:gd name="T59" fmla="*/ 362 h 512"/>
                <a:gd name="T60" fmla="*/ 360 w 512"/>
                <a:gd name="T61" fmla="*/ 316 h 512"/>
                <a:gd name="T62" fmla="*/ 362 w 512"/>
                <a:gd name="T63" fmla="*/ 308 h 512"/>
                <a:gd name="T64" fmla="*/ 353 w 512"/>
                <a:gd name="T65" fmla="*/ 236 h 512"/>
                <a:gd name="T66" fmla="*/ 384 w 512"/>
                <a:gd name="T67" fmla="*/ 223 h 512"/>
                <a:gd name="T68" fmla="*/ 384 w 512"/>
                <a:gd name="T69" fmla="*/ 352 h 512"/>
                <a:gd name="T70" fmla="*/ 394 w 512"/>
                <a:gd name="T71" fmla="*/ 362 h 512"/>
                <a:gd name="T72" fmla="*/ 405 w 512"/>
                <a:gd name="T73" fmla="*/ 352 h 512"/>
                <a:gd name="T74" fmla="*/ 405 w 512"/>
                <a:gd name="T75" fmla="*/ 214 h 512"/>
                <a:gd name="T76" fmla="*/ 409 w 512"/>
                <a:gd name="T77" fmla="*/ 212 h 512"/>
                <a:gd name="T78" fmla="*/ 416 w 512"/>
                <a:gd name="T79"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512">
                  <a:moveTo>
                    <a:pt x="332" y="245"/>
                  </a:moveTo>
                  <a:cubicBezTo>
                    <a:pt x="340" y="305"/>
                    <a:pt x="340" y="305"/>
                    <a:pt x="340" y="305"/>
                  </a:cubicBezTo>
                  <a:cubicBezTo>
                    <a:pt x="331" y="315"/>
                    <a:pt x="299" y="341"/>
                    <a:pt x="256" y="341"/>
                  </a:cubicBezTo>
                  <a:cubicBezTo>
                    <a:pt x="201" y="341"/>
                    <a:pt x="177" y="315"/>
                    <a:pt x="171" y="306"/>
                  </a:cubicBezTo>
                  <a:cubicBezTo>
                    <a:pt x="179" y="245"/>
                    <a:pt x="179" y="245"/>
                    <a:pt x="179" y="245"/>
                  </a:cubicBezTo>
                  <a:cubicBezTo>
                    <a:pt x="251" y="276"/>
                    <a:pt x="251" y="276"/>
                    <a:pt x="251" y="276"/>
                  </a:cubicBezTo>
                  <a:cubicBezTo>
                    <a:pt x="253" y="277"/>
                    <a:pt x="254" y="277"/>
                    <a:pt x="256" y="277"/>
                  </a:cubicBezTo>
                  <a:cubicBezTo>
                    <a:pt x="257" y="277"/>
                    <a:pt x="259" y="277"/>
                    <a:pt x="260" y="276"/>
                  </a:cubicBezTo>
                  <a:lnTo>
                    <a:pt x="332" y="245"/>
                  </a:lnTo>
                  <a:close/>
                  <a:moveTo>
                    <a:pt x="136" y="203"/>
                  </a:moveTo>
                  <a:cubicBezTo>
                    <a:pt x="256" y="255"/>
                    <a:pt x="256" y="255"/>
                    <a:pt x="256" y="255"/>
                  </a:cubicBezTo>
                  <a:cubicBezTo>
                    <a:pt x="376" y="203"/>
                    <a:pt x="376" y="203"/>
                    <a:pt x="376" y="203"/>
                  </a:cubicBezTo>
                  <a:cubicBezTo>
                    <a:pt x="256" y="160"/>
                    <a:pt x="256" y="160"/>
                    <a:pt x="256" y="160"/>
                  </a:cubicBezTo>
                  <a:lnTo>
                    <a:pt x="136" y="20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02"/>
                  </a:moveTo>
                  <a:cubicBezTo>
                    <a:pt x="416" y="198"/>
                    <a:pt x="413" y="194"/>
                    <a:pt x="409" y="192"/>
                  </a:cubicBezTo>
                  <a:cubicBezTo>
                    <a:pt x="259" y="139"/>
                    <a:pt x="259" y="139"/>
                    <a:pt x="259" y="139"/>
                  </a:cubicBezTo>
                  <a:cubicBezTo>
                    <a:pt x="257" y="138"/>
                    <a:pt x="254" y="138"/>
                    <a:pt x="252" y="139"/>
                  </a:cubicBezTo>
                  <a:cubicBezTo>
                    <a:pt x="103" y="192"/>
                    <a:pt x="103" y="192"/>
                    <a:pt x="103" y="192"/>
                  </a:cubicBezTo>
                  <a:cubicBezTo>
                    <a:pt x="99" y="194"/>
                    <a:pt x="96" y="198"/>
                    <a:pt x="96" y="202"/>
                  </a:cubicBezTo>
                  <a:cubicBezTo>
                    <a:pt x="96" y="206"/>
                    <a:pt x="98" y="210"/>
                    <a:pt x="102" y="212"/>
                  </a:cubicBezTo>
                  <a:cubicBezTo>
                    <a:pt x="159" y="236"/>
                    <a:pt x="159" y="236"/>
                    <a:pt x="159" y="236"/>
                  </a:cubicBezTo>
                  <a:cubicBezTo>
                    <a:pt x="149" y="308"/>
                    <a:pt x="149" y="308"/>
                    <a:pt x="149" y="308"/>
                  </a:cubicBezTo>
                  <a:cubicBezTo>
                    <a:pt x="149" y="310"/>
                    <a:pt x="149" y="312"/>
                    <a:pt x="150" y="314"/>
                  </a:cubicBezTo>
                  <a:cubicBezTo>
                    <a:pt x="152" y="316"/>
                    <a:pt x="179" y="362"/>
                    <a:pt x="256" y="362"/>
                  </a:cubicBezTo>
                  <a:cubicBezTo>
                    <a:pt x="319" y="362"/>
                    <a:pt x="358" y="318"/>
                    <a:pt x="360" y="316"/>
                  </a:cubicBezTo>
                  <a:cubicBezTo>
                    <a:pt x="362" y="314"/>
                    <a:pt x="363" y="311"/>
                    <a:pt x="362" y="308"/>
                  </a:cubicBezTo>
                  <a:cubicBezTo>
                    <a:pt x="353" y="236"/>
                    <a:pt x="353" y="236"/>
                    <a:pt x="353" y="236"/>
                  </a:cubicBezTo>
                  <a:cubicBezTo>
                    <a:pt x="384" y="223"/>
                    <a:pt x="384" y="223"/>
                    <a:pt x="384" y="223"/>
                  </a:cubicBezTo>
                  <a:cubicBezTo>
                    <a:pt x="384" y="352"/>
                    <a:pt x="384" y="352"/>
                    <a:pt x="384" y="352"/>
                  </a:cubicBezTo>
                  <a:cubicBezTo>
                    <a:pt x="384" y="358"/>
                    <a:pt x="388" y="362"/>
                    <a:pt x="394" y="362"/>
                  </a:cubicBezTo>
                  <a:cubicBezTo>
                    <a:pt x="400" y="362"/>
                    <a:pt x="405" y="358"/>
                    <a:pt x="405" y="352"/>
                  </a:cubicBezTo>
                  <a:cubicBezTo>
                    <a:pt x="405" y="214"/>
                    <a:pt x="405" y="214"/>
                    <a:pt x="405" y="214"/>
                  </a:cubicBezTo>
                  <a:cubicBezTo>
                    <a:pt x="409" y="212"/>
                    <a:pt x="409" y="212"/>
                    <a:pt x="409" y="212"/>
                  </a:cubicBezTo>
                  <a:cubicBezTo>
                    <a:pt x="413" y="210"/>
                    <a:pt x="416" y="206"/>
                    <a:pt x="416" y="20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47" name="Freeform 270">
            <a:extLst>
              <a:ext uri="{FF2B5EF4-FFF2-40B4-BE49-F238E27FC236}">
                <a16:creationId xmlns:a16="http://schemas.microsoft.com/office/drawing/2014/main" id="{BC125B09-A791-466F-9D32-FDEF609D44F2}"/>
              </a:ext>
            </a:extLst>
          </p:cNvPr>
          <p:cNvSpPr>
            <a:spLocks noChangeAspect="1" noEditPoints="1"/>
          </p:cNvSpPr>
          <p:nvPr/>
        </p:nvSpPr>
        <p:spPr bwMode="auto">
          <a:xfrm>
            <a:off x="5640183" y="5333560"/>
            <a:ext cx="700705" cy="698651"/>
          </a:xfrm>
          <a:custGeom>
            <a:avLst/>
            <a:gdLst>
              <a:gd name="T0" fmla="*/ 266 w 512"/>
              <a:gd name="T1" fmla="*/ 288 h 512"/>
              <a:gd name="T2" fmla="*/ 245 w 512"/>
              <a:gd name="T3" fmla="*/ 288 h 512"/>
              <a:gd name="T4" fmla="*/ 192 w 512"/>
              <a:gd name="T5" fmla="*/ 288 h 512"/>
              <a:gd name="T6" fmla="*/ 320 w 512"/>
              <a:gd name="T7" fmla="*/ 288 h 512"/>
              <a:gd name="T8" fmla="*/ 362 w 512"/>
              <a:gd name="T9" fmla="*/ 294 h 512"/>
              <a:gd name="T10" fmla="*/ 341 w 512"/>
              <a:gd name="T11" fmla="*/ 192 h 512"/>
              <a:gd name="T12" fmla="*/ 330 w 512"/>
              <a:gd name="T13" fmla="*/ 261 h 512"/>
              <a:gd name="T14" fmla="*/ 320 w 512"/>
              <a:gd name="T15" fmla="*/ 157 h 512"/>
              <a:gd name="T16" fmla="*/ 288 w 512"/>
              <a:gd name="T17" fmla="*/ 142 h 512"/>
              <a:gd name="T18" fmla="*/ 295 w 512"/>
              <a:gd name="T19" fmla="*/ 197 h 512"/>
              <a:gd name="T20" fmla="*/ 277 w 512"/>
              <a:gd name="T21" fmla="*/ 208 h 512"/>
              <a:gd name="T22" fmla="*/ 266 w 512"/>
              <a:gd name="T23" fmla="*/ 189 h 512"/>
              <a:gd name="T24" fmla="*/ 266 w 512"/>
              <a:gd name="T25" fmla="*/ 128 h 512"/>
              <a:gd name="T26" fmla="*/ 245 w 512"/>
              <a:gd name="T27" fmla="*/ 128 h 512"/>
              <a:gd name="T28" fmla="*/ 245 w 512"/>
              <a:gd name="T29" fmla="*/ 189 h 512"/>
              <a:gd name="T30" fmla="*/ 235 w 512"/>
              <a:gd name="T31" fmla="*/ 208 h 512"/>
              <a:gd name="T32" fmla="*/ 217 w 512"/>
              <a:gd name="T33" fmla="*/ 197 h 512"/>
              <a:gd name="T34" fmla="*/ 224 w 512"/>
              <a:gd name="T35" fmla="*/ 142 h 512"/>
              <a:gd name="T36" fmla="*/ 192 w 512"/>
              <a:gd name="T37" fmla="*/ 157 h 512"/>
              <a:gd name="T38" fmla="*/ 181 w 512"/>
              <a:gd name="T39" fmla="*/ 261 h 512"/>
              <a:gd name="T40" fmla="*/ 170 w 512"/>
              <a:gd name="T41" fmla="*/ 192 h 512"/>
              <a:gd name="T42" fmla="*/ 149 w 512"/>
              <a:gd name="T43" fmla="*/ 294 h 512"/>
              <a:gd name="T44" fmla="*/ 192 w 512"/>
              <a:gd name="T45" fmla="*/ 288 h 512"/>
              <a:gd name="T46" fmla="*/ 256 w 512"/>
              <a:gd name="T47" fmla="*/ 512 h 512"/>
              <a:gd name="T48" fmla="*/ 256 w 512"/>
              <a:gd name="T49" fmla="*/ 0 h 512"/>
              <a:gd name="T50" fmla="*/ 414 w 512"/>
              <a:gd name="T51" fmla="*/ 289 h 512"/>
              <a:gd name="T52" fmla="*/ 384 w 512"/>
              <a:gd name="T53" fmla="*/ 273 h 512"/>
              <a:gd name="T54" fmla="*/ 341 w 512"/>
              <a:gd name="T55" fmla="*/ 156 h 512"/>
              <a:gd name="T56" fmla="*/ 335 w 512"/>
              <a:gd name="T57" fmla="*/ 141 h 512"/>
              <a:gd name="T58" fmla="*/ 288 w 512"/>
              <a:gd name="T59" fmla="*/ 120 h 512"/>
              <a:gd name="T60" fmla="*/ 277 w 512"/>
              <a:gd name="T61" fmla="*/ 106 h 512"/>
              <a:gd name="T62" fmla="*/ 224 w 512"/>
              <a:gd name="T63" fmla="*/ 117 h 512"/>
              <a:gd name="T64" fmla="*/ 187 w 512"/>
              <a:gd name="T65" fmla="*/ 135 h 512"/>
              <a:gd name="T66" fmla="*/ 170 w 512"/>
              <a:gd name="T67" fmla="*/ 150 h 512"/>
              <a:gd name="T68" fmla="*/ 128 w 512"/>
              <a:gd name="T69" fmla="*/ 260 h 512"/>
              <a:gd name="T70" fmla="*/ 104 w 512"/>
              <a:gd name="T71" fmla="*/ 281 h 512"/>
              <a:gd name="T72" fmla="*/ 96 w 512"/>
              <a:gd name="T73" fmla="*/ 324 h 512"/>
              <a:gd name="T74" fmla="*/ 119 w 512"/>
              <a:gd name="T75" fmla="*/ 370 h 512"/>
              <a:gd name="T76" fmla="*/ 393 w 512"/>
              <a:gd name="T77" fmla="*/ 370 h 512"/>
              <a:gd name="T78" fmla="*/ 415 w 512"/>
              <a:gd name="T79" fmla="*/ 324 h 512"/>
              <a:gd name="T80" fmla="*/ 256 w 512"/>
              <a:gd name="T81" fmla="*/ 245 h 512"/>
              <a:gd name="T82" fmla="*/ 256 w 512"/>
              <a:gd name="T83" fmla="*/ 330 h 512"/>
              <a:gd name="T84" fmla="*/ 256 w 512"/>
              <a:gd name="T85" fmla="*/ 245 h 512"/>
              <a:gd name="T86" fmla="*/ 224 w 512"/>
              <a:gd name="T87" fmla="*/ 288 h 512"/>
              <a:gd name="T88" fmla="*/ 288 w 512"/>
              <a:gd name="T89" fmla="*/ 288 h 512"/>
              <a:gd name="T90" fmla="*/ 384 w 512"/>
              <a:gd name="T91" fmla="*/ 296 h 512"/>
              <a:gd name="T92" fmla="*/ 382 w 512"/>
              <a:gd name="T93" fmla="*/ 304 h 512"/>
              <a:gd name="T94" fmla="*/ 303 w 512"/>
              <a:gd name="T95" fmla="*/ 330 h 512"/>
              <a:gd name="T96" fmla="*/ 256 w 512"/>
              <a:gd name="T97" fmla="*/ 352 h 512"/>
              <a:gd name="T98" fmla="*/ 208 w 512"/>
              <a:gd name="T99" fmla="*/ 330 h 512"/>
              <a:gd name="T100" fmla="*/ 130 w 512"/>
              <a:gd name="T101" fmla="*/ 304 h 512"/>
              <a:gd name="T102" fmla="*/ 128 w 512"/>
              <a:gd name="T103" fmla="*/ 296 h 512"/>
              <a:gd name="T104" fmla="*/ 117 w 512"/>
              <a:gd name="T105" fmla="*/ 319 h 512"/>
              <a:gd name="T106" fmla="*/ 256 w 512"/>
              <a:gd name="T107" fmla="*/ 362 h 512"/>
              <a:gd name="T108" fmla="*/ 394 w 512"/>
              <a:gd name="T109" fmla="*/ 319 h 512"/>
              <a:gd name="T110" fmla="*/ 384 w 512"/>
              <a:gd name="T111" fmla="*/ 29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2" h="512">
                <a:moveTo>
                  <a:pt x="256" y="277"/>
                </a:moveTo>
                <a:cubicBezTo>
                  <a:pt x="262" y="277"/>
                  <a:pt x="266" y="282"/>
                  <a:pt x="266" y="288"/>
                </a:cubicBezTo>
                <a:cubicBezTo>
                  <a:pt x="266" y="294"/>
                  <a:pt x="262" y="298"/>
                  <a:pt x="256" y="298"/>
                </a:cubicBezTo>
                <a:cubicBezTo>
                  <a:pt x="250" y="298"/>
                  <a:pt x="245" y="294"/>
                  <a:pt x="245" y="288"/>
                </a:cubicBezTo>
                <a:cubicBezTo>
                  <a:pt x="245" y="282"/>
                  <a:pt x="250" y="277"/>
                  <a:pt x="256" y="277"/>
                </a:cubicBezTo>
                <a:close/>
                <a:moveTo>
                  <a:pt x="192" y="288"/>
                </a:moveTo>
                <a:cubicBezTo>
                  <a:pt x="192" y="252"/>
                  <a:pt x="220" y="224"/>
                  <a:pt x="256" y="224"/>
                </a:cubicBezTo>
                <a:cubicBezTo>
                  <a:pt x="291" y="224"/>
                  <a:pt x="320" y="252"/>
                  <a:pt x="320" y="288"/>
                </a:cubicBezTo>
                <a:cubicBezTo>
                  <a:pt x="320" y="295"/>
                  <a:pt x="319" y="301"/>
                  <a:pt x="317" y="307"/>
                </a:cubicBezTo>
                <a:cubicBezTo>
                  <a:pt x="345" y="303"/>
                  <a:pt x="358" y="297"/>
                  <a:pt x="362" y="294"/>
                </a:cubicBezTo>
                <a:cubicBezTo>
                  <a:pt x="362" y="260"/>
                  <a:pt x="362" y="260"/>
                  <a:pt x="362" y="260"/>
                </a:cubicBezTo>
                <a:cubicBezTo>
                  <a:pt x="362" y="232"/>
                  <a:pt x="352" y="209"/>
                  <a:pt x="341" y="192"/>
                </a:cubicBezTo>
                <a:cubicBezTo>
                  <a:pt x="341" y="250"/>
                  <a:pt x="341" y="250"/>
                  <a:pt x="341" y="250"/>
                </a:cubicBezTo>
                <a:cubicBezTo>
                  <a:pt x="341" y="256"/>
                  <a:pt x="336" y="261"/>
                  <a:pt x="330" y="261"/>
                </a:cubicBezTo>
                <a:cubicBezTo>
                  <a:pt x="324" y="261"/>
                  <a:pt x="320" y="256"/>
                  <a:pt x="320" y="250"/>
                </a:cubicBezTo>
                <a:cubicBezTo>
                  <a:pt x="320" y="157"/>
                  <a:pt x="320" y="157"/>
                  <a:pt x="320" y="157"/>
                </a:cubicBezTo>
                <a:cubicBezTo>
                  <a:pt x="318" y="156"/>
                  <a:pt x="316" y="155"/>
                  <a:pt x="314" y="154"/>
                </a:cubicBezTo>
                <a:cubicBezTo>
                  <a:pt x="304" y="149"/>
                  <a:pt x="297" y="145"/>
                  <a:pt x="288" y="142"/>
                </a:cubicBezTo>
                <a:cubicBezTo>
                  <a:pt x="288" y="186"/>
                  <a:pt x="288" y="186"/>
                  <a:pt x="288" y="186"/>
                </a:cubicBezTo>
                <a:cubicBezTo>
                  <a:pt x="295" y="197"/>
                  <a:pt x="295" y="197"/>
                  <a:pt x="295" y="197"/>
                </a:cubicBezTo>
                <a:cubicBezTo>
                  <a:pt x="298" y="202"/>
                  <a:pt x="296" y="208"/>
                  <a:pt x="291" y="211"/>
                </a:cubicBezTo>
                <a:cubicBezTo>
                  <a:pt x="286" y="214"/>
                  <a:pt x="280" y="213"/>
                  <a:pt x="277" y="208"/>
                </a:cubicBezTo>
                <a:cubicBezTo>
                  <a:pt x="268" y="194"/>
                  <a:pt x="268" y="194"/>
                  <a:pt x="268" y="194"/>
                </a:cubicBezTo>
                <a:cubicBezTo>
                  <a:pt x="267" y="193"/>
                  <a:pt x="266" y="191"/>
                  <a:pt x="266" y="189"/>
                </a:cubicBezTo>
                <a:cubicBezTo>
                  <a:pt x="266" y="129"/>
                  <a:pt x="266" y="129"/>
                  <a:pt x="266" y="129"/>
                </a:cubicBezTo>
                <a:cubicBezTo>
                  <a:pt x="266" y="128"/>
                  <a:pt x="266" y="128"/>
                  <a:pt x="266" y="128"/>
                </a:cubicBezTo>
                <a:cubicBezTo>
                  <a:pt x="245" y="128"/>
                  <a:pt x="245" y="128"/>
                  <a:pt x="245" y="128"/>
                </a:cubicBezTo>
                <a:cubicBezTo>
                  <a:pt x="245" y="128"/>
                  <a:pt x="245" y="128"/>
                  <a:pt x="245" y="128"/>
                </a:cubicBezTo>
                <a:cubicBezTo>
                  <a:pt x="245" y="129"/>
                  <a:pt x="245" y="129"/>
                  <a:pt x="245" y="129"/>
                </a:cubicBezTo>
                <a:cubicBezTo>
                  <a:pt x="245" y="189"/>
                  <a:pt x="245" y="189"/>
                  <a:pt x="245" y="189"/>
                </a:cubicBezTo>
                <a:cubicBezTo>
                  <a:pt x="245" y="191"/>
                  <a:pt x="244" y="193"/>
                  <a:pt x="243" y="194"/>
                </a:cubicBezTo>
                <a:cubicBezTo>
                  <a:pt x="235" y="208"/>
                  <a:pt x="235" y="208"/>
                  <a:pt x="235" y="208"/>
                </a:cubicBezTo>
                <a:cubicBezTo>
                  <a:pt x="232" y="213"/>
                  <a:pt x="225" y="214"/>
                  <a:pt x="220" y="211"/>
                </a:cubicBezTo>
                <a:cubicBezTo>
                  <a:pt x="215" y="208"/>
                  <a:pt x="214" y="202"/>
                  <a:pt x="217" y="197"/>
                </a:cubicBezTo>
                <a:cubicBezTo>
                  <a:pt x="224" y="186"/>
                  <a:pt x="224" y="186"/>
                  <a:pt x="224" y="186"/>
                </a:cubicBezTo>
                <a:cubicBezTo>
                  <a:pt x="224" y="142"/>
                  <a:pt x="224" y="142"/>
                  <a:pt x="224" y="142"/>
                </a:cubicBezTo>
                <a:cubicBezTo>
                  <a:pt x="215" y="145"/>
                  <a:pt x="207" y="149"/>
                  <a:pt x="197" y="154"/>
                </a:cubicBezTo>
                <a:cubicBezTo>
                  <a:pt x="195" y="155"/>
                  <a:pt x="194" y="156"/>
                  <a:pt x="192" y="157"/>
                </a:cubicBezTo>
                <a:cubicBezTo>
                  <a:pt x="192" y="250"/>
                  <a:pt x="192" y="250"/>
                  <a:pt x="192" y="250"/>
                </a:cubicBezTo>
                <a:cubicBezTo>
                  <a:pt x="192" y="256"/>
                  <a:pt x="187" y="261"/>
                  <a:pt x="181" y="261"/>
                </a:cubicBezTo>
                <a:cubicBezTo>
                  <a:pt x="175" y="261"/>
                  <a:pt x="170" y="256"/>
                  <a:pt x="170" y="250"/>
                </a:cubicBezTo>
                <a:cubicBezTo>
                  <a:pt x="170" y="192"/>
                  <a:pt x="170" y="192"/>
                  <a:pt x="170" y="192"/>
                </a:cubicBezTo>
                <a:cubicBezTo>
                  <a:pt x="160" y="209"/>
                  <a:pt x="149" y="232"/>
                  <a:pt x="149" y="260"/>
                </a:cubicBezTo>
                <a:cubicBezTo>
                  <a:pt x="149" y="294"/>
                  <a:pt x="149" y="294"/>
                  <a:pt x="149" y="294"/>
                </a:cubicBezTo>
                <a:cubicBezTo>
                  <a:pt x="153" y="297"/>
                  <a:pt x="166" y="303"/>
                  <a:pt x="195" y="307"/>
                </a:cubicBezTo>
                <a:cubicBezTo>
                  <a:pt x="193" y="301"/>
                  <a:pt x="192" y="295"/>
                  <a:pt x="192" y="28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4" y="289"/>
                </a:moveTo>
                <a:cubicBezTo>
                  <a:pt x="414" y="285"/>
                  <a:pt x="411" y="282"/>
                  <a:pt x="407" y="281"/>
                </a:cubicBezTo>
                <a:cubicBezTo>
                  <a:pt x="384" y="273"/>
                  <a:pt x="384" y="273"/>
                  <a:pt x="384" y="273"/>
                </a:cubicBezTo>
                <a:cubicBezTo>
                  <a:pt x="384" y="260"/>
                  <a:pt x="384" y="260"/>
                  <a:pt x="384" y="260"/>
                </a:cubicBezTo>
                <a:cubicBezTo>
                  <a:pt x="384" y="225"/>
                  <a:pt x="368" y="186"/>
                  <a:pt x="341" y="156"/>
                </a:cubicBezTo>
                <a:cubicBezTo>
                  <a:pt x="341" y="150"/>
                  <a:pt x="341" y="150"/>
                  <a:pt x="341" y="150"/>
                </a:cubicBezTo>
                <a:cubicBezTo>
                  <a:pt x="341" y="146"/>
                  <a:pt x="339" y="143"/>
                  <a:pt x="335" y="141"/>
                </a:cubicBezTo>
                <a:cubicBezTo>
                  <a:pt x="331" y="139"/>
                  <a:pt x="327" y="137"/>
                  <a:pt x="324" y="135"/>
                </a:cubicBezTo>
                <a:cubicBezTo>
                  <a:pt x="312" y="129"/>
                  <a:pt x="302" y="123"/>
                  <a:pt x="288" y="120"/>
                </a:cubicBezTo>
                <a:cubicBezTo>
                  <a:pt x="288" y="117"/>
                  <a:pt x="288" y="117"/>
                  <a:pt x="288" y="117"/>
                </a:cubicBezTo>
                <a:cubicBezTo>
                  <a:pt x="288" y="111"/>
                  <a:pt x="283" y="106"/>
                  <a:pt x="277" y="106"/>
                </a:cubicBezTo>
                <a:cubicBezTo>
                  <a:pt x="234" y="106"/>
                  <a:pt x="234" y="106"/>
                  <a:pt x="234" y="106"/>
                </a:cubicBezTo>
                <a:cubicBezTo>
                  <a:pt x="228" y="106"/>
                  <a:pt x="224" y="111"/>
                  <a:pt x="224" y="117"/>
                </a:cubicBezTo>
                <a:cubicBezTo>
                  <a:pt x="224" y="120"/>
                  <a:pt x="224" y="120"/>
                  <a:pt x="224" y="120"/>
                </a:cubicBezTo>
                <a:cubicBezTo>
                  <a:pt x="210" y="123"/>
                  <a:pt x="200" y="129"/>
                  <a:pt x="187" y="135"/>
                </a:cubicBezTo>
                <a:cubicBezTo>
                  <a:pt x="184" y="137"/>
                  <a:pt x="180" y="139"/>
                  <a:pt x="176" y="141"/>
                </a:cubicBezTo>
                <a:cubicBezTo>
                  <a:pt x="173" y="143"/>
                  <a:pt x="170" y="146"/>
                  <a:pt x="170" y="150"/>
                </a:cubicBezTo>
                <a:cubicBezTo>
                  <a:pt x="170" y="156"/>
                  <a:pt x="170" y="156"/>
                  <a:pt x="170" y="156"/>
                </a:cubicBezTo>
                <a:cubicBezTo>
                  <a:pt x="144" y="186"/>
                  <a:pt x="128" y="225"/>
                  <a:pt x="128" y="260"/>
                </a:cubicBezTo>
                <a:cubicBezTo>
                  <a:pt x="128" y="273"/>
                  <a:pt x="128" y="273"/>
                  <a:pt x="128" y="273"/>
                </a:cubicBezTo>
                <a:cubicBezTo>
                  <a:pt x="104" y="281"/>
                  <a:pt x="104" y="281"/>
                  <a:pt x="104" y="281"/>
                </a:cubicBezTo>
                <a:cubicBezTo>
                  <a:pt x="100" y="282"/>
                  <a:pt x="98" y="285"/>
                  <a:pt x="97" y="289"/>
                </a:cubicBezTo>
                <a:cubicBezTo>
                  <a:pt x="96" y="291"/>
                  <a:pt x="93" y="310"/>
                  <a:pt x="96" y="324"/>
                </a:cubicBezTo>
                <a:cubicBezTo>
                  <a:pt x="100" y="338"/>
                  <a:pt x="115" y="365"/>
                  <a:pt x="117" y="368"/>
                </a:cubicBezTo>
                <a:cubicBezTo>
                  <a:pt x="118" y="369"/>
                  <a:pt x="118" y="369"/>
                  <a:pt x="119" y="370"/>
                </a:cubicBezTo>
                <a:cubicBezTo>
                  <a:pt x="129" y="381"/>
                  <a:pt x="199" y="384"/>
                  <a:pt x="256" y="384"/>
                </a:cubicBezTo>
                <a:cubicBezTo>
                  <a:pt x="312" y="384"/>
                  <a:pt x="382" y="381"/>
                  <a:pt x="393" y="370"/>
                </a:cubicBezTo>
                <a:cubicBezTo>
                  <a:pt x="393" y="369"/>
                  <a:pt x="394" y="369"/>
                  <a:pt x="394" y="368"/>
                </a:cubicBezTo>
                <a:cubicBezTo>
                  <a:pt x="396" y="365"/>
                  <a:pt x="411" y="338"/>
                  <a:pt x="415" y="324"/>
                </a:cubicBezTo>
                <a:cubicBezTo>
                  <a:pt x="419" y="310"/>
                  <a:pt x="415" y="291"/>
                  <a:pt x="414" y="289"/>
                </a:cubicBezTo>
                <a:close/>
                <a:moveTo>
                  <a:pt x="256" y="245"/>
                </a:moveTo>
                <a:cubicBezTo>
                  <a:pt x="279" y="245"/>
                  <a:pt x="298" y="264"/>
                  <a:pt x="298" y="288"/>
                </a:cubicBezTo>
                <a:cubicBezTo>
                  <a:pt x="298" y="311"/>
                  <a:pt x="279" y="330"/>
                  <a:pt x="256" y="330"/>
                </a:cubicBezTo>
                <a:cubicBezTo>
                  <a:pt x="232" y="330"/>
                  <a:pt x="213" y="311"/>
                  <a:pt x="213" y="288"/>
                </a:cubicBezTo>
                <a:cubicBezTo>
                  <a:pt x="213" y="264"/>
                  <a:pt x="232" y="245"/>
                  <a:pt x="256" y="245"/>
                </a:cubicBezTo>
                <a:close/>
                <a:moveTo>
                  <a:pt x="256" y="256"/>
                </a:moveTo>
                <a:cubicBezTo>
                  <a:pt x="238" y="256"/>
                  <a:pt x="224" y="270"/>
                  <a:pt x="224" y="288"/>
                </a:cubicBezTo>
                <a:cubicBezTo>
                  <a:pt x="224" y="305"/>
                  <a:pt x="238" y="320"/>
                  <a:pt x="256" y="320"/>
                </a:cubicBezTo>
                <a:cubicBezTo>
                  <a:pt x="273" y="320"/>
                  <a:pt x="288" y="305"/>
                  <a:pt x="288" y="288"/>
                </a:cubicBezTo>
                <a:cubicBezTo>
                  <a:pt x="288" y="270"/>
                  <a:pt x="273" y="256"/>
                  <a:pt x="256" y="256"/>
                </a:cubicBezTo>
                <a:close/>
                <a:moveTo>
                  <a:pt x="384" y="296"/>
                </a:moveTo>
                <a:cubicBezTo>
                  <a:pt x="384" y="298"/>
                  <a:pt x="384" y="298"/>
                  <a:pt x="384" y="298"/>
                </a:cubicBezTo>
                <a:cubicBezTo>
                  <a:pt x="384" y="301"/>
                  <a:pt x="383" y="303"/>
                  <a:pt x="382" y="304"/>
                </a:cubicBezTo>
                <a:cubicBezTo>
                  <a:pt x="379" y="308"/>
                  <a:pt x="365" y="324"/>
                  <a:pt x="305" y="330"/>
                </a:cubicBezTo>
                <a:cubicBezTo>
                  <a:pt x="304" y="330"/>
                  <a:pt x="304" y="330"/>
                  <a:pt x="303" y="330"/>
                </a:cubicBezTo>
                <a:cubicBezTo>
                  <a:pt x="303" y="330"/>
                  <a:pt x="303" y="330"/>
                  <a:pt x="303" y="330"/>
                </a:cubicBezTo>
                <a:cubicBezTo>
                  <a:pt x="292" y="343"/>
                  <a:pt x="275" y="352"/>
                  <a:pt x="256" y="352"/>
                </a:cubicBezTo>
                <a:cubicBezTo>
                  <a:pt x="237" y="352"/>
                  <a:pt x="220" y="343"/>
                  <a:pt x="208" y="330"/>
                </a:cubicBezTo>
                <a:cubicBezTo>
                  <a:pt x="208" y="330"/>
                  <a:pt x="208" y="330"/>
                  <a:pt x="208" y="330"/>
                </a:cubicBezTo>
                <a:cubicBezTo>
                  <a:pt x="208" y="330"/>
                  <a:pt x="207" y="330"/>
                  <a:pt x="207" y="330"/>
                </a:cubicBezTo>
                <a:cubicBezTo>
                  <a:pt x="146" y="324"/>
                  <a:pt x="132" y="308"/>
                  <a:pt x="130" y="304"/>
                </a:cubicBezTo>
                <a:cubicBezTo>
                  <a:pt x="128" y="303"/>
                  <a:pt x="128" y="301"/>
                  <a:pt x="128" y="298"/>
                </a:cubicBezTo>
                <a:cubicBezTo>
                  <a:pt x="128" y="296"/>
                  <a:pt x="128" y="296"/>
                  <a:pt x="128" y="296"/>
                </a:cubicBezTo>
                <a:cubicBezTo>
                  <a:pt x="117" y="299"/>
                  <a:pt x="117" y="299"/>
                  <a:pt x="117" y="299"/>
                </a:cubicBezTo>
                <a:cubicBezTo>
                  <a:pt x="116" y="305"/>
                  <a:pt x="116" y="313"/>
                  <a:pt x="117" y="319"/>
                </a:cubicBezTo>
                <a:cubicBezTo>
                  <a:pt x="119" y="327"/>
                  <a:pt x="129" y="345"/>
                  <a:pt x="134" y="355"/>
                </a:cubicBezTo>
                <a:cubicBezTo>
                  <a:pt x="140" y="357"/>
                  <a:pt x="167" y="362"/>
                  <a:pt x="256" y="362"/>
                </a:cubicBezTo>
                <a:cubicBezTo>
                  <a:pt x="345" y="362"/>
                  <a:pt x="371" y="357"/>
                  <a:pt x="377" y="355"/>
                </a:cubicBezTo>
                <a:cubicBezTo>
                  <a:pt x="382" y="345"/>
                  <a:pt x="392" y="327"/>
                  <a:pt x="394" y="319"/>
                </a:cubicBezTo>
                <a:cubicBezTo>
                  <a:pt x="396" y="313"/>
                  <a:pt x="395" y="305"/>
                  <a:pt x="395" y="299"/>
                </a:cubicBezTo>
                <a:lnTo>
                  <a:pt x="384" y="296"/>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43" name="Pentagon 42">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33817014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10679580"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Jharkhand: Attaining Sustainable Development Goals (SDG)*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bwMode="gray">
          <a:xfrm>
            <a:off x="407520" y="748621"/>
            <a:ext cx="10935856" cy="1642153"/>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285750" indent="-285750">
              <a:lnSpc>
                <a:spcPct val="106000"/>
              </a:lnSpc>
              <a:buFont typeface="Wingdings" panose="05000000000000000000" pitchFamily="2" charset="2"/>
              <a:buChar char="§"/>
            </a:pPr>
            <a:r>
              <a:rPr lang="en-US" sz="1400" dirty="0" smtClean="0"/>
              <a:t>India adopted Sustainable Development Goals at the UN General Assembly which tracks holistic development through 17 Goals and 169 related targets to be achieved by 2030 </a:t>
            </a:r>
          </a:p>
          <a:p>
            <a:pPr marL="285750" indent="-285750">
              <a:lnSpc>
                <a:spcPct val="106000"/>
              </a:lnSpc>
              <a:buFont typeface="Wingdings" panose="05000000000000000000" pitchFamily="2" charset="2"/>
              <a:buChar char="§"/>
            </a:pPr>
            <a:r>
              <a:rPr lang="en-US" sz="1400" dirty="0" smtClean="0"/>
              <a:t>In India, the program is monitored by </a:t>
            </a:r>
            <a:r>
              <a:rPr lang="en-US" sz="1400" dirty="0" err="1" smtClean="0"/>
              <a:t>Niti</a:t>
            </a:r>
            <a:r>
              <a:rPr lang="en-US" sz="1400" dirty="0" smtClean="0"/>
              <a:t> </a:t>
            </a:r>
            <a:r>
              <a:rPr lang="en-US" sz="1400" dirty="0" err="1" smtClean="0"/>
              <a:t>Aayog</a:t>
            </a:r>
            <a:r>
              <a:rPr lang="en-US" sz="1400" dirty="0" smtClean="0"/>
              <a:t> and </a:t>
            </a:r>
            <a:r>
              <a:rPr lang="en-US" sz="1400" b="1" dirty="0" smtClean="0"/>
              <a:t>Planning-cum-finance Dept. is the nodal department in Jharkhand</a:t>
            </a:r>
            <a:r>
              <a:rPr lang="en-US" sz="1400" dirty="0" smtClean="0"/>
              <a:t> to co-ordinate implementation of SDG targets </a:t>
            </a:r>
          </a:p>
          <a:p>
            <a:pPr marL="285750" indent="-285750">
              <a:lnSpc>
                <a:spcPct val="106000"/>
              </a:lnSpc>
              <a:buFont typeface="Wingdings" panose="05000000000000000000" pitchFamily="2" charset="2"/>
              <a:buChar char="§"/>
            </a:pPr>
            <a:r>
              <a:rPr lang="en-US" sz="1400" dirty="0" smtClean="0"/>
              <a:t>Jharkhand was placed </a:t>
            </a:r>
            <a:r>
              <a:rPr lang="en-US" sz="1400" b="1" dirty="0" smtClean="0"/>
              <a:t>26</a:t>
            </a:r>
            <a:r>
              <a:rPr lang="en-US" sz="1400" b="1" baseline="30000" dirty="0" smtClean="0"/>
              <a:t>th</a:t>
            </a:r>
            <a:r>
              <a:rPr lang="en-US" sz="1400" dirty="0" smtClean="0"/>
              <a:t> (Score: 50) in FY18 and </a:t>
            </a:r>
            <a:r>
              <a:rPr lang="en-US" sz="1400" b="1" dirty="0" smtClean="0"/>
              <a:t>27</a:t>
            </a:r>
            <a:r>
              <a:rPr lang="en-US" sz="1400" b="1" baseline="30000" dirty="0" smtClean="0"/>
              <a:t>th</a:t>
            </a:r>
            <a:r>
              <a:rPr lang="en-US" sz="1400" dirty="0" smtClean="0"/>
              <a:t> (Score: 53) in FY19 amongst States in composite rank</a:t>
            </a:r>
          </a:p>
          <a:p>
            <a:pPr marL="285750" indent="-285750">
              <a:lnSpc>
                <a:spcPct val="106000"/>
              </a:lnSpc>
              <a:buFont typeface="Wingdings" panose="05000000000000000000" pitchFamily="2" charset="2"/>
              <a:buChar char="§"/>
            </a:pPr>
            <a:r>
              <a:rPr lang="en-US" sz="1400" dirty="0" smtClean="0"/>
              <a:t>Ranking under SDG7 (Affordable &amp; Clean Energy) was </a:t>
            </a:r>
            <a:r>
              <a:rPr lang="en-US" sz="1400" b="1" dirty="0" smtClean="0"/>
              <a:t>27</a:t>
            </a:r>
            <a:r>
              <a:rPr lang="en-US" sz="1400" b="1" baseline="30000" dirty="0" smtClean="0"/>
              <a:t>th</a:t>
            </a:r>
            <a:r>
              <a:rPr lang="en-US" sz="1400" dirty="0" smtClean="0"/>
              <a:t> in both FY18 </a:t>
            </a:r>
            <a:r>
              <a:rPr lang="en-US" sz="1400" dirty="0"/>
              <a:t>(Score: 20) </a:t>
            </a:r>
            <a:r>
              <a:rPr lang="en-US" sz="1400" dirty="0" smtClean="0"/>
              <a:t>and FY19 (Score: 50)</a:t>
            </a:r>
            <a:endParaRPr lang="en-IN" sz="1400" dirty="0" smtClean="0"/>
          </a:p>
        </p:txBody>
      </p:sp>
      <p:sp>
        <p:nvSpPr>
          <p:cNvPr id="43" name="Flowchart: Delay 42"/>
          <p:cNvSpPr/>
          <p:nvPr/>
        </p:nvSpPr>
        <p:spPr bwMode="gray">
          <a:xfrm>
            <a:off x="0" y="2500844"/>
            <a:ext cx="4474029" cy="3834642"/>
          </a:xfrm>
          <a:prstGeom prst="flowChartDelay">
            <a:avLst/>
          </a:prstGeom>
          <a:solidFill>
            <a:schemeClr val="accent1">
              <a:lumMod val="40000"/>
              <a:lumOff val="60000"/>
              <a:alpha val="50000"/>
            </a:schemeClr>
          </a:solidFill>
          <a:ln w="19050" algn="ctr">
            <a:noFill/>
            <a:miter lim="800000"/>
            <a:headEnd/>
            <a:tailEnd/>
          </a:ln>
        </p:spPr>
        <p:txBody>
          <a:bodyPr wrap="square" lIns="88900" tIns="88900" rIns="88900" bIns="88900" rtlCol="0" anchor="t"/>
          <a:lstStyle/>
          <a:p>
            <a:pPr>
              <a:lnSpc>
                <a:spcPct val="106000"/>
              </a:lnSpc>
              <a:buFont typeface="Wingdings 2" pitchFamily="18" charset="2"/>
              <a:buNone/>
            </a:pPr>
            <a:endParaRPr lang="en-IN" sz="1600" b="1" dirty="0" smtClean="0">
              <a:solidFill>
                <a:schemeClr val="bg1"/>
              </a:solidFill>
            </a:endParaRPr>
          </a:p>
        </p:txBody>
      </p:sp>
      <p:sp>
        <p:nvSpPr>
          <p:cNvPr id="48" name="Flowchart: Delay 47"/>
          <p:cNvSpPr/>
          <p:nvPr/>
        </p:nvSpPr>
        <p:spPr bwMode="gray">
          <a:xfrm rot="10800000">
            <a:off x="7717968" y="2500843"/>
            <a:ext cx="4474029" cy="3834642"/>
          </a:xfrm>
          <a:prstGeom prst="flowChartDelay">
            <a:avLst/>
          </a:prstGeom>
          <a:solidFill>
            <a:schemeClr val="accent1">
              <a:lumMod val="40000"/>
              <a:lumOff val="60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49" name="Rectangle 48"/>
          <p:cNvSpPr/>
          <p:nvPr/>
        </p:nvSpPr>
        <p:spPr bwMode="gray">
          <a:xfrm>
            <a:off x="217713" y="2867025"/>
            <a:ext cx="5758543" cy="3297010"/>
          </a:xfrm>
          <a:prstGeom prst="rect">
            <a:avLst/>
          </a:prstGeom>
          <a:solidFill>
            <a:srgbClr val="FFCD00">
              <a:alpha val="25000"/>
            </a:srgbClr>
          </a:solidFill>
          <a:ln w="19050" algn="ctr">
            <a:noFill/>
            <a:miter lim="800000"/>
            <a:headEnd/>
            <a:tailEnd/>
          </a:ln>
        </p:spPr>
        <p:txBody>
          <a:bodyPr wrap="square" lIns="88900" tIns="88900" rIns="88900" bIns="88900" rtlCol="0" anchor="ctr"/>
          <a:lstStyle/>
          <a:p>
            <a:pPr marL="285750" indent="-285750">
              <a:buFont typeface="Wingdings" panose="05000000000000000000" pitchFamily="2" charset="2"/>
              <a:buChar char="§"/>
            </a:pPr>
            <a:r>
              <a:rPr lang="en-US" sz="1400" dirty="0" smtClean="0"/>
              <a:t>3-year Action Plan formulated at State level, various departments have taken-up awareness generation drives</a:t>
            </a:r>
          </a:p>
          <a:p>
            <a:pPr marL="285750" indent="-285750">
              <a:buFont typeface="Wingdings" panose="05000000000000000000" pitchFamily="2" charset="2"/>
              <a:buChar char="§"/>
            </a:pPr>
            <a:r>
              <a:rPr lang="en-US" sz="1400" dirty="0" smtClean="0"/>
              <a:t>Nodal departments – </a:t>
            </a:r>
          </a:p>
          <a:p>
            <a:pPr marL="742950" lvl="1" indent="-285750">
              <a:buFont typeface="Wingdings" panose="05000000000000000000" pitchFamily="2" charset="2"/>
              <a:buChar char="ü"/>
            </a:pPr>
            <a:r>
              <a:rPr lang="en-US" sz="1400" i="1" dirty="0" smtClean="0"/>
              <a:t>Agriculture, Animal Husbandry &amp; Co-operative Department (</a:t>
            </a:r>
            <a:r>
              <a:rPr lang="en-US" sz="1400" b="1" i="1" dirty="0" smtClean="0"/>
              <a:t>Goal 2</a:t>
            </a:r>
            <a:r>
              <a:rPr lang="en-US" sz="1400" i="1" dirty="0" smtClean="0"/>
              <a:t>) </a:t>
            </a:r>
          </a:p>
          <a:p>
            <a:pPr marL="742950" lvl="1" indent="-285750">
              <a:buFont typeface="Wingdings" panose="05000000000000000000" pitchFamily="2" charset="2"/>
              <a:buChar char="ü"/>
            </a:pPr>
            <a:r>
              <a:rPr lang="en-US" sz="1400" i="1" dirty="0" smtClean="0"/>
              <a:t>Dept. of School Education &amp; Literacy (</a:t>
            </a:r>
            <a:r>
              <a:rPr lang="en-US" sz="1400" b="1" i="1" dirty="0" smtClean="0"/>
              <a:t>Goal 4</a:t>
            </a:r>
            <a:r>
              <a:rPr lang="en-US" sz="1400" i="1" dirty="0" smtClean="0"/>
              <a:t>)</a:t>
            </a:r>
          </a:p>
          <a:p>
            <a:pPr marL="742950" lvl="1" indent="-285750">
              <a:buFont typeface="Wingdings" panose="05000000000000000000" pitchFamily="2" charset="2"/>
              <a:buChar char="ü"/>
            </a:pPr>
            <a:r>
              <a:rPr lang="en-US" sz="1400" i="1" dirty="0" smtClean="0"/>
              <a:t>Dept. of Drinking Water &amp; Sanitation (</a:t>
            </a:r>
            <a:r>
              <a:rPr lang="en-US" sz="1400" b="1" i="1" dirty="0" smtClean="0"/>
              <a:t>Goal 6</a:t>
            </a:r>
            <a:r>
              <a:rPr lang="en-US" sz="1400" i="1" dirty="0" smtClean="0"/>
              <a:t>)</a:t>
            </a:r>
          </a:p>
          <a:p>
            <a:pPr marL="742950" lvl="1" indent="-285750">
              <a:buFont typeface="Wingdings" panose="05000000000000000000" pitchFamily="2" charset="2"/>
              <a:buChar char="ü"/>
            </a:pPr>
            <a:r>
              <a:rPr lang="en-US" sz="1400" i="1" dirty="0" smtClean="0"/>
              <a:t>Dept. of Health, Medical Education &amp; Family Welfare (</a:t>
            </a:r>
            <a:r>
              <a:rPr lang="en-US" sz="1400" b="1" i="1" dirty="0" smtClean="0"/>
              <a:t>Goal 3</a:t>
            </a:r>
            <a:r>
              <a:rPr lang="en-US" sz="1400" i="1" dirty="0" smtClean="0"/>
              <a:t>)</a:t>
            </a:r>
          </a:p>
          <a:p>
            <a:pPr marL="285750" indent="-285750">
              <a:buFont typeface="Wingdings" panose="05000000000000000000" pitchFamily="2" charset="2"/>
              <a:buChar char="§"/>
            </a:pPr>
            <a:r>
              <a:rPr lang="en-US" sz="1400" dirty="0" smtClean="0"/>
              <a:t>SDG monitoring mechanism has been formulated, budgeting and capacity development has also been taken-up for various goals </a:t>
            </a:r>
          </a:p>
          <a:p>
            <a:pPr marL="285750" indent="-285750">
              <a:buFont typeface="Wingdings" panose="05000000000000000000" pitchFamily="2" charset="2"/>
              <a:buChar char="§"/>
            </a:pPr>
            <a:r>
              <a:rPr lang="en-US" sz="1400" dirty="0" smtClean="0"/>
              <a:t>Dept. of Planning-cum-finance has partnered UNICEF which assists Jharkhand in attaining SDG goals</a:t>
            </a:r>
            <a:endParaRPr lang="en-IN" sz="1400" dirty="0" smtClean="0"/>
          </a:p>
        </p:txBody>
      </p:sp>
      <p:sp>
        <p:nvSpPr>
          <p:cNvPr id="51" name="Rectangle 50"/>
          <p:cNvSpPr/>
          <p:nvPr/>
        </p:nvSpPr>
        <p:spPr bwMode="gray">
          <a:xfrm>
            <a:off x="6215742" y="2867025"/>
            <a:ext cx="5758543" cy="3297010"/>
          </a:xfrm>
          <a:prstGeom prst="rect">
            <a:avLst/>
          </a:prstGeom>
          <a:solidFill>
            <a:srgbClr val="FFCD00">
              <a:alpha val="25000"/>
            </a:srgbClr>
          </a:solidFill>
          <a:ln w="19050" algn="ctr">
            <a:noFill/>
            <a:miter lim="800000"/>
            <a:headEnd/>
            <a:tailEnd/>
          </a:ln>
        </p:spPr>
        <p:txBody>
          <a:bodyPr wrap="square" lIns="88900" tIns="88900" rIns="88900" bIns="88900" rtlCol="0" anchor="ctr"/>
          <a:lstStyle/>
          <a:p>
            <a:pPr marL="285750" indent="-285750">
              <a:buFont typeface="Wingdings" panose="05000000000000000000" pitchFamily="2" charset="2"/>
              <a:buChar char="§"/>
            </a:pPr>
            <a:r>
              <a:rPr lang="en-US" sz="1400" dirty="0" smtClean="0"/>
              <a:t>SDG7 focuses on</a:t>
            </a:r>
            <a:r>
              <a:rPr lang="en-US" sz="1400" i="1" dirty="0" smtClean="0"/>
              <a:t> “ensuring access to affordable, reliable, sustainable and modern energy for all”</a:t>
            </a:r>
          </a:p>
          <a:p>
            <a:pPr marL="285750" indent="-285750">
              <a:buFont typeface="Wingdings" panose="05000000000000000000" pitchFamily="2" charset="2"/>
              <a:buChar char="§"/>
            </a:pPr>
            <a:r>
              <a:rPr lang="en-US" sz="1400" i="1" dirty="0" smtClean="0"/>
              <a:t>Major components envisaged under SDG7 are – </a:t>
            </a:r>
          </a:p>
          <a:p>
            <a:pPr marL="742950" lvl="1" indent="-285750">
              <a:buFont typeface="Wingdings" panose="05000000000000000000" pitchFamily="2" charset="2"/>
              <a:buChar char="ü"/>
            </a:pPr>
            <a:r>
              <a:rPr lang="en-US" sz="1400" dirty="0" smtClean="0"/>
              <a:t>Providing </a:t>
            </a:r>
            <a:r>
              <a:rPr lang="en-US" sz="1400" dirty="0"/>
              <a:t>U</a:t>
            </a:r>
            <a:r>
              <a:rPr lang="en-US" sz="1400" dirty="0" smtClean="0"/>
              <a:t>niversal </a:t>
            </a:r>
            <a:r>
              <a:rPr lang="en-US" sz="1400" dirty="0"/>
              <a:t>A</a:t>
            </a:r>
            <a:r>
              <a:rPr lang="en-US" sz="1400" dirty="0" smtClean="0"/>
              <a:t>ccess to Electricity   </a:t>
            </a:r>
            <a:r>
              <a:rPr lang="en-US" sz="1400" i="1" dirty="0" smtClean="0"/>
              <a:t>(</a:t>
            </a:r>
            <a:r>
              <a:rPr lang="en-US" sz="1400" b="1" i="1" dirty="0" err="1" smtClean="0"/>
              <a:t>Saubhagya</a:t>
            </a:r>
            <a:r>
              <a:rPr lang="en-US" sz="1400" i="1" dirty="0" smtClean="0"/>
              <a:t>)</a:t>
            </a:r>
          </a:p>
          <a:p>
            <a:pPr marL="742950" lvl="1" indent="-285750">
              <a:buFont typeface="Wingdings" panose="05000000000000000000" pitchFamily="2" charset="2"/>
              <a:buChar char="ü"/>
            </a:pPr>
            <a:r>
              <a:rPr lang="en-US" sz="1400" dirty="0" smtClean="0"/>
              <a:t>Focus on Renewable Energy      </a:t>
            </a:r>
            <a:r>
              <a:rPr lang="en-US" sz="1400" i="1" dirty="0" smtClean="0"/>
              <a:t>                           (</a:t>
            </a:r>
            <a:r>
              <a:rPr lang="en-US" sz="1400" b="1" i="1" dirty="0" smtClean="0"/>
              <a:t>PM-KUSUM, Solar Rooftop</a:t>
            </a:r>
            <a:r>
              <a:rPr lang="en-US" sz="1400" i="1" dirty="0" smtClean="0"/>
              <a:t>)</a:t>
            </a:r>
          </a:p>
          <a:p>
            <a:pPr marL="742950" lvl="1" indent="-285750">
              <a:buFont typeface="Wingdings" panose="05000000000000000000" pitchFamily="2" charset="2"/>
              <a:buChar char="ü"/>
            </a:pPr>
            <a:r>
              <a:rPr lang="en-US" sz="1400" dirty="0" smtClean="0"/>
              <a:t>Access to Clean Cooking Energy                   </a:t>
            </a:r>
            <a:r>
              <a:rPr lang="en-US" sz="1400" i="1" dirty="0" smtClean="0"/>
              <a:t>(</a:t>
            </a:r>
            <a:r>
              <a:rPr lang="en-US" sz="1400" b="1" i="1" dirty="0" err="1" smtClean="0"/>
              <a:t>Ujjwala</a:t>
            </a:r>
            <a:r>
              <a:rPr lang="en-US" sz="1400" i="1" dirty="0" smtClean="0"/>
              <a:t>)</a:t>
            </a:r>
          </a:p>
          <a:p>
            <a:pPr marL="742950" lvl="1" indent="-285750">
              <a:buFont typeface="Wingdings" panose="05000000000000000000" pitchFamily="2" charset="2"/>
              <a:buChar char="ü"/>
            </a:pPr>
            <a:r>
              <a:rPr lang="en-US" sz="1400" dirty="0" smtClean="0"/>
              <a:t>Improving Energy Efficiency                            </a:t>
            </a:r>
            <a:r>
              <a:rPr lang="en-US" sz="1400" i="1" dirty="0" smtClean="0"/>
              <a:t>(</a:t>
            </a:r>
            <a:r>
              <a:rPr lang="en-US" sz="1400" b="1" i="1" dirty="0" smtClean="0"/>
              <a:t>UJALA</a:t>
            </a:r>
            <a:r>
              <a:rPr lang="en-US" sz="1400" i="1" dirty="0" smtClean="0"/>
              <a:t>) </a:t>
            </a:r>
          </a:p>
          <a:p>
            <a:pPr marL="742950" lvl="1" indent="-285750">
              <a:buFont typeface="Wingdings" panose="05000000000000000000" pitchFamily="2" charset="2"/>
              <a:buChar char="ü"/>
            </a:pPr>
            <a:r>
              <a:rPr lang="en-US" sz="1400" dirty="0" smtClean="0"/>
              <a:t>Strengthening International co-operation           </a:t>
            </a:r>
            <a:r>
              <a:rPr lang="en-US" sz="1400" i="1" dirty="0" smtClean="0"/>
              <a:t>(</a:t>
            </a:r>
            <a:r>
              <a:rPr lang="en-US" sz="1400" b="1" i="1" dirty="0" smtClean="0"/>
              <a:t>IGEN – Access, International Solar Alliance</a:t>
            </a:r>
            <a:r>
              <a:rPr lang="en-US" sz="1400" i="1" dirty="0" smtClean="0"/>
              <a:t>)</a:t>
            </a:r>
          </a:p>
          <a:p>
            <a:pPr lvl="1"/>
            <a:r>
              <a:rPr lang="en-US" sz="1400" u="sng" dirty="0" smtClean="0"/>
              <a:t>IGEN-Access harbors focus on Goal 7 having Energy Dept. as nodal agency  </a:t>
            </a:r>
          </a:p>
        </p:txBody>
      </p:sp>
      <p:sp>
        <p:nvSpPr>
          <p:cNvPr id="52" name="TextBox 51"/>
          <p:cNvSpPr txBox="1"/>
          <p:nvPr/>
        </p:nvSpPr>
        <p:spPr>
          <a:xfrm>
            <a:off x="289681" y="2534809"/>
            <a:ext cx="1947333" cy="276999"/>
          </a:xfrm>
          <a:prstGeom prst="rect">
            <a:avLst/>
          </a:prstGeom>
          <a:noFill/>
        </p:spPr>
        <p:txBody>
          <a:bodyPr wrap="square" lIns="0" tIns="0" rIns="0" bIns="0" rtlCol="0">
            <a:spAutoFit/>
          </a:bodyPr>
          <a:lstStyle/>
          <a:p>
            <a:pPr>
              <a:spcBef>
                <a:spcPts val="600"/>
              </a:spcBef>
              <a:buSzPct val="100000"/>
            </a:pPr>
            <a:r>
              <a:rPr lang="en-US" b="1" dirty="0" smtClean="0">
                <a:solidFill>
                  <a:srgbClr val="313131"/>
                </a:solidFill>
              </a:rPr>
              <a:t>State Indices</a:t>
            </a:r>
            <a:endParaRPr lang="en-IN" b="1" dirty="0" smtClean="0">
              <a:solidFill>
                <a:srgbClr val="313131"/>
              </a:solidFill>
            </a:endParaRPr>
          </a:p>
        </p:txBody>
      </p:sp>
      <p:sp>
        <p:nvSpPr>
          <p:cNvPr id="53" name="TextBox 52"/>
          <p:cNvSpPr txBox="1"/>
          <p:nvPr/>
        </p:nvSpPr>
        <p:spPr>
          <a:xfrm>
            <a:off x="9725026" y="2541117"/>
            <a:ext cx="2249260" cy="276999"/>
          </a:xfrm>
          <a:prstGeom prst="rect">
            <a:avLst/>
          </a:prstGeom>
          <a:noFill/>
        </p:spPr>
        <p:txBody>
          <a:bodyPr wrap="square" lIns="0" tIns="0" rIns="0" bIns="0" rtlCol="0">
            <a:spAutoFit/>
          </a:bodyPr>
          <a:lstStyle/>
          <a:p>
            <a:pPr algn="r">
              <a:spcBef>
                <a:spcPts val="600"/>
              </a:spcBef>
              <a:buSzPct val="100000"/>
            </a:pPr>
            <a:r>
              <a:rPr lang="en-US" b="1" dirty="0" smtClean="0">
                <a:solidFill>
                  <a:srgbClr val="313131"/>
                </a:solidFill>
              </a:rPr>
              <a:t>Energy Planning</a:t>
            </a:r>
            <a:endParaRPr lang="en-IN" b="1" dirty="0" smtClean="0">
              <a:solidFill>
                <a:srgbClr val="313131"/>
              </a:solidFill>
            </a:endParaRPr>
          </a:p>
        </p:txBody>
      </p:sp>
      <p:sp>
        <p:nvSpPr>
          <p:cNvPr id="54" name="TextBox 53"/>
          <p:cNvSpPr txBox="1"/>
          <p:nvPr/>
        </p:nvSpPr>
        <p:spPr>
          <a:xfrm>
            <a:off x="4474029" y="6307451"/>
            <a:ext cx="4544179" cy="153888"/>
          </a:xfrm>
          <a:prstGeom prst="rect">
            <a:avLst/>
          </a:prstGeom>
          <a:noFill/>
        </p:spPr>
        <p:txBody>
          <a:bodyPr wrap="square" lIns="0" tIns="0" rIns="0" bIns="0" rtlCol="0">
            <a:spAutoFit/>
          </a:bodyPr>
          <a:lstStyle/>
          <a:p>
            <a:pPr>
              <a:spcBef>
                <a:spcPts val="600"/>
              </a:spcBef>
              <a:buSzPct val="100000"/>
            </a:pPr>
            <a:r>
              <a:rPr lang="en-US" sz="1000" b="1" i="1" dirty="0" smtClean="0">
                <a:solidFill>
                  <a:srgbClr val="313131"/>
                </a:solidFill>
              </a:rPr>
              <a:t>*Data as per </a:t>
            </a:r>
            <a:r>
              <a:rPr lang="en-US" sz="1000" b="1" i="1" dirty="0" err="1" smtClean="0">
                <a:solidFill>
                  <a:srgbClr val="313131"/>
                </a:solidFill>
              </a:rPr>
              <a:t>Niti</a:t>
            </a:r>
            <a:r>
              <a:rPr lang="en-US" sz="1000" b="1" i="1" dirty="0" smtClean="0">
                <a:solidFill>
                  <a:srgbClr val="313131"/>
                </a:solidFill>
              </a:rPr>
              <a:t> </a:t>
            </a:r>
            <a:r>
              <a:rPr lang="en-US" sz="1000" b="1" i="1" dirty="0" err="1" smtClean="0">
                <a:solidFill>
                  <a:srgbClr val="313131"/>
                </a:solidFill>
              </a:rPr>
              <a:t>Aayog</a:t>
            </a:r>
            <a:r>
              <a:rPr lang="en-US" sz="1000" b="1" i="1" dirty="0" smtClean="0">
                <a:solidFill>
                  <a:srgbClr val="313131"/>
                </a:solidFill>
              </a:rPr>
              <a:t> reports on SDG</a:t>
            </a:r>
            <a:endParaRPr lang="en-IN" sz="1000" b="1" i="1" dirty="0" smtClean="0">
              <a:solidFill>
                <a:srgbClr val="313131"/>
              </a:solidFill>
            </a:endParaRPr>
          </a:p>
        </p:txBody>
      </p:sp>
      <p:sp>
        <p:nvSpPr>
          <p:cNvPr id="55" name="Pentagon 54">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40427187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10679580"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Program Objective: IGEN Access II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11" name="Chart 10"/>
          <p:cNvGraphicFramePr>
            <a:graphicFrameLocks/>
          </p:cNvGraphicFramePr>
          <p:nvPr>
            <p:extLst>
              <p:ext uri="{D42A27DB-BD31-4B8C-83A1-F6EECF244321}">
                <p14:modId xmlns:p14="http://schemas.microsoft.com/office/powerpoint/2010/main" val="974610469"/>
              </p:ext>
            </p:extLst>
          </p:nvPr>
        </p:nvGraphicFramePr>
        <p:xfrm>
          <a:off x="407520" y="721997"/>
          <a:ext cx="5250330" cy="2716528"/>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p:cNvSpPr/>
          <p:nvPr/>
        </p:nvSpPr>
        <p:spPr bwMode="gray">
          <a:xfrm>
            <a:off x="5819775" y="721997"/>
            <a:ext cx="5523601" cy="2716528"/>
          </a:xfrm>
          <a:prstGeom prst="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marL="285750" indent="-285750">
              <a:lnSpc>
                <a:spcPct val="106000"/>
              </a:lnSpc>
              <a:buFont typeface="Wingdings" panose="05000000000000000000" pitchFamily="2" charset="2"/>
              <a:buChar char="§"/>
            </a:pPr>
            <a:r>
              <a:rPr lang="en-US" sz="1400" dirty="0" smtClean="0"/>
              <a:t>From perspective of Dept. of Energy, </a:t>
            </a:r>
            <a:r>
              <a:rPr lang="en-US" sz="1400" dirty="0"/>
              <a:t>a</a:t>
            </a:r>
            <a:r>
              <a:rPr lang="en-US" sz="1400" dirty="0" smtClean="0"/>
              <a:t>ccess to </a:t>
            </a:r>
            <a:r>
              <a:rPr lang="en-US" sz="1400" b="1" dirty="0" smtClean="0"/>
              <a:t>affordable &amp; reliable energy </a:t>
            </a:r>
            <a:r>
              <a:rPr lang="en-US" sz="1400" dirty="0" smtClean="0"/>
              <a:t>along-with </a:t>
            </a:r>
            <a:r>
              <a:rPr lang="en-US" sz="1400" b="1" dirty="0" smtClean="0"/>
              <a:t>optimizing fuel sources (Power Purchase)</a:t>
            </a:r>
            <a:r>
              <a:rPr lang="en-US" sz="1400" dirty="0" smtClean="0"/>
              <a:t> are the two major growth drivers </a:t>
            </a:r>
          </a:p>
          <a:p>
            <a:pPr marL="285750" indent="-285750">
              <a:lnSpc>
                <a:spcPct val="106000"/>
              </a:lnSpc>
              <a:buFont typeface="Wingdings" panose="05000000000000000000" pitchFamily="2" charset="2"/>
              <a:buChar char="§"/>
            </a:pPr>
            <a:r>
              <a:rPr lang="en-US" sz="1400" dirty="0" smtClean="0"/>
              <a:t>The State has been able to meet </a:t>
            </a:r>
            <a:r>
              <a:rPr lang="en-US" sz="1400" b="1" dirty="0" smtClean="0"/>
              <a:t>between 4.7% to 13% </a:t>
            </a:r>
            <a:r>
              <a:rPr lang="en-US" sz="1400" dirty="0" smtClean="0"/>
              <a:t>of RPO targets in past three published FYs, showing </a:t>
            </a:r>
            <a:r>
              <a:rPr lang="en-US" sz="1400" b="1" dirty="0" smtClean="0"/>
              <a:t>highly skewed energy-mix </a:t>
            </a:r>
          </a:p>
          <a:p>
            <a:pPr marL="285750" indent="-285750">
              <a:lnSpc>
                <a:spcPct val="106000"/>
              </a:lnSpc>
              <a:buFont typeface="Wingdings" panose="05000000000000000000" pitchFamily="2" charset="2"/>
              <a:buChar char="§"/>
            </a:pPr>
            <a:r>
              <a:rPr lang="en-US" sz="1400" dirty="0" smtClean="0"/>
              <a:t>Measures have been undertaken (tying-up 700MW Solar &amp; 250MW Wind Power along with push to PM-KUSUM, Solar Rooftop programs) </a:t>
            </a:r>
          </a:p>
          <a:p>
            <a:pPr marL="285750" indent="-285750">
              <a:lnSpc>
                <a:spcPct val="106000"/>
              </a:lnSpc>
              <a:buFont typeface="Wingdings" panose="05000000000000000000" pitchFamily="2" charset="2"/>
              <a:buChar char="§"/>
            </a:pPr>
            <a:r>
              <a:rPr lang="en-US" sz="1400" u="sng" dirty="0" smtClean="0"/>
              <a:t>Guidance envisaged in terms of implementation push</a:t>
            </a:r>
          </a:p>
        </p:txBody>
      </p:sp>
      <p:sp>
        <p:nvSpPr>
          <p:cNvPr id="13" name="TextBox 12"/>
          <p:cNvSpPr txBox="1"/>
          <p:nvPr/>
        </p:nvSpPr>
        <p:spPr>
          <a:xfrm>
            <a:off x="407520" y="3592084"/>
            <a:ext cx="10935856" cy="723275"/>
          </a:xfrm>
          <a:prstGeom prst="rect">
            <a:avLst/>
          </a:prstGeom>
          <a:noFill/>
        </p:spPr>
        <p:txBody>
          <a:bodyPr wrap="square" lIns="0" tIns="0" rIns="0" bIns="0" rtlCol="0">
            <a:spAutoFit/>
          </a:bodyPr>
          <a:lstStyle/>
          <a:p>
            <a:pPr>
              <a:spcBef>
                <a:spcPts val="600"/>
              </a:spcBef>
              <a:buSzPct val="100000"/>
            </a:pPr>
            <a:r>
              <a:rPr lang="en-US" sz="1400" b="1" dirty="0" smtClean="0">
                <a:solidFill>
                  <a:srgbClr val="313131"/>
                </a:solidFill>
              </a:rPr>
              <a:t>Indo-German Energy (IGEN) Access II</a:t>
            </a:r>
            <a:r>
              <a:rPr lang="en-US" sz="1400" dirty="0" smtClean="0">
                <a:solidFill>
                  <a:srgbClr val="313131"/>
                </a:solidFill>
              </a:rPr>
              <a:t>, as part of ongoing collaboration between respective nations, is a program with underlined objective of improving energy supply in rural areas </a:t>
            </a:r>
          </a:p>
          <a:p>
            <a:pPr>
              <a:spcBef>
                <a:spcPts val="600"/>
              </a:spcBef>
              <a:buSzPct val="100000"/>
            </a:pPr>
            <a:r>
              <a:rPr lang="en-US" sz="1400" dirty="0" smtClean="0">
                <a:solidFill>
                  <a:srgbClr val="313131"/>
                </a:solidFill>
              </a:rPr>
              <a:t>The broad values envisaged for Dept. of Energy can be categorized as below -  </a:t>
            </a:r>
            <a:endParaRPr lang="en-IN" sz="1400" dirty="0" smtClean="0">
              <a:solidFill>
                <a:srgbClr val="313131"/>
              </a:solidFill>
            </a:endParaRPr>
          </a:p>
        </p:txBody>
      </p:sp>
      <p:sp>
        <p:nvSpPr>
          <p:cNvPr id="4" name="Rectangle 3"/>
          <p:cNvSpPr/>
          <p:nvPr/>
        </p:nvSpPr>
        <p:spPr bwMode="gray">
          <a:xfrm>
            <a:off x="407520" y="4468918"/>
            <a:ext cx="4029075" cy="1676400"/>
          </a:xfrm>
          <a:prstGeom prst="rect">
            <a:avLst/>
          </a:prstGeom>
          <a:solidFill>
            <a:schemeClr val="accent2">
              <a:lumMod val="60000"/>
              <a:lumOff val="40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7" name="Rectangle 16"/>
          <p:cNvSpPr/>
          <p:nvPr/>
        </p:nvSpPr>
        <p:spPr bwMode="gray">
          <a:xfrm>
            <a:off x="3860911" y="4468918"/>
            <a:ext cx="4029075" cy="1676400"/>
          </a:xfrm>
          <a:prstGeom prst="rect">
            <a:avLst/>
          </a:prstGeom>
          <a:solidFill>
            <a:schemeClr val="accent1">
              <a:lumMod val="40000"/>
              <a:lumOff val="60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8" name="Rectangle 17"/>
          <p:cNvSpPr/>
          <p:nvPr/>
        </p:nvSpPr>
        <p:spPr bwMode="gray">
          <a:xfrm>
            <a:off x="7314301" y="4468918"/>
            <a:ext cx="4029075" cy="1676400"/>
          </a:xfrm>
          <a:prstGeom prst="rect">
            <a:avLst/>
          </a:prstGeom>
          <a:solidFill>
            <a:schemeClr val="bg1">
              <a:lumMod val="85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9" name="TextBox 18"/>
          <p:cNvSpPr txBox="1"/>
          <p:nvPr/>
        </p:nvSpPr>
        <p:spPr>
          <a:xfrm>
            <a:off x="564556" y="4768509"/>
            <a:ext cx="3139319" cy="1077218"/>
          </a:xfrm>
          <a:prstGeom prst="rect">
            <a:avLst/>
          </a:prstGeom>
          <a:noFill/>
        </p:spPr>
        <p:txBody>
          <a:bodyPr wrap="square" lIns="0" tIns="0" rIns="0" bIns="0" rtlCol="0">
            <a:spAutoFit/>
          </a:bodyPr>
          <a:lstStyle/>
          <a:p>
            <a:pPr>
              <a:spcBef>
                <a:spcPts val="600"/>
              </a:spcBef>
              <a:buSzPct val="100000"/>
            </a:pPr>
            <a:r>
              <a:rPr lang="en-US" sz="1400" b="1" i="1" dirty="0" smtClean="0">
                <a:solidFill>
                  <a:srgbClr val="313131"/>
                </a:solidFill>
              </a:rPr>
              <a:t>Access to international expertise which addresses time &amp; resource crunch of the Dept. in making plans for future </a:t>
            </a:r>
            <a:endParaRPr lang="en-IN" sz="1400" b="1" i="1" dirty="0" smtClean="0">
              <a:solidFill>
                <a:srgbClr val="313131"/>
              </a:solidFill>
            </a:endParaRPr>
          </a:p>
        </p:txBody>
      </p:sp>
      <p:sp>
        <p:nvSpPr>
          <p:cNvPr id="21" name="TextBox 20"/>
          <p:cNvSpPr txBox="1"/>
          <p:nvPr/>
        </p:nvSpPr>
        <p:spPr>
          <a:xfrm>
            <a:off x="4517431" y="4768509"/>
            <a:ext cx="2639835" cy="1077218"/>
          </a:xfrm>
          <a:prstGeom prst="rect">
            <a:avLst/>
          </a:prstGeom>
          <a:noFill/>
        </p:spPr>
        <p:txBody>
          <a:bodyPr wrap="square" lIns="0" tIns="0" rIns="0" bIns="0" rtlCol="0">
            <a:spAutoFit/>
          </a:bodyPr>
          <a:lstStyle/>
          <a:p>
            <a:pPr>
              <a:spcBef>
                <a:spcPts val="600"/>
              </a:spcBef>
              <a:buSzPct val="100000"/>
            </a:pPr>
            <a:r>
              <a:rPr lang="en-US" sz="1400" b="1" i="1" dirty="0" smtClean="0">
                <a:solidFill>
                  <a:srgbClr val="313131"/>
                </a:solidFill>
              </a:rPr>
              <a:t>No additional financial burden on State exchequer as the program is part of ongoing national level association </a:t>
            </a:r>
            <a:endParaRPr lang="en-IN" sz="1400" b="1" i="1" dirty="0" smtClean="0">
              <a:solidFill>
                <a:srgbClr val="313131"/>
              </a:solidFill>
            </a:endParaRPr>
          </a:p>
        </p:txBody>
      </p:sp>
      <p:sp>
        <p:nvSpPr>
          <p:cNvPr id="22" name="TextBox 21"/>
          <p:cNvSpPr txBox="1"/>
          <p:nvPr/>
        </p:nvSpPr>
        <p:spPr>
          <a:xfrm>
            <a:off x="8044253" y="4768509"/>
            <a:ext cx="3144855" cy="1077218"/>
          </a:xfrm>
          <a:prstGeom prst="rect">
            <a:avLst/>
          </a:prstGeom>
          <a:noFill/>
        </p:spPr>
        <p:txBody>
          <a:bodyPr wrap="square" lIns="0" tIns="0" rIns="0" bIns="0" rtlCol="0">
            <a:spAutoFit/>
          </a:bodyPr>
          <a:lstStyle/>
          <a:p>
            <a:pPr>
              <a:spcBef>
                <a:spcPts val="600"/>
              </a:spcBef>
              <a:buSzPct val="100000"/>
            </a:pPr>
            <a:r>
              <a:rPr lang="en-US" sz="1400" b="1" i="1" dirty="0" smtClean="0">
                <a:solidFill>
                  <a:srgbClr val="313131"/>
                </a:solidFill>
              </a:rPr>
              <a:t>Energy scenario planning for next 10-15 years through EAP tool, employee up-skilling, opportunity to align on further state-level visions </a:t>
            </a:r>
            <a:endParaRPr lang="en-IN" sz="1400" b="1" i="1" dirty="0" smtClean="0">
              <a:solidFill>
                <a:srgbClr val="313131"/>
              </a:solidFill>
            </a:endParaRPr>
          </a:p>
        </p:txBody>
      </p:sp>
      <p:sp>
        <p:nvSpPr>
          <p:cNvPr id="23" name="Pentagon 22">
            <a:hlinkClick r:id="rId3"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29994495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10679580"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Expected Outcome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bwMode="gray">
          <a:xfrm>
            <a:off x="407520" y="748622"/>
            <a:ext cx="10935856" cy="1442128"/>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342900" indent="-342900">
              <a:lnSpc>
                <a:spcPct val="150000"/>
              </a:lnSpc>
              <a:buFont typeface="+mj-lt"/>
              <a:buAutoNum type="arabicPeriod"/>
            </a:pPr>
            <a:r>
              <a:rPr lang="en-US" sz="1400" b="1" dirty="0" smtClean="0"/>
              <a:t>Clearer understanding of challenges/ barriers </a:t>
            </a:r>
            <a:r>
              <a:rPr lang="en-US" sz="1400" dirty="0" smtClean="0"/>
              <a:t>in attaining goal of providing clean &amp; reliable energy access </a:t>
            </a:r>
          </a:p>
          <a:p>
            <a:pPr marL="342900" indent="-342900">
              <a:lnSpc>
                <a:spcPct val="150000"/>
              </a:lnSpc>
              <a:buFont typeface="+mj-lt"/>
              <a:buAutoNum type="arabicPeriod"/>
            </a:pPr>
            <a:r>
              <a:rPr lang="en-US" sz="1400" b="1" dirty="0" smtClean="0"/>
              <a:t>State-level</a:t>
            </a:r>
            <a:r>
              <a:rPr lang="en-US" sz="1400" dirty="0" smtClean="0"/>
              <a:t> </a:t>
            </a:r>
            <a:r>
              <a:rPr lang="en-US" sz="1400" b="1" dirty="0" smtClean="0"/>
              <a:t>Energy Action Plan </a:t>
            </a:r>
            <a:r>
              <a:rPr lang="en-US" sz="1400" dirty="0" smtClean="0"/>
              <a:t>for a period of 10-15 years (inline with SDG 2030 timeline)</a:t>
            </a:r>
          </a:p>
          <a:p>
            <a:pPr marL="342900" indent="-342900">
              <a:lnSpc>
                <a:spcPct val="150000"/>
              </a:lnSpc>
              <a:buFont typeface="+mj-lt"/>
              <a:buAutoNum type="arabicPeriod"/>
            </a:pPr>
            <a:r>
              <a:rPr lang="en-US" sz="1400" b="1" dirty="0" smtClean="0"/>
              <a:t>Decision Support Tool </a:t>
            </a:r>
            <a:r>
              <a:rPr lang="en-US" sz="1400" dirty="0" smtClean="0"/>
              <a:t>hosted at state-level and operated by core-group of employees to evaluate and analyze scenarios on State’s aspirations from energy perspective  </a:t>
            </a:r>
            <a:endParaRPr lang="en-IN" sz="1400" dirty="0" smtClean="0"/>
          </a:p>
        </p:txBody>
      </p:sp>
      <p:sp>
        <p:nvSpPr>
          <p:cNvPr id="5" name="TextBox 4"/>
          <p:cNvSpPr txBox="1"/>
          <p:nvPr/>
        </p:nvSpPr>
        <p:spPr>
          <a:xfrm>
            <a:off x="407520" y="2423452"/>
            <a:ext cx="10935856" cy="430887"/>
          </a:xfrm>
          <a:prstGeom prst="rect">
            <a:avLst/>
          </a:prstGeom>
          <a:noFill/>
        </p:spPr>
        <p:txBody>
          <a:bodyPr wrap="square" lIns="0" tIns="0" rIns="0" bIns="0" rtlCol="0">
            <a:spAutoFit/>
          </a:bodyPr>
          <a:lstStyle/>
          <a:p>
            <a:pPr algn="just">
              <a:spcBef>
                <a:spcPts val="600"/>
              </a:spcBef>
              <a:buSzPct val="100000"/>
            </a:pPr>
            <a:r>
              <a:rPr lang="en-US" sz="1400" i="1" dirty="0" smtClean="0">
                <a:solidFill>
                  <a:srgbClr val="313131"/>
                </a:solidFill>
              </a:rPr>
              <a:t>The program, effectively planned, has the ability to push both ranking and score of Jharkhand on SDG Index by impacting other development goals as below -  </a:t>
            </a:r>
            <a:endParaRPr lang="en-IN" sz="1400" i="1" dirty="0" smtClean="0">
              <a:solidFill>
                <a:srgbClr val="313131"/>
              </a:solidFill>
            </a:endParaRPr>
          </a:p>
        </p:txBody>
      </p:sp>
      <p:grpSp>
        <p:nvGrpSpPr>
          <p:cNvPr id="18" name="Group 17"/>
          <p:cNvGrpSpPr/>
          <p:nvPr/>
        </p:nvGrpSpPr>
        <p:grpSpPr bwMode="gray">
          <a:xfrm>
            <a:off x="4591050" y="3087041"/>
            <a:ext cx="2781821" cy="3027364"/>
            <a:chOff x="2473036" y="1584329"/>
            <a:chExt cx="4186238" cy="4479925"/>
          </a:xfrm>
        </p:grpSpPr>
        <p:sp>
          <p:nvSpPr>
            <p:cNvPr id="19" name="Freeform 4"/>
            <p:cNvSpPr>
              <a:spLocks/>
            </p:cNvSpPr>
            <p:nvPr/>
          </p:nvSpPr>
          <p:spPr bwMode="gray">
            <a:xfrm>
              <a:off x="2473036" y="2727215"/>
              <a:ext cx="2520915" cy="1141333"/>
            </a:xfrm>
            <a:custGeom>
              <a:avLst/>
              <a:gdLst>
                <a:gd name="T0" fmla="*/ 15642060 w 1136"/>
                <a:gd name="T1" fmla="*/ 5102294 h 491"/>
                <a:gd name="T2" fmla="*/ 15442507 w 1136"/>
                <a:gd name="T3" fmla="*/ 4270120 h 491"/>
                <a:gd name="T4" fmla="*/ 15069848 w 1136"/>
                <a:gd name="T5" fmla="*/ 3479787 h 491"/>
                <a:gd name="T6" fmla="*/ 14519275 w 1136"/>
                <a:gd name="T7" fmla="*/ 2717349 h 491"/>
                <a:gd name="T8" fmla="*/ 13853297 w 1136"/>
                <a:gd name="T9" fmla="*/ 2024646 h 491"/>
                <a:gd name="T10" fmla="*/ 13033448 w 1136"/>
                <a:gd name="T11" fmla="*/ 1434221 h 491"/>
                <a:gd name="T12" fmla="*/ 12105407 w 1136"/>
                <a:gd name="T13" fmla="*/ 911207 h 491"/>
                <a:gd name="T14" fmla="*/ 11098026 w 1136"/>
                <a:gd name="T15" fmla="*/ 516041 h 491"/>
                <a:gd name="T16" fmla="*/ 10006496 w 1136"/>
                <a:gd name="T17" fmla="*/ 218504 h 491"/>
                <a:gd name="T18" fmla="*/ 8871688 w 1136"/>
                <a:gd name="T19" fmla="*/ 44166 h 491"/>
                <a:gd name="T20" fmla="*/ 7729668 w 1136"/>
                <a:gd name="T21" fmla="*/ 0 h 491"/>
                <a:gd name="T22" fmla="*/ 6556394 w 1136"/>
                <a:gd name="T23" fmla="*/ 65086 h 491"/>
                <a:gd name="T24" fmla="*/ 5445630 w 1136"/>
                <a:gd name="T25" fmla="*/ 281265 h 491"/>
                <a:gd name="T26" fmla="*/ 4363716 w 1136"/>
                <a:gd name="T27" fmla="*/ 595074 h 491"/>
                <a:gd name="T28" fmla="*/ 3353931 w 1136"/>
                <a:gd name="T29" fmla="*/ 1029757 h 491"/>
                <a:gd name="T30" fmla="*/ 2471571 w 1136"/>
                <a:gd name="T31" fmla="*/ 1569042 h 491"/>
                <a:gd name="T32" fmla="*/ 1690189 w 1136"/>
                <a:gd name="T33" fmla="*/ 2182712 h 491"/>
                <a:gd name="T34" fmla="*/ 1038637 w 1136"/>
                <a:gd name="T35" fmla="*/ 2884714 h 491"/>
                <a:gd name="T36" fmla="*/ 536148 w 1136"/>
                <a:gd name="T37" fmla="*/ 3640178 h 491"/>
                <a:gd name="T38" fmla="*/ 197149 w 1136"/>
                <a:gd name="T39" fmla="*/ 4458405 h 491"/>
                <a:gd name="T40" fmla="*/ 28851 w 1136"/>
                <a:gd name="T41" fmla="*/ 5302202 h 491"/>
                <a:gd name="T42" fmla="*/ 7854689 w 1136"/>
                <a:gd name="T43" fmla="*/ 5722937 h 491"/>
                <a:gd name="T44" fmla="*/ 8999113 w 1136"/>
                <a:gd name="T45" fmla="*/ 5448646 h 491"/>
                <a:gd name="T46" fmla="*/ 9376580 w 1136"/>
                <a:gd name="T47" fmla="*/ 4958175 h 491"/>
                <a:gd name="T48" fmla="*/ 9898305 w 1136"/>
                <a:gd name="T49" fmla="*/ 4537438 h 491"/>
                <a:gd name="T50" fmla="*/ 10513793 w 1136"/>
                <a:gd name="T51" fmla="*/ 4209682 h 491"/>
                <a:gd name="T52" fmla="*/ 11213430 w 1136"/>
                <a:gd name="T53" fmla="*/ 3970258 h 491"/>
                <a:gd name="T54" fmla="*/ 11941918 w 1136"/>
                <a:gd name="T55" fmla="*/ 3849384 h 491"/>
                <a:gd name="T56" fmla="*/ 12699257 w 1136"/>
                <a:gd name="T57" fmla="*/ 3849384 h 491"/>
                <a:gd name="T58" fmla="*/ 13461405 w 1136"/>
                <a:gd name="T59" fmla="*/ 3974907 h 491"/>
                <a:gd name="T60" fmla="*/ 14161041 w 1136"/>
                <a:gd name="T61" fmla="*/ 4223630 h 491"/>
                <a:gd name="T62" fmla="*/ 14790955 w 1136"/>
                <a:gd name="T63" fmla="*/ 4579279 h 491"/>
                <a:gd name="T64" fmla="*/ 15295848 w 1136"/>
                <a:gd name="T65" fmla="*/ 5006989 h 491"/>
                <a:gd name="T66" fmla="*/ 15682932 w 1136"/>
                <a:gd name="T67" fmla="*/ 5523030 h 49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36"/>
                <a:gd name="T103" fmla="*/ 0 h 491"/>
                <a:gd name="T104" fmla="*/ 1136 w 1136"/>
                <a:gd name="T105" fmla="*/ 491 h 49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36" h="491">
                  <a:moveTo>
                    <a:pt x="1135" y="473"/>
                  </a:moveTo>
                  <a:lnTo>
                    <a:pt x="1132" y="437"/>
                  </a:lnTo>
                  <a:lnTo>
                    <a:pt x="1126" y="401"/>
                  </a:lnTo>
                  <a:lnTo>
                    <a:pt x="1117" y="366"/>
                  </a:lnTo>
                  <a:lnTo>
                    <a:pt x="1104" y="331"/>
                  </a:lnTo>
                  <a:lnTo>
                    <a:pt x="1090" y="298"/>
                  </a:lnTo>
                  <a:lnTo>
                    <a:pt x="1072" y="264"/>
                  </a:lnTo>
                  <a:lnTo>
                    <a:pt x="1051" y="233"/>
                  </a:lnTo>
                  <a:lnTo>
                    <a:pt x="1027" y="203"/>
                  </a:lnTo>
                  <a:lnTo>
                    <a:pt x="1002" y="174"/>
                  </a:lnTo>
                  <a:lnTo>
                    <a:pt x="974" y="148"/>
                  </a:lnTo>
                  <a:lnTo>
                    <a:pt x="943" y="123"/>
                  </a:lnTo>
                  <a:lnTo>
                    <a:pt x="911" y="99"/>
                  </a:lnTo>
                  <a:lnTo>
                    <a:pt x="876" y="78"/>
                  </a:lnTo>
                  <a:lnTo>
                    <a:pt x="840" y="60"/>
                  </a:lnTo>
                  <a:lnTo>
                    <a:pt x="803" y="44"/>
                  </a:lnTo>
                  <a:lnTo>
                    <a:pt x="764" y="30"/>
                  </a:lnTo>
                  <a:lnTo>
                    <a:pt x="724" y="19"/>
                  </a:lnTo>
                  <a:lnTo>
                    <a:pt x="683" y="10"/>
                  </a:lnTo>
                  <a:lnTo>
                    <a:pt x="642" y="4"/>
                  </a:lnTo>
                  <a:lnTo>
                    <a:pt x="600" y="1"/>
                  </a:lnTo>
                  <a:lnTo>
                    <a:pt x="559" y="0"/>
                  </a:lnTo>
                  <a:lnTo>
                    <a:pt x="517" y="2"/>
                  </a:lnTo>
                  <a:lnTo>
                    <a:pt x="474" y="6"/>
                  </a:lnTo>
                  <a:lnTo>
                    <a:pt x="433" y="14"/>
                  </a:lnTo>
                  <a:lnTo>
                    <a:pt x="394" y="24"/>
                  </a:lnTo>
                  <a:lnTo>
                    <a:pt x="354" y="37"/>
                  </a:lnTo>
                  <a:lnTo>
                    <a:pt x="316" y="51"/>
                  </a:lnTo>
                  <a:lnTo>
                    <a:pt x="279" y="68"/>
                  </a:lnTo>
                  <a:lnTo>
                    <a:pt x="243" y="88"/>
                  </a:lnTo>
                  <a:lnTo>
                    <a:pt x="210" y="110"/>
                  </a:lnTo>
                  <a:lnTo>
                    <a:pt x="179" y="134"/>
                  </a:lnTo>
                  <a:lnTo>
                    <a:pt x="149" y="159"/>
                  </a:lnTo>
                  <a:lnTo>
                    <a:pt x="122" y="187"/>
                  </a:lnTo>
                  <a:lnTo>
                    <a:pt x="97" y="217"/>
                  </a:lnTo>
                  <a:lnTo>
                    <a:pt x="75" y="247"/>
                  </a:lnTo>
                  <a:lnTo>
                    <a:pt x="56" y="280"/>
                  </a:lnTo>
                  <a:lnTo>
                    <a:pt x="39" y="312"/>
                  </a:lnTo>
                  <a:lnTo>
                    <a:pt x="25" y="347"/>
                  </a:lnTo>
                  <a:lnTo>
                    <a:pt x="14" y="382"/>
                  </a:lnTo>
                  <a:lnTo>
                    <a:pt x="7" y="417"/>
                  </a:lnTo>
                  <a:lnTo>
                    <a:pt x="2" y="454"/>
                  </a:lnTo>
                  <a:lnTo>
                    <a:pt x="0" y="490"/>
                  </a:lnTo>
                  <a:lnTo>
                    <a:pt x="568" y="490"/>
                  </a:lnTo>
                  <a:lnTo>
                    <a:pt x="640" y="490"/>
                  </a:lnTo>
                  <a:lnTo>
                    <a:pt x="651" y="467"/>
                  </a:lnTo>
                  <a:lnTo>
                    <a:pt x="664" y="445"/>
                  </a:lnTo>
                  <a:lnTo>
                    <a:pt x="679" y="425"/>
                  </a:lnTo>
                  <a:lnTo>
                    <a:pt x="696" y="406"/>
                  </a:lnTo>
                  <a:lnTo>
                    <a:pt x="716" y="389"/>
                  </a:lnTo>
                  <a:lnTo>
                    <a:pt x="738" y="374"/>
                  </a:lnTo>
                  <a:lnTo>
                    <a:pt x="761" y="361"/>
                  </a:lnTo>
                  <a:lnTo>
                    <a:pt x="785" y="350"/>
                  </a:lnTo>
                  <a:lnTo>
                    <a:pt x="811" y="340"/>
                  </a:lnTo>
                  <a:lnTo>
                    <a:pt x="837" y="334"/>
                  </a:lnTo>
                  <a:lnTo>
                    <a:pt x="864" y="330"/>
                  </a:lnTo>
                  <a:lnTo>
                    <a:pt x="891" y="330"/>
                  </a:lnTo>
                  <a:lnTo>
                    <a:pt x="919" y="330"/>
                  </a:lnTo>
                  <a:lnTo>
                    <a:pt x="947" y="335"/>
                  </a:lnTo>
                  <a:lnTo>
                    <a:pt x="974" y="341"/>
                  </a:lnTo>
                  <a:lnTo>
                    <a:pt x="1000" y="351"/>
                  </a:lnTo>
                  <a:lnTo>
                    <a:pt x="1025" y="362"/>
                  </a:lnTo>
                  <a:lnTo>
                    <a:pt x="1048" y="375"/>
                  </a:lnTo>
                  <a:lnTo>
                    <a:pt x="1070" y="392"/>
                  </a:lnTo>
                  <a:lnTo>
                    <a:pt x="1090" y="410"/>
                  </a:lnTo>
                  <a:lnTo>
                    <a:pt x="1107" y="429"/>
                  </a:lnTo>
                  <a:lnTo>
                    <a:pt x="1122" y="451"/>
                  </a:lnTo>
                  <a:lnTo>
                    <a:pt x="1135" y="473"/>
                  </a:lnTo>
                </a:path>
              </a:pathLst>
            </a:custGeom>
            <a:solidFill>
              <a:srgbClr val="43B02A"/>
            </a:solidFill>
            <a:ln w="19050" cap="rnd">
              <a:solidFill>
                <a:sysClr val="windowText" lastClr="000000"/>
              </a:solidFill>
              <a:round/>
              <a:headEnd/>
              <a:tailEnd/>
            </a:ln>
          </p:spPr>
          <p:txBody>
            <a:bodyPr lIns="0" tIns="0" rIns="0" bIns="0"/>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600" b="0" i="0" u="none" strike="noStrike" kern="0" cap="none" spc="0" normalizeH="0" baseline="0" noProof="0" dirty="0" smtClean="0">
                <a:ln>
                  <a:noFill/>
                </a:ln>
                <a:solidFill>
                  <a:prstClr val="white"/>
                </a:solidFill>
                <a:effectLst/>
                <a:uLnTx/>
                <a:uFillTx/>
                <a:latin typeface="Calibri"/>
                <a:cs typeface="Arial" pitchFamily="34" charset="0"/>
              </a:endParaRPr>
            </a:p>
          </p:txBody>
        </p:sp>
        <p:sp>
          <p:nvSpPr>
            <p:cNvPr id="21" name="Freeform 5"/>
            <p:cNvSpPr>
              <a:spLocks/>
            </p:cNvSpPr>
            <p:nvPr/>
          </p:nvSpPr>
          <p:spPr bwMode="gray">
            <a:xfrm>
              <a:off x="3540734" y="3425990"/>
              <a:ext cx="1094928" cy="2638264"/>
            </a:xfrm>
            <a:custGeom>
              <a:avLst/>
              <a:gdLst>
                <a:gd name="T0" fmla="*/ 6090193 w 493"/>
                <a:gd name="T1" fmla="*/ 30245 h 1134"/>
                <a:gd name="T2" fmla="*/ 5096416 w 493"/>
                <a:gd name="T3" fmla="*/ 209386 h 1134"/>
                <a:gd name="T4" fmla="*/ 4150763 w 493"/>
                <a:gd name="T5" fmla="*/ 523465 h 1134"/>
                <a:gd name="T6" fmla="*/ 3250830 w 493"/>
                <a:gd name="T7" fmla="*/ 986441 h 1134"/>
                <a:gd name="T8" fmla="*/ 2447145 w 493"/>
                <a:gd name="T9" fmla="*/ 1554110 h 1134"/>
                <a:gd name="T10" fmla="*/ 1710836 w 493"/>
                <a:gd name="T11" fmla="*/ 2233451 h 1134"/>
                <a:gd name="T12" fmla="*/ 1111683 w 493"/>
                <a:gd name="T13" fmla="*/ 3029118 h 1134"/>
                <a:gd name="T14" fmla="*/ 623216 w 493"/>
                <a:gd name="T15" fmla="*/ 3889927 h 1134"/>
                <a:gd name="T16" fmla="*/ 276718 w 493"/>
                <a:gd name="T17" fmla="*/ 4820532 h 1134"/>
                <a:gd name="T18" fmla="*/ 69781 w 493"/>
                <a:gd name="T19" fmla="*/ 5765095 h 1134"/>
                <a:gd name="T20" fmla="*/ 0 w 493"/>
                <a:gd name="T21" fmla="*/ 6751536 h 1134"/>
                <a:gd name="T22" fmla="*/ 96250 w 493"/>
                <a:gd name="T23" fmla="*/ 7724017 h 1134"/>
                <a:gd name="T24" fmla="*/ 346499 w 493"/>
                <a:gd name="T25" fmla="*/ 8687192 h 1134"/>
                <a:gd name="T26" fmla="*/ 726684 w 493"/>
                <a:gd name="T27" fmla="*/ 9592207 h 1134"/>
                <a:gd name="T28" fmla="*/ 1236807 w 493"/>
                <a:gd name="T29" fmla="*/ 10429751 h 1134"/>
                <a:gd name="T30" fmla="*/ 1872054 w 493"/>
                <a:gd name="T31" fmla="*/ 11195173 h 1134"/>
                <a:gd name="T32" fmla="*/ 2605958 w 493"/>
                <a:gd name="T33" fmla="*/ 11855902 h 1134"/>
                <a:gd name="T34" fmla="*/ 3457766 w 493"/>
                <a:gd name="T35" fmla="*/ 12402632 h 1134"/>
                <a:gd name="T36" fmla="*/ 4362512 w 493"/>
                <a:gd name="T37" fmla="*/ 12842342 h 1134"/>
                <a:gd name="T38" fmla="*/ 5329821 w 493"/>
                <a:gd name="T39" fmla="*/ 13123850 h 1134"/>
                <a:gd name="T40" fmla="*/ 6316379 w 493"/>
                <a:gd name="T41" fmla="*/ 13265767 h 1134"/>
                <a:gd name="T42" fmla="*/ 6824095 w 493"/>
                <a:gd name="T43" fmla="*/ 6637537 h 1134"/>
                <a:gd name="T44" fmla="*/ 6496847 w 493"/>
                <a:gd name="T45" fmla="*/ 5672035 h 1134"/>
                <a:gd name="T46" fmla="*/ 5909725 w 493"/>
                <a:gd name="T47" fmla="*/ 5343997 h 1134"/>
                <a:gd name="T48" fmla="*/ 5426071 w 493"/>
                <a:gd name="T49" fmla="*/ 4897307 h 1134"/>
                <a:gd name="T50" fmla="*/ 5021823 w 493"/>
                <a:gd name="T51" fmla="*/ 4380820 h 1134"/>
                <a:gd name="T52" fmla="*/ 4742698 w 493"/>
                <a:gd name="T53" fmla="*/ 3796866 h 1134"/>
                <a:gd name="T54" fmla="*/ 4605542 w 493"/>
                <a:gd name="T55" fmla="*/ 3175688 h 1134"/>
                <a:gd name="T56" fmla="*/ 4605542 w 493"/>
                <a:gd name="T57" fmla="*/ 2517285 h 1134"/>
                <a:gd name="T58" fmla="*/ 4761948 w 493"/>
                <a:gd name="T59" fmla="*/ 1886801 h 1134"/>
                <a:gd name="T60" fmla="*/ 5038666 w 493"/>
                <a:gd name="T61" fmla="*/ 1288887 h 1134"/>
                <a:gd name="T62" fmla="*/ 5454946 w 493"/>
                <a:gd name="T63" fmla="*/ 756116 h 1134"/>
                <a:gd name="T64" fmla="*/ 5981912 w 493"/>
                <a:gd name="T65" fmla="*/ 328038 h 1134"/>
                <a:gd name="T66" fmla="*/ 6593097 w 493"/>
                <a:gd name="T67" fmla="*/ 0 h 113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93"/>
                <a:gd name="T103" fmla="*/ 0 h 1134"/>
                <a:gd name="T104" fmla="*/ 493 w 493"/>
                <a:gd name="T105" fmla="*/ 1134 h 113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93" h="1134">
                  <a:moveTo>
                    <a:pt x="475" y="0"/>
                  </a:moveTo>
                  <a:lnTo>
                    <a:pt x="439" y="3"/>
                  </a:lnTo>
                  <a:lnTo>
                    <a:pt x="403" y="9"/>
                  </a:lnTo>
                  <a:lnTo>
                    <a:pt x="367" y="18"/>
                  </a:lnTo>
                  <a:lnTo>
                    <a:pt x="333" y="30"/>
                  </a:lnTo>
                  <a:lnTo>
                    <a:pt x="299" y="45"/>
                  </a:lnTo>
                  <a:lnTo>
                    <a:pt x="266" y="63"/>
                  </a:lnTo>
                  <a:lnTo>
                    <a:pt x="234" y="84"/>
                  </a:lnTo>
                  <a:lnTo>
                    <a:pt x="204" y="107"/>
                  </a:lnTo>
                  <a:lnTo>
                    <a:pt x="176" y="133"/>
                  </a:lnTo>
                  <a:lnTo>
                    <a:pt x="148" y="161"/>
                  </a:lnTo>
                  <a:lnTo>
                    <a:pt x="123" y="191"/>
                  </a:lnTo>
                  <a:lnTo>
                    <a:pt x="101" y="224"/>
                  </a:lnTo>
                  <a:lnTo>
                    <a:pt x="80" y="258"/>
                  </a:lnTo>
                  <a:lnTo>
                    <a:pt x="61" y="294"/>
                  </a:lnTo>
                  <a:lnTo>
                    <a:pt x="45" y="332"/>
                  </a:lnTo>
                  <a:lnTo>
                    <a:pt x="31" y="370"/>
                  </a:lnTo>
                  <a:lnTo>
                    <a:pt x="20" y="411"/>
                  </a:lnTo>
                  <a:lnTo>
                    <a:pt x="11" y="451"/>
                  </a:lnTo>
                  <a:lnTo>
                    <a:pt x="5" y="492"/>
                  </a:lnTo>
                  <a:lnTo>
                    <a:pt x="1" y="534"/>
                  </a:lnTo>
                  <a:lnTo>
                    <a:pt x="0" y="576"/>
                  </a:lnTo>
                  <a:lnTo>
                    <a:pt x="3" y="617"/>
                  </a:lnTo>
                  <a:lnTo>
                    <a:pt x="7" y="659"/>
                  </a:lnTo>
                  <a:lnTo>
                    <a:pt x="14" y="701"/>
                  </a:lnTo>
                  <a:lnTo>
                    <a:pt x="25" y="741"/>
                  </a:lnTo>
                  <a:lnTo>
                    <a:pt x="37" y="780"/>
                  </a:lnTo>
                  <a:lnTo>
                    <a:pt x="52" y="818"/>
                  </a:lnTo>
                  <a:lnTo>
                    <a:pt x="69" y="855"/>
                  </a:lnTo>
                  <a:lnTo>
                    <a:pt x="89" y="890"/>
                  </a:lnTo>
                  <a:lnTo>
                    <a:pt x="111" y="924"/>
                  </a:lnTo>
                  <a:lnTo>
                    <a:pt x="135" y="955"/>
                  </a:lnTo>
                  <a:lnTo>
                    <a:pt x="161" y="984"/>
                  </a:lnTo>
                  <a:lnTo>
                    <a:pt x="188" y="1011"/>
                  </a:lnTo>
                  <a:lnTo>
                    <a:pt x="218" y="1036"/>
                  </a:lnTo>
                  <a:lnTo>
                    <a:pt x="249" y="1058"/>
                  </a:lnTo>
                  <a:lnTo>
                    <a:pt x="281" y="1078"/>
                  </a:lnTo>
                  <a:lnTo>
                    <a:pt x="314" y="1095"/>
                  </a:lnTo>
                  <a:lnTo>
                    <a:pt x="349" y="1108"/>
                  </a:lnTo>
                  <a:lnTo>
                    <a:pt x="384" y="1119"/>
                  </a:lnTo>
                  <a:lnTo>
                    <a:pt x="419" y="1126"/>
                  </a:lnTo>
                  <a:lnTo>
                    <a:pt x="455" y="1131"/>
                  </a:lnTo>
                  <a:lnTo>
                    <a:pt x="492" y="1133"/>
                  </a:lnTo>
                  <a:lnTo>
                    <a:pt x="492" y="566"/>
                  </a:lnTo>
                  <a:lnTo>
                    <a:pt x="492" y="494"/>
                  </a:lnTo>
                  <a:lnTo>
                    <a:pt x="468" y="484"/>
                  </a:lnTo>
                  <a:lnTo>
                    <a:pt x="447" y="470"/>
                  </a:lnTo>
                  <a:lnTo>
                    <a:pt x="426" y="456"/>
                  </a:lnTo>
                  <a:lnTo>
                    <a:pt x="408" y="438"/>
                  </a:lnTo>
                  <a:lnTo>
                    <a:pt x="391" y="418"/>
                  </a:lnTo>
                  <a:lnTo>
                    <a:pt x="375" y="397"/>
                  </a:lnTo>
                  <a:lnTo>
                    <a:pt x="362" y="374"/>
                  </a:lnTo>
                  <a:lnTo>
                    <a:pt x="351" y="349"/>
                  </a:lnTo>
                  <a:lnTo>
                    <a:pt x="342" y="324"/>
                  </a:lnTo>
                  <a:lnTo>
                    <a:pt x="336" y="298"/>
                  </a:lnTo>
                  <a:lnTo>
                    <a:pt x="332" y="271"/>
                  </a:lnTo>
                  <a:lnTo>
                    <a:pt x="331" y="243"/>
                  </a:lnTo>
                  <a:lnTo>
                    <a:pt x="332" y="215"/>
                  </a:lnTo>
                  <a:lnTo>
                    <a:pt x="336" y="188"/>
                  </a:lnTo>
                  <a:lnTo>
                    <a:pt x="343" y="161"/>
                  </a:lnTo>
                  <a:lnTo>
                    <a:pt x="352" y="135"/>
                  </a:lnTo>
                  <a:lnTo>
                    <a:pt x="363" y="110"/>
                  </a:lnTo>
                  <a:lnTo>
                    <a:pt x="377" y="86"/>
                  </a:lnTo>
                  <a:lnTo>
                    <a:pt x="393" y="65"/>
                  </a:lnTo>
                  <a:lnTo>
                    <a:pt x="412" y="45"/>
                  </a:lnTo>
                  <a:lnTo>
                    <a:pt x="431" y="28"/>
                  </a:lnTo>
                  <a:lnTo>
                    <a:pt x="452" y="12"/>
                  </a:lnTo>
                  <a:lnTo>
                    <a:pt x="475" y="0"/>
                  </a:lnTo>
                </a:path>
              </a:pathLst>
            </a:custGeom>
            <a:solidFill>
              <a:srgbClr val="0D8390"/>
            </a:solidFill>
            <a:ln w="19050" cap="rnd">
              <a:solidFill>
                <a:sysClr val="windowText" lastClr="000000"/>
              </a:solidFill>
              <a:round/>
              <a:headEnd/>
              <a:tailEnd/>
            </a:ln>
          </p:spPr>
          <p:txBody>
            <a:bodyPr lIns="0" tIns="0" rIns="0" bIns="0"/>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600" b="0" i="0" u="none" strike="noStrike" kern="0" cap="none" spc="0" normalizeH="0" baseline="0" noProof="0" dirty="0" smtClean="0">
                <a:ln>
                  <a:noFill/>
                </a:ln>
                <a:solidFill>
                  <a:prstClr val="white"/>
                </a:solidFill>
                <a:effectLst/>
                <a:uLnTx/>
                <a:uFillTx/>
                <a:latin typeface="Calibri"/>
                <a:cs typeface="Arial" pitchFamily="34" charset="0"/>
              </a:endParaRPr>
            </a:p>
          </p:txBody>
        </p:sp>
        <p:sp>
          <p:nvSpPr>
            <p:cNvPr id="22" name="Freeform 6"/>
            <p:cNvSpPr>
              <a:spLocks/>
            </p:cNvSpPr>
            <p:nvPr/>
          </p:nvSpPr>
          <p:spPr bwMode="gray">
            <a:xfrm>
              <a:off x="4138359" y="3811092"/>
              <a:ext cx="2520915" cy="1142886"/>
            </a:xfrm>
            <a:custGeom>
              <a:avLst/>
              <a:gdLst>
                <a:gd name="T0" fmla="*/ 45681 w 1136"/>
                <a:gd name="T1" fmla="*/ 616833 h 491"/>
                <a:gd name="T2" fmla="*/ 250042 w 1136"/>
                <a:gd name="T3" fmla="*/ 1466432 h 491"/>
                <a:gd name="T4" fmla="*/ 622701 w 1136"/>
                <a:gd name="T5" fmla="*/ 2264823 h 491"/>
                <a:gd name="T6" fmla="*/ 1158849 w 1136"/>
                <a:gd name="T7" fmla="*/ 3018988 h 491"/>
                <a:gd name="T8" fmla="*/ 1839252 w 1136"/>
                <a:gd name="T9" fmla="*/ 3719617 h 491"/>
                <a:gd name="T10" fmla="*/ 2649485 w 1136"/>
                <a:gd name="T11" fmla="*/ 4327139 h 491"/>
                <a:gd name="T12" fmla="*/ 3582335 w 1136"/>
                <a:gd name="T13" fmla="*/ 4843882 h 491"/>
                <a:gd name="T14" fmla="*/ 4589716 w 1136"/>
                <a:gd name="T15" fmla="*/ 5251225 h 491"/>
                <a:gd name="T16" fmla="*/ 5676438 w 1136"/>
                <a:gd name="T17" fmla="*/ 5546839 h 491"/>
                <a:gd name="T18" fmla="*/ 6808840 w 1136"/>
                <a:gd name="T19" fmla="*/ 5714431 h 491"/>
                <a:gd name="T20" fmla="*/ 7960477 w 1136"/>
                <a:gd name="T21" fmla="*/ 5763312 h 491"/>
                <a:gd name="T22" fmla="*/ 9121730 w 1136"/>
                <a:gd name="T23" fmla="*/ 5691154 h 491"/>
                <a:gd name="T24" fmla="*/ 10237304 w 1136"/>
                <a:gd name="T25" fmla="*/ 5483992 h 491"/>
                <a:gd name="T26" fmla="*/ 11316813 w 1136"/>
                <a:gd name="T27" fmla="*/ 5169756 h 491"/>
                <a:gd name="T28" fmla="*/ 12326598 w 1136"/>
                <a:gd name="T29" fmla="*/ 4727498 h 491"/>
                <a:gd name="T30" fmla="*/ 13211362 w 1136"/>
                <a:gd name="T31" fmla="*/ 4194462 h 491"/>
                <a:gd name="T32" fmla="*/ 14002361 w 1136"/>
                <a:gd name="T33" fmla="*/ 3561335 h 491"/>
                <a:gd name="T34" fmla="*/ 14649104 w 1136"/>
                <a:gd name="T35" fmla="*/ 2853724 h 491"/>
                <a:gd name="T36" fmla="*/ 15149189 w 1136"/>
                <a:gd name="T37" fmla="*/ 2092575 h 491"/>
                <a:gd name="T38" fmla="*/ 15495401 w 1136"/>
                <a:gd name="T39" fmla="*/ 1270908 h 491"/>
                <a:gd name="T40" fmla="*/ 15654081 w 1136"/>
                <a:gd name="T41" fmla="*/ 428291 h 491"/>
                <a:gd name="T42" fmla="*/ 7840264 w 1136"/>
                <a:gd name="T43" fmla="*/ 0 h 491"/>
                <a:gd name="T44" fmla="*/ 6686224 w 1136"/>
                <a:gd name="T45" fmla="*/ 253716 h 491"/>
                <a:gd name="T46" fmla="*/ 6294331 w 1136"/>
                <a:gd name="T47" fmla="*/ 726233 h 491"/>
                <a:gd name="T48" fmla="*/ 5748566 w 1136"/>
                <a:gd name="T49" fmla="*/ 1112626 h 491"/>
                <a:gd name="T50" fmla="*/ 5125865 w 1136"/>
                <a:gd name="T51" fmla="*/ 1396602 h 491"/>
                <a:gd name="T52" fmla="*/ 4414206 w 1136"/>
                <a:gd name="T53" fmla="*/ 1573505 h 491"/>
                <a:gd name="T54" fmla="*/ 3707356 w 1136"/>
                <a:gd name="T55" fmla="*/ 1622386 h 491"/>
                <a:gd name="T56" fmla="*/ 2899528 w 1136"/>
                <a:gd name="T57" fmla="*/ 1634025 h 491"/>
                <a:gd name="T58" fmla="*/ 2125358 w 1136"/>
                <a:gd name="T59" fmla="*/ 1510658 h 491"/>
                <a:gd name="T60" fmla="*/ 1396870 w 1136"/>
                <a:gd name="T61" fmla="*/ 1270908 h 491"/>
                <a:gd name="T62" fmla="*/ 747722 w 1136"/>
                <a:gd name="T63" fmla="*/ 900808 h 491"/>
                <a:gd name="T64" fmla="*/ 223595 w 1136"/>
                <a:gd name="T65" fmla="*/ 453896 h 4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36"/>
                <a:gd name="T100" fmla="*/ 0 h 491"/>
                <a:gd name="T101" fmla="*/ 1136 w 1136"/>
                <a:gd name="T102" fmla="*/ 491 h 4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36" h="491">
                  <a:moveTo>
                    <a:pt x="0" y="17"/>
                  </a:moveTo>
                  <a:lnTo>
                    <a:pt x="3" y="53"/>
                  </a:lnTo>
                  <a:lnTo>
                    <a:pt x="9" y="89"/>
                  </a:lnTo>
                  <a:lnTo>
                    <a:pt x="18" y="125"/>
                  </a:lnTo>
                  <a:lnTo>
                    <a:pt x="31" y="159"/>
                  </a:lnTo>
                  <a:lnTo>
                    <a:pt x="45" y="193"/>
                  </a:lnTo>
                  <a:lnTo>
                    <a:pt x="63" y="226"/>
                  </a:lnTo>
                  <a:lnTo>
                    <a:pt x="84" y="257"/>
                  </a:lnTo>
                  <a:lnTo>
                    <a:pt x="108" y="287"/>
                  </a:lnTo>
                  <a:lnTo>
                    <a:pt x="133" y="316"/>
                  </a:lnTo>
                  <a:lnTo>
                    <a:pt x="161" y="343"/>
                  </a:lnTo>
                  <a:lnTo>
                    <a:pt x="192" y="368"/>
                  </a:lnTo>
                  <a:lnTo>
                    <a:pt x="224" y="391"/>
                  </a:lnTo>
                  <a:lnTo>
                    <a:pt x="259" y="412"/>
                  </a:lnTo>
                  <a:lnTo>
                    <a:pt x="295" y="430"/>
                  </a:lnTo>
                  <a:lnTo>
                    <a:pt x="332" y="447"/>
                  </a:lnTo>
                  <a:lnTo>
                    <a:pt x="371" y="460"/>
                  </a:lnTo>
                  <a:lnTo>
                    <a:pt x="411" y="472"/>
                  </a:lnTo>
                  <a:lnTo>
                    <a:pt x="452" y="480"/>
                  </a:lnTo>
                  <a:lnTo>
                    <a:pt x="493" y="486"/>
                  </a:lnTo>
                  <a:lnTo>
                    <a:pt x="534" y="489"/>
                  </a:lnTo>
                  <a:lnTo>
                    <a:pt x="576" y="490"/>
                  </a:lnTo>
                  <a:lnTo>
                    <a:pt x="618" y="489"/>
                  </a:lnTo>
                  <a:lnTo>
                    <a:pt x="660" y="484"/>
                  </a:lnTo>
                  <a:lnTo>
                    <a:pt x="701" y="476"/>
                  </a:lnTo>
                  <a:lnTo>
                    <a:pt x="741" y="467"/>
                  </a:lnTo>
                  <a:lnTo>
                    <a:pt x="781" y="454"/>
                  </a:lnTo>
                  <a:lnTo>
                    <a:pt x="819" y="440"/>
                  </a:lnTo>
                  <a:lnTo>
                    <a:pt x="856" y="422"/>
                  </a:lnTo>
                  <a:lnTo>
                    <a:pt x="892" y="402"/>
                  </a:lnTo>
                  <a:lnTo>
                    <a:pt x="925" y="381"/>
                  </a:lnTo>
                  <a:lnTo>
                    <a:pt x="956" y="357"/>
                  </a:lnTo>
                  <a:lnTo>
                    <a:pt x="986" y="331"/>
                  </a:lnTo>
                  <a:lnTo>
                    <a:pt x="1013" y="303"/>
                  </a:lnTo>
                  <a:lnTo>
                    <a:pt x="1038" y="274"/>
                  </a:lnTo>
                  <a:lnTo>
                    <a:pt x="1060" y="243"/>
                  </a:lnTo>
                  <a:lnTo>
                    <a:pt x="1079" y="211"/>
                  </a:lnTo>
                  <a:lnTo>
                    <a:pt x="1096" y="178"/>
                  </a:lnTo>
                  <a:lnTo>
                    <a:pt x="1110" y="143"/>
                  </a:lnTo>
                  <a:lnTo>
                    <a:pt x="1121" y="108"/>
                  </a:lnTo>
                  <a:lnTo>
                    <a:pt x="1128" y="73"/>
                  </a:lnTo>
                  <a:lnTo>
                    <a:pt x="1133" y="37"/>
                  </a:lnTo>
                  <a:lnTo>
                    <a:pt x="1135" y="0"/>
                  </a:lnTo>
                  <a:lnTo>
                    <a:pt x="567" y="0"/>
                  </a:lnTo>
                  <a:lnTo>
                    <a:pt x="495" y="0"/>
                  </a:lnTo>
                  <a:lnTo>
                    <a:pt x="484" y="22"/>
                  </a:lnTo>
                  <a:lnTo>
                    <a:pt x="470" y="43"/>
                  </a:lnTo>
                  <a:lnTo>
                    <a:pt x="455" y="62"/>
                  </a:lnTo>
                  <a:lnTo>
                    <a:pt x="436" y="80"/>
                  </a:lnTo>
                  <a:lnTo>
                    <a:pt x="416" y="95"/>
                  </a:lnTo>
                  <a:lnTo>
                    <a:pt x="394" y="108"/>
                  </a:lnTo>
                  <a:lnTo>
                    <a:pt x="371" y="119"/>
                  </a:lnTo>
                  <a:lnTo>
                    <a:pt x="346" y="128"/>
                  </a:lnTo>
                  <a:lnTo>
                    <a:pt x="320" y="134"/>
                  </a:lnTo>
                  <a:lnTo>
                    <a:pt x="295" y="137"/>
                  </a:lnTo>
                  <a:lnTo>
                    <a:pt x="268" y="138"/>
                  </a:lnTo>
                  <a:lnTo>
                    <a:pt x="238" y="140"/>
                  </a:lnTo>
                  <a:lnTo>
                    <a:pt x="210" y="139"/>
                  </a:lnTo>
                  <a:lnTo>
                    <a:pt x="181" y="136"/>
                  </a:lnTo>
                  <a:lnTo>
                    <a:pt x="154" y="129"/>
                  </a:lnTo>
                  <a:lnTo>
                    <a:pt x="126" y="119"/>
                  </a:lnTo>
                  <a:lnTo>
                    <a:pt x="101" y="108"/>
                  </a:lnTo>
                  <a:lnTo>
                    <a:pt x="76" y="94"/>
                  </a:lnTo>
                  <a:lnTo>
                    <a:pt x="54" y="77"/>
                  </a:lnTo>
                  <a:lnTo>
                    <a:pt x="34" y="60"/>
                  </a:lnTo>
                  <a:lnTo>
                    <a:pt x="16" y="39"/>
                  </a:lnTo>
                  <a:lnTo>
                    <a:pt x="0" y="17"/>
                  </a:lnTo>
                </a:path>
              </a:pathLst>
            </a:custGeom>
            <a:solidFill>
              <a:srgbClr val="046A38"/>
            </a:solidFill>
            <a:ln w="19050" cap="rnd">
              <a:solidFill>
                <a:sysClr val="windowText" lastClr="000000"/>
              </a:solidFill>
              <a:round/>
              <a:headEnd/>
              <a:tailEnd/>
            </a:ln>
          </p:spPr>
          <p:txBody>
            <a:bodyPr lIns="0" tIns="0" rIns="0" bIns="0"/>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600" b="0" i="0" u="none" strike="noStrike" kern="0" cap="none" spc="0" normalizeH="0" baseline="0" noProof="0" dirty="0" smtClean="0">
                <a:ln>
                  <a:noFill/>
                </a:ln>
                <a:solidFill>
                  <a:prstClr val="white"/>
                </a:solidFill>
                <a:effectLst/>
                <a:uLnTx/>
                <a:uFillTx/>
                <a:latin typeface="Calibri"/>
                <a:cs typeface="Arial" pitchFamily="34" charset="0"/>
              </a:endParaRPr>
            </a:p>
          </p:txBody>
        </p:sp>
        <p:sp>
          <p:nvSpPr>
            <p:cNvPr id="23" name="Freeform 7"/>
            <p:cNvSpPr>
              <a:spLocks/>
            </p:cNvSpPr>
            <p:nvPr/>
          </p:nvSpPr>
          <p:spPr bwMode="gray">
            <a:xfrm>
              <a:off x="4503813" y="1584329"/>
              <a:ext cx="1100661" cy="2646028"/>
            </a:xfrm>
            <a:custGeom>
              <a:avLst/>
              <a:gdLst>
                <a:gd name="T0" fmla="*/ 778963 w 496"/>
                <a:gd name="T1" fmla="*/ 13318572 h 1137"/>
                <a:gd name="T2" fmla="*/ 1743051 w 496"/>
                <a:gd name="T3" fmla="*/ 13134724 h 1137"/>
                <a:gd name="T4" fmla="*/ 2668671 w 496"/>
                <a:gd name="T5" fmla="*/ 12832188 h 1137"/>
                <a:gd name="T6" fmla="*/ 3531781 w 496"/>
                <a:gd name="T7" fmla="*/ 12380711 h 1137"/>
                <a:gd name="T8" fmla="*/ 4358829 w 496"/>
                <a:gd name="T9" fmla="*/ 11840800 h 1137"/>
                <a:gd name="T10" fmla="*/ 5058454 w 496"/>
                <a:gd name="T11" fmla="*/ 11163585 h 1137"/>
                <a:gd name="T12" fmla="*/ 5676335 w 496"/>
                <a:gd name="T13" fmla="*/ 10411899 h 1137"/>
                <a:gd name="T14" fmla="*/ 6169198 w 496"/>
                <a:gd name="T15" fmla="*/ 9581089 h 1137"/>
                <a:gd name="T16" fmla="*/ 6525020 w 496"/>
                <a:gd name="T17" fmla="*/ 8687441 h 1137"/>
                <a:gd name="T18" fmla="*/ 6748612 w 496"/>
                <a:gd name="T19" fmla="*/ 7747252 h 1137"/>
                <a:gd name="T20" fmla="*/ 6835163 w 496"/>
                <a:gd name="T21" fmla="*/ 6783791 h 1137"/>
                <a:gd name="T22" fmla="*/ 6782270 w 496"/>
                <a:gd name="T23" fmla="*/ 5824985 h 1137"/>
                <a:gd name="T24" fmla="*/ 6577913 w 496"/>
                <a:gd name="T25" fmla="*/ 4882469 h 1137"/>
                <a:gd name="T26" fmla="*/ 6246132 w 496"/>
                <a:gd name="T27" fmla="*/ 3974859 h 1137"/>
                <a:gd name="T28" fmla="*/ 5774908 w 496"/>
                <a:gd name="T29" fmla="*/ 3125431 h 1137"/>
                <a:gd name="T30" fmla="*/ 5193090 w 496"/>
                <a:gd name="T31" fmla="*/ 2350473 h 1137"/>
                <a:gd name="T32" fmla="*/ 4512698 w 496"/>
                <a:gd name="T33" fmla="*/ 1666276 h 1137"/>
                <a:gd name="T34" fmla="*/ 3728926 w 496"/>
                <a:gd name="T35" fmla="*/ 1082148 h 1137"/>
                <a:gd name="T36" fmla="*/ 2865816 w 496"/>
                <a:gd name="T37" fmla="*/ 609727 h 1137"/>
                <a:gd name="T38" fmla="*/ 1947408 w 496"/>
                <a:gd name="T39" fmla="*/ 281591 h 1137"/>
                <a:gd name="T40" fmla="*/ 978513 w 496"/>
                <a:gd name="T41" fmla="*/ 76798 h 1137"/>
                <a:gd name="T42" fmla="*/ 0 w 496"/>
                <a:gd name="T43" fmla="*/ 0 h 1137"/>
                <a:gd name="T44" fmla="*/ 346206 w 496"/>
                <a:gd name="T45" fmla="*/ 7181743 h 1137"/>
                <a:gd name="T46" fmla="*/ 964087 w 496"/>
                <a:gd name="T47" fmla="*/ 7693727 h 1137"/>
                <a:gd name="T48" fmla="*/ 1493013 w 496"/>
                <a:gd name="T49" fmla="*/ 8289490 h 1137"/>
                <a:gd name="T50" fmla="*/ 1892112 w 496"/>
                <a:gd name="T51" fmla="*/ 8973687 h 1137"/>
                <a:gd name="T52" fmla="*/ 2163787 w 496"/>
                <a:gd name="T53" fmla="*/ 9723048 h 1137"/>
                <a:gd name="T54" fmla="*/ 2267168 w 496"/>
                <a:gd name="T55" fmla="*/ 10495678 h 1137"/>
                <a:gd name="T56" fmla="*/ 2197446 w 496"/>
                <a:gd name="T57" fmla="*/ 11140313 h 1137"/>
                <a:gd name="T58" fmla="*/ 1988280 w 496"/>
                <a:gd name="T59" fmla="*/ 11768657 h 1137"/>
                <a:gd name="T60" fmla="*/ 1642074 w 496"/>
                <a:gd name="T61" fmla="*/ 12329512 h 1137"/>
                <a:gd name="T62" fmla="*/ 1158828 w 496"/>
                <a:gd name="T63" fmla="*/ 12806588 h 1137"/>
                <a:gd name="T64" fmla="*/ 598648 w 496"/>
                <a:gd name="T65" fmla="*/ 13197558 h 11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96"/>
                <a:gd name="T100" fmla="*/ 0 h 1137"/>
                <a:gd name="T101" fmla="*/ 496 w 496"/>
                <a:gd name="T102" fmla="*/ 1137 h 113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96" h="1137">
                  <a:moveTo>
                    <a:pt x="20" y="1136"/>
                  </a:moveTo>
                  <a:lnTo>
                    <a:pt x="56" y="1134"/>
                  </a:lnTo>
                  <a:lnTo>
                    <a:pt x="91" y="1128"/>
                  </a:lnTo>
                  <a:lnTo>
                    <a:pt x="126" y="1119"/>
                  </a:lnTo>
                  <a:lnTo>
                    <a:pt x="160" y="1107"/>
                  </a:lnTo>
                  <a:lnTo>
                    <a:pt x="193" y="1093"/>
                  </a:lnTo>
                  <a:lnTo>
                    <a:pt x="225" y="1076"/>
                  </a:lnTo>
                  <a:lnTo>
                    <a:pt x="256" y="1055"/>
                  </a:lnTo>
                  <a:lnTo>
                    <a:pt x="287" y="1033"/>
                  </a:lnTo>
                  <a:lnTo>
                    <a:pt x="315" y="1008"/>
                  </a:lnTo>
                  <a:lnTo>
                    <a:pt x="341" y="981"/>
                  </a:lnTo>
                  <a:lnTo>
                    <a:pt x="366" y="951"/>
                  </a:lnTo>
                  <a:lnTo>
                    <a:pt x="390" y="920"/>
                  </a:lnTo>
                  <a:lnTo>
                    <a:pt x="411" y="887"/>
                  </a:lnTo>
                  <a:lnTo>
                    <a:pt x="429" y="852"/>
                  </a:lnTo>
                  <a:lnTo>
                    <a:pt x="446" y="816"/>
                  </a:lnTo>
                  <a:lnTo>
                    <a:pt x="460" y="779"/>
                  </a:lnTo>
                  <a:lnTo>
                    <a:pt x="472" y="740"/>
                  </a:lnTo>
                  <a:lnTo>
                    <a:pt x="481" y="700"/>
                  </a:lnTo>
                  <a:lnTo>
                    <a:pt x="488" y="660"/>
                  </a:lnTo>
                  <a:lnTo>
                    <a:pt x="492" y="619"/>
                  </a:lnTo>
                  <a:lnTo>
                    <a:pt x="495" y="578"/>
                  </a:lnTo>
                  <a:lnTo>
                    <a:pt x="494" y="537"/>
                  </a:lnTo>
                  <a:lnTo>
                    <a:pt x="491" y="496"/>
                  </a:lnTo>
                  <a:lnTo>
                    <a:pt x="485" y="456"/>
                  </a:lnTo>
                  <a:lnTo>
                    <a:pt x="476" y="416"/>
                  </a:lnTo>
                  <a:lnTo>
                    <a:pt x="465" y="377"/>
                  </a:lnTo>
                  <a:lnTo>
                    <a:pt x="452" y="339"/>
                  </a:lnTo>
                  <a:lnTo>
                    <a:pt x="436" y="302"/>
                  </a:lnTo>
                  <a:lnTo>
                    <a:pt x="418" y="266"/>
                  </a:lnTo>
                  <a:lnTo>
                    <a:pt x="399" y="232"/>
                  </a:lnTo>
                  <a:lnTo>
                    <a:pt x="376" y="200"/>
                  </a:lnTo>
                  <a:lnTo>
                    <a:pt x="352" y="170"/>
                  </a:lnTo>
                  <a:lnTo>
                    <a:pt x="327" y="142"/>
                  </a:lnTo>
                  <a:lnTo>
                    <a:pt x="299" y="115"/>
                  </a:lnTo>
                  <a:lnTo>
                    <a:pt x="270" y="92"/>
                  </a:lnTo>
                  <a:lnTo>
                    <a:pt x="239" y="71"/>
                  </a:lnTo>
                  <a:lnTo>
                    <a:pt x="207" y="52"/>
                  </a:lnTo>
                  <a:lnTo>
                    <a:pt x="175" y="37"/>
                  </a:lnTo>
                  <a:lnTo>
                    <a:pt x="141" y="24"/>
                  </a:lnTo>
                  <a:lnTo>
                    <a:pt x="106" y="14"/>
                  </a:lnTo>
                  <a:lnTo>
                    <a:pt x="71" y="7"/>
                  </a:lnTo>
                  <a:lnTo>
                    <a:pt x="36" y="2"/>
                  </a:lnTo>
                  <a:lnTo>
                    <a:pt x="0" y="0"/>
                  </a:lnTo>
                  <a:lnTo>
                    <a:pt x="0" y="594"/>
                  </a:lnTo>
                  <a:lnTo>
                    <a:pt x="25" y="612"/>
                  </a:lnTo>
                  <a:lnTo>
                    <a:pt x="49" y="632"/>
                  </a:lnTo>
                  <a:lnTo>
                    <a:pt x="70" y="655"/>
                  </a:lnTo>
                  <a:lnTo>
                    <a:pt x="91" y="680"/>
                  </a:lnTo>
                  <a:lnTo>
                    <a:pt x="108" y="706"/>
                  </a:lnTo>
                  <a:lnTo>
                    <a:pt x="124" y="735"/>
                  </a:lnTo>
                  <a:lnTo>
                    <a:pt x="137" y="765"/>
                  </a:lnTo>
                  <a:lnTo>
                    <a:pt x="148" y="796"/>
                  </a:lnTo>
                  <a:lnTo>
                    <a:pt x="156" y="828"/>
                  </a:lnTo>
                  <a:lnTo>
                    <a:pt x="161" y="860"/>
                  </a:lnTo>
                  <a:lnTo>
                    <a:pt x="164" y="894"/>
                  </a:lnTo>
                  <a:lnTo>
                    <a:pt x="164" y="921"/>
                  </a:lnTo>
                  <a:lnTo>
                    <a:pt x="159" y="949"/>
                  </a:lnTo>
                  <a:lnTo>
                    <a:pt x="153" y="976"/>
                  </a:lnTo>
                  <a:lnTo>
                    <a:pt x="144" y="1002"/>
                  </a:lnTo>
                  <a:lnTo>
                    <a:pt x="132" y="1027"/>
                  </a:lnTo>
                  <a:lnTo>
                    <a:pt x="119" y="1050"/>
                  </a:lnTo>
                  <a:lnTo>
                    <a:pt x="102" y="1072"/>
                  </a:lnTo>
                  <a:lnTo>
                    <a:pt x="84" y="1091"/>
                  </a:lnTo>
                  <a:lnTo>
                    <a:pt x="65" y="1109"/>
                  </a:lnTo>
                  <a:lnTo>
                    <a:pt x="43" y="1124"/>
                  </a:lnTo>
                  <a:lnTo>
                    <a:pt x="20" y="1136"/>
                  </a:lnTo>
                </a:path>
              </a:pathLst>
            </a:custGeom>
            <a:solidFill>
              <a:srgbClr val="86BC25"/>
            </a:solidFill>
            <a:ln w="19050" cap="rnd">
              <a:solidFill>
                <a:sysClr val="windowText" lastClr="000000"/>
              </a:solidFill>
              <a:round/>
              <a:headEnd/>
              <a:tailEnd/>
            </a:ln>
          </p:spPr>
          <p:txBody>
            <a:bodyPr lIns="0" tIns="0" rIns="0" bIns="0"/>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600" b="0" i="0" u="none" strike="noStrike" kern="0" cap="none" spc="0" normalizeH="0" baseline="0" noProof="0" dirty="0" smtClean="0">
                <a:ln>
                  <a:noFill/>
                </a:ln>
                <a:solidFill>
                  <a:prstClr val="white"/>
                </a:solidFill>
                <a:effectLst/>
                <a:uLnTx/>
                <a:uFillTx/>
                <a:latin typeface="Calibri"/>
                <a:cs typeface="Arial" pitchFamily="34" charset="0"/>
              </a:endParaRPr>
            </a:p>
          </p:txBody>
        </p:sp>
        <p:sp>
          <p:nvSpPr>
            <p:cNvPr id="24" name="Oval 8"/>
            <p:cNvSpPr>
              <a:spLocks noChangeArrowheads="1"/>
            </p:cNvSpPr>
            <p:nvPr/>
          </p:nvSpPr>
          <p:spPr bwMode="gray">
            <a:xfrm>
              <a:off x="4139031" y="3413129"/>
              <a:ext cx="832104" cy="828675"/>
            </a:xfrm>
            <a:prstGeom prst="ellipse">
              <a:avLst/>
            </a:prstGeom>
            <a:solidFill>
              <a:sysClr val="windowText" lastClr="000000"/>
            </a:solidFill>
            <a:ln w="9525">
              <a:solidFill>
                <a:sysClr val="windowText" lastClr="000000"/>
              </a:solidFill>
              <a:round/>
              <a:headEnd/>
              <a:tailEnd/>
            </a:ln>
          </p:spPr>
          <p:txBody>
            <a:bodyPr wrap="none" lIns="0" tIns="0" rIns="0" bIns="0" anchor="ct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GB" sz="1600" b="0" i="0" u="none" strike="noStrike" kern="0" cap="none" spc="0" normalizeH="0" baseline="0" noProof="0" dirty="0" smtClean="0">
                <a:ln>
                  <a:noFill/>
                </a:ln>
                <a:solidFill>
                  <a:prstClr val="white"/>
                </a:solidFill>
                <a:effectLst/>
                <a:uLnTx/>
                <a:uFillTx/>
                <a:latin typeface="Calibri"/>
                <a:cs typeface="Arial" pitchFamily="34" charset="0"/>
              </a:endParaRPr>
            </a:p>
          </p:txBody>
        </p:sp>
        <p:sp>
          <p:nvSpPr>
            <p:cNvPr id="25" name="Rectangle 9"/>
            <p:cNvSpPr>
              <a:spLocks noChangeArrowheads="1"/>
            </p:cNvSpPr>
            <p:nvPr/>
          </p:nvSpPr>
          <p:spPr bwMode="gray">
            <a:xfrm rot="5400000">
              <a:off x="4431481" y="2753344"/>
              <a:ext cx="1233487" cy="308000"/>
            </a:xfrm>
            <a:prstGeom prst="rect">
              <a:avLst/>
            </a:prstGeom>
            <a:noFill/>
            <a:ln w="9525">
              <a:noFill/>
              <a:miter lim="800000"/>
              <a:headEnd/>
              <a:tailEnd/>
            </a:ln>
          </p:spPr>
          <p:txBody>
            <a:bodyPr lIns="0" tIns="0" rIns="0" bIns="0" anchor="ctr" anchorCtr="0">
              <a:spAutoFit/>
            </a:bodyPr>
            <a:lstStyle/>
            <a:p>
              <a:pPr marL="0" marR="0" lvl="0" indent="0" algn="ctr" defTabSz="787400" eaLnBrk="1" fontAlgn="auto" latinLnBrk="0" hangingPunct="1">
                <a:lnSpc>
                  <a:spcPct val="95000"/>
                </a:lnSpc>
                <a:spcBef>
                  <a:spcPct val="80000"/>
                </a:spcBef>
                <a:spcAft>
                  <a:spcPts val="0"/>
                </a:spcAft>
                <a:buClr>
                  <a:srgbClr val="D0D0CE"/>
                </a:buClr>
                <a:buSzTx/>
                <a:buFontTx/>
                <a:buNone/>
                <a:tabLst/>
                <a:defRPr/>
              </a:pPr>
              <a:r>
                <a:rPr kumimoji="0" lang="en-GB" sz="1400" b="0" i="0" u="none" strike="noStrike" kern="0" cap="none" spc="0" normalizeH="0" baseline="0" noProof="0" dirty="0" smtClean="0">
                  <a:ln>
                    <a:noFill/>
                  </a:ln>
                  <a:solidFill>
                    <a:prstClr val="white"/>
                  </a:solidFill>
                  <a:effectLst/>
                  <a:uLnTx/>
                  <a:uFillTx/>
                  <a:latin typeface="Calibri"/>
                  <a:cs typeface="Arial" pitchFamily="34" charset="0"/>
                </a:rPr>
                <a:t>SDG 4,5,10</a:t>
              </a:r>
            </a:p>
          </p:txBody>
        </p:sp>
        <p:sp>
          <p:nvSpPr>
            <p:cNvPr id="26" name="Rectangle 10"/>
            <p:cNvSpPr>
              <a:spLocks noChangeArrowheads="1"/>
            </p:cNvSpPr>
            <p:nvPr/>
          </p:nvSpPr>
          <p:spPr bwMode="gray">
            <a:xfrm>
              <a:off x="4811249" y="4073015"/>
              <a:ext cx="1175135" cy="605750"/>
            </a:xfrm>
            <a:prstGeom prst="rect">
              <a:avLst/>
            </a:prstGeom>
            <a:noFill/>
            <a:ln w="9525">
              <a:noFill/>
              <a:miter lim="800000"/>
              <a:headEnd/>
              <a:tailEnd/>
            </a:ln>
          </p:spPr>
          <p:txBody>
            <a:bodyPr lIns="0" tIns="0" rIns="0" bIns="0" anchor="ctr" anchorCtr="0">
              <a:spAutoFit/>
            </a:bodyPr>
            <a:lstStyle/>
            <a:p>
              <a:pPr marL="0" marR="0" lvl="0" indent="0" algn="ctr" defTabSz="787400" eaLnBrk="1" fontAlgn="auto" latinLnBrk="0" hangingPunct="1">
                <a:lnSpc>
                  <a:spcPct val="95000"/>
                </a:lnSpc>
                <a:spcBef>
                  <a:spcPct val="80000"/>
                </a:spcBef>
                <a:spcAft>
                  <a:spcPts val="0"/>
                </a:spcAft>
                <a:buClr>
                  <a:srgbClr val="D0D0CE"/>
                </a:buClr>
                <a:buSzTx/>
                <a:buFontTx/>
                <a:buNone/>
                <a:tabLst/>
                <a:defRPr/>
              </a:pPr>
              <a:r>
                <a:rPr kumimoji="0" lang="en-GB" sz="1400" b="0" i="0" u="none" strike="noStrike" kern="0" cap="none" spc="0" normalizeH="0" baseline="0" noProof="0" dirty="0" smtClean="0">
                  <a:ln>
                    <a:noFill/>
                  </a:ln>
                  <a:solidFill>
                    <a:prstClr val="white"/>
                  </a:solidFill>
                  <a:effectLst/>
                  <a:uLnTx/>
                  <a:uFillTx/>
                  <a:latin typeface="Calibri"/>
                  <a:cs typeface="Arial" pitchFamily="34" charset="0"/>
                </a:rPr>
                <a:t>SDG 6,8,12</a:t>
              </a:r>
            </a:p>
          </p:txBody>
        </p:sp>
        <p:sp>
          <p:nvSpPr>
            <p:cNvPr id="27" name="Rectangle 11"/>
            <p:cNvSpPr>
              <a:spLocks noChangeArrowheads="1"/>
            </p:cNvSpPr>
            <p:nvPr/>
          </p:nvSpPr>
          <p:spPr bwMode="gray">
            <a:xfrm rot="16200000" flipH="1">
              <a:off x="3370851" y="4437121"/>
              <a:ext cx="1228725" cy="616002"/>
            </a:xfrm>
            <a:prstGeom prst="rect">
              <a:avLst/>
            </a:prstGeom>
            <a:noFill/>
            <a:ln w="9525">
              <a:noFill/>
              <a:miter lim="800000"/>
              <a:headEnd/>
              <a:tailEnd/>
            </a:ln>
          </p:spPr>
          <p:txBody>
            <a:bodyPr lIns="0" tIns="0" rIns="0" bIns="0" anchor="ctr" anchorCtr="0">
              <a:spAutoFit/>
            </a:bodyPr>
            <a:lstStyle/>
            <a:p>
              <a:pPr marL="0" marR="0" lvl="0" indent="0" algn="ctr" defTabSz="787400" eaLnBrk="1" fontAlgn="auto" latinLnBrk="0" hangingPunct="1">
                <a:lnSpc>
                  <a:spcPct val="95000"/>
                </a:lnSpc>
                <a:spcBef>
                  <a:spcPct val="80000"/>
                </a:spcBef>
                <a:spcAft>
                  <a:spcPts val="0"/>
                </a:spcAft>
                <a:buClr>
                  <a:srgbClr val="D0D0CE"/>
                </a:buClr>
                <a:buSzTx/>
                <a:buFontTx/>
                <a:buNone/>
                <a:tabLst/>
                <a:defRPr/>
              </a:pPr>
              <a:r>
                <a:rPr kumimoji="0" lang="en-GB" sz="1400" b="0" i="0" u="none" strike="noStrike" kern="0" cap="none" spc="0" normalizeH="0" baseline="0" noProof="0" dirty="0" smtClean="0">
                  <a:ln>
                    <a:noFill/>
                  </a:ln>
                  <a:solidFill>
                    <a:prstClr val="white"/>
                  </a:solidFill>
                  <a:effectLst/>
                  <a:uLnTx/>
                  <a:uFillTx/>
                  <a:latin typeface="Calibri"/>
                  <a:cs typeface="Arial" pitchFamily="34" charset="0"/>
                </a:rPr>
                <a:t>SDG 9,11,13</a:t>
              </a:r>
            </a:p>
          </p:txBody>
        </p:sp>
        <p:sp>
          <p:nvSpPr>
            <p:cNvPr id="28" name="Rectangle 12"/>
            <p:cNvSpPr>
              <a:spLocks noChangeArrowheads="1"/>
            </p:cNvSpPr>
            <p:nvPr/>
          </p:nvSpPr>
          <p:spPr bwMode="gray">
            <a:xfrm>
              <a:off x="3147392" y="3152890"/>
              <a:ext cx="1172206" cy="302874"/>
            </a:xfrm>
            <a:prstGeom prst="rect">
              <a:avLst/>
            </a:prstGeom>
            <a:noFill/>
            <a:ln w="9525">
              <a:noFill/>
              <a:miter lim="800000"/>
              <a:headEnd/>
              <a:tailEnd/>
            </a:ln>
          </p:spPr>
          <p:txBody>
            <a:bodyPr lIns="0" tIns="0" rIns="0" bIns="0" anchor="ctr" anchorCtr="0">
              <a:spAutoFit/>
            </a:bodyPr>
            <a:lstStyle/>
            <a:p>
              <a:pPr marL="0" marR="0" lvl="0" indent="0" algn="ctr" defTabSz="787400" eaLnBrk="1" fontAlgn="auto" latinLnBrk="0" hangingPunct="1">
                <a:lnSpc>
                  <a:spcPct val="95000"/>
                </a:lnSpc>
                <a:spcBef>
                  <a:spcPct val="80000"/>
                </a:spcBef>
                <a:spcAft>
                  <a:spcPts val="0"/>
                </a:spcAft>
                <a:buClr>
                  <a:srgbClr val="D0D0CE"/>
                </a:buClr>
                <a:buSzTx/>
                <a:buFontTx/>
                <a:buNone/>
                <a:tabLst/>
                <a:defRPr/>
              </a:pPr>
              <a:r>
                <a:rPr lang="en-GB" sz="1400" kern="0" dirty="0" smtClean="0">
                  <a:solidFill>
                    <a:prstClr val="white"/>
                  </a:solidFill>
                  <a:latin typeface="Calibri"/>
                  <a:cs typeface="Arial" pitchFamily="34" charset="0"/>
                </a:rPr>
                <a:t>SDG 1,2,3</a:t>
              </a:r>
              <a:endParaRPr kumimoji="0" lang="en-GB" sz="1400" b="0" i="0" u="none" strike="noStrike" kern="0" cap="none" spc="0" normalizeH="0" baseline="0" noProof="0" dirty="0" smtClean="0">
                <a:ln>
                  <a:noFill/>
                </a:ln>
                <a:solidFill>
                  <a:prstClr val="white"/>
                </a:solidFill>
                <a:effectLst/>
                <a:uLnTx/>
                <a:uFillTx/>
                <a:latin typeface="Calibri"/>
                <a:cs typeface="Arial" pitchFamily="34" charset="0"/>
              </a:endParaRPr>
            </a:p>
          </p:txBody>
        </p:sp>
      </p:grpSp>
      <p:sp>
        <p:nvSpPr>
          <p:cNvPr id="29" name="Rectangle 28"/>
          <p:cNvSpPr/>
          <p:nvPr/>
        </p:nvSpPr>
        <p:spPr bwMode="gray">
          <a:xfrm>
            <a:off x="561975" y="3163905"/>
            <a:ext cx="695325" cy="1401655"/>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0" name="Rectangle 29"/>
          <p:cNvSpPr/>
          <p:nvPr/>
        </p:nvSpPr>
        <p:spPr bwMode="gray">
          <a:xfrm>
            <a:off x="561975" y="4768801"/>
            <a:ext cx="695325" cy="1382676"/>
          </a:xfrm>
          <a:prstGeom prst="rect">
            <a:avLst/>
          </a:prstGeom>
          <a:solidFill>
            <a:schemeClr val="accent5">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3" name="TextBox 32"/>
          <p:cNvSpPr txBox="1"/>
          <p:nvPr/>
        </p:nvSpPr>
        <p:spPr>
          <a:xfrm>
            <a:off x="762000" y="3228975"/>
            <a:ext cx="3813888" cy="1277273"/>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1300" dirty="0" smtClean="0">
                <a:solidFill>
                  <a:srgbClr val="313131"/>
                </a:solidFill>
              </a:rPr>
              <a:t>SDG 1,2 &amp; 3 are designed around elimination of poverty &amp; hunger along-with improving healthcare</a:t>
            </a:r>
          </a:p>
          <a:p>
            <a:pPr marL="203200" indent="-203200">
              <a:spcBef>
                <a:spcPts val="600"/>
              </a:spcBef>
              <a:buSzPct val="100000"/>
              <a:buFont typeface="Arial"/>
              <a:buChar char="•"/>
            </a:pPr>
            <a:r>
              <a:rPr lang="en-US" sz="1300" dirty="0" smtClean="0">
                <a:solidFill>
                  <a:srgbClr val="313131"/>
                </a:solidFill>
              </a:rPr>
              <a:t>Ensuring energy access to last-mile Consumers shall contribute to improving these parameters  </a:t>
            </a:r>
            <a:endParaRPr lang="en-IN" sz="1300" dirty="0" smtClean="0">
              <a:solidFill>
                <a:srgbClr val="313131"/>
              </a:solidFill>
            </a:endParaRPr>
          </a:p>
        </p:txBody>
      </p:sp>
      <p:sp>
        <p:nvSpPr>
          <p:cNvPr id="34" name="TextBox 33"/>
          <p:cNvSpPr txBox="1"/>
          <p:nvPr/>
        </p:nvSpPr>
        <p:spPr>
          <a:xfrm>
            <a:off x="783495" y="4801296"/>
            <a:ext cx="3813888" cy="1277273"/>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1300" dirty="0" smtClean="0">
                <a:solidFill>
                  <a:srgbClr val="313131"/>
                </a:solidFill>
              </a:rPr>
              <a:t>SDG 9,11 &amp; 13 focus upon innovation, city planning, industrialization &amp; climate action</a:t>
            </a:r>
          </a:p>
          <a:p>
            <a:pPr marL="203200" indent="-203200">
              <a:spcBef>
                <a:spcPts val="600"/>
              </a:spcBef>
              <a:buSzPct val="100000"/>
              <a:buFont typeface="Arial"/>
              <a:buChar char="•"/>
            </a:pPr>
            <a:r>
              <a:rPr lang="en-US" sz="1300" dirty="0" smtClean="0">
                <a:solidFill>
                  <a:srgbClr val="313131"/>
                </a:solidFill>
              </a:rPr>
              <a:t>In future of innovation or planning smart-cities, a robust Renewable Energy Plan shall play a key role, thus contributing in improving related parameters </a:t>
            </a:r>
            <a:endParaRPr lang="en-IN" sz="1300" dirty="0" smtClean="0">
              <a:solidFill>
                <a:srgbClr val="313131"/>
              </a:solidFill>
            </a:endParaRPr>
          </a:p>
        </p:txBody>
      </p:sp>
      <p:sp>
        <p:nvSpPr>
          <p:cNvPr id="39" name="Rectangle 38"/>
          <p:cNvSpPr/>
          <p:nvPr/>
        </p:nvSpPr>
        <p:spPr bwMode="gray">
          <a:xfrm>
            <a:off x="10648051" y="3158532"/>
            <a:ext cx="695325" cy="1401655"/>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40" name="Rectangle 39"/>
          <p:cNvSpPr/>
          <p:nvPr/>
        </p:nvSpPr>
        <p:spPr bwMode="gray">
          <a:xfrm>
            <a:off x="10648051" y="4763428"/>
            <a:ext cx="695325" cy="1382676"/>
          </a:xfrm>
          <a:prstGeom prst="rect">
            <a:avLst/>
          </a:prstGeom>
          <a:solidFill>
            <a:schemeClr val="accent5">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41" name="TextBox 40"/>
          <p:cNvSpPr txBox="1"/>
          <p:nvPr/>
        </p:nvSpPr>
        <p:spPr>
          <a:xfrm>
            <a:off x="7385392" y="3228975"/>
            <a:ext cx="3813888" cy="1277273"/>
          </a:xfrm>
          <a:prstGeom prst="rect">
            <a:avLst/>
          </a:prstGeom>
          <a:noFill/>
        </p:spPr>
        <p:txBody>
          <a:bodyPr wrap="square" lIns="0" tIns="0" rIns="0" bIns="0" rtlCol="0">
            <a:spAutoFit/>
          </a:bodyPr>
          <a:lstStyle/>
          <a:p>
            <a:pPr marL="203200" indent="-203200" algn="r">
              <a:spcBef>
                <a:spcPts val="600"/>
              </a:spcBef>
              <a:buSzPct val="100000"/>
              <a:buFont typeface="Arial"/>
              <a:buChar char="•"/>
            </a:pPr>
            <a:r>
              <a:rPr lang="en-US" sz="1300" dirty="0" smtClean="0">
                <a:solidFill>
                  <a:srgbClr val="313131"/>
                </a:solidFill>
              </a:rPr>
              <a:t>SDG 4,5 &amp; 10 address the issues of education, gender equality &amp; reducing social inequalities</a:t>
            </a:r>
          </a:p>
          <a:p>
            <a:pPr marL="203200" indent="-203200" algn="r">
              <a:spcBef>
                <a:spcPts val="600"/>
              </a:spcBef>
              <a:buSzPct val="100000"/>
              <a:buFont typeface="Arial"/>
              <a:buChar char="•"/>
            </a:pPr>
            <a:r>
              <a:rPr lang="en-US" sz="1300" dirty="0" smtClean="0">
                <a:solidFill>
                  <a:srgbClr val="313131"/>
                </a:solidFill>
              </a:rPr>
              <a:t>Progress in these set of extremely important parameters can be ensured by affordable modes of electricity access</a:t>
            </a:r>
            <a:endParaRPr lang="en-IN" sz="1300" dirty="0" smtClean="0">
              <a:solidFill>
                <a:srgbClr val="313131"/>
              </a:solidFill>
            </a:endParaRPr>
          </a:p>
        </p:txBody>
      </p:sp>
      <p:sp>
        <p:nvSpPr>
          <p:cNvPr id="42" name="TextBox 41"/>
          <p:cNvSpPr txBox="1"/>
          <p:nvPr/>
        </p:nvSpPr>
        <p:spPr>
          <a:xfrm>
            <a:off x="7222383" y="4801296"/>
            <a:ext cx="3980491" cy="1277273"/>
          </a:xfrm>
          <a:prstGeom prst="rect">
            <a:avLst/>
          </a:prstGeom>
          <a:noFill/>
        </p:spPr>
        <p:txBody>
          <a:bodyPr wrap="square" lIns="0" tIns="0" rIns="0" bIns="0" rtlCol="0">
            <a:spAutoFit/>
          </a:bodyPr>
          <a:lstStyle/>
          <a:p>
            <a:pPr marL="203200" indent="-203200" algn="r">
              <a:spcBef>
                <a:spcPts val="600"/>
              </a:spcBef>
              <a:buSzPct val="100000"/>
              <a:buFont typeface="Arial"/>
              <a:buChar char="•"/>
            </a:pPr>
            <a:r>
              <a:rPr lang="en-US" sz="1300" dirty="0" smtClean="0">
                <a:solidFill>
                  <a:srgbClr val="313131"/>
                </a:solidFill>
              </a:rPr>
              <a:t>SDG 6,8 &amp; 12 provide importance to access to clean water, sanitation, job creation &amp; sustainable production </a:t>
            </a:r>
          </a:p>
          <a:p>
            <a:pPr marL="203200" indent="-203200" algn="r">
              <a:spcBef>
                <a:spcPts val="600"/>
              </a:spcBef>
              <a:buSzPct val="100000"/>
              <a:buFont typeface="Arial"/>
              <a:buChar char="•"/>
            </a:pPr>
            <a:r>
              <a:rPr lang="en-US" sz="1300" dirty="0" smtClean="0">
                <a:solidFill>
                  <a:srgbClr val="313131"/>
                </a:solidFill>
              </a:rPr>
              <a:t>Energy access to MSMEs inline with national growth plan shall help job creation where sanitation is ensured by social growth</a:t>
            </a:r>
          </a:p>
        </p:txBody>
      </p:sp>
      <p:sp>
        <p:nvSpPr>
          <p:cNvPr id="43" name="Pentagon 42">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39163632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Preparedness of Energy Sector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DF9667FF-DFFF-4F39-A0F3-DAA58F8E7737}"/>
              </a:ext>
            </a:extLst>
          </p:cNvPr>
          <p:cNvGrpSpPr/>
          <p:nvPr/>
        </p:nvGrpSpPr>
        <p:grpSpPr>
          <a:xfrm>
            <a:off x="407520" y="1321521"/>
            <a:ext cx="11142776" cy="4592733"/>
            <a:chOff x="352426" y="2117101"/>
            <a:chExt cx="8312354" cy="3426114"/>
          </a:xfrm>
        </p:grpSpPr>
        <p:sp>
          <p:nvSpPr>
            <p:cNvPr id="113" name="Freeform 575">
              <a:extLst>
                <a:ext uri="{FF2B5EF4-FFF2-40B4-BE49-F238E27FC236}">
                  <a16:creationId xmlns:a16="http://schemas.microsoft.com/office/drawing/2014/main" id="{C9DBFD27-6577-4B40-9C99-6855E6A8B7FA}"/>
                </a:ext>
              </a:extLst>
            </p:cNvPr>
            <p:cNvSpPr>
              <a:spLocks noEditPoints="1"/>
            </p:cNvSpPr>
            <p:nvPr/>
          </p:nvSpPr>
          <p:spPr bwMode="auto">
            <a:xfrm>
              <a:off x="3217477" y="2573951"/>
              <a:ext cx="456270" cy="45761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dirty="0">
                <a:ln>
                  <a:noFill/>
                </a:ln>
                <a:solidFill>
                  <a:prstClr val="black"/>
                </a:solidFill>
                <a:effectLst/>
                <a:uLnTx/>
                <a:uFillTx/>
                <a:latin typeface="+mj-lt"/>
                <a:ea typeface="+mn-ea"/>
                <a:cs typeface="+mn-cs"/>
              </a:endParaRPr>
            </a:p>
          </p:txBody>
        </p:sp>
        <p:grpSp>
          <p:nvGrpSpPr>
            <p:cNvPr id="47" name="Group 46">
              <a:extLst>
                <a:ext uri="{FF2B5EF4-FFF2-40B4-BE49-F238E27FC236}">
                  <a16:creationId xmlns:a16="http://schemas.microsoft.com/office/drawing/2014/main" id="{648D6542-F5A6-4271-A321-4012662AA23B}"/>
                </a:ext>
              </a:extLst>
            </p:cNvPr>
            <p:cNvGrpSpPr/>
            <p:nvPr/>
          </p:nvGrpSpPr>
          <p:grpSpPr>
            <a:xfrm>
              <a:off x="352426" y="2117101"/>
              <a:ext cx="1934414" cy="356534"/>
              <a:chOff x="413228" y="1371600"/>
              <a:chExt cx="1947702" cy="476173"/>
            </a:xfrm>
          </p:grpSpPr>
          <p:sp>
            <p:nvSpPr>
              <p:cNvPr id="107" name="Right Triangle 49">
                <a:extLst>
                  <a:ext uri="{FF2B5EF4-FFF2-40B4-BE49-F238E27FC236}">
                    <a16:creationId xmlns:a16="http://schemas.microsoft.com/office/drawing/2014/main" id="{29868CD8-0A6F-49B7-84C9-1CC24AF99002}"/>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108" name="Right Triangle 49">
                <a:extLst>
                  <a:ext uri="{FF2B5EF4-FFF2-40B4-BE49-F238E27FC236}">
                    <a16:creationId xmlns:a16="http://schemas.microsoft.com/office/drawing/2014/main" id="{AD495C6B-75E6-4804-92F2-9B7BF9C4E44B}"/>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109" name="Round Same Side Corner Rectangle 43">
                <a:extLst>
                  <a:ext uri="{FF2B5EF4-FFF2-40B4-BE49-F238E27FC236}">
                    <a16:creationId xmlns:a16="http://schemas.microsoft.com/office/drawing/2014/main" id="{061E7905-79A6-499A-8D5D-704DFF1259A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lang="en-US" sz="1100" b="1" dirty="0" smtClean="0">
                    <a:solidFill>
                      <a:prstClr val="white"/>
                    </a:solidFill>
                    <a:latin typeface="+mj-lt"/>
                    <a:cs typeface="Calibri" panose="020F0502020204030204" pitchFamily="34" charset="0"/>
                  </a:rPr>
                  <a:t>Distribution Infrastructure</a:t>
                </a:r>
                <a:endParaRPr kumimoji="0" lang="en-US" sz="1100" b="1" i="0" u="none" strike="noStrike" kern="1200" cap="none" spc="0" normalizeH="0" baseline="0" noProof="0" dirty="0">
                  <a:ln>
                    <a:noFill/>
                  </a:ln>
                  <a:solidFill>
                    <a:prstClr val="white"/>
                  </a:solidFill>
                  <a:effectLst/>
                  <a:uLnTx/>
                  <a:uFillTx/>
                  <a:latin typeface="+mj-lt"/>
                  <a:cs typeface="Calibri" panose="020F0502020204030204" pitchFamily="34" charset="0"/>
                </a:endParaRPr>
              </a:p>
            </p:txBody>
          </p:sp>
        </p:grpSp>
        <p:grpSp>
          <p:nvGrpSpPr>
            <p:cNvPr id="48" name="Group 47">
              <a:extLst>
                <a:ext uri="{FF2B5EF4-FFF2-40B4-BE49-F238E27FC236}">
                  <a16:creationId xmlns:a16="http://schemas.microsoft.com/office/drawing/2014/main" id="{DFD3E7B2-3428-4824-A54D-B24C483AB07C}"/>
                </a:ext>
              </a:extLst>
            </p:cNvPr>
            <p:cNvGrpSpPr/>
            <p:nvPr/>
          </p:nvGrpSpPr>
          <p:grpSpPr>
            <a:xfrm>
              <a:off x="352426" y="3547170"/>
              <a:ext cx="1934414" cy="1996045"/>
              <a:chOff x="582909" y="4047068"/>
              <a:chExt cx="2642778" cy="3211966"/>
            </a:xfrm>
          </p:grpSpPr>
          <p:sp>
            <p:nvSpPr>
              <p:cNvPr id="105" name="Rectangle 104">
                <a:extLst>
                  <a:ext uri="{FF2B5EF4-FFF2-40B4-BE49-F238E27FC236}">
                    <a16:creationId xmlns:a16="http://schemas.microsoft.com/office/drawing/2014/main" id="{FF36E524-1298-445B-81CC-5F5266C44617}"/>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197168" marR="0" lvl="0" indent="-171450" algn="l" defTabSz="914400" rtl="0" eaLnBrk="1" fontAlgn="auto" latinLnBrk="0" hangingPunct="1">
                  <a:lnSpc>
                    <a:spcPct val="100000"/>
                  </a:lnSpc>
                  <a:spcBef>
                    <a:spcPts val="45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smtClean="0">
                    <a:ln>
                      <a:noFill/>
                    </a:ln>
                    <a:solidFill>
                      <a:prstClr val="black"/>
                    </a:solidFill>
                    <a:effectLst/>
                    <a:uLnTx/>
                    <a:uFillTx/>
                    <a:latin typeface="+mj-lt"/>
                  </a:rPr>
                  <a:t>100% Intensive Electrification attained through implementation</a:t>
                </a:r>
                <a:r>
                  <a:rPr kumimoji="0" lang="en-US" sz="1200" b="0" i="0" u="none" strike="noStrike" kern="1200" cap="none" spc="0" normalizeH="0" noProof="0" dirty="0" smtClean="0">
                    <a:ln>
                      <a:noFill/>
                    </a:ln>
                    <a:solidFill>
                      <a:prstClr val="black"/>
                    </a:solidFill>
                    <a:effectLst/>
                    <a:uLnTx/>
                    <a:uFillTx/>
                    <a:latin typeface="+mj-lt"/>
                  </a:rPr>
                  <a:t> of ‘</a:t>
                </a:r>
                <a:r>
                  <a:rPr kumimoji="0" lang="en-US" sz="1200" b="0" i="0" u="none" strike="noStrike" kern="1200" cap="none" spc="0" normalizeH="0" noProof="0" dirty="0" err="1" smtClean="0">
                    <a:ln>
                      <a:noFill/>
                    </a:ln>
                    <a:solidFill>
                      <a:prstClr val="black"/>
                    </a:solidFill>
                    <a:effectLst/>
                    <a:uLnTx/>
                    <a:uFillTx/>
                    <a:latin typeface="+mj-lt"/>
                  </a:rPr>
                  <a:t>Saubhagya</a:t>
                </a:r>
                <a:r>
                  <a:rPr kumimoji="0" lang="en-US" sz="1200" b="0" i="0" u="none" strike="noStrike" kern="1200" cap="none" spc="0" normalizeH="0" noProof="0" dirty="0" smtClean="0">
                    <a:ln>
                      <a:noFill/>
                    </a:ln>
                    <a:solidFill>
                      <a:prstClr val="black"/>
                    </a:solidFill>
                    <a:effectLst/>
                    <a:uLnTx/>
                    <a:uFillTx/>
                    <a:latin typeface="+mj-lt"/>
                  </a:rPr>
                  <a:t>’ scheme </a:t>
                </a:r>
              </a:p>
              <a:p>
                <a:pPr marL="197168" marR="0" lvl="0" indent="-171450" algn="l" defTabSz="914400" rtl="0" eaLnBrk="1" fontAlgn="auto" latinLnBrk="0" hangingPunct="1">
                  <a:lnSpc>
                    <a:spcPct val="100000"/>
                  </a:lnSpc>
                  <a:spcBef>
                    <a:spcPts val="450"/>
                  </a:spcBef>
                  <a:spcAft>
                    <a:spcPts val="0"/>
                  </a:spcAft>
                  <a:buClrTx/>
                  <a:buSzTx/>
                  <a:buFont typeface="Wingdings" panose="05000000000000000000" pitchFamily="2" charset="2"/>
                  <a:buChar char="§"/>
                  <a:tabLst/>
                  <a:defRPr/>
                </a:pPr>
                <a:r>
                  <a:rPr lang="en-US" sz="1200" dirty="0" smtClean="0">
                    <a:solidFill>
                      <a:prstClr val="black"/>
                    </a:solidFill>
                    <a:latin typeface="+mj-lt"/>
                  </a:rPr>
                  <a:t>Rural &amp; Urban electricity infrastructure strengthened under completed DDUGJY 12</a:t>
                </a:r>
                <a:r>
                  <a:rPr lang="en-US" sz="1200" baseline="30000" dirty="0" smtClean="0">
                    <a:solidFill>
                      <a:prstClr val="black"/>
                    </a:solidFill>
                    <a:latin typeface="+mj-lt"/>
                  </a:rPr>
                  <a:t>th</a:t>
                </a:r>
                <a:r>
                  <a:rPr lang="en-US" sz="1200" dirty="0" smtClean="0">
                    <a:solidFill>
                      <a:prstClr val="black"/>
                    </a:solidFill>
                    <a:latin typeface="+mj-lt"/>
                  </a:rPr>
                  <a:t> Plan &amp; R-APDRP schemes</a:t>
                </a:r>
              </a:p>
              <a:p>
                <a:pPr marL="197168" marR="0" lvl="0" indent="-171450" algn="l" defTabSz="914400" rtl="0" eaLnBrk="1" fontAlgn="auto" latinLnBrk="0" hangingPunct="1">
                  <a:lnSpc>
                    <a:spcPct val="100000"/>
                  </a:lnSpc>
                  <a:spcBef>
                    <a:spcPts val="450"/>
                  </a:spcBef>
                  <a:spcAft>
                    <a:spcPts val="0"/>
                  </a:spcAft>
                  <a:buClrTx/>
                  <a:buSzTx/>
                  <a:buFont typeface="Wingdings" panose="05000000000000000000" pitchFamily="2" charset="2"/>
                  <a:buChar char="§"/>
                  <a:tabLst/>
                  <a:defRPr/>
                </a:pPr>
                <a:r>
                  <a:rPr kumimoji="0" lang="en-US" sz="1200" b="0" i="0" u="none" strike="noStrike" kern="1200" cap="none" spc="0" normalizeH="0" noProof="0" dirty="0" smtClean="0">
                    <a:ln>
                      <a:noFill/>
                    </a:ln>
                    <a:solidFill>
                      <a:prstClr val="black"/>
                    </a:solidFill>
                    <a:effectLst/>
                    <a:uLnTx/>
                    <a:uFillTx/>
                    <a:latin typeface="+mj-lt"/>
                  </a:rPr>
                  <a:t>State implementing DDUGJY New Scheme, IPDS &amp; state-sponsored JSBAY to ensure further infra penetration </a:t>
                </a:r>
              </a:p>
              <a:p>
                <a:pPr marL="25718" marR="0" lvl="0" algn="l" defTabSz="914400" rtl="0" eaLnBrk="1" fontAlgn="auto" latinLnBrk="0" hangingPunct="1">
                  <a:lnSpc>
                    <a:spcPct val="100000"/>
                  </a:lnSpc>
                  <a:spcBef>
                    <a:spcPts val="450"/>
                  </a:spcBef>
                  <a:spcAft>
                    <a:spcPts val="0"/>
                  </a:spcAft>
                  <a:buClrTx/>
                  <a:buSzTx/>
                  <a:tabLst/>
                  <a:defRPr/>
                </a:pPr>
                <a:r>
                  <a:rPr kumimoji="0" lang="en-US" sz="1200" b="0" i="0" u="none" strike="noStrike" kern="1200" cap="none" spc="0" normalizeH="0" noProof="0" dirty="0" smtClean="0">
                    <a:ln>
                      <a:noFill/>
                    </a:ln>
                    <a:solidFill>
                      <a:prstClr val="black"/>
                    </a:solidFill>
                    <a:effectLst/>
                    <a:uLnTx/>
                    <a:uFillTx/>
                    <a:latin typeface="+mj-lt"/>
                  </a:rPr>
                  <a:t> </a:t>
                </a:r>
                <a:endParaRPr kumimoji="0" lang="en-US" sz="1200" b="0" i="0" u="none" strike="noStrike" kern="1200" cap="none" spc="0" normalizeH="0" baseline="0" noProof="0" dirty="0">
                  <a:ln>
                    <a:noFill/>
                  </a:ln>
                  <a:solidFill>
                    <a:prstClr val="black"/>
                  </a:solidFill>
                  <a:effectLst/>
                  <a:uLnTx/>
                  <a:uFillTx/>
                  <a:latin typeface="+mj-lt"/>
                </a:endParaRPr>
              </a:p>
            </p:txBody>
          </p:sp>
          <p:sp>
            <p:nvSpPr>
              <p:cNvPr id="106" name="Rectangle 105">
                <a:extLst>
                  <a:ext uri="{FF2B5EF4-FFF2-40B4-BE49-F238E27FC236}">
                    <a16:creationId xmlns:a16="http://schemas.microsoft.com/office/drawing/2014/main" id="{875A85C2-DD85-4D2D-9BAB-86FD318B6471}"/>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49" name="Group 48">
              <a:extLst>
                <a:ext uri="{FF2B5EF4-FFF2-40B4-BE49-F238E27FC236}">
                  <a16:creationId xmlns:a16="http://schemas.microsoft.com/office/drawing/2014/main" id="{D1192240-DB18-4602-BC96-F713F51F5EA2}"/>
                </a:ext>
              </a:extLst>
            </p:cNvPr>
            <p:cNvGrpSpPr/>
            <p:nvPr/>
          </p:nvGrpSpPr>
          <p:grpSpPr>
            <a:xfrm>
              <a:off x="1002419" y="2473635"/>
              <a:ext cx="634427" cy="1049086"/>
              <a:chOff x="757805" y="1635343"/>
              <a:chExt cx="1185062" cy="2012973"/>
            </a:xfrm>
          </p:grpSpPr>
          <p:sp>
            <p:nvSpPr>
              <p:cNvPr id="100" name="Freeform 36">
                <a:extLst>
                  <a:ext uri="{FF2B5EF4-FFF2-40B4-BE49-F238E27FC236}">
                    <a16:creationId xmlns:a16="http://schemas.microsoft.com/office/drawing/2014/main" id="{68DB2047-3620-45A5-8E31-F5A368E64683}"/>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101" name="Round Same Side Corner Rectangle 37">
                <a:extLst>
                  <a:ext uri="{FF2B5EF4-FFF2-40B4-BE49-F238E27FC236}">
                    <a16:creationId xmlns:a16="http://schemas.microsoft.com/office/drawing/2014/main" id="{226606D2-0E15-4F08-959B-39AC659D24D8}"/>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102" name="Round Same Side Corner Rectangle 38">
                <a:extLst>
                  <a:ext uri="{FF2B5EF4-FFF2-40B4-BE49-F238E27FC236}">
                    <a16:creationId xmlns:a16="http://schemas.microsoft.com/office/drawing/2014/main" id="{1A9107EB-116E-43C6-8BF0-1B951A4E8FBE}"/>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103" name="Round Same Side Corner Rectangle 39">
                <a:extLst>
                  <a:ext uri="{FF2B5EF4-FFF2-40B4-BE49-F238E27FC236}">
                    <a16:creationId xmlns:a16="http://schemas.microsoft.com/office/drawing/2014/main" id="{E5978045-D442-4BBC-85F5-15BAD92B52C6}"/>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104" name="Oval 103">
                <a:extLst>
                  <a:ext uri="{FF2B5EF4-FFF2-40B4-BE49-F238E27FC236}">
                    <a16:creationId xmlns:a16="http://schemas.microsoft.com/office/drawing/2014/main" id="{AAA32C12-EC01-4C5A-A527-B7D8D8AE00DB}"/>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50" name="Group 49">
              <a:extLst>
                <a:ext uri="{FF2B5EF4-FFF2-40B4-BE49-F238E27FC236}">
                  <a16:creationId xmlns:a16="http://schemas.microsoft.com/office/drawing/2014/main" id="{C63C369F-B30A-43DD-BA9C-C30E916A68BD}"/>
                </a:ext>
              </a:extLst>
            </p:cNvPr>
            <p:cNvGrpSpPr/>
            <p:nvPr/>
          </p:nvGrpSpPr>
          <p:grpSpPr>
            <a:xfrm>
              <a:off x="2478406" y="2117101"/>
              <a:ext cx="1934414" cy="356534"/>
              <a:chOff x="413228" y="1371600"/>
              <a:chExt cx="1947702" cy="476173"/>
            </a:xfrm>
          </p:grpSpPr>
          <p:sp>
            <p:nvSpPr>
              <p:cNvPr id="97" name="Right Triangle 49">
                <a:extLst>
                  <a:ext uri="{FF2B5EF4-FFF2-40B4-BE49-F238E27FC236}">
                    <a16:creationId xmlns:a16="http://schemas.microsoft.com/office/drawing/2014/main" id="{F41533BE-89DA-4E41-96E0-E4AF200A1CDA}"/>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98" name="Right Triangle 49">
                <a:extLst>
                  <a:ext uri="{FF2B5EF4-FFF2-40B4-BE49-F238E27FC236}">
                    <a16:creationId xmlns:a16="http://schemas.microsoft.com/office/drawing/2014/main" id="{FC06442C-6DD5-414C-B6A7-89E29FC581F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99" name="Round Same Side Corner Rectangle 43">
                <a:extLst>
                  <a:ext uri="{FF2B5EF4-FFF2-40B4-BE49-F238E27FC236}">
                    <a16:creationId xmlns:a16="http://schemas.microsoft.com/office/drawing/2014/main" id="{43A258F9-4BBE-4BC4-A384-C7ACF3644F2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lang="en-US" sz="1100" b="1" dirty="0" smtClean="0">
                    <a:solidFill>
                      <a:prstClr val="white"/>
                    </a:solidFill>
                    <a:latin typeface="+mj-lt"/>
                    <a:cs typeface="Calibri" panose="020F0502020204030204" pitchFamily="34" charset="0"/>
                  </a:rPr>
                  <a:t>Energy Generation </a:t>
                </a:r>
                <a:endParaRPr lang="en-US" sz="1100" b="1" dirty="0">
                  <a:solidFill>
                    <a:prstClr val="white"/>
                  </a:solidFill>
                  <a:latin typeface="+mj-lt"/>
                  <a:cs typeface="Calibri" panose="020F0502020204030204" pitchFamily="34" charset="0"/>
                </a:endParaRPr>
              </a:p>
            </p:txBody>
          </p:sp>
        </p:grpSp>
        <p:grpSp>
          <p:nvGrpSpPr>
            <p:cNvPr id="51" name="Group 50">
              <a:extLst>
                <a:ext uri="{FF2B5EF4-FFF2-40B4-BE49-F238E27FC236}">
                  <a16:creationId xmlns:a16="http://schemas.microsoft.com/office/drawing/2014/main" id="{04C096D6-9225-47B1-BFFD-8BEF50232340}"/>
                </a:ext>
              </a:extLst>
            </p:cNvPr>
            <p:cNvGrpSpPr/>
            <p:nvPr/>
          </p:nvGrpSpPr>
          <p:grpSpPr>
            <a:xfrm>
              <a:off x="2478406" y="3547170"/>
              <a:ext cx="1934414" cy="1996045"/>
              <a:chOff x="582909" y="4047068"/>
              <a:chExt cx="2642778" cy="3211966"/>
            </a:xfrm>
          </p:grpSpPr>
          <p:sp>
            <p:nvSpPr>
              <p:cNvPr id="95" name="Rectangle 94">
                <a:extLst>
                  <a:ext uri="{FF2B5EF4-FFF2-40B4-BE49-F238E27FC236}">
                    <a16:creationId xmlns:a16="http://schemas.microsoft.com/office/drawing/2014/main" id="{9E41F92B-813E-43D6-B4EF-EBB54FF154B3}"/>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197168" lvl="0" indent="-171450">
                  <a:spcBef>
                    <a:spcPts val="450"/>
                  </a:spcBef>
                  <a:buFont typeface="Wingdings" panose="05000000000000000000" pitchFamily="2" charset="2"/>
                  <a:buChar char="§"/>
                  <a:defRPr/>
                </a:pPr>
                <a:r>
                  <a:rPr lang="en-US" sz="1200" dirty="0" smtClean="0">
                    <a:solidFill>
                      <a:prstClr val="black"/>
                    </a:solidFill>
                    <a:latin typeface="+mj-lt"/>
                  </a:rPr>
                  <a:t>The State, in a big bid to ensure energy security, has tied-up 2400 MW from PVUNL </a:t>
                </a:r>
              </a:p>
              <a:p>
                <a:pPr marL="197168" lvl="0" indent="-171450">
                  <a:spcBef>
                    <a:spcPts val="450"/>
                  </a:spcBef>
                  <a:buFont typeface="Wingdings" panose="05000000000000000000" pitchFamily="2" charset="2"/>
                  <a:buChar char="§"/>
                  <a:defRPr/>
                </a:pPr>
                <a:r>
                  <a:rPr lang="en-US" sz="1200" dirty="0" smtClean="0">
                    <a:solidFill>
                      <a:prstClr val="black"/>
                    </a:solidFill>
                    <a:latin typeface="+mj-lt"/>
                  </a:rPr>
                  <a:t>500 MW from NTPC – North </a:t>
                </a:r>
                <a:r>
                  <a:rPr lang="en-US" sz="1200" dirty="0" err="1" smtClean="0">
                    <a:solidFill>
                      <a:prstClr val="black"/>
                    </a:solidFill>
                    <a:latin typeface="+mj-lt"/>
                  </a:rPr>
                  <a:t>Karanpura</a:t>
                </a:r>
                <a:r>
                  <a:rPr lang="en-US" sz="1200" dirty="0" smtClean="0">
                    <a:solidFill>
                      <a:prstClr val="black"/>
                    </a:solidFill>
                    <a:latin typeface="+mj-lt"/>
                  </a:rPr>
                  <a:t> and 147 MW from NTPC – </a:t>
                </a:r>
                <a:r>
                  <a:rPr lang="en-US" sz="1200" dirty="0" err="1" smtClean="0">
                    <a:solidFill>
                      <a:prstClr val="black"/>
                    </a:solidFill>
                    <a:latin typeface="+mj-lt"/>
                  </a:rPr>
                  <a:t>Darlipalli</a:t>
                </a:r>
                <a:r>
                  <a:rPr lang="en-US" sz="1200" dirty="0" smtClean="0">
                    <a:solidFill>
                      <a:prstClr val="black"/>
                    </a:solidFill>
                    <a:latin typeface="+mj-lt"/>
                  </a:rPr>
                  <a:t> have also been ensured </a:t>
                </a:r>
              </a:p>
              <a:p>
                <a:pPr marL="197168" lvl="0" indent="-171450">
                  <a:spcBef>
                    <a:spcPts val="450"/>
                  </a:spcBef>
                  <a:buFont typeface="Wingdings" panose="05000000000000000000" pitchFamily="2" charset="2"/>
                  <a:buChar char="§"/>
                  <a:defRPr/>
                </a:pPr>
                <a:r>
                  <a:rPr lang="en-US" sz="1200" dirty="0" smtClean="0">
                    <a:solidFill>
                      <a:prstClr val="black"/>
                    </a:solidFill>
                    <a:latin typeface="+mj-lt"/>
                  </a:rPr>
                  <a:t>700 MW of Solar Power from SECI (@2.55/unit) and 250 MW of Wind Power (50 MW @2.76/unit &amp; 200MW @2.44/unit) have been tied-up under RPO</a:t>
                </a:r>
              </a:p>
              <a:p>
                <a:pPr marL="197168" lvl="0" indent="-171450">
                  <a:spcBef>
                    <a:spcPts val="450"/>
                  </a:spcBef>
                  <a:buFont typeface="Wingdings" panose="05000000000000000000" pitchFamily="2" charset="2"/>
                  <a:buChar char="§"/>
                  <a:defRPr/>
                </a:pPr>
                <a:endParaRPr lang="en-US" sz="1100" dirty="0">
                  <a:solidFill>
                    <a:prstClr val="black"/>
                  </a:solidFill>
                  <a:latin typeface="+mj-lt"/>
                </a:endParaRPr>
              </a:p>
            </p:txBody>
          </p:sp>
          <p:sp>
            <p:nvSpPr>
              <p:cNvPr id="96" name="Rectangle 95">
                <a:extLst>
                  <a:ext uri="{FF2B5EF4-FFF2-40B4-BE49-F238E27FC236}">
                    <a16:creationId xmlns:a16="http://schemas.microsoft.com/office/drawing/2014/main" id="{6896661A-997A-4EF9-85B9-EB21D6EE5824}"/>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52" name="Group 51">
              <a:extLst>
                <a:ext uri="{FF2B5EF4-FFF2-40B4-BE49-F238E27FC236}">
                  <a16:creationId xmlns:a16="http://schemas.microsoft.com/office/drawing/2014/main" id="{CF172FDE-EB05-4D90-A754-B15132CD7012}"/>
                </a:ext>
              </a:extLst>
            </p:cNvPr>
            <p:cNvGrpSpPr/>
            <p:nvPr/>
          </p:nvGrpSpPr>
          <p:grpSpPr>
            <a:xfrm>
              <a:off x="3128399" y="2473635"/>
              <a:ext cx="634427" cy="1049086"/>
              <a:chOff x="757805" y="1635343"/>
              <a:chExt cx="1185062" cy="2012973"/>
            </a:xfrm>
          </p:grpSpPr>
          <p:sp>
            <p:nvSpPr>
              <p:cNvPr id="90" name="Freeform 36">
                <a:extLst>
                  <a:ext uri="{FF2B5EF4-FFF2-40B4-BE49-F238E27FC236}">
                    <a16:creationId xmlns:a16="http://schemas.microsoft.com/office/drawing/2014/main" id="{724A29E2-8A47-4F31-9236-E47ACD3BA472}"/>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91" name="Round Same Side Corner Rectangle 37">
                <a:extLst>
                  <a:ext uri="{FF2B5EF4-FFF2-40B4-BE49-F238E27FC236}">
                    <a16:creationId xmlns:a16="http://schemas.microsoft.com/office/drawing/2014/main" id="{6A9BBCDF-0A82-4E87-858F-4EED61B77558}"/>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92" name="Round Same Side Corner Rectangle 38">
                <a:extLst>
                  <a:ext uri="{FF2B5EF4-FFF2-40B4-BE49-F238E27FC236}">
                    <a16:creationId xmlns:a16="http://schemas.microsoft.com/office/drawing/2014/main" id="{7A71E38C-DEF5-492B-91EF-F10981600333}"/>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93" name="Round Same Side Corner Rectangle 39">
                <a:extLst>
                  <a:ext uri="{FF2B5EF4-FFF2-40B4-BE49-F238E27FC236}">
                    <a16:creationId xmlns:a16="http://schemas.microsoft.com/office/drawing/2014/main" id="{F13957A4-6B9C-47D5-AD2B-2BEE686BBBD1}"/>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94" name="Oval 93">
                <a:extLst>
                  <a:ext uri="{FF2B5EF4-FFF2-40B4-BE49-F238E27FC236}">
                    <a16:creationId xmlns:a16="http://schemas.microsoft.com/office/drawing/2014/main" id="{A720272A-36BE-42F0-861A-0E8C10ED3A07}"/>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53" name="Group 52">
              <a:extLst>
                <a:ext uri="{FF2B5EF4-FFF2-40B4-BE49-F238E27FC236}">
                  <a16:creationId xmlns:a16="http://schemas.microsoft.com/office/drawing/2014/main" id="{38F749C3-5E1E-4D5A-A95B-7E6796CBDB6C}"/>
                </a:ext>
              </a:extLst>
            </p:cNvPr>
            <p:cNvGrpSpPr/>
            <p:nvPr/>
          </p:nvGrpSpPr>
          <p:grpSpPr>
            <a:xfrm>
              <a:off x="4604386" y="2117101"/>
              <a:ext cx="1934414" cy="356534"/>
              <a:chOff x="413228" y="1371600"/>
              <a:chExt cx="1947702" cy="476173"/>
            </a:xfrm>
          </p:grpSpPr>
          <p:sp>
            <p:nvSpPr>
              <p:cNvPr id="87" name="Right Triangle 49">
                <a:extLst>
                  <a:ext uri="{FF2B5EF4-FFF2-40B4-BE49-F238E27FC236}">
                    <a16:creationId xmlns:a16="http://schemas.microsoft.com/office/drawing/2014/main" id="{B8734AF8-05BF-4419-B312-EF81CA3A6888}"/>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88" name="Right Triangle 49">
                <a:extLst>
                  <a:ext uri="{FF2B5EF4-FFF2-40B4-BE49-F238E27FC236}">
                    <a16:creationId xmlns:a16="http://schemas.microsoft.com/office/drawing/2014/main" id="{95D44E78-734E-499E-9DC8-55C2177F2DE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89" name="Round Same Side Corner Rectangle 43">
                <a:extLst>
                  <a:ext uri="{FF2B5EF4-FFF2-40B4-BE49-F238E27FC236}">
                    <a16:creationId xmlns:a16="http://schemas.microsoft.com/office/drawing/2014/main" id="{116E6784-1444-4DAC-A650-9B34753BCF70}"/>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lang="en-US" sz="1100" b="1" dirty="0" smtClean="0">
                    <a:solidFill>
                      <a:prstClr val="white"/>
                    </a:solidFill>
                    <a:latin typeface="+mj-lt"/>
                    <a:cs typeface="Calibri" panose="020F0502020204030204" pitchFamily="34" charset="0"/>
                  </a:rPr>
                  <a:t>Transmission &amp; Renewables </a:t>
                </a:r>
                <a:endParaRPr lang="en-US" sz="1100" b="1" dirty="0">
                  <a:solidFill>
                    <a:prstClr val="white"/>
                  </a:solidFill>
                  <a:latin typeface="+mj-lt"/>
                  <a:cs typeface="Calibri" panose="020F0502020204030204" pitchFamily="34" charset="0"/>
                </a:endParaRPr>
              </a:p>
            </p:txBody>
          </p:sp>
        </p:grpSp>
        <p:grpSp>
          <p:nvGrpSpPr>
            <p:cNvPr id="54" name="Group 53">
              <a:extLst>
                <a:ext uri="{FF2B5EF4-FFF2-40B4-BE49-F238E27FC236}">
                  <a16:creationId xmlns:a16="http://schemas.microsoft.com/office/drawing/2014/main" id="{788A0CA4-527A-4B56-AFA7-ABE22FD946E2}"/>
                </a:ext>
              </a:extLst>
            </p:cNvPr>
            <p:cNvGrpSpPr/>
            <p:nvPr/>
          </p:nvGrpSpPr>
          <p:grpSpPr>
            <a:xfrm>
              <a:off x="4604386" y="3547170"/>
              <a:ext cx="1934414" cy="1996045"/>
              <a:chOff x="582909" y="4047068"/>
              <a:chExt cx="2642778" cy="3211966"/>
            </a:xfrm>
            <a:solidFill>
              <a:schemeClr val="bg1">
                <a:lumMod val="95000"/>
              </a:schemeClr>
            </a:solidFill>
          </p:grpSpPr>
          <p:sp>
            <p:nvSpPr>
              <p:cNvPr id="85" name="Rectangle 84">
                <a:extLst>
                  <a:ext uri="{FF2B5EF4-FFF2-40B4-BE49-F238E27FC236}">
                    <a16:creationId xmlns:a16="http://schemas.microsoft.com/office/drawing/2014/main" id="{D97A1E3A-27EB-40F7-B4CC-FADB1D0E8CE6}"/>
                  </a:ext>
                </a:extLst>
              </p:cNvPr>
              <p:cNvSpPr/>
              <p:nvPr/>
            </p:nvSpPr>
            <p:spPr bwMode="gray">
              <a:xfrm>
                <a:off x="582909" y="4047068"/>
                <a:ext cx="2642778" cy="3124270"/>
              </a:xfrm>
              <a:prstGeom prst="rect">
                <a:avLst/>
              </a:prstGeom>
              <a:grpFill/>
              <a:ln w="19050" algn="ctr">
                <a:noFill/>
                <a:miter lim="800000"/>
                <a:headEnd/>
                <a:tailEnd/>
              </a:ln>
            </p:spPr>
            <p:txBody>
              <a:bodyPr wrap="square" lIns="40500" tIns="40500" rIns="27000" bIns="27000" rtlCol="0" anchor="t"/>
              <a:lstStyle/>
              <a:p>
                <a:pPr marL="197168" lvl="0" indent="-171450">
                  <a:spcBef>
                    <a:spcPts val="450"/>
                  </a:spcBef>
                  <a:buFont typeface="Wingdings" panose="05000000000000000000" pitchFamily="2" charset="2"/>
                  <a:buChar char="§"/>
                  <a:defRPr/>
                </a:pPr>
                <a:r>
                  <a:rPr lang="en-US" sz="1200" dirty="0" smtClean="0">
                    <a:solidFill>
                      <a:prstClr val="black"/>
                    </a:solidFill>
                    <a:latin typeface="+mj-lt"/>
                  </a:rPr>
                  <a:t>Transmission network improvement and strengthening SLDC operations have been planned</a:t>
                </a:r>
              </a:p>
              <a:p>
                <a:pPr marL="197168" lvl="0" indent="-171450">
                  <a:spcBef>
                    <a:spcPts val="450"/>
                  </a:spcBef>
                  <a:buFont typeface="Wingdings" panose="05000000000000000000" pitchFamily="2" charset="2"/>
                  <a:buChar char="§"/>
                  <a:defRPr/>
                </a:pPr>
                <a:r>
                  <a:rPr lang="en-US" sz="1200" dirty="0" smtClean="0">
                    <a:solidFill>
                      <a:prstClr val="black"/>
                    </a:solidFill>
                    <a:latin typeface="+mj-lt"/>
                  </a:rPr>
                  <a:t>Implementation of Solar Rooftop panels for domestic households and PM-KUSUM (expected allocation of 50MW) have been planned </a:t>
                </a:r>
              </a:p>
              <a:p>
                <a:pPr marL="197168" lvl="0" indent="-171450">
                  <a:spcBef>
                    <a:spcPts val="450"/>
                  </a:spcBef>
                  <a:buFont typeface="Wingdings" panose="05000000000000000000" pitchFamily="2" charset="2"/>
                  <a:buChar char="§"/>
                  <a:defRPr/>
                </a:pPr>
                <a:r>
                  <a:rPr lang="en-US" sz="1200" dirty="0" smtClean="0">
                    <a:solidFill>
                      <a:prstClr val="black"/>
                    </a:solidFill>
                    <a:latin typeface="+mj-lt"/>
                  </a:rPr>
                  <a:t>Jharkhand wishes to additionally focus on bio-energy, waste to energy, Biomass based generation</a:t>
                </a:r>
                <a:endParaRPr lang="en-US" sz="1200" dirty="0">
                  <a:solidFill>
                    <a:prstClr val="black"/>
                  </a:solidFill>
                  <a:latin typeface="+mj-lt"/>
                </a:endParaRPr>
              </a:p>
            </p:txBody>
          </p:sp>
          <p:sp>
            <p:nvSpPr>
              <p:cNvPr id="86" name="Rectangle 85">
                <a:extLst>
                  <a:ext uri="{FF2B5EF4-FFF2-40B4-BE49-F238E27FC236}">
                    <a16:creationId xmlns:a16="http://schemas.microsoft.com/office/drawing/2014/main" id="{43E834A1-4389-4442-96D1-FF6AFC338FDC}"/>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55" name="Group 54">
              <a:extLst>
                <a:ext uri="{FF2B5EF4-FFF2-40B4-BE49-F238E27FC236}">
                  <a16:creationId xmlns:a16="http://schemas.microsoft.com/office/drawing/2014/main" id="{8EF5F581-0E3E-48D1-81CC-89F5133714CA}"/>
                </a:ext>
              </a:extLst>
            </p:cNvPr>
            <p:cNvGrpSpPr/>
            <p:nvPr/>
          </p:nvGrpSpPr>
          <p:grpSpPr>
            <a:xfrm>
              <a:off x="5254379" y="2473635"/>
              <a:ext cx="634427" cy="1049086"/>
              <a:chOff x="757805" y="1635343"/>
              <a:chExt cx="1185062" cy="2012973"/>
            </a:xfrm>
          </p:grpSpPr>
          <p:sp>
            <p:nvSpPr>
              <p:cNvPr id="80" name="Freeform 36">
                <a:extLst>
                  <a:ext uri="{FF2B5EF4-FFF2-40B4-BE49-F238E27FC236}">
                    <a16:creationId xmlns:a16="http://schemas.microsoft.com/office/drawing/2014/main" id="{83C1787A-0F1A-498B-9531-D8A7FA4CB9BB}"/>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81" name="Round Same Side Corner Rectangle 37">
                <a:extLst>
                  <a:ext uri="{FF2B5EF4-FFF2-40B4-BE49-F238E27FC236}">
                    <a16:creationId xmlns:a16="http://schemas.microsoft.com/office/drawing/2014/main" id="{B5CDBD07-CAFD-4BFB-9DED-630073CB3EA9}"/>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82" name="Round Same Side Corner Rectangle 38">
                <a:extLst>
                  <a:ext uri="{FF2B5EF4-FFF2-40B4-BE49-F238E27FC236}">
                    <a16:creationId xmlns:a16="http://schemas.microsoft.com/office/drawing/2014/main" id="{AEC94D2E-E1A7-4D10-BA81-003849D17C91}"/>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83" name="Round Same Side Corner Rectangle 39">
                <a:extLst>
                  <a:ext uri="{FF2B5EF4-FFF2-40B4-BE49-F238E27FC236}">
                    <a16:creationId xmlns:a16="http://schemas.microsoft.com/office/drawing/2014/main" id="{778F7CB4-BB09-47A7-B414-E5BD0D753ED3}"/>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84" name="Oval 83">
                <a:extLst>
                  <a:ext uri="{FF2B5EF4-FFF2-40B4-BE49-F238E27FC236}">
                    <a16:creationId xmlns:a16="http://schemas.microsoft.com/office/drawing/2014/main" id="{A06532EA-C3F2-4A70-8D22-D8A31D9C4ADE}"/>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56" name="Group 55">
              <a:extLst>
                <a:ext uri="{FF2B5EF4-FFF2-40B4-BE49-F238E27FC236}">
                  <a16:creationId xmlns:a16="http://schemas.microsoft.com/office/drawing/2014/main" id="{6810A403-14F4-4CEE-84D4-01CB80D360D7}"/>
                </a:ext>
              </a:extLst>
            </p:cNvPr>
            <p:cNvGrpSpPr/>
            <p:nvPr/>
          </p:nvGrpSpPr>
          <p:grpSpPr>
            <a:xfrm>
              <a:off x="6730366" y="2117101"/>
              <a:ext cx="1934414" cy="356534"/>
              <a:chOff x="413228" y="1371600"/>
              <a:chExt cx="1947702" cy="476173"/>
            </a:xfrm>
          </p:grpSpPr>
          <p:sp>
            <p:nvSpPr>
              <p:cNvPr id="77" name="Right Triangle 49">
                <a:extLst>
                  <a:ext uri="{FF2B5EF4-FFF2-40B4-BE49-F238E27FC236}">
                    <a16:creationId xmlns:a16="http://schemas.microsoft.com/office/drawing/2014/main" id="{835A0BBA-2E30-4FBF-BECF-27B08DEC5CA1}"/>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78" name="Right Triangle 49">
                <a:extLst>
                  <a:ext uri="{FF2B5EF4-FFF2-40B4-BE49-F238E27FC236}">
                    <a16:creationId xmlns:a16="http://schemas.microsoft.com/office/drawing/2014/main" id="{FACFB63B-EF29-4264-ACCD-44C32269845B}"/>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79" name="Round Same Side Corner Rectangle 43">
                <a:extLst>
                  <a:ext uri="{FF2B5EF4-FFF2-40B4-BE49-F238E27FC236}">
                    <a16:creationId xmlns:a16="http://schemas.microsoft.com/office/drawing/2014/main" id="{38EA0011-0F82-4E99-8439-5E34FCCFA344}"/>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lang="en-US" sz="1100" b="1" dirty="0" smtClean="0">
                    <a:solidFill>
                      <a:prstClr val="white"/>
                    </a:solidFill>
                    <a:latin typeface="+mj-lt"/>
                    <a:cs typeface="Calibri" panose="020F0502020204030204" pitchFamily="34" charset="0"/>
                  </a:rPr>
                  <a:t>Policy Push</a:t>
                </a:r>
                <a:endParaRPr lang="en-US" sz="1100" b="1" dirty="0">
                  <a:solidFill>
                    <a:prstClr val="white"/>
                  </a:solidFill>
                  <a:latin typeface="+mj-lt"/>
                  <a:cs typeface="Calibri" panose="020F0502020204030204" pitchFamily="34" charset="0"/>
                </a:endParaRPr>
              </a:p>
            </p:txBody>
          </p:sp>
        </p:grpSp>
        <p:grpSp>
          <p:nvGrpSpPr>
            <p:cNvPr id="57" name="Group 56">
              <a:extLst>
                <a:ext uri="{FF2B5EF4-FFF2-40B4-BE49-F238E27FC236}">
                  <a16:creationId xmlns:a16="http://schemas.microsoft.com/office/drawing/2014/main" id="{4943F009-1EB0-4023-8B0F-7F53FE2651F1}"/>
                </a:ext>
              </a:extLst>
            </p:cNvPr>
            <p:cNvGrpSpPr/>
            <p:nvPr/>
          </p:nvGrpSpPr>
          <p:grpSpPr>
            <a:xfrm>
              <a:off x="6730366" y="3547170"/>
              <a:ext cx="1934414" cy="1996045"/>
              <a:chOff x="582909" y="4047068"/>
              <a:chExt cx="2642778" cy="3211966"/>
            </a:xfrm>
          </p:grpSpPr>
          <p:sp>
            <p:nvSpPr>
              <p:cNvPr id="75" name="Rectangle 74">
                <a:extLst>
                  <a:ext uri="{FF2B5EF4-FFF2-40B4-BE49-F238E27FC236}">
                    <a16:creationId xmlns:a16="http://schemas.microsoft.com/office/drawing/2014/main" id="{DAC8B880-CF27-45F6-851E-E4E8C36749C1}"/>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197168" lvl="0" indent="-171450">
                  <a:spcBef>
                    <a:spcPts val="450"/>
                  </a:spcBef>
                  <a:buFont typeface="Wingdings" panose="05000000000000000000" pitchFamily="2" charset="2"/>
                  <a:buChar char="§"/>
                  <a:defRPr/>
                </a:pPr>
                <a:r>
                  <a:rPr lang="en-US" sz="1200" dirty="0" smtClean="0">
                    <a:solidFill>
                      <a:prstClr val="black"/>
                    </a:solidFill>
                    <a:latin typeface="+mj-lt"/>
                  </a:rPr>
                  <a:t>On assimilating overall preparedness, </a:t>
                </a:r>
                <a:r>
                  <a:rPr lang="en-US" sz="1200" b="1" dirty="0" smtClean="0">
                    <a:solidFill>
                      <a:prstClr val="black"/>
                    </a:solidFill>
                    <a:latin typeface="+mj-lt"/>
                  </a:rPr>
                  <a:t>Energy Vision Document</a:t>
                </a:r>
                <a:r>
                  <a:rPr lang="en-US" sz="1200" dirty="0" smtClean="0">
                    <a:solidFill>
                      <a:prstClr val="black"/>
                    </a:solidFill>
                    <a:latin typeface="+mj-lt"/>
                  </a:rPr>
                  <a:t> and </a:t>
                </a:r>
                <a:r>
                  <a:rPr lang="en-US" sz="1200" b="1" dirty="0" smtClean="0">
                    <a:solidFill>
                      <a:prstClr val="black"/>
                    </a:solidFill>
                    <a:latin typeface="+mj-lt"/>
                  </a:rPr>
                  <a:t>Jharkhand Power Policy</a:t>
                </a:r>
                <a:r>
                  <a:rPr lang="en-US" sz="1200" dirty="0" smtClean="0">
                    <a:solidFill>
                      <a:prstClr val="black"/>
                    </a:solidFill>
                    <a:latin typeface="+mj-lt"/>
                  </a:rPr>
                  <a:t> have been drafted in 2018 </a:t>
                </a:r>
              </a:p>
              <a:p>
                <a:pPr marL="197168" lvl="0" indent="-171450">
                  <a:spcBef>
                    <a:spcPts val="450"/>
                  </a:spcBef>
                  <a:buFont typeface="Wingdings" panose="05000000000000000000" pitchFamily="2" charset="2"/>
                  <a:buChar char="§"/>
                  <a:defRPr/>
                </a:pPr>
                <a:r>
                  <a:rPr lang="en-US" sz="1200" b="1" dirty="0" smtClean="0">
                    <a:solidFill>
                      <a:prstClr val="black"/>
                    </a:solidFill>
                    <a:latin typeface="+mj-lt"/>
                  </a:rPr>
                  <a:t>Solar Power Policy </a:t>
                </a:r>
                <a:r>
                  <a:rPr lang="en-US" sz="1200" dirty="0" smtClean="0">
                    <a:solidFill>
                      <a:prstClr val="black"/>
                    </a:solidFill>
                    <a:latin typeface="+mj-lt"/>
                  </a:rPr>
                  <a:t>was notified in 2015, followed by Solar Rooftop Policy in 2018 </a:t>
                </a:r>
              </a:p>
              <a:p>
                <a:pPr marL="197168" lvl="0" indent="-171450">
                  <a:spcBef>
                    <a:spcPts val="450"/>
                  </a:spcBef>
                  <a:buFont typeface="Wingdings" panose="05000000000000000000" pitchFamily="2" charset="2"/>
                  <a:buChar char="§"/>
                  <a:defRPr/>
                </a:pPr>
                <a:r>
                  <a:rPr lang="en-US" sz="1200" dirty="0" smtClean="0">
                    <a:solidFill>
                      <a:prstClr val="black"/>
                    </a:solidFill>
                    <a:latin typeface="+mj-lt"/>
                  </a:rPr>
                  <a:t>As part of Jharkhand Power Policy 2018, policies for Bio-energy, Waste to Energy &amp; Demand Side Management have been proposed</a:t>
                </a:r>
                <a:endParaRPr lang="en-US" sz="1200" dirty="0">
                  <a:solidFill>
                    <a:prstClr val="black"/>
                  </a:solidFill>
                  <a:latin typeface="+mj-lt"/>
                </a:endParaRPr>
              </a:p>
            </p:txBody>
          </p:sp>
          <p:sp>
            <p:nvSpPr>
              <p:cNvPr id="76" name="Rectangle 75">
                <a:extLst>
                  <a:ext uri="{FF2B5EF4-FFF2-40B4-BE49-F238E27FC236}">
                    <a16:creationId xmlns:a16="http://schemas.microsoft.com/office/drawing/2014/main" id="{A52BF1B0-5895-4A54-BB65-00C08648D2F3}"/>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58" name="Group 57">
              <a:extLst>
                <a:ext uri="{FF2B5EF4-FFF2-40B4-BE49-F238E27FC236}">
                  <a16:creationId xmlns:a16="http://schemas.microsoft.com/office/drawing/2014/main" id="{0A2F2DE4-14F3-4C18-9191-D729AB3582C8}"/>
                </a:ext>
              </a:extLst>
            </p:cNvPr>
            <p:cNvGrpSpPr/>
            <p:nvPr/>
          </p:nvGrpSpPr>
          <p:grpSpPr>
            <a:xfrm>
              <a:off x="7380359" y="2473635"/>
              <a:ext cx="634427" cy="1049086"/>
              <a:chOff x="757805" y="1635343"/>
              <a:chExt cx="1185062" cy="2012973"/>
            </a:xfrm>
          </p:grpSpPr>
          <p:sp>
            <p:nvSpPr>
              <p:cNvPr id="70" name="Freeform 36">
                <a:extLst>
                  <a:ext uri="{FF2B5EF4-FFF2-40B4-BE49-F238E27FC236}">
                    <a16:creationId xmlns:a16="http://schemas.microsoft.com/office/drawing/2014/main" id="{3EE1203B-0DAF-4B6C-B5A1-EB0AFF8C5B23}"/>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71" name="Round Same Side Corner Rectangle 37">
                <a:extLst>
                  <a:ext uri="{FF2B5EF4-FFF2-40B4-BE49-F238E27FC236}">
                    <a16:creationId xmlns:a16="http://schemas.microsoft.com/office/drawing/2014/main" id="{DB5F5DA9-D403-4BB6-A326-6667C11561BF}"/>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72" name="Round Same Side Corner Rectangle 38">
                <a:extLst>
                  <a:ext uri="{FF2B5EF4-FFF2-40B4-BE49-F238E27FC236}">
                    <a16:creationId xmlns:a16="http://schemas.microsoft.com/office/drawing/2014/main" id="{13EF3BFA-9685-43DB-A875-6BA791CF56DD}"/>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73" name="Round Same Side Corner Rectangle 39">
                <a:extLst>
                  <a:ext uri="{FF2B5EF4-FFF2-40B4-BE49-F238E27FC236}">
                    <a16:creationId xmlns:a16="http://schemas.microsoft.com/office/drawing/2014/main" id="{E69A3EB8-FF51-4E4B-A147-F557A9012078}"/>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sp>
            <p:nvSpPr>
              <p:cNvPr id="74" name="Oval 73">
                <a:extLst>
                  <a:ext uri="{FF2B5EF4-FFF2-40B4-BE49-F238E27FC236}">
                    <a16:creationId xmlns:a16="http://schemas.microsoft.com/office/drawing/2014/main" id="{008737F7-8812-4312-B9A2-CA7407484742}"/>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59" name="Group 58">
              <a:extLst>
                <a:ext uri="{FF2B5EF4-FFF2-40B4-BE49-F238E27FC236}">
                  <a16:creationId xmlns:a16="http://schemas.microsoft.com/office/drawing/2014/main" id="{899DF317-2154-4C53-B7AF-DEA85ED0A84E}"/>
                </a:ext>
              </a:extLst>
            </p:cNvPr>
            <p:cNvGrpSpPr>
              <a:grpSpLocks noChangeAspect="1"/>
            </p:cNvGrpSpPr>
            <p:nvPr/>
          </p:nvGrpSpPr>
          <p:grpSpPr>
            <a:xfrm>
              <a:off x="7462054" y="2563358"/>
              <a:ext cx="471035" cy="468204"/>
              <a:chOff x="6537910" y="4611206"/>
              <a:chExt cx="1849437" cy="1838325"/>
            </a:xfrm>
            <a:solidFill>
              <a:schemeClr val="accent5"/>
            </a:solidFill>
          </p:grpSpPr>
          <p:sp>
            <p:nvSpPr>
              <p:cNvPr id="63" name="Freeform 15">
                <a:extLst>
                  <a:ext uri="{FF2B5EF4-FFF2-40B4-BE49-F238E27FC236}">
                    <a16:creationId xmlns:a16="http://schemas.microsoft.com/office/drawing/2014/main" id="{42F4A725-5870-4EEB-83CC-9C64F54F5068}"/>
                  </a:ext>
                </a:extLst>
              </p:cNvPr>
              <p:cNvSpPr>
                <a:spLocks noEditPoints="1"/>
              </p:cNvSpPr>
              <p:nvPr/>
            </p:nvSpPr>
            <p:spPr bwMode="auto">
              <a:xfrm>
                <a:off x="7688847" y="5262081"/>
                <a:ext cx="312737" cy="766763"/>
              </a:xfrm>
              <a:custGeom>
                <a:avLst/>
                <a:gdLst>
                  <a:gd name="T0" fmla="*/ 41 w 65"/>
                  <a:gd name="T1" fmla="*/ 0 h 160"/>
                  <a:gd name="T2" fmla="*/ 25 w 65"/>
                  <a:gd name="T3" fmla="*/ 0 h 160"/>
                  <a:gd name="T4" fmla="*/ 17 w 65"/>
                  <a:gd name="T5" fmla="*/ 6 h 160"/>
                  <a:gd name="T6" fmla="*/ 1 w 65"/>
                  <a:gd name="T7" fmla="*/ 86 h 160"/>
                  <a:gd name="T8" fmla="*/ 2 w 65"/>
                  <a:gd name="T9" fmla="*/ 93 h 160"/>
                  <a:gd name="T10" fmla="*/ 9 w 65"/>
                  <a:gd name="T11" fmla="*/ 96 h 160"/>
                  <a:gd name="T12" fmla="*/ 9 w 65"/>
                  <a:gd name="T13" fmla="*/ 152 h 160"/>
                  <a:gd name="T14" fmla="*/ 17 w 65"/>
                  <a:gd name="T15" fmla="*/ 160 h 160"/>
                  <a:gd name="T16" fmla="*/ 25 w 65"/>
                  <a:gd name="T17" fmla="*/ 152 h 160"/>
                  <a:gd name="T18" fmla="*/ 25 w 65"/>
                  <a:gd name="T19" fmla="*/ 96 h 160"/>
                  <a:gd name="T20" fmla="*/ 41 w 65"/>
                  <a:gd name="T21" fmla="*/ 96 h 160"/>
                  <a:gd name="T22" fmla="*/ 41 w 65"/>
                  <a:gd name="T23" fmla="*/ 152 h 160"/>
                  <a:gd name="T24" fmla="*/ 49 w 65"/>
                  <a:gd name="T25" fmla="*/ 160 h 160"/>
                  <a:gd name="T26" fmla="*/ 57 w 65"/>
                  <a:gd name="T27" fmla="*/ 152 h 160"/>
                  <a:gd name="T28" fmla="*/ 57 w 65"/>
                  <a:gd name="T29" fmla="*/ 96 h 160"/>
                  <a:gd name="T30" fmla="*/ 63 w 65"/>
                  <a:gd name="T31" fmla="*/ 93 h 160"/>
                  <a:gd name="T32" fmla="*/ 65 w 65"/>
                  <a:gd name="T33" fmla="*/ 86 h 160"/>
                  <a:gd name="T34" fmla="*/ 49 w 65"/>
                  <a:gd name="T35" fmla="*/ 6 h 160"/>
                  <a:gd name="T36" fmla="*/ 41 w 65"/>
                  <a:gd name="T37" fmla="*/ 0 h 160"/>
                  <a:gd name="T38" fmla="*/ 31 w 65"/>
                  <a:gd name="T39" fmla="*/ 16 h 160"/>
                  <a:gd name="T40" fmla="*/ 34 w 65"/>
                  <a:gd name="T41" fmla="*/ 16 h 160"/>
                  <a:gd name="T42" fmla="*/ 47 w 65"/>
                  <a:gd name="T43" fmla="*/ 80 h 160"/>
                  <a:gd name="T44" fmla="*/ 18 w 65"/>
                  <a:gd name="T45" fmla="*/ 80 h 160"/>
                  <a:gd name="T46" fmla="*/ 31 w 65"/>
                  <a:gd name="T47"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160">
                    <a:moveTo>
                      <a:pt x="41" y="0"/>
                    </a:moveTo>
                    <a:cubicBezTo>
                      <a:pt x="25" y="0"/>
                      <a:pt x="25" y="0"/>
                      <a:pt x="25" y="0"/>
                    </a:cubicBezTo>
                    <a:cubicBezTo>
                      <a:pt x="21" y="0"/>
                      <a:pt x="18" y="2"/>
                      <a:pt x="17" y="6"/>
                    </a:cubicBezTo>
                    <a:cubicBezTo>
                      <a:pt x="1" y="86"/>
                      <a:pt x="1" y="86"/>
                      <a:pt x="1" y="86"/>
                    </a:cubicBezTo>
                    <a:cubicBezTo>
                      <a:pt x="0" y="88"/>
                      <a:pt x="1" y="91"/>
                      <a:pt x="2" y="93"/>
                    </a:cubicBezTo>
                    <a:cubicBezTo>
                      <a:pt x="4" y="95"/>
                      <a:pt x="6" y="96"/>
                      <a:pt x="9" y="96"/>
                    </a:cubicBezTo>
                    <a:cubicBezTo>
                      <a:pt x="9" y="152"/>
                      <a:pt x="9" y="152"/>
                      <a:pt x="9" y="152"/>
                    </a:cubicBezTo>
                    <a:cubicBezTo>
                      <a:pt x="9" y="156"/>
                      <a:pt x="12" y="160"/>
                      <a:pt x="17" y="160"/>
                    </a:cubicBezTo>
                    <a:cubicBezTo>
                      <a:pt x="21" y="160"/>
                      <a:pt x="25" y="156"/>
                      <a:pt x="25" y="152"/>
                    </a:cubicBezTo>
                    <a:cubicBezTo>
                      <a:pt x="25" y="96"/>
                      <a:pt x="25" y="96"/>
                      <a:pt x="25" y="96"/>
                    </a:cubicBezTo>
                    <a:cubicBezTo>
                      <a:pt x="41" y="96"/>
                      <a:pt x="41" y="96"/>
                      <a:pt x="41" y="96"/>
                    </a:cubicBezTo>
                    <a:cubicBezTo>
                      <a:pt x="41" y="152"/>
                      <a:pt x="41" y="152"/>
                      <a:pt x="41" y="152"/>
                    </a:cubicBezTo>
                    <a:cubicBezTo>
                      <a:pt x="41" y="156"/>
                      <a:pt x="44" y="160"/>
                      <a:pt x="49" y="160"/>
                    </a:cubicBezTo>
                    <a:cubicBezTo>
                      <a:pt x="53" y="160"/>
                      <a:pt x="57" y="156"/>
                      <a:pt x="57" y="152"/>
                    </a:cubicBezTo>
                    <a:cubicBezTo>
                      <a:pt x="57" y="96"/>
                      <a:pt x="57" y="96"/>
                      <a:pt x="57" y="96"/>
                    </a:cubicBezTo>
                    <a:cubicBezTo>
                      <a:pt x="59" y="96"/>
                      <a:pt x="61" y="95"/>
                      <a:pt x="63" y="93"/>
                    </a:cubicBezTo>
                    <a:cubicBezTo>
                      <a:pt x="64" y="91"/>
                      <a:pt x="65" y="88"/>
                      <a:pt x="65" y="86"/>
                    </a:cubicBezTo>
                    <a:cubicBezTo>
                      <a:pt x="49" y="6"/>
                      <a:pt x="49" y="6"/>
                      <a:pt x="49" y="6"/>
                    </a:cubicBezTo>
                    <a:cubicBezTo>
                      <a:pt x="48" y="2"/>
                      <a:pt x="44" y="0"/>
                      <a:pt x="41" y="0"/>
                    </a:cubicBezTo>
                    <a:close/>
                    <a:moveTo>
                      <a:pt x="31" y="16"/>
                    </a:moveTo>
                    <a:cubicBezTo>
                      <a:pt x="34" y="16"/>
                      <a:pt x="34" y="16"/>
                      <a:pt x="34" y="16"/>
                    </a:cubicBezTo>
                    <a:cubicBezTo>
                      <a:pt x="47" y="80"/>
                      <a:pt x="47" y="80"/>
                      <a:pt x="47" y="80"/>
                    </a:cubicBezTo>
                    <a:cubicBezTo>
                      <a:pt x="18" y="80"/>
                      <a:pt x="18" y="80"/>
                      <a:pt x="18" y="80"/>
                    </a:cubicBezTo>
                    <a:lnTo>
                      <a:pt x="31" y="1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j-lt"/>
                  <a:ea typeface="+mn-ea"/>
                  <a:cs typeface="+mn-cs"/>
                </a:endParaRPr>
              </a:p>
            </p:txBody>
          </p:sp>
          <p:sp>
            <p:nvSpPr>
              <p:cNvPr id="64" name="Freeform 16">
                <a:extLst>
                  <a:ext uri="{FF2B5EF4-FFF2-40B4-BE49-F238E27FC236}">
                    <a16:creationId xmlns:a16="http://schemas.microsoft.com/office/drawing/2014/main" id="{07D11228-8389-4069-890B-775F37242A38}"/>
                  </a:ext>
                </a:extLst>
              </p:cNvPr>
              <p:cNvSpPr>
                <a:spLocks noEditPoints="1"/>
              </p:cNvSpPr>
              <p:nvPr/>
            </p:nvSpPr>
            <p:spPr bwMode="auto">
              <a:xfrm>
                <a:off x="7731710" y="4955694"/>
                <a:ext cx="231775"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j-lt"/>
                  <a:ea typeface="+mn-ea"/>
                  <a:cs typeface="+mn-cs"/>
                </a:endParaRPr>
              </a:p>
            </p:txBody>
          </p:sp>
          <p:sp>
            <p:nvSpPr>
              <p:cNvPr id="65" name="Freeform 17">
                <a:extLst>
                  <a:ext uri="{FF2B5EF4-FFF2-40B4-BE49-F238E27FC236}">
                    <a16:creationId xmlns:a16="http://schemas.microsoft.com/office/drawing/2014/main" id="{0A95C04F-BDAE-45A6-AE3E-0741893C2C62}"/>
                  </a:ext>
                </a:extLst>
              </p:cNvPr>
              <p:cNvSpPr>
                <a:spLocks noEditPoints="1"/>
              </p:cNvSpPr>
              <p:nvPr/>
            </p:nvSpPr>
            <p:spPr bwMode="auto">
              <a:xfrm>
                <a:off x="6923672" y="5262081"/>
                <a:ext cx="307975" cy="766763"/>
              </a:xfrm>
              <a:custGeom>
                <a:avLst/>
                <a:gdLst>
                  <a:gd name="T0" fmla="*/ 56 w 64"/>
                  <a:gd name="T1" fmla="*/ 0 h 160"/>
                  <a:gd name="T2" fmla="*/ 8 w 64"/>
                  <a:gd name="T3" fmla="*/ 0 h 160"/>
                  <a:gd name="T4" fmla="*/ 0 w 64"/>
                  <a:gd name="T5" fmla="*/ 8 h 160"/>
                  <a:gd name="T6" fmla="*/ 0 w 64"/>
                  <a:gd name="T7" fmla="*/ 72 h 160"/>
                  <a:gd name="T8" fmla="*/ 8 w 64"/>
                  <a:gd name="T9" fmla="*/ 80 h 160"/>
                  <a:gd name="T10" fmla="*/ 8 w 64"/>
                  <a:gd name="T11" fmla="*/ 152 h 160"/>
                  <a:gd name="T12" fmla="*/ 16 w 64"/>
                  <a:gd name="T13" fmla="*/ 160 h 160"/>
                  <a:gd name="T14" fmla="*/ 24 w 64"/>
                  <a:gd name="T15" fmla="*/ 152 h 160"/>
                  <a:gd name="T16" fmla="*/ 24 w 64"/>
                  <a:gd name="T17" fmla="*/ 80 h 160"/>
                  <a:gd name="T18" fmla="*/ 40 w 64"/>
                  <a:gd name="T19" fmla="*/ 80 h 160"/>
                  <a:gd name="T20" fmla="*/ 40 w 64"/>
                  <a:gd name="T21" fmla="*/ 152 h 160"/>
                  <a:gd name="T22" fmla="*/ 48 w 64"/>
                  <a:gd name="T23" fmla="*/ 160 h 160"/>
                  <a:gd name="T24" fmla="*/ 56 w 64"/>
                  <a:gd name="T25" fmla="*/ 152 h 160"/>
                  <a:gd name="T26" fmla="*/ 56 w 64"/>
                  <a:gd name="T27" fmla="*/ 80 h 160"/>
                  <a:gd name="T28" fmla="*/ 64 w 64"/>
                  <a:gd name="T29" fmla="*/ 72 h 160"/>
                  <a:gd name="T30" fmla="*/ 64 w 64"/>
                  <a:gd name="T31" fmla="*/ 8 h 160"/>
                  <a:gd name="T32" fmla="*/ 56 w 64"/>
                  <a:gd name="T33" fmla="*/ 0 h 160"/>
                  <a:gd name="T34" fmla="*/ 16 w 64"/>
                  <a:gd name="T35" fmla="*/ 16 h 160"/>
                  <a:gd name="T36" fmla="*/ 48 w 64"/>
                  <a:gd name="T37" fmla="*/ 16 h 160"/>
                  <a:gd name="T38" fmla="*/ 48 w 64"/>
                  <a:gd name="T39" fmla="*/ 64 h 160"/>
                  <a:gd name="T40" fmla="*/ 16 w 64"/>
                  <a:gd name="T41" fmla="*/ 64 h 160"/>
                  <a:gd name="T42" fmla="*/ 16 w 64"/>
                  <a:gd name="T43"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 h="160">
                    <a:moveTo>
                      <a:pt x="56" y="0"/>
                    </a:moveTo>
                    <a:cubicBezTo>
                      <a:pt x="8" y="0"/>
                      <a:pt x="8" y="0"/>
                      <a:pt x="8" y="0"/>
                    </a:cubicBezTo>
                    <a:cubicBezTo>
                      <a:pt x="3" y="0"/>
                      <a:pt x="0" y="3"/>
                      <a:pt x="0" y="8"/>
                    </a:cubicBezTo>
                    <a:cubicBezTo>
                      <a:pt x="0" y="72"/>
                      <a:pt x="0" y="72"/>
                      <a:pt x="0" y="72"/>
                    </a:cubicBezTo>
                    <a:cubicBezTo>
                      <a:pt x="0" y="76"/>
                      <a:pt x="3" y="80"/>
                      <a:pt x="8" y="80"/>
                    </a:cubicBezTo>
                    <a:cubicBezTo>
                      <a:pt x="8" y="152"/>
                      <a:pt x="8" y="152"/>
                      <a:pt x="8" y="152"/>
                    </a:cubicBezTo>
                    <a:cubicBezTo>
                      <a:pt x="8" y="156"/>
                      <a:pt x="11" y="160"/>
                      <a:pt x="16" y="160"/>
                    </a:cubicBezTo>
                    <a:cubicBezTo>
                      <a:pt x="20" y="160"/>
                      <a:pt x="24" y="156"/>
                      <a:pt x="24" y="152"/>
                    </a:cubicBezTo>
                    <a:cubicBezTo>
                      <a:pt x="24" y="80"/>
                      <a:pt x="24" y="80"/>
                      <a:pt x="24" y="80"/>
                    </a:cubicBezTo>
                    <a:cubicBezTo>
                      <a:pt x="40" y="80"/>
                      <a:pt x="40" y="80"/>
                      <a:pt x="40" y="80"/>
                    </a:cubicBezTo>
                    <a:cubicBezTo>
                      <a:pt x="40" y="152"/>
                      <a:pt x="40" y="152"/>
                      <a:pt x="40" y="152"/>
                    </a:cubicBezTo>
                    <a:cubicBezTo>
                      <a:pt x="40" y="156"/>
                      <a:pt x="43" y="160"/>
                      <a:pt x="48" y="160"/>
                    </a:cubicBezTo>
                    <a:cubicBezTo>
                      <a:pt x="52" y="160"/>
                      <a:pt x="56" y="156"/>
                      <a:pt x="56" y="152"/>
                    </a:cubicBezTo>
                    <a:cubicBezTo>
                      <a:pt x="56" y="80"/>
                      <a:pt x="56" y="80"/>
                      <a:pt x="56" y="80"/>
                    </a:cubicBezTo>
                    <a:cubicBezTo>
                      <a:pt x="60" y="80"/>
                      <a:pt x="64" y="76"/>
                      <a:pt x="64" y="72"/>
                    </a:cubicBezTo>
                    <a:cubicBezTo>
                      <a:pt x="64" y="8"/>
                      <a:pt x="64" y="8"/>
                      <a:pt x="64" y="8"/>
                    </a:cubicBezTo>
                    <a:cubicBezTo>
                      <a:pt x="64" y="3"/>
                      <a:pt x="60" y="0"/>
                      <a:pt x="56" y="0"/>
                    </a:cubicBezTo>
                    <a:close/>
                    <a:moveTo>
                      <a:pt x="16" y="16"/>
                    </a:moveTo>
                    <a:cubicBezTo>
                      <a:pt x="48" y="16"/>
                      <a:pt x="48" y="16"/>
                      <a:pt x="48" y="16"/>
                    </a:cubicBezTo>
                    <a:cubicBezTo>
                      <a:pt x="48" y="64"/>
                      <a:pt x="48" y="64"/>
                      <a:pt x="48" y="64"/>
                    </a:cubicBezTo>
                    <a:cubicBezTo>
                      <a:pt x="16" y="64"/>
                      <a:pt x="16" y="64"/>
                      <a:pt x="16" y="64"/>
                    </a:cubicBezTo>
                    <a:lnTo>
                      <a:pt x="16" y="1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j-lt"/>
                  <a:ea typeface="+mn-ea"/>
                  <a:cs typeface="+mn-cs"/>
                </a:endParaRPr>
              </a:p>
            </p:txBody>
          </p:sp>
          <p:sp>
            <p:nvSpPr>
              <p:cNvPr id="66" name="Freeform 18">
                <a:extLst>
                  <a:ext uri="{FF2B5EF4-FFF2-40B4-BE49-F238E27FC236}">
                    <a16:creationId xmlns:a16="http://schemas.microsoft.com/office/drawing/2014/main" id="{2241838B-0204-4E8F-A641-F2C952591221}"/>
                  </a:ext>
                </a:extLst>
              </p:cNvPr>
              <p:cNvSpPr>
                <a:spLocks noEditPoints="1"/>
              </p:cNvSpPr>
              <p:nvPr/>
            </p:nvSpPr>
            <p:spPr bwMode="auto">
              <a:xfrm>
                <a:off x="6961772" y="4955694"/>
                <a:ext cx="231775"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j-lt"/>
                  <a:ea typeface="+mn-ea"/>
                  <a:cs typeface="+mn-cs"/>
                </a:endParaRPr>
              </a:p>
            </p:txBody>
          </p:sp>
          <p:sp>
            <p:nvSpPr>
              <p:cNvPr id="67" name="Freeform 19">
                <a:extLst>
                  <a:ext uri="{FF2B5EF4-FFF2-40B4-BE49-F238E27FC236}">
                    <a16:creationId xmlns:a16="http://schemas.microsoft.com/office/drawing/2014/main" id="{BD53C094-F63F-49DC-9588-E5CE450092D3}"/>
                  </a:ext>
                </a:extLst>
              </p:cNvPr>
              <p:cNvSpPr>
                <a:spLocks noEditPoints="1"/>
              </p:cNvSpPr>
              <p:nvPr/>
            </p:nvSpPr>
            <p:spPr bwMode="auto">
              <a:xfrm>
                <a:off x="7307847" y="5262081"/>
                <a:ext cx="309562" cy="766763"/>
              </a:xfrm>
              <a:custGeom>
                <a:avLst/>
                <a:gdLst>
                  <a:gd name="T0" fmla="*/ 56 w 64"/>
                  <a:gd name="T1" fmla="*/ 0 h 160"/>
                  <a:gd name="T2" fmla="*/ 8 w 64"/>
                  <a:gd name="T3" fmla="*/ 0 h 160"/>
                  <a:gd name="T4" fmla="*/ 0 w 64"/>
                  <a:gd name="T5" fmla="*/ 8 h 160"/>
                  <a:gd name="T6" fmla="*/ 0 w 64"/>
                  <a:gd name="T7" fmla="*/ 72 h 160"/>
                  <a:gd name="T8" fmla="*/ 8 w 64"/>
                  <a:gd name="T9" fmla="*/ 80 h 160"/>
                  <a:gd name="T10" fmla="*/ 8 w 64"/>
                  <a:gd name="T11" fmla="*/ 152 h 160"/>
                  <a:gd name="T12" fmla="*/ 16 w 64"/>
                  <a:gd name="T13" fmla="*/ 160 h 160"/>
                  <a:gd name="T14" fmla="*/ 24 w 64"/>
                  <a:gd name="T15" fmla="*/ 152 h 160"/>
                  <a:gd name="T16" fmla="*/ 24 w 64"/>
                  <a:gd name="T17" fmla="*/ 80 h 160"/>
                  <a:gd name="T18" fmla="*/ 40 w 64"/>
                  <a:gd name="T19" fmla="*/ 80 h 160"/>
                  <a:gd name="T20" fmla="*/ 40 w 64"/>
                  <a:gd name="T21" fmla="*/ 152 h 160"/>
                  <a:gd name="T22" fmla="*/ 48 w 64"/>
                  <a:gd name="T23" fmla="*/ 160 h 160"/>
                  <a:gd name="T24" fmla="*/ 56 w 64"/>
                  <a:gd name="T25" fmla="*/ 152 h 160"/>
                  <a:gd name="T26" fmla="*/ 56 w 64"/>
                  <a:gd name="T27" fmla="*/ 80 h 160"/>
                  <a:gd name="T28" fmla="*/ 64 w 64"/>
                  <a:gd name="T29" fmla="*/ 72 h 160"/>
                  <a:gd name="T30" fmla="*/ 64 w 64"/>
                  <a:gd name="T31" fmla="*/ 8 h 160"/>
                  <a:gd name="T32" fmla="*/ 56 w 64"/>
                  <a:gd name="T33" fmla="*/ 0 h 160"/>
                  <a:gd name="T34" fmla="*/ 16 w 64"/>
                  <a:gd name="T35" fmla="*/ 16 h 160"/>
                  <a:gd name="T36" fmla="*/ 48 w 64"/>
                  <a:gd name="T37" fmla="*/ 16 h 160"/>
                  <a:gd name="T38" fmla="*/ 48 w 64"/>
                  <a:gd name="T39" fmla="*/ 64 h 160"/>
                  <a:gd name="T40" fmla="*/ 16 w 64"/>
                  <a:gd name="T41" fmla="*/ 64 h 160"/>
                  <a:gd name="T42" fmla="*/ 16 w 64"/>
                  <a:gd name="T43"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 h="160">
                    <a:moveTo>
                      <a:pt x="56" y="0"/>
                    </a:moveTo>
                    <a:cubicBezTo>
                      <a:pt x="8" y="0"/>
                      <a:pt x="8" y="0"/>
                      <a:pt x="8" y="0"/>
                    </a:cubicBezTo>
                    <a:cubicBezTo>
                      <a:pt x="3" y="0"/>
                      <a:pt x="0" y="3"/>
                      <a:pt x="0" y="8"/>
                    </a:cubicBezTo>
                    <a:cubicBezTo>
                      <a:pt x="0" y="72"/>
                      <a:pt x="0" y="72"/>
                      <a:pt x="0" y="72"/>
                    </a:cubicBezTo>
                    <a:cubicBezTo>
                      <a:pt x="0" y="76"/>
                      <a:pt x="3" y="80"/>
                      <a:pt x="8" y="80"/>
                    </a:cubicBezTo>
                    <a:cubicBezTo>
                      <a:pt x="8" y="152"/>
                      <a:pt x="8" y="152"/>
                      <a:pt x="8" y="152"/>
                    </a:cubicBezTo>
                    <a:cubicBezTo>
                      <a:pt x="8" y="156"/>
                      <a:pt x="11" y="160"/>
                      <a:pt x="16" y="160"/>
                    </a:cubicBezTo>
                    <a:cubicBezTo>
                      <a:pt x="20" y="160"/>
                      <a:pt x="24" y="156"/>
                      <a:pt x="24" y="152"/>
                    </a:cubicBezTo>
                    <a:cubicBezTo>
                      <a:pt x="24" y="80"/>
                      <a:pt x="24" y="80"/>
                      <a:pt x="24" y="80"/>
                    </a:cubicBezTo>
                    <a:cubicBezTo>
                      <a:pt x="40" y="80"/>
                      <a:pt x="40" y="80"/>
                      <a:pt x="40" y="80"/>
                    </a:cubicBezTo>
                    <a:cubicBezTo>
                      <a:pt x="40" y="152"/>
                      <a:pt x="40" y="152"/>
                      <a:pt x="40" y="152"/>
                    </a:cubicBezTo>
                    <a:cubicBezTo>
                      <a:pt x="40" y="156"/>
                      <a:pt x="43" y="160"/>
                      <a:pt x="48" y="160"/>
                    </a:cubicBezTo>
                    <a:cubicBezTo>
                      <a:pt x="52" y="160"/>
                      <a:pt x="56" y="156"/>
                      <a:pt x="56" y="152"/>
                    </a:cubicBezTo>
                    <a:cubicBezTo>
                      <a:pt x="56" y="80"/>
                      <a:pt x="56" y="80"/>
                      <a:pt x="56" y="80"/>
                    </a:cubicBezTo>
                    <a:cubicBezTo>
                      <a:pt x="60" y="80"/>
                      <a:pt x="64" y="76"/>
                      <a:pt x="64" y="72"/>
                    </a:cubicBezTo>
                    <a:cubicBezTo>
                      <a:pt x="64" y="8"/>
                      <a:pt x="64" y="8"/>
                      <a:pt x="64" y="8"/>
                    </a:cubicBezTo>
                    <a:cubicBezTo>
                      <a:pt x="64" y="3"/>
                      <a:pt x="60" y="0"/>
                      <a:pt x="56" y="0"/>
                    </a:cubicBezTo>
                    <a:close/>
                    <a:moveTo>
                      <a:pt x="16" y="16"/>
                    </a:moveTo>
                    <a:cubicBezTo>
                      <a:pt x="48" y="16"/>
                      <a:pt x="48" y="16"/>
                      <a:pt x="48" y="16"/>
                    </a:cubicBezTo>
                    <a:cubicBezTo>
                      <a:pt x="48" y="64"/>
                      <a:pt x="48" y="64"/>
                      <a:pt x="48" y="64"/>
                    </a:cubicBezTo>
                    <a:cubicBezTo>
                      <a:pt x="16" y="64"/>
                      <a:pt x="16" y="64"/>
                      <a:pt x="16" y="64"/>
                    </a:cubicBezTo>
                    <a:lnTo>
                      <a:pt x="16" y="1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j-lt"/>
                  <a:ea typeface="+mn-ea"/>
                  <a:cs typeface="+mn-cs"/>
                </a:endParaRPr>
              </a:p>
            </p:txBody>
          </p:sp>
          <p:sp>
            <p:nvSpPr>
              <p:cNvPr id="68" name="Freeform 20">
                <a:extLst>
                  <a:ext uri="{FF2B5EF4-FFF2-40B4-BE49-F238E27FC236}">
                    <a16:creationId xmlns:a16="http://schemas.microsoft.com/office/drawing/2014/main" id="{41DF33DE-E81B-4805-8E36-1FF427907DF7}"/>
                  </a:ext>
                </a:extLst>
              </p:cNvPr>
              <p:cNvSpPr>
                <a:spLocks noEditPoints="1"/>
              </p:cNvSpPr>
              <p:nvPr/>
            </p:nvSpPr>
            <p:spPr bwMode="auto">
              <a:xfrm>
                <a:off x="7347535" y="4955694"/>
                <a:ext cx="230187"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j-lt"/>
                  <a:ea typeface="+mn-ea"/>
                  <a:cs typeface="+mn-cs"/>
                </a:endParaRPr>
              </a:p>
            </p:txBody>
          </p:sp>
          <p:sp>
            <p:nvSpPr>
              <p:cNvPr id="69" name="Freeform 21">
                <a:extLst>
                  <a:ext uri="{FF2B5EF4-FFF2-40B4-BE49-F238E27FC236}">
                    <a16:creationId xmlns:a16="http://schemas.microsoft.com/office/drawing/2014/main" id="{EB06B02F-F913-4A46-BC4A-7FAA536AFCD3}"/>
                  </a:ext>
                </a:extLst>
              </p:cNvPr>
              <p:cNvSpPr>
                <a:spLocks noEditPoints="1"/>
              </p:cNvSpPr>
              <p:nvPr/>
            </p:nvSpPr>
            <p:spPr bwMode="auto">
              <a:xfrm>
                <a:off x="6537910" y="4611206"/>
                <a:ext cx="1849437" cy="1838325"/>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68 h 384"/>
                  <a:gd name="T12" fmla="*/ 16 w 384"/>
                  <a:gd name="T13" fmla="*/ 192 h 384"/>
                  <a:gd name="T14" fmla="*/ 192 w 384"/>
                  <a:gd name="T15" fmla="*/ 16 h 384"/>
                  <a:gd name="T16" fmla="*/ 368 w 384"/>
                  <a:gd name="T17" fmla="*/ 192 h 384"/>
                  <a:gd name="T18" fmla="*/ 192 w 384"/>
                  <a:gd name="T19" fmla="*/ 368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68"/>
                    </a:moveTo>
                    <a:cubicBezTo>
                      <a:pt x="95" y="368"/>
                      <a:pt x="16" y="289"/>
                      <a:pt x="16" y="192"/>
                    </a:cubicBezTo>
                    <a:cubicBezTo>
                      <a:pt x="16" y="95"/>
                      <a:pt x="95" y="16"/>
                      <a:pt x="192" y="16"/>
                    </a:cubicBezTo>
                    <a:cubicBezTo>
                      <a:pt x="289" y="16"/>
                      <a:pt x="368" y="95"/>
                      <a:pt x="368" y="192"/>
                    </a:cubicBezTo>
                    <a:cubicBezTo>
                      <a:pt x="368" y="289"/>
                      <a:pt x="289" y="368"/>
                      <a:pt x="192" y="368"/>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j-lt"/>
                  <a:ea typeface="+mn-ea"/>
                  <a:cs typeface="+mn-cs"/>
                </a:endParaRPr>
              </a:p>
            </p:txBody>
          </p:sp>
        </p:grpSp>
      </p:grpSp>
      <p:sp>
        <p:nvSpPr>
          <p:cNvPr id="115" name="Freeform 570">
            <a:extLst>
              <a:ext uri="{FF2B5EF4-FFF2-40B4-BE49-F238E27FC236}">
                <a16:creationId xmlns:a16="http://schemas.microsoft.com/office/drawing/2014/main" id="{FEA86E2D-0CB1-4EF4-BF49-021BEA04C81C}"/>
              </a:ext>
            </a:extLst>
          </p:cNvPr>
          <p:cNvSpPr>
            <a:spLocks noEditPoints="1"/>
          </p:cNvSpPr>
          <p:nvPr/>
        </p:nvSpPr>
        <p:spPr bwMode="auto">
          <a:xfrm>
            <a:off x="4342603" y="2076927"/>
            <a:ext cx="384060" cy="307973"/>
          </a:xfrm>
          <a:custGeom>
            <a:avLst/>
            <a:gdLst>
              <a:gd name="T0" fmla="*/ 288 w 320"/>
              <a:gd name="T1" fmla="*/ 9 h 256"/>
              <a:gd name="T2" fmla="*/ 277 w 320"/>
              <a:gd name="T3" fmla="*/ 0 h 256"/>
              <a:gd name="T4" fmla="*/ 224 w 320"/>
              <a:gd name="T5" fmla="*/ 0 h 256"/>
              <a:gd name="T6" fmla="*/ 213 w 320"/>
              <a:gd name="T7" fmla="*/ 10 h 256"/>
              <a:gd name="T8" fmla="*/ 201 w 320"/>
              <a:gd name="T9" fmla="*/ 146 h 256"/>
              <a:gd name="T10" fmla="*/ 112 w 320"/>
              <a:gd name="T11" fmla="*/ 87 h 256"/>
              <a:gd name="T12" fmla="*/ 101 w 320"/>
              <a:gd name="T13" fmla="*/ 87 h 256"/>
              <a:gd name="T14" fmla="*/ 96 w 320"/>
              <a:gd name="T15" fmla="*/ 96 h 256"/>
              <a:gd name="T16" fmla="*/ 96 w 320"/>
              <a:gd name="T17" fmla="*/ 140 h 256"/>
              <a:gd name="T18" fmla="*/ 16 w 320"/>
              <a:gd name="T19" fmla="*/ 87 h 256"/>
              <a:gd name="T20" fmla="*/ 5 w 320"/>
              <a:gd name="T21" fmla="*/ 87 h 256"/>
              <a:gd name="T22" fmla="*/ 0 w 320"/>
              <a:gd name="T23" fmla="*/ 96 h 256"/>
              <a:gd name="T24" fmla="*/ 0 w 320"/>
              <a:gd name="T25" fmla="*/ 245 h 256"/>
              <a:gd name="T26" fmla="*/ 10 w 320"/>
              <a:gd name="T27" fmla="*/ 256 h 256"/>
              <a:gd name="T28" fmla="*/ 309 w 320"/>
              <a:gd name="T29" fmla="*/ 256 h 256"/>
              <a:gd name="T30" fmla="*/ 317 w 320"/>
              <a:gd name="T31" fmla="*/ 252 h 256"/>
              <a:gd name="T32" fmla="*/ 320 w 320"/>
              <a:gd name="T33" fmla="*/ 244 h 256"/>
              <a:gd name="T34" fmla="*/ 288 w 320"/>
              <a:gd name="T35" fmla="*/ 9 h 256"/>
              <a:gd name="T36" fmla="*/ 196 w 320"/>
              <a:gd name="T37" fmla="*/ 169 h 256"/>
              <a:gd name="T38" fmla="*/ 198 w 320"/>
              <a:gd name="T39" fmla="*/ 170 h 256"/>
              <a:gd name="T40" fmla="*/ 193 w 320"/>
              <a:gd name="T41" fmla="*/ 235 h 256"/>
              <a:gd name="T42" fmla="*/ 117 w 320"/>
              <a:gd name="T43" fmla="*/ 235 h 256"/>
              <a:gd name="T44" fmla="*/ 117 w 320"/>
              <a:gd name="T45" fmla="*/ 116 h 256"/>
              <a:gd name="T46" fmla="*/ 196 w 320"/>
              <a:gd name="T47" fmla="*/ 169 h 256"/>
              <a:gd name="T48" fmla="*/ 96 w 320"/>
              <a:gd name="T49" fmla="*/ 166 h 256"/>
              <a:gd name="T50" fmla="*/ 96 w 320"/>
              <a:gd name="T51" fmla="*/ 235 h 256"/>
              <a:gd name="T52" fmla="*/ 21 w 320"/>
              <a:gd name="T53" fmla="*/ 235 h 256"/>
              <a:gd name="T54" fmla="*/ 21 w 320"/>
              <a:gd name="T55" fmla="*/ 116 h 256"/>
              <a:gd name="T56" fmla="*/ 96 w 320"/>
              <a:gd name="T57" fmla="*/ 166 h 256"/>
              <a:gd name="T58" fmla="*/ 214 w 320"/>
              <a:gd name="T59" fmla="*/ 235 h 256"/>
              <a:gd name="T60" fmla="*/ 233 w 320"/>
              <a:gd name="T61" fmla="*/ 21 h 256"/>
              <a:gd name="T62" fmla="*/ 268 w 320"/>
              <a:gd name="T63" fmla="*/ 21 h 256"/>
              <a:gd name="T64" fmla="*/ 297 w 320"/>
              <a:gd name="T65" fmla="*/ 235 h 256"/>
              <a:gd name="T66" fmla="*/ 214 w 320"/>
              <a:gd name="T67" fmla="*/ 23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0" h="256">
                <a:moveTo>
                  <a:pt x="288" y="9"/>
                </a:moveTo>
                <a:cubicBezTo>
                  <a:pt x="287" y="4"/>
                  <a:pt x="282" y="0"/>
                  <a:pt x="277" y="0"/>
                </a:cubicBezTo>
                <a:cubicBezTo>
                  <a:pt x="224" y="0"/>
                  <a:pt x="224" y="0"/>
                  <a:pt x="224" y="0"/>
                </a:cubicBezTo>
                <a:cubicBezTo>
                  <a:pt x="218" y="0"/>
                  <a:pt x="214" y="4"/>
                  <a:pt x="213" y="10"/>
                </a:cubicBezTo>
                <a:cubicBezTo>
                  <a:pt x="201" y="146"/>
                  <a:pt x="201" y="146"/>
                  <a:pt x="201" y="146"/>
                </a:cubicBezTo>
                <a:cubicBezTo>
                  <a:pt x="112" y="87"/>
                  <a:pt x="112" y="87"/>
                  <a:pt x="112" y="87"/>
                </a:cubicBezTo>
                <a:cubicBezTo>
                  <a:pt x="109" y="85"/>
                  <a:pt x="105" y="85"/>
                  <a:pt x="101" y="87"/>
                </a:cubicBezTo>
                <a:cubicBezTo>
                  <a:pt x="98" y="88"/>
                  <a:pt x="96" y="92"/>
                  <a:pt x="96" y="96"/>
                </a:cubicBezTo>
                <a:cubicBezTo>
                  <a:pt x="96" y="140"/>
                  <a:pt x="96" y="140"/>
                  <a:pt x="96" y="140"/>
                </a:cubicBezTo>
                <a:cubicBezTo>
                  <a:pt x="16" y="87"/>
                  <a:pt x="16" y="87"/>
                  <a:pt x="16" y="87"/>
                </a:cubicBezTo>
                <a:cubicBezTo>
                  <a:pt x="13" y="85"/>
                  <a:pt x="9" y="85"/>
                  <a:pt x="5" y="87"/>
                </a:cubicBezTo>
                <a:cubicBezTo>
                  <a:pt x="2" y="88"/>
                  <a:pt x="0" y="92"/>
                  <a:pt x="0" y="96"/>
                </a:cubicBezTo>
                <a:cubicBezTo>
                  <a:pt x="0" y="245"/>
                  <a:pt x="0" y="245"/>
                  <a:pt x="0" y="245"/>
                </a:cubicBezTo>
                <a:cubicBezTo>
                  <a:pt x="0" y="251"/>
                  <a:pt x="4" y="256"/>
                  <a:pt x="10" y="256"/>
                </a:cubicBezTo>
                <a:cubicBezTo>
                  <a:pt x="309" y="256"/>
                  <a:pt x="309" y="256"/>
                  <a:pt x="309" y="256"/>
                </a:cubicBezTo>
                <a:cubicBezTo>
                  <a:pt x="312" y="256"/>
                  <a:pt x="315" y="255"/>
                  <a:pt x="317" y="252"/>
                </a:cubicBezTo>
                <a:cubicBezTo>
                  <a:pt x="319" y="250"/>
                  <a:pt x="320" y="247"/>
                  <a:pt x="320" y="244"/>
                </a:cubicBezTo>
                <a:lnTo>
                  <a:pt x="288" y="9"/>
                </a:lnTo>
                <a:close/>
                <a:moveTo>
                  <a:pt x="196" y="169"/>
                </a:moveTo>
                <a:cubicBezTo>
                  <a:pt x="197" y="169"/>
                  <a:pt x="198" y="169"/>
                  <a:pt x="198" y="170"/>
                </a:cubicBezTo>
                <a:cubicBezTo>
                  <a:pt x="193" y="235"/>
                  <a:pt x="193" y="235"/>
                  <a:pt x="193" y="235"/>
                </a:cubicBezTo>
                <a:cubicBezTo>
                  <a:pt x="117" y="235"/>
                  <a:pt x="117" y="235"/>
                  <a:pt x="117" y="235"/>
                </a:cubicBezTo>
                <a:cubicBezTo>
                  <a:pt x="117" y="116"/>
                  <a:pt x="117" y="116"/>
                  <a:pt x="117" y="116"/>
                </a:cubicBezTo>
                <a:lnTo>
                  <a:pt x="196" y="169"/>
                </a:lnTo>
                <a:close/>
                <a:moveTo>
                  <a:pt x="96" y="166"/>
                </a:moveTo>
                <a:cubicBezTo>
                  <a:pt x="96" y="235"/>
                  <a:pt x="96" y="235"/>
                  <a:pt x="96" y="235"/>
                </a:cubicBezTo>
                <a:cubicBezTo>
                  <a:pt x="21" y="235"/>
                  <a:pt x="21" y="235"/>
                  <a:pt x="21" y="235"/>
                </a:cubicBezTo>
                <a:cubicBezTo>
                  <a:pt x="21" y="116"/>
                  <a:pt x="21" y="116"/>
                  <a:pt x="21" y="116"/>
                </a:cubicBezTo>
                <a:lnTo>
                  <a:pt x="96" y="166"/>
                </a:lnTo>
                <a:close/>
                <a:moveTo>
                  <a:pt x="214" y="235"/>
                </a:moveTo>
                <a:cubicBezTo>
                  <a:pt x="233" y="21"/>
                  <a:pt x="233" y="21"/>
                  <a:pt x="233" y="21"/>
                </a:cubicBezTo>
                <a:cubicBezTo>
                  <a:pt x="268" y="21"/>
                  <a:pt x="268" y="21"/>
                  <a:pt x="268" y="21"/>
                </a:cubicBezTo>
                <a:cubicBezTo>
                  <a:pt x="297" y="235"/>
                  <a:pt x="297" y="235"/>
                  <a:pt x="297" y="235"/>
                </a:cubicBezTo>
                <a:lnTo>
                  <a:pt x="214" y="235"/>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mj-lt"/>
              <a:ea typeface="+mn-ea"/>
              <a:cs typeface="+mn-cs"/>
            </a:endParaRPr>
          </a:p>
        </p:txBody>
      </p:sp>
      <p:grpSp>
        <p:nvGrpSpPr>
          <p:cNvPr id="116" name="Group 532">
            <a:extLst>
              <a:ext uri="{FF2B5EF4-FFF2-40B4-BE49-F238E27FC236}">
                <a16:creationId xmlns:a16="http://schemas.microsoft.com/office/drawing/2014/main" id="{FDCBDE56-2FA7-4141-AEC9-A9105FAFD554}"/>
              </a:ext>
            </a:extLst>
          </p:cNvPr>
          <p:cNvGrpSpPr>
            <a:grpSpLocks noChangeAspect="1"/>
          </p:cNvGrpSpPr>
          <p:nvPr/>
        </p:nvGrpSpPr>
        <p:grpSpPr bwMode="auto">
          <a:xfrm>
            <a:off x="1422870" y="1928318"/>
            <a:ext cx="610458" cy="610458"/>
            <a:chOff x="4511" y="2388"/>
            <a:chExt cx="340" cy="340"/>
          </a:xfrm>
          <a:solidFill>
            <a:schemeClr val="accent3"/>
          </a:solidFill>
        </p:grpSpPr>
        <p:sp>
          <p:nvSpPr>
            <p:cNvPr id="117" name="Freeform 533">
              <a:extLst>
                <a:ext uri="{FF2B5EF4-FFF2-40B4-BE49-F238E27FC236}">
                  <a16:creationId xmlns:a16="http://schemas.microsoft.com/office/drawing/2014/main" id="{5CDFC4E4-6E6C-483A-A03C-28B5E0A365A3}"/>
                </a:ext>
              </a:extLst>
            </p:cNvPr>
            <p:cNvSpPr>
              <a:spLocks noEditPoints="1"/>
            </p:cNvSpPr>
            <p:nvPr/>
          </p:nvSpPr>
          <p:spPr bwMode="auto">
            <a:xfrm>
              <a:off x="4511" y="238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18" name="Freeform 534">
              <a:extLst>
                <a:ext uri="{FF2B5EF4-FFF2-40B4-BE49-F238E27FC236}">
                  <a16:creationId xmlns:a16="http://schemas.microsoft.com/office/drawing/2014/main" id="{8069B2C4-D6D8-4676-82E9-31233348156D}"/>
                </a:ext>
              </a:extLst>
            </p:cNvPr>
            <p:cNvSpPr>
              <a:spLocks noEditPoints="1"/>
            </p:cNvSpPr>
            <p:nvPr/>
          </p:nvSpPr>
          <p:spPr bwMode="auto">
            <a:xfrm>
              <a:off x="4617" y="2458"/>
              <a:ext cx="128" cy="199"/>
            </a:xfrm>
            <a:custGeom>
              <a:avLst/>
              <a:gdLst>
                <a:gd name="T0" fmla="*/ 179 w 194"/>
                <a:gd name="T1" fmla="*/ 151 h 300"/>
                <a:gd name="T2" fmla="*/ 115 w 194"/>
                <a:gd name="T3" fmla="*/ 167 h 300"/>
                <a:gd name="T4" fmla="*/ 107 w 194"/>
                <a:gd name="T5" fmla="*/ 177 h 300"/>
                <a:gd name="T6" fmla="*/ 107 w 194"/>
                <a:gd name="T7" fmla="*/ 225 h 300"/>
                <a:gd name="T8" fmla="*/ 86 w 194"/>
                <a:gd name="T9" fmla="*/ 225 h 300"/>
                <a:gd name="T10" fmla="*/ 86 w 194"/>
                <a:gd name="T11" fmla="*/ 193 h 300"/>
                <a:gd name="T12" fmla="*/ 75 w 194"/>
                <a:gd name="T13" fmla="*/ 183 h 300"/>
                <a:gd name="T14" fmla="*/ 65 w 194"/>
                <a:gd name="T15" fmla="*/ 193 h 300"/>
                <a:gd name="T16" fmla="*/ 65 w 194"/>
                <a:gd name="T17" fmla="*/ 225 h 300"/>
                <a:gd name="T18" fmla="*/ 54 w 194"/>
                <a:gd name="T19" fmla="*/ 225 h 300"/>
                <a:gd name="T20" fmla="*/ 46 w 194"/>
                <a:gd name="T21" fmla="*/ 229 h 300"/>
                <a:gd name="T22" fmla="*/ 44 w 194"/>
                <a:gd name="T23" fmla="*/ 238 h 300"/>
                <a:gd name="T24" fmla="*/ 54 w 194"/>
                <a:gd name="T25" fmla="*/ 291 h 300"/>
                <a:gd name="T26" fmla="*/ 65 w 194"/>
                <a:gd name="T27" fmla="*/ 300 h 300"/>
                <a:gd name="T28" fmla="*/ 129 w 194"/>
                <a:gd name="T29" fmla="*/ 300 h 300"/>
                <a:gd name="T30" fmla="*/ 139 w 194"/>
                <a:gd name="T31" fmla="*/ 291 h 300"/>
                <a:gd name="T32" fmla="*/ 150 w 194"/>
                <a:gd name="T33" fmla="*/ 238 h 300"/>
                <a:gd name="T34" fmla="*/ 148 w 194"/>
                <a:gd name="T35" fmla="*/ 229 h 300"/>
                <a:gd name="T36" fmla="*/ 139 w 194"/>
                <a:gd name="T37" fmla="*/ 225 h 300"/>
                <a:gd name="T38" fmla="*/ 129 w 194"/>
                <a:gd name="T39" fmla="*/ 225 h 300"/>
                <a:gd name="T40" fmla="*/ 129 w 194"/>
                <a:gd name="T41" fmla="*/ 186 h 300"/>
                <a:gd name="T42" fmla="*/ 185 w 194"/>
                <a:gd name="T43" fmla="*/ 172 h 300"/>
                <a:gd name="T44" fmla="*/ 192 w 194"/>
                <a:gd name="T45" fmla="*/ 159 h 300"/>
                <a:gd name="T46" fmla="*/ 179 w 194"/>
                <a:gd name="T47" fmla="*/ 151 h 300"/>
                <a:gd name="T48" fmla="*/ 120 w 194"/>
                <a:gd name="T49" fmla="*/ 279 h 300"/>
                <a:gd name="T50" fmla="*/ 73 w 194"/>
                <a:gd name="T51" fmla="*/ 279 h 300"/>
                <a:gd name="T52" fmla="*/ 67 w 194"/>
                <a:gd name="T53" fmla="*/ 247 h 300"/>
                <a:gd name="T54" fmla="*/ 126 w 194"/>
                <a:gd name="T55" fmla="*/ 247 h 300"/>
                <a:gd name="T56" fmla="*/ 120 w 194"/>
                <a:gd name="T57" fmla="*/ 279 h 300"/>
                <a:gd name="T58" fmla="*/ 192 w 194"/>
                <a:gd name="T59" fmla="*/ 73 h 300"/>
                <a:gd name="T60" fmla="*/ 185 w 194"/>
                <a:gd name="T61" fmla="*/ 86 h 300"/>
                <a:gd name="T62" fmla="*/ 14 w 194"/>
                <a:gd name="T63" fmla="*/ 129 h 300"/>
                <a:gd name="T64" fmla="*/ 11 w 194"/>
                <a:gd name="T65" fmla="*/ 129 h 300"/>
                <a:gd name="T66" fmla="*/ 1 w 194"/>
                <a:gd name="T67" fmla="*/ 121 h 300"/>
                <a:gd name="T68" fmla="*/ 9 w 194"/>
                <a:gd name="T69" fmla="*/ 108 h 300"/>
                <a:gd name="T70" fmla="*/ 179 w 194"/>
                <a:gd name="T71" fmla="*/ 66 h 300"/>
                <a:gd name="T72" fmla="*/ 192 w 194"/>
                <a:gd name="T73" fmla="*/ 73 h 300"/>
                <a:gd name="T74" fmla="*/ 192 w 194"/>
                <a:gd name="T75" fmla="*/ 116 h 300"/>
                <a:gd name="T76" fmla="*/ 185 w 194"/>
                <a:gd name="T77" fmla="*/ 129 h 300"/>
                <a:gd name="T78" fmla="*/ 14 w 194"/>
                <a:gd name="T79" fmla="*/ 172 h 300"/>
                <a:gd name="T80" fmla="*/ 11 w 194"/>
                <a:gd name="T81" fmla="*/ 172 h 300"/>
                <a:gd name="T82" fmla="*/ 1 w 194"/>
                <a:gd name="T83" fmla="*/ 164 h 300"/>
                <a:gd name="T84" fmla="*/ 9 w 194"/>
                <a:gd name="T85" fmla="*/ 151 h 300"/>
                <a:gd name="T86" fmla="*/ 179 w 194"/>
                <a:gd name="T87" fmla="*/ 108 h 300"/>
                <a:gd name="T88" fmla="*/ 192 w 194"/>
                <a:gd name="T89" fmla="*/ 116 h 300"/>
                <a:gd name="T90" fmla="*/ 1 w 194"/>
                <a:gd name="T91" fmla="*/ 36 h 300"/>
                <a:gd name="T92" fmla="*/ 9 w 194"/>
                <a:gd name="T93" fmla="*/ 23 h 300"/>
                <a:gd name="T94" fmla="*/ 94 w 194"/>
                <a:gd name="T95" fmla="*/ 2 h 300"/>
                <a:gd name="T96" fmla="*/ 107 w 194"/>
                <a:gd name="T97" fmla="*/ 9 h 300"/>
                <a:gd name="T98" fmla="*/ 99 w 194"/>
                <a:gd name="T99" fmla="*/ 22 h 300"/>
                <a:gd name="T100" fmla="*/ 14 w 194"/>
                <a:gd name="T101" fmla="*/ 44 h 300"/>
                <a:gd name="T102" fmla="*/ 11 w 194"/>
                <a:gd name="T103" fmla="*/ 44 h 300"/>
                <a:gd name="T104" fmla="*/ 1 w 194"/>
                <a:gd name="T105" fmla="*/ 36 h 300"/>
                <a:gd name="T106" fmla="*/ 1 w 194"/>
                <a:gd name="T107" fmla="*/ 79 h 300"/>
                <a:gd name="T108" fmla="*/ 9 w 194"/>
                <a:gd name="T109" fmla="*/ 66 h 300"/>
                <a:gd name="T110" fmla="*/ 179 w 194"/>
                <a:gd name="T111" fmla="*/ 23 h 300"/>
                <a:gd name="T112" fmla="*/ 192 w 194"/>
                <a:gd name="T113" fmla="*/ 31 h 300"/>
                <a:gd name="T114" fmla="*/ 185 w 194"/>
                <a:gd name="T115" fmla="*/ 44 h 300"/>
                <a:gd name="T116" fmla="*/ 14 w 194"/>
                <a:gd name="T117" fmla="*/ 86 h 300"/>
                <a:gd name="T118" fmla="*/ 11 w 194"/>
                <a:gd name="T119" fmla="*/ 87 h 300"/>
                <a:gd name="T120" fmla="*/ 1 w 194"/>
                <a:gd name="T121" fmla="*/ 79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4" h="300">
                  <a:moveTo>
                    <a:pt x="179" y="151"/>
                  </a:moveTo>
                  <a:cubicBezTo>
                    <a:pt x="115" y="167"/>
                    <a:pt x="115" y="167"/>
                    <a:pt x="115" y="167"/>
                  </a:cubicBezTo>
                  <a:cubicBezTo>
                    <a:pt x="111" y="168"/>
                    <a:pt x="107" y="172"/>
                    <a:pt x="107" y="177"/>
                  </a:cubicBezTo>
                  <a:cubicBezTo>
                    <a:pt x="107" y="225"/>
                    <a:pt x="107" y="225"/>
                    <a:pt x="107" y="225"/>
                  </a:cubicBezTo>
                  <a:cubicBezTo>
                    <a:pt x="86" y="225"/>
                    <a:pt x="86" y="225"/>
                    <a:pt x="86" y="225"/>
                  </a:cubicBezTo>
                  <a:cubicBezTo>
                    <a:pt x="86" y="193"/>
                    <a:pt x="86" y="193"/>
                    <a:pt x="86" y="193"/>
                  </a:cubicBezTo>
                  <a:cubicBezTo>
                    <a:pt x="86" y="187"/>
                    <a:pt x="81" y="183"/>
                    <a:pt x="75" y="183"/>
                  </a:cubicBezTo>
                  <a:cubicBezTo>
                    <a:pt x="69" y="183"/>
                    <a:pt x="65" y="187"/>
                    <a:pt x="65" y="193"/>
                  </a:cubicBezTo>
                  <a:cubicBezTo>
                    <a:pt x="65" y="225"/>
                    <a:pt x="65" y="225"/>
                    <a:pt x="65" y="225"/>
                  </a:cubicBezTo>
                  <a:cubicBezTo>
                    <a:pt x="54" y="225"/>
                    <a:pt x="54" y="225"/>
                    <a:pt x="54" y="225"/>
                  </a:cubicBezTo>
                  <a:cubicBezTo>
                    <a:pt x="51" y="225"/>
                    <a:pt x="48" y="227"/>
                    <a:pt x="46" y="229"/>
                  </a:cubicBezTo>
                  <a:cubicBezTo>
                    <a:pt x="44" y="232"/>
                    <a:pt x="43" y="235"/>
                    <a:pt x="44" y="238"/>
                  </a:cubicBezTo>
                  <a:cubicBezTo>
                    <a:pt x="54" y="291"/>
                    <a:pt x="54" y="291"/>
                    <a:pt x="54" y="291"/>
                  </a:cubicBezTo>
                  <a:cubicBezTo>
                    <a:pt x="55" y="296"/>
                    <a:pt x="60" y="300"/>
                    <a:pt x="65" y="300"/>
                  </a:cubicBezTo>
                  <a:cubicBezTo>
                    <a:pt x="129" y="300"/>
                    <a:pt x="129" y="300"/>
                    <a:pt x="129" y="300"/>
                  </a:cubicBezTo>
                  <a:cubicBezTo>
                    <a:pt x="134" y="300"/>
                    <a:pt x="138" y="296"/>
                    <a:pt x="139" y="291"/>
                  </a:cubicBezTo>
                  <a:cubicBezTo>
                    <a:pt x="150" y="238"/>
                    <a:pt x="150" y="238"/>
                    <a:pt x="150" y="238"/>
                  </a:cubicBezTo>
                  <a:cubicBezTo>
                    <a:pt x="150" y="235"/>
                    <a:pt x="150" y="232"/>
                    <a:pt x="148" y="229"/>
                  </a:cubicBezTo>
                  <a:cubicBezTo>
                    <a:pt x="146" y="227"/>
                    <a:pt x="143" y="225"/>
                    <a:pt x="139" y="225"/>
                  </a:cubicBezTo>
                  <a:cubicBezTo>
                    <a:pt x="129" y="225"/>
                    <a:pt x="129" y="225"/>
                    <a:pt x="129" y="225"/>
                  </a:cubicBezTo>
                  <a:cubicBezTo>
                    <a:pt x="129" y="186"/>
                    <a:pt x="129" y="186"/>
                    <a:pt x="129" y="186"/>
                  </a:cubicBezTo>
                  <a:cubicBezTo>
                    <a:pt x="185" y="172"/>
                    <a:pt x="185" y="172"/>
                    <a:pt x="185" y="172"/>
                  </a:cubicBezTo>
                  <a:cubicBezTo>
                    <a:pt x="190" y="170"/>
                    <a:pt x="194" y="164"/>
                    <a:pt x="192" y="159"/>
                  </a:cubicBezTo>
                  <a:cubicBezTo>
                    <a:pt x="191" y="153"/>
                    <a:pt x="185" y="150"/>
                    <a:pt x="179" y="151"/>
                  </a:cubicBezTo>
                  <a:close/>
                  <a:moveTo>
                    <a:pt x="120" y="279"/>
                  </a:moveTo>
                  <a:cubicBezTo>
                    <a:pt x="73" y="279"/>
                    <a:pt x="73" y="279"/>
                    <a:pt x="73" y="279"/>
                  </a:cubicBezTo>
                  <a:cubicBezTo>
                    <a:pt x="67" y="247"/>
                    <a:pt x="67" y="247"/>
                    <a:pt x="67" y="247"/>
                  </a:cubicBezTo>
                  <a:cubicBezTo>
                    <a:pt x="126" y="247"/>
                    <a:pt x="126" y="247"/>
                    <a:pt x="126" y="247"/>
                  </a:cubicBezTo>
                  <a:lnTo>
                    <a:pt x="120" y="279"/>
                  </a:lnTo>
                  <a:close/>
                  <a:moveTo>
                    <a:pt x="192" y="73"/>
                  </a:moveTo>
                  <a:cubicBezTo>
                    <a:pt x="194" y="79"/>
                    <a:pt x="190" y="85"/>
                    <a:pt x="185" y="86"/>
                  </a:cubicBezTo>
                  <a:cubicBezTo>
                    <a:pt x="14" y="129"/>
                    <a:pt x="14" y="129"/>
                    <a:pt x="14" y="129"/>
                  </a:cubicBezTo>
                  <a:cubicBezTo>
                    <a:pt x="13" y="129"/>
                    <a:pt x="12" y="129"/>
                    <a:pt x="11" y="129"/>
                  </a:cubicBezTo>
                  <a:cubicBezTo>
                    <a:pt x="7" y="129"/>
                    <a:pt x="2" y="126"/>
                    <a:pt x="1" y="121"/>
                  </a:cubicBezTo>
                  <a:cubicBezTo>
                    <a:pt x="0" y="116"/>
                    <a:pt x="3" y="110"/>
                    <a:pt x="9" y="108"/>
                  </a:cubicBezTo>
                  <a:cubicBezTo>
                    <a:pt x="179" y="66"/>
                    <a:pt x="179" y="66"/>
                    <a:pt x="179" y="66"/>
                  </a:cubicBezTo>
                  <a:cubicBezTo>
                    <a:pt x="185" y="64"/>
                    <a:pt x="191" y="68"/>
                    <a:pt x="192" y="73"/>
                  </a:cubicBezTo>
                  <a:close/>
                  <a:moveTo>
                    <a:pt x="192" y="116"/>
                  </a:moveTo>
                  <a:cubicBezTo>
                    <a:pt x="194" y="122"/>
                    <a:pt x="190" y="128"/>
                    <a:pt x="185" y="129"/>
                  </a:cubicBezTo>
                  <a:cubicBezTo>
                    <a:pt x="14" y="172"/>
                    <a:pt x="14" y="172"/>
                    <a:pt x="14" y="172"/>
                  </a:cubicBezTo>
                  <a:cubicBezTo>
                    <a:pt x="13" y="172"/>
                    <a:pt x="12" y="172"/>
                    <a:pt x="11" y="172"/>
                  </a:cubicBezTo>
                  <a:cubicBezTo>
                    <a:pt x="7" y="172"/>
                    <a:pt x="2" y="169"/>
                    <a:pt x="1" y="164"/>
                  </a:cubicBezTo>
                  <a:cubicBezTo>
                    <a:pt x="0" y="158"/>
                    <a:pt x="3" y="152"/>
                    <a:pt x="9" y="151"/>
                  </a:cubicBezTo>
                  <a:cubicBezTo>
                    <a:pt x="179" y="108"/>
                    <a:pt x="179" y="108"/>
                    <a:pt x="179" y="108"/>
                  </a:cubicBezTo>
                  <a:cubicBezTo>
                    <a:pt x="185" y="107"/>
                    <a:pt x="191" y="110"/>
                    <a:pt x="192" y="116"/>
                  </a:cubicBezTo>
                  <a:close/>
                  <a:moveTo>
                    <a:pt x="1" y="36"/>
                  </a:moveTo>
                  <a:cubicBezTo>
                    <a:pt x="0" y="30"/>
                    <a:pt x="3" y="24"/>
                    <a:pt x="9" y="23"/>
                  </a:cubicBezTo>
                  <a:cubicBezTo>
                    <a:pt x="94" y="2"/>
                    <a:pt x="94" y="2"/>
                    <a:pt x="94" y="2"/>
                  </a:cubicBezTo>
                  <a:cubicBezTo>
                    <a:pt x="100" y="0"/>
                    <a:pt x="106" y="4"/>
                    <a:pt x="107" y="9"/>
                  </a:cubicBezTo>
                  <a:cubicBezTo>
                    <a:pt x="108" y="15"/>
                    <a:pt x="105" y="21"/>
                    <a:pt x="99" y="22"/>
                  </a:cubicBezTo>
                  <a:cubicBezTo>
                    <a:pt x="14" y="44"/>
                    <a:pt x="14" y="44"/>
                    <a:pt x="14" y="44"/>
                  </a:cubicBezTo>
                  <a:cubicBezTo>
                    <a:pt x="13" y="44"/>
                    <a:pt x="12" y="44"/>
                    <a:pt x="11" y="44"/>
                  </a:cubicBezTo>
                  <a:cubicBezTo>
                    <a:pt x="7" y="44"/>
                    <a:pt x="2" y="41"/>
                    <a:pt x="1" y="36"/>
                  </a:cubicBezTo>
                  <a:close/>
                  <a:moveTo>
                    <a:pt x="1" y="79"/>
                  </a:moveTo>
                  <a:cubicBezTo>
                    <a:pt x="0" y="73"/>
                    <a:pt x="3" y="67"/>
                    <a:pt x="9" y="66"/>
                  </a:cubicBezTo>
                  <a:cubicBezTo>
                    <a:pt x="179" y="23"/>
                    <a:pt x="179" y="23"/>
                    <a:pt x="179" y="23"/>
                  </a:cubicBezTo>
                  <a:cubicBezTo>
                    <a:pt x="185" y="22"/>
                    <a:pt x="191" y="25"/>
                    <a:pt x="192" y="31"/>
                  </a:cubicBezTo>
                  <a:cubicBezTo>
                    <a:pt x="194" y="36"/>
                    <a:pt x="190" y="42"/>
                    <a:pt x="185" y="44"/>
                  </a:cubicBezTo>
                  <a:cubicBezTo>
                    <a:pt x="14" y="86"/>
                    <a:pt x="14" y="86"/>
                    <a:pt x="14" y="86"/>
                  </a:cubicBezTo>
                  <a:cubicBezTo>
                    <a:pt x="13" y="87"/>
                    <a:pt x="12" y="87"/>
                    <a:pt x="11" y="87"/>
                  </a:cubicBezTo>
                  <a:cubicBezTo>
                    <a:pt x="7" y="87"/>
                    <a:pt x="2" y="83"/>
                    <a:pt x="1" y="7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119" name="Group 638">
            <a:extLst>
              <a:ext uri="{FF2B5EF4-FFF2-40B4-BE49-F238E27FC236}">
                <a16:creationId xmlns:a16="http://schemas.microsoft.com/office/drawing/2014/main" id="{75CAAB64-0309-4092-B9C1-1A4E21432B16}"/>
              </a:ext>
            </a:extLst>
          </p:cNvPr>
          <p:cNvGrpSpPr>
            <a:grpSpLocks noChangeAspect="1"/>
          </p:cNvGrpSpPr>
          <p:nvPr/>
        </p:nvGrpSpPr>
        <p:grpSpPr bwMode="auto">
          <a:xfrm>
            <a:off x="7064198" y="1888967"/>
            <a:ext cx="679659" cy="679659"/>
            <a:chOff x="4300" y="2260"/>
            <a:chExt cx="340" cy="340"/>
          </a:xfrm>
          <a:solidFill>
            <a:schemeClr val="accent3"/>
          </a:solidFill>
        </p:grpSpPr>
        <p:sp>
          <p:nvSpPr>
            <p:cNvPr id="120" name="Freeform 639">
              <a:extLst>
                <a:ext uri="{FF2B5EF4-FFF2-40B4-BE49-F238E27FC236}">
                  <a16:creationId xmlns:a16="http://schemas.microsoft.com/office/drawing/2014/main" id="{F1DC1EBD-BC98-498C-BFE0-7991ADFECA5C}"/>
                </a:ext>
              </a:extLst>
            </p:cNvPr>
            <p:cNvSpPr>
              <a:spLocks/>
            </p:cNvSpPr>
            <p:nvPr/>
          </p:nvSpPr>
          <p:spPr bwMode="auto">
            <a:xfrm>
              <a:off x="4463" y="2437"/>
              <a:ext cx="14" cy="99"/>
            </a:xfrm>
            <a:custGeom>
              <a:avLst/>
              <a:gdLst>
                <a:gd name="T0" fmla="*/ 11 w 21"/>
                <a:gd name="T1" fmla="*/ 0 h 150"/>
                <a:gd name="T2" fmla="*/ 0 w 21"/>
                <a:gd name="T3" fmla="*/ 11 h 150"/>
                <a:gd name="T4" fmla="*/ 0 w 21"/>
                <a:gd name="T5" fmla="*/ 139 h 150"/>
                <a:gd name="T6" fmla="*/ 11 w 21"/>
                <a:gd name="T7" fmla="*/ 150 h 150"/>
                <a:gd name="T8" fmla="*/ 21 w 21"/>
                <a:gd name="T9" fmla="*/ 139 h 150"/>
                <a:gd name="T10" fmla="*/ 21 w 21"/>
                <a:gd name="T11" fmla="*/ 11 h 150"/>
                <a:gd name="T12" fmla="*/ 11 w 21"/>
                <a:gd name="T13" fmla="*/ 0 h 150"/>
              </a:gdLst>
              <a:ahLst/>
              <a:cxnLst>
                <a:cxn ang="0">
                  <a:pos x="T0" y="T1"/>
                </a:cxn>
                <a:cxn ang="0">
                  <a:pos x="T2" y="T3"/>
                </a:cxn>
                <a:cxn ang="0">
                  <a:pos x="T4" y="T5"/>
                </a:cxn>
                <a:cxn ang="0">
                  <a:pos x="T6" y="T7"/>
                </a:cxn>
                <a:cxn ang="0">
                  <a:pos x="T8" y="T9"/>
                </a:cxn>
                <a:cxn ang="0">
                  <a:pos x="T10" y="T11"/>
                </a:cxn>
                <a:cxn ang="0">
                  <a:pos x="T12" y="T13"/>
                </a:cxn>
              </a:cxnLst>
              <a:rect l="0" t="0" r="r" b="b"/>
              <a:pathLst>
                <a:path w="21" h="150">
                  <a:moveTo>
                    <a:pt x="11" y="0"/>
                  </a:moveTo>
                  <a:cubicBezTo>
                    <a:pt x="5" y="0"/>
                    <a:pt x="0" y="5"/>
                    <a:pt x="0" y="11"/>
                  </a:cubicBezTo>
                  <a:cubicBezTo>
                    <a:pt x="0" y="139"/>
                    <a:pt x="0" y="139"/>
                    <a:pt x="0" y="139"/>
                  </a:cubicBezTo>
                  <a:cubicBezTo>
                    <a:pt x="0" y="145"/>
                    <a:pt x="5" y="150"/>
                    <a:pt x="11" y="150"/>
                  </a:cubicBezTo>
                  <a:cubicBezTo>
                    <a:pt x="17" y="150"/>
                    <a:pt x="21" y="145"/>
                    <a:pt x="21" y="139"/>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1" name="Freeform 640">
              <a:extLst>
                <a:ext uri="{FF2B5EF4-FFF2-40B4-BE49-F238E27FC236}">
                  <a16:creationId xmlns:a16="http://schemas.microsoft.com/office/drawing/2014/main" id="{4E001094-D7BF-4BFB-8CA3-7CE09365D873}"/>
                </a:ext>
              </a:extLst>
            </p:cNvPr>
            <p:cNvSpPr>
              <a:spLocks noEditPoints="1"/>
            </p:cNvSpPr>
            <p:nvPr/>
          </p:nvSpPr>
          <p:spPr bwMode="auto">
            <a:xfrm>
              <a:off x="4405" y="2330"/>
              <a:ext cx="132" cy="107"/>
            </a:xfrm>
            <a:custGeom>
              <a:avLst/>
              <a:gdLst>
                <a:gd name="T0" fmla="*/ 192 w 199"/>
                <a:gd name="T1" fmla="*/ 140 h 160"/>
                <a:gd name="T2" fmla="*/ 129 w 199"/>
                <a:gd name="T3" fmla="*/ 105 h 160"/>
                <a:gd name="T4" fmla="*/ 108 w 199"/>
                <a:gd name="T5" fmla="*/ 77 h 160"/>
                <a:gd name="T6" fmla="*/ 108 w 199"/>
                <a:gd name="T7" fmla="*/ 11 h 160"/>
                <a:gd name="T8" fmla="*/ 98 w 199"/>
                <a:gd name="T9" fmla="*/ 0 h 160"/>
                <a:gd name="T10" fmla="*/ 87 w 199"/>
                <a:gd name="T11" fmla="*/ 11 h 160"/>
                <a:gd name="T12" fmla="*/ 87 w 199"/>
                <a:gd name="T13" fmla="*/ 77 h 160"/>
                <a:gd name="T14" fmla="*/ 66 w 199"/>
                <a:gd name="T15" fmla="*/ 107 h 160"/>
                <a:gd name="T16" fmla="*/ 7 w 199"/>
                <a:gd name="T17" fmla="*/ 140 h 160"/>
                <a:gd name="T18" fmla="*/ 3 w 199"/>
                <a:gd name="T19" fmla="*/ 155 h 160"/>
                <a:gd name="T20" fmla="*/ 12 w 199"/>
                <a:gd name="T21" fmla="*/ 160 h 160"/>
                <a:gd name="T22" fmla="*/ 18 w 199"/>
                <a:gd name="T23" fmla="*/ 159 h 160"/>
                <a:gd name="T24" fmla="*/ 73 w 199"/>
                <a:gd name="T25" fmla="*/ 127 h 160"/>
                <a:gd name="T26" fmla="*/ 98 w 199"/>
                <a:gd name="T27" fmla="*/ 139 h 160"/>
                <a:gd name="T28" fmla="*/ 123 w 199"/>
                <a:gd name="T29" fmla="*/ 126 h 160"/>
                <a:gd name="T30" fmla="*/ 181 w 199"/>
                <a:gd name="T31" fmla="*/ 159 h 160"/>
                <a:gd name="T32" fmla="*/ 187 w 199"/>
                <a:gd name="T33" fmla="*/ 160 h 160"/>
                <a:gd name="T34" fmla="*/ 196 w 199"/>
                <a:gd name="T35" fmla="*/ 155 h 160"/>
                <a:gd name="T36" fmla="*/ 192 w 199"/>
                <a:gd name="T37" fmla="*/ 140 h 160"/>
                <a:gd name="T38" fmla="*/ 98 w 199"/>
                <a:gd name="T39" fmla="*/ 118 h 160"/>
                <a:gd name="T40" fmla="*/ 87 w 199"/>
                <a:gd name="T41" fmla="*/ 107 h 160"/>
                <a:gd name="T42" fmla="*/ 98 w 199"/>
                <a:gd name="T43" fmla="*/ 96 h 160"/>
                <a:gd name="T44" fmla="*/ 108 w 199"/>
                <a:gd name="T45" fmla="*/ 107 h 160"/>
                <a:gd name="T46" fmla="*/ 98 w 199"/>
                <a:gd name="T47"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9" h="160">
                  <a:moveTo>
                    <a:pt x="192" y="140"/>
                  </a:moveTo>
                  <a:cubicBezTo>
                    <a:pt x="129" y="105"/>
                    <a:pt x="129" y="105"/>
                    <a:pt x="129" y="105"/>
                  </a:cubicBezTo>
                  <a:cubicBezTo>
                    <a:pt x="129" y="92"/>
                    <a:pt x="120" y="81"/>
                    <a:pt x="108" y="77"/>
                  </a:cubicBezTo>
                  <a:cubicBezTo>
                    <a:pt x="108" y="11"/>
                    <a:pt x="108" y="11"/>
                    <a:pt x="108" y="11"/>
                  </a:cubicBezTo>
                  <a:cubicBezTo>
                    <a:pt x="108" y="5"/>
                    <a:pt x="104" y="0"/>
                    <a:pt x="98" y="0"/>
                  </a:cubicBezTo>
                  <a:cubicBezTo>
                    <a:pt x="92" y="0"/>
                    <a:pt x="87" y="5"/>
                    <a:pt x="87" y="11"/>
                  </a:cubicBezTo>
                  <a:cubicBezTo>
                    <a:pt x="87" y="77"/>
                    <a:pt x="87" y="77"/>
                    <a:pt x="87" y="77"/>
                  </a:cubicBezTo>
                  <a:cubicBezTo>
                    <a:pt x="75" y="81"/>
                    <a:pt x="66" y="93"/>
                    <a:pt x="66" y="107"/>
                  </a:cubicBezTo>
                  <a:cubicBezTo>
                    <a:pt x="7" y="140"/>
                    <a:pt x="7" y="140"/>
                    <a:pt x="7" y="140"/>
                  </a:cubicBezTo>
                  <a:cubicBezTo>
                    <a:pt x="2" y="143"/>
                    <a:pt x="0" y="150"/>
                    <a:pt x="3" y="155"/>
                  </a:cubicBezTo>
                  <a:cubicBezTo>
                    <a:pt x="5" y="158"/>
                    <a:pt x="9" y="160"/>
                    <a:pt x="12" y="160"/>
                  </a:cubicBezTo>
                  <a:cubicBezTo>
                    <a:pt x="14" y="160"/>
                    <a:pt x="16" y="160"/>
                    <a:pt x="18" y="159"/>
                  </a:cubicBezTo>
                  <a:cubicBezTo>
                    <a:pt x="73" y="127"/>
                    <a:pt x="73" y="127"/>
                    <a:pt x="73" y="127"/>
                  </a:cubicBezTo>
                  <a:cubicBezTo>
                    <a:pt x="79" y="134"/>
                    <a:pt x="88" y="139"/>
                    <a:pt x="98" y="139"/>
                  </a:cubicBezTo>
                  <a:cubicBezTo>
                    <a:pt x="108" y="139"/>
                    <a:pt x="117" y="134"/>
                    <a:pt x="123" y="126"/>
                  </a:cubicBezTo>
                  <a:cubicBezTo>
                    <a:pt x="181" y="159"/>
                    <a:pt x="181" y="159"/>
                    <a:pt x="181" y="159"/>
                  </a:cubicBezTo>
                  <a:cubicBezTo>
                    <a:pt x="183" y="160"/>
                    <a:pt x="185" y="160"/>
                    <a:pt x="187" y="160"/>
                  </a:cubicBezTo>
                  <a:cubicBezTo>
                    <a:pt x="190" y="160"/>
                    <a:pt x="194" y="158"/>
                    <a:pt x="196" y="155"/>
                  </a:cubicBezTo>
                  <a:cubicBezTo>
                    <a:pt x="199" y="150"/>
                    <a:pt x="197" y="143"/>
                    <a:pt x="192" y="140"/>
                  </a:cubicBezTo>
                  <a:close/>
                  <a:moveTo>
                    <a:pt x="98" y="118"/>
                  </a:moveTo>
                  <a:cubicBezTo>
                    <a:pt x="92" y="118"/>
                    <a:pt x="87" y="113"/>
                    <a:pt x="87" y="107"/>
                  </a:cubicBezTo>
                  <a:cubicBezTo>
                    <a:pt x="87" y="101"/>
                    <a:pt x="92" y="96"/>
                    <a:pt x="98" y="96"/>
                  </a:cubicBezTo>
                  <a:cubicBezTo>
                    <a:pt x="104" y="96"/>
                    <a:pt x="108" y="101"/>
                    <a:pt x="108" y="107"/>
                  </a:cubicBezTo>
                  <a:cubicBezTo>
                    <a:pt x="108" y="113"/>
                    <a:pt x="104" y="118"/>
                    <a:pt x="98" y="11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2" name="Freeform 641">
              <a:extLst>
                <a:ext uri="{FF2B5EF4-FFF2-40B4-BE49-F238E27FC236}">
                  <a16:creationId xmlns:a16="http://schemas.microsoft.com/office/drawing/2014/main" id="{D2926D6D-0F7D-4158-959D-ECAD9C851751}"/>
                </a:ext>
              </a:extLst>
            </p:cNvPr>
            <p:cNvSpPr>
              <a:spLocks noEditPoints="1"/>
            </p:cNvSpPr>
            <p:nvPr/>
          </p:nvSpPr>
          <p:spPr bwMode="auto">
            <a:xfrm>
              <a:off x="4300" y="226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110" name="Pentagon 109">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20589888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Energy Department at a Pivotal Role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Diagram 1"/>
          <p:cNvGraphicFramePr/>
          <p:nvPr>
            <p:extLst>
              <p:ext uri="{D42A27DB-BD31-4B8C-83A1-F6EECF244321}">
                <p14:modId xmlns:p14="http://schemas.microsoft.com/office/powerpoint/2010/main" val="2689362774"/>
              </p:ext>
            </p:extLst>
          </p:nvPr>
        </p:nvGraphicFramePr>
        <p:xfrm>
          <a:off x="407520" y="1018340"/>
          <a:ext cx="10935857" cy="41265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ounded Rectangle 2"/>
          <p:cNvSpPr/>
          <p:nvPr/>
        </p:nvSpPr>
        <p:spPr bwMode="gray">
          <a:xfrm>
            <a:off x="407520" y="5255220"/>
            <a:ext cx="10935856" cy="1089891"/>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300" b="1" u="sng" dirty="0" smtClean="0"/>
              <a:t>Policies requiring refresher/ Drafting Support:</a:t>
            </a:r>
          </a:p>
          <a:p>
            <a:pPr marL="285750" indent="-285750">
              <a:lnSpc>
                <a:spcPct val="106000"/>
              </a:lnSpc>
              <a:buFont typeface="Wingdings" panose="05000000000000000000" pitchFamily="2" charset="2"/>
              <a:buChar char="§"/>
            </a:pPr>
            <a:r>
              <a:rPr lang="en-US" sz="1300" b="1" dirty="0" smtClean="0"/>
              <a:t>Jharkhand Power Policy (Draft)</a:t>
            </a:r>
            <a:r>
              <a:rPr lang="en-US" sz="1300" dirty="0" smtClean="0"/>
              <a:t> prepared in mid-2018 and needs to be re-looked before notification</a:t>
            </a:r>
            <a:endParaRPr lang="en-IN" sz="1300" dirty="0"/>
          </a:p>
          <a:p>
            <a:pPr marL="285750" indent="-285750">
              <a:lnSpc>
                <a:spcPct val="106000"/>
              </a:lnSpc>
              <a:buFont typeface="Wingdings" panose="05000000000000000000" pitchFamily="2" charset="2"/>
              <a:buChar char="§"/>
            </a:pPr>
            <a:r>
              <a:rPr lang="en-US" sz="1300" b="1" dirty="0" smtClean="0"/>
              <a:t>State Vision Document </a:t>
            </a:r>
            <a:r>
              <a:rPr lang="en-US" sz="1300" dirty="0" smtClean="0"/>
              <a:t>prepared in 2018 had action plans charted-out till 2021, which needs to be looked into</a:t>
            </a:r>
          </a:p>
          <a:p>
            <a:pPr marL="285750" indent="-285750">
              <a:lnSpc>
                <a:spcPct val="106000"/>
              </a:lnSpc>
              <a:buFont typeface="Wingdings" panose="05000000000000000000" pitchFamily="2" charset="2"/>
              <a:buChar char="§"/>
            </a:pPr>
            <a:r>
              <a:rPr lang="en-US" sz="1300" dirty="0" smtClean="0"/>
              <a:t>JBVNL approved </a:t>
            </a:r>
            <a:r>
              <a:rPr lang="en-US" sz="1300" b="1" dirty="0" smtClean="0"/>
              <a:t>operating parameters w.r.t. COVID 19</a:t>
            </a:r>
            <a:r>
              <a:rPr lang="en-US" sz="1300" dirty="0" smtClean="0"/>
              <a:t>, the same can be taken-up for other entities</a:t>
            </a:r>
          </a:p>
        </p:txBody>
      </p:sp>
      <p:sp>
        <p:nvSpPr>
          <p:cNvPr id="4" name="Rounded Rectangle 3"/>
          <p:cNvSpPr/>
          <p:nvPr/>
        </p:nvSpPr>
        <p:spPr bwMode="gray">
          <a:xfrm>
            <a:off x="443347" y="656211"/>
            <a:ext cx="4886037" cy="276391"/>
          </a:xfrm>
          <a:prstGeom prst="round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400" b="1" dirty="0" smtClean="0">
                <a:solidFill>
                  <a:schemeClr val="bg1"/>
                </a:solidFill>
              </a:rPr>
              <a:t>References as per Planning Papers</a:t>
            </a:r>
            <a:endParaRPr lang="en-IN" sz="1400" b="1" dirty="0" smtClean="0">
              <a:solidFill>
                <a:schemeClr val="bg1"/>
              </a:solidFill>
            </a:endParaRPr>
          </a:p>
        </p:txBody>
      </p:sp>
      <p:sp>
        <p:nvSpPr>
          <p:cNvPr id="7" name="Pentagon 6">
            <a:hlinkClick r:id="rId7"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34462819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Sector-focused Policy Landscape (1/2)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1342080639"/>
              </p:ext>
            </p:extLst>
          </p:nvPr>
        </p:nvGraphicFramePr>
        <p:xfrm>
          <a:off x="407520" y="684551"/>
          <a:ext cx="10935856" cy="4445524"/>
        </p:xfrm>
        <a:graphic>
          <a:graphicData uri="http://schemas.openxmlformats.org/drawingml/2006/table">
            <a:tbl>
              <a:tblPr firstRow="1" bandRow="1">
                <a:tableStyleId>{0E3FDE45-AF77-4B5C-9715-49D594BDF05E}</a:tableStyleId>
              </a:tblPr>
              <a:tblGrid>
                <a:gridCol w="663898">
                  <a:extLst>
                    <a:ext uri="{9D8B030D-6E8A-4147-A177-3AD203B41FA5}">
                      <a16:colId xmlns:a16="http://schemas.microsoft.com/office/drawing/2014/main" val="1402205776"/>
                    </a:ext>
                  </a:extLst>
                </a:gridCol>
                <a:gridCol w="5560291">
                  <a:extLst>
                    <a:ext uri="{9D8B030D-6E8A-4147-A177-3AD203B41FA5}">
                      <a16:colId xmlns:a16="http://schemas.microsoft.com/office/drawing/2014/main" val="2150538347"/>
                    </a:ext>
                  </a:extLst>
                </a:gridCol>
                <a:gridCol w="2421915">
                  <a:extLst>
                    <a:ext uri="{9D8B030D-6E8A-4147-A177-3AD203B41FA5}">
                      <a16:colId xmlns:a16="http://schemas.microsoft.com/office/drawing/2014/main" val="3804260002"/>
                    </a:ext>
                  </a:extLst>
                </a:gridCol>
                <a:gridCol w="2289752">
                  <a:extLst>
                    <a:ext uri="{9D8B030D-6E8A-4147-A177-3AD203B41FA5}">
                      <a16:colId xmlns:a16="http://schemas.microsoft.com/office/drawing/2014/main" val="3827046400"/>
                    </a:ext>
                  </a:extLst>
                </a:gridCol>
              </a:tblGrid>
              <a:tr h="242692">
                <a:tc>
                  <a:txBody>
                    <a:bodyPr/>
                    <a:lstStyle/>
                    <a:p>
                      <a:pPr algn="ctr" fontAlgn="b"/>
                      <a:r>
                        <a:rPr lang="en-IN" sz="1300" u="none" strike="noStrike" dirty="0">
                          <a:effectLst/>
                        </a:rPr>
                        <a:t>Sr. No.</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Activity </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smtClean="0">
                          <a:effectLst/>
                        </a:rPr>
                        <a:t>Primary Promoter(s)</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Executing Agency</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813559294"/>
                  </a:ext>
                </a:extLst>
              </a:tr>
              <a:tr h="485381">
                <a:tc>
                  <a:txBody>
                    <a:bodyPr/>
                    <a:lstStyle/>
                    <a:p>
                      <a:pPr algn="ctr" fontAlgn="b"/>
                      <a:r>
                        <a:rPr lang="en-IN" sz="1300" u="none" strike="noStrike">
                          <a:effectLst/>
                        </a:rPr>
                        <a:t>1</a:t>
                      </a:r>
                      <a:endParaRPr lang="en-IN" sz="1300" b="0" i="0" u="none" strike="noStrike">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300" u="none" strike="noStrike">
                          <a:effectLst/>
                        </a:rPr>
                        <a:t>State Vision Document (Energy Sector)</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Energy Department </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PwC (Energy Dept. PMU) </a:t>
                      </a:r>
                      <a:br>
                        <a:rPr lang="en-IN" sz="1300" u="none" strike="noStrike" dirty="0">
                          <a:effectLst/>
                        </a:rPr>
                      </a:br>
                      <a:r>
                        <a:rPr lang="en-IN" sz="1300" u="none" strike="noStrike" dirty="0">
                          <a:effectLst/>
                        </a:rPr>
                        <a:t>Deloitte (JBVNL PMU)</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66944618"/>
                  </a:ext>
                </a:extLst>
              </a:tr>
              <a:tr h="242692">
                <a:tc>
                  <a:txBody>
                    <a:bodyPr/>
                    <a:lstStyle/>
                    <a:p>
                      <a:pPr algn="ctr" fontAlgn="b"/>
                      <a:r>
                        <a:rPr lang="en-IN" sz="1300" u="none" strike="noStrike">
                          <a:effectLst/>
                        </a:rPr>
                        <a:t>2</a:t>
                      </a:r>
                      <a:endParaRPr lang="en-IN" sz="1300" b="0" i="0" u="none" strike="noStrike">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300" u="none" strike="noStrike">
                          <a:effectLst/>
                        </a:rPr>
                        <a:t>Jharkhand Power Policy</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Energy Department </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PwC (Energy Dept. PMU)  </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235413962"/>
                  </a:ext>
                </a:extLst>
              </a:tr>
              <a:tr h="485381">
                <a:tc>
                  <a:txBody>
                    <a:bodyPr/>
                    <a:lstStyle/>
                    <a:p>
                      <a:pPr algn="ctr" fontAlgn="b"/>
                      <a:r>
                        <a:rPr lang="en-IN" sz="1300" u="none" strike="noStrike">
                          <a:effectLst/>
                        </a:rPr>
                        <a:t>3</a:t>
                      </a:r>
                      <a:endParaRPr lang="en-IN" sz="1300" b="0" i="0" u="none" strike="noStrike">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300" u="none" strike="noStrike" dirty="0">
                          <a:effectLst/>
                        </a:rPr>
                        <a:t>PPP in Distribution Business</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Energy Department </a:t>
                      </a:r>
                      <a:br>
                        <a:rPr lang="en-IN" sz="1300" u="none" strike="noStrike">
                          <a:effectLst/>
                        </a:rPr>
                      </a:br>
                      <a:r>
                        <a:rPr lang="en-IN" sz="1300" u="none" strike="noStrike">
                          <a:effectLst/>
                        </a:rPr>
                        <a:t>World Bank</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err="1">
                          <a:effectLst/>
                        </a:rPr>
                        <a:t>RfP</a:t>
                      </a:r>
                      <a:r>
                        <a:rPr lang="en-IN" sz="1300" u="none" strike="noStrike" dirty="0">
                          <a:effectLst/>
                        </a:rPr>
                        <a:t> to be framed</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647952911"/>
                  </a:ext>
                </a:extLst>
              </a:tr>
              <a:tr h="485381">
                <a:tc>
                  <a:txBody>
                    <a:bodyPr/>
                    <a:lstStyle/>
                    <a:p>
                      <a:pPr algn="ctr" fontAlgn="b"/>
                      <a:r>
                        <a:rPr lang="en-IN" sz="1300" u="none" strike="noStrike" dirty="0">
                          <a:effectLst/>
                        </a:rPr>
                        <a:t>4</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300" u="none" strike="noStrike" dirty="0">
                          <a:effectLst/>
                        </a:rPr>
                        <a:t>Transmission Network Improvement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JUSNL </a:t>
                      </a:r>
                      <a:br>
                        <a:rPr lang="en-IN" sz="1300" u="none" strike="noStrike">
                          <a:effectLst/>
                        </a:rPr>
                      </a:br>
                      <a:r>
                        <a:rPr lang="en-IN" sz="1300" u="none" strike="noStrike">
                          <a:effectLst/>
                        </a:rPr>
                        <a:t>World Bank</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Work awarded in packages</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54129788"/>
                  </a:ext>
                </a:extLst>
              </a:tr>
              <a:tr h="396339">
                <a:tc>
                  <a:txBody>
                    <a:bodyPr/>
                    <a:lstStyle/>
                    <a:p>
                      <a:pPr algn="ctr" fontAlgn="b"/>
                      <a:r>
                        <a:rPr lang="en-IN" sz="1300" u="none" strike="noStrike" dirty="0">
                          <a:effectLst/>
                        </a:rPr>
                        <a:t>5</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Consultancy Support : </a:t>
                      </a:r>
                      <a:endParaRPr lang="en-US" sz="1300" u="none" strike="noStrike" dirty="0" smtClean="0">
                        <a:effectLst/>
                      </a:endParaRPr>
                    </a:p>
                    <a:p>
                      <a:pPr algn="l" fontAlgn="b"/>
                      <a:r>
                        <a:rPr lang="en-US" sz="1300" u="none" strike="noStrike" dirty="0" smtClean="0">
                          <a:effectLst/>
                        </a:rPr>
                        <a:t>Establishing </a:t>
                      </a:r>
                      <a:r>
                        <a:rPr lang="en-US" sz="1300" u="none" strike="noStrike" dirty="0">
                          <a:effectLst/>
                        </a:rPr>
                        <a:t>State-of-the-art Load Dispatch Centre</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JUSNL  </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 -  </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4157349922"/>
                  </a:ext>
                </a:extLst>
              </a:tr>
              <a:tr h="485381">
                <a:tc>
                  <a:txBody>
                    <a:bodyPr/>
                    <a:lstStyle/>
                    <a:p>
                      <a:pPr algn="ctr" fontAlgn="b"/>
                      <a:r>
                        <a:rPr lang="en-IN" sz="1300" u="none" strike="noStrike" dirty="0">
                          <a:effectLst/>
                        </a:rPr>
                        <a:t>6</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Preparation of Financial Management Manual </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JBVNL </a:t>
                      </a:r>
                      <a:br>
                        <a:rPr lang="en-IN" sz="1300" u="none" strike="noStrike">
                          <a:effectLst/>
                        </a:rPr>
                      </a:br>
                      <a:r>
                        <a:rPr lang="en-IN" sz="1300" u="none" strike="noStrike">
                          <a:effectLst/>
                        </a:rPr>
                        <a:t>World Bank</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Deloitte</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175451330"/>
                  </a:ext>
                </a:extLst>
              </a:tr>
              <a:tr h="387238">
                <a:tc>
                  <a:txBody>
                    <a:bodyPr/>
                    <a:lstStyle/>
                    <a:p>
                      <a:pPr algn="ctr" fontAlgn="b"/>
                      <a:r>
                        <a:rPr lang="en-IN" sz="1300" u="none" strike="noStrike" dirty="0">
                          <a:effectLst/>
                        </a:rPr>
                        <a:t>7</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a:effectLst/>
                        </a:rPr>
                        <a:t>Preparation of Fixed Asset Register</a:t>
                      </a:r>
                      <a:endParaRPr lang="en-US"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US" sz="1300" b="0" i="0" u="none" strike="noStrike" dirty="0" smtClean="0">
                          <a:solidFill>
                            <a:srgbClr val="000000"/>
                          </a:solidFill>
                          <a:effectLst/>
                          <a:latin typeface="+mj-lt"/>
                        </a:rPr>
                        <a:t>JBVNL</a:t>
                      </a:r>
                    </a:p>
                    <a:p>
                      <a:pPr algn="ctr" fontAlgn="b"/>
                      <a:r>
                        <a:rPr lang="en-US" sz="1300" b="0" i="0" u="none" strike="noStrike" smtClean="0">
                          <a:solidFill>
                            <a:srgbClr val="000000"/>
                          </a:solidFill>
                          <a:effectLst/>
                          <a:latin typeface="+mj-lt"/>
                        </a:rPr>
                        <a:t>World Bank</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US" sz="1300" b="0" i="0" u="none" strike="noStrike" dirty="0" smtClean="0">
                          <a:solidFill>
                            <a:srgbClr val="000000"/>
                          </a:solidFill>
                          <a:effectLst/>
                          <a:latin typeface="+mj-lt"/>
                        </a:rPr>
                        <a: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56295822"/>
                  </a:ext>
                </a:extLst>
              </a:tr>
              <a:tr h="728074">
                <a:tc>
                  <a:txBody>
                    <a:bodyPr/>
                    <a:lstStyle/>
                    <a:p>
                      <a:pPr algn="ctr" fontAlgn="b"/>
                      <a:r>
                        <a:rPr lang="en-IN" sz="1300" u="none" strike="noStrike" dirty="0">
                          <a:effectLst/>
                        </a:rPr>
                        <a:t>8</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300" u="none" strike="noStrike" dirty="0">
                          <a:effectLst/>
                        </a:rPr>
                        <a:t>Implementation of HR Policies</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JUSNL</a:t>
                      </a:r>
                      <a:br>
                        <a:rPr lang="en-IN" sz="1300" u="none" strike="noStrike">
                          <a:effectLst/>
                        </a:rPr>
                      </a:br>
                      <a:r>
                        <a:rPr lang="en-IN" sz="1300" u="none" strike="noStrike">
                          <a:effectLst/>
                        </a:rPr>
                        <a:t>JBVNL</a:t>
                      </a:r>
                      <a:br>
                        <a:rPr lang="en-IN" sz="1300" u="none" strike="noStrike">
                          <a:effectLst/>
                        </a:rPr>
                      </a:br>
                      <a:r>
                        <a:rPr lang="en-IN" sz="1300" u="none" strike="noStrike">
                          <a:effectLst/>
                        </a:rPr>
                        <a:t>World Bank </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US" sz="1300" u="none" strike="noStrike" dirty="0">
                          <a:effectLst/>
                        </a:rPr>
                        <a:t>Policy recommendation (Phase-I) was performed by PwC</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835755402"/>
                  </a:ext>
                </a:extLst>
              </a:tr>
              <a:tr h="242692">
                <a:tc>
                  <a:txBody>
                    <a:bodyPr/>
                    <a:lstStyle/>
                    <a:p>
                      <a:pPr algn="ctr" fontAlgn="b"/>
                      <a:r>
                        <a:rPr lang="en-IN" sz="1300" u="none" strike="noStrike" dirty="0">
                          <a:effectLst/>
                        </a:rPr>
                        <a:t>9</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Implementation of Smart Metering Project</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chemeClr val="accent3">
                        <a:lumMod val="20000"/>
                        <a:lumOff val="80000"/>
                      </a:schemeClr>
                    </a:solidFill>
                  </a:tcPr>
                </a:tc>
                <a:tc>
                  <a:txBody>
                    <a:bodyPr/>
                    <a:lstStyle/>
                    <a:p>
                      <a:pPr algn="ctr" fontAlgn="b"/>
                      <a:r>
                        <a:rPr lang="en-IN" sz="1300" u="none" strike="noStrike" dirty="0" smtClean="0">
                          <a:effectLst/>
                        </a:rPr>
                        <a:t>JBVNL </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059075027"/>
                  </a:ext>
                </a:extLst>
              </a:tr>
              <a:tr h="242692">
                <a:tc>
                  <a:txBody>
                    <a:bodyPr/>
                    <a:lstStyle/>
                    <a:p>
                      <a:pPr algn="ctr" fontAlgn="b"/>
                      <a:r>
                        <a:rPr lang="en-IN" sz="1300" u="none" strike="noStrike" dirty="0">
                          <a:effectLst/>
                        </a:rPr>
                        <a:t>10</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l" fontAlgn="b"/>
                      <a:r>
                        <a:rPr lang="en-US" sz="1300" u="none" strike="noStrike" dirty="0">
                          <a:effectLst/>
                        </a:rPr>
                        <a:t>Setting-up IT PMO for Consultancy Support</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solidFill>
                      <a:srgbClr val="E3E48D"/>
                    </a:solidFill>
                  </a:tcPr>
                </a:tc>
                <a:tc>
                  <a:txBody>
                    <a:bodyPr/>
                    <a:lstStyle/>
                    <a:p>
                      <a:pPr algn="ctr" fontAlgn="b"/>
                      <a:r>
                        <a:rPr lang="en-IN" sz="1300" u="none" strike="noStrike">
                          <a:effectLst/>
                        </a:rPr>
                        <a:t>JBVNL</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ctr" fontAlgn="b"/>
                      <a:r>
                        <a:rPr lang="en-US" sz="1300" b="0" i="0" u="none" strike="noStrike" dirty="0" smtClean="0">
                          <a:solidFill>
                            <a:srgbClr val="000000"/>
                          </a:solidFill>
                          <a:effectLst/>
                          <a:latin typeface="+mj-lt"/>
                        </a:rPr>
                        <a: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tcPr>
                </a:tc>
                <a:extLst>
                  <a:ext uri="{0D108BD9-81ED-4DB2-BD59-A6C34878D82A}">
                    <a16:rowId xmlns:a16="http://schemas.microsoft.com/office/drawing/2014/main" val="2454296530"/>
                  </a:ext>
                </a:extLst>
              </a:tr>
            </a:tbl>
          </a:graphicData>
        </a:graphic>
      </p:graphicFrame>
      <p:sp>
        <p:nvSpPr>
          <p:cNvPr id="10" name="Rounded Rectangle 9"/>
          <p:cNvSpPr/>
          <p:nvPr/>
        </p:nvSpPr>
        <p:spPr bwMode="gray">
          <a:xfrm>
            <a:off x="407520" y="5579550"/>
            <a:ext cx="10935856" cy="757385"/>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marL="285750" indent="-285750">
              <a:lnSpc>
                <a:spcPct val="106000"/>
              </a:lnSpc>
              <a:buFont typeface="Wingdings" panose="05000000000000000000" pitchFamily="2" charset="2"/>
              <a:buChar char="§"/>
            </a:pPr>
            <a:r>
              <a:rPr lang="en-US" sz="1300" dirty="0" smtClean="0"/>
              <a:t>Smart-metering for improving operational parameters has been under focus for an year now, planned primarily for Ranchi</a:t>
            </a:r>
          </a:p>
          <a:p>
            <a:pPr marL="285750" indent="-285750">
              <a:lnSpc>
                <a:spcPct val="106000"/>
              </a:lnSpc>
              <a:buFont typeface="Wingdings" panose="05000000000000000000" pitchFamily="2" charset="2"/>
              <a:buChar char="§"/>
            </a:pPr>
            <a:r>
              <a:rPr lang="en-US" sz="1300" dirty="0" smtClean="0"/>
              <a:t>While the project, along with formation of IT PMO for consultancy support has been backed by World Bank, charting-out a beneficial path is still underway</a:t>
            </a:r>
          </a:p>
        </p:txBody>
      </p:sp>
      <p:sp>
        <p:nvSpPr>
          <p:cNvPr id="8" name="Rectangle 7"/>
          <p:cNvSpPr/>
          <p:nvPr/>
        </p:nvSpPr>
        <p:spPr bwMode="gray">
          <a:xfrm>
            <a:off x="7601517" y="5265514"/>
            <a:ext cx="184727" cy="212437"/>
          </a:xfrm>
          <a:prstGeom prst="rect">
            <a:avLst/>
          </a:prstGeom>
          <a:solidFill>
            <a:srgbClr val="E3E48D"/>
          </a:solidFill>
          <a:ln w="19050" algn="ctr">
            <a:noFill/>
            <a:miter lim="800000"/>
            <a:headEnd/>
            <a:tailEnd/>
          </a:ln>
        </p:spPr>
        <p:txBody>
          <a:bodyPr wrap="square" lIns="88900" tIns="88900" rIns="88900" bIns="88900" rtlCol="0" anchor="ctr"/>
          <a:lstStyle/>
          <a:p>
            <a:pPr algn="r">
              <a:lnSpc>
                <a:spcPct val="106000"/>
              </a:lnSpc>
              <a:buFont typeface="Wingdings 2" pitchFamily="18" charset="2"/>
              <a:buNone/>
            </a:pPr>
            <a:endParaRPr lang="en-IN" sz="1600" b="1" dirty="0" smtClean="0">
              <a:solidFill>
                <a:schemeClr val="bg1"/>
              </a:solidFill>
            </a:endParaRPr>
          </a:p>
        </p:txBody>
      </p:sp>
      <p:sp>
        <p:nvSpPr>
          <p:cNvPr id="9" name="TextBox 8"/>
          <p:cNvSpPr txBox="1"/>
          <p:nvPr/>
        </p:nvSpPr>
        <p:spPr>
          <a:xfrm>
            <a:off x="7675409" y="5283986"/>
            <a:ext cx="3657600" cy="169277"/>
          </a:xfrm>
          <a:prstGeom prst="rect">
            <a:avLst/>
          </a:prstGeom>
          <a:noFill/>
        </p:spPr>
        <p:txBody>
          <a:bodyPr wrap="square" lIns="0" tIns="0" rIns="0" bIns="0" rtlCol="0">
            <a:spAutoFit/>
          </a:bodyPr>
          <a:lstStyle/>
          <a:p>
            <a:pPr algn="r">
              <a:spcBef>
                <a:spcPts val="600"/>
              </a:spcBef>
              <a:buSzPct val="100000"/>
            </a:pPr>
            <a:r>
              <a:rPr lang="en-US" sz="1100" b="1" i="1" dirty="0" smtClean="0">
                <a:solidFill>
                  <a:srgbClr val="313131"/>
                </a:solidFill>
              </a:rPr>
              <a:t>Possible broad area of association with GIZ</a:t>
            </a:r>
            <a:endParaRPr lang="en-IN" sz="1100" b="1" i="1" dirty="0" smtClean="0">
              <a:solidFill>
                <a:srgbClr val="313131"/>
              </a:solidFill>
            </a:endParaRPr>
          </a:p>
        </p:txBody>
      </p:sp>
      <p:sp>
        <p:nvSpPr>
          <p:cNvPr id="13" name="Rectangle 12"/>
          <p:cNvSpPr/>
          <p:nvPr/>
        </p:nvSpPr>
        <p:spPr bwMode="gray">
          <a:xfrm>
            <a:off x="407520" y="5279171"/>
            <a:ext cx="184727" cy="212437"/>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r">
              <a:lnSpc>
                <a:spcPct val="106000"/>
              </a:lnSpc>
              <a:buFont typeface="Wingdings 2" pitchFamily="18" charset="2"/>
              <a:buNone/>
            </a:pPr>
            <a:endParaRPr lang="en-IN" sz="1600" b="1" dirty="0" smtClean="0">
              <a:solidFill>
                <a:schemeClr val="bg1"/>
              </a:solidFill>
            </a:endParaRPr>
          </a:p>
        </p:txBody>
      </p:sp>
      <p:sp>
        <p:nvSpPr>
          <p:cNvPr id="14" name="TextBox 13"/>
          <p:cNvSpPr txBox="1"/>
          <p:nvPr/>
        </p:nvSpPr>
        <p:spPr>
          <a:xfrm>
            <a:off x="509120" y="5297643"/>
            <a:ext cx="5623824" cy="169277"/>
          </a:xfrm>
          <a:prstGeom prst="rect">
            <a:avLst/>
          </a:prstGeom>
          <a:noFill/>
        </p:spPr>
        <p:txBody>
          <a:bodyPr wrap="square" lIns="0" tIns="0" rIns="0" bIns="0" rtlCol="0">
            <a:spAutoFit/>
          </a:bodyPr>
          <a:lstStyle/>
          <a:p>
            <a:pPr algn="r">
              <a:spcBef>
                <a:spcPts val="600"/>
              </a:spcBef>
              <a:buSzPct val="100000"/>
            </a:pPr>
            <a:r>
              <a:rPr lang="en-US" sz="1100" b="1" i="1" dirty="0" smtClean="0">
                <a:solidFill>
                  <a:srgbClr val="313131"/>
                </a:solidFill>
              </a:rPr>
              <a:t>Recommended area of association with GIZ (as Technical Consultant)</a:t>
            </a:r>
            <a:endParaRPr lang="en-IN" sz="1100" b="1" i="1" dirty="0" smtClean="0">
              <a:solidFill>
                <a:srgbClr val="313131"/>
              </a:solidFill>
            </a:endParaRPr>
          </a:p>
        </p:txBody>
      </p:sp>
      <p:sp>
        <p:nvSpPr>
          <p:cNvPr id="11" name="Pentagon 10">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25893207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Sector-focused Policy Landscape (2/2)</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2199229709"/>
              </p:ext>
            </p:extLst>
          </p:nvPr>
        </p:nvGraphicFramePr>
        <p:xfrm>
          <a:off x="407520" y="695625"/>
          <a:ext cx="10935856" cy="3662598"/>
        </p:xfrm>
        <a:graphic>
          <a:graphicData uri="http://schemas.openxmlformats.org/drawingml/2006/table">
            <a:tbl>
              <a:tblPr firstRow="1" bandRow="1">
                <a:tableStyleId>{0E3FDE45-AF77-4B5C-9715-49D594BDF05E}</a:tableStyleId>
              </a:tblPr>
              <a:tblGrid>
                <a:gridCol w="879264">
                  <a:extLst>
                    <a:ext uri="{9D8B030D-6E8A-4147-A177-3AD203B41FA5}">
                      <a16:colId xmlns:a16="http://schemas.microsoft.com/office/drawing/2014/main" val="1402205776"/>
                    </a:ext>
                  </a:extLst>
                </a:gridCol>
                <a:gridCol w="6044946">
                  <a:extLst>
                    <a:ext uri="{9D8B030D-6E8A-4147-A177-3AD203B41FA5}">
                      <a16:colId xmlns:a16="http://schemas.microsoft.com/office/drawing/2014/main" val="2150538347"/>
                    </a:ext>
                  </a:extLst>
                </a:gridCol>
                <a:gridCol w="2160613">
                  <a:extLst>
                    <a:ext uri="{9D8B030D-6E8A-4147-A177-3AD203B41FA5}">
                      <a16:colId xmlns:a16="http://schemas.microsoft.com/office/drawing/2014/main" val="3804260002"/>
                    </a:ext>
                  </a:extLst>
                </a:gridCol>
                <a:gridCol w="1851033">
                  <a:extLst>
                    <a:ext uri="{9D8B030D-6E8A-4147-A177-3AD203B41FA5}">
                      <a16:colId xmlns:a16="http://schemas.microsoft.com/office/drawing/2014/main" val="3827046400"/>
                    </a:ext>
                  </a:extLst>
                </a:gridCol>
              </a:tblGrid>
              <a:tr h="282388">
                <a:tc>
                  <a:txBody>
                    <a:bodyPr/>
                    <a:lstStyle/>
                    <a:p>
                      <a:pPr algn="ctr" fontAlgn="b"/>
                      <a:r>
                        <a:rPr lang="en-IN" sz="1300" u="none" strike="noStrike">
                          <a:effectLst/>
                        </a:rPr>
                        <a:t>Sr. No.</a:t>
                      </a:r>
                      <a:endParaRPr lang="en-IN" sz="1300" b="0" i="0" u="none" strike="noStrike">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Activity </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smtClean="0">
                          <a:effectLst/>
                        </a:rPr>
                        <a:t>Primary Promoter(s)</a:t>
                      </a:r>
                      <a:endParaRPr lang="en-IN" sz="1300" b="0" i="0" u="none" strike="noStrike" kern="1200" dirty="0">
                        <a:solidFill>
                          <a:srgbClr val="000000"/>
                        </a:solidFill>
                        <a:effectLst/>
                        <a:latin typeface="+mn-lt"/>
                        <a:ea typeface="+mn-ea"/>
                        <a:cs typeface="+mn-cs"/>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B w="12700" cap="flat" cmpd="sng" algn="ctr">
                      <a:solidFill>
                        <a:schemeClr val="tx1"/>
                      </a:solidFill>
                      <a:prstDash val="dot"/>
                      <a:round/>
                      <a:headEnd type="none" w="med" len="med"/>
                      <a:tailEnd type="none" w="med" len="med"/>
                    </a:lnB>
                  </a:tcPr>
                </a:tc>
                <a:tc>
                  <a:txBody>
                    <a:bodyPr/>
                    <a:lstStyle/>
                    <a:p>
                      <a:pPr algn="ctr" fontAlgn="b"/>
                      <a:r>
                        <a:rPr lang="en-IN" sz="1300" u="none" strike="noStrike">
                          <a:effectLst/>
                        </a:rPr>
                        <a:t>Executing Agency</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813559294"/>
                  </a:ext>
                </a:extLst>
              </a:tr>
              <a:tr h="420046">
                <a:tc>
                  <a:txBody>
                    <a:bodyPr/>
                    <a:lstStyle/>
                    <a:p>
                      <a:pPr algn="ctr" fontAlgn="b"/>
                      <a:r>
                        <a:rPr lang="en-IN" sz="1300" u="none" strike="noStrike" dirty="0">
                          <a:effectLst/>
                        </a:rPr>
                        <a:t>11</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Implementation of Power Procurement Predictive Tool</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JBVNL </a:t>
                      </a:r>
                      <a:br>
                        <a:rPr lang="en-IN" sz="1300" u="none" strike="noStrike" dirty="0">
                          <a:effectLst/>
                        </a:rPr>
                      </a:br>
                      <a:r>
                        <a:rPr lang="en-IN" sz="1300" u="none" strike="noStrike" dirty="0">
                          <a:effectLst/>
                        </a:rPr>
                        <a:t>World Bank</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997354947"/>
                  </a:ext>
                </a:extLst>
              </a:tr>
              <a:tr h="420046">
                <a:tc>
                  <a:txBody>
                    <a:bodyPr/>
                    <a:lstStyle/>
                    <a:p>
                      <a:pPr algn="ctr" fontAlgn="b"/>
                      <a:r>
                        <a:rPr lang="en-IN" sz="1300" u="none" strike="noStrike">
                          <a:effectLst/>
                        </a:rPr>
                        <a:t>12</a:t>
                      </a:r>
                      <a:endParaRPr lang="en-IN" sz="1300" b="0" i="0" u="none" strike="noStrike">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a:r>
                        <a:rPr lang="en-US" sz="1300" u="none" strike="noStrike" kern="1200" dirty="0" smtClean="0">
                          <a:solidFill>
                            <a:schemeClr val="tx1"/>
                          </a:solidFill>
                          <a:effectLst/>
                          <a:latin typeface="+mn-lt"/>
                          <a:ea typeface="+mn-ea"/>
                          <a:cs typeface="+mn-cs"/>
                        </a:rPr>
                        <a:t>Medium &amp; Long-term Energy Forecasting</a:t>
                      </a:r>
                      <a:endParaRPr lang="en-IN" sz="1300" u="none" strike="noStrike" kern="1200" dirty="0">
                        <a:solidFill>
                          <a:schemeClr val="tx1"/>
                        </a:solidFill>
                        <a:effectLst/>
                        <a:latin typeface="+mn-lt"/>
                        <a:ea typeface="+mn-ea"/>
                        <a:cs typeface="+mn-cs"/>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sz="1300" u="none" strike="noStrike" kern="1200" dirty="0" smtClean="0">
                          <a:solidFill>
                            <a:schemeClr val="tx1"/>
                          </a:solidFill>
                          <a:effectLst/>
                          <a:latin typeface="+mn-lt"/>
                          <a:ea typeface="+mn-ea"/>
                          <a:cs typeface="+mn-cs"/>
                        </a:rPr>
                        <a:t>JBVNL</a:t>
                      </a:r>
                    </a:p>
                    <a:p>
                      <a:pPr algn="ctr"/>
                      <a:r>
                        <a:rPr lang="en-US" sz="1300" u="none" strike="noStrike" kern="1200" dirty="0" smtClean="0">
                          <a:solidFill>
                            <a:schemeClr val="tx1"/>
                          </a:solidFill>
                          <a:effectLst/>
                          <a:latin typeface="+mn-lt"/>
                          <a:ea typeface="+mn-ea"/>
                          <a:cs typeface="+mn-cs"/>
                        </a:rPr>
                        <a:t>US-AID (PACE-D)</a:t>
                      </a:r>
                      <a:endParaRPr lang="en-IN" sz="1300" u="none" strike="noStrike" kern="1200" dirty="0">
                        <a:solidFill>
                          <a:schemeClr val="tx1"/>
                        </a:solidFill>
                        <a:effectLst/>
                        <a:latin typeface="+mn-lt"/>
                        <a:ea typeface="+mn-ea"/>
                        <a:cs typeface="+mn-cs"/>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r>
                        <a:rPr lang="en-US" sz="1300" u="none" strike="noStrike" kern="1200" dirty="0" smtClean="0">
                          <a:solidFill>
                            <a:schemeClr val="tx1"/>
                          </a:solidFill>
                          <a:effectLst/>
                          <a:latin typeface="+mn-lt"/>
                          <a:ea typeface="+mn-ea"/>
                          <a:cs typeface="+mn-cs"/>
                        </a:rPr>
                        <a:t>PRDC</a:t>
                      </a:r>
                      <a:endParaRPr lang="en-IN" sz="1300" u="none" strike="noStrike" kern="1200" dirty="0">
                        <a:solidFill>
                          <a:schemeClr val="tx1"/>
                        </a:solidFill>
                        <a:effectLst/>
                        <a:latin typeface="+mn-lt"/>
                        <a:ea typeface="+mn-ea"/>
                        <a:cs typeface="+mn-cs"/>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57159544"/>
                  </a:ext>
                </a:extLst>
              </a:tr>
              <a:tr h="420046">
                <a:tc>
                  <a:txBody>
                    <a:bodyPr/>
                    <a:lstStyle/>
                    <a:p>
                      <a:pPr algn="ctr" fontAlgn="b"/>
                      <a:r>
                        <a:rPr lang="en-US" sz="1300" b="0" i="0" u="none" strike="noStrike" dirty="0" smtClean="0">
                          <a:solidFill>
                            <a:srgbClr val="000000"/>
                          </a:solidFill>
                          <a:effectLst/>
                          <a:latin typeface="+mj-lt"/>
                        </a:rPr>
                        <a:t>13</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Support in Rooftop Solar Policy Implementation</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JBVNL </a:t>
                      </a:r>
                      <a:br>
                        <a:rPr lang="en-IN" sz="1300" u="none" strike="noStrike" dirty="0">
                          <a:effectLst/>
                        </a:rPr>
                      </a:br>
                      <a:r>
                        <a:rPr lang="en-IN" sz="1300" u="none" strike="noStrike" dirty="0">
                          <a:effectLst/>
                        </a:rPr>
                        <a:t>World Bank</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300" u="none" strike="noStrike" dirty="0">
                          <a:effectLst/>
                        </a:rPr>
                        <a:t>EY</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382153284"/>
                  </a:ext>
                </a:extLst>
              </a:tr>
              <a:tr h="213330">
                <a:tc>
                  <a:txBody>
                    <a:bodyPr/>
                    <a:lstStyle/>
                    <a:p>
                      <a:pPr algn="ctr" fontAlgn="b"/>
                      <a:r>
                        <a:rPr lang="en-IN" sz="1300" u="none" strike="noStrike" dirty="0">
                          <a:effectLst/>
                        </a:rPr>
                        <a:t>14</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300" u="none" strike="noStrike" dirty="0">
                          <a:effectLst/>
                        </a:rPr>
                        <a:t>Support in PM - KUSUM Implementation (Component A)</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chemeClr val="accent3">
                        <a:lumMod val="20000"/>
                        <a:lumOff val="80000"/>
                      </a:schemeClr>
                    </a:solidFill>
                  </a:tcPr>
                </a:tc>
                <a:tc>
                  <a:txBody>
                    <a:bodyPr/>
                    <a:lstStyle/>
                    <a:p>
                      <a:pPr algn="ctr" fontAlgn="b"/>
                      <a:r>
                        <a:rPr lang="en-IN" sz="1300" u="none" strike="noStrike">
                          <a:effectLst/>
                        </a:rPr>
                        <a:t>JBVNL</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US" sz="1300" b="0" i="0" u="none" strike="noStrike" dirty="0" smtClean="0">
                          <a:solidFill>
                            <a:srgbClr val="000000"/>
                          </a:solidFill>
                          <a:effectLst/>
                          <a:latin typeface="+mj-lt"/>
                        </a:rPr>
                        <a: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987967939"/>
                  </a:ext>
                </a:extLst>
              </a:tr>
              <a:tr h="213330">
                <a:tc>
                  <a:txBody>
                    <a:bodyPr/>
                    <a:lstStyle/>
                    <a:p>
                      <a:pPr algn="ctr" fontAlgn="b"/>
                      <a:r>
                        <a:rPr lang="en-IN" sz="1300" u="none" strike="noStrike" dirty="0">
                          <a:effectLst/>
                        </a:rPr>
                        <a:t>15</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300" u="none" strike="noStrike" dirty="0">
                          <a:effectLst/>
                        </a:rPr>
                        <a:t>Support in PM - KUSUM Implementation (Component B &amp; C)</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chemeClr val="accent3">
                        <a:lumMod val="20000"/>
                        <a:lumOff val="80000"/>
                      </a:schemeClr>
                    </a:solidFill>
                  </a:tcPr>
                </a:tc>
                <a:tc>
                  <a:txBody>
                    <a:bodyPr/>
                    <a:lstStyle/>
                    <a:p>
                      <a:pPr algn="ctr" fontAlgn="b"/>
                      <a:r>
                        <a:rPr lang="en-IN" sz="1300" u="none" strike="noStrike">
                          <a:effectLst/>
                        </a:rPr>
                        <a:t>JREDA</a:t>
                      </a:r>
                      <a:endParaRPr lang="en-IN"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US" sz="1300" b="0" i="0" u="none" strike="noStrike" dirty="0" smtClean="0">
                          <a:solidFill>
                            <a:srgbClr val="000000"/>
                          </a:solidFill>
                          <a:effectLst/>
                          <a:latin typeface="+mj-lt"/>
                        </a:rPr>
                        <a: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4204818727"/>
                  </a:ext>
                </a:extLst>
              </a:tr>
              <a:tr h="213330">
                <a:tc>
                  <a:txBody>
                    <a:bodyPr/>
                    <a:lstStyle/>
                    <a:p>
                      <a:pPr algn="ctr" fontAlgn="b"/>
                      <a:r>
                        <a:rPr lang="en-IN" sz="1300" u="none" strike="noStrike" dirty="0">
                          <a:effectLst/>
                        </a:rPr>
                        <a:t>16</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a:effectLst/>
                        </a:rPr>
                        <a:t>Policy for new IPPs in Thermal Power</a:t>
                      </a:r>
                      <a:endParaRPr lang="en-US" sz="1300" b="0" i="0" u="none" strike="noStrike">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E3E48D"/>
                    </a:solidFill>
                  </a:tcPr>
                </a:tc>
                <a:tc rowSpan="6">
                  <a:txBody>
                    <a:bodyPr/>
                    <a:lstStyle/>
                    <a:p>
                      <a:pPr algn="ctr" fontAlgn="b"/>
                      <a:r>
                        <a:rPr lang="en-US" sz="1300" b="0" i="0" u="none" strike="noStrike" dirty="0" smtClean="0">
                          <a:solidFill>
                            <a:srgbClr val="000000"/>
                          </a:solidFill>
                          <a:effectLst/>
                          <a:latin typeface="+mj-lt"/>
                        </a:rPr>
                        <a:t>Proposed in Jharkhand Power Policy (Draft) 2018</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rowSpan="6">
                  <a:txBody>
                    <a:bodyPr/>
                    <a:lstStyle/>
                    <a:p>
                      <a:pPr algn="ctr" fontAlgn="b"/>
                      <a:r>
                        <a:rPr lang="en-IN" sz="1300" u="none" strike="noStrike" dirty="0">
                          <a:effectLst/>
                        </a:rPr>
                        <a:t>-</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tcPr>
                </a:tc>
                <a:extLst>
                  <a:ext uri="{0D108BD9-81ED-4DB2-BD59-A6C34878D82A}">
                    <a16:rowId xmlns:a16="http://schemas.microsoft.com/office/drawing/2014/main" val="854111039"/>
                  </a:ext>
                </a:extLst>
              </a:tr>
              <a:tr h="626762">
                <a:tc>
                  <a:txBody>
                    <a:bodyPr/>
                    <a:lstStyle/>
                    <a:p>
                      <a:pPr algn="ctr" fontAlgn="b"/>
                      <a:r>
                        <a:rPr lang="en-IN" sz="1300" u="none" strike="noStrike" dirty="0">
                          <a:effectLst/>
                        </a:rPr>
                        <a:t>17</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Framing Hydel-Power Policy </a:t>
                      </a:r>
                      <a:br>
                        <a:rPr lang="en-US" sz="1300" u="none" strike="noStrike" dirty="0">
                          <a:effectLst/>
                        </a:rPr>
                      </a:br>
                      <a:r>
                        <a:rPr lang="en-US" sz="1300" i="1" u="none" strike="noStrike" dirty="0">
                          <a:effectLst/>
                        </a:rPr>
                        <a:t>(In collaboration with Private participation </a:t>
                      </a:r>
                      <a:r>
                        <a:rPr lang="en-US" sz="1300" i="1" u="none" strike="noStrike" dirty="0" smtClean="0">
                          <a:effectLst/>
                        </a:rPr>
                        <a:t>by</a:t>
                      </a:r>
                      <a:r>
                        <a:rPr lang="en-US" sz="1300" i="1" u="none" strike="noStrike" baseline="0" dirty="0" smtClean="0">
                          <a:effectLst/>
                        </a:rPr>
                        <a:t> encouraging</a:t>
                      </a:r>
                      <a:r>
                        <a:rPr lang="en-US" sz="1300" i="1" u="none" strike="noStrike" dirty="0" smtClean="0">
                          <a:effectLst/>
                        </a:rPr>
                        <a:t> </a:t>
                      </a:r>
                      <a:r>
                        <a:rPr lang="en-US" sz="1300" i="1" u="none" strike="noStrike" dirty="0">
                          <a:effectLst/>
                        </a:rPr>
                        <a:t>NGOs &amp; local bodies for taking-up mini/micro hydro projects)</a:t>
                      </a:r>
                      <a:endParaRPr lang="en-US" sz="1300" b="0" i="1"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E3E48D"/>
                    </a:solidFill>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tcPr>
                </a:tc>
                <a:extLst>
                  <a:ext uri="{0D108BD9-81ED-4DB2-BD59-A6C34878D82A}">
                    <a16:rowId xmlns:a16="http://schemas.microsoft.com/office/drawing/2014/main" val="3951991283"/>
                  </a:ext>
                </a:extLst>
              </a:tr>
              <a:tr h="213330">
                <a:tc>
                  <a:txBody>
                    <a:bodyPr/>
                    <a:lstStyle/>
                    <a:p>
                      <a:pPr algn="ctr" fontAlgn="b"/>
                      <a:r>
                        <a:rPr lang="en-IN" sz="1300" u="none" strike="noStrike" dirty="0">
                          <a:effectLst/>
                        </a:rPr>
                        <a:t>18</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Preparation of comprehensive Bio-energy Policy </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E3E48D"/>
                    </a:solidFill>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8380"/>
                  </a:ext>
                </a:extLst>
              </a:tr>
              <a:tr h="213330">
                <a:tc>
                  <a:txBody>
                    <a:bodyPr/>
                    <a:lstStyle/>
                    <a:p>
                      <a:pPr algn="ctr" fontAlgn="b"/>
                      <a:r>
                        <a:rPr lang="en-IN" sz="1300" u="none" strike="noStrike" dirty="0">
                          <a:effectLst/>
                        </a:rPr>
                        <a:t>19</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Policy preparation for Waste to Energy </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E3E48D"/>
                    </a:solidFill>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282256713"/>
                  </a:ext>
                </a:extLst>
              </a:tr>
              <a:tr h="213330">
                <a:tc>
                  <a:txBody>
                    <a:bodyPr/>
                    <a:lstStyle/>
                    <a:p>
                      <a:pPr algn="ctr" fontAlgn="b"/>
                      <a:r>
                        <a:rPr lang="en-IN" sz="1300" u="none" strike="noStrike" dirty="0">
                          <a:effectLst/>
                        </a:rPr>
                        <a:t>20</a:t>
                      </a:r>
                      <a:endParaRPr lang="en-IN" sz="1300" b="0" i="0" u="none" strike="noStrike" dirty="0">
                        <a:solidFill>
                          <a:srgbClr val="000000"/>
                        </a:solidFill>
                        <a:effectLst/>
                        <a:latin typeface="+mj-lt"/>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300" u="none" strike="noStrike" dirty="0">
                          <a:effectLst/>
                        </a:rPr>
                        <a:t>Preparation of Demand-side Management </a:t>
                      </a:r>
                      <a:r>
                        <a:rPr lang="en-US" sz="1300" u="none" strike="noStrike" dirty="0" smtClean="0">
                          <a:effectLst/>
                        </a:rPr>
                        <a:t>Policy</a:t>
                      </a:r>
                      <a:r>
                        <a:rPr lang="en-US" sz="1300" u="none" strike="noStrike" baseline="0" dirty="0" smtClean="0">
                          <a:effectLst/>
                        </a:rPr>
                        <a:t> &amp; EV Policy</a:t>
                      </a:r>
                      <a:endParaRPr lang="en-US"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E3E48D"/>
                    </a:solidFill>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500664780"/>
                  </a:ext>
                </a:extLst>
              </a:tr>
              <a:tr h="213330">
                <a:tc>
                  <a:txBody>
                    <a:bodyPr/>
                    <a:lstStyle/>
                    <a:p>
                      <a:pPr marL="0" algn="ctr" defTabSz="914400" rtl="0" eaLnBrk="1" fontAlgn="b" latinLnBrk="0" hangingPunct="1"/>
                      <a:r>
                        <a:rPr lang="en-US" sz="1300" u="none" strike="noStrike" kern="1200" dirty="0" smtClean="0">
                          <a:solidFill>
                            <a:schemeClr val="tx1"/>
                          </a:solidFill>
                          <a:effectLst/>
                          <a:latin typeface="+mn-lt"/>
                          <a:ea typeface="+mn-ea"/>
                          <a:cs typeface="+mn-cs"/>
                        </a:rPr>
                        <a:t>21</a:t>
                      </a:r>
                      <a:endParaRPr lang="en-IN" sz="1300" u="none" strike="noStrike" kern="1200" dirty="0">
                        <a:solidFill>
                          <a:schemeClr val="tx1"/>
                        </a:solidFill>
                        <a:effectLst/>
                        <a:latin typeface="+mn-lt"/>
                        <a:ea typeface="+mn-ea"/>
                        <a:cs typeface="+mn-cs"/>
                      </a:endParaRPr>
                    </a:p>
                  </a:txBody>
                  <a:tcPr marL="6339" marR="6339" marT="6339"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l" fontAlgn="b"/>
                      <a:r>
                        <a:rPr lang="en-IN" sz="1300" u="none" strike="noStrike" dirty="0">
                          <a:effectLst/>
                        </a:rPr>
                        <a:t>Conceptualizing Renewable Energy Management Centres (REMCs) </a:t>
                      </a:r>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solidFill>
                      <a:srgbClr val="E3E48D"/>
                    </a:solidFill>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vMerge="1">
                  <a:txBody>
                    <a:bodyPr/>
                    <a:lstStyle/>
                    <a:p>
                      <a:pPr algn="ctr" fontAlgn="b"/>
                      <a:endParaRPr lang="en-IN" sz="1300" b="0" i="0" u="none" strike="noStrike" dirty="0">
                        <a:solidFill>
                          <a:srgbClr val="000000"/>
                        </a:solidFill>
                        <a:effectLst/>
                        <a:latin typeface="+mj-lt"/>
                      </a:endParaRPr>
                    </a:p>
                  </a:txBody>
                  <a:tcPr marL="6339" marR="6339" marT="6339"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tcPr>
                </a:tc>
                <a:extLst>
                  <a:ext uri="{0D108BD9-81ED-4DB2-BD59-A6C34878D82A}">
                    <a16:rowId xmlns:a16="http://schemas.microsoft.com/office/drawing/2014/main" val="609576023"/>
                  </a:ext>
                </a:extLst>
              </a:tr>
            </a:tbl>
          </a:graphicData>
        </a:graphic>
      </p:graphicFrame>
      <p:sp>
        <p:nvSpPr>
          <p:cNvPr id="8" name="Rectangle 7"/>
          <p:cNvSpPr/>
          <p:nvPr/>
        </p:nvSpPr>
        <p:spPr bwMode="gray">
          <a:xfrm>
            <a:off x="7611884" y="4495932"/>
            <a:ext cx="184727" cy="212437"/>
          </a:xfrm>
          <a:prstGeom prst="rect">
            <a:avLst/>
          </a:prstGeom>
          <a:solidFill>
            <a:srgbClr val="E3E48D"/>
          </a:solidFill>
          <a:ln w="19050" algn="ctr">
            <a:noFill/>
            <a:miter lim="800000"/>
            <a:headEnd/>
            <a:tailEnd/>
          </a:ln>
        </p:spPr>
        <p:txBody>
          <a:bodyPr wrap="square" lIns="88900" tIns="88900" rIns="88900" bIns="88900" rtlCol="0" anchor="ctr"/>
          <a:lstStyle/>
          <a:p>
            <a:pPr algn="r">
              <a:lnSpc>
                <a:spcPct val="106000"/>
              </a:lnSpc>
              <a:buFont typeface="Wingdings 2" pitchFamily="18" charset="2"/>
              <a:buNone/>
            </a:pPr>
            <a:endParaRPr lang="en-IN" sz="1600" b="1" dirty="0" smtClean="0">
              <a:solidFill>
                <a:schemeClr val="bg1"/>
              </a:solidFill>
            </a:endParaRPr>
          </a:p>
        </p:txBody>
      </p:sp>
      <p:sp>
        <p:nvSpPr>
          <p:cNvPr id="9" name="TextBox 8"/>
          <p:cNvSpPr txBox="1"/>
          <p:nvPr/>
        </p:nvSpPr>
        <p:spPr>
          <a:xfrm>
            <a:off x="7685776" y="4514404"/>
            <a:ext cx="3657600" cy="169277"/>
          </a:xfrm>
          <a:prstGeom prst="rect">
            <a:avLst/>
          </a:prstGeom>
          <a:noFill/>
        </p:spPr>
        <p:txBody>
          <a:bodyPr wrap="square" lIns="0" tIns="0" rIns="0" bIns="0" rtlCol="0">
            <a:spAutoFit/>
          </a:bodyPr>
          <a:lstStyle/>
          <a:p>
            <a:pPr algn="r">
              <a:spcBef>
                <a:spcPts val="600"/>
              </a:spcBef>
              <a:buSzPct val="100000"/>
            </a:pPr>
            <a:r>
              <a:rPr lang="en-US" sz="1100" b="1" i="1" dirty="0" smtClean="0">
                <a:solidFill>
                  <a:srgbClr val="313131"/>
                </a:solidFill>
              </a:rPr>
              <a:t>Possible broad area of association with GIZ</a:t>
            </a:r>
            <a:endParaRPr lang="en-IN" sz="1100" b="1" i="1" dirty="0" smtClean="0">
              <a:solidFill>
                <a:srgbClr val="313131"/>
              </a:solidFill>
            </a:endParaRPr>
          </a:p>
        </p:txBody>
      </p:sp>
      <p:sp>
        <p:nvSpPr>
          <p:cNvPr id="10" name="Rectangle 9"/>
          <p:cNvSpPr/>
          <p:nvPr/>
        </p:nvSpPr>
        <p:spPr bwMode="gray">
          <a:xfrm>
            <a:off x="407520" y="4495932"/>
            <a:ext cx="184727" cy="212437"/>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r">
              <a:lnSpc>
                <a:spcPct val="106000"/>
              </a:lnSpc>
              <a:buFont typeface="Wingdings 2" pitchFamily="18" charset="2"/>
              <a:buNone/>
            </a:pPr>
            <a:endParaRPr lang="en-IN" sz="1600" b="1" dirty="0" smtClean="0">
              <a:solidFill>
                <a:schemeClr val="bg1"/>
              </a:solidFill>
            </a:endParaRPr>
          </a:p>
        </p:txBody>
      </p:sp>
      <p:sp>
        <p:nvSpPr>
          <p:cNvPr id="11" name="TextBox 10"/>
          <p:cNvSpPr txBox="1"/>
          <p:nvPr/>
        </p:nvSpPr>
        <p:spPr>
          <a:xfrm>
            <a:off x="509120" y="4514404"/>
            <a:ext cx="5623824" cy="169277"/>
          </a:xfrm>
          <a:prstGeom prst="rect">
            <a:avLst/>
          </a:prstGeom>
          <a:noFill/>
        </p:spPr>
        <p:txBody>
          <a:bodyPr wrap="square" lIns="0" tIns="0" rIns="0" bIns="0" rtlCol="0">
            <a:spAutoFit/>
          </a:bodyPr>
          <a:lstStyle/>
          <a:p>
            <a:pPr algn="r">
              <a:spcBef>
                <a:spcPts val="600"/>
              </a:spcBef>
              <a:buSzPct val="100000"/>
            </a:pPr>
            <a:r>
              <a:rPr lang="en-US" sz="1100" b="1" i="1" dirty="0" smtClean="0">
                <a:solidFill>
                  <a:srgbClr val="313131"/>
                </a:solidFill>
              </a:rPr>
              <a:t>Recommended area of association with GIZ (as Technical Consultant)</a:t>
            </a:r>
            <a:endParaRPr lang="en-IN" sz="1100" b="1" i="1" dirty="0" smtClean="0">
              <a:solidFill>
                <a:srgbClr val="313131"/>
              </a:solidFill>
            </a:endParaRPr>
          </a:p>
        </p:txBody>
      </p:sp>
      <p:sp>
        <p:nvSpPr>
          <p:cNvPr id="12" name="Rounded Rectangle 11"/>
          <p:cNvSpPr/>
          <p:nvPr/>
        </p:nvSpPr>
        <p:spPr bwMode="gray">
          <a:xfrm>
            <a:off x="407520" y="4821389"/>
            <a:ext cx="10935856" cy="1489679"/>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marL="285750" indent="-285750">
              <a:lnSpc>
                <a:spcPct val="106000"/>
              </a:lnSpc>
              <a:buFont typeface="Wingdings" panose="05000000000000000000" pitchFamily="2" charset="2"/>
              <a:buChar char="§"/>
            </a:pPr>
            <a:r>
              <a:rPr lang="en-US" sz="1300" dirty="0" smtClean="0"/>
              <a:t>Component A under PM-KUSUM (Decentralized Ground Mounted Grid-connected RE Power Plants of </a:t>
            </a:r>
            <a:r>
              <a:rPr lang="en-US" sz="1300" dirty="0" err="1" smtClean="0"/>
              <a:t>upto</a:t>
            </a:r>
            <a:r>
              <a:rPr lang="en-US" sz="1300" dirty="0" smtClean="0"/>
              <a:t> 2MW) is being handled by JBVNL. An allocation of 10 MW is attained which can be scaled up to 50 MW</a:t>
            </a:r>
          </a:p>
          <a:p>
            <a:pPr marL="285750" indent="-285750">
              <a:lnSpc>
                <a:spcPct val="106000"/>
              </a:lnSpc>
              <a:buFont typeface="Wingdings" panose="05000000000000000000" pitchFamily="2" charset="2"/>
              <a:buChar char="§"/>
            </a:pPr>
            <a:r>
              <a:rPr lang="en-US" sz="1300" dirty="0" smtClean="0"/>
              <a:t>Component B (Installation of standalone Solar-powered Agri. Pumps) &amp; Component C (</a:t>
            </a:r>
            <a:r>
              <a:rPr lang="en-US" sz="1300" dirty="0" err="1" smtClean="0"/>
              <a:t>Solarization</a:t>
            </a:r>
            <a:r>
              <a:rPr lang="en-US" sz="1300" dirty="0" smtClean="0"/>
              <a:t> of grid-connected    Agri. Pumps) are taken care of by JREDA. </a:t>
            </a:r>
          </a:p>
          <a:p>
            <a:pPr marL="285750" indent="-285750">
              <a:lnSpc>
                <a:spcPct val="106000"/>
              </a:lnSpc>
              <a:buFont typeface="Wingdings" panose="05000000000000000000" pitchFamily="2" charset="2"/>
              <a:buChar char="§"/>
            </a:pPr>
            <a:r>
              <a:rPr lang="en-US" sz="1300" dirty="0" smtClean="0"/>
              <a:t>GIZ, being closely associated with MNRE as well, is </a:t>
            </a:r>
            <a:r>
              <a:rPr lang="en-US" sz="1300" b="1" dirty="0" smtClean="0"/>
              <a:t>recommended as a partner</a:t>
            </a:r>
            <a:r>
              <a:rPr lang="en-US" sz="1300" dirty="0" smtClean="0"/>
              <a:t> in executing PM-KUSUM in Jharkhand</a:t>
            </a:r>
          </a:p>
          <a:p>
            <a:pPr marL="285750" indent="-285750">
              <a:lnSpc>
                <a:spcPct val="106000"/>
              </a:lnSpc>
              <a:buFont typeface="Wingdings" panose="05000000000000000000" pitchFamily="2" charset="2"/>
              <a:buChar char="§"/>
            </a:pPr>
            <a:r>
              <a:rPr lang="en-US" sz="1300" dirty="0" smtClean="0"/>
              <a:t>Many other policies, proposed under Power Policy (Draft) 2018, under ambit of renewable energy, are </a:t>
            </a:r>
            <a:r>
              <a:rPr lang="en-US" sz="1300" b="1" dirty="0" smtClean="0"/>
              <a:t>in sync with the objective of IGEN Access –II Program of GIZ  </a:t>
            </a:r>
          </a:p>
        </p:txBody>
      </p:sp>
      <p:sp>
        <p:nvSpPr>
          <p:cNvPr id="13" name="Pentagon 12">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21542648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Image result for uday scheme logo"/>
          <p:cNvSpPr>
            <a:spLocks noChangeAspect="1" noChangeArrowheads="1"/>
          </p:cNvSpPr>
          <p:nvPr/>
        </p:nvSpPr>
        <p:spPr bwMode="auto">
          <a:xfrm>
            <a:off x="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4" name="Slide Number Placeholder 3"/>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Half Frame 5"/>
          <p:cNvSpPr/>
          <p:nvPr/>
        </p:nvSpPr>
        <p:spPr bwMode="gray">
          <a:xfrm>
            <a:off x="572655" y="716634"/>
            <a:ext cx="895927" cy="1703294"/>
          </a:xfrm>
          <a:prstGeom prst="halfFram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prstClr val="white"/>
              </a:solidFill>
              <a:effectLst/>
              <a:uLnTx/>
              <a:uFillTx/>
              <a:latin typeface="Verdana"/>
              <a:ea typeface="+mn-ea"/>
              <a:cs typeface="+mn-cs"/>
            </a:endParaRPr>
          </a:p>
        </p:txBody>
      </p:sp>
      <p:sp>
        <p:nvSpPr>
          <p:cNvPr id="9" name="Rectangle 8"/>
          <p:cNvSpPr/>
          <p:nvPr/>
        </p:nvSpPr>
        <p:spPr>
          <a:xfrm>
            <a:off x="895928" y="1000361"/>
            <a:ext cx="8506690"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Key Takeaways of IGEN Access –II  </a:t>
            </a:r>
            <a:r>
              <a:rPr kumimoji="0" lang="en-US" sz="2800" b="1"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Scope of Work | Activities | </a:t>
            </a:r>
            <a:r>
              <a:rPr lang="en-US" sz="2000" dirty="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D</a:t>
            </a:r>
            <a:r>
              <a:rPr lang="en-US" sz="2000"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eliverables</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US" sz="28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7" name="Pentagon 6">
            <a:hlinkClick r:id="rId3"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7706336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Highlights of Proposed GIZ Association</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extLst>
              <p:ext uri="{D42A27DB-BD31-4B8C-83A1-F6EECF244321}">
                <p14:modId xmlns:p14="http://schemas.microsoft.com/office/powerpoint/2010/main" val="840030147"/>
              </p:ext>
            </p:extLst>
          </p:nvPr>
        </p:nvGraphicFramePr>
        <p:xfrm>
          <a:off x="485901" y="632294"/>
          <a:ext cx="5457572" cy="4140005"/>
        </p:xfrm>
        <a:graphic>
          <a:graphicData uri="http://schemas.openxmlformats.org/drawingml/2006/table">
            <a:tbl>
              <a:tblPr firstRow="1" bandRow="1">
                <a:tableStyleId>{0E3FDE45-AF77-4B5C-9715-49D594BDF05E}</a:tableStyleId>
              </a:tblPr>
              <a:tblGrid>
                <a:gridCol w="752484">
                  <a:extLst>
                    <a:ext uri="{9D8B030D-6E8A-4147-A177-3AD203B41FA5}">
                      <a16:colId xmlns:a16="http://schemas.microsoft.com/office/drawing/2014/main" val="85255343"/>
                    </a:ext>
                  </a:extLst>
                </a:gridCol>
                <a:gridCol w="3590936">
                  <a:extLst>
                    <a:ext uri="{9D8B030D-6E8A-4147-A177-3AD203B41FA5}">
                      <a16:colId xmlns:a16="http://schemas.microsoft.com/office/drawing/2014/main" val="3530060803"/>
                    </a:ext>
                  </a:extLst>
                </a:gridCol>
                <a:gridCol w="1114152">
                  <a:extLst>
                    <a:ext uri="{9D8B030D-6E8A-4147-A177-3AD203B41FA5}">
                      <a16:colId xmlns:a16="http://schemas.microsoft.com/office/drawing/2014/main" val="1837474488"/>
                    </a:ext>
                  </a:extLst>
                </a:gridCol>
              </a:tblGrid>
              <a:tr h="258325">
                <a:tc gridSpan="3">
                  <a:txBody>
                    <a:bodyPr/>
                    <a:lstStyle/>
                    <a:p>
                      <a:pPr algn="ctr" fontAlgn="b"/>
                      <a:r>
                        <a:rPr lang="en-US" sz="1200" u="none" strike="noStrike" dirty="0">
                          <a:effectLst/>
                        </a:rPr>
                        <a:t>Proposed Broad Activities under IGEN Access </a:t>
                      </a:r>
                      <a:r>
                        <a:rPr lang="en-US" sz="1200" u="none" strike="noStrike" dirty="0" smtClean="0">
                          <a:effectLst/>
                        </a:rPr>
                        <a:t>II * </a:t>
                      </a:r>
                      <a:endParaRPr lang="en-US" sz="1200" b="0" i="0" u="none" strike="noStrike" dirty="0">
                        <a:solidFill>
                          <a:srgbClr val="000000"/>
                        </a:solidFill>
                        <a:effectLst/>
                        <a:latin typeface="Calibri" panose="020F0502020204030204" pitchFamily="34" charset="0"/>
                      </a:endParaRPr>
                    </a:p>
                  </a:txBody>
                  <a:tcPr marL="7620" marR="7620" marT="7620" marB="0" anchor="ctr">
                    <a:lnB w="12700" cap="flat" cmpd="sng" algn="ctr">
                      <a:solidFill>
                        <a:schemeClr val="tx1"/>
                      </a:solidFill>
                      <a:prstDash val="dot"/>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63470120"/>
                  </a:ext>
                </a:extLst>
              </a:tr>
              <a:tr h="258325">
                <a:tc>
                  <a:txBody>
                    <a:bodyPr/>
                    <a:lstStyle/>
                    <a:p>
                      <a:pPr algn="ctr" fontAlgn="b"/>
                      <a:r>
                        <a:rPr lang="en-IN" sz="1200" b="1" u="none" strike="noStrike" dirty="0">
                          <a:effectLst/>
                        </a:rPr>
                        <a:t>Sr. No.</a:t>
                      </a:r>
                      <a:endParaRPr lang="en-IN" sz="1200" b="1" i="0" u="none" strike="noStrike" dirty="0">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C4D600">
                        <a:alpha val="20000"/>
                      </a:srgbClr>
                    </a:solidFill>
                  </a:tcPr>
                </a:tc>
                <a:tc>
                  <a:txBody>
                    <a:bodyPr/>
                    <a:lstStyle/>
                    <a:p>
                      <a:pPr algn="ctr" fontAlgn="b"/>
                      <a:r>
                        <a:rPr lang="en-IN" sz="1200" b="1" u="none" strike="noStrike" dirty="0">
                          <a:effectLst/>
                        </a:rPr>
                        <a:t>Activity</a:t>
                      </a:r>
                      <a:endParaRPr lang="en-IN" sz="1200" b="1"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C4D600">
                        <a:alpha val="20000"/>
                      </a:srgbClr>
                    </a:solidFill>
                  </a:tcPr>
                </a:tc>
                <a:tc>
                  <a:txBody>
                    <a:bodyPr/>
                    <a:lstStyle/>
                    <a:p>
                      <a:pPr algn="ctr" fontAlgn="b"/>
                      <a:r>
                        <a:rPr lang="en-IN" sz="1200" b="1" u="none" strike="noStrike" dirty="0" smtClean="0">
                          <a:effectLst/>
                        </a:rPr>
                        <a:t>Timeline</a:t>
                      </a:r>
                      <a:r>
                        <a:rPr lang="en-IN" sz="900" b="1" u="none" strike="noStrike" dirty="0" smtClean="0">
                          <a:effectLst/>
                        </a:rPr>
                        <a:t>^</a:t>
                      </a:r>
                      <a:endParaRPr lang="en-IN" sz="900" b="1"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C4D600">
                        <a:alpha val="20000"/>
                      </a:srgbClr>
                    </a:solidFill>
                  </a:tcPr>
                </a:tc>
                <a:extLst>
                  <a:ext uri="{0D108BD9-81ED-4DB2-BD59-A6C34878D82A}">
                    <a16:rowId xmlns:a16="http://schemas.microsoft.com/office/drawing/2014/main" val="3800985016"/>
                  </a:ext>
                </a:extLst>
              </a:tr>
              <a:tr h="258325">
                <a:tc>
                  <a:txBody>
                    <a:bodyPr/>
                    <a:lstStyle/>
                    <a:p>
                      <a:pPr algn="ctr" fontAlgn="b"/>
                      <a:r>
                        <a:rPr lang="en-IN" sz="1200" u="none" strike="noStrike">
                          <a:effectLst/>
                        </a:rPr>
                        <a:t>1</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dirty="0">
                          <a:effectLst/>
                        </a:rPr>
                        <a:t>State level sensitization workshop</a:t>
                      </a:r>
                      <a:endParaRPr lang="en-IN"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0.5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966289385"/>
                  </a:ext>
                </a:extLst>
              </a:tr>
              <a:tr h="258325">
                <a:tc>
                  <a:txBody>
                    <a:bodyPr/>
                    <a:lstStyle/>
                    <a:p>
                      <a:pPr algn="ctr" fontAlgn="b"/>
                      <a:r>
                        <a:rPr lang="en-IN" sz="1200" u="none" strike="noStrike">
                          <a:effectLst/>
                        </a:rPr>
                        <a:t>2</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a:effectLst/>
                        </a:rPr>
                        <a:t>Finalization of inter-departmental PMU</a:t>
                      </a:r>
                      <a:endParaRPr lang="en-IN"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1 Month</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105707642"/>
                  </a:ext>
                </a:extLst>
              </a:tr>
              <a:tr h="507740">
                <a:tc>
                  <a:txBody>
                    <a:bodyPr/>
                    <a:lstStyle/>
                    <a:p>
                      <a:pPr algn="ctr" fontAlgn="b"/>
                      <a:r>
                        <a:rPr lang="en-IN" sz="1200" u="none" strike="noStrike">
                          <a:effectLst/>
                        </a:rPr>
                        <a:t>3</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dirty="0">
                          <a:effectLst/>
                        </a:rPr>
                        <a:t>Capacity building of PMU members on data collection/ analysis/ validation</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1-2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424442965"/>
                  </a:ext>
                </a:extLst>
              </a:tr>
              <a:tr h="258325">
                <a:tc>
                  <a:txBody>
                    <a:bodyPr/>
                    <a:lstStyle/>
                    <a:p>
                      <a:pPr algn="ctr" fontAlgn="b"/>
                      <a:r>
                        <a:rPr lang="en-IN" sz="1200" u="none" strike="noStrike">
                          <a:effectLst/>
                        </a:rPr>
                        <a:t>4</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a:effectLst/>
                        </a:rPr>
                        <a:t>Data Collection &amp; Analysis</a:t>
                      </a:r>
                      <a:endParaRPr lang="en-IN"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3-4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521309"/>
                  </a:ext>
                </a:extLst>
              </a:tr>
              <a:tr h="507740">
                <a:tc>
                  <a:txBody>
                    <a:bodyPr/>
                    <a:lstStyle/>
                    <a:p>
                      <a:pPr algn="ctr" fontAlgn="b"/>
                      <a:r>
                        <a:rPr lang="en-IN" sz="1200" u="none" strike="noStrike">
                          <a:effectLst/>
                        </a:rPr>
                        <a:t>5</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dirty="0">
                          <a:effectLst/>
                        </a:rPr>
                        <a:t>Creating/ validating baseline database &amp; baseline energy scenario</a:t>
                      </a:r>
                      <a:endParaRPr lang="en-IN"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931267954"/>
                  </a:ext>
                </a:extLst>
              </a:tr>
              <a:tr h="258325">
                <a:tc>
                  <a:txBody>
                    <a:bodyPr/>
                    <a:lstStyle/>
                    <a:p>
                      <a:pPr algn="ctr" fontAlgn="b"/>
                      <a:r>
                        <a:rPr lang="en-IN" sz="1200" u="none" strike="noStrike">
                          <a:effectLst/>
                        </a:rPr>
                        <a:t>6</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a:effectLst/>
                        </a:rPr>
                        <a:t>Development of State Energy Vision</a:t>
                      </a:r>
                      <a:endParaRPr lang="en-US"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1-2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653553388"/>
                  </a:ext>
                </a:extLst>
              </a:tr>
              <a:tr h="507740">
                <a:tc>
                  <a:txBody>
                    <a:bodyPr/>
                    <a:lstStyle/>
                    <a:p>
                      <a:pPr algn="ctr" fontAlgn="b"/>
                      <a:r>
                        <a:rPr lang="en-IN" sz="1200" u="none" strike="noStrike">
                          <a:effectLst/>
                        </a:rPr>
                        <a:t>7</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dirty="0">
                          <a:effectLst/>
                        </a:rPr>
                        <a:t>Development of Energy Scenarios to achieve state energy vision</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729951859"/>
                  </a:ext>
                </a:extLst>
              </a:tr>
              <a:tr h="258325">
                <a:tc>
                  <a:txBody>
                    <a:bodyPr/>
                    <a:lstStyle/>
                    <a:p>
                      <a:pPr algn="ctr" fontAlgn="b"/>
                      <a:r>
                        <a:rPr lang="en-IN" sz="1200" u="none" strike="noStrike">
                          <a:effectLst/>
                        </a:rPr>
                        <a:t>8</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dirty="0">
                          <a:effectLst/>
                        </a:rPr>
                        <a:t>Developing Sectoral Energy Action Plan</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2-3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204807136"/>
                  </a:ext>
                </a:extLst>
              </a:tr>
              <a:tr h="404255">
                <a:tc>
                  <a:txBody>
                    <a:bodyPr/>
                    <a:lstStyle/>
                    <a:p>
                      <a:pPr algn="ctr" fontAlgn="b"/>
                      <a:r>
                        <a:rPr lang="en-IN" sz="1200" u="none" strike="noStrike">
                          <a:effectLst/>
                        </a:rPr>
                        <a:t>9</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a:effectLst/>
                        </a:rPr>
                        <a:t>Writing/ Framing the Combined Action Plan</a:t>
                      </a:r>
                      <a:endParaRPr lang="en-US"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019655186"/>
                  </a:ext>
                </a:extLst>
              </a:tr>
              <a:tr h="404255">
                <a:tc>
                  <a:txBody>
                    <a:bodyPr/>
                    <a:lstStyle/>
                    <a:p>
                      <a:pPr algn="ctr" fontAlgn="b"/>
                      <a:r>
                        <a:rPr lang="en-IN" sz="1200" u="none" strike="noStrike">
                          <a:effectLst/>
                        </a:rPr>
                        <a:t>10</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l" fontAlgn="b"/>
                      <a:r>
                        <a:rPr lang="en-US" sz="1200" u="none" strike="noStrike" dirty="0">
                          <a:effectLst/>
                        </a:rPr>
                        <a:t>EAP Website &amp; Decision Support Tool Development </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tcPr>
                </a:tc>
                <a:extLst>
                  <a:ext uri="{0D108BD9-81ED-4DB2-BD59-A6C34878D82A}">
                    <a16:rowId xmlns:a16="http://schemas.microsoft.com/office/drawing/2014/main" val="2216333326"/>
                  </a:ext>
                </a:extLst>
              </a:tr>
            </a:tbl>
          </a:graphicData>
        </a:graphic>
      </p:graphicFrame>
      <p:sp>
        <p:nvSpPr>
          <p:cNvPr id="3" name="Rectangle 2"/>
          <p:cNvSpPr/>
          <p:nvPr/>
        </p:nvSpPr>
        <p:spPr bwMode="gray">
          <a:xfrm>
            <a:off x="6091254" y="1146856"/>
            <a:ext cx="286327" cy="1291544"/>
          </a:xfrm>
          <a:prstGeom prst="rect">
            <a:avLst/>
          </a:prstGeom>
          <a:solidFill>
            <a:schemeClr val="accent6">
              <a:lumMod val="20000"/>
              <a:lumOff val="80000"/>
            </a:schemeClr>
          </a:solidFill>
          <a:ln w="19050" algn="ctr">
            <a:noFill/>
            <a:miter lim="800000"/>
            <a:headEnd/>
            <a:tailEnd/>
          </a:ln>
          <a:effectLst>
            <a:outerShdw blurRad="50800" dist="38100" dir="2700000" algn="tl" rotWithShape="0">
              <a:prstClr val="black">
                <a:alpha val="40000"/>
              </a:prstClr>
            </a:outerShdw>
          </a:effectLst>
        </p:spPr>
        <p:txBody>
          <a:bodyPr vert="vert270" wrap="square" lIns="88900" tIns="88900" rIns="88900" bIns="88900" rtlCol="0" anchor="ctr"/>
          <a:lstStyle/>
          <a:p>
            <a:pPr algn="ctr">
              <a:lnSpc>
                <a:spcPct val="106000"/>
              </a:lnSpc>
              <a:buFont typeface="Wingdings 2" pitchFamily="18" charset="2"/>
              <a:buNone/>
            </a:pPr>
            <a:r>
              <a:rPr lang="en-US" sz="1200" b="1" dirty="0" smtClean="0">
                <a:solidFill>
                  <a:sysClr val="windowText" lastClr="000000"/>
                </a:solidFill>
              </a:rPr>
              <a:t>As-is Study</a:t>
            </a:r>
            <a:endParaRPr lang="en-IN" sz="1200" b="1" dirty="0" smtClean="0">
              <a:solidFill>
                <a:sysClr val="windowText" lastClr="000000"/>
              </a:solidFill>
            </a:endParaRPr>
          </a:p>
        </p:txBody>
      </p:sp>
      <p:sp>
        <p:nvSpPr>
          <p:cNvPr id="13" name="Rectangle 12"/>
          <p:cNvSpPr/>
          <p:nvPr/>
        </p:nvSpPr>
        <p:spPr bwMode="gray">
          <a:xfrm>
            <a:off x="6091254" y="2516777"/>
            <a:ext cx="286327" cy="2315692"/>
          </a:xfrm>
          <a:prstGeom prst="rect">
            <a:avLst/>
          </a:prstGeom>
          <a:solidFill>
            <a:schemeClr val="accent1">
              <a:lumMod val="20000"/>
              <a:lumOff val="80000"/>
            </a:schemeClr>
          </a:solidFill>
          <a:ln w="19050" algn="ctr">
            <a:noFill/>
            <a:miter lim="800000"/>
            <a:headEnd/>
            <a:tailEnd/>
          </a:ln>
          <a:effectLst>
            <a:outerShdw blurRad="50800" dist="38100" dir="2700000" algn="tl" rotWithShape="0">
              <a:prstClr val="black">
                <a:alpha val="40000"/>
              </a:prstClr>
            </a:outerShdw>
          </a:effectLst>
        </p:spPr>
        <p:txBody>
          <a:bodyPr vert="vert270" wrap="square" lIns="88900" tIns="88900" rIns="88900" bIns="88900" rtlCol="0" anchor="ctr"/>
          <a:lstStyle/>
          <a:p>
            <a:pPr algn="ctr">
              <a:lnSpc>
                <a:spcPct val="106000"/>
              </a:lnSpc>
              <a:buFont typeface="Wingdings 2" pitchFamily="18" charset="2"/>
              <a:buNone/>
            </a:pPr>
            <a:r>
              <a:rPr lang="en-US" sz="1200" b="1" dirty="0" smtClean="0">
                <a:solidFill>
                  <a:sysClr val="windowText" lastClr="000000"/>
                </a:solidFill>
              </a:rPr>
              <a:t>Stages of Deliverables</a:t>
            </a:r>
            <a:endParaRPr lang="en-IN" sz="1200" b="1" dirty="0" smtClean="0">
              <a:solidFill>
                <a:sysClr val="windowText" lastClr="000000"/>
              </a:solidFill>
            </a:endParaRPr>
          </a:p>
        </p:txBody>
      </p:sp>
      <p:sp>
        <p:nvSpPr>
          <p:cNvPr id="4" name="TextBox 3"/>
          <p:cNvSpPr txBox="1"/>
          <p:nvPr/>
        </p:nvSpPr>
        <p:spPr>
          <a:xfrm>
            <a:off x="485901" y="4983781"/>
            <a:ext cx="5605353" cy="1338828"/>
          </a:xfrm>
          <a:prstGeom prst="rect">
            <a:avLst/>
          </a:prstGeom>
          <a:noFill/>
        </p:spPr>
        <p:txBody>
          <a:bodyPr wrap="square" lIns="0" tIns="0" rIns="0" bIns="0" rtlCol="0">
            <a:spAutoFit/>
          </a:bodyPr>
          <a:lstStyle/>
          <a:p>
            <a:pPr>
              <a:spcBef>
                <a:spcPts val="600"/>
              </a:spcBef>
              <a:buSzPct val="100000"/>
            </a:pPr>
            <a:r>
              <a:rPr lang="en-US" sz="1200" b="1" i="1" dirty="0" smtClean="0">
                <a:solidFill>
                  <a:srgbClr val="313131"/>
                </a:solidFill>
              </a:rPr>
              <a:t>^ </a:t>
            </a:r>
            <a:r>
              <a:rPr lang="en-US" sz="1200" i="1" dirty="0" smtClean="0">
                <a:solidFill>
                  <a:srgbClr val="313131"/>
                </a:solidFill>
              </a:rPr>
              <a:t>Timelines are tentative and may vary depending upon inter-departmental co-ordination &amp; agreement on intermediate decision points</a:t>
            </a:r>
          </a:p>
          <a:p>
            <a:pPr>
              <a:spcBef>
                <a:spcPts val="600"/>
              </a:spcBef>
              <a:buSzPct val="100000"/>
            </a:pPr>
            <a:r>
              <a:rPr lang="en-US" sz="1200" i="1" dirty="0" smtClean="0">
                <a:solidFill>
                  <a:srgbClr val="313131"/>
                </a:solidFill>
              </a:rPr>
              <a:t> </a:t>
            </a:r>
          </a:p>
          <a:p>
            <a:pPr>
              <a:spcBef>
                <a:spcPts val="600"/>
              </a:spcBef>
              <a:buSzPct val="100000"/>
            </a:pPr>
            <a:r>
              <a:rPr lang="en-US" sz="1200" b="1" i="1" dirty="0" smtClean="0">
                <a:solidFill>
                  <a:srgbClr val="313131"/>
                </a:solidFill>
              </a:rPr>
              <a:t>* Draft </a:t>
            </a:r>
            <a:r>
              <a:rPr lang="en-US" sz="1200" b="1" i="1" dirty="0" err="1" smtClean="0">
                <a:solidFill>
                  <a:srgbClr val="313131"/>
                </a:solidFill>
              </a:rPr>
              <a:t>MoU</a:t>
            </a:r>
            <a:r>
              <a:rPr lang="en-US" sz="1200" b="1" i="1" dirty="0" smtClean="0">
                <a:solidFill>
                  <a:srgbClr val="313131"/>
                </a:solidFill>
              </a:rPr>
              <a:t> (5. Scope of </a:t>
            </a:r>
            <a:r>
              <a:rPr lang="en-US" sz="1200" b="1" i="1" dirty="0" err="1" smtClean="0">
                <a:solidFill>
                  <a:srgbClr val="313131"/>
                </a:solidFill>
              </a:rPr>
              <a:t>MoU</a:t>
            </a:r>
            <a:r>
              <a:rPr lang="en-US" sz="1200" b="1" i="1" dirty="0" smtClean="0">
                <a:solidFill>
                  <a:srgbClr val="313131"/>
                </a:solidFill>
              </a:rPr>
              <a:t>)</a:t>
            </a:r>
          </a:p>
          <a:p>
            <a:pPr>
              <a:spcBef>
                <a:spcPts val="600"/>
              </a:spcBef>
              <a:buSzPct val="100000"/>
            </a:pPr>
            <a:r>
              <a:rPr lang="en-US" sz="1200" i="1" dirty="0" smtClean="0">
                <a:solidFill>
                  <a:srgbClr val="313131"/>
                </a:solidFill>
              </a:rPr>
              <a:t>“detailed list of activities will be separately agreed in writing depending upon the need envisaged at that point in time”</a:t>
            </a:r>
            <a:endParaRPr lang="en-IN" sz="1200" i="1" dirty="0" smtClean="0">
              <a:solidFill>
                <a:srgbClr val="313131"/>
              </a:solidFill>
            </a:endParaRPr>
          </a:p>
        </p:txBody>
      </p:sp>
      <p:sp>
        <p:nvSpPr>
          <p:cNvPr id="27" name="Rounded Rectangle 26"/>
          <p:cNvSpPr/>
          <p:nvPr/>
        </p:nvSpPr>
        <p:spPr bwMode="gray">
          <a:xfrm>
            <a:off x="8534399" y="664484"/>
            <a:ext cx="2777993" cy="240846"/>
          </a:xfrm>
          <a:prstGeom prst="roundRect">
            <a:avLst/>
          </a:prstGeom>
          <a:solidFill>
            <a:schemeClr val="accent1">
              <a:lumMod val="20000"/>
              <a:lumOff val="80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100" b="1" dirty="0" smtClean="0"/>
              <a:t>Steps in Energy-Action Planning</a:t>
            </a:r>
            <a:endParaRPr lang="en-IN" sz="1100" b="1" dirty="0" smtClean="0"/>
          </a:p>
        </p:txBody>
      </p:sp>
      <p:pic>
        <p:nvPicPr>
          <p:cNvPr id="7" name="Picture 6"/>
          <p:cNvPicPr>
            <a:picLocks noChangeAspect="1"/>
          </p:cNvPicPr>
          <p:nvPr/>
        </p:nvPicPr>
        <p:blipFill>
          <a:blip r:embed="rId2"/>
          <a:stretch>
            <a:fillRect/>
          </a:stretch>
        </p:blipFill>
        <p:spPr>
          <a:xfrm>
            <a:off x="7493000" y="994625"/>
            <a:ext cx="3814891" cy="4092354"/>
          </a:xfrm>
          <a:prstGeom prst="rect">
            <a:avLst/>
          </a:prstGeom>
        </p:spPr>
      </p:pic>
      <p:sp>
        <p:nvSpPr>
          <p:cNvPr id="8" name="Rounded Rectangle 7"/>
          <p:cNvSpPr/>
          <p:nvPr/>
        </p:nvSpPr>
        <p:spPr bwMode="gray">
          <a:xfrm>
            <a:off x="6731000" y="5130800"/>
            <a:ext cx="4908549" cy="1217936"/>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marL="285750" indent="-285750" algn="just">
              <a:buFont typeface="Wingdings" panose="05000000000000000000" pitchFamily="2" charset="2"/>
              <a:buChar char="§"/>
            </a:pPr>
            <a:r>
              <a:rPr lang="en-US" sz="1200" dirty="0">
                <a:cs typeface="Times New Roman" pitchFamily="18" charset="0"/>
              </a:rPr>
              <a:t>Prominent role for Department of Energy in partnering and anchoring State-level formation of long-term energy plan </a:t>
            </a:r>
            <a:endParaRPr lang="en-US" sz="1200" dirty="0" smtClean="0">
              <a:cs typeface="Times New Roman" pitchFamily="18" charset="0"/>
            </a:endParaRPr>
          </a:p>
          <a:p>
            <a:pPr marL="285750" indent="-285750" algn="just">
              <a:buFont typeface="Wingdings" panose="05000000000000000000" pitchFamily="2" charset="2"/>
              <a:buChar char="§"/>
            </a:pPr>
            <a:r>
              <a:rPr lang="en-US" sz="1200" dirty="0">
                <a:cs typeface="Times New Roman" pitchFamily="18" charset="0"/>
              </a:rPr>
              <a:t>Formation of required governance mechanism as recommended in Energy Policy (Draft) 2018, for implementing various </a:t>
            </a:r>
            <a:r>
              <a:rPr lang="en-US" sz="1200" dirty="0" smtClean="0">
                <a:cs typeface="Times New Roman" pitchFamily="18" charset="0"/>
              </a:rPr>
              <a:t>plans</a:t>
            </a:r>
            <a:endParaRPr lang="en-US" sz="1200" dirty="0"/>
          </a:p>
        </p:txBody>
      </p:sp>
      <p:sp>
        <p:nvSpPr>
          <p:cNvPr id="11" name="Pentagon 10">
            <a:hlinkClick r:id="rId3"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28990761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Stages of Collaboration</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606F7A72-DDC9-4DD1-A409-1A01C743CD2A}"/>
              </a:ext>
            </a:extLst>
          </p:cNvPr>
          <p:cNvGrpSpPr/>
          <p:nvPr/>
        </p:nvGrpSpPr>
        <p:grpSpPr>
          <a:xfrm>
            <a:off x="544961" y="699405"/>
            <a:ext cx="10798415" cy="3672296"/>
            <a:chOff x="1917700" y="1840230"/>
            <a:chExt cx="8326912" cy="3639089"/>
          </a:xfrm>
        </p:grpSpPr>
        <p:sp>
          <p:nvSpPr>
            <p:cNvPr id="62" name="Rectangle 61"/>
            <p:cNvSpPr/>
            <p:nvPr/>
          </p:nvSpPr>
          <p:spPr>
            <a:xfrm>
              <a:off x="3017446" y="3925028"/>
              <a:ext cx="1645920" cy="1412992"/>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dirty="0" smtClean="0">
                  <a:latin typeface="+mj-lt"/>
                </a:rPr>
                <a:t>Preparation of State Energy Balance Sheet </a:t>
              </a:r>
              <a:r>
                <a:rPr kumimoji="0" lang="en-US" sz="1000" b="1" i="0" u="none" strike="noStrike" kern="0" cap="none" spc="0" normalizeH="0" baseline="0" noProof="0" dirty="0" smtClean="0">
                  <a:ln>
                    <a:noFill/>
                  </a:ln>
                  <a:effectLst/>
                  <a:uLnTx/>
                  <a:uFillTx/>
                  <a:latin typeface="+mj-lt"/>
                </a:rPr>
                <a:t> </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dirty="0" smtClean="0">
                  <a:latin typeface="+mj-lt"/>
                </a:rPr>
                <a:t>Familiarization of Data Collection Model</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dirty="0" smtClean="0">
                  <a:latin typeface="+mj-lt"/>
                </a:rPr>
                <a:t>Departmental interaction for collection of required datasets</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000" b="0" i="0" u="none" strike="noStrike" kern="0" cap="none" spc="0" normalizeH="0" baseline="0" noProof="0" dirty="0" smtClean="0">
                  <a:ln>
                    <a:noFill/>
                  </a:ln>
                  <a:effectLst/>
                  <a:uLnTx/>
                  <a:uFillTx/>
                  <a:latin typeface="+mj-lt"/>
                </a:rPr>
                <a:t>Activating</a:t>
              </a:r>
              <a:r>
                <a:rPr kumimoji="0" lang="en-US" sz="1000" b="0" i="0" u="none" strike="noStrike" kern="0" cap="none" spc="0" normalizeH="0" noProof="0" dirty="0" smtClean="0">
                  <a:ln>
                    <a:noFill/>
                  </a:ln>
                  <a:effectLst/>
                  <a:uLnTx/>
                  <a:uFillTx/>
                  <a:latin typeface="+mj-lt"/>
                </a:rPr>
                <a:t> feedback mechanism on need basis </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baseline="0" dirty="0" smtClean="0">
                  <a:latin typeface="+mj-lt"/>
                </a:rPr>
                <a:t>Preparation</a:t>
              </a:r>
              <a:r>
                <a:rPr lang="en-US" sz="1000" kern="0" dirty="0" smtClean="0">
                  <a:latin typeface="+mj-lt"/>
                </a:rPr>
                <a:t> of Energy Balance Sheet</a:t>
              </a:r>
              <a:endParaRPr kumimoji="0" lang="en-US" sz="1000" b="0" i="0" u="none" strike="noStrike" kern="0" cap="none" spc="0" normalizeH="0" baseline="0" noProof="0" dirty="0" smtClean="0">
                <a:ln>
                  <a:noFill/>
                </a:ln>
                <a:effectLst/>
                <a:uLnTx/>
                <a:uFillTx/>
                <a:latin typeface="+mj-lt"/>
              </a:endParaRPr>
            </a:p>
          </p:txBody>
        </p:sp>
        <p:sp>
          <p:nvSpPr>
            <p:cNvPr id="63" name="TextBox 62"/>
            <p:cNvSpPr txBox="1"/>
            <p:nvPr/>
          </p:nvSpPr>
          <p:spPr>
            <a:xfrm>
              <a:off x="3429869" y="3261106"/>
              <a:ext cx="385737" cy="631952"/>
            </a:xfrm>
            <a:prstGeom prst="rect">
              <a:avLst/>
            </a:prstGeom>
            <a:noFill/>
          </p:spPr>
          <p:txBody>
            <a:bodyPr wrap="square" lIns="36000" tIns="36000" rIns="36000" bIns="3600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smtClean="0">
                  <a:ln>
                    <a:noFill/>
                  </a:ln>
                  <a:solidFill>
                    <a:srgbClr val="046A38"/>
                  </a:solidFill>
                  <a:effectLst/>
                  <a:uLnTx/>
                  <a:uFillTx/>
                  <a:latin typeface="+mj-lt"/>
                </a:rPr>
                <a:t>1</a:t>
              </a:r>
            </a:p>
          </p:txBody>
        </p:sp>
        <p:sp>
          <p:nvSpPr>
            <p:cNvPr id="64" name="Rectangle 63"/>
            <p:cNvSpPr/>
            <p:nvPr/>
          </p:nvSpPr>
          <p:spPr>
            <a:xfrm>
              <a:off x="5805547" y="3925028"/>
              <a:ext cx="1645920" cy="1554291"/>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dirty="0" smtClean="0">
                  <a:latin typeface="+mj-lt"/>
                </a:rPr>
                <a:t>Assessing Sectoral Energy Requirement </a:t>
              </a:r>
              <a:r>
                <a:rPr kumimoji="0" lang="en-US" sz="1000" b="1" i="0" u="none" strike="noStrike" kern="0" cap="none" spc="0" normalizeH="0" baseline="0" noProof="0" dirty="0" smtClean="0">
                  <a:ln>
                    <a:noFill/>
                  </a:ln>
                  <a:effectLst/>
                  <a:uLnTx/>
                  <a:uFillTx/>
                  <a:latin typeface="+mj-lt"/>
                </a:rPr>
                <a:t> </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noProof="0" dirty="0" smtClean="0">
                  <a:latin typeface="+mj-lt"/>
                </a:rPr>
                <a:t>Framing energy</a:t>
              </a:r>
              <a:r>
                <a:rPr lang="en-US" sz="1000" kern="0" dirty="0" smtClean="0">
                  <a:latin typeface="+mj-lt"/>
                </a:rPr>
                <a:t> requirement scenarios for participating departments</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dirty="0" smtClean="0">
                  <a:latin typeface="+mj-lt"/>
                </a:rPr>
                <a:t>Creation of models for business as usual vis-à-vis aspirational levels</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dirty="0" smtClean="0">
                  <a:latin typeface="+mj-lt"/>
                </a:rPr>
                <a:t>Opening-up inter-departmental dialogues inline with State energy vision </a:t>
              </a:r>
              <a:endParaRPr kumimoji="0" lang="en-US" sz="1000" b="0" i="0" u="none" strike="noStrike" kern="0" cap="none" spc="0" normalizeH="0" baseline="0" noProof="0" dirty="0" smtClean="0">
                <a:ln>
                  <a:noFill/>
                </a:ln>
                <a:effectLst/>
                <a:uLnTx/>
                <a:uFillTx/>
                <a:latin typeface="+mj-lt"/>
              </a:endParaRPr>
            </a:p>
          </p:txBody>
        </p:sp>
        <p:sp>
          <p:nvSpPr>
            <p:cNvPr id="65" name="Rectangle 64"/>
            <p:cNvSpPr/>
            <p:nvPr/>
          </p:nvSpPr>
          <p:spPr>
            <a:xfrm>
              <a:off x="8598692" y="3925028"/>
              <a:ext cx="1645920" cy="1271693"/>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dirty="0" smtClean="0">
                  <a:latin typeface="+mj-lt"/>
                </a:rPr>
                <a:t>Preparation of Energy Action Plan &amp; Decision Support Tool</a:t>
              </a:r>
              <a:endParaRPr kumimoji="0" lang="en-US" sz="1000" b="1" i="0" u="none" strike="noStrike" kern="0" cap="none" spc="0" normalizeH="0" baseline="0" noProof="0" dirty="0" smtClean="0">
                <a:ln>
                  <a:noFill/>
                </a:ln>
                <a:effectLst/>
                <a:uLnTx/>
                <a:uFillTx/>
                <a:latin typeface="+mj-lt"/>
              </a:endParaRP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dirty="0" smtClean="0">
                  <a:latin typeface="+mj-lt"/>
                </a:rPr>
                <a:t>Formation on energy usage related ideas as applicable for State of Jharkhand</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000" kern="0" dirty="0" smtClean="0">
                  <a:latin typeface="+mj-lt"/>
                </a:rPr>
                <a:t>Penning down action plan inline with State Vision</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000" b="0" i="0" u="none" strike="noStrike" kern="0" cap="none" spc="0" normalizeH="0" baseline="0" noProof="0" dirty="0" smtClean="0">
                  <a:ln>
                    <a:noFill/>
                  </a:ln>
                  <a:effectLst/>
                  <a:uLnTx/>
                  <a:uFillTx/>
                  <a:latin typeface="+mj-lt"/>
                </a:rPr>
                <a:t>Unveiling</a:t>
              </a:r>
              <a:r>
                <a:rPr kumimoji="0" lang="en-US" sz="1000" b="0" i="0" u="none" strike="noStrike" kern="0" cap="none" spc="0" normalizeH="0" noProof="0" dirty="0" smtClean="0">
                  <a:ln>
                    <a:noFill/>
                  </a:ln>
                  <a:effectLst/>
                  <a:uLnTx/>
                  <a:uFillTx/>
                  <a:latin typeface="+mj-lt"/>
                </a:rPr>
                <a:t> customized decision support tool to train scenarios</a:t>
              </a:r>
              <a:endParaRPr kumimoji="0" lang="en-US" sz="1000" b="0" i="0" u="none" strike="noStrike" kern="0" cap="none" spc="0" normalizeH="0" baseline="0" noProof="0" dirty="0" smtClean="0">
                <a:ln>
                  <a:noFill/>
                </a:ln>
                <a:effectLst/>
                <a:uLnTx/>
                <a:uFillTx/>
                <a:latin typeface="+mj-lt"/>
              </a:endParaRPr>
            </a:p>
          </p:txBody>
        </p:sp>
        <p:sp>
          <p:nvSpPr>
            <p:cNvPr id="66" name="TextBox 65"/>
            <p:cNvSpPr txBox="1"/>
            <p:nvPr/>
          </p:nvSpPr>
          <p:spPr>
            <a:xfrm>
              <a:off x="6238264" y="3261106"/>
              <a:ext cx="385737" cy="631952"/>
            </a:xfrm>
            <a:prstGeom prst="rect">
              <a:avLst/>
            </a:prstGeom>
            <a:noFill/>
          </p:spPr>
          <p:txBody>
            <a:bodyPr wrap="square" lIns="36000" tIns="36000" rIns="36000" bIns="3600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smtClean="0">
                  <a:ln>
                    <a:noFill/>
                  </a:ln>
                  <a:solidFill>
                    <a:srgbClr val="43B02A"/>
                  </a:solidFill>
                  <a:effectLst/>
                  <a:uLnTx/>
                  <a:uFillTx/>
                  <a:latin typeface="+mj-lt"/>
                </a:rPr>
                <a:t>2</a:t>
              </a:r>
            </a:p>
          </p:txBody>
        </p:sp>
        <p:sp>
          <p:nvSpPr>
            <p:cNvPr id="67" name="TextBox 66"/>
            <p:cNvSpPr txBox="1"/>
            <p:nvPr/>
          </p:nvSpPr>
          <p:spPr>
            <a:xfrm>
              <a:off x="9024908" y="3261106"/>
              <a:ext cx="385737" cy="631952"/>
            </a:xfrm>
            <a:prstGeom prst="rect">
              <a:avLst/>
            </a:prstGeom>
            <a:noFill/>
          </p:spPr>
          <p:txBody>
            <a:bodyPr wrap="square" lIns="36000" tIns="36000" rIns="36000" bIns="3600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smtClean="0">
                  <a:ln>
                    <a:noFill/>
                  </a:ln>
                  <a:solidFill>
                    <a:srgbClr val="0D8390"/>
                  </a:solidFill>
                  <a:effectLst/>
                  <a:uLnTx/>
                  <a:uFillTx/>
                  <a:latin typeface="+mj-lt"/>
                </a:rPr>
                <a:t>3</a:t>
              </a:r>
            </a:p>
          </p:txBody>
        </p:sp>
        <p:sp>
          <p:nvSpPr>
            <p:cNvPr id="68" name="Diagonal Stripe 67"/>
            <p:cNvSpPr/>
            <p:nvPr/>
          </p:nvSpPr>
          <p:spPr>
            <a:xfrm>
              <a:off x="1917700" y="3420074"/>
              <a:ext cx="1512168" cy="1512168"/>
            </a:xfrm>
            <a:prstGeom prst="diagStripe">
              <a:avLst/>
            </a:prstGeom>
            <a:solidFill>
              <a:srgbClr val="26890D"/>
            </a:solidFill>
            <a:ln w="12700" cap="flat" cmpd="sng" algn="ctr">
              <a:noFill/>
              <a:prstDash val="solid"/>
            </a:ln>
            <a:effectLst/>
          </p:spPr>
          <p:txBody>
            <a:bodyPr lIns="91440" tIns="91440" rIns="91440" bIns="9144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smtClean="0">
                <a:ln>
                  <a:noFill/>
                </a:ln>
                <a:solidFill>
                  <a:srgbClr val="53565A"/>
                </a:solidFill>
                <a:effectLst/>
                <a:uLnTx/>
                <a:uFillTx/>
                <a:latin typeface="Calibri"/>
                <a:ea typeface="+mn-ea"/>
                <a:cs typeface="+mn-cs"/>
              </a:endParaRPr>
            </a:p>
          </p:txBody>
        </p:sp>
        <p:sp>
          <p:nvSpPr>
            <p:cNvPr id="69" name="Diagonal Stripe 68"/>
            <p:cNvSpPr/>
            <p:nvPr/>
          </p:nvSpPr>
          <p:spPr>
            <a:xfrm flipV="1">
              <a:off x="1917700" y="1840230"/>
              <a:ext cx="1512168" cy="1512168"/>
            </a:xfrm>
            <a:prstGeom prst="diagStripe">
              <a:avLst/>
            </a:prstGeom>
            <a:solidFill>
              <a:srgbClr val="046A38"/>
            </a:solidFill>
            <a:ln w="12700" cap="flat" cmpd="sng" algn="ctr">
              <a:noFill/>
              <a:prstDash val="solid"/>
            </a:ln>
            <a:effectLst/>
          </p:spPr>
          <p:txBody>
            <a:bodyPr lIns="91440" tIns="91440" rIns="91440" bIns="9144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smtClean="0">
                <a:ln>
                  <a:noFill/>
                </a:ln>
                <a:solidFill>
                  <a:srgbClr val="53565A"/>
                </a:solidFill>
                <a:effectLst/>
                <a:uLnTx/>
                <a:uFillTx/>
                <a:latin typeface="Calibri"/>
                <a:ea typeface="+mn-ea"/>
                <a:cs typeface="+mn-cs"/>
              </a:endParaRPr>
            </a:p>
          </p:txBody>
        </p:sp>
        <p:sp>
          <p:nvSpPr>
            <p:cNvPr id="70" name="Diagonal Stripe 69"/>
            <p:cNvSpPr/>
            <p:nvPr/>
          </p:nvSpPr>
          <p:spPr>
            <a:xfrm>
              <a:off x="7502482" y="3420074"/>
              <a:ext cx="1512168" cy="1512168"/>
            </a:xfrm>
            <a:prstGeom prst="diagStripe">
              <a:avLst/>
            </a:prstGeom>
            <a:solidFill>
              <a:srgbClr val="007CB0"/>
            </a:solidFill>
            <a:ln w="12700" cap="flat" cmpd="sng" algn="ctr">
              <a:noFill/>
              <a:prstDash val="solid"/>
            </a:ln>
            <a:effectLst/>
          </p:spPr>
          <p:txBody>
            <a:bodyPr lIns="91440" tIns="91440" rIns="91440" bIns="9144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smtClean="0">
                <a:ln>
                  <a:noFill/>
                </a:ln>
                <a:solidFill>
                  <a:srgbClr val="53565A"/>
                </a:solidFill>
                <a:effectLst/>
                <a:uLnTx/>
                <a:uFillTx/>
                <a:latin typeface="Calibri"/>
                <a:ea typeface="+mn-ea"/>
                <a:cs typeface="+mn-cs"/>
              </a:endParaRPr>
            </a:p>
          </p:txBody>
        </p:sp>
        <p:sp>
          <p:nvSpPr>
            <p:cNvPr id="71" name="Diagonal Stripe 70"/>
            <p:cNvSpPr/>
            <p:nvPr/>
          </p:nvSpPr>
          <p:spPr>
            <a:xfrm flipV="1">
              <a:off x="7502482" y="1840230"/>
              <a:ext cx="1512168" cy="1512168"/>
            </a:xfrm>
            <a:prstGeom prst="diagStripe">
              <a:avLst/>
            </a:prstGeom>
            <a:solidFill>
              <a:srgbClr val="0D8390"/>
            </a:solidFill>
            <a:ln w="12700" cap="flat" cmpd="sng" algn="ctr">
              <a:noFill/>
              <a:prstDash val="solid"/>
            </a:ln>
            <a:effectLst/>
          </p:spPr>
          <p:txBody>
            <a:bodyPr lIns="91440" tIns="91440" rIns="91440" bIns="9144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smtClean="0">
                <a:ln>
                  <a:noFill/>
                </a:ln>
                <a:solidFill>
                  <a:srgbClr val="53565A"/>
                </a:solidFill>
                <a:effectLst/>
                <a:uLnTx/>
                <a:uFillTx/>
                <a:latin typeface="Calibri"/>
                <a:ea typeface="+mn-ea"/>
                <a:cs typeface="+mn-cs"/>
              </a:endParaRPr>
            </a:p>
          </p:txBody>
        </p:sp>
        <p:sp>
          <p:nvSpPr>
            <p:cNvPr id="72" name="Diagonal Stripe 71"/>
            <p:cNvSpPr/>
            <p:nvPr/>
          </p:nvSpPr>
          <p:spPr>
            <a:xfrm>
              <a:off x="4710091" y="3420074"/>
              <a:ext cx="1512168" cy="1512168"/>
            </a:xfrm>
            <a:prstGeom prst="diagStripe">
              <a:avLst/>
            </a:prstGeom>
            <a:solidFill>
              <a:srgbClr val="86BC25"/>
            </a:solidFill>
            <a:ln w="12700" cap="flat" cmpd="sng" algn="ctr">
              <a:noFill/>
              <a:prstDash val="solid"/>
            </a:ln>
            <a:effectLst/>
          </p:spPr>
          <p:txBody>
            <a:bodyPr lIns="91440" tIns="91440" rIns="91440" bIns="9144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smtClean="0">
                <a:ln>
                  <a:noFill/>
                </a:ln>
                <a:solidFill>
                  <a:srgbClr val="53565A"/>
                </a:solidFill>
                <a:effectLst/>
                <a:uLnTx/>
                <a:uFillTx/>
                <a:latin typeface="Calibri"/>
                <a:ea typeface="+mn-ea"/>
                <a:cs typeface="+mn-cs"/>
              </a:endParaRPr>
            </a:p>
          </p:txBody>
        </p:sp>
        <p:sp>
          <p:nvSpPr>
            <p:cNvPr id="73" name="Diagonal Stripe 72"/>
            <p:cNvSpPr/>
            <p:nvPr/>
          </p:nvSpPr>
          <p:spPr>
            <a:xfrm flipV="1">
              <a:off x="4710091" y="1840230"/>
              <a:ext cx="1512168" cy="1512168"/>
            </a:xfrm>
            <a:prstGeom prst="diagStripe">
              <a:avLst/>
            </a:prstGeom>
            <a:solidFill>
              <a:srgbClr val="43B02A"/>
            </a:solidFill>
            <a:ln w="12700" cap="flat" cmpd="sng" algn="ctr">
              <a:noFill/>
              <a:prstDash val="solid"/>
            </a:ln>
            <a:effectLst/>
          </p:spPr>
          <p:txBody>
            <a:bodyPr lIns="91440" tIns="91440" rIns="91440" bIns="9144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smtClean="0">
                <a:ln>
                  <a:noFill/>
                </a:ln>
                <a:solidFill>
                  <a:srgbClr val="53565A"/>
                </a:solidFill>
                <a:effectLst/>
                <a:uLnTx/>
                <a:uFillTx/>
                <a:latin typeface="Calibri"/>
                <a:ea typeface="+mn-ea"/>
                <a:cs typeface="+mn-cs"/>
              </a:endParaRPr>
            </a:p>
          </p:txBody>
        </p:sp>
      </p:grpSp>
      <p:sp>
        <p:nvSpPr>
          <p:cNvPr id="83" name="Rounded Rectangle 82"/>
          <p:cNvSpPr/>
          <p:nvPr/>
        </p:nvSpPr>
        <p:spPr bwMode="gray">
          <a:xfrm>
            <a:off x="407520" y="4582351"/>
            <a:ext cx="10935856" cy="1811437"/>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nSpc>
                <a:spcPct val="106000"/>
              </a:lnSpc>
            </a:pPr>
            <a:r>
              <a:rPr lang="en-US" sz="1300" b="1" dirty="0" smtClean="0"/>
              <a:t>Broad Objectives of IGEN Access II</a:t>
            </a:r>
          </a:p>
          <a:p>
            <a:pPr>
              <a:lnSpc>
                <a:spcPct val="106000"/>
              </a:lnSpc>
            </a:pPr>
            <a:r>
              <a:rPr lang="en-US" sz="1300" b="1" dirty="0" smtClean="0"/>
              <a:t> </a:t>
            </a:r>
          </a:p>
          <a:p>
            <a:pPr marL="285750" indent="-285750">
              <a:lnSpc>
                <a:spcPct val="106000"/>
              </a:lnSpc>
              <a:buFont typeface="Wingdings" panose="05000000000000000000" pitchFamily="2" charset="2"/>
              <a:buChar char="§"/>
            </a:pPr>
            <a:r>
              <a:rPr lang="en-US" sz="1300" dirty="0" smtClean="0"/>
              <a:t>The program is an </a:t>
            </a:r>
            <a:r>
              <a:rPr lang="en-US" sz="1300" b="1" i="1" dirty="0" smtClean="0"/>
              <a:t>independent assessment </a:t>
            </a:r>
            <a:r>
              <a:rPr lang="en-US" sz="1300" dirty="0" smtClean="0"/>
              <a:t>by the State for understanding energy-sustainable potential of itself</a:t>
            </a:r>
          </a:p>
          <a:p>
            <a:pPr marL="285750" indent="-285750">
              <a:lnSpc>
                <a:spcPct val="106000"/>
              </a:lnSpc>
              <a:buFont typeface="Wingdings" panose="05000000000000000000" pitchFamily="2" charset="2"/>
              <a:buChar char="§"/>
            </a:pPr>
            <a:r>
              <a:rPr lang="en-US" sz="1300" dirty="0" smtClean="0"/>
              <a:t>While the working models are broadly inline with national aspirations (increasing renewable share, E-mobility etc.), the </a:t>
            </a:r>
            <a:r>
              <a:rPr lang="en-US" sz="1300" b="1" i="1" dirty="0" smtClean="0"/>
              <a:t>decision-support model works on scenarios as applicable to that particular State</a:t>
            </a:r>
            <a:r>
              <a:rPr lang="en-US" sz="1300" dirty="0" smtClean="0"/>
              <a:t>, keeping in mind macro-economic guidelines as applicable </a:t>
            </a:r>
          </a:p>
          <a:p>
            <a:pPr marL="285750" indent="-285750">
              <a:lnSpc>
                <a:spcPct val="106000"/>
              </a:lnSpc>
              <a:buFont typeface="Wingdings" panose="05000000000000000000" pitchFamily="2" charset="2"/>
              <a:buChar char="§"/>
            </a:pPr>
            <a:r>
              <a:rPr lang="en-US" sz="1300" dirty="0" smtClean="0"/>
              <a:t>Energy Action Plan (EAP) is a planning process which creates a </a:t>
            </a:r>
            <a:r>
              <a:rPr lang="en-US" sz="1300" b="1" i="1" dirty="0" smtClean="0"/>
              <a:t>cohesion amongst participating departments</a:t>
            </a:r>
            <a:r>
              <a:rPr lang="en-US" sz="1300" dirty="0" smtClean="0"/>
              <a:t>, cutting-across their individual energy usage aspirations and plugging it to State’s economic propositions for a decade-long period  </a:t>
            </a:r>
          </a:p>
        </p:txBody>
      </p:sp>
      <p:grpSp>
        <p:nvGrpSpPr>
          <p:cNvPr id="84" name="Group 454">
            <a:extLst>
              <a:ext uri="{FF2B5EF4-FFF2-40B4-BE49-F238E27FC236}">
                <a16:creationId xmlns:a16="http://schemas.microsoft.com/office/drawing/2014/main" id="{0907E149-3832-4143-8410-03CB4AB81256}"/>
              </a:ext>
            </a:extLst>
          </p:cNvPr>
          <p:cNvGrpSpPr>
            <a:grpSpLocks noChangeAspect="1"/>
          </p:cNvGrpSpPr>
          <p:nvPr/>
        </p:nvGrpSpPr>
        <p:grpSpPr bwMode="auto">
          <a:xfrm>
            <a:off x="561789" y="1941411"/>
            <a:ext cx="567922" cy="567922"/>
            <a:chOff x="1912" y="1576"/>
            <a:chExt cx="340" cy="340"/>
          </a:xfrm>
          <a:solidFill>
            <a:schemeClr val="accent5"/>
          </a:solidFill>
        </p:grpSpPr>
        <p:sp>
          <p:nvSpPr>
            <p:cNvPr id="85" name="Freeform 455">
              <a:extLst>
                <a:ext uri="{FF2B5EF4-FFF2-40B4-BE49-F238E27FC236}">
                  <a16:creationId xmlns:a16="http://schemas.microsoft.com/office/drawing/2014/main" id="{A1269A2B-FDE2-4197-A3C6-4200B6CA449D}"/>
                </a:ext>
              </a:extLst>
            </p:cNvPr>
            <p:cNvSpPr>
              <a:spLocks noEditPoints="1"/>
            </p:cNvSpPr>
            <p:nvPr/>
          </p:nvSpPr>
          <p:spPr bwMode="auto">
            <a:xfrm>
              <a:off x="2004" y="1653"/>
              <a:ext cx="171" cy="170"/>
            </a:xfrm>
            <a:custGeom>
              <a:avLst/>
              <a:gdLst>
                <a:gd name="T0" fmla="*/ 253 w 258"/>
                <a:gd name="T1" fmla="*/ 49 h 256"/>
                <a:gd name="T2" fmla="*/ 238 w 258"/>
                <a:gd name="T3" fmla="*/ 49 h 256"/>
                <a:gd name="T4" fmla="*/ 193 w 258"/>
                <a:gd name="T5" fmla="*/ 94 h 256"/>
                <a:gd name="T6" fmla="*/ 163 w 258"/>
                <a:gd name="T7" fmla="*/ 64 h 256"/>
                <a:gd name="T8" fmla="*/ 208 w 258"/>
                <a:gd name="T9" fmla="*/ 19 h 256"/>
                <a:gd name="T10" fmla="*/ 208 w 258"/>
                <a:gd name="T11" fmla="*/ 4 h 256"/>
                <a:gd name="T12" fmla="*/ 193 w 258"/>
                <a:gd name="T13" fmla="*/ 4 h 256"/>
                <a:gd name="T14" fmla="*/ 148 w 258"/>
                <a:gd name="T15" fmla="*/ 49 h 256"/>
                <a:gd name="T16" fmla="*/ 133 w 258"/>
                <a:gd name="T17" fmla="*/ 34 h 256"/>
                <a:gd name="T18" fmla="*/ 125 w 258"/>
                <a:gd name="T19" fmla="*/ 27 h 256"/>
                <a:gd name="T20" fmla="*/ 110 w 258"/>
                <a:gd name="T21" fmla="*/ 27 h 256"/>
                <a:gd name="T22" fmla="*/ 110 w 258"/>
                <a:gd name="T23" fmla="*/ 42 h 256"/>
                <a:gd name="T24" fmla="*/ 72 w 258"/>
                <a:gd name="T25" fmla="*/ 79 h 256"/>
                <a:gd name="T26" fmla="*/ 51 w 258"/>
                <a:gd name="T27" fmla="*/ 132 h 256"/>
                <a:gd name="T28" fmla="*/ 65 w 258"/>
                <a:gd name="T29" fmla="*/ 177 h 256"/>
                <a:gd name="T30" fmla="*/ 5 w 258"/>
                <a:gd name="T31" fmla="*/ 238 h 256"/>
                <a:gd name="T32" fmla="*/ 5 w 258"/>
                <a:gd name="T33" fmla="*/ 253 h 256"/>
                <a:gd name="T34" fmla="*/ 12 w 258"/>
                <a:gd name="T35" fmla="*/ 256 h 256"/>
                <a:gd name="T36" fmla="*/ 20 w 258"/>
                <a:gd name="T37" fmla="*/ 253 h 256"/>
                <a:gd name="T38" fmla="*/ 81 w 258"/>
                <a:gd name="T39" fmla="*/ 192 h 256"/>
                <a:gd name="T40" fmla="*/ 125 w 258"/>
                <a:gd name="T41" fmla="*/ 207 h 256"/>
                <a:gd name="T42" fmla="*/ 178 w 258"/>
                <a:gd name="T43" fmla="*/ 185 h 256"/>
                <a:gd name="T44" fmla="*/ 216 w 258"/>
                <a:gd name="T45" fmla="*/ 147 h 256"/>
                <a:gd name="T46" fmla="*/ 216 w 258"/>
                <a:gd name="T47" fmla="*/ 147 h 256"/>
                <a:gd name="T48" fmla="*/ 223 w 258"/>
                <a:gd name="T49" fmla="*/ 150 h 256"/>
                <a:gd name="T50" fmla="*/ 231 w 258"/>
                <a:gd name="T51" fmla="*/ 147 h 256"/>
                <a:gd name="T52" fmla="*/ 231 w 258"/>
                <a:gd name="T53" fmla="*/ 132 h 256"/>
                <a:gd name="T54" fmla="*/ 223 w 258"/>
                <a:gd name="T55" fmla="*/ 125 h 256"/>
                <a:gd name="T56" fmla="*/ 208 w 258"/>
                <a:gd name="T57" fmla="*/ 109 h 256"/>
                <a:gd name="T58" fmla="*/ 253 w 258"/>
                <a:gd name="T59" fmla="*/ 64 h 256"/>
                <a:gd name="T60" fmla="*/ 253 w 258"/>
                <a:gd name="T61" fmla="*/ 49 h 256"/>
                <a:gd name="T62" fmla="*/ 163 w 258"/>
                <a:gd name="T63" fmla="*/ 170 h 256"/>
                <a:gd name="T64" fmla="*/ 125 w 258"/>
                <a:gd name="T65" fmla="*/ 185 h 256"/>
                <a:gd name="T66" fmla="*/ 87 w 258"/>
                <a:gd name="T67" fmla="*/ 170 h 256"/>
                <a:gd name="T68" fmla="*/ 72 w 258"/>
                <a:gd name="T69" fmla="*/ 132 h 256"/>
                <a:gd name="T70" fmla="*/ 87 w 258"/>
                <a:gd name="T71" fmla="*/ 94 h 256"/>
                <a:gd name="T72" fmla="*/ 125 w 258"/>
                <a:gd name="T73" fmla="*/ 57 h 256"/>
                <a:gd name="T74" fmla="*/ 201 w 258"/>
                <a:gd name="T75" fmla="*/ 132 h 256"/>
                <a:gd name="T76" fmla="*/ 163 w 258"/>
                <a:gd name="T77" fmla="*/ 17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8" h="256">
                  <a:moveTo>
                    <a:pt x="253" y="49"/>
                  </a:moveTo>
                  <a:cubicBezTo>
                    <a:pt x="249" y="45"/>
                    <a:pt x="243" y="45"/>
                    <a:pt x="238" y="49"/>
                  </a:cubicBezTo>
                  <a:cubicBezTo>
                    <a:pt x="193" y="94"/>
                    <a:pt x="193" y="94"/>
                    <a:pt x="193" y="94"/>
                  </a:cubicBezTo>
                  <a:cubicBezTo>
                    <a:pt x="163" y="64"/>
                    <a:pt x="163" y="64"/>
                    <a:pt x="163" y="64"/>
                  </a:cubicBezTo>
                  <a:cubicBezTo>
                    <a:pt x="208" y="19"/>
                    <a:pt x="208" y="19"/>
                    <a:pt x="208" y="19"/>
                  </a:cubicBezTo>
                  <a:cubicBezTo>
                    <a:pt x="212" y="15"/>
                    <a:pt x="212" y="8"/>
                    <a:pt x="208" y="4"/>
                  </a:cubicBezTo>
                  <a:cubicBezTo>
                    <a:pt x="204" y="0"/>
                    <a:pt x="197" y="0"/>
                    <a:pt x="193" y="4"/>
                  </a:cubicBezTo>
                  <a:cubicBezTo>
                    <a:pt x="148" y="49"/>
                    <a:pt x="148" y="49"/>
                    <a:pt x="148" y="49"/>
                  </a:cubicBezTo>
                  <a:cubicBezTo>
                    <a:pt x="133" y="34"/>
                    <a:pt x="133" y="34"/>
                    <a:pt x="133" y="34"/>
                  </a:cubicBezTo>
                  <a:cubicBezTo>
                    <a:pt x="125" y="27"/>
                    <a:pt x="125" y="27"/>
                    <a:pt x="125" y="27"/>
                  </a:cubicBezTo>
                  <a:cubicBezTo>
                    <a:pt x="121" y="22"/>
                    <a:pt x="114" y="22"/>
                    <a:pt x="110" y="27"/>
                  </a:cubicBezTo>
                  <a:cubicBezTo>
                    <a:pt x="106" y="31"/>
                    <a:pt x="106" y="37"/>
                    <a:pt x="110" y="42"/>
                  </a:cubicBezTo>
                  <a:cubicBezTo>
                    <a:pt x="72" y="79"/>
                    <a:pt x="72" y="79"/>
                    <a:pt x="72" y="79"/>
                  </a:cubicBezTo>
                  <a:cubicBezTo>
                    <a:pt x="58" y="93"/>
                    <a:pt x="51" y="112"/>
                    <a:pt x="51" y="132"/>
                  </a:cubicBezTo>
                  <a:cubicBezTo>
                    <a:pt x="51" y="148"/>
                    <a:pt x="56" y="164"/>
                    <a:pt x="65" y="177"/>
                  </a:cubicBezTo>
                  <a:cubicBezTo>
                    <a:pt x="5" y="238"/>
                    <a:pt x="5" y="238"/>
                    <a:pt x="5" y="238"/>
                  </a:cubicBezTo>
                  <a:cubicBezTo>
                    <a:pt x="0" y="242"/>
                    <a:pt x="0" y="249"/>
                    <a:pt x="5" y="253"/>
                  </a:cubicBezTo>
                  <a:cubicBezTo>
                    <a:pt x="7" y="255"/>
                    <a:pt x="9" y="256"/>
                    <a:pt x="12" y="256"/>
                  </a:cubicBezTo>
                  <a:cubicBezTo>
                    <a:pt x="15" y="256"/>
                    <a:pt x="18" y="255"/>
                    <a:pt x="20" y="253"/>
                  </a:cubicBezTo>
                  <a:cubicBezTo>
                    <a:pt x="81" y="192"/>
                    <a:pt x="81" y="192"/>
                    <a:pt x="81" y="192"/>
                  </a:cubicBezTo>
                  <a:cubicBezTo>
                    <a:pt x="93" y="202"/>
                    <a:pt x="109" y="207"/>
                    <a:pt x="125" y="207"/>
                  </a:cubicBezTo>
                  <a:cubicBezTo>
                    <a:pt x="145" y="207"/>
                    <a:pt x="164" y="199"/>
                    <a:pt x="178" y="185"/>
                  </a:cubicBezTo>
                  <a:cubicBezTo>
                    <a:pt x="216" y="147"/>
                    <a:pt x="216" y="147"/>
                    <a:pt x="216" y="147"/>
                  </a:cubicBezTo>
                  <a:cubicBezTo>
                    <a:pt x="216" y="147"/>
                    <a:pt x="216" y="147"/>
                    <a:pt x="216" y="147"/>
                  </a:cubicBezTo>
                  <a:cubicBezTo>
                    <a:pt x="218" y="149"/>
                    <a:pt x="221" y="150"/>
                    <a:pt x="223" y="150"/>
                  </a:cubicBezTo>
                  <a:cubicBezTo>
                    <a:pt x="226" y="150"/>
                    <a:pt x="229" y="149"/>
                    <a:pt x="231" y="147"/>
                  </a:cubicBezTo>
                  <a:cubicBezTo>
                    <a:pt x="235" y="143"/>
                    <a:pt x="235" y="136"/>
                    <a:pt x="231" y="132"/>
                  </a:cubicBezTo>
                  <a:cubicBezTo>
                    <a:pt x="223" y="125"/>
                    <a:pt x="223" y="125"/>
                    <a:pt x="223" y="125"/>
                  </a:cubicBezTo>
                  <a:cubicBezTo>
                    <a:pt x="208" y="109"/>
                    <a:pt x="208" y="109"/>
                    <a:pt x="208" y="109"/>
                  </a:cubicBezTo>
                  <a:cubicBezTo>
                    <a:pt x="253" y="64"/>
                    <a:pt x="253" y="64"/>
                    <a:pt x="253" y="64"/>
                  </a:cubicBezTo>
                  <a:cubicBezTo>
                    <a:pt x="258" y="60"/>
                    <a:pt x="258" y="53"/>
                    <a:pt x="253" y="49"/>
                  </a:cubicBezTo>
                  <a:close/>
                  <a:moveTo>
                    <a:pt x="163" y="170"/>
                  </a:moveTo>
                  <a:cubicBezTo>
                    <a:pt x="153" y="180"/>
                    <a:pt x="139" y="185"/>
                    <a:pt x="125" y="185"/>
                  </a:cubicBezTo>
                  <a:cubicBezTo>
                    <a:pt x="111" y="185"/>
                    <a:pt x="98" y="180"/>
                    <a:pt x="87" y="170"/>
                  </a:cubicBezTo>
                  <a:cubicBezTo>
                    <a:pt x="77" y="160"/>
                    <a:pt x="72" y="146"/>
                    <a:pt x="72" y="132"/>
                  </a:cubicBezTo>
                  <a:cubicBezTo>
                    <a:pt x="72" y="118"/>
                    <a:pt x="77" y="104"/>
                    <a:pt x="87" y="94"/>
                  </a:cubicBezTo>
                  <a:cubicBezTo>
                    <a:pt x="125" y="57"/>
                    <a:pt x="125" y="57"/>
                    <a:pt x="125" y="57"/>
                  </a:cubicBezTo>
                  <a:cubicBezTo>
                    <a:pt x="201" y="132"/>
                    <a:pt x="201" y="132"/>
                    <a:pt x="201" y="132"/>
                  </a:cubicBezTo>
                  <a:lnTo>
                    <a:pt x="163"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6" name="Freeform 456">
              <a:extLst>
                <a:ext uri="{FF2B5EF4-FFF2-40B4-BE49-F238E27FC236}">
                  <a16:creationId xmlns:a16="http://schemas.microsoft.com/office/drawing/2014/main" id="{B5CF0C10-F514-41B5-9BA5-78C17A8CEF2D}"/>
                </a:ext>
              </a:extLst>
            </p:cNvPr>
            <p:cNvSpPr>
              <a:spLocks noEditPoints="1"/>
            </p:cNvSpPr>
            <p:nvPr/>
          </p:nvSpPr>
          <p:spPr bwMode="auto">
            <a:xfrm>
              <a:off x="1912" y="157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87" name="Group 86">
            <a:extLst>
              <a:ext uri="{FF2B5EF4-FFF2-40B4-BE49-F238E27FC236}">
                <a16:creationId xmlns:a16="http://schemas.microsoft.com/office/drawing/2014/main" id="{799F1383-C4CC-493E-BEE7-8ADA50524C8B}"/>
              </a:ext>
            </a:extLst>
          </p:cNvPr>
          <p:cNvGrpSpPr>
            <a:grpSpLocks noChangeAspect="1"/>
          </p:cNvGrpSpPr>
          <p:nvPr/>
        </p:nvGrpSpPr>
        <p:grpSpPr bwMode="auto">
          <a:xfrm>
            <a:off x="4166159" y="1941625"/>
            <a:ext cx="570841" cy="570841"/>
            <a:chOff x="5024" y="2494"/>
            <a:chExt cx="340" cy="340"/>
          </a:xfrm>
          <a:solidFill>
            <a:schemeClr val="accent1"/>
          </a:solidFill>
        </p:grpSpPr>
        <p:sp>
          <p:nvSpPr>
            <p:cNvPr id="88" name="Freeform 87">
              <a:extLst>
                <a:ext uri="{FF2B5EF4-FFF2-40B4-BE49-F238E27FC236}">
                  <a16:creationId xmlns:a16="http://schemas.microsoft.com/office/drawing/2014/main" id="{D0A3B623-5868-4638-9B5E-DDAEE1B138E3}"/>
                </a:ext>
              </a:extLst>
            </p:cNvPr>
            <p:cNvSpPr>
              <a:spLocks noEditPoints="1"/>
            </p:cNvSpPr>
            <p:nvPr/>
          </p:nvSpPr>
          <p:spPr bwMode="auto">
            <a:xfrm>
              <a:off x="5024"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9" name="Freeform 88">
              <a:extLst>
                <a:ext uri="{FF2B5EF4-FFF2-40B4-BE49-F238E27FC236}">
                  <a16:creationId xmlns:a16="http://schemas.microsoft.com/office/drawing/2014/main" id="{434D2530-A70F-4B46-9E50-06FB61A8F08E}"/>
                </a:ext>
              </a:extLst>
            </p:cNvPr>
            <p:cNvSpPr>
              <a:spLocks noEditPoints="1"/>
            </p:cNvSpPr>
            <p:nvPr/>
          </p:nvSpPr>
          <p:spPr bwMode="auto">
            <a:xfrm>
              <a:off x="5116" y="2558"/>
              <a:ext cx="166" cy="212"/>
            </a:xfrm>
            <a:custGeom>
              <a:avLst/>
              <a:gdLst>
                <a:gd name="T0" fmla="*/ 214 w 251"/>
                <a:gd name="T1" fmla="*/ 117 h 320"/>
                <a:gd name="T2" fmla="*/ 203 w 251"/>
                <a:gd name="T3" fmla="*/ 117 h 320"/>
                <a:gd name="T4" fmla="*/ 192 w 251"/>
                <a:gd name="T5" fmla="*/ 106 h 320"/>
                <a:gd name="T6" fmla="*/ 203 w 251"/>
                <a:gd name="T7" fmla="*/ 96 h 320"/>
                <a:gd name="T8" fmla="*/ 214 w 251"/>
                <a:gd name="T9" fmla="*/ 96 h 320"/>
                <a:gd name="T10" fmla="*/ 230 w 251"/>
                <a:gd name="T11" fmla="*/ 80 h 320"/>
                <a:gd name="T12" fmla="*/ 214 w 251"/>
                <a:gd name="T13" fmla="*/ 64 h 320"/>
                <a:gd name="T14" fmla="*/ 203 w 251"/>
                <a:gd name="T15" fmla="*/ 53 h 320"/>
                <a:gd name="T16" fmla="*/ 171 w 251"/>
                <a:gd name="T17" fmla="*/ 21 h 320"/>
                <a:gd name="T18" fmla="*/ 140 w 251"/>
                <a:gd name="T19" fmla="*/ 47 h 320"/>
                <a:gd name="T20" fmla="*/ 134 w 251"/>
                <a:gd name="T21" fmla="*/ 54 h 320"/>
                <a:gd name="T22" fmla="*/ 125 w 251"/>
                <a:gd name="T23" fmla="*/ 54 h 320"/>
                <a:gd name="T24" fmla="*/ 96 w 251"/>
                <a:gd name="T25" fmla="*/ 74 h 320"/>
                <a:gd name="T26" fmla="*/ 86 w 251"/>
                <a:gd name="T27" fmla="*/ 85 h 320"/>
                <a:gd name="T28" fmla="*/ 75 w 251"/>
                <a:gd name="T29" fmla="*/ 74 h 320"/>
                <a:gd name="T30" fmla="*/ 122 w 251"/>
                <a:gd name="T31" fmla="*/ 32 h 320"/>
                <a:gd name="T32" fmla="*/ 171 w 251"/>
                <a:gd name="T33" fmla="*/ 0 h 320"/>
                <a:gd name="T34" fmla="*/ 224 w 251"/>
                <a:gd name="T35" fmla="*/ 44 h 320"/>
                <a:gd name="T36" fmla="*/ 251 w 251"/>
                <a:gd name="T37" fmla="*/ 80 h 320"/>
                <a:gd name="T38" fmla="*/ 214 w 251"/>
                <a:gd name="T39" fmla="*/ 117 h 320"/>
                <a:gd name="T40" fmla="*/ 192 w 251"/>
                <a:gd name="T41" fmla="*/ 316 h 320"/>
                <a:gd name="T42" fmla="*/ 194 w 251"/>
                <a:gd name="T43" fmla="*/ 307 h 320"/>
                <a:gd name="T44" fmla="*/ 171 w 251"/>
                <a:gd name="T45" fmla="*/ 191 h 320"/>
                <a:gd name="T46" fmla="*/ 171 w 251"/>
                <a:gd name="T47" fmla="*/ 128 h 320"/>
                <a:gd name="T48" fmla="*/ 164 w 251"/>
                <a:gd name="T49" fmla="*/ 118 h 320"/>
                <a:gd name="T50" fmla="*/ 96 w 251"/>
                <a:gd name="T51" fmla="*/ 106 h 320"/>
                <a:gd name="T52" fmla="*/ 29 w 251"/>
                <a:gd name="T53" fmla="*/ 118 h 320"/>
                <a:gd name="T54" fmla="*/ 22 w 251"/>
                <a:gd name="T55" fmla="*/ 128 h 320"/>
                <a:gd name="T56" fmla="*/ 22 w 251"/>
                <a:gd name="T57" fmla="*/ 191 h 320"/>
                <a:gd name="T58" fmla="*/ 1 w 251"/>
                <a:gd name="T59" fmla="*/ 307 h 320"/>
                <a:gd name="T60" fmla="*/ 3 w 251"/>
                <a:gd name="T61" fmla="*/ 316 h 320"/>
                <a:gd name="T62" fmla="*/ 11 w 251"/>
                <a:gd name="T63" fmla="*/ 320 h 320"/>
                <a:gd name="T64" fmla="*/ 183 w 251"/>
                <a:gd name="T65" fmla="*/ 320 h 320"/>
                <a:gd name="T66" fmla="*/ 192 w 251"/>
                <a:gd name="T67" fmla="*/ 316 h 320"/>
                <a:gd name="T68" fmla="*/ 43 w 251"/>
                <a:gd name="T69" fmla="*/ 194 h 320"/>
                <a:gd name="T70" fmla="*/ 43 w 251"/>
                <a:gd name="T71" fmla="*/ 192 h 320"/>
                <a:gd name="T72" fmla="*/ 43 w 251"/>
                <a:gd name="T73" fmla="*/ 136 h 320"/>
                <a:gd name="T74" fmla="*/ 96 w 251"/>
                <a:gd name="T75" fmla="*/ 128 h 320"/>
                <a:gd name="T76" fmla="*/ 150 w 251"/>
                <a:gd name="T77" fmla="*/ 136 h 320"/>
                <a:gd name="T78" fmla="*/ 150 w 251"/>
                <a:gd name="T79" fmla="*/ 192 h 320"/>
                <a:gd name="T80" fmla="*/ 150 w 251"/>
                <a:gd name="T81" fmla="*/ 194 h 320"/>
                <a:gd name="T82" fmla="*/ 170 w 251"/>
                <a:gd name="T83" fmla="*/ 298 h 320"/>
                <a:gd name="T84" fmla="*/ 24 w 251"/>
                <a:gd name="T85" fmla="*/ 298 h 320"/>
                <a:gd name="T86" fmla="*/ 43 w 251"/>
                <a:gd name="T87" fmla="*/ 19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1" h="320">
                  <a:moveTo>
                    <a:pt x="214" y="117"/>
                  </a:moveTo>
                  <a:cubicBezTo>
                    <a:pt x="203" y="117"/>
                    <a:pt x="203" y="117"/>
                    <a:pt x="203" y="117"/>
                  </a:cubicBezTo>
                  <a:cubicBezTo>
                    <a:pt x="197" y="117"/>
                    <a:pt x="192" y="112"/>
                    <a:pt x="192" y="106"/>
                  </a:cubicBezTo>
                  <a:cubicBezTo>
                    <a:pt x="192" y="100"/>
                    <a:pt x="197" y="96"/>
                    <a:pt x="203" y="96"/>
                  </a:cubicBezTo>
                  <a:cubicBezTo>
                    <a:pt x="214" y="96"/>
                    <a:pt x="214" y="96"/>
                    <a:pt x="214" y="96"/>
                  </a:cubicBezTo>
                  <a:cubicBezTo>
                    <a:pt x="222" y="96"/>
                    <a:pt x="230" y="88"/>
                    <a:pt x="230" y="80"/>
                  </a:cubicBezTo>
                  <a:cubicBezTo>
                    <a:pt x="230" y="71"/>
                    <a:pt x="222" y="64"/>
                    <a:pt x="214" y="64"/>
                  </a:cubicBezTo>
                  <a:cubicBezTo>
                    <a:pt x="208" y="64"/>
                    <a:pt x="203" y="59"/>
                    <a:pt x="203" y="53"/>
                  </a:cubicBezTo>
                  <a:cubicBezTo>
                    <a:pt x="203" y="35"/>
                    <a:pt x="189" y="21"/>
                    <a:pt x="171" y="21"/>
                  </a:cubicBezTo>
                  <a:cubicBezTo>
                    <a:pt x="156" y="21"/>
                    <a:pt x="143" y="32"/>
                    <a:pt x="140" y="47"/>
                  </a:cubicBezTo>
                  <a:cubicBezTo>
                    <a:pt x="139" y="50"/>
                    <a:pt x="137" y="52"/>
                    <a:pt x="134" y="54"/>
                  </a:cubicBezTo>
                  <a:cubicBezTo>
                    <a:pt x="132" y="55"/>
                    <a:pt x="128" y="56"/>
                    <a:pt x="125" y="54"/>
                  </a:cubicBezTo>
                  <a:cubicBezTo>
                    <a:pt x="111" y="49"/>
                    <a:pt x="96" y="60"/>
                    <a:pt x="96" y="74"/>
                  </a:cubicBezTo>
                  <a:cubicBezTo>
                    <a:pt x="96" y="80"/>
                    <a:pt x="92" y="85"/>
                    <a:pt x="86" y="85"/>
                  </a:cubicBezTo>
                  <a:cubicBezTo>
                    <a:pt x="80" y="85"/>
                    <a:pt x="75" y="80"/>
                    <a:pt x="75" y="74"/>
                  </a:cubicBezTo>
                  <a:cubicBezTo>
                    <a:pt x="75" y="49"/>
                    <a:pt x="97" y="29"/>
                    <a:pt x="122" y="32"/>
                  </a:cubicBezTo>
                  <a:cubicBezTo>
                    <a:pt x="130" y="13"/>
                    <a:pt x="149" y="0"/>
                    <a:pt x="171" y="0"/>
                  </a:cubicBezTo>
                  <a:cubicBezTo>
                    <a:pt x="197" y="0"/>
                    <a:pt x="219" y="19"/>
                    <a:pt x="224" y="44"/>
                  </a:cubicBezTo>
                  <a:cubicBezTo>
                    <a:pt x="239" y="48"/>
                    <a:pt x="251" y="62"/>
                    <a:pt x="251" y="80"/>
                  </a:cubicBezTo>
                  <a:cubicBezTo>
                    <a:pt x="251" y="100"/>
                    <a:pt x="234" y="117"/>
                    <a:pt x="214" y="117"/>
                  </a:cubicBezTo>
                  <a:close/>
                  <a:moveTo>
                    <a:pt x="192" y="316"/>
                  </a:moveTo>
                  <a:cubicBezTo>
                    <a:pt x="194" y="313"/>
                    <a:pt x="195" y="310"/>
                    <a:pt x="194" y="307"/>
                  </a:cubicBezTo>
                  <a:cubicBezTo>
                    <a:pt x="171" y="191"/>
                    <a:pt x="171" y="191"/>
                    <a:pt x="171" y="191"/>
                  </a:cubicBezTo>
                  <a:cubicBezTo>
                    <a:pt x="171" y="128"/>
                    <a:pt x="171" y="128"/>
                    <a:pt x="171" y="128"/>
                  </a:cubicBezTo>
                  <a:cubicBezTo>
                    <a:pt x="171" y="123"/>
                    <a:pt x="168" y="119"/>
                    <a:pt x="164" y="118"/>
                  </a:cubicBezTo>
                  <a:cubicBezTo>
                    <a:pt x="162" y="117"/>
                    <a:pt x="129" y="106"/>
                    <a:pt x="96" y="106"/>
                  </a:cubicBezTo>
                  <a:cubicBezTo>
                    <a:pt x="63" y="106"/>
                    <a:pt x="30" y="117"/>
                    <a:pt x="29" y="118"/>
                  </a:cubicBezTo>
                  <a:cubicBezTo>
                    <a:pt x="25" y="119"/>
                    <a:pt x="22" y="123"/>
                    <a:pt x="22" y="128"/>
                  </a:cubicBezTo>
                  <a:cubicBezTo>
                    <a:pt x="22" y="191"/>
                    <a:pt x="22" y="191"/>
                    <a:pt x="22" y="191"/>
                  </a:cubicBezTo>
                  <a:cubicBezTo>
                    <a:pt x="1" y="307"/>
                    <a:pt x="1" y="307"/>
                    <a:pt x="1" y="307"/>
                  </a:cubicBezTo>
                  <a:cubicBezTo>
                    <a:pt x="0" y="310"/>
                    <a:pt x="1" y="313"/>
                    <a:pt x="3" y="316"/>
                  </a:cubicBezTo>
                  <a:cubicBezTo>
                    <a:pt x="5" y="318"/>
                    <a:pt x="8" y="320"/>
                    <a:pt x="11" y="320"/>
                  </a:cubicBezTo>
                  <a:cubicBezTo>
                    <a:pt x="183" y="320"/>
                    <a:pt x="183" y="320"/>
                    <a:pt x="183" y="320"/>
                  </a:cubicBezTo>
                  <a:cubicBezTo>
                    <a:pt x="187" y="320"/>
                    <a:pt x="190" y="318"/>
                    <a:pt x="192" y="316"/>
                  </a:cubicBezTo>
                  <a:close/>
                  <a:moveTo>
                    <a:pt x="43" y="194"/>
                  </a:moveTo>
                  <a:cubicBezTo>
                    <a:pt x="43" y="193"/>
                    <a:pt x="43" y="192"/>
                    <a:pt x="43" y="192"/>
                  </a:cubicBezTo>
                  <a:cubicBezTo>
                    <a:pt x="43" y="136"/>
                    <a:pt x="43" y="136"/>
                    <a:pt x="43" y="136"/>
                  </a:cubicBezTo>
                  <a:cubicBezTo>
                    <a:pt x="54" y="133"/>
                    <a:pt x="75" y="128"/>
                    <a:pt x="96" y="128"/>
                  </a:cubicBezTo>
                  <a:cubicBezTo>
                    <a:pt x="117" y="128"/>
                    <a:pt x="139" y="133"/>
                    <a:pt x="150" y="136"/>
                  </a:cubicBezTo>
                  <a:cubicBezTo>
                    <a:pt x="150" y="192"/>
                    <a:pt x="150" y="192"/>
                    <a:pt x="150" y="192"/>
                  </a:cubicBezTo>
                  <a:cubicBezTo>
                    <a:pt x="150" y="192"/>
                    <a:pt x="150" y="193"/>
                    <a:pt x="150" y="194"/>
                  </a:cubicBezTo>
                  <a:cubicBezTo>
                    <a:pt x="170" y="298"/>
                    <a:pt x="170" y="298"/>
                    <a:pt x="170" y="298"/>
                  </a:cubicBezTo>
                  <a:cubicBezTo>
                    <a:pt x="24" y="298"/>
                    <a:pt x="24" y="298"/>
                    <a:pt x="24" y="298"/>
                  </a:cubicBezTo>
                  <a:lnTo>
                    <a:pt x="43" y="19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90" name="Group 532">
            <a:extLst>
              <a:ext uri="{FF2B5EF4-FFF2-40B4-BE49-F238E27FC236}">
                <a16:creationId xmlns:a16="http://schemas.microsoft.com/office/drawing/2014/main" id="{FDCBDE56-2FA7-4141-AEC9-A9105FAFD554}"/>
              </a:ext>
            </a:extLst>
          </p:cNvPr>
          <p:cNvGrpSpPr>
            <a:grpSpLocks noChangeAspect="1"/>
          </p:cNvGrpSpPr>
          <p:nvPr/>
        </p:nvGrpSpPr>
        <p:grpSpPr bwMode="auto">
          <a:xfrm>
            <a:off x="7794876" y="1941411"/>
            <a:ext cx="528334" cy="528334"/>
            <a:chOff x="4511" y="2388"/>
            <a:chExt cx="340" cy="340"/>
          </a:xfrm>
          <a:solidFill>
            <a:schemeClr val="accent6"/>
          </a:solidFill>
        </p:grpSpPr>
        <p:sp>
          <p:nvSpPr>
            <p:cNvPr id="91" name="Freeform 533">
              <a:extLst>
                <a:ext uri="{FF2B5EF4-FFF2-40B4-BE49-F238E27FC236}">
                  <a16:creationId xmlns:a16="http://schemas.microsoft.com/office/drawing/2014/main" id="{5CDFC4E4-6E6C-483A-A03C-28B5E0A365A3}"/>
                </a:ext>
              </a:extLst>
            </p:cNvPr>
            <p:cNvSpPr>
              <a:spLocks noEditPoints="1"/>
            </p:cNvSpPr>
            <p:nvPr/>
          </p:nvSpPr>
          <p:spPr bwMode="auto">
            <a:xfrm>
              <a:off x="4511" y="238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2" name="Freeform 534">
              <a:extLst>
                <a:ext uri="{FF2B5EF4-FFF2-40B4-BE49-F238E27FC236}">
                  <a16:creationId xmlns:a16="http://schemas.microsoft.com/office/drawing/2014/main" id="{8069B2C4-D6D8-4676-82E9-31233348156D}"/>
                </a:ext>
              </a:extLst>
            </p:cNvPr>
            <p:cNvSpPr>
              <a:spLocks noEditPoints="1"/>
            </p:cNvSpPr>
            <p:nvPr/>
          </p:nvSpPr>
          <p:spPr bwMode="auto">
            <a:xfrm>
              <a:off x="4617" y="2458"/>
              <a:ext cx="128" cy="199"/>
            </a:xfrm>
            <a:custGeom>
              <a:avLst/>
              <a:gdLst>
                <a:gd name="T0" fmla="*/ 179 w 194"/>
                <a:gd name="T1" fmla="*/ 151 h 300"/>
                <a:gd name="T2" fmla="*/ 115 w 194"/>
                <a:gd name="T3" fmla="*/ 167 h 300"/>
                <a:gd name="T4" fmla="*/ 107 w 194"/>
                <a:gd name="T5" fmla="*/ 177 h 300"/>
                <a:gd name="T6" fmla="*/ 107 w 194"/>
                <a:gd name="T7" fmla="*/ 225 h 300"/>
                <a:gd name="T8" fmla="*/ 86 w 194"/>
                <a:gd name="T9" fmla="*/ 225 h 300"/>
                <a:gd name="T10" fmla="*/ 86 w 194"/>
                <a:gd name="T11" fmla="*/ 193 h 300"/>
                <a:gd name="T12" fmla="*/ 75 w 194"/>
                <a:gd name="T13" fmla="*/ 183 h 300"/>
                <a:gd name="T14" fmla="*/ 65 w 194"/>
                <a:gd name="T15" fmla="*/ 193 h 300"/>
                <a:gd name="T16" fmla="*/ 65 w 194"/>
                <a:gd name="T17" fmla="*/ 225 h 300"/>
                <a:gd name="T18" fmla="*/ 54 w 194"/>
                <a:gd name="T19" fmla="*/ 225 h 300"/>
                <a:gd name="T20" fmla="*/ 46 w 194"/>
                <a:gd name="T21" fmla="*/ 229 h 300"/>
                <a:gd name="T22" fmla="*/ 44 w 194"/>
                <a:gd name="T23" fmla="*/ 238 h 300"/>
                <a:gd name="T24" fmla="*/ 54 w 194"/>
                <a:gd name="T25" fmla="*/ 291 h 300"/>
                <a:gd name="T26" fmla="*/ 65 w 194"/>
                <a:gd name="T27" fmla="*/ 300 h 300"/>
                <a:gd name="T28" fmla="*/ 129 w 194"/>
                <a:gd name="T29" fmla="*/ 300 h 300"/>
                <a:gd name="T30" fmla="*/ 139 w 194"/>
                <a:gd name="T31" fmla="*/ 291 h 300"/>
                <a:gd name="T32" fmla="*/ 150 w 194"/>
                <a:gd name="T33" fmla="*/ 238 h 300"/>
                <a:gd name="T34" fmla="*/ 148 w 194"/>
                <a:gd name="T35" fmla="*/ 229 h 300"/>
                <a:gd name="T36" fmla="*/ 139 w 194"/>
                <a:gd name="T37" fmla="*/ 225 h 300"/>
                <a:gd name="T38" fmla="*/ 129 w 194"/>
                <a:gd name="T39" fmla="*/ 225 h 300"/>
                <a:gd name="T40" fmla="*/ 129 w 194"/>
                <a:gd name="T41" fmla="*/ 186 h 300"/>
                <a:gd name="T42" fmla="*/ 185 w 194"/>
                <a:gd name="T43" fmla="*/ 172 h 300"/>
                <a:gd name="T44" fmla="*/ 192 w 194"/>
                <a:gd name="T45" fmla="*/ 159 h 300"/>
                <a:gd name="T46" fmla="*/ 179 w 194"/>
                <a:gd name="T47" fmla="*/ 151 h 300"/>
                <a:gd name="T48" fmla="*/ 120 w 194"/>
                <a:gd name="T49" fmla="*/ 279 h 300"/>
                <a:gd name="T50" fmla="*/ 73 w 194"/>
                <a:gd name="T51" fmla="*/ 279 h 300"/>
                <a:gd name="T52" fmla="*/ 67 w 194"/>
                <a:gd name="T53" fmla="*/ 247 h 300"/>
                <a:gd name="T54" fmla="*/ 126 w 194"/>
                <a:gd name="T55" fmla="*/ 247 h 300"/>
                <a:gd name="T56" fmla="*/ 120 w 194"/>
                <a:gd name="T57" fmla="*/ 279 h 300"/>
                <a:gd name="T58" fmla="*/ 192 w 194"/>
                <a:gd name="T59" fmla="*/ 73 h 300"/>
                <a:gd name="T60" fmla="*/ 185 w 194"/>
                <a:gd name="T61" fmla="*/ 86 h 300"/>
                <a:gd name="T62" fmla="*/ 14 w 194"/>
                <a:gd name="T63" fmla="*/ 129 h 300"/>
                <a:gd name="T64" fmla="*/ 11 w 194"/>
                <a:gd name="T65" fmla="*/ 129 h 300"/>
                <a:gd name="T66" fmla="*/ 1 w 194"/>
                <a:gd name="T67" fmla="*/ 121 h 300"/>
                <a:gd name="T68" fmla="*/ 9 w 194"/>
                <a:gd name="T69" fmla="*/ 108 h 300"/>
                <a:gd name="T70" fmla="*/ 179 w 194"/>
                <a:gd name="T71" fmla="*/ 66 h 300"/>
                <a:gd name="T72" fmla="*/ 192 w 194"/>
                <a:gd name="T73" fmla="*/ 73 h 300"/>
                <a:gd name="T74" fmla="*/ 192 w 194"/>
                <a:gd name="T75" fmla="*/ 116 h 300"/>
                <a:gd name="T76" fmla="*/ 185 w 194"/>
                <a:gd name="T77" fmla="*/ 129 h 300"/>
                <a:gd name="T78" fmla="*/ 14 w 194"/>
                <a:gd name="T79" fmla="*/ 172 h 300"/>
                <a:gd name="T80" fmla="*/ 11 w 194"/>
                <a:gd name="T81" fmla="*/ 172 h 300"/>
                <a:gd name="T82" fmla="*/ 1 w 194"/>
                <a:gd name="T83" fmla="*/ 164 h 300"/>
                <a:gd name="T84" fmla="*/ 9 w 194"/>
                <a:gd name="T85" fmla="*/ 151 h 300"/>
                <a:gd name="T86" fmla="*/ 179 w 194"/>
                <a:gd name="T87" fmla="*/ 108 h 300"/>
                <a:gd name="T88" fmla="*/ 192 w 194"/>
                <a:gd name="T89" fmla="*/ 116 h 300"/>
                <a:gd name="T90" fmla="*/ 1 w 194"/>
                <a:gd name="T91" fmla="*/ 36 h 300"/>
                <a:gd name="T92" fmla="*/ 9 w 194"/>
                <a:gd name="T93" fmla="*/ 23 h 300"/>
                <a:gd name="T94" fmla="*/ 94 w 194"/>
                <a:gd name="T95" fmla="*/ 2 h 300"/>
                <a:gd name="T96" fmla="*/ 107 w 194"/>
                <a:gd name="T97" fmla="*/ 9 h 300"/>
                <a:gd name="T98" fmla="*/ 99 w 194"/>
                <a:gd name="T99" fmla="*/ 22 h 300"/>
                <a:gd name="T100" fmla="*/ 14 w 194"/>
                <a:gd name="T101" fmla="*/ 44 h 300"/>
                <a:gd name="T102" fmla="*/ 11 w 194"/>
                <a:gd name="T103" fmla="*/ 44 h 300"/>
                <a:gd name="T104" fmla="*/ 1 w 194"/>
                <a:gd name="T105" fmla="*/ 36 h 300"/>
                <a:gd name="T106" fmla="*/ 1 w 194"/>
                <a:gd name="T107" fmla="*/ 79 h 300"/>
                <a:gd name="T108" fmla="*/ 9 w 194"/>
                <a:gd name="T109" fmla="*/ 66 h 300"/>
                <a:gd name="T110" fmla="*/ 179 w 194"/>
                <a:gd name="T111" fmla="*/ 23 h 300"/>
                <a:gd name="T112" fmla="*/ 192 w 194"/>
                <a:gd name="T113" fmla="*/ 31 h 300"/>
                <a:gd name="T114" fmla="*/ 185 w 194"/>
                <a:gd name="T115" fmla="*/ 44 h 300"/>
                <a:gd name="T116" fmla="*/ 14 w 194"/>
                <a:gd name="T117" fmla="*/ 86 h 300"/>
                <a:gd name="T118" fmla="*/ 11 w 194"/>
                <a:gd name="T119" fmla="*/ 87 h 300"/>
                <a:gd name="T120" fmla="*/ 1 w 194"/>
                <a:gd name="T121" fmla="*/ 79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4" h="300">
                  <a:moveTo>
                    <a:pt x="179" y="151"/>
                  </a:moveTo>
                  <a:cubicBezTo>
                    <a:pt x="115" y="167"/>
                    <a:pt x="115" y="167"/>
                    <a:pt x="115" y="167"/>
                  </a:cubicBezTo>
                  <a:cubicBezTo>
                    <a:pt x="111" y="168"/>
                    <a:pt x="107" y="172"/>
                    <a:pt x="107" y="177"/>
                  </a:cubicBezTo>
                  <a:cubicBezTo>
                    <a:pt x="107" y="225"/>
                    <a:pt x="107" y="225"/>
                    <a:pt x="107" y="225"/>
                  </a:cubicBezTo>
                  <a:cubicBezTo>
                    <a:pt x="86" y="225"/>
                    <a:pt x="86" y="225"/>
                    <a:pt x="86" y="225"/>
                  </a:cubicBezTo>
                  <a:cubicBezTo>
                    <a:pt x="86" y="193"/>
                    <a:pt x="86" y="193"/>
                    <a:pt x="86" y="193"/>
                  </a:cubicBezTo>
                  <a:cubicBezTo>
                    <a:pt x="86" y="187"/>
                    <a:pt x="81" y="183"/>
                    <a:pt x="75" y="183"/>
                  </a:cubicBezTo>
                  <a:cubicBezTo>
                    <a:pt x="69" y="183"/>
                    <a:pt x="65" y="187"/>
                    <a:pt x="65" y="193"/>
                  </a:cubicBezTo>
                  <a:cubicBezTo>
                    <a:pt x="65" y="225"/>
                    <a:pt x="65" y="225"/>
                    <a:pt x="65" y="225"/>
                  </a:cubicBezTo>
                  <a:cubicBezTo>
                    <a:pt x="54" y="225"/>
                    <a:pt x="54" y="225"/>
                    <a:pt x="54" y="225"/>
                  </a:cubicBezTo>
                  <a:cubicBezTo>
                    <a:pt x="51" y="225"/>
                    <a:pt x="48" y="227"/>
                    <a:pt x="46" y="229"/>
                  </a:cubicBezTo>
                  <a:cubicBezTo>
                    <a:pt x="44" y="232"/>
                    <a:pt x="43" y="235"/>
                    <a:pt x="44" y="238"/>
                  </a:cubicBezTo>
                  <a:cubicBezTo>
                    <a:pt x="54" y="291"/>
                    <a:pt x="54" y="291"/>
                    <a:pt x="54" y="291"/>
                  </a:cubicBezTo>
                  <a:cubicBezTo>
                    <a:pt x="55" y="296"/>
                    <a:pt x="60" y="300"/>
                    <a:pt x="65" y="300"/>
                  </a:cubicBezTo>
                  <a:cubicBezTo>
                    <a:pt x="129" y="300"/>
                    <a:pt x="129" y="300"/>
                    <a:pt x="129" y="300"/>
                  </a:cubicBezTo>
                  <a:cubicBezTo>
                    <a:pt x="134" y="300"/>
                    <a:pt x="138" y="296"/>
                    <a:pt x="139" y="291"/>
                  </a:cubicBezTo>
                  <a:cubicBezTo>
                    <a:pt x="150" y="238"/>
                    <a:pt x="150" y="238"/>
                    <a:pt x="150" y="238"/>
                  </a:cubicBezTo>
                  <a:cubicBezTo>
                    <a:pt x="150" y="235"/>
                    <a:pt x="150" y="232"/>
                    <a:pt x="148" y="229"/>
                  </a:cubicBezTo>
                  <a:cubicBezTo>
                    <a:pt x="146" y="227"/>
                    <a:pt x="143" y="225"/>
                    <a:pt x="139" y="225"/>
                  </a:cubicBezTo>
                  <a:cubicBezTo>
                    <a:pt x="129" y="225"/>
                    <a:pt x="129" y="225"/>
                    <a:pt x="129" y="225"/>
                  </a:cubicBezTo>
                  <a:cubicBezTo>
                    <a:pt x="129" y="186"/>
                    <a:pt x="129" y="186"/>
                    <a:pt x="129" y="186"/>
                  </a:cubicBezTo>
                  <a:cubicBezTo>
                    <a:pt x="185" y="172"/>
                    <a:pt x="185" y="172"/>
                    <a:pt x="185" y="172"/>
                  </a:cubicBezTo>
                  <a:cubicBezTo>
                    <a:pt x="190" y="170"/>
                    <a:pt x="194" y="164"/>
                    <a:pt x="192" y="159"/>
                  </a:cubicBezTo>
                  <a:cubicBezTo>
                    <a:pt x="191" y="153"/>
                    <a:pt x="185" y="150"/>
                    <a:pt x="179" y="151"/>
                  </a:cubicBezTo>
                  <a:close/>
                  <a:moveTo>
                    <a:pt x="120" y="279"/>
                  </a:moveTo>
                  <a:cubicBezTo>
                    <a:pt x="73" y="279"/>
                    <a:pt x="73" y="279"/>
                    <a:pt x="73" y="279"/>
                  </a:cubicBezTo>
                  <a:cubicBezTo>
                    <a:pt x="67" y="247"/>
                    <a:pt x="67" y="247"/>
                    <a:pt x="67" y="247"/>
                  </a:cubicBezTo>
                  <a:cubicBezTo>
                    <a:pt x="126" y="247"/>
                    <a:pt x="126" y="247"/>
                    <a:pt x="126" y="247"/>
                  </a:cubicBezTo>
                  <a:lnTo>
                    <a:pt x="120" y="279"/>
                  </a:lnTo>
                  <a:close/>
                  <a:moveTo>
                    <a:pt x="192" y="73"/>
                  </a:moveTo>
                  <a:cubicBezTo>
                    <a:pt x="194" y="79"/>
                    <a:pt x="190" y="85"/>
                    <a:pt x="185" y="86"/>
                  </a:cubicBezTo>
                  <a:cubicBezTo>
                    <a:pt x="14" y="129"/>
                    <a:pt x="14" y="129"/>
                    <a:pt x="14" y="129"/>
                  </a:cubicBezTo>
                  <a:cubicBezTo>
                    <a:pt x="13" y="129"/>
                    <a:pt x="12" y="129"/>
                    <a:pt x="11" y="129"/>
                  </a:cubicBezTo>
                  <a:cubicBezTo>
                    <a:pt x="7" y="129"/>
                    <a:pt x="2" y="126"/>
                    <a:pt x="1" y="121"/>
                  </a:cubicBezTo>
                  <a:cubicBezTo>
                    <a:pt x="0" y="116"/>
                    <a:pt x="3" y="110"/>
                    <a:pt x="9" y="108"/>
                  </a:cubicBezTo>
                  <a:cubicBezTo>
                    <a:pt x="179" y="66"/>
                    <a:pt x="179" y="66"/>
                    <a:pt x="179" y="66"/>
                  </a:cubicBezTo>
                  <a:cubicBezTo>
                    <a:pt x="185" y="64"/>
                    <a:pt x="191" y="68"/>
                    <a:pt x="192" y="73"/>
                  </a:cubicBezTo>
                  <a:close/>
                  <a:moveTo>
                    <a:pt x="192" y="116"/>
                  </a:moveTo>
                  <a:cubicBezTo>
                    <a:pt x="194" y="122"/>
                    <a:pt x="190" y="128"/>
                    <a:pt x="185" y="129"/>
                  </a:cubicBezTo>
                  <a:cubicBezTo>
                    <a:pt x="14" y="172"/>
                    <a:pt x="14" y="172"/>
                    <a:pt x="14" y="172"/>
                  </a:cubicBezTo>
                  <a:cubicBezTo>
                    <a:pt x="13" y="172"/>
                    <a:pt x="12" y="172"/>
                    <a:pt x="11" y="172"/>
                  </a:cubicBezTo>
                  <a:cubicBezTo>
                    <a:pt x="7" y="172"/>
                    <a:pt x="2" y="169"/>
                    <a:pt x="1" y="164"/>
                  </a:cubicBezTo>
                  <a:cubicBezTo>
                    <a:pt x="0" y="158"/>
                    <a:pt x="3" y="152"/>
                    <a:pt x="9" y="151"/>
                  </a:cubicBezTo>
                  <a:cubicBezTo>
                    <a:pt x="179" y="108"/>
                    <a:pt x="179" y="108"/>
                    <a:pt x="179" y="108"/>
                  </a:cubicBezTo>
                  <a:cubicBezTo>
                    <a:pt x="185" y="107"/>
                    <a:pt x="191" y="110"/>
                    <a:pt x="192" y="116"/>
                  </a:cubicBezTo>
                  <a:close/>
                  <a:moveTo>
                    <a:pt x="1" y="36"/>
                  </a:moveTo>
                  <a:cubicBezTo>
                    <a:pt x="0" y="30"/>
                    <a:pt x="3" y="24"/>
                    <a:pt x="9" y="23"/>
                  </a:cubicBezTo>
                  <a:cubicBezTo>
                    <a:pt x="94" y="2"/>
                    <a:pt x="94" y="2"/>
                    <a:pt x="94" y="2"/>
                  </a:cubicBezTo>
                  <a:cubicBezTo>
                    <a:pt x="100" y="0"/>
                    <a:pt x="106" y="4"/>
                    <a:pt x="107" y="9"/>
                  </a:cubicBezTo>
                  <a:cubicBezTo>
                    <a:pt x="108" y="15"/>
                    <a:pt x="105" y="21"/>
                    <a:pt x="99" y="22"/>
                  </a:cubicBezTo>
                  <a:cubicBezTo>
                    <a:pt x="14" y="44"/>
                    <a:pt x="14" y="44"/>
                    <a:pt x="14" y="44"/>
                  </a:cubicBezTo>
                  <a:cubicBezTo>
                    <a:pt x="13" y="44"/>
                    <a:pt x="12" y="44"/>
                    <a:pt x="11" y="44"/>
                  </a:cubicBezTo>
                  <a:cubicBezTo>
                    <a:pt x="7" y="44"/>
                    <a:pt x="2" y="41"/>
                    <a:pt x="1" y="36"/>
                  </a:cubicBezTo>
                  <a:close/>
                  <a:moveTo>
                    <a:pt x="1" y="79"/>
                  </a:moveTo>
                  <a:cubicBezTo>
                    <a:pt x="0" y="73"/>
                    <a:pt x="3" y="67"/>
                    <a:pt x="9" y="66"/>
                  </a:cubicBezTo>
                  <a:cubicBezTo>
                    <a:pt x="179" y="23"/>
                    <a:pt x="179" y="23"/>
                    <a:pt x="179" y="23"/>
                  </a:cubicBezTo>
                  <a:cubicBezTo>
                    <a:pt x="185" y="22"/>
                    <a:pt x="191" y="25"/>
                    <a:pt x="192" y="31"/>
                  </a:cubicBezTo>
                  <a:cubicBezTo>
                    <a:pt x="194" y="36"/>
                    <a:pt x="190" y="42"/>
                    <a:pt x="185" y="44"/>
                  </a:cubicBezTo>
                  <a:cubicBezTo>
                    <a:pt x="14" y="86"/>
                    <a:pt x="14" y="86"/>
                    <a:pt x="14" y="86"/>
                  </a:cubicBezTo>
                  <a:cubicBezTo>
                    <a:pt x="13" y="87"/>
                    <a:pt x="12" y="87"/>
                    <a:pt x="11" y="87"/>
                  </a:cubicBezTo>
                  <a:cubicBezTo>
                    <a:pt x="7" y="87"/>
                    <a:pt x="2" y="83"/>
                    <a:pt x="1" y="7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7" name="Pentagon 26">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20549667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Stage 1: Preparation of State Energy Balance Sheet</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9538D967-88F0-4855-B9A7-C3ECD264D887}"/>
              </a:ext>
            </a:extLst>
          </p:cNvPr>
          <p:cNvGrpSpPr/>
          <p:nvPr/>
        </p:nvGrpSpPr>
        <p:grpSpPr>
          <a:xfrm>
            <a:off x="1255406" y="1241730"/>
            <a:ext cx="4061557" cy="2919351"/>
            <a:chOff x="420422" y="1879634"/>
            <a:chExt cx="3573178" cy="2919351"/>
          </a:xfrm>
        </p:grpSpPr>
        <p:sp>
          <p:nvSpPr>
            <p:cNvPr id="30" name="Parallelogram 29">
              <a:extLst>
                <a:ext uri="{FF2B5EF4-FFF2-40B4-BE49-F238E27FC236}">
                  <a16:creationId xmlns:a16="http://schemas.microsoft.com/office/drawing/2014/main" id="{C0AAFE0C-8015-4685-97DF-C3803293EE51}"/>
                </a:ext>
              </a:extLst>
            </p:cNvPr>
            <p:cNvSpPr/>
            <p:nvPr/>
          </p:nvSpPr>
          <p:spPr>
            <a:xfrm rot="300000">
              <a:off x="420422" y="3969714"/>
              <a:ext cx="3573178" cy="829271"/>
            </a:xfrm>
            <a:prstGeom prst="parallelogram">
              <a:avLst>
                <a:gd name="adj" fmla="val 129308"/>
              </a:avLst>
            </a:prstGeom>
            <a:solidFill>
              <a:srgbClr val="7F7F7F">
                <a:alpha val="82000"/>
              </a:srgb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FFFFFF"/>
                  </a:solidFill>
                  <a:ea typeface="Verdana" panose="020B0604030504040204" pitchFamily="34" charset="0"/>
                  <a:cs typeface="Verdana" panose="020B0604030504040204" pitchFamily="34" charset="0"/>
                </a:rPr>
                <a:t>d. State Energy Balance Sheet</a:t>
              </a:r>
              <a:endParaRPr lang="en-US" sz="1200" dirty="0">
                <a:solidFill>
                  <a:srgbClr val="FFFFFF"/>
                </a:solidFill>
                <a:ea typeface="Verdana" panose="020B0604030504040204" pitchFamily="34" charset="0"/>
                <a:cs typeface="Verdana" panose="020B0604030504040204" pitchFamily="34" charset="0"/>
              </a:endParaRPr>
            </a:p>
          </p:txBody>
        </p:sp>
        <p:sp>
          <p:nvSpPr>
            <p:cNvPr id="31" name="Parallelogram 30">
              <a:extLst>
                <a:ext uri="{FF2B5EF4-FFF2-40B4-BE49-F238E27FC236}">
                  <a16:creationId xmlns:a16="http://schemas.microsoft.com/office/drawing/2014/main" id="{673DD155-7E43-4BD5-94D4-BD92FF8C5FB7}"/>
                </a:ext>
              </a:extLst>
            </p:cNvPr>
            <p:cNvSpPr/>
            <p:nvPr/>
          </p:nvSpPr>
          <p:spPr>
            <a:xfrm rot="300000">
              <a:off x="420422" y="3296318"/>
              <a:ext cx="3573178" cy="829271"/>
            </a:xfrm>
            <a:prstGeom prst="parallelogram">
              <a:avLst>
                <a:gd name="adj" fmla="val 129308"/>
              </a:avLst>
            </a:prstGeom>
            <a:solidFill>
              <a:schemeClr val="accent1">
                <a:lumMod val="40000"/>
                <a:lumOff val="60000"/>
                <a:alpha val="82000"/>
              </a:scheme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c. Sectoral Data Sheets</a:t>
              </a:r>
              <a:endParaRPr lang="en-US" sz="1200" dirty="0">
                <a:solidFill>
                  <a:srgbClr val="000000"/>
                </a:solidFill>
                <a:ea typeface="Verdana" panose="020B0604030504040204" pitchFamily="34" charset="0"/>
                <a:cs typeface="Verdana" panose="020B0604030504040204" pitchFamily="34" charset="0"/>
              </a:endParaRPr>
            </a:p>
          </p:txBody>
        </p:sp>
        <p:sp>
          <p:nvSpPr>
            <p:cNvPr id="32" name="Parallelogram 31">
              <a:extLst>
                <a:ext uri="{FF2B5EF4-FFF2-40B4-BE49-F238E27FC236}">
                  <a16:creationId xmlns:a16="http://schemas.microsoft.com/office/drawing/2014/main" id="{28C8DA03-D75B-4C31-BBD8-7C786D0D6F67}"/>
                </a:ext>
              </a:extLst>
            </p:cNvPr>
            <p:cNvSpPr/>
            <p:nvPr/>
          </p:nvSpPr>
          <p:spPr>
            <a:xfrm rot="300000">
              <a:off x="420422" y="2622922"/>
              <a:ext cx="3573178" cy="829271"/>
            </a:xfrm>
            <a:prstGeom prst="parallelogram">
              <a:avLst>
                <a:gd name="adj" fmla="val 129308"/>
              </a:avLst>
            </a:prstGeom>
            <a:solidFill>
              <a:schemeClr val="accent1">
                <a:lumMod val="60000"/>
                <a:lumOff val="40000"/>
                <a:alpha val="82000"/>
              </a:scheme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b. Data Collection</a:t>
              </a:r>
              <a:endParaRPr lang="en-US" sz="1200" dirty="0">
                <a:solidFill>
                  <a:srgbClr val="000000"/>
                </a:solidFill>
                <a:ea typeface="Verdana" panose="020B0604030504040204" pitchFamily="34" charset="0"/>
                <a:cs typeface="Verdana" panose="020B0604030504040204" pitchFamily="34" charset="0"/>
              </a:endParaRPr>
            </a:p>
          </p:txBody>
        </p:sp>
        <p:sp>
          <p:nvSpPr>
            <p:cNvPr id="33" name="Parallelogram 32">
              <a:extLst>
                <a:ext uri="{FF2B5EF4-FFF2-40B4-BE49-F238E27FC236}">
                  <a16:creationId xmlns:a16="http://schemas.microsoft.com/office/drawing/2014/main" id="{B1137AB4-79AA-408C-B526-A05DFCDA81BC}"/>
                </a:ext>
              </a:extLst>
            </p:cNvPr>
            <p:cNvSpPr/>
            <p:nvPr/>
          </p:nvSpPr>
          <p:spPr>
            <a:xfrm rot="300000">
              <a:off x="420422" y="1879634"/>
              <a:ext cx="3573178" cy="829271"/>
            </a:xfrm>
            <a:prstGeom prst="parallelogram">
              <a:avLst>
                <a:gd name="adj" fmla="val 129308"/>
              </a:avLst>
            </a:prstGeom>
            <a:solidFill>
              <a:schemeClr val="accent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a. Data Collection Framework </a:t>
              </a:r>
              <a:endParaRPr lang="en-US" sz="1200" dirty="0">
                <a:solidFill>
                  <a:srgbClr val="000000"/>
                </a:solidFill>
                <a:ea typeface="Verdana" panose="020B0604030504040204" pitchFamily="34" charset="0"/>
                <a:cs typeface="Verdana" panose="020B0604030504040204" pitchFamily="34" charset="0"/>
              </a:endParaRPr>
            </a:p>
          </p:txBody>
        </p:sp>
      </p:grpSp>
      <p:cxnSp>
        <p:nvCxnSpPr>
          <p:cNvPr id="38" name="Straight Connector 37">
            <a:extLst>
              <a:ext uri="{FF2B5EF4-FFF2-40B4-BE49-F238E27FC236}">
                <a16:creationId xmlns:a16="http://schemas.microsoft.com/office/drawing/2014/main" id="{D179B4C5-B0AC-4983-98BC-19D4DA3810A4}"/>
              </a:ext>
            </a:extLst>
          </p:cNvPr>
          <p:cNvCxnSpPr/>
          <p:nvPr/>
        </p:nvCxnSpPr>
        <p:spPr>
          <a:xfrm>
            <a:off x="1015774" y="1027962"/>
            <a:ext cx="4206240" cy="0"/>
          </a:xfrm>
          <a:prstGeom prst="line">
            <a:avLst/>
          </a:prstGeom>
          <a:ln w="1905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A37D605E-19D9-45C7-AD40-89E032189BAF}"/>
              </a:ext>
            </a:extLst>
          </p:cNvPr>
          <p:cNvSpPr txBox="1"/>
          <p:nvPr/>
        </p:nvSpPr>
        <p:spPr>
          <a:xfrm>
            <a:off x="1015774" y="823680"/>
            <a:ext cx="1572546" cy="184666"/>
          </a:xfrm>
          <a:prstGeom prst="rect">
            <a:avLst/>
          </a:prstGeom>
          <a:noFill/>
        </p:spPr>
        <p:txBody>
          <a:bodyPr wrap="none" lIns="0" tIns="0" rIns="0" bIns="0" rtlCol="0">
            <a:spAutoFit/>
          </a:bodyPr>
          <a:lstStyle/>
          <a:p>
            <a:pPr lvl="0">
              <a:defRPr/>
            </a:pPr>
            <a:r>
              <a:rPr lang="en-US" sz="1200" b="1" dirty="0" smtClean="0">
                <a:solidFill>
                  <a:srgbClr val="000000"/>
                </a:solidFill>
                <a:ea typeface="Verdana" panose="020B0604030504040204" pitchFamily="34" charset="0"/>
                <a:cs typeface="Verdana" panose="020B0604030504040204" pitchFamily="34" charset="0"/>
              </a:rPr>
              <a:t>Activities: Stage 1</a:t>
            </a:r>
            <a:endParaRPr lang="en-US" sz="1200" b="1" dirty="0">
              <a:solidFill>
                <a:srgbClr val="000000"/>
              </a:solidFill>
              <a:ea typeface="Verdana" panose="020B0604030504040204" pitchFamily="34" charset="0"/>
              <a:cs typeface="Verdana" panose="020B0604030504040204" pitchFamily="34" charset="0"/>
            </a:endParaRPr>
          </a:p>
        </p:txBody>
      </p:sp>
      <p:cxnSp>
        <p:nvCxnSpPr>
          <p:cNvPr id="40" name="Straight Connector 39">
            <a:extLst>
              <a:ext uri="{FF2B5EF4-FFF2-40B4-BE49-F238E27FC236}">
                <a16:creationId xmlns:a16="http://schemas.microsoft.com/office/drawing/2014/main" id="{C6EE9C1E-52BD-4993-AB98-8696ADE5E5DF}"/>
              </a:ext>
            </a:extLst>
          </p:cNvPr>
          <p:cNvCxnSpPr/>
          <p:nvPr/>
        </p:nvCxnSpPr>
        <p:spPr>
          <a:xfrm>
            <a:off x="5589881" y="1027962"/>
            <a:ext cx="6053328" cy="0"/>
          </a:xfrm>
          <a:prstGeom prst="line">
            <a:avLst/>
          </a:prstGeom>
          <a:ln w="1905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7910DF8-27C3-412A-AFE8-EA971A57B0AB}"/>
              </a:ext>
            </a:extLst>
          </p:cNvPr>
          <p:cNvSpPr txBox="1"/>
          <p:nvPr/>
        </p:nvSpPr>
        <p:spPr>
          <a:xfrm>
            <a:off x="5589881" y="823680"/>
            <a:ext cx="1280800" cy="184666"/>
          </a:xfrm>
          <a:prstGeom prst="rect">
            <a:avLst/>
          </a:prstGeom>
          <a:noFill/>
          <a:ln>
            <a:noFill/>
          </a:ln>
        </p:spPr>
        <p:txBody>
          <a:bodyPr wrap="none" lIns="0" tIns="0" rIns="0" bIns="0" rtlCol="0">
            <a:spAutoFit/>
          </a:bodyPr>
          <a:lstStyle/>
          <a:p>
            <a:pPr lvl="0">
              <a:defRPr/>
            </a:pPr>
            <a:r>
              <a:rPr lang="en-US" sz="1200" dirty="0" smtClean="0">
                <a:solidFill>
                  <a:srgbClr val="000000"/>
                </a:solidFill>
                <a:ea typeface="Verdana" panose="020B0604030504040204" pitchFamily="34" charset="0"/>
                <a:cs typeface="Verdana" panose="020B0604030504040204" pitchFamily="34" charset="0"/>
              </a:rPr>
              <a:t>Brief Description</a:t>
            </a:r>
            <a:endParaRPr lang="en-US" sz="1200" dirty="0">
              <a:solidFill>
                <a:srgbClr val="000000"/>
              </a:solidFill>
              <a:ea typeface="Verdana" panose="020B0604030504040204" pitchFamily="34" charset="0"/>
              <a:cs typeface="Verdana" panose="020B0604030504040204" pitchFamily="34" charset="0"/>
            </a:endParaRPr>
          </a:p>
        </p:txBody>
      </p:sp>
      <p:graphicFrame>
        <p:nvGraphicFramePr>
          <p:cNvPr id="42" name="Table 41">
            <a:extLst>
              <a:ext uri="{FF2B5EF4-FFF2-40B4-BE49-F238E27FC236}">
                <a16:creationId xmlns:a16="http://schemas.microsoft.com/office/drawing/2014/main" id="{D00A8DDA-BEC2-4228-AA98-BB1AB118D985}"/>
              </a:ext>
            </a:extLst>
          </p:cNvPr>
          <p:cNvGraphicFramePr>
            <a:graphicFrameLocks noGrp="1"/>
          </p:cNvGraphicFramePr>
          <p:nvPr>
            <p:extLst>
              <p:ext uri="{D42A27DB-BD31-4B8C-83A1-F6EECF244321}">
                <p14:modId xmlns:p14="http://schemas.microsoft.com/office/powerpoint/2010/main" val="539957078"/>
              </p:ext>
            </p:extLst>
          </p:nvPr>
        </p:nvGraphicFramePr>
        <p:xfrm>
          <a:off x="5589881" y="1292493"/>
          <a:ext cx="6051176" cy="2805483"/>
        </p:xfrm>
        <a:graphic>
          <a:graphicData uri="http://schemas.openxmlformats.org/drawingml/2006/table">
            <a:tbl>
              <a:tblPr firstRow="1" bandRow="1">
                <a:tableStyleId>{5C22544A-7EE6-4342-B048-85BDC9FD1C3A}</a:tableStyleId>
              </a:tblPr>
              <a:tblGrid>
                <a:gridCol w="762123">
                  <a:extLst>
                    <a:ext uri="{9D8B030D-6E8A-4147-A177-3AD203B41FA5}">
                      <a16:colId xmlns:a16="http://schemas.microsoft.com/office/drawing/2014/main" val="3975474829"/>
                    </a:ext>
                  </a:extLst>
                </a:gridCol>
                <a:gridCol w="1617693">
                  <a:extLst>
                    <a:ext uri="{9D8B030D-6E8A-4147-A177-3AD203B41FA5}">
                      <a16:colId xmlns:a16="http://schemas.microsoft.com/office/drawing/2014/main" val="844568499"/>
                    </a:ext>
                  </a:extLst>
                </a:gridCol>
                <a:gridCol w="3671360">
                  <a:extLst>
                    <a:ext uri="{9D8B030D-6E8A-4147-A177-3AD203B41FA5}">
                      <a16:colId xmlns:a16="http://schemas.microsoft.com/office/drawing/2014/main" val="1868331620"/>
                    </a:ext>
                  </a:extLst>
                </a:gridCol>
              </a:tblGrid>
              <a:tr h="753535">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Data</a:t>
                      </a:r>
                      <a:r>
                        <a:rPr lang="en-US" sz="1100" b="1" baseline="0" dirty="0" smtClean="0">
                          <a:solidFill>
                            <a:schemeClr val="tx1"/>
                          </a:solidFill>
                          <a:latin typeface="+mn-lt"/>
                          <a:ea typeface="Verdana" panose="020B0604030504040204" pitchFamily="34" charset="0"/>
                          <a:cs typeface="Verdana" panose="020B0604030504040204" pitchFamily="34" charset="0"/>
                        </a:rPr>
                        <a:t> Collection Framework</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Identification of participating departments</a:t>
                      </a:r>
                      <a:r>
                        <a:rPr lang="en-US" sz="1100" b="0" baseline="0" dirty="0" smtClean="0">
                          <a:solidFill>
                            <a:schemeClr val="tx1"/>
                          </a:solidFill>
                          <a:latin typeface="+mn-lt"/>
                          <a:ea typeface="Verdana" panose="020B0604030504040204" pitchFamily="34" charset="0"/>
                          <a:cs typeface="Verdana" panose="020B0604030504040204" pitchFamily="34" charset="0"/>
                        </a:rPr>
                        <a:t> by State Secretariat </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Preparation of customized Data Collection frameworks</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0636766"/>
                  </a:ext>
                </a:extLst>
              </a:tr>
              <a:tr h="702733">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Data</a:t>
                      </a:r>
                      <a:r>
                        <a:rPr lang="en-US" sz="1100" b="1" baseline="0" dirty="0" smtClean="0">
                          <a:solidFill>
                            <a:schemeClr val="tx1"/>
                          </a:solidFill>
                          <a:latin typeface="+mn-lt"/>
                          <a:ea typeface="Verdana" panose="020B0604030504040204" pitchFamily="34" charset="0"/>
                          <a:cs typeface="Verdana" panose="020B0604030504040204" pitchFamily="34" charset="0"/>
                        </a:rPr>
                        <a:t> Collection</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Kicking-off</a:t>
                      </a:r>
                      <a:r>
                        <a:rPr lang="en-US" sz="1100" b="0" baseline="0" dirty="0" smtClean="0">
                          <a:solidFill>
                            <a:schemeClr val="tx1"/>
                          </a:solidFill>
                          <a:latin typeface="+mn-lt"/>
                          <a:ea typeface="Verdana" panose="020B0604030504040204" pitchFamily="34" charset="0"/>
                          <a:cs typeface="Verdana" panose="020B0604030504040204" pitchFamily="34" charset="0"/>
                        </a:rPr>
                        <a:t> program with initial data collection activities by the on-ground team </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Engaging in required stakeholder discussions</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2062843"/>
                  </a:ext>
                </a:extLst>
              </a:tr>
              <a:tr h="651933">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Sectoral</a:t>
                      </a:r>
                      <a:r>
                        <a:rPr lang="en-US" sz="1100" b="1" baseline="0" dirty="0" smtClean="0">
                          <a:solidFill>
                            <a:schemeClr val="tx1"/>
                          </a:solidFill>
                          <a:latin typeface="+mn-lt"/>
                          <a:ea typeface="Verdana" panose="020B0604030504040204" pitchFamily="34" charset="0"/>
                          <a:cs typeface="Verdana" panose="020B0604030504040204" pitchFamily="34" charset="0"/>
                        </a:rPr>
                        <a:t> Data Sheets</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Preparation</a:t>
                      </a:r>
                      <a:r>
                        <a:rPr lang="en-US" sz="1100" b="0" baseline="0" dirty="0" smtClean="0">
                          <a:solidFill>
                            <a:schemeClr val="tx1"/>
                          </a:solidFill>
                          <a:latin typeface="+mn-lt"/>
                          <a:ea typeface="Verdana" panose="020B0604030504040204" pitchFamily="34" charset="0"/>
                          <a:cs typeface="Verdana" panose="020B0604030504040204" pitchFamily="34" charset="0"/>
                        </a:rPr>
                        <a:t> of sectoral data-sheets based on collected data-sets</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Data validation with respective departments</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0558"/>
                  </a:ext>
                </a:extLst>
              </a:tr>
              <a:tr h="688817">
                <a:tc>
                  <a:txBody>
                    <a:bodyPr/>
                    <a:lstStyle/>
                    <a:p>
                      <a:pPr algn="l"/>
                      <a:endParaRPr lang="en-US" sz="11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State</a:t>
                      </a:r>
                      <a:r>
                        <a:rPr lang="en-US" sz="1100" b="1" baseline="0" dirty="0" smtClean="0">
                          <a:solidFill>
                            <a:schemeClr val="tx1"/>
                          </a:solidFill>
                          <a:latin typeface="+mn-lt"/>
                          <a:ea typeface="Verdana" panose="020B0604030504040204" pitchFamily="34" charset="0"/>
                          <a:cs typeface="Verdana" panose="020B0604030504040204" pitchFamily="34" charset="0"/>
                        </a:rPr>
                        <a:t> Energy Balance Sheet</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Data calibration for preparing</a:t>
                      </a:r>
                      <a:r>
                        <a:rPr lang="en-US" sz="1100" b="0" baseline="0" dirty="0" smtClean="0">
                          <a:solidFill>
                            <a:schemeClr val="tx1"/>
                          </a:solidFill>
                          <a:latin typeface="+mn-lt"/>
                          <a:ea typeface="Verdana" panose="020B0604030504040204" pitchFamily="34" charset="0"/>
                          <a:cs typeface="Verdana" panose="020B0604030504040204" pitchFamily="34" charset="0"/>
                        </a:rPr>
                        <a:t> input sets </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Formulation of State Energy Balance Sheet</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1345550"/>
                  </a:ext>
                </a:extLst>
              </a:tr>
            </a:tbl>
          </a:graphicData>
        </a:graphic>
      </p:graphicFrame>
      <p:pic>
        <p:nvPicPr>
          <p:cNvPr id="46" name="Picture 45">
            <a:extLst>
              <a:ext uri="{FF2B5EF4-FFF2-40B4-BE49-F238E27FC236}">
                <a16:creationId xmlns:a16="http://schemas.microsoft.com/office/drawing/2014/main" id="{8942D279-18DC-4A7A-8EE2-D70274A80797}"/>
              </a:ext>
            </a:extLst>
          </p:cNvPr>
          <p:cNvPicPr>
            <a:picLocks noChangeAspect="1"/>
          </p:cNvPicPr>
          <p:nvPr/>
        </p:nvPicPr>
        <p:blipFill rotWithShape="1">
          <a:blip r:embed="rId2"/>
          <a:srcRect l="50142" t="53678" r="44972" b="38547"/>
          <a:stretch/>
        </p:blipFill>
        <p:spPr>
          <a:xfrm>
            <a:off x="5783613" y="3551297"/>
            <a:ext cx="434894" cy="371412"/>
          </a:xfrm>
          <a:prstGeom prst="rect">
            <a:avLst/>
          </a:prstGeom>
        </p:spPr>
      </p:pic>
      <p:grpSp>
        <p:nvGrpSpPr>
          <p:cNvPr id="49" name="组合 268">
            <a:extLst>
              <a:ext uri="{FF2B5EF4-FFF2-40B4-BE49-F238E27FC236}">
                <a16:creationId xmlns:a16="http://schemas.microsoft.com/office/drawing/2014/main" id="{B305DFA1-97AF-43BC-83E5-DADADBC4C07C}"/>
              </a:ext>
            </a:extLst>
          </p:cNvPr>
          <p:cNvGrpSpPr/>
          <p:nvPr/>
        </p:nvGrpSpPr>
        <p:grpSpPr>
          <a:xfrm rot="16200000">
            <a:off x="-554880" y="2756367"/>
            <a:ext cx="2978065" cy="182199"/>
            <a:chOff x="499437" y="1535322"/>
            <a:chExt cx="862073" cy="192140"/>
          </a:xfrm>
        </p:grpSpPr>
        <p:cxnSp>
          <p:nvCxnSpPr>
            <p:cNvPr id="50" name="Straight Connector 20">
              <a:extLst>
                <a:ext uri="{FF2B5EF4-FFF2-40B4-BE49-F238E27FC236}">
                  <a16:creationId xmlns:a16="http://schemas.microsoft.com/office/drawing/2014/main" id="{7E90DFCE-5155-4D36-B2DB-AAD2E7197435}"/>
                </a:ext>
              </a:extLst>
            </p:cNvPr>
            <p:cNvCxnSpPr>
              <a:cxnSpLocks/>
            </p:cNvCxnSpPr>
            <p:nvPr/>
          </p:nvCxnSpPr>
          <p:spPr>
            <a:xfrm>
              <a:off x="500077" y="1629959"/>
              <a:ext cx="86143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Straight Connector 20">
              <a:extLst>
                <a:ext uri="{FF2B5EF4-FFF2-40B4-BE49-F238E27FC236}">
                  <a16:creationId xmlns:a16="http://schemas.microsoft.com/office/drawing/2014/main" id="{9BDC6F16-08DE-42FF-B394-0B21207E5C23}"/>
                </a:ext>
              </a:extLst>
            </p:cNvPr>
            <p:cNvCxnSpPr>
              <a:cxnSpLocks/>
            </p:cNvCxnSpPr>
            <p:nvPr/>
          </p:nvCxnSpPr>
          <p:spPr>
            <a:xfrm flipV="1">
              <a:off x="1360497" y="1535322"/>
              <a:ext cx="0" cy="19214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2" name="Straight Connector 20">
              <a:extLst>
                <a:ext uri="{FF2B5EF4-FFF2-40B4-BE49-F238E27FC236}">
                  <a16:creationId xmlns:a16="http://schemas.microsoft.com/office/drawing/2014/main" id="{3E969A22-EAC3-48C5-8232-B762C279C918}"/>
                </a:ext>
              </a:extLst>
            </p:cNvPr>
            <p:cNvCxnSpPr>
              <a:cxnSpLocks/>
            </p:cNvCxnSpPr>
            <p:nvPr/>
          </p:nvCxnSpPr>
          <p:spPr>
            <a:xfrm flipV="1">
              <a:off x="499437" y="1535322"/>
              <a:ext cx="0" cy="19214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3" name="Rectangle 52">
            <a:extLst>
              <a:ext uri="{FF2B5EF4-FFF2-40B4-BE49-F238E27FC236}">
                <a16:creationId xmlns:a16="http://schemas.microsoft.com/office/drawing/2014/main" id="{3F86F8EE-AEA6-43C0-ABF6-D65204E799C2}"/>
              </a:ext>
            </a:extLst>
          </p:cNvPr>
          <p:cNvSpPr/>
          <p:nvPr/>
        </p:nvSpPr>
        <p:spPr>
          <a:xfrm rot="16200000">
            <a:off x="-891357" y="2657311"/>
            <a:ext cx="2975855" cy="378099"/>
          </a:xfrm>
          <a:prstGeom prst="rect">
            <a:avLst/>
          </a:prstGeom>
        </p:spPr>
        <p:txBody>
          <a:bodyPr wrap="square" lIns="69643" tIns="34821" rIns="69643" bIns="34821">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000" dirty="0" smtClean="0">
                <a:latin typeface="+mj-lt"/>
                <a:ea typeface="Verdana" panose="020B0604030504040204" pitchFamily="34" charset="0"/>
                <a:cs typeface="Verdana" panose="020B0604030504040204" pitchFamily="34" charset="0"/>
              </a:rPr>
              <a:t>Key inputs/ data/ Support from participating Departments</a:t>
            </a:r>
            <a:endParaRPr kumimoji="0" lang="en-US" altLang="zh-CN" sz="100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59" name="Rounded Rectangle 58"/>
          <p:cNvSpPr/>
          <p:nvPr/>
        </p:nvSpPr>
        <p:spPr bwMode="gray">
          <a:xfrm>
            <a:off x="424937" y="4512680"/>
            <a:ext cx="11233537" cy="1451592"/>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nSpc>
                <a:spcPct val="106000"/>
              </a:lnSpc>
            </a:pPr>
            <a:r>
              <a:rPr lang="en-US" sz="1300" b="1" dirty="0" smtClean="0"/>
              <a:t>Highlights of Stage 1  </a:t>
            </a:r>
          </a:p>
          <a:p>
            <a:pPr marL="285750" indent="-285750">
              <a:lnSpc>
                <a:spcPct val="106000"/>
              </a:lnSpc>
              <a:buFont typeface="Wingdings" panose="05000000000000000000" pitchFamily="2" charset="2"/>
              <a:buChar char="§"/>
            </a:pPr>
            <a:r>
              <a:rPr lang="en-US" sz="1300" dirty="0" smtClean="0"/>
              <a:t>The on-ground timeline assessed for Stage 1 activities is around </a:t>
            </a:r>
            <a:r>
              <a:rPr lang="en-US" sz="1300" b="1" dirty="0" smtClean="0"/>
              <a:t>7 months </a:t>
            </a:r>
            <a:r>
              <a:rPr lang="en-US" sz="1300" dirty="0" smtClean="0"/>
              <a:t>(includes PMU Capacity Building &amp; creating/ validating baseline database and baseline energy scenarios) </a:t>
            </a:r>
          </a:p>
          <a:p>
            <a:pPr marL="285750" indent="-285750">
              <a:lnSpc>
                <a:spcPct val="106000"/>
              </a:lnSpc>
              <a:buFont typeface="Wingdings" panose="05000000000000000000" pitchFamily="2" charset="2"/>
              <a:buChar char="§"/>
            </a:pPr>
            <a:r>
              <a:rPr lang="en-US" sz="1300" dirty="0" smtClean="0"/>
              <a:t>Broad objective/ goal of Stage-1 activities are creating a </a:t>
            </a:r>
            <a:r>
              <a:rPr lang="en-US" sz="1300" b="1" dirty="0" smtClean="0"/>
              <a:t>clear picture about State-level energy aspirations </a:t>
            </a:r>
            <a:r>
              <a:rPr lang="en-US" sz="1300" dirty="0" smtClean="0"/>
              <a:t>&amp; preparation of baseline for next levels of analysis</a:t>
            </a:r>
          </a:p>
          <a:p>
            <a:pPr marL="285750" indent="-285750">
              <a:lnSpc>
                <a:spcPct val="106000"/>
              </a:lnSpc>
              <a:buFont typeface="Wingdings" panose="05000000000000000000" pitchFamily="2" charset="2"/>
              <a:buChar char="§"/>
            </a:pPr>
            <a:r>
              <a:rPr lang="en-US" sz="1300" dirty="0" smtClean="0"/>
              <a:t>The major outcome is </a:t>
            </a:r>
            <a:r>
              <a:rPr lang="en-US" sz="1300" b="1" dirty="0" smtClean="0"/>
              <a:t>framing Energy Balance Sheet</a:t>
            </a:r>
            <a:r>
              <a:rPr lang="en-US" sz="1300" dirty="0" smtClean="0"/>
              <a:t>, a scientific and methodical input model for creating scenarios  </a:t>
            </a:r>
          </a:p>
        </p:txBody>
      </p:sp>
      <p:sp>
        <p:nvSpPr>
          <p:cNvPr id="3" name="Pentagon 2">
            <a:hlinkClick r:id="rId3" action="ppaction://hlinksldjump"/>
          </p:cNvPr>
          <p:cNvSpPr/>
          <p:nvPr/>
        </p:nvSpPr>
        <p:spPr bwMode="gray">
          <a:xfrm>
            <a:off x="9056914" y="6105615"/>
            <a:ext cx="2584143" cy="295181"/>
          </a:xfrm>
          <a:prstGeom prst="homePlate">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800" b="1" i="1" dirty="0" smtClean="0"/>
              <a:t>Annexure</a:t>
            </a:r>
            <a:r>
              <a:rPr lang="en-US" sz="800" i="1" dirty="0" smtClean="0"/>
              <a:t>: Sample Energy Balance Sheet</a:t>
            </a:r>
            <a:endParaRPr lang="en-IN" sz="800" i="1" dirty="0" smtClean="0"/>
          </a:p>
        </p:txBody>
      </p:sp>
      <p:grpSp>
        <p:nvGrpSpPr>
          <p:cNvPr id="74" name="Group 614">
            <a:extLst>
              <a:ext uri="{FF2B5EF4-FFF2-40B4-BE49-F238E27FC236}">
                <a16:creationId xmlns:a16="http://schemas.microsoft.com/office/drawing/2014/main" id="{CB263A05-0494-4BD0-8D82-CF4A065A95EB}"/>
              </a:ext>
            </a:extLst>
          </p:cNvPr>
          <p:cNvGrpSpPr>
            <a:grpSpLocks noChangeAspect="1"/>
          </p:cNvGrpSpPr>
          <p:nvPr/>
        </p:nvGrpSpPr>
        <p:grpSpPr bwMode="auto">
          <a:xfrm>
            <a:off x="5875448" y="1646609"/>
            <a:ext cx="198634" cy="152214"/>
            <a:chOff x="3858" y="2757"/>
            <a:chExt cx="184" cy="141"/>
          </a:xfrm>
          <a:solidFill>
            <a:schemeClr val="accent1"/>
          </a:solidFill>
        </p:grpSpPr>
        <p:sp>
          <p:nvSpPr>
            <p:cNvPr id="75" name="Freeform 615">
              <a:extLst>
                <a:ext uri="{FF2B5EF4-FFF2-40B4-BE49-F238E27FC236}">
                  <a16:creationId xmlns:a16="http://schemas.microsoft.com/office/drawing/2014/main" id="{40C7E478-6DAB-4AF5-92EE-C90AF44713C8}"/>
                </a:ext>
              </a:extLst>
            </p:cNvPr>
            <p:cNvSpPr>
              <a:spLocks/>
            </p:cNvSpPr>
            <p:nvPr/>
          </p:nvSpPr>
          <p:spPr bwMode="auto">
            <a:xfrm>
              <a:off x="3858" y="2799"/>
              <a:ext cx="28" cy="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6" name="Freeform 616">
              <a:extLst>
                <a:ext uri="{FF2B5EF4-FFF2-40B4-BE49-F238E27FC236}">
                  <a16:creationId xmlns:a16="http://schemas.microsoft.com/office/drawing/2014/main" id="{38D00208-D411-4D3B-A7FA-67643384F58D}"/>
                </a:ext>
              </a:extLst>
            </p:cNvPr>
            <p:cNvSpPr>
              <a:spLocks/>
            </p:cNvSpPr>
            <p:nvPr/>
          </p:nvSpPr>
          <p:spPr bwMode="auto">
            <a:xfrm>
              <a:off x="3858" y="2757"/>
              <a:ext cx="28" cy="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7" name="Freeform 617">
              <a:extLst>
                <a:ext uri="{FF2B5EF4-FFF2-40B4-BE49-F238E27FC236}">
                  <a16:creationId xmlns:a16="http://schemas.microsoft.com/office/drawing/2014/main" id="{D3E254D2-E294-404B-8DD2-2A2C8333C493}"/>
                </a:ext>
              </a:extLst>
            </p:cNvPr>
            <p:cNvSpPr>
              <a:spLocks/>
            </p:cNvSpPr>
            <p:nvPr/>
          </p:nvSpPr>
          <p:spPr bwMode="auto">
            <a:xfrm>
              <a:off x="3858" y="2842"/>
              <a:ext cx="28" cy="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8" name="Freeform 618">
              <a:extLst>
                <a:ext uri="{FF2B5EF4-FFF2-40B4-BE49-F238E27FC236}">
                  <a16:creationId xmlns:a16="http://schemas.microsoft.com/office/drawing/2014/main" id="{329EBF17-6AFF-4D91-AB20-56059856195F}"/>
                </a:ext>
              </a:extLst>
            </p:cNvPr>
            <p:cNvSpPr>
              <a:spLocks/>
            </p:cNvSpPr>
            <p:nvPr/>
          </p:nvSpPr>
          <p:spPr bwMode="auto">
            <a:xfrm>
              <a:off x="3907" y="2799"/>
              <a:ext cx="135" cy="14"/>
            </a:xfrm>
            <a:custGeom>
              <a:avLst/>
              <a:gdLst>
                <a:gd name="T0" fmla="*/ 192 w 202"/>
                <a:gd name="T1" fmla="*/ 0 h 21"/>
                <a:gd name="T2" fmla="*/ 10 w 202"/>
                <a:gd name="T3" fmla="*/ 0 h 21"/>
                <a:gd name="T4" fmla="*/ 0 w 202"/>
                <a:gd name="T5" fmla="*/ 11 h 21"/>
                <a:gd name="T6" fmla="*/ 10 w 202"/>
                <a:gd name="T7" fmla="*/ 21 h 21"/>
                <a:gd name="T8" fmla="*/ 192 w 202"/>
                <a:gd name="T9" fmla="*/ 21 h 21"/>
                <a:gd name="T10" fmla="*/ 202 w 202"/>
                <a:gd name="T11" fmla="*/ 11 h 21"/>
                <a:gd name="T12" fmla="*/ 192 w 20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92" y="0"/>
                  </a:moveTo>
                  <a:cubicBezTo>
                    <a:pt x="10" y="0"/>
                    <a:pt x="10" y="0"/>
                    <a:pt x="10" y="0"/>
                  </a:cubicBezTo>
                  <a:cubicBezTo>
                    <a:pt x="4" y="0"/>
                    <a:pt x="0" y="5"/>
                    <a:pt x="0" y="11"/>
                  </a:cubicBezTo>
                  <a:cubicBezTo>
                    <a:pt x="0" y="17"/>
                    <a:pt x="4" y="21"/>
                    <a:pt x="10" y="21"/>
                  </a:cubicBezTo>
                  <a:cubicBezTo>
                    <a:pt x="192" y="21"/>
                    <a:pt x="192" y="21"/>
                    <a:pt x="192" y="21"/>
                  </a:cubicBezTo>
                  <a:cubicBezTo>
                    <a:pt x="198" y="21"/>
                    <a:pt x="202" y="17"/>
                    <a:pt x="202" y="11"/>
                  </a:cubicBezTo>
                  <a:cubicBezTo>
                    <a:pt x="202" y="5"/>
                    <a:pt x="198" y="0"/>
                    <a:pt x="19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9" name="Freeform 619">
              <a:extLst>
                <a:ext uri="{FF2B5EF4-FFF2-40B4-BE49-F238E27FC236}">
                  <a16:creationId xmlns:a16="http://schemas.microsoft.com/office/drawing/2014/main" id="{4466F518-EB9B-4D71-BF00-DBA0D58A385C}"/>
                </a:ext>
              </a:extLst>
            </p:cNvPr>
            <p:cNvSpPr>
              <a:spLocks/>
            </p:cNvSpPr>
            <p:nvPr/>
          </p:nvSpPr>
          <p:spPr bwMode="auto">
            <a:xfrm>
              <a:off x="3907" y="2757"/>
              <a:ext cx="135" cy="14"/>
            </a:xfrm>
            <a:custGeom>
              <a:avLst/>
              <a:gdLst>
                <a:gd name="T0" fmla="*/ 10 w 202"/>
                <a:gd name="T1" fmla="*/ 21 h 21"/>
                <a:gd name="T2" fmla="*/ 192 w 202"/>
                <a:gd name="T3" fmla="*/ 21 h 21"/>
                <a:gd name="T4" fmla="*/ 202 w 202"/>
                <a:gd name="T5" fmla="*/ 11 h 21"/>
                <a:gd name="T6" fmla="*/ 192 w 202"/>
                <a:gd name="T7" fmla="*/ 0 h 21"/>
                <a:gd name="T8" fmla="*/ 10 w 202"/>
                <a:gd name="T9" fmla="*/ 0 h 21"/>
                <a:gd name="T10" fmla="*/ 0 w 202"/>
                <a:gd name="T11" fmla="*/ 11 h 21"/>
                <a:gd name="T12" fmla="*/ 10 w 202"/>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0" y="21"/>
                  </a:moveTo>
                  <a:cubicBezTo>
                    <a:pt x="192" y="21"/>
                    <a:pt x="192" y="21"/>
                    <a:pt x="192" y="21"/>
                  </a:cubicBezTo>
                  <a:cubicBezTo>
                    <a:pt x="198" y="21"/>
                    <a:pt x="202" y="17"/>
                    <a:pt x="202" y="11"/>
                  </a:cubicBezTo>
                  <a:cubicBezTo>
                    <a:pt x="202" y="5"/>
                    <a:pt x="198" y="0"/>
                    <a:pt x="192" y="0"/>
                  </a:cubicBezTo>
                  <a:cubicBezTo>
                    <a:pt x="10" y="0"/>
                    <a:pt x="10" y="0"/>
                    <a:pt x="10" y="0"/>
                  </a:cubicBezTo>
                  <a:cubicBezTo>
                    <a:pt x="4" y="0"/>
                    <a:pt x="0" y="5"/>
                    <a:pt x="0" y="11"/>
                  </a:cubicBezTo>
                  <a:cubicBezTo>
                    <a:pt x="0" y="17"/>
                    <a:pt x="4" y="21"/>
                    <a:pt x="10"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0" name="Freeform 620">
              <a:extLst>
                <a:ext uri="{FF2B5EF4-FFF2-40B4-BE49-F238E27FC236}">
                  <a16:creationId xmlns:a16="http://schemas.microsoft.com/office/drawing/2014/main" id="{9190DE0B-8E15-456D-A1D6-A72D06ECE3F0}"/>
                </a:ext>
              </a:extLst>
            </p:cNvPr>
            <p:cNvSpPr>
              <a:spLocks/>
            </p:cNvSpPr>
            <p:nvPr/>
          </p:nvSpPr>
          <p:spPr bwMode="auto">
            <a:xfrm>
              <a:off x="3907" y="2842"/>
              <a:ext cx="135" cy="14"/>
            </a:xfrm>
            <a:custGeom>
              <a:avLst/>
              <a:gdLst>
                <a:gd name="T0" fmla="*/ 192 w 202"/>
                <a:gd name="T1" fmla="*/ 0 h 21"/>
                <a:gd name="T2" fmla="*/ 10 w 202"/>
                <a:gd name="T3" fmla="*/ 0 h 21"/>
                <a:gd name="T4" fmla="*/ 0 w 202"/>
                <a:gd name="T5" fmla="*/ 11 h 21"/>
                <a:gd name="T6" fmla="*/ 10 w 202"/>
                <a:gd name="T7" fmla="*/ 21 h 21"/>
                <a:gd name="T8" fmla="*/ 192 w 202"/>
                <a:gd name="T9" fmla="*/ 21 h 21"/>
                <a:gd name="T10" fmla="*/ 202 w 202"/>
                <a:gd name="T11" fmla="*/ 11 h 21"/>
                <a:gd name="T12" fmla="*/ 192 w 20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92" y="0"/>
                  </a:moveTo>
                  <a:cubicBezTo>
                    <a:pt x="10" y="0"/>
                    <a:pt x="10" y="0"/>
                    <a:pt x="10" y="0"/>
                  </a:cubicBezTo>
                  <a:cubicBezTo>
                    <a:pt x="4" y="0"/>
                    <a:pt x="0" y="5"/>
                    <a:pt x="0" y="11"/>
                  </a:cubicBezTo>
                  <a:cubicBezTo>
                    <a:pt x="0" y="17"/>
                    <a:pt x="4" y="21"/>
                    <a:pt x="10" y="21"/>
                  </a:cubicBezTo>
                  <a:cubicBezTo>
                    <a:pt x="192" y="21"/>
                    <a:pt x="192" y="21"/>
                    <a:pt x="192" y="21"/>
                  </a:cubicBezTo>
                  <a:cubicBezTo>
                    <a:pt x="198" y="21"/>
                    <a:pt x="202" y="17"/>
                    <a:pt x="202" y="11"/>
                  </a:cubicBezTo>
                  <a:cubicBezTo>
                    <a:pt x="202" y="5"/>
                    <a:pt x="198" y="0"/>
                    <a:pt x="19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 name="Freeform 621">
              <a:extLst>
                <a:ext uri="{FF2B5EF4-FFF2-40B4-BE49-F238E27FC236}">
                  <a16:creationId xmlns:a16="http://schemas.microsoft.com/office/drawing/2014/main" id="{C9967790-88E5-4C5E-932D-F3719A33C88E}"/>
                </a:ext>
              </a:extLst>
            </p:cNvPr>
            <p:cNvSpPr>
              <a:spLocks/>
            </p:cNvSpPr>
            <p:nvPr/>
          </p:nvSpPr>
          <p:spPr bwMode="auto">
            <a:xfrm>
              <a:off x="3858" y="2884"/>
              <a:ext cx="28" cy="14"/>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2" name="Freeform 622">
              <a:extLst>
                <a:ext uri="{FF2B5EF4-FFF2-40B4-BE49-F238E27FC236}">
                  <a16:creationId xmlns:a16="http://schemas.microsoft.com/office/drawing/2014/main" id="{EC9D6E3E-7183-4F34-A459-5F03D8078A3E}"/>
                </a:ext>
              </a:extLst>
            </p:cNvPr>
            <p:cNvSpPr>
              <a:spLocks/>
            </p:cNvSpPr>
            <p:nvPr/>
          </p:nvSpPr>
          <p:spPr bwMode="auto">
            <a:xfrm>
              <a:off x="3907" y="2884"/>
              <a:ext cx="135" cy="14"/>
            </a:xfrm>
            <a:custGeom>
              <a:avLst/>
              <a:gdLst>
                <a:gd name="T0" fmla="*/ 192 w 202"/>
                <a:gd name="T1" fmla="*/ 0 h 21"/>
                <a:gd name="T2" fmla="*/ 10 w 202"/>
                <a:gd name="T3" fmla="*/ 0 h 21"/>
                <a:gd name="T4" fmla="*/ 0 w 202"/>
                <a:gd name="T5" fmla="*/ 11 h 21"/>
                <a:gd name="T6" fmla="*/ 10 w 202"/>
                <a:gd name="T7" fmla="*/ 21 h 21"/>
                <a:gd name="T8" fmla="*/ 192 w 202"/>
                <a:gd name="T9" fmla="*/ 21 h 21"/>
                <a:gd name="T10" fmla="*/ 202 w 202"/>
                <a:gd name="T11" fmla="*/ 11 h 21"/>
                <a:gd name="T12" fmla="*/ 192 w 20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202" h="21">
                  <a:moveTo>
                    <a:pt x="192" y="0"/>
                  </a:moveTo>
                  <a:cubicBezTo>
                    <a:pt x="10" y="0"/>
                    <a:pt x="10" y="0"/>
                    <a:pt x="10" y="0"/>
                  </a:cubicBezTo>
                  <a:cubicBezTo>
                    <a:pt x="4" y="0"/>
                    <a:pt x="0" y="5"/>
                    <a:pt x="0" y="11"/>
                  </a:cubicBezTo>
                  <a:cubicBezTo>
                    <a:pt x="0" y="17"/>
                    <a:pt x="4" y="21"/>
                    <a:pt x="10" y="21"/>
                  </a:cubicBezTo>
                  <a:cubicBezTo>
                    <a:pt x="192" y="21"/>
                    <a:pt x="192" y="21"/>
                    <a:pt x="192" y="21"/>
                  </a:cubicBezTo>
                  <a:cubicBezTo>
                    <a:pt x="198" y="21"/>
                    <a:pt x="202" y="17"/>
                    <a:pt x="202" y="11"/>
                  </a:cubicBezTo>
                  <a:cubicBezTo>
                    <a:pt x="202" y="5"/>
                    <a:pt x="198" y="0"/>
                    <a:pt x="192"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94" name="Freeform 350">
            <a:extLst>
              <a:ext uri="{FF2B5EF4-FFF2-40B4-BE49-F238E27FC236}">
                <a16:creationId xmlns:a16="http://schemas.microsoft.com/office/drawing/2014/main" id="{8A97F893-38CA-46E6-BA54-0CD8211428C0}"/>
              </a:ext>
            </a:extLst>
          </p:cNvPr>
          <p:cNvSpPr>
            <a:spLocks noEditPoints="1"/>
          </p:cNvSpPr>
          <p:nvPr/>
        </p:nvSpPr>
        <p:spPr bwMode="auto">
          <a:xfrm>
            <a:off x="5864547" y="2295482"/>
            <a:ext cx="251082" cy="294233"/>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95" name="Freeform 388">
            <a:extLst>
              <a:ext uri="{FF2B5EF4-FFF2-40B4-BE49-F238E27FC236}">
                <a16:creationId xmlns:a16="http://schemas.microsoft.com/office/drawing/2014/main" id="{7E212DC1-A664-41CD-88A8-9BA264FA7707}"/>
              </a:ext>
            </a:extLst>
          </p:cNvPr>
          <p:cNvSpPr>
            <a:spLocks noEditPoints="1"/>
          </p:cNvSpPr>
          <p:nvPr/>
        </p:nvSpPr>
        <p:spPr bwMode="auto">
          <a:xfrm>
            <a:off x="5864547" y="2989706"/>
            <a:ext cx="251082" cy="201985"/>
          </a:xfrm>
          <a:custGeom>
            <a:avLst/>
            <a:gdLst>
              <a:gd name="T0" fmla="*/ 64 w 320"/>
              <a:gd name="T1" fmla="*/ 0 h 213"/>
              <a:gd name="T2" fmla="*/ 10 w 320"/>
              <a:gd name="T3" fmla="*/ 0 h 213"/>
              <a:gd name="T4" fmla="*/ 0 w 320"/>
              <a:gd name="T5" fmla="*/ 11 h 213"/>
              <a:gd name="T6" fmla="*/ 0 w 320"/>
              <a:gd name="T7" fmla="*/ 64 h 213"/>
              <a:gd name="T8" fmla="*/ 10 w 320"/>
              <a:gd name="T9" fmla="*/ 75 h 213"/>
              <a:gd name="T10" fmla="*/ 64 w 320"/>
              <a:gd name="T11" fmla="*/ 75 h 213"/>
              <a:gd name="T12" fmla="*/ 74 w 320"/>
              <a:gd name="T13" fmla="*/ 64 h 213"/>
              <a:gd name="T14" fmla="*/ 74 w 320"/>
              <a:gd name="T15" fmla="*/ 11 h 213"/>
              <a:gd name="T16" fmla="*/ 64 w 320"/>
              <a:gd name="T17" fmla="*/ 0 h 213"/>
              <a:gd name="T18" fmla="*/ 53 w 320"/>
              <a:gd name="T19" fmla="*/ 53 h 213"/>
              <a:gd name="T20" fmla="*/ 21 w 320"/>
              <a:gd name="T21" fmla="*/ 53 h 213"/>
              <a:gd name="T22" fmla="*/ 21 w 320"/>
              <a:gd name="T23" fmla="*/ 21 h 213"/>
              <a:gd name="T24" fmla="*/ 53 w 320"/>
              <a:gd name="T25" fmla="*/ 21 h 213"/>
              <a:gd name="T26" fmla="*/ 53 w 320"/>
              <a:gd name="T27" fmla="*/ 53 h 213"/>
              <a:gd name="T28" fmla="*/ 117 w 320"/>
              <a:gd name="T29" fmla="*/ 11 h 213"/>
              <a:gd name="T30" fmla="*/ 128 w 320"/>
              <a:gd name="T31" fmla="*/ 0 h 213"/>
              <a:gd name="T32" fmla="*/ 309 w 320"/>
              <a:gd name="T33" fmla="*/ 0 h 213"/>
              <a:gd name="T34" fmla="*/ 320 w 320"/>
              <a:gd name="T35" fmla="*/ 11 h 213"/>
              <a:gd name="T36" fmla="*/ 309 w 320"/>
              <a:gd name="T37" fmla="*/ 21 h 213"/>
              <a:gd name="T38" fmla="*/ 128 w 320"/>
              <a:gd name="T39" fmla="*/ 21 h 213"/>
              <a:gd name="T40" fmla="*/ 117 w 320"/>
              <a:gd name="T41" fmla="*/ 11 h 213"/>
              <a:gd name="T42" fmla="*/ 320 w 320"/>
              <a:gd name="T43" fmla="*/ 64 h 213"/>
              <a:gd name="T44" fmla="*/ 309 w 320"/>
              <a:gd name="T45" fmla="*/ 75 h 213"/>
              <a:gd name="T46" fmla="*/ 128 w 320"/>
              <a:gd name="T47" fmla="*/ 75 h 213"/>
              <a:gd name="T48" fmla="*/ 117 w 320"/>
              <a:gd name="T49" fmla="*/ 64 h 213"/>
              <a:gd name="T50" fmla="*/ 128 w 320"/>
              <a:gd name="T51" fmla="*/ 53 h 213"/>
              <a:gd name="T52" fmla="*/ 309 w 320"/>
              <a:gd name="T53" fmla="*/ 53 h 213"/>
              <a:gd name="T54" fmla="*/ 320 w 320"/>
              <a:gd name="T55" fmla="*/ 64 h 213"/>
              <a:gd name="T56" fmla="*/ 64 w 320"/>
              <a:gd name="T57" fmla="*/ 139 h 213"/>
              <a:gd name="T58" fmla="*/ 10 w 320"/>
              <a:gd name="T59" fmla="*/ 139 h 213"/>
              <a:gd name="T60" fmla="*/ 0 w 320"/>
              <a:gd name="T61" fmla="*/ 149 h 213"/>
              <a:gd name="T62" fmla="*/ 0 w 320"/>
              <a:gd name="T63" fmla="*/ 203 h 213"/>
              <a:gd name="T64" fmla="*/ 10 w 320"/>
              <a:gd name="T65" fmla="*/ 213 h 213"/>
              <a:gd name="T66" fmla="*/ 64 w 320"/>
              <a:gd name="T67" fmla="*/ 213 h 213"/>
              <a:gd name="T68" fmla="*/ 74 w 320"/>
              <a:gd name="T69" fmla="*/ 203 h 213"/>
              <a:gd name="T70" fmla="*/ 74 w 320"/>
              <a:gd name="T71" fmla="*/ 149 h 213"/>
              <a:gd name="T72" fmla="*/ 64 w 320"/>
              <a:gd name="T73" fmla="*/ 139 h 213"/>
              <a:gd name="T74" fmla="*/ 53 w 320"/>
              <a:gd name="T75" fmla="*/ 192 h 213"/>
              <a:gd name="T76" fmla="*/ 21 w 320"/>
              <a:gd name="T77" fmla="*/ 192 h 213"/>
              <a:gd name="T78" fmla="*/ 21 w 320"/>
              <a:gd name="T79" fmla="*/ 160 h 213"/>
              <a:gd name="T80" fmla="*/ 53 w 320"/>
              <a:gd name="T81" fmla="*/ 160 h 213"/>
              <a:gd name="T82" fmla="*/ 53 w 320"/>
              <a:gd name="T83" fmla="*/ 192 h 213"/>
              <a:gd name="T84" fmla="*/ 320 w 320"/>
              <a:gd name="T85" fmla="*/ 149 h 213"/>
              <a:gd name="T86" fmla="*/ 309 w 320"/>
              <a:gd name="T87" fmla="*/ 160 h 213"/>
              <a:gd name="T88" fmla="*/ 128 w 320"/>
              <a:gd name="T89" fmla="*/ 160 h 213"/>
              <a:gd name="T90" fmla="*/ 117 w 320"/>
              <a:gd name="T91" fmla="*/ 149 h 213"/>
              <a:gd name="T92" fmla="*/ 128 w 320"/>
              <a:gd name="T93" fmla="*/ 139 h 213"/>
              <a:gd name="T94" fmla="*/ 309 w 320"/>
              <a:gd name="T95" fmla="*/ 139 h 213"/>
              <a:gd name="T96" fmla="*/ 320 w 320"/>
              <a:gd name="T97" fmla="*/ 149 h 213"/>
              <a:gd name="T98" fmla="*/ 320 w 320"/>
              <a:gd name="T99" fmla="*/ 203 h 213"/>
              <a:gd name="T100" fmla="*/ 309 w 320"/>
              <a:gd name="T101" fmla="*/ 213 h 213"/>
              <a:gd name="T102" fmla="*/ 128 w 320"/>
              <a:gd name="T103" fmla="*/ 213 h 213"/>
              <a:gd name="T104" fmla="*/ 117 w 320"/>
              <a:gd name="T105" fmla="*/ 203 h 213"/>
              <a:gd name="T106" fmla="*/ 128 w 320"/>
              <a:gd name="T107" fmla="*/ 192 h 213"/>
              <a:gd name="T108" fmla="*/ 309 w 320"/>
              <a:gd name="T109" fmla="*/ 192 h 213"/>
              <a:gd name="T110" fmla="*/ 320 w 320"/>
              <a:gd name="T111" fmla="*/ 20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13">
                <a:moveTo>
                  <a:pt x="64" y="0"/>
                </a:moveTo>
                <a:cubicBezTo>
                  <a:pt x="10" y="0"/>
                  <a:pt x="10" y="0"/>
                  <a:pt x="10" y="0"/>
                </a:cubicBezTo>
                <a:cubicBezTo>
                  <a:pt x="4" y="0"/>
                  <a:pt x="0" y="5"/>
                  <a:pt x="0" y="11"/>
                </a:cubicBezTo>
                <a:cubicBezTo>
                  <a:pt x="0" y="64"/>
                  <a:pt x="0" y="64"/>
                  <a:pt x="0" y="64"/>
                </a:cubicBezTo>
                <a:cubicBezTo>
                  <a:pt x="0" y="70"/>
                  <a:pt x="4" y="75"/>
                  <a:pt x="10" y="75"/>
                </a:cubicBezTo>
                <a:cubicBezTo>
                  <a:pt x="64" y="75"/>
                  <a:pt x="64" y="75"/>
                  <a:pt x="64" y="75"/>
                </a:cubicBezTo>
                <a:cubicBezTo>
                  <a:pt x="70" y="75"/>
                  <a:pt x="74" y="70"/>
                  <a:pt x="74" y="64"/>
                </a:cubicBezTo>
                <a:cubicBezTo>
                  <a:pt x="74" y="11"/>
                  <a:pt x="74" y="11"/>
                  <a:pt x="74" y="11"/>
                </a:cubicBezTo>
                <a:cubicBezTo>
                  <a:pt x="74" y="5"/>
                  <a:pt x="70" y="0"/>
                  <a:pt x="64" y="0"/>
                </a:cubicBezTo>
                <a:close/>
                <a:moveTo>
                  <a:pt x="53" y="53"/>
                </a:moveTo>
                <a:cubicBezTo>
                  <a:pt x="21" y="53"/>
                  <a:pt x="21" y="53"/>
                  <a:pt x="21" y="53"/>
                </a:cubicBezTo>
                <a:cubicBezTo>
                  <a:pt x="21" y="21"/>
                  <a:pt x="21" y="21"/>
                  <a:pt x="21" y="21"/>
                </a:cubicBezTo>
                <a:cubicBezTo>
                  <a:pt x="53" y="21"/>
                  <a:pt x="53" y="21"/>
                  <a:pt x="53" y="21"/>
                </a:cubicBezTo>
                <a:lnTo>
                  <a:pt x="53" y="53"/>
                </a:lnTo>
                <a:close/>
                <a:moveTo>
                  <a:pt x="117" y="11"/>
                </a:moveTo>
                <a:cubicBezTo>
                  <a:pt x="117" y="5"/>
                  <a:pt x="122" y="0"/>
                  <a:pt x="128" y="0"/>
                </a:cubicBezTo>
                <a:cubicBezTo>
                  <a:pt x="309" y="0"/>
                  <a:pt x="309" y="0"/>
                  <a:pt x="309" y="0"/>
                </a:cubicBezTo>
                <a:cubicBezTo>
                  <a:pt x="315" y="0"/>
                  <a:pt x="320" y="5"/>
                  <a:pt x="320" y="11"/>
                </a:cubicBezTo>
                <a:cubicBezTo>
                  <a:pt x="320" y="17"/>
                  <a:pt x="315" y="21"/>
                  <a:pt x="309" y="21"/>
                </a:cubicBezTo>
                <a:cubicBezTo>
                  <a:pt x="128" y="21"/>
                  <a:pt x="128" y="21"/>
                  <a:pt x="128" y="21"/>
                </a:cubicBezTo>
                <a:cubicBezTo>
                  <a:pt x="122" y="21"/>
                  <a:pt x="117" y="17"/>
                  <a:pt x="117" y="11"/>
                </a:cubicBezTo>
                <a:close/>
                <a:moveTo>
                  <a:pt x="320" y="64"/>
                </a:moveTo>
                <a:cubicBezTo>
                  <a:pt x="320" y="70"/>
                  <a:pt x="315" y="75"/>
                  <a:pt x="309" y="75"/>
                </a:cubicBezTo>
                <a:cubicBezTo>
                  <a:pt x="128" y="75"/>
                  <a:pt x="128" y="75"/>
                  <a:pt x="128" y="75"/>
                </a:cubicBezTo>
                <a:cubicBezTo>
                  <a:pt x="122" y="75"/>
                  <a:pt x="117" y="70"/>
                  <a:pt x="117" y="64"/>
                </a:cubicBezTo>
                <a:cubicBezTo>
                  <a:pt x="117" y="58"/>
                  <a:pt x="122" y="53"/>
                  <a:pt x="128" y="53"/>
                </a:cubicBezTo>
                <a:cubicBezTo>
                  <a:pt x="309" y="53"/>
                  <a:pt x="309" y="53"/>
                  <a:pt x="309" y="53"/>
                </a:cubicBezTo>
                <a:cubicBezTo>
                  <a:pt x="315" y="53"/>
                  <a:pt x="320" y="58"/>
                  <a:pt x="320" y="64"/>
                </a:cubicBezTo>
                <a:close/>
                <a:moveTo>
                  <a:pt x="64" y="139"/>
                </a:moveTo>
                <a:cubicBezTo>
                  <a:pt x="10" y="139"/>
                  <a:pt x="10" y="139"/>
                  <a:pt x="10" y="139"/>
                </a:cubicBezTo>
                <a:cubicBezTo>
                  <a:pt x="4" y="139"/>
                  <a:pt x="0" y="143"/>
                  <a:pt x="0" y="149"/>
                </a:cubicBezTo>
                <a:cubicBezTo>
                  <a:pt x="0" y="203"/>
                  <a:pt x="0" y="203"/>
                  <a:pt x="0" y="203"/>
                </a:cubicBezTo>
                <a:cubicBezTo>
                  <a:pt x="0" y="209"/>
                  <a:pt x="4" y="213"/>
                  <a:pt x="10" y="213"/>
                </a:cubicBezTo>
                <a:cubicBezTo>
                  <a:pt x="64" y="213"/>
                  <a:pt x="64" y="213"/>
                  <a:pt x="64" y="213"/>
                </a:cubicBezTo>
                <a:cubicBezTo>
                  <a:pt x="70" y="213"/>
                  <a:pt x="74" y="209"/>
                  <a:pt x="74" y="203"/>
                </a:cubicBezTo>
                <a:cubicBezTo>
                  <a:pt x="74" y="149"/>
                  <a:pt x="74" y="149"/>
                  <a:pt x="74" y="149"/>
                </a:cubicBezTo>
                <a:cubicBezTo>
                  <a:pt x="74" y="143"/>
                  <a:pt x="70" y="139"/>
                  <a:pt x="64" y="139"/>
                </a:cubicBezTo>
                <a:close/>
                <a:moveTo>
                  <a:pt x="53" y="192"/>
                </a:moveTo>
                <a:cubicBezTo>
                  <a:pt x="21" y="192"/>
                  <a:pt x="21" y="192"/>
                  <a:pt x="21" y="192"/>
                </a:cubicBezTo>
                <a:cubicBezTo>
                  <a:pt x="21" y="160"/>
                  <a:pt x="21" y="160"/>
                  <a:pt x="21" y="160"/>
                </a:cubicBezTo>
                <a:cubicBezTo>
                  <a:pt x="53" y="160"/>
                  <a:pt x="53" y="160"/>
                  <a:pt x="53" y="160"/>
                </a:cubicBezTo>
                <a:lnTo>
                  <a:pt x="53" y="192"/>
                </a:lnTo>
                <a:close/>
                <a:moveTo>
                  <a:pt x="320" y="149"/>
                </a:moveTo>
                <a:cubicBezTo>
                  <a:pt x="320" y="155"/>
                  <a:pt x="315" y="160"/>
                  <a:pt x="309" y="160"/>
                </a:cubicBezTo>
                <a:cubicBezTo>
                  <a:pt x="128" y="160"/>
                  <a:pt x="128" y="160"/>
                  <a:pt x="128" y="160"/>
                </a:cubicBezTo>
                <a:cubicBezTo>
                  <a:pt x="122" y="160"/>
                  <a:pt x="117" y="155"/>
                  <a:pt x="117" y="149"/>
                </a:cubicBezTo>
                <a:cubicBezTo>
                  <a:pt x="117" y="143"/>
                  <a:pt x="122" y="139"/>
                  <a:pt x="128" y="139"/>
                </a:cubicBezTo>
                <a:cubicBezTo>
                  <a:pt x="309" y="139"/>
                  <a:pt x="309" y="139"/>
                  <a:pt x="309" y="139"/>
                </a:cubicBezTo>
                <a:cubicBezTo>
                  <a:pt x="315" y="139"/>
                  <a:pt x="320" y="143"/>
                  <a:pt x="320" y="149"/>
                </a:cubicBezTo>
                <a:close/>
                <a:moveTo>
                  <a:pt x="320" y="203"/>
                </a:moveTo>
                <a:cubicBezTo>
                  <a:pt x="320" y="209"/>
                  <a:pt x="315" y="213"/>
                  <a:pt x="309" y="213"/>
                </a:cubicBezTo>
                <a:cubicBezTo>
                  <a:pt x="128" y="213"/>
                  <a:pt x="128" y="213"/>
                  <a:pt x="128" y="213"/>
                </a:cubicBezTo>
                <a:cubicBezTo>
                  <a:pt x="122" y="213"/>
                  <a:pt x="117" y="209"/>
                  <a:pt x="117" y="203"/>
                </a:cubicBezTo>
                <a:cubicBezTo>
                  <a:pt x="117" y="197"/>
                  <a:pt x="122" y="192"/>
                  <a:pt x="128" y="192"/>
                </a:cubicBezTo>
                <a:cubicBezTo>
                  <a:pt x="309" y="192"/>
                  <a:pt x="309" y="192"/>
                  <a:pt x="309" y="192"/>
                </a:cubicBezTo>
                <a:cubicBezTo>
                  <a:pt x="315" y="192"/>
                  <a:pt x="320" y="197"/>
                  <a:pt x="320" y="203"/>
                </a:cubicBezTo>
                <a:close/>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4" name="Pentagon 33">
            <a:hlinkClick r:id="rId4"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1112720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Stage 2: Assessing Sectoral Energy Requirement</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9538D967-88F0-4855-B9A7-C3ECD264D887}"/>
              </a:ext>
            </a:extLst>
          </p:cNvPr>
          <p:cNvGrpSpPr/>
          <p:nvPr/>
        </p:nvGrpSpPr>
        <p:grpSpPr>
          <a:xfrm>
            <a:off x="1255406" y="1241730"/>
            <a:ext cx="4061557" cy="2919351"/>
            <a:chOff x="420422" y="1879634"/>
            <a:chExt cx="3573178" cy="2919351"/>
          </a:xfrm>
        </p:grpSpPr>
        <p:sp>
          <p:nvSpPr>
            <p:cNvPr id="30" name="Parallelogram 29">
              <a:extLst>
                <a:ext uri="{FF2B5EF4-FFF2-40B4-BE49-F238E27FC236}">
                  <a16:creationId xmlns:a16="http://schemas.microsoft.com/office/drawing/2014/main" id="{C0AAFE0C-8015-4685-97DF-C3803293EE51}"/>
                </a:ext>
              </a:extLst>
            </p:cNvPr>
            <p:cNvSpPr/>
            <p:nvPr/>
          </p:nvSpPr>
          <p:spPr>
            <a:xfrm rot="300000">
              <a:off x="420422" y="3969714"/>
              <a:ext cx="3573178" cy="829271"/>
            </a:xfrm>
            <a:prstGeom prst="parallelogram">
              <a:avLst>
                <a:gd name="adj" fmla="val 129308"/>
              </a:avLst>
            </a:prstGeom>
            <a:solidFill>
              <a:srgbClr val="7F7F7F">
                <a:alpha val="82000"/>
              </a:srgb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FFFFFF"/>
                  </a:solidFill>
                  <a:ea typeface="Verdana" panose="020B0604030504040204" pitchFamily="34" charset="0"/>
                  <a:cs typeface="Verdana" panose="020B0604030504040204" pitchFamily="34" charset="0"/>
                </a:rPr>
                <a:t>d. Potential Sectoral Intervention</a:t>
              </a:r>
              <a:endParaRPr lang="en-US" sz="1200" dirty="0">
                <a:solidFill>
                  <a:srgbClr val="FFFFFF"/>
                </a:solidFill>
                <a:ea typeface="Verdana" panose="020B0604030504040204" pitchFamily="34" charset="0"/>
                <a:cs typeface="Verdana" panose="020B0604030504040204" pitchFamily="34" charset="0"/>
              </a:endParaRPr>
            </a:p>
          </p:txBody>
        </p:sp>
        <p:sp>
          <p:nvSpPr>
            <p:cNvPr id="31" name="Parallelogram 30">
              <a:extLst>
                <a:ext uri="{FF2B5EF4-FFF2-40B4-BE49-F238E27FC236}">
                  <a16:creationId xmlns:a16="http://schemas.microsoft.com/office/drawing/2014/main" id="{673DD155-7E43-4BD5-94D4-BD92FF8C5FB7}"/>
                </a:ext>
              </a:extLst>
            </p:cNvPr>
            <p:cNvSpPr/>
            <p:nvPr/>
          </p:nvSpPr>
          <p:spPr>
            <a:xfrm rot="300000">
              <a:off x="420422" y="3296318"/>
              <a:ext cx="3573178" cy="829271"/>
            </a:xfrm>
            <a:prstGeom prst="parallelogram">
              <a:avLst>
                <a:gd name="adj" fmla="val 129308"/>
              </a:avLst>
            </a:prstGeom>
            <a:solidFill>
              <a:schemeClr val="accent1">
                <a:lumMod val="40000"/>
                <a:lumOff val="60000"/>
                <a:alpha val="82000"/>
              </a:scheme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c. Model BAU Scenario</a:t>
              </a:r>
              <a:endParaRPr lang="en-US" sz="1200" dirty="0">
                <a:solidFill>
                  <a:srgbClr val="000000"/>
                </a:solidFill>
                <a:ea typeface="Verdana" panose="020B0604030504040204" pitchFamily="34" charset="0"/>
                <a:cs typeface="Verdana" panose="020B0604030504040204" pitchFamily="34" charset="0"/>
              </a:endParaRPr>
            </a:p>
          </p:txBody>
        </p:sp>
        <p:sp>
          <p:nvSpPr>
            <p:cNvPr id="32" name="Parallelogram 31">
              <a:extLst>
                <a:ext uri="{FF2B5EF4-FFF2-40B4-BE49-F238E27FC236}">
                  <a16:creationId xmlns:a16="http://schemas.microsoft.com/office/drawing/2014/main" id="{28C8DA03-D75B-4C31-BBD8-7C786D0D6F67}"/>
                </a:ext>
              </a:extLst>
            </p:cNvPr>
            <p:cNvSpPr/>
            <p:nvPr/>
          </p:nvSpPr>
          <p:spPr>
            <a:xfrm rot="300000">
              <a:off x="420422" y="2622922"/>
              <a:ext cx="3573178" cy="829271"/>
            </a:xfrm>
            <a:prstGeom prst="parallelogram">
              <a:avLst>
                <a:gd name="adj" fmla="val 129308"/>
              </a:avLst>
            </a:prstGeom>
            <a:solidFill>
              <a:schemeClr val="accent1">
                <a:lumMod val="60000"/>
                <a:lumOff val="40000"/>
                <a:alpha val="82000"/>
              </a:scheme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b. Model Input Sheets</a:t>
              </a:r>
              <a:endParaRPr lang="en-US" sz="1200" dirty="0">
                <a:solidFill>
                  <a:srgbClr val="000000"/>
                </a:solidFill>
                <a:ea typeface="Verdana" panose="020B0604030504040204" pitchFamily="34" charset="0"/>
                <a:cs typeface="Verdana" panose="020B0604030504040204" pitchFamily="34" charset="0"/>
              </a:endParaRPr>
            </a:p>
          </p:txBody>
        </p:sp>
        <p:sp>
          <p:nvSpPr>
            <p:cNvPr id="33" name="Parallelogram 32">
              <a:extLst>
                <a:ext uri="{FF2B5EF4-FFF2-40B4-BE49-F238E27FC236}">
                  <a16:creationId xmlns:a16="http://schemas.microsoft.com/office/drawing/2014/main" id="{B1137AB4-79AA-408C-B526-A05DFCDA81BC}"/>
                </a:ext>
              </a:extLst>
            </p:cNvPr>
            <p:cNvSpPr/>
            <p:nvPr/>
          </p:nvSpPr>
          <p:spPr>
            <a:xfrm rot="300000">
              <a:off x="420422" y="1879634"/>
              <a:ext cx="3573178" cy="829271"/>
            </a:xfrm>
            <a:prstGeom prst="parallelogram">
              <a:avLst>
                <a:gd name="adj" fmla="val 129308"/>
              </a:avLst>
            </a:prstGeom>
            <a:solidFill>
              <a:schemeClr val="accent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a. Reference Energy System </a:t>
              </a:r>
              <a:endParaRPr lang="en-US" sz="1200" dirty="0">
                <a:solidFill>
                  <a:srgbClr val="000000"/>
                </a:solidFill>
                <a:ea typeface="Verdana" panose="020B0604030504040204" pitchFamily="34" charset="0"/>
                <a:cs typeface="Verdana" panose="020B0604030504040204" pitchFamily="34" charset="0"/>
              </a:endParaRPr>
            </a:p>
          </p:txBody>
        </p:sp>
      </p:grpSp>
      <p:cxnSp>
        <p:nvCxnSpPr>
          <p:cNvPr id="38" name="Straight Connector 37">
            <a:extLst>
              <a:ext uri="{FF2B5EF4-FFF2-40B4-BE49-F238E27FC236}">
                <a16:creationId xmlns:a16="http://schemas.microsoft.com/office/drawing/2014/main" id="{D179B4C5-B0AC-4983-98BC-19D4DA3810A4}"/>
              </a:ext>
            </a:extLst>
          </p:cNvPr>
          <p:cNvCxnSpPr/>
          <p:nvPr/>
        </p:nvCxnSpPr>
        <p:spPr>
          <a:xfrm>
            <a:off x="1015774" y="1027962"/>
            <a:ext cx="4206240" cy="0"/>
          </a:xfrm>
          <a:prstGeom prst="line">
            <a:avLst/>
          </a:prstGeom>
          <a:ln w="1905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A37D605E-19D9-45C7-AD40-89E032189BAF}"/>
              </a:ext>
            </a:extLst>
          </p:cNvPr>
          <p:cNvSpPr txBox="1"/>
          <p:nvPr/>
        </p:nvSpPr>
        <p:spPr>
          <a:xfrm>
            <a:off x="1015774" y="823680"/>
            <a:ext cx="1572546" cy="184666"/>
          </a:xfrm>
          <a:prstGeom prst="rect">
            <a:avLst/>
          </a:prstGeom>
          <a:noFill/>
        </p:spPr>
        <p:txBody>
          <a:bodyPr wrap="none" lIns="0" tIns="0" rIns="0" bIns="0" rtlCol="0">
            <a:spAutoFit/>
          </a:bodyPr>
          <a:lstStyle/>
          <a:p>
            <a:pPr lvl="0">
              <a:defRPr/>
            </a:pPr>
            <a:r>
              <a:rPr lang="en-US" sz="1200" b="1" dirty="0" smtClean="0">
                <a:solidFill>
                  <a:srgbClr val="000000"/>
                </a:solidFill>
                <a:ea typeface="Verdana" panose="020B0604030504040204" pitchFamily="34" charset="0"/>
                <a:cs typeface="Verdana" panose="020B0604030504040204" pitchFamily="34" charset="0"/>
              </a:rPr>
              <a:t>Activities: Stage 2</a:t>
            </a:r>
            <a:endParaRPr lang="en-US" sz="1200" b="1" dirty="0">
              <a:solidFill>
                <a:srgbClr val="000000"/>
              </a:solidFill>
              <a:ea typeface="Verdana" panose="020B0604030504040204" pitchFamily="34" charset="0"/>
              <a:cs typeface="Verdana" panose="020B0604030504040204" pitchFamily="34" charset="0"/>
            </a:endParaRPr>
          </a:p>
        </p:txBody>
      </p:sp>
      <p:cxnSp>
        <p:nvCxnSpPr>
          <p:cNvPr id="40" name="Straight Connector 39">
            <a:extLst>
              <a:ext uri="{FF2B5EF4-FFF2-40B4-BE49-F238E27FC236}">
                <a16:creationId xmlns:a16="http://schemas.microsoft.com/office/drawing/2014/main" id="{C6EE9C1E-52BD-4993-AB98-8696ADE5E5DF}"/>
              </a:ext>
            </a:extLst>
          </p:cNvPr>
          <p:cNvCxnSpPr/>
          <p:nvPr/>
        </p:nvCxnSpPr>
        <p:spPr>
          <a:xfrm>
            <a:off x="5589881" y="1027962"/>
            <a:ext cx="6053328" cy="0"/>
          </a:xfrm>
          <a:prstGeom prst="line">
            <a:avLst/>
          </a:prstGeom>
          <a:ln w="1905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7910DF8-27C3-412A-AFE8-EA971A57B0AB}"/>
              </a:ext>
            </a:extLst>
          </p:cNvPr>
          <p:cNvSpPr txBox="1"/>
          <p:nvPr/>
        </p:nvSpPr>
        <p:spPr>
          <a:xfrm>
            <a:off x="5589881" y="823680"/>
            <a:ext cx="1280800" cy="184666"/>
          </a:xfrm>
          <a:prstGeom prst="rect">
            <a:avLst/>
          </a:prstGeom>
          <a:noFill/>
          <a:ln>
            <a:noFill/>
          </a:ln>
        </p:spPr>
        <p:txBody>
          <a:bodyPr wrap="none" lIns="0" tIns="0" rIns="0" bIns="0" rtlCol="0">
            <a:spAutoFit/>
          </a:bodyPr>
          <a:lstStyle/>
          <a:p>
            <a:pPr lvl="0">
              <a:defRPr/>
            </a:pPr>
            <a:r>
              <a:rPr lang="en-US" sz="1200" dirty="0" smtClean="0">
                <a:solidFill>
                  <a:srgbClr val="000000"/>
                </a:solidFill>
                <a:ea typeface="Verdana" panose="020B0604030504040204" pitchFamily="34" charset="0"/>
                <a:cs typeface="Verdana" panose="020B0604030504040204" pitchFamily="34" charset="0"/>
              </a:rPr>
              <a:t>Brief Description</a:t>
            </a:r>
            <a:endParaRPr lang="en-US" sz="1200" dirty="0">
              <a:solidFill>
                <a:srgbClr val="000000"/>
              </a:solidFill>
              <a:ea typeface="Verdana" panose="020B0604030504040204" pitchFamily="34" charset="0"/>
              <a:cs typeface="Verdana" panose="020B0604030504040204" pitchFamily="34" charset="0"/>
            </a:endParaRPr>
          </a:p>
        </p:txBody>
      </p:sp>
      <p:graphicFrame>
        <p:nvGraphicFramePr>
          <p:cNvPr id="42" name="Table 41">
            <a:extLst>
              <a:ext uri="{FF2B5EF4-FFF2-40B4-BE49-F238E27FC236}">
                <a16:creationId xmlns:a16="http://schemas.microsoft.com/office/drawing/2014/main" id="{D00A8DDA-BEC2-4228-AA98-BB1AB118D985}"/>
              </a:ext>
            </a:extLst>
          </p:cNvPr>
          <p:cNvGraphicFramePr>
            <a:graphicFrameLocks noGrp="1"/>
          </p:cNvGraphicFramePr>
          <p:nvPr>
            <p:extLst>
              <p:ext uri="{D42A27DB-BD31-4B8C-83A1-F6EECF244321}">
                <p14:modId xmlns:p14="http://schemas.microsoft.com/office/powerpoint/2010/main" val="3668499692"/>
              </p:ext>
            </p:extLst>
          </p:nvPr>
        </p:nvGraphicFramePr>
        <p:xfrm>
          <a:off x="5589881" y="1292493"/>
          <a:ext cx="6051176" cy="2870201"/>
        </p:xfrm>
        <a:graphic>
          <a:graphicData uri="http://schemas.openxmlformats.org/drawingml/2006/table">
            <a:tbl>
              <a:tblPr firstRow="1" bandRow="1">
                <a:tableStyleId>{5C22544A-7EE6-4342-B048-85BDC9FD1C3A}</a:tableStyleId>
              </a:tblPr>
              <a:tblGrid>
                <a:gridCol w="762123">
                  <a:extLst>
                    <a:ext uri="{9D8B030D-6E8A-4147-A177-3AD203B41FA5}">
                      <a16:colId xmlns:a16="http://schemas.microsoft.com/office/drawing/2014/main" val="3975474829"/>
                    </a:ext>
                  </a:extLst>
                </a:gridCol>
                <a:gridCol w="1617693">
                  <a:extLst>
                    <a:ext uri="{9D8B030D-6E8A-4147-A177-3AD203B41FA5}">
                      <a16:colId xmlns:a16="http://schemas.microsoft.com/office/drawing/2014/main" val="844568499"/>
                    </a:ext>
                  </a:extLst>
                </a:gridCol>
                <a:gridCol w="3671360">
                  <a:extLst>
                    <a:ext uri="{9D8B030D-6E8A-4147-A177-3AD203B41FA5}">
                      <a16:colId xmlns:a16="http://schemas.microsoft.com/office/drawing/2014/main" val="1868331620"/>
                    </a:ext>
                  </a:extLst>
                </a:gridCol>
              </a:tblGrid>
              <a:tr h="753535">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Reference</a:t>
                      </a:r>
                      <a:r>
                        <a:rPr lang="en-US" sz="1100" b="1" baseline="0" dirty="0" smtClean="0">
                          <a:solidFill>
                            <a:schemeClr val="tx1"/>
                          </a:solidFill>
                          <a:latin typeface="+mn-lt"/>
                          <a:ea typeface="Verdana" panose="020B0604030504040204" pitchFamily="34" charset="0"/>
                          <a:cs typeface="Verdana" panose="020B0604030504040204" pitchFamily="34" charset="0"/>
                        </a:rPr>
                        <a:t> Energy System</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Identification</a:t>
                      </a:r>
                      <a:r>
                        <a:rPr lang="en-US" sz="1100" b="0" baseline="0" dirty="0" smtClean="0">
                          <a:solidFill>
                            <a:schemeClr val="tx1"/>
                          </a:solidFill>
                          <a:latin typeface="+mn-lt"/>
                          <a:ea typeface="Verdana" panose="020B0604030504040204" pitchFamily="34" charset="0"/>
                          <a:cs typeface="Verdana" panose="020B0604030504040204" pitchFamily="34" charset="0"/>
                        </a:rPr>
                        <a:t> of benchmark w.r.t. prepared State energy balance sheet</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Preparing/ finalizing Energy Demand scenario </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0636766"/>
                  </a:ext>
                </a:extLst>
              </a:tr>
              <a:tr h="702733">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Model</a:t>
                      </a:r>
                      <a:r>
                        <a:rPr lang="en-US" sz="1100" b="1" baseline="0" dirty="0" smtClean="0">
                          <a:solidFill>
                            <a:schemeClr val="tx1"/>
                          </a:solidFill>
                          <a:latin typeface="+mn-lt"/>
                          <a:ea typeface="Verdana" panose="020B0604030504040204" pitchFamily="34" charset="0"/>
                          <a:cs typeface="Verdana" panose="020B0604030504040204" pitchFamily="34" charset="0"/>
                        </a:rPr>
                        <a:t> Input Sheets</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Sensitization of raw</a:t>
                      </a:r>
                      <a:r>
                        <a:rPr lang="en-US" sz="1100" b="0" baseline="0" dirty="0" smtClean="0">
                          <a:solidFill>
                            <a:schemeClr val="tx1"/>
                          </a:solidFill>
                          <a:latin typeface="+mn-lt"/>
                          <a:ea typeface="Verdana" panose="020B0604030504040204" pitchFamily="34" charset="0"/>
                          <a:cs typeface="Verdana" panose="020B0604030504040204" pitchFamily="34" charset="0"/>
                        </a:rPr>
                        <a:t> data using modelling s/w</a:t>
                      </a:r>
                      <a:endParaRPr lang="en-US" sz="1100" b="0" dirty="0" smtClean="0">
                        <a:solidFill>
                          <a:schemeClr val="tx1"/>
                        </a:solidFill>
                        <a:latin typeface="+mn-lt"/>
                        <a:ea typeface="Verdana" panose="020B0604030504040204" pitchFamily="34" charset="0"/>
                        <a:cs typeface="Verdana" panose="020B0604030504040204" pitchFamily="34" charset="0"/>
                      </a:endParaRPr>
                    </a:p>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Preparation</a:t>
                      </a:r>
                      <a:r>
                        <a:rPr lang="en-US" sz="1100" b="0" baseline="0" dirty="0" smtClean="0">
                          <a:solidFill>
                            <a:schemeClr val="tx1"/>
                          </a:solidFill>
                          <a:latin typeface="+mn-lt"/>
                          <a:ea typeface="Verdana" panose="020B0604030504040204" pitchFamily="34" charset="0"/>
                          <a:cs typeface="Verdana" panose="020B0604030504040204" pitchFamily="34" charset="0"/>
                        </a:rPr>
                        <a:t> of data as required for sectoral energy scenario analysis </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2062843"/>
                  </a:ext>
                </a:extLst>
              </a:tr>
              <a:tr h="651933">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Model</a:t>
                      </a:r>
                      <a:r>
                        <a:rPr lang="en-US" sz="1100" b="1" baseline="0" dirty="0" smtClean="0">
                          <a:solidFill>
                            <a:schemeClr val="tx1"/>
                          </a:solidFill>
                          <a:latin typeface="+mn-lt"/>
                          <a:ea typeface="Verdana" panose="020B0604030504040204" pitchFamily="34" charset="0"/>
                          <a:cs typeface="Verdana" panose="020B0604030504040204" pitchFamily="34" charset="0"/>
                        </a:rPr>
                        <a:t> BAU Scenario</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Data modelling for running Business</a:t>
                      </a:r>
                      <a:r>
                        <a:rPr lang="en-US" sz="1100" b="0" baseline="0" dirty="0" smtClean="0">
                          <a:solidFill>
                            <a:schemeClr val="tx1"/>
                          </a:solidFill>
                          <a:latin typeface="+mn-lt"/>
                          <a:ea typeface="Verdana" panose="020B0604030504040204" pitchFamily="34" charset="0"/>
                          <a:cs typeface="Verdana" panose="020B0604030504040204" pitchFamily="34" charset="0"/>
                        </a:rPr>
                        <a:t> As Usual (BAU) scenarios for various sectors  </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Testing/ modifying input data as required </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0558"/>
                  </a:ext>
                </a:extLst>
              </a:tr>
              <a:tr h="688817">
                <a:tc>
                  <a:txBody>
                    <a:bodyPr/>
                    <a:lstStyle/>
                    <a:p>
                      <a:pPr algn="l"/>
                      <a:endParaRPr lang="en-US" sz="11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Potential</a:t>
                      </a:r>
                      <a:r>
                        <a:rPr lang="en-US" sz="1100" b="1" baseline="0" dirty="0" smtClean="0">
                          <a:solidFill>
                            <a:schemeClr val="tx1"/>
                          </a:solidFill>
                          <a:latin typeface="+mn-lt"/>
                          <a:ea typeface="Verdana" panose="020B0604030504040204" pitchFamily="34" charset="0"/>
                          <a:cs typeface="Verdana" panose="020B0604030504040204" pitchFamily="34" charset="0"/>
                        </a:rPr>
                        <a:t> Sectoral Intervention</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Formation</a:t>
                      </a:r>
                      <a:r>
                        <a:rPr lang="en-US" sz="1100" b="0" baseline="0" dirty="0" smtClean="0">
                          <a:solidFill>
                            <a:schemeClr val="tx1"/>
                          </a:solidFill>
                          <a:latin typeface="+mn-lt"/>
                          <a:ea typeface="Verdana" panose="020B0604030504040204" pitchFamily="34" charset="0"/>
                          <a:cs typeface="Verdana" panose="020B0604030504040204" pitchFamily="34" charset="0"/>
                        </a:rPr>
                        <a:t> of sectoral action plans based on model-based analysis/ calculation </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Laying foundation for framing state-level long-term strategy </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1345550"/>
                  </a:ext>
                </a:extLst>
              </a:tr>
            </a:tbl>
          </a:graphicData>
        </a:graphic>
      </p:graphicFrame>
      <p:pic>
        <p:nvPicPr>
          <p:cNvPr id="43" name="Picture 42">
            <a:extLst>
              <a:ext uri="{FF2B5EF4-FFF2-40B4-BE49-F238E27FC236}">
                <a16:creationId xmlns:a16="http://schemas.microsoft.com/office/drawing/2014/main" id="{73497644-E002-486C-BBD2-B0ACEFAEAE75}"/>
              </a:ext>
            </a:extLst>
          </p:cNvPr>
          <p:cNvPicPr>
            <a:picLocks noChangeAspect="1"/>
          </p:cNvPicPr>
          <p:nvPr/>
        </p:nvPicPr>
        <p:blipFill rotWithShape="1">
          <a:blip r:embed="rId2"/>
          <a:srcRect l="50779" t="11162" r="45996" b="81632"/>
          <a:stretch/>
        </p:blipFill>
        <p:spPr>
          <a:xfrm>
            <a:off x="5829514" y="1464471"/>
            <a:ext cx="343093" cy="411480"/>
          </a:xfrm>
          <a:prstGeom prst="rect">
            <a:avLst/>
          </a:prstGeom>
        </p:spPr>
      </p:pic>
      <p:pic>
        <p:nvPicPr>
          <p:cNvPr id="44" name="Picture 43">
            <a:extLst>
              <a:ext uri="{FF2B5EF4-FFF2-40B4-BE49-F238E27FC236}">
                <a16:creationId xmlns:a16="http://schemas.microsoft.com/office/drawing/2014/main" id="{D1773CD6-09CB-46DD-A57C-FA9BED7FF484}"/>
              </a:ext>
            </a:extLst>
          </p:cNvPr>
          <p:cNvPicPr>
            <a:picLocks noChangeAspect="1"/>
          </p:cNvPicPr>
          <p:nvPr/>
        </p:nvPicPr>
        <p:blipFill rotWithShape="1">
          <a:blip r:embed="rId2"/>
          <a:srcRect l="50479" t="26425" r="45512" b="69011"/>
          <a:stretch/>
        </p:blipFill>
        <p:spPr>
          <a:xfrm>
            <a:off x="5776567" y="2261485"/>
            <a:ext cx="448987" cy="274320"/>
          </a:xfrm>
          <a:prstGeom prst="rect">
            <a:avLst/>
          </a:prstGeom>
        </p:spPr>
      </p:pic>
      <p:pic>
        <p:nvPicPr>
          <p:cNvPr id="46" name="Picture 45">
            <a:extLst>
              <a:ext uri="{FF2B5EF4-FFF2-40B4-BE49-F238E27FC236}">
                <a16:creationId xmlns:a16="http://schemas.microsoft.com/office/drawing/2014/main" id="{8942D279-18DC-4A7A-8EE2-D70274A80797}"/>
              </a:ext>
            </a:extLst>
          </p:cNvPr>
          <p:cNvPicPr>
            <a:picLocks noChangeAspect="1"/>
          </p:cNvPicPr>
          <p:nvPr/>
        </p:nvPicPr>
        <p:blipFill rotWithShape="1">
          <a:blip r:embed="rId2"/>
          <a:srcRect l="50142" t="53678" r="44972" b="38547"/>
          <a:stretch/>
        </p:blipFill>
        <p:spPr>
          <a:xfrm>
            <a:off x="5783613" y="3551297"/>
            <a:ext cx="434894" cy="371412"/>
          </a:xfrm>
          <a:prstGeom prst="rect">
            <a:avLst/>
          </a:prstGeom>
        </p:spPr>
      </p:pic>
      <p:grpSp>
        <p:nvGrpSpPr>
          <p:cNvPr id="49" name="组合 268">
            <a:extLst>
              <a:ext uri="{FF2B5EF4-FFF2-40B4-BE49-F238E27FC236}">
                <a16:creationId xmlns:a16="http://schemas.microsoft.com/office/drawing/2014/main" id="{B305DFA1-97AF-43BC-83E5-DADADBC4C07C}"/>
              </a:ext>
            </a:extLst>
          </p:cNvPr>
          <p:cNvGrpSpPr/>
          <p:nvPr/>
        </p:nvGrpSpPr>
        <p:grpSpPr>
          <a:xfrm rot="16200000">
            <a:off x="-554880" y="2756367"/>
            <a:ext cx="2978065" cy="182199"/>
            <a:chOff x="499437" y="1535322"/>
            <a:chExt cx="862073" cy="192140"/>
          </a:xfrm>
        </p:grpSpPr>
        <p:cxnSp>
          <p:nvCxnSpPr>
            <p:cNvPr id="50" name="Straight Connector 20">
              <a:extLst>
                <a:ext uri="{FF2B5EF4-FFF2-40B4-BE49-F238E27FC236}">
                  <a16:creationId xmlns:a16="http://schemas.microsoft.com/office/drawing/2014/main" id="{7E90DFCE-5155-4D36-B2DB-AAD2E7197435}"/>
                </a:ext>
              </a:extLst>
            </p:cNvPr>
            <p:cNvCxnSpPr>
              <a:cxnSpLocks/>
            </p:cNvCxnSpPr>
            <p:nvPr/>
          </p:nvCxnSpPr>
          <p:spPr>
            <a:xfrm>
              <a:off x="500077" y="1629959"/>
              <a:ext cx="86143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Straight Connector 20">
              <a:extLst>
                <a:ext uri="{FF2B5EF4-FFF2-40B4-BE49-F238E27FC236}">
                  <a16:creationId xmlns:a16="http://schemas.microsoft.com/office/drawing/2014/main" id="{9BDC6F16-08DE-42FF-B394-0B21207E5C23}"/>
                </a:ext>
              </a:extLst>
            </p:cNvPr>
            <p:cNvCxnSpPr>
              <a:cxnSpLocks/>
            </p:cNvCxnSpPr>
            <p:nvPr/>
          </p:nvCxnSpPr>
          <p:spPr>
            <a:xfrm flipV="1">
              <a:off x="1360497" y="1535322"/>
              <a:ext cx="0" cy="19214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2" name="Straight Connector 20">
              <a:extLst>
                <a:ext uri="{FF2B5EF4-FFF2-40B4-BE49-F238E27FC236}">
                  <a16:creationId xmlns:a16="http://schemas.microsoft.com/office/drawing/2014/main" id="{3E969A22-EAC3-48C5-8232-B762C279C918}"/>
                </a:ext>
              </a:extLst>
            </p:cNvPr>
            <p:cNvCxnSpPr>
              <a:cxnSpLocks/>
            </p:cNvCxnSpPr>
            <p:nvPr/>
          </p:nvCxnSpPr>
          <p:spPr>
            <a:xfrm flipV="1">
              <a:off x="499437" y="1535322"/>
              <a:ext cx="0" cy="19214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3" name="Rectangle 52">
            <a:extLst>
              <a:ext uri="{FF2B5EF4-FFF2-40B4-BE49-F238E27FC236}">
                <a16:creationId xmlns:a16="http://schemas.microsoft.com/office/drawing/2014/main" id="{3F86F8EE-AEA6-43C0-ABF6-D65204E799C2}"/>
              </a:ext>
            </a:extLst>
          </p:cNvPr>
          <p:cNvSpPr/>
          <p:nvPr/>
        </p:nvSpPr>
        <p:spPr>
          <a:xfrm rot="16200000">
            <a:off x="-891357" y="2657311"/>
            <a:ext cx="2975855" cy="378099"/>
          </a:xfrm>
          <a:prstGeom prst="rect">
            <a:avLst/>
          </a:prstGeom>
        </p:spPr>
        <p:txBody>
          <a:bodyPr wrap="square" lIns="69643" tIns="34821" rIns="69643" bIns="34821">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000" dirty="0" smtClean="0">
                <a:latin typeface="+mj-lt"/>
                <a:ea typeface="Verdana" panose="020B0604030504040204" pitchFamily="34" charset="0"/>
                <a:cs typeface="Verdana" panose="020B0604030504040204" pitchFamily="34" charset="0"/>
              </a:rPr>
              <a:t>Data Analysis &amp; Scenario Building for Modular/ Short-term Action Plans</a:t>
            </a:r>
            <a:endParaRPr kumimoji="0" lang="en-US" altLang="zh-CN" sz="100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59" name="Rounded Rectangle 58"/>
          <p:cNvSpPr/>
          <p:nvPr/>
        </p:nvSpPr>
        <p:spPr bwMode="gray">
          <a:xfrm>
            <a:off x="424937" y="4512680"/>
            <a:ext cx="11233537" cy="1451592"/>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nSpc>
                <a:spcPct val="106000"/>
              </a:lnSpc>
            </a:pPr>
            <a:r>
              <a:rPr lang="en-US" sz="1300" b="1" dirty="0" smtClean="0"/>
              <a:t>Highlights of Stage 2  </a:t>
            </a:r>
          </a:p>
          <a:p>
            <a:pPr marL="285750" indent="-285750">
              <a:lnSpc>
                <a:spcPct val="106000"/>
              </a:lnSpc>
              <a:buFont typeface="Wingdings" panose="05000000000000000000" pitchFamily="2" charset="2"/>
              <a:buChar char="§"/>
            </a:pPr>
            <a:r>
              <a:rPr lang="en-US" sz="1300" dirty="0" smtClean="0"/>
              <a:t>The on-ground timeline assessed for Stage 2 activities is around </a:t>
            </a:r>
            <a:r>
              <a:rPr lang="en-US" sz="1300" b="1" dirty="0"/>
              <a:t>9</a:t>
            </a:r>
            <a:r>
              <a:rPr lang="en-US" sz="1300" b="1" dirty="0" smtClean="0"/>
              <a:t> months </a:t>
            </a:r>
            <a:r>
              <a:rPr lang="en-US" sz="1300" dirty="0" smtClean="0"/>
              <a:t>(includes development of Draft State Energy Vision &amp; Data-driven Sectoral Energy Action Plans) </a:t>
            </a:r>
          </a:p>
          <a:p>
            <a:pPr marL="285750" indent="-285750">
              <a:lnSpc>
                <a:spcPct val="106000"/>
              </a:lnSpc>
              <a:buFont typeface="Wingdings" panose="05000000000000000000" pitchFamily="2" charset="2"/>
              <a:buChar char="§"/>
            </a:pPr>
            <a:r>
              <a:rPr lang="en-US" sz="1300" dirty="0" smtClean="0"/>
              <a:t>Broad objectives under Stage-2 are </a:t>
            </a:r>
            <a:r>
              <a:rPr lang="en-US" sz="1300" b="1" dirty="0" smtClean="0"/>
              <a:t>creating important building blocks </a:t>
            </a:r>
            <a:r>
              <a:rPr lang="en-US" sz="1300" dirty="0" smtClean="0"/>
              <a:t>in effecting data collection activities and reaching final objective of preparing EAP</a:t>
            </a:r>
          </a:p>
          <a:p>
            <a:pPr marL="285750" indent="-285750">
              <a:lnSpc>
                <a:spcPct val="106000"/>
              </a:lnSpc>
              <a:buFont typeface="Wingdings" panose="05000000000000000000" pitchFamily="2" charset="2"/>
              <a:buChar char="§"/>
            </a:pPr>
            <a:r>
              <a:rPr lang="en-US" sz="1300" dirty="0" smtClean="0"/>
              <a:t>The major outcome from Stage-2 is finalization of broad modules of</a:t>
            </a:r>
            <a:r>
              <a:rPr lang="en-US" sz="1300" b="1" dirty="0" smtClean="0"/>
              <a:t> sectoral action plans</a:t>
            </a:r>
            <a:endParaRPr lang="en-US" sz="1300" dirty="0" smtClean="0"/>
          </a:p>
        </p:txBody>
      </p:sp>
      <p:sp>
        <p:nvSpPr>
          <p:cNvPr id="3" name="Pentagon 2">
            <a:hlinkClick r:id="rId3" action="ppaction://hlinksldjump"/>
          </p:cNvPr>
          <p:cNvSpPr/>
          <p:nvPr/>
        </p:nvSpPr>
        <p:spPr bwMode="gray">
          <a:xfrm>
            <a:off x="8307977" y="6105615"/>
            <a:ext cx="3333080" cy="295181"/>
          </a:xfrm>
          <a:prstGeom prst="homePlate">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800" b="1" i="1" dirty="0" smtClean="0"/>
              <a:t>Annexure</a:t>
            </a:r>
            <a:r>
              <a:rPr lang="en-US" sz="800" i="1" dirty="0" smtClean="0"/>
              <a:t>: Sample Energy System Modelling Framework </a:t>
            </a:r>
            <a:endParaRPr lang="en-IN" sz="800" i="1" dirty="0" smtClean="0"/>
          </a:p>
        </p:txBody>
      </p:sp>
      <p:sp>
        <p:nvSpPr>
          <p:cNvPr id="25" name="Freeform 377">
            <a:extLst>
              <a:ext uri="{FF2B5EF4-FFF2-40B4-BE49-F238E27FC236}">
                <a16:creationId xmlns:a16="http://schemas.microsoft.com/office/drawing/2014/main" id="{DEB9911B-D059-4032-8119-997072C950AF}"/>
              </a:ext>
            </a:extLst>
          </p:cNvPr>
          <p:cNvSpPr>
            <a:spLocks noEditPoints="1"/>
          </p:cNvSpPr>
          <p:nvPr/>
        </p:nvSpPr>
        <p:spPr bwMode="auto">
          <a:xfrm>
            <a:off x="5829514" y="2943857"/>
            <a:ext cx="266486" cy="257454"/>
          </a:xfrm>
          <a:custGeom>
            <a:avLst/>
            <a:gdLst>
              <a:gd name="T0" fmla="*/ 320 w 320"/>
              <a:gd name="T1" fmla="*/ 224 h 235"/>
              <a:gd name="T2" fmla="*/ 309 w 320"/>
              <a:gd name="T3" fmla="*/ 235 h 235"/>
              <a:gd name="T4" fmla="*/ 10 w 320"/>
              <a:gd name="T5" fmla="*/ 235 h 235"/>
              <a:gd name="T6" fmla="*/ 0 w 320"/>
              <a:gd name="T7" fmla="*/ 224 h 235"/>
              <a:gd name="T8" fmla="*/ 0 w 320"/>
              <a:gd name="T9" fmla="*/ 11 h 235"/>
              <a:gd name="T10" fmla="*/ 10 w 320"/>
              <a:gd name="T11" fmla="*/ 0 h 235"/>
              <a:gd name="T12" fmla="*/ 21 w 320"/>
              <a:gd name="T13" fmla="*/ 11 h 235"/>
              <a:gd name="T14" fmla="*/ 21 w 320"/>
              <a:gd name="T15" fmla="*/ 214 h 235"/>
              <a:gd name="T16" fmla="*/ 309 w 320"/>
              <a:gd name="T17" fmla="*/ 214 h 235"/>
              <a:gd name="T18" fmla="*/ 320 w 320"/>
              <a:gd name="T19" fmla="*/ 224 h 235"/>
              <a:gd name="T20" fmla="*/ 53 w 320"/>
              <a:gd name="T21" fmla="*/ 192 h 235"/>
              <a:gd name="T22" fmla="*/ 64 w 320"/>
              <a:gd name="T23" fmla="*/ 182 h 235"/>
              <a:gd name="T24" fmla="*/ 64 w 320"/>
              <a:gd name="T25" fmla="*/ 139 h 235"/>
              <a:gd name="T26" fmla="*/ 53 w 320"/>
              <a:gd name="T27" fmla="*/ 128 h 235"/>
              <a:gd name="T28" fmla="*/ 42 w 320"/>
              <a:gd name="T29" fmla="*/ 139 h 235"/>
              <a:gd name="T30" fmla="*/ 42 w 320"/>
              <a:gd name="T31" fmla="*/ 182 h 235"/>
              <a:gd name="T32" fmla="*/ 53 w 320"/>
              <a:gd name="T33" fmla="*/ 192 h 235"/>
              <a:gd name="T34" fmla="*/ 96 w 320"/>
              <a:gd name="T35" fmla="*/ 192 h 235"/>
              <a:gd name="T36" fmla="*/ 106 w 320"/>
              <a:gd name="T37" fmla="*/ 182 h 235"/>
              <a:gd name="T38" fmla="*/ 106 w 320"/>
              <a:gd name="T39" fmla="*/ 107 h 235"/>
              <a:gd name="T40" fmla="*/ 96 w 320"/>
              <a:gd name="T41" fmla="*/ 96 h 235"/>
              <a:gd name="T42" fmla="*/ 85 w 320"/>
              <a:gd name="T43" fmla="*/ 107 h 235"/>
              <a:gd name="T44" fmla="*/ 85 w 320"/>
              <a:gd name="T45" fmla="*/ 182 h 235"/>
              <a:gd name="T46" fmla="*/ 96 w 320"/>
              <a:gd name="T47" fmla="*/ 192 h 235"/>
              <a:gd name="T48" fmla="*/ 138 w 320"/>
              <a:gd name="T49" fmla="*/ 192 h 235"/>
              <a:gd name="T50" fmla="*/ 149 w 320"/>
              <a:gd name="T51" fmla="*/ 182 h 235"/>
              <a:gd name="T52" fmla="*/ 149 w 320"/>
              <a:gd name="T53" fmla="*/ 11 h 235"/>
              <a:gd name="T54" fmla="*/ 138 w 320"/>
              <a:gd name="T55" fmla="*/ 0 h 235"/>
              <a:gd name="T56" fmla="*/ 128 w 320"/>
              <a:gd name="T57" fmla="*/ 11 h 235"/>
              <a:gd name="T58" fmla="*/ 128 w 320"/>
              <a:gd name="T59" fmla="*/ 182 h 235"/>
              <a:gd name="T60" fmla="*/ 138 w 320"/>
              <a:gd name="T61" fmla="*/ 192 h 235"/>
              <a:gd name="T62" fmla="*/ 181 w 320"/>
              <a:gd name="T63" fmla="*/ 192 h 235"/>
              <a:gd name="T64" fmla="*/ 192 w 320"/>
              <a:gd name="T65" fmla="*/ 182 h 235"/>
              <a:gd name="T66" fmla="*/ 192 w 320"/>
              <a:gd name="T67" fmla="*/ 64 h 235"/>
              <a:gd name="T68" fmla="*/ 181 w 320"/>
              <a:gd name="T69" fmla="*/ 54 h 235"/>
              <a:gd name="T70" fmla="*/ 170 w 320"/>
              <a:gd name="T71" fmla="*/ 64 h 235"/>
              <a:gd name="T72" fmla="*/ 170 w 320"/>
              <a:gd name="T73" fmla="*/ 182 h 235"/>
              <a:gd name="T74" fmla="*/ 181 w 320"/>
              <a:gd name="T75" fmla="*/ 192 h 235"/>
              <a:gd name="T76" fmla="*/ 224 w 320"/>
              <a:gd name="T77" fmla="*/ 192 h 235"/>
              <a:gd name="T78" fmla="*/ 234 w 320"/>
              <a:gd name="T79" fmla="*/ 182 h 235"/>
              <a:gd name="T80" fmla="*/ 234 w 320"/>
              <a:gd name="T81" fmla="*/ 32 h 235"/>
              <a:gd name="T82" fmla="*/ 224 w 320"/>
              <a:gd name="T83" fmla="*/ 22 h 235"/>
              <a:gd name="T84" fmla="*/ 213 w 320"/>
              <a:gd name="T85" fmla="*/ 32 h 235"/>
              <a:gd name="T86" fmla="*/ 213 w 320"/>
              <a:gd name="T87" fmla="*/ 182 h 235"/>
              <a:gd name="T88" fmla="*/ 224 w 320"/>
              <a:gd name="T89" fmla="*/ 192 h 235"/>
              <a:gd name="T90" fmla="*/ 266 w 320"/>
              <a:gd name="T91" fmla="*/ 192 h 235"/>
              <a:gd name="T92" fmla="*/ 277 w 320"/>
              <a:gd name="T93" fmla="*/ 182 h 235"/>
              <a:gd name="T94" fmla="*/ 277 w 320"/>
              <a:gd name="T95" fmla="*/ 118 h 235"/>
              <a:gd name="T96" fmla="*/ 266 w 320"/>
              <a:gd name="T97" fmla="*/ 107 h 235"/>
              <a:gd name="T98" fmla="*/ 256 w 320"/>
              <a:gd name="T99" fmla="*/ 118 h 235"/>
              <a:gd name="T100" fmla="*/ 256 w 320"/>
              <a:gd name="T101" fmla="*/ 182 h 235"/>
              <a:gd name="T102" fmla="*/ 266 w 320"/>
              <a:gd name="T103" fmla="*/ 19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0" h="235">
                <a:moveTo>
                  <a:pt x="320" y="224"/>
                </a:moveTo>
                <a:cubicBezTo>
                  <a:pt x="320" y="230"/>
                  <a:pt x="315" y="235"/>
                  <a:pt x="309" y="235"/>
                </a:cubicBezTo>
                <a:cubicBezTo>
                  <a:pt x="10" y="235"/>
                  <a:pt x="10" y="235"/>
                  <a:pt x="10" y="235"/>
                </a:cubicBezTo>
                <a:cubicBezTo>
                  <a:pt x="4" y="235"/>
                  <a:pt x="0" y="230"/>
                  <a:pt x="0" y="224"/>
                </a:cubicBezTo>
                <a:cubicBezTo>
                  <a:pt x="0" y="11"/>
                  <a:pt x="0" y="11"/>
                  <a:pt x="0" y="11"/>
                </a:cubicBezTo>
                <a:cubicBezTo>
                  <a:pt x="0" y="5"/>
                  <a:pt x="4" y="0"/>
                  <a:pt x="10" y="0"/>
                </a:cubicBezTo>
                <a:cubicBezTo>
                  <a:pt x="16" y="0"/>
                  <a:pt x="21" y="5"/>
                  <a:pt x="21" y="11"/>
                </a:cubicBezTo>
                <a:cubicBezTo>
                  <a:pt x="21" y="214"/>
                  <a:pt x="21" y="214"/>
                  <a:pt x="21" y="214"/>
                </a:cubicBezTo>
                <a:cubicBezTo>
                  <a:pt x="309" y="214"/>
                  <a:pt x="309" y="214"/>
                  <a:pt x="309" y="214"/>
                </a:cubicBezTo>
                <a:cubicBezTo>
                  <a:pt x="315" y="214"/>
                  <a:pt x="320" y="218"/>
                  <a:pt x="320" y="224"/>
                </a:cubicBezTo>
                <a:close/>
                <a:moveTo>
                  <a:pt x="53" y="192"/>
                </a:moveTo>
                <a:cubicBezTo>
                  <a:pt x="59" y="192"/>
                  <a:pt x="64" y="188"/>
                  <a:pt x="64" y="182"/>
                </a:cubicBezTo>
                <a:cubicBezTo>
                  <a:pt x="64" y="139"/>
                  <a:pt x="64" y="139"/>
                  <a:pt x="64" y="139"/>
                </a:cubicBezTo>
                <a:cubicBezTo>
                  <a:pt x="64" y="133"/>
                  <a:pt x="59" y="128"/>
                  <a:pt x="53" y="128"/>
                </a:cubicBezTo>
                <a:cubicBezTo>
                  <a:pt x="47" y="128"/>
                  <a:pt x="42" y="133"/>
                  <a:pt x="42" y="139"/>
                </a:cubicBezTo>
                <a:cubicBezTo>
                  <a:pt x="42" y="182"/>
                  <a:pt x="42" y="182"/>
                  <a:pt x="42" y="182"/>
                </a:cubicBezTo>
                <a:cubicBezTo>
                  <a:pt x="42" y="188"/>
                  <a:pt x="47" y="192"/>
                  <a:pt x="53" y="192"/>
                </a:cubicBezTo>
                <a:close/>
                <a:moveTo>
                  <a:pt x="96" y="192"/>
                </a:moveTo>
                <a:cubicBezTo>
                  <a:pt x="102" y="192"/>
                  <a:pt x="106" y="188"/>
                  <a:pt x="106" y="182"/>
                </a:cubicBezTo>
                <a:cubicBezTo>
                  <a:pt x="106" y="107"/>
                  <a:pt x="106" y="107"/>
                  <a:pt x="106" y="107"/>
                </a:cubicBezTo>
                <a:cubicBezTo>
                  <a:pt x="106" y="101"/>
                  <a:pt x="102" y="96"/>
                  <a:pt x="96" y="96"/>
                </a:cubicBezTo>
                <a:cubicBezTo>
                  <a:pt x="90" y="96"/>
                  <a:pt x="85" y="101"/>
                  <a:pt x="85" y="107"/>
                </a:cubicBezTo>
                <a:cubicBezTo>
                  <a:pt x="85" y="182"/>
                  <a:pt x="85" y="182"/>
                  <a:pt x="85" y="182"/>
                </a:cubicBezTo>
                <a:cubicBezTo>
                  <a:pt x="85" y="188"/>
                  <a:pt x="90" y="192"/>
                  <a:pt x="96" y="192"/>
                </a:cubicBezTo>
                <a:close/>
                <a:moveTo>
                  <a:pt x="138" y="192"/>
                </a:moveTo>
                <a:cubicBezTo>
                  <a:pt x="144" y="192"/>
                  <a:pt x="149" y="188"/>
                  <a:pt x="149" y="182"/>
                </a:cubicBezTo>
                <a:cubicBezTo>
                  <a:pt x="149" y="11"/>
                  <a:pt x="149" y="11"/>
                  <a:pt x="149" y="11"/>
                </a:cubicBezTo>
                <a:cubicBezTo>
                  <a:pt x="149" y="5"/>
                  <a:pt x="144" y="0"/>
                  <a:pt x="138" y="0"/>
                </a:cubicBezTo>
                <a:cubicBezTo>
                  <a:pt x="132" y="0"/>
                  <a:pt x="128" y="5"/>
                  <a:pt x="128" y="11"/>
                </a:cubicBezTo>
                <a:cubicBezTo>
                  <a:pt x="128" y="182"/>
                  <a:pt x="128" y="182"/>
                  <a:pt x="128" y="182"/>
                </a:cubicBezTo>
                <a:cubicBezTo>
                  <a:pt x="128" y="188"/>
                  <a:pt x="132" y="192"/>
                  <a:pt x="138" y="192"/>
                </a:cubicBezTo>
                <a:close/>
                <a:moveTo>
                  <a:pt x="181" y="192"/>
                </a:moveTo>
                <a:cubicBezTo>
                  <a:pt x="187" y="192"/>
                  <a:pt x="192" y="188"/>
                  <a:pt x="192" y="182"/>
                </a:cubicBezTo>
                <a:cubicBezTo>
                  <a:pt x="192" y="64"/>
                  <a:pt x="192" y="64"/>
                  <a:pt x="192" y="64"/>
                </a:cubicBezTo>
                <a:cubicBezTo>
                  <a:pt x="192" y="58"/>
                  <a:pt x="187" y="54"/>
                  <a:pt x="181" y="54"/>
                </a:cubicBezTo>
                <a:cubicBezTo>
                  <a:pt x="175" y="54"/>
                  <a:pt x="170" y="58"/>
                  <a:pt x="170" y="64"/>
                </a:cubicBezTo>
                <a:cubicBezTo>
                  <a:pt x="170" y="182"/>
                  <a:pt x="170" y="182"/>
                  <a:pt x="170" y="182"/>
                </a:cubicBezTo>
                <a:cubicBezTo>
                  <a:pt x="170" y="188"/>
                  <a:pt x="175" y="192"/>
                  <a:pt x="181" y="192"/>
                </a:cubicBezTo>
                <a:close/>
                <a:moveTo>
                  <a:pt x="224" y="192"/>
                </a:moveTo>
                <a:cubicBezTo>
                  <a:pt x="230" y="192"/>
                  <a:pt x="234" y="188"/>
                  <a:pt x="234" y="182"/>
                </a:cubicBezTo>
                <a:cubicBezTo>
                  <a:pt x="234" y="32"/>
                  <a:pt x="234" y="32"/>
                  <a:pt x="234" y="32"/>
                </a:cubicBezTo>
                <a:cubicBezTo>
                  <a:pt x="234" y="26"/>
                  <a:pt x="230" y="22"/>
                  <a:pt x="224" y="22"/>
                </a:cubicBezTo>
                <a:cubicBezTo>
                  <a:pt x="218" y="22"/>
                  <a:pt x="213" y="26"/>
                  <a:pt x="213" y="32"/>
                </a:cubicBezTo>
                <a:cubicBezTo>
                  <a:pt x="213" y="182"/>
                  <a:pt x="213" y="182"/>
                  <a:pt x="213" y="182"/>
                </a:cubicBezTo>
                <a:cubicBezTo>
                  <a:pt x="213" y="188"/>
                  <a:pt x="218" y="192"/>
                  <a:pt x="224" y="192"/>
                </a:cubicBezTo>
                <a:close/>
                <a:moveTo>
                  <a:pt x="266" y="192"/>
                </a:moveTo>
                <a:cubicBezTo>
                  <a:pt x="272" y="192"/>
                  <a:pt x="277" y="188"/>
                  <a:pt x="277" y="182"/>
                </a:cubicBezTo>
                <a:cubicBezTo>
                  <a:pt x="277" y="118"/>
                  <a:pt x="277" y="118"/>
                  <a:pt x="277" y="118"/>
                </a:cubicBezTo>
                <a:cubicBezTo>
                  <a:pt x="277" y="112"/>
                  <a:pt x="272" y="107"/>
                  <a:pt x="266" y="107"/>
                </a:cubicBezTo>
                <a:cubicBezTo>
                  <a:pt x="260" y="107"/>
                  <a:pt x="256" y="112"/>
                  <a:pt x="256" y="118"/>
                </a:cubicBezTo>
                <a:cubicBezTo>
                  <a:pt x="256" y="182"/>
                  <a:pt x="256" y="182"/>
                  <a:pt x="256" y="182"/>
                </a:cubicBezTo>
                <a:cubicBezTo>
                  <a:pt x="256" y="188"/>
                  <a:pt x="260" y="192"/>
                  <a:pt x="266" y="192"/>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6" name="Pentagon 25">
            <a:hlinkClick r:id="rId4"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31942152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9189326"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Stage 3: Preparation of EAP &amp; Decision Support Tool</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9538D967-88F0-4855-B9A7-C3ECD264D887}"/>
              </a:ext>
            </a:extLst>
          </p:cNvPr>
          <p:cNvGrpSpPr/>
          <p:nvPr/>
        </p:nvGrpSpPr>
        <p:grpSpPr>
          <a:xfrm>
            <a:off x="1255406" y="1241730"/>
            <a:ext cx="4061557" cy="2919351"/>
            <a:chOff x="420422" y="1879634"/>
            <a:chExt cx="3573178" cy="2919351"/>
          </a:xfrm>
        </p:grpSpPr>
        <p:sp>
          <p:nvSpPr>
            <p:cNvPr id="30" name="Parallelogram 29">
              <a:extLst>
                <a:ext uri="{FF2B5EF4-FFF2-40B4-BE49-F238E27FC236}">
                  <a16:creationId xmlns:a16="http://schemas.microsoft.com/office/drawing/2014/main" id="{C0AAFE0C-8015-4685-97DF-C3803293EE51}"/>
                </a:ext>
              </a:extLst>
            </p:cNvPr>
            <p:cNvSpPr/>
            <p:nvPr/>
          </p:nvSpPr>
          <p:spPr>
            <a:xfrm rot="300000">
              <a:off x="420422" y="3969714"/>
              <a:ext cx="3573178" cy="829271"/>
            </a:xfrm>
            <a:prstGeom prst="parallelogram">
              <a:avLst>
                <a:gd name="adj" fmla="val 129308"/>
              </a:avLst>
            </a:prstGeom>
            <a:solidFill>
              <a:srgbClr val="7F7F7F">
                <a:alpha val="82000"/>
              </a:srgb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FFFFFF"/>
                  </a:solidFill>
                  <a:ea typeface="Verdana" panose="020B0604030504040204" pitchFamily="34" charset="0"/>
                  <a:cs typeface="Verdana" panose="020B0604030504040204" pitchFamily="34" charset="0"/>
                </a:rPr>
                <a:t>d. Preparing EAP &amp; Decision Support Tool</a:t>
              </a:r>
              <a:endParaRPr lang="en-US" sz="1200" dirty="0">
                <a:solidFill>
                  <a:srgbClr val="FFFFFF"/>
                </a:solidFill>
                <a:ea typeface="Verdana" panose="020B0604030504040204" pitchFamily="34" charset="0"/>
                <a:cs typeface="Verdana" panose="020B0604030504040204" pitchFamily="34" charset="0"/>
              </a:endParaRPr>
            </a:p>
          </p:txBody>
        </p:sp>
        <p:sp>
          <p:nvSpPr>
            <p:cNvPr id="31" name="Parallelogram 30">
              <a:extLst>
                <a:ext uri="{FF2B5EF4-FFF2-40B4-BE49-F238E27FC236}">
                  <a16:creationId xmlns:a16="http://schemas.microsoft.com/office/drawing/2014/main" id="{673DD155-7E43-4BD5-94D4-BD92FF8C5FB7}"/>
                </a:ext>
              </a:extLst>
            </p:cNvPr>
            <p:cNvSpPr/>
            <p:nvPr/>
          </p:nvSpPr>
          <p:spPr>
            <a:xfrm rot="300000">
              <a:off x="420422" y="3296318"/>
              <a:ext cx="3573178" cy="829271"/>
            </a:xfrm>
            <a:prstGeom prst="parallelogram">
              <a:avLst>
                <a:gd name="adj" fmla="val 129308"/>
              </a:avLst>
            </a:prstGeom>
            <a:solidFill>
              <a:schemeClr val="accent1">
                <a:lumMod val="40000"/>
                <a:lumOff val="60000"/>
                <a:alpha val="82000"/>
              </a:scheme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c. Identification of Sector-level activities</a:t>
              </a:r>
              <a:endParaRPr lang="en-US" sz="1200" dirty="0">
                <a:solidFill>
                  <a:srgbClr val="000000"/>
                </a:solidFill>
                <a:ea typeface="Verdana" panose="020B0604030504040204" pitchFamily="34" charset="0"/>
                <a:cs typeface="Verdana" panose="020B0604030504040204" pitchFamily="34" charset="0"/>
              </a:endParaRPr>
            </a:p>
          </p:txBody>
        </p:sp>
        <p:sp>
          <p:nvSpPr>
            <p:cNvPr id="32" name="Parallelogram 31">
              <a:extLst>
                <a:ext uri="{FF2B5EF4-FFF2-40B4-BE49-F238E27FC236}">
                  <a16:creationId xmlns:a16="http://schemas.microsoft.com/office/drawing/2014/main" id="{28C8DA03-D75B-4C31-BBD8-7C786D0D6F67}"/>
                </a:ext>
              </a:extLst>
            </p:cNvPr>
            <p:cNvSpPr/>
            <p:nvPr/>
          </p:nvSpPr>
          <p:spPr>
            <a:xfrm rot="300000">
              <a:off x="420422" y="2622922"/>
              <a:ext cx="3573178" cy="829271"/>
            </a:xfrm>
            <a:prstGeom prst="parallelogram">
              <a:avLst>
                <a:gd name="adj" fmla="val 129308"/>
              </a:avLst>
            </a:prstGeom>
            <a:solidFill>
              <a:schemeClr val="accent1">
                <a:lumMod val="60000"/>
                <a:lumOff val="40000"/>
                <a:alpha val="82000"/>
              </a:schemeClr>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b. Finalizing State Energy Vision</a:t>
              </a:r>
              <a:endParaRPr lang="en-US" sz="1200" dirty="0">
                <a:solidFill>
                  <a:srgbClr val="000000"/>
                </a:solidFill>
                <a:ea typeface="Verdana" panose="020B0604030504040204" pitchFamily="34" charset="0"/>
                <a:cs typeface="Verdana" panose="020B0604030504040204" pitchFamily="34" charset="0"/>
              </a:endParaRPr>
            </a:p>
          </p:txBody>
        </p:sp>
        <p:sp>
          <p:nvSpPr>
            <p:cNvPr id="33" name="Parallelogram 32">
              <a:extLst>
                <a:ext uri="{FF2B5EF4-FFF2-40B4-BE49-F238E27FC236}">
                  <a16:creationId xmlns:a16="http://schemas.microsoft.com/office/drawing/2014/main" id="{B1137AB4-79AA-408C-B526-A05DFCDA81BC}"/>
                </a:ext>
              </a:extLst>
            </p:cNvPr>
            <p:cNvSpPr/>
            <p:nvPr/>
          </p:nvSpPr>
          <p:spPr>
            <a:xfrm rot="300000">
              <a:off x="420422" y="1879634"/>
              <a:ext cx="3573178" cy="829271"/>
            </a:xfrm>
            <a:prstGeom prst="parallelogram">
              <a:avLst>
                <a:gd name="adj" fmla="val 129308"/>
              </a:avLst>
            </a:prstGeom>
            <a:solidFill>
              <a:schemeClr val="accent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defRPr/>
              </a:pPr>
              <a:r>
                <a:rPr lang="en-US" sz="1200" dirty="0" smtClean="0">
                  <a:solidFill>
                    <a:srgbClr val="000000"/>
                  </a:solidFill>
                  <a:ea typeface="Verdana" panose="020B0604030504040204" pitchFamily="34" charset="0"/>
                  <a:cs typeface="Verdana" panose="020B0604030504040204" pitchFamily="34" charset="0"/>
                </a:rPr>
                <a:t>a. Potential State Energy Scenarios </a:t>
              </a:r>
              <a:endParaRPr lang="en-US" sz="1200" dirty="0">
                <a:solidFill>
                  <a:srgbClr val="000000"/>
                </a:solidFill>
                <a:ea typeface="Verdana" panose="020B0604030504040204" pitchFamily="34" charset="0"/>
                <a:cs typeface="Verdana" panose="020B0604030504040204" pitchFamily="34" charset="0"/>
              </a:endParaRPr>
            </a:p>
          </p:txBody>
        </p:sp>
      </p:grpSp>
      <p:cxnSp>
        <p:nvCxnSpPr>
          <p:cNvPr id="38" name="Straight Connector 37">
            <a:extLst>
              <a:ext uri="{FF2B5EF4-FFF2-40B4-BE49-F238E27FC236}">
                <a16:creationId xmlns:a16="http://schemas.microsoft.com/office/drawing/2014/main" id="{D179B4C5-B0AC-4983-98BC-19D4DA3810A4}"/>
              </a:ext>
            </a:extLst>
          </p:cNvPr>
          <p:cNvCxnSpPr/>
          <p:nvPr/>
        </p:nvCxnSpPr>
        <p:spPr>
          <a:xfrm>
            <a:off x="1015774" y="1027962"/>
            <a:ext cx="4206240" cy="0"/>
          </a:xfrm>
          <a:prstGeom prst="line">
            <a:avLst/>
          </a:prstGeom>
          <a:ln w="1905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A37D605E-19D9-45C7-AD40-89E032189BAF}"/>
              </a:ext>
            </a:extLst>
          </p:cNvPr>
          <p:cNvSpPr txBox="1"/>
          <p:nvPr/>
        </p:nvSpPr>
        <p:spPr>
          <a:xfrm>
            <a:off x="1015774" y="823680"/>
            <a:ext cx="1572546" cy="184666"/>
          </a:xfrm>
          <a:prstGeom prst="rect">
            <a:avLst/>
          </a:prstGeom>
          <a:noFill/>
        </p:spPr>
        <p:txBody>
          <a:bodyPr wrap="none" lIns="0" tIns="0" rIns="0" bIns="0" rtlCol="0">
            <a:spAutoFit/>
          </a:bodyPr>
          <a:lstStyle/>
          <a:p>
            <a:pPr lvl="0">
              <a:defRPr/>
            </a:pPr>
            <a:r>
              <a:rPr lang="en-US" sz="1200" b="1" dirty="0" smtClean="0">
                <a:solidFill>
                  <a:srgbClr val="000000"/>
                </a:solidFill>
                <a:ea typeface="Verdana" panose="020B0604030504040204" pitchFamily="34" charset="0"/>
                <a:cs typeface="Verdana" panose="020B0604030504040204" pitchFamily="34" charset="0"/>
              </a:rPr>
              <a:t>Activities: Stage 3</a:t>
            </a:r>
            <a:endParaRPr lang="en-US" sz="1200" b="1" dirty="0">
              <a:solidFill>
                <a:srgbClr val="000000"/>
              </a:solidFill>
              <a:ea typeface="Verdana" panose="020B0604030504040204" pitchFamily="34" charset="0"/>
              <a:cs typeface="Verdana" panose="020B0604030504040204" pitchFamily="34" charset="0"/>
            </a:endParaRPr>
          </a:p>
        </p:txBody>
      </p:sp>
      <p:cxnSp>
        <p:nvCxnSpPr>
          <p:cNvPr id="40" name="Straight Connector 39">
            <a:extLst>
              <a:ext uri="{FF2B5EF4-FFF2-40B4-BE49-F238E27FC236}">
                <a16:creationId xmlns:a16="http://schemas.microsoft.com/office/drawing/2014/main" id="{C6EE9C1E-52BD-4993-AB98-8696ADE5E5DF}"/>
              </a:ext>
            </a:extLst>
          </p:cNvPr>
          <p:cNvCxnSpPr/>
          <p:nvPr/>
        </p:nvCxnSpPr>
        <p:spPr>
          <a:xfrm>
            <a:off x="5589881" y="1027962"/>
            <a:ext cx="6053328" cy="0"/>
          </a:xfrm>
          <a:prstGeom prst="line">
            <a:avLst/>
          </a:prstGeom>
          <a:ln w="1905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7910DF8-27C3-412A-AFE8-EA971A57B0AB}"/>
              </a:ext>
            </a:extLst>
          </p:cNvPr>
          <p:cNvSpPr txBox="1"/>
          <p:nvPr/>
        </p:nvSpPr>
        <p:spPr>
          <a:xfrm>
            <a:off x="5589881" y="823680"/>
            <a:ext cx="1280800" cy="184666"/>
          </a:xfrm>
          <a:prstGeom prst="rect">
            <a:avLst/>
          </a:prstGeom>
          <a:noFill/>
          <a:ln>
            <a:noFill/>
          </a:ln>
        </p:spPr>
        <p:txBody>
          <a:bodyPr wrap="none" lIns="0" tIns="0" rIns="0" bIns="0" rtlCol="0">
            <a:spAutoFit/>
          </a:bodyPr>
          <a:lstStyle/>
          <a:p>
            <a:pPr lvl="0">
              <a:defRPr/>
            </a:pPr>
            <a:r>
              <a:rPr lang="en-US" sz="1200" dirty="0" smtClean="0">
                <a:solidFill>
                  <a:srgbClr val="000000"/>
                </a:solidFill>
                <a:ea typeface="Verdana" panose="020B0604030504040204" pitchFamily="34" charset="0"/>
                <a:cs typeface="Verdana" panose="020B0604030504040204" pitchFamily="34" charset="0"/>
              </a:rPr>
              <a:t>Brief Description</a:t>
            </a:r>
            <a:endParaRPr lang="en-US" sz="1200" dirty="0">
              <a:solidFill>
                <a:srgbClr val="000000"/>
              </a:solidFill>
              <a:ea typeface="Verdana" panose="020B0604030504040204" pitchFamily="34" charset="0"/>
              <a:cs typeface="Verdana" panose="020B0604030504040204" pitchFamily="34" charset="0"/>
            </a:endParaRPr>
          </a:p>
        </p:txBody>
      </p:sp>
      <p:graphicFrame>
        <p:nvGraphicFramePr>
          <p:cNvPr id="42" name="Table 41">
            <a:extLst>
              <a:ext uri="{FF2B5EF4-FFF2-40B4-BE49-F238E27FC236}">
                <a16:creationId xmlns:a16="http://schemas.microsoft.com/office/drawing/2014/main" id="{D00A8DDA-BEC2-4228-AA98-BB1AB118D985}"/>
              </a:ext>
            </a:extLst>
          </p:cNvPr>
          <p:cNvGraphicFramePr>
            <a:graphicFrameLocks noGrp="1"/>
          </p:cNvGraphicFramePr>
          <p:nvPr>
            <p:extLst>
              <p:ext uri="{D42A27DB-BD31-4B8C-83A1-F6EECF244321}">
                <p14:modId xmlns:p14="http://schemas.microsoft.com/office/powerpoint/2010/main" val="3381720043"/>
              </p:ext>
            </p:extLst>
          </p:nvPr>
        </p:nvGraphicFramePr>
        <p:xfrm>
          <a:off x="5589881" y="1292493"/>
          <a:ext cx="6051176" cy="2797018"/>
        </p:xfrm>
        <a:graphic>
          <a:graphicData uri="http://schemas.openxmlformats.org/drawingml/2006/table">
            <a:tbl>
              <a:tblPr firstRow="1" bandRow="1">
                <a:tableStyleId>{5C22544A-7EE6-4342-B048-85BDC9FD1C3A}</a:tableStyleId>
              </a:tblPr>
              <a:tblGrid>
                <a:gridCol w="762123">
                  <a:extLst>
                    <a:ext uri="{9D8B030D-6E8A-4147-A177-3AD203B41FA5}">
                      <a16:colId xmlns:a16="http://schemas.microsoft.com/office/drawing/2014/main" val="3975474829"/>
                    </a:ext>
                  </a:extLst>
                </a:gridCol>
                <a:gridCol w="1617693">
                  <a:extLst>
                    <a:ext uri="{9D8B030D-6E8A-4147-A177-3AD203B41FA5}">
                      <a16:colId xmlns:a16="http://schemas.microsoft.com/office/drawing/2014/main" val="844568499"/>
                    </a:ext>
                  </a:extLst>
                </a:gridCol>
                <a:gridCol w="3671360">
                  <a:extLst>
                    <a:ext uri="{9D8B030D-6E8A-4147-A177-3AD203B41FA5}">
                      <a16:colId xmlns:a16="http://schemas.microsoft.com/office/drawing/2014/main" val="1868331620"/>
                    </a:ext>
                  </a:extLst>
                </a:gridCol>
              </a:tblGrid>
              <a:tr h="753535">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Potential State</a:t>
                      </a:r>
                      <a:r>
                        <a:rPr lang="en-US" sz="1100" b="1" baseline="0" dirty="0" smtClean="0">
                          <a:solidFill>
                            <a:schemeClr val="tx1"/>
                          </a:solidFill>
                          <a:latin typeface="+mn-lt"/>
                          <a:ea typeface="Verdana" panose="020B0604030504040204" pitchFamily="34" charset="0"/>
                          <a:cs typeface="Verdana" panose="020B0604030504040204" pitchFamily="34" charset="0"/>
                        </a:rPr>
                        <a:t> Energy Scenarios</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Framing</a:t>
                      </a:r>
                      <a:r>
                        <a:rPr lang="en-US" sz="1100" b="0" baseline="0" dirty="0" smtClean="0">
                          <a:solidFill>
                            <a:schemeClr val="tx1"/>
                          </a:solidFill>
                          <a:latin typeface="+mn-lt"/>
                          <a:ea typeface="Verdana" panose="020B0604030504040204" pitchFamily="34" charset="0"/>
                          <a:cs typeface="Verdana" panose="020B0604030504040204" pitchFamily="34" charset="0"/>
                        </a:rPr>
                        <a:t> sector-driven energy scenarios for Jharkhand, keeping inline with the overall macro-economic prospects</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0636766"/>
                  </a:ext>
                </a:extLst>
              </a:tr>
              <a:tr h="702733">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Finalizing</a:t>
                      </a:r>
                      <a:r>
                        <a:rPr lang="en-US" sz="1100" b="1" baseline="0" dirty="0" smtClean="0">
                          <a:solidFill>
                            <a:schemeClr val="tx1"/>
                          </a:solidFill>
                          <a:latin typeface="+mn-lt"/>
                          <a:ea typeface="Verdana" panose="020B0604030504040204" pitchFamily="34" charset="0"/>
                          <a:cs typeface="Verdana" panose="020B0604030504040204" pitchFamily="34" charset="0"/>
                        </a:rPr>
                        <a:t> State Energy Vision</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Delivering</a:t>
                      </a:r>
                      <a:r>
                        <a:rPr lang="en-US" sz="1100" b="0" baseline="0" dirty="0" smtClean="0">
                          <a:solidFill>
                            <a:schemeClr val="tx1"/>
                          </a:solidFill>
                          <a:latin typeface="+mn-lt"/>
                          <a:ea typeface="Verdana" panose="020B0604030504040204" pitchFamily="34" charset="0"/>
                          <a:cs typeface="Verdana" panose="020B0604030504040204" pitchFamily="34" charset="0"/>
                        </a:rPr>
                        <a:t> energy Vision statement for Jharkhand, capturing specific aspirations and prospects</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2062843"/>
                  </a:ext>
                </a:extLst>
              </a:tr>
              <a:tr h="651933">
                <a:tc>
                  <a:txBody>
                    <a:bodyPr/>
                    <a:lstStyle/>
                    <a:p>
                      <a:pPr algn="l"/>
                      <a:endParaRPr lang="en-US" sz="1100" b="0"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Identification</a:t>
                      </a:r>
                      <a:r>
                        <a:rPr lang="en-US" sz="1100" b="1" baseline="0" dirty="0" smtClean="0">
                          <a:solidFill>
                            <a:schemeClr val="tx1"/>
                          </a:solidFill>
                          <a:latin typeface="+mn-lt"/>
                          <a:ea typeface="Verdana" panose="020B0604030504040204" pitchFamily="34" charset="0"/>
                          <a:cs typeface="Verdana" panose="020B0604030504040204" pitchFamily="34" charset="0"/>
                        </a:rPr>
                        <a:t> of Sectoral Activities</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In</a:t>
                      </a:r>
                      <a:r>
                        <a:rPr lang="en-US" sz="1100" b="0" baseline="0" dirty="0" smtClean="0">
                          <a:solidFill>
                            <a:schemeClr val="tx1"/>
                          </a:solidFill>
                          <a:latin typeface="+mn-lt"/>
                          <a:ea typeface="Verdana" panose="020B0604030504040204" pitchFamily="34" charset="0"/>
                          <a:cs typeface="Verdana" panose="020B0604030504040204" pitchFamily="34" charset="0"/>
                        </a:rPr>
                        <a:t> this step, specific activities for participating sectors are framed, which are inline to derived state vision  </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0558"/>
                  </a:ext>
                </a:extLst>
              </a:tr>
              <a:tr h="688817">
                <a:tc>
                  <a:txBody>
                    <a:bodyPr/>
                    <a:lstStyle/>
                    <a:p>
                      <a:pPr algn="l"/>
                      <a:endParaRPr lang="en-US" sz="11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dirty="0" smtClean="0">
                          <a:solidFill>
                            <a:schemeClr val="tx1"/>
                          </a:solidFill>
                          <a:latin typeface="+mn-lt"/>
                          <a:ea typeface="Verdana" panose="020B0604030504040204" pitchFamily="34" charset="0"/>
                          <a:cs typeface="Verdana" panose="020B0604030504040204" pitchFamily="34" charset="0"/>
                        </a:rPr>
                        <a:t>Preparing</a:t>
                      </a:r>
                      <a:r>
                        <a:rPr lang="en-US" sz="1100" b="1" baseline="0" dirty="0" smtClean="0">
                          <a:solidFill>
                            <a:schemeClr val="tx1"/>
                          </a:solidFill>
                          <a:latin typeface="+mn-lt"/>
                          <a:ea typeface="Verdana" panose="020B0604030504040204" pitchFamily="34" charset="0"/>
                          <a:cs typeface="Verdana" panose="020B0604030504040204" pitchFamily="34" charset="0"/>
                        </a:rPr>
                        <a:t> EAP &amp; Decision Support Tool</a:t>
                      </a:r>
                      <a:r>
                        <a:rPr lang="en-US" sz="1100" b="1" dirty="0" smtClean="0">
                          <a:solidFill>
                            <a:schemeClr val="tx1"/>
                          </a:solidFill>
                          <a:latin typeface="+mn-lt"/>
                          <a:ea typeface="Verdana" panose="020B0604030504040204" pitchFamily="34" charset="0"/>
                          <a:cs typeface="Verdana" panose="020B0604030504040204" pitchFamily="34" charset="0"/>
                        </a:rPr>
                        <a:t> </a:t>
                      </a:r>
                      <a:endParaRPr lang="en-US" sz="1100" b="1"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ü"/>
                      </a:pPr>
                      <a:r>
                        <a:rPr lang="en-US" sz="1100" b="0" dirty="0" smtClean="0">
                          <a:solidFill>
                            <a:schemeClr val="tx1"/>
                          </a:solidFill>
                          <a:latin typeface="+mn-lt"/>
                          <a:ea typeface="Verdana" panose="020B0604030504040204" pitchFamily="34" charset="0"/>
                          <a:cs typeface="Verdana" panose="020B0604030504040204" pitchFamily="34" charset="0"/>
                        </a:rPr>
                        <a:t>The</a:t>
                      </a:r>
                      <a:r>
                        <a:rPr lang="en-US" sz="1100" b="0" baseline="0" dirty="0" smtClean="0">
                          <a:solidFill>
                            <a:schemeClr val="tx1"/>
                          </a:solidFill>
                          <a:latin typeface="+mn-lt"/>
                          <a:ea typeface="Verdana" panose="020B0604030504040204" pitchFamily="34" charset="0"/>
                          <a:cs typeface="Verdana" panose="020B0604030504040204" pitchFamily="34" charset="0"/>
                        </a:rPr>
                        <a:t> Energy Action Plan is delivered </a:t>
                      </a:r>
                    </a:p>
                    <a:p>
                      <a:pPr marL="171450" indent="-171450" algn="l">
                        <a:buFont typeface="Wingdings" panose="05000000000000000000" pitchFamily="2" charset="2"/>
                        <a:buChar char="ü"/>
                      </a:pPr>
                      <a:r>
                        <a:rPr lang="en-US" sz="1100" b="0" baseline="0" dirty="0" smtClean="0">
                          <a:solidFill>
                            <a:schemeClr val="tx1"/>
                          </a:solidFill>
                          <a:latin typeface="+mn-lt"/>
                          <a:ea typeface="Verdana" panose="020B0604030504040204" pitchFamily="34" charset="0"/>
                          <a:cs typeface="Verdana" panose="020B0604030504040204" pitchFamily="34" charset="0"/>
                        </a:rPr>
                        <a:t>A Decision Support Tool is commissioned to help Jharkhand with future analysis  </a:t>
                      </a:r>
                      <a:endParaRPr lang="en-US" sz="1100" b="0" dirty="0">
                        <a:solidFill>
                          <a:schemeClr val="tx1"/>
                        </a:solidFill>
                        <a:latin typeface="+mn-lt"/>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1345550"/>
                  </a:ext>
                </a:extLst>
              </a:tr>
            </a:tbl>
          </a:graphicData>
        </a:graphic>
      </p:graphicFrame>
      <p:pic>
        <p:nvPicPr>
          <p:cNvPr id="45" name="Picture 44">
            <a:extLst>
              <a:ext uri="{FF2B5EF4-FFF2-40B4-BE49-F238E27FC236}">
                <a16:creationId xmlns:a16="http://schemas.microsoft.com/office/drawing/2014/main" id="{077C99C4-8476-4133-AC2A-DDE1C1540D66}"/>
              </a:ext>
            </a:extLst>
          </p:cNvPr>
          <p:cNvPicPr>
            <a:picLocks noChangeAspect="1"/>
          </p:cNvPicPr>
          <p:nvPr/>
        </p:nvPicPr>
        <p:blipFill rotWithShape="1">
          <a:blip r:embed="rId2"/>
          <a:srcRect l="50658" t="39548" r="45735" b="55388"/>
          <a:stretch/>
        </p:blipFill>
        <p:spPr>
          <a:xfrm>
            <a:off x="5822999" y="2282545"/>
            <a:ext cx="356122" cy="268392"/>
          </a:xfrm>
          <a:prstGeom prst="rect">
            <a:avLst/>
          </a:prstGeom>
        </p:spPr>
      </p:pic>
      <p:pic>
        <p:nvPicPr>
          <p:cNvPr id="46" name="Picture 45">
            <a:extLst>
              <a:ext uri="{FF2B5EF4-FFF2-40B4-BE49-F238E27FC236}">
                <a16:creationId xmlns:a16="http://schemas.microsoft.com/office/drawing/2014/main" id="{8942D279-18DC-4A7A-8EE2-D70274A80797}"/>
              </a:ext>
            </a:extLst>
          </p:cNvPr>
          <p:cNvPicPr>
            <a:picLocks noChangeAspect="1"/>
          </p:cNvPicPr>
          <p:nvPr/>
        </p:nvPicPr>
        <p:blipFill rotWithShape="1">
          <a:blip r:embed="rId2"/>
          <a:srcRect l="50142" t="53678" r="44972" b="38547"/>
          <a:stretch/>
        </p:blipFill>
        <p:spPr>
          <a:xfrm>
            <a:off x="5783613" y="3551297"/>
            <a:ext cx="434894" cy="371412"/>
          </a:xfrm>
          <a:prstGeom prst="rect">
            <a:avLst/>
          </a:prstGeom>
        </p:spPr>
      </p:pic>
      <p:grpSp>
        <p:nvGrpSpPr>
          <p:cNvPr id="49" name="组合 268">
            <a:extLst>
              <a:ext uri="{FF2B5EF4-FFF2-40B4-BE49-F238E27FC236}">
                <a16:creationId xmlns:a16="http://schemas.microsoft.com/office/drawing/2014/main" id="{B305DFA1-97AF-43BC-83E5-DADADBC4C07C}"/>
              </a:ext>
            </a:extLst>
          </p:cNvPr>
          <p:cNvGrpSpPr/>
          <p:nvPr/>
        </p:nvGrpSpPr>
        <p:grpSpPr>
          <a:xfrm rot="16200000">
            <a:off x="-554880" y="2756367"/>
            <a:ext cx="2978065" cy="182199"/>
            <a:chOff x="499437" y="1535322"/>
            <a:chExt cx="862073" cy="192140"/>
          </a:xfrm>
        </p:grpSpPr>
        <p:cxnSp>
          <p:nvCxnSpPr>
            <p:cNvPr id="50" name="Straight Connector 20">
              <a:extLst>
                <a:ext uri="{FF2B5EF4-FFF2-40B4-BE49-F238E27FC236}">
                  <a16:creationId xmlns:a16="http://schemas.microsoft.com/office/drawing/2014/main" id="{7E90DFCE-5155-4D36-B2DB-AAD2E7197435}"/>
                </a:ext>
              </a:extLst>
            </p:cNvPr>
            <p:cNvCxnSpPr>
              <a:cxnSpLocks/>
            </p:cNvCxnSpPr>
            <p:nvPr/>
          </p:nvCxnSpPr>
          <p:spPr>
            <a:xfrm>
              <a:off x="500077" y="1629959"/>
              <a:ext cx="86143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Straight Connector 20">
              <a:extLst>
                <a:ext uri="{FF2B5EF4-FFF2-40B4-BE49-F238E27FC236}">
                  <a16:creationId xmlns:a16="http://schemas.microsoft.com/office/drawing/2014/main" id="{9BDC6F16-08DE-42FF-B394-0B21207E5C23}"/>
                </a:ext>
              </a:extLst>
            </p:cNvPr>
            <p:cNvCxnSpPr>
              <a:cxnSpLocks/>
            </p:cNvCxnSpPr>
            <p:nvPr/>
          </p:nvCxnSpPr>
          <p:spPr>
            <a:xfrm flipV="1">
              <a:off x="1360497" y="1535322"/>
              <a:ext cx="0" cy="19214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2" name="Straight Connector 20">
              <a:extLst>
                <a:ext uri="{FF2B5EF4-FFF2-40B4-BE49-F238E27FC236}">
                  <a16:creationId xmlns:a16="http://schemas.microsoft.com/office/drawing/2014/main" id="{3E969A22-EAC3-48C5-8232-B762C279C918}"/>
                </a:ext>
              </a:extLst>
            </p:cNvPr>
            <p:cNvCxnSpPr>
              <a:cxnSpLocks/>
            </p:cNvCxnSpPr>
            <p:nvPr/>
          </p:nvCxnSpPr>
          <p:spPr>
            <a:xfrm flipV="1">
              <a:off x="499437" y="1535322"/>
              <a:ext cx="0" cy="19214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3" name="Rectangle 52">
            <a:extLst>
              <a:ext uri="{FF2B5EF4-FFF2-40B4-BE49-F238E27FC236}">
                <a16:creationId xmlns:a16="http://schemas.microsoft.com/office/drawing/2014/main" id="{3F86F8EE-AEA6-43C0-ABF6-D65204E799C2}"/>
              </a:ext>
            </a:extLst>
          </p:cNvPr>
          <p:cNvSpPr/>
          <p:nvPr/>
        </p:nvSpPr>
        <p:spPr>
          <a:xfrm rot="16200000">
            <a:off x="-891357" y="2657311"/>
            <a:ext cx="2975855" cy="378099"/>
          </a:xfrm>
          <a:prstGeom prst="rect">
            <a:avLst/>
          </a:prstGeom>
        </p:spPr>
        <p:txBody>
          <a:bodyPr wrap="square" lIns="69643" tIns="34821" rIns="69643" bIns="34821">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CN" sz="1000" dirty="0" smtClean="0">
                <a:latin typeface="+mj-lt"/>
                <a:ea typeface="Verdana" panose="020B0604030504040204" pitchFamily="34" charset="0"/>
                <a:cs typeface="Verdana" panose="020B0604030504040204" pitchFamily="34" charset="0"/>
              </a:rPr>
              <a:t>Assistance to State in framing action pointers &amp; extending further support</a:t>
            </a:r>
            <a:endParaRPr kumimoji="0" lang="en-US" altLang="zh-CN" sz="1000" i="0" u="none" strike="noStrike" kern="120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59" name="Rounded Rectangle 58"/>
          <p:cNvSpPr/>
          <p:nvPr/>
        </p:nvSpPr>
        <p:spPr bwMode="gray">
          <a:xfrm>
            <a:off x="424937" y="4451716"/>
            <a:ext cx="11261966" cy="1835635"/>
          </a:xfrm>
          <a:prstGeom prst="round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nSpc>
                <a:spcPct val="106000"/>
              </a:lnSpc>
            </a:pPr>
            <a:r>
              <a:rPr lang="en-US" sz="1300" b="1" dirty="0" smtClean="0"/>
              <a:t>Highlights of Stage 3  </a:t>
            </a:r>
          </a:p>
          <a:p>
            <a:pPr marL="285750" indent="-285750">
              <a:lnSpc>
                <a:spcPct val="106000"/>
              </a:lnSpc>
              <a:buFont typeface="Wingdings" panose="05000000000000000000" pitchFamily="2" charset="2"/>
              <a:buChar char="§"/>
            </a:pPr>
            <a:r>
              <a:rPr lang="en-US" sz="1300" dirty="0" smtClean="0"/>
              <a:t>The on-ground timeline assessed for Stage 3 activities is around </a:t>
            </a:r>
            <a:r>
              <a:rPr lang="en-US" sz="1300" b="1" dirty="0" smtClean="0"/>
              <a:t>4 months </a:t>
            </a:r>
            <a:r>
              <a:rPr lang="en-US" sz="1300" dirty="0" smtClean="0"/>
              <a:t>(includes guidelines for sectors/ segments and providing Scenario-analysis tool for decision support)</a:t>
            </a:r>
          </a:p>
          <a:p>
            <a:pPr marL="285750" indent="-285750">
              <a:lnSpc>
                <a:spcPct val="106000"/>
              </a:lnSpc>
              <a:buFont typeface="Wingdings" panose="05000000000000000000" pitchFamily="2" charset="2"/>
              <a:buChar char="§"/>
            </a:pPr>
            <a:r>
              <a:rPr lang="en-US" sz="1300" dirty="0" smtClean="0"/>
              <a:t>Broad objectives under Stage-3 are delivering a </a:t>
            </a:r>
            <a:r>
              <a:rPr lang="en-US" sz="1300" b="1" dirty="0" smtClean="0"/>
              <a:t>robust macro-economic picture for Jharkhand</a:t>
            </a:r>
            <a:r>
              <a:rPr lang="en-US" sz="1300" dirty="0" smtClean="0"/>
              <a:t>, where energy utilization and sourcing can be optimized </a:t>
            </a:r>
          </a:p>
          <a:p>
            <a:pPr marL="285750" indent="-285750">
              <a:lnSpc>
                <a:spcPct val="106000"/>
              </a:lnSpc>
              <a:buFont typeface="Wingdings" panose="05000000000000000000" pitchFamily="2" charset="2"/>
              <a:buChar char="§"/>
            </a:pPr>
            <a:r>
              <a:rPr lang="en-US" sz="1300" dirty="0"/>
              <a:t>O</a:t>
            </a:r>
            <a:r>
              <a:rPr lang="en-US" sz="1300" dirty="0" smtClean="0"/>
              <a:t>utcome from this stage are </a:t>
            </a:r>
            <a:r>
              <a:rPr lang="en-US" sz="1300" b="1" dirty="0" smtClean="0"/>
              <a:t>stated project deliverables </a:t>
            </a:r>
            <a:r>
              <a:rPr lang="en-US" sz="1300" dirty="0" smtClean="0"/>
              <a:t>and opening-up channels for future assistance, as mutually agreed</a:t>
            </a:r>
          </a:p>
          <a:p>
            <a:pPr marL="742950" lvl="1" indent="-285750">
              <a:lnSpc>
                <a:spcPct val="106000"/>
              </a:lnSpc>
              <a:buFont typeface="Wingdings" panose="05000000000000000000" pitchFamily="2" charset="2"/>
              <a:buChar char="ü"/>
            </a:pPr>
            <a:r>
              <a:rPr lang="en-US" sz="1300" i="1" dirty="0" smtClean="0"/>
              <a:t>State Energy Vision, along with state-level objective, also captures sectoral planning for meeting specific goals</a:t>
            </a:r>
          </a:p>
          <a:p>
            <a:pPr marL="742950" lvl="1" indent="-285750">
              <a:lnSpc>
                <a:spcPct val="106000"/>
              </a:lnSpc>
              <a:buFont typeface="Wingdings" panose="05000000000000000000" pitchFamily="2" charset="2"/>
              <a:buChar char="ü"/>
            </a:pPr>
            <a:r>
              <a:rPr lang="en-US" sz="1300" i="1" dirty="0" smtClean="0"/>
              <a:t>Decision Support Tool can help do various multi-sector sensitivity analysis in assessing impact of energy-centric decisions </a:t>
            </a:r>
          </a:p>
        </p:txBody>
      </p:sp>
      <p:sp>
        <p:nvSpPr>
          <p:cNvPr id="25" name="Freeform 244">
            <a:extLst>
              <a:ext uri="{FF2B5EF4-FFF2-40B4-BE49-F238E27FC236}">
                <a16:creationId xmlns:a16="http://schemas.microsoft.com/office/drawing/2014/main" id="{92A9928D-61F1-4AFB-803F-0A4213BB6453}"/>
              </a:ext>
            </a:extLst>
          </p:cNvPr>
          <p:cNvSpPr>
            <a:spLocks noEditPoints="1"/>
          </p:cNvSpPr>
          <p:nvPr/>
        </p:nvSpPr>
        <p:spPr bwMode="auto">
          <a:xfrm>
            <a:off x="5829514" y="2974106"/>
            <a:ext cx="297159" cy="196317"/>
          </a:xfrm>
          <a:custGeom>
            <a:avLst/>
            <a:gdLst>
              <a:gd name="T0" fmla="*/ 48 w 322"/>
              <a:gd name="T1" fmla="*/ 172 h 219"/>
              <a:gd name="T2" fmla="*/ 60 w 322"/>
              <a:gd name="T3" fmla="*/ 188 h 219"/>
              <a:gd name="T4" fmla="*/ 63 w 322"/>
              <a:gd name="T5" fmla="*/ 203 h 219"/>
              <a:gd name="T6" fmla="*/ 54 w 322"/>
              <a:gd name="T7" fmla="*/ 207 h 219"/>
              <a:gd name="T8" fmla="*/ 48 w 322"/>
              <a:gd name="T9" fmla="*/ 205 h 219"/>
              <a:gd name="T10" fmla="*/ 27 w 322"/>
              <a:gd name="T11" fmla="*/ 171 h 219"/>
              <a:gd name="T12" fmla="*/ 50 w 322"/>
              <a:gd name="T13" fmla="*/ 144 h 219"/>
              <a:gd name="T14" fmla="*/ 79 w 322"/>
              <a:gd name="T15" fmla="*/ 114 h 219"/>
              <a:gd name="T16" fmla="*/ 12 w 322"/>
              <a:gd name="T17" fmla="*/ 101 h 219"/>
              <a:gd name="T18" fmla="*/ 1 w 322"/>
              <a:gd name="T19" fmla="*/ 91 h 219"/>
              <a:gd name="T20" fmla="*/ 10 w 322"/>
              <a:gd name="T21" fmla="*/ 79 h 219"/>
              <a:gd name="T22" fmla="*/ 99 w 322"/>
              <a:gd name="T23" fmla="*/ 108 h 219"/>
              <a:gd name="T24" fmla="*/ 58 w 322"/>
              <a:gd name="T25" fmla="*/ 164 h 219"/>
              <a:gd name="T26" fmla="*/ 48 w 322"/>
              <a:gd name="T27" fmla="*/ 172 h 219"/>
              <a:gd name="T28" fmla="*/ 301 w 322"/>
              <a:gd name="T29" fmla="*/ 50 h 219"/>
              <a:gd name="T30" fmla="*/ 151 w 322"/>
              <a:gd name="T31" fmla="*/ 201 h 219"/>
              <a:gd name="T32" fmla="*/ 146 w 322"/>
              <a:gd name="T33" fmla="*/ 203 h 219"/>
              <a:gd name="T34" fmla="*/ 101 w 322"/>
              <a:gd name="T35" fmla="*/ 218 h 219"/>
              <a:gd name="T36" fmla="*/ 98 w 322"/>
              <a:gd name="T37" fmla="*/ 219 h 219"/>
              <a:gd name="T38" fmla="*/ 90 w 322"/>
              <a:gd name="T39" fmla="*/ 216 h 219"/>
              <a:gd name="T40" fmla="*/ 88 w 322"/>
              <a:gd name="T41" fmla="*/ 205 h 219"/>
              <a:gd name="T42" fmla="*/ 103 w 322"/>
              <a:gd name="T43" fmla="*/ 159 h 219"/>
              <a:gd name="T44" fmla="*/ 105 w 322"/>
              <a:gd name="T45" fmla="*/ 155 h 219"/>
              <a:gd name="T46" fmla="*/ 256 w 322"/>
              <a:gd name="T47" fmla="*/ 4 h 219"/>
              <a:gd name="T48" fmla="*/ 271 w 322"/>
              <a:gd name="T49" fmla="*/ 4 h 219"/>
              <a:gd name="T50" fmla="*/ 301 w 322"/>
              <a:gd name="T51" fmla="*/ 35 h 219"/>
              <a:gd name="T52" fmla="*/ 305 w 322"/>
              <a:gd name="T53" fmla="*/ 42 h 219"/>
              <a:gd name="T54" fmla="*/ 301 w 322"/>
              <a:gd name="T55" fmla="*/ 50 h 219"/>
              <a:gd name="T56" fmla="*/ 218 w 322"/>
              <a:gd name="T57" fmla="*/ 102 h 219"/>
              <a:gd name="T58" fmla="*/ 203 w 322"/>
              <a:gd name="T59" fmla="*/ 87 h 219"/>
              <a:gd name="T60" fmla="*/ 122 w 322"/>
              <a:gd name="T61" fmla="*/ 169 h 219"/>
              <a:gd name="T62" fmla="*/ 115 w 322"/>
              <a:gd name="T63" fmla="*/ 191 h 219"/>
              <a:gd name="T64" fmla="*/ 137 w 322"/>
              <a:gd name="T65" fmla="*/ 184 h 219"/>
              <a:gd name="T66" fmla="*/ 218 w 322"/>
              <a:gd name="T67" fmla="*/ 102 h 219"/>
              <a:gd name="T68" fmla="*/ 279 w 322"/>
              <a:gd name="T69" fmla="*/ 42 h 219"/>
              <a:gd name="T70" fmla="*/ 264 w 322"/>
              <a:gd name="T71" fmla="*/ 27 h 219"/>
              <a:gd name="T72" fmla="*/ 218 w 322"/>
              <a:gd name="T73" fmla="*/ 72 h 219"/>
              <a:gd name="T74" fmla="*/ 234 w 322"/>
              <a:gd name="T75" fmla="*/ 87 h 219"/>
              <a:gd name="T76" fmla="*/ 279 w 322"/>
              <a:gd name="T77" fmla="*/ 42 h 219"/>
              <a:gd name="T78" fmla="*/ 318 w 322"/>
              <a:gd name="T79" fmla="*/ 82 h 219"/>
              <a:gd name="T80" fmla="*/ 302 w 322"/>
              <a:gd name="T81" fmla="*/ 82 h 219"/>
              <a:gd name="T82" fmla="*/ 260 w 322"/>
              <a:gd name="T83" fmla="*/ 125 h 219"/>
              <a:gd name="T84" fmla="*/ 260 w 322"/>
              <a:gd name="T85" fmla="*/ 140 h 219"/>
              <a:gd name="T86" fmla="*/ 267 w 322"/>
              <a:gd name="T87" fmla="*/ 143 h 219"/>
              <a:gd name="T88" fmla="*/ 275 w 322"/>
              <a:gd name="T89" fmla="*/ 140 h 219"/>
              <a:gd name="T90" fmla="*/ 318 w 322"/>
              <a:gd name="T91" fmla="*/ 98 h 219"/>
              <a:gd name="T92" fmla="*/ 318 w 322"/>
              <a:gd name="T93" fmla="*/ 82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219">
                <a:moveTo>
                  <a:pt x="48" y="172"/>
                </a:moveTo>
                <a:cubicBezTo>
                  <a:pt x="48" y="177"/>
                  <a:pt x="56" y="185"/>
                  <a:pt x="60" y="188"/>
                </a:cubicBezTo>
                <a:cubicBezTo>
                  <a:pt x="65" y="191"/>
                  <a:pt x="66" y="198"/>
                  <a:pt x="63" y="203"/>
                </a:cubicBezTo>
                <a:cubicBezTo>
                  <a:pt x="61" y="206"/>
                  <a:pt x="57" y="207"/>
                  <a:pt x="54" y="207"/>
                </a:cubicBezTo>
                <a:cubicBezTo>
                  <a:pt x="52" y="207"/>
                  <a:pt x="50" y="207"/>
                  <a:pt x="48" y="205"/>
                </a:cubicBezTo>
                <a:cubicBezTo>
                  <a:pt x="46" y="204"/>
                  <a:pt x="25" y="189"/>
                  <a:pt x="27" y="171"/>
                </a:cubicBezTo>
                <a:cubicBezTo>
                  <a:pt x="28" y="160"/>
                  <a:pt x="35" y="151"/>
                  <a:pt x="50" y="144"/>
                </a:cubicBezTo>
                <a:cubicBezTo>
                  <a:pt x="70" y="135"/>
                  <a:pt x="81" y="121"/>
                  <a:pt x="79" y="114"/>
                </a:cubicBezTo>
                <a:cubicBezTo>
                  <a:pt x="77" y="107"/>
                  <a:pt x="61" y="96"/>
                  <a:pt x="12" y="101"/>
                </a:cubicBezTo>
                <a:cubicBezTo>
                  <a:pt x="6" y="101"/>
                  <a:pt x="1" y="97"/>
                  <a:pt x="1" y="91"/>
                </a:cubicBezTo>
                <a:cubicBezTo>
                  <a:pt x="0" y="85"/>
                  <a:pt x="5" y="80"/>
                  <a:pt x="10" y="79"/>
                </a:cubicBezTo>
                <a:cubicBezTo>
                  <a:pt x="80" y="73"/>
                  <a:pt x="96" y="95"/>
                  <a:pt x="99" y="108"/>
                </a:cubicBezTo>
                <a:cubicBezTo>
                  <a:pt x="105" y="128"/>
                  <a:pt x="88" y="150"/>
                  <a:pt x="58" y="164"/>
                </a:cubicBezTo>
                <a:cubicBezTo>
                  <a:pt x="52" y="167"/>
                  <a:pt x="48" y="170"/>
                  <a:pt x="48" y="172"/>
                </a:cubicBezTo>
                <a:close/>
                <a:moveTo>
                  <a:pt x="301" y="50"/>
                </a:moveTo>
                <a:cubicBezTo>
                  <a:pt x="151" y="201"/>
                  <a:pt x="151" y="201"/>
                  <a:pt x="151" y="201"/>
                </a:cubicBezTo>
                <a:cubicBezTo>
                  <a:pt x="149" y="202"/>
                  <a:pt x="148" y="203"/>
                  <a:pt x="146" y="203"/>
                </a:cubicBezTo>
                <a:cubicBezTo>
                  <a:pt x="101" y="218"/>
                  <a:pt x="101" y="218"/>
                  <a:pt x="101" y="218"/>
                </a:cubicBezTo>
                <a:cubicBezTo>
                  <a:pt x="100" y="219"/>
                  <a:pt x="99" y="219"/>
                  <a:pt x="98" y="219"/>
                </a:cubicBezTo>
                <a:cubicBezTo>
                  <a:pt x="95" y="219"/>
                  <a:pt x="92" y="218"/>
                  <a:pt x="90" y="216"/>
                </a:cubicBezTo>
                <a:cubicBezTo>
                  <a:pt x="87" y="213"/>
                  <a:pt x="86" y="209"/>
                  <a:pt x="88" y="205"/>
                </a:cubicBezTo>
                <a:cubicBezTo>
                  <a:pt x="103" y="159"/>
                  <a:pt x="103" y="159"/>
                  <a:pt x="103" y="159"/>
                </a:cubicBezTo>
                <a:cubicBezTo>
                  <a:pt x="103" y="158"/>
                  <a:pt x="104" y="156"/>
                  <a:pt x="105" y="155"/>
                </a:cubicBezTo>
                <a:cubicBezTo>
                  <a:pt x="256" y="4"/>
                  <a:pt x="256" y="4"/>
                  <a:pt x="256" y="4"/>
                </a:cubicBezTo>
                <a:cubicBezTo>
                  <a:pt x="260" y="0"/>
                  <a:pt x="267" y="0"/>
                  <a:pt x="271" y="4"/>
                </a:cubicBezTo>
                <a:cubicBezTo>
                  <a:pt x="301" y="35"/>
                  <a:pt x="301" y="35"/>
                  <a:pt x="301" y="35"/>
                </a:cubicBezTo>
                <a:cubicBezTo>
                  <a:pt x="303" y="37"/>
                  <a:pt x="305" y="39"/>
                  <a:pt x="305" y="42"/>
                </a:cubicBezTo>
                <a:cubicBezTo>
                  <a:pt x="305" y="45"/>
                  <a:pt x="303" y="48"/>
                  <a:pt x="301" y="50"/>
                </a:cubicBezTo>
                <a:close/>
                <a:moveTo>
                  <a:pt x="218" y="102"/>
                </a:moveTo>
                <a:cubicBezTo>
                  <a:pt x="203" y="87"/>
                  <a:pt x="203" y="87"/>
                  <a:pt x="203" y="87"/>
                </a:cubicBezTo>
                <a:cubicBezTo>
                  <a:pt x="122" y="169"/>
                  <a:pt x="122" y="169"/>
                  <a:pt x="122" y="169"/>
                </a:cubicBezTo>
                <a:cubicBezTo>
                  <a:pt x="115" y="191"/>
                  <a:pt x="115" y="191"/>
                  <a:pt x="115" y="191"/>
                </a:cubicBezTo>
                <a:cubicBezTo>
                  <a:pt x="137" y="184"/>
                  <a:pt x="137" y="184"/>
                  <a:pt x="137" y="184"/>
                </a:cubicBezTo>
                <a:lnTo>
                  <a:pt x="218" y="102"/>
                </a:lnTo>
                <a:close/>
                <a:moveTo>
                  <a:pt x="279" y="42"/>
                </a:moveTo>
                <a:cubicBezTo>
                  <a:pt x="264" y="27"/>
                  <a:pt x="264" y="27"/>
                  <a:pt x="264" y="27"/>
                </a:cubicBezTo>
                <a:cubicBezTo>
                  <a:pt x="218" y="72"/>
                  <a:pt x="218" y="72"/>
                  <a:pt x="218" y="72"/>
                </a:cubicBezTo>
                <a:cubicBezTo>
                  <a:pt x="234" y="87"/>
                  <a:pt x="234" y="87"/>
                  <a:pt x="234" y="87"/>
                </a:cubicBezTo>
                <a:lnTo>
                  <a:pt x="279" y="42"/>
                </a:lnTo>
                <a:close/>
                <a:moveTo>
                  <a:pt x="318" y="82"/>
                </a:moveTo>
                <a:cubicBezTo>
                  <a:pt x="313" y="78"/>
                  <a:pt x="307" y="78"/>
                  <a:pt x="302" y="82"/>
                </a:cubicBezTo>
                <a:cubicBezTo>
                  <a:pt x="260" y="125"/>
                  <a:pt x="260" y="125"/>
                  <a:pt x="260" y="125"/>
                </a:cubicBezTo>
                <a:cubicBezTo>
                  <a:pt x="256" y="129"/>
                  <a:pt x="256" y="136"/>
                  <a:pt x="260" y="140"/>
                </a:cubicBezTo>
                <a:cubicBezTo>
                  <a:pt x="262" y="142"/>
                  <a:pt x="265" y="143"/>
                  <a:pt x="267" y="143"/>
                </a:cubicBezTo>
                <a:cubicBezTo>
                  <a:pt x="270" y="143"/>
                  <a:pt x="273" y="142"/>
                  <a:pt x="275" y="140"/>
                </a:cubicBezTo>
                <a:cubicBezTo>
                  <a:pt x="318" y="98"/>
                  <a:pt x="318" y="98"/>
                  <a:pt x="318" y="98"/>
                </a:cubicBezTo>
                <a:cubicBezTo>
                  <a:pt x="322" y="93"/>
                  <a:pt x="322" y="87"/>
                  <a:pt x="318" y="82"/>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6" name="Freeform 585">
            <a:extLst>
              <a:ext uri="{FF2B5EF4-FFF2-40B4-BE49-F238E27FC236}">
                <a16:creationId xmlns:a16="http://schemas.microsoft.com/office/drawing/2014/main" id="{FCEC6FBD-CEEF-4EFD-821A-4D2391CC7E46}"/>
              </a:ext>
            </a:extLst>
          </p:cNvPr>
          <p:cNvSpPr>
            <a:spLocks noEditPoints="1"/>
          </p:cNvSpPr>
          <p:nvPr/>
        </p:nvSpPr>
        <p:spPr bwMode="auto">
          <a:xfrm>
            <a:off x="5829514" y="1516280"/>
            <a:ext cx="233000" cy="337536"/>
          </a:xfrm>
          <a:custGeom>
            <a:avLst/>
            <a:gdLst>
              <a:gd name="T0" fmla="*/ 224 w 235"/>
              <a:gd name="T1" fmla="*/ 53 h 320"/>
              <a:gd name="T2" fmla="*/ 208 w 235"/>
              <a:gd name="T3" fmla="*/ 53 h 320"/>
              <a:gd name="T4" fmla="*/ 203 w 235"/>
              <a:gd name="T5" fmla="*/ 37 h 320"/>
              <a:gd name="T6" fmla="*/ 208 w 235"/>
              <a:gd name="T7" fmla="*/ 21 h 320"/>
              <a:gd name="T8" fmla="*/ 226 w 235"/>
              <a:gd name="T9" fmla="*/ 21 h 320"/>
              <a:gd name="T10" fmla="*/ 235 w 235"/>
              <a:gd name="T11" fmla="*/ 10 h 320"/>
              <a:gd name="T12" fmla="*/ 226 w 235"/>
              <a:gd name="T13" fmla="*/ 0 h 320"/>
              <a:gd name="T14" fmla="*/ 38 w 235"/>
              <a:gd name="T15" fmla="*/ 0 h 320"/>
              <a:gd name="T16" fmla="*/ 0 w 235"/>
              <a:gd name="T17" fmla="*/ 37 h 320"/>
              <a:gd name="T18" fmla="*/ 0 w 235"/>
              <a:gd name="T19" fmla="*/ 282 h 320"/>
              <a:gd name="T20" fmla="*/ 38 w 235"/>
              <a:gd name="T21" fmla="*/ 320 h 320"/>
              <a:gd name="T22" fmla="*/ 224 w 235"/>
              <a:gd name="T23" fmla="*/ 320 h 320"/>
              <a:gd name="T24" fmla="*/ 235 w 235"/>
              <a:gd name="T25" fmla="*/ 309 h 320"/>
              <a:gd name="T26" fmla="*/ 235 w 235"/>
              <a:gd name="T27" fmla="*/ 64 h 320"/>
              <a:gd name="T28" fmla="*/ 224 w 235"/>
              <a:gd name="T29" fmla="*/ 53 h 320"/>
              <a:gd name="T30" fmla="*/ 38 w 235"/>
              <a:gd name="T31" fmla="*/ 21 h 320"/>
              <a:gd name="T32" fmla="*/ 185 w 235"/>
              <a:gd name="T33" fmla="*/ 21 h 320"/>
              <a:gd name="T34" fmla="*/ 182 w 235"/>
              <a:gd name="T35" fmla="*/ 37 h 320"/>
              <a:gd name="T36" fmla="*/ 185 w 235"/>
              <a:gd name="T37" fmla="*/ 53 h 320"/>
              <a:gd name="T38" fmla="*/ 38 w 235"/>
              <a:gd name="T39" fmla="*/ 53 h 320"/>
              <a:gd name="T40" fmla="*/ 22 w 235"/>
              <a:gd name="T41" fmla="*/ 37 h 320"/>
              <a:gd name="T42" fmla="*/ 38 w 235"/>
              <a:gd name="T43" fmla="*/ 21 h 320"/>
              <a:gd name="T44" fmla="*/ 214 w 235"/>
              <a:gd name="T45" fmla="*/ 298 h 320"/>
              <a:gd name="T46" fmla="*/ 38 w 235"/>
              <a:gd name="T47" fmla="*/ 298 h 320"/>
              <a:gd name="T48" fmla="*/ 22 w 235"/>
              <a:gd name="T49" fmla="*/ 282 h 320"/>
              <a:gd name="T50" fmla="*/ 22 w 235"/>
              <a:gd name="T51" fmla="*/ 71 h 320"/>
              <a:gd name="T52" fmla="*/ 38 w 235"/>
              <a:gd name="T53" fmla="*/ 74 h 320"/>
              <a:gd name="T54" fmla="*/ 214 w 235"/>
              <a:gd name="T55" fmla="*/ 74 h 320"/>
              <a:gd name="T56" fmla="*/ 214 w 235"/>
              <a:gd name="T57"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5" h="320">
                <a:moveTo>
                  <a:pt x="224" y="53"/>
                </a:moveTo>
                <a:cubicBezTo>
                  <a:pt x="224" y="53"/>
                  <a:pt x="218" y="53"/>
                  <a:pt x="208" y="53"/>
                </a:cubicBezTo>
                <a:cubicBezTo>
                  <a:pt x="205" y="48"/>
                  <a:pt x="203" y="43"/>
                  <a:pt x="203" y="37"/>
                </a:cubicBezTo>
                <a:cubicBezTo>
                  <a:pt x="203" y="31"/>
                  <a:pt x="205" y="26"/>
                  <a:pt x="208" y="21"/>
                </a:cubicBezTo>
                <a:cubicBezTo>
                  <a:pt x="226" y="21"/>
                  <a:pt x="226" y="21"/>
                  <a:pt x="226" y="21"/>
                </a:cubicBezTo>
                <a:cubicBezTo>
                  <a:pt x="231" y="21"/>
                  <a:pt x="235" y="16"/>
                  <a:pt x="235" y="10"/>
                </a:cubicBezTo>
                <a:cubicBezTo>
                  <a:pt x="235" y="4"/>
                  <a:pt x="231" y="0"/>
                  <a:pt x="226" y="0"/>
                </a:cubicBezTo>
                <a:cubicBezTo>
                  <a:pt x="38" y="0"/>
                  <a:pt x="38" y="0"/>
                  <a:pt x="38" y="0"/>
                </a:cubicBezTo>
                <a:cubicBezTo>
                  <a:pt x="17" y="0"/>
                  <a:pt x="0" y="16"/>
                  <a:pt x="0" y="37"/>
                </a:cubicBezTo>
                <a:cubicBezTo>
                  <a:pt x="0" y="282"/>
                  <a:pt x="0" y="282"/>
                  <a:pt x="0" y="282"/>
                </a:cubicBezTo>
                <a:cubicBezTo>
                  <a:pt x="0" y="303"/>
                  <a:pt x="17" y="320"/>
                  <a:pt x="38" y="320"/>
                </a:cubicBezTo>
                <a:cubicBezTo>
                  <a:pt x="224" y="320"/>
                  <a:pt x="224" y="320"/>
                  <a:pt x="224" y="320"/>
                </a:cubicBezTo>
                <a:cubicBezTo>
                  <a:pt x="230" y="320"/>
                  <a:pt x="235" y="315"/>
                  <a:pt x="235" y="309"/>
                </a:cubicBezTo>
                <a:cubicBezTo>
                  <a:pt x="235" y="64"/>
                  <a:pt x="235" y="64"/>
                  <a:pt x="235" y="64"/>
                </a:cubicBezTo>
                <a:cubicBezTo>
                  <a:pt x="235" y="58"/>
                  <a:pt x="230" y="53"/>
                  <a:pt x="224" y="53"/>
                </a:cubicBezTo>
                <a:close/>
                <a:moveTo>
                  <a:pt x="38" y="21"/>
                </a:moveTo>
                <a:cubicBezTo>
                  <a:pt x="185" y="21"/>
                  <a:pt x="185" y="21"/>
                  <a:pt x="185" y="21"/>
                </a:cubicBezTo>
                <a:cubicBezTo>
                  <a:pt x="183" y="26"/>
                  <a:pt x="182" y="31"/>
                  <a:pt x="182" y="37"/>
                </a:cubicBezTo>
                <a:cubicBezTo>
                  <a:pt x="182" y="43"/>
                  <a:pt x="183" y="48"/>
                  <a:pt x="185" y="53"/>
                </a:cubicBezTo>
                <a:cubicBezTo>
                  <a:pt x="130" y="53"/>
                  <a:pt x="39" y="53"/>
                  <a:pt x="38" y="53"/>
                </a:cubicBezTo>
                <a:cubicBezTo>
                  <a:pt x="29" y="53"/>
                  <a:pt x="22" y="46"/>
                  <a:pt x="22" y="37"/>
                </a:cubicBezTo>
                <a:cubicBezTo>
                  <a:pt x="22" y="28"/>
                  <a:pt x="29" y="21"/>
                  <a:pt x="38" y="21"/>
                </a:cubicBezTo>
                <a:close/>
                <a:moveTo>
                  <a:pt x="214" y="298"/>
                </a:moveTo>
                <a:cubicBezTo>
                  <a:pt x="38" y="298"/>
                  <a:pt x="38" y="298"/>
                  <a:pt x="38" y="298"/>
                </a:cubicBezTo>
                <a:cubicBezTo>
                  <a:pt x="29" y="298"/>
                  <a:pt x="22" y="291"/>
                  <a:pt x="22" y="282"/>
                </a:cubicBezTo>
                <a:cubicBezTo>
                  <a:pt x="22" y="71"/>
                  <a:pt x="22" y="71"/>
                  <a:pt x="22" y="71"/>
                </a:cubicBezTo>
                <a:cubicBezTo>
                  <a:pt x="27" y="73"/>
                  <a:pt x="32" y="74"/>
                  <a:pt x="38" y="74"/>
                </a:cubicBezTo>
                <a:cubicBezTo>
                  <a:pt x="40" y="74"/>
                  <a:pt x="214" y="74"/>
                  <a:pt x="214" y="74"/>
                </a:cubicBezTo>
                <a:lnTo>
                  <a:pt x="214" y="298"/>
                </a:lnTo>
                <a:close/>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4" name="Pentagon 23">
            <a:hlinkClick r:id="rId3"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21435310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9189326"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Impact Delivered: Assam &amp; West Bengal (Ongoing)</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Flowchart: Delay 3"/>
          <p:cNvSpPr/>
          <p:nvPr/>
        </p:nvSpPr>
        <p:spPr bwMode="gray">
          <a:xfrm>
            <a:off x="0" y="1799158"/>
            <a:ext cx="4474029" cy="4536328"/>
          </a:xfrm>
          <a:prstGeom prst="flowChartDelay">
            <a:avLst/>
          </a:prstGeom>
          <a:solidFill>
            <a:schemeClr val="accent1">
              <a:lumMod val="40000"/>
              <a:lumOff val="60000"/>
              <a:alpha val="50000"/>
            </a:schemeClr>
          </a:solidFill>
          <a:ln w="19050" algn="ctr">
            <a:noFill/>
            <a:miter lim="800000"/>
            <a:headEnd/>
            <a:tailEnd/>
          </a:ln>
        </p:spPr>
        <p:txBody>
          <a:bodyPr wrap="square" lIns="88900" tIns="88900" rIns="88900" bIns="88900" rtlCol="0" anchor="t"/>
          <a:lstStyle/>
          <a:p>
            <a:pPr>
              <a:lnSpc>
                <a:spcPct val="106000"/>
              </a:lnSpc>
              <a:buFont typeface="Wingdings 2" pitchFamily="18" charset="2"/>
              <a:buNone/>
            </a:pPr>
            <a:endParaRPr lang="en-IN" sz="1600" b="1" dirty="0" smtClean="0">
              <a:solidFill>
                <a:schemeClr val="bg1"/>
              </a:solidFill>
            </a:endParaRPr>
          </a:p>
        </p:txBody>
      </p:sp>
      <p:sp>
        <p:nvSpPr>
          <p:cNvPr id="13" name="Flowchart: Delay 12"/>
          <p:cNvSpPr/>
          <p:nvPr/>
        </p:nvSpPr>
        <p:spPr bwMode="gray">
          <a:xfrm rot="10800000">
            <a:off x="7717970" y="1799157"/>
            <a:ext cx="4474029" cy="4536329"/>
          </a:xfrm>
          <a:prstGeom prst="flowChartDelay">
            <a:avLst/>
          </a:prstGeom>
          <a:solidFill>
            <a:schemeClr val="accent1">
              <a:lumMod val="40000"/>
              <a:lumOff val="60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5" name="Rectangle 4"/>
          <p:cNvSpPr/>
          <p:nvPr/>
        </p:nvSpPr>
        <p:spPr bwMode="gray">
          <a:xfrm>
            <a:off x="217713" y="2362200"/>
            <a:ext cx="5758543" cy="3592286"/>
          </a:xfrm>
          <a:prstGeom prst="rect">
            <a:avLst/>
          </a:prstGeom>
          <a:solidFill>
            <a:srgbClr val="FFCD00">
              <a:alpha val="25000"/>
            </a:srgbClr>
          </a:solidFill>
          <a:ln w="19050" algn="ctr">
            <a:noFill/>
            <a:miter lim="800000"/>
            <a:headEnd/>
            <a:tailEnd/>
          </a:ln>
        </p:spPr>
        <p:txBody>
          <a:bodyPr wrap="square" lIns="88900" tIns="88900" rIns="88900" bIns="88900" rtlCol="0" anchor="ctr"/>
          <a:lstStyle/>
          <a:p>
            <a:pPr marL="285750" indent="-285750">
              <a:buFont typeface="Wingdings" panose="05000000000000000000" pitchFamily="2" charset="2"/>
              <a:buChar char="§"/>
            </a:pPr>
            <a:r>
              <a:rPr lang="en-US" sz="1600" dirty="0" smtClean="0"/>
              <a:t>Development of </a:t>
            </a:r>
            <a:r>
              <a:rPr lang="en-US" sz="1600" b="1" dirty="0" smtClean="0"/>
              <a:t>100% Renewable Energy Scenario</a:t>
            </a:r>
            <a:r>
              <a:rPr lang="en-US" sz="1600" dirty="0" smtClean="0"/>
              <a:t>, in which Assam shall become the first State having such a policy push</a:t>
            </a:r>
          </a:p>
          <a:p>
            <a:endParaRPr lang="en-US" sz="1600" dirty="0" smtClean="0"/>
          </a:p>
          <a:p>
            <a:pPr marL="285750" indent="-285750">
              <a:buFont typeface="Wingdings" panose="05000000000000000000" pitchFamily="2" charset="2"/>
              <a:buChar char="§"/>
            </a:pPr>
            <a:r>
              <a:rPr lang="en-US" sz="1600" dirty="0" smtClean="0"/>
              <a:t>Revival of </a:t>
            </a:r>
            <a:r>
              <a:rPr lang="en-US" sz="1600" b="1" dirty="0" smtClean="0"/>
              <a:t>Assam Solar Policy</a:t>
            </a:r>
          </a:p>
          <a:p>
            <a:r>
              <a:rPr lang="en-US" sz="1600" b="1" dirty="0" smtClean="0"/>
              <a:t> </a:t>
            </a:r>
          </a:p>
          <a:p>
            <a:pPr marL="285750" indent="-285750">
              <a:buFont typeface="Wingdings" panose="05000000000000000000" pitchFamily="2" charset="2"/>
              <a:buChar char="§"/>
            </a:pPr>
            <a:r>
              <a:rPr lang="en-US" sz="1600" dirty="0" smtClean="0"/>
              <a:t>Capability building for core group of state government employees in adopting EAP</a:t>
            </a:r>
          </a:p>
          <a:p>
            <a:r>
              <a:rPr lang="en-US" sz="1600" dirty="0" smtClean="0"/>
              <a:t>  </a:t>
            </a:r>
          </a:p>
          <a:p>
            <a:pPr marL="285750" indent="-285750">
              <a:buFont typeface="Wingdings" panose="05000000000000000000" pitchFamily="2" charset="2"/>
              <a:buChar char="§"/>
            </a:pPr>
            <a:r>
              <a:rPr lang="en-US" sz="1600" dirty="0" smtClean="0"/>
              <a:t>Possible future areas of co-operation: </a:t>
            </a:r>
          </a:p>
          <a:p>
            <a:pPr marL="742950" lvl="1" indent="-285750">
              <a:buFont typeface="Wingdings" panose="05000000000000000000" pitchFamily="2" charset="2"/>
              <a:buChar char="ü"/>
            </a:pPr>
            <a:r>
              <a:rPr lang="en-US" sz="1600" i="1" dirty="0" smtClean="0"/>
              <a:t>Assam Biomass Mission</a:t>
            </a:r>
          </a:p>
          <a:p>
            <a:pPr marL="742950" lvl="1" indent="-285750">
              <a:buFont typeface="Wingdings" panose="05000000000000000000" pitchFamily="2" charset="2"/>
              <a:buChar char="ü"/>
            </a:pPr>
            <a:r>
              <a:rPr lang="en-US" sz="1600" i="1" dirty="0" smtClean="0"/>
              <a:t>Integrating DRE with Livelihood    </a:t>
            </a:r>
            <a:endParaRPr lang="en-IN" sz="1600" i="1" dirty="0" smtClean="0"/>
          </a:p>
        </p:txBody>
      </p:sp>
      <p:sp>
        <p:nvSpPr>
          <p:cNvPr id="7" name="Rounded Rectangle 6"/>
          <p:cNvSpPr/>
          <p:nvPr/>
        </p:nvSpPr>
        <p:spPr bwMode="gray">
          <a:xfrm>
            <a:off x="407520" y="748622"/>
            <a:ext cx="10935856" cy="927902"/>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285750" indent="-285750">
              <a:lnSpc>
                <a:spcPct val="106000"/>
              </a:lnSpc>
              <a:buFont typeface="Wingdings" panose="05000000000000000000" pitchFamily="2" charset="2"/>
              <a:buChar char="§"/>
            </a:pPr>
            <a:r>
              <a:rPr lang="en-US" sz="1400" dirty="0" smtClean="0"/>
              <a:t>Along with development of Energy Action Plan, the States are in the process of signing </a:t>
            </a:r>
            <a:r>
              <a:rPr lang="en-US" sz="1400" dirty="0" err="1" smtClean="0"/>
              <a:t>MoUs</a:t>
            </a:r>
            <a:r>
              <a:rPr lang="en-US" sz="1400" dirty="0" smtClean="0"/>
              <a:t> for implementation of derived action-points from the IGEN Access study </a:t>
            </a:r>
          </a:p>
          <a:p>
            <a:pPr marL="285750" indent="-285750">
              <a:lnSpc>
                <a:spcPct val="106000"/>
              </a:lnSpc>
              <a:buFont typeface="Wingdings" panose="05000000000000000000" pitchFamily="2" charset="2"/>
              <a:buChar char="§"/>
            </a:pPr>
            <a:r>
              <a:rPr lang="en-US" sz="1400" dirty="0" smtClean="0"/>
              <a:t>GIZ shall be providing technical assistance to the States in developing respective strategies</a:t>
            </a:r>
            <a:endParaRPr lang="en-IN" sz="1400" dirty="0" smtClean="0"/>
          </a:p>
        </p:txBody>
      </p:sp>
      <p:sp>
        <p:nvSpPr>
          <p:cNvPr id="8" name="TextBox 7"/>
          <p:cNvSpPr txBox="1"/>
          <p:nvPr/>
        </p:nvSpPr>
        <p:spPr>
          <a:xfrm>
            <a:off x="289681" y="1942750"/>
            <a:ext cx="1947333" cy="307777"/>
          </a:xfrm>
          <a:prstGeom prst="rect">
            <a:avLst/>
          </a:prstGeom>
          <a:noFill/>
        </p:spPr>
        <p:txBody>
          <a:bodyPr wrap="square" lIns="0" tIns="0" rIns="0" bIns="0" rtlCol="0">
            <a:spAutoFit/>
          </a:bodyPr>
          <a:lstStyle/>
          <a:p>
            <a:pPr>
              <a:spcBef>
                <a:spcPts val="600"/>
              </a:spcBef>
              <a:buSzPct val="100000"/>
            </a:pPr>
            <a:r>
              <a:rPr lang="en-US" sz="2000" b="1" dirty="0" smtClean="0">
                <a:solidFill>
                  <a:srgbClr val="313131"/>
                </a:solidFill>
              </a:rPr>
              <a:t>Assam</a:t>
            </a:r>
            <a:endParaRPr lang="en-IN" sz="2000" b="1" dirty="0" smtClean="0">
              <a:solidFill>
                <a:srgbClr val="313131"/>
              </a:solidFill>
            </a:endParaRPr>
          </a:p>
        </p:txBody>
      </p:sp>
      <p:sp>
        <p:nvSpPr>
          <p:cNvPr id="18" name="TextBox 17"/>
          <p:cNvSpPr txBox="1"/>
          <p:nvPr/>
        </p:nvSpPr>
        <p:spPr>
          <a:xfrm>
            <a:off x="10005179" y="1942750"/>
            <a:ext cx="1947333" cy="307777"/>
          </a:xfrm>
          <a:prstGeom prst="rect">
            <a:avLst/>
          </a:prstGeom>
          <a:noFill/>
        </p:spPr>
        <p:txBody>
          <a:bodyPr wrap="square" lIns="0" tIns="0" rIns="0" bIns="0" rtlCol="0">
            <a:spAutoFit/>
          </a:bodyPr>
          <a:lstStyle/>
          <a:p>
            <a:pPr algn="r">
              <a:spcBef>
                <a:spcPts val="600"/>
              </a:spcBef>
              <a:buSzPct val="100000"/>
            </a:pPr>
            <a:r>
              <a:rPr lang="en-US" sz="2000" b="1" dirty="0" smtClean="0">
                <a:solidFill>
                  <a:srgbClr val="313131"/>
                </a:solidFill>
              </a:rPr>
              <a:t>West Bengal</a:t>
            </a:r>
            <a:endParaRPr lang="en-IN" sz="2000" b="1" dirty="0" smtClean="0">
              <a:solidFill>
                <a:srgbClr val="313131"/>
              </a:solidFill>
            </a:endParaRPr>
          </a:p>
        </p:txBody>
      </p:sp>
      <p:sp>
        <p:nvSpPr>
          <p:cNvPr id="22" name="Rectangle 21"/>
          <p:cNvSpPr/>
          <p:nvPr/>
        </p:nvSpPr>
        <p:spPr bwMode="gray">
          <a:xfrm>
            <a:off x="6193969" y="2362200"/>
            <a:ext cx="5758543" cy="3592286"/>
          </a:xfrm>
          <a:prstGeom prst="rect">
            <a:avLst/>
          </a:prstGeom>
          <a:solidFill>
            <a:srgbClr val="FFCD00">
              <a:alpha val="25000"/>
            </a:srgbClr>
          </a:solidFill>
          <a:ln w="19050" algn="ctr">
            <a:noFill/>
            <a:miter lim="800000"/>
            <a:headEnd/>
            <a:tailEnd/>
          </a:ln>
        </p:spPr>
        <p:txBody>
          <a:bodyPr wrap="square" lIns="88900" tIns="88900" rIns="88900" bIns="88900" rtlCol="0" anchor="ctr"/>
          <a:lstStyle/>
          <a:p>
            <a:pPr marL="285750" indent="-285750">
              <a:buFont typeface="Wingdings" panose="05000000000000000000" pitchFamily="2" charset="2"/>
              <a:buChar char="§"/>
            </a:pPr>
            <a:r>
              <a:rPr lang="en-US" sz="1600" dirty="0" smtClean="0"/>
              <a:t>Capability building of group of employees across departments responsible for handling EAP portal</a:t>
            </a:r>
          </a:p>
          <a:p>
            <a:endParaRPr lang="en-US" sz="1600" dirty="0" smtClean="0"/>
          </a:p>
          <a:p>
            <a:pPr marL="285750" indent="-285750">
              <a:buFont typeface="Wingdings" panose="05000000000000000000" pitchFamily="2" charset="2"/>
              <a:buChar char="§"/>
            </a:pPr>
            <a:r>
              <a:rPr lang="en-US" sz="1600" dirty="0" smtClean="0"/>
              <a:t>Implementing </a:t>
            </a:r>
            <a:r>
              <a:rPr lang="en-US" sz="1600" b="1" dirty="0" smtClean="0"/>
              <a:t>Solar Rooftop PV Program</a:t>
            </a:r>
          </a:p>
          <a:p>
            <a:pPr marL="285750" indent="-285750">
              <a:buFont typeface="Wingdings" panose="05000000000000000000" pitchFamily="2" charset="2"/>
              <a:buChar char="§"/>
            </a:pPr>
            <a:endParaRPr lang="en-US" sz="1600" dirty="0" smtClean="0"/>
          </a:p>
          <a:p>
            <a:pPr marL="285750" indent="-285750">
              <a:buFont typeface="Wingdings" panose="05000000000000000000" pitchFamily="2" charset="2"/>
              <a:buChar char="§"/>
            </a:pPr>
            <a:r>
              <a:rPr lang="en-US" sz="1600" dirty="0" smtClean="0"/>
              <a:t>Supporting </a:t>
            </a:r>
            <a:r>
              <a:rPr lang="en-US" sz="1600" b="1" dirty="0" smtClean="0"/>
              <a:t>E-mobility</a:t>
            </a:r>
            <a:r>
              <a:rPr lang="en-US" sz="1600" dirty="0" smtClean="0"/>
              <a:t> (Policy &amp; regulation w.r.t. charging infrastructure integration with grid)</a:t>
            </a:r>
          </a:p>
          <a:p>
            <a:r>
              <a:rPr lang="en-US" sz="1600" dirty="0" smtClean="0"/>
              <a:t> </a:t>
            </a:r>
          </a:p>
          <a:p>
            <a:pPr marL="285750" indent="-285750">
              <a:buFont typeface="Wingdings" panose="05000000000000000000" pitchFamily="2" charset="2"/>
              <a:buChar char="§"/>
            </a:pPr>
            <a:r>
              <a:rPr lang="en-US" sz="1600" dirty="0" smtClean="0"/>
              <a:t>Developing market eco-system to implement </a:t>
            </a:r>
            <a:r>
              <a:rPr lang="en-US" sz="1600" b="1" dirty="0" smtClean="0"/>
              <a:t>Solar Water Pumps</a:t>
            </a:r>
            <a:r>
              <a:rPr lang="en-US" sz="1600" dirty="0" smtClean="0"/>
              <a:t> (training &amp; capacity-building of FIs)   </a:t>
            </a:r>
            <a:endParaRPr lang="en-IN" sz="1600" i="1" dirty="0" smtClean="0"/>
          </a:p>
        </p:txBody>
      </p:sp>
      <p:sp>
        <p:nvSpPr>
          <p:cNvPr id="23" name="Pentagon 22">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7954630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9189326"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Annexure: Illustrations/ Sample Figures</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24" name="Picture 23"/>
          <p:cNvPicPr/>
          <p:nvPr/>
        </p:nvPicPr>
        <p:blipFill>
          <a:blip r:embed="rId2">
            <a:extLst>
              <a:ext uri="{28A0092B-C50C-407E-A947-70E740481C1C}">
                <a14:useLocalDpi xmlns:a14="http://schemas.microsoft.com/office/drawing/2010/main" val="0"/>
              </a:ext>
            </a:extLst>
          </a:blip>
          <a:srcRect/>
          <a:stretch>
            <a:fillRect/>
          </a:stretch>
        </p:blipFill>
        <p:spPr bwMode="auto">
          <a:xfrm>
            <a:off x="407520" y="1059004"/>
            <a:ext cx="5196179" cy="4906368"/>
          </a:xfrm>
          <a:prstGeom prst="rect">
            <a:avLst/>
          </a:prstGeom>
        </p:spPr>
      </p:pic>
      <p:pic>
        <p:nvPicPr>
          <p:cNvPr id="25" name="Picture 24"/>
          <p:cNvPicPr>
            <a:picLocks noChangeAspect="1"/>
          </p:cNvPicPr>
          <p:nvPr/>
        </p:nvPicPr>
        <p:blipFill>
          <a:blip r:embed="rId3"/>
          <a:stretch>
            <a:fillRect/>
          </a:stretch>
        </p:blipFill>
        <p:spPr>
          <a:xfrm>
            <a:off x="6110613" y="1059003"/>
            <a:ext cx="5232763" cy="2231108"/>
          </a:xfrm>
          <a:prstGeom prst="rect">
            <a:avLst/>
          </a:prstGeom>
          <a:ln w="12700">
            <a:solidFill>
              <a:schemeClr val="tx1"/>
            </a:solidFill>
          </a:ln>
        </p:spPr>
      </p:pic>
      <p:pic>
        <p:nvPicPr>
          <p:cNvPr id="2" name="Picture 1"/>
          <p:cNvPicPr>
            <a:picLocks noChangeAspect="1"/>
          </p:cNvPicPr>
          <p:nvPr/>
        </p:nvPicPr>
        <p:blipFill>
          <a:blip r:embed="rId4"/>
          <a:stretch>
            <a:fillRect/>
          </a:stretch>
        </p:blipFill>
        <p:spPr>
          <a:xfrm>
            <a:off x="6110613" y="3710562"/>
            <a:ext cx="5232763" cy="2254809"/>
          </a:xfrm>
          <a:prstGeom prst="rect">
            <a:avLst/>
          </a:prstGeom>
          <a:ln w="12700">
            <a:solidFill>
              <a:schemeClr val="tx1"/>
            </a:solidFill>
          </a:ln>
        </p:spPr>
      </p:pic>
      <p:sp>
        <p:nvSpPr>
          <p:cNvPr id="3" name="Rounded Rectangle 2"/>
          <p:cNvSpPr/>
          <p:nvPr/>
        </p:nvSpPr>
        <p:spPr bwMode="gray">
          <a:xfrm>
            <a:off x="973577" y="710001"/>
            <a:ext cx="3774548" cy="226370"/>
          </a:xfrm>
          <a:prstGeom prst="roundRect">
            <a:avLst/>
          </a:prstGeom>
          <a:solidFill>
            <a:schemeClr val="bg1">
              <a:lumMod val="8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t>Energy Balance Calculation: West Bengal</a:t>
            </a:r>
            <a:endParaRPr lang="en-IN" sz="1200" b="1" dirty="0" smtClean="0"/>
          </a:p>
        </p:txBody>
      </p:sp>
      <p:sp>
        <p:nvSpPr>
          <p:cNvPr id="29" name="Rounded Rectangle 28"/>
          <p:cNvSpPr/>
          <p:nvPr/>
        </p:nvSpPr>
        <p:spPr bwMode="gray">
          <a:xfrm>
            <a:off x="6441539" y="735592"/>
            <a:ext cx="4679307" cy="186982"/>
          </a:xfrm>
          <a:prstGeom prst="roundRect">
            <a:avLst/>
          </a:prstGeom>
          <a:solidFill>
            <a:schemeClr val="bg1">
              <a:lumMod val="8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t>Approach to Energy System Modelling: West Bengal</a:t>
            </a:r>
            <a:endParaRPr lang="en-IN" sz="1200" b="1" dirty="0" smtClean="0"/>
          </a:p>
        </p:txBody>
      </p:sp>
      <p:sp>
        <p:nvSpPr>
          <p:cNvPr id="34" name="Rounded Rectangle 33"/>
          <p:cNvSpPr/>
          <p:nvPr/>
        </p:nvSpPr>
        <p:spPr bwMode="gray">
          <a:xfrm>
            <a:off x="6839720" y="3387151"/>
            <a:ext cx="3774548" cy="226370"/>
          </a:xfrm>
          <a:prstGeom prst="roundRect">
            <a:avLst/>
          </a:prstGeom>
          <a:solidFill>
            <a:schemeClr val="bg1">
              <a:lumMod val="85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smtClean="0"/>
              <a:t>Sectoral Electricity Demand: Assam</a:t>
            </a:r>
            <a:endParaRPr lang="en-IN" sz="1200" b="1" dirty="0" smtClean="0"/>
          </a:p>
        </p:txBody>
      </p:sp>
      <p:sp>
        <p:nvSpPr>
          <p:cNvPr id="35" name="Pentagon 34">
            <a:hlinkClick r:id="rId5" action="ppaction://hlinksldjump"/>
          </p:cNvPr>
          <p:cNvSpPr/>
          <p:nvPr/>
        </p:nvSpPr>
        <p:spPr bwMode="gray">
          <a:xfrm>
            <a:off x="9016598" y="6088005"/>
            <a:ext cx="2326778" cy="295181"/>
          </a:xfrm>
          <a:prstGeom prst="homePlate">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800" b="1" i="1" dirty="0" smtClean="0"/>
              <a:t>Stage-2: </a:t>
            </a:r>
            <a:r>
              <a:rPr lang="en-US" sz="800" i="1" dirty="0" smtClean="0"/>
              <a:t>Sectoral Energy Requirement</a:t>
            </a:r>
            <a:endParaRPr lang="en-IN" sz="800" i="1" dirty="0" smtClean="0"/>
          </a:p>
        </p:txBody>
      </p:sp>
      <p:sp>
        <p:nvSpPr>
          <p:cNvPr id="36" name="Pentagon 35">
            <a:hlinkClick r:id="rId6" action="ppaction://hlinksldjump"/>
          </p:cNvPr>
          <p:cNvSpPr/>
          <p:nvPr/>
        </p:nvSpPr>
        <p:spPr bwMode="gray">
          <a:xfrm>
            <a:off x="407520" y="6088005"/>
            <a:ext cx="1926377" cy="295181"/>
          </a:xfrm>
          <a:prstGeom prst="homePlate">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800" b="1" i="1" dirty="0" smtClean="0"/>
              <a:t>Stage-1: </a:t>
            </a:r>
            <a:r>
              <a:rPr lang="en-US" sz="800" i="1" dirty="0" smtClean="0"/>
              <a:t>Energy Balance Sheet</a:t>
            </a:r>
            <a:endParaRPr lang="en-IN" sz="800" i="1" dirty="0" smtClean="0"/>
          </a:p>
        </p:txBody>
      </p:sp>
      <p:sp>
        <p:nvSpPr>
          <p:cNvPr id="12" name="Pentagon 11">
            <a:hlinkClick r:id="rId7"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Tree>
    <p:extLst>
      <p:ext uri="{BB962C8B-B14F-4D97-AF65-F5344CB8AC3E}">
        <p14:creationId xmlns:p14="http://schemas.microsoft.com/office/powerpoint/2010/main" val="35931736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entagon 11">
            <a:hlinkClick r:id="rId2" action="ppaction://hlinksldjump"/>
          </p:cNvPr>
          <p:cNvSpPr/>
          <p:nvPr/>
        </p:nvSpPr>
        <p:spPr bwMode="gray">
          <a:xfrm rot="16200000">
            <a:off x="11707446" y="129046"/>
            <a:ext cx="365297" cy="360222"/>
          </a:xfrm>
          <a:prstGeom prst="homePlat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3" name="TextBox 12"/>
          <p:cNvSpPr txBox="1"/>
          <p:nvPr/>
        </p:nvSpPr>
        <p:spPr>
          <a:xfrm>
            <a:off x="5766479" y="5420804"/>
            <a:ext cx="5768787" cy="83099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smtClean="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Thank You</a:t>
            </a:r>
          </a:p>
        </p:txBody>
      </p:sp>
    </p:spTree>
    <p:extLst>
      <p:ext uri="{BB962C8B-B14F-4D97-AF65-F5344CB8AC3E}">
        <p14:creationId xmlns:p14="http://schemas.microsoft.com/office/powerpoint/2010/main" val="31075903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Image result for uday scheme logo"/>
          <p:cNvSpPr>
            <a:spLocks noChangeAspect="1" noChangeArrowheads="1"/>
          </p:cNvSpPr>
          <p:nvPr/>
        </p:nvSpPr>
        <p:spPr bwMode="auto">
          <a:xfrm>
            <a:off x="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4" name="Slide Number Placeholder 3"/>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 name="Half Frame 5"/>
          <p:cNvSpPr/>
          <p:nvPr/>
        </p:nvSpPr>
        <p:spPr bwMode="gray">
          <a:xfrm>
            <a:off x="572655" y="716634"/>
            <a:ext cx="895927" cy="1703294"/>
          </a:xfrm>
          <a:prstGeom prst="halfFram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prstClr val="white"/>
              </a:solidFill>
              <a:effectLst/>
              <a:uLnTx/>
              <a:uFillTx/>
              <a:latin typeface="Verdana"/>
              <a:ea typeface="+mn-ea"/>
              <a:cs typeface="+mn-cs"/>
            </a:endParaRPr>
          </a:p>
        </p:txBody>
      </p:sp>
      <p:sp>
        <p:nvSpPr>
          <p:cNvPr id="9" name="Rectangle 8"/>
          <p:cNvSpPr/>
          <p:nvPr/>
        </p:nvSpPr>
        <p:spPr>
          <a:xfrm>
            <a:off x="895927" y="1000361"/>
            <a:ext cx="9809017"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Indo-German Energy (IGEN) Access II Program  </a:t>
            </a:r>
            <a:r>
              <a:rPr kumimoji="0" lang="en-US" sz="2800" b="1"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rgbClr val="012169">
                    <a:lumMod val="75000"/>
                  </a:srgbClr>
                </a:solidFill>
                <a:latin typeface="Verdana" panose="020B0604030504040204" pitchFamily="34" charset="0"/>
                <a:ea typeface="Verdana" panose="020B0604030504040204" pitchFamily="34" charset="0"/>
                <a:cs typeface="Verdana" panose="020B0604030504040204" pitchFamily="34" charset="0"/>
              </a:rPr>
              <a:t>Discussion on Possible Areas of Engagement</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20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US" sz="2800" b="0" i="0" u="none" strike="noStrike" kern="1200" cap="none" spc="0" normalizeH="0" baseline="0" noProof="0" dirty="0" smtClean="0">
              <a:ln>
                <a:noFill/>
              </a:ln>
              <a:solidFill>
                <a:srgbClr val="012169">
                  <a:lumMod val="75000"/>
                </a:srgbClr>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 name="Half Frame 9"/>
          <p:cNvSpPr/>
          <p:nvPr/>
        </p:nvSpPr>
        <p:spPr bwMode="gray">
          <a:xfrm rot="10800000">
            <a:off x="10824371" y="4461980"/>
            <a:ext cx="895927" cy="1703294"/>
          </a:xfrm>
          <a:prstGeom prst="halfFram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smtClean="0">
              <a:ln>
                <a:noFill/>
              </a:ln>
              <a:solidFill>
                <a:prstClr val="white"/>
              </a:solidFill>
              <a:effectLst/>
              <a:uLnTx/>
              <a:uFillTx/>
              <a:latin typeface="Verdana"/>
              <a:ea typeface="+mn-ea"/>
              <a:cs typeface="+mn-cs"/>
            </a:endParaRPr>
          </a:p>
        </p:txBody>
      </p:sp>
      <p:sp>
        <p:nvSpPr>
          <p:cNvPr id="11" name="Rectangle 10"/>
          <p:cNvSpPr/>
          <p:nvPr/>
        </p:nvSpPr>
        <p:spPr>
          <a:xfrm>
            <a:off x="4747489" y="5143519"/>
            <a:ext cx="6653230" cy="707886"/>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Department of </a:t>
            </a: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Energy </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Government </a:t>
            </a: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of </a:t>
            </a:r>
            <a:r>
              <a:rPr lang="en-US" sz="2000" b="1" i="1" dirty="0" smtClean="0">
                <a:solidFill>
                  <a:prstClr val="black">
                    <a:lumMod val="75000"/>
                    <a:lumOff val="25000"/>
                  </a:prstClr>
                </a:solidFill>
                <a:latin typeface="Verdana" panose="020B0604030504040204" pitchFamily="34" charset="0"/>
                <a:ea typeface="Verdana" panose="020B0604030504040204" pitchFamily="34" charset="0"/>
                <a:cs typeface="Verdana" panose="020B0604030504040204" pitchFamily="34" charset="0"/>
              </a:rPr>
              <a:t>Jharkhand</a:t>
            </a:r>
            <a:endParaRPr kumimoji="0" lang="en-US" sz="2000" b="1" i="1" u="none" strike="noStrike" kern="1200" cap="none" spc="0" normalizeH="0" baseline="0" noProof="0" dirty="0" smtClean="0">
              <a:ln>
                <a:noFill/>
              </a:ln>
              <a:solidFill>
                <a:prstClr val="black">
                  <a:lumMod val="75000"/>
                  <a:lumOff val="25000"/>
                </a:prstClr>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075852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9189326"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GIZ: Background</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bwMode="gray">
          <a:xfrm>
            <a:off x="407520" y="748622"/>
            <a:ext cx="10935856" cy="146277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285750" indent="-285750">
              <a:lnSpc>
                <a:spcPct val="106000"/>
              </a:lnSpc>
              <a:buFont typeface="Wingdings" panose="05000000000000000000" pitchFamily="2" charset="2"/>
              <a:buChar char="§"/>
            </a:pPr>
            <a:r>
              <a:rPr lang="en-US" sz="1400" b="1" dirty="0" smtClean="0"/>
              <a:t>Deutsche </a:t>
            </a:r>
            <a:r>
              <a:rPr lang="en-US" sz="1400" b="1" dirty="0" err="1"/>
              <a:t>Gesellschaft</a:t>
            </a:r>
            <a:r>
              <a:rPr lang="en-US" sz="1400" b="1" dirty="0"/>
              <a:t> </a:t>
            </a:r>
            <a:r>
              <a:rPr lang="en-US" sz="1400" b="1" dirty="0" err="1"/>
              <a:t>für</a:t>
            </a:r>
            <a:r>
              <a:rPr lang="en-US" sz="1400" b="1" dirty="0"/>
              <a:t> </a:t>
            </a:r>
            <a:r>
              <a:rPr lang="en-US" sz="1400" b="1" dirty="0" err="1"/>
              <a:t>Internationale</a:t>
            </a:r>
            <a:r>
              <a:rPr lang="en-US" sz="1400" b="1" dirty="0"/>
              <a:t> </a:t>
            </a:r>
            <a:r>
              <a:rPr lang="en-US" sz="1400" b="1" dirty="0" err="1"/>
              <a:t>Zusammenarbeit</a:t>
            </a:r>
            <a:r>
              <a:rPr lang="en-US" sz="1400" b="1" dirty="0"/>
              <a:t> (GIZ) GmbH</a:t>
            </a:r>
            <a:r>
              <a:rPr lang="en-US" sz="1400" dirty="0"/>
              <a:t> on behalf of the </a:t>
            </a:r>
            <a:r>
              <a:rPr lang="en-US" sz="1400" b="1" dirty="0"/>
              <a:t>German Federal Ministry for Economic Cooperation and Development (BMZ)</a:t>
            </a:r>
            <a:r>
              <a:rPr lang="en-US" sz="1400" dirty="0"/>
              <a:t> and the </a:t>
            </a:r>
            <a:r>
              <a:rPr lang="en-US" sz="1400" b="1" dirty="0"/>
              <a:t>Indian Ministry of New and Renewable Energy (MNRE) </a:t>
            </a:r>
            <a:r>
              <a:rPr lang="en-US" sz="1400" dirty="0"/>
              <a:t>is promoting Indo-German Energy </a:t>
            </a:r>
            <a:r>
              <a:rPr lang="en-US" sz="1400" dirty="0" err="1"/>
              <a:t>Programme</a:t>
            </a:r>
            <a:r>
              <a:rPr lang="en-US" sz="1400" dirty="0"/>
              <a:t> (IGEN Access -II) in </a:t>
            </a:r>
            <a:r>
              <a:rPr lang="en-US" sz="1400" dirty="0" smtClean="0"/>
              <a:t>India</a:t>
            </a:r>
          </a:p>
          <a:p>
            <a:pPr marL="285750" indent="-285750">
              <a:lnSpc>
                <a:spcPct val="106000"/>
              </a:lnSpc>
              <a:buFont typeface="Wingdings" panose="05000000000000000000" pitchFamily="2" charset="2"/>
              <a:buChar char="§"/>
            </a:pPr>
            <a:r>
              <a:rPr lang="en-US" sz="1400" dirty="0" smtClean="0"/>
              <a:t>The program is already being executed in </a:t>
            </a:r>
            <a:r>
              <a:rPr lang="en-US" sz="1400" b="1" dirty="0" smtClean="0"/>
              <a:t>West </a:t>
            </a:r>
            <a:r>
              <a:rPr lang="en-US" sz="1400" b="1" dirty="0"/>
              <a:t>Bengal</a:t>
            </a:r>
            <a:r>
              <a:rPr lang="en-US" sz="1400" dirty="0"/>
              <a:t> and </a:t>
            </a:r>
            <a:r>
              <a:rPr lang="en-US" sz="1400" b="1" dirty="0" smtClean="0"/>
              <a:t>Assam </a:t>
            </a:r>
            <a:r>
              <a:rPr lang="en-US" sz="1400" dirty="0" smtClean="0"/>
              <a:t>with few other states in the process of being on-boarded </a:t>
            </a:r>
          </a:p>
          <a:p>
            <a:pPr marL="285750" indent="-285750">
              <a:lnSpc>
                <a:spcPct val="106000"/>
              </a:lnSpc>
              <a:buFont typeface="Wingdings" panose="05000000000000000000" pitchFamily="2" charset="2"/>
              <a:buChar char="§"/>
            </a:pPr>
            <a:r>
              <a:rPr lang="en-US" sz="1400" dirty="0" smtClean="0"/>
              <a:t>A </a:t>
            </a:r>
            <a:r>
              <a:rPr lang="en-US" sz="1400" dirty="0"/>
              <a:t>presentation in this regard was conducted in Jharkhand </a:t>
            </a:r>
            <a:r>
              <a:rPr lang="en-US" sz="1400" dirty="0" smtClean="0"/>
              <a:t>with </a:t>
            </a:r>
            <a:r>
              <a:rPr lang="en-US" sz="1400" dirty="0"/>
              <a:t>Hon'ble Additional Chief Secretary (Energy</a:t>
            </a:r>
            <a:r>
              <a:rPr lang="en-US" sz="1400" dirty="0" smtClean="0"/>
              <a:t>)</a:t>
            </a:r>
            <a:r>
              <a:rPr lang="en-US" sz="1400" dirty="0"/>
              <a:t> </a:t>
            </a:r>
            <a:endParaRPr lang="en-IN" sz="1400" dirty="0" smtClean="0"/>
          </a:p>
        </p:txBody>
      </p:sp>
      <p:sp>
        <p:nvSpPr>
          <p:cNvPr id="2" name="Rectangle 1"/>
          <p:cNvSpPr/>
          <p:nvPr/>
        </p:nvSpPr>
        <p:spPr bwMode="gray">
          <a:xfrm>
            <a:off x="561975" y="2314575"/>
            <a:ext cx="514350" cy="3886200"/>
          </a:xfrm>
          <a:prstGeom prst="rect">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1" name="TextBox 20"/>
          <p:cNvSpPr txBox="1"/>
          <p:nvPr/>
        </p:nvSpPr>
        <p:spPr>
          <a:xfrm>
            <a:off x="666750" y="2419000"/>
            <a:ext cx="3009900" cy="276999"/>
          </a:xfrm>
          <a:prstGeom prst="rect">
            <a:avLst/>
          </a:prstGeom>
          <a:noFill/>
        </p:spPr>
        <p:txBody>
          <a:bodyPr wrap="square" lIns="0" tIns="0" rIns="0" bIns="0" rtlCol="0">
            <a:spAutoFit/>
          </a:bodyPr>
          <a:lstStyle/>
          <a:p>
            <a:pPr>
              <a:spcBef>
                <a:spcPts val="600"/>
              </a:spcBef>
              <a:buSzPct val="100000"/>
            </a:pPr>
            <a:r>
              <a:rPr lang="en-US" b="1" dirty="0" smtClean="0">
                <a:solidFill>
                  <a:srgbClr val="313131"/>
                </a:solidFill>
              </a:rPr>
              <a:t>Worldwide Presence</a:t>
            </a:r>
            <a:endParaRPr lang="en-IN" b="1" dirty="0" smtClean="0">
              <a:solidFill>
                <a:srgbClr val="313131"/>
              </a:solidFill>
            </a:endParaRPr>
          </a:p>
        </p:txBody>
      </p:sp>
      <p:sp>
        <p:nvSpPr>
          <p:cNvPr id="24" name="TextBox 23"/>
          <p:cNvSpPr txBox="1"/>
          <p:nvPr/>
        </p:nvSpPr>
        <p:spPr>
          <a:xfrm>
            <a:off x="638175" y="3238573"/>
            <a:ext cx="4819651" cy="2846933"/>
          </a:xfrm>
          <a:prstGeom prst="rect">
            <a:avLst/>
          </a:prstGeom>
          <a:noFill/>
        </p:spPr>
        <p:txBody>
          <a:bodyPr wrap="square" lIns="0" tIns="0" rIns="0" bIns="0" rtlCol="0">
            <a:spAutoFit/>
          </a:bodyPr>
          <a:lstStyle/>
          <a:p>
            <a:pPr marL="285750" indent="-285750">
              <a:spcBef>
                <a:spcPts val="600"/>
              </a:spcBef>
              <a:buSzPct val="100000"/>
              <a:buFont typeface="Wingdings" panose="05000000000000000000" pitchFamily="2" charset="2"/>
              <a:buChar char="§"/>
            </a:pPr>
            <a:r>
              <a:rPr lang="en-US" sz="1600" dirty="0" smtClean="0">
                <a:solidFill>
                  <a:srgbClr val="313131"/>
                </a:solidFill>
              </a:rPr>
              <a:t>Operations in Germany &amp; over 120 Countries</a:t>
            </a:r>
          </a:p>
          <a:p>
            <a:pPr marL="285750" indent="-285750">
              <a:spcBef>
                <a:spcPts val="600"/>
              </a:spcBef>
              <a:buSzPct val="100000"/>
              <a:buFont typeface="Wingdings" panose="05000000000000000000" pitchFamily="2" charset="2"/>
              <a:buChar char="§"/>
            </a:pPr>
            <a:r>
              <a:rPr lang="en-US" sz="1600" dirty="0" smtClean="0">
                <a:solidFill>
                  <a:srgbClr val="313131"/>
                </a:solidFill>
              </a:rPr>
              <a:t>Over 1,500 Ongoing Projects</a:t>
            </a:r>
          </a:p>
          <a:p>
            <a:pPr marL="285750" indent="-285750">
              <a:spcBef>
                <a:spcPts val="600"/>
              </a:spcBef>
              <a:buSzPct val="100000"/>
              <a:buFont typeface="Wingdings" panose="05000000000000000000" pitchFamily="2" charset="2"/>
              <a:buChar char="§"/>
            </a:pPr>
            <a:r>
              <a:rPr lang="en-US" sz="1600" dirty="0" smtClean="0">
                <a:solidFill>
                  <a:srgbClr val="313131"/>
                </a:solidFill>
              </a:rPr>
              <a:t>Business Volume exceeded EUR 2.6 Billion</a:t>
            </a:r>
          </a:p>
          <a:p>
            <a:pPr marL="285750" indent="-285750">
              <a:spcBef>
                <a:spcPts val="600"/>
              </a:spcBef>
              <a:buSzPct val="100000"/>
              <a:buFont typeface="Wingdings" panose="05000000000000000000" pitchFamily="2" charset="2"/>
              <a:buChar char="§"/>
            </a:pPr>
            <a:r>
              <a:rPr lang="en-US" sz="1600" dirty="0" smtClean="0">
                <a:solidFill>
                  <a:srgbClr val="313131"/>
                </a:solidFill>
              </a:rPr>
              <a:t>80% of the business volume was commissioned through BMZ</a:t>
            </a:r>
          </a:p>
          <a:p>
            <a:pPr marL="285750" indent="-285750">
              <a:spcBef>
                <a:spcPts val="600"/>
              </a:spcBef>
              <a:buSzPct val="100000"/>
              <a:buFont typeface="Wingdings" panose="05000000000000000000" pitchFamily="2" charset="2"/>
              <a:buChar char="§"/>
            </a:pPr>
            <a:r>
              <a:rPr lang="en-US" sz="1600" dirty="0" smtClean="0">
                <a:solidFill>
                  <a:srgbClr val="313131"/>
                </a:solidFill>
              </a:rPr>
              <a:t>Business volume through GIZ international services: EUR 149 million</a:t>
            </a:r>
          </a:p>
          <a:p>
            <a:pPr marL="285750" indent="-285750">
              <a:spcBef>
                <a:spcPts val="600"/>
              </a:spcBef>
              <a:buSzPct val="100000"/>
              <a:buFont typeface="Wingdings" panose="05000000000000000000" pitchFamily="2" charset="2"/>
              <a:buChar char="§"/>
            </a:pPr>
            <a:r>
              <a:rPr lang="en-US" sz="1600" dirty="0" smtClean="0">
                <a:solidFill>
                  <a:srgbClr val="313131"/>
                </a:solidFill>
              </a:rPr>
              <a:t>GIZ’s work was commissioned by more than 200 public &amp; private sector bodies  </a:t>
            </a:r>
            <a:endParaRPr lang="en-IN" sz="1600" dirty="0" smtClean="0">
              <a:solidFill>
                <a:srgbClr val="313131"/>
              </a:solidFill>
            </a:endParaRPr>
          </a:p>
        </p:txBody>
      </p:sp>
      <p:sp>
        <p:nvSpPr>
          <p:cNvPr id="25" name="Rectangle 24"/>
          <p:cNvSpPr/>
          <p:nvPr/>
        </p:nvSpPr>
        <p:spPr bwMode="gray">
          <a:xfrm>
            <a:off x="5684948" y="2314575"/>
            <a:ext cx="514350" cy="388620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6" name="TextBox 25"/>
          <p:cNvSpPr txBox="1"/>
          <p:nvPr/>
        </p:nvSpPr>
        <p:spPr>
          <a:xfrm>
            <a:off x="5829300" y="2419000"/>
            <a:ext cx="3009900" cy="276999"/>
          </a:xfrm>
          <a:prstGeom prst="rect">
            <a:avLst/>
          </a:prstGeom>
          <a:noFill/>
        </p:spPr>
        <p:txBody>
          <a:bodyPr wrap="square" lIns="0" tIns="0" rIns="0" bIns="0" rtlCol="0">
            <a:spAutoFit/>
          </a:bodyPr>
          <a:lstStyle/>
          <a:p>
            <a:pPr>
              <a:spcBef>
                <a:spcPts val="600"/>
              </a:spcBef>
              <a:buSzPct val="100000"/>
            </a:pPr>
            <a:r>
              <a:rPr lang="en-US" b="1" dirty="0" smtClean="0">
                <a:solidFill>
                  <a:srgbClr val="313131"/>
                </a:solidFill>
              </a:rPr>
              <a:t>Projects in India</a:t>
            </a:r>
            <a:endParaRPr lang="en-IN" b="1" dirty="0" smtClean="0">
              <a:solidFill>
                <a:srgbClr val="313131"/>
              </a:solidFill>
            </a:endParaRPr>
          </a:p>
        </p:txBody>
      </p:sp>
      <p:sp>
        <p:nvSpPr>
          <p:cNvPr id="27" name="TextBox 26"/>
          <p:cNvSpPr txBox="1"/>
          <p:nvPr/>
        </p:nvSpPr>
        <p:spPr>
          <a:xfrm>
            <a:off x="5762625" y="3238573"/>
            <a:ext cx="5642558" cy="2754600"/>
          </a:xfrm>
          <a:prstGeom prst="rect">
            <a:avLst/>
          </a:prstGeom>
          <a:noFill/>
        </p:spPr>
        <p:txBody>
          <a:bodyPr wrap="square" lIns="0" tIns="0" rIns="0" bIns="0" rtlCol="0">
            <a:spAutoFit/>
          </a:bodyPr>
          <a:lstStyle/>
          <a:p>
            <a:pPr marL="285750" indent="-285750">
              <a:spcBef>
                <a:spcPts val="600"/>
              </a:spcBef>
              <a:buSzPct val="100000"/>
              <a:buFont typeface="Wingdings" panose="05000000000000000000" pitchFamily="2" charset="2"/>
              <a:buChar char="§"/>
            </a:pPr>
            <a:r>
              <a:rPr lang="en-US" sz="1600" dirty="0" smtClean="0">
                <a:solidFill>
                  <a:srgbClr val="0076A8"/>
                </a:solidFill>
              </a:rPr>
              <a:t>Access to Energy in Rural Areas-II (IGEN Access II)</a:t>
            </a:r>
          </a:p>
          <a:p>
            <a:pPr marL="285750" indent="-285750">
              <a:spcBef>
                <a:spcPts val="600"/>
              </a:spcBef>
              <a:buSzPct val="100000"/>
              <a:buFont typeface="Wingdings" panose="05000000000000000000" pitchFamily="2" charset="2"/>
              <a:buChar char="§"/>
            </a:pPr>
            <a:r>
              <a:rPr lang="en-US" sz="1600" dirty="0" smtClean="0">
                <a:solidFill>
                  <a:srgbClr val="313131"/>
                </a:solidFill>
              </a:rPr>
              <a:t>Promotion of Solar Water Pumps</a:t>
            </a:r>
          </a:p>
          <a:p>
            <a:pPr marL="285750" indent="-285750">
              <a:spcBef>
                <a:spcPts val="600"/>
              </a:spcBef>
              <a:buSzPct val="100000"/>
              <a:buFont typeface="Wingdings" panose="05000000000000000000" pitchFamily="2" charset="2"/>
              <a:buChar char="§"/>
            </a:pPr>
            <a:r>
              <a:rPr lang="en-US" sz="1600" dirty="0" smtClean="0">
                <a:solidFill>
                  <a:srgbClr val="313131"/>
                </a:solidFill>
              </a:rPr>
              <a:t>Indo-German Solar Energy Partnership (IGSP)</a:t>
            </a:r>
          </a:p>
          <a:p>
            <a:pPr marL="285750" indent="-285750">
              <a:spcBef>
                <a:spcPts val="600"/>
              </a:spcBef>
              <a:buSzPct val="100000"/>
              <a:buFont typeface="Wingdings" panose="05000000000000000000" pitchFamily="2" charset="2"/>
              <a:buChar char="§"/>
            </a:pPr>
            <a:r>
              <a:rPr lang="en-US" sz="1600" dirty="0" smtClean="0">
                <a:solidFill>
                  <a:srgbClr val="313131"/>
                </a:solidFill>
              </a:rPr>
              <a:t>Indo-German Energy Forum (IGEF)</a:t>
            </a:r>
          </a:p>
          <a:p>
            <a:pPr marL="285750" indent="-285750">
              <a:spcBef>
                <a:spcPts val="600"/>
              </a:spcBef>
              <a:buSzPct val="100000"/>
              <a:buFont typeface="Wingdings" panose="05000000000000000000" pitchFamily="2" charset="2"/>
              <a:buChar char="§"/>
            </a:pPr>
            <a:r>
              <a:rPr lang="en-US" sz="1600" dirty="0" smtClean="0">
                <a:solidFill>
                  <a:srgbClr val="313131"/>
                </a:solidFill>
              </a:rPr>
              <a:t>Indo-German Energy </a:t>
            </a:r>
            <a:r>
              <a:rPr lang="en-US" sz="1600" dirty="0" err="1" smtClean="0">
                <a:solidFill>
                  <a:srgbClr val="313131"/>
                </a:solidFill>
              </a:rPr>
              <a:t>Programme</a:t>
            </a:r>
            <a:r>
              <a:rPr lang="en-US" sz="1600" dirty="0" smtClean="0">
                <a:solidFill>
                  <a:srgbClr val="313131"/>
                </a:solidFill>
              </a:rPr>
              <a:t> (IGEN)</a:t>
            </a:r>
          </a:p>
          <a:p>
            <a:pPr marL="285750" indent="-285750">
              <a:spcBef>
                <a:spcPts val="600"/>
              </a:spcBef>
              <a:buSzPct val="100000"/>
              <a:buFont typeface="Wingdings" panose="05000000000000000000" pitchFamily="2" charset="2"/>
              <a:buChar char="§"/>
            </a:pPr>
            <a:r>
              <a:rPr lang="en-US" sz="1600" dirty="0" smtClean="0">
                <a:solidFill>
                  <a:srgbClr val="313131"/>
                </a:solidFill>
              </a:rPr>
              <a:t>Energy Efficiency (IGEN – EE)</a:t>
            </a:r>
          </a:p>
          <a:p>
            <a:pPr marL="285750" indent="-285750">
              <a:spcBef>
                <a:spcPts val="600"/>
              </a:spcBef>
              <a:buSzPct val="100000"/>
              <a:buFont typeface="Wingdings" panose="05000000000000000000" pitchFamily="2" charset="2"/>
              <a:buChar char="§"/>
            </a:pPr>
            <a:r>
              <a:rPr lang="en-US" sz="1600" dirty="0" smtClean="0">
                <a:solidFill>
                  <a:srgbClr val="313131"/>
                </a:solidFill>
              </a:rPr>
              <a:t>Integration of Renewable Energies into the Indian Electricity System (I-RE)</a:t>
            </a:r>
          </a:p>
          <a:p>
            <a:pPr marL="285750" indent="-285750">
              <a:spcBef>
                <a:spcPts val="600"/>
              </a:spcBef>
              <a:buSzPct val="100000"/>
              <a:buFont typeface="Wingdings" panose="05000000000000000000" pitchFamily="2" charset="2"/>
              <a:buChar char="§"/>
            </a:pPr>
            <a:r>
              <a:rPr lang="en-US" sz="1600" dirty="0" smtClean="0">
                <a:solidFill>
                  <a:srgbClr val="313131"/>
                </a:solidFill>
              </a:rPr>
              <a:t>IGEN-GEC-Rooftop Solar PV Component</a:t>
            </a:r>
            <a:endParaRPr lang="en-IN" sz="1600" dirty="0" smtClean="0">
              <a:solidFill>
                <a:srgbClr val="313131"/>
              </a:solidFill>
            </a:endParaRPr>
          </a:p>
        </p:txBody>
      </p:sp>
    </p:spTree>
    <p:extLst>
      <p:ext uri="{BB962C8B-B14F-4D97-AF65-F5344CB8AC3E}">
        <p14:creationId xmlns:p14="http://schemas.microsoft.com/office/powerpoint/2010/main" val="41763952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10679580"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Program Objective: IGEN Access II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Rectangle 11"/>
          <p:cNvSpPr/>
          <p:nvPr/>
        </p:nvSpPr>
        <p:spPr bwMode="gray">
          <a:xfrm>
            <a:off x="407521" y="721997"/>
            <a:ext cx="10935856" cy="1916428"/>
          </a:xfrm>
          <a:prstGeom prst="rect">
            <a:avLst/>
          </a:prstGeom>
          <a:solidFill>
            <a:schemeClr val="bg1">
              <a:lumMod val="95000"/>
            </a:schemeClr>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marL="285750" indent="-285750">
              <a:lnSpc>
                <a:spcPct val="106000"/>
              </a:lnSpc>
              <a:buFont typeface="Wingdings" panose="05000000000000000000" pitchFamily="2" charset="2"/>
              <a:buChar char="§"/>
            </a:pPr>
            <a:r>
              <a:rPr lang="en-US" sz="1400" dirty="0" smtClean="0"/>
              <a:t>From perspective of Dept. of Energy, </a:t>
            </a:r>
            <a:r>
              <a:rPr lang="en-US" sz="1400" dirty="0"/>
              <a:t>a</a:t>
            </a:r>
            <a:r>
              <a:rPr lang="en-US" sz="1400" dirty="0" smtClean="0"/>
              <a:t>ccess to </a:t>
            </a:r>
            <a:r>
              <a:rPr lang="en-US" sz="1400" b="1" dirty="0" smtClean="0"/>
              <a:t>affordable &amp; reliable energy </a:t>
            </a:r>
            <a:r>
              <a:rPr lang="en-US" sz="1400" dirty="0" smtClean="0"/>
              <a:t>along-with </a:t>
            </a:r>
            <a:r>
              <a:rPr lang="en-US" sz="1400" b="1" dirty="0" smtClean="0"/>
              <a:t>optimizing fuel sources (Power Purchase)</a:t>
            </a:r>
            <a:r>
              <a:rPr lang="en-US" sz="1400" dirty="0" smtClean="0"/>
              <a:t> are the two major growth drivers </a:t>
            </a:r>
          </a:p>
          <a:p>
            <a:pPr marL="285750" indent="-285750">
              <a:lnSpc>
                <a:spcPct val="106000"/>
              </a:lnSpc>
              <a:buFont typeface="Wingdings" panose="05000000000000000000" pitchFamily="2" charset="2"/>
              <a:buChar char="§"/>
            </a:pPr>
            <a:r>
              <a:rPr lang="en-US" sz="1400" dirty="0" smtClean="0"/>
              <a:t>The State has been able to meet </a:t>
            </a:r>
            <a:r>
              <a:rPr lang="en-US" sz="1400" b="1" dirty="0" smtClean="0"/>
              <a:t>between 4.7% to 13% </a:t>
            </a:r>
            <a:r>
              <a:rPr lang="en-US" sz="1400" dirty="0" smtClean="0"/>
              <a:t>of RPO targets in past three published FYs, showing </a:t>
            </a:r>
            <a:r>
              <a:rPr lang="en-US" sz="1400" b="1" dirty="0" smtClean="0"/>
              <a:t>highly skewed energy-mix </a:t>
            </a:r>
          </a:p>
          <a:p>
            <a:pPr marL="285750" indent="-285750">
              <a:lnSpc>
                <a:spcPct val="106000"/>
              </a:lnSpc>
              <a:buFont typeface="Wingdings" panose="05000000000000000000" pitchFamily="2" charset="2"/>
              <a:buChar char="§"/>
            </a:pPr>
            <a:r>
              <a:rPr lang="en-US" sz="1400" dirty="0" smtClean="0"/>
              <a:t>Measures have been undertaken (tying-up 700MW Solar &amp; 250MW Wind Power along with push to PM-KUSUM, Solar Rooftop programs) </a:t>
            </a:r>
          </a:p>
          <a:p>
            <a:pPr marL="285750" indent="-285750">
              <a:lnSpc>
                <a:spcPct val="106000"/>
              </a:lnSpc>
              <a:buFont typeface="Wingdings" panose="05000000000000000000" pitchFamily="2" charset="2"/>
              <a:buChar char="§"/>
            </a:pPr>
            <a:r>
              <a:rPr lang="en-US" sz="1400" u="sng" dirty="0" smtClean="0"/>
              <a:t>Guidance envisaged in terms of implementation push</a:t>
            </a:r>
          </a:p>
        </p:txBody>
      </p:sp>
      <p:sp>
        <p:nvSpPr>
          <p:cNvPr id="13" name="TextBox 12"/>
          <p:cNvSpPr txBox="1"/>
          <p:nvPr/>
        </p:nvSpPr>
        <p:spPr>
          <a:xfrm>
            <a:off x="407520" y="2890391"/>
            <a:ext cx="10935856" cy="1015663"/>
          </a:xfrm>
          <a:prstGeom prst="rect">
            <a:avLst/>
          </a:prstGeom>
          <a:noFill/>
        </p:spPr>
        <p:txBody>
          <a:bodyPr wrap="square" lIns="0" tIns="0" rIns="0" bIns="0" rtlCol="0">
            <a:spAutoFit/>
          </a:bodyPr>
          <a:lstStyle/>
          <a:p>
            <a:pPr>
              <a:spcBef>
                <a:spcPts val="600"/>
              </a:spcBef>
              <a:buSzPct val="100000"/>
            </a:pPr>
            <a:r>
              <a:rPr lang="en-US" sz="1400" b="1" dirty="0" smtClean="0">
                <a:solidFill>
                  <a:srgbClr val="313131"/>
                </a:solidFill>
              </a:rPr>
              <a:t>Indo-German Energy (IGEN) Access II</a:t>
            </a:r>
            <a:r>
              <a:rPr lang="en-US" sz="1400" dirty="0" smtClean="0">
                <a:solidFill>
                  <a:srgbClr val="313131"/>
                </a:solidFill>
              </a:rPr>
              <a:t>, as part of ongoing collaboration between respective nations, is a program with underlined objective of improving energy supply in rural </a:t>
            </a:r>
            <a:r>
              <a:rPr lang="en-US" sz="1400" dirty="0" smtClean="0">
                <a:solidFill>
                  <a:srgbClr val="313131"/>
                </a:solidFill>
              </a:rPr>
              <a:t>areas</a:t>
            </a:r>
          </a:p>
          <a:p>
            <a:pPr>
              <a:spcBef>
                <a:spcPts val="600"/>
              </a:spcBef>
              <a:buSzPct val="100000"/>
            </a:pPr>
            <a:r>
              <a:rPr lang="en-US" sz="1400" dirty="0" smtClean="0">
                <a:solidFill>
                  <a:srgbClr val="313131"/>
                </a:solidFill>
              </a:rPr>
              <a:t> </a:t>
            </a:r>
            <a:endParaRPr lang="en-US" sz="1400" dirty="0" smtClean="0">
              <a:solidFill>
                <a:srgbClr val="313131"/>
              </a:solidFill>
            </a:endParaRPr>
          </a:p>
          <a:p>
            <a:pPr>
              <a:spcBef>
                <a:spcPts val="600"/>
              </a:spcBef>
              <a:buSzPct val="100000"/>
            </a:pPr>
            <a:r>
              <a:rPr lang="en-US" sz="1400" dirty="0" smtClean="0">
                <a:solidFill>
                  <a:srgbClr val="313131"/>
                </a:solidFill>
              </a:rPr>
              <a:t>The broad values envisaged for Dept. of Energy can be categorized as below -  </a:t>
            </a:r>
            <a:endParaRPr lang="en-IN" sz="1400" dirty="0" smtClean="0">
              <a:solidFill>
                <a:srgbClr val="313131"/>
              </a:solidFill>
            </a:endParaRPr>
          </a:p>
        </p:txBody>
      </p:sp>
      <p:sp>
        <p:nvSpPr>
          <p:cNvPr id="4" name="Rectangle 3"/>
          <p:cNvSpPr/>
          <p:nvPr/>
        </p:nvSpPr>
        <p:spPr bwMode="gray">
          <a:xfrm>
            <a:off x="407520" y="3960882"/>
            <a:ext cx="4029075" cy="2184436"/>
          </a:xfrm>
          <a:prstGeom prst="rect">
            <a:avLst/>
          </a:prstGeom>
          <a:solidFill>
            <a:schemeClr val="accent2">
              <a:lumMod val="60000"/>
              <a:lumOff val="40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7" name="Rectangle 16"/>
          <p:cNvSpPr/>
          <p:nvPr/>
        </p:nvSpPr>
        <p:spPr bwMode="gray">
          <a:xfrm>
            <a:off x="3860911" y="3960882"/>
            <a:ext cx="4029075" cy="2184436"/>
          </a:xfrm>
          <a:prstGeom prst="rect">
            <a:avLst/>
          </a:prstGeom>
          <a:solidFill>
            <a:schemeClr val="accent1">
              <a:lumMod val="40000"/>
              <a:lumOff val="60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8" name="Rectangle 17"/>
          <p:cNvSpPr/>
          <p:nvPr/>
        </p:nvSpPr>
        <p:spPr bwMode="gray">
          <a:xfrm>
            <a:off x="7314301" y="3960882"/>
            <a:ext cx="4029075" cy="2184436"/>
          </a:xfrm>
          <a:prstGeom prst="rect">
            <a:avLst/>
          </a:prstGeom>
          <a:solidFill>
            <a:schemeClr val="bg1">
              <a:lumMod val="85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9" name="TextBox 18"/>
          <p:cNvSpPr txBox="1"/>
          <p:nvPr/>
        </p:nvSpPr>
        <p:spPr>
          <a:xfrm>
            <a:off x="564556" y="4437547"/>
            <a:ext cx="3139319" cy="1231106"/>
          </a:xfrm>
          <a:prstGeom prst="rect">
            <a:avLst/>
          </a:prstGeom>
          <a:noFill/>
        </p:spPr>
        <p:txBody>
          <a:bodyPr wrap="square" lIns="0" tIns="0" rIns="0" bIns="0" rtlCol="0">
            <a:spAutoFit/>
          </a:bodyPr>
          <a:lstStyle/>
          <a:p>
            <a:pPr>
              <a:spcBef>
                <a:spcPts val="600"/>
              </a:spcBef>
              <a:buSzPct val="100000"/>
            </a:pPr>
            <a:r>
              <a:rPr lang="en-US" sz="1600" b="1" i="1" dirty="0" smtClean="0">
                <a:solidFill>
                  <a:srgbClr val="313131"/>
                </a:solidFill>
              </a:rPr>
              <a:t>Access to international expertise which addresses time &amp; resource crunch of the Dept. in making plans for future </a:t>
            </a:r>
            <a:endParaRPr lang="en-IN" sz="1600" b="1" i="1" dirty="0" smtClean="0">
              <a:solidFill>
                <a:srgbClr val="313131"/>
              </a:solidFill>
            </a:endParaRPr>
          </a:p>
        </p:txBody>
      </p:sp>
      <p:sp>
        <p:nvSpPr>
          <p:cNvPr id="21" name="TextBox 20"/>
          <p:cNvSpPr txBox="1"/>
          <p:nvPr/>
        </p:nvSpPr>
        <p:spPr>
          <a:xfrm>
            <a:off x="4517431" y="4364883"/>
            <a:ext cx="2639835" cy="1477328"/>
          </a:xfrm>
          <a:prstGeom prst="rect">
            <a:avLst/>
          </a:prstGeom>
          <a:noFill/>
        </p:spPr>
        <p:txBody>
          <a:bodyPr wrap="square" lIns="0" tIns="0" rIns="0" bIns="0" rtlCol="0">
            <a:spAutoFit/>
          </a:bodyPr>
          <a:lstStyle/>
          <a:p>
            <a:pPr>
              <a:spcBef>
                <a:spcPts val="600"/>
              </a:spcBef>
              <a:buSzPct val="100000"/>
            </a:pPr>
            <a:r>
              <a:rPr lang="en-US" sz="1600" b="1" i="1" dirty="0" smtClean="0">
                <a:solidFill>
                  <a:srgbClr val="313131"/>
                </a:solidFill>
              </a:rPr>
              <a:t>No additional financial burden on State exchequer as the program is part of ongoing national level association </a:t>
            </a:r>
            <a:endParaRPr lang="en-IN" sz="1600" b="1" i="1" dirty="0" smtClean="0">
              <a:solidFill>
                <a:srgbClr val="313131"/>
              </a:solidFill>
            </a:endParaRPr>
          </a:p>
        </p:txBody>
      </p:sp>
      <p:sp>
        <p:nvSpPr>
          <p:cNvPr id="22" name="TextBox 21"/>
          <p:cNvSpPr txBox="1"/>
          <p:nvPr/>
        </p:nvSpPr>
        <p:spPr>
          <a:xfrm>
            <a:off x="8044253" y="4364883"/>
            <a:ext cx="3144855" cy="1477328"/>
          </a:xfrm>
          <a:prstGeom prst="rect">
            <a:avLst/>
          </a:prstGeom>
          <a:noFill/>
        </p:spPr>
        <p:txBody>
          <a:bodyPr wrap="square" lIns="0" tIns="0" rIns="0" bIns="0" rtlCol="0">
            <a:spAutoFit/>
          </a:bodyPr>
          <a:lstStyle/>
          <a:p>
            <a:pPr>
              <a:spcBef>
                <a:spcPts val="600"/>
              </a:spcBef>
              <a:buSzPct val="100000"/>
            </a:pPr>
            <a:r>
              <a:rPr lang="en-US" sz="1600" b="1" i="1" dirty="0" smtClean="0">
                <a:solidFill>
                  <a:srgbClr val="313131"/>
                </a:solidFill>
              </a:rPr>
              <a:t>Energy scenario planning for next 10-15 years through EAP tool, employee up-skilling, opportunity to align on further state-level visions </a:t>
            </a:r>
            <a:endParaRPr lang="en-IN" sz="1600" b="1" i="1" dirty="0" smtClean="0">
              <a:solidFill>
                <a:srgbClr val="313131"/>
              </a:solidFill>
            </a:endParaRPr>
          </a:p>
        </p:txBody>
      </p:sp>
    </p:spTree>
    <p:extLst>
      <p:ext uri="{BB962C8B-B14F-4D97-AF65-F5344CB8AC3E}">
        <p14:creationId xmlns:p14="http://schemas.microsoft.com/office/powerpoint/2010/main" val="19710575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10679580"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Expected Outcome    </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bwMode="gray">
          <a:xfrm>
            <a:off x="407520" y="748622"/>
            <a:ext cx="10935856" cy="1442128"/>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342900" indent="-342900">
              <a:lnSpc>
                <a:spcPct val="150000"/>
              </a:lnSpc>
              <a:buFont typeface="+mj-lt"/>
              <a:buAutoNum type="arabicPeriod"/>
            </a:pPr>
            <a:r>
              <a:rPr lang="en-US" sz="1400" b="1" dirty="0" smtClean="0"/>
              <a:t>Clearer understanding of challenges/ barriers </a:t>
            </a:r>
            <a:r>
              <a:rPr lang="en-US" sz="1400" dirty="0" smtClean="0"/>
              <a:t>in attaining goal of providing clean &amp; reliable energy access </a:t>
            </a:r>
          </a:p>
          <a:p>
            <a:pPr marL="342900" indent="-342900">
              <a:lnSpc>
                <a:spcPct val="150000"/>
              </a:lnSpc>
              <a:buFont typeface="+mj-lt"/>
              <a:buAutoNum type="arabicPeriod"/>
            </a:pPr>
            <a:r>
              <a:rPr lang="en-US" sz="1400" b="1" dirty="0" smtClean="0"/>
              <a:t>State-level</a:t>
            </a:r>
            <a:r>
              <a:rPr lang="en-US" sz="1400" dirty="0" smtClean="0"/>
              <a:t> </a:t>
            </a:r>
            <a:r>
              <a:rPr lang="en-US" sz="1400" b="1" dirty="0" smtClean="0"/>
              <a:t>Energy Action Plan </a:t>
            </a:r>
            <a:r>
              <a:rPr lang="en-US" sz="1400" dirty="0" smtClean="0"/>
              <a:t>for a period of 10-15 years (inline with SDG 2030 timeline)</a:t>
            </a:r>
          </a:p>
          <a:p>
            <a:pPr marL="342900" indent="-342900">
              <a:lnSpc>
                <a:spcPct val="150000"/>
              </a:lnSpc>
              <a:buFont typeface="+mj-lt"/>
              <a:buAutoNum type="arabicPeriod"/>
            </a:pPr>
            <a:r>
              <a:rPr lang="en-US" sz="1400" b="1" dirty="0" smtClean="0"/>
              <a:t>Decision Support Tool </a:t>
            </a:r>
            <a:r>
              <a:rPr lang="en-US" sz="1400" dirty="0" smtClean="0"/>
              <a:t>hosted at state-level and operated by core-group of employees to evaluate and analyze scenarios on State’s aspirations from energy perspective  </a:t>
            </a:r>
            <a:endParaRPr lang="en-IN" sz="1400" dirty="0" smtClean="0"/>
          </a:p>
        </p:txBody>
      </p:sp>
      <p:sp>
        <p:nvSpPr>
          <p:cNvPr id="5" name="TextBox 4"/>
          <p:cNvSpPr txBox="1"/>
          <p:nvPr/>
        </p:nvSpPr>
        <p:spPr>
          <a:xfrm>
            <a:off x="407520" y="2485917"/>
            <a:ext cx="10933580" cy="430887"/>
          </a:xfrm>
          <a:prstGeom prst="rect">
            <a:avLst/>
          </a:prstGeom>
          <a:noFill/>
        </p:spPr>
        <p:txBody>
          <a:bodyPr wrap="square" lIns="0" tIns="0" rIns="0" bIns="0" rtlCol="0">
            <a:spAutoFit/>
          </a:bodyPr>
          <a:lstStyle/>
          <a:p>
            <a:pPr algn="just">
              <a:spcBef>
                <a:spcPts val="600"/>
              </a:spcBef>
              <a:buSzPct val="100000"/>
            </a:pPr>
            <a:r>
              <a:rPr lang="en-US" sz="1400" i="1" dirty="0" smtClean="0">
                <a:solidFill>
                  <a:srgbClr val="313131"/>
                </a:solidFill>
              </a:rPr>
              <a:t>The program, effectively planned, has the ability to push both ranking and score of Jharkhand on </a:t>
            </a:r>
            <a:r>
              <a:rPr lang="en-US" sz="1400" i="1" dirty="0" smtClean="0">
                <a:solidFill>
                  <a:srgbClr val="313131"/>
                </a:solidFill>
              </a:rPr>
              <a:t>Sustainable Development Goals (SDG) Index and ensure targeted economic development. Few impact areas may be as below -  </a:t>
            </a:r>
            <a:endParaRPr lang="en-IN" sz="1400" i="1" dirty="0" smtClean="0">
              <a:solidFill>
                <a:srgbClr val="313131"/>
              </a:solidFill>
            </a:endParaRPr>
          </a:p>
        </p:txBody>
      </p:sp>
      <p:sp>
        <p:nvSpPr>
          <p:cNvPr id="32" name="Rectangle 31"/>
          <p:cNvSpPr/>
          <p:nvPr/>
        </p:nvSpPr>
        <p:spPr bwMode="gray">
          <a:xfrm>
            <a:off x="609601" y="3114675"/>
            <a:ext cx="514350" cy="313372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1" name="TextBox 30"/>
          <p:cNvSpPr txBox="1"/>
          <p:nvPr/>
        </p:nvSpPr>
        <p:spPr>
          <a:xfrm>
            <a:off x="723901" y="4096149"/>
            <a:ext cx="10474324" cy="1954381"/>
          </a:xfrm>
          <a:prstGeom prst="rect">
            <a:avLst/>
          </a:prstGeom>
          <a:noFill/>
        </p:spPr>
        <p:txBody>
          <a:bodyPr wrap="square" lIns="0" tIns="0" rIns="0" bIns="0" rtlCol="0">
            <a:spAutoFit/>
          </a:bodyPr>
          <a:lstStyle/>
          <a:p>
            <a:pPr marL="285750" indent="-285750" algn="just">
              <a:spcBef>
                <a:spcPts val="600"/>
              </a:spcBef>
              <a:buSzPct val="100000"/>
              <a:buFont typeface="Wingdings" panose="05000000000000000000" pitchFamily="2" charset="2"/>
              <a:buChar char="§"/>
            </a:pPr>
            <a:r>
              <a:rPr lang="en-US" sz="1400" dirty="0" smtClean="0">
                <a:solidFill>
                  <a:srgbClr val="0076A8"/>
                </a:solidFill>
              </a:rPr>
              <a:t>Ensuring Energy Access to last-mile Consumers shall contribute to improving parameters such as Poverty Elimination &amp; improving healthcare</a:t>
            </a:r>
          </a:p>
          <a:p>
            <a:pPr marL="285750" indent="-285750" algn="just">
              <a:spcBef>
                <a:spcPts val="600"/>
              </a:spcBef>
              <a:buSzPct val="100000"/>
              <a:buFont typeface="Wingdings" panose="05000000000000000000" pitchFamily="2" charset="2"/>
              <a:buChar char="§"/>
            </a:pPr>
            <a:r>
              <a:rPr lang="en-US" sz="1400" dirty="0" smtClean="0">
                <a:solidFill>
                  <a:srgbClr val="0076A8"/>
                </a:solidFill>
              </a:rPr>
              <a:t>Progress under education, gender equality &amp; reduction in social inequalities can be ensured by affordable modes of electricity access</a:t>
            </a:r>
          </a:p>
          <a:p>
            <a:pPr marL="285750" indent="-285750" algn="just">
              <a:spcBef>
                <a:spcPts val="600"/>
              </a:spcBef>
              <a:buSzPct val="100000"/>
              <a:buFont typeface="Wingdings" panose="05000000000000000000" pitchFamily="2" charset="2"/>
              <a:buChar char="§"/>
            </a:pPr>
            <a:r>
              <a:rPr lang="en-US" sz="1400" dirty="0">
                <a:solidFill>
                  <a:srgbClr val="0076A8"/>
                </a:solidFill>
              </a:rPr>
              <a:t>In future of innovation or planning smart-cities, a robust Renewable Energy Plan shall play a key role, thus contributing in improving related parameters </a:t>
            </a:r>
            <a:endParaRPr lang="en-IN" sz="1400" dirty="0">
              <a:solidFill>
                <a:srgbClr val="0076A8"/>
              </a:solidFill>
            </a:endParaRPr>
          </a:p>
          <a:p>
            <a:pPr marL="285750" indent="-285750" algn="just">
              <a:spcBef>
                <a:spcPts val="600"/>
              </a:spcBef>
              <a:buSzPct val="100000"/>
              <a:buFont typeface="Wingdings" panose="05000000000000000000" pitchFamily="2" charset="2"/>
              <a:buChar char="§"/>
            </a:pPr>
            <a:r>
              <a:rPr lang="en-US" sz="1400" dirty="0">
                <a:solidFill>
                  <a:srgbClr val="0076A8"/>
                </a:solidFill>
              </a:rPr>
              <a:t>Energy access to MSMEs inline with national growth plan shall help job creation </a:t>
            </a:r>
            <a:r>
              <a:rPr lang="en-US" sz="1400" dirty="0" smtClean="0">
                <a:solidFill>
                  <a:srgbClr val="0076A8"/>
                </a:solidFill>
              </a:rPr>
              <a:t>whereas </a:t>
            </a:r>
            <a:r>
              <a:rPr lang="en-US" sz="1400" dirty="0">
                <a:solidFill>
                  <a:srgbClr val="0076A8"/>
                </a:solidFill>
              </a:rPr>
              <a:t>sanitation is ensured by social </a:t>
            </a:r>
            <a:r>
              <a:rPr lang="en-US" sz="1400" dirty="0" smtClean="0">
                <a:solidFill>
                  <a:srgbClr val="0076A8"/>
                </a:solidFill>
              </a:rPr>
              <a:t>growth</a:t>
            </a:r>
            <a:endParaRPr lang="en-US" sz="1400" dirty="0">
              <a:solidFill>
                <a:srgbClr val="0076A8"/>
              </a:solidFill>
            </a:endParaRPr>
          </a:p>
        </p:txBody>
      </p:sp>
      <p:sp>
        <p:nvSpPr>
          <p:cNvPr id="35" name="TextBox 34"/>
          <p:cNvSpPr txBox="1"/>
          <p:nvPr/>
        </p:nvSpPr>
        <p:spPr>
          <a:xfrm>
            <a:off x="723901" y="3229477"/>
            <a:ext cx="3933824" cy="276999"/>
          </a:xfrm>
          <a:prstGeom prst="rect">
            <a:avLst/>
          </a:prstGeom>
          <a:noFill/>
        </p:spPr>
        <p:txBody>
          <a:bodyPr wrap="square" lIns="0" tIns="0" rIns="0" bIns="0" rtlCol="0">
            <a:spAutoFit/>
          </a:bodyPr>
          <a:lstStyle/>
          <a:p>
            <a:pPr>
              <a:spcBef>
                <a:spcPts val="600"/>
              </a:spcBef>
              <a:buSzPct val="100000"/>
            </a:pPr>
            <a:r>
              <a:rPr lang="en-US" b="1" dirty="0" smtClean="0">
                <a:solidFill>
                  <a:srgbClr val="313131"/>
                </a:solidFill>
              </a:rPr>
              <a:t>Socio-economic Impact Areas</a:t>
            </a:r>
            <a:endParaRPr lang="en-IN" b="1" dirty="0" smtClean="0">
              <a:solidFill>
                <a:srgbClr val="313131"/>
              </a:solidFill>
            </a:endParaRPr>
          </a:p>
        </p:txBody>
      </p:sp>
    </p:spTree>
    <p:extLst>
      <p:ext uri="{BB962C8B-B14F-4D97-AF65-F5344CB8AC3E}">
        <p14:creationId xmlns:p14="http://schemas.microsoft.com/office/powerpoint/2010/main" val="35101252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8838079"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Highlights of Proposed GIZ Association</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p:cNvGraphicFramePr>
            <a:graphicFrameLocks noGrp="1"/>
          </p:cNvGraphicFramePr>
          <p:nvPr>
            <p:extLst/>
          </p:nvPr>
        </p:nvGraphicFramePr>
        <p:xfrm>
          <a:off x="485901" y="632294"/>
          <a:ext cx="5457572" cy="4140005"/>
        </p:xfrm>
        <a:graphic>
          <a:graphicData uri="http://schemas.openxmlformats.org/drawingml/2006/table">
            <a:tbl>
              <a:tblPr firstRow="1" bandRow="1">
                <a:tableStyleId>{0E3FDE45-AF77-4B5C-9715-49D594BDF05E}</a:tableStyleId>
              </a:tblPr>
              <a:tblGrid>
                <a:gridCol w="752484">
                  <a:extLst>
                    <a:ext uri="{9D8B030D-6E8A-4147-A177-3AD203B41FA5}">
                      <a16:colId xmlns:a16="http://schemas.microsoft.com/office/drawing/2014/main" val="85255343"/>
                    </a:ext>
                  </a:extLst>
                </a:gridCol>
                <a:gridCol w="3590936">
                  <a:extLst>
                    <a:ext uri="{9D8B030D-6E8A-4147-A177-3AD203B41FA5}">
                      <a16:colId xmlns:a16="http://schemas.microsoft.com/office/drawing/2014/main" val="3530060803"/>
                    </a:ext>
                  </a:extLst>
                </a:gridCol>
                <a:gridCol w="1114152">
                  <a:extLst>
                    <a:ext uri="{9D8B030D-6E8A-4147-A177-3AD203B41FA5}">
                      <a16:colId xmlns:a16="http://schemas.microsoft.com/office/drawing/2014/main" val="1837474488"/>
                    </a:ext>
                  </a:extLst>
                </a:gridCol>
              </a:tblGrid>
              <a:tr h="258325">
                <a:tc gridSpan="3">
                  <a:txBody>
                    <a:bodyPr/>
                    <a:lstStyle/>
                    <a:p>
                      <a:pPr algn="ctr" fontAlgn="b"/>
                      <a:r>
                        <a:rPr lang="en-US" sz="1200" u="none" strike="noStrike" dirty="0">
                          <a:effectLst/>
                        </a:rPr>
                        <a:t>Proposed Broad Activities under IGEN Access </a:t>
                      </a:r>
                      <a:r>
                        <a:rPr lang="en-US" sz="1200" u="none" strike="noStrike" dirty="0" smtClean="0">
                          <a:effectLst/>
                        </a:rPr>
                        <a:t>II * </a:t>
                      </a:r>
                      <a:endParaRPr lang="en-US" sz="1200" b="0" i="0" u="none" strike="noStrike" dirty="0">
                        <a:solidFill>
                          <a:srgbClr val="000000"/>
                        </a:solidFill>
                        <a:effectLst/>
                        <a:latin typeface="Calibri" panose="020F0502020204030204" pitchFamily="34" charset="0"/>
                      </a:endParaRPr>
                    </a:p>
                  </a:txBody>
                  <a:tcPr marL="7620" marR="7620" marT="7620" marB="0" anchor="ctr">
                    <a:lnB w="12700" cap="flat" cmpd="sng" algn="ctr">
                      <a:solidFill>
                        <a:schemeClr val="tx1"/>
                      </a:solidFill>
                      <a:prstDash val="dot"/>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63470120"/>
                  </a:ext>
                </a:extLst>
              </a:tr>
              <a:tr h="258325">
                <a:tc>
                  <a:txBody>
                    <a:bodyPr/>
                    <a:lstStyle/>
                    <a:p>
                      <a:pPr algn="ctr" fontAlgn="b"/>
                      <a:r>
                        <a:rPr lang="en-IN" sz="1200" b="1" u="none" strike="noStrike" dirty="0">
                          <a:effectLst/>
                        </a:rPr>
                        <a:t>Sr. No.</a:t>
                      </a:r>
                      <a:endParaRPr lang="en-IN" sz="1200" b="1" i="0" u="none" strike="noStrike" dirty="0">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C4D600">
                        <a:alpha val="20000"/>
                      </a:srgbClr>
                    </a:solidFill>
                  </a:tcPr>
                </a:tc>
                <a:tc>
                  <a:txBody>
                    <a:bodyPr/>
                    <a:lstStyle/>
                    <a:p>
                      <a:pPr algn="ctr" fontAlgn="b"/>
                      <a:r>
                        <a:rPr lang="en-IN" sz="1200" b="1" u="none" strike="noStrike" dirty="0">
                          <a:effectLst/>
                        </a:rPr>
                        <a:t>Activity</a:t>
                      </a:r>
                      <a:endParaRPr lang="en-IN" sz="1200" b="1"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C4D600">
                        <a:alpha val="20000"/>
                      </a:srgbClr>
                    </a:solidFill>
                  </a:tcPr>
                </a:tc>
                <a:tc>
                  <a:txBody>
                    <a:bodyPr/>
                    <a:lstStyle/>
                    <a:p>
                      <a:pPr algn="ctr" fontAlgn="b"/>
                      <a:r>
                        <a:rPr lang="en-IN" sz="1200" b="1" u="none" strike="noStrike" dirty="0" smtClean="0">
                          <a:effectLst/>
                        </a:rPr>
                        <a:t>Timeline</a:t>
                      </a:r>
                      <a:r>
                        <a:rPr lang="en-IN" sz="900" b="1" u="none" strike="noStrike" dirty="0" smtClean="0">
                          <a:effectLst/>
                        </a:rPr>
                        <a:t>^</a:t>
                      </a:r>
                      <a:endParaRPr lang="en-IN" sz="900" b="1"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solidFill>
                      <a:srgbClr val="C4D600">
                        <a:alpha val="20000"/>
                      </a:srgbClr>
                    </a:solidFill>
                  </a:tcPr>
                </a:tc>
                <a:extLst>
                  <a:ext uri="{0D108BD9-81ED-4DB2-BD59-A6C34878D82A}">
                    <a16:rowId xmlns:a16="http://schemas.microsoft.com/office/drawing/2014/main" val="3800985016"/>
                  </a:ext>
                </a:extLst>
              </a:tr>
              <a:tr h="258325">
                <a:tc>
                  <a:txBody>
                    <a:bodyPr/>
                    <a:lstStyle/>
                    <a:p>
                      <a:pPr algn="ctr" fontAlgn="b"/>
                      <a:r>
                        <a:rPr lang="en-IN" sz="1200" u="none" strike="noStrike" dirty="0">
                          <a:effectLst/>
                        </a:rPr>
                        <a:t>1</a:t>
                      </a:r>
                      <a:endParaRPr lang="en-IN" sz="1200" b="0" i="0" u="none" strike="noStrike" dirty="0">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dirty="0">
                          <a:effectLst/>
                        </a:rPr>
                        <a:t>State level sensitization workshop</a:t>
                      </a:r>
                      <a:endParaRPr lang="en-IN"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0.5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966289385"/>
                  </a:ext>
                </a:extLst>
              </a:tr>
              <a:tr h="258325">
                <a:tc>
                  <a:txBody>
                    <a:bodyPr/>
                    <a:lstStyle/>
                    <a:p>
                      <a:pPr algn="ctr" fontAlgn="b"/>
                      <a:r>
                        <a:rPr lang="en-IN" sz="1200" u="none" strike="noStrike">
                          <a:effectLst/>
                        </a:rPr>
                        <a:t>2</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a:effectLst/>
                        </a:rPr>
                        <a:t>Finalization of inter-departmental PMU</a:t>
                      </a:r>
                      <a:endParaRPr lang="en-IN"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1 Month</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105707642"/>
                  </a:ext>
                </a:extLst>
              </a:tr>
              <a:tr h="507740">
                <a:tc>
                  <a:txBody>
                    <a:bodyPr/>
                    <a:lstStyle/>
                    <a:p>
                      <a:pPr algn="ctr" fontAlgn="b"/>
                      <a:r>
                        <a:rPr lang="en-IN" sz="1200" u="none" strike="noStrike">
                          <a:effectLst/>
                        </a:rPr>
                        <a:t>3</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dirty="0">
                          <a:effectLst/>
                        </a:rPr>
                        <a:t>Capacity building of PMU members on data collection/ analysis/ validation</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1-2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424442965"/>
                  </a:ext>
                </a:extLst>
              </a:tr>
              <a:tr h="258325">
                <a:tc>
                  <a:txBody>
                    <a:bodyPr/>
                    <a:lstStyle/>
                    <a:p>
                      <a:pPr algn="ctr" fontAlgn="b"/>
                      <a:r>
                        <a:rPr lang="en-IN" sz="1200" u="none" strike="noStrike">
                          <a:effectLst/>
                        </a:rPr>
                        <a:t>4</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a:effectLst/>
                        </a:rPr>
                        <a:t>Data Collection &amp; Analysis</a:t>
                      </a:r>
                      <a:endParaRPr lang="en-IN"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3-4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729521309"/>
                  </a:ext>
                </a:extLst>
              </a:tr>
              <a:tr h="507740">
                <a:tc>
                  <a:txBody>
                    <a:bodyPr/>
                    <a:lstStyle/>
                    <a:p>
                      <a:pPr algn="ctr" fontAlgn="b"/>
                      <a:r>
                        <a:rPr lang="en-IN" sz="1200" u="none" strike="noStrike">
                          <a:effectLst/>
                        </a:rPr>
                        <a:t>5</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IN" sz="1200" u="none" strike="noStrike" dirty="0">
                          <a:effectLst/>
                        </a:rPr>
                        <a:t>Creating/ validating baseline database &amp; baseline energy scenario</a:t>
                      </a:r>
                      <a:endParaRPr lang="en-IN"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931267954"/>
                  </a:ext>
                </a:extLst>
              </a:tr>
              <a:tr h="258325">
                <a:tc>
                  <a:txBody>
                    <a:bodyPr/>
                    <a:lstStyle/>
                    <a:p>
                      <a:pPr algn="ctr" fontAlgn="b"/>
                      <a:r>
                        <a:rPr lang="en-IN" sz="1200" u="none" strike="noStrike">
                          <a:effectLst/>
                        </a:rPr>
                        <a:t>6</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a:effectLst/>
                        </a:rPr>
                        <a:t>Development of State Energy Vision</a:t>
                      </a:r>
                      <a:endParaRPr lang="en-US"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1-2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653553388"/>
                  </a:ext>
                </a:extLst>
              </a:tr>
              <a:tr h="507740">
                <a:tc>
                  <a:txBody>
                    <a:bodyPr/>
                    <a:lstStyle/>
                    <a:p>
                      <a:pPr algn="ctr" fontAlgn="b"/>
                      <a:r>
                        <a:rPr lang="en-IN" sz="1200" u="none" strike="noStrike">
                          <a:effectLst/>
                        </a:rPr>
                        <a:t>7</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dirty="0">
                          <a:effectLst/>
                        </a:rPr>
                        <a:t>Development of Energy Scenarios to achieve state energy vision</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729951859"/>
                  </a:ext>
                </a:extLst>
              </a:tr>
              <a:tr h="258325">
                <a:tc>
                  <a:txBody>
                    <a:bodyPr/>
                    <a:lstStyle/>
                    <a:p>
                      <a:pPr algn="ctr" fontAlgn="b"/>
                      <a:r>
                        <a:rPr lang="en-IN" sz="1200" u="none" strike="noStrike">
                          <a:effectLst/>
                        </a:rPr>
                        <a:t>8</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dirty="0">
                          <a:effectLst/>
                        </a:rPr>
                        <a:t>Developing Sectoral Energy Action Plan</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2-3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204807136"/>
                  </a:ext>
                </a:extLst>
              </a:tr>
              <a:tr h="404255">
                <a:tc>
                  <a:txBody>
                    <a:bodyPr/>
                    <a:lstStyle/>
                    <a:p>
                      <a:pPr algn="ctr" fontAlgn="b"/>
                      <a:r>
                        <a:rPr lang="en-IN" sz="1200" u="none" strike="noStrike">
                          <a:effectLst/>
                        </a:rPr>
                        <a:t>9</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l" fontAlgn="b"/>
                      <a:r>
                        <a:rPr lang="en-US" sz="1200" u="none" strike="noStrike">
                          <a:effectLst/>
                        </a:rPr>
                        <a:t>Writing/ Framing the Combined Action Plan</a:t>
                      </a:r>
                      <a:endParaRPr lang="en-US" sz="1200" b="0" i="0" u="none" strike="noStrike">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019655186"/>
                  </a:ext>
                </a:extLst>
              </a:tr>
              <a:tr h="404255">
                <a:tc>
                  <a:txBody>
                    <a:bodyPr/>
                    <a:lstStyle/>
                    <a:p>
                      <a:pPr algn="ctr" fontAlgn="b"/>
                      <a:r>
                        <a:rPr lang="en-IN" sz="1200" u="none" strike="noStrike">
                          <a:effectLst/>
                        </a:rPr>
                        <a:t>10</a:t>
                      </a:r>
                      <a:endParaRPr lang="en-IN" sz="1200" b="0" i="0" u="none" strike="noStrike">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l" fontAlgn="b"/>
                      <a:r>
                        <a:rPr lang="en-US" sz="1200" u="none" strike="noStrike" dirty="0">
                          <a:effectLst/>
                        </a:rPr>
                        <a:t>EAP Website &amp; Decision Support Tool Development </a:t>
                      </a:r>
                      <a:endParaRPr lang="en-US" sz="12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ctr" fontAlgn="b"/>
                      <a:r>
                        <a:rPr lang="en-IN" sz="1200" i="1" u="none" strike="noStrike" dirty="0">
                          <a:effectLst/>
                        </a:rPr>
                        <a:t>2 Months</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tcPr>
                </a:tc>
                <a:extLst>
                  <a:ext uri="{0D108BD9-81ED-4DB2-BD59-A6C34878D82A}">
                    <a16:rowId xmlns:a16="http://schemas.microsoft.com/office/drawing/2014/main" val="2216333326"/>
                  </a:ext>
                </a:extLst>
              </a:tr>
            </a:tbl>
          </a:graphicData>
        </a:graphic>
      </p:graphicFrame>
      <p:sp>
        <p:nvSpPr>
          <p:cNvPr id="3" name="Rectangle 2"/>
          <p:cNvSpPr/>
          <p:nvPr/>
        </p:nvSpPr>
        <p:spPr bwMode="gray">
          <a:xfrm>
            <a:off x="6091254" y="1146856"/>
            <a:ext cx="286327" cy="1291544"/>
          </a:xfrm>
          <a:prstGeom prst="rect">
            <a:avLst/>
          </a:prstGeom>
          <a:solidFill>
            <a:schemeClr val="accent6">
              <a:lumMod val="20000"/>
              <a:lumOff val="80000"/>
            </a:schemeClr>
          </a:solidFill>
          <a:ln w="19050" algn="ctr">
            <a:noFill/>
            <a:miter lim="800000"/>
            <a:headEnd/>
            <a:tailEnd/>
          </a:ln>
          <a:effectLst>
            <a:outerShdw blurRad="50800" dist="38100" dir="2700000" algn="tl" rotWithShape="0">
              <a:prstClr val="black">
                <a:alpha val="40000"/>
              </a:prstClr>
            </a:outerShdw>
          </a:effectLst>
        </p:spPr>
        <p:txBody>
          <a:bodyPr vert="vert270" wrap="square" lIns="88900" tIns="88900" rIns="88900" bIns="88900" rtlCol="0" anchor="ctr"/>
          <a:lstStyle/>
          <a:p>
            <a:pPr algn="ctr">
              <a:lnSpc>
                <a:spcPct val="106000"/>
              </a:lnSpc>
              <a:buFont typeface="Wingdings 2" pitchFamily="18" charset="2"/>
              <a:buNone/>
            </a:pPr>
            <a:r>
              <a:rPr lang="en-US" sz="1200" b="1" dirty="0" smtClean="0">
                <a:solidFill>
                  <a:sysClr val="windowText" lastClr="000000"/>
                </a:solidFill>
              </a:rPr>
              <a:t>As-is Study</a:t>
            </a:r>
            <a:endParaRPr lang="en-IN" sz="1200" b="1" dirty="0" smtClean="0">
              <a:solidFill>
                <a:sysClr val="windowText" lastClr="000000"/>
              </a:solidFill>
            </a:endParaRPr>
          </a:p>
        </p:txBody>
      </p:sp>
      <p:sp>
        <p:nvSpPr>
          <p:cNvPr id="13" name="Rectangle 12"/>
          <p:cNvSpPr/>
          <p:nvPr/>
        </p:nvSpPr>
        <p:spPr bwMode="gray">
          <a:xfrm>
            <a:off x="6091254" y="2516777"/>
            <a:ext cx="286327" cy="2315692"/>
          </a:xfrm>
          <a:prstGeom prst="rect">
            <a:avLst/>
          </a:prstGeom>
          <a:solidFill>
            <a:schemeClr val="accent1">
              <a:lumMod val="20000"/>
              <a:lumOff val="80000"/>
            </a:schemeClr>
          </a:solidFill>
          <a:ln w="19050" algn="ctr">
            <a:noFill/>
            <a:miter lim="800000"/>
            <a:headEnd/>
            <a:tailEnd/>
          </a:ln>
          <a:effectLst>
            <a:outerShdw blurRad="50800" dist="38100" dir="2700000" algn="tl" rotWithShape="0">
              <a:prstClr val="black">
                <a:alpha val="40000"/>
              </a:prstClr>
            </a:outerShdw>
          </a:effectLst>
        </p:spPr>
        <p:txBody>
          <a:bodyPr vert="vert270" wrap="square" lIns="88900" tIns="88900" rIns="88900" bIns="88900" rtlCol="0" anchor="ctr"/>
          <a:lstStyle/>
          <a:p>
            <a:pPr algn="ctr">
              <a:lnSpc>
                <a:spcPct val="106000"/>
              </a:lnSpc>
              <a:buFont typeface="Wingdings 2" pitchFamily="18" charset="2"/>
              <a:buNone/>
            </a:pPr>
            <a:r>
              <a:rPr lang="en-US" sz="1200" b="1" dirty="0" smtClean="0">
                <a:solidFill>
                  <a:sysClr val="windowText" lastClr="000000"/>
                </a:solidFill>
              </a:rPr>
              <a:t>Stages of Deliverables</a:t>
            </a:r>
            <a:endParaRPr lang="en-IN" sz="1200" b="1" dirty="0" smtClean="0">
              <a:solidFill>
                <a:sysClr val="windowText" lastClr="000000"/>
              </a:solidFill>
            </a:endParaRPr>
          </a:p>
        </p:txBody>
      </p:sp>
      <p:sp>
        <p:nvSpPr>
          <p:cNvPr id="4" name="TextBox 3"/>
          <p:cNvSpPr txBox="1"/>
          <p:nvPr/>
        </p:nvSpPr>
        <p:spPr>
          <a:xfrm>
            <a:off x="485901" y="4983781"/>
            <a:ext cx="5605353" cy="1338828"/>
          </a:xfrm>
          <a:prstGeom prst="rect">
            <a:avLst/>
          </a:prstGeom>
          <a:noFill/>
        </p:spPr>
        <p:txBody>
          <a:bodyPr wrap="square" lIns="0" tIns="0" rIns="0" bIns="0" rtlCol="0">
            <a:spAutoFit/>
          </a:bodyPr>
          <a:lstStyle/>
          <a:p>
            <a:pPr>
              <a:spcBef>
                <a:spcPts val="600"/>
              </a:spcBef>
              <a:buSzPct val="100000"/>
            </a:pPr>
            <a:r>
              <a:rPr lang="en-US" sz="1200" b="1" i="1" dirty="0" smtClean="0">
                <a:solidFill>
                  <a:srgbClr val="313131"/>
                </a:solidFill>
              </a:rPr>
              <a:t>^ </a:t>
            </a:r>
            <a:r>
              <a:rPr lang="en-US" sz="1200" i="1" dirty="0" smtClean="0">
                <a:solidFill>
                  <a:srgbClr val="313131"/>
                </a:solidFill>
              </a:rPr>
              <a:t>Timelines are tentative and may vary depending upon inter-departmental co-ordination &amp; agreement on intermediate decision points</a:t>
            </a:r>
          </a:p>
          <a:p>
            <a:pPr>
              <a:spcBef>
                <a:spcPts val="600"/>
              </a:spcBef>
              <a:buSzPct val="100000"/>
            </a:pPr>
            <a:r>
              <a:rPr lang="en-US" sz="1200" i="1" dirty="0" smtClean="0">
                <a:solidFill>
                  <a:srgbClr val="313131"/>
                </a:solidFill>
              </a:rPr>
              <a:t> </a:t>
            </a:r>
          </a:p>
          <a:p>
            <a:pPr>
              <a:spcBef>
                <a:spcPts val="600"/>
              </a:spcBef>
              <a:buSzPct val="100000"/>
            </a:pPr>
            <a:r>
              <a:rPr lang="en-US" sz="1200" b="1" i="1" dirty="0" smtClean="0">
                <a:solidFill>
                  <a:srgbClr val="313131"/>
                </a:solidFill>
              </a:rPr>
              <a:t>* Draft </a:t>
            </a:r>
            <a:r>
              <a:rPr lang="en-US" sz="1200" b="1" i="1" dirty="0" err="1" smtClean="0">
                <a:solidFill>
                  <a:srgbClr val="313131"/>
                </a:solidFill>
              </a:rPr>
              <a:t>MoU</a:t>
            </a:r>
            <a:r>
              <a:rPr lang="en-US" sz="1200" b="1" i="1" dirty="0" smtClean="0">
                <a:solidFill>
                  <a:srgbClr val="313131"/>
                </a:solidFill>
              </a:rPr>
              <a:t> (5. Scope of </a:t>
            </a:r>
            <a:r>
              <a:rPr lang="en-US" sz="1200" b="1" i="1" dirty="0" err="1" smtClean="0">
                <a:solidFill>
                  <a:srgbClr val="313131"/>
                </a:solidFill>
              </a:rPr>
              <a:t>MoU</a:t>
            </a:r>
            <a:r>
              <a:rPr lang="en-US" sz="1200" b="1" i="1" dirty="0" smtClean="0">
                <a:solidFill>
                  <a:srgbClr val="313131"/>
                </a:solidFill>
              </a:rPr>
              <a:t>)</a:t>
            </a:r>
          </a:p>
          <a:p>
            <a:pPr>
              <a:spcBef>
                <a:spcPts val="600"/>
              </a:spcBef>
              <a:buSzPct val="100000"/>
            </a:pPr>
            <a:r>
              <a:rPr lang="en-US" sz="1200" i="1" dirty="0" smtClean="0">
                <a:solidFill>
                  <a:srgbClr val="313131"/>
                </a:solidFill>
              </a:rPr>
              <a:t>“detailed list of activities will be separately agreed in writing depending upon the need envisaged at that point in time”</a:t>
            </a:r>
            <a:endParaRPr lang="en-IN" sz="1200" i="1" dirty="0" smtClean="0">
              <a:solidFill>
                <a:srgbClr val="313131"/>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2601331172"/>
              </p:ext>
            </p:extLst>
          </p:nvPr>
        </p:nvGraphicFramePr>
        <p:xfrm>
          <a:off x="6612634" y="634222"/>
          <a:ext cx="4730742" cy="5582844"/>
        </p:xfrm>
        <a:graphic>
          <a:graphicData uri="http://schemas.openxmlformats.org/drawingml/2006/table">
            <a:tbl>
              <a:tblPr firstRow="1" bandRow="1">
                <a:tableStyleId>{68D230F3-CF80-4859-8CE7-A43EE81993B5}</a:tableStyleId>
              </a:tblPr>
              <a:tblGrid>
                <a:gridCol w="1626491">
                  <a:extLst>
                    <a:ext uri="{9D8B030D-6E8A-4147-A177-3AD203B41FA5}">
                      <a16:colId xmlns:a16="http://schemas.microsoft.com/office/drawing/2014/main" val="85255343"/>
                    </a:ext>
                  </a:extLst>
                </a:gridCol>
                <a:gridCol w="1781175">
                  <a:extLst>
                    <a:ext uri="{9D8B030D-6E8A-4147-A177-3AD203B41FA5}">
                      <a16:colId xmlns:a16="http://schemas.microsoft.com/office/drawing/2014/main" val="3530060803"/>
                    </a:ext>
                  </a:extLst>
                </a:gridCol>
                <a:gridCol w="1323076">
                  <a:extLst>
                    <a:ext uri="{9D8B030D-6E8A-4147-A177-3AD203B41FA5}">
                      <a16:colId xmlns:a16="http://schemas.microsoft.com/office/drawing/2014/main" val="1837474488"/>
                    </a:ext>
                  </a:extLst>
                </a:gridCol>
              </a:tblGrid>
              <a:tr h="289703">
                <a:tc gridSpan="3">
                  <a:txBody>
                    <a:bodyPr/>
                    <a:lstStyle/>
                    <a:p>
                      <a:pPr algn="ctr" fontAlgn="b"/>
                      <a:r>
                        <a:rPr lang="en-US" sz="1200" u="none" strike="noStrike" dirty="0" smtClean="0">
                          <a:effectLst/>
                        </a:rPr>
                        <a:t>Suggested Governance Structure</a:t>
                      </a:r>
                      <a:endParaRPr lang="en-US" sz="1200" b="0" i="0" u="none" strike="noStrike" dirty="0">
                        <a:solidFill>
                          <a:srgbClr val="000000"/>
                        </a:solidFill>
                        <a:effectLst/>
                        <a:latin typeface="Calibri" panose="020F0502020204030204" pitchFamily="34" charset="0"/>
                      </a:endParaRPr>
                    </a:p>
                  </a:txBody>
                  <a:tcPr marL="7620" marR="7620" marT="7620" marB="0" anchor="ctr">
                    <a:lnB w="12700" cap="flat" cmpd="sng" algn="ctr">
                      <a:solidFill>
                        <a:schemeClr val="tx1"/>
                      </a:solidFill>
                      <a:prstDash val="dot"/>
                      <a:round/>
                      <a:headEnd type="none" w="med" len="med"/>
                      <a:tailEnd type="none" w="med" len="med"/>
                    </a:lnB>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63470120"/>
                  </a:ext>
                </a:extLst>
              </a:tr>
              <a:tr h="590550">
                <a:tc>
                  <a:txBody>
                    <a:bodyPr/>
                    <a:lstStyle/>
                    <a:p>
                      <a:pPr algn="ctr" fontAlgn="b"/>
                      <a:r>
                        <a:rPr lang="en-US" sz="1200" b="1" u="none" strike="noStrike" dirty="0" smtClean="0">
                          <a:effectLst/>
                        </a:rPr>
                        <a:t>Committee</a:t>
                      </a:r>
                      <a:endParaRPr lang="en-IN" sz="1200" b="1" i="0" u="none" strike="noStrike" dirty="0">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b="1" u="none" strike="noStrike" dirty="0" smtClean="0">
                          <a:effectLst/>
                        </a:rPr>
                        <a:t>Team Composition</a:t>
                      </a:r>
                      <a:endParaRPr lang="en-IN" sz="1200" b="1"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IN" sz="1200" b="1" u="none" strike="noStrike" dirty="0" smtClean="0">
                          <a:effectLst/>
                        </a:rPr>
                        <a:t>Review Frequency</a:t>
                      </a:r>
                      <a:endParaRPr lang="en-IN" sz="900" b="1"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800985016"/>
                  </a:ext>
                </a:extLst>
              </a:tr>
              <a:tr h="1347526">
                <a:tc>
                  <a:txBody>
                    <a:bodyPr/>
                    <a:lstStyle/>
                    <a:p>
                      <a:pPr algn="ctr" fontAlgn="b"/>
                      <a:r>
                        <a:rPr lang="en-US" sz="1200" u="none" strike="noStrike" dirty="0" smtClean="0">
                          <a:effectLst/>
                        </a:rPr>
                        <a:t>Steering</a:t>
                      </a:r>
                      <a:r>
                        <a:rPr lang="en-US" sz="1200" u="none" strike="noStrike" baseline="0" dirty="0" smtClean="0">
                          <a:effectLst/>
                        </a:rPr>
                        <a:t> </a:t>
                      </a:r>
                    </a:p>
                    <a:p>
                      <a:pPr algn="ctr" fontAlgn="b"/>
                      <a:r>
                        <a:rPr lang="en-US" sz="1200" u="none" strike="noStrike" baseline="0" dirty="0" smtClean="0">
                          <a:effectLst/>
                        </a:rPr>
                        <a:t>Committee </a:t>
                      </a:r>
                    </a:p>
                    <a:p>
                      <a:pPr algn="ctr" fontAlgn="b"/>
                      <a:endParaRPr lang="en-US" sz="1200" u="none" strike="noStrike" baseline="0" dirty="0" smtClean="0">
                        <a:effectLst/>
                      </a:endParaRPr>
                    </a:p>
                    <a:p>
                      <a:pPr algn="ctr" fontAlgn="b"/>
                      <a:r>
                        <a:rPr lang="en-US" sz="1200" b="1" u="none" strike="noStrike" baseline="0" dirty="0" smtClean="0">
                          <a:effectLst/>
                        </a:rPr>
                        <a:t>(Policy level Inputs)</a:t>
                      </a:r>
                      <a:endParaRPr lang="en-IN" sz="1200" b="1" i="0" u="none" strike="noStrike" dirty="0">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71450" indent="-171450" algn="l" fontAlgn="b">
                        <a:buFont typeface="Wingdings" panose="05000000000000000000" pitchFamily="2" charset="2"/>
                        <a:buChar char="§"/>
                      </a:pPr>
                      <a:r>
                        <a:rPr lang="en-US" sz="1200" u="none" strike="noStrike" kern="1200" baseline="0" dirty="0" smtClean="0">
                          <a:effectLst/>
                        </a:rPr>
                        <a:t>Chief Secretary</a:t>
                      </a:r>
                    </a:p>
                    <a:p>
                      <a:pPr marL="171450" indent="-171450" algn="l" fontAlgn="b">
                        <a:buFont typeface="Wingdings" panose="05000000000000000000" pitchFamily="2" charset="2"/>
                        <a:buChar char="§"/>
                      </a:pPr>
                      <a:r>
                        <a:rPr lang="en-US" sz="1200" u="none" strike="noStrike" kern="1200" baseline="0" dirty="0" smtClean="0">
                          <a:effectLst/>
                        </a:rPr>
                        <a:t>ACS-Energy </a:t>
                      </a:r>
                    </a:p>
                    <a:p>
                      <a:pPr marL="171450" indent="-171450" algn="l" fontAlgn="b">
                        <a:buFont typeface="Wingdings" panose="05000000000000000000" pitchFamily="2" charset="2"/>
                        <a:buChar char="§"/>
                      </a:pPr>
                      <a:r>
                        <a:rPr lang="en-US" sz="1200" u="none" strike="noStrike" kern="1200" baseline="0" dirty="0" err="1" smtClean="0">
                          <a:effectLst/>
                        </a:rPr>
                        <a:t>Programme</a:t>
                      </a:r>
                      <a:r>
                        <a:rPr lang="en-US" sz="1200" u="none" strike="noStrike" kern="1200" baseline="0" dirty="0" smtClean="0">
                          <a:effectLst/>
                        </a:rPr>
                        <a:t> Head (GIZ)</a:t>
                      </a:r>
                      <a:endParaRPr lang="en-IN" sz="1200" b="0" i="0" u="none" strike="noStrike" kern="1200" baseline="0" dirty="0">
                        <a:solidFill>
                          <a:schemeClr val="tx1"/>
                        </a:solidFill>
                        <a:effectLst/>
                        <a:latin typeface="+mn-lt"/>
                        <a:ea typeface="+mn-ea"/>
                        <a:cs typeface="+mn-cs"/>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US" sz="1200" u="none" strike="noStrike" dirty="0" smtClean="0">
                          <a:effectLst/>
                        </a:rPr>
                        <a:t>Quarterly</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2966289385"/>
                  </a:ext>
                </a:extLst>
              </a:tr>
              <a:tr h="1347526">
                <a:tc>
                  <a:txBody>
                    <a:bodyPr/>
                    <a:lstStyle/>
                    <a:p>
                      <a:pPr algn="ctr" fontAlgn="b"/>
                      <a:r>
                        <a:rPr lang="en-US" sz="1200" u="none" strike="noStrike" dirty="0" smtClean="0">
                          <a:effectLst/>
                        </a:rPr>
                        <a:t>Working</a:t>
                      </a:r>
                      <a:r>
                        <a:rPr lang="en-US" sz="1200" u="none" strike="noStrike" baseline="0" dirty="0" smtClean="0">
                          <a:effectLst/>
                        </a:rPr>
                        <a:t> </a:t>
                      </a:r>
                    </a:p>
                    <a:p>
                      <a:pPr algn="ctr" fontAlgn="b"/>
                      <a:r>
                        <a:rPr lang="en-US" sz="1200" u="none" strike="noStrike" baseline="0" dirty="0" smtClean="0">
                          <a:effectLst/>
                        </a:rPr>
                        <a:t>Committee</a:t>
                      </a:r>
                    </a:p>
                    <a:p>
                      <a:pPr algn="ctr" fontAlgn="b"/>
                      <a:endParaRPr lang="en-US" sz="1200" u="none" strike="noStrike" baseline="0" dirty="0" smtClean="0">
                        <a:effectLst/>
                      </a:endParaRPr>
                    </a:p>
                    <a:p>
                      <a:pPr algn="ctr" fontAlgn="b"/>
                      <a:r>
                        <a:rPr lang="en-US" sz="1200" b="1" u="none" strike="noStrike" baseline="0" dirty="0" smtClean="0">
                          <a:effectLst/>
                        </a:rPr>
                        <a:t>(Strategic </a:t>
                      </a:r>
                    </a:p>
                    <a:p>
                      <a:pPr algn="ctr" fontAlgn="b"/>
                      <a:r>
                        <a:rPr lang="en-US" sz="1200" b="1" u="none" strike="noStrike" baseline="0" dirty="0" smtClean="0">
                          <a:effectLst/>
                        </a:rPr>
                        <a:t>Inputs)</a:t>
                      </a:r>
                      <a:endParaRPr lang="en-IN" sz="1200" b="1" i="0" u="none" strike="noStrike" dirty="0">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71450" indent="-171450" algn="l" defTabSz="914400" rtl="0" eaLnBrk="1" fontAlgn="b" latinLnBrk="0" hangingPunct="1">
                        <a:buFont typeface="Wingdings" panose="05000000000000000000" pitchFamily="2" charset="2"/>
                        <a:buChar char="§"/>
                      </a:pPr>
                      <a:r>
                        <a:rPr lang="en-IN" sz="1200" u="none" strike="noStrike" kern="1200" baseline="0" dirty="0" smtClean="0">
                          <a:effectLst/>
                        </a:rPr>
                        <a:t>ACS-Energy</a:t>
                      </a:r>
                    </a:p>
                    <a:p>
                      <a:pPr marL="171450" indent="-171450" algn="l" defTabSz="914400" rtl="0" eaLnBrk="1" fontAlgn="b" latinLnBrk="0" hangingPunct="1">
                        <a:buFont typeface="Wingdings" panose="05000000000000000000" pitchFamily="2" charset="2"/>
                        <a:buChar char="§"/>
                      </a:pPr>
                      <a:r>
                        <a:rPr lang="en-US" sz="1200" u="none" strike="noStrike" kern="1200" baseline="0" dirty="0" smtClean="0">
                          <a:effectLst/>
                        </a:rPr>
                        <a:t>Joint Secretaries</a:t>
                      </a:r>
                    </a:p>
                    <a:p>
                      <a:pPr marL="171450" indent="-171450" algn="l" defTabSz="914400" rtl="0" eaLnBrk="1" fontAlgn="b" latinLnBrk="0" hangingPunct="1">
                        <a:buFont typeface="Wingdings" panose="05000000000000000000" pitchFamily="2" charset="2"/>
                        <a:buChar char="§"/>
                      </a:pPr>
                      <a:r>
                        <a:rPr lang="en-US" sz="1200" u="none" strike="noStrike" kern="1200" baseline="0" dirty="0" smtClean="0">
                          <a:effectLst/>
                        </a:rPr>
                        <a:t>Project Manager of GIZ</a:t>
                      </a:r>
                      <a:endParaRPr lang="en-IN" sz="1200" b="0" i="0" u="none" strike="noStrike" kern="1200" baseline="0" dirty="0">
                        <a:solidFill>
                          <a:schemeClr val="tx1"/>
                        </a:solidFill>
                        <a:effectLst/>
                        <a:latin typeface="+mn-lt"/>
                        <a:ea typeface="+mn-ea"/>
                        <a:cs typeface="+mn-cs"/>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fontAlgn="b"/>
                      <a:r>
                        <a:rPr lang="en-US" sz="1200" u="none" strike="noStrike" dirty="0" smtClean="0">
                          <a:effectLst/>
                        </a:rPr>
                        <a:t>Monthly</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105707642"/>
                  </a:ext>
                </a:extLst>
              </a:tr>
              <a:tr h="2007539">
                <a:tc>
                  <a:txBody>
                    <a:bodyPr/>
                    <a:lstStyle/>
                    <a:p>
                      <a:pPr algn="ctr" fontAlgn="b"/>
                      <a:r>
                        <a:rPr lang="en-US" sz="1200" u="none" strike="noStrike" dirty="0" smtClean="0">
                          <a:effectLst/>
                        </a:rPr>
                        <a:t>Project</a:t>
                      </a:r>
                      <a:r>
                        <a:rPr lang="en-US" sz="1200" u="none" strike="noStrike" baseline="0" dirty="0" smtClean="0">
                          <a:effectLst/>
                        </a:rPr>
                        <a:t> Implementation Members</a:t>
                      </a:r>
                    </a:p>
                    <a:p>
                      <a:pPr algn="ctr" fontAlgn="b"/>
                      <a:endParaRPr lang="en-US" sz="1200" u="none" strike="noStrike" baseline="0" dirty="0" smtClean="0">
                        <a:effectLst/>
                      </a:endParaRPr>
                    </a:p>
                    <a:p>
                      <a:pPr algn="ctr" fontAlgn="b"/>
                      <a:r>
                        <a:rPr lang="en-US" sz="1200" b="1" u="none" strike="noStrike" baseline="0" dirty="0" smtClean="0">
                          <a:effectLst/>
                        </a:rPr>
                        <a:t>(Operational Inputs)</a:t>
                      </a:r>
                      <a:endParaRPr lang="en-IN" sz="1200" b="1" i="0" u="none" strike="noStrike" dirty="0">
                        <a:solidFill>
                          <a:srgbClr val="000000"/>
                        </a:solidFill>
                        <a:effectLst/>
                        <a:latin typeface="Calibri" panose="020F0502020204030204" pitchFamily="34" charset="0"/>
                      </a:endParaRPr>
                    </a:p>
                  </a:txBody>
                  <a:tcPr marL="7620" marR="7620" marT="7620" marB="0" anchor="ctr">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marL="171450" indent="-171450" algn="l" defTabSz="914400" rtl="0" eaLnBrk="1" fontAlgn="b" latinLnBrk="0" hangingPunct="1">
                        <a:buFont typeface="Wingdings" panose="05000000000000000000" pitchFamily="2" charset="2"/>
                        <a:buChar char="§"/>
                      </a:pPr>
                      <a:r>
                        <a:rPr lang="en-US" sz="1200" u="none" strike="noStrike" kern="1200" baseline="0" dirty="0" smtClean="0">
                          <a:effectLst/>
                        </a:rPr>
                        <a:t>Technical Experts engaged by Dept. of Power</a:t>
                      </a:r>
                    </a:p>
                    <a:p>
                      <a:pPr marL="171450" indent="-171450" algn="l" defTabSz="914400" rtl="0" eaLnBrk="1" fontAlgn="b" latinLnBrk="0" hangingPunct="1">
                        <a:buFont typeface="Wingdings" panose="05000000000000000000" pitchFamily="2" charset="2"/>
                        <a:buChar char="§"/>
                      </a:pPr>
                      <a:r>
                        <a:rPr lang="en-US" sz="1200" u="none" strike="noStrike" kern="1200" baseline="0" dirty="0" smtClean="0">
                          <a:effectLst/>
                        </a:rPr>
                        <a:t>Consultants engaged by GIZ</a:t>
                      </a:r>
                      <a:endParaRPr lang="en-US" sz="1200" b="0" i="0" u="none" strike="noStrike" kern="1200" baseline="0" dirty="0">
                        <a:solidFill>
                          <a:schemeClr val="tx1"/>
                        </a:solidFill>
                        <a:effectLst/>
                        <a:latin typeface="+mn-lt"/>
                        <a:ea typeface="+mn-ea"/>
                        <a:cs typeface="+mn-cs"/>
                      </a:endParaRPr>
                    </a:p>
                  </a:txBody>
                  <a:tcPr marL="7620" marR="7620" marT="762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tcPr>
                </a:tc>
                <a:tc>
                  <a:txBody>
                    <a:bodyPr/>
                    <a:lstStyle/>
                    <a:p>
                      <a:pPr algn="ctr" fontAlgn="b"/>
                      <a:r>
                        <a:rPr lang="en-US" sz="1200" u="none" strike="noStrike" dirty="0" smtClean="0">
                          <a:effectLst/>
                        </a:rPr>
                        <a:t>Weekly</a:t>
                      </a:r>
                      <a:endParaRPr lang="en-IN" sz="1200" b="0" i="1"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dot"/>
                      <a:round/>
                      <a:headEnd type="none" w="med" len="med"/>
                      <a:tailEnd type="none" w="med" len="med"/>
                    </a:lnL>
                    <a:lnT w="12700" cap="flat" cmpd="sng" algn="ctr">
                      <a:solidFill>
                        <a:schemeClr val="tx1"/>
                      </a:solidFill>
                      <a:prstDash val="dot"/>
                      <a:round/>
                      <a:headEnd type="none" w="med" len="med"/>
                      <a:tailEnd type="none" w="med" len="med"/>
                    </a:lnT>
                  </a:tcPr>
                </a:tc>
                <a:extLst>
                  <a:ext uri="{0D108BD9-81ED-4DB2-BD59-A6C34878D82A}">
                    <a16:rowId xmlns:a16="http://schemas.microsoft.com/office/drawing/2014/main" val="2424442965"/>
                  </a:ext>
                </a:extLst>
              </a:tr>
            </a:tbl>
          </a:graphicData>
        </a:graphic>
      </p:graphicFrame>
    </p:spTree>
    <p:extLst>
      <p:ext uri="{BB962C8B-B14F-4D97-AF65-F5344CB8AC3E}">
        <p14:creationId xmlns:p14="http://schemas.microsoft.com/office/powerpoint/2010/main" val="42261847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
          <p:cNvSpPr txBox="1">
            <a:spLocks/>
          </p:cNvSpPr>
          <p:nvPr/>
        </p:nvSpPr>
        <p:spPr>
          <a:xfrm>
            <a:off x="407520" y="126509"/>
            <a:ext cx="9189326" cy="512043"/>
          </a:xfrm>
          <a:prstGeom prst="rect">
            <a:avLst/>
          </a:prstGeom>
        </p:spPr>
        <p:txBody>
          <a:bodyPr vert="horz" lIns="0" tIns="0" rIns="0" bIns="0" rtlCol="0">
            <a:noAutofit/>
          </a:bodyPr>
          <a:lst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400" b="1" dirty="0" smtClean="0">
                <a:solidFill>
                  <a:srgbClr val="041E42"/>
                </a:solidFill>
              </a:rPr>
              <a:t>Impact Delivered: Assam &amp; West Bengal (Ongoing)</a:t>
            </a:r>
            <a:endParaRPr lang="en-US" sz="2400" b="1" dirty="0">
              <a:solidFill>
                <a:srgbClr val="041E42"/>
              </a:solidFill>
            </a:endParaRPr>
          </a:p>
        </p:txBody>
      </p:sp>
      <p:cxnSp>
        <p:nvCxnSpPr>
          <p:cNvPr id="6" name="Straight Connector 5"/>
          <p:cNvCxnSpPr/>
          <p:nvPr/>
        </p:nvCxnSpPr>
        <p:spPr>
          <a:xfrm>
            <a:off x="407521" y="515919"/>
            <a:ext cx="1093585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Flowchart: Delay 3"/>
          <p:cNvSpPr/>
          <p:nvPr/>
        </p:nvSpPr>
        <p:spPr bwMode="gray">
          <a:xfrm>
            <a:off x="0" y="1799158"/>
            <a:ext cx="4474029" cy="4536328"/>
          </a:xfrm>
          <a:prstGeom prst="flowChartDelay">
            <a:avLst/>
          </a:prstGeom>
          <a:solidFill>
            <a:schemeClr val="accent1">
              <a:lumMod val="40000"/>
              <a:lumOff val="60000"/>
              <a:alpha val="50000"/>
            </a:schemeClr>
          </a:solidFill>
          <a:ln w="19050" algn="ctr">
            <a:noFill/>
            <a:miter lim="800000"/>
            <a:headEnd/>
            <a:tailEnd/>
          </a:ln>
        </p:spPr>
        <p:txBody>
          <a:bodyPr wrap="square" lIns="88900" tIns="88900" rIns="88900" bIns="88900" rtlCol="0" anchor="t"/>
          <a:lstStyle/>
          <a:p>
            <a:pPr>
              <a:lnSpc>
                <a:spcPct val="106000"/>
              </a:lnSpc>
              <a:buFont typeface="Wingdings 2" pitchFamily="18" charset="2"/>
              <a:buNone/>
            </a:pPr>
            <a:endParaRPr lang="en-IN" sz="1600" b="1" dirty="0" smtClean="0">
              <a:solidFill>
                <a:schemeClr val="bg1"/>
              </a:solidFill>
            </a:endParaRPr>
          </a:p>
        </p:txBody>
      </p:sp>
      <p:sp>
        <p:nvSpPr>
          <p:cNvPr id="13" name="Flowchart: Delay 12"/>
          <p:cNvSpPr/>
          <p:nvPr/>
        </p:nvSpPr>
        <p:spPr bwMode="gray">
          <a:xfrm rot="10800000">
            <a:off x="7717970" y="1799157"/>
            <a:ext cx="4474029" cy="4536329"/>
          </a:xfrm>
          <a:prstGeom prst="flowChartDelay">
            <a:avLst/>
          </a:prstGeom>
          <a:solidFill>
            <a:schemeClr val="accent1">
              <a:lumMod val="40000"/>
              <a:lumOff val="60000"/>
              <a:alpha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5" name="Rectangle 4"/>
          <p:cNvSpPr/>
          <p:nvPr/>
        </p:nvSpPr>
        <p:spPr bwMode="gray">
          <a:xfrm>
            <a:off x="217713" y="2362200"/>
            <a:ext cx="5758543" cy="3592286"/>
          </a:xfrm>
          <a:prstGeom prst="rect">
            <a:avLst/>
          </a:prstGeom>
          <a:solidFill>
            <a:srgbClr val="FFCD00">
              <a:alpha val="25000"/>
            </a:srgbClr>
          </a:solidFill>
          <a:ln w="19050" algn="ctr">
            <a:noFill/>
            <a:miter lim="800000"/>
            <a:headEnd/>
            <a:tailEnd/>
          </a:ln>
        </p:spPr>
        <p:txBody>
          <a:bodyPr wrap="square" lIns="88900" tIns="88900" rIns="88900" bIns="88900" rtlCol="0" anchor="ctr"/>
          <a:lstStyle/>
          <a:p>
            <a:pPr marL="285750" indent="-285750">
              <a:buFont typeface="Wingdings" panose="05000000000000000000" pitchFamily="2" charset="2"/>
              <a:buChar char="§"/>
            </a:pPr>
            <a:r>
              <a:rPr lang="en-US" sz="1600" dirty="0" smtClean="0"/>
              <a:t>Development of </a:t>
            </a:r>
            <a:r>
              <a:rPr lang="en-US" sz="1600" b="1" dirty="0" smtClean="0"/>
              <a:t>100% Renewable Energy Scenario</a:t>
            </a:r>
            <a:r>
              <a:rPr lang="en-US" sz="1600" dirty="0" smtClean="0"/>
              <a:t>, in which Assam shall become the first State having such a policy push</a:t>
            </a:r>
          </a:p>
          <a:p>
            <a:endParaRPr lang="en-US" sz="1600" dirty="0" smtClean="0"/>
          </a:p>
          <a:p>
            <a:pPr marL="285750" indent="-285750">
              <a:buFont typeface="Wingdings" panose="05000000000000000000" pitchFamily="2" charset="2"/>
              <a:buChar char="§"/>
            </a:pPr>
            <a:r>
              <a:rPr lang="en-US" sz="1600" dirty="0" smtClean="0"/>
              <a:t>Revival of </a:t>
            </a:r>
            <a:r>
              <a:rPr lang="en-US" sz="1600" b="1" dirty="0" smtClean="0"/>
              <a:t>Assam Solar Policy</a:t>
            </a:r>
          </a:p>
          <a:p>
            <a:r>
              <a:rPr lang="en-US" sz="1600" b="1" dirty="0" smtClean="0"/>
              <a:t> </a:t>
            </a:r>
          </a:p>
          <a:p>
            <a:pPr marL="285750" indent="-285750">
              <a:buFont typeface="Wingdings" panose="05000000000000000000" pitchFamily="2" charset="2"/>
              <a:buChar char="§"/>
            </a:pPr>
            <a:r>
              <a:rPr lang="en-US" sz="1600" dirty="0" smtClean="0"/>
              <a:t>Capability building for core group of state government employees in adopting EAP</a:t>
            </a:r>
          </a:p>
          <a:p>
            <a:r>
              <a:rPr lang="en-US" sz="1600" dirty="0" smtClean="0"/>
              <a:t>  </a:t>
            </a:r>
          </a:p>
          <a:p>
            <a:pPr marL="285750" indent="-285750">
              <a:buFont typeface="Wingdings" panose="05000000000000000000" pitchFamily="2" charset="2"/>
              <a:buChar char="§"/>
            </a:pPr>
            <a:r>
              <a:rPr lang="en-US" sz="1600" dirty="0" smtClean="0"/>
              <a:t>Possible future areas of co-operation: </a:t>
            </a:r>
          </a:p>
          <a:p>
            <a:pPr marL="742950" lvl="1" indent="-285750">
              <a:buFont typeface="Wingdings" panose="05000000000000000000" pitchFamily="2" charset="2"/>
              <a:buChar char="ü"/>
            </a:pPr>
            <a:r>
              <a:rPr lang="en-US" sz="1600" i="1" dirty="0" smtClean="0"/>
              <a:t>Assam Biomass Mission</a:t>
            </a:r>
          </a:p>
          <a:p>
            <a:pPr marL="742950" lvl="1" indent="-285750">
              <a:buFont typeface="Wingdings" panose="05000000000000000000" pitchFamily="2" charset="2"/>
              <a:buChar char="ü"/>
            </a:pPr>
            <a:r>
              <a:rPr lang="en-US" sz="1600" i="1" dirty="0" smtClean="0"/>
              <a:t>Integrating DRE with Livelihood    </a:t>
            </a:r>
            <a:endParaRPr lang="en-IN" sz="1600" i="1" dirty="0" smtClean="0"/>
          </a:p>
        </p:txBody>
      </p:sp>
      <p:sp>
        <p:nvSpPr>
          <p:cNvPr id="7" name="Rounded Rectangle 6"/>
          <p:cNvSpPr/>
          <p:nvPr/>
        </p:nvSpPr>
        <p:spPr bwMode="gray">
          <a:xfrm>
            <a:off x="407520" y="748622"/>
            <a:ext cx="10935856" cy="927902"/>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285750" indent="-285750">
              <a:lnSpc>
                <a:spcPct val="106000"/>
              </a:lnSpc>
              <a:buFont typeface="Wingdings" panose="05000000000000000000" pitchFamily="2" charset="2"/>
              <a:buChar char="§"/>
            </a:pPr>
            <a:r>
              <a:rPr lang="en-US" sz="1400" dirty="0" smtClean="0"/>
              <a:t>Along with development of Energy Action Plan, the States are in the process of signing </a:t>
            </a:r>
            <a:r>
              <a:rPr lang="en-US" sz="1400" dirty="0" err="1" smtClean="0"/>
              <a:t>MoUs</a:t>
            </a:r>
            <a:r>
              <a:rPr lang="en-US" sz="1400" dirty="0" smtClean="0"/>
              <a:t> for implementation of derived action-points from the IGEN Access study </a:t>
            </a:r>
          </a:p>
          <a:p>
            <a:pPr marL="285750" indent="-285750">
              <a:lnSpc>
                <a:spcPct val="106000"/>
              </a:lnSpc>
              <a:buFont typeface="Wingdings" panose="05000000000000000000" pitchFamily="2" charset="2"/>
              <a:buChar char="§"/>
            </a:pPr>
            <a:r>
              <a:rPr lang="en-US" sz="1400" dirty="0" smtClean="0"/>
              <a:t>GIZ shall be providing technical assistance to the States in developing respective strategies</a:t>
            </a:r>
            <a:endParaRPr lang="en-IN" sz="1400" dirty="0" smtClean="0"/>
          </a:p>
        </p:txBody>
      </p:sp>
      <p:sp>
        <p:nvSpPr>
          <p:cNvPr id="8" name="TextBox 7"/>
          <p:cNvSpPr txBox="1"/>
          <p:nvPr/>
        </p:nvSpPr>
        <p:spPr>
          <a:xfrm>
            <a:off x="289681" y="1942750"/>
            <a:ext cx="1947333" cy="307777"/>
          </a:xfrm>
          <a:prstGeom prst="rect">
            <a:avLst/>
          </a:prstGeom>
          <a:noFill/>
        </p:spPr>
        <p:txBody>
          <a:bodyPr wrap="square" lIns="0" tIns="0" rIns="0" bIns="0" rtlCol="0">
            <a:spAutoFit/>
          </a:bodyPr>
          <a:lstStyle/>
          <a:p>
            <a:pPr>
              <a:spcBef>
                <a:spcPts val="600"/>
              </a:spcBef>
              <a:buSzPct val="100000"/>
            </a:pPr>
            <a:r>
              <a:rPr lang="en-US" sz="2000" b="1" dirty="0" smtClean="0">
                <a:solidFill>
                  <a:srgbClr val="313131"/>
                </a:solidFill>
              </a:rPr>
              <a:t>Assam</a:t>
            </a:r>
            <a:endParaRPr lang="en-IN" sz="2000" b="1" dirty="0" smtClean="0">
              <a:solidFill>
                <a:srgbClr val="313131"/>
              </a:solidFill>
            </a:endParaRPr>
          </a:p>
        </p:txBody>
      </p:sp>
      <p:sp>
        <p:nvSpPr>
          <p:cNvPr id="18" name="TextBox 17"/>
          <p:cNvSpPr txBox="1"/>
          <p:nvPr/>
        </p:nvSpPr>
        <p:spPr>
          <a:xfrm>
            <a:off x="10005179" y="1942750"/>
            <a:ext cx="1947333" cy="307777"/>
          </a:xfrm>
          <a:prstGeom prst="rect">
            <a:avLst/>
          </a:prstGeom>
          <a:noFill/>
        </p:spPr>
        <p:txBody>
          <a:bodyPr wrap="square" lIns="0" tIns="0" rIns="0" bIns="0" rtlCol="0">
            <a:spAutoFit/>
          </a:bodyPr>
          <a:lstStyle/>
          <a:p>
            <a:pPr algn="r">
              <a:spcBef>
                <a:spcPts val="600"/>
              </a:spcBef>
              <a:buSzPct val="100000"/>
            </a:pPr>
            <a:r>
              <a:rPr lang="en-US" sz="2000" b="1" dirty="0" smtClean="0">
                <a:solidFill>
                  <a:srgbClr val="313131"/>
                </a:solidFill>
              </a:rPr>
              <a:t>West Bengal</a:t>
            </a:r>
            <a:endParaRPr lang="en-IN" sz="2000" b="1" dirty="0" smtClean="0">
              <a:solidFill>
                <a:srgbClr val="313131"/>
              </a:solidFill>
            </a:endParaRPr>
          </a:p>
        </p:txBody>
      </p:sp>
      <p:sp>
        <p:nvSpPr>
          <p:cNvPr id="22" name="Rectangle 21"/>
          <p:cNvSpPr/>
          <p:nvPr/>
        </p:nvSpPr>
        <p:spPr bwMode="gray">
          <a:xfrm>
            <a:off x="6193969" y="2362200"/>
            <a:ext cx="5758543" cy="3592286"/>
          </a:xfrm>
          <a:prstGeom prst="rect">
            <a:avLst/>
          </a:prstGeom>
          <a:solidFill>
            <a:srgbClr val="FFCD00">
              <a:alpha val="25000"/>
            </a:srgbClr>
          </a:solidFill>
          <a:ln w="19050" algn="ctr">
            <a:noFill/>
            <a:miter lim="800000"/>
            <a:headEnd/>
            <a:tailEnd/>
          </a:ln>
        </p:spPr>
        <p:txBody>
          <a:bodyPr wrap="square" lIns="88900" tIns="88900" rIns="88900" bIns="88900" rtlCol="0" anchor="ctr"/>
          <a:lstStyle/>
          <a:p>
            <a:pPr marL="285750" indent="-285750">
              <a:buFont typeface="Wingdings" panose="05000000000000000000" pitchFamily="2" charset="2"/>
              <a:buChar char="§"/>
            </a:pPr>
            <a:r>
              <a:rPr lang="en-US" sz="1600" dirty="0" smtClean="0"/>
              <a:t>Capability building of group of employees across departments responsible for handling EAP portal</a:t>
            </a:r>
          </a:p>
          <a:p>
            <a:endParaRPr lang="en-US" sz="1600" dirty="0" smtClean="0"/>
          </a:p>
          <a:p>
            <a:pPr marL="285750" indent="-285750">
              <a:buFont typeface="Wingdings" panose="05000000000000000000" pitchFamily="2" charset="2"/>
              <a:buChar char="§"/>
            </a:pPr>
            <a:r>
              <a:rPr lang="en-US" sz="1600" dirty="0" smtClean="0"/>
              <a:t>Implementing </a:t>
            </a:r>
            <a:r>
              <a:rPr lang="en-US" sz="1600" b="1" dirty="0" smtClean="0"/>
              <a:t>Solar Rooftop PV Program</a:t>
            </a:r>
          </a:p>
          <a:p>
            <a:pPr marL="285750" indent="-285750">
              <a:buFont typeface="Wingdings" panose="05000000000000000000" pitchFamily="2" charset="2"/>
              <a:buChar char="§"/>
            </a:pPr>
            <a:endParaRPr lang="en-US" sz="1600" dirty="0" smtClean="0"/>
          </a:p>
          <a:p>
            <a:pPr marL="285750" indent="-285750">
              <a:buFont typeface="Wingdings" panose="05000000000000000000" pitchFamily="2" charset="2"/>
              <a:buChar char="§"/>
            </a:pPr>
            <a:r>
              <a:rPr lang="en-US" sz="1600" dirty="0" smtClean="0"/>
              <a:t>Supporting </a:t>
            </a:r>
            <a:r>
              <a:rPr lang="en-US" sz="1600" b="1" dirty="0" smtClean="0"/>
              <a:t>E-mobility</a:t>
            </a:r>
            <a:r>
              <a:rPr lang="en-US" sz="1600" dirty="0" smtClean="0"/>
              <a:t> (Policy &amp; regulation w.r.t. charging infrastructure integration with grid)</a:t>
            </a:r>
          </a:p>
          <a:p>
            <a:r>
              <a:rPr lang="en-US" sz="1600" dirty="0" smtClean="0"/>
              <a:t> </a:t>
            </a:r>
          </a:p>
          <a:p>
            <a:pPr marL="285750" indent="-285750">
              <a:buFont typeface="Wingdings" panose="05000000000000000000" pitchFamily="2" charset="2"/>
              <a:buChar char="§"/>
            </a:pPr>
            <a:r>
              <a:rPr lang="en-US" sz="1600" dirty="0" smtClean="0"/>
              <a:t>Developing market eco-system to implement </a:t>
            </a:r>
            <a:r>
              <a:rPr lang="en-US" sz="1600" b="1" dirty="0" smtClean="0"/>
              <a:t>Solar Water Pumps</a:t>
            </a:r>
            <a:r>
              <a:rPr lang="en-US" sz="1600" dirty="0" smtClean="0"/>
              <a:t> (training &amp; capacity-building of FIs)   </a:t>
            </a:r>
            <a:endParaRPr lang="en-IN" sz="1600" i="1" dirty="0" smtClean="0"/>
          </a:p>
        </p:txBody>
      </p:sp>
    </p:spTree>
    <p:extLst>
      <p:ext uri="{BB962C8B-B14F-4D97-AF65-F5344CB8AC3E}">
        <p14:creationId xmlns:p14="http://schemas.microsoft.com/office/powerpoint/2010/main" val="36026413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A3218820-8E7C-4142-94F9-3EE4680C3172}"/>
</file>

<file path=customXml/itemProps2.xml><?xml version="1.0" encoding="utf-8"?>
<ds:datastoreItem xmlns:ds="http://schemas.openxmlformats.org/officeDocument/2006/customXml" ds:itemID="{B99C4234-41F2-45C9-9171-13BED4516D77}"/>
</file>

<file path=customXml/itemProps3.xml><?xml version="1.0" encoding="utf-8"?>
<ds:datastoreItem xmlns:ds="http://schemas.openxmlformats.org/officeDocument/2006/customXml" ds:itemID="{D071A816-13E9-4FF8-A063-0F5CCDCCFF5C}"/>
</file>

<file path=docProps/app.xml><?xml version="1.0" encoding="utf-8"?>
<Properties xmlns="http://schemas.openxmlformats.org/officeDocument/2006/extended-properties" xmlns:vt="http://schemas.openxmlformats.org/officeDocument/2006/docPropsVTypes">
  <TotalTime>3891</TotalTime>
  <Words>4235</Words>
  <Application>Microsoft Office PowerPoint</Application>
  <PresentationFormat>Widescreen</PresentationFormat>
  <Paragraphs>521</Paragraphs>
  <Slides>26</Slides>
  <Notes>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Arial</vt:lpstr>
      <vt:lpstr>Calibri</vt:lpstr>
      <vt:lpstr>Calibri Light</vt:lpstr>
      <vt:lpstr>Open Sans</vt:lpstr>
      <vt:lpstr>Times New Roman</vt:lpstr>
      <vt:lpstr>Verdana</vt:lpstr>
      <vt:lpstr>Wingdings</vt:lpstr>
      <vt:lpstr>Wingdings 2</vt:lpstr>
      <vt:lpstr>1_Deloitte_US_Letter_Print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Mallick, Tanudeep (IN - Delhi)</dc:creator>
  <cp:lastModifiedBy>Mallick, Tanudeep (IN - Delhi)</cp:lastModifiedBy>
  <cp:revision>101</cp:revision>
  <dcterms:created xsi:type="dcterms:W3CDTF">2019-09-17T05:47:28Z</dcterms:created>
  <dcterms:modified xsi:type="dcterms:W3CDTF">2020-07-30T15:03:28Z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ies>
</file>